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05">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C5B50C-D8A1-4C52-AB28-AA2DAA967826}">
  <a:tblStyle styleId="{A3C5B50C-D8A1-4C52-AB28-AA2DAA96782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05"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we.mitre.org/top25/archive/2020/2020_cwe_top25.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2ebda427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2ebda427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More networking pot pourri </a:t>
            </a:r>
            <a:endParaRPr/>
          </a:p>
          <a:p>
            <a:pPr indent="-298450" lvl="0" marL="457200" rtl="0" algn="l">
              <a:spcBef>
                <a:spcPts val="0"/>
              </a:spcBef>
              <a:spcAft>
                <a:spcPts val="0"/>
              </a:spcAft>
              <a:buSzPts val="1100"/>
              <a:buChar char="●"/>
            </a:pPr>
            <a:r>
              <a:rPr lang="en"/>
              <a:t>High level overview</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166652397e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166652397e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166652397e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166652397e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166652397e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166652397e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dce61f0a8f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dce61f0a8f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Not technical handshake</a:t>
            </a:r>
            <a:endParaRPr/>
          </a:p>
          <a:p>
            <a:pPr indent="-298450" lvl="0" marL="457200" rtl="0" algn="l">
              <a:spcBef>
                <a:spcPts val="0"/>
              </a:spcBef>
              <a:spcAft>
                <a:spcPts val="0"/>
              </a:spcAft>
              <a:buSzPts val="1100"/>
              <a:buChar char="●"/>
            </a:pPr>
            <a:r>
              <a:rPr lang="en"/>
              <a:t>High level overview</a:t>
            </a:r>
            <a:endParaRPr/>
          </a:p>
          <a:p>
            <a:pPr indent="-298450" lvl="0" marL="457200" rtl="0" algn="l">
              <a:spcBef>
                <a:spcPts val="0"/>
              </a:spcBef>
              <a:spcAft>
                <a:spcPts val="0"/>
              </a:spcAft>
              <a:buSzPts val="1100"/>
              <a:buChar char="●"/>
            </a:pPr>
            <a:r>
              <a:rPr lang="en"/>
              <a:t>Nicely organized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dbc553304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dbc553304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This class so far: </a:t>
            </a:r>
            <a:endParaRPr/>
          </a:p>
          <a:p>
            <a:pPr indent="-298450" lvl="1" marL="914400" rtl="0" algn="l">
              <a:spcBef>
                <a:spcPts val="0"/>
              </a:spcBef>
              <a:spcAft>
                <a:spcPts val="0"/>
              </a:spcAft>
              <a:buSzPts val="1100"/>
              <a:buChar char="○"/>
            </a:pPr>
            <a:r>
              <a:rPr lang="en"/>
              <a:t>Heres an attack, heres how to stop it</a:t>
            </a:r>
            <a:endParaRPr/>
          </a:p>
          <a:p>
            <a:pPr indent="-298450" lvl="1" marL="914400" rtl="0" algn="l">
              <a:spcBef>
                <a:spcPts val="0"/>
              </a:spcBef>
              <a:spcAft>
                <a:spcPts val="0"/>
              </a:spcAft>
              <a:buSzPts val="1100"/>
              <a:buChar char="○"/>
            </a:pPr>
            <a:r>
              <a:rPr lang="en"/>
              <a:t>Buffer overflow, use stack canaries</a:t>
            </a:r>
            <a:endParaRPr/>
          </a:p>
          <a:p>
            <a:pPr indent="-298450" lvl="1" marL="914400" rtl="0" algn="l">
              <a:spcBef>
                <a:spcPts val="0"/>
              </a:spcBef>
              <a:spcAft>
                <a:spcPts val="0"/>
              </a:spcAft>
              <a:buSzPts val="1100"/>
              <a:buChar char="○"/>
            </a:pPr>
            <a:r>
              <a:rPr lang="en"/>
              <a:t>Heres sql injection, use escape chars</a:t>
            </a:r>
            <a:endParaRPr/>
          </a:p>
          <a:p>
            <a:pPr indent="-298450" lvl="1" marL="914400" rtl="0" algn="l">
              <a:spcBef>
                <a:spcPts val="0"/>
              </a:spcBef>
              <a:spcAft>
                <a:spcPts val="0"/>
              </a:spcAft>
              <a:buSzPts val="1100"/>
              <a:buChar char="○"/>
            </a:pPr>
            <a:r>
              <a:rPr lang="en"/>
              <a:t>Preventions</a:t>
            </a:r>
            <a:endParaRPr/>
          </a:p>
          <a:p>
            <a:pPr indent="-298450" lvl="1" marL="914400" rtl="0" algn="l">
              <a:spcBef>
                <a:spcPts val="0"/>
              </a:spcBef>
              <a:spcAft>
                <a:spcPts val="0"/>
              </a:spcAft>
              <a:buSzPts val="1100"/>
              <a:buChar char="○"/>
            </a:pPr>
            <a:r>
              <a:rPr lang="en"/>
              <a:t>Most arent perfect</a:t>
            </a:r>
            <a:endParaRPr/>
          </a:p>
          <a:p>
            <a:pPr indent="-298450" lvl="1" marL="914400" rtl="0" algn="l">
              <a:spcBef>
                <a:spcPts val="0"/>
              </a:spcBef>
              <a:spcAft>
                <a:spcPts val="0"/>
              </a:spcAft>
              <a:buSzPts val="1100"/>
              <a:buChar char="○"/>
            </a:pPr>
            <a:r>
              <a:rPr lang="en"/>
              <a:t>Dont use c is perfect</a:t>
            </a:r>
            <a:endParaRPr/>
          </a:p>
          <a:p>
            <a:pPr indent="-298450" lvl="1" marL="914400" rtl="0" algn="l">
              <a:spcBef>
                <a:spcPts val="0"/>
              </a:spcBef>
              <a:spcAft>
                <a:spcPts val="0"/>
              </a:spcAft>
              <a:buSzPts val="1100"/>
              <a:buChar char="○"/>
            </a:pPr>
            <a:r>
              <a:rPr lang="en"/>
              <a:t>But if you cant prevent an attack o=you should still be able to detect that it happened</a:t>
            </a:r>
            <a:endParaRPr/>
          </a:p>
          <a:p>
            <a:pPr indent="-298450" lvl="0" marL="457200" rtl="0" algn="l">
              <a:spcBef>
                <a:spcPts val="0"/>
              </a:spcBef>
              <a:spcAft>
                <a:spcPts val="0"/>
              </a:spcAft>
              <a:buSzPts val="1100"/>
              <a:buChar char="●"/>
            </a:pPr>
            <a:r>
              <a:rPr lang="en"/>
              <a:t>Read slide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52990d89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52990d89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52990d891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52990d891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https://cwe.mitre.org/top25/archive/2020/2020_cwe_top25.html</a:t>
            </a: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2990d891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2990d891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2990d891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52990d891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52990d891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52990d891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52990d891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52990d891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52990d8910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52990d8910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52990d8910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52990d8910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52990d8910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52990d8910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dce61f0a8f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dce61f0a8f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How do i detect that that happens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dbca2e5ae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dbca2e5ae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Theres a couple types</a:t>
            </a:r>
            <a:endParaRPr/>
          </a:p>
          <a:p>
            <a:pPr indent="-298450" lvl="0" marL="457200" rtl="0" algn="l">
              <a:spcBef>
                <a:spcPts val="0"/>
              </a:spcBef>
              <a:spcAft>
                <a:spcPts val="0"/>
              </a:spcAft>
              <a:buSzPts val="1100"/>
              <a:buChar char="●"/>
            </a:pPr>
            <a:r>
              <a:rPr lang="en"/>
              <a:t>Talk </a:t>
            </a:r>
            <a:r>
              <a:rPr lang="en"/>
              <a:t>about</a:t>
            </a:r>
            <a:r>
              <a:rPr lang="en"/>
              <a:t> one by one</a:t>
            </a:r>
            <a:endParaRPr/>
          </a:p>
          <a:p>
            <a:pPr indent="-298450" lvl="0" marL="457200" rtl="0" algn="l">
              <a:spcBef>
                <a:spcPts val="0"/>
              </a:spcBef>
              <a:spcAft>
                <a:spcPts val="0"/>
              </a:spcAft>
              <a:buSzPts val="1100"/>
              <a:buChar char="●"/>
            </a:pPr>
            <a:r>
              <a:rPr lang="en"/>
              <a:t>The main difference is where you put them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e02a8b192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e02a8b192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Question: if i want to detect </a:t>
            </a:r>
            <a:r>
              <a:rPr lang="en"/>
              <a:t>something</a:t>
            </a:r>
            <a:r>
              <a:rPr lang="en"/>
              <a:t> i need to put a </a:t>
            </a:r>
            <a:r>
              <a:rPr lang="en"/>
              <a:t>machine</a:t>
            </a:r>
            <a:r>
              <a:rPr lang="en"/>
              <a:t> somewhere that does the detecting, so i need some program or code that can detect that the attack si happeneing –  where do i put it?</a:t>
            </a:r>
            <a:endParaRPr/>
          </a:p>
          <a:p>
            <a:pPr indent="-298450" lvl="0" marL="457200" rtl="0" algn="l">
              <a:spcBef>
                <a:spcPts val="0"/>
              </a:spcBef>
              <a:spcAft>
                <a:spcPts val="0"/>
              </a:spcAft>
              <a:buSzPts val="1100"/>
              <a:buChar char="●"/>
            </a:pPr>
            <a:r>
              <a:rPr lang="en"/>
              <a:t>Familiar network picture</a:t>
            </a:r>
            <a:endParaRPr/>
          </a:p>
          <a:p>
            <a:pPr indent="-298450" lvl="1" marL="914400" rtl="0" algn="l">
              <a:spcBef>
                <a:spcPts val="0"/>
              </a:spcBef>
              <a:spcAft>
                <a:spcPts val="0"/>
              </a:spcAft>
              <a:buSzPts val="1100"/>
              <a:buChar char="○"/>
            </a:pPr>
            <a:r>
              <a:rPr lang="en"/>
              <a:t>Computers inside connected by a local network</a:t>
            </a:r>
            <a:endParaRPr/>
          </a:p>
          <a:p>
            <a:pPr indent="-298450" lvl="1" marL="914400" rtl="0" algn="l">
              <a:spcBef>
                <a:spcPts val="0"/>
              </a:spcBef>
              <a:spcAft>
                <a:spcPts val="0"/>
              </a:spcAft>
              <a:buSzPts val="1100"/>
              <a:buChar char="○"/>
            </a:pPr>
            <a:r>
              <a:rPr lang="en"/>
              <a:t>Go thru router</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e02a8b192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e02a8b192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Im gonna put it here at the router</a:t>
            </a:r>
            <a:endParaRPr/>
          </a:p>
          <a:p>
            <a:pPr indent="-298450" lvl="0" marL="457200" rtl="0" algn="l">
              <a:spcBef>
                <a:spcPts val="0"/>
              </a:spcBef>
              <a:spcAft>
                <a:spcPts val="0"/>
              </a:spcAft>
              <a:buSzPts val="1100"/>
              <a:buChar char="●"/>
            </a:pPr>
            <a:r>
              <a:rPr lang="en"/>
              <a:t>Thinking </a:t>
            </a:r>
            <a:r>
              <a:rPr lang="en"/>
              <a:t>about</a:t>
            </a:r>
            <a:r>
              <a:rPr lang="en"/>
              <a:t> things on the network layer</a:t>
            </a:r>
            <a:endParaRPr/>
          </a:p>
          <a:p>
            <a:pPr indent="-298450" lvl="0" marL="457200" rtl="0" algn="l">
              <a:spcBef>
                <a:spcPts val="0"/>
              </a:spcBef>
              <a:spcAft>
                <a:spcPts val="0"/>
              </a:spcAft>
              <a:buSzPts val="1100"/>
              <a:buChar char="●"/>
            </a:pPr>
            <a:r>
              <a:rPr lang="en"/>
              <a:t>Looks like a firewall: actively decides what to allow and not allow</a:t>
            </a:r>
            <a:endParaRPr/>
          </a:p>
          <a:p>
            <a:pPr indent="-298450" lvl="0" marL="457200" rtl="0" algn="l">
              <a:spcBef>
                <a:spcPts val="0"/>
              </a:spcBef>
              <a:spcAft>
                <a:spcPts val="0"/>
              </a:spcAft>
              <a:buSzPts val="1100"/>
              <a:buChar char="●"/>
            </a:pPr>
            <a:r>
              <a:rPr lang="en"/>
              <a:t>This only thinks about detecting things</a:t>
            </a:r>
            <a:endParaRPr/>
          </a:p>
          <a:p>
            <a:pPr indent="-298450" lvl="0" marL="457200" rtl="0" algn="l">
              <a:spcBef>
                <a:spcPts val="0"/>
              </a:spcBef>
              <a:spcAft>
                <a:spcPts val="0"/>
              </a:spcAft>
              <a:buSzPts val="1100"/>
              <a:buChar char="●"/>
            </a:pPr>
            <a:r>
              <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df65bdd8f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df65bdd8f9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because I want to protect all the computers on the inside I can keep track of all the connections that are ongoing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kind of similar to what the firewall was doing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and then I can look at all the packets flying back and forth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and think about does this packet indicate that an attack is happening or does this packet not indicate that an attack is happening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and if the packet somehow seems suspicious maybe the detection system will start going off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One way to build nids</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df65bdd8f9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df65bdd8f9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Whats good about nids</a:t>
            </a:r>
            <a:endParaRPr/>
          </a:p>
          <a:p>
            <a:pPr indent="-298450" lvl="0" marL="457200" rtl="0" algn="l">
              <a:spcBef>
                <a:spcPts val="0"/>
              </a:spcBef>
              <a:spcAft>
                <a:spcPts val="0"/>
              </a:spcAft>
              <a:buSzPts val="1100"/>
              <a:buChar char="●"/>
            </a:pPr>
            <a:r>
              <a:rPr lang="en"/>
              <a:t>Cheap</a:t>
            </a:r>
            <a:endParaRPr/>
          </a:p>
          <a:p>
            <a:pPr indent="-298450" lvl="1" marL="914400" rtl="0" algn="l">
              <a:spcBef>
                <a:spcPts val="0"/>
              </a:spcBef>
              <a:spcAft>
                <a:spcPts val="0"/>
              </a:spcAft>
              <a:buSzPts val="1100"/>
              <a:buChar char="○"/>
            </a:pPr>
            <a:r>
              <a:rPr lang="en"/>
              <a:t>Can cover every system in teh network because everyone has to go through the router</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df65bdd8f9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df65bdd8f9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maybe the nid reads the packets one way but then the person at the end who's actually receiving and processing those packets maybe reads the packets a different way so they're not speaking the same language</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df65bdd8f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df65bdd8f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are nids Looking for path traversal attacks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df65bdd8f9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df65bdd8f9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 dont see a .. so not evil</a:t>
            </a:r>
            <a:endParaRPr/>
          </a:p>
          <a:p>
            <a:pPr indent="-298450" lvl="0" marL="457200" rtl="0" algn="l">
              <a:spcBef>
                <a:spcPts val="0"/>
              </a:spcBef>
              <a:spcAft>
                <a:spcPts val="0"/>
              </a:spcAft>
              <a:buSzPts val="1100"/>
              <a:buChar char="●"/>
            </a:pPr>
            <a:r>
              <a:rPr lang="en"/>
              <a:t>How would you solve this? Nids would have to speak more languages, look at encoding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df65bdd8f9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df65bdd8f9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even is this input</a:t>
            </a:r>
            <a:endParaRPr/>
          </a:p>
          <a:p>
            <a:pPr indent="-298450" lvl="0" marL="457200" rtl="0" algn="l">
              <a:spcBef>
                <a:spcPts val="0"/>
              </a:spcBef>
              <a:spcAft>
                <a:spcPts val="0"/>
              </a:spcAft>
              <a:buSzPts val="1100"/>
              <a:buChar char="●"/>
            </a:pPr>
            <a:r>
              <a:rPr lang="en"/>
              <a:t>Dont have info to know if this is an attack </a:t>
            </a:r>
            <a:endParaRPr/>
          </a:p>
          <a:p>
            <a:pPr indent="-298450" lvl="0" marL="457200" rtl="0" algn="l">
              <a:spcBef>
                <a:spcPts val="0"/>
              </a:spcBef>
              <a:spcAft>
                <a:spcPts val="0"/>
              </a:spcAft>
              <a:buSzPts val="1100"/>
              <a:buChar char="●"/>
            </a:pPr>
            <a:r>
              <a:rPr lang="en"/>
              <a:t>Inconsistency</a:t>
            </a:r>
            <a:endParaRPr/>
          </a:p>
          <a:p>
            <a:pPr indent="-298450" lvl="0" marL="457200" rtl="0" algn="l">
              <a:spcBef>
                <a:spcPts val="0"/>
              </a:spcBef>
              <a:spcAft>
                <a:spcPts val="0"/>
              </a:spcAft>
              <a:buSzPts val="1100"/>
              <a:buChar char="●"/>
            </a:pPr>
            <a:r>
              <a:rPr lang="en"/>
              <a:t>Nids just doesnt know</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e02a8b192c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e02a8b192c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maybe the attacker knows that there's a nids in place </a:t>
            </a:r>
            <a:endParaRPr/>
          </a:p>
          <a:p>
            <a:pPr indent="-298450" lvl="0" marL="457200" rtl="0" algn="l">
              <a:spcBef>
                <a:spcPts val="0"/>
              </a:spcBef>
              <a:spcAft>
                <a:spcPts val="0"/>
              </a:spcAft>
              <a:buSzPts val="1100"/>
              <a:buChar char="●"/>
            </a:pPr>
            <a:r>
              <a:rPr lang="en"/>
              <a:t>and if so maybe the attacker is going to be really clever and the attacker is like oh I know there's this detector sitting here waiting to detect my attack </a:t>
            </a:r>
            <a:endParaRPr/>
          </a:p>
          <a:p>
            <a:pPr indent="-298450" lvl="0" marL="457200" rtl="0" algn="l">
              <a:spcBef>
                <a:spcPts val="0"/>
              </a:spcBef>
              <a:spcAft>
                <a:spcPts val="0"/>
              </a:spcAft>
              <a:buSzPts val="1100"/>
              <a:buChar char="●"/>
            </a:pPr>
            <a:r>
              <a:rPr lang="en"/>
              <a:t>so instead of letting the detector find out that there's an attack </a:t>
            </a:r>
            <a:endParaRPr/>
          </a:p>
          <a:p>
            <a:pPr indent="-298450" lvl="0" marL="457200" rtl="0" algn="l">
              <a:spcBef>
                <a:spcPts val="0"/>
              </a:spcBef>
              <a:spcAft>
                <a:spcPts val="0"/>
              </a:spcAft>
              <a:buSzPts val="1100"/>
              <a:buChar char="●"/>
            </a:pPr>
            <a:r>
              <a:rPr lang="en"/>
              <a:t>they could maybe maliciously try to fool the detector into thinking there's no attack</a:t>
            </a:r>
            <a:endParaRPr/>
          </a:p>
          <a:p>
            <a:pPr indent="-298450" lvl="0" marL="457200" rtl="0" algn="l">
              <a:spcBef>
                <a:spcPts val="0"/>
              </a:spcBef>
              <a:spcAft>
                <a:spcPts val="0"/>
              </a:spcAft>
              <a:buSzPts val="1100"/>
              <a:buChar char="●"/>
            </a:pPr>
            <a:r>
              <a:rPr lang="en"/>
              <a:t>Take advantage of the imperfect obsservability</a:t>
            </a:r>
            <a:endParaRPr/>
          </a:p>
          <a:p>
            <a:pPr indent="-298450" lvl="0" marL="457200" rtl="0" algn="l">
              <a:spcBef>
                <a:spcPts val="0"/>
              </a:spcBef>
              <a:spcAft>
                <a:spcPts val="0"/>
              </a:spcAft>
              <a:buSzPts val="1100"/>
              <a:buChar char="●"/>
            </a:pPr>
            <a:r>
              <a:rPr lang="en"/>
              <a:t>Heres some examples</a:t>
            </a:r>
            <a:endParaRPr/>
          </a:p>
          <a:p>
            <a:pPr indent="-298450" lvl="0" marL="457200" rtl="0" algn="l">
              <a:spcBef>
                <a:spcPts val="0"/>
              </a:spcBef>
              <a:spcAft>
                <a:spcPts val="0"/>
              </a:spcAft>
              <a:buSzPts val="1100"/>
              <a:buChar char="●"/>
            </a:pPr>
            <a:r>
              <a:rPr lang="en"/>
              <a:t>We already saw one, with the set Time to live packets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df65bdd8f9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df65bdd8f9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df65bdd8f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df65bdd8f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Thats it for network level intrusion detection</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e77875332c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e77875332c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dbcf3c0d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dbcf3c0d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Install a separate detector on every single computer on the network</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dbcf3c0d2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dbcf3c0d2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Kinda the opposite of nids</a:t>
            </a:r>
            <a:endParaRPr/>
          </a:p>
          <a:p>
            <a:pPr indent="-298450" lvl="0" marL="457200" rtl="0" algn="l">
              <a:spcBef>
                <a:spcPts val="0"/>
              </a:spcBef>
              <a:spcAft>
                <a:spcPts val="0"/>
              </a:spcAft>
              <a:buSzPts val="1100"/>
              <a:buChar char="●"/>
            </a:pPr>
            <a:r>
              <a:rPr lang="en"/>
              <a:t>Inconsistencies are gone</a:t>
            </a:r>
            <a:endParaRPr/>
          </a:p>
          <a:p>
            <a:pPr indent="-298450" lvl="1" marL="914400" rtl="0" algn="l">
              <a:spcBef>
                <a:spcPts val="0"/>
              </a:spcBef>
              <a:spcAft>
                <a:spcPts val="0"/>
              </a:spcAft>
              <a:buSzPts val="1100"/>
              <a:buChar char="○"/>
            </a:pPr>
            <a:r>
              <a:rPr lang="en"/>
              <a:t>The part that is interpreting the message as the detector is the same person who is reading the message</a:t>
            </a:r>
            <a:endParaRPr/>
          </a:p>
          <a:p>
            <a:pPr indent="-298450" lvl="1" marL="914400" rtl="0" algn="l">
              <a:spcBef>
                <a:spcPts val="0"/>
              </a:spcBef>
              <a:spcAft>
                <a:spcPts val="0"/>
              </a:spcAft>
              <a:buSzPts val="1100"/>
              <a:buChar char="○"/>
            </a:pPr>
            <a:r>
              <a:rPr lang="en"/>
              <a:t>Message was meant for server the detector is the server so they read the messages the same way</a:t>
            </a:r>
            <a:endParaRPr/>
          </a:p>
          <a:p>
            <a:pPr indent="-298450" lvl="0" marL="457200" rtl="0" algn="l">
              <a:spcBef>
                <a:spcPts val="0"/>
              </a:spcBef>
              <a:spcAft>
                <a:spcPts val="0"/>
              </a:spcAft>
              <a:buSzPts val="1100"/>
              <a:buChar char="●"/>
            </a:pPr>
            <a:r>
              <a:rPr lang="en"/>
              <a:t>Read thru rest of bullet points</a:t>
            </a:r>
            <a:endParaRPr/>
          </a:p>
          <a:p>
            <a:pPr indent="-298450" lvl="0" marL="457200" rtl="0" algn="l">
              <a:spcBef>
                <a:spcPts val="0"/>
              </a:spcBef>
              <a:spcAft>
                <a:spcPts val="0"/>
              </a:spcAft>
              <a:buSzPts val="1100"/>
              <a:buChar char="●"/>
            </a:pPr>
            <a:r>
              <a:rPr lang="en"/>
              <a:t>Itsz a tradeoff, maybe use a mix of both hids and nids</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df65bdd8f9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df65bdd8f9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Final system</a:t>
            </a:r>
            <a:endParaRPr/>
          </a:p>
          <a:p>
            <a:pPr indent="-298450" lvl="0" marL="457200" rtl="0" algn="l">
              <a:spcBef>
                <a:spcPts val="0"/>
              </a:spcBef>
              <a:spcAft>
                <a:spcPts val="0"/>
              </a:spcAft>
              <a:buSzPts val="1100"/>
              <a:buChar char="●"/>
            </a:pPr>
            <a:r>
              <a:rPr lang="en"/>
              <a:t>A lot of machines out there already generate logs</a:t>
            </a:r>
            <a:endParaRPr/>
          </a:p>
          <a:p>
            <a:pPr indent="-298450" lvl="1" marL="914400" rtl="0" algn="l">
              <a:spcBef>
                <a:spcPts val="0"/>
              </a:spcBef>
              <a:spcAft>
                <a:spcPts val="0"/>
              </a:spcAft>
              <a:buSzPts val="1100"/>
              <a:buChar char="○"/>
            </a:pPr>
            <a:r>
              <a:rPr lang="en"/>
              <a:t>Messages that tell you what happened</a:t>
            </a:r>
            <a:endParaRPr/>
          </a:p>
          <a:p>
            <a:pPr indent="-298450" lvl="0" marL="457200" rtl="0" algn="l">
              <a:spcBef>
                <a:spcPts val="0"/>
              </a:spcBef>
              <a:spcAft>
                <a:spcPts val="0"/>
              </a:spcAft>
              <a:buSzPts val="1100"/>
              <a:buChar char="●"/>
            </a:pPr>
            <a:r>
              <a:rPr lang="en"/>
              <a:t>If im </a:t>
            </a:r>
            <a:r>
              <a:rPr lang="en"/>
              <a:t>running</a:t>
            </a:r>
            <a:r>
              <a:rPr lang="en"/>
              <a:t> this service,  and the service spits out all this messages telling me whats going on </a:t>
            </a:r>
            <a:endParaRPr/>
          </a:p>
          <a:p>
            <a:pPr indent="-298450" lvl="0" marL="457200" rtl="0" algn="l">
              <a:spcBef>
                <a:spcPts val="0"/>
              </a:spcBef>
              <a:spcAft>
                <a:spcPts val="0"/>
              </a:spcAft>
              <a:buSzPts val="1100"/>
              <a:buChar char="●"/>
            </a:pPr>
            <a:r>
              <a:rPr lang="en"/>
              <a:t>Mauube i can just take those messages and read them and see if anything is suspicious </a:t>
            </a:r>
            <a:endParaRPr/>
          </a:p>
          <a:p>
            <a:pPr indent="-298450" lvl="0" marL="457200" rtl="0" algn="l">
              <a:spcBef>
                <a:spcPts val="0"/>
              </a:spcBef>
              <a:spcAft>
                <a:spcPts val="0"/>
              </a:spcAft>
              <a:buSzPts val="1100"/>
              <a:buChar char="●"/>
            </a:pPr>
            <a:r>
              <a:rPr lang="en"/>
              <a:t>The services are already spitting out th </a:t>
            </a:r>
            <a:r>
              <a:rPr lang="en"/>
              <a:t>messages</a:t>
            </a:r>
            <a:endParaRPr/>
          </a:p>
          <a:p>
            <a:pPr indent="-298450" lvl="0" marL="457200" rtl="0" algn="l">
              <a:spcBef>
                <a:spcPts val="0"/>
              </a:spcBef>
              <a:spcAft>
                <a:spcPts val="0"/>
              </a:spcAft>
              <a:buSzPts val="1100"/>
              <a:buChar char="●"/>
            </a:pPr>
            <a:r>
              <a:rPr lang="en"/>
              <a:t>Use those logs that someone else has already generated to runa  script on the text file to see if anything indicates an attack happened</a:t>
            </a:r>
            <a:endParaRPr/>
          </a:p>
          <a:p>
            <a:pPr indent="-298450" lvl="0" marL="457200" rtl="0" algn="l">
              <a:spcBef>
                <a:spcPts val="0"/>
              </a:spcBef>
              <a:spcAft>
                <a:spcPts val="0"/>
              </a:spcAft>
              <a:buSzPts val="1100"/>
              <a:buChar char="●"/>
            </a:pPr>
            <a:r>
              <a:rPr lang="en"/>
              <a:t>Benefits</a:t>
            </a:r>
            <a:endParaRPr/>
          </a:p>
          <a:p>
            <a:pPr indent="-298450" lvl="1" marL="914400" rtl="0" algn="l">
              <a:spcBef>
                <a:spcPts val="0"/>
              </a:spcBef>
              <a:spcAft>
                <a:spcPts val="0"/>
              </a:spcAft>
              <a:buSzPts val="1100"/>
              <a:buChar char="○"/>
            </a:pPr>
            <a:r>
              <a:rPr lang="en"/>
              <a:t>Cheap, use someone elses system, run python script every night</a:t>
            </a:r>
            <a:endParaRPr/>
          </a:p>
          <a:p>
            <a:pPr indent="-298450" lvl="1" marL="914400" rtl="0" algn="l">
              <a:spcBef>
                <a:spcPts val="0"/>
              </a:spcBef>
              <a:spcAft>
                <a:spcPts val="0"/>
              </a:spcAft>
              <a:buSzPts val="1100"/>
              <a:buChar char="○"/>
            </a:pPr>
            <a:r>
              <a:rPr lang="en"/>
              <a:t>Dont have to worry about 2 diff people interpreting things </a:t>
            </a:r>
            <a:r>
              <a:rPr lang="en"/>
              <a:t>differentially</a:t>
            </a:r>
            <a:r>
              <a:rPr lang="en"/>
              <a:t> because the loggins system is the end host</a:t>
            </a:r>
            <a:endParaRPr/>
          </a:p>
          <a:p>
            <a:pPr indent="-298450" lvl="0" marL="457200" rtl="0" algn="l">
              <a:spcBef>
                <a:spcPts val="0"/>
              </a:spcBef>
              <a:spcAft>
                <a:spcPts val="0"/>
              </a:spcAft>
              <a:buSzPts val="1100"/>
              <a:buChar char="●"/>
            </a:pPr>
            <a:r>
              <a:rPr lang="en"/>
              <a:t>Drawback</a:t>
            </a:r>
            <a:endParaRPr/>
          </a:p>
          <a:p>
            <a:pPr indent="-298450" lvl="1" marL="914400" rtl="0" algn="l">
              <a:spcBef>
                <a:spcPts val="0"/>
              </a:spcBef>
              <a:spcAft>
                <a:spcPts val="0"/>
              </a:spcAft>
              <a:buSzPts val="1100"/>
              <a:buChar char="○"/>
            </a:pPr>
            <a:r>
              <a:rPr lang="en"/>
              <a:t>Its already happened, cant detect in real time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dbff80a8f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dbff80a8f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Seperate but related</a:t>
            </a:r>
            <a:endParaRPr/>
          </a:p>
          <a:p>
            <a:pPr indent="-298450" lvl="0" marL="457200" rtl="0" algn="l">
              <a:spcBef>
                <a:spcPts val="0"/>
              </a:spcBef>
              <a:spcAft>
                <a:spcPts val="0"/>
              </a:spcAft>
              <a:buSzPts val="1100"/>
              <a:buChar char="●"/>
            </a:pPr>
            <a:r>
              <a:rPr lang="en"/>
              <a:t>We talked about where to put them</a:t>
            </a:r>
            <a:endParaRPr/>
          </a:p>
          <a:p>
            <a:pPr indent="-298450" lvl="0" marL="457200" rtl="0" algn="l">
              <a:spcBef>
                <a:spcPts val="0"/>
              </a:spcBef>
              <a:spcAft>
                <a:spcPts val="0"/>
              </a:spcAft>
              <a:buSzPts val="1100"/>
              <a:buChar char="●"/>
            </a:pPr>
            <a:r>
              <a:rPr lang="en"/>
              <a:t>Now we have to think about how do you measure if a detectors good or bad</a:t>
            </a:r>
            <a:endParaRPr/>
          </a:p>
          <a:p>
            <a:pPr indent="-298450" lvl="0" marL="457200" rtl="0" algn="l">
              <a:spcBef>
                <a:spcPts val="0"/>
              </a:spcBef>
              <a:spcAft>
                <a:spcPts val="0"/>
              </a:spcAft>
              <a:buSzPts val="1100"/>
              <a:buChar char="●"/>
            </a:pPr>
            <a:r>
              <a:rPr lang="en"/>
              <a:t>What kind of mistakes can a detector make</a:t>
            </a:r>
            <a:endParaRPr/>
          </a:p>
          <a:p>
            <a:pPr indent="-298450" lvl="0" marL="457200" rtl="0" algn="l">
              <a:spcBef>
                <a:spcPts val="0"/>
              </a:spcBef>
              <a:spcAft>
                <a:spcPts val="0"/>
              </a:spcAft>
              <a:buSzPts val="1100"/>
              <a:buChar char="●"/>
            </a:pPr>
            <a:r>
              <a:rPr lang="en"/>
              <a:t>We knwo that we just keep </a:t>
            </a:r>
            <a:r>
              <a:rPr lang="en"/>
              <a:t>asking</a:t>
            </a:r>
            <a:r>
              <a:rPr lang="en"/>
              <a:t> the detector the same question, the only question the detector has to answer is was there an attack yes or no</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dbff80a8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dbff80a8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a:t>
            </a:r>
            <a:r>
              <a:rPr lang="en"/>
              <a:t>detector</a:t>
            </a:r>
            <a:r>
              <a:rPr lang="en"/>
              <a:t> can get it wrong in 2 diff ways</a:t>
            </a:r>
            <a:endParaRPr/>
          </a:p>
          <a:p>
            <a:pPr indent="-298450" lvl="0" marL="457200" rtl="0" algn="l">
              <a:spcBef>
                <a:spcPts val="0"/>
              </a:spcBef>
              <a:spcAft>
                <a:spcPts val="0"/>
              </a:spcAft>
              <a:buSzPts val="1100"/>
              <a:buChar char="●"/>
            </a:pPr>
            <a:r>
              <a:rPr lang="en"/>
              <a:t>False positive rate: sum together all the scenarios and situations where there was no attack and count how many of those cases there was an alert</a:t>
            </a:r>
            <a:endParaRPr/>
          </a:p>
          <a:p>
            <a:pPr indent="-298450" lvl="0" marL="457200" rtl="0" algn="l">
              <a:spcBef>
                <a:spcPts val="0"/>
              </a:spcBef>
              <a:spcAft>
                <a:spcPts val="0"/>
              </a:spcAft>
              <a:buSzPts val="1100"/>
              <a:buChar char="●"/>
            </a:pPr>
            <a:r>
              <a:rPr lang="en"/>
              <a:t>False negative rate: count up all the cases where there was ana attack and count how many i missed</a:t>
            </a:r>
            <a:endParaRPr/>
          </a:p>
          <a:p>
            <a:pPr indent="-298450" lvl="0" marL="457200" rtl="0" algn="l">
              <a:spcBef>
                <a:spcPts val="0"/>
              </a:spcBef>
              <a:spcAft>
                <a:spcPts val="0"/>
              </a:spcAft>
              <a:buSzPts val="1100"/>
              <a:buChar char="●"/>
            </a:pPr>
            <a:r>
              <a:rPr lang="en"/>
              <a:t>Keep them as low as possible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dbff80a8f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dbff80a8f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Can we build a detector with a false positive rate of 0%</a:t>
            </a:r>
            <a:endParaRPr/>
          </a:p>
          <a:p>
            <a:pPr indent="-298450" lvl="0" marL="457200" rtl="0" algn="l">
              <a:spcBef>
                <a:spcPts val="0"/>
              </a:spcBef>
              <a:spcAft>
                <a:spcPts val="0"/>
              </a:spcAft>
              <a:buSzPts val="1100"/>
              <a:buChar char="●"/>
            </a:pPr>
            <a:r>
              <a:rPr lang="en"/>
              <a:t>Could build something like this</a:t>
            </a:r>
            <a:endParaRPr/>
          </a:p>
          <a:p>
            <a:pPr indent="-298450" lvl="0" marL="457200" rtl="0" algn="l">
              <a:spcBef>
                <a:spcPts val="0"/>
              </a:spcBef>
              <a:spcAft>
                <a:spcPts val="0"/>
              </a:spcAft>
              <a:buSzPts val="1100"/>
              <a:buChar char="●"/>
            </a:pPr>
            <a:r>
              <a:rPr lang="en"/>
              <a:t>Probability that it flags on a non attack is 0 because its never flagging</a:t>
            </a:r>
            <a:endParaRPr/>
          </a:p>
          <a:p>
            <a:pPr indent="-298450" lvl="0" marL="457200" rtl="0" algn="l">
              <a:spcBef>
                <a:spcPts val="0"/>
              </a:spcBef>
              <a:spcAft>
                <a:spcPts val="0"/>
              </a:spcAft>
              <a:buSzPts val="1100"/>
              <a:buChar char="●"/>
            </a:pPr>
            <a:r>
              <a:rPr lang="en"/>
              <a:t>Hopefully we all agree that thats prob not good</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166652397e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166652397e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Can we build a detector with a false positive rate of 0%</a:t>
            </a:r>
            <a:endParaRPr/>
          </a:p>
          <a:p>
            <a:pPr indent="-298450" lvl="0" marL="457200" rtl="0" algn="l">
              <a:spcBef>
                <a:spcPts val="0"/>
              </a:spcBef>
              <a:spcAft>
                <a:spcPts val="0"/>
              </a:spcAft>
              <a:buSzPts val="1100"/>
              <a:buChar char="●"/>
            </a:pPr>
            <a:r>
              <a:rPr lang="en"/>
              <a:t>Could build something like this</a:t>
            </a:r>
            <a:endParaRPr/>
          </a:p>
          <a:p>
            <a:pPr indent="-298450" lvl="0" marL="457200" rtl="0" algn="l">
              <a:spcBef>
                <a:spcPts val="0"/>
              </a:spcBef>
              <a:spcAft>
                <a:spcPts val="0"/>
              </a:spcAft>
              <a:buSzPts val="1100"/>
              <a:buChar char="●"/>
            </a:pPr>
            <a:r>
              <a:rPr lang="en"/>
              <a:t>Probability that it flags on a non attack is 0 because its never flagging</a:t>
            </a:r>
            <a:endParaRPr/>
          </a:p>
          <a:p>
            <a:pPr indent="-298450" lvl="0" marL="457200" rtl="0" algn="l">
              <a:spcBef>
                <a:spcPts val="0"/>
              </a:spcBef>
              <a:spcAft>
                <a:spcPts val="0"/>
              </a:spcAft>
              <a:buSzPts val="1100"/>
              <a:buChar char="●"/>
            </a:pPr>
            <a:r>
              <a:rPr lang="en"/>
              <a:t>Hopefully we all agree that thats prob not good</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dbff80a8f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dbff80a8f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You need to balance these 2</a:t>
            </a:r>
            <a:endParaRPr/>
          </a:p>
          <a:p>
            <a:pPr indent="-298450" lvl="0" marL="457200" rtl="0" algn="l">
              <a:spcBef>
                <a:spcPts val="0"/>
              </a:spcBef>
              <a:spcAft>
                <a:spcPts val="0"/>
              </a:spcAft>
              <a:buSzPts val="1100"/>
              <a:buChar char="●"/>
            </a:pPr>
            <a:r>
              <a:rPr lang="en"/>
              <a:t>Tradeoff of which of these two you value more</a:t>
            </a:r>
            <a:endParaRPr/>
          </a:p>
          <a:p>
            <a:pPr indent="-298450" lvl="0" marL="457200" rtl="0" algn="l">
              <a:spcBef>
                <a:spcPts val="0"/>
              </a:spcBef>
              <a:spcAft>
                <a:spcPts val="0"/>
              </a:spcAft>
              <a:buSzPts val="1100"/>
              <a:buChar char="●"/>
            </a:pPr>
            <a:r>
              <a:rPr lang="en"/>
              <a:t>The tradeoff can be diff depending on </a:t>
            </a:r>
            <a:r>
              <a:rPr lang="en"/>
              <a:t>what</a:t>
            </a:r>
            <a:r>
              <a:rPr lang="en"/>
              <a:t> youre trying to protect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dbff80a8f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dbff80a8f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Takes some probability to really hammer down so not going to force you to remember this</a:t>
            </a:r>
            <a:endParaRPr/>
          </a:p>
          <a:p>
            <a:pPr indent="-298450" lvl="0" marL="457200" rtl="0" algn="l">
              <a:spcBef>
                <a:spcPts val="0"/>
              </a:spcBef>
              <a:spcAft>
                <a:spcPts val="0"/>
              </a:spcAft>
              <a:buSzPts val="1100"/>
              <a:buChar char="●"/>
            </a:pPr>
            <a:r>
              <a:rPr lang="en"/>
              <a:t>Rate of attacks also affect the quality of the detector</a:t>
            </a:r>
            <a:endParaRPr/>
          </a:p>
          <a:p>
            <a:pPr indent="-298450" lvl="0" marL="457200" rtl="0" algn="l">
              <a:spcBef>
                <a:spcPts val="0"/>
              </a:spcBef>
              <a:spcAft>
                <a:spcPts val="0"/>
              </a:spcAft>
              <a:buSzPts val="1100"/>
              <a:buChar char="●"/>
            </a:pPr>
            <a:r>
              <a:rPr lang="en"/>
              <a:t>Kind of a paradox, hard to see right away</a:t>
            </a:r>
            <a:endParaRPr/>
          </a:p>
          <a:p>
            <a:pPr indent="-298450" lvl="0" marL="457200" rtl="0" algn="l">
              <a:spcBef>
                <a:spcPts val="0"/>
              </a:spcBef>
              <a:spcAft>
                <a:spcPts val="0"/>
              </a:spcAft>
              <a:buSzPts val="1100"/>
              <a:buChar char="●"/>
            </a:pPr>
            <a:r>
              <a:rPr lang="en"/>
              <a:t>let's say there's a detector that has a 0.1% false positive rate that's really good because that means that if you presented 1,000 innocuous inputs that are not attacks it will only get one one wrong</a:t>
            </a:r>
            <a:endParaRPr/>
          </a:p>
          <a:p>
            <a:pPr indent="-298450" lvl="0" marL="457200" rtl="0" algn="l">
              <a:spcBef>
                <a:spcPts val="0"/>
              </a:spcBef>
              <a:spcAft>
                <a:spcPts val="0"/>
              </a:spcAft>
              <a:buSzPts val="1100"/>
              <a:buChar char="●"/>
            </a:pPr>
            <a:r>
              <a:rPr lang="en"/>
              <a:t>Leets take this detector and use it on scenario #1</a:t>
            </a:r>
            <a:endParaRPr/>
          </a:p>
          <a:p>
            <a:pPr indent="-298450" lvl="1" marL="914400" rtl="0" algn="l">
              <a:spcBef>
                <a:spcPts val="0"/>
              </a:spcBef>
              <a:spcAft>
                <a:spcPts val="0"/>
              </a:spcAft>
              <a:buSzPts val="1100"/>
              <a:buChar char="○"/>
            </a:pPr>
            <a:r>
              <a:rPr lang="en"/>
              <a:t>1000 non attacks, 5 attacks</a:t>
            </a:r>
            <a:endParaRPr/>
          </a:p>
          <a:p>
            <a:pPr indent="-298450" lvl="1" marL="914400" rtl="0" algn="l">
              <a:spcBef>
                <a:spcPts val="0"/>
              </a:spcBef>
              <a:spcAft>
                <a:spcPts val="0"/>
              </a:spcAft>
              <a:buSzPts val="1100"/>
              <a:buChar char="○"/>
            </a:pPr>
            <a:r>
              <a:rPr lang="en"/>
              <a:t>1 false positive and found 5 attacks</a:t>
            </a:r>
            <a:endParaRPr/>
          </a:p>
          <a:p>
            <a:pPr indent="-298450" lvl="0" marL="457200" rtl="0" algn="l">
              <a:spcBef>
                <a:spcPts val="0"/>
              </a:spcBef>
              <a:spcAft>
                <a:spcPts val="0"/>
              </a:spcAft>
              <a:buSzPts val="1100"/>
              <a:buChar char="●"/>
            </a:pPr>
            <a:r>
              <a:rPr lang="en"/>
              <a:t>Another scenario</a:t>
            </a:r>
            <a:endParaRPr/>
          </a:p>
          <a:p>
            <a:pPr indent="-298450" lvl="1" marL="914400" rtl="0" algn="l">
              <a:spcBef>
                <a:spcPts val="0"/>
              </a:spcBef>
              <a:spcAft>
                <a:spcPts val="0"/>
              </a:spcAft>
              <a:buSzPts val="1100"/>
              <a:buChar char="○"/>
            </a:pPr>
            <a:r>
              <a:rPr lang="en"/>
              <a:t>10 mill requests that are not attacks</a:t>
            </a:r>
            <a:endParaRPr/>
          </a:p>
          <a:p>
            <a:pPr indent="-298450" lvl="1" marL="914400" rtl="0" algn="l">
              <a:spcBef>
                <a:spcPts val="0"/>
              </a:spcBef>
              <a:spcAft>
                <a:spcPts val="0"/>
              </a:spcAft>
              <a:buSzPts val="1100"/>
              <a:buChar char="○"/>
            </a:pPr>
            <a:r>
              <a:rPr lang="en"/>
              <a:t>10,000 false positives</a:t>
            </a:r>
            <a:endParaRPr/>
          </a:p>
          <a:p>
            <a:pPr indent="-298450" lvl="1" marL="914400" rtl="0" algn="l">
              <a:spcBef>
                <a:spcPts val="0"/>
              </a:spcBef>
              <a:spcAft>
                <a:spcPts val="0"/>
              </a:spcAft>
              <a:buSzPts val="1100"/>
              <a:buChar char="○"/>
            </a:pPr>
            <a:r>
              <a:rPr lang="en"/>
              <a:t>Thats 10,005 positives that someone has to look thru</a:t>
            </a:r>
            <a:endParaRPr/>
          </a:p>
          <a:p>
            <a:pPr indent="-298450" lvl="1" marL="914400" rtl="0" algn="l">
              <a:spcBef>
                <a:spcPts val="0"/>
              </a:spcBef>
              <a:spcAft>
                <a:spcPts val="0"/>
              </a:spcAft>
              <a:buSzPts val="1100"/>
              <a:buChar char="○"/>
            </a:pPr>
            <a:r>
              <a:rPr lang="en"/>
              <a:t>Has to pick out 5 that are actually atacks</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dbff80a8f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dbff80a8f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e77875332c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e77875332c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Read through scenario</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dbff80a8f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dbff80a8f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One detector that detects on smoke</a:t>
            </a:r>
            <a:endParaRPr/>
          </a:p>
          <a:p>
            <a:pPr indent="-298450" lvl="0" marL="457200" rtl="0" algn="l">
              <a:spcBef>
                <a:spcPts val="0"/>
              </a:spcBef>
              <a:spcAft>
                <a:spcPts val="0"/>
              </a:spcAft>
              <a:buSzPts val="1100"/>
              <a:buChar char="●"/>
            </a:pPr>
            <a:r>
              <a:rPr lang="en"/>
              <a:t>One </a:t>
            </a:r>
            <a:r>
              <a:rPr lang="en"/>
              <a:t>detector</a:t>
            </a:r>
            <a:r>
              <a:rPr lang="en"/>
              <a:t> that detects on temperature</a:t>
            </a:r>
            <a:endParaRPr/>
          </a:p>
          <a:p>
            <a:pPr indent="-298450" lvl="0" marL="457200" rtl="0" algn="l">
              <a:spcBef>
                <a:spcPts val="0"/>
              </a:spcBef>
              <a:spcAft>
                <a:spcPts val="0"/>
              </a:spcAft>
              <a:buSzPts val="1100"/>
              <a:buChar char="●"/>
            </a:pPr>
            <a:r>
              <a:rPr lang="en"/>
              <a:t>Parallel:</a:t>
            </a:r>
            <a:endParaRPr/>
          </a:p>
          <a:p>
            <a:pPr indent="-298450" lvl="1" marL="914400" rtl="0" algn="l">
              <a:spcBef>
                <a:spcPts val="0"/>
              </a:spcBef>
              <a:spcAft>
                <a:spcPts val="0"/>
              </a:spcAft>
              <a:buSzPts val="1100"/>
              <a:buChar char="○"/>
            </a:pPr>
            <a:r>
              <a:rPr lang="en"/>
              <a:t>Read thru bullet points</a:t>
            </a:r>
            <a:endParaRPr/>
          </a:p>
          <a:p>
            <a:pPr indent="-298450" lvl="1" marL="914400" rtl="0" algn="l">
              <a:spcBef>
                <a:spcPts val="0"/>
              </a:spcBef>
              <a:spcAft>
                <a:spcPts val="0"/>
              </a:spcAft>
              <a:buSzPts val="1100"/>
              <a:buChar char="○"/>
            </a:pPr>
            <a:r>
              <a:rPr lang="en"/>
              <a:t>Buy 100 detectors, if any of the 100 go off i call it an attack</a:t>
            </a:r>
            <a:endParaRPr/>
          </a:p>
          <a:p>
            <a:pPr indent="-298450" lvl="1" marL="914400" rtl="0" algn="l">
              <a:spcBef>
                <a:spcPts val="0"/>
              </a:spcBef>
              <a:spcAft>
                <a:spcPts val="0"/>
              </a:spcAft>
              <a:buSzPts val="1100"/>
              <a:buChar char="○"/>
            </a:pPr>
            <a:r>
              <a:rPr lang="en"/>
              <a:t>Thats going to generate more alerts because only 1 has to go off for me to alert overall, so overall im going to be alerting more often than if i just used any one ofthose detectors</a:t>
            </a:r>
            <a:endParaRPr/>
          </a:p>
          <a:p>
            <a:pPr indent="-298450" lvl="0" marL="457200" rtl="0" algn="l">
              <a:spcBef>
                <a:spcPts val="0"/>
              </a:spcBef>
              <a:spcAft>
                <a:spcPts val="0"/>
              </a:spcAft>
              <a:buSzPts val="1100"/>
              <a:buChar char="●"/>
            </a:pPr>
            <a:r>
              <a:rPr lang="en"/>
              <a:t>Series:</a:t>
            </a:r>
            <a:endParaRPr/>
          </a:p>
          <a:p>
            <a:pPr indent="-298450" lvl="1" marL="914400" rtl="0" algn="l">
              <a:spcBef>
                <a:spcPts val="0"/>
              </a:spcBef>
              <a:spcAft>
                <a:spcPts val="0"/>
              </a:spcAft>
              <a:buSzPts val="1100"/>
              <a:buChar char="○"/>
            </a:pPr>
            <a:r>
              <a:rPr lang="en"/>
              <a:t>Need everybody to agree theres an attack</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dbff80a8f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dbff80a8f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Lecture is pretty organized because we started with where do you detect/where do you put the detector, and then how do you know if th edetector is good, how do you measure it</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dbff80a8f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dbff80a8f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Now our third question is how do you detect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So far weve just been saying okay the detector gets an input and says yes theres an attack or no theres not an attack, but how does it know that, whta thinking, what logict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dbff80a8f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dbff80a8f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If i see something and it looks like an attack ive seen before, i ahve this list of attacks that i know about, if it matches, then i flag </a:t>
            </a:r>
            <a:endParaRPr/>
          </a:p>
          <a:p>
            <a:pPr indent="-298450" lvl="0" marL="457200" rtl="0" algn="l">
              <a:spcBef>
                <a:spcPts val="0"/>
              </a:spcBef>
              <a:spcAft>
                <a:spcPts val="0"/>
              </a:spcAft>
              <a:buSzPts val="1100"/>
              <a:buChar char="●"/>
            </a:pPr>
            <a:r>
              <a:rPr lang="en"/>
              <a:t>Blacklisting = denylist</a:t>
            </a:r>
            <a:endParaRPr/>
          </a:p>
          <a:p>
            <a:pPr indent="-298450" lvl="0" marL="457200" rtl="0" algn="l">
              <a:spcBef>
                <a:spcPts val="0"/>
              </a:spcBef>
              <a:spcAft>
                <a:spcPts val="0"/>
              </a:spcAft>
              <a:buSzPts val="1100"/>
              <a:buChar char="●"/>
            </a:pPr>
            <a:r>
              <a:rPr lang="en"/>
              <a:t>Can use this strategies at diff places</a:t>
            </a:r>
            <a:endParaRPr/>
          </a:p>
          <a:p>
            <a:pPr indent="-298450" lvl="0" marL="457200" rtl="0" algn="l">
              <a:spcBef>
                <a:spcPts val="0"/>
              </a:spcBef>
              <a:spcAft>
                <a:spcPts val="0"/>
              </a:spcAft>
              <a:buSzPts val="1100"/>
              <a:buChar char="●"/>
            </a:pPr>
            <a:r>
              <a:rPr lang="en"/>
              <a:t>Maybe can read the tcp headers and od this at the tcp layer at the network layer</a:t>
            </a:r>
            <a:endParaRPr/>
          </a:p>
          <a:p>
            <a:pPr indent="-298450" lvl="0" marL="457200" rtl="0" algn="l">
              <a:spcBef>
                <a:spcPts val="0"/>
              </a:spcBef>
              <a:spcAft>
                <a:spcPts val="0"/>
              </a:spcAft>
              <a:buSzPts val="1100"/>
              <a:buChar char="●"/>
            </a:pPr>
            <a:r>
              <a:rPr lang="en"/>
              <a:t>Could also do this at the application layer, think </a:t>
            </a:r>
            <a:r>
              <a:rPr lang="en"/>
              <a:t>about</a:t>
            </a:r>
            <a:r>
              <a:rPr lang="en"/>
              <a:t> what the http request is and see if the contents of that match an attack</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dbff80a8f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dbff80a8f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Examples</a:t>
            </a:r>
            <a:endParaRPr/>
          </a:p>
          <a:p>
            <a:pPr indent="-298450" lvl="0" marL="457200" rtl="0" algn="l">
              <a:spcBef>
                <a:spcPts val="0"/>
              </a:spcBef>
              <a:spcAft>
                <a:spcPts val="0"/>
              </a:spcAft>
              <a:buSzPts val="1100"/>
              <a:buChar char="●"/>
            </a:pPr>
            <a:r>
              <a:rPr lang="en"/>
              <a:t>../ is often used to navigate to diff directories</a:t>
            </a:r>
            <a:endParaRPr/>
          </a:p>
          <a:p>
            <a:pPr indent="-298450" lvl="0" marL="457200" rtl="0" algn="l">
              <a:spcBef>
                <a:spcPts val="0"/>
              </a:spcBef>
              <a:spcAft>
                <a:spcPts val="0"/>
              </a:spcAft>
              <a:buSzPts val="1100"/>
              <a:buChar char="●"/>
            </a:pPr>
            <a:r>
              <a:rPr lang="en"/>
              <a:t>Is this all the path traversal attacks out there? Prob not, but it is a common pattern</a:t>
            </a:r>
            <a:endParaRPr/>
          </a:p>
          <a:p>
            <a:pPr indent="-298450" lvl="0" marL="457200" rtl="0" algn="l">
              <a:spcBef>
                <a:spcPts val="0"/>
              </a:spcBef>
              <a:spcAft>
                <a:spcPts val="0"/>
              </a:spcAft>
              <a:buSzPts val="1100"/>
              <a:buChar char="●"/>
            </a:pPr>
            <a:r>
              <a:rPr lang="en"/>
              <a:t>If i see it flag</a:t>
            </a:r>
            <a:endParaRPr/>
          </a:p>
          <a:p>
            <a:pPr indent="-298450" lvl="0" marL="457200" rtl="0" algn="l">
              <a:spcBef>
                <a:spcPts val="0"/>
              </a:spcBef>
              <a:spcAft>
                <a:spcPts val="0"/>
              </a:spcAft>
              <a:buSzPts val="1100"/>
              <a:buChar char="●"/>
            </a:pPr>
            <a:r>
              <a:rPr lang="en"/>
              <a:t>False positive false negatives</a:t>
            </a:r>
            <a:endParaRPr/>
          </a:p>
          <a:p>
            <a:pPr indent="-298450" lvl="0" marL="457200" rtl="0" algn="l">
              <a:spcBef>
                <a:spcPts val="0"/>
              </a:spcBef>
              <a:spcAft>
                <a:spcPts val="0"/>
              </a:spcAft>
              <a:buSzPts val="1100"/>
              <a:buChar char="●"/>
            </a:pPr>
            <a:r>
              <a:rPr lang="en"/>
              <a:t>Buffer </a:t>
            </a:r>
            <a:r>
              <a:rPr lang="en"/>
              <a:t>overflow</a:t>
            </a:r>
            <a:endParaRPr/>
          </a:p>
          <a:p>
            <a:pPr indent="-298450" lvl="0" marL="457200" rtl="0" algn="l">
              <a:spcBef>
                <a:spcPts val="0"/>
              </a:spcBef>
              <a:spcAft>
                <a:spcPts val="0"/>
              </a:spcAft>
              <a:buSzPts val="1100"/>
              <a:buChar char="●"/>
            </a:pPr>
            <a:r>
              <a:rPr lang="en"/>
              <a:t>Read bullets</a:t>
            </a:r>
            <a:endParaRPr/>
          </a:p>
          <a:p>
            <a:pPr indent="-298450" lvl="1" marL="914400" rtl="0" algn="l">
              <a:spcBef>
                <a:spcPts val="0"/>
              </a:spcBef>
              <a:spcAft>
                <a:spcPts val="0"/>
              </a:spcAft>
              <a:buSzPts val="1100"/>
              <a:buChar char="○"/>
            </a:pPr>
            <a:r>
              <a:rPr lang="en"/>
              <a:t>Try to upload proj1 and cant because browser doesnt allow it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dbff80a8f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dbff80a8f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Simple, took like 2 mins to epxlain</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dbff80a8f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dbff80a8f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Backwards of signature based</a:t>
            </a:r>
            <a:endParaRPr/>
          </a:p>
          <a:p>
            <a:pPr indent="-298450" lvl="1" marL="914400" rtl="0" algn="l">
              <a:spcBef>
                <a:spcPts val="0"/>
              </a:spcBef>
              <a:spcAft>
                <a:spcPts val="0"/>
              </a:spcAft>
              <a:buSzPts val="1100"/>
              <a:buChar char="○"/>
            </a:pPr>
            <a:r>
              <a:rPr lang="en"/>
              <a:t>Had a list of not good things that would flag</a:t>
            </a:r>
            <a:endParaRPr/>
          </a:p>
          <a:p>
            <a:pPr indent="-298450" lvl="1" marL="914400" rtl="0" algn="l">
              <a:spcBef>
                <a:spcPts val="0"/>
              </a:spcBef>
              <a:spcAft>
                <a:spcPts val="0"/>
              </a:spcAft>
              <a:buSzPts val="1100"/>
              <a:buChar char="○"/>
            </a:pPr>
            <a:r>
              <a:rPr lang="en"/>
              <a:t>Opposite, list out all the things that are allowed</a:t>
            </a:r>
            <a:endParaRPr/>
          </a:p>
          <a:p>
            <a:pPr indent="-298450" lvl="1" marL="914400" rtl="0" algn="l">
              <a:spcBef>
                <a:spcPts val="0"/>
              </a:spcBef>
              <a:spcAft>
                <a:spcPts val="0"/>
              </a:spcAft>
              <a:buSzPts val="1100"/>
              <a:buChar char="○"/>
            </a:pPr>
            <a:r>
              <a:rPr lang="en"/>
              <a:t>Whitelisting = allowlist</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dbff80a8fd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dbff80a8fd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dbff80a8fd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dbff80a8fd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Takes a lot of time and effort:</a:t>
            </a:r>
            <a:endParaRPr/>
          </a:p>
          <a:p>
            <a:pPr indent="-298450" lvl="1" marL="914400" rtl="0" algn="l">
              <a:spcBef>
                <a:spcPts val="0"/>
              </a:spcBef>
              <a:spcAft>
                <a:spcPts val="0"/>
              </a:spcAft>
              <a:buSzPts val="1100"/>
              <a:buChar char="○"/>
            </a:pPr>
            <a:r>
              <a:rPr lang="en"/>
              <a:t>This program asks for your name, this program asks for you ages, this program asks for your username and password</a:t>
            </a:r>
            <a:endParaRPr/>
          </a:p>
          <a:p>
            <a:pPr indent="-298450" lvl="1" marL="914400" rtl="0" algn="l">
              <a:spcBef>
                <a:spcPts val="0"/>
              </a:spcBef>
              <a:spcAft>
                <a:spcPts val="0"/>
              </a:spcAft>
              <a:buSzPts val="1100"/>
              <a:buChar char="○"/>
            </a:pPr>
            <a:r>
              <a:rPr lang="en"/>
              <a:t>Manually take your time to specify all the things that are allowed and if you miss something or accidentally leave something out that could be a problem</a:t>
            </a:r>
            <a:endParaRPr/>
          </a:p>
          <a:p>
            <a:pPr indent="-298450" lvl="1" marL="914400" rtl="0" algn="l">
              <a:spcBef>
                <a:spcPts val="0"/>
              </a:spcBef>
              <a:spcAft>
                <a:spcPts val="0"/>
              </a:spcAft>
              <a:buSzPts val="1100"/>
              <a:buChar char="○"/>
            </a:pPr>
            <a:r>
              <a:rPr lang="en"/>
              <a:t>If something changes</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dbff80a8fd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dbff80a8f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2 down 2 to go </a:t>
            </a:r>
            <a:endParaRPr/>
          </a:p>
          <a:p>
            <a:pPr indent="-298450" lvl="0" marL="457200" rtl="0" algn="l">
              <a:spcBef>
                <a:spcPts val="0"/>
              </a:spcBef>
              <a:spcAft>
                <a:spcPts val="0"/>
              </a:spcAft>
              <a:buSzPts val="1100"/>
              <a:buChar char="●"/>
            </a:pPr>
            <a:r>
              <a:rPr lang="en"/>
              <a:t>Kinda funky</a:t>
            </a:r>
            <a:endParaRPr/>
          </a:p>
          <a:p>
            <a:pPr indent="-298450" lvl="0" marL="457200" rtl="0" algn="l">
              <a:spcBef>
                <a:spcPts val="0"/>
              </a:spcBef>
              <a:spcAft>
                <a:spcPts val="0"/>
              </a:spcAft>
              <a:buSzPts val="1100"/>
              <a:buChar char="●"/>
            </a:pPr>
            <a:r>
              <a:rPr lang="en"/>
              <a:t>Use machine learning and statistics to learn what is normal and what to allow</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dbff80a8fd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dbff80a8f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Buffer overflows:</a:t>
            </a:r>
            <a:endParaRPr/>
          </a:p>
          <a:p>
            <a:pPr indent="-298450" lvl="1" marL="914400" rtl="0" algn="l">
              <a:spcBef>
                <a:spcPts val="0"/>
              </a:spcBef>
              <a:spcAft>
                <a:spcPts val="0"/>
              </a:spcAft>
              <a:buSzPts val="1100"/>
              <a:buChar char="○"/>
            </a:pPr>
            <a:r>
              <a:rPr lang="en"/>
              <a:t>Things that are not attacks are things a user can type on the keyboard</a:t>
            </a:r>
            <a:endParaRPr/>
          </a:p>
          <a:p>
            <a:pPr indent="-298450" lvl="1" marL="914400" rtl="0" algn="l">
              <a:spcBef>
                <a:spcPts val="0"/>
              </a:spcBef>
              <a:spcAft>
                <a:spcPts val="0"/>
              </a:spcAft>
              <a:buSzPts val="1100"/>
              <a:buChar char="○"/>
            </a:pPr>
            <a:r>
              <a:rPr lang="en"/>
              <a:t>Atacks tend to have things that are not </a:t>
            </a:r>
            <a:r>
              <a:rPr lang="en"/>
              <a:t>printable</a:t>
            </a:r>
            <a:r>
              <a:rPr lang="en"/>
              <a:t>, like raw bytes, like 0xff, thats not a keyboard character thats a raw byte a </a:t>
            </a:r>
            <a:r>
              <a:rPr lang="en"/>
              <a:t>non printable</a:t>
            </a:r>
            <a:r>
              <a:rPr lang="en"/>
              <a:t> character</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dbff80a8f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dbff80a8f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dbff80a8f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dbff80a8f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Not going to looka t input itself</a:t>
            </a:r>
            <a:endParaRPr/>
          </a:p>
          <a:p>
            <a:pPr indent="-298450" lvl="0" marL="457200" rtl="0" algn="l">
              <a:spcBef>
                <a:spcPts val="0"/>
              </a:spcBef>
              <a:spcAft>
                <a:spcPts val="0"/>
              </a:spcAft>
              <a:buSzPts val="1100"/>
              <a:buChar char="●"/>
            </a:pPr>
            <a:r>
              <a:rPr lang="en"/>
              <a:t>So far weve looked at input your age and whatever the user inputted is what we determine if theres been an attack</a:t>
            </a:r>
            <a:endParaRPr/>
          </a:p>
          <a:p>
            <a:pPr indent="-298450" lvl="0" marL="457200" rtl="0" algn="l">
              <a:spcBef>
                <a:spcPts val="0"/>
              </a:spcBef>
              <a:spcAft>
                <a:spcPts val="0"/>
              </a:spcAft>
              <a:buSzPts val="1100"/>
              <a:buChar char="●"/>
            </a:pPr>
            <a:r>
              <a:rPr lang="en"/>
              <a:t>Look at </a:t>
            </a:r>
            <a:r>
              <a:rPr lang="en"/>
              <a:t>what</a:t>
            </a:r>
            <a:r>
              <a:rPr lang="en"/>
              <a:t> th einput does as an effect</a:t>
            </a:r>
            <a:endParaRPr/>
          </a:p>
          <a:p>
            <a:pPr indent="-298450" lvl="0" marL="457200" rtl="0" algn="l">
              <a:spcBef>
                <a:spcPts val="0"/>
              </a:spcBef>
              <a:spcAft>
                <a:spcPts val="0"/>
              </a:spcAft>
              <a:buSzPts val="1100"/>
              <a:buChar char="●"/>
            </a:pPr>
            <a:r>
              <a:rPr lang="en"/>
              <a:t>The behavior caused by the input instead of the input itself</a:t>
            </a:r>
            <a:endParaRPr/>
          </a:p>
          <a:p>
            <a:pPr indent="-298450" lvl="0" marL="457200" rtl="0" algn="l">
              <a:spcBef>
                <a:spcPts val="0"/>
              </a:spcBef>
              <a:spcAft>
                <a:spcPts val="0"/>
              </a:spcAft>
              <a:buSzPts val="1100"/>
              <a:buChar char="●"/>
            </a:pPr>
            <a:r>
              <a:rPr lang="en"/>
              <a:t>What actions happen as the effect of the input</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dbff80a8f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dbff80a8f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dbff80a8f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dbff80a8f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dffd2df31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dffd2df31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Talk about some other things in the space of intrusion detection</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dffd2df31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dffd2df31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Works</a:t>
            </a:r>
            <a:r>
              <a:rPr lang="en"/>
              <a:t> well with </a:t>
            </a:r>
            <a:r>
              <a:rPr lang="en"/>
              <a:t>intrusion</a:t>
            </a:r>
            <a:r>
              <a:rPr lang="en"/>
              <a:t> detection systems, isnt necessarily one, Use to </a:t>
            </a:r>
            <a:r>
              <a:rPr lang="en"/>
              <a:t>prepare</a:t>
            </a:r>
            <a:r>
              <a:rPr lang="en"/>
              <a:t> your system for the world</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dffd2df31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dffd2df31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dffd2df31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dffd2df31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Have a big complicated </a:t>
            </a:r>
            <a:r>
              <a:rPr lang="en"/>
              <a:t>sensitive</a:t>
            </a:r>
            <a:r>
              <a:rPr lang="en"/>
              <a:t> stuff in my systme</a:t>
            </a:r>
            <a:endParaRPr/>
          </a:p>
          <a:p>
            <a:pPr indent="-298450" lvl="0" marL="457200" rtl="0" algn="l">
              <a:spcBef>
                <a:spcPts val="0"/>
              </a:spcBef>
              <a:spcAft>
                <a:spcPts val="0"/>
              </a:spcAft>
              <a:buSzPts val="1100"/>
              <a:buChar char="●"/>
            </a:pPr>
            <a:r>
              <a:rPr lang="en"/>
              <a:t>Intentionalyl put a system that has no purpose but is just sitting there, then no one </a:t>
            </a:r>
            <a:r>
              <a:rPr lang="en"/>
              <a:t>should</a:t>
            </a:r>
            <a:r>
              <a:rPr lang="en"/>
              <a:t> be touching or accessing it</a:t>
            </a:r>
            <a:endParaRPr/>
          </a:p>
          <a:p>
            <a:pPr indent="-298450" lvl="0" marL="457200" rtl="0" algn="l">
              <a:spcBef>
                <a:spcPts val="0"/>
              </a:spcBef>
              <a:spcAft>
                <a:spcPts val="0"/>
              </a:spcAft>
              <a:buSzPts val="1100"/>
              <a:buChar char="●"/>
            </a:pPr>
            <a:r>
              <a:rPr lang="en"/>
              <a:t>Maybe if they touch it theyre an attacker</a:t>
            </a:r>
            <a:endParaRPr/>
          </a:p>
          <a:p>
            <a:pPr indent="-298450" lvl="0" marL="457200" rtl="0" algn="l">
              <a:spcBef>
                <a:spcPts val="0"/>
              </a:spcBef>
              <a:spcAft>
                <a:spcPts val="0"/>
              </a:spcAft>
              <a:buSzPts val="1100"/>
              <a:buChar char="●"/>
            </a:pPr>
            <a:r>
              <a:rPr lang="en"/>
              <a:t>False positives, accidentally touch it when messing around</a:t>
            </a:r>
            <a:endParaRPr/>
          </a:p>
          <a:p>
            <a:pPr indent="-298450" lvl="0" marL="457200" rtl="0" algn="l">
              <a:spcBef>
                <a:spcPts val="0"/>
              </a:spcBef>
              <a:spcAft>
                <a:spcPts val="0"/>
              </a:spcAft>
              <a:buSzPts val="1100"/>
              <a:buChar char="●"/>
            </a:pPr>
            <a:r>
              <a:rPr lang="en"/>
              <a:t>Stack canaries, someone can accidentally touch it</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dffd2df31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dffd2df31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dffd2df31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dffd2df31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dffd2df31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dffd2df31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More topics that could be their own lecture but only get their own slide</a:t>
            </a:r>
            <a:endParaRPr/>
          </a:p>
          <a:p>
            <a:pPr indent="-298450" lvl="0" marL="457200" rtl="0" algn="l">
              <a:spcBef>
                <a:spcPts val="0"/>
              </a:spcBef>
              <a:spcAft>
                <a:spcPts val="0"/>
              </a:spcAft>
              <a:buSzPts val="1100"/>
              <a:buChar char="●"/>
            </a:pPr>
            <a:r>
              <a:rPr lang="en"/>
              <a:t>Weve talked a l ot about detection an dhow you find the attack, but not necessarily preventing it</a:t>
            </a:r>
            <a:endParaRPr/>
          </a:p>
          <a:p>
            <a:pPr indent="-298450" lvl="0" marL="457200" rtl="0" algn="l">
              <a:spcBef>
                <a:spcPts val="0"/>
              </a:spcBef>
              <a:spcAft>
                <a:spcPts val="0"/>
              </a:spcAft>
              <a:buSzPts val="1100"/>
              <a:buChar char="●"/>
            </a:pPr>
            <a:r>
              <a:rPr lang="en"/>
              <a:t>For better or worse attacks happen</a:t>
            </a:r>
            <a:endParaRPr/>
          </a:p>
          <a:p>
            <a:pPr indent="-298450" lvl="0" marL="457200" rtl="0" algn="l">
              <a:spcBef>
                <a:spcPts val="0"/>
              </a:spcBef>
              <a:spcAft>
                <a:spcPts val="0"/>
              </a:spcAft>
              <a:buSzPts val="1100"/>
              <a:buChar char="●"/>
            </a:pPr>
            <a:r>
              <a:rPr lang="en"/>
              <a:t>You have to be able to recover</a:t>
            </a:r>
            <a:endParaRPr/>
          </a:p>
          <a:p>
            <a:pPr indent="-298450" lvl="0" marL="457200" rtl="0" algn="l">
              <a:spcBef>
                <a:spcPts val="0"/>
              </a:spcBef>
              <a:spcAft>
                <a:spcPts val="0"/>
              </a:spcAft>
              <a:buSzPts val="1100"/>
              <a:buChar char="●"/>
            </a:pPr>
            <a:r>
              <a:rPr lang="en"/>
              <a:t>Thats a whole field</a:t>
            </a:r>
            <a:endParaRPr/>
          </a:p>
          <a:p>
            <a:pPr indent="-298450" lvl="0" marL="457200" rtl="0" algn="l">
              <a:spcBef>
                <a:spcPts val="0"/>
              </a:spcBef>
              <a:spcAft>
                <a:spcPts val="0"/>
              </a:spcAft>
              <a:buSzPts val="1100"/>
              <a:buChar char="●"/>
            </a:pPr>
            <a:r>
              <a:rPr lang="en"/>
              <a:t>Forensics – detective work, why i was attacked, how do i make sure i dont get attacked again, what do i have to fix</a:t>
            </a:r>
            <a:endParaRPr/>
          </a:p>
          <a:p>
            <a:pPr indent="-298450" lvl="0" marL="457200" rtl="0" algn="l">
              <a:spcBef>
                <a:spcPts val="0"/>
              </a:spcBef>
              <a:spcAft>
                <a:spcPts val="0"/>
              </a:spcAft>
              <a:buSzPts val="1100"/>
              <a:buChar char="●"/>
            </a:pPr>
            <a:r>
              <a:rPr lang="en"/>
              <a:t>Recover, get data back, patch issues, </a:t>
            </a:r>
            <a:endParaRPr/>
          </a:p>
          <a:p>
            <a:pPr indent="-298450" lvl="0" marL="457200" rtl="0" algn="l">
              <a:spcBef>
                <a:spcPts val="0"/>
              </a:spcBef>
              <a:spcAft>
                <a:spcPts val="0"/>
              </a:spcAft>
              <a:buSzPts val="1100"/>
              <a:buChar char="●"/>
            </a:pPr>
            <a:r>
              <a:rPr lang="en"/>
              <a:t>logs</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dffd2df31a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dffd2df31a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one other thing is at this point sometimes it's pretty tempting to think okay well I just saw this whole lecture on detection </a:t>
            </a:r>
            <a:endParaRPr/>
          </a:p>
          <a:p>
            <a:pPr indent="-298450" lvl="0" marL="457200" rtl="0" algn="l">
              <a:spcBef>
                <a:spcPts val="0"/>
              </a:spcBef>
              <a:spcAft>
                <a:spcPts val="0"/>
              </a:spcAft>
              <a:buSzPts val="1100"/>
              <a:buChar char="●"/>
            </a:pPr>
            <a:r>
              <a:rPr lang="en"/>
              <a:t>and I don't see why it's so different from prevention it seems to me like if I detect something I should just stop it at the same time </a:t>
            </a:r>
            <a:endParaRPr/>
          </a:p>
          <a:p>
            <a:pPr indent="-298450" lvl="0" marL="457200" rtl="0" algn="l">
              <a:spcBef>
                <a:spcPts val="0"/>
              </a:spcBef>
              <a:spcAft>
                <a:spcPts val="0"/>
              </a:spcAft>
              <a:buSzPts val="1100"/>
              <a:buChar char="●"/>
            </a:pPr>
            <a:r>
              <a:rPr lang="en"/>
              <a:t>and you'd be right because all these strategies that we've been thinking about for detection oftentimes will also work for prevention</a:t>
            </a:r>
            <a:endParaRPr/>
          </a:p>
          <a:p>
            <a:pPr indent="-298450" lvl="0" marL="457200" rtl="0" algn="l">
              <a:spcBef>
                <a:spcPts val="0"/>
              </a:spcBef>
              <a:spcAft>
                <a:spcPts val="0"/>
              </a:spcAft>
              <a:buSzPts val="1100"/>
              <a:buChar char="●"/>
            </a:pPr>
            <a:r>
              <a:rPr lang="en"/>
              <a:t>Merge them back together for intrusion prevention system</a:t>
            </a:r>
            <a:endParaRPr/>
          </a:p>
          <a:p>
            <a:pPr indent="-298450" lvl="0" marL="457200" rtl="0" algn="l">
              <a:spcBef>
                <a:spcPts val="0"/>
              </a:spcBef>
              <a:spcAft>
                <a:spcPts val="0"/>
              </a:spcAft>
              <a:buSzPts val="1100"/>
              <a:buChar char="●"/>
            </a:pPr>
            <a:r>
              <a:rPr lang="en"/>
              <a:t>Drawbakcs:</a:t>
            </a:r>
            <a:endParaRPr/>
          </a:p>
          <a:p>
            <a:pPr indent="-298450" lvl="1" marL="914400" rtl="0" algn="l">
              <a:spcBef>
                <a:spcPts val="0"/>
              </a:spcBef>
              <a:spcAft>
                <a:spcPts val="0"/>
              </a:spcAft>
              <a:buSzPts val="1100"/>
              <a:buChar char="○"/>
            </a:pPr>
            <a:r>
              <a:rPr lang="en"/>
              <a:t>Logging happens retroactively </a:t>
            </a:r>
            <a:endParaRPr/>
          </a:p>
          <a:p>
            <a:pPr indent="-298450" lvl="1" marL="914400" rtl="0" algn="l">
              <a:spcBef>
                <a:spcPts val="0"/>
              </a:spcBef>
              <a:spcAft>
                <a:spcPts val="0"/>
              </a:spcAft>
              <a:buSzPts val="1100"/>
              <a:buChar char="○"/>
            </a:pPr>
            <a:r>
              <a:rPr lang="en"/>
              <a:t>Sometimes Its difficult depending on the </a:t>
            </a:r>
            <a:r>
              <a:rPr lang="en"/>
              <a:t>system</a:t>
            </a:r>
            <a:r>
              <a:rPr lang="en"/>
              <a:t> that youre building because if you want ot be able to prevent you have to take proactive action, like drop a packet or tell someone that an attack is happening</a:t>
            </a:r>
            <a:endParaRPr/>
          </a:p>
          <a:p>
            <a:pPr indent="-298450" lvl="1" marL="914400" rtl="0" algn="l">
              <a:spcBef>
                <a:spcPts val="0"/>
              </a:spcBef>
              <a:spcAft>
                <a:spcPts val="0"/>
              </a:spcAft>
              <a:buSzPts val="1100"/>
              <a:buChar char="○"/>
            </a:pPr>
            <a:r>
              <a:rPr lang="en"/>
              <a:t>For some intrusion detectino like onpath nids if its only passively reading traffic theres no way to detect and also stop the attack</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e77875332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e77875332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There are tradeoffs</a:t>
            </a:r>
            <a:endParaRPr/>
          </a:p>
          <a:p>
            <a:pPr indent="-298450" lvl="0" marL="457200" rtl="0" algn="l">
              <a:spcBef>
                <a:spcPts val="0"/>
              </a:spcBef>
              <a:spcAft>
                <a:spcPts val="0"/>
              </a:spcAft>
              <a:buSzPts val="1100"/>
              <a:buChar char="●"/>
            </a:pPr>
            <a:r>
              <a:rPr lang="en"/>
              <a:t>Maybe a wire that does nothing, basically saying theres never an attack</a:t>
            </a:r>
            <a:endParaRPr/>
          </a:p>
          <a:p>
            <a:pPr indent="-298450" lvl="0" marL="457200" rtl="0" algn="l">
              <a:spcBef>
                <a:spcPts val="0"/>
              </a:spcBef>
              <a:spcAft>
                <a:spcPts val="0"/>
              </a:spcAft>
              <a:buSzPts val="1100"/>
              <a:buChar char="●"/>
            </a:pPr>
            <a:r>
              <a:rPr lang="en"/>
              <a:t>Cut the wire and theres never an attack, so no false positives</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dffd2df31a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dffd2df31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Code injection:</a:t>
            </a:r>
            <a:endParaRPr/>
          </a:p>
          <a:p>
            <a:pPr indent="-298450" lvl="1" marL="914400" rtl="0" algn="l">
              <a:spcBef>
                <a:spcPts val="0"/>
              </a:spcBef>
              <a:spcAft>
                <a:spcPts val="0"/>
              </a:spcAft>
              <a:buSzPts val="1100"/>
              <a:buChar char="○"/>
            </a:pPr>
            <a:r>
              <a:rPr lang="en"/>
              <a:t>why is that </a:t>
            </a:r>
            <a:endParaRPr/>
          </a:p>
          <a:p>
            <a:pPr indent="-298450" lvl="1" marL="914400" rtl="0" algn="l">
              <a:spcBef>
                <a:spcPts val="0"/>
              </a:spcBef>
              <a:spcAft>
                <a:spcPts val="0"/>
              </a:spcAft>
              <a:buSzPts val="1100"/>
              <a:buChar char="○"/>
            </a:pPr>
            <a:r>
              <a:rPr lang="en"/>
              <a:t>because maybe the intrusion detection system sees a piece of code and needs to know </a:t>
            </a:r>
            <a:endParaRPr/>
          </a:p>
          <a:p>
            <a:pPr indent="-298450" lvl="1" marL="914400" rtl="0" algn="l">
              <a:spcBef>
                <a:spcPts val="0"/>
              </a:spcBef>
              <a:spcAft>
                <a:spcPts val="0"/>
              </a:spcAft>
              <a:buSzPts val="1100"/>
              <a:buChar char="○"/>
            </a:pPr>
            <a:r>
              <a:rPr lang="en"/>
              <a:t>is this code malicious </a:t>
            </a:r>
            <a:endParaRPr/>
          </a:p>
          <a:p>
            <a:pPr indent="-298450" lvl="1" marL="914400" rtl="0" algn="l">
              <a:spcBef>
                <a:spcPts val="0"/>
              </a:spcBef>
              <a:spcAft>
                <a:spcPts val="0"/>
              </a:spcAft>
              <a:buSzPts val="1100"/>
              <a:buChar char="○"/>
            </a:pPr>
            <a:r>
              <a:rPr lang="en"/>
              <a:t>how does it know </a:t>
            </a:r>
            <a:endParaRPr/>
          </a:p>
          <a:p>
            <a:pPr indent="-298450" lvl="1" marL="914400" rtl="0" algn="l">
              <a:spcBef>
                <a:spcPts val="0"/>
              </a:spcBef>
              <a:spcAft>
                <a:spcPts val="0"/>
              </a:spcAft>
              <a:buSzPts val="1100"/>
              <a:buChar char="○"/>
            </a:pPr>
            <a:r>
              <a:rPr lang="en"/>
              <a:t>maybe it has to run the code </a:t>
            </a:r>
            <a:endParaRPr/>
          </a:p>
          <a:p>
            <a:pPr indent="-298450" lvl="1" marL="914400" rtl="0" algn="l">
              <a:spcBef>
                <a:spcPts val="0"/>
              </a:spcBef>
              <a:spcAft>
                <a:spcPts val="0"/>
              </a:spcAft>
              <a:buSzPts val="1100"/>
              <a:buChar char="○"/>
            </a:pPr>
            <a:r>
              <a:rPr lang="en"/>
              <a:t>and what happens if it runs the code </a:t>
            </a:r>
            <a:endParaRPr/>
          </a:p>
          <a:p>
            <a:pPr indent="-298450" lvl="1" marL="914400" rtl="0" algn="l">
              <a:spcBef>
                <a:spcPts val="0"/>
              </a:spcBef>
              <a:spcAft>
                <a:spcPts val="0"/>
              </a:spcAft>
              <a:buSzPts val="1100"/>
              <a:buChar char="○"/>
            </a:pPr>
            <a:r>
              <a:rPr lang="en"/>
              <a:t>oh just got attacked so it has to be really careful and run that thing on a Sandbox and make sure that if it tries to run some test code that's not trustworthy that it doesn't affect the intrusion detection system itself</a:t>
            </a:r>
            <a:endParaRPr/>
          </a:p>
          <a:p>
            <a:pPr indent="-298450" lvl="1" marL="914400" rtl="0" algn="l">
              <a:spcBef>
                <a:spcPts val="0"/>
              </a:spcBef>
              <a:spcAft>
                <a:spcPts val="0"/>
              </a:spcAft>
              <a:buSzPts val="1100"/>
              <a:buChar char="○"/>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e786bb6e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e786bb6e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so let's look inside what a real modern network intrusion detection system looks like </a:t>
            </a:r>
            <a:endParaRPr/>
          </a:p>
          <a:p>
            <a:pPr indent="-298450" lvl="0" marL="457200" rtl="0" algn="l">
              <a:spcBef>
                <a:spcPts val="0"/>
              </a:spcBef>
              <a:spcAft>
                <a:spcPts val="0"/>
              </a:spcAft>
              <a:buSzPts val="1100"/>
              <a:buChar char="●"/>
            </a:pPr>
            <a:r>
              <a:rPr lang="en"/>
              <a:t>so to start with we have a high rate packet filter and then our nids units that </a:t>
            </a:r>
            <a:endParaRPr/>
          </a:p>
          <a:p>
            <a:pPr indent="-298450" lvl="0" marL="457200" rtl="0" algn="l">
              <a:spcBef>
                <a:spcPts val="0"/>
              </a:spcBef>
              <a:spcAft>
                <a:spcPts val="0"/>
              </a:spcAft>
              <a:buSzPts val="1100"/>
              <a:buChar char="●"/>
            </a:pPr>
            <a:r>
              <a:rPr lang="en"/>
              <a:t>our goal is something that is perfectly scalable we can just keep adding nids units </a:t>
            </a:r>
            <a:endParaRPr/>
          </a:p>
          <a:p>
            <a:pPr indent="-298450" lvl="0" marL="457200" rtl="0" algn="l">
              <a:spcBef>
                <a:spcPts val="0"/>
              </a:spcBef>
              <a:spcAft>
                <a:spcPts val="0"/>
              </a:spcAft>
              <a:buSzPts val="1100"/>
              <a:buChar char="●"/>
            </a:pPr>
            <a:r>
              <a:rPr lang="en"/>
              <a:t>so we have a single entry point a simple packet filter on the input and what you do is you just basically hash the source and destination ip addresses </a:t>
            </a:r>
            <a:endParaRPr/>
          </a:p>
          <a:p>
            <a:pPr indent="-298450" lvl="0" marL="457200" rtl="0" algn="l">
              <a:spcBef>
                <a:spcPts val="0"/>
              </a:spcBef>
              <a:spcAft>
                <a:spcPts val="0"/>
              </a:spcAft>
              <a:buSzPts val="1100"/>
              <a:buChar char="●"/>
            </a:pPr>
            <a:r>
              <a:rPr lang="en"/>
              <a:t>so you do a hash of the source and dest ip address pair make sure it's ordered so you have outside that inside and use that to direct it to the particular nids unit </a:t>
            </a:r>
            <a:endParaRPr/>
          </a:p>
          <a:p>
            <a:pPr indent="-298450" lvl="0" marL="457200" rtl="0" algn="l">
              <a:spcBef>
                <a:spcPts val="0"/>
              </a:spcBef>
              <a:spcAft>
                <a:spcPts val="0"/>
              </a:spcAft>
              <a:buSzPts val="1100"/>
              <a:buChar char="●"/>
            </a:pPr>
            <a:r>
              <a:rPr lang="en"/>
              <a:t>this way this unit will see all traffic associated with the communication between those two computers</a:t>
            </a:r>
            <a:endParaRPr/>
          </a:p>
          <a:p>
            <a:pPr indent="-298450" lvl="0" marL="457200" rtl="0" algn="l">
              <a:spcBef>
                <a:spcPts val="0"/>
              </a:spcBef>
              <a:spcAft>
                <a:spcPts val="0"/>
              </a:spcAft>
              <a:buSzPts val="1100"/>
              <a:buChar char="●"/>
            </a:pPr>
            <a:r>
              <a:rPr lang="en"/>
              <a:t>and if the attacker can't predict the hash it guarantees that things are nicely distributed as well </a:t>
            </a:r>
            <a:endParaRPr/>
          </a:p>
          <a:p>
            <a:pPr indent="-298450" lvl="0" marL="457200" rtl="0" algn="l">
              <a:spcBef>
                <a:spcPts val="0"/>
              </a:spcBef>
              <a:spcAft>
                <a:spcPts val="0"/>
              </a:spcAft>
              <a:buSzPts val="1100"/>
              <a:buChar char="●"/>
            </a:pPr>
            <a:r>
              <a:rPr lang="en"/>
              <a:t>so you get good load balancing </a:t>
            </a:r>
            <a:endParaRPr/>
          </a:p>
          <a:p>
            <a:pPr indent="-298450" lvl="0" marL="457200" rtl="0" algn="l">
              <a:spcBef>
                <a:spcPts val="0"/>
              </a:spcBef>
              <a:spcAft>
                <a:spcPts val="0"/>
              </a:spcAft>
              <a:buSzPts val="1100"/>
              <a:buChar char="●"/>
            </a:pPr>
            <a:r>
              <a:rPr lang="en"/>
              <a:t>in this the first thing you do is reassemble the traffic and then you do uh analyze the protocol so you parse this is an http request this is an ssh request this is an email who's the sender who's the recipient you're going to apply signatures signatures are tend to be brittle</a:t>
            </a:r>
            <a:endParaRPr/>
          </a:p>
          <a:p>
            <a:pPr indent="-298450" lvl="0" marL="457200" rtl="0" algn="l">
              <a:spcBef>
                <a:spcPts val="0"/>
              </a:spcBef>
              <a:spcAft>
                <a:spcPts val="0"/>
              </a:spcAft>
              <a:buSzPts val="1100"/>
              <a:buChar char="●"/>
            </a:pPr>
            <a:r>
              <a:rPr lang="en"/>
              <a:t>but you have a lot of them so you use it anyway </a:t>
            </a:r>
            <a:endParaRPr/>
          </a:p>
          <a:p>
            <a:pPr indent="-298450" lvl="0" marL="457200" rtl="0" algn="l">
              <a:spcBef>
                <a:spcPts val="0"/>
              </a:spcBef>
              <a:spcAft>
                <a:spcPts val="0"/>
              </a:spcAft>
              <a:buSzPts val="1100"/>
              <a:buChar char="●"/>
            </a:pPr>
            <a:r>
              <a:rPr lang="en"/>
              <a:t>one thing that will happen these days is what's known as shadow execution </a:t>
            </a:r>
            <a:endParaRPr/>
          </a:p>
          <a:p>
            <a:pPr indent="-298450" lvl="0" marL="457200" rtl="0" algn="l">
              <a:spcBef>
                <a:spcPts val="0"/>
              </a:spcBef>
              <a:spcAft>
                <a:spcPts val="0"/>
              </a:spcAft>
              <a:buSzPts val="1100"/>
              <a:buChar char="●"/>
            </a:pPr>
            <a:r>
              <a:rPr lang="en"/>
              <a:t>so you go oh this is a pdf document or this is a word document </a:t>
            </a:r>
            <a:endParaRPr/>
          </a:p>
          <a:p>
            <a:pPr indent="-298450" lvl="0" marL="457200" rtl="0" algn="l">
              <a:spcBef>
                <a:spcPts val="0"/>
              </a:spcBef>
              <a:spcAft>
                <a:spcPts val="0"/>
              </a:spcAft>
              <a:buSzPts val="1100"/>
              <a:buChar char="●"/>
            </a:pPr>
            <a:r>
              <a:rPr lang="en"/>
              <a:t>let's take this word document and open it in a virtual machine running microsoft word and see if it does anything bad </a:t>
            </a:r>
            <a:endParaRPr/>
          </a:p>
          <a:p>
            <a:pPr indent="-298450" lvl="0" marL="457200" rtl="0" algn="l">
              <a:spcBef>
                <a:spcPts val="0"/>
              </a:spcBef>
              <a:spcAft>
                <a:spcPts val="0"/>
              </a:spcAft>
              <a:buSzPts val="1100"/>
              <a:buChar char="●"/>
            </a:pPr>
            <a:r>
              <a:rPr lang="en"/>
              <a:t>the big thing is is you log everything you log to the point of view that the nsa would be embarrassed to run this on a russian network </a:t>
            </a:r>
            <a:endParaRPr/>
          </a:p>
          <a:p>
            <a:pPr indent="-298450" lvl="0" marL="457200" rtl="0" algn="l">
              <a:spcBef>
                <a:spcPts val="0"/>
              </a:spcBef>
              <a:spcAft>
                <a:spcPts val="0"/>
              </a:spcAft>
              <a:buSzPts val="1100"/>
              <a:buChar char="●"/>
            </a:pPr>
            <a:r>
              <a:rPr lang="en"/>
              <a:t>and of course you keep everything up to date automatically because otherwise you're going to have issues</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e786bb6ea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e786bb6ea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and then we have a host-based system on each device</a:t>
            </a:r>
            <a:endParaRPr/>
          </a:p>
          <a:p>
            <a:pPr indent="-298450" lvl="0" marL="457200" rtl="0" algn="l">
              <a:spcBef>
                <a:spcPts val="0"/>
              </a:spcBef>
              <a:spcAft>
                <a:spcPts val="0"/>
              </a:spcAft>
              <a:buSzPts val="1100"/>
              <a:buChar char="●"/>
            </a:pPr>
            <a:r>
              <a:rPr lang="en"/>
              <a:t>and this is your antivirus </a:t>
            </a:r>
            <a:endParaRPr/>
          </a:p>
          <a:p>
            <a:pPr indent="-298450" lvl="0" marL="457200" rtl="0" algn="l">
              <a:spcBef>
                <a:spcPts val="0"/>
              </a:spcBef>
              <a:spcAft>
                <a:spcPts val="0"/>
              </a:spcAft>
              <a:buSzPts val="1100"/>
              <a:buChar char="●"/>
            </a:pPr>
            <a:r>
              <a:rPr lang="en"/>
              <a:t>so your modern antivirus actually does a huge amount of stuff </a:t>
            </a:r>
            <a:endParaRPr/>
          </a:p>
          <a:p>
            <a:pPr indent="-298450" lvl="0" marL="457200" rtl="0" algn="l">
              <a:spcBef>
                <a:spcPts val="0"/>
              </a:spcBef>
              <a:spcAft>
                <a:spcPts val="0"/>
              </a:spcAft>
              <a:buSzPts val="1100"/>
              <a:buChar char="●"/>
            </a:pPr>
            <a:r>
              <a:rPr lang="en"/>
              <a:t>so the big one that it does is and we'll get to why later is don't detect known bad code that ends up being a losing deal</a:t>
            </a:r>
            <a:endParaRPr/>
          </a:p>
          <a:p>
            <a:pPr indent="-298450" lvl="0" marL="457200" rtl="0" algn="l">
              <a:spcBef>
                <a:spcPts val="0"/>
              </a:spcBef>
              <a:spcAft>
                <a:spcPts val="0"/>
              </a:spcAft>
              <a:buSzPts val="1100"/>
              <a:buChar char="●"/>
            </a:pPr>
            <a:r>
              <a:rPr lang="en"/>
              <a:t>but detect no new code </a:t>
            </a:r>
            <a:endParaRPr/>
          </a:p>
          <a:p>
            <a:pPr indent="-298450" lvl="0" marL="457200" rtl="0" algn="l">
              <a:spcBef>
                <a:spcPts val="0"/>
              </a:spcBef>
              <a:spcAft>
                <a:spcPts val="0"/>
              </a:spcAft>
              <a:buSzPts val="1100"/>
              <a:buChar char="●"/>
            </a:pPr>
            <a:r>
              <a:rPr lang="en"/>
              <a:t>that if a program is seen for the first time it means it's one of two things </a:t>
            </a:r>
            <a:endParaRPr/>
          </a:p>
          <a:p>
            <a:pPr indent="-298450" lvl="0" marL="457200" rtl="0" algn="l">
              <a:spcBef>
                <a:spcPts val="0"/>
              </a:spcBef>
              <a:spcAft>
                <a:spcPts val="0"/>
              </a:spcAft>
              <a:buSzPts val="1100"/>
              <a:buChar char="●"/>
            </a:pPr>
            <a:r>
              <a:rPr lang="en"/>
              <a:t>either it's the guy writing the program in which case you pop up a dialogue he goes oh stupid antivirus and gets on with life </a:t>
            </a:r>
            <a:endParaRPr/>
          </a:p>
          <a:p>
            <a:pPr indent="-298450" lvl="0" marL="457200" rtl="0" algn="l">
              <a:spcBef>
                <a:spcPts val="0"/>
              </a:spcBef>
              <a:spcAft>
                <a:spcPts val="0"/>
              </a:spcAft>
              <a:buSzPts val="1100"/>
              <a:buChar char="●"/>
            </a:pPr>
            <a:r>
              <a:rPr lang="en"/>
              <a:t>or it's something bad so you upload a copy to the cloud </a:t>
            </a:r>
            <a:endParaRPr/>
          </a:p>
          <a:p>
            <a:pPr indent="-298450" lvl="0" marL="457200" rtl="0" algn="l">
              <a:spcBef>
                <a:spcPts val="0"/>
              </a:spcBef>
              <a:spcAft>
                <a:spcPts val="0"/>
              </a:spcAft>
              <a:buSzPts val="1100"/>
              <a:buChar char="●"/>
            </a:pPr>
            <a:r>
              <a:rPr lang="en"/>
              <a:t>or locally you execute it in a contained environment to see if it does anything wrong</a:t>
            </a:r>
            <a:endParaRPr/>
          </a:p>
          <a:p>
            <a:pPr indent="-298450" lvl="0" marL="457200" rtl="0" algn="l">
              <a:spcBef>
                <a:spcPts val="0"/>
              </a:spcBef>
              <a:spcAft>
                <a:spcPts val="0"/>
              </a:spcAft>
              <a:buSzPts val="1100"/>
              <a:buChar char="●"/>
            </a:pPr>
            <a:r>
              <a:rPr lang="en"/>
              <a:t>and now that you've executed it you know what's good and what's not</a:t>
            </a:r>
            <a:endParaRPr/>
          </a:p>
          <a:p>
            <a:pPr indent="-298450" lvl="0" marL="457200" rtl="0" algn="l">
              <a:spcBef>
                <a:spcPts val="0"/>
              </a:spcBef>
              <a:spcAft>
                <a:spcPts val="0"/>
              </a:spcAft>
              <a:buSzPts val="1100"/>
              <a:buChar char="●"/>
            </a:pPr>
            <a:r>
              <a:rPr lang="en"/>
              <a:t>and so you want to use both when you're deploying a real world network </a:t>
            </a:r>
            <a:endParaRPr/>
          </a:p>
          <a:p>
            <a:pPr indent="-298450" lvl="0" marL="457200" rtl="0" algn="l">
              <a:spcBef>
                <a:spcPts val="0"/>
              </a:spcBef>
              <a:spcAft>
                <a:spcPts val="0"/>
              </a:spcAft>
              <a:buSzPts val="1100"/>
              <a:buChar char="●"/>
            </a:pPr>
            <a:r>
              <a:rPr lang="en"/>
              <a:t>you want to cover both the network with a very aggressive set of firewall rules and a network intrusion detection system and a host-based system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e793d2278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e793d2278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e793d2278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e793d2278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e793d2278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e793d2278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e793d2278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e793d2278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7" name="Shape 37"/>
        <p:cNvGrpSpPr/>
        <p:nvPr/>
      </p:nvGrpSpPr>
      <p:grpSpPr>
        <a:xfrm>
          <a:off x="0" y="0"/>
          <a:ext cx="0" cy="0"/>
          <a:chOff x="0" y="0"/>
          <a:chExt cx="0" cy="0"/>
        </a:xfrm>
      </p:grpSpPr>
      <p:sp>
        <p:nvSpPr>
          <p:cNvPr id="38" name="Google Shape;38;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4" name="Shape 44"/>
        <p:cNvGrpSpPr/>
        <p:nvPr/>
      </p:nvGrpSpPr>
      <p:grpSpPr>
        <a:xfrm>
          <a:off x="0" y="0"/>
          <a:ext cx="0" cy="0"/>
          <a:chOff x="0" y="0"/>
          <a:chExt cx="0" cy="0"/>
        </a:xfrm>
      </p:grpSpPr>
      <p:sp>
        <p:nvSpPr>
          <p:cNvPr id="45" name="Google Shape;45;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8" name="Google Shape;48;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9" name="Shape 49"/>
        <p:cNvGrpSpPr/>
        <p:nvPr/>
      </p:nvGrpSpPr>
      <p:grpSpPr>
        <a:xfrm>
          <a:off x="0" y="0"/>
          <a:ext cx="0" cy="0"/>
          <a:chOff x="0" y="0"/>
          <a:chExt cx="0" cy="0"/>
        </a:xfrm>
      </p:grpSpPr>
      <p:sp>
        <p:nvSpPr>
          <p:cNvPr id="50" name="Google Shape;50;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2" name="Shape 52"/>
        <p:cNvGrpSpPr/>
        <p:nvPr/>
      </p:nvGrpSpPr>
      <p:grpSpPr>
        <a:xfrm>
          <a:off x="0" y="0"/>
          <a:ext cx="0" cy="0"/>
          <a:chOff x="0" y="0"/>
          <a:chExt cx="0" cy="0"/>
        </a:xfrm>
      </p:grpSpPr>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 name="Google Shape;55;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600">
                <a:solidFill>
                  <a:schemeClr val="lt1"/>
                </a:solidFill>
              </a:rPr>
              <a:t>CSE 405 - Computer Security - ART</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1" Type="http://schemas.openxmlformats.org/officeDocument/2006/relationships/hyperlink" Target="https://cwe.mitre.org/data/definitions/352.html" TargetMode="External"/><Relationship Id="rId10" Type="http://schemas.openxmlformats.org/officeDocument/2006/relationships/hyperlink" Target="https://cwe.mitre.org/data/definitions/416.html" TargetMode="External"/><Relationship Id="rId13" Type="http://schemas.openxmlformats.org/officeDocument/2006/relationships/hyperlink" Target="https://cwe.mitre.org/data/definitions/190.html" TargetMode="External"/><Relationship Id="rId12" Type="http://schemas.openxmlformats.org/officeDocument/2006/relationships/hyperlink" Target="https://cwe.mitre.org/data/definitions/78.html" TargetMode="External"/><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hyperlink" Target="https://cwe.mitre.org/data/definitions/79.html" TargetMode="External"/><Relationship Id="rId4" Type="http://schemas.openxmlformats.org/officeDocument/2006/relationships/hyperlink" Target="https://cwe.mitre.org/data/definitions/787.html" TargetMode="External"/><Relationship Id="rId9" Type="http://schemas.openxmlformats.org/officeDocument/2006/relationships/hyperlink" Target="https://cwe.mitre.org/data/definitions/200.html" TargetMode="External"/><Relationship Id="rId15" Type="http://schemas.openxmlformats.org/officeDocument/2006/relationships/hyperlink" Target="https://cwe.mitre.org/data/definitions/476.html" TargetMode="External"/><Relationship Id="rId14" Type="http://schemas.openxmlformats.org/officeDocument/2006/relationships/hyperlink" Target="https://cwe.mitre.org/data/definitions/22.html" TargetMode="External"/><Relationship Id="rId17" Type="http://schemas.openxmlformats.org/officeDocument/2006/relationships/hyperlink" Target="https://cwe.mitre.org/data/definitions/434.html" TargetMode="External"/><Relationship Id="rId16" Type="http://schemas.openxmlformats.org/officeDocument/2006/relationships/hyperlink" Target="https://cwe.mitre.org/data/definitions/287.html" TargetMode="External"/><Relationship Id="rId5" Type="http://schemas.openxmlformats.org/officeDocument/2006/relationships/hyperlink" Target="https://cwe.mitre.org/data/definitions/20.html" TargetMode="External"/><Relationship Id="rId19" Type="http://schemas.openxmlformats.org/officeDocument/2006/relationships/hyperlink" Target="https://cwe.mitre.org/data/definitions/94.html" TargetMode="External"/><Relationship Id="rId6" Type="http://schemas.openxmlformats.org/officeDocument/2006/relationships/hyperlink" Target="https://cwe.mitre.org/data/definitions/125.html" TargetMode="External"/><Relationship Id="rId18" Type="http://schemas.openxmlformats.org/officeDocument/2006/relationships/hyperlink" Target="https://cwe.mitre.org/data/definitions/732.html" TargetMode="External"/><Relationship Id="rId7" Type="http://schemas.openxmlformats.org/officeDocument/2006/relationships/hyperlink" Target="https://cwe.mitre.org/data/definitions/119.html" TargetMode="External"/><Relationship Id="rId8" Type="http://schemas.openxmlformats.org/officeDocument/2006/relationships/hyperlink" Target="https://cwe.mitre.org/data/definitions/89.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image" Target="../media/image3.jpg"/><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5"/>
          <p:cNvPicPr preferRelativeResize="0"/>
          <p:nvPr/>
        </p:nvPicPr>
        <p:blipFill rotWithShape="1">
          <a:blip r:embed="rId3">
            <a:alphaModFix/>
          </a:blip>
          <a:srcRect b="0" l="0" r="2818" t="0"/>
          <a:stretch/>
        </p:blipFill>
        <p:spPr>
          <a:xfrm>
            <a:off x="4052250" y="1136200"/>
            <a:ext cx="4804574" cy="3845149"/>
          </a:xfrm>
          <a:prstGeom prst="rect">
            <a:avLst/>
          </a:prstGeom>
          <a:noFill/>
          <a:ln>
            <a:noFill/>
          </a:ln>
        </p:spPr>
      </p:pic>
      <p:sp>
        <p:nvSpPr>
          <p:cNvPr id="65" name="Google Shape;65;p15"/>
          <p:cNvSpPr txBox="1"/>
          <p:nvPr>
            <p:ph type="ctrTitle"/>
          </p:nvPr>
        </p:nvSpPr>
        <p:spPr>
          <a:xfrm>
            <a:off x="509850" y="742250"/>
            <a:ext cx="8520600" cy="1410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Intrusion Detection</a:t>
            </a:r>
            <a:endParaRPr/>
          </a:p>
        </p:txBody>
      </p:sp>
      <p:sp>
        <p:nvSpPr>
          <p:cNvPr id="66" name="Google Shape;66;p15"/>
          <p:cNvSpPr txBox="1"/>
          <p:nvPr>
            <p:ph idx="1" type="subTitle"/>
          </p:nvPr>
        </p:nvSpPr>
        <p:spPr>
          <a:xfrm>
            <a:off x="509850" y="2231150"/>
            <a:ext cx="8520600" cy="7926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Clr>
                <a:schemeClr val="dk1"/>
              </a:buClr>
              <a:buSzPct val="45833"/>
              <a:buFont typeface="Arial"/>
              <a:buNone/>
            </a:pPr>
            <a:r>
              <a:rPr lang="en"/>
              <a:t>CSE 405 January 2025 - Lecture 9</a:t>
            </a:r>
            <a:endParaRPr/>
          </a:p>
          <a:p>
            <a:pPr indent="0" lvl="0" marL="0" rtl="0" algn="l">
              <a:spcBef>
                <a:spcPts val="0"/>
              </a:spcBef>
              <a:spcAft>
                <a:spcPts val="0"/>
              </a:spcAft>
              <a:buClr>
                <a:schemeClr val="dk1"/>
              </a:buClr>
              <a:buSzPct val="45833"/>
              <a:buFont typeface="Arial"/>
              <a:buNone/>
            </a:pPr>
            <a:r>
              <a:t/>
            </a:r>
            <a:endParaRPr/>
          </a:p>
          <a:p>
            <a:pPr indent="0" lvl="0" marL="0" rtl="0" algn="l">
              <a:spcBef>
                <a:spcPts val="0"/>
              </a:spcBef>
              <a:spcAft>
                <a:spcPts val="0"/>
              </a:spcAft>
              <a:buClr>
                <a:schemeClr val="dk1"/>
              </a:buClr>
              <a:buSzPct val="45833"/>
              <a:buFont typeface="Arial"/>
              <a:buNone/>
            </a:pPr>
            <a:r>
              <a:rPr lang="en"/>
              <a:t>Special Thanks to Peyrin Kao (UC Berkeley)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a:t>
            </a:r>
            <a:r>
              <a:rPr lang="en"/>
              <a:t> Denial of Service </a:t>
            </a:r>
            <a:endParaRPr/>
          </a:p>
        </p:txBody>
      </p:sp>
      <p:sp>
        <p:nvSpPr>
          <p:cNvPr id="72" name="Google Shape;72;p1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Availability</a:t>
            </a:r>
            <a:r>
              <a:rPr lang="en"/>
              <a:t>: Making sure users are able to use a service</a:t>
            </a:r>
            <a:endParaRPr/>
          </a:p>
          <a:p>
            <a:pPr indent="-317500" lvl="1" marL="914400" rtl="0" algn="l">
              <a:spcBef>
                <a:spcPts val="0"/>
              </a:spcBef>
              <a:spcAft>
                <a:spcPts val="0"/>
              </a:spcAft>
              <a:buSzPts val="1400"/>
              <a:buChar char="○"/>
            </a:pPr>
            <a:r>
              <a:rPr lang="en"/>
              <a:t>DoS attacks availability of services</a:t>
            </a:r>
            <a:endParaRPr/>
          </a:p>
          <a:p>
            <a:pPr indent="-342900" lvl="0" marL="457200" rtl="0" algn="l">
              <a:spcBef>
                <a:spcPts val="0"/>
              </a:spcBef>
              <a:spcAft>
                <a:spcPts val="0"/>
              </a:spcAft>
              <a:buSzPts val="1800"/>
              <a:buChar char="●"/>
            </a:pPr>
            <a:r>
              <a:rPr b="1" lang="en"/>
              <a:t>Application-level DoS</a:t>
            </a:r>
            <a:r>
              <a:rPr lang="en"/>
              <a:t>: Attacks the application's algorithms/code</a:t>
            </a:r>
            <a:endParaRPr/>
          </a:p>
          <a:p>
            <a:pPr indent="-317500" lvl="1" marL="914400" rtl="0" algn="l">
              <a:spcBef>
                <a:spcPts val="0"/>
              </a:spcBef>
              <a:spcAft>
                <a:spcPts val="0"/>
              </a:spcAft>
              <a:buSzPts val="1400"/>
              <a:buChar char="○"/>
            </a:pPr>
            <a:r>
              <a:rPr lang="en"/>
              <a:t>Algorithmic complexity attacks: Attack using inputs that cause the worst-case runtime of an algorithm</a:t>
            </a:r>
            <a:endParaRPr/>
          </a:p>
          <a:p>
            <a:pPr indent="-317500" lvl="1" marL="914400" rtl="0" algn="l">
              <a:spcBef>
                <a:spcPts val="0"/>
              </a:spcBef>
              <a:spcAft>
                <a:spcPts val="0"/>
              </a:spcAft>
              <a:buSzPts val="1400"/>
              <a:buChar char="○"/>
            </a:pPr>
            <a:r>
              <a:rPr lang="en"/>
              <a:t>Defense: Identification, isolation, and quotas</a:t>
            </a:r>
            <a:endParaRPr/>
          </a:p>
          <a:p>
            <a:pPr indent="-317500" lvl="1" marL="914400" rtl="0" algn="l">
              <a:spcBef>
                <a:spcPts val="0"/>
              </a:spcBef>
              <a:spcAft>
                <a:spcPts val="0"/>
              </a:spcAft>
              <a:buSzPts val="1400"/>
              <a:buChar char="○"/>
            </a:pPr>
            <a:r>
              <a:rPr lang="en"/>
              <a:t>Defense: Proof of work</a:t>
            </a:r>
            <a:endParaRPr/>
          </a:p>
          <a:p>
            <a:pPr indent="-342900" lvl="0" marL="457200" rtl="0" algn="l">
              <a:spcBef>
                <a:spcPts val="0"/>
              </a:spcBef>
              <a:spcAft>
                <a:spcPts val="0"/>
              </a:spcAft>
              <a:buSzPts val="1800"/>
              <a:buChar char="●"/>
            </a:pPr>
            <a:r>
              <a:rPr b="1" lang="en"/>
              <a:t>Network-level DoS</a:t>
            </a:r>
            <a:r>
              <a:rPr lang="en"/>
              <a:t>: Attacks the network of a service</a:t>
            </a:r>
            <a:endParaRPr/>
          </a:p>
          <a:p>
            <a:pPr indent="-317500" lvl="1" marL="914400" rtl="0" algn="l">
              <a:spcBef>
                <a:spcPts val="0"/>
              </a:spcBef>
              <a:spcAft>
                <a:spcPts val="0"/>
              </a:spcAft>
              <a:buSzPts val="1400"/>
              <a:buChar char="○"/>
            </a:pPr>
            <a:r>
              <a:rPr lang="en"/>
              <a:t>Typically floods either the network bandwidth or the packet processing capacity</a:t>
            </a:r>
            <a:endParaRPr/>
          </a:p>
          <a:p>
            <a:pPr indent="-317500" lvl="1" marL="914400" rtl="0" algn="l">
              <a:spcBef>
                <a:spcPts val="0"/>
              </a:spcBef>
              <a:spcAft>
                <a:spcPts val="0"/>
              </a:spcAft>
              <a:buSzPts val="1400"/>
              <a:buChar char="○"/>
            </a:pPr>
            <a:r>
              <a:rPr lang="en"/>
              <a:t>Distributed DoS: Use multiple computers to flood a network at the same time</a:t>
            </a:r>
            <a:endParaRPr/>
          </a:p>
          <a:p>
            <a:pPr indent="-317500" lvl="1" marL="914400" rtl="0" algn="l">
              <a:spcBef>
                <a:spcPts val="0"/>
              </a:spcBef>
              <a:spcAft>
                <a:spcPts val="0"/>
              </a:spcAft>
              <a:buSzPts val="1400"/>
              <a:buChar char="○"/>
            </a:pPr>
            <a:r>
              <a:rPr lang="en"/>
              <a:t>Amplified DoS: Use an amplifier to turn a small input into a large output, spoofing packets so the reply goes to the victim</a:t>
            </a:r>
            <a:endParaRPr/>
          </a:p>
          <a:p>
            <a:pPr indent="-317500" lvl="1" marL="914400" rtl="0" algn="l">
              <a:spcBef>
                <a:spcPts val="0"/>
              </a:spcBef>
              <a:spcAft>
                <a:spcPts val="0"/>
              </a:spcAft>
              <a:buSzPts val="1400"/>
              <a:buChar char="○"/>
            </a:pPr>
            <a:r>
              <a:rPr lang="en"/>
              <a:t>Defense: Packet filtering</a:t>
            </a:r>
            <a:endParaRPr/>
          </a:p>
          <a:p>
            <a:pPr indent="-342900" lvl="0" marL="457200" rtl="0" algn="l">
              <a:spcBef>
                <a:spcPts val="0"/>
              </a:spcBef>
              <a:spcAft>
                <a:spcPts val="0"/>
              </a:spcAft>
              <a:buSzPts val="1800"/>
              <a:buChar char="●"/>
            </a:pPr>
            <a:r>
              <a:rPr lang="en"/>
              <a:t>All DoS attacks can be defended against by overprovisioning</a:t>
            </a:r>
            <a:endParaRPr/>
          </a:p>
        </p:txBody>
      </p:sp>
      <p:sp>
        <p:nvSpPr>
          <p:cNvPr id="73" name="Google Shape;7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SYN Cookies</a:t>
            </a:r>
            <a:endParaRPr/>
          </a:p>
        </p:txBody>
      </p:sp>
      <p:sp>
        <p:nvSpPr>
          <p:cNvPr id="79" name="Google Shape;79;p1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SYN flooding</a:t>
            </a:r>
            <a:r>
              <a:rPr lang="en"/>
              <a:t>: A type of DoS that causes a server to allocate state for unfinished TCP connections, upon receiving a SYN packet</a:t>
            </a:r>
            <a:endParaRPr/>
          </a:p>
          <a:p>
            <a:pPr indent="-317500" lvl="1" marL="914400" rtl="0" algn="l">
              <a:spcBef>
                <a:spcPts val="0"/>
              </a:spcBef>
              <a:spcAft>
                <a:spcPts val="0"/>
              </a:spcAft>
              <a:buSzPts val="1400"/>
              <a:buChar char="○"/>
            </a:pPr>
            <a:r>
              <a:rPr b="1" lang="en"/>
              <a:t>SYN cookies</a:t>
            </a:r>
            <a:r>
              <a:rPr lang="en"/>
              <a:t>: Instead of allocating state when receiving a SYN, send the state back to the client in the sequence number</a:t>
            </a:r>
            <a:endParaRPr/>
          </a:p>
          <a:p>
            <a:pPr indent="-317500" lvl="1" marL="914400" rtl="0" algn="l">
              <a:spcBef>
                <a:spcPts val="0"/>
              </a:spcBef>
              <a:spcAft>
                <a:spcPts val="0"/>
              </a:spcAft>
              <a:buSzPts val="1400"/>
              <a:buChar char="○"/>
            </a:pPr>
            <a:r>
              <a:rPr lang="en"/>
              <a:t>The client returns the state back to the server, which it only then allocates state for</a:t>
            </a:r>
            <a:endParaRPr/>
          </a:p>
        </p:txBody>
      </p:sp>
      <p:sp>
        <p:nvSpPr>
          <p:cNvPr id="80" name="Google Shape;8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a:t>
            </a:r>
            <a:r>
              <a:rPr lang="en"/>
              <a:t> Firewalls</a:t>
            </a:r>
            <a:endParaRPr/>
          </a:p>
        </p:txBody>
      </p:sp>
      <p:sp>
        <p:nvSpPr>
          <p:cNvPr id="86" name="Google Shape;86;p1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Firewalls</a:t>
            </a:r>
            <a:r>
              <a:rPr lang="en"/>
              <a:t>: Defend many devices by defending the network</a:t>
            </a:r>
            <a:endParaRPr/>
          </a:p>
          <a:p>
            <a:pPr indent="-317500" lvl="1" marL="914400" rtl="0" algn="l">
              <a:spcBef>
                <a:spcPts val="0"/>
              </a:spcBef>
              <a:spcAft>
                <a:spcPts val="0"/>
              </a:spcAft>
              <a:buSzPts val="1400"/>
              <a:buChar char="○"/>
            </a:pPr>
            <a:r>
              <a:rPr b="1" lang="en"/>
              <a:t>Security policies</a:t>
            </a:r>
            <a:r>
              <a:rPr lang="en"/>
              <a:t> dictate how traffic on the network is handled</a:t>
            </a:r>
            <a:endParaRPr/>
          </a:p>
          <a:p>
            <a:pPr indent="-342900" lvl="0" marL="457200" rtl="0" algn="l">
              <a:spcBef>
                <a:spcPts val="0"/>
              </a:spcBef>
              <a:spcAft>
                <a:spcPts val="0"/>
              </a:spcAft>
              <a:buSzPts val="1800"/>
              <a:buChar char="●"/>
            </a:pPr>
            <a:r>
              <a:rPr b="1" lang="en"/>
              <a:t>Packet filters</a:t>
            </a:r>
            <a:r>
              <a:rPr lang="en"/>
              <a:t>: Choose to either forward or drop packets</a:t>
            </a:r>
            <a:endParaRPr/>
          </a:p>
          <a:p>
            <a:pPr indent="-317500" lvl="1" marL="914400" rtl="0" algn="l">
              <a:spcBef>
                <a:spcPts val="0"/>
              </a:spcBef>
              <a:spcAft>
                <a:spcPts val="0"/>
              </a:spcAft>
              <a:buSzPts val="1400"/>
              <a:buChar char="○"/>
            </a:pPr>
            <a:r>
              <a:rPr b="1" lang="en"/>
              <a:t>Stateless packet filters</a:t>
            </a:r>
            <a:r>
              <a:rPr lang="en"/>
              <a:t>: Choose depending on the packet only</a:t>
            </a:r>
            <a:endParaRPr/>
          </a:p>
          <a:p>
            <a:pPr indent="-317500" lvl="1" marL="914400" rtl="0" algn="l">
              <a:spcBef>
                <a:spcPts val="0"/>
              </a:spcBef>
              <a:spcAft>
                <a:spcPts val="0"/>
              </a:spcAft>
              <a:buSzPts val="1400"/>
              <a:buChar char="○"/>
            </a:pPr>
            <a:r>
              <a:rPr b="1" lang="en"/>
              <a:t>Stateful packet filters</a:t>
            </a:r>
            <a:r>
              <a:rPr lang="en"/>
              <a:t>: Choose depending on the packet and the history of the connection</a:t>
            </a:r>
            <a:endParaRPr/>
          </a:p>
          <a:p>
            <a:pPr indent="-317500" lvl="1" marL="914400" rtl="0" algn="l">
              <a:spcBef>
                <a:spcPts val="0"/>
              </a:spcBef>
              <a:spcAft>
                <a:spcPts val="0"/>
              </a:spcAft>
              <a:buSzPts val="1400"/>
              <a:buChar char="○"/>
            </a:pPr>
            <a:r>
              <a:rPr lang="en"/>
              <a:t>Attackers can subvert packet filters by splitting key payloads or exploiting the TTL</a:t>
            </a:r>
            <a:endParaRPr/>
          </a:p>
          <a:p>
            <a:pPr indent="-342900" lvl="0" marL="457200" rtl="0" algn="l">
              <a:spcBef>
                <a:spcPts val="0"/>
              </a:spcBef>
              <a:spcAft>
                <a:spcPts val="0"/>
              </a:spcAft>
              <a:buSzPts val="1800"/>
              <a:buChar char="●"/>
            </a:pPr>
            <a:r>
              <a:rPr b="1" lang="en"/>
              <a:t>Proxy firewalls</a:t>
            </a:r>
            <a:r>
              <a:rPr lang="en"/>
              <a:t>: Create a connection with both sides instead of forwarding packets</a:t>
            </a:r>
            <a:endParaRPr/>
          </a:p>
        </p:txBody>
      </p:sp>
      <p:sp>
        <p:nvSpPr>
          <p:cNvPr id="87" name="Google Shape;87;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 Intrusion Detection</a:t>
            </a:r>
            <a:endParaRPr/>
          </a:p>
        </p:txBody>
      </p:sp>
      <p:sp>
        <p:nvSpPr>
          <p:cNvPr id="93" name="Google Shape;93;p19"/>
          <p:cNvSpPr txBox="1"/>
          <p:nvPr>
            <p:ph idx="1" type="body"/>
          </p:nvPr>
        </p:nvSpPr>
        <p:spPr>
          <a:xfrm>
            <a:off x="198500" y="1246825"/>
            <a:ext cx="4131000" cy="3765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Types of detectors</a:t>
            </a:r>
            <a:endParaRPr/>
          </a:p>
          <a:p>
            <a:pPr indent="-317500" lvl="1" marL="914400" rtl="0" algn="l">
              <a:spcBef>
                <a:spcPts val="0"/>
              </a:spcBef>
              <a:spcAft>
                <a:spcPts val="0"/>
              </a:spcAft>
              <a:buSzPts val="1400"/>
              <a:buChar char="○"/>
            </a:pPr>
            <a:r>
              <a:rPr lang="en"/>
              <a:t>Network intrusion detection system (NIDS)</a:t>
            </a:r>
            <a:endParaRPr/>
          </a:p>
          <a:p>
            <a:pPr indent="-317500" lvl="1" marL="914400" rtl="0" algn="l">
              <a:spcBef>
                <a:spcPts val="0"/>
              </a:spcBef>
              <a:spcAft>
                <a:spcPts val="0"/>
              </a:spcAft>
              <a:buSzPts val="1400"/>
              <a:buChar char="○"/>
            </a:pPr>
            <a:r>
              <a:rPr lang="en"/>
              <a:t>Host-based intrusion detection system (HIDS)</a:t>
            </a:r>
            <a:endParaRPr/>
          </a:p>
          <a:p>
            <a:pPr indent="-342900" lvl="0" marL="457200" rtl="0" algn="l">
              <a:spcBef>
                <a:spcPts val="0"/>
              </a:spcBef>
              <a:spcAft>
                <a:spcPts val="0"/>
              </a:spcAft>
              <a:buSzPts val="1800"/>
              <a:buChar char="●"/>
            </a:pPr>
            <a:r>
              <a:rPr lang="en"/>
              <a:t>Detection accuracy</a:t>
            </a:r>
            <a:endParaRPr/>
          </a:p>
          <a:p>
            <a:pPr indent="-317500" lvl="1" marL="914400" rtl="0" algn="l">
              <a:spcBef>
                <a:spcPts val="0"/>
              </a:spcBef>
              <a:spcAft>
                <a:spcPts val="0"/>
              </a:spcAft>
              <a:buSzPts val="1400"/>
              <a:buChar char="○"/>
            </a:pPr>
            <a:r>
              <a:rPr lang="en"/>
              <a:t>False positives and false negatives</a:t>
            </a:r>
            <a:endParaRPr/>
          </a:p>
          <a:p>
            <a:pPr indent="-317500" lvl="1" marL="914400" rtl="0" algn="l">
              <a:spcBef>
                <a:spcPts val="0"/>
              </a:spcBef>
              <a:spcAft>
                <a:spcPts val="0"/>
              </a:spcAft>
              <a:buSzPts val="1400"/>
              <a:buChar char="○"/>
            </a:pPr>
            <a:r>
              <a:rPr lang="en"/>
              <a:t>Base rate fallacy</a:t>
            </a:r>
            <a:endParaRPr/>
          </a:p>
          <a:p>
            <a:pPr indent="-317500" lvl="1" marL="914400" rtl="0" algn="l">
              <a:spcBef>
                <a:spcPts val="0"/>
              </a:spcBef>
              <a:spcAft>
                <a:spcPts val="0"/>
              </a:spcAft>
              <a:buSzPts val="1400"/>
              <a:buChar char="○"/>
            </a:pPr>
            <a:r>
              <a:rPr lang="en"/>
              <a:t>Combining detectors</a:t>
            </a:r>
            <a:endParaRPr/>
          </a:p>
        </p:txBody>
      </p:sp>
      <p:sp>
        <p:nvSpPr>
          <p:cNvPr id="94" name="Google Shape;9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5" name="Google Shape;95;p19"/>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Styles of detection</a:t>
            </a:r>
            <a:endParaRPr/>
          </a:p>
          <a:p>
            <a:pPr indent="-317500" lvl="1" marL="914400" rtl="0" algn="l">
              <a:spcBef>
                <a:spcPts val="0"/>
              </a:spcBef>
              <a:spcAft>
                <a:spcPts val="0"/>
              </a:spcAft>
              <a:buSzPts val="1400"/>
              <a:buChar char="○"/>
            </a:pPr>
            <a:r>
              <a:rPr lang="en"/>
              <a:t>Signature-based detection</a:t>
            </a:r>
            <a:endParaRPr/>
          </a:p>
          <a:p>
            <a:pPr indent="-317500" lvl="1" marL="914400" rtl="0" algn="l">
              <a:spcBef>
                <a:spcPts val="0"/>
              </a:spcBef>
              <a:spcAft>
                <a:spcPts val="0"/>
              </a:spcAft>
              <a:buSzPts val="1400"/>
              <a:buChar char="○"/>
            </a:pPr>
            <a:r>
              <a:rPr lang="en"/>
              <a:t>Specification-based detection</a:t>
            </a:r>
            <a:endParaRPr/>
          </a:p>
          <a:p>
            <a:pPr indent="-317500" lvl="1" marL="914400" rtl="0" algn="l">
              <a:spcBef>
                <a:spcPts val="0"/>
              </a:spcBef>
              <a:spcAft>
                <a:spcPts val="0"/>
              </a:spcAft>
              <a:buSzPts val="1400"/>
              <a:buChar char="○"/>
            </a:pPr>
            <a:r>
              <a:rPr lang="en"/>
              <a:t>Anomaly-based detection</a:t>
            </a:r>
            <a:endParaRPr/>
          </a:p>
          <a:p>
            <a:pPr indent="-317500" lvl="1" marL="914400" rtl="0" algn="l">
              <a:spcBef>
                <a:spcPts val="0"/>
              </a:spcBef>
              <a:spcAft>
                <a:spcPts val="0"/>
              </a:spcAft>
              <a:buSzPts val="1400"/>
              <a:buChar char="○"/>
            </a:pPr>
            <a:r>
              <a:rPr lang="en"/>
              <a:t>Behavioral detection</a:t>
            </a:r>
            <a:endParaRPr/>
          </a:p>
          <a:p>
            <a:pPr indent="-342900" lvl="0" marL="457200" rtl="0" algn="l">
              <a:spcBef>
                <a:spcPts val="0"/>
              </a:spcBef>
              <a:spcAft>
                <a:spcPts val="0"/>
              </a:spcAft>
              <a:buSzPts val="1800"/>
              <a:buChar char="●"/>
            </a:pPr>
            <a:r>
              <a:rPr lang="en"/>
              <a:t>Other intrusion detection strategies</a:t>
            </a:r>
            <a:endParaRPr/>
          </a:p>
          <a:p>
            <a:pPr indent="-317500" lvl="1" marL="914400" rtl="0" algn="l">
              <a:spcBef>
                <a:spcPts val="0"/>
              </a:spcBef>
              <a:spcAft>
                <a:spcPts val="0"/>
              </a:spcAft>
              <a:buSzPts val="1400"/>
              <a:buChar char="○"/>
            </a:pPr>
            <a:r>
              <a:rPr lang="en"/>
              <a:t>Vulnerability scanning</a:t>
            </a:r>
            <a:endParaRPr/>
          </a:p>
          <a:p>
            <a:pPr indent="-317500" lvl="1" marL="914400" rtl="0" algn="l">
              <a:spcBef>
                <a:spcPts val="0"/>
              </a:spcBef>
              <a:spcAft>
                <a:spcPts val="0"/>
              </a:spcAft>
              <a:buSzPts val="1400"/>
              <a:buChar char="○"/>
            </a:pPr>
            <a:r>
              <a:rPr lang="en"/>
              <a:t>Honeypots</a:t>
            </a:r>
            <a:endParaRPr/>
          </a:p>
          <a:p>
            <a:pPr indent="-317500" lvl="1" marL="914400" rtl="0" algn="l">
              <a:spcBef>
                <a:spcPts val="0"/>
              </a:spcBef>
              <a:spcAft>
                <a:spcPts val="0"/>
              </a:spcAft>
              <a:buSzPts val="1400"/>
              <a:buChar char="○"/>
            </a:pPr>
            <a:r>
              <a:rPr lang="en"/>
              <a:t>Forensics</a:t>
            </a:r>
            <a:endParaRPr/>
          </a:p>
          <a:p>
            <a:pPr indent="-317500" lvl="1" marL="914400" rtl="0" algn="l">
              <a:spcBef>
                <a:spcPts val="0"/>
              </a:spcBef>
              <a:spcAft>
                <a:spcPts val="0"/>
              </a:spcAft>
              <a:buSzPts val="1400"/>
              <a:buChar char="○"/>
            </a:pPr>
            <a:r>
              <a:rPr lang="en"/>
              <a:t>Intrusion prevention systems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 Intrusion Detection</a:t>
            </a:r>
            <a:endParaRPr/>
          </a:p>
        </p:txBody>
      </p:sp>
      <p:sp>
        <p:nvSpPr>
          <p:cNvPr id="101" name="Google Shape;10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2" name="Google Shape;102;p2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We’ve talked about many ways to prevent attacks</a:t>
            </a:r>
            <a:endParaRPr/>
          </a:p>
          <a:p>
            <a:pPr indent="-342900" lvl="0" marL="457200" rtl="0" algn="l">
              <a:spcBef>
                <a:spcPts val="0"/>
              </a:spcBef>
              <a:spcAft>
                <a:spcPts val="0"/>
              </a:spcAft>
              <a:buSzPts val="1800"/>
              <a:buChar char="●"/>
            </a:pPr>
            <a:r>
              <a:rPr lang="en"/>
              <a:t>However, some not all methods are perfect: attacks will slip through our defenses</a:t>
            </a:r>
            <a:endParaRPr/>
          </a:p>
          <a:p>
            <a:pPr indent="-342900" lvl="0" marL="457200" rtl="0" algn="l">
              <a:spcBef>
                <a:spcPts val="0"/>
              </a:spcBef>
              <a:spcAft>
                <a:spcPts val="0"/>
              </a:spcAft>
              <a:buSzPts val="1800"/>
              <a:buChar char="●"/>
            </a:pPr>
            <a:r>
              <a:rPr lang="en"/>
              <a:t>Recall: “Detect if you can’t prevent”</a:t>
            </a:r>
            <a:endParaRPr/>
          </a:p>
          <a:p>
            <a:pPr indent="-342900" lvl="0" marL="457200" rtl="0" algn="l">
              <a:spcBef>
                <a:spcPts val="0"/>
              </a:spcBef>
              <a:spcAft>
                <a:spcPts val="0"/>
              </a:spcAft>
              <a:buSzPts val="1800"/>
              <a:buChar char="●"/>
            </a:pPr>
            <a:r>
              <a:rPr lang="en"/>
              <a:t>How can we detect network attacks when they happen?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Path Traversal Attacks</a:t>
            </a:r>
            <a:endParaRPr/>
          </a:p>
        </p:txBody>
      </p:sp>
      <p:sp>
        <p:nvSpPr>
          <p:cNvPr id="108" name="Google Shape;10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25 Most Dangerous Software Weaknesses (2020)</a:t>
            </a:r>
            <a:endParaRPr/>
          </a:p>
        </p:txBody>
      </p:sp>
      <p:sp>
        <p:nvSpPr>
          <p:cNvPr id="114" name="Google Shape;114;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15" name="Google Shape;115;p22"/>
          <p:cNvGraphicFramePr/>
          <p:nvPr/>
        </p:nvGraphicFramePr>
        <p:xfrm>
          <a:off x="412300" y="1239875"/>
          <a:ext cx="3000000" cy="3000000"/>
        </p:xfrm>
        <a:graphic>
          <a:graphicData uri="http://schemas.openxmlformats.org/drawingml/2006/table">
            <a:tbl>
              <a:tblPr>
                <a:noFill/>
                <a:tableStyleId>{A3C5B50C-D8A1-4C52-AB28-AA2DAA967826}</a:tableStyleId>
              </a:tblPr>
              <a:tblGrid>
                <a:gridCol w="535825"/>
                <a:gridCol w="779400"/>
                <a:gridCol w="5653200"/>
                <a:gridCol w="746075"/>
              </a:tblGrid>
              <a:tr h="213425">
                <a:tc>
                  <a:txBody>
                    <a:bodyPr/>
                    <a:lstStyle/>
                    <a:p>
                      <a:pPr indent="0" lvl="0" marL="0" rtl="0" algn="ctr">
                        <a:lnSpc>
                          <a:spcPct val="100000"/>
                        </a:lnSpc>
                        <a:spcBef>
                          <a:spcPts val="0"/>
                        </a:spcBef>
                        <a:spcAft>
                          <a:spcPts val="0"/>
                        </a:spcAft>
                        <a:buNone/>
                      </a:pPr>
                      <a:r>
                        <a:rPr b="1" lang="en" sz="1000"/>
                        <a:t>Rank</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ID</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Name</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Score</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120675">
                <a:tc>
                  <a:txBody>
                    <a:bodyPr/>
                    <a:lstStyle/>
                    <a:p>
                      <a:pPr indent="0" lvl="0" marL="0" rtl="0" algn="ctr">
                        <a:lnSpc>
                          <a:spcPct val="100000"/>
                        </a:lnSpc>
                        <a:spcBef>
                          <a:spcPts val="0"/>
                        </a:spcBef>
                        <a:spcAft>
                          <a:spcPts val="0"/>
                        </a:spcAft>
                        <a:buNone/>
                      </a:pPr>
                      <a:r>
                        <a:rPr b="1" lang="en" sz="1000"/>
                        <a:t>[1]</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3"/>
                        </a:rPr>
                        <a:t>CWE-79</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Input During Web Page Generation (’Cross-site Scripting’)</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46.82</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110825">
                <a:tc>
                  <a:txBody>
                    <a:bodyPr/>
                    <a:lstStyle/>
                    <a:p>
                      <a:pPr indent="0" lvl="0" marL="0" rtl="0" algn="ctr">
                        <a:lnSpc>
                          <a:spcPct val="100000"/>
                        </a:lnSpc>
                        <a:spcBef>
                          <a:spcPts val="0"/>
                        </a:spcBef>
                        <a:spcAft>
                          <a:spcPts val="0"/>
                        </a:spcAft>
                        <a:buNone/>
                      </a:pPr>
                      <a:r>
                        <a:rPr b="1" lang="en" sz="1000"/>
                        <a:t>[2]</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4"/>
                        </a:rPr>
                        <a:t>CWE-787</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Out-of-bounds Write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46.17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[3]</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5"/>
                        </a:rPr>
                        <a:t>CWE-20</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Input Validation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33.47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[4]</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6"/>
                        </a:rPr>
                        <a:t>CWE-125</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Out-of-bounds Read</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26.50</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[5]</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7"/>
                        </a:rPr>
                        <a:t>CWE-119</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Restriction of Operations within the Bounds of a Memory Buffer</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23.73</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02750">
                <a:tc>
                  <a:txBody>
                    <a:bodyPr/>
                    <a:lstStyle/>
                    <a:p>
                      <a:pPr indent="0" lvl="0" marL="0" rtl="0" algn="ctr">
                        <a:lnSpc>
                          <a:spcPct val="100000"/>
                        </a:lnSpc>
                        <a:spcBef>
                          <a:spcPts val="0"/>
                        </a:spcBef>
                        <a:spcAft>
                          <a:spcPts val="0"/>
                        </a:spcAft>
                        <a:buNone/>
                      </a:pPr>
                      <a:r>
                        <a:rPr b="1" lang="en" sz="1000"/>
                        <a:t>[6]</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8"/>
                        </a:rPr>
                        <a:t>CWE-89</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Special Elements used in an SQL Command (’SQL Injection’)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20.69</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[7]</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9"/>
                        </a:rPr>
                        <a:t>CWE-200</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Exposure of Sensitive Information to an Unauthorized Actor</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19.16</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[8]</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0"/>
                        </a:rPr>
                        <a:t>CWE-416</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Use After Free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18.87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[9]</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1"/>
                        </a:rPr>
                        <a:t>CWE-352</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Cross-Site Request Forgery (CSRF)</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17.29</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02750">
                <a:tc>
                  <a:txBody>
                    <a:bodyPr/>
                    <a:lstStyle/>
                    <a:p>
                      <a:pPr indent="0" lvl="0" marL="0" rtl="0" algn="ctr">
                        <a:lnSpc>
                          <a:spcPct val="100000"/>
                        </a:lnSpc>
                        <a:spcBef>
                          <a:spcPts val="0"/>
                        </a:spcBef>
                        <a:spcAft>
                          <a:spcPts val="0"/>
                        </a:spcAft>
                        <a:buNone/>
                      </a:pPr>
                      <a:r>
                        <a:rPr b="1" lang="en" sz="1000"/>
                        <a:t>[10]</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2"/>
                        </a:rPr>
                        <a:t>CWE-78</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Special Elements used in an OS Command (’OS Command Injection’)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16.44</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[11]</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3"/>
                        </a:rPr>
                        <a:t>CWE-190</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Integer Overflow or Wraparound</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15.81</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[12]</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4"/>
                        </a:rPr>
                        <a:t>CWE-22</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a:t>Improper Limitation of a Pathname to a Restricted Directory (’Path Traversal’)</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00000"/>
                        </a:lnSpc>
                        <a:spcBef>
                          <a:spcPts val="0"/>
                        </a:spcBef>
                        <a:spcAft>
                          <a:spcPts val="0"/>
                        </a:spcAft>
                        <a:buNone/>
                      </a:pPr>
                      <a:r>
                        <a:rPr lang="en" sz="1000"/>
                        <a:t>13.67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13425">
                <a:tc>
                  <a:txBody>
                    <a:bodyPr/>
                    <a:lstStyle/>
                    <a:p>
                      <a:pPr indent="0" lvl="0" marL="0" rtl="0" algn="ctr">
                        <a:lnSpc>
                          <a:spcPct val="100000"/>
                        </a:lnSpc>
                        <a:spcBef>
                          <a:spcPts val="0"/>
                        </a:spcBef>
                        <a:spcAft>
                          <a:spcPts val="0"/>
                        </a:spcAft>
                        <a:buNone/>
                      </a:pPr>
                      <a:r>
                        <a:rPr b="1" lang="en" sz="1000"/>
                        <a:t>[13]</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5"/>
                        </a:rPr>
                        <a:t>CWE-476</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NULL Pointer Dereference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8.35</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[14]</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6"/>
                        </a:rPr>
                        <a:t>CWE-287</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Authentication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8.17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[15]</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7"/>
                        </a:rPr>
                        <a:t>CWE-434</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Unrestricted Upload of File with Dangerous Type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7.38</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[16]</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8"/>
                        </a:rPr>
                        <a:t>CWE-732</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Incorrect Permission Assignment for Critical Resource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6.95</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[17]</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9"/>
                        </a:rPr>
                        <a:t>CWE-94</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Control of Generation of Code (’Code Injection’)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6.53</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Unix File Paths</a:t>
            </a:r>
            <a:endParaRPr/>
          </a:p>
        </p:txBody>
      </p:sp>
      <p:sp>
        <p:nvSpPr>
          <p:cNvPr id="121" name="Google Shape;121;p2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file path points to a file or a directory (folder) on a Unix system</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File paths have special characters</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a:t>
            </a:r>
            <a:r>
              <a:rPr lang="en"/>
              <a:t> (slash): Separates directories</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a:t>
            </a:r>
            <a:r>
              <a:rPr lang="en"/>
              <a:t> (one period): Shorthand for the current directory</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a:t>
            </a:r>
            <a:r>
              <a:rPr lang="en"/>
              <a:t> (two periods): Shorthand for the parent directory</a:t>
            </a:r>
            <a:endParaRPr b="1">
              <a:latin typeface="Courier New"/>
              <a:ea typeface="Courier New"/>
              <a:cs typeface="Courier New"/>
              <a:sym typeface="Courier New"/>
            </a:endParaRPr>
          </a:p>
        </p:txBody>
      </p:sp>
      <p:sp>
        <p:nvSpPr>
          <p:cNvPr id="122" name="Google Shape;12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Unix File Paths</a:t>
            </a:r>
            <a:endParaRPr/>
          </a:p>
        </p:txBody>
      </p:sp>
      <p:sp>
        <p:nvSpPr>
          <p:cNvPr id="128" name="Google Shape;128;p24"/>
          <p:cNvSpPr txBox="1"/>
          <p:nvPr>
            <p:ph idx="1" type="body"/>
          </p:nvPr>
        </p:nvSpPr>
        <p:spPr>
          <a:xfrm>
            <a:off x="198500" y="1246825"/>
            <a:ext cx="7769700" cy="777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latin typeface="Courier New"/>
                <a:ea typeface="Courier New"/>
                <a:cs typeface="Courier New"/>
                <a:sym typeface="Courier New"/>
              </a:rPr>
              <a:t>/home/public/evanbot.jpg</a:t>
            </a:r>
            <a:endParaRPr/>
          </a:p>
        </p:txBody>
      </p:sp>
      <p:sp>
        <p:nvSpPr>
          <p:cNvPr id="129" name="Google Shape;12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0" name="Google Shape;130;p24"/>
          <p:cNvSpPr/>
          <p:nvPr/>
        </p:nvSpPr>
        <p:spPr>
          <a:xfrm>
            <a:off x="1862750" y="2222925"/>
            <a:ext cx="4474500" cy="2670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4"/>
          <p:cNvSpPr txBox="1"/>
          <p:nvPr/>
        </p:nvSpPr>
        <p:spPr>
          <a:xfrm>
            <a:off x="4042438" y="2222925"/>
            <a:ext cx="64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home</a:t>
            </a:r>
            <a:endParaRPr b="1">
              <a:latin typeface="Courier New"/>
              <a:ea typeface="Courier New"/>
              <a:cs typeface="Courier New"/>
              <a:sym typeface="Courier New"/>
            </a:endParaRPr>
          </a:p>
        </p:txBody>
      </p:sp>
      <p:sp>
        <p:nvSpPr>
          <p:cNvPr id="132" name="Google Shape;132;p24"/>
          <p:cNvSpPr txBox="1"/>
          <p:nvPr/>
        </p:nvSpPr>
        <p:spPr>
          <a:xfrm>
            <a:off x="2820313" y="3382275"/>
            <a:ext cx="88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public</a:t>
            </a:r>
            <a:endParaRPr b="1">
              <a:latin typeface="Courier New"/>
              <a:ea typeface="Courier New"/>
              <a:cs typeface="Courier New"/>
              <a:sym typeface="Courier New"/>
            </a:endParaRPr>
          </a:p>
        </p:txBody>
      </p:sp>
      <p:sp>
        <p:nvSpPr>
          <p:cNvPr id="133" name="Google Shape;133;p24"/>
          <p:cNvSpPr txBox="1"/>
          <p:nvPr/>
        </p:nvSpPr>
        <p:spPr>
          <a:xfrm>
            <a:off x="5008913" y="3382275"/>
            <a:ext cx="100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private</a:t>
            </a:r>
            <a:endParaRPr b="1">
              <a:latin typeface="Courier New"/>
              <a:ea typeface="Courier New"/>
              <a:cs typeface="Courier New"/>
              <a:sym typeface="Courier New"/>
            </a:endParaRPr>
          </a:p>
        </p:txBody>
      </p:sp>
      <p:sp>
        <p:nvSpPr>
          <p:cNvPr id="134" name="Google Shape;134;p24"/>
          <p:cNvSpPr txBox="1"/>
          <p:nvPr/>
        </p:nvSpPr>
        <p:spPr>
          <a:xfrm>
            <a:off x="1829463" y="4458475"/>
            <a:ext cx="136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evanbot.jpg</a:t>
            </a:r>
            <a:endParaRPr b="1">
              <a:latin typeface="Courier New"/>
              <a:ea typeface="Courier New"/>
              <a:cs typeface="Courier New"/>
              <a:sym typeface="Courier New"/>
            </a:endParaRPr>
          </a:p>
        </p:txBody>
      </p:sp>
      <p:sp>
        <p:nvSpPr>
          <p:cNvPr id="135" name="Google Shape;135;p24"/>
          <p:cNvSpPr txBox="1"/>
          <p:nvPr/>
        </p:nvSpPr>
        <p:spPr>
          <a:xfrm>
            <a:off x="3250025" y="4458475"/>
            <a:ext cx="136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codabot.jpg</a:t>
            </a:r>
            <a:endParaRPr b="1">
              <a:latin typeface="Courier New"/>
              <a:ea typeface="Courier New"/>
              <a:cs typeface="Courier New"/>
              <a:sym typeface="Courier New"/>
            </a:endParaRPr>
          </a:p>
        </p:txBody>
      </p:sp>
      <p:sp>
        <p:nvSpPr>
          <p:cNvPr id="136" name="Google Shape;136;p24"/>
          <p:cNvSpPr txBox="1"/>
          <p:nvPr/>
        </p:nvSpPr>
        <p:spPr>
          <a:xfrm>
            <a:off x="4670588" y="4458475"/>
            <a:ext cx="1666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passwords.txt</a:t>
            </a:r>
            <a:endParaRPr b="1">
              <a:latin typeface="Courier New"/>
              <a:ea typeface="Courier New"/>
              <a:cs typeface="Courier New"/>
              <a:sym typeface="Courier New"/>
            </a:endParaRPr>
          </a:p>
        </p:txBody>
      </p:sp>
      <p:cxnSp>
        <p:nvCxnSpPr>
          <p:cNvPr id="137" name="Google Shape;137;p24"/>
          <p:cNvCxnSpPr>
            <a:stCxn id="131" idx="2"/>
            <a:endCxn id="132" idx="0"/>
          </p:cNvCxnSpPr>
          <p:nvPr/>
        </p:nvCxnSpPr>
        <p:spPr>
          <a:xfrm flipH="1">
            <a:off x="3261388" y="2623125"/>
            <a:ext cx="1101600" cy="759300"/>
          </a:xfrm>
          <a:prstGeom prst="straightConnector1">
            <a:avLst/>
          </a:prstGeom>
          <a:noFill/>
          <a:ln cap="flat" cmpd="sng" w="9525">
            <a:solidFill>
              <a:schemeClr val="dk2"/>
            </a:solidFill>
            <a:prstDash val="solid"/>
            <a:round/>
            <a:headEnd len="med" w="med" type="none"/>
            <a:tailEnd len="med" w="med" type="none"/>
          </a:ln>
        </p:spPr>
      </p:cxnSp>
      <p:cxnSp>
        <p:nvCxnSpPr>
          <p:cNvPr id="138" name="Google Shape;138;p24"/>
          <p:cNvCxnSpPr>
            <a:stCxn id="131" idx="2"/>
            <a:endCxn id="133" idx="0"/>
          </p:cNvCxnSpPr>
          <p:nvPr/>
        </p:nvCxnSpPr>
        <p:spPr>
          <a:xfrm>
            <a:off x="4362988" y="2623125"/>
            <a:ext cx="1147800" cy="759300"/>
          </a:xfrm>
          <a:prstGeom prst="straightConnector1">
            <a:avLst/>
          </a:prstGeom>
          <a:noFill/>
          <a:ln cap="flat" cmpd="sng" w="9525">
            <a:solidFill>
              <a:schemeClr val="dk2"/>
            </a:solidFill>
            <a:prstDash val="solid"/>
            <a:round/>
            <a:headEnd len="med" w="med" type="none"/>
            <a:tailEnd len="med" w="med" type="none"/>
          </a:ln>
        </p:spPr>
      </p:cxnSp>
      <p:cxnSp>
        <p:nvCxnSpPr>
          <p:cNvPr id="139" name="Google Shape;139;p24"/>
          <p:cNvCxnSpPr>
            <a:stCxn id="132" idx="2"/>
            <a:endCxn id="134" idx="0"/>
          </p:cNvCxnSpPr>
          <p:nvPr/>
        </p:nvCxnSpPr>
        <p:spPr>
          <a:xfrm flipH="1">
            <a:off x="2511163" y="3782475"/>
            <a:ext cx="750300" cy="675900"/>
          </a:xfrm>
          <a:prstGeom prst="straightConnector1">
            <a:avLst/>
          </a:prstGeom>
          <a:noFill/>
          <a:ln cap="flat" cmpd="sng" w="9525">
            <a:solidFill>
              <a:schemeClr val="dk2"/>
            </a:solidFill>
            <a:prstDash val="solid"/>
            <a:round/>
            <a:headEnd len="med" w="med" type="none"/>
            <a:tailEnd len="med" w="med" type="none"/>
          </a:ln>
        </p:spPr>
      </p:cxnSp>
      <p:cxnSp>
        <p:nvCxnSpPr>
          <p:cNvPr id="140" name="Google Shape;140;p24"/>
          <p:cNvCxnSpPr>
            <a:stCxn id="132" idx="2"/>
            <a:endCxn id="135" idx="0"/>
          </p:cNvCxnSpPr>
          <p:nvPr/>
        </p:nvCxnSpPr>
        <p:spPr>
          <a:xfrm>
            <a:off x="3261463" y="3782475"/>
            <a:ext cx="670200" cy="675900"/>
          </a:xfrm>
          <a:prstGeom prst="straightConnector1">
            <a:avLst/>
          </a:prstGeom>
          <a:noFill/>
          <a:ln cap="flat" cmpd="sng" w="9525">
            <a:solidFill>
              <a:schemeClr val="dk2"/>
            </a:solidFill>
            <a:prstDash val="solid"/>
            <a:round/>
            <a:headEnd len="med" w="med" type="none"/>
            <a:tailEnd len="med" w="med" type="none"/>
          </a:ln>
        </p:spPr>
      </p:cxnSp>
      <p:cxnSp>
        <p:nvCxnSpPr>
          <p:cNvPr id="141" name="Google Shape;141;p24"/>
          <p:cNvCxnSpPr>
            <a:stCxn id="133" idx="2"/>
            <a:endCxn id="136" idx="0"/>
          </p:cNvCxnSpPr>
          <p:nvPr/>
        </p:nvCxnSpPr>
        <p:spPr>
          <a:xfrm flipH="1">
            <a:off x="5503763" y="3782475"/>
            <a:ext cx="6900" cy="675900"/>
          </a:xfrm>
          <a:prstGeom prst="straightConnector1">
            <a:avLst/>
          </a:prstGeom>
          <a:noFill/>
          <a:ln cap="flat" cmpd="sng" w="9525">
            <a:solidFill>
              <a:schemeClr val="dk2"/>
            </a:solidFill>
            <a:prstDash val="solid"/>
            <a:round/>
            <a:headEnd len="med" w="med" type="none"/>
            <a:tailEnd len="med" w="med" type="none"/>
          </a:ln>
        </p:spPr>
      </p:cxnSp>
      <p:cxnSp>
        <p:nvCxnSpPr>
          <p:cNvPr id="142" name="Google Shape;142;p24"/>
          <p:cNvCxnSpPr/>
          <p:nvPr/>
        </p:nvCxnSpPr>
        <p:spPr>
          <a:xfrm flipH="1">
            <a:off x="3108988" y="2546925"/>
            <a:ext cx="1101600" cy="759300"/>
          </a:xfrm>
          <a:prstGeom prst="straightConnector1">
            <a:avLst/>
          </a:prstGeom>
          <a:noFill/>
          <a:ln cap="flat" cmpd="sng" w="19050">
            <a:solidFill>
              <a:srgbClr val="FF0000"/>
            </a:solidFill>
            <a:prstDash val="solid"/>
            <a:round/>
            <a:headEnd len="med" w="med" type="none"/>
            <a:tailEnd len="med" w="med" type="triangle"/>
          </a:ln>
        </p:spPr>
      </p:cxnSp>
      <p:cxnSp>
        <p:nvCxnSpPr>
          <p:cNvPr id="143" name="Google Shape;143;p24"/>
          <p:cNvCxnSpPr/>
          <p:nvPr/>
        </p:nvCxnSpPr>
        <p:spPr>
          <a:xfrm flipH="1">
            <a:off x="2282563" y="3782475"/>
            <a:ext cx="750300" cy="6759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Unix File Paths</a:t>
            </a:r>
            <a:endParaRPr/>
          </a:p>
        </p:txBody>
      </p:sp>
      <p:sp>
        <p:nvSpPr>
          <p:cNvPr id="149" name="Google Shape;149;p25"/>
          <p:cNvSpPr txBox="1"/>
          <p:nvPr>
            <p:ph idx="1" type="body"/>
          </p:nvPr>
        </p:nvSpPr>
        <p:spPr>
          <a:xfrm>
            <a:off x="198500" y="1246825"/>
            <a:ext cx="7769700" cy="90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latin typeface="Courier New"/>
                <a:ea typeface="Courier New"/>
                <a:cs typeface="Courier New"/>
                <a:sym typeface="Courier New"/>
              </a:rPr>
              <a:t>./codabot.jpg</a:t>
            </a:r>
            <a:r>
              <a:rPr lang="en"/>
              <a:t>  (Assume we're currently in </a:t>
            </a:r>
            <a:r>
              <a:rPr b="1" lang="en">
                <a:latin typeface="Courier New"/>
                <a:ea typeface="Courier New"/>
                <a:cs typeface="Courier New"/>
                <a:sym typeface="Courier New"/>
              </a:rPr>
              <a:t>public</a:t>
            </a:r>
            <a:r>
              <a:rPr lang="en"/>
              <a:t>)</a:t>
            </a:r>
            <a:endParaRPr/>
          </a:p>
        </p:txBody>
      </p:sp>
      <p:sp>
        <p:nvSpPr>
          <p:cNvPr id="150" name="Google Shape;15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5"/>
          <p:cNvSpPr/>
          <p:nvPr/>
        </p:nvSpPr>
        <p:spPr>
          <a:xfrm>
            <a:off x="1862750" y="2222925"/>
            <a:ext cx="4474500" cy="2670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5"/>
          <p:cNvSpPr txBox="1"/>
          <p:nvPr/>
        </p:nvSpPr>
        <p:spPr>
          <a:xfrm>
            <a:off x="4042438" y="2222925"/>
            <a:ext cx="64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home</a:t>
            </a:r>
            <a:endParaRPr b="1">
              <a:latin typeface="Courier New"/>
              <a:ea typeface="Courier New"/>
              <a:cs typeface="Courier New"/>
              <a:sym typeface="Courier New"/>
            </a:endParaRPr>
          </a:p>
        </p:txBody>
      </p:sp>
      <p:sp>
        <p:nvSpPr>
          <p:cNvPr id="153" name="Google Shape;153;p25"/>
          <p:cNvSpPr txBox="1"/>
          <p:nvPr/>
        </p:nvSpPr>
        <p:spPr>
          <a:xfrm>
            <a:off x="2820313" y="3382275"/>
            <a:ext cx="88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public</a:t>
            </a:r>
            <a:endParaRPr b="1">
              <a:latin typeface="Courier New"/>
              <a:ea typeface="Courier New"/>
              <a:cs typeface="Courier New"/>
              <a:sym typeface="Courier New"/>
            </a:endParaRPr>
          </a:p>
        </p:txBody>
      </p:sp>
      <p:sp>
        <p:nvSpPr>
          <p:cNvPr id="154" name="Google Shape;154;p25"/>
          <p:cNvSpPr txBox="1"/>
          <p:nvPr/>
        </p:nvSpPr>
        <p:spPr>
          <a:xfrm>
            <a:off x="5008913" y="3382275"/>
            <a:ext cx="100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private</a:t>
            </a:r>
            <a:endParaRPr b="1">
              <a:latin typeface="Courier New"/>
              <a:ea typeface="Courier New"/>
              <a:cs typeface="Courier New"/>
              <a:sym typeface="Courier New"/>
            </a:endParaRPr>
          </a:p>
        </p:txBody>
      </p:sp>
      <p:sp>
        <p:nvSpPr>
          <p:cNvPr id="155" name="Google Shape;155;p25"/>
          <p:cNvSpPr txBox="1"/>
          <p:nvPr/>
        </p:nvSpPr>
        <p:spPr>
          <a:xfrm>
            <a:off x="1829463" y="4458475"/>
            <a:ext cx="136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evanbot.jpg</a:t>
            </a:r>
            <a:endParaRPr b="1">
              <a:latin typeface="Courier New"/>
              <a:ea typeface="Courier New"/>
              <a:cs typeface="Courier New"/>
              <a:sym typeface="Courier New"/>
            </a:endParaRPr>
          </a:p>
        </p:txBody>
      </p:sp>
      <p:sp>
        <p:nvSpPr>
          <p:cNvPr id="156" name="Google Shape;156;p25"/>
          <p:cNvSpPr txBox="1"/>
          <p:nvPr/>
        </p:nvSpPr>
        <p:spPr>
          <a:xfrm>
            <a:off x="3250025" y="4458475"/>
            <a:ext cx="136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codabot.jpg</a:t>
            </a:r>
            <a:endParaRPr b="1">
              <a:latin typeface="Courier New"/>
              <a:ea typeface="Courier New"/>
              <a:cs typeface="Courier New"/>
              <a:sym typeface="Courier New"/>
            </a:endParaRPr>
          </a:p>
        </p:txBody>
      </p:sp>
      <p:sp>
        <p:nvSpPr>
          <p:cNvPr id="157" name="Google Shape;157;p25"/>
          <p:cNvSpPr txBox="1"/>
          <p:nvPr/>
        </p:nvSpPr>
        <p:spPr>
          <a:xfrm>
            <a:off x="4670588" y="4458475"/>
            <a:ext cx="1666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passwords.txt</a:t>
            </a:r>
            <a:endParaRPr b="1">
              <a:latin typeface="Courier New"/>
              <a:ea typeface="Courier New"/>
              <a:cs typeface="Courier New"/>
              <a:sym typeface="Courier New"/>
            </a:endParaRPr>
          </a:p>
        </p:txBody>
      </p:sp>
      <p:cxnSp>
        <p:nvCxnSpPr>
          <p:cNvPr id="158" name="Google Shape;158;p25"/>
          <p:cNvCxnSpPr>
            <a:stCxn id="152" idx="2"/>
            <a:endCxn id="153" idx="0"/>
          </p:cNvCxnSpPr>
          <p:nvPr/>
        </p:nvCxnSpPr>
        <p:spPr>
          <a:xfrm flipH="1">
            <a:off x="3261388" y="2623125"/>
            <a:ext cx="1101600" cy="759300"/>
          </a:xfrm>
          <a:prstGeom prst="straightConnector1">
            <a:avLst/>
          </a:prstGeom>
          <a:noFill/>
          <a:ln cap="flat" cmpd="sng" w="9525">
            <a:solidFill>
              <a:schemeClr val="dk2"/>
            </a:solidFill>
            <a:prstDash val="solid"/>
            <a:round/>
            <a:headEnd len="med" w="med" type="none"/>
            <a:tailEnd len="med" w="med" type="none"/>
          </a:ln>
        </p:spPr>
      </p:cxnSp>
      <p:cxnSp>
        <p:nvCxnSpPr>
          <p:cNvPr id="159" name="Google Shape;159;p25"/>
          <p:cNvCxnSpPr>
            <a:stCxn id="152" idx="2"/>
            <a:endCxn id="154" idx="0"/>
          </p:cNvCxnSpPr>
          <p:nvPr/>
        </p:nvCxnSpPr>
        <p:spPr>
          <a:xfrm>
            <a:off x="4362988" y="2623125"/>
            <a:ext cx="1147800" cy="759300"/>
          </a:xfrm>
          <a:prstGeom prst="straightConnector1">
            <a:avLst/>
          </a:prstGeom>
          <a:noFill/>
          <a:ln cap="flat" cmpd="sng" w="9525">
            <a:solidFill>
              <a:schemeClr val="dk2"/>
            </a:solidFill>
            <a:prstDash val="solid"/>
            <a:round/>
            <a:headEnd len="med" w="med" type="none"/>
            <a:tailEnd len="med" w="med" type="none"/>
          </a:ln>
        </p:spPr>
      </p:cxnSp>
      <p:cxnSp>
        <p:nvCxnSpPr>
          <p:cNvPr id="160" name="Google Shape;160;p25"/>
          <p:cNvCxnSpPr>
            <a:stCxn id="153" idx="2"/>
            <a:endCxn id="155" idx="0"/>
          </p:cNvCxnSpPr>
          <p:nvPr/>
        </p:nvCxnSpPr>
        <p:spPr>
          <a:xfrm flipH="1">
            <a:off x="2511163" y="3782475"/>
            <a:ext cx="750300" cy="675900"/>
          </a:xfrm>
          <a:prstGeom prst="straightConnector1">
            <a:avLst/>
          </a:prstGeom>
          <a:noFill/>
          <a:ln cap="flat" cmpd="sng" w="9525">
            <a:solidFill>
              <a:schemeClr val="dk2"/>
            </a:solidFill>
            <a:prstDash val="solid"/>
            <a:round/>
            <a:headEnd len="med" w="med" type="none"/>
            <a:tailEnd len="med" w="med" type="none"/>
          </a:ln>
        </p:spPr>
      </p:cxnSp>
      <p:cxnSp>
        <p:nvCxnSpPr>
          <p:cNvPr id="161" name="Google Shape;161;p25"/>
          <p:cNvCxnSpPr>
            <a:stCxn id="153" idx="2"/>
            <a:endCxn id="156" idx="0"/>
          </p:cNvCxnSpPr>
          <p:nvPr/>
        </p:nvCxnSpPr>
        <p:spPr>
          <a:xfrm>
            <a:off x="3261463" y="3782475"/>
            <a:ext cx="670200" cy="675900"/>
          </a:xfrm>
          <a:prstGeom prst="straightConnector1">
            <a:avLst/>
          </a:prstGeom>
          <a:noFill/>
          <a:ln cap="flat" cmpd="sng" w="9525">
            <a:solidFill>
              <a:schemeClr val="dk2"/>
            </a:solidFill>
            <a:prstDash val="solid"/>
            <a:round/>
            <a:headEnd len="med" w="med" type="none"/>
            <a:tailEnd len="med" w="med" type="none"/>
          </a:ln>
        </p:spPr>
      </p:cxnSp>
      <p:cxnSp>
        <p:nvCxnSpPr>
          <p:cNvPr id="162" name="Google Shape;162;p25"/>
          <p:cNvCxnSpPr>
            <a:stCxn id="154" idx="2"/>
            <a:endCxn id="157" idx="0"/>
          </p:cNvCxnSpPr>
          <p:nvPr/>
        </p:nvCxnSpPr>
        <p:spPr>
          <a:xfrm flipH="1">
            <a:off x="5503763" y="3782475"/>
            <a:ext cx="6900" cy="675900"/>
          </a:xfrm>
          <a:prstGeom prst="straightConnector1">
            <a:avLst/>
          </a:prstGeom>
          <a:noFill/>
          <a:ln cap="flat" cmpd="sng" w="9525">
            <a:solidFill>
              <a:schemeClr val="dk2"/>
            </a:solidFill>
            <a:prstDash val="solid"/>
            <a:round/>
            <a:headEnd len="med" w="med" type="none"/>
            <a:tailEnd len="med" w="med" type="none"/>
          </a:ln>
        </p:spPr>
      </p:cxnSp>
      <p:cxnSp>
        <p:nvCxnSpPr>
          <p:cNvPr id="163" name="Google Shape;163;p25"/>
          <p:cNvCxnSpPr/>
          <p:nvPr/>
        </p:nvCxnSpPr>
        <p:spPr>
          <a:xfrm>
            <a:off x="3490063" y="3782475"/>
            <a:ext cx="670200" cy="675900"/>
          </a:xfrm>
          <a:prstGeom prst="straightConnector1">
            <a:avLst/>
          </a:prstGeom>
          <a:noFill/>
          <a:ln cap="flat" cmpd="sng" w="19050">
            <a:solidFill>
              <a:srgbClr val="FF0000"/>
            </a:solidFill>
            <a:prstDash val="solid"/>
            <a:round/>
            <a:headEnd len="med" w="med" type="oval"/>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Unix File Paths</a:t>
            </a:r>
            <a:endParaRPr/>
          </a:p>
        </p:txBody>
      </p:sp>
      <p:sp>
        <p:nvSpPr>
          <p:cNvPr id="169" name="Google Shape;169;p26"/>
          <p:cNvSpPr txBox="1"/>
          <p:nvPr>
            <p:ph idx="1" type="body"/>
          </p:nvPr>
        </p:nvSpPr>
        <p:spPr>
          <a:xfrm>
            <a:off x="198500" y="1246825"/>
            <a:ext cx="7769700" cy="90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latin typeface="Courier New"/>
                <a:ea typeface="Courier New"/>
                <a:cs typeface="Courier New"/>
                <a:sym typeface="Courier New"/>
              </a:rPr>
              <a:t>/home/public/../private/passwords.txt</a:t>
            </a:r>
            <a:endParaRPr/>
          </a:p>
        </p:txBody>
      </p:sp>
      <p:sp>
        <p:nvSpPr>
          <p:cNvPr id="170" name="Google Shape;17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1" name="Google Shape;171;p26"/>
          <p:cNvSpPr/>
          <p:nvPr/>
        </p:nvSpPr>
        <p:spPr>
          <a:xfrm>
            <a:off x="1862750" y="2222925"/>
            <a:ext cx="4474500" cy="2670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6"/>
          <p:cNvSpPr txBox="1"/>
          <p:nvPr/>
        </p:nvSpPr>
        <p:spPr>
          <a:xfrm>
            <a:off x="4042438" y="2222925"/>
            <a:ext cx="64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home</a:t>
            </a:r>
            <a:endParaRPr b="1">
              <a:latin typeface="Courier New"/>
              <a:ea typeface="Courier New"/>
              <a:cs typeface="Courier New"/>
              <a:sym typeface="Courier New"/>
            </a:endParaRPr>
          </a:p>
        </p:txBody>
      </p:sp>
      <p:sp>
        <p:nvSpPr>
          <p:cNvPr id="173" name="Google Shape;173;p26"/>
          <p:cNvSpPr txBox="1"/>
          <p:nvPr/>
        </p:nvSpPr>
        <p:spPr>
          <a:xfrm>
            <a:off x="2820313" y="3382275"/>
            <a:ext cx="88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public</a:t>
            </a:r>
            <a:endParaRPr b="1">
              <a:latin typeface="Courier New"/>
              <a:ea typeface="Courier New"/>
              <a:cs typeface="Courier New"/>
              <a:sym typeface="Courier New"/>
            </a:endParaRPr>
          </a:p>
        </p:txBody>
      </p:sp>
      <p:sp>
        <p:nvSpPr>
          <p:cNvPr id="174" name="Google Shape;174;p26"/>
          <p:cNvSpPr txBox="1"/>
          <p:nvPr/>
        </p:nvSpPr>
        <p:spPr>
          <a:xfrm>
            <a:off x="5008913" y="3382275"/>
            <a:ext cx="100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private</a:t>
            </a:r>
            <a:endParaRPr b="1">
              <a:latin typeface="Courier New"/>
              <a:ea typeface="Courier New"/>
              <a:cs typeface="Courier New"/>
              <a:sym typeface="Courier New"/>
            </a:endParaRPr>
          </a:p>
        </p:txBody>
      </p:sp>
      <p:sp>
        <p:nvSpPr>
          <p:cNvPr id="175" name="Google Shape;175;p26"/>
          <p:cNvSpPr txBox="1"/>
          <p:nvPr/>
        </p:nvSpPr>
        <p:spPr>
          <a:xfrm>
            <a:off x="1829463" y="4458475"/>
            <a:ext cx="136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evanbot.jpg</a:t>
            </a:r>
            <a:endParaRPr b="1">
              <a:latin typeface="Courier New"/>
              <a:ea typeface="Courier New"/>
              <a:cs typeface="Courier New"/>
              <a:sym typeface="Courier New"/>
            </a:endParaRPr>
          </a:p>
        </p:txBody>
      </p:sp>
      <p:sp>
        <p:nvSpPr>
          <p:cNvPr id="176" name="Google Shape;176;p26"/>
          <p:cNvSpPr txBox="1"/>
          <p:nvPr/>
        </p:nvSpPr>
        <p:spPr>
          <a:xfrm>
            <a:off x="3250025" y="4458475"/>
            <a:ext cx="136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codabot.jpg</a:t>
            </a:r>
            <a:endParaRPr b="1">
              <a:latin typeface="Courier New"/>
              <a:ea typeface="Courier New"/>
              <a:cs typeface="Courier New"/>
              <a:sym typeface="Courier New"/>
            </a:endParaRPr>
          </a:p>
        </p:txBody>
      </p:sp>
      <p:sp>
        <p:nvSpPr>
          <p:cNvPr id="177" name="Google Shape;177;p26"/>
          <p:cNvSpPr txBox="1"/>
          <p:nvPr/>
        </p:nvSpPr>
        <p:spPr>
          <a:xfrm>
            <a:off x="4670588" y="4458475"/>
            <a:ext cx="1666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passwords.txt</a:t>
            </a:r>
            <a:endParaRPr b="1">
              <a:latin typeface="Courier New"/>
              <a:ea typeface="Courier New"/>
              <a:cs typeface="Courier New"/>
              <a:sym typeface="Courier New"/>
            </a:endParaRPr>
          </a:p>
        </p:txBody>
      </p:sp>
      <p:cxnSp>
        <p:nvCxnSpPr>
          <p:cNvPr id="178" name="Google Shape;178;p26"/>
          <p:cNvCxnSpPr>
            <a:stCxn id="172" idx="2"/>
            <a:endCxn id="173" idx="0"/>
          </p:cNvCxnSpPr>
          <p:nvPr/>
        </p:nvCxnSpPr>
        <p:spPr>
          <a:xfrm flipH="1">
            <a:off x="3261388" y="2623125"/>
            <a:ext cx="1101600" cy="75930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26"/>
          <p:cNvCxnSpPr>
            <a:stCxn id="172" idx="2"/>
            <a:endCxn id="174" idx="0"/>
          </p:cNvCxnSpPr>
          <p:nvPr/>
        </p:nvCxnSpPr>
        <p:spPr>
          <a:xfrm>
            <a:off x="4362988" y="2623125"/>
            <a:ext cx="1147800" cy="759300"/>
          </a:xfrm>
          <a:prstGeom prst="straightConnector1">
            <a:avLst/>
          </a:prstGeom>
          <a:noFill/>
          <a:ln cap="flat" cmpd="sng" w="9525">
            <a:solidFill>
              <a:schemeClr val="dk2"/>
            </a:solidFill>
            <a:prstDash val="solid"/>
            <a:round/>
            <a:headEnd len="med" w="med" type="none"/>
            <a:tailEnd len="med" w="med" type="none"/>
          </a:ln>
        </p:spPr>
      </p:cxnSp>
      <p:cxnSp>
        <p:nvCxnSpPr>
          <p:cNvPr id="180" name="Google Shape;180;p26"/>
          <p:cNvCxnSpPr>
            <a:stCxn id="173" idx="2"/>
            <a:endCxn id="175" idx="0"/>
          </p:cNvCxnSpPr>
          <p:nvPr/>
        </p:nvCxnSpPr>
        <p:spPr>
          <a:xfrm flipH="1">
            <a:off x="2511163" y="3782475"/>
            <a:ext cx="750300" cy="67590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26"/>
          <p:cNvCxnSpPr>
            <a:stCxn id="173" idx="2"/>
            <a:endCxn id="176" idx="0"/>
          </p:cNvCxnSpPr>
          <p:nvPr/>
        </p:nvCxnSpPr>
        <p:spPr>
          <a:xfrm>
            <a:off x="3261463" y="3782475"/>
            <a:ext cx="670200" cy="67590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26"/>
          <p:cNvCxnSpPr>
            <a:stCxn id="174" idx="2"/>
            <a:endCxn id="177" idx="0"/>
          </p:cNvCxnSpPr>
          <p:nvPr/>
        </p:nvCxnSpPr>
        <p:spPr>
          <a:xfrm flipH="1">
            <a:off x="5503763" y="3782475"/>
            <a:ext cx="6900" cy="67590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26"/>
          <p:cNvCxnSpPr/>
          <p:nvPr/>
        </p:nvCxnSpPr>
        <p:spPr>
          <a:xfrm flipH="1">
            <a:off x="3108988" y="2623125"/>
            <a:ext cx="1101600" cy="759300"/>
          </a:xfrm>
          <a:prstGeom prst="straightConnector1">
            <a:avLst/>
          </a:prstGeom>
          <a:noFill/>
          <a:ln cap="flat" cmpd="sng" w="19050">
            <a:solidFill>
              <a:srgbClr val="FF0000"/>
            </a:solidFill>
            <a:prstDash val="solid"/>
            <a:round/>
            <a:headEnd len="med" w="med" type="none"/>
            <a:tailEnd len="med" w="med" type="triangle"/>
          </a:ln>
        </p:spPr>
      </p:cxnSp>
      <p:cxnSp>
        <p:nvCxnSpPr>
          <p:cNvPr id="184" name="Google Shape;184;p26"/>
          <p:cNvCxnSpPr/>
          <p:nvPr/>
        </p:nvCxnSpPr>
        <p:spPr>
          <a:xfrm flipH="1">
            <a:off x="3261388" y="2734475"/>
            <a:ext cx="1101600" cy="759300"/>
          </a:xfrm>
          <a:prstGeom prst="straightConnector1">
            <a:avLst/>
          </a:prstGeom>
          <a:noFill/>
          <a:ln cap="flat" cmpd="sng" w="19050">
            <a:solidFill>
              <a:srgbClr val="FF0000"/>
            </a:solidFill>
            <a:prstDash val="solid"/>
            <a:round/>
            <a:headEnd len="med" w="med" type="triangle"/>
            <a:tailEnd len="med" w="med" type="none"/>
          </a:ln>
        </p:spPr>
      </p:cxnSp>
      <p:cxnSp>
        <p:nvCxnSpPr>
          <p:cNvPr id="185" name="Google Shape;185;p26"/>
          <p:cNvCxnSpPr/>
          <p:nvPr/>
        </p:nvCxnSpPr>
        <p:spPr>
          <a:xfrm>
            <a:off x="4515388" y="2623125"/>
            <a:ext cx="1147800" cy="759300"/>
          </a:xfrm>
          <a:prstGeom prst="straightConnector1">
            <a:avLst/>
          </a:prstGeom>
          <a:noFill/>
          <a:ln cap="flat" cmpd="sng" w="19050">
            <a:solidFill>
              <a:srgbClr val="FF0000"/>
            </a:solidFill>
            <a:prstDash val="solid"/>
            <a:round/>
            <a:headEnd len="med" w="med" type="none"/>
            <a:tailEnd len="med" w="med" type="triangle"/>
          </a:ln>
        </p:spPr>
      </p:cxnSp>
      <p:cxnSp>
        <p:nvCxnSpPr>
          <p:cNvPr id="186" name="Google Shape;186;p26"/>
          <p:cNvCxnSpPr/>
          <p:nvPr/>
        </p:nvCxnSpPr>
        <p:spPr>
          <a:xfrm flipH="1">
            <a:off x="5579963" y="3782475"/>
            <a:ext cx="6900" cy="6759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Path Traversal Intuition</a:t>
            </a:r>
            <a:endParaRPr/>
          </a:p>
        </p:txBody>
      </p:sp>
      <p:sp>
        <p:nvSpPr>
          <p:cNvPr id="192" name="Google Shape;192;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93" name="Google Shape;193;p27"/>
          <p:cNvGrpSpPr/>
          <p:nvPr/>
        </p:nvGrpSpPr>
        <p:grpSpPr>
          <a:xfrm>
            <a:off x="422150" y="1182775"/>
            <a:ext cx="3420000" cy="1747725"/>
            <a:chOff x="422150" y="1182775"/>
            <a:chExt cx="3420000" cy="1747725"/>
          </a:xfrm>
        </p:grpSpPr>
        <p:sp>
          <p:nvSpPr>
            <p:cNvPr id="194" name="Google Shape;194;p27"/>
            <p:cNvSpPr txBox="1"/>
            <p:nvPr/>
          </p:nvSpPr>
          <p:spPr>
            <a:xfrm>
              <a:off x="422150" y="1182775"/>
              <a:ext cx="342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Frontend</a:t>
              </a:r>
              <a:endParaRPr/>
            </a:p>
          </p:txBody>
        </p:sp>
        <p:sp>
          <p:nvSpPr>
            <p:cNvPr id="195" name="Google Shape;195;p27"/>
            <p:cNvSpPr/>
            <p:nvPr/>
          </p:nvSpPr>
          <p:spPr>
            <a:xfrm>
              <a:off x="422150" y="1545100"/>
              <a:ext cx="3351600" cy="138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p:nvPr/>
          </p:nvSpPr>
          <p:spPr>
            <a:xfrm>
              <a:off x="532575" y="1972225"/>
              <a:ext cx="2877600" cy="465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Courier New"/>
                  <a:ea typeface="Courier New"/>
                  <a:cs typeface="Courier New"/>
                  <a:sym typeface="Courier New"/>
                </a:rPr>
                <a:t>evanbot.jpg</a:t>
              </a:r>
              <a:endParaRPr b="1">
                <a:solidFill>
                  <a:srgbClr val="FF0000"/>
                </a:solidFill>
                <a:latin typeface="Courier New"/>
                <a:ea typeface="Courier New"/>
                <a:cs typeface="Courier New"/>
                <a:sym typeface="Courier New"/>
              </a:endParaRPr>
            </a:p>
          </p:txBody>
        </p:sp>
        <p:sp>
          <p:nvSpPr>
            <p:cNvPr id="197" name="Google Shape;197;p27"/>
            <p:cNvSpPr txBox="1"/>
            <p:nvPr/>
          </p:nvSpPr>
          <p:spPr>
            <a:xfrm>
              <a:off x="498375" y="1642000"/>
              <a:ext cx="237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Enter file name:</a:t>
              </a:r>
              <a:endParaRPr/>
            </a:p>
          </p:txBody>
        </p:sp>
        <p:pic>
          <p:nvPicPr>
            <p:cNvPr id="198" name="Google Shape;198;p27"/>
            <p:cNvPicPr preferRelativeResize="0"/>
            <p:nvPr/>
          </p:nvPicPr>
          <p:blipFill>
            <a:blip r:embed="rId3">
              <a:alphaModFix/>
            </a:blip>
            <a:stretch>
              <a:fillRect/>
            </a:stretch>
          </p:blipFill>
          <p:spPr>
            <a:xfrm>
              <a:off x="532575" y="2500602"/>
              <a:ext cx="641000" cy="328725"/>
            </a:xfrm>
            <a:prstGeom prst="rect">
              <a:avLst/>
            </a:prstGeom>
            <a:noFill/>
            <a:ln>
              <a:noFill/>
            </a:ln>
          </p:spPr>
        </p:pic>
      </p:grpSp>
      <p:cxnSp>
        <p:nvCxnSpPr>
          <p:cNvPr id="199" name="Google Shape;199;p27"/>
          <p:cNvCxnSpPr>
            <a:stCxn id="195" idx="3"/>
            <a:endCxn id="200" idx="1"/>
          </p:cNvCxnSpPr>
          <p:nvPr/>
        </p:nvCxnSpPr>
        <p:spPr>
          <a:xfrm>
            <a:off x="3773750" y="2237800"/>
            <a:ext cx="752400" cy="0"/>
          </a:xfrm>
          <a:prstGeom prst="straightConnector1">
            <a:avLst/>
          </a:prstGeom>
          <a:noFill/>
          <a:ln cap="flat" cmpd="sng" w="19050">
            <a:solidFill>
              <a:schemeClr val="dk1"/>
            </a:solidFill>
            <a:prstDash val="solid"/>
            <a:round/>
            <a:headEnd len="med" w="med" type="none"/>
            <a:tailEnd len="med" w="med" type="triangle"/>
          </a:ln>
        </p:spPr>
      </p:cxnSp>
      <p:grpSp>
        <p:nvGrpSpPr>
          <p:cNvPr id="201" name="Google Shape;201;p27"/>
          <p:cNvGrpSpPr/>
          <p:nvPr/>
        </p:nvGrpSpPr>
        <p:grpSpPr>
          <a:xfrm>
            <a:off x="4526000" y="1182775"/>
            <a:ext cx="4145100" cy="1747725"/>
            <a:chOff x="4526000" y="1182775"/>
            <a:chExt cx="4145100" cy="1747725"/>
          </a:xfrm>
        </p:grpSpPr>
        <p:sp>
          <p:nvSpPr>
            <p:cNvPr id="202" name="Google Shape;202;p27"/>
            <p:cNvSpPr txBox="1"/>
            <p:nvPr/>
          </p:nvSpPr>
          <p:spPr>
            <a:xfrm>
              <a:off x="4526000" y="1182775"/>
              <a:ext cx="342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Backend</a:t>
              </a:r>
              <a:endParaRPr/>
            </a:p>
          </p:txBody>
        </p:sp>
        <p:sp>
          <p:nvSpPr>
            <p:cNvPr id="200" name="Google Shape;200;p27"/>
            <p:cNvSpPr/>
            <p:nvPr/>
          </p:nvSpPr>
          <p:spPr>
            <a:xfrm>
              <a:off x="4526000" y="1545100"/>
              <a:ext cx="4145100" cy="1385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Send this file to the user:</a:t>
              </a:r>
              <a:endParaRPr>
                <a:solidFill>
                  <a:schemeClr val="dk1"/>
                </a:solidFill>
              </a:endParaRPr>
            </a:p>
            <a:p>
              <a:pPr indent="0" lvl="0" marL="0" rtl="0" algn="l">
                <a:spcBef>
                  <a:spcPts val="0"/>
                </a:spcBef>
                <a:spcAft>
                  <a:spcPts val="0"/>
                </a:spcAft>
                <a:buNone/>
              </a:pPr>
              <a:r>
                <a:rPr b="1" lang="en">
                  <a:solidFill>
                    <a:schemeClr val="dk1"/>
                  </a:solidFill>
                  <a:latin typeface="Courier New"/>
                  <a:ea typeface="Courier New"/>
                  <a:cs typeface="Courier New"/>
                  <a:sym typeface="Courier New"/>
                </a:rPr>
                <a:t>/home/public/</a:t>
              </a:r>
              <a:r>
                <a:rPr b="1" lang="en">
                  <a:solidFill>
                    <a:srgbClr val="FF0000"/>
                  </a:solidFill>
                  <a:latin typeface="Courier New"/>
                  <a:ea typeface="Courier New"/>
                  <a:cs typeface="Courier New"/>
                  <a:sym typeface="Courier New"/>
                </a:rPr>
                <a:t>evanbot.jpg</a:t>
              </a:r>
              <a:endParaRPr/>
            </a:p>
          </p:txBody>
        </p:sp>
      </p:grpSp>
      <p:sp>
        <p:nvSpPr>
          <p:cNvPr id="203" name="Google Shape;203;p27"/>
          <p:cNvSpPr txBox="1"/>
          <p:nvPr/>
        </p:nvSpPr>
        <p:spPr>
          <a:xfrm>
            <a:off x="6354150" y="3327025"/>
            <a:ext cx="64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home</a:t>
            </a:r>
            <a:endParaRPr b="1">
              <a:latin typeface="Courier New"/>
              <a:ea typeface="Courier New"/>
              <a:cs typeface="Courier New"/>
              <a:sym typeface="Courier New"/>
            </a:endParaRPr>
          </a:p>
        </p:txBody>
      </p:sp>
      <p:sp>
        <p:nvSpPr>
          <p:cNvPr id="204" name="Google Shape;204;p27"/>
          <p:cNvSpPr txBox="1"/>
          <p:nvPr/>
        </p:nvSpPr>
        <p:spPr>
          <a:xfrm>
            <a:off x="7325300" y="3936225"/>
            <a:ext cx="100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private</a:t>
            </a:r>
            <a:endParaRPr b="1">
              <a:latin typeface="Courier New"/>
              <a:ea typeface="Courier New"/>
              <a:cs typeface="Courier New"/>
              <a:sym typeface="Courier New"/>
            </a:endParaRPr>
          </a:p>
        </p:txBody>
      </p:sp>
      <p:sp>
        <p:nvSpPr>
          <p:cNvPr id="205" name="Google Shape;205;p27"/>
          <p:cNvSpPr txBox="1"/>
          <p:nvPr/>
        </p:nvSpPr>
        <p:spPr>
          <a:xfrm>
            <a:off x="4152675" y="4602100"/>
            <a:ext cx="136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evanbot.jpg</a:t>
            </a:r>
            <a:endParaRPr b="1">
              <a:latin typeface="Courier New"/>
              <a:ea typeface="Courier New"/>
              <a:cs typeface="Courier New"/>
              <a:sym typeface="Courier New"/>
            </a:endParaRPr>
          </a:p>
        </p:txBody>
      </p:sp>
      <p:sp>
        <p:nvSpPr>
          <p:cNvPr id="206" name="Google Shape;206;p27"/>
          <p:cNvSpPr txBox="1"/>
          <p:nvPr/>
        </p:nvSpPr>
        <p:spPr>
          <a:xfrm>
            <a:off x="5573238" y="4602100"/>
            <a:ext cx="136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codabot.jpg</a:t>
            </a:r>
            <a:endParaRPr b="1">
              <a:latin typeface="Courier New"/>
              <a:ea typeface="Courier New"/>
              <a:cs typeface="Courier New"/>
              <a:sym typeface="Courier New"/>
            </a:endParaRPr>
          </a:p>
        </p:txBody>
      </p:sp>
      <p:sp>
        <p:nvSpPr>
          <p:cNvPr id="207" name="Google Shape;207;p27"/>
          <p:cNvSpPr txBox="1"/>
          <p:nvPr/>
        </p:nvSpPr>
        <p:spPr>
          <a:xfrm>
            <a:off x="6993800" y="4602100"/>
            <a:ext cx="1666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passwords.txt</a:t>
            </a:r>
            <a:endParaRPr b="1">
              <a:latin typeface="Courier New"/>
              <a:ea typeface="Courier New"/>
              <a:cs typeface="Courier New"/>
              <a:sym typeface="Courier New"/>
            </a:endParaRPr>
          </a:p>
        </p:txBody>
      </p:sp>
      <p:cxnSp>
        <p:nvCxnSpPr>
          <p:cNvPr id="208" name="Google Shape;208;p27"/>
          <p:cNvCxnSpPr>
            <a:stCxn id="203" idx="2"/>
            <a:endCxn id="209" idx="0"/>
          </p:cNvCxnSpPr>
          <p:nvPr/>
        </p:nvCxnSpPr>
        <p:spPr>
          <a:xfrm flipH="1">
            <a:off x="5577900" y="3727225"/>
            <a:ext cx="1096800" cy="209100"/>
          </a:xfrm>
          <a:prstGeom prst="straightConnector1">
            <a:avLst/>
          </a:prstGeom>
          <a:noFill/>
          <a:ln cap="flat" cmpd="sng" w="9525">
            <a:solidFill>
              <a:schemeClr val="dk2"/>
            </a:solidFill>
            <a:prstDash val="solid"/>
            <a:round/>
            <a:headEnd len="med" w="med" type="none"/>
            <a:tailEnd len="med" w="med" type="none"/>
          </a:ln>
        </p:spPr>
      </p:cxnSp>
      <p:cxnSp>
        <p:nvCxnSpPr>
          <p:cNvPr id="210" name="Google Shape;210;p27"/>
          <p:cNvCxnSpPr>
            <a:stCxn id="203" idx="2"/>
            <a:endCxn id="204" idx="0"/>
          </p:cNvCxnSpPr>
          <p:nvPr/>
        </p:nvCxnSpPr>
        <p:spPr>
          <a:xfrm>
            <a:off x="6674700" y="3727225"/>
            <a:ext cx="1152300" cy="209100"/>
          </a:xfrm>
          <a:prstGeom prst="straightConnector1">
            <a:avLst/>
          </a:prstGeom>
          <a:noFill/>
          <a:ln cap="flat" cmpd="sng" w="9525">
            <a:solidFill>
              <a:schemeClr val="dk2"/>
            </a:solidFill>
            <a:prstDash val="solid"/>
            <a:round/>
            <a:headEnd len="med" w="med" type="none"/>
            <a:tailEnd len="med" w="med" type="none"/>
          </a:ln>
        </p:spPr>
      </p:cxnSp>
      <p:cxnSp>
        <p:nvCxnSpPr>
          <p:cNvPr id="211" name="Google Shape;211;p27"/>
          <p:cNvCxnSpPr>
            <a:stCxn id="209" idx="2"/>
            <a:endCxn id="206" idx="0"/>
          </p:cNvCxnSpPr>
          <p:nvPr/>
        </p:nvCxnSpPr>
        <p:spPr>
          <a:xfrm>
            <a:off x="5577850" y="4336425"/>
            <a:ext cx="677100" cy="265800"/>
          </a:xfrm>
          <a:prstGeom prst="straightConnector1">
            <a:avLst/>
          </a:prstGeom>
          <a:noFill/>
          <a:ln cap="flat" cmpd="sng" w="9525">
            <a:solidFill>
              <a:schemeClr val="dk2"/>
            </a:solidFill>
            <a:prstDash val="solid"/>
            <a:round/>
            <a:headEnd len="med" w="med" type="none"/>
            <a:tailEnd len="med" w="med" type="none"/>
          </a:ln>
        </p:spPr>
      </p:cxnSp>
      <p:cxnSp>
        <p:nvCxnSpPr>
          <p:cNvPr id="212" name="Google Shape;212;p27"/>
          <p:cNvCxnSpPr>
            <a:stCxn id="204" idx="2"/>
            <a:endCxn id="207" idx="0"/>
          </p:cNvCxnSpPr>
          <p:nvPr/>
        </p:nvCxnSpPr>
        <p:spPr>
          <a:xfrm>
            <a:off x="7827050" y="4336425"/>
            <a:ext cx="0" cy="265800"/>
          </a:xfrm>
          <a:prstGeom prst="straightConnector1">
            <a:avLst/>
          </a:prstGeom>
          <a:noFill/>
          <a:ln cap="flat" cmpd="sng" w="9525">
            <a:solidFill>
              <a:schemeClr val="dk2"/>
            </a:solidFill>
            <a:prstDash val="solid"/>
            <a:round/>
            <a:headEnd len="med" w="med" type="none"/>
            <a:tailEnd len="med" w="med" type="none"/>
          </a:ln>
        </p:spPr>
      </p:cxnSp>
      <p:grpSp>
        <p:nvGrpSpPr>
          <p:cNvPr id="213" name="Google Shape;213;p27"/>
          <p:cNvGrpSpPr/>
          <p:nvPr/>
        </p:nvGrpSpPr>
        <p:grpSpPr>
          <a:xfrm>
            <a:off x="4130200" y="3003050"/>
            <a:ext cx="4530250" cy="2033425"/>
            <a:chOff x="4130200" y="3003050"/>
            <a:chExt cx="4530250" cy="2033425"/>
          </a:xfrm>
        </p:grpSpPr>
        <p:sp>
          <p:nvSpPr>
            <p:cNvPr id="209" name="Google Shape;209;p27"/>
            <p:cNvSpPr txBox="1"/>
            <p:nvPr/>
          </p:nvSpPr>
          <p:spPr>
            <a:xfrm>
              <a:off x="5136700" y="3936225"/>
              <a:ext cx="88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public</a:t>
              </a:r>
              <a:endParaRPr b="1">
                <a:latin typeface="Courier New"/>
                <a:ea typeface="Courier New"/>
                <a:cs typeface="Courier New"/>
                <a:sym typeface="Courier New"/>
              </a:endParaRPr>
            </a:p>
          </p:txBody>
        </p:sp>
        <p:grpSp>
          <p:nvGrpSpPr>
            <p:cNvPr id="214" name="Google Shape;214;p27"/>
            <p:cNvGrpSpPr/>
            <p:nvPr/>
          </p:nvGrpSpPr>
          <p:grpSpPr>
            <a:xfrm>
              <a:off x="4130200" y="3003050"/>
              <a:ext cx="4530250" cy="2033425"/>
              <a:chOff x="4130200" y="3003050"/>
              <a:chExt cx="4530250" cy="2033425"/>
            </a:xfrm>
          </p:grpSpPr>
          <p:sp>
            <p:nvSpPr>
              <p:cNvPr id="215" name="Google Shape;215;p27"/>
              <p:cNvSpPr/>
              <p:nvPr/>
            </p:nvSpPr>
            <p:spPr>
              <a:xfrm>
                <a:off x="4185950" y="3372975"/>
                <a:ext cx="4474500" cy="16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6" name="Google Shape;216;p27"/>
              <p:cNvCxnSpPr>
                <a:stCxn id="209" idx="2"/>
                <a:endCxn id="205" idx="0"/>
              </p:cNvCxnSpPr>
              <p:nvPr/>
            </p:nvCxnSpPr>
            <p:spPr>
              <a:xfrm flipH="1">
                <a:off x="4834150" y="4336425"/>
                <a:ext cx="743700" cy="265800"/>
              </a:xfrm>
              <a:prstGeom prst="straightConnector1">
                <a:avLst/>
              </a:prstGeom>
              <a:noFill/>
              <a:ln cap="flat" cmpd="sng" w="9525">
                <a:solidFill>
                  <a:schemeClr val="dk2"/>
                </a:solidFill>
                <a:prstDash val="solid"/>
                <a:round/>
                <a:headEnd len="med" w="med" type="none"/>
                <a:tailEnd len="med" w="med" type="none"/>
              </a:ln>
            </p:spPr>
          </p:cxnSp>
          <p:sp>
            <p:nvSpPr>
              <p:cNvPr id="217" name="Google Shape;217;p27"/>
              <p:cNvSpPr txBox="1"/>
              <p:nvPr/>
            </p:nvSpPr>
            <p:spPr>
              <a:xfrm>
                <a:off x="4130200" y="3003050"/>
                <a:ext cx="342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Backend Filesystem</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Path Traversal Intuition</a:t>
            </a:r>
            <a:endParaRPr/>
          </a:p>
        </p:txBody>
      </p:sp>
      <p:sp>
        <p:nvSpPr>
          <p:cNvPr id="223" name="Google Shape;22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24" name="Google Shape;224;p28"/>
          <p:cNvGrpSpPr/>
          <p:nvPr/>
        </p:nvGrpSpPr>
        <p:grpSpPr>
          <a:xfrm>
            <a:off x="422150" y="1182775"/>
            <a:ext cx="3420000" cy="1747725"/>
            <a:chOff x="422150" y="1182775"/>
            <a:chExt cx="3420000" cy="1747725"/>
          </a:xfrm>
        </p:grpSpPr>
        <p:sp>
          <p:nvSpPr>
            <p:cNvPr id="225" name="Google Shape;225;p28"/>
            <p:cNvSpPr txBox="1"/>
            <p:nvPr/>
          </p:nvSpPr>
          <p:spPr>
            <a:xfrm>
              <a:off x="422150" y="1182775"/>
              <a:ext cx="342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Frontend</a:t>
              </a:r>
              <a:endParaRPr/>
            </a:p>
          </p:txBody>
        </p:sp>
        <p:sp>
          <p:nvSpPr>
            <p:cNvPr id="226" name="Google Shape;226;p28"/>
            <p:cNvSpPr/>
            <p:nvPr/>
          </p:nvSpPr>
          <p:spPr>
            <a:xfrm>
              <a:off x="422150" y="1545100"/>
              <a:ext cx="3351600" cy="138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8"/>
            <p:cNvSpPr/>
            <p:nvPr/>
          </p:nvSpPr>
          <p:spPr>
            <a:xfrm>
              <a:off x="532575" y="1972225"/>
              <a:ext cx="2877600" cy="465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Courier New"/>
                  <a:ea typeface="Courier New"/>
                  <a:cs typeface="Courier New"/>
                  <a:sym typeface="Courier New"/>
                </a:rPr>
                <a:t>../private/passwords.txt</a:t>
              </a:r>
              <a:endParaRPr b="1">
                <a:solidFill>
                  <a:srgbClr val="FF0000"/>
                </a:solidFill>
                <a:latin typeface="Courier New"/>
                <a:ea typeface="Courier New"/>
                <a:cs typeface="Courier New"/>
                <a:sym typeface="Courier New"/>
              </a:endParaRPr>
            </a:p>
          </p:txBody>
        </p:sp>
        <p:sp>
          <p:nvSpPr>
            <p:cNvPr id="228" name="Google Shape;228;p28"/>
            <p:cNvSpPr txBox="1"/>
            <p:nvPr/>
          </p:nvSpPr>
          <p:spPr>
            <a:xfrm>
              <a:off x="498375" y="1642000"/>
              <a:ext cx="237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Enter file name:</a:t>
              </a:r>
              <a:endParaRPr/>
            </a:p>
          </p:txBody>
        </p:sp>
        <p:pic>
          <p:nvPicPr>
            <p:cNvPr id="229" name="Google Shape;229;p28"/>
            <p:cNvPicPr preferRelativeResize="0"/>
            <p:nvPr/>
          </p:nvPicPr>
          <p:blipFill>
            <a:blip r:embed="rId3">
              <a:alphaModFix/>
            </a:blip>
            <a:stretch>
              <a:fillRect/>
            </a:stretch>
          </p:blipFill>
          <p:spPr>
            <a:xfrm>
              <a:off x="532575" y="2500602"/>
              <a:ext cx="641000" cy="328725"/>
            </a:xfrm>
            <a:prstGeom prst="rect">
              <a:avLst/>
            </a:prstGeom>
            <a:noFill/>
            <a:ln>
              <a:noFill/>
            </a:ln>
          </p:spPr>
        </p:pic>
      </p:grpSp>
      <p:cxnSp>
        <p:nvCxnSpPr>
          <p:cNvPr id="230" name="Google Shape;230;p28"/>
          <p:cNvCxnSpPr>
            <a:stCxn id="226" idx="3"/>
            <a:endCxn id="231" idx="1"/>
          </p:cNvCxnSpPr>
          <p:nvPr/>
        </p:nvCxnSpPr>
        <p:spPr>
          <a:xfrm>
            <a:off x="3773750" y="2237800"/>
            <a:ext cx="752400" cy="0"/>
          </a:xfrm>
          <a:prstGeom prst="straightConnector1">
            <a:avLst/>
          </a:prstGeom>
          <a:noFill/>
          <a:ln cap="flat" cmpd="sng" w="19050">
            <a:solidFill>
              <a:schemeClr val="dk1"/>
            </a:solidFill>
            <a:prstDash val="solid"/>
            <a:round/>
            <a:headEnd len="med" w="med" type="none"/>
            <a:tailEnd len="med" w="med" type="triangle"/>
          </a:ln>
        </p:spPr>
      </p:cxnSp>
      <p:grpSp>
        <p:nvGrpSpPr>
          <p:cNvPr id="232" name="Google Shape;232;p28"/>
          <p:cNvGrpSpPr/>
          <p:nvPr/>
        </p:nvGrpSpPr>
        <p:grpSpPr>
          <a:xfrm>
            <a:off x="4526000" y="1182775"/>
            <a:ext cx="4145100" cy="1747725"/>
            <a:chOff x="4526000" y="1182775"/>
            <a:chExt cx="4145100" cy="1747725"/>
          </a:xfrm>
        </p:grpSpPr>
        <p:sp>
          <p:nvSpPr>
            <p:cNvPr id="233" name="Google Shape;233;p28"/>
            <p:cNvSpPr txBox="1"/>
            <p:nvPr/>
          </p:nvSpPr>
          <p:spPr>
            <a:xfrm>
              <a:off x="4526000" y="1182775"/>
              <a:ext cx="342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Backend</a:t>
              </a:r>
              <a:endParaRPr/>
            </a:p>
          </p:txBody>
        </p:sp>
        <p:sp>
          <p:nvSpPr>
            <p:cNvPr id="231" name="Google Shape;231;p28"/>
            <p:cNvSpPr/>
            <p:nvPr/>
          </p:nvSpPr>
          <p:spPr>
            <a:xfrm>
              <a:off x="4526000" y="1545100"/>
              <a:ext cx="4145100" cy="1385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Send this file to the user:</a:t>
              </a:r>
              <a:endParaRPr>
                <a:solidFill>
                  <a:schemeClr val="dk1"/>
                </a:solidFill>
              </a:endParaRPr>
            </a:p>
            <a:p>
              <a:pPr indent="0" lvl="0" marL="0" rtl="0" algn="l">
                <a:spcBef>
                  <a:spcPts val="0"/>
                </a:spcBef>
                <a:spcAft>
                  <a:spcPts val="0"/>
                </a:spcAft>
                <a:buNone/>
              </a:pPr>
              <a:r>
                <a:rPr b="1" lang="en">
                  <a:solidFill>
                    <a:schemeClr val="dk1"/>
                  </a:solidFill>
                  <a:latin typeface="Courier New"/>
                  <a:ea typeface="Courier New"/>
                  <a:cs typeface="Courier New"/>
                  <a:sym typeface="Courier New"/>
                </a:rPr>
                <a:t>/home/public/</a:t>
              </a:r>
              <a:r>
                <a:rPr b="1" lang="en">
                  <a:solidFill>
                    <a:srgbClr val="FF0000"/>
                  </a:solidFill>
                  <a:latin typeface="Courier New"/>
                  <a:ea typeface="Courier New"/>
                  <a:cs typeface="Courier New"/>
                  <a:sym typeface="Courier New"/>
                </a:rPr>
                <a:t>../private/passwords.txt</a:t>
              </a:r>
              <a:endParaRPr/>
            </a:p>
          </p:txBody>
        </p:sp>
      </p:grpSp>
      <p:sp>
        <p:nvSpPr>
          <p:cNvPr id="234" name="Google Shape;234;p28"/>
          <p:cNvSpPr/>
          <p:nvPr/>
        </p:nvSpPr>
        <p:spPr>
          <a:xfrm>
            <a:off x="4185950" y="3372975"/>
            <a:ext cx="4474500" cy="166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8"/>
          <p:cNvSpPr txBox="1"/>
          <p:nvPr/>
        </p:nvSpPr>
        <p:spPr>
          <a:xfrm>
            <a:off x="6354150" y="3327025"/>
            <a:ext cx="64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home</a:t>
            </a:r>
            <a:endParaRPr b="1">
              <a:latin typeface="Courier New"/>
              <a:ea typeface="Courier New"/>
              <a:cs typeface="Courier New"/>
              <a:sym typeface="Courier New"/>
            </a:endParaRPr>
          </a:p>
        </p:txBody>
      </p:sp>
      <p:sp>
        <p:nvSpPr>
          <p:cNvPr id="236" name="Google Shape;236;p28"/>
          <p:cNvSpPr txBox="1"/>
          <p:nvPr/>
        </p:nvSpPr>
        <p:spPr>
          <a:xfrm>
            <a:off x="5136700" y="3936225"/>
            <a:ext cx="88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public</a:t>
            </a:r>
            <a:endParaRPr b="1">
              <a:latin typeface="Courier New"/>
              <a:ea typeface="Courier New"/>
              <a:cs typeface="Courier New"/>
              <a:sym typeface="Courier New"/>
            </a:endParaRPr>
          </a:p>
        </p:txBody>
      </p:sp>
      <p:sp>
        <p:nvSpPr>
          <p:cNvPr id="237" name="Google Shape;237;p28"/>
          <p:cNvSpPr txBox="1"/>
          <p:nvPr/>
        </p:nvSpPr>
        <p:spPr>
          <a:xfrm>
            <a:off x="7325300" y="3936225"/>
            <a:ext cx="100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private</a:t>
            </a:r>
            <a:endParaRPr b="1">
              <a:latin typeface="Courier New"/>
              <a:ea typeface="Courier New"/>
              <a:cs typeface="Courier New"/>
              <a:sym typeface="Courier New"/>
            </a:endParaRPr>
          </a:p>
        </p:txBody>
      </p:sp>
      <p:sp>
        <p:nvSpPr>
          <p:cNvPr id="238" name="Google Shape;238;p28"/>
          <p:cNvSpPr txBox="1"/>
          <p:nvPr/>
        </p:nvSpPr>
        <p:spPr>
          <a:xfrm>
            <a:off x="4152675" y="4602100"/>
            <a:ext cx="136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evanbot.jpg</a:t>
            </a:r>
            <a:endParaRPr b="1">
              <a:latin typeface="Courier New"/>
              <a:ea typeface="Courier New"/>
              <a:cs typeface="Courier New"/>
              <a:sym typeface="Courier New"/>
            </a:endParaRPr>
          </a:p>
        </p:txBody>
      </p:sp>
      <p:sp>
        <p:nvSpPr>
          <p:cNvPr id="239" name="Google Shape;239;p28"/>
          <p:cNvSpPr txBox="1"/>
          <p:nvPr/>
        </p:nvSpPr>
        <p:spPr>
          <a:xfrm>
            <a:off x="5573238" y="4602100"/>
            <a:ext cx="136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codabot.jpg</a:t>
            </a:r>
            <a:endParaRPr b="1">
              <a:latin typeface="Courier New"/>
              <a:ea typeface="Courier New"/>
              <a:cs typeface="Courier New"/>
              <a:sym typeface="Courier New"/>
            </a:endParaRPr>
          </a:p>
        </p:txBody>
      </p:sp>
      <p:sp>
        <p:nvSpPr>
          <p:cNvPr id="240" name="Google Shape;240;p28"/>
          <p:cNvSpPr txBox="1"/>
          <p:nvPr/>
        </p:nvSpPr>
        <p:spPr>
          <a:xfrm>
            <a:off x="6993800" y="4602100"/>
            <a:ext cx="1666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passwords.txt</a:t>
            </a:r>
            <a:endParaRPr b="1">
              <a:latin typeface="Courier New"/>
              <a:ea typeface="Courier New"/>
              <a:cs typeface="Courier New"/>
              <a:sym typeface="Courier New"/>
            </a:endParaRPr>
          </a:p>
        </p:txBody>
      </p:sp>
      <p:cxnSp>
        <p:nvCxnSpPr>
          <p:cNvPr id="241" name="Google Shape;241;p28"/>
          <p:cNvCxnSpPr>
            <a:stCxn id="235" idx="2"/>
            <a:endCxn id="236" idx="0"/>
          </p:cNvCxnSpPr>
          <p:nvPr/>
        </p:nvCxnSpPr>
        <p:spPr>
          <a:xfrm flipH="1">
            <a:off x="5577900" y="3727225"/>
            <a:ext cx="1096800" cy="209100"/>
          </a:xfrm>
          <a:prstGeom prst="straightConnector1">
            <a:avLst/>
          </a:prstGeom>
          <a:noFill/>
          <a:ln cap="flat" cmpd="sng" w="9525">
            <a:solidFill>
              <a:schemeClr val="dk2"/>
            </a:solidFill>
            <a:prstDash val="solid"/>
            <a:round/>
            <a:headEnd len="med" w="med" type="none"/>
            <a:tailEnd len="med" w="med" type="none"/>
          </a:ln>
        </p:spPr>
      </p:cxnSp>
      <p:cxnSp>
        <p:nvCxnSpPr>
          <p:cNvPr id="242" name="Google Shape;242;p28"/>
          <p:cNvCxnSpPr>
            <a:stCxn id="235" idx="2"/>
            <a:endCxn id="237" idx="0"/>
          </p:cNvCxnSpPr>
          <p:nvPr/>
        </p:nvCxnSpPr>
        <p:spPr>
          <a:xfrm>
            <a:off x="6674700" y="3727225"/>
            <a:ext cx="1152300" cy="209100"/>
          </a:xfrm>
          <a:prstGeom prst="straightConnector1">
            <a:avLst/>
          </a:prstGeom>
          <a:noFill/>
          <a:ln cap="flat" cmpd="sng" w="9525">
            <a:solidFill>
              <a:schemeClr val="dk2"/>
            </a:solidFill>
            <a:prstDash val="solid"/>
            <a:round/>
            <a:headEnd len="med" w="med" type="none"/>
            <a:tailEnd len="med" w="med" type="none"/>
          </a:ln>
        </p:spPr>
      </p:cxnSp>
      <p:cxnSp>
        <p:nvCxnSpPr>
          <p:cNvPr id="243" name="Google Shape;243;p28"/>
          <p:cNvCxnSpPr>
            <a:stCxn id="236" idx="2"/>
            <a:endCxn id="238" idx="0"/>
          </p:cNvCxnSpPr>
          <p:nvPr/>
        </p:nvCxnSpPr>
        <p:spPr>
          <a:xfrm flipH="1">
            <a:off x="4834150" y="4336425"/>
            <a:ext cx="743700" cy="265800"/>
          </a:xfrm>
          <a:prstGeom prst="straightConnector1">
            <a:avLst/>
          </a:prstGeom>
          <a:noFill/>
          <a:ln cap="flat" cmpd="sng" w="9525">
            <a:solidFill>
              <a:schemeClr val="dk2"/>
            </a:solidFill>
            <a:prstDash val="solid"/>
            <a:round/>
            <a:headEnd len="med" w="med" type="none"/>
            <a:tailEnd len="med" w="med" type="none"/>
          </a:ln>
        </p:spPr>
      </p:cxnSp>
      <p:cxnSp>
        <p:nvCxnSpPr>
          <p:cNvPr id="244" name="Google Shape;244;p28"/>
          <p:cNvCxnSpPr>
            <a:stCxn id="236" idx="2"/>
            <a:endCxn id="239" idx="0"/>
          </p:cNvCxnSpPr>
          <p:nvPr/>
        </p:nvCxnSpPr>
        <p:spPr>
          <a:xfrm>
            <a:off x="5577850" y="4336425"/>
            <a:ext cx="677100" cy="265800"/>
          </a:xfrm>
          <a:prstGeom prst="straightConnector1">
            <a:avLst/>
          </a:prstGeom>
          <a:noFill/>
          <a:ln cap="flat" cmpd="sng" w="9525">
            <a:solidFill>
              <a:schemeClr val="dk2"/>
            </a:solidFill>
            <a:prstDash val="solid"/>
            <a:round/>
            <a:headEnd len="med" w="med" type="none"/>
            <a:tailEnd len="med" w="med" type="none"/>
          </a:ln>
        </p:spPr>
      </p:cxnSp>
      <p:cxnSp>
        <p:nvCxnSpPr>
          <p:cNvPr id="245" name="Google Shape;245;p28"/>
          <p:cNvCxnSpPr>
            <a:stCxn id="237" idx="2"/>
            <a:endCxn id="240" idx="0"/>
          </p:cNvCxnSpPr>
          <p:nvPr/>
        </p:nvCxnSpPr>
        <p:spPr>
          <a:xfrm>
            <a:off x="7827050" y="4336425"/>
            <a:ext cx="0" cy="265800"/>
          </a:xfrm>
          <a:prstGeom prst="straightConnector1">
            <a:avLst/>
          </a:prstGeom>
          <a:noFill/>
          <a:ln cap="flat" cmpd="sng" w="9525">
            <a:solidFill>
              <a:schemeClr val="dk2"/>
            </a:solidFill>
            <a:prstDash val="solid"/>
            <a:round/>
            <a:headEnd len="med" w="med" type="none"/>
            <a:tailEnd len="med" w="med" type="none"/>
          </a:ln>
        </p:spPr>
      </p:cxnSp>
      <p:sp>
        <p:nvSpPr>
          <p:cNvPr id="246" name="Google Shape;246;p28"/>
          <p:cNvSpPr txBox="1"/>
          <p:nvPr/>
        </p:nvSpPr>
        <p:spPr>
          <a:xfrm>
            <a:off x="4130200" y="3003050"/>
            <a:ext cx="342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Backend Filesystem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Path Traversal Attacks</a:t>
            </a:r>
            <a:endParaRPr/>
          </a:p>
        </p:txBody>
      </p:sp>
      <p:sp>
        <p:nvSpPr>
          <p:cNvPr id="252" name="Google Shape;252;p2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Path traversal attack</a:t>
            </a:r>
            <a:r>
              <a:rPr lang="en"/>
              <a:t>: Accessing unauthorized files on a remote server by exploiting Unix file path semantics</a:t>
            </a:r>
            <a:endParaRPr/>
          </a:p>
          <a:p>
            <a:pPr indent="-317500" lvl="1" marL="914400" rtl="0" algn="l">
              <a:spcBef>
                <a:spcPts val="0"/>
              </a:spcBef>
              <a:spcAft>
                <a:spcPts val="0"/>
              </a:spcAft>
              <a:buSzPts val="1400"/>
              <a:buChar char="○"/>
            </a:pPr>
            <a:r>
              <a:rPr lang="en"/>
              <a:t>Often makes use of </a:t>
            </a:r>
            <a:r>
              <a:rPr b="1" lang="en">
                <a:latin typeface="Courier New"/>
                <a:ea typeface="Courier New"/>
                <a:cs typeface="Courier New"/>
                <a:sym typeface="Courier New"/>
              </a:rPr>
              <a:t>../</a:t>
            </a:r>
            <a:r>
              <a:rPr lang="en"/>
              <a:t> to enter other directories</a:t>
            </a:r>
            <a:endParaRPr/>
          </a:p>
          <a:p>
            <a:pPr indent="-317500" lvl="1" marL="914400" rtl="0" algn="l">
              <a:spcBef>
                <a:spcPts val="0"/>
              </a:spcBef>
              <a:spcAft>
                <a:spcPts val="0"/>
              </a:spcAft>
              <a:buSzPts val="1400"/>
              <a:buChar char="○"/>
            </a:pPr>
            <a:r>
              <a:rPr lang="en"/>
              <a:t>Vulnerability: User input is interpreted as a file path by the Unix file system</a:t>
            </a:r>
            <a:endParaRPr/>
          </a:p>
          <a:p>
            <a:pPr indent="-342900" lvl="0" marL="457200" rtl="0" algn="l">
              <a:spcBef>
                <a:spcPts val="0"/>
              </a:spcBef>
              <a:spcAft>
                <a:spcPts val="0"/>
              </a:spcAft>
              <a:buSzPts val="1800"/>
              <a:buChar char="●"/>
            </a:pPr>
            <a:r>
              <a:rPr lang="en"/>
              <a:t>Defense: Check that user input is not interpreted as a file path</a:t>
            </a:r>
            <a:endParaRPr/>
          </a:p>
        </p:txBody>
      </p:sp>
      <p:sp>
        <p:nvSpPr>
          <p:cNvPr id="253" name="Google Shape;25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Types of Detectors</a:t>
            </a:r>
            <a:endParaRPr/>
          </a:p>
        </p:txBody>
      </p:sp>
      <p:sp>
        <p:nvSpPr>
          <p:cNvPr id="259" name="Google Shape;25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Detectors</a:t>
            </a:r>
            <a:endParaRPr/>
          </a:p>
        </p:txBody>
      </p:sp>
      <p:sp>
        <p:nvSpPr>
          <p:cNvPr id="265" name="Google Shape;265;p3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Three types of detectors</a:t>
            </a:r>
            <a:endParaRPr/>
          </a:p>
          <a:p>
            <a:pPr indent="-317500" lvl="1" marL="914400" rtl="0" algn="l">
              <a:spcBef>
                <a:spcPts val="0"/>
              </a:spcBef>
              <a:spcAft>
                <a:spcPts val="0"/>
              </a:spcAft>
              <a:buSzPts val="1400"/>
              <a:buChar char="○"/>
            </a:pPr>
            <a:r>
              <a:rPr lang="en"/>
              <a:t>Network Intrusion Detection System (NIDS)</a:t>
            </a:r>
            <a:endParaRPr/>
          </a:p>
          <a:p>
            <a:pPr indent="-317500" lvl="1" marL="914400" rtl="0" algn="l">
              <a:spcBef>
                <a:spcPts val="0"/>
              </a:spcBef>
              <a:spcAft>
                <a:spcPts val="0"/>
              </a:spcAft>
              <a:buSzPts val="1400"/>
              <a:buChar char="○"/>
            </a:pPr>
            <a:r>
              <a:rPr lang="en"/>
              <a:t>Host-based Instruction Detection System (HIDS)</a:t>
            </a:r>
            <a:endParaRPr/>
          </a:p>
          <a:p>
            <a:pPr indent="-317500" lvl="1" marL="914400" rtl="0" algn="l">
              <a:spcBef>
                <a:spcPts val="0"/>
              </a:spcBef>
              <a:spcAft>
                <a:spcPts val="0"/>
              </a:spcAft>
              <a:buSzPts val="1400"/>
              <a:buChar char="○"/>
            </a:pPr>
            <a:r>
              <a:rPr lang="en"/>
              <a:t>Logging</a:t>
            </a:r>
            <a:endParaRPr/>
          </a:p>
          <a:p>
            <a:pPr indent="-342900" lvl="0" marL="457200" rtl="0" algn="l">
              <a:spcBef>
                <a:spcPts val="0"/>
              </a:spcBef>
              <a:spcAft>
                <a:spcPts val="0"/>
              </a:spcAft>
              <a:buSzPts val="1800"/>
              <a:buChar char="●"/>
            </a:pPr>
            <a:r>
              <a:rPr lang="en"/>
              <a:t>The main difference is where the detector is deployed</a:t>
            </a:r>
            <a:endParaRPr/>
          </a:p>
        </p:txBody>
      </p:sp>
      <p:sp>
        <p:nvSpPr>
          <p:cNvPr id="266" name="Google Shape;266;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Structure of a Network</a:t>
            </a:r>
            <a:endParaRPr/>
          </a:p>
        </p:txBody>
      </p:sp>
      <p:sp>
        <p:nvSpPr>
          <p:cNvPr id="272" name="Google Shape;27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32"/>
          <p:cNvSpPr/>
          <p:nvPr/>
        </p:nvSpPr>
        <p:spPr>
          <a:xfrm>
            <a:off x="6384950" y="2513900"/>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Server</a:t>
            </a:r>
            <a:endParaRPr/>
          </a:p>
        </p:txBody>
      </p:sp>
      <p:sp>
        <p:nvSpPr>
          <p:cNvPr id="274" name="Google Shape;274;p32"/>
          <p:cNvSpPr/>
          <p:nvPr/>
        </p:nvSpPr>
        <p:spPr>
          <a:xfrm>
            <a:off x="6384950" y="3374700"/>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Employee Computer</a:t>
            </a:r>
            <a:endParaRPr/>
          </a:p>
        </p:txBody>
      </p:sp>
      <p:sp>
        <p:nvSpPr>
          <p:cNvPr id="275" name="Google Shape;275;p32"/>
          <p:cNvSpPr/>
          <p:nvPr/>
        </p:nvSpPr>
        <p:spPr>
          <a:xfrm>
            <a:off x="6384950" y="4235500"/>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Employee Computer</a:t>
            </a:r>
            <a:endParaRPr/>
          </a:p>
        </p:txBody>
      </p:sp>
      <p:sp>
        <p:nvSpPr>
          <p:cNvPr id="276" name="Google Shape;276;p32"/>
          <p:cNvSpPr/>
          <p:nvPr/>
        </p:nvSpPr>
        <p:spPr>
          <a:xfrm>
            <a:off x="2883475" y="3035875"/>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Border Router</a:t>
            </a:r>
            <a:endParaRPr/>
          </a:p>
        </p:txBody>
      </p:sp>
      <p:cxnSp>
        <p:nvCxnSpPr>
          <p:cNvPr id="277" name="Google Shape;277;p32"/>
          <p:cNvCxnSpPr>
            <a:stCxn id="273" idx="1"/>
            <a:endCxn id="276" idx="3"/>
          </p:cNvCxnSpPr>
          <p:nvPr/>
        </p:nvCxnSpPr>
        <p:spPr>
          <a:xfrm flipH="1">
            <a:off x="4011350" y="2835500"/>
            <a:ext cx="2373600" cy="522000"/>
          </a:xfrm>
          <a:prstGeom prst="straightConnector1">
            <a:avLst/>
          </a:prstGeom>
          <a:noFill/>
          <a:ln cap="flat" cmpd="sng" w="9525">
            <a:solidFill>
              <a:schemeClr val="dk2"/>
            </a:solidFill>
            <a:prstDash val="solid"/>
            <a:round/>
            <a:headEnd len="med" w="med" type="none"/>
            <a:tailEnd len="med" w="med" type="none"/>
          </a:ln>
        </p:spPr>
      </p:cxnSp>
      <p:cxnSp>
        <p:nvCxnSpPr>
          <p:cNvPr id="278" name="Google Shape;278;p32"/>
          <p:cNvCxnSpPr>
            <a:stCxn id="274" idx="1"/>
            <a:endCxn id="276" idx="3"/>
          </p:cNvCxnSpPr>
          <p:nvPr/>
        </p:nvCxnSpPr>
        <p:spPr>
          <a:xfrm rot="10800000">
            <a:off x="4011350" y="3357600"/>
            <a:ext cx="2373600" cy="338700"/>
          </a:xfrm>
          <a:prstGeom prst="straightConnector1">
            <a:avLst/>
          </a:prstGeom>
          <a:noFill/>
          <a:ln cap="flat" cmpd="sng" w="9525">
            <a:solidFill>
              <a:schemeClr val="dk2"/>
            </a:solidFill>
            <a:prstDash val="solid"/>
            <a:round/>
            <a:headEnd len="med" w="med" type="none"/>
            <a:tailEnd len="med" w="med" type="none"/>
          </a:ln>
        </p:spPr>
      </p:cxnSp>
      <p:cxnSp>
        <p:nvCxnSpPr>
          <p:cNvPr id="279" name="Google Shape;279;p32"/>
          <p:cNvCxnSpPr>
            <a:stCxn id="275" idx="1"/>
            <a:endCxn id="276" idx="3"/>
          </p:cNvCxnSpPr>
          <p:nvPr/>
        </p:nvCxnSpPr>
        <p:spPr>
          <a:xfrm rot="10800000">
            <a:off x="4011350" y="3357400"/>
            <a:ext cx="2373600" cy="1199700"/>
          </a:xfrm>
          <a:prstGeom prst="straightConnector1">
            <a:avLst/>
          </a:prstGeom>
          <a:noFill/>
          <a:ln cap="flat" cmpd="sng" w="9525">
            <a:solidFill>
              <a:schemeClr val="dk2"/>
            </a:solidFill>
            <a:prstDash val="solid"/>
            <a:round/>
            <a:headEnd len="med" w="med" type="none"/>
            <a:tailEnd len="med" w="med" type="none"/>
          </a:ln>
        </p:spPr>
      </p:cxnSp>
      <p:sp>
        <p:nvSpPr>
          <p:cNvPr id="280" name="Google Shape;280;p32"/>
          <p:cNvSpPr txBox="1"/>
          <p:nvPr/>
        </p:nvSpPr>
        <p:spPr>
          <a:xfrm>
            <a:off x="2506825" y="1577225"/>
            <a:ext cx="27306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End hosts in the local network send packets to the Internet by sending it to the border router for forwarding</a:t>
            </a:r>
            <a:endParaRPr>
              <a:solidFill>
                <a:srgbClr val="000000"/>
              </a:solidFill>
            </a:endParaRPr>
          </a:p>
        </p:txBody>
      </p:sp>
      <p:sp>
        <p:nvSpPr>
          <p:cNvPr id="281" name="Google Shape;281;p32"/>
          <p:cNvSpPr/>
          <p:nvPr/>
        </p:nvSpPr>
        <p:spPr>
          <a:xfrm>
            <a:off x="258851" y="2675850"/>
            <a:ext cx="1839564" cy="1277316"/>
          </a:xfrm>
          <a:prstGeom prst="cloud">
            <a:avLst/>
          </a:prstGeom>
          <a:solidFill>
            <a:srgbClr val="C9DAF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Internet</a:t>
            </a:r>
            <a:endParaRPr/>
          </a:p>
        </p:txBody>
      </p:sp>
      <p:cxnSp>
        <p:nvCxnSpPr>
          <p:cNvPr id="282" name="Google Shape;282;p32"/>
          <p:cNvCxnSpPr>
            <a:endCxn id="276" idx="1"/>
          </p:cNvCxnSpPr>
          <p:nvPr/>
        </p:nvCxnSpPr>
        <p:spPr>
          <a:xfrm>
            <a:off x="2078875" y="2928475"/>
            <a:ext cx="804600" cy="4290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32"/>
          <p:cNvCxnSpPr>
            <a:endCxn id="276" idx="1"/>
          </p:cNvCxnSpPr>
          <p:nvPr/>
        </p:nvCxnSpPr>
        <p:spPr>
          <a:xfrm flipH="1" rot="10800000">
            <a:off x="1893475" y="3357475"/>
            <a:ext cx="990000" cy="381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Network intrusion detection system</a:t>
            </a:r>
            <a:r>
              <a:rPr lang="en"/>
              <a:t> (</a:t>
            </a:r>
            <a:r>
              <a:rPr b="1" lang="en"/>
              <a:t>NIDS</a:t>
            </a:r>
            <a:r>
              <a:rPr lang="en"/>
              <a:t>): A detector installed on the network, between the local network and the rest of the Internet</a:t>
            </a:r>
            <a:endParaRPr/>
          </a:p>
          <a:p>
            <a:pPr indent="-317500" lvl="1" marL="914400" rtl="0" algn="l">
              <a:spcBef>
                <a:spcPts val="0"/>
              </a:spcBef>
              <a:spcAft>
                <a:spcPts val="0"/>
              </a:spcAft>
              <a:buSzPts val="1400"/>
              <a:buChar char="○"/>
            </a:pPr>
            <a:r>
              <a:rPr lang="en"/>
              <a:t>Monitors network traffic to detect attacks</a:t>
            </a:r>
            <a:endParaRPr/>
          </a:p>
        </p:txBody>
      </p:sp>
      <p:sp>
        <p:nvSpPr>
          <p:cNvPr id="289" name="Google Shape;289;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Network Intrusion Detection System (NIDS)</a:t>
            </a:r>
            <a:endParaRPr/>
          </a:p>
        </p:txBody>
      </p:sp>
      <p:sp>
        <p:nvSpPr>
          <p:cNvPr id="290" name="Google Shape;29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33"/>
          <p:cNvSpPr/>
          <p:nvPr/>
        </p:nvSpPr>
        <p:spPr>
          <a:xfrm>
            <a:off x="6384950" y="2513900"/>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Server</a:t>
            </a:r>
            <a:endParaRPr/>
          </a:p>
        </p:txBody>
      </p:sp>
      <p:sp>
        <p:nvSpPr>
          <p:cNvPr id="292" name="Google Shape;292;p33"/>
          <p:cNvSpPr/>
          <p:nvPr/>
        </p:nvSpPr>
        <p:spPr>
          <a:xfrm>
            <a:off x="6384950" y="3374700"/>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Employee Computer</a:t>
            </a:r>
            <a:endParaRPr/>
          </a:p>
        </p:txBody>
      </p:sp>
      <p:sp>
        <p:nvSpPr>
          <p:cNvPr id="293" name="Google Shape;293;p33"/>
          <p:cNvSpPr/>
          <p:nvPr/>
        </p:nvSpPr>
        <p:spPr>
          <a:xfrm>
            <a:off x="6384950" y="4235500"/>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Employee Computer</a:t>
            </a:r>
            <a:endParaRPr/>
          </a:p>
        </p:txBody>
      </p:sp>
      <p:sp>
        <p:nvSpPr>
          <p:cNvPr id="294" name="Google Shape;294;p33"/>
          <p:cNvSpPr/>
          <p:nvPr/>
        </p:nvSpPr>
        <p:spPr>
          <a:xfrm>
            <a:off x="2883475" y="3035875"/>
            <a:ext cx="1128000" cy="6432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Border Router</a:t>
            </a:r>
            <a:endParaRPr/>
          </a:p>
        </p:txBody>
      </p:sp>
      <p:cxnSp>
        <p:nvCxnSpPr>
          <p:cNvPr id="295" name="Google Shape;295;p33"/>
          <p:cNvCxnSpPr>
            <a:stCxn id="291" idx="1"/>
            <a:endCxn id="294" idx="3"/>
          </p:cNvCxnSpPr>
          <p:nvPr/>
        </p:nvCxnSpPr>
        <p:spPr>
          <a:xfrm flipH="1">
            <a:off x="4011350" y="2835500"/>
            <a:ext cx="2373600" cy="522000"/>
          </a:xfrm>
          <a:prstGeom prst="straightConnector1">
            <a:avLst/>
          </a:prstGeom>
          <a:noFill/>
          <a:ln cap="flat" cmpd="sng" w="9525">
            <a:solidFill>
              <a:schemeClr val="dk2"/>
            </a:solidFill>
            <a:prstDash val="solid"/>
            <a:round/>
            <a:headEnd len="med" w="med" type="none"/>
            <a:tailEnd len="med" w="med" type="none"/>
          </a:ln>
        </p:spPr>
      </p:cxnSp>
      <p:cxnSp>
        <p:nvCxnSpPr>
          <p:cNvPr id="296" name="Google Shape;296;p33"/>
          <p:cNvCxnSpPr>
            <a:stCxn id="292" idx="1"/>
            <a:endCxn id="294" idx="3"/>
          </p:cNvCxnSpPr>
          <p:nvPr/>
        </p:nvCxnSpPr>
        <p:spPr>
          <a:xfrm rot="10800000">
            <a:off x="4011350" y="3357600"/>
            <a:ext cx="2373600" cy="3387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33"/>
          <p:cNvCxnSpPr>
            <a:stCxn id="293" idx="1"/>
            <a:endCxn id="294" idx="3"/>
          </p:cNvCxnSpPr>
          <p:nvPr/>
        </p:nvCxnSpPr>
        <p:spPr>
          <a:xfrm rot="10800000">
            <a:off x="4011350" y="3357400"/>
            <a:ext cx="2373600" cy="1199700"/>
          </a:xfrm>
          <a:prstGeom prst="straightConnector1">
            <a:avLst/>
          </a:prstGeom>
          <a:noFill/>
          <a:ln cap="flat" cmpd="sng" w="9525">
            <a:solidFill>
              <a:schemeClr val="dk2"/>
            </a:solidFill>
            <a:prstDash val="solid"/>
            <a:round/>
            <a:headEnd len="med" w="med" type="none"/>
            <a:tailEnd len="med" w="med" type="none"/>
          </a:ln>
        </p:spPr>
      </p:cxnSp>
      <p:grpSp>
        <p:nvGrpSpPr>
          <p:cNvPr id="298" name="Google Shape;298;p33"/>
          <p:cNvGrpSpPr/>
          <p:nvPr/>
        </p:nvGrpSpPr>
        <p:grpSpPr>
          <a:xfrm>
            <a:off x="2260675" y="3679075"/>
            <a:ext cx="2373600" cy="956625"/>
            <a:chOff x="2260675" y="3679075"/>
            <a:chExt cx="2373600" cy="956625"/>
          </a:xfrm>
        </p:grpSpPr>
        <p:sp>
          <p:nvSpPr>
            <p:cNvPr id="299" name="Google Shape;299;p33"/>
            <p:cNvSpPr txBox="1"/>
            <p:nvPr/>
          </p:nvSpPr>
          <p:spPr>
            <a:xfrm>
              <a:off x="2260675" y="4235500"/>
              <a:ext cx="23736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NIDS: put the detector here</a:t>
              </a:r>
              <a:endParaRPr>
                <a:solidFill>
                  <a:srgbClr val="000000"/>
                </a:solidFill>
              </a:endParaRPr>
            </a:p>
          </p:txBody>
        </p:sp>
        <p:cxnSp>
          <p:nvCxnSpPr>
            <p:cNvPr id="300" name="Google Shape;300;p33"/>
            <p:cNvCxnSpPr>
              <a:endCxn id="294" idx="2"/>
            </p:cNvCxnSpPr>
            <p:nvPr/>
          </p:nvCxnSpPr>
          <p:spPr>
            <a:xfrm rot="10800000">
              <a:off x="3447475" y="3679075"/>
              <a:ext cx="0" cy="556500"/>
            </a:xfrm>
            <a:prstGeom prst="straightConnector1">
              <a:avLst/>
            </a:prstGeom>
            <a:noFill/>
            <a:ln cap="flat" cmpd="sng" w="19050">
              <a:solidFill>
                <a:srgbClr val="E69138"/>
              </a:solidFill>
              <a:prstDash val="solid"/>
              <a:round/>
              <a:headEnd len="med" w="med" type="none"/>
              <a:tailEnd len="med" w="med" type="triangle"/>
            </a:ln>
          </p:spPr>
        </p:cxnSp>
      </p:grpSp>
      <p:cxnSp>
        <p:nvCxnSpPr>
          <p:cNvPr id="301" name="Google Shape;301;p33"/>
          <p:cNvCxnSpPr>
            <a:endCxn id="294" idx="1"/>
          </p:cNvCxnSpPr>
          <p:nvPr/>
        </p:nvCxnSpPr>
        <p:spPr>
          <a:xfrm>
            <a:off x="2078875" y="2928475"/>
            <a:ext cx="804600" cy="429000"/>
          </a:xfrm>
          <a:prstGeom prst="straightConnector1">
            <a:avLst/>
          </a:prstGeom>
          <a:noFill/>
          <a:ln cap="flat" cmpd="sng" w="9525">
            <a:solidFill>
              <a:schemeClr val="dk2"/>
            </a:solidFill>
            <a:prstDash val="solid"/>
            <a:round/>
            <a:headEnd len="med" w="med" type="none"/>
            <a:tailEnd len="med" w="med" type="none"/>
          </a:ln>
        </p:spPr>
      </p:cxnSp>
      <p:cxnSp>
        <p:nvCxnSpPr>
          <p:cNvPr id="302" name="Google Shape;302;p33"/>
          <p:cNvCxnSpPr>
            <a:endCxn id="294" idx="1"/>
          </p:cNvCxnSpPr>
          <p:nvPr/>
        </p:nvCxnSpPr>
        <p:spPr>
          <a:xfrm flipH="1" rot="10800000">
            <a:off x="1893475" y="3357475"/>
            <a:ext cx="990000" cy="381000"/>
          </a:xfrm>
          <a:prstGeom prst="straightConnector1">
            <a:avLst/>
          </a:prstGeom>
          <a:noFill/>
          <a:ln cap="flat" cmpd="sng" w="9525">
            <a:solidFill>
              <a:schemeClr val="dk2"/>
            </a:solidFill>
            <a:prstDash val="solid"/>
            <a:round/>
            <a:headEnd len="med" w="med" type="none"/>
            <a:tailEnd len="med" w="med" type="none"/>
          </a:ln>
        </p:spPr>
      </p:cxnSp>
      <p:sp>
        <p:nvSpPr>
          <p:cNvPr id="303" name="Google Shape;303;p33"/>
          <p:cNvSpPr/>
          <p:nvPr/>
        </p:nvSpPr>
        <p:spPr>
          <a:xfrm>
            <a:off x="258851" y="2675850"/>
            <a:ext cx="1839564" cy="1277316"/>
          </a:xfrm>
          <a:prstGeom prst="cloud">
            <a:avLst/>
          </a:prstGeom>
          <a:solidFill>
            <a:srgbClr val="C9DAF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Internet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Network Intrusion Detection System (NIDS)</a:t>
            </a:r>
            <a:endParaRPr/>
          </a:p>
        </p:txBody>
      </p:sp>
      <p:sp>
        <p:nvSpPr>
          <p:cNvPr id="309" name="Google Shape;309;p3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Operation:</a:t>
            </a:r>
            <a:endParaRPr/>
          </a:p>
          <a:p>
            <a:pPr indent="-317500" lvl="1" marL="914400" rtl="0" algn="l">
              <a:spcBef>
                <a:spcPts val="0"/>
              </a:spcBef>
              <a:spcAft>
                <a:spcPts val="0"/>
              </a:spcAft>
              <a:buSzPts val="1400"/>
              <a:buChar char="○"/>
            </a:pPr>
            <a:r>
              <a:rPr lang="en"/>
              <a:t>NIDS has a table of all active connections and maintains state for each connection</a:t>
            </a:r>
            <a:endParaRPr/>
          </a:p>
          <a:p>
            <a:pPr indent="-317500" lvl="1" marL="914400" rtl="0" algn="l">
              <a:spcBef>
                <a:spcPts val="0"/>
              </a:spcBef>
              <a:spcAft>
                <a:spcPts val="0"/>
              </a:spcAft>
              <a:buSzPts val="1400"/>
              <a:buChar char="○"/>
            </a:pPr>
            <a:r>
              <a:rPr lang="en"/>
              <a:t>If the NIDS sees a packet not associated with any known connection, create a new entry in the table</a:t>
            </a:r>
            <a:endParaRPr/>
          </a:p>
          <a:p>
            <a:pPr indent="-317500" lvl="2" marL="1371600" rtl="0" algn="l">
              <a:spcBef>
                <a:spcPts val="0"/>
              </a:spcBef>
              <a:spcAft>
                <a:spcPts val="0"/>
              </a:spcAft>
              <a:buSzPts val="1400"/>
              <a:buChar char="■"/>
            </a:pPr>
            <a:r>
              <a:rPr lang="en"/>
              <a:t>Example: A connection that started before the NIDS started running</a:t>
            </a:r>
            <a:endParaRPr/>
          </a:p>
          <a:p>
            <a:pPr indent="-317500" lvl="1" marL="914400" rtl="0" algn="l">
              <a:spcBef>
                <a:spcPts val="0"/>
              </a:spcBef>
              <a:spcAft>
                <a:spcPts val="0"/>
              </a:spcAft>
              <a:buSzPts val="1400"/>
              <a:buChar char="○"/>
            </a:pPr>
            <a:r>
              <a:rPr lang="en"/>
              <a:t>NIDS can be used for more sophisticated network monitoring: not only detect attacks, but analyze and understand all the network traffic</a:t>
            </a:r>
            <a:endParaRPr/>
          </a:p>
        </p:txBody>
      </p:sp>
      <p:sp>
        <p:nvSpPr>
          <p:cNvPr id="310" name="Google Shape;310;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NIDS: Benefits</a:t>
            </a:r>
            <a:endParaRPr/>
          </a:p>
        </p:txBody>
      </p:sp>
      <p:sp>
        <p:nvSpPr>
          <p:cNvPr id="316" name="Google Shape;316;p3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Cheap: A single detector can cover a lot of systems</a:t>
            </a:r>
            <a:endParaRPr/>
          </a:p>
          <a:p>
            <a:pPr indent="-342900" lvl="0" marL="457200" rtl="0" algn="l">
              <a:spcBef>
                <a:spcPts val="0"/>
              </a:spcBef>
              <a:spcAft>
                <a:spcPts val="0"/>
              </a:spcAft>
              <a:buSzPts val="1800"/>
              <a:buChar char="●"/>
            </a:pPr>
            <a:r>
              <a:rPr lang="en"/>
              <a:t>Easy to scale: As the network gets larger, add computing power to the NIDS</a:t>
            </a:r>
            <a:endParaRPr/>
          </a:p>
          <a:p>
            <a:pPr indent="-317500" lvl="1" marL="914400" rtl="0" algn="l">
              <a:spcBef>
                <a:spcPts val="0"/>
              </a:spcBef>
              <a:spcAft>
                <a:spcPts val="0"/>
              </a:spcAft>
              <a:buSzPts val="1400"/>
              <a:buChar char="○"/>
            </a:pPr>
            <a:r>
              <a:rPr lang="en"/>
              <a:t>Linear scaling: Investing twice as much money gives twice as much bandwidth</a:t>
            </a:r>
            <a:endParaRPr/>
          </a:p>
          <a:p>
            <a:pPr indent="-342900" lvl="0" marL="457200" rtl="0" algn="l">
              <a:spcBef>
                <a:spcPts val="0"/>
              </a:spcBef>
              <a:spcAft>
                <a:spcPts val="0"/>
              </a:spcAft>
              <a:buSzPts val="1800"/>
              <a:buChar char="●"/>
            </a:pPr>
            <a:r>
              <a:rPr lang="en"/>
              <a:t>Simple management: Easy to install and manage a single detector</a:t>
            </a:r>
            <a:endParaRPr/>
          </a:p>
          <a:p>
            <a:pPr indent="-342900" lvl="0" marL="457200" rtl="0" algn="l">
              <a:spcBef>
                <a:spcPts val="0"/>
              </a:spcBef>
              <a:spcAft>
                <a:spcPts val="0"/>
              </a:spcAft>
              <a:buSzPts val="1800"/>
              <a:buChar char="●"/>
            </a:pPr>
            <a:r>
              <a:rPr lang="en"/>
              <a:t>End systems are unaffected</a:t>
            </a:r>
            <a:endParaRPr/>
          </a:p>
          <a:p>
            <a:pPr indent="-317500" lvl="1" marL="914400" rtl="0" algn="l">
              <a:spcBef>
                <a:spcPts val="0"/>
              </a:spcBef>
              <a:spcAft>
                <a:spcPts val="0"/>
              </a:spcAft>
              <a:buSzPts val="1400"/>
              <a:buChar char="○"/>
            </a:pPr>
            <a:r>
              <a:rPr lang="en"/>
              <a:t>Doesn’t consume any resources on end systems</a:t>
            </a:r>
            <a:endParaRPr/>
          </a:p>
          <a:p>
            <a:pPr indent="-317500" lvl="1" marL="914400" rtl="0" algn="l">
              <a:spcBef>
                <a:spcPts val="0"/>
              </a:spcBef>
              <a:spcAft>
                <a:spcPts val="0"/>
              </a:spcAft>
              <a:buSzPts val="1400"/>
              <a:buChar char="○"/>
            </a:pPr>
            <a:r>
              <a:rPr lang="en"/>
              <a:t>Useful for adding security on an existing system</a:t>
            </a:r>
            <a:endParaRPr/>
          </a:p>
          <a:p>
            <a:pPr indent="-342900" lvl="0" marL="457200" rtl="0" algn="l">
              <a:spcBef>
                <a:spcPts val="0"/>
              </a:spcBef>
              <a:spcAft>
                <a:spcPts val="0"/>
              </a:spcAft>
              <a:buSzPts val="1800"/>
              <a:buChar char="●"/>
            </a:pPr>
            <a:r>
              <a:rPr lang="en"/>
              <a:t>Smaller trusted computing base (TCB)</a:t>
            </a:r>
            <a:endParaRPr/>
          </a:p>
          <a:p>
            <a:pPr indent="-317500" lvl="1" marL="914400" rtl="0" algn="l">
              <a:spcBef>
                <a:spcPts val="0"/>
              </a:spcBef>
              <a:spcAft>
                <a:spcPts val="0"/>
              </a:spcAft>
              <a:buSzPts val="1400"/>
              <a:buChar char="○"/>
            </a:pPr>
            <a:r>
              <a:rPr lang="en"/>
              <a:t>Only the detector needs to be trusted</a:t>
            </a:r>
            <a:endParaRPr/>
          </a:p>
        </p:txBody>
      </p:sp>
      <p:sp>
        <p:nvSpPr>
          <p:cNvPr id="317" name="Google Shape;31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NIDS: Drawbacks</a:t>
            </a:r>
            <a:endParaRPr/>
          </a:p>
        </p:txBody>
      </p:sp>
      <p:sp>
        <p:nvSpPr>
          <p:cNvPr id="323" name="Google Shape;323;p3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Inconsistent or ambiguous interpretation between the detector and the end host</a:t>
            </a:r>
            <a:endParaRPr/>
          </a:p>
          <a:p>
            <a:pPr indent="-342900" lvl="0" marL="457200" rtl="0" algn="l">
              <a:spcBef>
                <a:spcPts val="0"/>
              </a:spcBef>
              <a:spcAft>
                <a:spcPts val="0"/>
              </a:spcAft>
              <a:buSzPts val="1800"/>
              <a:buChar char="●"/>
            </a:pPr>
            <a:r>
              <a:rPr lang="en"/>
              <a:t>How does the NIDS monitor encrypted traffic?</a:t>
            </a:r>
            <a:endParaRPr/>
          </a:p>
        </p:txBody>
      </p:sp>
      <p:sp>
        <p:nvSpPr>
          <p:cNvPr id="324" name="Google Shape;32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Drawback: Inconsistent Interpretation</a:t>
            </a:r>
            <a:endParaRPr/>
          </a:p>
        </p:txBody>
      </p:sp>
      <p:sp>
        <p:nvSpPr>
          <p:cNvPr id="330" name="Google Shape;330;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37"/>
          <p:cNvSpPr/>
          <p:nvPr/>
        </p:nvSpPr>
        <p:spPr>
          <a:xfrm>
            <a:off x="6976350" y="2869100"/>
            <a:ext cx="1228800" cy="1155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NIDS</a:t>
            </a:r>
            <a:endParaRPr/>
          </a:p>
        </p:txBody>
      </p:sp>
      <p:cxnSp>
        <p:nvCxnSpPr>
          <p:cNvPr id="332" name="Google Shape;332;p37"/>
          <p:cNvCxnSpPr/>
          <p:nvPr/>
        </p:nvCxnSpPr>
        <p:spPr>
          <a:xfrm>
            <a:off x="6512250" y="2456300"/>
            <a:ext cx="2239500" cy="0"/>
          </a:xfrm>
          <a:prstGeom prst="straightConnector1">
            <a:avLst/>
          </a:prstGeom>
          <a:noFill/>
          <a:ln cap="flat" cmpd="sng" w="9525">
            <a:solidFill>
              <a:schemeClr val="dk2"/>
            </a:solidFill>
            <a:prstDash val="solid"/>
            <a:round/>
            <a:headEnd len="med" w="med" type="none"/>
            <a:tailEnd len="med" w="med" type="triangle"/>
          </a:ln>
        </p:spPr>
      </p:cxnSp>
      <p:sp>
        <p:nvSpPr>
          <p:cNvPr id="333" name="Google Shape;333;p37"/>
          <p:cNvSpPr txBox="1"/>
          <p:nvPr/>
        </p:nvSpPr>
        <p:spPr>
          <a:xfrm>
            <a:off x="6512250" y="2056100"/>
            <a:ext cx="2157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../etc/passwd</a:t>
            </a:r>
            <a:endParaRPr b="1">
              <a:latin typeface="Courier New"/>
              <a:ea typeface="Courier New"/>
              <a:cs typeface="Courier New"/>
              <a:sym typeface="Courier New"/>
            </a:endParaRPr>
          </a:p>
        </p:txBody>
      </p:sp>
      <p:sp>
        <p:nvSpPr>
          <p:cNvPr id="334" name="Google Shape;334;p3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should the NIDS do if it sees this packet?</a:t>
            </a:r>
            <a:endParaRPr/>
          </a:p>
          <a:p>
            <a:pPr indent="-342900" lvl="0" marL="457200" rtl="0" algn="l">
              <a:spcBef>
                <a:spcPts val="0"/>
              </a:spcBef>
              <a:spcAft>
                <a:spcPts val="0"/>
              </a:spcAft>
              <a:buSzPts val="1800"/>
              <a:buChar char="●"/>
            </a:pPr>
            <a:r>
              <a:rPr lang="en"/>
              <a:t>This looks like a path traversal attack… Maybe it should alert</a:t>
            </a:r>
            <a:endParaRPr/>
          </a:p>
          <a:p>
            <a:pPr indent="-342900" lvl="0" marL="457200" rtl="0" algn="l">
              <a:spcBef>
                <a:spcPts val="0"/>
              </a:spcBef>
              <a:spcAft>
                <a:spcPts val="0"/>
              </a:spcAft>
              <a:buSzPts val="1800"/>
              <a:buChar char="●"/>
            </a:pPr>
            <a:r>
              <a:rPr lang="en"/>
              <a:t>What if the packet’s TTL expires before it reaches any end host?</a:t>
            </a:r>
            <a:endParaRPr/>
          </a:p>
          <a:p>
            <a:pPr indent="-342900" lvl="0" marL="457200" rtl="0" algn="l">
              <a:spcBef>
                <a:spcPts val="0"/>
              </a:spcBef>
              <a:spcAft>
                <a:spcPts val="0"/>
              </a:spcAft>
              <a:buSzPts val="1800"/>
              <a:buChar char="●"/>
            </a:pPr>
            <a:r>
              <a:rPr lang="en"/>
              <a:t>Problem: What the NIDS sees doesn’t exactly match what arrives at the end system</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Drawback: Inconsistent Interpretation</a:t>
            </a:r>
            <a:endParaRPr/>
          </a:p>
        </p:txBody>
      </p:sp>
      <p:sp>
        <p:nvSpPr>
          <p:cNvPr id="340" name="Google Shape;340;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1" name="Google Shape;341;p38"/>
          <p:cNvSpPr/>
          <p:nvPr/>
        </p:nvSpPr>
        <p:spPr>
          <a:xfrm>
            <a:off x="6976350" y="2869100"/>
            <a:ext cx="1228800" cy="1155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NIDS</a:t>
            </a:r>
            <a:endParaRPr/>
          </a:p>
        </p:txBody>
      </p:sp>
      <p:cxnSp>
        <p:nvCxnSpPr>
          <p:cNvPr id="342" name="Google Shape;342;p38"/>
          <p:cNvCxnSpPr/>
          <p:nvPr/>
        </p:nvCxnSpPr>
        <p:spPr>
          <a:xfrm>
            <a:off x="6512250" y="2456300"/>
            <a:ext cx="2239500" cy="0"/>
          </a:xfrm>
          <a:prstGeom prst="straightConnector1">
            <a:avLst/>
          </a:prstGeom>
          <a:noFill/>
          <a:ln cap="flat" cmpd="sng" w="9525">
            <a:solidFill>
              <a:schemeClr val="dk2"/>
            </a:solidFill>
            <a:prstDash val="solid"/>
            <a:round/>
            <a:headEnd len="med" w="med" type="none"/>
            <a:tailEnd len="med" w="med" type="triangle"/>
          </a:ln>
        </p:spPr>
      </p:cxnSp>
      <p:sp>
        <p:nvSpPr>
          <p:cNvPr id="343" name="Google Shape;343;p38"/>
          <p:cNvSpPr txBox="1"/>
          <p:nvPr/>
        </p:nvSpPr>
        <p:spPr>
          <a:xfrm>
            <a:off x="6512250" y="2056100"/>
            <a:ext cx="2157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%2e%2e%2f%2e%2e%2f</a:t>
            </a:r>
            <a:endParaRPr b="1">
              <a:latin typeface="Courier New"/>
              <a:ea typeface="Courier New"/>
              <a:cs typeface="Courier New"/>
              <a:sym typeface="Courier New"/>
            </a:endParaRPr>
          </a:p>
        </p:txBody>
      </p:sp>
      <p:sp>
        <p:nvSpPr>
          <p:cNvPr id="344" name="Google Shape;344;p38"/>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should the NIDS do if it sees this packet?</a:t>
            </a:r>
            <a:endParaRPr/>
          </a:p>
          <a:p>
            <a:pPr indent="-342900" lvl="0" marL="457200" rtl="0" algn="l">
              <a:spcBef>
                <a:spcPts val="0"/>
              </a:spcBef>
              <a:spcAft>
                <a:spcPts val="0"/>
              </a:spcAft>
              <a:buSzPts val="1800"/>
              <a:buChar char="●"/>
            </a:pPr>
            <a:r>
              <a:rPr lang="en"/>
              <a:t>This doesn’t look like a path </a:t>
            </a:r>
            <a:r>
              <a:rPr lang="en"/>
              <a:t>traversal</a:t>
            </a:r>
            <a:r>
              <a:rPr lang="en"/>
              <a:t> attack...maybe it shouldn’t alert</a:t>
            </a:r>
            <a:endParaRPr/>
          </a:p>
          <a:p>
            <a:pPr indent="-342900" lvl="0" marL="457200" rtl="0" algn="l">
              <a:spcBef>
                <a:spcPts val="0"/>
              </a:spcBef>
              <a:spcAft>
                <a:spcPts val="0"/>
              </a:spcAft>
              <a:buSzPts val="1800"/>
              <a:buChar char="●"/>
            </a:pPr>
            <a:r>
              <a:rPr lang="en"/>
              <a:t>This input is using URL percent encoding. If you decode it, you get </a:t>
            </a:r>
            <a:r>
              <a:rPr b="1" lang="en">
                <a:latin typeface="Courier New"/>
                <a:ea typeface="Courier New"/>
                <a:cs typeface="Courier New"/>
                <a:sym typeface="Courier New"/>
              </a:rPr>
              <a:t>../etc/passwd</a:t>
            </a:r>
            <a:r>
              <a:rPr lang="en"/>
              <a:t>!</a:t>
            </a:r>
            <a:endParaRPr/>
          </a:p>
          <a:p>
            <a:pPr indent="-342900" lvl="0" marL="457200" rtl="0" algn="l">
              <a:spcBef>
                <a:spcPts val="0"/>
              </a:spcBef>
              <a:spcAft>
                <a:spcPts val="0"/>
              </a:spcAft>
              <a:buSzPts val="1800"/>
              <a:buChar char="●"/>
            </a:pPr>
            <a:r>
              <a:rPr lang="en"/>
              <a:t>Problem: </a:t>
            </a:r>
            <a:r>
              <a:rPr lang="en"/>
              <a:t>Inputs are interpreted differently between the NIDS and the end system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Drawback: Inconsistent Interpretation</a:t>
            </a:r>
            <a:endParaRPr/>
          </a:p>
        </p:txBody>
      </p:sp>
      <p:sp>
        <p:nvSpPr>
          <p:cNvPr id="350" name="Google Shape;350;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39"/>
          <p:cNvSpPr/>
          <p:nvPr/>
        </p:nvSpPr>
        <p:spPr>
          <a:xfrm>
            <a:off x="6976350" y="2869100"/>
            <a:ext cx="1228800" cy="1155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NIDS</a:t>
            </a:r>
            <a:endParaRPr/>
          </a:p>
        </p:txBody>
      </p:sp>
      <p:cxnSp>
        <p:nvCxnSpPr>
          <p:cNvPr id="352" name="Google Shape;352;p39"/>
          <p:cNvCxnSpPr/>
          <p:nvPr/>
        </p:nvCxnSpPr>
        <p:spPr>
          <a:xfrm>
            <a:off x="6512250" y="2456300"/>
            <a:ext cx="2239500" cy="0"/>
          </a:xfrm>
          <a:prstGeom prst="straightConnector1">
            <a:avLst/>
          </a:prstGeom>
          <a:noFill/>
          <a:ln cap="flat" cmpd="sng" w="9525">
            <a:solidFill>
              <a:schemeClr val="dk2"/>
            </a:solidFill>
            <a:prstDash val="solid"/>
            <a:round/>
            <a:headEnd len="med" w="med" type="none"/>
            <a:tailEnd len="med" w="med" type="triangle"/>
          </a:ln>
        </p:spPr>
      </p:cxnSp>
      <p:sp>
        <p:nvSpPr>
          <p:cNvPr id="353" name="Google Shape;353;p39"/>
          <p:cNvSpPr txBox="1"/>
          <p:nvPr/>
        </p:nvSpPr>
        <p:spPr>
          <a:xfrm>
            <a:off x="6512250" y="2056100"/>
            <a:ext cx="2157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a:t>
            </a:r>
            <a:endParaRPr b="1">
              <a:latin typeface="Courier New"/>
              <a:ea typeface="Courier New"/>
              <a:cs typeface="Courier New"/>
              <a:sym typeface="Courier New"/>
            </a:endParaRPr>
          </a:p>
        </p:txBody>
      </p:sp>
      <p:sp>
        <p:nvSpPr>
          <p:cNvPr id="354" name="Google Shape;354;p39"/>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should the NIDS do if it sees this packet?</a:t>
            </a:r>
            <a:endParaRPr/>
          </a:p>
          <a:p>
            <a:pPr indent="-342900" lvl="0" marL="457200" rtl="0" algn="l">
              <a:spcBef>
                <a:spcPts val="0"/>
              </a:spcBef>
              <a:spcAft>
                <a:spcPts val="0"/>
              </a:spcAft>
              <a:buSzPts val="1800"/>
              <a:buChar char="●"/>
            </a:pPr>
            <a:r>
              <a:rPr lang="en"/>
              <a:t>What file on the file system does this file path refer to? It’s hard for the NIDS to know</a:t>
            </a:r>
            <a:endParaRPr/>
          </a:p>
          <a:p>
            <a:pPr indent="-342900" lvl="0" marL="457200" rtl="0" algn="l">
              <a:spcBef>
                <a:spcPts val="0"/>
              </a:spcBef>
              <a:spcAft>
                <a:spcPts val="0"/>
              </a:spcAft>
              <a:buSzPts val="1800"/>
              <a:buChar char="●"/>
            </a:pPr>
            <a:r>
              <a:rPr lang="en"/>
              <a:t>Problem: </a:t>
            </a:r>
            <a:r>
              <a:rPr lang="en"/>
              <a:t>Information needed to interpret correctly is missing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Evasion Attacks</a:t>
            </a:r>
            <a:endParaRPr/>
          </a:p>
        </p:txBody>
      </p:sp>
      <p:sp>
        <p:nvSpPr>
          <p:cNvPr id="360" name="Google Shape;360;p4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Problem: Imperfect observability</a:t>
            </a:r>
            <a:endParaRPr/>
          </a:p>
          <a:p>
            <a:pPr indent="-317500" lvl="1" marL="914400" rtl="0" algn="l">
              <a:spcBef>
                <a:spcPts val="0"/>
              </a:spcBef>
              <a:spcAft>
                <a:spcPts val="0"/>
              </a:spcAft>
              <a:buSzPts val="1400"/>
              <a:buChar char="○"/>
            </a:pPr>
            <a:r>
              <a:rPr lang="en"/>
              <a:t>What the NIDS sees doesn’t match what the end system sees</a:t>
            </a:r>
            <a:endParaRPr/>
          </a:p>
          <a:p>
            <a:pPr indent="-317500" lvl="1" marL="914400" rtl="0" algn="l">
              <a:spcBef>
                <a:spcPts val="0"/>
              </a:spcBef>
              <a:spcAft>
                <a:spcPts val="0"/>
              </a:spcAft>
              <a:buSzPts val="1400"/>
              <a:buChar char="○"/>
            </a:pPr>
            <a:r>
              <a:rPr lang="en"/>
              <a:t>Example: The packet’s time-to-live (TTL) might expire before reaching the end host</a:t>
            </a:r>
            <a:endParaRPr/>
          </a:p>
          <a:p>
            <a:pPr indent="-342900" lvl="0" marL="457200" rtl="0" algn="l">
              <a:spcBef>
                <a:spcPts val="0"/>
              </a:spcBef>
              <a:spcAft>
                <a:spcPts val="0"/>
              </a:spcAft>
              <a:buSzPts val="1800"/>
              <a:buChar char="●"/>
            </a:pPr>
            <a:r>
              <a:rPr lang="en"/>
              <a:t>Problem: Incomplete analysis (double parsing)</a:t>
            </a:r>
            <a:endParaRPr/>
          </a:p>
          <a:p>
            <a:pPr indent="-317500" lvl="1" marL="914400" rtl="0" algn="l">
              <a:spcBef>
                <a:spcPts val="0"/>
              </a:spcBef>
              <a:spcAft>
                <a:spcPts val="0"/>
              </a:spcAft>
              <a:buSzPts val="1400"/>
              <a:buChar char="○"/>
            </a:pPr>
            <a:r>
              <a:rPr lang="en"/>
              <a:t>Inconsistency: Inputs are interpreted and parsed differently between the NIDS and the end system</a:t>
            </a:r>
            <a:endParaRPr/>
          </a:p>
          <a:p>
            <a:pPr indent="-317500" lvl="1" marL="914400" rtl="0" algn="l">
              <a:spcBef>
                <a:spcPts val="0"/>
              </a:spcBef>
              <a:spcAft>
                <a:spcPts val="0"/>
              </a:spcAft>
              <a:buSzPts val="1400"/>
              <a:buChar char="○"/>
            </a:pPr>
            <a:r>
              <a:rPr lang="en"/>
              <a:t>Ambiguity: Information needed to </a:t>
            </a:r>
            <a:r>
              <a:rPr lang="en"/>
              <a:t>interpret</a:t>
            </a:r>
            <a:r>
              <a:rPr lang="en"/>
              <a:t> correctly is missing</a:t>
            </a:r>
            <a:endParaRPr/>
          </a:p>
          <a:p>
            <a:pPr indent="-342900" lvl="0" marL="457200" rtl="0" algn="l">
              <a:spcBef>
                <a:spcPts val="0"/>
              </a:spcBef>
              <a:spcAft>
                <a:spcPts val="0"/>
              </a:spcAft>
              <a:buSzPts val="1800"/>
              <a:buChar char="●"/>
            </a:pPr>
            <a:r>
              <a:rPr b="1" lang="en"/>
              <a:t>Evasion attack</a:t>
            </a:r>
            <a:r>
              <a:rPr lang="en"/>
              <a:t>: Exploit inconsistency and ambiguity to provide malicious inputs that are not detected by the NIDS</a:t>
            </a:r>
            <a:endParaRPr/>
          </a:p>
        </p:txBody>
      </p:sp>
      <p:sp>
        <p:nvSpPr>
          <p:cNvPr id="361" name="Google Shape;36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Evasion Attacks: Defenses</a:t>
            </a:r>
            <a:endParaRPr/>
          </a:p>
        </p:txBody>
      </p:sp>
      <p:sp>
        <p:nvSpPr>
          <p:cNvPr id="367" name="Google Shape;367;p4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Make sure that the NIDS and the end host are using the same interpretations</a:t>
            </a:r>
            <a:endParaRPr/>
          </a:p>
          <a:p>
            <a:pPr indent="-317500" lvl="1" marL="914400" rtl="0" algn="l">
              <a:spcBef>
                <a:spcPts val="0"/>
              </a:spcBef>
              <a:spcAft>
                <a:spcPts val="0"/>
              </a:spcAft>
              <a:buSzPts val="1400"/>
              <a:buChar char="○"/>
            </a:pPr>
            <a:r>
              <a:rPr lang="en"/>
              <a:t>This can be very challenging</a:t>
            </a:r>
            <a:endParaRPr/>
          </a:p>
          <a:p>
            <a:pPr indent="-317500" lvl="1" marL="914400" rtl="0" algn="l">
              <a:spcBef>
                <a:spcPts val="0"/>
              </a:spcBef>
              <a:spcAft>
                <a:spcPts val="0"/>
              </a:spcAft>
              <a:buSzPts val="1400"/>
              <a:buChar char="○"/>
            </a:pPr>
            <a:r>
              <a:rPr lang="en"/>
              <a:t>How do we detect the URL-encoded attack </a:t>
            </a:r>
            <a:r>
              <a:rPr b="1" lang="en">
                <a:latin typeface="Courier New"/>
                <a:ea typeface="Courier New"/>
                <a:cs typeface="Courier New"/>
                <a:sym typeface="Courier New"/>
              </a:rPr>
              <a:t>%2e%2e%2f%2e%2e%2f</a:t>
            </a:r>
            <a:r>
              <a:rPr lang="en"/>
              <a:t>?</a:t>
            </a:r>
            <a:br>
              <a:rPr lang="en"/>
            </a:br>
            <a:r>
              <a:rPr lang="en"/>
              <a:t>Now the NIDS has to parse URL encodings!</a:t>
            </a:r>
            <a:endParaRPr/>
          </a:p>
          <a:p>
            <a:pPr indent="-317500" lvl="1" marL="914400" rtl="0" algn="l">
              <a:spcBef>
                <a:spcPts val="0"/>
              </a:spcBef>
              <a:spcAft>
                <a:spcPts val="0"/>
              </a:spcAft>
              <a:buSzPts val="1400"/>
              <a:buChar char="○"/>
            </a:pPr>
            <a:r>
              <a:rPr lang="en"/>
              <a:t>How do we detect a more complicated path </a:t>
            </a:r>
            <a:r>
              <a:rPr lang="en"/>
              <a:t>traversal</a:t>
            </a:r>
            <a:r>
              <a:rPr lang="en"/>
              <a:t> attack </a:t>
            </a:r>
            <a:r>
              <a:rPr b="1" lang="en">
                <a:latin typeface="Courier New"/>
                <a:ea typeface="Courier New"/>
                <a:cs typeface="Courier New"/>
                <a:sym typeface="Courier New"/>
              </a:rPr>
              <a:t>..///.///..////</a:t>
            </a:r>
            <a:r>
              <a:rPr lang="en"/>
              <a:t>?</a:t>
            </a:r>
            <a:br>
              <a:rPr lang="en"/>
            </a:br>
            <a:r>
              <a:rPr lang="en"/>
              <a:t>Now the NIDS has to parse Unix file paths!</a:t>
            </a:r>
            <a:endParaRPr/>
          </a:p>
          <a:p>
            <a:pPr indent="-342900" lvl="0" marL="457200" rtl="0" algn="l">
              <a:spcBef>
                <a:spcPts val="0"/>
              </a:spcBef>
              <a:spcAft>
                <a:spcPts val="0"/>
              </a:spcAft>
              <a:buSzPts val="1800"/>
              <a:buChar char="●"/>
            </a:pPr>
            <a:r>
              <a:rPr lang="en"/>
              <a:t>Impose a canonical (“normalized”) form for all inputs</a:t>
            </a:r>
            <a:endParaRPr/>
          </a:p>
          <a:p>
            <a:pPr indent="-317500" lvl="1" marL="914400" rtl="0" algn="l">
              <a:spcBef>
                <a:spcPts val="0"/>
              </a:spcBef>
              <a:spcAft>
                <a:spcPts val="0"/>
              </a:spcAft>
              <a:buSzPts val="1400"/>
              <a:buChar char="○"/>
            </a:pPr>
            <a:r>
              <a:rPr lang="en"/>
              <a:t>Example: Force all URLs to expand all URL encodings or not expand all URL encodings</a:t>
            </a:r>
            <a:endParaRPr/>
          </a:p>
          <a:p>
            <a:pPr indent="-342900" lvl="0" marL="457200" rtl="0" algn="l">
              <a:spcBef>
                <a:spcPts val="0"/>
              </a:spcBef>
              <a:spcAft>
                <a:spcPts val="0"/>
              </a:spcAft>
              <a:buSzPts val="1800"/>
              <a:buChar char="●"/>
            </a:pPr>
            <a:r>
              <a:rPr lang="en"/>
              <a:t>Analyze all possible interpretations instead of assuming one</a:t>
            </a:r>
            <a:endParaRPr/>
          </a:p>
          <a:p>
            <a:pPr indent="-342900" lvl="0" marL="457200" rtl="0" algn="l">
              <a:spcBef>
                <a:spcPts val="0"/>
              </a:spcBef>
              <a:spcAft>
                <a:spcPts val="0"/>
              </a:spcAft>
              <a:buSzPts val="1800"/>
              <a:buChar char="●"/>
            </a:pPr>
            <a:r>
              <a:rPr lang="en"/>
              <a:t>Flag potential evasions so they can be investigated further</a:t>
            </a:r>
            <a:endParaRPr/>
          </a:p>
        </p:txBody>
      </p:sp>
      <p:sp>
        <p:nvSpPr>
          <p:cNvPr id="368" name="Google Shape;36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Drawback: Encrypted Traffic</a:t>
            </a:r>
            <a:endParaRPr/>
          </a:p>
        </p:txBody>
      </p:sp>
      <p:sp>
        <p:nvSpPr>
          <p:cNvPr id="374" name="Google Shape;374;p4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Recall: TLS is end-to-end secure, so a NIDS can’t read any encrypted traffic</a:t>
            </a:r>
            <a:endParaRPr/>
          </a:p>
          <a:p>
            <a:pPr indent="-342900" lvl="0" marL="457200" rtl="0" algn="l">
              <a:spcBef>
                <a:spcPts val="0"/>
              </a:spcBef>
              <a:spcAft>
                <a:spcPts val="0"/>
              </a:spcAft>
              <a:buSzPts val="1800"/>
              <a:buChar char="●"/>
            </a:pPr>
            <a:r>
              <a:rPr lang="en"/>
              <a:t>One possible solution: Give the NIDS access to all the network’s private keys</a:t>
            </a:r>
            <a:endParaRPr/>
          </a:p>
          <a:p>
            <a:pPr indent="-317500" lvl="1" marL="914400" rtl="0" algn="l">
              <a:spcBef>
                <a:spcPts val="0"/>
              </a:spcBef>
              <a:spcAft>
                <a:spcPts val="0"/>
              </a:spcAft>
              <a:buSzPts val="1400"/>
              <a:buChar char="○"/>
            </a:pPr>
            <a:r>
              <a:rPr lang="en"/>
              <a:t>Now the NIDS can decrypt messages to inspect them for attacks</a:t>
            </a:r>
            <a:endParaRPr/>
          </a:p>
          <a:p>
            <a:pPr indent="-317500" lvl="1" marL="914400" rtl="0" algn="l">
              <a:spcBef>
                <a:spcPts val="0"/>
              </a:spcBef>
              <a:spcAft>
                <a:spcPts val="0"/>
              </a:spcAft>
              <a:buSzPts val="1400"/>
              <a:buChar char="○"/>
            </a:pPr>
            <a:r>
              <a:rPr lang="en"/>
              <a:t>Problem: Users have to share their private key with someone else</a:t>
            </a:r>
            <a:endParaRPr/>
          </a:p>
        </p:txBody>
      </p:sp>
      <p:sp>
        <p:nvSpPr>
          <p:cNvPr id="375" name="Google Shape;375;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a:t>
            </a:r>
            <a:r>
              <a:rPr lang="en"/>
              <a:t>Structure of a Network</a:t>
            </a:r>
            <a:endParaRPr/>
          </a:p>
        </p:txBody>
      </p:sp>
      <p:sp>
        <p:nvSpPr>
          <p:cNvPr id="381" name="Google Shape;381;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2" name="Google Shape;382;p43"/>
          <p:cNvSpPr/>
          <p:nvPr/>
        </p:nvSpPr>
        <p:spPr>
          <a:xfrm>
            <a:off x="6384950" y="2513900"/>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Server</a:t>
            </a:r>
            <a:endParaRPr/>
          </a:p>
        </p:txBody>
      </p:sp>
      <p:sp>
        <p:nvSpPr>
          <p:cNvPr id="383" name="Google Shape;383;p43"/>
          <p:cNvSpPr/>
          <p:nvPr/>
        </p:nvSpPr>
        <p:spPr>
          <a:xfrm>
            <a:off x="6384950" y="3374700"/>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Employee Computer</a:t>
            </a:r>
            <a:endParaRPr/>
          </a:p>
        </p:txBody>
      </p:sp>
      <p:sp>
        <p:nvSpPr>
          <p:cNvPr id="384" name="Google Shape;384;p43"/>
          <p:cNvSpPr/>
          <p:nvPr/>
        </p:nvSpPr>
        <p:spPr>
          <a:xfrm>
            <a:off x="6384950" y="4235500"/>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Employee Computer</a:t>
            </a:r>
            <a:endParaRPr/>
          </a:p>
        </p:txBody>
      </p:sp>
      <p:sp>
        <p:nvSpPr>
          <p:cNvPr id="385" name="Google Shape;385;p43"/>
          <p:cNvSpPr/>
          <p:nvPr/>
        </p:nvSpPr>
        <p:spPr>
          <a:xfrm>
            <a:off x="2883475" y="3035875"/>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Border Router</a:t>
            </a:r>
            <a:endParaRPr/>
          </a:p>
        </p:txBody>
      </p:sp>
      <p:cxnSp>
        <p:nvCxnSpPr>
          <p:cNvPr id="386" name="Google Shape;386;p43"/>
          <p:cNvCxnSpPr>
            <a:stCxn id="382" idx="1"/>
            <a:endCxn id="385" idx="3"/>
          </p:cNvCxnSpPr>
          <p:nvPr/>
        </p:nvCxnSpPr>
        <p:spPr>
          <a:xfrm flipH="1">
            <a:off x="4011350" y="2835500"/>
            <a:ext cx="2373600" cy="52200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43"/>
          <p:cNvCxnSpPr>
            <a:stCxn id="383" idx="1"/>
            <a:endCxn id="385" idx="3"/>
          </p:cNvCxnSpPr>
          <p:nvPr/>
        </p:nvCxnSpPr>
        <p:spPr>
          <a:xfrm rot="10800000">
            <a:off x="4011350" y="3357600"/>
            <a:ext cx="2373600" cy="33870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43"/>
          <p:cNvCxnSpPr>
            <a:stCxn id="384" idx="1"/>
            <a:endCxn id="385" idx="3"/>
          </p:cNvCxnSpPr>
          <p:nvPr/>
        </p:nvCxnSpPr>
        <p:spPr>
          <a:xfrm rot="10800000">
            <a:off x="4011350" y="3357400"/>
            <a:ext cx="2373600" cy="1199700"/>
          </a:xfrm>
          <a:prstGeom prst="straightConnector1">
            <a:avLst/>
          </a:prstGeom>
          <a:noFill/>
          <a:ln cap="flat" cmpd="sng" w="9525">
            <a:solidFill>
              <a:schemeClr val="dk2"/>
            </a:solidFill>
            <a:prstDash val="solid"/>
            <a:round/>
            <a:headEnd len="med" w="med" type="none"/>
            <a:tailEnd len="med" w="med" type="none"/>
          </a:ln>
        </p:spPr>
      </p:cxnSp>
      <p:sp>
        <p:nvSpPr>
          <p:cNvPr id="389" name="Google Shape;389;p43"/>
          <p:cNvSpPr txBox="1"/>
          <p:nvPr/>
        </p:nvSpPr>
        <p:spPr>
          <a:xfrm>
            <a:off x="2506825" y="1577225"/>
            <a:ext cx="27306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End hosts in the local network send packets to the Internet by sending it to the border router for forwarding</a:t>
            </a:r>
            <a:endParaRPr>
              <a:solidFill>
                <a:srgbClr val="000000"/>
              </a:solidFill>
            </a:endParaRPr>
          </a:p>
        </p:txBody>
      </p:sp>
      <p:sp>
        <p:nvSpPr>
          <p:cNvPr id="390" name="Google Shape;390;p43"/>
          <p:cNvSpPr/>
          <p:nvPr/>
        </p:nvSpPr>
        <p:spPr>
          <a:xfrm>
            <a:off x="258851" y="2675850"/>
            <a:ext cx="1839564" cy="1277316"/>
          </a:xfrm>
          <a:prstGeom prst="cloud">
            <a:avLst/>
          </a:prstGeom>
          <a:solidFill>
            <a:srgbClr val="C9DAF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Internet</a:t>
            </a:r>
            <a:endParaRPr/>
          </a:p>
        </p:txBody>
      </p:sp>
      <p:cxnSp>
        <p:nvCxnSpPr>
          <p:cNvPr id="391" name="Google Shape;391;p43"/>
          <p:cNvCxnSpPr>
            <a:endCxn id="385" idx="1"/>
          </p:cNvCxnSpPr>
          <p:nvPr/>
        </p:nvCxnSpPr>
        <p:spPr>
          <a:xfrm>
            <a:off x="2078875" y="2928475"/>
            <a:ext cx="804600" cy="429000"/>
          </a:xfrm>
          <a:prstGeom prst="straightConnector1">
            <a:avLst/>
          </a:prstGeom>
          <a:noFill/>
          <a:ln cap="flat" cmpd="sng" w="9525">
            <a:solidFill>
              <a:schemeClr val="dk2"/>
            </a:solidFill>
            <a:prstDash val="solid"/>
            <a:round/>
            <a:headEnd len="med" w="med" type="none"/>
            <a:tailEnd len="med" w="med" type="none"/>
          </a:ln>
        </p:spPr>
      </p:cxnSp>
      <p:cxnSp>
        <p:nvCxnSpPr>
          <p:cNvPr id="392" name="Google Shape;392;p43"/>
          <p:cNvCxnSpPr>
            <a:endCxn id="385" idx="1"/>
          </p:cNvCxnSpPr>
          <p:nvPr/>
        </p:nvCxnSpPr>
        <p:spPr>
          <a:xfrm flipH="1" rot="10800000">
            <a:off x="1893475" y="3357475"/>
            <a:ext cx="990000" cy="381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Host-Based </a:t>
            </a:r>
            <a:r>
              <a:rPr lang="en"/>
              <a:t>Intrusion Detection System (HIDS)</a:t>
            </a:r>
            <a:endParaRPr/>
          </a:p>
        </p:txBody>
      </p:sp>
      <p:sp>
        <p:nvSpPr>
          <p:cNvPr id="398" name="Google Shape;398;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9" name="Google Shape;399;p44"/>
          <p:cNvSpPr/>
          <p:nvPr/>
        </p:nvSpPr>
        <p:spPr>
          <a:xfrm>
            <a:off x="6384950" y="2513900"/>
            <a:ext cx="1128000" cy="6432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Server</a:t>
            </a:r>
            <a:endParaRPr/>
          </a:p>
        </p:txBody>
      </p:sp>
      <p:sp>
        <p:nvSpPr>
          <p:cNvPr id="400" name="Google Shape;400;p44"/>
          <p:cNvSpPr/>
          <p:nvPr/>
        </p:nvSpPr>
        <p:spPr>
          <a:xfrm>
            <a:off x="6384950" y="3374700"/>
            <a:ext cx="1128000" cy="6432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Employee Computer</a:t>
            </a:r>
            <a:endParaRPr/>
          </a:p>
        </p:txBody>
      </p:sp>
      <p:sp>
        <p:nvSpPr>
          <p:cNvPr id="401" name="Google Shape;401;p44"/>
          <p:cNvSpPr/>
          <p:nvPr/>
        </p:nvSpPr>
        <p:spPr>
          <a:xfrm>
            <a:off x="6384950" y="4235500"/>
            <a:ext cx="1128000" cy="6432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Employee Computer</a:t>
            </a:r>
            <a:endParaRPr/>
          </a:p>
        </p:txBody>
      </p:sp>
      <p:sp>
        <p:nvSpPr>
          <p:cNvPr id="402" name="Google Shape;402;p44"/>
          <p:cNvSpPr/>
          <p:nvPr/>
        </p:nvSpPr>
        <p:spPr>
          <a:xfrm>
            <a:off x="2883475" y="3035875"/>
            <a:ext cx="1128000" cy="6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Border Router</a:t>
            </a:r>
            <a:endParaRPr/>
          </a:p>
        </p:txBody>
      </p:sp>
      <p:cxnSp>
        <p:nvCxnSpPr>
          <p:cNvPr id="403" name="Google Shape;403;p44"/>
          <p:cNvCxnSpPr>
            <a:stCxn id="399" idx="1"/>
            <a:endCxn id="402" idx="3"/>
          </p:cNvCxnSpPr>
          <p:nvPr/>
        </p:nvCxnSpPr>
        <p:spPr>
          <a:xfrm flipH="1">
            <a:off x="4011350" y="2835500"/>
            <a:ext cx="2373600" cy="522000"/>
          </a:xfrm>
          <a:prstGeom prst="straightConnector1">
            <a:avLst/>
          </a:prstGeom>
          <a:noFill/>
          <a:ln cap="flat" cmpd="sng" w="9525">
            <a:solidFill>
              <a:schemeClr val="dk2"/>
            </a:solidFill>
            <a:prstDash val="solid"/>
            <a:round/>
            <a:headEnd len="med" w="med" type="none"/>
            <a:tailEnd len="med" w="med" type="none"/>
          </a:ln>
        </p:spPr>
      </p:cxnSp>
      <p:cxnSp>
        <p:nvCxnSpPr>
          <p:cNvPr id="404" name="Google Shape;404;p44"/>
          <p:cNvCxnSpPr>
            <a:stCxn id="400" idx="1"/>
            <a:endCxn id="402" idx="3"/>
          </p:cNvCxnSpPr>
          <p:nvPr/>
        </p:nvCxnSpPr>
        <p:spPr>
          <a:xfrm rot="10800000">
            <a:off x="4011350" y="3357600"/>
            <a:ext cx="2373600" cy="338700"/>
          </a:xfrm>
          <a:prstGeom prst="straightConnector1">
            <a:avLst/>
          </a:prstGeom>
          <a:noFill/>
          <a:ln cap="flat" cmpd="sng" w="9525">
            <a:solidFill>
              <a:schemeClr val="dk2"/>
            </a:solidFill>
            <a:prstDash val="solid"/>
            <a:round/>
            <a:headEnd len="med" w="med" type="none"/>
            <a:tailEnd len="med" w="med" type="none"/>
          </a:ln>
        </p:spPr>
      </p:cxnSp>
      <p:cxnSp>
        <p:nvCxnSpPr>
          <p:cNvPr id="405" name="Google Shape;405;p44"/>
          <p:cNvCxnSpPr>
            <a:stCxn id="401" idx="1"/>
            <a:endCxn id="402" idx="3"/>
          </p:cNvCxnSpPr>
          <p:nvPr/>
        </p:nvCxnSpPr>
        <p:spPr>
          <a:xfrm rot="10800000">
            <a:off x="4011350" y="3357400"/>
            <a:ext cx="2373600" cy="1199700"/>
          </a:xfrm>
          <a:prstGeom prst="straightConnector1">
            <a:avLst/>
          </a:prstGeom>
          <a:noFill/>
          <a:ln cap="flat" cmpd="sng" w="9525">
            <a:solidFill>
              <a:schemeClr val="dk2"/>
            </a:solidFill>
            <a:prstDash val="solid"/>
            <a:round/>
            <a:headEnd len="med" w="med" type="none"/>
            <a:tailEnd len="med" w="med" type="none"/>
          </a:ln>
        </p:spPr>
      </p:cxnSp>
      <p:sp>
        <p:nvSpPr>
          <p:cNvPr id="406" name="Google Shape;406;p44"/>
          <p:cNvSpPr txBox="1"/>
          <p:nvPr/>
        </p:nvSpPr>
        <p:spPr>
          <a:xfrm>
            <a:off x="7851750" y="3280650"/>
            <a:ext cx="10959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HIDS: put detectors here</a:t>
            </a:r>
            <a:endParaRPr>
              <a:solidFill>
                <a:srgbClr val="000000"/>
              </a:solidFill>
            </a:endParaRPr>
          </a:p>
        </p:txBody>
      </p:sp>
      <p:sp>
        <p:nvSpPr>
          <p:cNvPr id="407" name="Google Shape;407;p44"/>
          <p:cNvSpPr txBox="1"/>
          <p:nvPr>
            <p:ph idx="4294967295" type="body"/>
          </p:nvPr>
        </p:nvSpPr>
        <p:spPr>
          <a:xfrm>
            <a:off x="198500" y="1246825"/>
            <a:ext cx="8520600" cy="793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Host-based intrusion detection system</a:t>
            </a:r>
            <a:r>
              <a:rPr lang="en"/>
              <a:t> (</a:t>
            </a:r>
            <a:r>
              <a:rPr b="1" lang="en"/>
              <a:t>HIDS</a:t>
            </a:r>
            <a:r>
              <a:rPr lang="en"/>
              <a:t>): A detector installed on each end system</a:t>
            </a:r>
            <a:endParaRPr/>
          </a:p>
        </p:txBody>
      </p:sp>
      <p:sp>
        <p:nvSpPr>
          <p:cNvPr id="408" name="Google Shape;408;p44"/>
          <p:cNvSpPr/>
          <p:nvPr/>
        </p:nvSpPr>
        <p:spPr>
          <a:xfrm>
            <a:off x="258851" y="2675850"/>
            <a:ext cx="1839564" cy="1277316"/>
          </a:xfrm>
          <a:prstGeom prst="cloud">
            <a:avLst/>
          </a:prstGeom>
          <a:solidFill>
            <a:srgbClr val="C9DAF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Internet</a:t>
            </a:r>
            <a:endParaRPr/>
          </a:p>
        </p:txBody>
      </p:sp>
      <p:cxnSp>
        <p:nvCxnSpPr>
          <p:cNvPr id="409" name="Google Shape;409;p44"/>
          <p:cNvCxnSpPr>
            <a:endCxn id="402" idx="1"/>
          </p:cNvCxnSpPr>
          <p:nvPr/>
        </p:nvCxnSpPr>
        <p:spPr>
          <a:xfrm>
            <a:off x="2078875" y="2928475"/>
            <a:ext cx="804600" cy="429000"/>
          </a:xfrm>
          <a:prstGeom prst="straightConnector1">
            <a:avLst/>
          </a:prstGeom>
          <a:noFill/>
          <a:ln cap="flat" cmpd="sng" w="9525">
            <a:solidFill>
              <a:schemeClr val="dk2"/>
            </a:solidFill>
            <a:prstDash val="solid"/>
            <a:round/>
            <a:headEnd len="med" w="med" type="none"/>
            <a:tailEnd len="med" w="med" type="none"/>
          </a:ln>
        </p:spPr>
      </p:cxnSp>
      <p:cxnSp>
        <p:nvCxnSpPr>
          <p:cNvPr id="410" name="Google Shape;410;p44"/>
          <p:cNvCxnSpPr>
            <a:endCxn id="402" idx="1"/>
          </p:cNvCxnSpPr>
          <p:nvPr/>
        </p:nvCxnSpPr>
        <p:spPr>
          <a:xfrm flipH="1" rot="10800000">
            <a:off x="1893475" y="3357475"/>
            <a:ext cx="990000" cy="381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Host-Based </a:t>
            </a:r>
            <a:r>
              <a:rPr lang="en"/>
              <a:t>Intrusion Detection System (HIDS)</a:t>
            </a:r>
            <a:endParaRPr/>
          </a:p>
        </p:txBody>
      </p:sp>
      <p:sp>
        <p:nvSpPr>
          <p:cNvPr id="416" name="Google Shape;416;p45"/>
          <p:cNvSpPr txBox="1"/>
          <p:nvPr>
            <p:ph idx="1" type="body"/>
          </p:nvPr>
        </p:nvSpPr>
        <p:spPr>
          <a:xfrm>
            <a:off x="198500" y="1246825"/>
            <a:ext cx="8520600" cy="3810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Benefits</a:t>
            </a:r>
            <a:endParaRPr/>
          </a:p>
          <a:p>
            <a:pPr indent="-317500" lvl="1" marL="914400" rtl="0" algn="l">
              <a:spcBef>
                <a:spcPts val="0"/>
              </a:spcBef>
              <a:spcAft>
                <a:spcPts val="0"/>
              </a:spcAft>
              <a:buSzPts val="1400"/>
              <a:buChar char="○"/>
            </a:pPr>
            <a:r>
              <a:rPr lang="en"/>
              <a:t>Fewer problems with inconsistencies or ambiguities: The HIDS is on the end host, so it will interpret packets exactly the same as the end host!</a:t>
            </a:r>
            <a:endParaRPr/>
          </a:p>
          <a:p>
            <a:pPr indent="-317500" lvl="1" marL="914400" rtl="0" algn="l">
              <a:spcBef>
                <a:spcPts val="0"/>
              </a:spcBef>
              <a:spcAft>
                <a:spcPts val="0"/>
              </a:spcAft>
              <a:buSzPts val="1400"/>
              <a:buChar char="○"/>
            </a:pPr>
            <a:r>
              <a:rPr lang="en"/>
              <a:t>Works for encrypted messages</a:t>
            </a:r>
            <a:endParaRPr/>
          </a:p>
          <a:p>
            <a:pPr indent="-317500" lvl="1" marL="914400" rtl="0" algn="l">
              <a:spcBef>
                <a:spcPts val="0"/>
              </a:spcBef>
              <a:spcAft>
                <a:spcPts val="0"/>
              </a:spcAft>
              <a:buSzPts val="1400"/>
              <a:buChar char="○"/>
            </a:pPr>
            <a:r>
              <a:rPr lang="en"/>
              <a:t>Can protect against non-network threats too (e.g., malicious user inside the network)</a:t>
            </a:r>
            <a:endParaRPr/>
          </a:p>
          <a:p>
            <a:pPr indent="-317500" lvl="1" marL="914400" rtl="0" algn="l">
              <a:spcBef>
                <a:spcPts val="0"/>
              </a:spcBef>
              <a:spcAft>
                <a:spcPts val="0"/>
              </a:spcAft>
              <a:buSzPts val="1400"/>
              <a:buChar char="○"/>
            </a:pPr>
            <a:r>
              <a:rPr lang="en"/>
              <a:t>Performance scales better than NIDS: one NIDS is more vulnerable to being overwhelmed than many HIDS</a:t>
            </a:r>
            <a:endParaRPr/>
          </a:p>
          <a:p>
            <a:pPr indent="-342900" lvl="0" marL="457200" rtl="0" algn="l">
              <a:spcBef>
                <a:spcPts val="0"/>
              </a:spcBef>
              <a:spcAft>
                <a:spcPts val="0"/>
              </a:spcAft>
              <a:buSzPts val="1800"/>
              <a:buChar char="●"/>
            </a:pPr>
            <a:r>
              <a:rPr lang="en"/>
              <a:t>Drawbacks</a:t>
            </a:r>
            <a:endParaRPr/>
          </a:p>
          <a:p>
            <a:pPr indent="-317500" lvl="1" marL="914400" rtl="0" algn="l">
              <a:spcBef>
                <a:spcPts val="0"/>
              </a:spcBef>
              <a:spcAft>
                <a:spcPts val="0"/>
              </a:spcAft>
              <a:buSzPts val="1400"/>
              <a:buChar char="○"/>
            </a:pPr>
            <a:r>
              <a:rPr lang="en"/>
              <a:t>Expensive, hard to deploy: Need to install one detector for every end host</a:t>
            </a:r>
            <a:endParaRPr/>
          </a:p>
          <a:p>
            <a:pPr indent="-317500" lvl="1" marL="914400" rtl="0" algn="l">
              <a:spcBef>
                <a:spcPts val="0"/>
              </a:spcBef>
              <a:spcAft>
                <a:spcPts val="0"/>
              </a:spcAft>
              <a:buSzPts val="1400"/>
              <a:buChar char="○"/>
            </a:pPr>
            <a:r>
              <a:rPr lang="en"/>
              <a:t>Some evasion attacks are still possible (consider Unix file name parsing)</a:t>
            </a:r>
            <a:endParaRPr/>
          </a:p>
        </p:txBody>
      </p:sp>
      <p:sp>
        <p:nvSpPr>
          <p:cNvPr id="417" name="Google Shape;41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Logging</a:t>
            </a:r>
            <a:endParaRPr/>
          </a:p>
        </p:txBody>
      </p:sp>
      <p:sp>
        <p:nvSpPr>
          <p:cNvPr id="423" name="Google Shape;423;p4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Logging</a:t>
            </a:r>
            <a:r>
              <a:rPr lang="en"/>
              <a:t>: Analyze log files generated by end systems</a:t>
            </a:r>
            <a:endParaRPr/>
          </a:p>
          <a:p>
            <a:pPr indent="-317500" lvl="1" marL="914400" rtl="0" algn="l">
              <a:spcBef>
                <a:spcPts val="0"/>
              </a:spcBef>
              <a:spcAft>
                <a:spcPts val="0"/>
              </a:spcAft>
              <a:buSzPts val="1400"/>
              <a:buChar char="○"/>
            </a:pPr>
            <a:r>
              <a:rPr lang="en"/>
              <a:t>Example: Each night, run a script on the log files to analyze them for attacks</a:t>
            </a:r>
            <a:endParaRPr/>
          </a:p>
          <a:p>
            <a:pPr indent="-342900" lvl="0" marL="457200" rtl="0" algn="l">
              <a:spcBef>
                <a:spcPts val="0"/>
              </a:spcBef>
              <a:spcAft>
                <a:spcPts val="0"/>
              </a:spcAft>
              <a:buSzPts val="1800"/>
              <a:buChar char="●"/>
            </a:pPr>
            <a:r>
              <a:rPr lang="en"/>
              <a:t>Benefits</a:t>
            </a:r>
            <a:endParaRPr/>
          </a:p>
          <a:p>
            <a:pPr indent="-317500" lvl="1" marL="914400" rtl="0" algn="l">
              <a:spcBef>
                <a:spcPts val="0"/>
              </a:spcBef>
              <a:spcAft>
                <a:spcPts val="0"/>
              </a:spcAft>
              <a:buSzPts val="1400"/>
              <a:buChar char="○"/>
            </a:pPr>
            <a:r>
              <a:rPr lang="en"/>
              <a:t>Cheap: Modern web servers often already have built-in logging systems</a:t>
            </a:r>
            <a:endParaRPr/>
          </a:p>
          <a:p>
            <a:pPr indent="-317500" lvl="1" marL="914400" rtl="0" algn="l">
              <a:spcBef>
                <a:spcPts val="0"/>
              </a:spcBef>
              <a:spcAft>
                <a:spcPts val="0"/>
              </a:spcAft>
              <a:buSzPts val="1400"/>
              <a:buChar char="○"/>
            </a:pPr>
            <a:r>
              <a:rPr lang="en"/>
              <a:t>Fewer problems with inconsistencies or ambiguities: The logging system works on the end host, so it will interpret packets exactly the same as the end host!</a:t>
            </a:r>
            <a:endParaRPr/>
          </a:p>
          <a:p>
            <a:pPr indent="-342900" lvl="0" marL="457200" rtl="0" algn="l">
              <a:spcBef>
                <a:spcPts val="0"/>
              </a:spcBef>
              <a:spcAft>
                <a:spcPts val="0"/>
              </a:spcAft>
              <a:buSzPts val="1800"/>
              <a:buChar char="●"/>
            </a:pPr>
            <a:r>
              <a:rPr lang="en"/>
              <a:t>Drawbacks</a:t>
            </a:r>
            <a:endParaRPr/>
          </a:p>
          <a:p>
            <a:pPr indent="-317500" lvl="1" marL="914400" rtl="0" algn="l">
              <a:spcBef>
                <a:spcPts val="0"/>
              </a:spcBef>
              <a:spcAft>
                <a:spcPts val="0"/>
              </a:spcAft>
              <a:buSzPts val="1400"/>
              <a:buChar char="○"/>
            </a:pPr>
            <a:r>
              <a:rPr lang="en"/>
              <a:t>Unlike NIDS and HIDS, there is no real-time detection: attacks are only detected </a:t>
            </a:r>
            <a:r>
              <a:rPr b="1" lang="en"/>
              <a:t>after the attack has happened</a:t>
            </a:r>
            <a:endParaRPr/>
          </a:p>
          <a:p>
            <a:pPr indent="-317500" lvl="1" marL="914400" rtl="0" algn="l">
              <a:spcBef>
                <a:spcPts val="0"/>
              </a:spcBef>
              <a:spcAft>
                <a:spcPts val="0"/>
              </a:spcAft>
              <a:buSzPts val="1400"/>
              <a:buChar char="○"/>
            </a:pPr>
            <a:r>
              <a:rPr lang="en"/>
              <a:t>Some evasion attacks are still possible (again, consider Unix file name parsing)</a:t>
            </a:r>
            <a:endParaRPr/>
          </a:p>
          <a:p>
            <a:pPr indent="-317500" lvl="1" marL="914400" rtl="0" algn="l">
              <a:spcBef>
                <a:spcPts val="0"/>
              </a:spcBef>
              <a:spcAft>
                <a:spcPts val="0"/>
              </a:spcAft>
              <a:buSzPts val="1400"/>
              <a:buChar char="○"/>
            </a:pPr>
            <a:r>
              <a:rPr lang="en"/>
              <a:t>The attacker could change the logs to erase evidence of the attack</a:t>
            </a:r>
            <a:endParaRPr/>
          </a:p>
        </p:txBody>
      </p:sp>
      <p:sp>
        <p:nvSpPr>
          <p:cNvPr id="424" name="Google Shape;424;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Detection Accuracy</a:t>
            </a:r>
            <a:endParaRPr/>
          </a:p>
        </p:txBody>
      </p:sp>
      <p:sp>
        <p:nvSpPr>
          <p:cNvPr id="430" name="Google Shape;430;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Detection Errors</a:t>
            </a:r>
            <a:endParaRPr/>
          </a:p>
        </p:txBody>
      </p:sp>
      <p:sp>
        <p:nvSpPr>
          <p:cNvPr id="436" name="Google Shape;436;p4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Two main types of detector errors</a:t>
            </a:r>
            <a:endParaRPr/>
          </a:p>
          <a:p>
            <a:pPr indent="-317500" lvl="1" marL="914400" rtl="0" algn="l">
              <a:spcBef>
                <a:spcPts val="0"/>
              </a:spcBef>
              <a:spcAft>
                <a:spcPts val="0"/>
              </a:spcAft>
              <a:buSzPts val="1400"/>
              <a:buChar char="○"/>
            </a:pPr>
            <a:r>
              <a:rPr b="1" lang="en"/>
              <a:t>False positive</a:t>
            </a:r>
            <a:r>
              <a:rPr lang="en"/>
              <a:t> (false alarm): Detector alerts when there is no attack</a:t>
            </a:r>
            <a:endParaRPr/>
          </a:p>
          <a:p>
            <a:pPr indent="-317500" lvl="1" marL="914400" rtl="0" algn="l">
              <a:spcBef>
                <a:spcPts val="0"/>
              </a:spcBef>
              <a:spcAft>
                <a:spcPts val="0"/>
              </a:spcAft>
              <a:buSzPts val="1400"/>
              <a:buChar char="○"/>
            </a:pPr>
            <a:r>
              <a:rPr b="1" lang="en"/>
              <a:t>False negative</a:t>
            </a:r>
            <a:r>
              <a:rPr lang="en"/>
              <a:t>: Detector fails to alert when there is an attack</a:t>
            </a:r>
            <a:endParaRPr/>
          </a:p>
          <a:p>
            <a:pPr indent="-342900" lvl="0" marL="457200" rtl="0" algn="l">
              <a:spcBef>
                <a:spcPts val="0"/>
              </a:spcBef>
              <a:spcAft>
                <a:spcPts val="0"/>
              </a:spcAft>
              <a:buSzPts val="1800"/>
              <a:buChar char="●"/>
            </a:pPr>
            <a:r>
              <a:rPr lang="en"/>
              <a:t>Detector accuracy is often assessed in terms of the rates at which these errors occur</a:t>
            </a:r>
            <a:endParaRPr/>
          </a:p>
          <a:p>
            <a:pPr indent="-317500" lvl="1" marL="914400" rtl="0" algn="l">
              <a:spcBef>
                <a:spcPts val="0"/>
              </a:spcBef>
              <a:spcAft>
                <a:spcPts val="0"/>
              </a:spcAft>
              <a:buSzPts val="1400"/>
              <a:buChar char="○"/>
            </a:pPr>
            <a:r>
              <a:rPr b="1" lang="en"/>
              <a:t>False positive rate </a:t>
            </a:r>
            <a:r>
              <a:rPr lang="en"/>
              <a:t>(</a:t>
            </a:r>
            <a:r>
              <a:rPr b="1" lang="en"/>
              <a:t>FPR</a:t>
            </a:r>
            <a:r>
              <a:rPr lang="en"/>
              <a:t>): The probability the detector alerts, given there is no attack</a:t>
            </a:r>
            <a:endParaRPr/>
          </a:p>
          <a:p>
            <a:pPr indent="-317500" lvl="1" marL="914400" rtl="0" algn="l">
              <a:spcBef>
                <a:spcPts val="0"/>
              </a:spcBef>
              <a:spcAft>
                <a:spcPts val="0"/>
              </a:spcAft>
              <a:buSzPts val="1400"/>
              <a:buChar char="○"/>
            </a:pPr>
            <a:r>
              <a:rPr b="1" lang="en"/>
              <a:t>False negative rate </a:t>
            </a:r>
            <a:r>
              <a:rPr lang="en"/>
              <a:t>(</a:t>
            </a:r>
            <a:r>
              <a:rPr b="1" lang="en"/>
              <a:t>FNR</a:t>
            </a:r>
            <a:r>
              <a:rPr lang="en"/>
              <a:t>)</a:t>
            </a:r>
            <a:r>
              <a:rPr lang="en"/>
              <a:t>: The probability the detector does not alert, given there is an attack</a:t>
            </a:r>
            <a:endParaRPr/>
          </a:p>
        </p:txBody>
      </p:sp>
      <p:sp>
        <p:nvSpPr>
          <p:cNvPr id="437" name="Google Shape;437;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Perfect Detectors</a:t>
            </a:r>
            <a:endParaRPr/>
          </a:p>
        </p:txBody>
      </p:sp>
      <p:sp>
        <p:nvSpPr>
          <p:cNvPr id="443" name="Google Shape;443;p49"/>
          <p:cNvSpPr txBox="1"/>
          <p:nvPr>
            <p:ph idx="1" type="body"/>
          </p:nvPr>
        </p:nvSpPr>
        <p:spPr>
          <a:xfrm>
            <a:off x="198500" y="1246825"/>
            <a:ext cx="8520600" cy="1673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Can we build a detector with a false positive rate of 0%?</a:t>
            </a:r>
            <a:endParaRPr/>
          </a:p>
          <a:p>
            <a:pPr indent="-317500" lvl="1" marL="914400" rtl="0" algn="l">
              <a:spcBef>
                <a:spcPts val="0"/>
              </a:spcBef>
              <a:spcAft>
                <a:spcPts val="0"/>
              </a:spcAft>
              <a:buSzPts val="1400"/>
              <a:buChar char="○"/>
            </a:pPr>
            <a:r>
              <a:rPr lang="en"/>
              <a:t>False positive rate = t</a:t>
            </a:r>
            <a:r>
              <a:rPr lang="en"/>
              <a:t>he probability the detector alerts, given there is no attack</a:t>
            </a:r>
            <a:endParaRPr/>
          </a:p>
        </p:txBody>
      </p:sp>
      <p:sp>
        <p:nvSpPr>
          <p:cNvPr id="444" name="Google Shape;444;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5" name="Google Shape;445;p49"/>
          <p:cNvSpPr/>
          <p:nvPr/>
        </p:nvSpPr>
        <p:spPr>
          <a:xfrm>
            <a:off x="467575" y="2919925"/>
            <a:ext cx="6224100" cy="872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void detector_with_no_false_positives(char *input) {</a:t>
            </a:r>
            <a:endParaRPr b="1">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    printf("Nope, not an attack!");</a:t>
            </a:r>
            <a:endParaRPr b="1">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a:t>
            </a:r>
            <a:endParaRPr b="1">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Perfect Detectors</a:t>
            </a:r>
            <a:endParaRPr/>
          </a:p>
        </p:txBody>
      </p:sp>
      <p:sp>
        <p:nvSpPr>
          <p:cNvPr id="451" name="Google Shape;451;p50"/>
          <p:cNvSpPr txBox="1"/>
          <p:nvPr>
            <p:ph idx="1" type="body"/>
          </p:nvPr>
        </p:nvSpPr>
        <p:spPr>
          <a:xfrm>
            <a:off x="198500" y="1246825"/>
            <a:ext cx="8520600" cy="1673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about a detector with a false negative rate of 0%?</a:t>
            </a:r>
            <a:endParaRPr/>
          </a:p>
          <a:p>
            <a:pPr indent="-317500" lvl="1" marL="914400" rtl="0" algn="l">
              <a:spcBef>
                <a:spcPts val="0"/>
              </a:spcBef>
              <a:spcAft>
                <a:spcPts val="0"/>
              </a:spcAft>
              <a:buSzPts val="1400"/>
              <a:buChar char="○"/>
            </a:pPr>
            <a:r>
              <a:rPr lang="en"/>
              <a:t>False negative rate = the probability the detector does not alert, given there is an attack</a:t>
            </a:r>
            <a:endParaRPr/>
          </a:p>
        </p:txBody>
      </p:sp>
      <p:sp>
        <p:nvSpPr>
          <p:cNvPr id="452" name="Google Shape;452;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3" name="Google Shape;453;p50"/>
          <p:cNvSpPr/>
          <p:nvPr/>
        </p:nvSpPr>
        <p:spPr>
          <a:xfrm>
            <a:off x="467575" y="3955550"/>
            <a:ext cx="6224100" cy="8727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void detector_with_no_false_negatives(char *input) {</a:t>
            </a:r>
            <a:endParaRPr b="1">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    printf("Yep, it's an attack!");</a:t>
            </a:r>
            <a:endParaRPr b="1">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a:solidFill>
                  <a:schemeClr val="dk1"/>
                </a:solidFill>
                <a:latin typeface="Courier New"/>
                <a:ea typeface="Courier New"/>
                <a:cs typeface="Courier New"/>
                <a:sym typeface="Courier New"/>
              </a:rPr>
              <a:t>}</a:t>
            </a:r>
            <a:endParaRPr b="1">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Detection Tradeoffs</a:t>
            </a:r>
            <a:endParaRPr/>
          </a:p>
        </p:txBody>
      </p:sp>
      <p:sp>
        <p:nvSpPr>
          <p:cNvPr id="459" name="Google Shape;459;p5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art of a good detector is achieving an effective balance between false positives and false negatives</a:t>
            </a:r>
            <a:endParaRPr/>
          </a:p>
          <a:p>
            <a:pPr indent="-342900" lvl="0" marL="457200" rtl="0" algn="l">
              <a:spcBef>
                <a:spcPts val="0"/>
              </a:spcBef>
              <a:spcAft>
                <a:spcPts val="0"/>
              </a:spcAft>
              <a:buSzPts val="1800"/>
              <a:buChar char="●"/>
            </a:pPr>
            <a:r>
              <a:rPr lang="en"/>
              <a:t>The usefulness of the detector depends on the system you’re using it on</a:t>
            </a:r>
            <a:endParaRPr/>
          </a:p>
          <a:p>
            <a:pPr indent="-317500" lvl="1" marL="914400" rtl="0" algn="l">
              <a:spcBef>
                <a:spcPts val="0"/>
              </a:spcBef>
              <a:spcAft>
                <a:spcPts val="0"/>
              </a:spcAft>
              <a:buSzPts val="1400"/>
              <a:buChar char="○"/>
            </a:pPr>
            <a:r>
              <a:rPr lang="en"/>
              <a:t>What is the rate of attacks on your system?</a:t>
            </a:r>
            <a:endParaRPr/>
          </a:p>
          <a:p>
            <a:pPr indent="-317500" lvl="1" marL="914400" rtl="0" algn="l">
              <a:spcBef>
                <a:spcPts val="0"/>
              </a:spcBef>
              <a:spcAft>
                <a:spcPts val="0"/>
              </a:spcAft>
              <a:buSzPts val="1400"/>
              <a:buChar char="○"/>
            </a:pPr>
            <a:r>
              <a:rPr lang="en"/>
              <a:t>How much does a false positive cost in your system?</a:t>
            </a:r>
            <a:endParaRPr/>
          </a:p>
          <a:p>
            <a:pPr indent="-317500" lvl="1" marL="914400" rtl="0" algn="l">
              <a:spcBef>
                <a:spcPts val="0"/>
              </a:spcBef>
              <a:spcAft>
                <a:spcPts val="0"/>
              </a:spcAft>
              <a:buSzPts val="1400"/>
              <a:buChar char="○"/>
            </a:pPr>
            <a:r>
              <a:rPr lang="en"/>
              <a:t>How much does a false negative cost in your system?</a:t>
            </a:r>
            <a:endParaRPr/>
          </a:p>
          <a:p>
            <a:pPr indent="-342900" lvl="0" marL="457200" rtl="0" algn="l">
              <a:spcBef>
                <a:spcPts val="0"/>
              </a:spcBef>
              <a:spcAft>
                <a:spcPts val="0"/>
              </a:spcAft>
              <a:buSzPts val="1800"/>
              <a:buChar char="●"/>
            </a:pPr>
            <a:r>
              <a:rPr lang="en"/>
              <a:t>Example of cost analysis: Fire alarms</a:t>
            </a:r>
            <a:endParaRPr/>
          </a:p>
          <a:p>
            <a:pPr indent="-317500" lvl="1" marL="914400" rtl="0" algn="l">
              <a:spcBef>
                <a:spcPts val="0"/>
              </a:spcBef>
              <a:spcAft>
                <a:spcPts val="0"/>
              </a:spcAft>
              <a:buSzPts val="1400"/>
              <a:buChar char="○"/>
            </a:pPr>
            <a:r>
              <a:rPr lang="en"/>
              <a:t>Which is better: a very low false positive rate or a very low false negative rate?</a:t>
            </a:r>
            <a:endParaRPr/>
          </a:p>
          <a:p>
            <a:pPr indent="-317500" lvl="1" marL="914400" rtl="0" algn="l">
              <a:spcBef>
                <a:spcPts val="0"/>
              </a:spcBef>
              <a:spcAft>
                <a:spcPts val="0"/>
              </a:spcAft>
              <a:buSzPts val="1400"/>
              <a:buChar char="○"/>
            </a:pPr>
            <a:r>
              <a:rPr lang="en"/>
              <a:t>Cost of a false positive: The fire department needs to inspect the building</a:t>
            </a:r>
            <a:endParaRPr/>
          </a:p>
          <a:p>
            <a:pPr indent="-317500" lvl="1" marL="914400" rtl="0" algn="l">
              <a:spcBef>
                <a:spcPts val="0"/>
              </a:spcBef>
              <a:spcAft>
                <a:spcPts val="0"/>
              </a:spcAft>
              <a:buSzPts val="1400"/>
              <a:buChar char="○"/>
            </a:pPr>
            <a:r>
              <a:rPr lang="en"/>
              <a:t>Cost of a false negative: The building burns down</a:t>
            </a:r>
            <a:endParaRPr/>
          </a:p>
          <a:p>
            <a:pPr indent="-317500" lvl="1" marL="914400" rtl="0" algn="l">
              <a:spcBef>
                <a:spcPts val="0"/>
              </a:spcBef>
              <a:spcAft>
                <a:spcPts val="0"/>
              </a:spcAft>
              <a:buSzPts val="1400"/>
              <a:buChar char="○"/>
            </a:pPr>
            <a:r>
              <a:rPr lang="en"/>
              <a:t>In this situation, false negatives are much more expensive!</a:t>
            </a:r>
            <a:endParaRPr/>
          </a:p>
          <a:p>
            <a:pPr indent="-317500" lvl="1" marL="914400" rtl="0" algn="l">
              <a:spcBef>
                <a:spcPts val="0"/>
              </a:spcBef>
              <a:spcAft>
                <a:spcPts val="0"/>
              </a:spcAft>
              <a:buSzPts val="1400"/>
              <a:buChar char="○"/>
            </a:pPr>
            <a:r>
              <a:rPr lang="en"/>
              <a:t>We want a detector with a low false negative rate</a:t>
            </a:r>
            <a:endParaRPr/>
          </a:p>
        </p:txBody>
      </p:sp>
      <p:sp>
        <p:nvSpPr>
          <p:cNvPr id="460" name="Google Shape;460;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Detection Tradeoffs</a:t>
            </a:r>
            <a:endParaRPr/>
          </a:p>
        </p:txBody>
      </p:sp>
      <p:sp>
        <p:nvSpPr>
          <p:cNvPr id="466" name="Google Shape;466;p5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Example of changing the base rate of attacks</a:t>
            </a:r>
            <a:endParaRPr/>
          </a:p>
          <a:p>
            <a:pPr indent="-317500" lvl="1" marL="914400" rtl="0" algn="l">
              <a:spcBef>
                <a:spcPts val="0"/>
              </a:spcBef>
              <a:spcAft>
                <a:spcPts val="0"/>
              </a:spcAft>
              <a:buSzPts val="1400"/>
              <a:buChar char="○"/>
            </a:pPr>
            <a:r>
              <a:rPr lang="en"/>
              <a:t>Consider a detector with a 0.1% false positive rate (for every 1,000 non-attacks, there is one mistaken alert)</a:t>
            </a:r>
            <a:endParaRPr/>
          </a:p>
          <a:p>
            <a:pPr indent="-317500" lvl="1" marL="914400" rtl="0" algn="l">
              <a:spcBef>
                <a:spcPts val="0"/>
              </a:spcBef>
              <a:spcAft>
                <a:spcPts val="0"/>
              </a:spcAft>
              <a:buSzPts val="1400"/>
              <a:buChar char="○"/>
            </a:pPr>
            <a:r>
              <a:rPr lang="en"/>
              <a:t>Scenario #1: Our server receives 1,000 non-attacks and 5 attacks per day</a:t>
            </a:r>
            <a:endParaRPr/>
          </a:p>
          <a:p>
            <a:pPr indent="-317500" lvl="2" marL="1371600" rtl="0" algn="l">
              <a:spcBef>
                <a:spcPts val="0"/>
              </a:spcBef>
              <a:spcAft>
                <a:spcPts val="0"/>
              </a:spcAft>
              <a:buSzPts val="1400"/>
              <a:buChar char="■"/>
            </a:pPr>
            <a:r>
              <a:rPr lang="en"/>
              <a:t>Expected number of false positives per day: 1,000 × 0.1% = 1</a:t>
            </a:r>
            <a:endParaRPr/>
          </a:p>
          <a:p>
            <a:pPr indent="-317500" lvl="1" marL="914400" rtl="0" algn="l">
              <a:spcBef>
                <a:spcPts val="0"/>
              </a:spcBef>
              <a:spcAft>
                <a:spcPts val="0"/>
              </a:spcAft>
              <a:buSzPts val="1400"/>
              <a:buChar char="○"/>
            </a:pPr>
            <a:r>
              <a:rPr lang="en"/>
              <a:t>Scenario #2: Our server receives 10,000,000 non-attacks and 5 attacks per day</a:t>
            </a:r>
            <a:endParaRPr/>
          </a:p>
          <a:p>
            <a:pPr indent="-317500" lvl="2" marL="1371600" rtl="0" algn="l">
              <a:spcBef>
                <a:spcPts val="0"/>
              </a:spcBef>
              <a:spcAft>
                <a:spcPts val="0"/>
              </a:spcAft>
              <a:buSzPts val="1400"/>
              <a:buChar char="■"/>
            </a:pPr>
            <a:r>
              <a:rPr lang="en"/>
              <a:t>Expected number of false positives per day: 10,000,000 × 0.1% = 10,000</a:t>
            </a:r>
            <a:endParaRPr/>
          </a:p>
          <a:p>
            <a:pPr indent="-317500" lvl="2" marL="1371600" rtl="0" algn="l">
              <a:spcBef>
                <a:spcPts val="0"/>
              </a:spcBef>
              <a:spcAft>
                <a:spcPts val="0"/>
              </a:spcAft>
              <a:buSzPts val="1400"/>
              <a:buChar char="■"/>
            </a:pPr>
            <a:r>
              <a:rPr lang="en"/>
              <a:t>Possibly expensive if the false positives cost money to investigate</a:t>
            </a:r>
            <a:endParaRPr/>
          </a:p>
          <a:p>
            <a:pPr indent="-317500" lvl="2" marL="1371600" rtl="0" algn="l">
              <a:spcBef>
                <a:spcPts val="0"/>
              </a:spcBef>
              <a:spcAft>
                <a:spcPts val="0"/>
              </a:spcAft>
              <a:buSzPts val="1400"/>
              <a:buChar char="■"/>
            </a:pPr>
            <a:r>
              <a:rPr lang="en"/>
              <a:t>Example: Maybe a human has to manually examine 10,000 requests per day </a:t>
            </a:r>
            <a:endParaRPr/>
          </a:p>
          <a:p>
            <a:pPr indent="-317500" lvl="1" marL="914400" rtl="0" algn="l">
              <a:spcBef>
                <a:spcPts val="0"/>
              </a:spcBef>
              <a:spcAft>
                <a:spcPts val="0"/>
              </a:spcAft>
              <a:buSzPts val="1400"/>
              <a:buChar char="○"/>
            </a:pPr>
            <a:r>
              <a:rPr lang="en"/>
              <a:t>Nothing changed about the detector: Only our environment changed</a:t>
            </a:r>
            <a:endParaRPr/>
          </a:p>
          <a:p>
            <a:pPr indent="-342900" lvl="0" marL="457200" rtl="0" algn="l">
              <a:spcBef>
                <a:spcPts val="0"/>
              </a:spcBef>
              <a:spcAft>
                <a:spcPts val="0"/>
              </a:spcAft>
              <a:buSzPts val="1800"/>
              <a:buChar char="●"/>
            </a:pPr>
            <a:r>
              <a:rPr b="1" lang="en"/>
              <a:t>Takeaway</a:t>
            </a:r>
            <a:r>
              <a:rPr lang="en"/>
              <a:t>: Accurate detection is very challenging if the base rate of attacks is low!</a:t>
            </a:r>
            <a:endParaRPr/>
          </a:p>
        </p:txBody>
      </p:sp>
      <p:sp>
        <p:nvSpPr>
          <p:cNvPr id="467" name="Google Shape;467;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1" name="Shape 471"/>
        <p:cNvGrpSpPr/>
        <p:nvPr/>
      </p:nvGrpSpPr>
      <p:grpSpPr>
        <a:xfrm>
          <a:off x="0" y="0"/>
          <a:ext cx="0" cy="0"/>
          <a:chOff x="0" y="0"/>
          <a:chExt cx="0" cy="0"/>
        </a:xfrm>
      </p:grpSpPr>
      <p:sp>
        <p:nvSpPr>
          <p:cNvPr id="472" name="Google Shape;472;p5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Detection Tradeoffs</a:t>
            </a:r>
            <a:endParaRPr/>
          </a:p>
        </p:txBody>
      </p:sp>
      <p:sp>
        <p:nvSpPr>
          <p:cNvPr id="473" name="Google Shape;473;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53"/>
          <p:cNvSpPr/>
          <p:nvPr/>
        </p:nvSpPr>
        <p:spPr>
          <a:xfrm>
            <a:off x="6681350" y="1506675"/>
            <a:ext cx="249300" cy="249300"/>
          </a:xfrm>
          <a:prstGeom prst="ellipse">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3"/>
          <p:cNvSpPr/>
          <p:nvPr/>
        </p:nvSpPr>
        <p:spPr>
          <a:xfrm>
            <a:off x="6681350" y="1854500"/>
            <a:ext cx="249300" cy="2493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3"/>
          <p:cNvSpPr txBox="1"/>
          <p:nvPr/>
        </p:nvSpPr>
        <p:spPr>
          <a:xfrm>
            <a:off x="6930650" y="1432450"/>
            <a:ext cx="1953600" cy="755700"/>
          </a:xfrm>
          <a:prstGeom prst="rect">
            <a:avLst/>
          </a:prstGeom>
          <a:noFill/>
          <a:ln>
            <a:noFill/>
          </a:ln>
        </p:spPr>
        <p:txBody>
          <a:bodyPr anchorCtr="0" anchor="t" bIns="91425" lIns="91425" spcFirstLastPara="1" rIns="91425" wrap="square" tIns="91425">
            <a:spAutoFit/>
          </a:bodyPr>
          <a:lstStyle/>
          <a:p>
            <a:pPr indent="0" lvl="0" marL="0" rtl="0" algn="l">
              <a:lnSpc>
                <a:spcPct val="165000"/>
              </a:lnSpc>
              <a:spcBef>
                <a:spcPts val="0"/>
              </a:spcBef>
              <a:spcAft>
                <a:spcPts val="0"/>
              </a:spcAft>
              <a:buNone/>
            </a:pPr>
            <a:r>
              <a:rPr lang="en"/>
              <a:t>Not false positives</a:t>
            </a:r>
            <a:endParaRPr/>
          </a:p>
          <a:p>
            <a:pPr indent="0" lvl="0" marL="0" rtl="0" algn="l">
              <a:lnSpc>
                <a:spcPct val="165000"/>
              </a:lnSpc>
              <a:spcBef>
                <a:spcPts val="0"/>
              </a:spcBef>
              <a:spcAft>
                <a:spcPts val="0"/>
              </a:spcAft>
              <a:buNone/>
            </a:pPr>
            <a:r>
              <a:rPr lang="en"/>
              <a:t>False positives</a:t>
            </a:r>
            <a:endParaRPr/>
          </a:p>
        </p:txBody>
      </p:sp>
      <p:grpSp>
        <p:nvGrpSpPr>
          <p:cNvPr id="477" name="Google Shape;477;p53"/>
          <p:cNvGrpSpPr/>
          <p:nvPr/>
        </p:nvGrpSpPr>
        <p:grpSpPr>
          <a:xfrm>
            <a:off x="1142050" y="3483763"/>
            <a:ext cx="1276500" cy="1278738"/>
            <a:chOff x="1142050" y="3483763"/>
            <a:chExt cx="1276500" cy="1278738"/>
          </a:xfrm>
        </p:grpSpPr>
        <p:sp>
          <p:nvSpPr>
            <p:cNvPr id="478" name="Google Shape;478;p53"/>
            <p:cNvSpPr/>
            <p:nvPr/>
          </p:nvSpPr>
          <p:spPr>
            <a:xfrm>
              <a:off x="1142050" y="3483763"/>
              <a:ext cx="1276500" cy="12765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3"/>
            <p:cNvSpPr txBox="1"/>
            <p:nvPr/>
          </p:nvSpPr>
          <p:spPr>
            <a:xfrm>
              <a:off x="1774125" y="3486000"/>
              <a:ext cx="43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5</a:t>
              </a:r>
              <a:endParaRPr>
                <a:solidFill>
                  <a:schemeClr val="lt1"/>
                </a:solidFill>
              </a:endParaRPr>
            </a:p>
          </p:txBody>
        </p:sp>
        <p:sp>
          <p:nvSpPr>
            <p:cNvPr id="480" name="Google Shape;480;p53"/>
            <p:cNvSpPr/>
            <p:nvPr/>
          </p:nvSpPr>
          <p:spPr>
            <a:xfrm>
              <a:off x="1142050" y="3486000"/>
              <a:ext cx="1276500" cy="1276500"/>
            </a:xfrm>
            <a:prstGeom prst="pie">
              <a:avLst>
                <a:gd fmla="val 18146988" name="adj1"/>
                <a:gd fmla="val 1620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53"/>
            <p:cNvSpPr txBox="1"/>
            <p:nvPr/>
          </p:nvSpPr>
          <p:spPr>
            <a:xfrm>
              <a:off x="1564900" y="4205600"/>
              <a:ext cx="43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95</a:t>
              </a:r>
              <a:endParaRPr>
                <a:solidFill>
                  <a:schemeClr val="dk1"/>
                </a:solidFill>
              </a:endParaRPr>
            </a:p>
          </p:txBody>
        </p:sp>
      </p:grpSp>
      <p:grpSp>
        <p:nvGrpSpPr>
          <p:cNvPr id="482" name="Google Shape;482;p53"/>
          <p:cNvGrpSpPr/>
          <p:nvPr/>
        </p:nvGrpSpPr>
        <p:grpSpPr>
          <a:xfrm>
            <a:off x="461700" y="1448850"/>
            <a:ext cx="5142415" cy="1878000"/>
            <a:chOff x="461700" y="1448850"/>
            <a:chExt cx="5142415" cy="1878000"/>
          </a:xfrm>
        </p:grpSpPr>
        <p:sp>
          <p:nvSpPr>
            <p:cNvPr id="483" name="Google Shape;483;p53"/>
            <p:cNvSpPr/>
            <p:nvPr/>
          </p:nvSpPr>
          <p:spPr>
            <a:xfrm>
              <a:off x="3699175" y="1576529"/>
              <a:ext cx="1904940" cy="572686"/>
            </a:xfrm>
            <a:custGeom>
              <a:rect b="b" l="l" r="r" t="t"/>
              <a:pathLst>
                <a:path extrusionOk="0" h="18703" w="70658">
                  <a:moveTo>
                    <a:pt x="0" y="0"/>
                  </a:moveTo>
                  <a:lnTo>
                    <a:pt x="70658" y="0"/>
                  </a:lnTo>
                  <a:lnTo>
                    <a:pt x="70658" y="18703"/>
                  </a:lnTo>
                </a:path>
              </a:pathLst>
            </a:custGeom>
            <a:noFill/>
            <a:ln cap="flat" cmpd="sng" w="19050">
              <a:solidFill>
                <a:srgbClr val="E69138"/>
              </a:solidFill>
              <a:prstDash val="solid"/>
              <a:round/>
              <a:headEnd len="med" w="med" type="none"/>
              <a:tailEnd len="med" w="med" type="triangle"/>
            </a:ln>
          </p:spPr>
        </p:sp>
        <p:cxnSp>
          <p:nvCxnSpPr>
            <p:cNvPr id="484" name="Google Shape;484;p53"/>
            <p:cNvCxnSpPr/>
            <p:nvPr/>
          </p:nvCxnSpPr>
          <p:spPr>
            <a:xfrm>
              <a:off x="1780300" y="2495550"/>
              <a:ext cx="0" cy="831300"/>
            </a:xfrm>
            <a:prstGeom prst="straightConnector1">
              <a:avLst/>
            </a:prstGeom>
            <a:noFill/>
            <a:ln cap="flat" cmpd="sng" w="19050">
              <a:solidFill>
                <a:srgbClr val="E69138"/>
              </a:solidFill>
              <a:prstDash val="solid"/>
              <a:round/>
              <a:headEnd len="med" w="med" type="none"/>
              <a:tailEnd len="med" w="med" type="triangle"/>
            </a:ln>
          </p:spPr>
        </p:cxnSp>
        <p:sp>
          <p:nvSpPr>
            <p:cNvPr id="485" name="Google Shape;485;p53"/>
            <p:cNvSpPr txBox="1"/>
            <p:nvPr/>
          </p:nvSpPr>
          <p:spPr>
            <a:xfrm>
              <a:off x="461700" y="1448850"/>
              <a:ext cx="33726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proportion of false positives stays the same, but when there are more requests, the absolute number of false positives increases</a:t>
              </a:r>
              <a:endParaRPr/>
            </a:p>
          </p:txBody>
        </p:sp>
      </p:grpSp>
      <p:grpSp>
        <p:nvGrpSpPr>
          <p:cNvPr id="486" name="Google Shape;486;p53"/>
          <p:cNvGrpSpPr/>
          <p:nvPr/>
        </p:nvGrpSpPr>
        <p:grpSpPr>
          <a:xfrm>
            <a:off x="4014775" y="2188149"/>
            <a:ext cx="2647800" cy="2652441"/>
            <a:chOff x="4014775" y="2188149"/>
            <a:chExt cx="2647800" cy="2652441"/>
          </a:xfrm>
        </p:grpSpPr>
        <p:sp>
          <p:nvSpPr>
            <p:cNvPr id="487" name="Google Shape;487;p53"/>
            <p:cNvSpPr/>
            <p:nvPr/>
          </p:nvSpPr>
          <p:spPr>
            <a:xfrm>
              <a:off x="4014775" y="2188149"/>
              <a:ext cx="2647800" cy="26478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53"/>
            <p:cNvSpPr txBox="1"/>
            <p:nvPr/>
          </p:nvSpPr>
          <p:spPr>
            <a:xfrm>
              <a:off x="5394077" y="2366600"/>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50</a:t>
              </a:r>
              <a:endParaRPr>
                <a:solidFill>
                  <a:schemeClr val="lt1"/>
                </a:solidFill>
              </a:endParaRPr>
            </a:p>
          </p:txBody>
        </p:sp>
        <p:sp>
          <p:nvSpPr>
            <p:cNvPr id="489" name="Google Shape;489;p53"/>
            <p:cNvSpPr/>
            <p:nvPr/>
          </p:nvSpPr>
          <p:spPr>
            <a:xfrm>
              <a:off x="4014775" y="2192790"/>
              <a:ext cx="2647800" cy="2647800"/>
            </a:xfrm>
            <a:prstGeom prst="pie">
              <a:avLst>
                <a:gd fmla="val 18146988" name="adj1"/>
                <a:gd fmla="val 1620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53"/>
            <p:cNvSpPr txBox="1"/>
            <p:nvPr/>
          </p:nvSpPr>
          <p:spPr>
            <a:xfrm>
              <a:off x="4891821" y="3685329"/>
              <a:ext cx="89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950</a:t>
              </a:r>
              <a:endParaRPr>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 Rate Fallacy</a:t>
            </a:r>
            <a:endParaRPr/>
          </a:p>
        </p:txBody>
      </p:sp>
      <p:sp>
        <p:nvSpPr>
          <p:cNvPr id="496" name="Google Shape;496;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7" name="Google Shape;497;p5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Cons</a:t>
            </a:r>
            <a:r>
              <a:rPr lang="en"/>
              <a:t>ider the detector from before: 0.1% false positive rate</a:t>
            </a:r>
            <a:endParaRPr/>
          </a:p>
          <a:p>
            <a:pPr indent="-317500" lvl="1" marL="914400" rtl="0" algn="l">
              <a:spcBef>
                <a:spcPts val="0"/>
              </a:spcBef>
              <a:spcAft>
                <a:spcPts val="0"/>
              </a:spcAft>
              <a:buSzPts val="1400"/>
              <a:buChar char="○"/>
            </a:pPr>
            <a:r>
              <a:rPr lang="en"/>
              <a:t>Assume a 0% false negative rate: Every attack is detected</a:t>
            </a:r>
            <a:endParaRPr/>
          </a:p>
          <a:p>
            <a:pPr indent="-317500" lvl="1" marL="914400" rtl="0" algn="l">
              <a:spcBef>
                <a:spcPts val="0"/>
              </a:spcBef>
              <a:spcAft>
                <a:spcPts val="0"/>
              </a:spcAft>
              <a:buSzPts val="1400"/>
              <a:buChar char="○"/>
            </a:pPr>
            <a:r>
              <a:rPr lang="en"/>
              <a:t>Scenario from before: Our server receives 10,000,000 non-attacks and 5 attacks per day</a:t>
            </a:r>
            <a:endParaRPr/>
          </a:p>
          <a:p>
            <a:pPr indent="-317500" lvl="1" marL="914400" rtl="0" algn="l">
              <a:spcBef>
                <a:spcPts val="0"/>
              </a:spcBef>
              <a:spcAft>
                <a:spcPts val="0"/>
              </a:spcAft>
              <a:buSzPts val="1400"/>
              <a:buChar char="○"/>
            </a:pPr>
            <a:r>
              <a:rPr lang="en"/>
              <a:t>Expected number of false positives per day: 10,000,000 × 0.1% = 10,000</a:t>
            </a:r>
            <a:endParaRPr/>
          </a:p>
          <a:p>
            <a:pPr indent="-342900" lvl="0" marL="457200" rtl="0" algn="l">
              <a:spcBef>
                <a:spcPts val="0"/>
              </a:spcBef>
              <a:spcAft>
                <a:spcPts val="0"/>
              </a:spcAft>
              <a:buSzPts val="1800"/>
              <a:buChar char="●"/>
            </a:pPr>
            <a:r>
              <a:rPr lang="en"/>
              <a:t>You see the detector alert. What is the probability this is really an attack?</a:t>
            </a:r>
            <a:endParaRPr/>
          </a:p>
          <a:p>
            <a:pPr indent="-317500" lvl="1" marL="914400" rtl="0" algn="l">
              <a:spcBef>
                <a:spcPts val="0"/>
              </a:spcBef>
              <a:spcAft>
                <a:spcPts val="0"/>
              </a:spcAft>
              <a:buSzPts val="1400"/>
              <a:buChar char="○"/>
            </a:pPr>
            <a:r>
              <a:rPr lang="en"/>
              <a:t>Of the 10,005 detections, 5 are real attacks, and 10,000 are false positives</a:t>
            </a:r>
            <a:endParaRPr/>
          </a:p>
          <a:p>
            <a:pPr indent="-317500" lvl="1" marL="914400" rtl="0" algn="l">
              <a:spcBef>
                <a:spcPts val="0"/>
              </a:spcBef>
              <a:spcAft>
                <a:spcPts val="0"/>
              </a:spcAft>
              <a:buSzPts val="1400"/>
              <a:buChar char="○"/>
            </a:pPr>
            <a:r>
              <a:rPr lang="en"/>
              <a:t>There is an approximately 0.05% probability that the detector found a real attack</a:t>
            </a:r>
            <a:endParaRPr/>
          </a:p>
          <a:p>
            <a:pPr indent="-342900" lvl="0" marL="457200" rtl="0" algn="l">
              <a:spcBef>
                <a:spcPts val="0"/>
              </a:spcBef>
              <a:spcAft>
                <a:spcPts val="0"/>
              </a:spcAft>
              <a:buSzPts val="1800"/>
              <a:buChar char="●"/>
            </a:pPr>
            <a:r>
              <a:rPr lang="en"/>
              <a:t>Base rate fallacy: Even though the detector alerted, it’s still highly unlikely that you found an attack, because of the high false positive rate</a:t>
            </a:r>
            <a:endParaRPr/>
          </a:p>
          <a:p>
            <a:pPr indent="-342900" lvl="0" marL="457200" rtl="0" algn="l">
              <a:spcBef>
                <a:spcPts val="0"/>
              </a:spcBef>
              <a:spcAft>
                <a:spcPts val="0"/>
              </a:spcAft>
              <a:buSzPts val="1800"/>
              <a:buChar char="●"/>
            </a:pPr>
            <a:r>
              <a:rPr b="1" lang="en"/>
              <a:t>Takeaway</a:t>
            </a:r>
            <a:r>
              <a:rPr lang="en"/>
              <a:t>: Detecting is hard when the base rate of attacks is low</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Combining Detectors</a:t>
            </a:r>
            <a:endParaRPr/>
          </a:p>
        </p:txBody>
      </p:sp>
      <p:sp>
        <p:nvSpPr>
          <p:cNvPr id="503" name="Google Shape;503;p5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Can you combine two independent detectors to create a better detector?</a:t>
            </a:r>
            <a:endParaRPr/>
          </a:p>
          <a:p>
            <a:pPr indent="-342900" lvl="0" marL="457200" rtl="0" algn="l">
              <a:spcBef>
                <a:spcPts val="0"/>
              </a:spcBef>
              <a:spcAft>
                <a:spcPts val="0"/>
              </a:spcAft>
              <a:buSzPts val="1800"/>
              <a:buChar char="●"/>
            </a:pPr>
            <a:r>
              <a:rPr lang="en"/>
              <a:t>Parallel composition</a:t>
            </a:r>
            <a:endParaRPr/>
          </a:p>
          <a:p>
            <a:pPr indent="-317500" lvl="1" marL="914400" rtl="0" algn="l">
              <a:spcBef>
                <a:spcPts val="0"/>
              </a:spcBef>
              <a:spcAft>
                <a:spcPts val="0"/>
              </a:spcAft>
              <a:buSzPts val="1400"/>
              <a:buChar char="○"/>
            </a:pPr>
            <a:r>
              <a:rPr lang="en"/>
              <a:t>Alert if either detector alerts</a:t>
            </a:r>
            <a:endParaRPr/>
          </a:p>
          <a:p>
            <a:pPr indent="-317500" lvl="1" marL="914400" rtl="0" algn="l">
              <a:spcBef>
                <a:spcPts val="0"/>
              </a:spcBef>
              <a:spcAft>
                <a:spcPts val="0"/>
              </a:spcAft>
              <a:buSzPts val="1400"/>
              <a:buChar char="○"/>
            </a:pPr>
            <a:r>
              <a:rPr lang="en"/>
              <a:t>Intuition: The combination generates more alerts</a:t>
            </a:r>
            <a:endParaRPr/>
          </a:p>
          <a:p>
            <a:pPr indent="-317500" lvl="1" marL="914400" rtl="0" algn="l">
              <a:spcBef>
                <a:spcPts val="0"/>
              </a:spcBef>
              <a:spcAft>
                <a:spcPts val="0"/>
              </a:spcAft>
              <a:buSzPts val="1400"/>
              <a:buChar char="○"/>
            </a:pPr>
            <a:r>
              <a:rPr lang="en"/>
              <a:t>Reduces false negative rate</a:t>
            </a:r>
            <a:endParaRPr/>
          </a:p>
          <a:p>
            <a:pPr indent="-317500" lvl="1" marL="914400" rtl="0" algn="l">
              <a:spcBef>
                <a:spcPts val="0"/>
              </a:spcBef>
              <a:spcAft>
                <a:spcPts val="0"/>
              </a:spcAft>
              <a:buSzPts val="1400"/>
              <a:buChar char="○"/>
            </a:pPr>
            <a:r>
              <a:rPr lang="en"/>
              <a:t>Increases false positive rate</a:t>
            </a:r>
            <a:endParaRPr/>
          </a:p>
          <a:p>
            <a:pPr indent="-342900" lvl="0" marL="457200" rtl="0" algn="l">
              <a:spcBef>
                <a:spcPts val="0"/>
              </a:spcBef>
              <a:spcAft>
                <a:spcPts val="0"/>
              </a:spcAft>
              <a:buSzPts val="1800"/>
              <a:buChar char="●"/>
            </a:pPr>
            <a:r>
              <a:rPr lang="en"/>
              <a:t>Series composition</a:t>
            </a:r>
            <a:endParaRPr/>
          </a:p>
          <a:p>
            <a:pPr indent="-317500" lvl="1" marL="914400" rtl="0" algn="l">
              <a:spcBef>
                <a:spcPts val="0"/>
              </a:spcBef>
              <a:spcAft>
                <a:spcPts val="0"/>
              </a:spcAft>
              <a:buSzPts val="1400"/>
              <a:buChar char="○"/>
            </a:pPr>
            <a:r>
              <a:rPr lang="en"/>
              <a:t>Alert only if both detectors alert</a:t>
            </a:r>
            <a:endParaRPr/>
          </a:p>
          <a:p>
            <a:pPr indent="-317500" lvl="1" marL="914400" rtl="0" algn="l">
              <a:spcBef>
                <a:spcPts val="0"/>
              </a:spcBef>
              <a:spcAft>
                <a:spcPts val="0"/>
              </a:spcAft>
              <a:buSzPts val="1400"/>
              <a:buChar char="○"/>
            </a:pPr>
            <a:r>
              <a:rPr lang="en"/>
              <a:t>Intuition: The combination generates fewer alerts</a:t>
            </a:r>
            <a:endParaRPr/>
          </a:p>
          <a:p>
            <a:pPr indent="-317500" lvl="1" marL="914400" rtl="0" algn="l">
              <a:spcBef>
                <a:spcPts val="0"/>
              </a:spcBef>
              <a:spcAft>
                <a:spcPts val="0"/>
              </a:spcAft>
              <a:buSzPts val="1400"/>
              <a:buChar char="○"/>
            </a:pPr>
            <a:r>
              <a:rPr lang="en"/>
              <a:t>Reduces false positive rate</a:t>
            </a:r>
            <a:endParaRPr/>
          </a:p>
          <a:p>
            <a:pPr indent="-317500" lvl="1" marL="914400" rtl="0" algn="l">
              <a:spcBef>
                <a:spcPts val="0"/>
              </a:spcBef>
              <a:spcAft>
                <a:spcPts val="0"/>
              </a:spcAft>
              <a:buSzPts val="1400"/>
              <a:buChar char="○"/>
            </a:pPr>
            <a:r>
              <a:rPr lang="en"/>
              <a:t>Increases false negative rate</a:t>
            </a:r>
            <a:endParaRPr/>
          </a:p>
          <a:p>
            <a:pPr indent="-342900" lvl="0" marL="457200" rtl="0" algn="l">
              <a:spcBef>
                <a:spcPts val="0"/>
              </a:spcBef>
              <a:spcAft>
                <a:spcPts val="0"/>
              </a:spcAft>
              <a:buSzPts val="1800"/>
              <a:buChar char="●"/>
            </a:pPr>
            <a:r>
              <a:rPr lang="en"/>
              <a:t>There is no free lunch: reducing one rate usually increases the other</a:t>
            </a:r>
            <a:endParaRPr/>
          </a:p>
        </p:txBody>
      </p:sp>
      <p:sp>
        <p:nvSpPr>
          <p:cNvPr id="504" name="Google Shape;504;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Styles of Detection</a:t>
            </a:r>
            <a:endParaRPr/>
          </a:p>
        </p:txBody>
      </p:sp>
      <p:sp>
        <p:nvSpPr>
          <p:cNvPr id="510" name="Google Shape;510;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Styles of Detection</a:t>
            </a:r>
            <a:endParaRPr/>
          </a:p>
        </p:txBody>
      </p:sp>
      <p:sp>
        <p:nvSpPr>
          <p:cNvPr id="516" name="Google Shape;516;p5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 far we’ve talked about types of detectors: </a:t>
            </a:r>
            <a:r>
              <a:rPr i="1" lang="en"/>
              <a:t>what</a:t>
            </a:r>
            <a:r>
              <a:rPr lang="en"/>
              <a:t> the detector is scanning</a:t>
            </a:r>
            <a:endParaRPr/>
          </a:p>
          <a:p>
            <a:pPr indent="-342900" lvl="0" marL="457200" rtl="0" algn="l">
              <a:spcBef>
                <a:spcPts val="0"/>
              </a:spcBef>
              <a:spcAft>
                <a:spcPts val="0"/>
              </a:spcAft>
              <a:buSzPts val="1800"/>
              <a:buChar char="●"/>
            </a:pPr>
            <a:r>
              <a:rPr lang="en"/>
              <a:t>Now we’ll talk about styles of detection: </a:t>
            </a:r>
            <a:r>
              <a:rPr i="1" lang="en"/>
              <a:t>how</a:t>
            </a:r>
            <a:r>
              <a:rPr lang="en"/>
              <a:t> the detector scans data to find attacks</a:t>
            </a:r>
            <a:endParaRPr/>
          </a:p>
          <a:p>
            <a:pPr indent="-342900" lvl="0" marL="457200" rtl="0" algn="l">
              <a:spcBef>
                <a:spcPts val="0"/>
              </a:spcBef>
              <a:spcAft>
                <a:spcPts val="0"/>
              </a:spcAft>
              <a:buSzPts val="1800"/>
              <a:buChar char="●"/>
            </a:pPr>
            <a:r>
              <a:rPr lang="en"/>
              <a:t>Four main styles of detection</a:t>
            </a:r>
            <a:endParaRPr/>
          </a:p>
          <a:p>
            <a:pPr indent="-317500" lvl="1" marL="914400" rtl="0" algn="l">
              <a:spcBef>
                <a:spcPts val="0"/>
              </a:spcBef>
              <a:spcAft>
                <a:spcPts val="0"/>
              </a:spcAft>
              <a:buSzPts val="1400"/>
              <a:buChar char="○"/>
            </a:pPr>
            <a:r>
              <a:rPr lang="en"/>
              <a:t>Signature-based detection</a:t>
            </a:r>
            <a:endParaRPr/>
          </a:p>
          <a:p>
            <a:pPr indent="-317500" lvl="1" marL="914400" rtl="0" algn="l">
              <a:spcBef>
                <a:spcPts val="0"/>
              </a:spcBef>
              <a:spcAft>
                <a:spcPts val="0"/>
              </a:spcAft>
              <a:buSzPts val="1400"/>
              <a:buChar char="○"/>
            </a:pPr>
            <a:r>
              <a:rPr lang="en"/>
              <a:t>Specification-based detection</a:t>
            </a:r>
            <a:endParaRPr/>
          </a:p>
          <a:p>
            <a:pPr indent="-317500" lvl="1" marL="914400" rtl="0" algn="l">
              <a:spcBef>
                <a:spcPts val="0"/>
              </a:spcBef>
              <a:spcAft>
                <a:spcPts val="0"/>
              </a:spcAft>
              <a:buSzPts val="1400"/>
              <a:buChar char="○"/>
            </a:pPr>
            <a:r>
              <a:rPr lang="en"/>
              <a:t>Anomaly-based detection</a:t>
            </a:r>
            <a:endParaRPr/>
          </a:p>
          <a:p>
            <a:pPr indent="-317500" lvl="1" marL="914400" rtl="0" algn="l">
              <a:spcBef>
                <a:spcPts val="0"/>
              </a:spcBef>
              <a:spcAft>
                <a:spcPts val="0"/>
              </a:spcAft>
              <a:buSzPts val="1400"/>
              <a:buChar char="○"/>
            </a:pPr>
            <a:r>
              <a:rPr lang="en"/>
              <a:t>B</a:t>
            </a:r>
            <a:r>
              <a:rPr lang="en"/>
              <a:t>ehavioral</a:t>
            </a:r>
            <a:r>
              <a:rPr lang="en"/>
              <a:t> detection</a:t>
            </a:r>
            <a:endParaRPr/>
          </a:p>
        </p:txBody>
      </p:sp>
      <p:sp>
        <p:nvSpPr>
          <p:cNvPr id="517" name="Google Shape;517;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Signature-based Detection</a:t>
            </a:r>
            <a:endParaRPr/>
          </a:p>
        </p:txBody>
      </p:sp>
      <p:sp>
        <p:nvSpPr>
          <p:cNvPr id="523" name="Google Shape;523;p5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Signature-based detection</a:t>
            </a:r>
            <a:r>
              <a:rPr lang="en"/>
              <a:t>: Flag any </a:t>
            </a:r>
            <a:r>
              <a:rPr lang="en"/>
              <a:t>activity that matches the structure of a known attack</a:t>
            </a:r>
            <a:endParaRPr/>
          </a:p>
          <a:p>
            <a:pPr indent="-342900" lvl="0" marL="457200" rtl="0" algn="l">
              <a:spcBef>
                <a:spcPts val="0"/>
              </a:spcBef>
              <a:spcAft>
                <a:spcPts val="0"/>
              </a:spcAft>
              <a:buSzPts val="1800"/>
              <a:buChar char="●"/>
            </a:pPr>
            <a:r>
              <a:rPr lang="en"/>
              <a:t>Signature-based detection uses a </a:t>
            </a:r>
            <a:r>
              <a:rPr b="1" lang="en"/>
              <a:t>denylist</a:t>
            </a:r>
            <a:r>
              <a:rPr lang="en"/>
              <a:t>: Keep a list of patterns (signatures) that are not allowed, and alert if we see something on the list</a:t>
            </a:r>
            <a:endParaRPr/>
          </a:p>
          <a:p>
            <a:pPr indent="-342900" lvl="0" marL="457200" rtl="0" algn="l">
              <a:spcBef>
                <a:spcPts val="0"/>
              </a:spcBef>
              <a:spcAft>
                <a:spcPts val="0"/>
              </a:spcAft>
              <a:buSzPts val="1800"/>
              <a:buChar char="●"/>
            </a:pPr>
            <a:r>
              <a:rPr lang="en"/>
              <a:t>Signatures can be at different network layers</a:t>
            </a:r>
            <a:endParaRPr/>
          </a:p>
          <a:p>
            <a:pPr indent="-317500" lvl="1" marL="914400" rtl="0" algn="l">
              <a:spcBef>
                <a:spcPts val="0"/>
              </a:spcBef>
              <a:spcAft>
                <a:spcPts val="0"/>
              </a:spcAft>
              <a:buSzPts val="1400"/>
              <a:buChar char="○"/>
            </a:pPr>
            <a:r>
              <a:rPr lang="en"/>
              <a:t>Example: TCP/IP header fields</a:t>
            </a:r>
            <a:endParaRPr/>
          </a:p>
          <a:p>
            <a:pPr indent="-317500" lvl="1" marL="914400" rtl="0" algn="l">
              <a:spcBef>
                <a:spcPts val="0"/>
              </a:spcBef>
              <a:spcAft>
                <a:spcPts val="0"/>
              </a:spcAft>
              <a:buSzPts val="1400"/>
              <a:buChar char="○"/>
            </a:pPr>
            <a:r>
              <a:rPr lang="en"/>
              <a:t>Example: URLs</a:t>
            </a:r>
            <a:endParaRPr/>
          </a:p>
          <a:p>
            <a:pPr indent="-317500" lvl="1" marL="914400" rtl="0" algn="l">
              <a:spcBef>
                <a:spcPts val="0"/>
              </a:spcBef>
              <a:spcAft>
                <a:spcPts val="0"/>
              </a:spcAft>
              <a:buSzPts val="1400"/>
              <a:buChar char="○"/>
            </a:pPr>
            <a:r>
              <a:rPr lang="en"/>
              <a:t>Example: Payload of the HTTP request</a:t>
            </a:r>
            <a:endParaRPr/>
          </a:p>
        </p:txBody>
      </p:sp>
      <p:sp>
        <p:nvSpPr>
          <p:cNvPr id="524" name="Google Shape;524;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Signature-based Detection: Examples</a:t>
            </a:r>
            <a:endParaRPr/>
          </a:p>
        </p:txBody>
      </p:sp>
      <p:sp>
        <p:nvSpPr>
          <p:cNvPr id="530" name="Google Shape;530;p5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a:t>
            </a:r>
            <a:r>
              <a:rPr lang="en"/>
              <a:t>xample: Path traversal attacks</a:t>
            </a:r>
            <a:endParaRPr/>
          </a:p>
          <a:p>
            <a:pPr indent="-317500" lvl="1" marL="914400" rtl="0" algn="l">
              <a:spcBef>
                <a:spcPts val="0"/>
              </a:spcBef>
              <a:spcAft>
                <a:spcPts val="0"/>
              </a:spcAft>
              <a:buSzPts val="1400"/>
              <a:buChar char="○"/>
            </a:pPr>
            <a:r>
              <a:rPr lang="en"/>
              <a:t>We know that </a:t>
            </a:r>
            <a:r>
              <a:rPr b="1" lang="en">
                <a:latin typeface="Courier New"/>
                <a:ea typeface="Courier New"/>
                <a:cs typeface="Courier New"/>
                <a:sym typeface="Courier New"/>
              </a:rPr>
              <a:t>../</a:t>
            </a:r>
            <a:r>
              <a:rPr lang="en"/>
              <a:t> is often part of a path traversal attack</a:t>
            </a:r>
            <a:endParaRPr/>
          </a:p>
          <a:p>
            <a:pPr indent="-317500" lvl="1" marL="914400" rtl="0" algn="l">
              <a:spcBef>
                <a:spcPts val="0"/>
              </a:spcBef>
              <a:spcAft>
                <a:spcPts val="0"/>
              </a:spcAft>
              <a:buSzPts val="1400"/>
              <a:buChar char="○"/>
            </a:pPr>
            <a:r>
              <a:rPr lang="en"/>
              <a:t>Strategy: Alert if any request contains </a:t>
            </a:r>
            <a:r>
              <a:rPr b="1" lang="en">
                <a:latin typeface="Courier New"/>
                <a:ea typeface="Courier New"/>
                <a:cs typeface="Courier New"/>
                <a:sym typeface="Courier New"/>
              </a:rPr>
              <a:t>../</a:t>
            </a:r>
            <a:endParaRPr/>
          </a:p>
          <a:p>
            <a:pPr indent="-342900" lvl="0" marL="457200" rtl="0" algn="l">
              <a:spcBef>
                <a:spcPts val="0"/>
              </a:spcBef>
              <a:spcAft>
                <a:spcPts val="0"/>
              </a:spcAft>
              <a:buSzPts val="1800"/>
              <a:buChar char="●"/>
            </a:pPr>
            <a:r>
              <a:rPr lang="en"/>
              <a:t>Example: Buffer overflows</a:t>
            </a:r>
            <a:endParaRPr/>
          </a:p>
          <a:p>
            <a:pPr indent="-317500" lvl="1" marL="914400" rtl="0" algn="l">
              <a:spcBef>
                <a:spcPts val="0"/>
              </a:spcBef>
              <a:spcAft>
                <a:spcPts val="0"/>
              </a:spcAft>
              <a:buSzPts val="1400"/>
              <a:buChar char="○"/>
            </a:pPr>
            <a:r>
              <a:rPr lang="en"/>
              <a:t>We know that buffer overflows usually contain shellcode</a:t>
            </a:r>
            <a:endParaRPr/>
          </a:p>
          <a:p>
            <a:pPr indent="-317500" lvl="1" marL="914400" rtl="0" algn="l">
              <a:spcBef>
                <a:spcPts val="0"/>
              </a:spcBef>
              <a:spcAft>
                <a:spcPts val="0"/>
              </a:spcAft>
              <a:buSzPts val="1400"/>
              <a:buChar char="○"/>
            </a:pPr>
            <a:r>
              <a:rPr lang="en"/>
              <a:t>Strategy: </a:t>
            </a:r>
            <a:r>
              <a:rPr lang="en"/>
              <a:t>Keep a list of common shellcodes and a</a:t>
            </a:r>
            <a:r>
              <a:rPr lang="en"/>
              <a:t>lert if any request contains one of these</a:t>
            </a:r>
            <a:endParaRPr/>
          </a:p>
        </p:txBody>
      </p:sp>
      <p:sp>
        <p:nvSpPr>
          <p:cNvPr id="531" name="Google Shape;531;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Signature-based Detection: Tradeoffs</a:t>
            </a:r>
            <a:endParaRPr/>
          </a:p>
        </p:txBody>
      </p:sp>
      <p:sp>
        <p:nvSpPr>
          <p:cNvPr id="537" name="Google Shape;537;p6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Benefits</a:t>
            </a:r>
            <a:endParaRPr/>
          </a:p>
          <a:p>
            <a:pPr indent="-317500" lvl="1" marL="914400" rtl="0" algn="l">
              <a:spcBef>
                <a:spcPts val="0"/>
              </a:spcBef>
              <a:spcAft>
                <a:spcPts val="0"/>
              </a:spcAft>
              <a:buSzPts val="1400"/>
              <a:buChar char="○"/>
            </a:pPr>
            <a:r>
              <a:rPr lang="en"/>
              <a:t>Conceptually simple</a:t>
            </a:r>
            <a:endParaRPr/>
          </a:p>
          <a:p>
            <a:pPr indent="-317500" lvl="1" marL="914400" rtl="0" algn="l">
              <a:spcBef>
                <a:spcPts val="0"/>
              </a:spcBef>
              <a:spcAft>
                <a:spcPts val="0"/>
              </a:spcAft>
              <a:buSzPts val="1400"/>
              <a:buChar char="○"/>
            </a:pPr>
            <a:r>
              <a:rPr lang="en"/>
              <a:t>Very good at detecting known attacks</a:t>
            </a:r>
            <a:endParaRPr/>
          </a:p>
          <a:p>
            <a:pPr indent="-317500" lvl="1" marL="914400" rtl="0" algn="l">
              <a:spcBef>
                <a:spcPts val="0"/>
              </a:spcBef>
              <a:spcAft>
                <a:spcPts val="0"/>
              </a:spcAft>
              <a:buSzPts val="1400"/>
              <a:buChar char="○"/>
            </a:pPr>
            <a:r>
              <a:rPr lang="en"/>
              <a:t>Easy to share signatures and build up shared libraries of attacks</a:t>
            </a:r>
            <a:endParaRPr/>
          </a:p>
          <a:p>
            <a:pPr indent="-342900" lvl="0" marL="457200" rtl="0" algn="l">
              <a:spcBef>
                <a:spcPts val="0"/>
              </a:spcBef>
              <a:spcAft>
                <a:spcPts val="0"/>
              </a:spcAft>
              <a:buSzPts val="1800"/>
              <a:buChar char="●"/>
            </a:pPr>
            <a:r>
              <a:rPr lang="en"/>
              <a:t>Drawbacks</a:t>
            </a:r>
            <a:endParaRPr/>
          </a:p>
          <a:p>
            <a:pPr indent="-317500" lvl="1" marL="914400" rtl="0" algn="l">
              <a:spcBef>
                <a:spcPts val="0"/>
              </a:spcBef>
              <a:spcAft>
                <a:spcPts val="0"/>
              </a:spcAft>
              <a:buSzPts val="1400"/>
              <a:buChar char="○"/>
            </a:pPr>
            <a:r>
              <a:rPr lang="en"/>
              <a:t>Won’t catch new attacks without a known signature</a:t>
            </a:r>
            <a:endParaRPr/>
          </a:p>
          <a:p>
            <a:pPr indent="-317500" lvl="1" marL="914400" rtl="0" algn="l">
              <a:spcBef>
                <a:spcPts val="0"/>
              </a:spcBef>
              <a:spcAft>
                <a:spcPts val="0"/>
              </a:spcAft>
              <a:buSzPts val="1400"/>
              <a:buChar char="○"/>
            </a:pPr>
            <a:r>
              <a:rPr lang="en"/>
              <a:t>Might not catch variants of known attacks if the variant doesn’t match the signature</a:t>
            </a:r>
            <a:endParaRPr/>
          </a:p>
          <a:p>
            <a:pPr indent="-317500" lvl="1" marL="914400" rtl="0" algn="l">
              <a:spcBef>
                <a:spcPts val="0"/>
              </a:spcBef>
              <a:spcAft>
                <a:spcPts val="0"/>
              </a:spcAft>
              <a:buSzPts val="1400"/>
              <a:buChar char="○"/>
            </a:pPr>
            <a:r>
              <a:rPr lang="en"/>
              <a:t>The attacker can modify their attack to avoid matching a signature</a:t>
            </a:r>
            <a:endParaRPr/>
          </a:p>
          <a:p>
            <a:pPr indent="-317500" lvl="1" marL="914400" rtl="0" algn="l">
              <a:spcBef>
                <a:spcPts val="0"/>
              </a:spcBef>
              <a:spcAft>
                <a:spcPts val="0"/>
              </a:spcAft>
              <a:buSzPts val="1400"/>
              <a:buChar char="○"/>
            </a:pPr>
            <a:r>
              <a:rPr lang="en"/>
              <a:t>Simpler versions only look at raw bytes, without parsing them in context</a:t>
            </a:r>
            <a:endParaRPr/>
          </a:p>
          <a:p>
            <a:pPr indent="-317500" lvl="2" marL="1371600" rtl="0" algn="l">
              <a:spcBef>
                <a:spcPts val="0"/>
              </a:spcBef>
              <a:spcAft>
                <a:spcPts val="0"/>
              </a:spcAft>
              <a:buSzPts val="1400"/>
              <a:buChar char="■"/>
            </a:pPr>
            <a:r>
              <a:rPr lang="en"/>
              <a:t>May miss variants</a:t>
            </a:r>
            <a:endParaRPr/>
          </a:p>
          <a:p>
            <a:pPr indent="-317500" lvl="2" marL="1371600" rtl="0" algn="l">
              <a:spcBef>
                <a:spcPts val="0"/>
              </a:spcBef>
              <a:spcAft>
                <a:spcPts val="0"/>
              </a:spcAft>
              <a:buSzPts val="1400"/>
              <a:buChar char="■"/>
            </a:pPr>
            <a:r>
              <a:rPr lang="en"/>
              <a:t>May generate lots of false positives</a:t>
            </a:r>
            <a:endParaRPr/>
          </a:p>
        </p:txBody>
      </p:sp>
      <p:sp>
        <p:nvSpPr>
          <p:cNvPr id="538" name="Google Shape;538;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Specification-based Detection</a:t>
            </a:r>
            <a:endParaRPr/>
          </a:p>
        </p:txBody>
      </p:sp>
      <p:sp>
        <p:nvSpPr>
          <p:cNvPr id="544" name="Google Shape;544;p6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Specification-based detection</a:t>
            </a:r>
            <a:r>
              <a:rPr lang="en"/>
              <a:t>: Specify allowed behavior and flag any behavior that isn’t allowed behavior</a:t>
            </a:r>
            <a:endParaRPr/>
          </a:p>
          <a:p>
            <a:pPr indent="-342900" lvl="0" marL="457200" rtl="0" algn="l">
              <a:spcBef>
                <a:spcPts val="0"/>
              </a:spcBef>
              <a:spcAft>
                <a:spcPts val="0"/>
              </a:spcAft>
              <a:buSzPts val="1800"/>
              <a:buChar char="●"/>
            </a:pPr>
            <a:r>
              <a:rPr lang="en"/>
              <a:t>Specification</a:t>
            </a:r>
            <a:r>
              <a:rPr lang="en"/>
              <a:t>-based detection uses an </a:t>
            </a:r>
            <a:r>
              <a:rPr b="1" lang="en"/>
              <a:t>allowlist</a:t>
            </a:r>
            <a:r>
              <a:rPr lang="en"/>
              <a:t>: Keep a list of allowed patterns, and alert if we see something that is not on the list</a:t>
            </a:r>
            <a:endParaRPr/>
          </a:p>
        </p:txBody>
      </p:sp>
      <p:sp>
        <p:nvSpPr>
          <p:cNvPr id="545" name="Google Shape;545;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Specification</a:t>
            </a:r>
            <a:r>
              <a:rPr lang="en"/>
              <a:t>-based Detection: Examples</a:t>
            </a:r>
            <a:endParaRPr/>
          </a:p>
        </p:txBody>
      </p:sp>
      <p:sp>
        <p:nvSpPr>
          <p:cNvPr id="551" name="Google Shape;551;p6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Example: Path traversal attacks</a:t>
            </a:r>
            <a:endParaRPr/>
          </a:p>
          <a:p>
            <a:pPr indent="-317500" lvl="1" marL="914400" rtl="0" algn="l">
              <a:spcBef>
                <a:spcPts val="0"/>
              </a:spcBef>
              <a:spcAft>
                <a:spcPts val="0"/>
              </a:spcAft>
              <a:buSzPts val="1400"/>
              <a:buChar char="○"/>
            </a:pPr>
            <a:r>
              <a:rPr lang="en"/>
              <a:t>We have a folder where all filenames are alphanumeric (a-z, A-Z, 0-9)</a:t>
            </a:r>
            <a:endParaRPr/>
          </a:p>
          <a:p>
            <a:pPr indent="-317500" lvl="1" marL="914400" rtl="0" algn="l">
              <a:spcBef>
                <a:spcPts val="0"/>
              </a:spcBef>
              <a:spcAft>
                <a:spcPts val="0"/>
              </a:spcAft>
              <a:buSzPts val="1400"/>
              <a:buChar char="○"/>
            </a:pPr>
            <a:r>
              <a:rPr lang="en"/>
              <a:t>We specify that only alphanumeric characters are allowed as input</a:t>
            </a:r>
            <a:endParaRPr/>
          </a:p>
          <a:p>
            <a:pPr indent="-317500" lvl="1" marL="914400" rtl="0" algn="l">
              <a:spcBef>
                <a:spcPts val="0"/>
              </a:spcBef>
              <a:spcAft>
                <a:spcPts val="0"/>
              </a:spcAft>
              <a:buSzPts val="1400"/>
              <a:buChar char="○"/>
            </a:pPr>
            <a:r>
              <a:rPr lang="en"/>
              <a:t>Strategy: Alert if any request contains something other than alphanumeric characters</a:t>
            </a:r>
            <a:endParaRPr/>
          </a:p>
          <a:p>
            <a:pPr indent="-317500" lvl="1" marL="914400" rtl="0" algn="l">
              <a:spcBef>
                <a:spcPts val="0"/>
              </a:spcBef>
              <a:spcAft>
                <a:spcPts val="0"/>
              </a:spcAft>
              <a:buSzPts val="1400"/>
              <a:buChar char="○"/>
            </a:pPr>
            <a:r>
              <a:rPr lang="en"/>
              <a:t>If an attacker tries a path </a:t>
            </a:r>
            <a:r>
              <a:rPr lang="en"/>
              <a:t>traversal attack (</a:t>
            </a:r>
            <a:r>
              <a:rPr b="1" lang="en">
                <a:latin typeface="Courier New"/>
                <a:ea typeface="Courier New"/>
                <a:cs typeface="Courier New"/>
                <a:sym typeface="Courier New"/>
              </a:rPr>
              <a:t>../</a:t>
            </a:r>
            <a:r>
              <a:rPr lang="en"/>
              <a:t>), the detector will flag it</a:t>
            </a:r>
            <a:endParaRPr/>
          </a:p>
          <a:p>
            <a:pPr indent="-342900" lvl="0" marL="457200" rtl="0" algn="l">
              <a:spcBef>
                <a:spcPts val="0"/>
              </a:spcBef>
              <a:spcAft>
                <a:spcPts val="0"/>
              </a:spcAft>
              <a:buSzPts val="1800"/>
              <a:buChar char="●"/>
            </a:pPr>
            <a:r>
              <a:rPr lang="en"/>
              <a:t>Example: Buffer overflows</a:t>
            </a:r>
            <a:endParaRPr/>
          </a:p>
          <a:p>
            <a:pPr indent="-317500" lvl="1" marL="914400" rtl="0" algn="l">
              <a:spcBef>
                <a:spcPts val="0"/>
              </a:spcBef>
              <a:spcAft>
                <a:spcPts val="0"/>
              </a:spcAft>
              <a:buSzPts val="1400"/>
              <a:buChar char="○"/>
            </a:pPr>
            <a:r>
              <a:rPr lang="en"/>
              <a:t>Consider a program that asks for the user’s age as input</a:t>
            </a:r>
            <a:endParaRPr/>
          </a:p>
          <a:p>
            <a:pPr indent="-317500" lvl="1" marL="914400" rtl="0" algn="l">
              <a:spcBef>
                <a:spcPts val="0"/>
              </a:spcBef>
              <a:spcAft>
                <a:spcPts val="0"/>
              </a:spcAft>
              <a:buSzPts val="1400"/>
              <a:buChar char="○"/>
            </a:pPr>
            <a:r>
              <a:rPr lang="en"/>
              <a:t>We know that ages are numerical, so we specify that only numbers are allowed</a:t>
            </a:r>
            <a:endParaRPr/>
          </a:p>
          <a:p>
            <a:pPr indent="-317500" lvl="1" marL="914400" rtl="0" algn="l">
              <a:spcBef>
                <a:spcPts val="0"/>
              </a:spcBef>
              <a:spcAft>
                <a:spcPts val="0"/>
              </a:spcAft>
              <a:buSzPts val="1400"/>
              <a:buChar char="○"/>
            </a:pPr>
            <a:r>
              <a:rPr lang="en"/>
              <a:t>Strategy: Flag input that isn’t numerical</a:t>
            </a:r>
            <a:endParaRPr/>
          </a:p>
          <a:p>
            <a:pPr indent="-317500" lvl="1" marL="914400" rtl="0" algn="l">
              <a:spcBef>
                <a:spcPts val="0"/>
              </a:spcBef>
              <a:spcAft>
                <a:spcPts val="0"/>
              </a:spcAft>
              <a:buSzPts val="1400"/>
              <a:buChar char="○"/>
            </a:pPr>
            <a:r>
              <a:rPr lang="en"/>
              <a:t>If an attacker tries to input shellcode (not numbers), the detector will flag it</a:t>
            </a:r>
            <a:endParaRPr/>
          </a:p>
        </p:txBody>
      </p:sp>
      <p:sp>
        <p:nvSpPr>
          <p:cNvPr id="552" name="Google Shape;552;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Specification</a:t>
            </a:r>
            <a:r>
              <a:rPr lang="en"/>
              <a:t>-based Detection: Tradeoffs</a:t>
            </a:r>
            <a:endParaRPr/>
          </a:p>
        </p:txBody>
      </p:sp>
      <p:sp>
        <p:nvSpPr>
          <p:cNvPr id="558" name="Google Shape;558;p6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Benefits</a:t>
            </a:r>
            <a:endParaRPr/>
          </a:p>
          <a:p>
            <a:pPr indent="-317500" lvl="1" marL="914400" rtl="0" algn="l">
              <a:spcBef>
                <a:spcPts val="0"/>
              </a:spcBef>
              <a:spcAft>
                <a:spcPts val="0"/>
              </a:spcAft>
              <a:buSzPts val="1400"/>
              <a:buChar char="○"/>
            </a:pPr>
            <a:r>
              <a:rPr lang="en"/>
              <a:t>Can detect new attacks we’ve never seen before</a:t>
            </a:r>
            <a:endParaRPr/>
          </a:p>
          <a:p>
            <a:pPr indent="-317500" lvl="1" marL="914400" rtl="0" algn="l">
              <a:spcBef>
                <a:spcPts val="0"/>
              </a:spcBef>
              <a:spcAft>
                <a:spcPts val="0"/>
              </a:spcAft>
              <a:buSzPts val="1400"/>
              <a:buChar char="○"/>
            </a:pPr>
            <a:r>
              <a:rPr lang="en"/>
              <a:t>If we properly specify all allowed behavior, can have low false positive rate</a:t>
            </a:r>
            <a:endParaRPr/>
          </a:p>
          <a:p>
            <a:pPr indent="-342900" lvl="0" marL="457200" rtl="0" algn="l">
              <a:spcBef>
                <a:spcPts val="0"/>
              </a:spcBef>
              <a:spcAft>
                <a:spcPts val="0"/>
              </a:spcAft>
              <a:buSzPts val="1800"/>
              <a:buChar char="●"/>
            </a:pPr>
            <a:r>
              <a:rPr lang="en"/>
              <a:t>Drawbacks</a:t>
            </a:r>
            <a:endParaRPr/>
          </a:p>
          <a:p>
            <a:pPr indent="-317500" lvl="1" marL="914400" rtl="0" algn="l">
              <a:spcBef>
                <a:spcPts val="0"/>
              </a:spcBef>
              <a:spcAft>
                <a:spcPts val="0"/>
              </a:spcAft>
              <a:buSzPts val="1400"/>
              <a:buChar char="○"/>
            </a:pPr>
            <a:r>
              <a:rPr lang="en"/>
              <a:t>Takes a lot of time and </a:t>
            </a:r>
            <a:r>
              <a:rPr lang="en"/>
              <a:t>effort to manually specify all allowed behavior</a:t>
            </a:r>
            <a:endParaRPr/>
          </a:p>
          <a:p>
            <a:pPr indent="-317500" lvl="1" marL="914400" rtl="0" algn="l">
              <a:spcBef>
                <a:spcPts val="0"/>
              </a:spcBef>
              <a:spcAft>
                <a:spcPts val="0"/>
              </a:spcAft>
              <a:buSzPts val="1400"/>
              <a:buChar char="○"/>
            </a:pPr>
            <a:r>
              <a:rPr lang="en"/>
              <a:t>May need to update specifications as things change</a:t>
            </a:r>
            <a:endParaRPr/>
          </a:p>
        </p:txBody>
      </p:sp>
      <p:sp>
        <p:nvSpPr>
          <p:cNvPr id="559" name="Google Shape;559;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Anomaly-based Detection</a:t>
            </a:r>
            <a:endParaRPr/>
          </a:p>
        </p:txBody>
      </p:sp>
      <p:sp>
        <p:nvSpPr>
          <p:cNvPr id="565" name="Google Shape;565;p6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Attacks look unusual</a:t>
            </a:r>
            <a:endParaRPr/>
          </a:p>
          <a:p>
            <a:pPr indent="-342900" lvl="0" marL="457200" rtl="0" algn="l">
              <a:spcBef>
                <a:spcPts val="0"/>
              </a:spcBef>
              <a:spcAft>
                <a:spcPts val="0"/>
              </a:spcAft>
              <a:buSzPts val="1800"/>
              <a:buChar char="●"/>
            </a:pPr>
            <a:r>
              <a:rPr b="1" lang="en"/>
              <a:t>Anomaly-based detection</a:t>
            </a:r>
            <a:r>
              <a:rPr lang="en"/>
              <a:t>: Develop a model of what normal activity looks like. Alert on any activity that deviates from normal activity.</a:t>
            </a:r>
            <a:endParaRPr/>
          </a:p>
          <a:p>
            <a:pPr indent="-317500" lvl="1" marL="914400" rtl="0" algn="l">
              <a:spcBef>
                <a:spcPts val="0"/>
              </a:spcBef>
              <a:spcAft>
                <a:spcPts val="0"/>
              </a:spcAft>
              <a:buSzPts val="1400"/>
              <a:buChar char="○"/>
            </a:pPr>
            <a:r>
              <a:rPr lang="en"/>
              <a:t>Example: Analyze historical logs to develop the model</a:t>
            </a:r>
            <a:endParaRPr/>
          </a:p>
          <a:p>
            <a:pPr indent="-342900" lvl="0" marL="457200" rtl="0" algn="l">
              <a:spcBef>
                <a:spcPts val="0"/>
              </a:spcBef>
              <a:spcAft>
                <a:spcPts val="0"/>
              </a:spcAft>
              <a:buSzPts val="1800"/>
              <a:buChar char="●"/>
            </a:pPr>
            <a:r>
              <a:rPr lang="en"/>
              <a:t>Similar to specification-based detection, but learn a model of normal behavior instead of manually specifying normal behavior</a:t>
            </a:r>
            <a:endParaRPr/>
          </a:p>
        </p:txBody>
      </p:sp>
      <p:sp>
        <p:nvSpPr>
          <p:cNvPr id="566" name="Google Shape;566;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6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Anomaly-based Detection: Examples</a:t>
            </a:r>
            <a:endParaRPr/>
          </a:p>
        </p:txBody>
      </p:sp>
      <p:sp>
        <p:nvSpPr>
          <p:cNvPr id="572" name="Google Shape;572;p6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Example: Path traversal attacks</a:t>
            </a:r>
            <a:endParaRPr/>
          </a:p>
          <a:p>
            <a:pPr indent="-317500" lvl="1" marL="914400" rtl="0" algn="l">
              <a:spcBef>
                <a:spcPts val="0"/>
              </a:spcBef>
              <a:spcAft>
                <a:spcPts val="0"/>
              </a:spcAft>
              <a:buSzPts val="1400"/>
              <a:buChar char="○"/>
            </a:pPr>
            <a:r>
              <a:rPr lang="en"/>
              <a:t>Analyze characters in requests and learn that </a:t>
            </a:r>
            <a:r>
              <a:rPr b="1" lang="en">
                <a:latin typeface="Courier New"/>
                <a:ea typeface="Courier New"/>
                <a:cs typeface="Courier New"/>
                <a:sym typeface="Courier New"/>
              </a:rPr>
              <a:t>..</a:t>
            </a:r>
            <a:r>
              <a:rPr lang="en"/>
              <a:t> only appears in attacks</a:t>
            </a:r>
            <a:endParaRPr/>
          </a:p>
          <a:p>
            <a:pPr indent="-317500" lvl="1" marL="914400" rtl="0" algn="l">
              <a:spcBef>
                <a:spcPts val="0"/>
              </a:spcBef>
              <a:spcAft>
                <a:spcPts val="0"/>
              </a:spcAft>
              <a:buSzPts val="1400"/>
              <a:buChar char="○"/>
            </a:pPr>
            <a:r>
              <a:rPr lang="en"/>
              <a:t>Strategy: Alert if any request contains </a:t>
            </a:r>
            <a:r>
              <a:rPr b="1" lang="en">
                <a:latin typeface="Courier New"/>
                <a:ea typeface="Courier New"/>
                <a:cs typeface="Courier New"/>
                <a:sym typeface="Courier New"/>
              </a:rPr>
              <a:t>..</a:t>
            </a:r>
            <a:endParaRPr/>
          </a:p>
          <a:p>
            <a:pPr indent="-342900" lvl="0" marL="457200" rtl="0" algn="l">
              <a:spcBef>
                <a:spcPts val="0"/>
              </a:spcBef>
              <a:spcAft>
                <a:spcPts val="0"/>
              </a:spcAft>
              <a:buSzPts val="1800"/>
              <a:buChar char="●"/>
            </a:pPr>
            <a:r>
              <a:rPr lang="en"/>
              <a:t>Example: Buffer overflows</a:t>
            </a:r>
            <a:endParaRPr/>
          </a:p>
          <a:p>
            <a:pPr indent="-317500" lvl="1" marL="914400" rtl="0" algn="l">
              <a:spcBef>
                <a:spcPts val="0"/>
              </a:spcBef>
              <a:spcAft>
                <a:spcPts val="0"/>
              </a:spcAft>
              <a:buSzPts val="1400"/>
              <a:buChar char="○"/>
            </a:pPr>
            <a:r>
              <a:rPr lang="en"/>
              <a:t>Study user inputs to a C program</a:t>
            </a:r>
            <a:endParaRPr/>
          </a:p>
          <a:p>
            <a:pPr indent="-317500" lvl="1" marL="914400" rtl="0" algn="l">
              <a:spcBef>
                <a:spcPts val="0"/>
              </a:spcBef>
              <a:spcAft>
                <a:spcPts val="0"/>
              </a:spcAft>
              <a:buSzPts val="1400"/>
              <a:buChar char="○"/>
            </a:pPr>
            <a:r>
              <a:rPr lang="en"/>
              <a:t>Learn that user input usually contains characters that can be typed on a keyboard</a:t>
            </a:r>
            <a:endParaRPr/>
          </a:p>
          <a:p>
            <a:pPr indent="-317500" lvl="1" marL="914400" rtl="0" algn="l">
              <a:spcBef>
                <a:spcPts val="0"/>
              </a:spcBef>
              <a:spcAft>
                <a:spcPts val="0"/>
              </a:spcAft>
              <a:buSzPts val="1400"/>
              <a:buChar char="○"/>
            </a:pPr>
            <a:r>
              <a:rPr lang="en"/>
              <a:t>Strategy: Alert if the input contains characters that can’t be typed on a keyboard</a:t>
            </a:r>
            <a:endParaRPr/>
          </a:p>
          <a:p>
            <a:pPr indent="-317500" lvl="1" marL="914400" rtl="0" algn="l">
              <a:spcBef>
                <a:spcPts val="0"/>
              </a:spcBef>
              <a:spcAft>
                <a:spcPts val="0"/>
              </a:spcAft>
              <a:buSzPts val="1400"/>
              <a:buChar char="○"/>
            </a:pPr>
            <a:r>
              <a:rPr lang="en"/>
              <a:t>If an attacker inputs shellcode (can’t be typed on a keyboard), the detector will alert</a:t>
            </a:r>
            <a:endParaRPr/>
          </a:p>
        </p:txBody>
      </p:sp>
      <p:sp>
        <p:nvSpPr>
          <p:cNvPr id="573" name="Google Shape;57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6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Anomaly</a:t>
            </a:r>
            <a:r>
              <a:rPr lang="en"/>
              <a:t>-based Detection: Tradeoffs</a:t>
            </a:r>
            <a:endParaRPr/>
          </a:p>
        </p:txBody>
      </p:sp>
      <p:sp>
        <p:nvSpPr>
          <p:cNvPr id="579" name="Google Shape;579;p6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Benefits</a:t>
            </a:r>
            <a:endParaRPr/>
          </a:p>
          <a:p>
            <a:pPr indent="-317500" lvl="1" marL="914400" rtl="0" algn="l">
              <a:spcBef>
                <a:spcPts val="0"/>
              </a:spcBef>
              <a:spcAft>
                <a:spcPts val="0"/>
              </a:spcAft>
              <a:buSzPts val="1400"/>
              <a:buChar char="○"/>
            </a:pPr>
            <a:r>
              <a:rPr lang="en"/>
              <a:t>Can detect attacks we haven’t seen before</a:t>
            </a:r>
            <a:endParaRPr/>
          </a:p>
          <a:p>
            <a:pPr indent="-342900" lvl="0" marL="457200" rtl="0" algn="l">
              <a:spcBef>
                <a:spcPts val="0"/>
              </a:spcBef>
              <a:spcAft>
                <a:spcPts val="0"/>
              </a:spcAft>
              <a:buSzPts val="1800"/>
              <a:buChar char="●"/>
            </a:pPr>
            <a:r>
              <a:rPr lang="en"/>
              <a:t>Drawbacks</a:t>
            </a:r>
            <a:endParaRPr/>
          </a:p>
          <a:p>
            <a:pPr indent="-317500" lvl="1" marL="914400" rtl="0" algn="l">
              <a:spcBef>
                <a:spcPts val="0"/>
              </a:spcBef>
              <a:spcAft>
                <a:spcPts val="0"/>
              </a:spcAft>
              <a:buSzPts val="1400"/>
              <a:buChar char="○"/>
            </a:pPr>
            <a:r>
              <a:rPr lang="en"/>
              <a:t>Can fail to detect known attacks</a:t>
            </a:r>
            <a:endParaRPr/>
          </a:p>
          <a:p>
            <a:pPr indent="-317500" lvl="1" marL="914400" rtl="0" algn="l">
              <a:spcBef>
                <a:spcPts val="0"/>
              </a:spcBef>
              <a:spcAft>
                <a:spcPts val="0"/>
              </a:spcAft>
              <a:buSzPts val="1400"/>
              <a:buChar char="○"/>
            </a:pPr>
            <a:r>
              <a:rPr lang="en"/>
              <a:t>Can fail to detect new attacks if they don’t look unusual to our model</a:t>
            </a:r>
            <a:endParaRPr/>
          </a:p>
          <a:p>
            <a:pPr indent="-317500" lvl="1" marL="914400" rtl="0" algn="l">
              <a:spcBef>
                <a:spcPts val="0"/>
              </a:spcBef>
              <a:spcAft>
                <a:spcPts val="0"/>
              </a:spcAft>
              <a:buSzPts val="1400"/>
              <a:buChar char="○"/>
            </a:pPr>
            <a:r>
              <a:rPr lang="en"/>
              <a:t>What if our model is trained on bad data (e.g., data with a lot of attacks)?</a:t>
            </a:r>
            <a:endParaRPr/>
          </a:p>
          <a:p>
            <a:pPr indent="-317500" lvl="1" marL="914400" rtl="0" algn="l">
              <a:spcBef>
                <a:spcPts val="0"/>
              </a:spcBef>
              <a:spcAft>
                <a:spcPts val="0"/>
              </a:spcAft>
              <a:buSzPts val="1400"/>
              <a:buChar char="○"/>
            </a:pPr>
            <a:r>
              <a:rPr lang="en"/>
              <a:t>The false positive rate is often high (lots of non-attacks look unusual -- anomalous/unusual for reasons unrelated to security)</a:t>
            </a:r>
            <a:endParaRPr/>
          </a:p>
          <a:p>
            <a:pPr indent="-317500" lvl="1" marL="914400" rtl="0" algn="l">
              <a:spcBef>
                <a:spcPts val="0"/>
              </a:spcBef>
              <a:spcAft>
                <a:spcPts val="0"/>
              </a:spcAft>
              <a:buSzPts val="1400"/>
              <a:buChar char="○"/>
            </a:pPr>
            <a:r>
              <a:rPr lang="en"/>
              <a:t>If we try to reduce false positives by only flagging the most unusual inputs, the false negative rate might be high (we miss slightly unusual attacks)</a:t>
            </a:r>
            <a:endParaRPr/>
          </a:p>
          <a:p>
            <a:pPr indent="-342900" lvl="0" marL="457200" rtl="0" algn="l">
              <a:spcBef>
                <a:spcPts val="0"/>
              </a:spcBef>
              <a:spcAft>
                <a:spcPts val="0"/>
              </a:spcAft>
              <a:buSzPts val="1800"/>
              <a:buChar char="●"/>
            </a:pPr>
            <a:r>
              <a:rPr lang="en"/>
              <a:t>Great subject for academic research papers, but not used in practice</a:t>
            </a:r>
            <a:endParaRPr/>
          </a:p>
        </p:txBody>
      </p:sp>
      <p:sp>
        <p:nvSpPr>
          <p:cNvPr id="580" name="Google Shape;580;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6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t>
            </a:r>
            <a:r>
              <a:rPr lang="en"/>
              <a:t>ehavioral</a:t>
            </a:r>
            <a:r>
              <a:rPr lang="en"/>
              <a:t> Detection</a:t>
            </a:r>
            <a:endParaRPr/>
          </a:p>
        </p:txBody>
      </p:sp>
      <p:sp>
        <p:nvSpPr>
          <p:cNvPr id="586" name="Google Shape;586;p6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Behavioral</a:t>
            </a:r>
            <a:r>
              <a:rPr b="1" lang="en"/>
              <a:t> detection</a:t>
            </a:r>
            <a:r>
              <a:rPr lang="en"/>
              <a:t>: Look for evidence of compromise in actions taken</a:t>
            </a:r>
            <a:endParaRPr/>
          </a:p>
          <a:p>
            <a:pPr indent="-342900" lvl="0" marL="457200" rtl="0" algn="l">
              <a:spcBef>
                <a:spcPts val="0"/>
              </a:spcBef>
              <a:spcAft>
                <a:spcPts val="0"/>
              </a:spcAft>
              <a:buSzPts val="1800"/>
              <a:buChar char="●"/>
            </a:pPr>
            <a:r>
              <a:rPr lang="en"/>
              <a:t>Unlike the other three styles, we are not scanning the input: We’re looking at the actions triggered by the input</a:t>
            </a:r>
            <a:endParaRPr/>
          </a:p>
          <a:p>
            <a:pPr indent="-317500" lvl="1" marL="914400" rtl="0" algn="l">
              <a:spcBef>
                <a:spcPts val="0"/>
              </a:spcBef>
              <a:spcAft>
                <a:spcPts val="0"/>
              </a:spcAft>
              <a:buSzPts val="1400"/>
              <a:buChar char="○"/>
            </a:pPr>
            <a:r>
              <a:rPr lang="en"/>
              <a:t>Instead of looking for the exploit, we’re looking for the result of the exploit</a:t>
            </a:r>
            <a:endParaRPr/>
          </a:p>
          <a:p>
            <a:pPr indent="-317500" lvl="1" marL="914400" rtl="0" algn="l">
              <a:spcBef>
                <a:spcPts val="0"/>
              </a:spcBef>
              <a:spcAft>
                <a:spcPts val="0"/>
              </a:spcAft>
              <a:buSzPts val="1400"/>
              <a:buChar char="○"/>
            </a:pPr>
            <a:r>
              <a:rPr i="1" lang="en"/>
              <a:t>Behaviors</a:t>
            </a:r>
            <a:r>
              <a:rPr lang="en"/>
              <a:t> can themselves be analyzed using denylists (signature-based), allowlists (specification-based), or learned models of normal behavior (anomaly-based)</a:t>
            </a:r>
            <a:endParaRPr/>
          </a:p>
        </p:txBody>
      </p:sp>
      <p:sp>
        <p:nvSpPr>
          <p:cNvPr id="587" name="Google Shape;587;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t>
            </a:r>
            <a:r>
              <a:rPr lang="en"/>
              <a:t>ehavioral</a:t>
            </a:r>
            <a:r>
              <a:rPr lang="en"/>
              <a:t> Detection: Examples</a:t>
            </a:r>
            <a:endParaRPr/>
          </a:p>
        </p:txBody>
      </p:sp>
      <p:sp>
        <p:nvSpPr>
          <p:cNvPr id="593" name="Google Shape;593;p6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Example: Path traversal attacks</a:t>
            </a:r>
            <a:endParaRPr/>
          </a:p>
          <a:p>
            <a:pPr indent="-317500" lvl="1" marL="914400" rtl="0" algn="l">
              <a:spcBef>
                <a:spcPts val="0"/>
              </a:spcBef>
              <a:spcAft>
                <a:spcPts val="0"/>
              </a:spcAft>
              <a:buSzPts val="1400"/>
              <a:buChar char="○"/>
            </a:pPr>
            <a:r>
              <a:rPr lang="en"/>
              <a:t>Strategy: See if any unexpected files are being accessed (e.g., the passwords file)</a:t>
            </a:r>
            <a:endParaRPr/>
          </a:p>
          <a:p>
            <a:pPr indent="-342900" lvl="0" marL="457200" rtl="0" algn="l">
              <a:spcBef>
                <a:spcPts val="0"/>
              </a:spcBef>
              <a:spcAft>
                <a:spcPts val="0"/>
              </a:spcAft>
              <a:buSzPts val="1800"/>
              <a:buChar char="●"/>
            </a:pPr>
            <a:r>
              <a:rPr lang="en"/>
              <a:t>Example: Buffer overflows</a:t>
            </a:r>
            <a:endParaRPr/>
          </a:p>
          <a:p>
            <a:pPr indent="-317500" lvl="1" marL="914400" rtl="0" algn="l">
              <a:spcBef>
                <a:spcPts val="0"/>
              </a:spcBef>
              <a:spcAft>
                <a:spcPts val="0"/>
              </a:spcAft>
              <a:buSzPts val="1400"/>
              <a:buChar char="○"/>
            </a:pPr>
            <a:r>
              <a:rPr lang="en"/>
              <a:t>Strategy: See if the program calls unexpected functions</a:t>
            </a:r>
            <a:endParaRPr/>
          </a:p>
          <a:p>
            <a:pPr indent="-317500" lvl="1" marL="914400" rtl="0" algn="l">
              <a:spcBef>
                <a:spcPts val="0"/>
              </a:spcBef>
              <a:spcAft>
                <a:spcPts val="0"/>
              </a:spcAft>
              <a:buSzPts val="1400"/>
              <a:buChar char="○"/>
            </a:pPr>
            <a:r>
              <a:rPr lang="en"/>
              <a:t>Consider a C program that never calls the </a:t>
            </a:r>
            <a:r>
              <a:rPr b="1" lang="en">
                <a:latin typeface="Courier New"/>
                <a:ea typeface="Courier New"/>
                <a:cs typeface="Courier New"/>
                <a:sym typeface="Courier New"/>
              </a:rPr>
              <a:t>exec</a:t>
            </a:r>
            <a:r>
              <a:rPr lang="en"/>
              <a:t> function: if the program starts running </a:t>
            </a:r>
            <a:r>
              <a:rPr b="1" lang="en">
                <a:latin typeface="Courier New"/>
                <a:ea typeface="Courier New"/>
                <a:cs typeface="Courier New"/>
                <a:sym typeface="Courier New"/>
              </a:rPr>
              <a:t>exec</a:t>
            </a:r>
            <a:r>
              <a:rPr lang="en"/>
              <a:t>, there is probably an attack in progress!</a:t>
            </a:r>
            <a:endParaRPr/>
          </a:p>
        </p:txBody>
      </p:sp>
      <p:sp>
        <p:nvSpPr>
          <p:cNvPr id="594" name="Google Shape;594;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6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t>
            </a:r>
            <a:r>
              <a:rPr lang="en"/>
              <a:t>ehavioral Detection: Tradeoffs</a:t>
            </a:r>
            <a:endParaRPr/>
          </a:p>
        </p:txBody>
      </p:sp>
      <p:sp>
        <p:nvSpPr>
          <p:cNvPr id="600" name="Google Shape;600;p6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Benefits</a:t>
            </a:r>
            <a:endParaRPr/>
          </a:p>
          <a:p>
            <a:pPr indent="-317500" lvl="1" marL="914400" rtl="0" algn="l">
              <a:spcBef>
                <a:spcPts val="0"/>
              </a:spcBef>
              <a:spcAft>
                <a:spcPts val="0"/>
              </a:spcAft>
              <a:buSzPts val="1400"/>
              <a:buChar char="○"/>
            </a:pPr>
            <a:r>
              <a:rPr lang="en"/>
              <a:t>Can detect attacks we haven’t seen before</a:t>
            </a:r>
            <a:endParaRPr/>
          </a:p>
          <a:p>
            <a:pPr indent="-317500" lvl="1" marL="914400" rtl="0" algn="l">
              <a:spcBef>
                <a:spcPts val="0"/>
              </a:spcBef>
              <a:spcAft>
                <a:spcPts val="0"/>
              </a:spcAft>
              <a:buSzPts val="1400"/>
              <a:buChar char="○"/>
            </a:pPr>
            <a:r>
              <a:rPr lang="en"/>
              <a:t>Can have low false positive rates if we’re looking for behavior that rarely occurs in normal programs (e.g., in the </a:t>
            </a:r>
            <a:r>
              <a:rPr b="1" lang="en">
                <a:latin typeface="Courier New"/>
                <a:ea typeface="Courier New"/>
                <a:cs typeface="Courier New"/>
                <a:sym typeface="Courier New"/>
              </a:rPr>
              <a:t>exec</a:t>
            </a:r>
            <a:r>
              <a:rPr lang="en"/>
              <a:t> example, there are probably no false positives!)</a:t>
            </a:r>
            <a:endParaRPr/>
          </a:p>
          <a:p>
            <a:pPr indent="-317500" lvl="1" marL="914400" rtl="0" algn="l">
              <a:spcBef>
                <a:spcPts val="0"/>
              </a:spcBef>
              <a:spcAft>
                <a:spcPts val="0"/>
              </a:spcAft>
              <a:buSzPts val="1400"/>
              <a:buChar char="○"/>
            </a:pPr>
            <a:r>
              <a:rPr lang="en"/>
              <a:t>Can be cheap to implement (e.g., use existing tools to monitor system calls for a program)</a:t>
            </a:r>
            <a:endParaRPr/>
          </a:p>
          <a:p>
            <a:pPr indent="-342900" lvl="0" marL="457200" rtl="0" algn="l">
              <a:spcBef>
                <a:spcPts val="0"/>
              </a:spcBef>
              <a:spcAft>
                <a:spcPts val="0"/>
              </a:spcAft>
              <a:buSzPts val="1800"/>
              <a:buChar char="●"/>
            </a:pPr>
            <a:r>
              <a:rPr lang="en"/>
              <a:t>Drawbacks</a:t>
            </a:r>
            <a:endParaRPr/>
          </a:p>
          <a:p>
            <a:pPr indent="-317500" lvl="1" marL="914400" rtl="0" algn="l">
              <a:spcBef>
                <a:spcPts val="0"/>
              </a:spcBef>
              <a:spcAft>
                <a:spcPts val="0"/>
              </a:spcAft>
              <a:buSzPts val="1400"/>
              <a:buChar char="○"/>
            </a:pPr>
            <a:r>
              <a:rPr lang="en"/>
              <a:t>Legitimate processes could perform the behavior as well (e.g., accessing a password file)</a:t>
            </a:r>
            <a:endParaRPr/>
          </a:p>
          <a:p>
            <a:pPr indent="-317500" lvl="1" marL="914400" rtl="0" algn="l">
              <a:spcBef>
                <a:spcPts val="0"/>
              </a:spcBef>
              <a:spcAft>
                <a:spcPts val="0"/>
              </a:spcAft>
              <a:buSzPts val="1400"/>
              <a:buChar char="○"/>
            </a:pPr>
            <a:r>
              <a:rPr lang="en"/>
              <a:t>Only detects attacks after they’ve already happened</a:t>
            </a:r>
            <a:endParaRPr/>
          </a:p>
          <a:p>
            <a:pPr indent="-317500" lvl="1" marL="914400" rtl="0" algn="l">
              <a:spcBef>
                <a:spcPts val="0"/>
              </a:spcBef>
              <a:spcAft>
                <a:spcPts val="0"/>
              </a:spcAft>
              <a:buSzPts val="1400"/>
              <a:buChar char="○"/>
            </a:pPr>
            <a:r>
              <a:rPr lang="en"/>
              <a:t>Only detects successful attacks (maybe we want to detect failed attacks as well)</a:t>
            </a:r>
            <a:endParaRPr/>
          </a:p>
          <a:p>
            <a:pPr indent="-317500" lvl="1" marL="914400" rtl="0" algn="l">
              <a:spcBef>
                <a:spcPts val="0"/>
              </a:spcBef>
              <a:spcAft>
                <a:spcPts val="0"/>
              </a:spcAft>
              <a:buSzPts val="1400"/>
              <a:buChar char="○"/>
            </a:pPr>
            <a:r>
              <a:rPr lang="en"/>
              <a:t>The attacker can modify their attack to avoid triggering some behavior</a:t>
            </a:r>
            <a:endParaRPr/>
          </a:p>
        </p:txBody>
      </p:sp>
      <p:sp>
        <p:nvSpPr>
          <p:cNvPr id="601" name="Google Shape;601;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7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Other Intrusion Detection Strategies</a:t>
            </a:r>
            <a:endParaRPr/>
          </a:p>
        </p:txBody>
      </p:sp>
      <p:sp>
        <p:nvSpPr>
          <p:cNvPr id="607" name="Google Shape;607;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7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Vulnerability Scanning</a:t>
            </a:r>
            <a:endParaRPr/>
          </a:p>
        </p:txBody>
      </p:sp>
      <p:sp>
        <p:nvSpPr>
          <p:cNvPr id="613" name="Google Shape;613;p7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Instead of detecting attacks, launch attacks on your own system first, and add defenses against any attacks that worked</a:t>
            </a:r>
            <a:endParaRPr/>
          </a:p>
          <a:p>
            <a:pPr indent="-342900" lvl="0" marL="457200" rtl="0" algn="l">
              <a:spcBef>
                <a:spcPts val="0"/>
              </a:spcBef>
              <a:spcAft>
                <a:spcPts val="0"/>
              </a:spcAft>
              <a:buSzPts val="1800"/>
              <a:buChar char="●"/>
            </a:pPr>
            <a:r>
              <a:rPr b="1" lang="en"/>
              <a:t>Vulnerability scanning</a:t>
            </a:r>
            <a:r>
              <a:rPr lang="en"/>
              <a:t>: Use a tool that probes your own system with a wide range of attacks (and fix any successful attacks)</a:t>
            </a:r>
            <a:endParaRPr/>
          </a:p>
          <a:p>
            <a:pPr indent="-342900" lvl="0" marL="457200" rtl="0" algn="l">
              <a:spcBef>
                <a:spcPts val="0"/>
              </a:spcBef>
              <a:spcAft>
                <a:spcPts val="0"/>
              </a:spcAft>
              <a:buSzPts val="1800"/>
              <a:buChar char="●"/>
            </a:pPr>
            <a:r>
              <a:rPr lang="en"/>
              <a:t>Widely used in practice today</a:t>
            </a:r>
            <a:endParaRPr/>
          </a:p>
          <a:p>
            <a:pPr indent="-317500" lvl="1" marL="914400" rtl="0" algn="l">
              <a:spcBef>
                <a:spcPts val="0"/>
              </a:spcBef>
              <a:spcAft>
                <a:spcPts val="0"/>
              </a:spcAft>
              <a:buSzPts val="1400"/>
              <a:buChar char="○"/>
            </a:pPr>
            <a:r>
              <a:rPr lang="en"/>
              <a:t>Often used to complement an intrusion detection system</a:t>
            </a:r>
            <a:endParaRPr/>
          </a:p>
        </p:txBody>
      </p:sp>
      <p:sp>
        <p:nvSpPr>
          <p:cNvPr id="614" name="Google Shape;614;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Vulnerability Scanning: Tradeoffs</a:t>
            </a:r>
            <a:endParaRPr/>
          </a:p>
        </p:txBody>
      </p:sp>
      <p:sp>
        <p:nvSpPr>
          <p:cNvPr id="620" name="Google Shape;620;p7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Benefits</a:t>
            </a:r>
            <a:endParaRPr/>
          </a:p>
          <a:p>
            <a:pPr indent="-317500" lvl="1" marL="914400" rtl="0" algn="l">
              <a:spcBef>
                <a:spcPts val="0"/>
              </a:spcBef>
              <a:spcAft>
                <a:spcPts val="0"/>
              </a:spcAft>
              <a:buSzPts val="1400"/>
              <a:buChar char="○"/>
            </a:pPr>
            <a:r>
              <a:rPr lang="en"/>
              <a:t>Accuracy: If your scanning tool is good, it will find real vulnerabilities</a:t>
            </a:r>
            <a:endParaRPr/>
          </a:p>
          <a:p>
            <a:pPr indent="-317500" lvl="1" marL="914400" rtl="0" algn="l">
              <a:spcBef>
                <a:spcPts val="0"/>
              </a:spcBef>
              <a:spcAft>
                <a:spcPts val="0"/>
              </a:spcAft>
              <a:buSzPts val="1400"/>
              <a:buChar char="○"/>
            </a:pPr>
            <a:r>
              <a:rPr lang="en"/>
              <a:t>Proactive: Prevents attacks before they happen</a:t>
            </a:r>
            <a:endParaRPr/>
          </a:p>
          <a:p>
            <a:pPr indent="-317500" lvl="1" marL="914400" rtl="0" algn="l">
              <a:spcBef>
                <a:spcPts val="0"/>
              </a:spcBef>
              <a:spcAft>
                <a:spcPts val="0"/>
              </a:spcAft>
              <a:buSzPts val="1400"/>
              <a:buChar char="○"/>
            </a:pPr>
            <a:r>
              <a:rPr lang="en"/>
              <a:t>Intelligence: If your intrusion detection system alerts on an attack you know you already fixed, you can safely ignore the alert</a:t>
            </a:r>
            <a:endParaRPr/>
          </a:p>
          <a:p>
            <a:pPr indent="-342900" lvl="0" marL="457200" rtl="0" algn="l">
              <a:spcBef>
                <a:spcPts val="0"/>
              </a:spcBef>
              <a:spcAft>
                <a:spcPts val="0"/>
              </a:spcAft>
              <a:buSzPts val="1800"/>
              <a:buChar char="●"/>
            </a:pPr>
            <a:r>
              <a:rPr lang="en"/>
              <a:t>Drawbacks</a:t>
            </a:r>
            <a:endParaRPr/>
          </a:p>
          <a:p>
            <a:pPr indent="-317500" lvl="1" marL="914400" rtl="0" algn="l">
              <a:spcBef>
                <a:spcPts val="0"/>
              </a:spcBef>
              <a:spcAft>
                <a:spcPts val="0"/>
              </a:spcAft>
              <a:buSzPts val="1400"/>
              <a:buChar char="○"/>
            </a:pPr>
            <a:r>
              <a:rPr lang="en"/>
              <a:t>Can take a lot of work</a:t>
            </a:r>
            <a:endParaRPr/>
          </a:p>
          <a:p>
            <a:pPr indent="-317500" lvl="1" marL="914400" rtl="0" algn="l">
              <a:spcBef>
                <a:spcPts val="0"/>
              </a:spcBef>
              <a:spcAft>
                <a:spcPts val="0"/>
              </a:spcAft>
              <a:buSzPts val="1400"/>
              <a:buChar char="○"/>
            </a:pPr>
            <a:r>
              <a:rPr lang="en"/>
              <a:t>Not helpful for systems you can't modify</a:t>
            </a:r>
            <a:endParaRPr/>
          </a:p>
          <a:p>
            <a:pPr indent="-317500" lvl="1" marL="914400" rtl="0" algn="l">
              <a:spcBef>
                <a:spcPts val="0"/>
              </a:spcBef>
              <a:spcAft>
                <a:spcPts val="0"/>
              </a:spcAft>
              <a:buSzPts val="1400"/>
              <a:buChar char="○"/>
            </a:pPr>
            <a:r>
              <a:rPr lang="en"/>
              <a:t>Dangerous for disruptive attacks (you might not know which attacks are dangerous before you run the scanning tool)</a:t>
            </a:r>
            <a:endParaRPr/>
          </a:p>
        </p:txBody>
      </p:sp>
      <p:sp>
        <p:nvSpPr>
          <p:cNvPr id="621" name="Google Shape;621;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7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Honeypots</a:t>
            </a:r>
            <a:endParaRPr/>
          </a:p>
        </p:txBody>
      </p:sp>
      <p:sp>
        <p:nvSpPr>
          <p:cNvPr id="627" name="Google Shape;627;p7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Honeypot</a:t>
            </a:r>
            <a:r>
              <a:rPr lang="en"/>
              <a:t>:</a:t>
            </a:r>
            <a:r>
              <a:rPr lang="en"/>
              <a:t> a sacrificial system with no real purpose</a:t>
            </a:r>
            <a:endParaRPr/>
          </a:p>
          <a:p>
            <a:pPr indent="-317500" lvl="1" marL="914400" rtl="0" algn="l">
              <a:spcBef>
                <a:spcPts val="0"/>
              </a:spcBef>
              <a:spcAft>
                <a:spcPts val="0"/>
              </a:spcAft>
              <a:buSzPts val="1400"/>
              <a:buChar char="○"/>
            </a:pPr>
            <a:r>
              <a:rPr lang="en"/>
              <a:t>No legitimate systems ever access the honeypot</a:t>
            </a:r>
            <a:endParaRPr/>
          </a:p>
          <a:p>
            <a:pPr indent="-317500" lvl="1" marL="914400" rtl="0" algn="l">
              <a:spcBef>
                <a:spcPts val="0"/>
              </a:spcBef>
              <a:spcAft>
                <a:spcPts val="0"/>
              </a:spcAft>
              <a:buSzPts val="1400"/>
              <a:buChar char="○"/>
            </a:pPr>
            <a:r>
              <a:rPr lang="en"/>
              <a:t>If anyone accesses the honeypot, they must be an intruder</a:t>
            </a:r>
            <a:endParaRPr/>
          </a:p>
          <a:p>
            <a:pPr indent="-317500" lvl="1" marL="914400" rtl="0" algn="l">
              <a:spcBef>
                <a:spcPts val="0"/>
              </a:spcBef>
              <a:spcAft>
                <a:spcPts val="0"/>
              </a:spcAft>
              <a:buSzPts val="1400"/>
              <a:buChar char="○"/>
            </a:pPr>
            <a:r>
              <a:rPr lang="en"/>
              <a:t>False positives: Legitimate systems mistakenly accessing the honeypot</a:t>
            </a:r>
            <a:endParaRPr/>
          </a:p>
          <a:p>
            <a:pPr indent="-342900" lvl="0" marL="457200" rtl="0" algn="l">
              <a:spcBef>
                <a:spcPts val="0"/>
              </a:spcBef>
              <a:spcAft>
                <a:spcPts val="0"/>
              </a:spcAft>
              <a:buSzPts val="1800"/>
              <a:buChar char="●"/>
            </a:pPr>
            <a:r>
              <a:rPr lang="en"/>
              <a:t>Similar idea as stack canaries</a:t>
            </a:r>
            <a:endParaRPr/>
          </a:p>
        </p:txBody>
      </p:sp>
      <p:sp>
        <p:nvSpPr>
          <p:cNvPr id="628" name="Google Shape;628;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Honeypots: Examples</a:t>
            </a:r>
            <a:endParaRPr/>
          </a:p>
        </p:txBody>
      </p:sp>
      <p:sp>
        <p:nvSpPr>
          <p:cNvPr id="634" name="Google Shape;634;p7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Example: Hospitals</a:t>
            </a:r>
            <a:endParaRPr/>
          </a:p>
          <a:p>
            <a:pPr indent="-317500" lvl="1" marL="914400" rtl="0" algn="l">
              <a:spcBef>
                <a:spcPts val="0"/>
              </a:spcBef>
              <a:spcAft>
                <a:spcPts val="0"/>
              </a:spcAft>
              <a:buSzPts val="1400"/>
              <a:buChar char="○"/>
            </a:pPr>
            <a:r>
              <a:rPr lang="en"/>
              <a:t>Employees should not read patient records</a:t>
            </a:r>
            <a:endParaRPr/>
          </a:p>
          <a:p>
            <a:pPr indent="-317500" lvl="1" marL="914400" rtl="0" algn="l">
              <a:spcBef>
                <a:spcPts val="0"/>
              </a:spcBef>
              <a:spcAft>
                <a:spcPts val="0"/>
              </a:spcAft>
              <a:buSzPts val="1400"/>
              <a:buChar char="○"/>
            </a:pPr>
            <a:r>
              <a:rPr lang="en"/>
              <a:t>The hospital </a:t>
            </a:r>
            <a:r>
              <a:rPr lang="en"/>
              <a:t>enters a honeypot record with a celebrity name</a:t>
            </a:r>
            <a:endParaRPr/>
          </a:p>
          <a:p>
            <a:pPr indent="-317500" lvl="1" marL="914400" rtl="0" algn="l">
              <a:spcBef>
                <a:spcPts val="0"/>
              </a:spcBef>
              <a:spcAft>
                <a:spcPts val="0"/>
              </a:spcAft>
              <a:buSzPts val="1400"/>
              <a:buChar char="○"/>
            </a:pPr>
            <a:r>
              <a:rPr lang="en"/>
              <a:t>Catch any staff member who reads the honeypot record</a:t>
            </a:r>
            <a:endParaRPr/>
          </a:p>
          <a:p>
            <a:pPr indent="-342900" lvl="0" marL="457200" rtl="0" algn="l">
              <a:spcBef>
                <a:spcPts val="0"/>
              </a:spcBef>
              <a:spcAft>
                <a:spcPts val="0"/>
              </a:spcAft>
              <a:buSzPts val="1800"/>
              <a:buChar char="●"/>
            </a:pPr>
            <a:r>
              <a:rPr lang="en"/>
              <a:t>Example: Unsecured Bitcoin wallet</a:t>
            </a:r>
            <a:endParaRPr/>
          </a:p>
          <a:p>
            <a:pPr indent="-317500" lvl="1" marL="914400" rtl="0" algn="l">
              <a:spcBef>
                <a:spcPts val="0"/>
              </a:spcBef>
              <a:spcAft>
                <a:spcPts val="0"/>
              </a:spcAft>
              <a:buSzPts val="1400"/>
              <a:buChar char="○"/>
            </a:pPr>
            <a:r>
              <a:rPr lang="en"/>
              <a:t>Leave an unsecured Bitcoin wallet on your system with a small amount of money in it</a:t>
            </a:r>
            <a:endParaRPr/>
          </a:p>
          <a:p>
            <a:pPr indent="-317500" lvl="1" marL="914400" rtl="0" algn="l">
              <a:spcBef>
                <a:spcPts val="0"/>
              </a:spcBef>
              <a:spcAft>
                <a:spcPts val="0"/>
              </a:spcAft>
              <a:buSzPts val="1400"/>
              <a:buChar char="○"/>
            </a:pPr>
            <a:r>
              <a:rPr lang="en"/>
              <a:t>If the money is stolen, you know that someone has attacked your system!</a:t>
            </a:r>
            <a:endParaRPr/>
          </a:p>
          <a:p>
            <a:pPr indent="-342900" lvl="0" marL="457200" rtl="0" algn="l">
              <a:spcBef>
                <a:spcPts val="0"/>
              </a:spcBef>
              <a:spcAft>
                <a:spcPts val="0"/>
              </a:spcAft>
              <a:buSzPts val="1800"/>
              <a:buChar char="●"/>
            </a:pPr>
            <a:r>
              <a:rPr lang="en"/>
              <a:t>Example: Spamtrap</a:t>
            </a:r>
            <a:endParaRPr/>
          </a:p>
          <a:p>
            <a:pPr indent="-317500" lvl="1" marL="914400" rtl="0" algn="l">
              <a:spcBef>
                <a:spcPts val="0"/>
              </a:spcBef>
              <a:spcAft>
                <a:spcPts val="0"/>
              </a:spcAft>
              <a:buSzPts val="1400"/>
              <a:buChar char="○"/>
            </a:pPr>
            <a:r>
              <a:rPr lang="en"/>
              <a:t>Create a fake email address that is never used for legitimate emails</a:t>
            </a:r>
            <a:endParaRPr/>
          </a:p>
          <a:p>
            <a:pPr indent="-317500" lvl="1" marL="914400" rtl="0" algn="l">
              <a:spcBef>
                <a:spcPts val="0"/>
              </a:spcBef>
              <a:spcAft>
                <a:spcPts val="0"/>
              </a:spcAft>
              <a:buSzPts val="1400"/>
              <a:buChar char="○"/>
            </a:pPr>
            <a:r>
              <a:rPr lang="en"/>
              <a:t>If email gets sent to the address, it's probably spam!</a:t>
            </a:r>
            <a:endParaRPr/>
          </a:p>
        </p:txBody>
      </p:sp>
      <p:sp>
        <p:nvSpPr>
          <p:cNvPr id="635" name="Google Shape;635;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7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Honeypots: Tradeoffs</a:t>
            </a:r>
            <a:endParaRPr/>
          </a:p>
        </p:txBody>
      </p:sp>
      <p:sp>
        <p:nvSpPr>
          <p:cNvPr id="641" name="Google Shape;641;p7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Benefits</a:t>
            </a:r>
            <a:endParaRPr/>
          </a:p>
          <a:p>
            <a:pPr indent="-317500" lvl="1" marL="914400" rtl="0" algn="l">
              <a:spcBef>
                <a:spcPts val="0"/>
              </a:spcBef>
              <a:spcAft>
                <a:spcPts val="0"/>
              </a:spcAft>
              <a:buSzPts val="1400"/>
              <a:buChar char="○"/>
            </a:pPr>
            <a:r>
              <a:rPr lang="en"/>
              <a:t>Can detect attacks we haven’t seen before</a:t>
            </a:r>
            <a:endParaRPr/>
          </a:p>
          <a:p>
            <a:pPr indent="-317500" lvl="1" marL="914400" rtl="0" algn="l">
              <a:spcBef>
                <a:spcPts val="0"/>
              </a:spcBef>
              <a:spcAft>
                <a:spcPts val="0"/>
              </a:spcAft>
              <a:buSzPts val="1400"/>
              <a:buChar char="○"/>
            </a:pPr>
            <a:r>
              <a:rPr lang="en"/>
              <a:t>Can analyze the attacker's actions</a:t>
            </a:r>
            <a:endParaRPr/>
          </a:p>
          <a:p>
            <a:pPr indent="-317500" lvl="2" marL="1371600" rtl="0" algn="l">
              <a:spcBef>
                <a:spcPts val="0"/>
              </a:spcBef>
              <a:spcAft>
                <a:spcPts val="0"/>
              </a:spcAft>
              <a:buSzPts val="1400"/>
              <a:buChar char="■"/>
            </a:pPr>
            <a:r>
              <a:rPr lang="en"/>
              <a:t>Who is the attacker?</a:t>
            </a:r>
            <a:endParaRPr/>
          </a:p>
          <a:p>
            <a:pPr indent="-317500" lvl="2" marL="1371600" rtl="0" algn="l">
              <a:spcBef>
                <a:spcPts val="0"/>
              </a:spcBef>
              <a:spcAft>
                <a:spcPts val="0"/>
              </a:spcAft>
              <a:buSzPts val="1400"/>
              <a:buChar char="■"/>
            </a:pPr>
            <a:r>
              <a:rPr lang="en"/>
              <a:t>What are they doing to the system?</a:t>
            </a:r>
            <a:endParaRPr/>
          </a:p>
          <a:p>
            <a:pPr indent="-317500" lvl="1" marL="914400" rtl="0" algn="l">
              <a:spcBef>
                <a:spcPts val="0"/>
              </a:spcBef>
              <a:spcAft>
                <a:spcPts val="0"/>
              </a:spcAft>
              <a:buSzPts val="1400"/>
              <a:buChar char="○"/>
            </a:pPr>
            <a:r>
              <a:rPr lang="en"/>
              <a:t>Can distract the attacker from legitimate targets</a:t>
            </a:r>
            <a:endParaRPr/>
          </a:p>
          <a:p>
            <a:pPr indent="-342900" lvl="0" marL="457200" rtl="0" algn="l">
              <a:spcBef>
                <a:spcPts val="0"/>
              </a:spcBef>
              <a:spcAft>
                <a:spcPts val="0"/>
              </a:spcAft>
              <a:buSzPts val="1800"/>
              <a:buChar char="●"/>
            </a:pPr>
            <a:r>
              <a:rPr lang="en"/>
              <a:t>Drawbacks</a:t>
            </a:r>
            <a:endParaRPr/>
          </a:p>
          <a:p>
            <a:pPr indent="-317500" lvl="1" marL="914400" rtl="0" algn="l">
              <a:spcBef>
                <a:spcPts val="0"/>
              </a:spcBef>
              <a:spcAft>
                <a:spcPts val="0"/>
              </a:spcAft>
              <a:buSzPts val="1400"/>
              <a:buChar char="○"/>
            </a:pPr>
            <a:r>
              <a:rPr lang="en"/>
              <a:t>Can be difficult to trick the attacker into accessing the honeypot</a:t>
            </a:r>
            <a:endParaRPr/>
          </a:p>
          <a:p>
            <a:pPr indent="-317500" lvl="1" marL="914400" rtl="0" algn="l">
              <a:spcBef>
                <a:spcPts val="0"/>
              </a:spcBef>
              <a:spcAft>
                <a:spcPts val="0"/>
              </a:spcAft>
              <a:buSzPts val="1400"/>
              <a:buChar char="○"/>
            </a:pPr>
            <a:r>
              <a:rPr lang="en"/>
              <a:t>Building a convincing honeypot might take a lot of work</a:t>
            </a:r>
            <a:endParaRPr/>
          </a:p>
          <a:p>
            <a:pPr indent="-317500" lvl="1" marL="914400" rtl="0" algn="l">
              <a:spcBef>
                <a:spcPts val="0"/>
              </a:spcBef>
              <a:spcAft>
                <a:spcPts val="0"/>
              </a:spcAft>
              <a:buSzPts val="1400"/>
              <a:buChar char="○"/>
            </a:pPr>
            <a:r>
              <a:rPr lang="en"/>
              <a:t>These drawbacks matter less if the honeypot is aimed at automated attacks (e.g., the spam detection honeypot)</a:t>
            </a:r>
            <a:endParaRPr/>
          </a:p>
        </p:txBody>
      </p:sp>
      <p:sp>
        <p:nvSpPr>
          <p:cNvPr id="642" name="Google Shape;642;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7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Forensics</a:t>
            </a:r>
            <a:endParaRPr/>
          </a:p>
        </p:txBody>
      </p:sp>
      <p:sp>
        <p:nvSpPr>
          <p:cNvPr id="648" name="Google Shape;648;p7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Forensics</a:t>
            </a:r>
            <a:r>
              <a:rPr lang="en"/>
              <a:t>: Analyzing what happened after a successful attack</a:t>
            </a:r>
            <a:endParaRPr/>
          </a:p>
          <a:p>
            <a:pPr indent="-317500" lvl="1" marL="914400" rtl="0" algn="l">
              <a:spcBef>
                <a:spcPts val="0"/>
              </a:spcBef>
              <a:spcAft>
                <a:spcPts val="0"/>
              </a:spcAft>
              <a:buSzPts val="1400"/>
              <a:buChar char="○"/>
            </a:pPr>
            <a:r>
              <a:rPr lang="en"/>
              <a:t>Important complement to detecting attacks</a:t>
            </a:r>
            <a:endParaRPr/>
          </a:p>
          <a:p>
            <a:pPr indent="-342900" lvl="0" marL="457200" rtl="0" algn="l">
              <a:spcBef>
                <a:spcPts val="0"/>
              </a:spcBef>
              <a:spcAft>
                <a:spcPts val="0"/>
              </a:spcAft>
              <a:buSzPts val="1800"/>
              <a:buChar char="●"/>
            </a:pPr>
            <a:r>
              <a:rPr lang="en"/>
              <a:t>Tools needed</a:t>
            </a:r>
            <a:endParaRPr/>
          </a:p>
          <a:p>
            <a:pPr indent="-317500" lvl="1" marL="914400" rtl="0" algn="l">
              <a:spcBef>
                <a:spcPts val="0"/>
              </a:spcBef>
              <a:spcAft>
                <a:spcPts val="0"/>
              </a:spcAft>
              <a:buSzPts val="1400"/>
              <a:buChar char="○"/>
            </a:pPr>
            <a:r>
              <a:rPr lang="en"/>
              <a:t>Detailed logs of system activity</a:t>
            </a:r>
            <a:endParaRPr/>
          </a:p>
          <a:p>
            <a:pPr indent="-317500" lvl="1" marL="914400" rtl="0" algn="l">
              <a:spcBef>
                <a:spcPts val="0"/>
              </a:spcBef>
              <a:spcAft>
                <a:spcPts val="0"/>
              </a:spcAft>
              <a:buSzPts val="1400"/>
              <a:buChar char="○"/>
            </a:pPr>
            <a:r>
              <a:rPr lang="en"/>
              <a:t>Tools for analyzing and understanding logs</a:t>
            </a:r>
            <a:endParaRPr/>
          </a:p>
        </p:txBody>
      </p:sp>
      <p:sp>
        <p:nvSpPr>
          <p:cNvPr id="649" name="Google Shape;649;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7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Blocking: Intrusion Prevention Systems</a:t>
            </a:r>
            <a:endParaRPr/>
          </a:p>
        </p:txBody>
      </p:sp>
      <p:sp>
        <p:nvSpPr>
          <p:cNvPr id="655" name="Google Shape;655;p7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If we can detect attacks, can we also block them?</a:t>
            </a:r>
            <a:endParaRPr/>
          </a:p>
          <a:p>
            <a:pPr indent="-342900" lvl="0" marL="457200" rtl="0" algn="l">
              <a:spcBef>
                <a:spcPts val="0"/>
              </a:spcBef>
              <a:spcAft>
                <a:spcPts val="0"/>
              </a:spcAft>
              <a:buSzPts val="1800"/>
              <a:buChar char="●"/>
            </a:pPr>
            <a:r>
              <a:rPr b="1" lang="en"/>
              <a:t>Intrusion prevention system </a:t>
            </a:r>
            <a:r>
              <a:rPr lang="en"/>
              <a:t>(</a:t>
            </a:r>
            <a:r>
              <a:rPr b="1" lang="en"/>
              <a:t>IPS</a:t>
            </a:r>
            <a:r>
              <a:rPr lang="en"/>
              <a:t>): An intrusion detection system that also blocks attacks</a:t>
            </a:r>
            <a:endParaRPr/>
          </a:p>
          <a:p>
            <a:pPr indent="-317500" lvl="1" marL="914400" rtl="0" algn="l">
              <a:spcBef>
                <a:spcPts val="0"/>
              </a:spcBef>
              <a:spcAft>
                <a:spcPts val="0"/>
              </a:spcAft>
              <a:buSzPts val="1400"/>
              <a:buChar char="○"/>
            </a:pPr>
            <a:r>
              <a:rPr lang="en"/>
              <a:t>Commonly used today</a:t>
            </a:r>
            <a:endParaRPr/>
          </a:p>
          <a:p>
            <a:pPr indent="-342900" lvl="0" marL="457200" rtl="0" algn="l">
              <a:spcBef>
                <a:spcPts val="0"/>
              </a:spcBef>
              <a:spcAft>
                <a:spcPts val="0"/>
              </a:spcAft>
              <a:buSzPts val="1800"/>
              <a:buChar char="●"/>
            </a:pPr>
            <a:r>
              <a:rPr lang="en"/>
              <a:t>Drawbacks</a:t>
            </a:r>
            <a:endParaRPr/>
          </a:p>
          <a:p>
            <a:pPr indent="-317500" lvl="1" marL="914400" rtl="0" algn="l">
              <a:spcBef>
                <a:spcPts val="0"/>
              </a:spcBef>
              <a:spcAft>
                <a:spcPts val="0"/>
              </a:spcAft>
              <a:buSzPts val="1400"/>
              <a:buChar char="○"/>
            </a:pPr>
            <a:r>
              <a:rPr lang="en"/>
              <a:t>Can't be used with retrospective analysis (e.g., logging)</a:t>
            </a:r>
            <a:endParaRPr/>
          </a:p>
          <a:p>
            <a:pPr indent="-317500" lvl="1" marL="914400" rtl="0" algn="l">
              <a:spcBef>
                <a:spcPts val="0"/>
              </a:spcBef>
              <a:spcAft>
                <a:spcPts val="0"/>
              </a:spcAft>
              <a:buSzPts val="1400"/>
              <a:buChar char="○"/>
            </a:pPr>
            <a:r>
              <a:rPr lang="en"/>
              <a:t>Difficult for a detector that passively monitors traffic (e.g., an on-path NIDS)</a:t>
            </a:r>
            <a:endParaRPr/>
          </a:p>
          <a:p>
            <a:pPr indent="-317500" lvl="2" marL="1371600" rtl="0" algn="l">
              <a:spcBef>
                <a:spcPts val="0"/>
              </a:spcBef>
              <a:spcAft>
                <a:spcPts val="0"/>
              </a:spcAft>
              <a:buSzPts val="1400"/>
              <a:buChar char="■"/>
            </a:pPr>
            <a:r>
              <a:rPr lang="en"/>
              <a:t>Dynamically change firewall rules to block attacks?</a:t>
            </a:r>
            <a:endParaRPr/>
          </a:p>
          <a:p>
            <a:pPr indent="-317500" lvl="2" marL="1371600" rtl="0" algn="l">
              <a:spcBef>
                <a:spcPts val="0"/>
              </a:spcBef>
              <a:spcAft>
                <a:spcPts val="0"/>
              </a:spcAft>
              <a:buSzPts val="1400"/>
              <a:buChar char="■"/>
            </a:pPr>
            <a:r>
              <a:rPr lang="en"/>
              <a:t>Forge a RST packet to stop an attack?</a:t>
            </a:r>
            <a:endParaRPr/>
          </a:p>
          <a:p>
            <a:pPr indent="-317500" lvl="2" marL="1371600" rtl="0" algn="l">
              <a:spcBef>
                <a:spcPts val="0"/>
              </a:spcBef>
              <a:spcAft>
                <a:spcPts val="0"/>
              </a:spcAft>
              <a:buSzPts val="1400"/>
              <a:buChar char="■"/>
            </a:pPr>
            <a:r>
              <a:rPr lang="en"/>
              <a:t>Need to race against the attacker's malicious packets</a:t>
            </a:r>
            <a:endParaRPr/>
          </a:p>
          <a:p>
            <a:pPr indent="-317500" lvl="1" marL="914400" rtl="0" algn="l">
              <a:spcBef>
                <a:spcPts val="0"/>
              </a:spcBef>
              <a:spcAft>
                <a:spcPts val="0"/>
              </a:spcAft>
              <a:buSzPts val="1400"/>
              <a:buChar char="○"/>
            </a:pPr>
            <a:r>
              <a:rPr lang="en"/>
              <a:t>False positives are expensive</a:t>
            </a:r>
            <a:endParaRPr/>
          </a:p>
          <a:p>
            <a:pPr indent="-317500" lvl="2" marL="1371600" rtl="0" algn="l">
              <a:spcBef>
                <a:spcPts val="0"/>
              </a:spcBef>
              <a:spcAft>
                <a:spcPts val="0"/>
              </a:spcAft>
              <a:buSzPts val="1400"/>
              <a:buChar char="■"/>
            </a:pPr>
            <a:r>
              <a:rPr lang="en"/>
              <a:t>Blocking a non-attack might affect legitimate users</a:t>
            </a:r>
            <a:endParaRPr/>
          </a:p>
        </p:txBody>
      </p:sp>
      <p:sp>
        <p:nvSpPr>
          <p:cNvPr id="656" name="Google Shape;656;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7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Building the Perfect IPS?</a:t>
            </a:r>
            <a:endParaRPr/>
          </a:p>
        </p:txBody>
      </p:sp>
      <p:sp>
        <p:nvSpPr>
          <p:cNvPr id="662" name="Google Shape;662;p7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Takeaway</a:t>
            </a:r>
            <a:r>
              <a:rPr lang="en"/>
              <a:t>: You must always have tradeoffs between false positive and false negative rates</a:t>
            </a:r>
            <a:endParaRPr/>
          </a:p>
        </p:txBody>
      </p:sp>
      <p:sp>
        <p:nvSpPr>
          <p:cNvPr id="663" name="Google Shape;663;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64" name="Google Shape;664;p78"/>
          <p:cNvGrpSpPr/>
          <p:nvPr/>
        </p:nvGrpSpPr>
        <p:grpSpPr>
          <a:xfrm>
            <a:off x="1126950" y="1714500"/>
            <a:ext cx="2590800" cy="2114700"/>
            <a:chOff x="1126950" y="1714500"/>
            <a:chExt cx="2590800" cy="2114700"/>
          </a:xfrm>
        </p:grpSpPr>
        <p:pic>
          <p:nvPicPr>
            <p:cNvPr descr="File:EthernetCableBlue2.jpg" id="665" name="Google Shape;665;p78"/>
            <p:cNvPicPr preferRelativeResize="0"/>
            <p:nvPr/>
          </p:nvPicPr>
          <p:blipFill>
            <a:blip r:embed="rId3">
              <a:alphaModFix/>
            </a:blip>
            <a:stretch>
              <a:fillRect/>
            </a:stretch>
          </p:blipFill>
          <p:spPr>
            <a:xfrm>
              <a:off x="1126950" y="1714500"/>
              <a:ext cx="2590800" cy="1714500"/>
            </a:xfrm>
            <a:prstGeom prst="rect">
              <a:avLst/>
            </a:prstGeom>
            <a:noFill/>
            <a:ln>
              <a:noFill/>
            </a:ln>
          </p:spPr>
        </p:pic>
        <p:sp>
          <p:nvSpPr>
            <p:cNvPr id="666" name="Google Shape;666;p78"/>
            <p:cNvSpPr txBox="1"/>
            <p:nvPr/>
          </p:nvSpPr>
          <p:spPr>
            <a:xfrm>
              <a:off x="1383450" y="3429000"/>
              <a:ext cx="2077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0% false positive rate</a:t>
              </a:r>
              <a:endParaRPr/>
            </a:p>
          </p:txBody>
        </p:sp>
      </p:grpSp>
      <p:grpSp>
        <p:nvGrpSpPr>
          <p:cNvPr id="667" name="Google Shape;667;p78"/>
          <p:cNvGrpSpPr/>
          <p:nvPr/>
        </p:nvGrpSpPr>
        <p:grpSpPr>
          <a:xfrm>
            <a:off x="4572002" y="1714500"/>
            <a:ext cx="3551246" cy="2114700"/>
            <a:chOff x="4572002" y="1714500"/>
            <a:chExt cx="3551246" cy="2114700"/>
          </a:xfrm>
        </p:grpSpPr>
        <p:pic>
          <p:nvPicPr>
            <p:cNvPr id="668" name="Google Shape;668;p78"/>
            <p:cNvPicPr preferRelativeResize="0"/>
            <p:nvPr/>
          </p:nvPicPr>
          <p:blipFill>
            <a:blip r:embed="rId4">
              <a:alphaModFix/>
            </a:blip>
            <a:stretch>
              <a:fillRect/>
            </a:stretch>
          </p:blipFill>
          <p:spPr>
            <a:xfrm>
              <a:off x="4572002" y="1714500"/>
              <a:ext cx="3551246" cy="1714500"/>
            </a:xfrm>
            <a:prstGeom prst="rect">
              <a:avLst/>
            </a:prstGeom>
            <a:noFill/>
            <a:ln>
              <a:noFill/>
            </a:ln>
          </p:spPr>
        </p:pic>
        <p:sp>
          <p:nvSpPr>
            <p:cNvPr id="669" name="Google Shape;669;p78"/>
            <p:cNvSpPr txBox="1"/>
            <p:nvPr/>
          </p:nvSpPr>
          <p:spPr>
            <a:xfrm>
              <a:off x="5308725" y="3429000"/>
              <a:ext cx="2077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0% false negative rate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7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Attacks on Intrusion Detection Systems (IDS)</a:t>
            </a:r>
            <a:endParaRPr/>
          </a:p>
        </p:txBody>
      </p:sp>
      <p:sp>
        <p:nvSpPr>
          <p:cNvPr id="675" name="Google Shape;675;p7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IDS is a system with limited resources, so it is vulnerable to DoS attacks!</a:t>
            </a:r>
            <a:endParaRPr/>
          </a:p>
          <a:p>
            <a:pPr indent="-317500" lvl="1" marL="914400" rtl="0" algn="l">
              <a:spcBef>
                <a:spcPts val="0"/>
              </a:spcBef>
              <a:spcAft>
                <a:spcPts val="0"/>
              </a:spcAft>
              <a:buSzPts val="1400"/>
              <a:buChar char="○"/>
            </a:pPr>
            <a:r>
              <a:rPr lang="en"/>
              <a:t>DoS attack: Exhaust the IDS’s memory</a:t>
            </a:r>
            <a:endParaRPr/>
          </a:p>
          <a:p>
            <a:pPr indent="-317500" lvl="2" marL="1371600" rtl="0" algn="l">
              <a:spcBef>
                <a:spcPts val="0"/>
              </a:spcBef>
              <a:spcAft>
                <a:spcPts val="0"/>
              </a:spcAft>
              <a:buSzPts val="1400"/>
              <a:buChar char="■"/>
            </a:pPr>
            <a:r>
              <a:rPr lang="en"/>
              <a:t>IDS needs to track all ongoing activity</a:t>
            </a:r>
            <a:endParaRPr/>
          </a:p>
          <a:p>
            <a:pPr indent="-317500" lvl="2" marL="1371600" rtl="0" algn="l">
              <a:spcBef>
                <a:spcPts val="0"/>
              </a:spcBef>
              <a:spcAft>
                <a:spcPts val="0"/>
              </a:spcAft>
              <a:buSzPts val="1400"/>
              <a:buChar char="■"/>
            </a:pPr>
            <a:r>
              <a:rPr lang="en"/>
              <a:t>Attacker generates lots of activity to consume all the IDS's memory</a:t>
            </a:r>
            <a:endParaRPr/>
          </a:p>
          <a:p>
            <a:pPr indent="-317500" lvl="2" marL="1371600" rtl="0" algn="l">
              <a:spcBef>
                <a:spcPts val="0"/>
              </a:spcBef>
              <a:spcAft>
                <a:spcPts val="0"/>
              </a:spcAft>
              <a:buSzPts val="1400"/>
              <a:buChar char="■"/>
            </a:pPr>
            <a:r>
              <a:rPr lang="en"/>
              <a:t>Example: Spoof TCP SYN packets to force the IDS to keep track of too many connections</a:t>
            </a:r>
            <a:endParaRPr/>
          </a:p>
          <a:p>
            <a:pPr indent="-317500" lvl="1" marL="914400" rtl="0" algn="l">
              <a:spcBef>
                <a:spcPts val="0"/>
              </a:spcBef>
              <a:spcAft>
                <a:spcPts val="0"/>
              </a:spcAft>
              <a:buSzPts val="1400"/>
              <a:buChar char="○"/>
            </a:pPr>
            <a:r>
              <a:rPr lang="en"/>
              <a:t>DoS attack: Exhaust the IDS’s processing power</a:t>
            </a:r>
            <a:endParaRPr/>
          </a:p>
          <a:p>
            <a:pPr indent="-317500" lvl="2" marL="1371600" rtl="0" algn="l">
              <a:spcBef>
                <a:spcPts val="0"/>
              </a:spcBef>
              <a:spcAft>
                <a:spcPts val="0"/>
              </a:spcAft>
              <a:buSzPts val="1400"/>
              <a:buChar char="■"/>
            </a:pPr>
            <a:r>
              <a:rPr lang="en"/>
              <a:t>Example: If the IDS uses a hash table to keep track of connections, create hash collisions to trigger worst-case complexity (a</a:t>
            </a:r>
            <a:r>
              <a:rPr lang="en"/>
              <a:t>lgorithmic complexity attack)</a:t>
            </a:r>
            <a:endParaRPr/>
          </a:p>
          <a:p>
            <a:pPr indent="-342900" lvl="0" marL="457200" rtl="0" algn="l">
              <a:spcBef>
                <a:spcPts val="0"/>
              </a:spcBef>
              <a:spcAft>
                <a:spcPts val="0"/>
              </a:spcAft>
              <a:buSzPts val="1800"/>
              <a:buChar char="●"/>
            </a:pPr>
            <a:r>
              <a:rPr lang="en"/>
              <a:t>The IDS analyzes outside input, so it is vulnerable to code injection attacks!</a:t>
            </a:r>
            <a:endParaRPr/>
          </a:p>
          <a:p>
            <a:pPr indent="-317500" lvl="1" marL="914400" rtl="0" algn="l">
              <a:spcBef>
                <a:spcPts val="0"/>
              </a:spcBef>
              <a:spcAft>
                <a:spcPts val="0"/>
              </a:spcAft>
              <a:buSzPts val="1400"/>
              <a:buChar char="○"/>
            </a:pPr>
            <a:r>
              <a:rPr lang="en"/>
              <a:t>Attacker supplies malicious input to exploit the IDS</a:t>
            </a:r>
            <a:endParaRPr/>
          </a:p>
        </p:txBody>
      </p:sp>
      <p:sp>
        <p:nvSpPr>
          <p:cNvPr id="676" name="Google Shape;676;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8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Inside A Modern IDS</a:t>
            </a:r>
            <a:endParaRPr/>
          </a:p>
        </p:txBody>
      </p:sp>
      <p:sp>
        <p:nvSpPr>
          <p:cNvPr id="682" name="Google Shape;682;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83" name="Google Shape;683;p80"/>
          <p:cNvSpPr txBox="1"/>
          <p:nvPr>
            <p:ph idx="1" type="body"/>
          </p:nvPr>
        </p:nvSpPr>
        <p:spPr>
          <a:xfrm>
            <a:off x="198500" y="1246825"/>
            <a:ext cx="5142600" cy="3765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Employ </a:t>
            </a:r>
            <a:r>
              <a:rPr b="1" lang="en"/>
              <a:t>defense in depth</a:t>
            </a:r>
            <a:endParaRPr b="1"/>
          </a:p>
          <a:p>
            <a:pPr indent="-342900" lvl="0" marL="457200" rtl="0" algn="l">
              <a:spcBef>
                <a:spcPts val="0"/>
              </a:spcBef>
              <a:spcAft>
                <a:spcPts val="0"/>
              </a:spcAft>
              <a:buSzPts val="1800"/>
              <a:buChar char="●"/>
            </a:pPr>
            <a:r>
              <a:rPr lang="en"/>
              <a:t>To cover all devices, use a </a:t>
            </a:r>
            <a:r>
              <a:rPr lang="en"/>
              <a:t>modern NIDS:</a:t>
            </a:r>
            <a:endParaRPr/>
          </a:p>
          <a:p>
            <a:pPr indent="-317500" lvl="1" marL="914400" rtl="0" algn="l">
              <a:spcBef>
                <a:spcPts val="0"/>
              </a:spcBef>
              <a:spcAft>
                <a:spcPts val="0"/>
              </a:spcAft>
              <a:buSzPts val="1400"/>
              <a:buChar char="○"/>
            </a:pPr>
            <a:r>
              <a:rPr lang="en"/>
              <a:t>Single entry </a:t>
            </a:r>
            <a:r>
              <a:rPr lang="en"/>
              <a:t>point</a:t>
            </a:r>
            <a:r>
              <a:rPr lang="en"/>
              <a:t> with a simple packet filter</a:t>
            </a:r>
            <a:endParaRPr/>
          </a:p>
          <a:p>
            <a:pPr indent="-317500" lvl="2" marL="1371600" rtl="0" algn="l">
              <a:spcBef>
                <a:spcPts val="0"/>
              </a:spcBef>
              <a:spcAft>
                <a:spcPts val="0"/>
              </a:spcAft>
              <a:buSzPts val="1400"/>
              <a:buChar char="■"/>
            </a:pPr>
            <a:r>
              <a:rPr lang="en"/>
              <a:t>Simple but effective filters can handle 1,000 Gbps</a:t>
            </a:r>
            <a:endParaRPr/>
          </a:p>
          <a:p>
            <a:pPr indent="-317500" lvl="1" marL="914400" rtl="0" algn="l">
              <a:spcBef>
                <a:spcPts val="0"/>
              </a:spcBef>
              <a:spcAft>
                <a:spcPts val="0"/>
              </a:spcAft>
              <a:buSzPts val="1400"/>
              <a:buChar char="○"/>
            </a:pPr>
            <a:r>
              <a:rPr lang="en"/>
              <a:t>Parallel processing using multiple NIDS nodes</a:t>
            </a:r>
            <a:endParaRPr/>
          </a:p>
          <a:p>
            <a:pPr indent="-317500" lvl="2" marL="1371600" rtl="0" algn="l">
              <a:spcBef>
                <a:spcPts val="0"/>
              </a:spcBef>
              <a:spcAft>
                <a:spcPts val="0"/>
              </a:spcAft>
              <a:buSzPts val="1400"/>
              <a:buChar char="■"/>
            </a:pPr>
            <a:r>
              <a:rPr lang="en"/>
              <a:t>A single server rack slot can handle 1–5 Gbps, and scales linearly</a:t>
            </a:r>
            <a:endParaRPr/>
          </a:p>
          <a:p>
            <a:pPr indent="-317500" lvl="1" marL="914400" rtl="0" algn="l">
              <a:spcBef>
                <a:spcPts val="0"/>
              </a:spcBef>
              <a:spcAft>
                <a:spcPts val="0"/>
              </a:spcAft>
              <a:buSzPts val="1400"/>
              <a:buChar char="○"/>
            </a:pPr>
            <a:r>
              <a:rPr lang="en"/>
              <a:t>In-depth detection techniques</a:t>
            </a:r>
            <a:endParaRPr/>
          </a:p>
          <a:p>
            <a:pPr indent="-317500" lvl="2" marL="1371600" rtl="0" algn="l">
              <a:spcBef>
                <a:spcPts val="0"/>
              </a:spcBef>
              <a:spcAft>
                <a:spcPts val="0"/>
              </a:spcAft>
              <a:buSzPts val="1400"/>
              <a:buChar char="■"/>
            </a:pPr>
            <a:r>
              <a:rPr lang="en"/>
              <a:t>Protocol analysis</a:t>
            </a:r>
            <a:endParaRPr/>
          </a:p>
          <a:p>
            <a:pPr indent="-317500" lvl="2" marL="1371600" rtl="0" algn="l">
              <a:spcBef>
                <a:spcPts val="0"/>
              </a:spcBef>
              <a:spcAft>
                <a:spcPts val="0"/>
              </a:spcAft>
              <a:buSzPts val="1400"/>
              <a:buChar char="■"/>
            </a:pPr>
            <a:r>
              <a:rPr lang="en"/>
              <a:t>Signature analysis on content and behavior</a:t>
            </a:r>
            <a:endParaRPr/>
          </a:p>
          <a:p>
            <a:pPr indent="-317500" lvl="2" marL="1371600" rtl="0" algn="l">
              <a:spcBef>
                <a:spcPts val="0"/>
              </a:spcBef>
              <a:spcAft>
                <a:spcPts val="0"/>
              </a:spcAft>
              <a:buSzPts val="1400"/>
              <a:buChar char="■"/>
            </a:pPr>
            <a:r>
              <a:rPr lang="en"/>
              <a:t>Shadow execution (execute unknown content found on the network)</a:t>
            </a:r>
            <a:endParaRPr/>
          </a:p>
          <a:p>
            <a:pPr indent="-317500" lvl="2" marL="1371600" rtl="0" algn="l">
              <a:spcBef>
                <a:spcPts val="0"/>
              </a:spcBef>
              <a:spcAft>
                <a:spcPts val="0"/>
              </a:spcAft>
              <a:buSzPts val="1400"/>
              <a:buChar char="■"/>
            </a:pPr>
            <a:r>
              <a:rPr lang="en"/>
              <a:t>Extensive</a:t>
            </a:r>
            <a:r>
              <a:rPr lang="en"/>
              <a:t> logging</a:t>
            </a:r>
            <a:endParaRPr/>
          </a:p>
          <a:p>
            <a:pPr indent="-317500" lvl="2" marL="1371600" rtl="0" algn="l">
              <a:spcBef>
                <a:spcPts val="0"/>
              </a:spcBef>
              <a:spcAft>
                <a:spcPts val="0"/>
              </a:spcAft>
              <a:buSzPts val="1400"/>
              <a:buChar char="■"/>
            </a:pPr>
            <a:r>
              <a:rPr lang="en"/>
              <a:t>Automatic updates</a:t>
            </a:r>
            <a:endParaRPr/>
          </a:p>
        </p:txBody>
      </p:sp>
      <p:sp>
        <p:nvSpPr>
          <p:cNvPr id="684" name="Google Shape;684;p80"/>
          <p:cNvSpPr/>
          <p:nvPr/>
        </p:nvSpPr>
        <p:spPr>
          <a:xfrm>
            <a:off x="5493500" y="1830100"/>
            <a:ext cx="1401732" cy="953964"/>
          </a:xfrm>
          <a:prstGeom prst="cloud">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Internet</a:t>
            </a:r>
            <a:endParaRPr/>
          </a:p>
        </p:txBody>
      </p:sp>
      <p:sp>
        <p:nvSpPr>
          <p:cNvPr id="685" name="Google Shape;685;p80"/>
          <p:cNvSpPr/>
          <p:nvPr/>
        </p:nvSpPr>
        <p:spPr>
          <a:xfrm>
            <a:off x="8037375" y="1761988"/>
            <a:ext cx="980100" cy="10902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686" name="Google Shape;686;p80"/>
          <p:cNvSpPr/>
          <p:nvPr/>
        </p:nvSpPr>
        <p:spPr>
          <a:xfrm>
            <a:off x="6758925" y="3128050"/>
            <a:ext cx="1311000" cy="4674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Packet Filter</a:t>
            </a:r>
            <a:endParaRPr/>
          </a:p>
        </p:txBody>
      </p:sp>
      <p:cxnSp>
        <p:nvCxnSpPr>
          <p:cNvPr id="687" name="Google Shape;687;p80"/>
          <p:cNvCxnSpPr>
            <a:stCxn id="684" idx="0"/>
            <a:endCxn id="685" idx="1"/>
          </p:cNvCxnSpPr>
          <p:nvPr/>
        </p:nvCxnSpPr>
        <p:spPr>
          <a:xfrm>
            <a:off x="6894064" y="2307082"/>
            <a:ext cx="1143300" cy="0"/>
          </a:xfrm>
          <a:prstGeom prst="straightConnector1">
            <a:avLst/>
          </a:prstGeom>
          <a:noFill/>
          <a:ln cap="flat" cmpd="sng" w="19050">
            <a:solidFill>
              <a:schemeClr val="dk2"/>
            </a:solidFill>
            <a:prstDash val="solid"/>
            <a:round/>
            <a:headEnd len="med" w="med" type="none"/>
            <a:tailEnd len="med" w="med" type="none"/>
          </a:ln>
        </p:spPr>
      </p:cxnSp>
      <p:cxnSp>
        <p:nvCxnSpPr>
          <p:cNvPr id="688" name="Google Shape;688;p80"/>
          <p:cNvCxnSpPr>
            <a:stCxn id="686" idx="0"/>
          </p:cNvCxnSpPr>
          <p:nvPr/>
        </p:nvCxnSpPr>
        <p:spPr>
          <a:xfrm rot="10800000">
            <a:off x="7414425" y="2258350"/>
            <a:ext cx="0" cy="869700"/>
          </a:xfrm>
          <a:prstGeom prst="straightConnector1">
            <a:avLst/>
          </a:prstGeom>
          <a:noFill/>
          <a:ln cap="flat" cmpd="sng" w="19050">
            <a:solidFill>
              <a:schemeClr val="dk2"/>
            </a:solidFill>
            <a:prstDash val="solid"/>
            <a:round/>
            <a:headEnd len="med" w="med" type="none"/>
            <a:tailEnd len="med" w="med" type="diamond"/>
          </a:ln>
        </p:spPr>
      </p:cxnSp>
      <p:sp>
        <p:nvSpPr>
          <p:cNvPr id="689" name="Google Shape;689;p80"/>
          <p:cNvSpPr/>
          <p:nvPr/>
        </p:nvSpPr>
        <p:spPr>
          <a:xfrm>
            <a:off x="6156825" y="4075300"/>
            <a:ext cx="548700" cy="4674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NIDS unit</a:t>
            </a:r>
            <a:endParaRPr sz="1000"/>
          </a:p>
        </p:txBody>
      </p:sp>
      <p:sp>
        <p:nvSpPr>
          <p:cNvPr id="690" name="Google Shape;690;p80"/>
          <p:cNvSpPr/>
          <p:nvPr/>
        </p:nvSpPr>
        <p:spPr>
          <a:xfrm>
            <a:off x="6812325" y="4075300"/>
            <a:ext cx="548700" cy="4674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NIDS unit</a:t>
            </a:r>
            <a:endParaRPr sz="1000"/>
          </a:p>
        </p:txBody>
      </p:sp>
      <p:sp>
        <p:nvSpPr>
          <p:cNvPr id="691" name="Google Shape;691;p80"/>
          <p:cNvSpPr/>
          <p:nvPr/>
        </p:nvSpPr>
        <p:spPr>
          <a:xfrm>
            <a:off x="7467825" y="4075300"/>
            <a:ext cx="548700" cy="4674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NIDS unit</a:t>
            </a:r>
            <a:endParaRPr sz="1000"/>
          </a:p>
        </p:txBody>
      </p:sp>
      <p:sp>
        <p:nvSpPr>
          <p:cNvPr id="692" name="Google Shape;692;p80"/>
          <p:cNvSpPr/>
          <p:nvPr/>
        </p:nvSpPr>
        <p:spPr>
          <a:xfrm>
            <a:off x="8123325" y="4075300"/>
            <a:ext cx="548700" cy="4674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NIDS unit</a:t>
            </a:r>
            <a:endParaRPr sz="1000"/>
          </a:p>
        </p:txBody>
      </p:sp>
      <p:cxnSp>
        <p:nvCxnSpPr>
          <p:cNvPr id="693" name="Google Shape;693;p80"/>
          <p:cNvCxnSpPr>
            <a:stCxn id="686" idx="2"/>
            <a:endCxn id="689" idx="0"/>
          </p:cNvCxnSpPr>
          <p:nvPr/>
        </p:nvCxnSpPr>
        <p:spPr>
          <a:xfrm flipH="1">
            <a:off x="6431025" y="3595450"/>
            <a:ext cx="983400" cy="480000"/>
          </a:xfrm>
          <a:prstGeom prst="straightConnector1">
            <a:avLst/>
          </a:prstGeom>
          <a:noFill/>
          <a:ln cap="flat" cmpd="sng" w="9525">
            <a:solidFill>
              <a:schemeClr val="dk2"/>
            </a:solidFill>
            <a:prstDash val="solid"/>
            <a:round/>
            <a:headEnd len="med" w="med" type="none"/>
            <a:tailEnd len="med" w="med" type="none"/>
          </a:ln>
        </p:spPr>
      </p:cxnSp>
      <p:cxnSp>
        <p:nvCxnSpPr>
          <p:cNvPr id="694" name="Google Shape;694;p80"/>
          <p:cNvCxnSpPr>
            <a:stCxn id="686" idx="2"/>
            <a:endCxn id="690" idx="0"/>
          </p:cNvCxnSpPr>
          <p:nvPr/>
        </p:nvCxnSpPr>
        <p:spPr>
          <a:xfrm flipH="1">
            <a:off x="7086825" y="3595450"/>
            <a:ext cx="327600" cy="480000"/>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80"/>
          <p:cNvCxnSpPr>
            <a:stCxn id="686" idx="2"/>
            <a:endCxn id="691" idx="0"/>
          </p:cNvCxnSpPr>
          <p:nvPr/>
        </p:nvCxnSpPr>
        <p:spPr>
          <a:xfrm>
            <a:off x="7414425" y="3595450"/>
            <a:ext cx="327900" cy="480000"/>
          </a:xfrm>
          <a:prstGeom prst="straightConnector1">
            <a:avLst/>
          </a:prstGeom>
          <a:noFill/>
          <a:ln cap="flat" cmpd="sng" w="9525">
            <a:solidFill>
              <a:schemeClr val="dk2"/>
            </a:solidFill>
            <a:prstDash val="solid"/>
            <a:round/>
            <a:headEnd len="med" w="med" type="none"/>
            <a:tailEnd len="med" w="med" type="none"/>
          </a:ln>
        </p:spPr>
      </p:cxnSp>
      <p:cxnSp>
        <p:nvCxnSpPr>
          <p:cNvPr id="696" name="Google Shape;696;p80"/>
          <p:cNvCxnSpPr>
            <a:stCxn id="686" idx="2"/>
            <a:endCxn id="692" idx="0"/>
          </p:cNvCxnSpPr>
          <p:nvPr/>
        </p:nvCxnSpPr>
        <p:spPr>
          <a:xfrm>
            <a:off x="7414425" y="3595450"/>
            <a:ext cx="983400" cy="480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8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Inside A Modern IDS</a:t>
            </a:r>
            <a:endParaRPr/>
          </a:p>
        </p:txBody>
      </p:sp>
      <p:sp>
        <p:nvSpPr>
          <p:cNvPr id="702" name="Google Shape;702;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03" name="Google Shape;703;p8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Cover individual devices using a</a:t>
            </a:r>
            <a:r>
              <a:rPr b="1" lang="en"/>
              <a:t> </a:t>
            </a:r>
            <a:r>
              <a:rPr lang="en"/>
              <a:t>HIDS on each device</a:t>
            </a:r>
            <a:endParaRPr/>
          </a:p>
          <a:p>
            <a:pPr indent="-317500" lvl="1" marL="914400" rtl="0" algn="l">
              <a:spcBef>
                <a:spcPts val="0"/>
              </a:spcBef>
              <a:spcAft>
                <a:spcPts val="0"/>
              </a:spcAft>
              <a:buSzPts val="1400"/>
              <a:buChar char="○"/>
            </a:pPr>
            <a:r>
              <a:rPr lang="en"/>
              <a:t>Antivirus software is a kind of HIDS used by many corporations!</a:t>
            </a:r>
            <a:endParaRPr/>
          </a:p>
          <a:p>
            <a:pPr indent="-317500" lvl="1" marL="914400" rtl="0" algn="l">
              <a:spcBef>
                <a:spcPts val="0"/>
              </a:spcBef>
              <a:spcAft>
                <a:spcPts val="0"/>
              </a:spcAft>
              <a:buSzPts val="1400"/>
              <a:buChar char="○"/>
            </a:pPr>
            <a:r>
              <a:rPr lang="en"/>
              <a:t>Block access to blacklisted sites (e.g. malware sites)</a:t>
            </a:r>
            <a:endParaRPr/>
          </a:p>
          <a:p>
            <a:pPr indent="-317500" lvl="1" marL="914400" rtl="0" algn="l">
              <a:spcBef>
                <a:spcPts val="0"/>
              </a:spcBef>
              <a:spcAft>
                <a:spcPts val="0"/>
              </a:spcAft>
              <a:buSzPts val="1400"/>
              <a:buChar char="○"/>
            </a:pPr>
            <a:r>
              <a:rPr lang="en"/>
              <a:t>Detection techniques</a:t>
            </a:r>
            <a:endParaRPr/>
          </a:p>
          <a:p>
            <a:pPr indent="-317500" lvl="2" marL="1371600" rtl="0" algn="l">
              <a:spcBef>
                <a:spcPts val="0"/>
              </a:spcBef>
              <a:spcAft>
                <a:spcPts val="0"/>
              </a:spcAft>
              <a:buSzPts val="1400"/>
              <a:buChar char="■"/>
            </a:pPr>
            <a:r>
              <a:rPr lang="en"/>
              <a:t>Protocol analysis</a:t>
            </a:r>
            <a:endParaRPr/>
          </a:p>
          <a:p>
            <a:pPr indent="-317500" lvl="2" marL="1371600" rtl="0" algn="l">
              <a:spcBef>
                <a:spcPts val="0"/>
              </a:spcBef>
              <a:spcAft>
                <a:spcPts val="0"/>
              </a:spcAft>
              <a:buSzPts val="1400"/>
              <a:buChar char="■"/>
            </a:pPr>
            <a:r>
              <a:rPr lang="en"/>
              <a:t>Signature analysis on networking traffic</a:t>
            </a:r>
            <a:endParaRPr/>
          </a:p>
          <a:p>
            <a:pPr indent="-317500" lvl="2" marL="1371600" rtl="0" algn="l">
              <a:spcBef>
                <a:spcPts val="0"/>
              </a:spcBef>
              <a:spcAft>
                <a:spcPts val="0"/>
              </a:spcAft>
              <a:buSzPts val="1400"/>
              <a:buChar char="■"/>
            </a:pPr>
            <a:r>
              <a:rPr lang="en"/>
              <a:t>Signature analysis on memory and filesystem</a:t>
            </a:r>
            <a:endParaRPr/>
          </a:p>
          <a:p>
            <a:pPr indent="-317500" lvl="2" marL="1371600" rtl="0" algn="l">
              <a:spcBef>
                <a:spcPts val="0"/>
              </a:spcBef>
              <a:spcAft>
                <a:spcPts val="0"/>
              </a:spcAft>
              <a:buSzPts val="1400"/>
              <a:buChar char="■"/>
            </a:pPr>
            <a:r>
              <a:rPr lang="en"/>
              <a:t>Query a cloud database to see if a payload has been seen by other devices running the same HIDS</a:t>
            </a:r>
            <a:endParaRPr/>
          </a:p>
          <a:p>
            <a:pPr indent="-317500" lvl="2" marL="1371600" rtl="0" algn="l">
              <a:spcBef>
                <a:spcPts val="0"/>
              </a:spcBef>
              <a:spcAft>
                <a:spcPts val="0"/>
              </a:spcAft>
              <a:buSzPts val="1400"/>
              <a:buChar char="■"/>
            </a:pPr>
            <a:r>
              <a:rPr lang="en"/>
              <a:t>Sandboxed execution (execute a payload in a safe, inescapable environment)</a:t>
            </a:r>
            <a:endParaRPr/>
          </a:p>
          <a:p>
            <a:pPr indent="-317500" lvl="3" marL="1828800" rtl="0" algn="l">
              <a:spcBef>
                <a:spcPts val="0"/>
              </a:spcBef>
              <a:spcAft>
                <a:spcPts val="0"/>
              </a:spcAft>
              <a:buSzPts val="1400"/>
              <a:buChar char="●"/>
            </a:pPr>
            <a:r>
              <a:rPr lang="en"/>
              <a:t>Analyze the behavior of the program while in the sandbox</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8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Detectors: Summary</a:t>
            </a:r>
            <a:endParaRPr/>
          </a:p>
        </p:txBody>
      </p:sp>
      <p:sp>
        <p:nvSpPr>
          <p:cNvPr id="709" name="Google Shape;709;p8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Network Intrusion Detection System (NIDS): Installed on the network</a:t>
            </a:r>
            <a:endParaRPr/>
          </a:p>
          <a:p>
            <a:pPr indent="-317500" lvl="1" marL="914400" rtl="0" algn="l">
              <a:spcBef>
                <a:spcPts val="0"/>
              </a:spcBef>
              <a:spcAft>
                <a:spcPts val="0"/>
              </a:spcAft>
              <a:buSzPts val="1400"/>
              <a:buChar char="○"/>
            </a:pPr>
            <a:r>
              <a:rPr lang="en"/>
              <a:t>Benefits: Cheap, easy to scale, simple management, end systems unaffected, small TCB</a:t>
            </a:r>
            <a:endParaRPr/>
          </a:p>
          <a:p>
            <a:pPr indent="-317500" lvl="1" marL="914400" rtl="0" algn="l">
              <a:spcBef>
                <a:spcPts val="0"/>
              </a:spcBef>
              <a:spcAft>
                <a:spcPts val="0"/>
              </a:spcAft>
              <a:buSzPts val="1400"/>
              <a:buChar char="○"/>
            </a:pPr>
            <a:r>
              <a:rPr lang="en"/>
              <a:t>Drawbacks: Inconsistent interpretation (leads to evasion attacks), encrypted traffic</a:t>
            </a:r>
            <a:endParaRPr/>
          </a:p>
          <a:p>
            <a:pPr indent="-342900" lvl="0" marL="457200" rtl="0" algn="l">
              <a:spcBef>
                <a:spcPts val="0"/>
              </a:spcBef>
              <a:spcAft>
                <a:spcPts val="0"/>
              </a:spcAft>
              <a:buSzPts val="1800"/>
              <a:buChar char="●"/>
            </a:pPr>
            <a:r>
              <a:rPr lang="en"/>
              <a:t>Host-based Intrusion Detection System (HIDS): Installed on the end host</a:t>
            </a:r>
            <a:endParaRPr/>
          </a:p>
          <a:p>
            <a:pPr indent="-317500" lvl="1" marL="914400" rtl="0" algn="l">
              <a:spcBef>
                <a:spcPts val="0"/>
              </a:spcBef>
              <a:spcAft>
                <a:spcPts val="0"/>
              </a:spcAft>
              <a:buSzPts val="1400"/>
              <a:buChar char="○"/>
            </a:pPr>
            <a:r>
              <a:rPr lang="en"/>
              <a:t>Benefits: Fewer inconsistencies, works with encrypted traffic, works inside the network, performance can scale</a:t>
            </a:r>
            <a:endParaRPr/>
          </a:p>
          <a:p>
            <a:pPr indent="-317500" lvl="1" marL="914400" rtl="0" algn="l">
              <a:spcBef>
                <a:spcPts val="0"/>
              </a:spcBef>
              <a:spcAft>
                <a:spcPts val="0"/>
              </a:spcAft>
              <a:buSzPts val="1400"/>
              <a:buChar char="○"/>
            </a:pPr>
            <a:r>
              <a:rPr lang="en"/>
              <a:t>Drawbacks: Expensive, evasion attacks still possible</a:t>
            </a:r>
            <a:endParaRPr/>
          </a:p>
          <a:p>
            <a:pPr indent="-342900" lvl="0" marL="457200" rtl="0" algn="l">
              <a:spcBef>
                <a:spcPts val="0"/>
              </a:spcBef>
              <a:spcAft>
                <a:spcPts val="0"/>
              </a:spcAft>
              <a:buSzPts val="1800"/>
              <a:buChar char="●"/>
            </a:pPr>
            <a:r>
              <a:rPr lang="en"/>
              <a:t>Logging: Analyze logs generated by servers</a:t>
            </a:r>
            <a:endParaRPr/>
          </a:p>
          <a:p>
            <a:pPr indent="-317500" lvl="1" marL="914400" rtl="0" algn="l">
              <a:spcBef>
                <a:spcPts val="0"/>
              </a:spcBef>
              <a:spcAft>
                <a:spcPts val="0"/>
              </a:spcAft>
              <a:buSzPts val="1400"/>
              <a:buChar char="○"/>
            </a:pPr>
            <a:r>
              <a:rPr lang="en"/>
              <a:t>Benefits: Cheap, fewer inconsistencies</a:t>
            </a:r>
            <a:endParaRPr/>
          </a:p>
          <a:p>
            <a:pPr indent="-317500" lvl="1" marL="914400" rtl="0" algn="l">
              <a:spcBef>
                <a:spcPts val="0"/>
              </a:spcBef>
              <a:spcAft>
                <a:spcPts val="0"/>
              </a:spcAft>
              <a:buSzPts val="1400"/>
              <a:buChar char="○"/>
            </a:pPr>
            <a:r>
              <a:rPr lang="en"/>
              <a:t>Drawbacks: Only detects attacks after they happen, evasion attacks still possible, attacker could change the logs</a:t>
            </a:r>
            <a:endParaRPr/>
          </a:p>
        </p:txBody>
      </p:sp>
      <p:sp>
        <p:nvSpPr>
          <p:cNvPr id="710" name="Google Shape;710;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8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Detection Accuracy: Summary</a:t>
            </a:r>
            <a:endParaRPr/>
          </a:p>
        </p:txBody>
      </p:sp>
      <p:sp>
        <p:nvSpPr>
          <p:cNvPr id="716" name="Google Shape;716;p83"/>
          <p:cNvSpPr txBox="1"/>
          <p:nvPr>
            <p:ph idx="1" type="body"/>
          </p:nvPr>
        </p:nvSpPr>
        <p:spPr>
          <a:xfrm>
            <a:off x="198500" y="1128550"/>
            <a:ext cx="8520600" cy="3960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Two main types of detector errors</a:t>
            </a:r>
            <a:endParaRPr/>
          </a:p>
          <a:p>
            <a:pPr indent="-317500" lvl="1" marL="914400" rtl="0" algn="l">
              <a:spcBef>
                <a:spcPts val="0"/>
              </a:spcBef>
              <a:spcAft>
                <a:spcPts val="0"/>
              </a:spcAft>
              <a:buSzPts val="1400"/>
              <a:buChar char="○"/>
            </a:pPr>
            <a:r>
              <a:rPr lang="en"/>
              <a:t>False positive: Detector alerts when there is no attack</a:t>
            </a:r>
            <a:endParaRPr/>
          </a:p>
          <a:p>
            <a:pPr indent="-317500" lvl="1" marL="914400" rtl="0" algn="l">
              <a:spcBef>
                <a:spcPts val="0"/>
              </a:spcBef>
              <a:spcAft>
                <a:spcPts val="0"/>
              </a:spcAft>
              <a:buSzPts val="1400"/>
              <a:buChar char="○"/>
            </a:pPr>
            <a:r>
              <a:rPr lang="en"/>
              <a:t>False negative: Detector fails to alert when there is an attack</a:t>
            </a:r>
            <a:endParaRPr/>
          </a:p>
          <a:p>
            <a:pPr indent="-342900" lvl="0" marL="457200" rtl="0" algn="l">
              <a:spcBef>
                <a:spcPts val="0"/>
              </a:spcBef>
              <a:spcAft>
                <a:spcPts val="0"/>
              </a:spcAft>
              <a:buSzPts val="1800"/>
              <a:buChar char="●"/>
            </a:pPr>
            <a:r>
              <a:rPr lang="en"/>
              <a:t>Detector accuracy</a:t>
            </a:r>
            <a:endParaRPr/>
          </a:p>
          <a:p>
            <a:pPr indent="-317500" lvl="1" marL="914400" rtl="0" algn="l">
              <a:spcBef>
                <a:spcPts val="0"/>
              </a:spcBef>
              <a:spcAft>
                <a:spcPts val="0"/>
              </a:spcAft>
              <a:buSzPts val="1400"/>
              <a:buChar char="○"/>
            </a:pPr>
            <a:r>
              <a:rPr lang="en"/>
              <a:t>False positive rate (FPR): The probability the detector alerts, given there is no attack</a:t>
            </a:r>
            <a:endParaRPr/>
          </a:p>
          <a:p>
            <a:pPr indent="-317500" lvl="1" marL="914400" rtl="0" algn="l">
              <a:spcBef>
                <a:spcPts val="0"/>
              </a:spcBef>
              <a:spcAft>
                <a:spcPts val="0"/>
              </a:spcAft>
              <a:buSzPts val="1400"/>
              <a:buChar char="○"/>
            </a:pPr>
            <a:r>
              <a:rPr lang="en"/>
              <a:t>False negative rate (FNR): The probability the detector does not alert, given there is an attack</a:t>
            </a:r>
            <a:endParaRPr/>
          </a:p>
          <a:p>
            <a:pPr indent="-342900" lvl="0" marL="457200" rtl="0" algn="l">
              <a:spcBef>
                <a:spcPts val="0"/>
              </a:spcBef>
              <a:spcAft>
                <a:spcPts val="0"/>
              </a:spcAft>
              <a:buSzPts val="1800"/>
              <a:buChar char="●"/>
            </a:pPr>
            <a:r>
              <a:rPr lang="en"/>
              <a:t>Designing a good detector involves considering tradeoffs</a:t>
            </a:r>
            <a:endParaRPr/>
          </a:p>
          <a:p>
            <a:pPr indent="-317500" lvl="1" marL="914400" rtl="0" algn="l">
              <a:spcBef>
                <a:spcPts val="0"/>
              </a:spcBef>
              <a:spcAft>
                <a:spcPts val="0"/>
              </a:spcAft>
              <a:buSzPts val="1400"/>
              <a:buChar char="○"/>
            </a:pPr>
            <a:r>
              <a:rPr lang="en" sz="1400"/>
              <a:t>What is the rate of attacks on your system?</a:t>
            </a:r>
            <a:endParaRPr sz="1400"/>
          </a:p>
          <a:p>
            <a:pPr indent="-317500" lvl="1" marL="914400" rtl="0" algn="l">
              <a:spcBef>
                <a:spcPts val="0"/>
              </a:spcBef>
              <a:spcAft>
                <a:spcPts val="0"/>
              </a:spcAft>
              <a:buSzPts val="1400"/>
              <a:buChar char="○"/>
            </a:pPr>
            <a:r>
              <a:rPr lang="en" sz="1400"/>
              <a:t>How much does a false positive cost in your system?</a:t>
            </a:r>
            <a:endParaRPr sz="1400"/>
          </a:p>
          <a:p>
            <a:pPr indent="-317500" lvl="1" marL="914400" rtl="0" algn="l">
              <a:spcBef>
                <a:spcPts val="0"/>
              </a:spcBef>
              <a:spcAft>
                <a:spcPts val="0"/>
              </a:spcAft>
              <a:buSzPts val="1400"/>
              <a:buChar char="○"/>
            </a:pPr>
            <a:r>
              <a:rPr lang="en" sz="1400"/>
              <a:t>How much does a false negative cost in your system?</a:t>
            </a:r>
            <a:endParaRPr sz="1400"/>
          </a:p>
          <a:p>
            <a:pPr indent="-342900" lvl="0" marL="457200" rtl="0" algn="l">
              <a:spcBef>
                <a:spcPts val="0"/>
              </a:spcBef>
              <a:spcAft>
                <a:spcPts val="0"/>
              </a:spcAft>
              <a:buSzPts val="1800"/>
              <a:buChar char="●"/>
            </a:pPr>
            <a:r>
              <a:rPr lang="en"/>
              <a:t>Accurate detection is very challenging if the base rate of attacks is low</a:t>
            </a:r>
            <a:endParaRPr/>
          </a:p>
          <a:p>
            <a:pPr indent="-342900" lvl="0" marL="457200" rtl="0" algn="l">
              <a:spcBef>
                <a:spcPts val="0"/>
              </a:spcBef>
              <a:spcAft>
                <a:spcPts val="0"/>
              </a:spcAft>
              <a:buSzPts val="1800"/>
              <a:buChar char="●"/>
            </a:pPr>
            <a:r>
              <a:rPr lang="en"/>
              <a:t>Detectors can be combined</a:t>
            </a:r>
            <a:endParaRPr/>
          </a:p>
          <a:p>
            <a:pPr indent="-317500" lvl="1" marL="914400" rtl="0" algn="l">
              <a:spcBef>
                <a:spcPts val="0"/>
              </a:spcBef>
              <a:spcAft>
                <a:spcPts val="0"/>
              </a:spcAft>
              <a:buSzPts val="1400"/>
              <a:buChar char="○"/>
            </a:pPr>
            <a:r>
              <a:rPr lang="en"/>
              <a:t>Parallel: Fewer false negatives, more false positives</a:t>
            </a:r>
            <a:endParaRPr/>
          </a:p>
          <a:p>
            <a:pPr indent="-317500" lvl="1" marL="914400" rtl="0" algn="l">
              <a:spcBef>
                <a:spcPts val="0"/>
              </a:spcBef>
              <a:spcAft>
                <a:spcPts val="0"/>
              </a:spcAft>
              <a:buSzPts val="1400"/>
              <a:buChar char="○"/>
            </a:pPr>
            <a:r>
              <a:rPr lang="en"/>
              <a:t>Series: Fewer false positives, more false negatives</a:t>
            </a:r>
            <a:endParaRPr/>
          </a:p>
        </p:txBody>
      </p:sp>
      <p:sp>
        <p:nvSpPr>
          <p:cNvPr id="717" name="Google Shape;717;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8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Styles of Detection: Summary</a:t>
            </a:r>
            <a:endParaRPr/>
          </a:p>
        </p:txBody>
      </p:sp>
      <p:sp>
        <p:nvSpPr>
          <p:cNvPr id="723" name="Google Shape;723;p8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Signature-based</a:t>
            </a:r>
            <a:endParaRPr/>
          </a:p>
          <a:p>
            <a:pPr indent="-317500" lvl="1" marL="914400" rtl="0" algn="l">
              <a:spcBef>
                <a:spcPts val="0"/>
              </a:spcBef>
              <a:spcAft>
                <a:spcPts val="0"/>
              </a:spcAft>
              <a:buSzPts val="1400"/>
              <a:buChar char="○"/>
            </a:pPr>
            <a:r>
              <a:rPr lang="en"/>
              <a:t>Flag any activity that matches the structure of a known attack (blacklisting)</a:t>
            </a:r>
            <a:endParaRPr/>
          </a:p>
          <a:p>
            <a:pPr indent="-317500" lvl="1" marL="914400" rtl="0" algn="l">
              <a:spcBef>
                <a:spcPts val="0"/>
              </a:spcBef>
              <a:spcAft>
                <a:spcPts val="0"/>
              </a:spcAft>
              <a:buSzPts val="1400"/>
              <a:buChar char="○"/>
            </a:pPr>
            <a:r>
              <a:rPr lang="en"/>
              <a:t>Good at detecting known attacks, but bad at detecting unknown attacks</a:t>
            </a:r>
            <a:endParaRPr/>
          </a:p>
          <a:p>
            <a:pPr indent="-342900" lvl="0" marL="457200" rtl="0" algn="l">
              <a:spcBef>
                <a:spcPts val="0"/>
              </a:spcBef>
              <a:spcAft>
                <a:spcPts val="0"/>
              </a:spcAft>
              <a:buSzPts val="1800"/>
              <a:buChar char="●"/>
            </a:pPr>
            <a:r>
              <a:rPr lang="en"/>
              <a:t>Specification-based</a:t>
            </a:r>
            <a:endParaRPr/>
          </a:p>
          <a:p>
            <a:pPr indent="-317500" lvl="1" marL="914400" rtl="0" algn="l">
              <a:spcBef>
                <a:spcPts val="0"/>
              </a:spcBef>
              <a:spcAft>
                <a:spcPts val="0"/>
              </a:spcAft>
              <a:buSzPts val="1400"/>
              <a:buChar char="○"/>
            </a:pPr>
            <a:r>
              <a:rPr lang="en"/>
              <a:t>Specify allowed behavior and flag any behavior that isn’t allowed behavior (whitelisting)</a:t>
            </a:r>
            <a:endParaRPr/>
          </a:p>
          <a:p>
            <a:pPr indent="-317500" lvl="1" marL="914400" rtl="0" algn="l">
              <a:spcBef>
                <a:spcPts val="0"/>
              </a:spcBef>
              <a:spcAft>
                <a:spcPts val="0"/>
              </a:spcAft>
              <a:buSzPts val="1400"/>
              <a:buChar char="○"/>
            </a:pPr>
            <a:r>
              <a:rPr lang="en"/>
              <a:t>Can detect unknown attacks, but requires work to manually write specifications</a:t>
            </a:r>
            <a:endParaRPr/>
          </a:p>
          <a:p>
            <a:pPr indent="-342900" lvl="0" marL="457200" rtl="0" algn="l">
              <a:spcBef>
                <a:spcPts val="0"/>
              </a:spcBef>
              <a:spcAft>
                <a:spcPts val="0"/>
              </a:spcAft>
              <a:buSzPts val="1800"/>
              <a:buChar char="●"/>
            </a:pPr>
            <a:r>
              <a:rPr lang="en"/>
              <a:t>Anomaly-based</a:t>
            </a:r>
            <a:endParaRPr/>
          </a:p>
          <a:p>
            <a:pPr indent="-317500" lvl="1" marL="914400" rtl="0" algn="l">
              <a:spcBef>
                <a:spcPts val="0"/>
              </a:spcBef>
              <a:spcAft>
                <a:spcPts val="0"/>
              </a:spcAft>
              <a:buSzPts val="1400"/>
              <a:buChar char="○"/>
            </a:pPr>
            <a:r>
              <a:rPr lang="en"/>
              <a:t>Develop a model of what normal activity looks like. Alert on any activity that deviates from normal activity.</a:t>
            </a:r>
            <a:endParaRPr/>
          </a:p>
          <a:p>
            <a:pPr indent="-317500" lvl="1" marL="914400" rtl="0" algn="l">
              <a:spcBef>
                <a:spcPts val="0"/>
              </a:spcBef>
              <a:spcAft>
                <a:spcPts val="0"/>
              </a:spcAft>
              <a:buSzPts val="1400"/>
              <a:buChar char="○"/>
            </a:pPr>
            <a:r>
              <a:rPr lang="en"/>
              <a:t>Mostly seen in research papers, not in practice</a:t>
            </a:r>
            <a:endParaRPr/>
          </a:p>
          <a:p>
            <a:pPr indent="-342900" lvl="0" marL="457200" rtl="0" algn="l">
              <a:spcBef>
                <a:spcPts val="0"/>
              </a:spcBef>
              <a:spcAft>
                <a:spcPts val="0"/>
              </a:spcAft>
              <a:buSzPts val="1800"/>
              <a:buChar char="●"/>
            </a:pPr>
            <a:r>
              <a:rPr lang="en"/>
              <a:t>Behavioral</a:t>
            </a:r>
            <a:endParaRPr/>
          </a:p>
          <a:p>
            <a:pPr indent="-317500" lvl="1" marL="914400" rtl="0" algn="l">
              <a:spcBef>
                <a:spcPts val="0"/>
              </a:spcBef>
              <a:spcAft>
                <a:spcPts val="0"/>
              </a:spcAft>
              <a:buSzPts val="1400"/>
              <a:buChar char="○"/>
            </a:pPr>
            <a:r>
              <a:rPr lang="en"/>
              <a:t>Look for evidence of compromise</a:t>
            </a:r>
            <a:endParaRPr/>
          </a:p>
          <a:p>
            <a:pPr indent="-317500" lvl="1" marL="914400" rtl="0" algn="l">
              <a:spcBef>
                <a:spcPts val="0"/>
              </a:spcBef>
              <a:spcAft>
                <a:spcPts val="0"/>
              </a:spcAft>
              <a:buSzPts val="1400"/>
              <a:buChar char="○"/>
            </a:pPr>
            <a:r>
              <a:rPr lang="en"/>
              <a:t>Can cheaply detect new attacks with few false positives, but only detects after the attack</a:t>
            </a:r>
            <a:endParaRPr/>
          </a:p>
        </p:txBody>
      </p:sp>
      <p:sp>
        <p:nvSpPr>
          <p:cNvPr id="724" name="Google Shape;724;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8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Intrusion Detection Strategies: Summary</a:t>
            </a:r>
            <a:endParaRPr/>
          </a:p>
        </p:txBody>
      </p:sp>
      <p:sp>
        <p:nvSpPr>
          <p:cNvPr id="730" name="Google Shape;730;p8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Vulnerability scanning: </a:t>
            </a:r>
            <a:r>
              <a:rPr lang="en"/>
              <a:t>Use a tool that probes your own system with a wide range of attacks (and fix any successful attacks)</a:t>
            </a:r>
            <a:endParaRPr/>
          </a:p>
          <a:p>
            <a:pPr indent="-317500" lvl="1" marL="914400" rtl="0" algn="l">
              <a:spcBef>
                <a:spcPts val="0"/>
              </a:spcBef>
              <a:spcAft>
                <a:spcPts val="0"/>
              </a:spcAft>
              <a:buSzPts val="1400"/>
              <a:buChar char="○"/>
            </a:pPr>
            <a:r>
              <a:rPr lang="en"/>
              <a:t>Can accurately prevent attacks before they happen, but can be expensive</a:t>
            </a:r>
            <a:endParaRPr/>
          </a:p>
          <a:p>
            <a:pPr indent="-342900" lvl="0" marL="457200" rtl="0" algn="l">
              <a:spcBef>
                <a:spcPts val="0"/>
              </a:spcBef>
              <a:spcAft>
                <a:spcPts val="0"/>
              </a:spcAft>
              <a:buSzPts val="1800"/>
              <a:buChar char="●"/>
            </a:pPr>
            <a:r>
              <a:rPr lang="en"/>
              <a:t>Honeypot: a sacrificial system with no real purpose</a:t>
            </a:r>
            <a:endParaRPr/>
          </a:p>
          <a:p>
            <a:pPr indent="-317500" lvl="1" marL="914400" rtl="0" algn="l">
              <a:spcBef>
                <a:spcPts val="0"/>
              </a:spcBef>
              <a:spcAft>
                <a:spcPts val="0"/>
              </a:spcAft>
              <a:buSzPts val="1400"/>
              <a:buChar char="○"/>
            </a:pPr>
            <a:r>
              <a:rPr lang="en"/>
              <a:t>Can detect attackers and analyze their actions, but may take work to trick the attacker into using the honeypot</a:t>
            </a:r>
            <a:endParaRPr/>
          </a:p>
          <a:p>
            <a:pPr indent="-342900" lvl="0" marL="457200" rtl="0" algn="l">
              <a:spcBef>
                <a:spcPts val="0"/>
              </a:spcBef>
              <a:spcAft>
                <a:spcPts val="0"/>
              </a:spcAft>
              <a:buSzPts val="1800"/>
              <a:buChar char="●"/>
            </a:pPr>
            <a:r>
              <a:rPr lang="en"/>
              <a:t>Forensics: Analyzing what happened after a successful attack</a:t>
            </a:r>
            <a:endParaRPr/>
          </a:p>
          <a:p>
            <a:pPr indent="-342900" lvl="0" marL="457200" rtl="0" algn="l">
              <a:spcBef>
                <a:spcPts val="0"/>
              </a:spcBef>
              <a:spcAft>
                <a:spcPts val="0"/>
              </a:spcAft>
              <a:buSzPts val="1800"/>
              <a:buChar char="●"/>
            </a:pPr>
            <a:r>
              <a:rPr lang="en"/>
              <a:t>Intrusion Prevention System (IPS): An intrusion detection system that also blocks attacks</a:t>
            </a:r>
            <a:endParaRPr/>
          </a:p>
        </p:txBody>
      </p:sp>
      <p:sp>
        <p:nvSpPr>
          <p:cNvPr id="731" name="Google Shape;731;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SE 405">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