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BF6B63E-E3AB-4D18-9801-6EFA9DE13B71}">
  <a:tblStyle styleId="{5BF6B63E-E3AB-4D18-9801-6EFA9DE13B7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letter </a:t>
            </a:r>
            <a:r>
              <a:rPr lang="en"/>
              <a:t>acronyms joke</a:t>
            </a:r>
            <a:endParaRPr/>
          </a:p>
          <a:p>
            <a:pPr indent="0" lvl="0" marL="0" rtl="0" algn="l">
              <a:spcBef>
                <a:spcPts val="0"/>
              </a:spcBef>
              <a:spcAft>
                <a:spcPts val="0"/>
              </a:spcAft>
              <a:buNone/>
            </a:pPr>
            <a:r>
              <a:rPr lang="en"/>
              <a:t>Building on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78748009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78748009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Start narrative on defense in depth</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dc20993df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dc20993df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2ec031cf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2ec031cf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2ec031cf7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22ec031cf7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Recall what are the layers of the networks?</a:t>
            </a:r>
            <a:endParaRPr/>
          </a:p>
          <a:p>
            <a:pPr indent="0" lvl="0" marL="0" rtl="0" algn="l">
              <a:spcBef>
                <a:spcPts val="0"/>
              </a:spcBef>
              <a:spcAft>
                <a:spcPts val="0"/>
              </a:spcAft>
              <a:buNone/>
            </a:pPr>
            <a:r>
              <a:rPr lang="en"/>
              <a:t>A: 1 - Physical 2 - Link 3 - internetwork (IP) </a:t>
            </a:r>
            <a:endParaRPr/>
          </a:p>
          <a:p>
            <a:pPr indent="0" lvl="0" marL="0" rtl="0" algn="l">
              <a:spcBef>
                <a:spcPts val="0"/>
              </a:spcBef>
              <a:spcAft>
                <a:spcPts val="0"/>
              </a:spcAft>
              <a:buNone/>
            </a:pPr>
            <a:r>
              <a:rPr lang="en"/>
              <a:t>Start 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2ec031cf7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2ec031cf7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2ec031cf7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2ec031cf7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2ec031cf7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2ec031cf7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2ec031cf7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2ec031cf7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that AS1 has a choice of whether to use AS2, AS3, or AS4. It chooses AS4 since AS4 provides the most direct path. If the AS1-AS4 link drops, AS1 will recalculate and choose either AS1-&gt;AS3-&gt;AS5-&gt;AS6 or AS1-&gt;AS2-&gt;AS4-&gt;AS6. So the decision of which path to choose is a dynamic problem that has to be continuously calculated. You cannot figure out the path before, thats the point of hop by hop.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2ec031cf7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2ec031cf7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2ec4d9a9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2ec4d9a9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e63206f3db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e63206f3db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e6569269f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e6569269f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e0b73e9ba0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e0b73e9ba0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e5292830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e5292830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e52928307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e52928307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Hammer in the concept that we build messages from high to low so headers of higher layers are put first into the message packets so therefore end up “below” the headers of the lower layers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e6569269f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e6569269f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db0b7df50a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db0b7df50a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db0b7df50a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db0b7df50a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e0b73e9ba0_0_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e0b73e9ba0_0_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db0b7df50a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db0b7df50a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TODO</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e0b73e9ba0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e0b73e9ba0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db0b7df50a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db0b7df50a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db0b7df50a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db0b7df50a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e52928307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e52928307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Notice: Ports, sequence number, ACK number, flags, checksum, and data</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e0b73e9ba0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e0b73e9ba0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e0b73e9ba0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e0b73e9ba0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TODO</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e0b73e9ba0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e0b73e9ba0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e0b73e9ba0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e0b73e9ba0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TODO</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e0b73e9ba0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e0b73e9ba0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2ec4d9a9f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2ec4d9a9f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e52928307f_2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e52928307f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e64f5ca19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e64f5ca19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e52928307f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e52928307f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Notice: Ports, checksum, data</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2ec031cf78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2ec031cf78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db0b7df50a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db0b7df50a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5" name="Google Shape;25;p5"/>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37" name="Shape 37"/>
        <p:cNvGrpSpPr/>
        <p:nvPr/>
      </p:nvGrpSpPr>
      <p:grpSpPr>
        <a:xfrm>
          <a:off x="0" y="0"/>
          <a:ext cx="0" cy="0"/>
          <a:chOff x="0" y="0"/>
          <a:chExt cx="0" cy="0"/>
        </a:xfrm>
      </p:grpSpPr>
      <p:sp>
        <p:nvSpPr>
          <p:cNvPr id="38" name="Google Shape;38;p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40" name="Shape 40"/>
        <p:cNvGrpSpPr/>
        <p:nvPr/>
      </p:nvGrpSpPr>
      <p:grpSpPr>
        <a:xfrm>
          <a:off x="0" y="0"/>
          <a:ext cx="0" cy="0"/>
          <a:chOff x="0" y="0"/>
          <a:chExt cx="0" cy="0"/>
        </a:xfrm>
      </p:grpSpPr>
      <p:sp>
        <p:nvSpPr>
          <p:cNvPr id="41" name="Google Shape;41;p1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1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4" name="Shape 44"/>
        <p:cNvGrpSpPr/>
        <p:nvPr/>
      </p:nvGrpSpPr>
      <p:grpSpPr>
        <a:xfrm>
          <a:off x="0" y="0"/>
          <a:ext cx="0" cy="0"/>
          <a:chOff x="0" y="0"/>
          <a:chExt cx="0" cy="0"/>
        </a:xfrm>
      </p:grpSpPr>
      <p:sp>
        <p:nvSpPr>
          <p:cNvPr id="45" name="Google Shape;45;p1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11"/>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8" name="Google Shape;48;p11"/>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49" name="Shape 49"/>
        <p:cNvGrpSpPr/>
        <p:nvPr/>
      </p:nvGrpSpPr>
      <p:grpSpPr>
        <a:xfrm>
          <a:off x="0" y="0"/>
          <a:ext cx="0" cy="0"/>
          <a:chOff x="0" y="0"/>
          <a:chExt cx="0" cy="0"/>
        </a:xfrm>
      </p:grpSpPr>
      <p:sp>
        <p:nvSpPr>
          <p:cNvPr id="50" name="Google Shape;50;p1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2" name="Shape 52"/>
        <p:cNvGrpSpPr/>
        <p:nvPr/>
      </p:nvGrpSpPr>
      <p:grpSpPr>
        <a:xfrm>
          <a:off x="0" y="0"/>
          <a:ext cx="0" cy="0"/>
          <a:chOff x="0" y="0"/>
          <a:chExt cx="0" cy="0"/>
        </a:xfrm>
      </p:grpSpPr>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 name="Google Shape;55;p1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1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r>
              <a:t/>
            </a:r>
            <a:endParaRPr/>
          </a:p>
        </p:txBody>
      </p:sp>
      <p:sp>
        <p:nvSpPr>
          <p:cNvPr id="9" name="Google Shape;9;p1"/>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lt1"/>
                </a:solidFill>
              </a:rPr>
              <a:t>CSE 405 - Computer Security - ART</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400"/>
              <a:t>BGP and Transport Layer (TCP and UDP)</a:t>
            </a:r>
            <a:endParaRPr sz="3400"/>
          </a:p>
        </p:txBody>
      </p:sp>
      <p:sp>
        <p:nvSpPr>
          <p:cNvPr id="65" name="Google Shape;65;p15"/>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Clr>
                <a:schemeClr val="dk1"/>
              </a:buClr>
              <a:buSzPct val="45833"/>
              <a:buFont typeface="Arial"/>
              <a:buNone/>
            </a:pPr>
            <a:r>
              <a:rPr lang="en"/>
              <a:t>CSE 405 January 2025 - Lecture 6</a:t>
            </a:r>
            <a:endParaRPr/>
          </a:p>
          <a:p>
            <a:pPr indent="0" lvl="0" marL="0" rtl="0" algn="ctr">
              <a:spcBef>
                <a:spcPts val="0"/>
              </a:spcBef>
              <a:spcAft>
                <a:spcPts val="0"/>
              </a:spcAft>
              <a:buClr>
                <a:schemeClr val="dk1"/>
              </a:buClr>
              <a:buSzPct val="45833"/>
              <a:buFont typeface="Arial"/>
              <a:buNone/>
            </a:pPr>
            <a:r>
              <a:t/>
            </a:r>
            <a:endParaRPr/>
          </a:p>
          <a:p>
            <a:pPr indent="0" lvl="0" marL="0" rtl="0" algn="ctr">
              <a:spcBef>
                <a:spcPts val="0"/>
              </a:spcBef>
              <a:spcAft>
                <a:spcPts val="0"/>
              </a:spcAft>
              <a:buClr>
                <a:schemeClr val="dk1"/>
              </a:buClr>
              <a:buSzPct val="45833"/>
              <a:buFont typeface="Arial"/>
              <a:buNone/>
            </a:pPr>
            <a:r>
              <a:rPr lang="en"/>
              <a:t>Special Thanks to Peyrin Kao (UC Berkeley)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Low-Level Network Attacks</a:t>
            </a:r>
            <a:endParaRPr/>
          </a:p>
        </p:txBody>
      </p:sp>
      <p:sp>
        <p:nvSpPr>
          <p:cNvPr id="71" name="Google Shape;71;p1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Classes of attackers:</a:t>
            </a:r>
            <a:endParaRPr/>
          </a:p>
          <a:p>
            <a:pPr indent="-317500" lvl="1" marL="914400" rtl="0" algn="l">
              <a:spcBef>
                <a:spcPts val="0"/>
              </a:spcBef>
              <a:spcAft>
                <a:spcPts val="0"/>
              </a:spcAft>
              <a:buSzPts val="1400"/>
              <a:buChar char="○"/>
            </a:pPr>
            <a:r>
              <a:rPr lang="en"/>
              <a:t>Off-path: Can’t see, modify, or drop packets</a:t>
            </a:r>
            <a:endParaRPr/>
          </a:p>
          <a:p>
            <a:pPr indent="-317500" lvl="1" marL="914400" rtl="0" algn="l">
              <a:spcBef>
                <a:spcPts val="0"/>
              </a:spcBef>
              <a:spcAft>
                <a:spcPts val="0"/>
              </a:spcAft>
              <a:buSzPts val="1400"/>
              <a:buChar char="○"/>
            </a:pPr>
            <a:r>
              <a:rPr lang="en"/>
              <a:t>On-path: Can see packets, but can’t modify or drop packets</a:t>
            </a:r>
            <a:endParaRPr/>
          </a:p>
          <a:p>
            <a:pPr indent="-317500" lvl="1" marL="914400" rtl="0" algn="l">
              <a:spcBef>
                <a:spcPts val="0"/>
              </a:spcBef>
              <a:spcAft>
                <a:spcPts val="0"/>
              </a:spcAft>
              <a:buSzPts val="1400"/>
              <a:buChar char="○"/>
            </a:pPr>
            <a:r>
              <a:rPr lang="en"/>
              <a:t>MITM: Can see, modify, and drop packets</a:t>
            </a:r>
            <a:endParaRPr/>
          </a:p>
          <a:p>
            <a:pPr indent="-342900" lvl="0" marL="457200" rtl="0" algn="l">
              <a:spcBef>
                <a:spcPts val="0"/>
              </a:spcBef>
              <a:spcAft>
                <a:spcPts val="0"/>
              </a:spcAft>
              <a:buSzPts val="1800"/>
              <a:buChar char="●"/>
            </a:pPr>
            <a:r>
              <a:rPr lang="en"/>
              <a:t>ARP: A protocol to translate local IP addresses to MAC addresses</a:t>
            </a:r>
            <a:endParaRPr/>
          </a:p>
          <a:p>
            <a:pPr indent="-317500" lvl="1" marL="914400" rtl="0" algn="l">
              <a:spcBef>
                <a:spcPts val="0"/>
              </a:spcBef>
              <a:spcAft>
                <a:spcPts val="0"/>
              </a:spcAft>
              <a:buSzPts val="1400"/>
              <a:buChar char="○"/>
            </a:pPr>
            <a:r>
              <a:rPr lang="en"/>
              <a:t>Ask everyone on the network, “Who has the IP 1.2.3.4?”</a:t>
            </a:r>
            <a:endParaRPr/>
          </a:p>
          <a:p>
            <a:pPr indent="-317500" lvl="1" marL="914400" rtl="0" algn="l">
              <a:spcBef>
                <a:spcPts val="0"/>
              </a:spcBef>
              <a:spcAft>
                <a:spcPts val="0"/>
              </a:spcAft>
              <a:buSzPts val="1400"/>
              <a:buChar char="○"/>
            </a:pPr>
            <a:r>
              <a:rPr lang="en"/>
              <a:t>Attack: The attacker can respond instead of the true device with 1.2.3.4, and packets will get routed to the attacker!</a:t>
            </a:r>
            <a:endParaRPr/>
          </a:p>
          <a:p>
            <a:pPr indent="-317500" lvl="1" marL="914400" rtl="0" algn="l">
              <a:spcBef>
                <a:spcPts val="0"/>
              </a:spcBef>
              <a:spcAft>
                <a:spcPts val="0"/>
              </a:spcAft>
              <a:buSzPts val="1400"/>
              <a:buChar char="○"/>
            </a:pPr>
            <a:r>
              <a:rPr lang="en"/>
              <a:t>Defense: Switches</a:t>
            </a:r>
            <a:endParaRPr/>
          </a:p>
          <a:p>
            <a:pPr indent="-317500" lvl="1" marL="914400" rtl="0" algn="l">
              <a:spcBef>
                <a:spcPts val="0"/>
              </a:spcBef>
              <a:spcAft>
                <a:spcPts val="0"/>
              </a:spcAft>
              <a:buSzPts val="1400"/>
              <a:buChar char="○"/>
            </a:pPr>
            <a:r>
              <a:rPr lang="en"/>
              <a:t>Defense: Rely on higher layers</a:t>
            </a:r>
            <a:endParaRPr/>
          </a:p>
          <a:p>
            <a:pPr indent="-342900" lvl="0" marL="457200" rtl="0" algn="l">
              <a:spcBef>
                <a:spcPts val="0"/>
              </a:spcBef>
              <a:spcAft>
                <a:spcPts val="0"/>
              </a:spcAft>
              <a:buSzPts val="1800"/>
              <a:buChar char="●"/>
            </a:pPr>
            <a:r>
              <a:rPr lang="en"/>
              <a:t>DHCP: A protocol for a new client to receive a network configuration</a:t>
            </a:r>
            <a:endParaRPr/>
          </a:p>
          <a:p>
            <a:pPr indent="-317500" lvl="1" marL="914400" rtl="0" algn="l">
              <a:spcBef>
                <a:spcPts val="0"/>
              </a:spcBef>
              <a:spcAft>
                <a:spcPts val="0"/>
              </a:spcAft>
              <a:buSzPts val="1400"/>
              <a:buChar char="○"/>
            </a:pPr>
            <a:r>
              <a:rPr lang="en"/>
              <a:t>Ask everyone on the network, “What is the network configuration to use?”</a:t>
            </a:r>
            <a:endParaRPr/>
          </a:p>
          <a:p>
            <a:pPr indent="-317500" lvl="1" marL="914400" rtl="0" algn="l">
              <a:spcBef>
                <a:spcPts val="0"/>
              </a:spcBef>
              <a:spcAft>
                <a:spcPts val="0"/>
              </a:spcAft>
              <a:buSzPts val="1400"/>
              <a:buChar char="○"/>
            </a:pPr>
            <a:r>
              <a:rPr lang="en"/>
              <a:t>Attack: The attacker can respond with a malicious configuration</a:t>
            </a:r>
            <a:endParaRPr/>
          </a:p>
          <a:p>
            <a:pPr indent="-317500" lvl="1" marL="914400" rtl="0" algn="l">
              <a:spcBef>
                <a:spcPts val="0"/>
              </a:spcBef>
              <a:spcAft>
                <a:spcPts val="0"/>
              </a:spcAft>
              <a:buSzPts val="1400"/>
              <a:buChar char="○"/>
            </a:pPr>
            <a:r>
              <a:rPr lang="en"/>
              <a:t>Defense: Rely on higher layers</a:t>
            </a:r>
            <a:endParaRPr/>
          </a:p>
        </p:txBody>
      </p:sp>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 Layers 3 and 4</a:t>
            </a:r>
            <a:endParaRPr/>
          </a:p>
        </p:txBody>
      </p:sp>
      <p:sp>
        <p:nvSpPr>
          <p:cNvPr id="78" name="Google Shape;78;p1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Border Gateway Protocol (BGP): Routing -- determining what path packets should take</a:t>
            </a:r>
            <a:endParaRPr/>
          </a:p>
          <a:p>
            <a:pPr indent="-342900" lvl="0" marL="457200" rtl="0" algn="l">
              <a:spcBef>
                <a:spcPts val="0"/>
              </a:spcBef>
              <a:spcAft>
                <a:spcPts val="0"/>
              </a:spcAft>
              <a:buSzPts val="1800"/>
              <a:buChar char="●"/>
            </a:pPr>
            <a:r>
              <a:rPr lang="en"/>
              <a:t>Transmission Control Protocol (TCP): Reliably sending packets</a:t>
            </a:r>
            <a:endParaRPr/>
          </a:p>
          <a:p>
            <a:pPr indent="-342900" lvl="0" marL="457200" rtl="0" algn="l">
              <a:spcBef>
                <a:spcPts val="0"/>
              </a:spcBef>
              <a:spcAft>
                <a:spcPts val="0"/>
              </a:spcAft>
              <a:buSzPts val="1800"/>
              <a:buChar char="●"/>
            </a:pPr>
            <a:r>
              <a:rPr lang="en"/>
              <a:t>User Datagram Protocol (UDP): Non-reliably sending packets</a:t>
            </a:r>
            <a:endParaRPr/>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Border Gateway Protocol (BGP)</a:t>
            </a:r>
            <a:endParaRPr/>
          </a:p>
        </p:txBody>
      </p:sp>
      <p:sp>
        <p:nvSpPr>
          <p:cNvPr id="85" name="Google Shape;8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6" name="Google Shape;86;p18"/>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sz="1800">
                <a:solidFill>
                  <a:srgbClr val="000000"/>
                </a:solidFill>
              </a:rPr>
              <a:t>Textbook Chapter 29</a:t>
            </a:r>
            <a:endParaRPr sz="18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 Internet Protocol (IP)</a:t>
            </a:r>
            <a:endParaRPr/>
          </a:p>
        </p:txBody>
      </p:sp>
      <p:sp>
        <p:nvSpPr>
          <p:cNvPr id="92" name="Google Shape;92;p1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Internet Protocol</a:t>
            </a:r>
            <a:r>
              <a:rPr lang="en"/>
              <a:t> (</a:t>
            </a:r>
            <a:r>
              <a:rPr b="1" lang="en"/>
              <a:t>IP</a:t>
            </a:r>
            <a:r>
              <a:rPr lang="en"/>
              <a:t>): The universal layer-3 protocol that all devices use to transmit data over the Internet</a:t>
            </a:r>
            <a:endParaRPr/>
          </a:p>
          <a:p>
            <a:pPr indent="-342900" lvl="0" marL="457200" rtl="0" algn="l">
              <a:spcBef>
                <a:spcPts val="0"/>
              </a:spcBef>
              <a:spcAft>
                <a:spcPts val="0"/>
              </a:spcAft>
              <a:buSzPts val="1800"/>
              <a:buChar char="●"/>
            </a:pPr>
            <a:r>
              <a:rPr b="1" lang="en"/>
              <a:t>IP address</a:t>
            </a:r>
            <a:r>
              <a:rPr lang="en"/>
              <a:t>: An address that identifies a device on the Internet</a:t>
            </a:r>
            <a:endParaRPr/>
          </a:p>
          <a:p>
            <a:pPr indent="-317500" lvl="1" marL="914400" rtl="0" algn="l">
              <a:spcBef>
                <a:spcPts val="0"/>
              </a:spcBef>
              <a:spcAft>
                <a:spcPts val="0"/>
              </a:spcAft>
              <a:buSzPts val="1400"/>
              <a:buChar char="○"/>
            </a:pPr>
            <a:r>
              <a:rPr lang="en"/>
              <a:t>IPv4 is 32 bits (e.g. </a:t>
            </a:r>
            <a:r>
              <a:rPr b="1" lang="en">
                <a:latin typeface="Courier New"/>
                <a:ea typeface="Courier New"/>
                <a:cs typeface="Courier New"/>
                <a:sym typeface="Courier New"/>
              </a:rPr>
              <a:t>35.163.72.93</a:t>
            </a:r>
            <a:r>
              <a:rPr lang="en"/>
              <a:t>)</a:t>
            </a:r>
            <a:endParaRPr/>
          </a:p>
          <a:p>
            <a:pPr indent="-317500" lvl="1" marL="914400" rtl="0" algn="l">
              <a:spcBef>
                <a:spcPts val="0"/>
              </a:spcBef>
              <a:spcAft>
                <a:spcPts val="0"/>
              </a:spcAft>
              <a:buSzPts val="1400"/>
              <a:buChar char="○"/>
            </a:pPr>
            <a:r>
              <a:rPr lang="en"/>
              <a:t>IPv6 is 128 bits (e.g. </a:t>
            </a:r>
            <a:r>
              <a:rPr b="1" lang="en">
                <a:latin typeface="Courier New"/>
                <a:ea typeface="Courier New"/>
                <a:cs typeface="Courier New"/>
                <a:sym typeface="Courier New"/>
              </a:rPr>
              <a:t>2607:f140:8801:0000:0000:0000:0001:0023</a:t>
            </a:r>
            <a:r>
              <a:rPr lang="en"/>
              <a:t>)</a:t>
            </a:r>
            <a:endParaRPr/>
          </a:p>
          <a:p>
            <a:pPr indent="-317500" lvl="2" marL="1371600" rtl="0" algn="l">
              <a:spcBef>
                <a:spcPts val="0"/>
              </a:spcBef>
              <a:spcAft>
                <a:spcPts val="0"/>
              </a:spcAft>
              <a:buSzPts val="1400"/>
              <a:buChar char="■"/>
            </a:pPr>
            <a:r>
              <a:rPr lang="en"/>
              <a:t>Shorthand: omit sets of zeros: </a:t>
            </a:r>
            <a:r>
              <a:rPr b="1" lang="en">
                <a:latin typeface="Courier New"/>
                <a:ea typeface="Courier New"/>
                <a:cs typeface="Courier New"/>
                <a:sym typeface="Courier New"/>
              </a:rPr>
              <a:t>2607:f140:8801::1:23</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Globally unique from any single perspective</a:t>
            </a:r>
            <a:endParaRPr/>
          </a:p>
          <a:p>
            <a:pPr indent="-317500" lvl="2" marL="1371600" rtl="0" algn="l">
              <a:spcBef>
                <a:spcPts val="0"/>
              </a:spcBef>
              <a:spcAft>
                <a:spcPts val="0"/>
              </a:spcAft>
              <a:buSzPts val="1400"/>
              <a:buChar char="■"/>
            </a:pPr>
            <a:r>
              <a:rPr lang="en"/>
              <a:t>For now, you can think of them as just being globally unique</a:t>
            </a:r>
            <a:endParaRPr/>
          </a:p>
          <a:p>
            <a:pPr indent="-317500" lvl="1" marL="914400" rtl="0" algn="l">
              <a:spcBef>
                <a:spcPts val="0"/>
              </a:spcBef>
              <a:spcAft>
                <a:spcPts val="0"/>
              </a:spcAft>
              <a:buSzPts val="1400"/>
              <a:buChar char="○"/>
            </a:pPr>
            <a:r>
              <a:rPr lang="en"/>
              <a:t>IP addresses help nodes make decisions on where to forward the packet</a:t>
            </a:r>
            <a:endParaRPr/>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Subnets</a:t>
            </a:r>
            <a:endParaRPr/>
          </a:p>
        </p:txBody>
      </p:sp>
      <p:sp>
        <p:nvSpPr>
          <p:cNvPr id="99" name="Google Shape;99;p2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Recall: An IP packet might make many hops across different routers before it can reach its destination</a:t>
            </a:r>
            <a:endParaRPr/>
          </a:p>
          <a:p>
            <a:pPr indent="-342900" lvl="0" marL="457200" rtl="0" algn="l">
              <a:spcBef>
                <a:spcPts val="0"/>
              </a:spcBef>
              <a:spcAft>
                <a:spcPts val="0"/>
              </a:spcAft>
              <a:buSzPts val="1800"/>
              <a:buChar char="●"/>
            </a:pPr>
            <a:r>
              <a:rPr lang="en"/>
              <a:t>IP routes by </a:t>
            </a:r>
            <a:r>
              <a:rPr b="1" lang="en"/>
              <a:t>subnets</a:t>
            </a:r>
            <a:r>
              <a:rPr lang="en"/>
              <a:t>, which are groups of addresses with a common prefix</a:t>
            </a:r>
            <a:endParaRPr/>
          </a:p>
          <a:p>
            <a:pPr indent="-317500" lvl="1" marL="914400" rtl="0" algn="l">
              <a:spcBef>
                <a:spcPts val="0"/>
              </a:spcBef>
              <a:spcAft>
                <a:spcPts val="0"/>
              </a:spcAft>
              <a:buSzPts val="1400"/>
              <a:buChar char="○"/>
            </a:pPr>
            <a:r>
              <a:rPr lang="en"/>
              <a:t>A subnet is written as a prefix followed by the length of the prefix (in bits)</a:t>
            </a:r>
            <a:endParaRPr/>
          </a:p>
          <a:p>
            <a:pPr indent="-317500" lvl="2" marL="1371600" rtl="0" algn="l">
              <a:spcBef>
                <a:spcPts val="0"/>
              </a:spcBef>
              <a:spcAft>
                <a:spcPts val="0"/>
              </a:spcAft>
              <a:buSzPts val="1400"/>
              <a:buChar char="■"/>
            </a:pPr>
            <a:r>
              <a:rPr lang="en"/>
              <a:t>Example: </a:t>
            </a:r>
            <a:r>
              <a:rPr b="1" lang="en"/>
              <a:t>128.32.0.0/16</a:t>
            </a:r>
            <a:r>
              <a:rPr lang="en"/>
              <a:t> is an IPv4 subnet with all addresses that begin with the prefix of </a:t>
            </a:r>
            <a:r>
              <a:rPr b="1" lang="en"/>
              <a:t>128.32.*</a:t>
            </a:r>
            <a:endParaRPr b="1"/>
          </a:p>
          <a:p>
            <a:pPr indent="-317500" lvl="2" marL="1371600" rtl="0" algn="l">
              <a:spcBef>
                <a:spcPts val="0"/>
              </a:spcBef>
              <a:spcAft>
                <a:spcPts val="0"/>
              </a:spcAft>
              <a:buSzPts val="1400"/>
              <a:buChar char="■"/>
            </a:pPr>
            <a:r>
              <a:rPr lang="en"/>
              <a:t>Since an IPv4 is a 32-bit address and there are 16 bits in the prefix, this subnet represents 2</a:t>
            </a:r>
            <a:r>
              <a:rPr baseline="30000" lang="en"/>
              <a:t>32 - 16</a:t>
            </a:r>
            <a:r>
              <a:rPr lang="en"/>
              <a:t> = 2</a:t>
            </a:r>
            <a:r>
              <a:rPr baseline="30000" lang="en"/>
              <a:t>16</a:t>
            </a:r>
            <a:r>
              <a:rPr lang="en"/>
              <a:t> addresses</a:t>
            </a:r>
            <a:endParaRPr/>
          </a:p>
        </p:txBody>
      </p:sp>
      <p:sp>
        <p:nvSpPr>
          <p:cNvPr id="100" name="Google Shape;10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Routing Packets</a:t>
            </a:r>
            <a:endParaRPr/>
          </a:p>
        </p:txBody>
      </p:sp>
      <p:sp>
        <p:nvSpPr>
          <p:cNvPr id="106" name="Google Shape;106;p2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send a packet to a computer within the local network:</a:t>
            </a:r>
            <a:endParaRPr/>
          </a:p>
          <a:p>
            <a:pPr indent="-317500" lvl="1" marL="914400" rtl="0" algn="l">
              <a:spcBef>
                <a:spcPts val="0"/>
              </a:spcBef>
              <a:spcAft>
                <a:spcPts val="0"/>
              </a:spcAft>
              <a:buSzPts val="1400"/>
              <a:buChar char="○"/>
            </a:pPr>
            <a:r>
              <a:rPr lang="en"/>
              <a:t>Verify that the destination IP is in the same subnet</a:t>
            </a:r>
            <a:endParaRPr/>
          </a:p>
          <a:p>
            <a:pPr indent="-317500" lvl="1" marL="914400" rtl="0" algn="l">
              <a:spcBef>
                <a:spcPts val="0"/>
              </a:spcBef>
              <a:spcAft>
                <a:spcPts val="0"/>
              </a:spcAft>
              <a:buSzPts val="1400"/>
              <a:buChar char="○"/>
            </a:pPr>
            <a:r>
              <a:rPr lang="en"/>
              <a:t>Use ARP (or contact a switch) to get the destination MAC address</a:t>
            </a:r>
            <a:endParaRPr/>
          </a:p>
          <a:p>
            <a:pPr indent="-317500" lvl="1" marL="914400" rtl="0" algn="l">
              <a:spcBef>
                <a:spcPts val="0"/>
              </a:spcBef>
              <a:spcAft>
                <a:spcPts val="0"/>
              </a:spcAft>
              <a:buSzPts val="1400"/>
              <a:buChar char="○"/>
            </a:pPr>
            <a:r>
              <a:rPr lang="en"/>
              <a:t>Send the packet directly to the destination using the destination MAC address</a:t>
            </a:r>
            <a:endParaRPr/>
          </a:p>
          <a:p>
            <a:pPr indent="-342900" lvl="0" marL="457200" rtl="0" algn="l">
              <a:spcBef>
                <a:spcPts val="0"/>
              </a:spcBef>
              <a:spcAft>
                <a:spcPts val="0"/>
              </a:spcAft>
              <a:buSzPts val="1800"/>
              <a:buChar char="●"/>
            </a:pPr>
            <a:r>
              <a:rPr lang="en"/>
              <a:t>To send a packet to a computer that is not within the local network:</a:t>
            </a:r>
            <a:endParaRPr/>
          </a:p>
          <a:p>
            <a:pPr indent="-317500" lvl="1" marL="914400" rtl="0" algn="l">
              <a:spcBef>
                <a:spcPts val="0"/>
              </a:spcBef>
              <a:spcAft>
                <a:spcPts val="0"/>
              </a:spcAft>
              <a:buSzPts val="1400"/>
              <a:buChar char="○"/>
            </a:pPr>
            <a:r>
              <a:rPr lang="en"/>
              <a:t>Send the packet to the gateway router</a:t>
            </a:r>
            <a:endParaRPr/>
          </a:p>
          <a:p>
            <a:pPr indent="-317500" lvl="1" marL="914400" rtl="0" algn="l">
              <a:spcBef>
                <a:spcPts val="0"/>
              </a:spcBef>
              <a:spcAft>
                <a:spcPts val="0"/>
              </a:spcAft>
              <a:buSzPts val="1400"/>
              <a:buChar char="○"/>
            </a:pPr>
            <a:r>
              <a:rPr lang="en"/>
              <a:t>Past the gateway router, the packet goes to the Internet</a:t>
            </a:r>
            <a:endParaRPr/>
          </a:p>
          <a:p>
            <a:pPr indent="-317500" lvl="1" marL="914400" rtl="0" algn="l">
              <a:spcBef>
                <a:spcPts val="0"/>
              </a:spcBef>
              <a:spcAft>
                <a:spcPts val="0"/>
              </a:spcAft>
              <a:buSzPts val="1400"/>
              <a:buChar char="○"/>
            </a:pPr>
            <a:r>
              <a:rPr lang="en"/>
              <a:t>It’s the gateway router’s job to deliver the packet closer to the destination</a:t>
            </a:r>
            <a:endParaRPr/>
          </a:p>
        </p:txBody>
      </p:sp>
      <p:sp>
        <p:nvSpPr>
          <p:cNvPr id="107" name="Google Shape;10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Autonomous Systems</a:t>
            </a:r>
            <a:endParaRPr/>
          </a:p>
        </p:txBody>
      </p:sp>
      <p:sp>
        <p:nvSpPr>
          <p:cNvPr id="113" name="Google Shape;113;p2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Once your system sends the packet to the gateway, the packet has to be routed through the Internet</a:t>
            </a:r>
            <a:endParaRPr/>
          </a:p>
          <a:p>
            <a:pPr indent="-342900" lvl="0" marL="457200" rtl="0" algn="l">
              <a:spcBef>
                <a:spcPts val="0"/>
              </a:spcBef>
              <a:spcAft>
                <a:spcPts val="0"/>
              </a:spcAft>
              <a:buSzPts val="1800"/>
              <a:buChar char="●"/>
            </a:pPr>
            <a:r>
              <a:rPr lang="en"/>
              <a:t>The Internet is a network of networks, comprised of many </a:t>
            </a:r>
            <a:r>
              <a:rPr b="1" lang="en"/>
              <a:t>autonomous systems</a:t>
            </a:r>
            <a:r>
              <a:rPr lang="en"/>
              <a:t> (</a:t>
            </a:r>
            <a:r>
              <a:rPr b="1" lang="en"/>
              <a:t>AS</a:t>
            </a:r>
            <a:r>
              <a:rPr lang="en"/>
              <a:t>)</a:t>
            </a:r>
            <a:endParaRPr sz="1400"/>
          </a:p>
          <a:p>
            <a:pPr indent="-317500" lvl="1" marL="914400" rtl="0" algn="l">
              <a:spcBef>
                <a:spcPts val="0"/>
              </a:spcBef>
              <a:spcAft>
                <a:spcPts val="0"/>
              </a:spcAft>
              <a:buSzPts val="1400"/>
              <a:buChar char="○"/>
            </a:pPr>
            <a:r>
              <a:rPr lang="en"/>
              <a:t>Each AS handles its own internal routing</a:t>
            </a:r>
            <a:endParaRPr/>
          </a:p>
          <a:p>
            <a:pPr indent="-317500" lvl="1" marL="914400" rtl="0" algn="l">
              <a:spcBef>
                <a:spcPts val="0"/>
              </a:spcBef>
              <a:spcAft>
                <a:spcPts val="0"/>
              </a:spcAft>
              <a:buSzPts val="1400"/>
              <a:buChar char="○"/>
            </a:pPr>
            <a:r>
              <a:rPr lang="en"/>
              <a:t>Each AS is uniquely identified by its </a:t>
            </a:r>
            <a:r>
              <a:rPr b="1" lang="en"/>
              <a:t>autonomous system number</a:t>
            </a:r>
            <a:r>
              <a:rPr lang="en"/>
              <a:t> (</a:t>
            </a:r>
            <a:r>
              <a:rPr b="1" lang="en"/>
              <a:t>ASN</a:t>
            </a:r>
            <a:r>
              <a:rPr lang="en"/>
              <a:t>)</a:t>
            </a:r>
            <a:endParaRPr/>
          </a:p>
          <a:p>
            <a:pPr indent="-317500" lvl="1" marL="914400" rtl="0" algn="l">
              <a:spcBef>
                <a:spcPts val="0"/>
              </a:spcBef>
              <a:spcAft>
                <a:spcPts val="0"/>
              </a:spcAft>
              <a:buSzPts val="1400"/>
              <a:buChar char="○"/>
            </a:pPr>
            <a:r>
              <a:rPr lang="en"/>
              <a:t>Each AS is comprised of one or more LANs</a:t>
            </a:r>
            <a:endParaRPr/>
          </a:p>
          <a:p>
            <a:pPr indent="-317500" lvl="1" marL="914400" rtl="0" algn="l">
              <a:spcBef>
                <a:spcPts val="0"/>
              </a:spcBef>
              <a:spcAft>
                <a:spcPts val="0"/>
              </a:spcAft>
              <a:buSzPts val="1400"/>
              <a:buChar char="○"/>
            </a:pPr>
            <a:r>
              <a:rPr lang="en"/>
              <a:t>Each AS can forward packets to other connected ASes</a:t>
            </a:r>
            <a:endParaRPr/>
          </a:p>
          <a:p>
            <a:pPr indent="-342900" lvl="0" marL="457200" rtl="0" algn="l">
              <a:spcBef>
                <a:spcPts val="0"/>
              </a:spcBef>
              <a:spcAft>
                <a:spcPts val="0"/>
              </a:spcAft>
              <a:buSzPts val="1800"/>
              <a:buChar char="●"/>
            </a:pPr>
            <a:r>
              <a:rPr lang="en"/>
              <a:t>The protocol for communicating between different Autonomous Systems is </a:t>
            </a:r>
            <a:r>
              <a:rPr b="1" lang="en"/>
              <a:t>Border Gateway Protocol</a:t>
            </a:r>
            <a:r>
              <a:rPr lang="en"/>
              <a:t> (</a:t>
            </a:r>
            <a:r>
              <a:rPr b="1" lang="en"/>
              <a:t>BGP</a:t>
            </a:r>
            <a:r>
              <a:rPr lang="en"/>
              <a:t>)</a:t>
            </a:r>
            <a:endParaRPr/>
          </a:p>
          <a:p>
            <a:pPr indent="-317500" lvl="1" marL="914400" rtl="0" algn="l">
              <a:spcBef>
                <a:spcPts val="0"/>
              </a:spcBef>
              <a:spcAft>
                <a:spcPts val="0"/>
              </a:spcAft>
              <a:buSzPts val="1400"/>
              <a:buChar char="○"/>
            </a:pPr>
            <a:r>
              <a:rPr lang="en"/>
              <a:t>Each router announces what networks it can deliver to and the path onward from the router</a:t>
            </a:r>
            <a:endParaRPr/>
          </a:p>
          <a:p>
            <a:pPr indent="-317500" lvl="1" marL="914400" rtl="0" algn="l">
              <a:spcBef>
                <a:spcPts val="0"/>
              </a:spcBef>
              <a:spcAft>
                <a:spcPts val="0"/>
              </a:spcAft>
              <a:buSzPts val="1400"/>
              <a:buChar char="○"/>
            </a:pPr>
            <a:r>
              <a:rPr lang="en"/>
              <a:t>The most precise route with the shortest path and no loops is the preferred route</a:t>
            </a:r>
            <a:endParaRPr/>
          </a:p>
        </p:txBody>
      </p:sp>
      <p:sp>
        <p:nvSpPr>
          <p:cNvPr id="114" name="Google Shape;114;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BGP</a:t>
            </a:r>
            <a:endParaRPr/>
          </a:p>
        </p:txBody>
      </p:sp>
      <p:sp>
        <p:nvSpPr>
          <p:cNvPr id="120" name="Google Shape;12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3"/>
          <p:cNvSpPr/>
          <p:nvPr/>
        </p:nvSpPr>
        <p:spPr>
          <a:xfrm>
            <a:off x="102700" y="3960775"/>
            <a:ext cx="797700" cy="393600"/>
          </a:xfrm>
          <a:prstGeom prst="rect">
            <a:avLst/>
          </a:prstGeom>
          <a:solidFill>
            <a:srgbClr val="F6B2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Sender</a:t>
            </a:r>
            <a:endParaRPr/>
          </a:p>
        </p:txBody>
      </p:sp>
      <p:sp>
        <p:nvSpPr>
          <p:cNvPr id="122" name="Google Shape;122;p23"/>
          <p:cNvSpPr/>
          <p:nvPr/>
        </p:nvSpPr>
        <p:spPr>
          <a:xfrm>
            <a:off x="7770250" y="1504275"/>
            <a:ext cx="935100" cy="393600"/>
          </a:xfrm>
          <a:prstGeom prst="rect">
            <a:avLst/>
          </a:prstGeom>
          <a:solidFill>
            <a:srgbClr val="F6B2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Recipient</a:t>
            </a:r>
            <a:endParaRPr/>
          </a:p>
        </p:txBody>
      </p:sp>
      <p:sp>
        <p:nvSpPr>
          <p:cNvPr id="123" name="Google Shape;123;p23"/>
          <p:cNvSpPr/>
          <p:nvPr/>
        </p:nvSpPr>
        <p:spPr>
          <a:xfrm>
            <a:off x="632625" y="1732875"/>
            <a:ext cx="935100" cy="852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AS 1</a:t>
            </a:r>
            <a:endParaRPr/>
          </a:p>
        </p:txBody>
      </p:sp>
      <p:sp>
        <p:nvSpPr>
          <p:cNvPr id="124" name="Google Shape;124;p23"/>
          <p:cNvSpPr/>
          <p:nvPr/>
        </p:nvSpPr>
        <p:spPr>
          <a:xfrm>
            <a:off x="3240438" y="1829100"/>
            <a:ext cx="935100" cy="852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AS 3</a:t>
            </a:r>
            <a:endParaRPr/>
          </a:p>
        </p:txBody>
      </p:sp>
      <p:sp>
        <p:nvSpPr>
          <p:cNvPr id="125" name="Google Shape;125;p23"/>
          <p:cNvSpPr/>
          <p:nvPr/>
        </p:nvSpPr>
        <p:spPr>
          <a:xfrm>
            <a:off x="2034875" y="3108175"/>
            <a:ext cx="935100" cy="852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AS 2</a:t>
            </a:r>
            <a:endParaRPr/>
          </a:p>
        </p:txBody>
      </p:sp>
      <p:sp>
        <p:nvSpPr>
          <p:cNvPr id="126" name="Google Shape;126;p23"/>
          <p:cNvSpPr/>
          <p:nvPr/>
        </p:nvSpPr>
        <p:spPr>
          <a:xfrm>
            <a:off x="5133125" y="1504275"/>
            <a:ext cx="935100" cy="852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AS 5</a:t>
            </a:r>
            <a:endParaRPr/>
          </a:p>
        </p:txBody>
      </p:sp>
      <p:sp>
        <p:nvSpPr>
          <p:cNvPr id="127" name="Google Shape;127;p23"/>
          <p:cNvSpPr/>
          <p:nvPr/>
        </p:nvSpPr>
        <p:spPr>
          <a:xfrm>
            <a:off x="4104450" y="3960775"/>
            <a:ext cx="935100" cy="852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AS 4</a:t>
            </a:r>
            <a:endParaRPr/>
          </a:p>
        </p:txBody>
      </p:sp>
      <p:sp>
        <p:nvSpPr>
          <p:cNvPr id="128" name="Google Shape;128;p23"/>
          <p:cNvSpPr/>
          <p:nvPr/>
        </p:nvSpPr>
        <p:spPr>
          <a:xfrm>
            <a:off x="6835150" y="2438700"/>
            <a:ext cx="935100" cy="852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AS 6</a:t>
            </a:r>
            <a:endParaRPr/>
          </a:p>
        </p:txBody>
      </p:sp>
      <p:cxnSp>
        <p:nvCxnSpPr>
          <p:cNvPr id="129" name="Google Shape;129;p23"/>
          <p:cNvCxnSpPr>
            <a:stCxn id="121" idx="0"/>
            <a:endCxn id="123" idx="4"/>
          </p:cNvCxnSpPr>
          <p:nvPr/>
        </p:nvCxnSpPr>
        <p:spPr>
          <a:xfrm flipH="1" rot="10800000">
            <a:off x="501550" y="2585575"/>
            <a:ext cx="598500" cy="1375200"/>
          </a:xfrm>
          <a:prstGeom prst="straightConnector1">
            <a:avLst/>
          </a:prstGeom>
          <a:noFill/>
          <a:ln cap="flat" cmpd="sng" w="19050">
            <a:solidFill>
              <a:schemeClr val="dk1"/>
            </a:solidFill>
            <a:prstDash val="solid"/>
            <a:round/>
            <a:headEnd len="med" w="med" type="triangle"/>
            <a:tailEnd len="med" w="med" type="triangle"/>
          </a:ln>
        </p:spPr>
      </p:cxnSp>
      <p:cxnSp>
        <p:nvCxnSpPr>
          <p:cNvPr id="130" name="Google Shape;130;p23"/>
          <p:cNvCxnSpPr>
            <a:stCxn id="123" idx="6"/>
            <a:endCxn id="124" idx="2"/>
          </p:cNvCxnSpPr>
          <p:nvPr/>
        </p:nvCxnSpPr>
        <p:spPr>
          <a:xfrm>
            <a:off x="1567725" y="2159175"/>
            <a:ext cx="1672800" cy="96300"/>
          </a:xfrm>
          <a:prstGeom prst="straightConnector1">
            <a:avLst/>
          </a:prstGeom>
          <a:noFill/>
          <a:ln cap="flat" cmpd="sng" w="19050">
            <a:solidFill>
              <a:schemeClr val="dk1"/>
            </a:solidFill>
            <a:prstDash val="solid"/>
            <a:round/>
            <a:headEnd len="med" w="med" type="triangle"/>
            <a:tailEnd len="med" w="med" type="triangle"/>
          </a:ln>
        </p:spPr>
      </p:cxnSp>
      <p:cxnSp>
        <p:nvCxnSpPr>
          <p:cNvPr id="131" name="Google Shape;131;p23"/>
          <p:cNvCxnSpPr>
            <a:stCxn id="123" idx="5"/>
            <a:endCxn id="125" idx="1"/>
          </p:cNvCxnSpPr>
          <p:nvPr/>
        </p:nvCxnSpPr>
        <p:spPr>
          <a:xfrm>
            <a:off x="1430783" y="2460615"/>
            <a:ext cx="741000" cy="772500"/>
          </a:xfrm>
          <a:prstGeom prst="straightConnector1">
            <a:avLst/>
          </a:prstGeom>
          <a:noFill/>
          <a:ln cap="flat" cmpd="sng" w="19050">
            <a:solidFill>
              <a:schemeClr val="dk1"/>
            </a:solidFill>
            <a:prstDash val="solid"/>
            <a:round/>
            <a:headEnd len="med" w="med" type="triangle"/>
            <a:tailEnd len="med" w="med" type="triangle"/>
          </a:ln>
        </p:spPr>
      </p:cxnSp>
      <p:cxnSp>
        <p:nvCxnSpPr>
          <p:cNvPr id="132" name="Google Shape;132;p23"/>
          <p:cNvCxnSpPr>
            <a:stCxn id="127" idx="6"/>
            <a:endCxn id="128" idx="3"/>
          </p:cNvCxnSpPr>
          <p:nvPr/>
        </p:nvCxnSpPr>
        <p:spPr>
          <a:xfrm flipH="1" rot="10800000">
            <a:off x="5039550" y="3166375"/>
            <a:ext cx="1932600" cy="1220700"/>
          </a:xfrm>
          <a:prstGeom prst="straightConnector1">
            <a:avLst/>
          </a:prstGeom>
          <a:noFill/>
          <a:ln cap="flat" cmpd="sng" w="19050">
            <a:solidFill>
              <a:schemeClr val="dk1"/>
            </a:solidFill>
            <a:prstDash val="solid"/>
            <a:round/>
            <a:headEnd len="med" w="med" type="triangle"/>
            <a:tailEnd len="med" w="med" type="triangle"/>
          </a:ln>
        </p:spPr>
      </p:cxnSp>
      <p:cxnSp>
        <p:nvCxnSpPr>
          <p:cNvPr id="133" name="Google Shape;133;p23"/>
          <p:cNvCxnSpPr>
            <a:stCxn id="128" idx="7"/>
            <a:endCxn id="122" idx="2"/>
          </p:cNvCxnSpPr>
          <p:nvPr/>
        </p:nvCxnSpPr>
        <p:spPr>
          <a:xfrm flipH="1" rot="10800000">
            <a:off x="7633308" y="1897860"/>
            <a:ext cx="604500" cy="665700"/>
          </a:xfrm>
          <a:prstGeom prst="straightConnector1">
            <a:avLst/>
          </a:prstGeom>
          <a:noFill/>
          <a:ln cap="flat" cmpd="sng" w="19050">
            <a:solidFill>
              <a:schemeClr val="dk1"/>
            </a:solidFill>
            <a:prstDash val="solid"/>
            <a:round/>
            <a:headEnd len="med" w="med" type="triangle"/>
            <a:tailEnd len="med" w="med" type="triangle"/>
          </a:ln>
        </p:spPr>
      </p:cxnSp>
      <p:cxnSp>
        <p:nvCxnSpPr>
          <p:cNvPr id="134" name="Google Shape;134;p23"/>
          <p:cNvCxnSpPr>
            <a:stCxn id="127" idx="0"/>
            <a:endCxn id="126" idx="4"/>
          </p:cNvCxnSpPr>
          <p:nvPr/>
        </p:nvCxnSpPr>
        <p:spPr>
          <a:xfrm flipH="1" rot="10800000">
            <a:off x="4572000" y="2356975"/>
            <a:ext cx="1028700" cy="1603800"/>
          </a:xfrm>
          <a:prstGeom prst="straightConnector1">
            <a:avLst/>
          </a:prstGeom>
          <a:noFill/>
          <a:ln cap="flat" cmpd="sng" w="19050">
            <a:solidFill>
              <a:schemeClr val="dk1"/>
            </a:solidFill>
            <a:prstDash val="solid"/>
            <a:round/>
            <a:headEnd len="med" w="med" type="triangle"/>
            <a:tailEnd len="med" w="med" type="triangle"/>
          </a:ln>
        </p:spPr>
      </p:cxnSp>
      <p:cxnSp>
        <p:nvCxnSpPr>
          <p:cNvPr id="135" name="Google Shape;135;p23"/>
          <p:cNvCxnSpPr>
            <a:stCxn id="126" idx="5"/>
            <a:endCxn id="128" idx="2"/>
          </p:cNvCxnSpPr>
          <p:nvPr/>
        </p:nvCxnSpPr>
        <p:spPr>
          <a:xfrm>
            <a:off x="5931283" y="2232015"/>
            <a:ext cx="903900" cy="633000"/>
          </a:xfrm>
          <a:prstGeom prst="straightConnector1">
            <a:avLst/>
          </a:prstGeom>
          <a:noFill/>
          <a:ln cap="flat" cmpd="sng" w="19050">
            <a:solidFill>
              <a:schemeClr val="dk1"/>
            </a:solidFill>
            <a:prstDash val="solid"/>
            <a:round/>
            <a:headEnd len="med" w="med" type="triangle"/>
            <a:tailEnd len="med" w="med" type="triangle"/>
          </a:ln>
        </p:spPr>
      </p:cxnSp>
      <p:cxnSp>
        <p:nvCxnSpPr>
          <p:cNvPr id="136" name="Google Shape;136;p23"/>
          <p:cNvCxnSpPr>
            <a:stCxn id="124" idx="6"/>
            <a:endCxn id="126" idx="2"/>
          </p:cNvCxnSpPr>
          <p:nvPr/>
        </p:nvCxnSpPr>
        <p:spPr>
          <a:xfrm flipH="1" rot="10800000">
            <a:off x="4175538" y="1930500"/>
            <a:ext cx="957600" cy="324900"/>
          </a:xfrm>
          <a:prstGeom prst="straightConnector1">
            <a:avLst/>
          </a:prstGeom>
          <a:noFill/>
          <a:ln cap="flat" cmpd="sng" w="19050">
            <a:solidFill>
              <a:schemeClr val="dk1"/>
            </a:solidFill>
            <a:prstDash val="solid"/>
            <a:round/>
            <a:headEnd len="med" w="med" type="triangle"/>
            <a:tailEnd len="med" w="med" type="triangle"/>
          </a:ln>
        </p:spPr>
      </p:cxnSp>
      <p:grpSp>
        <p:nvGrpSpPr>
          <p:cNvPr id="137" name="Google Shape;137;p23"/>
          <p:cNvGrpSpPr/>
          <p:nvPr/>
        </p:nvGrpSpPr>
        <p:grpSpPr>
          <a:xfrm>
            <a:off x="7440200" y="3166440"/>
            <a:ext cx="903900" cy="843460"/>
            <a:chOff x="7440200" y="3166440"/>
            <a:chExt cx="903900" cy="843460"/>
          </a:xfrm>
        </p:grpSpPr>
        <p:cxnSp>
          <p:nvCxnSpPr>
            <p:cNvPr id="138" name="Google Shape;138;p23"/>
            <p:cNvCxnSpPr>
              <a:stCxn id="128" idx="5"/>
            </p:cNvCxnSpPr>
            <p:nvPr/>
          </p:nvCxnSpPr>
          <p:spPr>
            <a:xfrm>
              <a:off x="7633308" y="3166440"/>
              <a:ext cx="68100" cy="381900"/>
            </a:xfrm>
            <a:prstGeom prst="straightConnector1">
              <a:avLst/>
            </a:prstGeom>
            <a:noFill/>
            <a:ln cap="flat" cmpd="sng" w="9525">
              <a:solidFill>
                <a:srgbClr val="FF0000"/>
              </a:solidFill>
              <a:prstDash val="dash"/>
              <a:round/>
              <a:headEnd len="med" w="med" type="none"/>
              <a:tailEnd len="med" w="med" type="none"/>
            </a:ln>
          </p:spPr>
        </p:cxnSp>
        <p:sp>
          <p:nvSpPr>
            <p:cNvPr id="139" name="Google Shape;139;p23"/>
            <p:cNvSpPr txBox="1"/>
            <p:nvPr/>
          </p:nvSpPr>
          <p:spPr>
            <a:xfrm>
              <a:off x="7440200" y="3548200"/>
              <a:ext cx="903900" cy="461700"/>
            </a:xfrm>
            <a:prstGeom prst="rect">
              <a:avLst/>
            </a:prstGeom>
            <a:noFill/>
            <a:ln cap="flat" cmpd="sng" w="9525">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900"/>
                <a:t>I can reach {Recipient}</a:t>
              </a:r>
              <a:endParaRPr sz="900"/>
            </a:p>
          </p:txBody>
        </p:sp>
      </p:grpSp>
      <p:grpSp>
        <p:nvGrpSpPr>
          <p:cNvPr id="140" name="Google Shape;140;p23"/>
          <p:cNvGrpSpPr/>
          <p:nvPr/>
        </p:nvGrpSpPr>
        <p:grpSpPr>
          <a:xfrm>
            <a:off x="5039550" y="4387075"/>
            <a:ext cx="1109800" cy="686850"/>
            <a:chOff x="5039550" y="4387075"/>
            <a:chExt cx="1109800" cy="686850"/>
          </a:xfrm>
        </p:grpSpPr>
        <p:cxnSp>
          <p:nvCxnSpPr>
            <p:cNvPr id="141" name="Google Shape;141;p23"/>
            <p:cNvCxnSpPr>
              <a:stCxn id="127" idx="6"/>
              <a:endCxn id="142" idx="0"/>
            </p:cNvCxnSpPr>
            <p:nvPr/>
          </p:nvCxnSpPr>
          <p:spPr>
            <a:xfrm>
              <a:off x="5039550" y="4387075"/>
              <a:ext cx="564900" cy="225300"/>
            </a:xfrm>
            <a:prstGeom prst="straightConnector1">
              <a:avLst/>
            </a:prstGeom>
            <a:noFill/>
            <a:ln cap="flat" cmpd="sng" w="9525">
              <a:solidFill>
                <a:srgbClr val="FF0000"/>
              </a:solidFill>
              <a:prstDash val="dash"/>
              <a:round/>
              <a:headEnd len="med" w="med" type="none"/>
              <a:tailEnd len="med" w="med" type="none"/>
            </a:ln>
          </p:spPr>
        </p:cxnSp>
        <p:sp>
          <p:nvSpPr>
            <p:cNvPr id="142" name="Google Shape;142;p23"/>
            <p:cNvSpPr txBox="1"/>
            <p:nvPr/>
          </p:nvSpPr>
          <p:spPr>
            <a:xfrm>
              <a:off x="5059450" y="4612225"/>
              <a:ext cx="1089900" cy="461700"/>
            </a:xfrm>
            <a:prstGeom prst="rect">
              <a:avLst/>
            </a:prstGeom>
            <a:noFill/>
            <a:ln cap="flat" cmpd="sng" w="9525">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900"/>
                <a:t>I can reach {AS6-&gt;Recipient}</a:t>
              </a:r>
              <a:endParaRPr sz="900"/>
            </a:p>
          </p:txBody>
        </p:sp>
      </p:grpSp>
      <p:grpSp>
        <p:nvGrpSpPr>
          <p:cNvPr id="143" name="Google Shape;143;p23"/>
          <p:cNvGrpSpPr/>
          <p:nvPr/>
        </p:nvGrpSpPr>
        <p:grpSpPr>
          <a:xfrm>
            <a:off x="5931283" y="1191000"/>
            <a:ext cx="1173317" cy="461700"/>
            <a:chOff x="5931283" y="1191000"/>
            <a:chExt cx="1173317" cy="461700"/>
          </a:xfrm>
        </p:grpSpPr>
        <p:cxnSp>
          <p:nvCxnSpPr>
            <p:cNvPr id="144" name="Google Shape;144;p23"/>
            <p:cNvCxnSpPr>
              <a:stCxn id="126" idx="7"/>
              <a:endCxn id="145" idx="1"/>
            </p:cNvCxnSpPr>
            <p:nvPr/>
          </p:nvCxnSpPr>
          <p:spPr>
            <a:xfrm flipH="1" rot="10800000">
              <a:off x="5931283" y="1421835"/>
              <a:ext cx="83400" cy="207300"/>
            </a:xfrm>
            <a:prstGeom prst="straightConnector1">
              <a:avLst/>
            </a:prstGeom>
            <a:noFill/>
            <a:ln cap="flat" cmpd="sng" w="9525">
              <a:solidFill>
                <a:srgbClr val="FF0000"/>
              </a:solidFill>
              <a:prstDash val="dash"/>
              <a:round/>
              <a:headEnd len="med" w="med" type="none"/>
              <a:tailEnd len="med" w="med" type="none"/>
            </a:ln>
          </p:spPr>
        </p:cxnSp>
        <p:sp>
          <p:nvSpPr>
            <p:cNvPr id="145" name="Google Shape;145;p23"/>
            <p:cNvSpPr txBox="1"/>
            <p:nvPr/>
          </p:nvSpPr>
          <p:spPr>
            <a:xfrm>
              <a:off x="6014700" y="1191000"/>
              <a:ext cx="1089900" cy="461700"/>
            </a:xfrm>
            <a:prstGeom prst="rect">
              <a:avLst/>
            </a:prstGeom>
            <a:noFill/>
            <a:ln cap="flat" cmpd="sng" w="9525">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900"/>
                <a:t>I can reach {AS6-&gt;Recipient}</a:t>
              </a:r>
              <a:endParaRPr sz="900"/>
            </a:p>
          </p:txBody>
        </p:sp>
      </p:grpSp>
      <p:cxnSp>
        <p:nvCxnSpPr>
          <p:cNvPr id="146" name="Google Shape;146;p23"/>
          <p:cNvCxnSpPr>
            <a:stCxn id="123" idx="6"/>
            <a:endCxn id="127" idx="1"/>
          </p:cNvCxnSpPr>
          <p:nvPr/>
        </p:nvCxnSpPr>
        <p:spPr>
          <a:xfrm>
            <a:off x="1567725" y="2159175"/>
            <a:ext cx="2673600" cy="1926600"/>
          </a:xfrm>
          <a:prstGeom prst="straightConnector1">
            <a:avLst/>
          </a:prstGeom>
          <a:noFill/>
          <a:ln cap="flat" cmpd="sng" w="19050">
            <a:solidFill>
              <a:schemeClr val="dk1"/>
            </a:solidFill>
            <a:prstDash val="solid"/>
            <a:round/>
            <a:headEnd len="med" w="med" type="triangle"/>
            <a:tailEnd len="med" w="med" type="triangle"/>
          </a:ln>
        </p:spPr>
      </p:cxnSp>
      <p:cxnSp>
        <p:nvCxnSpPr>
          <p:cNvPr id="147" name="Google Shape;147;p23"/>
          <p:cNvCxnSpPr>
            <a:stCxn id="125" idx="5"/>
            <a:endCxn id="127" idx="2"/>
          </p:cNvCxnSpPr>
          <p:nvPr/>
        </p:nvCxnSpPr>
        <p:spPr>
          <a:xfrm>
            <a:off x="2833033" y="3835915"/>
            <a:ext cx="1271400" cy="551100"/>
          </a:xfrm>
          <a:prstGeom prst="straightConnector1">
            <a:avLst/>
          </a:prstGeom>
          <a:noFill/>
          <a:ln cap="flat" cmpd="sng" w="19050">
            <a:solidFill>
              <a:schemeClr val="dk1"/>
            </a:solidFill>
            <a:prstDash val="solid"/>
            <a:round/>
            <a:headEnd len="med" w="med" type="triangle"/>
            <a:tailEnd len="med" w="med" type="triangle"/>
          </a:ln>
        </p:spPr>
      </p:cxnSp>
      <p:grpSp>
        <p:nvGrpSpPr>
          <p:cNvPr id="148" name="Google Shape;148;p23"/>
          <p:cNvGrpSpPr/>
          <p:nvPr/>
        </p:nvGrpSpPr>
        <p:grpSpPr>
          <a:xfrm>
            <a:off x="1640550" y="3960775"/>
            <a:ext cx="1500300" cy="577650"/>
            <a:chOff x="1640550" y="3960775"/>
            <a:chExt cx="1500300" cy="577650"/>
          </a:xfrm>
        </p:grpSpPr>
        <p:cxnSp>
          <p:nvCxnSpPr>
            <p:cNvPr id="149" name="Google Shape;149;p23"/>
            <p:cNvCxnSpPr>
              <a:stCxn id="125" idx="4"/>
              <a:endCxn id="150" idx="0"/>
            </p:cNvCxnSpPr>
            <p:nvPr/>
          </p:nvCxnSpPr>
          <p:spPr>
            <a:xfrm flipH="1">
              <a:off x="2390825" y="3960775"/>
              <a:ext cx="111600" cy="116100"/>
            </a:xfrm>
            <a:prstGeom prst="straightConnector1">
              <a:avLst/>
            </a:prstGeom>
            <a:noFill/>
            <a:ln cap="flat" cmpd="sng" w="9525">
              <a:solidFill>
                <a:srgbClr val="FF0000"/>
              </a:solidFill>
              <a:prstDash val="dash"/>
              <a:round/>
              <a:headEnd len="med" w="med" type="none"/>
              <a:tailEnd len="med" w="med" type="none"/>
            </a:ln>
          </p:spPr>
        </p:cxnSp>
        <p:sp>
          <p:nvSpPr>
            <p:cNvPr id="150" name="Google Shape;150;p23"/>
            <p:cNvSpPr txBox="1"/>
            <p:nvPr/>
          </p:nvSpPr>
          <p:spPr>
            <a:xfrm>
              <a:off x="1640550" y="4076725"/>
              <a:ext cx="1500300" cy="461700"/>
            </a:xfrm>
            <a:prstGeom prst="rect">
              <a:avLst/>
            </a:prstGeom>
            <a:noFill/>
            <a:ln cap="flat" cmpd="sng" w="9525">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900"/>
                <a:t>I can reach {AS4-&gt;AS6-&gt;Recipient}</a:t>
              </a:r>
              <a:endParaRPr sz="900"/>
            </a:p>
          </p:txBody>
        </p:sp>
      </p:grpSp>
      <p:grpSp>
        <p:nvGrpSpPr>
          <p:cNvPr id="151" name="Google Shape;151;p23"/>
          <p:cNvGrpSpPr/>
          <p:nvPr/>
        </p:nvGrpSpPr>
        <p:grpSpPr>
          <a:xfrm>
            <a:off x="2804125" y="1221275"/>
            <a:ext cx="1500300" cy="607800"/>
            <a:chOff x="2804125" y="1221275"/>
            <a:chExt cx="1500300" cy="607800"/>
          </a:xfrm>
        </p:grpSpPr>
        <p:cxnSp>
          <p:nvCxnSpPr>
            <p:cNvPr id="152" name="Google Shape;152;p23"/>
            <p:cNvCxnSpPr>
              <a:stCxn id="153" idx="2"/>
              <a:endCxn id="124" idx="0"/>
            </p:cNvCxnSpPr>
            <p:nvPr/>
          </p:nvCxnSpPr>
          <p:spPr>
            <a:xfrm>
              <a:off x="3554275" y="1682975"/>
              <a:ext cx="153600" cy="146100"/>
            </a:xfrm>
            <a:prstGeom prst="straightConnector1">
              <a:avLst/>
            </a:prstGeom>
            <a:noFill/>
            <a:ln cap="flat" cmpd="sng" w="9525">
              <a:solidFill>
                <a:srgbClr val="FF0000"/>
              </a:solidFill>
              <a:prstDash val="dash"/>
              <a:round/>
              <a:headEnd len="med" w="med" type="none"/>
              <a:tailEnd len="med" w="med" type="none"/>
            </a:ln>
          </p:spPr>
        </p:cxnSp>
        <p:sp>
          <p:nvSpPr>
            <p:cNvPr id="153" name="Google Shape;153;p23"/>
            <p:cNvSpPr txBox="1"/>
            <p:nvPr/>
          </p:nvSpPr>
          <p:spPr>
            <a:xfrm>
              <a:off x="2804125" y="1221275"/>
              <a:ext cx="1500300" cy="461700"/>
            </a:xfrm>
            <a:prstGeom prst="rect">
              <a:avLst/>
            </a:prstGeom>
            <a:noFill/>
            <a:ln cap="flat" cmpd="sng" w="9525">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900"/>
                <a:t>I can reach {AS5-&gt;AS6-&gt;Recipient}</a:t>
              </a:r>
              <a:endParaRPr sz="900"/>
            </a:p>
          </p:txBody>
        </p:sp>
      </p:grpSp>
      <p:grpSp>
        <p:nvGrpSpPr>
          <p:cNvPr id="154" name="Google Shape;154;p23"/>
          <p:cNvGrpSpPr/>
          <p:nvPr/>
        </p:nvGrpSpPr>
        <p:grpSpPr>
          <a:xfrm>
            <a:off x="501525" y="1156225"/>
            <a:ext cx="1410025" cy="1002950"/>
            <a:chOff x="501525" y="1156225"/>
            <a:chExt cx="1410025" cy="1002950"/>
          </a:xfrm>
        </p:grpSpPr>
        <p:cxnSp>
          <p:nvCxnSpPr>
            <p:cNvPr id="155" name="Google Shape;155;p23"/>
            <p:cNvCxnSpPr>
              <a:stCxn id="123" idx="2"/>
              <a:endCxn id="156" idx="1"/>
            </p:cNvCxnSpPr>
            <p:nvPr/>
          </p:nvCxnSpPr>
          <p:spPr>
            <a:xfrm rot="10800000">
              <a:off x="501525" y="1386975"/>
              <a:ext cx="131100" cy="772200"/>
            </a:xfrm>
            <a:prstGeom prst="straightConnector1">
              <a:avLst/>
            </a:prstGeom>
            <a:noFill/>
            <a:ln cap="flat" cmpd="sng" w="9525">
              <a:solidFill>
                <a:srgbClr val="FF0000"/>
              </a:solidFill>
              <a:prstDash val="dash"/>
              <a:round/>
              <a:headEnd len="med" w="med" type="none"/>
              <a:tailEnd len="med" w="med" type="none"/>
            </a:ln>
          </p:spPr>
        </p:cxnSp>
        <p:sp>
          <p:nvSpPr>
            <p:cNvPr id="156" name="Google Shape;156;p23"/>
            <p:cNvSpPr txBox="1"/>
            <p:nvPr/>
          </p:nvSpPr>
          <p:spPr>
            <a:xfrm>
              <a:off x="501550" y="1156225"/>
              <a:ext cx="1410000" cy="461700"/>
            </a:xfrm>
            <a:prstGeom prst="rect">
              <a:avLst/>
            </a:prstGeom>
            <a:noFill/>
            <a:ln cap="flat" cmpd="sng" w="9525">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900"/>
                <a:t>I can reach {AS4-&gt;AS6-&gt;Recipient}</a:t>
              </a:r>
              <a:endParaRPr sz="9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Each AS implicitly trusts the surrounding ASes and accepts advertised routes</a:t>
            </a:r>
            <a:endParaRPr/>
          </a:p>
          <a:p>
            <a:pPr indent="-342900" lvl="0" marL="457200" rtl="0" algn="l">
              <a:spcBef>
                <a:spcPts val="0"/>
              </a:spcBef>
              <a:spcAft>
                <a:spcPts val="0"/>
              </a:spcAft>
              <a:buSzPts val="1800"/>
              <a:buChar char="●"/>
            </a:pPr>
            <a:r>
              <a:rPr b="1" lang="en"/>
              <a:t>IP spoofing</a:t>
            </a:r>
            <a:r>
              <a:rPr lang="en"/>
              <a:t>: Malicious clients can send IP packets with source IP values set to a spoofed value</a:t>
            </a:r>
            <a:endParaRPr/>
          </a:p>
          <a:p>
            <a:pPr indent="-317500" lvl="1" marL="914400" rtl="0" algn="l">
              <a:spcBef>
                <a:spcPts val="0"/>
              </a:spcBef>
              <a:spcAft>
                <a:spcPts val="0"/>
              </a:spcAft>
              <a:buSzPts val="1400"/>
              <a:buChar char="○"/>
            </a:pPr>
            <a:r>
              <a:rPr lang="en"/>
              <a:t>Enables packets that look like they’re coming from someone else!</a:t>
            </a:r>
            <a:endParaRPr/>
          </a:p>
          <a:p>
            <a:pPr indent="-317500" lvl="1" marL="914400" rtl="0" algn="l">
              <a:spcBef>
                <a:spcPts val="0"/>
              </a:spcBef>
              <a:spcAft>
                <a:spcPts val="0"/>
              </a:spcAft>
              <a:buSzPts val="1400"/>
              <a:buChar char="○"/>
            </a:pPr>
            <a:r>
              <a:rPr lang="en"/>
              <a:t>Edge ASes should block packets with source IPs set to the wrong value, but some don’t</a:t>
            </a:r>
            <a:endParaRPr/>
          </a:p>
          <a:p>
            <a:pPr indent="-317500" lvl="1" marL="914400" rtl="0" algn="l">
              <a:spcBef>
                <a:spcPts val="0"/>
              </a:spcBef>
              <a:spcAft>
                <a:spcPts val="0"/>
              </a:spcAft>
              <a:buSzPts val="1400"/>
              <a:buChar char="○"/>
            </a:pPr>
            <a:r>
              <a:rPr lang="en"/>
              <a:t>We rely on defenses provided by higher layers to further prevent this (“defense in depth”)</a:t>
            </a:r>
            <a:endParaRPr/>
          </a:p>
          <a:p>
            <a:pPr indent="-342900" lvl="0" marL="457200" rtl="0" algn="l">
              <a:spcBef>
                <a:spcPts val="0"/>
              </a:spcBef>
              <a:spcAft>
                <a:spcPts val="0"/>
              </a:spcAft>
              <a:buSzPts val="1800"/>
              <a:buChar char="●"/>
            </a:pPr>
            <a:r>
              <a:rPr b="1" lang="en"/>
              <a:t>BGP hijacking</a:t>
            </a:r>
            <a:r>
              <a:rPr lang="en"/>
              <a:t>: A malicious autonomous system can lie and claim itself to be responsible for a network which it isn’t</a:t>
            </a:r>
            <a:endParaRPr/>
          </a:p>
          <a:p>
            <a:pPr indent="-317500" lvl="1" marL="914400" rtl="0" algn="l">
              <a:spcBef>
                <a:spcPts val="0"/>
              </a:spcBef>
              <a:spcAft>
                <a:spcPts val="0"/>
              </a:spcAft>
              <a:buSzPts val="1400"/>
              <a:buChar char="○"/>
            </a:pPr>
            <a:r>
              <a:rPr lang="en"/>
              <a:t>Example: AS3 broadcasts that it is responsible for 128.32.0.0/16</a:t>
            </a:r>
            <a:endParaRPr>
              <a:latin typeface="Courier New"/>
              <a:ea typeface="Courier New"/>
              <a:cs typeface="Courier New"/>
              <a:sym typeface="Courier New"/>
            </a:endParaRPr>
          </a:p>
          <a:p>
            <a:pPr indent="-317500" lvl="2" marL="1371600" rtl="0" algn="l">
              <a:spcBef>
                <a:spcPts val="0"/>
              </a:spcBef>
              <a:spcAft>
                <a:spcPts val="0"/>
              </a:spcAft>
              <a:buSzPts val="1400"/>
              <a:buChar char="■"/>
            </a:pPr>
            <a:r>
              <a:rPr lang="en"/>
              <a:t>Now, the malicious AS can act as a MITM for traffic to 128.32.0.0!</a:t>
            </a:r>
            <a:endParaRPr/>
          </a:p>
          <a:p>
            <a:pPr indent="-317500" lvl="1" marL="914400" rtl="0" algn="l">
              <a:spcBef>
                <a:spcPts val="0"/>
              </a:spcBef>
              <a:spcAft>
                <a:spcPts val="0"/>
              </a:spcAft>
              <a:buSzPts val="1400"/>
              <a:buChar char="○"/>
            </a:pPr>
            <a:r>
              <a:rPr lang="en"/>
              <a:t>No real defenses on this level, so we rely on defenses from higher levels</a:t>
            </a:r>
            <a:endParaRPr/>
          </a:p>
        </p:txBody>
      </p:sp>
      <p:sp>
        <p:nvSpPr>
          <p:cNvPr id="162" name="Google Shape;162;p2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IP and BGP Attacks</a:t>
            </a:r>
            <a:endParaRPr/>
          </a:p>
        </p:txBody>
      </p:sp>
      <p:sp>
        <p:nvSpPr>
          <p:cNvPr id="163" name="Google Shape;16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311700" y="135360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Transmission Control Protocol (TCP)</a:t>
            </a:r>
            <a:endParaRPr/>
          </a:p>
        </p:txBody>
      </p:sp>
      <p:sp>
        <p:nvSpPr>
          <p:cNvPr id="169" name="Google Shape;16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25"/>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sz="1800">
                <a:solidFill>
                  <a:srgbClr val="000000"/>
                </a:solidFill>
              </a:rPr>
              <a:t>Textbook Chapter 30</a:t>
            </a:r>
            <a:endParaRPr sz="1800">
              <a:solidFill>
                <a:srgbClr val="000000"/>
              </a:solidFill>
            </a:endParaRPr>
          </a:p>
        </p:txBody>
      </p:sp>
      <p:pic>
        <p:nvPicPr>
          <p:cNvPr id="171" name="Google Shape;171;p25"/>
          <p:cNvPicPr preferRelativeResize="0"/>
          <p:nvPr/>
        </p:nvPicPr>
        <p:blipFill rotWithShape="1">
          <a:blip r:embed="rId3">
            <a:alphaModFix/>
          </a:blip>
          <a:srcRect b="0" l="0" r="0" t="3138"/>
          <a:stretch/>
        </p:blipFill>
        <p:spPr>
          <a:xfrm>
            <a:off x="870743" y="2261762"/>
            <a:ext cx="2910515" cy="21926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 IP </a:t>
            </a:r>
            <a:r>
              <a:rPr lang="en"/>
              <a:t>Reliability</a:t>
            </a:r>
            <a:endParaRPr/>
          </a:p>
        </p:txBody>
      </p:sp>
      <p:sp>
        <p:nvSpPr>
          <p:cNvPr id="177" name="Google Shape;177;p2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IP is </a:t>
            </a:r>
            <a:r>
              <a:rPr b="1" lang="en"/>
              <a:t>unreliable</a:t>
            </a:r>
            <a:r>
              <a:rPr lang="en"/>
              <a:t> and only provides a </a:t>
            </a:r>
            <a:r>
              <a:rPr b="1" lang="en"/>
              <a:t>best effort</a:t>
            </a:r>
            <a:r>
              <a:rPr lang="en"/>
              <a:t> delivery service, which means:</a:t>
            </a:r>
            <a:endParaRPr/>
          </a:p>
          <a:p>
            <a:pPr indent="-317500" lvl="1" marL="914400" rtl="0" algn="l">
              <a:spcBef>
                <a:spcPts val="0"/>
              </a:spcBef>
              <a:spcAft>
                <a:spcPts val="0"/>
              </a:spcAft>
              <a:buSzPts val="1400"/>
              <a:buChar char="○"/>
            </a:pPr>
            <a:r>
              <a:rPr lang="en"/>
              <a:t>Packets may be lost (“dropped”)</a:t>
            </a:r>
            <a:endParaRPr/>
          </a:p>
          <a:p>
            <a:pPr indent="-317500" lvl="1" marL="914400" rtl="0" algn="l">
              <a:spcBef>
                <a:spcPts val="0"/>
              </a:spcBef>
              <a:spcAft>
                <a:spcPts val="0"/>
              </a:spcAft>
              <a:buSzPts val="1400"/>
              <a:buChar char="○"/>
            </a:pPr>
            <a:r>
              <a:rPr lang="en"/>
              <a:t>Packets may be corrupted</a:t>
            </a:r>
            <a:endParaRPr/>
          </a:p>
          <a:p>
            <a:pPr indent="-317500" lvl="1" marL="914400" rtl="0" algn="l">
              <a:spcBef>
                <a:spcPts val="0"/>
              </a:spcBef>
              <a:spcAft>
                <a:spcPts val="0"/>
              </a:spcAft>
              <a:buSzPts val="1400"/>
              <a:buChar char="○"/>
            </a:pPr>
            <a:r>
              <a:rPr lang="en"/>
              <a:t>Packets may be delivered out of order</a:t>
            </a:r>
            <a:endParaRPr/>
          </a:p>
          <a:p>
            <a:pPr indent="-342900" lvl="0" marL="457200" rtl="0" algn="l">
              <a:spcBef>
                <a:spcPts val="0"/>
              </a:spcBef>
              <a:spcAft>
                <a:spcPts val="0"/>
              </a:spcAft>
              <a:buSzPts val="1800"/>
              <a:buChar char="●"/>
            </a:pPr>
            <a:r>
              <a:rPr lang="en"/>
              <a:t>It is up to higher level protocols to ensure that the connection is reliable, i.e., that packets are received correctly</a:t>
            </a:r>
            <a:endParaRPr/>
          </a:p>
          <a:p>
            <a:pPr indent="-317500" lvl="1" marL="914400" rtl="0" algn="l">
              <a:spcBef>
                <a:spcPts val="0"/>
              </a:spcBef>
              <a:spcAft>
                <a:spcPts val="0"/>
              </a:spcAft>
              <a:buSzPts val="1400"/>
              <a:buChar char="○"/>
            </a:pPr>
            <a:r>
              <a:rPr lang="en"/>
              <a:t>Packets that are changed (random error or malicious tampering) aren't considered correctly received</a:t>
            </a:r>
            <a:endParaRPr/>
          </a:p>
          <a:p>
            <a:pPr indent="-317500" lvl="1" marL="914400" rtl="0" algn="l">
              <a:spcBef>
                <a:spcPts val="0"/>
              </a:spcBef>
              <a:spcAft>
                <a:spcPts val="0"/>
              </a:spcAft>
              <a:buSzPts val="1400"/>
              <a:buChar char="○"/>
            </a:pPr>
            <a:r>
              <a:rPr lang="en"/>
              <a:t>IP packets include a checksum (unkeyed function, protects against random errors)</a:t>
            </a:r>
            <a:endParaRPr/>
          </a:p>
          <a:p>
            <a:pPr indent="-317500" lvl="1" marL="914400" rtl="0" algn="l">
              <a:spcBef>
                <a:spcPts val="0"/>
              </a:spcBef>
              <a:spcAft>
                <a:spcPts val="0"/>
              </a:spcAft>
              <a:buSzPts val="1400"/>
              <a:buChar char="○"/>
            </a:pPr>
            <a:r>
              <a:rPr lang="en"/>
              <a:t>However, there is no cryptographic MAC, so there are no guarantees if an attacker maliciously modifies packets (and modifies the checksum accordingly)</a:t>
            </a:r>
            <a:endParaRPr/>
          </a:p>
        </p:txBody>
      </p:sp>
      <p:sp>
        <p:nvSpPr>
          <p:cNvPr id="178" name="Google Shape;17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Scratchpad: Let’s Design It Together</a:t>
            </a:r>
            <a:endParaRPr/>
          </a:p>
        </p:txBody>
      </p:sp>
      <p:sp>
        <p:nvSpPr>
          <p:cNvPr id="184" name="Google Shape;184;p2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Problem: IP packets have a limited size. To send longer messages, we have to manually break messages into packets</a:t>
            </a:r>
            <a:endParaRPr/>
          </a:p>
          <a:p>
            <a:pPr indent="-317500" lvl="1" marL="914400" rtl="0" algn="l">
              <a:spcBef>
                <a:spcPts val="0"/>
              </a:spcBef>
              <a:spcAft>
                <a:spcPts val="0"/>
              </a:spcAft>
              <a:buSzPts val="1400"/>
              <a:buChar char="○"/>
            </a:pPr>
            <a:r>
              <a:rPr lang="en"/>
              <a:t>When sending packets: TCP will automatically split up messages</a:t>
            </a:r>
            <a:endParaRPr/>
          </a:p>
          <a:p>
            <a:pPr indent="-317500" lvl="1" marL="914400" rtl="0" algn="l">
              <a:spcBef>
                <a:spcPts val="0"/>
              </a:spcBef>
              <a:spcAft>
                <a:spcPts val="0"/>
              </a:spcAft>
              <a:buSzPts val="1400"/>
              <a:buChar char="○"/>
            </a:pPr>
            <a:r>
              <a:rPr lang="en"/>
              <a:t>When receiving packets: TCP will automatically reassemble the packets</a:t>
            </a:r>
            <a:endParaRPr/>
          </a:p>
          <a:p>
            <a:pPr indent="-317500" lvl="1" marL="914400" rtl="0" algn="l">
              <a:spcBef>
                <a:spcPts val="0"/>
              </a:spcBef>
              <a:spcAft>
                <a:spcPts val="0"/>
              </a:spcAft>
              <a:buSzPts val="1400"/>
              <a:buChar char="○"/>
            </a:pPr>
            <a:r>
              <a:rPr lang="en"/>
              <a:t>Now the user doesn’t need to manually split up messages!</a:t>
            </a:r>
            <a:endParaRPr/>
          </a:p>
          <a:p>
            <a:pPr indent="-342900" lvl="0" marL="457200" rtl="0" algn="l">
              <a:spcBef>
                <a:spcPts val="0"/>
              </a:spcBef>
              <a:spcAft>
                <a:spcPts val="0"/>
              </a:spcAft>
              <a:buSzPts val="1800"/>
              <a:buChar char="●"/>
            </a:pPr>
            <a:r>
              <a:rPr lang="en"/>
              <a:t>Problem: Packets can arrive out of order</a:t>
            </a:r>
            <a:endParaRPr/>
          </a:p>
          <a:p>
            <a:pPr indent="-317500" lvl="1" marL="914400" rtl="0" algn="l">
              <a:spcBef>
                <a:spcPts val="0"/>
              </a:spcBef>
              <a:spcAft>
                <a:spcPts val="0"/>
              </a:spcAft>
              <a:buSzPts val="1400"/>
              <a:buChar char="○"/>
            </a:pPr>
            <a:r>
              <a:rPr lang="en"/>
              <a:t>When sending packets: TCP labels each byte of the message with increasing numbers</a:t>
            </a:r>
            <a:endParaRPr/>
          </a:p>
          <a:p>
            <a:pPr indent="-317500" lvl="1" marL="914400" rtl="0" algn="l">
              <a:spcBef>
                <a:spcPts val="0"/>
              </a:spcBef>
              <a:spcAft>
                <a:spcPts val="0"/>
              </a:spcAft>
              <a:buSzPts val="1400"/>
              <a:buChar char="○"/>
            </a:pPr>
            <a:r>
              <a:rPr lang="en"/>
              <a:t>W</a:t>
            </a:r>
            <a:r>
              <a:rPr lang="en"/>
              <a:t>hen receiving packets: </a:t>
            </a:r>
            <a:r>
              <a:rPr lang="en"/>
              <a:t>TCP can use the numbers to rearrange bytes in the correct order</a:t>
            </a:r>
            <a:endParaRPr/>
          </a:p>
          <a:p>
            <a:pPr indent="-342900" lvl="0" marL="457200" rtl="0" algn="l">
              <a:spcBef>
                <a:spcPts val="0"/>
              </a:spcBef>
              <a:spcAft>
                <a:spcPts val="0"/>
              </a:spcAft>
              <a:buSzPts val="1800"/>
              <a:buChar char="●"/>
            </a:pPr>
            <a:r>
              <a:rPr lang="en"/>
              <a:t>Problem: Packets can be dropped</a:t>
            </a:r>
            <a:endParaRPr/>
          </a:p>
          <a:p>
            <a:pPr indent="-317500" lvl="1" marL="914400" rtl="0" algn="l">
              <a:spcBef>
                <a:spcPts val="0"/>
              </a:spcBef>
              <a:spcAft>
                <a:spcPts val="0"/>
              </a:spcAft>
              <a:buSzPts val="1400"/>
              <a:buChar char="○"/>
            </a:pPr>
            <a:r>
              <a:rPr lang="en"/>
              <a:t>When receiving packets: TCP sends an extra message acknowledging that a packet has been received</a:t>
            </a:r>
            <a:endParaRPr/>
          </a:p>
          <a:p>
            <a:pPr indent="-317500" lvl="1" marL="914400" rtl="0" algn="l">
              <a:spcBef>
                <a:spcPts val="0"/>
              </a:spcBef>
              <a:spcAft>
                <a:spcPts val="0"/>
              </a:spcAft>
              <a:buSzPts val="1400"/>
              <a:buChar char="○"/>
            </a:pPr>
            <a:r>
              <a:rPr lang="en"/>
              <a:t>When sending packets: If the acknowledgement doesn’t arrive, re-send the packet</a:t>
            </a:r>
            <a:endParaRPr/>
          </a:p>
        </p:txBody>
      </p:sp>
      <p:sp>
        <p:nvSpPr>
          <p:cNvPr id="185" name="Google Shape;18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Transmission Control Protocol (TCP)</a:t>
            </a:r>
            <a:endParaRPr/>
          </a:p>
        </p:txBody>
      </p:sp>
      <p:sp>
        <p:nvSpPr>
          <p:cNvPr id="191" name="Google Shape;191;p2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Abstraction: a byte stream</a:t>
            </a:r>
            <a:endParaRPr/>
          </a:p>
          <a:p>
            <a:pPr indent="-317500" lvl="1" marL="914400" rtl="0" algn="l">
              <a:spcBef>
                <a:spcPts val="0"/>
              </a:spcBef>
              <a:spcAft>
                <a:spcPts val="0"/>
              </a:spcAft>
              <a:buSzPts val="1400"/>
              <a:buChar char="○"/>
            </a:pPr>
            <a:r>
              <a:rPr lang="en"/>
              <a:t>Bytes go in one end of the stream at the source and come out at the other end at the destination</a:t>
            </a:r>
            <a:endParaRPr/>
          </a:p>
          <a:p>
            <a:pPr indent="-317500" lvl="1" marL="914400" rtl="0" algn="l">
              <a:spcBef>
                <a:spcPts val="0"/>
              </a:spcBef>
              <a:spcAft>
                <a:spcPts val="0"/>
              </a:spcAft>
              <a:buSzPts val="1400"/>
              <a:buChar char="○"/>
            </a:pPr>
            <a:r>
              <a:rPr lang="en"/>
              <a:t>TCP automatically breaks streams into </a:t>
            </a:r>
            <a:r>
              <a:rPr b="1" lang="en"/>
              <a:t>segments</a:t>
            </a:r>
            <a:r>
              <a:rPr lang="en"/>
              <a:t>, which are sent as layer 3 packets</a:t>
            </a:r>
            <a:endParaRPr/>
          </a:p>
          <a:p>
            <a:pPr indent="-342900" lvl="0" marL="457200" rtl="0" algn="l">
              <a:spcBef>
                <a:spcPts val="0"/>
              </a:spcBef>
              <a:spcAft>
                <a:spcPts val="0"/>
              </a:spcAft>
              <a:buSzPts val="1800"/>
              <a:buChar char="●"/>
            </a:pPr>
            <a:r>
              <a:rPr lang="en"/>
              <a:t>Provides ordering</a:t>
            </a:r>
            <a:endParaRPr/>
          </a:p>
          <a:p>
            <a:pPr indent="-317500" lvl="1" marL="914400" rtl="0" algn="l">
              <a:spcBef>
                <a:spcPts val="0"/>
              </a:spcBef>
              <a:spcAft>
                <a:spcPts val="0"/>
              </a:spcAft>
              <a:buSzPts val="1400"/>
              <a:buChar char="○"/>
            </a:pPr>
            <a:r>
              <a:rPr lang="en"/>
              <a:t>Segments contain sequence numbers, so the destination can reassemble the stream in order</a:t>
            </a:r>
            <a:endParaRPr/>
          </a:p>
          <a:p>
            <a:pPr indent="-342900" lvl="0" marL="457200" rtl="0" algn="l">
              <a:spcBef>
                <a:spcPts val="0"/>
              </a:spcBef>
              <a:spcAft>
                <a:spcPts val="0"/>
              </a:spcAft>
              <a:buSzPts val="1800"/>
              <a:buChar char="●"/>
            </a:pPr>
            <a:r>
              <a:rPr lang="en"/>
              <a:t>Provides reliability</a:t>
            </a:r>
            <a:endParaRPr/>
          </a:p>
          <a:p>
            <a:pPr indent="-317500" lvl="1" marL="914400" rtl="0" algn="l">
              <a:spcBef>
                <a:spcPts val="0"/>
              </a:spcBef>
              <a:spcAft>
                <a:spcPts val="0"/>
              </a:spcAft>
              <a:buSzPts val="1400"/>
              <a:buChar char="○"/>
            </a:pPr>
            <a:r>
              <a:rPr lang="en"/>
              <a:t>The </a:t>
            </a:r>
            <a:r>
              <a:rPr lang="en"/>
              <a:t>destination</a:t>
            </a:r>
            <a:r>
              <a:rPr lang="en"/>
              <a:t> sends </a:t>
            </a:r>
            <a:r>
              <a:rPr b="1" lang="en"/>
              <a:t>acknowledgements</a:t>
            </a:r>
            <a:r>
              <a:rPr lang="en"/>
              <a:t> (ACKs) for each sequence number received</a:t>
            </a:r>
            <a:endParaRPr/>
          </a:p>
          <a:p>
            <a:pPr indent="-317500" lvl="1" marL="914400" rtl="0" algn="l">
              <a:spcBef>
                <a:spcPts val="0"/>
              </a:spcBef>
              <a:spcAft>
                <a:spcPts val="0"/>
              </a:spcAft>
              <a:buSzPts val="1400"/>
              <a:buChar char="○"/>
            </a:pPr>
            <a:r>
              <a:rPr lang="en"/>
              <a:t>If the source doesn’t receive the ACK, the source sends the packet again</a:t>
            </a:r>
            <a:endParaRPr/>
          </a:p>
          <a:p>
            <a:pPr indent="-342900" lvl="0" marL="457200" rtl="0" algn="l">
              <a:spcBef>
                <a:spcPts val="0"/>
              </a:spcBef>
              <a:spcAft>
                <a:spcPts val="0"/>
              </a:spcAft>
              <a:buSzPts val="1800"/>
              <a:buChar char="●"/>
            </a:pPr>
            <a:r>
              <a:rPr lang="en"/>
              <a:t>Provides ports</a:t>
            </a:r>
            <a:endParaRPr/>
          </a:p>
          <a:p>
            <a:pPr indent="-317500" lvl="1" marL="914400" rtl="0" algn="l">
              <a:spcBef>
                <a:spcPts val="0"/>
              </a:spcBef>
              <a:spcAft>
                <a:spcPts val="0"/>
              </a:spcAft>
              <a:buSzPts val="1400"/>
              <a:buChar char="○"/>
            </a:pPr>
            <a:r>
              <a:rPr lang="en"/>
              <a:t>Multiple services can share the same IP address by using different ports</a:t>
            </a:r>
            <a:endParaRPr/>
          </a:p>
        </p:txBody>
      </p:sp>
      <p:sp>
        <p:nvSpPr>
          <p:cNvPr id="192" name="Google Shape;192;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Ports: An Analogy</a:t>
            </a:r>
            <a:endParaRPr/>
          </a:p>
        </p:txBody>
      </p:sp>
      <p:sp>
        <p:nvSpPr>
          <p:cNvPr id="198" name="Google Shape;198;p2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Alice is pen pals with Bob. Alice’s roommate, Carol, is also pen pals with Bob</a:t>
            </a:r>
            <a:endParaRPr/>
          </a:p>
          <a:p>
            <a:pPr indent="-342900" lvl="0" marL="457200" rtl="0" algn="l">
              <a:spcBef>
                <a:spcPts val="0"/>
              </a:spcBef>
              <a:spcAft>
                <a:spcPts val="0"/>
              </a:spcAft>
              <a:buSzPts val="1800"/>
              <a:buChar char="●"/>
            </a:pPr>
            <a:r>
              <a:rPr lang="en"/>
              <a:t>Bob’s replies are addressed to the same global (IP) address</a:t>
            </a:r>
            <a:endParaRPr/>
          </a:p>
          <a:p>
            <a:pPr indent="-317500" lvl="1" marL="914400" rtl="0" algn="l">
              <a:spcBef>
                <a:spcPts val="0"/>
              </a:spcBef>
              <a:spcAft>
                <a:spcPts val="0"/>
              </a:spcAft>
              <a:buSzPts val="1400"/>
              <a:buChar char="○"/>
            </a:pPr>
            <a:r>
              <a:rPr lang="en"/>
              <a:t>How can we tell which letters are for Alice and which are for Carol?</a:t>
            </a:r>
            <a:endParaRPr/>
          </a:p>
          <a:p>
            <a:pPr indent="-342900" lvl="0" marL="457200" rtl="0" algn="l">
              <a:spcBef>
                <a:spcPts val="0"/>
              </a:spcBef>
              <a:spcAft>
                <a:spcPts val="0"/>
              </a:spcAft>
              <a:buSzPts val="1800"/>
              <a:buChar char="●"/>
            </a:pPr>
            <a:r>
              <a:rPr lang="en"/>
              <a:t>Solution: Add a room number (port number) inside the letter</a:t>
            </a:r>
            <a:endParaRPr/>
          </a:p>
          <a:p>
            <a:pPr indent="-317500" lvl="1" marL="914400" rtl="0" algn="l">
              <a:spcBef>
                <a:spcPts val="0"/>
              </a:spcBef>
              <a:spcAft>
                <a:spcPts val="0"/>
              </a:spcAft>
              <a:buSzPts val="1400"/>
              <a:buChar char="○"/>
            </a:pPr>
            <a:r>
              <a:rPr lang="en"/>
              <a:t>In private homes, usually a port number is meaningless</a:t>
            </a:r>
            <a:endParaRPr/>
          </a:p>
          <a:p>
            <a:pPr indent="-317500" lvl="1" marL="914400" rtl="0" algn="l">
              <a:spcBef>
                <a:spcPts val="0"/>
              </a:spcBef>
              <a:spcAft>
                <a:spcPts val="0"/>
              </a:spcAft>
              <a:buSzPts val="1400"/>
              <a:buChar char="○"/>
            </a:pPr>
            <a:r>
              <a:rPr lang="en"/>
              <a:t>But, in public offices (servers), like Cory Hall, the port numbers are constant and known</a:t>
            </a:r>
            <a:endParaRPr/>
          </a:p>
        </p:txBody>
      </p:sp>
      <p:sp>
        <p:nvSpPr>
          <p:cNvPr id="199" name="Google Shape;19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Ports</a:t>
            </a:r>
            <a:endParaRPr/>
          </a:p>
        </p:txBody>
      </p:sp>
      <p:sp>
        <p:nvSpPr>
          <p:cNvPr id="205" name="Google Shape;205;p30"/>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Ports</a:t>
            </a:r>
            <a:r>
              <a:rPr lang="en"/>
              <a:t> help us distinguish between different applications on the same computer or server</a:t>
            </a:r>
            <a:endParaRPr/>
          </a:p>
          <a:p>
            <a:pPr indent="-317500" lvl="1" marL="914400" rtl="0" algn="l">
              <a:spcBef>
                <a:spcPts val="0"/>
              </a:spcBef>
              <a:spcAft>
                <a:spcPts val="0"/>
              </a:spcAft>
              <a:buSzPts val="1400"/>
              <a:buChar char="○"/>
            </a:pPr>
            <a:r>
              <a:rPr lang="en"/>
              <a:t>On private computers, port numbers can be random</a:t>
            </a:r>
            <a:endParaRPr/>
          </a:p>
          <a:p>
            <a:pPr indent="-317500" lvl="1" marL="914400" rtl="0" algn="l">
              <a:spcBef>
                <a:spcPts val="0"/>
              </a:spcBef>
              <a:spcAft>
                <a:spcPts val="0"/>
              </a:spcAft>
              <a:buSzPts val="1400"/>
              <a:buChar char="○"/>
            </a:pPr>
            <a:r>
              <a:rPr lang="en"/>
              <a:t>On public servers, port numbers should be constant and well-known (so users can access the right port)</a:t>
            </a:r>
            <a:endParaRPr/>
          </a:p>
          <a:p>
            <a:pPr indent="-342900" lvl="0" marL="457200" rtl="0" algn="l">
              <a:spcBef>
                <a:spcPts val="0"/>
              </a:spcBef>
              <a:spcAft>
                <a:spcPts val="0"/>
              </a:spcAft>
              <a:buSzPts val="1800"/>
              <a:buChar char="●"/>
            </a:pPr>
            <a:r>
              <a:rPr lang="en"/>
              <a:t>Remember: TCP is built on top of IP, so the IP header (and therefore the IP address) is still present</a:t>
            </a:r>
            <a:endParaRPr/>
          </a:p>
        </p:txBody>
      </p:sp>
      <p:sp>
        <p:nvSpPr>
          <p:cNvPr id="206" name="Google Shape;206;p30"/>
          <p:cNvSpPr/>
          <p:nvPr/>
        </p:nvSpPr>
        <p:spPr>
          <a:xfrm>
            <a:off x="5465925" y="2352950"/>
            <a:ext cx="3605400" cy="1298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IP Header: send to: 1.2.3.4</a:t>
            </a:r>
            <a:endParaRPr/>
          </a:p>
        </p:txBody>
      </p:sp>
      <p:sp>
        <p:nvSpPr>
          <p:cNvPr id="207" name="Google Shape;207;p30"/>
          <p:cNvSpPr/>
          <p:nvPr/>
        </p:nvSpPr>
        <p:spPr>
          <a:xfrm>
            <a:off x="5661056" y="2746225"/>
            <a:ext cx="3175200" cy="832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TCP Header: send to: port 80</a:t>
            </a:r>
            <a:endParaRPr>
              <a:solidFill>
                <a:schemeClr val="dk1"/>
              </a:solidFill>
            </a:endParaRPr>
          </a:p>
          <a:p>
            <a:pPr indent="0" lvl="0" marL="0" rtl="0" algn="l">
              <a:spcBef>
                <a:spcPts val="0"/>
              </a:spcBef>
              <a:spcAft>
                <a:spcPts val="0"/>
              </a:spcAft>
              <a:buNone/>
            </a:pPr>
            <a:r>
              <a:t/>
            </a:r>
            <a:endParaRPr/>
          </a:p>
        </p:txBody>
      </p:sp>
      <p:sp>
        <p:nvSpPr>
          <p:cNvPr id="208" name="Google Shape;208;p30"/>
          <p:cNvSpPr txBox="1"/>
          <p:nvPr/>
        </p:nvSpPr>
        <p:spPr>
          <a:xfrm>
            <a:off x="5954633" y="3110825"/>
            <a:ext cx="2502300" cy="4002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I am hungry.</a:t>
            </a:r>
            <a:endParaRPr/>
          </a:p>
        </p:txBody>
      </p:sp>
      <p:sp>
        <p:nvSpPr>
          <p:cNvPr id="209" name="Google Shape;20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3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Establishing Sequence Numbers</a:t>
            </a:r>
            <a:endParaRPr/>
          </a:p>
        </p:txBody>
      </p:sp>
      <p:sp>
        <p:nvSpPr>
          <p:cNvPr id="216" name="Google Shape;216;p31"/>
          <p:cNvSpPr txBox="1"/>
          <p:nvPr>
            <p:ph idx="1" type="body"/>
          </p:nvPr>
        </p:nvSpPr>
        <p:spPr>
          <a:xfrm>
            <a:off x="198500" y="1246825"/>
            <a:ext cx="8686500" cy="203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Each TCP connection requires two sets of sequence numbers</a:t>
            </a:r>
            <a:endParaRPr/>
          </a:p>
          <a:p>
            <a:pPr indent="-317500" lvl="1" marL="914400" rtl="0" algn="l">
              <a:spcBef>
                <a:spcPts val="0"/>
              </a:spcBef>
              <a:spcAft>
                <a:spcPts val="0"/>
              </a:spcAft>
              <a:buSzPts val="1400"/>
              <a:buChar char="○"/>
            </a:pPr>
            <a:r>
              <a:rPr lang="en"/>
              <a:t>One sequence number for messages from the client to the server</a:t>
            </a:r>
            <a:endParaRPr/>
          </a:p>
          <a:p>
            <a:pPr indent="-317500" lvl="1" marL="914400" rtl="0" algn="l">
              <a:spcBef>
                <a:spcPts val="0"/>
              </a:spcBef>
              <a:spcAft>
                <a:spcPts val="0"/>
              </a:spcAft>
              <a:buSzPts val="1400"/>
              <a:buChar char="○"/>
            </a:pPr>
            <a:r>
              <a:rPr lang="en"/>
              <a:t>One sequence number for messages from the server to the client</a:t>
            </a:r>
            <a:endParaRPr/>
          </a:p>
          <a:p>
            <a:pPr indent="-342900" lvl="0" marL="457200" rtl="0" algn="l">
              <a:spcBef>
                <a:spcPts val="0"/>
              </a:spcBef>
              <a:spcAft>
                <a:spcPts val="0"/>
              </a:spcAft>
              <a:buSzPts val="1800"/>
              <a:buChar char="●"/>
            </a:pPr>
            <a:r>
              <a:rPr lang="en"/>
              <a:t>Before starting a TCP connection, the client and server must agree on two </a:t>
            </a:r>
            <a:r>
              <a:rPr b="1" lang="en"/>
              <a:t>initial sequence numbers</a:t>
            </a:r>
            <a:r>
              <a:rPr lang="en"/>
              <a:t> (ISNs)</a:t>
            </a:r>
            <a:endParaRPr/>
          </a:p>
          <a:p>
            <a:pPr indent="-317500" lvl="1" marL="914400" rtl="0" algn="l">
              <a:spcBef>
                <a:spcPts val="0"/>
              </a:spcBef>
              <a:spcAft>
                <a:spcPts val="0"/>
              </a:spcAft>
              <a:buSzPts val="1400"/>
              <a:buChar char="○"/>
            </a:pPr>
            <a:r>
              <a:rPr lang="en"/>
              <a:t>The ISNs are different and random for every connection (for </a:t>
            </a:r>
            <a:r>
              <a:rPr lang="en"/>
              <a:t>security</a:t>
            </a:r>
            <a:r>
              <a:rPr lang="en"/>
              <a:t> reasons, as we’ll see soon)</a:t>
            </a:r>
            <a:endParaRPr/>
          </a:p>
        </p:txBody>
      </p:sp>
      <p:graphicFrame>
        <p:nvGraphicFramePr>
          <p:cNvPr id="217" name="Google Shape;217;p31"/>
          <p:cNvGraphicFramePr/>
          <p:nvPr/>
        </p:nvGraphicFramePr>
        <p:xfrm>
          <a:off x="635100" y="3189500"/>
          <a:ext cx="3000000" cy="3000000"/>
        </p:xfrm>
        <a:graphic>
          <a:graphicData uri="http://schemas.openxmlformats.org/drawingml/2006/table">
            <a:tbl>
              <a:tblPr>
                <a:noFill/>
                <a:tableStyleId>{5BF6B63E-E3AB-4D18-9801-6EFA9DE13B71}</a:tableStyleId>
              </a:tblPr>
              <a:tblGrid>
                <a:gridCol w="382850"/>
                <a:gridCol w="382850"/>
                <a:gridCol w="382850"/>
                <a:gridCol w="382850"/>
                <a:gridCol w="382850"/>
                <a:gridCol w="382850"/>
                <a:gridCol w="382850"/>
                <a:gridCol w="382850"/>
                <a:gridCol w="382850"/>
                <a:gridCol w="382850"/>
                <a:gridCol w="382850"/>
                <a:gridCol w="382850"/>
              </a:tblGrid>
              <a:tr h="365725">
                <a:tc>
                  <a:txBody>
                    <a:bodyPr/>
                    <a:lstStyle/>
                    <a:p>
                      <a:pPr indent="0" lvl="0" marL="0" rtl="0" algn="ctr">
                        <a:spcBef>
                          <a:spcPts val="0"/>
                        </a:spcBef>
                        <a:spcAft>
                          <a:spcPts val="0"/>
                        </a:spcAft>
                        <a:buNone/>
                      </a:pPr>
                      <a:r>
                        <a:rPr b="1" lang="en" sz="1200">
                          <a:latin typeface="Courier New"/>
                          <a:ea typeface="Courier New"/>
                          <a:cs typeface="Courier New"/>
                          <a:sym typeface="Courier New"/>
                        </a:rPr>
                        <a:t>H</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e</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l</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l</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o</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s</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e</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r</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v</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e</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r</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r>
              <a:tr h="365725">
                <a:tc>
                  <a:txBody>
                    <a:bodyPr/>
                    <a:lstStyle/>
                    <a:p>
                      <a:pPr indent="0" lvl="0" marL="0" rtl="0" algn="ctr">
                        <a:spcBef>
                          <a:spcPts val="0"/>
                        </a:spcBef>
                        <a:spcAft>
                          <a:spcPts val="0"/>
                        </a:spcAft>
                        <a:buNone/>
                      </a:pPr>
                      <a:r>
                        <a:rPr b="1" lang="en" sz="1200">
                          <a:latin typeface="Courier New"/>
                          <a:ea typeface="Courier New"/>
                          <a:cs typeface="Courier New"/>
                          <a:sym typeface="Courier New"/>
                        </a:rPr>
                        <a:t>50</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51</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52</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53</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54</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55</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56</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57</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58</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59</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60</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61</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18" name="Google Shape;218;p31"/>
          <p:cNvGraphicFramePr/>
          <p:nvPr/>
        </p:nvGraphicFramePr>
        <p:xfrm>
          <a:off x="635100" y="4169500"/>
          <a:ext cx="3000000" cy="3000000"/>
        </p:xfrm>
        <a:graphic>
          <a:graphicData uri="http://schemas.openxmlformats.org/drawingml/2006/table">
            <a:tbl>
              <a:tblPr>
                <a:noFill/>
                <a:tableStyleId>{5BF6B63E-E3AB-4D18-9801-6EFA9DE13B71}</a:tableStyleId>
              </a:tblPr>
              <a:tblGrid>
                <a:gridCol w="382850"/>
                <a:gridCol w="382850"/>
                <a:gridCol w="382850"/>
                <a:gridCol w="382850"/>
                <a:gridCol w="382850"/>
                <a:gridCol w="382850"/>
                <a:gridCol w="382850"/>
                <a:gridCol w="382850"/>
                <a:gridCol w="382850"/>
                <a:gridCol w="382850"/>
                <a:gridCol w="382850"/>
                <a:gridCol w="382850"/>
              </a:tblGrid>
              <a:tr h="365725">
                <a:tc>
                  <a:txBody>
                    <a:bodyPr/>
                    <a:lstStyle/>
                    <a:p>
                      <a:pPr indent="0" lvl="0" marL="0" rtl="0" algn="ctr">
                        <a:spcBef>
                          <a:spcPts val="0"/>
                        </a:spcBef>
                        <a:spcAft>
                          <a:spcPts val="0"/>
                        </a:spcAft>
                        <a:buNone/>
                      </a:pPr>
                      <a:r>
                        <a:rPr b="1" lang="en" sz="1200">
                          <a:latin typeface="Courier New"/>
                          <a:ea typeface="Courier New"/>
                          <a:cs typeface="Courier New"/>
                          <a:sym typeface="Courier New"/>
                        </a:rPr>
                        <a:t>H</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e</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l</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l</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o</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c</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l</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i</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e</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n</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t</a:t>
                      </a:r>
                      <a:endParaRPr b="1" sz="12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tcPr>
                </a:tc>
              </a:tr>
              <a:tr h="365725">
                <a:tc>
                  <a:txBody>
                    <a:bodyPr/>
                    <a:lstStyle/>
                    <a:p>
                      <a:pPr indent="0" lvl="0" marL="0" rtl="0" algn="ctr">
                        <a:spcBef>
                          <a:spcPts val="0"/>
                        </a:spcBef>
                        <a:spcAft>
                          <a:spcPts val="0"/>
                        </a:spcAft>
                        <a:buNone/>
                      </a:pPr>
                      <a:r>
                        <a:rPr b="1" lang="en" sz="1200">
                          <a:latin typeface="Courier New"/>
                          <a:ea typeface="Courier New"/>
                          <a:cs typeface="Courier New"/>
                          <a:sym typeface="Courier New"/>
                        </a:rPr>
                        <a:t>25</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26</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27</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28</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29</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30</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31</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32</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33</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34</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35</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1200">
                          <a:latin typeface="Courier New"/>
                          <a:ea typeface="Courier New"/>
                          <a:cs typeface="Courier New"/>
                          <a:sym typeface="Courier New"/>
                        </a:rPr>
                        <a:t>36</a:t>
                      </a:r>
                      <a:endParaRPr b="1" sz="12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19" name="Google Shape;219;p31"/>
          <p:cNvSpPr txBox="1"/>
          <p:nvPr/>
        </p:nvSpPr>
        <p:spPr>
          <a:xfrm>
            <a:off x="5558175" y="3254275"/>
            <a:ext cx="25854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Messages from the client are numbered starting at 50.</a:t>
            </a:r>
            <a:endParaRPr/>
          </a:p>
        </p:txBody>
      </p:sp>
      <p:sp>
        <p:nvSpPr>
          <p:cNvPr id="220" name="Google Shape;220;p31"/>
          <p:cNvSpPr txBox="1"/>
          <p:nvPr/>
        </p:nvSpPr>
        <p:spPr>
          <a:xfrm>
            <a:off x="5558175" y="4234275"/>
            <a:ext cx="25854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Messages from the server are numbered starting at 25.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6" name="Google Shape;226;p3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3-Way Handshake</a:t>
            </a:r>
            <a:endParaRPr/>
          </a:p>
        </p:txBody>
      </p:sp>
      <p:sp>
        <p:nvSpPr>
          <p:cNvPr id="227" name="Google Shape;227;p32"/>
          <p:cNvSpPr txBox="1"/>
          <p:nvPr>
            <p:ph idx="4294967295" type="body"/>
          </p:nvPr>
        </p:nvSpPr>
        <p:spPr>
          <a:xfrm>
            <a:off x="198500" y="1246825"/>
            <a:ext cx="5142600" cy="1006500"/>
          </a:xfrm>
          <a:prstGeom prst="rect">
            <a:avLst/>
          </a:prstGeom>
        </p:spPr>
        <p:txBody>
          <a:bodyPr anchorCtr="0" anchor="t" bIns="0" lIns="91425" spcFirstLastPara="1" rIns="91425" wrap="square" tIns="91425">
            <a:spAutoFit/>
          </a:bodyPr>
          <a:lstStyle/>
          <a:p>
            <a:pPr indent="-342900" lvl="0" marL="457200" rtl="0" algn="l">
              <a:spcBef>
                <a:spcPts val="0"/>
              </a:spcBef>
              <a:spcAft>
                <a:spcPts val="0"/>
              </a:spcAft>
              <a:buSzPts val="1800"/>
              <a:buAutoNum type="arabicPeriod"/>
            </a:pPr>
            <a:r>
              <a:rPr lang="en"/>
              <a:t>Client</a:t>
            </a:r>
            <a:r>
              <a:rPr lang="en"/>
              <a:t> chooses an initial sequence number </a:t>
            </a:r>
            <a:r>
              <a:rPr i="1" lang="en"/>
              <a:t>x</a:t>
            </a:r>
            <a:r>
              <a:rPr lang="en"/>
              <a:t> for bytes it will send and sends a SYN (synchronize) packet to the server</a:t>
            </a:r>
            <a:endParaRPr/>
          </a:p>
        </p:txBody>
      </p:sp>
      <p:sp>
        <p:nvSpPr>
          <p:cNvPr id="228" name="Google Shape;228;p32"/>
          <p:cNvSpPr txBox="1"/>
          <p:nvPr/>
        </p:nvSpPr>
        <p:spPr>
          <a:xfrm>
            <a:off x="5424000" y="1170025"/>
            <a:ext cx="751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0000FF"/>
                </a:solidFill>
              </a:rPr>
              <a:t>Client</a:t>
            </a:r>
            <a:endParaRPr>
              <a:solidFill>
                <a:srgbClr val="0000FF"/>
              </a:solidFill>
            </a:endParaRPr>
          </a:p>
        </p:txBody>
      </p:sp>
      <p:sp>
        <p:nvSpPr>
          <p:cNvPr id="229" name="Google Shape;229;p32"/>
          <p:cNvSpPr txBox="1"/>
          <p:nvPr/>
        </p:nvSpPr>
        <p:spPr>
          <a:xfrm>
            <a:off x="8339100" y="1170025"/>
            <a:ext cx="751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38761D"/>
                </a:solidFill>
              </a:rPr>
              <a:t>Server</a:t>
            </a:r>
            <a:endParaRPr>
              <a:solidFill>
                <a:srgbClr val="38761D"/>
              </a:solidFill>
            </a:endParaRPr>
          </a:p>
        </p:txBody>
      </p:sp>
      <p:cxnSp>
        <p:nvCxnSpPr>
          <p:cNvPr id="230" name="Google Shape;230;p32"/>
          <p:cNvCxnSpPr>
            <a:stCxn id="228" idx="2"/>
          </p:cNvCxnSpPr>
          <p:nvPr/>
        </p:nvCxnSpPr>
        <p:spPr>
          <a:xfrm flipH="1">
            <a:off x="5790600" y="1570225"/>
            <a:ext cx="9300" cy="3093000"/>
          </a:xfrm>
          <a:prstGeom prst="straightConnector1">
            <a:avLst/>
          </a:prstGeom>
          <a:noFill/>
          <a:ln cap="flat" cmpd="sng" w="19050">
            <a:solidFill>
              <a:srgbClr val="0000FF"/>
            </a:solidFill>
            <a:prstDash val="solid"/>
            <a:round/>
            <a:headEnd len="med" w="med" type="none"/>
            <a:tailEnd len="med" w="med" type="none"/>
          </a:ln>
        </p:spPr>
      </p:cxnSp>
      <p:cxnSp>
        <p:nvCxnSpPr>
          <p:cNvPr id="231" name="Google Shape;231;p32"/>
          <p:cNvCxnSpPr>
            <a:stCxn id="229" idx="2"/>
          </p:cNvCxnSpPr>
          <p:nvPr/>
        </p:nvCxnSpPr>
        <p:spPr>
          <a:xfrm flipH="1">
            <a:off x="8710200" y="1570225"/>
            <a:ext cx="4800" cy="3093000"/>
          </a:xfrm>
          <a:prstGeom prst="straightConnector1">
            <a:avLst/>
          </a:prstGeom>
          <a:noFill/>
          <a:ln cap="flat" cmpd="sng" w="19050">
            <a:solidFill>
              <a:srgbClr val="38761D"/>
            </a:solidFill>
            <a:prstDash val="solid"/>
            <a:round/>
            <a:headEnd len="med" w="med" type="none"/>
            <a:tailEnd len="med" w="med" type="none"/>
          </a:ln>
        </p:spPr>
      </p:cxnSp>
      <p:grpSp>
        <p:nvGrpSpPr>
          <p:cNvPr id="232" name="Google Shape;232;p32"/>
          <p:cNvGrpSpPr/>
          <p:nvPr/>
        </p:nvGrpSpPr>
        <p:grpSpPr>
          <a:xfrm>
            <a:off x="5804918" y="1604246"/>
            <a:ext cx="2917800" cy="577200"/>
            <a:chOff x="5804918" y="1604246"/>
            <a:chExt cx="2917800" cy="577200"/>
          </a:xfrm>
        </p:grpSpPr>
        <p:cxnSp>
          <p:nvCxnSpPr>
            <p:cNvPr id="233" name="Google Shape;233;p32"/>
            <p:cNvCxnSpPr/>
            <p:nvPr/>
          </p:nvCxnSpPr>
          <p:spPr>
            <a:xfrm>
              <a:off x="5804918" y="1830150"/>
              <a:ext cx="2917800" cy="343800"/>
            </a:xfrm>
            <a:prstGeom prst="straightConnector1">
              <a:avLst/>
            </a:prstGeom>
            <a:noFill/>
            <a:ln cap="flat" cmpd="sng" w="19050">
              <a:solidFill>
                <a:srgbClr val="0000FF"/>
              </a:solidFill>
              <a:prstDash val="solid"/>
              <a:round/>
              <a:headEnd len="med" w="med" type="none"/>
              <a:tailEnd len="med" w="med" type="triangle"/>
            </a:ln>
          </p:spPr>
        </p:cxnSp>
        <p:sp>
          <p:nvSpPr>
            <p:cNvPr id="234" name="Google Shape;234;p32"/>
            <p:cNvSpPr txBox="1"/>
            <p:nvPr/>
          </p:nvSpPr>
          <p:spPr>
            <a:xfrm rot="439803">
              <a:off x="6539652" y="1692754"/>
              <a:ext cx="1403772" cy="400185"/>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0000FF"/>
                  </a:solidFill>
                </a:rPr>
                <a:t>SYN. Seq = </a:t>
              </a:r>
              <a:r>
                <a:rPr i="1" lang="en">
                  <a:solidFill>
                    <a:srgbClr val="0000FF"/>
                  </a:solidFill>
                </a:rPr>
                <a:t>x</a:t>
              </a:r>
              <a:endParaRPr i="1">
                <a:solidFill>
                  <a:srgbClr val="0000FF"/>
                </a:solidFill>
              </a:endParaRPr>
            </a:p>
          </p:txBody>
        </p:sp>
      </p:grpSp>
      <p:grpSp>
        <p:nvGrpSpPr>
          <p:cNvPr id="235" name="Google Shape;235;p32"/>
          <p:cNvGrpSpPr/>
          <p:nvPr/>
        </p:nvGrpSpPr>
        <p:grpSpPr>
          <a:xfrm>
            <a:off x="5792854" y="2161113"/>
            <a:ext cx="2929800" cy="795600"/>
            <a:chOff x="5792854" y="2161113"/>
            <a:chExt cx="2929800" cy="795600"/>
          </a:xfrm>
        </p:grpSpPr>
        <p:cxnSp>
          <p:nvCxnSpPr>
            <p:cNvPr id="236" name="Google Shape;236;p32"/>
            <p:cNvCxnSpPr/>
            <p:nvPr/>
          </p:nvCxnSpPr>
          <p:spPr>
            <a:xfrm flipH="1">
              <a:off x="5792854" y="2416325"/>
              <a:ext cx="2929800" cy="453900"/>
            </a:xfrm>
            <a:prstGeom prst="straightConnector1">
              <a:avLst/>
            </a:prstGeom>
            <a:noFill/>
            <a:ln cap="flat" cmpd="sng" w="19050">
              <a:solidFill>
                <a:srgbClr val="38761D"/>
              </a:solidFill>
              <a:prstDash val="solid"/>
              <a:round/>
              <a:headEnd len="med" w="med" type="none"/>
              <a:tailEnd len="med" w="med" type="triangle"/>
            </a:ln>
          </p:spPr>
        </p:cxnSp>
        <p:sp>
          <p:nvSpPr>
            <p:cNvPr id="237" name="Google Shape;237;p32"/>
            <p:cNvSpPr txBox="1"/>
            <p:nvPr/>
          </p:nvSpPr>
          <p:spPr>
            <a:xfrm rot="-526451">
              <a:off x="5892519" y="2358777"/>
              <a:ext cx="2611765" cy="400273"/>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38761D"/>
                  </a:solidFill>
                </a:rPr>
                <a:t>SYN-ACK. Seq = </a:t>
              </a:r>
              <a:r>
                <a:rPr i="1" lang="en">
                  <a:solidFill>
                    <a:srgbClr val="38761D"/>
                  </a:solidFill>
                </a:rPr>
                <a:t>y</a:t>
              </a:r>
              <a:r>
                <a:rPr lang="en">
                  <a:solidFill>
                    <a:srgbClr val="38761D"/>
                  </a:solidFill>
                </a:rPr>
                <a:t>, Ack = </a:t>
              </a:r>
              <a:r>
                <a:rPr i="1" lang="en">
                  <a:solidFill>
                    <a:srgbClr val="38761D"/>
                  </a:solidFill>
                </a:rPr>
                <a:t>x</a:t>
              </a:r>
              <a:r>
                <a:rPr lang="en">
                  <a:solidFill>
                    <a:srgbClr val="38761D"/>
                  </a:solidFill>
                </a:rPr>
                <a:t>+1</a:t>
              </a:r>
              <a:endParaRPr>
                <a:solidFill>
                  <a:srgbClr val="38761D"/>
                </a:solidFill>
              </a:endParaRPr>
            </a:p>
          </p:txBody>
        </p:sp>
      </p:grpSp>
      <p:grpSp>
        <p:nvGrpSpPr>
          <p:cNvPr id="238" name="Google Shape;238;p32"/>
          <p:cNvGrpSpPr/>
          <p:nvPr/>
        </p:nvGrpSpPr>
        <p:grpSpPr>
          <a:xfrm>
            <a:off x="5804918" y="2924275"/>
            <a:ext cx="2917800" cy="711600"/>
            <a:chOff x="5804918" y="2924275"/>
            <a:chExt cx="2917800" cy="711600"/>
          </a:xfrm>
        </p:grpSpPr>
        <p:cxnSp>
          <p:nvCxnSpPr>
            <p:cNvPr id="239" name="Google Shape;239;p32"/>
            <p:cNvCxnSpPr/>
            <p:nvPr/>
          </p:nvCxnSpPr>
          <p:spPr>
            <a:xfrm>
              <a:off x="5804918" y="3201750"/>
              <a:ext cx="2917800" cy="343800"/>
            </a:xfrm>
            <a:prstGeom prst="straightConnector1">
              <a:avLst/>
            </a:prstGeom>
            <a:noFill/>
            <a:ln cap="flat" cmpd="sng" w="19050">
              <a:solidFill>
                <a:srgbClr val="0000FF"/>
              </a:solidFill>
              <a:prstDash val="solid"/>
              <a:round/>
              <a:headEnd len="med" w="med" type="none"/>
              <a:tailEnd len="med" w="med" type="triangle"/>
            </a:ln>
          </p:spPr>
        </p:cxnSp>
        <p:sp>
          <p:nvSpPr>
            <p:cNvPr id="240" name="Google Shape;240;p32"/>
            <p:cNvSpPr txBox="1"/>
            <p:nvPr/>
          </p:nvSpPr>
          <p:spPr>
            <a:xfrm rot="439840">
              <a:off x="6134284" y="3079967"/>
              <a:ext cx="2456983" cy="400216"/>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0000FF"/>
                  </a:solidFill>
                </a:rPr>
                <a:t>ACK. Seq = </a:t>
              </a:r>
              <a:r>
                <a:rPr i="1" lang="en">
                  <a:solidFill>
                    <a:srgbClr val="0000FF"/>
                  </a:solidFill>
                </a:rPr>
                <a:t>x</a:t>
              </a:r>
              <a:r>
                <a:rPr lang="en">
                  <a:solidFill>
                    <a:srgbClr val="0000FF"/>
                  </a:solidFill>
                </a:rPr>
                <a:t>+1, Ack = </a:t>
              </a:r>
              <a:r>
                <a:rPr i="1" lang="en">
                  <a:solidFill>
                    <a:srgbClr val="0000FF"/>
                  </a:solidFill>
                </a:rPr>
                <a:t>y</a:t>
              </a:r>
              <a:r>
                <a:rPr lang="en">
                  <a:solidFill>
                    <a:srgbClr val="0000FF"/>
                  </a:solidFill>
                </a:rPr>
                <a:t>+1</a:t>
              </a:r>
              <a:endParaRPr>
                <a:solidFill>
                  <a:srgbClr val="0000FF"/>
                </a:solidFill>
              </a:endParaRPr>
            </a:p>
          </p:txBody>
        </p:sp>
      </p:grpSp>
      <p:sp>
        <p:nvSpPr>
          <p:cNvPr id="241" name="Google Shape;241;p32"/>
          <p:cNvSpPr txBox="1"/>
          <p:nvPr>
            <p:ph idx="4294967295" type="body"/>
          </p:nvPr>
        </p:nvSpPr>
        <p:spPr>
          <a:xfrm>
            <a:off x="198500" y="2253325"/>
            <a:ext cx="5142600" cy="1006500"/>
          </a:xfrm>
          <a:prstGeom prst="rect">
            <a:avLst/>
          </a:prstGeom>
        </p:spPr>
        <p:txBody>
          <a:bodyPr anchorCtr="0" anchor="t" bIns="0" lIns="91425" spcFirstLastPara="1" rIns="91425" wrap="square" tIns="91425">
            <a:spAutoFit/>
          </a:bodyPr>
          <a:lstStyle/>
          <a:p>
            <a:pPr indent="-342900" lvl="0" marL="457200" rtl="0" algn="l">
              <a:spcBef>
                <a:spcPts val="0"/>
              </a:spcBef>
              <a:spcAft>
                <a:spcPts val="0"/>
              </a:spcAft>
              <a:buSzPts val="1800"/>
              <a:buAutoNum type="arabicPeriod" startAt="2"/>
            </a:pPr>
            <a:r>
              <a:rPr lang="en"/>
              <a:t>Server chooses an</a:t>
            </a:r>
            <a:r>
              <a:rPr lang="en"/>
              <a:t> initial sequence number </a:t>
            </a:r>
            <a:r>
              <a:rPr i="1" lang="en"/>
              <a:t>y</a:t>
            </a:r>
            <a:r>
              <a:rPr lang="en"/>
              <a:t> for bytes it will send and responds with a SYN-ACK packet</a:t>
            </a:r>
            <a:endParaRPr/>
          </a:p>
        </p:txBody>
      </p:sp>
      <p:sp>
        <p:nvSpPr>
          <p:cNvPr id="242" name="Google Shape;242;p32"/>
          <p:cNvSpPr txBox="1"/>
          <p:nvPr>
            <p:ph idx="4294967295" type="body"/>
          </p:nvPr>
        </p:nvSpPr>
        <p:spPr>
          <a:xfrm>
            <a:off x="198500" y="3259825"/>
            <a:ext cx="5142600" cy="369300"/>
          </a:xfrm>
          <a:prstGeom prst="rect">
            <a:avLst/>
          </a:prstGeom>
        </p:spPr>
        <p:txBody>
          <a:bodyPr anchorCtr="0" anchor="t" bIns="0" lIns="91425" spcFirstLastPara="1" rIns="91425" wrap="square" tIns="91425">
            <a:spAutoFit/>
          </a:bodyPr>
          <a:lstStyle/>
          <a:p>
            <a:pPr indent="-342900" lvl="0" marL="457200" rtl="0" algn="l">
              <a:spcBef>
                <a:spcPts val="0"/>
              </a:spcBef>
              <a:spcAft>
                <a:spcPts val="0"/>
              </a:spcAft>
              <a:buSzPts val="1800"/>
              <a:buAutoNum type="arabicPeriod" startAt="3"/>
            </a:pPr>
            <a:r>
              <a:rPr lang="en"/>
              <a:t>Client</a:t>
            </a:r>
            <a:r>
              <a:rPr lang="en"/>
              <a:t> then returns with an ACK packet</a:t>
            </a:r>
            <a:endParaRPr/>
          </a:p>
        </p:txBody>
      </p:sp>
      <p:sp>
        <p:nvSpPr>
          <p:cNvPr id="243" name="Google Shape;243;p32"/>
          <p:cNvSpPr txBox="1"/>
          <p:nvPr>
            <p:ph idx="4294967295" type="body"/>
          </p:nvPr>
        </p:nvSpPr>
        <p:spPr>
          <a:xfrm>
            <a:off x="198500" y="3629125"/>
            <a:ext cx="5142600" cy="1006500"/>
          </a:xfrm>
          <a:prstGeom prst="rect">
            <a:avLst/>
          </a:prstGeom>
        </p:spPr>
        <p:txBody>
          <a:bodyPr anchorCtr="0" anchor="t" bIns="0" lIns="91425" spcFirstLastPara="1" rIns="91425" wrap="square" tIns="91425">
            <a:spAutoFit/>
          </a:bodyPr>
          <a:lstStyle/>
          <a:p>
            <a:pPr indent="-342900" lvl="0" marL="457200" rtl="0" algn="l">
              <a:spcBef>
                <a:spcPts val="0"/>
              </a:spcBef>
              <a:spcAft>
                <a:spcPts val="0"/>
              </a:spcAft>
              <a:buSzPts val="1800"/>
              <a:buAutoNum type="arabicPeriod" startAt="4"/>
            </a:pPr>
            <a:r>
              <a:rPr lang="en"/>
              <a:t>Once both hosts have synchronized sequence numbers, the connection is “established”</a:t>
            </a:r>
            <a:endParaRPr/>
          </a:p>
        </p:txBody>
      </p:sp>
      <p:grpSp>
        <p:nvGrpSpPr>
          <p:cNvPr id="244" name="Google Shape;244;p32"/>
          <p:cNvGrpSpPr/>
          <p:nvPr/>
        </p:nvGrpSpPr>
        <p:grpSpPr>
          <a:xfrm>
            <a:off x="5798929" y="3688603"/>
            <a:ext cx="2929800" cy="821400"/>
            <a:chOff x="5798929" y="3688603"/>
            <a:chExt cx="2929800" cy="821400"/>
          </a:xfrm>
        </p:grpSpPr>
        <p:cxnSp>
          <p:nvCxnSpPr>
            <p:cNvPr id="245" name="Google Shape;245;p32"/>
            <p:cNvCxnSpPr/>
            <p:nvPr/>
          </p:nvCxnSpPr>
          <p:spPr>
            <a:xfrm flipH="1">
              <a:off x="5798929" y="3969313"/>
              <a:ext cx="2929800" cy="453900"/>
            </a:xfrm>
            <a:prstGeom prst="straightConnector1">
              <a:avLst/>
            </a:prstGeom>
            <a:noFill/>
            <a:ln cap="flat" cmpd="sng" w="19050">
              <a:solidFill>
                <a:srgbClr val="38761D"/>
              </a:solidFill>
              <a:prstDash val="solid"/>
              <a:round/>
              <a:headEnd len="med" w="med" type="none"/>
              <a:tailEnd len="med" w="med" type="triangle"/>
            </a:ln>
          </p:spPr>
        </p:cxnSp>
        <p:sp>
          <p:nvSpPr>
            <p:cNvPr id="246" name="Google Shape;246;p32"/>
            <p:cNvSpPr txBox="1"/>
            <p:nvPr/>
          </p:nvSpPr>
          <p:spPr>
            <a:xfrm rot="-526548">
              <a:off x="5897313" y="3899055"/>
              <a:ext cx="2778427" cy="400497"/>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38761D"/>
                  </a:solidFill>
                </a:rPr>
                <a:t>Data</a:t>
              </a:r>
              <a:endParaRPr>
                <a:solidFill>
                  <a:srgbClr val="38761D"/>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Sending and Receiving Data</a:t>
            </a:r>
            <a:endParaRPr/>
          </a:p>
        </p:txBody>
      </p:sp>
      <p:sp>
        <p:nvSpPr>
          <p:cNvPr id="252" name="Google Shape;252;p3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TCP handlers on each side track which TCP segments have been received for each connection</a:t>
            </a:r>
            <a:endParaRPr/>
          </a:p>
          <a:p>
            <a:pPr indent="-317500" lvl="1" marL="914400" rtl="0" algn="l">
              <a:spcBef>
                <a:spcPts val="0"/>
              </a:spcBef>
              <a:spcAft>
                <a:spcPts val="0"/>
              </a:spcAft>
              <a:buSzPts val="1400"/>
              <a:buChar char="○"/>
            </a:pPr>
            <a:r>
              <a:rPr lang="en"/>
              <a:t>A connection is identified by these 5 values (sometimes called a 5-tuple)</a:t>
            </a:r>
            <a:endParaRPr/>
          </a:p>
          <a:p>
            <a:pPr indent="-317500" lvl="2" marL="1371600" rtl="0" algn="l">
              <a:spcBef>
                <a:spcPts val="0"/>
              </a:spcBef>
              <a:spcAft>
                <a:spcPts val="0"/>
              </a:spcAft>
              <a:buSzPts val="1400"/>
              <a:buChar char="■"/>
            </a:pPr>
            <a:r>
              <a:rPr lang="en"/>
              <a:t>Source IP</a:t>
            </a:r>
            <a:endParaRPr/>
          </a:p>
          <a:p>
            <a:pPr indent="-317500" lvl="2" marL="1371600" rtl="0" algn="l">
              <a:spcBef>
                <a:spcPts val="0"/>
              </a:spcBef>
              <a:spcAft>
                <a:spcPts val="0"/>
              </a:spcAft>
              <a:buSzPts val="1400"/>
              <a:buChar char="■"/>
            </a:pPr>
            <a:r>
              <a:rPr lang="en"/>
              <a:t>Destination IP</a:t>
            </a:r>
            <a:endParaRPr/>
          </a:p>
          <a:p>
            <a:pPr indent="-317500" lvl="2" marL="1371600" rtl="0" algn="l">
              <a:spcBef>
                <a:spcPts val="0"/>
              </a:spcBef>
              <a:spcAft>
                <a:spcPts val="0"/>
              </a:spcAft>
              <a:buSzPts val="1400"/>
              <a:buChar char="■"/>
            </a:pPr>
            <a:r>
              <a:rPr lang="en"/>
              <a:t>Source Port</a:t>
            </a:r>
            <a:endParaRPr/>
          </a:p>
          <a:p>
            <a:pPr indent="-317500" lvl="2" marL="1371600" rtl="0" algn="l">
              <a:spcBef>
                <a:spcPts val="0"/>
              </a:spcBef>
              <a:spcAft>
                <a:spcPts val="0"/>
              </a:spcAft>
              <a:buSzPts val="1400"/>
              <a:buChar char="■"/>
            </a:pPr>
            <a:r>
              <a:rPr lang="en"/>
              <a:t>Destination Port</a:t>
            </a:r>
            <a:endParaRPr/>
          </a:p>
          <a:p>
            <a:pPr indent="-317500" lvl="2" marL="1371600" rtl="0" algn="l">
              <a:spcBef>
                <a:spcPts val="0"/>
              </a:spcBef>
              <a:spcAft>
                <a:spcPts val="0"/>
              </a:spcAft>
              <a:buSzPts val="1400"/>
              <a:buChar char="■"/>
            </a:pPr>
            <a:r>
              <a:rPr lang="en"/>
              <a:t>Protocol (TCP)</a:t>
            </a:r>
            <a:endParaRPr/>
          </a:p>
          <a:p>
            <a:pPr indent="-342900" lvl="0" marL="457200" rtl="0" algn="l">
              <a:spcBef>
                <a:spcPts val="0"/>
              </a:spcBef>
              <a:spcAft>
                <a:spcPts val="0"/>
              </a:spcAft>
              <a:buSzPts val="1800"/>
              <a:buChar char="●"/>
            </a:pPr>
            <a:r>
              <a:rPr lang="en"/>
              <a:t>Data from the bytestream can be presented to the application when all data before has been received and presented</a:t>
            </a:r>
            <a:endParaRPr/>
          </a:p>
          <a:p>
            <a:pPr indent="-317500" lvl="1" marL="914400" rtl="0" algn="l">
              <a:spcBef>
                <a:spcPts val="0"/>
              </a:spcBef>
              <a:spcAft>
                <a:spcPts val="0"/>
              </a:spcAft>
              <a:buSzPts val="1400"/>
              <a:buChar char="○"/>
            </a:pPr>
            <a:r>
              <a:rPr lang="en"/>
              <a:t>Recall: TCP presents data to the application as a bytestream, so the order must be preserved from one end to the other, even if packets are received out of order</a:t>
            </a:r>
            <a:endParaRPr/>
          </a:p>
        </p:txBody>
      </p:sp>
      <p:sp>
        <p:nvSpPr>
          <p:cNvPr id="253" name="Google Shape;25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Sending and Receiving Data</a:t>
            </a:r>
            <a:endParaRPr/>
          </a:p>
        </p:txBody>
      </p:sp>
      <p:sp>
        <p:nvSpPr>
          <p:cNvPr id="259" name="Google Shape;259;p3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Byte </a:t>
            </a:r>
            <a:r>
              <a:rPr i="1" lang="en"/>
              <a:t>i</a:t>
            </a:r>
            <a:r>
              <a:rPr lang="en"/>
              <a:t> of the bytestream is represented by sequence number </a:t>
            </a:r>
            <a:r>
              <a:rPr i="1" lang="en"/>
              <a:t>x</a:t>
            </a:r>
            <a:r>
              <a:rPr lang="en"/>
              <a:t> + </a:t>
            </a:r>
            <a:r>
              <a:rPr i="1" lang="en"/>
              <a:t>i</a:t>
            </a:r>
            <a:endParaRPr/>
          </a:p>
          <a:p>
            <a:pPr indent="-317500" lvl="1" marL="914400" rtl="0" algn="l">
              <a:spcBef>
                <a:spcPts val="0"/>
              </a:spcBef>
              <a:spcAft>
                <a:spcPts val="0"/>
              </a:spcAft>
              <a:buSzPts val="1400"/>
              <a:buChar char="○"/>
            </a:pPr>
            <a:r>
              <a:rPr lang="en"/>
              <a:t>The first byte is byte </a:t>
            </a:r>
            <a:r>
              <a:rPr i="1" lang="en"/>
              <a:t>i</a:t>
            </a:r>
            <a:r>
              <a:rPr lang="en"/>
              <a:t> = 1, since sequence number </a:t>
            </a:r>
            <a:r>
              <a:rPr i="1" lang="en"/>
              <a:t>x</a:t>
            </a:r>
            <a:r>
              <a:rPr lang="en"/>
              <a:t> was used for the SYN packet and </a:t>
            </a:r>
            <a:r>
              <a:rPr i="1" lang="en"/>
              <a:t>y</a:t>
            </a:r>
            <a:r>
              <a:rPr lang="en"/>
              <a:t> for the SYN-ACK packet</a:t>
            </a:r>
            <a:endParaRPr/>
          </a:p>
          <a:p>
            <a:pPr indent="-342900" lvl="0" marL="457200" rtl="0" algn="l">
              <a:spcBef>
                <a:spcPts val="0"/>
              </a:spcBef>
              <a:spcAft>
                <a:spcPts val="0"/>
              </a:spcAft>
              <a:buSzPts val="1800"/>
              <a:buChar char="●"/>
            </a:pPr>
            <a:r>
              <a:rPr lang="en"/>
              <a:t>A packet’s sequence number is the </a:t>
            </a:r>
            <a:r>
              <a:rPr lang="en"/>
              <a:t>sequence</a:t>
            </a:r>
            <a:r>
              <a:rPr lang="en"/>
              <a:t> number of the first byte of its data</a:t>
            </a:r>
            <a:endParaRPr/>
          </a:p>
          <a:p>
            <a:pPr indent="-317500" lvl="1" marL="914400" rtl="0" algn="l">
              <a:spcBef>
                <a:spcPts val="0"/>
              </a:spcBef>
              <a:spcAft>
                <a:spcPts val="0"/>
              </a:spcAft>
              <a:buSzPts val="1400"/>
              <a:buChar char="○"/>
            </a:pPr>
            <a:r>
              <a:rPr lang="en"/>
              <a:t>This number is from the sender’s set of sequence numbers</a:t>
            </a:r>
            <a:endParaRPr/>
          </a:p>
          <a:p>
            <a:pPr indent="-342900" lvl="0" marL="457200" rtl="0" algn="l">
              <a:spcBef>
                <a:spcPts val="0"/>
              </a:spcBef>
              <a:spcAft>
                <a:spcPts val="0"/>
              </a:spcAft>
              <a:buSzPts val="1800"/>
              <a:buChar char="●"/>
            </a:pPr>
            <a:r>
              <a:rPr lang="en"/>
              <a:t>A packet’s ACK number, if the ACK flag is set, is the </a:t>
            </a:r>
            <a:r>
              <a:rPr lang="en"/>
              <a:t>sequence</a:t>
            </a:r>
            <a:r>
              <a:rPr lang="en"/>
              <a:t> number of the byte immediately after the last received byte</a:t>
            </a:r>
            <a:endParaRPr/>
          </a:p>
          <a:p>
            <a:pPr indent="-317500" lvl="1" marL="914400" rtl="0" algn="l">
              <a:spcBef>
                <a:spcPts val="0"/>
              </a:spcBef>
              <a:spcAft>
                <a:spcPts val="0"/>
              </a:spcAft>
              <a:buSzPts val="1400"/>
              <a:buChar char="○"/>
            </a:pPr>
            <a:r>
              <a:rPr lang="en"/>
              <a:t>This number is from the set of sequence numbers from the party who sent the data</a:t>
            </a:r>
            <a:endParaRPr/>
          </a:p>
          <a:p>
            <a:pPr indent="-317500" lvl="1" marL="914400" rtl="0" algn="l">
              <a:spcBef>
                <a:spcPts val="0"/>
              </a:spcBef>
              <a:spcAft>
                <a:spcPts val="0"/>
              </a:spcAft>
              <a:buSzPts val="1400"/>
              <a:buChar char="○"/>
            </a:pPr>
            <a:r>
              <a:rPr lang="en"/>
              <a:t>This would be (sequence number) + (length of data) for the last received packet</a:t>
            </a:r>
            <a:endParaRPr/>
          </a:p>
        </p:txBody>
      </p:sp>
      <p:sp>
        <p:nvSpPr>
          <p:cNvPr id="260" name="Google Shape;260;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Sending and Receiving Data</a:t>
            </a:r>
            <a:endParaRPr/>
          </a:p>
        </p:txBody>
      </p:sp>
      <p:sp>
        <p:nvSpPr>
          <p:cNvPr id="266" name="Google Shape;266;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7" name="Google Shape;267;p35"/>
          <p:cNvSpPr txBox="1"/>
          <p:nvPr/>
        </p:nvSpPr>
        <p:spPr>
          <a:xfrm>
            <a:off x="2396375" y="1361525"/>
            <a:ext cx="64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Client</a:t>
            </a:r>
            <a:endParaRPr>
              <a:solidFill>
                <a:srgbClr val="0000FF"/>
              </a:solidFill>
            </a:endParaRPr>
          </a:p>
        </p:txBody>
      </p:sp>
      <p:sp>
        <p:nvSpPr>
          <p:cNvPr id="268" name="Google Shape;268;p35"/>
          <p:cNvSpPr txBox="1"/>
          <p:nvPr/>
        </p:nvSpPr>
        <p:spPr>
          <a:xfrm>
            <a:off x="5615625" y="1361525"/>
            <a:ext cx="71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Server</a:t>
            </a:r>
            <a:endParaRPr>
              <a:solidFill>
                <a:srgbClr val="38761D"/>
              </a:solidFill>
            </a:endParaRPr>
          </a:p>
        </p:txBody>
      </p:sp>
      <p:cxnSp>
        <p:nvCxnSpPr>
          <p:cNvPr id="269" name="Google Shape;269;p35"/>
          <p:cNvCxnSpPr>
            <a:stCxn id="267" idx="2"/>
          </p:cNvCxnSpPr>
          <p:nvPr/>
        </p:nvCxnSpPr>
        <p:spPr>
          <a:xfrm flipH="1">
            <a:off x="2709125" y="1761725"/>
            <a:ext cx="10500" cy="3093000"/>
          </a:xfrm>
          <a:prstGeom prst="straightConnector1">
            <a:avLst/>
          </a:prstGeom>
          <a:noFill/>
          <a:ln cap="flat" cmpd="sng" w="19050">
            <a:solidFill>
              <a:srgbClr val="0000FF"/>
            </a:solidFill>
            <a:prstDash val="solid"/>
            <a:round/>
            <a:headEnd len="med" w="med" type="none"/>
            <a:tailEnd len="med" w="med" type="none"/>
          </a:ln>
        </p:spPr>
      </p:cxnSp>
      <p:cxnSp>
        <p:nvCxnSpPr>
          <p:cNvPr id="270" name="Google Shape;270;p35"/>
          <p:cNvCxnSpPr/>
          <p:nvPr/>
        </p:nvCxnSpPr>
        <p:spPr>
          <a:xfrm flipH="1">
            <a:off x="5967375" y="1761725"/>
            <a:ext cx="10500" cy="3093000"/>
          </a:xfrm>
          <a:prstGeom prst="straightConnector1">
            <a:avLst/>
          </a:prstGeom>
          <a:noFill/>
          <a:ln cap="flat" cmpd="sng" w="19050">
            <a:solidFill>
              <a:srgbClr val="38761D"/>
            </a:solidFill>
            <a:prstDash val="solid"/>
            <a:round/>
            <a:headEnd len="med" w="med" type="none"/>
            <a:tailEnd len="med" w="med" type="none"/>
          </a:ln>
        </p:spPr>
      </p:cxnSp>
      <p:grpSp>
        <p:nvGrpSpPr>
          <p:cNvPr id="271" name="Google Shape;271;p35"/>
          <p:cNvGrpSpPr/>
          <p:nvPr/>
        </p:nvGrpSpPr>
        <p:grpSpPr>
          <a:xfrm>
            <a:off x="2707848" y="1699000"/>
            <a:ext cx="3288427" cy="703800"/>
            <a:chOff x="2707848" y="1699000"/>
            <a:chExt cx="3288427" cy="703800"/>
          </a:xfrm>
        </p:grpSpPr>
        <p:cxnSp>
          <p:nvCxnSpPr>
            <p:cNvPr id="272" name="Google Shape;272;p35"/>
            <p:cNvCxnSpPr/>
            <p:nvPr/>
          </p:nvCxnSpPr>
          <p:spPr>
            <a:xfrm>
              <a:off x="2736775" y="2021650"/>
              <a:ext cx="3259500" cy="343800"/>
            </a:xfrm>
            <a:prstGeom prst="straightConnector1">
              <a:avLst/>
            </a:prstGeom>
            <a:noFill/>
            <a:ln cap="flat" cmpd="sng" w="19050">
              <a:solidFill>
                <a:srgbClr val="0000FF"/>
              </a:solidFill>
              <a:prstDash val="solid"/>
              <a:round/>
              <a:headEnd len="med" w="med" type="none"/>
              <a:tailEnd len="med" w="med" type="triangle"/>
            </a:ln>
          </p:spPr>
        </p:cxnSp>
        <p:sp>
          <p:nvSpPr>
            <p:cNvPr id="273" name="Google Shape;273;p35"/>
            <p:cNvSpPr txBox="1"/>
            <p:nvPr/>
          </p:nvSpPr>
          <p:spPr>
            <a:xfrm rot="394242">
              <a:off x="2716651" y="1881640"/>
              <a:ext cx="3211596" cy="33851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FF"/>
                  </a:solidFill>
                </a:rPr>
                <a:t>ACK. Seq = </a:t>
              </a:r>
              <a:r>
                <a:rPr i="1" lang="en" sz="1000">
                  <a:solidFill>
                    <a:srgbClr val="0000FF"/>
                  </a:solidFill>
                </a:rPr>
                <a:t>x</a:t>
              </a:r>
              <a:r>
                <a:rPr lang="en" sz="1000">
                  <a:solidFill>
                    <a:srgbClr val="0000FF"/>
                  </a:solidFill>
                </a:rPr>
                <a:t>+1, Ack = </a:t>
              </a:r>
              <a:r>
                <a:rPr i="1" lang="en" sz="1000">
                  <a:solidFill>
                    <a:srgbClr val="0000FF"/>
                  </a:solidFill>
                </a:rPr>
                <a:t>y</a:t>
              </a:r>
              <a:r>
                <a:rPr lang="en" sz="1000">
                  <a:solidFill>
                    <a:srgbClr val="0000FF"/>
                  </a:solidFill>
                </a:rPr>
                <a:t>+1. Data, length </a:t>
              </a:r>
              <a:r>
                <a:rPr i="1" lang="en" sz="1000">
                  <a:solidFill>
                    <a:srgbClr val="0000FF"/>
                  </a:solidFill>
                </a:rPr>
                <a:t>A</a:t>
              </a:r>
              <a:r>
                <a:rPr lang="en" sz="1000">
                  <a:solidFill>
                    <a:srgbClr val="0000FF"/>
                  </a:solidFill>
                </a:rPr>
                <a:t> </a:t>
              </a:r>
              <a:endParaRPr sz="1000">
                <a:solidFill>
                  <a:srgbClr val="0000FF"/>
                </a:solidFill>
              </a:endParaRPr>
            </a:p>
          </p:txBody>
        </p:sp>
      </p:grpSp>
      <p:grpSp>
        <p:nvGrpSpPr>
          <p:cNvPr id="274" name="Google Shape;274;p35"/>
          <p:cNvGrpSpPr/>
          <p:nvPr/>
        </p:nvGrpSpPr>
        <p:grpSpPr>
          <a:xfrm>
            <a:off x="2723175" y="2266505"/>
            <a:ext cx="3273000" cy="743700"/>
            <a:chOff x="2723175" y="2266505"/>
            <a:chExt cx="3273000" cy="743700"/>
          </a:xfrm>
        </p:grpSpPr>
        <p:cxnSp>
          <p:nvCxnSpPr>
            <p:cNvPr id="275" name="Google Shape;275;p35"/>
            <p:cNvCxnSpPr/>
            <p:nvPr/>
          </p:nvCxnSpPr>
          <p:spPr>
            <a:xfrm flipH="1">
              <a:off x="2723175" y="2531625"/>
              <a:ext cx="3273000" cy="453900"/>
            </a:xfrm>
            <a:prstGeom prst="straightConnector1">
              <a:avLst/>
            </a:prstGeom>
            <a:noFill/>
            <a:ln cap="flat" cmpd="sng" w="19050">
              <a:solidFill>
                <a:srgbClr val="38761D"/>
              </a:solidFill>
              <a:prstDash val="solid"/>
              <a:round/>
              <a:headEnd len="med" w="med" type="none"/>
              <a:tailEnd len="med" w="med" type="triangle"/>
            </a:ln>
          </p:spPr>
        </p:cxnSp>
        <p:sp>
          <p:nvSpPr>
            <p:cNvPr id="276" name="Google Shape;276;p35"/>
            <p:cNvSpPr txBox="1"/>
            <p:nvPr/>
          </p:nvSpPr>
          <p:spPr>
            <a:xfrm rot="-471777">
              <a:off x="2833270" y="2469051"/>
              <a:ext cx="2984560" cy="338608"/>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1000">
                  <a:solidFill>
                    <a:srgbClr val="38761D"/>
                  </a:solidFill>
                </a:rPr>
                <a:t>ACK. Seq = y+1, Ack = x+1+</a:t>
              </a:r>
              <a:r>
                <a:rPr i="1" lang="en" sz="1000">
                  <a:solidFill>
                    <a:srgbClr val="38761D"/>
                  </a:solidFill>
                </a:rPr>
                <a:t>A</a:t>
              </a:r>
              <a:r>
                <a:rPr lang="en" sz="1000">
                  <a:solidFill>
                    <a:srgbClr val="38761D"/>
                  </a:solidFill>
                </a:rPr>
                <a:t>. Data, length </a:t>
              </a:r>
              <a:r>
                <a:rPr i="1" lang="en" sz="1000">
                  <a:solidFill>
                    <a:srgbClr val="38761D"/>
                  </a:solidFill>
                </a:rPr>
                <a:t>B</a:t>
              </a:r>
              <a:endParaRPr i="1" sz="1000">
                <a:solidFill>
                  <a:srgbClr val="38761D"/>
                </a:solidFill>
              </a:endParaRPr>
            </a:p>
          </p:txBody>
        </p:sp>
      </p:grpSp>
      <p:grpSp>
        <p:nvGrpSpPr>
          <p:cNvPr id="277" name="Google Shape;277;p35"/>
          <p:cNvGrpSpPr/>
          <p:nvPr/>
        </p:nvGrpSpPr>
        <p:grpSpPr>
          <a:xfrm>
            <a:off x="2715099" y="2919049"/>
            <a:ext cx="3281176" cy="694200"/>
            <a:chOff x="2715099" y="2919049"/>
            <a:chExt cx="3281176" cy="694200"/>
          </a:xfrm>
        </p:grpSpPr>
        <p:cxnSp>
          <p:nvCxnSpPr>
            <p:cNvPr id="278" name="Google Shape;278;p35"/>
            <p:cNvCxnSpPr/>
            <p:nvPr/>
          </p:nvCxnSpPr>
          <p:spPr>
            <a:xfrm>
              <a:off x="2736775" y="3240850"/>
              <a:ext cx="3259500" cy="343800"/>
            </a:xfrm>
            <a:prstGeom prst="straightConnector1">
              <a:avLst/>
            </a:prstGeom>
            <a:noFill/>
            <a:ln cap="flat" cmpd="sng" w="19050">
              <a:solidFill>
                <a:srgbClr val="0000FF"/>
              </a:solidFill>
              <a:prstDash val="solid"/>
              <a:round/>
              <a:headEnd len="med" w="med" type="none"/>
              <a:tailEnd len="med" w="med" type="triangle"/>
            </a:ln>
          </p:spPr>
        </p:cxnSp>
        <p:sp>
          <p:nvSpPr>
            <p:cNvPr id="279" name="Google Shape;279;p35"/>
            <p:cNvSpPr txBox="1"/>
            <p:nvPr/>
          </p:nvSpPr>
          <p:spPr>
            <a:xfrm rot="394211">
              <a:off x="2724178" y="3096889"/>
              <a:ext cx="3127943" cy="33851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FF"/>
                  </a:solidFill>
                </a:rPr>
                <a:t>ACK. Seq = </a:t>
              </a:r>
              <a:r>
                <a:rPr i="1" lang="en" sz="1000">
                  <a:solidFill>
                    <a:srgbClr val="0000FF"/>
                  </a:solidFill>
                </a:rPr>
                <a:t>x</a:t>
              </a:r>
              <a:r>
                <a:rPr lang="en" sz="1000">
                  <a:solidFill>
                    <a:srgbClr val="0000FF"/>
                  </a:solidFill>
                </a:rPr>
                <a:t>+1+</a:t>
              </a:r>
              <a:r>
                <a:rPr i="1" lang="en" sz="1000">
                  <a:solidFill>
                    <a:srgbClr val="0000FF"/>
                  </a:solidFill>
                </a:rPr>
                <a:t>A</a:t>
              </a:r>
              <a:r>
                <a:rPr lang="en" sz="1000">
                  <a:solidFill>
                    <a:srgbClr val="0000FF"/>
                  </a:solidFill>
                </a:rPr>
                <a:t>, Ack = </a:t>
              </a:r>
              <a:r>
                <a:rPr i="1" lang="en" sz="1000">
                  <a:solidFill>
                    <a:srgbClr val="0000FF"/>
                  </a:solidFill>
                </a:rPr>
                <a:t>y</a:t>
              </a:r>
              <a:r>
                <a:rPr lang="en" sz="1000">
                  <a:solidFill>
                    <a:srgbClr val="0000FF"/>
                  </a:solidFill>
                </a:rPr>
                <a:t>+1+</a:t>
              </a:r>
              <a:r>
                <a:rPr i="1" lang="en" sz="1000">
                  <a:solidFill>
                    <a:srgbClr val="0000FF"/>
                  </a:solidFill>
                </a:rPr>
                <a:t>B</a:t>
              </a:r>
              <a:r>
                <a:rPr lang="en" sz="1000">
                  <a:solidFill>
                    <a:srgbClr val="0000FF"/>
                  </a:solidFill>
                </a:rPr>
                <a:t>. Data, length </a:t>
              </a:r>
              <a:r>
                <a:rPr i="1" lang="en" sz="1000">
                  <a:solidFill>
                    <a:srgbClr val="0000FF"/>
                  </a:solidFill>
                </a:rPr>
                <a:t>C</a:t>
              </a:r>
              <a:r>
                <a:rPr lang="en" sz="1000">
                  <a:solidFill>
                    <a:srgbClr val="0000FF"/>
                  </a:solidFill>
                </a:rPr>
                <a:t> </a:t>
              </a:r>
              <a:endParaRPr sz="1100">
                <a:solidFill>
                  <a:srgbClr val="0000FF"/>
                </a:solidFill>
              </a:endParaRPr>
            </a:p>
          </p:txBody>
        </p:sp>
      </p:grpSp>
      <p:grpSp>
        <p:nvGrpSpPr>
          <p:cNvPr id="280" name="Google Shape;280;p35"/>
          <p:cNvGrpSpPr/>
          <p:nvPr/>
        </p:nvGrpSpPr>
        <p:grpSpPr>
          <a:xfrm>
            <a:off x="2665074" y="3615948"/>
            <a:ext cx="3331101" cy="787800"/>
            <a:chOff x="2665074" y="3615948"/>
            <a:chExt cx="3331101" cy="787800"/>
          </a:xfrm>
        </p:grpSpPr>
        <p:cxnSp>
          <p:nvCxnSpPr>
            <p:cNvPr id="281" name="Google Shape;281;p35"/>
            <p:cNvCxnSpPr/>
            <p:nvPr/>
          </p:nvCxnSpPr>
          <p:spPr>
            <a:xfrm flipH="1">
              <a:off x="2723175" y="3903225"/>
              <a:ext cx="3273000" cy="453900"/>
            </a:xfrm>
            <a:prstGeom prst="straightConnector1">
              <a:avLst/>
            </a:prstGeom>
            <a:noFill/>
            <a:ln cap="flat" cmpd="sng" w="19050">
              <a:solidFill>
                <a:srgbClr val="38761D"/>
              </a:solidFill>
              <a:prstDash val="solid"/>
              <a:round/>
              <a:headEnd len="med" w="med" type="none"/>
              <a:tailEnd len="med" w="med" type="triangle"/>
            </a:ln>
          </p:spPr>
        </p:cxnSp>
        <p:sp>
          <p:nvSpPr>
            <p:cNvPr id="282" name="Google Shape;282;p35"/>
            <p:cNvSpPr txBox="1"/>
            <p:nvPr/>
          </p:nvSpPr>
          <p:spPr>
            <a:xfrm rot="-471582">
              <a:off x="2672635" y="3840565"/>
              <a:ext cx="3308278" cy="338567"/>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38761D"/>
                  </a:solidFill>
                </a:rPr>
                <a:t>ACK. Seq = </a:t>
              </a:r>
              <a:r>
                <a:rPr i="1" lang="en" sz="1000">
                  <a:solidFill>
                    <a:srgbClr val="38761D"/>
                  </a:solidFill>
                </a:rPr>
                <a:t>y</a:t>
              </a:r>
              <a:r>
                <a:rPr lang="en" sz="1000">
                  <a:solidFill>
                    <a:srgbClr val="38761D"/>
                  </a:solidFill>
                </a:rPr>
                <a:t>+1+</a:t>
              </a:r>
              <a:r>
                <a:rPr i="1" lang="en" sz="1000">
                  <a:solidFill>
                    <a:srgbClr val="38761D"/>
                  </a:solidFill>
                </a:rPr>
                <a:t>B</a:t>
              </a:r>
              <a:r>
                <a:rPr lang="en" sz="1000">
                  <a:solidFill>
                    <a:srgbClr val="38761D"/>
                  </a:solidFill>
                </a:rPr>
                <a:t>, Ack = </a:t>
              </a:r>
              <a:r>
                <a:rPr i="1" lang="en" sz="1000">
                  <a:solidFill>
                    <a:srgbClr val="38761D"/>
                  </a:solidFill>
                </a:rPr>
                <a:t>x</a:t>
              </a:r>
              <a:r>
                <a:rPr lang="en" sz="1000">
                  <a:solidFill>
                    <a:srgbClr val="38761D"/>
                  </a:solidFill>
                </a:rPr>
                <a:t>+1+</a:t>
              </a:r>
              <a:r>
                <a:rPr i="1" lang="en" sz="1000">
                  <a:solidFill>
                    <a:srgbClr val="38761D"/>
                  </a:solidFill>
                </a:rPr>
                <a:t>A</a:t>
              </a:r>
              <a:r>
                <a:rPr lang="en" sz="1000">
                  <a:solidFill>
                    <a:srgbClr val="38761D"/>
                  </a:solidFill>
                </a:rPr>
                <a:t>+</a:t>
              </a:r>
              <a:r>
                <a:rPr i="1" lang="en" sz="1000">
                  <a:solidFill>
                    <a:srgbClr val="38761D"/>
                  </a:solidFill>
                </a:rPr>
                <a:t>C</a:t>
              </a:r>
              <a:r>
                <a:rPr lang="en" sz="1000">
                  <a:solidFill>
                    <a:srgbClr val="38761D"/>
                  </a:solidFill>
                </a:rPr>
                <a:t>. Data, length </a:t>
              </a:r>
              <a:r>
                <a:rPr i="1" lang="en" sz="1000">
                  <a:solidFill>
                    <a:srgbClr val="38761D"/>
                  </a:solidFill>
                </a:rPr>
                <a:t>D</a:t>
              </a:r>
              <a:r>
                <a:rPr lang="en" sz="1000">
                  <a:solidFill>
                    <a:srgbClr val="38761D"/>
                  </a:solidFill>
                </a:rPr>
                <a:t> </a:t>
              </a:r>
              <a:endParaRPr sz="1000">
                <a:solidFill>
                  <a:srgbClr val="38761D"/>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Retransmission</a:t>
            </a:r>
            <a:endParaRPr/>
          </a:p>
        </p:txBody>
      </p:sp>
      <p:sp>
        <p:nvSpPr>
          <p:cNvPr id="288" name="Google Shape;288;p3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If a packet is </a:t>
            </a:r>
            <a:r>
              <a:rPr lang="en"/>
              <a:t>dropped</a:t>
            </a:r>
            <a:r>
              <a:rPr lang="en"/>
              <a:t> (lost in transit):</a:t>
            </a:r>
            <a:endParaRPr/>
          </a:p>
          <a:p>
            <a:pPr indent="-317500" lvl="1" marL="914400" rtl="0" algn="l">
              <a:spcBef>
                <a:spcPts val="0"/>
              </a:spcBef>
              <a:spcAft>
                <a:spcPts val="0"/>
              </a:spcAft>
              <a:buSzPts val="1400"/>
              <a:buChar char="○"/>
            </a:pPr>
            <a:r>
              <a:rPr lang="en"/>
              <a:t>T</a:t>
            </a:r>
            <a:r>
              <a:rPr lang="en"/>
              <a:t>he recipient will not send an ACK, so the sender will not receive the ACK</a:t>
            </a:r>
            <a:endParaRPr/>
          </a:p>
          <a:p>
            <a:pPr indent="-317500" lvl="1" marL="914400" rtl="0" algn="l">
              <a:spcBef>
                <a:spcPts val="0"/>
              </a:spcBef>
              <a:spcAft>
                <a:spcPts val="0"/>
              </a:spcAft>
              <a:buSzPts val="1400"/>
              <a:buChar char="○"/>
            </a:pPr>
            <a:r>
              <a:rPr lang="en"/>
              <a:t>The sender repeatedly tries to send the packet again until it receives the ACK</a:t>
            </a:r>
            <a:endParaRPr/>
          </a:p>
          <a:p>
            <a:pPr indent="-342900" lvl="0" marL="457200" rtl="0" algn="l">
              <a:spcBef>
                <a:spcPts val="0"/>
              </a:spcBef>
              <a:spcAft>
                <a:spcPts val="0"/>
              </a:spcAft>
              <a:buSzPts val="1800"/>
              <a:buChar char="●"/>
            </a:pPr>
            <a:r>
              <a:rPr lang="en"/>
              <a:t>If a packet is </a:t>
            </a:r>
            <a:r>
              <a:rPr lang="en"/>
              <a:t>received</a:t>
            </a:r>
            <a:r>
              <a:rPr lang="en"/>
              <a:t>, but the ACK is dropped:</a:t>
            </a:r>
            <a:endParaRPr/>
          </a:p>
          <a:p>
            <a:pPr indent="-317500" lvl="1" marL="914400" rtl="0" algn="l">
              <a:spcBef>
                <a:spcPts val="0"/>
              </a:spcBef>
              <a:spcAft>
                <a:spcPts val="0"/>
              </a:spcAft>
              <a:buSzPts val="1400"/>
              <a:buChar char="○"/>
            </a:pPr>
            <a:r>
              <a:rPr lang="en"/>
              <a:t>The sender tries to send the packet again since it didn’t </a:t>
            </a:r>
            <a:r>
              <a:rPr lang="en"/>
              <a:t>receive</a:t>
            </a:r>
            <a:r>
              <a:rPr lang="en"/>
              <a:t> the ACK</a:t>
            </a:r>
            <a:endParaRPr/>
          </a:p>
          <a:p>
            <a:pPr indent="-317500" lvl="1" marL="914400" rtl="0" algn="l">
              <a:spcBef>
                <a:spcPts val="0"/>
              </a:spcBef>
              <a:spcAft>
                <a:spcPts val="0"/>
              </a:spcAft>
              <a:buSzPts val="1400"/>
              <a:buChar char="○"/>
            </a:pPr>
            <a:r>
              <a:rPr lang="en"/>
              <a:t>The recipient ignores the duplicate data and sends the ACK again</a:t>
            </a:r>
            <a:endParaRPr/>
          </a:p>
          <a:p>
            <a:pPr indent="-342900" lvl="0" marL="457200" rtl="0" algn="l">
              <a:spcBef>
                <a:spcPts val="0"/>
              </a:spcBef>
              <a:spcAft>
                <a:spcPts val="0"/>
              </a:spcAft>
              <a:buSzPts val="1800"/>
              <a:buChar char="●"/>
            </a:pPr>
            <a:r>
              <a:rPr lang="en"/>
              <a:t>When packets are dropped in TCP, TCP assumes that there is congestion and sends the data at a slower rate</a:t>
            </a:r>
            <a:endParaRPr/>
          </a:p>
        </p:txBody>
      </p:sp>
      <p:sp>
        <p:nvSpPr>
          <p:cNvPr id="289" name="Google Shape;28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Ending/Aborting a Connection</a:t>
            </a:r>
            <a:endParaRPr/>
          </a:p>
        </p:txBody>
      </p:sp>
      <p:sp>
        <p:nvSpPr>
          <p:cNvPr id="295" name="Google Shape;295;p3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a:t>
            </a:r>
            <a:r>
              <a:rPr b="1" lang="en"/>
              <a:t>end</a:t>
            </a:r>
            <a:r>
              <a:rPr lang="en"/>
              <a:t> a connection</a:t>
            </a:r>
            <a:r>
              <a:rPr lang="en"/>
              <a:t>, one side sends a packet with the FIN (finish) flag set, which should then be acknowledged</a:t>
            </a:r>
            <a:endParaRPr/>
          </a:p>
          <a:p>
            <a:pPr indent="-317500" lvl="1" marL="914400" rtl="0" algn="l">
              <a:spcBef>
                <a:spcPts val="0"/>
              </a:spcBef>
              <a:spcAft>
                <a:spcPts val="0"/>
              </a:spcAft>
              <a:buSzPts val="1400"/>
              <a:buChar char="○"/>
            </a:pPr>
            <a:r>
              <a:rPr lang="en"/>
              <a:t>This means “I will no longer be sending any more packets, but I will continue to receive packets”</a:t>
            </a:r>
            <a:endParaRPr/>
          </a:p>
          <a:p>
            <a:pPr indent="-317500" lvl="1" marL="914400" rtl="0" algn="l">
              <a:spcBef>
                <a:spcPts val="0"/>
              </a:spcBef>
              <a:spcAft>
                <a:spcPts val="0"/>
              </a:spcAft>
              <a:buSzPts val="1400"/>
              <a:buChar char="○"/>
            </a:pPr>
            <a:r>
              <a:rPr lang="en"/>
              <a:t>Once the other side is no longer sending packets, it sends a packet with the FIN flag set</a:t>
            </a:r>
            <a:endParaRPr/>
          </a:p>
          <a:p>
            <a:pPr indent="-342900" lvl="0" marL="457200" rtl="0" algn="l">
              <a:spcBef>
                <a:spcPts val="0"/>
              </a:spcBef>
              <a:spcAft>
                <a:spcPts val="0"/>
              </a:spcAft>
              <a:buSzPts val="1800"/>
              <a:buChar char="●"/>
            </a:pPr>
            <a:r>
              <a:rPr lang="en"/>
              <a:t>To </a:t>
            </a:r>
            <a:r>
              <a:rPr b="1" lang="en"/>
              <a:t>abort</a:t>
            </a:r>
            <a:r>
              <a:rPr lang="en"/>
              <a:t> a connection, one side sends a packet with the RST (reset) flag set</a:t>
            </a:r>
            <a:endParaRPr/>
          </a:p>
          <a:p>
            <a:pPr indent="-317500" lvl="1" marL="914400" rtl="0" algn="l">
              <a:spcBef>
                <a:spcPts val="0"/>
              </a:spcBef>
              <a:spcAft>
                <a:spcPts val="0"/>
              </a:spcAft>
              <a:buSzPts val="1400"/>
              <a:buChar char="○"/>
            </a:pPr>
            <a:r>
              <a:rPr lang="en"/>
              <a:t>This means “I will no longer be sending nor receiving packets on this connection”</a:t>
            </a:r>
            <a:endParaRPr/>
          </a:p>
          <a:p>
            <a:pPr indent="-317500" lvl="1" marL="914400" rtl="0" algn="l">
              <a:spcBef>
                <a:spcPts val="0"/>
              </a:spcBef>
              <a:spcAft>
                <a:spcPts val="0"/>
              </a:spcAft>
              <a:buSzPts val="1400"/>
              <a:buChar char="○"/>
            </a:pPr>
            <a:r>
              <a:rPr lang="en"/>
              <a:t>RST packets are not acknowledged since they usually mean that something went wrong</a:t>
            </a:r>
            <a:endParaRPr/>
          </a:p>
        </p:txBody>
      </p:sp>
      <p:sp>
        <p:nvSpPr>
          <p:cNvPr id="296" name="Google Shape;296;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Flags</a:t>
            </a:r>
            <a:endParaRPr/>
          </a:p>
        </p:txBody>
      </p:sp>
      <p:sp>
        <p:nvSpPr>
          <p:cNvPr id="302" name="Google Shape;302;p3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ACK</a:t>
            </a:r>
            <a:endParaRPr/>
          </a:p>
          <a:p>
            <a:pPr indent="-317500" lvl="1" marL="914400" rtl="0" algn="l">
              <a:spcBef>
                <a:spcPts val="0"/>
              </a:spcBef>
              <a:spcAft>
                <a:spcPts val="0"/>
              </a:spcAft>
              <a:buSzPts val="1400"/>
              <a:buChar char="○"/>
            </a:pPr>
            <a:r>
              <a:rPr lang="en"/>
              <a:t>Indicator that the user is acknowledging the receipt of something (in the ack number)</a:t>
            </a:r>
            <a:endParaRPr/>
          </a:p>
          <a:p>
            <a:pPr indent="-317500" lvl="1" marL="914400" rtl="0" algn="l">
              <a:spcBef>
                <a:spcPts val="0"/>
              </a:spcBef>
              <a:spcAft>
                <a:spcPts val="0"/>
              </a:spcAft>
              <a:buSzPts val="1400"/>
              <a:buChar char="○"/>
            </a:pPr>
            <a:r>
              <a:rPr lang="en"/>
              <a:t>Pretty much always set except the very first packet </a:t>
            </a:r>
            <a:endParaRPr/>
          </a:p>
          <a:p>
            <a:pPr indent="-342900" lvl="0" marL="457200" rtl="0" algn="l">
              <a:spcBef>
                <a:spcPts val="0"/>
              </a:spcBef>
              <a:spcAft>
                <a:spcPts val="0"/>
              </a:spcAft>
              <a:buSzPts val="1800"/>
              <a:buChar char="●"/>
            </a:pPr>
            <a:r>
              <a:rPr lang="en"/>
              <a:t>SYN</a:t>
            </a:r>
            <a:endParaRPr/>
          </a:p>
          <a:p>
            <a:pPr indent="-317500" lvl="1" marL="914400" rtl="0" algn="l">
              <a:spcBef>
                <a:spcPts val="0"/>
              </a:spcBef>
              <a:spcAft>
                <a:spcPts val="0"/>
              </a:spcAft>
              <a:buSzPts val="1400"/>
              <a:buChar char="○"/>
            </a:pPr>
            <a:r>
              <a:rPr lang="en"/>
              <a:t>Indicator of the beginning of the connection</a:t>
            </a:r>
            <a:endParaRPr/>
          </a:p>
          <a:p>
            <a:pPr indent="-342900" lvl="0" marL="457200" rtl="0" algn="l">
              <a:spcBef>
                <a:spcPts val="0"/>
              </a:spcBef>
              <a:spcAft>
                <a:spcPts val="0"/>
              </a:spcAft>
              <a:buSzPts val="1800"/>
              <a:buChar char="●"/>
            </a:pPr>
            <a:r>
              <a:rPr lang="en"/>
              <a:t>FIN</a:t>
            </a:r>
            <a:endParaRPr/>
          </a:p>
          <a:p>
            <a:pPr indent="-317500" lvl="1" marL="914400" rtl="0" algn="l">
              <a:spcBef>
                <a:spcPts val="0"/>
              </a:spcBef>
              <a:spcAft>
                <a:spcPts val="0"/>
              </a:spcAft>
              <a:buSzPts val="1400"/>
              <a:buChar char="○"/>
            </a:pPr>
            <a:r>
              <a:rPr lang="en"/>
              <a:t>One way to end the connection</a:t>
            </a:r>
            <a:endParaRPr/>
          </a:p>
          <a:p>
            <a:pPr indent="-317500" lvl="1" marL="914400" rtl="0" algn="l">
              <a:spcBef>
                <a:spcPts val="0"/>
              </a:spcBef>
              <a:spcAft>
                <a:spcPts val="0"/>
              </a:spcAft>
              <a:buSzPts val="1400"/>
              <a:buChar char="○"/>
            </a:pPr>
            <a:r>
              <a:rPr lang="en"/>
              <a:t>Requires an acknowledgement</a:t>
            </a:r>
            <a:endParaRPr/>
          </a:p>
          <a:p>
            <a:pPr indent="-317500" lvl="1" marL="914400" rtl="0" algn="l">
              <a:spcBef>
                <a:spcPts val="0"/>
              </a:spcBef>
              <a:spcAft>
                <a:spcPts val="0"/>
              </a:spcAft>
              <a:buSzPts val="1400"/>
              <a:buChar char="○"/>
            </a:pPr>
            <a:r>
              <a:rPr lang="en"/>
              <a:t>No longer sending packets, but will continue to receive</a:t>
            </a:r>
            <a:endParaRPr/>
          </a:p>
          <a:p>
            <a:pPr indent="-342900" lvl="0" marL="457200" rtl="0" algn="l">
              <a:spcBef>
                <a:spcPts val="0"/>
              </a:spcBef>
              <a:spcAft>
                <a:spcPts val="0"/>
              </a:spcAft>
              <a:buSzPts val="1800"/>
              <a:buChar char="●"/>
            </a:pPr>
            <a:r>
              <a:rPr lang="en"/>
              <a:t>RST</a:t>
            </a:r>
            <a:endParaRPr/>
          </a:p>
          <a:p>
            <a:pPr indent="-317500" lvl="1" marL="914400" rtl="0" algn="l">
              <a:spcBef>
                <a:spcPts val="0"/>
              </a:spcBef>
              <a:spcAft>
                <a:spcPts val="0"/>
              </a:spcAft>
              <a:buSzPts val="1400"/>
              <a:buChar char="○"/>
            </a:pPr>
            <a:r>
              <a:rPr lang="en"/>
              <a:t>One way to end a connection</a:t>
            </a:r>
            <a:endParaRPr/>
          </a:p>
          <a:p>
            <a:pPr indent="-317500" lvl="1" marL="914400" rtl="0" algn="l">
              <a:spcBef>
                <a:spcPts val="0"/>
              </a:spcBef>
              <a:spcAft>
                <a:spcPts val="0"/>
              </a:spcAft>
              <a:buSzPts val="1400"/>
              <a:buChar char="○"/>
            </a:pPr>
            <a:r>
              <a:rPr lang="en"/>
              <a:t>Does not require an acknowledgement</a:t>
            </a:r>
            <a:endParaRPr/>
          </a:p>
          <a:p>
            <a:pPr indent="-317500" lvl="1" marL="914400" rtl="0" algn="l">
              <a:spcBef>
                <a:spcPts val="0"/>
              </a:spcBef>
              <a:spcAft>
                <a:spcPts val="0"/>
              </a:spcAft>
              <a:buSzPts val="1400"/>
              <a:buChar char="○"/>
            </a:pPr>
            <a:r>
              <a:rPr lang="en"/>
              <a:t>No longer sending or receiving packets</a:t>
            </a:r>
            <a:endParaRPr/>
          </a:p>
        </p:txBody>
      </p:sp>
      <p:sp>
        <p:nvSpPr>
          <p:cNvPr id="303" name="Google Shape;303;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Packet Structure</a:t>
            </a:r>
            <a:endParaRPr/>
          </a:p>
        </p:txBody>
      </p:sp>
      <p:sp>
        <p:nvSpPr>
          <p:cNvPr id="309" name="Google Shape;309;p39"/>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TCP segment header</a:t>
            </a:r>
            <a:endParaRPr/>
          </a:p>
        </p:txBody>
      </p:sp>
      <p:graphicFrame>
        <p:nvGraphicFramePr>
          <p:cNvPr id="310" name="Google Shape;310;p39"/>
          <p:cNvGraphicFramePr/>
          <p:nvPr/>
        </p:nvGraphicFramePr>
        <p:xfrm>
          <a:off x="1032500" y="1203925"/>
          <a:ext cx="3000000" cy="3000000"/>
        </p:xfrm>
        <a:graphic>
          <a:graphicData uri="http://schemas.openxmlformats.org/drawingml/2006/table">
            <a:tbl>
              <a:tblPr>
                <a:noFill/>
                <a:tableStyleId>{5BF6B63E-E3AB-4D18-9801-6EFA9DE13B71}</a:tableStyleId>
              </a:tblPr>
              <a:tblGrid>
                <a:gridCol w="884875"/>
                <a:gridCol w="884875"/>
                <a:gridCol w="884875"/>
                <a:gridCol w="884875"/>
                <a:gridCol w="884875"/>
                <a:gridCol w="884875"/>
                <a:gridCol w="884875"/>
                <a:gridCol w="884875"/>
              </a:tblGrid>
              <a:tr h="133500">
                <a:tc gridSpan="4">
                  <a:txBody>
                    <a:bodyPr/>
                    <a:lstStyle/>
                    <a:p>
                      <a:pPr indent="0" lvl="0" marL="0" rtl="0" algn="ctr">
                        <a:spcBef>
                          <a:spcPts val="0"/>
                        </a:spcBef>
                        <a:spcAft>
                          <a:spcPts val="0"/>
                        </a:spcAft>
                        <a:buNone/>
                      </a:pPr>
                      <a:r>
                        <a:rPr b="1" lang="en" sz="1000"/>
                        <a:t>Source Port (16 bits)</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c hMerge="1"/>
                <a:tc hMerge="1"/>
                <a:tc hMerge="1"/>
                <a:tc gridSpan="4">
                  <a:txBody>
                    <a:bodyPr/>
                    <a:lstStyle/>
                    <a:p>
                      <a:pPr indent="0" lvl="0" marL="0" rtl="0" algn="ctr">
                        <a:spcBef>
                          <a:spcPts val="0"/>
                        </a:spcBef>
                        <a:spcAft>
                          <a:spcPts val="0"/>
                        </a:spcAft>
                        <a:buNone/>
                      </a:pPr>
                      <a:r>
                        <a:rPr b="1" lang="en" sz="1000"/>
                        <a:t>Destination Port (16 bits)</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c hMerge="1"/>
                <a:tc hMerge="1"/>
                <a:tc hMerge="1"/>
              </a:tr>
              <a:tr h="133500">
                <a:tc gridSpan="8">
                  <a:txBody>
                    <a:bodyPr/>
                    <a:lstStyle/>
                    <a:p>
                      <a:pPr indent="0" lvl="0" marL="0" rtl="0" algn="ctr">
                        <a:spcBef>
                          <a:spcPts val="0"/>
                        </a:spcBef>
                        <a:spcAft>
                          <a:spcPts val="0"/>
                        </a:spcAft>
                        <a:buNone/>
                      </a:pPr>
                      <a:r>
                        <a:rPr b="1" lang="en" sz="1000"/>
                        <a:t>Sequence Number (32 bits)</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c hMerge="1"/>
                <a:tc hMerge="1"/>
                <a:tc hMerge="1"/>
                <a:tc hMerge="1"/>
                <a:tc hMerge="1"/>
                <a:tc hMerge="1"/>
                <a:tc hMerge="1"/>
              </a:tr>
              <a:tr h="194200">
                <a:tc gridSpan="8">
                  <a:txBody>
                    <a:bodyPr/>
                    <a:lstStyle/>
                    <a:p>
                      <a:pPr indent="0" lvl="0" marL="0" rtl="0" algn="ctr">
                        <a:spcBef>
                          <a:spcPts val="0"/>
                        </a:spcBef>
                        <a:spcAft>
                          <a:spcPts val="0"/>
                        </a:spcAft>
                        <a:buNone/>
                      </a:pPr>
                      <a:r>
                        <a:rPr b="1" lang="en" sz="1000"/>
                        <a:t>Acknowledgement Number (32 bits)</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c hMerge="1"/>
                <a:tc hMerge="1"/>
                <a:tc hMerge="1"/>
                <a:tc hMerge="1"/>
                <a:tc hMerge="1"/>
                <a:tc hMerge="1"/>
                <a:tc hMerge="1"/>
              </a:tr>
              <a:tr h="194200">
                <a:tc>
                  <a:txBody>
                    <a:bodyPr/>
                    <a:lstStyle/>
                    <a:p>
                      <a:pPr indent="0" lvl="0" marL="0" rtl="0" algn="ctr">
                        <a:spcBef>
                          <a:spcPts val="0"/>
                        </a:spcBef>
                        <a:spcAft>
                          <a:spcPts val="0"/>
                        </a:spcAft>
                        <a:buNone/>
                      </a:pPr>
                      <a:r>
                        <a:rPr b="1" lang="en" sz="1000"/>
                        <a:t>Data Offset (4 bits)</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c gridSpan="3">
                  <a:txBody>
                    <a:bodyPr/>
                    <a:lstStyle/>
                    <a:p>
                      <a:pPr indent="0" lvl="0" marL="0" rtl="0" algn="ctr">
                        <a:spcBef>
                          <a:spcPts val="0"/>
                        </a:spcBef>
                        <a:spcAft>
                          <a:spcPts val="0"/>
                        </a:spcAft>
                        <a:buNone/>
                      </a:pPr>
                      <a:r>
                        <a:rPr b="1" lang="en" sz="1000"/>
                        <a:t>Flags (12 bits)</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c hMerge="1"/>
                <a:tc hMerge="1"/>
                <a:tc gridSpan="4">
                  <a:txBody>
                    <a:bodyPr/>
                    <a:lstStyle/>
                    <a:p>
                      <a:pPr indent="0" lvl="0" marL="0" rtl="0" algn="ctr">
                        <a:spcBef>
                          <a:spcPts val="0"/>
                        </a:spcBef>
                        <a:spcAft>
                          <a:spcPts val="0"/>
                        </a:spcAft>
                        <a:buNone/>
                      </a:pPr>
                      <a:r>
                        <a:rPr b="1" lang="en" sz="1000"/>
                        <a:t>Window Size (16 bits)</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c hMerge="1"/>
                <a:tc hMerge="1"/>
                <a:tc hMerge="1"/>
              </a:tr>
              <a:tr h="194200">
                <a:tc gridSpan="4">
                  <a:txBody>
                    <a:bodyPr/>
                    <a:lstStyle/>
                    <a:p>
                      <a:pPr indent="0" lvl="0" marL="0" rtl="0" algn="ctr">
                        <a:spcBef>
                          <a:spcPts val="0"/>
                        </a:spcBef>
                        <a:spcAft>
                          <a:spcPts val="0"/>
                        </a:spcAft>
                        <a:buNone/>
                      </a:pPr>
                      <a:r>
                        <a:rPr b="1" lang="en" sz="1000"/>
                        <a:t>Checksum (16 bits)</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c hMerge="1"/>
                <a:tc hMerge="1"/>
                <a:tc hMerge="1"/>
                <a:tc gridSpan="4">
                  <a:txBody>
                    <a:bodyPr/>
                    <a:lstStyle/>
                    <a:p>
                      <a:pPr indent="0" lvl="0" marL="0" rtl="0" algn="ctr">
                        <a:spcBef>
                          <a:spcPts val="0"/>
                        </a:spcBef>
                        <a:spcAft>
                          <a:spcPts val="0"/>
                        </a:spcAft>
                        <a:buNone/>
                      </a:pPr>
                      <a:r>
                        <a:rPr b="1" lang="en" sz="1000"/>
                        <a:t>Urgent Pointer (16 bits)</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c hMerge="1"/>
                <a:tc hMerge="1"/>
                <a:tc hMerge="1"/>
              </a:tr>
              <a:tr h="525775">
                <a:tc gridSpan="8">
                  <a:txBody>
                    <a:bodyPr/>
                    <a:lstStyle/>
                    <a:p>
                      <a:pPr indent="0" lvl="0" marL="0" rtl="0" algn="ctr">
                        <a:spcBef>
                          <a:spcPts val="0"/>
                        </a:spcBef>
                        <a:spcAft>
                          <a:spcPts val="0"/>
                        </a:spcAft>
                        <a:buNone/>
                      </a:pPr>
                      <a:r>
                        <a:rPr b="1" lang="en" sz="1000"/>
                        <a:t>Options (variable length)</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9CB9C"/>
                    </a:solidFill>
                  </a:tcPr>
                </a:tc>
                <a:tc hMerge="1"/>
                <a:tc hMerge="1"/>
                <a:tc hMerge="1"/>
                <a:tc hMerge="1"/>
                <a:tc hMerge="1"/>
                <a:tc hMerge="1"/>
                <a:tc hMerge="1"/>
              </a:tr>
              <a:tr h="800075">
                <a:tc gridSpan="8">
                  <a:txBody>
                    <a:bodyPr/>
                    <a:lstStyle/>
                    <a:p>
                      <a:pPr indent="0" lvl="0" marL="0" rtl="0" algn="ctr">
                        <a:spcBef>
                          <a:spcPts val="0"/>
                        </a:spcBef>
                        <a:spcAft>
                          <a:spcPts val="0"/>
                        </a:spcAft>
                        <a:buNone/>
                      </a:pPr>
                      <a:r>
                        <a:rPr b="1" lang="en" sz="1000"/>
                        <a:t>Data (variable length)</a:t>
                      </a:r>
                      <a:endParaRPr b="1" sz="1000"/>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4CCCC"/>
                    </a:solidFill>
                  </a:tcPr>
                </a:tc>
                <a:tc hMerge="1"/>
                <a:tc hMerge="1"/>
                <a:tc hMerge="1"/>
                <a:tc hMerge="1"/>
                <a:tc hMerge="1"/>
                <a:tc hMerge="1"/>
                <a:tc hMerge="1"/>
              </a:tr>
            </a:tbl>
          </a:graphicData>
        </a:graphic>
      </p:graphicFrame>
      <p:sp>
        <p:nvSpPr>
          <p:cNvPr id="311" name="Google Shape;311;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Attacks </a:t>
            </a:r>
            <a:endParaRPr/>
          </a:p>
        </p:txBody>
      </p:sp>
      <p:sp>
        <p:nvSpPr>
          <p:cNvPr id="317" name="Google Shape;317;p4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TCP hijacking</a:t>
            </a:r>
            <a:r>
              <a:rPr lang="en"/>
              <a:t>: Tampering with an existing session to modify or inject data into a connection</a:t>
            </a:r>
            <a:endParaRPr/>
          </a:p>
          <a:p>
            <a:pPr indent="-317500" lvl="1" marL="914400" rtl="0" algn="l">
              <a:spcBef>
                <a:spcPts val="0"/>
              </a:spcBef>
              <a:spcAft>
                <a:spcPts val="0"/>
              </a:spcAft>
              <a:buSzPts val="1400"/>
              <a:buChar char="○"/>
            </a:pPr>
            <a:r>
              <a:rPr b="1" lang="en"/>
              <a:t>Data</a:t>
            </a:r>
            <a:r>
              <a:rPr b="1" lang="en"/>
              <a:t> injection</a:t>
            </a:r>
            <a:r>
              <a:rPr lang="en"/>
              <a:t>: Spoofing packets to inject malicious data into a connection</a:t>
            </a:r>
            <a:endParaRPr/>
          </a:p>
          <a:p>
            <a:pPr indent="-317500" lvl="2" marL="1371600" rtl="0" algn="l">
              <a:spcBef>
                <a:spcPts val="0"/>
              </a:spcBef>
              <a:spcAft>
                <a:spcPts val="0"/>
              </a:spcAft>
              <a:buSzPts val="1400"/>
              <a:buChar char="■"/>
            </a:pPr>
            <a:r>
              <a:rPr lang="en"/>
              <a:t>Need to know: The sender’s sequence number</a:t>
            </a:r>
            <a:endParaRPr/>
          </a:p>
          <a:p>
            <a:pPr indent="-317500" lvl="2" marL="1371600" rtl="0" algn="l">
              <a:spcBef>
                <a:spcPts val="0"/>
              </a:spcBef>
              <a:spcAft>
                <a:spcPts val="0"/>
              </a:spcAft>
              <a:buSzPts val="1400"/>
              <a:buChar char="■"/>
            </a:pPr>
            <a:r>
              <a:rPr lang="en"/>
              <a:t>Easy for MITM and on-path attackers, but off-path attackers must guess 32-bit sequence number (called </a:t>
            </a:r>
            <a:r>
              <a:rPr b="1" lang="en"/>
              <a:t>blind injection/hijacking</a:t>
            </a:r>
            <a:r>
              <a:rPr lang="en"/>
              <a:t>, considered difficult)</a:t>
            </a:r>
            <a:endParaRPr/>
          </a:p>
          <a:p>
            <a:pPr indent="-317500" lvl="2" marL="1371600" rtl="0" algn="l">
              <a:spcBef>
                <a:spcPts val="0"/>
              </a:spcBef>
              <a:spcAft>
                <a:spcPts val="0"/>
              </a:spcAft>
              <a:buSzPts val="1400"/>
              <a:buChar char="■"/>
            </a:pPr>
            <a:r>
              <a:rPr lang="en"/>
              <a:t>For on-path attackers, this becomes a race condition since they must beat the sender</a:t>
            </a:r>
            <a:endParaRPr/>
          </a:p>
          <a:p>
            <a:pPr indent="-317500" lvl="1" marL="914400" rtl="0" algn="l">
              <a:spcBef>
                <a:spcPts val="0"/>
              </a:spcBef>
              <a:spcAft>
                <a:spcPts val="0"/>
              </a:spcAft>
              <a:buSzPts val="1400"/>
              <a:buChar char="○"/>
            </a:pPr>
            <a:r>
              <a:rPr b="1" lang="en"/>
              <a:t>RST injection</a:t>
            </a:r>
            <a:r>
              <a:rPr lang="en"/>
              <a:t>: Spoofing a RST packet to forcibly terminate a connection</a:t>
            </a:r>
            <a:endParaRPr/>
          </a:p>
          <a:p>
            <a:pPr indent="-317500" lvl="2" marL="1371600" rtl="0" algn="l">
              <a:spcBef>
                <a:spcPts val="0"/>
              </a:spcBef>
              <a:spcAft>
                <a:spcPts val="0"/>
              </a:spcAft>
              <a:buSzPts val="1400"/>
              <a:buChar char="■"/>
            </a:pPr>
            <a:r>
              <a:rPr lang="en"/>
              <a:t>Same requirements as packet injection, so easy for on-path and MITM attackers, but hard for off-path attackers</a:t>
            </a:r>
            <a:endParaRPr/>
          </a:p>
          <a:p>
            <a:pPr indent="-317500" lvl="2" marL="1371600" rtl="0" algn="l">
              <a:spcBef>
                <a:spcPts val="0"/>
              </a:spcBef>
              <a:spcAft>
                <a:spcPts val="0"/>
              </a:spcAft>
              <a:buSzPts val="1400"/>
              <a:buChar char="■"/>
            </a:pPr>
            <a:r>
              <a:rPr lang="en"/>
              <a:t>Often used in censorship scenarios to block access to sites</a:t>
            </a:r>
            <a:endParaRPr/>
          </a:p>
        </p:txBody>
      </p:sp>
      <p:sp>
        <p:nvSpPr>
          <p:cNvPr id="318" name="Google Shape;318;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Data Injection</a:t>
            </a:r>
            <a:endParaRPr/>
          </a:p>
        </p:txBody>
      </p:sp>
      <p:sp>
        <p:nvSpPr>
          <p:cNvPr id="324" name="Google Shape;32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41"/>
          <p:cNvSpPr txBox="1"/>
          <p:nvPr/>
        </p:nvSpPr>
        <p:spPr>
          <a:xfrm>
            <a:off x="2396375" y="1361525"/>
            <a:ext cx="64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Client</a:t>
            </a:r>
            <a:endParaRPr>
              <a:solidFill>
                <a:srgbClr val="0000FF"/>
              </a:solidFill>
            </a:endParaRPr>
          </a:p>
        </p:txBody>
      </p:sp>
      <p:sp>
        <p:nvSpPr>
          <p:cNvPr id="326" name="Google Shape;326;p41"/>
          <p:cNvSpPr txBox="1"/>
          <p:nvPr/>
        </p:nvSpPr>
        <p:spPr>
          <a:xfrm>
            <a:off x="5615625" y="1361525"/>
            <a:ext cx="71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Server</a:t>
            </a:r>
            <a:endParaRPr>
              <a:solidFill>
                <a:srgbClr val="38761D"/>
              </a:solidFill>
            </a:endParaRPr>
          </a:p>
        </p:txBody>
      </p:sp>
      <p:cxnSp>
        <p:nvCxnSpPr>
          <p:cNvPr id="327" name="Google Shape;327;p41"/>
          <p:cNvCxnSpPr>
            <a:stCxn id="325" idx="2"/>
          </p:cNvCxnSpPr>
          <p:nvPr/>
        </p:nvCxnSpPr>
        <p:spPr>
          <a:xfrm flipH="1">
            <a:off x="2709125" y="1761725"/>
            <a:ext cx="10500" cy="3093000"/>
          </a:xfrm>
          <a:prstGeom prst="straightConnector1">
            <a:avLst/>
          </a:prstGeom>
          <a:noFill/>
          <a:ln cap="flat" cmpd="sng" w="19050">
            <a:solidFill>
              <a:srgbClr val="0000FF"/>
            </a:solidFill>
            <a:prstDash val="solid"/>
            <a:round/>
            <a:headEnd len="med" w="med" type="none"/>
            <a:tailEnd len="med" w="med" type="none"/>
          </a:ln>
        </p:spPr>
      </p:cxnSp>
      <p:cxnSp>
        <p:nvCxnSpPr>
          <p:cNvPr id="328" name="Google Shape;328;p41"/>
          <p:cNvCxnSpPr/>
          <p:nvPr/>
        </p:nvCxnSpPr>
        <p:spPr>
          <a:xfrm flipH="1">
            <a:off x="5967375" y="1761725"/>
            <a:ext cx="10500" cy="3093000"/>
          </a:xfrm>
          <a:prstGeom prst="straightConnector1">
            <a:avLst/>
          </a:prstGeom>
          <a:noFill/>
          <a:ln cap="flat" cmpd="sng" w="19050">
            <a:solidFill>
              <a:srgbClr val="38761D"/>
            </a:solidFill>
            <a:prstDash val="solid"/>
            <a:round/>
            <a:headEnd len="med" w="med" type="none"/>
            <a:tailEnd len="med" w="med" type="none"/>
          </a:ln>
        </p:spPr>
      </p:cxnSp>
      <p:grpSp>
        <p:nvGrpSpPr>
          <p:cNvPr id="329" name="Google Shape;329;p41"/>
          <p:cNvGrpSpPr/>
          <p:nvPr/>
        </p:nvGrpSpPr>
        <p:grpSpPr>
          <a:xfrm>
            <a:off x="2707848" y="1699000"/>
            <a:ext cx="3288427" cy="703800"/>
            <a:chOff x="2707848" y="1699000"/>
            <a:chExt cx="3288427" cy="703800"/>
          </a:xfrm>
        </p:grpSpPr>
        <p:cxnSp>
          <p:nvCxnSpPr>
            <p:cNvPr id="330" name="Google Shape;330;p41"/>
            <p:cNvCxnSpPr/>
            <p:nvPr/>
          </p:nvCxnSpPr>
          <p:spPr>
            <a:xfrm>
              <a:off x="2736775" y="2021650"/>
              <a:ext cx="3259500" cy="343800"/>
            </a:xfrm>
            <a:prstGeom prst="straightConnector1">
              <a:avLst/>
            </a:prstGeom>
            <a:noFill/>
            <a:ln cap="flat" cmpd="sng" w="19050">
              <a:solidFill>
                <a:srgbClr val="0000FF"/>
              </a:solidFill>
              <a:prstDash val="solid"/>
              <a:round/>
              <a:headEnd len="med" w="med" type="none"/>
              <a:tailEnd len="med" w="med" type="triangle"/>
            </a:ln>
          </p:spPr>
        </p:cxnSp>
        <p:sp>
          <p:nvSpPr>
            <p:cNvPr id="331" name="Google Shape;331;p41"/>
            <p:cNvSpPr txBox="1"/>
            <p:nvPr/>
          </p:nvSpPr>
          <p:spPr>
            <a:xfrm rot="394242">
              <a:off x="2716651" y="1881640"/>
              <a:ext cx="3211596" cy="33851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FF"/>
                  </a:solidFill>
                </a:rPr>
                <a:t>ACK. Seq = </a:t>
              </a:r>
              <a:r>
                <a:rPr i="1" lang="en" sz="1000">
                  <a:solidFill>
                    <a:srgbClr val="0000FF"/>
                  </a:solidFill>
                </a:rPr>
                <a:t>x</a:t>
              </a:r>
              <a:r>
                <a:rPr lang="en" sz="1000">
                  <a:solidFill>
                    <a:srgbClr val="0000FF"/>
                  </a:solidFill>
                </a:rPr>
                <a:t>+</a:t>
              </a:r>
              <a:r>
                <a:rPr lang="en" sz="1000">
                  <a:solidFill>
                    <a:srgbClr val="0000FF"/>
                  </a:solidFill>
                </a:rPr>
                <a:t>1, Ack = </a:t>
              </a:r>
              <a:r>
                <a:rPr i="1" lang="en" sz="1000">
                  <a:solidFill>
                    <a:srgbClr val="0000FF"/>
                  </a:solidFill>
                </a:rPr>
                <a:t>y</a:t>
              </a:r>
              <a:r>
                <a:rPr lang="en" sz="1000">
                  <a:solidFill>
                    <a:srgbClr val="0000FF"/>
                  </a:solidFill>
                </a:rPr>
                <a:t>+1. Data, length </a:t>
              </a:r>
              <a:r>
                <a:rPr i="1" lang="en" sz="1000">
                  <a:solidFill>
                    <a:srgbClr val="0000FF"/>
                  </a:solidFill>
                </a:rPr>
                <a:t>A</a:t>
              </a:r>
              <a:r>
                <a:rPr lang="en" sz="1000">
                  <a:solidFill>
                    <a:srgbClr val="0000FF"/>
                  </a:solidFill>
                </a:rPr>
                <a:t> </a:t>
              </a:r>
              <a:endParaRPr sz="1000">
                <a:solidFill>
                  <a:srgbClr val="0000FF"/>
                </a:solidFill>
              </a:endParaRPr>
            </a:p>
          </p:txBody>
        </p:sp>
      </p:grpSp>
      <p:grpSp>
        <p:nvGrpSpPr>
          <p:cNvPr id="332" name="Google Shape;332;p41"/>
          <p:cNvGrpSpPr/>
          <p:nvPr/>
        </p:nvGrpSpPr>
        <p:grpSpPr>
          <a:xfrm>
            <a:off x="2723175" y="3760802"/>
            <a:ext cx="3320475" cy="773400"/>
            <a:chOff x="2723175" y="3760802"/>
            <a:chExt cx="3320475" cy="773400"/>
          </a:xfrm>
        </p:grpSpPr>
        <p:cxnSp>
          <p:nvCxnSpPr>
            <p:cNvPr id="333" name="Google Shape;333;p41"/>
            <p:cNvCxnSpPr/>
            <p:nvPr/>
          </p:nvCxnSpPr>
          <p:spPr>
            <a:xfrm flipH="1">
              <a:off x="2723175" y="4055625"/>
              <a:ext cx="3273000" cy="453900"/>
            </a:xfrm>
            <a:prstGeom prst="straightConnector1">
              <a:avLst/>
            </a:prstGeom>
            <a:noFill/>
            <a:ln cap="flat" cmpd="sng" w="19050">
              <a:solidFill>
                <a:srgbClr val="38761D"/>
              </a:solidFill>
              <a:prstDash val="solid"/>
              <a:round/>
              <a:headEnd len="med" w="med" type="none"/>
              <a:tailEnd len="med" w="med" type="triangle"/>
            </a:ln>
          </p:spPr>
        </p:cxnSp>
        <p:sp>
          <p:nvSpPr>
            <p:cNvPr id="334" name="Google Shape;334;p41"/>
            <p:cNvSpPr txBox="1"/>
            <p:nvPr/>
          </p:nvSpPr>
          <p:spPr>
            <a:xfrm rot="-471551">
              <a:off x="2832256" y="3978198"/>
              <a:ext cx="3203187" cy="338608"/>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1000">
                  <a:solidFill>
                    <a:srgbClr val="38761D"/>
                  </a:solidFill>
                </a:rPr>
                <a:t>ACK. Seq = </a:t>
              </a:r>
              <a:r>
                <a:rPr i="1" lang="en" sz="1000">
                  <a:solidFill>
                    <a:srgbClr val="38761D"/>
                  </a:solidFill>
                </a:rPr>
                <a:t>y</a:t>
              </a:r>
              <a:r>
                <a:rPr lang="en" sz="1000">
                  <a:solidFill>
                    <a:srgbClr val="38761D"/>
                  </a:solidFill>
                </a:rPr>
                <a:t>+1, Ack = </a:t>
              </a:r>
              <a:r>
                <a:rPr i="1" lang="en" sz="1000">
                  <a:solidFill>
                    <a:srgbClr val="38761D"/>
                  </a:solidFill>
                </a:rPr>
                <a:t>x</a:t>
              </a:r>
              <a:r>
                <a:rPr lang="en" sz="1000">
                  <a:solidFill>
                    <a:srgbClr val="38761D"/>
                  </a:solidFill>
                </a:rPr>
                <a:t>+1+</a:t>
              </a:r>
              <a:r>
                <a:rPr i="1" lang="en" sz="1000">
                  <a:solidFill>
                    <a:srgbClr val="38761D"/>
                  </a:solidFill>
                </a:rPr>
                <a:t>A</a:t>
              </a:r>
              <a:r>
                <a:rPr lang="en" sz="1000">
                  <a:solidFill>
                    <a:srgbClr val="38761D"/>
                  </a:solidFill>
                </a:rPr>
                <a:t>. </a:t>
              </a:r>
              <a:r>
                <a:rPr b="1" lang="en" sz="1000">
                  <a:solidFill>
                    <a:srgbClr val="38761D"/>
                  </a:solidFill>
                </a:rPr>
                <a:t>Real</a:t>
              </a:r>
              <a:r>
                <a:rPr b="1" lang="en" sz="1000">
                  <a:solidFill>
                    <a:srgbClr val="38761D"/>
                  </a:solidFill>
                </a:rPr>
                <a:t> data</a:t>
              </a:r>
              <a:r>
                <a:rPr lang="en" sz="1000">
                  <a:solidFill>
                    <a:srgbClr val="38761D"/>
                  </a:solidFill>
                </a:rPr>
                <a:t>, length </a:t>
              </a:r>
              <a:r>
                <a:rPr i="1" lang="en" sz="1000">
                  <a:solidFill>
                    <a:srgbClr val="38761D"/>
                  </a:solidFill>
                </a:rPr>
                <a:t>B</a:t>
              </a:r>
              <a:r>
                <a:rPr lang="en" sz="1000">
                  <a:solidFill>
                    <a:srgbClr val="38761D"/>
                  </a:solidFill>
                </a:rPr>
                <a:t> </a:t>
              </a:r>
              <a:endParaRPr sz="1000">
                <a:solidFill>
                  <a:srgbClr val="38761D"/>
                </a:solidFill>
              </a:endParaRPr>
            </a:p>
          </p:txBody>
        </p:sp>
      </p:grpSp>
      <p:grpSp>
        <p:nvGrpSpPr>
          <p:cNvPr id="335" name="Google Shape;335;p41"/>
          <p:cNvGrpSpPr/>
          <p:nvPr/>
        </p:nvGrpSpPr>
        <p:grpSpPr>
          <a:xfrm>
            <a:off x="39650" y="2825950"/>
            <a:ext cx="3478500" cy="1318800"/>
            <a:chOff x="39650" y="2825950"/>
            <a:chExt cx="3478500" cy="1318800"/>
          </a:xfrm>
        </p:grpSpPr>
        <p:sp>
          <p:nvSpPr>
            <p:cNvPr id="336" name="Google Shape;336;p41"/>
            <p:cNvSpPr txBox="1"/>
            <p:nvPr/>
          </p:nvSpPr>
          <p:spPr>
            <a:xfrm>
              <a:off x="39650" y="2825950"/>
              <a:ext cx="2440200" cy="10467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This packet will be ignored by the client since the client already processed the malicious packet!</a:t>
              </a:r>
              <a:endParaRPr>
                <a:solidFill>
                  <a:schemeClr val="dk1"/>
                </a:solidFill>
              </a:endParaRPr>
            </a:p>
          </p:txBody>
        </p:sp>
        <p:cxnSp>
          <p:nvCxnSpPr>
            <p:cNvPr id="337" name="Google Shape;337;p41"/>
            <p:cNvCxnSpPr>
              <a:stCxn id="336" idx="2"/>
            </p:cNvCxnSpPr>
            <p:nvPr/>
          </p:nvCxnSpPr>
          <p:spPr>
            <a:xfrm>
              <a:off x="1259750" y="3872650"/>
              <a:ext cx="2258400" cy="272100"/>
            </a:xfrm>
            <a:prstGeom prst="straightConnector1">
              <a:avLst/>
            </a:prstGeom>
            <a:noFill/>
            <a:ln cap="flat" cmpd="sng" w="9525">
              <a:solidFill>
                <a:schemeClr val="dk2"/>
              </a:solidFill>
              <a:prstDash val="solid"/>
              <a:round/>
              <a:headEnd len="med" w="med" type="none"/>
              <a:tailEnd len="med" w="med" type="triangle"/>
            </a:ln>
          </p:spPr>
        </p:cxnSp>
      </p:grpSp>
      <p:grpSp>
        <p:nvGrpSpPr>
          <p:cNvPr id="338" name="Google Shape;338;p41"/>
          <p:cNvGrpSpPr/>
          <p:nvPr/>
        </p:nvGrpSpPr>
        <p:grpSpPr>
          <a:xfrm>
            <a:off x="2776425" y="2666376"/>
            <a:ext cx="2224200" cy="1092599"/>
            <a:chOff x="2776425" y="2666376"/>
            <a:chExt cx="2224200" cy="1092599"/>
          </a:xfrm>
        </p:grpSpPr>
        <p:sp>
          <p:nvSpPr>
            <p:cNvPr id="339" name="Google Shape;339;p41"/>
            <p:cNvSpPr txBox="1"/>
            <p:nvPr/>
          </p:nvSpPr>
          <p:spPr>
            <a:xfrm rot="-471571">
              <a:off x="2813463" y="2813422"/>
              <a:ext cx="2174123" cy="338608"/>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1000">
                  <a:solidFill>
                    <a:srgbClr val="FF0000"/>
                  </a:solidFill>
                </a:rPr>
                <a:t>Seq</a:t>
              </a:r>
              <a:r>
                <a:rPr lang="en" sz="1000">
                  <a:solidFill>
                    <a:srgbClr val="FF0000"/>
                  </a:solidFill>
                </a:rPr>
                <a:t> = </a:t>
              </a:r>
              <a:r>
                <a:rPr i="1" lang="en" sz="1000">
                  <a:solidFill>
                    <a:srgbClr val="FF0000"/>
                  </a:solidFill>
                </a:rPr>
                <a:t>y</a:t>
              </a:r>
              <a:r>
                <a:rPr lang="en" sz="1000">
                  <a:solidFill>
                    <a:srgbClr val="FF0000"/>
                  </a:solidFill>
                </a:rPr>
                <a:t>+1. </a:t>
              </a:r>
              <a:r>
                <a:rPr b="1" lang="en" sz="1000">
                  <a:solidFill>
                    <a:srgbClr val="FF0000"/>
                  </a:solidFill>
                </a:rPr>
                <a:t>Evil data</a:t>
              </a:r>
              <a:r>
                <a:rPr lang="en" sz="1000">
                  <a:solidFill>
                    <a:srgbClr val="FF0000"/>
                  </a:solidFill>
                </a:rPr>
                <a:t>, length </a:t>
              </a:r>
              <a:r>
                <a:rPr i="1" lang="en" sz="1000">
                  <a:solidFill>
                    <a:srgbClr val="FF0000"/>
                  </a:solidFill>
                </a:rPr>
                <a:t>B</a:t>
              </a:r>
              <a:r>
                <a:rPr lang="en" sz="1000">
                  <a:solidFill>
                    <a:srgbClr val="FF0000"/>
                  </a:solidFill>
                </a:rPr>
                <a:t> </a:t>
              </a:r>
              <a:endParaRPr sz="1000">
                <a:solidFill>
                  <a:srgbClr val="FF0000"/>
                </a:solidFill>
              </a:endParaRPr>
            </a:p>
          </p:txBody>
        </p:sp>
        <p:sp>
          <p:nvSpPr>
            <p:cNvPr id="340" name="Google Shape;340;p41"/>
            <p:cNvSpPr/>
            <p:nvPr/>
          </p:nvSpPr>
          <p:spPr>
            <a:xfrm>
              <a:off x="2776425" y="3090450"/>
              <a:ext cx="1346740" cy="668525"/>
            </a:xfrm>
            <a:custGeom>
              <a:rect b="b" l="l" r="r" t="t"/>
              <a:pathLst>
                <a:path extrusionOk="0" h="26741" w="68580">
                  <a:moveTo>
                    <a:pt x="68580" y="0"/>
                  </a:moveTo>
                  <a:cubicBezTo>
                    <a:pt x="66088" y="2203"/>
                    <a:pt x="60433" y="9391"/>
                    <a:pt x="53630" y="13215"/>
                  </a:cubicBezTo>
                  <a:cubicBezTo>
                    <a:pt x="46827" y="17039"/>
                    <a:pt x="36702" y="20690"/>
                    <a:pt x="27764" y="22944"/>
                  </a:cubicBezTo>
                  <a:cubicBezTo>
                    <a:pt x="18826" y="25198"/>
                    <a:pt x="4627" y="26108"/>
                    <a:pt x="0" y="26741"/>
                  </a:cubicBezTo>
                </a:path>
              </a:pathLst>
            </a:custGeom>
            <a:noFill/>
            <a:ln cap="flat" cmpd="sng" w="19050">
              <a:solidFill>
                <a:srgbClr val="FF0000"/>
              </a:solidFill>
              <a:prstDash val="dash"/>
              <a:round/>
              <a:headEnd len="med" w="med" type="none"/>
              <a:tailEnd len="med" w="med" type="triangle"/>
            </a:ln>
          </p:spPr>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Attacks </a:t>
            </a:r>
            <a:endParaRPr/>
          </a:p>
        </p:txBody>
      </p:sp>
      <p:sp>
        <p:nvSpPr>
          <p:cNvPr id="346" name="Google Shape;346;p4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TCP spoofing</a:t>
            </a:r>
            <a:r>
              <a:rPr lang="en"/>
              <a:t>: Spoofing a TCP connection to appear to come from another source IP address</a:t>
            </a:r>
            <a:endParaRPr/>
          </a:p>
          <a:p>
            <a:pPr indent="-317500" lvl="1" marL="914400" rtl="0" algn="l">
              <a:spcBef>
                <a:spcPts val="0"/>
              </a:spcBef>
              <a:spcAft>
                <a:spcPts val="0"/>
              </a:spcAft>
              <a:buSzPts val="1400"/>
              <a:buChar char="○"/>
            </a:pPr>
            <a:r>
              <a:rPr lang="en"/>
              <a:t>Recall: IP packets can often be spoofed if the sender AS doesn’t block spoofed packets</a:t>
            </a:r>
            <a:endParaRPr/>
          </a:p>
          <a:p>
            <a:pPr indent="-317500" lvl="1" marL="914400" rtl="0" algn="l">
              <a:spcBef>
                <a:spcPts val="0"/>
              </a:spcBef>
              <a:spcAft>
                <a:spcPts val="0"/>
              </a:spcAft>
              <a:buSzPts val="1400"/>
              <a:buChar char="○"/>
            </a:pPr>
            <a:r>
              <a:rPr lang="en"/>
              <a:t>The attacker will need to know the sequence number in the server’s response SYN-ACK packet</a:t>
            </a:r>
            <a:endParaRPr/>
          </a:p>
          <a:p>
            <a:pPr indent="-317500" lvl="1" marL="914400" rtl="0" algn="l">
              <a:spcBef>
                <a:spcPts val="0"/>
              </a:spcBef>
              <a:spcAft>
                <a:spcPts val="0"/>
              </a:spcAft>
              <a:buSzPts val="1400"/>
              <a:buChar char="○"/>
            </a:pPr>
            <a:r>
              <a:rPr lang="en"/>
              <a:t>Easy for MITM and on-path attackers, but off-path attackers must guess 32-bit sequence number (called </a:t>
            </a:r>
            <a:r>
              <a:rPr b="1" lang="en"/>
              <a:t>blind spoofing</a:t>
            </a:r>
            <a:r>
              <a:rPr lang="en"/>
              <a:t>, also considered difficult)</a:t>
            </a:r>
            <a:endParaRPr/>
          </a:p>
          <a:p>
            <a:pPr indent="-317500" lvl="1" marL="914400" rtl="0" algn="l">
              <a:spcBef>
                <a:spcPts val="0"/>
              </a:spcBef>
              <a:spcAft>
                <a:spcPts val="0"/>
              </a:spcAft>
              <a:buSzPts val="1400"/>
              <a:buChar char="○"/>
            </a:pPr>
            <a:r>
              <a:rPr lang="en"/>
              <a:t>For on-path attackers, this involves a race condition, since the real client will send a RST upon receiving the server’s SYN-ACK!</a:t>
            </a:r>
            <a:endParaRPr/>
          </a:p>
        </p:txBody>
      </p:sp>
      <p:sp>
        <p:nvSpPr>
          <p:cNvPr id="347" name="Google Shape;34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Spoofing</a:t>
            </a:r>
            <a:endParaRPr/>
          </a:p>
        </p:txBody>
      </p:sp>
      <p:sp>
        <p:nvSpPr>
          <p:cNvPr id="353" name="Google Shape;353;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4" name="Google Shape;354;p43"/>
          <p:cNvSpPr txBox="1"/>
          <p:nvPr/>
        </p:nvSpPr>
        <p:spPr>
          <a:xfrm>
            <a:off x="2396375" y="1361525"/>
            <a:ext cx="64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Client</a:t>
            </a:r>
            <a:endParaRPr>
              <a:solidFill>
                <a:srgbClr val="0000FF"/>
              </a:solidFill>
            </a:endParaRPr>
          </a:p>
        </p:txBody>
      </p:sp>
      <p:sp>
        <p:nvSpPr>
          <p:cNvPr id="355" name="Google Shape;355;p43"/>
          <p:cNvSpPr txBox="1"/>
          <p:nvPr/>
        </p:nvSpPr>
        <p:spPr>
          <a:xfrm>
            <a:off x="5615625" y="1361525"/>
            <a:ext cx="71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38761D"/>
                </a:solidFill>
              </a:rPr>
              <a:t>Server</a:t>
            </a:r>
            <a:endParaRPr>
              <a:solidFill>
                <a:srgbClr val="38761D"/>
              </a:solidFill>
            </a:endParaRPr>
          </a:p>
        </p:txBody>
      </p:sp>
      <p:cxnSp>
        <p:nvCxnSpPr>
          <p:cNvPr id="356" name="Google Shape;356;p43"/>
          <p:cNvCxnSpPr>
            <a:stCxn id="354" idx="2"/>
          </p:cNvCxnSpPr>
          <p:nvPr/>
        </p:nvCxnSpPr>
        <p:spPr>
          <a:xfrm flipH="1">
            <a:off x="2709125" y="1761725"/>
            <a:ext cx="10500" cy="3093000"/>
          </a:xfrm>
          <a:prstGeom prst="straightConnector1">
            <a:avLst/>
          </a:prstGeom>
          <a:noFill/>
          <a:ln cap="flat" cmpd="sng" w="19050">
            <a:solidFill>
              <a:srgbClr val="0000FF"/>
            </a:solidFill>
            <a:prstDash val="solid"/>
            <a:round/>
            <a:headEnd len="med" w="med" type="none"/>
            <a:tailEnd len="med" w="med" type="none"/>
          </a:ln>
        </p:spPr>
      </p:cxnSp>
      <p:cxnSp>
        <p:nvCxnSpPr>
          <p:cNvPr id="357" name="Google Shape;357;p43"/>
          <p:cNvCxnSpPr/>
          <p:nvPr/>
        </p:nvCxnSpPr>
        <p:spPr>
          <a:xfrm flipH="1">
            <a:off x="5967375" y="1761725"/>
            <a:ext cx="10500" cy="3093000"/>
          </a:xfrm>
          <a:prstGeom prst="straightConnector1">
            <a:avLst/>
          </a:prstGeom>
          <a:noFill/>
          <a:ln cap="flat" cmpd="sng" w="19050">
            <a:solidFill>
              <a:srgbClr val="38761D"/>
            </a:solidFill>
            <a:prstDash val="solid"/>
            <a:round/>
            <a:headEnd len="med" w="med" type="none"/>
            <a:tailEnd len="med" w="med" type="none"/>
          </a:ln>
        </p:spPr>
      </p:cxnSp>
      <p:grpSp>
        <p:nvGrpSpPr>
          <p:cNvPr id="358" name="Google Shape;358;p43"/>
          <p:cNvGrpSpPr/>
          <p:nvPr/>
        </p:nvGrpSpPr>
        <p:grpSpPr>
          <a:xfrm>
            <a:off x="2707848" y="3604000"/>
            <a:ext cx="3288427" cy="703800"/>
            <a:chOff x="2707848" y="3604000"/>
            <a:chExt cx="3288427" cy="703800"/>
          </a:xfrm>
        </p:grpSpPr>
        <p:cxnSp>
          <p:nvCxnSpPr>
            <p:cNvPr id="359" name="Google Shape;359;p43"/>
            <p:cNvCxnSpPr/>
            <p:nvPr/>
          </p:nvCxnSpPr>
          <p:spPr>
            <a:xfrm>
              <a:off x="2736775" y="3926650"/>
              <a:ext cx="3259500" cy="343800"/>
            </a:xfrm>
            <a:prstGeom prst="straightConnector1">
              <a:avLst/>
            </a:prstGeom>
            <a:noFill/>
            <a:ln cap="flat" cmpd="sng" w="19050">
              <a:solidFill>
                <a:srgbClr val="0000FF"/>
              </a:solidFill>
              <a:prstDash val="solid"/>
              <a:round/>
              <a:headEnd len="med" w="med" type="none"/>
              <a:tailEnd len="med" w="med" type="triangle"/>
            </a:ln>
          </p:spPr>
        </p:cxnSp>
        <p:sp>
          <p:nvSpPr>
            <p:cNvPr id="360" name="Google Shape;360;p43"/>
            <p:cNvSpPr txBox="1"/>
            <p:nvPr/>
          </p:nvSpPr>
          <p:spPr>
            <a:xfrm rot="394242">
              <a:off x="2716651" y="3786640"/>
              <a:ext cx="3211596" cy="33851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0000FF"/>
                  </a:solidFill>
                </a:rPr>
                <a:t>RST. Seq = </a:t>
              </a:r>
              <a:r>
                <a:rPr i="1" lang="en" sz="1000">
                  <a:solidFill>
                    <a:srgbClr val="0000FF"/>
                  </a:solidFill>
                </a:rPr>
                <a:t>x</a:t>
              </a:r>
              <a:r>
                <a:rPr lang="en" sz="1000">
                  <a:solidFill>
                    <a:srgbClr val="0000FF"/>
                  </a:solidFill>
                </a:rPr>
                <a:t>+1</a:t>
              </a:r>
              <a:endParaRPr sz="1000">
                <a:solidFill>
                  <a:srgbClr val="0000FF"/>
                </a:solidFill>
              </a:endParaRPr>
            </a:p>
          </p:txBody>
        </p:sp>
      </p:grpSp>
      <p:grpSp>
        <p:nvGrpSpPr>
          <p:cNvPr id="361" name="Google Shape;361;p43"/>
          <p:cNvGrpSpPr/>
          <p:nvPr/>
        </p:nvGrpSpPr>
        <p:grpSpPr>
          <a:xfrm>
            <a:off x="2723175" y="2084402"/>
            <a:ext cx="3320475" cy="773400"/>
            <a:chOff x="2723175" y="2084402"/>
            <a:chExt cx="3320475" cy="773400"/>
          </a:xfrm>
        </p:grpSpPr>
        <p:cxnSp>
          <p:nvCxnSpPr>
            <p:cNvPr id="362" name="Google Shape;362;p43"/>
            <p:cNvCxnSpPr/>
            <p:nvPr/>
          </p:nvCxnSpPr>
          <p:spPr>
            <a:xfrm flipH="1">
              <a:off x="2723175" y="2379225"/>
              <a:ext cx="3273000" cy="453900"/>
            </a:xfrm>
            <a:prstGeom prst="straightConnector1">
              <a:avLst/>
            </a:prstGeom>
            <a:noFill/>
            <a:ln cap="flat" cmpd="sng" w="19050">
              <a:solidFill>
                <a:srgbClr val="38761D"/>
              </a:solidFill>
              <a:prstDash val="solid"/>
              <a:round/>
              <a:headEnd len="med" w="med" type="none"/>
              <a:tailEnd len="med" w="med" type="triangle"/>
            </a:ln>
          </p:spPr>
        </p:cxnSp>
        <p:sp>
          <p:nvSpPr>
            <p:cNvPr id="363" name="Google Shape;363;p43"/>
            <p:cNvSpPr txBox="1"/>
            <p:nvPr/>
          </p:nvSpPr>
          <p:spPr>
            <a:xfrm rot="-471551">
              <a:off x="2832256" y="2301798"/>
              <a:ext cx="3203187" cy="338608"/>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1000">
                  <a:solidFill>
                    <a:srgbClr val="38761D"/>
                  </a:solidFill>
                </a:rPr>
                <a:t>SYN-ACK</a:t>
              </a:r>
              <a:r>
                <a:rPr lang="en" sz="1000">
                  <a:solidFill>
                    <a:srgbClr val="38761D"/>
                  </a:solidFill>
                </a:rPr>
                <a:t>. Seq = </a:t>
              </a:r>
              <a:r>
                <a:rPr i="1" lang="en" sz="1000">
                  <a:solidFill>
                    <a:srgbClr val="38761D"/>
                  </a:solidFill>
                </a:rPr>
                <a:t>y</a:t>
              </a:r>
              <a:r>
                <a:rPr lang="en" sz="1000">
                  <a:solidFill>
                    <a:srgbClr val="38761D"/>
                  </a:solidFill>
                </a:rPr>
                <a:t>, Ack = </a:t>
              </a:r>
              <a:r>
                <a:rPr i="1" lang="en" sz="1000">
                  <a:solidFill>
                    <a:srgbClr val="38761D"/>
                  </a:solidFill>
                </a:rPr>
                <a:t>x</a:t>
              </a:r>
              <a:r>
                <a:rPr lang="en" sz="1000">
                  <a:solidFill>
                    <a:srgbClr val="38761D"/>
                  </a:solidFill>
                </a:rPr>
                <a:t>+1</a:t>
              </a:r>
              <a:endParaRPr sz="1000">
                <a:solidFill>
                  <a:srgbClr val="38761D"/>
                </a:solidFill>
              </a:endParaRPr>
            </a:p>
          </p:txBody>
        </p:sp>
      </p:grpSp>
      <p:grpSp>
        <p:nvGrpSpPr>
          <p:cNvPr id="364" name="Google Shape;364;p43"/>
          <p:cNvGrpSpPr/>
          <p:nvPr/>
        </p:nvGrpSpPr>
        <p:grpSpPr>
          <a:xfrm>
            <a:off x="2707848" y="1109575"/>
            <a:ext cx="3229200" cy="1169975"/>
            <a:chOff x="2707848" y="1109575"/>
            <a:chExt cx="3229200" cy="1169975"/>
          </a:xfrm>
        </p:grpSpPr>
        <p:sp>
          <p:nvSpPr>
            <p:cNvPr id="365" name="Google Shape;365;p43"/>
            <p:cNvSpPr txBox="1"/>
            <p:nvPr/>
          </p:nvSpPr>
          <p:spPr>
            <a:xfrm rot="394242">
              <a:off x="2716651" y="1292215"/>
              <a:ext cx="3211596" cy="33851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FF0000"/>
                  </a:solidFill>
                </a:rPr>
                <a:t>SYN. Seq = </a:t>
              </a:r>
              <a:r>
                <a:rPr i="1" lang="en" sz="1000">
                  <a:solidFill>
                    <a:srgbClr val="FF0000"/>
                  </a:solidFill>
                </a:rPr>
                <a:t>x</a:t>
              </a:r>
              <a:endParaRPr sz="1000">
                <a:solidFill>
                  <a:srgbClr val="FF0000"/>
                </a:solidFill>
              </a:endParaRPr>
            </a:p>
          </p:txBody>
        </p:sp>
        <p:sp>
          <p:nvSpPr>
            <p:cNvPr id="366" name="Google Shape;366;p43"/>
            <p:cNvSpPr/>
            <p:nvPr/>
          </p:nvSpPr>
          <p:spPr>
            <a:xfrm>
              <a:off x="4194300" y="1632900"/>
              <a:ext cx="1625500" cy="646650"/>
            </a:xfrm>
            <a:custGeom>
              <a:rect b="b" l="l" r="r" t="t"/>
              <a:pathLst>
                <a:path extrusionOk="0" h="25866" w="65020">
                  <a:moveTo>
                    <a:pt x="0" y="0"/>
                  </a:moveTo>
                  <a:cubicBezTo>
                    <a:pt x="3441" y="2610"/>
                    <a:pt x="13289" y="11786"/>
                    <a:pt x="20645" y="15662"/>
                  </a:cubicBezTo>
                  <a:cubicBezTo>
                    <a:pt x="28001" y="19538"/>
                    <a:pt x="36742" y="21554"/>
                    <a:pt x="44138" y="23255"/>
                  </a:cubicBezTo>
                  <a:cubicBezTo>
                    <a:pt x="51534" y="24956"/>
                    <a:pt x="61540" y="25431"/>
                    <a:pt x="65020" y="25866"/>
                  </a:cubicBezTo>
                </a:path>
              </a:pathLst>
            </a:custGeom>
            <a:noFill/>
            <a:ln cap="flat" cmpd="sng" w="19050">
              <a:solidFill>
                <a:srgbClr val="FF0000"/>
              </a:solidFill>
              <a:prstDash val="dash"/>
              <a:round/>
              <a:headEnd len="med" w="med" type="none"/>
              <a:tailEnd len="med" w="med" type="triangle"/>
            </a:ln>
          </p:spPr>
        </p:sp>
      </p:grpSp>
      <p:grpSp>
        <p:nvGrpSpPr>
          <p:cNvPr id="367" name="Google Shape;367;p43"/>
          <p:cNvGrpSpPr/>
          <p:nvPr/>
        </p:nvGrpSpPr>
        <p:grpSpPr>
          <a:xfrm>
            <a:off x="2707848" y="2615775"/>
            <a:ext cx="3229200" cy="1169975"/>
            <a:chOff x="2707848" y="2615775"/>
            <a:chExt cx="3229200" cy="1169975"/>
          </a:xfrm>
        </p:grpSpPr>
        <p:sp>
          <p:nvSpPr>
            <p:cNvPr id="368" name="Google Shape;368;p43"/>
            <p:cNvSpPr txBox="1"/>
            <p:nvPr/>
          </p:nvSpPr>
          <p:spPr>
            <a:xfrm rot="394242">
              <a:off x="2716651" y="2798415"/>
              <a:ext cx="3211596" cy="338519"/>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rgbClr val="FF0000"/>
                  </a:solidFill>
                </a:rPr>
                <a:t>ACK</a:t>
              </a:r>
              <a:r>
                <a:rPr lang="en" sz="1000">
                  <a:solidFill>
                    <a:srgbClr val="FF0000"/>
                  </a:solidFill>
                </a:rPr>
                <a:t>. Seq = </a:t>
              </a:r>
              <a:r>
                <a:rPr i="1" lang="en" sz="1000">
                  <a:solidFill>
                    <a:srgbClr val="FF0000"/>
                  </a:solidFill>
                </a:rPr>
                <a:t>x</a:t>
              </a:r>
              <a:r>
                <a:rPr lang="en" sz="1000">
                  <a:solidFill>
                    <a:srgbClr val="FF0000"/>
                  </a:solidFill>
                </a:rPr>
                <a:t>+1, Ack = </a:t>
              </a:r>
              <a:r>
                <a:rPr i="1" lang="en" sz="1000">
                  <a:solidFill>
                    <a:srgbClr val="FF0000"/>
                  </a:solidFill>
                </a:rPr>
                <a:t>y</a:t>
              </a:r>
              <a:r>
                <a:rPr lang="en" sz="1000">
                  <a:solidFill>
                    <a:srgbClr val="FF0000"/>
                  </a:solidFill>
                </a:rPr>
                <a:t>+1. </a:t>
              </a:r>
              <a:r>
                <a:rPr b="1" lang="en" sz="1000">
                  <a:solidFill>
                    <a:srgbClr val="FF0000"/>
                  </a:solidFill>
                </a:rPr>
                <a:t>Evil data</a:t>
              </a:r>
              <a:endParaRPr b="1" sz="1000">
                <a:solidFill>
                  <a:srgbClr val="FF0000"/>
                </a:solidFill>
              </a:endParaRPr>
            </a:p>
          </p:txBody>
        </p:sp>
        <p:sp>
          <p:nvSpPr>
            <p:cNvPr id="369" name="Google Shape;369;p43"/>
            <p:cNvSpPr/>
            <p:nvPr/>
          </p:nvSpPr>
          <p:spPr>
            <a:xfrm>
              <a:off x="4194300" y="3139100"/>
              <a:ext cx="1625500" cy="646650"/>
            </a:xfrm>
            <a:custGeom>
              <a:rect b="b" l="l" r="r" t="t"/>
              <a:pathLst>
                <a:path extrusionOk="0" h="25866" w="65020">
                  <a:moveTo>
                    <a:pt x="0" y="0"/>
                  </a:moveTo>
                  <a:cubicBezTo>
                    <a:pt x="3441" y="2610"/>
                    <a:pt x="13289" y="11786"/>
                    <a:pt x="20645" y="15662"/>
                  </a:cubicBezTo>
                  <a:cubicBezTo>
                    <a:pt x="28001" y="19538"/>
                    <a:pt x="36742" y="21554"/>
                    <a:pt x="44138" y="23255"/>
                  </a:cubicBezTo>
                  <a:cubicBezTo>
                    <a:pt x="51534" y="24956"/>
                    <a:pt x="61540" y="25431"/>
                    <a:pt x="65020" y="25866"/>
                  </a:cubicBezTo>
                </a:path>
              </a:pathLst>
            </a:custGeom>
            <a:noFill/>
            <a:ln cap="flat" cmpd="sng" w="19050">
              <a:solidFill>
                <a:srgbClr val="FF0000"/>
              </a:solidFill>
              <a:prstDash val="dash"/>
              <a:round/>
              <a:headEnd len="med" w="med" type="none"/>
              <a:tailEnd len="med" w="med" type="triangle"/>
            </a:ln>
          </p:spPr>
        </p:sp>
      </p:grpSp>
      <p:grpSp>
        <p:nvGrpSpPr>
          <p:cNvPr id="370" name="Google Shape;370;p43"/>
          <p:cNvGrpSpPr/>
          <p:nvPr/>
        </p:nvGrpSpPr>
        <p:grpSpPr>
          <a:xfrm>
            <a:off x="6163800" y="2992075"/>
            <a:ext cx="2857500" cy="1046700"/>
            <a:chOff x="6163800" y="2992075"/>
            <a:chExt cx="2857500" cy="1046700"/>
          </a:xfrm>
        </p:grpSpPr>
        <p:sp>
          <p:nvSpPr>
            <p:cNvPr id="371" name="Google Shape;371;p43"/>
            <p:cNvSpPr txBox="1"/>
            <p:nvPr/>
          </p:nvSpPr>
          <p:spPr>
            <a:xfrm>
              <a:off x="6436800" y="2992075"/>
              <a:ext cx="2584500" cy="10467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An on-path attacker must send the evil data before the server receives the real client’s RST!</a:t>
              </a:r>
              <a:endParaRPr>
                <a:solidFill>
                  <a:schemeClr val="dk1"/>
                </a:solidFill>
              </a:endParaRPr>
            </a:p>
          </p:txBody>
        </p:sp>
        <p:cxnSp>
          <p:nvCxnSpPr>
            <p:cNvPr id="372" name="Google Shape;372;p43"/>
            <p:cNvCxnSpPr>
              <a:stCxn id="371" idx="1"/>
            </p:cNvCxnSpPr>
            <p:nvPr/>
          </p:nvCxnSpPr>
          <p:spPr>
            <a:xfrm flipH="1">
              <a:off x="6163800" y="3515425"/>
              <a:ext cx="273000" cy="144900"/>
            </a:xfrm>
            <a:prstGeom prst="straightConnector1">
              <a:avLst/>
            </a:prstGeom>
            <a:noFill/>
            <a:ln cap="flat" cmpd="sng" w="9525">
              <a:solidFill>
                <a:schemeClr val="dk2"/>
              </a:solidFill>
              <a:prstDash val="solid"/>
              <a:round/>
              <a:headEnd len="med" w="med" type="none"/>
              <a:tailEnd len="med" w="med" type="triangle"/>
            </a:ln>
          </p:spPr>
        </p:cxnSp>
      </p:grpSp>
      <p:sp>
        <p:nvSpPr>
          <p:cNvPr id="373" name="Google Shape;373;p43"/>
          <p:cNvSpPr txBox="1"/>
          <p:nvPr/>
        </p:nvSpPr>
        <p:spPr>
          <a:xfrm>
            <a:off x="6163800" y="3972975"/>
            <a:ext cx="25845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 MITM attack could just drop the client’s packets, however</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TCP Attacks </a:t>
            </a:r>
            <a:endParaRPr/>
          </a:p>
        </p:txBody>
      </p:sp>
      <p:sp>
        <p:nvSpPr>
          <p:cNvPr id="379" name="Google Shape;379;p4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TCP provides no confidentiality or integrity</a:t>
            </a:r>
            <a:endParaRPr/>
          </a:p>
          <a:p>
            <a:pPr indent="-317500" lvl="1" marL="914400" rtl="0" algn="l">
              <a:spcBef>
                <a:spcPts val="0"/>
              </a:spcBef>
              <a:spcAft>
                <a:spcPts val="0"/>
              </a:spcAft>
              <a:buSzPts val="1400"/>
              <a:buChar char="○"/>
            </a:pPr>
            <a:r>
              <a:rPr lang="en"/>
              <a:t>Instead, we rely on higher layers (like TLS, more on this next time) to prevent those kind of attacks</a:t>
            </a:r>
            <a:endParaRPr/>
          </a:p>
          <a:p>
            <a:pPr indent="-342900" lvl="0" marL="457200" rtl="0" algn="l">
              <a:spcBef>
                <a:spcPts val="0"/>
              </a:spcBef>
              <a:spcAft>
                <a:spcPts val="0"/>
              </a:spcAft>
              <a:buSzPts val="1800"/>
              <a:buChar char="●"/>
            </a:pPr>
            <a:r>
              <a:rPr lang="en"/>
              <a:t>Defense against off-path attackers rely on choosing random sequence numbers</a:t>
            </a:r>
            <a:endParaRPr/>
          </a:p>
          <a:p>
            <a:pPr indent="-317500" lvl="1" marL="914400" rtl="0" algn="l">
              <a:spcBef>
                <a:spcPts val="0"/>
              </a:spcBef>
              <a:spcAft>
                <a:spcPts val="0"/>
              </a:spcAft>
              <a:buSzPts val="1400"/>
              <a:buChar char="○"/>
            </a:pPr>
            <a:r>
              <a:rPr lang="en"/>
              <a:t>Bad randomness can lead to trivial off-path attacks: TCP sequence numbers used to be based on the system clock!</a:t>
            </a:r>
            <a:endParaRPr/>
          </a:p>
        </p:txBody>
      </p:sp>
      <p:sp>
        <p:nvSpPr>
          <p:cNvPr id="380" name="Google Shape;380;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5"/>
          <p:cNvSpPr txBox="1"/>
          <p:nvPr>
            <p:ph type="title"/>
          </p:nvPr>
        </p:nvSpPr>
        <p:spPr>
          <a:xfrm>
            <a:off x="311700" y="13964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User Datagram Protocol (UDP)</a:t>
            </a:r>
            <a:endParaRPr/>
          </a:p>
        </p:txBody>
      </p:sp>
      <p:sp>
        <p:nvSpPr>
          <p:cNvPr id="386" name="Google Shape;386;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7" name="Google Shape;387;p45"/>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sz="1800">
                <a:solidFill>
                  <a:srgbClr val="000000"/>
                </a:solidFill>
              </a:rPr>
              <a:t>Textbook Chapter 30</a:t>
            </a:r>
            <a:endParaRPr sz="1800">
              <a:solidFill>
                <a:srgbClr val="000000"/>
              </a:solidFill>
            </a:endParaRPr>
          </a:p>
        </p:txBody>
      </p:sp>
      <p:pic>
        <p:nvPicPr>
          <p:cNvPr id="388" name="Google Shape;388;p45"/>
          <p:cNvPicPr preferRelativeResize="0"/>
          <p:nvPr/>
        </p:nvPicPr>
        <p:blipFill rotWithShape="1">
          <a:blip r:embed="rId3">
            <a:alphaModFix/>
          </a:blip>
          <a:srcRect b="1707" l="17232" r="0" t="3424"/>
          <a:stretch/>
        </p:blipFill>
        <p:spPr>
          <a:xfrm>
            <a:off x="5426400" y="2193900"/>
            <a:ext cx="2677226" cy="23868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Provides a </a:t>
            </a:r>
            <a:r>
              <a:rPr b="1" lang="en"/>
              <a:t>datagram</a:t>
            </a:r>
            <a:r>
              <a:rPr lang="en"/>
              <a:t> abstraction</a:t>
            </a:r>
            <a:endParaRPr/>
          </a:p>
          <a:p>
            <a:pPr indent="-317500" lvl="1" marL="914400" rtl="0" algn="l">
              <a:spcBef>
                <a:spcPts val="0"/>
              </a:spcBef>
              <a:spcAft>
                <a:spcPts val="0"/>
              </a:spcAft>
              <a:buSzPts val="1400"/>
              <a:buChar char="○"/>
            </a:pPr>
            <a:r>
              <a:rPr lang="en"/>
              <a:t>A message, sent in a single layer 3 packet (though layer 3 could fragment the packet)</a:t>
            </a:r>
            <a:endParaRPr/>
          </a:p>
          <a:p>
            <a:pPr indent="-317500" lvl="1" marL="914400" rtl="0" algn="l">
              <a:spcBef>
                <a:spcPts val="0"/>
              </a:spcBef>
              <a:spcAft>
                <a:spcPts val="0"/>
              </a:spcAft>
              <a:buSzPts val="1400"/>
              <a:buChar char="○"/>
            </a:pPr>
            <a:r>
              <a:rPr lang="en"/>
              <a:t>Max size limited by max size of packet</a:t>
            </a:r>
            <a:endParaRPr/>
          </a:p>
          <a:p>
            <a:pPr indent="-317500" lvl="1" marL="914400" rtl="0" algn="l">
              <a:spcBef>
                <a:spcPts val="0"/>
              </a:spcBef>
              <a:spcAft>
                <a:spcPts val="0"/>
              </a:spcAft>
              <a:buSzPts val="1400"/>
              <a:buChar char="○"/>
            </a:pPr>
            <a:r>
              <a:rPr lang="en"/>
              <a:t>Applications break their data into datagrams, which are sent and received as a single unit</a:t>
            </a:r>
            <a:endParaRPr/>
          </a:p>
          <a:p>
            <a:pPr indent="-317500" lvl="2" marL="1371600" rtl="0" algn="l">
              <a:spcBef>
                <a:spcPts val="0"/>
              </a:spcBef>
              <a:spcAft>
                <a:spcPts val="0"/>
              </a:spcAft>
              <a:buSzPts val="1400"/>
              <a:buChar char="■"/>
            </a:pPr>
            <a:r>
              <a:rPr lang="en"/>
              <a:t>Contrast with TCP, where the application can use a bytestream abstraction</a:t>
            </a:r>
            <a:endParaRPr/>
          </a:p>
          <a:p>
            <a:pPr indent="-342900" lvl="0" marL="457200" rtl="0" algn="l">
              <a:spcBef>
                <a:spcPts val="0"/>
              </a:spcBef>
              <a:spcAft>
                <a:spcPts val="0"/>
              </a:spcAft>
              <a:buSzPts val="1800"/>
              <a:buChar char="●"/>
            </a:pPr>
            <a:r>
              <a:rPr lang="en"/>
              <a:t>No reliability or ordering guarantees, but uses ports</a:t>
            </a:r>
            <a:endParaRPr b="1"/>
          </a:p>
          <a:p>
            <a:pPr indent="-317500" lvl="1" marL="914400" rtl="0" algn="l">
              <a:spcBef>
                <a:spcPts val="0"/>
              </a:spcBef>
              <a:spcAft>
                <a:spcPts val="0"/>
              </a:spcAft>
              <a:buSzPts val="1400"/>
              <a:buChar char="○"/>
            </a:pPr>
            <a:r>
              <a:rPr lang="en"/>
              <a:t>Like IP, it provides</a:t>
            </a:r>
            <a:r>
              <a:rPr i="1" lang="en"/>
              <a:t> best effort</a:t>
            </a:r>
            <a:r>
              <a:rPr lang="en"/>
              <a:t> delivery</a:t>
            </a:r>
            <a:endParaRPr/>
          </a:p>
          <a:p>
            <a:pPr indent="-342900" lvl="0" marL="457200" rtl="0" algn="l">
              <a:spcBef>
                <a:spcPts val="0"/>
              </a:spcBef>
              <a:spcAft>
                <a:spcPts val="0"/>
              </a:spcAft>
              <a:buSzPts val="1800"/>
              <a:buChar char="●"/>
            </a:pPr>
            <a:r>
              <a:rPr lang="en"/>
              <a:t>F</a:t>
            </a:r>
            <a:r>
              <a:rPr lang="en"/>
              <a:t>aster than TCP, since there is no 3-way handshake</a:t>
            </a:r>
            <a:endParaRPr/>
          </a:p>
          <a:p>
            <a:pPr indent="-317500" lvl="1" marL="914400" rtl="0" algn="l">
              <a:spcBef>
                <a:spcPts val="0"/>
              </a:spcBef>
              <a:spcAft>
                <a:spcPts val="0"/>
              </a:spcAft>
              <a:buSzPts val="1400"/>
              <a:buChar char="○"/>
            </a:pPr>
            <a:r>
              <a:rPr lang="en"/>
              <a:t>Usually used by low-latency, high-speed applications where errors are okay (e.g., video streaming, games)</a:t>
            </a:r>
            <a:endParaRPr/>
          </a:p>
        </p:txBody>
      </p:sp>
      <p:sp>
        <p:nvSpPr>
          <p:cNvPr id="394" name="Google Shape;394;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Datagram Protocol (UDP)</a:t>
            </a:r>
            <a:endParaRPr/>
          </a:p>
        </p:txBody>
      </p:sp>
      <p:sp>
        <p:nvSpPr>
          <p:cNvPr id="395" name="Google Shape;395;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 sequence numbers, so relatively easy to inject data into a connection or spoof connections</a:t>
            </a:r>
            <a:endParaRPr/>
          </a:p>
          <a:p>
            <a:pPr indent="-317500" lvl="1" marL="914400" rtl="0" algn="l">
              <a:spcBef>
                <a:spcPts val="0"/>
              </a:spcBef>
              <a:spcAft>
                <a:spcPts val="0"/>
              </a:spcAft>
              <a:buSzPts val="1400"/>
              <a:buChar char="○"/>
            </a:pPr>
            <a:r>
              <a:rPr lang="en"/>
              <a:t>Higher layers must provide their own defenses against these attacks!</a:t>
            </a:r>
            <a:endParaRPr/>
          </a:p>
        </p:txBody>
      </p:sp>
      <p:sp>
        <p:nvSpPr>
          <p:cNvPr id="401" name="Google Shape;401;p4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UDP Attacks</a:t>
            </a:r>
            <a:endParaRPr/>
          </a:p>
        </p:txBody>
      </p:sp>
      <p:sp>
        <p:nvSpPr>
          <p:cNvPr id="402" name="Google Shape;40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UDP Packet Structure</a:t>
            </a:r>
            <a:endParaRPr/>
          </a:p>
        </p:txBody>
      </p:sp>
      <p:sp>
        <p:nvSpPr>
          <p:cNvPr id="408" name="Google Shape;408;p4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UDP datagram header</a:t>
            </a:r>
            <a:endParaRPr/>
          </a:p>
        </p:txBody>
      </p:sp>
      <p:graphicFrame>
        <p:nvGraphicFramePr>
          <p:cNvPr id="409" name="Google Shape;409;p48"/>
          <p:cNvGraphicFramePr/>
          <p:nvPr/>
        </p:nvGraphicFramePr>
        <p:xfrm>
          <a:off x="952500" y="2000250"/>
          <a:ext cx="3000000" cy="3000000"/>
        </p:xfrm>
        <a:graphic>
          <a:graphicData uri="http://schemas.openxmlformats.org/drawingml/2006/table">
            <a:tbl>
              <a:tblPr>
                <a:noFill/>
                <a:tableStyleId>{5BF6B63E-E3AB-4D18-9801-6EFA9DE13B71}</a:tableStyleId>
              </a:tblPr>
              <a:tblGrid>
                <a:gridCol w="3619500"/>
                <a:gridCol w="3619500"/>
              </a:tblGrid>
              <a:tr h="381000">
                <a:tc>
                  <a:txBody>
                    <a:bodyPr/>
                    <a:lstStyle/>
                    <a:p>
                      <a:pPr indent="0" lvl="0" marL="0" rtl="0" algn="ctr">
                        <a:spcBef>
                          <a:spcPts val="0"/>
                        </a:spcBef>
                        <a:spcAft>
                          <a:spcPts val="0"/>
                        </a:spcAft>
                        <a:buNone/>
                      </a:pPr>
                      <a:r>
                        <a:rPr b="1" lang="en"/>
                        <a:t>Source Port (16 bits)</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a:t>Destination Port (16 bits)</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r>
              <a:tr h="381000">
                <a:tc>
                  <a:txBody>
                    <a:bodyPr/>
                    <a:lstStyle/>
                    <a:p>
                      <a:pPr indent="0" lvl="0" marL="0" rtl="0" algn="ctr">
                        <a:spcBef>
                          <a:spcPts val="0"/>
                        </a:spcBef>
                        <a:spcAft>
                          <a:spcPts val="0"/>
                        </a:spcAft>
                        <a:buNone/>
                      </a:pPr>
                      <a:r>
                        <a:rPr b="1" lang="en"/>
                        <a:t>Length (16 bits)</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c>
                  <a:txBody>
                    <a:bodyPr/>
                    <a:lstStyle/>
                    <a:p>
                      <a:pPr indent="0" lvl="0" marL="0" rtl="0" algn="ctr">
                        <a:spcBef>
                          <a:spcPts val="0"/>
                        </a:spcBef>
                        <a:spcAft>
                          <a:spcPts val="0"/>
                        </a:spcAft>
                        <a:buNone/>
                      </a:pPr>
                      <a:r>
                        <a:rPr b="1" lang="en"/>
                        <a:t>Checksum (16 bits)</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FE599"/>
                    </a:solidFill>
                  </a:tcPr>
                </a:tc>
              </a:tr>
              <a:tr h="923725">
                <a:tc gridSpan="2">
                  <a:txBody>
                    <a:bodyPr/>
                    <a:lstStyle/>
                    <a:p>
                      <a:pPr indent="0" lvl="0" marL="0" rtl="0" algn="ctr">
                        <a:spcBef>
                          <a:spcPts val="0"/>
                        </a:spcBef>
                        <a:spcAft>
                          <a:spcPts val="0"/>
                        </a:spcAft>
                        <a:buNone/>
                      </a:pPr>
                      <a:r>
                        <a:rPr b="1" lang="en"/>
                        <a:t>Data (variable length)</a:t>
                      </a:r>
                      <a:endParaRPr b="1"/>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F4CCCC"/>
                    </a:solidFill>
                  </a:tcPr>
                </a:tc>
                <a:tc hMerge="1"/>
              </a:tr>
            </a:tbl>
          </a:graphicData>
        </a:graphic>
      </p:graphicFrame>
      <p:sp>
        <p:nvSpPr>
          <p:cNvPr id="410" name="Google Shape;410;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416" name="Google Shape;416;p4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Border Gateway Protocol (BGP): Routing packets</a:t>
            </a:r>
            <a:endParaRPr/>
          </a:p>
          <a:p>
            <a:pPr indent="-317500" lvl="1" marL="914400" rtl="0" algn="l">
              <a:spcBef>
                <a:spcPts val="0"/>
              </a:spcBef>
              <a:spcAft>
                <a:spcPts val="0"/>
              </a:spcAft>
              <a:buSzPts val="1400"/>
              <a:buChar char="○"/>
            </a:pPr>
            <a:r>
              <a:rPr lang="en"/>
              <a:t>The Internet is made of smaller </a:t>
            </a:r>
            <a:r>
              <a:rPr b="1" lang="en"/>
              <a:t>autonomous systems</a:t>
            </a:r>
            <a:r>
              <a:rPr lang="en"/>
              <a:t> (</a:t>
            </a:r>
            <a:r>
              <a:rPr b="1" lang="en"/>
              <a:t>AS</a:t>
            </a:r>
            <a:r>
              <a:rPr lang="en"/>
              <a:t>)</a:t>
            </a:r>
            <a:endParaRPr/>
          </a:p>
          <a:p>
            <a:pPr indent="-317500" lvl="1" marL="914400" rtl="0" algn="l">
              <a:spcBef>
                <a:spcPts val="0"/>
              </a:spcBef>
              <a:spcAft>
                <a:spcPts val="0"/>
              </a:spcAft>
              <a:buSzPts val="1400"/>
              <a:buChar char="○"/>
            </a:pPr>
            <a:r>
              <a:rPr lang="en"/>
              <a:t>Each AS broadcasts the shortest routes it knows of (dependent on the shortest routes of its neighbors and distance to neighbors)</a:t>
            </a:r>
            <a:endParaRPr/>
          </a:p>
        </p:txBody>
      </p:sp>
      <p:sp>
        <p:nvSpPr>
          <p:cNvPr id="417" name="Google Shape;41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423" name="Google Shape;423;p5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Transmission Control Protocol (TCP): Reliably sending packets</a:t>
            </a:r>
            <a:endParaRPr/>
          </a:p>
          <a:p>
            <a:pPr indent="-317500" lvl="1" marL="914400" rtl="0" algn="l">
              <a:spcBef>
                <a:spcPts val="0"/>
              </a:spcBef>
              <a:spcAft>
                <a:spcPts val="0"/>
              </a:spcAft>
              <a:buSzPts val="1400"/>
              <a:buChar char="○"/>
            </a:pPr>
            <a:r>
              <a:rPr lang="en"/>
              <a:t>3-way handshake: Client sends SYN, server sends SYN-ACK, client sends ACK</a:t>
            </a:r>
            <a:endParaRPr/>
          </a:p>
          <a:p>
            <a:pPr indent="-317500" lvl="1" marL="914400" rtl="0" algn="l">
              <a:spcBef>
                <a:spcPts val="0"/>
              </a:spcBef>
              <a:spcAft>
                <a:spcPts val="0"/>
              </a:spcAft>
              <a:buSzPts val="1400"/>
              <a:buChar char="○"/>
            </a:pPr>
            <a:r>
              <a:rPr lang="en"/>
              <a:t>Provides reliability, ordering, and ports</a:t>
            </a:r>
            <a:endParaRPr/>
          </a:p>
          <a:p>
            <a:pPr indent="-317500" lvl="1" marL="914400" rtl="0" algn="l">
              <a:spcBef>
                <a:spcPts val="0"/>
              </a:spcBef>
              <a:spcAft>
                <a:spcPts val="0"/>
              </a:spcAft>
              <a:buSzPts val="1400"/>
              <a:buChar char="○"/>
            </a:pPr>
            <a:r>
              <a:rPr lang="en"/>
              <a:t>Attack: TCP hijacking through data injection or RST injection</a:t>
            </a:r>
            <a:endParaRPr/>
          </a:p>
          <a:p>
            <a:pPr indent="-317500" lvl="2" marL="1371600" rtl="0" algn="l">
              <a:spcBef>
                <a:spcPts val="0"/>
              </a:spcBef>
              <a:spcAft>
                <a:spcPts val="0"/>
              </a:spcAft>
              <a:buSzPts val="1400"/>
              <a:buChar char="■"/>
            </a:pPr>
            <a:r>
              <a:rPr lang="en"/>
              <a:t>Blind attacks must guess the client’s or server’s sequence numbers</a:t>
            </a:r>
            <a:endParaRPr/>
          </a:p>
          <a:p>
            <a:pPr indent="-317500" lvl="1" marL="914400" rtl="0" algn="l">
              <a:spcBef>
                <a:spcPts val="0"/>
              </a:spcBef>
              <a:spcAft>
                <a:spcPts val="0"/>
              </a:spcAft>
              <a:buSzPts val="1400"/>
              <a:buChar char="○"/>
            </a:pPr>
            <a:r>
              <a:rPr lang="en"/>
              <a:t>Attack: TCP spoofing by sending a spoofed SYN packet</a:t>
            </a:r>
            <a:endParaRPr/>
          </a:p>
          <a:p>
            <a:pPr indent="-317500" lvl="2" marL="1371600" rtl="0" algn="l">
              <a:spcBef>
                <a:spcPts val="0"/>
              </a:spcBef>
              <a:spcAft>
                <a:spcPts val="0"/>
              </a:spcAft>
              <a:buSzPts val="1400"/>
              <a:buChar char="■"/>
            </a:pPr>
            <a:r>
              <a:rPr lang="en"/>
              <a:t>Blind attacks must guess the server’s sequence number</a:t>
            </a:r>
            <a:endParaRPr/>
          </a:p>
          <a:p>
            <a:pPr indent="-342900" lvl="0" marL="457200" rtl="0" algn="l">
              <a:spcBef>
                <a:spcPts val="0"/>
              </a:spcBef>
              <a:spcAft>
                <a:spcPts val="0"/>
              </a:spcAft>
              <a:buSzPts val="1800"/>
              <a:buChar char="●"/>
            </a:pPr>
            <a:r>
              <a:rPr lang="en"/>
              <a:t>User Datagram Protocol (UDP): Non-reliably sending packets</a:t>
            </a:r>
            <a:endParaRPr/>
          </a:p>
          <a:p>
            <a:pPr indent="-317500" lvl="1" marL="914400" rtl="0" algn="l">
              <a:spcBef>
                <a:spcPts val="0"/>
              </a:spcBef>
              <a:spcAft>
                <a:spcPts val="0"/>
              </a:spcAft>
              <a:buSzPts val="1400"/>
              <a:buChar char="○"/>
            </a:pPr>
            <a:r>
              <a:rPr lang="en"/>
              <a:t>No reliability or ordering, only ports</a:t>
            </a:r>
            <a:endParaRPr/>
          </a:p>
          <a:p>
            <a:pPr indent="-317500" lvl="1" marL="914400" rtl="0" algn="l">
              <a:spcBef>
                <a:spcPts val="0"/>
              </a:spcBef>
              <a:spcAft>
                <a:spcPts val="0"/>
              </a:spcAft>
              <a:buSzPts val="1400"/>
              <a:buChar char="○"/>
            </a:pPr>
            <a:r>
              <a:rPr lang="en"/>
              <a:t>Same injection and spoofing attacks as TCP, but easier</a:t>
            </a:r>
            <a:endParaRPr/>
          </a:p>
        </p:txBody>
      </p:sp>
      <p:sp>
        <p:nvSpPr>
          <p:cNvPr id="424" name="Google Shape;42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SE 405">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