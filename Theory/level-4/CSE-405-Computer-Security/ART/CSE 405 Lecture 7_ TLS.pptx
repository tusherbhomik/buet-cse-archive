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F3286E-B0B1-44A6-B70C-D2A46FEF1B01}">
  <a:tblStyle styleId="{0AF3286E-B0B1-44A6-B70C-D2A46FEF1B0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og.cryptographyengineering.com/2017/10/23/attack-of-the-week-duhk/"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Online_Certificate_Status_Protocol"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omputerworld.com/article/2507258/solo-iranian-hacker-takes-credit-for-comodo-certificate-attack.html"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net.com/news/fraudulent-google-certificate-points-to-internet-attack/"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hreatpost.com/final-report-diginotar-hack-shows-total-compromise-ca-servers-103112/77170/"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echdirt.com/articles/20110830/13243615741/evidence-suggests-diginotar-who-issued-fraudulent-google-certificate-was-hacked-years-ago.shtml"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2ec29b72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2ec29b72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 - 1:50</a:t>
            </a:r>
            <a:endParaRPr/>
          </a:p>
          <a:p>
            <a:pPr indent="-298450" lvl="0" marL="457200" rtl="0" algn="l">
              <a:spcBef>
                <a:spcPts val="0"/>
              </a:spcBef>
              <a:spcAft>
                <a:spcPts val="0"/>
              </a:spcAft>
              <a:buSzPts val="1100"/>
              <a:buChar char="-"/>
            </a:pPr>
            <a:r>
              <a:rPr lang="en"/>
              <a:t>Introducing crypto!</a:t>
            </a:r>
            <a:endParaRPr/>
          </a:p>
          <a:p>
            <a:pPr indent="-298450" lvl="1" marL="914400" rtl="0" algn="l">
              <a:spcBef>
                <a:spcPts val="0"/>
              </a:spcBef>
              <a:spcAft>
                <a:spcPts val="0"/>
              </a:spcAft>
              <a:buSzPts val="1100"/>
              <a:buChar char="-"/>
            </a:pPr>
            <a:r>
              <a:rPr lang="en"/>
              <a:t>We’re actually dealing with our problems!</a:t>
            </a:r>
            <a:endParaRPr/>
          </a:p>
          <a:p>
            <a:pPr indent="-298450" lvl="0" marL="457200" rtl="0" algn="l">
              <a:spcBef>
                <a:spcPts val="0"/>
              </a:spcBef>
              <a:spcAft>
                <a:spcPts val="0"/>
              </a:spcAft>
              <a:buSzPts val="1100"/>
              <a:buChar char="-"/>
            </a:pPr>
            <a:r>
              <a:rPr lang="en"/>
              <a:t>Heads up this is a fairly dense lecture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b6d4a4610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b6d4a4610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Outdated: security was not built in from the start</a:t>
            </a:r>
            <a:endParaRPr/>
          </a:p>
          <a:p>
            <a:pPr indent="-298450" lvl="0" marL="457200" rtl="0" algn="l">
              <a:spcBef>
                <a:spcPts val="0"/>
              </a:spcBef>
              <a:spcAft>
                <a:spcPts val="0"/>
              </a:spcAft>
              <a:buSzPts val="1100"/>
              <a:buChar char="-"/>
            </a:pPr>
            <a:r>
              <a:rPr lang="en"/>
              <a:t>We’re adding this into an outdated model</a:t>
            </a:r>
            <a:endParaRPr/>
          </a:p>
          <a:p>
            <a:pPr indent="-298450" lvl="0" marL="457200" rtl="0" algn="l">
              <a:spcBef>
                <a:spcPts val="0"/>
              </a:spcBef>
              <a:spcAft>
                <a:spcPts val="0"/>
              </a:spcAft>
              <a:buSzPts val="1100"/>
              <a:buChar char="-"/>
            </a:pPr>
            <a:r>
              <a:rPr lang="en"/>
              <a:t>We call this layer 4.5 -&gt; web is built on top of TLS and TLS is built onto the transport layer</a:t>
            </a:r>
            <a:endParaRPr/>
          </a:p>
          <a:p>
            <a:pPr indent="-298450" lvl="0" marL="457200" rtl="0" algn="l">
              <a:spcBef>
                <a:spcPts val="0"/>
              </a:spcBef>
              <a:spcAft>
                <a:spcPts val="0"/>
              </a:spcAft>
              <a:buSzPts val="1100"/>
              <a:buChar char="-"/>
            </a:pPr>
            <a:r>
              <a:rPr lang="en"/>
              <a:t>Everything that TCP guarantees, we’ll have (reliability, ordering, etc.) since all our packets will be sent over TCP</a:t>
            </a:r>
            <a:endParaRPr/>
          </a:p>
          <a:p>
            <a:pPr indent="-298450" lvl="0" marL="457200" rtl="0" algn="l">
              <a:spcBef>
                <a:spcPts val="0"/>
              </a:spcBef>
              <a:spcAft>
                <a:spcPts val="0"/>
              </a:spcAft>
              <a:buSzPts val="1100"/>
              <a:buChar char="-"/>
            </a:pPr>
            <a:r>
              <a:rPr lang="en"/>
              <a:t>End-user only really needs to think in terms of connections (5-tuple) -&gt; the actual way that the byte stream is sent is abstracted via TCP</a:t>
            </a:r>
            <a:endParaRPr/>
          </a:p>
          <a:p>
            <a:pPr indent="-298450" lvl="0" marL="457200" rtl="0" algn="l">
              <a:spcBef>
                <a:spcPts val="0"/>
              </a:spcBef>
              <a:spcAft>
                <a:spcPts val="0"/>
              </a:spcAft>
              <a:buSzPts val="1100"/>
              <a:buChar char="-"/>
            </a:pPr>
            <a:r>
              <a:rPr lang="en"/>
              <a:t>However, we now want to provide confidentiality and integrity!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b6d4a461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b6d4a461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had no guarantees for any of these!</a:t>
            </a:r>
            <a:endParaRPr/>
          </a:p>
          <a:p>
            <a:pPr indent="-298450" lvl="0" marL="457200" rtl="0" algn="l">
              <a:spcBef>
                <a:spcPts val="0"/>
              </a:spcBef>
              <a:spcAft>
                <a:spcPts val="0"/>
              </a:spcAft>
              <a:buSzPts val="1100"/>
              <a:buChar char="-"/>
            </a:pPr>
            <a:r>
              <a:rPr lang="en"/>
              <a:t>Replay attack:</a:t>
            </a:r>
            <a:endParaRPr/>
          </a:p>
          <a:p>
            <a:pPr indent="-298450" lvl="1" marL="914400" rtl="0" algn="l">
              <a:spcBef>
                <a:spcPts val="0"/>
              </a:spcBef>
              <a:spcAft>
                <a:spcPts val="0"/>
              </a:spcAft>
              <a:buSzPts val="1100"/>
              <a:buChar char="-"/>
            </a:pPr>
            <a:r>
              <a:rPr lang="en"/>
              <a:t>Assume confidentiality/integrity, attacker sees packet (so cannot read or tamper, but writes it down)</a:t>
            </a:r>
            <a:endParaRPr/>
          </a:p>
          <a:p>
            <a:pPr indent="-298450" lvl="1" marL="914400" rtl="0" algn="l">
              <a:spcBef>
                <a:spcPts val="0"/>
              </a:spcBef>
              <a:spcAft>
                <a:spcPts val="0"/>
              </a:spcAft>
              <a:buSzPts val="1100"/>
              <a:buChar char="-"/>
            </a:pPr>
            <a:r>
              <a:rPr lang="en"/>
              <a:t>Then, resent the exact same packet again -&gt; would the victim accept the message the second time?</a:t>
            </a:r>
            <a:endParaRPr/>
          </a:p>
          <a:p>
            <a:pPr indent="-298450" lvl="2" marL="1371600" rtl="0" algn="l">
              <a:spcBef>
                <a:spcPts val="0"/>
              </a:spcBef>
              <a:spcAft>
                <a:spcPts val="0"/>
              </a:spcAft>
              <a:buSzPts val="1100"/>
              <a:buChar char="-"/>
            </a:pPr>
            <a:r>
              <a:rPr lang="en"/>
              <a:t>Message and MAC would still be valid!</a:t>
            </a:r>
            <a:endParaRPr/>
          </a:p>
          <a:p>
            <a:pPr indent="-298450" lvl="1" marL="914400" rtl="0" algn="l">
              <a:spcBef>
                <a:spcPts val="0"/>
              </a:spcBef>
              <a:spcAft>
                <a:spcPts val="0"/>
              </a:spcAft>
              <a:buSzPts val="1100"/>
              <a:buChar char="-"/>
            </a:pPr>
            <a:r>
              <a:rPr lang="en"/>
              <a:t>Rinse and repeat!</a:t>
            </a:r>
            <a:endParaRPr/>
          </a:p>
          <a:p>
            <a:pPr indent="-298450" lvl="0" marL="457200" rtl="0" algn="l">
              <a:spcBef>
                <a:spcPts val="0"/>
              </a:spcBef>
              <a:spcAft>
                <a:spcPts val="0"/>
              </a:spcAft>
              <a:buSzPts val="1100"/>
              <a:buChar char="-"/>
            </a:pPr>
            <a:r>
              <a:rPr lang="en"/>
              <a:t>Authenticity: I make a request to google.com to load these slides -&gt; I would want to be sure I’m talking to the real google.com!</a:t>
            </a:r>
            <a:endParaRPr/>
          </a:p>
          <a:p>
            <a:pPr indent="-298450" lvl="1" marL="914400" rtl="0" algn="l">
              <a:spcBef>
                <a:spcPts val="0"/>
              </a:spcBef>
              <a:spcAft>
                <a:spcPts val="0"/>
              </a:spcAft>
              <a:buSzPts val="1100"/>
              <a:buChar char="-"/>
            </a:pPr>
            <a:r>
              <a:rPr lang="en"/>
              <a:t>As an end user, want to trust that I’m talking to the legitimate server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2ec29b7202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2ec29b7202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min - 12:55</a:t>
            </a:r>
            <a:endParaRPr/>
          </a:p>
          <a:p>
            <a:pPr indent="0" lvl="0" marL="0" rtl="0" algn="l">
              <a:spcBef>
                <a:spcPts val="0"/>
              </a:spcBef>
              <a:spcAft>
                <a:spcPts val="0"/>
              </a:spcAft>
              <a:buNone/>
            </a:pPr>
            <a:r>
              <a:rPr lang="en"/>
              <a:t>Really long handshake…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6d4a4610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6d4a4610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TCP connection means in TLS, we don’t care about whether the packets are too long or if they’re sent out of order -&gt; abstract that away!</a:t>
            </a:r>
            <a:endParaRPr/>
          </a:p>
          <a:p>
            <a:pPr indent="-298450" lvl="0" marL="457200" rtl="0" algn="l">
              <a:spcBef>
                <a:spcPts val="0"/>
              </a:spcBef>
              <a:spcAft>
                <a:spcPts val="0"/>
              </a:spcAft>
              <a:buSzPts val="1100"/>
              <a:buChar char="-"/>
            </a:pPr>
            <a:r>
              <a:rPr lang="en"/>
              <a:t>ClientHello: RB, I support (TLS+RSA+AES128+SHA1) or (SSL+RSA+3DES+MD5) or …</a:t>
            </a:r>
            <a:endParaRPr/>
          </a:p>
          <a:p>
            <a:pPr indent="-298450" lvl="0" marL="457200" rtl="0" algn="l">
              <a:spcBef>
                <a:spcPts val="0"/>
              </a:spcBef>
              <a:spcAft>
                <a:spcPts val="0"/>
              </a:spcAft>
              <a:buSzPts val="1100"/>
              <a:buChar char="-"/>
            </a:pPr>
            <a:r>
              <a:rPr lang="en"/>
              <a:t>ServerHello: RS, Let’s use TLS+RSA+AES128+SHA1</a:t>
            </a:r>
            <a:endParaRPr/>
          </a:p>
          <a:p>
            <a:pPr indent="-298450" lvl="0" marL="457200" rtl="0" algn="l">
              <a:spcBef>
                <a:spcPts val="0"/>
              </a:spcBef>
              <a:spcAft>
                <a:spcPts val="0"/>
              </a:spcAft>
              <a:buSzPts val="1100"/>
              <a:buChar char="-"/>
            </a:pPr>
            <a:r>
              <a:rPr lang="en"/>
              <a:t>Random numbers ensure that even if we repeat the same handshake with the same people multiple times, at least something is different each time!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b6d4a4610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b6d4a4610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One of our design goals was to ensure we knew that we were talking to a legitimate server!</a:t>
            </a:r>
            <a:endParaRPr/>
          </a:p>
          <a:p>
            <a:pPr indent="-298450" lvl="0" marL="457200" rtl="0" algn="l">
              <a:spcBef>
                <a:spcPts val="0"/>
              </a:spcBef>
              <a:spcAft>
                <a:spcPts val="0"/>
              </a:spcAft>
              <a:buSzPts val="1100"/>
              <a:buChar char="-"/>
            </a:pPr>
            <a:r>
              <a:rPr lang="en"/>
              <a:t>Certificate just provides the server’s public key, signed by someone you trust (a trusted certificate authority)</a:t>
            </a:r>
            <a:endParaRPr/>
          </a:p>
          <a:p>
            <a:pPr indent="-298450" lvl="1" marL="914400" rtl="0" algn="l">
              <a:spcBef>
                <a:spcPts val="0"/>
              </a:spcBef>
              <a:spcAft>
                <a:spcPts val="0"/>
              </a:spcAft>
              <a:buSzPts val="1100"/>
              <a:buChar char="-"/>
            </a:pPr>
            <a:r>
              <a:rPr lang="en"/>
              <a:t>This means that via a </a:t>
            </a:r>
            <a:r>
              <a:rPr lang="en"/>
              <a:t>hierarchy</a:t>
            </a:r>
            <a:r>
              <a:rPr lang="en"/>
              <a:t> of trust, because you trust the CA, you now should trust the server</a:t>
            </a:r>
            <a:endParaRPr/>
          </a:p>
          <a:p>
            <a:pPr indent="-298450" lvl="0" marL="457200" rtl="0" algn="l">
              <a:spcBef>
                <a:spcPts val="0"/>
              </a:spcBef>
              <a:spcAft>
                <a:spcPts val="0"/>
              </a:spcAft>
              <a:buSzPts val="1100"/>
              <a:buChar char="-"/>
            </a:pPr>
            <a:r>
              <a:rPr lang="en"/>
              <a:t>What do you know right now?</a:t>
            </a:r>
            <a:endParaRPr/>
          </a:p>
          <a:p>
            <a:pPr indent="-298450" lvl="1" marL="914400" rtl="0" algn="l">
              <a:spcBef>
                <a:spcPts val="0"/>
              </a:spcBef>
              <a:spcAft>
                <a:spcPts val="0"/>
              </a:spcAft>
              <a:buSzPts val="1100"/>
              <a:buChar char="-"/>
            </a:pPr>
            <a:r>
              <a:rPr lang="en"/>
              <a:t>Are you guaranteed to be talking to the server?</a:t>
            </a:r>
            <a:endParaRPr/>
          </a:p>
          <a:p>
            <a:pPr indent="-298450" lvl="2" marL="1371600" rtl="0" algn="l">
              <a:spcBef>
                <a:spcPts val="0"/>
              </a:spcBef>
              <a:spcAft>
                <a:spcPts val="0"/>
              </a:spcAft>
              <a:buSzPts val="1100"/>
              <a:buChar char="-"/>
            </a:pPr>
            <a:r>
              <a:rPr lang="en"/>
              <a:t>Repeat this: No… anyone can send a certificate. I can send Taylor Swift’s certificate and as long as you trust the CA who signed it, you’ll trust the public key!</a:t>
            </a:r>
            <a:endParaRPr/>
          </a:p>
          <a:p>
            <a:pPr indent="-298450" lvl="1" marL="914400" rtl="0" algn="l">
              <a:spcBef>
                <a:spcPts val="0"/>
              </a:spcBef>
              <a:spcAft>
                <a:spcPts val="0"/>
              </a:spcAft>
              <a:buSzPts val="1100"/>
              <a:buChar char="-"/>
            </a:pPr>
            <a:r>
              <a:rPr lang="en"/>
              <a:t>Do you know the server’s public key?`</a:t>
            </a:r>
            <a:endParaRPr/>
          </a:p>
          <a:p>
            <a:pPr indent="-298450" lvl="2" marL="1371600" rtl="0" algn="l">
              <a:spcBef>
                <a:spcPts val="0"/>
              </a:spcBef>
              <a:spcAft>
                <a:spcPts val="0"/>
              </a:spcAft>
              <a:buSzPts val="1100"/>
              <a:buChar char="-"/>
            </a:pPr>
            <a:r>
              <a:rPr lang="en"/>
              <a:t>Yes! You have confident that this is the server’s public key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b6d4a4610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b6d4a4610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 min - 1:00</a:t>
            </a:r>
            <a:endParaRPr/>
          </a:p>
          <a:p>
            <a:pPr indent="0" lvl="0" marL="0" rtl="0" algn="l">
              <a:spcBef>
                <a:spcPts val="0"/>
              </a:spcBef>
              <a:spcAft>
                <a:spcPts val="0"/>
              </a:spcAft>
              <a:buNone/>
            </a:pPr>
            <a:r>
              <a:rPr lang="en"/>
              <a:t>Two purposes of the premaster secret and two ways of doing it…</a:t>
            </a:r>
            <a:endParaRPr/>
          </a:p>
          <a:p>
            <a:pPr indent="-298450" lvl="0" marL="457200" rtl="0" algn="l">
              <a:spcBef>
                <a:spcPts val="0"/>
              </a:spcBef>
              <a:spcAft>
                <a:spcPts val="0"/>
              </a:spcAft>
              <a:buSzPts val="1100"/>
              <a:buChar char="-"/>
            </a:pPr>
            <a:r>
              <a:rPr lang="en"/>
              <a:t>In previous step, could not guarantee talking to server -&gt; now we want to ensure it (issue a challenge for the server to prove itself)</a:t>
            </a:r>
            <a:endParaRPr/>
          </a:p>
          <a:p>
            <a:pPr indent="-298450" lvl="1" marL="914400" rtl="0" algn="l">
              <a:spcBef>
                <a:spcPts val="0"/>
              </a:spcBef>
              <a:spcAft>
                <a:spcPts val="0"/>
              </a:spcAft>
              <a:buSzPts val="1100"/>
              <a:buChar char="-"/>
            </a:pPr>
            <a:r>
              <a:rPr lang="en"/>
              <a:t>You know the server’s PK -&gt; that </a:t>
            </a:r>
            <a:r>
              <a:rPr lang="en"/>
              <a:t>corresponds</a:t>
            </a:r>
            <a:r>
              <a:rPr lang="en"/>
              <a:t> to an SK -&gt; prove that the server has that SK</a:t>
            </a:r>
            <a:endParaRPr/>
          </a:p>
          <a:p>
            <a:pPr indent="-298450" lvl="1" marL="914400" rtl="0" algn="l">
              <a:spcBef>
                <a:spcPts val="0"/>
              </a:spcBef>
              <a:spcAft>
                <a:spcPts val="0"/>
              </a:spcAft>
              <a:buSzPts val="1100"/>
              <a:buChar char="-"/>
            </a:pPr>
            <a:r>
              <a:rPr lang="en"/>
              <a:t>You didn’t know if you were talking to the server previously -&gt; this step proves it</a:t>
            </a:r>
            <a:endParaRPr/>
          </a:p>
          <a:p>
            <a:pPr indent="-298450" lvl="0" marL="457200" rtl="0" algn="l">
              <a:spcBef>
                <a:spcPts val="0"/>
              </a:spcBef>
              <a:spcAft>
                <a:spcPts val="0"/>
              </a:spcAft>
              <a:buSzPts val="1100"/>
              <a:buChar char="-"/>
            </a:pPr>
            <a:r>
              <a:rPr lang="en"/>
              <a:t>Get a shared secret</a:t>
            </a:r>
            <a:endParaRPr/>
          </a:p>
          <a:p>
            <a:pPr indent="-298450" lvl="1" marL="914400" rtl="0" algn="l">
              <a:spcBef>
                <a:spcPts val="0"/>
              </a:spcBef>
              <a:spcAft>
                <a:spcPts val="0"/>
              </a:spcAft>
              <a:buSzPts val="1100"/>
              <a:buChar char="-"/>
            </a:pPr>
            <a:r>
              <a:rPr lang="en"/>
              <a:t>This is important to so many of our schemes (remember WPA, etc) because symmetric encryption, etc. is usually faster (bit flips versus modular arithmetic)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b6d4a4610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b6d4a4610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What does it do?</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As a client, encrypt a random secret using the server’s public key (from certificate)</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Send that encrypted message to the server</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The server decrypts it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How does it solve our two goals?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Need to guarantee that we’re talking to the server -&gt; they’re the only one that can decrypt</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This is like a challenge!</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If you are who you say you are (the legitimate server), you should be able to solve the challenge and decrypt!</a:t>
            </a:r>
            <a:endParaRPr>
              <a:solidFill>
                <a:schemeClr val="dk1"/>
              </a:solidFill>
            </a:endParaRPr>
          </a:p>
          <a:p>
            <a:pPr indent="-298450" lvl="3" marL="1828800" rtl="0" algn="l">
              <a:spcBef>
                <a:spcPts val="0"/>
              </a:spcBef>
              <a:spcAft>
                <a:spcPts val="0"/>
              </a:spcAft>
              <a:buClr>
                <a:schemeClr val="dk1"/>
              </a:buClr>
              <a:buSzPts val="1100"/>
              <a:buChar char="-"/>
            </a:pPr>
            <a:r>
              <a:rPr lang="en">
                <a:solidFill>
                  <a:schemeClr val="dk1"/>
                </a:solidFill>
              </a:rPr>
              <a:t>An attacker would not have the private key of the server, and thus could not decrypt it</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Get a shared secret -&gt; the random value!</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Nobody else knows it because nobody else can decrypt it!</a:t>
            </a:r>
            <a:endParaRPr>
              <a:solidFill>
                <a:schemeClr val="dk1"/>
              </a:solidFill>
            </a:endParaRPr>
          </a:p>
          <a:p>
            <a:pPr indent="0" lvl="0" marL="0" rtl="0" algn="l">
              <a:spcBef>
                <a:spcPts val="0"/>
              </a:spcBef>
              <a:spcAft>
                <a:spcPts val="0"/>
              </a:spcAft>
              <a:buNone/>
            </a:pPr>
            <a:r>
              <a:rPr lang="en">
                <a:solidFill>
                  <a:schemeClr val="dk1"/>
                </a:solidFill>
              </a:rPr>
              <a:t>Another way of doing this is through Diffie-Hellman. We’re not introducing the next step, but offering a different way to solve our problems.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6d4a46109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6d4a46109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an equivalent approach to RSA (we’ll talk later as to which is better).</a:t>
            </a:r>
            <a:endParaRPr/>
          </a:p>
          <a:p>
            <a:pPr indent="0" lvl="0" marL="0" rtl="0" algn="l">
              <a:spcBef>
                <a:spcPts val="0"/>
              </a:spcBef>
              <a:spcAft>
                <a:spcPts val="0"/>
              </a:spcAft>
              <a:buNone/>
            </a:pPr>
            <a:r>
              <a:t/>
            </a:r>
            <a:endParaRPr/>
          </a:p>
          <a:p>
            <a:pPr indent="-298450" lvl="0" marL="457200" rtl="0" algn="l">
              <a:spcBef>
                <a:spcPts val="0"/>
              </a:spcBef>
              <a:spcAft>
                <a:spcPts val="0"/>
              </a:spcAft>
              <a:buClr>
                <a:schemeClr val="dk1"/>
              </a:buClr>
              <a:buSzPts val="1100"/>
              <a:buChar char="-"/>
            </a:pPr>
            <a:r>
              <a:rPr lang="en">
                <a:solidFill>
                  <a:schemeClr val="dk1"/>
                </a:solidFill>
              </a:rPr>
              <a:t>What does it do?</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Canonical DHE</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Server sends g^a mod p (signed), client sends g^b mod p</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Discrete log problem means knowing g^a mod p and g^b mod p doesn’t give us g^ab mod p</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How does it solve our two goals?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Need to guarantee that we’re talking to the server -&gt; they’re the only one that can decrypt</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Plain DHE doesn’t guarantee the server is who they say they are (anyone can send g^a mod p)</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The signature ensures it!</a:t>
            </a:r>
            <a:endParaRPr>
              <a:solidFill>
                <a:schemeClr val="dk1"/>
              </a:solidFill>
            </a:endParaRPr>
          </a:p>
          <a:p>
            <a:pPr indent="-298450" lvl="3" marL="1828800" rtl="0" algn="l">
              <a:spcBef>
                <a:spcPts val="0"/>
              </a:spcBef>
              <a:spcAft>
                <a:spcPts val="0"/>
              </a:spcAft>
              <a:buClr>
                <a:schemeClr val="dk1"/>
              </a:buClr>
              <a:buSzPts val="1100"/>
              <a:buChar char="-"/>
            </a:pPr>
            <a:r>
              <a:rPr lang="en">
                <a:solidFill>
                  <a:schemeClr val="dk1"/>
                </a:solidFill>
              </a:rPr>
              <a:t>If Mallory tries to send g^m mod p -&gt; you’re out of luck (doesn’t have the signing key of the server)</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Get a shared secret -&gt; g^ab mod p</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b6d4a46109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b6d4a46109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 min - 1:10</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Now, we know (1) we are talking to the legitimate server and (2) we have a shared secret with the server</a:t>
            </a:r>
            <a:endParaRPr/>
          </a:p>
          <a:p>
            <a:pPr indent="-298450" lvl="0" marL="457200" rtl="0" algn="l">
              <a:spcBef>
                <a:spcPts val="0"/>
              </a:spcBef>
              <a:spcAft>
                <a:spcPts val="0"/>
              </a:spcAft>
              <a:buSzPts val="1100"/>
              <a:buChar char="-"/>
            </a:pPr>
            <a:r>
              <a:rPr lang="en"/>
              <a:t>Remember that key reuse is bad -&gt; we don’t want to reuse the same key for encrypting and MACing</a:t>
            </a:r>
            <a:endParaRPr/>
          </a:p>
          <a:p>
            <a:pPr indent="-298450" lvl="0" marL="457200" rtl="0" algn="l">
              <a:spcBef>
                <a:spcPts val="0"/>
              </a:spcBef>
              <a:spcAft>
                <a:spcPts val="0"/>
              </a:spcAft>
              <a:buSzPts val="1100"/>
              <a:buChar char="-"/>
            </a:pPr>
            <a:r>
              <a:rPr lang="en"/>
              <a:t>This happens offline (no one is sending the keys, both client and server are just deriving the four symmetric keys)</a:t>
            </a:r>
            <a:endParaRPr/>
          </a:p>
          <a:p>
            <a:pPr indent="-298450" lvl="1" marL="914400" rtl="0" algn="l">
              <a:spcBef>
                <a:spcPts val="0"/>
              </a:spcBef>
              <a:spcAft>
                <a:spcPts val="0"/>
              </a:spcAft>
              <a:buSzPts val="1100"/>
              <a:buChar char="-"/>
            </a:pPr>
            <a:r>
              <a:rPr lang="en"/>
              <a:t>Why four? We want to prevent reflection attacks - OOS (attacker takes client-&gt;server message and tries to replay it in the server-&gt;client direction)</a:t>
            </a:r>
            <a:endParaRPr/>
          </a:p>
          <a:p>
            <a:pPr indent="-298450" lvl="2" marL="1371600" rtl="0" algn="l">
              <a:spcBef>
                <a:spcPts val="0"/>
              </a:spcBef>
              <a:spcAft>
                <a:spcPts val="0"/>
              </a:spcAft>
              <a:buSzPts val="1100"/>
              <a:buChar char="-"/>
            </a:pPr>
            <a:r>
              <a:rPr lang="en"/>
              <a:t>Reflection will be </a:t>
            </a:r>
            <a:r>
              <a:rPr lang="en"/>
              <a:t>rejected</a:t>
            </a:r>
            <a:r>
              <a:rPr lang="en"/>
              <a:t> </a:t>
            </a:r>
            <a:r>
              <a:rPr lang="en"/>
              <a:t>because the HMAC value is incorrect (it will be a HMAC computed with the wrong MAC key).</a:t>
            </a:r>
            <a:endParaRPr/>
          </a:p>
          <a:p>
            <a:pPr indent="-298450" lvl="1" marL="914400" rtl="0" algn="l">
              <a:spcBef>
                <a:spcPts val="0"/>
              </a:spcBef>
              <a:spcAft>
                <a:spcPts val="0"/>
              </a:spcAft>
              <a:buClr>
                <a:schemeClr val="dk1"/>
              </a:buClr>
              <a:buSzPts val="1100"/>
              <a:buChar char="-"/>
            </a:pPr>
            <a:r>
              <a:rPr lang="en">
                <a:solidFill>
                  <a:schemeClr val="dk1"/>
                </a:solidFill>
              </a:rPr>
              <a:t>Security people are typically paranoid</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Usually just bring this up because students ask why (but technically two keys would be valid in our course’s approach)</a:t>
            </a:r>
            <a:endParaRPr>
              <a:solidFill>
                <a:schemeClr val="dk1"/>
              </a:solidFill>
            </a:endParaRPr>
          </a:p>
          <a:p>
            <a:pPr indent="-298450" lvl="1" marL="914400" rtl="0" algn="l">
              <a:spcBef>
                <a:spcPts val="0"/>
              </a:spcBef>
              <a:spcAft>
                <a:spcPts val="0"/>
              </a:spcAft>
              <a:buSzPts val="1100"/>
              <a:buChar char="-"/>
            </a:pPr>
            <a:r>
              <a:rPr lang="en"/>
              <a:t>We’ll see that we don’t actually even worry about reflection attacks (since these are actually solved in a later step)</a:t>
            </a:r>
            <a:endParaRPr/>
          </a:p>
          <a:p>
            <a:pPr indent="-298450" lvl="0" marL="457200" rtl="0" algn="l">
              <a:spcBef>
                <a:spcPts val="0"/>
              </a:spcBef>
              <a:spcAft>
                <a:spcPts val="0"/>
              </a:spcAft>
              <a:buSzPts val="1100"/>
              <a:buChar char="-"/>
            </a:pPr>
            <a:r>
              <a:rPr lang="en"/>
              <a:t>Both client and server know RB, RS, and PS (and they’re the only ones that know PS) -&gt; they’re the only ones that can generate these keys!	</a:t>
            </a:r>
            <a:endParaRPr/>
          </a:p>
          <a:p>
            <a:pPr indent="-298450" lvl="1" marL="914400" rtl="0" algn="l">
              <a:spcBef>
                <a:spcPts val="0"/>
              </a:spcBef>
              <a:spcAft>
                <a:spcPts val="0"/>
              </a:spcAft>
              <a:buSzPts val="1100"/>
              <a:buChar char="-"/>
            </a:pPr>
            <a:r>
              <a:rPr lang="en"/>
              <a:t>Derived keys rely on randomness as well!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b6d4a46109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b6d4a46109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Ensure that the handshake has not been tampered with!</a:t>
            </a:r>
            <a:endParaRPr/>
          </a:p>
          <a:p>
            <a:pPr indent="-298450" lvl="0" marL="457200" rtl="0" algn="l">
              <a:spcBef>
                <a:spcPts val="0"/>
              </a:spcBef>
              <a:spcAft>
                <a:spcPts val="0"/>
              </a:spcAft>
              <a:buSzPts val="1100"/>
              <a:buChar char="-"/>
            </a:pPr>
            <a:r>
              <a:rPr lang="en"/>
              <a:t>We haven’t been sending anything that ensures integrity yet!</a:t>
            </a:r>
            <a:endParaRPr/>
          </a:p>
          <a:p>
            <a:pPr indent="-298450" lvl="0" marL="457200" rtl="0" algn="l">
              <a:spcBef>
                <a:spcPts val="0"/>
              </a:spcBef>
              <a:spcAft>
                <a:spcPts val="0"/>
              </a:spcAft>
              <a:buSzPts val="1100"/>
              <a:buChar char="-"/>
            </a:pPr>
            <a:r>
              <a:rPr lang="en"/>
              <a:t>Cryptographic MAC, not layer 2 networking MAC addresses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b6d4a46109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b6d4a4610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 - 1:15</a:t>
            </a:r>
            <a:endParaRPr/>
          </a:p>
          <a:p>
            <a:pPr indent="-298450" lvl="0" marL="457200" rtl="0" algn="l">
              <a:spcBef>
                <a:spcPts val="0"/>
              </a:spcBef>
              <a:spcAft>
                <a:spcPts val="0"/>
              </a:spcAft>
              <a:buSzPts val="1100"/>
              <a:buChar char="-"/>
            </a:pPr>
            <a:r>
              <a:rPr lang="en"/>
              <a:t>Finally, we can send messages!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b6d4a46109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b6d4a46109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Walk through entire handshake, pause for questions (then continue through slide)</a:t>
            </a:r>
            <a:endParaRPr/>
          </a:p>
          <a:p>
            <a:pPr indent="-298450" lvl="0" marL="457200" rtl="0" algn="l">
              <a:spcBef>
                <a:spcPts val="0"/>
              </a:spcBef>
              <a:spcAft>
                <a:spcPts val="0"/>
              </a:spcAft>
              <a:buSzPts val="1100"/>
              <a:buChar char="-"/>
            </a:pPr>
            <a:r>
              <a:rPr lang="en"/>
              <a:t>Now we can check if we actually checked off our design goals</a:t>
            </a:r>
            <a:endParaRPr/>
          </a:p>
          <a:p>
            <a:pPr indent="-298450" lvl="1" marL="914400" rtl="0" algn="l">
              <a:spcBef>
                <a:spcPts val="0"/>
              </a:spcBef>
              <a:spcAft>
                <a:spcPts val="0"/>
              </a:spcAft>
              <a:buSzPts val="1100"/>
              <a:buChar char="-"/>
            </a:pPr>
            <a:r>
              <a:rPr lang="en"/>
              <a:t>Authenticity: make sure we’re talking to the </a:t>
            </a:r>
            <a:r>
              <a:rPr lang="en"/>
              <a:t>legitimate</a:t>
            </a:r>
            <a:r>
              <a:rPr lang="en"/>
              <a:t> server</a:t>
            </a:r>
            <a:endParaRPr/>
          </a:p>
          <a:p>
            <a:pPr indent="-298450" lvl="2" marL="1371600" rtl="0" algn="l">
              <a:spcBef>
                <a:spcPts val="0"/>
              </a:spcBef>
              <a:spcAft>
                <a:spcPts val="0"/>
              </a:spcAft>
              <a:buSzPts val="1100"/>
              <a:buChar char="-"/>
            </a:pPr>
            <a:r>
              <a:rPr lang="en"/>
              <a:t>We got the certificate to know what the server’s public key was!</a:t>
            </a:r>
            <a:endParaRPr/>
          </a:p>
          <a:p>
            <a:pPr indent="-298450" lvl="2" marL="1371600" rtl="0" algn="l">
              <a:spcBef>
                <a:spcPts val="0"/>
              </a:spcBef>
              <a:spcAft>
                <a:spcPts val="0"/>
              </a:spcAft>
              <a:buSzPts val="1100"/>
              <a:buChar char="-"/>
            </a:pPr>
            <a:r>
              <a:rPr lang="en"/>
              <a:t>We challenged the server to prove they were who they said they were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b6d4a46109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b6d4a46109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Remember we cared about replay attacks in integrity!</a:t>
            </a:r>
            <a:endParaRPr/>
          </a:p>
          <a:p>
            <a:pPr indent="-298450" lvl="0" marL="457200" rtl="0" algn="l">
              <a:spcBef>
                <a:spcPts val="0"/>
              </a:spcBef>
              <a:spcAft>
                <a:spcPts val="0"/>
              </a:spcAft>
              <a:buSzPts val="1100"/>
              <a:buChar char="-"/>
            </a:pPr>
            <a:r>
              <a:rPr lang="en"/>
              <a:t>What’s a replay attack?</a:t>
            </a:r>
            <a:endParaRPr/>
          </a:p>
          <a:p>
            <a:pPr indent="-298450" lvl="1" marL="914400" rtl="0" algn="l">
              <a:spcBef>
                <a:spcPts val="0"/>
              </a:spcBef>
              <a:spcAft>
                <a:spcPts val="0"/>
              </a:spcAft>
              <a:buClr>
                <a:schemeClr val="dk1"/>
              </a:buClr>
              <a:buSzPts val="1100"/>
              <a:buChar char="-"/>
            </a:pPr>
            <a:r>
              <a:rPr lang="en">
                <a:solidFill>
                  <a:schemeClr val="dk1"/>
                </a:solidFill>
              </a:rPr>
              <a:t>Assume confidentiality/integrity, attacker sees packet (so cannot read or tamper, but writes it down)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Then, resent the exact same packet again -&gt; would the victim accept the message the second time?</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Message and MAC would still be valid!</a:t>
            </a:r>
            <a:endParaRPr>
              <a:solidFill>
                <a:schemeClr val="dk1"/>
              </a:solidFill>
            </a:endParaRPr>
          </a:p>
          <a:p>
            <a:pPr indent="-298450" lvl="0" marL="457200" rtl="0" algn="l">
              <a:spcBef>
                <a:spcPts val="0"/>
              </a:spcBef>
              <a:spcAft>
                <a:spcPts val="0"/>
              </a:spcAft>
              <a:buSzPts val="1100"/>
              <a:buChar char="-"/>
            </a:pPr>
            <a:r>
              <a:rPr lang="en"/>
              <a:t>Two types: replay in a past connection, replay in a current connection</a:t>
            </a:r>
            <a:endParaRPr/>
          </a:p>
          <a:p>
            <a:pPr indent="-298450" lvl="0" marL="457200" rtl="0" algn="l">
              <a:spcBef>
                <a:spcPts val="0"/>
              </a:spcBef>
              <a:spcAft>
                <a:spcPts val="0"/>
              </a:spcAft>
              <a:buSzPts val="1100"/>
              <a:buChar char="-"/>
            </a:pPr>
            <a:r>
              <a:rPr lang="en"/>
              <a:t>Right now, let’s assume we had a TLS connection, then we stopped (sent a FIN TCP packet, etc), and started up a new one.</a:t>
            </a:r>
            <a:endParaRPr/>
          </a:p>
          <a:p>
            <a:pPr indent="-298450" lvl="1" marL="914400" rtl="0" algn="l">
              <a:spcBef>
                <a:spcPts val="0"/>
              </a:spcBef>
              <a:spcAft>
                <a:spcPts val="0"/>
              </a:spcAft>
              <a:buSzPts val="1100"/>
              <a:buChar char="-"/>
            </a:pPr>
            <a:r>
              <a:rPr lang="en"/>
              <a:t>Randomness is different -&gt; RB and RS</a:t>
            </a:r>
            <a:endParaRPr/>
          </a:p>
          <a:p>
            <a:pPr indent="-298450" lvl="1" marL="914400" rtl="0" algn="l">
              <a:spcBef>
                <a:spcPts val="0"/>
              </a:spcBef>
              <a:spcAft>
                <a:spcPts val="0"/>
              </a:spcAft>
              <a:buSzPts val="1100"/>
              <a:buChar char="-"/>
            </a:pPr>
            <a:r>
              <a:rPr lang="en"/>
              <a:t>If we use a message from a past connection, the symmetric keys are different (so MACs would fail!)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b6d4a46109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b6d4a46109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Like timestamping messages!</a:t>
            </a:r>
            <a:endParaRPr/>
          </a:p>
          <a:p>
            <a:pPr indent="-298450" lvl="0" marL="457200" rtl="0" algn="l">
              <a:spcBef>
                <a:spcPts val="0"/>
              </a:spcBef>
              <a:spcAft>
                <a:spcPts val="0"/>
              </a:spcAft>
              <a:buSzPts val="1100"/>
              <a:buChar char="-"/>
            </a:pPr>
            <a:r>
              <a:rPr lang="en"/>
              <a:t>TCP sequence numbers are out in the open (in the header of Layer 4 packet) -&gt; these are used to reassemble/order messages</a:t>
            </a:r>
            <a:endParaRPr/>
          </a:p>
          <a:p>
            <a:pPr indent="-298450" lvl="1" marL="914400" rtl="0" algn="l">
              <a:spcBef>
                <a:spcPts val="0"/>
              </a:spcBef>
              <a:spcAft>
                <a:spcPts val="0"/>
              </a:spcAft>
              <a:buSzPts val="1100"/>
              <a:buChar char="-"/>
            </a:pPr>
            <a:r>
              <a:rPr lang="en"/>
              <a:t>TLS record numbers are encrypted and thus cannot be seen!</a:t>
            </a:r>
            <a:endParaRPr/>
          </a:p>
          <a:p>
            <a:pPr indent="-298450" lvl="1" marL="914400" rtl="0" algn="l">
              <a:spcBef>
                <a:spcPts val="0"/>
              </a:spcBef>
              <a:spcAft>
                <a:spcPts val="0"/>
              </a:spcAft>
              <a:buSzPts val="1100"/>
              <a:buChar char="-"/>
            </a:pPr>
            <a:r>
              <a:rPr lang="en"/>
              <a:t>“Pay Mallory $10” at 1:XX… twice? Sus</a:t>
            </a:r>
            <a:endParaRPr/>
          </a:p>
          <a:p>
            <a:pPr indent="-298450" lvl="2" marL="1371600" rtl="0" algn="l">
              <a:spcBef>
                <a:spcPts val="0"/>
              </a:spcBef>
              <a:spcAft>
                <a:spcPts val="0"/>
              </a:spcAft>
              <a:buSzPts val="1100"/>
              <a:buChar char="-"/>
            </a:pPr>
            <a:r>
              <a:rPr lang="en"/>
              <a:t>Kind of like how banks sometimes warn you about duplicate charges (since it’s the same amount of money, at the same time from the same place)</a:t>
            </a:r>
            <a:endParaRPr/>
          </a:p>
          <a:p>
            <a:pPr indent="-298450" lvl="0" marL="457200" rtl="0" algn="l">
              <a:spcBef>
                <a:spcPts val="0"/>
              </a:spcBef>
              <a:spcAft>
                <a:spcPts val="0"/>
              </a:spcAft>
              <a:buSzPts val="1100"/>
              <a:buChar char="-"/>
            </a:pPr>
            <a:r>
              <a:rPr lang="en"/>
              <a:t>Record numbers are unique (increase by 1)</a:t>
            </a:r>
            <a:endParaRPr/>
          </a:p>
          <a:p>
            <a:pPr indent="-298450" lvl="1" marL="914400" rtl="0" algn="l">
              <a:spcBef>
                <a:spcPts val="0"/>
              </a:spcBef>
              <a:spcAft>
                <a:spcPts val="0"/>
              </a:spcAft>
              <a:buSzPts val="1100"/>
              <a:buChar char="-"/>
            </a:pPr>
            <a:r>
              <a:rPr lang="en"/>
              <a:t>Msg #161: Pay Mallory $10</a:t>
            </a:r>
            <a:endParaRPr/>
          </a:p>
          <a:p>
            <a:pPr indent="-298450" lvl="1" marL="914400" rtl="0" algn="l">
              <a:spcBef>
                <a:spcPts val="0"/>
              </a:spcBef>
              <a:spcAft>
                <a:spcPts val="0"/>
              </a:spcAft>
              <a:buSzPts val="1100"/>
              <a:buChar char="-"/>
            </a:pPr>
            <a:r>
              <a:rPr lang="en"/>
              <a:t>Msg #162: Pay Mallory $10 -&gt; this is fine!</a:t>
            </a:r>
            <a:endParaRPr/>
          </a:p>
          <a:p>
            <a:pPr indent="0" lvl="0" marL="0" rtl="0" algn="l">
              <a:spcBef>
                <a:spcPts val="0"/>
              </a:spcBef>
              <a:spcAft>
                <a:spcPts val="0"/>
              </a:spcAft>
              <a:buNone/>
            </a:pPr>
            <a:r>
              <a:rPr lang="en"/>
              <a:t>Two types of replay attacks!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b6d4a46109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b6d4a46109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45 min - 1:25</a:t>
            </a:r>
            <a:endParaRPr/>
          </a:p>
          <a:p>
            <a:pPr indent="0" lvl="0" marL="0" rtl="0" algn="l">
              <a:spcBef>
                <a:spcPts val="0"/>
              </a:spcBef>
              <a:spcAft>
                <a:spcPts val="0"/>
              </a:spcAft>
              <a:buNone/>
            </a:pPr>
            <a:r>
              <a:rPr lang="en"/>
              <a:t>That’s the full TLS handshake in all its gory detail. Qs? This is definitely one of our densest topics–it’s going to take a couple run throughs to fully digest.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b6d4a46109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b6d4a4610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Diffie-Hellman itself guaranteed forward secrecy</a:t>
            </a:r>
            <a:endParaRPr/>
          </a:p>
          <a:p>
            <a:pPr indent="-298450" lvl="0" marL="457200" rtl="0" algn="l">
              <a:spcBef>
                <a:spcPts val="0"/>
              </a:spcBef>
              <a:spcAft>
                <a:spcPts val="0"/>
              </a:spcAft>
              <a:buSzPts val="1100"/>
              <a:buChar char="-"/>
            </a:pPr>
            <a:r>
              <a:rPr lang="en"/>
              <a:t>Forward secrecy: Are you protected from the attacker (in the future) reading messages that they’ve written down in the past if they’ve now gained access to values? </a:t>
            </a:r>
            <a:endParaRPr/>
          </a:p>
          <a:p>
            <a:pPr indent="-298450" lvl="1" marL="914400" rtl="0" algn="l">
              <a:spcBef>
                <a:spcPts val="0"/>
              </a:spcBef>
              <a:spcAft>
                <a:spcPts val="0"/>
              </a:spcAft>
              <a:buSzPts val="1100"/>
              <a:buChar char="-"/>
            </a:pPr>
            <a:r>
              <a:rPr lang="en"/>
              <a:t>This helps us decide between RSA and DHE</a:t>
            </a:r>
            <a:endParaRPr/>
          </a:p>
          <a:p>
            <a:pPr indent="-298450" lvl="0" marL="457200" rtl="0" algn="l">
              <a:spcBef>
                <a:spcPts val="0"/>
              </a:spcBef>
              <a:spcAft>
                <a:spcPts val="0"/>
              </a:spcAft>
              <a:buSzPts val="1100"/>
              <a:buChar char="-"/>
            </a:pPr>
            <a:r>
              <a:rPr lang="en"/>
              <a:t>RSA: Attacker writes down RB, RS, and the </a:t>
            </a:r>
            <a:r>
              <a:rPr lang="en"/>
              <a:t>encrypted</a:t>
            </a:r>
            <a:r>
              <a:rPr lang="en"/>
              <a:t> PS -&gt; if they later find out the server’s private key, they can decrypt PS and re-derive all the keys that have ever been used for the connections</a:t>
            </a:r>
            <a:endParaRPr/>
          </a:p>
          <a:p>
            <a:pPr indent="-298450" lvl="1" marL="914400" rtl="0" algn="l">
              <a:spcBef>
                <a:spcPts val="0"/>
              </a:spcBef>
              <a:spcAft>
                <a:spcPts val="0"/>
              </a:spcAft>
              <a:buSzPts val="1100"/>
              <a:buChar char="-"/>
            </a:pPr>
            <a:r>
              <a:rPr lang="en"/>
              <a:t>Problem: Private keys are usually kept for a long time so if you encrypt using RSA, if the server’s private key is compromised, rip</a:t>
            </a:r>
            <a:endParaRPr/>
          </a:p>
          <a:p>
            <a:pPr indent="-298450" lvl="0" marL="457200" rtl="0" algn="l">
              <a:spcBef>
                <a:spcPts val="0"/>
              </a:spcBef>
              <a:spcAft>
                <a:spcPts val="0"/>
              </a:spcAft>
              <a:buSzPts val="1100"/>
              <a:buChar char="-"/>
            </a:pPr>
            <a:r>
              <a:rPr lang="en"/>
              <a:t>DHE: Doesn’t rely on long-term secrets like RSA does! g^a mod p and g^b mod p don’t tell you what g^ab mod p is</a:t>
            </a:r>
            <a:endParaRPr/>
          </a:p>
          <a:p>
            <a:pPr indent="-298450" lvl="1" marL="914400" rtl="0" algn="l">
              <a:spcBef>
                <a:spcPts val="0"/>
              </a:spcBef>
              <a:spcAft>
                <a:spcPts val="0"/>
              </a:spcAft>
              <a:buSzPts val="1100"/>
              <a:buChar char="-"/>
            </a:pPr>
            <a:r>
              <a:rPr lang="en"/>
              <a:t>Once we derive g^ab mod p, can destroy a and b (so even if Mallory hacked my laptop, she wouldn’t know what a and b were)</a:t>
            </a:r>
            <a:endParaRPr/>
          </a:p>
          <a:p>
            <a:pPr indent="-298450" lvl="1" marL="914400" rtl="0" algn="l">
              <a:spcBef>
                <a:spcPts val="0"/>
              </a:spcBef>
              <a:spcAft>
                <a:spcPts val="0"/>
              </a:spcAft>
              <a:buSzPts val="1100"/>
              <a:buChar char="-"/>
            </a:pPr>
            <a:r>
              <a:rPr lang="en"/>
              <a:t>Then, once the session is over, g^ab mod p is also destroyed (and attackers have no hope in learning the symmetric keys for TLS)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b6d4a46109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b6d4a46109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Forced to use DHE over RSA -&gt; no longer available</a:t>
            </a:r>
            <a:endParaRPr/>
          </a:p>
          <a:p>
            <a:pPr indent="-298450" lvl="0" marL="457200" rtl="0" algn="l">
              <a:spcBef>
                <a:spcPts val="0"/>
              </a:spcBef>
              <a:spcAft>
                <a:spcPts val="0"/>
              </a:spcAft>
              <a:buSzPts val="1100"/>
              <a:buChar char="-"/>
            </a:pPr>
            <a:r>
              <a:rPr lang="en"/>
              <a:t>Performance optimization: like WPA (remember we’d send the MACs alongside a nonce and the GTK?)</a:t>
            </a:r>
            <a:endParaRPr/>
          </a:p>
          <a:p>
            <a:pPr indent="-298450" lvl="0" marL="457200" rtl="0" algn="l">
              <a:spcBef>
                <a:spcPts val="0"/>
              </a:spcBef>
              <a:spcAft>
                <a:spcPts val="0"/>
              </a:spcAft>
              <a:buSzPts val="1100"/>
              <a:buChar char="-"/>
            </a:pPr>
            <a:r>
              <a:rPr lang="en"/>
              <a:t>One key for everything -&gt; one algorithm</a:t>
            </a:r>
            <a:endParaRPr/>
          </a:p>
          <a:p>
            <a:pPr indent="-298450" lvl="1" marL="914400" rtl="0" algn="l">
              <a:spcBef>
                <a:spcPts val="0"/>
              </a:spcBef>
              <a:spcAft>
                <a:spcPts val="0"/>
              </a:spcAft>
              <a:buSzPts val="1100"/>
              <a:buChar char="-"/>
            </a:pPr>
            <a:r>
              <a:rPr lang="en"/>
              <a:t>Used to do MAC-then-encrypt for legacy reasons</a:t>
            </a:r>
            <a:endParaRPr/>
          </a:p>
          <a:p>
            <a:pPr indent="-298450" lvl="1" marL="914400" rtl="0" algn="l">
              <a:spcBef>
                <a:spcPts val="0"/>
              </a:spcBef>
              <a:spcAft>
                <a:spcPts val="0"/>
              </a:spcAft>
              <a:buSzPts val="1100"/>
              <a:buChar char="-"/>
            </a:pPr>
            <a:r>
              <a:rPr lang="en"/>
              <a:t>Security improvement!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b6d4a46109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b6d4a46109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50 min - 1:30</a:t>
            </a:r>
            <a:endParaRPr/>
          </a:p>
          <a:p>
            <a:pPr indent="0" lvl="0" marL="0" rtl="0" algn="l">
              <a:spcBef>
                <a:spcPts val="0"/>
              </a:spcBef>
              <a:spcAft>
                <a:spcPts val="0"/>
              </a:spcAft>
              <a:buNone/>
            </a:pPr>
            <a:r>
              <a:rPr lang="en"/>
              <a:t>We’re done talking about how the protocol really works!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b6d4a46109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b6d4a46109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Handshake has overhead but it’s pretty minor</a:t>
            </a:r>
            <a:endParaRPr/>
          </a:p>
          <a:p>
            <a:pPr indent="-298450" lvl="0" marL="457200" rtl="0" algn="l">
              <a:spcBef>
                <a:spcPts val="0"/>
              </a:spcBef>
              <a:spcAft>
                <a:spcPts val="0"/>
              </a:spcAft>
              <a:buSzPts val="1100"/>
              <a:buChar char="-"/>
            </a:pPr>
            <a:r>
              <a:rPr lang="en"/>
              <a:t>Every message now has to be encrypted instead of just sending plaintext over TCP</a:t>
            </a:r>
            <a:endParaRPr/>
          </a:p>
          <a:p>
            <a:pPr indent="-298450" lvl="1" marL="914400" rtl="0" algn="l">
              <a:spcBef>
                <a:spcPts val="0"/>
              </a:spcBef>
              <a:spcAft>
                <a:spcPts val="0"/>
              </a:spcAft>
              <a:buSzPts val="1100"/>
              <a:buChar char="-"/>
            </a:pPr>
            <a:r>
              <a:rPr lang="en"/>
              <a:t>Symmetric-key is so fast: it’s just bit flips!</a:t>
            </a:r>
            <a:endParaRPr/>
          </a:p>
          <a:p>
            <a:pPr indent="-298450" lvl="1" marL="914400" rtl="0" algn="l">
              <a:spcBef>
                <a:spcPts val="0"/>
              </a:spcBef>
              <a:spcAft>
                <a:spcPts val="0"/>
              </a:spcAft>
              <a:buSzPts val="1100"/>
              <a:buChar char="-"/>
            </a:pPr>
            <a:r>
              <a:rPr lang="en"/>
              <a:t>TLS is such a common protocol, AES, etc. everyone’s using it -&gt; modern hardware is dedicated for that!</a:t>
            </a:r>
            <a:endParaRPr/>
          </a:p>
          <a:p>
            <a:pPr indent="-298450" lvl="1" marL="914400" rtl="0" algn="l">
              <a:spcBef>
                <a:spcPts val="0"/>
              </a:spcBef>
              <a:spcAft>
                <a:spcPts val="0"/>
              </a:spcAft>
              <a:buSzPts val="1100"/>
              <a:buChar char="-"/>
            </a:pPr>
            <a:r>
              <a:rPr lang="en"/>
              <a:t>Technically slower than TCP, but you’re probably never going to notice it</a:t>
            </a:r>
            <a:endParaRPr/>
          </a:p>
          <a:p>
            <a:pPr indent="-298450" lvl="0" marL="457200" rtl="0" algn="l">
              <a:spcBef>
                <a:spcPts val="0"/>
              </a:spcBef>
              <a:spcAft>
                <a:spcPts val="0"/>
              </a:spcAft>
              <a:buSzPts val="1100"/>
              <a:buChar char="-"/>
            </a:pPr>
            <a:r>
              <a:rPr lang="en"/>
              <a:t>Latency: in vanilla TCP, need the 3-way handshake (syn, syn-ack, ack), but now in TLS, need to set up entire TCP handshake + </a:t>
            </a:r>
            <a:r>
              <a:rPr lang="en"/>
              <a:t>everything else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b6d4a46109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b6d4a46109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ARP spoofing, DHCP spoofing, BGP MITM -&gt; we mentioned that we just needed to rely on a higher layer</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is that higher layer -&gt; TLS provides end-to-end security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Two things need to be true: client needs to be secure and server needs to be secure (no one can know their secrets)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If this is true, even if everyone in the middle was an attacker, this is a secure channel</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How? To derive the preshared secret, you either need to be the client who sent it or someone who has the private key to decrypt (which is just the server)</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Even if a MITM wants to be able to read it, they can’t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Doesn’t prevent problems if one of the endpoints is malicious though</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799e2f3d58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799e2f3d58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Even if MITM dutifully forwards messages (doesn’t even tamper), they won’t know the PS, so they don’t know the keys that will be used!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799e2f3d58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799e2f3d58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b6d4a46109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b6d4a46109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TOR!</a:t>
            </a:r>
            <a:endParaRPr/>
          </a:p>
          <a:p>
            <a:pPr indent="-298450" lvl="0" marL="457200" rtl="0" algn="l">
              <a:spcBef>
                <a:spcPts val="0"/>
              </a:spcBef>
              <a:spcAft>
                <a:spcPts val="0"/>
              </a:spcAft>
              <a:buSzPts val="1100"/>
              <a:buChar char="-"/>
            </a:pPr>
            <a:r>
              <a:rPr lang="en"/>
              <a:t>Remember that a Layer 3 packet wraps around a Layer 4 packet, etc.</a:t>
            </a:r>
            <a:endParaRPr/>
          </a:p>
          <a:p>
            <a:pPr indent="-298450" lvl="1" marL="914400" rtl="0" algn="l">
              <a:spcBef>
                <a:spcPts val="0"/>
              </a:spcBef>
              <a:spcAft>
                <a:spcPts val="0"/>
              </a:spcAft>
              <a:buSzPts val="1100"/>
              <a:buChar char="-"/>
            </a:pPr>
            <a:r>
              <a:rPr lang="en"/>
              <a:t>This means that IP addresses/ports are not encrypted</a:t>
            </a:r>
            <a:endParaRPr/>
          </a:p>
          <a:p>
            <a:pPr indent="-298450" lvl="1" marL="914400" rtl="0" algn="l">
              <a:spcBef>
                <a:spcPts val="0"/>
              </a:spcBef>
              <a:spcAft>
                <a:spcPts val="0"/>
              </a:spcAft>
              <a:buSzPts val="1100"/>
              <a:buChar char="-"/>
            </a:pPr>
            <a:r>
              <a:rPr lang="en"/>
              <a:t>This makes sense because in BGP, etc. routing needs to be able to read without being the end user!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b6d4a46109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b6d4a46109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We’ll talk about this in denial of service</a:t>
            </a:r>
            <a:endParaRPr/>
          </a:p>
          <a:p>
            <a:pPr indent="-298450" lvl="0" marL="457200" rtl="0" algn="l">
              <a:spcBef>
                <a:spcPts val="0"/>
              </a:spcBef>
              <a:spcAft>
                <a:spcPts val="0"/>
              </a:spcAft>
              <a:buSzPts val="1100"/>
              <a:buChar char="-"/>
            </a:pPr>
            <a:r>
              <a:rPr lang="en"/>
              <a:t>In the layers of abstraction, the TLS encrypted message (with the MAC) is within a TCP packet</a:t>
            </a:r>
            <a:endParaRPr/>
          </a:p>
          <a:p>
            <a:pPr indent="-298450" lvl="1" marL="914400" rtl="0" algn="l">
              <a:spcBef>
                <a:spcPts val="0"/>
              </a:spcBef>
              <a:spcAft>
                <a:spcPts val="0"/>
              </a:spcAft>
              <a:buSzPts val="1100"/>
              <a:buChar char="-"/>
            </a:pPr>
            <a:r>
              <a:rPr lang="en"/>
              <a:t>This is the data wrapped </a:t>
            </a:r>
            <a:r>
              <a:rPr lang="en"/>
              <a:t>within</a:t>
            </a:r>
            <a:r>
              <a:rPr lang="en"/>
              <a:t> a TCP header</a:t>
            </a:r>
            <a:endParaRPr/>
          </a:p>
          <a:p>
            <a:pPr indent="-298450" lvl="0" marL="457200" rtl="0" algn="l">
              <a:spcBef>
                <a:spcPts val="0"/>
              </a:spcBef>
              <a:spcAft>
                <a:spcPts val="0"/>
              </a:spcAft>
              <a:buSzPts val="1100"/>
              <a:buChar char="-"/>
            </a:pPr>
            <a:r>
              <a:rPr lang="en"/>
              <a:t>Since every secure TLS message is still sent over TCP, TCP header is still vulnerable, so flags are vulnerable (like the RST injection - you inject with the right sequence numbers!)</a:t>
            </a:r>
            <a:endParaRPr/>
          </a:p>
          <a:p>
            <a:pPr indent="-298450" lvl="1" marL="914400" rtl="0" algn="l">
              <a:spcBef>
                <a:spcPts val="0"/>
              </a:spcBef>
              <a:spcAft>
                <a:spcPts val="0"/>
              </a:spcAft>
              <a:buSzPts val="1100"/>
              <a:buChar char="-"/>
            </a:pPr>
            <a:r>
              <a:rPr lang="en"/>
              <a:t>Flags are not part of the encrypted message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b6d4a46109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b6d4a46109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Networking unit (which started from the lowest layer) has actually hit our topmost layer, which intersects with our Web unit</a:t>
            </a:r>
            <a:endParaRPr/>
          </a:p>
          <a:p>
            <a:pPr indent="-298450" lvl="0" marL="457200" rtl="0" algn="l">
              <a:spcBef>
                <a:spcPts val="0"/>
              </a:spcBef>
              <a:spcAft>
                <a:spcPts val="0"/>
              </a:spcAft>
              <a:buSzPts val="1100"/>
              <a:buChar char="-"/>
            </a:pPr>
            <a:r>
              <a:rPr lang="en"/>
              <a:t>Did anyone take 61c with Prof Dan Garcia, where he makes you do the conga when you finally learn the connection between hardware and software components?</a:t>
            </a:r>
            <a:endParaRPr/>
          </a:p>
          <a:p>
            <a:pPr indent="-298450" lvl="1" marL="914400" rtl="0" algn="l">
              <a:spcBef>
                <a:spcPts val="0"/>
              </a:spcBef>
              <a:spcAft>
                <a:spcPts val="0"/>
              </a:spcAft>
              <a:buSzPts val="1100"/>
              <a:buChar char="-"/>
            </a:pPr>
            <a:r>
              <a:rPr lang="en"/>
              <a:t>We won’t make you do this (i mean your choice if you want to after class - i won’t stop you)</a:t>
            </a:r>
            <a:endParaRPr/>
          </a:p>
          <a:p>
            <a:pPr indent="-298450" lvl="0" marL="457200" rtl="0" algn="l">
              <a:spcBef>
                <a:spcPts val="0"/>
              </a:spcBef>
              <a:spcAft>
                <a:spcPts val="0"/>
              </a:spcAft>
              <a:buSzPts val="1100"/>
              <a:buChar char="-"/>
            </a:pPr>
            <a:r>
              <a:rPr lang="en"/>
              <a:t>We can build anything over TLS since it guarantees we can send messages from one person to another with cryptographic guarantees</a:t>
            </a:r>
            <a:endParaRPr/>
          </a:p>
          <a:p>
            <a:pPr indent="-298450" lvl="0" marL="457200" rtl="0" algn="l">
              <a:spcBef>
                <a:spcPts val="0"/>
              </a:spcBef>
              <a:spcAft>
                <a:spcPts val="0"/>
              </a:spcAft>
              <a:buSzPts val="1100"/>
              <a:buChar char="-"/>
            </a:pPr>
            <a:r>
              <a:rPr lang="en"/>
              <a:t>Remember in web, we were discussing abstractly, how you can send a message to someone else? Well, we just finished that–networking allows you to do this!</a:t>
            </a:r>
            <a:endParaRPr/>
          </a:p>
          <a:p>
            <a:pPr indent="-298450" lvl="0" marL="457200" rtl="0" algn="l">
              <a:spcBef>
                <a:spcPts val="0"/>
              </a:spcBef>
              <a:spcAft>
                <a:spcPts val="0"/>
              </a:spcAft>
              <a:buSzPts val="1100"/>
              <a:buChar char="-"/>
            </a:pPr>
            <a:r>
              <a:rPr lang="en"/>
              <a:t>All HTTP needs is a way to send messages between computers -&gt; you have that, it’s called TLS!</a:t>
            </a:r>
            <a:endParaRPr/>
          </a:p>
          <a:p>
            <a:pPr indent="-298450" lvl="0" marL="457200" rtl="0" algn="l">
              <a:spcBef>
                <a:spcPts val="0"/>
              </a:spcBef>
              <a:spcAft>
                <a:spcPts val="0"/>
              </a:spcAft>
              <a:buSzPts val="1100"/>
              <a:buChar char="-"/>
            </a:pPr>
            <a:r>
              <a:rPr lang="en"/>
              <a:t>You can build ssh, file transfer protocols, etc -&gt; a lot of different application layer protocols (we only require you to know HTTPS)</a:t>
            </a:r>
            <a:endParaRPr/>
          </a:p>
          <a:p>
            <a:pPr indent="-298450" lvl="0" marL="457200" rtl="0" algn="l">
              <a:spcBef>
                <a:spcPts val="0"/>
              </a:spcBef>
              <a:spcAft>
                <a:spcPts val="0"/>
              </a:spcAft>
              <a:buSzPts val="1100"/>
              <a:buChar char="-"/>
            </a:pPr>
            <a:r>
              <a:rPr lang="en"/>
              <a:t>XSS:</a:t>
            </a:r>
            <a:endParaRPr/>
          </a:p>
          <a:p>
            <a:pPr indent="-298450" lvl="1" marL="914400" rtl="0" algn="l">
              <a:spcBef>
                <a:spcPts val="0"/>
              </a:spcBef>
              <a:spcAft>
                <a:spcPts val="0"/>
              </a:spcAft>
              <a:buSzPts val="1100"/>
              <a:buChar char="-"/>
            </a:pPr>
            <a:r>
              <a:rPr lang="en"/>
              <a:t>I can create the most beautiful system with hardcore TLS, but in that encrypted TLS message that’s sent, there can be malicious Javascript that someone stored on my server… whelp</a:t>
            </a:r>
            <a:endParaRPr/>
          </a:p>
          <a:p>
            <a:pPr indent="-298450" lvl="1" marL="914400" rtl="0" algn="l">
              <a:spcBef>
                <a:spcPts val="0"/>
              </a:spcBef>
              <a:spcAft>
                <a:spcPts val="0"/>
              </a:spcAft>
              <a:buSzPts val="1100"/>
              <a:buChar char="-"/>
            </a:pPr>
            <a:r>
              <a:rPr lang="en"/>
              <a:t>No one can tamper with the payload, but rip</a:t>
            </a:r>
            <a:endParaRPr/>
          </a:p>
          <a:p>
            <a:pPr indent="-298450" lvl="1" marL="914400" rtl="0" algn="l">
              <a:spcBef>
                <a:spcPts val="0"/>
              </a:spcBef>
              <a:spcAft>
                <a:spcPts val="0"/>
              </a:spcAft>
              <a:buSzPts val="1100"/>
              <a:buChar char="-"/>
            </a:pPr>
            <a:r>
              <a:rPr lang="en"/>
              <a:t>TLS stops networking attacks at lower layers, not </a:t>
            </a:r>
            <a:r>
              <a:rPr lang="en"/>
              <a:t>application</a:t>
            </a:r>
            <a:r>
              <a:rPr lang="en"/>
              <a:t>-layer web vulnerabilities. It’s not a one-stop shop.</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b6d4a46109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b6d4a46109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Modern computers now try to redirect you to HTTPS (but browsers typically default to unencrypted HTTP - did not design in security from the start)</a:t>
            </a:r>
            <a:endParaRPr/>
          </a:p>
          <a:p>
            <a:pPr indent="0" lvl="0" marL="0" rtl="0" algn="l">
              <a:spcBef>
                <a:spcPts val="0"/>
              </a:spcBef>
              <a:spcAft>
                <a:spcPts val="0"/>
              </a:spcAft>
              <a:buNone/>
            </a:pPr>
            <a:r>
              <a:rPr lang="en"/>
              <a:t>MITM can intercept HTTP and just serve HTTP to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Good reminder to actually type out that https:// lowkey, thanks blue slides!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b6d4a46109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b6d4a46109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 hour - 1:40 min</a:t>
            </a:r>
            <a:endParaRPr/>
          </a:p>
          <a:p>
            <a:pPr indent="-298450" lvl="0" marL="457200" rtl="0" algn="l">
              <a:spcBef>
                <a:spcPts val="0"/>
              </a:spcBef>
              <a:spcAft>
                <a:spcPts val="0"/>
              </a:spcAft>
              <a:buSzPts val="1100"/>
              <a:buChar char="-"/>
            </a:pPr>
            <a:r>
              <a:rPr lang="en"/>
              <a:t>Design problem!</a:t>
            </a:r>
            <a:endParaRPr/>
          </a:p>
          <a:p>
            <a:pPr indent="-298450" lvl="0" marL="457200" rtl="0" algn="l">
              <a:spcBef>
                <a:spcPts val="0"/>
              </a:spcBef>
              <a:spcAft>
                <a:spcPts val="0"/>
              </a:spcAft>
              <a:buSzPts val="1100"/>
              <a:buChar char="-"/>
            </a:pPr>
            <a:r>
              <a:rPr lang="en"/>
              <a:t>Used to have a lock icon when HTTPS, but nothing when using HTTP</a:t>
            </a:r>
            <a:endParaRPr/>
          </a:p>
          <a:p>
            <a:pPr indent="-298450" lvl="0" marL="457200" rtl="0" algn="l">
              <a:spcBef>
                <a:spcPts val="0"/>
              </a:spcBef>
              <a:spcAft>
                <a:spcPts val="0"/>
              </a:spcAft>
              <a:buSzPts val="1100"/>
              <a:buChar char="-"/>
            </a:pPr>
            <a:r>
              <a:rPr lang="en"/>
              <a:t>We’re not punishing servers for not using HTTPS</a:t>
            </a:r>
            <a:endParaRPr/>
          </a:p>
          <a:p>
            <a:pPr indent="-298450" lvl="0" marL="457200" rtl="0" algn="l">
              <a:spcBef>
                <a:spcPts val="0"/>
              </a:spcBef>
              <a:spcAft>
                <a:spcPts val="0"/>
              </a:spcAft>
              <a:buSzPts val="1100"/>
              <a:buChar char="-"/>
            </a:pPr>
            <a:r>
              <a:rPr lang="en"/>
              <a:t>We want to incentivize HTTPS (and thus, TLS)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b6d4a46109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b6d4a46109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Consider human factors</a:t>
            </a:r>
            <a:endParaRPr/>
          </a:p>
          <a:p>
            <a:pPr indent="-298450" lvl="0" marL="457200" rtl="0" algn="l">
              <a:spcBef>
                <a:spcPts val="0"/>
              </a:spcBef>
              <a:spcAft>
                <a:spcPts val="0"/>
              </a:spcAft>
              <a:buSzPts val="1100"/>
              <a:buChar char="-"/>
            </a:pPr>
            <a:r>
              <a:rPr lang="en"/>
              <a:t>UI Attacks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b6d4a46109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b6d4a46109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Nowadays, there’s a “not secure” icon (you get punished if you don’t use TLS)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b6d4a46109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b6d4a46109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2"/>
              </a:rPr>
              <a:t>https://blog.cryptographyengineering.com/2017/10/23/attack-of-the-week-duhk/</a:t>
            </a:r>
            <a:r>
              <a:rPr lang="en" sz="1200">
                <a:solidFill>
                  <a:schemeClr val="dk1"/>
                </a:solidFill>
              </a:rPr>
              <a:t> </a:t>
            </a:r>
            <a:endParaRPr sz="1200">
              <a:solidFill>
                <a:schemeClr val="dk1"/>
              </a:solidFill>
            </a:endParaRPr>
          </a:p>
          <a:p>
            <a:pPr indent="0" lvl="0" marL="0" rtl="0" algn="l">
              <a:spcBef>
                <a:spcPts val="0"/>
              </a:spcBef>
              <a:spcAft>
                <a:spcPts val="0"/>
              </a:spcAft>
              <a:buNone/>
            </a:pPr>
            <a:r>
              <a:rPr lang="en" sz="1200">
                <a:solidFill>
                  <a:schemeClr val="dk1"/>
                </a:solidFill>
              </a:rPr>
              <a:t>Bad PRNG = insecure DHE (sad)</a:t>
            </a:r>
            <a:endParaRPr sz="1200">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b6d4a46109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b6d4a46109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5 min - 1:45</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b6d4a46109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b6d4a46109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Networking comes into play regarding who we trust</a:t>
            </a:r>
            <a:endParaRPr/>
          </a:p>
          <a:p>
            <a:pPr indent="-298450" lvl="0" marL="457200" rtl="0" algn="l">
              <a:spcBef>
                <a:spcPts val="0"/>
              </a:spcBef>
              <a:spcAft>
                <a:spcPts val="0"/>
              </a:spcAft>
              <a:buSzPts val="1100"/>
              <a:buChar char="-"/>
            </a:pPr>
            <a:r>
              <a:rPr lang="en"/>
              <a:t>Ultimately, trust comes from real-life relationships</a:t>
            </a:r>
            <a:endParaRPr/>
          </a:p>
          <a:p>
            <a:pPr indent="-298450" lvl="0" marL="457200" rtl="0" algn="l">
              <a:spcBef>
                <a:spcPts val="0"/>
              </a:spcBef>
              <a:spcAft>
                <a:spcPts val="0"/>
              </a:spcAft>
              <a:buSzPts val="1100"/>
              <a:buChar char="-"/>
            </a:pPr>
            <a:r>
              <a:rPr lang="en"/>
              <a:t>Certificate has to be signed by someone you trust–but who is that someone that you trust?</a:t>
            </a:r>
            <a:endParaRPr/>
          </a:p>
          <a:p>
            <a:pPr indent="-298450" lvl="1" marL="914400" rtl="0" algn="l">
              <a:spcBef>
                <a:spcPts val="0"/>
              </a:spcBef>
              <a:spcAft>
                <a:spcPts val="0"/>
              </a:spcAft>
              <a:buSzPts val="1100"/>
              <a:buChar char="-"/>
            </a:pPr>
            <a:r>
              <a:rPr lang="en"/>
              <a:t>All of TLS security relies on who you trust!</a:t>
            </a:r>
            <a:endParaRPr/>
          </a:p>
          <a:p>
            <a:pPr indent="-298450" lvl="1" marL="914400" rtl="0" algn="l">
              <a:spcBef>
                <a:spcPts val="0"/>
              </a:spcBef>
              <a:spcAft>
                <a:spcPts val="0"/>
              </a:spcAft>
              <a:buSzPts val="1100"/>
              <a:buChar char="-"/>
            </a:pPr>
            <a:r>
              <a:rPr lang="en"/>
              <a:t>That’s a real life problem, not a cryptography problem anymore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e66c5bfa8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e66c5bfa8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certificate is not trusted because the issuer certificate is unknown.</a:t>
            </a:r>
            <a:endParaRPr/>
          </a:p>
          <a:p>
            <a:pPr indent="0" lvl="0" marL="0" rtl="0" algn="l">
              <a:spcBef>
                <a:spcPts val="0"/>
              </a:spcBef>
              <a:spcAft>
                <a:spcPts val="0"/>
              </a:spcAft>
              <a:buNone/>
            </a:pPr>
            <a:r>
              <a:rPr lang="en"/>
              <a:t>The server might not be sending the appropriate intermediate certificates.</a:t>
            </a:r>
            <a:endParaRPr/>
          </a:p>
          <a:p>
            <a:pPr indent="0" lvl="0" marL="0" rtl="0" algn="l">
              <a:spcBef>
                <a:spcPts val="0"/>
              </a:spcBef>
              <a:spcAft>
                <a:spcPts val="0"/>
              </a:spcAft>
              <a:buNone/>
            </a:pPr>
            <a:r>
              <a:rPr lang="en"/>
              <a:t>An additional root certificate may need to be imported.”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if you need to know who to trust? Technically this is warning you that the certificate is not signed by someone you trust. Would you like to be cautious or put your blind faith in it?</a:t>
            </a:r>
            <a:endParaRPr/>
          </a:p>
          <a:p>
            <a:pPr indent="0" lvl="0" marL="0" rtl="0" algn="l">
              <a:spcBef>
                <a:spcPts val="0"/>
              </a:spcBef>
              <a:spcAft>
                <a:spcPts val="0"/>
              </a:spcAft>
              <a:buNone/>
            </a:pPr>
            <a:r>
              <a:rPr lang="en"/>
              <a:t>Users need to put their blind faith</a:t>
            </a:r>
            <a:endParaRPr/>
          </a:p>
          <a:p>
            <a:pPr indent="0" lvl="0" marL="0" rtl="0" algn="l">
              <a:spcBef>
                <a:spcPts val="0"/>
              </a:spcBef>
              <a:spcAft>
                <a:spcPts val="0"/>
              </a:spcAft>
              <a:buNone/>
            </a:pPr>
            <a:r>
              <a:rPr lang="en"/>
              <a:t>Typically users will just accept (because they have no idea what this means) -&gt; consider human factors!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b6d4a46109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b6d4a46109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b6d4a46109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b6d4a46109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Public key provided is used for RSA -&gt; it could say something like DSA (digital signatures algorithm, etc)</a:t>
            </a:r>
            <a:endParaRPr/>
          </a:p>
          <a:p>
            <a:pPr indent="-298450" lvl="0" marL="457200" rtl="0" algn="l">
              <a:spcBef>
                <a:spcPts val="0"/>
              </a:spcBef>
              <a:spcAft>
                <a:spcPts val="0"/>
              </a:spcAft>
              <a:buSzPts val="1100"/>
              <a:buChar char="-"/>
            </a:pPr>
            <a:r>
              <a:rPr lang="en"/>
              <a:t>CS161 uses Let’s Encrypt (they are </a:t>
            </a:r>
            <a:r>
              <a:rPr lang="en"/>
              <a:t>the</a:t>
            </a:r>
            <a:r>
              <a:rPr lang="en"/>
              <a:t> CA that signs our certificate) -&gt; put a bookmark in that for later!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b6d4a46109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b6d4a46109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https://en.wikipedia.org/wiki/Online_Certificate_Status_Protocol</a:t>
            </a:r>
            <a:r>
              <a:rPr lang="en"/>
              <a:t>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b6d4a46109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b6d4a46109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“Commercial certificate authorities protect you from anyone from whom they are unwilling to take money.” ~Matt Blaze (2001)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decade ago, I observed that commercial certificate authorities protect you from anyone from whom they are unwilling to take money. That turns out to be wrong; they don't even do that much.” ~Matt Blaze (2010)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Companies (Verisign), government organizations, non-profits, etc. Do you trust them?</a:t>
            </a:r>
            <a:endParaRPr/>
          </a:p>
          <a:p>
            <a:pPr indent="0" lvl="0" marL="0" rtl="0" algn="l">
              <a:spcBef>
                <a:spcPts val="0"/>
              </a:spcBef>
              <a:spcAft>
                <a:spcPts val="0"/>
              </a:spcAft>
              <a:buNone/>
            </a:pPr>
            <a:r>
              <a:rPr lang="en"/>
              <a:t>Can be hacked/bribed (has happened before)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b6d4a46109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b6d4a46109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https://www.computerworld.com/article/2507258/solo-iranian-hacker-takes-credit-for-comodo-certificate-attack.html</a:t>
            </a:r>
            <a:r>
              <a:rPr lang="en"/>
              <a:t>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b6d4a46109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b6d4a46109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https://www.cnet.com/news/fraudulent-google-certificate-points-to-internet-attack/</a:t>
            </a:r>
            <a:r>
              <a:rPr lang="en"/>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b6d4a46109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b6d4a46109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https://threatpost.com/final-report-diginotar-hack-shows-total-compromise-ca-servers-103112/77170/</a:t>
            </a:r>
            <a:r>
              <a:rPr lang="en"/>
              <a:t>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b6d4a46109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b6d4a46109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https://www.techdirt.com/articles/20110830/13243615741/evidence-suggests-diginotar-who-issued-fraudulent-google-certificate-was-hacked-years-ago.shtml</a:t>
            </a:r>
            <a:r>
              <a:rPr lang="en"/>
              <a:t>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b6d4a46109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b6d4a46109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“Death sentence for CAs”</a:t>
            </a:r>
            <a:endParaRPr/>
          </a:p>
          <a:p>
            <a:pPr indent="0" lvl="0" marL="0" rtl="0" algn="l">
              <a:spcBef>
                <a:spcPts val="0"/>
              </a:spcBef>
              <a:spcAft>
                <a:spcPts val="0"/>
              </a:spcAft>
              <a:buNone/>
            </a:pPr>
            <a:r>
              <a:rPr lang="en"/>
              <a:t>“And a bunch of other shady shenanigans”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b6d4a46109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b6d4a46109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Certificate transparency: keep a log of all the </a:t>
            </a:r>
            <a:r>
              <a:rPr lang="en"/>
              <a:t>certificates</a:t>
            </a:r>
            <a:r>
              <a:rPr lang="en"/>
              <a:t> they’ve ever issues on a hash chain</a:t>
            </a:r>
            <a:endParaRPr/>
          </a:p>
          <a:p>
            <a:pPr indent="-298450" lvl="0" marL="457200" rtl="0" algn="l">
              <a:spcBef>
                <a:spcPts val="0"/>
              </a:spcBef>
              <a:spcAft>
                <a:spcPts val="0"/>
              </a:spcAft>
              <a:buSzPts val="1100"/>
              <a:buChar char="-"/>
            </a:pPr>
            <a:r>
              <a:rPr lang="en"/>
              <a:t>All CAs that use this have to tell everyone what they sign for!</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b6d4a46109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b6d4a46109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TLS certificates are literally free now (the cost of TLS is a certificate)</a:t>
            </a:r>
            <a:endParaRPr/>
          </a:p>
          <a:p>
            <a:pPr indent="-298450" lvl="0" marL="457200" rtl="0" algn="l">
              <a:spcBef>
                <a:spcPts val="0"/>
              </a:spcBef>
              <a:spcAft>
                <a:spcPts val="0"/>
              </a:spcAft>
              <a:buSzPts val="1100"/>
              <a:buChar char="-"/>
            </a:pPr>
            <a:r>
              <a:rPr lang="en"/>
              <a:t>CS161 uses Let’s Encrypt!</a:t>
            </a:r>
            <a:endParaRPr/>
          </a:p>
          <a:p>
            <a:pPr indent="-298450" lvl="1" marL="914400" rtl="0" algn="l">
              <a:spcBef>
                <a:spcPts val="0"/>
              </a:spcBef>
              <a:spcAft>
                <a:spcPts val="0"/>
              </a:spcAft>
              <a:buSzPts val="1100"/>
              <a:buChar char="-"/>
            </a:pPr>
            <a:r>
              <a:rPr lang="en"/>
              <a:t>They are free! Organized by non-profits (don’t want people to have to make the decision between a tradeoff of money or security)</a:t>
            </a:r>
            <a:endParaRPr/>
          </a:p>
          <a:p>
            <a:pPr indent="-298450" lvl="1" marL="914400" rtl="0" algn="l">
              <a:spcBef>
                <a:spcPts val="0"/>
              </a:spcBef>
              <a:spcAft>
                <a:spcPts val="0"/>
              </a:spcAft>
              <a:buSzPts val="1100"/>
              <a:buChar char="-"/>
            </a:pPr>
            <a:r>
              <a:rPr lang="en"/>
              <a:t>You now have no reason to not use TLS on your web services – it’s literally free.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e66c5bfa8f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e66c5bfa8f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e66c5bfa8f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e66c5bfa8f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4" name="Google Shape;24;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2" name="Shape 32"/>
        <p:cNvGrpSpPr/>
        <p:nvPr/>
      </p:nvGrpSpPr>
      <p:grpSpPr>
        <a:xfrm>
          <a:off x="0" y="0"/>
          <a:ext cx="0" cy="0"/>
          <a:chOff x="0" y="0"/>
          <a:chExt cx="0" cy="0"/>
        </a:xfrm>
      </p:grpSpPr>
      <p:sp>
        <p:nvSpPr>
          <p:cNvPr id="33" name="Google Shape;33;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 name="Google Shape;34;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6" name="Shape 36"/>
        <p:cNvGrpSpPr/>
        <p:nvPr/>
      </p:nvGrpSpPr>
      <p:grpSpPr>
        <a:xfrm>
          <a:off x="0" y="0"/>
          <a:ext cx="0" cy="0"/>
          <a:chOff x="0" y="0"/>
          <a:chExt cx="0" cy="0"/>
        </a:xfrm>
      </p:grpSpPr>
      <p:sp>
        <p:nvSpPr>
          <p:cNvPr id="37" name="Google Shape;37;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8" name="Google Shape;3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39" name="Shape 39"/>
        <p:cNvGrpSpPr/>
        <p:nvPr/>
      </p:nvGrpSpPr>
      <p:grpSpPr>
        <a:xfrm>
          <a:off x="0" y="0"/>
          <a:ext cx="0" cy="0"/>
          <a:chOff x="0" y="0"/>
          <a:chExt cx="0" cy="0"/>
        </a:xfrm>
      </p:grpSpPr>
      <p:sp>
        <p:nvSpPr>
          <p:cNvPr id="40" name="Google Shape;40;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3" name="Shape 43"/>
        <p:cNvGrpSpPr/>
        <p:nvPr/>
      </p:nvGrpSpPr>
      <p:grpSpPr>
        <a:xfrm>
          <a:off x="0" y="0"/>
          <a:ext cx="0" cy="0"/>
          <a:chOff x="0" y="0"/>
          <a:chExt cx="0" cy="0"/>
        </a:xfrm>
      </p:grpSpPr>
      <p:sp>
        <p:nvSpPr>
          <p:cNvPr id="44" name="Google Shape;44;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 name="Google Shape;4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7" name="Google Shape;47;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8" name="Shape 48"/>
        <p:cNvGrpSpPr/>
        <p:nvPr/>
      </p:nvGrpSpPr>
      <p:grpSpPr>
        <a:xfrm>
          <a:off x="0" y="0"/>
          <a:ext cx="0" cy="0"/>
          <a:chOff x="0" y="0"/>
          <a:chExt cx="0" cy="0"/>
        </a:xfrm>
      </p:grpSpPr>
      <p:sp>
        <p:nvSpPr>
          <p:cNvPr id="49" name="Google Shape;49;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1" name="Shape 51"/>
        <p:cNvGrpSpPr/>
        <p:nvPr/>
      </p:nvGrpSpPr>
      <p:grpSpPr>
        <a:xfrm>
          <a:off x="0" y="0"/>
          <a:ext cx="0" cy="0"/>
          <a:chOff x="0" y="0"/>
          <a:chExt cx="0" cy="0"/>
        </a:xfrm>
      </p:grpSpPr>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 name="Google Shape;57;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r>
              <a:rPr lang="en"/>
              <a:t>#</a:t>
            </a:r>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hyperlink" Target="https://www.computerworld.com/article/2507258/solo-iranian-hacker-takes-credit-for-comodo-certificate-attack.html" TargetMode="Externa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hyperlink" Target="https://www.cnet.com/news/fraudulent-google-certificate-points-to-internet-attack/" TargetMode="External"/><Relationship Id="rId4" Type="http://schemas.openxmlformats.org/officeDocument/2006/relationships/hyperlink" Target="http://www.google.co.uk/support/forum/p/gmail/thread?tid=2da6158b094b225a&amp;hl=en" TargetMode="External"/><Relationship Id="rId5"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hyperlink" Target="https://threatpost.com/final-report-diginotar-hack-shows-total-compromise-ca-servers-103112/77170/" TargetMode="External"/><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hyperlink" Target="https://www.techdirt.com/articles/20110830/13243615741/evidence-suggests-diginotar-who-issued-fraudulent-google-certificate-was-hacked-years-ago.shtml" TargetMode="External"/><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000"/>
              <a:t>TLS</a:t>
            </a:r>
            <a:endParaRPr sz="4000"/>
          </a:p>
        </p:txBody>
      </p:sp>
      <p:sp>
        <p:nvSpPr>
          <p:cNvPr id="64" name="Google Shape;64;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Clr>
                <a:schemeClr val="dk1"/>
              </a:buClr>
              <a:buSzPct val="45833"/>
              <a:buFont typeface="Arial"/>
              <a:buNone/>
            </a:pPr>
            <a:r>
              <a:rPr lang="en"/>
              <a:t>CSE 405 January 2025 - Lecture 7</a:t>
            </a:r>
            <a:endParaRPr/>
          </a:p>
          <a:p>
            <a:pPr indent="0" lvl="0" marL="0" rtl="0" algn="ctr">
              <a:spcBef>
                <a:spcPts val="0"/>
              </a:spcBef>
              <a:spcAft>
                <a:spcPts val="0"/>
              </a:spcAft>
              <a:buClr>
                <a:schemeClr val="dk1"/>
              </a:buClr>
              <a:buSzPct val="45833"/>
              <a:buFont typeface="Arial"/>
              <a:buNone/>
            </a:pPr>
            <a:r>
              <a:t/>
            </a:r>
            <a:endParaRPr/>
          </a:p>
          <a:p>
            <a:pPr indent="0" lvl="0" marL="0" rtl="0" algn="ctr">
              <a:spcBef>
                <a:spcPts val="0"/>
              </a:spcBef>
              <a:spcAft>
                <a:spcPts val="0"/>
              </a:spcAft>
              <a:buClr>
                <a:schemeClr val="dk1"/>
              </a:buClr>
              <a:buSzPct val="45833"/>
              <a:buFont typeface="Arial"/>
              <a:buNone/>
            </a:pPr>
            <a:r>
              <a:rPr lang="en"/>
              <a:t>Special Thanks to Peyrin Kao (UC Berkeley)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type="title"/>
          </p:nvPr>
        </p:nvSpPr>
        <p:spPr>
          <a:xfrm>
            <a:off x="311700" y="15250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TLS</a:t>
            </a:r>
            <a:endParaRPr/>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1" name="Google Shape;71;p16"/>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800">
                <a:solidFill>
                  <a:srgbClr val="000000"/>
                </a:solidFill>
              </a:rPr>
              <a:t>Textbook Chapter 31</a:t>
            </a:r>
            <a:endParaRPr sz="1800">
              <a:solidFill>
                <a:srgbClr val="000000"/>
              </a:solidFill>
            </a:endParaRPr>
          </a:p>
        </p:txBody>
      </p:sp>
      <p:pic>
        <p:nvPicPr>
          <p:cNvPr id="72" name="Google Shape;72;p16"/>
          <p:cNvPicPr preferRelativeResize="0"/>
          <p:nvPr/>
        </p:nvPicPr>
        <p:blipFill rotWithShape="1">
          <a:blip r:embed="rId3">
            <a:alphaModFix/>
          </a:blip>
          <a:srcRect b="0" l="6703" r="10129" t="19993"/>
          <a:stretch/>
        </p:blipFill>
        <p:spPr>
          <a:xfrm>
            <a:off x="3089225" y="2366850"/>
            <a:ext cx="2851501" cy="21337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a:t>
            </a:r>
            <a:endParaRPr/>
          </a:p>
        </p:txBody>
      </p:sp>
      <p:sp>
        <p:nvSpPr>
          <p:cNvPr id="78" name="Google Shape;78;p1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TLS</a:t>
            </a:r>
            <a:r>
              <a:rPr lang="en"/>
              <a:t> (</a:t>
            </a:r>
            <a:r>
              <a:rPr b="1" lang="en"/>
              <a:t>Transport Layer Security</a:t>
            </a:r>
            <a:r>
              <a:rPr lang="en"/>
              <a:t>): A protocol for creating a secure communication channel over the Internet</a:t>
            </a:r>
            <a:endParaRPr/>
          </a:p>
          <a:p>
            <a:pPr indent="-317500" lvl="1" marL="914400" rtl="0" algn="l">
              <a:spcBef>
                <a:spcPts val="0"/>
              </a:spcBef>
              <a:spcAft>
                <a:spcPts val="0"/>
              </a:spcAft>
              <a:buSzPts val="1400"/>
              <a:buChar char="○"/>
            </a:pPr>
            <a:r>
              <a:rPr lang="en"/>
              <a:t>Replaces </a:t>
            </a:r>
            <a:r>
              <a:rPr b="1" lang="en"/>
              <a:t>SSL</a:t>
            </a:r>
            <a:r>
              <a:rPr lang="en"/>
              <a:t> (</a:t>
            </a:r>
            <a:r>
              <a:rPr b="1" lang="en"/>
              <a:t>Secure Sockets Layer</a:t>
            </a:r>
            <a:r>
              <a:rPr lang="en"/>
              <a:t>), which is an older version of the protocol</a:t>
            </a:r>
            <a:endParaRPr/>
          </a:p>
          <a:p>
            <a:pPr indent="-342900" lvl="0" marL="457200" rtl="0" algn="l">
              <a:spcBef>
                <a:spcPts val="0"/>
              </a:spcBef>
              <a:spcAft>
                <a:spcPts val="0"/>
              </a:spcAft>
              <a:buSzPts val="1800"/>
              <a:buChar char="●"/>
            </a:pPr>
            <a:r>
              <a:rPr lang="en"/>
              <a:t>TLS is built on top of TCP</a:t>
            </a:r>
            <a:endParaRPr/>
          </a:p>
          <a:p>
            <a:pPr indent="-317500" lvl="1" marL="914400" rtl="0" algn="l">
              <a:spcBef>
                <a:spcPts val="0"/>
              </a:spcBef>
              <a:spcAft>
                <a:spcPts val="0"/>
              </a:spcAft>
              <a:buSzPts val="1400"/>
              <a:buChar char="○"/>
            </a:pPr>
            <a:r>
              <a:rPr b="1" lang="en"/>
              <a:t>Relies upon</a:t>
            </a:r>
            <a:r>
              <a:rPr lang="en"/>
              <a:t>: Byte stream abstraction between the client and the server</a:t>
            </a:r>
            <a:endParaRPr/>
          </a:p>
          <a:p>
            <a:pPr indent="-317500" lvl="1" marL="914400" rtl="0" algn="l">
              <a:spcBef>
                <a:spcPts val="0"/>
              </a:spcBef>
              <a:spcAft>
                <a:spcPts val="0"/>
              </a:spcAft>
              <a:buSzPts val="1400"/>
              <a:buChar char="○"/>
            </a:pPr>
            <a:r>
              <a:rPr b="1" lang="en"/>
              <a:t>Provides</a:t>
            </a:r>
            <a:r>
              <a:rPr lang="en"/>
              <a:t>: Byte stream abstraction between the client and the server</a:t>
            </a:r>
            <a:endParaRPr/>
          </a:p>
          <a:p>
            <a:pPr indent="-317500" lvl="2" marL="1371600" rtl="0" algn="l">
              <a:spcBef>
                <a:spcPts val="0"/>
              </a:spcBef>
              <a:spcAft>
                <a:spcPts val="0"/>
              </a:spcAft>
              <a:buSzPts val="1400"/>
              <a:buChar char="■"/>
            </a:pPr>
            <a:r>
              <a:rPr lang="en"/>
              <a:t>The abstraction appears the same to the end client, but TLS provides confidentiality and integrity!</a:t>
            </a:r>
            <a:endParaRPr/>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0" name="Google Shape;80;p17"/>
          <p:cNvSpPr/>
          <p:nvPr/>
        </p:nvSpPr>
        <p:spPr>
          <a:xfrm>
            <a:off x="6684025" y="2143463"/>
            <a:ext cx="1512900" cy="378300"/>
          </a:xfrm>
          <a:prstGeom prst="rect">
            <a:avLst/>
          </a:prstGeom>
          <a:solidFill>
            <a:srgbClr val="93C47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TLS</a:t>
            </a:r>
            <a:endParaRPr b="1"/>
          </a:p>
        </p:txBody>
      </p:sp>
      <p:sp>
        <p:nvSpPr>
          <p:cNvPr id="81" name="Google Shape;81;p17"/>
          <p:cNvSpPr/>
          <p:nvPr/>
        </p:nvSpPr>
        <p:spPr>
          <a:xfrm>
            <a:off x="6684025" y="2597963"/>
            <a:ext cx="1512900" cy="378300"/>
          </a:xfrm>
          <a:prstGeom prst="rect">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Transport</a:t>
            </a:r>
            <a:endParaRPr b="1"/>
          </a:p>
        </p:txBody>
      </p:sp>
      <p:sp>
        <p:nvSpPr>
          <p:cNvPr id="82" name="Google Shape;82;p17"/>
          <p:cNvSpPr/>
          <p:nvPr/>
        </p:nvSpPr>
        <p:spPr>
          <a:xfrm>
            <a:off x="6684025" y="3052463"/>
            <a:ext cx="1512900" cy="378300"/>
          </a:xfrm>
          <a:prstGeom prst="rect">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(Inter) Network</a:t>
            </a:r>
            <a:endParaRPr b="1"/>
          </a:p>
        </p:txBody>
      </p:sp>
      <p:sp>
        <p:nvSpPr>
          <p:cNvPr id="83" name="Google Shape;83;p17"/>
          <p:cNvSpPr/>
          <p:nvPr/>
        </p:nvSpPr>
        <p:spPr>
          <a:xfrm>
            <a:off x="6684025" y="3506963"/>
            <a:ext cx="1512900" cy="3783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Link</a:t>
            </a:r>
            <a:endParaRPr b="1"/>
          </a:p>
        </p:txBody>
      </p:sp>
      <p:sp>
        <p:nvSpPr>
          <p:cNvPr id="84" name="Google Shape;84;p17"/>
          <p:cNvSpPr/>
          <p:nvPr/>
        </p:nvSpPr>
        <p:spPr>
          <a:xfrm>
            <a:off x="6684025" y="3961463"/>
            <a:ext cx="1512900" cy="378300"/>
          </a:xfrm>
          <a:prstGeom prst="rect">
            <a:avLst/>
          </a:prstGeom>
          <a:solidFill>
            <a:srgbClr val="B4A7D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Physical</a:t>
            </a:r>
            <a:endParaRPr b="1"/>
          </a:p>
        </p:txBody>
      </p:sp>
      <p:sp>
        <p:nvSpPr>
          <p:cNvPr id="85" name="Google Shape;85;p17"/>
          <p:cNvSpPr txBox="1"/>
          <p:nvPr/>
        </p:nvSpPr>
        <p:spPr>
          <a:xfrm>
            <a:off x="6345475" y="3982388"/>
            <a:ext cx="252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666666"/>
                </a:solidFill>
              </a:rPr>
              <a:t>1</a:t>
            </a:r>
            <a:endParaRPr>
              <a:solidFill>
                <a:srgbClr val="666666"/>
              </a:solidFill>
            </a:endParaRPr>
          </a:p>
        </p:txBody>
      </p:sp>
      <p:sp>
        <p:nvSpPr>
          <p:cNvPr id="86" name="Google Shape;86;p17"/>
          <p:cNvSpPr txBox="1"/>
          <p:nvPr/>
        </p:nvSpPr>
        <p:spPr>
          <a:xfrm>
            <a:off x="6345475" y="3519900"/>
            <a:ext cx="252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666666"/>
                </a:solidFill>
              </a:rPr>
              <a:t>2</a:t>
            </a:r>
            <a:endParaRPr>
              <a:solidFill>
                <a:srgbClr val="666666"/>
              </a:solidFill>
            </a:endParaRPr>
          </a:p>
        </p:txBody>
      </p:sp>
      <p:sp>
        <p:nvSpPr>
          <p:cNvPr id="87" name="Google Shape;87;p17"/>
          <p:cNvSpPr txBox="1"/>
          <p:nvPr/>
        </p:nvSpPr>
        <p:spPr>
          <a:xfrm>
            <a:off x="6345475" y="3057438"/>
            <a:ext cx="252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666666"/>
                </a:solidFill>
              </a:rPr>
              <a:t>3</a:t>
            </a:r>
            <a:endParaRPr>
              <a:solidFill>
                <a:srgbClr val="666666"/>
              </a:solidFill>
            </a:endParaRPr>
          </a:p>
        </p:txBody>
      </p:sp>
      <p:sp>
        <p:nvSpPr>
          <p:cNvPr id="88" name="Google Shape;88;p17"/>
          <p:cNvSpPr txBox="1"/>
          <p:nvPr/>
        </p:nvSpPr>
        <p:spPr>
          <a:xfrm>
            <a:off x="6345475" y="2584938"/>
            <a:ext cx="252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666666"/>
                </a:solidFill>
              </a:rPr>
              <a:t>4</a:t>
            </a:r>
            <a:endParaRPr>
              <a:solidFill>
                <a:srgbClr val="666666"/>
              </a:solidFill>
            </a:endParaRPr>
          </a:p>
        </p:txBody>
      </p:sp>
      <p:sp>
        <p:nvSpPr>
          <p:cNvPr id="89" name="Google Shape;89;p17"/>
          <p:cNvSpPr txBox="1"/>
          <p:nvPr/>
        </p:nvSpPr>
        <p:spPr>
          <a:xfrm>
            <a:off x="6116425" y="2132525"/>
            <a:ext cx="481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666666"/>
                </a:solidFill>
              </a:rPr>
              <a:t>4.5</a:t>
            </a:r>
            <a:endParaRPr>
              <a:solidFill>
                <a:srgbClr val="666666"/>
              </a:solidFill>
            </a:endParaRPr>
          </a:p>
        </p:txBody>
      </p:sp>
      <p:sp>
        <p:nvSpPr>
          <p:cNvPr id="90" name="Google Shape;90;p17"/>
          <p:cNvSpPr/>
          <p:nvPr/>
        </p:nvSpPr>
        <p:spPr>
          <a:xfrm>
            <a:off x="6684025" y="1691038"/>
            <a:ext cx="1512900" cy="378300"/>
          </a:xfrm>
          <a:prstGeom prst="rect">
            <a:avLst/>
          </a:prstGeom>
          <a:solidFill>
            <a:srgbClr val="F1C23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Application</a:t>
            </a:r>
            <a:endParaRPr b="1"/>
          </a:p>
        </p:txBody>
      </p:sp>
      <p:sp>
        <p:nvSpPr>
          <p:cNvPr id="91" name="Google Shape;91;p17"/>
          <p:cNvSpPr txBox="1"/>
          <p:nvPr/>
        </p:nvSpPr>
        <p:spPr>
          <a:xfrm>
            <a:off x="6345475" y="1680088"/>
            <a:ext cx="252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666666"/>
                </a:solidFill>
              </a:rPr>
              <a:t>7</a:t>
            </a:r>
            <a:endParaRPr>
              <a:solidFill>
                <a:srgbClr val="6666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Secure Internet Communication with TLS</a:t>
            </a:r>
            <a:endParaRPr/>
          </a:p>
        </p:txBody>
      </p:sp>
      <p:sp>
        <p:nvSpPr>
          <p:cNvPr id="97" name="Google Shape;97;p1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Goals of TLS</a:t>
            </a:r>
            <a:endParaRPr/>
          </a:p>
          <a:p>
            <a:pPr indent="-317500" lvl="1" marL="914400" rtl="0" algn="l">
              <a:spcBef>
                <a:spcPts val="0"/>
              </a:spcBef>
              <a:spcAft>
                <a:spcPts val="0"/>
              </a:spcAft>
              <a:buSzPts val="1400"/>
              <a:buChar char="○"/>
            </a:pPr>
            <a:r>
              <a:rPr b="1" lang="en"/>
              <a:t>Confidentiality</a:t>
            </a:r>
            <a:r>
              <a:rPr lang="en"/>
              <a:t>: Ensure that attackers cannot read your traffic</a:t>
            </a:r>
            <a:endParaRPr/>
          </a:p>
          <a:p>
            <a:pPr indent="-317500" lvl="1" marL="914400" rtl="0" algn="l">
              <a:spcBef>
                <a:spcPts val="0"/>
              </a:spcBef>
              <a:spcAft>
                <a:spcPts val="0"/>
              </a:spcAft>
              <a:buSzPts val="1400"/>
              <a:buChar char="○"/>
            </a:pPr>
            <a:r>
              <a:rPr b="1" lang="en"/>
              <a:t>Integrity</a:t>
            </a:r>
            <a:r>
              <a:rPr lang="en"/>
              <a:t>: Ensure that attackers cannot tamper with your traffic</a:t>
            </a:r>
            <a:endParaRPr/>
          </a:p>
          <a:p>
            <a:pPr indent="-317500" lvl="2" marL="1371600" rtl="0" algn="l">
              <a:spcBef>
                <a:spcPts val="0"/>
              </a:spcBef>
              <a:spcAft>
                <a:spcPts val="0"/>
              </a:spcAft>
              <a:buSzPts val="1400"/>
              <a:buChar char="■"/>
            </a:pPr>
            <a:r>
              <a:rPr lang="en"/>
              <a:t>Prevent </a:t>
            </a:r>
            <a:r>
              <a:rPr b="1" lang="en"/>
              <a:t>replay attacks</a:t>
            </a:r>
            <a:endParaRPr/>
          </a:p>
          <a:p>
            <a:pPr indent="-317500" lvl="3" marL="1828800" rtl="0" algn="l">
              <a:spcBef>
                <a:spcPts val="0"/>
              </a:spcBef>
              <a:spcAft>
                <a:spcPts val="0"/>
              </a:spcAft>
              <a:buSzPts val="1400"/>
              <a:buChar char="●"/>
            </a:pPr>
            <a:r>
              <a:rPr lang="en"/>
              <a:t>The attacker records encrypted traffic and then replays it to the server</a:t>
            </a:r>
            <a:endParaRPr/>
          </a:p>
          <a:p>
            <a:pPr indent="-317500" lvl="3" marL="1828800" rtl="0" algn="l">
              <a:spcBef>
                <a:spcPts val="0"/>
              </a:spcBef>
              <a:spcAft>
                <a:spcPts val="0"/>
              </a:spcAft>
              <a:buSzPts val="1400"/>
              <a:buChar char="●"/>
            </a:pPr>
            <a:r>
              <a:rPr lang="en"/>
              <a:t>Example: Replaying a packet that sends “Pay $10 to Mallory”</a:t>
            </a:r>
            <a:endParaRPr/>
          </a:p>
          <a:p>
            <a:pPr indent="-317500" lvl="1" marL="914400" rtl="0" algn="l">
              <a:spcBef>
                <a:spcPts val="0"/>
              </a:spcBef>
              <a:spcAft>
                <a:spcPts val="0"/>
              </a:spcAft>
              <a:buSzPts val="1400"/>
              <a:buChar char="○"/>
            </a:pPr>
            <a:r>
              <a:rPr b="1" lang="en"/>
              <a:t>Authenticity</a:t>
            </a:r>
            <a:r>
              <a:rPr lang="en"/>
              <a:t>: </a:t>
            </a:r>
            <a:r>
              <a:rPr lang="en"/>
              <a:t>Make sure you’re talking to the legitimate server</a:t>
            </a:r>
            <a:endParaRPr/>
          </a:p>
          <a:p>
            <a:pPr indent="-317500" lvl="2" marL="1371600" rtl="0" algn="l">
              <a:spcBef>
                <a:spcPts val="0"/>
              </a:spcBef>
              <a:spcAft>
                <a:spcPts val="0"/>
              </a:spcAft>
              <a:buSzPts val="1400"/>
              <a:buChar char="■"/>
            </a:pPr>
            <a:r>
              <a:rPr lang="en"/>
              <a:t>Defend against an attacker impersonating the server</a:t>
            </a:r>
            <a:endParaRPr/>
          </a:p>
        </p:txBody>
      </p:sp>
      <p:sp>
        <p:nvSpPr>
          <p:cNvPr id="98" name="Google Shape;9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15250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TLS Handshake</a:t>
            </a:r>
            <a:endParaRPr/>
          </a:p>
        </p:txBody>
      </p:sp>
      <p:sp>
        <p:nvSpPr>
          <p:cNvPr id="104" name="Google Shape;10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9"/>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800">
                <a:solidFill>
                  <a:srgbClr val="000000"/>
                </a:solidFill>
              </a:rPr>
              <a:t>Textbook Chapter 31</a:t>
            </a:r>
            <a:endParaRPr sz="1800">
              <a:solidFill>
                <a:srgbClr val="000000"/>
              </a:solidFill>
            </a:endParaRPr>
          </a:p>
        </p:txBody>
      </p:sp>
      <p:pic>
        <p:nvPicPr>
          <p:cNvPr id="106" name="Google Shape;106;p19"/>
          <p:cNvPicPr preferRelativeResize="0"/>
          <p:nvPr/>
        </p:nvPicPr>
        <p:blipFill rotWithShape="1">
          <a:blip r:embed="rId3">
            <a:alphaModFix/>
          </a:blip>
          <a:srcRect b="0" l="6703" r="10129" t="19993"/>
          <a:stretch/>
        </p:blipFill>
        <p:spPr>
          <a:xfrm>
            <a:off x="3089225" y="2366850"/>
            <a:ext cx="2851501" cy="21337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Handshake Step 1: Exchange Hellos</a:t>
            </a:r>
            <a:endParaRPr/>
          </a:p>
        </p:txBody>
      </p:sp>
      <p:sp>
        <p:nvSpPr>
          <p:cNvPr id="113" name="Google Shape;113;p20"/>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Assume an underlying TCP connection has already been formed</a:t>
            </a:r>
            <a:endParaRPr/>
          </a:p>
          <a:p>
            <a:pPr indent="-342900" lvl="0" marL="457200" rtl="0" algn="l">
              <a:spcBef>
                <a:spcPts val="0"/>
              </a:spcBef>
              <a:spcAft>
                <a:spcPts val="0"/>
              </a:spcAft>
              <a:buSzPts val="1800"/>
              <a:buChar char="●"/>
            </a:pPr>
            <a:r>
              <a:rPr lang="en"/>
              <a:t>The client sends </a:t>
            </a:r>
            <a:r>
              <a:rPr b="1" lang="en"/>
              <a:t>ClientHello</a:t>
            </a:r>
            <a:r>
              <a:rPr lang="en"/>
              <a:t> with</a:t>
            </a:r>
            <a:endParaRPr/>
          </a:p>
          <a:p>
            <a:pPr indent="-317500" lvl="1" marL="914400" rtl="0" algn="l">
              <a:spcBef>
                <a:spcPts val="0"/>
              </a:spcBef>
              <a:spcAft>
                <a:spcPts val="0"/>
              </a:spcAft>
              <a:buSzPts val="1400"/>
              <a:buChar char="○"/>
            </a:pPr>
            <a:r>
              <a:rPr lang="en"/>
              <a:t>A 256-bit random number </a:t>
            </a:r>
            <a:r>
              <a:rPr i="1" lang="en"/>
              <a:t>R</a:t>
            </a:r>
            <a:r>
              <a:rPr i="1" lang="en" sz="900"/>
              <a:t>B</a:t>
            </a:r>
            <a:r>
              <a:rPr lang="en"/>
              <a:t> (“client random”)</a:t>
            </a:r>
            <a:endParaRPr/>
          </a:p>
          <a:p>
            <a:pPr indent="-317500" lvl="1" marL="914400" rtl="0" algn="l">
              <a:spcBef>
                <a:spcPts val="0"/>
              </a:spcBef>
              <a:spcAft>
                <a:spcPts val="0"/>
              </a:spcAft>
              <a:buSzPts val="1400"/>
              <a:buChar char="○"/>
            </a:pPr>
            <a:r>
              <a:rPr lang="en"/>
              <a:t>A list of supported cryptographic algorithms</a:t>
            </a:r>
            <a:endParaRPr/>
          </a:p>
          <a:p>
            <a:pPr indent="-342900" lvl="0" marL="457200" rtl="0" algn="l">
              <a:spcBef>
                <a:spcPts val="0"/>
              </a:spcBef>
              <a:spcAft>
                <a:spcPts val="0"/>
              </a:spcAft>
              <a:buSzPts val="1800"/>
              <a:buChar char="●"/>
            </a:pPr>
            <a:r>
              <a:rPr lang="en"/>
              <a:t>The server sends </a:t>
            </a:r>
            <a:r>
              <a:rPr b="1" lang="en"/>
              <a:t>ServerHello</a:t>
            </a:r>
            <a:r>
              <a:rPr lang="en"/>
              <a:t> with</a:t>
            </a:r>
            <a:endParaRPr/>
          </a:p>
          <a:p>
            <a:pPr indent="-317500" lvl="1" marL="914400" rtl="0" algn="l">
              <a:spcBef>
                <a:spcPts val="0"/>
              </a:spcBef>
              <a:spcAft>
                <a:spcPts val="0"/>
              </a:spcAft>
              <a:buSzPts val="1400"/>
              <a:buChar char="○"/>
            </a:pPr>
            <a:r>
              <a:rPr lang="en"/>
              <a:t>A 256-bit random number </a:t>
            </a:r>
            <a:r>
              <a:rPr i="1" lang="en"/>
              <a:t>R</a:t>
            </a:r>
            <a:r>
              <a:rPr i="1" lang="en" sz="900"/>
              <a:t>S</a:t>
            </a:r>
            <a:r>
              <a:rPr lang="en"/>
              <a:t> (“server random”)</a:t>
            </a:r>
            <a:endParaRPr/>
          </a:p>
          <a:p>
            <a:pPr indent="-317500" lvl="1" marL="914400" rtl="0" algn="l">
              <a:spcBef>
                <a:spcPts val="0"/>
              </a:spcBef>
              <a:spcAft>
                <a:spcPts val="0"/>
              </a:spcAft>
              <a:buSzPts val="1400"/>
              <a:buChar char="○"/>
            </a:pPr>
            <a:r>
              <a:rPr lang="en"/>
              <a:t>The algorithms to use (chosen from the client’s list)</a:t>
            </a:r>
            <a:endParaRPr/>
          </a:p>
          <a:p>
            <a:pPr indent="-342900" lvl="0" marL="457200" rtl="0" algn="l">
              <a:spcBef>
                <a:spcPts val="0"/>
              </a:spcBef>
              <a:spcAft>
                <a:spcPts val="0"/>
              </a:spcAft>
              <a:buSzPts val="1800"/>
              <a:buChar char="●"/>
            </a:pPr>
            <a:r>
              <a:rPr i="1" lang="en"/>
              <a:t>R</a:t>
            </a:r>
            <a:r>
              <a:rPr i="1" lang="en" sz="1200"/>
              <a:t>B</a:t>
            </a:r>
            <a:r>
              <a:rPr lang="en"/>
              <a:t> and </a:t>
            </a:r>
            <a:r>
              <a:rPr i="1" lang="en"/>
              <a:t>R</a:t>
            </a:r>
            <a:r>
              <a:rPr i="1" lang="en" sz="1200"/>
              <a:t>S</a:t>
            </a:r>
            <a:r>
              <a:rPr lang="en"/>
              <a:t> prevent replay attacks</a:t>
            </a:r>
            <a:endParaRPr/>
          </a:p>
          <a:p>
            <a:pPr indent="-317500" lvl="1" marL="914400" rtl="0" algn="l">
              <a:spcBef>
                <a:spcPts val="0"/>
              </a:spcBef>
              <a:spcAft>
                <a:spcPts val="0"/>
              </a:spcAft>
              <a:buSzPts val="1400"/>
              <a:buChar char="○"/>
            </a:pPr>
            <a:r>
              <a:rPr i="1" lang="en"/>
              <a:t>R</a:t>
            </a:r>
            <a:r>
              <a:rPr i="1" lang="en" sz="900"/>
              <a:t>B</a:t>
            </a:r>
            <a:r>
              <a:rPr lang="en"/>
              <a:t> and </a:t>
            </a:r>
            <a:r>
              <a:rPr i="1" lang="en"/>
              <a:t>R</a:t>
            </a:r>
            <a:r>
              <a:rPr i="1" lang="en" sz="900"/>
              <a:t>S</a:t>
            </a:r>
            <a:r>
              <a:rPr lang="en"/>
              <a:t> are randomly chosen for every handshake</a:t>
            </a:r>
            <a:endParaRPr/>
          </a:p>
          <a:p>
            <a:pPr indent="-317500" lvl="1" marL="914400" rtl="0" algn="l">
              <a:spcBef>
                <a:spcPts val="0"/>
              </a:spcBef>
              <a:spcAft>
                <a:spcPts val="0"/>
              </a:spcAft>
              <a:buSzPts val="1400"/>
              <a:buChar char="○"/>
            </a:pPr>
            <a:r>
              <a:rPr lang="en"/>
              <a:t>This guarantees that two handshakes will never be exactly identical</a:t>
            </a:r>
            <a:endParaRPr/>
          </a:p>
        </p:txBody>
      </p:sp>
      <p:cxnSp>
        <p:nvCxnSpPr>
          <p:cNvPr id="114" name="Google Shape;114;p20"/>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115" name="Google Shape;115;p20"/>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116" name="Google Shape;116;p20"/>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117" name="Google Shape;117;p20"/>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sp>
        <p:nvSpPr>
          <p:cNvPr id="118" name="Google Shape;118;p20"/>
          <p:cNvSpPr txBox="1"/>
          <p:nvPr/>
        </p:nvSpPr>
        <p:spPr>
          <a:xfrm flipH="1" rot="-523651">
            <a:off x="5598797" y="20028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sp>
        <p:nvSpPr>
          <p:cNvPr id="119" name="Google Shape;119;p20"/>
          <p:cNvSpPr txBox="1"/>
          <p:nvPr/>
        </p:nvSpPr>
        <p:spPr>
          <a:xfrm rot="512024">
            <a:off x="5611456" y="1487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120" name="Google Shape;120;p20"/>
          <p:cNvCxnSpPr/>
          <p:nvPr/>
        </p:nvCxnSpPr>
        <p:spPr>
          <a:xfrm>
            <a:off x="5586075" y="1615738"/>
            <a:ext cx="2879400" cy="437700"/>
          </a:xfrm>
          <a:prstGeom prst="straightConnector1">
            <a:avLst/>
          </a:prstGeom>
          <a:noFill/>
          <a:ln cap="flat" cmpd="sng" w="9525">
            <a:solidFill>
              <a:schemeClr val="dk2"/>
            </a:solidFill>
            <a:prstDash val="solid"/>
            <a:round/>
            <a:headEnd len="med" w="med" type="none"/>
            <a:tailEnd len="med" w="med" type="triangle"/>
          </a:ln>
        </p:spPr>
      </p:cxnSp>
      <p:cxnSp>
        <p:nvCxnSpPr>
          <p:cNvPr id="121" name="Google Shape;121;p20"/>
          <p:cNvCxnSpPr/>
          <p:nvPr/>
        </p:nvCxnSpPr>
        <p:spPr>
          <a:xfrm flipH="1">
            <a:off x="5612225" y="2130987"/>
            <a:ext cx="2814300" cy="437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Handshake Step 2: Certificate</a:t>
            </a:r>
            <a:endParaRPr/>
          </a:p>
        </p:txBody>
      </p:sp>
      <p:sp>
        <p:nvSpPr>
          <p:cNvPr id="128" name="Google Shape;128;p21"/>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server sends its certificate</a:t>
            </a:r>
            <a:endParaRPr/>
          </a:p>
          <a:p>
            <a:pPr indent="-317500" lvl="1" marL="914400" rtl="0" algn="l">
              <a:spcBef>
                <a:spcPts val="0"/>
              </a:spcBef>
              <a:spcAft>
                <a:spcPts val="0"/>
              </a:spcAft>
              <a:buSzPts val="1400"/>
              <a:buChar char="○"/>
            </a:pPr>
            <a:r>
              <a:rPr lang="en"/>
              <a:t>Recall certificates: The server’s identity and public key, signed by a trusted certificate authority</a:t>
            </a:r>
            <a:endParaRPr/>
          </a:p>
          <a:p>
            <a:pPr indent="-342900" lvl="0" marL="457200" rtl="0" algn="l">
              <a:spcBef>
                <a:spcPts val="0"/>
              </a:spcBef>
              <a:spcAft>
                <a:spcPts val="0"/>
              </a:spcAft>
              <a:buSzPts val="1800"/>
              <a:buChar char="●"/>
            </a:pPr>
            <a:r>
              <a:rPr lang="en"/>
              <a:t>The client validates the certificate</a:t>
            </a:r>
            <a:endParaRPr/>
          </a:p>
          <a:p>
            <a:pPr indent="-317500" lvl="1" marL="914400" rtl="0" algn="l">
              <a:spcBef>
                <a:spcPts val="0"/>
              </a:spcBef>
              <a:spcAft>
                <a:spcPts val="0"/>
              </a:spcAft>
              <a:buSzPts val="1400"/>
              <a:buChar char="○"/>
            </a:pPr>
            <a:r>
              <a:rPr lang="en"/>
              <a:t>Verify the signature in the certificate</a:t>
            </a:r>
            <a:endParaRPr/>
          </a:p>
          <a:p>
            <a:pPr indent="-342900" lvl="0" marL="457200" rtl="0" algn="l">
              <a:spcBef>
                <a:spcPts val="0"/>
              </a:spcBef>
              <a:spcAft>
                <a:spcPts val="0"/>
              </a:spcAft>
              <a:buSzPts val="1800"/>
              <a:buChar char="●"/>
            </a:pPr>
            <a:r>
              <a:rPr lang="en"/>
              <a:t>The client now knows the server’s public key</a:t>
            </a:r>
            <a:endParaRPr/>
          </a:p>
          <a:p>
            <a:pPr indent="-317500" lvl="1" marL="914400" rtl="0" algn="l">
              <a:spcBef>
                <a:spcPts val="0"/>
              </a:spcBef>
              <a:spcAft>
                <a:spcPts val="0"/>
              </a:spcAft>
              <a:buSzPts val="1400"/>
              <a:buChar char="○"/>
            </a:pPr>
            <a:r>
              <a:rPr lang="en"/>
              <a:t>The client is not yet sure that they are talking to the legitimate server (not an impersonator)</a:t>
            </a:r>
            <a:endParaRPr/>
          </a:p>
          <a:p>
            <a:pPr indent="-317500" lvl="1" marL="914400" rtl="0" algn="l">
              <a:spcBef>
                <a:spcPts val="0"/>
              </a:spcBef>
              <a:spcAft>
                <a:spcPts val="0"/>
              </a:spcAft>
              <a:buSzPts val="1400"/>
              <a:buChar char="○"/>
            </a:pPr>
            <a:r>
              <a:rPr lang="en"/>
              <a:t>Recall: Certificates are public. Anyone can provide a certificate for anybody</a:t>
            </a:r>
            <a:endParaRPr/>
          </a:p>
        </p:txBody>
      </p:sp>
      <p:cxnSp>
        <p:nvCxnSpPr>
          <p:cNvPr id="129" name="Google Shape;129;p21"/>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130" name="Google Shape;130;p21"/>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131" name="Google Shape;131;p21"/>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132" name="Google Shape;132;p21"/>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sp>
        <p:nvSpPr>
          <p:cNvPr id="133" name="Google Shape;133;p21"/>
          <p:cNvSpPr txBox="1"/>
          <p:nvPr/>
        </p:nvSpPr>
        <p:spPr>
          <a:xfrm flipH="1" rot="-523651">
            <a:off x="5598797" y="20028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ServerHello</a:t>
            </a:r>
            <a:endParaRPr>
              <a:solidFill>
                <a:srgbClr val="B7B7B7"/>
              </a:solidFill>
            </a:endParaRPr>
          </a:p>
        </p:txBody>
      </p:sp>
      <p:sp>
        <p:nvSpPr>
          <p:cNvPr id="134" name="Google Shape;134;p21"/>
          <p:cNvSpPr txBox="1"/>
          <p:nvPr/>
        </p:nvSpPr>
        <p:spPr>
          <a:xfrm rot="512024">
            <a:off x="5611456" y="1487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ClientHello</a:t>
            </a:r>
            <a:endParaRPr>
              <a:solidFill>
                <a:srgbClr val="B7B7B7"/>
              </a:solidFill>
            </a:endParaRPr>
          </a:p>
        </p:txBody>
      </p:sp>
      <p:cxnSp>
        <p:nvCxnSpPr>
          <p:cNvPr id="135" name="Google Shape;135;p21"/>
          <p:cNvCxnSpPr/>
          <p:nvPr/>
        </p:nvCxnSpPr>
        <p:spPr>
          <a:xfrm>
            <a:off x="5586075" y="1615738"/>
            <a:ext cx="2879400" cy="437700"/>
          </a:xfrm>
          <a:prstGeom prst="straightConnector1">
            <a:avLst/>
          </a:prstGeom>
          <a:noFill/>
          <a:ln cap="flat" cmpd="sng" w="9525">
            <a:solidFill>
              <a:srgbClr val="CCCCCC"/>
            </a:solidFill>
            <a:prstDash val="solid"/>
            <a:round/>
            <a:headEnd len="med" w="med" type="none"/>
            <a:tailEnd len="med" w="med" type="triangle"/>
          </a:ln>
        </p:spPr>
      </p:cxnSp>
      <p:cxnSp>
        <p:nvCxnSpPr>
          <p:cNvPr id="136" name="Google Shape;136;p21"/>
          <p:cNvCxnSpPr/>
          <p:nvPr/>
        </p:nvCxnSpPr>
        <p:spPr>
          <a:xfrm flipH="1">
            <a:off x="5612225" y="2130987"/>
            <a:ext cx="2814300" cy="437700"/>
          </a:xfrm>
          <a:prstGeom prst="straightConnector1">
            <a:avLst/>
          </a:prstGeom>
          <a:noFill/>
          <a:ln cap="flat" cmpd="sng" w="9525">
            <a:solidFill>
              <a:srgbClr val="CCCCCC"/>
            </a:solidFill>
            <a:prstDash val="solid"/>
            <a:round/>
            <a:headEnd len="med" w="med" type="none"/>
            <a:tailEnd len="med" w="med" type="triangle"/>
          </a:ln>
        </p:spPr>
      </p:cxnSp>
      <p:cxnSp>
        <p:nvCxnSpPr>
          <p:cNvPr id="137" name="Google Shape;137;p21"/>
          <p:cNvCxnSpPr/>
          <p:nvPr/>
        </p:nvCxnSpPr>
        <p:spPr>
          <a:xfrm flipH="1">
            <a:off x="5644975" y="25547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138" name="Google Shape;138;p21"/>
          <p:cNvSpPr txBox="1"/>
          <p:nvPr/>
        </p:nvSpPr>
        <p:spPr>
          <a:xfrm flipH="1" rot="-523651">
            <a:off x="5631547" y="24266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nvSpPr>
        <p:spPr>
          <a:xfrm flipH="1" rot="-523651">
            <a:off x="5598797" y="20028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ServerHello</a:t>
            </a:r>
            <a:endParaRPr>
              <a:solidFill>
                <a:srgbClr val="B7B7B7"/>
              </a:solidFill>
            </a:endParaRPr>
          </a:p>
        </p:txBody>
      </p:sp>
      <p:sp>
        <p:nvSpPr>
          <p:cNvPr id="144" name="Google Shape;144;p22"/>
          <p:cNvSpPr txBox="1"/>
          <p:nvPr/>
        </p:nvSpPr>
        <p:spPr>
          <a:xfrm rot="512024">
            <a:off x="5611456" y="1487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ClientHello</a:t>
            </a:r>
            <a:endParaRPr>
              <a:solidFill>
                <a:srgbClr val="B7B7B7"/>
              </a:solidFill>
            </a:endParaRPr>
          </a:p>
        </p:txBody>
      </p:sp>
      <p:sp>
        <p:nvSpPr>
          <p:cNvPr id="145" name="Google Shape;14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6" name="Google Shape;146;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Handshake Step 3: Premaster Secret</a:t>
            </a:r>
            <a:endParaRPr/>
          </a:p>
        </p:txBody>
      </p:sp>
      <p:sp>
        <p:nvSpPr>
          <p:cNvPr id="147" name="Google Shape;147;p22"/>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step has two main purposes</a:t>
            </a:r>
            <a:endParaRPr/>
          </a:p>
          <a:p>
            <a:pPr indent="-317500" lvl="1" marL="914400" rtl="0" algn="l">
              <a:spcBef>
                <a:spcPts val="0"/>
              </a:spcBef>
              <a:spcAft>
                <a:spcPts val="0"/>
              </a:spcAft>
              <a:buSzPts val="1400"/>
              <a:buChar char="○"/>
            </a:pPr>
            <a:r>
              <a:rPr lang="en"/>
              <a:t>Make sure the client is talking to the legitimate server (not an impersonator)</a:t>
            </a:r>
            <a:endParaRPr/>
          </a:p>
          <a:p>
            <a:pPr indent="-317500" lvl="2" marL="1371600" rtl="0" algn="l">
              <a:spcBef>
                <a:spcPts val="0"/>
              </a:spcBef>
              <a:spcAft>
                <a:spcPts val="0"/>
              </a:spcAft>
              <a:buSzPts val="1400"/>
              <a:buChar char="■"/>
            </a:pPr>
            <a:r>
              <a:rPr lang="en"/>
              <a:t>The server must prove that it owns the private key corresponding to the public key in the certificate</a:t>
            </a:r>
            <a:endParaRPr/>
          </a:p>
          <a:p>
            <a:pPr indent="-317500" lvl="1" marL="914400" rtl="0" algn="l">
              <a:spcBef>
                <a:spcPts val="0"/>
              </a:spcBef>
              <a:spcAft>
                <a:spcPts val="0"/>
              </a:spcAft>
              <a:buSzPts val="1400"/>
              <a:buChar char="○"/>
            </a:pPr>
            <a:r>
              <a:rPr lang="en"/>
              <a:t>Give the client and server a shared secret</a:t>
            </a:r>
            <a:endParaRPr/>
          </a:p>
          <a:p>
            <a:pPr indent="-317500" lvl="2" marL="1371600" rtl="0" algn="l">
              <a:spcBef>
                <a:spcPts val="0"/>
              </a:spcBef>
              <a:spcAft>
                <a:spcPts val="0"/>
              </a:spcAft>
              <a:buSzPts val="1400"/>
              <a:buChar char="■"/>
            </a:pPr>
            <a:r>
              <a:rPr lang="en"/>
              <a:t>An attacker should not be able to learn the secret</a:t>
            </a:r>
            <a:endParaRPr/>
          </a:p>
          <a:p>
            <a:pPr indent="-317500" lvl="2" marL="1371600" rtl="0" algn="l">
              <a:spcBef>
                <a:spcPts val="0"/>
              </a:spcBef>
              <a:spcAft>
                <a:spcPts val="0"/>
              </a:spcAft>
              <a:buSzPts val="1400"/>
              <a:buChar char="■"/>
            </a:pPr>
            <a:r>
              <a:rPr lang="en"/>
              <a:t>This will help the client and the server secure messages later</a:t>
            </a:r>
            <a:endParaRPr/>
          </a:p>
        </p:txBody>
      </p:sp>
      <p:cxnSp>
        <p:nvCxnSpPr>
          <p:cNvPr id="148" name="Google Shape;148;p22"/>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149" name="Google Shape;149;p22"/>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150" name="Google Shape;150;p22"/>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151" name="Google Shape;151;p22"/>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152" name="Google Shape;152;p22"/>
          <p:cNvCxnSpPr/>
          <p:nvPr/>
        </p:nvCxnSpPr>
        <p:spPr>
          <a:xfrm>
            <a:off x="5586075" y="1615738"/>
            <a:ext cx="2879400" cy="437700"/>
          </a:xfrm>
          <a:prstGeom prst="straightConnector1">
            <a:avLst/>
          </a:prstGeom>
          <a:noFill/>
          <a:ln cap="flat" cmpd="sng" w="9525">
            <a:solidFill>
              <a:srgbClr val="CCCCCC"/>
            </a:solidFill>
            <a:prstDash val="solid"/>
            <a:round/>
            <a:headEnd len="med" w="med" type="none"/>
            <a:tailEnd len="med" w="med" type="triangle"/>
          </a:ln>
        </p:spPr>
      </p:cxnSp>
      <p:cxnSp>
        <p:nvCxnSpPr>
          <p:cNvPr id="153" name="Google Shape;153;p22"/>
          <p:cNvCxnSpPr/>
          <p:nvPr/>
        </p:nvCxnSpPr>
        <p:spPr>
          <a:xfrm flipH="1">
            <a:off x="5612225" y="2130987"/>
            <a:ext cx="2814300" cy="437700"/>
          </a:xfrm>
          <a:prstGeom prst="straightConnector1">
            <a:avLst/>
          </a:prstGeom>
          <a:noFill/>
          <a:ln cap="flat" cmpd="sng" w="9525">
            <a:solidFill>
              <a:srgbClr val="CCCCCC"/>
            </a:solidFill>
            <a:prstDash val="solid"/>
            <a:round/>
            <a:headEnd len="med" w="med" type="none"/>
            <a:tailEnd len="med" w="med" type="triangle"/>
          </a:ln>
        </p:spPr>
      </p:cxnSp>
      <p:cxnSp>
        <p:nvCxnSpPr>
          <p:cNvPr id="154" name="Google Shape;154;p22"/>
          <p:cNvCxnSpPr/>
          <p:nvPr/>
        </p:nvCxnSpPr>
        <p:spPr>
          <a:xfrm flipH="1">
            <a:off x="5644975" y="255473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155" name="Google Shape;155;p22"/>
          <p:cNvSpPr txBox="1"/>
          <p:nvPr/>
        </p:nvSpPr>
        <p:spPr>
          <a:xfrm flipH="1" rot="-523651">
            <a:off x="5631547" y="24266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Certificate</a:t>
            </a:r>
            <a:endParaRPr>
              <a:solidFill>
                <a:srgbClr val="B7B7B7"/>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nvSpPr>
        <p:spPr>
          <a:xfrm flipH="1" rot="-523651">
            <a:off x="5598797" y="20028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ServerHello</a:t>
            </a:r>
            <a:endParaRPr>
              <a:solidFill>
                <a:srgbClr val="B7B7B7"/>
              </a:solidFill>
            </a:endParaRPr>
          </a:p>
        </p:txBody>
      </p:sp>
      <p:sp>
        <p:nvSpPr>
          <p:cNvPr id="161" name="Google Shape;161;p23"/>
          <p:cNvSpPr txBox="1"/>
          <p:nvPr/>
        </p:nvSpPr>
        <p:spPr>
          <a:xfrm rot="512024">
            <a:off x="5611456" y="1487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ClientHello</a:t>
            </a:r>
            <a:endParaRPr>
              <a:solidFill>
                <a:srgbClr val="B7B7B7"/>
              </a:solidFill>
            </a:endParaRPr>
          </a:p>
        </p:txBody>
      </p:sp>
      <p:sp>
        <p:nvSpPr>
          <p:cNvPr id="162" name="Google Shape;16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3" name="Google Shape;163;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Handshake Step 3: Premaster Secret (RSA)</a:t>
            </a:r>
            <a:endParaRPr/>
          </a:p>
        </p:txBody>
      </p:sp>
      <p:sp>
        <p:nvSpPr>
          <p:cNvPr id="164" name="Google Shape;164;p2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client randomly generates a </a:t>
            </a:r>
            <a:r>
              <a:rPr b="1" lang="en"/>
              <a:t>premaster secret</a:t>
            </a:r>
            <a:r>
              <a:rPr lang="en"/>
              <a:t> (</a:t>
            </a:r>
            <a:r>
              <a:rPr b="1" lang="en"/>
              <a:t>PS</a:t>
            </a:r>
            <a:r>
              <a:rPr lang="en"/>
              <a:t>)</a:t>
            </a:r>
            <a:endParaRPr/>
          </a:p>
          <a:p>
            <a:pPr indent="-342900" lvl="0" marL="457200" rtl="0" algn="l">
              <a:spcBef>
                <a:spcPts val="0"/>
              </a:spcBef>
              <a:spcAft>
                <a:spcPts val="0"/>
              </a:spcAft>
              <a:buSzPts val="1800"/>
              <a:buChar char="●"/>
            </a:pPr>
            <a:r>
              <a:rPr lang="en"/>
              <a:t>The client encrypts </a:t>
            </a:r>
            <a:r>
              <a:rPr i="1" lang="en"/>
              <a:t>PS</a:t>
            </a:r>
            <a:r>
              <a:rPr lang="en"/>
              <a:t> with the server’s public key and sends it to the server</a:t>
            </a:r>
            <a:endParaRPr/>
          </a:p>
          <a:p>
            <a:pPr indent="-317500" lvl="1" marL="914400" rtl="0" algn="l">
              <a:spcBef>
                <a:spcPts val="0"/>
              </a:spcBef>
              <a:spcAft>
                <a:spcPts val="0"/>
              </a:spcAft>
              <a:buSzPts val="1400"/>
              <a:buChar char="○"/>
            </a:pPr>
            <a:r>
              <a:rPr lang="en"/>
              <a:t>The client knows the server’s public key from the certificate</a:t>
            </a:r>
            <a:endParaRPr/>
          </a:p>
          <a:p>
            <a:pPr indent="-342900" lvl="0" marL="457200" rtl="0" algn="l">
              <a:spcBef>
                <a:spcPts val="0"/>
              </a:spcBef>
              <a:spcAft>
                <a:spcPts val="0"/>
              </a:spcAft>
              <a:buSzPts val="1800"/>
              <a:buChar char="●"/>
            </a:pPr>
            <a:r>
              <a:rPr lang="en"/>
              <a:t>The server decrypts the premaster secret</a:t>
            </a:r>
            <a:endParaRPr/>
          </a:p>
          <a:p>
            <a:pPr indent="-342900" lvl="0" marL="457200" rtl="0" algn="l">
              <a:spcBef>
                <a:spcPts val="0"/>
              </a:spcBef>
              <a:spcAft>
                <a:spcPts val="0"/>
              </a:spcAft>
              <a:buSzPts val="1800"/>
              <a:buChar char="●"/>
            </a:pPr>
            <a:r>
              <a:rPr lang="en"/>
              <a:t>The client and server now share a secret</a:t>
            </a:r>
            <a:endParaRPr/>
          </a:p>
          <a:p>
            <a:pPr indent="-317500" lvl="1" marL="914400" rtl="0" algn="l">
              <a:spcBef>
                <a:spcPts val="0"/>
              </a:spcBef>
              <a:spcAft>
                <a:spcPts val="0"/>
              </a:spcAft>
              <a:buSzPts val="1400"/>
              <a:buChar char="○"/>
            </a:pPr>
            <a:r>
              <a:rPr lang="en"/>
              <a:t>Recall RSA encryption: Nobody except the legitimate server can decrypt the premaster secret</a:t>
            </a:r>
            <a:endParaRPr/>
          </a:p>
          <a:p>
            <a:pPr indent="-317500" lvl="1" marL="914400" rtl="0" algn="l">
              <a:spcBef>
                <a:spcPts val="0"/>
              </a:spcBef>
              <a:spcAft>
                <a:spcPts val="0"/>
              </a:spcAft>
              <a:buSzPts val="1400"/>
              <a:buChar char="○"/>
            </a:pPr>
            <a:r>
              <a:rPr lang="en"/>
              <a:t>Proves that the server owns the private key (otherwise, it could not decrypt </a:t>
            </a:r>
            <a:r>
              <a:rPr i="1" lang="en"/>
              <a:t>PS</a:t>
            </a:r>
            <a:r>
              <a:rPr lang="en"/>
              <a:t>)</a:t>
            </a:r>
            <a:endParaRPr/>
          </a:p>
        </p:txBody>
      </p:sp>
      <p:cxnSp>
        <p:nvCxnSpPr>
          <p:cNvPr id="165" name="Google Shape;165;p23"/>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166" name="Google Shape;166;p23"/>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167" name="Google Shape;167;p23"/>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168" name="Google Shape;168;p23"/>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169" name="Google Shape;169;p23"/>
          <p:cNvCxnSpPr/>
          <p:nvPr/>
        </p:nvCxnSpPr>
        <p:spPr>
          <a:xfrm>
            <a:off x="5586075" y="1615738"/>
            <a:ext cx="2879400" cy="437700"/>
          </a:xfrm>
          <a:prstGeom prst="straightConnector1">
            <a:avLst/>
          </a:prstGeom>
          <a:noFill/>
          <a:ln cap="flat" cmpd="sng" w="9525">
            <a:solidFill>
              <a:srgbClr val="CCCCCC"/>
            </a:solidFill>
            <a:prstDash val="solid"/>
            <a:round/>
            <a:headEnd len="med" w="med" type="none"/>
            <a:tailEnd len="med" w="med" type="triangle"/>
          </a:ln>
        </p:spPr>
      </p:cxnSp>
      <p:cxnSp>
        <p:nvCxnSpPr>
          <p:cNvPr id="170" name="Google Shape;170;p23"/>
          <p:cNvCxnSpPr/>
          <p:nvPr/>
        </p:nvCxnSpPr>
        <p:spPr>
          <a:xfrm flipH="1">
            <a:off x="5612225" y="2130987"/>
            <a:ext cx="2814300" cy="437700"/>
          </a:xfrm>
          <a:prstGeom prst="straightConnector1">
            <a:avLst/>
          </a:prstGeom>
          <a:noFill/>
          <a:ln cap="flat" cmpd="sng" w="9525">
            <a:solidFill>
              <a:srgbClr val="CCCCCC"/>
            </a:solidFill>
            <a:prstDash val="solid"/>
            <a:round/>
            <a:headEnd len="med" w="med" type="none"/>
            <a:tailEnd len="med" w="med" type="triangle"/>
          </a:ln>
        </p:spPr>
      </p:cxnSp>
      <p:cxnSp>
        <p:nvCxnSpPr>
          <p:cNvPr id="171" name="Google Shape;171;p23"/>
          <p:cNvCxnSpPr/>
          <p:nvPr/>
        </p:nvCxnSpPr>
        <p:spPr>
          <a:xfrm flipH="1">
            <a:off x="5644975" y="255473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172" name="Google Shape;172;p23"/>
          <p:cNvSpPr txBox="1"/>
          <p:nvPr/>
        </p:nvSpPr>
        <p:spPr>
          <a:xfrm flipH="1" rot="-523651">
            <a:off x="5631547" y="24266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Certificate</a:t>
            </a:r>
            <a:endParaRPr>
              <a:solidFill>
                <a:srgbClr val="B7B7B7"/>
              </a:solidFill>
            </a:endParaRPr>
          </a:p>
        </p:txBody>
      </p:sp>
      <p:cxnSp>
        <p:nvCxnSpPr>
          <p:cNvPr id="173" name="Google Shape;173;p23"/>
          <p:cNvCxnSpPr/>
          <p:nvPr/>
        </p:nvCxnSpPr>
        <p:spPr>
          <a:xfrm>
            <a:off x="5586075" y="32159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p23"/>
          <p:cNvSpPr txBox="1"/>
          <p:nvPr/>
        </p:nvSpPr>
        <p:spPr>
          <a:xfrm rot="512024">
            <a:off x="5611456" y="30876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t>
            </a:r>
            <a:r>
              <a:rPr i="1" lang="en"/>
              <a:t>PS</a:t>
            </a:r>
            <a:r>
              <a:rPr lang="en"/>
              <a:t>}</a:t>
            </a:r>
            <a:r>
              <a:rPr i="1" lang="en" sz="1000"/>
              <a:t>K</a:t>
            </a:r>
            <a:r>
              <a:rPr lang="en" sz="600"/>
              <a:t>server</a:t>
            </a:r>
            <a:endParaRPr sz="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nvSpPr>
        <p:spPr>
          <a:xfrm flipH="1" rot="-523651">
            <a:off x="5598797" y="20028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ServerHello</a:t>
            </a:r>
            <a:endParaRPr>
              <a:solidFill>
                <a:srgbClr val="B7B7B7"/>
              </a:solidFill>
            </a:endParaRPr>
          </a:p>
        </p:txBody>
      </p:sp>
      <p:sp>
        <p:nvSpPr>
          <p:cNvPr id="180" name="Google Shape;180;p24"/>
          <p:cNvSpPr txBox="1"/>
          <p:nvPr/>
        </p:nvSpPr>
        <p:spPr>
          <a:xfrm rot="512024">
            <a:off x="5611456" y="1487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ClientHello</a:t>
            </a:r>
            <a:endParaRPr>
              <a:solidFill>
                <a:srgbClr val="B7B7B7"/>
              </a:solidFill>
            </a:endParaRPr>
          </a:p>
        </p:txBody>
      </p:sp>
      <p:sp>
        <p:nvSpPr>
          <p:cNvPr id="181" name="Google Shape;18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Handshake Step 3: Premaster Secret (DHE)</a:t>
            </a:r>
            <a:endParaRPr/>
          </a:p>
        </p:txBody>
      </p:sp>
      <p:sp>
        <p:nvSpPr>
          <p:cNvPr id="183" name="Google Shape;183;p24"/>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server generates a secret </a:t>
            </a:r>
            <a:r>
              <a:rPr i="1" lang="en"/>
              <a:t>a</a:t>
            </a:r>
            <a:r>
              <a:rPr lang="en"/>
              <a:t> and computes </a:t>
            </a:r>
            <a:r>
              <a:rPr i="1" lang="en"/>
              <a:t>g</a:t>
            </a:r>
            <a:r>
              <a:rPr baseline="30000" i="1" lang="en"/>
              <a:t>a</a:t>
            </a:r>
            <a:r>
              <a:rPr lang="en"/>
              <a:t> mod </a:t>
            </a:r>
            <a:r>
              <a:rPr i="1" lang="en"/>
              <a:t>p</a:t>
            </a:r>
            <a:endParaRPr/>
          </a:p>
          <a:p>
            <a:pPr indent="-342900" lvl="0" marL="457200" rtl="0" algn="l">
              <a:spcBef>
                <a:spcPts val="0"/>
              </a:spcBef>
              <a:spcAft>
                <a:spcPts val="0"/>
              </a:spcAft>
              <a:buSzPts val="1800"/>
              <a:buChar char="●"/>
            </a:pPr>
            <a:r>
              <a:rPr lang="en"/>
              <a:t>The server signs </a:t>
            </a:r>
            <a:r>
              <a:rPr i="1" lang="en"/>
              <a:t>g</a:t>
            </a:r>
            <a:r>
              <a:rPr baseline="30000" i="1" lang="en"/>
              <a:t>a</a:t>
            </a:r>
            <a:r>
              <a:rPr lang="en"/>
              <a:t> mod </a:t>
            </a:r>
            <a:r>
              <a:rPr i="1" lang="en"/>
              <a:t>p</a:t>
            </a:r>
            <a:r>
              <a:rPr lang="en"/>
              <a:t> with its private key and sends the message and signature</a:t>
            </a:r>
            <a:endParaRPr/>
          </a:p>
          <a:p>
            <a:pPr indent="-342900" lvl="0" marL="457200" rtl="0" algn="l">
              <a:spcBef>
                <a:spcPts val="0"/>
              </a:spcBef>
              <a:spcAft>
                <a:spcPts val="0"/>
              </a:spcAft>
              <a:buSzPts val="1800"/>
              <a:buChar char="●"/>
            </a:pPr>
            <a:r>
              <a:rPr lang="en"/>
              <a:t>The client verifies the signature</a:t>
            </a:r>
            <a:endParaRPr/>
          </a:p>
          <a:p>
            <a:pPr indent="-317500" lvl="1" marL="914400" rtl="0" algn="l">
              <a:spcBef>
                <a:spcPts val="0"/>
              </a:spcBef>
              <a:spcAft>
                <a:spcPts val="0"/>
              </a:spcAft>
              <a:buSzPts val="1400"/>
              <a:buChar char="○"/>
            </a:pPr>
            <a:r>
              <a:rPr lang="en"/>
              <a:t>Proves that the server owns the private key</a:t>
            </a:r>
            <a:endParaRPr/>
          </a:p>
          <a:p>
            <a:pPr indent="-342900" lvl="0" marL="457200" rtl="0" algn="l">
              <a:spcBef>
                <a:spcPts val="0"/>
              </a:spcBef>
              <a:spcAft>
                <a:spcPts val="0"/>
              </a:spcAft>
              <a:buSzPts val="1800"/>
              <a:buChar char="●"/>
            </a:pPr>
            <a:r>
              <a:rPr lang="en"/>
              <a:t>The client generates a secret </a:t>
            </a:r>
            <a:r>
              <a:rPr i="1" lang="en"/>
              <a:t>b</a:t>
            </a:r>
            <a:r>
              <a:rPr lang="en"/>
              <a:t> and computes </a:t>
            </a:r>
            <a:r>
              <a:rPr i="1" lang="en"/>
              <a:t>g</a:t>
            </a:r>
            <a:r>
              <a:rPr baseline="30000" i="1" lang="en"/>
              <a:t>b</a:t>
            </a:r>
            <a:r>
              <a:rPr lang="en"/>
              <a:t> mod </a:t>
            </a:r>
            <a:r>
              <a:rPr i="1" lang="en"/>
              <a:t>p</a:t>
            </a:r>
            <a:endParaRPr/>
          </a:p>
          <a:p>
            <a:pPr indent="-342900" lvl="0" marL="457200" rtl="0" algn="l">
              <a:spcBef>
                <a:spcPts val="0"/>
              </a:spcBef>
              <a:spcAft>
                <a:spcPts val="0"/>
              </a:spcAft>
              <a:buSzPts val="1800"/>
              <a:buChar char="●"/>
            </a:pPr>
            <a:r>
              <a:rPr lang="en"/>
              <a:t>The client and server now share a </a:t>
            </a:r>
            <a:r>
              <a:rPr b="1" lang="en"/>
              <a:t>premaster secret</a:t>
            </a:r>
            <a:r>
              <a:rPr lang="en"/>
              <a:t>: </a:t>
            </a:r>
            <a:r>
              <a:rPr i="1" lang="en"/>
              <a:t>g</a:t>
            </a:r>
            <a:r>
              <a:rPr baseline="30000" i="1" lang="en"/>
              <a:t>ab</a:t>
            </a:r>
            <a:r>
              <a:rPr lang="en"/>
              <a:t> mod </a:t>
            </a:r>
            <a:r>
              <a:rPr i="1" lang="en"/>
              <a:t>p</a:t>
            </a:r>
            <a:endParaRPr i="1"/>
          </a:p>
          <a:p>
            <a:pPr indent="-317500" lvl="1" marL="914400" rtl="0" algn="l">
              <a:spcBef>
                <a:spcPts val="0"/>
              </a:spcBef>
              <a:spcAft>
                <a:spcPts val="0"/>
              </a:spcAft>
              <a:buSzPts val="1400"/>
              <a:buChar char="○"/>
            </a:pPr>
            <a:r>
              <a:rPr lang="en"/>
              <a:t>Recall Diffie-Hellman: an attacker cannot compute </a:t>
            </a:r>
            <a:r>
              <a:rPr i="1" lang="en"/>
              <a:t>g</a:t>
            </a:r>
            <a:r>
              <a:rPr baseline="30000" i="1" lang="en"/>
              <a:t>ab</a:t>
            </a:r>
            <a:r>
              <a:rPr lang="en"/>
              <a:t> mod </a:t>
            </a:r>
            <a:r>
              <a:rPr i="1" lang="en"/>
              <a:t>p</a:t>
            </a:r>
            <a:endParaRPr/>
          </a:p>
        </p:txBody>
      </p:sp>
      <p:cxnSp>
        <p:nvCxnSpPr>
          <p:cNvPr id="184" name="Google Shape;184;p24"/>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185" name="Google Shape;185;p24"/>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186" name="Google Shape;186;p24"/>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187" name="Google Shape;187;p24"/>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188" name="Google Shape;188;p24"/>
          <p:cNvCxnSpPr/>
          <p:nvPr/>
        </p:nvCxnSpPr>
        <p:spPr>
          <a:xfrm>
            <a:off x="5586075" y="1615738"/>
            <a:ext cx="2879400" cy="437700"/>
          </a:xfrm>
          <a:prstGeom prst="straightConnector1">
            <a:avLst/>
          </a:prstGeom>
          <a:noFill/>
          <a:ln cap="flat" cmpd="sng" w="9525">
            <a:solidFill>
              <a:srgbClr val="CCCCCC"/>
            </a:solidFill>
            <a:prstDash val="solid"/>
            <a:round/>
            <a:headEnd len="med" w="med" type="none"/>
            <a:tailEnd len="med" w="med" type="triangle"/>
          </a:ln>
        </p:spPr>
      </p:cxnSp>
      <p:cxnSp>
        <p:nvCxnSpPr>
          <p:cNvPr id="189" name="Google Shape;189;p24"/>
          <p:cNvCxnSpPr/>
          <p:nvPr/>
        </p:nvCxnSpPr>
        <p:spPr>
          <a:xfrm flipH="1">
            <a:off x="5612225" y="2130987"/>
            <a:ext cx="2814300" cy="437700"/>
          </a:xfrm>
          <a:prstGeom prst="straightConnector1">
            <a:avLst/>
          </a:prstGeom>
          <a:noFill/>
          <a:ln cap="flat" cmpd="sng" w="9525">
            <a:solidFill>
              <a:srgbClr val="CCCCCC"/>
            </a:solidFill>
            <a:prstDash val="solid"/>
            <a:round/>
            <a:headEnd len="med" w="med" type="none"/>
            <a:tailEnd len="med" w="med" type="triangle"/>
          </a:ln>
        </p:spPr>
      </p:cxnSp>
      <p:cxnSp>
        <p:nvCxnSpPr>
          <p:cNvPr id="190" name="Google Shape;190;p24"/>
          <p:cNvCxnSpPr/>
          <p:nvPr/>
        </p:nvCxnSpPr>
        <p:spPr>
          <a:xfrm flipH="1">
            <a:off x="5644975" y="255473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191" name="Google Shape;191;p24"/>
          <p:cNvSpPr txBox="1"/>
          <p:nvPr/>
        </p:nvSpPr>
        <p:spPr>
          <a:xfrm flipH="1" rot="-523651">
            <a:off x="5631547" y="24266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Certificate</a:t>
            </a:r>
            <a:endParaRPr>
              <a:solidFill>
                <a:srgbClr val="B7B7B7"/>
              </a:solidFill>
            </a:endParaRPr>
          </a:p>
        </p:txBody>
      </p:sp>
      <p:cxnSp>
        <p:nvCxnSpPr>
          <p:cNvPr id="192" name="Google Shape;192;p24"/>
          <p:cNvCxnSpPr/>
          <p:nvPr/>
        </p:nvCxnSpPr>
        <p:spPr>
          <a:xfrm flipH="1">
            <a:off x="5612225" y="29691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193" name="Google Shape;193;p24"/>
          <p:cNvSpPr txBox="1"/>
          <p:nvPr/>
        </p:nvSpPr>
        <p:spPr>
          <a:xfrm flipH="1" rot="-523651">
            <a:off x="5598797" y="28410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t>
            </a:r>
            <a:r>
              <a:rPr i="1" lang="en"/>
              <a:t>g</a:t>
            </a:r>
            <a:r>
              <a:rPr baseline="30000" i="1" lang="en"/>
              <a:t>a</a:t>
            </a:r>
            <a:r>
              <a:rPr lang="en"/>
              <a:t> mod </a:t>
            </a:r>
            <a:r>
              <a:rPr i="1" lang="en"/>
              <a:t>p</a:t>
            </a:r>
            <a:r>
              <a:rPr lang="en"/>
              <a:t>}</a:t>
            </a:r>
            <a:r>
              <a:rPr i="1" lang="en" sz="900"/>
              <a:t>K</a:t>
            </a:r>
            <a:r>
              <a:rPr baseline="30000" lang="en" sz="900"/>
              <a:t>-1</a:t>
            </a:r>
            <a:r>
              <a:rPr lang="en" sz="600"/>
              <a:t>server</a:t>
            </a:r>
            <a:endParaRPr sz="600"/>
          </a:p>
        </p:txBody>
      </p:sp>
      <p:cxnSp>
        <p:nvCxnSpPr>
          <p:cNvPr id="194" name="Google Shape;194;p24"/>
          <p:cNvCxnSpPr/>
          <p:nvPr/>
        </p:nvCxnSpPr>
        <p:spPr>
          <a:xfrm>
            <a:off x="5586075" y="35207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195" name="Google Shape;195;p24"/>
          <p:cNvSpPr txBox="1"/>
          <p:nvPr/>
        </p:nvSpPr>
        <p:spPr>
          <a:xfrm rot="512024">
            <a:off x="5611456" y="3392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solidFill>
                  <a:schemeClr val="dk1"/>
                </a:solidFill>
              </a:rPr>
              <a:t>g</a:t>
            </a:r>
            <a:r>
              <a:rPr baseline="30000" i="1" lang="en">
                <a:solidFill>
                  <a:schemeClr val="dk1"/>
                </a:solidFill>
              </a:rPr>
              <a:t>b</a:t>
            </a:r>
            <a:r>
              <a:rPr lang="en">
                <a:solidFill>
                  <a:schemeClr val="dk1"/>
                </a:solidFill>
              </a:rPr>
              <a:t> mod </a:t>
            </a:r>
            <a:r>
              <a:rPr i="1" lang="en">
                <a:solidFill>
                  <a:schemeClr val="dk1"/>
                </a:solidFill>
              </a:rPr>
              <a:t>p</a:t>
            </a:r>
            <a:endParaRPr i="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p:nvPr/>
        </p:nvSpPr>
        <p:spPr>
          <a:xfrm>
            <a:off x="5586075" y="1573150"/>
            <a:ext cx="2922600" cy="1338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2" name="Google Shape;202;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Handshake Step 4: Derive Symmetric Keys</a:t>
            </a:r>
            <a:endParaRPr/>
          </a:p>
        </p:txBody>
      </p:sp>
      <p:cxnSp>
        <p:nvCxnSpPr>
          <p:cNvPr id="203" name="Google Shape;203;p25"/>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04" name="Google Shape;204;p25"/>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server and client each derive symmetric keys from </a:t>
            </a:r>
            <a:r>
              <a:rPr i="1" lang="en"/>
              <a:t>R</a:t>
            </a:r>
            <a:r>
              <a:rPr i="1" lang="en" sz="1200"/>
              <a:t>B</a:t>
            </a:r>
            <a:r>
              <a:rPr lang="en"/>
              <a:t>, </a:t>
            </a:r>
            <a:r>
              <a:rPr i="1" lang="en"/>
              <a:t>R</a:t>
            </a:r>
            <a:r>
              <a:rPr i="1" lang="en" sz="1200"/>
              <a:t>S</a:t>
            </a:r>
            <a:r>
              <a:rPr lang="en"/>
              <a:t>, and </a:t>
            </a:r>
            <a:r>
              <a:rPr i="1" lang="en"/>
              <a:t>PS</a:t>
            </a:r>
            <a:endParaRPr i="1"/>
          </a:p>
          <a:p>
            <a:pPr indent="-317500" lvl="1" marL="914400" rtl="0" algn="l">
              <a:spcBef>
                <a:spcPts val="0"/>
              </a:spcBef>
              <a:spcAft>
                <a:spcPts val="0"/>
              </a:spcAft>
              <a:buSzPts val="1400"/>
              <a:buChar char="○"/>
            </a:pPr>
            <a:r>
              <a:rPr lang="en"/>
              <a:t>Usually derived by seeding a PRNG with the three values</a:t>
            </a:r>
            <a:endParaRPr/>
          </a:p>
          <a:p>
            <a:pPr indent="-317500" lvl="1" marL="914400" rtl="0" algn="l">
              <a:spcBef>
                <a:spcPts val="0"/>
              </a:spcBef>
              <a:spcAft>
                <a:spcPts val="0"/>
              </a:spcAft>
              <a:buSzPts val="1400"/>
              <a:buChar char="○"/>
            </a:pPr>
            <a:r>
              <a:rPr lang="en"/>
              <a:t>Changing any of the values results in different symmetric keys</a:t>
            </a:r>
            <a:endParaRPr/>
          </a:p>
          <a:p>
            <a:pPr indent="-342900" lvl="0" marL="457200" rtl="0" algn="l">
              <a:spcBef>
                <a:spcPts val="0"/>
              </a:spcBef>
              <a:spcAft>
                <a:spcPts val="0"/>
              </a:spcAft>
              <a:buSzPts val="1800"/>
              <a:buChar char="●"/>
            </a:pPr>
            <a:r>
              <a:rPr lang="en"/>
              <a:t>Four symmetric keys are derived</a:t>
            </a:r>
            <a:endParaRPr/>
          </a:p>
          <a:p>
            <a:pPr indent="-317500" lvl="1" marL="914400" rtl="0" algn="l">
              <a:spcBef>
                <a:spcPts val="0"/>
              </a:spcBef>
              <a:spcAft>
                <a:spcPts val="0"/>
              </a:spcAft>
              <a:buSzPts val="1400"/>
              <a:buChar char="○"/>
            </a:pPr>
            <a:r>
              <a:rPr i="1" lang="en"/>
              <a:t>C</a:t>
            </a:r>
            <a:r>
              <a:rPr i="1" lang="en" sz="900"/>
              <a:t>B</a:t>
            </a:r>
            <a:r>
              <a:rPr lang="en"/>
              <a:t>: For encrypting client-to-server messages</a:t>
            </a:r>
            <a:endParaRPr/>
          </a:p>
          <a:p>
            <a:pPr indent="-317500" lvl="1" marL="914400" rtl="0" algn="l">
              <a:spcBef>
                <a:spcPts val="0"/>
              </a:spcBef>
              <a:spcAft>
                <a:spcPts val="0"/>
              </a:spcAft>
              <a:buSzPts val="1400"/>
              <a:buChar char="○"/>
            </a:pPr>
            <a:r>
              <a:rPr i="1" lang="en"/>
              <a:t>C</a:t>
            </a:r>
            <a:r>
              <a:rPr i="1" lang="en" sz="900"/>
              <a:t>S</a:t>
            </a:r>
            <a:r>
              <a:rPr lang="en"/>
              <a:t>: For encrypting server-to-client messages</a:t>
            </a:r>
            <a:endParaRPr/>
          </a:p>
          <a:p>
            <a:pPr indent="-317500" lvl="1" marL="914400" rtl="0" algn="l">
              <a:spcBef>
                <a:spcPts val="0"/>
              </a:spcBef>
              <a:spcAft>
                <a:spcPts val="0"/>
              </a:spcAft>
              <a:buSzPts val="1400"/>
              <a:buChar char="○"/>
            </a:pPr>
            <a:r>
              <a:rPr i="1" lang="en"/>
              <a:t>I</a:t>
            </a:r>
            <a:r>
              <a:rPr i="1" lang="en" sz="900"/>
              <a:t>B</a:t>
            </a:r>
            <a:r>
              <a:rPr lang="en"/>
              <a:t>: For MACing client-to-server messages</a:t>
            </a:r>
            <a:endParaRPr/>
          </a:p>
          <a:p>
            <a:pPr indent="-317500" lvl="1" marL="914400" rtl="0" algn="l">
              <a:spcBef>
                <a:spcPts val="0"/>
              </a:spcBef>
              <a:spcAft>
                <a:spcPts val="0"/>
              </a:spcAft>
              <a:buSzPts val="1400"/>
              <a:buChar char="○"/>
            </a:pPr>
            <a:r>
              <a:rPr i="1" lang="en"/>
              <a:t>I</a:t>
            </a:r>
            <a:r>
              <a:rPr i="1" lang="en" sz="900"/>
              <a:t>S</a:t>
            </a:r>
            <a:r>
              <a:rPr lang="en"/>
              <a:t>: For MACing server-to-client messages</a:t>
            </a:r>
            <a:endParaRPr/>
          </a:p>
          <a:p>
            <a:pPr indent="-317500" lvl="1" marL="914400" rtl="0" algn="l">
              <a:spcBef>
                <a:spcPts val="0"/>
              </a:spcBef>
              <a:spcAft>
                <a:spcPts val="0"/>
              </a:spcAft>
              <a:buSzPts val="1400"/>
              <a:buChar char="○"/>
            </a:pPr>
            <a:r>
              <a:rPr lang="en"/>
              <a:t>Note: Both client and server know all four keys</a:t>
            </a:r>
            <a:endParaRPr/>
          </a:p>
        </p:txBody>
      </p:sp>
      <p:cxnSp>
        <p:nvCxnSpPr>
          <p:cNvPr id="205" name="Google Shape;205;p25"/>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06" name="Google Shape;206;p25"/>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207" name="Google Shape;207;p25"/>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208" name="Google Shape;208;p25"/>
          <p:cNvCxnSpPr/>
          <p:nvPr/>
        </p:nvCxnSpPr>
        <p:spPr>
          <a:xfrm flipH="1">
            <a:off x="5612225" y="182618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209" name="Google Shape;209;p25"/>
          <p:cNvSpPr txBox="1"/>
          <p:nvPr/>
        </p:nvSpPr>
        <p:spPr>
          <a:xfrm flipH="1" rot="-523651">
            <a:off x="5598797" y="16980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a:t>
            </a:r>
            <a:r>
              <a:rPr i="1" lang="en">
                <a:solidFill>
                  <a:srgbClr val="B7B7B7"/>
                </a:solidFill>
              </a:rPr>
              <a:t>g</a:t>
            </a:r>
            <a:r>
              <a:rPr baseline="30000" i="1" lang="en">
                <a:solidFill>
                  <a:srgbClr val="B7B7B7"/>
                </a:solidFill>
              </a:rPr>
              <a:t>a</a:t>
            </a:r>
            <a:r>
              <a:rPr lang="en">
                <a:solidFill>
                  <a:srgbClr val="B7B7B7"/>
                </a:solidFill>
              </a:rPr>
              <a:t> mod </a:t>
            </a:r>
            <a:r>
              <a:rPr i="1" lang="en">
                <a:solidFill>
                  <a:srgbClr val="B7B7B7"/>
                </a:solidFill>
              </a:rPr>
              <a:t>p</a:t>
            </a:r>
            <a:r>
              <a:rPr lang="en">
                <a:solidFill>
                  <a:srgbClr val="B7B7B7"/>
                </a:solidFill>
              </a:rPr>
              <a:t>}</a:t>
            </a:r>
            <a:r>
              <a:rPr i="1" lang="en" sz="1000">
                <a:solidFill>
                  <a:srgbClr val="B7B7B7"/>
                </a:solidFill>
              </a:rPr>
              <a:t>K</a:t>
            </a:r>
            <a:r>
              <a:rPr baseline="30000" lang="en" sz="1000">
                <a:solidFill>
                  <a:srgbClr val="B7B7B7"/>
                </a:solidFill>
              </a:rPr>
              <a:t>-1</a:t>
            </a:r>
            <a:r>
              <a:rPr lang="en" sz="600">
                <a:solidFill>
                  <a:srgbClr val="B7B7B7"/>
                </a:solidFill>
              </a:rPr>
              <a:t>server</a:t>
            </a:r>
            <a:endParaRPr sz="600">
              <a:solidFill>
                <a:srgbClr val="B7B7B7"/>
              </a:solidFill>
            </a:endParaRPr>
          </a:p>
        </p:txBody>
      </p:sp>
      <p:cxnSp>
        <p:nvCxnSpPr>
          <p:cNvPr id="210" name="Google Shape;210;p25"/>
          <p:cNvCxnSpPr/>
          <p:nvPr/>
        </p:nvCxnSpPr>
        <p:spPr>
          <a:xfrm>
            <a:off x="5586075" y="2377738"/>
            <a:ext cx="2879400" cy="437700"/>
          </a:xfrm>
          <a:prstGeom prst="straightConnector1">
            <a:avLst/>
          </a:prstGeom>
          <a:noFill/>
          <a:ln cap="flat" cmpd="sng" w="9525">
            <a:solidFill>
              <a:srgbClr val="CCCCCC"/>
            </a:solidFill>
            <a:prstDash val="solid"/>
            <a:round/>
            <a:headEnd len="med" w="med" type="none"/>
            <a:tailEnd len="med" w="med" type="triangle"/>
          </a:ln>
        </p:spPr>
      </p:cxnSp>
      <p:sp>
        <p:nvSpPr>
          <p:cNvPr id="211" name="Google Shape;211;p25"/>
          <p:cNvSpPr txBox="1"/>
          <p:nvPr/>
        </p:nvSpPr>
        <p:spPr>
          <a:xfrm rot="512024">
            <a:off x="5611456" y="2249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a:solidFill>
                  <a:srgbClr val="B7B7B7"/>
                </a:solidFill>
              </a:rPr>
              <a:t>g</a:t>
            </a:r>
            <a:r>
              <a:rPr baseline="30000" i="1" lang="en">
                <a:solidFill>
                  <a:srgbClr val="B7B7B7"/>
                </a:solidFill>
              </a:rPr>
              <a:t>b</a:t>
            </a:r>
            <a:r>
              <a:rPr lang="en">
                <a:solidFill>
                  <a:srgbClr val="B7B7B7"/>
                </a:solidFill>
              </a:rPr>
              <a:t> mod </a:t>
            </a:r>
            <a:r>
              <a:rPr i="1" lang="en">
                <a:solidFill>
                  <a:srgbClr val="B7B7B7"/>
                </a:solidFill>
              </a:rPr>
              <a:t>p</a:t>
            </a:r>
            <a:endParaRPr i="1">
              <a:solidFill>
                <a:srgbClr val="B7B7B7"/>
              </a:solidFill>
            </a:endParaRPr>
          </a:p>
        </p:txBody>
      </p:sp>
      <p:sp>
        <p:nvSpPr>
          <p:cNvPr id="212" name="Google Shape;212;p25"/>
          <p:cNvSpPr txBox="1"/>
          <p:nvPr/>
        </p:nvSpPr>
        <p:spPr>
          <a:xfrm>
            <a:off x="5519675" y="4027325"/>
            <a:ext cx="93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Compute keys</a:t>
            </a:r>
            <a:endParaRPr/>
          </a:p>
        </p:txBody>
      </p:sp>
      <p:sp>
        <p:nvSpPr>
          <p:cNvPr id="213" name="Google Shape;213;p25"/>
          <p:cNvSpPr txBox="1"/>
          <p:nvPr/>
        </p:nvSpPr>
        <p:spPr>
          <a:xfrm>
            <a:off x="7554825" y="4025375"/>
            <a:ext cx="9372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Compute keys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Handshake Step 5: Exchange MACs</a:t>
            </a:r>
            <a:endParaRPr/>
          </a:p>
        </p:txBody>
      </p:sp>
      <p:cxnSp>
        <p:nvCxnSpPr>
          <p:cNvPr id="220" name="Google Shape;220;p26"/>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21" name="Google Shape;221;p26"/>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server and client exchange MACs on all the messages of the handshake so far</a:t>
            </a:r>
            <a:endParaRPr/>
          </a:p>
          <a:p>
            <a:pPr indent="-317500" lvl="1" marL="914400" rtl="0" algn="l">
              <a:spcBef>
                <a:spcPts val="0"/>
              </a:spcBef>
              <a:spcAft>
                <a:spcPts val="0"/>
              </a:spcAft>
              <a:buSzPts val="1400"/>
              <a:buChar char="○"/>
            </a:pPr>
            <a:r>
              <a:rPr lang="en"/>
              <a:t>Any tampering on the handshake will be detected thanks to the cryptographic MACs</a:t>
            </a:r>
            <a:endParaRPr/>
          </a:p>
          <a:p>
            <a:pPr indent="-317500" lvl="1" marL="914400" rtl="0" algn="l">
              <a:spcBef>
                <a:spcPts val="0"/>
              </a:spcBef>
              <a:spcAft>
                <a:spcPts val="0"/>
              </a:spcAft>
              <a:buSzPts val="1400"/>
              <a:buChar char="○"/>
            </a:pPr>
            <a:r>
              <a:rPr lang="en"/>
              <a:t>Not to be confused with MAC addresses</a:t>
            </a:r>
            <a:endParaRPr/>
          </a:p>
        </p:txBody>
      </p:sp>
      <p:cxnSp>
        <p:nvCxnSpPr>
          <p:cNvPr id="222" name="Google Shape;222;p26"/>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23" name="Google Shape;223;p26"/>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224" name="Google Shape;224;p26"/>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sp>
        <p:nvSpPr>
          <p:cNvPr id="225" name="Google Shape;225;p26"/>
          <p:cNvSpPr txBox="1"/>
          <p:nvPr/>
        </p:nvSpPr>
        <p:spPr>
          <a:xfrm>
            <a:off x="5552875" y="1532875"/>
            <a:ext cx="93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B7B7B7"/>
                </a:solidFill>
              </a:rPr>
              <a:t>Compute keys</a:t>
            </a:r>
            <a:endParaRPr>
              <a:solidFill>
                <a:srgbClr val="B7B7B7"/>
              </a:solidFill>
            </a:endParaRPr>
          </a:p>
        </p:txBody>
      </p:sp>
      <p:sp>
        <p:nvSpPr>
          <p:cNvPr id="226" name="Google Shape;226;p26"/>
          <p:cNvSpPr txBox="1"/>
          <p:nvPr/>
        </p:nvSpPr>
        <p:spPr>
          <a:xfrm>
            <a:off x="7588025" y="1530925"/>
            <a:ext cx="9372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B7B7B7"/>
                </a:solidFill>
              </a:rPr>
              <a:t>Compute keys</a:t>
            </a:r>
            <a:endParaRPr>
              <a:solidFill>
                <a:srgbClr val="B7B7B7"/>
              </a:solidFill>
            </a:endParaRPr>
          </a:p>
        </p:txBody>
      </p:sp>
      <p:cxnSp>
        <p:nvCxnSpPr>
          <p:cNvPr id="227" name="Google Shape;227;p26"/>
          <p:cNvCxnSpPr/>
          <p:nvPr/>
        </p:nvCxnSpPr>
        <p:spPr>
          <a:xfrm>
            <a:off x="5586075" y="23777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228" name="Google Shape;228;p26"/>
          <p:cNvSpPr txBox="1"/>
          <p:nvPr/>
        </p:nvSpPr>
        <p:spPr>
          <a:xfrm rot="512024">
            <a:off x="5611456" y="2249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MAC(</a:t>
            </a:r>
            <a:r>
              <a:rPr i="1" lang="en"/>
              <a:t>I</a:t>
            </a:r>
            <a:r>
              <a:rPr i="1" lang="en" sz="900"/>
              <a:t>B</a:t>
            </a:r>
            <a:r>
              <a:rPr lang="en"/>
              <a:t>, steps 1-4)</a:t>
            </a:r>
            <a:endParaRPr/>
          </a:p>
        </p:txBody>
      </p:sp>
      <p:cxnSp>
        <p:nvCxnSpPr>
          <p:cNvPr id="229" name="Google Shape;229;p26"/>
          <p:cNvCxnSpPr/>
          <p:nvPr/>
        </p:nvCxnSpPr>
        <p:spPr>
          <a:xfrm flipH="1">
            <a:off x="5612225" y="28929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230" name="Google Shape;230;p26"/>
          <p:cNvSpPr txBox="1"/>
          <p:nvPr/>
        </p:nvSpPr>
        <p:spPr>
          <a:xfrm flipH="1" rot="-523651">
            <a:off x="5598797" y="27648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MAC(</a:t>
            </a:r>
            <a:r>
              <a:rPr i="1" lang="en"/>
              <a:t>I</a:t>
            </a:r>
            <a:r>
              <a:rPr i="1" lang="en" sz="900"/>
              <a:t>S</a:t>
            </a:r>
            <a:r>
              <a:rPr lang="en"/>
              <a:t>, steps 1-4)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6" name="Google Shape;236;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Handshake Step 6: Send Messages</a:t>
            </a:r>
            <a:endParaRPr/>
          </a:p>
        </p:txBody>
      </p:sp>
      <p:cxnSp>
        <p:nvCxnSpPr>
          <p:cNvPr id="237" name="Google Shape;237;p27"/>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38" name="Google Shape;238;p2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Messages can now be sent securely</a:t>
            </a:r>
            <a:endParaRPr/>
          </a:p>
          <a:p>
            <a:pPr indent="-317500" lvl="1" marL="914400" rtl="0" algn="l">
              <a:spcBef>
                <a:spcPts val="0"/>
              </a:spcBef>
              <a:spcAft>
                <a:spcPts val="0"/>
              </a:spcAft>
              <a:buSzPts val="1400"/>
              <a:buChar char="○"/>
            </a:pPr>
            <a:r>
              <a:rPr lang="en"/>
              <a:t>Encrypted and MAC</a:t>
            </a:r>
            <a:r>
              <a:rPr lang="en"/>
              <a:t>’</a:t>
            </a:r>
            <a:r>
              <a:rPr lang="en"/>
              <a:t>d</a:t>
            </a:r>
            <a:endParaRPr/>
          </a:p>
        </p:txBody>
      </p:sp>
      <p:cxnSp>
        <p:nvCxnSpPr>
          <p:cNvPr id="239" name="Google Shape;239;p27"/>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40" name="Google Shape;240;p27"/>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241" name="Google Shape;241;p27"/>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sp>
        <p:nvSpPr>
          <p:cNvPr id="242" name="Google Shape;242;p27"/>
          <p:cNvSpPr txBox="1"/>
          <p:nvPr/>
        </p:nvSpPr>
        <p:spPr>
          <a:xfrm>
            <a:off x="5552875" y="1532875"/>
            <a:ext cx="93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B7B7B7"/>
                </a:solidFill>
              </a:rPr>
              <a:t>Compute keys</a:t>
            </a:r>
            <a:endParaRPr>
              <a:solidFill>
                <a:srgbClr val="B7B7B7"/>
              </a:solidFill>
            </a:endParaRPr>
          </a:p>
        </p:txBody>
      </p:sp>
      <p:sp>
        <p:nvSpPr>
          <p:cNvPr id="243" name="Google Shape;243;p27"/>
          <p:cNvSpPr txBox="1"/>
          <p:nvPr/>
        </p:nvSpPr>
        <p:spPr>
          <a:xfrm>
            <a:off x="7588025" y="1530925"/>
            <a:ext cx="9372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rgbClr val="B7B7B7"/>
                </a:solidFill>
              </a:rPr>
              <a:t>Compute keys</a:t>
            </a:r>
            <a:endParaRPr>
              <a:solidFill>
                <a:srgbClr val="B7B7B7"/>
              </a:solidFill>
            </a:endParaRPr>
          </a:p>
        </p:txBody>
      </p:sp>
      <p:cxnSp>
        <p:nvCxnSpPr>
          <p:cNvPr id="244" name="Google Shape;244;p27"/>
          <p:cNvCxnSpPr/>
          <p:nvPr/>
        </p:nvCxnSpPr>
        <p:spPr>
          <a:xfrm>
            <a:off x="5586075" y="2377738"/>
            <a:ext cx="2879400" cy="437700"/>
          </a:xfrm>
          <a:prstGeom prst="straightConnector1">
            <a:avLst/>
          </a:prstGeom>
          <a:noFill/>
          <a:ln cap="flat" cmpd="sng" w="9525">
            <a:solidFill>
              <a:srgbClr val="CCCCCC"/>
            </a:solidFill>
            <a:prstDash val="solid"/>
            <a:round/>
            <a:headEnd len="med" w="med" type="none"/>
            <a:tailEnd len="med" w="med" type="triangle"/>
          </a:ln>
        </p:spPr>
      </p:cxnSp>
      <p:sp>
        <p:nvSpPr>
          <p:cNvPr id="245" name="Google Shape;245;p27"/>
          <p:cNvSpPr txBox="1"/>
          <p:nvPr/>
        </p:nvSpPr>
        <p:spPr>
          <a:xfrm rot="512024">
            <a:off x="5611456" y="2249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MAC(</a:t>
            </a:r>
            <a:r>
              <a:rPr i="1" lang="en">
                <a:solidFill>
                  <a:srgbClr val="B7B7B7"/>
                </a:solidFill>
              </a:rPr>
              <a:t>I</a:t>
            </a:r>
            <a:r>
              <a:rPr i="1" lang="en" sz="900">
                <a:solidFill>
                  <a:srgbClr val="B7B7B7"/>
                </a:solidFill>
              </a:rPr>
              <a:t>B</a:t>
            </a:r>
            <a:r>
              <a:rPr lang="en">
                <a:solidFill>
                  <a:srgbClr val="B7B7B7"/>
                </a:solidFill>
              </a:rPr>
              <a:t>, steps 1-4)</a:t>
            </a:r>
            <a:endParaRPr>
              <a:solidFill>
                <a:srgbClr val="B7B7B7"/>
              </a:solidFill>
            </a:endParaRPr>
          </a:p>
        </p:txBody>
      </p:sp>
      <p:cxnSp>
        <p:nvCxnSpPr>
          <p:cNvPr id="246" name="Google Shape;246;p27"/>
          <p:cNvCxnSpPr/>
          <p:nvPr/>
        </p:nvCxnSpPr>
        <p:spPr>
          <a:xfrm flipH="1">
            <a:off x="5612225" y="289298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247" name="Google Shape;247;p27"/>
          <p:cNvSpPr txBox="1"/>
          <p:nvPr/>
        </p:nvSpPr>
        <p:spPr>
          <a:xfrm flipH="1" rot="-523651">
            <a:off x="5598797" y="27648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MAC(</a:t>
            </a:r>
            <a:r>
              <a:rPr i="1" lang="en">
                <a:solidFill>
                  <a:srgbClr val="B7B7B7"/>
                </a:solidFill>
              </a:rPr>
              <a:t>I</a:t>
            </a:r>
            <a:r>
              <a:rPr i="1" lang="en" sz="900">
                <a:solidFill>
                  <a:srgbClr val="B7B7B7"/>
                </a:solidFill>
              </a:rPr>
              <a:t>S</a:t>
            </a:r>
            <a:r>
              <a:rPr lang="en">
                <a:solidFill>
                  <a:srgbClr val="B7B7B7"/>
                </a:solidFill>
              </a:rPr>
              <a:t>, steps 1-4)</a:t>
            </a:r>
            <a:endParaRPr>
              <a:solidFill>
                <a:srgbClr val="B7B7B7"/>
              </a:solidFill>
            </a:endParaRPr>
          </a:p>
        </p:txBody>
      </p:sp>
      <p:cxnSp>
        <p:nvCxnSpPr>
          <p:cNvPr id="248" name="Google Shape;248;p27"/>
          <p:cNvCxnSpPr/>
          <p:nvPr/>
        </p:nvCxnSpPr>
        <p:spPr>
          <a:xfrm>
            <a:off x="5586075" y="35207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249" name="Google Shape;249;p27"/>
          <p:cNvSpPr txBox="1"/>
          <p:nvPr/>
        </p:nvSpPr>
        <p:spPr>
          <a:xfrm rot="512024">
            <a:off x="5611456" y="33924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B</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B</a:t>
            </a:r>
            <a:endParaRPr i="1" sz="600">
              <a:solidFill>
                <a:schemeClr val="dk1"/>
              </a:solidFill>
            </a:endParaRPr>
          </a:p>
        </p:txBody>
      </p:sp>
      <p:cxnSp>
        <p:nvCxnSpPr>
          <p:cNvPr id="250" name="Google Shape;250;p27"/>
          <p:cNvCxnSpPr/>
          <p:nvPr/>
        </p:nvCxnSpPr>
        <p:spPr>
          <a:xfrm flipH="1">
            <a:off x="5612225" y="40359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251" name="Google Shape;251;p27"/>
          <p:cNvSpPr txBox="1"/>
          <p:nvPr/>
        </p:nvSpPr>
        <p:spPr>
          <a:xfrm flipH="1" rot="-523651">
            <a:off x="5598797" y="39078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S</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S</a:t>
            </a:r>
            <a:endParaRPr i="1"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Talking to the Legitimate Server</a:t>
            </a:r>
            <a:endParaRPr/>
          </a:p>
        </p:txBody>
      </p:sp>
      <p:cxnSp>
        <p:nvCxnSpPr>
          <p:cNvPr id="258" name="Google Shape;258;p28"/>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59" name="Google Shape;259;p28"/>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can we be sure we are talking to the legitimate server?</a:t>
            </a:r>
            <a:endParaRPr/>
          </a:p>
          <a:p>
            <a:pPr indent="-317500" lvl="1" marL="914400" rtl="0" algn="l">
              <a:spcBef>
                <a:spcPts val="0"/>
              </a:spcBef>
              <a:spcAft>
                <a:spcPts val="0"/>
              </a:spcAft>
              <a:buSzPts val="1400"/>
              <a:buChar char="○"/>
            </a:pPr>
            <a:r>
              <a:rPr lang="en"/>
              <a:t>The server sent its certificate, so we know the server’s public key</a:t>
            </a:r>
            <a:endParaRPr/>
          </a:p>
          <a:p>
            <a:pPr indent="-317500" lvl="1" marL="914400" rtl="0" algn="l">
              <a:spcBef>
                <a:spcPts val="0"/>
              </a:spcBef>
              <a:spcAft>
                <a:spcPts val="0"/>
              </a:spcAft>
              <a:buSzPts val="1400"/>
              <a:buChar char="○"/>
            </a:pPr>
            <a:r>
              <a:rPr lang="en"/>
              <a:t>The server proved that it owns the corresponding private key by signing its half of the exchange</a:t>
            </a:r>
            <a:endParaRPr/>
          </a:p>
          <a:p>
            <a:pPr indent="-342900" lvl="0" marL="457200" rtl="0" algn="l">
              <a:spcBef>
                <a:spcPts val="0"/>
              </a:spcBef>
              <a:spcAft>
                <a:spcPts val="0"/>
              </a:spcAft>
              <a:buSzPts val="1800"/>
              <a:buChar char="●"/>
            </a:pPr>
            <a:r>
              <a:rPr lang="en"/>
              <a:t>An attacker impersonating the server would not have the server’s private key (assuming they have not compromised the server)</a:t>
            </a:r>
            <a:endParaRPr/>
          </a:p>
        </p:txBody>
      </p:sp>
      <p:cxnSp>
        <p:nvCxnSpPr>
          <p:cNvPr id="260" name="Google Shape;260;p28"/>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61" name="Google Shape;261;p28"/>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262" name="Google Shape;262;p28"/>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263" name="Google Shape;263;p28"/>
          <p:cNvCxnSpPr/>
          <p:nvPr/>
        </p:nvCxnSpPr>
        <p:spPr>
          <a:xfrm>
            <a:off x="5586075" y="15395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264" name="Google Shape;264;p28"/>
          <p:cNvSpPr txBox="1"/>
          <p:nvPr/>
        </p:nvSpPr>
        <p:spPr>
          <a:xfrm rot="512024">
            <a:off x="5611456" y="14112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265" name="Google Shape;265;p28"/>
          <p:cNvCxnSpPr/>
          <p:nvPr/>
        </p:nvCxnSpPr>
        <p:spPr>
          <a:xfrm flipH="1">
            <a:off x="5612225" y="20547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266" name="Google Shape;266;p28"/>
          <p:cNvSpPr txBox="1"/>
          <p:nvPr/>
        </p:nvSpPr>
        <p:spPr>
          <a:xfrm flipH="1" rot="-523651">
            <a:off x="5598797" y="19266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cxnSp>
        <p:nvCxnSpPr>
          <p:cNvPr id="267" name="Google Shape;267;p28"/>
          <p:cNvCxnSpPr/>
          <p:nvPr/>
        </p:nvCxnSpPr>
        <p:spPr>
          <a:xfrm flipH="1">
            <a:off x="5644975" y="24023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268" name="Google Shape;268;p28"/>
          <p:cNvSpPr txBox="1"/>
          <p:nvPr/>
        </p:nvSpPr>
        <p:spPr>
          <a:xfrm flipH="1" rot="-523651">
            <a:off x="5631547" y="22742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cxnSp>
        <p:nvCxnSpPr>
          <p:cNvPr id="269" name="Google Shape;269;p28"/>
          <p:cNvCxnSpPr/>
          <p:nvPr/>
        </p:nvCxnSpPr>
        <p:spPr>
          <a:xfrm flipH="1">
            <a:off x="5612225" y="274058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270" name="Google Shape;270;p28"/>
          <p:cNvSpPr txBox="1"/>
          <p:nvPr/>
        </p:nvSpPr>
        <p:spPr>
          <a:xfrm flipH="1" rot="-523651">
            <a:off x="5598797" y="26124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a:t>
            </a:r>
            <a:r>
              <a:rPr i="1" lang="en">
                <a:solidFill>
                  <a:srgbClr val="B7B7B7"/>
                </a:solidFill>
              </a:rPr>
              <a:t>g</a:t>
            </a:r>
            <a:r>
              <a:rPr baseline="30000" i="1" lang="en">
                <a:solidFill>
                  <a:srgbClr val="B7B7B7"/>
                </a:solidFill>
              </a:rPr>
              <a:t>a</a:t>
            </a:r>
            <a:r>
              <a:rPr lang="en">
                <a:solidFill>
                  <a:srgbClr val="B7B7B7"/>
                </a:solidFill>
              </a:rPr>
              <a:t> mod </a:t>
            </a:r>
            <a:r>
              <a:rPr i="1" lang="en">
                <a:solidFill>
                  <a:srgbClr val="B7B7B7"/>
                </a:solidFill>
              </a:rPr>
              <a:t>p</a:t>
            </a:r>
            <a:r>
              <a:rPr lang="en">
                <a:solidFill>
                  <a:srgbClr val="B7B7B7"/>
                </a:solidFill>
              </a:rPr>
              <a:t>}</a:t>
            </a:r>
            <a:r>
              <a:rPr i="1" lang="en" sz="1000">
                <a:solidFill>
                  <a:srgbClr val="B7B7B7"/>
                </a:solidFill>
              </a:rPr>
              <a:t>K</a:t>
            </a:r>
            <a:r>
              <a:rPr baseline="30000" lang="en" sz="1000">
                <a:solidFill>
                  <a:srgbClr val="B7B7B7"/>
                </a:solidFill>
              </a:rPr>
              <a:t>-1</a:t>
            </a:r>
            <a:r>
              <a:rPr lang="en" sz="600">
                <a:solidFill>
                  <a:srgbClr val="B7B7B7"/>
                </a:solidFill>
              </a:rPr>
              <a:t>server</a:t>
            </a:r>
            <a:endParaRPr sz="600">
              <a:solidFill>
                <a:srgbClr val="B7B7B7"/>
              </a:solidFill>
            </a:endParaRPr>
          </a:p>
        </p:txBody>
      </p:sp>
      <p:cxnSp>
        <p:nvCxnSpPr>
          <p:cNvPr id="271" name="Google Shape;271;p28"/>
          <p:cNvCxnSpPr/>
          <p:nvPr/>
        </p:nvCxnSpPr>
        <p:spPr>
          <a:xfrm>
            <a:off x="5586075" y="3292138"/>
            <a:ext cx="2879400" cy="437700"/>
          </a:xfrm>
          <a:prstGeom prst="straightConnector1">
            <a:avLst/>
          </a:prstGeom>
          <a:noFill/>
          <a:ln cap="flat" cmpd="sng" w="9525">
            <a:solidFill>
              <a:srgbClr val="CCCCCC"/>
            </a:solidFill>
            <a:prstDash val="solid"/>
            <a:round/>
            <a:headEnd len="med" w="med" type="none"/>
            <a:tailEnd len="med" w="med" type="triangle"/>
          </a:ln>
        </p:spPr>
      </p:cxnSp>
      <p:sp>
        <p:nvSpPr>
          <p:cNvPr id="272" name="Google Shape;272;p28"/>
          <p:cNvSpPr txBox="1"/>
          <p:nvPr/>
        </p:nvSpPr>
        <p:spPr>
          <a:xfrm rot="512024">
            <a:off x="5611456" y="3163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a:solidFill>
                  <a:srgbClr val="B7B7B7"/>
                </a:solidFill>
              </a:rPr>
              <a:t>g</a:t>
            </a:r>
            <a:r>
              <a:rPr baseline="30000" i="1" lang="en">
                <a:solidFill>
                  <a:srgbClr val="B7B7B7"/>
                </a:solidFill>
              </a:rPr>
              <a:t>b</a:t>
            </a:r>
            <a:r>
              <a:rPr lang="en">
                <a:solidFill>
                  <a:srgbClr val="B7B7B7"/>
                </a:solidFill>
              </a:rPr>
              <a:t> mod </a:t>
            </a:r>
            <a:r>
              <a:rPr i="1" lang="en">
                <a:solidFill>
                  <a:srgbClr val="B7B7B7"/>
                </a:solidFill>
              </a:rPr>
              <a:t>p</a:t>
            </a:r>
            <a:endParaRPr i="1">
              <a:solidFill>
                <a:srgbClr val="B7B7B7"/>
              </a:solidFill>
            </a:endParaRPr>
          </a:p>
        </p:txBody>
      </p:sp>
      <p:cxnSp>
        <p:nvCxnSpPr>
          <p:cNvPr id="273" name="Google Shape;273;p28"/>
          <p:cNvCxnSpPr/>
          <p:nvPr/>
        </p:nvCxnSpPr>
        <p:spPr>
          <a:xfrm>
            <a:off x="5586075" y="36731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274" name="Google Shape;274;p28"/>
          <p:cNvSpPr txBox="1"/>
          <p:nvPr/>
        </p:nvSpPr>
        <p:spPr>
          <a:xfrm rot="512024">
            <a:off x="5611456" y="3544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B</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B</a:t>
            </a:r>
            <a:endParaRPr i="1" sz="600">
              <a:solidFill>
                <a:schemeClr val="dk1"/>
              </a:solidFill>
            </a:endParaRPr>
          </a:p>
        </p:txBody>
      </p:sp>
      <p:cxnSp>
        <p:nvCxnSpPr>
          <p:cNvPr id="275" name="Google Shape;275;p28"/>
          <p:cNvCxnSpPr/>
          <p:nvPr/>
        </p:nvCxnSpPr>
        <p:spPr>
          <a:xfrm flipH="1">
            <a:off x="5612225" y="41883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276" name="Google Shape;276;p28"/>
          <p:cNvSpPr txBox="1"/>
          <p:nvPr/>
        </p:nvSpPr>
        <p:spPr>
          <a:xfrm flipH="1" rot="-523651">
            <a:off x="5598797" y="40602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S</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S</a:t>
            </a:r>
            <a:endParaRPr i="1" sz="1200"/>
          </a:p>
        </p:txBody>
      </p:sp>
      <p:sp>
        <p:nvSpPr>
          <p:cNvPr id="277" name="Google Shape;277;p28"/>
          <p:cNvSpPr txBox="1"/>
          <p:nvPr/>
        </p:nvSpPr>
        <p:spPr>
          <a:xfrm flipH="1" rot="-523651">
            <a:off x="5631547" y="22742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0000FF"/>
                </a:solidFill>
              </a:rPr>
              <a:t>Certificate</a:t>
            </a:r>
            <a:endParaRPr>
              <a:solidFill>
                <a:srgbClr val="0000FF"/>
              </a:solidFill>
            </a:endParaRPr>
          </a:p>
        </p:txBody>
      </p:sp>
      <p:sp>
        <p:nvSpPr>
          <p:cNvPr id="278" name="Google Shape;278;p28"/>
          <p:cNvSpPr txBox="1"/>
          <p:nvPr/>
        </p:nvSpPr>
        <p:spPr>
          <a:xfrm flipH="1" rot="-523651">
            <a:off x="5598797" y="26124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A86E8"/>
                </a:solidFill>
              </a:rPr>
              <a:t>{</a:t>
            </a:r>
            <a:r>
              <a:rPr i="1" lang="en">
                <a:solidFill>
                  <a:srgbClr val="4A86E8"/>
                </a:solidFill>
              </a:rPr>
              <a:t>g</a:t>
            </a:r>
            <a:r>
              <a:rPr baseline="30000" i="1" lang="en">
                <a:solidFill>
                  <a:srgbClr val="4A86E8"/>
                </a:solidFill>
              </a:rPr>
              <a:t>a</a:t>
            </a:r>
            <a:r>
              <a:rPr lang="en">
                <a:solidFill>
                  <a:srgbClr val="4A86E8"/>
                </a:solidFill>
              </a:rPr>
              <a:t> mod </a:t>
            </a:r>
            <a:r>
              <a:rPr i="1" lang="en">
                <a:solidFill>
                  <a:srgbClr val="4A86E8"/>
                </a:solidFill>
              </a:rPr>
              <a:t>p</a:t>
            </a:r>
            <a:r>
              <a:rPr lang="en">
                <a:solidFill>
                  <a:srgbClr val="4A86E8"/>
                </a:solidFill>
              </a:rPr>
              <a:t>}</a:t>
            </a:r>
            <a:r>
              <a:rPr i="1" lang="en" sz="1000">
                <a:solidFill>
                  <a:srgbClr val="4A86E8"/>
                </a:solidFill>
              </a:rPr>
              <a:t>K</a:t>
            </a:r>
            <a:r>
              <a:rPr baseline="30000" lang="en" sz="1000">
                <a:solidFill>
                  <a:srgbClr val="4A86E8"/>
                </a:solidFill>
              </a:rPr>
              <a:t>-1</a:t>
            </a:r>
            <a:r>
              <a:rPr lang="en" sz="600">
                <a:solidFill>
                  <a:srgbClr val="4A86E8"/>
                </a:solidFill>
              </a:rPr>
              <a:t>server</a:t>
            </a:r>
            <a:endParaRPr sz="600">
              <a:solidFill>
                <a:srgbClr val="4A86E8"/>
              </a:solidFill>
            </a:endParaRPr>
          </a:p>
        </p:txBody>
      </p:sp>
      <p:cxnSp>
        <p:nvCxnSpPr>
          <p:cNvPr id="279" name="Google Shape;279;p28"/>
          <p:cNvCxnSpPr/>
          <p:nvPr/>
        </p:nvCxnSpPr>
        <p:spPr>
          <a:xfrm flipH="1">
            <a:off x="5644975" y="2402337"/>
            <a:ext cx="2814300" cy="437700"/>
          </a:xfrm>
          <a:prstGeom prst="straightConnector1">
            <a:avLst/>
          </a:prstGeom>
          <a:noFill/>
          <a:ln cap="flat" cmpd="sng" w="9525">
            <a:solidFill>
              <a:srgbClr val="0000FF"/>
            </a:solidFill>
            <a:prstDash val="solid"/>
            <a:round/>
            <a:headEnd len="med" w="med" type="none"/>
            <a:tailEnd len="med" w="med" type="triangle"/>
          </a:ln>
        </p:spPr>
      </p:cxnSp>
      <p:cxnSp>
        <p:nvCxnSpPr>
          <p:cNvPr id="280" name="Google Shape;280;p28"/>
          <p:cNvCxnSpPr/>
          <p:nvPr/>
        </p:nvCxnSpPr>
        <p:spPr>
          <a:xfrm flipH="1">
            <a:off x="5612225" y="2740587"/>
            <a:ext cx="2814300" cy="437700"/>
          </a:xfrm>
          <a:prstGeom prst="straightConnector1">
            <a:avLst/>
          </a:prstGeom>
          <a:noFill/>
          <a:ln cap="flat" cmpd="sng" w="9525">
            <a:solidFill>
              <a:srgbClr val="4A86E8"/>
            </a:solidFill>
            <a:prstDash val="solid"/>
            <a:round/>
            <a:headEnd len="med" w="med" type="none"/>
            <a:tailEnd len="med" w="med" type="triangle"/>
          </a:ln>
        </p:spPr>
      </p:cxnSp>
      <p:sp>
        <p:nvSpPr>
          <p:cNvPr id="281" name="Google Shape;281;p28"/>
          <p:cNvSpPr txBox="1"/>
          <p:nvPr/>
        </p:nvSpPr>
        <p:spPr>
          <a:xfrm rot="512024">
            <a:off x="5611456" y="3163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a:solidFill>
                  <a:srgbClr val="4A86E8"/>
                </a:solidFill>
              </a:rPr>
              <a:t>g</a:t>
            </a:r>
            <a:r>
              <a:rPr baseline="30000" i="1" lang="en">
                <a:solidFill>
                  <a:srgbClr val="4A86E8"/>
                </a:solidFill>
              </a:rPr>
              <a:t>b</a:t>
            </a:r>
            <a:r>
              <a:rPr lang="en">
                <a:solidFill>
                  <a:srgbClr val="4A86E8"/>
                </a:solidFill>
              </a:rPr>
              <a:t> mod </a:t>
            </a:r>
            <a:r>
              <a:rPr i="1" lang="en">
                <a:solidFill>
                  <a:srgbClr val="4A86E8"/>
                </a:solidFill>
              </a:rPr>
              <a:t>p</a:t>
            </a:r>
            <a:endParaRPr i="1">
              <a:solidFill>
                <a:srgbClr val="4A86E8"/>
              </a:solidFill>
            </a:endParaRPr>
          </a:p>
        </p:txBody>
      </p:sp>
      <p:cxnSp>
        <p:nvCxnSpPr>
          <p:cNvPr id="282" name="Google Shape;282;p28"/>
          <p:cNvCxnSpPr/>
          <p:nvPr/>
        </p:nvCxnSpPr>
        <p:spPr>
          <a:xfrm>
            <a:off x="5586075" y="3292138"/>
            <a:ext cx="2879400" cy="437700"/>
          </a:xfrm>
          <a:prstGeom prst="straightConnector1">
            <a:avLst/>
          </a:prstGeom>
          <a:noFill/>
          <a:ln cap="flat" cmpd="sng" w="9525">
            <a:solidFill>
              <a:srgbClr val="4A86E8"/>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Replay Attacks</a:t>
            </a:r>
            <a:endParaRPr/>
          </a:p>
        </p:txBody>
      </p:sp>
      <p:sp>
        <p:nvSpPr>
          <p:cNvPr id="289" name="Google Shape;289;p29"/>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can we be sure that the attacker hasn’t replayed old messages from a </a:t>
            </a:r>
            <a:r>
              <a:rPr i="1" lang="en"/>
              <a:t>past</a:t>
            </a:r>
            <a:r>
              <a:rPr lang="en"/>
              <a:t> TLS connection?</a:t>
            </a:r>
            <a:endParaRPr/>
          </a:p>
          <a:p>
            <a:pPr indent="-342900" lvl="0" marL="457200" rtl="0" algn="l">
              <a:spcBef>
                <a:spcPts val="0"/>
              </a:spcBef>
              <a:spcAft>
                <a:spcPts val="0"/>
              </a:spcAft>
              <a:buSzPts val="1800"/>
              <a:buChar char="●"/>
            </a:pPr>
            <a:r>
              <a:rPr lang="en"/>
              <a:t>Every handshake uses a different </a:t>
            </a:r>
            <a:r>
              <a:rPr i="1" lang="en"/>
              <a:t>R</a:t>
            </a:r>
            <a:r>
              <a:rPr i="1" lang="en" sz="1200"/>
              <a:t>B</a:t>
            </a:r>
            <a:r>
              <a:rPr lang="en"/>
              <a:t> and </a:t>
            </a:r>
            <a:r>
              <a:rPr i="1" lang="en"/>
              <a:t>R</a:t>
            </a:r>
            <a:r>
              <a:rPr i="1" lang="en" sz="1200"/>
              <a:t>S</a:t>
            </a:r>
            <a:endParaRPr i="1" sz="1700"/>
          </a:p>
          <a:p>
            <a:pPr indent="-342900" lvl="0" marL="457200" rtl="0" algn="l">
              <a:spcBef>
                <a:spcPts val="0"/>
              </a:spcBef>
              <a:spcAft>
                <a:spcPts val="0"/>
              </a:spcAft>
              <a:buSzPts val="1800"/>
              <a:buChar char="●"/>
            </a:pPr>
            <a:r>
              <a:rPr lang="en"/>
              <a:t>The symmetric keys are derived from </a:t>
            </a:r>
            <a:r>
              <a:rPr i="1" lang="en"/>
              <a:t>R</a:t>
            </a:r>
            <a:r>
              <a:rPr i="1" lang="en" sz="1200"/>
              <a:t>B</a:t>
            </a:r>
            <a:r>
              <a:rPr lang="en"/>
              <a:t> and </a:t>
            </a:r>
            <a:r>
              <a:rPr i="1" lang="en"/>
              <a:t>R</a:t>
            </a:r>
            <a:r>
              <a:rPr i="1" lang="en" sz="1200"/>
              <a:t>S</a:t>
            </a:r>
            <a:endParaRPr i="1" sz="1700"/>
          </a:p>
          <a:p>
            <a:pPr indent="-317500" lvl="1" marL="914400" rtl="0" algn="l">
              <a:spcBef>
                <a:spcPts val="0"/>
              </a:spcBef>
              <a:spcAft>
                <a:spcPts val="0"/>
              </a:spcAft>
              <a:buSzPts val="1400"/>
              <a:buChar char="○"/>
            </a:pPr>
            <a:r>
              <a:rPr lang="en"/>
              <a:t>The symmetric keys are different for every connection</a:t>
            </a:r>
            <a:endParaRPr/>
          </a:p>
        </p:txBody>
      </p:sp>
      <p:cxnSp>
        <p:nvCxnSpPr>
          <p:cNvPr id="290" name="Google Shape;290;p29"/>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291" name="Google Shape;291;p29"/>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292" name="Google Shape;292;p29"/>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293" name="Google Shape;293;p29"/>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294" name="Google Shape;294;p29"/>
          <p:cNvCxnSpPr/>
          <p:nvPr/>
        </p:nvCxnSpPr>
        <p:spPr>
          <a:xfrm>
            <a:off x="5586075" y="15395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295" name="Google Shape;295;p29"/>
          <p:cNvSpPr txBox="1"/>
          <p:nvPr/>
        </p:nvSpPr>
        <p:spPr>
          <a:xfrm rot="512024">
            <a:off x="5611456" y="14112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296" name="Google Shape;296;p29"/>
          <p:cNvCxnSpPr/>
          <p:nvPr/>
        </p:nvCxnSpPr>
        <p:spPr>
          <a:xfrm flipH="1">
            <a:off x="5612225" y="20547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297" name="Google Shape;297;p29"/>
          <p:cNvSpPr txBox="1"/>
          <p:nvPr/>
        </p:nvSpPr>
        <p:spPr>
          <a:xfrm flipH="1" rot="-523651">
            <a:off x="5598797" y="19266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cxnSp>
        <p:nvCxnSpPr>
          <p:cNvPr id="298" name="Google Shape;298;p29"/>
          <p:cNvCxnSpPr/>
          <p:nvPr/>
        </p:nvCxnSpPr>
        <p:spPr>
          <a:xfrm flipH="1">
            <a:off x="5644975" y="24023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299" name="Google Shape;299;p29"/>
          <p:cNvSpPr txBox="1"/>
          <p:nvPr/>
        </p:nvSpPr>
        <p:spPr>
          <a:xfrm flipH="1" rot="-523651">
            <a:off x="5631547" y="22742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cxnSp>
        <p:nvCxnSpPr>
          <p:cNvPr id="300" name="Google Shape;300;p29"/>
          <p:cNvCxnSpPr/>
          <p:nvPr/>
        </p:nvCxnSpPr>
        <p:spPr>
          <a:xfrm flipH="1">
            <a:off x="5612225" y="274058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301" name="Google Shape;301;p29"/>
          <p:cNvSpPr txBox="1"/>
          <p:nvPr/>
        </p:nvSpPr>
        <p:spPr>
          <a:xfrm flipH="1" rot="-523651">
            <a:off x="5598797" y="26124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a:t>
            </a:r>
            <a:r>
              <a:rPr i="1" lang="en">
                <a:solidFill>
                  <a:srgbClr val="B7B7B7"/>
                </a:solidFill>
              </a:rPr>
              <a:t>g</a:t>
            </a:r>
            <a:r>
              <a:rPr baseline="30000" i="1" lang="en">
                <a:solidFill>
                  <a:srgbClr val="B7B7B7"/>
                </a:solidFill>
              </a:rPr>
              <a:t>a</a:t>
            </a:r>
            <a:r>
              <a:rPr lang="en">
                <a:solidFill>
                  <a:srgbClr val="B7B7B7"/>
                </a:solidFill>
              </a:rPr>
              <a:t> mod </a:t>
            </a:r>
            <a:r>
              <a:rPr i="1" lang="en">
                <a:solidFill>
                  <a:srgbClr val="B7B7B7"/>
                </a:solidFill>
              </a:rPr>
              <a:t>p</a:t>
            </a:r>
            <a:r>
              <a:rPr lang="en">
                <a:solidFill>
                  <a:srgbClr val="B7B7B7"/>
                </a:solidFill>
              </a:rPr>
              <a:t>}</a:t>
            </a:r>
            <a:r>
              <a:rPr i="1" lang="en" sz="1000">
                <a:solidFill>
                  <a:srgbClr val="B7B7B7"/>
                </a:solidFill>
              </a:rPr>
              <a:t>K</a:t>
            </a:r>
            <a:r>
              <a:rPr baseline="30000" lang="en" sz="1000">
                <a:solidFill>
                  <a:srgbClr val="B7B7B7"/>
                </a:solidFill>
              </a:rPr>
              <a:t>-1</a:t>
            </a:r>
            <a:r>
              <a:rPr lang="en" sz="600">
                <a:solidFill>
                  <a:srgbClr val="B7B7B7"/>
                </a:solidFill>
              </a:rPr>
              <a:t>server</a:t>
            </a:r>
            <a:endParaRPr sz="600">
              <a:solidFill>
                <a:srgbClr val="B7B7B7"/>
              </a:solidFill>
            </a:endParaRPr>
          </a:p>
        </p:txBody>
      </p:sp>
      <p:cxnSp>
        <p:nvCxnSpPr>
          <p:cNvPr id="302" name="Google Shape;302;p29"/>
          <p:cNvCxnSpPr/>
          <p:nvPr/>
        </p:nvCxnSpPr>
        <p:spPr>
          <a:xfrm>
            <a:off x="5586075" y="3292138"/>
            <a:ext cx="2879400" cy="437700"/>
          </a:xfrm>
          <a:prstGeom prst="straightConnector1">
            <a:avLst/>
          </a:prstGeom>
          <a:noFill/>
          <a:ln cap="flat" cmpd="sng" w="9525">
            <a:solidFill>
              <a:srgbClr val="CCCCCC"/>
            </a:solidFill>
            <a:prstDash val="solid"/>
            <a:round/>
            <a:headEnd len="med" w="med" type="none"/>
            <a:tailEnd len="med" w="med" type="triangle"/>
          </a:ln>
        </p:spPr>
      </p:cxnSp>
      <p:sp>
        <p:nvSpPr>
          <p:cNvPr id="303" name="Google Shape;303;p29"/>
          <p:cNvSpPr txBox="1"/>
          <p:nvPr/>
        </p:nvSpPr>
        <p:spPr>
          <a:xfrm rot="512024">
            <a:off x="5611456" y="3163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a:solidFill>
                  <a:srgbClr val="B7B7B7"/>
                </a:solidFill>
              </a:rPr>
              <a:t>g</a:t>
            </a:r>
            <a:r>
              <a:rPr baseline="30000" i="1" lang="en">
                <a:solidFill>
                  <a:srgbClr val="B7B7B7"/>
                </a:solidFill>
              </a:rPr>
              <a:t>b</a:t>
            </a:r>
            <a:r>
              <a:rPr lang="en">
                <a:solidFill>
                  <a:srgbClr val="B7B7B7"/>
                </a:solidFill>
              </a:rPr>
              <a:t> mod </a:t>
            </a:r>
            <a:r>
              <a:rPr i="1" lang="en">
                <a:solidFill>
                  <a:srgbClr val="B7B7B7"/>
                </a:solidFill>
              </a:rPr>
              <a:t>p</a:t>
            </a:r>
            <a:endParaRPr i="1">
              <a:solidFill>
                <a:srgbClr val="B7B7B7"/>
              </a:solidFill>
            </a:endParaRPr>
          </a:p>
        </p:txBody>
      </p:sp>
      <p:cxnSp>
        <p:nvCxnSpPr>
          <p:cNvPr id="304" name="Google Shape;304;p29"/>
          <p:cNvCxnSpPr/>
          <p:nvPr/>
        </p:nvCxnSpPr>
        <p:spPr>
          <a:xfrm>
            <a:off x="5586075" y="36731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305" name="Google Shape;305;p29"/>
          <p:cNvSpPr txBox="1"/>
          <p:nvPr/>
        </p:nvSpPr>
        <p:spPr>
          <a:xfrm rot="512024">
            <a:off x="5611456" y="3544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B</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B</a:t>
            </a:r>
            <a:endParaRPr i="1" sz="600">
              <a:solidFill>
                <a:schemeClr val="dk1"/>
              </a:solidFill>
            </a:endParaRPr>
          </a:p>
        </p:txBody>
      </p:sp>
      <p:cxnSp>
        <p:nvCxnSpPr>
          <p:cNvPr id="306" name="Google Shape;306;p29"/>
          <p:cNvCxnSpPr/>
          <p:nvPr/>
        </p:nvCxnSpPr>
        <p:spPr>
          <a:xfrm flipH="1">
            <a:off x="5612225" y="41883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307" name="Google Shape;307;p29"/>
          <p:cNvSpPr txBox="1"/>
          <p:nvPr/>
        </p:nvSpPr>
        <p:spPr>
          <a:xfrm flipH="1" rot="-523651">
            <a:off x="5598797" y="40602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S</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S</a:t>
            </a:r>
            <a:endParaRPr i="1" sz="1200"/>
          </a:p>
        </p:txBody>
      </p:sp>
      <p:sp>
        <p:nvSpPr>
          <p:cNvPr id="308" name="Google Shape;308;p29"/>
          <p:cNvSpPr txBox="1"/>
          <p:nvPr/>
        </p:nvSpPr>
        <p:spPr>
          <a:xfrm rot="512024">
            <a:off x="5611456" y="14112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0000FF"/>
                </a:solidFill>
              </a:rPr>
              <a:t>ClientHello</a:t>
            </a:r>
            <a:endParaRPr>
              <a:solidFill>
                <a:srgbClr val="0000FF"/>
              </a:solidFill>
            </a:endParaRPr>
          </a:p>
        </p:txBody>
      </p:sp>
      <p:cxnSp>
        <p:nvCxnSpPr>
          <p:cNvPr id="309" name="Google Shape;309;p29"/>
          <p:cNvCxnSpPr/>
          <p:nvPr/>
        </p:nvCxnSpPr>
        <p:spPr>
          <a:xfrm>
            <a:off x="5586075" y="1539538"/>
            <a:ext cx="2879400" cy="437700"/>
          </a:xfrm>
          <a:prstGeom prst="straightConnector1">
            <a:avLst/>
          </a:prstGeom>
          <a:noFill/>
          <a:ln cap="flat" cmpd="sng" w="9525">
            <a:solidFill>
              <a:srgbClr val="0000FF"/>
            </a:solidFill>
            <a:prstDash val="solid"/>
            <a:round/>
            <a:headEnd len="med" w="med" type="none"/>
            <a:tailEnd len="med" w="med" type="triangle"/>
          </a:ln>
        </p:spPr>
      </p:cxnSp>
      <p:sp>
        <p:nvSpPr>
          <p:cNvPr id="310" name="Google Shape;310;p29"/>
          <p:cNvSpPr txBox="1"/>
          <p:nvPr/>
        </p:nvSpPr>
        <p:spPr>
          <a:xfrm flipH="1" rot="-523651">
            <a:off x="5598797" y="19266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0000FF"/>
                </a:solidFill>
              </a:rPr>
              <a:t>ServerHello</a:t>
            </a:r>
            <a:endParaRPr>
              <a:solidFill>
                <a:srgbClr val="0000FF"/>
              </a:solidFill>
            </a:endParaRPr>
          </a:p>
        </p:txBody>
      </p:sp>
      <p:cxnSp>
        <p:nvCxnSpPr>
          <p:cNvPr id="311" name="Google Shape;311;p29"/>
          <p:cNvCxnSpPr/>
          <p:nvPr/>
        </p:nvCxnSpPr>
        <p:spPr>
          <a:xfrm flipH="1">
            <a:off x="5612225" y="2054787"/>
            <a:ext cx="2814300" cy="437700"/>
          </a:xfrm>
          <a:prstGeom prst="straightConnector1">
            <a:avLst/>
          </a:prstGeom>
          <a:noFill/>
          <a:ln cap="flat" cmpd="sng" w="9525">
            <a:solidFill>
              <a:srgbClr val="0000FF"/>
            </a:solidFill>
            <a:prstDash val="solid"/>
            <a:round/>
            <a:headEnd len="med" w="med" type="none"/>
            <a:tailEnd len="med" w="med" type="triangle"/>
          </a:ln>
        </p:spPr>
      </p:cxnSp>
      <p:sp>
        <p:nvSpPr>
          <p:cNvPr id="312" name="Google Shape;312;p29"/>
          <p:cNvSpPr txBox="1"/>
          <p:nvPr/>
        </p:nvSpPr>
        <p:spPr>
          <a:xfrm rot="512024">
            <a:off x="5611456" y="3544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a:t>
            </a:r>
            <a:r>
              <a:rPr i="1" lang="en">
                <a:solidFill>
                  <a:srgbClr val="FF0000"/>
                </a:solidFill>
              </a:rPr>
              <a:t>M</a:t>
            </a:r>
            <a:r>
              <a:rPr lang="en">
                <a:solidFill>
                  <a:srgbClr val="FF0000"/>
                </a:solidFill>
              </a:rPr>
              <a:t>, MAC(</a:t>
            </a:r>
            <a:r>
              <a:rPr i="1" lang="en">
                <a:solidFill>
                  <a:srgbClr val="FF0000"/>
                </a:solidFill>
              </a:rPr>
              <a:t>I</a:t>
            </a:r>
            <a:r>
              <a:rPr i="1" lang="en" sz="900">
                <a:solidFill>
                  <a:srgbClr val="FF0000"/>
                </a:solidFill>
              </a:rPr>
              <a:t>B</a:t>
            </a:r>
            <a:r>
              <a:rPr lang="en">
                <a:solidFill>
                  <a:srgbClr val="FF0000"/>
                </a:solidFill>
              </a:rPr>
              <a:t>, </a:t>
            </a:r>
            <a:r>
              <a:rPr i="1" lang="en">
                <a:solidFill>
                  <a:srgbClr val="FF0000"/>
                </a:solidFill>
              </a:rPr>
              <a:t>M</a:t>
            </a:r>
            <a:r>
              <a:rPr lang="en">
                <a:solidFill>
                  <a:srgbClr val="FF0000"/>
                </a:solidFill>
              </a:rPr>
              <a:t>)}</a:t>
            </a:r>
            <a:r>
              <a:rPr i="1" lang="en" sz="900">
                <a:solidFill>
                  <a:srgbClr val="FF0000"/>
                </a:solidFill>
              </a:rPr>
              <a:t>C</a:t>
            </a:r>
            <a:r>
              <a:rPr i="1" lang="en" sz="600">
                <a:solidFill>
                  <a:srgbClr val="FF0000"/>
                </a:solidFill>
              </a:rPr>
              <a:t>B</a:t>
            </a:r>
            <a:endParaRPr i="1" sz="600">
              <a:solidFill>
                <a:srgbClr val="FF0000"/>
              </a:solidFill>
            </a:endParaRPr>
          </a:p>
        </p:txBody>
      </p:sp>
      <p:cxnSp>
        <p:nvCxnSpPr>
          <p:cNvPr id="313" name="Google Shape;313;p29"/>
          <p:cNvCxnSpPr/>
          <p:nvPr/>
        </p:nvCxnSpPr>
        <p:spPr>
          <a:xfrm>
            <a:off x="5586075" y="3673138"/>
            <a:ext cx="2879400" cy="437700"/>
          </a:xfrm>
          <a:prstGeom prst="straightConnector1">
            <a:avLst/>
          </a:prstGeom>
          <a:noFill/>
          <a:ln cap="flat" cmpd="sng" w="9525">
            <a:solidFill>
              <a:srgbClr val="FF0000"/>
            </a:solidFill>
            <a:prstDash val="solid"/>
            <a:round/>
            <a:headEnd len="med" w="med" type="none"/>
            <a:tailEnd len="med" w="med" type="triangle"/>
          </a:ln>
        </p:spPr>
      </p:cxnSp>
      <p:sp>
        <p:nvSpPr>
          <p:cNvPr id="314" name="Google Shape;314;p29"/>
          <p:cNvSpPr txBox="1"/>
          <p:nvPr/>
        </p:nvSpPr>
        <p:spPr>
          <a:xfrm flipH="1" rot="-523651">
            <a:off x="5598797" y="40602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FF0000"/>
                </a:solidFill>
              </a:rPr>
              <a:t>{</a:t>
            </a:r>
            <a:r>
              <a:rPr i="1" lang="en">
                <a:solidFill>
                  <a:srgbClr val="FF0000"/>
                </a:solidFill>
              </a:rPr>
              <a:t>M</a:t>
            </a:r>
            <a:r>
              <a:rPr lang="en">
                <a:solidFill>
                  <a:srgbClr val="FF0000"/>
                </a:solidFill>
              </a:rPr>
              <a:t>, MAC(</a:t>
            </a:r>
            <a:r>
              <a:rPr i="1" lang="en">
                <a:solidFill>
                  <a:srgbClr val="FF0000"/>
                </a:solidFill>
              </a:rPr>
              <a:t>I</a:t>
            </a:r>
            <a:r>
              <a:rPr i="1" lang="en" sz="900">
                <a:solidFill>
                  <a:srgbClr val="FF0000"/>
                </a:solidFill>
              </a:rPr>
              <a:t>S</a:t>
            </a:r>
            <a:r>
              <a:rPr lang="en">
                <a:solidFill>
                  <a:srgbClr val="FF0000"/>
                </a:solidFill>
              </a:rPr>
              <a:t>, </a:t>
            </a:r>
            <a:r>
              <a:rPr i="1" lang="en">
                <a:solidFill>
                  <a:srgbClr val="FF0000"/>
                </a:solidFill>
              </a:rPr>
              <a:t>M</a:t>
            </a:r>
            <a:r>
              <a:rPr lang="en">
                <a:solidFill>
                  <a:srgbClr val="FF0000"/>
                </a:solidFill>
              </a:rPr>
              <a:t>)}</a:t>
            </a:r>
            <a:r>
              <a:rPr i="1" lang="en" sz="900">
                <a:solidFill>
                  <a:srgbClr val="FF0000"/>
                </a:solidFill>
              </a:rPr>
              <a:t>C</a:t>
            </a:r>
            <a:r>
              <a:rPr i="1" lang="en" sz="600">
                <a:solidFill>
                  <a:srgbClr val="FF0000"/>
                </a:solidFill>
              </a:rPr>
              <a:t>S</a:t>
            </a:r>
            <a:endParaRPr i="1" sz="1200">
              <a:solidFill>
                <a:srgbClr val="FF0000"/>
              </a:solidFill>
            </a:endParaRPr>
          </a:p>
        </p:txBody>
      </p:sp>
      <p:cxnSp>
        <p:nvCxnSpPr>
          <p:cNvPr id="315" name="Google Shape;315;p29"/>
          <p:cNvCxnSpPr/>
          <p:nvPr/>
        </p:nvCxnSpPr>
        <p:spPr>
          <a:xfrm flipH="1">
            <a:off x="5612225" y="4188387"/>
            <a:ext cx="2814300" cy="437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1" name="Google Shape;321;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Replay Attacks</a:t>
            </a:r>
            <a:endParaRPr/>
          </a:p>
        </p:txBody>
      </p:sp>
      <p:sp>
        <p:nvSpPr>
          <p:cNvPr id="322" name="Google Shape;322;p30"/>
          <p:cNvSpPr txBox="1"/>
          <p:nvPr>
            <p:ph idx="1" type="body"/>
          </p:nvPr>
        </p:nvSpPr>
        <p:spPr>
          <a:xfrm>
            <a:off x="198500" y="1246825"/>
            <a:ext cx="5142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How can we be sure that the attacker hasn’t replayed old messages from the </a:t>
            </a:r>
            <a:r>
              <a:rPr i="1" lang="en"/>
              <a:t>current</a:t>
            </a:r>
            <a:r>
              <a:rPr lang="en"/>
              <a:t> TLS connection?</a:t>
            </a:r>
            <a:endParaRPr/>
          </a:p>
          <a:p>
            <a:pPr indent="-342900" lvl="0" marL="457200" rtl="0" algn="l">
              <a:spcBef>
                <a:spcPts val="0"/>
              </a:spcBef>
              <a:spcAft>
                <a:spcPts val="0"/>
              </a:spcAft>
              <a:buSzPts val="1800"/>
              <a:buChar char="●"/>
            </a:pPr>
            <a:r>
              <a:rPr lang="en"/>
              <a:t>Add </a:t>
            </a:r>
            <a:r>
              <a:rPr b="1" lang="en"/>
              <a:t>record numbers</a:t>
            </a:r>
            <a:r>
              <a:rPr lang="en"/>
              <a:t> in the encrypted TLS message</a:t>
            </a:r>
            <a:endParaRPr/>
          </a:p>
          <a:p>
            <a:pPr indent="-317500" lvl="1" marL="914400" rtl="0" algn="l">
              <a:spcBef>
                <a:spcPts val="0"/>
              </a:spcBef>
              <a:spcAft>
                <a:spcPts val="0"/>
              </a:spcAft>
              <a:buSzPts val="1400"/>
              <a:buChar char="○"/>
            </a:pPr>
            <a:r>
              <a:rPr lang="en"/>
              <a:t>Every message uses a unique record number</a:t>
            </a:r>
            <a:endParaRPr/>
          </a:p>
          <a:p>
            <a:pPr indent="-317500" lvl="1" marL="914400" rtl="0" algn="l">
              <a:spcBef>
                <a:spcPts val="0"/>
              </a:spcBef>
              <a:spcAft>
                <a:spcPts val="0"/>
              </a:spcAft>
              <a:buSzPts val="1400"/>
              <a:buChar char="○"/>
            </a:pPr>
            <a:r>
              <a:rPr lang="en"/>
              <a:t>If the attacker replays a message, the record number will be repeated</a:t>
            </a:r>
            <a:endParaRPr/>
          </a:p>
          <a:p>
            <a:pPr indent="-342900" lvl="0" marL="457200" rtl="0" algn="l">
              <a:spcBef>
                <a:spcPts val="0"/>
              </a:spcBef>
              <a:spcAft>
                <a:spcPts val="0"/>
              </a:spcAft>
              <a:buSzPts val="1800"/>
              <a:buChar char="●"/>
            </a:pPr>
            <a:r>
              <a:rPr lang="en"/>
              <a:t>TLS record numbers are not TCP sequence numbers</a:t>
            </a:r>
            <a:endParaRPr/>
          </a:p>
          <a:p>
            <a:pPr indent="-317500" lvl="1" marL="914400" rtl="0" algn="l">
              <a:spcBef>
                <a:spcPts val="0"/>
              </a:spcBef>
              <a:spcAft>
                <a:spcPts val="0"/>
              </a:spcAft>
              <a:buSzPts val="1400"/>
              <a:buChar char="○"/>
            </a:pPr>
            <a:r>
              <a:rPr lang="en"/>
              <a:t>Record numbers are encrypted and used for security</a:t>
            </a:r>
            <a:endParaRPr/>
          </a:p>
          <a:p>
            <a:pPr indent="-317500" lvl="1" marL="914400" rtl="0" algn="l">
              <a:spcBef>
                <a:spcPts val="0"/>
              </a:spcBef>
              <a:spcAft>
                <a:spcPts val="0"/>
              </a:spcAft>
              <a:buSzPts val="1400"/>
              <a:buChar char="○"/>
            </a:pPr>
            <a:r>
              <a:rPr lang="en"/>
              <a:t>Sequence numbers are unencrypted and used for correctness, in the layer below</a:t>
            </a:r>
            <a:endParaRPr/>
          </a:p>
        </p:txBody>
      </p:sp>
      <p:cxnSp>
        <p:nvCxnSpPr>
          <p:cNvPr id="323" name="Google Shape;323;p30"/>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324" name="Google Shape;324;p30"/>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325" name="Google Shape;325;p30"/>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326" name="Google Shape;326;p30"/>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327" name="Google Shape;327;p30"/>
          <p:cNvCxnSpPr/>
          <p:nvPr/>
        </p:nvCxnSpPr>
        <p:spPr>
          <a:xfrm>
            <a:off x="5586075" y="15395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328" name="Google Shape;328;p30"/>
          <p:cNvSpPr txBox="1"/>
          <p:nvPr/>
        </p:nvSpPr>
        <p:spPr>
          <a:xfrm rot="512024">
            <a:off x="5611456" y="14112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329" name="Google Shape;329;p30"/>
          <p:cNvCxnSpPr/>
          <p:nvPr/>
        </p:nvCxnSpPr>
        <p:spPr>
          <a:xfrm flipH="1">
            <a:off x="5612225" y="20547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330" name="Google Shape;330;p30"/>
          <p:cNvSpPr txBox="1"/>
          <p:nvPr/>
        </p:nvSpPr>
        <p:spPr>
          <a:xfrm flipH="1" rot="-523651">
            <a:off x="5598797" y="19266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cxnSp>
        <p:nvCxnSpPr>
          <p:cNvPr id="331" name="Google Shape;331;p30"/>
          <p:cNvCxnSpPr/>
          <p:nvPr/>
        </p:nvCxnSpPr>
        <p:spPr>
          <a:xfrm flipH="1">
            <a:off x="5644975" y="24023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332" name="Google Shape;332;p30"/>
          <p:cNvSpPr txBox="1"/>
          <p:nvPr/>
        </p:nvSpPr>
        <p:spPr>
          <a:xfrm flipH="1" rot="-523651">
            <a:off x="5631547" y="22742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cxnSp>
        <p:nvCxnSpPr>
          <p:cNvPr id="333" name="Google Shape;333;p30"/>
          <p:cNvCxnSpPr/>
          <p:nvPr/>
        </p:nvCxnSpPr>
        <p:spPr>
          <a:xfrm flipH="1">
            <a:off x="5612225" y="274058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334" name="Google Shape;334;p30"/>
          <p:cNvSpPr txBox="1"/>
          <p:nvPr/>
        </p:nvSpPr>
        <p:spPr>
          <a:xfrm flipH="1" rot="-523651">
            <a:off x="5598797" y="26124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a:t>
            </a:r>
            <a:r>
              <a:rPr i="1" lang="en">
                <a:solidFill>
                  <a:srgbClr val="B7B7B7"/>
                </a:solidFill>
              </a:rPr>
              <a:t>g</a:t>
            </a:r>
            <a:r>
              <a:rPr baseline="30000" i="1" lang="en">
                <a:solidFill>
                  <a:srgbClr val="B7B7B7"/>
                </a:solidFill>
              </a:rPr>
              <a:t>a</a:t>
            </a:r>
            <a:r>
              <a:rPr lang="en">
                <a:solidFill>
                  <a:srgbClr val="B7B7B7"/>
                </a:solidFill>
              </a:rPr>
              <a:t> mod </a:t>
            </a:r>
            <a:r>
              <a:rPr i="1" lang="en">
                <a:solidFill>
                  <a:srgbClr val="B7B7B7"/>
                </a:solidFill>
              </a:rPr>
              <a:t>p</a:t>
            </a:r>
            <a:r>
              <a:rPr lang="en">
                <a:solidFill>
                  <a:srgbClr val="B7B7B7"/>
                </a:solidFill>
              </a:rPr>
              <a:t>}</a:t>
            </a:r>
            <a:r>
              <a:rPr i="1" lang="en" sz="1000">
                <a:solidFill>
                  <a:srgbClr val="B7B7B7"/>
                </a:solidFill>
              </a:rPr>
              <a:t>K</a:t>
            </a:r>
            <a:r>
              <a:rPr baseline="30000" lang="en" sz="1000">
                <a:solidFill>
                  <a:srgbClr val="B7B7B7"/>
                </a:solidFill>
              </a:rPr>
              <a:t>-1</a:t>
            </a:r>
            <a:r>
              <a:rPr lang="en" sz="600">
                <a:solidFill>
                  <a:srgbClr val="B7B7B7"/>
                </a:solidFill>
              </a:rPr>
              <a:t>server</a:t>
            </a:r>
            <a:endParaRPr sz="600">
              <a:solidFill>
                <a:srgbClr val="B7B7B7"/>
              </a:solidFill>
            </a:endParaRPr>
          </a:p>
        </p:txBody>
      </p:sp>
      <p:cxnSp>
        <p:nvCxnSpPr>
          <p:cNvPr id="335" name="Google Shape;335;p30"/>
          <p:cNvCxnSpPr/>
          <p:nvPr/>
        </p:nvCxnSpPr>
        <p:spPr>
          <a:xfrm>
            <a:off x="5586075" y="3292138"/>
            <a:ext cx="2879400" cy="437700"/>
          </a:xfrm>
          <a:prstGeom prst="straightConnector1">
            <a:avLst/>
          </a:prstGeom>
          <a:noFill/>
          <a:ln cap="flat" cmpd="sng" w="9525">
            <a:solidFill>
              <a:srgbClr val="CCCCCC"/>
            </a:solidFill>
            <a:prstDash val="solid"/>
            <a:round/>
            <a:headEnd len="med" w="med" type="none"/>
            <a:tailEnd len="med" w="med" type="triangle"/>
          </a:ln>
        </p:spPr>
      </p:cxnSp>
      <p:sp>
        <p:nvSpPr>
          <p:cNvPr id="336" name="Google Shape;336;p30"/>
          <p:cNvSpPr txBox="1"/>
          <p:nvPr/>
        </p:nvSpPr>
        <p:spPr>
          <a:xfrm rot="512024">
            <a:off x="5611456" y="3163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a:solidFill>
                  <a:srgbClr val="B7B7B7"/>
                </a:solidFill>
              </a:rPr>
              <a:t>g</a:t>
            </a:r>
            <a:r>
              <a:rPr baseline="30000" i="1" lang="en">
                <a:solidFill>
                  <a:srgbClr val="B7B7B7"/>
                </a:solidFill>
              </a:rPr>
              <a:t>b</a:t>
            </a:r>
            <a:r>
              <a:rPr lang="en">
                <a:solidFill>
                  <a:srgbClr val="B7B7B7"/>
                </a:solidFill>
              </a:rPr>
              <a:t> mod </a:t>
            </a:r>
            <a:r>
              <a:rPr i="1" lang="en">
                <a:solidFill>
                  <a:srgbClr val="B7B7B7"/>
                </a:solidFill>
              </a:rPr>
              <a:t>p</a:t>
            </a:r>
            <a:endParaRPr i="1">
              <a:solidFill>
                <a:srgbClr val="B7B7B7"/>
              </a:solidFill>
            </a:endParaRPr>
          </a:p>
        </p:txBody>
      </p:sp>
      <p:cxnSp>
        <p:nvCxnSpPr>
          <p:cNvPr id="337" name="Google Shape;337;p30"/>
          <p:cNvCxnSpPr/>
          <p:nvPr/>
        </p:nvCxnSpPr>
        <p:spPr>
          <a:xfrm>
            <a:off x="5586075" y="36731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338" name="Google Shape;338;p30"/>
          <p:cNvSpPr txBox="1"/>
          <p:nvPr/>
        </p:nvSpPr>
        <p:spPr>
          <a:xfrm rot="512024">
            <a:off x="5611456" y="3544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B</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B</a:t>
            </a:r>
            <a:endParaRPr i="1" sz="600">
              <a:solidFill>
                <a:schemeClr val="dk1"/>
              </a:solidFill>
            </a:endParaRPr>
          </a:p>
        </p:txBody>
      </p:sp>
      <p:cxnSp>
        <p:nvCxnSpPr>
          <p:cNvPr id="339" name="Google Shape;339;p30"/>
          <p:cNvCxnSpPr/>
          <p:nvPr/>
        </p:nvCxnSpPr>
        <p:spPr>
          <a:xfrm flipH="1">
            <a:off x="5612225" y="41883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340" name="Google Shape;340;p30"/>
          <p:cNvSpPr txBox="1"/>
          <p:nvPr/>
        </p:nvSpPr>
        <p:spPr>
          <a:xfrm flipH="1" rot="-523651">
            <a:off x="5598797" y="40602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S</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S</a:t>
            </a:r>
            <a:endParaRPr i="1"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Forward Secrecy</a:t>
            </a:r>
            <a:endParaRPr/>
          </a:p>
        </p:txBody>
      </p:sp>
      <p:sp>
        <p:nvSpPr>
          <p:cNvPr id="346" name="Google Shape;346;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31"/>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800">
                <a:solidFill>
                  <a:srgbClr val="000000"/>
                </a:solidFill>
              </a:rPr>
              <a:t>Textbook Chapter 31.1</a:t>
            </a:r>
            <a:endParaRPr sz="18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Forward Secrecy</a:t>
            </a:r>
            <a:endParaRPr/>
          </a:p>
        </p:txBody>
      </p:sp>
      <p:sp>
        <p:nvSpPr>
          <p:cNvPr id="353" name="Google Shape;353;p3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Forward secrecy: If an eavesdropper records an encrypted connection now and learns the secret values later, they cannot decrypt the recorded connection</a:t>
            </a:r>
            <a:endParaRPr/>
          </a:p>
          <a:p>
            <a:pPr indent="-342900" lvl="0" marL="457200" rtl="0" algn="l">
              <a:spcBef>
                <a:spcPts val="0"/>
              </a:spcBef>
              <a:spcAft>
                <a:spcPts val="0"/>
              </a:spcAft>
              <a:buSzPts val="1800"/>
              <a:buChar char="●"/>
            </a:pPr>
            <a:r>
              <a:rPr lang="en"/>
              <a:t>TLS provides guaranteed forward secrecy, thanks to its use of DHE</a:t>
            </a:r>
            <a:endParaRPr/>
          </a:p>
          <a:p>
            <a:pPr indent="-317500" lvl="1" marL="914400" rtl="0" algn="l">
              <a:spcBef>
                <a:spcPts val="0"/>
              </a:spcBef>
              <a:spcAft>
                <a:spcPts val="0"/>
              </a:spcAft>
              <a:buSzPts val="1400"/>
              <a:buChar char="○"/>
            </a:pPr>
            <a:r>
              <a:rPr lang="en"/>
              <a:t>Diffie-Hellman provides forward secrecy: </a:t>
            </a:r>
            <a:r>
              <a:rPr i="1" lang="en"/>
              <a:t>PS</a:t>
            </a:r>
            <a:r>
              <a:rPr lang="en"/>
              <a:t> is deleted after the TLS session is over, so the adversary can’t learn the keys, even if they later obtain the server’s private key</a:t>
            </a:r>
            <a:endParaRPr/>
          </a:p>
          <a:p>
            <a:pPr indent="-317500" lvl="1" marL="914400" rtl="0" algn="l">
              <a:spcBef>
                <a:spcPts val="0"/>
              </a:spcBef>
              <a:spcAft>
                <a:spcPts val="0"/>
              </a:spcAft>
              <a:buSzPts val="1400"/>
              <a:buChar char="○"/>
            </a:pPr>
            <a:r>
              <a:rPr lang="en"/>
              <a:t>Note: Because the </a:t>
            </a:r>
            <a:r>
              <a:rPr lang="en"/>
              <a:t>server’s Diffie-Hellman component is signed, the adversary can’t MITM the Diffie-Hellman exchange without the server’s private key</a:t>
            </a:r>
            <a:endParaRPr/>
          </a:p>
        </p:txBody>
      </p:sp>
      <p:sp>
        <p:nvSpPr>
          <p:cNvPr id="354" name="Google Shape;35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1.3 Changes</a:t>
            </a:r>
            <a:endParaRPr/>
          </a:p>
        </p:txBody>
      </p:sp>
      <p:sp>
        <p:nvSpPr>
          <p:cNvPr id="360" name="Google Shape;360;p3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TLS 1.3</a:t>
            </a:r>
            <a:r>
              <a:rPr lang="en"/>
              <a:t>: The latest version of the TLS protocol (2018)</a:t>
            </a:r>
            <a:endParaRPr/>
          </a:p>
          <a:p>
            <a:pPr indent="-342900" lvl="0" marL="457200" rtl="0" algn="l">
              <a:spcBef>
                <a:spcPts val="0"/>
              </a:spcBef>
              <a:spcAft>
                <a:spcPts val="0"/>
              </a:spcAft>
              <a:buSzPts val="1800"/>
              <a:buChar char="●"/>
            </a:pPr>
            <a:r>
              <a:rPr lang="en"/>
              <a:t>RSA no longer supported (only DHE)</a:t>
            </a:r>
            <a:endParaRPr/>
          </a:p>
          <a:p>
            <a:pPr indent="-317500" lvl="1" marL="914400" rtl="0" algn="l">
              <a:spcBef>
                <a:spcPts val="0"/>
              </a:spcBef>
              <a:spcAft>
                <a:spcPts val="0"/>
              </a:spcAft>
              <a:buSzPts val="1400"/>
              <a:buChar char="○"/>
            </a:pPr>
            <a:r>
              <a:rPr lang="en"/>
              <a:t>Guarantees forward secrecy</a:t>
            </a:r>
            <a:endParaRPr/>
          </a:p>
          <a:p>
            <a:pPr indent="-342900" lvl="0" marL="457200" rtl="0" algn="l">
              <a:spcBef>
                <a:spcPts val="0"/>
              </a:spcBef>
              <a:spcAft>
                <a:spcPts val="0"/>
              </a:spcAft>
              <a:buSzPts val="1800"/>
              <a:buChar char="●"/>
            </a:pPr>
            <a:r>
              <a:rPr lang="en"/>
              <a:t>Performance optimization: The client sends </a:t>
            </a:r>
            <a:r>
              <a:rPr i="1" lang="en"/>
              <a:t>g</a:t>
            </a:r>
            <a:r>
              <a:rPr baseline="30000" i="1" lang="en"/>
              <a:t>b</a:t>
            </a:r>
            <a:r>
              <a:rPr lang="en"/>
              <a:t> mod </a:t>
            </a:r>
            <a:r>
              <a:rPr i="1" lang="en"/>
              <a:t>p</a:t>
            </a:r>
            <a:r>
              <a:rPr lang="en"/>
              <a:t> in ClientHello</a:t>
            </a:r>
            <a:endParaRPr/>
          </a:p>
          <a:p>
            <a:pPr indent="-317500" lvl="1" marL="914400" rtl="0" algn="l">
              <a:spcBef>
                <a:spcPts val="0"/>
              </a:spcBef>
              <a:spcAft>
                <a:spcPts val="0"/>
              </a:spcAft>
              <a:buSzPts val="1400"/>
              <a:buChar char="○"/>
            </a:pPr>
            <a:r>
              <a:rPr lang="en"/>
              <a:t>If the server agrees to use DHE, the server sends </a:t>
            </a:r>
            <a:r>
              <a:rPr i="1" lang="en"/>
              <a:t>g</a:t>
            </a:r>
            <a:r>
              <a:rPr baseline="30000" i="1" lang="en"/>
              <a:t>a</a:t>
            </a:r>
            <a:r>
              <a:rPr lang="en"/>
              <a:t> mod </a:t>
            </a:r>
            <a:r>
              <a:rPr i="1" lang="en"/>
              <a:t>p</a:t>
            </a:r>
            <a:r>
              <a:rPr lang="en"/>
              <a:t> (with signature) in ServerHello</a:t>
            </a:r>
            <a:endParaRPr/>
          </a:p>
          <a:p>
            <a:pPr indent="-317500" lvl="1" marL="914400" rtl="0" algn="l">
              <a:spcBef>
                <a:spcPts val="0"/>
              </a:spcBef>
              <a:spcAft>
                <a:spcPts val="0"/>
              </a:spcAft>
              <a:buSzPts val="1400"/>
              <a:buChar char="○"/>
            </a:pPr>
            <a:r>
              <a:rPr lang="en"/>
              <a:t>Potentially saves two messages later in the handshake</a:t>
            </a:r>
            <a:endParaRPr/>
          </a:p>
          <a:p>
            <a:pPr indent="-342900" lvl="0" marL="457200" rtl="0" algn="l">
              <a:spcBef>
                <a:spcPts val="0"/>
              </a:spcBef>
              <a:spcAft>
                <a:spcPts val="0"/>
              </a:spcAft>
              <a:buSzPts val="1800"/>
              <a:buChar char="●"/>
            </a:pPr>
            <a:r>
              <a:rPr lang="en"/>
              <a:t>Only supports AEAD mode encryption</a:t>
            </a:r>
            <a:endParaRPr/>
          </a:p>
          <a:p>
            <a:pPr indent="-317500" lvl="1" marL="914400" rtl="0" algn="l">
              <a:spcBef>
                <a:spcPts val="0"/>
              </a:spcBef>
              <a:spcAft>
                <a:spcPts val="0"/>
              </a:spcAft>
              <a:buSzPts val="1400"/>
              <a:buChar char="○"/>
            </a:pPr>
            <a:r>
              <a:rPr lang="en"/>
              <a:t>Recall AEAD (authenticated encryption with additional data): a block cipher mode that guarantees confidentiality and integrity at the same time</a:t>
            </a:r>
            <a:endParaRPr/>
          </a:p>
          <a:p>
            <a:pPr indent="-317500" lvl="1" marL="914400" rtl="0" algn="l">
              <a:spcBef>
                <a:spcPts val="0"/>
              </a:spcBef>
              <a:spcAft>
                <a:spcPts val="0"/>
              </a:spcAft>
              <a:buSzPts val="1400"/>
              <a:buChar char="○"/>
            </a:pPr>
            <a:r>
              <a:rPr lang="en"/>
              <a:t>Eliminates attacks associated with the insecure MAC-then-encrypt pattern</a:t>
            </a:r>
            <a:endParaRPr/>
          </a:p>
        </p:txBody>
      </p:sp>
      <p:sp>
        <p:nvSpPr>
          <p:cNvPr id="361" name="Google Shape;3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type="title"/>
          </p:nvPr>
        </p:nvSpPr>
        <p:spPr>
          <a:xfrm>
            <a:off x="311700" y="1388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TLS in Practice</a:t>
            </a:r>
            <a:endParaRPr/>
          </a:p>
        </p:txBody>
      </p:sp>
      <p:sp>
        <p:nvSpPr>
          <p:cNvPr id="367" name="Google Shape;36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34"/>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800">
                <a:solidFill>
                  <a:srgbClr val="000000"/>
                </a:solidFill>
              </a:rPr>
              <a:t>Textbook Chapter 31.3</a:t>
            </a:r>
            <a:endParaRPr sz="1800">
              <a:solidFill>
                <a:srgbClr val="000000"/>
              </a:solidFill>
            </a:endParaRPr>
          </a:p>
        </p:txBody>
      </p:sp>
      <p:pic>
        <p:nvPicPr>
          <p:cNvPr id="369" name="Google Shape;369;p34"/>
          <p:cNvPicPr preferRelativeResize="0"/>
          <p:nvPr/>
        </p:nvPicPr>
        <p:blipFill rotWithShape="1">
          <a:blip r:embed="rId3">
            <a:alphaModFix/>
          </a:blip>
          <a:srcRect b="0" l="6654" r="5083" t="17857"/>
          <a:stretch/>
        </p:blipFill>
        <p:spPr>
          <a:xfrm>
            <a:off x="3117527" y="2352425"/>
            <a:ext cx="2908944" cy="2105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Efficiency</a:t>
            </a:r>
            <a:endParaRPr/>
          </a:p>
        </p:txBody>
      </p:sp>
      <p:sp>
        <p:nvSpPr>
          <p:cNvPr id="375" name="Google Shape;375;p3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Public-key cryptography: Minor costs</a:t>
            </a:r>
            <a:endParaRPr/>
          </a:p>
          <a:p>
            <a:pPr indent="-317500" lvl="1" marL="914400" rtl="0" algn="l">
              <a:spcBef>
                <a:spcPts val="0"/>
              </a:spcBef>
              <a:spcAft>
                <a:spcPts val="0"/>
              </a:spcAft>
              <a:buSzPts val="1400"/>
              <a:buChar char="○"/>
            </a:pPr>
            <a:r>
              <a:rPr lang="en"/>
              <a:t>Client and server must perform Diffie-Hellman key exchange</a:t>
            </a:r>
            <a:endParaRPr/>
          </a:p>
          <a:p>
            <a:pPr indent="-342900" lvl="0" marL="457200" rtl="0" algn="l">
              <a:spcBef>
                <a:spcPts val="0"/>
              </a:spcBef>
              <a:spcAft>
                <a:spcPts val="0"/>
              </a:spcAft>
              <a:buSzPts val="1800"/>
              <a:buChar char="●"/>
            </a:pPr>
            <a:r>
              <a:rPr lang="en"/>
              <a:t>Symmetric-key cryptography: Effectively free</a:t>
            </a:r>
            <a:endParaRPr/>
          </a:p>
          <a:p>
            <a:pPr indent="-317500" lvl="1" marL="914400" rtl="0" algn="l">
              <a:spcBef>
                <a:spcPts val="0"/>
              </a:spcBef>
              <a:spcAft>
                <a:spcPts val="0"/>
              </a:spcAft>
              <a:buSzPts val="1400"/>
              <a:buChar char="○"/>
            </a:pPr>
            <a:r>
              <a:rPr lang="en"/>
              <a:t>Modern hardware has dedicated support for symmetric-key cryptography</a:t>
            </a:r>
            <a:endParaRPr/>
          </a:p>
          <a:p>
            <a:pPr indent="-317500" lvl="1" marL="914400" rtl="0" algn="l">
              <a:spcBef>
                <a:spcPts val="0"/>
              </a:spcBef>
              <a:spcAft>
                <a:spcPts val="0"/>
              </a:spcAft>
              <a:buSzPts val="1400"/>
              <a:buChar char="○"/>
            </a:pPr>
            <a:r>
              <a:rPr lang="en"/>
              <a:t>Performance impact is negligible</a:t>
            </a:r>
            <a:endParaRPr/>
          </a:p>
          <a:p>
            <a:pPr indent="-342900" lvl="0" marL="457200" rtl="0" algn="l">
              <a:spcBef>
                <a:spcPts val="0"/>
              </a:spcBef>
              <a:spcAft>
                <a:spcPts val="0"/>
              </a:spcAft>
              <a:buSzPts val="1800"/>
              <a:buChar char="●"/>
            </a:pPr>
            <a:r>
              <a:rPr lang="en"/>
              <a:t>Latency: Extra waiting time before the first message</a:t>
            </a:r>
            <a:endParaRPr/>
          </a:p>
          <a:p>
            <a:pPr indent="-317500" lvl="1" marL="914400" rtl="0" algn="l">
              <a:spcBef>
                <a:spcPts val="0"/>
              </a:spcBef>
              <a:spcAft>
                <a:spcPts val="0"/>
              </a:spcAft>
              <a:buSzPts val="1400"/>
              <a:buChar char="○"/>
            </a:pPr>
            <a:r>
              <a:rPr lang="en"/>
              <a:t>Must perform the entire TLS handshake before sending the first message</a:t>
            </a:r>
            <a:endParaRPr/>
          </a:p>
        </p:txBody>
      </p:sp>
      <p:sp>
        <p:nvSpPr>
          <p:cNvPr id="376" name="Google Shape;37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Provides End-to-End Security</a:t>
            </a:r>
            <a:endParaRPr/>
          </a:p>
        </p:txBody>
      </p:sp>
      <p:sp>
        <p:nvSpPr>
          <p:cNvPr id="382" name="Google Shape;382;p3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TLS provides </a:t>
            </a:r>
            <a:r>
              <a:rPr b="1" lang="en"/>
              <a:t>end-to-end security</a:t>
            </a:r>
            <a:r>
              <a:rPr lang="en"/>
              <a:t>: Secure communication between the two endpoints, with no need to trust intermediaries</a:t>
            </a:r>
            <a:endParaRPr/>
          </a:p>
          <a:p>
            <a:pPr indent="-317500" lvl="1" marL="914400" rtl="0" algn="l">
              <a:spcBef>
                <a:spcPts val="0"/>
              </a:spcBef>
              <a:spcAft>
                <a:spcPts val="0"/>
              </a:spcAft>
              <a:buSzPts val="1400"/>
              <a:buChar char="○"/>
            </a:pPr>
            <a:r>
              <a:rPr lang="en"/>
              <a:t>Even if everybody between the client and the server is malicious, TLS provides a secure communication channel -- secure against MITM, on-path attackers, and off-path attackers</a:t>
            </a:r>
            <a:endParaRPr/>
          </a:p>
          <a:p>
            <a:pPr indent="-317500" lvl="1" marL="914400" rtl="0" algn="l">
              <a:spcBef>
                <a:spcPts val="0"/>
              </a:spcBef>
              <a:spcAft>
                <a:spcPts val="0"/>
              </a:spcAft>
              <a:buSzPts val="1400"/>
              <a:buChar char="○"/>
            </a:pPr>
            <a:r>
              <a:rPr lang="en"/>
              <a:t>End-to-end security does not help if one of the endpoints is malicious (e.g. communicating with a malicious server)</a:t>
            </a:r>
            <a:endParaRPr/>
          </a:p>
          <a:p>
            <a:pPr indent="-317500" lvl="1" marL="914400" rtl="0" algn="l">
              <a:spcBef>
                <a:spcPts val="0"/>
              </a:spcBef>
              <a:spcAft>
                <a:spcPts val="0"/>
              </a:spcAft>
              <a:buSzPts val="1400"/>
              <a:buChar char="○"/>
            </a:pPr>
            <a:r>
              <a:rPr lang="en"/>
              <a:t>Example: An local network attacker (on-path) tries to read our Wi-Fi session, but can’t read TLS messages</a:t>
            </a:r>
            <a:endParaRPr/>
          </a:p>
          <a:p>
            <a:pPr indent="-317500" lvl="1" marL="914400" rtl="0" algn="l">
              <a:spcBef>
                <a:spcPts val="0"/>
              </a:spcBef>
              <a:spcAft>
                <a:spcPts val="0"/>
              </a:spcAft>
              <a:buSzPts val="1400"/>
              <a:buChar char="○"/>
            </a:pPr>
            <a:r>
              <a:rPr lang="en"/>
              <a:t>Example: A man-in-the-middle tries to inject TCP packets, but packets will be rejected because the MAC won’t be correct</a:t>
            </a:r>
            <a:endParaRPr/>
          </a:p>
          <a:p>
            <a:pPr indent="-342900" lvl="0" marL="457200" rtl="0" algn="l">
              <a:spcBef>
                <a:spcPts val="0"/>
              </a:spcBef>
              <a:spcAft>
                <a:spcPts val="0"/>
              </a:spcAft>
              <a:buSzPts val="1800"/>
              <a:buChar char="●"/>
            </a:pPr>
            <a:r>
              <a:rPr lang="en"/>
              <a:t>Using TLS defends against most lower-level network attacks</a:t>
            </a:r>
            <a:endParaRPr/>
          </a:p>
        </p:txBody>
      </p:sp>
      <p:sp>
        <p:nvSpPr>
          <p:cNvPr id="383" name="Google Shape;383;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Provides End-to-End Security (RSA)</a:t>
            </a:r>
            <a:endParaRPr/>
          </a:p>
        </p:txBody>
      </p:sp>
      <p:sp>
        <p:nvSpPr>
          <p:cNvPr id="389" name="Google Shape;38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390" name="Google Shape;390;p37"/>
          <p:cNvCxnSpPr/>
          <p:nvPr/>
        </p:nvCxnSpPr>
        <p:spPr>
          <a:xfrm>
            <a:off x="1598588" y="1575325"/>
            <a:ext cx="0" cy="3481500"/>
          </a:xfrm>
          <a:prstGeom prst="straightConnector1">
            <a:avLst/>
          </a:prstGeom>
          <a:noFill/>
          <a:ln cap="flat" cmpd="sng" w="19050">
            <a:solidFill>
              <a:schemeClr val="dk2"/>
            </a:solidFill>
            <a:prstDash val="solid"/>
            <a:round/>
            <a:headEnd len="med" w="med" type="none"/>
            <a:tailEnd len="med" w="med" type="none"/>
          </a:ln>
        </p:spPr>
      </p:cxnSp>
      <p:sp>
        <p:nvSpPr>
          <p:cNvPr id="391" name="Google Shape;391;p37"/>
          <p:cNvSpPr txBox="1"/>
          <p:nvPr/>
        </p:nvSpPr>
        <p:spPr>
          <a:xfrm>
            <a:off x="1454963" y="11751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392" name="Google Shape;392;p37"/>
          <p:cNvSpPr txBox="1"/>
          <p:nvPr/>
        </p:nvSpPr>
        <p:spPr>
          <a:xfrm>
            <a:off x="3704699" y="1110600"/>
            <a:ext cx="1734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Man-in-the-middle</a:t>
            </a:r>
            <a:endParaRPr/>
          </a:p>
        </p:txBody>
      </p:sp>
      <p:cxnSp>
        <p:nvCxnSpPr>
          <p:cNvPr id="393" name="Google Shape;393;p37"/>
          <p:cNvCxnSpPr/>
          <p:nvPr/>
        </p:nvCxnSpPr>
        <p:spPr>
          <a:xfrm>
            <a:off x="1664988" y="15839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394" name="Google Shape;394;p37"/>
          <p:cNvSpPr txBox="1"/>
          <p:nvPr/>
        </p:nvSpPr>
        <p:spPr>
          <a:xfrm rot="512024">
            <a:off x="1690368" y="14556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395" name="Google Shape;395;p37"/>
          <p:cNvCxnSpPr/>
          <p:nvPr/>
        </p:nvCxnSpPr>
        <p:spPr>
          <a:xfrm flipH="1">
            <a:off x="1691138" y="30135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396" name="Google Shape;396;p37"/>
          <p:cNvSpPr txBox="1"/>
          <p:nvPr/>
        </p:nvSpPr>
        <p:spPr>
          <a:xfrm flipH="1" rot="-523651">
            <a:off x="1677709" y="28854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cxnSp>
        <p:nvCxnSpPr>
          <p:cNvPr id="397" name="Google Shape;397;p37"/>
          <p:cNvCxnSpPr/>
          <p:nvPr/>
        </p:nvCxnSpPr>
        <p:spPr>
          <a:xfrm flipH="1">
            <a:off x="1723888" y="33611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398" name="Google Shape;398;p37"/>
          <p:cNvSpPr txBox="1"/>
          <p:nvPr/>
        </p:nvSpPr>
        <p:spPr>
          <a:xfrm flipH="1" rot="-523651">
            <a:off x="1710459" y="32330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cxnSp>
        <p:nvCxnSpPr>
          <p:cNvPr id="399" name="Google Shape;399;p37"/>
          <p:cNvCxnSpPr/>
          <p:nvPr/>
        </p:nvCxnSpPr>
        <p:spPr>
          <a:xfrm>
            <a:off x="4570938" y="1575325"/>
            <a:ext cx="0" cy="3481500"/>
          </a:xfrm>
          <a:prstGeom prst="straightConnector1">
            <a:avLst/>
          </a:prstGeom>
          <a:noFill/>
          <a:ln cap="flat" cmpd="sng" w="19050">
            <a:solidFill>
              <a:schemeClr val="dk2"/>
            </a:solidFill>
            <a:prstDash val="solid"/>
            <a:round/>
            <a:headEnd len="med" w="med" type="none"/>
            <a:tailEnd len="med" w="med" type="none"/>
          </a:ln>
        </p:spPr>
      </p:cxnSp>
      <p:sp>
        <p:nvSpPr>
          <p:cNvPr id="400" name="Google Shape;400;p37"/>
          <p:cNvSpPr txBox="1"/>
          <p:nvPr/>
        </p:nvSpPr>
        <p:spPr>
          <a:xfrm>
            <a:off x="6751838" y="12195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401" name="Google Shape;401;p37"/>
          <p:cNvCxnSpPr/>
          <p:nvPr/>
        </p:nvCxnSpPr>
        <p:spPr>
          <a:xfrm>
            <a:off x="4610788" y="20093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402" name="Google Shape;402;p37"/>
          <p:cNvSpPr txBox="1"/>
          <p:nvPr/>
        </p:nvSpPr>
        <p:spPr>
          <a:xfrm rot="512024">
            <a:off x="4636168" y="18810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403" name="Google Shape;403;p37"/>
          <p:cNvCxnSpPr/>
          <p:nvPr/>
        </p:nvCxnSpPr>
        <p:spPr>
          <a:xfrm flipH="1">
            <a:off x="4636938" y="25245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404" name="Google Shape;404;p37"/>
          <p:cNvSpPr txBox="1"/>
          <p:nvPr/>
        </p:nvSpPr>
        <p:spPr>
          <a:xfrm flipH="1" rot="-523651">
            <a:off x="4623509" y="23964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cxnSp>
        <p:nvCxnSpPr>
          <p:cNvPr id="405" name="Google Shape;405;p37"/>
          <p:cNvCxnSpPr/>
          <p:nvPr/>
        </p:nvCxnSpPr>
        <p:spPr>
          <a:xfrm flipH="1">
            <a:off x="4669688" y="28721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406" name="Google Shape;406;p37"/>
          <p:cNvSpPr txBox="1"/>
          <p:nvPr/>
        </p:nvSpPr>
        <p:spPr>
          <a:xfrm flipH="1" rot="-523651">
            <a:off x="4656259" y="27440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cxnSp>
        <p:nvCxnSpPr>
          <p:cNvPr id="407" name="Google Shape;407;p37"/>
          <p:cNvCxnSpPr/>
          <p:nvPr/>
        </p:nvCxnSpPr>
        <p:spPr>
          <a:xfrm>
            <a:off x="7516738" y="1575325"/>
            <a:ext cx="0" cy="3481500"/>
          </a:xfrm>
          <a:prstGeom prst="straightConnector1">
            <a:avLst/>
          </a:prstGeom>
          <a:noFill/>
          <a:ln cap="flat" cmpd="sng" w="19050">
            <a:solidFill>
              <a:schemeClr val="dk2"/>
            </a:solidFill>
            <a:prstDash val="solid"/>
            <a:round/>
            <a:headEnd len="med" w="med" type="none"/>
            <a:tailEnd len="med" w="med" type="none"/>
          </a:ln>
        </p:spPr>
      </p:cxnSp>
      <p:pic>
        <p:nvPicPr>
          <p:cNvPr id="408" name="Google Shape;408;p37"/>
          <p:cNvPicPr preferRelativeResize="0"/>
          <p:nvPr/>
        </p:nvPicPr>
        <p:blipFill rotWithShape="1">
          <a:blip r:embed="rId3">
            <a:alphaModFix/>
          </a:blip>
          <a:srcRect b="65159" l="10446" r="69908" t="13697"/>
          <a:stretch/>
        </p:blipFill>
        <p:spPr>
          <a:xfrm>
            <a:off x="4368669" y="1426074"/>
            <a:ext cx="406651" cy="437699"/>
          </a:xfrm>
          <a:prstGeom prst="rect">
            <a:avLst/>
          </a:prstGeom>
          <a:noFill/>
          <a:ln>
            <a:noFill/>
          </a:ln>
        </p:spPr>
      </p:pic>
      <p:cxnSp>
        <p:nvCxnSpPr>
          <p:cNvPr id="409" name="Google Shape;409;p37"/>
          <p:cNvCxnSpPr/>
          <p:nvPr/>
        </p:nvCxnSpPr>
        <p:spPr>
          <a:xfrm>
            <a:off x="1678063" y="39346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410" name="Google Shape;410;p37"/>
          <p:cNvSpPr txBox="1"/>
          <p:nvPr/>
        </p:nvSpPr>
        <p:spPr>
          <a:xfrm rot="512024">
            <a:off x="1703443" y="38063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t>
            </a:r>
            <a:r>
              <a:rPr i="1" lang="en"/>
              <a:t>PS</a:t>
            </a:r>
            <a:r>
              <a:rPr lang="en"/>
              <a:t>}</a:t>
            </a:r>
            <a:r>
              <a:rPr i="1" lang="en" sz="1000"/>
              <a:t>K</a:t>
            </a:r>
            <a:r>
              <a:rPr lang="en" sz="600"/>
              <a:t>server</a:t>
            </a:r>
            <a:endParaRPr sz="600"/>
          </a:p>
        </p:txBody>
      </p:sp>
      <p:cxnSp>
        <p:nvCxnSpPr>
          <p:cNvPr id="411" name="Google Shape;411;p37"/>
          <p:cNvCxnSpPr/>
          <p:nvPr/>
        </p:nvCxnSpPr>
        <p:spPr>
          <a:xfrm>
            <a:off x="4584125" y="43774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412" name="Google Shape;412;p37"/>
          <p:cNvSpPr txBox="1"/>
          <p:nvPr/>
        </p:nvSpPr>
        <p:spPr>
          <a:xfrm rot="512024">
            <a:off x="4609506" y="42491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t>
            </a:r>
            <a:r>
              <a:rPr i="1" lang="en"/>
              <a:t>PS</a:t>
            </a:r>
            <a:r>
              <a:rPr lang="en"/>
              <a:t>}</a:t>
            </a:r>
            <a:r>
              <a:rPr i="1" lang="en" sz="1000"/>
              <a:t>K</a:t>
            </a:r>
            <a:r>
              <a:rPr lang="en" sz="600"/>
              <a:t>server</a:t>
            </a:r>
            <a:endParaRPr sz="600"/>
          </a:p>
        </p:txBody>
      </p:sp>
      <p:grpSp>
        <p:nvGrpSpPr>
          <p:cNvPr id="413" name="Google Shape;413;p37"/>
          <p:cNvGrpSpPr/>
          <p:nvPr/>
        </p:nvGrpSpPr>
        <p:grpSpPr>
          <a:xfrm>
            <a:off x="4625238" y="3300400"/>
            <a:ext cx="2814600" cy="936150"/>
            <a:chOff x="4625238" y="3300400"/>
            <a:chExt cx="2814600" cy="936150"/>
          </a:xfrm>
        </p:grpSpPr>
        <p:sp>
          <p:nvSpPr>
            <p:cNvPr id="414" name="Google Shape;414;p37"/>
            <p:cNvSpPr txBox="1"/>
            <p:nvPr/>
          </p:nvSpPr>
          <p:spPr>
            <a:xfrm>
              <a:off x="5509638" y="3300400"/>
              <a:ext cx="19302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MITM cannot read PS since it’s encrypted with the server’s PK!</a:t>
              </a:r>
              <a:endParaRPr/>
            </a:p>
          </p:txBody>
        </p:sp>
        <p:cxnSp>
          <p:nvCxnSpPr>
            <p:cNvPr id="415" name="Google Shape;415;p37"/>
            <p:cNvCxnSpPr>
              <a:stCxn id="414" idx="1"/>
              <a:endCxn id="412" idx="1"/>
            </p:cNvCxnSpPr>
            <p:nvPr/>
          </p:nvCxnSpPr>
          <p:spPr>
            <a:xfrm flipH="1">
              <a:off x="4625238" y="3716050"/>
              <a:ext cx="884400" cy="520500"/>
            </a:xfrm>
            <a:prstGeom prst="straightConnector1">
              <a:avLst/>
            </a:prstGeom>
            <a:noFill/>
            <a:ln cap="flat" cmpd="sng" w="9525">
              <a:solidFill>
                <a:srgbClr val="595959"/>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Provides End-to-End Security</a:t>
            </a:r>
            <a:endParaRPr/>
          </a:p>
        </p:txBody>
      </p:sp>
      <p:sp>
        <p:nvSpPr>
          <p:cNvPr id="421" name="Google Shape;421;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22" name="Google Shape;422;p38"/>
          <p:cNvCxnSpPr/>
          <p:nvPr/>
        </p:nvCxnSpPr>
        <p:spPr>
          <a:xfrm>
            <a:off x="7516738" y="158107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423" name="Google Shape;423;p38"/>
          <p:cNvCxnSpPr/>
          <p:nvPr/>
        </p:nvCxnSpPr>
        <p:spPr>
          <a:xfrm>
            <a:off x="1598588" y="1581075"/>
            <a:ext cx="0" cy="3481500"/>
          </a:xfrm>
          <a:prstGeom prst="straightConnector1">
            <a:avLst/>
          </a:prstGeom>
          <a:noFill/>
          <a:ln cap="flat" cmpd="sng" w="19050">
            <a:solidFill>
              <a:schemeClr val="dk2"/>
            </a:solidFill>
            <a:prstDash val="solid"/>
            <a:round/>
            <a:headEnd len="med" w="med" type="none"/>
            <a:tailEnd len="med" w="med" type="none"/>
          </a:ln>
        </p:spPr>
      </p:cxnSp>
      <p:sp>
        <p:nvSpPr>
          <p:cNvPr id="424" name="Google Shape;424;p38"/>
          <p:cNvSpPr txBox="1"/>
          <p:nvPr/>
        </p:nvSpPr>
        <p:spPr>
          <a:xfrm>
            <a:off x="1454963" y="118087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cxnSp>
        <p:nvCxnSpPr>
          <p:cNvPr id="425" name="Google Shape;425;p38"/>
          <p:cNvCxnSpPr/>
          <p:nvPr/>
        </p:nvCxnSpPr>
        <p:spPr>
          <a:xfrm>
            <a:off x="1664988" y="158968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426" name="Google Shape;426;p38"/>
          <p:cNvSpPr txBox="1"/>
          <p:nvPr/>
        </p:nvSpPr>
        <p:spPr>
          <a:xfrm rot="512024">
            <a:off x="1690368" y="146144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427" name="Google Shape;427;p38"/>
          <p:cNvCxnSpPr/>
          <p:nvPr/>
        </p:nvCxnSpPr>
        <p:spPr>
          <a:xfrm flipH="1">
            <a:off x="1691138" y="30193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428" name="Google Shape;428;p38"/>
          <p:cNvSpPr txBox="1"/>
          <p:nvPr/>
        </p:nvSpPr>
        <p:spPr>
          <a:xfrm flipH="1" rot="-523651">
            <a:off x="1677709" y="28912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cxnSp>
        <p:nvCxnSpPr>
          <p:cNvPr id="429" name="Google Shape;429;p38"/>
          <p:cNvCxnSpPr/>
          <p:nvPr/>
        </p:nvCxnSpPr>
        <p:spPr>
          <a:xfrm flipH="1">
            <a:off x="1723888" y="33668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430" name="Google Shape;430;p38"/>
          <p:cNvSpPr txBox="1"/>
          <p:nvPr/>
        </p:nvSpPr>
        <p:spPr>
          <a:xfrm flipH="1" rot="-523651">
            <a:off x="1710459" y="32387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cxnSp>
        <p:nvCxnSpPr>
          <p:cNvPr id="431" name="Google Shape;431;p38"/>
          <p:cNvCxnSpPr/>
          <p:nvPr/>
        </p:nvCxnSpPr>
        <p:spPr>
          <a:xfrm flipH="1">
            <a:off x="1691138" y="3705137"/>
            <a:ext cx="2814300" cy="437700"/>
          </a:xfrm>
          <a:prstGeom prst="straightConnector1">
            <a:avLst/>
          </a:prstGeom>
          <a:noFill/>
          <a:ln cap="flat" cmpd="sng" w="9525">
            <a:solidFill>
              <a:srgbClr val="000000"/>
            </a:solidFill>
            <a:prstDash val="solid"/>
            <a:round/>
            <a:headEnd len="med" w="med" type="none"/>
            <a:tailEnd len="med" w="med" type="triangle"/>
          </a:ln>
        </p:spPr>
      </p:cxnSp>
      <p:sp>
        <p:nvSpPr>
          <p:cNvPr id="432" name="Google Shape;432;p38"/>
          <p:cNvSpPr txBox="1"/>
          <p:nvPr/>
        </p:nvSpPr>
        <p:spPr>
          <a:xfrm flipH="1" rot="-523651">
            <a:off x="1677709" y="35770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t>
            </a:r>
            <a:r>
              <a:rPr i="1" lang="en"/>
              <a:t>g</a:t>
            </a:r>
            <a:r>
              <a:rPr baseline="30000" i="1" lang="en"/>
              <a:t>a</a:t>
            </a:r>
            <a:r>
              <a:rPr lang="en"/>
              <a:t> mod </a:t>
            </a:r>
            <a:r>
              <a:rPr i="1" lang="en"/>
              <a:t>p</a:t>
            </a:r>
            <a:r>
              <a:rPr lang="en"/>
              <a:t>}</a:t>
            </a:r>
            <a:r>
              <a:rPr i="1" lang="en" sz="1000"/>
              <a:t>K</a:t>
            </a:r>
            <a:r>
              <a:rPr baseline="30000" lang="en" sz="1000"/>
              <a:t>-1</a:t>
            </a:r>
            <a:r>
              <a:rPr lang="en" sz="600"/>
              <a:t>server</a:t>
            </a:r>
            <a:endParaRPr sz="600"/>
          </a:p>
        </p:txBody>
      </p:sp>
      <p:cxnSp>
        <p:nvCxnSpPr>
          <p:cNvPr id="433" name="Google Shape;433;p38"/>
          <p:cNvCxnSpPr/>
          <p:nvPr/>
        </p:nvCxnSpPr>
        <p:spPr>
          <a:xfrm>
            <a:off x="1664988" y="4180488"/>
            <a:ext cx="2879400" cy="437700"/>
          </a:xfrm>
          <a:prstGeom prst="straightConnector1">
            <a:avLst/>
          </a:prstGeom>
          <a:noFill/>
          <a:ln cap="flat" cmpd="sng" w="9525">
            <a:solidFill>
              <a:srgbClr val="000000"/>
            </a:solidFill>
            <a:prstDash val="solid"/>
            <a:round/>
            <a:headEnd len="med" w="med" type="none"/>
            <a:tailEnd len="med" w="med" type="triangle"/>
          </a:ln>
        </p:spPr>
      </p:cxnSp>
      <p:sp>
        <p:nvSpPr>
          <p:cNvPr id="434" name="Google Shape;434;p38"/>
          <p:cNvSpPr txBox="1"/>
          <p:nvPr/>
        </p:nvSpPr>
        <p:spPr>
          <a:xfrm rot="512024">
            <a:off x="1690368" y="405224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a:t>g</a:t>
            </a:r>
            <a:r>
              <a:rPr baseline="30000" i="1" lang="en"/>
              <a:t>b</a:t>
            </a:r>
            <a:r>
              <a:rPr lang="en"/>
              <a:t> mod </a:t>
            </a:r>
            <a:r>
              <a:rPr i="1" lang="en"/>
              <a:t>p</a:t>
            </a:r>
            <a:endParaRPr i="1"/>
          </a:p>
        </p:txBody>
      </p:sp>
      <p:cxnSp>
        <p:nvCxnSpPr>
          <p:cNvPr id="435" name="Google Shape;435;p38"/>
          <p:cNvCxnSpPr/>
          <p:nvPr/>
        </p:nvCxnSpPr>
        <p:spPr>
          <a:xfrm>
            <a:off x="4570938" y="1581075"/>
            <a:ext cx="0" cy="3481500"/>
          </a:xfrm>
          <a:prstGeom prst="straightConnector1">
            <a:avLst/>
          </a:prstGeom>
          <a:noFill/>
          <a:ln cap="flat" cmpd="sng" w="19050">
            <a:solidFill>
              <a:schemeClr val="dk2"/>
            </a:solidFill>
            <a:prstDash val="solid"/>
            <a:round/>
            <a:headEnd len="med" w="med" type="none"/>
            <a:tailEnd len="med" w="med" type="none"/>
          </a:ln>
        </p:spPr>
      </p:cxnSp>
      <p:sp>
        <p:nvSpPr>
          <p:cNvPr id="436" name="Google Shape;436;p38"/>
          <p:cNvSpPr txBox="1"/>
          <p:nvPr/>
        </p:nvSpPr>
        <p:spPr>
          <a:xfrm>
            <a:off x="6751838" y="122527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437" name="Google Shape;437;p38"/>
          <p:cNvCxnSpPr/>
          <p:nvPr/>
        </p:nvCxnSpPr>
        <p:spPr>
          <a:xfrm>
            <a:off x="4610788" y="201508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438" name="Google Shape;438;p38"/>
          <p:cNvSpPr txBox="1"/>
          <p:nvPr/>
        </p:nvSpPr>
        <p:spPr>
          <a:xfrm rot="512024">
            <a:off x="4636168" y="188684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439" name="Google Shape;439;p38"/>
          <p:cNvCxnSpPr/>
          <p:nvPr/>
        </p:nvCxnSpPr>
        <p:spPr>
          <a:xfrm flipH="1">
            <a:off x="4636938" y="25303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440" name="Google Shape;440;p38"/>
          <p:cNvSpPr txBox="1"/>
          <p:nvPr/>
        </p:nvSpPr>
        <p:spPr>
          <a:xfrm flipH="1" rot="-523651">
            <a:off x="4623509" y="24022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cxnSp>
        <p:nvCxnSpPr>
          <p:cNvPr id="441" name="Google Shape;441;p38"/>
          <p:cNvCxnSpPr/>
          <p:nvPr/>
        </p:nvCxnSpPr>
        <p:spPr>
          <a:xfrm flipH="1">
            <a:off x="4669688" y="28778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442" name="Google Shape;442;p38"/>
          <p:cNvSpPr txBox="1"/>
          <p:nvPr/>
        </p:nvSpPr>
        <p:spPr>
          <a:xfrm flipH="1" rot="-523651">
            <a:off x="4656259" y="27497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cxnSp>
        <p:nvCxnSpPr>
          <p:cNvPr id="443" name="Google Shape;443;p38"/>
          <p:cNvCxnSpPr/>
          <p:nvPr/>
        </p:nvCxnSpPr>
        <p:spPr>
          <a:xfrm flipH="1">
            <a:off x="4636938" y="3216137"/>
            <a:ext cx="2814300" cy="437700"/>
          </a:xfrm>
          <a:prstGeom prst="straightConnector1">
            <a:avLst/>
          </a:prstGeom>
          <a:noFill/>
          <a:ln cap="flat" cmpd="sng" w="9525">
            <a:solidFill>
              <a:srgbClr val="000000"/>
            </a:solidFill>
            <a:prstDash val="solid"/>
            <a:round/>
            <a:headEnd len="med" w="med" type="none"/>
            <a:tailEnd len="med" w="med" type="triangle"/>
          </a:ln>
        </p:spPr>
      </p:cxnSp>
      <p:sp>
        <p:nvSpPr>
          <p:cNvPr id="444" name="Google Shape;444;p38"/>
          <p:cNvSpPr txBox="1"/>
          <p:nvPr/>
        </p:nvSpPr>
        <p:spPr>
          <a:xfrm flipH="1" rot="-523651">
            <a:off x="4623509" y="30880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t>
            </a:r>
            <a:r>
              <a:rPr i="1" lang="en"/>
              <a:t>g</a:t>
            </a:r>
            <a:r>
              <a:rPr baseline="30000" i="1" lang="en"/>
              <a:t>a</a:t>
            </a:r>
            <a:r>
              <a:rPr lang="en"/>
              <a:t> mod </a:t>
            </a:r>
            <a:r>
              <a:rPr i="1" lang="en"/>
              <a:t>p</a:t>
            </a:r>
            <a:r>
              <a:rPr lang="en"/>
              <a:t>}</a:t>
            </a:r>
            <a:r>
              <a:rPr i="1" lang="en" sz="1000"/>
              <a:t>K</a:t>
            </a:r>
            <a:r>
              <a:rPr baseline="30000" lang="en" sz="1000"/>
              <a:t>-1</a:t>
            </a:r>
            <a:r>
              <a:rPr lang="en" sz="600"/>
              <a:t>server</a:t>
            </a:r>
            <a:endParaRPr sz="600"/>
          </a:p>
        </p:txBody>
      </p:sp>
      <p:cxnSp>
        <p:nvCxnSpPr>
          <p:cNvPr id="445" name="Google Shape;445;p38"/>
          <p:cNvCxnSpPr/>
          <p:nvPr/>
        </p:nvCxnSpPr>
        <p:spPr>
          <a:xfrm>
            <a:off x="4610788" y="4605888"/>
            <a:ext cx="2879400" cy="437700"/>
          </a:xfrm>
          <a:prstGeom prst="straightConnector1">
            <a:avLst/>
          </a:prstGeom>
          <a:noFill/>
          <a:ln cap="flat" cmpd="sng" w="9525">
            <a:solidFill>
              <a:srgbClr val="000000"/>
            </a:solidFill>
            <a:prstDash val="solid"/>
            <a:round/>
            <a:headEnd len="med" w="med" type="none"/>
            <a:tailEnd len="med" w="med" type="triangle"/>
          </a:ln>
        </p:spPr>
      </p:cxnSp>
      <p:sp>
        <p:nvSpPr>
          <p:cNvPr id="446" name="Google Shape;446;p38"/>
          <p:cNvSpPr txBox="1"/>
          <p:nvPr/>
        </p:nvSpPr>
        <p:spPr>
          <a:xfrm rot="512024">
            <a:off x="4636168" y="447764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a:t>g</a:t>
            </a:r>
            <a:r>
              <a:rPr baseline="30000" i="1" lang="en"/>
              <a:t>b</a:t>
            </a:r>
            <a:r>
              <a:rPr lang="en"/>
              <a:t> mod </a:t>
            </a:r>
            <a:r>
              <a:rPr i="1" lang="en"/>
              <a:t>p</a:t>
            </a:r>
            <a:endParaRPr i="1"/>
          </a:p>
        </p:txBody>
      </p:sp>
      <p:pic>
        <p:nvPicPr>
          <p:cNvPr id="447" name="Google Shape;447;p38"/>
          <p:cNvPicPr preferRelativeResize="0"/>
          <p:nvPr/>
        </p:nvPicPr>
        <p:blipFill rotWithShape="1">
          <a:blip r:embed="rId3">
            <a:alphaModFix/>
          </a:blip>
          <a:srcRect b="65159" l="10446" r="69908" t="13697"/>
          <a:stretch/>
        </p:blipFill>
        <p:spPr>
          <a:xfrm>
            <a:off x="4368669" y="1431824"/>
            <a:ext cx="406651" cy="437699"/>
          </a:xfrm>
          <a:prstGeom prst="rect">
            <a:avLst/>
          </a:prstGeom>
          <a:noFill/>
          <a:ln>
            <a:noFill/>
          </a:ln>
        </p:spPr>
      </p:pic>
      <p:sp>
        <p:nvSpPr>
          <p:cNvPr id="448" name="Google Shape;448;p38"/>
          <p:cNvSpPr txBox="1"/>
          <p:nvPr/>
        </p:nvSpPr>
        <p:spPr>
          <a:xfrm>
            <a:off x="3704699" y="1116350"/>
            <a:ext cx="1734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Man-in-the-middle</a:t>
            </a:r>
            <a:endParaRPr/>
          </a:p>
        </p:txBody>
      </p:sp>
      <p:grpSp>
        <p:nvGrpSpPr>
          <p:cNvPr id="449" name="Google Shape;449;p38"/>
          <p:cNvGrpSpPr/>
          <p:nvPr/>
        </p:nvGrpSpPr>
        <p:grpSpPr>
          <a:xfrm>
            <a:off x="4636538" y="3628825"/>
            <a:ext cx="2814600" cy="936150"/>
            <a:chOff x="4636538" y="3628825"/>
            <a:chExt cx="2814600" cy="936150"/>
          </a:xfrm>
        </p:grpSpPr>
        <p:sp>
          <p:nvSpPr>
            <p:cNvPr id="450" name="Google Shape;450;p38"/>
            <p:cNvSpPr txBox="1"/>
            <p:nvPr/>
          </p:nvSpPr>
          <p:spPr>
            <a:xfrm>
              <a:off x="5520938" y="3628825"/>
              <a:ext cx="19302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MITM cannot derive </a:t>
              </a:r>
              <a:r>
                <a:rPr i="1" lang="en">
                  <a:solidFill>
                    <a:schemeClr val="dk1"/>
                  </a:solidFill>
                </a:rPr>
                <a:t>g</a:t>
              </a:r>
              <a:r>
                <a:rPr baseline="30000" i="1" lang="en">
                  <a:solidFill>
                    <a:schemeClr val="dk1"/>
                  </a:solidFill>
                </a:rPr>
                <a:t>ab</a:t>
              </a:r>
              <a:r>
                <a:rPr lang="en">
                  <a:solidFill>
                    <a:schemeClr val="dk1"/>
                  </a:solidFill>
                </a:rPr>
                <a:t> mod </a:t>
              </a:r>
              <a:r>
                <a:rPr i="1" lang="en">
                  <a:solidFill>
                    <a:schemeClr val="dk1"/>
                  </a:solidFill>
                </a:rPr>
                <a:t>p</a:t>
              </a:r>
              <a:r>
                <a:rPr lang="en"/>
                <a:t> due to the discrete log problem!</a:t>
              </a:r>
              <a:endParaRPr/>
            </a:p>
          </p:txBody>
        </p:sp>
        <p:cxnSp>
          <p:nvCxnSpPr>
            <p:cNvPr id="451" name="Google Shape;451;p38"/>
            <p:cNvCxnSpPr>
              <a:stCxn id="450" idx="1"/>
            </p:cNvCxnSpPr>
            <p:nvPr/>
          </p:nvCxnSpPr>
          <p:spPr>
            <a:xfrm flipH="1">
              <a:off x="4636538" y="4044475"/>
              <a:ext cx="884400" cy="520500"/>
            </a:xfrm>
            <a:prstGeom prst="straightConnector1">
              <a:avLst/>
            </a:prstGeom>
            <a:noFill/>
            <a:ln cap="flat" cmpd="sng" w="9525">
              <a:solidFill>
                <a:srgbClr val="595959"/>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Does Not Provide Anonymity</a:t>
            </a:r>
            <a:endParaRPr/>
          </a:p>
        </p:txBody>
      </p:sp>
      <p:sp>
        <p:nvSpPr>
          <p:cNvPr id="457" name="Google Shape;457;p3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Anonymity</a:t>
            </a:r>
            <a:r>
              <a:rPr lang="en"/>
              <a:t>: Hiding the client’s and server’s identities from attackers</a:t>
            </a:r>
            <a:endParaRPr/>
          </a:p>
          <a:p>
            <a:pPr indent="-342900" lvl="0" marL="457200" rtl="0" algn="l">
              <a:spcBef>
                <a:spcPts val="0"/>
              </a:spcBef>
              <a:spcAft>
                <a:spcPts val="0"/>
              </a:spcAft>
              <a:buSzPts val="1800"/>
              <a:buChar char="●"/>
            </a:pPr>
            <a:r>
              <a:rPr lang="en"/>
              <a:t>An eavesdropper can figure out who is communicating</a:t>
            </a:r>
            <a:endParaRPr/>
          </a:p>
          <a:p>
            <a:pPr indent="-317500" lvl="1" marL="914400" rtl="0" algn="l">
              <a:spcBef>
                <a:spcPts val="0"/>
              </a:spcBef>
              <a:spcAft>
                <a:spcPts val="0"/>
              </a:spcAft>
              <a:buSzPts val="1400"/>
              <a:buChar char="○"/>
            </a:pPr>
            <a:r>
              <a:rPr lang="en"/>
              <a:t>The certificate is sent during the TLS handshake, containing the server’s name</a:t>
            </a:r>
            <a:endParaRPr/>
          </a:p>
          <a:p>
            <a:pPr indent="-317500" lvl="1" marL="914400" rtl="0" algn="l">
              <a:spcBef>
                <a:spcPts val="0"/>
              </a:spcBef>
              <a:spcAft>
                <a:spcPts val="0"/>
              </a:spcAft>
              <a:buSzPts val="1400"/>
              <a:buChar char="○"/>
            </a:pPr>
            <a:r>
              <a:rPr lang="en"/>
              <a:t>The client may also indicate the name of the server in the ClientHello (called Server Name Indication, or SNI)</a:t>
            </a:r>
            <a:endParaRPr/>
          </a:p>
          <a:p>
            <a:pPr indent="-317500" lvl="1" marL="914400" rtl="0" algn="l">
              <a:spcBef>
                <a:spcPts val="0"/>
              </a:spcBef>
              <a:spcAft>
                <a:spcPts val="0"/>
              </a:spcAft>
              <a:buSzPts val="1400"/>
              <a:buChar char="○"/>
            </a:pPr>
            <a:r>
              <a:rPr lang="en"/>
              <a:t>An attacker can see IP addresses and ports of the underlying IP and TCP protocols</a:t>
            </a:r>
            <a:endParaRPr/>
          </a:p>
        </p:txBody>
      </p:sp>
      <p:sp>
        <p:nvSpPr>
          <p:cNvPr id="458" name="Google Shape;45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459" name="Google Shape;459;p39"/>
          <p:cNvGrpSpPr/>
          <p:nvPr/>
        </p:nvGrpSpPr>
        <p:grpSpPr>
          <a:xfrm>
            <a:off x="3005450" y="2965225"/>
            <a:ext cx="2906700" cy="2047200"/>
            <a:chOff x="3005450" y="2965225"/>
            <a:chExt cx="2906700" cy="2047200"/>
          </a:xfrm>
        </p:grpSpPr>
        <p:sp>
          <p:nvSpPr>
            <p:cNvPr id="460" name="Google Shape;460;p39"/>
            <p:cNvSpPr/>
            <p:nvPr/>
          </p:nvSpPr>
          <p:spPr>
            <a:xfrm>
              <a:off x="3005450" y="2965225"/>
              <a:ext cx="2906700" cy="2047200"/>
            </a:xfrm>
            <a:prstGeom prst="rect">
              <a:avLst/>
            </a:prstGeom>
            <a:solidFill>
              <a:srgbClr val="F9CB9C"/>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From: 20:61:84:3a:a9:52</a:t>
              </a:r>
              <a:endParaRPr sz="1000"/>
            </a:p>
            <a:p>
              <a:pPr indent="0" lvl="0" marL="0" rtl="0" algn="l">
                <a:spcBef>
                  <a:spcPts val="0"/>
                </a:spcBef>
                <a:spcAft>
                  <a:spcPts val="0"/>
                </a:spcAft>
                <a:buNone/>
              </a:pPr>
              <a:r>
                <a:rPr lang="en" sz="1000"/>
                <a:t>To: 6d:36:ff:4a:32:92</a:t>
              </a:r>
              <a:endParaRPr sz="1000"/>
            </a:p>
          </p:txBody>
        </p:sp>
        <p:sp>
          <p:nvSpPr>
            <p:cNvPr id="461" name="Google Shape;461;p39"/>
            <p:cNvSpPr/>
            <p:nvPr/>
          </p:nvSpPr>
          <p:spPr>
            <a:xfrm>
              <a:off x="3243708" y="3424302"/>
              <a:ext cx="2455800" cy="1523100"/>
            </a:xfrm>
            <a:prstGeom prst="rect">
              <a:avLst/>
            </a:prstGeom>
            <a:solidFill>
              <a:srgbClr val="FFF2CC"/>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From: 1.2.3.4</a:t>
              </a:r>
              <a:endParaRPr sz="1000"/>
            </a:p>
            <a:p>
              <a:pPr indent="0" lvl="0" marL="0" rtl="0" algn="l">
                <a:spcBef>
                  <a:spcPts val="0"/>
                </a:spcBef>
                <a:spcAft>
                  <a:spcPts val="0"/>
                </a:spcAft>
                <a:buNone/>
              </a:pPr>
              <a:r>
                <a:rPr lang="en" sz="1000"/>
                <a:t>To: 5.6.7.8</a:t>
              </a:r>
              <a:endParaRPr sz="1000"/>
            </a:p>
          </p:txBody>
        </p:sp>
        <p:sp>
          <p:nvSpPr>
            <p:cNvPr id="462" name="Google Shape;462;p39"/>
            <p:cNvSpPr/>
            <p:nvPr/>
          </p:nvSpPr>
          <p:spPr>
            <a:xfrm>
              <a:off x="3436705" y="3888906"/>
              <a:ext cx="2043900" cy="1006500"/>
            </a:xfrm>
            <a:prstGeom prst="rect">
              <a:avLst/>
            </a:prstGeom>
            <a:solidFill>
              <a:srgbClr val="B6D7A8"/>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From: Port 1234</a:t>
              </a:r>
              <a:endParaRPr sz="1000"/>
            </a:p>
            <a:p>
              <a:pPr indent="0" lvl="0" marL="0" rtl="0" algn="l">
                <a:spcBef>
                  <a:spcPts val="0"/>
                </a:spcBef>
                <a:spcAft>
                  <a:spcPts val="0"/>
                </a:spcAft>
                <a:buNone/>
              </a:pPr>
              <a:r>
                <a:rPr lang="en" sz="1000"/>
                <a:t>To: Port 80</a:t>
              </a:r>
              <a:endParaRPr sz="1000"/>
            </a:p>
          </p:txBody>
        </p:sp>
        <p:sp>
          <p:nvSpPr>
            <p:cNvPr id="463" name="Google Shape;463;p39"/>
            <p:cNvSpPr/>
            <p:nvPr/>
          </p:nvSpPr>
          <p:spPr>
            <a:xfrm>
              <a:off x="3629703" y="4353604"/>
              <a:ext cx="1657800" cy="489300"/>
            </a:xfrm>
            <a:prstGeom prst="rect">
              <a:avLst/>
            </a:prstGeom>
            <a:solidFill>
              <a:srgbClr val="A4C2F4"/>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Encrypted TLS message,</a:t>
              </a:r>
              <a:endParaRPr sz="1000"/>
            </a:p>
            <a:p>
              <a:pPr indent="0" lvl="0" marL="0" rtl="0" algn="l">
                <a:spcBef>
                  <a:spcPts val="0"/>
                </a:spcBef>
                <a:spcAft>
                  <a:spcPts val="0"/>
                </a:spcAft>
                <a:buClr>
                  <a:schemeClr val="dk1"/>
                </a:buClr>
                <a:buSzPts val="1100"/>
                <a:buFont typeface="Arial"/>
                <a:buNone/>
              </a:pPr>
              <a:r>
                <a:rPr lang="en" sz="1000">
                  <a:solidFill>
                    <a:schemeClr val="dk1"/>
                  </a:solidFill>
                </a:rPr>
                <a:t>MAC TLS tag</a:t>
              </a:r>
              <a:endParaRPr sz="1000">
                <a:solidFill>
                  <a:schemeClr val="dk1"/>
                </a:solidFill>
              </a:endParaRPr>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grpSp>
      <p:grpSp>
        <p:nvGrpSpPr>
          <p:cNvPr id="464" name="Google Shape;464;p39"/>
          <p:cNvGrpSpPr/>
          <p:nvPr/>
        </p:nvGrpSpPr>
        <p:grpSpPr>
          <a:xfrm>
            <a:off x="5287651" y="4047625"/>
            <a:ext cx="3431450" cy="615600"/>
            <a:chOff x="5156704" y="3921700"/>
            <a:chExt cx="2980500" cy="615600"/>
          </a:xfrm>
        </p:grpSpPr>
        <p:sp>
          <p:nvSpPr>
            <p:cNvPr id="465" name="Google Shape;465;p39"/>
            <p:cNvSpPr txBox="1"/>
            <p:nvPr/>
          </p:nvSpPr>
          <p:spPr>
            <a:xfrm>
              <a:off x="5951704" y="3921700"/>
              <a:ext cx="2185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Information here is confidential!</a:t>
              </a:r>
              <a:endParaRPr/>
            </a:p>
          </p:txBody>
        </p:sp>
        <p:cxnSp>
          <p:nvCxnSpPr>
            <p:cNvPr id="466" name="Google Shape;466;p39"/>
            <p:cNvCxnSpPr>
              <a:stCxn id="465" idx="1"/>
              <a:endCxn id="463" idx="3"/>
            </p:cNvCxnSpPr>
            <p:nvPr/>
          </p:nvCxnSpPr>
          <p:spPr>
            <a:xfrm flipH="1">
              <a:off x="5156704" y="4229500"/>
              <a:ext cx="795000" cy="242700"/>
            </a:xfrm>
            <a:prstGeom prst="straightConnector1">
              <a:avLst/>
            </a:prstGeom>
            <a:noFill/>
            <a:ln cap="flat" cmpd="sng" w="9525">
              <a:solidFill>
                <a:srgbClr val="595959"/>
              </a:solidFill>
              <a:prstDash val="solid"/>
              <a:round/>
              <a:headEnd len="med" w="med" type="none"/>
              <a:tailEnd len="med" w="med" type="triangle"/>
            </a:ln>
          </p:spPr>
        </p:cxnSp>
      </p:grpSp>
      <p:grpSp>
        <p:nvGrpSpPr>
          <p:cNvPr id="467" name="Google Shape;467;p39"/>
          <p:cNvGrpSpPr/>
          <p:nvPr/>
        </p:nvGrpSpPr>
        <p:grpSpPr>
          <a:xfrm>
            <a:off x="4534356" y="3025375"/>
            <a:ext cx="4184745" cy="1084500"/>
            <a:chOff x="4534356" y="3025375"/>
            <a:chExt cx="4184745" cy="1084500"/>
          </a:xfrm>
        </p:grpSpPr>
        <p:grpSp>
          <p:nvGrpSpPr>
            <p:cNvPr id="468" name="Google Shape;468;p39"/>
            <p:cNvGrpSpPr/>
            <p:nvPr/>
          </p:nvGrpSpPr>
          <p:grpSpPr>
            <a:xfrm>
              <a:off x="4534356" y="3025375"/>
              <a:ext cx="4184745" cy="690000"/>
              <a:chOff x="4415546" y="2479550"/>
              <a:chExt cx="3634800" cy="690000"/>
            </a:xfrm>
          </p:grpSpPr>
          <p:sp>
            <p:nvSpPr>
              <p:cNvPr id="469" name="Google Shape;469;p39"/>
              <p:cNvSpPr txBox="1"/>
              <p:nvPr/>
            </p:nvSpPr>
            <p:spPr>
              <a:xfrm>
                <a:off x="5864846" y="2479550"/>
                <a:ext cx="2185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Information here is not confidential!</a:t>
                </a:r>
                <a:endParaRPr/>
              </a:p>
            </p:txBody>
          </p:sp>
          <p:cxnSp>
            <p:nvCxnSpPr>
              <p:cNvPr id="470" name="Google Shape;470;p39"/>
              <p:cNvCxnSpPr>
                <a:stCxn id="469" idx="1"/>
              </p:cNvCxnSpPr>
              <p:nvPr/>
            </p:nvCxnSpPr>
            <p:spPr>
              <a:xfrm flipH="1">
                <a:off x="4415546" y="2787350"/>
                <a:ext cx="1449300" cy="382200"/>
              </a:xfrm>
              <a:prstGeom prst="straightConnector1">
                <a:avLst/>
              </a:prstGeom>
              <a:noFill/>
              <a:ln cap="flat" cmpd="sng" w="9525">
                <a:solidFill>
                  <a:srgbClr val="595959"/>
                </a:solidFill>
                <a:prstDash val="solid"/>
                <a:round/>
                <a:headEnd len="med" w="med" type="none"/>
                <a:tailEnd len="med" w="med" type="triangle"/>
              </a:ln>
            </p:spPr>
          </p:cxnSp>
        </p:grpSp>
        <p:cxnSp>
          <p:nvCxnSpPr>
            <p:cNvPr id="471" name="Google Shape;471;p39"/>
            <p:cNvCxnSpPr>
              <a:stCxn id="469" idx="1"/>
            </p:cNvCxnSpPr>
            <p:nvPr/>
          </p:nvCxnSpPr>
          <p:spPr>
            <a:xfrm rot="10800000">
              <a:off x="4572135" y="3253375"/>
              <a:ext cx="1630800" cy="79800"/>
            </a:xfrm>
            <a:prstGeom prst="straightConnector1">
              <a:avLst/>
            </a:prstGeom>
            <a:noFill/>
            <a:ln cap="flat" cmpd="sng" w="9525">
              <a:solidFill>
                <a:srgbClr val="595959"/>
              </a:solidFill>
              <a:prstDash val="solid"/>
              <a:round/>
              <a:headEnd len="med" w="med" type="none"/>
              <a:tailEnd len="med" w="med" type="triangle"/>
            </a:ln>
          </p:spPr>
        </p:cxnSp>
        <p:cxnSp>
          <p:nvCxnSpPr>
            <p:cNvPr id="472" name="Google Shape;472;p39"/>
            <p:cNvCxnSpPr>
              <a:stCxn id="469" idx="1"/>
            </p:cNvCxnSpPr>
            <p:nvPr/>
          </p:nvCxnSpPr>
          <p:spPr>
            <a:xfrm flipH="1">
              <a:off x="4779735" y="3333175"/>
              <a:ext cx="1423200" cy="776700"/>
            </a:xfrm>
            <a:prstGeom prst="straightConnector1">
              <a:avLst/>
            </a:prstGeom>
            <a:noFill/>
            <a:ln cap="flat" cmpd="sng" w="9525">
              <a:solidFill>
                <a:srgbClr val="595959"/>
              </a:solidFill>
              <a:prstDash val="solid"/>
              <a:round/>
              <a:headEnd len="med" w="med" type="none"/>
              <a:tailEnd len="med" w="med" type="triangle"/>
            </a:ln>
          </p:spPr>
        </p:cxn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Does Not Provide Availability</a:t>
            </a:r>
            <a:endParaRPr/>
          </a:p>
        </p:txBody>
      </p:sp>
      <p:sp>
        <p:nvSpPr>
          <p:cNvPr id="478" name="Google Shape;478;p4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Availability</a:t>
            </a:r>
            <a:r>
              <a:rPr lang="en"/>
              <a:t>: Keeping the connection open in the face of attackers</a:t>
            </a:r>
            <a:endParaRPr/>
          </a:p>
          <a:p>
            <a:pPr indent="-342900" lvl="0" marL="457200" rtl="0" algn="l">
              <a:spcBef>
                <a:spcPts val="0"/>
              </a:spcBef>
              <a:spcAft>
                <a:spcPts val="0"/>
              </a:spcAft>
              <a:buSzPts val="1800"/>
              <a:buChar char="●"/>
            </a:pPr>
            <a:r>
              <a:rPr lang="en"/>
              <a:t>An attacker can stop a TLS connection</a:t>
            </a:r>
            <a:endParaRPr/>
          </a:p>
          <a:p>
            <a:pPr indent="-317500" lvl="1" marL="914400" rtl="0" algn="l">
              <a:spcBef>
                <a:spcPts val="0"/>
              </a:spcBef>
              <a:spcAft>
                <a:spcPts val="0"/>
              </a:spcAft>
              <a:buSzPts val="1400"/>
              <a:buChar char="○"/>
            </a:pPr>
            <a:r>
              <a:rPr lang="en"/>
              <a:t>MITM can drop encrypted TLS packets</a:t>
            </a:r>
            <a:endParaRPr/>
          </a:p>
          <a:p>
            <a:pPr indent="-317500" lvl="1" marL="914400" rtl="0" algn="l">
              <a:spcBef>
                <a:spcPts val="0"/>
              </a:spcBef>
              <a:spcAft>
                <a:spcPts val="0"/>
              </a:spcAft>
              <a:buSzPts val="1400"/>
              <a:buChar char="○"/>
            </a:pPr>
            <a:r>
              <a:rPr lang="en"/>
              <a:t>On-path attacker can still do RST injection to abort the underlying TCP connection</a:t>
            </a:r>
            <a:endParaRPr/>
          </a:p>
          <a:p>
            <a:pPr indent="-342900" lvl="0" marL="457200" rtl="0" algn="l">
              <a:spcBef>
                <a:spcPts val="0"/>
              </a:spcBef>
              <a:spcAft>
                <a:spcPts val="0"/>
              </a:spcAft>
              <a:buSzPts val="1800"/>
              <a:buChar char="●"/>
            </a:pPr>
            <a:r>
              <a:rPr lang="en"/>
              <a:t>Result: A TLS connection can still be censored</a:t>
            </a:r>
            <a:endParaRPr/>
          </a:p>
          <a:p>
            <a:pPr indent="-317500" lvl="1" marL="914400" rtl="0" algn="l">
              <a:spcBef>
                <a:spcPts val="0"/>
              </a:spcBef>
              <a:spcAft>
                <a:spcPts val="0"/>
              </a:spcAft>
              <a:buSzPts val="1400"/>
              <a:buChar char="○"/>
            </a:pPr>
            <a:r>
              <a:rPr lang="en"/>
              <a:t>The censor can block TLS connections</a:t>
            </a:r>
            <a:endParaRPr/>
          </a:p>
        </p:txBody>
      </p:sp>
      <p:sp>
        <p:nvSpPr>
          <p:cNvPr id="479" name="Google Shape;47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480" name="Google Shape;480;p40"/>
          <p:cNvGrpSpPr/>
          <p:nvPr/>
        </p:nvGrpSpPr>
        <p:grpSpPr>
          <a:xfrm>
            <a:off x="3353343" y="3387822"/>
            <a:ext cx="2283973" cy="1036636"/>
            <a:chOff x="6297374" y="4077249"/>
            <a:chExt cx="1436100" cy="1069800"/>
          </a:xfrm>
        </p:grpSpPr>
        <p:sp>
          <p:nvSpPr>
            <p:cNvPr id="481" name="Google Shape;481;p40"/>
            <p:cNvSpPr/>
            <p:nvPr/>
          </p:nvSpPr>
          <p:spPr>
            <a:xfrm>
              <a:off x="6297374" y="4077249"/>
              <a:ext cx="1436100" cy="1069800"/>
            </a:xfrm>
            <a:prstGeom prst="rect">
              <a:avLst/>
            </a:prstGeom>
            <a:solidFill>
              <a:srgbClr val="B6D7A8"/>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From: Port 1234</a:t>
              </a:r>
              <a:endParaRPr sz="1000"/>
            </a:p>
            <a:p>
              <a:pPr indent="0" lvl="0" marL="0" rtl="0" algn="l">
                <a:spcBef>
                  <a:spcPts val="0"/>
                </a:spcBef>
                <a:spcAft>
                  <a:spcPts val="0"/>
                </a:spcAft>
                <a:buNone/>
              </a:pPr>
              <a:r>
                <a:rPr lang="en" sz="1000"/>
                <a:t>To: Port 80</a:t>
              </a:r>
              <a:endParaRPr sz="1000"/>
            </a:p>
          </p:txBody>
        </p:sp>
        <p:sp>
          <p:nvSpPr>
            <p:cNvPr id="482" name="Google Shape;482;p40"/>
            <p:cNvSpPr/>
            <p:nvPr/>
          </p:nvSpPr>
          <p:spPr>
            <a:xfrm>
              <a:off x="6432981" y="4586941"/>
              <a:ext cx="1164900" cy="465600"/>
            </a:xfrm>
            <a:prstGeom prst="rect">
              <a:avLst/>
            </a:prstGeom>
            <a:solidFill>
              <a:srgbClr val="A4C2F4"/>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Encrypted TLS message,</a:t>
              </a:r>
              <a:endParaRPr sz="1000"/>
            </a:p>
            <a:p>
              <a:pPr indent="0" lvl="0" marL="0" rtl="0" algn="l">
                <a:spcBef>
                  <a:spcPts val="0"/>
                </a:spcBef>
                <a:spcAft>
                  <a:spcPts val="0"/>
                </a:spcAft>
                <a:buNone/>
              </a:pPr>
              <a:r>
                <a:rPr lang="en" sz="1000"/>
                <a:t>MAC TLS tag</a:t>
              </a:r>
              <a:endParaRPr sz="1000"/>
            </a:p>
          </p:txBody>
        </p:sp>
      </p:grpSp>
      <p:grpSp>
        <p:nvGrpSpPr>
          <p:cNvPr id="483" name="Google Shape;483;p40"/>
          <p:cNvGrpSpPr/>
          <p:nvPr/>
        </p:nvGrpSpPr>
        <p:grpSpPr>
          <a:xfrm>
            <a:off x="1239449" y="3495538"/>
            <a:ext cx="2329500" cy="1077750"/>
            <a:chOff x="964962" y="3412050"/>
            <a:chExt cx="2329500" cy="1077750"/>
          </a:xfrm>
        </p:grpSpPr>
        <p:sp>
          <p:nvSpPr>
            <p:cNvPr id="484" name="Google Shape;484;p40"/>
            <p:cNvSpPr/>
            <p:nvPr/>
          </p:nvSpPr>
          <p:spPr>
            <a:xfrm>
              <a:off x="964962" y="4059000"/>
              <a:ext cx="1335300" cy="430800"/>
            </a:xfrm>
            <a:prstGeom prst="rect">
              <a:avLst/>
            </a:prstGeom>
            <a:solidFill>
              <a:srgbClr val="A4C2F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Encrypted TLS Information</a:t>
              </a:r>
              <a:endParaRPr sz="1200"/>
            </a:p>
          </p:txBody>
        </p:sp>
        <p:sp>
          <p:nvSpPr>
            <p:cNvPr id="485" name="Google Shape;485;p40"/>
            <p:cNvSpPr/>
            <p:nvPr/>
          </p:nvSpPr>
          <p:spPr>
            <a:xfrm>
              <a:off x="964963" y="3412050"/>
              <a:ext cx="1335300" cy="430800"/>
            </a:xfrm>
            <a:prstGeom prst="rect">
              <a:avLst/>
            </a:prstGeom>
            <a:solidFill>
              <a:srgbClr val="B6D7A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Layer 4: TCP</a:t>
              </a:r>
              <a:endParaRPr sz="1200"/>
            </a:p>
          </p:txBody>
        </p:sp>
        <p:cxnSp>
          <p:nvCxnSpPr>
            <p:cNvPr id="486" name="Google Shape;486;p40"/>
            <p:cNvCxnSpPr>
              <a:stCxn id="485" idx="3"/>
              <a:endCxn id="481" idx="1"/>
            </p:cNvCxnSpPr>
            <p:nvPr/>
          </p:nvCxnSpPr>
          <p:spPr>
            <a:xfrm>
              <a:off x="2300263" y="3627450"/>
              <a:ext cx="778500" cy="195300"/>
            </a:xfrm>
            <a:prstGeom prst="straightConnector1">
              <a:avLst/>
            </a:prstGeom>
            <a:noFill/>
            <a:ln cap="flat" cmpd="sng" w="9525">
              <a:solidFill>
                <a:srgbClr val="595959"/>
              </a:solidFill>
              <a:prstDash val="solid"/>
              <a:round/>
              <a:headEnd len="med" w="med" type="none"/>
              <a:tailEnd len="med" w="med" type="triangle"/>
            </a:ln>
          </p:spPr>
        </p:cxnSp>
        <p:cxnSp>
          <p:nvCxnSpPr>
            <p:cNvPr id="487" name="Google Shape;487;p40"/>
            <p:cNvCxnSpPr>
              <a:stCxn id="484" idx="3"/>
              <a:endCxn id="482" idx="1"/>
            </p:cNvCxnSpPr>
            <p:nvPr/>
          </p:nvCxnSpPr>
          <p:spPr>
            <a:xfrm flipH="1" rot="10800000">
              <a:off x="2300262" y="4023900"/>
              <a:ext cx="994200" cy="250500"/>
            </a:xfrm>
            <a:prstGeom prst="straightConnector1">
              <a:avLst/>
            </a:prstGeom>
            <a:noFill/>
            <a:ln cap="flat" cmpd="sng" w="9525">
              <a:solidFill>
                <a:srgbClr val="595959"/>
              </a:solidFill>
              <a:prstDash val="solid"/>
              <a:round/>
              <a:headEnd len="med" w="med" type="none"/>
              <a:tailEnd len="med" w="med" type="triangle"/>
            </a:ln>
          </p:spPr>
        </p:cxnSp>
      </p:grpSp>
      <p:grpSp>
        <p:nvGrpSpPr>
          <p:cNvPr id="488" name="Google Shape;488;p40"/>
          <p:cNvGrpSpPr/>
          <p:nvPr/>
        </p:nvGrpSpPr>
        <p:grpSpPr>
          <a:xfrm>
            <a:off x="4901505" y="4179825"/>
            <a:ext cx="3817596" cy="660000"/>
            <a:chOff x="4821304" y="4053900"/>
            <a:chExt cx="3315900" cy="660000"/>
          </a:xfrm>
        </p:grpSpPr>
        <p:sp>
          <p:nvSpPr>
            <p:cNvPr id="489" name="Google Shape;489;p40"/>
            <p:cNvSpPr txBox="1"/>
            <p:nvPr/>
          </p:nvSpPr>
          <p:spPr>
            <a:xfrm>
              <a:off x="5951704" y="4313700"/>
              <a:ext cx="21855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Information here is secure!</a:t>
              </a:r>
              <a:endParaRPr/>
            </a:p>
          </p:txBody>
        </p:sp>
        <p:cxnSp>
          <p:nvCxnSpPr>
            <p:cNvPr id="490" name="Google Shape;490;p40"/>
            <p:cNvCxnSpPr>
              <a:stCxn id="489" idx="1"/>
            </p:cNvCxnSpPr>
            <p:nvPr/>
          </p:nvCxnSpPr>
          <p:spPr>
            <a:xfrm rot="10800000">
              <a:off x="4821304" y="4053900"/>
              <a:ext cx="1130400" cy="459900"/>
            </a:xfrm>
            <a:prstGeom prst="straightConnector1">
              <a:avLst/>
            </a:prstGeom>
            <a:noFill/>
            <a:ln cap="flat" cmpd="sng" w="9525">
              <a:solidFill>
                <a:srgbClr val="595959"/>
              </a:solidFill>
              <a:prstDash val="solid"/>
              <a:round/>
              <a:headEnd len="med" w="med" type="none"/>
              <a:tailEnd len="med" w="med" type="triangle"/>
            </a:ln>
          </p:spPr>
        </p:cxnSp>
      </p:grpSp>
      <p:grpSp>
        <p:nvGrpSpPr>
          <p:cNvPr id="491" name="Google Shape;491;p40"/>
          <p:cNvGrpSpPr/>
          <p:nvPr/>
        </p:nvGrpSpPr>
        <p:grpSpPr>
          <a:xfrm>
            <a:off x="4479439" y="2631950"/>
            <a:ext cx="4239662" cy="909000"/>
            <a:chOff x="4367846" y="2479550"/>
            <a:chExt cx="3682500" cy="909000"/>
          </a:xfrm>
        </p:grpSpPr>
        <p:sp>
          <p:nvSpPr>
            <p:cNvPr id="492" name="Google Shape;492;p40"/>
            <p:cNvSpPr txBox="1"/>
            <p:nvPr/>
          </p:nvSpPr>
          <p:spPr>
            <a:xfrm>
              <a:off x="5864846" y="2479550"/>
              <a:ext cx="2185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Information here is not secure (no cryptography)!</a:t>
              </a:r>
              <a:endParaRPr/>
            </a:p>
          </p:txBody>
        </p:sp>
        <p:cxnSp>
          <p:nvCxnSpPr>
            <p:cNvPr id="493" name="Google Shape;493;p40"/>
            <p:cNvCxnSpPr>
              <a:stCxn id="492" idx="1"/>
            </p:cNvCxnSpPr>
            <p:nvPr/>
          </p:nvCxnSpPr>
          <p:spPr>
            <a:xfrm flipH="1">
              <a:off x="4367846" y="2787350"/>
              <a:ext cx="1497000" cy="601200"/>
            </a:xfrm>
            <a:prstGeom prst="straightConnector1">
              <a:avLst/>
            </a:prstGeom>
            <a:noFill/>
            <a:ln cap="flat" cmpd="sng" w="9525">
              <a:solidFill>
                <a:srgbClr val="595959"/>
              </a:solidFill>
              <a:prstDash val="solid"/>
              <a:round/>
              <a:headEnd len="med" w="med" type="none"/>
              <a:tailEnd len="med" w="med" type="triangle"/>
            </a:ln>
          </p:spPr>
        </p:cxnSp>
      </p:grpSp>
      <p:grpSp>
        <p:nvGrpSpPr>
          <p:cNvPr id="494" name="Google Shape;494;p40"/>
          <p:cNvGrpSpPr/>
          <p:nvPr/>
        </p:nvGrpSpPr>
        <p:grpSpPr>
          <a:xfrm>
            <a:off x="4438063" y="3345438"/>
            <a:ext cx="3095700" cy="947550"/>
            <a:chOff x="5376738" y="3227338"/>
            <a:chExt cx="3095700" cy="947550"/>
          </a:xfrm>
        </p:grpSpPr>
        <p:sp>
          <p:nvSpPr>
            <p:cNvPr id="495" name="Google Shape;495;p40"/>
            <p:cNvSpPr/>
            <p:nvPr/>
          </p:nvSpPr>
          <p:spPr>
            <a:xfrm>
              <a:off x="7137138" y="3227338"/>
              <a:ext cx="1335300" cy="430800"/>
            </a:xfrm>
            <a:prstGeom prst="rect">
              <a:avLst/>
            </a:prstGeom>
            <a:solidFill>
              <a:srgbClr val="B6D7A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TCP header</a:t>
              </a:r>
              <a:endParaRPr sz="1200"/>
            </a:p>
          </p:txBody>
        </p:sp>
        <p:cxnSp>
          <p:nvCxnSpPr>
            <p:cNvPr id="496" name="Google Shape;496;p40"/>
            <p:cNvCxnSpPr>
              <a:endCxn id="495" idx="1"/>
            </p:cNvCxnSpPr>
            <p:nvPr/>
          </p:nvCxnSpPr>
          <p:spPr>
            <a:xfrm flipH="1" rot="10800000">
              <a:off x="5376738" y="3442738"/>
              <a:ext cx="1760400" cy="104100"/>
            </a:xfrm>
            <a:prstGeom prst="straightConnector1">
              <a:avLst/>
            </a:prstGeom>
            <a:noFill/>
            <a:ln cap="flat" cmpd="sng" w="9525">
              <a:solidFill>
                <a:schemeClr val="dk2"/>
              </a:solidFill>
              <a:prstDash val="solid"/>
              <a:round/>
              <a:headEnd len="med" w="med" type="none"/>
              <a:tailEnd len="med" w="med" type="triangle"/>
            </a:ln>
          </p:spPr>
        </p:cxnSp>
        <p:sp>
          <p:nvSpPr>
            <p:cNvPr id="497" name="Google Shape;497;p40"/>
            <p:cNvSpPr/>
            <p:nvPr/>
          </p:nvSpPr>
          <p:spPr>
            <a:xfrm>
              <a:off x="7137138" y="3744088"/>
              <a:ext cx="1335300" cy="430800"/>
            </a:xfrm>
            <a:prstGeom prst="rect">
              <a:avLst/>
            </a:prstGeom>
            <a:solidFill>
              <a:srgbClr val="B6D7A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TCP data</a:t>
              </a:r>
              <a:endParaRPr sz="1200"/>
            </a:p>
          </p:txBody>
        </p:sp>
        <p:cxnSp>
          <p:nvCxnSpPr>
            <p:cNvPr id="498" name="Google Shape;498;p40"/>
            <p:cNvCxnSpPr>
              <a:endCxn id="497" idx="1"/>
            </p:cNvCxnSpPr>
            <p:nvPr/>
          </p:nvCxnSpPr>
          <p:spPr>
            <a:xfrm flipH="1" rot="10800000">
              <a:off x="6177438" y="3959488"/>
              <a:ext cx="959700" cy="567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for Applications</a:t>
            </a:r>
            <a:endParaRPr/>
          </a:p>
        </p:txBody>
      </p:sp>
      <p:sp>
        <p:nvSpPr>
          <p:cNvPr id="504" name="Google Shape;504;p4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Layering: TLS provides services to higher layers (the application layer)</a:t>
            </a:r>
            <a:endParaRPr/>
          </a:p>
          <a:p>
            <a:pPr indent="-342900" lvl="0" marL="457200" rtl="0" algn="l">
              <a:spcBef>
                <a:spcPts val="0"/>
              </a:spcBef>
              <a:spcAft>
                <a:spcPts val="0"/>
              </a:spcAft>
              <a:buSzPts val="1800"/>
              <a:buChar char="●"/>
            </a:pPr>
            <a:r>
              <a:rPr b="1" lang="en"/>
              <a:t>HTTPS</a:t>
            </a:r>
            <a:r>
              <a:rPr lang="en"/>
              <a:t>: The HTTP protocol run over TLS</a:t>
            </a:r>
            <a:endParaRPr/>
          </a:p>
          <a:p>
            <a:pPr indent="-317500" lvl="1" marL="914400" rtl="0" algn="l">
              <a:spcBef>
                <a:spcPts val="0"/>
              </a:spcBef>
              <a:spcAft>
                <a:spcPts val="0"/>
              </a:spcAft>
              <a:buSzPts val="1400"/>
              <a:buChar char="○"/>
            </a:pPr>
            <a:r>
              <a:rPr lang="en"/>
              <a:t>In contrast, HTTP runs over plain TCP, with no TLS added</a:t>
            </a:r>
            <a:endParaRPr/>
          </a:p>
          <a:p>
            <a:pPr indent="-342900" lvl="0" marL="457200" rtl="0" algn="l">
              <a:spcBef>
                <a:spcPts val="0"/>
              </a:spcBef>
              <a:spcAft>
                <a:spcPts val="0"/>
              </a:spcAft>
              <a:buSzPts val="1800"/>
              <a:buChar char="●"/>
            </a:pPr>
            <a:r>
              <a:rPr lang="en"/>
              <a:t>Other secure application-layer protocols besides HTTPS exist</a:t>
            </a:r>
            <a:endParaRPr/>
          </a:p>
          <a:p>
            <a:pPr indent="-317500" lvl="1" marL="914400" rtl="0" algn="l">
              <a:spcBef>
                <a:spcPts val="0"/>
              </a:spcBef>
              <a:spcAft>
                <a:spcPts val="0"/>
              </a:spcAft>
              <a:buSzPts val="1400"/>
              <a:buChar char="○"/>
            </a:pPr>
            <a:r>
              <a:rPr lang="en"/>
              <a:t>Pretty much anything that runs over TCP can also run over TLS, since the bytestream abstraction is maintained</a:t>
            </a:r>
            <a:endParaRPr/>
          </a:p>
          <a:p>
            <a:pPr indent="-317500" lvl="1" marL="914400" rtl="0" algn="l">
              <a:spcBef>
                <a:spcPts val="0"/>
              </a:spcBef>
              <a:spcAft>
                <a:spcPts val="0"/>
              </a:spcAft>
              <a:buSzPts val="1400"/>
              <a:buChar char="○"/>
            </a:pPr>
            <a:r>
              <a:rPr lang="en"/>
              <a:t>Example: Email protocol can use the STARTTLS command to uses TLS to secure communications</a:t>
            </a:r>
            <a:endParaRPr/>
          </a:p>
          <a:p>
            <a:pPr indent="-342900" lvl="0" marL="457200" rtl="0" algn="l">
              <a:spcBef>
                <a:spcPts val="0"/>
              </a:spcBef>
              <a:spcAft>
                <a:spcPts val="0"/>
              </a:spcAft>
              <a:buSzPts val="1800"/>
              <a:buChar char="●"/>
            </a:pPr>
            <a:r>
              <a:rPr lang="en"/>
              <a:t>TLS does not defend against application-layer vulnerabilities</a:t>
            </a:r>
            <a:endParaRPr/>
          </a:p>
          <a:p>
            <a:pPr indent="-317500" lvl="1" marL="914400" rtl="0" algn="l">
              <a:spcBef>
                <a:spcPts val="0"/>
              </a:spcBef>
              <a:spcAft>
                <a:spcPts val="0"/>
              </a:spcAft>
              <a:buSzPts val="1400"/>
              <a:buChar char="○"/>
            </a:pPr>
            <a:r>
              <a:rPr lang="en"/>
              <a:t>Example: SQL injection, XSS, CSRF, and buffer overflow vulnerabilities in the application are still exploitable over TLS</a:t>
            </a:r>
            <a:endParaRPr/>
          </a:p>
        </p:txBody>
      </p:sp>
      <p:sp>
        <p:nvSpPr>
          <p:cNvPr id="505" name="Google Shape;50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SSL Stripping Attacks</a:t>
            </a:r>
            <a:endParaRPr/>
          </a:p>
        </p:txBody>
      </p:sp>
      <p:sp>
        <p:nvSpPr>
          <p:cNvPr id="511" name="Google Shape;511;p4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Browsers sometimes default to using unencrypted HTTP</a:t>
            </a:r>
            <a:endParaRPr/>
          </a:p>
          <a:p>
            <a:pPr indent="-317500" lvl="1" marL="914400" rtl="0" algn="l">
              <a:spcBef>
                <a:spcPts val="0"/>
              </a:spcBef>
              <a:spcAft>
                <a:spcPts val="0"/>
              </a:spcAft>
              <a:buSzPts val="1400"/>
              <a:buChar char="○"/>
            </a:pPr>
            <a:r>
              <a:rPr lang="en"/>
              <a:t>If a user types </a:t>
            </a:r>
            <a:r>
              <a:rPr b="1" lang="en">
                <a:latin typeface="Courier New"/>
                <a:ea typeface="Courier New"/>
                <a:cs typeface="Courier New"/>
                <a:sym typeface="Courier New"/>
              </a:rPr>
              <a:t>google.com</a:t>
            </a:r>
            <a:r>
              <a:rPr lang="en"/>
              <a:t> into the browser, the browser opens </a:t>
            </a:r>
            <a:r>
              <a:rPr b="1" lang="en">
                <a:latin typeface="Courier New"/>
                <a:ea typeface="Courier New"/>
                <a:cs typeface="Courier New"/>
                <a:sym typeface="Courier New"/>
              </a:rPr>
              <a:t>http://www.google.com</a:t>
            </a:r>
            <a:endParaRPr/>
          </a:p>
          <a:p>
            <a:pPr indent="-317500" lvl="1" marL="914400" rtl="0" algn="l">
              <a:spcBef>
                <a:spcPts val="0"/>
              </a:spcBef>
              <a:spcAft>
                <a:spcPts val="0"/>
              </a:spcAft>
              <a:buSzPts val="1400"/>
              <a:buChar char="○"/>
            </a:pPr>
            <a:r>
              <a:rPr lang="en"/>
              <a:t>To mitigate this, websites will often redirect from the HTTP to the HTTPS version of its site</a:t>
            </a:r>
            <a:endParaRPr/>
          </a:p>
          <a:p>
            <a:pPr indent="-317500" lvl="1" marL="914400" rtl="0" algn="l">
              <a:spcBef>
                <a:spcPts val="0"/>
              </a:spcBef>
              <a:spcAft>
                <a:spcPts val="0"/>
              </a:spcAft>
              <a:buSzPts val="1400"/>
              <a:buChar char="○"/>
            </a:pPr>
            <a:r>
              <a:rPr b="1" lang="en"/>
              <a:t>This requires the client to first </a:t>
            </a:r>
            <a:r>
              <a:rPr b="1" lang="en"/>
              <a:t>receive</a:t>
            </a:r>
            <a:r>
              <a:rPr b="1" lang="en"/>
              <a:t> the unprotected HTTP redirect response</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b="1" lang="en"/>
              <a:t>SSL stripping</a:t>
            </a:r>
            <a:r>
              <a:rPr lang="en"/>
              <a:t>: Forcing a user to use unencrypted HTTP instead of HTTPS</a:t>
            </a:r>
            <a:endParaRPr/>
          </a:p>
          <a:p>
            <a:pPr indent="-317500" lvl="1" marL="914400" rtl="0" algn="l">
              <a:spcBef>
                <a:spcPts val="0"/>
              </a:spcBef>
              <a:spcAft>
                <a:spcPts val="0"/>
              </a:spcAft>
              <a:buSzPts val="1400"/>
              <a:buChar char="○"/>
            </a:pPr>
            <a:r>
              <a:rPr lang="en"/>
              <a:t>A MITM attacker intercepts the first HTTP request and creates their own HTTPS connection to the server</a:t>
            </a:r>
            <a:endParaRPr/>
          </a:p>
          <a:p>
            <a:pPr indent="-317500" lvl="1" marL="914400" rtl="0" algn="l">
              <a:spcBef>
                <a:spcPts val="0"/>
              </a:spcBef>
              <a:spcAft>
                <a:spcPts val="0"/>
              </a:spcAft>
              <a:buSzPts val="1400"/>
              <a:buChar char="○"/>
            </a:pPr>
            <a:r>
              <a:rPr lang="en"/>
              <a:t>The user never receives a redirect to HTTPS, so it believes the site wants them to use HTTP</a:t>
            </a:r>
            <a:endParaRPr/>
          </a:p>
          <a:p>
            <a:pPr indent="-317500" lvl="1" marL="914400" rtl="0" algn="l">
              <a:spcBef>
                <a:spcPts val="0"/>
              </a:spcBef>
              <a:spcAft>
                <a:spcPts val="0"/>
              </a:spcAft>
              <a:buSzPts val="1400"/>
              <a:buChar char="○"/>
            </a:pPr>
            <a:r>
              <a:rPr lang="en"/>
              <a:t>Defense: HTTP Strict-Transport-Security (HSTS) header tells browsers to only access the server with HTTPS</a:t>
            </a:r>
            <a:endParaRPr b="1"/>
          </a:p>
        </p:txBody>
      </p:sp>
      <p:sp>
        <p:nvSpPr>
          <p:cNvPr id="512" name="Google Shape;51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3" name="Google Shape;513;p42"/>
          <p:cNvSpPr/>
          <p:nvPr/>
        </p:nvSpPr>
        <p:spPr>
          <a:xfrm>
            <a:off x="777800" y="4355375"/>
            <a:ext cx="1086900" cy="49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a:t>
            </a:r>
            <a:endParaRPr/>
          </a:p>
        </p:txBody>
      </p:sp>
      <p:sp>
        <p:nvSpPr>
          <p:cNvPr id="514" name="Google Shape;514;p42"/>
          <p:cNvSpPr/>
          <p:nvPr/>
        </p:nvSpPr>
        <p:spPr>
          <a:xfrm>
            <a:off x="3672400" y="4355375"/>
            <a:ext cx="1086900" cy="49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Attacker</a:t>
            </a:r>
            <a:endParaRPr/>
          </a:p>
        </p:txBody>
      </p:sp>
      <p:sp>
        <p:nvSpPr>
          <p:cNvPr id="515" name="Google Shape;515;p42"/>
          <p:cNvSpPr/>
          <p:nvPr/>
        </p:nvSpPr>
        <p:spPr>
          <a:xfrm>
            <a:off x="6567000" y="4355375"/>
            <a:ext cx="1086900" cy="49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Server</a:t>
            </a:r>
            <a:endParaRPr/>
          </a:p>
        </p:txBody>
      </p:sp>
      <p:cxnSp>
        <p:nvCxnSpPr>
          <p:cNvPr id="516" name="Google Shape;516;p42"/>
          <p:cNvCxnSpPr>
            <a:stCxn id="513" idx="3"/>
            <a:endCxn id="514" idx="1"/>
          </p:cNvCxnSpPr>
          <p:nvPr/>
        </p:nvCxnSpPr>
        <p:spPr>
          <a:xfrm>
            <a:off x="1864700" y="4604675"/>
            <a:ext cx="1807800" cy="0"/>
          </a:xfrm>
          <a:prstGeom prst="straightConnector1">
            <a:avLst/>
          </a:prstGeom>
          <a:noFill/>
          <a:ln cap="flat" cmpd="sng" w="9525">
            <a:solidFill>
              <a:schemeClr val="dk2"/>
            </a:solidFill>
            <a:prstDash val="solid"/>
            <a:round/>
            <a:headEnd len="med" w="med" type="triangle"/>
            <a:tailEnd len="med" w="med" type="triangle"/>
          </a:ln>
        </p:spPr>
      </p:cxnSp>
      <p:cxnSp>
        <p:nvCxnSpPr>
          <p:cNvPr id="517" name="Google Shape;517;p42"/>
          <p:cNvCxnSpPr>
            <a:stCxn id="514" idx="3"/>
            <a:endCxn id="515" idx="1"/>
          </p:cNvCxnSpPr>
          <p:nvPr/>
        </p:nvCxnSpPr>
        <p:spPr>
          <a:xfrm>
            <a:off x="4759300" y="4604675"/>
            <a:ext cx="1807800" cy="0"/>
          </a:xfrm>
          <a:prstGeom prst="straightConnector1">
            <a:avLst/>
          </a:prstGeom>
          <a:noFill/>
          <a:ln cap="flat" cmpd="sng" w="9525">
            <a:solidFill>
              <a:schemeClr val="dk2"/>
            </a:solidFill>
            <a:prstDash val="solid"/>
            <a:round/>
            <a:headEnd len="med" w="med" type="triangle"/>
            <a:tailEnd len="med" w="med" type="triangle"/>
          </a:ln>
        </p:spPr>
      </p:cxnSp>
      <p:sp>
        <p:nvSpPr>
          <p:cNvPr id="518" name="Google Shape;518;p42"/>
          <p:cNvSpPr txBox="1"/>
          <p:nvPr/>
        </p:nvSpPr>
        <p:spPr>
          <a:xfrm>
            <a:off x="1864700" y="4275600"/>
            <a:ext cx="1807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HTTP</a:t>
            </a:r>
            <a:endParaRPr/>
          </a:p>
        </p:txBody>
      </p:sp>
      <p:sp>
        <p:nvSpPr>
          <p:cNvPr id="519" name="Google Shape;519;p42"/>
          <p:cNvSpPr txBox="1"/>
          <p:nvPr/>
        </p:nvSpPr>
        <p:spPr>
          <a:xfrm>
            <a:off x="4759300" y="4275600"/>
            <a:ext cx="1807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HTTPS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in Browsers</a:t>
            </a:r>
            <a:endParaRPr/>
          </a:p>
        </p:txBody>
      </p:sp>
      <p:sp>
        <p:nvSpPr>
          <p:cNvPr id="525" name="Google Shape;525;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Original design:</a:t>
            </a:r>
            <a:endParaRPr/>
          </a:p>
          <a:p>
            <a:pPr indent="-317500" lvl="1" marL="914400" rtl="0" algn="l">
              <a:spcBef>
                <a:spcPts val="0"/>
              </a:spcBef>
              <a:spcAft>
                <a:spcPts val="0"/>
              </a:spcAft>
              <a:buSzPts val="1400"/>
              <a:buChar char="○"/>
            </a:pPr>
            <a:r>
              <a:rPr lang="en"/>
              <a:t>When your browser communicates with a server over TLS, your browser displays a lock icon</a:t>
            </a:r>
            <a:endParaRPr/>
          </a:p>
          <a:p>
            <a:pPr indent="-317500" lvl="1" marL="914400" rtl="0" algn="l">
              <a:spcBef>
                <a:spcPts val="0"/>
              </a:spcBef>
              <a:spcAft>
                <a:spcPts val="0"/>
              </a:spcAft>
              <a:buSzPts val="1400"/>
              <a:buChar char="○"/>
            </a:pPr>
            <a:r>
              <a:rPr lang="en"/>
              <a:t>If TLS is not used, there is no lock icon</a:t>
            </a:r>
            <a:endParaRPr/>
          </a:p>
          <a:p>
            <a:pPr indent="-342900" lvl="0" marL="457200" rtl="0" algn="l">
              <a:spcBef>
                <a:spcPts val="0"/>
              </a:spcBef>
              <a:spcAft>
                <a:spcPts val="0"/>
              </a:spcAft>
              <a:buSzPts val="1800"/>
              <a:buChar char="●"/>
            </a:pPr>
            <a:r>
              <a:rPr lang="en"/>
              <a:t>What the lock icon means</a:t>
            </a:r>
            <a:endParaRPr/>
          </a:p>
          <a:p>
            <a:pPr indent="-317500" lvl="1" marL="914400" rtl="0" algn="l">
              <a:spcBef>
                <a:spcPts val="0"/>
              </a:spcBef>
              <a:spcAft>
                <a:spcPts val="0"/>
              </a:spcAft>
              <a:buSzPts val="1400"/>
              <a:buChar char="○"/>
            </a:pPr>
            <a:r>
              <a:rPr lang="en"/>
              <a:t>Communication is encrypted (TLS guarantee)</a:t>
            </a:r>
            <a:endParaRPr/>
          </a:p>
          <a:p>
            <a:pPr indent="-317500" lvl="1" marL="914400" rtl="0" algn="l">
              <a:spcBef>
                <a:spcPts val="0"/>
              </a:spcBef>
              <a:spcAft>
                <a:spcPts val="0"/>
              </a:spcAft>
              <a:buSzPts val="1400"/>
              <a:buChar char="○"/>
            </a:pPr>
            <a:r>
              <a:rPr lang="en"/>
              <a:t>You are talking to the legitimate server (TLS guarantee)</a:t>
            </a:r>
            <a:endParaRPr/>
          </a:p>
          <a:p>
            <a:pPr indent="-317500" lvl="1" marL="914400" rtl="0" algn="l">
              <a:spcBef>
                <a:spcPts val="0"/>
              </a:spcBef>
              <a:spcAft>
                <a:spcPts val="0"/>
              </a:spcAft>
              <a:buSzPts val="1400"/>
              <a:buChar char="○"/>
            </a:pPr>
            <a:r>
              <a:rPr lang="en"/>
              <a:t>Any external images or scripts are also fetched over TLS</a:t>
            </a:r>
            <a:endParaRPr/>
          </a:p>
        </p:txBody>
      </p:sp>
      <p:sp>
        <p:nvSpPr>
          <p:cNvPr id="526" name="Google Shape;52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27" name="Google Shape;527;p43"/>
          <p:cNvPicPr preferRelativeResize="0"/>
          <p:nvPr/>
        </p:nvPicPr>
        <p:blipFill>
          <a:blip r:embed="rId3">
            <a:alphaModFix/>
          </a:blip>
          <a:stretch>
            <a:fillRect/>
          </a:stretch>
        </p:blipFill>
        <p:spPr>
          <a:xfrm>
            <a:off x="342947" y="3469822"/>
            <a:ext cx="4655925" cy="626075"/>
          </a:xfrm>
          <a:prstGeom prst="rect">
            <a:avLst/>
          </a:prstGeom>
          <a:noFill/>
          <a:ln>
            <a:noFill/>
          </a:ln>
        </p:spPr>
      </p:pic>
      <p:sp>
        <p:nvSpPr>
          <p:cNvPr id="528" name="Google Shape;528;p43"/>
          <p:cNvSpPr txBox="1"/>
          <p:nvPr/>
        </p:nvSpPr>
        <p:spPr>
          <a:xfrm>
            <a:off x="5112150" y="3582763"/>
            <a:ext cx="33603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This website uses HTTP: no lock icon</a:t>
            </a:r>
            <a:endParaRPr>
              <a:solidFill>
                <a:srgbClr val="000000"/>
              </a:solidFill>
            </a:endParaRPr>
          </a:p>
        </p:txBody>
      </p:sp>
      <p:sp>
        <p:nvSpPr>
          <p:cNvPr id="529" name="Google Shape;529;p43"/>
          <p:cNvSpPr txBox="1"/>
          <p:nvPr/>
        </p:nvSpPr>
        <p:spPr>
          <a:xfrm>
            <a:off x="5112150" y="4298838"/>
            <a:ext cx="33603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This website uses HTTPS: lock icon</a:t>
            </a:r>
            <a:endParaRPr>
              <a:solidFill>
                <a:srgbClr val="000000"/>
              </a:solidFill>
            </a:endParaRPr>
          </a:p>
        </p:txBody>
      </p:sp>
      <p:pic>
        <p:nvPicPr>
          <p:cNvPr id="530" name="Google Shape;530;p43"/>
          <p:cNvPicPr preferRelativeResize="0"/>
          <p:nvPr/>
        </p:nvPicPr>
        <p:blipFill>
          <a:blip r:embed="rId4">
            <a:alphaModFix/>
          </a:blip>
          <a:stretch>
            <a:fillRect/>
          </a:stretch>
        </p:blipFill>
        <p:spPr>
          <a:xfrm>
            <a:off x="342950" y="4222150"/>
            <a:ext cx="4655926" cy="6400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in Browsers</a:t>
            </a:r>
            <a:endParaRPr/>
          </a:p>
        </p:txBody>
      </p:sp>
      <p:sp>
        <p:nvSpPr>
          <p:cNvPr id="536" name="Google Shape;536;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users </a:t>
            </a:r>
            <a:r>
              <a:rPr lang="en"/>
              <a:t>think the lock icon means</a:t>
            </a:r>
            <a:endParaRPr/>
          </a:p>
          <a:p>
            <a:pPr indent="-317500" lvl="1" marL="914400" rtl="0" algn="l">
              <a:spcBef>
                <a:spcPts val="0"/>
              </a:spcBef>
              <a:spcAft>
                <a:spcPts val="0"/>
              </a:spcAft>
              <a:buSzPts val="1400"/>
              <a:buChar char="○"/>
            </a:pPr>
            <a:r>
              <a:rPr lang="en"/>
              <a:t>This website is trustworthy, no matter where the lock icon actually appears</a:t>
            </a:r>
            <a:endParaRPr/>
          </a:p>
          <a:p>
            <a:pPr indent="-342900" lvl="0" marL="457200" rtl="0" algn="l">
              <a:spcBef>
                <a:spcPts val="0"/>
              </a:spcBef>
              <a:spcAft>
                <a:spcPts val="0"/>
              </a:spcAft>
              <a:buSzPts val="1800"/>
              <a:buChar char="●"/>
            </a:pPr>
            <a:r>
              <a:rPr lang="en"/>
              <a:t>Attack: The attacker adds their own lock icon somewhere on the page</a:t>
            </a:r>
            <a:endParaRPr/>
          </a:p>
          <a:p>
            <a:pPr indent="-317500" lvl="1" marL="914400" rtl="0" algn="l">
              <a:spcBef>
                <a:spcPts val="0"/>
              </a:spcBef>
              <a:spcAft>
                <a:spcPts val="0"/>
              </a:spcAft>
              <a:buSzPts val="1400"/>
              <a:buChar char="○"/>
            </a:pPr>
            <a:r>
              <a:rPr lang="en"/>
              <a:t>The user thinks they’re using TLS, but actually is not using TLS</a:t>
            </a:r>
            <a:endParaRPr/>
          </a:p>
          <a:p>
            <a:pPr indent="-342900" lvl="0" marL="457200" rtl="0" algn="l">
              <a:spcBef>
                <a:spcPts val="0"/>
              </a:spcBef>
              <a:spcAft>
                <a:spcPts val="0"/>
              </a:spcAft>
              <a:buSzPts val="1800"/>
              <a:buChar char="●"/>
            </a:pPr>
            <a:r>
              <a:rPr lang="en"/>
              <a:t>Attack: The user might be communicating with an attacker’s website over TLS</a:t>
            </a:r>
            <a:endParaRPr/>
          </a:p>
          <a:p>
            <a:pPr indent="-317500" lvl="1" marL="914400" rtl="0" algn="l">
              <a:spcBef>
                <a:spcPts val="0"/>
              </a:spcBef>
              <a:spcAft>
                <a:spcPts val="0"/>
              </a:spcAft>
              <a:buSzPts val="1400"/>
              <a:buChar char="○"/>
            </a:pPr>
            <a:r>
              <a:rPr lang="en"/>
              <a:t>The lock icon appears, but the user is actually vulnerable!</a:t>
            </a:r>
            <a:endParaRPr/>
          </a:p>
        </p:txBody>
      </p:sp>
      <p:sp>
        <p:nvSpPr>
          <p:cNvPr id="537" name="Google Shape;53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in Browsers</a:t>
            </a:r>
            <a:endParaRPr/>
          </a:p>
        </p:txBody>
      </p:sp>
      <p:sp>
        <p:nvSpPr>
          <p:cNvPr id="543" name="Google Shape;543;p4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Modern design: Add a “not secure” icon to connections that don’t use TLS</a:t>
            </a:r>
            <a:endParaRPr/>
          </a:p>
          <a:p>
            <a:pPr indent="-317500" lvl="1" marL="914400" rtl="0" algn="l">
              <a:spcBef>
                <a:spcPts val="0"/>
              </a:spcBef>
              <a:spcAft>
                <a:spcPts val="0"/>
              </a:spcAft>
              <a:buSzPts val="1400"/>
              <a:buChar char="○"/>
            </a:pPr>
            <a:r>
              <a:rPr lang="en"/>
              <a:t>Adds a signal on unencrypted sites</a:t>
            </a:r>
            <a:endParaRPr/>
          </a:p>
          <a:p>
            <a:pPr indent="-317500" lvl="1" marL="914400" rtl="0" algn="l">
              <a:spcBef>
                <a:spcPts val="0"/>
              </a:spcBef>
              <a:spcAft>
                <a:spcPts val="0"/>
              </a:spcAft>
              <a:buSzPts val="1400"/>
              <a:buChar char="○"/>
            </a:pPr>
            <a:r>
              <a:rPr lang="en"/>
              <a:t>Encourages websites to stop supporting all unencrypted, HTTP traffic and redirect to HTTPS</a:t>
            </a:r>
            <a:endParaRPr/>
          </a:p>
        </p:txBody>
      </p:sp>
      <p:sp>
        <p:nvSpPr>
          <p:cNvPr id="544" name="Google Shape;54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45" name="Google Shape;545;p45"/>
          <p:cNvPicPr preferRelativeResize="0"/>
          <p:nvPr/>
        </p:nvPicPr>
        <p:blipFill>
          <a:blip r:embed="rId3">
            <a:alphaModFix/>
          </a:blip>
          <a:stretch>
            <a:fillRect/>
          </a:stretch>
        </p:blipFill>
        <p:spPr>
          <a:xfrm>
            <a:off x="553399" y="2866074"/>
            <a:ext cx="4056700" cy="644350"/>
          </a:xfrm>
          <a:prstGeom prst="rect">
            <a:avLst/>
          </a:prstGeom>
          <a:noFill/>
          <a:ln>
            <a:noFill/>
          </a:ln>
        </p:spPr>
      </p:pic>
      <p:pic>
        <p:nvPicPr>
          <p:cNvPr id="546" name="Google Shape;546;p45"/>
          <p:cNvPicPr preferRelativeResize="0"/>
          <p:nvPr/>
        </p:nvPicPr>
        <p:blipFill>
          <a:blip r:embed="rId4">
            <a:alphaModFix/>
          </a:blip>
          <a:stretch>
            <a:fillRect/>
          </a:stretch>
        </p:blipFill>
        <p:spPr>
          <a:xfrm>
            <a:off x="553400" y="3804875"/>
            <a:ext cx="4056683" cy="644350"/>
          </a:xfrm>
          <a:prstGeom prst="rect">
            <a:avLst/>
          </a:prstGeom>
          <a:noFill/>
          <a:ln>
            <a:noFill/>
          </a:ln>
        </p:spPr>
      </p:pic>
      <p:sp>
        <p:nvSpPr>
          <p:cNvPr id="547" name="Google Shape;547;p45"/>
          <p:cNvSpPr txBox="1"/>
          <p:nvPr/>
        </p:nvSpPr>
        <p:spPr>
          <a:xfrm>
            <a:off x="4853075" y="2974863"/>
            <a:ext cx="33603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This website uses HTTP: insecure icon</a:t>
            </a:r>
            <a:endParaRPr>
              <a:solidFill>
                <a:srgbClr val="000000"/>
              </a:solidFill>
            </a:endParaRPr>
          </a:p>
        </p:txBody>
      </p:sp>
      <p:sp>
        <p:nvSpPr>
          <p:cNvPr id="548" name="Google Shape;548;p45"/>
          <p:cNvSpPr txBox="1"/>
          <p:nvPr/>
        </p:nvSpPr>
        <p:spPr>
          <a:xfrm>
            <a:off x="4853075" y="3926938"/>
            <a:ext cx="33603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This website uses HTTPS: lock icon</a:t>
            </a:r>
            <a:endParaRPr>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2" name="Shape 552"/>
        <p:cNvGrpSpPr/>
        <p:nvPr/>
      </p:nvGrpSpPr>
      <p:grpSpPr>
        <a:xfrm>
          <a:off x="0" y="0"/>
          <a:ext cx="0" cy="0"/>
          <a:chOff x="0" y="0"/>
          <a:chExt cx="0" cy="0"/>
        </a:xfrm>
      </p:grpSpPr>
      <p:sp>
        <p:nvSpPr>
          <p:cNvPr id="553" name="Google Shape;553;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Attack: PRNG Sabotage</a:t>
            </a:r>
            <a:endParaRPr/>
          </a:p>
        </p:txBody>
      </p:sp>
      <p:sp>
        <p:nvSpPr>
          <p:cNvPr id="554" name="Google Shape;554;p4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Consider TLS with Diffie-Hellman</a:t>
            </a:r>
            <a:endParaRPr/>
          </a:p>
          <a:p>
            <a:pPr indent="-317500" lvl="1" marL="914400" rtl="0" algn="l">
              <a:spcBef>
                <a:spcPts val="0"/>
              </a:spcBef>
              <a:spcAft>
                <a:spcPts val="0"/>
              </a:spcAft>
              <a:buSzPts val="1400"/>
              <a:buChar char="○"/>
            </a:pPr>
            <a:r>
              <a:rPr lang="en"/>
              <a:t>An attacker who learns the DHE secret </a:t>
            </a:r>
            <a:r>
              <a:rPr i="1" lang="en"/>
              <a:t>a</a:t>
            </a:r>
            <a:r>
              <a:rPr lang="en"/>
              <a:t> can derive the PS </a:t>
            </a:r>
            <a:r>
              <a:rPr i="1" lang="en"/>
              <a:t>g</a:t>
            </a:r>
            <a:r>
              <a:rPr baseline="30000" i="1" lang="en"/>
              <a:t>ab</a:t>
            </a:r>
            <a:r>
              <a:rPr lang="en"/>
              <a:t> mod </a:t>
            </a:r>
            <a:r>
              <a:rPr i="1" lang="en"/>
              <a:t>p</a:t>
            </a:r>
            <a:r>
              <a:rPr lang="en"/>
              <a:t> (recall </a:t>
            </a:r>
            <a:r>
              <a:rPr i="1" lang="en"/>
              <a:t>g</a:t>
            </a:r>
            <a:r>
              <a:rPr baseline="30000" i="1" lang="en"/>
              <a:t>b</a:t>
            </a:r>
            <a:r>
              <a:rPr lang="en"/>
              <a:t> mod </a:t>
            </a:r>
            <a:r>
              <a:rPr i="1" lang="en"/>
              <a:t>p</a:t>
            </a:r>
            <a:r>
              <a:rPr lang="en"/>
              <a:t> is sent over the channel), and then derive the symmetric keys (recall R</a:t>
            </a:r>
            <a:r>
              <a:rPr lang="en" sz="900"/>
              <a:t>C</a:t>
            </a:r>
            <a:r>
              <a:rPr lang="en"/>
              <a:t> and R</a:t>
            </a:r>
            <a:r>
              <a:rPr lang="en" sz="900"/>
              <a:t>S</a:t>
            </a:r>
            <a:r>
              <a:rPr lang="en"/>
              <a:t> are sent over the channel)</a:t>
            </a:r>
            <a:endParaRPr/>
          </a:p>
          <a:p>
            <a:pPr indent="-342900" lvl="0" marL="457200" rtl="0" algn="l">
              <a:spcBef>
                <a:spcPts val="0"/>
              </a:spcBef>
              <a:spcAft>
                <a:spcPts val="0"/>
              </a:spcAft>
              <a:buSzPts val="1800"/>
              <a:buChar char="●"/>
            </a:pPr>
            <a:r>
              <a:rPr lang="en"/>
              <a:t>Consider using a PRNG to generate all random values</a:t>
            </a:r>
            <a:endParaRPr/>
          </a:p>
          <a:p>
            <a:pPr indent="-317500" lvl="1" marL="914400" rtl="0" algn="l">
              <a:spcBef>
                <a:spcPts val="0"/>
              </a:spcBef>
              <a:spcAft>
                <a:spcPts val="0"/>
              </a:spcAft>
              <a:buSzPts val="1400"/>
              <a:buChar char="○"/>
            </a:pPr>
            <a:r>
              <a:rPr lang="en"/>
              <a:t>Includes the server DHE secret </a:t>
            </a:r>
            <a:r>
              <a:rPr i="1" lang="en"/>
              <a:t>a</a:t>
            </a:r>
            <a:r>
              <a:rPr lang="en"/>
              <a:t> and the </a:t>
            </a:r>
            <a:r>
              <a:rPr lang="en"/>
              <a:t>client DHE secret </a:t>
            </a:r>
            <a:r>
              <a:rPr i="1" lang="en"/>
              <a:t>b</a:t>
            </a:r>
            <a:r>
              <a:rPr lang="en"/>
              <a:t> </a:t>
            </a:r>
            <a:endParaRPr/>
          </a:p>
          <a:p>
            <a:pPr indent="-342900" lvl="0" marL="457200" rtl="0" algn="l">
              <a:spcBef>
                <a:spcPts val="0"/>
              </a:spcBef>
              <a:spcAft>
                <a:spcPts val="0"/>
              </a:spcAft>
              <a:buSzPts val="1800"/>
              <a:buChar char="●"/>
            </a:pPr>
            <a:r>
              <a:rPr lang="en"/>
              <a:t>What if the PRNG is sabotaged and doesn’t have rollback resistance?</a:t>
            </a:r>
            <a:endParaRPr/>
          </a:p>
          <a:p>
            <a:pPr indent="-317500" lvl="1" marL="914400" rtl="0" algn="l">
              <a:spcBef>
                <a:spcPts val="0"/>
              </a:spcBef>
              <a:spcAft>
                <a:spcPts val="0"/>
              </a:spcAft>
              <a:buSzPts val="1400"/>
              <a:buChar char="○"/>
            </a:pPr>
            <a:r>
              <a:rPr lang="en"/>
              <a:t>Example of sabotage: Dual_EC DRBG with knowledge of the secret used to create the generator</a:t>
            </a:r>
            <a:endParaRPr/>
          </a:p>
          <a:p>
            <a:pPr indent="-317500" lvl="1" marL="914400" rtl="0" algn="l">
              <a:spcBef>
                <a:spcPts val="0"/>
              </a:spcBef>
              <a:spcAft>
                <a:spcPts val="0"/>
              </a:spcAft>
              <a:buSzPts val="1400"/>
              <a:buChar char="○"/>
            </a:pPr>
            <a:r>
              <a:rPr lang="en"/>
              <a:t>Example of sabotage: ANSI X9.31: An AES-based PRNG with a secret key</a:t>
            </a:r>
            <a:endParaRPr/>
          </a:p>
          <a:p>
            <a:pPr indent="-342900" lvl="0" marL="457200" rtl="0" algn="l">
              <a:spcBef>
                <a:spcPts val="0"/>
              </a:spcBef>
              <a:spcAft>
                <a:spcPts val="0"/>
              </a:spcAft>
              <a:buSzPts val="1800"/>
              <a:buChar char="●"/>
            </a:pPr>
            <a:r>
              <a:rPr lang="en"/>
              <a:t>Attack: See subsequent PRNG output and work backwards to learn the DHE secret</a:t>
            </a:r>
            <a:endParaRPr/>
          </a:p>
        </p:txBody>
      </p:sp>
      <p:sp>
        <p:nvSpPr>
          <p:cNvPr id="555" name="Google Shape;555;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9" name="Shape 559"/>
        <p:cNvGrpSpPr/>
        <p:nvPr/>
      </p:nvGrpSpPr>
      <p:grpSpPr>
        <a:xfrm>
          <a:off x="0" y="0"/>
          <a:ext cx="0" cy="0"/>
          <a:chOff x="0" y="0"/>
          <a:chExt cx="0" cy="0"/>
        </a:xfrm>
      </p:grpSpPr>
      <p:sp>
        <p:nvSpPr>
          <p:cNvPr id="560" name="Google Shape;560;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TLS Trust Issues: Certificate Authorities</a:t>
            </a:r>
            <a:endParaRPr/>
          </a:p>
        </p:txBody>
      </p:sp>
      <p:sp>
        <p:nvSpPr>
          <p:cNvPr id="561" name="Google Shape;561;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5" name="Shape 565"/>
        <p:cNvGrpSpPr/>
        <p:nvPr/>
      </p:nvGrpSpPr>
      <p:grpSpPr>
        <a:xfrm>
          <a:off x="0" y="0"/>
          <a:ext cx="0" cy="0"/>
          <a:chOff x="0" y="0"/>
          <a:chExt cx="0" cy="0"/>
        </a:xfrm>
      </p:grpSpPr>
      <p:sp>
        <p:nvSpPr>
          <p:cNvPr id="566" name="Google Shape;566;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Certificates in TLS</a:t>
            </a:r>
            <a:endParaRPr/>
          </a:p>
        </p:txBody>
      </p:sp>
      <p:sp>
        <p:nvSpPr>
          <p:cNvPr id="567" name="Google Shape;567;p4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server sends its certificate</a:t>
            </a:r>
            <a:endParaRPr/>
          </a:p>
          <a:p>
            <a:pPr indent="-317500" lvl="1" marL="914400" rtl="0" algn="l">
              <a:spcBef>
                <a:spcPts val="0"/>
              </a:spcBef>
              <a:spcAft>
                <a:spcPts val="0"/>
              </a:spcAft>
              <a:buSzPts val="1400"/>
              <a:buChar char="○"/>
            </a:pPr>
            <a:r>
              <a:rPr lang="en"/>
              <a:t>Certificate: The server’s domain name and public key, signed by a certificate authority</a:t>
            </a:r>
            <a:endParaRPr/>
          </a:p>
          <a:p>
            <a:pPr indent="-342900" lvl="0" marL="457200" rtl="0" algn="l">
              <a:spcBef>
                <a:spcPts val="0"/>
              </a:spcBef>
              <a:spcAft>
                <a:spcPts val="0"/>
              </a:spcAft>
              <a:buSzPts val="1800"/>
              <a:buChar char="●"/>
            </a:pPr>
            <a:r>
              <a:rPr lang="en"/>
              <a:t>The browser verifies the server’s certificate</a:t>
            </a:r>
            <a:endParaRPr/>
          </a:p>
          <a:p>
            <a:pPr indent="-317500" lvl="1" marL="914400" rtl="0" algn="l">
              <a:spcBef>
                <a:spcPts val="0"/>
              </a:spcBef>
              <a:spcAft>
                <a:spcPts val="0"/>
              </a:spcAft>
              <a:buSzPts val="1400"/>
              <a:buChar char="○"/>
            </a:pPr>
            <a:r>
              <a:rPr lang="en"/>
              <a:t>The browser checks the domain name in the URL matches the domain name in the certificate</a:t>
            </a:r>
            <a:endParaRPr/>
          </a:p>
          <a:p>
            <a:pPr indent="-317500" lvl="1" marL="914400" rtl="0" algn="l">
              <a:spcBef>
                <a:spcPts val="0"/>
              </a:spcBef>
              <a:spcAft>
                <a:spcPts val="0"/>
              </a:spcAft>
              <a:buSzPts val="1400"/>
              <a:buChar char="○"/>
            </a:pPr>
            <a:r>
              <a:rPr lang="en"/>
              <a:t>The certificate authority’s public key is hardwired into the browser (trust anchor)</a:t>
            </a:r>
            <a:endParaRPr/>
          </a:p>
          <a:p>
            <a:pPr indent="-317500" lvl="1" marL="914400" rtl="0" algn="l">
              <a:spcBef>
                <a:spcPts val="0"/>
              </a:spcBef>
              <a:spcAft>
                <a:spcPts val="0"/>
              </a:spcAft>
              <a:buSzPts val="1400"/>
              <a:buChar char="○"/>
            </a:pPr>
            <a:r>
              <a:rPr lang="en"/>
              <a:t>The browser uses the CA’s public key to verify the signature</a:t>
            </a:r>
            <a:endParaRPr/>
          </a:p>
          <a:p>
            <a:pPr indent="-342900" lvl="0" marL="457200" rtl="0" algn="l">
              <a:spcBef>
                <a:spcPts val="0"/>
              </a:spcBef>
              <a:spcAft>
                <a:spcPts val="0"/>
              </a:spcAft>
              <a:buSzPts val="1800"/>
              <a:buChar char="●"/>
            </a:pPr>
            <a:r>
              <a:rPr lang="en"/>
              <a:t>If the certificate is verified, the browser now knows the server’s public key</a:t>
            </a:r>
            <a:endParaRPr/>
          </a:p>
        </p:txBody>
      </p:sp>
      <p:sp>
        <p:nvSpPr>
          <p:cNvPr id="568" name="Google Shape;56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572" name="Shape 572"/>
        <p:cNvGrpSpPr/>
        <p:nvPr/>
      </p:nvGrpSpPr>
      <p:grpSpPr>
        <a:xfrm>
          <a:off x="0" y="0"/>
          <a:ext cx="0" cy="0"/>
          <a:chOff x="0" y="0"/>
          <a:chExt cx="0" cy="0"/>
        </a:xfrm>
      </p:grpSpPr>
      <p:sp>
        <p:nvSpPr>
          <p:cNvPr id="573" name="Google Shape;573;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Unknown Certificate Authority</a:t>
            </a:r>
            <a:endParaRPr/>
          </a:p>
        </p:txBody>
      </p:sp>
      <p:sp>
        <p:nvSpPr>
          <p:cNvPr id="574" name="Google Shape;574;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575" name="Google Shape;575;p49"/>
          <p:cNvPicPr preferRelativeResize="0"/>
          <p:nvPr/>
        </p:nvPicPr>
        <p:blipFill>
          <a:blip r:embed="rId3">
            <a:alphaModFix/>
          </a:blip>
          <a:stretch>
            <a:fillRect/>
          </a:stretch>
        </p:blipFill>
        <p:spPr>
          <a:xfrm>
            <a:off x="381000" y="1279525"/>
            <a:ext cx="5021574" cy="36820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579" name="Shape 579"/>
        <p:cNvGrpSpPr/>
        <p:nvPr/>
      </p:nvGrpSpPr>
      <p:grpSpPr>
        <a:xfrm>
          <a:off x="0" y="0"/>
          <a:ext cx="0" cy="0"/>
          <a:chOff x="0" y="0"/>
          <a:chExt cx="0" cy="0"/>
        </a:xfrm>
      </p:grpSpPr>
      <p:sp>
        <p:nvSpPr>
          <p:cNvPr id="580" name="Google Shape;580;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Unknown Certificate Authority</a:t>
            </a:r>
            <a:endParaRPr/>
          </a:p>
        </p:txBody>
      </p:sp>
      <p:sp>
        <p:nvSpPr>
          <p:cNvPr id="581" name="Google Shape;581;p5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if the browser doesn’t have the certificate authority’s public key for verification?</a:t>
            </a:r>
            <a:endParaRPr/>
          </a:p>
          <a:p>
            <a:pPr indent="-342900" lvl="0" marL="457200" rtl="0" algn="l">
              <a:spcBef>
                <a:spcPts val="0"/>
              </a:spcBef>
              <a:spcAft>
                <a:spcPts val="0"/>
              </a:spcAft>
              <a:buSzPts val="1800"/>
              <a:buChar char="●"/>
            </a:pPr>
            <a:r>
              <a:rPr lang="en"/>
              <a:t>Warn the user that the website is not verified</a:t>
            </a:r>
            <a:endParaRPr/>
          </a:p>
          <a:p>
            <a:pPr indent="-317500" lvl="1" marL="914400" rtl="0" algn="l">
              <a:spcBef>
                <a:spcPts val="0"/>
              </a:spcBef>
              <a:spcAft>
                <a:spcPts val="0"/>
              </a:spcAft>
              <a:buSzPts val="1400"/>
              <a:buChar char="○"/>
            </a:pPr>
            <a:r>
              <a:rPr lang="en"/>
              <a:t>The TLS connection can still proceed, but there is no guarantee that the user is talking to the legitimate server</a:t>
            </a:r>
            <a:endParaRPr/>
          </a:p>
          <a:p>
            <a:pPr indent="-342900" lvl="0" marL="457200" rtl="0" algn="l">
              <a:spcBef>
                <a:spcPts val="0"/>
              </a:spcBef>
              <a:spcAft>
                <a:spcPts val="0"/>
              </a:spcAft>
              <a:buSzPts val="1800"/>
              <a:buChar char="●"/>
            </a:pPr>
            <a:r>
              <a:rPr lang="en"/>
              <a:t>What if the user is not talking to the legitimate </a:t>
            </a:r>
            <a:r>
              <a:rPr lang="en"/>
              <a:t>server?</a:t>
            </a:r>
            <a:endParaRPr/>
          </a:p>
          <a:p>
            <a:pPr indent="-317500" lvl="1" marL="914400" rtl="0" algn="l">
              <a:spcBef>
                <a:spcPts val="0"/>
              </a:spcBef>
              <a:spcAft>
                <a:spcPts val="0"/>
              </a:spcAft>
              <a:buSzPts val="1400"/>
              <a:buChar char="○"/>
            </a:pPr>
            <a:r>
              <a:rPr lang="en"/>
              <a:t>No more end-to-end security</a:t>
            </a:r>
            <a:endParaRPr/>
          </a:p>
          <a:p>
            <a:pPr indent="-317500" lvl="1" marL="914400" rtl="0" algn="l">
              <a:spcBef>
                <a:spcPts val="0"/>
              </a:spcBef>
              <a:spcAft>
                <a:spcPts val="0"/>
              </a:spcAft>
              <a:buSzPts val="1400"/>
              <a:buChar char="○"/>
            </a:pPr>
            <a:r>
              <a:rPr lang="en"/>
              <a:t>An attacker can read and modify messages</a:t>
            </a:r>
            <a:endParaRPr/>
          </a:p>
          <a:p>
            <a:pPr indent="-317500" lvl="1" marL="914400" rtl="0" algn="l">
              <a:spcBef>
                <a:spcPts val="0"/>
              </a:spcBef>
              <a:spcAft>
                <a:spcPts val="0"/>
              </a:spcAft>
              <a:buSzPts val="1400"/>
              <a:buChar char="○"/>
            </a:pPr>
            <a:r>
              <a:rPr lang="en"/>
              <a:t>An attacker can impersonate the server</a:t>
            </a:r>
            <a:endParaRPr/>
          </a:p>
        </p:txBody>
      </p:sp>
      <p:sp>
        <p:nvSpPr>
          <p:cNvPr id="582" name="Google Shape;58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586" name="Shape 586"/>
        <p:cNvGrpSpPr/>
        <p:nvPr/>
      </p:nvGrpSpPr>
      <p:grpSpPr>
        <a:xfrm>
          <a:off x="0" y="0"/>
          <a:ext cx="0" cy="0"/>
          <a:chOff x="0" y="0"/>
          <a:chExt cx="0" cy="0"/>
        </a:xfrm>
      </p:grpSpPr>
      <p:sp>
        <p:nvSpPr>
          <p:cNvPr id="587" name="Google Shape;58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8" name="Google Shape;588;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Verifying Certificates</a:t>
            </a:r>
            <a:endParaRPr/>
          </a:p>
        </p:txBody>
      </p:sp>
      <p:cxnSp>
        <p:nvCxnSpPr>
          <p:cNvPr id="589" name="Google Shape;589;p51"/>
          <p:cNvCxnSpPr>
            <a:stCxn id="590" idx="2"/>
            <a:endCxn id="591" idx="0"/>
          </p:cNvCxnSpPr>
          <p:nvPr/>
        </p:nvCxnSpPr>
        <p:spPr>
          <a:xfrm>
            <a:off x="1847075" y="2247873"/>
            <a:ext cx="0" cy="684300"/>
          </a:xfrm>
          <a:prstGeom prst="straightConnector1">
            <a:avLst/>
          </a:prstGeom>
          <a:noFill/>
          <a:ln cap="flat" cmpd="sng" w="9525">
            <a:solidFill>
              <a:schemeClr val="dk2"/>
            </a:solidFill>
            <a:prstDash val="solid"/>
            <a:round/>
            <a:headEnd len="med" w="med" type="none"/>
            <a:tailEnd len="med" w="med" type="triangle"/>
          </a:ln>
        </p:spPr>
      </p:cxnSp>
      <p:pic>
        <p:nvPicPr>
          <p:cNvPr id="590" name="Google Shape;590;p51"/>
          <p:cNvPicPr preferRelativeResize="0"/>
          <p:nvPr/>
        </p:nvPicPr>
        <p:blipFill>
          <a:blip r:embed="rId3">
            <a:alphaModFix/>
          </a:blip>
          <a:stretch>
            <a:fillRect/>
          </a:stretch>
        </p:blipFill>
        <p:spPr>
          <a:xfrm>
            <a:off x="175250" y="1255050"/>
            <a:ext cx="3343650" cy="992823"/>
          </a:xfrm>
          <a:prstGeom prst="rect">
            <a:avLst/>
          </a:prstGeom>
          <a:noFill/>
          <a:ln>
            <a:noFill/>
          </a:ln>
        </p:spPr>
      </p:pic>
      <p:pic>
        <p:nvPicPr>
          <p:cNvPr id="592" name="Google Shape;592;p51"/>
          <p:cNvPicPr preferRelativeResize="0"/>
          <p:nvPr/>
        </p:nvPicPr>
        <p:blipFill rotWithShape="1">
          <a:blip r:embed="rId4">
            <a:alphaModFix/>
          </a:blip>
          <a:srcRect b="16170" l="0" r="0" t="0"/>
          <a:stretch/>
        </p:blipFill>
        <p:spPr>
          <a:xfrm>
            <a:off x="175250" y="2932150"/>
            <a:ext cx="3343651" cy="1899275"/>
          </a:xfrm>
          <a:prstGeom prst="rect">
            <a:avLst/>
          </a:prstGeom>
          <a:noFill/>
          <a:ln>
            <a:noFill/>
          </a:ln>
        </p:spPr>
      </p:pic>
      <p:cxnSp>
        <p:nvCxnSpPr>
          <p:cNvPr id="593" name="Google Shape;593;p51"/>
          <p:cNvCxnSpPr/>
          <p:nvPr/>
        </p:nvCxnSpPr>
        <p:spPr>
          <a:xfrm>
            <a:off x="2683128" y="4622634"/>
            <a:ext cx="1081500" cy="11400"/>
          </a:xfrm>
          <a:prstGeom prst="straightConnector1">
            <a:avLst/>
          </a:prstGeom>
          <a:noFill/>
          <a:ln cap="flat" cmpd="sng" w="9525">
            <a:solidFill>
              <a:schemeClr val="dk2"/>
            </a:solidFill>
            <a:prstDash val="solid"/>
            <a:round/>
            <a:headEnd len="med" w="med" type="none"/>
            <a:tailEnd len="med" w="med" type="triangle"/>
          </a:ln>
        </p:spPr>
      </p:cxnSp>
      <p:sp>
        <p:nvSpPr>
          <p:cNvPr id="594" name="Google Shape;594;p51"/>
          <p:cNvSpPr/>
          <p:nvPr/>
        </p:nvSpPr>
        <p:spPr>
          <a:xfrm>
            <a:off x="814650" y="1995875"/>
            <a:ext cx="1842300" cy="252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51"/>
          <p:cNvSpPr/>
          <p:nvPr/>
        </p:nvSpPr>
        <p:spPr>
          <a:xfrm>
            <a:off x="840825" y="4494525"/>
            <a:ext cx="1863600" cy="252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96" name="Google Shape;596;p51"/>
          <p:cNvPicPr preferRelativeResize="0"/>
          <p:nvPr/>
        </p:nvPicPr>
        <p:blipFill rotWithShape="1">
          <a:blip r:embed="rId5">
            <a:alphaModFix/>
          </a:blip>
          <a:srcRect b="0" l="9548" r="10884" t="0"/>
          <a:stretch/>
        </p:blipFill>
        <p:spPr>
          <a:xfrm>
            <a:off x="3752650" y="1255050"/>
            <a:ext cx="4553150" cy="3624358"/>
          </a:xfrm>
          <a:prstGeom prst="rect">
            <a:avLst/>
          </a:prstGeom>
          <a:noFill/>
          <a:ln>
            <a:noFill/>
          </a:ln>
        </p:spPr>
      </p:pic>
      <p:sp>
        <p:nvSpPr>
          <p:cNvPr id="597" name="Google Shape;597;p51"/>
          <p:cNvSpPr/>
          <p:nvPr/>
        </p:nvSpPr>
        <p:spPr>
          <a:xfrm>
            <a:off x="4900000" y="1743875"/>
            <a:ext cx="1863600" cy="252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51"/>
          <p:cNvSpPr/>
          <p:nvPr/>
        </p:nvSpPr>
        <p:spPr>
          <a:xfrm>
            <a:off x="4900000" y="2177425"/>
            <a:ext cx="1863600" cy="252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51"/>
          <p:cNvSpPr/>
          <p:nvPr/>
        </p:nvSpPr>
        <p:spPr>
          <a:xfrm>
            <a:off x="4931900" y="3009775"/>
            <a:ext cx="1863600" cy="341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51"/>
          <p:cNvSpPr/>
          <p:nvPr/>
        </p:nvSpPr>
        <p:spPr>
          <a:xfrm>
            <a:off x="4900000" y="2610975"/>
            <a:ext cx="1863600" cy="186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1" name="Google Shape;601;p51"/>
          <p:cNvPicPr preferRelativeResize="0"/>
          <p:nvPr/>
        </p:nvPicPr>
        <p:blipFill>
          <a:blip r:embed="rId6">
            <a:alphaModFix/>
          </a:blip>
          <a:stretch>
            <a:fillRect/>
          </a:stretch>
        </p:blipFill>
        <p:spPr>
          <a:xfrm>
            <a:off x="6886225" y="2429423"/>
            <a:ext cx="1892625" cy="2235003"/>
          </a:xfrm>
          <a:prstGeom prst="rect">
            <a:avLst/>
          </a:prstGeom>
          <a:noFill/>
          <a:ln>
            <a:noFill/>
          </a:ln>
        </p:spPr>
      </p:pic>
      <p:sp>
        <p:nvSpPr>
          <p:cNvPr id="602" name="Google Shape;602;p51"/>
          <p:cNvSpPr/>
          <p:nvPr/>
        </p:nvSpPr>
        <p:spPr>
          <a:xfrm>
            <a:off x="6995575" y="4149000"/>
            <a:ext cx="1667400" cy="12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6" name="Shape 606"/>
        <p:cNvGrpSpPr/>
        <p:nvPr/>
      </p:nvGrpSpPr>
      <p:grpSpPr>
        <a:xfrm>
          <a:off x="0" y="0"/>
          <a:ext cx="0" cy="0"/>
          <a:chOff x="0" y="0"/>
          <a:chExt cx="0" cy="0"/>
        </a:xfrm>
      </p:grpSpPr>
      <p:sp>
        <p:nvSpPr>
          <p:cNvPr id="607" name="Google Shape;607;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08" name="Google Shape;608;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Revocation</a:t>
            </a:r>
            <a:endParaRPr/>
          </a:p>
        </p:txBody>
      </p:sp>
      <p:sp>
        <p:nvSpPr>
          <p:cNvPr id="609" name="Google Shape;609;p5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if an attacker steals a server’s private key?</a:t>
            </a:r>
            <a:endParaRPr/>
          </a:p>
          <a:p>
            <a:pPr indent="-317500" lvl="1" marL="914400" rtl="0" algn="l">
              <a:spcBef>
                <a:spcPts val="0"/>
              </a:spcBef>
              <a:spcAft>
                <a:spcPts val="0"/>
              </a:spcAft>
              <a:buSzPts val="1400"/>
              <a:buChar char="○"/>
            </a:pPr>
            <a:r>
              <a:rPr lang="en"/>
              <a:t>The certificate with the corresponding public key is no longer valid</a:t>
            </a:r>
            <a:endParaRPr/>
          </a:p>
          <a:p>
            <a:pPr indent="-317500" lvl="1" marL="914400" rtl="0" algn="l">
              <a:spcBef>
                <a:spcPts val="0"/>
              </a:spcBef>
              <a:spcAft>
                <a:spcPts val="0"/>
              </a:spcAft>
              <a:buSzPts val="1400"/>
              <a:buChar char="○"/>
            </a:pPr>
            <a:r>
              <a:rPr lang="en"/>
              <a:t>TLS certificates have an expiration date, but they often don’t expire for years</a:t>
            </a:r>
            <a:endParaRPr/>
          </a:p>
          <a:p>
            <a:pPr indent="-342900" lvl="0" marL="457200" rtl="0" algn="l">
              <a:spcBef>
                <a:spcPts val="0"/>
              </a:spcBef>
              <a:spcAft>
                <a:spcPts val="0"/>
              </a:spcAft>
              <a:buSzPts val="1800"/>
              <a:buChar char="●"/>
            </a:pPr>
            <a:r>
              <a:rPr lang="en"/>
              <a:t>Solution: Certificate revocation lists</a:t>
            </a:r>
            <a:endParaRPr/>
          </a:p>
          <a:p>
            <a:pPr indent="-317500" lvl="1" marL="914400" rtl="0" algn="l">
              <a:spcBef>
                <a:spcPts val="0"/>
              </a:spcBef>
              <a:spcAft>
                <a:spcPts val="0"/>
              </a:spcAft>
              <a:buSzPts val="1400"/>
              <a:buChar char="○"/>
            </a:pPr>
            <a:r>
              <a:rPr lang="en"/>
              <a:t>The CA occasionally sends out lists of certificates that are no longer valid</a:t>
            </a:r>
            <a:endParaRPr/>
          </a:p>
          <a:p>
            <a:pPr indent="-317500" lvl="1" marL="914400" rtl="0" algn="l">
              <a:spcBef>
                <a:spcPts val="0"/>
              </a:spcBef>
              <a:spcAft>
                <a:spcPts val="0"/>
              </a:spcAft>
              <a:buSzPts val="1400"/>
              <a:buChar char="○"/>
            </a:pPr>
            <a:r>
              <a:rPr lang="en"/>
              <a:t>The browser occasionally downloads the lists</a:t>
            </a:r>
            <a:endParaRPr/>
          </a:p>
          <a:p>
            <a:pPr indent="-342900" lvl="0" marL="457200" rtl="0" algn="l">
              <a:spcBef>
                <a:spcPts val="0"/>
              </a:spcBef>
              <a:spcAft>
                <a:spcPts val="0"/>
              </a:spcAft>
              <a:buSzPts val="1800"/>
              <a:buChar char="●"/>
            </a:pPr>
            <a:r>
              <a:rPr lang="en"/>
              <a:t>Solution: Online Certificate Status Protocol (OCSP)</a:t>
            </a:r>
            <a:endParaRPr/>
          </a:p>
          <a:p>
            <a:pPr indent="-317500" lvl="1" marL="914400" rtl="0" algn="l">
              <a:spcBef>
                <a:spcPts val="0"/>
              </a:spcBef>
              <a:spcAft>
                <a:spcPts val="0"/>
              </a:spcAft>
              <a:buSzPts val="1400"/>
              <a:buChar char="○"/>
            </a:pPr>
            <a:r>
              <a:rPr lang="en"/>
              <a:t>The browser queries the CA whether a given certificate is still valid</a:t>
            </a:r>
            <a:endParaRPr/>
          </a:p>
          <a:p>
            <a:pPr indent="-317500" lvl="1" marL="914400" rtl="0" algn="l">
              <a:spcBef>
                <a:spcPts val="0"/>
              </a:spcBef>
              <a:spcAft>
                <a:spcPts val="0"/>
              </a:spcAft>
              <a:buSzPts val="1400"/>
              <a:buChar char="○"/>
            </a:pPr>
            <a:r>
              <a:rPr lang="en"/>
              <a:t>The CA responds either “good” or “revoked,” signed with the CA’s private key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3" name="Shape 613"/>
        <p:cNvGrpSpPr/>
        <p:nvPr/>
      </p:nvGrpSpPr>
      <p:grpSpPr>
        <a:xfrm>
          <a:off x="0" y="0"/>
          <a:ext cx="0" cy="0"/>
          <a:chOff x="0" y="0"/>
          <a:chExt cx="0" cy="0"/>
        </a:xfrm>
      </p:grpSpPr>
      <p:sp>
        <p:nvSpPr>
          <p:cNvPr id="614" name="Google Shape;614;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Trust Anchors</a:t>
            </a:r>
            <a:endParaRPr/>
          </a:p>
        </p:txBody>
      </p:sp>
      <p:sp>
        <p:nvSpPr>
          <p:cNvPr id="615" name="Google Shape;615;p5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many certificate authorities do we need to implicitly trust?</a:t>
            </a:r>
            <a:endParaRPr/>
          </a:p>
          <a:p>
            <a:pPr indent="-317500" lvl="1" marL="914400" rtl="0" algn="l">
              <a:spcBef>
                <a:spcPts val="0"/>
              </a:spcBef>
              <a:spcAft>
                <a:spcPts val="0"/>
              </a:spcAft>
              <a:buSzPts val="1400"/>
              <a:buChar char="○"/>
            </a:pPr>
            <a:r>
              <a:rPr lang="en"/>
              <a:t>Modern browsers implicitly trust 100–200 root certificate authorities</a:t>
            </a:r>
            <a:endParaRPr/>
          </a:p>
          <a:p>
            <a:pPr indent="-342900" lvl="0" marL="457200" rtl="0" algn="l">
              <a:spcBef>
                <a:spcPts val="0"/>
              </a:spcBef>
              <a:spcAft>
                <a:spcPts val="0"/>
              </a:spcAft>
              <a:buSzPts val="1800"/>
              <a:buChar char="●"/>
            </a:pPr>
            <a:r>
              <a:rPr lang="en"/>
              <a:t>A CA might issue a malicious certificate (e.g., stating that attacker’s public key belongs to Google) because:</a:t>
            </a:r>
            <a:endParaRPr/>
          </a:p>
          <a:p>
            <a:pPr indent="-317500" lvl="1" marL="914400" rtl="0" algn="l">
              <a:spcBef>
                <a:spcPts val="0"/>
              </a:spcBef>
              <a:spcAft>
                <a:spcPts val="0"/>
              </a:spcAft>
              <a:buSzPts val="1400"/>
              <a:buChar char="○"/>
            </a:pPr>
            <a:r>
              <a:rPr lang="en"/>
              <a:t>The CA is hacked</a:t>
            </a:r>
            <a:endParaRPr/>
          </a:p>
          <a:p>
            <a:pPr indent="-317500" lvl="1" marL="914400" rtl="0" algn="l">
              <a:spcBef>
                <a:spcPts val="0"/>
              </a:spcBef>
              <a:spcAft>
                <a:spcPts val="0"/>
              </a:spcAft>
              <a:buSzPts val="1400"/>
              <a:buChar char="○"/>
            </a:pPr>
            <a:r>
              <a:rPr lang="en"/>
              <a:t>An attacker pays the CA to issue a malicious certificate</a:t>
            </a:r>
            <a:endParaRPr/>
          </a:p>
        </p:txBody>
      </p:sp>
      <p:sp>
        <p:nvSpPr>
          <p:cNvPr id="616" name="Google Shape;61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20" name="Shape 620"/>
        <p:cNvGrpSpPr/>
        <p:nvPr/>
      </p:nvGrpSpPr>
      <p:grpSpPr>
        <a:xfrm>
          <a:off x="0" y="0"/>
          <a:ext cx="0" cy="0"/>
          <a:chOff x="0" y="0"/>
          <a:chExt cx="0" cy="0"/>
        </a:xfrm>
      </p:grpSpPr>
      <p:sp>
        <p:nvSpPr>
          <p:cNvPr id="621" name="Google Shape;621;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Trust Anchors</a:t>
            </a:r>
            <a:endParaRPr/>
          </a:p>
        </p:txBody>
      </p:sp>
      <p:sp>
        <p:nvSpPr>
          <p:cNvPr id="622" name="Google Shape;622;p5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Takeaway</a:t>
            </a:r>
            <a:r>
              <a:rPr lang="en"/>
              <a:t>: Trust certificate authorities can be compromised by hackers</a:t>
            </a:r>
            <a:endParaRPr/>
          </a:p>
        </p:txBody>
      </p:sp>
      <p:sp>
        <p:nvSpPr>
          <p:cNvPr id="623" name="Google Shape;623;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24" name="Google Shape;624;p54"/>
          <p:cNvGraphicFramePr/>
          <p:nvPr/>
        </p:nvGraphicFramePr>
        <p:xfrm>
          <a:off x="288475" y="1431735"/>
          <a:ext cx="3000000" cy="3000000"/>
        </p:xfrm>
        <a:graphic>
          <a:graphicData uri="http://schemas.openxmlformats.org/drawingml/2006/table">
            <a:tbl>
              <a:tblPr>
                <a:noFill/>
                <a:tableStyleId>{0AF3286E-B0B1-44A6-B70C-D2A46FEF1B01}</a:tableStyleId>
              </a:tblPr>
              <a:tblGrid>
                <a:gridCol w="4283525"/>
                <a:gridCol w="4283525"/>
              </a:tblGrid>
              <a:tr h="357600">
                <a:tc>
                  <a:txBody>
                    <a:bodyPr/>
                    <a:lstStyle/>
                    <a:p>
                      <a:pPr indent="0" lvl="0" marL="10858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rgbClr val="0097A7"/>
                          </a:solidFill>
                          <a:hlinkClick r:id="rId3">
                            <a:extLst>
                              <a:ext uri="{A12FA001-AC4F-418D-AE19-62706E023703}">
                                <ahyp:hlinkClr val="tx"/>
                              </a:ext>
                            </a:extLst>
                          </a:hlinkClick>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250325">
                <a:tc gridSpan="2">
                  <a:txBody>
                    <a:bodyPr/>
                    <a:lstStyle/>
                    <a:p>
                      <a:pPr indent="0" lvl="0" marL="0" rtl="0" algn="l">
                        <a:spcBef>
                          <a:spcPts val="0"/>
                        </a:spcBef>
                        <a:spcAft>
                          <a:spcPts val="0"/>
                        </a:spcAft>
                        <a:buNone/>
                      </a:pPr>
                      <a:r>
                        <a:rPr b="1" lang="en" sz="1600">
                          <a:solidFill>
                            <a:srgbClr val="595959"/>
                          </a:solidFill>
                        </a:rPr>
                        <a:t>Solo Iranian hacker takes credit for Comodo certificate attack</a:t>
                      </a:r>
                      <a:endParaRPr b="1" sz="1600">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hMerge="1"/>
              </a:tr>
              <a:tr h="224775">
                <a:tc>
                  <a:txBody>
                    <a:bodyPr/>
                    <a:lstStyle/>
                    <a:p>
                      <a:pPr indent="0" lvl="0" marL="0" rtl="0" algn="l">
                        <a:spcBef>
                          <a:spcPts val="0"/>
                        </a:spcBef>
                        <a:spcAft>
                          <a:spcPts val="0"/>
                        </a:spcAft>
                        <a:buNone/>
                      </a:pPr>
                      <a:r>
                        <a:rPr i="1" lang="en">
                          <a:solidFill>
                            <a:srgbClr val="595959"/>
                          </a:solidFill>
                        </a:rPr>
                        <a:t>Gregg Keizer</a:t>
                      </a:r>
                      <a:endParaRPr i="1">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i="1" lang="en">
                          <a:solidFill>
                            <a:srgbClr val="595959"/>
                          </a:solidFill>
                        </a:rPr>
                        <a:t>March 27, 2011</a:t>
                      </a:r>
                      <a:endParaRPr i="1">
                        <a:solidFill>
                          <a:srgbClr val="595959"/>
                        </a:solidFill>
                      </a:endParaRPr>
                    </a:p>
                  </a:txBody>
                  <a:tcPr marT="27425" marB="27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619350">
                <a:tc gridSpan="2">
                  <a:txBody>
                    <a:bodyPr/>
                    <a:lstStyle/>
                    <a:p>
                      <a:pPr indent="0" lvl="0" marL="0" rtl="0" algn="l">
                        <a:spcBef>
                          <a:spcPts val="0"/>
                        </a:spcBef>
                        <a:spcAft>
                          <a:spcPts val="0"/>
                        </a:spcAft>
                        <a:buNone/>
                      </a:pPr>
                      <a:r>
                        <a:rPr i="1" lang="en">
                          <a:solidFill>
                            <a:srgbClr val="595959"/>
                          </a:solidFill>
                        </a:rPr>
                        <a:t>Security researchers split on whether 'ComodoHacker' is the real deal</a:t>
                      </a:r>
                      <a:endParaRPr i="1">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
                          <a:solidFill>
                            <a:srgbClr val="595959"/>
                          </a:solidFill>
                        </a:rPr>
                        <a:t>A solo Iranian hacker on Saturday claimed responsibility for stealing multiple SSL certificates belonging to some of the Web's biggest sites, including Google, Microsoft, Skype and Yahoo.</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
                          <a:solidFill>
                            <a:srgbClr val="595959"/>
                          </a:solidFill>
                        </a:rPr>
                        <a:t>Early reaction from security experts was mixed, with some believing the hacker's claim, while others were dubious.</a:t>
                      </a:r>
                      <a:endParaRPr>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625" name="Google Shape;625;p54" title="Computerworld"/>
          <p:cNvPicPr preferRelativeResize="0"/>
          <p:nvPr/>
        </p:nvPicPr>
        <p:blipFill rotWithShape="1">
          <a:blip r:embed="rId4">
            <a:alphaModFix/>
          </a:blip>
          <a:srcRect b="0" l="0" r="4223" t="0"/>
          <a:stretch/>
        </p:blipFill>
        <p:spPr>
          <a:xfrm>
            <a:off x="351850" y="1472000"/>
            <a:ext cx="1361534" cy="393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29" name="Shape 629"/>
        <p:cNvGrpSpPr/>
        <p:nvPr/>
      </p:nvGrpSpPr>
      <p:grpSpPr>
        <a:xfrm>
          <a:off x="0" y="0"/>
          <a:ext cx="0" cy="0"/>
          <a:chOff x="0" y="0"/>
          <a:chExt cx="0" cy="0"/>
        </a:xfrm>
      </p:grpSpPr>
      <p:sp>
        <p:nvSpPr>
          <p:cNvPr id="630" name="Google Shape;630;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Trust Anchors</a:t>
            </a:r>
            <a:endParaRPr/>
          </a:p>
        </p:txBody>
      </p:sp>
      <p:sp>
        <p:nvSpPr>
          <p:cNvPr id="631" name="Google Shape;631;p55"/>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Clr>
                <a:schemeClr val="dk1"/>
              </a:buClr>
              <a:buSzPts val="1100"/>
              <a:buFont typeface="Arial"/>
              <a:buNone/>
            </a:pPr>
            <a:r>
              <a:rPr b="1" lang="en"/>
              <a:t>Takeaway</a:t>
            </a:r>
            <a:r>
              <a:rPr lang="en"/>
              <a:t>: Trust certificate authorities can be compromised by hackers</a:t>
            </a:r>
            <a:endParaRPr/>
          </a:p>
        </p:txBody>
      </p:sp>
      <p:sp>
        <p:nvSpPr>
          <p:cNvPr id="632" name="Google Shape;632;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33" name="Google Shape;633;p55"/>
          <p:cNvGraphicFramePr/>
          <p:nvPr/>
        </p:nvGraphicFramePr>
        <p:xfrm>
          <a:off x="288475" y="1431735"/>
          <a:ext cx="3000000" cy="3000000"/>
        </p:xfrm>
        <a:graphic>
          <a:graphicData uri="http://schemas.openxmlformats.org/drawingml/2006/table">
            <a:tbl>
              <a:tblPr>
                <a:noFill/>
                <a:tableStyleId>{0AF3286E-B0B1-44A6-B70C-D2A46FEF1B01}</a:tableStyleId>
              </a:tblPr>
              <a:tblGrid>
                <a:gridCol w="4283525"/>
                <a:gridCol w="4283525"/>
              </a:tblGrid>
              <a:tr h="357600">
                <a:tc>
                  <a:txBody>
                    <a:bodyPr/>
                    <a:lstStyle/>
                    <a:p>
                      <a:pPr indent="0" lvl="0" marL="10858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rgbClr val="0097A7"/>
                          </a:solidFill>
                          <a:hlinkClick r:id="rId3">
                            <a:extLst>
                              <a:ext uri="{A12FA001-AC4F-418D-AE19-62706E023703}">
                                <ahyp:hlinkClr val="tx"/>
                              </a:ext>
                            </a:extLst>
                          </a:hlinkClick>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250325">
                <a:tc gridSpan="2">
                  <a:txBody>
                    <a:bodyPr/>
                    <a:lstStyle/>
                    <a:p>
                      <a:pPr indent="0" lvl="0" marL="0" rtl="0" algn="l">
                        <a:spcBef>
                          <a:spcPts val="0"/>
                        </a:spcBef>
                        <a:spcAft>
                          <a:spcPts val="0"/>
                        </a:spcAft>
                        <a:buNone/>
                      </a:pPr>
                      <a:r>
                        <a:rPr b="1" lang="en" sz="1600">
                          <a:solidFill>
                            <a:srgbClr val="595959"/>
                          </a:solidFill>
                        </a:rPr>
                        <a:t>Fraudulent Google certificate points to Internet attack</a:t>
                      </a:r>
                      <a:endParaRPr b="1" sz="1600">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hMerge="1"/>
              </a:tr>
              <a:tr h="224775">
                <a:tc>
                  <a:txBody>
                    <a:bodyPr/>
                    <a:lstStyle/>
                    <a:p>
                      <a:pPr indent="0" lvl="0" marL="0" rtl="0" algn="l">
                        <a:spcBef>
                          <a:spcPts val="0"/>
                        </a:spcBef>
                        <a:spcAft>
                          <a:spcPts val="0"/>
                        </a:spcAft>
                        <a:buNone/>
                      </a:pPr>
                      <a:r>
                        <a:rPr i="1" lang="en">
                          <a:solidFill>
                            <a:srgbClr val="595959"/>
                          </a:solidFill>
                        </a:rPr>
                        <a:t>Elinor Mills</a:t>
                      </a:r>
                      <a:endParaRPr i="1">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i="1" lang="en">
                          <a:solidFill>
                            <a:srgbClr val="595959"/>
                          </a:solidFill>
                        </a:rPr>
                        <a:t>August </a:t>
                      </a:r>
                      <a:r>
                        <a:rPr i="1" lang="en">
                          <a:solidFill>
                            <a:srgbClr val="595959"/>
                          </a:solidFill>
                        </a:rPr>
                        <a:t>29, 2011</a:t>
                      </a:r>
                      <a:endParaRPr i="1">
                        <a:solidFill>
                          <a:srgbClr val="595959"/>
                        </a:solidFill>
                      </a:endParaRPr>
                    </a:p>
                  </a:txBody>
                  <a:tcPr marT="27425" marB="27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619350">
                <a:tc gridSpan="2">
                  <a:txBody>
                    <a:bodyPr/>
                    <a:lstStyle/>
                    <a:p>
                      <a:pPr indent="0" lvl="0" marL="0" rtl="0" algn="l">
                        <a:spcBef>
                          <a:spcPts val="0"/>
                        </a:spcBef>
                        <a:spcAft>
                          <a:spcPts val="0"/>
                        </a:spcAft>
                        <a:buNone/>
                      </a:pPr>
                      <a:r>
                        <a:rPr i="1" lang="en">
                          <a:solidFill>
                            <a:srgbClr val="595959"/>
                          </a:solidFill>
                        </a:rPr>
                        <a:t>Is Iran behind a fraudulent Google.com digital certificate? The situation is similar to one that happened in March in which spoofed certificates were traced back to Iran.</a:t>
                      </a:r>
                      <a:endParaRPr i="1">
                        <a:solidFill>
                          <a:srgbClr val="595959"/>
                        </a:solidFill>
                      </a:endParaRPr>
                    </a:p>
                    <a:p>
                      <a:pPr indent="0" lvl="0" marL="0" rtl="0" algn="l">
                        <a:spcBef>
                          <a:spcPts val="0"/>
                        </a:spcBef>
                        <a:spcAft>
                          <a:spcPts val="0"/>
                        </a:spcAft>
                        <a:buNone/>
                      </a:pPr>
                      <a:r>
                        <a:t/>
                      </a:r>
                      <a:endParaRPr sz="900">
                        <a:solidFill>
                          <a:srgbClr val="595959"/>
                        </a:solidFill>
                      </a:endParaRPr>
                    </a:p>
                    <a:p>
                      <a:pPr indent="0" lvl="0" marL="0" rtl="0" algn="l">
                        <a:spcBef>
                          <a:spcPts val="0"/>
                        </a:spcBef>
                        <a:spcAft>
                          <a:spcPts val="0"/>
                        </a:spcAft>
                        <a:buNone/>
                      </a:pPr>
                      <a:r>
                        <a:rPr lang="en">
                          <a:solidFill>
                            <a:srgbClr val="595959"/>
                          </a:solidFill>
                        </a:rPr>
                        <a:t>A Dutch company appears to have issued a digital certificate for Google.com to someone other than Google, who may be using it to try to re-direct traffic of users based in Iran.</a:t>
                      </a:r>
                      <a:endParaRPr>
                        <a:solidFill>
                          <a:srgbClr val="595959"/>
                        </a:solidFill>
                      </a:endParaRPr>
                    </a:p>
                    <a:p>
                      <a:pPr indent="0" lvl="0" marL="0" rtl="0" algn="l">
                        <a:spcBef>
                          <a:spcPts val="0"/>
                        </a:spcBef>
                        <a:spcAft>
                          <a:spcPts val="0"/>
                        </a:spcAft>
                        <a:buNone/>
                      </a:pPr>
                      <a:r>
                        <a:t/>
                      </a:r>
                      <a:endParaRPr sz="900">
                        <a:solidFill>
                          <a:srgbClr val="595959"/>
                        </a:solidFill>
                      </a:endParaRPr>
                    </a:p>
                    <a:p>
                      <a:pPr indent="0" lvl="0" marL="0" rtl="0" algn="l">
                        <a:spcBef>
                          <a:spcPts val="0"/>
                        </a:spcBef>
                        <a:spcAft>
                          <a:spcPts val="0"/>
                        </a:spcAft>
                        <a:buNone/>
                      </a:pPr>
                      <a:r>
                        <a:rPr lang="en">
                          <a:solidFill>
                            <a:srgbClr val="595959"/>
                          </a:solidFill>
                        </a:rPr>
                        <a:t>Yesterday, someone reported on a Google support site that when attempting to log in to Gmail the browser issued a warning for the digital certificate used as proof that the site is legitimate, according to </a:t>
                      </a:r>
                      <a:r>
                        <a:rPr lang="en" u="sng">
                          <a:solidFill>
                            <a:schemeClr val="hlink"/>
                          </a:solidFill>
                          <a:hlinkClick r:id="rId4"/>
                        </a:rPr>
                        <a:t>this thread</a:t>
                      </a:r>
                      <a:r>
                        <a:rPr lang="en">
                          <a:solidFill>
                            <a:srgbClr val="595959"/>
                          </a:solidFill>
                        </a:rPr>
                        <a:t> on a Google support forum site.</a:t>
                      </a:r>
                      <a:endParaRPr>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634" name="Google Shape;634;p55" title="CNET"/>
          <p:cNvPicPr preferRelativeResize="0"/>
          <p:nvPr/>
        </p:nvPicPr>
        <p:blipFill>
          <a:blip r:embed="rId5">
            <a:alphaModFix/>
          </a:blip>
          <a:stretch>
            <a:fillRect/>
          </a:stretch>
        </p:blipFill>
        <p:spPr>
          <a:xfrm>
            <a:off x="343347" y="1464822"/>
            <a:ext cx="510363" cy="3936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38" name="Shape 638"/>
        <p:cNvGrpSpPr/>
        <p:nvPr/>
      </p:nvGrpSpPr>
      <p:grpSpPr>
        <a:xfrm>
          <a:off x="0" y="0"/>
          <a:ext cx="0" cy="0"/>
          <a:chOff x="0" y="0"/>
          <a:chExt cx="0" cy="0"/>
        </a:xfrm>
      </p:grpSpPr>
      <p:sp>
        <p:nvSpPr>
          <p:cNvPr id="639" name="Google Shape;639;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Trust Anchors</a:t>
            </a:r>
            <a:endParaRPr/>
          </a:p>
        </p:txBody>
      </p:sp>
      <p:sp>
        <p:nvSpPr>
          <p:cNvPr id="640" name="Google Shape;640;p56"/>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Takeaway</a:t>
            </a:r>
            <a:r>
              <a:rPr lang="en"/>
              <a:t>: Trust certificate authorities can be compromised by hackers</a:t>
            </a:r>
            <a:endParaRPr/>
          </a:p>
        </p:txBody>
      </p:sp>
      <p:sp>
        <p:nvSpPr>
          <p:cNvPr id="641" name="Google Shape;641;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42" name="Google Shape;642;p56"/>
          <p:cNvGraphicFramePr/>
          <p:nvPr/>
        </p:nvGraphicFramePr>
        <p:xfrm>
          <a:off x="288475" y="1431735"/>
          <a:ext cx="3000000" cy="3000000"/>
        </p:xfrm>
        <a:graphic>
          <a:graphicData uri="http://schemas.openxmlformats.org/drawingml/2006/table">
            <a:tbl>
              <a:tblPr>
                <a:noFill/>
                <a:tableStyleId>{0AF3286E-B0B1-44A6-B70C-D2A46FEF1B01}</a:tableStyleId>
              </a:tblPr>
              <a:tblGrid>
                <a:gridCol w="4283525"/>
                <a:gridCol w="4283525"/>
              </a:tblGrid>
              <a:tr h="357600">
                <a:tc>
                  <a:txBody>
                    <a:bodyPr/>
                    <a:lstStyle/>
                    <a:p>
                      <a:pPr indent="0" lvl="0" marL="10858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rgbClr val="0097A7"/>
                          </a:solidFill>
                          <a:hlinkClick r:id="rId3">
                            <a:extLst>
                              <a:ext uri="{A12FA001-AC4F-418D-AE19-62706E023703}">
                                <ahyp:hlinkClr val="tx"/>
                              </a:ext>
                            </a:extLst>
                          </a:hlinkClick>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250325">
                <a:tc gridSpan="2">
                  <a:txBody>
                    <a:bodyPr/>
                    <a:lstStyle/>
                    <a:p>
                      <a:pPr indent="0" lvl="0" marL="0" rtl="0" algn="l">
                        <a:spcBef>
                          <a:spcPts val="0"/>
                        </a:spcBef>
                        <a:spcAft>
                          <a:spcPts val="0"/>
                        </a:spcAft>
                        <a:buNone/>
                      </a:pPr>
                      <a:r>
                        <a:rPr b="1" lang="en" sz="1600">
                          <a:solidFill>
                            <a:srgbClr val="595959"/>
                          </a:solidFill>
                        </a:rPr>
                        <a:t>Final Report on DigiNotar Hack Shows Total Compromise of CA Servers</a:t>
                      </a:r>
                      <a:endParaRPr b="1" sz="1600">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hMerge="1"/>
              </a:tr>
              <a:tr h="224775">
                <a:tc>
                  <a:txBody>
                    <a:bodyPr/>
                    <a:lstStyle/>
                    <a:p>
                      <a:pPr indent="0" lvl="0" marL="0" rtl="0" algn="l">
                        <a:spcBef>
                          <a:spcPts val="0"/>
                        </a:spcBef>
                        <a:spcAft>
                          <a:spcPts val="0"/>
                        </a:spcAft>
                        <a:buNone/>
                      </a:pPr>
                      <a:r>
                        <a:rPr i="1" lang="en">
                          <a:solidFill>
                            <a:srgbClr val="595959"/>
                          </a:solidFill>
                        </a:rPr>
                        <a:t>Dennis Fisher</a:t>
                      </a:r>
                      <a:endParaRPr i="1">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i="1" lang="en">
                          <a:solidFill>
                            <a:srgbClr val="595959"/>
                          </a:solidFill>
                        </a:rPr>
                        <a:t>October 31, 2012</a:t>
                      </a:r>
                      <a:endParaRPr i="1">
                        <a:solidFill>
                          <a:srgbClr val="595959"/>
                        </a:solidFill>
                      </a:endParaRPr>
                    </a:p>
                  </a:txBody>
                  <a:tcPr marT="27425" marB="27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619350">
                <a:tc gridSpan="2">
                  <a:txBody>
                    <a:bodyPr/>
                    <a:lstStyle/>
                    <a:p>
                      <a:pPr indent="0" lvl="0" marL="0" rtl="0" algn="l">
                        <a:spcBef>
                          <a:spcPts val="0"/>
                        </a:spcBef>
                        <a:spcAft>
                          <a:spcPts val="0"/>
                        </a:spcAft>
                        <a:buNone/>
                      </a:pPr>
                      <a:r>
                        <a:rPr lang="en">
                          <a:solidFill>
                            <a:srgbClr val="595959"/>
                          </a:solidFill>
                        </a:rPr>
                        <a:t>The attacker who penetrated the Dutch CA DigiNotar last year had complete control of all eight of the company’s certificate-issuing servers during the operation and he may also have issued some rogue certificates that have not yet been identified.</a:t>
                      </a:r>
                      <a:endParaRPr>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643" name="Google Shape;643;p56" title="Threatpost"/>
          <p:cNvPicPr preferRelativeResize="0"/>
          <p:nvPr/>
        </p:nvPicPr>
        <p:blipFill>
          <a:blip r:embed="rId4">
            <a:alphaModFix/>
          </a:blip>
          <a:stretch>
            <a:fillRect/>
          </a:stretch>
        </p:blipFill>
        <p:spPr>
          <a:xfrm>
            <a:off x="347625" y="1498000"/>
            <a:ext cx="1404200" cy="3604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47" name="Shape 647"/>
        <p:cNvGrpSpPr/>
        <p:nvPr/>
      </p:nvGrpSpPr>
      <p:grpSpPr>
        <a:xfrm>
          <a:off x="0" y="0"/>
          <a:ext cx="0" cy="0"/>
          <a:chOff x="0" y="0"/>
          <a:chExt cx="0" cy="0"/>
        </a:xfrm>
      </p:grpSpPr>
      <p:sp>
        <p:nvSpPr>
          <p:cNvPr id="648" name="Google Shape;648;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Trust Anchors</a:t>
            </a:r>
            <a:endParaRPr/>
          </a:p>
        </p:txBody>
      </p:sp>
      <p:sp>
        <p:nvSpPr>
          <p:cNvPr id="649" name="Google Shape;649;p57"/>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Takeaway</a:t>
            </a:r>
            <a:r>
              <a:rPr lang="en"/>
              <a:t>: Trust certificate authorities can be compromised by hackers</a:t>
            </a:r>
            <a:endParaRPr/>
          </a:p>
        </p:txBody>
      </p:sp>
      <p:sp>
        <p:nvSpPr>
          <p:cNvPr id="650" name="Google Shape;650;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651" name="Google Shape;651;p57"/>
          <p:cNvGraphicFramePr/>
          <p:nvPr/>
        </p:nvGraphicFramePr>
        <p:xfrm>
          <a:off x="288475" y="1431735"/>
          <a:ext cx="3000000" cy="3000000"/>
        </p:xfrm>
        <a:graphic>
          <a:graphicData uri="http://schemas.openxmlformats.org/drawingml/2006/table">
            <a:tbl>
              <a:tblPr>
                <a:noFill/>
                <a:tableStyleId>{0AF3286E-B0B1-44A6-B70C-D2A46FEF1B01}</a:tableStyleId>
              </a:tblPr>
              <a:tblGrid>
                <a:gridCol w="4283525"/>
                <a:gridCol w="4283525"/>
              </a:tblGrid>
              <a:tr h="357600">
                <a:tc>
                  <a:txBody>
                    <a:bodyPr/>
                    <a:lstStyle/>
                    <a:p>
                      <a:pPr indent="0" lvl="0" marL="10858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rgbClr val="0097A7"/>
                          </a:solidFill>
                          <a:hlinkClick r:id="rId3">
                            <a:extLst>
                              <a:ext uri="{A12FA001-AC4F-418D-AE19-62706E023703}">
                                <ahyp:hlinkClr val="tx"/>
                              </a:ext>
                            </a:extLst>
                          </a:hlinkClick>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250325">
                <a:tc gridSpan="2">
                  <a:txBody>
                    <a:bodyPr/>
                    <a:lstStyle/>
                    <a:p>
                      <a:pPr indent="0" lvl="0" marL="0" rtl="0" algn="l">
                        <a:spcBef>
                          <a:spcPts val="0"/>
                        </a:spcBef>
                        <a:spcAft>
                          <a:spcPts val="0"/>
                        </a:spcAft>
                        <a:buNone/>
                      </a:pPr>
                      <a:r>
                        <a:rPr b="1" lang="en" sz="1600">
                          <a:solidFill>
                            <a:srgbClr val="595959"/>
                          </a:solidFill>
                        </a:rPr>
                        <a:t>Evidence Suggests DigiNotar, Who Issued Fraudulent</a:t>
                      </a:r>
                      <a:br>
                        <a:rPr b="1" lang="en" sz="1600">
                          <a:solidFill>
                            <a:srgbClr val="595959"/>
                          </a:solidFill>
                        </a:rPr>
                      </a:br>
                      <a:r>
                        <a:rPr b="1" lang="en" sz="1600">
                          <a:solidFill>
                            <a:srgbClr val="595959"/>
                          </a:solidFill>
                        </a:rPr>
                        <a:t>Google Certificate, Was Hacked </a:t>
                      </a:r>
                      <a:r>
                        <a:rPr b="1" i="1" lang="en" sz="1600">
                          <a:solidFill>
                            <a:srgbClr val="595959"/>
                          </a:solidFill>
                        </a:rPr>
                        <a:t>Years</a:t>
                      </a:r>
                      <a:r>
                        <a:rPr b="1" lang="en" sz="1600">
                          <a:solidFill>
                            <a:srgbClr val="595959"/>
                          </a:solidFill>
                        </a:rPr>
                        <a:t> Ago</a:t>
                      </a:r>
                      <a:endParaRPr b="1" sz="1600">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hMerge="1"/>
              </a:tr>
              <a:tr h="224775">
                <a:tc>
                  <a:txBody>
                    <a:bodyPr/>
                    <a:lstStyle/>
                    <a:p>
                      <a:pPr indent="0" lvl="0" marL="0" rtl="0" algn="l">
                        <a:spcBef>
                          <a:spcPts val="0"/>
                        </a:spcBef>
                        <a:spcAft>
                          <a:spcPts val="0"/>
                        </a:spcAft>
                        <a:buNone/>
                      </a:pPr>
                      <a:r>
                        <a:rPr i="1" lang="en">
                          <a:solidFill>
                            <a:srgbClr val="595959"/>
                          </a:solidFill>
                        </a:rPr>
                        <a:t>Mike Masnick</a:t>
                      </a:r>
                      <a:endParaRPr i="1">
                        <a:solidFill>
                          <a:srgbClr val="595959"/>
                        </a:solidFill>
                      </a:endParaRPr>
                    </a:p>
                  </a:txBody>
                  <a:tcPr marT="27425" marB="27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i="1" lang="en">
                          <a:solidFill>
                            <a:srgbClr val="595959"/>
                          </a:solidFill>
                        </a:rPr>
                        <a:t>August 30, 2011</a:t>
                      </a:r>
                      <a:endParaRPr i="1">
                        <a:solidFill>
                          <a:srgbClr val="595959"/>
                        </a:solidFill>
                      </a:endParaRPr>
                    </a:p>
                  </a:txBody>
                  <a:tcPr marT="27425" marB="27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619350">
                <a:tc gridSpan="2">
                  <a:txBody>
                    <a:bodyPr/>
                    <a:lstStyle/>
                    <a:p>
                      <a:pPr indent="0" lvl="0" marL="0" rtl="0" algn="l">
                        <a:spcBef>
                          <a:spcPts val="0"/>
                        </a:spcBef>
                        <a:spcAft>
                          <a:spcPts val="0"/>
                        </a:spcAft>
                        <a:buNone/>
                      </a:pPr>
                      <a:r>
                        <a:rPr lang="en">
                          <a:solidFill>
                            <a:srgbClr val="595959"/>
                          </a:solidFill>
                        </a:rPr>
                        <a:t>The big news in the security world, obviously, is the fact that a fraudulent Google certificate made its way out into the wild, apparently targeting internet users in Iran. The Dutch company DigiNotar has put out a statement saying that it discovered a breach back on July 19th during a security audit, and that fraudulent certificates were generated for "several dozen" websites. The only one known to have gotten out into the wild is the Google one.</a:t>
                      </a:r>
                      <a:endParaRPr>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652" name="Google Shape;652;p57"/>
          <p:cNvPicPr preferRelativeResize="0"/>
          <p:nvPr/>
        </p:nvPicPr>
        <p:blipFill>
          <a:blip r:embed="rId4">
            <a:alphaModFix/>
          </a:blip>
          <a:stretch>
            <a:fillRect/>
          </a:stretch>
        </p:blipFill>
        <p:spPr>
          <a:xfrm>
            <a:off x="356650" y="1515550"/>
            <a:ext cx="2337850" cy="3428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56" name="Shape 656"/>
        <p:cNvGrpSpPr/>
        <p:nvPr/>
      </p:nvGrpSpPr>
      <p:grpSpPr>
        <a:xfrm>
          <a:off x="0" y="0"/>
          <a:ext cx="0" cy="0"/>
          <a:chOff x="0" y="0"/>
          <a:chExt cx="0" cy="0"/>
        </a:xfrm>
      </p:grpSpPr>
      <p:sp>
        <p:nvSpPr>
          <p:cNvPr id="657" name="Google Shape;657;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Trust Anchors</a:t>
            </a:r>
            <a:endParaRPr/>
          </a:p>
        </p:txBody>
      </p:sp>
      <p:sp>
        <p:nvSpPr>
          <p:cNvPr id="658" name="Google Shape;658;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9" name="Google Shape;659;p5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DigiNotar: A certificate authority that was hacked</a:t>
            </a:r>
            <a:endParaRPr/>
          </a:p>
          <a:p>
            <a:pPr indent="-317500" lvl="1" marL="914400" rtl="0" algn="l">
              <a:spcBef>
                <a:spcPts val="0"/>
              </a:spcBef>
              <a:spcAft>
                <a:spcPts val="0"/>
              </a:spcAft>
              <a:buSzPts val="1400"/>
              <a:buChar char="○"/>
            </a:pPr>
            <a:r>
              <a:rPr lang="en"/>
              <a:t>All web browsers removed DigiNotar from the list of trusted CAs</a:t>
            </a:r>
            <a:endParaRPr/>
          </a:p>
          <a:p>
            <a:pPr indent="-342900" lvl="0" marL="457200" rtl="0" algn="l">
              <a:spcBef>
                <a:spcPts val="0"/>
              </a:spcBef>
              <a:spcAft>
                <a:spcPts val="0"/>
              </a:spcAft>
              <a:buSzPts val="1800"/>
              <a:buChar char="●"/>
            </a:pPr>
            <a:r>
              <a:rPr b="1" lang="en"/>
              <a:t>Takeaway</a:t>
            </a:r>
            <a:r>
              <a:rPr lang="en"/>
              <a:t>: It is hard to implicitly trust the root CAs (trust anchors) in TLS</a:t>
            </a:r>
            <a:endParaRPr/>
          </a:p>
          <a:p>
            <a:pPr indent="-342900" lvl="0" marL="457200" rtl="0" algn="l">
              <a:spcBef>
                <a:spcPts val="0"/>
              </a:spcBef>
              <a:spcAft>
                <a:spcPts val="0"/>
              </a:spcAft>
              <a:buSzPts val="1800"/>
              <a:buChar char="●"/>
            </a:pPr>
            <a:r>
              <a:rPr b="1" lang="en"/>
              <a:t>Takeaway</a:t>
            </a:r>
            <a:r>
              <a:rPr lang="en"/>
              <a:t>: TLS CA ecosystem is largely secured through human relationships</a:t>
            </a:r>
            <a:endParaRPr/>
          </a:p>
          <a:p>
            <a:pPr indent="-317500" lvl="1" marL="914400" rtl="0" algn="l">
              <a:spcBef>
                <a:spcPts val="0"/>
              </a:spcBef>
              <a:spcAft>
                <a:spcPts val="0"/>
              </a:spcAft>
              <a:buSzPts val="1400"/>
              <a:buChar char="○"/>
            </a:pPr>
            <a:r>
              <a:rPr lang="en"/>
              <a:t>CAs are motivated to be good because browser vendors can remove them from the list of trusted root CAs at any time (if they’ve been deemed to be bad)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3" name="Shape 663"/>
        <p:cNvGrpSpPr/>
        <p:nvPr/>
      </p:nvGrpSpPr>
      <p:grpSpPr>
        <a:xfrm>
          <a:off x="0" y="0"/>
          <a:ext cx="0" cy="0"/>
          <a:chOff x="0" y="0"/>
          <a:chExt cx="0" cy="0"/>
        </a:xfrm>
      </p:grpSpPr>
      <p:sp>
        <p:nvSpPr>
          <p:cNvPr id="664" name="Google Shape;664;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Mitigating Trust Issues</a:t>
            </a:r>
            <a:endParaRPr/>
          </a:p>
        </p:txBody>
      </p:sp>
      <p:sp>
        <p:nvSpPr>
          <p:cNvPr id="665" name="Google Shape;665;p5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Certificate pinning</a:t>
            </a:r>
            <a:r>
              <a:rPr lang="en"/>
              <a:t>: The browser restricts which CAs are allowed to issue a certificate for each website</a:t>
            </a:r>
            <a:endParaRPr/>
          </a:p>
          <a:p>
            <a:pPr indent="-317500" lvl="1" marL="914400" rtl="0" algn="l">
              <a:spcBef>
                <a:spcPts val="0"/>
              </a:spcBef>
              <a:spcAft>
                <a:spcPts val="0"/>
              </a:spcAft>
              <a:buSzPts val="1400"/>
              <a:buChar char="○"/>
            </a:pPr>
            <a:r>
              <a:rPr lang="en"/>
              <a:t>Example: Only Google's favorite CA is allowed to sign certificates for Google websites</a:t>
            </a:r>
            <a:endParaRPr/>
          </a:p>
          <a:p>
            <a:pPr indent="-317500" lvl="1" marL="914400" rtl="0" algn="l">
              <a:spcBef>
                <a:spcPts val="0"/>
              </a:spcBef>
              <a:spcAft>
                <a:spcPts val="0"/>
              </a:spcAft>
              <a:buSzPts val="1400"/>
              <a:buChar char="○"/>
            </a:pPr>
            <a:r>
              <a:rPr lang="en"/>
              <a:t>Now creating a fake certificate for a specific website requires attacking a particular CA</a:t>
            </a:r>
            <a:endParaRPr/>
          </a:p>
          <a:p>
            <a:pPr indent="-342900" lvl="0" marL="457200" rtl="0" algn="l">
              <a:spcBef>
                <a:spcPts val="0"/>
              </a:spcBef>
              <a:spcAft>
                <a:spcPts val="0"/>
              </a:spcAft>
              <a:buSzPts val="1800"/>
              <a:buChar char="●"/>
            </a:pPr>
            <a:r>
              <a:rPr b="1" lang="en"/>
              <a:t>Certificate transparency</a:t>
            </a:r>
            <a:r>
              <a:rPr lang="en"/>
              <a:t>: Public logs provided by CAs</a:t>
            </a:r>
            <a:endParaRPr/>
          </a:p>
          <a:p>
            <a:pPr indent="-317500" lvl="1" marL="914400" rtl="0" algn="l">
              <a:spcBef>
                <a:spcPts val="0"/>
              </a:spcBef>
              <a:spcAft>
                <a:spcPts val="0"/>
              </a:spcAft>
              <a:buSzPts val="1400"/>
              <a:buChar char="○"/>
            </a:pPr>
            <a:r>
              <a:rPr lang="en"/>
              <a:t>Specifics are out of scope</a:t>
            </a:r>
            <a:endParaRPr/>
          </a:p>
          <a:p>
            <a:pPr indent="-317500" lvl="1" marL="914400" rtl="0" algn="l">
              <a:spcBef>
                <a:spcPts val="0"/>
              </a:spcBef>
              <a:spcAft>
                <a:spcPts val="0"/>
              </a:spcAft>
              <a:buSzPts val="1400"/>
              <a:buChar char="○"/>
            </a:pPr>
            <a:r>
              <a:rPr lang="en"/>
              <a:t>High-level idea: Use hash chains to keep a record of all issued certificates</a:t>
            </a:r>
            <a:endParaRPr/>
          </a:p>
          <a:p>
            <a:pPr indent="-317500" lvl="1" marL="914400" rtl="0" algn="l">
              <a:spcBef>
                <a:spcPts val="0"/>
              </a:spcBef>
              <a:spcAft>
                <a:spcPts val="0"/>
              </a:spcAft>
              <a:buSzPts val="1400"/>
              <a:buChar char="○"/>
            </a:pPr>
            <a:r>
              <a:rPr lang="en"/>
              <a:t>The server can tell the browser to only accept certificates from CAs implementing transparency</a:t>
            </a:r>
            <a:endParaRPr/>
          </a:p>
          <a:p>
            <a:pPr indent="-317500" lvl="1" marL="914400" rtl="0" algn="l">
              <a:spcBef>
                <a:spcPts val="0"/>
              </a:spcBef>
              <a:spcAft>
                <a:spcPts val="0"/>
              </a:spcAft>
              <a:buSzPts val="1400"/>
              <a:buChar char="○"/>
            </a:pPr>
            <a:r>
              <a:rPr lang="en"/>
              <a:t>If CA issues a bad certificate, this is detectable from the public logs</a:t>
            </a:r>
            <a:endParaRPr/>
          </a:p>
        </p:txBody>
      </p:sp>
      <p:sp>
        <p:nvSpPr>
          <p:cNvPr id="666" name="Google Shape;66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0" name="Shape 670"/>
        <p:cNvGrpSpPr/>
        <p:nvPr/>
      </p:nvGrpSpPr>
      <p:grpSpPr>
        <a:xfrm>
          <a:off x="0" y="0"/>
          <a:ext cx="0" cy="0"/>
          <a:chOff x="0" y="0"/>
          <a:chExt cx="0" cy="0"/>
        </a:xfrm>
      </p:grpSpPr>
      <p:sp>
        <p:nvSpPr>
          <p:cNvPr id="671" name="Google Shape;671;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Certificate</a:t>
            </a:r>
            <a:r>
              <a:rPr lang="en"/>
              <a:t> Authority Example: Let’s Encrypt</a:t>
            </a:r>
            <a:endParaRPr/>
          </a:p>
        </p:txBody>
      </p:sp>
      <p:sp>
        <p:nvSpPr>
          <p:cNvPr id="672" name="Google Shape;672;p6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TLS requires </a:t>
            </a:r>
            <a:r>
              <a:rPr lang="en"/>
              <a:t>every website to obtain and maintain certificates</a:t>
            </a:r>
            <a:endParaRPr/>
          </a:p>
          <a:p>
            <a:pPr indent="-317500" lvl="1" marL="914400" rtl="0" algn="l">
              <a:spcBef>
                <a:spcPts val="0"/>
              </a:spcBef>
              <a:spcAft>
                <a:spcPts val="0"/>
              </a:spcAft>
              <a:buSzPts val="1400"/>
              <a:buChar char="○"/>
            </a:pPr>
            <a:r>
              <a:rPr lang="en"/>
              <a:t>Cost overhead: Certificates might cost money</a:t>
            </a:r>
            <a:endParaRPr/>
          </a:p>
          <a:p>
            <a:pPr indent="-317500" lvl="1" marL="914400" rtl="0" algn="l">
              <a:spcBef>
                <a:spcPts val="0"/>
              </a:spcBef>
              <a:spcAft>
                <a:spcPts val="0"/>
              </a:spcAft>
              <a:buSzPts val="1400"/>
              <a:buChar char="○"/>
            </a:pPr>
            <a:r>
              <a:rPr lang="en"/>
              <a:t>Some management overhead involved</a:t>
            </a:r>
            <a:endParaRPr/>
          </a:p>
          <a:p>
            <a:pPr indent="-342900" lvl="0" marL="457200" rtl="0" algn="l">
              <a:spcBef>
                <a:spcPts val="0"/>
              </a:spcBef>
              <a:spcAft>
                <a:spcPts val="0"/>
              </a:spcAft>
              <a:buSzPts val="1800"/>
              <a:buChar char="●"/>
            </a:pPr>
            <a:r>
              <a:rPr b="1" lang="en"/>
              <a:t>Let’s Encrypt</a:t>
            </a:r>
            <a:r>
              <a:rPr lang="en"/>
              <a:t>: The world’s largest certificate authority</a:t>
            </a:r>
            <a:endParaRPr/>
          </a:p>
          <a:p>
            <a:pPr indent="-317500" lvl="1" marL="914400" rtl="0" algn="l">
              <a:spcBef>
                <a:spcPts val="0"/>
              </a:spcBef>
              <a:spcAft>
                <a:spcPts val="0"/>
              </a:spcAft>
              <a:buSzPts val="1400"/>
              <a:buChar char="○"/>
            </a:pPr>
            <a:r>
              <a:rPr lang="en"/>
              <a:t>Issues certificates for free</a:t>
            </a:r>
            <a:endParaRPr/>
          </a:p>
          <a:p>
            <a:pPr indent="-317500" lvl="1" marL="914400" rtl="0" algn="l">
              <a:spcBef>
                <a:spcPts val="0"/>
              </a:spcBef>
              <a:spcAft>
                <a:spcPts val="0"/>
              </a:spcAft>
              <a:buSzPts val="1400"/>
              <a:buChar char="○"/>
            </a:pPr>
            <a:r>
              <a:rPr lang="en"/>
              <a:t>Tries to make obtaining certificates as easy as possible</a:t>
            </a:r>
            <a:endParaRPr/>
          </a:p>
          <a:p>
            <a:pPr indent="-342900" lvl="0" marL="457200" rtl="0" algn="l">
              <a:spcBef>
                <a:spcPts val="0"/>
              </a:spcBef>
              <a:spcAft>
                <a:spcPts val="0"/>
              </a:spcAft>
              <a:buSzPts val="1800"/>
              <a:buChar char="●"/>
            </a:pPr>
            <a:r>
              <a:rPr lang="en"/>
              <a:t>Steps of issuing a certificate (can all be automated with a script)</a:t>
            </a:r>
            <a:endParaRPr/>
          </a:p>
          <a:p>
            <a:pPr indent="-317500" lvl="1" marL="914400" rtl="0" algn="l">
              <a:spcBef>
                <a:spcPts val="0"/>
              </a:spcBef>
              <a:spcAft>
                <a:spcPts val="0"/>
              </a:spcAft>
              <a:buSzPts val="1400"/>
              <a:buChar char="○"/>
            </a:pPr>
            <a:r>
              <a:rPr lang="en"/>
              <a:t>The server requests a certificate</a:t>
            </a:r>
            <a:endParaRPr/>
          </a:p>
          <a:p>
            <a:pPr indent="-317500" lvl="1" marL="914400" rtl="0" algn="l">
              <a:spcBef>
                <a:spcPts val="0"/>
              </a:spcBef>
              <a:spcAft>
                <a:spcPts val="0"/>
              </a:spcAft>
              <a:buSzPts val="1400"/>
              <a:buChar char="○"/>
            </a:pPr>
            <a:r>
              <a:rPr lang="en"/>
              <a:t>Let’s Encrypt gives the server a file and tells the server to upload the file</a:t>
            </a:r>
            <a:endParaRPr/>
          </a:p>
          <a:p>
            <a:pPr indent="-317500" lvl="1" marL="914400" rtl="0" algn="l">
              <a:spcBef>
                <a:spcPts val="0"/>
              </a:spcBef>
              <a:spcAft>
                <a:spcPts val="0"/>
              </a:spcAft>
              <a:buSzPts val="1400"/>
              <a:buChar char="○"/>
            </a:pPr>
            <a:r>
              <a:rPr lang="en"/>
              <a:t>The server uploads the file to the website</a:t>
            </a:r>
            <a:endParaRPr/>
          </a:p>
          <a:p>
            <a:pPr indent="-317500" lvl="1" marL="914400" rtl="0" algn="l">
              <a:spcBef>
                <a:spcPts val="0"/>
              </a:spcBef>
              <a:spcAft>
                <a:spcPts val="0"/>
              </a:spcAft>
              <a:buSzPts val="1400"/>
              <a:buChar char="○"/>
            </a:pPr>
            <a:r>
              <a:rPr lang="en"/>
              <a:t>Let’s Encrypt verifies that the file has appeared on the website (thus verifying the server’s identity) and issues the certificate to the server</a:t>
            </a:r>
            <a:endParaRPr/>
          </a:p>
        </p:txBody>
      </p:sp>
      <p:sp>
        <p:nvSpPr>
          <p:cNvPr id="673" name="Google Shape;673;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Summary</a:t>
            </a:r>
            <a:endParaRPr/>
          </a:p>
        </p:txBody>
      </p:sp>
      <p:sp>
        <p:nvSpPr>
          <p:cNvPr id="679" name="Google Shape;679;p61"/>
          <p:cNvSpPr txBox="1"/>
          <p:nvPr>
            <p:ph idx="1" type="body"/>
          </p:nvPr>
        </p:nvSpPr>
        <p:spPr>
          <a:xfrm>
            <a:off x="198500" y="1246825"/>
            <a:ext cx="50211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TLS Handshake</a:t>
            </a:r>
            <a:endParaRPr/>
          </a:p>
          <a:p>
            <a:pPr indent="-317500" lvl="1" marL="914400" rtl="0" algn="l">
              <a:spcBef>
                <a:spcPts val="0"/>
              </a:spcBef>
              <a:spcAft>
                <a:spcPts val="0"/>
              </a:spcAft>
              <a:buSzPts val="1400"/>
              <a:buChar char="○"/>
            </a:pPr>
            <a:r>
              <a:rPr lang="en"/>
              <a:t>Nonces make every </a:t>
            </a:r>
            <a:r>
              <a:rPr lang="en"/>
              <a:t>handshake</a:t>
            </a:r>
            <a:r>
              <a:rPr lang="en"/>
              <a:t> different (prevents replay attacks across connections)</a:t>
            </a:r>
            <a:endParaRPr/>
          </a:p>
          <a:p>
            <a:pPr indent="-317500" lvl="1" marL="914400" rtl="0" algn="l">
              <a:spcBef>
                <a:spcPts val="0"/>
              </a:spcBef>
              <a:spcAft>
                <a:spcPts val="0"/>
              </a:spcAft>
              <a:buSzPts val="1400"/>
              <a:buChar char="○"/>
            </a:pPr>
            <a:r>
              <a:rPr lang="en"/>
              <a:t>Certificate proves server’s public key</a:t>
            </a:r>
            <a:endParaRPr/>
          </a:p>
          <a:p>
            <a:pPr indent="-317500" lvl="1" marL="914400" rtl="0" algn="l">
              <a:spcBef>
                <a:spcPts val="0"/>
              </a:spcBef>
              <a:spcAft>
                <a:spcPts val="0"/>
              </a:spcAft>
              <a:buSzPts val="1400"/>
              <a:buChar char="○"/>
            </a:pPr>
            <a:r>
              <a:rPr lang="en"/>
              <a:t>DHE proves that the server owns the private key</a:t>
            </a:r>
            <a:endParaRPr/>
          </a:p>
          <a:p>
            <a:pPr indent="-317500" lvl="1" marL="914400" rtl="0" algn="l">
              <a:spcBef>
                <a:spcPts val="0"/>
              </a:spcBef>
              <a:spcAft>
                <a:spcPts val="0"/>
              </a:spcAft>
              <a:buSzPts val="1400"/>
              <a:buChar char="○"/>
            </a:pPr>
            <a:r>
              <a:rPr lang="en"/>
              <a:t>DHE helps client and server agree on a shared secret key</a:t>
            </a:r>
            <a:endParaRPr/>
          </a:p>
          <a:p>
            <a:pPr indent="-317500" lvl="1" marL="914400" rtl="0" algn="l">
              <a:spcBef>
                <a:spcPts val="0"/>
              </a:spcBef>
              <a:spcAft>
                <a:spcPts val="0"/>
              </a:spcAft>
              <a:buSzPts val="1400"/>
              <a:buChar char="○"/>
            </a:pPr>
            <a:r>
              <a:rPr lang="en"/>
              <a:t>MACs ensure no one tampered with the handshake</a:t>
            </a:r>
            <a:endParaRPr/>
          </a:p>
          <a:p>
            <a:pPr indent="-317500" lvl="1" marL="914400" rtl="0" algn="l">
              <a:spcBef>
                <a:spcPts val="0"/>
              </a:spcBef>
              <a:spcAft>
                <a:spcPts val="0"/>
              </a:spcAft>
              <a:buSzPts val="1400"/>
              <a:buChar char="○"/>
            </a:pPr>
            <a:r>
              <a:rPr lang="en"/>
              <a:t>Messages are sent with symmetric encryption and MACs</a:t>
            </a:r>
            <a:endParaRPr/>
          </a:p>
          <a:p>
            <a:pPr indent="-317500" lvl="1" marL="914400" rtl="0" algn="l">
              <a:spcBef>
                <a:spcPts val="0"/>
              </a:spcBef>
              <a:spcAft>
                <a:spcPts val="0"/>
              </a:spcAft>
              <a:buSzPts val="1400"/>
              <a:buChar char="○"/>
            </a:pPr>
            <a:r>
              <a:rPr lang="en"/>
              <a:t>Record numbers prevent replay attacks within a connection</a:t>
            </a:r>
            <a:endParaRPr/>
          </a:p>
        </p:txBody>
      </p:sp>
      <p:sp>
        <p:nvSpPr>
          <p:cNvPr id="680" name="Google Shape;680;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681" name="Google Shape;681;p61"/>
          <p:cNvCxnSpPr/>
          <p:nvPr/>
        </p:nvCxnSpPr>
        <p:spPr>
          <a:xfrm>
            <a:off x="5519675" y="1530925"/>
            <a:ext cx="0" cy="3481500"/>
          </a:xfrm>
          <a:prstGeom prst="straightConnector1">
            <a:avLst/>
          </a:prstGeom>
          <a:noFill/>
          <a:ln cap="flat" cmpd="sng" w="19050">
            <a:solidFill>
              <a:schemeClr val="dk2"/>
            </a:solidFill>
            <a:prstDash val="solid"/>
            <a:round/>
            <a:headEnd len="med" w="med" type="none"/>
            <a:tailEnd len="med" w="med" type="none"/>
          </a:ln>
        </p:spPr>
      </p:cxnSp>
      <p:cxnSp>
        <p:nvCxnSpPr>
          <p:cNvPr id="682" name="Google Shape;682;p61"/>
          <p:cNvCxnSpPr/>
          <p:nvPr/>
        </p:nvCxnSpPr>
        <p:spPr>
          <a:xfrm>
            <a:off x="8558425" y="1530925"/>
            <a:ext cx="0" cy="3481500"/>
          </a:xfrm>
          <a:prstGeom prst="straightConnector1">
            <a:avLst/>
          </a:prstGeom>
          <a:noFill/>
          <a:ln cap="flat" cmpd="sng" w="19050">
            <a:solidFill>
              <a:schemeClr val="dk2"/>
            </a:solidFill>
            <a:prstDash val="solid"/>
            <a:round/>
            <a:headEnd len="med" w="med" type="none"/>
            <a:tailEnd len="med" w="med" type="none"/>
          </a:ln>
        </p:spPr>
      </p:cxnSp>
      <p:sp>
        <p:nvSpPr>
          <p:cNvPr id="683" name="Google Shape;683;p61"/>
          <p:cNvSpPr txBox="1"/>
          <p:nvPr/>
        </p:nvSpPr>
        <p:spPr>
          <a:xfrm>
            <a:off x="5376050" y="1130725"/>
            <a:ext cx="93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Client</a:t>
            </a:r>
            <a:endParaRPr/>
          </a:p>
        </p:txBody>
      </p:sp>
      <p:sp>
        <p:nvSpPr>
          <p:cNvPr id="684" name="Google Shape;684;p61"/>
          <p:cNvSpPr txBox="1"/>
          <p:nvPr/>
        </p:nvSpPr>
        <p:spPr>
          <a:xfrm>
            <a:off x="7727125" y="1130725"/>
            <a:ext cx="93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Server</a:t>
            </a:r>
            <a:endParaRPr/>
          </a:p>
        </p:txBody>
      </p:sp>
      <p:cxnSp>
        <p:nvCxnSpPr>
          <p:cNvPr id="685" name="Google Shape;685;p61"/>
          <p:cNvCxnSpPr/>
          <p:nvPr/>
        </p:nvCxnSpPr>
        <p:spPr>
          <a:xfrm>
            <a:off x="5586075" y="15395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686" name="Google Shape;686;p61"/>
          <p:cNvSpPr txBox="1"/>
          <p:nvPr/>
        </p:nvSpPr>
        <p:spPr>
          <a:xfrm rot="512024">
            <a:off x="5611456" y="14112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ClientHello</a:t>
            </a:r>
            <a:endParaRPr/>
          </a:p>
        </p:txBody>
      </p:sp>
      <p:cxnSp>
        <p:nvCxnSpPr>
          <p:cNvPr id="687" name="Google Shape;687;p61"/>
          <p:cNvCxnSpPr/>
          <p:nvPr/>
        </p:nvCxnSpPr>
        <p:spPr>
          <a:xfrm flipH="1">
            <a:off x="5612225" y="20547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688" name="Google Shape;688;p61"/>
          <p:cNvSpPr txBox="1"/>
          <p:nvPr/>
        </p:nvSpPr>
        <p:spPr>
          <a:xfrm flipH="1" rot="-523651">
            <a:off x="5598797" y="19266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ServerHello</a:t>
            </a:r>
            <a:endParaRPr/>
          </a:p>
        </p:txBody>
      </p:sp>
      <p:cxnSp>
        <p:nvCxnSpPr>
          <p:cNvPr id="689" name="Google Shape;689;p61"/>
          <p:cNvCxnSpPr/>
          <p:nvPr/>
        </p:nvCxnSpPr>
        <p:spPr>
          <a:xfrm flipH="1">
            <a:off x="5644975" y="240233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690" name="Google Shape;690;p61"/>
          <p:cNvSpPr txBox="1"/>
          <p:nvPr/>
        </p:nvSpPr>
        <p:spPr>
          <a:xfrm flipH="1" rot="-523651">
            <a:off x="5631547" y="227420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Certificate</a:t>
            </a:r>
            <a:endParaRPr/>
          </a:p>
        </p:txBody>
      </p:sp>
      <p:cxnSp>
        <p:nvCxnSpPr>
          <p:cNvPr id="691" name="Google Shape;691;p61"/>
          <p:cNvCxnSpPr/>
          <p:nvPr/>
        </p:nvCxnSpPr>
        <p:spPr>
          <a:xfrm flipH="1">
            <a:off x="5612225" y="2740587"/>
            <a:ext cx="2814300" cy="437700"/>
          </a:xfrm>
          <a:prstGeom prst="straightConnector1">
            <a:avLst/>
          </a:prstGeom>
          <a:noFill/>
          <a:ln cap="flat" cmpd="sng" w="9525">
            <a:solidFill>
              <a:srgbClr val="CCCCCC"/>
            </a:solidFill>
            <a:prstDash val="solid"/>
            <a:round/>
            <a:headEnd len="med" w="med" type="none"/>
            <a:tailEnd len="med" w="med" type="triangle"/>
          </a:ln>
        </p:spPr>
      </p:cxnSp>
      <p:sp>
        <p:nvSpPr>
          <p:cNvPr id="692" name="Google Shape;692;p61"/>
          <p:cNvSpPr txBox="1"/>
          <p:nvPr/>
        </p:nvSpPr>
        <p:spPr>
          <a:xfrm flipH="1" rot="-523651">
            <a:off x="5598797" y="26124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a:t>
            </a:r>
            <a:r>
              <a:rPr i="1" lang="en">
                <a:solidFill>
                  <a:srgbClr val="B7B7B7"/>
                </a:solidFill>
              </a:rPr>
              <a:t>g</a:t>
            </a:r>
            <a:r>
              <a:rPr baseline="30000" i="1" lang="en">
                <a:solidFill>
                  <a:srgbClr val="B7B7B7"/>
                </a:solidFill>
              </a:rPr>
              <a:t>a</a:t>
            </a:r>
            <a:r>
              <a:rPr lang="en">
                <a:solidFill>
                  <a:srgbClr val="B7B7B7"/>
                </a:solidFill>
              </a:rPr>
              <a:t> mod </a:t>
            </a:r>
            <a:r>
              <a:rPr i="1" lang="en">
                <a:solidFill>
                  <a:srgbClr val="B7B7B7"/>
                </a:solidFill>
              </a:rPr>
              <a:t>p</a:t>
            </a:r>
            <a:r>
              <a:rPr lang="en">
                <a:solidFill>
                  <a:srgbClr val="B7B7B7"/>
                </a:solidFill>
              </a:rPr>
              <a:t>}</a:t>
            </a:r>
            <a:r>
              <a:rPr i="1" lang="en" sz="1000">
                <a:solidFill>
                  <a:srgbClr val="B7B7B7"/>
                </a:solidFill>
              </a:rPr>
              <a:t>K</a:t>
            </a:r>
            <a:r>
              <a:rPr baseline="30000" lang="en" sz="1000">
                <a:solidFill>
                  <a:srgbClr val="B7B7B7"/>
                </a:solidFill>
              </a:rPr>
              <a:t>-1</a:t>
            </a:r>
            <a:r>
              <a:rPr lang="en" sz="600">
                <a:solidFill>
                  <a:srgbClr val="B7B7B7"/>
                </a:solidFill>
              </a:rPr>
              <a:t>server</a:t>
            </a:r>
            <a:endParaRPr sz="600">
              <a:solidFill>
                <a:srgbClr val="B7B7B7"/>
              </a:solidFill>
            </a:endParaRPr>
          </a:p>
        </p:txBody>
      </p:sp>
      <p:cxnSp>
        <p:nvCxnSpPr>
          <p:cNvPr id="693" name="Google Shape;693;p61"/>
          <p:cNvCxnSpPr/>
          <p:nvPr/>
        </p:nvCxnSpPr>
        <p:spPr>
          <a:xfrm>
            <a:off x="5586075" y="3292138"/>
            <a:ext cx="2879400" cy="437700"/>
          </a:xfrm>
          <a:prstGeom prst="straightConnector1">
            <a:avLst/>
          </a:prstGeom>
          <a:noFill/>
          <a:ln cap="flat" cmpd="sng" w="9525">
            <a:solidFill>
              <a:srgbClr val="CCCCCC"/>
            </a:solidFill>
            <a:prstDash val="solid"/>
            <a:round/>
            <a:headEnd len="med" w="med" type="none"/>
            <a:tailEnd len="med" w="med" type="triangle"/>
          </a:ln>
        </p:spPr>
      </p:cxnSp>
      <p:sp>
        <p:nvSpPr>
          <p:cNvPr id="694" name="Google Shape;694;p61"/>
          <p:cNvSpPr txBox="1"/>
          <p:nvPr/>
        </p:nvSpPr>
        <p:spPr>
          <a:xfrm rot="512024">
            <a:off x="5611456" y="3163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a:solidFill>
                  <a:srgbClr val="B7B7B7"/>
                </a:solidFill>
              </a:rPr>
              <a:t>g</a:t>
            </a:r>
            <a:r>
              <a:rPr baseline="30000" i="1" lang="en">
                <a:solidFill>
                  <a:srgbClr val="B7B7B7"/>
                </a:solidFill>
              </a:rPr>
              <a:t>b</a:t>
            </a:r>
            <a:r>
              <a:rPr lang="en">
                <a:solidFill>
                  <a:srgbClr val="B7B7B7"/>
                </a:solidFill>
              </a:rPr>
              <a:t> mod </a:t>
            </a:r>
            <a:r>
              <a:rPr i="1" lang="en">
                <a:solidFill>
                  <a:srgbClr val="B7B7B7"/>
                </a:solidFill>
              </a:rPr>
              <a:t>p</a:t>
            </a:r>
            <a:endParaRPr i="1">
              <a:solidFill>
                <a:srgbClr val="B7B7B7"/>
              </a:solidFill>
            </a:endParaRPr>
          </a:p>
        </p:txBody>
      </p:sp>
      <p:cxnSp>
        <p:nvCxnSpPr>
          <p:cNvPr id="695" name="Google Shape;695;p61"/>
          <p:cNvCxnSpPr/>
          <p:nvPr/>
        </p:nvCxnSpPr>
        <p:spPr>
          <a:xfrm>
            <a:off x="5586075" y="3673138"/>
            <a:ext cx="2879400" cy="437700"/>
          </a:xfrm>
          <a:prstGeom prst="straightConnector1">
            <a:avLst/>
          </a:prstGeom>
          <a:noFill/>
          <a:ln cap="flat" cmpd="sng" w="9525">
            <a:solidFill>
              <a:schemeClr val="dk2"/>
            </a:solidFill>
            <a:prstDash val="solid"/>
            <a:round/>
            <a:headEnd len="med" w="med" type="none"/>
            <a:tailEnd len="med" w="med" type="triangle"/>
          </a:ln>
        </p:spPr>
      </p:cxnSp>
      <p:sp>
        <p:nvSpPr>
          <p:cNvPr id="696" name="Google Shape;696;p61"/>
          <p:cNvSpPr txBox="1"/>
          <p:nvPr/>
        </p:nvSpPr>
        <p:spPr>
          <a:xfrm rot="512024">
            <a:off x="5611456" y="3544896"/>
            <a:ext cx="2866739" cy="40013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B</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B</a:t>
            </a:r>
            <a:endParaRPr i="1" sz="600">
              <a:solidFill>
                <a:schemeClr val="dk1"/>
              </a:solidFill>
            </a:endParaRPr>
          </a:p>
        </p:txBody>
      </p:sp>
      <p:cxnSp>
        <p:nvCxnSpPr>
          <p:cNvPr id="697" name="Google Shape;697;p61"/>
          <p:cNvCxnSpPr/>
          <p:nvPr/>
        </p:nvCxnSpPr>
        <p:spPr>
          <a:xfrm flipH="1">
            <a:off x="5612225" y="4188387"/>
            <a:ext cx="2814300" cy="437700"/>
          </a:xfrm>
          <a:prstGeom prst="straightConnector1">
            <a:avLst/>
          </a:prstGeom>
          <a:noFill/>
          <a:ln cap="flat" cmpd="sng" w="9525">
            <a:solidFill>
              <a:schemeClr val="dk2"/>
            </a:solidFill>
            <a:prstDash val="solid"/>
            <a:round/>
            <a:headEnd len="med" w="med" type="none"/>
            <a:tailEnd len="med" w="med" type="triangle"/>
          </a:ln>
        </p:spPr>
      </p:cxnSp>
      <p:sp>
        <p:nvSpPr>
          <p:cNvPr id="698" name="Google Shape;698;p61"/>
          <p:cNvSpPr txBox="1"/>
          <p:nvPr/>
        </p:nvSpPr>
        <p:spPr>
          <a:xfrm flipH="1" rot="-523651">
            <a:off x="5598797" y="4060257"/>
            <a:ext cx="2803562" cy="40021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t>
            </a:r>
            <a:r>
              <a:rPr i="1" lang="en">
                <a:solidFill>
                  <a:schemeClr val="dk1"/>
                </a:solidFill>
              </a:rPr>
              <a:t>M</a:t>
            </a:r>
            <a:r>
              <a:rPr lang="en">
                <a:solidFill>
                  <a:schemeClr val="dk1"/>
                </a:solidFill>
              </a:rPr>
              <a:t>, MAC(</a:t>
            </a:r>
            <a:r>
              <a:rPr i="1" lang="en">
                <a:solidFill>
                  <a:schemeClr val="dk1"/>
                </a:solidFill>
              </a:rPr>
              <a:t>I</a:t>
            </a:r>
            <a:r>
              <a:rPr i="1" lang="en" sz="900">
                <a:solidFill>
                  <a:schemeClr val="dk1"/>
                </a:solidFill>
              </a:rPr>
              <a:t>S</a:t>
            </a:r>
            <a:r>
              <a:rPr lang="en">
                <a:solidFill>
                  <a:schemeClr val="dk1"/>
                </a:solidFill>
              </a:rPr>
              <a:t>, </a:t>
            </a:r>
            <a:r>
              <a:rPr i="1" lang="en">
                <a:solidFill>
                  <a:schemeClr val="dk1"/>
                </a:solidFill>
              </a:rPr>
              <a:t>M</a:t>
            </a:r>
            <a:r>
              <a:rPr lang="en">
                <a:solidFill>
                  <a:schemeClr val="dk1"/>
                </a:solidFill>
              </a:rPr>
              <a:t>)}</a:t>
            </a:r>
            <a:r>
              <a:rPr i="1" lang="en" sz="900">
                <a:solidFill>
                  <a:schemeClr val="dk1"/>
                </a:solidFill>
              </a:rPr>
              <a:t>C</a:t>
            </a:r>
            <a:r>
              <a:rPr i="1" lang="en" sz="600">
                <a:solidFill>
                  <a:schemeClr val="dk1"/>
                </a:solidFill>
              </a:rPr>
              <a:t>S</a:t>
            </a:r>
            <a:endParaRPr i="1" sz="12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TLS: Summary</a:t>
            </a:r>
            <a:endParaRPr/>
          </a:p>
        </p:txBody>
      </p:sp>
      <p:sp>
        <p:nvSpPr>
          <p:cNvPr id="704" name="Google Shape;704;p6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Security properties</a:t>
            </a:r>
            <a:endParaRPr/>
          </a:p>
          <a:p>
            <a:pPr indent="-317500" lvl="1" marL="914400" rtl="0" algn="l">
              <a:spcBef>
                <a:spcPts val="0"/>
              </a:spcBef>
              <a:spcAft>
                <a:spcPts val="0"/>
              </a:spcAft>
              <a:buSzPts val="1400"/>
              <a:buChar char="○"/>
            </a:pPr>
            <a:r>
              <a:rPr lang="en"/>
              <a:t>Forward secrecy (thanks to DHE)</a:t>
            </a:r>
            <a:endParaRPr/>
          </a:p>
          <a:p>
            <a:pPr indent="-317500" lvl="1" marL="914400" rtl="0" algn="l">
              <a:spcBef>
                <a:spcPts val="0"/>
              </a:spcBef>
              <a:spcAft>
                <a:spcPts val="0"/>
              </a:spcAft>
              <a:buSzPts val="1400"/>
              <a:buChar char="○"/>
            </a:pPr>
            <a:r>
              <a:rPr lang="en"/>
              <a:t>End-to-end security: Secure even if all intermediate hops are malicious</a:t>
            </a:r>
            <a:endParaRPr/>
          </a:p>
          <a:p>
            <a:pPr indent="-317500" lvl="1" marL="914400" rtl="0" algn="l">
              <a:spcBef>
                <a:spcPts val="0"/>
              </a:spcBef>
              <a:spcAft>
                <a:spcPts val="0"/>
              </a:spcAft>
              <a:buSzPts val="1400"/>
              <a:buChar char="○"/>
            </a:pPr>
            <a:r>
              <a:rPr lang="en"/>
              <a:t>Not anonymous: Attackers can determine who you’re talking to</a:t>
            </a:r>
            <a:endParaRPr/>
          </a:p>
          <a:p>
            <a:pPr indent="-317500" lvl="1" marL="914400" rtl="0" algn="l">
              <a:spcBef>
                <a:spcPts val="0"/>
              </a:spcBef>
              <a:spcAft>
                <a:spcPts val="0"/>
              </a:spcAft>
              <a:buSzPts val="1400"/>
              <a:buChar char="○"/>
            </a:pPr>
            <a:r>
              <a:rPr lang="en"/>
              <a:t>No availability: Connections can be dropped or censored</a:t>
            </a:r>
            <a:endParaRPr/>
          </a:p>
          <a:p>
            <a:pPr indent="-342900" lvl="0" marL="457200" rtl="0" algn="l">
              <a:spcBef>
                <a:spcPts val="0"/>
              </a:spcBef>
              <a:spcAft>
                <a:spcPts val="0"/>
              </a:spcAft>
              <a:buSzPts val="1800"/>
              <a:buChar char="●"/>
            </a:pPr>
            <a:r>
              <a:rPr lang="en"/>
              <a:t>Can be used by the application layer (e.g., HTTPS)</a:t>
            </a:r>
            <a:endParaRPr/>
          </a:p>
          <a:p>
            <a:pPr indent="-342900" lvl="0" marL="457200" rtl="0" algn="l">
              <a:spcBef>
                <a:spcPts val="0"/>
              </a:spcBef>
              <a:spcAft>
                <a:spcPts val="0"/>
              </a:spcAft>
              <a:buSzPts val="1800"/>
              <a:buChar char="●"/>
            </a:pPr>
            <a:r>
              <a:rPr lang="en"/>
              <a:t>Trusting certificate authorities can be hard</a:t>
            </a:r>
            <a:endParaRPr/>
          </a:p>
        </p:txBody>
      </p:sp>
      <p:sp>
        <p:nvSpPr>
          <p:cNvPr id="705" name="Google Shape;705;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