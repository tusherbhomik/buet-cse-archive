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A4BF02-215E-4EB9-A26C-ED6601A8E791}">
  <a:tblStyle styleId="{0EA4BF02-215E-4EB9-A26C-ED6601A8E79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rebsonsecurity.com/2011/08/digital-hit-men-for-hire/"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omputerworld.com/article/2556543/extortion-via-ddos-on-the-rise.html"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omputerworld.com/article/2556543/extortion-via-ddos-on-the-rise.html"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56f91589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56f91589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56f915898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56f915898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Today we start end of class</a:t>
            </a:r>
            <a:endParaRPr/>
          </a:p>
          <a:p>
            <a:pPr indent="-298450" lvl="0" marL="457200" rtl="0" algn="l">
              <a:spcBef>
                <a:spcPts val="0"/>
              </a:spcBef>
              <a:spcAft>
                <a:spcPts val="0"/>
              </a:spcAft>
              <a:buSzPts val="1100"/>
              <a:buChar char="●"/>
            </a:pPr>
            <a:r>
              <a:rPr lang="en"/>
              <a:t>Special side topics</a:t>
            </a:r>
            <a:endParaRPr/>
          </a:p>
          <a:p>
            <a:pPr indent="-298450" lvl="0" marL="457200" rtl="0" algn="l">
              <a:spcBef>
                <a:spcPts val="0"/>
              </a:spcBef>
              <a:spcAft>
                <a:spcPts val="0"/>
              </a:spcAft>
              <a:buSzPts val="1100"/>
              <a:buChar char="●"/>
            </a:pPr>
            <a:r>
              <a:rPr lang="en"/>
              <a:t>No protocol front to back</a:t>
            </a:r>
            <a:endParaRPr/>
          </a:p>
          <a:p>
            <a:pPr indent="-298450" lvl="0" marL="457200" rtl="0" algn="l">
              <a:spcBef>
                <a:spcPts val="0"/>
              </a:spcBef>
              <a:spcAft>
                <a:spcPts val="0"/>
              </a:spcAft>
              <a:buSzPts val="1100"/>
              <a:buChar char="●"/>
            </a:pPr>
            <a:r>
              <a:rPr lang="en"/>
              <a:t>Could prob teach a whole class on each topic but nto enough time</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56f915898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56f915898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Could fill a whole class but today will fill half a lecture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dbc553304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dbc553304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Property not dived into, availability</a:t>
            </a:r>
            <a:endParaRPr/>
          </a:p>
          <a:p>
            <a:pPr indent="-298450" lvl="0" marL="457200" rtl="0" algn="l">
              <a:spcBef>
                <a:spcPts val="0"/>
              </a:spcBef>
              <a:spcAft>
                <a:spcPts val="0"/>
              </a:spcAft>
              <a:buSzPts val="1100"/>
              <a:buChar char="●"/>
            </a:pPr>
            <a:r>
              <a:rPr lang="en"/>
              <a:t>If have service want clients ot be able to use, want them to be able to use it</a:t>
            </a:r>
            <a:endParaRPr/>
          </a:p>
          <a:p>
            <a:pPr indent="-298450" lvl="0" marL="457200" rtl="0" algn="l">
              <a:spcBef>
                <a:spcPts val="0"/>
              </a:spcBef>
              <a:spcAft>
                <a:spcPts val="0"/>
              </a:spcAft>
              <a:buSzPts val="1100"/>
              <a:buChar char="●"/>
            </a:pPr>
            <a:r>
              <a:rPr lang="en"/>
              <a:t>Why prevent them? Call back to lecture 1</a:t>
            </a:r>
            <a:endParaRPr/>
          </a:p>
          <a:p>
            <a:pPr indent="-298450" lvl="0" marL="457200" rtl="0" algn="l">
              <a:spcBef>
                <a:spcPts val="0"/>
              </a:spcBef>
              <a:spcAft>
                <a:spcPts val="0"/>
              </a:spcAft>
              <a:buSzPts val="1100"/>
              <a:buChar char="●"/>
            </a:pPr>
            <a:r>
              <a:rPr lang="en"/>
              <a:t>The idea is dont want legit users to be able to access someone elses service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Example: when russia invaded Ukraine a lot of satellite internet when down</a:t>
            </a:r>
            <a:endParaRPr/>
          </a:p>
          <a:p>
            <a:pPr indent="-298450" lvl="0" marL="457200" rtl="0" algn="l">
              <a:spcBef>
                <a:spcPts val="0"/>
              </a:spcBef>
              <a:spcAft>
                <a:spcPts val="0"/>
              </a:spcAft>
              <a:buSzPts val="1100"/>
              <a:buChar char="●"/>
            </a:pPr>
            <a:r>
              <a:rPr lang="en"/>
              <a:t>They first launched a DOS attack on the satellite network and while that was ongoing they broke into one of the control systems and sent bad updates to the modems rendering awhole bunch of satellite systems unusable just when they started their invasion</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Dos has been seen in military attacks</a:t>
            </a:r>
            <a:endParaRPr/>
          </a:p>
          <a:p>
            <a:pPr indent="-298450" lvl="0" marL="457200" rtl="0" algn="l">
              <a:spcBef>
                <a:spcPts val="0"/>
              </a:spcBef>
              <a:spcAft>
                <a:spcPts val="0"/>
              </a:spcAft>
              <a:buSzPts val="1100"/>
              <a:buChar char="●"/>
            </a:pPr>
            <a:r>
              <a:rPr lang="en"/>
              <a:t>Example: if youre too good ina  game a competitor might dos you because if youre network goes down you cant keep playing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e5747d67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e5747d67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https://krebsonsecurity.com/2011/08/digital-hit-men-for-hire/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2011: booter servies, or stress testers that promise to stress test your website in return for </a:t>
            </a:r>
            <a:r>
              <a:rPr lang="en"/>
              <a:t>bitcoin</a:t>
            </a:r>
            <a:r>
              <a:rPr lang="en"/>
              <a:t> or paypal, these booter services were $40 to knock somebodys net off for a day</a:t>
            </a:r>
            <a:endParaRPr/>
          </a:p>
          <a:p>
            <a:pPr indent="-298450" lvl="0" marL="457200" rtl="0" algn="l">
              <a:spcBef>
                <a:spcPts val="0"/>
              </a:spcBef>
              <a:spcAft>
                <a:spcPts val="0"/>
              </a:spcAft>
              <a:buSzPts val="1100"/>
              <a:buChar char="●"/>
            </a:pPr>
            <a:r>
              <a:rPr lang="en"/>
              <a:t>Great way to get revenge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e5747d67a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e5747d67a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https://www.computerworld.com/article/2556543/extortion-via-ddos-on-the-rise.html</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Extortion</a:t>
            </a:r>
            <a:r>
              <a:rPr lang="en"/>
              <a:t> in 2005</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e5747d67a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e5747d67a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https://www.computerworld.com/article/2556543/extortion-via-ddos-on-the-rise.html</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2006: dos to take the website down, use phishing to say use this link instead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dbca2e5ae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dbca2e5ae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Several strategies</a:t>
            </a:r>
            <a:endParaRPr/>
          </a:p>
          <a:p>
            <a:pPr indent="-298450" lvl="0" marL="457200" rtl="0" algn="l">
              <a:spcBef>
                <a:spcPts val="0"/>
              </a:spcBef>
              <a:spcAft>
                <a:spcPts val="0"/>
              </a:spcAft>
              <a:buSzPts val="1100"/>
              <a:buChar char="●"/>
            </a:pPr>
            <a:r>
              <a:rPr lang="en"/>
              <a:t>What happens when you try to exploit a stack overflow when theres a stack canary? → crashes</a:t>
            </a:r>
            <a:endParaRPr/>
          </a:p>
          <a:p>
            <a:pPr indent="-298450" lvl="0" marL="457200" rtl="0" algn="l">
              <a:spcBef>
                <a:spcPts val="0"/>
              </a:spcBef>
              <a:spcAft>
                <a:spcPts val="0"/>
              </a:spcAft>
              <a:buSzPts val="1100"/>
              <a:buChar char="●"/>
            </a:pPr>
            <a:r>
              <a:rPr lang="en"/>
              <a:t>Bad guy, dont like that server, im going to </a:t>
            </a:r>
            <a:r>
              <a:rPr lang="en"/>
              <a:t>execute</a:t>
            </a:r>
            <a:r>
              <a:rPr lang="en"/>
              <a:t> that stack overflow attack that cant compromise the server but causes it to crash, then crash again</a:t>
            </a:r>
            <a:endParaRPr/>
          </a:p>
          <a:p>
            <a:pPr indent="-298450" lvl="0" marL="457200" rtl="0" algn="l">
              <a:spcBef>
                <a:spcPts val="0"/>
              </a:spcBef>
              <a:spcAft>
                <a:spcPts val="0"/>
              </a:spcAft>
              <a:buSzPts val="1100"/>
              <a:buChar char="●"/>
            </a:pPr>
            <a:r>
              <a:rPr lang="en"/>
              <a:t>Up and knock down again</a:t>
            </a:r>
            <a:endParaRPr/>
          </a:p>
          <a:p>
            <a:pPr indent="-298450" lvl="0" marL="457200" rtl="0" algn="l">
              <a:spcBef>
                <a:spcPts val="0"/>
              </a:spcBef>
              <a:spcAft>
                <a:spcPts val="0"/>
              </a:spcAft>
              <a:buSzPts val="1100"/>
              <a:buChar char="●"/>
            </a:pPr>
            <a:r>
              <a:rPr lang="en"/>
              <a:t>Resource exhaustion: More common</a:t>
            </a:r>
            <a:endParaRPr/>
          </a:p>
          <a:p>
            <a:pPr indent="-298450" lvl="1" marL="914400" rtl="0" algn="l">
              <a:spcBef>
                <a:spcPts val="0"/>
              </a:spcBef>
              <a:spcAft>
                <a:spcPts val="0"/>
              </a:spcAft>
              <a:buSzPts val="1100"/>
              <a:buChar char="○"/>
            </a:pPr>
            <a:r>
              <a:rPr lang="en"/>
              <a:t>Use more resources than the program has available and now real users cant use it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dbca2e5ae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dbca2e5ae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In both cases, </a:t>
            </a:r>
            <a:r>
              <a:rPr lang="en"/>
              <a:t>particularly</a:t>
            </a:r>
            <a:r>
              <a:rPr lang="en"/>
              <a:t> the second one, theres a bottleneck</a:t>
            </a:r>
            <a:endParaRPr/>
          </a:p>
          <a:p>
            <a:pPr indent="-298450" lvl="0" marL="457200" rtl="0" algn="l">
              <a:spcBef>
                <a:spcPts val="0"/>
              </a:spcBef>
              <a:spcAft>
                <a:spcPts val="0"/>
              </a:spcAft>
              <a:buSzPts val="1100"/>
              <a:buChar char="●"/>
            </a:pPr>
            <a:r>
              <a:rPr lang="en"/>
              <a:t>Biggest thing to target</a:t>
            </a:r>
            <a:endParaRPr/>
          </a:p>
          <a:p>
            <a:pPr indent="-298450" lvl="0" marL="457200" rtl="0" algn="l">
              <a:spcBef>
                <a:spcPts val="0"/>
              </a:spcBef>
              <a:spcAft>
                <a:spcPts val="0"/>
              </a:spcAft>
              <a:buSzPts val="1100"/>
              <a:buChar char="●"/>
            </a:pPr>
            <a:r>
              <a:rPr lang="en"/>
              <a:t>Narrowest resource int he system</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dbca2e5ae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dbca2e5ae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Can have application level</a:t>
            </a:r>
            <a:endParaRPr/>
          </a:p>
          <a:p>
            <a:pPr indent="-298450" lvl="0" marL="457200" rtl="0" algn="l">
              <a:spcBef>
                <a:spcPts val="0"/>
              </a:spcBef>
              <a:spcAft>
                <a:spcPts val="0"/>
              </a:spcAft>
              <a:buSzPts val="1100"/>
              <a:buChar char="●"/>
            </a:pPr>
            <a:r>
              <a:rPr lang="en"/>
              <a:t>Can have network level</a:t>
            </a:r>
            <a:endParaRPr/>
          </a:p>
          <a:p>
            <a:pPr indent="-298450" lvl="0" marL="457200" rtl="0" algn="l">
              <a:spcBef>
                <a:spcPts val="0"/>
              </a:spcBef>
              <a:spcAft>
                <a:spcPts val="0"/>
              </a:spcAft>
              <a:buSzPts val="1100"/>
              <a:buChar char="●"/>
            </a:pPr>
            <a:r>
              <a:rPr lang="en"/>
              <a:t>Also need to consider whether youre crashing or using resources</a:t>
            </a:r>
            <a:endParaRPr/>
          </a:p>
          <a:p>
            <a:pPr indent="-298450" lvl="0" marL="457200" rtl="0" algn="l">
              <a:spcBef>
                <a:spcPts val="0"/>
              </a:spcBef>
              <a:spcAft>
                <a:spcPts val="0"/>
              </a:spcAft>
              <a:buSzPts val="1100"/>
              <a:buChar char="●"/>
            </a:pPr>
            <a:r>
              <a:rPr lang="en"/>
              <a:t>Choices you get to make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dbca2e5ae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dbca2e5ae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dbca2e5ae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dbca2e5ae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Cause more work for victim than you had to do for attack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dbca2e5ae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dbca2e5ae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Assume can run on victims computer</a:t>
            </a:r>
            <a:endParaRPr/>
          </a:p>
          <a:p>
            <a:pPr indent="-298450" lvl="1" marL="914400" rtl="0" algn="l">
              <a:spcBef>
                <a:spcPts val="0"/>
              </a:spcBef>
              <a:spcAft>
                <a:spcPts val="0"/>
              </a:spcAft>
              <a:buSzPts val="1100"/>
              <a:buChar char="○"/>
            </a:pPr>
            <a:r>
              <a:rPr lang="en"/>
              <a:t>While 1 write junk</a:t>
            </a:r>
            <a:endParaRPr/>
          </a:p>
          <a:p>
            <a:pPr indent="-298450" lvl="1" marL="914400" rtl="0" algn="l">
              <a:spcBef>
                <a:spcPts val="0"/>
              </a:spcBef>
              <a:spcAft>
                <a:spcPts val="0"/>
              </a:spcAft>
              <a:buSzPts val="1100"/>
              <a:buChar char="○"/>
            </a:pPr>
            <a:r>
              <a:rPr lang="en"/>
              <a:t>And keep writing it forever</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dbca2e5ae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dbca2e5ae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Attacker choses input that causes worse behavior</a:t>
            </a:r>
            <a:endParaRPr/>
          </a:p>
          <a:p>
            <a:pPr indent="-298450" lvl="0" marL="457200" rtl="0" algn="l">
              <a:spcBef>
                <a:spcPts val="0"/>
              </a:spcBef>
              <a:spcAft>
                <a:spcPts val="0"/>
              </a:spcAft>
              <a:buSzPts val="1100"/>
              <a:buChar char="●"/>
            </a:pPr>
            <a:r>
              <a:rPr lang="en"/>
              <a:t>What is expected case lookup for a hash table? O(1) worse case? Linear</a:t>
            </a:r>
            <a:endParaRPr/>
          </a:p>
          <a:p>
            <a:pPr indent="-298450" lvl="0" marL="457200" rtl="0" algn="l">
              <a:spcBef>
                <a:spcPts val="0"/>
              </a:spcBef>
              <a:spcAft>
                <a:spcPts val="0"/>
              </a:spcAft>
              <a:buSzPts val="1100"/>
              <a:buChar char="●"/>
            </a:pPr>
            <a:r>
              <a:rPr lang="en"/>
              <a:t>Force input taht causes this to happen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dbca2e5ae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dbca2e5ae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Identify attack, distinguish from normal behavior</a:t>
            </a:r>
            <a:endParaRPr/>
          </a:p>
          <a:p>
            <a:pPr indent="-298450" lvl="1" marL="914400" rtl="0" algn="l">
              <a:spcBef>
                <a:spcPts val="0"/>
              </a:spcBef>
              <a:spcAft>
                <a:spcPts val="0"/>
              </a:spcAft>
              <a:buSzPts val="1100"/>
              <a:buChar char="○"/>
            </a:pPr>
            <a:r>
              <a:rPr lang="en"/>
              <a:t>Someone is trying to exhaust your resources</a:t>
            </a:r>
            <a:endParaRPr/>
          </a:p>
          <a:p>
            <a:pPr indent="-298450" lvl="1" marL="914400" rtl="0" algn="l">
              <a:spcBef>
                <a:spcPts val="0"/>
              </a:spcBef>
              <a:spcAft>
                <a:spcPts val="0"/>
              </a:spcAft>
              <a:buSzPts val="1100"/>
              <a:buChar char="○"/>
            </a:pPr>
            <a:r>
              <a:rPr lang="en"/>
              <a:t>Spam log in requests, any part of your program that users interact with can be exploited</a:t>
            </a:r>
            <a:endParaRPr/>
          </a:p>
          <a:p>
            <a:pPr indent="-298450" lvl="0" marL="457200" rtl="0" algn="l">
              <a:spcBef>
                <a:spcPts val="0"/>
              </a:spcBef>
              <a:spcAft>
                <a:spcPts val="0"/>
              </a:spcAft>
              <a:buSzPts val="1100"/>
              <a:buChar char="●"/>
            </a:pPr>
            <a:r>
              <a:rPr lang="en"/>
              <a:t>Quotas: so any given user can only issue expensiv </a:t>
            </a:r>
            <a:r>
              <a:rPr lang="en"/>
              <a:t>requests</a:t>
            </a:r>
            <a:r>
              <a:rPr lang="en"/>
              <a:t> up to a given amount</a:t>
            </a:r>
            <a:endParaRPr/>
          </a:p>
          <a:p>
            <a:pPr indent="-298450" lvl="1" marL="914400" rtl="0" algn="l">
              <a:spcBef>
                <a:spcPts val="0"/>
              </a:spcBef>
              <a:spcAft>
                <a:spcPts val="0"/>
              </a:spcAft>
              <a:buSzPts val="1100"/>
              <a:buChar char="○"/>
            </a:pPr>
            <a:r>
              <a:rPr lang="en"/>
              <a:t>If every user has a quota, enforced under load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dbca2e5ae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dbca2e5ae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Proof</a:t>
            </a:r>
            <a:r>
              <a:rPr lang="en"/>
              <a:t> of work: make use spend some resources before asking you to do something, make the </a:t>
            </a:r>
            <a:r>
              <a:rPr lang="en"/>
              <a:t>asymmetric</a:t>
            </a:r>
            <a:r>
              <a:rPr lang="en"/>
              <a:t> attacks a little more symmetrical</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If you dont want to over provision: Content delivery network, its like insurance</a:t>
            </a:r>
            <a:endParaRPr/>
          </a:p>
          <a:p>
            <a:pPr indent="-298450" lvl="0" marL="457200" rtl="0" algn="l">
              <a:spcBef>
                <a:spcPts val="0"/>
              </a:spcBef>
              <a:spcAft>
                <a:spcPts val="0"/>
              </a:spcAft>
              <a:buSzPts val="1100"/>
              <a:buChar char="●"/>
            </a:pPr>
            <a:r>
              <a:rPr lang="en"/>
              <a:t>We all pay a little bit of money it goes into a pool and helps whoever gets into an accident</a:t>
            </a:r>
            <a:endParaRPr/>
          </a:p>
          <a:p>
            <a:pPr indent="-298450" lvl="0" marL="457200" rtl="0" algn="l">
              <a:spcBef>
                <a:spcPts val="0"/>
              </a:spcBef>
              <a:spcAft>
                <a:spcPts val="0"/>
              </a:spcAft>
              <a:buSzPts val="1100"/>
              <a:buChar char="●"/>
            </a:pPr>
            <a:r>
              <a:rPr lang="en"/>
              <a:t>Cloudflare does this for people</a:t>
            </a:r>
            <a:endParaRPr/>
          </a:p>
          <a:p>
            <a:pPr indent="0" lvl="0" marL="0" rtl="0" algn="l">
              <a:spcBef>
                <a:spcPts val="0"/>
              </a:spcBef>
              <a:spcAft>
                <a:spcPts val="0"/>
              </a:spcAft>
              <a:buNone/>
            </a:pPr>
            <a:r>
              <a:rPr lang="en"/>
              <a:t>“Everybody buys into an insurance scheme”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dbca2e5ae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dbca2e5ae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Thats it for application level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dbca2e5ae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dbca2e5ae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Instead of application </a:t>
            </a:r>
            <a:r>
              <a:rPr lang="en"/>
              <a:t>itself, lets attack the network</a:t>
            </a:r>
            <a:endParaRPr/>
          </a:p>
          <a:p>
            <a:pPr indent="-298450" lvl="0" marL="457200" rtl="0" algn="l">
              <a:spcBef>
                <a:spcPts val="0"/>
              </a:spcBef>
              <a:spcAft>
                <a:spcPts val="0"/>
              </a:spcAft>
              <a:buSzPts val="1100"/>
              <a:buChar char="●"/>
            </a:pPr>
            <a:r>
              <a:rPr lang="en"/>
              <a:t>Overwhelm the victims resources, liek bandwidth</a:t>
            </a:r>
            <a:endParaRPr/>
          </a:p>
          <a:p>
            <a:pPr indent="-298450" lvl="0" marL="457200" rtl="0" algn="l">
              <a:spcBef>
                <a:spcPts val="0"/>
              </a:spcBef>
              <a:spcAft>
                <a:spcPts val="0"/>
              </a:spcAft>
              <a:buSzPts val="1100"/>
              <a:buChar char="●"/>
            </a:pPr>
            <a:r>
              <a:rPr lang="en"/>
              <a:t>Or limit to packets it can process, like 10 per second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deefccd6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deefccd6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Really powerful</a:t>
            </a:r>
            <a:endParaRPr/>
          </a:p>
          <a:p>
            <a:pPr indent="-298450" lvl="0" marL="457200" rtl="0" algn="l">
              <a:spcBef>
                <a:spcPts val="0"/>
              </a:spcBef>
              <a:spcAft>
                <a:spcPts val="0"/>
              </a:spcAft>
              <a:buSzPts val="1100"/>
              <a:buChar char="●"/>
            </a:pPr>
            <a:r>
              <a:rPr lang="en"/>
              <a:t>Dangerous: multiple machines, </a:t>
            </a:r>
            <a:r>
              <a:rPr lang="en"/>
              <a:t>advantage</a:t>
            </a:r>
            <a:r>
              <a:rPr lang="en"/>
              <a:t>, lot of bandwidth</a:t>
            </a:r>
            <a:endParaRPr/>
          </a:p>
          <a:p>
            <a:pPr indent="-298450" lvl="1" marL="914400" rtl="0" algn="l">
              <a:spcBef>
                <a:spcPts val="0"/>
              </a:spcBef>
              <a:spcAft>
                <a:spcPts val="0"/>
              </a:spcAft>
              <a:buSzPts val="1100"/>
              <a:buChar char="○"/>
            </a:pPr>
            <a:r>
              <a:rPr lang="en"/>
              <a:t>Spam data fromo all over the place</a:t>
            </a:r>
            <a:endParaRPr/>
          </a:p>
          <a:p>
            <a:pPr indent="-298450" lvl="1" marL="914400" rtl="0" algn="l">
              <a:spcBef>
                <a:spcPts val="0"/>
              </a:spcBef>
              <a:spcAft>
                <a:spcPts val="0"/>
              </a:spcAft>
              <a:buSzPts val="1100"/>
              <a:buChar char="○"/>
            </a:pPr>
            <a:r>
              <a:rPr lang="en"/>
              <a:t>Now victim has a hard time to tell which packets are safe</a:t>
            </a:r>
            <a:endParaRPr/>
          </a:p>
          <a:p>
            <a:pPr indent="-298450" lvl="1" marL="914400" rtl="0" algn="l">
              <a:spcBef>
                <a:spcPts val="0"/>
              </a:spcBef>
              <a:spcAft>
                <a:spcPts val="0"/>
              </a:spcAft>
              <a:buSzPts val="1100"/>
              <a:buChar char="○"/>
            </a:pPr>
            <a:r>
              <a:rPr lang="en"/>
              <a:t>How </a:t>
            </a:r>
            <a:r>
              <a:rPr lang="en"/>
              <a:t>attacker</a:t>
            </a:r>
            <a:r>
              <a:rPr lang="en"/>
              <a:t> get this many systems under control? Pay, attack, army of computers → botnet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e5747d67a6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e5747d67a6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before we talked about asymmetry and so we said well it would be really nice if the attacker just have to spend a little bit of money or a little bit of resources and then cause the victim to have to spend a ton of resources</a:t>
            </a:r>
            <a:endParaRPr/>
          </a:p>
          <a:p>
            <a:pPr indent="-298450" lvl="0" marL="457200" rtl="0" algn="l">
              <a:spcBef>
                <a:spcPts val="0"/>
              </a:spcBef>
              <a:spcAft>
                <a:spcPts val="0"/>
              </a:spcAft>
              <a:buSzPts val="1100"/>
              <a:buChar char="●"/>
            </a:pPr>
            <a:r>
              <a:rPr lang="en"/>
              <a:t>Ex: go copy the dictionary. No work for me, lots for you</a:t>
            </a:r>
            <a:endParaRPr/>
          </a:p>
          <a:p>
            <a:pPr indent="-298450" lvl="0" marL="457200" rtl="0" algn="l">
              <a:spcBef>
                <a:spcPts val="0"/>
              </a:spcBef>
              <a:spcAft>
                <a:spcPts val="0"/>
              </a:spcAft>
              <a:buSzPts val="1100"/>
              <a:buChar char="●"/>
            </a:pPr>
            <a:r>
              <a:rPr lang="en"/>
              <a:t>DNS amplification</a:t>
            </a:r>
            <a:endParaRPr/>
          </a:p>
          <a:p>
            <a:pPr indent="-298450" lvl="1" marL="914400" rtl="0" algn="l">
              <a:spcBef>
                <a:spcPts val="0"/>
              </a:spcBef>
              <a:spcAft>
                <a:spcPts val="0"/>
              </a:spcAft>
              <a:buSzPts val="1100"/>
              <a:buChar char="○"/>
            </a:pPr>
            <a:r>
              <a:rPr lang="en"/>
              <a:t>Request is small</a:t>
            </a:r>
            <a:endParaRPr/>
          </a:p>
          <a:p>
            <a:pPr indent="-298450" lvl="2" marL="1371600" rtl="0" algn="l">
              <a:spcBef>
                <a:spcPts val="0"/>
              </a:spcBef>
              <a:spcAft>
                <a:spcPts val="0"/>
              </a:spcAft>
              <a:buSzPts val="1100"/>
              <a:buChar char="■"/>
            </a:pPr>
            <a:r>
              <a:rPr lang="en"/>
              <a:t>Single record whats the ip address of this </a:t>
            </a:r>
            <a:r>
              <a:rPr lang="en"/>
              <a:t>domain</a:t>
            </a:r>
            <a:endParaRPr/>
          </a:p>
          <a:p>
            <a:pPr indent="-298450" lvl="1" marL="914400" rtl="0" algn="l">
              <a:spcBef>
                <a:spcPts val="0"/>
              </a:spcBef>
              <a:spcAft>
                <a:spcPts val="0"/>
              </a:spcAft>
              <a:buSzPts val="1100"/>
              <a:buChar char="○"/>
            </a:pPr>
            <a:r>
              <a:rPr lang="en"/>
              <a:t>Response is huge</a:t>
            </a:r>
            <a:endParaRPr/>
          </a:p>
          <a:p>
            <a:pPr indent="-298450" lvl="0" marL="457200" rtl="0" algn="l">
              <a:spcBef>
                <a:spcPts val="0"/>
              </a:spcBef>
              <a:spcAft>
                <a:spcPts val="0"/>
              </a:spcAft>
              <a:buSzPts val="1100"/>
              <a:buChar char="●"/>
            </a:pPr>
            <a:r>
              <a:rPr lang="en"/>
              <a:t>Use to attack, request takes no effort, response returns a ton of data</a:t>
            </a:r>
            <a:endParaRPr/>
          </a:p>
          <a:p>
            <a:pPr indent="-298450" lvl="0" marL="457200" rtl="0" algn="l">
              <a:spcBef>
                <a:spcPts val="0"/>
              </a:spcBef>
              <a:spcAft>
                <a:spcPts val="0"/>
              </a:spcAft>
              <a:buSzPts val="1100"/>
              <a:buChar char="●"/>
            </a:pPr>
            <a:r>
              <a:rPr lang="en"/>
              <a:t>If i just send a packet to the victim thats symmetric</a:t>
            </a:r>
            <a:endParaRPr/>
          </a:p>
          <a:p>
            <a:pPr indent="-298450" lvl="0" marL="457200" rtl="0" algn="l">
              <a:spcBef>
                <a:spcPts val="0"/>
              </a:spcBef>
              <a:spcAft>
                <a:spcPts val="0"/>
              </a:spcAft>
              <a:buSzPts val="1100"/>
              <a:buChar char="●"/>
            </a:pPr>
            <a:r>
              <a:rPr lang="en"/>
              <a:t>So how do i get the dns server to send to the victim → spoof! </a:t>
            </a:r>
            <a:endParaRPr/>
          </a:p>
          <a:p>
            <a:pPr indent="-298450" lvl="1" marL="914400" rtl="0" algn="l">
              <a:spcBef>
                <a:spcPts val="0"/>
              </a:spcBef>
              <a:spcAft>
                <a:spcPts val="0"/>
              </a:spcAft>
              <a:buSzPts val="1100"/>
              <a:buChar char="○"/>
            </a:pPr>
            <a:r>
              <a:rPr lang="en"/>
              <a:t>From the victim, lie about where the packet came from</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e5747d67a6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e5747d67a6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dbca2e5ae2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dbca2e5ae2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Bc these are happening over networking layer, all packets streaming in, figure out which are good which are bad, use a filter</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e77b161fde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e77b161fde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Works at every level</a:t>
            </a:r>
            <a:endParaRPr/>
          </a:p>
          <a:p>
            <a:pPr indent="-298450" lvl="0" marL="457200" rtl="0" algn="l">
              <a:spcBef>
                <a:spcPts val="0"/>
              </a:spcBef>
              <a:spcAft>
                <a:spcPts val="0"/>
              </a:spcAft>
              <a:buSzPts val="1100"/>
              <a:buChar char="●"/>
            </a:pPr>
            <a:r>
              <a:rPr lang="en"/>
              <a:t>Why not always do ti? Costs money</a:t>
            </a:r>
            <a:endParaRPr/>
          </a:p>
          <a:p>
            <a:pPr indent="-298450" lvl="0" marL="457200" rtl="0" algn="l">
              <a:spcBef>
                <a:spcPts val="0"/>
              </a:spcBef>
              <a:spcAft>
                <a:spcPts val="0"/>
              </a:spcAft>
              <a:buSzPts val="1100"/>
              <a:buChar char="●"/>
            </a:pPr>
            <a:r>
              <a:rPr lang="en"/>
              <a:t>Depends on threat model</a:t>
            </a:r>
            <a:endParaRPr/>
          </a:p>
          <a:p>
            <a:pPr indent="-298450" lvl="0" marL="457200" rtl="0" algn="l">
              <a:spcBef>
                <a:spcPts val="0"/>
              </a:spcBef>
              <a:spcAft>
                <a:spcPts val="0"/>
              </a:spcAft>
              <a:buSzPts val="1100"/>
              <a:buChar char="●"/>
            </a:pPr>
            <a:r>
              <a:rPr lang="en"/>
              <a:t>Content delivery network like cloudflare – pay insurance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e5747d67a6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e5747d67a6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That was high level ideas of DOS, approaches, defenses, </a:t>
            </a:r>
            <a:endParaRPr/>
          </a:p>
          <a:p>
            <a:pPr indent="-298450" lvl="0" marL="457200" rtl="0" algn="l">
              <a:spcBef>
                <a:spcPts val="0"/>
              </a:spcBef>
              <a:spcAft>
                <a:spcPts val="0"/>
              </a:spcAft>
              <a:buSzPts val="1100"/>
              <a:buChar char="●"/>
            </a:pPr>
            <a:r>
              <a:rPr lang="en"/>
              <a:t>Now we’ll show you an example thats hammered out in like full attack on a protocol, give you flavor of what these attacks are like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deefccd63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deefccd63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Exploit TCP</a:t>
            </a:r>
            <a:endParaRPr/>
          </a:p>
          <a:p>
            <a:pPr indent="-298450" lvl="0" marL="457200" rtl="0" algn="l">
              <a:spcBef>
                <a:spcPts val="0"/>
              </a:spcBef>
              <a:spcAft>
                <a:spcPts val="0"/>
              </a:spcAft>
              <a:buSzPts val="1100"/>
              <a:buChar char="●"/>
            </a:pPr>
            <a:r>
              <a:rPr lang="en"/>
              <a:t>Remember TCP handshake, 3 way, attacker sends sin, server sends synack, the attacker sends an ack → recap</a:t>
            </a:r>
            <a:endParaRPr/>
          </a:p>
          <a:p>
            <a:pPr indent="-298450" lvl="0" marL="457200" rtl="0" algn="l">
              <a:spcBef>
                <a:spcPts val="0"/>
              </a:spcBef>
              <a:spcAft>
                <a:spcPts val="0"/>
              </a:spcAft>
              <a:buSzPts val="1100"/>
              <a:buChar char="●"/>
            </a:pPr>
            <a:r>
              <a:rPr lang="en"/>
              <a:t>Super common, </a:t>
            </a:r>
            <a:r>
              <a:rPr lang="en"/>
              <a:t>everyone</a:t>
            </a:r>
            <a:r>
              <a:rPr lang="en"/>
              <a:t> uses tcp all the time</a:t>
            </a:r>
            <a:endParaRPr/>
          </a:p>
          <a:p>
            <a:pPr indent="-298450" lvl="0" marL="457200" rtl="0" algn="l">
              <a:spcBef>
                <a:spcPts val="0"/>
              </a:spcBef>
              <a:spcAft>
                <a:spcPts val="0"/>
              </a:spcAft>
              <a:buSzPts val="1100"/>
              <a:buChar char="●"/>
            </a:pPr>
            <a:r>
              <a:rPr lang="en"/>
              <a:t>When its started up, server allocates memory, to remember seq number, track data streaming in </a:t>
            </a:r>
            <a:endParaRPr/>
          </a:p>
          <a:p>
            <a:pPr indent="-298450" lvl="0" marL="457200" rtl="0" algn="l">
              <a:spcBef>
                <a:spcPts val="0"/>
              </a:spcBef>
              <a:spcAft>
                <a:spcPts val="0"/>
              </a:spcAft>
              <a:buSzPts val="1100"/>
              <a:buChar char="●"/>
            </a:pPr>
            <a:r>
              <a:rPr lang="en"/>
              <a:t>What if the attacker forced server to start like 20 different TCP connections, 100, 1 million, </a:t>
            </a:r>
            <a:endParaRPr/>
          </a:p>
          <a:p>
            <a:pPr indent="-298450" lvl="0" marL="457200" rtl="0" algn="l">
              <a:spcBef>
                <a:spcPts val="0"/>
              </a:spcBef>
              <a:spcAft>
                <a:spcPts val="0"/>
              </a:spcAft>
              <a:buSzPts val="1100"/>
              <a:buChar char="●"/>
            </a:pPr>
            <a:r>
              <a:rPr lang="en"/>
              <a:t>Now the server has to remember the seq numbers for 1 mill diff tcp connections, lots of data to remember</a:t>
            </a:r>
            <a:endParaRPr/>
          </a:p>
          <a:p>
            <a:pPr indent="-298450" lvl="0" marL="457200" rtl="0" algn="l">
              <a:spcBef>
                <a:spcPts val="0"/>
              </a:spcBef>
              <a:spcAft>
                <a:spcPts val="0"/>
              </a:spcAft>
              <a:buSzPts val="1100"/>
              <a:buChar char="●"/>
            </a:pPr>
            <a:r>
              <a:rPr lang="en"/>
              <a:t>Maybe server runs out of memory before finishes</a:t>
            </a:r>
            <a:endParaRPr/>
          </a:p>
          <a:p>
            <a:pPr indent="-298450" lvl="0" marL="457200" rtl="0" algn="l">
              <a:spcBef>
                <a:spcPts val="0"/>
              </a:spcBef>
              <a:spcAft>
                <a:spcPts val="0"/>
              </a:spcAft>
              <a:buSzPts val="1100"/>
              <a:buChar char="●"/>
            </a:pPr>
            <a:r>
              <a:rPr lang="en"/>
              <a:t>So overflow or overwhelm TCP </a:t>
            </a:r>
            <a:endParaRPr/>
          </a:p>
          <a:p>
            <a:pPr indent="-298450" lvl="0" marL="457200" rtl="0" algn="l">
              <a:spcBef>
                <a:spcPts val="0"/>
              </a:spcBef>
              <a:spcAft>
                <a:spcPts val="0"/>
              </a:spcAft>
              <a:buSzPts val="1100"/>
              <a:buChar char="●"/>
            </a:pPr>
            <a:r>
              <a:rPr lang="en"/>
              <a:t>But this is kinda symmetric? For each connection the server remembers, doesnt the attacker also have to start up that connection? Istn that expensive for th attacker?</a:t>
            </a:r>
            <a:endParaRPr/>
          </a:p>
          <a:p>
            <a:pPr indent="-298450" lvl="0" marL="457200" rtl="0" algn="l">
              <a:spcBef>
                <a:spcPts val="0"/>
              </a:spcBef>
              <a:spcAft>
                <a:spcPts val="0"/>
              </a:spcAft>
              <a:buSzPts val="1100"/>
              <a:buChar char="●"/>
            </a:pPr>
            <a:r>
              <a:rPr lang="en"/>
              <a:t>Exploit asym </a:t>
            </a:r>
            <a:endParaRPr/>
          </a:p>
          <a:p>
            <a:pPr indent="-298450" lvl="0" marL="457200" rtl="0" algn="l">
              <a:spcBef>
                <a:spcPts val="0"/>
              </a:spcBef>
              <a:spcAft>
                <a:spcPts val="0"/>
              </a:spcAft>
              <a:buSzPts val="1100"/>
              <a:buChar char="●"/>
            </a:pPr>
            <a:r>
              <a:rPr lang="en"/>
              <a:t>Attacker goes first, server is obligated to allocate memory</a:t>
            </a:r>
            <a:endParaRPr/>
          </a:p>
          <a:p>
            <a:pPr indent="-298450" lvl="0" marL="457200" rtl="0" algn="l">
              <a:spcBef>
                <a:spcPts val="0"/>
              </a:spcBef>
              <a:spcAft>
                <a:spcPts val="0"/>
              </a:spcAft>
              <a:buSzPts val="1100"/>
              <a:buChar char="●"/>
            </a:pPr>
            <a:r>
              <a:rPr lang="en"/>
              <a:t>Attacker knows the connections arent legit so when it receives a synack does it need to do anything back?</a:t>
            </a:r>
            <a:endParaRPr/>
          </a:p>
          <a:p>
            <a:pPr indent="-298450" lvl="0" marL="457200" rtl="0" algn="l">
              <a:spcBef>
                <a:spcPts val="0"/>
              </a:spcBef>
              <a:spcAft>
                <a:spcPts val="0"/>
              </a:spcAft>
              <a:buSzPts val="1100"/>
              <a:buChar char="●"/>
            </a:pPr>
            <a:r>
              <a:rPr lang="en"/>
              <a:t>The attacker doesnt need to ack, the server has already allocated the memory,</a:t>
            </a:r>
            <a:endParaRPr/>
          </a:p>
          <a:p>
            <a:pPr indent="-298450" lvl="0" marL="457200" rtl="0" algn="l">
              <a:spcBef>
                <a:spcPts val="0"/>
              </a:spcBef>
              <a:spcAft>
                <a:spcPts val="0"/>
              </a:spcAft>
              <a:buSzPts val="1100"/>
              <a:buChar char="●"/>
            </a:pPr>
            <a:r>
              <a:rPr lang="en"/>
              <a:t>If this happens over and over again server gets overwhelmed</a:t>
            </a:r>
            <a:endParaRPr/>
          </a:p>
          <a:p>
            <a:pPr indent="-298450" lvl="0" marL="457200" rtl="0" algn="l">
              <a:spcBef>
                <a:spcPts val="0"/>
              </a:spcBef>
              <a:spcAft>
                <a:spcPts val="0"/>
              </a:spcAft>
              <a:buSzPts val="1100"/>
              <a:buChar char="●"/>
            </a:pPr>
            <a:r>
              <a:rPr lang="en"/>
              <a:t>None of those connections are ever finishing</a:t>
            </a:r>
            <a:endParaRPr/>
          </a:p>
          <a:p>
            <a:pPr indent="-298450" lvl="0" marL="457200" rtl="0" algn="l">
              <a:spcBef>
                <a:spcPts val="0"/>
              </a:spcBef>
              <a:spcAft>
                <a:spcPts val="0"/>
              </a:spcAft>
              <a:buSzPts val="1100"/>
              <a:buChar char="●"/>
            </a:pPr>
            <a:r>
              <a:rPr lang="en"/>
              <a:t>Syn flooding, send a syn then forget about it right away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e5747d67a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e5747d67a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Have enough space for 1 mill connections</a:t>
            </a:r>
            <a:endParaRPr/>
          </a:p>
          <a:p>
            <a:pPr indent="-298450" lvl="0" marL="457200" rtl="0" algn="l">
              <a:spcBef>
                <a:spcPts val="0"/>
              </a:spcBef>
              <a:spcAft>
                <a:spcPts val="0"/>
              </a:spcAft>
              <a:buSzPts val="1100"/>
              <a:buChar char="●"/>
            </a:pPr>
            <a:r>
              <a:rPr lang="en"/>
              <a:t>Filter: which tcp connections are </a:t>
            </a:r>
            <a:r>
              <a:rPr lang="en"/>
              <a:t>legitimate</a:t>
            </a:r>
            <a:r>
              <a:rPr lang="en"/>
              <a:t> </a:t>
            </a:r>
            <a:endParaRPr/>
          </a:p>
          <a:p>
            <a:pPr indent="-298450" lvl="0" marL="457200" rtl="0" algn="l">
              <a:spcBef>
                <a:spcPts val="0"/>
              </a:spcBef>
              <a:spcAft>
                <a:spcPts val="0"/>
              </a:spcAft>
              <a:buSzPts val="1100"/>
              <a:buChar char="●"/>
            </a:pPr>
            <a:r>
              <a:rPr lang="en"/>
              <a:t>Syn cookies: </a:t>
            </a:r>
            <a:r>
              <a:rPr lang="en"/>
              <a:t>why</a:t>
            </a:r>
            <a:r>
              <a:rPr lang="en"/>
              <a:t> called cookies? Iguess were gonna send a li</a:t>
            </a:r>
            <a:r>
              <a:rPr lang="en">
                <a:solidFill>
                  <a:schemeClr val="dk1"/>
                </a:solidFill>
              </a:rPr>
              <a:t>tle bit of a state back to the attacker </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The server says You made me allocate memory first, but im not gonna do that, im going to make you allocate memory first. Uno reverse card</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e5747d67a6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e5747d67a6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Before the client sends a syn to the server, the server is obligated to allocate a bunch of memory because the server has to prepare for the ocnnection to finish, so in other words teh server is going first</a:t>
            </a:r>
            <a:endParaRPr/>
          </a:p>
          <a:p>
            <a:pPr indent="-298450" lvl="0" marL="457200" rtl="0" algn="l">
              <a:spcBef>
                <a:spcPts val="0"/>
              </a:spcBef>
              <a:spcAft>
                <a:spcPts val="0"/>
              </a:spcAft>
              <a:buSzPts val="1100"/>
              <a:buChar char="●"/>
            </a:pPr>
            <a:r>
              <a:rPr lang="en"/>
              <a:t>What</a:t>
            </a:r>
            <a:r>
              <a:rPr lang="en"/>
              <a:t> if the server didnt go first, what would that look like</a:t>
            </a:r>
            <a:endParaRPr/>
          </a:p>
          <a:p>
            <a:pPr indent="-298450" lvl="0" marL="457200" rtl="0" algn="l">
              <a:spcBef>
                <a:spcPts val="0"/>
              </a:spcBef>
              <a:spcAft>
                <a:spcPts val="0"/>
              </a:spcAft>
              <a:buSzPts val="1100"/>
              <a:buChar char="●"/>
            </a:pPr>
            <a:r>
              <a:rPr lang="en"/>
              <a:t>After reading through slide: i cant go back into tcp and add this state, thats going to break all of tcp, so where do we put this?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e764d4566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e764d4566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Stick it in teh seq number</a:t>
            </a:r>
            <a:endParaRPr/>
          </a:p>
          <a:p>
            <a:pPr indent="-298450" lvl="0" marL="457200" rtl="0" algn="l">
              <a:spcBef>
                <a:spcPts val="0"/>
              </a:spcBef>
              <a:spcAft>
                <a:spcPts val="0"/>
              </a:spcAft>
              <a:buSzPts val="1100"/>
              <a:buChar char="●"/>
            </a:pPr>
            <a:r>
              <a:rPr lang="en"/>
              <a:t>Seq </a:t>
            </a:r>
            <a:r>
              <a:rPr lang="en"/>
              <a:t>number</a:t>
            </a:r>
            <a:r>
              <a:rPr lang="en"/>
              <a:t> is just a bunch of 1s and 0s, 32bit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e764d4566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e764d4566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deefccd63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deefccd63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deefccd63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deefccd63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Somebody managing company</a:t>
            </a:r>
            <a:endParaRPr/>
          </a:p>
          <a:p>
            <a:pPr indent="-298450" lvl="0" marL="457200" rtl="0" algn="l">
              <a:spcBef>
                <a:spcPts val="0"/>
              </a:spcBef>
              <a:spcAft>
                <a:spcPts val="0"/>
              </a:spcAft>
              <a:buSzPts val="1100"/>
              <a:buChar char="●"/>
            </a:pPr>
            <a:r>
              <a:rPr lang="en"/>
              <a:t>Want ot protect the company against external attacks</a:t>
            </a:r>
            <a:endParaRPr/>
          </a:p>
          <a:p>
            <a:pPr indent="-298450" lvl="0" marL="457200" rtl="0" algn="l">
              <a:spcBef>
                <a:spcPts val="0"/>
              </a:spcBef>
              <a:spcAft>
                <a:spcPts val="0"/>
              </a:spcAft>
              <a:buSzPts val="1100"/>
              <a:buChar char="●"/>
            </a:pPr>
            <a:r>
              <a:rPr lang="en"/>
              <a:t>Why is that so hard?</a:t>
            </a:r>
            <a:endParaRPr/>
          </a:p>
          <a:p>
            <a:pPr indent="-298450" lvl="0" marL="457200" rtl="0" algn="l">
              <a:spcBef>
                <a:spcPts val="0"/>
              </a:spcBef>
              <a:spcAft>
                <a:spcPts val="0"/>
              </a:spcAft>
              <a:buSzPts val="1100"/>
              <a:buChar char="●"/>
            </a:pPr>
            <a:r>
              <a:rPr lang="en"/>
              <a:t>How do you know how many computers? Many are old? People click on malicious links? Too old to update? Computers you dont know about in teh network? Different operating systems?</a:t>
            </a:r>
            <a:endParaRPr/>
          </a:p>
          <a:p>
            <a:pPr indent="-298450" lvl="0" marL="457200" rtl="0" algn="l">
              <a:spcBef>
                <a:spcPts val="0"/>
              </a:spcBef>
              <a:spcAft>
                <a:spcPts val="0"/>
              </a:spcAft>
              <a:buSzPts val="1100"/>
              <a:buChar char="●"/>
            </a:pPr>
            <a:r>
              <a:rPr lang="en"/>
              <a:t>Stop them all from being attacked!</a:t>
            </a:r>
            <a:endParaRPr/>
          </a:p>
          <a:p>
            <a:pPr indent="-298450" lvl="0" marL="457200" rtl="0" algn="l">
              <a:spcBef>
                <a:spcPts val="0"/>
              </a:spcBef>
              <a:spcAft>
                <a:spcPts val="0"/>
              </a:spcAft>
              <a:buSzPts val="1100"/>
              <a:buChar char="●"/>
            </a:pPr>
            <a:r>
              <a:rPr lang="en"/>
              <a:t>Could go around trying to secure every single machine</a:t>
            </a:r>
            <a:endParaRPr/>
          </a:p>
          <a:p>
            <a:pPr indent="-298450" lvl="0" marL="457200" rtl="0" algn="l">
              <a:spcBef>
                <a:spcPts val="0"/>
              </a:spcBef>
              <a:spcAft>
                <a:spcPts val="0"/>
              </a:spcAft>
              <a:buSzPts val="1100"/>
              <a:buChar char="●"/>
            </a:pPr>
            <a:r>
              <a:rPr lang="en"/>
              <a:t>Or could scale the entire network with one system</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deefccd63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deefccd63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analogy: (disclaimer, analogies are not always indicative of real life) some countries historically have built a wall or built their city near a mountain as a natural barrier to protect their civilization. This is one system to protect an entire network. </a:t>
            </a:r>
            <a:endParaRPr/>
          </a:p>
          <a:p>
            <a:pPr indent="-298450" lvl="0" marL="457200" rtl="0" algn="l">
              <a:spcBef>
                <a:spcPts val="0"/>
              </a:spcBef>
              <a:spcAft>
                <a:spcPts val="0"/>
              </a:spcAft>
              <a:buSzPts val="1100"/>
              <a:buChar char="●"/>
            </a:pPr>
            <a:r>
              <a:rPr lang="en"/>
              <a:t> Single point of access, anyone outside has to enter through the checkpoint call this the firewall</a:t>
            </a:r>
            <a:endParaRPr/>
          </a:p>
          <a:p>
            <a:pPr indent="-298450" lvl="0" marL="457200" rtl="0" algn="l">
              <a:spcBef>
                <a:spcPts val="0"/>
              </a:spcBef>
              <a:spcAft>
                <a:spcPts val="0"/>
              </a:spcAft>
              <a:buSzPts val="1100"/>
              <a:buChar char="●"/>
            </a:pPr>
            <a:r>
              <a:rPr lang="en"/>
              <a:t>Everyone is mediated thru firewall</a:t>
            </a:r>
            <a:endParaRPr/>
          </a:p>
          <a:p>
            <a:pPr indent="-298450" lvl="0" marL="457200" rtl="0" algn="l">
              <a:spcBef>
                <a:spcPts val="0"/>
              </a:spcBef>
              <a:spcAft>
                <a:spcPts val="0"/>
              </a:spcAft>
              <a:buSzPts val="1100"/>
              <a:buChar char="●"/>
            </a:pPr>
            <a:r>
              <a:rPr lang="en"/>
              <a:t>What does it do? It sits there, some program you dont write</a:t>
            </a:r>
            <a:endParaRPr/>
          </a:p>
          <a:p>
            <a:pPr indent="-298450" lvl="1" marL="914400" rtl="0" algn="l">
              <a:spcBef>
                <a:spcPts val="0"/>
              </a:spcBef>
              <a:spcAft>
                <a:spcPts val="0"/>
              </a:spcAft>
              <a:buSzPts val="1100"/>
              <a:buChar char="○"/>
            </a:pPr>
            <a:r>
              <a:rPr lang="en"/>
              <a:t>Received this input from outside</a:t>
            </a:r>
            <a:endParaRPr/>
          </a:p>
          <a:p>
            <a:pPr indent="-298450" lvl="1" marL="914400" rtl="0" algn="l">
              <a:spcBef>
                <a:spcPts val="0"/>
              </a:spcBef>
              <a:spcAft>
                <a:spcPts val="0"/>
              </a:spcAft>
              <a:buSzPts val="1100"/>
              <a:buChar char="○"/>
            </a:pPr>
            <a:r>
              <a:rPr lang="en"/>
              <a:t>Someone from </a:t>
            </a:r>
            <a:r>
              <a:rPr lang="en"/>
              <a:t>inside</a:t>
            </a:r>
            <a:r>
              <a:rPr lang="en"/>
              <a:t> wants to send this packet</a:t>
            </a:r>
            <a:endParaRPr/>
          </a:p>
          <a:p>
            <a:pPr indent="-298450" lvl="1" marL="914400" rtl="0" algn="l">
              <a:spcBef>
                <a:spcPts val="0"/>
              </a:spcBef>
              <a:spcAft>
                <a:spcPts val="0"/>
              </a:spcAft>
              <a:buSzPts val="1100"/>
              <a:buChar char="○"/>
            </a:pPr>
            <a:r>
              <a:rPr lang="en"/>
              <a:t>Firewall judges and says this is allowed to pass thru or not, block it</a:t>
            </a:r>
            <a:endParaRPr/>
          </a:p>
          <a:p>
            <a:pPr indent="-298450" lvl="1" marL="914400" rtl="0" algn="l">
              <a:spcBef>
                <a:spcPts val="0"/>
              </a:spcBef>
              <a:spcAft>
                <a:spcPts val="0"/>
              </a:spcAft>
              <a:buSzPts val="1100"/>
              <a:buChar char="○"/>
            </a:pPr>
            <a:r>
              <a:rPr lang="en"/>
              <a:t>Write the code thats allowed and not allowed</a:t>
            </a:r>
            <a:endParaRPr/>
          </a:p>
          <a:p>
            <a:pPr indent="-298450" lvl="1" marL="914400" rtl="0" algn="l">
              <a:spcBef>
                <a:spcPts val="0"/>
              </a:spcBef>
              <a:spcAft>
                <a:spcPts val="0"/>
              </a:spcAft>
              <a:buSzPts val="1100"/>
              <a:buChar char="○"/>
            </a:pPr>
            <a:r>
              <a:rPr lang="en"/>
              <a:t>Depends on threat model</a:t>
            </a:r>
            <a:endParaRPr/>
          </a:p>
          <a:p>
            <a:pPr indent="-298450" lvl="2" marL="1371600" rtl="0" algn="l">
              <a:spcBef>
                <a:spcPts val="0"/>
              </a:spcBef>
              <a:spcAft>
                <a:spcPts val="0"/>
              </a:spcAft>
              <a:buSzPts val="1100"/>
              <a:buChar char="■"/>
            </a:pPr>
            <a:r>
              <a:rPr lang="en"/>
              <a:t>Do you let everyone in? No one? Probably something inbetween</a:t>
            </a:r>
            <a:endParaRPr/>
          </a:p>
          <a:p>
            <a:pPr indent="-298450" lvl="1" marL="914400" rtl="0" algn="l">
              <a:spcBef>
                <a:spcPts val="0"/>
              </a:spcBef>
              <a:spcAft>
                <a:spcPts val="0"/>
              </a:spcAft>
              <a:buSzPts val="1100"/>
              <a:buChar char="○"/>
            </a:pPr>
            <a:r>
              <a:rPr lang="en"/>
              <a:t>We trust that everyon inside is trustworthy and everyone outside is not</a:t>
            </a:r>
            <a:endParaRPr/>
          </a:p>
          <a:p>
            <a:pPr indent="-298450" lvl="1" marL="914400" rtl="0" algn="l">
              <a:spcBef>
                <a:spcPts val="0"/>
              </a:spcBef>
              <a:spcAft>
                <a:spcPts val="0"/>
              </a:spcAft>
              <a:buSzPts val="1100"/>
              <a:buChar char="○"/>
            </a:pPr>
            <a:r>
              <a:rPr lang="en"/>
              <a:t>Thats why they all go thru the checkpoint, because inside is trusted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e764d4566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e764d4566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Outbound is trusted because everyon inside is trustworthy</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deefccd63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deefccd63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Not going to write a rule for every request, too many packets out there</a:t>
            </a:r>
            <a:endParaRPr/>
          </a:p>
          <a:p>
            <a:pPr indent="-298450" lvl="0" marL="457200" rtl="0" algn="l">
              <a:spcBef>
                <a:spcPts val="0"/>
              </a:spcBef>
              <a:spcAft>
                <a:spcPts val="0"/>
              </a:spcAft>
              <a:buSzPts val="1100"/>
              <a:buChar char="●"/>
            </a:pPr>
            <a:r>
              <a:rPr lang="en"/>
              <a:t>Default</a:t>
            </a:r>
            <a:r>
              <a:rPr lang="en"/>
              <a:t>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e764d45669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e764d45669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Simplest is stateless: going to look at every packet individually </a:t>
            </a:r>
            <a:endParaRPr/>
          </a:p>
          <a:p>
            <a:pPr indent="-298450" lvl="0" marL="457200" rtl="0" algn="l">
              <a:spcBef>
                <a:spcPts val="0"/>
              </a:spcBef>
              <a:spcAft>
                <a:spcPts val="0"/>
              </a:spcAft>
              <a:buSzPts val="1100"/>
              <a:buChar char="●"/>
            </a:pPr>
            <a:r>
              <a:rPr lang="en"/>
              <a:t>so you're not going to think about the packet that came like five minutes ago </a:t>
            </a:r>
            <a:endParaRPr/>
          </a:p>
          <a:p>
            <a:pPr indent="-298450" lvl="0" marL="457200" rtl="0" algn="l">
              <a:spcBef>
                <a:spcPts val="0"/>
              </a:spcBef>
              <a:spcAft>
                <a:spcPts val="0"/>
              </a:spcAft>
              <a:buSzPts val="1100"/>
              <a:buChar char="●"/>
            </a:pPr>
            <a:r>
              <a:rPr lang="en"/>
              <a:t>or you're not going to like think about packets that could hypothetically come in the future </a:t>
            </a:r>
            <a:endParaRPr/>
          </a:p>
          <a:p>
            <a:pPr indent="-298450" lvl="0" marL="457200" rtl="0" algn="l">
              <a:spcBef>
                <a:spcPts val="0"/>
              </a:spcBef>
              <a:spcAft>
                <a:spcPts val="0"/>
              </a:spcAft>
              <a:buSzPts val="1100"/>
              <a:buChar char="●"/>
            </a:pPr>
            <a:r>
              <a:rPr lang="en"/>
              <a:t>you're going to say there's one packet in front of me right now I'm going to look at just that packet and nothing else </a:t>
            </a:r>
            <a:endParaRPr/>
          </a:p>
          <a:p>
            <a:pPr indent="-298450" lvl="0" marL="457200" rtl="0" algn="l">
              <a:spcBef>
                <a:spcPts val="0"/>
              </a:spcBef>
              <a:spcAft>
                <a:spcPts val="0"/>
              </a:spcAft>
              <a:buSzPts val="1100"/>
              <a:buChar char="●"/>
            </a:pPr>
            <a:r>
              <a:rPr lang="en"/>
              <a:t>that's called stateless because you're not remembering State </a:t>
            </a:r>
            <a:endParaRPr/>
          </a:p>
          <a:p>
            <a:pPr indent="-298450" lvl="0" marL="457200" rtl="0" algn="l">
              <a:spcBef>
                <a:spcPts val="0"/>
              </a:spcBef>
              <a:spcAft>
                <a:spcPts val="0"/>
              </a:spcAft>
              <a:buSzPts val="1100"/>
              <a:buChar char="●"/>
            </a:pPr>
            <a:r>
              <a:rPr lang="en"/>
              <a:t>and so that means that the only thing you can use to judge if the packet is good or not is the packet itself </a:t>
            </a:r>
            <a:endParaRPr/>
          </a:p>
          <a:p>
            <a:pPr indent="-298450" lvl="0" marL="457200" rtl="0" algn="l">
              <a:spcBef>
                <a:spcPts val="0"/>
              </a:spcBef>
              <a:spcAft>
                <a:spcPts val="0"/>
              </a:spcAft>
              <a:buSzPts val="1100"/>
              <a:buChar char="●"/>
            </a:pPr>
            <a:r>
              <a:rPr lang="en"/>
              <a:t>you can't think about things in the past don't think about things in the future</a:t>
            </a:r>
            <a:endParaRPr/>
          </a:p>
          <a:p>
            <a:pPr indent="-298450" lvl="0" marL="457200" rtl="0" algn="l">
              <a:spcBef>
                <a:spcPts val="0"/>
              </a:spcBef>
              <a:spcAft>
                <a:spcPts val="0"/>
              </a:spcAft>
              <a:buSzPts val="1100"/>
              <a:buChar char="●"/>
            </a:pPr>
            <a:r>
              <a:rPr lang="en"/>
              <a:t>Simple but might miss some attacks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e764d45669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e764d45669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How could you </a:t>
            </a:r>
            <a:r>
              <a:rPr lang="en"/>
              <a:t>implement</a:t>
            </a:r>
            <a:r>
              <a:rPr lang="en"/>
              <a:t> one of our policies form earlier usinga  stateless packet filter</a:t>
            </a:r>
            <a:endParaRPr/>
          </a:p>
          <a:p>
            <a:pPr indent="-298450" lvl="0" marL="457200" rtl="0" algn="l">
              <a:spcBef>
                <a:spcPts val="0"/>
              </a:spcBef>
              <a:spcAft>
                <a:spcPts val="0"/>
              </a:spcAft>
              <a:buSzPts val="1100"/>
              <a:buChar char="●"/>
            </a:pPr>
            <a:r>
              <a:rPr lang="en"/>
              <a:t>If youre using TCP, how can i tell if something is a reply or not</a:t>
            </a:r>
            <a:endParaRPr/>
          </a:p>
          <a:p>
            <a:pPr indent="-298450" lvl="0" marL="457200" rtl="0" algn="l">
              <a:spcBef>
                <a:spcPts val="0"/>
              </a:spcBef>
              <a:spcAft>
                <a:spcPts val="0"/>
              </a:spcAft>
              <a:buSzPts val="1100"/>
              <a:buChar char="●"/>
            </a:pPr>
            <a:r>
              <a:rPr lang="en"/>
              <a:t>If replying, theres an ACK flag set</a:t>
            </a:r>
            <a:endParaRPr/>
          </a:p>
          <a:p>
            <a:pPr indent="-298450" lvl="0" marL="457200" rtl="0" algn="l">
              <a:spcBef>
                <a:spcPts val="0"/>
              </a:spcBef>
              <a:spcAft>
                <a:spcPts val="0"/>
              </a:spcAft>
              <a:buSzPts val="1100"/>
              <a:buChar char="●"/>
            </a:pPr>
            <a:r>
              <a:rPr lang="en"/>
              <a:t>If someone on the outside is trying to connect to the inside, what would they send? A syn packet with no ack flag set, see that and deny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students if they see issues with implementing these rules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e764d45669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e764d4566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Keep state</a:t>
            </a:r>
            <a:endParaRPr/>
          </a:p>
          <a:p>
            <a:pPr indent="-298450" lvl="0" marL="457200" rtl="0" algn="l">
              <a:spcBef>
                <a:spcPts val="0"/>
              </a:spcBef>
              <a:spcAft>
                <a:spcPts val="0"/>
              </a:spcAft>
              <a:buSzPts val="1100"/>
              <a:buChar char="●"/>
            </a:pPr>
            <a:r>
              <a:rPr lang="en"/>
              <a:t>Remember packets that came before</a:t>
            </a:r>
            <a:endParaRPr/>
          </a:p>
          <a:p>
            <a:pPr indent="-298450" lvl="0" marL="457200" rtl="0" algn="l">
              <a:spcBef>
                <a:spcPts val="0"/>
              </a:spcBef>
              <a:spcAft>
                <a:spcPts val="0"/>
              </a:spcAft>
              <a:buSzPts val="1100"/>
              <a:buChar char="●"/>
            </a:pPr>
            <a:r>
              <a:rPr lang="en"/>
              <a:t>Not thinking about packets one by one</a:t>
            </a:r>
            <a:endParaRPr/>
          </a:p>
          <a:p>
            <a:pPr indent="-298450" lvl="0" marL="457200" rtl="0" algn="l">
              <a:spcBef>
                <a:spcPts val="0"/>
              </a:spcBef>
              <a:spcAft>
                <a:spcPts val="0"/>
              </a:spcAft>
              <a:buSzPts val="1100"/>
              <a:buChar char="●"/>
            </a:pPr>
            <a:r>
              <a:rPr lang="en"/>
              <a:t>Can assemble packets into a connections</a:t>
            </a:r>
            <a:endParaRPr/>
          </a:p>
          <a:p>
            <a:pPr indent="-298450" lvl="0" marL="457200" rtl="0" algn="l">
              <a:spcBef>
                <a:spcPts val="0"/>
              </a:spcBef>
              <a:spcAft>
                <a:spcPts val="0"/>
              </a:spcAft>
              <a:buSzPts val="1100"/>
              <a:buChar char="●"/>
            </a:pPr>
            <a:r>
              <a:rPr lang="en"/>
              <a:t>Can think about connections</a:t>
            </a:r>
            <a:endParaRPr/>
          </a:p>
          <a:p>
            <a:pPr indent="-298450" lvl="0" marL="457200" rtl="0" algn="l">
              <a:spcBef>
                <a:spcPts val="0"/>
              </a:spcBef>
              <a:spcAft>
                <a:spcPts val="0"/>
              </a:spcAft>
              <a:buSzPts val="1100"/>
              <a:buChar char="●"/>
            </a:pPr>
            <a:r>
              <a:rPr lang="en"/>
              <a:t>Whats inbound and outbound</a:t>
            </a:r>
            <a:endParaRPr/>
          </a:p>
          <a:p>
            <a:pPr indent="-298450" lvl="0" marL="457200" rtl="0" algn="l">
              <a:spcBef>
                <a:spcPts val="0"/>
              </a:spcBef>
              <a:spcAft>
                <a:spcPts val="0"/>
              </a:spcAft>
              <a:buSzPts val="1100"/>
              <a:buChar char="●"/>
            </a:pPr>
            <a:r>
              <a:rPr lang="en"/>
              <a:t>Get a packet, either good or not good, but think about it in terms of connections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 is for anything, wildcard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e764d45669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e764d45669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can be smarter so instead of looking at every packet one by one you can reassemble pack packets in TCP like use the sequence numbers to reassemble if you're using something like HTTP you can be even smarter and reassemble that too and be like oh that's a get request and that's a post request and maybe like I'll accept post requests but I won't allow get requests</a:t>
            </a:r>
            <a:endParaRPr/>
          </a:p>
          <a:p>
            <a:pPr indent="-298450" lvl="0" marL="457200" rtl="0" algn="l">
              <a:spcBef>
                <a:spcPts val="0"/>
              </a:spcBef>
              <a:spcAft>
                <a:spcPts val="0"/>
              </a:spcAft>
              <a:buSzPts val="1100"/>
              <a:buChar char="●"/>
            </a:pPr>
            <a:r>
              <a:rPr lang="en"/>
              <a:t>Can be smarter</a:t>
            </a:r>
            <a:endParaRPr/>
          </a:p>
          <a:p>
            <a:pPr indent="-298450" lvl="0" marL="457200" rtl="0" algn="l">
              <a:spcBef>
                <a:spcPts val="0"/>
              </a:spcBef>
              <a:spcAft>
                <a:spcPts val="0"/>
              </a:spcAft>
              <a:buSzPts val="1100"/>
              <a:buChar char="●"/>
            </a:pPr>
            <a:r>
              <a:rPr lang="en"/>
              <a:t>But more expensive to implement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e764d45669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e764d45669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here's an example in ftp </a:t>
            </a:r>
            <a:endParaRPr/>
          </a:p>
          <a:p>
            <a:pPr indent="-298450" lvl="0" marL="457200" rtl="0" algn="l">
              <a:spcBef>
                <a:spcPts val="0"/>
              </a:spcBef>
              <a:spcAft>
                <a:spcPts val="0"/>
              </a:spcAft>
              <a:buSzPts val="1100"/>
              <a:buChar char="●"/>
            </a:pPr>
            <a:r>
              <a:rPr lang="en"/>
              <a:t>so ftp is a file transfer protocol </a:t>
            </a:r>
            <a:endParaRPr/>
          </a:p>
          <a:p>
            <a:pPr indent="-298450" lvl="0" marL="457200" rtl="0" algn="l">
              <a:spcBef>
                <a:spcPts val="0"/>
              </a:spcBef>
              <a:spcAft>
                <a:spcPts val="0"/>
              </a:spcAft>
              <a:buSzPts val="1100"/>
              <a:buChar char="●"/>
            </a:pPr>
            <a:r>
              <a:rPr lang="en"/>
              <a:t>allow all inbound ftp connections except for those logging in as root </a:t>
            </a:r>
            <a:endParaRPr/>
          </a:p>
          <a:p>
            <a:pPr indent="-298450" lvl="0" marL="457200" rtl="0" algn="l">
              <a:spcBef>
                <a:spcPts val="0"/>
              </a:spcBef>
              <a:spcAft>
                <a:spcPts val="0"/>
              </a:spcAft>
              <a:buSzPts val="1100"/>
              <a:buChar char="●"/>
            </a:pPr>
            <a:r>
              <a:rPr lang="en"/>
              <a:t>so the packet filter needs to know </a:t>
            </a:r>
            <a:endParaRPr/>
          </a:p>
          <a:p>
            <a:pPr indent="-298450" lvl="1" marL="914400" rtl="0" algn="l">
              <a:spcBef>
                <a:spcPts val="0"/>
              </a:spcBef>
              <a:spcAft>
                <a:spcPts val="0"/>
              </a:spcAft>
              <a:buSzPts val="1100"/>
              <a:buChar char="○"/>
            </a:pPr>
            <a:r>
              <a:rPr lang="en"/>
              <a:t>Source ip destination ip </a:t>
            </a:r>
            <a:endParaRPr/>
          </a:p>
          <a:p>
            <a:pPr indent="-298450" lvl="1" marL="914400" rtl="0" algn="l">
              <a:spcBef>
                <a:spcPts val="0"/>
              </a:spcBef>
              <a:spcAft>
                <a:spcPts val="0"/>
              </a:spcAft>
              <a:buSzPts val="1100"/>
              <a:buChar char="○"/>
            </a:pPr>
            <a:r>
              <a:rPr lang="en"/>
              <a:t>Source port destination port </a:t>
            </a:r>
            <a:endParaRPr/>
          </a:p>
          <a:p>
            <a:pPr indent="-298450" lvl="1" marL="914400" rtl="0" algn="l">
              <a:spcBef>
                <a:spcPts val="0"/>
              </a:spcBef>
              <a:spcAft>
                <a:spcPts val="0"/>
              </a:spcAft>
              <a:buSzPts val="1100"/>
              <a:buChar char="○"/>
            </a:pPr>
            <a:r>
              <a:rPr lang="en"/>
              <a:t>if it's an ftp connection </a:t>
            </a:r>
            <a:endParaRPr/>
          </a:p>
          <a:p>
            <a:pPr indent="-298450" lvl="1" marL="914400" rtl="0" algn="l">
              <a:spcBef>
                <a:spcPts val="0"/>
              </a:spcBef>
              <a:spcAft>
                <a:spcPts val="0"/>
              </a:spcAft>
              <a:buSzPts val="1100"/>
              <a:buChar char="○"/>
            </a:pPr>
            <a:r>
              <a:rPr lang="en"/>
              <a:t>if so where in the ftp connection it is </a:t>
            </a:r>
            <a:endParaRPr/>
          </a:p>
          <a:p>
            <a:pPr indent="-298450" lvl="1" marL="914400" rtl="0" algn="l">
              <a:spcBef>
                <a:spcPts val="0"/>
              </a:spcBef>
              <a:spcAft>
                <a:spcPts val="0"/>
              </a:spcAft>
              <a:buSzPts val="1100"/>
              <a:buChar char="○"/>
            </a:pPr>
            <a:r>
              <a:rPr lang="en"/>
              <a:t>the username of the ftp connection </a:t>
            </a:r>
            <a:endParaRPr/>
          </a:p>
          <a:p>
            <a:pPr indent="-298450" lvl="1" marL="914400" rtl="0" algn="l">
              <a:spcBef>
                <a:spcPts val="0"/>
              </a:spcBef>
              <a:spcAft>
                <a:spcPts val="0"/>
              </a:spcAft>
              <a:buSzPts val="1100"/>
              <a:buChar char="○"/>
            </a:pPr>
            <a:r>
              <a:rPr lang="en"/>
              <a:t>and you're gonna wanna stop after five bytes or so of the username because otherwise the attacker is going to send really really really long usernames and tie up a lot of memory on your firewall </a:t>
            </a:r>
            <a:endParaRPr/>
          </a:p>
          <a:p>
            <a:pPr indent="-298450" lvl="0" marL="457200" rtl="0" algn="l">
              <a:spcBef>
                <a:spcPts val="0"/>
              </a:spcBef>
              <a:spcAft>
                <a:spcPts val="0"/>
              </a:spcAft>
              <a:buSzPts val="1100"/>
              <a:buChar char="●"/>
            </a:pPr>
            <a:r>
              <a:rPr lang="en"/>
              <a:t>and so to actually keep track of applications the firewalls really do have to be fairly hard about storing state and fdp deserves a special notice </a:t>
            </a:r>
            <a:endParaRPr/>
          </a:p>
          <a:p>
            <a:pPr indent="-298450" lvl="0" marL="457200" rtl="0" algn="l">
              <a:spcBef>
                <a:spcPts val="0"/>
              </a:spcBef>
              <a:spcAft>
                <a:spcPts val="0"/>
              </a:spcAft>
              <a:buSzPts val="1100"/>
              <a:buChar char="●"/>
            </a:pPr>
            <a:r>
              <a:rPr lang="en"/>
              <a:t>ftp is a nightmare </a:t>
            </a:r>
            <a:endParaRPr/>
          </a:p>
          <a:p>
            <a:pPr indent="-298450" lvl="0" marL="457200" rtl="0" algn="l">
              <a:spcBef>
                <a:spcPts val="0"/>
              </a:spcBef>
              <a:spcAft>
                <a:spcPts val="0"/>
              </a:spcAft>
              <a:buSzPts val="1100"/>
              <a:buChar char="●"/>
            </a:pPr>
            <a:r>
              <a:rPr lang="en"/>
              <a:t>this is a really really really old networking protocol standardized in 1985. </a:t>
            </a:r>
            <a:endParaRPr/>
          </a:p>
          <a:p>
            <a:pPr indent="-298450" lvl="0" marL="457200" rtl="0" algn="l">
              <a:spcBef>
                <a:spcPts val="0"/>
              </a:spcBef>
              <a:spcAft>
                <a:spcPts val="0"/>
              </a:spcAft>
              <a:buSzPts val="1100"/>
              <a:buChar char="●"/>
            </a:pPr>
            <a:r>
              <a:rPr lang="en"/>
              <a:t>it's older than you </a:t>
            </a:r>
            <a:endParaRPr/>
          </a:p>
          <a:p>
            <a:pPr indent="-298450" lvl="0" marL="457200" rtl="0" algn="l">
              <a:spcBef>
                <a:spcPts val="0"/>
              </a:spcBef>
              <a:spcAft>
                <a:spcPts val="0"/>
              </a:spcAft>
              <a:buSzPts val="1100"/>
              <a:buChar char="●"/>
            </a:pPr>
            <a:r>
              <a:rPr lang="en"/>
              <a:t>and it's used often enough that you'll still need it </a:t>
            </a:r>
            <a:endParaRPr/>
          </a:p>
          <a:p>
            <a:pPr indent="-298450" lvl="0" marL="457200" rtl="0" algn="l">
              <a:spcBef>
                <a:spcPts val="0"/>
              </a:spcBef>
              <a:spcAft>
                <a:spcPts val="0"/>
              </a:spcAft>
              <a:buSzPts val="1100"/>
              <a:buChar char="●"/>
            </a:pPr>
            <a:r>
              <a:rPr lang="en"/>
              <a:t>so how many have seen url links that are ftp colon slash slash </a:t>
            </a:r>
            <a:endParaRPr/>
          </a:p>
          <a:p>
            <a:pPr indent="-298450" lvl="0" marL="457200" rtl="0" algn="l">
              <a:spcBef>
                <a:spcPts val="0"/>
              </a:spcBef>
              <a:spcAft>
                <a:spcPts val="0"/>
              </a:spcAft>
              <a:buSzPts val="1100"/>
              <a:buChar char="●"/>
            </a:pPr>
            <a:r>
              <a:rPr lang="en"/>
              <a:t>that says use file transfer protocol to get it </a:t>
            </a:r>
            <a:endParaRPr/>
          </a:p>
          <a:p>
            <a:pPr indent="-298450" lvl="0" marL="457200" rtl="0" algn="l">
              <a:spcBef>
                <a:spcPts val="0"/>
              </a:spcBef>
              <a:spcAft>
                <a:spcPts val="0"/>
              </a:spcAft>
              <a:buSzPts val="1100"/>
              <a:buChar char="●"/>
            </a:pPr>
            <a:r>
              <a:rPr lang="en"/>
              <a:t>and file transfer protocol is broken </a:t>
            </a:r>
            <a:endParaRPr/>
          </a:p>
          <a:p>
            <a:pPr indent="-298450" lvl="0" marL="457200" rtl="0" algn="l">
              <a:spcBef>
                <a:spcPts val="0"/>
              </a:spcBef>
              <a:spcAft>
                <a:spcPts val="0"/>
              </a:spcAft>
              <a:buSzPts val="1100"/>
              <a:buChar char="●"/>
            </a:pPr>
            <a:r>
              <a:rPr lang="en"/>
              <a:t>most client server protocols have this model where the client creates a tcp connection and requests data and it comes over the connection </a:t>
            </a:r>
            <a:endParaRPr/>
          </a:p>
          <a:p>
            <a:pPr indent="-298450" lvl="0" marL="457200" rtl="0" algn="l">
              <a:spcBef>
                <a:spcPts val="0"/>
              </a:spcBef>
              <a:spcAft>
                <a:spcPts val="0"/>
              </a:spcAft>
              <a:buSzPts val="1100"/>
              <a:buChar char="●"/>
            </a:pPr>
            <a:r>
              <a:rPr lang="en"/>
              <a:t>guess what </a:t>
            </a:r>
            <a:endParaRPr/>
          </a:p>
          <a:p>
            <a:pPr indent="-298450" lvl="0" marL="457200" rtl="0" algn="l">
              <a:spcBef>
                <a:spcPts val="0"/>
              </a:spcBef>
              <a:spcAft>
                <a:spcPts val="0"/>
              </a:spcAft>
              <a:buSzPts val="1100"/>
              <a:buChar char="●"/>
            </a:pPr>
            <a:r>
              <a:rPr lang="en"/>
              <a:t>ftp doesn't do this </a:t>
            </a:r>
            <a:endParaRPr/>
          </a:p>
          <a:p>
            <a:pPr indent="-298450" lvl="0" marL="457200" rtl="0" algn="l">
              <a:spcBef>
                <a:spcPts val="0"/>
              </a:spcBef>
              <a:spcAft>
                <a:spcPts val="0"/>
              </a:spcAft>
              <a:buSzPts val="1100"/>
              <a:buChar char="●"/>
            </a:pPr>
            <a:r>
              <a:rPr lang="en"/>
              <a:t>the client creates a connection to the server </a:t>
            </a:r>
            <a:endParaRPr/>
          </a:p>
          <a:p>
            <a:pPr indent="-298450" lvl="0" marL="457200" rtl="0" algn="l">
              <a:spcBef>
                <a:spcPts val="0"/>
              </a:spcBef>
              <a:spcAft>
                <a:spcPts val="0"/>
              </a:spcAft>
              <a:buSzPts val="1100"/>
              <a:buChar char="●"/>
            </a:pPr>
            <a:r>
              <a:rPr lang="en"/>
              <a:t>but to send an actual file the client starts a tcp service </a:t>
            </a:r>
            <a:endParaRPr/>
          </a:p>
          <a:p>
            <a:pPr indent="-298450" lvl="0" marL="457200" rtl="0" algn="l">
              <a:spcBef>
                <a:spcPts val="0"/>
              </a:spcBef>
              <a:spcAft>
                <a:spcPts val="0"/>
              </a:spcAft>
              <a:buSzPts val="1100"/>
              <a:buChar char="●"/>
            </a:pPr>
            <a:r>
              <a:rPr lang="en"/>
              <a:t>tells the server hey contact me on this tcp port </a:t>
            </a:r>
            <a:endParaRPr/>
          </a:p>
          <a:p>
            <a:pPr indent="-298450" lvl="0" marL="457200" rtl="0" algn="l">
              <a:spcBef>
                <a:spcPts val="0"/>
              </a:spcBef>
              <a:spcAft>
                <a:spcPts val="0"/>
              </a:spcAft>
              <a:buSzPts val="1100"/>
              <a:buChar char="●"/>
            </a:pPr>
            <a:r>
              <a:rPr lang="en"/>
              <a:t>and the server then connects back to the client </a:t>
            </a:r>
            <a:endParaRPr/>
          </a:p>
          <a:p>
            <a:pPr indent="-298450" lvl="0" marL="457200" rtl="0" algn="l">
              <a:spcBef>
                <a:spcPts val="0"/>
              </a:spcBef>
              <a:spcAft>
                <a:spcPts val="0"/>
              </a:spcAft>
              <a:buSzPts val="1100"/>
              <a:buChar char="●"/>
            </a:pPr>
            <a:r>
              <a:rPr lang="en"/>
              <a:t>yes i'm seeing these mystified faces no i'm not explaining it wrong yes it is that stupid </a:t>
            </a:r>
            <a:endParaRPr/>
          </a:p>
          <a:p>
            <a:pPr indent="-298450" lvl="0" marL="457200" rtl="0" algn="l">
              <a:spcBef>
                <a:spcPts val="0"/>
              </a:spcBef>
              <a:spcAft>
                <a:spcPts val="0"/>
              </a:spcAft>
              <a:buSzPts val="1100"/>
              <a:buChar char="●"/>
            </a:pPr>
            <a:r>
              <a:rPr lang="en"/>
              <a:t>this was before we came up with the idea of the firewall </a:t>
            </a:r>
            <a:endParaRPr/>
          </a:p>
          <a:p>
            <a:pPr indent="-298450" lvl="0" marL="457200" rtl="0" algn="l">
              <a:spcBef>
                <a:spcPts val="0"/>
              </a:spcBef>
              <a:spcAft>
                <a:spcPts val="0"/>
              </a:spcAft>
              <a:buSzPts val="1100"/>
              <a:buChar char="●"/>
            </a:pPr>
            <a:r>
              <a:rPr lang="en"/>
              <a:t>so as a consequence the firewall needs to understand ftp because ftp is not designed to work well with firewalls </a:t>
            </a:r>
            <a:endParaRPr/>
          </a:p>
          <a:p>
            <a:pPr indent="-298450" lvl="0" marL="457200" rtl="0" algn="l">
              <a:spcBef>
                <a:spcPts val="0"/>
              </a:spcBef>
              <a:spcAft>
                <a:spcPts val="0"/>
              </a:spcAft>
              <a:buSzPts val="1100"/>
              <a:buChar char="●"/>
            </a:pPr>
            <a:r>
              <a:rPr lang="en"/>
              <a:t>and this is what's known as supporting a legacy protocol something really really really old and crufty </a:t>
            </a:r>
            <a:endParaRPr/>
          </a:p>
          <a:p>
            <a:pPr indent="-298450" lvl="0" marL="457200" rtl="0" algn="l">
              <a:spcBef>
                <a:spcPts val="0"/>
              </a:spcBef>
              <a:spcAft>
                <a:spcPts val="0"/>
              </a:spcAft>
              <a:buSzPts val="1100"/>
              <a:buChar char="●"/>
            </a:pPr>
            <a:r>
              <a:rPr lang="en"/>
              <a:t>it's often a real pain </a:t>
            </a:r>
            <a:endParaRPr/>
          </a:p>
          <a:p>
            <a:pPr indent="-298450" lvl="0" marL="457200" rtl="0" algn="l">
              <a:spcBef>
                <a:spcPts val="0"/>
              </a:spcBef>
              <a:spcAft>
                <a:spcPts val="0"/>
              </a:spcAft>
              <a:buSzPts val="1100"/>
              <a:buChar char="●"/>
            </a:pPr>
            <a:r>
              <a:rPr lang="en"/>
              <a:t>in computing life would be so much better for us if we could say anything over five years old we just toss a molotov cocktail and burn it down you'll never be in that position</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e764d45669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e764d45669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Lets choose a policy: deny all conections containing the string root</a:t>
            </a:r>
            <a:endParaRPr/>
          </a:p>
          <a:p>
            <a:pPr indent="-298450" lvl="1" marL="914400" rtl="0" algn="l">
              <a:spcBef>
                <a:spcPts val="0"/>
              </a:spcBef>
              <a:spcAft>
                <a:spcPts val="0"/>
              </a:spcAft>
              <a:buSzPts val="1100"/>
              <a:buChar char="○"/>
            </a:pPr>
            <a:r>
              <a:rPr lang="en"/>
              <a:t>That user is trying to log in as admin user</a:t>
            </a:r>
            <a:endParaRPr/>
          </a:p>
          <a:p>
            <a:pPr indent="-298450" lvl="0" marL="457200" rtl="0" algn="l">
              <a:spcBef>
                <a:spcPts val="0"/>
              </a:spcBef>
              <a:spcAft>
                <a:spcPts val="0"/>
              </a:spcAft>
              <a:buSzPts val="1100"/>
              <a:buChar char="●"/>
            </a:pPr>
            <a:r>
              <a:rPr lang="en"/>
              <a:t>Lets be a stateless packet filter and look thru these examples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e77b161fd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e77b161fd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How to stop this attack? Needs to be smarter, able to assemble packets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e764d45669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e764d45669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Another more </a:t>
            </a:r>
            <a:r>
              <a:rPr lang="en"/>
              <a:t>sophisticated</a:t>
            </a:r>
            <a:r>
              <a:rPr lang="en"/>
              <a:t> attack</a:t>
            </a:r>
            <a:endParaRPr/>
          </a:p>
          <a:p>
            <a:pPr indent="-298450" lvl="0" marL="457200" rtl="0" algn="l">
              <a:spcBef>
                <a:spcPts val="0"/>
              </a:spcBef>
              <a:spcAft>
                <a:spcPts val="0"/>
              </a:spcAft>
              <a:buSzPts val="1100"/>
              <a:buChar char="●"/>
            </a:pPr>
            <a:r>
              <a:rPr lang="en"/>
              <a:t>TTL: you're out of time this packet gets dropped and this avoids having packets like Bounce Around the internet forever </a:t>
            </a:r>
            <a:endParaRPr/>
          </a:p>
          <a:p>
            <a:pPr indent="-298450" lvl="0" marL="457200" rtl="0" algn="l">
              <a:spcBef>
                <a:spcPts val="0"/>
              </a:spcBef>
              <a:spcAft>
                <a:spcPts val="0"/>
              </a:spcAft>
              <a:buSzPts val="1100"/>
              <a:buChar char="●"/>
            </a:pPr>
            <a:r>
              <a:rPr lang="en"/>
              <a:t>Multiple packets witht eh same seq number</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e764d45669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e764d45669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Could be vulnerable to DOS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e764d45669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e764d45669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Other types of firewalls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e764d45669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e764d45669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Think back to company example</a:t>
            </a:r>
            <a:endParaRPr/>
          </a:p>
          <a:p>
            <a:pPr indent="-298450" lvl="1" marL="914400" rtl="0" algn="l">
              <a:spcBef>
                <a:spcPts val="0"/>
              </a:spcBef>
              <a:spcAft>
                <a:spcPts val="0"/>
              </a:spcAft>
              <a:buSzPts val="1100"/>
              <a:buChar char="○"/>
            </a:pPr>
            <a:r>
              <a:rPr lang="en"/>
              <a:t>Employee goes on a trip in a diff country, but firewall thinks youre on the outside now</a:t>
            </a:r>
            <a:endParaRPr/>
          </a:p>
          <a:p>
            <a:pPr indent="-298450" lvl="1" marL="914400" rtl="0" algn="l">
              <a:spcBef>
                <a:spcPts val="0"/>
              </a:spcBef>
              <a:spcAft>
                <a:spcPts val="0"/>
              </a:spcAft>
              <a:buSzPts val="1100"/>
              <a:buChar char="○"/>
            </a:pPr>
            <a:r>
              <a:rPr lang="en"/>
              <a:t>Vpn creates tunnel, secure tls connection thats going to connect from the employee on a business trip on the outside directly thru TLS to a connection or a server on the inside</a:t>
            </a:r>
            <a:endParaRPr/>
          </a:p>
          <a:p>
            <a:pPr indent="-298450" lvl="1" marL="914400" rtl="0" algn="l">
              <a:spcBef>
                <a:spcPts val="0"/>
              </a:spcBef>
              <a:spcAft>
                <a:spcPts val="0"/>
              </a:spcAft>
              <a:buSzPts val="1100"/>
              <a:buChar char="○"/>
            </a:pPr>
            <a:r>
              <a:rPr lang="en"/>
              <a:t>anytime the server or the person on the outside wants to make a request they're not going to make the request from their computer outside because the firewall would block that they're instead going to make the request through the tunnel to the server on the inside and then the VPN on the inside can now make the request so now this employee looks like they're still at home in the office even though they've gone somewhere else</a:t>
            </a:r>
            <a:endParaRPr/>
          </a:p>
          <a:p>
            <a:pPr indent="-298450" lvl="1" marL="914400" rtl="0" algn="l">
              <a:spcBef>
                <a:spcPts val="0"/>
              </a:spcBef>
              <a:spcAft>
                <a:spcPts val="0"/>
              </a:spcAft>
              <a:buSzPts val="1100"/>
              <a:buChar char="○"/>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e764d45669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e764d45669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a:t>Like Eskimo Pies: “hard crunchy exterior, soft creamy center”</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e764d45669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e764d45669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e764d45669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e764d45669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e764d45669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e764d45669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hyperlink" Target="https://arstechnica.com/information-technology/2019/09/medicine-show-crown-sterling-demos-256-bit-rsa-key-cracking-at-private-event/"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https://www.computerworld.com/article/2556543/extortion-via-ddos-on-the-rise.html"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s://www.computerworld.com/article/2556543/extortion-via-ddos-on-the-rise.html"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619125"/>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Denial of Service</a:t>
            </a:r>
            <a:endParaRPr/>
          </a:p>
        </p:txBody>
      </p:sp>
      <p:sp>
        <p:nvSpPr>
          <p:cNvPr id="65" name="Google Shape;65;p15"/>
          <p:cNvSpPr txBox="1"/>
          <p:nvPr>
            <p:ph idx="1" type="subTitle"/>
          </p:nvPr>
        </p:nvSpPr>
        <p:spPr>
          <a:xfrm>
            <a:off x="311700" y="2030025"/>
            <a:ext cx="8520600" cy="7926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Clr>
                <a:schemeClr val="dk1"/>
              </a:buClr>
              <a:buSzPct val="45833"/>
              <a:buFont typeface="Arial"/>
              <a:buNone/>
            </a:pPr>
            <a:r>
              <a:rPr lang="en"/>
              <a:t>CSE 405 January 2025 - Lecture 8</a:t>
            </a:r>
            <a:endParaRPr/>
          </a:p>
          <a:p>
            <a:pPr indent="0" lvl="0" marL="0" rtl="0" algn="ctr">
              <a:spcBef>
                <a:spcPts val="0"/>
              </a:spcBef>
              <a:spcAft>
                <a:spcPts val="0"/>
              </a:spcAft>
              <a:buClr>
                <a:schemeClr val="dk1"/>
              </a:buClr>
              <a:buSzPct val="45833"/>
              <a:buFont typeface="Arial"/>
              <a:buNone/>
            </a:pPr>
            <a:r>
              <a:t/>
            </a:r>
            <a:endParaRPr/>
          </a:p>
          <a:p>
            <a:pPr indent="0" lvl="0" marL="0" rtl="0" algn="ctr">
              <a:spcBef>
                <a:spcPts val="0"/>
              </a:spcBef>
              <a:spcAft>
                <a:spcPts val="0"/>
              </a:spcAft>
              <a:buClr>
                <a:schemeClr val="dk1"/>
              </a:buClr>
              <a:buSzPct val="45833"/>
              <a:buFont typeface="Arial"/>
              <a:buNone/>
            </a:pPr>
            <a:r>
              <a:rPr lang="en"/>
              <a:t>Special Thanks to Peyrin Kao (UC Berkeley)</a:t>
            </a:r>
            <a:endParaRPr/>
          </a:p>
        </p:txBody>
      </p:sp>
      <p:pic>
        <p:nvPicPr>
          <p:cNvPr id="66" name="Google Shape;66;p15"/>
          <p:cNvPicPr preferRelativeResize="0"/>
          <p:nvPr/>
        </p:nvPicPr>
        <p:blipFill>
          <a:blip r:embed="rId3">
            <a:alphaModFix/>
          </a:blip>
          <a:stretch>
            <a:fillRect/>
          </a:stretch>
        </p:blipFill>
        <p:spPr>
          <a:xfrm>
            <a:off x="552925" y="2616300"/>
            <a:ext cx="3031124" cy="23575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Denial of Service and Firewalls</a:t>
            </a:r>
            <a:endParaRPr/>
          </a:p>
        </p:txBody>
      </p:sp>
      <p:sp>
        <p:nvSpPr>
          <p:cNvPr id="72" name="Google Shape;72;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Denial of service</a:t>
            </a:r>
            <a:endParaRPr/>
          </a:p>
          <a:p>
            <a:pPr indent="-317500" lvl="1" marL="914400" rtl="0" algn="l">
              <a:spcBef>
                <a:spcPts val="0"/>
              </a:spcBef>
              <a:spcAft>
                <a:spcPts val="0"/>
              </a:spcAft>
              <a:buSzPts val="1400"/>
              <a:buChar char="○"/>
            </a:pPr>
            <a:r>
              <a:rPr lang="en"/>
              <a:t>Availability</a:t>
            </a:r>
            <a:endParaRPr/>
          </a:p>
          <a:p>
            <a:pPr indent="-317500" lvl="1" marL="914400" rtl="0" algn="l">
              <a:spcBef>
                <a:spcPts val="0"/>
              </a:spcBef>
              <a:spcAft>
                <a:spcPts val="0"/>
              </a:spcAft>
              <a:buSzPts val="1400"/>
              <a:buChar char="○"/>
            </a:pPr>
            <a:r>
              <a:rPr lang="en"/>
              <a:t>Application-level DoS</a:t>
            </a:r>
            <a:endParaRPr/>
          </a:p>
          <a:p>
            <a:pPr indent="-317500" lvl="2" marL="1371600" rtl="0" algn="l">
              <a:spcBef>
                <a:spcPts val="0"/>
              </a:spcBef>
              <a:spcAft>
                <a:spcPts val="0"/>
              </a:spcAft>
              <a:buSzPts val="1400"/>
              <a:buChar char="■"/>
            </a:pPr>
            <a:r>
              <a:rPr lang="en"/>
              <a:t>Algorithmic complexity attacks</a:t>
            </a:r>
            <a:endParaRPr/>
          </a:p>
          <a:p>
            <a:pPr indent="-317500" lvl="1" marL="914400" rtl="0" algn="l">
              <a:spcBef>
                <a:spcPts val="0"/>
              </a:spcBef>
              <a:spcAft>
                <a:spcPts val="0"/>
              </a:spcAft>
              <a:buSzPts val="1400"/>
              <a:buChar char="○"/>
            </a:pPr>
            <a:r>
              <a:rPr lang="en"/>
              <a:t>Network-level DoS</a:t>
            </a:r>
            <a:endParaRPr/>
          </a:p>
          <a:p>
            <a:pPr indent="-317500" lvl="2" marL="1371600" rtl="0" algn="l">
              <a:spcBef>
                <a:spcPts val="0"/>
              </a:spcBef>
              <a:spcAft>
                <a:spcPts val="0"/>
              </a:spcAft>
              <a:buSzPts val="1400"/>
              <a:buChar char="■"/>
            </a:pPr>
            <a:r>
              <a:rPr lang="en"/>
              <a:t>Distributed DoS (DDoS)</a:t>
            </a:r>
            <a:endParaRPr/>
          </a:p>
          <a:p>
            <a:pPr indent="-317500" lvl="2" marL="1371600" rtl="0" algn="l">
              <a:spcBef>
                <a:spcPts val="0"/>
              </a:spcBef>
              <a:spcAft>
                <a:spcPts val="0"/>
              </a:spcAft>
              <a:buSzPts val="1400"/>
              <a:buChar char="■"/>
            </a:pPr>
            <a:r>
              <a:rPr lang="en"/>
              <a:t>Amplified DoS</a:t>
            </a:r>
            <a:endParaRPr/>
          </a:p>
          <a:p>
            <a:pPr indent="-317500" lvl="1" marL="914400" rtl="0" algn="l">
              <a:spcBef>
                <a:spcPts val="0"/>
              </a:spcBef>
              <a:spcAft>
                <a:spcPts val="0"/>
              </a:spcAft>
              <a:buSzPts val="1400"/>
              <a:buChar char="○"/>
            </a:pPr>
            <a:r>
              <a:rPr lang="en"/>
              <a:t>SYN flooding</a:t>
            </a:r>
            <a:endParaRPr/>
          </a:p>
          <a:p>
            <a:pPr indent="-317500" lvl="2" marL="1371600" rtl="0" algn="l">
              <a:spcBef>
                <a:spcPts val="0"/>
              </a:spcBef>
              <a:spcAft>
                <a:spcPts val="0"/>
              </a:spcAft>
              <a:buSzPts val="1400"/>
              <a:buChar char="■"/>
            </a:pPr>
            <a:r>
              <a:rPr lang="en"/>
              <a:t>SYN cookies</a:t>
            </a:r>
            <a:endParaRPr/>
          </a:p>
          <a:p>
            <a:pPr indent="-317500" lvl="1" marL="914400" rtl="0" algn="l">
              <a:spcBef>
                <a:spcPts val="0"/>
              </a:spcBef>
              <a:spcAft>
                <a:spcPts val="0"/>
              </a:spcAft>
              <a:buSzPts val="1400"/>
              <a:buChar char="○"/>
            </a:pPr>
            <a:r>
              <a:rPr lang="en"/>
              <a:t>Defenses</a:t>
            </a:r>
            <a:endParaRPr/>
          </a:p>
          <a:p>
            <a:pPr indent="-342900" lvl="0" marL="457200" rtl="0" algn="l">
              <a:spcBef>
                <a:spcPts val="0"/>
              </a:spcBef>
              <a:spcAft>
                <a:spcPts val="0"/>
              </a:spcAft>
              <a:buSzPts val="1800"/>
              <a:buChar char="●"/>
            </a:pPr>
            <a:r>
              <a:rPr lang="en"/>
              <a:t>Firewalls</a:t>
            </a:r>
            <a:endParaRPr/>
          </a:p>
          <a:p>
            <a:pPr indent="-317500" lvl="1" marL="914400" rtl="0" algn="l">
              <a:spcBef>
                <a:spcPts val="0"/>
              </a:spcBef>
              <a:spcAft>
                <a:spcPts val="0"/>
              </a:spcAft>
              <a:buSzPts val="1400"/>
              <a:buChar char="○"/>
            </a:pPr>
            <a:r>
              <a:rPr lang="en"/>
              <a:t>Packet filters</a:t>
            </a:r>
            <a:endParaRPr/>
          </a:p>
          <a:p>
            <a:pPr indent="-317500" lvl="2" marL="1371600" rtl="0" algn="l">
              <a:spcBef>
                <a:spcPts val="0"/>
              </a:spcBef>
              <a:spcAft>
                <a:spcPts val="0"/>
              </a:spcAft>
              <a:buSzPts val="1400"/>
              <a:buChar char="■"/>
            </a:pPr>
            <a:r>
              <a:rPr lang="en"/>
              <a:t>Stateless/stateful packet filters</a:t>
            </a:r>
            <a:endParaRPr/>
          </a:p>
          <a:p>
            <a:pPr indent="-317500" lvl="1" marL="914400" rtl="0" algn="l">
              <a:spcBef>
                <a:spcPts val="0"/>
              </a:spcBef>
              <a:spcAft>
                <a:spcPts val="0"/>
              </a:spcAft>
              <a:buSzPts val="1400"/>
              <a:buChar char="○"/>
            </a:pPr>
            <a:r>
              <a:rPr lang="en"/>
              <a:t>Proxy firewalls</a:t>
            </a:r>
            <a:endParaRPr/>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4" name="Google Shape;74;p16"/>
          <p:cNvPicPr preferRelativeResize="0"/>
          <p:nvPr/>
        </p:nvPicPr>
        <p:blipFill rotWithShape="1">
          <a:blip r:embed="rId3">
            <a:alphaModFix/>
          </a:blip>
          <a:srcRect b="862" l="24987" r="25765" t="0"/>
          <a:stretch/>
        </p:blipFill>
        <p:spPr>
          <a:xfrm>
            <a:off x="5436449" y="1540975"/>
            <a:ext cx="2161323" cy="33840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13237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Denial of Service (DoS)</a:t>
            </a:r>
            <a:endParaRPr/>
          </a:p>
        </p:txBody>
      </p:sp>
      <p:sp>
        <p:nvSpPr>
          <p:cNvPr id="80" name="Google Shape;8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1" name="Google Shape;81;p17"/>
          <p:cNvPicPr preferRelativeResize="0"/>
          <p:nvPr/>
        </p:nvPicPr>
        <p:blipFill rotWithShape="1">
          <a:blip r:embed="rId3">
            <a:alphaModFix/>
          </a:blip>
          <a:srcRect b="0" l="10348" r="8738" t="2837"/>
          <a:stretch/>
        </p:blipFill>
        <p:spPr>
          <a:xfrm>
            <a:off x="5663800" y="2165550"/>
            <a:ext cx="2963749" cy="27677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Availability and Denial of Service (DoS)</a:t>
            </a:r>
            <a:endParaRPr/>
          </a:p>
        </p:txBody>
      </p:sp>
      <p:sp>
        <p:nvSpPr>
          <p:cNvPr id="87" name="Google Shape;87;p1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Availability</a:t>
            </a:r>
            <a:r>
              <a:rPr lang="en"/>
              <a:t>: </a:t>
            </a:r>
            <a:r>
              <a:rPr lang="en"/>
              <a:t>Making</a:t>
            </a:r>
            <a:r>
              <a:rPr lang="en"/>
              <a:t> a service on the network available for legitimate users</a:t>
            </a:r>
            <a:endParaRPr/>
          </a:p>
          <a:p>
            <a:pPr indent="-342900" lvl="0" marL="457200" rtl="0" algn="l">
              <a:spcBef>
                <a:spcPts val="0"/>
              </a:spcBef>
              <a:spcAft>
                <a:spcPts val="0"/>
              </a:spcAft>
              <a:buSzPts val="1800"/>
              <a:buChar char="●"/>
            </a:pPr>
            <a:r>
              <a:rPr b="1" lang="en"/>
              <a:t>Denial of service </a:t>
            </a:r>
            <a:r>
              <a:rPr lang="en"/>
              <a:t>(</a:t>
            </a:r>
            <a:r>
              <a:rPr b="1" lang="en"/>
              <a:t>DoS</a:t>
            </a:r>
            <a:r>
              <a:rPr lang="en"/>
              <a:t>): An attack that disrupts availability of a service, making it unavailable for legitimate users</a:t>
            </a:r>
            <a:endParaRPr/>
          </a:p>
          <a:p>
            <a:pPr indent="-317500" lvl="1" marL="914400" rtl="0" algn="l">
              <a:spcBef>
                <a:spcPts val="0"/>
              </a:spcBef>
              <a:spcAft>
                <a:spcPts val="0"/>
              </a:spcAft>
              <a:buSzPts val="1400"/>
              <a:buChar char="○"/>
            </a:pPr>
            <a:r>
              <a:rPr lang="en"/>
              <a:t>Competitors might DoS each other to benefit their own services</a:t>
            </a:r>
            <a:endParaRPr/>
          </a:p>
          <a:p>
            <a:pPr indent="-317500" lvl="1" marL="914400" rtl="0" algn="l">
              <a:spcBef>
                <a:spcPts val="0"/>
              </a:spcBef>
              <a:spcAft>
                <a:spcPts val="0"/>
              </a:spcAft>
              <a:buSzPts val="1400"/>
              <a:buChar char="○"/>
            </a:pPr>
            <a:r>
              <a:rPr lang="en"/>
              <a:t>Criminals might DoS services unless the services pay a ransom</a:t>
            </a:r>
            <a:endParaRPr/>
          </a:p>
          <a:p>
            <a:pPr indent="-317500" lvl="1" marL="914400" rtl="0" algn="l">
              <a:spcBef>
                <a:spcPts val="0"/>
              </a:spcBef>
              <a:spcAft>
                <a:spcPts val="0"/>
              </a:spcAft>
              <a:buSzPts val="1400"/>
              <a:buChar char="○"/>
            </a:pPr>
            <a:r>
              <a:rPr lang="en"/>
              <a:t>People might DoS services to make a political statement</a:t>
            </a:r>
            <a:endParaRPr/>
          </a:p>
          <a:p>
            <a:pPr indent="-317500" lvl="1" marL="914400" rtl="0" algn="l">
              <a:spcBef>
                <a:spcPts val="0"/>
              </a:spcBef>
              <a:spcAft>
                <a:spcPts val="0"/>
              </a:spcAft>
              <a:buSzPts val="1400"/>
              <a:buChar char="○"/>
            </a:pPr>
            <a:r>
              <a:rPr lang="en"/>
              <a:t>Entities might DoS each other as part of warfare tactics</a:t>
            </a:r>
            <a:endParaRPr/>
          </a:p>
          <a:p>
            <a:pPr indent="-317500" lvl="1" marL="914400" rtl="0" algn="l">
              <a:spcBef>
                <a:spcPts val="0"/>
              </a:spcBef>
              <a:spcAft>
                <a:spcPts val="0"/>
              </a:spcAft>
              <a:buSzPts val="1400"/>
              <a:buChar char="○"/>
            </a:pPr>
            <a:r>
              <a:rPr lang="en"/>
              <a:t>Some people might DoS for fun or revenge (e.g., online games)</a:t>
            </a:r>
            <a:endParaRPr/>
          </a:p>
        </p:txBody>
      </p:sp>
      <p:sp>
        <p:nvSpPr>
          <p:cNvPr id="88" name="Google Shape;8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DoS in the News</a:t>
            </a:r>
            <a:endParaRPr/>
          </a:p>
        </p:txBody>
      </p:sp>
      <p:sp>
        <p:nvSpPr>
          <p:cNvPr id="94" name="Google Shape;9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95" name="Google Shape;95;p19"/>
          <p:cNvGraphicFramePr/>
          <p:nvPr/>
        </p:nvGraphicFramePr>
        <p:xfrm>
          <a:off x="288475" y="1584135"/>
          <a:ext cx="3000000" cy="3000000"/>
        </p:xfrm>
        <a:graphic>
          <a:graphicData uri="http://schemas.openxmlformats.org/drawingml/2006/table">
            <a:tbl>
              <a:tblPr>
                <a:noFill/>
                <a:tableStyleId>{0EA4BF02-215E-4EB9-A26C-ED6601A8E791}</a:tableStyleId>
              </a:tblPr>
              <a:tblGrid>
                <a:gridCol w="4283525"/>
                <a:gridCol w="4283525"/>
              </a:tblGrid>
              <a:tr h="357600">
                <a:tc>
                  <a:txBody>
                    <a:bodyPr/>
                    <a:lstStyle/>
                    <a:p>
                      <a:pPr indent="0" lvl="0" marL="10858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rgbClr val="0097A7"/>
                          </a:solidFill>
                          <a:hlinkClick r:id="rId3">
                            <a:extLst>
                              <a:ext uri="{A12FA001-AC4F-418D-AE19-62706E023703}">
                                <ahyp:hlinkClr val="tx"/>
                              </a:ext>
                            </a:extLst>
                          </a:hlinkClick>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250325">
                <a:tc gridSpan="2">
                  <a:txBody>
                    <a:bodyPr/>
                    <a:lstStyle/>
                    <a:p>
                      <a:pPr indent="0" lvl="0" marL="0" rtl="0" algn="l">
                        <a:spcBef>
                          <a:spcPts val="0"/>
                        </a:spcBef>
                        <a:spcAft>
                          <a:spcPts val="0"/>
                        </a:spcAft>
                        <a:buNone/>
                      </a:pPr>
                      <a:r>
                        <a:rPr b="1" lang="en" sz="1600">
                          <a:solidFill>
                            <a:srgbClr val="595959"/>
                          </a:solidFill>
                        </a:rPr>
                        <a:t>Digital Hit Men for Hire</a:t>
                      </a:r>
                      <a:endParaRPr b="1" sz="1600">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hMerge="1"/>
              </a:tr>
              <a:tr h="232675">
                <a:tc>
                  <a:txBody>
                    <a:bodyPr/>
                    <a:lstStyle/>
                    <a:p>
                      <a:pPr indent="0" lvl="0" marL="0" rtl="0" algn="l">
                        <a:spcBef>
                          <a:spcPts val="0"/>
                        </a:spcBef>
                        <a:spcAft>
                          <a:spcPts val="0"/>
                        </a:spcAft>
                        <a:buNone/>
                      </a:pPr>
                      <a:r>
                        <a:rPr i="1" lang="en">
                          <a:solidFill>
                            <a:srgbClr val="595959"/>
                          </a:solidFill>
                        </a:rPr>
                        <a:t>Brian Krebs</a:t>
                      </a:r>
                      <a:endParaRPr i="1">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i="1" lang="en">
                          <a:solidFill>
                            <a:srgbClr val="595959"/>
                          </a:solidFill>
                        </a:rPr>
                        <a:t>August 1, 2011</a:t>
                      </a:r>
                      <a:endParaRPr i="1">
                        <a:solidFill>
                          <a:srgbClr val="595959"/>
                        </a:solidFill>
                      </a:endParaRPr>
                    </a:p>
                  </a:txBody>
                  <a:tcPr marT="27425" marB="27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619350">
                <a:tc gridSpan="2">
                  <a:txBody>
                    <a:bodyPr/>
                    <a:lstStyle/>
                    <a:p>
                      <a:pPr indent="0" lvl="0" marL="0" rtl="0" algn="l">
                        <a:spcBef>
                          <a:spcPts val="0"/>
                        </a:spcBef>
                        <a:spcAft>
                          <a:spcPts val="0"/>
                        </a:spcAft>
                        <a:buClr>
                          <a:schemeClr val="dk1"/>
                        </a:buClr>
                        <a:buSzPts val="1100"/>
                        <a:buFont typeface="Arial"/>
                        <a:buNone/>
                      </a:pPr>
                      <a:r>
                        <a:rPr lang="en" sz="1150">
                          <a:solidFill>
                            <a:srgbClr val="595959"/>
                          </a:solidFill>
                        </a:rPr>
                        <a:t>Cyber attacks designed to knock Web sites off line happen every day, yet shopping for a virtual hit man to launch one of these assaults has traditionally been a dicey affair. That’s starting to change: Hackers are openly competing to offer services that can take out a rival online business or to settle a score.</a:t>
                      </a:r>
                      <a:endParaRPr sz="1150">
                        <a:solidFill>
                          <a:srgbClr val="595959"/>
                        </a:solidFill>
                      </a:endParaRPr>
                    </a:p>
                    <a:p>
                      <a:pPr indent="0" lvl="0" marL="0" rtl="0" algn="l">
                        <a:spcBef>
                          <a:spcPts val="0"/>
                        </a:spcBef>
                        <a:spcAft>
                          <a:spcPts val="0"/>
                        </a:spcAft>
                        <a:buClr>
                          <a:schemeClr val="dk1"/>
                        </a:buClr>
                        <a:buSzPts val="1100"/>
                        <a:buFont typeface="Arial"/>
                        <a:buNone/>
                      </a:pPr>
                      <a:r>
                        <a:t/>
                      </a:r>
                      <a:endParaRPr sz="1150">
                        <a:solidFill>
                          <a:srgbClr val="595959"/>
                        </a:solidFill>
                      </a:endParaRPr>
                    </a:p>
                    <a:p>
                      <a:pPr indent="0" lvl="0" marL="0" rtl="0" algn="l">
                        <a:spcBef>
                          <a:spcPts val="0"/>
                        </a:spcBef>
                        <a:spcAft>
                          <a:spcPts val="0"/>
                        </a:spcAft>
                        <a:buNone/>
                      </a:pPr>
                      <a:r>
                        <a:rPr lang="en" sz="1150">
                          <a:solidFill>
                            <a:srgbClr val="595959"/>
                          </a:solidFill>
                        </a:rPr>
                        <a:t>There are dozens of underground forums where members advertise their ability to execute debilitating “distributed denial-of-service” or DDoS attacks for a price. DDoS attack services tend to charge the same prices, and </a:t>
                      </a:r>
                      <a:r>
                        <a:rPr b="1" lang="en" sz="1150">
                          <a:solidFill>
                            <a:srgbClr val="595959"/>
                          </a:solidFill>
                        </a:rPr>
                        <a:t>the average rate for taking a Web site offline is surprisingly affordable: about $5 to $10 per hour; $40 to $50 per day; $350-$400 a week; and upwards of $1,200 per month</a:t>
                      </a:r>
                      <a:r>
                        <a:rPr lang="en" sz="1150">
                          <a:solidFill>
                            <a:srgbClr val="595959"/>
                          </a:solidFill>
                        </a:rPr>
                        <a:t>.</a:t>
                      </a:r>
                      <a:endParaRPr sz="115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descr="Krebs on Security" id="96" name="Google Shape;96;p19"/>
          <p:cNvPicPr preferRelativeResize="0"/>
          <p:nvPr/>
        </p:nvPicPr>
        <p:blipFill rotWithShape="1">
          <a:blip r:embed="rId4">
            <a:alphaModFix/>
          </a:blip>
          <a:srcRect b="0" l="0" r="43772" t="0"/>
          <a:stretch/>
        </p:blipFill>
        <p:spPr>
          <a:xfrm>
            <a:off x="288475" y="1584125"/>
            <a:ext cx="1566835" cy="426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DoS in the News</a:t>
            </a:r>
            <a:endParaRPr/>
          </a:p>
        </p:txBody>
      </p:sp>
      <p:sp>
        <p:nvSpPr>
          <p:cNvPr id="102" name="Google Shape;10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03" name="Google Shape;103;p20"/>
          <p:cNvGraphicFramePr/>
          <p:nvPr/>
        </p:nvGraphicFramePr>
        <p:xfrm>
          <a:off x="288475" y="1584135"/>
          <a:ext cx="3000000" cy="3000000"/>
        </p:xfrm>
        <a:graphic>
          <a:graphicData uri="http://schemas.openxmlformats.org/drawingml/2006/table">
            <a:tbl>
              <a:tblPr>
                <a:noFill/>
                <a:tableStyleId>{0EA4BF02-215E-4EB9-A26C-ED6601A8E791}</a:tableStyleId>
              </a:tblPr>
              <a:tblGrid>
                <a:gridCol w="4283525"/>
                <a:gridCol w="4283525"/>
              </a:tblGrid>
              <a:tr h="357600">
                <a:tc>
                  <a:txBody>
                    <a:bodyPr/>
                    <a:lstStyle/>
                    <a:p>
                      <a:pPr indent="0" lvl="0" marL="10858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chemeClr val="hlink"/>
                          </a:solidFill>
                          <a:hlinkClick r:id="rId3"/>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250325">
                <a:tc gridSpan="2">
                  <a:txBody>
                    <a:bodyPr/>
                    <a:lstStyle/>
                    <a:p>
                      <a:pPr indent="0" lvl="0" marL="0" rtl="0" algn="l">
                        <a:spcBef>
                          <a:spcPts val="0"/>
                        </a:spcBef>
                        <a:spcAft>
                          <a:spcPts val="0"/>
                        </a:spcAft>
                        <a:buNone/>
                      </a:pPr>
                      <a:r>
                        <a:rPr b="1" lang="en" sz="1600">
                          <a:solidFill>
                            <a:srgbClr val="595959"/>
                          </a:solidFill>
                        </a:rPr>
                        <a:t>Extortion via DDoS on the rise</a:t>
                      </a:r>
                      <a:endParaRPr b="1" sz="1600">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hMerge="1"/>
              </a:tr>
              <a:tr h="232675">
                <a:tc>
                  <a:txBody>
                    <a:bodyPr/>
                    <a:lstStyle/>
                    <a:p>
                      <a:pPr indent="0" lvl="0" marL="0" rtl="0" algn="l">
                        <a:spcBef>
                          <a:spcPts val="0"/>
                        </a:spcBef>
                        <a:spcAft>
                          <a:spcPts val="0"/>
                        </a:spcAft>
                        <a:buNone/>
                      </a:pPr>
                      <a:r>
                        <a:rPr i="1" lang="en">
                          <a:solidFill>
                            <a:srgbClr val="595959"/>
                          </a:solidFill>
                        </a:rPr>
                        <a:t>Denise Pappalardo and Ellen Messmer</a:t>
                      </a:r>
                      <a:endParaRPr i="1">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i="1" lang="en">
                          <a:solidFill>
                            <a:srgbClr val="595959"/>
                          </a:solidFill>
                        </a:rPr>
                        <a:t>May 16, 2005</a:t>
                      </a:r>
                      <a:endParaRPr i="1">
                        <a:solidFill>
                          <a:srgbClr val="595959"/>
                        </a:solidFill>
                      </a:endParaRPr>
                    </a:p>
                  </a:txBody>
                  <a:tcPr marT="27425" marB="27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619350">
                <a:tc gridSpan="2">
                  <a:txBody>
                    <a:bodyPr/>
                    <a:lstStyle/>
                    <a:p>
                      <a:pPr indent="0" lvl="0" marL="0" rtl="0" algn="l">
                        <a:spcBef>
                          <a:spcPts val="0"/>
                        </a:spcBef>
                        <a:spcAft>
                          <a:spcPts val="0"/>
                        </a:spcAft>
                        <a:buNone/>
                      </a:pPr>
                      <a:r>
                        <a:rPr b="1" lang="en" sz="1150">
                          <a:solidFill>
                            <a:srgbClr val="595959"/>
                          </a:solidFill>
                        </a:rPr>
                        <a:t>Criminals are increasingly targeting corporations with distributed denial-of-service (DDoS) attacks designed not to disrupt business networks but to be used as tools to extort thousands of dollars from the companies.</a:t>
                      </a:r>
                      <a:endParaRPr b="1" sz="1150">
                        <a:solidFill>
                          <a:srgbClr val="595959"/>
                        </a:solidFill>
                      </a:endParaRPr>
                    </a:p>
                    <a:p>
                      <a:pPr indent="0" lvl="0" marL="0" rtl="0" algn="l">
                        <a:spcBef>
                          <a:spcPts val="0"/>
                        </a:spcBef>
                        <a:spcAft>
                          <a:spcPts val="0"/>
                        </a:spcAft>
                        <a:buNone/>
                      </a:pPr>
                      <a:r>
                        <a:t/>
                      </a:r>
                      <a:endParaRPr sz="1150">
                        <a:solidFill>
                          <a:srgbClr val="595959"/>
                        </a:solidFill>
                      </a:endParaRPr>
                    </a:p>
                    <a:p>
                      <a:pPr indent="0" lvl="0" marL="0" rtl="0" algn="l">
                        <a:spcBef>
                          <a:spcPts val="0"/>
                        </a:spcBef>
                        <a:spcAft>
                          <a:spcPts val="0"/>
                        </a:spcAft>
                        <a:buNone/>
                      </a:pPr>
                      <a:r>
                        <a:rPr lang="en" sz="1150">
                          <a:solidFill>
                            <a:srgbClr val="595959"/>
                          </a:solidFill>
                        </a:rPr>
                        <a:t>Those targeted are increasingly deciding to pay the extortionists rather than accept the consequences, experts say. While reports of this type of crime have circulated for several years, most victimized companies remain reluctant to acknowledge the attacks or enlist the help of law enforcement, resulting in limited awareness of the problem and few prosecutions.</a:t>
                      </a:r>
                      <a:endParaRPr sz="115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104" name="Google Shape;104;p20"/>
          <p:cNvPicPr preferRelativeResize="0"/>
          <p:nvPr/>
        </p:nvPicPr>
        <p:blipFill>
          <a:blip r:embed="rId4">
            <a:alphaModFix/>
          </a:blip>
          <a:stretch>
            <a:fillRect/>
          </a:stretch>
        </p:blipFill>
        <p:spPr>
          <a:xfrm>
            <a:off x="288475" y="1584125"/>
            <a:ext cx="1729486" cy="378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DoS in the News</a:t>
            </a:r>
            <a:endParaRPr/>
          </a:p>
        </p:txBody>
      </p:sp>
      <p:sp>
        <p:nvSpPr>
          <p:cNvPr id="110" name="Google Shape;11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1" name="Google Shape;111;p21"/>
          <p:cNvGraphicFramePr/>
          <p:nvPr/>
        </p:nvGraphicFramePr>
        <p:xfrm>
          <a:off x="288475" y="1584135"/>
          <a:ext cx="3000000" cy="3000000"/>
        </p:xfrm>
        <a:graphic>
          <a:graphicData uri="http://schemas.openxmlformats.org/drawingml/2006/table">
            <a:tbl>
              <a:tblPr>
                <a:noFill/>
                <a:tableStyleId>{0EA4BF02-215E-4EB9-A26C-ED6601A8E791}</a:tableStyleId>
              </a:tblPr>
              <a:tblGrid>
                <a:gridCol w="4283525"/>
                <a:gridCol w="4283525"/>
              </a:tblGrid>
              <a:tr h="357600">
                <a:tc>
                  <a:txBody>
                    <a:bodyPr/>
                    <a:lstStyle/>
                    <a:p>
                      <a:pPr indent="0" lvl="0" marL="10858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chemeClr val="hlink"/>
                          </a:solidFill>
                          <a:hlinkClick r:id="rId3"/>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250325">
                <a:tc gridSpan="2">
                  <a:txBody>
                    <a:bodyPr/>
                    <a:lstStyle/>
                    <a:p>
                      <a:pPr indent="0" lvl="0" marL="0" rtl="0" algn="l">
                        <a:spcBef>
                          <a:spcPts val="0"/>
                        </a:spcBef>
                        <a:spcAft>
                          <a:spcPts val="0"/>
                        </a:spcAft>
                        <a:buNone/>
                      </a:pPr>
                      <a:r>
                        <a:rPr b="1" lang="en" sz="1600">
                          <a:solidFill>
                            <a:srgbClr val="595959"/>
                          </a:solidFill>
                        </a:rPr>
                        <a:t>DDoS makes a phishing e-mail look real</a:t>
                      </a:r>
                      <a:endParaRPr b="1" sz="1600">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hMerge="1"/>
              </a:tr>
              <a:tr h="232675">
                <a:tc>
                  <a:txBody>
                    <a:bodyPr/>
                    <a:lstStyle/>
                    <a:p>
                      <a:pPr indent="0" lvl="0" marL="0" rtl="0" algn="l">
                        <a:spcBef>
                          <a:spcPts val="0"/>
                        </a:spcBef>
                        <a:spcAft>
                          <a:spcPts val="0"/>
                        </a:spcAft>
                        <a:buNone/>
                      </a:pPr>
                      <a:r>
                        <a:rPr i="1" lang="en">
                          <a:solidFill>
                            <a:srgbClr val="595959"/>
                          </a:solidFill>
                        </a:rPr>
                        <a:t>Munir Kotadia</a:t>
                      </a:r>
                      <a:endParaRPr i="1">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i="1" lang="en">
                          <a:solidFill>
                            <a:srgbClr val="595959"/>
                          </a:solidFill>
                        </a:rPr>
                        <a:t>November 8, 2006</a:t>
                      </a:r>
                      <a:endParaRPr i="1">
                        <a:solidFill>
                          <a:srgbClr val="595959"/>
                        </a:solidFill>
                      </a:endParaRPr>
                    </a:p>
                  </a:txBody>
                  <a:tcPr marT="27425" marB="27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619350">
                <a:tc gridSpan="2">
                  <a:txBody>
                    <a:bodyPr/>
                    <a:lstStyle/>
                    <a:p>
                      <a:pPr indent="0" lvl="0" marL="0" rtl="0" algn="l">
                        <a:spcBef>
                          <a:spcPts val="0"/>
                        </a:spcBef>
                        <a:spcAft>
                          <a:spcPts val="0"/>
                        </a:spcAft>
                        <a:buNone/>
                      </a:pPr>
                      <a:r>
                        <a:rPr b="1" lang="en" sz="1150">
                          <a:solidFill>
                            <a:srgbClr val="595959"/>
                          </a:solidFill>
                        </a:rPr>
                        <a:t>Just as Internet users learn that clicking on a link in an e-mail purporting to come from their bank is a bad idea, phishers seem to be developing a new tactic -- launch a DDoS attack on the Web site of the company whose customers they are targeting and then send e-mails "explaining" the outage and offering an "alternative" URL.</a:t>
                      </a:r>
                      <a:endParaRPr sz="115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112" name="Google Shape;112;p21"/>
          <p:cNvPicPr preferRelativeResize="0"/>
          <p:nvPr/>
        </p:nvPicPr>
        <p:blipFill>
          <a:blip r:embed="rId4">
            <a:alphaModFix/>
          </a:blip>
          <a:stretch>
            <a:fillRect/>
          </a:stretch>
        </p:blipFill>
        <p:spPr>
          <a:xfrm>
            <a:off x="288475" y="1584129"/>
            <a:ext cx="609572" cy="426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DoS Attacks: Strategies</a:t>
            </a:r>
            <a:endParaRPr/>
          </a:p>
        </p:txBody>
      </p:sp>
      <p:sp>
        <p:nvSpPr>
          <p:cNvPr id="118" name="Google Shape;118;p2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Exploiting program flaws</a:t>
            </a:r>
            <a:endParaRPr/>
          </a:p>
          <a:p>
            <a:pPr indent="-317500" lvl="1" marL="914400" rtl="0" algn="l">
              <a:spcBef>
                <a:spcPts val="0"/>
              </a:spcBef>
              <a:spcAft>
                <a:spcPts val="0"/>
              </a:spcAft>
              <a:buSzPts val="1400"/>
              <a:buChar char="○"/>
            </a:pPr>
            <a:r>
              <a:rPr lang="en"/>
              <a:t>Software vulnerabilities can cause a service to go offline</a:t>
            </a:r>
            <a:endParaRPr/>
          </a:p>
          <a:p>
            <a:pPr indent="-317500" lvl="1" marL="914400" rtl="0" algn="l">
              <a:spcBef>
                <a:spcPts val="0"/>
              </a:spcBef>
              <a:spcAft>
                <a:spcPts val="0"/>
              </a:spcAft>
              <a:buSzPts val="1400"/>
              <a:buChar char="○"/>
            </a:pPr>
            <a:r>
              <a:rPr lang="en"/>
              <a:t>Example: Exploit a buffer overflow to execute a shutdown command to the system</a:t>
            </a:r>
            <a:endParaRPr/>
          </a:p>
          <a:p>
            <a:pPr indent="-317500" lvl="1" marL="914400" rtl="0" algn="l">
              <a:spcBef>
                <a:spcPts val="0"/>
              </a:spcBef>
              <a:spcAft>
                <a:spcPts val="0"/>
              </a:spcAft>
              <a:buSzPts val="1400"/>
              <a:buChar char="○"/>
            </a:pPr>
            <a:r>
              <a:rPr lang="en"/>
              <a:t>Example: Exploit a SQL injection vulnerability to delete the database</a:t>
            </a:r>
            <a:endParaRPr/>
          </a:p>
          <a:p>
            <a:pPr indent="-342900" lvl="0" marL="457200" rtl="0" algn="l">
              <a:spcBef>
                <a:spcPts val="0"/>
              </a:spcBef>
              <a:spcAft>
                <a:spcPts val="0"/>
              </a:spcAft>
              <a:buSzPts val="1800"/>
              <a:buChar char="●"/>
            </a:pPr>
            <a:r>
              <a:rPr lang="en"/>
              <a:t>Resource exhaustion</a:t>
            </a:r>
            <a:endParaRPr/>
          </a:p>
          <a:p>
            <a:pPr indent="-317500" lvl="1" marL="914400" rtl="0" algn="l">
              <a:spcBef>
                <a:spcPts val="0"/>
              </a:spcBef>
              <a:spcAft>
                <a:spcPts val="0"/>
              </a:spcAft>
              <a:buSzPts val="1400"/>
              <a:buChar char="○"/>
            </a:pPr>
            <a:r>
              <a:rPr lang="en"/>
              <a:t>Everything on the network has limited resources</a:t>
            </a:r>
            <a:endParaRPr/>
          </a:p>
          <a:p>
            <a:pPr indent="-317500" lvl="1" marL="914400" rtl="0" algn="l">
              <a:spcBef>
                <a:spcPts val="0"/>
              </a:spcBef>
              <a:spcAft>
                <a:spcPts val="0"/>
              </a:spcAft>
              <a:buSzPts val="1400"/>
              <a:buChar char="○"/>
            </a:pPr>
            <a:r>
              <a:rPr lang="en"/>
              <a:t>The attacker consumes all the limited resources so legitimate users can’t use them</a:t>
            </a:r>
            <a:endParaRPr/>
          </a:p>
        </p:txBody>
      </p:sp>
      <p:sp>
        <p:nvSpPr>
          <p:cNvPr id="119" name="Google Shape;11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DoS Attacks: Strategies</a:t>
            </a:r>
            <a:endParaRPr/>
          </a:p>
        </p:txBody>
      </p:sp>
      <p:sp>
        <p:nvSpPr>
          <p:cNvPr id="125" name="Google Shape;125;p2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Bottlenecks</a:t>
            </a:r>
            <a:endParaRPr/>
          </a:p>
          <a:p>
            <a:pPr indent="-317500" lvl="1" marL="914400" rtl="0" algn="l">
              <a:spcBef>
                <a:spcPts val="0"/>
              </a:spcBef>
              <a:spcAft>
                <a:spcPts val="0"/>
              </a:spcAft>
              <a:buSzPts val="1400"/>
              <a:buChar char="○"/>
            </a:pPr>
            <a:r>
              <a:rPr lang="en"/>
              <a:t>Different parts of the system might have different resource limits</a:t>
            </a:r>
            <a:endParaRPr/>
          </a:p>
          <a:p>
            <a:pPr indent="-317500" lvl="1" marL="914400" rtl="0" algn="l">
              <a:spcBef>
                <a:spcPts val="0"/>
              </a:spcBef>
              <a:spcAft>
                <a:spcPts val="0"/>
              </a:spcAft>
              <a:buSzPts val="1400"/>
              <a:buChar char="○"/>
            </a:pPr>
            <a:r>
              <a:rPr lang="en"/>
              <a:t>The attacker only needs to exhaust the </a:t>
            </a:r>
            <a:r>
              <a:rPr b="1" lang="en"/>
              <a:t>bottleneck</a:t>
            </a:r>
            <a:r>
              <a:rPr lang="en"/>
              <a:t>: the part of the system with the least resources</a:t>
            </a:r>
            <a:endParaRPr/>
          </a:p>
        </p:txBody>
      </p:sp>
      <p:sp>
        <p:nvSpPr>
          <p:cNvPr id="126" name="Google Shape;126;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3"/>
          <p:cNvSpPr/>
          <p:nvPr/>
        </p:nvSpPr>
        <p:spPr>
          <a:xfrm>
            <a:off x="1127875" y="3243750"/>
            <a:ext cx="2171800" cy="1034625"/>
          </a:xfrm>
          <a:prstGeom prst="flowChartMagneticDrum">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3"/>
          <p:cNvSpPr/>
          <p:nvPr/>
        </p:nvSpPr>
        <p:spPr>
          <a:xfrm>
            <a:off x="5426325" y="3243750"/>
            <a:ext cx="2171800" cy="1034625"/>
          </a:xfrm>
          <a:prstGeom prst="flowChartMagneticDrum">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3"/>
          <p:cNvSpPr/>
          <p:nvPr/>
        </p:nvSpPr>
        <p:spPr>
          <a:xfrm>
            <a:off x="3741750" y="3474713"/>
            <a:ext cx="1242500" cy="572700"/>
          </a:xfrm>
          <a:prstGeom prst="flowChartMagneticDrum">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 name="Google Shape;130;p23"/>
          <p:cNvCxnSpPr>
            <a:stCxn id="127" idx="3"/>
            <a:endCxn id="129" idx="1"/>
          </p:cNvCxnSpPr>
          <p:nvPr/>
        </p:nvCxnSpPr>
        <p:spPr>
          <a:xfrm>
            <a:off x="2575742" y="3761063"/>
            <a:ext cx="1166100" cy="0"/>
          </a:xfrm>
          <a:prstGeom prst="straightConnector1">
            <a:avLst/>
          </a:prstGeom>
          <a:noFill/>
          <a:ln cap="flat" cmpd="sng" w="19050">
            <a:solidFill>
              <a:schemeClr val="dk1"/>
            </a:solidFill>
            <a:prstDash val="solid"/>
            <a:round/>
            <a:headEnd len="med" w="med" type="none"/>
            <a:tailEnd len="med" w="med" type="none"/>
          </a:ln>
        </p:spPr>
      </p:cxnSp>
      <p:cxnSp>
        <p:nvCxnSpPr>
          <p:cNvPr id="131" name="Google Shape;131;p23"/>
          <p:cNvCxnSpPr>
            <a:endCxn id="127" idx="1"/>
          </p:cNvCxnSpPr>
          <p:nvPr/>
        </p:nvCxnSpPr>
        <p:spPr>
          <a:xfrm>
            <a:off x="416575" y="3761063"/>
            <a:ext cx="711300" cy="0"/>
          </a:xfrm>
          <a:prstGeom prst="straightConnector1">
            <a:avLst/>
          </a:prstGeom>
          <a:noFill/>
          <a:ln cap="flat" cmpd="sng" w="19050">
            <a:solidFill>
              <a:schemeClr val="dk1"/>
            </a:solidFill>
            <a:prstDash val="solid"/>
            <a:round/>
            <a:headEnd len="med" w="med" type="none"/>
            <a:tailEnd len="med" w="med" type="none"/>
          </a:ln>
        </p:spPr>
      </p:cxnSp>
      <p:cxnSp>
        <p:nvCxnSpPr>
          <p:cNvPr id="132" name="Google Shape;132;p23"/>
          <p:cNvCxnSpPr>
            <a:stCxn id="129" idx="3"/>
            <a:endCxn id="128" idx="1"/>
          </p:cNvCxnSpPr>
          <p:nvPr/>
        </p:nvCxnSpPr>
        <p:spPr>
          <a:xfrm>
            <a:off x="4570083" y="3761063"/>
            <a:ext cx="856200" cy="0"/>
          </a:xfrm>
          <a:prstGeom prst="straightConnector1">
            <a:avLst/>
          </a:prstGeom>
          <a:noFill/>
          <a:ln cap="flat" cmpd="sng" w="19050">
            <a:solidFill>
              <a:schemeClr val="dk1"/>
            </a:solidFill>
            <a:prstDash val="solid"/>
            <a:round/>
            <a:headEnd len="med" w="med" type="none"/>
            <a:tailEnd len="med" w="med" type="none"/>
          </a:ln>
        </p:spPr>
      </p:cxnSp>
      <p:cxnSp>
        <p:nvCxnSpPr>
          <p:cNvPr id="133" name="Google Shape;133;p23"/>
          <p:cNvCxnSpPr>
            <a:stCxn id="128" idx="3"/>
          </p:cNvCxnSpPr>
          <p:nvPr/>
        </p:nvCxnSpPr>
        <p:spPr>
          <a:xfrm>
            <a:off x="6874192" y="3761063"/>
            <a:ext cx="1384200" cy="0"/>
          </a:xfrm>
          <a:prstGeom prst="straightConnector1">
            <a:avLst/>
          </a:prstGeom>
          <a:noFill/>
          <a:ln cap="flat" cmpd="sng" w="19050">
            <a:solidFill>
              <a:schemeClr val="dk1"/>
            </a:solidFill>
            <a:prstDash val="solid"/>
            <a:round/>
            <a:headEnd len="med" w="med" type="none"/>
            <a:tailEnd len="med" w="med" type="triangle"/>
          </a:ln>
        </p:spPr>
      </p:cxnSp>
      <p:sp>
        <p:nvSpPr>
          <p:cNvPr id="134" name="Google Shape;134;p23"/>
          <p:cNvSpPr txBox="1"/>
          <p:nvPr/>
        </p:nvSpPr>
        <p:spPr>
          <a:xfrm>
            <a:off x="3670900" y="4167375"/>
            <a:ext cx="13842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Bottleneck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DoS Targets</a:t>
            </a:r>
            <a:endParaRPr/>
          </a:p>
        </p:txBody>
      </p:sp>
      <p:sp>
        <p:nvSpPr>
          <p:cNvPr id="140" name="Google Shape;140;p2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Application-level DoS</a:t>
            </a:r>
            <a:r>
              <a:rPr lang="en"/>
              <a:t>: Target the high-level application running on the host</a:t>
            </a:r>
            <a:endParaRPr b="1"/>
          </a:p>
          <a:p>
            <a:pPr indent="-342900" lvl="0" marL="457200" rtl="0" algn="l">
              <a:spcBef>
                <a:spcPts val="0"/>
              </a:spcBef>
              <a:spcAft>
                <a:spcPts val="0"/>
              </a:spcAft>
              <a:buSzPts val="1800"/>
              <a:buChar char="●"/>
            </a:pPr>
            <a:r>
              <a:rPr b="1" lang="en"/>
              <a:t>Network-level DoS</a:t>
            </a:r>
            <a:r>
              <a:rPr lang="en"/>
              <a:t>: Target network protocols to affect the host’s Internet</a:t>
            </a:r>
            <a:endParaRPr/>
          </a:p>
        </p:txBody>
      </p:sp>
      <p:sp>
        <p:nvSpPr>
          <p:cNvPr id="141" name="Google Shape;14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Application-Level DoS</a:t>
            </a:r>
            <a:endParaRPr/>
          </a:p>
        </p:txBody>
      </p:sp>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Application-Level DoS</a:t>
            </a:r>
            <a:endParaRPr/>
          </a:p>
        </p:txBody>
      </p:sp>
      <p:sp>
        <p:nvSpPr>
          <p:cNvPr id="153" name="Google Shape;153;p2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Target the resources that the application uses</a:t>
            </a:r>
            <a:endParaRPr/>
          </a:p>
          <a:p>
            <a:pPr indent="-342900" lvl="0" marL="457200" rtl="0" algn="l">
              <a:spcBef>
                <a:spcPts val="0"/>
              </a:spcBef>
              <a:spcAft>
                <a:spcPts val="0"/>
              </a:spcAft>
              <a:buSzPts val="1800"/>
              <a:buChar char="●"/>
            </a:pPr>
            <a:r>
              <a:rPr lang="en"/>
              <a:t>Exploit features of the application itself</a:t>
            </a:r>
            <a:endParaRPr/>
          </a:p>
          <a:p>
            <a:pPr indent="-342900" lvl="0" marL="457200" rtl="0" algn="l">
              <a:spcBef>
                <a:spcPts val="0"/>
              </a:spcBef>
              <a:spcAft>
                <a:spcPts val="0"/>
              </a:spcAft>
              <a:buSzPts val="1800"/>
              <a:buChar char="●"/>
            </a:pPr>
            <a:r>
              <a:rPr lang="en"/>
              <a:t>Some attacks rely on </a:t>
            </a:r>
            <a:r>
              <a:rPr b="1" lang="en"/>
              <a:t>asymmetry</a:t>
            </a:r>
            <a:r>
              <a:rPr lang="en"/>
              <a:t>: A small amount of input from the attack results in a large amount of consumed resources!</a:t>
            </a:r>
            <a:endParaRPr/>
          </a:p>
        </p:txBody>
      </p:sp>
      <p:sp>
        <p:nvSpPr>
          <p:cNvPr id="154" name="Google Shape;15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Resource Consumption</a:t>
            </a:r>
            <a:endParaRPr/>
          </a:p>
        </p:txBody>
      </p:sp>
      <p:sp>
        <p:nvSpPr>
          <p:cNvPr id="160" name="Google Shape;160;p27"/>
          <p:cNvSpPr txBox="1"/>
          <p:nvPr>
            <p:ph idx="1" type="body"/>
          </p:nvPr>
        </p:nvSpPr>
        <p:spPr>
          <a:xfrm>
            <a:off x="198500" y="1246825"/>
            <a:ext cx="8520600" cy="867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Force the server to consume all its resources</a:t>
            </a:r>
            <a:endParaRPr/>
          </a:p>
        </p:txBody>
      </p:sp>
      <p:sp>
        <p:nvSpPr>
          <p:cNvPr id="161" name="Google Shape;16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nvSpPr>
        <p:spPr>
          <a:xfrm>
            <a:off x="446325" y="1940400"/>
            <a:ext cx="4282800" cy="8313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urier New"/>
                <a:ea typeface="Courier New"/>
                <a:cs typeface="Courier New"/>
                <a:sym typeface="Courier New"/>
              </a:rPr>
              <a:t>int fd = open(</a:t>
            </a:r>
            <a:r>
              <a:rPr b="1" lang="en">
                <a:latin typeface="Courier New"/>
                <a:ea typeface="Courier New"/>
                <a:cs typeface="Courier New"/>
                <a:sym typeface="Courier New"/>
              </a:rPr>
              <a:t>'/tmp/junk');</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char buf[4096];</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while (1) { write(fd, buf, 4096); }</a:t>
            </a:r>
            <a:endParaRPr b="1">
              <a:latin typeface="Courier New"/>
              <a:ea typeface="Courier New"/>
              <a:cs typeface="Courier New"/>
              <a:sym typeface="Courier New"/>
            </a:endParaRPr>
          </a:p>
        </p:txBody>
      </p:sp>
      <p:sp>
        <p:nvSpPr>
          <p:cNvPr id="163" name="Google Shape;163;p27"/>
          <p:cNvSpPr txBox="1"/>
          <p:nvPr/>
        </p:nvSpPr>
        <p:spPr>
          <a:xfrm>
            <a:off x="446325" y="2821450"/>
            <a:ext cx="4282800" cy="400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urier New"/>
                <a:ea typeface="Courier New"/>
                <a:cs typeface="Courier New"/>
                <a:sym typeface="Courier New"/>
              </a:rPr>
              <a:t>while (1) { malloc(1000000000); }</a:t>
            </a:r>
            <a:endParaRPr b="1">
              <a:latin typeface="Courier New"/>
              <a:ea typeface="Courier New"/>
              <a:cs typeface="Courier New"/>
              <a:sym typeface="Courier New"/>
            </a:endParaRPr>
          </a:p>
        </p:txBody>
      </p:sp>
      <p:sp>
        <p:nvSpPr>
          <p:cNvPr id="164" name="Google Shape;164;p27"/>
          <p:cNvSpPr txBox="1"/>
          <p:nvPr/>
        </p:nvSpPr>
        <p:spPr>
          <a:xfrm>
            <a:off x="446325" y="3271400"/>
            <a:ext cx="4282800" cy="400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urier New"/>
                <a:ea typeface="Courier New"/>
                <a:cs typeface="Courier New"/>
                <a:sym typeface="Courier New"/>
              </a:rPr>
              <a:t>while (1) { fork(); }</a:t>
            </a:r>
            <a:endParaRPr b="1">
              <a:solidFill>
                <a:srgbClr val="999999"/>
              </a:solidFill>
              <a:latin typeface="Courier New"/>
              <a:ea typeface="Courier New"/>
              <a:cs typeface="Courier New"/>
              <a:sym typeface="Courier New"/>
            </a:endParaRPr>
          </a:p>
        </p:txBody>
      </p:sp>
      <p:sp>
        <p:nvSpPr>
          <p:cNvPr id="165" name="Google Shape;165;p27"/>
          <p:cNvSpPr txBox="1"/>
          <p:nvPr/>
        </p:nvSpPr>
        <p:spPr>
          <a:xfrm>
            <a:off x="5137025" y="1940400"/>
            <a:ext cx="2338500" cy="369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Exhausts filesystem space</a:t>
            </a:r>
            <a:endParaRPr sz="1200"/>
          </a:p>
        </p:txBody>
      </p:sp>
      <p:sp>
        <p:nvSpPr>
          <p:cNvPr id="166" name="Google Shape;166;p27"/>
          <p:cNvSpPr txBox="1"/>
          <p:nvPr/>
        </p:nvSpPr>
        <p:spPr>
          <a:xfrm>
            <a:off x="5137025" y="2821450"/>
            <a:ext cx="2338500" cy="369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Exhausts RAM</a:t>
            </a:r>
            <a:endParaRPr sz="1200"/>
          </a:p>
        </p:txBody>
      </p:sp>
      <p:sp>
        <p:nvSpPr>
          <p:cNvPr id="167" name="Google Shape;167;p27"/>
          <p:cNvSpPr txBox="1"/>
          <p:nvPr/>
        </p:nvSpPr>
        <p:spPr>
          <a:xfrm>
            <a:off x="5137025" y="3271400"/>
            <a:ext cx="2338500" cy="369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Exhausts processing threads</a:t>
            </a:r>
            <a:endParaRPr sz="1200"/>
          </a:p>
        </p:txBody>
      </p:sp>
      <p:sp>
        <p:nvSpPr>
          <p:cNvPr id="168" name="Google Shape;168;p27"/>
          <p:cNvSpPr txBox="1"/>
          <p:nvPr/>
        </p:nvSpPr>
        <p:spPr>
          <a:xfrm>
            <a:off x="446325" y="3721350"/>
            <a:ext cx="4282800" cy="1262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urier New"/>
                <a:ea typeface="Courier New"/>
                <a:cs typeface="Courier New"/>
                <a:sym typeface="Courier New"/>
              </a:rPr>
              <a:t>while (1) {</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    int fd = open(random_file());</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    write(fd, </a:t>
            </a:r>
            <a:r>
              <a:rPr b="1" lang="en">
                <a:latin typeface="Courier New"/>
                <a:ea typeface="Courier New"/>
                <a:cs typeface="Courier New"/>
                <a:sym typeface="Courier New"/>
              </a:rPr>
              <a:t>"abcde", 5);</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    close(fd);</a:t>
            </a:r>
            <a:br>
              <a:rPr b="1" lang="en">
                <a:latin typeface="Courier New"/>
                <a:ea typeface="Courier New"/>
                <a:cs typeface="Courier New"/>
                <a:sym typeface="Courier New"/>
              </a:rPr>
            </a:br>
            <a:r>
              <a:rPr b="1" lang="en">
                <a:latin typeface="Courier New"/>
                <a:ea typeface="Courier New"/>
                <a:cs typeface="Courier New"/>
                <a:sym typeface="Courier New"/>
              </a:rPr>
              <a:t>}</a:t>
            </a:r>
            <a:endParaRPr b="1">
              <a:solidFill>
                <a:srgbClr val="999999"/>
              </a:solidFill>
              <a:latin typeface="Courier New"/>
              <a:ea typeface="Courier New"/>
              <a:cs typeface="Courier New"/>
              <a:sym typeface="Courier New"/>
            </a:endParaRPr>
          </a:p>
        </p:txBody>
      </p:sp>
      <p:sp>
        <p:nvSpPr>
          <p:cNvPr id="169" name="Google Shape;169;p27"/>
          <p:cNvSpPr txBox="1"/>
          <p:nvPr/>
        </p:nvSpPr>
        <p:spPr>
          <a:xfrm>
            <a:off x="5137025" y="3721350"/>
            <a:ext cx="2338500" cy="369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Exhausts disk I/O operations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Algorithmic Complexity Attacks</a:t>
            </a:r>
            <a:endParaRPr/>
          </a:p>
        </p:txBody>
      </p:sp>
      <p:sp>
        <p:nvSpPr>
          <p:cNvPr id="175" name="Google Shape;175;p28"/>
          <p:cNvSpPr txBox="1"/>
          <p:nvPr>
            <p:ph idx="1" type="body"/>
          </p:nvPr>
        </p:nvSpPr>
        <p:spPr>
          <a:xfrm>
            <a:off x="198500" y="1246825"/>
            <a:ext cx="8520600" cy="238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Consider an application that runs a sort on user-chosen data</a:t>
            </a:r>
            <a:endParaRPr/>
          </a:p>
          <a:p>
            <a:pPr indent="-317500" lvl="1" marL="914400" rtl="0" algn="l">
              <a:spcBef>
                <a:spcPts val="0"/>
              </a:spcBef>
              <a:spcAft>
                <a:spcPts val="0"/>
              </a:spcAft>
              <a:buSzPts val="1400"/>
              <a:buChar char="○"/>
            </a:pPr>
            <a:r>
              <a:rPr lang="en"/>
              <a:t>What if the attacker intentionally chooses inputs that cause the worst-time runtime to occur?</a:t>
            </a:r>
            <a:endParaRPr/>
          </a:p>
          <a:p>
            <a:pPr indent="-342900" lvl="0" marL="457200" rtl="0" algn="l">
              <a:spcBef>
                <a:spcPts val="0"/>
              </a:spcBef>
              <a:spcAft>
                <a:spcPts val="0"/>
              </a:spcAft>
              <a:buSzPts val="1800"/>
              <a:buChar char="●"/>
            </a:pPr>
            <a:r>
              <a:rPr b="1" lang="en"/>
              <a:t>Algorithmic complexity attack</a:t>
            </a:r>
            <a:r>
              <a:rPr lang="en"/>
              <a:t>: Supplying inputs that trigger worst-case complexity of algorithms and data structures</a:t>
            </a:r>
            <a:endParaRPr/>
          </a:p>
          <a:p>
            <a:pPr indent="-342900" lvl="0" marL="457200" rtl="0" algn="l">
              <a:spcBef>
                <a:spcPts val="0"/>
              </a:spcBef>
              <a:spcAft>
                <a:spcPts val="0"/>
              </a:spcAft>
              <a:buSzPts val="1800"/>
              <a:buChar char="●"/>
            </a:pPr>
            <a:r>
              <a:rPr lang="en"/>
              <a:t>Defense: Choose algorithms with good worst-case running times</a:t>
            </a:r>
            <a:endParaRPr/>
          </a:p>
          <a:p>
            <a:pPr indent="-317500" lvl="1" marL="914400" rtl="0" algn="l">
              <a:spcBef>
                <a:spcPts val="0"/>
              </a:spcBef>
              <a:spcAft>
                <a:spcPts val="0"/>
              </a:spcAft>
              <a:buSzPts val="1400"/>
              <a:buChar char="○"/>
            </a:pPr>
            <a:r>
              <a:rPr lang="en"/>
              <a:t>Mergesort is safer than quicksort against DoS!</a:t>
            </a:r>
            <a:endParaRPr/>
          </a:p>
        </p:txBody>
      </p:sp>
      <p:sp>
        <p:nvSpPr>
          <p:cNvPr id="176" name="Google Shape;17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77" name="Google Shape;177;p28"/>
          <p:cNvGraphicFramePr/>
          <p:nvPr/>
        </p:nvGraphicFramePr>
        <p:xfrm>
          <a:off x="2243750" y="3474600"/>
          <a:ext cx="3000000" cy="3000000"/>
        </p:xfrm>
        <a:graphic>
          <a:graphicData uri="http://schemas.openxmlformats.org/drawingml/2006/table">
            <a:tbl>
              <a:tblPr>
                <a:noFill/>
                <a:tableStyleId>{0EA4BF02-215E-4EB9-A26C-ED6601A8E791}</a:tableStyleId>
              </a:tblPr>
              <a:tblGrid>
                <a:gridCol w="1128775"/>
                <a:gridCol w="1655100"/>
                <a:gridCol w="187262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Expected runtime</a:t>
                      </a:r>
                      <a:endParaRPr/>
                    </a:p>
                  </a:txBody>
                  <a:tcPr marT="91425" marB="91425" marR="91425" marL="91425"/>
                </a:tc>
                <a:tc>
                  <a:txBody>
                    <a:bodyPr/>
                    <a:lstStyle/>
                    <a:p>
                      <a:pPr indent="0" lvl="0" marL="0" rtl="0" algn="l">
                        <a:spcBef>
                          <a:spcPts val="0"/>
                        </a:spcBef>
                        <a:spcAft>
                          <a:spcPts val="0"/>
                        </a:spcAft>
                        <a:buNone/>
                      </a:pPr>
                      <a:r>
                        <a:rPr lang="en"/>
                        <a:t>Worst-case runtime</a:t>
                      </a:r>
                      <a:endParaRPr/>
                    </a:p>
                  </a:txBody>
                  <a:tcPr marT="91425" marB="91425" marR="91425" marL="91425"/>
                </a:tc>
              </a:tr>
              <a:tr h="381000">
                <a:tc>
                  <a:txBody>
                    <a:bodyPr/>
                    <a:lstStyle/>
                    <a:p>
                      <a:pPr indent="0" lvl="0" marL="0" rtl="0" algn="l">
                        <a:spcBef>
                          <a:spcPts val="0"/>
                        </a:spcBef>
                        <a:spcAft>
                          <a:spcPts val="0"/>
                        </a:spcAft>
                        <a:buNone/>
                      </a:pPr>
                      <a:r>
                        <a:rPr lang="en"/>
                        <a:t>Mergesort</a:t>
                      </a:r>
                      <a:endParaRPr/>
                    </a:p>
                  </a:txBody>
                  <a:tcPr marT="91425" marB="91425" marR="91425" marL="91425"/>
                </a:tc>
                <a:tc>
                  <a:txBody>
                    <a:bodyPr/>
                    <a:lstStyle/>
                    <a:p>
                      <a:pPr indent="0" lvl="0" marL="0" rtl="0" algn="l">
                        <a:spcBef>
                          <a:spcPts val="0"/>
                        </a:spcBef>
                        <a:spcAft>
                          <a:spcPts val="0"/>
                        </a:spcAft>
                        <a:buNone/>
                      </a:pPr>
                      <a:r>
                        <a:rPr lang="en"/>
                        <a:t>O(</a:t>
                      </a:r>
                      <a:r>
                        <a:rPr i="1" lang="en"/>
                        <a:t>n</a:t>
                      </a:r>
                      <a:r>
                        <a:rPr lang="en"/>
                        <a:t> log </a:t>
                      </a:r>
                      <a:r>
                        <a:rPr i="1" lang="en"/>
                        <a:t>n</a:t>
                      </a:r>
                      <a:r>
                        <a:rPr lang="en"/>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O(</a:t>
                      </a:r>
                      <a:r>
                        <a:rPr i="1" lang="en">
                          <a:solidFill>
                            <a:schemeClr val="dk1"/>
                          </a:solidFill>
                        </a:rPr>
                        <a:t>n</a:t>
                      </a:r>
                      <a:r>
                        <a:rPr lang="en">
                          <a:solidFill>
                            <a:schemeClr val="dk1"/>
                          </a:solidFill>
                        </a:rPr>
                        <a:t> log </a:t>
                      </a:r>
                      <a:r>
                        <a:rPr i="1" lang="en">
                          <a:solidFill>
                            <a:schemeClr val="dk1"/>
                          </a:solidFill>
                        </a:rPr>
                        <a:t>n</a:t>
                      </a:r>
                      <a:r>
                        <a:rPr lang="en">
                          <a:solidFill>
                            <a:schemeClr val="dk1"/>
                          </a:solidFill>
                        </a:rPr>
                        <a:t>)</a:t>
                      </a:r>
                      <a:endParaRPr/>
                    </a:p>
                  </a:txBody>
                  <a:tcPr marT="91425" marB="91425" marR="91425" marL="91425"/>
                </a:tc>
              </a:tr>
              <a:tr h="381000">
                <a:tc>
                  <a:txBody>
                    <a:bodyPr/>
                    <a:lstStyle/>
                    <a:p>
                      <a:pPr indent="0" lvl="0" marL="0" rtl="0" algn="l">
                        <a:spcBef>
                          <a:spcPts val="0"/>
                        </a:spcBef>
                        <a:spcAft>
                          <a:spcPts val="0"/>
                        </a:spcAft>
                        <a:buNone/>
                      </a:pPr>
                      <a:r>
                        <a:rPr lang="en"/>
                        <a:t>Quicksort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O(</a:t>
                      </a:r>
                      <a:r>
                        <a:rPr i="1" lang="en">
                          <a:solidFill>
                            <a:schemeClr val="dk1"/>
                          </a:solidFill>
                        </a:rPr>
                        <a:t>n</a:t>
                      </a:r>
                      <a:r>
                        <a:rPr lang="en">
                          <a:solidFill>
                            <a:schemeClr val="dk1"/>
                          </a:solidFill>
                        </a:rPr>
                        <a:t> log </a:t>
                      </a:r>
                      <a:r>
                        <a:rPr i="1" lang="en">
                          <a:solidFill>
                            <a:schemeClr val="dk1"/>
                          </a:solidFill>
                        </a:rPr>
                        <a:t>n</a:t>
                      </a:r>
                      <a:r>
                        <a:rPr lang="en">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O(</a:t>
                      </a:r>
                      <a:r>
                        <a:rPr i="1" lang="en">
                          <a:solidFill>
                            <a:schemeClr val="dk1"/>
                          </a:solidFill>
                        </a:rPr>
                        <a:t>n</a:t>
                      </a:r>
                      <a:r>
                        <a:rPr baseline="30000" lang="en">
                          <a:solidFill>
                            <a:schemeClr val="dk1"/>
                          </a:solidFill>
                        </a:rPr>
                        <a:t>2</a:t>
                      </a:r>
                      <a:r>
                        <a:rPr lang="en">
                          <a:solidFill>
                            <a:schemeClr val="dk1"/>
                          </a:solidFill>
                        </a:rPr>
                        <a:t>)</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Application-Level DoS: Defenses</a:t>
            </a:r>
            <a:endParaRPr/>
          </a:p>
        </p:txBody>
      </p:sp>
      <p:sp>
        <p:nvSpPr>
          <p:cNvPr id="183" name="Google Shape;183;p2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Identification</a:t>
            </a:r>
            <a:r>
              <a:rPr lang="en"/>
              <a:t>: Step 0 of any defense</a:t>
            </a:r>
            <a:endParaRPr/>
          </a:p>
          <a:p>
            <a:pPr indent="-317500" lvl="1" marL="914400" rtl="0" algn="l">
              <a:spcBef>
                <a:spcPts val="0"/>
              </a:spcBef>
              <a:spcAft>
                <a:spcPts val="0"/>
              </a:spcAft>
              <a:buSzPts val="1400"/>
              <a:buChar char="○"/>
            </a:pPr>
            <a:r>
              <a:rPr lang="en"/>
              <a:t>You must be able to distinguish requests from different users before you can do anything else!</a:t>
            </a:r>
            <a:endParaRPr sz="1800"/>
          </a:p>
          <a:p>
            <a:pPr indent="-317500" lvl="1" marL="914400" rtl="0" algn="l">
              <a:spcBef>
                <a:spcPts val="0"/>
              </a:spcBef>
              <a:spcAft>
                <a:spcPts val="0"/>
              </a:spcAft>
              <a:buSzPts val="1400"/>
              <a:buChar char="○"/>
            </a:pPr>
            <a:r>
              <a:rPr lang="en"/>
              <a:t>Requires some method to identify/authenticate users</a:t>
            </a:r>
            <a:endParaRPr/>
          </a:p>
          <a:p>
            <a:pPr indent="-317500" lvl="1" marL="914400" rtl="0" algn="l">
              <a:spcBef>
                <a:spcPts val="0"/>
              </a:spcBef>
              <a:spcAft>
                <a:spcPts val="0"/>
              </a:spcAft>
              <a:buSzPts val="1400"/>
              <a:buChar char="○"/>
            </a:pPr>
            <a:r>
              <a:rPr lang="en"/>
              <a:t>Authenticating users might be expensive and itself vulnerable to DoS</a:t>
            </a:r>
            <a:endParaRPr/>
          </a:p>
          <a:p>
            <a:pPr indent="-342900" lvl="0" marL="457200" rtl="0" algn="l">
              <a:spcBef>
                <a:spcPts val="0"/>
              </a:spcBef>
              <a:spcAft>
                <a:spcPts val="0"/>
              </a:spcAft>
              <a:buSzPts val="1800"/>
              <a:buChar char="●"/>
            </a:pPr>
            <a:r>
              <a:rPr b="1" lang="en"/>
              <a:t>Isolation</a:t>
            </a:r>
            <a:r>
              <a:rPr lang="en"/>
              <a:t>: Ensure that one user’s actions do not affect another user’s experience</a:t>
            </a:r>
            <a:endParaRPr/>
          </a:p>
          <a:p>
            <a:pPr indent="-342900" lvl="0" marL="457200" rtl="0" algn="l">
              <a:spcBef>
                <a:spcPts val="0"/>
              </a:spcBef>
              <a:spcAft>
                <a:spcPts val="0"/>
              </a:spcAft>
              <a:buSzPts val="1800"/>
              <a:buChar char="●"/>
            </a:pPr>
            <a:r>
              <a:rPr b="1" lang="en"/>
              <a:t>Quotas</a:t>
            </a:r>
            <a:r>
              <a:rPr lang="en"/>
              <a:t>: Ensure that users can only access a certain proportion of resources</a:t>
            </a:r>
            <a:endParaRPr/>
          </a:p>
          <a:p>
            <a:pPr indent="-317500" lvl="1" marL="914400" rtl="0" algn="l">
              <a:spcBef>
                <a:spcPts val="0"/>
              </a:spcBef>
              <a:spcAft>
                <a:spcPts val="0"/>
              </a:spcAft>
              <a:buSzPts val="1400"/>
              <a:buChar char="○"/>
            </a:pPr>
            <a:r>
              <a:rPr lang="en"/>
              <a:t>Example: </a:t>
            </a:r>
            <a:r>
              <a:rPr lang="en"/>
              <a:t>Only trusted users can execute expensive requests</a:t>
            </a:r>
            <a:endParaRPr/>
          </a:p>
          <a:p>
            <a:pPr indent="-317500" lvl="1" marL="914400" rtl="0" algn="l">
              <a:spcBef>
                <a:spcPts val="0"/>
              </a:spcBef>
              <a:spcAft>
                <a:spcPts val="0"/>
              </a:spcAft>
              <a:buSzPts val="1400"/>
              <a:buChar char="○"/>
            </a:pPr>
            <a:r>
              <a:rPr lang="en"/>
              <a:t>Example: Limit each user to 4 GB of RAM and 2 CPU cores</a:t>
            </a:r>
            <a:endParaRPr/>
          </a:p>
        </p:txBody>
      </p:sp>
      <p:sp>
        <p:nvSpPr>
          <p:cNvPr id="184" name="Google Shape;18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Application-Level DoS: Defenses</a:t>
            </a:r>
            <a:endParaRPr/>
          </a:p>
        </p:txBody>
      </p:sp>
      <p:sp>
        <p:nvSpPr>
          <p:cNvPr id="190" name="Google Shape;190;p3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Proof-of-work</a:t>
            </a:r>
            <a:r>
              <a:rPr lang="en"/>
              <a:t>: Force users to spend some resources to issue a request</a:t>
            </a:r>
            <a:endParaRPr/>
          </a:p>
          <a:p>
            <a:pPr indent="-317500" lvl="1" marL="914400" rtl="0" algn="l">
              <a:spcBef>
                <a:spcPts val="0"/>
              </a:spcBef>
              <a:spcAft>
                <a:spcPts val="0"/>
              </a:spcAft>
              <a:buSzPts val="1400"/>
              <a:buChar char="○"/>
            </a:pPr>
            <a:r>
              <a:rPr lang="en"/>
              <a:t>Idea: Make a DoS attack more expensive for the attacker, who now needs to spend resources</a:t>
            </a:r>
            <a:endParaRPr/>
          </a:p>
          <a:p>
            <a:pPr indent="-317500" lvl="1" marL="914400" rtl="0" algn="l">
              <a:spcBef>
                <a:spcPts val="0"/>
              </a:spcBef>
              <a:spcAft>
                <a:spcPts val="0"/>
              </a:spcAft>
              <a:buSzPts val="1400"/>
              <a:buChar char="○"/>
            </a:pPr>
            <a:r>
              <a:rPr lang="en"/>
              <a:t>Example: Add a CAPTCHA, which the attacker will now have to solve (or pay for solving services)</a:t>
            </a:r>
            <a:endParaRPr/>
          </a:p>
          <a:p>
            <a:pPr indent="-342900" lvl="0" marL="457200" rtl="0" algn="l">
              <a:spcBef>
                <a:spcPts val="0"/>
              </a:spcBef>
              <a:spcAft>
                <a:spcPts val="0"/>
              </a:spcAft>
              <a:buSzPts val="1800"/>
              <a:buChar char="●"/>
            </a:pPr>
            <a:r>
              <a:rPr b="1" lang="en"/>
              <a:t>Overprovisioning</a:t>
            </a:r>
            <a:r>
              <a:rPr lang="en"/>
              <a:t>: </a:t>
            </a:r>
            <a:r>
              <a:rPr lang="en"/>
              <a:t>Allocate a huge amount of resources</a:t>
            </a:r>
            <a:endParaRPr/>
          </a:p>
          <a:p>
            <a:pPr indent="-317500" lvl="1" marL="914400" rtl="0" algn="l">
              <a:spcBef>
                <a:spcPts val="0"/>
              </a:spcBef>
              <a:spcAft>
                <a:spcPts val="0"/>
              </a:spcAft>
              <a:buSzPts val="1400"/>
              <a:buChar char="○"/>
            </a:pPr>
            <a:r>
              <a:rPr lang="en"/>
              <a:t>Can cost the server a lot of money, but often the most effective defense</a:t>
            </a:r>
            <a:endParaRPr/>
          </a:p>
          <a:p>
            <a:pPr indent="-317500" lvl="1" marL="914400" rtl="0" algn="l">
              <a:spcBef>
                <a:spcPts val="0"/>
              </a:spcBef>
              <a:spcAft>
                <a:spcPts val="0"/>
              </a:spcAft>
              <a:buSzPts val="1400"/>
              <a:buChar char="○"/>
            </a:pPr>
            <a:r>
              <a:rPr b="1" lang="en"/>
              <a:t>Content delivery network </a:t>
            </a:r>
            <a:r>
              <a:rPr lang="en"/>
              <a:t>(CDN): A service that allocates a huge amount of resources, shared among everyone, and used only if needed</a:t>
            </a:r>
            <a:endParaRPr/>
          </a:p>
          <a:p>
            <a:pPr indent="-317500" lvl="2" marL="1371600" rtl="0" algn="l">
              <a:spcBef>
                <a:spcPts val="0"/>
              </a:spcBef>
              <a:spcAft>
                <a:spcPts val="0"/>
              </a:spcAft>
              <a:buSzPts val="1400"/>
              <a:buChar char="■"/>
            </a:pPr>
            <a:r>
              <a:rPr lang="en"/>
              <a:t>Example: Cloudflare runs your service for you with a huge amount of resources</a:t>
            </a:r>
            <a:endParaRPr/>
          </a:p>
        </p:txBody>
      </p:sp>
      <p:sp>
        <p:nvSpPr>
          <p:cNvPr id="191" name="Google Shape;19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Network</a:t>
            </a:r>
            <a:r>
              <a:rPr lang="en"/>
              <a:t>-Level DoS</a:t>
            </a:r>
            <a:endParaRPr/>
          </a:p>
        </p:txBody>
      </p:sp>
      <p:sp>
        <p:nvSpPr>
          <p:cNvPr id="197" name="Google Shape;19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a:t>
            </a:r>
            <a:r>
              <a:rPr lang="en"/>
              <a:t>arget network protocols to degrade the victim’s Internet access</a:t>
            </a:r>
            <a:endParaRPr/>
          </a:p>
          <a:p>
            <a:pPr indent="-317500" lvl="1" marL="914400" rtl="0" algn="l">
              <a:spcBef>
                <a:spcPts val="0"/>
              </a:spcBef>
              <a:spcAft>
                <a:spcPts val="0"/>
              </a:spcAft>
              <a:buSzPts val="1400"/>
              <a:buChar char="○"/>
            </a:pPr>
            <a:r>
              <a:rPr lang="en"/>
              <a:t>Example: Send a huge number of packets to the victim</a:t>
            </a:r>
            <a:endParaRPr/>
          </a:p>
          <a:p>
            <a:pPr indent="-342900" lvl="0" marL="457200" rtl="0" algn="l">
              <a:spcBef>
                <a:spcPts val="0"/>
              </a:spcBef>
              <a:spcAft>
                <a:spcPts val="0"/>
              </a:spcAft>
              <a:buSzPts val="1800"/>
              <a:buChar char="●"/>
            </a:pPr>
            <a:r>
              <a:rPr lang="en"/>
              <a:t>Overwhelm the victim’s </a:t>
            </a:r>
            <a:r>
              <a:rPr b="1" lang="en"/>
              <a:t>bandwidth</a:t>
            </a:r>
            <a:r>
              <a:rPr lang="en"/>
              <a:t> (amount of data it can upload/download in a given time)</a:t>
            </a:r>
            <a:endParaRPr/>
          </a:p>
          <a:p>
            <a:pPr indent="-317500" lvl="1" marL="914400" rtl="0" algn="l">
              <a:spcBef>
                <a:spcPts val="0"/>
              </a:spcBef>
              <a:spcAft>
                <a:spcPts val="0"/>
              </a:spcAft>
              <a:buSzPts val="1400"/>
              <a:buChar char="○"/>
            </a:pPr>
            <a:r>
              <a:rPr lang="en"/>
              <a:t>Example: The server can only upload/download 10 MB/s. The attacker sends the server 20 MB/s.</a:t>
            </a:r>
            <a:endParaRPr/>
          </a:p>
          <a:p>
            <a:pPr indent="-317500" lvl="2" marL="1371600" rtl="0" algn="l">
              <a:spcBef>
                <a:spcPts val="0"/>
              </a:spcBef>
              <a:spcAft>
                <a:spcPts val="0"/>
              </a:spcAft>
              <a:buSzPts val="1400"/>
              <a:buChar char="■"/>
            </a:pPr>
            <a:r>
              <a:rPr lang="en"/>
              <a:t>Lots of maximum-sized packets</a:t>
            </a:r>
            <a:endParaRPr/>
          </a:p>
          <a:p>
            <a:pPr indent="-342900" lvl="0" marL="457200" rtl="0" algn="l">
              <a:spcBef>
                <a:spcPts val="0"/>
              </a:spcBef>
              <a:spcAft>
                <a:spcPts val="0"/>
              </a:spcAft>
              <a:buSzPts val="1800"/>
              <a:buChar char="●"/>
            </a:pPr>
            <a:r>
              <a:rPr lang="en"/>
              <a:t>Overwhelm the victim’s </a:t>
            </a:r>
            <a:r>
              <a:rPr b="1" lang="en"/>
              <a:t>packet processing capacity</a:t>
            </a:r>
            <a:endParaRPr b="1"/>
          </a:p>
          <a:p>
            <a:pPr indent="-317500" lvl="1" marL="914400" rtl="0" algn="l">
              <a:spcBef>
                <a:spcPts val="0"/>
              </a:spcBef>
              <a:spcAft>
                <a:spcPts val="0"/>
              </a:spcAft>
              <a:buSzPts val="1400"/>
              <a:buChar char="○"/>
            </a:pPr>
            <a:r>
              <a:rPr lang="en"/>
              <a:t>Example: The server can process 10 packets/second. The attacker sends the server 20 packets/second.</a:t>
            </a:r>
            <a:endParaRPr/>
          </a:p>
          <a:p>
            <a:pPr indent="-317500" lvl="2" marL="1371600" rtl="0" algn="l">
              <a:spcBef>
                <a:spcPts val="0"/>
              </a:spcBef>
              <a:spcAft>
                <a:spcPts val="0"/>
              </a:spcAft>
              <a:buSzPts val="1400"/>
              <a:buChar char="■"/>
            </a:pPr>
            <a:r>
              <a:rPr lang="en"/>
              <a:t>Lots of minimum-sized packets</a:t>
            </a:r>
            <a:endParaRPr/>
          </a:p>
        </p:txBody>
      </p:sp>
      <p:sp>
        <p:nvSpPr>
          <p:cNvPr id="203" name="Google Shape;203;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a:t>
            </a:r>
            <a:r>
              <a:rPr lang="en"/>
              <a:t>-Level DoS</a:t>
            </a:r>
            <a:endParaRPr/>
          </a:p>
        </p:txBody>
      </p:sp>
      <p:sp>
        <p:nvSpPr>
          <p:cNvPr id="204" name="Google Shape;20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Distributed Denial-of-Service (DDoS)</a:t>
            </a:r>
            <a:endParaRPr/>
          </a:p>
        </p:txBody>
      </p:sp>
      <p:sp>
        <p:nvSpPr>
          <p:cNvPr id="210" name="Google Shape;210;p3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Distributed denial-of-service</a:t>
            </a:r>
            <a:r>
              <a:rPr lang="en"/>
              <a:t> (</a:t>
            </a:r>
            <a:r>
              <a:rPr b="1" lang="en"/>
              <a:t>DDoS</a:t>
            </a:r>
            <a:r>
              <a:rPr lang="en"/>
              <a:t>): Use multiple systems to overwhelm the target </a:t>
            </a:r>
            <a:r>
              <a:rPr lang="en"/>
              <a:t>system</a:t>
            </a:r>
            <a:endParaRPr/>
          </a:p>
          <a:p>
            <a:pPr indent="-317500" lvl="1" marL="914400" rtl="0" algn="l">
              <a:spcBef>
                <a:spcPts val="0"/>
              </a:spcBef>
              <a:spcAft>
                <a:spcPts val="0"/>
              </a:spcAft>
              <a:buSzPts val="1400"/>
              <a:buChar char="○"/>
            </a:pPr>
            <a:r>
              <a:rPr lang="en"/>
              <a:t>Controlling many systems gives the attacker a huge amount of bandwidth</a:t>
            </a:r>
            <a:endParaRPr/>
          </a:p>
          <a:p>
            <a:pPr indent="-317500" lvl="1" marL="914400" rtl="0" algn="l">
              <a:spcBef>
                <a:spcPts val="0"/>
              </a:spcBef>
              <a:spcAft>
                <a:spcPts val="0"/>
              </a:spcAft>
              <a:buSzPts val="1400"/>
              <a:buChar char="○"/>
            </a:pPr>
            <a:r>
              <a:rPr lang="en"/>
              <a:t>Sending packets from many source</a:t>
            </a:r>
            <a:r>
              <a:rPr lang="en"/>
              <a:t>s</a:t>
            </a:r>
            <a:r>
              <a:rPr lang="en"/>
              <a:t> makes it harder for packet filters to distinguish DDoS traffic from normal traffic</a:t>
            </a:r>
            <a:endParaRPr/>
          </a:p>
          <a:p>
            <a:pPr indent="-317500" lvl="1" marL="914400" rtl="0" algn="l">
              <a:spcBef>
                <a:spcPts val="0"/>
              </a:spcBef>
              <a:spcAft>
                <a:spcPts val="0"/>
              </a:spcAft>
              <a:buSzPts val="1400"/>
              <a:buChar char="○"/>
            </a:pPr>
            <a:r>
              <a:rPr b="1" lang="en"/>
              <a:t>Botnet</a:t>
            </a:r>
            <a:r>
              <a:rPr lang="en"/>
              <a:t>: A collection of compromised computers controlled by one attacker</a:t>
            </a:r>
            <a:endParaRPr/>
          </a:p>
          <a:p>
            <a:pPr indent="-317500" lvl="2" marL="1371600" rtl="0" algn="l">
              <a:spcBef>
                <a:spcPts val="0"/>
              </a:spcBef>
              <a:spcAft>
                <a:spcPts val="0"/>
              </a:spcAft>
              <a:buSzPts val="1400"/>
              <a:buChar char="■"/>
            </a:pPr>
            <a:r>
              <a:rPr lang="en"/>
              <a:t>The attacker can tell all the computers on the botnet to flood a given target</a:t>
            </a:r>
            <a:endParaRPr/>
          </a:p>
        </p:txBody>
      </p:sp>
      <p:sp>
        <p:nvSpPr>
          <p:cNvPr id="211" name="Google Shape;21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3"/>
          <p:cNvSpPr txBox="1"/>
          <p:nvPr/>
        </p:nvSpPr>
        <p:spPr>
          <a:xfrm>
            <a:off x="6404675" y="3900175"/>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Victim</a:t>
            </a:r>
            <a:endParaRPr>
              <a:solidFill>
                <a:srgbClr val="999999"/>
              </a:solidFill>
            </a:endParaRPr>
          </a:p>
        </p:txBody>
      </p:sp>
      <p:sp>
        <p:nvSpPr>
          <p:cNvPr id="213" name="Google Shape;213;p33"/>
          <p:cNvSpPr txBox="1"/>
          <p:nvPr/>
        </p:nvSpPr>
        <p:spPr>
          <a:xfrm>
            <a:off x="2427550" y="3563200"/>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Attacker</a:t>
            </a:r>
            <a:endParaRPr>
              <a:solidFill>
                <a:srgbClr val="999999"/>
              </a:solidFill>
            </a:endParaRPr>
          </a:p>
        </p:txBody>
      </p:sp>
      <p:sp>
        <p:nvSpPr>
          <p:cNvPr id="214" name="Google Shape;214;p33"/>
          <p:cNvSpPr txBox="1"/>
          <p:nvPr/>
        </p:nvSpPr>
        <p:spPr>
          <a:xfrm>
            <a:off x="2427550" y="3990925"/>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Attacker</a:t>
            </a:r>
            <a:endParaRPr>
              <a:solidFill>
                <a:srgbClr val="999999"/>
              </a:solidFill>
            </a:endParaRPr>
          </a:p>
        </p:txBody>
      </p:sp>
      <p:sp>
        <p:nvSpPr>
          <p:cNvPr id="215" name="Google Shape;215;p33"/>
          <p:cNvSpPr txBox="1"/>
          <p:nvPr/>
        </p:nvSpPr>
        <p:spPr>
          <a:xfrm>
            <a:off x="3638700" y="3363100"/>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Attacker</a:t>
            </a:r>
            <a:endParaRPr>
              <a:solidFill>
                <a:srgbClr val="999999"/>
              </a:solidFill>
            </a:endParaRPr>
          </a:p>
        </p:txBody>
      </p:sp>
      <p:sp>
        <p:nvSpPr>
          <p:cNvPr id="216" name="Google Shape;216;p33"/>
          <p:cNvSpPr txBox="1"/>
          <p:nvPr/>
        </p:nvSpPr>
        <p:spPr>
          <a:xfrm>
            <a:off x="4456750" y="4730400"/>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Attacker</a:t>
            </a:r>
            <a:endParaRPr>
              <a:solidFill>
                <a:srgbClr val="999999"/>
              </a:solidFill>
            </a:endParaRPr>
          </a:p>
        </p:txBody>
      </p:sp>
      <p:sp>
        <p:nvSpPr>
          <p:cNvPr id="217" name="Google Shape;217;p33"/>
          <p:cNvSpPr txBox="1"/>
          <p:nvPr/>
        </p:nvSpPr>
        <p:spPr>
          <a:xfrm>
            <a:off x="3187250" y="4730400"/>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Attacker</a:t>
            </a:r>
            <a:endParaRPr>
              <a:solidFill>
                <a:srgbClr val="999999"/>
              </a:solidFill>
            </a:endParaRPr>
          </a:p>
        </p:txBody>
      </p:sp>
      <p:cxnSp>
        <p:nvCxnSpPr>
          <p:cNvPr id="218" name="Google Shape;218;p33"/>
          <p:cNvCxnSpPr>
            <a:stCxn id="215" idx="3"/>
            <a:endCxn id="212" idx="1"/>
          </p:cNvCxnSpPr>
          <p:nvPr/>
        </p:nvCxnSpPr>
        <p:spPr>
          <a:xfrm>
            <a:off x="4572000" y="3563200"/>
            <a:ext cx="1832700" cy="537000"/>
          </a:xfrm>
          <a:prstGeom prst="straightConnector1">
            <a:avLst/>
          </a:prstGeom>
          <a:noFill/>
          <a:ln cap="flat" cmpd="sng" w="9525">
            <a:solidFill>
              <a:schemeClr val="dk2"/>
            </a:solidFill>
            <a:prstDash val="solid"/>
            <a:round/>
            <a:headEnd len="med" w="med" type="none"/>
            <a:tailEnd len="med" w="med" type="triangle"/>
          </a:ln>
        </p:spPr>
      </p:cxnSp>
      <p:cxnSp>
        <p:nvCxnSpPr>
          <p:cNvPr id="219" name="Google Shape;219;p33"/>
          <p:cNvCxnSpPr>
            <a:stCxn id="217" idx="3"/>
            <a:endCxn id="212" idx="1"/>
          </p:cNvCxnSpPr>
          <p:nvPr/>
        </p:nvCxnSpPr>
        <p:spPr>
          <a:xfrm flipH="1" rot="10800000">
            <a:off x="4120550" y="4100400"/>
            <a:ext cx="2284200" cy="830100"/>
          </a:xfrm>
          <a:prstGeom prst="straightConnector1">
            <a:avLst/>
          </a:prstGeom>
          <a:noFill/>
          <a:ln cap="flat" cmpd="sng" w="9525">
            <a:solidFill>
              <a:schemeClr val="dk2"/>
            </a:solidFill>
            <a:prstDash val="solid"/>
            <a:round/>
            <a:headEnd len="med" w="med" type="none"/>
            <a:tailEnd len="med" w="med" type="triangle"/>
          </a:ln>
        </p:spPr>
      </p:cxnSp>
      <p:cxnSp>
        <p:nvCxnSpPr>
          <p:cNvPr id="220" name="Google Shape;220;p33"/>
          <p:cNvCxnSpPr>
            <a:stCxn id="213" idx="3"/>
            <a:endCxn id="212" idx="1"/>
          </p:cNvCxnSpPr>
          <p:nvPr/>
        </p:nvCxnSpPr>
        <p:spPr>
          <a:xfrm>
            <a:off x="3360850" y="3763300"/>
            <a:ext cx="3043800" cy="336900"/>
          </a:xfrm>
          <a:prstGeom prst="straightConnector1">
            <a:avLst/>
          </a:prstGeom>
          <a:noFill/>
          <a:ln cap="flat" cmpd="sng" w="9525">
            <a:solidFill>
              <a:schemeClr val="dk2"/>
            </a:solidFill>
            <a:prstDash val="solid"/>
            <a:round/>
            <a:headEnd len="med" w="med" type="none"/>
            <a:tailEnd len="med" w="med" type="triangle"/>
          </a:ln>
        </p:spPr>
      </p:cxnSp>
      <p:cxnSp>
        <p:nvCxnSpPr>
          <p:cNvPr id="221" name="Google Shape;221;p33"/>
          <p:cNvCxnSpPr>
            <a:stCxn id="214" idx="3"/>
            <a:endCxn id="212" idx="1"/>
          </p:cNvCxnSpPr>
          <p:nvPr/>
        </p:nvCxnSpPr>
        <p:spPr>
          <a:xfrm flipH="1" rot="10800000">
            <a:off x="3360850" y="4100425"/>
            <a:ext cx="3043800" cy="90600"/>
          </a:xfrm>
          <a:prstGeom prst="straightConnector1">
            <a:avLst/>
          </a:prstGeom>
          <a:noFill/>
          <a:ln cap="flat" cmpd="sng" w="9525">
            <a:solidFill>
              <a:schemeClr val="dk2"/>
            </a:solidFill>
            <a:prstDash val="solid"/>
            <a:round/>
            <a:headEnd len="med" w="med" type="none"/>
            <a:tailEnd len="med" w="med" type="triangle"/>
          </a:ln>
        </p:spPr>
      </p:cxnSp>
      <p:cxnSp>
        <p:nvCxnSpPr>
          <p:cNvPr id="222" name="Google Shape;222;p33"/>
          <p:cNvCxnSpPr>
            <a:stCxn id="216" idx="3"/>
            <a:endCxn id="212" idx="1"/>
          </p:cNvCxnSpPr>
          <p:nvPr/>
        </p:nvCxnSpPr>
        <p:spPr>
          <a:xfrm flipH="1" rot="10800000">
            <a:off x="5390050" y="4100400"/>
            <a:ext cx="1014600" cy="830100"/>
          </a:xfrm>
          <a:prstGeom prst="straightConnector1">
            <a:avLst/>
          </a:prstGeom>
          <a:noFill/>
          <a:ln cap="flat" cmpd="sng" w="9525">
            <a:solidFill>
              <a:schemeClr val="dk2"/>
            </a:solidFill>
            <a:prstDash val="solid"/>
            <a:round/>
            <a:headEnd len="med" w="med" type="none"/>
            <a:tailEnd len="med" w="med" type="triangle"/>
          </a:ln>
        </p:spPr>
      </p:cxnSp>
      <p:sp>
        <p:nvSpPr>
          <p:cNvPr id="223" name="Google Shape;223;p33"/>
          <p:cNvSpPr txBox="1"/>
          <p:nvPr/>
        </p:nvSpPr>
        <p:spPr>
          <a:xfrm>
            <a:off x="3483350" y="4260613"/>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Attacker</a:t>
            </a:r>
            <a:endParaRPr>
              <a:solidFill>
                <a:srgbClr val="999999"/>
              </a:solidFill>
            </a:endParaRPr>
          </a:p>
        </p:txBody>
      </p:sp>
      <p:cxnSp>
        <p:nvCxnSpPr>
          <p:cNvPr id="224" name="Google Shape;224;p33"/>
          <p:cNvCxnSpPr>
            <a:stCxn id="223" idx="3"/>
            <a:endCxn id="212" idx="1"/>
          </p:cNvCxnSpPr>
          <p:nvPr/>
        </p:nvCxnSpPr>
        <p:spPr>
          <a:xfrm flipH="1" rot="10800000">
            <a:off x="4416650" y="4100413"/>
            <a:ext cx="1988100" cy="360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Amplified</a:t>
            </a:r>
            <a:r>
              <a:rPr lang="en"/>
              <a:t> Denial-of-Service</a:t>
            </a:r>
            <a:endParaRPr/>
          </a:p>
        </p:txBody>
      </p:sp>
      <p:sp>
        <p:nvSpPr>
          <p:cNvPr id="230" name="Google Shape;230;p34"/>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Amplified </a:t>
            </a:r>
            <a:r>
              <a:rPr b="1" lang="en"/>
              <a:t>denial-of-service</a:t>
            </a:r>
            <a:r>
              <a:rPr lang="en"/>
              <a:t>: Use an amplifier to overwhelm the target more effectively</a:t>
            </a:r>
            <a:endParaRPr/>
          </a:p>
          <a:p>
            <a:pPr indent="-317500" lvl="1" marL="914400" rtl="0" algn="l">
              <a:spcBef>
                <a:spcPts val="0"/>
              </a:spcBef>
              <a:spcAft>
                <a:spcPts val="0"/>
              </a:spcAft>
              <a:buSzPts val="1400"/>
              <a:buChar char="○"/>
            </a:pPr>
            <a:r>
              <a:rPr lang="en"/>
              <a:t>Idea: Some services send a large response when sent a small request</a:t>
            </a:r>
            <a:endParaRPr/>
          </a:p>
          <a:p>
            <a:pPr indent="-317500" lvl="1" marL="914400" rtl="0" algn="l">
              <a:spcBef>
                <a:spcPts val="0"/>
              </a:spcBef>
              <a:spcAft>
                <a:spcPts val="0"/>
              </a:spcAft>
              <a:buSzPts val="1400"/>
              <a:buChar char="○"/>
            </a:pPr>
            <a:r>
              <a:rPr lang="en"/>
              <a:t>Spoofing a small request that appears to come from the victim results in a large amount of data sent to the victim</a:t>
            </a:r>
            <a:endParaRPr/>
          </a:p>
          <a:p>
            <a:pPr indent="-317500" lvl="1" marL="914400" rtl="0" algn="l">
              <a:spcBef>
                <a:spcPts val="0"/>
              </a:spcBef>
              <a:spcAft>
                <a:spcPts val="0"/>
              </a:spcAft>
              <a:buSzPts val="1400"/>
              <a:buChar char="○"/>
            </a:pPr>
            <a:r>
              <a:rPr lang="en"/>
              <a:t>Example: DNS amplification</a:t>
            </a:r>
            <a:endParaRPr/>
          </a:p>
          <a:p>
            <a:pPr indent="-317500" lvl="2" marL="1371600" rtl="0" algn="l">
              <a:spcBef>
                <a:spcPts val="0"/>
              </a:spcBef>
              <a:spcAft>
                <a:spcPts val="0"/>
              </a:spcAft>
              <a:buSzPts val="1400"/>
              <a:buChar char="■"/>
            </a:pPr>
            <a:r>
              <a:rPr lang="en"/>
              <a:t>Requests contain only the question</a:t>
            </a:r>
            <a:endParaRPr/>
          </a:p>
          <a:p>
            <a:pPr indent="-317500" lvl="2" marL="1371600" rtl="0" algn="l">
              <a:spcBef>
                <a:spcPts val="0"/>
              </a:spcBef>
              <a:spcAft>
                <a:spcPts val="0"/>
              </a:spcAft>
              <a:buSzPts val="1400"/>
              <a:buChar char="■"/>
            </a:pPr>
            <a:r>
              <a:rPr lang="en"/>
              <a:t>Responses contain answer records, authority records, and additional records</a:t>
            </a:r>
            <a:endParaRPr/>
          </a:p>
        </p:txBody>
      </p:sp>
      <p:sp>
        <p:nvSpPr>
          <p:cNvPr id="231" name="Google Shape;23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2" name="Google Shape;232;p34"/>
          <p:cNvSpPr txBox="1"/>
          <p:nvPr/>
        </p:nvSpPr>
        <p:spPr>
          <a:xfrm>
            <a:off x="5489525" y="2468350"/>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Attacker</a:t>
            </a:r>
            <a:endParaRPr>
              <a:solidFill>
                <a:srgbClr val="999999"/>
              </a:solidFill>
            </a:endParaRPr>
          </a:p>
        </p:txBody>
      </p:sp>
      <p:sp>
        <p:nvSpPr>
          <p:cNvPr id="233" name="Google Shape;233;p34"/>
          <p:cNvSpPr txBox="1"/>
          <p:nvPr/>
        </p:nvSpPr>
        <p:spPr>
          <a:xfrm>
            <a:off x="7750350" y="2747375"/>
            <a:ext cx="1368000" cy="6156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DNS Name Server</a:t>
            </a:r>
            <a:endParaRPr>
              <a:solidFill>
                <a:srgbClr val="999999"/>
              </a:solidFill>
            </a:endParaRPr>
          </a:p>
        </p:txBody>
      </p:sp>
      <p:sp>
        <p:nvSpPr>
          <p:cNvPr id="234" name="Google Shape;234;p34"/>
          <p:cNvSpPr txBox="1"/>
          <p:nvPr/>
        </p:nvSpPr>
        <p:spPr>
          <a:xfrm>
            <a:off x="5489525" y="3272425"/>
            <a:ext cx="933300" cy="40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Victim</a:t>
            </a:r>
            <a:endParaRPr>
              <a:solidFill>
                <a:srgbClr val="999999"/>
              </a:solidFill>
            </a:endParaRPr>
          </a:p>
        </p:txBody>
      </p:sp>
      <p:cxnSp>
        <p:nvCxnSpPr>
          <p:cNvPr id="235" name="Google Shape;235;p34"/>
          <p:cNvCxnSpPr>
            <a:stCxn id="232" idx="3"/>
            <a:endCxn id="233" idx="1"/>
          </p:cNvCxnSpPr>
          <p:nvPr/>
        </p:nvCxnSpPr>
        <p:spPr>
          <a:xfrm>
            <a:off x="6422825" y="2668450"/>
            <a:ext cx="1327500" cy="386700"/>
          </a:xfrm>
          <a:prstGeom prst="straightConnector1">
            <a:avLst/>
          </a:prstGeom>
          <a:noFill/>
          <a:ln cap="flat" cmpd="sng" w="9525">
            <a:solidFill>
              <a:schemeClr val="dk2"/>
            </a:solidFill>
            <a:prstDash val="solid"/>
            <a:round/>
            <a:headEnd len="med" w="med" type="none"/>
            <a:tailEnd len="med" w="med" type="triangle"/>
          </a:ln>
        </p:spPr>
      </p:cxnSp>
      <p:sp>
        <p:nvSpPr>
          <p:cNvPr id="236" name="Google Shape;236;p34"/>
          <p:cNvSpPr txBox="1"/>
          <p:nvPr/>
        </p:nvSpPr>
        <p:spPr>
          <a:xfrm>
            <a:off x="6768250" y="2098475"/>
            <a:ext cx="1895100" cy="5727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From: Victim, To: Server</a:t>
            </a:r>
            <a:endParaRPr sz="1200"/>
          </a:p>
          <a:p>
            <a:pPr indent="0" lvl="0" marL="0" rtl="0" algn="ctr">
              <a:spcBef>
                <a:spcPts val="0"/>
              </a:spcBef>
              <a:spcAft>
                <a:spcPts val="0"/>
              </a:spcAft>
              <a:buNone/>
            </a:pPr>
            <a:r>
              <a:rPr lang="en" sz="1200"/>
              <a:t>request</a:t>
            </a:r>
            <a:endParaRPr sz="1200"/>
          </a:p>
        </p:txBody>
      </p:sp>
      <p:cxnSp>
        <p:nvCxnSpPr>
          <p:cNvPr id="237" name="Google Shape;237;p34"/>
          <p:cNvCxnSpPr>
            <a:stCxn id="233" idx="1"/>
            <a:endCxn id="234" idx="3"/>
          </p:cNvCxnSpPr>
          <p:nvPr/>
        </p:nvCxnSpPr>
        <p:spPr>
          <a:xfrm flipH="1">
            <a:off x="6422850" y="3055175"/>
            <a:ext cx="1327500" cy="417300"/>
          </a:xfrm>
          <a:prstGeom prst="straightConnector1">
            <a:avLst/>
          </a:prstGeom>
          <a:noFill/>
          <a:ln cap="flat" cmpd="sng" w="38100">
            <a:solidFill>
              <a:schemeClr val="dk2"/>
            </a:solidFill>
            <a:prstDash val="solid"/>
            <a:round/>
            <a:headEnd len="med" w="med" type="none"/>
            <a:tailEnd len="med" w="med" type="triangle"/>
          </a:ln>
        </p:spPr>
      </p:cxnSp>
      <p:sp>
        <p:nvSpPr>
          <p:cNvPr id="238" name="Google Shape;238;p34"/>
          <p:cNvSpPr txBox="1"/>
          <p:nvPr/>
        </p:nvSpPr>
        <p:spPr>
          <a:xfrm>
            <a:off x="6825850" y="3439175"/>
            <a:ext cx="1895100" cy="704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From: Server, To: Victim</a:t>
            </a:r>
            <a:endParaRPr sz="2000"/>
          </a:p>
          <a:p>
            <a:pPr indent="0" lvl="0" marL="0" rtl="0" algn="ctr">
              <a:spcBef>
                <a:spcPts val="0"/>
              </a:spcBef>
              <a:spcAft>
                <a:spcPts val="0"/>
              </a:spcAft>
              <a:buNone/>
            </a:pPr>
            <a:r>
              <a:rPr lang="en" sz="2000"/>
              <a:t>RESPONSE</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Amplified Denial-of-Service</a:t>
            </a:r>
            <a:endParaRPr/>
          </a:p>
        </p:txBody>
      </p:sp>
      <p:sp>
        <p:nvSpPr>
          <p:cNvPr id="244" name="Google Shape;244;p3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r>
              <a:rPr lang="en"/>
              <a:t>:</a:t>
            </a:r>
            <a:endParaRPr/>
          </a:p>
          <a:p>
            <a:pPr indent="-317500" lvl="1" marL="914400" rtl="0" algn="l">
              <a:spcBef>
                <a:spcPts val="0"/>
              </a:spcBef>
              <a:spcAft>
                <a:spcPts val="0"/>
              </a:spcAft>
              <a:buSzPts val="1400"/>
              <a:buChar char="○"/>
            </a:pPr>
            <a:r>
              <a:rPr lang="en"/>
              <a:t>The attacker’s identity is concealed because the packets come from the amplification server</a:t>
            </a:r>
            <a:endParaRPr/>
          </a:p>
          <a:p>
            <a:pPr indent="-317500" lvl="1" marL="914400" rtl="0" algn="l">
              <a:spcBef>
                <a:spcPts val="0"/>
              </a:spcBef>
              <a:spcAft>
                <a:spcPts val="0"/>
              </a:spcAft>
              <a:buSzPts val="1400"/>
              <a:buChar char="○"/>
            </a:pPr>
            <a:r>
              <a:rPr lang="en"/>
              <a:t>The attacker is able to overwhelm victim with a lot of traffic, even if attacker's bandwidth is low</a:t>
            </a:r>
            <a:endParaRPr/>
          </a:p>
          <a:p>
            <a:pPr indent="-317500" lvl="2" marL="1371600" rtl="0" algn="l">
              <a:spcBef>
                <a:spcPts val="0"/>
              </a:spcBef>
              <a:spcAft>
                <a:spcPts val="0"/>
              </a:spcAft>
              <a:buSzPts val="1400"/>
              <a:buChar char="■"/>
            </a:pPr>
            <a:r>
              <a:rPr lang="en"/>
              <a:t>Attack bandwidth limited by capacity of DNS server, not of attacker</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Requires blind spoofing capability ⇒ cannot work over TCP, since TCP spoofing is hard, only UDP protocols</a:t>
            </a:r>
            <a:endParaRPr/>
          </a:p>
        </p:txBody>
      </p:sp>
      <p:sp>
        <p:nvSpPr>
          <p:cNvPr id="245" name="Google Shape;245;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Network-Level DoS: Defenses</a:t>
            </a:r>
            <a:endParaRPr/>
          </a:p>
        </p:txBody>
      </p:sp>
      <p:sp>
        <p:nvSpPr>
          <p:cNvPr id="251" name="Google Shape;251;p3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Packet filter</a:t>
            </a:r>
            <a:r>
              <a:rPr lang="en"/>
              <a:t>: Discard any packets that are part of the DoS attack</a:t>
            </a:r>
            <a:endParaRPr/>
          </a:p>
          <a:p>
            <a:pPr indent="-317500" lvl="1" marL="914400" rtl="0" algn="l">
              <a:spcBef>
                <a:spcPts val="0"/>
              </a:spcBef>
              <a:spcAft>
                <a:spcPts val="0"/>
              </a:spcAft>
              <a:buSzPts val="1400"/>
              <a:buChar char="○"/>
            </a:pPr>
            <a:r>
              <a:rPr lang="en"/>
              <a:t>Discard packets where the source IP is the attacker’s IP address</a:t>
            </a:r>
            <a:endParaRPr/>
          </a:p>
          <a:p>
            <a:pPr indent="-317500" lvl="1" marL="914400" rtl="0" algn="l">
              <a:spcBef>
                <a:spcPts val="0"/>
              </a:spcBef>
              <a:spcAft>
                <a:spcPts val="0"/>
              </a:spcAft>
              <a:buSzPts val="1400"/>
              <a:buChar char="○"/>
            </a:pPr>
            <a:r>
              <a:rPr lang="en"/>
              <a:t>Find some pattern in the content of the DoS packets to distinguish DoS packets from legitimate packets</a:t>
            </a:r>
            <a:endParaRPr/>
          </a:p>
          <a:p>
            <a:pPr indent="-317500" lvl="1" marL="914400" rtl="0" algn="l">
              <a:spcBef>
                <a:spcPts val="0"/>
              </a:spcBef>
              <a:spcAft>
                <a:spcPts val="0"/>
              </a:spcAft>
              <a:buSzPts val="1400"/>
              <a:buChar char="○"/>
            </a:pPr>
            <a:r>
              <a:rPr lang="en"/>
              <a:t>The packet filter must be before the bottleneck</a:t>
            </a:r>
            <a:endParaRPr/>
          </a:p>
          <a:p>
            <a:pPr indent="-342900" lvl="0" marL="457200" rtl="0" algn="l">
              <a:spcBef>
                <a:spcPts val="0"/>
              </a:spcBef>
              <a:spcAft>
                <a:spcPts val="0"/>
              </a:spcAft>
              <a:buSzPts val="1800"/>
              <a:buChar char="●"/>
            </a:pPr>
            <a:r>
              <a:rPr lang="en"/>
              <a:t>Attack: Subverting packet filters</a:t>
            </a:r>
            <a:endParaRPr/>
          </a:p>
          <a:p>
            <a:pPr indent="-317500" lvl="1" marL="914400" rtl="0" algn="l">
              <a:spcBef>
                <a:spcPts val="0"/>
              </a:spcBef>
              <a:spcAft>
                <a:spcPts val="0"/>
              </a:spcAft>
              <a:buSzPts val="1400"/>
              <a:buChar char="○"/>
            </a:pPr>
            <a:r>
              <a:rPr lang="en"/>
              <a:t>Spoof DoS packets so that packets look like they’re coming from many IP addresses</a:t>
            </a:r>
            <a:endParaRPr/>
          </a:p>
          <a:p>
            <a:pPr indent="-317500" lvl="2" marL="1371600" rtl="0" algn="l">
              <a:spcBef>
                <a:spcPts val="0"/>
              </a:spcBef>
              <a:spcAft>
                <a:spcPts val="0"/>
              </a:spcAft>
              <a:buSzPts val="1400"/>
              <a:buChar char="■"/>
            </a:pPr>
            <a:r>
              <a:rPr lang="en"/>
              <a:t>Packet filters can’t use IP addresses to filter packets anymore!</a:t>
            </a:r>
            <a:endParaRPr/>
          </a:p>
          <a:p>
            <a:pPr indent="-317500" lvl="2" marL="1371600" rtl="0" algn="l">
              <a:spcBef>
                <a:spcPts val="0"/>
              </a:spcBef>
              <a:spcAft>
                <a:spcPts val="0"/>
              </a:spcAft>
              <a:buSzPts val="1400"/>
              <a:buChar char="■"/>
            </a:pPr>
            <a:r>
              <a:rPr lang="en"/>
              <a:t>Hard to defend against</a:t>
            </a:r>
            <a:endParaRPr/>
          </a:p>
          <a:p>
            <a:pPr indent="-317500" lvl="2" marL="1371600" rtl="0" algn="l">
              <a:spcBef>
                <a:spcPts val="0"/>
              </a:spcBef>
              <a:spcAft>
                <a:spcPts val="0"/>
              </a:spcAft>
              <a:buSzPts val="1400"/>
              <a:buChar char="■"/>
            </a:pPr>
            <a:r>
              <a:rPr lang="en"/>
              <a:t>Rely on anti-spoofing mechanisms on the network</a:t>
            </a:r>
            <a:endParaRPr/>
          </a:p>
          <a:p>
            <a:pPr indent="-317500" lvl="1" marL="914400" rtl="0" algn="l">
              <a:spcBef>
                <a:spcPts val="0"/>
              </a:spcBef>
              <a:spcAft>
                <a:spcPts val="0"/>
              </a:spcAft>
              <a:buSzPts val="1400"/>
              <a:buChar char="○"/>
            </a:pPr>
            <a:r>
              <a:rPr lang="en"/>
              <a:t>Distributed DoS actually send packets from many IP addresses</a:t>
            </a:r>
            <a:endParaRPr/>
          </a:p>
          <a:p>
            <a:pPr indent="-317500" lvl="2" marL="1371600" rtl="0" algn="l">
              <a:spcBef>
                <a:spcPts val="0"/>
              </a:spcBef>
              <a:spcAft>
                <a:spcPts val="0"/>
              </a:spcAft>
              <a:buSzPts val="1400"/>
              <a:buChar char="■"/>
            </a:pPr>
            <a:r>
              <a:rPr lang="en"/>
              <a:t>Packet filters need to be much more sophisticated to defend against DDoS attacks</a:t>
            </a:r>
            <a:endParaRPr/>
          </a:p>
        </p:txBody>
      </p:sp>
      <p:sp>
        <p:nvSpPr>
          <p:cNvPr id="252" name="Google Shape;25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Network-Level DoS: Defenses</a:t>
            </a:r>
            <a:endParaRPr/>
          </a:p>
        </p:txBody>
      </p:sp>
      <p:sp>
        <p:nvSpPr>
          <p:cNvPr id="258" name="Google Shape;258;p3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Overprovisioning</a:t>
            </a:r>
            <a:r>
              <a:rPr lang="en"/>
              <a:t>: Purchase enough networking bandwidth and equipment to make it harder for attackers to overwhelm the network</a:t>
            </a:r>
            <a:endParaRPr/>
          </a:p>
        </p:txBody>
      </p:sp>
      <p:sp>
        <p:nvSpPr>
          <p:cNvPr id="259" name="Google Shape;25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SYN Flooding and SYN Cookies</a:t>
            </a:r>
            <a:endParaRPr/>
          </a:p>
        </p:txBody>
      </p:sp>
      <p:sp>
        <p:nvSpPr>
          <p:cNvPr id="265" name="Google Shape;26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SYN Flooding</a:t>
            </a:r>
            <a:endParaRPr/>
          </a:p>
        </p:txBody>
      </p:sp>
      <p:sp>
        <p:nvSpPr>
          <p:cNvPr id="271" name="Google Shape;271;p39"/>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type of DoS that exploits a limit on how many TCP connections a server can track</a:t>
            </a:r>
            <a:endParaRPr/>
          </a:p>
          <a:p>
            <a:pPr indent="-317500" lvl="1" marL="914400" rtl="0" algn="l">
              <a:spcBef>
                <a:spcPts val="0"/>
              </a:spcBef>
              <a:spcAft>
                <a:spcPts val="0"/>
              </a:spcAft>
              <a:buSzPts val="1400"/>
              <a:buChar char="○"/>
            </a:pPr>
            <a:r>
              <a:rPr lang="en"/>
              <a:t>Each connection established by the server needs to allocate some memory (to store sequence numbers, ACK numbers, buffered data, etc.)</a:t>
            </a:r>
            <a:endParaRPr/>
          </a:p>
          <a:p>
            <a:pPr indent="-317500" lvl="1" marL="914400" rtl="0" algn="l">
              <a:spcBef>
                <a:spcPts val="0"/>
              </a:spcBef>
              <a:spcAft>
                <a:spcPts val="0"/>
              </a:spcAft>
              <a:buSzPts val="1400"/>
              <a:buChar char="○"/>
            </a:pPr>
            <a:r>
              <a:rPr lang="en"/>
              <a:t>Idea: Establish many connections with the server, causing it to consume a lot of memory</a:t>
            </a:r>
            <a:endParaRPr/>
          </a:p>
          <a:p>
            <a:pPr indent="-342900" lvl="0" marL="457200" rtl="0" algn="l">
              <a:spcBef>
                <a:spcPts val="0"/>
              </a:spcBef>
              <a:spcAft>
                <a:spcPts val="0"/>
              </a:spcAft>
              <a:buSzPts val="1800"/>
              <a:buChar char="●"/>
            </a:pPr>
            <a:r>
              <a:rPr lang="en"/>
              <a:t>TCP state is allocated upon receiving a SYN</a:t>
            </a:r>
            <a:endParaRPr/>
          </a:p>
          <a:p>
            <a:pPr indent="-317500" lvl="1" marL="914400" rtl="0" algn="l">
              <a:spcBef>
                <a:spcPts val="0"/>
              </a:spcBef>
              <a:spcAft>
                <a:spcPts val="0"/>
              </a:spcAft>
              <a:buSzPts val="1400"/>
              <a:buChar char="○"/>
            </a:pPr>
            <a:r>
              <a:rPr lang="en"/>
              <a:t>The attacker only needs to send the SYN, so the attacker doesn’t consume </a:t>
            </a:r>
            <a:r>
              <a:rPr lang="en"/>
              <a:t>its own</a:t>
            </a:r>
            <a:r>
              <a:rPr lang="en"/>
              <a:t> resources!</a:t>
            </a:r>
            <a:endParaRPr/>
          </a:p>
        </p:txBody>
      </p:sp>
      <p:sp>
        <p:nvSpPr>
          <p:cNvPr id="272" name="Google Shape;272;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39"/>
          <p:cNvSpPr txBox="1"/>
          <p:nvPr/>
        </p:nvSpPr>
        <p:spPr>
          <a:xfrm>
            <a:off x="5236788" y="1170025"/>
            <a:ext cx="99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CC0000"/>
                </a:solidFill>
              </a:rPr>
              <a:t>Attacker</a:t>
            </a:r>
            <a:endParaRPr>
              <a:solidFill>
                <a:srgbClr val="CC0000"/>
              </a:solidFill>
            </a:endParaRPr>
          </a:p>
        </p:txBody>
      </p:sp>
      <p:sp>
        <p:nvSpPr>
          <p:cNvPr id="274" name="Google Shape;274;p39"/>
          <p:cNvSpPr txBox="1"/>
          <p:nvPr/>
        </p:nvSpPr>
        <p:spPr>
          <a:xfrm>
            <a:off x="8151912" y="1170025"/>
            <a:ext cx="99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38761D"/>
                </a:solidFill>
              </a:rPr>
              <a:t>Server</a:t>
            </a:r>
            <a:endParaRPr>
              <a:solidFill>
                <a:srgbClr val="38761D"/>
              </a:solidFill>
            </a:endParaRPr>
          </a:p>
        </p:txBody>
      </p:sp>
      <p:cxnSp>
        <p:nvCxnSpPr>
          <p:cNvPr id="275" name="Google Shape;275;p39"/>
          <p:cNvCxnSpPr>
            <a:stCxn id="273" idx="2"/>
          </p:cNvCxnSpPr>
          <p:nvPr/>
        </p:nvCxnSpPr>
        <p:spPr>
          <a:xfrm flipH="1">
            <a:off x="5723538" y="1570225"/>
            <a:ext cx="9300" cy="3093000"/>
          </a:xfrm>
          <a:prstGeom prst="straightConnector1">
            <a:avLst/>
          </a:prstGeom>
          <a:noFill/>
          <a:ln cap="flat" cmpd="sng" w="19050">
            <a:solidFill>
              <a:srgbClr val="CC0000"/>
            </a:solidFill>
            <a:prstDash val="solid"/>
            <a:round/>
            <a:headEnd len="med" w="med" type="none"/>
            <a:tailEnd len="med" w="med" type="none"/>
          </a:ln>
        </p:spPr>
      </p:cxnSp>
      <p:cxnSp>
        <p:nvCxnSpPr>
          <p:cNvPr id="276" name="Google Shape;276;p39"/>
          <p:cNvCxnSpPr>
            <a:stCxn id="274" idx="2"/>
          </p:cNvCxnSpPr>
          <p:nvPr/>
        </p:nvCxnSpPr>
        <p:spPr>
          <a:xfrm flipH="1">
            <a:off x="8643162" y="1570225"/>
            <a:ext cx="4800" cy="3093000"/>
          </a:xfrm>
          <a:prstGeom prst="straightConnector1">
            <a:avLst/>
          </a:prstGeom>
          <a:noFill/>
          <a:ln cap="flat" cmpd="sng" w="19050">
            <a:solidFill>
              <a:srgbClr val="38761D"/>
            </a:solidFill>
            <a:prstDash val="solid"/>
            <a:round/>
            <a:headEnd len="med" w="med" type="none"/>
            <a:tailEnd len="med" w="med" type="none"/>
          </a:ln>
        </p:spPr>
      </p:cxnSp>
      <p:grpSp>
        <p:nvGrpSpPr>
          <p:cNvPr id="277" name="Google Shape;277;p39"/>
          <p:cNvGrpSpPr/>
          <p:nvPr/>
        </p:nvGrpSpPr>
        <p:grpSpPr>
          <a:xfrm>
            <a:off x="5737880" y="1604246"/>
            <a:ext cx="2917800" cy="577200"/>
            <a:chOff x="5804918" y="1604246"/>
            <a:chExt cx="2917800" cy="577200"/>
          </a:xfrm>
        </p:grpSpPr>
        <p:cxnSp>
          <p:nvCxnSpPr>
            <p:cNvPr id="278" name="Google Shape;278;p39"/>
            <p:cNvCxnSpPr/>
            <p:nvPr/>
          </p:nvCxnSpPr>
          <p:spPr>
            <a:xfrm>
              <a:off x="5804918" y="1830150"/>
              <a:ext cx="2917800" cy="343800"/>
            </a:xfrm>
            <a:prstGeom prst="straightConnector1">
              <a:avLst/>
            </a:prstGeom>
            <a:noFill/>
            <a:ln cap="flat" cmpd="sng" w="19050">
              <a:solidFill>
                <a:srgbClr val="CC0000"/>
              </a:solidFill>
              <a:prstDash val="solid"/>
              <a:round/>
              <a:headEnd len="med" w="med" type="none"/>
              <a:tailEnd len="med" w="med" type="triangle"/>
            </a:ln>
          </p:spPr>
        </p:cxnSp>
        <p:sp>
          <p:nvSpPr>
            <p:cNvPr id="279" name="Google Shape;279;p39"/>
            <p:cNvSpPr txBox="1"/>
            <p:nvPr/>
          </p:nvSpPr>
          <p:spPr>
            <a:xfrm rot="439803">
              <a:off x="6539652" y="1692754"/>
              <a:ext cx="1403772" cy="400185"/>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CC0000"/>
                  </a:solidFill>
                </a:rPr>
                <a:t>SYN. Seq = </a:t>
              </a:r>
              <a:r>
                <a:rPr i="1" lang="en">
                  <a:solidFill>
                    <a:srgbClr val="CC0000"/>
                  </a:solidFill>
                </a:rPr>
                <a:t>x</a:t>
              </a:r>
              <a:endParaRPr i="1">
                <a:solidFill>
                  <a:srgbClr val="CC0000"/>
                </a:solidFill>
              </a:endParaRPr>
            </a:p>
          </p:txBody>
        </p:sp>
      </p:grpSp>
      <p:grpSp>
        <p:nvGrpSpPr>
          <p:cNvPr id="280" name="Google Shape;280;p39"/>
          <p:cNvGrpSpPr/>
          <p:nvPr/>
        </p:nvGrpSpPr>
        <p:grpSpPr>
          <a:xfrm>
            <a:off x="5725816" y="2161113"/>
            <a:ext cx="2929800" cy="795600"/>
            <a:chOff x="5792854" y="2161113"/>
            <a:chExt cx="2929800" cy="795600"/>
          </a:xfrm>
        </p:grpSpPr>
        <p:cxnSp>
          <p:nvCxnSpPr>
            <p:cNvPr id="281" name="Google Shape;281;p39"/>
            <p:cNvCxnSpPr/>
            <p:nvPr/>
          </p:nvCxnSpPr>
          <p:spPr>
            <a:xfrm flipH="1">
              <a:off x="5792854" y="2416325"/>
              <a:ext cx="2929800" cy="453900"/>
            </a:xfrm>
            <a:prstGeom prst="straightConnector1">
              <a:avLst/>
            </a:prstGeom>
            <a:noFill/>
            <a:ln cap="flat" cmpd="sng" w="19050">
              <a:solidFill>
                <a:srgbClr val="38761D"/>
              </a:solidFill>
              <a:prstDash val="solid"/>
              <a:round/>
              <a:headEnd len="med" w="med" type="none"/>
              <a:tailEnd len="med" w="med" type="triangle"/>
            </a:ln>
          </p:spPr>
        </p:cxnSp>
        <p:sp>
          <p:nvSpPr>
            <p:cNvPr id="282" name="Google Shape;282;p39"/>
            <p:cNvSpPr txBox="1"/>
            <p:nvPr/>
          </p:nvSpPr>
          <p:spPr>
            <a:xfrm rot="-526451">
              <a:off x="5892519" y="2358777"/>
              <a:ext cx="2611765" cy="40027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38761D"/>
                  </a:solidFill>
                </a:rPr>
                <a:t>SYN-ACK. Seq = </a:t>
              </a:r>
              <a:r>
                <a:rPr i="1" lang="en">
                  <a:solidFill>
                    <a:srgbClr val="38761D"/>
                  </a:solidFill>
                </a:rPr>
                <a:t>y</a:t>
              </a:r>
              <a:r>
                <a:rPr lang="en">
                  <a:solidFill>
                    <a:srgbClr val="38761D"/>
                  </a:solidFill>
                </a:rPr>
                <a:t>, Ack = </a:t>
              </a:r>
              <a:r>
                <a:rPr i="1" lang="en">
                  <a:solidFill>
                    <a:srgbClr val="38761D"/>
                  </a:solidFill>
                </a:rPr>
                <a:t>x</a:t>
              </a:r>
              <a:r>
                <a:rPr lang="en">
                  <a:solidFill>
                    <a:srgbClr val="38761D"/>
                  </a:solidFill>
                </a:rPr>
                <a:t>+1</a:t>
              </a:r>
              <a:endParaRPr>
                <a:solidFill>
                  <a:srgbClr val="38761D"/>
                </a:solidFill>
              </a:endParaRPr>
            </a:p>
          </p:txBody>
        </p:sp>
      </p:grpSp>
      <p:grpSp>
        <p:nvGrpSpPr>
          <p:cNvPr id="283" name="Google Shape;283;p39"/>
          <p:cNvGrpSpPr/>
          <p:nvPr/>
        </p:nvGrpSpPr>
        <p:grpSpPr>
          <a:xfrm>
            <a:off x="5737880" y="2924275"/>
            <a:ext cx="2917800" cy="711600"/>
            <a:chOff x="5804918" y="2924275"/>
            <a:chExt cx="2917800" cy="711600"/>
          </a:xfrm>
        </p:grpSpPr>
        <p:cxnSp>
          <p:nvCxnSpPr>
            <p:cNvPr id="284" name="Google Shape;284;p39"/>
            <p:cNvCxnSpPr/>
            <p:nvPr/>
          </p:nvCxnSpPr>
          <p:spPr>
            <a:xfrm>
              <a:off x="5804918" y="3201750"/>
              <a:ext cx="2917800" cy="343800"/>
            </a:xfrm>
            <a:prstGeom prst="straightConnector1">
              <a:avLst/>
            </a:prstGeom>
            <a:noFill/>
            <a:ln cap="flat" cmpd="sng" w="19050">
              <a:solidFill>
                <a:srgbClr val="CC0000"/>
              </a:solidFill>
              <a:prstDash val="solid"/>
              <a:round/>
              <a:headEnd len="med" w="med" type="none"/>
              <a:tailEnd len="med" w="med" type="triangle"/>
            </a:ln>
          </p:spPr>
        </p:cxnSp>
        <p:sp>
          <p:nvSpPr>
            <p:cNvPr id="285" name="Google Shape;285;p39"/>
            <p:cNvSpPr txBox="1"/>
            <p:nvPr/>
          </p:nvSpPr>
          <p:spPr>
            <a:xfrm rot="439840">
              <a:off x="6134284" y="3079967"/>
              <a:ext cx="2456983" cy="400216"/>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trike="sngStrike">
                  <a:solidFill>
                    <a:srgbClr val="CC0000"/>
                  </a:solidFill>
                </a:rPr>
                <a:t>ACK. Seq = </a:t>
              </a:r>
              <a:r>
                <a:rPr i="1" lang="en" strike="sngStrike">
                  <a:solidFill>
                    <a:srgbClr val="CC0000"/>
                  </a:solidFill>
                </a:rPr>
                <a:t>x</a:t>
              </a:r>
              <a:r>
                <a:rPr lang="en" strike="sngStrike">
                  <a:solidFill>
                    <a:srgbClr val="CC0000"/>
                  </a:solidFill>
                </a:rPr>
                <a:t>+1, Ack = </a:t>
              </a:r>
              <a:r>
                <a:rPr i="1" lang="en" strike="sngStrike">
                  <a:solidFill>
                    <a:srgbClr val="CC0000"/>
                  </a:solidFill>
                </a:rPr>
                <a:t>y</a:t>
              </a:r>
              <a:r>
                <a:rPr lang="en" strike="sngStrike">
                  <a:solidFill>
                    <a:srgbClr val="CC0000"/>
                  </a:solidFill>
                </a:rPr>
                <a:t>+1</a:t>
              </a:r>
              <a:endParaRPr strike="sngStrike">
                <a:solidFill>
                  <a:srgbClr val="CC0000"/>
                </a:solidFil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t>
            </a:r>
            <a:r>
              <a:rPr lang="en"/>
              <a:t>YN Flooding: Defenses</a:t>
            </a:r>
            <a:endParaRPr/>
          </a:p>
        </p:txBody>
      </p:sp>
      <p:sp>
        <p:nvSpPr>
          <p:cNvPr id="291" name="Google Shape;291;p4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Overprovisioning</a:t>
            </a:r>
            <a:r>
              <a:rPr lang="en"/>
              <a:t>: Ensure the server has a lot of memory</a:t>
            </a:r>
            <a:endParaRPr/>
          </a:p>
          <a:p>
            <a:pPr indent="-317500" lvl="1" marL="914400" rtl="0" algn="l">
              <a:spcBef>
                <a:spcPts val="0"/>
              </a:spcBef>
              <a:spcAft>
                <a:spcPts val="0"/>
              </a:spcAft>
              <a:buSzPts val="1400"/>
              <a:buChar char="○"/>
            </a:pPr>
            <a:r>
              <a:rPr lang="en"/>
              <a:t>Can be expensive</a:t>
            </a:r>
            <a:endParaRPr/>
          </a:p>
          <a:p>
            <a:pPr indent="-342900" lvl="0" marL="457200" rtl="0" algn="l">
              <a:spcBef>
                <a:spcPts val="0"/>
              </a:spcBef>
              <a:spcAft>
                <a:spcPts val="0"/>
              </a:spcAft>
              <a:buSzPts val="1800"/>
              <a:buChar char="●"/>
            </a:pPr>
            <a:r>
              <a:rPr b="1" lang="en"/>
              <a:t>Filtering</a:t>
            </a:r>
            <a:r>
              <a:rPr lang="en"/>
              <a:t>: Ensure that only legitimate connections will create state</a:t>
            </a:r>
            <a:endParaRPr/>
          </a:p>
          <a:p>
            <a:pPr indent="-317500" lvl="1" marL="914400" rtl="0" algn="l">
              <a:spcBef>
                <a:spcPts val="0"/>
              </a:spcBef>
              <a:spcAft>
                <a:spcPts val="0"/>
              </a:spcAft>
              <a:buSzPts val="1400"/>
              <a:buChar char="○"/>
            </a:pPr>
            <a:r>
              <a:rPr lang="en"/>
              <a:t>Same problems as standard packet filtering for network-level DoS attacks</a:t>
            </a:r>
            <a:endParaRPr/>
          </a:p>
          <a:p>
            <a:pPr indent="-317500" lvl="1" marL="914400" rtl="0" algn="l">
              <a:spcBef>
                <a:spcPts val="0"/>
              </a:spcBef>
              <a:spcAft>
                <a:spcPts val="0"/>
              </a:spcAft>
              <a:buSzPts val="1400"/>
              <a:buChar char="○"/>
            </a:pPr>
            <a:r>
              <a:rPr lang="en"/>
              <a:t>Can overwhelm the filter</a:t>
            </a:r>
            <a:endParaRPr/>
          </a:p>
          <a:p>
            <a:pPr indent="-317500" lvl="1" marL="914400" rtl="0" algn="l">
              <a:spcBef>
                <a:spcPts val="0"/>
              </a:spcBef>
              <a:spcAft>
                <a:spcPts val="0"/>
              </a:spcAft>
              <a:buSzPts val="1400"/>
              <a:buChar char="○"/>
            </a:pPr>
            <a:r>
              <a:rPr lang="en"/>
              <a:t>Hard to distinguish legitimate traffic so early in the connection</a:t>
            </a:r>
            <a:endParaRPr/>
          </a:p>
          <a:p>
            <a:pPr indent="-317500" lvl="1" marL="914400" rtl="0" algn="l">
              <a:spcBef>
                <a:spcPts val="0"/>
              </a:spcBef>
              <a:spcAft>
                <a:spcPts val="0"/>
              </a:spcAft>
              <a:buSzPts val="1400"/>
              <a:buChar char="○"/>
            </a:pPr>
            <a:r>
              <a:rPr lang="en"/>
              <a:t>Attacker can spoof source address since they only need to send the SYN, not the ACK</a:t>
            </a:r>
            <a:endParaRPr/>
          </a:p>
          <a:p>
            <a:pPr indent="-342900" lvl="0" marL="457200" rtl="0" algn="l">
              <a:spcBef>
                <a:spcPts val="0"/>
              </a:spcBef>
              <a:spcAft>
                <a:spcPts val="0"/>
              </a:spcAft>
              <a:buSzPts val="1800"/>
              <a:buChar char="●"/>
            </a:pPr>
            <a:r>
              <a:rPr b="1" lang="en"/>
              <a:t>SYN cookies</a:t>
            </a:r>
            <a:r>
              <a:rPr lang="en"/>
              <a:t>: Don’t store state!</a:t>
            </a:r>
            <a:endParaRPr/>
          </a:p>
          <a:p>
            <a:pPr indent="-317500" lvl="1" marL="914400" rtl="0" algn="l">
              <a:spcBef>
                <a:spcPts val="0"/>
              </a:spcBef>
              <a:spcAft>
                <a:spcPts val="0"/>
              </a:spcAft>
              <a:buSzPts val="1400"/>
              <a:buChar char="○"/>
            </a:pPr>
            <a:r>
              <a:rPr lang="en"/>
              <a:t>Relies on the client to store the server’s state</a:t>
            </a:r>
            <a:endParaRPr/>
          </a:p>
          <a:p>
            <a:pPr indent="-317500" lvl="1" marL="914400" rtl="0" algn="l">
              <a:spcBef>
                <a:spcPts val="0"/>
              </a:spcBef>
              <a:spcAft>
                <a:spcPts val="0"/>
              </a:spcAft>
              <a:buSzPts val="1400"/>
              <a:buChar char="○"/>
            </a:pPr>
            <a:r>
              <a:rPr lang="en"/>
              <a:t>The client returns the state to the server in the ACK packet of the handshake</a:t>
            </a:r>
            <a:endParaRPr/>
          </a:p>
        </p:txBody>
      </p:sp>
      <p:sp>
        <p:nvSpPr>
          <p:cNvPr id="292" name="Google Shape;29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Idealized SYN Cookies</a:t>
            </a:r>
            <a:endParaRPr/>
          </a:p>
        </p:txBody>
      </p:sp>
      <p:sp>
        <p:nvSpPr>
          <p:cNvPr id="298" name="Google Shape;29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41"/>
          <p:cNvSpPr txBox="1"/>
          <p:nvPr/>
        </p:nvSpPr>
        <p:spPr>
          <a:xfrm>
            <a:off x="2396375" y="1132925"/>
            <a:ext cx="64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Client</a:t>
            </a:r>
            <a:endParaRPr>
              <a:solidFill>
                <a:srgbClr val="0000FF"/>
              </a:solidFill>
            </a:endParaRPr>
          </a:p>
        </p:txBody>
      </p:sp>
      <p:sp>
        <p:nvSpPr>
          <p:cNvPr id="300" name="Google Shape;300;p41"/>
          <p:cNvSpPr txBox="1"/>
          <p:nvPr/>
        </p:nvSpPr>
        <p:spPr>
          <a:xfrm>
            <a:off x="5615625" y="1132925"/>
            <a:ext cx="71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Server</a:t>
            </a:r>
            <a:endParaRPr>
              <a:solidFill>
                <a:srgbClr val="38761D"/>
              </a:solidFill>
            </a:endParaRPr>
          </a:p>
        </p:txBody>
      </p:sp>
      <p:cxnSp>
        <p:nvCxnSpPr>
          <p:cNvPr id="301" name="Google Shape;301;p41"/>
          <p:cNvCxnSpPr>
            <a:stCxn id="299" idx="2"/>
          </p:cNvCxnSpPr>
          <p:nvPr/>
        </p:nvCxnSpPr>
        <p:spPr>
          <a:xfrm flipH="1">
            <a:off x="2709125" y="1533125"/>
            <a:ext cx="10500" cy="3093000"/>
          </a:xfrm>
          <a:prstGeom prst="straightConnector1">
            <a:avLst/>
          </a:prstGeom>
          <a:noFill/>
          <a:ln cap="flat" cmpd="sng" w="19050">
            <a:solidFill>
              <a:srgbClr val="0000FF"/>
            </a:solidFill>
            <a:prstDash val="solid"/>
            <a:round/>
            <a:headEnd len="med" w="med" type="none"/>
            <a:tailEnd len="med" w="med" type="none"/>
          </a:ln>
        </p:spPr>
      </p:cxnSp>
      <p:cxnSp>
        <p:nvCxnSpPr>
          <p:cNvPr id="302" name="Google Shape;302;p41"/>
          <p:cNvCxnSpPr/>
          <p:nvPr/>
        </p:nvCxnSpPr>
        <p:spPr>
          <a:xfrm flipH="1">
            <a:off x="5967375" y="1533125"/>
            <a:ext cx="10500" cy="3093000"/>
          </a:xfrm>
          <a:prstGeom prst="straightConnector1">
            <a:avLst/>
          </a:prstGeom>
          <a:noFill/>
          <a:ln cap="flat" cmpd="sng" w="19050">
            <a:solidFill>
              <a:srgbClr val="38761D"/>
            </a:solidFill>
            <a:prstDash val="solid"/>
            <a:round/>
            <a:headEnd len="med" w="med" type="none"/>
            <a:tailEnd len="med" w="med" type="none"/>
          </a:ln>
        </p:spPr>
      </p:cxnSp>
      <p:grpSp>
        <p:nvGrpSpPr>
          <p:cNvPr id="303" name="Google Shape;303;p41"/>
          <p:cNvGrpSpPr/>
          <p:nvPr/>
        </p:nvGrpSpPr>
        <p:grpSpPr>
          <a:xfrm>
            <a:off x="2707848" y="1470400"/>
            <a:ext cx="3288427" cy="703800"/>
            <a:chOff x="2707848" y="1699000"/>
            <a:chExt cx="3288427" cy="703800"/>
          </a:xfrm>
        </p:grpSpPr>
        <p:cxnSp>
          <p:nvCxnSpPr>
            <p:cNvPr id="304" name="Google Shape;304;p41"/>
            <p:cNvCxnSpPr/>
            <p:nvPr/>
          </p:nvCxnSpPr>
          <p:spPr>
            <a:xfrm>
              <a:off x="2736775" y="2021650"/>
              <a:ext cx="3259500" cy="343800"/>
            </a:xfrm>
            <a:prstGeom prst="straightConnector1">
              <a:avLst/>
            </a:prstGeom>
            <a:noFill/>
            <a:ln cap="flat" cmpd="sng" w="19050">
              <a:solidFill>
                <a:srgbClr val="0000FF"/>
              </a:solidFill>
              <a:prstDash val="solid"/>
              <a:round/>
              <a:headEnd len="med" w="med" type="none"/>
              <a:tailEnd len="med" w="med" type="triangle"/>
            </a:ln>
          </p:spPr>
        </p:cxnSp>
        <p:sp>
          <p:nvSpPr>
            <p:cNvPr id="305" name="Google Shape;305;p41"/>
            <p:cNvSpPr txBox="1"/>
            <p:nvPr/>
          </p:nvSpPr>
          <p:spPr>
            <a:xfrm rot="394242">
              <a:off x="2716651" y="1881640"/>
              <a:ext cx="3211596"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FF"/>
                  </a:solidFill>
                </a:rPr>
                <a:t>SYN</a:t>
              </a:r>
              <a:r>
                <a:rPr lang="en" sz="1000">
                  <a:solidFill>
                    <a:srgbClr val="0000FF"/>
                  </a:solidFill>
                </a:rPr>
                <a:t>. Seq = </a:t>
              </a:r>
              <a:r>
                <a:rPr i="1" lang="en" sz="1000">
                  <a:solidFill>
                    <a:srgbClr val="0000FF"/>
                  </a:solidFill>
                </a:rPr>
                <a:t>x</a:t>
              </a:r>
              <a:endParaRPr sz="1000">
                <a:solidFill>
                  <a:srgbClr val="0000FF"/>
                </a:solidFill>
              </a:endParaRPr>
            </a:p>
          </p:txBody>
        </p:sp>
      </p:grpSp>
      <p:grpSp>
        <p:nvGrpSpPr>
          <p:cNvPr id="306" name="Google Shape;306;p41"/>
          <p:cNvGrpSpPr/>
          <p:nvPr/>
        </p:nvGrpSpPr>
        <p:grpSpPr>
          <a:xfrm>
            <a:off x="2723175" y="2342705"/>
            <a:ext cx="3273000" cy="743700"/>
            <a:chOff x="2723175" y="2266505"/>
            <a:chExt cx="3273000" cy="743700"/>
          </a:xfrm>
        </p:grpSpPr>
        <p:cxnSp>
          <p:nvCxnSpPr>
            <p:cNvPr id="307" name="Google Shape;307;p41"/>
            <p:cNvCxnSpPr/>
            <p:nvPr/>
          </p:nvCxnSpPr>
          <p:spPr>
            <a:xfrm flipH="1">
              <a:off x="2723175" y="2531625"/>
              <a:ext cx="3273000" cy="453900"/>
            </a:xfrm>
            <a:prstGeom prst="straightConnector1">
              <a:avLst/>
            </a:prstGeom>
            <a:noFill/>
            <a:ln cap="flat" cmpd="sng" w="19050">
              <a:solidFill>
                <a:srgbClr val="38761D"/>
              </a:solidFill>
              <a:prstDash val="solid"/>
              <a:round/>
              <a:headEnd len="med" w="med" type="none"/>
              <a:tailEnd len="med" w="med" type="triangle"/>
            </a:ln>
          </p:spPr>
        </p:cxnSp>
        <p:sp>
          <p:nvSpPr>
            <p:cNvPr id="308" name="Google Shape;308;p41"/>
            <p:cNvSpPr txBox="1"/>
            <p:nvPr/>
          </p:nvSpPr>
          <p:spPr>
            <a:xfrm rot="-471777">
              <a:off x="2833270" y="2469051"/>
              <a:ext cx="2984560" cy="33860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1100"/>
                <a:buFont typeface="Arial"/>
                <a:buNone/>
              </a:pPr>
              <a:r>
                <a:rPr lang="en" sz="1000">
                  <a:solidFill>
                    <a:srgbClr val="38761D"/>
                  </a:solidFill>
                </a:rPr>
                <a:t>SYN-ACK. Seq = </a:t>
              </a:r>
              <a:r>
                <a:rPr i="1" lang="en" sz="1000">
                  <a:solidFill>
                    <a:srgbClr val="38761D"/>
                  </a:solidFill>
                </a:rPr>
                <a:t>y</a:t>
              </a:r>
              <a:r>
                <a:rPr lang="en" sz="1000">
                  <a:solidFill>
                    <a:srgbClr val="38761D"/>
                  </a:solidFill>
                </a:rPr>
                <a:t>. Ack = </a:t>
              </a:r>
              <a:r>
                <a:rPr i="1" lang="en" sz="1000">
                  <a:solidFill>
                    <a:srgbClr val="38761D"/>
                  </a:solidFill>
                </a:rPr>
                <a:t>x</a:t>
              </a:r>
              <a:r>
                <a:rPr lang="en" sz="1000">
                  <a:solidFill>
                    <a:srgbClr val="38761D"/>
                  </a:solidFill>
                </a:rPr>
                <a:t>+1. </a:t>
              </a:r>
              <a:r>
                <a:rPr b="1" lang="en" sz="1000">
                  <a:solidFill>
                    <a:srgbClr val="38761D"/>
                  </a:solidFill>
                </a:rPr>
                <a:t>&lt;State&gt;</a:t>
              </a:r>
              <a:endParaRPr b="1" sz="1000">
                <a:solidFill>
                  <a:srgbClr val="38761D"/>
                </a:solidFill>
              </a:endParaRPr>
            </a:p>
          </p:txBody>
        </p:sp>
      </p:grpSp>
      <p:grpSp>
        <p:nvGrpSpPr>
          <p:cNvPr id="309" name="Google Shape;309;p41"/>
          <p:cNvGrpSpPr/>
          <p:nvPr/>
        </p:nvGrpSpPr>
        <p:grpSpPr>
          <a:xfrm>
            <a:off x="2715099" y="3300049"/>
            <a:ext cx="3281176" cy="694200"/>
            <a:chOff x="2715099" y="2919049"/>
            <a:chExt cx="3281176" cy="694200"/>
          </a:xfrm>
        </p:grpSpPr>
        <p:cxnSp>
          <p:nvCxnSpPr>
            <p:cNvPr id="310" name="Google Shape;310;p41"/>
            <p:cNvCxnSpPr/>
            <p:nvPr/>
          </p:nvCxnSpPr>
          <p:spPr>
            <a:xfrm>
              <a:off x="2736775" y="3240850"/>
              <a:ext cx="3259500" cy="343800"/>
            </a:xfrm>
            <a:prstGeom prst="straightConnector1">
              <a:avLst/>
            </a:prstGeom>
            <a:noFill/>
            <a:ln cap="flat" cmpd="sng" w="19050">
              <a:solidFill>
                <a:srgbClr val="0000FF"/>
              </a:solidFill>
              <a:prstDash val="solid"/>
              <a:round/>
              <a:headEnd len="med" w="med" type="none"/>
              <a:tailEnd len="med" w="med" type="triangle"/>
            </a:ln>
          </p:spPr>
        </p:cxnSp>
        <p:sp>
          <p:nvSpPr>
            <p:cNvPr id="311" name="Google Shape;311;p41"/>
            <p:cNvSpPr txBox="1"/>
            <p:nvPr/>
          </p:nvSpPr>
          <p:spPr>
            <a:xfrm rot="394211">
              <a:off x="2724178" y="3096889"/>
              <a:ext cx="3127943"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FF"/>
                  </a:solidFill>
                </a:rPr>
                <a:t>ACK. Seq = </a:t>
              </a:r>
              <a:r>
                <a:rPr i="1" lang="en" sz="1000">
                  <a:solidFill>
                    <a:srgbClr val="0000FF"/>
                  </a:solidFill>
                </a:rPr>
                <a:t>x</a:t>
              </a:r>
              <a:r>
                <a:rPr lang="en" sz="1000">
                  <a:solidFill>
                    <a:srgbClr val="0000FF"/>
                  </a:solidFill>
                </a:rPr>
                <a:t>+1, Ack = </a:t>
              </a:r>
              <a:r>
                <a:rPr i="1" lang="en" sz="1000">
                  <a:solidFill>
                    <a:srgbClr val="0000FF"/>
                  </a:solidFill>
                </a:rPr>
                <a:t>y</a:t>
              </a:r>
              <a:r>
                <a:rPr lang="en" sz="1000">
                  <a:solidFill>
                    <a:srgbClr val="0000FF"/>
                  </a:solidFill>
                </a:rPr>
                <a:t>+1. </a:t>
              </a:r>
              <a:r>
                <a:rPr b="1" lang="en" sz="1000">
                  <a:solidFill>
                    <a:srgbClr val="0000FF"/>
                  </a:solidFill>
                </a:rPr>
                <a:t>&lt;State&gt;</a:t>
              </a:r>
              <a:r>
                <a:rPr lang="en" sz="1000">
                  <a:solidFill>
                    <a:srgbClr val="0000FF"/>
                  </a:solidFill>
                </a:rPr>
                <a:t>.</a:t>
              </a:r>
              <a:r>
                <a:rPr lang="en" sz="1000">
                  <a:solidFill>
                    <a:srgbClr val="0000FF"/>
                  </a:solidFill>
                </a:rPr>
                <a:t> Data</a:t>
              </a:r>
              <a:endParaRPr sz="1100">
                <a:solidFill>
                  <a:srgbClr val="0000FF"/>
                </a:solidFill>
              </a:endParaRPr>
            </a:p>
          </p:txBody>
        </p:sp>
      </p:grpSp>
      <p:grpSp>
        <p:nvGrpSpPr>
          <p:cNvPr id="312" name="Google Shape;312;p41"/>
          <p:cNvGrpSpPr/>
          <p:nvPr/>
        </p:nvGrpSpPr>
        <p:grpSpPr>
          <a:xfrm>
            <a:off x="6041475" y="1395400"/>
            <a:ext cx="2793600" cy="1262100"/>
            <a:chOff x="6041475" y="1395400"/>
            <a:chExt cx="2793600" cy="1262100"/>
          </a:xfrm>
        </p:grpSpPr>
        <p:sp>
          <p:nvSpPr>
            <p:cNvPr id="313" name="Google Shape;313;p41"/>
            <p:cNvSpPr txBox="1"/>
            <p:nvPr/>
          </p:nvSpPr>
          <p:spPr>
            <a:xfrm>
              <a:off x="6532275" y="1395400"/>
              <a:ext cx="2302800" cy="12621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server generates state for the client but </a:t>
              </a:r>
              <a:r>
                <a:rPr i="1" lang="en"/>
                <a:t>doesn’t save it</a:t>
              </a:r>
              <a:r>
                <a:rPr lang="en"/>
                <a:t>, sending it to the client instead encoded with a secret</a:t>
              </a:r>
              <a:endParaRPr/>
            </a:p>
          </p:txBody>
        </p:sp>
        <p:cxnSp>
          <p:nvCxnSpPr>
            <p:cNvPr id="314" name="Google Shape;314;p41"/>
            <p:cNvCxnSpPr>
              <a:stCxn id="313" idx="1"/>
            </p:cNvCxnSpPr>
            <p:nvPr/>
          </p:nvCxnSpPr>
          <p:spPr>
            <a:xfrm flipH="1">
              <a:off x="6041475" y="2026450"/>
              <a:ext cx="490800" cy="482400"/>
            </a:xfrm>
            <a:prstGeom prst="straightConnector1">
              <a:avLst/>
            </a:prstGeom>
            <a:noFill/>
            <a:ln cap="flat" cmpd="sng" w="9525">
              <a:solidFill>
                <a:schemeClr val="dk2"/>
              </a:solidFill>
              <a:prstDash val="solid"/>
              <a:round/>
              <a:headEnd len="med" w="med" type="none"/>
              <a:tailEnd len="med" w="med" type="triangle"/>
            </a:ln>
          </p:spPr>
        </p:cxnSp>
      </p:grpSp>
      <p:grpSp>
        <p:nvGrpSpPr>
          <p:cNvPr id="315" name="Google Shape;315;p41"/>
          <p:cNvGrpSpPr/>
          <p:nvPr/>
        </p:nvGrpSpPr>
        <p:grpSpPr>
          <a:xfrm>
            <a:off x="43325" y="2855500"/>
            <a:ext cx="2550300" cy="831300"/>
            <a:chOff x="43325" y="2855500"/>
            <a:chExt cx="2550300" cy="831300"/>
          </a:xfrm>
        </p:grpSpPr>
        <p:sp>
          <p:nvSpPr>
            <p:cNvPr id="316" name="Google Shape;316;p41"/>
            <p:cNvSpPr txBox="1"/>
            <p:nvPr/>
          </p:nvSpPr>
          <p:spPr>
            <a:xfrm>
              <a:off x="43325" y="2855500"/>
              <a:ext cx="23532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client stores the state on behalf of the server and returns it in the ACK packet</a:t>
              </a:r>
              <a:endParaRPr/>
            </a:p>
          </p:txBody>
        </p:sp>
        <p:cxnSp>
          <p:nvCxnSpPr>
            <p:cNvPr id="317" name="Google Shape;317;p41"/>
            <p:cNvCxnSpPr>
              <a:stCxn id="316" idx="3"/>
            </p:cNvCxnSpPr>
            <p:nvPr/>
          </p:nvCxnSpPr>
          <p:spPr>
            <a:xfrm>
              <a:off x="2396525" y="3271150"/>
              <a:ext cx="197100" cy="195000"/>
            </a:xfrm>
            <a:prstGeom prst="straightConnector1">
              <a:avLst/>
            </a:prstGeom>
            <a:noFill/>
            <a:ln cap="flat" cmpd="sng" w="9525">
              <a:solidFill>
                <a:schemeClr val="dk2"/>
              </a:solidFill>
              <a:prstDash val="solid"/>
              <a:round/>
              <a:headEnd len="med" w="med" type="none"/>
              <a:tailEnd len="med" w="med" type="triangle"/>
            </a:ln>
          </p:spPr>
        </p:cxnSp>
      </p:grpSp>
      <p:sp>
        <p:nvSpPr>
          <p:cNvPr id="318" name="Google Shape;318;p41"/>
          <p:cNvSpPr txBox="1"/>
          <p:nvPr/>
        </p:nvSpPr>
        <p:spPr>
          <a:xfrm>
            <a:off x="6365250" y="2905625"/>
            <a:ext cx="2302800" cy="14775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that the handshake is complete, only now does the server allocate state for the connection, after checking the cookie against the secret</a:t>
            </a:r>
            <a:endParaRPr/>
          </a:p>
        </p:txBody>
      </p:sp>
      <p:sp>
        <p:nvSpPr>
          <p:cNvPr id="319" name="Google Shape;319;p41"/>
          <p:cNvSpPr txBox="1"/>
          <p:nvPr/>
        </p:nvSpPr>
        <p:spPr>
          <a:xfrm>
            <a:off x="1104700" y="4476025"/>
            <a:ext cx="65166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Issue: TCP doesn’t have a mechanism to store state! What field of the SYN-ACK packet could we store data 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a:t>
            </a:r>
            <a:r>
              <a:rPr lang="en"/>
              <a:t> SYN Cookies</a:t>
            </a:r>
            <a:endParaRPr/>
          </a:p>
        </p:txBody>
      </p:sp>
      <p:sp>
        <p:nvSpPr>
          <p:cNvPr id="325" name="Google Shape;325;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42"/>
          <p:cNvSpPr txBox="1"/>
          <p:nvPr/>
        </p:nvSpPr>
        <p:spPr>
          <a:xfrm>
            <a:off x="2396375" y="1132925"/>
            <a:ext cx="64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Client</a:t>
            </a:r>
            <a:endParaRPr>
              <a:solidFill>
                <a:srgbClr val="0000FF"/>
              </a:solidFill>
            </a:endParaRPr>
          </a:p>
        </p:txBody>
      </p:sp>
      <p:sp>
        <p:nvSpPr>
          <p:cNvPr id="327" name="Google Shape;327;p42"/>
          <p:cNvSpPr txBox="1"/>
          <p:nvPr/>
        </p:nvSpPr>
        <p:spPr>
          <a:xfrm>
            <a:off x="5615625" y="1132925"/>
            <a:ext cx="71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Server</a:t>
            </a:r>
            <a:endParaRPr>
              <a:solidFill>
                <a:srgbClr val="38761D"/>
              </a:solidFill>
            </a:endParaRPr>
          </a:p>
        </p:txBody>
      </p:sp>
      <p:cxnSp>
        <p:nvCxnSpPr>
          <p:cNvPr id="328" name="Google Shape;328;p42"/>
          <p:cNvCxnSpPr>
            <a:stCxn id="326" idx="2"/>
          </p:cNvCxnSpPr>
          <p:nvPr/>
        </p:nvCxnSpPr>
        <p:spPr>
          <a:xfrm flipH="1">
            <a:off x="2709125" y="1533125"/>
            <a:ext cx="10500" cy="3093000"/>
          </a:xfrm>
          <a:prstGeom prst="straightConnector1">
            <a:avLst/>
          </a:prstGeom>
          <a:noFill/>
          <a:ln cap="flat" cmpd="sng" w="19050">
            <a:solidFill>
              <a:srgbClr val="0000FF"/>
            </a:solidFill>
            <a:prstDash val="solid"/>
            <a:round/>
            <a:headEnd len="med" w="med" type="none"/>
            <a:tailEnd len="med" w="med" type="none"/>
          </a:ln>
        </p:spPr>
      </p:cxnSp>
      <p:cxnSp>
        <p:nvCxnSpPr>
          <p:cNvPr id="329" name="Google Shape;329;p42"/>
          <p:cNvCxnSpPr/>
          <p:nvPr/>
        </p:nvCxnSpPr>
        <p:spPr>
          <a:xfrm flipH="1">
            <a:off x="5967375" y="1533125"/>
            <a:ext cx="10500" cy="3093000"/>
          </a:xfrm>
          <a:prstGeom prst="straightConnector1">
            <a:avLst/>
          </a:prstGeom>
          <a:noFill/>
          <a:ln cap="flat" cmpd="sng" w="19050">
            <a:solidFill>
              <a:srgbClr val="38761D"/>
            </a:solidFill>
            <a:prstDash val="solid"/>
            <a:round/>
            <a:headEnd len="med" w="med" type="none"/>
            <a:tailEnd len="med" w="med" type="none"/>
          </a:ln>
        </p:spPr>
      </p:cxnSp>
      <p:grpSp>
        <p:nvGrpSpPr>
          <p:cNvPr id="330" name="Google Shape;330;p42"/>
          <p:cNvGrpSpPr/>
          <p:nvPr/>
        </p:nvGrpSpPr>
        <p:grpSpPr>
          <a:xfrm>
            <a:off x="2707848" y="1470400"/>
            <a:ext cx="3288427" cy="703800"/>
            <a:chOff x="2707848" y="1699000"/>
            <a:chExt cx="3288427" cy="703800"/>
          </a:xfrm>
        </p:grpSpPr>
        <p:cxnSp>
          <p:nvCxnSpPr>
            <p:cNvPr id="331" name="Google Shape;331;p42"/>
            <p:cNvCxnSpPr/>
            <p:nvPr/>
          </p:nvCxnSpPr>
          <p:spPr>
            <a:xfrm>
              <a:off x="2736775" y="2021650"/>
              <a:ext cx="3259500" cy="343800"/>
            </a:xfrm>
            <a:prstGeom prst="straightConnector1">
              <a:avLst/>
            </a:prstGeom>
            <a:noFill/>
            <a:ln cap="flat" cmpd="sng" w="19050">
              <a:solidFill>
                <a:srgbClr val="0000FF"/>
              </a:solidFill>
              <a:prstDash val="solid"/>
              <a:round/>
              <a:headEnd len="med" w="med" type="none"/>
              <a:tailEnd len="med" w="med" type="triangle"/>
            </a:ln>
          </p:spPr>
        </p:cxnSp>
        <p:sp>
          <p:nvSpPr>
            <p:cNvPr id="332" name="Google Shape;332;p42"/>
            <p:cNvSpPr txBox="1"/>
            <p:nvPr/>
          </p:nvSpPr>
          <p:spPr>
            <a:xfrm rot="394242">
              <a:off x="2716651" y="1881640"/>
              <a:ext cx="3211596"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FF"/>
                  </a:solidFill>
                </a:rPr>
                <a:t>SYN. Seq = </a:t>
              </a:r>
              <a:r>
                <a:rPr i="1" lang="en" sz="1000">
                  <a:solidFill>
                    <a:srgbClr val="0000FF"/>
                  </a:solidFill>
                </a:rPr>
                <a:t>x</a:t>
              </a:r>
              <a:endParaRPr sz="1000">
                <a:solidFill>
                  <a:srgbClr val="0000FF"/>
                </a:solidFill>
              </a:endParaRPr>
            </a:p>
          </p:txBody>
        </p:sp>
      </p:grpSp>
      <p:grpSp>
        <p:nvGrpSpPr>
          <p:cNvPr id="333" name="Google Shape;333;p42"/>
          <p:cNvGrpSpPr/>
          <p:nvPr/>
        </p:nvGrpSpPr>
        <p:grpSpPr>
          <a:xfrm>
            <a:off x="2723175" y="2342705"/>
            <a:ext cx="3273000" cy="743700"/>
            <a:chOff x="2723175" y="2266505"/>
            <a:chExt cx="3273000" cy="743700"/>
          </a:xfrm>
        </p:grpSpPr>
        <p:cxnSp>
          <p:nvCxnSpPr>
            <p:cNvPr id="334" name="Google Shape;334;p42"/>
            <p:cNvCxnSpPr/>
            <p:nvPr/>
          </p:nvCxnSpPr>
          <p:spPr>
            <a:xfrm flipH="1">
              <a:off x="2723175" y="2531625"/>
              <a:ext cx="3273000" cy="453900"/>
            </a:xfrm>
            <a:prstGeom prst="straightConnector1">
              <a:avLst/>
            </a:prstGeom>
            <a:noFill/>
            <a:ln cap="flat" cmpd="sng" w="19050">
              <a:solidFill>
                <a:srgbClr val="38761D"/>
              </a:solidFill>
              <a:prstDash val="solid"/>
              <a:round/>
              <a:headEnd len="med" w="med" type="none"/>
              <a:tailEnd len="med" w="med" type="triangle"/>
            </a:ln>
          </p:spPr>
        </p:cxnSp>
        <p:sp>
          <p:nvSpPr>
            <p:cNvPr id="335" name="Google Shape;335;p42"/>
            <p:cNvSpPr txBox="1"/>
            <p:nvPr/>
          </p:nvSpPr>
          <p:spPr>
            <a:xfrm rot="-471777">
              <a:off x="2833270" y="2469051"/>
              <a:ext cx="2984560" cy="33860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1100"/>
                <a:buFont typeface="Arial"/>
                <a:buNone/>
              </a:pPr>
              <a:r>
                <a:rPr lang="en" sz="1000">
                  <a:solidFill>
                    <a:srgbClr val="38761D"/>
                  </a:solidFill>
                </a:rPr>
                <a:t>SYN-ACK. Seq = </a:t>
              </a:r>
              <a:r>
                <a:rPr b="1" i="1" lang="en" sz="1000">
                  <a:solidFill>
                    <a:srgbClr val="38761D"/>
                  </a:solidFill>
                </a:rPr>
                <a:t>&lt;Encoded State&gt;</a:t>
              </a:r>
              <a:r>
                <a:rPr lang="en" sz="1000">
                  <a:solidFill>
                    <a:srgbClr val="38761D"/>
                  </a:solidFill>
                </a:rPr>
                <a:t>. Ack = </a:t>
              </a:r>
              <a:r>
                <a:rPr i="1" lang="en" sz="1000">
                  <a:solidFill>
                    <a:srgbClr val="38761D"/>
                  </a:solidFill>
                </a:rPr>
                <a:t>x</a:t>
              </a:r>
              <a:r>
                <a:rPr lang="en" sz="1000">
                  <a:solidFill>
                    <a:srgbClr val="38761D"/>
                  </a:solidFill>
                </a:rPr>
                <a:t>+1</a:t>
              </a:r>
              <a:endParaRPr b="1" sz="1000">
                <a:solidFill>
                  <a:srgbClr val="38761D"/>
                </a:solidFill>
              </a:endParaRPr>
            </a:p>
          </p:txBody>
        </p:sp>
      </p:grpSp>
      <p:grpSp>
        <p:nvGrpSpPr>
          <p:cNvPr id="336" name="Google Shape;336;p42"/>
          <p:cNvGrpSpPr/>
          <p:nvPr/>
        </p:nvGrpSpPr>
        <p:grpSpPr>
          <a:xfrm>
            <a:off x="2715099" y="3300049"/>
            <a:ext cx="3281176" cy="694200"/>
            <a:chOff x="2715099" y="2919049"/>
            <a:chExt cx="3281176" cy="694200"/>
          </a:xfrm>
        </p:grpSpPr>
        <p:cxnSp>
          <p:nvCxnSpPr>
            <p:cNvPr id="337" name="Google Shape;337;p42"/>
            <p:cNvCxnSpPr/>
            <p:nvPr/>
          </p:nvCxnSpPr>
          <p:spPr>
            <a:xfrm>
              <a:off x="2736775" y="3240850"/>
              <a:ext cx="3259500" cy="343800"/>
            </a:xfrm>
            <a:prstGeom prst="straightConnector1">
              <a:avLst/>
            </a:prstGeom>
            <a:noFill/>
            <a:ln cap="flat" cmpd="sng" w="19050">
              <a:solidFill>
                <a:srgbClr val="0000FF"/>
              </a:solidFill>
              <a:prstDash val="solid"/>
              <a:round/>
              <a:headEnd len="med" w="med" type="none"/>
              <a:tailEnd len="med" w="med" type="triangle"/>
            </a:ln>
          </p:spPr>
        </p:cxnSp>
        <p:sp>
          <p:nvSpPr>
            <p:cNvPr id="338" name="Google Shape;338;p42"/>
            <p:cNvSpPr txBox="1"/>
            <p:nvPr/>
          </p:nvSpPr>
          <p:spPr>
            <a:xfrm rot="394211">
              <a:off x="2724178" y="3096889"/>
              <a:ext cx="3127943"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FF"/>
                  </a:solidFill>
                </a:rPr>
                <a:t>ACK. Seq = </a:t>
              </a:r>
              <a:r>
                <a:rPr i="1" lang="en" sz="1000">
                  <a:solidFill>
                    <a:srgbClr val="0000FF"/>
                  </a:solidFill>
                </a:rPr>
                <a:t>x</a:t>
              </a:r>
              <a:r>
                <a:rPr lang="en" sz="1000">
                  <a:solidFill>
                    <a:srgbClr val="0000FF"/>
                  </a:solidFill>
                </a:rPr>
                <a:t>+1, Ack = </a:t>
              </a:r>
              <a:r>
                <a:rPr b="1" i="1" lang="en" sz="1000">
                  <a:solidFill>
                    <a:srgbClr val="0000FF"/>
                  </a:solidFill>
                </a:rPr>
                <a:t>&lt;Encoded State&gt;</a:t>
              </a:r>
              <a:r>
                <a:rPr lang="en" sz="1000">
                  <a:solidFill>
                    <a:srgbClr val="0000FF"/>
                  </a:solidFill>
                </a:rPr>
                <a:t>+1. Data</a:t>
              </a:r>
              <a:endParaRPr sz="1100">
                <a:solidFill>
                  <a:srgbClr val="0000FF"/>
                </a:solidFill>
              </a:endParaRPr>
            </a:p>
          </p:txBody>
        </p:sp>
      </p:grpSp>
      <p:grpSp>
        <p:nvGrpSpPr>
          <p:cNvPr id="339" name="Google Shape;339;p42"/>
          <p:cNvGrpSpPr/>
          <p:nvPr/>
        </p:nvGrpSpPr>
        <p:grpSpPr>
          <a:xfrm>
            <a:off x="6041475" y="1395400"/>
            <a:ext cx="2793600" cy="1262100"/>
            <a:chOff x="6041475" y="1395400"/>
            <a:chExt cx="2793600" cy="1262100"/>
          </a:xfrm>
        </p:grpSpPr>
        <p:sp>
          <p:nvSpPr>
            <p:cNvPr id="340" name="Google Shape;340;p42"/>
            <p:cNvSpPr txBox="1"/>
            <p:nvPr/>
          </p:nvSpPr>
          <p:spPr>
            <a:xfrm>
              <a:off x="6532275" y="1395400"/>
              <a:ext cx="2302800" cy="12621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server generates state for the client but </a:t>
              </a:r>
              <a:r>
                <a:rPr i="1" lang="en"/>
                <a:t>doesn’t save it</a:t>
              </a:r>
              <a:r>
                <a:rPr lang="en"/>
                <a:t>, encoding it in the sequence number with a secret</a:t>
              </a:r>
              <a:endParaRPr/>
            </a:p>
          </p:txBody>
        </p:sp>
        <p:cxnSp>
          <p:nvCxnSpPr>
            <p:cNvPr id="341" name="Google Shape;341;p42"/>
            <p:cNvCxnSpPr>
              <a:stCxn id="340" idx="1"/>
            </p:cNvCxnSpPr>
            <p:nvPr/>
          </p:nvCxnSpPr>
          <p:spPr>
            <a:xfrm flipH="1">
              <a:off x="6041475" y="2026450"/>
              <a:ext cx="490800" cy="482400"/>
            </a:xfrm>
            <a:prstGeom prst="straightConnector1">
              <a:avLst/>
            </a:prstGeom>
            <a:noFill/>
            <a:ln cap="flat" cmpd="sng" w="9525">
              <a:solidFill>
                <a:schemeClr val="dk2"/>
              </a:solidFill>
              <a:prstDash val="solid"/>
              <a:round/>
              <a:headEnd len="med" w="med" type="none"/>
              <a:tailEnd len="med" w="med" type="triangle"/>
            </a:ln>
          </p:spPr>
        </p:cxnSp>
      </p:grpSp>
      <p:grpSp>
        <p:nvGrpSpPr>
          <p:cNvPr id="342" name="Google Shape;342;p42"/>
          <p:cNvGrpSpPr/>
          <p:nvPr/>
        </p:nvGrpSpPr>
        <p:grpSpPr>
          <a:xfrm>
            <a:off x="43325" y="2855500"/>
            <a:ext cx="2550300" cy="1046700"/>
            <a:chOff x="43325" y="2855500"/>
            <a:chExt cx="2550300" cy="1046700"/>
          </a:xfrm>
        </p:grpSpPr>
        <p:sp>
          <p:nvSpPr>
            <p:cNvPr id="343" name="Google Shape;343;p42"/>
            <p:cNvSpPr txBox="1"/>
            <p:nvPr/>
          </p:nvSpPr>
          <p:spPr>
            <a:xfrm>
              <a:off x="43325" y="2855500"/>
              <a:ext cx="2353200" cy="10467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client remembers the sequence number and returns it in the ACK number</a:t>
              </a:r>
              <a:endParaRPr/>
            </a:p>
          </p:txBody>
        </p:sp>
        <p:cxnSp>
          <p:nvCxnSpPr>
            <p:cNvPr id="344" name="Google Shape;344;p42"/>
            <p:cNvCxnSpPr>
              <a:stCxn id="343" idx="3"/>
            </p:cNvCxnSpPr>
            <p:nvPr/>
          </p:nvCxnSpPr>
          <p:spPr>
            <a:xfrm>
              <a:off x="2396525" y="3378850"/>
              <a:ext cx="197100" cy="195000"/>
            </a:xfrm>
            <a:prstGeom prst="straightConnector1">
              <a:avLst/>
            </a:prstGeom>
            <a:noFill/>
            <a:ln cap="flat" cmpd="sng" w="9525">
              <a:solidFill>
                <a:schemeClr val="dk2"/>
              </a:solidFill>
              <a:prstDash val="solid"/>
              <a:round/>
              <a:headEnd len="med" w="med" type="none"/>
              <a:tailEnd len="med" w="med" type="triangle"/>
            </a:ln>
          </p:spPr>
        </p:cxnSp>
      </p:grpSp>
      <p:sp>
        <p:nvSpPr>
          <p:cNvPr id="345" name="Google Shape;345;p42"/>
          <p:cNvSpPr txBox="1"/>
          <p:nvPr/>
        </p:nvSpPr>
        <p:spPr>
          <a:xfrm>
            <a:off x="6365250" y="2905625"/>
            <a:ext cx="2302800" cy="14775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that the handshake is complete, only now does the server allocate state for the connection, after checking the cookie against the secret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 SYN Cookies</a:t>
            </a:r>
            <a:endParaRPr/>
          </a:p>
        </p:txBody>
      </p:sp>
      <p:sp>
        <p:nvSpPr>
          <p:cNvPr id="351" name="Google Shape;351;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Observation: The server doesn’t create state until the handshake is completed, so the attacker can’t spoof source addresses</a:t>
            </a:r>
            <a:endParaRPr/>
          </a:p>
          <a:p>
            <a:pPr indent="-317500" lvl="1" marL="914400" rtl="0" algn="l">
              <a:spcBef>
                <a:spcPts val="0"/>
              </a:spcBef>
              <a:spcAft>
                <a:spcPts val="0"/>
              </a:spcAft>
              <a:buSzPts val="1400"/>
              <a:buChar char="○"/>
            </a:pPr>
            <a:r>
              <a:rPr lang="en"/>
              <a:t>Filtering becomes easier with SYN cookies</a:t>
            </a:r>
            <a:endParaRPr/>
          </a:p>
          <a:p>
            <a:pPr indent="-342900" lvl="0" marL="457200" rtl="0" algn="l">
              <a:spcBef>
                <a:spcPts val="0"/>
              </a:spcBef>
              <a:spcAft>
                <a:spcPts val="0"/>
              </a:spcAft>
              <a:buSzPts val="1800"/>
              <a:buChar char="●"/>
            </a:pPr>
            <a:r>
              <a:rPr lang="en"/>
              <a:t>We can generalize this: Instead of holding state in the server, encode it with a secret and send it to the client, who will return it when it is next needed</a:t>
            </a:r>
            <a:endParaRPr/>
          </a:p>
          <a:p>
            <a:pPr indent="-317500" lvl="1" marL="914400" rtl="0" algn="l">
              <a:spcBef>
                <a:spcPts val="0"/>
              </a:spcBef>
              <a:spcAft>
                <a:spcPts val="0"/>
              </a:spcAft>
              <a:buSzPts val="1400"/>
              <a:buChar char="○"/>
            </a:pPr>
            <a:r>
              <a:rPr lang="en"/>
              <a:t>Limitation: Sequence numbers only allow storing up to 32 bits of state (and maybe less, because maybe we want to include a MAC as well)</a:t>
            </a:r>
            <a:endParaRPr/>
          </a:p>
        </p:txBody>
      </p:sp>
      <p:sp>
        <p:nvSpPr>
          <p:cNvPr id="352" name="Google Shape;352;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Firewalls</a:t>
            </a:r>
            <a:endParaRPr/>
          </a:p>
        </p:txBody>
      </p:sp>
      <p:sp>
        <p:nvSpPr>
          <p:cNvPr id="358" name="Google Shape;358;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 Scalable Defenses</a:t>
            </a:r>
            <a:endParaRPr/>
          </a:p>
        </p:txBody>
      </p:sp>
      <p:sp>
        <p:nvSpPr>
          <p:cNvPr id="364" name="Google Shape;364;p45"/>
          <p:cNvSpPr txBox="1"/>
          <p:nvPr>
            <p:ph idx="1" type="body"/>
          </p:nvPr>
        </p:nvSpPr>
        <p:spPr>
          <a:xfrm>
            <a:off x="198500" y="1246825"/>
            <a:ext cx="88227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do you protect a set of systems against external attack?</a:t>
            </a:r>
            <a:endParaRPr/>
          </a:p>
          <a:p>
            <a:pPr indent="-317500" lvl="1" marL="914400" rtl="0" algn="l">
              <a:spcBef>
                <a:spcPts val="0"/>
              </a:spcBef>
              <a:spcAft>
                <a:spcPts val="0"/>
              </a:spcAft>
              <a:buSzPts val="1400"/>
              <a:buChar char="○"/>
            </a:pPr>
            <a:r>
              <a:rPr lang="en"/>
              <a:t>Example: A company network with many servers and </a:t>
            </a:r>
            <a:r>
              <a:rPr lang="en"/>
              <a:t>employee</a:t>
            </a:r>
            <a:r>
              <a:rPr lang="en"/>
              <a:t> computers</a:t>
            </a:r>
            <a:endParaRPr/>
          </a:p>
          <a:p>
            <a:pPr indent="-342900" lvl="0" marL="457200" rtl="0" algn="l">
              <a:spcBef>
                <a:spcPts val="0"/>
              </a:spcBef>
              <a:spcAft>
                <a:spcPts val="0"/>
              </a:spcAft>
              <a:buSzPts val="1800"/>
              <a:buChar char="●"/>
            </a:pPr>
            <a:r>
              <a:rPr lang="en"/>
              <a:t>Observation: More network services = more risk</a:t>
            </a:r>
            <a:endParaRPr/>
          </a:p>
          <a:p>
            <a:pPr indent="-317500" lvl="1" marL="914400" rtl="0" algn="l">
              <a:spcBef>
                <a:spcPts val="0"/>
              </a:spcBef>
              <a:spcAft>
                <a:spcPts val="0"/>
              </a:spcAft>
              <a:buSzPts val="1400"/>
              <a:buChar char="○"/>
            </a:pPr>
            <a:r>
              <a:rPr lang="en"/>
              <a:t>Each network service creates more opportunities for vulnerabilities (greater attack surface)</a:t>
            </a:r>
            <a:endParaRPr/>
          </a:p>
          <a:p>
            <a:pPr indent="-317500" lvl="1" marL="914400" rtl="0" algn="l">
              <a:spcBef>
                <a:spcPts val="0"/>
              </a:spcBef>
              <a:spcAft>
                <a:spcPts val="0"/>
              </a:spcAft>
              <a:buSzPts val="1400"/>
              <a:buChar char="○"/>
            </a:pPr>
            <a:r>
              <a:rPr lang="en"/>
              <a:t>Turning off all network services is often infeasible (print services, SSH services, etc.)</a:t>
            </a:r>
            <a:endParaRPr/>
          </a:p>
          <a:p>
            <a:pPr indent="-342900" lvl="0" marL="457200" rtl="0" algn="l">
              <a:spcBef>
                <a:spcPts val="0"/>
              </a:spcBef>
              <a:spcAft>
                <a:spcPts val="0"/>
              </a:spcAft>
              <a:buSzPts val="1800"/>
              <a:buChar char="●"/>
            </a:pPr>
            <a:r>
              <a:rPr lang="en"/>
              <a:t>Observation: More networked machines = more risk</a:t>
            </a:r>
            <a:endParaRPr/>
          </a:p>
          <a:p>
            <a:pPr indent="-317500" lvl="1" marL="914400" rtl="0" algn="l">
              <a:spcBef>
                <a:spcPts val="0"/>
              </a:spcBef>
              <a:spcAft>
                <a:spcPts val="0"/>
              </a:spcAft>
              <a:buSzPts val="1400"/>
              <a:buChar char="○"/>
            </a:pPr>
            <a:r>
              <a:rPr lang="en"/>
              <a:t>What if you have to secure hundreds of systems?</a:t>
            </a:r>
            <a:endParaRPr/>
          </a:p>
          <a:p>
            <a:pPr indent="-317500" lvl="1" marL="914400" rtl="0" algn="l">
              <a:spcBef>
                <a:spcPts val="0"/>
              </a:spcBef>
              <a:spcAft>
                <a:spcPts val="0"/>
              </a:spcAft>
              <a:buSzPts val="1400"/>
              <a:buChar char="○"/>
            </a:pPr>
            <a:r>
              <a:rPr lang="en"/>
              <a:t>What if the systems have different hardware, operating systems, and users?</a:t>
            </a:r>
            <a:endParaRPr/>
          </a:p>
          <a:p>
            <a:pPr indent="-317500" lvl="1" marL="914400" rtl="0" algn="l">
              <a:spcBef>
                <a:spcPts val="0"/>
              </a:spcBef>
              <a:spcAft>
                <a:spcPts val="0"/>
              </a:spcAft>
              <a:buSzPts val="1400"/>
              <a:buChar char="○"/>
            </a:pPr>
            <a:r>
              <a:rPr lang="en"/>
              <a:t>What if there are some systems in the network that you aren’t aware of?</a:t>
            </a:r>
            <a:endParaRPr/>
          </a:p>
          <a:p>
            <a:pPr indent="-342900" lvl="0" marL="457200" rtl="0" algn="l">
              <a:spcBef>
                <a:spcPts val="0"/>
              </a:spcBef>
              <a:spcAft>
                <a:spcPts val="0"/>
              </a:spcAft>
              <a:buSzPts val="1800"/>
              <a:buChar char="●"/>
            </a:pPr>
            <a:r>
              <a:rPr lang="en"/>
              <a:t>Instead of securing individual machines, we want to secure the entire network!</a:t>
            </a:r>
            <a:endParaRPr/>
          </a:p>
        </p:txBody>
      </p:sp>
      <p:sp>
        <p:nvSpPr>
          <p:cNvPr id="365" name="Google Shape;36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Firewalls and Security Policies</a:t>
            </a:r>
            <a:endParaRPr/>
          </a:p>
        </p:txBody>
      </p:sp>
      <p:sp>
        <p:nvSpPr>
          <p:cNvPr id="371" name="Google Shape;371;p4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Add a single point of access in and out of the network, with a monitor</a:t>
            </a:r>
            <a:endParaRPr/>
          </a:p>
          <a:p>
            <a:pPr indent="-317500" lvl="1" marL="914400" rtl="0" algn="l">
              <a:spcBef>
                <a:spcPts val="0"/>
              </a:spcBef>
              <a:spcAft>
                <a:spcPts val="0"/>
              </a:spcAft>
              <a:buSzPts val="1400"/>
              <a:buChar char="○"/>
            </a:pPr>
            <a:r>
              <a:rPr lang="en"/>
              <a:t>“Ensure complete mediation”</a:t>
            </a:r>
            <a:endParaRPr/>
          </a:p>
          <a:p>
            <a:pPr indent="-317500" lvl="1" marL="914400" rtl="0" algn="l">
              <a:spcBef>
                <a:spcPts val="0"/>
              </a:spcBef>
              <a:spcAft>
                <a:spcPts val="0"/>
              </a:spcAft>
              <a:buSzPts val="1400"/>
              <a:buChar char="○"/>
            </a:pPr>
            <a:r>
              <a:rPr lang="en"/>
              <a:t>Any traffic that could affect vulnerable systems must pass through the firewall</a:t>
            </a:r>
            <a:endParaRPr/>
          </a:p>
          <a:p>
            <a:pPr indent="-342900" lvl="0" marL="457200" rtl="0" algn="l">
              <a:spcBef>
                <a:spcPts val="0"/>
              </a:spcBef>
              <a:spcAft>
                <a:spcPts val="0"/>
              </a:spcAft>
              <a:buSzPts val="1800"/>
              <a:buChar char="●"/>
            </a:pPr>
            <a:r>
              <a:rPr lang="en"/>
              <a:t>Network access is controlled by a </a:t>
            </a:r>
            <a:r>
              <a:rPr b="1" lang="en"/>
              <a:t>policy</a:t>
            </a:r>
            <a:endParaRPr/>
          </a:p>
          <a:p>
            <a:pPr indent="-317500" lvl="1" marL="914400" rtl="0" algn="l">
              <a:spcBef>
                <a:spcPts val="0"/>
              </a:spcBef>
              <a:spcAft>
                <a:spcPts val="0"/>
              </a:spcAft>
              <a:buSzPts val="1400"/>
              <a:buChar char="○"/>
            </a:pPr>
            <a:r>
              <a:rPr lang="en"/>
              <a:t>Defines what traffic is allowed to exit the network (</a:t>
            </a:r>
            <a:r>
              <a:rPr b="1" lang="en"/>
              <a:t>outbound policy</a:t>
            </a:r>
            <a:r>
              <a:rPr lang="en"/>
              <a:t>)</a:t>
            </a:r>
            <a:endParaRPr sz="1800"/>
          </a:p>
          <a:p>
            <a:pPr indent="-317500" lvl="1" marL="914400" rtl="0" algn="l">
              <a:spcBef>
                <a:spcPts val="0"/>
              </a:spcBef>
              <a:spcAft>
                <a:spcPts val="0"/>
              </a:spcAft>
              <a:buSzPts val="1400"/>
              <a:buChar char="○"/>
            </a:pPr>
            <a:r>
              <a:rPr lang="en"/>
              <a:t>Defines what traffic is allowed to enter the network (</a:t>
            </a:r>
            <a:r>
              <a:rPr b="1" lang="en"/>
              <a:t>inbound policy</a:t>
            </a:r>
            <a:r>
              <a:rPr lang="en"/>
              <a:t>)</a:t>
            </a:r>
            <a:endParaRPr/>
          </a:p>
          <a:p>
            <a:pPr indent="-317500" lvl="1" marL="914400" rtl="0" algn="l">
              <a:spcBef>
                <a:spcPts val="0"/>
              </a:spcBef>
              <a:spcAft>
                <a:spcPts val="0"/>
              </a:spcAft>
              <a:buSzPts val="1400"/>
              <a:buChar char="○"/>
            </a:pPr>
            <a:r>
              <a:rPr lang="en"/>
              <a:t>Policy model based on our threat model: We usually assume users “inside” the network are trusted, and those outside are not</a:t>
            </a:r>
            <a:endParaRPr/>
          </a:p>
        </p:txBody>
      </p:sp>
      <p:sp>
        <p:nvSpPr>
          <p:cNvPr id="372" name="Google Shape;372;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46"/>
          <p:cNvSpPr/>
          <p:nvPr/>
        </p:nvSpPr>
        <p:spPr>
          <a:xfrm>
            <a:off x="1545188" y="3714550"/>
            <a:ext cx="1248264" cy="884736"/>
          </a:xfrm>
          <a:prstGeom prst="cloud">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sp>
        <p:nvSpPr>
          <p:cNvPr id="374" name="Google Shape;374;p46"/>
          <p:cNvSpPr/>
          <p:nvPr/>
        </p:nvSpPr>
        <p:spPr>
          <a:xfrm>
            <a:off x="6129054" y="455448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6"/>
          <p:cNvSpPr/>
          <p:nvPr/>
        </p:nvSpPr>
        <p:spPr>
          <a:xfrm>
            <a:off x="6032104" y="3970929"/>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6"/>
          <p:cNvSpPr/>
          <p:nvPr/>
        </p:nvSpPr>
        <p:spPr>
          <a:xfrm>
            <a:off x="6068454" y="3387375"/>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6"/>
          <p:cNvSpPr/>
          <p:nvPr/>
        </p:nvSpPr>
        <p:spPr>
          <a:xfrm>
            <a:off x="3863025" y="3960113"/>
            <a:ext cx="9150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Firewall</a:t>
            </a:r>
            <a:endParaRPr/>
          </a:p>
        </p:txBody>
      </p:sp>
      <p:cxnSp>
        <p:nvCxnSpPr>
          <p:cNvPr id="378" name="Google Shape;378;p46"/>
          <p:cNvCxnSpPr>
            <a:stCxn id="373" idx="0"/>
            <a:endCxn id="377" idx="1"/>
          </p:cNvCxnSpPr>
          <p:nvPr/>
        </p:nvCxnSpPr>
        <p:spPr>
          <a:xfrm>
            <a:off x="2792411" y="4156918"/>
            <a:ext cx="1070700" cy="0"/>
          </a:xfrm>
          <a:prstGeom prst="straightConnector1">
            <a:avLst/>
          </a:prstGeom>
          <a:noFill/>
          <a:ln cap="flat" cmpd="sng" w="9525">
            <a:solidFill>
              <a:schemeClr val="dk2"/>
            </a:solidFill>
            <a:prstDash val="solid"/>
            <a:round/>
            <a:headEnd len="med" w="med" type="none"/>
            <a:tailEnd len="med" w="med" type="none"/>
          </a:ln>
        </p:spPr>
      </p:cxnSp>
      <p:sp>
        <p:nvSpPr>
          <p:cNvPr id="379" name="Google Shape;379;p46"/>
          <p:cNvSpPr/>
          <p:nvPr/>
        </p:nvSpPr>
        <p:spPr>
          <a:xfrm>
            <a:off x="6657129" y="459928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6"/>
          <p:cNvSpPr/>
          <p:nvPr/>
        </p:nvSpPr>
        <p:spPr>
          <a:xfrm>
            <a:off x="6869204" y="407945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46"/>
          <p:cNvSpPr/>
          <p:nvPr/>
        </p:nvSpPr>
        <p:spPr>
          <a:xfrm>
            <a:off x="6760129" y="3447975"/>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2" name="Google Shape;382;p46"/>
          <p:cNvCxnSpPr>
            <a:stCxn id="377" idx="3"/>
            <a:endCxn id="375" idx="1"/>
          </p:cNvCxnSpPr>
          <p:nvPr/>
        </p:nvCxnSpPr>
        <p:spPr>
          <a:xfrm>
            <a:off x="4778025" y="4156913"/>
            <a:ext cx="1254000" cy="0"/>
          </a:xfrm>
          <a:prstGeom prst="straightConnector1">
            <a:avLst/>
          </a:prstGeom>
          <a:noFill/>
          <a:ln cap="flat" cmpd="sng" w="9525">
            <a:solidFill>
              <a:schemeClr val="dk2"/>
            </a:solidFill>
            <a:prstDash val="solid"/>
            <a:round/>
            <a:headEnd len="med" w="med" type="none"/>
            <a:tailEnd len="med" w="med" type="none"/>
          </a:ln>
        </p:spPr>
      </p:cxnSp>
      <p:cxnSp>
        <p:nvCxnSpPr>
          <p:cNvPr id="383" name="Google Shape;383;p46"/>
          <p:cNvCxnSpPr>
            <a:stCxn id="376" idx="3"/>
            <a:endCxn id="381" idx="1"/>
          </p:cNvCxnSpPr>
          <p:nvPr/>
        </p:nvCxnSpPr>
        <p:spPr>
          <a:xfrm>
            <a:off x="6440454" y="3573375"/>
            <a:ext cx="319800" cy="606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46"/>
          <p:cNvCxnSpPr>
            <a:stCxn id="379" idx="0"/>
            <a:endCxn id="380" idx="2"/>
          </p:cNvCxnSpPr>
          <p:nvPr/>
        </p:nvCxnSpPr>
        <p:spPr>
          <a:xfrm flipH="1" rot="10800000">
            <a:off x="6843129" y="4451384"/>
            <a:ext cx="212100" cy="1479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46"/>
          <p:cNvCxnSpPr>
            <a:stCxn id="374" idx="0"/>
            <a:endCxn id="375" idx="2"/>
          </p:cNvCxnSpPr>
          <p:nvPr/>
        </p:nvCxnSpPr>
        <p:spPr>
          <a:xfrm rot="10800000">
            <a:off x="6218154" y="4342984"/>
            <a:ext cx="96900" cy="2115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46"/>
          <p:cNvCxnSpPr>
            <a:stCxn id="375" idx="3"/>
            <a:endCxn id="380" idx="1"/>
          </p:cNvCxnSpPr>
          <p:nvPr/>
        </p:nvCxnSpPr>
        <p:spPr>
          <a:xfrm>
            <a:off x="6404104" y="4156929"/>
            <a:ext cx="465000" cy="1086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46"/>
          <p:cNvCxnSpPr>
            <a:stCxn id="374" idx="3"/>
            <a:endCxn id="379" idx="1"/>
          </p:cNvCxnSpPr>
          <p:nvPr/>
        </p:nvCxnSpPr>
        <p:spPr>
          <a:xfrm>
            <a:off x="6501054" y="4740484"/>
            <a:ext cx="156000" cy="447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46"/>
          <p:cNvCxnSpPr>
            <a:stCxn id="380" idx="0"/>
            <a:endCxn id="381" idx="2"/>
          </p:cNvCxnSpPr>
          <p:nvPr/>
        </p:nvCxnSpPr>
        <p:spPr>
          <a:xfrm rot="10800000">
            <a:off x="6946004" y="3819954"/>
            <a:ext cx="109200" cy="2595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46"/>
          <p:cNvCxnSpPr>
            <a:stCxn id="380" idx="0"/>
            <a:endCxn id="376" idx="2"/>
          </p:cNvCxnSpPr>
          <p:nvPr/>
        </p:nvCxnSpPr>
        <p:spPr>
          <a:xfrm rot="10800000">
            <a:off x="6254504" y="3759354"/>
            <a:ext cx="800700" cy="3201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46"/>
          <p:cNvCxnSpPr>
            <a:endCxn id="376" idx="1"/>
          </p:cNvCxnSpPr>
          <p:nvPr/>
        </p:nvCxnSpPr>
        <p:spPr>
          <a:xfrm flipH="1" rot="10800000">
            <a:off x="4778154" y="3573375"/>
            <a:ext cx="1290300" cy="5835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46"/>
          <p:cNvCxnSpPr>
            <a:stCxn id="377" idx="3"/>
            <a:endCxn id="374" idx="1"/>
          </p:cNvCxnSpPr>
          <p:nvPr/>
        </p:nvCxnSpPr>
        <p:spPr>
          <a:xfrm>
            <a:off x="4778025" y="4156913"/>
            <a:ext cx="1350900" cy="583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Firewalls and Security Policies</a:t>
            </a:r>
            <a:endParaRPr/>
          </a:p>
        </p:txBody>
      </p:sp>
      <p:sp>
        <p:nvSpPr>
          <p:cNvPr id="397" name="Google Shape;397;p4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What’s the policy of a standard home network?</a:t>
            </a:r>
            <a:endParaRPr/>
          </a:p>
          <a:p>
            <a:pPr indent="-317500" lvl="1" marL="914400" rtl="0" algn="l">
              <a:spcBef>
                <a:spcPts val="0"/>
              </a:spcBef>
              <a:spcAft>
                <a:spcPts val="0"/>
              </a:spcAft>
              <a:buSzPts val="1400"/>
              <a:buChar char="○"/>
            </a:pPr>
            <a:r>
              <a:rPr lang="en"/>
              <a:t>Outbound policy: </a:t>
            </a:r>
            <a:r>
              <a:rPr lang="en">
                <a:solidFill>
                  <a:srgbClr val="38761D"/>
                </a:solidFill>
              </a:rPr>
              <a:t>Allow outbound traffic</a:t>
            </a:r>
            <a:endParaRPr>
              <a:solidFill>
                <a:srgbClr val="38761D"/>
              </a:solidFill>
            </a:endParaRPr>
          </a:p>
          <a:p>
            <a:pPr indent="-317500" lvl="2" marL="1371600" rtl="0" algn="l">
              <a:spcBef>
                <a:spcPts val="0"/>
              </a:spcBef>
              <a:spcAft>
                <a:spcPts val="0"/>
              </a:spcAft>
              <a:buSzPts val="1400"/>
              <a:buChar char="■"/>
            </a:pPr>
            <a:r>
              <a:rPr lang="en"/>
              <a:t>Users inside the network can connect to any service</a:t>
            </a:r>
            <a:endParaRPr/>
          </a:p>
          <a:p>
            <a:pPr indent="-317500" lvl="1" marL="914400" rtl="0" algn="l">
              <a:spcBef>
                <a:spcPts val="0"/>
              </a:spcBef>
              <a:spcAft>
                <a:spcPts val="0"/>
              </a:spcAft>
              <a:buSzPts val="1400"/>
              <a:buChar char="○"/>
            </a:pPr>
            <a:r>
              <a:rPr lang="en"/>
              <a:t>Inbound policy: Only some traffic is able to enter the network</a:t>
            </a:r>
            <a:endParaRPr/>
          </a:p>
          <a:p>
            <a:pPr indent="-317500" lvl="2" marL="1371600" rtl="0" algn="l">
              <a:spcBef>
                <a:spcPts val="0"/>
              </a:spcBef>
              <a:spcAft>
                <a:spcPts val="0"/>
              </a:spcAft>
              <a:buClr>
                <a:srgbClr val="38761D"/>
              </a:buClr>
              <a:buSzPts val="1400"/>
              <a:buChar char="■"/>
            </a:pPr>
            <a:r>
              <a:rPr lang="en">
                <a:solidFill>
                  <a:srgbClr val="38761D"/>
                </a:solidFill>
              </a:rPr>
              <a:t>Allow inbound traffic in response an outbound connection</a:t>
            </a:r>
            <a:endParaRPr>
              <a:solidFill>
                <a:srgbClr val="38761D"/>
              </a:solidFill>
            </a:endParaRPr>
          </a:p>
          <a:p>
            <a:pPr indent="-317500" lvl="2" marL="1371600" rtl="0" algn="l">
              <a:spcBef>
                <a:spcPts val="0"/>
              </a:spcBef>
              <a:spcAft>
                <a:spcPts val="0"/>
              </a:spcAft>
              <a:buClr>
                <a:srgbClr val="38761D"/>
              </a:buClr>
              <a:buSzPts val="1400"/>
              <a:buChar char="■"/>
            </a:pPr>
            <a:r>
              <a:rPr lang="en">
                <a:solidFill>
                  <a:srgbClr val="38761D"/>
                </a:solidFill>
              </a:rPr>
              <a:t>Allow inbound traffic to certain, trusted services (e.g. SSH)</a:t>
            </a:r>
            <a:endParaRPr>
              <a:solidFill>
                <a:srgbClr val="38761D"/>
              </a:solidFill>
            </a:endParaRPr>
          </a:p>
          <a:p>
            <a:pPr indent="-317500" lvl="2" marL="1371600" rtl="0" algn="l">
              <a:spcBef>
                <a:spcPts val="0"/>
              </a:spcBef>
              <a:spcAft>
                <a:spcPts val="0"/>
              </a:spcAft>
              <a:buClr>
                <a:srgbClr val="CC0000"/>
              </a:buClr>
              <a:buSzPts val="1400"/>
              <a:buChar char="■"/>
            </a:pPr>
            <a:r>
              <a:rPr lang="en">
                <a:solidFill>
                  <a:srgbClr val="CC0000"/>
                </a:solidFill>
              </a:rPr>
              <a:t>Deny all other inbound traffic</a:t>
            </a:r>
            <a:endParaRPr>
              <a:solidFill>
                <a:srgbClr val="CC0000"/>
              </a:solidFill>
            </a:endParaRPr>
          </a:p>
        </p:txBody>
      </p:sp>
      <p:sp>
        <p:nvSpPr>
          <p:cNvPr id="398" name="Google Shape;398;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9" name="Google Shape;399;p47"/>
          <p:cNvSpPr/>
          <p:nvPr/>
        </p:nvSpPr>
        <p:spPr>
          <a:xfrm>
            <a:off x="1545188" y="3714550"/>
            <a:ext cx="1248264" cy="884736"/>
          </a:xfrm>
          <a:prstGeom prst="cloud">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sp>
        <p:nvSpPr>
          <p:cNvPr id="400" name="Google Shape;400;p47"/>
          <p:cNvSpPr/>
          <p:nvPr/>
        </p:nvSpPr>
        <p:spPr>
          <a:xfrm>
            <a:off x="6129054" y="455448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7"/>
          <p:cNvSpPr/>
          <p:nvPr/>
        </p:nvSpPr>
        <p:spPr>
          <a:xfrm>
            <a:off x="6032104" y="3970929"/>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7"/>
          <p:cNvSpPr/>
          <p:nvPr/>
        </p:nvSpPr>
        <p:spPr>
          <a:xfrm>
            <a:off x="6068454" y="3387375"/>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7"/>
          <p:cNvSpPr/>
          <p:nvPr/>
        </p:nvSpPr>
        <p:spPr>
          <a:xfrm>
            <a:off x="3863025" y="3960113"/>
            <a:ext cx="9150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Firewall</a:t>
            </a:r>
            <a:endParaRPr/>
          </a:p>
        </p:txBody>
      </p:sp>
      <p:cxnSp>
        <p:nvCxnSpPr>
          <p:cNvPr id="404" name="Google Shape;404;p47"/>
          <p:cNvCxnSpPr>
            <a:stCxn id="399" idx="0"/>
            <a:endCxn id="403" idx="1"/>
          </p:cNvCxnSpPr>
          <p:nvPr/>
        </p:nvCxnSpPr>
        <p:spPr>
          <a:xfrm>
            <a:off x="2792411" y="4156918"/>
            <a:ext cx="1070700" cy="0"/>
          </a:xfrm>
          <a:prstGeom prst="straightConnector1">
            <a:avLst/>
          </a:prstGeom>
          <a:noFill/>
          <a:ln cap="flat" cmpd="sng" w="9525">
            <a:solidFill>
              <a:schemeClr val="dk2"/>
            </a:solidFill>
            <a:prstDash val="solid"/>
            <a:round/>
            <a:headEnd len="med" w="med" type="none"/>
            <a:tailEnd len="med" w="med" type="none"/>
          </a:ln>
        </p:spPr>
      </p:cxnSp>
      <p:sp>
        <p:nvSpPr>
          <p:cNvPr id="405" name="Google Shape;405;p47"/>
          <p:cNvSpPr/>
          <p:nvPr/>
        </p:nvSpPr>
        <p:spPr>
          <a:xfrm>
            <a:off x="6657129" y="459928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7"/>
          <p:cNvSpPr/>
          <p:nvPr/>
        </p:nvSpPr>
        <p:spPr>
          <a:xfrm>
            <a:off x="6869204" y="407945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7"/>
          <p:cNvSpPr/>
          <p:nvPr/>
        </p:nvSpPr>
        <p:spPr>
          <a:xfrm>
            <a:off x="6760129" y="3447975"/>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8" name="Google Shape;408;p47"/>
          <p:cNvCxnSpPr>
            <a:stCxn id="403" idx="3"/>
            <a:endCxn id="401" idx="1"/>
          </p:cNvCxnSpPr>
          <p:nvPr/>
        </p:nvCxnSpPr>
        <p:spPr>
          <a:xfrm>
            <a:off x="4778025" y="4156913"/>
            <a:ext cx="1254000" cy="0"/>
          </a:xfrm>
          <a:prstGeom prst="straightConnector1">
            <a:avLst/>
          </a:prstGeom>
          <a:noFill/>
          <a:ln cap="flat" cmpd="sng" w="9525">
            <a:solidFill>
              <a:schemeClr val="dk2"/>
            </a:solidFill>
            <a:prstDash val="solid"/>
            <a:round/>
            <a:headEnd len="med" w="med" type="none"/>
            <a:tailEnd len="med" w="med" type="none"/>
          </a:ln>
        </p:spPr>
      </p:cxnSp>
      <p:cxnSp>
        <p:nvCxnSpPr>
          <p:cNvPr id="409" name="Google Shape;409;p47"/>
          <p:cNvCxnSpPr>
            <a:stCxn id="402" idx="3"/>
            <a:endCxn id="407" idx="1"/>
          </p:cNvCxnSpPr>
          <p:nvPr/>
        </p:nvCxnSpPr>
        <p:spPr>
          <a:xfrm>
            <a:off x="6440454" y="3573375"/>
            <a:ext cx="319800" cy="6060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47"/>
          <p:cNvCxnSpPr>
            <a:stCxn id="405" idx="0"/>
            <a:endCxn id="406" idx="2"/>
          </p:cNvCxnSpPr>
          <p:nvPr/>
        </p:nvCxnSpPr>
        <p:spPr>
          <a:xfrm flipH="1" rot="10800000">
            <a:off x="6843129" y="4451384"/>
            <a:ext cx="212100" cy="1479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47"/>
          <p:cNvCxnSpPr>
            <a:stCxn id="400" idx="0"/>
            <a:endCxn id="401" idx="2"/>
          </p:cNvCxnSpPr>
          <p:nvPr/>
        </p:nvCxnSpPr>
        <p:spPr>
          <a:xfrm rot="10800000">
            <a:off x="6218154" y="4342984"/>
            <a:ext cx="96900" cy="21150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47"/>
          <p:cNvCxnSpPr>
            <a:stCxn id="401" idx="3"/>
            <a:endCxn id="406" idx="1"/>
          </p:cNvCxnSpPr>
          <p:nvPr/>
        </p:nvCxnSpPr>
        <p:spPr>
          <a:xfrm>
            <a:off x="6404104" y="4156929"/>
            <a:ext cx="465000" cy="10860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47"/>
          <p:cNvCxnSpPr>
            <a:stCxn id="400" idx="3"/>
            <a:endCxn id="405" idx="1"/>
          </p:cNvCxnSpPr>
          <p:nvPr/>
        </p:nvCxnSpPr>
        <p:spPr>
          <a:xfrm>
            <a:off x="6501054" y="4740484"/>
            <a:ext cx="156000" cy="4470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47"/>
          <p:cNvCxnSpPr>
            <a:stCxn id="406" idx="0"/>
            <a:endCxn id="407" idx="2"/>
          </p:cNvCxnSpPr>
          <p:nvPr/>
        </p:nvCxnSpPr>
        <p:spPr>
          <a:xfrm rot="10800000">
            <a:off x="6946004" y="3819954"/>
            <a:ext cx="109200" cy="2595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47"/>
          <p:cNvCxnSpPr>
            <a:stCxn id="406" idx="0"/>
            <a:endCxn id="402" idx="2"/>
          </p:cNvCxnSpPr>
          <p:nvPr/>
        </p:nvCxnSpPr>
        <p:spPr>
          <a:xfrm rot="10800000">
            <a:off x="6254504" y="3759354"/>
            <a:ext cx="800700" cy="3201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47"/>
          <p:cNvCxnSpPr>
            <a:stCxn id="403" idx="3"/>
            <a:endCxn id="402" idx="1"/>
          </p:cNvCxnSpPr>
          <p:nvPr/>
        </p:nvCxnSpPr>
        <p:spPr>
          <a:xfrm flipH="1" rot="10800000">
            <a:off x="4778025" y="3573413"/>
            <a:ext cx="1290300" cy="5835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47"/>
          <p:cNvCxnSpPr>
            <a:stCxn id="403" idx="3"/>
            <a:endCxn id="400" idx="1"/>
          </p:cNvCxnSpPr>
          <p:nvPr/>
        </p:nvCxnSpPr>
        <p:spPr>
          <a:xfrm>
            <a:off x="4778025" y="4156913"/>
            <a:ext cx="1350900" cy="583500"/>
          </a:xfrm>
          <a:prstGeom prst="straightConnector1">
            <a:avLst/>
          </a:prstGeom>
          <a:noFill/>
          <a:ln cap="flat" cmpd="sng" w="9525">
            <a:solidFill>
              <a:schemeClr val="dk2"/>
            </a:solidFill>
            <a:prstDash val="solid"/>
            <a:round/>
            <a:headEnd len="med" w="med" type="none"/>
            <a:tailEnd len="med" w="med" type="none"/>
          </a:ln>
        </p:spPr>
      </p:cxnSp>
      <p:grpSp>
        <p:nvGrpSpPr>
          <p:cNvPr id="418" name="Google Shape;418;p47"/>
          <p:cNvGrpSpPr/>
          <p:nvPr/>
        </p:nvGrpSpPr>
        <p:grpSpPr>
          <a:xfrm>
            <a:off x="2944975" y="3278275"/>
            <a:ext cx="2823800" cy="729488"/>
            <a:chOff x="2944975" y="3278275"/>
            <a:chExt cx="2823800" cy="729488"/>
          </a:xfrm>
        </p:grpSpPr>
        <p:sp>
          <p:nvSpPr>
            <p:cNvPr id="419" name="Google Shape;419;p47"/>
            <p:cNvSpPr/>
            <p:nvPr/>
          </p:nvSpPr>
          <p:spPr>
            <a:xfrm>
              <a:off x="2944975" y="3278275"/>
              <a:ext cx="2823800" cy="690800"/>
            </a:xfrm>
            <a:custGeom>
              <a:rect b="b" l="l" r="r" t="t"/>
              <a:pathLst>
                <a:path extrusionOk="0" h="27632" w="112952">
                  <a:moveTo>
                    <a:pt x="112952" y="0"/>
                  </a:moveTo>
                  <a:cubicBezTo>
                    <a:pt x="103378" y="3555"/>
                    <a:pt x="74332" y="16725"/>
                    <a:pt x="55507" y="21330"/>
                  </a:cubicBezTo>
                  <a:cubicBezTo>
                    <a:pt x="36682" y="25935"/>
                    <a:pt x="9251" y="26582"/>
                    <a:pt x="0" y="27632"/>
                  </a:cubicBezTo>
                </a:path>
              </a:pathLst>
            </a:custGeom>
            <a:noFill/>
            <a:ln cap="flat" cmpd="sng" w="19050">
              <a:solidFill>
                <a:srgbClr val="38761D"/>
              </a:solidFill>
              <a:prstDash val="solid"/>
              <a:round/>
              <a:headEnd len="med" w="med" type="none"/>
              <a:tailEnd len="med" w="med" type="triangle"/>
            </a:ln>
          </p:spPr>
        </p:sp>
        <p:sp>
          <p:nvSpPr>
            <p:cNvPr id="420" name="Google Shape;420;p47"/>
            <p:cNvSpPr txBox="1"/>
            <p:nvPr/>
          </p:nvSpPr>
          <p:spPr>
            <a:xfrm rot="-669366">
              <a:off x="3406947" y="3528324"/>
              <a:ext cx="1490057" cy="33847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38761D"/>
                  </a:solidFill>
                </a:rPr>
                <a:t>Allow outbound traffic</a:t>
              </a:r>
              <a:endParaRPr sz="1000">
                <a:solidFill>
                  <a:srgbClr val="38761D"/>
                </a:solidFill>
              </a:endParaRPr>
            </a:p>
          </p:txBody>
        </p:sp>
      </p:grpSp>
      <p:grpSp>
        <p:nvGrpSpPr>
          <p:cNvPr id="421" name="Google Shape;421;p47"/>
          <p:cNvGrpSpPr/>
          <p:nvPr/>
        </p:nvGrpSpPr>
        <p:grpSpPr>
          <a:xfrm>
            <a:off x="2951050" y="4330314"/>
            <a:ext cx="2775300" cy="695400"/>
            <a:chOff x="2951050" y="4330314"/>
            <a:chExt cx="2775300" cy="695400"/>
          </a:xfrm>
        </p:grpSpPr>
        <p:sp>
          <p:nvSpPr>
            <p:cNvPr id="422" name="Google Shape;422;p47"/>
            <p:cNvSpPr/>
            <p:nvPr/>
          </p:nvSpPr>
          <p:spPr>
            <a:xfrm>
              <a:off x="2951050" y="4350825"/>
              <a:ext cx="2775300" cy="424175"/>
            </a:xfrm>
            <a:custGeom>
              <a:rect b="b" l="l" r="r" t="t"/>
              <a:pathLst>
                <a:path extrusionOk="0" h="16967" w="111012">
                  <a:moveTo>
                    <a:pt x="0" y="0"/>
                  </a:moveTo>
                  <a:cubicBezTo>
                    <a:pt x="11352" y="1050"/>
                    <a:pt x="49608" y="3474"/>
                    <a:pt x="68110" y="6302"/>
                  </a:cubicBezTo>
                  <a:cubicBezTo>
                    <a:pt x="86612" y="9130"/>
                    <a:pt x="103862" y="15190"/>
                    <a:pt x="111012" y="16967"/>
                  </a:cubicBezTo>
                </a:path>
              </a:pathLst>
            </a:custGeom>
            <a:noFill/>
            <a:ln cap="flat" cmpd="sng" w="19050">
              <a:solidFill>
                <a:srgbClr val="BF9000"/>
              </a:solidFill>
              <a:prstDash val="solid"/>
              <a:round/>
              <a:headEnd len="med" w="med" type="none"/>
              <a:tailEnd len="med" w="med" type="triangle"/>
            </a:ln>
          </p:spPr>
        </p:sp>
        <p:sp>
          <p:nvSpPr>
            <p:cNvPr id="423" name="Google Shape;423;p47"/>
            <p:cNvSpPr txBox="1"/>
            <p:nvPr/>
          </p:nvSpPr>
          <p:spPr>
            <a:xfrm rot="386298">
              <a:off x="3426279" y="4431795"/>
              <a:ext cx="1837992" cy="49243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38761D"/>
                  </a:solidFill>
                </a:rPr>
                <a:t>Allow trusted inbound traffic</a:t>
              </a:r>
              <a:endParaRPr sz="1000">
                <a:solidFill>
                  <a:srgbClr val="38761D"/>
                </a:solidFill>
              </a:endParaRPr>
            </a:p>
            <a:p>
              <a:pPr indent="0" lvl="0" marL="0" rtl="0" algn="ctr">
                <a:spcBef>
                  <a:spcPts val="0"/>
                </a:spcBef>
                <a:spcAft>
                  <a:spcPts val="0"/>
                </a:spcAft>
                <a:buNone/>
              </a:pPr>
              <a:r>
                <a:rPr lang="en" sz="1000">
                  <a:solidFill>
                    <a:srgbClr val="CC0000"/>
                  </a:solidFill>
                </a:rPr>
                <a:t>Deny other inbound traffic</a:t>
              </a:r>
              <a:endParaRPr sz="1000">
                <a:solidFill>
                  <a:srgbClr val="CC0000"/>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Default Security Policies?</a:t>
            </a:r>
            <a:endParaRPr/>
          </a:p>
        </p:txBody>
      </p:sp>
      <p:sp>
        <p:nvSpPr>
          <p:cNvPr id="429" name="Google Shape;429;p4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should we handle traffic that isn’t explicitly allowed or denied?</a:t>
            </a:r>
            <a:endParaRPr/>
          </a:p>
          <a:p>
            <a:pPr indent="-317500" lvl="1" marL="914400" rtl="0" algn="l">
              <a:spcBef>
                <a:spcPts val="0"/>
              </a:spcBef>
              <a:spcAft>
                <a:spcPts val="0"/>
              </a:spcAft>
              <a:buSzPts val="1400"/>
              <a:buChar char="○"/>
            </a:pPr>
            <a:r>
              <a:rPr b="1" lang="en"/>
              <a:t>Default-allow policy</a:t>
            </a:r>
            <a:r>
              <a:rPr lang="en"/>
              <a:t>: Allow all traffic, but deny those on a specified </a:t>
            </a:r>
            <a:r>
              <a:rPr b="1" lang="en"/>
              <a:t>denylist</a:t>
            </a:r>
            <a:endParaRPr/>
          </a:p>
          <a:p>
            <a:pPr indent="-317500" lvl="2" marL="1371600" rtl="0" algn="l">
              <a:spcBef>
                <a:spcPts val="0"/>
              </a:spcBef>
              <a:spcAft>
                <a:spcPts val="0"/>
              </a:spcAft>
              <a:buSzPts val="1400"/>
              <a:buChar char="■"/>
            </a:pPr>
            <a:r>
              <a:rPr lang="en"/>
              <a:t>As problems arise, add them to the denylist</a:t>
            </a:r>
            <a:endParaRPr/>
          </a:p>
          <a:p>
            <a:pPr indent="-317500" lvl="1" marL="914400" rtl="0" algn="l">
              <a:spcBef>
                <a:spcPts val="0"/>
              </a:spcBef>
              <a:spcAft>
                <a:spcPts val="0"/>
              </a:spcAft>
              <a:buSzPts val="1400"/>
              <a:buChar char="○"/>
            </a:pPr>
            <a:r>
              <a:rPr b="1" lang="en"/>
              <a:t>Default-deny policy</a:t>
            </a:r>
            <a:r>
              <a:rPr lang="en"/>
              <a:t>: Deny all traffic, but allow those on a specified </a:t>
            </a:r>
            <a:r>
              <a:rPr b="1" lang="en"/>
              <a:t>allowlist</a:t>
            </a:r>
            <a:endParaRPr/>
          </a:p>
          <a:p>
            <a:pPr indent="-317500" lvl="2" marL="1371600" rtl="0" algn="l">
              <a:spcBef>
                <a:spcPts val="0"/>
              </a:spcBef>
              <a:spcAft>
                <a:spcPts val="0"/>
              </a:spcAft>
              <a:buSzPts val="1400"/>
              <a:buChar char="■"/>
            </a:pPr>
            <a:r>
              <a:rPr lang="en"/>
              <a:t>As needs arise (or users complain), add them to the allowlist?</a:t>
            </a:r>
            <a:endParaRPr/>
          </a:p>
          <a:p>
            <a:pPr indent="-342900" lvl="0" marL="457200" rtl="0" algn="l">
              <a:spcBef>
                <a:spcPts val="0"/>
              </a:spcBef>
              <a:spcAft>
                <a:spcPts val="0"/>
              </a:spcAft>
              <a:buSzPts val="1800"/>
              <a:buChar char="●"/>
            </a:pPr>
            <a:r>
              <a:rPr lang="en"/>
              <a:t>Which default policy is best?</a:t>
            </a:r>
            <a:endParaRPr/>
          </a:p>
          <a:p>
            <a:pPr indent="-317500" lvl="1" marL="914400" rtl="0" algn="l">
              <a:spcBef>
                <a:spcPts val="0"/>
              </a:spcBef>
              <a:spcAft>
                <a:spcPts val="0"/>
              </a:spcAft>
              <a:buSzPts val="1400"/>
              <a:buChar char="○"/>
            </a:pPr>
            <a:r>
              <a:rPr lang="en"/>
              <a:t>Default-allow is more flexible, but policy mistakes are vulnerabilities and can be catastrophic</a:t>
            </a:r>
            <a:endParaRPr/>
          </a:p>
          <a:p>
            <a:pPr indent="-317500" lvl="1" marL="914400" rtl="0" algn="l">
              <a:spcBef>
                <a:spcPts val="0"/>
              </a:spcBef>
              <a:spcAft>
                <a:spcPts val="0"/>
              </a:spcAft>
              <a:buSzPts val="1400"/>
              <a:buChar char="○"/>
            </a:pPr>
            <a:r>
              <a:rPr lang="en"/>
              <a:t>Default-deny is more conservative, but policy mistakes are less painful</a:t>
            </a:r>
            <a:endParaRPr/>
          </a:p>
          <a:p>
            <a:pPr indent="-317500" lvl="1" marL="914400" rtl="0" algn="l">
              <a:spcBef>
                <a:spcPts val="0"/>
              </a:spcBef>
              <a:spcAft>
                <a:spcPts val="0"/>
              </a:spcAft>
              <a:buSzPts val="1400"/>
              <a:buChar char="○"/>
            </a:pPr>
            <a:r>
              <a:rPr lang="en"/>
              <a:t>Default-deny is generally accepted to be the best default policy (“consider fail-safe defaults”)</a:t>
            </a:r>
            <a:endParaRPr/>
          </a:p>
          <a:p>
            <a:pPr indent="-317500" lvl="1" marL="914400" rtl="0" algn="l">
              <a:spcBef>
                <a:spcPts val="0"/>
              </a:spcBef>
              <a:spcAft>
                <a:spcPts val="0"/>
              </a:spcAft>
              <a:buSzPts val="1400"/>
              <a:buChar char="○"/>
            </a:pPr>
            <a:r>
              <a:rPr lang="en"/>
              <a:t>Default-allow is w</a:t>
            </a:r>
            <a:r>
              <a:rPr lang="en"/>
              <a:t>orse for security; Default-deny is worse for usability</a:t>
            </a:r>
            <a:endParaRPr/>
          </a:p>
        </p:txBody>
      </p:sp>
      <p:sp>
        <p:nvSpPr>
          <p:cNvPr id="430" name="Google Shape;43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Stateless Packet Filters</a:t>
            </a:r>
            <a:endParaRPr/>
          </a:p>
        </p:txBody>
      </p:sp>
      <p:sp>
        <p:nvSpPr>
          <p:cNvPr id="436" name="Google Shape;436;p4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Firewalls are often </a:t>
            </a:r>
            <a:r>
              <a:rPr b="1" lang="en"/>
              <a:t>packet filters</a:t>
            </a:r>
            <a:r>
              <a:rPr lang="en"/>
              <a:t>, which inspect network packets and choose what to do with them</a:t>
            </a:r>
            <a:endParaRPr/>
          </a:p>
          <a:p>
            <a:pPr indent="-317500" lvl="1" marL="914400" rtl="0" algn="l">
              <a:spcBef>
                <a:spcPts val="0"/>
              </a:spcBef>
              <a:spcAft>
                <a:spcPts val="0"/>
              </a:spcAft>
              <a:buSzPts val="1400"/>
              <a:buChar char="○"/>
            </a:pPr>
            <a:r>
              <a:rPr lang="en"/>
              <a:t>Option #1: Allow the packet to pass through the firewall, forwarding it onwards</a:t>
            </a:r>
            <a:endParaRPr/>
          </a:p>
          <a:p>
            <a:pPr indent="-317500" lvl="1" marL="914400" rtl="0" algn="l">
              <a:spcBef>
                <a:spcPts val="0"/>
              </a:spcBef>
              <a:spcAft>
                <a:spcPts val="0"/>
              </a:spcAft>
              <a:buSzPts val="1400"/>
              <a:buChar char="○"/>
            </a:pPr>
            <a:r>
              <a:rPr lang="en"/>
              <a:t>Option #2: Deny the packet from passing through the firewall, dropping it</a:t>
            </a:r>
            <a:endParaRPr/>
          </a:p>
          <a:p>
            <a:pPr indent="-342900" lvl="0" marL="457200" rtl="0" algn="l">
              <a:spcBef>
                <a:spcPts val="0"/>
              </a:spcBef>
              <a:spcAft>
                <a:spcPts val="0"/>
              </a:spcAft>
              <a:buSzPts val="1800"/>
              <a:buChar char="●"/>
            </a:pPr>
            <a:r>
              <a:rPr lang="en"/>
              <a:t>Stateless packet filters</a:t>
            </a:r>
            <a:endParaRPr/>
          </a:p>
          <a:p>
            <a:pPr indent="-317500" lvl="1" marL="914400" rtl="0" algn="l">
              <a:spcBef>
                <a:spcPts val="0"/>
              </a:spcBef>
              <a:spcAft>
                <a:spcPts val="0"/>
              </a:spcAft>
              <a:buSzPts val="1400"/>
              <a:buChar char="○"/>
            </a:pPr>
            <a:r>
              <a:rPr lang="en"/>
              <a:t>Packet filters that have no history</a:t>
            </a:r>
            <a:endParaRPr/>
          </a:p>
          <a:p>
            <a:pPr indent="-317500" lvl="1" marL="914400" rtl="0" algn="l">
              <a:spcBef>
                <a:spcPts val="0"/>
              </a:spcBef>
              <a:spcAft>
                <a:spcPts val="0"/>
              </a:spcAft>
              <a:buSzPts val="1400"/>
              <a:buChar char="○"/>
            </a:pPr>
            <a:r>
              <a:rPr lang="en"/>
              <a:t>All decisions must be made using only the information in the packet itself</a:t>
            </a:r>
            <a:endParaRPr/>
          </a:p>
          <a:p>
            <a:pPr indent="-317500" lvl="1" marL="914400" rtl="0" algn="l">
              <a:spcBef>
                <a:spcPts val="0"/>
              </a:spcBef>
              <a:spcAft>
                <a:spcPts val="0"/>
              </a:spcAft>
              <a:buSzPts val="1400"/>
              <a:buChar char="○"/>
            </a:pPr>
            <a:r>
              <a:rPr lang="en"/>
              <a:t>Can have trouble implementing complex policies that require knowledge of history</a:t>
            </a:r>
            <a:endParaRPr/>
          </a:p>
        </p:txBody>
      </p:sp>
      <p:sp>
        <p:nvSpPr>
          <p:cNvPr id="437" name="Google Shape;43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Stateless Packet Filters</a:t>
            </a:r>
            <a:endParaRPr/>
          </a:p>
        </p:txBody>
      </p:sp>
      <p:sp>
        <p:nvSpPr>
          <p:cNvPr id="443" name="Google Shape;443;p5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Consider implementing the typical home network policy from earlier:</a:t>
            </a:r>
            <a:endParaRPr/>
          </a:p>
          <a:p>
            <a:pPr indent="-317500" lvl="1" marL="914400" rtl="0" algn="l">
              <a:spcBef>
                <a:spcPts val="0"/>
              </a:spcBef>
              <a:spcAft>
                <a:spcPts val="0"/>
              </a:spcAft>
              <a:buClr>
                <a:srgbClr val="38761D"/>
              </a:buClr>
              <a:buSzPts val="1400"/>
              <a:buChar char="○"/>
            </a:pPr>
            <a:r>
              <a:rPr lang="en">
                <a:solidFill>
                  <a:srgbClr val="38761D"/>
                </a:solidFill>
              </a:rPr>
              <a:t>Allow outbound traffic</a:t>
            </a:r>
            <a:endParaRPr>
              <a:solidFill>
                <a:srgbClr val="38761D"/>
              </a:solidFill>
            </a:endParaRPr>
          </a:p>
          <a:p>
            <a:pPr indent="-317500" lvl="1" marL="914400" rtl="0" algn="l">
              <a:spcBef>
                <a:spcPts val="0"/>
              </a:spcBef>
              <a:spcAft>
                <a:spcPts val="0"/>
              </a:spcAft>
              <a:buClr>
                <a:srgbClr val="38761D"/>
              </a:buClr>
              <a:buSzPts val="1400"/>
              <a:buChar char="○"/>
            </a:pPr>
            <a:r>
              <a:rPr lang="en">
                <a:solidFill>
                  <a:srgbClr val="38761D"/>
                </a:solidFill>
              </a:rPr>
              <a:t>Allow inbound traffic </a:t>
            </a:r>
            <a:r>
              <a:rPr lang="en">
                <a:solidFill>
                  <a:srgbClr val="38761D"/>
                </a:solidFill>
              </a:rPr>
              <a:t>in response to an outbound connection</a:t>
            </a:r>
            <a:endParaRPr>
              <a:solidFill>
                <a:srgbClr val="38761D"/>
              </a:solidFill>
            </a:endParaRPr>
          </a:p>
          <a:p>
            <a:pPr indent="-317500" lvl="1" marL="914400" rtl="0" algn="l">
              <a:spcBef>
                <a:spcPts val="0"/>
              </a:spcBef>
              <a:spcAft>
                <a:spcPts val="0"/>
              </a:spcAft>
              <a:buClr>
                <a:srgbClr val="CC0000"/>
              </a:buClr>
              <a:buSzPts val="1400"/>
              <a:buChar char="○"/>
            </a:pPr>
            <a:r>
              <a:rPr lang="en">
                <a:solidFill>
                  <a:srgbClr val="CC0000"/>
                </a:solidFill>
              </a:rPr>
              <a:t>Deny all other inbound traffic</a:t>
            </a:r>
            <a:endParaRPr>
              <a:solidFill>
                <a:srgbClr val="CC0000"/>
              </a:solidFill>
            </a:endParaRPr>
          </a:p>
          <a:p>
            <a:pPr indent="-342900" lvl="0" marL="457200" rtl="0" algn="l">
              <a:spcBef>
                <a:spcPts val="0"/>
              </a:spcBef>
              <a:spcAft>
                <a:spcPts val="0"/>
              </a:spcAft>
              <a:buSzPts val="1800"/>
              <a:buChar char="●"/>
            </a:pPr>
            <a:r>
              <a:rPr lang="en"/>
              <a:t>Issue: How do we know what inbound traffic is in response to an outbound connection?</a:t>
            </a:r>
            <a:endParaRPr/>
          </a:p>
          <a:p>
            <a:pPr indent="-317500" lvl="1" marL="914400" rtl="0" algn="l">
              <a:spcBef>
                <a:spcPts val="0"/>
              </a:spcBef>
              <a:spcAft>
                <a:spcPts val="0"/>
              </a:spcAft>
              <a:buSzPts val="1400"/>
              <a:buChar char="○"/>
            </a:pPr>
            <a:r>
              <a:rPr lang="en"/>
              <a:t>TCP: Can be filtered </a:t>
            </a:r>
            <a:r>
              <a:rPr lang="en"/>
              <a:t>statelessly</a:t>
            </a:r>
            <a:r>
              <a:rPr lang="en"/>
              <a:t>, with a hack</a:t>
            </a:r>
            <a:endParaRPr/>
          </a:p>
          <a:p>
            <a:pPr indent="-317500" lvl="2" marL="1371600" rtl="0" algn="l">
              <a:spcBef>
                <a:spcPts val="0"/>
              </a:spcBef>
              <a:spcAft>
                <a:spcPts val="0"/>
              </a:spcAft>
              <a:buSzPts val="1400"/>
              <a:buChar char="■"/>
            </a:pPr>
            <a:r>
              <a:rPr lang="en"/>
              <a:t>Allow inbound traffic with the ACK flag set</a:t>
            </a:r>
            <a:endParaRPr/>
          </a:p>
          <a:p>
            <a:pPr indent="-317500" lvl="2" marL="1371600" rtl="0" algn="l">
              <a:spcBef>
                <a:spcPts val="0"/>
              </a:spcBef>
              <a:spcAft>
                <a:spcPts val="0"/>
              </a:spcAft>
              <a:buSzPts val="1400"/>
              <a:buChar char="■"/>
            </a:pPr>
            <a:r>
              <a:rPr lang="en"/>
              <a:t>Deny inbound traffic without an ACK flag set</a:t>
            </a:r>
            <a:endParaRPr/>
          </a:p>
          <a:p>
            <a:pPr indent="-317500" lvl="2" marL="1371600" rtl="0" algn="l">
              <a:spcBef>
                <a:spcPts val="0"/>
              </a:spcBef>
              <a:spcAft>
                <a:spcPts val="0"/>
              </a:spcAft>
              <a:buSzPts val="1400"/>
              <a:buChar char="■"/>
            </a:pPr>
            <a:r>
              <a:rPr lang="en"/>
              <a:t>If the internal computer sees an ACK packet without having formed a connection, it will ignore it or send a RST</a:t>
            </a:r>
            <a:endParaRPr/>
          </a:p>
          <a:p>
            <a:pPr indent="-317500" lvl="1" marL="914400" rtl="0" algn="l">
              <a:spcBef>
                <a:spcPts val="0"/>
              </a:spcBef>
              <a:spcAft>
                <a:spcPts val="0"/>
              </a:spcAft>
              <a:buSzPts val="1400"/>
              <a:buChar char="○"/>
            </a:pPr>
            <a:r>
              <a:rPr lang="en"/>
              <a:t>UDP: Impossible to filter, with a stateless packet filter</a:t>
            </a:r>
            <a:endParaRPr/>
          </a:p>
          <a:p>
            <a:pPr indent="-317500" lvl="2" marL="1371600" rtl="0" algn="l">
              <a:spcBef>
                <a:spcPts val="0"/>
              </a:spcBef>
              <a:spcAft>
                <a:spcPts val="0"/>
              </a:spcAft>
              <a:buSzPts val="1400"/>
              <a:buChar char="■"/>
            </a:pPr>
            <a:r>
              <a:rPr lang="en"/>
              <a:t>UDP “connections” are typically implemented at the application layer, so we can’t inspect much</a:t>
            </a:r>
            <a:endParaRPr/>
          </a:p>
        </p:txBody>
      </p:sp>
      <p:sp>
        <p:nvSpPr>
          <p:cNvPr id="444" name="Google Shape;44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A better idea: Keep state in the implementation of the packet filter</a:t>
            </a:r>
            <a:endParaRPr/>
          </a:p>
          <a:p>
            <a:pPr indent="-317500" lvl="1" marL="914400" rtl="0" algn="l">
              <a:spcBef>
                <a:spcPts val="0"/>
              </a:spcBef>
              <a:spcAft>
                <a:spcPts val="0"/>
              </a:spcAft>
              <a:buSzPts val="1400"/>
              <a:buChar char="○"/>
            </a:pPr>
            <a:r>
              <a:rPr lang="en"/>
              <a:t>The filter keeps track of inbound/outbound connections</a:t>
            </a:r>
            <a:endParaRPr/>
          </a:p>
          <a:p>
            <a:pPr indent="-317500" lvl="2" marL="1371600" rtl="0" algn="l">
              <a:spcBef>
                <a:spcPts val="0"/>
              </a:spcBef>
              <a:spcAft>
                <a:spcPts val="0"/>
              </a:spcAft>
              <a:buSzPts val="1400"/>
              <a:buChar char="■"/>
            </a:pPr>
            <a:r>
              <a:rPr lang="en"/>
              <a:t>Notice: All connections have packets going in both directions, so a stateless filter could not do this</a:t>
            </a:r>
            <a:endParaRPr/>
          </a:p>
          <a:p>
            <a:pPr indent="-317500" lvl="1" marL="914400" rtl="0" algn="l">
              <a:spcBef>
                <a:spcPts val="0"/>
              </a:spcBef>
              <a:spcAft>
                <a:spcPts val="0"/>
              </a:spcAft>
              <a:buSzPts val="1400"/>
              <a:buChar char="○"/>
            </a:pPr>
            <a:r>
              <a:rPr lang="en"/>
              <a:t>Rules define what connections are allowed or denied</a:t>
            </a:r>
            <a:endParaRPr sz="1800"/>
          </a:p>
          <a:p>
            <a:pPr indent="-317500" lvl="1" marL="914400" rtl="0" algn="l">
              <a:spcBef>
                <a:spcPts val="0"/>
              </a:spcBef>
              <a:spcAft>
                <a:spcPts val="0"/>
              </a:spcAft>
              <a:buSzPts val="1400"/>
              <a:buChar char="○"/>
            </a:pPr>
            <a:r>
              <a:rPr lang="en"/>
              <a:t>Ultimately, packets are still either forwarded or dropped</a:t>
            </a:r>
            <a:endParaRPr/>
          </a:p>
          <a:p>
            <a:pPr indent="-342900" lvl="0" marL="457200" rtl="0" algn="l">
              <a:spcBef>
                <a:spcPts val="0"/>
              </a:spcBef>
              <a:spcAft>
                <a:spcPts val="0"/>
              </a:spcAft>
              <a:buSzPts val="1800"/>
              <a:buChar char="●"/>
            </a:pPr>
            <a:r>
              <a:rPr lang="en"/>
              <a:t>Example rules:</a:t>
            </a:r>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allow tcp connection 4.5.5.4:* -&gt; 3.1.1.2:80</a:t>
            </a:r>
            <a:endParaRPr>
              <a:latin typeface="Courier New"/>
              <a:ea typeface="Courier New"/>
              <a:cs typeface="Courier New"/>
              <a:sym typeface="Courier New"/>
            </a:endParaRPr>
          </a:p>
          <a:p>
            <a:pPr indent="-317500" lvl="2" marL="1371600" rtl="0" algn="l">
              <a:spcBef>
                <a:spcPts val="0"/>
              </a:spcBef>
              <a:spcAft>
                <a:spcPts val="0"/>
              </a:spcAft>
              <a:buSzPts val="1400"/>
              <a:buChar char="■"/>
            </a:pPr>
            <a:r>
              <a:rPr lang="en"/>
              <a:t>Allow connections from </a:t>
            </a:r>
            <a:r>
              <a:rPr b="1" lang="en">
                <a:latin typeface="Courier New"/>
                <a:ea typeface="Courier New"/>
                <a:cs typeface="Courier New"/>
                <a:sym typeface="Courier New"/>
              </a:rPr>
              <a:t>4.5.5.4</a:t>
            </a:r>
            <a:r>
              <a:rPr lang="en"/>
              <a:t> to </a:t>
            </a:r>
            <a:r>
              <a:rPr b="1" lang="en">
                <a:latin typeface="Courier New"/>
                <a:ea typeface="Courier New"/>
                <a:cs typeface="Courier New"/>
                <a:sym typeface="Courier New"/>
              </a:rPr>
              <a:t>3.1.1.2</a:t>
            </a:r>
            <a:r>
              <a:rPr lang="en"/>
              <a:t> with destination port 80</a:t>
            </a:r>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allow tcp connection *:*/int -&gt; *:80/ext</a:t>
            </a:r>
            <a:endParaRPr>
              <a:latin typeface="Courier New"/>
              <a:ea typeface="Courier New"/>
              <a:cs typeface="Courier New"/>
              <a:sym typeface="Courier New"/>
            </a:endParaRPr>
          </a:p>
          <a:p>
            <a:pPr indent="-317500" lvl="2" marL="1371600" rtl="0" algn="l">
              <a:spcBef>
                <a:spcPts val="0"/>
              </a:spcBef>
              <a:spcAft>
                <a:spcPts val="0"/>
              </a:spcAft>
              <a:buSzPts val="1400"/>
              <a:buChar char="■"/>
            </a:pPr>
            <a:r>
              <a:rPr lang="en"/>
              <a:t>Allow outbound connections with destination port 80</a:t>
            </a:r>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allow tcp connection *:*/int -&gt; *:*/ext</a:t>
            </a:r>
            <a:endParaRPr>
              <a:latin typeface="Courier New"/>
              <a:ea typeface="Courier New"/>
              <a:cs typeface="Courier New"/>
              <a:sym typeface="Courier New"/>
            </a:endParaRPr>
          </a:p>
          <a:p>
            <a:pPr indent="-317500" lvl="2" marL="1371600" rtl="0" algn="l">
              <a:spcBef>
                <a:spcPts val="0"/>
              </a:spcBef>
              <a:spcAft>
                <a:spcPts val="0"/>
              </a:spcAft>
              <a:buSzPts val="1400"/>
              <a:buChar char="■"/>
            </a:pPr>
            <a:r>
              <a:rPr lang="en"/>
              <a:t>Allow all outbound connections</a:t>
            </a:r>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allow tcp connection *:*/ext -&gt; 1.2.2.3:80</a:t>
            </a:r>
            <a:endParaRPr>
              <a:latin typeface="Courier New"/>
              <a:ea typeface="Courier New"/>
              <a:cs typeface="Courier New"/>
              <a:sym typeface="Courier New"/>
            </a:endParaRPr>
          </a:p>
          <a:p>
            <a:pPr indent="-317500" lvl="2" marL="1371600" rtl="0" algn="l">
              <a:spcBef>
                <a:spcPts val="0"/>
              </a:spcBef>
              <a:spcAft>
                <a:spcPts val="0"/>
              </a:spcAft>
              <a:buSzPts val="1400"/>
              <a:buChar char="■"/>
            </a:pPr>
            <a:r>
              <a:rPr lang="en"/>
              <a:t>Allow inbound connections to </a:t>
            </a:r>
            <a:r>
              <a:rPr b="1" lang="en">
                <a:latin typeface="Courier New"/>
                <a:ea typeface="Courier New"/>
                <a:cs typeface="Courier New"/>
                <a:sym typeface="Courier New"/>
              </a:rPr>
              <a:t>1.2.2.3</a:t>
            </a:r>
            <a:r>
              <a:rPr lang="en"/>
              <a:t> with destination port 80</a:t>
            </a:r>
            <a:endParaRPr/>
          </a:p>
        </p:txBody>
      </p:sp>
      <p:sp>
        <p:nvSpPr>
          <p:cNvPr id="450" name="Google Shape;450;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Stateful Packet Filters</a:t>
            </a:r>
            <a:endParaRPr/>
          </a:p>
        </p:txBody>
      </p:sp>
      <p:sp>
        <p:nvSpPr>
          <p:cNvPr id="451" name="Google Shape;45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Stateful packet filters can also track the state of well-known applications</a:t>
            </a:r>
            <a:endParaRPr/>
          </a:p>
          <a:p>
            <a:pPr indent="-317500" lvl="1" marL="914400" rtl="0" algn="l">
              <a:spcBef>
                <a:spcPts val="0"/>
              </a:spcBef>
              <a:spcAft>
                <a:spcPts val="0"/>
              </a:spcAft>
              <a:buSzPts val="1400"/>
              <a:buChar char="○"/>
            </a:pPr>
            <a:r>
              <a:rPr lang="en"/>
              <a:t>Example: Decoding and tracking HTTP requests/responses</a:t>
            </a:r>
            <a:endParaRPr/>
          </a:p>
          <a:p>
            <a:pPr indent="-317500" lvl="1" marL="914400" rtl="0" algn="l">
              <a:spcBef>
                <a:spcPts val="0"/>
              </a:spcBef>
              <a:spcAft>
                <a:spcPts val="0"/>
              </a:spcAft>
              <a:buSzPts val="1400"/>
              <a:buChar char="○"/>
            </a:pPr>
            <a:r>
              <a:rPr lang="en"/>
              <a:t>Example: Tracking the files sent in a FTP (File Transfer Protocol) connection</a:t>
            </a:r>
            <a:endParaRPr/>
          </a:p>
        </p:txBody>
      </p:sp>
      <p:sp>
        <p:nvSpPr>
          <p:cNvPr id="457" name="Google Shape;457;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Stateful Packet Filters</a:t>
            </a:r>
            <a:endParaRPr/>
          </a:p>
        </p:txBody>
      </p:sp>
      <p:sp>
        <p:nvSpPr>
          <p:cNvPr id="458" name="Google Shape;45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 in an FTP Rule</a:t>
            </a:r>
            <a:endParaRPr/>
          </a:p>
        </p:txBody>
      </p:sp>
      <p:sp>
        <p:nvSpPr>
          <p:cNvPr id="464" name="Google Shape;46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5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Consider this rule: “Allow all inbound FTP connections, except those logging in as </a:t>
            </a:r>
            <a:r>
              <a:rPr b="1" lang="en">
                <a:latin typeface="Courier New"/>
                <a:ea typeface="Courier New"/>
                <a:cs typeface="Courier New"/>
                <a:sym typeface="Courier New"/>
              </a:rPr>
              <a:t>root</a:t>
            </a:r>
            <a:r>
              <a:rPr lang="en"/>
              <a:t>”</a:t>
            </a:r>
            <a:endParaRPr/>
          </a:p>
          <a:p>
            <a:pPr indent="-342900" lvl="0" marL="457200" rtl="0" algn="l">
              <a:spcBef>
                <a:spcPts val="0"/>
              </a:spcBef>
              <a:spcAft>
                <a:spcPts val="0"/>
              </a:spcAft>
              <a:buSzPts val="1800"/>
              <a:buChar char="●"/>
            </a:pPr>
            <a:r>
              <a:rPr lang="en"/>
              <a:t>What state does the packet filter have to track?</a:t>
            </a:r>
            <a:endParaRPr/>
          </a:p>
          <a:p>
            <a:pPr indent="-317500" lvl="1" marL="914400" rtl="0" algn="l">
              <a:spcBef>
                <a:spcPts val="0"/>
              </a:spcBef>
              <a:spcAft>
                <a:spcPts val="0"/>
              </a:spcAft>
              <a:buSzPts val="1400"/>
              <a:buChar char="○"/>
            </a:pPr>
            <a:r>
              <a:rPr lang="en"/>
              <a:t>Source IP, destination IP, source port, destination port, etc.</a:t>
            </a:r>
            <a:endParaRPr/>
          </a:p>
          <a:p>
            <a:pPr indent="-317500" lvl="1" marL="914400" rtl="0" algn="l">
              <a:spcBef>
                <a:spcPts val="0"/>
              </a:spcBef>
              <a:spcAft>
                <a:spcPts val="0"/>
              </a:spcAft>
              <a:buSzPts val="1400"/>
              <a:buChar char="○"/>
            </a:pPr>
            <a:r>
              <a:rPr lang="en"/>
              <a:t>Whether this is an FTP connection or not</a:t>
            </a:r>
            <a:endParaRPr/>
          </a:p>
          <a:p>
            <a:pPr indent="-317500" lvl="1" marL="914400" rtl="0" algn="l">
              <a:spcBef>
                <a:spcPts val="0"/>
              </a:spcBef>
              <a:spcAft>
                <a:spcPts val="0"/>
              </a:spcAft>
              <a:buSzPts val="1400"/>
              <a:buChar char="○"/>
            </a:pPr>
            <a:r>
              <a:rPr lang="en"/>
              <a:t>Status of the FTP connection (what command is executed)</a:t>
            </a:r>
            <a:endParaRPr/>
          </a:p>
          <a:p>
            <a:pPr indent="-317500" lvl="1" marL="914400" rtl="0" algn="l">
              <a:spcBef>
                <a:spcPts val="0"/>
              </a:spcBef>
              <a:spcAft>
                <a:spcPts val="0"/>
              </a:spcAft>
              <a:buSzPts val="1400"/>
              <a:buChar char="○"/>
            </a:pPr>
            <a:r>
              <a:rPr lang="en"/>
              <a:t>Username</a:t>
            </a:r>
            <a:endParaRPr/>
          </a:p>
          <a:p>
            <a:pPr indent="-317500" lvl="2" marL="1371600" rtl="0" algn="l">
              <a:spcBef>
                <a:spcPts val="0"/>
              </a:spcBef>
              <a:spcAft>
                <a:spcPts val="0"/>
              </a:spcAft>
              <a:buSzPts val="1400"/>
              <a:buChar char="■"/>
            </a:pPr>
            <a:r>
              <a:rPr lang="en"/>
              <a:t>Or just the first 5 bytes of the username…</a:t>
            </a:r>
            <a:endParaRPr/>
          </a:p>
          <a:p>
            <a:pPr indent="-317500" lvl="2" marL="1371600" rtl="0" algn="l">
              <a:spcBef>
                <a:spcPts val="0"/>
              </a:spcBef>
              <a:spcAft>
                <a:spcPts val="0"/>
              </a:spcAft>
              <a:buSzPts val="1400"/>
              <a:buChar char="■"/>
            </a:pPr>
            <a:r>
              <a:rPr lang="en"/>
              <a:t>Otherwise, the attacker could send a really long username and DoS the firewall</a:t>
            </a:r>
            <a:endParaRPr/>
          </a:p>
          <a:p>
            <a:pPr indent="-342900" lvl="0" marL="457200" rtl="0" algn="l">
              <a:spcBef>
                <a:spcPts val="0"/>
              </a:spcBef>
              <a:spcAft>
                <a:spcPts val="0"/>
              </a:spcAft>
              <a:buSzPts val="1800"/>
              <a:buChar char="●"/>
            </a:pPr>
            <a:r>
              <a:rPr b="1" lang="en"/>
              <a:t>Takeaway</a:t>
            </a:r>
            <a:r>
              <a:rPr lang="en"/>
              <a:t>: To keep track of applications, firewalls must be smart about how they store state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1" name="Google Shape;471;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Evading Packet Filters</a:t>
            </a:r>
            <a:endParaRPr/>
          </a:p>
        </p:txBody>
      </p:sp>
      <p:sp>
        <p:nvSpPr>
          <p:cNvPr id="472" name="Google Shape;472;p54"/>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Consider a simple example: Deny all connections containing the string </a:t>
            </a:r>
            <a:r>
              <a:rPr b="1" lang="en">
                <a:latin typeface="Courier New"/>
                <a:ea typeface="Courier New"/>
                <a:cs typeface="Courier New"/>
                <a:sym typeface="Courier New"/>
              </a:rPr>
              <a:t>root</a:t>
            </a:r>
            <a:endParaRPr/>
          </a:p>
          <a:p>
            <a:pPr indent="-317500" lvl="1" marL="914400" rtl="0" algn="l">
              <a:spcBef>
                <a:spcPts val="0"/>
              </a:spcBef>
              <a:spcAft>
                <a:spcPts val="0"/>
              </a:spcAft>
              <a:buSzPts val="1400"/>
              <a:buChar char="○"/>
            </a:pPr>
            <a:r>
              <a:rPr lang="en"/>
              <a:t>Deny packets that contain the sequence of bytes </a:t>
            </a:r>
            <a:r>
              <a:rPr b="1" lang="en">
                <a:latin typeface="Courier New"/>
                <a:ea typeface="Courier New"/>
                <a:cs typeface="Courier New"/>
                <a:sym typeface="Courier New"/>
              </a:rPr>
              <a:t>r</a:t>
            </a:r>
            <a:r>
              <a:rPr lang="en"/>
              <a:t>, </a:t>
            </a:r>
            <a:r>
              <a:rPr b="1" lang="en">
                <a:latin typeface="Courier New"/>
                <a:ea typeface="Courier New"/>
                <a:cs typeface="Courier New"/>
                <a:sym typeface="Courier New"/>
              </a:rPr>
              <a:t>o</a:t>
            </a:r>
            <a:r>
              <a:rPr lang="en"/>
              <a:t>, </a:t>
            </a:r>
            <a:r>
              <a:rPr b="1" lang="en">
                <a:latin typeface="Courier New"/>
                <a:ea typeface="Courier New"/>
                <a:cs typeface="Courier New"/>
                <a:sym typeface="Courier New"/>
              </a:rPr>
              <a:t>o</a:t>
            </a:r>
            <a:r>
              <a:rPr lang="en"/>
              <a:t>, and </a:t>
            </a:r>
            <a:r>
              <a:rPr b="1" lang="en">
                <a:latin typeface="Courier New"/>
                <a:ea typeface="Courier New"/>
                <a:cs typeface="Courier New"/>
                <a:sym typeface="Courier New"/>
              </a:rPr>
              <a:t>t</a:t>
            </a:r>
            <a:endParaRPr/>
          </a:p>
          <a:p>
            <a:pPr indent="-317500" lvl="1" marL="914400" rtl="0" algn="l">
              <a:spcBef>
                <a:spcPts val="0"/>
              </a:spcBef>
              <a:spcAft>
                <a:spcPts val="0"/>
              </a:spcAft>
              <a:buSzPts val="1400"/>
              <a:buChar char="○"/>
            </a:pPr>
            <a:r>
              <a:rPr lang="en"/>
              <a:t>Allow all other packets</a:t>
            </a:r>
            <a:endParaRPr/>
          </a:p>
        </p:txBody>
      </p:sp>
      <p:graphicFrame>
        <p:nvGraphicFramePr>
          <p:cNvPr id="473" name="Google Shape;473;p54"/>
          <p:cNvGraphicFramePr/>
          <p:nvPr/>
        </p:nvGraphicFramePr>
        <p:xfrm>
          <a:off x="6380100" y="1432325"/>
          <a:ext cx="3000000" cy="3000000"/>
        </p:xfrm>
        <a:graphic>
          <a:graphicData uri="http://schemas.openxmlformats.org/drawingml/2006/table">
            <a:tbl>
              <a:tblPr>
                <a:noFill/>
                <a:tableStyleId>{0EA4BF02-215E-4EB9-A26C-ED6601A8E791}</a:tableStyleId>
              </a:tblPr>
              <a:tblGrid>
                <a:gridCol w="833100"/>
                <a:gridCol w="833100"/>
              </a:tblGrid>
              <a:tr h="111350">
                <a:tc>
                  <a:txBody>
                    <a:bodyPr/>
                    <a:lstStyle/>
                    <a:p>
                      <a:pPr indent="0" lvl="0" marL="0" rtl="0" algn="l">
                        <a:spcBef>
                          <a:spcPts val="0"/>
                        </a:spcBef>
                        <a:spcAft>
                          <a:spcPts val="0"/>
                        </a:spcAft>
                        <a:buNone/>
                      </a:pPr>
                      <a:r>
                        <a:rPr lang="en" sz="1000"/>
                        <a:t>From: A</a:t>
                      </a:r>
                      <a:endParaRPr sz="1000"/>
                    </a:p>
                  </a:txBody>
                  <a:tcPr marT="91425" marB="91425" marR="91425" marL="91425">
                    <a:solidFill>
                      <a:schemeClr val="lt2"/>
                    </a:solidFill>
                  </a:tcPr>
                </a:tc>
                <a:tc>
                  <a:txBody>
                    <a:bodyPr/>
                    <a:lstStyle/>
                    <a:p>
                      <a:pPr indent="0" lvl="0" marL="0" rtl="0" algn="l">
                        <a:spcBef>
                          <a:spcPts val="0"/>
                        </a:spcBef>
                        <a:spcAft>
                          <a:spcPts val="0"/>
                        </a:spcAft>
                        <a:buNone/>
                      </a:pPr>
                      <a:r>
                        <a:rPr lang="en" sz="1000"/>
                        <a:t>To: B</a:t>
                      </a:r>
                      <a:endParaRPr sz="1000"/>
                    </a:p>
                  </a:txBody>
                  <a:tcPr marT="91425" marB="91425" marR="91425" marL="91425">
                    <a:solidFill>
                      <a:schemeClr val="lt2"/>
                    </a:solidFill>
                  </a:tcPr>
                </a:tc>
              </a:tr>
              <a:tr h="111350">
                <a:tc>
                  <a:txBody>
                    <a:bodyPr/>
                    <a:lstStyle/>
                    <a:p>
                      <a:pPr indent="0" lvl="0" marL="0" rtl="0" algn="l">
                        <a:spcBef>
                          <a:spcPts val="0"/>
                        </a:spcBef>
                        <a:spcAft>
                          <a:spcPts val="0"/>
                        </a:spcAft>
                        <a:buNone/>
                      </a:pPr>
                      <a:r>
                        <a:rPr lang="en" sz="1000"/>
                        <a:t>Seq = 4</a:t>
                      </a:r>
                      <a:endParaRPr sz="1000"/>
                    </a:p>
                  </a:txBody>
                  <a:tcPr marT="91425" marB="91425" marR="91425" marL="91425">
                    <a:solidFill>
                      <a:schemeClr val="lt2"/>
                    </a:solidFill>
                  </a:tcPr>
                </a:tc>
                <a:tc>
                  <a:txBody>
                    <a:bodyPr/>
                    <a:lstStyle/>
                    <a:p>
                      <a:pPr indent="0" lvl="0" marL="0" rtl="0" algn="l">
                        <a:spcBef>
                          <a:spcPts val="0"/>
                        </a:spcBef>
                        <a:spcAft>
                          <a:spcPts val="0"/>
                        </a:spcAft>
                        <a:buNone/>
                      </a:pPr>
                      <a:r>
                        <a:t/>
                      </a:r>
                      <a:endParaRPr sz="1000"/>
                    </a:p>
                  </a:txBody>
                  <a:tcPr marT="91425" marB="91425" marR="91425" marL="91425">
                    <a:solidFill>
                      <a:schemeClr val="lt2"/>
                    </a:solidFill>
                  </a:tcPr>
                </a:tc>
              </a:tr>
              <a:tr h="111350">
                <a:tc gridSpan="2">
                  <a:txBody>
                    <a:bodyPr/>
                    <a:lstStyle/>
                    <a:p>
                      <a:pPr indent="0" lvl="0" marL="0" rtl="0" algn="l">
                        <a:spcBef>
                          <a:spcPts val="0"/>
                        </a:spcBef>
                        <a:spcAft>
                          <a:spcPts val="0"/>
                        </a:spcAft>
                        <a:buNone/>
                      </a:pPr>
                      <a:r>
                        <a:rPr b="1" lang="en" sz="1000">
                          <a:latin typeface="Courier New"/>
                          <a:ea typeface="Courier New"/>
                          <a:cs typeface="Courier New"/>
                          <a:sym typeface="Courier New"/>
                        </a:rPr>
                        <a:t>Hello world</a:t>
                      </a:r>
                      <a:endParaRPr b="1" sz="1000">
                        <a:latin typeface="Courier New"/>
                        <a:ea typeface="Courier New"/>
                        <a:cs typeface="Courier New"/>
                        <a:sym typeface="Courier New"/>
                      </a:endParaRPr>
                    </a:p>
                  </a:txBody>
                  <a:tcPr marT="91425" marB="91425" marR="91425" marL="91425">
                    <a:solidFill>
                      <a:schemeClr val="lt2"/>
                    </a:solidFill>
                  </a:tcPr>
                </a:tc>
                <a:tc hMerge="1"/>
              </a:tr>
            </a:tbl>
          </a:graphicData>
        </a:graphic>
      </p:graphicFrame>
      <p:graphicFrame>
        <p:nvGraphicFramePr>
          <p:cNvPr id="474" name="Google Shape;474;p54"/>
          <p:cNvGraphicFramePr/>
          <p:nvPr/>
        </p:nvGraphicFramePr>
        <p:xfrm>
          <a:off x="6380100" y="2671075"/>
          <a:ext cx="3000000" cy="3000000"/>
        </p:xfrm>
        <a:graphic>
          <a:graphicData uri="http://schemas.openxmlformats.org/drawingml/2006/table">
            <a:tbl>
              <a:tblPr>
                <a:noFill/>
                <a:tableStyleId>{0EA4BF02-215E-4EB9-A26C-ED6601A8E791}</a:tableStyleId>
              </a:tblPr>
              <a:tblGrid>
                <a:gridCol w="833100"/>
                <a:gridCol w="833100"/>
              </a:tblGrid>
              <a:tr h="111350">
                <a:tc>
                  <a:txBody>
                    <a:bodyPr/>
                    <a:lstStyle/>
                    <a:p>
                      <a:pPr indent="0" lvl="0" marL="0" rtl="0" algn="l">
                        <a:spcBef>
                          <a:spcPts val="0"/>
                        </a:spcBef>
                        <a:spcAft>
                          <a:spcPts val="0"/>
                        </a:spcAft>
                        <a:buNone/>
                      </a:pPr>
                      <a:r>
                        <a:rPr lang="en" sz="1000"/>
                        <a:t>From: C</a:t>
                      </a:r>
                      <a:endParaRPr sz="1000"/>
                    </a:p>
                  </a:txBody>
                  <a:tcPr marT="91425" marB="91425" marR="91425" marL="91425">
                    <a:solidFill>
                      <a:schemeClr val="lt2"/>
                    </a:solidFill>
                  </a:tcPr>
                </a:tc>
                <a:tc>
                  <a:txBody>
                    <a:bodyPr/>
                    <a:lstStyle/>
                    <a:p>
                      <a:pPr indent="0" lvl="0" marL="0" rtl="0" algn="l">
                        <a:spcBef>
                          <a:spcPts val="0"/>
                        </a:spcBef>
                        <a:spcAft>
                          <a:spcPts val="0"/>
                        </a:spcAft>
                        <a:buNone/>
                      </a:pPr>
                      <a:r>
                        <a:rPr lang="en" sz="1000"/>
                        <a:t>To: D</a:t>
                      </a:r>
                      <a:endParaRPr sz="1000"/>
                    </a:p>
                  </a:txBody>
                  <a:tcPr marT="91425" marB="91425" marR="91425" marL="91425">
                    <a:solidFill>
                      <a:schemeClr val="lt2"/>
                    </a:solidFill>
                  </a:tcPr>
                </a:tc>
              </a:tr>
              <a:tr h="111350">
                <a:tc>
                  <a:txBody>
                    <a:bodyPr/>
                    <a:lstStyle/>
                    <a:p>
                      <a:pPr indent="0" lvl="0" marL="0" rtl="0" algn="l">
                        <a:spcBef>
                          <a:spcPts val="0"/>
                        </a:spcBef>
                        <a:spcAft>
                          <a:spcPts val="0"/>
                        </a:spcAft>
                        <a:buNone/>
                      </a:pPr>
                      <a:r>
                        <a:rPr lang="en" sz="1000"/>
                        <a:t>Seq = 2</a:t>
                      </a:r>
                      <a:endParaRPr sz="1000"/>
                    </a:p>
                  </a:txBody>
                  <a:tcPr marT="91425" marB="91425" marR="91425" marL="91425">
                    <a:solidFill>
                      <a:schemeClr val="lt2"/>
                    </a:solidFill>
                  </a:tcPr>
                </a:tc>
                <a:tc>
                  <a:txBody>
                    <a:bodyPr/>
                    <a:lstStyle/>
                    <a:p>
                      <a:pPr indent="0" lvl="0" marL="0" rtl="0" algn="l">
                        <a:spcBef>
                          <a:spcPts val="0"/>
                        </a:spcBef>
                        <a:spcAft>
                          <a:spcPts val="0"/>
                        </a:spcAft>
                        <a:buNone/>
                      </a:pPr>
                      <a:r>
                        <a:t/>
                      </a:r>
                      <a:endParaRPr sz="1000"/>
                    </a:p>
                  </a:txBody>
                  <a:tcPr marT="91425" marB="91425" marR="91425" marL="91425">
                    <a:solidFill>
                      <a:schemeClr val="lt2"/>
                    </a:solidFill>
                  </a:tcPr>
                </a:tc>
              </a:tr>
              <a:tr h="111350">
                <a:tc gridSpan="2">
                  <a:txBody>
                    <a:bodyPr/>
                    <a:lstStyle/>
                    <a:p>
                      <a:pPr indent="0" lvl="0" marL="0" rtl="0" algn="l">
                        <a:spcBef>
                          <a:spcPts val="0"/>
                        </a:spcBef>
                        <a:spcAft>
                          <a:spcPts val="0"/>
                        </a:spcAft>
                        <a:buNone/>
                      </a:pPr>
                      <a:r>
                        <a:rPr b="1" lang="en" sz="1000">
                          <a:latin typeface="Courier New"/>
                          <a:ea typeface="Courier New"/>
                          <a:cs typeface="Courier New"/>
                          <a:sym typeface="Courier New"/>
                        </a:rPr>
                        <a:t>Log in</a:t>
                      </a:r>
                      <a:endParaRPr b="1" sz="1000">
                        <a:latin typeface="Courier New"/>
                        <a:ea typeface="Courier New"/>
                        <a:cs typeface="Courier New"/>
                        <a:sym typeface="Courier New"/>
                      </a:endParaRPr>
                    </a:p>
                  </a:txBody>
                  <a:tcPr marT="91425" marB="91425" marR="91425" marL="91425">
                    <a:solidFill>
                      <a:schemeClr val="lt2"/>
                    </a:solidFill>
                  </a:tcPr>
                </a:tc>
                <a:tc hMerge="1"/>
              </a:tr>
            </a:tbl>
          </a:graphicData>
        </a:graphic>
      </p:graphicFrame>
      <p:sp>
        <p:nvSpPr>
          <p:cNvPr id="475" name="Google Shape;475;p54"/>
          <p:cNvSpPr txBox="1"/>
          <p:nvPr/>
        </p:nvSpPr>
        <p:spPr>
          <a:xfrm>
            <a:off x="8046300" y="1565750"/>
            <a:ext cx="51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rgbClr val="38761D"/>
                </a:solidFill>
              </a:rPr>
              <a:t>✓</a:t>
            </a:r>
            <a:endParaRPr sz="3600">
              <a:solidFill>
                <a:srgbClr val="38761D"/>
              </a:solidFill>
            </a:endParaRPr>
          </a:p>
        </p:txBody>
      </p:sp>
      <p:graphicFrame>
        <p:nvGraphicFramePr>
          <p:cNvPr id="476" name="Google Shape;476;p54"/>
          <p:cNvGraphicFramePr/>
          <p:nvPr/>
        </p:nvGraphicFramePr>
        <p:xfrm>
          <a:off x="6380100" y="3909825"/>
          <a:ext cx="3000000" cy="3000000"/>
        </p:xfrm>
        <a:graphic>
          <a:graphicData uri="http://schemas.openxmlformats.org/drawingml/2006/table">
            <a:tbl>
              <a:tblPr>
                <a:noFill/>
                <a:tableStyleId>{0EA4BF02-215E-4EB9-A26C-ED6601A8E791}</a:tableStyleId>
              </a:tblPr>
              <a:tblGrid>
                <a:gridCol w="833100"/>
                <a:gridCol w="833100"/>
              </a:tblGrid>
              <a:tr h="111350">
                <a:tc>
                  <a:txBody>
                    <a:bodyPr/>
                    <a:lstStyle/>
                    <a:p>
                      <a:pPr indent="0" lvl="0" marL="0" rtl="0" algn="l">
                        <a:spcBef>
                          <a:spcPts val="0"/>
                        </a:spcBef>
                        <a:spcAft>
                          <a:spcPts val="0"/>
                        </a:spcAft>
                        <a:buNone/>
                      </a:pPr>
                      <a:r>
                        <a:rPr lang="en" sz="1000"/>
                        <a:t>From: C</a:t>
                      </a:r>
                      <a:endParaRPr sz="1000"/>
                    </a:p>
                  </a:txBody>
                  <a:tcPr marT="91425" marB="91425" marR="91425" marL="91425">
                    <a:solidFill>
                      <a:schemeClr val="lt2"/>
                    </a:solidFill>
                  </a:tcPr>
                </a:tc>
                <a:tc>
                  <a:txBody>
                    <a:bodyPr/>
                    <a:lstStyle/>
                    <a:p>
                      <a:pPr indent="0" lvl="0" marL="0" rtl="0" algn="l">
                        <a:spcBef>
                          <a:spcPts val="0"/>
                        </a:spcBef>
                        <a:spcAft>
                          <a:spcPts val="0"/>
                        </a:spcAft>
                        <a:buNone/>
                      </a:pPr>
                      <a:r>
                        <a:rPr lang="en" sz="1000"/>
                        <a:t>To: D</a:t>
                      </a:r>
                      <a:endParaRPr sz="1000"/>
                    </a:p>
                  </a:txBody>
                  <a:tcPr marT="91425" marB="91425" marR="91425" marL="91425">
                    <a:solidFill>
                      <a:schemeClr val="lt2"/>
                    </a:solidFill>
                  </a:tcPr>
                </a:tc>
              </a:tr>
              <a:tr h="111350">
                <a:tc>
                  <a:txBody>
                    <a:bodyPr/>
                    <a:lstStyle/>
                    <a:p>
                      <a:pPr indent="0" lvl="0" marL="0" rtl="0" algn="l">
                        <a:spcBef>
                          <a:spcPts val="0"/>
                        </a:spcBef>
                        <a:spcAft>
                          <a:spcPts val="0"/>
                        </a:spcAft>
                        <a:buNone/>
                      </a:pPr>
                      <a:r>
                        <a:rPr lang="en" sz="1000"/>
                        <a:t>Seq = 8</a:t>
                      </a:r>
                      <a:endParaRPr sz="1000"/>
                    </a:p>
                  </a:txBody>
                  <a:tcPr marT="91425" marB="91425" marR="91425" marL="91425">
                    <a:solidFill>
                      <a:schemeClr val="lt2"/>
                    </a:solidFill>
                  </a:tcPr>
                </a:tc>
                <a:tc>
                  <a:txBody>
                    <a:bodyPr/>
                    <a:lstStyle/>
                    <a:p>
                      <a:pPr indent="0" lvl="0" marL="0" rtl="0" algn="l">
                        <a:spcBef>
                          <a:spcPts val="0"/>
                        </a:spcBef>
                        <a:spcAft>
                          <a:spcPts val="0"/>
                        </a:spcAft>
                        <a:buNone/>
                      </a:pPr>
                      <a:r>
                        <a:t/>
                      </a:r>
                      <a:endParaRPr sz="1000"/>
                    </a:p>
                  </a:txBody>
                  <a:tcPr marT="91425" marB="91425" marR="91425" marL="91425">
                    <a:solidFill>
                      <a:schemeClr val="lt2"/>
                    </a:solidFill>
                  </a:tcPr>
                </a:tc>
              </a:tr>
              <a:tr h="111350">
                <a:tc gridSpan="2">
                  <a:txBody>
                    <a:bodyPr/>
                    <a:lstStyle/>
                    <a:p>
                      <a:pPr indent="0" lvl="0" marL="0" rtl="0" algn="l">
                        <a:spcBef>
                          <a:spcPts val="0"/>
                        </a:spcBef>
                        <a:spcAft>
                          <a:spcPts val="0"/>
                        </a:spcAft>
                        <a:buNone/>
                      </a:pPr>
                      <a:r>
                        <a:rPr b="1" lang="en" sz="1000">
                          <a:latin typeface="Courier New"/>
                          <a:ea typeface="Courier New"/>
                          <a:cs typeface="Courier New"/>
                          <a:sym typeface="Courier New"/>
                        </a:rPr>
                        <a:t> </a:t>
                      </a:r>
                      <a:r>
                        <a:rPr b="1" lang="en" sz="1000">
                          <a:latin typeface="Courier New"/>
                          <a:ea typeface="Courier New"/>
                          <a:cs typeface="Courier New"/>
                          <a:sym typeface="Courier New"/>
                        </a:rPr>
                        <a:t>as root</a:t>
                      </a:r>
                      <a:endParaRPr b="1" sz="1000">
                        <a:latin typeface="Courier New"/>
                        <a:ea typeface="Courier New"/>
                        <a:cs typeface="Courier New"/>
                        <a:sym typeface="Courier New"/>
                      </a:endParaRPr>
                    </a:p>
                  </a:txBody>
                  <a:tcPr marT="91425" marB="91425" marR="91425" marL="91425">
                    <a:solidFill>
                      <a:schemeClr val="lt2"/>
                    </a:solidFill>
                  </a:tcPr>
                </a:tc>
                <a:tc hMerge="1"/>
              </a:tr>
            </a:tbl>
          </a:graphicData>
        </a:graphic>
      </p:graphicFrame>
      <p:sp>
        <p:nvSpPr>
          <p:cNvPr id="477" name="Google Shape;477;p54"/>
          <p:cNvSpPr txBox="1"/>
          <p:nvPr/>
        </p:nvSpPr>
        <p:spPr>
          <a:xfrm>
            <a:off x="8046300" y="4043238"/>
            <a:ext cx="51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rgbClr val="CC0000"/>
                </a:solidFill>
              </a:rPr>
              <a:t>✗</a:t>
            </a:r>
            <a:endParaRPr sz="3600">
              <a:solidFill>
                <a:srgbClr val="CC0000"/>
              </a:solidFill>
            </a:endParaRPr>
          </a:p>
        </p:txBody>
      </p:sp>
      <p:sp>
        <p:nvSpPr>
          <p:cNvPr id="478" name="Google Shape;478;p54"/>
          <p:cNvSpPr txBox="1"/>
          <p:nvPr/>
        </p:nvSpPr>
        <p:spPr>
          <a:xfrm>
            <a:off x="8046300" y="2804500"/>
            <a:ext cx="51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rgbClr val="38761D"/>
                </a:solidFill>
              </a:rPr>
              <a:t>✓</a:t>
            </a:r>
            <a:endParaRPr sz="3600">
              <a:solidFill>
                <a:srgbClr val="38761D"/>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Evading</a:t>
            </a:r>
            <a:r>
              <a:rPr lang="en"/>
              <a:t> Packet Filters</a:t>
            </a:r>
            <a:endParaRPr/>
          </a:p>
        </p:txBody>
      </p:sp>
      <p:sp>
        <p:nvSpPr>
          <p:cNvPr id="485" name="Google Shape;485;p55"/>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TCP splits messages are split into packets</a:t>
            </a:r>
            <a:endParaRPr/>
          </a:p>
          <a:p>
            <a:pPr indent="-317500" lvl="1" marL="914400" rtl="0" algn="l">
              <a:spcBef>
                <a:spcPts val="0"/>
              </a:spcBef>
              <a:spcAft>
                <a:spcPts val="0"/>
              </a:spcAft>
              <a:buSzPts val="1400"/>
              <a:buChar char="○"/>
            </a:pPr>
            <a:r>
              <a:rPr lang="en"/>
              <a:t>Packets can arrive out of order: The application will use sequence numbers to reorder packets</a:t>
            </a:r>
            <a:endParaRPr/>
          </a:p>
          <a:p>
            <a:pPr indent="-342900" lvl="0" marL="457200" rtl="0" algn="l">
              <a:spcBef>
                <a:spcPts val="0"/>
              </a:spcBef>
              <a:spcAft>
                <a:spcPts val="0"/>
              </a:spcAft>
              <a:buSzPts val="1800"/>
              <a:buChar char="●"/>
            </a:pPr>
            <a:r>
              <a:rPr lang="en"/>
              <a:t>Attack: Split the word </a:t>
            </a:r>
            <a:r>
              <a:rPr b="1" lang="en">
                <a:latin typeface="Courier New"/>
                <a:ea typeface="Courier New"/>
                <a:cs typeface="Courier New"/>
                <a:sym typeface="Courier New"/>
              </a:rPr>
              <a:t>root</a:t>
            </a:r>
            <a:r>
              <a:rPr lang="en"/>
              <a:t> across packets</a:t>
            </a:r>
            <a:endParaRPr/>
          </a:p>
          <a:p>
            <a:pPr indent="-317500" lvl="1" marL="914400" rtl="0" algn="l">
              <a:spcBef>
                <a:spcPts val="0"/>
              </a:spcBef>
              <a:spcAft>
                <a:spcPts val="0"/>
              </a:spcAft>
              <a:buSzPts val="1400"/>
              <a:buChar char="○"/>
            </a:pPr>
            <a:r>
              <a:rPr lang="en"/>
              <a:t>No single packet contains </a:t>
            </a:r>
            <a:r>
              <a:rPr b="1" lang="en">
                <a:latin typeface="Courier New"/>
                <a:ea typeface="Courier New"/>
                <a:cs typeface="Courier New"/>
                <a:sym typeface="Courier New"/>
              </a:rPr>
              <a:t>root</a:t>
            </a:r>
            <a:r>
              <a:rPr lang="en"/>
              <a:t>, so the firewall won’t stop any of these packets</a:t>
            </a:r>
            <a:endParaRPr/>
          </a:p>
          <a:p>
            <a:pPr indent="-342900" lvl="0" marL="457200" rtl="0" algn="l">
              <a:spcBef>
                <a:spcPts val="0"/>
              </a:spcBef>
              <a:spcAft>
                <a:spcPts val="0"/>
              </a:spcAft>
              <a:buSzPts val="1800"/>
              <a:buChar char="●"/>
            </a:pPr>
            <a:r>
              <a:rPr lang="en"/>
              <a:t>Attack: Send the split packets out of order</a:t>
            </a:r>
            <a:endParaRPr/>
          </a:p>
          <a:p>
            <a:pPr indent="-317500" lvl="1" marL="914400" rtl="0" algn="l">
              <a:spcBef>
                <a:spcPts val="0"/>
              </a:spcBef>
              <a:spcAft>
                <a:spcPts val="0"/>
              </a:spcAft>
              <a:buSzPts val="1400"/>
              <a:buChar char="○"/>
            </a:pPr>
            <a:r>
              <a:rPr lang="en"/>
              <a:t>Now the firewall has to reconstruct TCP connections to detect the </a:t>
            </a:r>
            <a:r>
              <a:rPr b="1" lang="en">
                <a:latin typeface="Courier New"/>
                <a:ea typeface="Courier New"/>
                <a:cs typeface="Courier New"/>
                <a:sym typeface="Courier New"/>
              </a:rPr>
              <a:t>root</a:t>
            </a:r>
            <a:r>
              <a:rPr lang="en"/>
              <a:t> message</a:t>
            </a:r>
            <a:endParaRPr/>
          </a:p>
        </p:txBody>
      </p:sp>
      <p:sp>
        <p:nvSpPr>
          <p:cNvPr id="486" name="Google Shape;486;p55"/>
          <p:cNvSpPr txBox="1"/>
          <p:nvPr/>
        </p:nvSpPr>
        <p:spPr>
          <a:xfrm>
            <a:off x="5632450" y="2013171"/>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487" name="Google Shape;487;p55"/>
          <p:cNvSpPr txBox="1"/>
          <p:nvPr/>
        </p:nvSpPr>
        <p:spPr>
          <a:xfrm>
            <a:off x="5632450" y="238656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r</a:t>
            </a:r>
            <a:endParaRPr b="1" sz="1000">
              <a:latin typeface="Courier New"/>
              <a:ea typeface="Courier New"/>
              <a:cs typeface="Courier New"/>
              <a:sym typeface="Courier New"/>
            </a:endParaRPr>
          </a:p>
        </p:txBody>
      </p:sp>
      <p:sp>
        <p:nvSpPr>
          <p:cNvPr id="488" name="Google Shape;488;p55"/>
          <p:cNvSpPr txBox="1"/>
          <p:nvPr/>
        </p:nvSpPr>
        <p:spPr>
          <a:xfrm>
            <a:off x="5632450" y="2763961"/>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489" name="Google Shape;489;p55"/>
          <p:cNvSpPr txBox="1"/>
          <p:nvPr/>
        </p:nvSpPr>
        <p:spPr>
          <a:xfrm>
            <a:off x="5632450" y="3133200"/>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t</a:t>
            </a:r>
            <a:endParaRPr b="1" sz="1000">
              <a:latin typeface="Courier New"/>
              <a:ea typeface="Courier New"/>
              <a:cs typeface="Courier New"/>
              <a:sym typeface="Courier New"/>
            </a:endParaRPr>
          </a:p>
        </p:txBody>
      </p:sp>
      <p:cxnSp>
        <p:nvCxnSpPr>
          <p:cNvPr id="490" name="Google Shape;490;p55"/>
          <p:cNvCxnSpPr>
            <a:stCxn id="486" idx="3"/>
            <a:endCxn id="491" idx="1"/>
          </p:cNvCxnSpPr>
          <p:nvPr/>
        </p:nvCxnSpPr>
        <p:spPr>
          <a:xfrm>
            <a:off x="5903050" y="2136321"/>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492" name="Google Shape;492;p55"/>
          <p:cNvCxnSpPr>
            <a:stCxn id="487" idx="3"/>
            <a:endCxn id="493" idx="1"/>
          </p:cNvCxnSpPr>
          <p:nvPr/>
        </p:nvCxnSpPr>
        <p:spPr>
          <a:xfrm>
            <a:off x="5903050" y="2509718"/>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494" name="Google Shape;494;p55"/>
          <p:cNvCxnSpPr>
            <a:stCxn id="488" idx="3"/>
            <a:endCxn id="495" idx="1"/>
          </p:cNvCxnSpPr>
          <p:nvPr/>
        </p:nvCxnSpPr>
        <p:spPr>
          <a:xfrm>
            <a:off x="5903050" y="2887111"/>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496" name="Google Shape;496;p55"/>
          <p:cNvCxnSpPr>
            <a:stCxn id="489" idx="3"/>
            <a:endCxn id="497" idx="1"/>
          </p:cNvCxnSpPr>
          <p:nvPr/>
        </p:nvCxnSpPr>
        <p:spPr>
          <a:xfrm>
            <a:off x="5903050" y="3256350"/>
            <a:ext cx="2711700" cy="0"/>
          </a:xfrm>
          <a:prstGeom prst="straightConnector1">
            <a:avLst/>
          </a:prstGeom>
          <a:noFill/>
          <a:ln cap="flat" cmpd="sng" w="9525">
            <a:solidFill>
              <a:schemeClr val="dk2"/>
            </a:solidFill>
            <a:prstDash val="solid"/>
            <a:round/>
            <a:headEnd len="med" w="med" type="none"/>
            <a:tailEnd len="med" w="med" type="triangle"/>
          </a:ln>
        </p:spPr>
      </p:cxnSp>
      <p:sp>
        <p:nvSpPr>
          <p:cNvPr id="498" name="Google Shape;498;p55"/>
          <p:cNvSpPr/>
          <p:nvPr/>
        </p:nvSpPr>
        <p:spPr>
          <a:xfrm rot="-5400000">
            <a:off x="5942600" y="2861650"/>
            <a:ext cx="2857500" cy="323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0" spcFirstLastPara="1" rIns="91425" wrap="square" tIns="91425">
            <a:noAutofit/>
          </a:bodyPr>
          <a:lstStyle/>
          <a:p>
            <a:pPr indent="0" lvl="0" marL="0" rtl="0" algn="ctr">
              <a:spcBef>
                <a:spcPts val="0"/>
              </a:spcBef>
              <a:spcAft>
                <a:spcPts val="0"/>
              </a:spcAft>
              <a:buNone/>
            </a:pPr>
            <a:r>
              <a:rPr lang="en"/>
              <a:t>Firewall</a:t>
            </a:r>
            <a:endParaRPr/>
          </a:p>
        </p:txBody>
      </p:sp>
      <p:sp>
        <p:nvSpPr>
          <p:cNvPr id="491" name="Google Shape;491;p55"/>
          <p:cNvSpPr txBox="1"/>
          <p:nvPr/>
        </p:nvSpPr>
        <p:spPr>
          <a:xfrm>
            <a:off x="8614750" y="2013159"/>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493" name="Google Shape;493;p55"/>
          <p:cNvSpPr txBox="1"/>
          <p:nvPr/>
        </p:nvSpPr>
        <p:spPr>
          <a:xfrm>
            <a:off x="8614750" y="2386555"/>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r</a:t>
            </a:r>
            <a:endParaRPr b="1" sz="1000">
              <a:latin typeface="Courier New"/>
              <a:ea typeface="Courier New"/>
              <a:cs typeface="Courier New"/>
              <a:sym typeface="Courier New"/>
            </a:endParaRPr>
          </a:p>
        </p:txBody>
      </p:sp>
      <p:sp>
        <p:nvSpPr>
          <p:cNvPr id="495" name="Google Shape;495;p55"/>
          <p:cNvSpPr txBox="1"/>
          <p:nvPr/>
        </p:nvSpPr>
        <p:spPr>
          <a:xfrm>
            <a:off x="8614750" y="276394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497" name="Google Shape;497;p55"/>
          <p:cNvSpPr txBox="1"/>
          <p:nvPr/>
        </p:nvSpPr>
        <p:spPr>
          <a:xfrm>
            <a:off x="8614750" y="313318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t</a:t>
            </a:r>
            <a:endParaRPr b="1" sz="1000">
              <a:latin typeface="Courier New"/>
              <a:ea typeface="Courier New"/>
              <a:cs typeface="Courier New"/>
              <a:sym typeface="Courier New"/>
            </a:endParaRPr>
          </a:p>
        </p:txBody>
      </p:sp>
      <p:sp>
        <p:nvSpPr>
          <p:cNvPr id="499" name="Google Shape;499;p55"/>
          <p:cNvSpPr txBox="1"/>
          <p:nvPr/>
        </p:nvSpPr>
        <p:spPr>
          <a:xfrm>
            <a:off x="5987475" y="189002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6</a:t>
            </a:r>
            <a:endParaRPr sz="1000"/>
          </a:p>
        </p:txBody>
      </p:sp>
      <p:sp>
        <p:nvSpPr>
          <p:cNvPr id="500" name="Google Shape;500;p55"/>
          <p:cNvSpPr txBox="1"/>
          <p:nvPr/>
        </p:nvSpPr>
        <p:spPr>
          <a:xfrm>
            <a:off x="5987475" y="2263450"/>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4</a:t>
            </a:r>
            <a:endParaRPr sz="1000"/>
          </a:p>
        </p:txBody>
      </p:sp>
      <p:sp>
        <p:nvSpPr>
          <p:cNvPr id="501" name="Google Shape;501;p55"/>
          <p:cNvSpPr txBox="1"/>
          <p:nvPr/>
        </p:nvSpPr>
        <p:spPr>
          <a:xfrm>
            <a:off x="5987475" y="263687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5</a:t>
            </a:r>
            <a:endParaRPr sz="1000"/>
          </a:p>
        </p:txBody>
      </p:sp>
      <p:sp>
        <p:nvSpPr>
          <p:cNvPr id="502" name="Google Shape;502;p55"/>
          <p:cNvSpPr txBox="1"/>
          <p:nvPr/>
        </p:nvSpPr>
        <p:spPr>
          <a:xfrm>
            <a:off x="5987475" y="3010300"/>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7</a:t>
            </a:r>
            <a:endParaRPr sz="1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8" name="Google Shape;508;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Evading</a:t>
            </a:r>
            <a:r>
              <a:rPr lang="en"/>
              <a:t> Packet Filters</a:t>
            </a:r>
            <a:endParaRPr/>
          </a:p>
        </p:txBody>
      </p:sp>
      <p:sp>
        <p:nvSpPr>
          <p:cNvPr id="509" name="Google Shape;509;p56"/>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IP packets have a time-to-live (TTL)</a:t>
            </a:r>
            <a:endParaRPr/>
          </a:p>
          <a:p>
            <a:pPr indent="-317500" lvl="1" marL="914400" rtl="0" algn="l">
              <a:spcBef>
                <a:spcPts val="0"/>
              </a:spcBef>
              <a:spcAft>
                <a:spcPts val="0"/>
              </a:spcAft>
              <a:buSzPts val="1400"/>
              <a:buChar char="○"/>
            </a:pPr>
            <a:r>
              <a:rPr lang="en"/>
              <a:t>The number of hops a packet may take before the packet is dropped</a:t>
            </a:r>
            <a:endParaRPr/>
          </a:p>
          <a:p>
            <a:pPr indent="-342900" lvl="0" marL="457200" rtl="0" algn="l">
              <a:spcBef>
                <a:spcPts val="0"/>
              </a:spcBef>
              <a:spcAft>
                <a:spcPts val="0"/>
              </a:spcAft>
              <a:buSzPts val="1800"/>
              <a:buChar char="●"/>
            </a:pPr>
            <a:r>
              <a:rPr lang="en"/>
              <a:t>The attacker can easily find how many hops away a given server is</a:t>
            </a:r>
            <a:endParaRPr/>
          </a:p>
          <a:p>
            <a:pPr indent="-317500" lvl="1" marL="914400" rtl="0" algn="l">
              <a:spcBef>
                <a:spcPts val="0"/>
              </a:spcBef>
              <a:spcAft>
                <a:spcPts val="0"/>
              </a:spcAft>
              <a:buSzPts val="1400"/>
              <a:buChar char="○"/>
            </a:pPr>
            <a:r>
              <a:rPr lang="en"/>
              <a:t>Technique: Send ping packets with increasing TTLs until the server responds</a:t>
            </a:r>
            <a:endParaRPr/>
          </a:p>
          <a:p>
            <a:pPr indent="-342900" lvl="0" marL="457200" rtl="0" algn="l">
              <a:spcBef>
                <a:spcPts val="0"/>
              </a:spcBef>
              <a:spcAft>
                <a:spcPts val="0"/>
              </a:spcAft>
              <a:buSzPts val="1800"/>
              <a:buChar char="●"/>
            </a:pPr>
            <a:r>
              <a:rPr lang="en"/>
              <a:t>If the destination takes more hops than the firewall, the attacker can exploit this</a:t>
            </a:r>
            <a:endParaRPr/>
          </a:p>
          <a:p>
            <a:pPr indent="-317500" lvl="1" marL="914400" rtl="0" algn="l">
              <a:spcBef>
                <a:spcPts val="0"/>
              </a:spcBef>
              <a:spcAft>
                <a:spcPts val="0"/>
              </a:spcAft>
              <a:buSzPts val="1400"/>
              <a:buChar char="○"/>
            </a:pPr>
            <a:r>
              <a:rPr lang="en"/>
              <a:t>Send multiple packets with the same sequence number, setting the TTLs on the dummy packets so that they are dropped before the reach the destination</a:t>
            </a:r>
            <a:endParaRPr/>
          </a:p>
        </p:txBody>
      </p:sp>
      <p:sp>
        <p:nvSpPr>
          <p:cNvPr id="510" name="Google Shape;510;p56"/>
          <p:cNvSpPr txBox="1"/>
          <p:nvPr/>
        </p:nvSpPr>
        <p:spPr>
          <a:xfrm>
            <a:off x="5632450" y="1639775"/>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n</a:t>
            </a:r>
            <a:endParaRPr b="1" sz="1000">
              <a:latin typeface="Courier New"/>
              <a:ea typeface="Courier New"/>
              <a:cs typeface="Courier New"/>
              <a:sym typeface="Courier New"/>
            </a:endParaRPr>
          </a:p>
        </p:txBody>
      </p:sp>
      <p:sp>
        <p:nvSpPr>
          <p:cNvPr id="511" name="Google Shape;511;p56"/>
          <p:cNvSpPr txBox="1"/>
          <p:nvPr/>
        </p:nvSpPr>
        <p:spPr>
          <a:xfrm>
            <a:off x="5632450" y="2013171"/>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r</a:t>
            </a:r>
            <a:endParaRPr b="1" sz="1000">
              <a:latin typeface="Courier New"/>
              <a:ea typeface="Courier New"/>
              <a:cs typeface="Courier New"/>
              <a:sym typeface="Courier New"/>
            </a:endParaRPr>
          </a:p>
        </p:txBody>
      </p:sp>
      <p:sp>
        <p:nvSpPr>
          <p:cNvPr id="512" name="Google Shape;512;p56"/>
          <p:cNvSpPr txBox="1"/>
          <p:nvPr/>
        </p:nvSpPr>
        <p:spPr>
          <a:xfrm>
            <a:off x="5632450" y="238656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513" name="Google Shape;513;p56"/>
          <p:cNvSpPr txBox="1"/>
          <p:nvPr/>
        </p:nvSpPr>
        <p:spPr>
          <a:xfrm>
            <a:off x="5632450" y="2759964"/>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i</a:t>
            </a:r>
            <a:endParaRPr b="1" sz="1000">
              <a:latin typeface="Courier New"/>
              <a:ea typeface="Courier New"/>
              <a:cs typeface="Courier New"/>
              <a:sym typeface="Courier New"/>
            </a:endParaRPr>
          </a:p>
        </p:txBody>
      </p:sp>
      <p:sp>
        <p:nvSpPr>
          <p:cNvPr id="514" name="Google Shape;514;p56"/>
          <p:cNvSpPr txBox="1"/>
          <p:nvPr/>
        </p:nvSpPr>
        <p:spPr>
          <a:xfrm>
            <a:off x="5632450" y="3133361"/>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515" name="Google Shape;515;p56"/>
          <p:cNvSpPr txBox="1"/>
          <p:nvPr/>
        </p:nvSpPr>
        <p:spPr>
          <a:xfrm>
            <a:off x="5632450" y="3506757"/>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c</a:t>
            </a:r>
            <a:endParaRPr b="1" sz="1000">
              <a:latin typeface="Courier New"/>
              <a:ea typeface="Courier New"/>
              <a:cs typeface="Courier New"/>
              <a:sym typeface="Courier New"/>
            </a:endParaRPr>
          </a:p>
        </p:txBody>
      </p:sp>
      <p:sp>
        <p:nvSpPr>
          <p:cNvPr id="516" name="Google Shape;516;p56"/>
          <p:cNvSpPr txBox="1"/>
          <p:nvPr/>
        </p:nvSpPr>
        <p:spPr>
          <a:xfrm>
            <a:off x="5632450" y="3880154"/>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e</a:t>
            </a:r>
            <a:endParaRPr b="1" sz="1000">
              <a:latin typeface="Courier New"/>
              <a:ea typeface="Courier New"/>
              <a:cs typeface="Courier New"/>
              <a:sym typeface="Courier New"/>
            </a:endParaRPr>
          </a:p>
        </p:txBody>
      </p:sp>
      <p:sp>
        <p:nvSpPr>
          <p:cNvPr id="517" name="Google Shape;517;p56"/>
          <p:cNvSpPr txBox="1"/>
          <p:nvPr/>
        </p:nvSpPr>
        <p:spPr>
          <a:xfrm>
            <a:off x="5632450" y="4253550"/>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t</a:t>
            </a:r>
            <a:endParaRPr b="1" sz="1000">
              <a:latin typeface="Courier New"/>
              <a:ea typeface="Courier New"/>
              <a:cs typeface="Courier New"/>
              <a:sym typeface="Courier New"/>
            </a:endParaRPr>
          </a:p>
        </p:txBody>
      </p:sp>
      <p:cxnSp>
        <p:nvCxnSpPr>
          <p:cNvPr id="518" name="Google Shape;518;p56"/>
          <p:cNvCxnSpPr>
            <a:stCxn id="511" idx="3"/>
            <a:endCxn id="519" idx="1"/>
          </p:cNvCxnSpPr>
          <p:nvPr/>
        </p:nvCxnSpPr>
        <p:spPr>
          <a:xfrm>
            <a:off x="5903050" y="2136321"/>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520" name="Google Shape;520;p56"/>
          <p:cNvCxnSpPr>
            <a:stCxn id="512" idx="3"/>
            <a:endCxn id="521" idx="1"/>
          </p:cNvCxnSpPr>
          <p:nvPr/>
        </p:nvCxnSpPr>
        <p:spPr>
          <a:xfrm>
            <a:off x="5903050" y="2509718"/>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522" name="Google Shape;522;p56"/>
          <p:cNvCxnSpPr>
            <a:stCxn id="514" idx="3"/>
            <a:endCxn id="523" idx="1"/>
          </p:cNvCxnSpPr>
          <p:nvPr/>
        </p:nvCxnSpPr>
        <p:spPr>
          <a:xfrm>
            <a:off x="5903050" y="3256511"/>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524" name="Google Shape;524;p56"/>
          <p:cNvCxnSpPr>
            <a:stCxn id="517" idx="3"/>
            <a:endCxn id="525" idx="1"/>
          </p:cNvCxnSpPr>
          <p:nvPr/>
        </p:nvCxnSpPr>
        <p:spPr>
          <a:xfrm>
            <a:off x="5903050" y="4376700"/>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526" name="Google Shape;526;p56"/>
          <p:cNvCxnSpPr/>
          <p:nvPr/>
        </p:nvCxnSpPr>
        <p:spPr>
          <a:xfrm>
            <a:off x="5903050" y="1762925"/>
            <a:ext cx="2172000" cy="0"/>
          </a:xfrm>
          <a:prstGeom prst="straightConnector1">
            <a:avLst/>
          </a:prstGeom>
          <a:noFill/>
          <a:ln cap="flat" cmpd="sng" w="9525">
            <a:solidFill>
              <a:schemeClr val="dk2"/>
            </a:solidFill>
            <a:prstDash val="solid"/>
            <a:round/>
            <a:headEnd len="med" w="med" type="none"/>
            <a:tailEnd len="med" w="med" type="diamond"/>
          </a:ln>
        </p:spPr>
      </p:cxnSp>
      <p:cxnSp>
        <p:nvCxnSpPr>
          <p:cNvPr id="527" name="Google Shape;527;p56"/>
          <p:cNvCxnSpPr/>
          <p:nvPr/>
        </p:nvCxnSpPr>
        <p:spPr>
          <a:xfrm>
            <a:off x="5903050" y="2883125"/>
            <a:ext cx="2172000" cy="0"/>
          </a:xfrm>
          <a:prstGeom prst="straightConnector1">
            <a:avLst/>
          </a:prstGeom>
          <a:noFill/>
          <a:ln cap="flat" cmpd="sng" w="9525">
            <a:solidFill>
              <a:schemeClr val="dk2"/>
            </a:solidFill>
            <a:prstDash val="solid"/>
            <a:round/>
            <a:headEnd len="med" w="med" type="none"/>
            <a:tailEnd len="med" w="med" type="diamond"/>
          </a:ln>
        </p:spPr>
      </p:cxnSp>
      <p:cxnSp>
        <p:nvCxnSpPr>
          <p:cNvPr id="528" name="Google Shape;528;p56"/>
          <p:cNvCxnSpPr/>
          <p:nvPr/>
        </p:nvCxnSpPr>
        <p:spPr>
          <a:xfrm>
            <a:off x="5903050" y="3629900"/>
            <a:ext cx="2172000" cy="0"/>
          </a:xfrm>
          <a:prstGeom prst="straightConnector1">
            <a:avLst/>
          </a:prstGeom>
          <a:noFill/>
          <a:ln cap="flat" cmpd="sng" w="9525">
            <a:solidFill>
              <a:schemeClr val="dk2"/>
            </a:solidFill>
            <a:prstDash val="solid"/>
            <a:round/>
            <a:headEnd len="med" w="med" type="none"/>
            <a:tailEnd len="med" w="med" type="diamond"/>
          </a:ln>
        </p:spPr>
      </p:cxnSp>
      <p:cxnSp>
        <p:nvCxnSpPr>
          <p:cNvPr id="529" name="Google Shape;529;p56"/>
          <p:cNvCxnSpPr/>
          <p:nvPr/>
        </p:nvCxnSpPr>
        <p:spPr>
          <a:xfrm>
            <a:off x="5903050" y="4003300"/>
            <a:ext cx="2172000" cy="0"/>
          </a:xfrm>
          <a:prstGeom prst="straightConnector1">
            <a:avLst/>
          </a:prstGeom>
          <a:noFill/>
          <a:ln cap="flat" cmpd="sng" w="9525">
            <a:solidFill>
              <a:schemeClr val="dk2"/>
            </a:solidFill>
            <a:prstDash val="solid"/>
            <a:round/>
            <a:headEnd len="med" w="med" type="none"/>
            <a:tailEnd len="med" w="med" type="diamond"/>
          </a:ln>
        </p:spPr>
      </p:cxnSp>
      <p:sp>
        <p:nvSpPr>
          <p:cNvPr id="530" name="Google Shape;530;p56"/>
          <p:cNvSpPr/>
          <p:nvPr/>
        </p:nvSpPr>
        <p:spPr>
          <a:xfrm rot="-5400000">
            <a:off x="5942600" y="2861650"/>
            <a:ext cx="2857500" cy="323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0" spcFirstLastPara="1" rIns="91425" wrap="square" tIns="91425">
            <a:noAutofit/>
          </a:bodyPr>
          <a:lstStyle/>
          <a:p>
            <a:pPr indent="0" lvl="0" marL="0" rtl="0" algn="ctr">
              <a:spcBef>
                <a:spcPts val="0"/>
              </a:spcBef>
              <a:spcAft>
                <a:spcPts val="0"/>
              </a:spcAft>
              <a:buNone/>
            </a:pPr>
            <a:r>
              <a:rPr lang="en"/>
              <a:t>Firewall</a:t>
            </a:r>
            <a:endParaRPr/>
          </a:p>
        </p:txBody>
      </p:sp>
      <p:sp>
        <p:nvSpPr>
          <p:cNvPr id="519" name="Google Shape;519;p56"/>
          <p:cNvSpPr txBox="1"/>
          <p:nvPr/>
        </p:nvSpPr>
        <p:spPr>
          <a:xfrm>
            <a:off x="8614750" y="2013159"/>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r</a:t>
            </a:r>
            <a:endParaRPr b="1" sz="1000">
              <a:latin typeface="Courier New"/>
              <a:ea typeface="Courier New"/>
              <a:cs typeface="Courier New"/>
              <a:sym typeface="Courier New"/>
            </a:endParaRPr>
          </a:p>
        </p:txBody>
      </p:sp>
      <p:sp>
        <p:nvSpPr>
          <p:cNvPr id="521" name="Google Shape;521;p56"/>
          <p:cNvSpPr txBox="1"/>
          <p:nvPr/>
        </p:nvSpPr>
        <p:spPr>
          <a:xfrm>
            <a:off x="8614750" y="2386555"/>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523" name="Google Shape;523;p56"/>
          <p:cNvSpPr txBox="1"/>
          <p:nvPr/>
        </p:nvSpPr>
        <p:spPr>
          <a:xfrm>
            <a:off x="8614750" y="313334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525" name="Google Shape;525;p56"/>
          <p:cNvSpPr txBox="1"/>
          <p:nvPr/>
        </p:nvSpPr>
        <p:spPr>
          <a:xfrm>
            <a:off x="8614750" y="425353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t</a:t>
            </a:r>
            <a:endParaRPr b="1" sz="1000">
              <a:latin typeface="Courier New"/>
              <a:ea typeface="Courier New"/>
              <a:cs typeface="Courier New"/>
              <a:sym typeface="Courier New"/>
            </a:endParaRPr>
          </a:p>
        </p:txBody>
      </p:sp>
      <p:sp>
        <p:nvSpPr>
          <p:cNvPr id="531" name="Google Shape;531;p56"/>
          <p:cNvSpPr txBox="1"/>
          <p:nvPr/>
        </p:nvSpPr>
        <p:spPr>
          <a:xfrm>
            <a:off x="5987475" y="151662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4, TTL = 16</a:t>
            </a:r>
            <a:endParaRPr sz="1000"/>
          </a:p>
        </p:txBody>
      </p:sp>
      <p:sp>
        <p:nvSpPr>
          <p:cNvPr id="532" name="Google Shape;532;p56"/>
          <p:cNvSpPr txBox="1"/>
          <p:nvPr/>
        </p:nvSpPr>
        <p:spPr>
          <a:xfrm>
            <a:off x="5987475" y="189002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4, TTL = 22</a:t>
            </a:r>
            <a:endParaRPr sz="1000"/>
          </a:p>
        </p:txBody>
      </p:sp>
      <p:sp>
        <p:nvSpPr>
          <p:cNvPr id="533" name="Google Shape;533;p56"/>
          <p:cNvSpPr txBox="1"/>
          <p:nvPr/>
        </p:nvSpPr>
        <p:spPr>
          <a:xfrm>
            <a:off x="5987475" y="2263450"/>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5, TTL = 22</a:t>
            </a:r>
            <a:endParaRPr sz="1000"/>
          </a:p>
        </p:txBody>
      </p:sp>
      <p:sp>
        <p:nvSpPr>
          <p:cNvPr id="534" name="Google Shape;534;p56"/>
          <p:cNvSpPr txBox="1"/>
          <p:nvPr/>
        </p:nvSpPr>
        <p:spPr>
          <a:xfrm>
            <a:off x="5987475" y="263687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5, TTL = 16</a:t>
            </a:r>
            <a:endParaRPr sz="1000"/>
          </a:p>
        </p:txBody>
      </p:sp>
      <p:sp>
        <p:nvSpPr>
          <p:cNvPr id="535" name="Google Shape;535;p56"/>
          <p:cNvSpPr txBox="1"/>
          <p:nvPr/>
        </p:nvSpPr>
        <p:spPr>
          <a:xfrm>
            <a:off x="5987475" y="300627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6, TTL = 22</a:t>
            </a:r>
            <a:endParaRPr sz="1000"/>
          </a:p>
        </p:txBody>
      </p:sp>
      <p:sp>
        <p:nvSpPr>
          <p:cNvPr id="536" name="Google Shape;536;p56"/>
          <p:cNvSpPr txBox="1"/>
          <p:nvPr/>
        </p:nvSpPr>
        <p:spPr>
          <a:xfrm>
            <a:off x="5987475" y="337567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6, TTL = 16</a:t>
            </a:r>
            <a:endParaRPr sz="1000"/>
          </a:p>
        </p:txBody>
      </p:sp>
      <p:sp>
        <p:nvSpPr>
          <p:cNvPr id="537" name="Google Shape;537;p56"/>
          <p:cNvSpPr txBox="1"/>
          <p:nvPr/>
        </p:nvSpPr>
        <p:spPr>
          <a:xfrm>
            <a:off x="5987475" y="375712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7, TTL = 16</a:t>
            </a:r>
            <a:endParaRPr sz="1000"/>
          </a:p>
        </p:txBody>
      </p:sp>
      <p:sp>
        <p:nvSpPr>
          <p:cNvPr id="538" name="Google Shape;538;p56"/>
          <p:cNvSpPr txBox="1"/>
          <p:nvPr/>
        </p:nvSpPr>
        <p:spPr>
          <a:xfrm>
            <a:off x="5987475" y="4130650"/>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7, TTL = 22</a:t>
            </a:r>
            <a:endParaRPr sz="1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44" name="Google Shape;544;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Evading</a:t>
            </a:r>
            <a:r>
              <a:rPr lang="en"/>
              <a:t> Packet Filters</a:t>
            </a:r>
            <a:endParaRPr/>
          </a:p>
        </p:txBody>
      </p:sp>
      <p:sp>
        <p:nvSpPr>
          <p:cNvPr id="545" name="Google Shape;545;p5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Difficult for the stateful packet filter to defend against</a:t>
            </a:r>
            <a:endParaRPr/>
          </a:p>
          <a:p>
            <a:pPr indent="-317500" lvl="1" marL="914400" rtl="0" algn="l">
              <a:spcBef>
                <a:spcPts val="0"/>
              </a:spcBef>
              <a:spcAft>
                <a:spcPts val="0"/>
              </a:spcAft>
              <a:buSzPts val="1400"/>
              <a:buChar char="○"/>
            </a:pPr>
            <a:r>
              <a:rPr lang="en"/>
              <a:t>TTLs for different packets naturally vary, since packets may take different routes</a:t>
            </a:r>
            <a:endParaRPr/>
          </a:p>
          <a:p>
            <a:pPr indent="-317500" lvl="1" marL="914400" rtl="0" algn="l">
              <a:spcBef>
                <a:spcPts val="0"/>
              </a:spcBef>
              <a:spcAft>
                <a:spcPts val="0"/>
              </a:spcAft>
              <a:buSzPts val="1400"/>
              <a:buChar char="○"/>
            </a:pPr>
            <a:r>
              <a:rPr lang="en"/>
              <a:t>Storing all possible combinations takes exponential space</a:t>
            </a:r>
            <a:endParaRPr/>
          </a:p>
          <a:p>
            <a:pPr indent="-317500" lvl="1" marL="914400" rtl="0" algn="l">
              <a:spcBef>
                <a:spcPts val="0"/>
              </a:spcBef>
              <a:spcAft>
                <a:spcPts val="0"/>
              </a:spcAft>
              <a:buSzPts val="1400"/>
              <a:buChar char="○"/>
            </a:pPr>
            <a:r>
              <a:rPr lang="en"/>
              <a:t>Hard to predict which packets will reach the destination and which won’t</a:t>
            </a:r>
            <a:endParaRPr/>
          </a:p>
        </p:txBody>
      </p:sp>
      <p:sp>
        <p:nvSpPr>
          <p:cNvPr id="546" name="Google Shape;546;p57"/>
          <p:cNvSpPr txBox="1"/>
          <p:nvPr/>
        </p:nvSpPr>
        <p:spPr>
          <a:xfrm>
            <a:off x="5632450" y="1639775"/>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n</a:t>
            </a:r>
            <a:endParaRPr b="1" sz="1000">
              <a:latin typeface="Courier New"/>
              <a:ea typeface="Courier New"/>
              <a:cs typeface="Courier New"/>
              <a:sym typeface="Courier New"/>
            </a:endParaRPr>
          </a:p>
        </p:txBody>
      </p:sp>
      <p:sp>
        <p:nvSpPr>
          <p:cNvPr id="547" name="Google Shape;547;p57"/>
          <p:cNvSpPr txBox="1"/>
          <p:nvPr/>
        </p:nvSpPr>
        <p:spPr>
          <a:xfrm>
            <a:off x="5632450" y="2013171"/>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r</a:t>
            </a:r>
            <a:endParaRPr b="1" sz="1000">
              <a:latin typeface="Courier New"/>
              <a:ea typeface="Courier New"/>
              <a:cs typeface="Courier New"/>
              <a:sym typeface="Courier New"/>
            </a:endParaRPr>
          </a:p>
        </p:txBody>
      </p:sp>
      <p:sp>
        <p:nvSpPr>
          <p:cNvPr id="548" name="Google Shape;548;p57"/>
          <p:cNvSpPr txBox="1"/>
          <p:nvPr/>
        </p:nvSpPr>
        <p:spPr>
          <a:xfrm>
            <a:off x="5632450" y="238656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549" name="Google Shape;549;p57"/>
          <p:cNvSpPr txBox="1"/>
          <p:nvPr/>
        </p:nvSpPr>
        <p:spPr>
          <a:xfrm>
            <a:off x="5632450" y="2759964"/>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i</a:t>
            </a:r>
            <a:endParaRPr b="1" sz="1000">
              <a:latin typeface="Courier New"/>
              <a:ea typeface="Courier New"/>
              <a:cs typeface="Courier New"/>
              <a:sym typeface="Courier New"/>
            </a:endParaRPr>
          </a:p>
        </p:txBody>
      </p:sp>
      <p:sp>
        <p:nvSpPr>
          <p:cNvPr id="550" name="Google Shape;550;p57"/>
          <p:cNvSpPr txBox="1"/>
          <p:nvPr/>
        </p:nvSpPr>
        <p:spPr>
          <a:xfrm>
            <a:off x="5632450" y="3133361"/>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551" name="Google Shape;551;p57"/>
          <p:cNvSpPr txBox="1"/>
          <p:nvPr/>
        </p:nvSpPr>
        <p:spPr>
          <a:xfrm>
            <a:off x="5632450" y="3506757"/>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c</a:t>
            </a:r>
            <a:endParaRPr b="1" sz="1000">
              <a:latin typeface="Courier New"/>
              <a:ea typeface="Courier New"/>
              <a:cs typeface="Courier New"/>
              <a:sym typeface="Courier New"/>
            </a:endParaRPr>
          </a:p>
        </p:txBody>
      </p:sp>
      <p:sp>
        <p:nvSpPr>
          <p:cNvPr id="552" name="Google Shape;552;p57"/>
          <p:cNvSpPr txBox="1"/>
          <p:nvPr/>
        </p:nvSpPr>
        <p:spPr>
          <a:xfrm>
            <a:off x="5632450" y="3880154"/>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e</a:t>
            </a:r>
            <a:endParaRPr b="1" sz="1000">
              <a:latin typeface="Courier New"/>
              <a:ea typeface="Courier New"/>
              <a:cs typeface="Courier New"/>
              <a:sym typeface="Courier New"/>
            </a:endParaRPr>
          </a:p>
        </p:txBody>
      </p:sp>
      <p:sp>
        <p:nvSpPr>
          <p:cNvPr id="553" name="Google Shape;553;p57"/>
          <p:cNvSpPr txBox="1"/>
          <p:nvPr/>
        </p:nvSpPr>
        <p:spPr>
          <a:xfrm>
            <a:off x="5632450" y="4253550"/>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t</a:t>
            </a:r>
            <a:endParaRPr b="1" sz="1000">
              <a:latin typeface="Courier New"/>
              <a:ea typeface="Courier New"/>
              <a:cs typeface="Courier New"/>
              <a:sym typeface="Courier New"/>
            </a:endParaRPr>
          </a:p>
        </p:txBody>
      </p:sp>
      <p:cxnSp>
        <p:nvCxnSpPr>
          <p:cNvPr id="554" name="Google Shape;554;p57"/>
          <p:cNvCxnSpPr>
            <a:stCxn id="547" idx="3"/>
            <a:endCxn id="555" idx="1"/>
          </p:cNvCxnSpPr>
          <p:nvPr/>
        </p:nvCxnSpPr>
        <p:spPr>
          <a:xfrm>
            <a:off x="5903050" y="2136321"/>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556" name="Google Shape;556;p57"/>
          <p:cNvCxnSpPr>
            <a:stCxn id="548" idx="3"/>
            <a:endCxn id="557" idx="1"/>
          </p:cNvCxnSpPr>
          <p:nvPr/>
        </p:nvCxnSpPr>
        <p:spPr>
          <a:xfrm>
            <a:off x="5903050" y="2509718"/>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558" name="Google Shape;558;p57"/>
          <p:cNvCxnSpPr>
            <a:stCxn id="550" idx="3"/>
            <a:endCxn id="559" idx="1"/>
          </p:cNvCxnSpPr>
          <p:nvPr/>
        </p:nvCxnSpPr>
        <p:spPr>
          <a:xfrm>
            <a:off x="5903050" y="3256511"/>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560" name="Google Shape;560;p57"/>
          <p:cNvCxnSpPr>
            <a:stCxn id="553" idx="3"/>
            <a:endCxn id="561" idx="1"/>
          </p:cNvCxnSpPr>
          <p:nvPr/>
        </p:nvCxnSpPr>
        <p:spPr>
          <a:xfrm>
            <a:off x="5903050" y="4376700"/>
            <a:ext cx="2711700" cy="0"/>
          </a:xfrm>
          <a:prstGeom prst="straightConnector1">
            <a:avLst/>
          </a:prstGeom>
          <a:noFill/>
          <a:ln cap="flat" cmpd="sng" w="9525">
            <a:solidFill>
              <a:schemeClr val="dk2"/>
            </a:solidFill>
            <a:prstDash val="solid"/>
            <a:round/>
            <a:headEnd len="med" w="med" type="none"/>
            <a:tailEnd len="med" w="med" type="triangle"/>
          </a:ln>
        </p:spPr>
      </p:cxnSp>
      <p:cxnSp>
        <p:nvCxnSpPr>
          <p:cNvPr id="562" name="Google Shape;562;p57"/>
          <p:cNvCxnSpPr/>
          <p:nvPr/>
        </p:nvCxnSpPr>
        <p:spPr>
          <a:xfrm>
            <a:off x="5903050" y="1762925"/>
            <a:ext cx="2172000" cy="0"/>
          </a:xfrm>
          <a:prstGeom prst="straightConnector1">
            <a:avLst/>
          </a:prstGeom>
          <a:noFill/>
          <a:ln cap="flat" cmpd="sng" w="9525">
            <a:solidFill>
              <a:schemeClr val="dk2"/>
            </a:solidFill>
            <a:prstDash val="solid"/>
            <a:round/>
            <a:headEnd len="med" w="med" type="none"/>
            <a:tailEnd len="med" w="med" type="diamond"/>
          </a:ln>
        </p:spPr>
      </p:cxnSp>
      <p:cxnSp>
        <p:nvCxnSpPr>
          <p:cNvPr id="563" name="Google Shape;563;p57"/>
          <p:cNvCxnSpPr/>
          <p:nvPr/>
        </p:nvCxnSpPr>
        <p:spPr>
          <a:xfrm>
            <a:off x="5903050" y="2883125"/>
            <a:ext cx="2172000" cy="0"/>
          </a:xfrm>
          <a:prstGeom prst="straightConnector1">
            <a:avLst/>
          </a:prstGeom>
          <a:noFill/>
          <a:ln cap="flat" cmpd="sng" w="9525">
            <a:solidFill>
              <a:schemeClr val="dk2"/>
            </a:solidFill>
            <a:prstDash val="solid"/>
            <a:round/>
            <a:headEnd len="med" w="med" type="none"/>
            <a:tailEnd len="med" w="med" type="diamond"/>
          </a:ln>
        </p:spPr>
      </p:cxnSp>
      <p:cxnSp>
        <p:nvCxnSpPr>
          <p:cNvPr id="564" name="Google Shape;564;p57"/>
          <p:cNvCxnSpPr/>
          <p:nvPr/>
        </p:nvCxnSpPr>
        <p:spPr>
          <a:xfrm>
            <a:off x="5903050" y="3629900"/>
            <a:ext cx="2172000" cy="0"/>
          </a:xfrm>
          <a:prstGeom prst="straightConnector1">
            <a:avLst/>
          </a:prstGeom>
          <a:noFill/>
          <a:ln cap="flat" cmpd="sng" w="9525">
            <a:solidFill>
              <a:schemeClr val="dk2"/>
            </a:solidFill>
            <a:prstDash val="solid"/>
            <a:round/>
            <a:headEnd len="med" w="med" type="none"/>
            <a:tailEnd len="med" w="med" type="diamond"/>
          </a:ln>
        </p:spPr>
      </p:cxnSp>
      <p:cxnSp>
        <p:nvCxnSpPr>
          <p:cNvPr id="565" name="Google Shape;565;p57"/>
          <p:cNvCxnSpPr/>
          <p:nvPr/>
        </p:nvCxnSpPr>
        <p:spPr>
          <a:xfrm>
            <a:off x="5903050" y="4003300"/>
            <a:ext cx="2172000" cy="0"/>
          </a:xfrm>
          <a:prstGeom prst="straightConnector1">
            <a:avLst/>
          </a:prstGeom>
          <a:noFill/>
          <a:ln cap="flat" cmpd="sng" w="9525">
            <a:solidFill>
              <a:schemeClr val="dk2"/>
            </a:solidFill>
            <a:prstDash val="solid"/>
            <a:round/>
            <a:headEnd len="med" w="med" type="none"/>
            <a:tailEnd len="med" w="med" type="diamond"/>
          </a:ln>
        </p:spPr>
      </p:cxnSp>
      <p:sp>
        <p:nvSpPr>
          <p:cNvPr id="566" name="Google Shape;566;p57"/>
          <p:cNvSpPr/>
          <p:nvPr/>
        </p:nvSpPr>
        <p:spPr>
          <a:xfrm rot="-5400000">
            <a:off x="5942600" y="2861650"/>
            <a:ext cx="2857500" cy="323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0" spcFirstLastPara="1" rIns="91425" wrap="square" tIns="91425">
            <a:noAutofit/>
          </a:bodyPr>
          <a:lstStyle/>
          <a:p>
            <a:pPr indent="0" lvl="0" marL="0" rtl="0" algn="ctr">
              <a:spcBef>
                <a:spcPts val="0"/>
              </a:spcBef>
              <a:spcAft>
                <a:spcPts val="0"/>
              </a:spcAft>
              <a:buNone/>
            </a:pPr>
            <a:r>
              <a:rPr lang="en"/>
              <a:t>Firewall</a:t>
            </a:r>
            <a:endParaRPr/>
          </a:p>
        </p:txBody>
      </p:sp>
      <p:sp>
        <p:nvSpPr>
          <p:cNvPr id="555" name="Google Shape;555;p57"/>
          <p:cNvSpPr txBox="1"/>
          <p:nvPr/>
        </p:nvSpPr>
        <p:spPr>
          <a:xfrm>
            <a:off x="8614750" y="2013159"/>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r</a:t>
            </a:r>
            <a:endParaRPr b="1" sz="1000">
              <a:latin typeface="Courier New"/>
              <a:ea typeface="Courier New"/>
              <a:cs typeface="Courier New"/>
              <a:sym typeface="Courier New"/>
            </a:endParaRPr>
          </a:p>
        </p:txBody>
      </p:sp>
      <p:sp>
        <p:nvSpPr>
          <p:cNvPr id="557" name="Google Shape;557;p57"/>
          <p:cNvSpPr txBox="1"/>
          <p:nvPr/>
        </p:nvSpPr>
        <p:spPr>
          <a:xfrm>
            <a:off x="8614750" y="2386555"/>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559" name="Google Shape;559;p57"/>
          <p:cNvSpPr txBox="1"/>
          <p:nvPr/>
        </p:nvSpPr>
        <p:spPr>
          <a:xfrm>
            <a:off x="8614750" y="313334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o</a:t>
            </a:r>
            <a:endParaRPr b="1" sz="1000">
              <a:latin typeface="Courier New"/>
              <a:ea typeface="Courier New"/>
              <a:cs typeface="Courier New"/>
              <a:sym typeface="Courier New"/>
            </a:endParaRPr>
          </a:p>
        </p:txBody>
      </p:sp>
      <p:sp>
        <p:nvSpPr>
          <p:cNvPr id="561" name="Google Shape;561;p57"/>
          <p:cNvSpPr txBox="1"/>
          <p:nvPr/>
        </p:nvSpPr>
        <p:spPr>
          <a:xfrm>
            <a:off x="8614750" y="4253538"/>
            <a:ext cx="270600" cy="24630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latin typeface="Courier New"/>
                <a:ea typeface="Courier New"/>
                <a:cs typeface="Courier New"/>
                <a:sym typeface="Courier New"/>
              </a:rPr>
              <a:t>t</a:t>
            </a:r>
            <a:endParaRPr b="1" sz="1000">
              <a:latin typeface="Courier New"/>
              <a:ea typeface="Courier New"/>
              <a:cs typeface="Courier New"/>
              <a:sym typeface="Courier New"/>
            </a:endParaRPr>
          </a:p>
        </p:txBody>
      </p:sp>
      <p:sp>
        <p:nvSpPr>
          <p:cNvPr id="567" name="Google Shape;567;p57"/>
          <p:cNvSpPr txBox="1"/>
          <p:nvPr/>
        </p:nvSpPr>
        <p:spPr>
          <a:xfrm>
            <a:off x="5987475" y="151662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4, TTL = 16</a:t>
            </a:r>
            <a:endParaRPr sz="1000"/>
          </a:p>
        </p:txBody>
      </p:sp>
      <p:sp>
        <p:nvSpPr>
          <p:cNvPr id="568" name="Google Shape;568;p57"/>
          <p:cNvSpPr txBox="1"/>
          <p:nvPr/>
        </p:nvSpPr>
        <p:spPr>
          <a:xfrm>
            <a:off x="5987475" y="189002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4, TTL = 22</a:t>
            </a:r>
            <a:endParaRPr sz="1000"/>
          </a:p>
        </p:txBody>
      </p:sp>
      <p:sp>
        <p:nvSpPr>
          <p:cNvPr id="569" name="Google Shape;569;p57"/>
          <p:cNvSpPr txBox="1"/>
          <p:nvPr/>
        </p:nvSpPr>
        <p:spPr>
          <a:xfrm>
            <a:off x="5987475" y="2263450"/>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5, TTL = 22</a:t>
            </a:r>
            <a:endParaRPr sz="1000"/>
          </a:p>
        </p:txBody>
      </p:sp>
      <p:sp>
        <p:nvSpPr>
          <p:cNvPr id="570" name="Google Shape;570;p57"/>
          <p:cNvSpPr txBox="1"/>
          <p:nvPr/>
        </p:nvSpPr>
        <p:spPr>
          <a:xfrm>
            <a:off x="5987475" y="263687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5, TTL = 16</a:t>
            </a:r>
            <a:endParaRPr sz="1000"/>
          </a:p>
        </p:txBody>
      </p:sp>
      <p:sp>
        <p:nvSpPr>
          <p:cNvPr id="571" name="Google Shape;571;p57"/>
          <p:cNvSpPr txBox="1"/>
          <p:nvPr/>
        </p:nvSpPr>
        <p:spPr>
          <a:xfrm>
            <a:off x="5987475" y="300627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6, TTL = 22</a:t>
            </a:r>
            <a:endParaRPr sz="1000"/>
          </a:p>
        </p:txBody>
      </p:sp>
      <p:sp>
        <p:nvSpPr>
          <p:cNvPr id="572" name="Google Shape;572;p57"/>
          <p:cNvSpPr txBox="1"/>
          <p:nvPr/>
        </p:nvSpPr>
        <p:spPr>
          <a:xfrm>
            <a:off x="5987475" y="337567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6, TTL = 16</a:t>
            </a:r>
            <a:endParaRPr sz="1000"/>
          </a:p>
        </p:txBody>
      </p:sp>
      <p:sp>
        <p:nvSpPr>
          <p:cNvPr id="573" name="Google Shape;573;p57"/>
          <p:cNvSpPr txBox="1"/>
          <p:nvPr/>
        </p:nvSpPr>
        <p:spPr>
          <a:xfrm>
            <a:off x="5987475" y="3757125"/>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7, TTL = 16</a:t>
            </a:r>
            <a:endParaRPr sz="1000"/>
          </a:p>
        </p:txBody>
      </p:sp>
      <p:sp>
        <p:nvSpPr>
          <p:cNvPr id="574" name="Google Shape;574;p57"/>
          <p:cNvSpPr txBox="1"/>
          <p:nvPr/>
        </p:nvSpPr>
        <p:spPr>
          <a:xfrm>
            <a:off x="5987475" y="4130650"/>
            <a:ext cx="1222200" cy="246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 sz="1000"/>
              <a:t>Seq = 7, TTL = 22</a:t>
            </a:r>
            <a:endParaRPr sz="1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0" name="Google Shape;580;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Types of Firewalls</a:t>
            </a:r>
            <a:endParaRPr/>
          </a:p>
        </p:txBody>
      </p:sp>
      <p:sp>
        <p:nvSpPr>
          <p:cNvPr id="581" name="Google Shape;581;p58"/>
          <p:cNvSpPr txBox="1"/>
          <p:nvPr>
            <p:ph idx="1" type="body"/>
          </p:nvPr>
        </p:nvSpPr>
        <p:spPr>
          <a:xfrm>
            <a:off x="198500" y="1246825"/>
            <a:ext cx="8520600" cy="2706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Proxy firewall</a:t>
            </a:r>
            <a:r>
              <a:rPr lang="en"/>
              <a:t>: Instead of forwarding packets, form two TCP connections: One with the source, and one with the destination</a:t>
            </a:r>
            <a:endParaRPr/>
          </a:p>
          <a:p>
            <a:pPr indent="-317500" lvl="1" marL="914400" rtl="0" algn="l">
              <a:spcBef>
                <a:spcPts val="0"/>
              </a:spcBef>
              <a:spcAft>
                <a:spcPts val="0"/>
              </a:spcAft>
              <a:buSzPts val="1400"/>
              <a:buChar char="○"/>
            </a:pPr>
            <a:r>
              <a:rPr lang="en"/>
              <a:t>The firewall is really just a MITM, so it can easily spoof the addresses of the end hosts</a:t>
            </a:r>
            <a:endParaRPr/>
          </a:p>
          <a:p>
            <a:pPr indent="-317500" lvl="1" marL="914400" rtl="0" algn="l">
              <a:spcBef>
                <a:spcPts val="0"/>
              </a:spcBef>
              <a:spcAft>
                <a:spcPts val="0"/>
              </a:spcAft>
              <a:buSzPts val="1400"/>
              <a:buChar char="○"/>
            </a:pPr>
            <a:r>
              <a:rPr lang="en"/>
              <a:t>Avoids problems with evasion, since the firewall has direct access to the TCP byte streams</a:t>
            </a:r>
            <a:endParaRPr/>
          </a:p>
          <a:p>
            <a:pPr indent="-342900" lvl="0" marL="457200" rtl="0" algn="l">
              <a:spcBef>
                <a:spcPts val="0"/>
              </a:spcBef>
              <a:spcAft>
                <a:spcPts val="0"/>
              </a:spcAft>
              <a:buSzPts val="1800"/>
              <a:buChar char="●"/>
            </a:pPr>
            <a:r>
              <a:rPr b="1" lang="en"/>
              <a:t>Application proxy firewall</a:t>
            </a:r>
            <a:r>
              <a:rPr lang="en"/>
              <a:t>: Certain protocols allow for proxying at the application layer</a:t>
            </a:r>
            <a:endParaRPr/>
          </a:p>
          <a:p>
            <a:pPr indent="-317500" lvl="1" marL="914400" rtl="0" algn="l">
              <a:spcBef>
                <a:spcPts val="0"/>
              </a:spcBef>
              <a:spcAft>
                <a:spcPts val="0"/>
              </a:spcAft>
              <a:buSzPts val="1400"/>
              <a:buChar char="○"/>
            </a:pPr>
            <a:r>
              <a:rPr lang="en"/>
              <a:t>Example: HTTP proxies will make an HTTP request on behalf of the user then return the HTTP response to the client</a:t>
            </a:r>
            <a:endParaRPr/>
          </a:p>
        </p:txBody>
      </p:sp>
      <p:sp>
        <p:nvSpPr>
          <p:cNvPr id="582" name="Google Shape;582;p58"/>
          <p:cNvSpPr/>
          <p:nvPr/>
        </p:nvSpPr>
        <p:spPr>
          <a:xfrm>
            <a:off x="3798550" y="4214400"/>
            <a:ext cx="11289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Firewall</a:t>
            </a:r>
            <a:endParaRPr/>
          </a:p>
        </p:txBody>
      </p:sp>
      <p:sp>
        <p:nvSpPr>
          <p:cNvPr id="583" name="Google Shape;583;p58"/>
          <p:cNvSpPr/>
          <p:nvPr/>
        </p:nvSpPr>
        <p:spPr>
          <a:xfrm>
            <a:off x="923425" y="4214400"/>
            <a:ext cx="14934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Client (outside)</a:t>
            </a:r>
            <a:endParaRPr/>
          </a:p>
        </p:txBody>
      </p:sp>
      <p:sp>
        <p:nvSpPr>
          <p:cNvPr id="584" name="Google Shape;584;p58"/>
          <p:cNvSpPr/>
          <p:nvPr/>
        </p:nvSpPr>
        <p:spPr>
          <a:xfrm>
            <a:off x="6309175" y="4214400"/>
            <a:ext cx="14934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Server (inside)</a:t>
            </a:r>
            <a:endParaRPr/>
          </a:p>
        </p:txBody>
      </p:sp>
      <p:cxnSp>
        <p:nvCxnSpPr>
          <p:cNvPr id="585" name="Google Shape;585;p58"/>
          <p:cNvCxnSpPr>
            <a:stCxn id="583" idx="3"/>
            <a:endCxn id="582" idx="1"/>
          </p:cNvCxnSpPr>
          <p:nvPr/>
        </p:nvCxnSpPr>
        <p:spPr>
          <a:xfrm>
            <a:off x="2416825" y="4443750"/>
            <a:ext cx="1381800" cy="0"/>
          </a:xfrm>
          <a:prstGeom prst="straightConnector1">
            <a:avLst/>
          </a:prstGeom>
          <a:noFill/>
          <a:ln cap="flat" cmpd="sng" w="9525">
            <a:solidFill>
              <a:schemeClr val="dk2"/>
            </a:solidFill>
            <a:prstDash val="solid"/>
            <a:round/>
            <a:headEnd len="med" w="med" type="triangle"/>
            <a:tailEnd len="med" w="med" type="triangle"/>
          </a:ln>
        </p:spPr>
      </p:cxnSp>
      <p:cxnSp>
        <p:nvCxnSpPr>
          <p:cNvPr id="586" name="Google Shape;586;p58"/>
          <p:cNvCxnSpPr>
            <a:stCxn id="582" idx="3"/>
            <a:endCxn id="584" idx="1"/>
          </p:cNvCxnSpPr>
          <p:nvPr/>
        </p:nvCxnSpPr>
        <p:spPr>
          <a:xfrm>
            <a:off x="4927450" y="4443750"/>
            <a:ext cx="1381800" cy="0"/>
          </a:xfrm>
          <a:prstGeom prst="straightConnector1">
            <a:avLst/>
          </a:prstGeom>
          <a:noFill/>
          <a:ln cap="flat" cmpd="sng" w="9525">
            <a:solidFill>
              <a:schemeClr val="dk2"/>
            </a:solidFill>
            <a:prstDash val="solid"/>
            <a:round/>
            <a:headEnd len="med" w="med" type="triangle"/>
            <a:tailEnd len="med" w="med" type="triangle"/>
          </a:ln>
        </p:spPr>
      </p:cxnSp>
      <p:sp>
        <p:nvSpPr>
          <p:cNvPr id="587" name="Google Shape;587;p58"/>
          <p:cNvSpPr txBox="1"/>
          <p:nvPr/>
        </p:nvSpPr>
        <p:spPr>
          <a:xfrm>
            <a:off x="2416825" y="4136350"/>
            <a:ext cx="1381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TCP</a:t>
            </a:r>
            <a:endParaRPr/>
          </a:p>
        </p:txBody>
      </p:sp>
      <p:sp>
        <p:nvSpPr>
          <p:cNvPr id="588" name="Google Shape;588;p58"/>
          <p:cNvSpPr txBox="1"/>
          <p:nvPr/>
        </p:nvSpPr>
        <p:spPr>
          <a:xfrm>
            <a:off x="4927450" y="4136350"/>
            <a:ext cx="1381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TCP</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Alternatives to Allowing Firewall Traffic</a:t>
            </a:r>
            <a:endParaRPr/>
          </a:p>
        </p:txBody>
      </p:sp>
      <p:sp>
        <p:nvSpPr>
          <p:cNvPr id="594" name="Google Shape;594;p5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Virtual private network</a:t>
            </a:r>
            <a:r>
              <a:rPr lang="en"/>
              <a:t> (</a:t>
            </a:r>
            <a:r>
              <a:rPr b="1" lang="en"/>
              <a:t>VPN</a:t>
            </a:r>
            <a:r>
              <a:rPr lang="en"/>
              <a:t>): A set of protocols that allows direct access to an internal network via an external connection</a:t>
            </a:r>
            <a:endParaRPr/>
          </a:p>
          <a:p>
            <a:pPr indent="-317500" lvl="1" marL="914400" rtl="0" algn="l">
              <a:spcBef>
                <a:spcPts val="0"/>
              </a:spcBef>
              <a:spcAft>
                <a:spcPts val="0"/>
              </a:spcAft>
              <a:buSzPts val="1400"/>
              <a:buChar char="○"/>
            </a:pPr>
            <a:r>
              <a:rPr lang="en"/>
              <a:t>Creates an encrypted tunnel to allow internal network traffic to be sent securely over the Internet</a:t>
            </a:r>
            <a:endParaRPr/>
          </a:p>
          <a:p>
            <a:pPr indent="-317500" lvl="1" marL="914400" rtl="0" algn="l">
              <a:spcBef>
                <a:spcPts val="0"/>
              </a:spcBef>
              <a:spcAft>
                <a:spcPts val="0"/>
              </a:spcAft>
              <a:buSzPts val="1400"/>
              <a:buChar char="○"/>
            </a:pPr>
            <a:r>
              <a:rPr lang="en"/>
              <a:t>Intuition: The encrypted tunnel is an emulated Ethernet cable that allows you to connect “inside” the network</a:t>
            </a:r>
            <a:endParaRPr/>
          </a:p>
          <a:p>
            <a:pPr indent="-317500" lvl="1" marL="914400" rtl="0" algn="l">
              <a:spcBef>
                <a:spcPts val="0"/>
              </a:spcBef>
              <a:spcAft>
                <a:spcPts val="0"/>
              </a:spcAft>
              <a:buSzPts val="1400"/>
              <a:buChar char="○"/>
            </a:pPr>
            <a:r>
              <a:rPr lang="en"/>
              <a:t>The firewall allows VPN traffic, which allows arbitrary traffic to be tunneled inside</a:t>
            </a:r>
            <a:endParaRPr/>
          </a:p>
        </p:txBody>
      </p:sp>
      <p:sp>
        <p:nvSpPr>
          <p:cNvPr id="595" name="Google Shape;595;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6" name="Google Shape;596;p59"/>
          <p:cNvSpPr/>
          <p:nvPr/>
        </p:nvSpPr>
        <p:spPr>
          <a:xfrm>
            <a:off x="1545188" y="3714550"/>
            <a:ext cx="1248264" cy="884736"/>
          </a:xfrm>
          <a:prstGeom prst="cloud">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sp>
        <p:nvSpPr>
          <p:cNvPr id="597" name="Google Shape;597;p59"/>
          <p:cNvSpPr/>
          <p:nvPr/>
        </p:nvSpPr>
        <p:spPr>
          <a:xfrm>
            <a:off x="6129054" y="455448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9"/>
          <p:cNvSpPr/>
          <p:nvPr/>
        </p:nvSpPr>
        <p:spPr>
          <a:xfrm>
            <a:off x="6032104" y="3970929"/>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9"/>
          <p:cNvSpPr/>
          <p:nvPr/>
        </p:nvSpPr>
        <p:spPr>
          <a:xfrm>
            <a:off x="6068454" y="3387375"/>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9"/>
          <p:cNvSpPr/>
          <p:nvPr/>
        </p:nvSpPr>
        <p:spPr>
          <a:xfrm>
            <a:off x="3863025" y="3960113"/>
            <a:ext cx="9150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Firewall</a:t>
            </a:r>
            <a:endParaRPr/>
          </a:p>
        </p:txBody>
      </p:sp>
      <p:cxnSp>
        <p:nvCxnSpPr>
          <p:cNvPr id="601" name="Google Shape;601;p59"/>
          <p:cNvCxnSpPr>
            <a:stCxn id="596" idx="0"/>
            <a:endCxn id="600" idx="1"/>
          </p:cNvCxnSpPr>
          <p:nvPr/>
        </p:nvCxnSpPr>
        <p:spPr>
          <a:xfrm>
            <a:off x="2792411" y="4156918"/>
            <a:ext cx="1070700" cy="0"/>
          </a:xfrm>
          <a:prstGeom prst="straightConnector1">
            <a:avLst/>
          </a:prstGeom>
          <a:noFill/>
          <a:ln cap="flat" cmpd="sng" w="9525">
            <a:solidFill>
              <a:schemeClr val="dk2"/>
            </a:solidFill>
            <a:prstDash val="solid"/>
            <a:round/>
            <a:headEnd len="med" w="med" type="none"/>
            <a:tailEnd len="med" w="med" type="none"/>
          </a:ln>
        </p:spPr>
      </p:cxnSp>
      <p:sp>
        <p:nvSpPr>
          <p:cNvPr id="602" name="Google Shape;602;p59"/>
          <p:cNvSpPr/>
          <p:nvPr/>
        </p:nvSpPr>
        <p:spPr>
          <a:xfrm>
            <a:off x="6657129" y="459928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59"/>
          <p:cNvSpPr/>
          <p:nvPr/>
        </p:nvSpPr>
        <p:spPr>
          <a:xfrm>
            <a:off x="6869204" y="4079454"/>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59"/>
          <p:cNvSpPr/>
          <p:nvPr/>
        </p:nvSpPr>
        <p:spPr>
          <a:xfrm>
            <a:off x="6760129" y="3447975"/>
            <a:ext cx="372000" cy="372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5" name="Google Shape;605;p59"/>
          <p:cNvCxnSpPr>
            <a:stCxn id="600" idx="3"/>
            <a:endCxn id="598" idx="1"/>
          </p:cNvCxnSpPr>
          <p:nvPr/>
        </p:nvCxnSpPr>
        <p:spPr>
          <a:xfrm>
            <a:off x="4778025" y="4156913"/>
            <a:ext cx="1254000" cy="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59"/>
          <p:cNvCxnSpPr>
            <a:stCxn id="599" idx="3"/>
            <a:endCxn id="604" idx="1"/>
          </p:cNvCxnSpPr>
          <p:nvPr/>
        </p:nvCxnSpPr>
        <p:spPr>
          <a:xfrm>
            <a:off x="6440454" y="3573375"/>
            <a:ext cx="319800" cy="606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59"/>
          <p:cNvCxnSpPr>
            <a:stCxn id="602" idx="0"/>
            <a:endCxn id="603" idx="2"/>
          </p:cNvCxnSpPr>
          <p:nvPr/>
        </p:nvCxnSpPr>
        <p:spPr>
          <a:xfrm flipH="1" rot="10800000">
            <a:off x="6843129" y="4451384"/>
            <a:ext cx="212100" cy="1479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59"/>
          <p:cNvCxnSpPr>
            <a:stCxn id="597" idx="0"/>
            <a:endCxn id="598" idx="2"/>
          </p:cNvCxnSpPr>
          <p:nvPr/>
        </p:nvCxnSpPr>
        <p:spPr>
          <a:xfrm rot="10800000">
            <a:off x="6218154" y="4342984"/>
            <a:ext cx="96900" cy="211500"/>
          </a:xfrm>
          <a:prstGeom prst="straightConnector1">
            <a:avLst/>
          </a:prstGeom>
          <a:noFill/>
          <a:ln cap="flat" cmpd="sng" w="9525">
            <a:solidFill>
              <a:schemeClr val="dk2"/>
            </a:solidFill>
            <a:prstDash val="solid"/>
            <a:round/>
            <a:headEnd len="med" w="med" type="none"/>
            <a:tailEnd len="med" w="med" type="none"/>
          </a:ln>
        </p:spPr>
      </p:cxnSp>
      <p:cxnSp>
        <p:nvCxnSpPr>
          <p:cNvPr id="609" name="Google Shape;609;p59"/>
          <p:cNvCxnSpPr>
            <a:stCxn id="598" idx="3"/>
            <a:endCxn id="603" idx="1"/>
          </p:cNvCxnSpPr>
          <p:nvPr/>
        </p:nvCxnSpPr>
        <p:spPr>
          <a:xfrm>
            <a:off x="6404104" y="4156929"/>
            <a:ext cx="465000" cy="108600"/>
          </a:xfrm>
          <a:prstGeom prst="straightConnector1">
            <a:avLst/>
          </a:prstGeom>
          <a:noFill/>
          <a:ln cap="flat" cmpd="sng" w="9525">
            <a:solidFill>
              <a:schemeClr val="dk2"/>
            </a:solidFill>
            <a:prstDash val="solid"/>
            <a:round/>
            <a:headEnd len="med" w="med" type="none"/>
            <a:tailEnd len="med" w="med" type="none"/>
          </a:ln>
        </p:spPr>
      </p:cxnSp>
      <p:cxnSp>
        <p:nvCxnSpPr>
          <p:cNvPr id="610" name="Google Shape;610;p59"/>
          <p:cNvCxnSpPr>
            <a:stCxn id="597" idx="3"/>
            <a:endCxn id="602" idx="1"/>
          </p:cNvCxnSpPr>
          <p:nvPr/>
        </p:nvCxnSpPr>
        <p:spPr>
          <a:xfrm>
            <a:off x="6501054" y="4740484"/>
            <a:ext cx="156000" cy="447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59"/>
          <p:cNvCxnSpPr>
            <a:stCxn id="603" idx="0"/>
            <a:endCxn id="604" idx="2"/>
          </p:cNvCxnSpPr>
          <p:nvPr/>
        </p:nvCxnSpPr>
        <p:spPr>
          <a:xfrm rot="10800000">
            <a:off x="6946004" y="3819954"/>
            <a:ext cx="109200" cy="2595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59"/>
          <p:cNvCxnSpPr>
            <a:stCxn id="603" idx="0"/>
            <a:endCxn id="599" idx="2"/>
          </p:cNvCxnSpPr>
          <p:nvPr/>
        </p:nvCxnSpPr>
        <p:spPr>
          <a:xfrm rot="10800000">
            <a:off x="6254504" y="3759354"/>
            <a:ext cx="800700" cy="3201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59"/>
          <p:cNvCxnSpPr>
            <a:endCxn id="599" idx="1"/>
          </p:cNvCxnSpPr>
          <p:nvPr/>
        </p:nvCxnSpPr>
        <p:spPr>
          <a:xfrm flipH="1" rot="10800000">
            <a:off x="4778154" y="3573375"/>
            <a:ext cx="1290300" cy="583500"/>
          </a:xfrm>
          <a:prstGeom prst="straightConnector1">
            <a:avLst/>
          </a:prstGeom>
          <a:noFill/>
          <a:ln cap="flat" cmpd="sng" w="9525">
            <a:solidFill>
              <a:schemeClr val="dk2"/>
            </a:solidFill>
            <a:prstDash val="solid"/>
            <a:round/>
            <a:headEnd len="med" w="med" type="none"/>
            <a:tailEnd len="med" w="med" type="none"/>
          </a:ln>
        </p:spPr>
      </p:cxnSp>
      <p:cxnSp>
        <p:nvCxnSpPr>
          <p:cNvPr id="614" name="Google Shape;614;p59"/>
          <p:cNvCxnSpPr>
            <a:stCxn id="600" idx="3"/>
            <a:endCxn id="597" idx="1"/>
          </p:cNvCxnSpPr>
          <p:nvPr/>
        </p:nvCxnSpPr>
        <p:spPr>
          <a:xfrm>
            <a:off x="4778025" y="4156913"/>
            <a:ext cx="1350900" cy="583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Firewall Pros and Cons</a:t>
            </a:r>
            <a:endParaRPr/>
          </a:p>
        </p:txBody>
      </p:sp>
      <p:sp>
        <p:nvSpPr>
          <p:cNvPr id="620" name="Google Shape;620;p6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Pros</a:t>
            </a:r>
            <a:endParaRPr/>
          </a:p>
          <a:p>
            <a:pPr indent="-317500" lvl="1" marL="914400" rtl="0" algn="l">
              <a:spcBef>
                <a:spcPts val="0"/>
              </a:spcBef>
              <a:spcAft>
                <a:spcPts val="0"/>
              </a:spcAft>
              <a:buSzPts val="1400"/>
              <a:buChar char="○"/>
            </a:pPr>
            <a:r>
              <a:rPr lang="en"/>
              <a:t>Centralized management of security policies (single point of control)</a:t>
            </a:r>
            <a:endParaRPr/>
          </a:p>
          <a:p>
            <a:pPr indent="-317500" lvl="1" marL="914400" rtl="0" algn="l">
              <a:spcBef>
                <a:spcPts val="0"/>
              </a:spcBef>
              <a:spcAft>
                <a:spcPts val="0"/>
              </a:spcAft>
              <a:buSzPts val="1400"/>
              <a:buChar char="○"/>
            </a:pPr>
            <a:r>
              <a:rPr lang="en"/>
              <a:t>Transparent operation to end users</a:t>
            </a:r>
            <a:endParaRPr/>
          </a:p>
          <a:p>
            <a:pPr indent="-317500" lvl="1" marL="914400" rtl="0" algn="l">
              <a:spcBef>
                <a:spcPts val="0"/>
              </a:spcBef>
              <a:spcAft>
                <a:spcPts val="0"/>
              </a:spcAft>
              <a:buSzPts val="1400"/>
              <a:buChar char="○"/>
            </a:pPr>
            <a:r>
              <a:rPr lang="en"/>
              <a:t>Mitigates security vulnerabilities on end hosts (e.g., block anything that looks like shellcode)</a:t>
            </a:r>
            <a:endParaRPr/>
          </a:p>
          <a:p>
            <a:pPr indent="-342900" lvl="0" marL="457200" rtl="0" algn="l">
              <a:spcBef>
                <a:spcPts val="0"/>
              </a:spcBef>
              <a:spcAft>
                <a:spcPts val="0"/>
              </a:spcAft>
              <a:buSzPts val="1800"/>
              <a:buChar char="●"/>
            </a:pPr>
            <a:r>
              <a:rPr lang="en"/>
              <a:t>Cons</a:t>
            </a:r>
            <a:endParaRPr/>
          </a:p>
          <a:p>
            <a:pPr indent="-317500" lvl="1" marL="914400" rtl="0" algn="l">
              <a:spcBef>
                <a:spcPts val="0"/>
              </a:spcBef>
              <a:spcAft>
                <a:spcPts val="0"/>
              </a:spcAft>
              <a:buSzPts val="1400"/>
              <a:buChar char="○"/>
            </a:pPr>
            <a:r>
              <a:rPr lang="en"/>
              <a:t>Reduced network connectivity: Some applications don’t work well inside a firewall</a:t>
            </a:r>
            <a:endParaRPr/>
          </a:p>
          <a:p>
            <a:pPr indent="-317500" lvl="1" marL="914400" rtl="0" algn="l">
              <a:spcBef>
                <a:spcPts val="0"/>
              </a:spcBef>
              <a:spcAft>
                <a:spcPts val="0"/>
              </a:spcAft>
              <a:buSzPts val="1400"/>
              <a:buChar char="○"/>
            </a:pPr>
            <a:r>
              <a:rPr lang="en"/>
              <a:t>Vulnerability to “insiders”</a:t>
            </a:r>
            <a:endParaRPr/>
          </a:p>
          <a:p>
            <a:pPr indent="-317500" lvl="2" marL="1371600" rtl="0" algn="l">
              <a:spcBef>
                <a:spcPts val="0"/>
              </a:spcBef>
              <a:spcAft>
                <a:spcPts val="0"/>
              </a:spcAft>
              <a:buSzPts val="1400"/>
              <a:buChar char="■"/>
            </a:pPr>
            <a:r>
              <a:rPr lang="en"/>
              <a:t>Employees could be bribed or threatened</a:t>
            </a:r>
            <a:endParaRPr/>
          </a:p>
          <a:p>
            <a:pPr indent="-317500" lvl="2" marL="1371600" rtl="0" algn="l">
              <a:spcBef>
                <a:spcPts val="0"/>
              </a:spcBef>
              <a:spcAft>
                <a:spcPts val="0"/>
              </a:spcAft>
              <a:buSzPts val="1400"/>
              <a:buChar char="■"/>
            </a:pPr>
            <a:r>
              <a:rPr lang="en"/>
              <a:t>Devices are often brought from into the network outside (e.g., cell phones, laptops)</a:t>
            </a:r>
            <a:endParaRPr/>
          </a:p>
          <a:p>
            <a:pPr indent="-317500" lvl="2" marL="1371600" rtl="0" algn="l">
              <a:spcBef>
                <a:spcPts val="0"/>
              </a:spcBef>
              <a:spcAft>
                <a:spcPts val="0"/>
              </a:spcAft>
              <a:buSzPts val="1400"/>
              <a:buChar char="■"/>
            </a:pPr>
            <a:r>
              <a:rPr lang="en"/>
              <a:t>Once one device is compromised, attackers can quickly spread through the network</a:t>
            </a:r>
            <a:endParaRPr/>
          </a:p>
          <a:p>
            <a:pPr indent="-317500" lvl="2" marL="1371600" rtl="0" algn="l">
              <a:spcBef>
                <a:spcPts val="0"/>
              </a:spcBef>
              <a:spcAft>
                <a:spcPts val="0"/>
              </a:spcAft>
              <a:buSzPts val="1400"/>
              <a:buChar char="■"/>
            </a:pPr>
            <a:r>
              <a:rPr lang="en"/>
              <a:t>Could be mitigated by layering firewalls for more sensitive devices</a:t>
            </a:r>
            <a:endParaRPr/>
          </a:p>
        </p:txBody>
      </p:sp>
      <p:sp>
        <p:nvSpPr>
          <p:cNvPr id="621" name="Google Shape;621;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Denial of Service </a:t>
            </a:r>
            <a:endParaRPr/>
          </a:p>
        </p:txBody>
      </p:sp>
      <p:sp>
        <p:nvSpPr>
          <p:cNvPr id="627" name="Google Shape;627;p6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Availability</a:t>
            </a:r>
            <a:r>
              <a:rPr lang="en"/>
              <a:t>: Making sure users are able to use a service</a:t>
            </a:r>
            <a:endParaRPr/>
          </a:p>
          <a:p>
            <a:pPr indent="-317500" lvl="1" marL="914400" rtl="0" algn="l">
              <a:spcBef>
                <a:spcPts val="0"/>
              </a:spcBef>
              <a:spcAft>
                <a:spcPts val="0"/>
              </a:spcAft>
              <a:buSzPts val="1400"/>
              <a:buChar char="○"/>
            </a:pPr>
            <a:r>
              <a:rPr lang="en"/>
              <a:t>DoS attacks availability of services</a:t>
            </a:r>
            <a:endParaRPr/>
          </a:p>
          <a:p>
            <a:pPr indent="-342900" lvl="0" marL="457200" rtl="0" algn="l">
              <a:spcBef>
                <a:spcPts val="0"/>
              </a:spcBef>
              <a:spcAft>
                <a:spcPts val="0"/>
              </a:spcAft>
              <a:buSzPts val="1800"/>
              <a:buChar char="●"/>
            </a:pPr>
            <a:r>
              <a:rPr b="1" lang="en"/>
              <a:t>Application-level DoS</a:t>
            </a:r>
            <a:r>
              <a:rPr lang="en"/>
              <a:t>: Attacks the application's algorithms/code</a:t>
            </a:r>
            <a:endParaRPr/>
          </a:p>
          <a:p>
            <a:pPr indent="-317500" lvl="1" marL="914400" rtl="0" algn="l">
              <a:spcBef>
                <a:spcPts val="0"/>
              </a:spcBef>
              <a:spcAft>
                <a:spcPts val="0"/>
              </a:spcAft>
              <a:buSzPts val="1400"/>
              <a:buChar char="○"/>
            </a:pPr>
            <a:r>
              <a:rPr lang="en"/>
              <a:t>Algorithmic complexity attacks: Attack using inputs that cause the worst-case runtime of an algorithm</a:t>
            </a:r>
            <a:endParaRPr/>
          </a:p>
          <a:p>
            <a:pPr indent="-317500" lvl="1" marL="914400" rtl="0" algn="l">
              <a:spcBef>
                <a:spcPts val="0"/>
              </a:spcBef>
              <a:spcAft>
                <a:spcPts val="0"/>
              </a:spcAft>
              <a:buSzPts val="1400"/>
              <a:buChar char="○"/>
            </a:pPr>
            <a:r>
              <a:rPr lang="en"/>
              <a:t>Defense: </a:t>
            </a:r>
            <a:r>
              <a:rPr lang="en"/>
              <a:t>Identification, isolation, and quotas</a:t>
            </a:r>
            <a:endParaRPr/>
          </a:p>
          <a:p>
            <a:pPr indent="-317500" lvl="1" marL="914400" rtl="0" algn="l">
              <a:spcBef>
                <a:spcPts val="0"/>
              </a:spcBef>
              <a:spcAft>
                <a:spcPts val="0"/>
              </a:spcAft>
              <a:buSzPts val="1400"/>
              <a:buChar char="○"/>
            </a:pPr>
            <a:r>
              <a:rPr lang="en"/>
              <a:t>Defense: Proof of work</a:t>
            </a:r>
            <a:endParaRPr/>
          </a:p>
          <a:p>
            <a:pPr indent="-342900" lvl="0" marL="457200" rtl="0" algn="l">
              <a:spcBef>
                <a:spcPts val="0"/>
              </a:spcBef>
              <a:spcAft>
                <a:spcPts val="0"/>
              </a:spcAft>
              <a:buSzPts val="1800"/>
              <a:buChar char="●"/>
            </a:pPr>
            <a:r>
              <a:rPr b="1" lang="en"/>
              <a:t>Network-level DoS</a:t>
            </a:r>
            <a:r>
              <a:rPr lang="en"/>
              <a:t>: Attacks the network of a service</a:t>
            </a:r>
            <a:endParaRPr/>
          </a:p>
          <a:p>
            <a:pPr indent="-317500" lvl="1" marL="914400" rtl="0" algn="l">
              <a:spcBef>
                <a:spcPts val="0"/>
              </a:spcBef>
              <a:spcAft>
                <a:spcPts val="0"/>
              </a:spcAft>
              <a:buSzPts val="1400"/>
              <a:buChar char="○"/>
            </a:pPr>
            <a:r>
              <a:rPr lang="en"/>
              <a:t>Typically floods either the network bandwidth or the packet processing capacity</a:t>
            </a:r>
            <a:endParaRPr/>
          </a:p>
          <a:p>
            <a:pPr indent="-317500" lvl="1" marL="914400" rtl="0" algn="l">
              <a:spcBef>
                <a:spcPts val="0"/>
              </a:spcBef>
              <a:spcAft>
                <a:spcPts val="0"/>
              </a:spcAft>
              <a:buSzPts val="1400"/>
              <a:buChar char="○"/>
            </a:pPr>
            <a:r>
              <a:rPr lang="en"/>
              <a:t>Distributed DoS: Use multiple computers to flood a network at the same time</a:t>
            </a:r>
            <a:endParaRPr/>
          </a:p>
          <a:p>
            <a:pPr indent="-317500" lvl="1" marL="914400" rtl="0" algn="l">
              <a:spcBef>
                <a:spcPts val="0"/>
              </a:spcBef>
              <a:spcAft>
                <a:spcPts val="0"/>
              </a:spcAft>
              <a:buSzPts val="1400"/>
              <a:buChar char="○"/>
            </a:pPr>
            <a:r>
              <a:rPr lang="en"/>
              <a:t>Amplified DoS: Use an amplifier to turn a small input into a large output, spoofing packets so the reply goes to the victim</a:t>
            </a:r>
            <a:endParaRPr/>
          </a:p>
          <a:p>
            <a:pPr indent="-317500" lvl="1" marL="914400" rtl="0" algn="l">
              <a:spcBef>
                <a:spcPts val="0"/>
              </a:spcBef>
              <a:spcAft>
                <a:spcPts val="0"/>
              </a:spcAft>
              <a:buSzPts val="1400"/>
              <a:buChar char="○"/>
            </a:pPr>
            <a:r>
              <a:rPr lang="en"/>
              <a:t>Defense: Packet filtering</a:t>
            </a:r>
            <a:endParaRPr/>
          </a:p>
          <a:p>
            <a:pPr indent="-342900" lvl="0" marL="457200" rtl="0" algn="l">
              <a:spcBef>
                <a:spcPts val="0"/>
              </a:spcBef>
              <a:spcAft>
                <a:spcPts val="0"/>
              </a:spcAft>
              <a:buSzPts val="1800"/>
              <a:buChar char="●"/>
            </a:pPr>
            <a:r>
              <a:rPr lang="en"/>
              <a:t>All DoS attacks can be defended against by overprovisioning</a:t>
            </a:r>
            <a:endParaRPr/>
          </a:p>
        </p:txBody>
      </p:sp>
      <p:sp>
        <p:nvSpPr>
          <p:cNvPr id="628" name="Google Shape;628;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SYN Cookies</a:t>
            </a:r>
            <a:endParaRPr/>
          </a:p>
        </p:txBody>
      </p:sp>
      <p:sp>
        <p:nvSpPr>
          <p:cNvPr id="634" name="Google Shape;634;p6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SYN flooding</a:t>
            </a:r>
            <a:r>
              <a:rPr lang="en"/>
              <a:t>: A type of DoS that causes a server to allocate state for unfinished TCP connections, upon receiving a SYN packet</a:t>
            </a:r>
            <a:endParaRPr/>
          </a:p>
          <a:p>
            <a:pPr indent="-317500" lvl="1" marL="914400" rtl="0" algn="l">
              <a:spcBef>
                <a:spcPts val="0"/>
              </a:spcBef>
              <a:spcAft>
                <a:spcPts val="0"/>
              </a:spcAft>
              <a:buSzPts val="1400"/>
              <a:buChar char="○"/>
            </a:pPr>
            <a:r>
              <a:rPr b="1" lang="en"/>
              <a:t>SYN cookies</a:t>
            </a:r>
            <a:r>
              <a:rPr lang="en"/>
              <a:t>: Instead of allocating state when receiving a SYN, send the state back to the client in the sequence number</a:t>
            </a:r>
            <a:endParaRPr/>
          </a:p>
          <a:p>
            <a:pPr indent="-317500" lvl="1" marL="914400" rtl="0" algn="l">
              <a:spcBef>
                <a:spcPts val="0"/>
              </a:spcBef>
              <a:spcAft>
                <a:spcPts val="0"/>
              </a:spcAft>
              <a:buSzPts val="1400"/>
              <a:buChar char="○"/>
            </a:pPr>
            <a:r>
              <a:rPr lang="en"/>
              <a:t>The client returns the state back to the server, which it only then allocates state for</a:t>
            </a:r>
            <a:endParaRPr/>
          </a:p>
        </p:txBody>
      </p:sp>
      <p:sp>
        <p:nvSpPr>
          <p:cNvPr id="635" name="Google Shape;635;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Firewalls</a:t>
            </a:r>
            <a:endParaRPr/>
          </a:p>
        </p:txBody>
      </p:sp>
      <p:sp>
        <p:nvSpPr>
          <p:cNvPr id="641" name="Google Shape;641;p6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Firewalls</a:t>
            </a:r>
            <a:r>
              <a:rPr lang="en"/>
              <a:t>: Defend many devices by defending the network</a:t>
            </a:r>
            <a:endParaRPr/>
          </a:p>
          <a:p>
            <a:pPr indent="-317500" lvl="1" marL="914400" rtl="0" algn="l">
              <a:spcBef>
                <a:spcPts val="0"/>
              </a:spcBef>
              <a:spcAft>
                <a:spcPts val="0"/>
              </a:spcAft>
              <a:buSzPts val="1400"/>
              <a:buChar char="○"/>
            </a:pPr>
            <a:r>
              <a:rPr b="1" lang="en"/>
              <a:t>Security policies</a:t>
            </a:r>
            <a:r>
              <a:rPr lang="en"/>
              <a:t> dictate how traffic on the network is handled</a:t>
            </a:r>
            <a:endParaRPr/>
          </a:p>
          <a:p>
            <a:pPr indent="-342900" lvl="0" marL="457200" rtl="0" algn="l">
              <a:spcBef>
                <a:spcPts val="0"/>
              </a:spcBef>
              <a:spcAft>
                <a:spcPts val="0"/>
              </a:spcAft>
              <a:buSzPts val="1800"/>
              <a:buChar char="●"/>
            </a:pPr>
            <a:r>
              <a:rPr b="1" lang="en"/>
              <a:t>Packet filters</a:t>
            </a:r>
            <a:r>
              <a:rPr lang="en"/>
              <a:t>: Choose to either forward or drop packets</a:t>
            </a:r>
            <a:endParaRPr/>
          </a:p>
          <a:p>
            <a:pPr indent="-317500" lvl="1" marL="914400" rtl="0" algn="l">
              <a:spcBef>
                <a:spcPts val="0"/>
              </a:spcBef>
              <a:spcAft>
                <a:spcPts val="0"/>
              </a:spcAft>
              <a:buSzPts val="1400"/>
              <a:buChar char="○"/>
            </a:pPr>
            <a:r>
              <a:rPr b="1" lang="en"/>
              <a:t>Stateless packet filters</a:t>
            </a:r>
            <a:r>
              <a:rPr lang="en"/>
              <a:t>: Choose depending on the packet only</a:t>
            </a:r>
            <a:endParaRPr/>
          </a:p>
          <a:p>
            <a:pPr indent="-317500" lvl="1" marL="914400" rtl="0" algn="l">
              <a:spcBef>
                <a:spcPts val="0"/>
              </a:spcBef>
              <a:spcAft>
                <a:spcPts val="0"/>
              </a:spcAft>
              <a:buSzPts val="1400"/>
              <a:buChar char="○"/>
            </a:pPr>
            <a:r>
              <a:rPr b="1" lang="en"/>
              <a:t>Stateful packet filters</a:t>
            </a:r>
            <a:r>
              <a:rPr lang="en"/>
              <a:t>: Choose depending on the packet and the history of the connection</a:t>
            </a:r>
            <a:endParaRPr/>
          </a:p>
          <a:p>
            <a:pPr indent="-317500" lvl="1" marL="914400" rtl="0" algn="l">
              <a:spcBef>
                <a:spcPts val="0"/>
              </a:spcBef>
              <a:spcAft>
                <a:spcPts val="0"/>
              </a:spcAft>
              <a:buSzPts val="1400"/>
              <a:buChar char="○"/>
            </a:pPr>
            <a:r>
              <a:rPr lang="en"/>
              <a:t>Attackers can subvert packet filters by splitting key payloads or exploiting the TTL</a:t>
            </a:r>
            <a:endParaRPr/>
          </a:p>
          <a:p>
            <a:pPr indent="-342900" lvl="0" marL="457200" rtl="0" algn="l">
              <a:spcBef>
                <a:spcPts val="0"/>
              </a:spcBef>
              <a:spcAft>
                <a:spcPts val="0"/>
              </a:spcAft>
              <a:buSzPts val="1800"/>
              <a:buChar char="●"/>
            </a:pPr>
            <a:r>
              <a:rPr b="1" lang="en"/>
              <a:t>Proxy firewalls</a:t>
            </a:r>
            <a:r>
              <a:rPr lang="en"/>
              <a:t>: Create a connection with both sides instead of forwarding packets</a:t>
            </a:r>
            <a:endParaRPr/>
          </a:p>
        </p:txBody>
      </p:sp>
      <p:sp>
        <p:nvSpPr>
          <p:cNvPr id="642" name="Google Shape;642;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