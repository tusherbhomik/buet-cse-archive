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Lst>
  <p:sldSz cy="5143500" cx="9144000"/>
  <p:notesSz cx="6858000" cy="9144000"/>
  <p:embeddedFontLst>
    <p:embeddedFont>
      <p:font typeface="Patrick Hand"/>
      <p:regular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F2B5D6-C490-41FC-B5EB-5FA7F84E0A47}">
  <a:tblStyle styleId="{1AF2B5D6-C490-41FC-B5EB-5FA7F84E0A4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font" Target="fonts/PatrickHand-regular.fntdata"/><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140ac5291a_0_10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140ac5291a_0_1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140ac5291a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140ac5291a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140ac5291a_0_1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140ac5291a_0_1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2ec34fda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2ec34fda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dce61f0a8f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dce61f0a8f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 min - 12:45 (add 15 for kaminsky)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dbc553304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dbc553304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said that DNS has no crypto, but we just spent so long talking about TLS -&gt; can we apply that to DNS?</a:t>
            </a:r>
            <a:endParaRPr/>
          </a:p>
          <a:p>
            <a:pPr indent="-298450" lvl="0" marL="457200" rtl="0" algn="l">
              <a:spcBef>
                <a:spcPts val="0"/>
              </a:spcBef>
              <a:spcAft>
                <a:spcPts val="0"/>
              </a:spcAft>
              <a:buSzPts val="1100"/>
              <a:buChar char="-"/>
            </a:pPr>
            <a:r>
              <a:rPr lang="en"/>
              <a:t>What are our goals?</a:t>
            </a:r>
            <a:endParaRPr/>
          </a:p>
          <a:p>
            <a:pPr indent="-298450" lvl="1" marL="914400" rtl="0" algn="l">
              <a:spcBef>
                <a:spcPts val="0"/>
              </a:spcBef>
              <a:spcAft>
                <a:spcPts val="0"/>
              </a:spcAft>
              <a:buSzPts val="1100"/>
              <a:buChar char="-"/>
            </a:pPr>
            <a:r>
              <a:rPr lang="en"/>
              <a:t>Integrity: If an attacker tampers, we would still cache… let’s fix that!</a:t>
            </a:r>
            <a:endParaRPr/>
          </a:p>
          <a:p>
            <a:pPr indent="-298450" lvl="1" marL="914400" rtl="0" algn="l">
              <a:spcBef>
                <a:spcPts val="0"/>
              </a:spcBef>
              <a:spcAft>
                <a:spcPts val="0"/>
              </a:spcAft>
              <a:buSzPts val="1100"/>
              <a:buChar char="-"/>
            </a:pPr>
            <a:r>
              <a:rPr lang="en"/>
              <a:t>Not confidentiality: You can run the dig command yourself on your own computer!</a:t>
            </a:r>
            <a:endParaRPr/>
          </a:p>
          <a:p>
            <a:pPr indent="-298450" lvl="2" marL="1371600" rtl="0" algn="l">
              <a:spcBef>
                <a:spcPts val="0"/>
              </a:spcBef>
              <a:spcAft>
                <a:spcPts val="0"/>
              </a:spcAft>
              <a:buSzPts val="1100"/>
              <a:buChar char="-"/>
            </a:pPr>
            <a:r>
              <a:rPr lang="en"/>
              <a:t>“This domain maps to this IP address”: that’s not secret (like a certificate!)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dbc553304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dbc553304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TLS is end-to-end secure so we have connections between each connection</a:t>
            </a:r>
            <a:endParaRPr/>
          </a:p>
          <a:p>
            <a:pPr indent="-298450" lvl="1" marL="914400" rtl="0" algn="l">
              <a:spcBef>
                <a:spcPts val="0"/>
              </a:spcBef>
              <a:spcAft>
                <a:spcPts val="0"/>
              </a:spcAft>
              <a:buSzPts val="1100"/>
              <a:buChar char="-"/>
            </a:pPr>
            <a:r>
              <a:rPr lang="en"/>
              <a:t>No one can tamper with the message in-between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dbc553304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dbc553304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TLS has a super long handshake!</a:t>
            </a:r>
            <a:endParaRPr/>
          </a:p>
          <a:p>
            <a:pPr indent="-298450" lvl="1" marL="914400" rtl="0" algn="l">
              <a:spcBef>
                <a:spcPts val="0"/>
              </a:spcBef>
              <a:spcAft>
                <a:spcPts val="0"/>
              </a:spcAft>
              <a:buSzPts val="1100"/>
              <a:buChar char="-"/>
            </a:pPr>
            <a:r>
              <a:rPr lang="en"/>
              <a:t>You’d have to wait between each name server with the resolver!</a:t>
            </a:r>
            <a:endParaRPr/>
          </a:p>
          <a:p>
            <a:pPr indent="-298450" lvl="0" marL="457200" rtl="0" algn="l">
              <a:spcBef>
                <a:spcPts val="0"/>
              </a:spcBef>
              <a:spcAft>
                <a:spcPts val="0"/>
              </a:spcAft>
              <a:buSzPts val="1100"/>
              <a:buChar char="-"/>
            </a:pPr>
            <a:r>
              <a:rPr lang="en"/>
              <a:t>Caching: TLS connection is finished–it won’t catch an attacker just modifying values in your cache!</a:t>
            </a:r>
            <a:endParaRPr/>
          </a:p>
          <a:p>
            <a:pPr indent="-298450" lvl="0" marL="457200" rtl="0" algn="l">
              <a:spcBef>
                <a:spcPts val="0"/>
              </a:spcBef>
              <a:spcAft>
                <a:spcPts val="0"/>
              </a:spcAft>
              <a:buSzPts val="1100"/>
              <a:buChar char="-"/>
            </a:pPr>
            <a:r>
              <a:rPr lang="en"/>
              <a:t>TLS connection… with a malicious name server won’t help!</a:t>
            </a:r>
            <a:endParaRPr/>
          </a:p>
          <a:p>
            <a:pPr indent="-298450" lvl="1" marL="914400" rtl="0" algn="l">
              <a:spcBef>
                <a:spcPts val="0"/>
              </a:spcBef>
              <a:spcAft>
                <a:spcPts val="0"/>
              </a:spcAft>
              <a:buSzPts val="1100"/>
              <a:buChar char="-"/>
            </a:pPr>
            <a:r>
              <a:rPr lang="en"/>
              <a:t>Same with the recursive resolvers!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dbc5533046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dbc5533046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major problem with DoT is that we could make a beautiful TLS connection that is secure, but once that data hits the cache, it can be modified without detection. This is the problem of channel security versus object security.</a:t>
            </a:r>
            <a:endParaRPr/>
          </a:p>
          <a:p>
            <a:pPr indent="-298450" lvl="0" marL="457200" rtl="0" algn="l">
              <a:spcBef>
                <a:spcPts val="0"/>
              </a:spcBef>
              <a:spcAft>
                <a:spcPts val="0"/>
              </a:spcAft>
              <a:buSzPts val="1100"/>
              <a:buChar char="-"/>
            </a:pPr>
            <a:r>
              <a:rPr lang="en"/>
              <a:t>Object security means it should be secure </a:t>
            </a:r>
            <a:r>
              <a:rPr i="1" lang="en"/>
              <a:t>even if it flows through an insecure channel</a:t>
            </a:r>
            <a:r>
              <a:rPr lang="en"/>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dbc5533046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dbc5533046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Firefox uses DNS over TLS</a:t>
            </a:r>
            <a:endParaRPr/>
          </a:p>
          <a:p>
            <a:pPr indent="-298450" lvl="1" marL="914400" rtl="0" algn="l">
              <a:spcBef>
                <a:spcPts val="0"/>
              </a:spcBef>
              <a:spcAft>
                <a:spcPts val="0"/>
              </a:spcAft>
              <a:buSzPts val="1100"/>
              <a:buChar char="-"/>
            </a:pPr>
            <a:r>
              <a:rPr lang="en"/>
              <a:t>But your recursive resolver (like Cloudflare) is a man-in-the-middle</a:t>
            </a:r>
            <a:endParaRPr/>
          </a:p>
          <a:p>
            <a:pPr indent="-298450" lvl="1" marL="914400" rtl="0" algn="l">
              <a:spcBef>
                <a:spcPts val="0"/>
              </a:spcBef>
              <a:spcAft>
                <a:spcPts val="0"/>
              </a:spcAft>
              <a:buSzPts val="1100"/>
              <a:buChar char="-"/>
            </a:pPr>
            <a:r>
              <a:rPr lang="en"/>
              <a:t>They can say “yeah I won’t attack you”, and you have to blindly trust that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dbc553304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dbc553304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10 min - 12:50</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dbc5533046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dbc553304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Our main goal: stop people from poisoning our cache!</a:t>
            </a:r>
            <a:endParaRPr/>
          </a:p>
          <a:p>
            <a:pPr indent="-298450" lvl="0" marL="457200" rtl="0" algn="l">
              <a:spcBef>
                <a:spcPts val="0"/>
              </a:spcBef>
              <a:spcAft>
                <a:spcPts val="0"/>
              </a:spcAft>
              <a:buSzPts val="1100"/>
              <a:buChar char="-"/>
            </a:pPr>
            <a:r>
              <a:rPr lang="en"/>
              <a:t>DNSSEC needs to be backwards-compatible</a:t>
            </a:r>
            <a:endParaRPr/>
          </a:p>
          <a:p>
            <a:pPr indent="-298450" lvl="1" marL="914400" rtl="0" algn="l">
              <a:spcBef>
                <a:spcPts val="0"/>
              </a:spcBef>
              <a:spcAft>
                <a:spcPts val="0"/>
              </a:spcAft>
              <a:buSzPts val="1100"/>
              <a:buChar char="-"/>
            </a:pPr>
            <a:r>
              <a:rPr lang="en"/>
              <a:t>Everyone</a:t>
            </a:r>
            <a:r>
              <a:rPr lang="en"/>
              <a:t> is using DNS–good luck trying to convince them to change!</a:t>
            </a:r>
            <a:endParaRPr/>
          </a:p>
          <a:p>
            <a:pPr indent="-298450" lvl="1" marL="914400" rtl="0" algn="l">
              <a:spcBef>
                <a:spcPts val="0"/>
              </a:spcBef>
              <a:spcAft>
                <a:spcPts val="0"/>
              </a:spcAft>
              <a:buSzPts val="1100"/>
              <a:buChar char="-"/>
            </a:pPr>
            <a:r>
              <a:rPr lang="en">
                <a:solidFill>
                  <a:schemeClr val="dk1"/>
                </a:solidFill>
              </a:rPr>
              <a:t>If you wanted to change your packet, have fun trying to convince every single server in the world not only that your idea is better (maybe it is), but convince them it’s worth their time to completely change the way that they’re handling DNS.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dbc553304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dbc553304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Q1: We need crypto for integrity! We don’t need confidentiality (because domain to IP mappings aren’t particularly top secret)</a:t>
            </a:r>
            <a:endParaRPr/>
          </a:p>
          <a:p>
            <a:pPr indent="-298450" lvl="1" marL="914400" rtl="0" algn="l">
              <a:spcBef>
                <a:spcPts val="0"/>
              </a:spcBef>
              <a:spcAft>
                <a:spcPts val="0"/>
              </a:spcAft>
              <a:buSzPts val="1100"/>
              <a:buChar char="-"/>
            </a:pPr>
            <a:r>
              <a:rPr lang="en"/>
              <a:t>MACs: shared secret key -&gt; only people in the group can generate/verify</a:t>
            </a:r>
            <a:endParaRPr/>
          </a:p>
          <a:p>
            <a:pPr indent="-298450" lvl="1" marL="914400" rtl="0" algn="l">
              <a:spcBef>
                <a:spcPts val="0"/>
              </a:spcBef>
              <a:spcAft>
                <a:spcPts val="0"/>
              </a:spcAft>
              <a:buSzPts val="1100"/>
              <a:buChar char="-"/>
            </a:pPr>
            <a:r>
              <a:rPr lang="en"/>
              <a:t>DS: only one person can sign, but everyone can verify!</a:t>
            </a:r>
            <a:endParaRPr/>
          </a:p>
          <a:p>
            <a:pPr indent="-298450" lvl="1" marL="914400" rtl="0" algn="l">
              <a:spcBef>
                <a:spcPts val="0"/>
              </a:spcBef>
              <a:spcAft>
                <a:spcPts val="0"/>
              </a:spcAft>
              <a:buSzPts val="1100"/>
              <a:buChar char="-"/>
            </a:pPr>
            <a:r>
              <a:rPr lang="en"/>
              <a:t>We need everyone to be able to verify.</a:t>
            </a:r>
            <a:endParaRPr/>
          </a:p>
          <a:p>
            <a:pPr indent="-298450" lvl="2" marL="1371600" rtl="0" algn="l">
              <a:spcBef>
                <a:spcPts val="0"/>
              </a:spcBef>
              <a:spcAft>
                <a:spcPts val="0"/>
              </a:spcAft>
              <a:buSzPts val="1100"/>
              <a:buChar char="-"/>
            </a:pPr>
            <a:r>
              <a:rPr lang="en"/>
              <a:t>If we used MACs… we would be either stopping people from verifying or allowing everyone to sign</a:t>
            </a:r>
            <a:endParaRPr/>
          </a:p>
          <a:p>
            <a:pPr indent="-298450" lvl="0" marL="457200" rtl="0" algn="l">
              <a:spcBef>
                <a:spcPts val="0"/>
              </a:spcBef>
              <a:spcAft>
                <a:spcPts val="0"/>
              </a:spcAft>
              <a:buSzPts val="1100"/>
              <a:buChar char="-"/>
            </a:pPr>
            <a:r>
              <a:rPr lang="en"/>
              <a:t>Q2: How to make sure this is right?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dbc5533046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dbc5533046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Needs the record (to store!)</a:t>
            </a:r>
            <a:endParaRPr/>
          </a:p>
          <a:p>
            <a:pPr indent="-298450" lvl="0" marL="457200" rtl="0" algn="l">
              <a:spcBef>
                <a:spcPts val="0"/>
              </a:spcBef>
              <a:spcAft>
                <a:spcPts val="0"/>
              </a:spcAft>
              <a:buSzPts val="1100"/>
              <a:buChar char="-"/>
            </a:pPr>
            <a:r>
              <a:rPr lang="en"/>
              <a:t>Needs a signature to be able to compare</a:t>
            </a:r>
            <a:endParaRPr/>
          </a:p>
          <a:p>
            <a:pPr indent="-298450" lvl="1" marL="914400" rtl="0" algn="l">
              <a:spcBef>
                <a:spcPts val="0"/>
              </a:spcBef>
              <a:spcAft>
                <a:spcPts val="0"/>
              </a:spcAft>
              <a:buSzPts val="1100"/>
              <a:buChar char="-"/>
            </a:pPr>
            <a:r>
              <a:rPr lang="en"/>
              <a:t>Then we need the public key to verify!!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dbc553304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dbc553304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Yes: certificates!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dbc5533046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dbc553304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TODO: Should make sure we clarify in all places that the hash of the public key is signed, not the public key itself. (This is faster because RSA keys &gt;=1024 bit while SHA-256 for example is 256 bits. ~ashley)</a:t>
            </a:r>
            <a:endParaRPr/>
          </a:p>
          <a:p>
            <a:pPr indent="-298450" lvl="0" marL="457200" rtl="0" algn="l">
              <a:spcBef>
                <a:spcPts val="0"/>
              </a:spcBef>
              <a:spcAft>
                <a:spcPts val="0"/>
              </a:spcAft>
              <a:buSzPts val="1100"/>
              <a:buChar char="-"/>
            </a:pPr>
            <a:r>
              <a:rPr lang="en"/>
              <a:t>Where do I put my certificate? Parent has to sign it! Hierarchy of trust :)</a:t>
            </a:r>
            <a:endParaRPr/>
          </a:p>
          <a:p>
            <a:pPr indent="-298450" lvl="1" marL="914400" rtl="0" algn="l">
              <a:spcBef>
                <a:spcPts val="0"/>
              </a:spcBef>
              <a:spcAft>
                <a:spcPts val="0"/>
              </a:spcAft>
              <a:buSzPts val="1100"/>
              <a:buChar char="-"/>
            </a:pPr>
            <a:r>
              <a:rPr lang="en"/>
              <a:t>Similar to the trees in certificates</a:t>
            </a:r>
            <a:endParaRPr/>
          </a:p>
          <a:p>
            <a:pPr indent="-298450" lvl="1" marL="914400" rtl="0" algn="l">
              <a:spcBef>
                <a:spcPts val="0"/>
              </a:spcBef>
              <a:spcAft>
                <a:spcPts val="0"/>
              </a:spcAft>
              <a:buSzPts val="1100"/>
              <a:buChar char="-"/>
            </a:pPr>
            <a:r>
              <a:rPr lang="en"/>
              <a:t>Root </a:t>
            </a:r>
            <a:r>
              <a:rPr lang="en"/>
              <a:t>distributes</a:t>
            </a:r>
            <a:r>
              <a:rPr lang="en"/>
              <a:t> trust</a:t>
            </a:r>
            <a:endParaRPr/>
          </a:p>
          <a:p>
            <a:pPr indent="-298450" lvl="0" marL="457200" rtl="0" algn="l">
              <a:spcBef>
                <a:spcPts val="0"/>
              </a:spcBef>
              <a:spcAft>
                <a:spcPts val="0"/>
              </a:spcAft>
              <a:buSzPts val="1100"/>
              <a:buChar char="-"/>
            </a:pPr>
            <a:r>
              <a:rPr lang="en"/>
              <a:t>Now, you provide the signature on the public key of the next name server (delegate trust)</a:t>
            </a:r>
            <a:endParaRPr/>
          </a:p>
          <a:p>
            <a:pPr indent="-298450" lvl="1" marL="914400" rtl="0" algn="l">
              <a:spcBef>
                <a:spcPts val="0"/>
              </a:spcBef>
              <a:spcAft>
                <a:spcPts val="0"/>
              </a:spcAft>
              <a:buSzPts val="1100"/>
              <a:buChar char="-"/>
            </a:pPr>
            <a:r>
              <a:rPr lang="en"/>
              <a:t>Record itself stays the same!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dbc5533046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dbc5533046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 min - 1:00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dbc5533046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dbc5533046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Only name server can sign since they’re the only one with private key (everyone else verifies)</a:t>
            </a:r>
            <a:endParaRPr/>
          </a:p>
          <a:p>
            <a:pPr indent="-298450" lvl="0" marL="457200" rtl="0" algn="l">
              <a:spcBef>
                <a:spcPts val="0"/>
              </a:spcBef>
              <a:spcAft>
                <a:spcPts val="0"/>
              </a:spcAft>
              <a:buSzPts val="1100"/>
              <a:buChar char="-"/>
            </a:pPr>
            <a:r>
              <a:rPr lang="en"/>
              <a:t>No one can tamper within the cache! Object security</a:t>
            </a:r>
            <a:endParaRPr/>
          </a:p>
          <a:p>
            <a:pPr indent="-298450" lvl="1" marL="914400" rtl="0" algn="l">
              <a:spcBef>
                <a:spcPts val="0"/>
              </a:spcBef>
              <a:spcAft>
                <a:spcPts val="0"/>
              </a:spcAft>
              <a:buSzPts val="1100"/>
              <a:buChar char="-"/>
            </a:pPr>
            <a:r>
              <a:rPr lang="en"/>
              <a:t>Recursive resolver can’t be MITM!</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dbc553304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dbc553304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 longer just “I don’t know, ask them”</a:t>
            </a:r>
            <a:endParaRPr/>
          </a:p>
          <a:p>
            <a:pPr indent="-298450" lvl="1" marL="914400" rtl="0" algn="l">
              <a:spcBef>
                <a:spcPts val="0"/>
              </a:spcBef>
              <a:spcAft>
                <a:spcPts val="0"/>
              </a:spcAft>
              <a:buSzPts val="1100"/>
              <a:buChar char="-"/>
            </a:pPr>
            <a:r>
              <a:rPr lang="en"/>
              <a:t>Now: “I don’t know, ask them. By the way, since you trust me, here’s their public key and my endorsement of it so you can trust them.”</a:t>
            </a:r>
            <a:endParaRPr/>
          </a:p>
          <a:p>
            <a:pPr indent="-298450" lvl="0" marL="457200" rtl="0" algn="l">
              <a:spcBef>
                <a:spcPts val="0"/>
              </a:spcBef>
              <a:spcAft>
                <a:spcPts val="0"/>
              </a:spcAft>
              <a:buSzPts val="1100"/>
              <a:buChar char="-"/>
            </a:pPr>
            <a:r>
              <a:rPr lang="en"/>
              <a:t>Assuming that everyone only delegates trust to trusted children, this works!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dbc5533046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dbc5533046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Notice we’re building on DNS: we still provide the record with the information “I don’t know!”</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dbc5533046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dbc5533046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dbc5533046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dbc5533046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Can’t just send the record–need to provide the signature on the record.</a:t>
            </a:r>
            <a:endParaRPr/>
          </a:p>
          <a:p>
            <a:pPr indent="-298450" lvl="1" marL="914400" rtl="0" algn="l">
              <a:spcBef>
                <a:spcPts val="0"/>
              </a:spcBef>
              <a:spcAft>
                <a:spcPts val="0"/>
              </a:spcAft>
              <a:buSzPts val="1100"/>
              <a:buChar char="-"/>
            </a:pPr>
            <a:r>
              <a:rPr lang="en"/>
              <a:t>This guarantees I know the answer </a:t>
            </a:r>
            <a:r>
              <a:rPr i="1" lang="en"/>
              <a:t>and</a:t>
            </a:r>
            <a:r>
              <a:rPr lang="en"/>
              <a:t> that I can trust it.</a:t>
            </a:r>
            <a:endParaRPr/>
          </a:p>
          <a:p>
            <a:pPr indent="-298450" lvl="1" marL="914400" rtl="0" algn="l">
              <a:spcBef>
                <a:spcPts val="0"/>
              </a:spcBef>
              <a:spcAft>
                <a:spcPts val="0"/>
              </a:spcAft>
              <a:buSzPts val="1100"/>
              <a:buChar char="-"/>
            </a:pPr>
            <a:r>
              <a:rPr lang="en"/>
              <a:t>Why can I trust it? Well I trust the berkeley.edu NS because the .edu NS signed for it. And then I trust the .edu NS because the root NS signed for it. And I trust the root since it’s </a:t>
            </a:r>
            <a:r>
              <a:rPr lang="en"/>
              <a:t>hard coded</a:t>
            </a:r>
            <a:r>
              <a:rPr lang="en"/>
              <a:t> into my machine!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dbc5533046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dbc5533046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 min - 1:10</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dbc5533046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dbc5533046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Usually we don’t give the entire protocol in full because there’s a lot of weird cases we don’t have to consider for security. That’s not the case today!</a:t>
            </a:r>
            <a:endParaRPr>
              <a:solidFill>
                <a:schemeClr val="dk1"/>
              </a:solidFill>
            </a:endParaRPr>
          </a:p>
          <a:p>
            <a:pPr indent="0" lvl="0" marL="0" rtl="0" algn="l">
              <a:spcBef>
                <a:spcPts val="0"/>
              </a:spcBef>
              <a:spcAft>
                <a:spcPts val="0"/>
              </a:spcAft>
              <a:buNone/>
            </a:pPr>
            <a:r>
              <a:rPr lang="en">
                <a:solidFill>
                  <a:schemeClr val="dk1"/>
                </a:solidFill>
              </a:rPr>
              <a:t>This is brought up for completeness, but remember that blue slides aren’t in scope!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dbc5533046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dbc5533046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 flags in DNS, but more for DNSSEC…</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dbc5533046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dbc5533046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more flags.</a:t>
            </a:r>
            <a:endParaRPr/>
          </a:p>
          <a:p>
            <a:pPr indent="0" lvl="0" marL="0" rtl="0" algn="l">
              <a:spcBef>
                <a:spcPts val="0"/>
              </a:spcBef>
              <a:spcAft>
                <a:spcPts val="0"/>
              </a:spcAft>
              <a:buNone/>
            </a:pPr>
            <a:r>
              <a:rPr lang="en"/>
              <a:t>Can’t </a:t>
            </a:r>
            <a:r>
              <a:rPr lang="en">
                <a:solidFill>
                  <a:schemeClr val="dk1"/>
                </a:solidFill>
              </a:rPr>
              <a:t> shove these flags into the original flag section, it would break people only using DNS (not DNSSEC)</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dbc5533046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dbc5533046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a:t>
            </a:r>
            <a:r>
              <a:rPr lang="en">
                <a:solidFill>
                  <a:schemeClr val="dk1"/>
                </a:solidFill>
              </a:rPr>
              <a:t>reate a new OPT pseudosection to be backwards compatible.</a:t>
            </a:r>
            <a:endParaRPr/>
          </a:p>
          <a:p>
            <a:pPr indent="0" lvl="0" marL="0" rtl="0" algn="l">
              <a:spcBef>
                <a:spcPts val="0"/>
              </a:spcBef>
              <a:spcAft>
                <a:spcPts val="0"/>
              </a:spcAft>
              <a:buNone/>
            </a:pPr>
            <a:r>
              <a:rPr lang="en"/>
              <a:t>Hacky fix: extra record called OPT pseudosection sent in additional section</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dbc5533046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dbc5533046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DNS records are name-value pairs that have types (like A, NS)</a:t>
            </a:r>
            <a:endParaRPr/>
          </a:p>
          <a:p>
            <a:pPr indent="-298450" lvl="0" marL="457200" rtl="0" algn="l">
              <a:spcBef>
                <a:spcPts val="0"/>
              </a:spcBef>
              <a:spcAft>
                <a:spcPts val="0"/>
              </a:spcAft>
              <a:buSzPts val="1100"/>
              <a:buChar char="-"/>
            </a:pPr>
            <a:r>
              <a:rPr lang="en"/>
              <a:t>RRSET allows you to sign a bunch of records at once.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Fun fact (out of scope ~ashley):</a:t>
            </a:r>
            <a:endParaRPr/>
          </a:p>
          <a:p>
            <a:pPr indent="-298450" lvl="0" marL="457200" rtl="0" algn="l">
              <a:spcBef>
                <a:spcPts val="0"/>
              </a:spcBef>
              <a:spcAft>
                <a:spcPts val="0"/>
              </a:spcAft>
              <a:buSzPts val="1100"/>
              <a:buChar char="-"/>
            </a:pPr>
            <a:r>
              <a:rPr lang="en"/>
              <a:t>AAAA is the answer record to map domain names to IPv6 address (A records map to IPv4 addresses)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dbc5533046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dbc5533046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RRSIG can sign groups of records (via resource record set)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dbc5533046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dbc5533046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dbc5533046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dbc5533046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dbc5533046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dbc5533046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Metadata matters (think about project 2! You needed your file metadata information)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b6b314f9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b6b314f9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Trust is delegated via DS &amp; RRSIG</a:t>
            </a:r>
            <a:endParaRPr/>
          </a:p>
          <a:p>
            <a:pPr indent="-298450" lvl="1" marL="914400" rtl="0" algn="l">
              <a:spcBef>
                <a:spcPts val="0"/>
              </a:spcBef>
              <a:spcAft>
                <a:spcPts val="0"/>
              </a:spcAft>
              <a:buSzPts val="1100"/>
              <a:buChar char="-"/>
            </a:pPr>
            <a:r>
              <a:rPr lang="en"/>
              <a:t>DS: “The next person’s public key is this!”</a:t>
            </a:r>
            <a:endParaRPr/>
          </a:p>
          <a:p>
            <a:pPr indent="-298450" lvl="1" marL="914400" rtl="0" algn="l">
              <a:spcBef>
                <a:spcPts val="0"/>
              </a:spcBef>
              <a:spcAft>
                <a:spcPts val="0"/>
              </a:spcAft>
              <a:buSzPts val="1100"/>
              <a:buChar char="-"/>
            </a:pPr>
            <a:r>
              <a:rPr lang="en"/>
              <a:t>RRSIG: “Here’s my signature over that public key”</a:t>
            </a:r>
            <a:endParaRPr/>
          </a:p>
          <a:p>
            <a:pPr indent="-298450" lvl="0" marL="457200" rtl="0" algn="l">
              <a:spcBef>
                <a:spcPts val="0"/>
              </a:spcBef>
              <a:spcAft>
                <a:spcPts val="0"/>
              </a:spcAft>
              <a:buSzPts val="1100"/>
              <a:buChar char="-"/>
            </a:pPr>
            <a:r>
              <a:rPr lang="en"/>
              <a:t>Two records for the certificate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ded82bab7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ded82bab7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 don’t know, but you should ask the .edu name server” is the english version of providing the NS &amp; A record (this is plain DNS)</a:t>
            </a:r>
            <a:endParaRPr/>
          </a:p>
          <a:p>
            <a:pPr indent="-298450" lvl="0" marL="457200" rtl="0" algn="l">
              <a:spcBef>
                <a:spcPts val="0"/>
              </a:spcBef>
              <a:spcAft>
                <a:spcPts val="0"/>
              </a:spcAft>
              <a:buSzPts val="1100"/>
              <a:buChar char="-"/>
            </a:pPr>
            <a:r>
              <a:rPr lang="en"/>
              <a:t>Can store all of these as records, cache them all to ensure object security!</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ded82bab70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ded82bab70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45 min - 1:25</a:t>
            </a:r>
            <a:endParaRPr/>
          </a:p>
          <a:p>
            <a:pPr indent="-298450" lvl="0" marL="457200" rtl="0" algn="l">
              <a:spcBef>
                <a:spcPts val="0"/>
              </a:spcBef>
              <a:spcAft>
                <a:spcPts val="0"/>
              </a:spcAft>
              <a:buSzPts val="1100"/>
              <a:buChar char="-"/>
            </a:pPr>
            <a:r>
              <a:rPr lang="en"/>
              <a:t>Like in normal DNS, need to do the same recursive traversal</a:t>
            </a:r>
            <a:endParaRPr/>
          </a:p>
          <a:p>
            <a:pPr indent="-298450" lvl="1" marL="914400" rtl="0" algn="l">
              <a:spcBef>
                <a:spcPts val="0"/>
              </a:spcBef>
              <a:spcAft>
                <a:spcPts val="0"/>
              </a:spcAft>
              <a:buSzPts val="1100"/>
              <a:buChar char="-"/>
            </a:pPr>
            <a:r>
              <a:rPr lang="en"/>
              <a:t>Remember, DNSSEC is backwards-compatible with DNS!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ded82bab70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ded82bab7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Sign the A record so you can detect if it’s been tampered with</a:t>
            </a:r>
            <a:endParaRPr/>
          </a:p>
          <a:p>
            <a:pPr indent="-298450" lvl="1" marL="914400" rtl="0" algn="l">
              <a:spcBef>
                <a:spcPts val="0"/>
              </a:spcBef>
              <a:spcAft>
                <a:spcPts val="0"/>
              </a:spcAft>
              <a:buSzPts val="1100"/>
              <a:buChar char="-"/>
            </a:pPr>
            <a:r>
              <a:rPr lang="en"/>
              <a:t>Well, if it’s signed, provide the public key as well!</a:t>
            </a:r>
            <a:endParaRPr/>
          </a:p>
          <a:p>
            <a:pPr indent="-298450" lvl="0" marL="457200" rtl="0" algn="l">
              <a:spcBef>
                <a:spcPts val="0"/>
              </a:spcBef>
              <a:spcAft>
                <a:spcPts val="0"/>
              </a:spcAft>
              <a:buSzPts val="1100"/>
              <a:buChar char="-"/>
            </a:pPr>
            <a:r>
              <a:rPr lang="en"/>
              <a:t>Our chain of trust is why we can trust this answer!</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dbc5533046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dbc5533046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There’s not a really intuitive explanation of this! Feel free to check out if you’re tired or uninterested–this is out of scope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dbc5533046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dbc5533046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Potential motivation</a:t>
            </a:r>
            <a:endParaRPr/>
          </a:p>
          <a:p>
            <a:pPr indent="-298450" lvl="1" marL="914400" rtl="0" algn="l">
              <a:spcBef>
                <a:spcPts val="0"/>
              </a:spcBef>
              <a:spcAft>
                <a:spcPts val="0"/>
              </a:spcAft>
              <a:buSzPts val="1100"/>
              <a:buChar char="-"/>
            </a:pPr>
            <a:r>
              <a:rPr lang="en"/>
              <a:t>Need to swap and resign, but </a:t>
            </a:r>
            <a:r>
              <a:rPr i="1" lang="en"/>
              <a:t>also</a:t>
            </a:r>
            <a:r>
              <a:rPr lang="en"/>
              <a:t> need to inform parent (because parent delegates trust by signing your public key!)</a:t>
            </a:r>
            <a:endParaRPr/>
          </a:p>
          <a:p>
            <a:pPr indent="-298450" lvl="1" marL="914400" rtl="0" algn="l">
              <a:spcBef>
                <a:spcPts val="0"/>
              </a:spcBef>
              <a:spcAft>
                <a:spcPts val="0"/>
              </a:spcAft>
              <a:buSzPts val="1100"/>
              <a:buChar char="-"/>
            </a:pPr>
            <a:r>
              <a:rPr lang="en"/>
              <a:t>This is complicated: need to invalidate - what if there are multiple .edu name servers for example?</a:t>
            </a:r>
            <a:endParaRPr/>
          </a:p>
          <a:p>
            <a:pPr indent="-298450" lvl="0" marL="457200" rtl="0" algn="l">
              <a:spcBef>
                <a:spcPts val="0"/>
              </a:spcBef>
              <a:spcAft>
                <a:spcPts val="0"/>
              </a:spcAft>
              <a:buSzPts val="1100"/>
              <a:buChar char="-"/>
            </a:pPr>
            <a:r>
              <a:rPr lang="en"/>
              <a:t>Solution: make yourself your parent</a:t>
            </a:r>
            <a:endParaRPr/>
          </a:p>
          <a:p>
            <a:pPr indent="-298450" lvl="1" marL="914400" rtl="0" algn="l">
              <a:spcBef>
                <a:spcPts val="0"/>
              </a:spcBef>
              <a:spcAft>
                <a:spcPts val="0"/>
              </a:spcAft>
              <a:buSzPts val="1100"/>
              <a:buChar char="-"/>
            </a:pPr>
            <a:r>
              <a:rPr lang="en"/>
              <a:t>Each name server is split in two</a:t>
            </a:r>
            <a:endParaRPr/>
          </a:p>
          <a:p>
            <a:pPr indent="-298450" lvl="2" marL="1371600" rtl="0" algn="l">
              <a:spcBef>
                <a:spcPts val="0"/>
              </a:spcBef>
              <a:spcAft>
                <a:spcPts val="0"/>
              </a:spcAft>
              <a:buSzPts val="1100"/>
              <a:buChar char="-"/>
            </a:pPr>
            <a:r>
              <a:rPr lang="en"/>
              <a:t>This extends the name of trust</a:t>
            </a:r>
            <a:endParaRPr/>
          </a:p>
          <a:p>
            <a:pPr indent="-298450" lvl="1" marL="914400" rtl="0" algn="l">
              <a:spcBef>
                <a:spcPts val="0"/>
              </a:spcBef>
              <a:spcAft>
                <a:spcPts val="0"/>
              </a:spcAft>
              <a:buSzPts val="1100"/>
              <a:buChar char="-"/>
            </a:pPr>
            <a:r>
              <a:rPr lang="en"/>
              <a:t>If lower half breaks, just need to communicate to upper half… who is physically just the same NS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ded82bab7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ded82bab7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Each NS pretends to be two people:</a:t>
            </a:r>
            <a:endParaRPr/>
          </a:p>
          <a:p>
            <a:pPr indent="-298450" lvl="1" marL="914400" rtl="0" algn="l">
              <a:spcBef>
                <a:spcPts val="0"/>
              </a:spcBef>
              <a:spcAft>
                <a:spcPts val="0"/>
              </a:spcAft>
              <a:buSzPts val="1100"/>
              <a:buChar char="-"/>
            </a:pPr>
            <a:r>
              <a:rPr lang="en"/>
              <a:t>KSK (upper half): only signs the ZSK</a:t>
            </a:r>
            <a:endParaRPr/>
          </a:p>
          <a:p>
            <a:pPr indent="-298450" lvl="1" marL="914400" rtl="0" algn="l">
              <a:spcBef>
                <a:spcPts val="0"/>
              </a:spcBef>
              <a:spcAft>
                <a:spcPts val="0"/>
              </a:spcAft>
              <a:buSzPts val="1100"/>
              <a:buChar char="-"/>
            </a:pPr>
            <a:r>
              <a:rPr lang="en"/>
              <a:t>ZSK (lower half): signs everything–the one used to delegate trust to everything else!</a:t>
            </a:r>
            <a:endParaRPr/>
          </a:p>
          <a:p>
            <a:pPr indent="-298450" lvl="0" marL="457200" rtl="0" algn="l">
              <a:spcBef>
                <a:spcPts val="0"/>
              </a:spcBef>
              <a:spcAft>
                <a:spcPts val="0"/>
              </a:spcAft>
              <a:buSzPts val="1100"/>
              <a:buChar char="-"/>
            </a:pPr>
            <a:r>
              <a:rPr lang="en"/>
              <a:t>For instance, Root KSK is what is actually hard coded on people’s machines  </a:t>
            </a:r>
            <a:endParaRPr/>
          </a:p>
          <a:p>
            <a:pPr indent="-298450" lvl="1" marL="914400" rtl="0" algn="l">
              <a:spcBef>
                <a:spcPts val="0"/>
              </a:spcBef>
              <a:spcAft>
                <a:spcPts val="0"/>
              </a:spcAft>
              <a:buSzPts val="1100"/>
              <a:buChar char="-"/>
            </a:pPr>
            <a:r>
              <a:rPr lang="en"/>
              <a:t>Root KSK signs for Root ZSK (next slide)</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ded82bab7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ded82bab7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life like 10 minutes ago </a:t>
            </a:r>
            <a:r>
              <a:rPr lang="en"/>
              <a:t>without</a:t>
            </a:r>
            <a:r>
              <a:rPr lang="en"/>
              <a:t> this KSK and ZSK non-sense</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ded82bab7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ded82bab7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Double the chain</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b6b314f91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b6b314f91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Starting from Root’s KSK (upper half)</a:t>
            </a:r>
            <a:endParaRPr/>
          </a:p>
          <a:p>
            <a:pPr indent="-298450" lvl="1" marL="914400" rtl="0" algn="l">
              <a:spcBef>
                <a:spcPts val="0"/>
              </a:spcBef>
              <a:spcAft>
                <a:spcPts val="0"/>
              </a:spcAft>
              <a:buSzPts val="1100"/>
              <a:buChar char="-"/>
            </a:pPr>
            <a:r>
              <a:rPr lang="en"/>
              <a:t>They sign for the lower half, so you now trust the lower half!</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ded82bab70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ded82bab7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Same server (just lower half)</a:t>
            </a:r>
            <a:endParaRPr/>
          </a:p>
          <a:p>
            <a:pPr indent="-298450" lvl="0" marL="457200" rtl="0" algn="l">
              <a:spcBef>
                <a:spcPts val="0"/>
              </a:spcBef>
              <a:spcAft>
                <a:spcPts val="0"/>
              </a:spcAft>
              <a:buSzPts val="1100"/>
              <a:buChar char="-"/>
            </a:pPr>
            <a:r>
              <a:rPr lang="en"/>
              <a:t>DS record is of the .edu’s KSK (if their ZSK gets leaked, it’s fine)</a:t>
            </a:r>
            <a:endParaRPr/>
          </a:p>
          <a:p>
            <a:pPr indent="-298450" lvl="1" marL="914400" rtl="0" algn="l">
              <a:spcBef>
                <a:spcPts val="0"/>
              </a:spcBef>
              <a:spcAft>
                <a:spcPts val="0"/>
              </a:spcAft>
              <a:buSzPts val="1100"/>
              <a:buChar char="-"/>
            </a:pPr>
            <a:r>
              <a:rPr lang="en"/>
              <a:t>Why do we care about this? The ZSK is the one that’s actually signing all the records so the KSK is attacked less</a:t>
            </a:r>
            <a:endParaRPr/>
          </a:p>
          <a:p>
            <a:pPr indent="-298450" lvl="2" marL="1371600" rtl="0" algn="l">
              <a:spcBef>
                <a:spcPts val="0"/>
              </a:spcBef>
              <a:spcAft>
                <a:spcPts val="0"/>
              </a:spcAft>
              <a:buSzPts val="1100"/>
              <a:buChar char="-"/>
            </a:pPr>
            <a:r>
              <a:rPr lang="en"/>
              <a:t>Less communication and syncing between name servers if the parent doesn’t need to endorse the ZSK</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ded82bab70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ded82bab70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Upper KSK endorses lower ZSK</a:t>
            </a:r>
            <a:endParaRPr/>
          </a:p>
          <a:p>
            <a:pPr indent="-298450" lvl="1" marL="914400" rtl="0" algn="l">
              <a:spcBef>
                <a:spcPts val="0"/>
              </a:spcBef>
              <a:spcAft>
                <a:spcPts val="0"/>
              </a:spcAft>
              <a:buSzPts val="1100"/>
              <a:buChar char="-"/>
            </a:pPr>
            <a:r>
              <a:rPr lang="en"/>
              <a:t>Now you trust the lower half</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ded82bab70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ded82bab70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b6b314f91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b6b314f91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Upper half doesn’t respond to you, they endorse the lower half so you trust them!</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ded82bab7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ded82bab7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ded82bab70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ded82bab70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ded82bab70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ded82bab70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 chain of trust is the information put into the recursive resolver to verify trust!</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ded82bab70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ded82bab70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Additional is the opt </a:t>
            </a:r>
            <a:r>
              <a:rPr lang="en"/>
              <a:t>pseudo</a:t>
            </a:r>
            <a:r>
              <a:rPr lang="en"/>
              <a:t>!</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ded82bab70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ded82bab70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ded82bab70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ded82bab70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we’re going to want to talk to the lower half!</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ded82bab70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ded82bab70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ded82bab70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ded82bab70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Only two extra records:</a:t>
            </a:r>
            <a:endParaRPr/>
          </a:p>
          <a:p>
            <a:pPr indent="-298450" lvl="1" marL="914400" rtl="0" algn="l">
              <a:spcBef>
                <a:spcPts val="0"/>
              </a:spcBef>
              <a:spcAft>
                <a:spcPts val="0"/>
              </a:spcAft>
              <a:buSzPts val="1100"/>
              <a:buChar char="-"/>
            </a:pPr>
            <a:r>
              <a:rPr lang="en"/>
              <a:t>“Here’s the next person’s public key” (technically, upper half)</a:t>
            </a:r>
            <a:endParaRPr/>
          </a:p>
          <a:p>
            <a:pPr indent="-298450" lvl="1" marL="914400" rtl="0" algn="l">
              <a:spcBef>
                <a:spcPts val="0"/>
              </a:spcBef>
              <a:spcAft>
                <a:spcPts val="0"/>
              </a:spcAft>
              <a:buSzPts val="1100"/>
              <a:buChar char="-"/>
            </a:pPr>
            <a:r>
              <a:rPr lang="en"/>
              <a:t>“Here’s the signature on the next person’s public key”</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ded82bab70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ded82bab70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Upper half tells you to go to lower half (you can trust them because there’s a signature)</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ded82bab70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ded82bab70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ded82bab70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ded82bab70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ded82bab70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ded82bab70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Send the upper half of berkeley.edu’s PK and sign it!</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ded82bab70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ded82bab70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Again, upper half tells you that you can trust the lower half</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ded82bab70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ded82bab70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ded82bab70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ded82bab70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ded82bab70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ded82bab70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Lower half finally gives the answer and an RRSIG over it!</a:t>
            </a:r>
            <a:endParaRPr/>
          </a:p>
          <a:p>
            <a:pPr indent="-298450" lvl="0" marL="457200" rtl="0" algn="l">
              <a:spcBef>
                <a:spcPts val="0"/>
              </a:spcBef>
              <a:spcAft>
                <a:spcPts val="0"/>
              </a:spcAft>
              <a:buSzPts val="1100"/>
              <a:buChar char="-"/>
            </a:pPr>
            <a:r>
              <a:rPr lang="en"/>
              <a:t>We can verify that this RRSIG is signed by a public key that I trust</a:t>
            </a:r>
            <a:endParaRPr/>
          </a:p>
          <a:p>
            <a:pPr indent="-298450" lvl="1" marL="914400" rtl="0" algn="l">
              <a:spcBef>
                <a:spcPts val="0"/>
              </a:spcBef>
              <a:spcAft>
                <a:spcPts val="0"/>
              </a:spcAft>
              <a:buSzPts val="1100"/>
              <a:buChar char="-"/>
            </a:pPr>
            <a:r>
              <a:rPr lang="en"/>
              <a:t>Why do I </a:t>
            </a:r>
            <a:r>
              <a:rPr lang="en"/>
              <a:t>trust</a:t>
            </a:r>
            <a:r>
              <a:rPr lang="en"/>
              <a:t> it? Well I trust the lower half of the berkeley.edu NS because the upper half signed for it.</a:t>
            </a:r>
            <a:endParaRPr/>
          </a:p>
          <a:p>
            <a:pPr indent="-298450" lvl="1" marL="914400" rtl="0" algn="l">
              <a:spcBef>
                <a:spcPts val="0"/>
              </a:spcBef>
              <a:spcAft>
                <a:spcPts val="0"/>
              </a:spcAft>
              <a:buSzPts val="1100"/>
              <a:buChar char="-"/>
            </a:pPr>
            <a:r>
              <a:rPr lang="en"/>
              <a:t>I trusted the upper half of the berkeley.edu NS because the lower half of the .edu name server signed for it…</a:t>
            </a:r>
            <a:endParaRPr/>
          </a:p>
          <a:p>
            <a:pPr indent="-298450" lvl="1" marL="914400" rtl="0" algn="l">
              <a:spcBef>
                <a:spcPts val="0"/>
              </a:spcBef>
              <a:spcAft>
                <a:spcPts val="0"/>
              </a:spcAft>
              <a:buSzPts val="1100"/>
              <a:buChar char="-"/>
            </a:pPr>
            <a:r>
              <a:rPr lang="en"/>
              <a:t>Recurse all the way up to the upper half of the root 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full DNSSEC!</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ded82ba9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ded82ba9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hr 5 min - 1:45</a:t>
            </a:r>
            <a:endParaRPr/>
          </a:p>
          <a:p>
            <a:pPr indent="0" lvl="0" marL="0" rtl="0" algn="l">
              <a:spcBef>
                <a:spcPts val="0"/>
              </a:spcBef>
              <a:spcAft>
                <a:spcPts val="0"/>
              </a:spcAft>
              <a:buNone/>
            </a:pPr>
            <a:r>
              <a:rPr lang="en"/>
              <a:t>What if someone asks for a fake domain?</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e0dde4a38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e0dde4a38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Option 1: don’t sign it (can be spoofed)</a:t>
            </a:r>
            <a:endParaRPr/>
          </a:p>
          <a:p>
            <a:pPr indent="-298450" lvl="0" marL="457200" rtl="0" algn="l">
              <a:spcBef>
                <a:spcPts val="0"/>
              </a:spcBef>
              <a:spcAft>
                <a:spcPts val="0"/>
              </a:spcAft>
              <a:buSzPts val="1100"/>
              <a:buChar char="-"/>
            </a:pPr>
            <a:r>
              <a:rPr lang="en"/>
              <a:t>Option 2: Sign records online (slow to sign on demand!)</a:t>
            </a:r>
            <a:endParaRPr/>
          </a:p>
          <a:p>
            <a:pPr indent="-298450" lvl="1" marL="914400" rtl="0" algn="l">
              <a:spcBef>
                <a:spcPts val="0"/>
              </a:spcBef>
              <a:spcAft>
                <a:spcPts val="0"/>
              </a:spcAft>
              <a:buSzPts val="1100"/>
              <a:buChar char="-"/>
            </a:pPr>
            <a:r>
              <a:rPr lang="en"/>
              <a:t>Then the name servers themselves need to keep the private keys</a:t>
            </a:r>
            <a:endParaRPr/>
          </a:p>
          <a:p>
            <a:pPr indent="-298450" lvl="1" marL="914400" rtl="0" algn="l">
              <a:spcBef>
                <a:spcPts val="0"/>
              </a:spcBef>
              <a:spcAft>
                <a:spcPts val="0"/>
              </a:spcAft>
              <a:buSzPts val="1100"/>
              <a:buChar char="-"/>
            </a:pPr>
            <a:r>
              <a:rPr lang="en"/>
              <a:t>We can’t do that because there’s way too many possible fake domains</a:t>
            </a:r>
            <a:endParaRPr/>
          </a:p>
          <a:p>
            <a:pPr indent="-298450" lvl="2" marL="1371600" rtl="0" algn="l">
              <a:spcBef>
                <a:spcPts val="0"/>
              </a:spcBef>
              <a:spcAft>
                <a:spcPts val="0"/>
              </a:spcAft>
              <a:buSzPts val="1100"/>
              <a:buChar char="-"/>
            </a:pPr>
            <a:r>
              <a:rPr lang="en"/>
              <a:t>Fake1, fake2, fake3, fake4—that’s just the ones that start with fake, what about cs161a.org (adding an extra a?)</a:t>
            </a:r>
            <a:endParaRPr/>
          </a:p>
          <a:p>
            <a:pPr indent="-298450" lvl="0" marL="457200" rtl="0" algn="l">
              <a:spcBef>
                <a:spcPts val="0"/>
              </a:spcBef>
              <a:spcAft>
                <a:spcPts val="0"/>
              </a:spcAft>
              <a:buSzPts val="1100"/>
              <a:buChar char="-"/>
            </a:pPr>
            <a:r>
              <a:rPr lang="en"/>
              <a:t>Both bad…</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e0dde4a38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e0dde4a38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Don’t sign a single domain that doesn’t exist.</a:t>
            </a:r>
            <a:endParaRPr/>
          </a:p>
          <a:p>
            <a:pPr indent="-298450" lvl="1" marL="914400" rtl="0" algn="l">
              <a:spcBef>
                <a:spcPts val="0"/>
              </a:spcBef>
              <a:spcAft>
                <a:spcPts val="0"/>
              </a:spcAft>
              <a:buSzPts val="1100"/>
              <a:buChar char="-"/>
            </a:pPr>
            <a:r>
              <a:rPr lang="en"/>
              <a:t>Instead, sign a range of domains that don’t exist</a:t>
            </a:r>
            <a:endParaRPr/>
          </a:p>
          <a:p>
            <a:pPr indent="-298450" lvl="0" marL="457200" rtl="0" algn="l">
              <a:spcBef>
                <a:spcPts val="0"/>
              </a:spcBef>
              <a:spcAft>
                <a:spcPts val="0"/>
              </a:spcAft>
              <a:buSzPts val="1100"/>
              <a:buChar char="-"/>
            </a:pPr>
            <a:r>
              <a:rPr lang="en"/>
              <a:t>This includes nonexistent1, nonexistent2, every domain name between maps.google.com and one.google.com</a:t>
            </a:r>
            <a:endParaRPr/>
          </a:p>
          <a:p>
            <a:pPr indent="-298450" lvl="0" marL="457200" rtl="0" algn="l">
              <a:spcBef>
                <a:spcPts val="0"/>
              </a:spcBef>
              <a:spcAft>
                <a:spcPts val="0"/>
              </a:spcAft>
              <a:buSzPts val="1100"/>
              <a:buChar char="-"/>
            </a:pPr>
            <a:r>
              <a:rPr lang="en"/>
              <a:t>These signatures can be pre-generated!</a:t>
            </a:r>
            <a:endParaRPr/>
          </a:p>
          <a:p>
            <a:pPr indent="-298450" lvl="1" marL="914400" rtl="0" algn="l">
              <a:spcBef>
                <a:spcPts val="0"/>
              </a:spcBef>
              <a:spcAft>
                <a:spcPts val="0"/>
              </a:spcAft>
              <a:buSzPts val="1100"/>
              <a:buChar char="-"/>
            </a:pPr>
            <a:r>
              <a:rPr lang="en"/>
              <a:t>If there are X subdomains, only need to sign X records</a:t>
            </a:r>
            <a:endParaRPr/>
          </a:p>
          <a:p>
            <a:pPr indent="-298450" lvl="2" marL="1371600" rtl="0" algn="l">
              <a:spcBef>
                <a:spcPts val="0"/>
              </a:spcBef>
              <a:spcAft>
                <a:spcPts val="0"/>
              </a:spcAft>
              <a:buSzPts val="1100"/>
              <a:buChar char="-"/>
            </a:pPr>
            <a:r>
              <a:rPr lang="en"/>
              <a:t>“Nothing between maps and one”</a:t>
            </a:r>
            <a:endParaRPr/>
          </a:p>
          <a:p>
            <a:pPr indent="-298450" lvl="2" marL="1371600" rtl="0" algn="l">
              <a:spcBef>
                <a:spcPts val="0"/>
              </a:spcBef>
              <a:spcAft>
                <a:spcPts val="0"/>
              </a:spcAft>
              <a:buSzPts val="1100"/>
              <a:buChar char="-"/>
            </a:pPr>
            <a:r>
              <a:rPr lang="en"/>
              <a:t>“Nothing between one and web”</a:t>
            </a:r>
            <a:endParaRPr/>
          </a:p>
          <a:p>
            <a:pPr indent="-298450" lvl="2" marL="1371600" rtl="0" algn="l">
              <a:spcBef>
                <a:spcPts val="0"/>
              </a:spcBef>
              <a:spcAft>
                <a:spcPts val="0"/>
              </a:spcAft>
              <a:buSzPts val="1100"/>
              <a:buChar char="-"/>
            </a:pPr>
            <a:r>
              <a:rPr lang="en"/>
              <a:t>“Nothing between web and maps”</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e0dde4a38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e0dde4a38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Whether or not this is a threat model depends on your threat model</a:t>
            </a:r>
            <a:endParaRPr/>
          </a:p>
          <a:p>
            <a:pPr indent="-298450" lvl="0" marL="457200" rtl="0" algn="l">
              <a:spcBef>
                <a:spcPts val="0"/>
              </a:spcBef>
              <a:spcAft>
                <a:spcPts val="0"/>
              </a:spcAft>
              <a:buSzPts val="1100"/>
              <a:buChar char="-"/>
            </a:pPr>
            <a:r>
              <a:rPr lang="en"/>
              <a:t>Ideally this isn’t an issue right (because security through obscurity is not recommended)</a:t>
            </a:r>
            <a:endParaRPr/>
          </a:p>
          <a:p>
            <a:pPr indent="-298450" lvl="1" marL="914400" rtl="0" algn="l">
              <a:spcBef>
                <a:spcPts val="0"/>
              </a:spcBef>
              <a:spcAft>
                <a:spcPts val="0"/>
              </a:spcAft>
              <a:buSzPts val="1100"/>
              <a:buChar char="-"/>
            </a:pPr>
            <a:r>
              <a:rPr lang="en"/>
              <a:t>Shouldn’t have like a secret domain</a:t>
            </a:r>
            <a:endParaRPr/>
          </a:p>
          <a:p>
            <a:pPr indent="-298450" lvl="1" marL="914400" rtl="0" algn="l">
              <a:spcBef>
                <a:spcPts val="0"/>
              </a:spcBef>
              <a:spcAft>
                <a:spcPts val="0"/>
              </a:spcAft>
              <a:buSzPts val="1100"/>
              <a:buChar char="-"/>
            </a:pPr>
            <a:r>
              <a:rPr lang="en"/>
              <a:t>For </a:t>
            </a:r>
            <a:r>
              <a:rPr lang="en"/>
              <a:t>instance</a:t>
            </a:r>
            <a:r>
              <a:rPr lang="en"/>
              <a:t>, like exams.cs161.org (but secrets like this shouldn’t be done like this!)</a:t>
            </a:r>
            <a:endParaRPr/>
          </a:p>
          <a:p>
            <a:pPr indent="-298450" lvl="2" marL="1371600" rtl="0" algn="l">
              <a:spcBef>
                <a:spcPts val="0"/>
              </a:spcBef>
              <a:spcAft>
                <a:spcPts val="0"/>
              </a:spcAft>
              <a:buSzPts val="1100"/>
              <a:buChar char="-"/>
            </a:pPr>
            <a:r>
              <a:rPr lang="en"/>
              <a:t>My opinion: Domain names were never to be secret to begin with</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e0dde4a383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e0dde4a383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Here’s a </a:t>
            </a:r>
            <a:r>
              <a:rPr lang="en"/>
              <a:t>potential</a:t>
            </a:r>
            <a:r>
              <a:rPr lang="en"/>
              <a:t> fix so you don’t know the actual domain names</a:t>
            </a:r>
            <a:endParaRPr/>
          </a:p>
          <a:p>
            <a:pPr indent="-298450" lvl="0" marL="457200" rtl="0" algn="l">
              <a:spcBef>
                <a:spcPts val="0"/>
              </a:spcBef>
              <a:spcAft>
                <a:spcPts val="0"/>
              </a:spcAft>
              <a:buSzPts val="1100"/>
              <a:buChar char="-"/>
            </a:pPr>
            <a:r>
              <a:rPr lang="en"/>
              <a:t>Hash all the domain names, then take the alphabetical ordering of the hash (which may be different than the alphanumerical ordering of domain names!)</a:t>
            </a:r>
            <a:endParaRPr/>
          </a:p>
          <a:p>
            <a:pPr indent="-298450" lvl="0" marL="457200" rtl="0" algn="l">
              <a:spcBef>
                <a:spcPts val="0"/>
              </a:spcBef>
              <a:spcAft>
                <a:spcPts val="0"/>
              </a:spcAft>
              <a:buSzPts val="1100"/>
              <a:buChar char="-"/>
            </a:pPr>
            <a:r>
              <a:rPr lang="en"/>
              <a:t>Hashes are one way -&gt; you can’t reverse it</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e0dde4a38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e0dde4a38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People usually pick normal words (and short domain names)</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2eed3dc8b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2eed3dc8b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a:t>
            </a:r>
            <a:r>
              <a:rPr lang="en"/>
              <a:t>e return a record that states that no record exists between H(name) - 1 and H(name) +1</a:t>
            </a:r>
            <a:endParaRPr/>
          </a:p>
          <a:p>
            <a:pPr indent="-298450" lvl="0" marL="457200" rtl="0" algn="l">
              <a:spcBef>
                <a:spcPts val="0"/>
              </a:spcBef>
              <a:spcAft>
                <a:spcPts val="0"/>
              </a:spcAft>
              <a:buSzPts val="1100"/>
              <a:buChar char="-"/>
            </a:pPr>
            <a:r>
              <a:rPr lang="en"/>
              <a:t>Now, you don’t even know the hashes of the domain names that exist</a:t>
            </a:r>
            <a:endParaRPr/>
          </a:p>
          <a:p>
            <a:pPr indent="-298450" lvl="0" marL="457200" rtl="0" algn="l">
              <a:spcBef>
                <a:spcPts val="0"/>
              </a:spcBef>
              <a:spcAft>
                <a:spcPts val="0"/>
              </a:spcAft>
              <a:buSzPts val="1100"/>
              <a:buChar char="-"/>
            </a:pPr>
            <a:r>
              <a:rPr lang="en"/>
              <a:t>This is more minimal than NSEC3 since the only information you get is that evanbot.google.com alone does not exist</a:t>
            </a:r>
            <a:endParaRPr/>
          </a:p>
          <a:p>
            <a:pPr indent="-298450" lvl="0" marL="457200" rtl="0" algn="l">
              <a:spcBef>
                <a:spcPts val="0"/>
              </a:spcBef>
              <a:spcAft>
                <a:spcPts val="0"/>
              </a:spcAft>
              <a:buSzPts val="1100"/>
              <a:buChar char="-"/>
            </a:pPr>
            <a:r>
              <a:rPr lang="en"/>
              <a:t>NSEC3 reveals more than a non existent domain, but NSEC3 “white lies” obfuscates that!</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2eed3dc8b7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2eed3dc8b7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NSEC3 "white lies" records need to be computed online because in regards to space, a server cannot precompute every possible name/hash offline.</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b6b314f91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b6b314f91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hr 15 min - 1:55</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b6b314f91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b6b314f91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Generate all the signatures offline, on a machine not connected to the internet, and then once that’s done, give that all to a name server on the internet</a:t>
            </a:r>
            <a:endParaRPr/>
          </a:p>
          <a:p>
            <a:pPr indent="-298450" lvl="1" marL="914400" rtl="0" algn="l">
              <a:spcBef>
                <a:spcPts val="0"/>
              </a:spcBef>
              <a:spcAft>
                <a:spcPts val="0"/>
              </a:spcAft>
              <a:buSzPts val="1100"/>
              <a:buChar char="-"/>
            </a:pPr>
            <a:r>
              <a:rPr lang="en"/>
              <a:t>This means the private key doesn’t need to be in the NS!</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ded82ba97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ded82ba97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You can verify signatures in parallel</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ded82bab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ded82bab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Implementing DNSSEC can be buggy in both name servers and resolvers!</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ded82bab7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ded82bab7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This has happened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ded82bab7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ded82bab7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Please check the signatures</a:t>
            </a:r>
            <a:endParaRPr/>
          </a:p>
          <a:p>
            <a:pPr indent="-298450" lvl="0" marL="457200" rtl="0" algn="l">
              <a:spcBef>
                <a:spcPts val="0"/>
              </a:spcBef>
              <a:spcAft>
                <a:spcPts val="0"/>
              </a:spcAft>
              <a:buSzPts val="1100"/>
              <a:buChar char="-"/>
            </a:pPr>
            <a:r>
              <a:rPr lang="en"/>
              <a:t>If the client doesn’t validate the records… uh oh !</a:t>
            </a:r>
            <a:endParaRPr/>
          </a:p>
          <a:p>
            <a:pPr indent="-298450" lvl="1" marL="914400" rtl="0" algn="l">
              <a:spcBef>
                <a:spcPts val="0"/>
              </a:spcBef>
              <a:spcAft>
                <a:spcPts val="0"/>
              </a:spcAft>
              <a:buSzPts val="1100"/>
              <a:buChar char="-"/>
            </a:pPr>
            <a:r>
              <a:rPr lang="en"/>
              <a:t>Recursive resolver is our greatest man-in-the-middle attacker</a:t>
            </a:r>
            <a:endParaRPr/>
          </a:p>
          <a:p>
            <a:pPr indent="-298450" lvl="1" marL="914400" rtl="0" algn="l">
              <a:spcBef>
                <a:spcPts val="0"/>
              </a:spcBef>
              <a:spcAft>
                <a:spcPts val="0"/>
              </a:spcAft>
              <a:buSzPts val="1100"/>
              <a:buChar char="-"/>
            </a:pPr>
            <a:r>
              <a:rPr lang="en"/>
              <a:t>Don’t trust the recursive resolver to check the signatures by themselves–check them yourself!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e71e9de96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e71e9de96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140ac5291a_0_10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3140ac5291a_0_10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5" name="Google Shape;25;p5"/>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37" name="Shape 37"/>
        <p:cNvGrpSpPr/>
        <p:nvPr/>
      </p:nvGrpSpPr>
      <p:grpSpPr>
        <a:xfrm>
          <a:off x="0" y="0"/>
          <a:ext cx="0" cy="0"/>
          <a:chOff x="0" y="0"/>
          <a:chExt cx="0" cy="0"/>
        </a:xfrm>
      </p:grpSpPr>
      <p:sp>
        <p:nvSpPr>
          <p:cNvPr id="38" name="Google Shape;38;p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40" name="Shape 40"/>
        <p:cNvGrpSpPr/>
        <p:nvPr/>
      </p:nvGrpSpPr>
      <p:grpSpPr>
        <a:xfrm>
          <a:off x="0" y="0"/>
          <a:ext cx="0" cy="0"/>
          <a:chOff x="0" y="0"/>
          <a:chExt cx="0" cy="0"/>
        </a:xfrm>
      </p:grpSpPr>
      <p:sp>
        <p:nvSpPr>
          <p:cNvPr id="41" name="Google Shape;41;p1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1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4" name="Shape 44"/>
        <p:cNvGrpSpPr/>
        <p:nvPr/>
      </p:nvGrpSpPr>
      <p:grpSpPr>
        <a:xfrm>
          <a:off x="0" y="0"/>
          <a:ext cx="0" cy="0"/>
          <a:chOff x="0" y="0"/>
          <a:chExt cx="0" cy="0"/>
        </a:xfrm>
      </p:grpSpPr>
      <p:sp>
        <p:nvSpPr>
          <p:cNvPr id="45" name="Google Shape;45;p1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11"/>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8" name="Google Shape;48;p11"/>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49" name="Shape 49"/>
        <p:cNvGrpSpPr/>
        <p:nvPr/>
      </p:nvGrpSpPr>
      <p:grpSpPr>
        <a:xfrm>
          <a:off x="0" y="0"/>
          <a:ext cx="0" cy="0"/>
          <a:chOff x="0" y="0"/>
          <a:chExt cx="0" cy="0"/>
        </a:xfrm>
      </p:grpSpPr>
      <p:sp>
        <p:nvSpPr>
          <p:cNvPr id="50" name="Google Shape;50;p1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2" name="Shape 52"/>
        <p:cNvGrpSpPr/>
        <p:nvPr/>
      </p:nvGrpSpPr>
      <p:grpSpPr>
        <a:xfrm>
          <a:off x="0" y="0"/>
          <a:ext cx="0" cy="0"/>
          <a:chOff x="0" y="0"/>
          <a:chExt cx="0" cy="0"/>
        </a:xfrm>
      </p:grpSpPr>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 name="Google Shape;55;p1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1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600">
                <a:solidFill>
                  <a:schemeClr val="lt1"/>
                </a:solidFill>
              </a:rPr>
              <a:t>CSE 405 - Computer Security - ART</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DNSSEC</a:t>
            </a:r>
            <a:endParaRPr/>
          </a:p>
        </p:txBody>
      </p:sp>
      <p:sp>
        <p:nvSpPr>
          <p:cNvPr id="65" name="Google Shape;65;p15"/>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Clr>
                <a:schemeClr val="dk1"/>
              </a:buClr>
              <a:buSzPct val="45833"/>
              <a:buFont typeface="Arial"/>
              <a:buNone/>
            </a:pPr>
            <a:r>
              <a:rPr lang="en"/>
              <a:t>CSE 405 January 2025 - Lecture 12</a:t>
            </a:r>
            <a:endParaRPr/>
          </a:p>
          <a:p>
            <a:pPr indent="0" lvl="0" marL="0" rtl="0" algn="ctr">
              <a:spcBef>
                <a:spcPts val="0"/>
              </a:spcBef>
              <a:spcAft>
                <a:spcPts val="0"/>
              </a:spcAft>
              <a:buClr>
                <a:schemeClr val="dk1"/>
              </a:buClr>
              <a:buSzPct val="45833"/>
              <a:buFont typeface="Arial"/>
              <a:buNone/>
            </a:pPr>
            <a:r>
              <a:t/>
            </a:r>
            <a:endParaRPr/>
          </a:p>
          <a:p>
            <a:pPr indent="0" lvl="0" marL="0" rtl="0" algn="ctr">
              <a:spcBef>
                <a:spcPts val="0"/>
              </a:spcBef>
              <a:spcAft>
                <a:spcPts val="0"/>
              </a:spcAft>
              <a:buClr>
                <a:schemeClr val="dk1"/>
              </a:buClr>
              <a:buSzPct val="45833"/>
              <a:buFont typeface="Arial"/>
              <a:buNone/>
            </a:pPr>
            <a:r>
              <a:rPr lang="en"/>
              <a:t>Special Thanks to Peyrin Kao (UC Berkeley)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DNS Overview</a:t>
            </a:r>
            <a:endParaRPr/>
          </a:p>
        </p:txBody>
      </p:sp>
      <p:sp>
        <p:nvSpPr>
          <p:cNvPr id="71" name="Google Shape;71;p16"/>
          <p:cNvSpPr txBox="1"/>
          <p:nvPr>
            <p:ph idx="1" type="body"/>
          </p:nvPr>
        </p:nvSpPr>
        <p:spPr>
          <a:xfrm>
            <a:off x="198500" y="1246825"/>
            <a:ext cx="8520600" cy="2028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DNS (Domain Name System): An Internet protocol for translating human-readable domain names to IP addresses</a:t>
            </a:r>
            <a:endParaRPr/>
          </a:p>
          <a:p>
            <a:pPr indent="-317500" lvl="1" marL="914400" rtl="0" algn="l">
              <a:spcBef>
                <a:spcPts val="0"/>
              </a:spcBef>
              <a:spcAft>
                <a:spcPts val="0"/>
              </a:spcAft>
              <a:buSzPts val="1400"/>
              <a:buChar char="○"/>
            </a:pPr>
            <a:r>
              <a:rPr lang="en"/>
              <a:t>DNS name servers on the Internet provide answers to DNS queries</a:t>
            </a:r>
            <a:endParaRPr/>
          </a:p>
          <a:p>
            <a:pPr indent="-317500" lvl="1" marL="914400" rtl="0" algn="l">
              <a:spcBef>
                <a:spcPts val="0"/>
              </a:spcBef>
              <a:spcAft>
                <a:spcPts val="0"/>
              </a:spcAft>
              <a:buSzPts val="1400"/>
              <a:buChar char="○"/>
            </a:pPr>
            <a:r>
              <a:rPr lang="en"/>
              <a:t>Name servers are arranged in a domain hierarchy tree</a:t>
            </a:r>
            <a:endParaRPr/>
          </a:p>
          <a:p>
            <a:pPr indent="-317500" lvl="1" marL="914400" rtl="0" algn="l">
              <a:spcBef>
                <a:spcPts val="0"/>
              </a:spcBef>
              <a:spcAft>
                <a:spcPts val="0"/>
              </a:spcAft>
              <a:buSzPts val="1400"/>
              <a:buChar char="○"/>
            </a:pPr>
            <a:r>
              <a:rPr lang="en"/>
              <a:t>Lookups proceed down the domain tree: name servers will direct you down the tree until you receive an answer</a:t>
            </a:r>
            <a:endParaRPr/>
          </a:p>
          <a:p>
            <a:pPr indent="-317500" lvl="1" marL="914400" rtl="0" algn="l">
              <a:spcBef>
                <a:spcPts val="0"/>
              </a:spcBef>
              <a:spcAft>
                <a:spcPts val="0"/>
              </a:spcAft>
              <a:buSzPts val="1400"/>
              <a:buChar char="○"/>
            </a:pPr>
            <a:r>
              <a:rPr lang="en"/>
              <a:t>The stub resolver tells the recursive resolver to perform the lookup</a:t>
            </a:r>
            <a:endParaRPr/>
          </a:p>
        </p:txBody>
      </p:sp>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nvSpPr>
        <p:spPr>
          <a:xfrm>
            <a:off x="3922400" y="3275425"/>
            <a:ext cx="12381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74" name="Google Shape;74;p16"/>
          <p:cNvSpPr txBox="1"/>
          <p:nvPr/>
        </p:nvSpPr>
        <p:spPr>
          <a:xfrm>
            <a:off x="2576875" y="39228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75" name="Google Shape;75;p16"/>
          <p:cNvSpPr txBox="1"/>
          <p:nvPr/>
        </p:nvSpPr>
        <p:spPr>
          <a:xfrm>
            <a:off x="4207250" y="39228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76" name="Google Shape;76;p16"/>
          <p:cNvSpPr txBox="1"/>
          <p:nvPr/>
        </p:nvSpPr>
        <p:spPr>
          <a:xfrm>
            <a:off x="5837625" y="39228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77" name="Google Shape;77;p16"/>
          <p:cNvSpPr txBox="1"/>
          <p:nvPr/>
        </p:nvSpPr>
        <p:spPr>
          <a:xfrm>
            <a:off x="6506025" y="4570275"/>
            <a:ext cx="11577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sp>
        <p:nvSpPr>
          <p:cNvPr id="78" name="Google Shape;78;p16"/>
          <p:cNvSpPr txBox="1"/>
          <p:nvPr/>
        </p:nvSpPr>
        <p:spPr>
          <a:xfrm>
            <a:off x="5208400" y="4570275"/>
            <a:ext cx="11577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piazza.com</a:t>
            </a:r>
            <a:endParaRPr sz="1200">
              <a:latin typeface="Calibri"/>
              <a:ea typeface="Calibri"/>
              <a:cs typeface="Calibri"/>
              <a:sym typeface="Calibri"/>
            </a:endParaRPr>
          </a:p>
        </p:txBody>
      </p:sp>
      <p:sp>
        <p:nvSpPr>
          <p:cNvPr id="79" name="Google Shape;79;p16"/>
          <p:cNvSpPr txBox="1"/>
          <p:nvPr/>
        </p:nvSpPr>
        <p:spPr>
          <a:xfrm>
            <a:off x="4024975" y="457027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80" name="Google Shape;80;p16"/>
          <p:cNvSpPr txBox="1"/>
          <p:nvPr/>
        </p:nvSpPr>
        <p:spPr>
          <a:xfrm>
            <a:off x="3026350" y="457027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81" name="Google Shape;81;p16"/>
          <p:cNvSpPr txBox="1"/>
          <p:nvPr/>
        </p:nvSpPr>
        <p:spPr>
          <a:xfrm>
            <a:off x="1590000" y="457027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82" name="Google Shape;82;p16"/>
          <p:cNvCxnSpPr>
            <a:stCxn id="73" idx="2"/>
            <a:endCxn id="74" idx="0"/>
          </p:cNvCxnSpPr>
          <p:nvPr/>
        </p:nvCxnSpPr>
        <p:spPr>
          <a:xfrm flipH="1">
            <a:off x="2910950" y="3669025"/>
            <a:ext cx="1630500" cy="253800"/>
          </a:xfrm>
          <a:prstGeom prst="straightConnector1">
            <a:avLst/>
          </a:prstGeom>
          <a:noFill/>
          <a:ln cap="flat" cmpd="sng" w="9525">
            <a:solidFill>
              <a:srgbClr val="000000"/>
            </a:solidFill>
            <a:prstDash val="solid"/>
            <a:round/>
            <a:headEnd len="med" w="med" type="none"/>
            <a:tailEnd len="med" w="med" type="none"/>
          </a:ln>
        </p:spPr>
      </p:cxnSp>
      <p:cxnSp>
        <p:nvCxnSpPr>
          <p:cNvPr id="83" name="Google Shape;83;p16"/>
          <p:cNvCxnSpPr>
            <a:stCxn id="73" idx="2"/>
            <a:endCxn id="75" idx="0"/>
          </p:cNvCxnSpPr>
          <p:nvPr/>
        </p:nvCxnSpPr>
        <p:spPr>
          <a:xfrm>
            <a:off x="4541450" y="3669025"/>
            <a:ext cx="0" cy="253800"/>
          </a:xfrm>
          <a:prstGeom prst="straightConnector1">
            <a:avLst/>
          </a:prstGeom>
          <a:noFill/>
          <a:ln cap="flat" cmpd="sng" w="9525">
            <a:solidFill>
              <a:srgbClr val="000000"/>
            </a:solidFill>
            <a:prstDash val="solid"/>
            <a:round/>
            <a:headEnd len="med" w="med" type="none"/>
            <a:tailEnd len="med" w="med" type="none"/>
          </a:ln>
        </p:spPr>
      </p:cxnSp>
      <p:cxnSp>
        <p:nvCxnSpPr>
          <p:cNvPr id="84" name="Google Shape;84;p16"/>
          <p:cNvCxnSpPr>
            <a:stCxn id="73" idx="2"/>
            <a:endCxn id="76" idx="0"/>
          </p:cNvCxnSpPr>
          <p:nvPr/>
        </p:nvCxnSpPr>
        <p:spPr>
          <a:xfrm>
            <a:off x="4541450" y="3669025"/>
            <a:ext cx="1630500" cy="253800"/>
          </a:xfrm>
          <a:prstGeom prst="straightConnector1">
            <a:avLst/>
          </a:prstGeom>
          <a:noFill/>
          <a:ln cap="flat" cmpd="sng" w="9525">
            <a:solidFill>
              <a:srgbClr val="000000"/>
            </a:solidFill>
            <a:prstDash val="solid"/>
            <a:round/>
            <a:headEnd len="med" w="med" type="none"/>
            <a:tailEnd len="med" w="med" type="none"/>
          </a:ln>
        </p:spPr>
      </p:cxnSp>
      <p:cxnSp>
        <p:nvCxnSpPr>
          <p:cNvPr id="85" name="Google Shape;85;p16"/>
          <p:cNvCxnSpPr>
            <a:stCxn id="74" idx="2"/>
            <a:endCxn id="81" idx="0"/>
          </p:cNvCxnSpPr>
          <p:nvPr/>
        </p:nvCxnSpPr>
        <p:spPr>
          <a:xfrm flipH="1">
            <a:off x="2238175" y="4316452"/>
            <a:ext cx="672900" cy="253800"/>
          </a:xfrm>
          <a:prstGeom prst="straightConnector1">
            <a:avLst/>
          </a:prstGeom>
          <a:noFill/>
          <a:ln cap="flat" cmpd="sng" w="9525">
            <a:solidFill>
              <a:srgbClr val="000000"/>
            </a:solidFill>
            <a:prstDash val="solid"/>
            <a:round/>
            <a:headEnd len="med" w="med" type="none"/>
            <a:tailEnd len="med" w="med" type="none"/>
          </a:ln>
        </p:spPr>
      </p:cxnSp>
      <p:cxnSp>
        <p:nvCxnSpPr>
          <p:cNvPr id="86" name="Google Shape;86;p16"/>
          <p:cNvCxnSpPr>
            <a:stCxn id="74" idx="2"/>
            <a:endCxn id="80" idx="0"/>
          </p:cNvCxnSpPr>
          <p:nvPr/>
        </p:nvCxnSpPr>
        <p:spPr>
          <a:xfrm>
            <a:off x="2911075" y="4316452"/>
            <a:ext cx="544500" cy="253800"/>
          </a:xfrm>
          <a:prstGeom prst="straightConnector1">
            <a:avLst/>
          </a:prstGeom>
          <a:noFill/>
          <a:ln cap="flat" cmpd="sng" w="9525">
            <a:solidFill>
              <a:srgbClr val="000000"/>
            </a:solidFill>
            <a:prstDash val="solid"/>
            <a:round/>
            <a:headEnd len="med" w="med" type="none"/>
            <a:tailEnd len="med" w="med" type="none"/>
          </a:ln>
        </p:spPr>
      </p:cxnSp>
      <p:cxnSp>
        <p:nvCxnSpPr>
          <p:cNvPr id="87" name="Google Shape;87;p16"/>
          <p:cNvCxnSpPr>
            <a:stCxn id="75" idx="2"/>
            <a:endCxn id="79" idx="0"/>
          </p:cNvCxnSpPr>
          <p:nvPr/>
        </p:nvCxnSpPr>
        <p:spPr>
          <a:xfrm>
            <a:off x="4541450" y="4316452"/>
            <a:ext cx="5100" cy="253800"/>
          </a:xfrm>
          <a:prstGeom prst="straightConnector1">
            <a:avLst/>
          </a:prstGeom>
          <a:noFill/>
          <a:ln cap="flat" cmpd="sng" w="9525">
            <a:solidFill>
              <a:srgbClr val="000000"/>
            </a:solidFill>
            <a:prstDash val="solid"/>
            <a:round/>
            <a:headEnd len="med" w="med" type="none"/>
            <a:tailEnd len="med" w="med" type="none"/>
          </a:ln>
        </p:spPr>
      </p:cxnSp>
      <p:cxnSp>
        <p:nvCxnSpPr>
          <p:cNvPr id="88" name="Google Shape;88;p16"/>
          <p:cNvCxnSpPr>
            <a:stCxn id="76" idx="2"/>
            <a:endCxn id="78" idx="0"/>
          </p:cNvCxnSpPr>
          <p:nvPr/>
        </p:nvCxnSpPr>
        <p:spPr>
          <a:xfrm flipH="1">
            <a:off x="5787225" y="4316452"/>
            <a:ext cx="384600" cy="253800"/>
          </a:xfrm>
          <a:prstGeom prst="straightConnector1">
            <a:avLst/>
          </a:prstGeom>
          <a:noFill/>
          <a:ln cap="flat" cmpd="sng" w="9525">
            <a:solidFill>
              <a:srgbClr val="000000"/>
            </a:solidFill>
            <a:prstDash val="solid"/>
            <a:round/>
            <a:headEnd len="med" w="med" type="none"/>
            <a:tailEnd len="med" w="med" type="none"/>
          </a:ln>
        </p:spPr>
      </p:cxnSp>
      <p:cxnSp>
        <p:nvCxnSpPr>
          <p:cNvPr id="89" name="Google Shape;89;p16"/>
          <p:cNvCxnSpPr>
            <a:stCxn id="76" idx="2"/>
            <a:endCxn id="77" idx="0"/>
          </p:cNvCxnSpPr>
          <p:nvPr/>
        </p:nvCxnSpPr>
        <p:spPr>
          <a:xfrm>
            <a:off x="6171825" y="4316452"/>
            <a:ext cx="913200" cy="25380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DNS Implementation</a:t>
            </a:r>
            <a:endParaRPr/>
          </a:p>
        </p:txBody>
      </p:sp>
      <p:sp>
        <p:nvSpPr>
          <p:cNvPr id="95" name="Google Shape;95;p17"/>
          <p:cNvSpPr txBox="1"/>
          <p:nvPr>
            <p:ph idx="1" type="body"/>
          </p:nvPr>
        </p:nvSpPr>
        <p:spPr>
          <a:xfrm>
            <a:off x="198500" y="1246825"/>
            <a:ext cx="8520600" cy="3528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DNS message structure</a:t>
            </a:r>
            <a:endParaRPr/>
          </a:p>
          <a:p>
            <a:pPr indent="-317500" lvl="1" marL="914400" rtl="0" algn="l">
              <a:spcBef>
                <a:spcPts val="0"/>
              </a:spcBef>
              <a:spcAft>
                <a:spcPts val="0"/>
              </a:spcAft>
              <a:buSzPts val="1400"/>
              <a:buChar char="○"/>
            </a:pPr>
            <a:r>
              <a:rPr lang="en"/>
              <a:t>DNS uses UDP for efficiency</a:t>
            </a:r>
            <a:endParaRPr/>
          </a:p>
          <a:p>
            <a:pPr indent="-317500" lvl="1" marL="914400" rtl="0" algn="l">
              <a:spcBef>
                <a:spcPts val="0"/>
              </a:spcBef>
              <a:spcAft>
                <a:spcPts val="0"/>
              </a:spcAft>
              <a:buSzPts val="1400"/>
              <a:buChar char="○"/>
            </a:pPr>
            <a:r>
              <a:rPr lang="en"/>
              <a:t>DNS packets include a random 16-bit ID field to match requests to responses</a:t>
            </a:r>
            <a:endParaRPr/>
          </a:p>
          <a:p>
            <a:pPr indent="-317500" lvl="1" marL="914400" rtl="0" algn="l">
              <a:spcBef>
                <a:spcPts val="0"/>
              </a:spcBef>
              <a:spcAft>
                <a:spcPts val="0"/>
              </a:spcAft>
              <a:buSzPts val="1400"/>
              <a:buChar char="○"/>
            </a:pPr>
            <a:r>
              <a:rPr lang="en"/>
              <a:t>Data is encoded in records, which are name-value pairs with a type</a:t>
            </a:r>
            <a:endParaRPr/>
          </a:p>
          <a:p>
            <a:pPr indent="-317500" lvl="2" marL="1371600" rtl="0" algn="l">
              <a:spcBef>
                <a:spcPts val="0"/>
              </a:spcBef>
              <a:spcAft>
                <a:spcPts val="0"/>
              </a:spcAft>
              <a:buSzPts val="1400"/>
              <a:buChar char="■"/>
            </a:pPr>
            <a:r>
              <a:rPr b="1" lang="en"/>
              <a:t>A (answer) type records</a:t>
            </a:r>
            <a:r>
              <a:rPr lang="en"/>
              <a:t>: Maps a domain name to an IPv4 address</a:t>
            </a:r>
            <a:endParaRPr/>
          </a:p>
          <a:p>
            <a:pPr indent="-317500" lvl="2" marL="1371600" rtl="0" algn="l">
              <a:spcBef>
                <a:spcPts val="0"/>
              </a:spcBef>
              <a:spcAft>
                <a:spcPts val="0"/>
              </a:spcAft>
              <a:buSzPts val="1400"/>
              <a:buChar char="■"/>
            </a:pPr>
            <a:r>
              <a:rPr b="1" lang="en"/>
              <a:t>NS (name server) type records</a:t>
            </a:r>
            <a:r>
              <a:rPr lang="en"/>
              <a:t>: Designates another DNS server to handle a domain</a:t>
            </a:r>
            <a:endParaRPr/>
          </a:p>
          <a:p>
            <a:pPr indent="-317500" lvl="1" marL="914400" rtl="0" algn="l">
              <a:spcBef>
                <a:spcPts val="0"/>
              </a:spcBef>
              <a:spcAft>
                <a:spcPts val="0"/>
              </a:spcAft>
              <a:buSzPts val="1400"/>
              <a:buChar char="○"/>
            </a:pPr>
            <a:r>
              <a:rPr lang="en"/>
              <a:t>Records are separated into four sections</a:t>
            </a:r>
            <a:endParaRPr/>
          </a:p>
          <a:p>
            <a:pPr indent="-317500" lvl="2" marL="1371600" rtl="0" algn="l">
              <a:spcBef>
                <a:spcPts val="0"/>
              </a:spcBef>
              <a:spcAft>
                <a:spcPts val="0"/>
              </a:spcAft>
              <a:buSzPts val="1400"/>
              <a:buChar char="■"/>
            </a:pPr>
            <a:r>
              <a:rPr lang="en"/>
              <a:t>Question: Contains query</a:t>
            </a:r>
            <a:endParaRPr/>
          </a:p>
          <a:p>
            <a:pPr indent="-317500" lvl="2" marL="1371600" rtl="0" algn="l">
              <a:spcBef>
                <a:spcPts val="0"/>
              </a:spcBef>
              <a:spcAft>
                <a:spcPts val="0"/>
              </a:spcAft>
              <a:buSzPts val="1400"/>
              <a:buChar char="■"/>
            </a:pPr>
            <a:r>
              <a:rPr lang="en"/>
              <a:t>Answer: Contains direct answer to query</a:t>
            </a:r>
            <a:endParaRPr/>
          </a:p>
          <a:p>
            <a:pPr indent="-317500" lvl="2" marL="1371600" rtl="0" algn="l">
              <a:spcBef>
                <a:spcPts val="0"/>
              </a:spcBef>
              <a:spcAft>
                <a:spcPts val="0"/>
              </a:spcAft>
              <a:buSzPts val="1400"/>
              <a:buChar char="■"/>
            </a:pPr>
            <a:r>
              <a:rPr lang="en"/>
              <a:t>Authority: Directs the resolver to the next name server</a:t>
            </a:r>
            <a:endParaRPr/>
          </a:p>
          <a:p>
            <a:pPr indent="-317500" lvl="2" marL="1371600" rtl="0" algn="l">
              <a:spcBef>
                <a:spcPts val="0"/>
              </a:spcBef>
              <a:spcAft>
                <a:spcPts val="0"/>
              </a:spcAft>
              <a:buSzPts val="1400"/>
              <a:buChar char="■"/>
            </a:pPr>
            <a:r>
              <a:rPr lang="en"/>
              <a:t>Additional: Provides extra information (e.g. the location of the next name server)</a:t>
            </a:r>
            <a:endParaRPr/>
          </a:p>
          <a:p>
            <a:pPr indent="-317500" lvl="1" marL="914400" rtl="0" algn="l">
              <a:spcBef>
                <a:spcPts val="0"/>
              </a:spcBef>
              <a:spcAft>
                <a:spcPts val="0"/>
              </a:spcAft>
              <a:buSzPts val="1400"/>
              <a:buChar char="○"/>
            </a:pPr>
            <a:r>
              <a:rPr lang="en"/>
              <a:t>Resolvers cache as many records as possible (until their time-to-live expires)</a:t>
            </a:r>
            <a:endParaRPr/>
          </a:p>
        </p:txBody>
      </p:sp>
      <p:sp>
        <p:nvSpPr>
          <p:cNvPr id="96" name="Google Shape;96;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DNS Security</a:t>
            </a:r>
            <a:endParaRPr/>
          </a:p>
        </p:txBody>
      </p:sp>
      <p:sp>
        <p:nvSpPr>
          <p:cNvPr id="102" name="Google Shape;102;p18"/>
          <p:cNvSpPr txBox="1"/>
          <p:nvPr>
            <p:ph idx="1" type="body"/>
          </p:nvPr>
        </p:nvSpPr>
        <p:spPr>
          <a:xfrm>
            <a:off x="198500" y="1246825"/>
            <a:ext cx="8520600" cy="3896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Cache poisoning attack: Send a malicious record to the resolver, which caches the record</a:t>
            </a:r>
            <a:endParaRPr/>
          </a:p>
          <a:p>
            <a:pPr indent="-317500" lvl="1" marL="914400" rtl="0" algn="l">
              <a:spcBef>
                <a:spcPts val="0"/>
              </a:spcBef>
              <a:spcAft>
                <a:spcPts val="0"/>
              </a:spcAft>
              <a:buSzPts val="1400"/>
              <a:buChar char="○"/>
            </a:pPr>
            <a:r>
              <a:rPr lang="en"/>
              <a:t>Causes packets to be sent to the wrong place (e.g., to the attacker, who becomes a MITM)</a:t>
            </a:r>
            <a:endParaRPr/>
          </a:p>
          <a:p>
            <a:pPr indent="-342900" lvl="0" marL="457200" rtl="0" algn="l">
              <a:spcBef>
                <a:spcPts val="0"/>
              </a:spcBef>
              <a:spcAft>
                <a:spcPts val="0"/>
              </a:spcAft>
              <a:buSzPts val="1800"/>
              <a:buChar char="●"/>
            </a:pPr>
            <a:r>
              <a:rPr lang="en"/>
              <a:t>Risk: Malicious name servers</a:t>
            </a:r>
            <a:endParaRPr/>
          </a:p>
          <a:p>
            <a:pPr indent="-317500" lvl="1" marL="914400" rtl="0" algn="l">
              <a:spcBef>
                <a:spcPts val="0"/>
              </a:spcBef>
              <a:spcAft>
                <a:spcPts val="0"/>
              </a:spcAft>
              <a:buSzPts val="1400"/>
              <a:buChar char="○"/>
            </a:pPr>
            <a:r>
              <a:rPr lang="en"/>
              <a:t>Defense: Bailiwick checking: Resolver only accepts records in the name server’s zone</a:t>
            </a:r>
            <a:endParaRPr/>
          </a:p>
          <a:p>
            <a:pPr indent="-342900" lvl="0" marL="457200" rtl="0" algn="l">
              <a:spcBef>
                <a:spcPts val="0"/>
              </a:spcBef>
              <a:spcAft>
                <a:spcPts val="0"/>
              </a:spcAft>
              <a:buSzPts val="1800"/>
              <a:buChar char="●"/>
            </a:pPr>
            <a:r>
              <a:rPr lang="en"/>
              <a:t>Risk: Network attackers</a:t>
            </a:r>
            <a:endParaRPr/>
          </a:p>
          <a:p>
            <a:pPr indent="-317500" lvl="1" marL="914400" rtl="0" algn="l">
              <a:spcBef>
                <a:spcPts val="0"/>
              </a:spcBef>
              <a:spcAft>
                <a:spcPts val="0"/>
              </a:spcAft>
              <a:buSzPts val="1400"/>
              <a:buChar char="○"/>
            </a:pPr>
            <a:r>
              <a:rPr lang="en"/>
              <a:t>MITM attackers can poison the cache without detection</a:t>
            </a:r>
            <a:endParaRPr/>
          </a:p>
          <a:p>
            <a:pPr indent="-317500" lvl="1" marL="914400" rtl="0" algn="l">
              <a:spcBef>
                <a:spcPts val="0"/>
              </a:spcBef>
              <a:spcAft>
                <a:spcPts val="0"/>
              </a:spcAft>
              <a:buSzPts val="1400"/>
              <a:buChar char="○"/>
            </a:pPr>
            <a:r>
              <a:rPr lang="en"/>
              <a:t>On-path attackers can race the legitimate response to poison the cache</a:t>
            </a:r>
            <a:endParaRPr/>
          </a:p>
          <a:p>
            <a:pPr indent="-317500" lvl="1" marL="914400" rtl="0" algn="l">
              <a:spcBef>
                <a:spcPts val="0"/>
              </a:spcBef>
              <a:spcAft>
                <a:spcPts val="0"/>
              </a:spcAft>
              <a:buSzPts val="1400"/>
              <a:buChar char="○"/>
            </a:pPr>
            <a:r>
              <a:rPr lang="en"/>
              <a:t>Off-path attackers must guess the ID field (Defense: Make the ID field random)</a:t>
            </a:r>
            <a:endParaRPr/>
          </a:p>
          <a:p>
            <a:pPr indent="-317500" lvl="2" marL="1371600" rtl="0" algn="l">
              <a:spcBef>
                <a:spcPts val="0"/>
              </a:spcBef>
              <a:spcAft>
                <a:spcPts val="0"/>
              </a:spcAft>
              <a:buSzPts val="1400"/>
              <a:buChar char="■"/>
            </a:pPr>
            <a:r>
              <a:rPr lang="en"/>
              <a:t>Kaminsky attack: Query non-existent domains and put the poisoned record in the additional section (which will still be cached). Lets the off-path attacker try repeatedly until succeeding</a:t>
            </a:r>
            <a:endParaRPr/>
          </a:p>
          <a:p>
            <a:pPr indent="-317500" lvl="2" marL="1371600" rtl="0" algn="l">
              <a:spcBef>
                <a:spcPts val="0"/>
              </a:spcBef>
              <a:spcAft>
                <a:spcPts val="0"/>
              </a:spcAft>
              <a:buSzPts val="1400"/>
              <a:buChar char="■"/>
            </a:pPr>
            <a:r>
              <a:rPr lang="en"/>
              <a:t>Defense: Source port randomization (more bits for the off-path attacker to guess)</a:t>
            </a:r>
            <a:endParaRPr/>
          </a:p>
        </p:txBody>
      </p:sp>
      <p:sp>
        <p:nvSpPr>
          <p:cNvPr id="103" name="Google Shape;10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p:txBody>
      </p:sp>
      <p:sp>
        <p:nvSpPr>
          <p:cNvPr id="109" name="Google Shape;109;p1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DNS over TLS</a:t>
            </a:r>
            <a:endParaRPr/>
          </a:p>
          <a:p>
            <a:pPr indent="-317500" lvl="1" marL="914400" rtl="0" algn="l">
              <a:spcBef>
                <a:spcPts val="0"/>
              </a:spcBef>
              <a:spcAft>
                <a:spcPts val="0"/>
              </a:spcAft>
              <a:buSzPts val="1400"/>
              <a:buChar char="○"/>
            </a:pPr>
            <a:r>
              <a:rPr lang="en"/>
              <a:t>Issues</a:t>
            </a:r>
            <a:endParaRPr/>
          </a:p>
          <a:p>
            <a:pPr indent="-342900" lvl="0" marL="457200" rtl="0" algn="l">
              <a:spcBef>
                <a:spcPts val="0"/>
              </a:spcBef>
              <a:spcAft>
                <a:spcPts val="0"/>
              </a:spcAft>
              <a:buSzPts val="1800"/>
              <a:buChar char="●"/>
            </a:pPr>
            <a:r>
              <a:rPr lang="en"/>
              <a:t>DNSSEC</a:t>
            </a:r>
            <a:endParaRPr/>
          </a:p>
          <a:p>
            <a:pPr indent="-317500" lvl="1" marL="914400" rtl="0" algn="l">
              <a:spcBef>
                <a:spcPts val="0"/>
              </a:spcBef>
              <a:spcAft>
                <a:spcPts val="0"/>
              </a:spcAft>
              <a:buSzPts val="1400"/>
              <a:buChar char="○"/>
            </a:pPr>
            <a:r>
              <a:rPr lang="en"/>
              <a:t>High-level design</a:t>
            </a:r>
            <a:endParaRPr/>
          </a:p>
          <a:p>
            <a:pPr indent="-317500" lvl="1" marL="914400" rtl="0" algn="l">
              <a:spcBef>
                <a:spcPts val="0"/>
              </a:spcBef>
              <a:spcAft>
                <a:spcPts val="0"/>
              </a:spcAft>
              <a:buSzPts val="1400"/>
              <a:buChar char="○"/>
            </a:pPr>
            <a:r>
              <a:rPr lang="en"/>
              <a:t>Design details</a:t>
            </a:r>
            <a:endParaRPr/>
          </a:p>
          <a:p>
            <a:pPr indent="-317500" lvl="1" marL="914400" rtl="0" algn="l">
              <a:spcBef>
                <a:spcPts val="0"/>
              </a:spcBef>
              <a:spcAft>
                <a:spcPts val="0"/>
              </a:spcAft>
              <a:buSzPts val="1400"/>
              <a:buChar char="○"/>
            </a:pPr>
            <a:r>
              <a:rPr lang="en"/>
              <a:t>Implementation details</a:t>
            </a:r>
            <a:endParaRPr/>
          </a:p>
          <a:p>
            <a:pPr indent="-317500" lvl="1" marL="914400" rtl="0" algn="l">
              <a:spcBef>
                <a:spcPts val="0"/>
              </a:spcBef>
              <a:spcAft>
                <a:spcPts val="0"/>
              </a:spcAft>
              <a:buSzPts val="1400"/>
              <a:buChar char="○"/>
            </a:pPr>
            <a:r>
              <a:rPr lang="en"/>
              <a:t>Key-signing keys and zone-signing keys</a:t>
            </a:r>
            <a:endParaRPr/>
          </a:p>
          <a:p>
            <a:pPr indent="-317500" lvl="1" marL="914400" rtl="0" algn="l">
              <a:spcBef>
                <a:spcPts val="0"/>
              </a:spcBef>
              <a:spcAft>
                <a:spcPts val="0"/>
              </a:spcAft>
              <a:buSzPts val="1400"/>
              <a:buChar char="○"/>
            </a:pPr>
            <a:r>
              <a:rPr lang="en"/>
              <a:t>NSEC: Signing non-existent domains</a:t>
            </a:r>
            <a:endParaRPr/>
          </a:p>
          <a:p>
            <a:pPr indent="-317500" lvl="1" marL="914400" rtl="0" algn="l">
              <a:spcBef>
                <a:spcPts val="0"/>
              </a:spcBef>
              <a:spcAft>
                <a:spcPts val="0"/>
              </a:spcAft>
              <a:buSzPts val="1400"/>
              <a:buChar char="○"/>
            </a:pPr>
            <a:r>
              <a:rPr lang="en"/>
              <a:t>In practice</a:t>
            </a:r>
            <a:endParaRPr/>
          </a:p>
        </p:txBody>
      </p:sp>
      <p:sp>
        <p:nvSpPr>
          <p:cNvPr id="110" name="Google Shape;11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11" name="Google Shape;111;p19"/>
          <p:cNvPicPr preferRelativeResize="0"/>
          <p:nvPr/>
        </p:nvPicPr>
        <p:blipFill rotWithShape="1">
          <a:blip r:embed="rId3">
            <a:alphaModFix/>
          </a:blip>
          <a:srcRect b="6207" l="30291" r="20852" t="14508"/>
          <a:stretch/>
        </p:blipFill>
        <p:spPr>
          <a:xfrm>
            <a:off x="5298575" y="2272600"/>
            <a:ext cx="1818900" cy="2295849"/>
          </a:xfrm>
          <a:prstGeom prst="rect">
            <a:avLst/>
          </a:prstGeom>
          <a:noFill/>
          <a:ln>
            <a:noFill/>
          </a:ln>
        </p:spPr>
      </p:pic>
      <p:sp>
        <p:nvSpPr>
          <p:cNvPr id="112" name="Google Shape;112;p19"/>
          <p:cNvSpPr txBox="1"/>
          <p:nvPr/>
        </p:nvSpPr>
        <p:spPr>
          <a:xfrm>
            <a:off x="6571775" y="1533700"/>
            <a:ext cx="1818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666666"/>
                </a:solidFill>
                <a:latin typeface="Patrick Hand"/>
                <a:ea typeface="Patrick Hand"/>
                <a:cs typeface="Patrick Hand"/>
                <a:sym typeface="Patrick Hand"/>
              </a:rPr>
              <a:t>“I know a guy who knows a guy, who knows a guy, who knows a guy…”</a:t>
            </a:r>
            <a:endParaRPr sz="1200">
              <a:solidFill>
                <a:srgbClr val="666666"/>
              </a:solidFill>
              <a:latin typeface="Patrick Hand"/>
              <a:ea typeface="Patrick Hand"/>
              <a:cs typeface="Patrick Hand"/>
              <a:sym typeface="Patrick Hand"/>
            </a:endParaRPr>
          </a:p>
        </p:txBody>
      </p:sp>
      <p:cxnSp>
        <p:nvCxnSpPr>
          <p:cNvPr id="113" name="Google Shape;113;p19"/>
          <p:cNvCxnSpPr>
            <a:stCxn id="112" idx="1"/>
            <a:endCxn id="111" idx="0"/>
          </p:cNvCxnSpPr>
          <p:nvPr/>
        </p:nvCxnSpPr>
        <p:spPr>
          <a:xfrm flipH="1">
            <a:off x="6208175" y="1903150"/>
            <a:ext cx="363600" cy="369300"/>
          </a:xfrm>
          <a:prstGeom prst="curvedConnector2">
            <a:avLst/>
          </a:prstGeom>
          <a:noFill/>
          <a:ln cap="flat" cmpd="sng" w="19050">
            <a:solidFill>
              <a:srgbClr val="999999"/>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DNS over TLS</a:t>
            </a:r>
            <a:endParaRPr/>
          </a:p>
        </p:txBody>
      </p:sp>
      <p:sp>
        <p:nvSpPr>
          <p:cNvPr id="119" name="Google Shape;11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Securing DNS Lookups</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Recall: DNS is not secure against several threats</a:t>
            </a:r>
            <a:endParaRPr/>
          </a:p>
          <a:p>
            <a:pPr indent="-317500" lvl="1" marL="914400" rtl="0" algn="l">
              <a:spcBef>
                <a:spcPts val="0"/>
              </a:spcBef>
              <a:spcAft>
                <a:spcPts val="0"/>
              </a:spcAft>
              <a:buSzPts val="1400"/>
              <a:buChar char="○"/>
            </a:pPr>
            <a:r>
              <a:rPr lang="en"/>
              <a:t>Malicious name servers</a:t>
            </a:r>
            <a:endParaRPr/>
          </a:p>
          <a:p>
            <a:pPr indent="-317500" lvl="1" marL="914400" rtl="0" algn="l">
              <a:spcBef>
                <a:spcPts val="0"/>
              </a:spcBef>
              <a:spcAft>
                <a:spcPts val="0"/>
              </a:spcAft>
              <a:buSzPts val="1400"/>
              <a:buChar char="○"/>
            </a:pPr>
            <a:r>
              <a:rPr lang="en"/>
              <a:t>Network attackers (MITM, on-path, off-path)</a:t>
            </a:r>
            <a:endParaRPr/>
          </a:p>
          <a:p>
            <a:pPr indent="-342900" lvl="0" marL="457200" rtl="0" algn="l">
              <a:spcBef>
                <a:spcPts val="0"/>
              </a:spcBef>
              <a:spcAft>
                <a:spcPts val="0"/>
              </a:spcAft>
              <a:buSzPts val="1800"/>
              <a:buChar char="●"/>
            </a:pPr>
            <a:r>
              <a:rPr lang="en"/>
              <a:t>We want </a:t>
            </a:r>
            <a:r>
              <a:rPr b="1" lang="en"/>
              <a:t>integrity</a:t>
            </a:r>
            <a:r>
              <a:rPr lang="en"/>
              <a:t> on the response</a:t>
            </a:r>
            <a:endParaRPr/>
          </a:p>
          <a:p>
            <a:pPr indent="-317500" lvl="1" marL="914400" rtl="0" algn="l">
              <a:spcBef>
                <a:spcPts val="0"/>
              </a:spcBef>
              <a:spcAft>
                <a:spcPts val="0"/>
              </a:spcAft>
              <a:buSzPts val="1400"/>
              <a:buChar char="○"/>
            </a:pPr>
            <a:r>
              <a:rPr lang="en"/>
              <a:t>Recall: Integrity means an attacker can’t tamper with the results</a:t>
            </a:r>
            <a:endParaRPr/>
          </a:p>
          <a:p>
            <a:pPr indent="-317500" lvl="1" marL="914400" rtl="0" algn="l">
              <a:spcBef>
                <a:spcPts val="0"/>
              </a:spcBef>
              <a:spcAft>
                <a:spcPts val="0"/>
              </a:spcAft>
              <a:buSzPts val="1400"/>
              <a:buChar char="○"/>
            </a:pPr>
            <a:r>
              <a:rPr lang="en"/>
              <a:t>Prevents cache poisoning attacks</a:t>
            </a:r>
            <a:endParaRPr/>
          </a:p>
          <a:p>
            <a:pPr indent="-342900" lvl="0" marL="457200" rtl="0" algn="l">
              <a:spcBef>
                <a:spcPts val="0"/>
              </a:spcBef>
              <a:spcAft>
                <a:spcPts val="0"/>
              </a:spcAft>
              <a:buSzPts val="1800"/>
              <a:buChar char="●"/>
            </a:pPr>
            <a:r>
              <a:rPr lang="en"/>
              <a:t>We do not need </a:t>
            </a:r>
            <a:r>
              <a:rPr b="1" lang="en"/>
              <a:t>confidentiality</a:t>
            </a:r>
            <a:r>
              <a:rPr lang="en"/>
              <a:t> on the response</a:t>
            </a:r>
            <a:endParaRPr/>
          </a:p>
          <a:p>
            <a:pPr indent="-317500" lvl="1" marL="914400" rtl="0" algn="l">
              <a:spcBef>
                <a:spcPts val="0"/>
              </a:spcBef>
              <a:spcAft>
                <a:spcPts val="0"/>
              </a:spcAft>
              <a:buSzPts val="1400"/>
              <a:buChar char="○"/>
            </a:pPr>
            <a:r>
              <a:rPr lang="en"/>
              <a:t>DNS results are public: The attacker can always look up the results themselves!</a:t>
            </a:r>
            <a:endParaRPr/>
          </a:p>
          <a:p>
            <a:pPr indent="-317500" lvl="1" marL="914400" rtl="0" algn="l">
              <a:spcBef>
                <a:spcPts val="0"/>
              </a:spcBef>
              <a:spcAft>
                <a:spcPts val="0"/>
              </a:spcAft>
              <a:buSzPts val="1400"/>
              <a:buChar char="○"/>
            </a:pPr>
            <a:r>
              <a:rPr lang="en"/>
              <a:t>Even if the attacker couldn’t see the DNS response, they can still see which IP you connect to later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over TLS</a:t>
            </a:r>
            <a:endParaRPr/>
          </a:p>
        </p:txBody>
      </p:sp>
      <p:sp>
        <p:nvSpPr>
          <p:cNvPr id="132" name="Google Shape;13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3" name="Google Shape;133;p22"/>
          <p:cNvSpPr txBox="1"/>
          <p:nvPr>
            <p:ph idx="1" type="body"/>
          </p:nvPr>
        </p:nvSpPr>
        <p:spPr>
          <a:xfrm>
            <a:off x="198500" y="1246825"/>
            <a:ext cx="44661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TLS is end-to-end secure, so let’s send all DNS requests and responses over TLS</a:t>
            </a:r>
            <a:endParaRPr/>
          </a:p>
        </p:txBody>
      </p:sp>
      <p:sp>
        <p:nvSpPr>
          <p:cNvPr id="134" name="Google Shape;134;p22"/>
          <p:cNvSpPr txBox="1"/>
          <p:nvPr/>
        </p:nvSpPr>
        <p:spPr>
          <a:xfrm>
            <a:off x="7723350" y="2201623"/>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a:t>
            </a:r>
            <a:r>
              <a:rPr lang="en"/>
              <a:t> (root)</a:t>
            </a:r>
            <a:endParaRPr>
              <a:latin typeface="Courier New"/>
              <a:ea typeface="Courier New"/>
              <a:cs typeface="Courier New"/>
              <a:sym typeface="Courier New"/>
            </a:endParaRPr>
          </a:p>
        </p:txBody>
      </p:sp>
      <p:sp>
        <p:nvSpPr>
          <p:cNvPr id="135" name="Google Shape;135;p22"/>
          <p:cNvSpPr txBox="1"/>
          <p:nvPr/>
        </p:nvSpPr>
        <p:spPr>
          <a:xfrm>
            <a:off x="8008200" y="322862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136" name="Google Shape;136;p22"/>
          <p:cNvSpPr txBox="1"/>
          <p:nvPr/>
        </p:nvSpPr>
        <p:spPr>
          <a:xfrm>
            <a:off x="7694250" y="41308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137" name="Google Shape;137;p22"/>
          <p:cNvCxnSpPr>
            <a:stCxn id="134" idx="2"/>
            <a:endCxn id="135" idx="0"/>
          </p:cNvCxnSpPr>
          <p:nvPr/>
        </p:nvCxnSpPr>
        <p:spPr>
          <a:xfrm>
            <a:off x="8342400" y="2566423"/>
            <a:ext cx="0" cy="662100"/>
          </a:xfrm>
          <a:prstGeom prst="straightConnector1">
            <a:avLst/>
          </a:prstGeom>
          <a:noFill/>
          <a:ln cap="flat" cmpd="sng" w="9525">
            <a:solidFill>
              <a:srgbClr val="000000"/>
            </a:solidFill>
            <a:prstDash val="solid"/>
            <a:round/>
            <a:headEnd len="med" w="med" type="none"/>
            <a:tailEnd len="med" w="med" type="none"/>
          </a:ln>
        </p:spPr>
      </p:cxnSp>
      <p:cxnSp>
        <p:nvCxnSpPr>
          <p:cNvPr id="138" name="Google Shape;138;p22"/>
          <p:cNvCxnSpPr>
            <a:stCxn id="135" idx="2"/>
            <a:endCxn id="136" idx="0"/>
          </p:cNvCxnSpPr>
          <p:nvPr/>
        </p:nvCxnSpPr>
        <p:spPr>
          <a:xfrm>
            <a:off x="8342400" y="3622227"/>
            <a:ext cx="0" cy="508500"/>
          </a:xfrm>
          <a:prstGeom prst="straightConnector1">
            <a:avLst/>
          </a:prstGeom>
          <a:noFill/>
          <a:ln cap="flat" cmpd="sng" w="9525">
            <a:solidFill>
              <a:srgbClr val="000000"/>
            </a:solidFill>
            <a:prstDash val="solid"/>
            <a:round/>
            <a:headEnd len="med" w="med" type="none"/>
            <a:tailEnd len="med" w="med" type="none"/>
          </a:ln>
        </p:spPr>
      </p:cxnSp>
      <p:sp>
        <p:nvSpPr>
          <p:cNvPr id="139" name="Google Shape;139;p22"/>
          <p:cNvSpPr txBox="1"/>
          <p:nvPr/>
        </p:nvSpPr>
        <p:spPr>
          <a:xfrm>
            <a:off x="4819625" y="1309950"/>
            <a:ext cx="1238100" cy="6543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Stub Resolver</a:t>
            </a:r>
            <a:endParaRPr/>
          </a:p>
        </p:txBody>
      </p:sp>
      <p:sp>
        <p:nvSpPr>
          <p:cNvPr id="140" name="Google Shape;140;p22"/>
          <p:cNvSpPr txBox="1"/>
          <p:nvPr/>
        </p:nvSpPr>
        <p:spPr>
          <a:xfrm>
            <a:off x="4824250" y="2816300"/>
            <a:ext cx="1238100" cy="1630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cxnSp>
        <p:nvCxnSpPr>
          <p:cNvPr id="141" name="Google Shape;141;p22"/>
          <p:cNvCxnSpPr/>
          <p:nvPr/>
        </p:nvCxnSpPr>
        <p:spPr>
          <a:xfrm flipH="1" rot="10800000">
            <a:off x="6153525" y="2278850"/>
            <a:ext cx="1540800" cy="643800"/>
          </a:xfrm>
          <a:prstGeom prst="straightConnector1">
            <a:avLst/>
          </a:prstGeom>
          <a:noFill/>
          <a:ln cap="flat" cmpd="sng" w="19050">
            <a:solidFill>
              <a:srgbClr val="000000"/>
            </a:solidFill>
            <a:prstDash val="solid"/>
            <a:round/>
            <a:headEnd len="med" w="med" type="none"/>
            <a:tailEnd len="med" w="med" type="triangle"/>
          </a:ln>
        </p:spPr>
      </p:cxnSp>
      <p:cxnSp>
        <p:nvCxnSpPr>
          <p:cNvPr id="142" name="Google Shape;142;p22"/>
          <p:cNvCxnSpPr/>
          <p:nvPr/>
        </p:nvCxnSpPr>
        <p:spPr>
          <a:xfrm flipH="1" rot="10800000">
            <a:off x="6164649" y="2397750"/>
            <a:ext cx="1529700" cy="634200"/>
          </a:xfrm>
          <a:prstGeom prst="straightConnector1">
            <a:avLst/>
          </a:prstGeom>
          <a:noFill/>
          <a:ln cap="flat" cmpd="sng" w="19050">
            <a:solidFill>
              <a:srgbClr val="000000"/>
            </a:solidFill>
            <a:prstDash val="solid"/>
            <a:round/>
            <a:headEnd len="med" w="med" type="triangle"/>
            <a:tailEnd len="med" w="med" type="none"/>
          </a:ln>
        </p:spPr>
      </p:cxnSp>
      <p:cxnSp>
        <p:nvCxnSpPr>
          <p:cNvPr id="143" name="Google Shape;143;p22"/>
          <p:cNvCxnSpPr/>
          <p:nvPr/>
        </p:nvCxnSpPr>
        <p:spPr>
          <a:xfrm flipH="1" rot="10800000">
            <a:off x="6188048" y="3382613"/>
            <a:ext cx="1769700" cy="249300"/>
          </a:xfrm>
          <a:prstGeom prst="straightConnector1">
            <a:avLst/>
          </a:prstGeom>
          <a:noFill/>
          <a:ln cap="flat" cmpd="sng" w="19050">
            <a:solidFill>
              <a:srgbClr val="000000"/>
            </a:solidFill>
            <a:prstDash val="solid"/>
            <a:round/>
            <a:headEnd len="med" w="med" type="none"/>
            <a:tailEnd len="med" w="med" type="triangle"/>
          </a:ln>
        </p:spPr>
      </p:cxnSp>
      <p:cxnSp>
        <p:nvCxnSpPr>
          <p:cNvPr id="144" name="Google Shape;144;p22"/>
          <p:cNvCxnSpPr/>
          <p:nvPr/>
        </p:nvCxnSpPr>
        <p:spPr>
          <a:xfrm flipH="1" rot="10800000">
            <a:off x="6193438" y="3523738"/>
            <a:ext cx="1769700" cy="249300"/>
          </a:xfrm>
          <a:prstGeom prst="straightConnector1">
            <a:avLst/>
          </a:prstGeom>
          <a:noFill/>
          <a:ln cap="flat" cmpd="sng" w="19050">
            <a:solidFill>
              <a:srgbClr val="000000"/>
            </a:solidFill>
            <a:prstDash val="solid"/>
            <a:round/>
            <a:headEnd len="med" w="med" type="triangle"/>
            <a:tailEnd len="med" w="med" type="none"/>
          </a:ln>
        </p:spPr>
      </p:cxnSp>
      <p:cxnSp>
        <p:nvCxnSpPr>
          <p:cNvPr id="145" name="Google Shape;145;p22"/>
          <p:cNvCxnSpPr/>
          <p:nvPr/>
        </p:nvCxnSpPr>
        <p:spPr>
          <a:xfrm>
            <a:off x="6153338" y="4130850"/>
            <a:ext cx="1540800" cy="271800"/>
          </a:xfrm>
          <a:prstGeom prst="straightConnector1">
            <a:avLst/>
          </a:prstGeom>
          <a:noFill/>
          <a:ln cap="flat" cmpd="sng" w="19050">
            <a:solidFill>
              <a:srgbClr val="000000"/>
            </a:solidFill>
            <a:prstDash val="solid"/>
            <a:round/>
            <a:headEnd len="med" w="med" type="none"/>
            <a:tailEnd len="med" w="med" type="triangle"/>
          </a:ln>
        </p:spPr>
      </p:cxnSp>
      <p:cxnSp>
        <p:nvCxnSpPr>
          <p:cNvPr id="146" name="Google Shape;146;p22"/>
          <p:cNvCxnSpPr/>
          <p:nvPr/>
        </p:nvCxnSpPr>
        <p:spPr>
          <a:xfrm>
            <a:off x="6107905" y="4252677"/>
            <a:ext cx="1540800" cy="271800"/>
          </a:xfrm>
          <a:prstGeom prst="straightConnector1">
            <a:avLst/>
          </a:prstGeom>
          <a:noFill/>
          <a:ln cap="flat" cmpd="sng" w="19050">
            <a:solidFill>
              <a:srgbClr val="000000"/>
            </a:solidFill>
            <a:prstDash val="solid"/>
            <a:round/>
            <a:headEnd len="med" w="med" type="triangle"/>
            <a:tailEnd len="med" w="med" type="none"/>
          </a:ln>
        </p:spPr>
      </p:cxnSp>
      <p:sp>
        <p:nvSpPr>
          <p:cNvPr id="147" name="Google Shape;147;p22"/>
          <p:cNvSpPr txBox="1"/>
          <p:nvPr/>
        </p:nvSpPr>
        <p:spPr>
          <a:xfrm>
            <a:off x="6686984" y="3920716"/>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6</a:t>
            </a:r>
            <a:endParaRPr>
              <a:latin typeface="Calibri"/>
              <a:ea typeface="Calibri"/>
              <a:cs typeface="Calibri"/>
              <a:sym typeface="Calibri"/>
            </a:endParaRPr>
          </a:p>
        </p:txBody>
      </p:sp>
      <p:sp>
        <p:nvSpPr>
          <p:cNvPr id="148" name="Google Shape;148;p22"/>
          <p:cNvSpPr txBox="1"/>
          <p:nvPr/>
        </p:nvSpPr>
        <p:spPr>
          <a:xfrm>
            <a:off x="6659518" y="433797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sp>
        <p:nvSpPr>
          <p:cNvPr id="149" name="Google Shape;149;p22"/>
          <p:cNvSpPr txBox="1"/>
          <p:nvPr/>
        </p:nvSpPr>
        <p:spPr>
          <a:xfrm>
            <a:off x="6833613" y="3156631"/>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4</a:t>
            </a:r>
            <a:endParaRPr>
              <a:latin typeface="Calibri"/>
              <a:ea typeface="Calibri"/>
              <a:cs typeface="Calibri"/>
              <a:sym typeface="Calibri"/>
            </a:endParaRPr>
          </a:p>
        </p:txBody>
      </p:sp>
      <p:sp>
        <p:nvSpPr>
          <p:cNvPr id="150" name="Google Shape;150;p22"/>
          <p:cNvSpPr txBox="1"/>
          <p:nvPr/>
        </p:nvSpPr>
        <p:spPr>
          <a:xfrm>
            <a:off x="6902076" y="3553213"/>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5</a:t>
            </a:r>
            <a:endParaRPr>
              <a:latin typeface="Calibri"/>
              <a:ea typeface="Calibri"/>
              <a:cs typeface="Calibri"/>
              <a:sym typeface="Calibri"/>
            </a:endParaRPr>
          </a:p>
        </p:txBody>
      </p:sp>
      <p:sp>
        <p:nvSpPr>
          <p:cNvPr id="151" name="Google Shape;151;p22"/>
          <p:cNvSpPr txBox="1"/>
          <p:nvPr/>
        </p:nvSpPr>
        <p:spPr>
          <a:xfrm>
            <a:off x="4881885" y="21344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sp>
        <p:nvSpPr>
          <p:cNvPr id="152" name="Google Shape;152;p22"/>
          <p:cNvSpPr txBox="1"/>
          <p:nvPr/>
        </p:nvSpPr>
        <p:spPr>
          <a:xfrm>
            <a:off x="6636692" y="269723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cxnSp>
        <p:nvCxnSpPr>
          <p:cNvPr id="153" name="Google Shape;153;p22"/>
          <p:cNvCxnSpPr/>
          <p:nvPr/>
        </p:nvCxnSpPr>
        <p:spPr>
          <a:xfrm rot="10800000">
            <a:off x="5670475" y="2008828"/>
            <a:ext cx="0" cy="762900"/>
          </a:xfrm>
          <a:prstGeom prst="straightConnector1">
            <a:avLst/>
          </a:prstGeom>
          <a:noFill/>
          <a:ln cap="flat" cmpd="sng" w="19050">
            <a:solidFill>
              <a:srgbClr val="000000"/>
            </a:solidFill>
            <a:prstDash val="solid"/>
            <a:round/>
            <a:headEnd len="med" w="med" type="none"/>
            <a:tailEnd len="med" w="med" type="triangle"/>
          </a:ln>
        </p:spPr>
      </p:cxnSp>
      <p:cxnSp>
        <p:nvCxnSpPr>
          <p:cNvPr id="154" name="Google Shape;154;p22"/>
          <p:cNvCxnSpPr/>
          <p:nvPr/>
        </p:nvCxnSpPr>
        <p:spPr>
          <a:xfrm rot="10800000">
            <a:off x="5153675" y="2008828"/>
            <a:ext cx="0" cy="762900"/>
          </a:xfrm>
          <a:prstGeom prst="straightConnector1">
            <a:avLst/>
          </a:prstGeom>
          <a:noFill/>
          <a:ln cap="flat" cmpd="sng" w="19050">
            <a:solidFill>
              <a:srgbClr val="000000"/>
            </a:solidFill>
            <a:prstDash val="solid"/>
            <a:round/>
            <a:headEnd len="med" w="med" type="triangle"/>
            <a:tailEnd len="med" w="med" type="none"/>
          </a:ln>
        </p:spPr>
      </p:cxnSp>
      <p:sp>
        <p:nvSpPr>
          <p:cNvPr id="155" name="Google Shape;155;p22"/>
          <p:cNvSpPr txBox="1"/>
          <p:nvPr/>
        </p:nvSpPr>
        <p:spPr>
          <a:xfrm>
            <a:off x="5670485" y="21344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8</a:t>
            </a:r>
            <a:endParaRPr>
              <a:latin typeface="Calibri"/>
              <a:ea typeface="Calibri"/>
              <a:cs typeface="Calibri"/>
              <a:sym typeface="Calibri"/>
            </a:endParaRPr>
          </a:p>
        </p:txBody>
      </p:sp>
      <p:sp>
        <p:nvSpPr>
          <p:cNvPr id="156" name="Google Shape;156;p22"/>
          <p:cNvSpPr txBox="1"/>
          <p:nvPr/>
        </p:nvSpPr>
        <p:spPr>
          <a:xfrm>
            <a:off x="6547967" y="2365107"/>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over TLS: Issues</a:t>
            </a:r>
            <a:endParaRPr/>
          </a:p>
        </p:txBody>
      </p:sp>
      <p:sp>
        <p:nvSpPr>
          <p:cNvPr id="162" name="Google Shape;16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3" name="Google Shape;163;p2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Performance: DNS needs to be lightweight and fast. TLS is slow.</a:t>
            </a:r>
            <a:endParaRPr/>
          </a:p>
          <a:p>
            <a:pPr indent="-317500" lvl="1" marL="914400" rtl="0" algn="l">
              <a:spcBef>
                <a:spcPts val="0"/>
              </a:spcBef>
              <a:spcAft>
                <a:spcPts val="0"/>
              </a:spcAft>
              <a:buSzPts val="1400"/>
              <a:buChar char="○"/>
            </a:pPr>
            <a:r>
              <a:rPr lang="en"/>
              <a:t>Recall: TLS requires a long cryptographic handshake before any messages can be sent</a:t>
            </a:r>
            <a:endParaRPr/>
          </a:p>
          <a:p>
            <a:pPr indent="-342900" lvl="0" marL="457200" rtl="0" algn="l">
              <a:spcBef>
                <a:spcPts val="0"/>
              </a:spcBef>
              <a:spcAft>
                <a:spcPts val="0"/>
              </a:spcAft>
              <a:buSzPts val="1800"/>
              <a:buChar char="●"/>
            </a:pPr>
            <a:r>
              <a:rPr lang="en"/>
              <a:t>Caching: DNS records are cached. TLS doesn’t help us with caching.</a:t>
            </a:r>
            <a:endParaRPr/>
          </a:p>
          <a:p>
            <a:pPr indent="-317500" lvl="1" marL="914400" rtl="0" algn="l">
              <a:spcBef>
                <a:spcPts val="0"/>
              </a:spcBef>
              <a:spcAft>
                <a:spcPts val="0"/>
              </a:spcAft>
              <a:buSzPts val="1400"/>
              <a:buChar char="○"/>
            </a:pPr>
            <a:r>
              <a:rPr lang="en"/>
              <a:t>What if someone changes the record while it’s stored in the cache?</a:t>
            </a:r>
            <a:endParaRPr/>
          </a:p>
          <a:p>
            <a:pPr indent="-342900" lvl="0" marL="457200" rtl="0" algn="l">
              <a:spcBef>
                <a:spcPts val="0"/>
              </a:spcBef>
              <a:spcAft>
                <a:spcPts val="0"/>
              </a:spcAft>
              <a:buSzPts val="1800"/>
              <a:buChar char="●"/>
            </a:pPr>
            <a:r>
              <a:rPr lang="en"/>
              <a:t>Security: DNS over TLS doesn’t defend against malicious name servers.</a:t>
            </a:r>
            <a:endParaRPr/>
          </a:p>
          <a:p>
            <a:pPr indent="-317500" lvl="1" marL="914400" rtl="0" algn="l">
              <a:spcBef>
                <a:spcPts val="0"/>
              </a:spcBef>
              <a:spcAft>
                <a:spcPts val="0"/>
              </a:spcAft>
              <a:buSzPts val="1400"/>
              <a:buChar char="○"/>
            </a:pPr>
            <a:r>
              <a:rPr lang="en"/>
              <a:t>A malicious name server can still poison the cache</a:t>
            </a:r>
            <a:endParaRPr/>
          </a:p>
          <a:p>
            <a:pPr indent="-342900" lvl="0" marL="457200" rtl="0" algn="l">
              <a:spcBef>
                <a:spcPts val="0"/>
              </a:spcBef>
              <a:spcAft>
                <a:spcPts val="0"/>
              </a:spcAft>
              <a:buSzPts val="1800"/>
              <a:buChar char="●"/>
            </a:pPr>
            <a:r>
              <a:rPr lang="en"/>
              <a:t>Security: DNS over TLS doesn’t defend against malicious </a:t>
            </a:r>
            <a:r>
              <a:rPr lang="en"/>
              <a:t>recursive resolvers.</a:t>
            </a:r>
            <a:endParaRPr/>
          </a:p>
          <a:p>
            <a:pPr indent="-317500" lvl="1" marL="914400" rtl="0" algn="l">
              <a:spcBef>
                <a:spcPts val="0"/>
              </a:spcBef>
              <a:spcAft>
                <a:spcPts val="0"/>
              </a:spcAft>
              <a:buSzPts val="1400"/>
              <a:buChar char="○"/>
            </a:pPr>
            <a:r>
              <a:rPr lang="en"/>
              <a:t>The recursive resolver is a full MITM: a malicious recursive resolver can poison the cache before returning the result to the user</a:t>
            </a:r>
            <a:endParaRPr/>
          </a:p>
          <a:p>
            <a:pPr indent="-317500" lvl="1" marL="914400" rtl="0" algn="l">
              <a:spcBef>
                <a:spcPts val="0"/>
              </a:spcBef>
              <a:spcAft>
                <a:spcPts val="0"/>
              </a:spcAft>
              <a:buSzPts val="1400"/>
              <a:buChar char="○"/>
            </a:pPr>
            <a:r>
              <a:rPr lang="en"/>
              <a:t>The recursive resolver is the most common MITM adversary in DNS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 Security and Channel Security</a:t>
            </a:r>
            <a:endParaRPr/>
          </a:p>
        </p:txBody>
      </p:sp>
      <p:sp>
        <p:nvSpPr>
          <p:cNvPr id="169" name="Google Shape;169;p2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Main problem: DNS over TLS secures the communication channel, but doesn’t help you trust who you’re talking to</a:t>
            </a:r>
            <a:endParaRPr/>
          </a:p>
          <a:p>
            <a:pPr indent="-317500" lvl="1" marL="914400" rtl="0" algn="l">
              <a:spcBef>
                <a:spcPts val="0"/>
              </a:spcBef>
              <a:spcAft>
                <a:spcPts val="0"/>
              </a:spcAft>
              <a:buSzPts val="1400"/>
              <a:buChar char="○"/>
            </a:pPr>
            <a:r>
              <a:rPr lang="en"/>
              <a:t>Example: TLS secures your communication with the recursive resolver, but you still need to implicitly trust the recursive resolver. What if the recursive resolver is malicious?</a:t>
            </a:r>
            <a:endParaRPr/>
          </a:p>
          <a:p>
            <a:pPr indent="-342900" lvl="0" marL="457200" rtl="0" algn="l">
              <a:spcBef>
                <a:spcPts val="0"/>
              </a:spcBef>
              <a:spcAft>
                <a:spcPts val="0"/>
              </a:spcAft>
              <a:buSzPts val="1800"/>
              <a:buChar char="●"/>
            </a:pPr>
            <a:r>
              <a:rPr b="1" lang="en"/>
              <a:t>Channel security</a:t>
            </a:r>
            <a:r>
              <a:rPr lang="en"/>
              <a:t>: Securing the communication channel between two end hosts</a:t>
            </a:r>
            <a:endParaRPr/>
          </a:p>
          <a:p>
            <a:pPr indent="-342900" lvl="0" marL="457200" rtl="0" algn="l">
              <a:spcBef>
                <a:spcPts val="0"/>
              </a:spcBef>
              <a:spcAft>
                <a:spcPts val="0"/>
              </a:spcAft>
              <a:buSzPts val="1800"/>
              <a:buChar char="●"/>
            </a:pPr>
            <a:r>
              <a:rPr b="1" lang="en"/>
              <a:t>Object security</a:t>
            </a:r>
            <a:r>
              <a:rPr lang="en"/>
              <a:t>: Securing a piece of data (in transit or in storage)</a:t>
            </a:r>
            <a:endParaRPr/>
          </a:p>
          <a:p>
            <a:pPr indent="-342900" lvl="0" marL="457200" rtl="0" algn="l">
              <a:spcBef>
                <a:spcPts val="0"/>
              </a:spcBef>
              <a:spcAft>
                <a:spcPts val="0"/>
              </a:spcAft>
              <a:buSzPts val="1800"/>
              <a:buChar char="●"/>
            </a:pPr>
            <a:r>
              <a:rPr lang="en"/>
              <a:t>TLS provides channel security, but to secure DNS, we need object security</a:t>
            </a:r>
            <a:endParaRPr/>
          </a:p>
        </p:txBody>
      </p:sp>
      <p:sp>
        <p:nvSpPr>
          <p:cNvPr id="170" name="Google Shape;17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over TLS in Practice</a:t>
            </a:r>
            <a:endParaRPr/>
          </a:p>
        </p:txBody>
      </p:sp>
      <p:sp>
        <p:nvSpPr>
          <p:cNvPr id="176" name="Google Shape;176;p2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Recently introduced by Firefox</a:t>
            </a:r>
            <a:endParaRPr/>
          </a:p>
          <a:p>
            <a:pPr indent="-317500" lvl="1" marL="914400" rtl="0" algn="l">
              <a:spcBef>
                <a:spcPts val="0"/>
              </a:spcBef>
              <a:spcAft>
                <a:spcPts val="0"/>
              </a:spcAft>
              <a:buSzPts val="1400"/>
              <a:buChar char="○"/>
            </a:pPr>
            <a:r>
              <a:rPr lang="en"/>
              <a:t>Enabled by default in the United States</a:t>
            </a:r>
            <a:endParaRPr/>
          </a:p>
          <a:p>
            <a:pPr indent="-342900" lvl="0" marL="457200" rtl="0" algn="l">
              <a:spcBef>
                <a:spcPts val="0"/>
              </a:spcBef>
              <a:spcAft>
                <a:spcPts val="0"/>
              </a:spcAft>
              <a:buSzPts val="1800"/>
              <a:buChar char="●"/>
            </a:pPr>
            <a:r>
              <a:rPr lang="en"/>
              <a:t>Benefits</a:t>
            </a:r>
            <a:endParaRPr/>
          </a:p>
          <a:p>
            <a:pPr indent="-317500" lvl="1" marL="914400" rtl="0" algn="l">
              <a:spcBef>
                <a:spcPts val="0"/>
              </a:spcBef>
              <a:spcAft>
                <a:spcPts val="0"/>
              </a:spcAft>
              <a:buSzPts val="1400"/>
              <a:buChar char="○"/>
            </a:pPr>
            <a:r>
              <a:rPr lang="en"/>
              <a:t>The added security is worth the slower performance</a:t>
            </a:r>
            <a:endParaRPr/>
          </a:p>
          <a:p>
            <a:pPr indent="-317500" lvl="1" marL="914400" rtl="0" algn="l">
              <a:spcBef>
                <a:spcPts val="0"/>
              </a:spcBef>
              <a:spcAft>
                <a:spcPts val="0"/>
              </a:spcAft>
              <a:buSzPts val="1400"/>
              <a:buChar char="○"/>
            </a:pPr>
            <a:r>
              <a:rPr lang="en"/>
              <a:t>The performance impact is less noticeable now that network speeds are faster</a:t>
            </a:r>
            <a:endParaRPr/>
          </a:p>
          <a:p>
            <a:pPr indent="-342900" lvl="0" marL="457200" rtl="0" algn="l">
              <a:spcBef>
                <a:spcPts val="0"/>
              </a:spcBef>
              <a:spcAft>
                <a:spcPts val="0"/>
              </a:spcAft>
              <a:buSzPts val="1800"/>
              <a:buChar char="●"/>
            </a:pPr>
            <a:r>
              <a:rPr lang="en"/>
              <a:t>Drawbacks</a:t>
            </a:r>
            <a:endParaRPr/>
          </a:p>
          <a:p>
            <a:pPr indent="-317500" lvl="1" marL="914400" rtl="0" algn="l">
              <a:spcBef>
                <a:spcPts val="0"/>
              </a:spcBef>
              <a:spcAft>
                <a:spcPts val="0"/>
              </a:spcAft>
              <a:buSzPts val="1400"/>
              <a:buChar char="○"/>
            </a:pPr>
            <a:r>
              <a:rPr lang="en"/>
              <a:t>Only defends against network attackers, not malicious name servers</a:t>
            </a:r>
            <a:endParaRPr/>
          </a:p>
          <a:p>
            <a:pPr indent="-317500" lvl="1" marL="914400" rtl="0" algn="l">
              <a:spcBef>
                <a:spcPts val="0"/>
              </a:spcBef>
              <a:spcAft>
                <a:spcPts val="0"/>
              </a:spcAft>
              <a:buSzPts val="1400"/>
              <a:buChar char="○"/>
            </a:pPr>
            <a:r>
              <a:rPr lang="en"/>
              <a:t>Network attackers can perform a </a:t>
            </a:r>
            <a:r>
              <a:rPr b="1" lang="en"/>
              <a:t>downgrade attack</a:t>
            </a:r>
            <a:r>
              <a:rPr lang="en"/>
              <a:t>: Block the TLS connection, forcing the browser to fall back on ordinary DNS</a:t>
            </a:r>
            <a:endParaRPr/>
          </a:p>
          <a:p>
            <a:pPr indent="-342900" lvl="0" marL="457200" rtl="0" algn="l">
              <a:spcBef>
                <a:spcPts val="0"/>
              </a:spcBef>
              <a:spcAft>
                <a:spcPts val="0"/>
              </a:spcAft>
              <a:buSzPts val="1800"/>
              <a:buChar char="●"/>
            </a:pPr>
            <a:r>
              <a:rPr lang="en"/>
              <a:t>DNS over TLS traffic is routed through Cloudflare</a:t>
            </a:r>
            <a:endParaRPr/>
          </a:p>
          <a:p>
            <a:pPr indent="-317500" lvl="1" marL="914400" rtl="0" algn="l">
              <a:spcBef>
                <a:spcPts val="0"/>
              </a:spcBef>
              <a:spcAft>
                <a:spcPts val="0"/>
              </a:spcAft>
              <a:buSzPts val="1400"/>
              <a:buChar char="○"/>
            </a:pPr>
            <a:r>
              <a:rPr lang="en"/>
              <a:t>Cloudflare is a full MITM</a:t>
            </a:r>
            <a:endParaRPr/>
          </a:p>
          <a:p>
            <a:pPr indent="-317500" lvl="1" marL="914400" rtl="0" algn="l">
              <a:spcBef>
                <a:spcPts val="0"/>
              </a:spcBef>
              <a:spcAft>
                <a:spcPts val="0"/>
              </a:spcAft>
              <a:buSzPts val="1400"/>
              <a:buChar char="○"/>
            </a:pPr>
            <a:r>
              <a:rPr lang="en"/>
              <a:t>The only protection is contractual: Cloudflare promises not to misuse your data</a:t>
            </a:r>
            <a:endParaRPr/>
          </a:p>
          <a:p>
            <a:pPr indent="-342900" lvl="0" marL="457200" rtl="0" algn="l">
              <a:spcBef>
                <a:spcPts val="0"/>
              </a:spcBef>
              <a:spcAft>
                <a:spcPts val="0"/>
              </a:spcAft>
              <a:buSzPts val="1800"/>
              <a:buChar char="●"/>
            </a:pPr>
            <a:r>
              <a:rPr b="1" lang="en"/>
              <a:t>Takeaway</a:t>
            </a:r>
            <a:r>
              <a:rPr lang="en"/>
              <a:t>: DNS over TLS is not enough to fully secure DNS</a:t>
            </a:r>
            <a:endParaRPr/>
          </a:p>
        </p:txBody>
      </p:sp>
      <p:sp>
        <p:nvSpPr>
          <p:cNvPr id="177" name="Google Shape;17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DNSSEC: High-Level Design</a:t>
            </a:r>
            <a:endParaRPr/>
          </a:p>
        </p:txBody>
      </p:sp>
      <p:sp>
        <p:nvSpPr>
          <p:cNvPr id="183" name="Google Shape;18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a:t>
            </a:r>
            <a:endParaRPr/>
          </a:p>
        </p:txBody>
      </p:sp>
      <p:sp>
        <p:nvSpPr>
          <p:cNvPr id="189" name="Google Shape;189;p2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DNSSEC</a:t>
            </a:r>
            <a:r>
              <a:rPr lang="en"/>
              <a:t> (</a:t>
            </a:r>
            <a:r>
              <a:rPr b="1" lang="en"/>
              <a:t>DNS Security Extensions</a:t>
            </a:r>
            <a:r>
              <a:rPr lang="en"/>
              <a:t>): An extension of the DNS protocol that ensures integrity on the results</a:t>
            </a:r>
            <a:endParaRPr/>
          </a:p>
          <a:p>
            <a:pPr indent="-317500" lvl="1" marL="914400" rtl="0" algn="l">
              <a:spcBef>
                <a:spcPts val="0"/>
              </a:spcBef>
              <a:spcAft>
                <a:spcPts val="0"/>
              </a:spcAft>
              <a:buSzPts val="1400"/>
              <a:buChar char="○"/>
            </a:pPr>
            <a:r>
              <a:rPr lang="en"/>
              <a:t>Designed to cryptographically prove that returned answers are correct</a:t>
            </a:r>
            <a:endParaRPr/>
          </a:p>
          <a:p>
            <a:pPr indent="-317500" lvl="1" marL="914400" rtl="0" algn="l">
              <a:spcBef>
                <a:spcPts val="0"/>
              </a:spcBef>
              <a:spcAft>
                <a:spcPts val="0"/>
              </a:spcAft>
              <a:buSzPts val="1400"/>
              <a:buChar char="○"/>
            </a:pPr>
            <a:r>
              <a:rPr lang="en"/>
              <a:t>Uses a </a:t>
            </a:r>
            <a:r>
              <a:rPr lang="en"/>
              <a:t>hierarchical</a:t>
            </a:r>
            <a:r>
              <a:rPr lang="en"/>
              <a:t>, distributed trust system to validate records</a:t>
            </a:r>
            <a:endParaRPr/>
          </a:p>
          <a:p>
            <a:pPr indent="-342900" lvl="0" marL="457200" rtl="0" algn="l">
              <a:spcBef>
                <a:spcPts val="0"/>
              </a:spcBef>
              <a:spcAft>
                <a:spcPts val="0"/>
              </a:spcAft>
              <a:buSzPts val="1800"/>
              <a:buChar char="●"/>
            </a:pPr>
            <a:r>
              <a:rPr lang="en"/>
              <a:t>DNSSEC is backwards-compatible</a:t>
            </a:r>
            <a:endParaRPr/>
          </a:p>
          <a:p>
            <a:pPr indent="-317500" lvl="1" marL="914400" rtl="0" algn="l">
              <a:spcBef>
                <a:spcPts val="0"/>
              </a:spcBef>
              <a:spcAft>
                <a:spcPts val="0"/>
              </a:spcAft>
              <a:buSzPts val="1400"/>
              <a:buChar char="○"/>
            </a:pPr>
            <a:r>
              <a:rPr lang="en"/>
              <a:t>Some, but not all name servers support DNSSEC</a:t>
            </a:r>
            <a:endParaRPr/>
          </a:p>
          <a:p>
            <a:pPr indent="-317500" lvl="1" marL="914400" rtl="0" algn="l">
              <a:spcBef>
                <a:spcPts val="0"/>
              </a:spcBef>
              <a:spcAft>
                <a:spcPts val="0"/>
              </a:spcAft>
              <a:buSzPts val="1400"/>
              <a:buChar char="○"/>
            </a:pPr>
            <a:r>
              <a:rPr lang="en"/>
              <a:t>DNSSEC is built on top of ordinary DNS</a:t>
            </a:r>
            <a:endParaRPr/>
          </a:p>
        </p:txBody>
      </p:sp>
      <p:sp>
        <p:nvSpPr>
          <p:cNvPr id="190" name="Google Shape;19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Scratchpad: Let’s Design It Together</a:t>
            </a:r>
            <a:endParaRPr/>
          </a:p>
        </p:txBody>
      </p:sp>
      <p:sp>
        <p:nvSpPr>
          <p:cNvPr id="196" name="Google Shape;196;p2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Question 1: What kind of cryptographic primitive should we use to ensure integrity on the records?</a:t>
            </a:r>
            <a:endParaRPr/>
          </a:p>
          <a:p>
            <a:pPr indent="-317500" lvl="1" marL="914400" rtl="0" algn="l">
              <a:spcBef>
                <a:spcPts val="0"/>
              </a:spcBef>
              <a:spcAft>
                <a:spcPts val="0"/>
              </a:spcAft>
              <a:buSzPts val="1400"/>
              <a:buChar char="○"/>
            </a:pPr>
            <a:r>
              <a:rPr lang="en"/>
              <a:t>We should use a scheme that provides integrity: either MACs (symmetric-key) or digital signatures (public-key)</a:t>
            </a:r>
            <a:endParaRPr/>
          </a:p>
          <a:p>
            <a:pPr indent="-317500" lvl="1" marL="914400" rtl="0" algn="l">
              <a:spcBef>
                <a:spcPts val="0"/>
              </a:spcBef>
              <a:spcAft>
                <a:spcPts val="0"/>
              </a:spcAft>
              <a:buSzPts val="1400"/>
              <a:buChar char="○"/>
            </a:pPr>
            <a:r>
              <a:rPr lang="en"/>
              <a:t>Digital signatures are the best solution here: We want everyone to be able to verify integrity (not just the people with the symmetric key)</a:t>
            </a:r>
            <a:endParaRPr/>
          </a:p>
          <a:p>
            <a:pPr indent="-342900" lvl="0" marL="457200" rtl="0" algn="l">
              <a:spcBef>
                <a:spcPts val="0"/>
              </a:spcBef>
              <a:spcAft>
                <a:spcPts val="0"/>
              </a:spcAft>
              <a:buSzPts val="1800"/>
              <a:buChar char="●"/>
            </a:pPr>
            <a:r>
              <a:rPr lang="en"/>
              <a:t>Question 2: How do we ensure the returned record is correct and has not been tampered?</a:t>
            </a:r>
            <a:endParaRPr/>
          </a:p>
          <a:p>
            <a:pPr indent="-317500" lvl="1" marL="914400" rtl="0" algn="l">
              <a:spcBef>
                <a:spcPts val="0"/>
              </a:spcBef>
              <a:spcAft>
                <a:spcPts val="0"/>
              </a:spcAft>
              <a:buSzPts val="1400"/>
              <a:buChar char="○"/>
            </a:pPr>
            <a:r>
              <a:rPr lang="en"/>
              <a:t>Digital signatures: The authoritative name server should sign the record with their private key.  Everyone can verify the record with their public key.</a:t>
            </a:r>
            <a:endParaRPr/>
          </a:p>
        </p:txBody>
      </p:sp>
      <p:sp>
        <p:nvSpPr>
          <p:cNvPr id="197" name="Google Shape;19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Scratchpad: Let’s Design It Together</a:t>
            </a:r>
            <a:endParaRPr/>
          </a:p>
        </p:txBody>
      </p:sp>
      <p:sp>
        <p:nvSpPr>
          <p:cNvPr id="203" name="Google Shape;203;p29"/>
          <p:cNvSpPr txBox="1"/>
          <p:nvPr>
            <p:ph idx="1" type="body"/>
          </p:nvPr>
        </p:nvSpPr>
        <p:spPr>
          <a:xfrm>
            <a:off x="198500" y="1246825"/>
            <a:ext cx="8520600" cy="1991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Question 3: What does the name server need to send in order to ensure integrity on a record?</a:t>
            </a:r>
            <a:endParaRPr/>
          </a:p>
          <a:p>
            <a:pPr indent="-317500" lvl="1" marL="914400" rtl="0" algn="l">
              <a:spcBef>
                <a:spcPts val="0"/>
              </a:spcBef>
              <a:spcAft>
                <a:spcPts val="0"/>
              </a:spcAft>
              <a:buSzPts val="1400"/>
              <a:buChar char="○"/>
            </a:pPr>
            <a:r>
              <a:rPr lang="en"/>
              <a:t>The record</a:t>
            </a:r>
            <a:endParaRPr/>
          </a:p>
          <a:p>
            <a:pPr indent="-317500" lvl="1" marL="914400" rtl="0" algn="l">
              <a:spcBef>
                <a:spcPts val="0"/>
              </a:spcBef>
              <a:spcAft>
                <a:spcPts val="0"/>
              </a:spcAft>
              <a:buSzPts val="1400"/>
              <a:buChar char="○"/>
            </a:pPr>
            <a:r>
              <a:rPr lang="en"/>
              <a:t>A signature over the record, signed with the private key</a:t>
            </a:r>
            <a:endParaRPr/>
          </a:p>
          <a:p>
            <a:pPr indent="-317500" lvl="1" marL="914400" rtl="0" algn="l">
              <a:spcBef>
                <a:spcPts val="0"/>
              </a:spcBef>
              <a:spcAft>
                <a:spcPts val="0"/>
              </a:spcAft>
              <a:buSzPts val="1400"/>
              <a:buChar char="○"/>
            </a:pPr>
            <a:r>
              <a:rPr lang="en"/>
              <a:t>The public key</a:t>
            </a:r>
            <a:endParaRPr/>
          </a:p>
        </p:txBody>
      </p:sp>
      <p:sp>
        <p:nvSpPr>
          <p:cNvPr id="204" name="Google Shape;204;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5" name="Google Shape;205;p29"/>
          <p:cNvSpPr txBox="1"/>
          <p:nvPr/>
        </p:nvSpPr>
        <p:spPr>
          <a:xfrm>
            <a:off x="488250" y="3238225"/>
            <a:ext cx="1238100" cy="1630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206" name="Google Shape;206;p29"/>
          <p:cNvSpPr txBox="1"/>
          <p:nvPr/>
        </p:nvSpPr>
        <p:spPr>
          <a:xfrm>
            <a:off x="6855450" y="3238225"/>
            <a:ext cx="1609800" cy="1630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urier New"/>
                <a:ea typeface="Courier New"/>
                <a:cs typeface="Courier New"/>
                <a:sym typeface="Courier New"/>
              </a:rPr>
              <a:t>berkeley.edu</a:t>
            </a:r>
            <a:r>
              <a:rPr lang="en"/>
              <a:t> name server</a:t>
            </a:r>
            <a:endParaRPr>
              <a:latin typeface="Calibri"/>
              <a:ea typeface="Calibri"/>
              <a:cs typeface="Calibri"/>
              <a:sym typeface="Calibri"/>
            </a:endParaRPr>
          </a:p>
        </p:txBody>
      </p:sp>
      <p:grpSp>
        <p:nvGrpSpPr>
          <p:cNvPr id="207" name="Google Shape;207;p29"/>
          <p:cNvGrpSpPr/>
          <p:nvPr/>
        </p:nvGrpSpPr>
        <p:grpSpPr>
          <a:xfrm>
            <a:off x="1812250" y="3305838"/>
            <a:ext cx="4932000" cy="461213"/>
            <a:chOff x="1812250" y="3305838"/>
            <a:chExt cx="4932000" cy="461213"/>
          </a:xfrm>
        </p:grpSpPr>
        <p:cxnSp>
          <p:nvCxnSpPr>
            <p:cNvPr id="208" name="Google Shape;208;p29"/>
            <p:cNvCxnSpPr/>
            <p:nvPr/>
          </p:nvCxnSpPr>
          <p:spPr>
            <a:xfrm rot="10800000">
              <a:off x="1812250" y="3767050"/>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209" name="Google Shape;209;p29"/>
            <p:cNvSpPr txBox="1"/>
            <p:nvPr/>
          </p:nvSpPr>
          <p:spPr>
            <a:xfrm>
              <a:off x="2464600" y="3305838"/>
              <a:ext cx="37968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grpSp>
      <p:grpSp>
        <p:nvGrpSpPr>
          <p:cNvPr id="210" name="Google Shape;210;p29"/>
          <p:cNvGrpSpPr/>
          <p:nvPr/>
        </p:nvGrpSpPr>
        <p:grpSpPr>
          <a:xfrm>
            <a:off x="1811207" y="3995650"/>
            <a:ext cx="4932000" cy="800650"/>
            <a:chOff x="1811207" y="3995650"/>
            <a:chExt cx="4932000" cy="800650"/>
          </a:xfrm>
        </p:grpSpPr>
        <p:cxnSp>
          <p:nvCxnSpPr>
            <p:cNvPr id="211" name="Google Shape;211;p29"/>
            <p:cNvCxnSpPr/>
            <p:nvPr/>
          </p:nvCxnSpPr>
          <p:spPr>
            <a:xfrm rot="10800000">
              <a:off x="1811207" y="399565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212" name="Google Shape;212;p29"/>
            <p:cNvSpPr txBox="1"/>
            <p:nvPr/>
          </p:nvSpPr>
          <p:spPr>
            <a:xfrm>
              <a:off x="2206425" y="4055300"/>
              <a:ext cx="4259100" cy="7410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“The IP address of </a:t>
              </a:r>
              <a:r>
                <a:rPr b="1" lang="en" sz="1200">
                  <a:solidFill>
                    <a:schemeClr val="dk1"/>
                  </a:solidFill>
                  <a:latin typeface="Courier New"/>
                  <a:ea typeface="Courier New"/>
                  <a:cs typeface="Courier New"/>
                  <a:sym typeface="Courier New"/>
                </a:rPr>
                <a:t>eecs.berkeley.edu</a:t>
              </a:r>
              <a:r>
                <a:rPr lang="en" sz="1200">
                  <a:solidFill>
                    <a:schemeClr val="dk1"/>
                  </a:solidFill>
                </a:rPr>
                <a:t> is </a:t>
              </a:r>
              <a:r>
                <a:rPr b="1" lang="en" sz="1200">
                  <a:solidFill>
                    <a:schemeClr val="dk1"/>
                  </a:solidFill>
                  <a:latin typeface="Courier New"/>
                  <a:ea typeface="Courier New"/>
                  <a:cs typeface="Courier New"/>
                  <a:sym typeface="Courier New"/>
                </a:rPr>
                <a:t>23.185.0.1</a:t>
              </a:r>
              <a:r>
                <a:rPr lang="en" sz="1200">
                  <a:solidFill>
                    <a:schemeClr val="dk1"/>
                  </a:solidFill>
                </a:rPr>
                <a:t>.”</a:t>
              </a:r>
              <a:endParaRPr sz="1200">
                <a:solidFill>
                  <a:schemeClr val="dk1"/>
                </a:solidFill>
              </a:endParaRPr>
            </a:p>
            <a:p>
              <a:pPr indent="0" lvl="0" marL="0" rtl="0" algn="l">
                <a:spcBef>
                  <a:spcPts val="0"/>
                </a:spcBef>
                <a:spcAft>
                  <a:spcPts val="0"/>
                </a:spcAft>
                <a:buNone/>
              </a:pPr>
              <a:r>
                <a:rPr lang="en" sz="1200"/>
                <a:t>Here is a signature on the above record.</a:t>
              </a:r>
              <a:endParaRPr sz="1200"/>
            </a:p>
            <a:p>
              <a:pPr indent="0" lvl="0" marL="0" rtl="0" algn="l">
                <a:spcBef>
                  <a:spcPts val="0"/>
                </a:spcBef>
                <a:spcAft>
                  <a:spcPts val="0"/>
                </a:spcAft>
                <a:buNone/>
              </a:pPr>
              <a:r>
                <a:rPr lang="en" sz="1200"/>
                <a:t>Here is my public key so you can verify the signature.</a:t>
              </a:r>
              <a:endParaRPr sz="12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With This Design</a:t>
            </a:r>
            <a:endParaRPr/>
          </a:p>
        </p:txBody>
      </p:sp>
      <p:sp>
        <p:nvSpPr>
          <p:cNvPr id="218" name="Google Shape;218;p30"/>
          <p:cNvSpPr txBox="1"/>
          <p:nvPr>
            <p:ph idx="1" type="body"/>
          </p:nvPr>
        </p:nvSpPr>
        <p:spPr>
          <a:xfrm>
            <a:off x="198500" y="1246825"/>
            <a:ext cx="8520600" cy="1991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if the name server is malicious? They could still return malicious records and sign them.</a:t>
            </a:r>
            <a:endParaRPr/>
          </a:p>
          <a:p>
            <a:pPr indent="-342900" lvl="0" marL="457200" rtl="0" algn="l">
              <a:spcBef>
                <a:spcPts val="0"/>
              </a:spcBef>
              <a:spcAft>
                <a:spcPts val="0"/>
              </a:spcAft>
              <a:buSzPts val="1800"/>
              <a:buChar char="●"/>
            </a:pPr>
            <a:r>
              <a:rPr lang="en"/>
              <a:t>How do we make sure nobody tampered with the public key?</a:t>
            </a:r>
            <a:endParaRPr/>
          </a:p>
          <a:p>
            <a:pPr indent="-342900" lvl="0" marL="457200" rtl="0" algn="l">
              <a:spcBef>
                <a:spcPts val="0"/>
              </a:spcBef>
              <a:spcAft>
                <a:spcPts val="0"/>
              </a:spcAft>
              <a:buSzPts val="1800"/>
              <a:buChar char="●"/>
            </a:pPr>
            <a:r>
              <a:rPr lang="en"/>
              <a:t>Do these sound like problems that we’ve solved before in this class?</a:t>
            </a:r>
            <a:endParaRPr/>
          </a:p>
        </p:txBody>
      </p:sp>
      <p:sp>
        <p:nvSpPr>
          <p:cNvPr id="219" name="Google Shape;21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0" name="Google Shape;220;p30"/>
          <p:cNvSpPr txBox="1"/>
          <p:nvPr/>
        </p:nvSpPr>
        <p:spPr>
          <a:xfrm>
            <a:off x="488250" y="3238225"/>
            <a:ext cx="1238100" cy="1630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221" name="Google Shape;221;p30"/>
          <p:cNvSpPr txBox="1"/>
          <p:nvPr/>
        </p:nvSpPr>
        <p:spPr>
          <a:xfrm>
            <a:off x="6855450" y="3238225"/>
            <a:ext cx="1609800" cy="1630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urier New"/>
                <a:ea typeface="Courier New"/>
                <a:cs typeface="Courier New"/>
                <a:sym typeface="Courier New"/>
              </a:rPr>
              <a:t>berkeley.edu</a:t>
            </a:r>
            <a:r>
              <a:rPr lang="en"/>
              <a:t> name server</a:t>
            </a:r>
            <a:endParaRPr>
              <a:latin typeface="Calibri"/>
              <a:ea typeface="Calibri"/>
              <a:cs typeface="Calibri"/>
              <a:sym typeface="Calibri"/>
            </a:endParaRPr>
          </a:p>
        </p:txBody>
      </p:sp>
      <p:grpSp>
        <p:nvGrpSpPr>
          <p:cNvPr id="222" name="Google Shape;222;p30"/>
          <p:cNvGrpSpPr/>
          <p:nvPr/>
        </p:nvGrpSpPr>
        <p:grpSpPr>
          <a:xfrm>
            <a:off x="1812250" y="3305838"/>
            <a:ext cx="4932000" cy="461213"/>
            <a:chOff x="1812250" y="3305838"/>
            <a:chExt cx="4932000" cy="461213"/>
          </a:xfrm>
        </p:grpSpPr>
        <p:cxnSp>
          <p:nvCxnSpPr>
            <p:cNvPr id="223" name="Google Shape;223;p30"/>
            <p:cNvCxnSpPr/>
            <p:nvPr/>
          </p:nvCxnSpPr>
          <p:spPr>
            <a:xfrm rot="10800000">
              <a:off x="1812250" y="3767050"/>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224" name="Google Shape;224;p30"/>
            <p:cNvSpPr txBox="1"/>
            <p:nvPr/>
          </p:nvSpPr>
          <p:spPr>
            <a:xfrm>
              <a:off x="2464600" y="3305838"/>
              <a:ext cx="37968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grpSp>
      <p:grpSp>
        <p:nvGrpSpPr>
          <p:cNvPr id="225" name="Google Shape;225;p30"/>
          <p:cNvGrpSpPr/>
          <p:nvPr/>
        </p:nvGrpSpPr>
        <p:grpSpPr>
          <a:xfrm>
            <a:off x="1811207" y="3995650"/>
            <a:ext cx="4932000" cy="800650"/>
            <a:chOff x="1811207" y="3995650"/>
            <a:chExt cx="4932000" cy="800650"/>
          </a:xfrm>
        </p:grpSpPr>
        <p:cxnSp>
          <p:nvCxnSpPr>
            <p:cNvPr id="226" name="Google Shape;226;p30"/>
            <p:cNvCxnSpPr/>
            <p:nvPr/>
          </p:nvCxnSpPr>
          <p:spPr>
            <a:xfrm rot="10800000">
              <a:off x="1811207" y="399565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227" name="Google Shape;227;p30"/>
            <p:cNvSpPr txBox="1"/>
            <p:nvPr/>
          </p:nvSpPr>
          <p:spPr>
            <a:xfrm>
              <a:off x="2206425" y="4055300"/>
              <a:ext cx="4259100" cy="7410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“The IP address of </a:t>
              </a:r>
              <a:r>
                <a:rPr b="1" lang="en" sz="1200">
                  <a:solidFill>
                    <a:schemeClr val="dk1"/>
                  </a:solidFill>
                  <a:latin typeface="Courier New"/>
                  <a:ea typeface="Courier New"/>
                  <a:cs typeface="Courier New"/>
                  <a:sym typeface="Courier New"/>
                </a:rPr>
                <a:t>eecs.berkeley.edu</a:t>
              </a:r>
              <a:r>
                <a:rPr lang="en" sz="1200">
                  <a:solidFill>
                    <a:schemeClr val="dk1"/>
                  </a:solidFill>
                </a:rPr>
                <a:t> is </a:t>
              </a:r>
              <a:r>
                <a:rPr b="1" lang="en" sz="1200">
                  <a:solidFill>
                    <a:schemeClr val="dk1"/>
                  </a:solidFill>
                  <a:latin typeface="Courier New"/>
                  <a:ea typeface="Courier New"/>
                  <a:cs typeface="Courier New"/>
                  <a:sym typeface="Courier New"/>
                </a:rPr>
                <a:t>23.185.0.1</a:t>
              </a:r>
              <a:r>
                <a:rPr lang="en" sz="1200">
                  <a:solidFill>
                    <a:schemeClr val="dk1"/>
                  </a:solidFill>
                </a:rPr>
                <a:t>.”</a:t>
              </a:r>
              <a:endParaRPr sz="1200">
                <a:solidFill>
                  <a:schemeClr val="dk1"/>
                </a:solidFill>
              </a:endParaRPr>
            </a:p>
            <a:p>
              <a:pPr indent="0" lvl="0" marL="0" rtl="0" algn="l">
                <a:spcBef>
                  <a:spcPts val="0"/>
                </a:spcBef>
                <a:spcAft>
                  <a:spcPts val="0"/>
                </a:spcAft>
                <a:buNone/>
              </a:pPr>
              <a:r>
                <a:rPr lang="en" sz="1200"/>
                <a:t>Here is a signature on the above record.</a:t>
              </a:r>
              <a:endParaRPr sz="1200"/>
            </a:p>
            <a:p>
              <a:pPr indent="0" lvl="0" marL="0" rtl="0" algn="l">
                <a:spcBef>
                  <a:spcPts val="0"/>
                </a:spcBef>
                <a:spcAft>
                  <a:spcPts val="0"/>
                </a:spcAft>
                <a:buNone/>
              </a:pPr>
              <a:r>
                <a:rPr lang="en" sz="1200"/>
                <a:t>Here is my public key so you can verify the signature.</a:t>
              </a:r>
              <a:endParaRPr sz="12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Scratchpad: Let’s Design It Together</a:t>
            </a:r>
            <a:endParaRPr/>
          </a:p>
        </p:txBody>
      </p:sp>
      <p:sp>
        <p:nvSpPr>
          <p:cNvPr id="233" name="Google Shape;233;p31"/>
          <p:cNvSpPr txBox="1"/>
          <p:nvPr>
            <p:ph idx="1" type="body"/>
          </p:nvPr>
        </p:nvSpPr>
        <p:spPr>
          <a:xfrm>
            <a:off x="198500" y="1246825"/>
            <a:ext cx="8520600" cy="144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Question 4: How does a name server delegate trust to a child name server?</a:t>
            </a:r>
            <a:endParaRPr/>
          </a:p>
          <a:p>
            <a:pPr indent="-317500" lvl="1" marL="914400" rtl="0" algn="l">
              <a:spcBef>
                <a:spcPts val="0"/>
              </a:spcBef>
              <a:spcAft>
                <a:spcPts val="0"/>
              </a:spcAft>
              <a:buSzPts val="1400"/>
              <a:buChar char="○"/>
            </a:pPr>
            <a:r>
              <a:rPr lang="en"/>
              <a:t>Just like in a certificate chain, the parent must sign the child’s public key.</a:t>
            </a:r>
            <a:endParaRPr i="1"/>
          </a:p>
          <a:p>
            <a:pPr indent="-342900" lvl="0" marL="457200" rtl="0" algn="l">
              <a:spcBef>
                <a:spcPts val="0"/>
              </a:spcBef>
              <a:spcAft>
                <a:spcPts val="0"/>
              </a:spcAft>
              <a:buSzPts val="1800"/>
              <a:buChar char="●"/>
            </a:pPr>
            <a:r>
              <a:rPr lang="en"/>
              <a:t>Question 5: PKIs need a trust anchor. Who do we implicitly trust in DNSSEC?</a:t>
            </a:r>
            <a:endParaRPr/>
          </a:p>
          <a:p>
            <a:pPr indent="-317500" lvl="1" marL="914400" rtl="0" algn="l">
              <a:spcBef>
                <a:spcPts val="0"/>
              </a:spcBef>
              <a:spcAft>
                <a:spcPts val="0"/>
              </a:spcAft>
              <a:buSzPts val="1400"/>
              <a:buChar char="○"/>
            </a:pPr>
            <a:r>
              <a:rPr lang="en"/>
              <a:t>We implicitly trust the top of the certificate hierarchy, which is the root name server.</a:t>
            </a:r>
            <a:endParaRPr/>
          </a:p>
        </p:txBody>
      </p:sp>
      <p:sp>
        <p:nvSpPr>
          <p:cNvPr id="234" name="Google Shape;23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5" name="Google Shape;235;p31"/>
          <p:cNvSpPr txBox="1"/>
          <p:nvPr/>
        </p:nvSpPr>
        <p:spPr>
          <a:xfrm>
            <a:off x="488250" y="2781025"/>
            <a:ext cx="1238100" cy="2125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236" name="Google Shape;236;p31"/>
          <p:cNvSpPr txBox="1"/>
          <p:nvPr/>
        </p:nvSpPr>
        <p:spPr>
          <a:xfrm>
            <a:off x="6855450" y="2781025"/>
            <a:ext cx="1609800" cy="2125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root</a:t>
            </a:r>
            <a:r>
              <a:rPr lang="en"/>
              <a:t> name server</a:t>
            </a:r>
            <a:endParaRPr/>
          </a:p>
        </p:txBody>
      </p:sp>
      <p:grpSp>
        <p:nvGrpSpPr>
          <p:cNvPr id="237" name="Google Shape;237;p31"/>
          <p:cNvGrpSpPr/>
          <p:nvPr/>
        </p:nvGrpSpPr>
        <p:grpSpPr>
          <a:xfrm>
            <a:off x="1812250" y="2848638"/>
            <a:ext cx="4932000" cy="461213"/>
            <a:chOff x="1812250" y="2848638"/>
            <a:chExt cx="4932000" cy="461213"/>
          </a:xfrm>
        </p:grpSpPr>
        <p:cxnSp>
          <p:nvCxnSpPr>
            <p:cNvPr id="238" name="Google Shape;238;p31"/>
            <p:cNvCxnSpPr/>
            <p:nvPr/>
          </p:nvCxnSpPr>
          <p:spPr>
            <a:xfrm rot="10800000">
              <a:off x="1812250" y="3309850"/>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239" name="Google Shape;239;p31"/>
            <p:cNvSpPr txBox="1"/>
            <p:nvPr/>
          </p:nvSpPr>
          <p:spPr>
            <a:xfrm>
              <a:off x="2464600" y="2848638"/>
              <a:ext cx="37968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grpSp>
      <p:grpSp>
        <p:nvGrpSpPr>
          <p:cNvPr id="240" name="Google Shape;240;p31"/>
          <p:cNvGrpSpPr/>
          <p:nvPr/>
        </p:nvGrpSpPr>
        <p:grpSpPr>
          <a:xfrm>
            <a:off x="1811207" y="3538450"/>
            <a:ext cx="4932000" cy="1352650"/>
            <a:chOff x="1811207" y="3538450"/>
            <a:chExt cx="4932000" cy="1352650"/>
          </a:xfrm>
        </p:grpSpPr>
        <p:cxnSp>
          <p:nvCxnSpPr>
            <p:cNvPr id="241" name="Google Shape;241;p31"/>
            <p:cNvCxnSpPr/>
            <p:nvPr/>
          </p:nvCxnSpPr>
          <p:spPr>
            <a:xfrm rot="10800000">
              <a:off x="1811207" y="353845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242" name="Google Shape;242;p31"/>
            <p:cNvSpPr txBox="1"/>
            <p:nvPr/>
          </p:nvSpPr>
          <p:spPr>
            <a:xfrm>
              <a:off x="2206425" y="3598100"/>
              <a:ext cx="4281000" cy="12930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I don’t know, but you should ask the </a:t>
              </a:r>
              <a:r>
                <a:rPr b="1" lang="en" sz="1200">
                  <a:solidFill>
                    <a:schemeClr val="dk1"/>
                  </a:solidFill>
                  <a:latin typeface="Courier New"/>
                  <a:ea typeface="Courier New"/>
                  <a:cs typeface="Courier New"/>
                  <a:sym typeface="Courier New"/>
                </a:rPr>
                <a:t>.edu</a:t>
              </a:r>
              <a:r>
                <a:rPr lang="en" sz="1200">
                  <a:solidFill>
                    <a:schemeClr val="dk1"/>
                  </a:solidFill>
                </a:rPr>
                <a:t> name server.</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a signature on the the public key of the </a:t>
              </a:r>
              <a:r>
                <a:rPr b="1" lang="en" sz="1200">
                  <a:solidFill>
                    <a:schemeClr val="dk1"/>
                  </a:solidFill>
                  <a:latin typeface="Courier New"/>
                  <a:ea typeface="Courier New"/>
                  <a:cs typeface="Courier New"/>
                  <a:sym typeface="Courier New"/>
                </a:rPr>
                <a:t>.edu</a:t>
              </a:r>
              <a:r>
                <a:rPr lang="en" sz="1200">
                  <a:solidFill>
                    <a:schemeClr val="dk1"/>
                  </a:solidFill>
                </a:rPr>
                <a:t> name server. If you trust me, then now you trust them too.</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my public key so you can verify the signature.</a:t>
              </a:r>
              <a:endParaRPr sz="12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DNSSEC: Design Details</a:t>
            </a:r>
            <a:endParaRPr/>
          </a:p>
        </p:txBody>
      </p:sp>
      <p:sp>
        <p:nvSpPr>
          <p:cNvPr id="248" name="Google Shape;248;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Idea #1: Sign Records</a:t>
            </a:r>
            <a:endParaRPr/>
          </a:p>
        </p:txBody>
      </p:sp>
      <p:sp>
        <p:nvSpPr>
          <p:cNvPr id="254" name="Google Shape;254;p3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Digital signatures provide integrity</a:t>
            </a:r>
            <a:endParaRPr/>
          </a:p>
          <a:p>
            <a:pPr indent="-317500" lvl="1" marL="914400" rtl="0" algn="l">
              <a:spcBef>
                <a:spcPts val="0"/>
              </a:spcBef>
              <a:spcAft>
                <a:spcPts val="0"/>
              </a:spcAft>
              <a:buSzPts val="1400"/>
              <a:buChar char="○"/>
            </a:pPr>
            <a:r>
              <a:rPr lang="en"/>
              <a:t>Only the name server with the private key can generate signatures</a:t>
            </a:r>
            <a:endParaRPr/>
          </a:p>
          <a:p>
            <a:pPr indent="-317500" lvl="1" marL="914400" rtl="0" algn="l">
              <a:spcBef>
                <a:spcPts val="0"/>
              </a:spcBef>
              <a:spcAft>
                <a:spcPts val="0"/>
              </a:spcAft>
              <a:buSzPts val="1400"/>
              <a:buChar char="○"/>
            </a:pPr>
            <a:r>
              <a:rPr lang="en"/>
              <a:t>Everybody can verify </a:t>
            </a:r>
            <a:r>
              <a:rPr lang="en"/>
              <a:t>signatures</a:t>
            </a:r>
            <a:r>
              <a:rPr lang="en"/>
              <a:t> with the public key</a:t>
            </a:r>
            <a:endParaRPr/>
          </a:p>
          <a:p>
            <a:pPr indent="-342900" lvl="0" marL="457200" rtl="0" algn="l">
              <a:spcBef>
                <a:spcPts val="0"/>
              </a:spcBef>
              <a:spcAft>
                <a:spcPts val="0"/>
              </a:spcAft>
              <a:buSzPts val="1800"/>
              <a:buChar char="●"/>
            </a:pPr>
            <a:r>
              <a:rPr lang="en"/>
              <a:t>Digital signatures defeat network attackers</a:t>
            </a:r>
            <a:endParaRPr/>
          </a:p>
          <a:p>
            <a:pPr indent="-317500" lvl="1" marL="914400" rtl="0" algn="l">
              <a:spcBef>
                <a:spcPts val="0"/>
              </a:spcBef>
              <a:spcAft>
                <a:spcPts val="0"/>
              </a:spcAft>
              <a:buSzPts val="1400"/>
              <a:buChar char="○"/>
            </a:pPr>
            <a:r>
              <a:rPr lang="en"/>
              <a:t>An off-path, on-path, or MITM attacker can no longer tamper with records</a:t>
            </a:r>
            <a:endParaRPr/>
          </a:p>
          <a:p>
            <a:pPr indent="-317500" lvl="1" marL="914400" rtl="0" algn="l">
              <a:spcBef>
                <a:spcPts val="0"/>
              </a:spcBef>
              <a:spcAft>
                <a:spcPts val="0"/>
              </a:spcAft>
              <a:buSzPts val="1400"/>
              <a:buChar char="○"/>
            </a:pPr>
            <a:r>
              <a:rPr lang="en"/>
              <a:t>The recursive resolver can no longer tamper with records</a:t>
            </a:r>
            <a:endParaRPr/>
          </a:p>
          <a:p>
            <a:pPr indent="-342900" lvl="0" marL="457200" rtl="0" algn="l">
              <a:spcBef>
                <a:spcPts val="0"/>
              </a:spcBef>
              <a:spcAft>
                <a:spcPts val="0"/>
              </a:spcAft>
              <a:buSzPts val="1800"/>
              <a:buChar char="●"/>
            </a:pPr>
            <a:r>
              <a:rPr lang="en"/>
              <a:t>Signatures can be cached with the records for object security</a:t>
            </a:r>
            <a:endParaRPr/>
          </a:p>
          <a:p>
            <a:pPr indent="-317500" lvl="1" marL="914400" rtl="0" algn="l">
              <a:spcBef>
                <a:spcPts val="0"/>
              </a:spcBef>
              <a:spcAft>
                <a:spcPts val="0"/>
              </a:spcAft>
              <a:buSzPts val="1400"/>
              <a:buChar char="○"/>
            </a:pPr>
            <a:r>
              <a:rPr lang="en"/>
              <a:t>Any time we fetch a record from the cache, we can verify its integrity</a:t>
            </a:r>
            <a:endParaRPr/>
          </a:p>
        </p:txBody>
      </p:sp>
      <p:sp>
        <p:nvSpPr>
          <p:cNvPr id="255" name="Google Shape;255;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Idea #2: Public-Key Infrastructure (PKI)</a:t>
            </a:r>
            <a:endParaRPr/>
          </a:p>
        </p:txBody>
      </p:sp>
      <p:sp>
        <p:nvSpPr>
          <p:cNvPr id="261" name="Google Shape;261;p3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Name servers are arranged in a hierarchy, as in ordinary DNS</a:t>
            </a:r>
            <a:endParaRPr/>
          </a:p>
          <a:p>
            <a:pPr indent="-342900" lvl="0" marL="457200" rtl="0" algn="l">
              <a:spcBef>
                <a:spcPts val="0"/>
              </a:spcBef>
              <a:spcAft>
                <a:spcPts val="0"/>
              </a:spcAft>
              <a:buSzPts val="1800"/>
              <a:buChar char="●"/>
            </a:pPr>
            <a:r>
              <a:rPr lang="en"/>
              <a:t>Parents can delegate trust to children</a:t>
            </a:r>
            <a:endParaRPr/>
          </a:p>
          <a:p>
            <a:pPr indent="-317500" lvl="1" marL="914400" rtl="0" algn="l">
              <a:spcBef>
                <a:spcPts val="0"/>
              </a:spcBef>
              <a:spcAft>
                <a:spcPts val="0"/>
              </a:spcAft>
              <a:buSzPts val="1400"/>
              <a:buChar char="○"/>
            </a:pPr>
            <a:r>
              <a:rPr lang="en"/>
              <a:t>The parent signs the child’s public key to delegate trust to the child</a:t>
            </a:r>
            <a:endParaRPr/>
          </a:p>
          <a:p>
            <a:pPr indent="-317500" lvl="1" marL="914400" rtl="0" algn="l">
              <a:spcBef>
                <a:spcPts val="0"/>
              </a:spcBef>
              <a:spcAft>
                <a:spcPts val="0"/>
              </a:spcAft>
              <a:buSzPts val="1400"/>
              <a:buChar char="○"/>
            </a:pPr>
            <a:r>
              <a:rPr lang="en"/>
              <a:t>If you trust the parent name server, then now you trust the child name server</a:t>
            </a:r>
            <a:endParaRPr/>
          </a:p>
          <a:p>
            <a:pPr indent="-342900" lvl="0" marL="457200" rtl="0" algn="l">
              <a:spcBef>
                <a:spcPts val="0"/>
              </a:spcBef>
              <a:spcAft>
                <a:spcPts val="0"/>
              </a:spcAft>
              <a:buSzPts val="1800"/>
              <a:buChar char="●"/>
            </a:pPr>
            <a:r>
              <a:rPr lang="en"/>
              <a:t>Trust anchor: We implicitly trust the root name server</a:t>
            </a:r>
            <a:endParaRPr/>
          </a:p>
          <a:p>
            <a:pPr indent="-317500" lvl="1" marL="914400" rtl="0" algn="l">
              <a:spcBef>
                <a:spcPts val="0"/>
              </a:spcBef>
              <a:spcAft>
                <a:spcPts val="0"/>
              </a:spcAft>
              <a:buSzPts val="1400"/>
              <a:buChar char="○"/>
            </a:pPr>
            <a:r>
              <a:rPr lang="en"/>
              <a:t>The root name server’s public key is hard-coded into resolvers</a:t>
            </a:r>
            <a:endParaRPr/>
          </a:p>
          <a:p>
            <a:pPr indent="-342900" lvl="0" marL="457200" rtl="0" algn="l">
              <a:spcBef>
                <a:spcPts val="0"/>
              </a:spcBef>
              <a:spcAft>
                <a:spcPts val="0"/>
              </a:spcAft>
              <a:buSzPts val="1800"/>
              <a:buChar char="●"/>
            </a:pPr>
            <a:r>
              <a:rPr lang="en"/>
              <a:t>PKI defeats malicious name servers</a:t>
            </a:r>
            <a:endParaRPr/>
          </a:p>
          <a:p>
            <a:pPr indent="-317500" lvl="1" marL="914400" rtl="0" algn="l">
              <a:spcBef>
                <a:spcPts val="0"/>
              </a:spcBef>
              <a:spcAft>
                <a:spcPts val="0"/>
              </a:spcAft>
              <a:buSzPts val="1400"/>
              <a:buChar char="○"/>
            </a:pPr>
            <a:r>
              <a:rPr lang="en"/>
              <a:t>A malicious name server (assuming they don’t have access to the private key, only the signatures) won’t have a valid chain of trust back to the root</a:t>
            </a:r>
            <a:endParaRPr/>
          </a:p>
        </p:txBody>
      </p:sp>
      <p:sp>
        <p:nvSpPr>
          <p:cNvPr id="262" name="Google Shape;26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DNSSEC Lookup (Attempt #1)</a:t>
            </a:r>
            <a:endParaRPr/>
          </a:p>
        </p:txBody>
      </p:sp>
      <p:sp>
        <p:nvSpPr>
          <p:cNvPr id="268" name="Google Shape;268;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9" name="Google Shape;269;p35"/>
          <p:cNvSpPr txBox="1"/>
          <p:nvPr/>
        </p:nvSpPr>
        <p:spPr>
          <a:xfrm>
            <a:off x="488250" y="1372800"/>
            <a:ext cx="12381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270" name="Google Shape;270;p35"/>
          <p:cNvSpPr txBox="1"/>
          <p:nvPr/>
        </p:nvSpPr>
        <p:spPr>
          <a:xfrm>
            <a:off x="6855450" y="1372825"/>
            <a:ext cx="16098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root name server</a:t>
            </a:r>
            <a:endParaRPr/>
          </a:p>
        </p:txBody>
      </p:sp>
      <p:grpSp>
        <p:nvGrpSpPr>
          <p:cNvPr id="271" name="Google Shape;271;p35"/>
          <p:cNvGrpSpPr/>
          <p:nvPr/>
        </p:nvGrpSpPr>
        <p:grpSpPr>
          <a:xfrm>
            <a:off x="1811200" y="1458013"/>
            <a:ext cx="4932000" cy="461213"/>
            <a:chOff x="1811200" y="1458013"/>
            <a:chExt cx="4932000" cy="461213"/>
          </a:xfrm>
        </p:grpSpPr>
        <p:cxnSp>
          <p:nvCxnSpPr>
            <p:cNvPr id="272" name="Google Shape;272;p35"/>
            <p:cNvCxnSpPr/>
            <p:nvPr/>
          </p:nvCxnSpPr>
          <p:spPr>
            <a:xfrm rot="10800000">
              <a:off x="1811200" y="1919225"/>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273" name="Google Shape;273;p35"/>
            <p:cNvSpPr txBox="1"/>
            <p:nvPr/>
          </p:nvSpPr>
          <p:spPr>
            <a:xfrm>
              <a:off x="2463550" y="1458013"/>
              <a:ext cx="37968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grpSp>
      <p:grpSp>
        <p:nvGrpSpPr>
          <p:cNvPr id="274" name="Google Shape;274;p35"/>
          <p:cNvGrpSpPr/>
          <p:nvPr/>
        </p:nvGrpSpPr>
        <p:grpSpPr>
          <a:xfrm>
            <a:off x="1824907" y="2183500"/>
            <a:ext cx="4932000" cy="1352650"/>
            <a:chOff x="1824907" y="2183500"/>
            <a:chExt cx="4932000" cy="1352650"/>
          </a:xfrm>
        </p:grpSpPr>
        <p:cxnSp>
          <p:nvCxnSpPr>
            <p:cNvPr id="275" name="Google Shape;275;p35"/>
            <p:cNvCxnSpPr/>
            <p:nvPr/>
          </p:nvCxnSpPr>
          <p:spPr>
            <a:xfrm rot="10800000">
              <a:off x="1824907" y="218350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276" name="Google Shape;276;p35"/>
            <p:cNvSpPr txBox="1"/>
            <p:nvPr/>
          </p:nvSpPr>
          <p:spPr>
            <a:xfrm>
              <a:off x="2220125" y="2243150"/>
              <a:ext cx="4281000" cy="12930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I don’t know, but you should ask the </a:t>
              </a:r>
              <a:r>
                <a:rPr b="1" lang="en" sz="1200">
                  <a:solidFill>
                    <a:schemeClr val="dk1"/>
                  </a:solidFill>
                  <a:latin typeface="Courier New"/>
                  <a:ea typeface="Courier New"/>
                  <a:cs typeface="Courier New"/>
                  <a:sym typeface="Courier New"/>
                </a:rPr>
                <a:t>.edu</a:t>
              </a:r>
              <a:r>
                <a:rPr lang="en" sz="1200">
                  <a:solidFill>
                    <a:schemeClr val="dk1"/>
                  </a:solidFill>
                </a:rPr>
                <a:t> name server.</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Here is a signature on the public key of the </a:t>
              </a:r>
              <a:r>
                <a:rPr b="1" lang="en" sz="1200">
                  <a:solidFill>
                    <a:schemeClr val="dk1"/>
                  </a:solidFill>
                  <a:latin typeface="Courier New"/>
                  <a:ea typeface="Courier New"/>
                  <a:cs typeface="Courier New"/>
                  <a:sym typeface="Courier New"/>
                </a:rPr>
                <a:t>.edu</a:t>
              </a:r>
              <a:r>
                <a:rPr lang="en" sz="1200">
                  <a:solidFill>
                    <a:schemeClr val="dk1"/>
                  </a:solidFill>
                </a:rPr>
                <a:t> name server. If you trust me, then now you trust them too.</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Here is my public key so you can verify the signature.</a:t>
              </a:r>
              <a:endParaRPr sz="12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DNSSEC Lookup </a:t>
            </a:r>
            <a:r>
              <a:rPr lang="en"/>
              <a:t>(Attempt #1)</a:t>
            </a:r>
            <a:endParaRPr/>
          </a:p>
        </p:txBody>
      </p:sp>
      <p:sp>
        <p:nvSpPr>
          <p:cNvPr id="282" name="Google Shape;282;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36"/>
          <p:cNvSpPr txBox="1"/>
          <p:nvPr/>
        </p:nvSpPr>
        <p:spPr>
          <a:xfrm>
            <a:off x="488250" y="1372800"/>
            <a:ext cx="12381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284" name="Google Shape;284;p36"/>
          <p:cNvSpPr txBox="1"/>
          <p:nvPr/>
        </p:nvSpPr>
        <p:spPr>
          <a:xfrm>
            <a:off x="6855450" y="1372825"/>
            <a:ext cx="16098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urier New"/>
                <a:ea typeface="Courier New"/>
                <a:cs typeface="Courier New"/>
                <a:sym typeface="Courier New"/>
              </a:rPr>
              <a:t>.edu</a:t>
            </a:r>
            <a:r>
              <a:rPr lang="en"/>
              <a:t> </a:t>
            </a:r>
            <a:r>
              <a:rPr lang="en"/>
              <a:t>name server</a:t>
            </a:r>
            <a:endParaRPr/>
          </a:p>
        </p:txBody>
      </p:sp>
      <p:grpSp>
        <p:nvGrpSpPr>
          <p:cNvPr id="285" name="Google Shape;285;p36"/>
          <p:cNvGrpSpPr/>
          <p:nvPr/>
        </p:nvGrpSpPr>
        <p:grpSpPr>
          <a:xfrm>
            <a:off x="1811200" y="1458013"/>
            <a:ext cx="4932000" cy="461213"/>
            <a:chOff x="1811200" y="1458013"/>
            <a:chExt cx="4932000" cy="461213"/>
          </a:xfrm>
        </p:grpSpPr>
        <p:cxnSp>
          <p:nvCxnSpPr>
            <p:cNvPr id="286" name="Google Shape;286;p36"/>
            <p:cNvCxnSpPr/>
            <p:nvPr/>
          </p:nvCxnSpPr>
          <p:spPr>
            <a:xfrm rot="10800000">
              <a:off x="1811200" y="1919225"/>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287" name="Google Shape;287;p36"/>
            <p:cNvSpPr txBox="1"/>
            <p:nvPr/>
          </p:nvSpPr>
          <p:spPr>
            <a:xfrm>
              <a:off x="2463550" y="1458013"/>
              <a:ext cx="37968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grpSp>
      <p:grpSp>
        <p:nvGrpSpPr>
          <p:cNvPr id="288" name="Google Shape;288;p36"/>
          <p:cNvGrpSpPr/>
          <p:nvPr/>
        </p:nvGrpSpPr>
        <p:grpSpPr>
          <a:xfrm>
            <a:off x="1824907" y="2183500"/>
            <a:ext cx="4932000" cy="1352650"/>
            <a:chOff x="1824907" y="2183500"/>
            <a:chExt cx="4932000" cy="1352650"/>
          </a:xfrm>
        </p:grpSpPr>
        <p:cxnSp>
          <p:nvCxnSpPr>
            <p:cNvPr id="289" name="Google Shape;289;p36"/>
            <p:cNvCxnSpPr/>
            <p:nvPr/>
          </p:nvCxnSpPr>
          <p:spPr>
            <a:xfrm rot="10800000">
              <a:off x="1824907" y="218350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290" name="Google Shape;290;p36"/>
            <p:cNvSpPr txBox="1"/>
            <p:nvPr/>
          </p:nvSpPr>
          <p:spPr>
            <a:xfrm>
              <a:off x="1996775" y="2243150"/>
              <a:ext cx="4746300" cy="12930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I don’t know, but you should ask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Here is a signature on the public key of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 If you trust me, then now you trust them too.</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Here is my public key so you can verify the signature.</a:t>
              </a:r>
              <a:endParaRPr sz="12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DNSSEC Lookup </a:t>
            </a:r>
            <a:r>
              <a:rPr lang="en"/>
              <a:t>(Attempt #1)</a:t>
            </a:r>
            <a:endParaRPr/>
          </a:p>
        </p:txBody>
      </p:sp>
      <p:sp>
        <p:nvSpPr>
          <p:cNvPr id="296" name="Google Shape;296;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37"/>
          <p:cNvSpPr txBox="1"/>
          <p:nvPr/>
        </p:nvSpPr>
        <p:spPr>
          <a:xfrm>
            <a:off x="488250" y="1372800"/>
            <a:ext cx="12381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298" name="Google Shape;298;p37"/>
          <p:cNvSpPr txBox="1"/>
          <p:nvPr/>
        </p:nvSpPr>
        <p:spPr>
          <a:xfrm>
            <a:off x="6855450" y="1372825"/>
            <a:ext cx="16098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urier New"/>
                <a:ea typeface="Courier New"/>
                <a:cs typeface="Courier New"/>
                <a:sym typeface="Courier New"/>
              </a:rPr>
              <a:t>berkeley</a:t>
            </a:r>
            <a:r>
              <a:rPr b="1" lang="en">
                <a:latin typeface="Courier New"/>
                <a:ea typeface="Courier New"/>
                <a:cs typeface="Courier New"/>
                <a:sym typeface="Courier New"/>
              </a:rPr>
              <a:t>.edu</a:t>
            </a:r>
            <a:r>
              <a:rPr lang="en"/>
              <a:t> name server</a:t>
            </a:r>
            <a:endParaRPr/>
          </a:p>
        </p:txBody>
      </p:sp>
      <p:grpSp>
        <p:nvGrpSpPr>
          <p:cNvPr id="299" name="Google Shape;299;p37"/>
          <p:cNvGrpSpPr/>
          <p:nvPr/>
        </p:nvGrpSpPr>
        <p:grpSpPr>
          <a:xfrm>
            <a:off x="1811200" y="1458013"/>
            <a:ext cx="4932000" cy="461213"/>
            <a:chOff x="1811200" y="1458013"/>
            <a:chExt cx="4932000" cy="461213"/>
          </a:xfrm>
        </p:grpSpPr>
        <p:cxnSp>
          <p:nvCxnSpPr>
            <p:cNvPr id="300" name="Google Shape;300;p37"/>
            <p:cNvCxnSpPr/>
            <p:nvPr/>
          </p:nvCxnSpPr>
          <p:spPr>
            <a:xfrm rot="10800000">
              <a:off x="1811200" y="1919225"/>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301" name="Google Shape;301;p37"/>
            <p:cNvSpPr txBox="1"/>
            <p:nvPr/>
          </p:nvSpPr>
          <p:spPr>
            <a:xfrm>
              <a:off x="2463550" y="1458013"/>
              <a:ext cx="37968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grpSp>
      <p:grpSp>
        <p:nvGrpSpPr>
          <p:cNvPr id="302" name="Google Shape;302;p37"/>
          <p:cNvGrpSpPr/>
          <p:nvPr/>
        </p:nvGrpSpPr>
        <p:grpSpPr>
          <a:xfrm>
            <a:off x="1824907" y="2183500"/>
            <a:ext cx="4932000" cy="1370475"/>
            <a:chOff x="1824907" y="2183500"/>
            <a:chExt cx="4932000" cy="1370475"/>
          </a:xfrm>
        </p:grpSpPr>
        <p:cxnSp>
          <p:nvCxnSpPr>
            <p:cNvPr id="303" name="Google Shape;303;p37"/>
            <p:cNvCxnSpPr/>
            <p:nvPr/>
          </p:nvCxnSpPr>
          <p:spPr>
            <a:xfrm rot="10800000">
              <a:off x="1824907" y="218350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304" name="Google Shape;304;p37"/>
            <p:cNvSpPr txBox="1"/>
            <p:nvPr/>
          </p:nvSpPr>
          <p:spPr>
            <a:xfrm>
              <a:off x="2360650" y="2260975"/>
              <a:ext cx="3833100" cy="12930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A record: </a:t>
              </a:r>
              <a:r>
                <a:rPr lang="en" sz="1200">
                  <a:solidFill>
                    <a:schemeClr val="dk1"/>
                  </a:solidFill>
                </a:rPr>
                <a:t>“The IP address of </a:t>
              </a:r>
              <a:r>
                <a:rPr b="1" lang="en" sz="1200">
                  <a:solidFill>
                    <a:schemeClr val="dk1"/>
                  </a:solidFill>
                  <a:latin typeface="Courier New"/>
                  <a:ea typeface="Courier New"/>
                  <a:cs typeface="Courier New"/>
                  <a:sym typeface="Courier New"/>
                </a:rPr>
                <a:t>eecs.berkeley.edu</a:t>
              </a:r>
              <a:r>
                <a:rPr lang="en" sz="1200">
                  <a:solidFill>
                    <a:schemeClr val="dk1"/>
                  </a:solidFill>
                </a:rPr>
                <a:t> is </a:t>
              </a:r>
              <a:r>
                <a:rPr b="1" lang="en" sz="1200">
                  <a:solidFill>
                    <a:schemeClr val="dk1"/>
                  </a:solidFill>
                  <a:latin typeface="Courier New"/>
                  <a:ea typeface="Courier New"/>
                  <a:cs typeface="Courier New"/>
                  <a:sym typeface="Courier New"/>
                </a:rPr>
                <a:t>23.185.0.1</a:t>
              </a:r>
              <a:r>
                <a:rPr lang="en" sz="1200">
                  <a:solidFill>
                    <a:schemeClr val="dk1"/>
                  </a:solidFill>
                </a:rPr>
                <a: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a signature on the above record.</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Here is my public key so you can verify the signature.</a:t>
              </a:r>
              <a:endParaRPr sz="12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8" name="Shape 308"/>
        <p:cNvGrpSpPr/>
        <p:nvPr/>
      </p:nvGrpSpPr>
      <p:grpSpPr>
        <a:xfrm>
          <a:off x="0" y="0"/>
          <a:ext cx="0" cy="0"/>
          <a:chOff x="0" y="0"/>
          <a:chExt cx="0" cy="0"/>
        </a:xfrm>
      </p:grpSpPr>
      <p:sp>
        <p:nvSpPr>
          <p:cNvPr id="309" name="Google Shape;309;p3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DNSSEC: Implementation</a:t>
            </a:r>
            <a:endParaRPr/>
          </a:p>
        </p:txBody>
      </p:sp>
      <p:sp>
        <p:nvSpPr>
          <p:cNvPr id="310" name="Google Shape;310;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4" name="Shape 314"/>
        <p:cNvGrpSpPr/>
        <p:nvPr/>
      </p:nvGrpSpPr>
      <p:grpSpPr>
        <a:xfrm>
          <a:off x="0" y="0"/>
          <a:ext cx="0" cy="0"/>
          <a:chOff x="0" y="0"/>
          <a:chExt cx="0" cy="0"/>
        </a:xfrm>
      </p:grpSpPr>
      <p:sp>
        <p:nvSpPr>
          <p:cNvPr id="315" name="Google Shape;315;p3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Warning: Unfiltered DNSSEC Ahead</a:t>
            </a:r>
            <a:endParaRPr/>
          </a:p>
        </p:txBody>
      </p:sp>
      <p:sp>
        <p:nvSpPr>
          <p:cNvPr id="316" name="Google Shape;316;p3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We’re now going to show you the entire DNSSEC protocol, with all its implementation details and edge cases.</a:t>
            </a:r>
            <a:endParaRPr/>
          </a:p>
          <a:p>
            <a:pPr indent="-342900" lvl="0" marL="457200" rtl="0" algn="l">
              <a:spcBef>
                <a:spcPts val="0"/>
              </a:spcBef>
              <a:spcAft>
                <a:spcPts val="0"/>
              </a:spcAft>
              <a:buSzPts val="1800"/>
              <a:buChar char="●"/>
            </a:pPr>
            <a:r>
              <a:rPr lang="en"/>
              <a:t>Some parts are less important for the intuition of DNSSEC and won’t be tested on exams. We’re going to highlight these parts in blue.</a:t>
            </a:r>
            <a:endParaRPr/>
          </a:p>
        </p:txBody>
      </p:sp>
      <p:sp>
        <p:nvSpPr>
          <p:cNvPr id="317" name="Google Shape;31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1" name="Shape 321"/>
        <p:cNvGrpSpPr/>
        <p:nvPr/>
      </p:nvGrpSpPr>
      <p:grpSpPr>
        <a:xfrm>
          <a:off x="0" y="0"/>
          <a:ext cx="0" cy="0"/>
          <a:chOff x="0" y="0"/>
          <a:chExt cx="0" cy="0"/>
        </a:xfrm>
      </p:grpSpPr>
      <p:sp>
        <p:nvSpPr>
          <p:cNvPr id="322" name="Google Shape;322;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Review: DNS Packet Format</a:t>
            </a:r>
            <a:endParaRPr/>
          </a:p>
        </p:txBody>
      </p:sp>
      <p:sp>
        <p:nvSpPr>
          <p:cNvPr id="323" name="Google Shape;323;p40"/>
          <p:cNvSpPr txBox="1"/>
          <p:nvPr>
            <p:ph idx="1" type="body"/>
          </p:nvPr>
        </p:nvSpPr>
        <p:spPr>
          <a:xfrm>
            <a:off x="198500" y="1246825"/>
            <a:ext cx="5142600" cy="3765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DNS header contains metadata about the query (e.g. ID number, flags)</a:t>
            </a:r>
            <a:endParaRPr/>
          </a:p>
          <a:p>
            <a:pPr indent="-342900" lvl="0" marL="457200" rtl="0" algn="l">
              <a:spcBef>
                <a:spcPts val="0"/>
              </a:spcBef>
              <a:spcAft>
                <a:spcPts val="0"/>
              </a:spcAft>
              <a:buSzPts val="1800"/>
              <a:buChar char="●"/>
            </a:pPr>
            <a:r>
              <a:rPr lang="en"/>
              <a:t>There are 8 bits for flags</a:t>
            </a:r>
            <a:endParaRPr/>
          </a:p>
        </p:txBody>
      </p:sp>
      <p:sp>
        <p:nvSpPr>
          <p:cNvPr id="324" name="Google Shape;32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325" name="Google Shape;325;p40"/>
          <p:cNvGraphicFramePr/>
          <p:nvPr/>
        </p:nvGraphicFramePr>
        <p:xfrm>
          <a:off x="5417350" y="1377075"/>
          <a:ext cx="3000000" cy="3000000"/>
        </p:xfrm>
        <a:graphic>
          <a:graphicData uri="http://schemas.openxmlformats.org/drawingml/2006/table">
            <a:tbl>
              <a:tblPr>
                <a:noFill/>
                <a:tableStyleId>{1AF2B5D6-C490-41FC-B5EB-5FA7F84E0A47}</a:tableStyleId>
              </a:tblPr>
              <a:tblGrid>
                <a:gridCol w="1451350"/>
                <a:gridCol w="1451350"/>
              </a:tblGrid>
              <a:tr h="396200">
                <a:tc>
                  <a:txBody>
                    <a:bodyPr/>
                    <a:lstStyle/>
                    <a:p>
                      <a:pPr indent="0" lvl="0" marL="0" rtl="0" algn="ctr">
                        <a:spcBef>
                          <a:spcPts val="0"/>
                        </a:spcBef>
                        <a:spcAft>
                          <a:spcPts val="0"/>
                        </a:spcAft>
                        <a:buNone/>
                      </a:pPr>
                      <a:r>
                        <a:rPr lang="en">
                          <a:solidFill>
                            <a:schemeClr val="dk1"/>
                          </a:solidFill>
                        </a:rPr>
                        <a:t>Source Port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Destination Port</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Checksum</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Length</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ID number</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Flags</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Question count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Answer count</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Authority count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Additional count</a:t>
                      </a:r>
                      <a:endParaRPr>
                        <a:solidFill>
                          <a:schemeClr val="dk1"/>
                        </a:solidFill>
                      </a:endParaRPr>
                    </a:p>
                  </a:txBody>
                  <a:tcPr marT="91425" marB="91425" marR="91425" marL="91425"/>
                </a:tc>
              </a:tr>
              <a:tr h="396200">
                <a:tc gridSpan="2">
                  <a:txBody>
                    <a:bodyPr/>
                    <a:lstStyle/>
                    <a:p>
                      <a:pPr indent="0" lvl="0" marL="0" rtl="0" algn="ctr">
                        <a:spcBef>
                          <a:spcPts val="0"/>
                        </a:spcBef>
                        <a:spcAft>
                          <a:spcPts val="0"/>
                        </a:spcAft>
                        <a:buNone/>
                      </a:pPr>
                      <a:r>
                        <a:rPr lang="en">
                          <a:solidFill>
                            <a:schemeClr val="dk1"/>
                          </a:solidFill>
                        </a:rPr>
                        <a:t>Question Records</a:t>
                      </a:r>
                      <a:endParaRPr>
                        <a:solidFill>
                          <a:schemeClr val="dk1"/>
                        </a:solidFill>
                      </a:endParaRPr>
                    </a:p>
                  </a:txBody>
                  <a:tcPr marT="91425" marB="91425" marR="91425" marL="91425"/>
                </a:tc>
                <a:tc hMerge="1"/>
              </a:tr>
              <a:tr h="396200">
                <a:tc gridSpan="2">
                  <a:txBody>
                    <a:bodyPr/>
                    <a:lstStyle/>
                    <a:p>
                      <a:pPr indent="0" lvl="0" marL="0" rtl="0" algn="ctr">
                        <a:spcBef>
                          <a:spcPts val="0"/>
                        </a:spcBef>
                        <a:spcAft>
                          <a:spcPts val="0"/>
                        </a:spcAft>
                        <a:buNone/>
                      </a:pPr>
                      <a:r>
                        <a:rPr lang="en">
                          <a:solidFill>
                            <a:schemeClr val="dk1"/>
                          </a:solidFill>
                        </a:rPr>
                        <a:t>Answer Records</a:t>
                      </a:r>
                      <a:endParaRPr>
                        <a:solidFill>
                          <a:schemeClr val="dk1"/>
                        </a:solidFill>
                      </a:endParaRPr>
                    </a:p>
                  </a:txBody>
                  <a:tcPr marT="91425" marB="91425" marR="91425" marL="91425"/>
                </a:tc>
                <a:tc hMerge="1"/>
              </a:tr>
              <a:tr h="396200">
                <a:tc gridSpan="2">
                  <a:txBody>
                    <a:bodyPr/>
                    <a:lstStyle/>
                    <a:p>
                      <a:pPr indent="0" lvl="0" marL="0" rtl="0" algn="ctr">
                        <a:spcBef>
                          <a:spcPts val="0"/>
                        </a:spcBef>
                        <a:spcAft>
                          <a:spcPts val="0"/>
                        </a:spcAft>
                        <a:buNone/>
                      </a:pPr>
                      <a:r>
                        <a:rPr lang="en">
                          <a:solidFill>
                            <a:schemeClr val="dk1"/>
                          </a:solidFill>
                        </a:rPr>
                        <a:t>Authority Records</a:t>
                      </a:r>
                      <a:endParaRPr>
                        <a:solidFill>
                          <a:schemeClr val="dk1"/>
                        </a:solidFill>
                      </a:endParaRPr>
                    </a:p>
                  </a:txBody>
                  <a:tcPr marT="91425" marB="91425" marR="91425" marL="91425"/>
                </a:tc>
                <a:tc hMerge="1"/>
              </a:tr>
              <a:tr h="396200">
                <a:tc gridSpan="2">
                  <a:txBody>
                    <a:bodyPr/>
                    <a:lstStyle/>
                    <a:p>
                      <a:pPr indent="0" lvl="0" marL="0" rtl="0" algn="ctr">
                        <a:spcBef>
                          <a:spcPts val="0"/>
                        </a:spcBef>
                        <a:spcAft>
                          <a:spcPts val="0"/>
                        </a:spcAft>
                        <a:buNone/>
                      </a:pPr>
                      <a:r>
                        <a:rPr lang="en">
                          <a:solidFill>
                            <a:schemeClr val="dk1"/>
                          </a:solidFill>
                        </a:rPr>
                        <a:t>Additional Records</a:t>
                      </a:r>
                      <a:endParaRPr>
                        <a:solidFill>
                          <a:schemeClr val="dk1"/>
                        </a:solidFill>
                      </a:endParaRPr>
                    </a:p>
                  </a:txBody>
                  <a:tcPr marT="91425" marB="91425" marR="91425" marL="91425"/>
                </a:tc>
                <a:tc hMerge="1"/>
              </a:tr>
            </a:tbl>
          </a:graphicData>
        </a:graphic>
      </p:graphicFrame>
      <p:sp>
        <p:nvSpPr>
          <p:cNvPr id="326" name="Google Shape;326;p40"/>
          <p:cNvSpPr txBox="1"/>
          <p:nvPr/>
        </p:nvSpPr>
        <p:spPr>
          <a:xfrm rot="5400000">
            <a:off x="7731600" y="3957800"/>
            <a:ext cx="1577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DNS Payload</a:t>
            </a:r>
            <a:endParaRPr/>
          </a:p>
        </p:txBody>
      </p:sp>
      <p:sp>
        <p:nvSpPr>
          <p:cNvPr id="327" name="Google Shape;327;p40"/>
          <p:cNvSpPr txBox="1"/>
          <p:nvPr/>
        </p:nvSpPr>
        <p:spPr>
          <a:xfrm rot="5400000">
            <a:off x="8230950" y="1466175"/>
            <a:ext cx="793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UDP Header</a:t>
            </a:r>
            <a:endParaRPr/>
          </a:p>
        </p:txBody>
      </p:sp>
      <p:sp>
        <p:nvSpPr>
          <p:cNvPr id="328" name="Google Shape;328;p40"/>
          <p:cNvSpPr txBox="1"/>
          <p:nvPr/>
        </p:nvSpPr>
        <p:spPr>
          <a:xfrm rot="5400000">
            <a:off x="7920900" y="2553300"/>
            <a:ext cx="1198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DNS Header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2" name="Shape 332"/>
        <p:cNvGrpSpPr/>
        <p:nvPr/>
      </p:nvGrpSpPr>
      <p:grpSpPr>
        <a:xfrm>
          <a:off x="0" y="0"/>
          <a:ext cx="0" cy="0"/>
          <a:chOff x="0" y="0"/>
          <a:chExt cx="0" cy="0"/>
        </a:xfrm>
      </p:grpSpPr>
      <p:sp>
        <p:nvSpPr>
          <p:cNvPr id="333" name="Google Shape;333;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 Pseudosection</a:t>
            </a:r>
            <a:endParaRPr/>
          </a:p>
        </p:txBody>
      </p:sp>
      <p:sp>
        <p:nvSpPr>
          <p:cNvPr id="334" name="Google Shape;33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5" name="Google Shape;335;p4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Ordinary DNS has size limits</a:t>
            </a:r>
            <a:endParaRPr/>
          </a:p>
          <a:p>
            <a:pPr indent="-317500" lvl="1" marL="914400" rtl="0" algn="l">
              <a:spcBef>
                <a:spcPts val="0"/>
              </a:spcBef>
              <a:spcAft>
                <a:spcPts val="0"/>
              </a:spcAft>
              <a:buSzPts val="1400"/>
              <a:buChar char="○"/>
            </a:pPr>
            <a:r>
              <a:rPr lang="en"/>
              <a:t>8 bits for flags</a:t>
            </a:r>
            <a:endParaRPr/>
          </a:p>
          <a:p>
            <a:pPr indent="-317500" lvl="1" marL="914400" rtl="0" algn="l">
              <a:spcBef>
                <a:spcPts val="0"/>
              </a:spcBef>
              <a:spcAft>
                <a:spcPts val="0"/>
              </a:spcAft>
              <a:buSzPts val="1400"/>
              <a:buChar char="○"/>
            </a:pPr>
            <a:r>
              <a:rPr lang="en"/>
              <a:t>Messages are limited to 512 bytes</a:t>
            </a:r>
            <a:endParaRPr/>
          </a:p>
          <a:p>
            <a:pPr indent="-342900" lvl="0" marL="457200" rtl="0" algn="l">
              <a:spcBef>
                <a:spcPts val="0"/>
              </a:spcBef>
              <a:spcAft>
                <a:spcPts val="0"/>
              </a:spcAft>
              <a:buSzPts val="1800"/>
              <a:buChar char="●"/>
            </a:pPr>
            <a:r>
              <a:rPr lang="en"/>
              <a:t>DNSSEC messages exceed these limits</a:t>
            </a:r>
            <a:endParaRPr/>
          </a:p>
          <a:p>
            <a:pPr indent="-317500" lvl="1" marL="914400" rtl="0" algn="l">
              <a:spcBef>
                <a:spcPts val="0"/>
              </a:spcBef>
              <a:spcAft>
                <a:spcPts val="0"/>
              </a:spcAft>
              <a:buSzPts val="1400"/>
              <a:buChar char="○"/>
            </a:pPr>
            <a:r>
              <a:rPr lang="en"/>
              <a:t>Additional flags needed in DNSSEC</a:t>
            </a:r>
            <a:endParaRPr/>
          </a:p>
          <a:p>
            <a:pPr indent="-317500" lvl="2" marL="1371600" rtl="0" algn="l">
              <a:spcBef>
                <a:spcPts val="0"/>
              </a:spcBef>
              <a:spcAft>
                <a:spcPts val="0"/>
              </a:spcAft>
              <a:buSzPts val="1400"/>
              <a:buChar char="■"/>
            </a:pPr>
            <a:r>
              <a:rPr b="1" lang="en">
                <a:latin typeface="Courier New"/>
                <a:ea typeface="Courier New"/>
                <a:cs typeface="Courier New"/>
                <a:sym typeface="Courier New"/>
              </a:rPr>
              <a:t>DO</a:t>
            </a:r>
            <a:r>
              <a:rPr lang="en"/>
              <a:t> flag indicates we support DNSSEC and want DNSSEC records</a:t>
            </a:r>
            <a:endParaRPr/>
          </a:p>
          <a:p>
            <a:pPr indent="-317500" lvl="2" marL="1371600" rtl="0" algn="l">
              <a:spcBef>
                <a:spcPts val="0"/>
              </a:spcBef>
              <a:spcAft>
                <a:spcPts val="0"/>
              </a:spcAft>
              <a:buSzPts val="1400"/>
              <a:buChar char="■"/>
            </a:pPr>
            <a:r>
              <a:rPr b="1" lang="en">
                <a:latin typeface="Courier New"/>
                <a:ea typeface="Courier New"/>
                <a:cs typeface="Courier New"/>
                <a:sym typeface="Courier New"/>
              </a:rPr>
              <a:t>CD</a:t>
            </a:r>
            <a:r>
              <a:rPr lang="en"/>
              <a:t> flag indicates we support DNSSEC, but we don’t want to verify the DNSSEC signatures for now</a:t>
            </a:r>
            <a:endParaRPr/>
          </a:p>
          <a:p>
            <a:pPr indent="-317500" lvl="1" marL="914400" rtl="0" algn="l">
              <a:spcBef>
                <a:spcPts val="0"/>
              </a:spcBef>
              <a:spcAft>
                <a:spcPts val="0"/>
              </a:spcAft>
              <a:buSzPts val="1400"/>
              <a:buChar char="○"/>
            </a:pPr>
            <a:r>
              <a:rPr lang="en"/>
              <a:t>Messages are larger than 512 bytes</a:t>
            </a:r>
            <a:endParaRPr/>
          </a:p>
          <a:p>
            <a:pPr indent="-342900" lvl="0" marL="457200" rtl="0" algn="l">
              <a:spcBef>
                <a:spcPts val="0"/>
              </a:spcBef>
              <a:spcAft>
                <a:spcPts val="0"/>
              </a:spcAft>
              <a:buSzPts val="1800"/>
              <a:buChar char="●"/>
            </a:pPr>
            <a:r>
              <a:rPr lang="en"/>
              <a:t>Remember: We want DNSSEC to be backwards-compatible</a:t>
            </a:r>
            <a:endParaRPr/>
          </a:p>
          <a:p>
            <a:pPr indent="-317500" lvl="1" marL="914400" rtl="0" algn="l">
              <a:spcBef>
                <a:spcPts val="0"/>
              </a:spcBef>
              <a:spcAft>
                <a:spcPts val="0"/>
              </a:spcAft>
              <a:buSzPts val="1400"/>
              <a:buChar char="○"/>
            </a:pPr>
            <a:r>
              <a:rPr lang="en"/>
              <a:t>We can’t modify the existing DNS limits! What should we do?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9" name="Shape 339"/>
        <p:cNvGrpSpPr/>
        <p:nvPr/>
      </p:nvGrpSpPr>
      <p:grpSpPr>
        <a:xfrm>
          <a:off x="0" y="0"/>
          <a:ext cx="0" cy="0"/>
          <a:chOff x="0" y="0"/>
          <a:chExt cx="0" cy="0"/>
        </a:xfrm>
      </p:grpSpPr>
      <p:sp>
        <p:nvSpPr>
          <p:cNvPr id="340" name="Google Shape;340;p4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 Pseudosection</a:t>
            </a:r>
            <a:endParaRPr/>
          </a:p>
        </p:txBody>
      </p:sp>
      <p:sp>
        <p:nvSpPr>
          <p:cNvPr id="341" name="Google Shape;341;p4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Solution: Encode extra flags in a record called the </a:t>
            </a:r>
            <a:r>
              <a:rPr b="1" lang="en"/>
              <a:t>OPT Pseudosection</a:t>
            </a:r>
            <a:endParaRPr b="1"/>
          </a:p>
          <a:p>
            <a:pPr indent="-317500" lvl="1" marL="914400" rtl="0" algn="l">
              <a:spcBef>
                <a:spcPts val="0"/>
              </a:spcBef>
              <a:spcAft>
                <a:spcPts val="0"/>
              </a:spcAft>
              <a:buSzPts val="1400"/>
              <a:buChar char="○"/>
            </a:pPr>
            <a:r>
              <a:rPr lang="en"/>
              <a:t>This record has type OPT</a:t>
            </a:r>
            <a:endParaRPr/>
          </a:p>
          <a:p>
            <a:pPr indent="-317500" lvl="1" marL="914400" rtl="0" algn="l">
              <a:spcBef>
                <a:spcPts val="0"/>
              </a:spcBef>
              <a:spcAft>
                <a:spcPts val="0"/>
              </a:spcAft>
              <a:buSzPts val="1400"/>
              <a:buChar char="○"/>
            </a:pPr>
            <a:r>
              <a:rPr lang="en"/>
              <a:t>This record is sent in the additional section</a:t>
            </a:r>
            <a:endParaRPr/>
          </a:p>
          <a:p>
            <a:pPr indent="-342900" lvl="0" marL="457200" rtl="0" algn="l">
              <a:spcBef>
                <a:spcPts val="0"/>
              </a:spcBef>
              <a:spcAft>
                <a:spcPts val="0"/>
              </a:spcAft>
              <a:buSzPts val="1800"/>
              <a:buChar char="●"/>
            </a:pPr>
            <a:r>
              <a:rPr b="1" lang="en"/>
              <a:t>EDNS0</a:t>
            </a:r>
            <a:r>
              <a:rPr lang="en"/>
              <a:t> (</a:t>
            </a:r>
            <a:r>
              <a:rPr b="1" lang="en"/>
              <a:t>Extension Mechanisms for DNS</a:t>
            </a:r>
            <a:r>
              <a:rPr lang="en"/>
              <a:t>): The protocol that adds the OPT pseudosection</a:t>
            </a:r>
            <a:endParaRPr/>
          </a:p>
          <a:p>
            <a:pPr indent="-317500" lvl="1" marL="914400" rtl="0" algn="l">
              <a:spcBef>
                <a:spcPts val="0"/>
              </a:spcBef>
              <a:spcAft>
                <a:spcPts val="0"/>
              </a:spcAft>
              <a:buSzPts val="1400"/>
              <a:buChar char="○"/>
            </a:pPr>
            <a:r>
              <a:rPr lang="en"/>
              <a:t>If DNSSEC is enabled, the resolver sends the OPT record in the request, and the name server sends the OPT record in the reply</a:t>
            </a:r>
            <a:endParaRPr/>
          </a:p>
          <a:p>
            <a:pPr indent="-317500" lvl="1" marL="914400" rtl="0" algn="l">
              <a:spcBef>
                <a:spcPts val="0"/>
              </a:spcBef>
              <a:spcAft>
                <a:spcPts val="0"/>
              </a:spcAft>
              <a:buSzPts val="1400"/>
              <a:buChar char="○"/>
            </a:pPr>
            <a:r>
              <a:rPr lang="en"/>
              <a:t>The OPT pseudosection can be used to specify the size of larger UDP replies</a:t>
            </a:r>
            <a:endParaRPr/>
          </a:p>
          <a:p>
            <a:pPr indent="-342900" lvl="0" marL="457200" rtl="0" algn="l">
              <a:spcBef>
                <a:spcPts val="0"/>
              </a:spcBef>
              <a:spcAft>
                <a:spcPts val="0"/>
              </a:spcAft>
              <a:buSzPts val="1800"/>
              <a:buChar char="●"/>
            </a:pPr>
            <a:r>
              <a:rPr b="1" lang="en"/>
              <a:t>Takeaway</a:t>
            </a:r>
            <a:r>
              <a:rPr lang="en"/>
              <a:t>: We found a way to add extra functionality to DNSSEC while supporting ordinary DNS (backwards </a:t>
            </a:r>
            <a:r>
              <a:rPr lang="en"/>
              <a:t>compatibility)</a:t>
            </a:r>
            <a:endParaRPr/>
          </a:p>
        </p:txBody>
      </p:sp>
      <p:sp>
        <p:nvSpPr>
          <p:cNvPr id="342" name="Google Shape;34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6" name="Shape 346"/>
        <p:cNvGrpSpPr/>
        <p:nvPr/>
      </p:nvGrpSpPr>
      <p:grpSpPr>
        <a:xfrm>
          <a:off x="0" y="0"/>
          <a:ext cx="0" cy="0"/>
          <a:chOff x="0" y="0"/>
          <a:chExt cx="0" cy="0"/>
        </a:xfrm>
      </p:grpSpPr>
      <p:sp>
        <p:nvSpPr>
          <p:cNvPr id="347" name="Google Shape;347;p4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Resource Record Sets (RRSETs)</a:t>
            </a:r>
            <a:endParaRPr/>
          </a:p>
        </p:txBody>
      </p:sp>
      <p:sp>
        <p:nvSpPr>
          <p:cNvPr id="348" name="Google Shape;348;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9" name="Google Shape;349;p4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Recall: A DNS record has a name, type, and value</a:t>
            </a:r>
            <a:endParaRPr/>
          </a:p>
          <a:p>
            <a:pPr indent="-342900" lvl="0" marL="457200" rtl="0" algn="l">
              <a:spcBef>
                <a:spcPts val="0"/>
              </a:spcBef>
              <a:spcAft>
                <a:spcPts val="0"/>
              </a:spcAft>
              <a:buSzPts val="1800"/>
              <a:buChar char="●"/>
            </a:pPr>
            <a:r>
              <a:rPr lang="en"/>
              <a:t>A group of DNS records with the same name and type form a </a:t>
            </a:r>
            <a:r>
              <a:rPr b="1" lang="en"/>
              <a:t>resource record set </a:t>
            </a:r>
            <a:r>
              <a:rPr lang="en"/>
              <a:t>(</a:t>
            </a:r>
            <a:r>
              <a:rPr b="1" lang="en"/>
              <a:t>RRSET</a:t>
            </a:r>
            <a:r>
              <a:rPr lang="en"/>
              <a:t>)</a:t>
            </a:r>
            <a:endParaRPr/>
          </a:p>
          <a:p>
            <a:pPr indent="-317500" lvl="1" marL="914400" rtl="0" algn="l">
              <a:spcBef>
                <a:spcPts val="0"/>
              </a:spcBef>
              <a:spcAft>
                <a:spcPts val="0"/>
              </a:spcAft>
              <a:buSzPts val="1400"/>
              <a:buChar char="○"/>
            </a:pPr>
            <a:r>
              <a:rPr lang="en"/>
              <a:t>Example: All the AAAA records for a given domain</a:t>
            </a:r>
            <a:endParaRPr/>
          </a:p>
          <a:p>
            <a:pPr indent="-342900" lvl="0" marL="457200" rtl="0" algn="l">
              <a:spcBef>
                <a:spcPts val="0"/>
              </a:spcBef>
              <a:spcAft>
                <a:spcPts val="0"/>
              </a:spcAft>
              <a:buSzPts val="1800"/>
              <a:buChar char="●"/>
            </a:pPr>
            <a:r>
              <a:rPr lang="en"/>
              <a:t>RRSETs will be useful for simplifying signatures</a:t>
            </a:r>
            <a:endParaRPr/>
          </a:p>
          <a:p>
            <a:pPr indent="-317500" lvl="1" marL="914400" rtl="0" algn="l">
              <a:spcBef>
                <a:spcPts val="0"/>
              </a:spcBef>
              <a:spcAft>
                <a:spcPts val="0"/>
              </a:spcAft>
              <a:buSzPts val="1400"/>
              <a:buChar char="○"/>
            </a:pPr>
            <a:r>
              <a:rPr lang="en"/>
              <a:t>Instead of signing every record separately, we can sign an entire RRSET at once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3" name="Shape 353"/>
        <p:cNvGrpSpPr/>
        <p:nvPr/>
      </p:nvGrpSpPr>
      <p:grpSpPr>
        <a:xfrm>
          <a:off x="0" y="0"/>
          <a:ext cx="0" cy="0"/>
          <a:chOff x="0" y="0"/>
          <a:chExt cx="0" cy="0"/>
        </a:xfrm>
      </p:grpSpPr>
      <p:sp>
        <p:nvSpPr>
          <p:cNvPr id="354" name="Google Shape;354;p4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New DNSSEC Record Types</a:t>
            </a:r>
            <a:endParaRPr/>
          </a:p>
        </p:txBody>
      </p:sp>
      <p:sp>
        <p:nvSpPr>
          <p:cNvPr id="355" name="Google Shape;355;p4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need new record types to send </a:t>
            </a:r>
            <a:r>
              <a:rPr lang="en"/>
              <a:t>cryptographic</a:t>
            </a:r>
            <a:r>
              <a:rPr lang="en"/>
              <a:t> information in DNSSEC packets</a:t>
            </a:r>
            <a:endParaRPr/>
          </a:p>
          <a:p>
            <a:pPr indent="-317500" lvl="1" marL="914400" rtl="0" algn="l">
              <a:spcBef>
                <a:spcPts val="0"/>
              </a:spcBef>
              <a:spcAft>
                <a:spcPts val="0"/>
              </a:spcAft>
              <a:buSzPts val="1400"/>
              <a:buChar char="○"/>
            </a:pPr>
            <a:r>
              <a:rPr lang="en"/>
              <a:t>RRSIG (resource record signature): encode signatures on records</a:t>
            </a:r>
            <a:endParaRPr/>
          </a:p>
          <a:p>
            <a:pPr indent="-317500" lvl="1" marL="914400" rtl="0" algn="l">
              <a:spcBef>
                <a:spcPts val="0"/>
              </a:spcBef>
              <a:spcAft>
                <a:spcPts val="0"/>
              </a:spcAft>
              <a:buSzPts val="1400"/>
              <a:buChar char="○"/>
            </a:pPr>
            <a:r>
              <a:rPr lang="en"/>
              <a:t>DNSKEY: encode public keys</a:t>
            </a:r>
            <a:endParaRPr/>
          </a:p>
          <a:p>
            <a:pPr indent="-317500" lvl="1" marL="914400" rtl="0" algn="l">
              <a:spcBef>
                <a:spcPts val="0"/>
              </a:spcBef>
              <a:spcAft>
                <a:spcPts val="0"/>
              </a:spcAft>
              <a:buSzPts val="1400"/>
              <a:buChar char="○"/>
            </a:pPr>
            <a:r>
              <a:rPr lang="en"/>
              <a:t>DS (delegated signer): encode the child’s public key (used to delegate trust)</a:t>
            </a:r>
            <a:endParaRPr/>
          </a:p>
        </p:txBody>
      </p:sp>
      <p:sp>
        <p:nvSpPr>
          <p:cNvPr id="356" name="Google Shape;356;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0" name="Shape 360"/>
        <p:cNvGrpSpPr/>
        <p:nvPr/>
      </p:nvGrpSpPr>
      <p:grpSpPr>
        <a:xfrm>
          <a:off x="0" y="0"/>
          <a:ext cx="0" cy="0"/>
          <a:chOff x="0" y="0"/>
          <a:chExt cx="0" cy="0"/>
        </a:xfrm>
      </p:grpSpPr>
      <p:sp>
        <p:nvSpPr>
          <p:cNvPr id="361" name="Google Shape;361;p4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New DNSSEC Record Types: RRSIG</a:t>
            </a:r>
            <a:endParaRPr/>
          </a:p>
        </p:txBody>
      </p:sp>
      <p:sp>
        <p:nvSpPr>
          <p:cNvPr id="362" name="Google Shape;362;p4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RRSIG type records encode a signature on records</a:t>
            </a:r>
            <a:endParaRPr/>
          </a:p>
          <a:p>
            <a:pPr indent="-317500" lvl="1" marL="914400" rtl="0" algn="l">
              <a:spcBef>
                <a:spcPts val="0"/>
              </a:spcBef>
              <a:spcAft>
                <a:spcPts val="0"/>
              </a:spcAft>
              <a:buSzPts val="1400"/>
              <a:buChar char="○"/>
            </a:pPr>
            <a:r>
              <a:rPr lang="en"/>
              <a:t>One RRSIG record (with one signature) can sign an entire RRSET</a:t>
            </a:r>
            <a:endParaRPr/>
          </a:p>
          <a:p>
            <a:pPr indent="-342900" lvl="0" marL="457200" rtl="0" algn="l">
              <a:spcBef>
                <a:spcPts val="0"/>
              </a:spcBef>
              <a:spcAft>
                <a:spcPts val="0"/>
              </a:spcAft>
              <a:buSzPts val="1800"/>
              <a:buChar char="●"/>
            </a:pPr>
            <a:r>
              <a:rPr lang="en"/>
              <a:t>RRSIG type records contain some additional metadata</a:t>
            </a:r>
            <a:endParaRPr/>
          </a:p>
          <a:p>
            <a:pPr indent="-317500" lvl="1" marL="914400" rtl="0" algn="l">
              <a:spcBef>
                <a:spcPts val="0"/>
              </a:spcBef>
              <a:spcAft>
                <a:spcPts val="0"/>
              </a:spcAft>
              <a:buSzPts val="1400"/>
              <a:buChar char="○"/>
            </a:pPr>
            <a:r>
              <a:rPr lang="en"/>
              <a:t>Type: What type of DNS record we’re signing</a:t>
            </a:r>
            <a:endParaRPr/>
          </a:p>
          <a:p>
            <a:pPr indent="-317500" lvl="1" marL="914400" rtl="0" algn="l">
              <a:spcBef>
                <a:spcPts val="0"/>
              </a:spcBef>
              <a:spcAft>
                <a:spcPts val="0"/>
              </a:spcAft>
              <a:buSzPts val="1400"/>
              <a:buChar char="○"/>
            </a:pPr>
            <a:r>
              <a:rPr lang="en"/>
              <a:t>Algorithm: What algorithm we’re using to create the signature</a:t>
            </a:r>
            <a:endParaRPr/>
          </a:p>
          <a:p>
            <a:pPr indent="-317500" lvl="1" marL="914400" rtl="0" algn="l">
              <a:spcBef>
                <a:spcPts val="0"/>
              </a:spcBef>
              <a:spcAft>
                <a:spcPts val="0"/>
              </a:spcAft>
              <a:buSzPts val="1400"/>
              <a:buChar char="○"/>
            </a:pPr>
            <a:r>
              <a:rPr lang="en"/>
              <a:t>Label: Number of segments in the DNS name</a:t>
            </a:r>
            <a:endParaRPr/>
          </a:p>
          <a:p>
            <a:pPr indent="-317500" lvl="1" marL="914400" rtl="0" algn="l">
              <a:spcBef>
                <a:spcPts val="0"/>
              </a:spcBef>
              <a:spcAft>
                <a:spcPts val="0"/>
              </a:spcAft>
              <a:buSzPts val="1400"/>
              <a:buChar char="○"/>
            </a:pPr>
            <a:r>
              <a:rPr lang="en"/>
              <a:t>Original TTL: The TTL for the records in the RRSET</a:t>
            </a:r>
            <a:endParaRPr/>
          </a:p>
          <a:p>
            <a:pPr indent="-317500" lvl="1" marL="914400" rtl="0" algn="l">
              <a:spcBef>
                <a:spcPts val="0"/>
              </a:spcBef>
              <a:spcAft>
                <a:spcPts val="0"/>
              </a:spcAft>
              <a:buSzPts val="1400"/>
              <a:buChar char="○"/>
            </a:pPr>
            <a:r>
              <a:rPr lang="en"/>
              <a:t>Signature expiration time </a:t>
            </a:r>
            <a:r>
              <a:rPr lang="en"/>
              <a:t>(in Unix time: seconds since January 1, 1970)</a:t>
            </a:r>
            <a:endParaRPr/>
          </a:p>
          <a:p>
            <a:pPr indent="-317500" lvl="1" marL="914400" rtl="0" algn="l">
              <a:spcBef>
                <a:spcPts val="0"/>
              </a:spcBef>
              <a:spcAft>
                <a:spcPts val="0"/>
              </a:spcAft>
              <a:buSzPts val="1400"/>
              <a:buChar char="○"/>
            </a:pPr>
            <a:r>
              <a:rPr lang="en"/>
              <a:t>Signature inception time: When the signature was created (in Unix time)</a:t>
            </a:r>
            <a:endParaRPr/>
          </a:p>
          <a:p>
            <a:pPr indent="-317500" lvl="1" marL="914400" rtl="0" algn="l">
              <a:spcBef>
                <a:spcPts val="0"/>
              </a:spcBef>
              <a:spcAft>
                <a:spcPts val="0"/>
              </a:spcAft>
              <a:buSzPts val="1400"/>
              <a:buChar char="○"/>
            </a:pPr>
            <a:r>
              <a:rPr lang="en"/>
              <a:t>Key tag: What key was used (roughly, a checksum on key bits)</a:t>
            </a:r>
            <a:endParaRPr/>
          </a:p>
          <a:p>
            <a:pPr indent="-317500" lvl="1" marL="914400" rtl="0" algn="l">
              <a:spcBef>
                <a:spcPts val="0"/>
              </a:spcBef>
              <a:spcAft>
                <a:spcPts val="0"/>
              </a:spcAft>
              <a:buSzPts val="1400"/>
              <a:buChar char="○"/>
            </a:pPr>
            <a:r>
              <a:rPr lang="en"/>
              <a:t>The name of the signer</a:t>
            </a:r>
            <a:endParaRPr/>
          </a:p>
        </p:txBody>
      </p:sp>
      <p:sp>
        <p:nvSpPr>
          <p:cNvPr id="363" name="Google Shape;363;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7" name="Shape 367"/>
        <p:cNvGrpSpPr/>
        <p:nvPr/>
      </p:nvGrpSpPr>
      <p:grpSpPr>
        <a:xfrm>
          <a:off x="0" y="0"/>
          <a:ext cx="0" cy="0"/>
          <a:chOff x="0" y="0"/>
          <a:chExt cx="0" cy="0"/>
        </a:xfrm>
      </p:grpSpPr>
      <p:sp>
        <p:nvSpPr>
          <p:cNvPr id="368" name="Google Shape;368;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New DNSSEC Record Types: DNSKEY</a:t>
            </a:r>
            <a:endParaRPr/>
          </a:p>
        </p:txBody>
      </p:sp>
      <p:sp>
        <p:nvSpPr>
          <p:cNvPr id="369" name="Google Shape;369;p4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DNSKEY</a:t>
            </a:r>
            <a:r>
              <a:rPr lang="en"/>
              <a:t> type records encode the name server’s own public keys</a:t>
            </a:r>
            <a:endParaRPr/>
          </a:p>
          <a:p>
            <a:pPr indent="-342900" lvl="0" marL="457200" rtl="0" algn="l">
              <a:spcBef>
                <a:spcPts val="0"/>
              </a:spcBef>
              <a:spcAft>
                <a:spcPts val="0"/>
              </a:spcAft>
              <a:buSzPts val="1800"/>
              <a:buChar char="●"/>
            </a:pPr>
            <a:r>
              <a:rPr lang="en"/>
              <a:t>DNSKEY type records contain some additional metadata too</a:t>
            </a:r>
            <a:endParaRPr/>
          </a:p>
          <a:p>
            <a:pPr indent="-317500" lvl="1" marL="914400" rtl="0" algn="l">
              <a:spcBef>
                <a:spcPts val="0"/>
              </a:spcBef>
              <a:spcAft>
                <a:spcPts val="0"/>
              </a:spcAft>
              <a:buSzPts val="1400"/>
              <a:buChar char="○"/>
            </a:pPr>
            <a:r>
              <a:rPr lang="en"/>
              <a:t>16 bits of flags</a:t>
            </a:r>
            <a:endParaRPr/>
          </a:p>
          <a:p>
            <a:pPr indent="-317500" lvl="1" marL="914400" rtl="0" algn="l">
              <a:spcBef>
                <a:spcPts val="0"/>
              </a:spcBef>
              <a:spcAft>
                <a:spcPts val="0"/>
              </a:spcAft>
              <a:buSzPts val="1400"/>
              <a:buChar char="○"/>
            </a:pPr>
            <a:r>
              <a:rPr lang="en"/>
              <a:t>Protocol identifier (currently not in use, so always set to 3)</a:t>
            </a:r>
            <a:endParaRPr/>
          </a:p>
          <a:p>
            <a:pPr indent="-317500" lvl="1" marL="914400" rtl="0" algn="l">
              <a:spcBef>
                <a:spcPts val="0"/>
              </a:spcBef>
              <a:spcAft>
                <a:spcPts val="0"/>
              </a:spcAft>
              <a:buSzPts val="1400"/>
              <a:buChar char="○"/>
            </a:pPr>
            <a:r>
              <a:rPr lang="en"/>
              <a:t>Algorithm identifier</a:t>
            </a:r>
            <a:endParaRPr/>
          </a:p>
        </p:txBody>
      </p:sp>
      <p:sp>
        <p:nvSpPr>
          <p:cNvPr id="370" name="Google Shape;370;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4" name="Shape 374"/>
        <p:cNvGrpSpPr/>
        <p:nvPr/>
      </p:nvGrpSpPr>
      <p:grpSpPr>
        <a:xfrm>
          <a:off x="0" y="0"/>
          <a:ext cx="0" cy="0"/>
          <a:chOff x="0" y="0"/>
          <a:chExt cx="0" cy="0"/>
        </a:xfrm>
      </p:grpSpPr>
      <p:sp>
        <p:nvSpPr>
          <p:cNvPr id="375" name="Google Shape;375;p4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New DNSSEC Record Types: DS</a:t>
            </a:r>
            <a:endParaRPr/>
          </a:p>
        </p:txBody>
      </p:sp>
      <p:sp>
        <p:nvSpPr>
          <p:cNvPr id="376" name="Google Shape;376;p4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DS </a:t>
            </a:r>
            <a:r>
              <a:rPr lang="en"/>
              <a:t>type records encode the hash of the child’s public keys</a:t>
            </a:r>
            <a:endParaRPr/>
          </a:p>
          <a:p>
            <a:pPr indent="-317500" lvl="1" marL="914400" rtl="0" algn="l">
              <a:spcBef>
                <a:spcPts val="0"/>
              </a:spcBef>
              <a:spcAft>
                <a:spcPts val="0"/>
              </a:spcAft>
              <a:buSzPts val="1400"/>
              <a:buChar char="○"/>
            </a:pPr>
            <a:r>
              <a:rPr lang="en"/>
              <a:t>Used to delegate trust</a:t>
            </a:r>
            <a:endParaRPr/>
          </a:p>
          <a:p>
            <a:pPr indent="-342900" lvl="0" marL="457200" rtl="0" algn="l">
              <a:spcBef>
                <a:spcPts val="0"/>
              </a:spcBef>
              <a:spcAft>
                <a:spcPts val="0"/>
              </a:spcAft>
              <a:buSzPts val="1800"/>
              <a:buChar char="●"/>
            </a:pPr>
            <a:r>
              <a:rPr lang="en"/>
              <a:t>DS type records contain some additional metadata too</a:t>
            </a:r>
            <a:endParaRPr/>
          </a:p>
          <a:p>
            <a:pPr indent="-317500" lvl="1" marL="914400" rtl="0" algn="l">
              <a:spcBef>
                <a:spcPts val="0"/>
              </a:spcBef>
              <a:spcAft>
                <a:spcPts val="0"/>
              </a:spcAft>
              <a:buSzPts val="1400"/>
              <a:buChar char="○"/>
            </a:pPr>
            <a:r>
              <a:rPr lang="en"/>
              <a:t>The key tag</a:t>
            </a:r>
            <a:endParaRPr/>
          </a:p>
          <a:p>
            <a:pPr indent="-317500" lvl="1" marL="914400" rtl="0" algn="l">
              <a:spcBef>
                <a:spcPts val="0"/>
              </a:spcBef>
              <a:spcAft>
                <a:spcPts val="0"/>
              </a:spcAft>
              <a:buSzPts val="1400"/>
              <a:buChar char="○"/>
            </a:pPr>
            <a:r>
              <a:rPr lang="en"/>
              <a:t>The algorithm identifier</a:t>
            </a:r>
            <a:endParaRPr/>
          </a:p>
          <a:p>
            <a:pPr indent="-317500" lvl="1" marL="914400" rtl="0" algn="l">
              <a:spcBef>
                <a:spcPts val="0"/>
              </a:spcBef>
              <a:spcAft>
                <a:spcPts val="0"/>
              </a:spcAft>
              <a:buSzPts val="1400"/>
              <a:buChar char="○"/>
            </a:pPr>
            <a:r>
              <a:rPr lang="en"/>
              <a:t>The hash function used (we’ll see this next)</a:t>
            </a:r>
            <a:endParaRPr/>
          </a:p>
          <a:p>
            <a:pPr indent="-342900" lvl="0" marL="457200" rtl="0" algn="l">
              <a:spcBef>
                <a:spcPts val="0"/>
              </a:spcBef>
              <a:spcAft>
                <a:spcPts val="0"/>
              </a:spcAft>
              <a:buSzPts val="1800"/>
              <a:buChar char="●"/>
            </a:pPr>
            <a:r>
              <a:rPr b="1" lang="en"/>
              <a:t>Takeaway</a:t>
            </a:r>
            <a:r>
              <a:rPr lang="en"/>
              <a:t>: Real-world protocols like DNSSEC require a lot of metadata to function correctly!</a:t>
            </a:r>
            <a:endParaRPr/>
          </a:p>
          <a:p>
            <a:pPr indent="-317500" lvl="1" marL="914400" rtl="0" algn="l">
              <a:spcBef>
                <a:spcPts val="0"/>
              </a:spcBef>
              <a:spcAft>
                <a:spcPts val="0"/>
              </a:spcAft>
              <a:buSzPts val="1400"/>
              <a:buChar char="○"/>
            </a:pPr>
            <a:r>
              <a:rPr lang="en"/>
              <a:t>It’s usually pretty uninteresting, though, which is why we abstract it away for you</a:t>
            </a:r>
            <a:endParaRPr/>
          </a:p>
        </p:txBody>
      </p:sp>
      <p:sp>
        <p:nvSpPr>
          <p:cNvPr id="377" name="Google Shape;377;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1" name="Shape 381"/>
        <p:cNvGrpSpPr/>
        <p:nvPr/>
      </p:nvGrpSpPr>
      <p:grpSpPr>
        <a:xfrm>
          <a:off x="0" y="0"/>
          <a:ext cx="0" cy="0"/>
          <a:chOff x="0" y="0"/>
          <a:chExt cx="0" cy="0"/>
        </a:xfrm>
      </p:grpSpPr>
      <p:sp>
        <p:nvSpPr>
          <p:cNvPr id="382" name="Google Shape;382;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New DNSSEC Record Types: Trust Delegation</a:t>
            </a:r>
            <a:endParaRPr/>
          </a:p>
        </p:txBody>
      </p:sp>
      <p:sp>
        <p:nvSpPr>
          <p:cNvPr id="383" name="Google Shape;383;p4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Recall delegating trust: The parent signs the child’s public key to delegate trust to the child</a:t>
            </a:r>
            <a:endParaRPr/>
          </a:p>
          <a:p>
            <a:pPr indent="-342900" lvl="0" marL="457200" rtl="0" algn="l">
              <a:spcBef>
                <a:spcPts val="0"/>
              </a:spcBef>
              <a:spcAft>
                <a:spcPts val="0"/>
              </a:spcAft>
              <a:buSzPts val="1800"/>
              <a:buChar char="●"/>
            </a:pPr>
            <a:r>
              <a:rPr lang="en"/>
              <a:t>DNSSEC delegates trust with two records:</a:t>
            </a:r>
            <a:endParaRPr/>
          </a:p>
          <a:p>
            <a:pPr indent="-317500" lvl="1" marL="914400" rtl="0" algn="l">
              <a:spcBef>
                <a:spcPts val="0"/>
              </a:spcBef>
              <a:spcAft>
                <a:spcPts val="0"/>
              </a:spcAft>
              <a:buSzPts val="1400"/>
              <a:buChar char="○"/>
            </a:pPr>
            <a:r>
              <a:rPr lang="en"/>
              <a:t>A DS type record with the hash of the signer’s name and the child’s public key</a:t>
            </a:r>
            <a:endParaRPr/>
          </a:p>
          <a:p>
            <a:pPr indent="-317500" lvl="1" marL="914400" rtl="0" algn="l">
              <a:spcBef>
                <a:spcPts val="0"/>
              </a:spcBef>
              <a:spcAft>
                <a:spcPts val="0"/>
              </a:spcAft>
              <a:buSzPts val="1400"/>
              <a:buChar char="○"/>
            </a:pPr>
            <a:r>
              <a:rPr lang="en"/>
              <a:t>An RRSIG type record with a signature on the DS record</a:t>
            </a:r>
            <a:endParaRPr/>
          </a:p>
        </p:txBody>
      </p:sp>
      <p:sp>
        <p:nvSpPr>
          <p:cNvPr id="384" name="Google Shape;384;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8" name="Shape 388"/>
        <p:cNvGrpSpPr/>
        <p:nvPr/>
      </p:nvGrpSpPr>
      <p:grpSpPr>
        <a:xfrm>
          <a:off x="0" y="0"/>
          <a:ext cx="0" cy="0"/>
          <a:chOff x="0" y="0"/>
          <a:chExt cx="0" cy="0"/>
        </a:xfrm>
      </p:grpSpPr>
      <p:sp>
        <p:nvSpPr>
          <p:cNvPr id="389" name="Google Shape;389;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DNSSEC Lookup (Attempt #2)</a:t>
            </a:r>
            <a:endParaRPr/>
          </a:p>
        </p:txBody>
      </p:sp>
      <p:sp>
        <p:nvSpPr>
          <p:cNvPr id="390" name="Google Shape;390;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1" name="Google Shape;391;p49"/>
          <p:cNvSpPr txBox="1"/>
          <p:nvPr/>
        </p:nvSpPr>
        <p:spPr>
          <a:xfrm>
            <a:off x="488250" y="1372800"/>
            <a:ext cx="12381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392" name="Google Shape;392;p49"/>
          <p:cNvSpPr txBox="1"/>
          <p:nvPr/>
        </p:nvSpPr>
        <p:spPr>
          <a:xfrm>
            <a:off x="6855450" y="1372825"/>
            <a:ext cx="16098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root name server</a:t>
            </a:r>
            <a:endParaRPr/>
          </a:p>
        </p:txBody>
      </p:sp>
      <p:grpSp>
        <p:nvGrpSpPr>
          <p:cNvPr id="393" name="Google Shape;393;p49"/>
          <p:cNvGrpSpPr/>
          <p:nvPr/>
        </p:nvGrpSpPr>
        <p:grpSpPr>
          <a:xfrm>
            <a:off x="1811200" y="1458013"/>
            <a:ext cx="4932000" cy="461213"/>
            <a:chOff x="1811200" y="1458013"/>
            <a:chExt cx="4932000" cy="461213"/>
          </a:xfrm>
        </p:grpSpPr>
        <p:cxnSp>
          <p:nvCxnSpPr>
            <p:cNvPr id="394" name="Google Shape;394;p49"/>
            <p:cNvCxnSpPr/>
            <p:nvPr/>
          </p:nvCxnSpPr>
          <p:spPr>
            <a:xfrm rot="10800000">
              <a:off x="1811200" y="1919225"/>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395" name="Google Shape;395;p49"/>
            <p:cNvSpPr txBox="1"/>
            <p:nvPr/>
          </p:nvSpPr>
          <p:spPr>
            <a:xfrm>
              <a:off x="2463550" y="1458013"/>
              <a:ext cx="37968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grpSp>
      <p:grpSp>
        <p:nvGrpSpPr>
          <p:cNvPr id="396" name="Google Shape;396;p49"/>
          <p:cNvGrpSpPr/>
          <p:nvPr/>
        </p:nvGrpSpPr>
        <p:grpSpPr>
          <a:xfrm>
            <a:off x="1824907" y="2183500"/>
            <a:ext cx="4932000" cy="2276050"/>
            <a:chOff x="1824907" y="2183500"/>
            <a:chExt cx="4932000" cy="2276050"/>
          </a:xfrm>
        </p:grpSpPr>
        <p:cxnSp>
          <p:nvCxnSpPr>
            <p:cNvPr id="397" name="Google Shape;397;p49"/>
            <p:cNvCxnSpPr/>
            <p:nvPr/>
          </p:nvCxnSpPr>
          <p:spPr>
            <a:xfrm rot="10800000">
              <a:off x="1824907" y="218350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398" name="Google Shape;398;p49"/>
            <p:cNvSpPr txBox="1"/>
            <p:nvPr/>
          </p:nvSpPr>
          <p:spPr>
            <a:xfrm>
              <a:off x="2220125" y="2243150"/>
              <a:ext cx="4380300" cy="22164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I don’t know, but you should ask the </a:t>
              </a:r>
              <a:r>
                <a:rPr b="1" lang="en" sz="1200">
                  <a:solidFill>
                    <a:schemeClr val="dk1"/>
                  </a:solidFill>
                  <a:latin typeface="Courier New"/>
                  <a:ea typeface="Courier New"/>
                  <a:cs typeface="Courier New"/>
                  <a:sym typeface="Courier New"/>
                </a:rPr>
                <a:t>.edu</a:t>
              </a:r>
              <a:r>
                <a:rPr lang="en" sz="1200">
                  <a:solidFill>
                    <a:schemeClr val="dk1"/>
                  </a:solidFill>
                </a:rPr>
                <a:t> name server.</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NS record: Domain of the </a:t>
              </a:r>
              <a:r>
                <a:rPr b="1" lang="en" sz="1200">
                  <a:solidFill>
                    <a:schemeClr val="dk1"/>
                  </a:solidFill>
                  <a:latin typeface="Courier New"/>
                  <a:ea typeface="Courier New"/>
                  <a:cs typeface="Courier New"/>
                  <a:sym typeface="Courier New"/>
                </a:rPr>
                <a:t>.edu</a:t>
              </a:r>
              <a:r>
                <a:rPr lang="en" sz="1200">
                  <a:solidFill>
                    <a:schemeClr val="dk1"/>
                  </a:solidFill>
                </a:rPr>
                <a:t> name server</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A record: IP address of the </a:t>
              </a:r>
              <a:r>
                <a:rPr b="1" lang="en" sz="1200">
                  <a:solidFill>
                    <a:schemeClr val="dk1"/>
                  </a:solidFill>
                  <a:latin typeface="Courier New"/>
                  <a:ea typeface="Courier New"/>
                  <a:cs typeface="Courier New"/>
                  <a:sym typeface="Courier New"/>
                </a:rPr>
                <a:t>.edu</a:t>
              </a:r>
              <a:r>
                <a:rPr lang="en" sz="1200">
                  <a:solidFill>
                    <a:schemeClr val="dk1"/>
                  </a:solidFill>
                </a:rPr>
                <a:t> name server</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Here is a signature on the public key of the </a:t>
              </a:r>
              <a:r>
                <a:rPr b="1" lang="en" sz="1200">
                  <a:solidFill>
                    <a:schemeClr val="dk1"/>
                  </a:solidFill>
                  <a:latin typeface="Courier New"/>
                  <a:ea typeface="Courier New"/>
                  <a:cs typeface="Courier New"/>
                  <a:sym typeface="Courier New"/>
                </a:rPr>
                <a:t>.edu</a:t>
              </a:r>
              <a:r>
                <a:rPr lang="en" sz="1200">
                  <a:solidFill>
                    <a:schemeClr val="dk1"/>
                  </a:solidFill>
                </a:rPr>
                <a:t> name server. If you trust me, then now you trust them too.</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DS record: Hash of the </a:t>
              </a:r>
              <a:r>
                <a:rPr b="1" lang="en" sz="1200">
                  <a:solidFill>
                    <a:schemeClr val="dk1"/>
                  </a:solidFill>
                  <a:latin typeface="Courier New"/>
                  <a:ea typeface="Courier New"/>
                  <a:cs typeface="Courier New"/>
                  <a:sym typeface="Courier New"/>
                </a:rPr>
                <a:t>.edu</a:t>
              </a:r>
              <a:r>
                <a:rPr lang="en" sz="1200">
                  <a:solidFill>
                    <a:schemeClr val="dk1"/>
                  </a:solidFill>
                </a:rPr>
                <a:t> name server’s public key</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RRSIG DS record: Signature on the DS record</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Here is my public key so you can verify the signature.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DNSKEY record: The root name server’s public key</a:t>
              </a:r>
              <a:endParaRPr sz="12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2" name="Shape 402"/>
        <p:cNvGrpSpPr/>
        <p:nvPr/>
      </p:nvGrpSpPr>
      <p:grpSpPr>
        <a:xfrm>
          <a:off x="0" y="0"/>
          <a:ext cx="0" cy="0"/>
          <a:chOff x="0" y="0"/>
          <a:chExt cx="0" cy="0"/>
        </a:xfrm>
      </p:grpSpPr>
      <p:sp>
        <p:nvSpPr>
          <p:cNvPr id="403" name="Google Shape;403;p5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DNSSEC Lookup (Attempt #2)</a:t>
            </a:r>
            <a:endParaRPr/>
          </a:p>
        </p:txBody>
      </p:sp>
      <p:sp>
        <p:nvSpPr>
          <p:cNvPr id="404" name="Google Shape;40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50"/>
          <p:cNvSpPr txBox="1"/>
          <p:nvPr/>
        </p:nvSpPr>
        <p:spPr>
          <a:xfrm>
            <a:off x="488250" y="1372800"/>
            <a:ext cx="12381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406" name="Google Shape;406;p50"/>
          <p:cNvSpPr txBox="1"/>
          <p:nvPr/>
        </p:nvSpPr>
        <p:spPr>
          <a:xfrm>
            <a:off x="6855450" y="1372825"/>
            <a:ext cx="16098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urier New"/>
                <a:ea typeface="Courier New"/>
                <a:cs typeface="Courier New"/>
                <a:sym typeface="Courier New"/>
              </a:rPr>
              <a:t>.edu</a:t>
            </a:r>
            <a:r>
              <a:rPr lang="en"/>
              <a:t> name server</a:t>
            </a:r>
            <a:endParaRPr/>
          </a:p>
        </p:txBody>
      </p:sp>
      <p:grpSp>
        <p:nvGrpSpPr>
          <p:cNvPr id="407" name="Google Shape;407;p50"/>
          <p:cNvGrpSpPr/>
          <p:nvPr/>
        </p:nvGrpSpPr>
        <p:grpSpPr>
          <a:xfrm>
            <a:off x="1811200" y="1458013"/>
            <a:ext cx="4932000" cy="461213"/>
            <a:chOff x="1811200" y="1458013"/>
            <a:chExt cx="4932000" cy="461213"/>
          </a:xfrm>
        </p:grpSpPr>
        <p:cxnSp>
          <p:nvCxnSpPr>
            <p:cNvPr id="408" name="Google Shape;408;p50"/>
            <p:cNvCxnSpPr/>
            <p:nvPr/>
          </p:nvCxnSpPr>
          <p:spPr>
            <a:xfrm rot="10800000">
              <a:off x="1811200" y="1919225"/>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409" name="Google Shape;409;p50"/>
            <p:cNvSpPr txBox="1"/>
            <p:nvPr/>
          </p:nvSpPr>
          <p:spPr>
            <a:xfrm>
              <a:off x="2463550" y="1458013"/>
              <a:ext cx="37968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grpSp>
      <p:grpSp>
        <p:nvGrpSpPr>
          <p:cNvPr id="410" name="Google Shape;410;p50"/>
          <p:cNvGrpSpPr/>
          <p:nvPr/>
        </p:nvGrpSpPr>
        <p:grpSpPr>
          <a:xfrm>
            <a:off x="1824907" y="2183500"/>
            <a:ext cx="4932000" cy="2460850"/>
            <a:chOff x="1824907" y="2183500"/>
            <a:chExt cx="4932000" cy="2460850"/>
          </a:xfrm>
        </p:grpSpPr>
        <p:cxnSp>
          <p:nvCxnSpPr>
            <p:cNvPr id="411" name="Google Shape;411;p50"/>
            <p:cNvCxnSpPr/>
            <p:nvPr/>
          </p:nvCxnSpPr>
          <p:spPr>
            <a:xfrm rot="10800000">
              <a:off x="1824907" y="218350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412" name="Google Shape;412;p50"/>
            <p:cNvSpPr txBox="1"/>
            <p:nvPr/>
          </p:nvSpPr>
          <p:spPr>
            <a:xfrm>
              <a:off x="1996775" y="2243150"/>
              <a:ext cx="4746300" cy="2401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I don’t know, but you should ask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NS record: Domain of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A record: IP address of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a signature on the public key of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 If you trust me, then now you trust them too.</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DS record: Hash of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server’s public key</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RRSIG DS record: Signature on the DS record</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my public key so you can verify the signature.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DNSKEY record: The </a:t>
              </a:r>
              <a:r>
                <a:rPr b="1" lang="en" sz="1200">
                  <a:solidFill>
                    <a:schemeClr val="dk1"/>
                  </a:solidFill>
                  <a:latin typeface="Courier New"/>
                  <a:ea typeface="Courier New"/>
                  <a:cs typeface="Courier New"/>
                  <a:sym typeface="Courier New"/>
                </a:rPr>
                <a:t>.edu</a:t>
              </a:r>
              <a:r>
                <a:rPr lang="en" sz="1200">
                  <a:solidFill>
                    <a:schemeClr val="dk1"/>
                  </a:solidFill>
                </a:rPr>
                <a:t> name server’s public key</a:t>
              </a:r>
              <a:endParaRPr sz="12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6" name="Shape 416"/>
        <p:cNvGrpSpPr/>
        <p:nvPr/>
      </p:nvGrpSpPr>
      <p:grpSpPr>
        <a:xfrm>
          <a:off x="0" y="0"/>
          <a:ext cx="0" cy="0"/>
          <a:chOff x="0" y="0"/>
          <a:chExt cx="0" cy="0"/>
        </a:xfrm>
      </p:grpSpPr>
      <p:sp>
        <p:nvSpPr>
          <p:cNvPr id="417" name="Google Shape;417;p5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DNSSEC Lookup (Attempt #2)</a:t>
            </a:r>
            <a:endParaRPr/>
          </a:p>
        </p:txBody>
      </p:sp>
      <p:sp>
        <p:nvSpPr>
          <p:cNvPr id="418" name="Google Shape;418;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9" name="Google Shape;419;p51"/>
          <p:cNvSpPr txBox="1"/>
          <p:nvPr/>
        </p:nvSpPr>
        <p:spPr>
          <a:xfrm>
            <a:off x="488250" y="1372800"/>
            <a:ext cx="12381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420" name="Google Shape;420;p51"/>
          <p:cNvSpPr txBox="1"/>
          <p:nvPr/>
        </p:nvSpPr>
        <p:spPr>
          <a:xfrm>
            <a:off x="6855450" y="1372825"/>
            <a:ext cx="16098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urier New"/>
                <a:ea typeface="Courier New"/>
                <a:cs typeface="Courier New"/>
                <a:sym typeface="Courier New"/>
              </a:rPr>
              <a:t>berkeley.edu</a:t>
            </a:r>
            <a:r>
              <a:rPr lang="en"/>
              <a:t> name server</a:t>
            </a:r>
            <a:endParaRPr/>
          </a:p>
        </p:txBody>
      </p:sp>
      <p:grpSp>
        <p:nvGrpSpPr>
          <p:cNvPr id="421" name="Google Shape;421;p51"/>
          <p:cNvGrpSpPr/>
          <p:nvPr/>
        </p:nvGrpSpPr>
        <p:grpSpPr>
          <a:xfrm>
            <a:off x="1811200" y="1458013"/>
            <a:ext cx="4932000" cy="461213"/>
            <a:chOff x="1811200" y="1458013"/>
            <a:chExt cx="4932000" cy="461213"/>
          </a:xfrm>
        </p:grpSpPr>
        <p:cxnSp>
          <p:nvCxnSpPr>
            <p:cNvPr id="422" name="Google Shape;422;p51"/>
            <p:cNvCxnSpPr/>
            <p:nvPr/>
          </p:nvCxnSpPr>
          <p:spPr>
            <a:xfrm rot="10800000">
              <a:off x="1811200" y="1919225"/>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423" name="Google Shape;423;p51"/>
            <p:cNvSpPr txBox="1"/>
            <p:nvPr/>
          </p:nvSpPr>
          <p:spPr>
            <a:xfrm>
              <a:off x="2463550" y="1458013"/>
              <a:ext cx="37968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grpSp>
      <p:grpSp>
        <p:nvGrpSpPr>
          <p:cNvPr id="424" name="Google Shape;424;p51"/>
          <p:cNvGrpSpPr/>
          <p:nvPr/>
        </p:nvGrpSpPr>
        <p:grpSpPr>
          <a:xfrm>
            <a:off x="1824907" y="2183500"/>
            <a:ext cx="4932000" cy="1924575"/>
            <a:chOff x="1824907" y="2183500"/>
            <a:chExt cx="4932000" cy="1924575"/>
          </a:xfrm>
        </p:grpSpPr>
        <p:cxnSp>
          <p:nvCxnSpPr>
            <p:cNvPr id="425" name="Google Shape;425;p51"/>
            <p:cNvCxnSpPr/>
            <p:nvPr/>
          </p:nvCxnSpPr>
          <p:spPr>
            <a:xfrm rot="10800000">
              <a:off x="1824907" y="218350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426" name="Google Shape;426;p51"/>
            <p:cNvSpPr txBox="1"/>
            <p:nvPr/>
          </p:nvSpPr>
          <p:spPr>
            <a:xfrm>
              <a:off x="2360650" y="2260975"/>
              <a:ext cx="3833100" cy="1847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Char char="●"/>
              </a:pPr>
              <a:r>
                <a:rPr lang="en" sz="1200">
                  <a:solidFill>
                    <a:schemeClr val="dk1"/>
                  </a:solidFill>
                </a:rPr>
                <a:t>A record: “The IP address of </a:t>
              </a:r>
              <a:r>
                <a:rPr b="1" lang="en" sz="1200">
                  <a:solidFill>
                    <a:schemeClr val="dk1"/>
                  </a:solidFill>
                  <a:latin typeface="Courier New"/>
                  <a:ea typeface="Courier New"/>
                  <a:cs typeface="Courier New"/>
                  <a:sym typeface="Courier New"/>
                </a:rPr>
                <a:t>eecs.berkeley.edu</a:t>
              </a:r>
              <a:r>
                <a:rPr lang="en" sz="1200">
                  <a:solidFill>
                    <a:schemeClr val="dk1"/>
                  </a:solidFill>
                </a:rPr>
                <a:t> is </a:t>
              </a:r>
              <a:r>
                <a:rPr b="1" lang="en" sz="1200">
                  <a:solidFill>
                    <a:schemeClr val="dk1"/>
                  </a:solidFill>
                  <a:latin typeface="Courier New"/>
                  <a:ea typeface="Courier New"/>
                  <a:cs typeface="Courier New"/>
                  <a:sym typeface="Courier New"/>
                </a:rPr>
                <a:t>23.185.0.1</a:t>
              </a:r>
              <a:r>
                <a:rPr lang="en" sz="1200">
                  <a:solidFill>
                    <a:schemeClr val="dk1"/>
                  </a:solidFill>
                </a:rPr>
                <a: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a signature on the above record.</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RRSIG A record: Signature on the A record</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my public key so you can verify the signature.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DNSKEY record: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server’s public key</a:t>
              </a:r>
              <a:endParaRPr sz="12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0" name="Shape 430"/>
        <p:cNvGrpSpPr/>
        <p:nvPr/>
      </p:nvGrpSpPr>
      <p:grpSpPr>
        <a:xfrm>
          <a:off x="0" y="0"/>
          <a:ext cx="0" cy="0"/>
          <a:chOff x="0" y="0"/>
          <a:chExt cx="0" cy="0"/>
        </a:xfrm>
      </p:grpSpPr>
      <p:sp>
        <p:nvSpPr>
          <p:cNvPr id="431" name="Google Shape;431;p5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Key-Signing Keys and Zone-Signing Keys</a:t>
            </a:r>
            <a:endParaRPr/>
          </a:p>
        </p:txBody>
      </p:sp>
      <p:sp>
        <p:nvSpPr>
          <p:cNvPr id="432" name="Google Shape;432;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6" name="Shape 436"/>
        <p:cNvGrpSpPr/>
        <p:nvPr/>
      </p:nvGrpSpPr>
      <p:grpSpPr>
        <a:xfrm>
          <a:off x="0" y="0"/>
          <a:ext cx="0" cy="0"/>
          <a:chOff x="0" y="0"/>
          <a:chExt cx="0" cy="0"/>
        </a:xfrm>
      </p:grpSpPr>
      <p:sp>
        <p:nvSpPr>
          <p:cNvPr id="437" name="Google Shape;437;p5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 Recovering from Key Compromise</a:t>
            </a:r>
            <a:endParaRPr/>
          </a:p>
        </p:txBody>
      </p:sp>
      <p:sp>
        <p:nvSpPr>
          <p:cNvPr id="438" name="Google Shape;438;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9" name="Google Shape;439;p5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if a name server wants to change the keys it uses to sign records?</a:t>
            </a:r>
            <a:endParaRPr/>
          </a:p>
          <a:p>
            <a:pPr indent="-317500" lvl="1" marL="914400" rtl="0" algn="l">
              <a:spcBef>
                <a:spcPts val="0"/>
              </a:spcBef>
              <a:spcAft>
                <a:spcPts val="0"/>
              </a:spcAft>
              <a:buSzPts val="1400"/>
              <a:buChar char="○"/>
            </a:pPr>
            <a:r>
              <a:rPr lang="en"/>
              <a:t>Example: This is necessary if the attacker compromises a private key</a:t>
            </a:r>
            <a:endParaRPr/>
          </a:p>
          <a:p>
            <a:pPr indent="-342900" lvl="0" marL="457200" rtl="0" algn="l">
              <a:spcBef>
                <a:spcPts val="0"/>
              </a:spcBef>
              <a:spcAft>
                <a:spcPts val="0"/>
              </a:spcAft>
              <a:buSzPts val="1800"/>
              <a:buChar char="●"/>
            </a:pPr>
            <a:r>
              <a:rPr lang="en"/>
              <a:t>The name server needs to inform its parent, since the parent must change its DS record too!</a:t>
            </a:r>
            <a:endParaRPr/>
          </a:p>
          <a:p>
            <a:pPr indent="-317500" lvl="1" marL="914400" rtl="0" algn="l">
              <a:spcBef>
                <a:spcPts val="0"/>
              </a:spcBef>
              <a:spcAft>
                <a:spcPts val="0"/>
              </a:spcAft>
              <a:buSzPts val="1400"/>
              <a:buChar char="○"/>
            </a:pPr>
            <a:r>
              <a:rPr lang="en"/>
              <a:t>This process is complicated and can go wrong in many ways</a:t>
            </a:r>
            <a:endParaRPr/>
          </a:p>
          <a:p>
            <a:pPr indent="-317500" lvl="1" marL="914400" rtl="0" algn="l">
              <a:spcBef>
                <a:spcPts val="0"/>
              </a:spcBef>
              <a:spcAft>
                <a:spcPts val="0"/>
              </a:spcAft>
              <a:buSzPts val="1400"/>
              <a:buChar char="○"/>
            </a:pPr>
            <a:r>
              <a:rPr lang="en"/>
              <a:t>We want to avoid this process whenever possible</a:t>
            </a:r>
            <a:endParaRPr/>
          </a:p>
          <a:p>
            <a:pPr indent="-342900" lvl="0" marL="457200" rtl="0" algn="l">
              <a:spcBef>
                <a:spcPts val="0"/>
              </a:spcBef>
              <a:spcAft>
                <a:spcPts val="0"/>
              </a:spcAft>
              <a:buSzPts val="1800"/>
              <a:buChar char="●"/>
            </a:pPr>
            <a:r>
              <a:rPr lang="en"/>
              <a:t>Solution: Divide each name server into an </a:t>
            </a:r>
            <a:r>
              <a:rPr i="1" lang="en"/>
              <a:t>upper half</a:t>
            </a:r>
            <a:r>
              <a:rPr lang="en"/>
              <a:t> and </a:t>
            </a:r>
            <a:r>
              <a:rPr i="1" lang="en"/>
              <a:t>lower half</a:t>
            </a:r>
            <a:endParaRPr/>
          </a:p>
          <a:p>
            <a:pPr indent="-317500" lvl="1" marL="914400" rtl="0" algn="l">
              <a:spcBef>
                <a:spcPts val="0"/>
              </a:spcBef>
              <a:spcAft>
                <a:spcPts val="0"/>
              </a:spcAft>
              <a:buSzPts val="1400"/>
              <a:buChar char="○"/>
            </a:pPr>
            <a:r>
              <a:rPr lang="en"/>
              <a:t>If we need to change the keys in the lower half, we don’t need to contact another name server: the parent is the upper half of the </a:t>
            </a:r>
            <a:r>
              <a:rPr i="1" lang="en"/>
              <a:t>same</a:t>
            </a:r>
            <a:r>
              <a:rPr lang="en"/>
              <a:t> name </a:t>
            </a:r>
            <a:r>
              <a:rPr lang="en"/>
              <a:t>server!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3" name="Shape 443"/>
        <p:cNvGrpSpPr/>
        <p:nvPr/>
      </p:nvGrpSpPr>
      <p:grpSpPr>
        <a:xfrm>
          <a:off x="0" y="0"/>
          <a:ext cx="0" cy="0"/>
          <a:chOff x="0" y="0"/>
          <a:chExt cx="0" cy="0"/>
        </a:xfrm>
      </p:grpSpPr>
      <p:sp>
        <p:nvSpPr>
          <p:cNvPr id="444" name="Google Shape;444;p5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Key-Signing Keys and Zone-Signing Keys</a:t>
            </a:r>
            <a:endParaRPr/>
          </a:p>
        </p:txBody>
      </p:sp>
      <p:sp>
        <p:nvSpPr>
          <p:cNvPr id="445" name="Google Shape;445;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6" name="Google Shape;446;p5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Each name server has </a:t>
            </a:r>
            <a:r>
              <a:rPr i="1" lang="en"/>
              <a:t>two</a:t>
            </a:r>
            <a:r>
              <a:rPr lang="en"/>
              <a:t> kinds of public-private key pairs</a:t>
            </a:r>
            <a:endParaRPr/>
          </a:p>
          <a:p>
            <a:pPr indent="-342900" lvl="0" marL="457200" rtl="0" algn="l">
              <a:spcBef>
                <a:spcPts val="0"/>
              </a:spcBef>
              <a:spcAft>
                <a:spcPts val="0"/>
              </a:spcAft>
              <a:buSzPts val="1800"/>
              <a:buChar char="●"/>
            </a:pPr>
            <a:r>
              <a:rPr lang="en"/>
              <a:t>The </a:t>
            </a:r>
            <a:r>
              <a:rPr b="1" lang="en"/>
              <a:t>key-signing key</a:t>
            </a:r>
            <a:r>
              <a:rPr lang="en"/>
              <a:t> (</a:t>
            </a:r>
            <a:r>
              <a:rPr b="1" lang="en"/>
              <a:t>KSK</a:t>
            </a:r>
            <a:r>
              <a:rPr lang="en"/>
              <a:t>) is used to sign only the zone-signing key</a:t>
            </a:r>
            <a:endParaRPr/>
          </a:p>
          <a:p>
            <a:pPr indent="-317500" lvl="1" marL="914400" rtl="0" algn="l">
              <a:spcBef>
                <a:spcPts val="0"/>
              </a:spcBef>
              <a:spcAft>
                <a:spcPts val="0"/>
              </a:spcAft>
              <a:buSzPts val="1400"/>
              <a:buChar char="○"/>
            </a:pPr>
            <a:r>
              <a:rPr lang="en"/>
              <a:t>Intuition: The KSK is the “upper half” of the name server.</a:t>
            </a:r>
            <a:endParaRPr/>
          </a:p>
          <a:p>
            <a:pPr indent="-317500" lvl="1" marL="914400" rtl="0" algn="l">
              <a:spcBef>
                <a:spcPts val="0"/>
              </a:spcBef>
              <a:spcAft>
                <a:spcPts val="0"/>
              </a:spcAft>
              <a:buSzPts val="1400"/>
              <a:buChar char="○"/>
            </a:pPr>
            <a:r>
              <a:rPr lang="en"/>
              <a:t>The “upper half” endorses the “lower half”</a:t>
            </a:r>
            <a:endParaRPr/>
          </a:p>
          <a:p>
            <a:pPr indent="-342900" lvl="0" marL="457200" rtl="0" algn="l">
              <a:spcBef>
                <a:spcPts val="0"/>
              </a:spcBef>
              <a:spcAft>
                <a:spcPts val="0"/>
              </a:spcAft>
              <a:buSzPts val="1800"/>
              <a:buChar char="●"/>
            </a:pPr>
            <a:r>
              <a:rPr lang="en"/>
              <a:t>The </a:t>
            </a:r>
            <a:r>
              <a:rPr b="1" lang="en"/>
              <a:t>zone-signing key</a:t>
            </a:r>
            <a:r>
              <a:rPr lang="en"/>
              <a:t> </a:t>
            </a:r>
            <a:r>
              <a:rPr lang="en"/>
              <a:t>(</a:t>
            </a:r>
            <a:r>
              <a:rPr b="1" lang="en"/>
              <a:t>ZSK</a:t>
            </a:r>
            <a:r>
              <a:rPr lang="en"/>
              <a:t>) is used to sign all other records</a:t>
            </a:r>
            <a:endParaRPr/>
          </a:p>
          <a:p>
            <a:pPr indent="-317500" lvl="1" marL="914400" rtl="0" algn="l">
              <a:spcBef>
                <a:spcPts val="0"/>
              </a:spcBef>
              <a:spcAft>
                <a:spcPts val="0"/>
              </a:spcAft>
              <a:buSzPts val="1400"/>
              <a:buChar char="○"/>
            </a:pPr>
            <a:r>
              <a:rPr lang="en"/>
              <a:t>Intuition: The ZSK is the “lower half” of the name server</a:t>
            </a:r>
            <a:endParaRPr/>
          </a:p>
          <a:p>
            <a:pPr indent="-317500" lvl="1" marL="914400" rtl="0" algn="l">
              <a:spcBef>
                <a:spcPts val="0"/>
              </a:spcBef>
              <a:spcAft>
                <a:spcPts val="0"/>
              </a:spcAft>
              <a:buSzPts val="1400"/>
              <a:buChar char="○"/>
            </a:pPr>
            <a:r>
              <a:rPr lang="en"/>
              <a:t>The “lower half” endorses the “upper half” of the next name server (or the final answer)</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lang="en"/>
              <a:t>Now, </a:t>
            </a:r>
            <a:r>
              <a:rPr lang="en"/>
              <a:t>the </a:t>
            </a:r>
            <a:r>
              <a:rPr b="1" lang="en">
                <a:latin typeface="Courier New"/>
                <a:ea typeface="Courier New"/>
                <a:cs typeface="Courier New"/>
                <a:sym typeface="Courier New"/>
              </a:rPr>
              <a:t>berkeley.edu</a:t>
            </a:r>
            <a:r>
              <a:rPr lang="en"/>
              <a:t> name server has two key pairs (KSK and ZSK)</a:t>
            </a:r>
            <a:endParaRPr/>
          </a:p>
          <a:p>
            <a:pPr indent="-317500" lvl="1" marL="914400" rtl="0" algn="l">
              <a:spcBef>
                <a:spcPts val="0"/>
              </a:spcBef>
              <a:spcAft>
                <a:spcPts val="0"/>
              </a:spcAft>
              <a:buSzPts val="1400"/>
              <a:buChar char="○"/>
            </a:pPr>
            <a:r>
              <a:rPr lang="en"/>
              <a:t>The private KSK is used to sign the public ZSK</a:t>
            </a:r>
            <a:endParaRPr/>
          </a:p>
          <a:p>
            <a:pPr indent="-317500" lvl="1" marL="914400" rtl="0" algn="l">
              <a:spcBef>
                <a:spcPts val="0"/>
              </a:spcBef>
              <a:spcAft>
                <a:spcPts val="0"/>
              </a:spcAft>
              <a:buSzPts val="1400"/>
              <a:buChar char="○"/>
            </a:pPr>
            <a:r>
              <a:rPr lang="en"/>
              <a:t>The private ZSK is used to sign the final A record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0" name="Shape 450"/>
        <p:cNvGrpSpPr/>
        <p:nvPr/>
      </p:nvGrpSpPr>
      <p:grpSpPr>
        <a:xfrm>
          <a:off x="0" y="0"/>
          <a:ext cx="0" cy="0"/>
          <a:chOff x="0" y="0"/>
          <a:chExt cx="0" cy="0"/>
        </a:xfrm>
      </p:grpSpPr>
      <p:sp>
        <p:nvSpPr>
          <p:cNvPr id="451" name="Google Shape;451;p5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Path of Trust (without KSKs and ZSKs)</a:t>
            </a:r>
            <a:endParaRPr/>
          </a:p>
        </p:txBody>
      </p:sp>
      <p:sp>
        <p:nvSpPr>
          <p:cNvPr id="452" name="Google Shape;452;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3" name="Google Shape;453;p55"/>
          <p:cNvSpPr/>
          <p:nvPr/>
        </p:nvSpPr>
        <p:spPr>
          <a:xfrm>
            <a:off x="836700" y="1329100"/>
            <a:ext cx="2295300" cy="1487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5"/>
          <p:cNvSpPr/>
          <p:nvPr/>
        </p:nvSpPr>
        <p:spPr>
          <a:xfrm>
            <a:off x="1720650" y="1709350"/>
            <a:ext cx="5274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CC0000"/>
                </a:solidFill>
              </a:rPr>
              <a:t>KSK</a:t>
            </a:r>
            <a:endParaRPr sz="1000">
              <a:solidFill>
                <a:srgbClr val="CC0000"/>
              </a:solidFill>
            </a:endParaRPr>
          </a:p>
        </p:txBody>
      </p:sp>
      <p:sp>
        <p:nvSpPr>
          <p:cNvPr id="455" name="Google Shape;455;p55"/>
          <p:cNvSpPr txBox="1"/>
          <p:nvPr/>
        </p:nvSpPr>
        <p:spPr>
          <a:xfrm>
            <a:off x="1257150" y="1307850"/>
            <a:ext cx="1454400" cy="36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a:t>
            </a:r>
            <a:endParaRPr>
              <a:solidFill>
                <a:schemeClr val="dk1"/>
              </a:solidFill>
            </a:endParaRPr>
          </a:p>
        </p:txBody>
      </p:sp>
      <p:sp>
        <p:nvSpPr>
          <p:cNvPr id="456" name="Google Shape;456;p55"/>
          <p:cNvSpPr/>
          <p:nvPr/>
        </p:nvSpPr>
        <p:spPr>
          <a:xfrm>
            <a:off x="3424350" y="2282000"/>
            <a:ext cx="2295300" cy="1487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5"/>
          <p:cNvSpPr/>
          <p:nvPr/>
        </p:nvSpPr>
        <p:spPr>
          <a:xfrm>
            <a:off x="4308300" y="2662250"/>
            <a:ext cx="5274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CC0000"/>
                </a:solidFill>
              </a:rPr>
              <a:t>KSK</a:t>
            </a:r>
            <a:endParaRPr sz="1000">
              <a:solidFill>
                <a:srgbClr val="CC0000"/>
              </a:solidFill>
            </a:endParaRPr>
          </a:p>
        </p:txBody>
      </p:sp>
      <p:sp>
        <p:nvSpPr>
          <p:cNvPr id="458" name="Google Shape;458;p55"/>
          <p:cNvSpPr txBox="1"/>
          <p:nvPr/>
        </p:nvSpPr>
        <p:spPr>
          <a:xfrm>
            <a:off x="3844800" y="2260750"/>
            <a:ext cx="1454400" cy="36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org</a:t>
            </a:r>
            <a:endParaRPr>
              <a:solidFill>
                <a:schemeClr val="dk1"/>
              </a:solidFill>
            </a:endParaRPr>
          </a:p>
        </p:txBody>
      </p:sp>
      <p:cxnSp>
        <p:nvCxnSpPr>
          <p:cNvPr id="459" name="Google Shape;459;p55"/>
          <p:cNvCxnSpPr>
            <a:stCxn id="454" idx="2"/>
            <a:endCxn id="460" idx="1"/>
          </p:cNvCxnSpPr>
          <p:nvPr/>
        </p:nvCxnSpPr>
        <p:spPr>
          <a:xfrm>
            <a:off x="1984350" y="1988950"/>
            <a:ext cx="1512900" cy="813000"/>
          </a:xfrm>
          <a:prstGeom prst="straightConnector1">
            <a:avLst/>
          </a:prstGeom>
          <a:noFill/>
          <a:ln cap="flat" cmpd="sng" w="19050">
            <a:solidFill>
              <a:schemeClr val="dk2"/>
            </a:solidFill>
            <a:prstDash val="solid"/>
            <a:round/>
            <a:headEnd len="med" w="med" type="none"/>
            <a:tailEnd len="med" w="med" type="triangle"/>
          </a:ln>
        </p:spPr>
      </p:cxnSp>
      <p:sp>
        <p:nvSpPr>
          <p:cNvPr id="461" name="Google Shape;461;p55"/>
          <p:cNvSpPr txBox="1"/>
          <p:nvPr/>
        </p:nvSpPr>
        <p:spPr>
          <a:xfrm>
            <a:off x="2963075" y="2418850"/>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DS</a:t>
            </a:r>
            <a:endParaRPr sz="800">
              <a:solidFill>
                <a:schemeClr val="dk1"/>
              </a:solidFill>
            </a:endParaRPr>
          </a:p>
        </p:txBody>
      </p:sp>
      <p:sp>
        <p:nvSpPr>
          <p:cNvPr id="462" name="Google Shape;462;p55"/>
          <p:cNvSpPr/>
          <p:nvPr/>
        </p:nvSpPr>
        <p:spPr>
          <a:xfrm>
            <a:off x="6062400" y="3242700"/>
            <a:ext cx="2295300" cy="18330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55"/>
          <p:cNvSpPr txBox="1"/>
          <p:nvPr/>
        </p:nvSpPr>
        <p:spPr>
          <a:xfrm>
            <a:off x="6482850" y="3221450"/>
            <a:ext cx="1454400" cy="36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cs161.org</a:t>
            </a:r>
            <a:endParaRPr>
              <a:solidFill>
                <a:schemeClr val="dk1"/>
              </a:solidFill>
            </a:endParaRPr>
          </a:p>
        </p:txBody>
      </p:sp>
      <p:cxnSp>
        <p:nvCxnSpPr>
          <p:cNvPr id="464" name="Google Shape;464;p55"/>
          <p:cNvCxnSpPr>
            <a:stCxn id="457" idx="2"/>
            <a:endCxn id="465" idx="1"/>
          </p:cNvCxnSpPr>
          <p:nvPr/>
        </p:nvCxnSpPr>
        <p:spPr>
          <a:xfrm>
            <a:off x="4572000" y="2941850"/>
            <a:ext cx="1563300" cy="820800"/>
          </a:xfrm>
          <a:prstGeom prst="straightConnector1">
            <a:avLst/>
          </a:prstGeom>
          <a:noFill/>
          <a:ln cap="flat" cmpd="sng" w="19050">
            <a:solidFill>
              <a:schemeClr val="dk2"/>
            </a:solidFill>
            <a:prstDash val="solid"/>
            <a:round/>
            <a:headEnd len="med" w="med" type="none"/>
            <a:tailEnd len="med" w="med" type="triangle"/>
          </a:ln>
        </p:spPr>
      </p:cxnSp>
      <p:sp>
        <p:nvSpPr>
          <p:cNvPr id="466" name="Google Shape;466;p55"/>
          <p:cNvSpPr txBox="1"/>
          <p:nvPr/>
        </p:nvSpPr>
        <p:spPr>
          <a:xfrm>
            <a:off x="5567800" y="3343350"/>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DS</a:t>
            </a:r>
            <a:endParaRPr sz="800">
              <a:solidFill>
                <a:schemeClr val="dk1"/>
              </a:solidFill>
            </a:endParaRPr>
          </a:p>
        </p:txBody>
      </p:sp>
      <p:sp>
        <p:nvSpPr>
          <p:cNvPr id="467" name="Google Shape;467;p55"/>
          <p:cNvSpPr/>
          <p:nvPr/>
        </p:nvSpPr>
        <p:spPr>
          <a:xfrm>
            <a:off x="6209800" y="4182150"/>
            <a:ext cx="3957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1155CC"/>
                </a:solidFill>
              </a:rPr>
              <a:t>A</a:t>
            </a:r>
            <a:endParaRPr sz="800">
              <a:solidFill>
                <a:srgbClr val="1155CC"/>
              </a:solidFill>
            </a:endParaRPr>
          </a:p>
        </p:txBody>
      </p:sp>
      <p:sp>
        <p:nvSpPr>
          <p:cNvPr id="468" name="Google Shape;468;p55"/>
          <p:cNvSpPr/>
          <p:nvPr/>
        </p:nvSpPr>
        <p:spPr>
          <a:xfrm>
            <a:off x="6719857" y="4182150"/>
            <a:ext cx="3957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1155CC"/>
                </a:solidFill>
              </a:rPr>
              <a:t>MX</a:t>
            </a:r>
            <a:endParaRPr sz="800">
              <a:solidFill>
                <a:srgbClr val="1155CC"/>
              </a:solidFill>
            </a:endParaRPr>
          </a:p>
        </p:txBody>
      </p:sp>
      <p:cxnSp>
        <p:nvCxnSpPr>
          <p:cNvPr id="469" name="Google Shape;469;p55"/>
          <p:cNvCxnSpPr>
            <a:stCxn id="470" idx="1"/>
            <a:endCxn id="454" idx="3"/>
          </p:cNvCxnSpPr>
          <p:nvPr/>
        </p:nvCxnSpPr>
        <p:spPr>
          <a:xfrm flipH="1">
            <a:off x="2248200" y="1444500"/>
            <a:ext cx="1475400" cy="404700"/>
          </a:xfrm>
          <a:prstGeom prst="straightConnector1">
            <a:avLst/>
          </a:prstGeom>
          <a:noFill/>
          <a:ln cap="flat" cmpd="sng" w="9525">
            <a:solidFill>
              <a:schemeClr val="dk2"/>
            </a:solidFill>
            <a:prstDash val="solid"/>
            <a:round/>
            <a:headEnd len="med" w="med" type="none"/>
            <a:tailEnd len="med" w="med" type="triangle"/>
          </a:ln>
        </p:spPr>
      </p:cxnSp>
      <p:sp>
        <p:nvSpPr>
          <p:cNvPr id="470" name="Google Shape;470;p55"/>
          <p:cNvSpPr txBox="1"/>
          <p:nvPr/>
        </p:nvSpPr>
        <p:spPr>
          <a:xfrm>
            <a:off x="3723600" y="1244400"/>
            <a:ext cx="145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Root of trust</a:t>
            </a:r>
            <a:endParaRPr>
              <a:solidFill>
                <a:schemeClr val="dk1"/>
              </a:solidFill>
            </a:endParaRPr>
          </a:p>
        </p:txBody>
      </p:sp>
      <p:cxnSp>
        <p:nvCxnSpPr>
          <p:cNvPr id="471" name="Google Shape;471;p55"/>
          <p:cNvCxnSpPr>
            <a:stCxn id="453" idx="3"/>
            <a:endCxn id="458" idx="0"/>
          </p:cNvCxnSpPr>
          <p:nvPr/>
        </p:nvCxnSpPr>
        <p:spPr>
          <a:xfrm>
            <a:off x="3132000" y="2072800"/>
            <a:ext cx="1440000" cy="188100"/>
          </a:xfrm>
          <a:prstGeom prst="curvedConnector2">
            <a:avLst/>
          </a:prstGeom>
          <a:noFill/>
          <a:ln cap="flat" cmpd="sng" w="9525">
            <a:solidFill>
              <a:schemeClr val="dk2"/>
            </a:solidFill>
            <a:prstDash val="solid"/>
            <a:round/>
            <a:headEnd len="med" w="med" type="none"/>
            <a:tailEnd len="med" w="med" type="stealth"/>
          </a:ln>
        </p:spPr>
      </p:cxnSp>
      <p:cxnSp>
        <p:nvCxnSpPr>
          <p:cNvPr id="472" name="Google Shape;472;p55"/>
          <p:cNvCxnSpPr>
            <a:stCxn id="456" idx="3"/>
            <a:endCxn id="463" idx="0"/>
          </p:cNvCxnSpPr>
          <p:nvPr/>
        </p:nvCxnSpPr>
        <p:spPr>
          <a:xfrm>
            <a:off x="5719650" y="3025700"/>
            <a:ext cx="1490400" cy="195900"/>
          </a:xfrm>
          <a:prstGeom prst="curvedConnector2">
            <a:avLst/>
          </a:prstGeom>
          <a:noFill/>
          <a:ln cap="flat" cmpd="sng" w="9525">
            <a:solidFill>
              <a:schemeClr val="dk2"/>
            </a:solidFill>
            <a:prstDash val="solid"/>
            <a:round/>
            <a:headEnd len="med" w="med" type="none"/>
            <a:tailEnd len="med" w="med" type="stealth"/>
          </a:ln>
        </p:spPr>
      </p:cxnSp>
      <p:sp>
        <p:nvSpPr>
          <p:cNvPr id="473" name="Google Shape;473;p55"/>
          <p:cNvSpPr txBox="1"/>
          <p:nvPr/>
        </p:nvSpPr>
        <p:spPr>
          <a:xfrm>
            <a:off x="3605075" y="1791575"/>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NS</a:t>
            </a:r>
            <a:endParaRPr sz="800">
              <a:solidFill>
                <a:schemeClr val="dk1"/>
              </a:solidFill>
            </a:endParaRPr>
          </a:p>
        </p:txBody>
      </p:sp>
      <p:sp>
        <p:nvSpPr>
          <p:cNvPr id="474" name="Google Shape;474;p55"/>
          <p:cNvSpPr txBox="1"/>
          <p:nvPr/>
        </p:nvSpPr>
        <p:spPr>
          <a:xfrm>
            <a:off x="6195450" y="2745000"/>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NS</a:t>
            </a:r>
            <a:endParaRPr sz="800">
              <a:solidFill>
                <a:schemeClr val="dk1"/>
              </a:solidFill>
            </a:endParaRPr>
          </a:p>
        </p:txBody>
      </p:sp>
      <p:sp>
        <p:nvSpPr>
          <p:cNvPr id="460" name="Google Shape;460;p55"/>
          <p:cNvSpPr/>
          <p:nvPr/>
        </p:nvSpPr>
        <p:spPr>
          <a:xfrm>
            <a:off x="3497350" y="2662250"/>
            <a:ext cx="6420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1000">
                <a:solidFill>
                  <a:srgbClr val="CC0000"/>
                </a:solidFill>
              </a:rPr>
              <a:t>H</a:t>
            </a:r>
            <a:r>
              <a:rPr lang="en" sz="1000">
                <a:solidFill>
                  <a:srgbClr val="CC0000"/>
                </a:solidFill>
              </a:rPr>
              <a:t>(</a:t>
            </a:r>
            <a:r>
              <a:rPr lang="en" sz="1000">
                <a:solidFill>
                  <a:srgbClr val="CC0000"/>
                </a:solidFill>
              </a:rPr>
              <a:t>KSK)</a:t>
            </a:r>
            <a:endParaRPr sz="1000">
              <a:solidFill>
                <a:srgbClr val="CC0000"/>
              </a:solidFill>
            </a:endParaRPr>
          </a:p>
        </p:txBody>
      </p:sp>
      <p:cxnSp>
        <p:nvCxnSpPr>
          <p:cNvPr id="475" name="Google Shape;475;p55"/>
          <p:cNvCxnSpPr>
            <a:stCxn id="460" idx="3"/>
            <a:endCxn id="457" idx="1"/>
          </p:cNvCxnSpPr>
          <p:nvPr/>
        </p:nvCxnSpPr>
        <p:spPr>
          <a:xfrm>
            <a:off x="4139350" y="2802050"/>
            <a:ext cx="168900" cy="0"/>
          </a:xfrm>
          <a:prstGeom prst="straightConnector1">
            <a:avLst/>
          </a:prstGeom>
          <a:noFill/>
          <a:ln cap="flat" cmpd="sng" w="19050">
            <a:solidFill>
              <a:schemeClr val="dk2"/>
            </a:solidFill>
            <a:prstDash val="solid"/>
            <a:round/>
            <a:headEnd len="med" w="med" type="none"/>
            <a:tailEnd len="med" w="med" type="triangle"/>
          </a:ln>
        </p:spPr>
      </p:cxnSp>
      <p:sp>
        <p:nvSpPr>
          <p:cNvPr id="465" name="Google Shape;465;p55"/>
          <p:cNvSpPr/>
          <p:nvPr/>
        </p:nvSpPr>
        <p:spPr>
          <a:xfrm>
            <a:off x="6135400" y="3622948"/>
            <a:ext cx="6420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1000">
                <a:solidFill>
                  <a:srgbClr val="CC0000"/>
                </a:solidFill>
              </a:rPr>
              <a:t>H</a:t>
            </a:r>
            <a:r>
              <a:rPr lang="en" sz="1000">
                <a:solidFill>
                  <a:srgbClr val="CC0000"/>
                </a:solidFill>
              </a:rPr>
              <a:t>(KSK)</a:t>
            </a:r>
            <a:endParaRPr sz="1000">
              <a:solidFill>
                <a:srgbClr val="CC0000"/>
              </a:solidFill>
            </a:endParaRPr>
          </a:p>
        </p:txBody>
      </p:sp>
      <p:cxnSp>
        <p:nvCxnSpPr>
          <p:cNvPr id="476" name="Google Shape;476;p55"/>
          <p:cNvCxnSpPr>
            <a:stCxn id="465" idx="3"/>
            <a:endCxn id="477" idx="1"/>
          </p:cNvCxnSpPr>
          <p:nvPr/>
        </p:nvCxnSpPr>
        <p:spPr>
          <a:xfrm>
            <a:off x="6777400" y="3762748"/>
            <a:ext cx="168900" cy="0"/>
          </a:xfrm>
          <a:prstGeom prst="straightConnector1">
            <a:avLst/>
          </a:prstGeom>
          <a:noFill/>
          <a:ln cap="flat" cmpd="sng" w="19050">
            <a:solidFill>
              <a:schemeClr val="dk2"/>
            </a:solidFill>
            <a:prstDash val="solid"/>
            <a:round/>
            <a:headEnd len="med" w="med" type="none"/>
            <a:tailEnd len="med" w="med" type="triangle"/>
          </a:ln>
        </p:spPr>
      </p:cxnSp>
      <p:sp>
        <p:nvSpPr>
          <p:cNvPr id="477" name="Google Shape;477;p55"/>
          <p:cNvSpPr/>
          <p:nvPr/>
        </p:nvSpPr>
        <p:spPr>
          <a:xfrm>
            <a:off x="6946350" y="3622950"/>
            <a:ext cx="5274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CC0000"/>
                </a:solidFill>
              </a:rPr>
              <a:t>KSK</a:t>
            </a:r>
            <a:endParaRPr sz="1000">
              <a:solidFill>
                <a:srgbClr val="CC0000"/>
              </a:solidFill>
            </a:endParaRPr>
          </a:p>
        </p:txBody>
      </p:sp>
      <p:cxnSp>
        <p:nvCxnSpPr>
          <p:cNvPr id="478" name="Google Shape;478;p55"/>
          <p:cNvCxnSpPr>
            <a:stCxn id="477" idx="2"/>
            <a:endCxn id="467" idx="0"/>
          </p:cNvCxnSpPr>
          <p:nvPr/>
        </p:nvCxnSpPr>
        <p:spPr>
          <a:xfrm flipH="1">
            <a:off x="6407550" y="3902550"/>
            <a:ext cx="802500" cy="279600"/>
          </a:xfrm>
          <a:prstGeom prst="straightConnector1">
            <a:avLst/>
          </a:prstGeom>
          <a:noFill/>
          <a:ln cap="flat" cmpd="sng" w="19050">
            <a:solidFill>
              <a:schemeClr val="dk2"/>
            </a:solidFill>
            <a:prstDash val="solid"/>
            <a:round/>
            <a:headEnd len="med" w="med" type="none"/>
            <a:tailEnd len="med" w="med" type="triangle"/>
          </a:ln>
        </p:spPr>
      </p:cxnSp>
      <p:cxnSp>
        <p:nvCxnSpPr>
          <p:cNvPr id="479" name="Google Shape;479;p55"/>
          <p:cNvCxnSpPr>
            <a:stCxn id="477" idx="2"/>
            <a:endCxn id="468" idx="0"/>
          </p:cNvCxnSpPr>
          <p:nvPr/>
        </p:nvCxnSpPr>
        <p:spPr>
          <a:xfrm flipH="1">
            <a:off x="6917850" y="3902550"/>
            <a:ext cx="292200" cy="2796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3" name="Shape 483"/>
        <p:cNvGrpSpPr/>
        <p:nvPr/>
      </p:nvGrpSpPr>
      <p:grpSpPr>
        <a:xfrm>
          <a:off x="0" y="0"/>
          <a:ext cx="0" cy="0"/>
          <a:chOff x="0" y="0"/>
          <a:chExt cx="0" cy="0"/>
        </a:xfrm>
      </p:grpSpPr>
      <p:sp>
        <p:nvSpPr>
          <p:cNvPr id="484" name="Google Shape;484;p5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Path of Trust (with KSKs and ZSKs)</a:t>
            </a:r>
            <a:endParaRPr/>
          </a:p>
        </p:txBody>
      </p:sp>
      <p:sp>
        <p:nvSpPr>
          <p:cNvPr id="485" name="Google Shape;485;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86" name="Google Shape;486;p56"/>
          <p:cNvSpPr/>
          <p:nvPr/>
        </p:nvSpPr>
        <p:spPr>
          <a:xfrm>
            <a:off x="836700" y="1329100"/>
            <a:ext cx="2295300" cy="1487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56"/>
          <p:cNvSpPr/>
          <p:nvPr/>
        </p:nvSpPr>
        <p:spPr>
          <a:xfrm>
            <a:off x="1720650" y="1709350"/>
            <a:ext cx="5274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CC0000"/>
                </a:solidFill>
              </a:rPr>
              <a:t>KSK</a:t>
            </a:r>
            <a:endParaRPr sz="1000">
              <a:solidFill>
                <a:srgbClr val="CC0000"/>
              </a:solidFill>
            </a:endParaRPr>
          </a:p>
        </p:txBody>
      </p:sp>
      <p:sp>
        <p:nvSpPr>
          <p:cNvPr id="488" name="Google Shape;488;p56"/>
          <p:cNvSpPr/>
          <p:nvPr/>
        </p:nvSpPr>
        <p:spPr>
          <a:xfrm>
            <a:off x="1135950" y="2268550"/>
            <a:ext cx="5274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8761D"/>
                </a:solidFill>
              </a:rPr>
              <a:t>ZSK</a:t>
            </a:r>
            <a:endParaRPr sz="1000">
              <a:solidFill>
                <a:srgbClr val="38761D"/>
              </a:solidFill>
            </a:endParaRPr>
          </a:p>
        </p:txBody>
      </p:sp>
      <p:sp>
        <p:nvSpPr>
          <p:cNvPr id="489" name="Google Shape;489;p56"/>
          <p:cNvSpPr/>
          <p:nvPr/>
        </p:nvSpPr>
        <p:spPr>
          <a:xfrm>
            <a:off x="2305350" y="2268550"/>
            <a:ext cx="5274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8761D"/>
                </a:solidFill>
              </a:rPr>
              <a:t>ZSK</a:t>
            </a:r>
            <a:endParaRPr sz="1000">
              <a:solidFill>
                <a:srgbClr val="38761D"/>
              </a:solidFill>
            </a:endParaRPr>
          </a:p>
        </p:txBody>
      </p:sp>
      <p:cxnSp>
        <p:nvCxnSpPr>
          <p:cNvPr id="490" name="Google Shape;490;p56"/>
          <p:cNvCxnSpPr>
            <a:stCxn id="487" idx="2"/>
            <a:endCxn id="488" idx="0"/>
          </p:cNvCxnSpPr>
          <p:nvPr/>
        </p:nvCxnSpPr>
        <p:spPr>
          <a:xfrm flipH="1">
            <a:off x="1399650" y="1988950"/>
            <a:ext cx="584700" cy="279600"/>
          </a:xfrm>
          <a:prstGeom prst="straightConnector1">
            <a:avLst/>
          </a:prstGeom>
          <a:noFill/>
          <a:ln cap="flat" cmpd="sng" w="19050">
            <a:solidFill>
              <a:schemeClr val="dk2"/>
            </a:solidFill>
            <a:prstDash val="solid"/>
            <a:round/>
            <a:headEnd len="med" w="med" type="none"/>
            <a:tailEnd len="med" w="med" type="triangle"/>
          </a:ln>
        </p:spPr>
      </p:cxnSp>
      <p:cxnSp>
        <p:nvCxnSpPr>
          <p:cNvPr id="491" name="Google Shape;491;p56"/>
          <p:cNvCxnSpPr>
            <a:stCxn id="487" idx="2"/>
            <a:endCxn id="489" idx="0"/>
          </p:cNvCxnSpPr>
          <p:nvPr/>
        </p:nvCxnSpPr>
        <p:spPr>
          <a:xfrm>
            <a:off x="1984350" y="1988950"/>
            <a:ext cx="584700" cy="279600"/>
          </a:xfrm>
          <a:prstGeom prst="straightConnector1">
            <a:avLst/>
          </a:prstGeom>
          <a:noFill/>
          <a:ln cap="flat" cmpd="sng" w="19050">
            <a:solidFill>
              <a:schemeClr val="dk2"/>
            </a:solidFill>
            <a:prstDash val="solid"/>
            <a:round/>
            <a:headEnd len="med" w="med" type="none"/>
            <a:tailEnd len="med" w="med" type="triangle"/>
          </a:ln>
        </p:spPr>
      </p:cxnSp>
      <p:sp>
        <p:nvSpPr>
          <p:cNvPr id="492" name="Google Shape;492;p56"/>
          <p:cNvSpPr txBox="1"/>
          <p:nvPr/>
        </p:nvSpPr>
        <p:spPr>
          <a:xfrm>
            <a:off x="1078650" y="1988950"/>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DNSKEY</a:t>
            </a:r>
            <a:endParaRPr sz="800">
              <a:solidFill>
                <a:schemeClr val="dk1"/>
              </a:solidFill>
            </a:endParaRPr>
          </a:p>
        </p:txBody>
      </p:sp>
      <p:sp>
        <p:nvSpPr>
          <p:cNvPr id="493" name="Google Shape;493;p56"/>
          <p:cNvSpPr txBox="1"/>
          <p:nvPr/>
        </p:nvSpPr>
        <p:spPr>
          <a:xfrm>
            <a:off x="2248050" y="1988950"/>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DNSKEY</a:t>
            </a:r>
            <a:endParaRPr sz="800">
              <a:solidFill>
                <a:schemeClr val="dk1"/>
              </a:solidFill>
            </a:endParaRPr>
          </a:p>
        </p:txBody>
      </p:sp>
      <p:sp>
        <p:nvSpPr>
          <p:cNvPr id="494" name="Google Shape;494;p56"/>
          <p:cNvSpPr txBox="1"/>
          <p:nvPr/>
        </p:nvSpPr>
        <p:spPr>
          <a:xfrm>
            <a:off x="1257150" y="1307850"/>
            <a:ext cx="1454400" cy="36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a:t>
            </a:r>
            <a:endParaRPr>
              <a:solidFill>
                <a:schemeClr val="dk1"/>
              </a:solidFill>
            </a:endParaRPr>
          </a:p>
        </p:txBody>
      </p:sp>
      <p:sp>
        <p:nvSpPr>
          <p:cNvPr id="495" name="Google Shape;495;p56"/>
          <p:cNvSpPr/>
          <p:nvPr/>
        </p:nvSpPr>
        <p:spPr>
          <a:xfrm>
            <a:off x="3424350" y="2282000"/>
            <a:ext cx="2295300" cy="1487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56"/>
          <p:cNvSpPr/>
          <p:nvPr/>
        </p:nvSpPr>
        <p:spPr>
          <a:xfrm>
            <a:off x="4308300" y="2662250"/>
            <a:ext cx="5274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CC0000"/>
                </a:solidFill>
              </a:rPr>
              <a:t>KSK</a:t>
            </a:r>
            <a:endParaRPr sz="1000">
              <a:solidFill>
                <a:srgbClr val="CC0000"/>
              </a:solidFill>
            </a:endParaRPr>
          </a:p>
        </p:txBody>
      </p:sp>
      <p:sp>
        <p:nvSpPr>
          <p:cNvPr id="497" name="Google Shape;497;p56"/>
          <p:cNvSpPr/>
          <p:nvPr/>
        </p:nvSpPr>
        <p:spPr>
          <a:xfrm>
            <a:off x="3723600" y="3221450"/>
            <a:ext cx="5274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8761D"/>
                </a:solidFill>
              </a:rPr>
              <a:t>ZSK</a:t>
            </a:r>
            <a:endParaRPr sz="1000">
              <a:solidFill>
                <a:srgbClr val="38761D"/>
              </a:solidFill>
            </a:endParaRPr>
          </a:p>
        </p:txBody>
      </p:sp>
      <p:sp>
        <p:nvSpPr>
          <p:cNvPr id="498" name="Google Shape;498;p56"/>
          <p:cNvSpPr/>
          <p:nvPr/>
        </p:nvSpPr>
        <p:spPr>
          <a:xfrm>
            <a:off x="4893000" y="3221450"/>
            <a:ext cx="5274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8761D"/>
                </a:solidFill>
              </a:rPr>
              <a:t>ZSK</a:t>
            </a:r>
            <a:endParaRPr sz="1000">
              <a:solidFill>
                <a:srgbClr val="38761D"/>
              </a:solidFill>
            </a:endParaRPr>
          </a:p>
        </p:txBody>
      </p:sp>
      <p:cxnSp>
        <p:nvCxnSpPr>
          <p:cNvPr id="499" name="Google Shape;499;p56"/>
          <p:cNvCxnSpPr>
            <a:stCxn id="496" idx="2"/>
            <a:endCxn id="497" idx="0"/>
          </p:cNvCxnSpPr>
          <p:nvPr/>
        </p:nvCxnSpPr>
        <p:spPr>
          <a:xfrm flipH="1">
            <a:off x="3987300" y="2941850"/>
            <a:ext cx="584700" cy="279600"/>
          </a:xfrm>
          <a:prstGeom prst="straightConnector1">
            <a:avLst/>
          </a:prstGeom>
          <a:noFill/>
          <a:ln cap="flat" cmpd="sng" w="19050">
            <a:solidFill>
              <a:schemeClr val="dk2"/>
            </a:solidFill>
            <a:prstDash val="solid"/>
            <a:round/>
            <a:headEnd len="med" w="med" type="none"/>
            <a:tailEnd len="med" w="med" type="triangle"/>
          </a:ln>
        </p:spPr>
      </p:cxnSp>
      <p:cxnSp>
        <p:nvCxnSpPr>
          <p:cNvPr id="500" name="Google Shape;500;p56"/>
          <p:cNvCxnSpPr>
            <a:stCxn id="496" idx="2"/>
            <a:endCxn id="498" idx="0"/>
          </p:cNvCxnSpPr>
          <p:nvPr/>
        </p:nvCxnSpPr>
        <p:spPr>
          <a:xfrm>
            <a:off x="4572000" y="2941850"/>
            <a:ext cx="584700" cy="279600"/>
          </a:xfrm>
          <a:prstGeom prst="straightConnector1">
            <a:avLst/>
          </a:prstGeom>
          <a:noFill/>
          <a:ln cap="flat" cmpd="sng" w="19050">
            <a:solidFill>
              <a:schemeClr val="dk2"/>
            </a:solidFill>
            <a:prstDash val="solid"/>
            <a:round/>
            <a:headEnd len="med" w="med" type="none"/>
            <a:tailEnd len="med" w="med" type="triangle"/>
          </a:ln>
        </p:spPr>
      </p:cxnSp>
      <p:sp>
        <p:nvSpPr>
          <p:cNvPr id="501" name="Google Shape;501;p56"/>
          <p:cNvSpPr txBox="1"/>
          <p:nvPr/>
        </p:nvSpPr>
        <p:spPr>
          <a:xfrm>
            <a:off x="3666300" y="2941850"/>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DNSKEY</a:t>
            </a:r>
            <a:endParaRPr sz="800">
              <a:solidFill>
                <a:schemeClr val="dk1"/>
              </a:solidFill>
            </a:endParaRPr>
          </a:p>
        </p:txBody>
      </p:sp>
      <p:sp>
        <p:nvSpPr>
          <p:cNvPr id="502" name="Google Shape;502;p56"/>
          <p:cNvSpPr txBox="1"/>
          <p:nvPr/>
        </p:nvSpPr>
        <p:spPr>
          <a:xfrm>
            <a:off x="4835700" y="2941850"/>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DNSKEY</a:t>
            </a:r>
            <a:endParaRPr sz="800">
              <a:solidFill>
                <a:schemeClr val="dk1"/>
              </a:solidFill>
            </a:endParaRPr>
          </a:p>
        </p:txBody>
      </p:sp>
      <p:sp>
        <p:nvSpPr>
          <p:cNvPr id="503" name="Google Shape;503;p56"/>
          <p:cNvSpPr txBox="1"/>
          <p:nvPr/>
        </p:nvSpPr>
        <p:spPr>
          <a:xfrm>
            <a:off x="3844800" y="2260750"/>
            <a:ext cx="1454400" cy="36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org</a:t>
            </a:r>
            <a:endParaRPr>
              <a:solidFill>
                <a:schemeClr val="dk1"/>
              </a:solidFill>
            </a:endParaRPr>
          </a:p>
        </p:txBody>
      </p:sp>
      <p:cxnSp>
        <p:nvCxnSpPr>
          <p:cNvPr id="504" name="Google Shape;504;p56"/>
          <p:cNvCxnSpPr>
            <a:stCxn id="489" idx="2"/>
            <a:endCxn id="505" idx="1"/>
          </p:cNvCxnSpPr>
          <p:nvPr/>
        </p:nvCxnSpPr>
        <p:spPr>
          <a:xfrm>
            <a:off x="2569050" y="2548150"/>
            <a:ext cx="928200" cy="253800"/>
          </a:xfrm>
          <a:prstGeom prst="straightConnector1">
            <a:avLst/>
          </a:prstGeom>
          <a:noFill/>
          <a:ln cap="flat" cmpd="sng" w="19050">
            <a:solidFill>
              <a:schemeClr val="dk2"/>
            </a:solidFill>
            <a:prstDash val="solid"/>
            <a:round/>
            <a:headEnd len="med" w="med" type="none"/>
            <a:tailEnd len="med" w="med" type="triangle"/>
          </a:ln>
        </p:spPr>
      </p:cxnSp>
      <p:sp>
        <p:nvSpPr>
          <p:cNvPr id="506" name="Google Shape;506;p56"/>
          <p:cNvSpPr txBox="1"/>
          <p:nvPr/>
        </p:nvSpPr>
        <p:spPr>
          <a:xfrm>
            <a:off x="2963075" y="2342650"/>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DS</a:t>
            </a:r>
            <a:endParaRPr sz="800">
              <a:solidFill>
                <a:schemeClr val="dk1"/>
              </a:solidFill>
            </a:endParaRPr>
          </a:p>
        </p:txBody>
      </p:sp>
      <p:sp>
        <p:nvSpPr>
          <p:cNvPr id="507" name="Google Shape;507;p56"/>
          <p:cNvSpPr/>
          <p:nvPr/>
        </p:nvSpPr>
        <p:spPr>
          <a:xfrm>
            <a:off x="6062400" y="3242700"/>
            <a:ext cx="2295300" cy="18330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56"/>
          <p:cNvSpPr/>
          <p:nvPr/>
        </p:nvSpPr>
        <p:spPr>
          <a:xfrm>
            <a:off x="6946350" y="3622950"/>
            <a:ext cx="5274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CC0000"/>
                </a:solidFill>
              </a:rPr>
              <a:t>KSK</a:t>
            </a:r>
            <a:endParaRPr sz="1000">
              <a:solidFill>
                <a:srgbClr val="CC0000"/>
              </a:solidFill>
            </a:endParaRPr>
          </a:p>
        </p:txBody>
      </p:sp>
      <p:sp>
        <p:nvSpPr>
          <p:cNvPr id="509" name="Google Shape;509;p56"/>
          <p:cNvSpPr/>
          <p:nvPr/>
        </p:nvSpPr>
        <p:spPr>
          <a:xfrm>
            <a:off x="6361650" y="4182150"/>
            <a:ext cx="5274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8761D"/>
                </a:solidFill>
              </a:rPr>
              <a:t>ZSK</a:t>
            </a:r>
            <a:endParaRPr sz="1000">
              <a:solidFill>
                <a:srgbClr val="38761D"/>
              </a:solidFill>
            </a:endParaRPr>
          </a:p>
        </p:txBody>
      </p:sp>
      <p:sp>
        <p:nvSpPr>
          <p:cNvPr id="510" name="Google Shape;510;p56"/>
          <p:cNvSpPr/>
          <p:nvPr/>
        </p:nvSpPr>
        <p:spPr>
          <a:xfrm>
            <a:off x="7531050" y="4182150"/>
            <a:ext cx="5274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8761D"/>
                </a:solidFill>
              </a:rPr>
              <a:t>ZSK</a:t>
            </a:r>
            <a:endParaRPr sz="1000">
              <a:solidFill>
                <a:srgbClr val="38761D"/>
              </a:solidFill>
            </a:endParaRPr>
          </a:p>
        </p:txBody>
      </p:sp>
      <p:cxnSp>
        <p:nvCxnSpPr>
          <p:cNvPr id="511" name="Google Shape;511;p56"/>
          <p:cNvCxnSpPr>
            <a:stCxn id="508" idx="2"/>
            <a:endCxn id="509" idx="0"/>
          </p:cNvCxnSpPr>
          <p:nvPr/>
        </p:nvCxnSpPr>
        <p:spPr>
          <a:xfrm flipH="1">
            <a:off x="6625350" y="3902550"/>
            <a:ext cx="584700" cy="279600"/>
          </a:xfrm>
          <a:prstGeom prst="straightConnector1">
            <a:avLst/>
          </a:prstGeom>
          <a:noFill/>
          <a:ln cap="flat" cmpd="sng" w="19050">
            <a:solidFill>
              <a:schemeClr val="dk2"/>
            </a:solidFill>
            <a:prstDash val="solid"/>
            <a:round/>
            <a:headEnd len="med" w="med" type="none"/>
            <a:tailEnd len="med" w="med" type="triangle"/>
          </a:ln>
        </p:spPr>
      </p:cxnSp>
      <p:cxnSp>
        <p:nvCxnSpPr>
          <p:cNvPr id="512" name="Google Shape;512;p56"/>
          <p:cNvCxnSpPr>
            <a:stCxn id="508" idx="2"/>
            <a:endCxn id="510" idx="0"/>
          </p:cNvCxnSpPr>
          <p:nvPr/>
        </p:nvCxnSpPr>
        <p:spPr>
          <a:xfrm>
            <a:off x="7210050" y="3902550"/>
            <a:ext cx="584700" cy="279600"/>
          </a:xfrm>
          <a:prstGeom prst="straightConnector1">
            <a:avLst/>
          </a:prstGeom>
          <a:noFill/>
          <a:ln cap="flat" cmpd="sng" w="19050">
            <a:solidFill>
              <a:schemeClr val="dk2"/>
            </a:solidFill>
            <a:prstDash val="solid"/>
            <a:round/>
            <a:headEnd len="med" w="med" type="none"/>
            <a:tailEnd len="med" w="med" type="triangle"/>
          </a:ln>
        </p:spPr>
      </p:cxnSp>
      <p:sp>
        <p:nvSpPr>
          <p:cNvPr id="513" name="Google Shape;513;p56"/>
          <p:cNvSpPr txBox="1"/>
          <p:nvPr/>
        </p:nvSpPr>
        <p:spPr>
          <a:xfrm>
            <a:off x="6304350" y="3902550"/>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DNSKEY</a:t>
            </a:r>
            <a:endParaRPr sz="800">
              <a:solidFill>
                <a:schemeClr val="dk1"/>
              </a:solidFill>
            </a:endParaRPr>
          </a:p>
        </p:txBody>
      </p:sp>
      <p:sp>
        <p:nvSpPr>
          <p:cNvPr id="514" name="Google Shape;514;p56"/>
          <p:cNvSpPr txBox="1"/>
          <p:nvPr/>
        </p:nvSpPr>
        <p:spPr>
          <a:xfrm>
            <a:off x="7473750" y="3902550"/>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DNSKEY</a:t>
            </a:r>
            <a:endParaRPr sz="800">
              <a:solidFill>
                <a:schemeClr val="dk1"/>
              </a:solidFill>
            </a:endParaRPr>
          </a:p>
        </p:txBody>
      </p:sp>
      <p:sp>
        <p:nvSpPr>
          <p:cNvPr id="515" name="Google Shape;515;p56"/>
          <p:cNvSpPr txBox="1"/>
          <p:nvPr/>
        </p:nvSpPr>
        <p:spPr>
          <a:xfrm>
            <a:off x="6482850" y="3221450"/>
            <a:ext cx="1454400" cy="36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cs161.org</a:t>
            </a:r>
            <a:endParaRPr>
              <a:solidFill>
                <a:schemeClr val="dk1"/>
              </a:solidFill>
            </a:endParaRPr>
          </a:p>
        </p:txBody>
      </p:sp>
      <p:cxnSp>
        <p:nvCxnSpPr>
          <p:cNvPr id="516" name="Google Shape;516;p56"/>
          <p:cNvCxnSpPr>
            <a:stCxn id="498" idx="2"/>
            <a:endCxn id="517" idx="1"/>
          </p:cNvCxnSpPr>
          <p:nvPr/>
        </p:nvCxnSpPr>
        <p:spPr>
          <a:xfrm>
            <a:off x="5156700" y="3501050"/>
            <a:ext cx="978600" cy="261600"/>
          </a:xfrm>
          <a:prstGeom prst="straightConnector1">
            <a:avLst/>
          </a:prstGeom>
          <a:noFill/>
          <a:ln cap="flat" cmpd="sng" w="19050">
            <a:solidFill>
              <a:schemeClr val="dk2"/>
            </a:solidFill>
            <a:prstDash val="solid"/>
            <a:round/>
            <a:headEnd len="med" w="med" type="none"/>
            <a:tailEnd len="med" w="med" type="triangle"/>
          </a:ln>
        </p:spPr>
      </p:cxnSp>
      <p:sp>
        <p:nvSpPr>
          <p:cNvPr id="518" name="Google Shape;518;p56"/>
          <p:cNvSpPr txBox="1"/>
          <p:nvPr/>
        </p:nvSpPr>
        <p:spPr>
          <a:xfrm>
            <a:off x="5567800" y="3419550"/>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DS</a:t>
            </a:r>
            <a:endParaRPr sz="800">
              <a:solidFill>
                <a:schemeClr val="dk1"/>
              </a:solidFill>
            </a:endParaRPr>
          </a:p>
        </p:txBody>
      </p:sp>
      <p:sp>
        <p:nvSpPr>
          <p:cNvPr id="519" name="Google Shape;519;p56"/>
          <p:cNvSpPr/>
          <p:nvPr/>
        </p:nvSpPr>
        <p:spPr>
          <a:xfrm>
            <a:off x="6209800" y="4644975"/>
            <a:ext cx="3957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1155CC"/>
                </a:solidFill>
              </a:rPr>
              <a:t>A</a:t>
            </a:r>
            <a:endParaRPr sz="800">
              <a:solidFill>
                <a:srgbClr val="1155CC"/>
              </a:solidFill>
            </a:endParaRPr>
          </a:p>
        </p:txBody>
      </p:sp>
      <p:cxnSp>
        <p:nvCxnSpPr>
          <p:cNvPr id="520" name="Google Shape;520;p56"/>
          <p:cNvCxnSpPr>
            <a:stCxn id="509" idx="2"/>
            <a:endCxn id="519" idx="0"/>
          </p:cNvCxnSpPr>
          <p:nvPr/>
        </p:nvCxnSpPr>
        <p:spPr>
          <a:xfrm flipH="1">
            <a:off x="6407550" y="4461750"/>
            <a:ext cx="217800" cy="183300"/>
          </a:xfrm>
          <a:prstGeom prst="straightConnector1">
            <a:avLst/>
          </a:prstGeom>
          <a:noFill/>
          <a:ln cap="flat" cmpd="sng" w="19050">
            <a:solidFill>
              <a:schemeClr val="dk2"/>
            </a:solidFill>
            <a:prstDash val="solid"/>
            <a:round/>
            <a:headEnd len="med" w="med" type="none"/>
            <a:tailEnd len="med" w="med" type="triangle"/>
          </a:ln>
        </p:spPr>
      </p:cxnSp>
      <p:sp>
        <p:nvSpPr>
          <p:cNvPr id="521" name="Google Shape;521;p56"/>
          <p:cNvSpPr/>
          <p:nvPr/>
        </p:nvSpPr>
        <p:spPr>
          <a:xfrm>
            <a:off x="6719857" y="4644975"/>
            <a:ext cx="3957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1155CC"/>
                </a:solidFill>
              </a:rPr>
              <a:t>MX</a:t>
            </a:r>
            <a:endParaRPr sz="800">
              <a:solidFill>
                <a:srgbClr val="1155CC"/>
              </a:solidFill>
            </a:endParaRPr>
          </a:p>
        </p:txBody>
      </p:sp>
      <p:cxnSp>
        <p:nvCxnSpPr>
          <p:cNvPr id="522" name="Google Shape;522;p56"/>
          <p:cNvCxnSpPr>
            <a:stCxn id="509" idx="2"/>
            <a:endCxn id="521" idx="0"/>
          </p:cNvCxnSpPr>
          <p:nvPr/>
        </p:nvCxnSpPr>
        <p:spPr>
          <a:xfrm>
            <a:off x="6625350" y="4461750"/>
            <a:ext cx="292500" cy="183300"/>
          </a:xfrm>
          <a:prstGeom prst="straightConnector1">
            <a:avLst/>
          </a:prstGeom>
          <a:noFill/>
          <a:ln cap="flat" cmpd="sng" w="19050">
            <a:solidFill>
              <a:schemeClr val="dk2"/>
            </a:solidFill>
            <a:prstDash val="solid"/>
            <a:round/>
            <a:headEnd len="med" w="med" type="none"/>
            <a:tailEnd len="med" w="med" type="triangle"/>
          </a:ln>
        </p:spPr>
      </p:cxnSp>
      <p:cxnSp>
        <p:nvCxnSpPr>
          <p:cNvPr id="523" name="Google Shape;523;p56"/>
          <p:cNvCxnSpPr>
            <a:stCxn id="524" idx="1"/>
            <a:endCxn id="487" idx="3"/>
          </p:cNvCxnSpPr>
          <p:nvPr/>
        </p:nvCxnSpPr>
        <p:spPr>
          <a:xfrm flipH="1">
            <a:off x="2248200" y="1444500"/>
            <a:ext cx="1475400" cy="404700"/>
          </a:xfrm>
          <a:prstGeom prst="straightConnector1">
            <a:avLst/>
          </a:prstGeom>
          <a:noFill/>
          <a:ln cap="flat" cmpd="sng" w="9525">
            <a:solidFill>
              <a:schemeClr val="dk2"/>
            </a:solidFill>
            <a:prstDash val="solid"/>
            <a:round/>
            <a:headEnd len="med" w="med" type="none"/>
            <a:tailEnd len="med" w="med" type="triangle"/>
          </a:ln>
        </p:spPr>
      </p:cxnSp>
      <p:sp>
        <p:nvSpPr>
          <p:cNvPr id="524" name="Google Shape;524;p56"/>
          <p:cNvSpPr txBox="1"/>
          <p:nvPr/>
        </p:nvSpPr>
        <p:spPr>
          <a:xfrm>
            <a:off x="3723600" y="1244400"/>
            <a:ext cx="145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Root of trust</a:t>
            </a:r>
            <a:endParaRPr>
              <a:solidFill>
                <a:schemeClr val="dk1"/>
              </a:solidFill>
            </a:endParaRPr>
          </a:p>
        </p:txBody>
      </p:sp>
      <p:cxnSp>
        <p:nvCxnSpPr>
          <p:cNvPr id="525" name="Google Shape;525;p56"/>
          <p:cNvCxnSpPr>
            <a:stCxn id="486" idx="3"/>
            <a:endCxn id="503" idx="0"/>
          </p:cNvCxnSpPr>
          <p:nvPr/>
        </p:nvCxnSpPr>
        <p:spPr>
          <a:xfrm>
            <a:off x="3132000" y="2072800"/>
            <a:ext cx="1440000" cy="188100"/>
          </a:xfrm>
          <a:prstGeom prst="curvedConnector2">
            <a:avLst/>
          </a:prstGeom>
          <a:noFill/>
          <a:ln cap="flat" cmpd="sng" w="9525">
            <a:solidFill>
              <a:schemeClr val="dk2"/>
            </a:solidFill>
            <a:prstDash val="solid"/>
            <a:round/>
            <a:headEnd len="med" w="med" type="none"/>
            <a:tailEnd len="med" w="med" type="stealth"/>
          </a:ln>
        </p:spPr>
      </p:cxnSp>
      <p:cxnSp>
        <p:nvCxnSpPr>
          <p:cNvPr id="526" name="Google Shape;526;p56"/>
          <p:cNvCxnSpPr>
            <a:stCxn id="495" idx="3"/>
            <a:endCxn id="515" idx="0"/>
          </p:cNvCxnSpPr>
          <p:nvPr/>
        </p:nvCxnSpPr>
        <p:spPr>
          <a:xfrm>
            <a:off x="5719650" y="3025700"/>
            <a:ext cx="1490400" cy="195900"/>
          </a:xfrm>
          <a:prstGeom prst="curvedConnector2">
            <a:avLst/>
          </a:prstGeom>
          <a:noFill/>
          <a:ln cap="flat" cmpd="sng" w="9525">
            <a:solidFill>
              <a:schemeClr val="dk2"/>
            </a:solidFill>
            <a:prstDash val="solid"/>
            <a:round/>
            <a:headEnd len="med" w="med" type="none"/>
            <a:tailEnd len="med" w="med" type="stealth"/>
          </a:ln>
        </p:spPr>
      </p:cxnSp>
      <p:sp>
        <p:nvSpPr>
          <p:cNvPr id="527" name="Google Shape;527;p56"/>
          <p:cNvSpPr txBox="1"/>
          <p:nvPr/>
        </p:nvSpPr>
        <p:spPr>
          <a:xfrm>
            <a:off x="3605075" y="1791575"/>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NS</a:t>
            </a:r>
            <a:endParaRPr sz="800">
              <a:solidFill>
                <a:schemeClr val="dk1"/>
              </a:solidFill>
            </a:endParaRPr>
          </a:p>
        </p:txBody>
      </p:sp>
      <p:sp>
        <p:nvSpPr>
          <p:cNvPr id="528" name="Google Shape;528;p56"/>
          <p:cNvSpPr txBox="1"/>
          <p:nvPr/>
        </p:nvSpPr>
        <p:spPr>
          <a:xfrm>
            <a:off x="6195450" y="2745000"/>
            <a:ext cx="642000" cy="2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rPr>
              <a:t>NS</a:t>
            </a:r>
            <a:endParaRPr sz="800">
              <a:solidFill>
                <a:schemeClr val="dk1"/>
              </a:solidFill>
            </a:endParaRPr>
          </a:p>
        </p:txBody>
      </p:sp>
      <p:sp>
        <p:nvSpPr>
          <p:cNvPr id="517" name="Google Shape;517;p56"/>
          <p:cNvSpPr/>
          <p:nvPr/>
        </p:nvSpPr>
        <p:spPr>
          <a:xfrm>
            <a:off x="6135400" y="3622948"/>
            <a:ext cx="6420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1000">
                <a:solidFill>
                  <a:srgbClr val="CC0000"/>
                </a:solidFill>
              </a:rPr>
              <a:t>H</a:t>
            </a:r>
            <a:r>
              <a:rPr lang="en" sz="1000">
                <a:solidFill>
                  <a:srgbClr val="CC0000"/>
                </a:solidFill>
              </a:rPr>
              <a:t>(KSK)</a:t>
            </a:r>
            <a:endParaRPr sz="1000">
              <a:solidFill>
                <a:srgbClr val="CC0000"/>
              </a:solidFill>
            </a:endParaRPr>
          </a:p>
        </p:txBody>
      </p:sp>
      <p:cxnSp>
        <p:nvCxnSpPr>
          <p:cNvPr id="529" name="Google Shape;529;p56"/>
          <p:cNvCxnSpPr>
            <a:stCxn id="517" idx="3"/>
          </p:cNvCxnSpPr>
          <p:nvPr/>
        </p:nvCxnSpPr>
        <p:spPr>
          <a:xfrm>
            <a:off x="6777400" y="3762748"/>
            <a:ext cx="168900" cy="0"/>
          </a:xfrm>
          <a:prstGeom prst="straightConnector1">
            <a:avLst/>
          </a:prstGeom>
          <a:noFill/>
          <a:ln cap="flat" cmpd="sng" w="19050">
            <a:solidFill>
              <a:schemeClr val="dk2"/>
            </a:solidFill>
            <a:prstDash val="solid"/>
            <a:round/>
            <a:headEnd len="med" w="med" type="none"/>
            <a:tailEnd len="med" w="med" type="triangle"/>
          </a:ln>
        </p:spPr>
      </p:cxnSp>
      <p:sp>
        <p:nvSpPr>
          <p:cNvPr id="505" name="Google Shape;505;p56"/>
          <p:cNvSpPr/>
          <p:nvPr/>
        </p:nvSpPr>
        <p:spPr>
          <a:xfrm>
            <a:off x="3497350" y="2662250"/>
            <a:ext cx="642000" cy="279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1000">
                <a:solidFill>
                  <a:srgbClr val="CC0000"/>
                </a:solidFill>
              </a:rPr>
              <a:t>H</a:t>
            </a:r>
            <a:r>
              <a:rPr lang="en" sz="1000">
                <a:solidFill>
                  <a:srgbClr val="CC0000"/>
                </a:solidFill>
              </a:rPr>
              <a:t>(KSK)</a:t>
            </a:r>
            <a:endParaRPr sz="1000">
              <a:solidFill>
                <a:srgbClr val="CC0000"/>
              </a:solidFill>
            </a:endParaRPr>
          </a:p>
        </p:txBody>
      </p:sp>
      <p:cxnSp>
        <p:nvCxnSpPr>
          <p:cNvPr id="530" name="Google Shape;530;p56"/>
          <p:cNvCxnSpPr>
            <a:stCxn id="505" idx="3"/>
            <a:endCxn id="496" idx="1"/>
          </p:cNvCxnSpPr>
          <p:nvPr/>
        </p:nvCxnSpPr>
        <p:spPr>
          <a:xfrm>
            <a:off x="4139350" y="2802050"/>
            <a:ext cx="168900" cy="0"/>
          </a:xfrm>
          <a:prstGeom prst="straightConnector1">
            <a:avLst/>
          </a:prstGeom>
          <a:noFill/>
          <a:ln cap="flat" cmpd="sng" w="19050">
            <a:solidFill>
              <a:schemeClr val="dk2"/>
            </a:solidFill>
            <a:prstDash val="solid"/>
            <a:round/>
            <a:headEnd len="med" w="med" type="none"/>
            <a:tailEnd len="med" w="med" type="triangle"/>
          </a:ln>
        </p:spPr>
      </p:cxnSp>
      <p:sp>
        <p:nvSpPr>
          <p:cNvPr id="531" name="Google Shape;531;p56"/>
          <p:cNvSpPr txBox="1"/>
          <p:nvPr/>
        </p:nvSpPr>
        <p:spPr>
          <a:xfrm>
            <a:off x="866200" y="3691850"/>
            <a:ext cx="4320600" cy="400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The thick arrows represented authenticated data</a:t>
            </a:r>
            <a:endParaRPr>
              <a:solidFill>
                <a:schemeClr val="dk1"/>
              </a:solidFill>
            </a:endParaRPr>
          </a:p>
        </p:txBody>
      </p:sp>
      <p:sp>
        <p:nvSpPr>
          <p:cNvPr id="532" name="Google Shape;532;p56"/>
          <p:cNvSpPr txBox="1"/>
          <p:nvPr/>
        </p:nvSpPr>
        <p:spPr>
          <a:xfrm>
            <a:off x="1018050" y="4034425"/>
            <a:ext cx="4320600" cy="10467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Notice: We don’t need to authenticate NS records. As long as the final A record is authenticated by the chain of trust, it doesn’t matter which server we got it from!</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6" name="Shape 536"/>
        <p:cNvGrpSpPr/>
        <p:nvPr/>
      </p:nvGrpSpPr>
      <p:grpSpPr>
        <a:xfrm>
          <a:off x="0" y="0"/>
          <a:ext cx="0" cy="0"/>
          <a:chOff x="0" y="0"/>
          <a:chExt cx="0" cy="0"/>
        </a:xfrm>
      </p:grpSpPr>
      <p:sp>
        <p:nvSpPr>
          <p:cNvPr id="537" name="Google Shape;537;p5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DNSSEC Lookup </a:t>
            </a:r>
            <a:r>
              <a:rPr lang="en"/>
              <a:t>(Attempt #3)</a:t>
            </a:r>
            <a:endParaRPr/>
          </a:p>
        </p:txBody>
      </p:sp>
      <p:sp>
        <p:nvSpPr>
          <p:cNvPr id="538" name="Google Shape;538;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39" name="Google Shape;539;p57"/>
          <p:cNvSpPr txBox="1"/>
          <p:nvPr/>
        </p:nvSpPr>
        <p:spPr>
          <a:xfrm>
            <a:off x="488250" y="1372800"/>
            <a:ext cx="12381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540" name="Google Shape;540;p57"/>
          <p:cNvSpPr txBox="1"/>
          <p:nvPr/>
        </p:nvSpPr>
        <p:spPr>
          <a:xfrm>
            <a:off x="6855450" y="1372825"/>
            <a:ext cx="17175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root name server</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(“upper half”)</a:t>
            </a:r>
            <a:endParaRPr/>
          </a:p>
        </p:txBody>
      </p:sp>
      <p:grpSp>
        <p:nvGrpSpPr>
          <p:cNvPr id="541" name="Google Shape;541;p57"/>
          <p:cNvGrpSpPr/>
          <p:nvPr/>
        </p:nvGrpSpPr>
        <p:grpSpPr>
          <a:xfrm>
            <a:off x="1811200" y="1466950"/>
            <a:ext cx="4932000" cy="452275"/>
            <a:chOff x="1811200" y="1466950"/>
            <a:chExt cx="4932000" cy="452275"/>
          </a:xfrm>
        </p:grpSpPr>
        <p:cxnSp>
          <p:nvCxnSpPr>
            <p:cNvPr id="542" name="Google Shape;542;p57"/>
            <p:cNvCxnSpPr/>
            <p:nvPr/>
          </p:nvCxnSpPr>
          <p:spPr>
            <a:xfrm rot="10800000">
              <a:off x="1811200" y="1919225"/>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543" name="Google Shape;543;p57"/>
            <p:cNvSpPr txBox="1"/>
            <p:nvPr/>
          </p:nvSpPr>
          <p:spPr>
            <a:xfrm>
              <a:off x="3308800" y="1466950"/>
              <a:ext cx="21084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are your public keys?</a:t>
              </a:r>
              <a:endParaRPr sz="1200"/>
            </a:p>
          </p:txBody>
        </p:sp>
      </p:grpSp>
      <p:grpSp>
        <p:nvGrpSpPr>
          <p:cNvPr id="544" name="Google Shape;544;p57"/>
          <p:cNvGrpSpPr/>
          <p:nvPr/>
        </p:nvGrpSpPr>
        <p:grpSpPr>
          <a:xfrm>
            <a:off x="1824907" y="2183500"/>
            <a:ext cx="4932000" cy="1721950"/>
            <a:chOff x="1824907" y="2183500"/>
            <a:chExt cx="4932000" cy="1721950"/>
          </a:xfrm>
        </p:grpSpPr>
        <p:cxnSp>
          <p:nvCxnSpPr>
            <p:cNvPr id="545" name="Google Shape;545;p57"/>
            <p:cNvCxnSpPr/>
            <p:nvPr/>
          </p:nvCxnSpPr>
          <p:spPr>
            <a:xfrm rot="10800000">
              <a:off x="1824907" y="218350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546" name="Google Shape;546;p57"/>
            <p:cNvSpPr txBox="1"/>
            <p:nvPr/>
          </p:nvSpPr>
          <p:spPr>
            <a:xfrm>
              <a:off x="2220125" y="2243150"/>
              <a:ext cx="4380300" cy="1662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Here are my public keys.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DNSKEY record: The root name server’s public KSK</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DNSKEY record: The root name server’s public ZSK</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a signature on my ZSK. If you trust my KSK, then now you trust my ZSK.</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RRSIG DNSKEY record: Signature on the DNSKEY records (signed with root’s private KSK)</a:t>
              </a:r>
              <a:endParaRPr sz="12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0" name="Shape 550"/>
        <p:cNvGrpSpPr/>
        <p:nvPr/>
      </p:nvGrpSpPr>
      <p:grpSpPr>
        <a:xfrm>
          <a:off x="0" y="0"/>
          <a:ext cx="0" cy="0"/>
          <a:chOff x="0" y="0"/>
          <a:chExt cx="0" cy="0"/>
        </a:xfrm>
      </p:grpSpPr>
      <p:sp>
        <p:nvSpPr>
          <p:cNvPr id="551" name="Google Shape;551;p5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DNSSEC Lookup (Attempt #3)</a:t>
            </a:r>
            <a:endParaRPr/>
          </a:p>
        </p:txBody>
      </p:sp>
      <p:sp>
        <p:nvSpPr>
          <p:cNvPr id="552" name="Google Shape;552;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53" name="Google Shape;553;p58"/>
          <p:cNvSpPr txBox="1"/>
          <p:nvPr/>
        </p:nvSpPr>
        <p:spPr>
          <a:xfrm>
            <a:off x="488250" y="1372800"/>
            <a:ext cx="12381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554" name="Google Shape;554;p58"/>
          <p:cNvSpPr txBox="1"/>
          <p:nvPr/>
        </p:nvSpPr>
        <p:spPr>
          <a:xfrm>
            <a:off x="6855450" y="1372825"/>
            <a:ext cx="17175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root name server</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(“lower half”)</a:t>
            </a:r>
            <a:endParaRPr/>
          </a:p>
        </p:txBody>
      </p:sp>
      <p:grpSp>
        <p:nvGrpSpPr>
          <p:cNvPr id="555" name="Google Shape;555;p58"/>
          <p:cNvGrpSpPr/>
          <p:nvPr/>
        </p:nvGrpSpPr>
        <p:grpSpPr>
          <a:xfrm>
            <a:off x="1811200" y="1458013"/>
            <a:ext cx="4932000" cy="461213"/>
            <a:chOff x="1811200" y="1458013"/>
            <a:chExt cx="4932000" cy="461213"/>
          </a:xfrm>
        </p:grpSpPr>
        <p:cxnSp>
          <p:nvCxnSpPr>
            <p:cNvPr id="556" name="Google Shape;556;p58"/>
            <p:cNvCxnSpPr/>
            <p:nvPr/>
          </p:nvCxnSpPr>
          <p:spPr>
            <a:xfrm rot="10800000">
              <a:off x="1811200" y="1919225"/>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557" name="Google Shape;557;p58"/>
            <p:cNvSpPr txBox="1"/>
            <p:nvPr/>
          </p:nvSpPr>
          <p:spPr>
            <a:xfrm>
              <a:off x="2463550" y="1458013"/>
              <a:ext cx="37968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What is the IP address of </a:t>
              </a:r>
              <a:r>
                <a:rPr b="1" lang="en" sz="1200">
                  <a:solidFill>
                    <a:schemeClr val="dk1"/>
                  </a:solidFill>
                  <a:latin typeface="Courier New"/>
                  <a:ea typeface="Courier New"/>
                  <a:cs typeface="Courier New"/>
                  <a:sym typeface="Courier New"/>
                </a:rPr>
                <a:t>eecs.berkeley.edu</a:t>
              </a:r>
              <a:r>
                <a:rPr lang="en" sz="1200">
                  <a:solidFill>
                    <a:schemeClr val="dk1"/>
                  </a:solidFill>
                </a:rPr>
                <a:t>?</a:t>
              </a:r>
              <a:endParaRPr sz="1200"/>
            </a:p>
          </p:txBody>
        </p:sp>
      </p:grpSp>
      <p:grpSp>
        <p:nvGrpSpPr>
          <p:cNvPr id="558" name="Google Shape;558;p58"/>
          <p:cNvGrpSpPr/>
          <p:nvPr/>
        </p:nvGrpSpPr>
        <p:grpSpPr>
          <a:xfrm>
            <a:off x="1824907" y="2183500"/>
            <a:ext cx="4932000" cy="1906750"/>
            <a:chOff x="1824907" y="2183500"/>
            <a:chExt cx="4932000" cy="1906750"/>
          </a:xfrm>
        </p:grpSpPr>
        <p:cxnSp>
          <p:nvCxnSpPr>
            <p:cNvPr id="559" name="Google Shape;559;p58"/>
            <p:cNvCxnSpPr/>
            <p:nvPr/>
          </p:nvCxnSpPr>
          <p:spPr>
            <a:xfrm rot="10800000">
              <a:off x="1824907" y="218350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560" name="Google Shape;560;p58"/>
            <p:cNvSpPr txBox="1"/>
            <p:nvPr/>
          </p:nvSpPr>
          <p:spPr>
            <a:xfrm>
              <a:off x="2220125" y="2243150"/>
              <a:ext cx="4434900" cy="1847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I don’t know, but you should ask the </a:t>
              </a:r>
              <a:r>
                <a:rPr b="1" lang="en" sz="1200">
                  <a:solidFill>
                    <a:schemeClr val="dk1"/>
                  </a:solidFill>
                  <a:latin typeface="Courier New"/>
                  <a:ea typeface="Courier New"/>
                  <a:cs typeface="Courier New"/>
                  <a:sym typeface="Courier New"/>
                </a:rPr>
                <a:t>.edu</a:t>
              </a:r>
              <a:r>
                <a:rPr lang="en" sz="1200">
                  <a:solidFill>
                    <a:schemeClr val="dk1"/>
                  </a:solidFill>
                </a:rPr>
                <a:t> name server.</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NS record: Domain of the </a:t>
              </a:r>
              <a:r>
                <a:rPr b="1" lang="en" sz="1200">
                  <a:solidFill>
                    <a:schemeClr val="dk1"/>
                  </a:solidFill>
                  <a:latin typeface="Courier New"/>
                  <a:ea typeface="Courier New"/>
                  <a:cs typeface="Courier New"/>
                  <a:sym typeface="Courier New"/>
                </a:rPr>
                <a:t>.edu</a:t>
              </a:r>
              <a:r>
                <a:rPr lang="en" sz="1200">
                  <a:solidFill>
                    <a:schemeClr val="dk1"/>
                  </a:solidFill>
                </a:rPr>
                <a:t> name server</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A record: IP address of the </a:t>
              </a:r>
              <a:r>
                <a:rPr b="1" lang="en" sz="1200">
                  <a:solidFill>
                    <a:schemeClr val="dk1"/>
                  </a:solidFill>
                  <a:latin typeface="Courier New"/>
                  <a:ea typeface="Courier New"/>
                  <a:cs typeface="Courier New"/>
                  <a:sym typeface="Courier New"/>
                </a:rPr>
                <a:t>.edu</a:t>
              </a:r>
              <a:r>
                <a:rPr lang="en" sz="1200">
                  <a:solidFill>
                    <a:schemeClr val="dk1"/>
                  </a:solidFill>
                </a:rPr>
                <a:t> name server</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a signature on the public KSK of the </a:t>
              </a:r>
              <a:r>
                <a:rPr b="1" lang="en" sz="1200">
                  <a:solidFill>
                    <a:schemeClr val="dk1"/>
                  </a:solidFill>
                  <a:latin typeface="Courier New"/>
                  <a:ea typeface="Courier New"/>
                  <a:cs typeface="Courier New"/>
                  <a:sym typeface="Courier New"/>
                </a:rPr>
                <a:t>.edu</a:t>
              </a:r>
              <a:r>
                <a:rPr lang="en" sz="1200">
                  <a:solidFill>
                    <a:schemeClr val="dk1"/>
                  </a:solidFill>
                </a:rPr>
                <a:t> name server. If you trust my ZSK, then now you trust them too.</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DS record: Hash of the </a:t>
              </a:r>
              <a:r>
                <a:rPr b="1" lang="en" sz="1200">
                  <a:solidFill>
                    <a:schemeClr val="dk1"/>
                  </a:solidFill>
                  <a:latin typeface="Courier New"/>
                  <a:ea typeface="Courier New"/>
                  <a:cs typeface="Courier New"/>
                  <a:sym typeface="Courier New"/>
                </a:rPr>
                <a:t>.edu</a:t>
              </a:r>
              <a:r>
                <a:rPr lang="en" sz="1200">
                  <a:solidFill>
                    <a:schemeClr val="dk1"/>
                  </a:solidFill>
                </a:rPr>
                <a:t> name server’s public KSK</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RRSIG DS record: Signature on the DS record</a:t>
              </a:r>
              <a:br>
                <a:rPr lang="en" sz="1200">
                  <a:solidFill>
                    <a:schemeClr val="dk1"/>
                  </a:solidFill>
                </a:rPr>
              </a:br>
              <a:r>
                <a:rPr lang="en" sz="1200">
                  <a:solidFill>
                    <a:schemeClr val="dk1"/>
                  </a:solidFill>
                </a:rPr>
                <a:t>(signed with root’s private ZSK)</a:t>
              </a:r>
              <a:endParaRPr sz="12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4" name="Shape 564"/>
        <p:cNvGrpSpPr/>
        <p:nvPr/>
      </p:nvGrpSpPr>
      <p:grpSpPr>
        <a:xfrm>
          <a:off x="0" y="0"/>
          <a:ext cx="0" cy="0"/>
          <a:chOff x="0" y="0"/>
          <a:chExt cx="0" cy="0"/>
        </a:xfrm>
      </p:grpSpPr>
      <p:sp>
        <p:nvSpPr>
          <p:cNvPr id="565" name="Google Shape;565;p5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DNSSEC Lookup (Attempt #3)</a:t>
            </a:r>
            <a:endParaRPr/>
          </a:p>
        </p:txBody>
      </p:sp>
      <p:sp>
        <p:nvSpPr>
          <p:cNvPr id="566" name="Google Shape;566;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67" name="Google Shape;567;p59"/>
          <p:cNvSpPr txBox="1"/>
          <p:nvPr/>
        </p:nvSpPr>
        <p:spPr>
          <a:xfrm>
            <a:off x="488250" y="1372800"/>
            <a:ext cx="12381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568" name="Google Shape;568;p59"/>
          <p:cNvSpPr txBox="1"/>
          <p:nvPr/>
        </p:nvSpPr>
        <p:spPr>
          <a:xfrm>
            <a:off x="6855450" y="1372825"/>
            <a:ext cx="17175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urier New"/>
                <a:ea typeface="Courier New"/>
                <a:cs typeface="Courier New"/>
                <a:sym typeface="Courier New"/>
              </a:rPr>
              <a:t>.edu</a:t>
            </a:r>
            <a:r>
              <a:rPr lang="en"/>
              <a:t> </a:t>
            </a:r>
            <a:r>
              <a:rPr lang="en"/>
              <a:t>name server</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(“upper half”)</a:t>
            </a:r>
            <a:endParaRPr/>
          </a:p>
        </p:txBody>
      </p:sp>
      <p:grpSp>
        <p:nvGrpSpPr>
          <p:cNvPr id="569" name="Google Shape;569;p59"/>
          <p:cNvGrpSpPr/>
          <p:nvPr/>
        </p:nvGrpSpPr>
        <p:grpSpPr>
          <a:xfrm>
            <a:off x="1811200" y="1466950"/>
            <a:ext cx="4932000" cy="452275"/>
            <a:chOff x="1811200" y="1466950"/>
            <a:chExt cx="4932000" cy="452275"/>
          </a:xfrm>
        </p:grpSpPr>
        <p:cxnSp>
          <p:nvCxnSpPr>
            <p:cNvPr id="570" name="Google Shape;570;p59"/>
            <p:cNvCxnSpPr/>
            <p:nvPr/>
          </p:nvCxnSpPr>
          <p:spPr>
            <a:xfrm rot="10800000">
              <a:off x="1811200" y="1919225"/>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571" name="Google Shape;571;p59"/>
            <p:cNvSpPr txBox="1"/>
            <p:nvPr/>
          </p:nvSpPr>
          <p:spPr>
            <a:xfrm>
              <a:off x="3308800" y="1466950"/>
              <a:ext cx="21084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are your public keys?</a:t>
              </a:r>
              <a:endParaRPr sz="1200"/>
            </a:p>
          </p:txBody>
        </p:sp>
      </p:grpSp>
      <p:grpSp>
        <p:nvGrpSpPr>
          <p:cNvPr id="572" name="Google Shape;572;p59"/>
          <p:cNvGrpSpPr/>
          <p:nvPr/>
        </p:nvGrpSpPr>
        <p:grpSpPr>
          <a:xfrm>
            <a:off x="1824907" y="2183500"/>
            <a:ext cx="4932000" cy="1721950"/>
            <a:chOff x="1824907" y="2183500"/>
            <a:chExt cx="4932000" cy="1721950"/>
          </a:xfrm>
        </p:grpSpPr>
        <p:cxnSp>
          <p:nvCxnSpPr>
            <p:cNvPr id="573" name="Google Shape;573;p59"/>
            <p:cNvCxnSpPr/>
            <p:nvPr/>
          </p:nvCxnSpPr>
          <p:spPr>
            <a:xfrm rot="10800000">
              <a:off x="1824907" y="218350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574" name="Google Shape;574;p59"/>
            <p:cNvSpPr txBox="1"/>
            <p:nvPr/>
          </p:nvSpPr>
          <p:spPr>
            <a:xfrm>
              <a:off x="2220125" y="2243150"/>
              <a:ext cx="4380300" cy="1662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Here are my public keys.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DNSKEY record: The </a:t>
              </a:r>
              <a:r>
                <a:rPr b="1" lang="en" sz="1200">
                  <a:solidFill>
                    <a:schemeClr val="dk1"/>
                  </a:solidFill>
                  <a:latin typeface="Courier New"/>
                  <a:ea typeface="Courier New"/>
                  <a:cs typeface="Courier New"/>
                  <a:sym typeface="Courier New"/>
                </a:rPr>
                <a:t>.edu</a:t>
              </a:r>
              <a:r>
                <a:rPr lang="en" sz="1200">
                  <a:solidFill>
                    <a:schemeClr val="dk1"/>
                  </a:solidFill>
                </a:rPr>
                <a:t> name server’s public KSK</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DNSKEY record: The </a:t>
              </a:r>
              <a:r>
                <a:rPr b="1" lang="en" sz="1200">
                  <a:solidFill>
                    <a:schemeClr val="dk1"/>
                  </a:solidFill>
                  <a:latin typeface="Courier New"/>
                  <a:ea typeface="Courier New"/>
                  <a:cs typeface="Courier New"/>
                  <a:sym typeface="Courier New"/>
                </a:rPr>
                <a:t>.edu</a:t>
              </a:r>
              <a:r>
                <a:rPr lang="en" sz="1200">
                  <a:solidFill>
                    <a:schemeClr val="dk1"/>
                  </a:solidFill>
                </a:rPr>
                <a:t> name server’s public ZSK</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a signature on my ZSK. If you trust my KSK, then now you trust my ZSK.</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RRSIG DNSKEY record: Signature on the DNSKEY records (signed with </a:t>
              </a:r>
              <a:r>
                <a:rPr b="1" lang="en" sz="1200">
                  <a:solidFill>
                    <a:schemeClr val="dk1"/>
                  </a:solidFill>
                  <a:latin typeface="Courier New"/>
                  <a:ea typeface="Courier New"/>
                  <a:cs typeface="Courier New"/>
                  <a:sym typeface="Courier New"/>
                </a:rPr>
                <a:t>.edu</a:t>
              </a:r>
              <a:r>
                <a:rPr lang="en" sz="1200">
                  <a:solidFill>
                    <a:schemeClr val="dk1"/>
                  </a:solidFill>
                </a:rPr>
                <a:t>’s private KSK)</a:t>
              </a:r>
              <a:endParaRPr sz="12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8" name="Shape 578"/>
        <p:cNvGrpSpPr/>
        <p:nvPr/>
      </p:nvGrpSpPr>
      <p:grpSpPr>
        <a:xfrm>
          <a:off x="0" y="0"/>
          <a:ext cx="0" cy="0"/>
          <a:chOff x="0" y="0"/>
          <a:chExt cx="0" cy="0"/>
        </a:xfrm>
      </p:grpSpPr>
      <p:sp>
        <p:nvSpPr>
          <p:cNvPr id="579" name="Google Shape;579;p6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DNSSEC Lookup (Attempt #3)</a:t>
            </a:r>
            <a:endParaRPr/>
          </a:p>
        </p:txBody>
      </p:sp>
      <p:sp>
        <p:nvSpPr>
          <p:cNvPr id="580" name="Google Shape;580;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81" name="Google Shape;581;p60"/>
          <p:cNvSpPr txBox="1"/>
          <p:nvPr/>
        </p:nvSpPr>
        <p:spPr>
          <a:xfrm>
            <a:off x="488250" y="1372800"/>
            <a:ext cx="12381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582" name="Google Shape;582;p60"/>
          <p:cNvSpPr txBox="1"/>
          <p:nvPr/>
        </p:nvSpPr>
        <p:spPr>
          <a:xfrm>
            <a:off x="6855450" y="1372825"/>
            <a:ext cx="17175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urier New"/>
                <a:ea typeface="Courier New"/>
                <a:cs typeface="Courier New"/>
                <a:sym typeface="Courier New"/>
              </a:rPr>
              <a:t>.edu</a:t>
            </a:r>
            <a:r>
              <a:rPr lang="en"/>
              <a:t> </a:t>
            </a:r>
            <a:r>
              <a:rPr lang="en"/>
              <a:t>name server</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(“lower half”)</a:t>
            </a:r>
            <a:endParaRPr/>
          </a:p>
        </p:txBody>
      </p:sp>
      <p:grpSp>
        <p:nvGrpSpPr>
          <p:cNvPr id="583" name="Google Shape;583;p60"/>
          <p:cNvGrpSpPr/>
          <p:nvPr/>
        </p:nvGrpSpPr>
        <p:grpSpPr>
          <a:xfrm>
            <a:off x="1811200" y="1458013"/>
            <a:ext cx="4932000" cy="461213"/>
            <a:chOff x="1811200" y="1458013"/>
            <a:chExt cx="4932000" cy="461213"/>
          </a:xfrm>
        </p:grpSpPr>
        <p:cxnSp>
          <p:nvCxnSpPr>
            <p:cNvPr id="584" name="Google Shape;584;p60"/>
            <p:cNvCxnSpPr/>
            <p:nvPr/>
          </p:nvCxnSpPr>
          <p:spPr>
            <a:xfrm rot="10800000">
              <a:off x="1811200" y="1919225"/>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585" name="Google Shape;585;p60"/>
            <p:cNvSpPr txBox="1"/>
            <p:nvPr/>
          </p:nvSpPr>
          <p:spPr>
            <a:xfrm>
              <a:off x="2463550" y="1458013"/>
              <a:ext cx="37968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What is the IP address of </a:t>
              </a:r>
              <a:r>
                <a:rPr b="1" lang="en" sz="1200">
                  <a:solidFill>
                    <a:schemeClr val="dk1"/>
                  </a:solidFill>
                  <a:latin typeface="Courier New"/>
                  <a:ea typeface="Courier New"/>
                  <a:cs typeface="Courier New"/>
                  <a:sym typeface="Courier New"/>
                </a:rPr>
                <a:t>eecs.berkeley.edu</a:t>
              </a:r>
              <a:r>
                <a:rPr lang="en" sz="1200">
                  <a:solidFill>
                    <a:schemeClr val="dk1"/>
                  </a:solidFill>
                </a:rPr>
                <a:t>?</a:t>
              </a:r>
              <a:endParaRPr sz="1200"/>
            </a:p>
          </p:txBody>
        </p:sp>
      </p:grpSp>
      <p:grpSp>
        <p:nvGrpSpPr>
          <p:cNvPr id="586" name="Google Shape;586;p60"/>
          <p:cNvGrpSpPr/>
          <p:nvPr/>
        </p:nvGrpSpPr>
        <p:grpSpPr>
          <a:xfrm>
            <a:off x="1824907" y="2183500"/>
            <a:ext cx="4932000" cy="2091550"/>
            <a:chOff x="1824907" y="2183500"/>
            <a:chExt cx="4932000" cy="2091550"/>
          </a:xfrm>
        </p:grpSpPr>
        <p:cxnSp>
          <p:nvCxnSpPr>
            <p:cNvPr id="587" name="Google Shape;587;p60"/>
            <p:cNvCxnSpPr/>
            <p:nvPr/>
          </p:nvCxnSpPr>
          <p:spPr>
            <a:xfrm rot="10800000">
              <a:off x="1824907" y="218350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588" name="Google Shape;588;p60"/>
            <p:cNvSpPr txBox="1"/>
            <p:nvPr/>
          </p:nvSpPr>
          <p:spPr>
            <a:xfrm>
              <a:off x="1996775" y="2243150"/>
              <a:ext cx="4746300" cy="20319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I don’t know, but you should ask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NS record: Domain of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A record: IP address of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a signature on the public KSK of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 If you trust my ZSK, then now you trust them too.</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DS record: Hash of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server’s public KSK</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RRSIG record: Signature on the DS record</a:t>
              </a:r>
              <a:br>
                <a:rPr lang="en" sz="1200">
                  <a:solidFill>
                    <a:schemeClr val="dk1"/>
                  </a:solidFill>
                </a:rPr>
              </a:br>
              <a:r>
                <a:rPr lang="en" sz="1200">
                  <a:solidFill>
                    <a:schemeClr val="dk1"/>
                  </a:solidFill>
                </a:rPr>
                <a:t>(signed with </a:t>
              </a:r>
              <a:r>
                <a:rPr b="1" lang="en" sz="1200">
                  <a:solidFill>
                    <a:schemeClr val="dk1"/>
                  </a:solidFill>
                  <a:latin typeface="Courier New"/>
                  <a:ea typeface="Courier New"/>
                  <a:cs typeface="Courier New"/>
                  <a:sym typeface="Courier New"/>
                </a:rPr>
                <a:t>.edu</a:t>
              </a:r>
              <a:r>
                <a:rPr lang="en" sz="1200">
                  <a:solidFill>
                    <a:schemeClr val="dk1"/>
                  </a:solidFill>
                </a:rPr>
                <a:t>’s private ZSK)</a:t>
              </a:r>
              <a:endParaRPr sz="12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2" name="Shape 592"/>
        <p:cNvGrpSpPr/>
        <p:nvPr/>
      </p:nvGrpSpPr>
      <p:grpSpPr>
        <a:xfrm>
          <a:off x="0" y="0"/>
          <a:ext cx="0" cy="0"/>
          <a:chOff x="0" y="0"/>
          <a:chExt cx="0" cy="0"/>
        </a:xfrm>
      </p:grpSpPr>
      <p:sp>
        <p:nvSpPr>
          <p:cNvPr id="593" name="Google Shape;593;p6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DNSSEC Lookup </a:t>
            </a:r>
            <a:r>
              <a:rPr lang="en"/>
              <a:t>(Attempt #3)</a:t>
            </a:r>
            <a:endParaRPr/>
          </a:p>
        </p:txBody>
      </p:sp>
      <p:sp>
        <p:nvSpPr>
          <p:cNvPr id="594" name="Google Shape;594;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95" name="Google Shape;595;p61"/>
          <p:cNvSpPr txBox="1"/>
          <p:nvPr/>
        </p:nvSpPr>
        <p:spPr>
          <a:xfrm>
            <a:off x="488250" y="1372800"/>
            <a:ext cx="12381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sp>
        <p:nvSpPr>
          <p:cNvPr id="596" name="Google Shape;596;p61"/>
          <p:cNvSpPr txBox="1"/>
          <p:nvPr/>
        </p:nvSpPr>
        <p:spPr>
          <a:xfrm>
            <a:off x="6855450" y="1372825"/>
            <a:ext cx="17175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urier New"/>
                <a:ea typeface="Courier New"/>
                <a:cs typeface="Courier New"/>
                <a:sym typeface="Courier New"/>
              </a:rPr>
              <a:t>berkeley</a:t>
            </a:r>
            <a:r>
              <a:rPr b="1" lang="en">
                <a:latin typeface="Courier New"/>
                <a:ea typeface="Courier New"/>
                <a:cs typeface="Courier New"/>
                <a:sym typeface="Courier New"/>
              </a:rPr>
              <a:t>.edu</a:t>
            </a:r>
            <a:r>
              <a:rPr lang="en"/>
              <a:t> name server</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(“upper half”)</a:t>
            </a:r>
            <a:endParaRPr/>
          </a:p>
        </p:txBody>
      </p:sp>
      <p:grpSp>
        <p:nvGrpSpPr>
          <p:cNvPr id="597" name="Google Shape;597;p61"/>
          <p:cNvGrpSpPr/>
          <p:nvPr/>
        </p:nvGrpSpPr>
        <p:grpSpPr>
          <a:xfrm>
            <a:off x="1811200" y="1466950"/>
            <a:ext cx="4932000" cy="452275"/>
            <a:chOff x="1811200" y="1466950"/>
            <a:chExt cx="4932000" cy="452275"/>
          </a:xfrm>
        </p:grpSpPr>
        <p:cxnSp>
          <p:nvCxnSpPr>
            <p:cNvPr id="598" name="Google Shape;598;p61"/>
            <p:cNvCxnSpPr/>
            <p:nvPr/>
          </p:nvCxnSpPr>
          <p:spPr>
            <a:xfrm rot="10800000">
              <a:off x="1811200" y="1919225"/>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599" name="Google Shape;599;p61"/>
            <p:cNvSpPr txBox="1"/>
            <p:nvPr/>
          </p:nvSpPr>
          <p:spPr>
            <a:xfrm>
              <a:off x="3308800" y="1466950"/>
              <a:ext cx="21084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are your public keys?</a:t>
              </a:r>
              <a:endParaRPr sz="1200"/>
            </a:p>
          </p:txBody>
        </p:sp>
      </p:grpSp>
      <p:grpSp>
        <p:nvGrpSpPr>
          <p:cNvPr id="600" name="Google Shape;600;p61"/>
          <p:cNvGrpSpPr/>
          <p:nvPr/>
        </p:nvGrpSpPr>
        <p:grpSpPr>
          <a:xfrm>
            <a:off x="1824907" y="2183500"/>
            <a:ext cx="4932000" cy="2091550"/>
            <a:chOff x="1824907" y="2183500"/>
            <a:chExt cx="4932000" cy="2091550"/>
          </a:xfrm>
        </p:grpSpPr>
        <p:cxnSp>
          <p:nvCxnSpPr>
            <p:cNvPr id="601" name="Google Shape;601;p61"/>
            <p:cNvCxnSpPr/>
            <p:nvPr/>
          </p:nvCxnSpPr>
          <p:spPr>
            <a:xfrm rot="10800000">
              <a:off x="1824907" y="218350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602" name="Google Shape;602;p61"/>
            <p:cNvSpPr txBox="1"/>
            <p:nvPr/>
          </p:nvSpPr>
          <p:spPr>
            <a:xfrm>
              <a:off x="2220125" y="2243150"/>
              <a:ext cx="4380300" cy="20319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Here are my public keys.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DNSKEY record: The</a:t>
              </a:r>
              <a:r>
                <a:rPr lang="en" sz="1200">
                  <a:solidFill>
                    <a:schemeClr val="dk1"/>
                  </a:solidFill>
                </a:rPr>
                <a:t> </a:t>
              </a:r>
              <a:r>
                <a:rPr b="1" lang="en" sz="1200">
                  <a:solidFill>
                    <a:schemeClr val="dk1"/>
                  </a:solidFill>
                  <a:latin typeface="Courier New"/>
                  <a:ea typeface="Courier New"/>
                  <a:cs typeface="Courier New"/>
                  <a:sym typeface="Courier New"/>
                </a:rPr>
                <a:t>berkeley.edu</a:t>
              </a:r>
              <a:r>
                <a:rPr lang="en" sz="1200">
                  <a:solidFill>
                    <a:schemeClr val="dk1"/>
                  </a:solidFill>
                </a:rPr>
                <a:t> name server’s public KSK</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DNSKEY record: The </a:t>
              </a:r>
              <a:r>
                <a:rPr b="1" lang="en" sz="1200">
                  <a:solidFill>
                    <a:schemeClr val="dk1"/>
                  </a:solidFill>
                  <a:latin typeface="Courier New"/>
                  <a:ea typeface="Courier New"/>
                  <a:cs typeface="Courier New"/>
                  <a:sym typeface="Courier New"/>
                </a:rPr>
                <a:t>berkeley.edu</a:t>
              </a:r>
              <a:r>
                <a:rPr lang="en" sz="1200">
                  <a:solidFill>
                    <a:schemeClr val="dk1"/>
                  </a:solidFill>
                </a:rPr>
                <a:t> name server’s public ZSK</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a signature on my ZSK. If you trust my KSK, then now you trust my ZSK.</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RRSIG record: Signature on the DNSKEY records (signed with </a:t>
              </a:r>
              <a:r>
                <a:rPr b="1" lang="en" sz="1200">
                  <a:solidFill>
                    <a:schemeClr val="dk1"/>
                  </a:solidFill>
                  <a:latin typeface="Courier New"/>
                  <a:ea typeface="Courier New"/>
                  <a:cs typeface="Courier New"/>
                  <a:sym typeface="Courier New"/>
                </a:rPr>
                <a:t>berkeley.edu</a:t>
              </a:r>
              <a:r>
                <a:rPr lang="en" sz="1200">
                  <a:solidFill>
                    <a:schemeClr val="dk1"/>
                  </a:solidFill>
                </a:rPr>
                <a:t>’s private KSK)</a:t>
              </a:r>
              <a:endParaRPr sz="12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6" name="Shape 606"/>
        <p:cNvGrpSpPr/>
        <p:nvPr/>
      </p:nvGrpSpPr>
      <p:grpSpPr>
        <a:xfrm>
          <a:off x="0" y="0"/>
          <a:ext cx="0" cy="0"/>
          <a:chOff x="0" y="0"/>
          <a:chExt cx="0" cy="0"/>
        </a:xfrm>
      </p:grpSpPr>
      <p:sp>
        <p:nvSpPr>
          <p:cNvPr id="607" name="Google Shape;607;p6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DNSSEC Lookup (Attempt #3)</a:t>
            </a:r>
            <a:endParaRPr/>
          </a:p>
        </p:txBody>
      </p:sp>
      <p:sp>
        <p:nvSpPr>
          <p:cNvPr id="608" name="Google Shape;608;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09" name="Google Shape;609;p62"/>
          <p:cNvSpPr txBox="1"/>
          <p:nvPr/>
        </p:nvSpPr>
        <p:spPr>
          <a:xfrm>
            <a:off x="488250" y="1372800"/>
            <a:ext cx="12381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Recursive Resolver</a:t>
            </a:r>
            <a:endParaRPr/>
          </a:p>
        </p:txBody>
      </p:sp>
      <p:grpSp>
        <p:nvGrpSpPr>
          <p:cNvPr id="610" name="Google Shape;610;p62"/>
          <p:cNvGrpSpPr/>
          <p:nvPr/>
        </p:nvGrpSpPr>
        <p:grpSpPr>
          <a:xfrm>
            <a:off x="1811200" y="1458013"/>
            <a:ext cx="4932000" cy="461213"/>
            <a:chOff x="1811200" y="1458013"/>
            <a:chExt cx="4932000" cy="461213"/>
          </a:xfrm>
        </p:grpSpPr>
        <p:cxnSp>
          <p:nvCxnSpPr>
            <p:cNvPr id="611" name="Google Shape;611;p62"/>
            <p:cNvCxnSpPr/>
            <p:nvPr/>
          </p:nvCxnSpPr>
          <p:spPr>
            <a:xfrm rot="10800000">
              <a:off x="1811200" y="1919225"/>
              <a:ext cx="4932000" cy="0"/>
            </a:xfrm>
            <a:prstGeom prst="straightConnector1">
              <a:avLst/>
            </a:prstGeom>
            <a:noFill/>
            <a:ln cap="flat" cmpd="sng" w="19050">
              <a:solidFill>
                <a:srgbClr val="000000"/>
              </a:solidFill>
              <a:prstDash val="solid"/>
              <a:round/>
              <a:headEnd len="med" w="med" type="triangle"/>
              <a:tailEnd len="med" w="med" type="none"/>
            </a:ln>
          </p:spPr>
        </p:cxnSp>
        <p:sp>
          <p:nvSpPr>
            <p:cNvPr id="612" name="Google Shape;612;p62"/>
            <p:cNvSpPr txBox="1"/>
            <p:nvPr/>
          </p:nvSpPr>
          <p:spPr>
            <a:xfrm>
              <a:off x="2463550" y="1458013"/>
              <a:ext cx="3796800" cy="393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grpSp>
      <p:grpSp>
        <p:nvGrpSpPr>
          <p:cNvPr id="613" name="Google Shape;613;p62"/>
          <p:cNvGrpSpPr/>
          <p:nvPr/>
        </p:nvGrpSpPr>
        <p:grpSpPr>
          <a:xfrm>
            <a:off x="1824907" y="2183500"/>
            <a:ext cx="4932000" cy="1370475"/>
            <a:chOff x="1824907" y="2183500"/>
            <a:chExt cx="4932000" cy="1370475"/>
          </a:xfrm>
        </p:grpSpPr>
        <p:cxnSp>
          <p:nvCxnSpPr>
            <p:cNvPr id="614" name="Google Shape;614;p62"/>
            <p:cNvCxnSpPr/>
            <p:nvPr/>
          </p:nvCxnSpPr>
          <p:spPr>
            <a:xfrm rot="10800000">
              <a:off x="1824907" y="2183500"/>
              <a:ext cx="4932000" cy="0"/>
            </a:xfrm>
            <a:prstGeom prst="straightConnector1">
              <a:avLst/>
            </a:prstGeom>
            <a:noFill/>
            <a:ln cap="flat" cmpd="sng" w="19050">
              <a:solidFill>
                <a:srgbClr val="000000"/>
              </a:solidFill>
              <a:prstDash val="solid"/>
              <a:round/>
              <a:headEnd len="med" w="med" type="none"/>
              <a:tailEnd len="med" w="med" type="triangle"/>
            </a:ln>
          </p:spPr>
        </p:cxnSp>
        <p:sp>
          <p:nvSpPr>
            <p:cNvPr id="615" name="Google Shape;615;p62"/>
            <p:cNvSpPr txBox="1"/>
            <p:nvPr/>
          </p:nvSpPr>
          <p:spPr>
            <a:xfrm>
              <a:off x="2360650" y="2260975"/>
              <a:ext cx="3833100" cy="12930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Char char="●"/>
              </a:pPr>
              <a:r>
                <a:rPr lang="en" sz="1200">
                  <a:solidFill>
                    <a:schemeClr val="dk1"/>
                  </a:solidFill>
                </a:rPr>
                <a:t>A record: “The IP address of </a:t>
              </a:r>
              <a:r>
                <a:rPr b="1" lang="en" sz="1200">
                  <a:solidFill>
                    <a:schemeClr val="dk1"/>
                  </a:solidFill>
                  <a:latin typeface="Courier New"/>
                  <a:ea typeface="Courier New"/>
                  <a:cs typeface="Courier New"/>
                  <a:sym typeface="Courier New"/>
                </a:rPr>
                <a:t>eecs.berkeley.edu</a:t>
              </a:r>
              <a:r>
                <a:rPr lang="en" sz="1200">
                  <a:solidFill>
                    <a:schemeClr val="dk1"/>
                  </a:solidFill>
                </a:rPr>
                <a:t> is </a:t>
              </a:r>
              <a:r>
                <a:rPr b="1" lang="en" sz="1200">
                  <a:solidFill>
                    <a:schemeClr val="dk1"/>
                  </a:solidFill>
                  <a:latin typeface="Courier New"/>
                  <a:ea typeface="Courier New"/>
                  <a:cs typeface="Courier New"/>
                  <a:sym typeface="Courier New"/>
                </a:rPr>
                <a:t>23.185.0.1</a:t>
              </a:r>
              <a:r>
                <a:rPr lang="en" sz="1200">
                  <a:solidFill>
                    <a:schemeClr val="dk1"/>
                  </a:solidFill>
                </a:rPr>
                <a: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Here is a signature on the above record.</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RRSIG record: Signature on the A record</a:t>
              </a:r>
              <a:br>
                <a:rPr lang="en" sz="1200">
                  <a:solidFill>
                    <a:schemeClr val="dk1"/>
                  </a:solidFill>
                </a:rPr>
              </a:br>
              <a:r>
                <a:rPr lang="en" sz="1200">
                  <a:solidFill>
                    <a:schemeClr val="dk1"/>
                  </a:solidFill>
                </a:rPr>
                <a:t>(signed with </a:t>
              </a:r>
              <a:r>
                <a:rPr b="1" lang="en" sz="1200">
                  <a:solidFill>
                    <a:schemeClr val="dk1"/>
                  </a:solidFill>
                  <a:latin typeface="Courier New"/>
                  <a:ea typeface="Courier New"/>
                  <a:cs typeface="Courier New"/>
                  <a:sym typeface="Courier New"/>
                </a:rPr>
                <a:t>berkeley.edu</a:t>
              </a:r>
              <a:r>
                <a:rPr lang="en" sz="1200">
                  <a:solidFill>
                    <a:schemeClr val="dk1"/>
                  </a:solidFill>
                </a:rPr>
                <a:t>’s private ZSK)</a:t>
              </a:r>
              <a:endParaRPr sz="1200">
                <a:solidFill>
                  <a:schemeClr val="dk1"/>
                </a:solidFill>
              </a:endParaRPr>
            </a:p>
          </p:txBody>
        </p:sp>
      </p:grpSp>
      <p:sp>
        <p:nvSpPr>
          <p:cNvPr id="616" name="Google Shape;616;p62"/>
          <p:cNvSpPr txBox="1"/>
          <p:nvPr/>
        </p:nvSpPr>
        <p:spPr>
          <a:xfrm>
            <a:off x="6855450" y="1372825"/>
            <a:ext cx="1717500" cy="3534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ourier New"/>
                <a:ea typeface="Courier New"/>
                <a:cs typeface="Courier New"/>
                <a:sym typeface="Courier New"/>
              </a:rPr>
              <a:t>berkeley</a:t>
            </a:r>
            <a:r>
              <a:rPr b="1" lang="en">
                <a:latin typeface="Courier New"/>
                <a:ea typeface="Courier New"/>
                <a:cs typeface="Courier New"/>
                <a:sym typeface="Courier New"/>
              </a:rPr>
              <a:t>.edu</a:t>
            </a:r>
            <a:r>
              <a:rPr lang="en"/>
              <a:t> name server</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(“lower half”)</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0" name="Shape 620"/>
        <p:cNvGrpSpPr/>
        <p:nvPr/>
      </p:nvGrpSpPr>
      <p:grpSpPr>
        <a:xfrm>
          <a:off x="0" y="0"/>
          <a:ext cx="0" cy="0"/>
          <a:chOff x="0" y="0"/>
          <a:chExt cx="0" cy="0"/>
        </a:xfrm>
      </p:grpSpPr>
      <p:sp>
        <p:nvSpPr>
          <p:cNvPr id="621" name="Google Shape;621;p6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622" name="Google Shape;622;p63"/>
          <p:cNvSpPr txBox="1"/>
          <p:nvPr>
            <p:ph idx="4294967295" type="body"/>
          </p:nvPr>
        </p:nvSpPr>
        <p:spPr>
          <a:xfrm>
            <a:off x="198500" y="1246825"/>
            <a:ext cx="51426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+dnssec DNSKEY . @198.41.0.4</a:t>
            </a:r>
            <a:endParaRPr b="1" sz="1200">
              <a:latin typeface="Courier New"/>
              <a:ea typeface="Courier New"/>
              <a:cs typeface="Courier New"/>
              <a:sym typeface="Courier New"/>
            </a:endParaRPr>
          </a:p>
        </p:txBody>
      </p:sp>
      <p:sp>
        <p:nvSpPr>
          <p:cNvPr id="623" name="Google Shape;623;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24" name="Google Shape;624;p63"/>
          <p:cNvGrpSpPr/>
          <p:nvPr/>
        </p:nvGrpSpPr>
        <p:grpSpPr>
          <a:xfrm>
            <a:off x="450475" y="1329050"/>
            <a:ext cx="5259875" cy="2883275"/>
            <a:chOff x="450475" y="1329050"/>
            <a:chExt cx="5259875" cy="2883275"/>
          </a:xfrm>
        </p:grpSpPr>
        <p:sp>
          <p:nvSpPr>
            <p:cNvPr id="625" name="Google Shape;625;p63"/>
            <p:cNvSpPr/>
            <p:nvPr/>
          </p:nvSpPr>
          <p:spPr>
            <a:xfrm>
              <a:off x="450475" y="1329050"/>
              <a:ext cx="2091900" cy="210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63"/>
            <p:cNvSpPr txBox="1"/>
            <p:nvPr/>
          </p:nvSpPr>
          <p:spPr>
            <a:xfrm>
              <a:off x="2378850" y="2734825"/>
              <a:ext cx="3331500" cy="14775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You can try this at home! Use the </a:t>
              </a:r>
              <a:r>
                <a:rPr b="1" lang="en">
                  <a:solidFill>
                    <a:schemeClr val="dk1"/>
                  </a:solidFill>
                  <a:latin typeface="Courier New"/>
                  <a:ea typeface="Courier New"/>
                  <a:cs typeface="Courier New"/>
                  <a:sym typeface="Courier New"/>
                </a:rPr>
                <a:t>dig</a:t>
              </a:r>
              <a:r>
                <a:rPr lang="en">
                  <a:solidFill>
                    <a:schemeClr val="dk1"/>
                  </a:solidFill>
                </a:rPr>
                <a:t> utility in your terminal, and remember to set the </a:t>
              </a:r>
              <a:r>
                <a:rPr b="1" lang="en">
                  <a:solidFill>
                    <a:schemeClr val="dk1"/>
                  </a:solidFill>
                  <a:latin typeface="Courier New"/>
                  <a:ea typeface="Courier New"/>
                  <a:cs typeface="Courier New"/>
                  <a:sym typeface="Courier New"/>
                </a:rPr>
                <a:t>+norecurse</a:t>
              </a:r>
              <a:r>
                <a:rPr lang="en">
                  <a:solidFill>
                    <a:schemeClr val="dk1"/>
                  </a:solidFill>
                </a:rPr>
                <a:t> flag so you can traverse the name server hierarchy yourself and the </a:t>
              </a:r>
              <a:r>
                <a:rPr b="1" lang="en">
                  <a:solidFill>
                    <a:schemeClr val="dk1"/>
                  </a:solidFill>
                  <a:latin typeface="Courier New"/>
                  <a:ea typeface="Courier New"/>
                  <a:cs typeface="Courier New"/>
                  <a:sym typeface="Courier New"/>
                </a:rPr>
                <a:t>+dnssec</a:t>
              </a:r>
              <a:r>
                <a:rPr lang="en">
                  <a:solidFill>
                    <a:schemeClr val="dk1"/>
                  </a:solidFill>
                </a:rPr>
                <a:t> flag so that you receive DNSSEC responses.</a:t>
              </a:r>
              <a:endParaRPr>
                <a:solidFill>
                  <a:schemeClr val="dk1"/>
                </a:solidFill>
              </a:endParaRPr>
            </a:p>
          </p:txBody>
        </p:sp>
        <p:cxnSp>
          <p:nvCxnSpPr>
            <p:cNvPr id="627" name="Google Shape;627;p63"/>
            <p:cNvCxnSpPr>
              <a:stCxn id="626" idx="1"/>
              <a:endCxn id="625" idx="2"/>
            </p:cNvCxnSpPr>
            <p:nvPr/>
          </p:nvCxnSpPr>
          <p:spPr>
            <a:xfrm rot="10800000">
              <a:off x="1496550" y="1539175"/>
              <a:ext cx="882300" cy="1934400"/>
            </a:xfrm>
            <a:prstGeom prst="bentConnector2">
              <a:avLst/>
            </a:prstGeom>
            <a:noFill/>
            <a:ln cap="flat" cmpd="sng" w="19050">
              <a:solidFill>
                <a:srgbClr val="E69138"/>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1" name="Shape 631"/>
        <p:cNvGrpSpPr/>
        <p:nvPr/>
      </p:nvGrpSpPr>
      <p:grpSpPr>
        <a:xfrm>
          <a:off x="0" y="0"/>
          <a:ext cx="0" cy="0"/>
          <a:chOff x="0" y="0"/>
          <a:chExt cx="0" cy="0"/>
        </a:xfrm>
      </p:grpSpPr>
      <p:sp>
        <p:nvSpPr>
          <p:cNvPr id="632" name="Google Shape;632;p6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633" name="Google Shape;633;p64"/>
          <p:cNvSpPr txBox="1"/>
          <p:nvPr>
            <p:ph idx="4294967295" type="body"/>
          </p:nvPr>
        </p:nvSpPr>
        <p:spPr>
          <a:xfrm>
            <a:off x="198500" y="1246825"/>
            <a:ext cx="62211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+dnssec DNSKEY . @198.41.0.4</a:t>
            </a:r>
            <a:endParaRPr b="1" sz="1200">
              <a:latin typeface="Courier New"/>
              <a:ea typeface="Courier New"/>
              <a:cs typeface="Courier New"/>
              <a:sym typeface="Courier New"/>
            </a:endParaRPr>
          </a:p>
        </p:txBody>
      </p:sp>
      <p:sp>
        <p:nvSpPr>
          <p:cNvPr id="634" name="Google Shape;634;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35" name="Google Shape;635;p64"/>
          <p:cNvGrpSpPr/>
          <p:nvPr/>
        </p:nvGrpSpPr>
        <p:grpSpPr>
          <a:xfrm>
            <a:off x="2280575" y="1329050"/>
            <a:ext cx="3331500" cy="2505150"/>
            <a:chOff x="2280575" y="1329050"/>
            <a:chExt cx="3331500" cy="2505150"/>
          </a:xfrm>
        </p:grpSpPr>
        <p:sp>
          <p:nvSpPr>
            <p:cNvPr id="636" name="Google Shape;636;p64"/>
            <p:cNvSpPr/>
            <p:nvPr/>
          </p:nvSpPr>
          <p:spPr>
            <a:xfrm>
              <a:off x="2524700" y="1329050"/>
              <a:ext cx="2007300" cy="210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64"/>
            <p:cNvSpPr txBox="1"/>
            <p:nvPr/>
          </p:nvSpPr>
          <p:spPr>
            <a:xfrm>
              <a:off x="2280575" y="3218600"/>
              <a:ext cx="33315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The first step is to query the root name server for its public keys.</a:t>
              </a:r>
              <a:endParaRPr>
                <a:solidFill>
                  <a:schemeClr val="dk1"/>
                </a:solidFill>
              </a:endParaRPr>
            </a:p>
          </p:txBody>
        </p:sp>
        <p:cxnSp>
          <p:nvCxnSpPr>
            <p:cNvPr id="638" name="Google Shape;638;p64"/>
            <p:cNvCxnSpPr>
              <a:stCxn id="637" idx="0"/>
              <a:endCxn id="636" idx="2"/>
            </p:cNvCxnSpPr>
            <p:nvPr/>
          </p:nvCxnSpPr>
          <p:spPr>
            <a:xfrm flipH="1" rot="5400000">
              <a:off x="2897525" y="2169800"/>
              <a:ext cx="1679700" cy="417900"/>
            </a:xfrm>
            <a:prstGeom prst="bentConnector3">
              <a:avLst>
                <a:gd fmla="val 49996" name="adj1"/>
              </a:avLst>
            </a:prstGeom>
            <a:noFill/>
            <a:ln cap="flat" cmpd="sng" w="19050">
              <a:solidFill>
                <a:srgbClr val="E69138"/>
              </a:solidFill>
              <a:prstDash val="solid"/>
              <a:round/>
              <a:headEnd len="med" w="med" type="none"/>
              <a:tailEnd len="med" w="med" type="triangle"/>
            </a:ln>
          </p:spPr>
        </p:cxnSp>
      </p:grpSp>
      <p:graphicFrame>
        <p:nvGraphicFramePr>
          <p:cNvPr id="639" name="Google Shape;639;p64"/>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3" name="Shape 643"/>
        <p:cNvGrpSpPr/>
        <p:nvPr/>
      </p:nvGrpSpPr>
      <p:grpSpPr>
        <a:xfrm>
          <a:off x="0" y="0"/>
          <a:ext cx="0" cy="0"/>
          <a:chOff x="0" y="0"/>
          <a:chExt cx="0" cy="0"/>
        </a:xfrm>
      </p:grpSpPr>
      <p:sp>
        <p:nvSpPr>
          <p:cNvPr id="644" name="Google Shape;644;p6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645" name="Google Shape;645;p65"/>
          <p:cNvSpPr txBox="1"/>
          <p:nvPr>
            <p:ph idx="4294967295" type="body"/>
          </p:nvPr>
        </p:nvSpPr>
        <p:spPr>
          <a:xfrm>
            <a:off x="198500" y="1246825"/>
            <a:ext cx="62211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+dnssec DNSKEY .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7149</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aa; QUERY: 1, ANSWER: 3, AUTHORITY: 0, ADDITIONAL: 1</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OPT PSEUDOSECTION: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EDNS: version: 0, flags: do; udp: 1472</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IN	DNSKEY</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ANSWER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172800	IN	DNSKEY	256 {ZSK of root}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172800	IN	DNSKEY	257 {KSK of root}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172800	IN	RRSIG 	DNSKEY {signature on DNSKEY records}</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p:txBody>
      </p:sp>
      <p:sp>
        <p:nvSpPr>
          <p:cNvPr id="646" name="Google Shape;646;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647" name="Google Shape;647;p65"/>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grpSp>
        <p:nvGrpSpPr>
          <p:cNvPr id="648" name="Google Shape;648;p65"/>
          <p:cNvGrpSpPr/>
          <p:nvPr/>
        </p:nvGrpSpPr>
        <p:grpSpPr>
          <a:xfrm>
            <a:off x="2484250" y="2007050"/>
            <a:ext cx="4427700" cy="3005375"/>
            <a:chOff x="2484250" y="2007050"/>
            <a:chExt cx="4427700" cy="3005375"/>
          </a:xfrm>
        </p:grpSpPr>
        <p:sp>
          <p:nvSpPr>
            <p:cNvPr id="649" name="Google Shape;649;p65"/>
            <p:cNvSpPr/>
            <p:nvPr/>
          </p:nvSpPr>
          <p:spPr>
            <a:xfrm>
              <a:off x="4991250" y="2007050"/>
              <a:ext cx="1324800" cy="210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5"/>
            <p:cNvSpPr txBox="1"/>
            <p:nvPr/>
          </p:nvSpPr>
          <p:spPr>
            <a:xfrm>
              <a:off x="2484250" y="4181125"/>
              <a:ext cx="44277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The header says there’s 1 record in the additional section, but the additional section is empty! What happened?</a:t>
              </a:r>
              <a:endParaRPr/>
            </a:p>
          </p:txBody>
        </p:sp>
        <p:cxnSp>
          <p:nvCxnSpPr>
            <p:cNvPr id="651" name="Google Shape;651;p65"/>
            <p:cNvCxnSpPr>
              <a:stCxn id="650" idx="0"/>
              <a:endCxn id="649" idx="1"/>
            </p:cNvCxnSpPr>
            <p:nvPr/>
          </p:nvCxnSpPr>
          <p:spPr>
            <a:xfrm rot="-5400000">
              <a:off x="3810100" y="3000025"/>
              <a:ext cx="2069100" cy="293100"/>
            </a:xfrm>
            <a:prstGeom prst="bentConnector2">
              <a:avLst/>
            </a:prstGeom>
            <a:noFill/>
            <a:ln cap="flat" cmpd="sng" w="19050">
              <a:solidFill>
                <a:srgbClr val="E69138"/>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5" name="Shape 655"/>
        <p:cNvGrpSpPr/>
        <p:nvPr/>
      </p:nvGrpSpPr>
      <p:grpSpPr>
        <a:xfrm>
          <a:off x="0" y="0"/>
          <a:ext cx="0" cy="0"/>
          <a:chOff x="0" y="0"/>
          <a:chExt cx="0" cy="0"/>
        </a:xfrm>
      </p:grpSpPr>
      <p:sp>
        <p:nvSpPr>
          <p:cNvPr id="656" name="Google Shape;656;p6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657" name="Google Shape;657;p66"/>
          <p:cNvSpPr txBox="1"/>
          <p:nvPr>
            <p:ph idx="4294967295" type="body"/>
          </p:nvPr>
        </p:nvSpPr>
        <p:spPr>
          <a:xfrm>
            <a:off x="198500" y="1246825"/>
            <a:ext cx="62211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+dnssec DNSKEY .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7149</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aa; QUERY: 1, ANSWER: 3, AUTHORITY: 0, ADDITIONAL: 1</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OPT PSEUDOSECTION: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EDNS: version: 0, flags: do; udp: 1472</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IN	DNSKEY</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ANSWER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172800	IN	DNSKEY	256 {ZSK of root}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172800	IN	DNSKEY	257 {KSK of root}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172800	IN	RRSIG 	DNSKEY {signature on DNSKEY records}</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p:txBody>
      </p:sp>
      <p:sp>
        <p:nvSpPr>
          <p:cNvPr id="658" name="Google Shape;658;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59" name="Google Shape;659;p66"/>
          <p:cNvGrpSpPr/>
          <p:nvPr/>
        </p:nvGrpSpPr>
        <p:grpSpPr>
          <a:xfrm>
            <a:off x="245300" y="2367425"/>
            <a:ext cx="7643325" cy="2745625"/>
            <a:chOff x="245300" y="2367425"/>
            <a:chExt cx="7643325" cy="2745625"/>
          </a:xfrm>
        </p:grpSpPr>
        <p:sp>
          <p:nvSpPr>
            <p:cNvPr id="660" name="Google Shape;660;p66"/>
            <p:cNvSpPr/>
            <p:nvPr/>
          </p:nvSpPr>
          <p:spPr>
            <a:xfrm>
              <a:off x="245300" y="2367425"/>
              <a:ext cx="3786900" cy="3936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6"/>
            <p:cNvSpPr txBox="1"/>
            <p:nvPr/>
          </p:nvSpPr>
          <p:spPr>
            <a:xfrm>
              <a:off x="2245925" y="4066350"/>
              <a:ext cx="5642700" cy="1046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The additional record is actually the OPT pseudosection, which </a:t>
              </a:r>
              <a:r>
                <a:rPr b="1" lang="en">
                  <a:solidFill>
                    <a:schemeClr val="dk1"/>
                  </a:solidFill>
                  <a:latin typeface="Courier New"/>
                  <a:ea typeface="Courier New"/>
                  <a:cs typeface="Courier New"/>
                  <a:sym typeface="Courier New"/>
                </a:rPr>
                <a:t>dig</a:t>
              </a:r>
              <a:r>
                <a:rPr lang="en">
                  <a:solidFill>
                    <a:schemeClr val="dk1"/>
                  </a:solidFill>
                </a:rPr>
                <a:t> lists separately for us.</a:t>
              </a:r>
              <a:endParaRPr>
                <a:solidFill>
                  <a:schemeClr val="dk1"/>
                </a:solidFill>
              </a:endParaRPr>
            </a:p>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en">
                  <a:solidFill>
                    <a:schemeClr val="dk1"/>
                  </a:solidFill>
                </a:rPr>
                <a:t>Note the </a:t>
              </a:r>
              <a:r>
                <a:rPr b="1" lang="en">
                  <a:solidFill>
                    <a:schemeClr val="dk1"/>
                  </a:solidFill>
                  <a:latin typeface="Courier New"/>
                  <a:ea typeface="Courier New"/>
                  <a:cs typeface="Courier New"/>
                  <a:sym typeface="Courier New"/>
                </a:rPr>
                <a:t>do</a:t>
              </a:r>
              <a:r>
                <a:rPr lang="en">
                  <a:solidFill>
                    <a:schemeClr val="dk1"/>
                  </a:solidFill>
                </a:rPr>
                <a:t> flag, which indicates that DNSSEC is supported.</a:t>
              </a:r>
              <a:endParaRPr>
                <a:solidFill>
                  <a:schemeClr val="dk1"/>
                </a:solidFill>
              </a:endParaRPr>
            </a:p>
          </p:txBody>
        </p:sp>
        <p:cxnSp>
          <p:nvCxnSpPr>
            <p:cNvPr id="662" name="Google Shape;662;p66"/>
            <p:cNvCxnSpPr>
              <a:stCxn id="661" idx="0"/>
              <a:endCxn id="660" idx="3"/>
            </p:cNvCxnSpPr>
            <p:nvPr/>
          </p:nvCxnSpPr>
          <p:spPr>
            <a:xfrm flipH="1" rot="5400000">
              <a:off x="3798725" y="2797800"/>
              <a:ext cx="1502100" cy="1035000"/>
            </a:xfrm>
            <a:prstGeom prst="bentConnector2">
              <a:avLst/>
            </a:prstGeom>
            <a:noFill/>
            <a:ln cap="flat" cmpd="sng" w="19050">
              <a:solidFill>
                <a:srgbClr val="E69138"/>
              </a:solidFill>
              <a:prstDash val="solid"/>
              <a:round/>
              <a:headEnd len="med" w="med" type="none"/>
              <a:tailEnd len="med" w="med" type="triangle"/>
            </a:ln>
          </p:spPr>
        </p:cxnSp>
      </p:grpSp>
      <p:graphicFrame>
        <p:nvGraphicFramePr>
          <p:cNvPr id="663" name="Google Shape;663;p66"/>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7" name="Shape 667"/>
        <p:cNvGrpSpPr/>
        <p:nvPr/>
      </p:nvGrpSpPr>
      <p:grpSpPr>
        <a:xfrm>
          <a:off x="0" y="0"/>
          <a:ext cx="0" cy="0"/>
          <a:chOff x="0" y="0"/>
          <a:chExt cx="0" cy="0"/>
        </a:xfrm>
      </p:grpSpPr>
      <p:sp>
        <p:nvSpPr>
          <p:cNvPr id="668" name="Google Shape;668;p6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669" name="Google Shape;669;p67"/>
          <p:cNvSpPr txBox="1"/>
          <p:nvPr>
            <p:ph idx="4294967295" type="body"/>
          </p:nvPr>
        </p:nvSpPr>
        <p:spPr>
          <a:xfrm>
            <a:off x="198500" y="1246825"/>
            <a:ext cx="62211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+dnssec DNSKEY .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7149</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aa; QUERY: 1, ANSWER: 3, AUTHORITY: 0, ADDITIONAL: 1</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OPT PSEUDOSECTION: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EDNS: version: 0, flags: do; udp: 1472</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IN	DNSKEY</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ANSWER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172800	IN	DNSKEY	256 {ZSK of root}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172800	IN	DNSKEY	257 {KSK of root}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172800	IN	RRSIG 	DNSKEY {signature on DNSKEY records}</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p:txBody>
      </p:sp>
      <p:sp>
        <p:nvSpPr>
          <p:cNvPr id="670" name="Google Shape;670;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71" name="Google Shape;671;p67"/>
          <p:cNvGrpSpPr/>
          <p:nvPr/>
        </p:nvGrpSpPr>
        <p:grpSpPr>
          <a:xfrm>
            <a:off x="239400" y="3402275"/>
            <a:ext cx="7798475" cy="1567150"/>
            <a:chOff x="239400" y="3402275"/>
            <a:chExt cx="7798475" cy="1567150"/>
          </a:xfrm>
        </p:grpSpPr>
        <p:sp>
          <p:nvSpPr>
            <p:cNvPr id="672" name="Google Shape;672;p67"/>
            <p:cNvSpPr/>
            <p:nvPr/>
          </p:nvSpPr>
          <p:spPr>
            <a:xfrm>
              <a:off x="239400" y="3402275"/>
              <a:ext cx="6130200" cy="6123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67"/>
            <p:cNvSpPr/>
            <p:nvPr/>
          </p:nvSpPr>
          <p:spPr>
            <a:xfrm flipH="1">
              <a:off x="2318044" y="4014575"/>
              <a:ext cx="2820429" cy="516413"/>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triangle"/>
              <a:tailEnd len="med" w="med" type="none"/>
            </a:ln>
          </p:spPr>
        </p:sp>
        <p:sp>
          <p:nvSpPr>
            <p:cNvPr id="674" name="Google Shape;674;p67"/>
            <p:cNvSpPr txBox="1"/>
            <p:nvPr/>
          </p:nvSpPr>
          <p:spPr>
            <a:xfrm>
              <a:off x="4706375" y="4138125"/>
              <a:ext cx="33315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The root’s KSK signs the root’s ZSK. If you trust the root’s KSK (trust anchor), now you trust the root’s ZSK.</a:t>
              </a:r>
              <a:endParaRPr>
                <a:solidFill>
                  <a:schemeClr val="dk1"/>
                </a:solidFill>
              </a:endParaRPr>
            </a:p>
          </p:txBody>
        </p:sp>
      </p:grpSp>
      <p:graphicFrame>
        <p:nvGraphicFramePr>
          <p:cNvPr id="675" name="Google Shape;675;p67"/>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9" name="Shape 679"/>
        <p:cNvGrpSpPr/>
        <p:nvPr/>
      </p:nvGrpSpPr>
      <p:grpSpPr>
        <a:xfrm>
          <a:off x="0" y="0"/>
          <a:ext cx="0" cy="0"/>
          <a:chOff x="0" y="0"/>
          <a:chExt cx="0" cy="0"/>
        </a:xfrm>
      </p:grpSpPr>
      <p:sp>
        <p:nvSpPr>
          <p:cNvPr id="680" name="Google Shape;680;p6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681" name="Google Shape;681;p68"/>
          <p:cNvSpPr txBox="1"/>
          <p:nvPr>
            <p:ph idx="4294967295" type="body"/>
          </p:nvPr>
        </p:nvSpPr>
        <p:spPr>
          <a:xfrm>
            <a:off x="198500" y="1141375"/>
            <a:ext cx="6221100" cy="400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00">
                <a:latin typeface="Courier New"/>
                <a:ea typeface="Courier New"/>
                <a:cs typeface="Courier New"/>
                <a:sym typeface="Courier New"/>
              </a:rPr>
              <a:t>$ dig +norecurse +dnssec eecs.berkeley.edu @198.41.0.4</a:t>
            </a:r>
            <a:endParaRPr b="1" sz="1100">
              <a:latin typeface="Courier New"/>
              <a:ea typeface="Courier New"/>
              <a:cs typeface="Courier New"/>
              <a:sym typeface="Courier New"/>
            </a:endParaRPr>
          </a:p>
        </p:txBody>
      </p:sp>
      <p:sp>
        <p:nvSpPr>
          <p:cNvPr id="682" name="Google Shape;682;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83" name="Google Shape;683;p68"/>
          <p:cNvGrpSpPr/>
          <p:nvPr/>
        </p:nvGrpSpPr>
        <p:grpSpPr>
          <a:xfrm>
            <a:off x="2355200" y="1230925"/>
            <a:ext cx="4515175" cy="3739200"/>
            <a:chOff x="2355200" y="1230925"/>
            <a:chExt cx="4515175" cy="3739200"/>
          </a:xfrm>
        </p:grpSpPr>
        <p:sp>
          <p:nvSpPr>
            <p:cNvPr id="684" name="Google Shape;684;p68"/>
            <p:cNvSpPr/>
            <p:nvPr/>
          </p:nvSpPr>
          <p:spPr>
            <a:xfrm>
              <a:off x="2355200" y="1230925"/>
              <a:ext cx="2551200" cy="210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8"/>
            <p:cNvSpPr txBox="1"/>
            <p:nvPr/>
          </p:nvSpPr>
          <p:spPr>
            <a:xfrm>
              <a:off x="3950475" y="4138825"/>
              <a:ext cx="29199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Next, we ask the root name server about the IP address of </a:t>
              </a:r>
              <a:r>
                <a:rPr b="1" lang="en">
                  <a:solidFill>
                    <a:schemeClr val="dk1"/>
                  </a:solidFill>
                  <a:latin typeface="Courier New"/>
                  <a:ea typeface="Courier New"/>
                  <a:cs typeface="Courier New"/>
                  <a:sym typeface="Courier New"/>
                </a:rPr>
                <a:t>eecs.berkeley.edu</a:t>
              </a:r>
              <a:r>
                <a:rPr lang="en">
                  <a:solidFill>
                    <a:schemeClr val="dk1"/>
                  </a:solidFill>
                </a:rPr>
                <a:t>.</a:t>
              </a:r>
              <a:endParaRPr>
                <a:solidFill>
                  <a:schemeClr val="dk1"/>
                </a:solidFill>
              </a:endParaRPr>
            </a:p>
          </p:txBody>
        </p:sp>
        <p:cxnSp>
          <p:nvCxnSpPr>
            <p:cNvPr id="686" name="Google Shape;686;p68"/>
            <p:cNvCxnSpPr>
              <a:stCxn id="685" idx="1"/>
              <a:endCxn id="684" idx="2"/>
            </p:cNvCxnSpPr>
            <p:nvPr/>
          </p:nvCxnSpPr>
          <p:spPr>
            <a:xfrm rot="10800000">
              <a:off x="3630675" y="1441075"/>
              <a:ext cx="319800" cy="3113400"/>
            </a:xfrm>
            <a:prstGeom prst="bentConnector2">
              <a:avLst/>
            </a:prstGeom>
            <a:noFill/>
            <a:ln cap="flat" cmpd="sng" w="19050">
              <a:solidFill>
                <a:srgbClr val="E69138"/>
              </a:solidFill>
              <a:prstDash val="solid"/>
              <a:round/>
              <a:headEnd len="med" w="med" type="none"/>
              <a:tailEnd len="med" w="med" type="triangle"/>
            </a:ln>
          </p:spPr>
        </p:cxnSp>
      </p:grpSp>
      <p:graphicFrame>
        <p:nvGraphicFramePr>
          <p:cNvPr id="687" name="Google Shape;687;p68"/>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1" name="Shape 691"/>
        <p:cNvGrpSpPr/>
        <p:nvPr/>
      </p:nvGrpSpPr>
      <p:grpSpPr>
        <a:xfrm>
          <a:off x="0" y="0"/>
          <a:ext cx="0" cy="0"/>
          <a:chOff x="0" y="0"/>
          <a:chExt cx="0" cy="0"/>
        </a:xfrm>
      </p:grpSpPr>
      <p:sp>
        <p:nvSpPr>
          <p:cNvPr id="692" name="Google Shape;692;p6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693" name="Google Shape;693;p69"/>
          <p:cNvSpPr txBox="1"/>
          <p:nvPr>
            <p:ph idx="4294967295" type="body"/>
          </p:nvPr>
        </p:nvSpPr>
        <p:spPr>
          <a:xfrm>
            <a:off x="198500" y="1141375"/>
            <a:ext cx="6221100" cy="400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dig +norecurse +dnssec eecs.berkeley.edu @198.41.0.4</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7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Got answer:</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-&gt;&gt;HEADER&lt;&lt;- opcode: QUERY, status: NOERROR, id: 5232</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flags: qr; QUERY: 1, ANSWER: 0, AUTHORITY: 15, ADDITIONAL: 27</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7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OPT PSEUDOSECTION:</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EDNS: version: 0, flags: do; udp: 4096</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QUESTION SECTION:</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;eecs.berkeley.edu.   	    IN   A</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7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AUTHORITY SECTION:</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edu.             	172800   IN   NS  	a.edu-servers.net.</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edu.             	172800   IN   NS  	b.edu-servers.net.</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edu.             	172800   IN   NS  	c.edu-servers.net.</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edu.             	8640</a:t>
            </a:r>
            <a:r>
              <a:rPr b="1" lang="en" sz="1100">
                <a:latin typeface="Courier New"/>
                <a:ea typeface="Courier New"/>
                <a:cs typeface="Courier New"/>
                <a:sym typeface="Courier New"/>
              </a:rPr>
              <a:t>0    </a:t>
            </a:r>
            <a:r>
              <a:rPr b="1" lang="en" sz="1100">
                <a:latin typeface="Courier New"/>
                <a:ea typeface="Courier New"/>
                <a:cs typeface="Courier New"/>
                <a:sym typeface="Courier New"/>
              </a:rPr>
              <a:t>IN   DS  	{hash of .edu's KSK}</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edu.             	8640</a:t>
            </a:r>
            <a:r>
              <a:rPr b="1" lang="en" sz="1100">
                <a:latin typeface="Courier New"/>
                <a:ea typeface="Courier New"/>
                <a:cs typeface="Courier New"/>
                <a:sym typeface="Courier New"/>
              </a:rPr>
              <a:t>0    </a:t>
            </a:r>
            <a:r>
              <a:rPr b="1" lang="en" sz="1100">
                <a:latin typeface="Courier New"/>
                <a:ea typeface="Courier New"/>
                <a:cs typeface="Courier New"/>
                <a:sym typeface="Courier New"/>
              </a:rPr>
              <a:t>IN   RRSIG   DS {signature on DS record}</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7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ADDITIONAL SECTION:</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a.edu-servers.net.    172800   IN   A   	192.5.6.30</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b.edu-servers.net.    172800   IN   A   	192.33.14.30</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c.edu-servers.net.    172800   IN   A   	192.26.92.30</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a:t>
            </a:r>
            <a:endParaRPr b="1" sz="1100">
              <a:latin typeface="Courier New"/>
              <a:ea typeface="Courier New"/>
              <a:cs typeface="Courier New"/>
              <a:sym typeface="Courier New"/>
            </a:endParaRPr>
          </a:p>
        </p:txBody>
      </p:sp>
      <p:sp>
        <p:nvSpPr>
          <p:cNvPr id="694" name="Google Shape;694;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95" name="Google Shape;695;p69"/>
          <p:cNvGrpSpPr/>
          <p:nvPr/>
        </p:nvGrpSpPr>
        <p:grpSpPr>
          <a:xfrm>
            <a:off x="198500" y="1226850"/>
            <a:ext cx="6099600" cy="2890150"/>
            <a:chOff x="198500" y="1226850"/>
            <a:chExt cx="6099600" cy="2890150"/>
          </a:xfrm>
        </p:grpSpPr>
        <p:sp>
          <p:nvSpPr>
            <p:cNvPr id="696" name="Google Shape;696;p69"/>
            <p:cNvSpPr/>
            <p:nvPr/>
          </p:nvSpPr>
          <p:spPr>
            <a:xfrm>
              <a:off x="198500" y="3723400"/>
              <a:ext cx="6099600" cy="3936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69"/>
            <p:cNvSpPr txBox="1"/>
            <p:nvPr/>
          </p:nvSpPr>
          <p:spPr>
            <a:xfrm>
              <a:off x="2877900" y="1226850"/>
              <a:ext cx="3388200" cy="1693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The records are all the same as ordinary DNS, except for these two extra records endorsing the </a:t>
              </a:r>
              <a:r>
                <a:rPr b="1" lang="en">
                  <a:solidFill>
                    <a:schemeClr val="dk1"/>
                  </a:solidFill>
                  <a:latin typeface="Courier New"/>
                  <a:ea typeface="Courier New"/>
                  <a:cs typeface="Courier New"/>
                  <a:sym typeface="Courier New"/>
                </a:rPr>
                <a:t>.edu</a:t>
              </a:r>
              <a:r>
                <a:rPr lang="en">
                  <a:solidFill>
                    <a:schemeClr val="dk1"/>
                  </a:solidFill>
                </a:rPr>
                <a:t> name server’s public KSK.</a:t>
              </a:r>
              <a:endParaRPr>
                <a:solidFill>
                  <a:schemeClr val="dk1"/>
                </a:solidFill>
              </a:endParaRPr>
            </a:p>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en">
                  <a:solidFill>
                    <a:schemeClr val="dk1"/>
                  </a:solidFill>
                </a:rPr>
                <a:t>If you trust the root’s ZSK, now you trust </a:t>
              </a:r>
              <a:r>
                <a:rPr lang="en">
                  <a:solidFill>
                    <a:schemeClr val="dk1"/>
                  </a:solidFill>
                </a:rPr>
                <a:t>the </a:t>
              </a:r>
              <a:r>
                <a:rPr b="1" lang="en">
                  <a:solidFill>
                    <a:schemeClr val="dk1"/>
                  </a:solidFill>
                  <a:latin typeface="Courier New"/>
                  <a:ea typeface="Courier New"/>
                  <a:cs typeface="Courier New"/>
                  <a:sym typeface="Courier New"/>
                </a:rPr>
                <a:t>.edu</a:t>
              </a:r>
              <a:r>
                <a:rPr lang="en">
                  <a:solidFill>
                    <a:schemeClr val="dk1"/>
                  </a:solidFill>
                </a:rPr>
                <a:t> name server’s KSK.</a:t>
              </a:r>
              <a:endParaRPr>
                <a:solidFill>
                  <a:schemeClr val="dk1"/>
                </a:solidFill>
              </a:endParaRPr>
            </a:p>
          </p:txBody>
        </p:sp>
        <p:cxnSp>
          <p:nvCxnSpPr>
            <p:cNvPr id="698" name="Google Shape;698;p69"/>
            <p:cNvCxnSpPr>
              <a:stCxn id="697" idx="2"/>
              <a:endCxn id="696" idx="0"/>
            </p:cNvCxnSpPr>
            <p:nvPr/>
          </p:nvCxnSpPr>
          <p:spPr>
            <a:xfrm rot="5400000">
              <a:off x="3508500" y="2659950"/>
              <a:ext cx="803400" cy="1323600"/>
            </a:xfrm>
            <a:prstGeom prst="bentConnector3">
              <a:avLst>
                <a:gd fmla="val 49997" name="adj1"/>
              </a:avLst>
            </a:prstGeom>
            <a:noFill/>
            <a:ln cap="flat" cmpd="sng" w="19050">
              <a:solidFill>
                <a:srgbClr val="E69138"/>
              </a:solidFill>
              <a:prstDash val="solid"/>
              <a:round/>
              <a:headEnd len="med" w="med" type="none"/>
              <a:tailEnd len="med" w="med" type="triangle"/>
            </a:ln>
          </p:spPr>
        </p:cxnSp>
      </p:grpSp>
      <p:graphicFrame>
        <p:nvGraphicFramePr>
          <p:cNvPr id="699" name="Google Shape;699;p69"/>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3" name="Shape 703"/>
        <p:cNvGrpSpPr/>
        <p:nvPr/>
      </p:nvGrpSpPr>
      <p:grpSpPr>
        <a:xfrm>
          <a:off x="0" y="0"/>
          <a:ext cx="0" cy="0"/>
          <a:chOff x="0" y="0"/>
          <a:chExt cx="0" cy="0"/>
        </a:xfrm>
      </p:grpSpPr>
      <p:sp>
        <p:nvSpPr>
          <p:cNvPr id="704" name="Google Shape;704;p7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705" name="Google Shape;705;p70"/>
          <p:cNvSpPr txBox="1"/>
          <p:nvPr>
            <p:ph idx="4294967295" type="body"/>
          </p:nvPr>
        </p:nvSpPr>
        <p:spPr>
          <a:xfrm>
            <a:off x="198500" y="1141375"/>
            <a:ext cx="6221100" cy="400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+dnssec DNSKEY edu. @192.5.6.30</a:t>
            </a:r>
            <a:endParaRPr b="1" sz="1200">
              <a:latin typeface="Courier New"/>
              <a:ea typeface="Courier New"/>
              <a:cs typeface="Courier New"/>
              <a:sym typeface="Courier New"/>
            </a:endParaRPr>
          </a:p>
        </p:txBody>
      </p:sp>
      <p:sp>
        <p:nvSpPr>
          <p:cNvPr id="706" name="Google Shape;706;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07" name="Google Shape;707;p70"/>
          <p:cNvGrpSpPr/>
          <p:nvPr/>
        </p:nvGrpSpPr>
        <p:grpSpPr>
          <a:xfrm>
            <a:off x="2515800" y="1230925"/>
            <a:ext cx="4177000" cy="3349075"/>
            <a:chOff x="2515800" y="1230925"/>
            <a:chExt cx="4177000" cy="3349075"/>
          </a:xfrm>
        </p:grpSpPr>
        <p:sp>
          <p:nvSpPr>
            <p:cNvPr id="708" name="Google Shape;708;p70"/>
            <p:cNvSpPr/>
            <p:nvPr/>
          </p:nvSpPr>
          <p:spPr>
            <a:xfrm>
              <a:off x="2515800" y="1230925"/>
              <a:ext cx="2265900" cy="210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70"/>
            <p:cNvSpPr txBox="1"/>
            <p:nvPr/>
          </p:nvSpPr>
          <p:spPr>
            <a:xfrm>
              <a:off x="3906700" y="3964400"/>
              <a:ext cx="27861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Next, we query t</a:t>
              </a:r>
              <a:r>
                <a:rPr lang="en">
                  <a:solidFill>
                    <a:schemeClr val="dk1"/>
                  </a:solidFill>
                </a:rPr>
                <a:t>he </a:t>
              </a:r>
              <a:r>
                <a:rPr b="1" lang="en">
                  <a:solidFill>
                    <a:schemeClr val="dk1"/>
                  </a:solidFill>
                  <a:latin typeface="Courier New"/>
                  <a:ea typeface="Courier New"/>
                  <a:cs typeface="Courier New"/>
                  <a:sym typeface="Courier New"/>
                </a:rPr>
                <a:t>.edu</a:t>
              </a:r>
              <a:r>
                <a:rPr lang="en">
                  <a:solidFill>
                    <a:schemeClr val="dk1"/>
                  </a:solidFill>
                </a:rPr>
                <a:t> name server for its public keys.</a:t>
              </a:r>
              <a:endParaRPr>
                <a:solidFill>
                  <a:schemeClr val="dk1"/>
                </a:solidFill>
              </a:endParaRPr>
            </a:p>
          </p:txBody>
        </p:sp>
        <p:cxnSp>
          <p:nvCxnSpPr>
            <p:cNvPr id="710" name="Google Shape;710;p70"/>
            <p:cNvCxnSpPr>
              <a:stCxn id="709" idx="1"/>
              <a:endCxn id="708" idx="2"/>
            </p:cNvCxnSpPr>
            <p:nvPr/>
          </p:nvCxnSpPr>
          <p:spPr>
            <a:xfrm rot="10800000">
              <a:off x="3648700" y="1440800"/>
              <a:ext cx="258000" cy="2831400"/>
            </a:xfrm>
            <a:prstGeom prst="bentConnector2">
              <a:avLst/>
            </a:prstGeom>
            <a:noFill/>
            <a:ln cap="flat" cmpd="sng" w="19050">
              <a:solidFill>
                <a:srgbClr val="E69138"/>
              </a:solidFill>
              <a:prstDash val="solid"/>
              <a:round/>
              <a:headEnd len="med" w="med" type="none"/>
              <a:tailEnd len="med" w="med" type="triangle"/>
            </a:ln>
          </p:spPr>
        </p:cxnSp>
      </p:grpSp>
      <p:graphicFrame>
        <p:nvGraphicFramePr>
          <p:cNvPr id="711" name="Google Shape;711;p70"/>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5" name="Shape 715"/>
        <p:cNvGrpSpPr/>
        <p:nvPr/>
      </p:nvGrpSpPr>
      <p:grpSpPr>
        <a:xfrm>
          <a:off x="0" y="0"/>
          <a:ext cx="0" cy="0"/>
          <a:chOff x="0" y="0"/>
          <a:chExt cx="0" cy="0"/>
        </a:xfrm>
      </p:grpSpPr>
      <p:sp>
        <p:nvSpPr>
          <p:cNvPr id="716" name="Google Shape;716;p7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717" name="Google Shape;717;p71"/>
          <p:cNvSpPr txBox="1"/>
          <p:nvPr>
            <p:ph idx="4294967295" type="body"/>
          </p:nvPr>
        </p:nvSpPr>
        <p:spPr>
          <a:xfrm>
            <a:off x="198500" y="1141375"/>
            <a:ext cx="6221100" cy="400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+dnssec DNSKEY edu. @192.5.6.30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9776</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aa; QUERY: 1, ANSWER: 3, AUTHORITY: 0, ADDITIONAL: 1</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OPT PSEUDOSECTION: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EDNS: version: 0, flags: do; udp: 4096</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IN   DNSKEY</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ANSWER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86400   IN   DNSKEY  256 {ZSK of .edu}</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86400   IN   DNSKEY  257 {KSK of .edu}</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86400   IN   RRSIG   DNSKEY {signature on DNSKEY records}</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p:txBody>
      </p:sp>
      <p:sp>
        <p:nvSpPr>
          <p:cNvPr id="718" name="Google Shape;718;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19" name="Google Shape;719;p71"/>
          <p:cNvGrpSpPr/>
          <p:nvPr/>
        </p:nvGrpSpPr>
        <p:grpSpPr>
          <a:xfrm>
            <a:off x="245300" y="3241700"/>
            <a:ext cx="7792525" cy="1727725"/>
            <a:chOff x="245300" y="3241700"/>
            <a:chExt cx="7792525" cy="1727725"/>
          </a:xfrm>
        </p:grpSpPr>
        <p:sp>
          <p:nvSpPr>
            <p:cNvPr id="720" name="Google Shape;720;p71"/>
            <p:cNvSpPr/>
            <p:nvPr/>
          </p:nvSpPr>
          <p:spPr>
            <a:xfrm>
              <a:off x="245300" y="3241700"/>
              <a:ext cx="6035100" cy="6123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71"/>
            <p:cNvSpPr/>
            <p:nvPr/>
          </p:nvSpPr>
          <p:spPr>
            <a:xfrm flipH="1">
              <a:off x="2318046" y="3854004"/>
              <a:ext cx="2820429" cy="676973"/>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triangle"/>
              <a:tailEnd len="med" w="med" type="none"/>
            </a:ln>
          </p:spPr>
        </p:sp>
        <p:sp>
          <p:nvSpPr>
            <p:cNvPr id="722" name="Google Shape;722;p71"/>
            <p:cNvSpPr txBox="1"/>
            <p:nvPr/>
          </p:nvSpPr>
          <p:spPr>
            <a:xfrm>
              <a:off x="4175025" y="4138125"/>
              <a:ext cx="38628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a:t>
              </a:r>
              <a:r>
                <a:rPr lang="en">
                  <a:solidFill>
                    <a:schemeClr val="dk1"/>
                  </a:solidFill>
                </a:rPr>
                <a:t>he </a:t>
              </a:r>
              <a:r>
                <a:rPr b="1" lang="en">
                  <a:solidFill>
                    <a:schemeClr val="dk1"/>
                  </a:solidFill>
                  <a:latin typeface="Courier New"/>
                  <a:ea typeface="Courier New"/>
                  <a:cs typeface="Courier New"/>
                  <a:sym typeface="Courier New"/>
                </a:rPr>
                <a:t>.edu</a:t>
              </a:r>
              <a:r>
                <a:rPr lang="en">
                  <a:solidFill>
                    <a:schemeClr val="dk1"/>
                  </a:solidFill>
                </a:rPr>
                <a:t> name server’s </a:t>
              </a:r>
              <a:r>
                <a:rPr lang="en">
                  <a:solidFill>
                    <a:schemeClr val="dk1"/>
                  </a:solidFill>
                </a:rPr>
                <a:t>KSK signs t</a:t>
              </a:r>
              <a:r>
                <a:rPr lang="en">
                  <a:solidFill>
                    <a:schemeClr val="dk1"/>
                  </a:solidFill>
                </a:rPr>
                <a:t>he </a:t>
              </a:r>
              <a:r>
                <a:rPr b="1" lang="en">
                  <a:solidFill>
                    <a:schemeClr val="dk1"/>
                  </a:solidFill>
                  <a:latin typeface="Courier New"/>
                  <a:ea typeface="Courier New"/>
                  <a:cs typeface="Courier New"/>
                  <a:sym typeface="Courier New"/>
                </a:rPr>
                <a:t>.edu</a:t>
              </a:r>
              <a:r>
                <a:rPr lang="en">
                  <a:solidFill>
                    <a:schemeClr val="dk1"/>
                  </a:solidFill>
                </a:rPr>
                <a:t> name server’s</a:t>
              </a:r>
              <a:r>
                <a:rPr lang="en">
                  <a:solidFill>
                    <a:schemeClr val="dk1"/>
                  </a:solidFill>
                </a:rPr>
                <a:t> ZSK. If you trust </a:t>
              </a:r>
              <a:r>
                <a:rPr b="1" lang="en">
                  <a:solidFill>
                    <a:schemeClr val="dk1"/>
                  </a:solidFill>
                  <a:latin typeface="Courier New"/>
                  <a:ea typeface="Courier New"/>
                  <a:cs typeface="Courier New"/>
                  <a:sym typeface="Courier New"/>
                </a:rPr>
                <a:t>.edu</a:t>
              </a:r>
              <a:r>
                <a:rPr lang="en">
                  <a:solidFill>
                    <a:schemeClr val="dk1"/>
                  </a:solidFill>
                </a:rPr>
                <a:t>’s KSK, now you trust </a:t>
              </a:r>
              <a:r>
                <a:rPr b="1" lang="en">
                  <a:solidFill>
                    <a:schemeClr val="dk1"/>
                  </a:solidFill>
                  <a:latin typeface="Courier New"/>
                  <a:ea typeface="Courier New"/>
                  <a:cs typeface="Courier New"/>
                  <a:sym typeface="Courier New"/>
                </a:rPr>
                <a:t>.edu</a:t>
              </a:r>
              <a:r>
                <a:rPr lang="en">
                  <a:solidFill>
                    <a:schemeClr val="dk1"/>
                  </a:solidFill>
                </a:rPr>
                <a:t>’s ZSK.</a:t>
              </a:r>
              <a:endParaRPr>
                <a:solidFill>
                  <a:schemeClr val="dk1"/>
                </a:solidFill>
              </a:endParaRPr>
            </a:p>
          </p:txBody>
        </p:sp>
      </p:grpSp>
      <p:graphicFrame>
        <p:nvGraphicFramePr>
          <p:cNvPr id="723" name="Google Shape;723;p71"/>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(KSK)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7" name="Shape 727"/>
        <p:cNvGrpSpPr/>
        <p:nvPr/>
      </p:nvGrpSpPr>
      <p:grpSpPr>
        <a:xfrm>
          <a:off x="0" y="0"/>
          <a:ext cx="0" cy="0"/>
          <a:chOff x="0" y="0"/>
          <a:chExt cx="0" cy="0"/>
        </a:xfrm>
      </p:grpSpPr>
      <p:sp>
        <p:nvSpPr>
          <p:cNvPr id="728" name="Google Shape;728;p7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729" name="Google Shape;729;p72"/>
          <p:cNvSpPr txBox="1"/>
          <p:nvPr>
            <p:ph idx="4294967295" type="body"/>
          </p:nvPr>
        </p:nvSpPr>
        <p:spPr>
          <a:xfrm>
            <a:off x="198500" y="1141375"/>
            <a:ext cx="6221100" cy="400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00">
                <a:latin typeface="Courier New"/>
                <a:ea typeface="Courier New"/>
                <a:cs typeface="Courier New"/>
                <a:sym typeface="Courier New"/>
              </a:rPr>
              <a:t>$ dig +norecurse +dnssec eecs.berkeley.edu @192.5.6.30</a:t>
            </a:r>
            <a:endParaRPr b="1" sz="1100">
              <a:latin typeface="Courier New"/>
              <a:ea typeface="Courier New"/>
              <a:cs typeface="Courier New"/>
              <a:sym typeface="Courier New"/>
            </a:endParaRPr>
          </a:p>
        </p:txBody>
      </p:sp>
      <p:sp>
        <p:nvSpPr>
          <p:cNvPr id="730" name="Google Shape;730;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31" name="Google Shape;731;p72"/>
          <p:cNvGrpSpPr/>
          <p:nvPr/>
        </p:nvGrpSpPr>
        <p:grpSpPr>
          <a:xfrm>
            <a:off x="2355200" y="1230925"/>
            <a:ext cx="4829050" cy="3432300"/>
            <a:chOff x="2355200" y="1230925"/>
            <a:chExt cx="4829050" cy="3432300"/>
          </a:xfrm>
        </p:grpSpPr>
        <p:sp>
          <p:nvSpPr>
            <p:cNvPr id="732" name="Google Shape;732;p72"/>
            <p:cNvSpPr/>
            <p:nvPr/>
          </p:nvSpPr>
          <p:spPr>
            <a:xfrm>
              <a:off x="2355200" y="1230925"/>
              <a:ext cx="2551200" cy="210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72"/>
            <p:cNvSpPr txBox="1"/>
            <p:nvPr/>
          </p:nvSpPr>
          <p:spPr>
            <a:xfrm>
              <a:off x="4264350" y="3831925"/>
              <a:ext cx="29199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Next, we ask the </a:t>
              </a:r>
              <a:r>
                <a:rPr b="1" lang="en">
                  <a:solidFill>
                    <a:schemeClr val="dk1"/>
                  </a:solidFill>
                  <a:latin typeface="Courier New"/>
                  <a:ea typeface="Courier New"/>
                  <a:cs typeface="Courier New"/>
                  <a:sym typeface="Courier New"/>
                </a:rPr>
                <a:t>.edu</a:t>
              </a:r>
              <a:r>
                <a:rPr lang="en">
                  <a:solidFill>
                    <a:schemeClr val="dk1"/>
                  </a:solidFill>
                </a:rPr>
                <a:t> name server about the IP address of </a:t>
              </a:r>
              <a:r>
                <a:rPr b="1" lang="en">
                  <a:solidFill>
                    <a:schemeClr val="dk1"/>
                  </a:solidFill>
                  <a:latin typeface="Courier New"/>
                  <a:ea typeface="Courier New"/>
                  <a:cs typeface="Courier New"/>
                  <a:sym typeface="Courier New"/>
                </a:rPr>
                <a:t>eecs.berkeley.edu</a:t>
              </a:r>
              <a:r>
                <a:rPr lang="en">
                  <a:solidFill>
                    <a:schemeClr val="dk1"/>
                  </a:solidFill>
                </a:rPr>
                <a:t>.</a:t>
              </a:r>
              <a:endParaRPr>
                <a:solidFill>
                  <a:schemeClr val="dk1"/>
                </a:solidFill>
              </a:endParaRPr>
            </a:p>
          </p:txBody>
        </p:sp>
        <p:cxnSp>
          <p:nvCxnSpPr>
            <p:cNvPr id="734" name="Google Shape;734;p72"/>
            <p:cNvCxnSpPr>
              <a:stCxn id="733" idx="1"/>
              <a:endCxn id="732" idx="2"/>
            </p:cNvCxnSpPr>
            <p:nvPr/>
          </p:nvCxnSpPr>
          <p:spPr>
            <a:xfrm rot="10800000">
              <a:off x="3630750" y="1441075"/>
              <a:ext cx="633600" cy="2806500"/>
            </a:xfrm>
            <a:prstGeom prst="bentConnector2">
              <a:avLst/>
            </a:prstGeom>
            <a:noFill/>
            <a:ln cap="flat" cmpd="sng" w="19050">
              <a:solidFill>
                <a:srgbClr val="E69138"/>
              </a:solidFill>
              <a:prstDash val="solid"/>
              <a:round/>
              <a:headEnd len="med" w="med" type="none"/>
              <a:tailEnd len="med" w="med" type="triangle"/>
            </a:ln>
          </p:spPr>
        </p:cxnSp>
      </p:grpSp>
      <p:graphicFrame>
        <p:nvGraphicFramePr>
          <p:cNvPr id="735" name="Google Shape;735;p72"/>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(KSK)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9" name="Shape 739"/>
        <p:cNvGrpSpPr/>
        <p:nvPr/>
      </p:nvGrpSpPr>
      <p:grpSpPr>
        <a:xfrm>
          <a:off x="0" y="0"/>
          <a:ext cx="0" cy="0"/>
          <a:chOff x="0" y="0"/>
          <a:chExt cx="0" cy="0"/>
        </a:xfrm>
      </p:grpSpPr>
      <p:sp>
        <p:nvSpPr>
          <p:cNvPr id="740" name="Google Shape;740;p7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741" name="Google Shape;741;p73"/>
          <p:cNvSpPr txBox="1"/>
          <p:nvPr>
            <p:ph idx="4294967295" type="body"/>
          </p:nvPr>
        </p:nvSpPr>
        <p:spPr>
          <a:xfrm>
            <a:off x="198500" y="1141375"/>
            <a:ext cx="6221100" cy="400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00">
                <a:latin typeface="Courier New"/>
                <a:ea typeface="Courier New"/>
                <a:cs typeface="Courier New"/>
                <a:sym typeface="Courier New"/>
              </a:rPr>
              <a:t>$ dig +norecurse +dnssec eecs.berkeley.edu @192.5.6.30</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7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 Got answer:</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 -&gt;&gt;HEADER&lt;&lt;- opcode: QUERY, status: NOERROR, id: 60799</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 flags: qr; QUERY: 1, ANSWER: 0, AUTHORITY: 5, ADDITIONAL: 5</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7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 OPT PSEUDOSECTION:</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 EDNS: version: 0, flags: do; udp: 4096</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 QUESTION SECTION:</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;eecs.berkeley.edu.   	  IN  A</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7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 AUTHORITY SECTION:</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berkeley.edu.        172800  IN  NS 	  adns1.berkeley.edu.</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berkeley.edu.        172800  IN  NS 	  adns2.berkeley.edu.</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berkeley.edu.        172800  IN  NS 	  adns3.berkeley.edu.</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berkeley.edu.        86400   IN  DS 	  {hash of berkeley.edu's KSK}</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berkeley.edu.        86400   IN  RRSIG  DS {signature on DS record}</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7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 ADDITIONAL SECTION:</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adns1.berkeley.edu.  172800  IN  A  	  128.32.136.3</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adns2.berkeley.edu.  172800  IN  A  	  128.32.136.14</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adns3.berkeley.edu.  172800  IN  A  	  192.107.102.142</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a:t>
            </a:r>
            <a:endParaRPr b="1" sz="1100">
              <a:latin typeface="Courier New"/>
              <a:ea typeface="Courier New"/>
              <a:cs typeface="Courier New"/>
              <a:sym typeface="Courier New"/>
            </a:endParaRPr>
          </a:p>
        </p:txBody>
      </p:sp>
      <p:sp>
        <p:nvSpPr>
          <p:cNvPr id="742" name="Google Shape;742;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43" name="Google Shape;743;p73"/>
          <p:cNvGrpSpPr/>
          <p:nvPr/>
        </p:nvGrpSpPr>
        <p:grpSpPr>
          <a:xfrm>
            <a:off x="198500" y="1435475"/>
            <a:ext cx="6221100" cy="2480950"/>
            <a:chOff x="198500" y="1435475"/>
            <a:chExt cx="6221100" cy="2480950"/>
          </a:xfrm>
        </p:grpSpPr>
        <p:sp>
          <p:nvSpPr>
            <p:cNvPr id="744" name="Google Shape;744;p73"/>
            <p:cNvSpPr/>
            <p:nvPr/>
          </p:nvSpPr>
          <p:spPr>
            <a:xfrm>
              <a:off x="198500" y="3573525"/>
              <a:ext cx="5912400" cy="3429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73"/>
            <p:cNvSpPr txBox="1"/>
            <p:nvPr/>
          </p:nvSpPr>
          <p:spPr>
            <a:xfrm>
              <a:off x="2046200" y="1435475"/>
              <a:ext cx="4373400" cy="14775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a:solidFill>
                    <a:schemeClr val="dk1"/>
                  </a:solidFill>
                </a:rPr>
                <a:t>Again, t</a:t>
              </a:r>
              <a:r>
                <a:rPr lang="en">
                  <a:solidFill>
                    <a:schemeClr val="dk1"/>
                  </a:solidFill>
                </a:rPr>
                <a:t>he records are all the same as ordinary DNS, except for these two extra records endorsing the </a:t>
              </a:r>
              <a:r>
                <a:rPr b="1" lang="en">
                  <a:solidFill>
                    <a:schemeClr val="dk1"/>
                  </a:solidFill>
                  <a:latin typeface="Courier New"/>
                  <a:ea typeface="Courier New"/>
                  <a:cs typeface="Courier New"/>
                  <a:sym typeface="Courier New"/>
                </a:rPr>
                <a:t>berkeley.edu</a:t>
              </a:r>
              <a:r>
                <a:rPr lang="en">
                  <a:solidFill>
                    <a:schemeClr val="dk1"/>
                  </a:solidFill>
                </a:rPr>
                <a:t> name server’s public KSK.</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None/>
              </a:pPr>
              <a:r>
                <a:rPr lang="en">
                  <a:solidFill>
                    <a:schemeClr val="dk1"/>
                  </a:solidFill>
                </a:rPr>
                <a:t>If you trust the </a:t>
              </a:r>
              <a:r>
                <a:rPr b="1" lang="en">
                  <a:solidFill>
                    <a:schemeClr val="dk1"/>
                  </a:solidFill>
                  <a:latin typeface="Courier New"/>
                  <a:ea typeface="Courier New"/>
                  <a:cs typeface="Courier New"/>
                  <a:sym typeface="Courier New"/>
                </a:rPr>
                <a:t>.edu</a:t>
              </a:r>
              <a:r>
                <a:rPr lang="en">
                  <a:solidFill>
                    <a:schemeClr val="dk1"/>
                  </a:solidFill>
                </a:rPr>
                <a:t> name server’s ZSK, now you trust the </a:t>
              </a:r>
              <a:r>
                <a:rPr b="1" lang="en">
                  <a:solidFill>
                    <a:schemeClr val="dk1"/>
                  </a:solidFill>
                  <a:latin typeface="Courier New"/>
                  <a:ea typeface="Courier New"/>
                  <a:cs typeface="Courier New"/>
                  <a:sym typeface="Courier New"/>
                </a:rPr>
                <a:t>berkeley.edu</a:t>
              </a:r>
              <a:r>
                <a:rPr lang="en">
                  <a:solidFill>
                    <a:schemeClr val="dk1"/>
                  </a:solidFill>
                </a:rPr>
                <a:t> name server’s KSK.</a:t>
              </a:r>
              <a:endParaRPr>
                <a:solidFill>
                  <a:schemeClr val="dk1"/>
                </a:solidFill>
              </a:endParaRPr>
            </a:p>
          </p:txBody>
        </p:sp>
        <p:cxnSp>
          <p:nvCxnSpPr>
            <p:cNvPr id="746" name="Google Shape;746;p73"/>
            <p:cNvCxnSpPr>
              <a:stCxn id="745" idx="2"/>
            </p:cNvCxnSpPr>
            <p:nvPr/>
          </p:nvCxnSpPr>
          <p:spPr>
            <a:xfrm>
              <a:off x="4232900" y="2912975"/>
              <a:ext cx="0" cy="658200"/>
            </a:xfrm>
            <a:prstGeom prst="straightConnector1">
              <a:avLst/>
            </a:prstGeom>
            <a:noFill/>
            <a:ln cap="flat" cmpd="sng" w="19050">
              <a:solidFill>
                <a:srgbClr val="E69138"/>
              </a:solidFill>
              <a:prstDash val="solid"/>
              <a:round/>
              <a:headEnd len="med" w="med" type="none"/>
              <a:tailEnd len="med" w="med" type="triangle"/>
            </a:ln>
          </p:spPr>
        </p:cxnSp>
      </p:grpSp>
      <p:graphicFrame>
        <p:nvGraphicFramePr>
          <p:cNvPr id="747" name="Google Shape;747;p73"/>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(KSK)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berkeley.edu.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1" name="Shape 751"/>
        <p:cNvGrpSpPr/>
        <p:nvPr/>
      </p:nvGrpSpPr>
      <p:grpSpPr>
        <a:xfrm>
          <a:off x="0" y="0"/>
          <a:ext cx="0" cy="0"/>
          <a:chOff x="0" y="0"/>
          <a:chExt cx="0" cy="0"/>
        </a:xfrm>
      </p:grpSpPr>
      <p:sp>
        <p:nvSpPr>
          <p:cNvPr id="752" name="Google Shape;752;p7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753" name="Google Shape;753;p74"/>
          <p:cNvSpPr txBox="1"/>
          <p:nvPr>
            <p:ph idx="4294967295" type="body"/>
          </p:nvPr>
        </p:nvSpPr>
        <p:spPr>
          <a:xfrm>
            <a:off x="198500" y="1141375"/>
            <a:ext cx="6221100" cy="400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+dnssec DNSKEY berkeley.edu @128.32.136.3</a:t>
            </a:r>
            <a:endParaRPr b="1" sz="1200">
              <a:latin typeface="Courier New"/>
              <a:ea typeface="Courier New"/>
              <a:cs typeface="Courier New"/>
              <a:sym typeface="Courier New"/>
            </a:endParaRPr>
          </a:p>
        </p:txBody>
      </p:sp>
      <p:sp>
        <p:nvSpPr>
          <p:cNvPr id="754" name="Google Shape;754;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55" name="Google Shape;755;p74"/>
          <p:cNvGrpSpPr/>
          <p:nvPr/>
        </p:nvGrpSpPr>
        <p:grpSpPr>
          <a:xfrm>
            <a:off x="2515800" y="1230925"/>
            <a:ext cx="5406350" cy="3516450"/>
            <a:chOff x="2515800" y="1230925"/>
            <a:chExt cx="5406350" cy="3516450"/>
          </a:xfrm>
        </p:grpSpPr>
        <p:sp>
          <p:nvSpPr>
            <p:cNvPr id="756" name="Google Shape;756;p74"/>
            <p:cNvSpPr/>
            <p:nvPr/>
          </p:nvSpPr>
          <p:spPr>
            <a:xfrm>
              <a:off x="2515800" y="1230925"/>
              <a:ext cx="3178500" cy="210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74"/>
            <p:cNvSpPr txBox="1"/>
            <p:nvPr/>
          </p:nvSpPr>
          <p:spPr>
            <a:xfrm>
              <a:off x="4743650" y="4131775"/>
              <a:ext cx="31785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Next, we query the </a:t>
              </a:r>
              <a:r>
                <a:rPr b="1" lang="en">
                  <a:solidFill>
                    <a:schemeClr val="dk1"/>
                  </a:solidFill>
                  <a:latin typeface="Courier New"/>
                  <a:ea typeface="Courier New"/>
                  <a:cs typeface="Courier New"/>
                  <a:sym typeface="Courier New"/>
                </a:rPr>
                <a:t>berkeley.edu</a:t>
              </a:r>
              <a:r>
                <a:rPr lang="en">
                  <a:solidFill>
                    <a:schemeClr val="dk1"/>
                  </a:solidFill>
                </a:rPr>
                <a:t> name server for its public keys.</a:t>
              </a:r>
              <a:endParaRPr>
                <a:solidFill>
                  <a:schemeClr val="dk1"/>
                </a:solidFill>
              </a:endParaRPr>
            </a:p>
          </p:txBody>
        </p:sp>
        <p:cxnSp>
          <p:nvCxnSpPr>
            <p:cNvPr id="758" name="Google Shape;758;p74"/>
            <p:cNvCxnSpPr>
              <a:stCxn id="757" idx="1"/>
              <a:endCxn id="756" idx="2"/>
            </p:cNvCxnSpPr>
            <p:nvPr/>
          </p:nvCxnSpPr>
          <p:spPr>
            <a:xfrm rot="10800000">
              <a:off x="4104950" y="1441075"/>
              <a:ext cx="638700" cy="2998500"/>
            </a:xfrm>
            <a:prstGeom prst="bentConnector2">
              <a:avLst/>
            </a:prstGeom>
            <a:noFill/>
            <a:ln cap="flat" cmpd="sng" w="19050">
              <a:solidFill>
                <a:srgbClr val="E69138"/>
              </a:solidFill>
              <a:prstDash val="solid"/>
              <a:round/>
              <a:headEnd len="med" w="med" type="none"/>
              <a:tailEnd len="med" w="med" type="triangle"/>
            </a:ln>
          </p:spPr>
        </p:cxnSp>
      </p:grpSp>
      <p:graphicFrame>
        <p:nvGraphicFramePr>
          <p:cNvPr id="759" name="Google Shape;759;p74"/>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(KSK)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berkeley.edu.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3" name="Shape 763"/>
        <p:cNvGrpSpPr/>
        <p:nvPr/>
      </p:nvGrpSpPr>
      <p:grpSpPr>
        <a:xfrm>
          <a:off x="0" y="0"/>
          <a:ext cx="0" cy="0"/>
          <a:chOff x="0" y="0"/>
          <a:chExt cx="0" cy="0"/>
        </a:xfrm>
      </p:grpSpPr>
      <p:sp>
        <p:nvSpPr>
          <p:cNvPr id="764" name="Google Shape;764;p7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765" name="Google Shape;765;p75"/>
          <p:cNvSpPr txBox="1"/>
          <p:nvPr>
            <p:ph idx="4294967295" type="body"/>
          </p:nvPr>
        </p:nvSpPr>
        <p:spPr>
          <a:xfrm>
            <a:off x="198500" y="1141375"/>
            <a:ext cx="6840300" cy="400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dig +norecurse +dnssec DNSKEY berkeley.edu @128.32.136.3</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-&gt;&gt;HEADER&lt;&lt;- opcode: QUERY, status: NOERROR, id: 4169</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flags: qr aa; QUERY: 1, ANSWER: 5, AUTHORITY: 0, ADDITIONAL: 1</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OPT PSEUDOSECTION: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EDNS: version: 0, flags: do; udp: 1220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;berkeley.edu.     	IN  DNSKEY</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ANSWER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berkeley.edu.  172800  IN  DNSKEY  256 {ZSK of berkeley.edu}</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berkeley.edu.  172800  IN  DNSKEY  257 {KSK of berkeley.edu}</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berkeley.edu.  172800  IN  RRSIG   DNSKEY {signature on DNSKEY records}</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p:txBody>
      </p:sp>
      <p:sp>
        <p:nvSpPr>
          <p:cNvPr id="766" name="Google Shape;766;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67" name="Google Shape;767;p75"/>
          <p:cNvGrpSpPr/>
          <p:nvPr/>
        </p:nvGrpSpPr>
        <p:grpSpPr>
          <a:xfrm>
            <a:off x="245300" y="3241700"/>
            <a:ext cx="7926350" cy="1651525"/>
            <a:chOff x="245300" y="3241700"/>
            <a:chExt cx="7926350" cy="1651525"/>
          </a:xfrm>
        </p:grpSpPr>
        <p:sp>
          <p:nvSpPr>
            <p:cNvPr id="768" name="Google Shape;768;p75"/>
            <p:cNvSpPr/>
            <p:nvPr/>
          </p:nvSpPr>
          <p:spPr>
            <a:xfrm>
              <a:off x="245300" y="3241700"/>
              <a:ext cx="6641700" cy="6123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75"/>
            <p:cNvSpPr/>
            <p:nvPr/>
          </p:nvSpPr>
          <p:spPr>
            <a:xfrm flipH="1">
              <a:off x="1497296" y="3854000"/>
              <a:ext cx="2820429" cy="612257"/>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triangle"/>
              <a:tailEnd len="med" w="med" type="none"/>
            </a:ln>
          </p:spPr>
        </p:sp>
        <p:sp>
          <p:nvSpPr>
            <p:cNvPr id="770" name="Google Shape;770;p75"/>
            <p:cNvSpPr txBox="1"/>
            <p:nvPr/>
          </p:nvSpPr>
          <p:spPr>
            <a:xfrm>
              <a:off x="3050950" y="4061925"/>
              <a:ext cx="51207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The </a:t>
              </a:r>
              <a:r>
                <a:rPr b="1" lang="en">
                  <a:solidFill>
                    <a:schemeClr val="dk1"/>
                  </a:solidFill>
                  <a:latin typeface="Courier New"/>
                  <a:ea typeface="Courier New"/>
                  <a:cs typeface="Courier New"/>
                  <a:sym typeface="Courier New"/>
                </a:rPr>
                <a:t>berkeley.edu</a:t>
              </a:r>
              <a:r>
                <a:rPr lang="en">
                  <a:solidFill>
                    <a:schemeClr val="dk1"/>
                  </a:solidFill>
                </a:rPr>
                <a:t> name server’s KSK signs the </a:t>
              </a:r>
              <a:r>
                <a:rPr b="1" lang="en">
                  <a:solidFill>
                    <a:schemeClr val="dk1"/>
                  </a:solidFill>
                  <a:latin typeface="Courier New"/>
                  <a:ea typeface="Courier New"/>
                  <a:cs typeface="Courier New"/>
                  <a:sym typeface="Courier New"/>
                </a:rPr>
                <a:t>berkeley.edu</a:t>
              </a:r>
              <a:r>
                <a:rPr lang="en">
                  <a:solidFill>
                    <a:schemeClr val="dk1"/>
                  </a:solidFill>
                </a:rPr>
                <a:t> name server’s ZSK. If you trust </a:t>
              </a:r>
              <a:r>
                <a:rPr b="1" lang="en">
                  <a:solidFill>
                    <a:schemeClr val="dk1"/>
                  </a:solidFill>
                  <a:latin typeface="Courier New"/>
                  <a:ea typeface="Courier New"/>
                  <a:cs typeface="Courier New"/>
                  <a:sym typeface="Courier New"/>
                </a:rPr>
                <a:t>berkeley.edu</a:t>
              </a:r>
              <a:r>
                <a:rPr lang="en">
                  <a:solidFill>
                    <a:schemeClr val="dk1"/>
                  </a:solidFill>
                </a:rPr>
                <a:t>’s KSK, now you trust </a:t>
              </a:r>
              <a:r>
                <a:rPr b="1" lang="en">
                  <a:solidFill>
                    <a:schemeClr val="dk1"/>
                  </a:solidFill>
                  <a:latin typeface="Courier New"/>
                  <a:ea typeface="Courier New"/>
                  <a:cs typeface="Courier New"/>
                  <a:sym typeface="Courier New"/>
                </a:rPr>
                <a:t>berkeley.edu</a:t>
              </a:r>
              <a:r>
                <a:rPr lang="en">
                  <a:solidFill>
                    <a:schemeClr val="dk1"/>
                  </a:solidFill>
                </a:rPr>
                <a:t>’s ZSK.</a:t>
              </a:r>
              <a:endParaRPr>
                <a:solidFill>
                  <a:schemeClr val="dk1"/>
                </a:solidFill>
              </a:endParaRPr>
            </a:p>
          </p:txBody>
        </p:sp>
      </p:grpSp>
      <p:graphicFrame>
        <p:nvGraphicFramePr>
          <p:cNvPr id="771" name="Google Shape;771;p75"/>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(KSK)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berkeley.edu.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berkeley.edu.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(KSK)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berkeley.edu.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5" name="Shape 775"/>
        <p:cNvGrpSpPr/>
        <p:nvPr/>
      </p:nvGrpSpPr>
      <p:grpSpPr>
        <a:xfrm>
          <a:off x="0" y="0"/>
          <a:ext cx="0" cy="0"/>
          <a:chOff x="0" y="0"/>
          <a:chExt cx="0" cy="0"/>
        </a:xfrm>
      </p:grpSpPr>
      <p:sp>
        <p:nvSpPr>
          <p:cNvPr id="776" name="Google Shape;776;p7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777" name="Google Shape;777;p76"/>
          <p:cNvSpPr txBox="1"/>
          <p:nvPr>
            <p:ph idx="4294967295" type="body"/>
          </p:nvPr>
        </p:nvSpPr>
        <p:spPr>
          <a:xfrm>
            <a:off x="198500" y="1141375"/>
            <a:ext cx="6840300" cy="400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+dnssec eecs.berkeley.edu @128.32.136.3</a:t>
            </a:r>
            <a:endParaRPr b="1" sz="1200">
              <a:latin typeface="Courier New"/>
              <a:ea typeface="Courier New"/>
              <a:cs typeface="Courier New"/>
              <a:sym typeface="Courier New"/>
            </a:endParaRPr>
          </a:p>
        </p:txBody>
      </p:sp>
      <p:sp>
        <p:nvSpPr>
          <p:cNvPr id="778" name="Google Shape;778;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79" name="Google Shape;779;p76"/>
          <p:cNvGrpSpPr/>
          <p:nvPr/>
        </p:nvGrpSpPr>
        <p:grpSpPr>
          <a:xfrm>
            <a:off x="2524625" y="1230925"/>
            <a:ext cx="4735225" cy="3648500"/>
            <a:chOff x="2524625" y="1230925"/>
            <a:chExt cx="4735225" cy="3648500"/>
          </a:xfrm>
        </p:grpSpPr>
        <p:sp>
          <p:nvSpPr>
            <p:cNvPr id="780" name="Google Shape;780;p76"/>
            <p:cNvSpPr/>
            <p:nvPr/>
          </p:nvSpPr>
          <p:spPr>
            <a:xfrm>
              <a:off x="2524625" y="1230925"/>
              <a:ext cx="2997600" cy="210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6"/>
            <p:cNvSpPr txBox="1"/>
            <p:nvPr/>
          </p:nvSpPr>
          <p:spPr>
            <a:xfrm>
              <a:off x="4152750" y="4048125"/>
              <a:ext cx="31071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Finally</a:t>
              </a:r>
              <a:r>
                <a:rPr lang="en">
                  <a:solidFill>
                    <a:schemeClr val="dk1"/>
                  </a:solidFill>
                </a:rPr>
                <a:t>, we ask the </a:t>
              </a:r>
              <a:r>
                <a:rPr b="1" lang="en">
                  <a:solidFill>
                    <a:schemeClr val="dk1"/>
                  </a:solidFill>
                  <a:latin typeface="Courier New"/>
                  <a:ea typeface="Courier New"/>
                  <a:cs typeface="Courier New"/>
                  <a:sym typeface="Courier New"/>
                </a:rPr>
                <a:t>berkeley.edu</a:t>
              </a:r>
              <a:r>
                <a:rPr lang="en">
                  <a:solidFill>
                    <a:schemeClr val="dk1"/>
                  </a:solidFill>
                </a:rPr>
                <a:t> name server about the IP address of </a:t>
              </a:r>
              <a:r>
                <a:rPr b="1" lang="en">
                  <a:solidFill>
                    <a:schemeClr val="dk1"/>
                  </a:solidFill>
                  <a:latin typeface="Courier New"/>
                  <a:ea typeface="Courier New"/>
                  <a:cs typeface="Courier New"/>
                  <a:sym typeface="Courier New"/>
                </a:rPr>
                <a:t>eecs.berkeley.edu</a:t>
              </a:r>
              <a:r>
                <a:rPr lang="en">
                  <a:solidFill>
                    <a:schemeClr val="dk1"/>
                  </a:solidFill>
                </a:rPr>
                <a:t>.</a:t>
              </a:r>
              <a:endParaRPr>
                <a:solidFill>
                  <a:schemeClr val="dk1"/>
                </a:solidFill>
              </a:endParaRPr>
            </a:p>
          </p:txBody>
        </p:sp>
        <p:cxnSp>
          <p:nvCxnSpPr>
            <p:cNvPr id="782" name="Google Shape;782;p76"/>
            <p:cNvCxnSpPr>
              <a:stCxn id="781" idx="1"/>
              <a:endCxn id="780" idx="2"/>
            </p:cNvCxnSpPr>
            <p:nvPr/>
          </p:nvCxnSpPr>
          <p:spPr>
            <a:xfrm rot="10800000">
              <a:off x="4023450" y="1440975"/>
              <a:ext cx="129300" cy="3022800"/>
            </a:xfrm>
            <a:prstGeom prst="bentConnector2">
              <a:avLst/>
            </a:prstGeom>
            <a:noFill/>
            <a:ln cap="flat" cmpd="sng" w="19050">
              <a:solidFill>
                <a:srgbClr val="E69138"/>
              </a:solidFill>
              <a:prstDash val="solid"/>
              <a:round/>
              <a:headEnd len="med" w="med" type="none"/>
              <a:tailEnd len="med" w="med" type="triangle"/>
            </a:ln>
          </p:spPr>
        </p:cxnSp>
      </p:grpSp>
      <p:graphicFrame>
        <p:nvGraphicFramePr>
          <p:cNvPr id="783" name="Google Shape;783;p76"/>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(KSK)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berkeley.edu.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berkeley.edu.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(KSK)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berkeley.edu.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t/>
                      </a:r>
                      <a:endParaRPr sz="800"/>
                    </a:p>
                  </a:txBody>
                  <a:tcPr marT="45700" marB="45700" marR="45700" marL="457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7" name="Shape 787"/>
        <p:cNvGrpSpPr/>
        <p:nvPr/>
      </p:nvGrpSpPr>
      <p:grpSpPr>
        <a:xfrm>
          <a:off x="0" y="0"/>
          <a:ext cx="0" cy="0"/>
          <a:chOff x="0" y="0"/>
          <a:chExt cx="0" cy="0"/>
        </a:xfrm>
      </p:grpSpPr>
      <p:sp>
        <p:nvSpPr>
          <p:cNvPr id="788" name="Google Shape;788;p7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Lookup Walkthrough</a:t>
            </a:r>
            <a:endParaRPr/>
          </a:p>
        </p:txBody>
      </p:sp>
      <p:sp>
        <p:nvSpPr>
          <p:cNvPr id="789" name="Google Shape;789;p77"/>
          <p:cNvSpPr txBox="1"/>
          <p:nvPr>
            <p:ph idx="4294967295" type="body"/>
          </p:nvPr>
        </p:nvSpPr>
        <p:spPr>
          <a:xfrm>
            <a:off x="198500" y="1141375"/>
            <a:ext cx="6840300" cy="400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+dnssec eecs.berkeley.edu @128.32.136.3</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21205</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aa; QUERY: 1, ANSWER: 2, AUTHORITY: 0, ADDITIONAL: 1</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OPT PSEUDOSECTION: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EDNS: version: 0, flags: do; udp: 1220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ANSWER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86400   IN  A     	23.185.0.1</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86400   IN  RRSIG   A {signature on A record}</a:t>
            </a:r>
            <a:endParaRPr b="1" sz="1200">
              <a:latin typeface="Courier New"/>
              <a:ea typeface="Courier New"/>
              <a:cs typeface="Courier New"/>
              <a:sym typeface="Courier New"/>
            </a:endParaRPr>
          </a:p>
        </p:txBody>
      </p:sp>
      <p:sp>
        <p:nvSpPr>
          <p:cNvPr id="790" name="Google Shape;790;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91" name="Google Shape;791;p77"/>
          <p:cNvGrpSpPr/>
          <p:nvPr/>
        </p:nvGrpSpPr>
        <p:grpSpPr>
          <a:xfrm>
            <a:off x="245300" y="3241700"/>
            <a:ext cx="7676450" cy="1651525"/>
            <a:chOff x="245300" y="3241700"/>
            <a:chExt cx="7676450" cy="1651525"/>
          </a:xfrm>
        </p:grpSpPr>
        <p:sp>
          <p:nvSpPr>
            <p:cNvPr id="792" name="Google Shape;792;p77"/>
            <p:cNvSpPr/>
            <p:nvPr/>
          </p:nvSpPr>
          <p:spPr>
            <a:xfrm>
              <a:off x="245300" y="3241700"/>
              <a:ext cx="6052800" cy="6123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77"/>
            <p:cNvSpPr/>
            <p:nvPr/>
          </p:nvSpPr>
          <p:spPr>
            <a:xfrm flipH="1">
              <a:off x="1497296" y="3854000"/>
              <a:ext cx="2820429" cy="612257"/>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triangle"/>
              <a:tailEnd len="med" w="med" type="none"/>
            </a:ln>
          </p:spPr>
        </p:sp>
        <p:sp>
          <p:nvSpPr>
            <p:cNvPr id="794" name="Google Shape;794;p77"/>
            <p:cNvSpPr txBox="1"/>
            <p:nvPr/>
          </p:nvSpPr>
          <p:spPr>
            <a:xfrm>
              <a:off x="3050950" y="4061925"/>
              <a:ext cx="48708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Here’s the final answer record, signed by </a:t>
              </a:r>
              <a:r>
                <a:rPr b="1" lang="en">
                  <a:solidFill>
                    <a:schemeClr val="dk1"/>
                  </a:solidFill>
                  <a:latin typeface="Courier New"/>
                  <a:ea typeface="Courier New"/>
                  <a:cs typeface="Courier New"/>
                  <a:sym typeface="Courier New"/>
                </a:rPr>
                <a:t>berkeley.edu</a:t>
              </a:r>
              <a:r>
                <a:rPr lang="en">
                  <a:solidFill>
                    <a:schemeClr val="dk1"/>
                  </a:solidFill>
                </a:rPr>
                <a:t>’s public ZSK. If you trust </a:t>
              </a:r>
              <a:r>
                <a:rPr b="1" lang="en">
                  <a:solidFill>
                    <a:schemeClr val="dk1"/>
                  </a:solidFill>
                  <a:latin typeface="Courier New"/>
                  <a:ea typeface="Courier New"/>
                  <a:cs typeface="Courier New"/>
                  <a:sym typeface="Courier New"/>
                </a:rPr>
                <a:t>berkeley.edu</a:t>
              </a:r>
              <a:r>
                <a:rPr lang="en">
                  <a:solidFill>
                    <a:schemeClr val="dk1"/>
                  </a:solidFill>
                </a:rPr>
                <a:t>’s ZSK, then now you trust the final answer.</a:t>
              </a:r>
              <a:endParaRPr>
                <a:solidFill>
                  <a:schemeClr val="dk1"/>
                </a:solidFill>
              </a:endParaRPr>
            </a:p>
          </p:txBody>
        </p:sp>
      </p:grpSp>
      <p:graphicFrame>
        <p:nvGraphicFramePr>
          <p:cNvPr id="795" name="Google Shape;795;p77"/>
          <p:cNvGraphicFramePr/>
          <p:nvPr/>
        </p:nvGraphicFramePr>
        <p:xfrm>
          <a:off x="6556350" y="1341775"/>
          <a:ext cx="3000000" cy="3000000"/>
        </p:xfrm>
        <a:graphic>
          <a:graphicData uri="http://schemas.openxmlformats.org/drawingml/2006/table">
            <a:tbl>
              <a:tblPr>
                <a:noFill/>
                <a:tableStyleId>{1AF2B5D6-C490-41FC-B5EB-5FA7F84E0A47}</a:tableStyleId>
              </a:tblPr>
              <a:tblGrid>
                <a:gridCol w="1322775"/>
                <a:gridCol w="1053750"/>
              </a:tblGrid>
              <a:tr h="213325">
                <a:tc gridSpan="2">
                  <a:txBody>
                    <a:bodyPr/>
                    <a:lstStyle/>
                    <a:p>
                      <a:pPr indent="0" lvl="0" marL="0" rtl="0" algn="ctr">
                        <a:spcBef>
                          <a:spcPts val="0"/>
                        </a:spcBef>
                        <a:spcAft>
                          <a:spcPts val="0"/>
                        </a:spcAft>
                        <a:buNone/>
                      </a:pPr>
                      <a:r>
                        <a:rPr i="1" lang="en" sz="800"/>
                        <a:t>The chain of trust</a:t>
                      </a:r>
                      <a:endParaRPr i="1" sz="800"/>
                    </a:p>
                  </a:txBody>
                  <a:tcPr marT="45700" marB="45700" marR="45700" marL="45700"/>
                </a:tc>
                <a:tc hMerge="1"/>
              </a:tr>
              <a:tr h="213325">
                <a:tc>
                  <a:txBody>
                    <a:bodyPr/>
                    <a:lstStyle/>
                    <a:p>
                      <a:pPr indent="0" lvl="0" marL="0" rtl="0" algn="l">
                        <a:spcBef>
                          <a:spcPts val="0"/>
                        </a:spcBef>
                        <a:spcAft>
                          <a:spcPts val="0"/>
                        </a:spcAft>
                        <a:buNone/>
                      </a:pPr>
                      <a:r>
                        <a:rPr lang="en" sz="800"/>
                        <a:t>Name</a:t>
                      </a:r>
                      <a:endParaRPr sz="800"/>
                    </a:p>
                  </a:txBody>
                  <a:tcPr marT="45700" marB="45700" marR="45700" marL="45700"/>
                </a:tc>
                <a:tc>
                  <a:txBody>
                    <a:bodyPr/>
                    <a:lstStyle/>
                    <a:p>
                      <a:pPr indent="0" lvl="0" marL="0" rtl="0" algn="l">
                        <a:spcBef>
                          <a:spcPts val="0"/>
                        </a:spcBef>
                        <a:spcAft>
                          <a:spcPts val="0"/>
                        </a:spcAft>
                        <a:buNone/>
                      </a:pPr>
                      <a:r>
                        <a:rPr lang="en" sz="800"/>
                        <a:t>Type</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b="1" lang="en" sz="800"/>
                        <a:t>DNSKEY (KSK)</a:t>
                      </a:r>
                      <a:endParaRPr b="1"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(KSK)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berkeley.edu.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DS</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berkeley.edu.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(KSK)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berkeley.edu.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DNSKEY (ZSK)</a:t>
                      </a:r>
                      <a:endParaRPr sz="800"/>
                    </a:p>
                  </a:txBody>
                  <a:tcPr marT="45700" marB="45700" marR="45700" marL="45700"/>
                </a:tc>
              </a:tr>
              <a:tr h="213325">
                <a:tc>
                  <a:txBody>
                    <a:bodyPr/>
                    <a:lstStyle/>
                    <a:p>
                      <a:pPr indent="0" lvl="0" marL="0" rtl="0" algn="l">
                        <a:spcBef>
                          <a:spcPts val="0"/>
                        </a:spcBef>
                        <a:spcAft>
                          <a:spcPts val="0"/>
                        </a:spcAft>
                        <a:buNone/>
                      </a:pPr>
                      <a:r>
                        <a:rPr b="1" lang="en" sz="800">
                          <a:latin typeface="Courier New"/>
                          <a:ea typeface="Courier New"/>
                          <a:cs typeface="Courier New"/>
                          <a:sym typeface="Courier New"/>
                        </a:rPr>
                        <a:t>eecs.berkeley.edu.</a:t>
                      </a:r>
                      <a:endParaRPr b="1" sz="800">
                        <a:latin typeface="Courier New"/>
                        <a:ea typeface="Courier New"/>
                        <a:cs typeface="Courier New"/>
                        <a:sym typeface="Courier New"/>
                      </a:endParaRPr>
                    </a:p>
                  </a:txBody>
                  <a:tcPr marT="45700" marB="45700" marR="45700" marL="45700"/>
                </a:tc>
                <a:tc>
                  <a:txBody>
                    <a:bodyPr/>
                    <a:lstStyle/>
                    <a:p>
                      <a:pPr indent="0" lvl="0" marL="0" rtl="0" algn="l">
                        <a:spcBef>
                          <a:spcPts val="0"/>
                        </a:spcBef>
                        <a:spcAft>
                          <a:spcPts val="0"/>
                        </a:spcAft>
                        <a:buNone/>
                      </a:pPr>
                      <a:r>
                        <a:rPr lang="en" sz="800"/>
                        <a:t>A</a:t>
                      </a:r>
                      <a:endParaRPr sz="800"/>
                    </a:p>
                  </a:txBody>
                  <a:tcPr marT="45700" marB="45700" marR="45700" marL="457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9" name="Shape 799"/>
        <p:cNvGrpSpPr/>
        <p:nvPr/>
      </p:nvGrpSpPr>
      <p:grpSpPr>
        <a:xfrm>
          <a:off x="0" y="0"/>
          <a:ext cx="0" cy="0"/>
          <a:chOff x="0" y="0"/>
          <a:chExt cx="0" cy="0"/>
        </a:xfrm>
      </p:grpSpPr>
      <p:sp>
        <p:nvSpPr>
          <p:cNvPr id="800" name="Google Shape;800;p7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NSEC: </a:t>
            </a:r>
            <a:r>
              <a:rPr lang="en"/>
              <a:t>Signing Non-Existent Domains</a:t>
            </a:r>
            <a:endParaRPr/>
          </a:p>
        </p:txBody>
      </p:sp>
      <p:sp>
        <p:nvSpPr>
          <p:cNvPr id="801" name="Google Shape;801;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5" name="Shape 805"/>
        <p:cNvGrpSpPr/>
        <p:nvPr/>
      </p:nvGrpSpPr>
      <p:grpSpPr>
        <a:xfrm>
          <a:off x="0" y="0"/>
          <a:ext cx="0" cy="0"/>
          <a:chOff x="0" y="0"/>
          <a:chExt cx="0" cy="0"/>
        </a:xfrm>
      </p:grpSpPr>
      <p:sp>
        <p:nvSpPr>
          <p:cNvPr id="806" name="Google Shape;806;p7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Nonexistent Domains</a:t>
            </a:r>
            <a:endParaRPr/>
          </a:p>
        </p:txBody>
      </p:sp>
      <p:sp>
        <p:nvSpPr>
          <p:cNvPr id="807" name="Google Shape;807;p7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DNSSEC structure works great for domains which exist</a:t>
            </a:r>
            <a:endParaRPr/>
          </a:p>
          <a:p>
            <a:pPr indent="-317500" lvl="1" marL="914400" rtl="0" algn="l">
              <a:spcBef>
                <a:spcPts val="0"/>
              </a:spcBef>
              <a:spcAft>
                <a:spcPts val="0"/>
              </a:spcAft>
              <a:buSzPts val="1400"/>
              <a:buChar char="○"/>
            </a:pPr>
            <a:r>
              <a:rPr lang="en"/>
              <a:t>We have signatures over records stating that they exist</a:t>
            </a:r>
            <a:endParaRPr/>
          </a:p>
          <a:p>
            <a:pPr indent="-342900" lvl="0" marL="457200" rtl="0" algn="l">
              <a:spcBef>
                <a:spcPts val="0"/>
              </a:spcBef>
              <a:spcAft>
                <a:spcPts val="0"/>
              </a:spcAft>
              <a:buSzPts val="1800"/>
              <a:buChar char="●"/>
            </a:pPr>
            <a:r>
              <a:rPr lang="en"/>
              <a:t>What if the user queries for a domain that </a:t>
            </a:r>
            <a:r>
              <a:rPr b="1" lang="en"/>
              <a:t>doesn’t</a:t>
            </a:r>
            <a:r>
              <a:rPr lang="en"/>
              <a:t> exist?</a:t>
            </a:r>
            <a:endParaRPr/>
          </a:p>
          <a:p>
            <a:pPr indent="-317500" lvl="1" marL="914400" rtl="0" algn="l">
              <a:spcBef>
                <a:spcPts val="0"/>
              </a:spcBef>
              <a:spcAft>
                <a:spcPts val="0"/>
              </a:spcAft>
              <a:buSzPts val="1400"/>
              <a:buChar char="○"/>
            </a:pPr>
            <a:r>
              <a:rPr lang="en"/>
              <a:t>Option #1: Don’t authenticate nonexistent domain (NXDOMAIN) responses</a:t>
            </a:r>
            <a:endParaRPr/>
          </a:p>
          <a:p>
            <a:pPr indent="-317500" lvl="2" marL="1371600" rtl="0" algn="l">
              <a:spcBef>
                <a:spcPts val="0"/>
              </a:spcBef>
              <a:spcAft>
                <a:spcPts val="0"/>
              </a:spcAft>
              <a:buSzPts val="1400"/>
              <a:buChar char="■"/>
            </a:pPr>
            <a:r>
              <a:rPr lang="en"/>
              <a:t>Issue: If NXDOMAIN responses don’t have to be signed, the attacker can still spoof NXDOMAIN responses and cause denial-of-service (DoS)</a:t>
            </a:r>
            <a:endParaRPr/>
          </a:p>
          <a:p>
            <a:pPr indent="-317500" lvl="1" marL="914400" rtl="0" algn="l">
              <a:spcBef>
                <a:spcPts val="0"/>
              </a:spcBef>
              <a:spcAft>
                <a:spcPts val="0"/>
              </a:spcAft>
              <a:buSzPts val="1400"/>
              <a:buChar char="○"/>
            </a:pPr>
            <a:r>
              <a:rPr lang="en"/>
              <a:t>Option #2: Keep the private key in the name server itself, so it signs NXDOMAIN responses</a:t>
            </a:r>
            <a:endParaRPr/>
          </a:p>
          <a:p>
            <a:pPr indent="-317500" lvl="2" marL="1371600" rtl="0" algn="l">
              <a:spcBef>
                <a:spcPts val="0"/>
              </a:spcBef>
              <a:spcAft>
                <a:spcPts val="0"/>
              </a:spcAft>
              <a:buSzPts val="1400"/>
              <a:buChar char="■"/>
            </a:pPr>
            <a:r>
              <a:rPr lang="en"/>
              <a:t>Issue: Name servers have access to the private key, which is an issue if they are malicious or hacked</a:t>
            </a:r>
            <a:endParaRPr/>
          </a:p>
          <a:p>
            <a:pPr indent="-317500" lvl="2" marL="1371600" rtl="0" algn="l">
              <a:spcBef>
                <a:spcPts val="0"/>
              </a:spcBef>
              <a:spcAft>
                <a:spcPts val="0"/>
              </a:spcAft>
              <a:buSzPts val="1400"/>
              <a:buChar char="■"/>
            </a:pPr>
            <a:r>
              <a:rPr lang="en"/>
              <a:t>Issue: Signing in real time is slow</a:t>
            </a:r>
            <a:endParaRPr/>
          </a:p>
          <a:p>
            <a:pPr indent="-317500" lvl="1" marL="914400" rtl="0" algn="l">
              <a:spcBef>
                <a:spcPts val="0"/>
              </a:spcBef>
              <a:spcAft>
                <a:spcPts val="0"/>
              </a:spcAft>
              <a:buSzPts val="1400"/>
              <a:buChar char="○"/>
            </a:pPr>
            <a:r>
              <a:rPr lang="en"/>
              <a:t>We need a way that can prove that a domain doesn’t exist ahead of time</a:t>
            </a:r>
            <a:endParaRPr/>
          </a:p>
        </p:txBody>
      </p:sp>
      <p:sp>
        <p:nvSpPr>
          <p:cNvPr id="808" name="Google Shape;808;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2" name="Shape 812"/>
        <p:cNvGrpSpPr/>
        <p:nvPr/>
      </p:nvGrpSpPr>
      <p:grpSpPr>
        <a:xfrm>
          <a:off x="0" y="0"/>
          <a:ext cx="0" cy="0"/>
          <a:chOff x="0" y="0"/>
          <a:chExt cx="0" cy="0"/>
        </a:xfrm>
      </p:grpSpPr>
      <p:sp>
        <p:nvSpPr>
          <p:cNvPr id="813" name="Google Shape;813;p8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NSEC: Authenticated Denial of Existence</a:t>
            </a:r>
            <a:endParaRPr/>
          </a:p>
        </p:txBody>
      </p:sp>
      <p:sp>
        <p:nvSpPr>
          <p:cNvPr id="814" name="Google Shape;814;p80"/>
          <p:cNvSpPr txBox="1"/>
          <p:nvPr>
            <p:ph idx="1" type="body"/>
          </p:nvPr>
        </p:nvSpPr>
        <p:spPr>
          <a:xfrm>
            <a:off x="198500" y="1246825"/>
            <a:ext cx="8520600" cy="289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Prove nonexistence of a record type</a:t>
            </a:r>
            <a:endParaRPr/>
          </a:p>
          <a:p>
            <a:pPr indent="-317500" lvl="1" marL="914400" rtl="0" algn="l">
              <a:spcBef>
                <a:spcPts val="0"/>
              </a:spcBef>
              <a:spcAft>
                <a:spcPts val="0"/>
              </a:spcAft>
              <a:buSzPts val="1400"/>
              <a:buChar char="○"/>
            </a:pPr>
            <a:r>
              <a:rPr lang="en"/>
              <a:t>Sign a record stating that no record of a given type exists</a:t>
            </a:r>
            <a:endParaRPr/>
          </a:p>
          <a:p>
            <a:pPr indent="-317500" lvl="1" marL="914400" rtl="0" algn="l">
              <a:spcBef>
                <a:spcPts val="0"/>
              </a:spcBef>
              <a:spcAft>
                <a:spcPts val="0"/>
              </a:spcAft>
              <a:buSzPts val="1400"/>
              <a:buChar char="○"/>
            </a:pPr>
            <a:r>
              <a:rPr lang="en"/>
              <a:t>Useful for proving that a domain doesn’t support DNSSEC (“No DS records exist”)</a:t>
            </a:r>
            <a:endParaRPr/>
          </a:p>
          <a:p>
            <a:pPr indent="-342900" lvl="0" marL="457200" rtl="0" algn="l">
              <a:spcBef>
                <a:spcPts val="0"/>
              </a:spcBef>
              <a:spcAft>
                <a:spcPts val="0"/>
              </a:spcAft>
              <a:buSzPts val="1800"/>
              <a:buChar char="●"/>
            </a:pPr>
            <a:r>
              <a:rPr lang="en"/>
              <a:t>Prove nonexistence of a domain</a:t>
            </a:r>
            <a:endParaRPr/>
          </a:p>
          <a:p>
            <a:pPr indent="-317500" lvl="1" marL="914400" rtl="0" algn="l">
              <a:spcBef>
                <a:spcPts val="0"/>
              </a:spcBef>
              <a:spcAft>
                <a:spcPts val="0"/>
              </a:spcAft>
              <a:buSzPts val="1400"/>
              <a:buChar char="○"/>
            </a:pPr>
            <a:r>
              <a:rPr lang="en"/>
              <a:t>Provide two adjacent domains alphabetically, so that you know that no domain in the middle exists</a:t>
            </a:r>
            <a:endParaRPr/>
          </a:p>
          <a:p>
            <a:pPr indent="-317500" lvl="1" marL="914400" rtl="0" algn="l">
              <a:spcBef>
                <a:spcPts val="0"/>
              </a:spcBef>
              <a:spcAft>
                <a:spcPts val="0"/>
              </a:spcAft>
              <a:buSzPts val="1400"/>
              <a:buChar char="○"/>
            </a:pPr>
            <a:r>
              <a:rPr lang="en"/>
              <a:t>Example: If I query for </a:t>
            </a:r>
            <a:r>
              <a:rPr b="1" lang="en">
                <a:latin typeface="Courier New"/>
                <a:ea typeface="Courier New"/>
                <a:cs typeface="Courier New"/>
                <a:sym typeface="Courier New"/>
              </a:rPr>
              <a:t>nonexistent.google.com</a:t>
            </a:r>
            <a:r>
              <a:rPr lang="en"/>
              <a:t>, I can receive a signed NSEC response saying “No domains exist between </a:t>
            </a:r>
            <a:r>
              <a:rPr b="1" lang="en">
                <a:latin typeface="Courier New"/>
                <a:ea typeface="Courier New"/>
                <a:cs typeface="Courier New"/>
                <a:sym typeface="Courier New"/>
              </a:rPr>
              <a:t>maps.google.com</a:t>
            </a:r>
            <a:r>
              <a:rPr lang="en"/>
              <a:t> and </a:t>
            </a:r>
            <a:r>
              <a:rPr b="1" lang="en">
                <a:latin typeface="Courier New"/>
                <a:ea typeface="Courier New"/>
                <a:cs typeface="Courier New"/>
                <a:sym typeface="Courier New"/>
              </a:rPr>
              <a:t>one.google.com</a:t>
            </a:r>
            <a:r>
              <a:rPr lang="en"/>
              <a:t>.”</a:t>
            </a:r>
            <a:endParaRPr/>
          </a:p>
          <a:p>
            <a:pPr indent="-317500" lvl="1" marL="914400" rtl="0" algn="l">
              <a:spcBef>
                <a:spcPts val="0"/>
              </a:spcBef>
              <a:spcAft>
                <a:spcPts val="0"/>
              </a:spcAft>
              <a:buSzPts val="1400"/>
              <a:buChar char="○"/>
            </a:pPr>
            <a:r>
              <a:rPr lang="en"/>
              <a:t>We can sign all pairs of adjacent records ahead of time and keep them as NSEC records, along with their RRSIGs</a:t>
            </a:r>
            <a:endParaRPr/>
          </a:p>
        </p:txBody>
      </p:sp>
      <p:sp>
        <p:nvSpPr>
          <p:cNvPr id="815" name="Google Shape;815;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816" name="Google Shape;816;p80"/>
          <p:cNvCxnSpPr/>
          <p:nvPr/>
        </p:nvCxnSpPr>
        <p:spPr>
          <a:xfrm>
            <a:off x="666450" y="4452025"/>
            <a:ext cx="7811100" cy="0"/>
          </a:xfrm>
          <a:prstGeom prst="straightConnector1">
            <a:avLst/>
          </a:prstGeom>
          <a:noFill/>
          <a:ln cap="flat" cmpd="sng" w="9525">
            <a:solidFill>
              <a:schemeClr val="dk2"/>
            </a:solidFill>
            <a:prstDash val="solid"/>
            <a:round/>
            <a:headEnd len="med" w="med" type="none"/>
            <a:tailEnd len="med" w="med" type="none"/>
          </a:ln>
        </p:spPr>
      </p:cxnSp>
      <p:sp>
        <p:nvSpPr>
          <p:cNvPr id="817" name="Google Shape;817;p80"/>
          <p:cNvSpPr txBox="1"/>
          <p:nvPr/>
        </p:nvSpPr>
        <p:spPr>
          <a:xfrm>
            <a:off x="1885650" y="4452025"/>
            <a:ext cx="67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maps</a:t>
            </a:r>
            <a:endParaRPr b="1">
              <a:latin typeface="Courier New"/>
              <a:ea typeface="Courier New"/>
              <a:cs typeface="Courier New"/>
              <a:sym typeface="Courier New"/>
            </a:endParaRPr>
          </a:p>
        </p:txBody>
      </p:sp>
      <p:sp>
        <p:nvSpPr>
          <p:cNvPr id="818" name="Google Shape;818;p80"/>
          <p:cNvSpPr txBox="1"/>
          <p:nvPr/>
        </p:nvSpPr>
        <p:spPr>
          <a:xfrm>
            <a:off x="3948600" y="4452025"/>
            <a:ext cx="586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one</a:t>
            </a:r>
            <a:endParaRPr b="1">
              <a:latin typeface="Courier New"/>
              <a:ea typeface="Courier New"/>
              <a:cs typeface="Courier New"/>
              <a:sym typeface="Courier New"/>
            </a:endParaRPr>
          </a:p>
        </p:txBody>
      </p:sp>
      <p:sp>
        <p:nvSpPr>
          <p:cNvPr id="819" name="Google Shape;819;p80"/>
          <p:cNvSpPr txBox="1"/>
          <p:nvPr/>
        </p:nvSpPr>
        <p:spPr>
          <a:xfrm>
            <a:off x="6304800" y="4452025"/>
            <a:ext cx="788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web</a:t>
            </a:r>
            <a:endParaRPr b="1">
              <a:latin typeface="Courier New"/>
              <a:ea typeface="Courier New"/>
              <a:cs typeface="Courier New"/>
              <a:sym typeface="Courier New"/>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3" name="Shape 823"/>
        <p:cNvGrpSpPr/>
        <p:nvPr/>
      </p:nvGrpSpPr>
      <p:grpSpPr>
        <a:xfrm>
          <a:off x="0" y="0"/>
          <a:ext cx="0" cy="0"/>
          <a:chOff x="0" y="0"/>
          <a:chExt cx="0" cy="0"/>
        </a:xfrm>
      </p:grpSpPr>
      <p:sp>
        <p:nvSpPr>
          <p:cNvPr id="824" name="Google Shape;824;p8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with </a:t>
            </a:r>
            <a:r>
              <a:rPr lang="en"/>
              <a:t>NSEC</a:t>
            </a:r>
            <a:endParaRPr/>
          </a:p>
        </p:txBody>
      </p:sp>
      <p:sp>
        <p:nvSpPr>
          <p:cNvPr id="825" name="Google Shape;825;p81"/>
          <p:cNvSpPr txBox="1"/>
          <p:nvPr>
            <p:ph idx="1" type="body"/>
          </p:nvPr>
        </p:nvSpPr>
        <p:spPr>
          <a:xfrm>
            <a:off x="198500" y="1246825"/>
            <a:ext cx="8520600" cy="2989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Domain enumeration</a:t>
            </a:r>
            <a:r>
              <a:rPr lang="en"/>
              <a:t>: It is easy for an attacker to find every single subdomain of a domain</a:t>
            </a:r>
            <a:endParaRPr/>
          </a:p>
          <a:p>
            <a:pPr indent="-317500" lvl="1" marL="914400" rtl="0" algn="l">
              <a:spcBef>
                <a:spcPts val="0"/>
              </a:spcBef>
              <a:spcAft>
                <a:spcPts val="0"/>
              </a:spcAft>
              <a:buSzPts val="1400"/>
              <a:buChar char="○"/>
            </a:pPr>
            <a:r>
              <a:rPr lang="en"/>
              <a:t>Start by querying </a:t>
            </a:r>
            <a:r>
              <a:rPr b="1" lang="en">
                <a:latin typeface="Courier New"/>
                <a:ea typeface="Courier New"/>
                <a:cs typeface="Courier New"/>
                <a:sym typeface="Courier New"/>
              </a:rPr>
              <a:t>a.google.com</a:t>
            </a:r>
            <a:endParaRPr/>
          </a:p>
          <a:p>
            <a:pPr indent="-317500" lvl="1" marL="914400" rtl="0" algn="l">
              <a:spcBef>
                <a:spcPts val="0"/>
              </a:spcBef>
              <a:spcAft>
                <a:spcPts val="0"/>
              </a:spcAft>
              <a:buSzPts val="1400"/>
              <a:buChar char="○"/>
            </a:pPr>
            <a:r>
              <a:rPr lang="en"/>
              <a:t>Receive an NSEC record stating that “No domains exist between </a:t>
            </a:r>
            <a:r>
              <a:rPr b="1" lang="en">
                <a:latin typeface="Courier New"/>
                <a:ea typeface="Courier New"/>
                <a:cs typeface="Courier New"/>
                <a:sym typeface="Courier New"/>
              </a:rPr>
              <a:t>web.google.com</a:t>
            </a:r>
            <a:r>
              <a:rPr lang="en"/>
              <a:t> and </a:t>
            </a:r>
            <a:r>
              <a:rPr b="1" lang="en">
                <a:latin typeface="Courier New"/>
                <a:ea typeface="Courier New"/>
                <a:cs typeface="Courier New"/>
                <a:sym typeface="Courier New"/>
              </a:rPr>
              <a:t>apps.google.com</a:t>
            </a:r>
            <a:endParaRPr/>
          </a:p>
          <a:p>
            <a:pPr indent="-317500" lvl="2" marL="1371600" rtl="0" algn="l">
              <a:spcBef>
                <a:spcPts val="0"/>
              </a:spcBef>
              <a:spcAft>
                <a:spcPts val="0"/>
              </a:spcAft>
              <a:buSzPts val="1400"/>
              <a:buChar char="■"/>
            </a:pPr>
            <a:r>
              <a:rPr lang="en"/>
              <a:t>Now we have learned two domain names!</a:t>
            </a:r>
            <a:endParaRPr/>
          </a:p>
          <a:p>
            <a:pPr indent="-317500" lvl="1" marL="914400" rtl="0" algn="l">
              <a:spcBef>
                <a:spcPts val="0"/>
              </a:spcBef>
              <a:spcAft>
                <a:spcPts val="0"/>
              </a:spcAft>
              <a:buSzPts val="1400"/>
              <a:buChar char="○"/>
            </a:pPr>
            <a:r>
              <a:rPr lang="en"/>
              <a:t>Repeat: query </a:t>
            </a:r>
            <a:r>
              <a:rPr b="1" lang="en">
                <a:latin typeface="Courier New"/>
                <a:ea typeface="Courier New"/>
                <a:cs typeface="Courier New"/>
                <a:sym typeface="Courier New"/>
              </a:rPr>
              <a:t>appsa.google.com</a:t>
            </a:r>
            <a:r>
              <a:rPr lang="en"/>
              <a:t> (alphabetically immediately after </a:t>
            </a:r>
            <a:r>
              <a:rPr b="1" lang="en">
                <a:latin typeface="Courier New"/>
                <a:ea typeface="Courier New"/>
                <a:cs typeface="Courier New"/>
                <a:sym typeface="Courier New"/>
              </a:rPr>
              <a:t>apps.google.com</a:t>
            </a:r>
            <a:r>
              <a:rPr lang="en"/>
              <a:t>)</a:t>
            </a:r>
            <a:endParaRPr/>
          </a:p>
          <a:p>
            <a:pPr indent="-317500" lvl="1" marL="914400" rtl="0" algn="l">
              <a:spcBef>
                <a:spcPts val="0"/>
              </a:spcBef>
              <a:spcAft>
                <a:spcPts val="0"/>
              </a:spcAft>
              <a:buSzPts val="1400"/>
              <a:buChar char="○"/>
            </a:pPr>
            <a:r>
              <a:rPr lang="en"/>
              <a:t>Receive an NSEC record stating that “No domains exist between </a:t>
            </a:r>
            <a:r>
              <a:rPr b="1" lang="en">
                <a:latin typeface="Courier New"/>
                <a:ea typeface="Courier New"/>
                <a:cs typeface="Courier New"/>
                <a:sym typeface="Courier New"/>
              </a:rPr>
              <a:t>apps.google.com</a:t>
            </a:r>
            <a:r>
              <a:rPr lang="en"/>
              <a:t> and </a:t>
            </a:r>
            <a:r>
              <a:rPr b="1" lang="en">
                <a:latin typeface="Courier New"/>
                <a:ea typeface="Courier New"/>
                <a:cs typeface="Courier New"/>
                <a:sym typeface="Courier New"/>
              </a:rPr>
              <a:t>map</a:t>
            </a:r>
            <a:r>
              <a:rPr b="1" lang="en">
                <a:latin typeface="Courier New"/>
                <a:ea typeface="Courier New"/>
                <a:cs typeface="Courier New"/>
                <a:sym typeface="Courier New"/>
              </a:rPr>
              <a:t>.google.com</a:t>
            </a:r>
            <a:r>
              <a:rPr lang="en"/>
              <a:t>”</a:t>
            </a:r>
            <a:endParaRPr/>
          </a:p>
          <a:p>
            <a:pPr indent="-317500" lvl="1" marL="914400" rtl="0" algn="l">
              <a:spcBef>
                <a:spcPts val="0"/>
              </a:spcBef>
              <a:spcAft>
                <a:spcPts val="0"/>
              </a:spcAft>
              <a:buSzPts val="1400"/>
              <a:buChar char="○"/>
            </a:pPr>
            <a:r>
              <a:rPr lang="en"/>
              <a:t>Repeat until you loop back around to the beginning</a:t>
            </a:r>
            <a:endParaRPr/>
          </a:p>
        </p:txBody>
      </p:sp>
      <p:sp>
        <p:nvSpPr>
          <p:cNvPr id="826" name="Google Shape;826;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827" name="Google Shape;827;p81"/>
          <p:cNvCxnSpPr/>
          <p:nvPr/>
        </p:nvCxnSpPr>
        <p:spPr>
          <a:xfrm>
            <a:off x="666450" y="4452025"/>
            <a:ext cx="7811100" cy="0"/>
          </a:xfrm>
          <a:prstGeom prst="straightConnector1">
            <a:avLst/>
          </a:prstGeom>
          <a:noFill/>
          <a:ln cap="flat" cmpd="sng" w="9525">
            <a:solidFill>
              <a:schemeClr val="dk2"/>
            </a:solidFill>
            <a:prstDash val="solid"/>
            <a:round/>
            <a:headEnd len="med" w="med" type="none"/>
            <a:tailEnd len="med" w="med" type="none"/>
          </a:ln>
        </p:spPr>
      </p:cxnSp>
      <p:sp>
        <p:nvSpPr>
          <p:cNvPr id="828" name="Google Shape;828;p81"/>
          <p:cNvSpPr txBox="1"/>
          <p:nvPr/>
        </p:nvSpPr>
        <p:spPr>
          <a:xfrm>
            <a:off x="1885650" y="4452025"/>
            <a:ext cx="67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apps</a:t>
            </a:r>
            <a:endParaRPr b="1">
              <a:latin typeface="Courier New"/>
              <a:ea typeface="Courier New"/>
              <a:cs typeface="Courier New"/>
              <a:sym typeface="Courier New"/>
            </a:endParaRPr>
          </a:p>
        </p:txBody>
      </p:sp>
      <p:sp>
        <p:nvSpPr>
          <p:cNvPr id="829" name="Google Shape;829;p81"/>
          <p:cNvSpPr txBox="1"/>
          <p:nvPr/>
        </p:nvSpPr>
        <p:spPr>
          <a:xfrm>
            <a:off x="3415200" y="4452025"/>
            <a:ext cx="586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map</a:t>
            </a:r>
            <a:endParaRPr b="1">
              <a:latin typeface="Courier New"/>
              <a:ea typeface="Courier New"/>
              <a:cs typeface="Courier New"/>
              <a:sym typeface="Courier New"/>
            </a:endParaRPr>
          </a:p>
        </p:txBody>
      </p:sp>
      <p:sp>
        <p:nvSpPr>
          <p:cNvPr id="830" name="Google Shape;830;p81"/>
          <p:cNvSpPr txBox="1"/>
          <p:nvPr/>
        </p:nvSpPr>
        <p:spPr>
          <a:xfrm>
            <a:off x="6304800" y="4452025"/>
            <a:ext cx="788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web</a:t>
            </a:r>
            <a:endParaRPr b="1">
              <a:latin typeface="Courier New"/>
              <a:ea typeface="Courier New"/>
              <a:cs typeface="Courier New"/>
              <a:sym typeface="Courier New"/>
            </a:endParaRPr>
          </a:p>
        </p:txBody>
      </p:sp>
      <p:sp>
        <p:nvSpPr>
          <p:cNvPr id="831" name="Google Shape;831;p81"/>
          <p:cNvSpPr txBox="1"/>
          <p:nvPr/>
        </p:nvSpPr>
        <p:spPr>
          <a:xfrm>
            <a:off x="4863000" y="4452025"/>
            <a:ext cx="586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one</a:t>
            </a:r>
            <a:endParaRPr b="1">
              <a:latin typeface="Courier New"/>
              <a:ea typeface="Courier New"/>
              <a:cs typeface="Courier New"/>
              <a:sym typeface="Courier New"/>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5" name="Shape 835"/>
        <p:cNvGrpSpPr/>
        <p:nvPr/>
      </p:nvGrpSpPr>
      <p:grpSpPr>
        <a:xfrm>
          <a:off x="0" y="0"/>
          <a:ext cx="0" cy="0"/>
          <a:chOff x="0" y="0"/>
          <a:chExt cx="0" cy="0"/>
        </a:xfrm>
      </p:grpSpPr>
      <p:sp>
        <p:nvSpPr>
          <p:cNvPr id="836" name="Google Shape;836;p8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NSEC3: Hashed Authenticated Denial of Existence</a:t>
            </a:r>
            <a:endParaRPr/>
          </a:p>
        </p:txBody>
      </p:sp>
      <p:sp>
        <p:nvSpPr>
          <p:cNvPr id="837" name="Google Shape;837;p82"/>
          <p:cNvSpPr txBox="1"/>
          <p:nvPr>
            <p:ph idx="1" type="body"/>
          </p:nvPr>
        </p:nvSpPr>
        <p:spPr>
          <a:xfrm>
            <a:off x="198500" y="1246825"/>
            <a:ext cx="8520600" cy="2494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Instead of storing pairs of adjacent domain names, store pairs of adjacent hashes</a:t>
            </a:r>
            <a:endParaRPr/>
          </a:p>
          <a:p>
            <a:pPr indent="-317500" lvl="1" marL="914400" rtl="0" algn="l">
              <a:spcBef>
                <a:spcPts val="0"/>
              </a:spcBef>
              <a:spcAft>
                <a:spcPts val="0"/>
              </a:spcAft>
              <a:buSzPts val="1400"/>
              <a:buChar char="○"/>
            </a:pPr>
            <a:r>
              <a:rPr lang="en"/>
              <a:t>Example: If I query for </a:t>
            </a:r>
            <a:r>
              <a:rPr b="1" lang="en">
                <a:latin typeface="Courier New"/>
                <a:ea typeface="Courier New"/>
                <a:cs typeface="Courier New"/>
                <a:sym typeface="Courier New"/>
              </a:rPr>
              <a:t>nonexistent</a:t>
            </a:r>
            <a:r>
              <a:rPr b="1" lang="en">
                <a:latin typeface="Courier New"/>
                <a:ea typeface="Courier New"/>
                <a:cs typeface="Courier New"/>
                <a:sym typeface="Courier New"/>
              </a:rPr>
              <a:t>.google.com</a:t>
            </a:r>
            <a:r>
              <a:rPr lang="en"/>
              <a:t>, which hashes to</a:t>
            </a:r>
            <a:r>
              <a:rPr lang="en"/>
              <a:t> </a:t>
            </a:r>
            <a:r>
              <a:rPr b="1" lang="en">
                <a:latin typeface="Courier New"/>
                <a:ea typeface="Courier New"/>
                <a:cs typeface="Courier New"/>
                <a:sym typeface="Courier New"/>
              </a:rPr>
              <a:t>d48678</a:t>
            </a:r>
            <a:r>
              <a:rPr lang="en"/>
              <a:t>…</a:t>
            </a:r>
            <a:r>
              <a:rPr lang="en"/>
              <a:t>, I receive a signed NSEC3 saying “There exist no domains which hash to values between </a:t>
            </a:r>
            <a:r>
              <a:rPr b="1" lang="en">
                <a:latin typeface="Courier New"/>
                <a:ea typeface="Courier New"/>
                <a:cs typeface="Courier New"/>
                <a:sym typeface="Courier New"/>
              </a:rPr>
              <a:t>c612f3</a:t>
            </a:r>
            <a:r>
              <a:rPr lang="en"/>
              <a:t>…</a:t>
            </a:r>
            <a:r>
              <a:rPr lang="en"/>
              <a:t> and </a:t>
            </a:r>
            <a:r>
              <a:rPr b="1" lang="en">
                <a:latin typeface="Courier New"/>
                <a:ea typeface="Courier New"/>
                <a:cs typeface="Courier New"/>
                <a:sym typeface="Courier New"/>
              </a:rPr>
              <a:t>d810de</a:t>
            </a:r>
            <a:r>
              <a:rPr lang="en"/>
              <a:t>…</a:t>
            </a:r>
            <a:endParaRPr/>
          </a:p>
        </p:txBody>
      </p:sp>
      <p:sp>
        <p:nvSpPr>
          <p:cNvPr id="838" name="Google Shape;838;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839" name="Google Shape;839;p82"/>
          <p:cNvCxnSpPr/>
          <p:nvPr/>
        </p:nvCxnSpPr>
        <p:spPr>
          <a:xfrm>
            <a:off x="666450" y="4452025"/>
            <a:ext cx="7811100" cy="0"/>
          </a:xfrm>
          <a:prstGeom prst="straightConnector1">
            <a:avLst/>
          </a:prstGeom>
          <a:noFill/>
          <a:ln cap="flat" cmpd="sng" w="9525">
            <a:solidFill>
              <a:schemeClr val="dk2"/>
            </a:solidFill>
            <a:prstDash val="solid"/>
            <a:round/>
            <a:headEnd len="med" w="med" type="none"/>
            <a:tailEnd len="med" w="med" type="none"/>
          </a:ln>
        </p:spPr>
      </p:cxnSp>
      <p:sp>
        <p:nvSpPr>
          <p:cNvPr id="840" name="Google Shape;840;p82"/>
          <p:cNvSpPr txBox="1"/>
          <p:nvPr/>
        </p:nvSpPr>
        <p:spPr>
          <a:xfrm>
            <a:off x="1809450" y="4452025"/>
            <a:ext cx="891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c612f3</a:t>
            </a:r>
            <a:endParaRPr b="1">
              <a:latin typeface="Courier New"/>
              <a:ea typeface="Courier New"/>
              <a:cs typeface="Courier New"/>
              <a:sym typeface="Courier New"/>
            </a:endParaRPr>
          </a:p>
        </p:txBody>
      </p:sp>
      <p:sp>
        <p:nvSpPr>
          <p:cNvPr id="841" name="Google Shape;841;p82"/>
          <p:cNvSpPr txBox="1"/>
          <p:nvPr/>
        </p:nvSpPr>
        <p:spPr>
          <a:xfrm>
            <a:off x="6228600" y="4452025"/>
            <a:ext cx="969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d810de</a:t>
            </a:r>
            <a:endParaRPr b="1">
              <a:latin typeface="Courier New"/>
              <a:ea typeface="Courier New"/>
              <a:cs typeface="Courier New"/>
              <a:sym typeface="Courier New"/>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5" name="Shape 845"/>
        <p:cNvGrpSpPr/>
        <p:nvPr/>
      </p:nvGrpSpPr>
      <p:grpSpPr>
        <a:xfrm>
          <a:off x="0" y="0"/>
          <a:ext cx="0" cy="0"/>
          <a:chOff x="0" y="0"/>
          <a:chExt cx="0" cy="0"/>
        </a:xfrm>
      </p:grpSpPr>
      <p:sp>
        <p:nvSpPr>
          <p:cNvPr id="846" name="Google Shape;846;p8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with NSEC3</a:t>
            </a:r>
            <a:endParaRPr/>
          </a:p>
        </p:txBody>
      </p:sp>
      <p:sp>
        <p:nvSpPr>
          <p:cNvPr id="847" name="Google Shape;847;p8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Domain enumeration is still possible since most people choose short domain names</a:t>
            </a:r>
            <a:endParaRPr/>
          </a:p>
          <a:p>
            <a:pPr indent="-317500" lvl="1" marL="914400" rtl="0" algn="l">
              <a:spcBef>
                <a:spcPts val="0"/>
              </a:spcBef>
              <a:spcAft>
                <a:spcPts val="0"/>
              </a:spcAft>
              <a:buSzPts val="1400"/>
              <a:buChar char="○"/>
            </a:pPr>
            <a:r>
              <a:rPr lang="en"/>
              <a:t>Possible to brute-force through all reasonable domain names!</a:t>
            </a:r>
            <a:endParaRPr/>
          </a:p>
          <a:p>
            <a:pPr indent="-317500" lvl="1" marL="914400" rtl="0" algn="l">
              <a:spcBef>
                <a:spcPts val="0"/>
              </a:spcBef>
              <a:spcAft>
                <a:spcPts val="0"/>
              </a:spcAft>
              <a:buSzPts val="1400"/>
              <a:buChar char="○"/>
            </a:pPr>
            <a:r>
              <a:rPr lang="en"/>
              <a:t>Only prevents attackers from learning long, random domain names, which would make brute-force difficult</a:t>
            </a:r>
            <a:endParaRPr/>
          </a:p>
          <a:p>
            <a:pPr indent="-342900" lvl="0" marL="457200" rtl="0" algn="l">
              <a:spcBef>
                <a:spcPts val="0"/>
              </a:spcBef>
              <a:spcAft>
                <a:spcPts val="0"/>
              </a:spcAft>
              <a:buSzPts val="1800"/>
              <a:buChar char="●"/>
            </a:pPr>
            <a:r>
              <a:rPr lang="en"/>
              <a:t>The only real way to prevent enumeration is online signature generation with the private key</a:t>
            </a:r>
            <a:endParaRPr/>
          </a:p>
          <a:p>
            <a:pPr indent="-317500" lvl="1" marL="914400" rtl="0" algn="l">
              <a:spcBef>
                <a:spcPts val="0"/>
              </a:spcBef>
              <a:spcAft>
                <a:spcPts val="0"/>
              </a:spcAft>
              <a:buSzPts val="1400"/>
              <a:buChar char="○"/>
            </a:pPr>
            <a:r>
              <a:rPr lang="en"/>
              <a:t>Coming down the pipeline: NSEC5</a:t>
            </a:r>
            <a:endParaRPr/>
          </a:p>
        </p:txBody>
      </p:sp>
      <p:sp>
        <p:nvSpPr>
          <p:cNvPr id="848" name="Google Shape;848;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2" name="Shape 852"/>
        <p:cNvGrpSpPr/>
        <p:nvPr/>
      </p:nvGrpSpPr>
      <p:grpSpPr>
        <a:xfrm>
          <a:off x="0" y="0"/>
          <a:ext cx="0" cy="0"/>
          <a:chOff x="0" y="0"/>
          <a:chExt cx="0" cy="0"/>
        </a:xfrm>
      </p:grpSpPr>
      <p:sp>
        <p:nvSpPr>
          <p:cNvPr id="853" name="Google Shape;853;p8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NSEC3 (“White Lies”): Minimal proof on-the-fly</a:t>
            </a:r>
            <a:endParaRPr/>
          </a:p>
        </p:txBody>
      </p:sp>
      <p:sp>
        <p:nvSpPr>
          <p:cNvPr id="854" name="Google Shape;854;p84"/>
          <p:cNvSpPr txBox="1"/>
          <p:nvPr>
            <p:ph idx="1" type="body"/>
          </p:nvPr>
        </p:nvSpPr>
        <p:spPr>
          <a:xfrm>
            <a:off x="198500" y="1246825"/>
            <a:ext cx="8520600" cy="2494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Given a nonexistent domain </a:t>
            </a:r>
            <a:r>
              <a:rPr b="1" lang="en">
                <a:latin typeface="Courier New"/>
                <a:ea typeface="Courier New"/>
                <a:cs typeface="Courier New"/>
                <a:sym typeface="Courier New"/>
              </a:rPr>
              <a:t>name</a:t>
            </a:r>
            <a:r>
              <a:rPr lang="en"/>
              <a:t>, generate a signature on-the-fly that states that no record exists between </a:t>
            </a:r>
            <a:r>
              <a:rPr b="1" lang="en">
                <a:latin typeface="Courier New"/>
                <a:ea typeface="Courier New"/>
                <a:cs typeface="Courier New"/>
                <a:sym typeface="Courier New"/>
              </a:rPr>
              <a:t>H(name) - 1 </a:t>
            </a:r>
            <a:r>
              <a:rPr lang="en"/>
              <a:t>and </a:t>
            </a:r>
            <a:r>
              <a:rPr b="1" lang="en">
                <a:latin typeface="Courier New"/>
                <a:ea typeface="Courier New"/>
                <a:cs typeface="Courier New"/>
                <a:sym typeface="Courier New"/>
              </a:rPr>
              <a:t>H(name) + 1</a:t>
            </a:r>
            <a:endParaRPr/>
          </a:p>
          <a:p>
            <a:pPr indent="-317500" lvl="1" marL="914400" rtl="0" algn="l">
              <a:spcBef>
                <a:spcPts val="0"/>
              </a:spcBef>
              <a:spcAft>
                <a:spcPts val="0"/>
              </a:spcAft>
              <a:buSzPts val="1400"/>
              <a:buChar char="○"/>
            </a:pPr>
            <a:r>
              <a:rPr lang="en"/>
              <a:t>Example: If I query for </a:t>
            </a:r>
            <a:r>
              <a:rPr b="1" lang="en">
                <a:latin typeface="Courier New"/>
                <a:ea typeface="Courier New"/>
                <a:cs typeface="Courier New"/>
                <a:sym typeface="Courier New"/>
              </a:rPr>
              <a:t>evanbot.google.com</a:t>
            </a:r>
            <a:r>
              <a:rPr lang="en"/>
              <a:t>, which hashes to </a:t>
            </a:r>
            <a:r>
              <a:rPr b="1" lang="en">
                <a:latin typeface="Courier New"/>
                <a:ea typeface="Courier New"/>
                <a:cs typeface="Courier New"/>
                <a:sym typeface="Courier New"/>
              </a:rPr>
              <a:t>…mqdgm6</a:t>
            </a:r>
            <a:r>
              <a:rPr lang="en"/>
              <a:t>, I receive a signed NSEC3 saying “There exist no domains which hash to values between </a:t>
            </a:r>
            <a:r>
              <a:rPr b="1" lang="en">
                <a:latin typeface="Courier New"/>
                <a:ea typeface="Courier New"/>
                <a:cs typeface="Courier New"/>
                <a:sym typeface="Courier New"/>
              </a:rPr>
              <a:t>…mqdgm5</a:t>
            </a:r>
            <a:r>
              <a:rPr lang="en"/>
              <a:t> and </a:t>
            </a:r>
            <a:r>
              <a:rPr b="1" lang="en">
                <a:latin typeface="Courier New"/>
                <a:ea typeface="Courier New"/>
                <a:cs typeface="Courier New"/>
                <a:sym typeface="Courier New"/>
              </a:rPr>
              <a:t>…mqdgm7</a:t>
            </a:r>
            <a:endParaRPr b="1">
              <a:latin typeface="Courier New"/>
              <a:ea typeface="Courier New"/>
              <a:cs typeface="Courier New"/>
              <a:sym typeface="Courier New"/>
            </a:endParaRPr>
          </a:p>
          <a:p>
            <a:pPr indent="-342900" lvl="0" marL="457200" rtl="0" algn="l">
              <a:spcBef>
                <a:spcPts val="0"/>
              </a:spcBef>
              <a:spcAft>
                <a:spcPts val="0"/>
              </a:spcAft>
              <a:buSzPts val="1800"/>
              <a:buFont typeface="Courier New"/>
              <a:buChar char="●"/>
            </a:pPr>
            <a:r>
              <a:rPr lang="en"/>
              <a:t>Solves our domain enumeration problem!</a:t>
            </a:r>
            <a:endParaRPr b="1">
              <a:latin typeface="Courier New"/>
              <a:ea typeface="Courier New"/>
              <a:cs typeface="Courier New"/>
              <a:sym typeface="Courier New"/>
            </a:endParaRPr>
          </a:p>
        </p:txBody>
      </p:sp>
      <p:sp>
        <p:nvSpPr>
          <p:cNvPr id="855" name="Google Shape;855;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856" name="Google Shape;856;p84"/>
          <p:cNvCxnSpPr/>
          <p:nvPr/>
        </p:nvCxnSpPr>
        <p:spPr>
          <a:xfrm>
            <a:off x="666450" y="4452025"/>
            <a:ext cx="7811100" cy="0"/>
          </a:xfrm>
          <a:prstGeom prst="straightConnector1">
            <a:avLst/>
          </a:prstGeom>
          <a:noFill/>
          <a:ln cap="flat" cmpd="sng" w="9525">
            <a:solidFill>
              <a:schemeClr val="dk2"/>
            </a:solidFill>
            <a:prstDash val="solid"/>
            <a:round/>
            <a:headEnd len="med" w="med" type="none"/>
            <a:tailEnd len="med" w="med" type="none"/>
          </a:ln>
        </p:spPr>
      </p:cxnSp>
      <p:sp>
        <p:nvSpPr>
          <p:cNvPr id="857" name="Google Shape;857;p84"/>
          <p:cNvSpPr txBox="1"/>
          <p:nvPr/>
        </p:nvSpPr>
        <p:spPr>
          <a:xfrm>
            <a:off x="1809450" y="4452025"/>
            <a:ext cx="891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mqdgm5</a:t>
            </a:r>
            <a:endParaRPr b="1">
              <a:latin typeface="Courier New"/>
              <a:ea typeface="Courier New"/>
              <a:cs typeface="Courier New"/>
              <a:sym typeface="Courier New"/>
            </a:endParaRPr>
          </a:p>
        </p:txBody>
      </p:sp>
      <p:sp>
        <p:nvSpPr>
          <p:cNvPr id="858" name="Google Shape;858;p84"/>
          <p:cNvSpPr txBox="1"/>
          <p:nvPr/>
        </p:nvSpPr>
        <p:spPr>
          <a:xfrm>
            <a:off x="6228600" y="4452025"/>
            <a:ext cx="969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mqdgm7</a:t>
            </a:r>
            <a:endParaRPr b="1">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2" name="Shape 862"/>
        <p:cNvGrpSpPr/>
        <p:nvPr/>
      </p:nvGrpSpPr>
      <p:grpSpPr>
        <a:xfrm>
          <a:off x="0" y="0"/>
          <a:ext cx="0" cy="0"/>
          <a:chOff x="0" y="0"/>
          <a:chExt cx="0" cy="0"/>
        </a:xfrm>
      </p:grpSpPr>
      <p:sp>
        <p:nvSpPr>
          <p:cNvPr id="863" name="Google Shape;863;p8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with </a:t>
            </a:r>
            <a:r>
              <a:rPr lang="en"/>
              <a:t>NSEC3 (“White Lies”)</a:t>
            </a:r>
            <a:endParaRPr/>
          </a:p>
        </p:txBody>
      </p:sp>
      <p:sp>
        <p:nvSpPr>
          <p:cNvPr id="864" name="Google Shape;864;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65" name="Google Shape;865;p8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NSEC3 (“white lies”) requires online signature generation</a:t>
            </a:r>
            <a:endParaRPr/>
          </a:p>
          <a:p>
            <a:pPr indent="-317500" lvl="1" marL="914400" rtl="0" algn="l">
              <a:spcBef>
                <a:spcPts val="0"/>
              </a:spcBef>
              <a:spcAft>
                <a:spcPts val="0"/>
              </a:spcAft>
              <a:buSzPts val="1400"/>
              <a:buChar char="○"/>
            </a:pPr>
            <a:r>
              <a:rPr lang="en"/>
              <a:t>Cannot precompute every possible name/hash offline and don’t have the storage capacity to do so for every single name server!</a:t>
            </a:r>
            <a:endParaRPr/>
          </a:p>
          <a:p>
            <a:pPr indent="-317500" lvl="1" marL="914400" rtl="0" algn="l">
              <a:spcBef>
                <a:spcPts val="0"/>
              </a:spcBef>
              <a:spcAft>
                <a:spcPts val="0"/>
              </a:spcAft>
              <a:buSzPts val="1400"/>
              <a:buChar char="○"/>
            </a:pPr>
            <a:r>
              <a:rPr lang="en"/>
              <a:t>This is a lot of overhead, so it isn’t really broadly used!</a:t>
            </a:r>
            <a:endParaRPr/>
          </a:p>
          <a:p>
            <a:pPr indent="-342900" lvl="0" marL="457200" rtl="0" algn="l">
              <a:spcBef>
                <a:spcPts val="0"/>
              </a:spcBef>
              <a:spcAft>
                <a:spcPts val="0"/>
              </a:spcAft>
              <a:buSzPts val="1800"/>
              <a:buChar char="●"/>
            </a:pPr>
            <a:r>
              <a:rPr lang="en"/>
              <a:t>Doesn’t abide by our design requirement (we don’t want to keep the private key in the name server itself!)</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9" name="Shape 869"/>
        <p:cNvGrpSpPr/>
        <p:nvPr/>
      </p:nvGrpSpPr>
      <p:grpSpPr>
        <a:xfrm>
          <a:off x="0" y="0"/>
          <a:ext cx="0" cy="0"/>
          <a:chOff x="0" y="0"/>
          <a:chExt cx="0" cy="0"/>
        </a:xfrm>
      </p:grpSpPr>
      <p:sp>
        <p:nvSpPr>
          <p:cNvPr id="870" name="Google Shape;870;p8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DNSSEC in Practice</a:t>
            </a:r>
            <a:endParaRPr/>
          </a:p>
        </p:txBody>
      </p:sp>
      <p:sp>
        <p:nvSpPr>
          <p:cNvPr id="871" name="Google Shape;871;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5" name="Shape 875"/>
        <p:cNvGrpSpPr/>
        <p:nvPr/>
      </p:nvGrpSpPr>
      <p:grpSpPr>
        <a:xfrm>
          <a:off x="0" y="0"/>
          <a:ext cx="0" cy="0"/>
          <a:chOff x="0" y="0"/>
          <a:chExt cx="0" cy="0"/>
        </a:xfrm>
      </p:grpSpPr>
      <p:sp>
        <p:nvSpPr>
          <p:cNvPr id="876" name="Google Shape;876;p8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Offline Signature Generation</a:t>
            </a:r>
            <a:endParaRPr/>
          </a:p>
        </p:txBody>
      </p:sp>
      <p:sp>
        <p:nvSpPr>
          <p:cNvPr id="877" name="Google Shape;877;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78" name="Google Shape;878;p8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Offline signatures: The application that computes signatures is separate from the application that serves the signatures</a:t>
            </a:r>
            <a:endParaRPr/>
          </a:p>
          <a:p>
            <a:pPr indent="-342900" lvl="0" marL="457200" rtl="0" algn="l">
              <a:spcBef>
                <a:spcPts val="0"/>
              </a:spcBef>
              <a:spcAft>
                <a:spcPts val="0"/>
              </a:spcAft>
              <a:buSzPts val="1800"/>
              <a:buChar char="●"/>
            </a:pPr>
            <a:r>
              <a:rPr lang="en"/>
              <a:t>Benefit: Efficiency</a:t>
            </a:r>
            <a:endParaRPr/>
          </a:p>
          <a:p>
            <a:pPr indent="-317500" lvl="1" marL="914400" rtl="0" algn="l">
              <a:spcBef>
                <a:spcPts val="0"/>
              </a:spcBef>
              <a:spcAft>
                <a:spcPts val="0"/>
              </a:spcAft>
              <a:buSzPts val="1400"/>
              <a:buChar char="○"/>
            </a:pPr>
            <a:r>
              <a:rPr lang="en"/>
              <a:t>Records are signed ahead of time, and the signature is stored and served on request</a:t>
            </a:r>
            <a:endParaRPr/>
          </a:p>
          <a:p>
            <a:pPr indent="-317500" lvl="1" marL="914400" rtl="0" algn="l">
              <a:spcBef>
                <a:spcPts val="0"/>
              </a:spcBef>
              <a:spcAft>
                <a:spcPts val="0"/>
              </a:spcAft>
              <a:buSzPts val="1400"/>
              <a:buChar char="○"/>
            </a:pPr>
            <a:r>
              <a:rPr lang="en"/>
              <a:t>Generating a signature each time a user requests it is slow (and can lead to DoS attacks)</a:t>
            </a:r>
            <a:endParaRPr/>
          </a:p>
          <a:p>
            <a:pPr indent="-342900" lvl="0" marL="457200" rtl="0" algn="l">
              <a:spcBef>
                <a:spcPts val="0"/>
              </a:spcBef>
              <a:spcAft>
                <a:spcPts val="0"/>
              </a:spcAft>
              <a:buSzPts val="1800"/>
              <a:buChar char="●"/>
            </a:pPr>
            <a:r>
              <a:rPr lang="en"/>
              <a:t>Benefit: Security</a:t>
            </a:r>
            <a:endParaRPr/>
          </a:p>
          <a:p>
            <a:pPr indent="-317500" lvl="1" marL="914400" rtl="0" algn="l">
              <a:spcBef>
                <a:spcPts val="0"/>
              </a:spcBef>
              <a:spcAft>
                <a:spcPts val="0"/>
              </a:spcAft>
              <a:buSzPts val="1400"/>
              <a:buChar char="○"/>
            </a:pPr>
            <a:r>
              <a:rPr lang="en"/>
              <a:t>An attacker must compromise the signature generation system (e.g. steal the private signing key) to perform an attack</a:t>
            </a:r>
            <a:endParaRPr/>
          </a:p>
          <a:p>
            <a:pPr indent="-317500" lvl="1" marL="914400" rtl="0" algn="l">
              <a:spcBef>
                <a:spcPts val="0"/>
              </a:spcBef>
              <a:spcAft>
                <a:spcPts val="0"/>
              </a:spcAft>
              <a:buSzPts val="1400"/>
              <a:buChar char="○"/>
            </a:pPr>
            <a:r>
              <a:rPr lang="en"/>
              <a:t>If the signature generation system is separate from the name server, compromising the name server is not enough!</a:t>
            </a:r>
            <a:endParaRPr/>
          </a:p>
          <a:p>
            <a:pPr indent="-317500" lvl="1" marL="914400" rtl="0" algn="l">
              <a:spcBef>
                <a:spcPts val="0"/>
              </a:spcBef>
              <a:spcAft>
                <a:spcPts val="0"/>
              </a:spcAft>
              <a:buSzPts val="1400"/>
              <a:buChar char="○"/>
            </a:pPr>
            <a:r>
              <a:rPr lang="en"/>
              <a:t>Redundancy: One secure signature generation system, and many </a:t>
            </a:r>
            <a:r>
              <a:rPr i="1" lang="en"/>
              <a:t>mirrored</a:t>
            </a:r>
            <a:r>
              <a:rPr lang="en"/>
              <a:t> name servers providing the same records and signatures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2" name="Shape 882"/>
        <p:cNvGrpSpPr/>
        <p:nvPr/>
      </p:nvGrpSpPr>
      <p:grpSpPr>
        <a:xfrm>
          <a:off x="0" y="0"/>
          <a:ext cx="0" cy="0"/>
          <a:chOff x="0" y="0"/>
          <a:chExt cx="0" cy="0"/>
        </a:xfrm>
      </p:grpSpPr>
      <p:sp>
        <p:nvSpPr>
          <p:cNvPr id="883" name="Google Shape;883;p8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Efficiency: Parallelization</a:t>
            </a:r>
            <a:endParaRPr/>
          </a:p>
        </p:txBody>
      </p:sp>
      <p:sp>
        <p:nvSpPr>
          <p:cNvPr id="884" name="Google Shape;884;p8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Requests can be made in parallel to improve performance</a:t>
            </a:r>
            <a:endParaRPr/>
          </a:p>
          <a:p>
            <a:pPr indent="-317500" lvl="1" marL="914400" rtl="0" algn="l">
              <a:spcBef>
                <a:spcPts val="0"/>
              </a:spcBef>
              <a:spcAft>
                <a:spcPts val="0"/>
              </a:spcAft>
              <a:buSzPts val="1400"/>
              <a:buChar char="○"/>
            </a:pPr>
            <a:r>
              <a:rPr lang="en"/>
              <a:t>Example: Request DNSKEY records from every name server in parallel</a:t>
            </a:r>
            <a:endParaRPr/>
          </a:p>
          <a:p>
            <a:pPr indent="-342900" lvl="0" marL="457200" rtl="0" algn="l">
              <a:spcBef>
                <a:spcPts val="0"/>
              </a:spcBef>
              <a:spcAft>
                <a:spcPts val="0"/>
              </a:spcAft>
              <a:buSzPts val="1800"/>
              <a:buChar char="●"/>
            </a:pPr>
            <a:r>
              <a:rPr lang="en"/>
              <a:t>Signatures can be validated in parallel</a:t>
            </a:r>
            <a:endParaRPr/>
          </a:p>
          <a:p>
            <a:pPr indent="-317500" lvl="1" marL="914400" rtl="0" algn="l">
              <a:spcBef>
                <a:spcPts val="0"/>
              </a:spcBef>
              <a:spcAft>
                <a:spcPts val="0"/>
              </a:spcAft>
              <a:buSzPts val="1400"/>
              <a:buChar char="○"/>
            </a:pPr>
            <a:r>
              <a:rPr lang="en"/>
              <a:t>Example: Validate the parent’s DS record while waiting for the child’s DNSKEY record</a:t>
            </a:r>
            <a:endParaRPr/>
          </a:p>
        </p:txBody>
      </p:sp>
      <p:sp>
        <p:nvSpPr>
          <p:cNvPr id="885" name="Google Shape;885;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9" name="Shape 889"/>
        <p:cNvGrpSpPr/>
        <p:nvPr/>
      </p:nvGrpSpPr>
      <p:grpSpPr>
        <a:xfrm>
          <a:off x="0" y="0"/>
          <a:ext cx="0" cy="0"/>
          <a:chOff x="0" y="0"/>
          <a:chExt cx="0" cy="0"/>
        </a:xfrm>
      </p:grpSpPr>
      <p:sp>
        <p:nvSpPr>
          <p:cNvPr id="890" name="Google Shape;890;p8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Implementation Errors</a:t>
            </a:r>
            <a:endParaRPr/>
          </a:p>
        </p:txBody>
      </p:sp>
      <p:sp>
        <p:nvSpPr>
          <p:cNvPr id="891" name="Google Shape;891;p8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Implementation errors from the name servers</a:t>
            </a:r>
            <a:endParaRPr/>
          </a:p>
          <a:p>
            <a:pPr indent="-317500" lvl="1" marL="914400" rtl="0" algn="l">
              <a:spcBef>
                <a:spcPts val="0"/>
              </a:spcBef>
              <a:spcAft>
                <a:spcPts val="0"/>
              </a:spcAft>
              <a:buSzPts val="1400"/>
              <a:buChar char="○"/>
            </a:pPr>
            <a:r>
              <a:rPr lang="en"/>
              <a:t>Example: A name server claims to support DNSSEC, even though it doesn’t</a:t>
            </a:r>
            <a:endParaRPr/>
          </a:p>
          <a:p>
            <a:pPr indent="-317500" lvl="1" marL="914400" rtl="0" algn="l">
              <a:spcBef>
                <a:spcPts val="0"/>
              </a:spcBef>
              <a:spcAft>
                <a:spcPts val="0"/>
              </a:spcAft>
              <a:buSzPts val="1400"/>
              <a:buChar char="○"/>
            </a:pPr>
            <a:r>
              <a:rPr lang="en"/>
              <a:t>Example: Changing your key but presenting old signatures signed with an old key</a:t>
            </a:r>
            <a:endParaRPr/>
          </a:p>
          <a:p>
            <a:pPr indent="-317500" lvl="1" marL="914400" rtl="0" algn="l">
              <a:spcBef>
                <a:spcPts val="0"/>
              </a:spcBef>
              <a:spcAft>
                <a:spcPts val="0"/>
              </a:spcAft>
              <a:buSzPts val="1400"/>
              <a:buChar char="○"/>
            </a:pPr>
            <a:r>
              <a:rPr lang="en"/>
              <a:t>Example: Present expired signatures</a:t>
            </a:r>
            <a:endParaRPr/>
          </a:p>
          <a:p>
            <a:pPr indent="-342900" lvl="0" marL="457200" rtl="0" algn="l">
              <a:spcBef>
                <a:spcPts val="0"/>
              </a:spcBef>
              <a:spcAft>
                <a:spcPts val="0"/>
              </a:spcAft>
              <a:buSzPts val="1800"/>
              <a:buChar char="●"/>
            </a:pPr>
            <a:r>
              <a:rPr lang="en"/>
              <a:t>Implementation errors from the resolvers</a:t>
            </a:r>
            <a:endParaRPr/>
          </a:p>
          <a:p>
            <a:pPr indent="-317500" lvl="1" marL="914400" rtl="0" algn="l">
              <a:spcBef>
                <a:spcPts val="0"/>
              </a:spcBef>
              <a:spcAft>
                <a:spcPts val="0"/>
              </a:spcAft>
              <a:buSzPts val="1400"/>
              <a:buChar char="○"/>
            </a:pPr>
            <a:r>
              <a:rPr lang="en"/>
              <a:t>The resolver can’t access DNSSEC records</a:t>
            </a:r>
            <a:endParaRPr/>
          </a:p>
          <a:p>
            <a:pPr indent="-317500" lvl="1" marL="914400" rtl="0" algn="l">
              <a:spcBef>
                <a:spcPts val="0"/>
              </a:spcBef>
              <a:spcAft>
                <a:spcPts val="0"/>
              </a:spcAft>
              <a:buSzPts val="1400"/>
              <a:buChar char="○"/>
            </a:pPr>
            <a:r>
              <a:rPr lang="en"/>
              <a:t>The resolver can’t process DNSSEC records correctly</a:t>
            </a:r>
            <a:endParaRPr/>
          </a:p>
        </p:txBody>
      </p:sp>
      <p:sp>
        <p:nvSpPr>
          <p:cNvPr id="892" name="Google Shape;892;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6" name="Shape 896"/>
        <p:cNvGrpSpPr/>
        <p:nvPr/>
      </p:nvGrpSpPr>
      <p:grpSpPr>
        <a:xfrm>
          <a:off x="0" y="0"/>
          <a:ext cx="0" cy="0"/>
          <a:chOff x="0" y="0"/>
          <a:chExt cx="0" cy="0"/>
        </a:xfrm>
      </p:grpSpPr>
      <p:sp>
        <p:nvSpPr>
          <p:cNvPr id="897" name="Google Shape;897;p9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Implementation Errors: Examples</a:t>
            </a:r>
            <a:endParaRPr/>
          </a:p>
        </p:txBody>
      </p:sp>
      <p:sp>
        <p:nvSpPr>
          <p:cNvPr id="898" name="Google Shape;898;p9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launch of HBO Go (a streaming service) was broken for Comcast users and users using Google Public DNS</a:t>
            </a:r>
            <a:endParaRPr/>
          </a:p>
          <a:p>
            <a:pPr indent="-317500" lvl="1" marL="914400" rtl="0" algn="l">
              <a:spcBef>
                <a:spcPts val="0"/>
              </a:spcBef>
              <a:spcAft>
                <a:spcPts val="0"/>
              </a:spcAft>
              <a:buSzPts val="1400"/>
              <a:buChar char="○"/>
            </a:pPr>
            <a:r>
              <a:rPr lang="en"/>
              <a:t>The DNS servers reported that they </a:t>
            </a:r>
            <a:r>
              <a:rPr lang="en"/>
              <a:t>supported DNSSEC when they didn’t</a:t>
            </a:r>
            <a:endParaRPr/>
          </a:p>
          <a:p>
            <a:pPr indent="-342900" lvl="0" marL="457200" rtl="0" algn="l">
              <a:spcBef>
                <a:spcPts val="0"/>
              </a:spcBef>
              <a:spcAft>
                <a:spcPts val="0"/>
              </a:spcAft>
              <a:buSzPts val="1800"/>
              <a:buChar char="●"/>
            </a:pPr>
            <a:r>
              <a:rPr lang="en"/>
              <a:t>Google Public DNS and Comcast provide recursive resolvers</a:t>
            </a:r>
            <a:endParaRPr/>
          </a:p>
          <a:p>
            <a:pPr indent="-317500" lvl="1" marL="914400" rtl="0" algn="l">
              <a:spcBef>
                <a:spcPts val="0"/>
              </a:spcBef>
              <a:spcAft>
                <a:spcPts val="0"/>
              </a:spcAft>
              <a:buSzPts val="1400"/>
              <a:buChar char="○"/>
            </a:pPr>
            <a:r>
              <a:rPr lang="en"/>
              <a:t>When a name server messes up, Comcast and Google are often blamed</a:t>
            </a:r>
            <a:endParaRPr/>
          </a:p>
          <a:p>
            <a:pPr indent="-317500" lvl="1" marL="914400" rtl="0" algn="l">
              <a:spcBef>
                <a:spcPts val="0"/>
              </a:spcBef>
              <a:spcAft>
                <a:spcPts val="0"/>
              </a:spcAft>
              <a:buSzPts val="1400"/>
              <a:buChar char="○"/>
            </a:pPr>
            <a:r>
              <a:rPr lang="en"/>
              <a:t>Fortunately, this is getting less common</a:t>
            </a:r>
            <a:endParaRPr/>
          </a:p>
          <a:p>
            <a:pPr indent="-342900" lvl="0" marL="457200" rtl="0" algn="l">
              <a:spcBef>
                <a:spcPts val="0"/>
              </a:spcBef>
              <a:spcAft>
                <a:spcPts val="0"/>
              </a:spcAft>
              <a:buSzPts val="1800"/>
              <a:buChar char="●"/>
            </a:pPr>
            <a:r>
              <a:rPr lang="en"/>
              <a:t>An educational network had several mirrors of a name server</a:t>
            </a:r>
            <a:endParaRPr/>
          </a:p>
          <a:p>
            <a:pPr indent="-317500" lvl="1" marL="914400" rtl="0" algn="l">
              <a:spcBef>
                <a:spcPts val="0"/>
              </a:spcBef>
              <a:spcAft>
                <a:spcPts val="0"/>
              </a:spcAft>
              <a:buSzPts val="1400"/>
              <a:buChar char="○"/>
            </a:pPr>
            <a:r>
              <a:rPr lang="en"/>
              <a:t>3 mirrors supported DNSSEC. All other mirrors didn’t support DNSSEC</a:t>
            </a:r>
            <a:endParaRPr/>
          </a:p>
          <a:p>
            <a:pPr indent="-342900" lvl="0" marL="457200" rtl="0" algn="l">
              <a:spcBef>
                <a:spcPts val="0"/>
              </a:spcBef>
              <a:spcAft>
                <a:spcPts val="0"/>
              </a:spcAft>
              <a:buSzPts val="1800"/>
              <a:buChar char="●"/>
            </a:pPr>
            <a:r>
              <a:rPr lang="en"/>
              <a:t>Wi-Fi hotspots (e.g. at Starbucks) often proxy DNS</a:t>
            </a:r>
            <a:endParaRPr/>
          </a:p>
          <a:p>
            <a:pPr indent="-317500" lvl="1" marL="914400" rtl="0" algn="l">
              <a:spcBef>
                <a:spcPts val="0"/>
              </a:spcBef>
              <a:spcAft>
                <a:spcPts val="0"/>
              </a:spcAft>
              <a:buSzPts val="1400"/>
              <a:buChar char="○"/>
            </a:pPr>
            <a:r>
              <a:rPr lang="en"/>
              <a:t>Proxy: Receive a DNS request and replace it with its own DNS request</a:t>
            </a:r>
            <a:endParaRPr/>
          </a:p>
          <a:p>
            <a:pPr indent="-317500" lvl="1" marL="914400" rtl="0" algn="l">
              <a:spcBef>
                <a:spcPts val="0"/>
              </a:spcBef>
              <a:spcAft>
                <a:spcPts val="0"/>
              </a:spcAft>
              <a:buSzPts val="1400"/>
              <a:buChar char="○"/>
            </a:pPr>
            <a:r>
              <a:rPr lang="en"/>
              <a:t>The proxy often doesn’t support DNSSEC</a:t>
            </a:r>
            <a:endParaRPr/>
          </a:p>
        </p:txBody>
      </p:sp>
      <p:sp>
        <p:nvSpPr>
          <p:cNvPr id="899" name="Google Shape;899;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3" name="Shape 903"/>
        <p:cNvGrpSpPr/>
        <p:nvPr/>
      </p:nvGrpSpPr>
      <p:grpSpPr>
        <a:xfrm>
          <a:off x="0" y="0"/>
          <a:ext cx="0" cy="0"/>
          <a:chOff x="0" y="0"/>
          <a:chExt cx="0" cy="0"/>
        </a:xfrm>
      </p:grpSpPr>
      <p:sp>
        <p:nvSpPr>
          <p:cNvPr id="904" name="Google Shape;904;p9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Implementation Error: Incomplete Validation</a:t>
            </a:r>
            <a:endParaRPr/>
          </a:p>
        </p:txBody>
      </p:sp>
      <p:sp>
        <p:nvSpPr>
          <p:cNvPr id="905" name="Google Shape;905;p9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Most DNSSEC implementations only validate records at the recursive resolver, not the client (stub resolver)</a:t>
            </a:r>
            <a:endParaRPr/>
          </a:p>
          <a:p>
            <a:pPr indent="-342900" lvl="0" marL="457200" rtl="0" algn="l">
              <a:spcBef>
                <a:spcPts val="0"/>
              </a:spcBef>
              <a:spcAft>
                <a:spcPts val="0"/>
              </a:spcAft>
              <a:buSzPts val="1800"/>
              <a:buChar char="●"/>
            </a:pPr>
            <a:r>
              <a:rPr lang="en"/>
              <a:t>If the client doesn’t validate records, the recursive resolver can poison the cache!</a:t>
            </a:r>
            <a:endParaRPr/>
          </a:p>
          <a:p>
            <a:pPr indent="-317500" lvl="1" marL="914400" rtl="0" algn="l">
              <a:spcBef>
                <a:spcPts val="0"/>
              </a:spcBef>
              <a:spcAft>
                <a:spcPts val="0"/>
              </a:spcAft>
              <a:buSzPts val="1400"/>
              <a:buChar char="○"/>
            </a:pPr>
            <a:r>
              <a:rPr lang="en"/>
              <a:t>Recall: The recursive resolver is the biggest threat in DNS</a:t>
            </a:r>
            <a:endParaRPr/>
          </a:p>
          <a:p>
            <a:pPr indent="-342900" lvl="0" marL="457200" rtl="0" algn="l">
              <a:spcBef>
                <a:spcPts val="0"/>
              </a:spcBef>
              <a:spcAft>
                <a:spcPts val="0"/>
              </a:spcAft>
              <a:buSzPts val="1800"/>
              <a:buChar char="●"/>
            </a:pPr>
            <a:r>
              <a:rPr lang="en"/>
              <a:t>If the client doesn’t validate records, network attackers can still poison the cache!</a:t>
            </a:r>
            <a:endParaRPr/>
          </a:p>
          <a:p>
            <a:pPr indent="-317500" lvl="1" marL="914400" rtl="0" algn="l">
              <a:spcBef>
                <a:spcPts val="0"/>
              </a:spcBef>
              <a:spcAft>
                <a:spcPts val="0"/>
              </a:spcAft>
              <a:buSzPts val="1400"/>
              <a:buChar char="○"/>
            </a:pPr>
            <a:r>
              <a:rPr lang="en"/>
              <a:t>Example: An on-path attacker between the recursive resolver and the client</a:t>
            </a:r>
            <a:endParaRPr/>
          </a:p>
          <a:p>
            <a:pPr indent="-342900" lvl="0" marL="457200" rtl="0" algn="l">
              <a:spcBef>
                <a:spcPts val="0"/>
              </a:spcBef>
              <a:spcAft>
                <a:spcPts val="0"/>
              </a:spcAft>
              <a:buSzPts val="1800"/>
              <a:buChar char="●"/>
            </a:pPr>
            <a:r>
              <a:rPr lang="en"/>
              <a:t>Result: If the client doesn’t validate records, DNSSEC provides very little practical security</a:t>
            </a:r>
            <a:endParaRPr/>
          </a:p>
        </p:txBody>
      </p:sp>
      <p:sp>
        <p:nvSpPr>
          <p:cNvPr id="906" name="Google Shape;906;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0" name="Shape 910"/>
        <p:cNvGrpSpPr/>
        <p:nvPr/>
      </p:nvGrpSpPr>
      <p:grpSpPr>
        <a:xfrm>
          <a:off x="0" y="0"/>
          <a:ext cx="0" cy="0"/>
          <a:chOff x="0" y="0"/>
          <a:chExt cx="0" cy="0"/>
        </a:xfrm>
      </p:grpSpPr>
      <p:sp>
        <p:nvSpPr>
          <p:cNvPr id="911" name="Google Shape;911;p9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Summary</a:t>
            </a:r>
            <a:endParaRPr/>
          </a:p>
        </p:txBody>
      </p:sp>
      <p:sp>
        <p:nvSpPr>
          <p:cNvPr id="912" name="Google Shape;912;p9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DNSSEC: </a:t>
            </a:r>
            <a:r>
              <a:rPr lang="en"/>
              <a:t>An extension of the DNS protocol that ensures integrity on the results</a:t>
            </a:r>
            <a:endParaRPr/>
          </a:p>
          <a:p>
            <a:pPr indent="-317500" lvl="1" marL="914400" rtl="0" algn="l">
              <a:spcBef>
                <a:spcPts val="0"/>
              </a:spcBef>
              <a:spcAft>
                <a:spcPts val="0"/>
              </a:spcAft>
              <a:buSzPts val="1400"/>
              <a:buChar char="○"/>
            </a:pPr>
            <a:r>
              <a:rPr lang="en"/>
              <a:t>Provides object security (unlike DNS over TLS, which would provide channel security)</a:t>
            </a:r>
            <a:endParaRPr/>
          </a:p>
          <a:p>
            <a:pPr indent="-317500" lvl="1" marL="914400" rtl="0" algn="l">
              <a:spcBef>
                <a:spcPts val="0"/>
              </a:spcBef>
              <a:spcAft>
                <a:spcPts val="0"/>
              </a:spcAft>
              <a:buSzPts val="1400"/>
              <a:buChar char="○"/>
            </a:pPr>
            <a:r>
              <a:rPr lang="en"/>
              <a:t>Uses signatures to cryptographically verify records</a:t>
            </a:r>
            <a:endParaRPr/>
          </a:p>
          <a:p>
            <a:pPr indent="-317500" lvl="1" marL="914400" rtl="0" algn="l">
              <a:spcBef>
                <a:spcPts val="0"/>
              </a:spcBef>
              <a:spcAft>
                <a:spcPts val="0"/>
              </a:spcAft>
              <a:buSzPts val="1400"/>
              <a:buChar char="○"/>
            </a:pPr>
            <a:r>
              <a:rPr lang="en"/>
              <a:t>Uses a hierarchical public key infrastructure to delegate trust from the trust anchor (root)</a:t>
            </a:r>
            <a:endParaRPr/>
          </a:p>
          <a:p>
            <a:pPr indent="-342900" lvl="0" marL="457200" rtl="0" algn="l">
              <a:spcBef>
                <a:spcPts val="0"/>
              </a:spcBef>
              <a:spcAft>
                <a:spcPts val="0"/>
              </a:spcAft>
              <a:buSzPts val="1800"/>
              <a:buChar char="●"/>
            </a:pPr>
            <a:r>
              <a:rPr lang="en"/>
              <a:t>DNSSEC Implementation</a:t>
            </a:r>
            <a:endParaRPr/>
          </a:p>
          <a:p>
            <a:pPr indent="-317500" lvl="1" marL="914400" rtl="0" algn="l">
              <a:spcBef>
                <a:spcPts val="0"/>
              </a:spcBef>
              <a:spcAft>
                <a:spcPts val="0"/>
              </a:spcAft>
              <a:buSzPts val="1400"/>
              <a:buChar char="○"/>
            </a:pPr>
            <a:r>
              <a:rPr lang="en"/>
              <a:t>Each name server replies with its public key (</a:t>
            </a:r>
            <a:r>
              <a:rPr b="1" lang="en">
                <a:latin typeface="Courier New"/>
                <a:ea typeface="Courier New"/>
                <a:cs typeface="Courier New"/>
                <a:sym typeface="Courier New"/>
              </a:rPr>
              <a:t>DNSKEY</a:t>
            </a:r>
            <a:r>
              <a:rPr lang="en"/>
              <a:t> type)</a:t>
            </a:r>
            <a:endParaRPr/>
          </a:p>
          <a:p>
            <a:pPr indent="-317500" lvl="1" marL="914400" rtl="0" algn="l">
              <a:spcBef>
                <a:spcPts val="0"/>
              </a:spcBef>
              <a:spcAft>
                <a:spcPts val="0"/>
              </a:spcAft>
              <a:buSzPts val="1400"/>
              <a:buChar char="○"/>
            </a:pPr>
            <a:r>
              <a:rPr lang="en"/>
              <a:t>When delegating trust, each name server signs the public key of the next name server</a:t>
            </a:r>
            <a:br>
              <a:rPr lang="en"/>
            </a:br>
            <a:r>
              <a:rPr lang="en"/>
              <a:t>(</a:t>
            </a:r>
            <a:r>
              <a:rPr b="1" lang="en">
                <a:latin typeface="Courier New"/>
                <a:ea typeface="Courier New"/>
                <a:cs typeface="Courier New"/>
                <a:sym typeface="Courier New"/>
              </a:rPr>
              <a:t>DS</a:t>
            </a:r>
            <a:r>
              <a:rPr lang="en"/>
              <a:t> and </a:t>
            </a:r>
            <a:r>
              <a:rPr b="1" lang="en">
                <a:latin typeface="Courier New"/>
                <a:ea typeface="Courier New"/>
                <a:cs typeface="Courier New"/>
                <a:sym typeface="Courier New"/>
              </a:rPr>
              <a:t>RRSIG</a:t>
            </a:r>
            <a:r>
              <a:rPr lang="en"/>
              <a:t> types)</a:t>
            </a:r>
            <a:endParaRPr/>
          </a:p>
          <a:p>
            <a:pPr indent="-317500" lvl="1" marL="914400" rtl="0" algn="l">
              <a:spcBef>
                <a:spcPts val="0"/>
              </a:spcBef>
              <a:spcAft>
                <a:spcPts val="0"/>
              </a:spcAft>
              <a:buSzPts val="1400"/>
              <a:buChar char="○"/>
            </a:pPr>
            <a:r>
              <a:rPr lang="en"/>
              <a:t>When providing a final answer, the name server signs the final answer (</a:t>
            </a:r>
            <a:r>
              <a:rPr b="1" lang="en">
                <a:latin typeface="Courier New"/>
                <a:ea typeface="Courier New"/>
                <a:cs typeface="Courier New"/>
                <a:sym typeface="Courier New"/>
              </a:rPr>
              <a:t>RRSIG</a:t>
            </a:r>
            <a:r>
              <a:rPr lang="en"/>
              <a:t> type)</a:t>
            </a:r>
            <a:endParaRPr/>
          </a:p>
          <a:p>
            <a:pPr indent="-317500" lvl="1" marL="914400" rtl="0" algn="l">
              <a:spcBef>
                <a:spcPts val="0"/>
              </a:spcBef>
              <a:spcAft>
                <a:spcPts val="0"/>
              </a:spcAft>
              <a:buSzPts val="1400"/>
              <a:buChar char="○"/>
            </a:pPr>
            <a:r>
              <a:rPr lang="en"/>
              <a:t>Zones are split into key-signing keys and zone-signing keys</a:t>
            </a:r>
            <a:endParaRPr/>
          </a:p>
          <a:p>
            <a:pPr indent="-317500" lvl="1" marL="914400" rtl="0" algn="l">
              <a:spcBef>
                <a:spcPts val="0"/>
              </a:spcBef>
              <a:spcAft>
                <a:spcPts val="0"/>
              </a:spcAft>
              <a:buSzPts val="1400"/>
              <a:buChar char="○"/>
            </a:pPr>
            <a:r>
              <a:rPr lang="en"/>
              <a:t>NSEC signs a message saying no domains exist alphabetically between two records</a:t>
            </a:r>
            <a:endParaRPr/>
          </a:p>
        </p:txBody>
      </p:sp>
      <p:sp>
        <p:nvSpPr>
          <p:cNvPr id="913" name="Google Shape;913;p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9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DNSSEC: Summary</a:t>
            </a:r>
            <a:endParaRPr/>
          </a:p>
        </p:txBody>
      </p:sp>
      <p:sp>
        <p:nvSpPr>
          <p:cNvPr id="919" name="Google Shape;919;p9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DNSSEC: An extension of the DNS protocol that ensures integrity on the results</a:t>
            </a:r>
            <a:endParaRPr/>
          </a:p>
          <a:p>
            <a:pPr indent="-317500" lvl="1" marL="914400" rtl="0" algn="l">
              <a:spcBef>
                <a:spcPts val="0"/>
              </a:spcBef>
              <a:spcAft>
                <a:spcPts val="0"/>
              </a:spcAft>
              <a:buSzPts val="1400"/>
              <a:buChar char="○"/>
            </a:pPr>
            <a:r>
              <a:rPr lang="en"/>
              <a:t>Provides object security (unlike DNS over TLS, which would provide channel security)</a:t>
            </a:r>
            <a:endParaRPr/>
          </a:p>
          <a:p>
            <a:pPr indent="-317500" lvl="1" marL="914400" rtl="0" algn="l">
              <a:spcBef>
                <a:spcPts val="0"/>
              </a:spcBef>
              <a:spcAft>
                <a:spcPts val="0"/>
              </a:spcAft>
              <a:buSzPts val="1400"/>
              <a:buChar char="○"/>
            </a:pPr>
            <a:r>
              <a:rPr lang="en"/>
              <a:t>Uses signatures to cryptographically verify records</a:t>
            </a:r>
            <a:endParaRPr/>
          </a:p>
          <a:p>
            <a:pPr indent="-317500" lvl="1" marL="914400" rtl="0" algn="l">
              <a:spcBef>
                <a:spcPts val="0"/>
              </a:spcBef>
              <a:spcAft>
                <a:spcPts val="0"/>
              </a:spcAft>
              <a:buSzPts val="1400"/>
              <a:buChar char="○"/>
            </a:pPr>
            <a:r>
              <a:rPr lang="en"/>
              <a:t>Uses a hierarchical public key infrastructure to delegate trust from the trust anchor (root)</a:t>
            </a:r>
            <a:endParaRPr/>
          </a:p>
        </p:txBody>
      </p:sp>
      <p:sp>
        <p:nvSpPr>
          <p:cNvPr id="920" name="Google Shape;920;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SE 405">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