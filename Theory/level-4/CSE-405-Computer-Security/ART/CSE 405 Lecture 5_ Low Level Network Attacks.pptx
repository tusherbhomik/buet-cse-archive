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64716B-9658-414B-9CFB-C2EFFBB96313}">
  <a:tblStyle styleId="{1364716B-9658-414B-9CFB-C2EFFBB9631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ilitary.com/history/operation-ivy-bells.html"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dce61f0a8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dce61f0a8f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dd7230b6b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dd7230b6b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 min - 12:45</a:t>
            </a:r>
            <a:endParaRPr/>
          </a:p>
          <a:p>
            <a:pPr indent="0" lvl="0" marL="0" rtl="0" algn="l">
              <a:spcBef>
                <a:spcPts val="0"/>
              </a:spcBef>
              <a:spcAft>
                <a:spcPts val="0"/>
              </a:spcAft>
              <a:buNone/>
            </a:pPr>
            <a:r>
              <a:rPr lang="en"/>
              <a:t>Let’s define who the attackers are. What is our threat model?</a:t>
            </a:r>
            <a:endParaRPr/>
          </a:p>
          <a:p>
            <a:pPr indent="0" lvl="0" marL="0" rtl="0" algn="l">
              <a:spcBef>
                <a:spcPts val="0"/>
              </a:spcBef>
              <a:spcAft>
                <a:spcPts val="0"/>
              </a:spcAft>
              <a:buNone/>
            </a:pPr>
            <a:r>
              <a:rPr lang="en"/>
              <a:t>Without a threat model, who’s to say we don’t have attackers–then we don’t care about security!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e5fab3741b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e5fab3741b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These attackers model real life</a:t>
            </a:r>
            <a:endParaRPr/>
          </a:p>
          <a:p>
            <a:pPr indent="-298450" lvl="0" marL="457200" rtl="0" algn="l">
              <a:spcBef>
                <a:spcPts val="0"/>
              </a:spcBef>
              <a:spcAft>
                <a:spcPts val="0"/>
              </a:spcAft>
              <a:buSzPts val="1100"/>
              <a:buChar char="-"/>
            </a:pPr>
            <a:r>
              <a:rPr lang="en"/>
              <a:t>MITM like crypto</a:t>
            </a:r>
            <a:endParaRPr/>
          </a:p>
          <a:p>
            <a:pPr indent="-298450" lvl="0" marL="457200" rtl="0" algn="l">
              <a:spcBef>
                <a:spcPts val="0"/>
              </a:spcBef>
              <a:spcAft>
                <a:spcPts val="0"/>
              </a:spcAft>
              <a:buSzPts val="1100"/>
              <a:buChar char="-"/>
            </a:pPr>
            <a:r>
              <a:rPr lang="en"/>
              <a:t>Off-path attacker may seem useless</a:t>
            </a:r>
            <a:endParaRPr/>
          </a:p>
          <a:p>
            <a:pPr indent="-298450" lvl="1" marL="914400" rtl="0" algn="l">
              <a:spcBef>
                <a:spcPts val="0"/>
              </a:spcBef>
              <a:spcAft>
                <a:spcPts val="0"/>
              </a:spcAft>
              <a:buSzPts val="1100"/>
              <a:buChar char="-"/>
            </a:pPr>
            <a:r>
              <a:rPr lang="en"/>
              <a:t>Blind SQL injection still works -&gt; similar concept in networking (although may actually be easier)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e5fab3741b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e5fab3741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why we care about off-path attackers!</a:t>
            </a:r>
            <a:endParaRPr/>
          </a:p>
          <a:p>
            <a:pPr indent="-298450" lvl="0" marL="457200" rtl="0" algn="l">
              <a:spcBef>
                <a:spcPts val="0"/>
              </a:spcBef>
              <a:spcAft>
                <a:spcPts val="0"/>
              </a:spcAft>
              <a:buSzPts val="1100"/>
              <a:buChar char="-"/>
            </a:pPr>
            <a:r>
              <a:rPr lang="en"/>
              <a:t>Even though off-path can’t read/modify, they can still send their own packets (pretending to be another user)</a:t>
            </a:r>
            <a:endParaRPr/>
          </a:p>
          <a:p>
            <a:pPr indent="-298450" lvl="0" marL="457200" rtl="0" algn="l">
              <a:spcBef>
                <a:spcPts val="0"/>
              </a:spcBef>
              <a:spcAft>
                <a:spcPts val="0"/>
              </a:spcAft>
              <a:buSzPts val="1100"/>
              <a:buChar char="-"/>
            </a:pPr>
            <a:r>
              <a:rPr lang="en"/>
              <a:t>Haven’t talked about </a:t>
            </a:r>
            <a:r>
              <a:rPr lang="en"/>
              <a:t>exactly</a:t>
            </a:r>
            <a:r>
              <a:rPr lang="en"/>
              <a:t> what a packet contains but surely contains who it’s from and who it’s to (this doesn’t need to be honest)</a:t>
            </a:r>
            <a:endParaRPr/>
          </a:p>
          <a:p>
            <a:pPr indent="-298450" lvl="1" marL="914400" rtl="0" algn="l">
              <a:spcBef>
                <a:spcPts val="0"/>
              </a:spcBef>
              <a:spcAft>
                <a:spcPts val="0"/>
              </a:spcAft>
              <a:buSzPts val="1100"/>
              <a:buChar char="-"/>
            </a:pPr>
            <a:r>
              <a:rPr lang="en"/>
              <a:t>Mallory can lie! Not “From: Mallory”, could say something like “From: Bob”...</a:t>
            </a:r>
            <a:endParaRPr/>
          </a:p>
          <a:p>
            <a:pPr indent="-298450" lvl="0" marL="457200" rtl="0" algn="l">
              <a:spcBef>
                <a:spcPts val="0"/>
              </a:spcBef>
              <a:spcAft>
                <a:spcPts val="0"/>
              </a:spcAft>
              <a:buSzPts val="1100"/>
              <a:buChar char="-"/>
            </a:pPr>
            <a:r>
              <a:rPr lang="en"/>
              <a:t>In practice, whether an attacker can spoof kind of depends</a:t>
            </a:r>
            <a:endParaRPr/>
          </a:p>
          <a:p>
            <a:pPr indent="-298450" lvl="1" marL="914400" rtl="0" algn="l">
              <a:spcBef>
                <a:spcPts val="0"/>
              </a:spcBef>
              <a:spcAft>
                <a:spcPts val="0"/>
              </a:spcAft>
              <a:buSzPts val="1100"/>
              <a:buChar char="-"/>
            </a:pPr>
            <a:r>
              <a:rPr lang="en"/>
              <a:t>We’ll see some protocols later that will make it harder to spoof!</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e5fab3741b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e5fab3741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Layer 1: Physical Layer - </a:t>
            </a:r>
            <a:r>
              <a:rPr lang="en"/>
              <a:t>Encodes bits to send them over a physical link</a:t>
            </a:r>
            <a:endParaRPr/>
          </a:p>
          <a:p>
            <a:pPr indent="-298450" lvl="0" marL="457200" rtl="0" algn="l">
              <a:spcBef>
                <a:spcPts val="0"/>
              </a:spcBef>
              <a:spcAft>
                <a:spcPts val="0"/>
              </a:spcAft>
              <a:buSzPts val="1100"/>
              <a:buChar char="-"/>
            </a:pPr>
            <a:r>
              <a:rPr lang="en"/>
              <a:t>This capability is modeled by an on-path attacker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dd7230b6bd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dd7230b6b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https://www.military.com/history/operation-ivy-bells.html</a:t>
            </a:r>
            <a:r>
              <a:rPr lang="en"/>
              <a:t> </a:t>
            </a:r>
            <a:endParaRPr/>
          </a:p>
          <a:p>
            <a:pPr indent="0" lvl="0" marL="0" rtl="0" algn="l">
              <a:spcBef>
                <a:spcPts val="0"/>
              </a:spcBef>
              <a:spcAft>
                <a:spcPts val="0"/>
              </a:spcAft>
              <a:buNone/>
            </a:pPr>
            <a:r>
              <a:rPr lang="en"/>
              <a:t>Can spy on the thick underwater cables using a listening device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e5fab3741b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e5fab3741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Layer 2 - Link Layer</a:t>
            </a:r>
            <a:endParaRPr/>
          </a:p>
          <a:p>
            <a:pPr indent="0" lvl="0" marL="0" rtl="0" algn="l">
              <a:spcBef>
                <a:spcPts val="0"/>
              </a:spcBef>
              <a:spcAft>
                <a:spcPts val="0"/>
              </a:spcAft>
              <a:buNone/>
            </a:pPr>
            <a:r>
              <a:rPr lang="en"/>
              <a:t>Encodes messages into groups of bits called “frames”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Another on-path attacker</a:t>
            </a:r>
            <a:endParaRPr/>
          </a:p>
          <a:p>
            <a:pPr indent="-298450" lvl="0" marL="457200" rtl="0" algn="l">
              <a:spcBef>
                <a:spcPts val="0"/>
              </a:spcBef>
              <a:spcAft>
                <a:spcPts val="0"/>
              </a:spcAft>
              <a:buSzPts val="1100"/>
              <a:buChar char="-"/>
            </a:pPr>
            <a:r>
              <a:rPr lang="en"/>
              <a:t>Broadcast: connects everyone in the LAN together (everyone gets your message in the LAN)</a:t>
            </a:r>
            <a:endParaRPr/>
          </a:p>
          <a:p>
            <a:pPr indent="-298450" lvl="1" marL="914400" rtl="0" algn="l">
              <a:spcBef>
                <a:spcPts val="0"/>
              </a:spcBef>
              <a:spcAft>
                <a:spcPts val="0"/>
              </a:spcAft>
              <a:buSzPts val="1100"/>
              <a:buChar char="-"/>
            </a:pPr>
            <a:r>
              <a:rPr lang="en"/>
              <a:t>There’s a single wire connecting everybody</a:t>
            </a:r>
            <a:endParaRPr/>
          </a:p>
          <a:p>
            <a:pPr indent="-298450" lvl="0" marL="457200" rtl="0" algn="l">
              <a:spcBef>
                <a:spcPts val="0"/>
              </a:spcBef>
              <a:spcAft>
                <a:spcPts val="0"/>
              </a:spcAft>
              <a:buSzPts val="1100"/>
              <a:buChar char="-"/>
            </a:pPr>
            <a:r>
              <a:rPr lang="en"/>
              <a:t>How do you know who the packet is for? Sender/receiver (to/from)</a:t>
            </a:r>
            <a:endParaRPr/>
          </a:p>
          <a:p>
            <a:pPr indent="-298450" lvl="0" marL="457200" rtl="0" algn="l">
              <a:spcBef>
                <a:spcPts val="0"/>
              </a:spcBef>
              <a:spcAft>
                <a:spcPts val="0"/>
              </a:spcAft>
              <a:buSzPts val="1100"/>
              <a:buChar char="-"/>
            </a:pPr>
            <a:r>
              <a:rPr lang="en"/>
              <a:t>Non-malicious people would just ignore packets not meant for them </a:t>
            </a:r>
            <a:endParaRPr/>
          </a:p>
          <a:p>
            <a:pPr indent="-298450" lvl="1" marL="914400" rtl="0" algn="l">
              <a:spcBef>
                <a:spcPts val="0"/>
              </a:spcBef>
              <a:spcAft>
                <a:spcPts val="0"/>
              </a:spcAft>
              <a:buSzPts val="1100"/>
              <a:buChar char="-"/>
            </a:pPr>
            <a:r>
              <a:rPr lang="en"/>
              <a:t>But there’s nothing stopping you from breaking this agreement…</a:t>
            </a:r>
            <a:endParaRPr/>
          </a:p>
          <a:p>
            <a:pPr indent="-298450" lvl="1" marL="914400" rtl="0" algn="l">
              <a:spcBef>
                <a:spcPts val="0"/>
              </a:spcBef>
              <a:spcAft>
                <a:spcPts val="0"/>
              </a:spcAft>
              <a:buSzPts val="1100"/>
              <a:buChar char="-"/>
            </a:pPr>
            <a:r>
              <a:rPr lang="en"/>
              <a:t>You could peek!</a:t>
            </a:r>
            <a:endParaRPr/>
          </a:p>
          <a:p>
            <a:pPr indent="-298450" lvl="0" marL="457200" rtl="0" algn="l">
              <a:spcBef>
                <a:spcPts val="0"/>
              </a:spcBef>
              <a:spcAft>
                <a:spcPts val="0"/>
              </a:spcAft>
              <a:buSzPts val="1100"/>
              <a:buChar char="-"/>
            </a:pPr>
            <a:r>
              <a:rPr lang="en"/>
              <a:t>On a hardware level, you are going to be </a:t>
            </a:r>
            <a:r>
              <a:rPr lang="en"/>
              <a:t>receiving</a:t>
            </a:r>
            <a:r>
              <a:rPr lang="en"/>
              <a:t> those bits, now you’re just overriding the check to read them</a:t>
            </a:r>
            <a:endParaRPr/>
          </a:p>
          <a:p>
            <a:pPr indent="-298450" lvl="0" marL="457200" rtl="0" algn="l">
              <a:spcBef>
                <a:spcPts val="0"/>
              </a:spcBef>
              <a:spcAft>
                <a:spcPts val="0"/>
              </a:spcAft>
              <a:buSzPts val="1100"/>
              <a:buChar char="-"/>
            </a:pPr>
            <a:r>
              <a:rPr lang="en"/>
              <a:t>Most of the time, due to broadcast, we’ll assume people in LAN are on-path (they can read these messages)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e5fab3741b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e5fab3741b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You can check out all the packets sent over the network</a:t>
            </a:r>
            <a:endParaRPr/>
          </a:p>
          <a:p>
            <a:pPr indent="-298450" lvl="0" marL="457200" rtl="0" algn="l">
              <a:spcBef>
                <a:spcPts val="0"/>
              </a:spcBef>
              <a:spcAft>
                <a:spcPts val="0"/>
              </a:spcAft>
              <a:buSzPts val="1100"/>
              <a:buChar char="-"/>
            </a:pPr>
            <a:r>
              <a:rPr lang="en"/>
              <a:t>Sniff packets that weren’t meant for you</a:t>
            </a:r>
            <a:endParaRPr/>
          </a:p>
          <a:p>
            <a:pPr indent="-298450" lvl="0" marL="457200" rtl="0" algn="l">
              <a:spcBef>
                <a:spcPts val="0"/>
              </a:spcBef>
              <a:spcAft>
                <a:spcPts val="0"/>
              </a:spcAft>
              <a:buSzPts val="1100"/>
              <a:buChar char="-"/>
            </a:pPr>
            <a:r>
              <a:rPr lang="en"/>
              <a:t>Tcpdump: terminal, graphic: wireshark</a:t>
            </a:r>
            <a:endParaRPr/>
          </a:p>
          <a:p>
            <a:pPr indent="-298450" lvl="0" marL="457200" rtl="0" algn="l">
              <a:spcBef>
                <a:spcPts val="0"/>
              </a:spcBef>
              <a:spcAft>
                <a:spcPts val="0"/>
              </a:spcAft>
              <a:buSzPts val="1100"/>
              <a:buChar char="-"/>
            </a:pPr>
            <a:r>
              <a:rPr lang="en"/>
              <a:t>Not really legal unless you have permission from people in the network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e5fab3741b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e5fab3741b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There’s a lot of different ways for being on-path attackers!</a:t>
            </a:r>
            <a:endParaRPr/>
          </a:p>
          <a:p>
            <a:pPr indent="0" lvl="0" marL="0" rtl="0" algn="l">
              <a:spcBef>
                <a:spcPts val="0"/>
              </a:spcBef>
              <a:spcAft>
                <a:spcPts val="0"/>
              </a:spcAft>
              <a:buNone/>
            </a:pPr>
            <a:r>
              <a:rPr lang="en"/>
              <a:t>Security is economics – is listening and modifying messages on this network worth $200 to you?</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dd7230b6b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dd7230b6b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 - 1:50</a:t>
            </a:r>
            <a:endParaRPr/>
          </a:p>
          <a:p>
            <a:pPr indent="0" lvl="0" marL="0" rtl="0" algn="l">
              <a:spcBef>
                <a:spcPts val="0"/>
              </a:spcBef>
              <a:spcAft>
                <a:spcPts val="0"/>
              </a:spcAft>
              <a:buNone/>
            </a:pPr>
            <a:r>
              <a:rPr lang="en"/>
              <a:t>First protocol in networking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dd7230b6b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dd7230b6b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Layer 2: hardware MAC addresses baked into a computer (not the same MAC as in crypto)</a:t>
            </a:r>
            <a:endParaRPr/>
          </a:p>
          <a:p>
            <a:pPr indent="-298450" lvl="1" marL="914400" rtl="0" algn="l">
              <a:spcBef>
                <a:spcPts val="0"/>
              </a:spcBef>
              <a:spcAft>
                <a:spcPts val="0"/>
              </a:spcAft>
              <a:buSzPts val="1100"/>
              <a:buChar char="-"/>
            </a:pPr>
            <a:r>
              <a:rPr lang="en"/>
              <a:t>Identifies addresses in the local network</a:t>
            </a:r>
            <a:endParaRPr/>
          </a:p>
          <a:p>
            <a:pPr indent="-298450" lvl="0" marL="457200" rtl="0" algn="l">
              <a:spcBef>
                <a:spcPts val="0"/>
              </a:spcBef>
              <a:spcAft>
                <a:spcPts val="0"/>
              </a:spcAft>
              <a:buSzPts val="1100"/>
              <a:buChar char="-"/>
            </a:pPr>
            <a:r>
              <a:rPr lang="en"/>
              <a:t>Layer 3: IP addresses identify computers across the world</a:t>
            </a:r>
            <a:endParaRPr/>
          </a:p>
          <a:p>
            <a:pPr indent="-298450" lvl="0" marL="457200" rtl="0" algn="l">
              <a:spcBef>
                <a:spcPts val="0"/>
              </a:spcBef>
              <a:spcAft>
                <a:spcPts val="0"/>
              </a:spcAft>
              <a:buSzPts val="1100"/>
              <a:buChar char="-"/>
            </a:pPr>
            <a:r>
              <a:rPr lang="en"/>
              <a:t>MAC address is responsible for local identification, IP address for global identification</a:t>
            </a:r>
            <a:endParaRPr/>
          </a:p>
          <a:p>
            <a:pPr indent="-298450" lvl="0" marL="457200" rtl="0" algn="l">
              <a:spcBef>
                <a:spcPts val="0"/>
              </a:spcBef>
              <a:spcAft>
                <a:spcPts val="0"/>
              </a:spcAft>
              <a:buSzPts val="1100"/>
              <a:buChar char="-"/>
            </a:pPr>
            <a:r>
              <a:rPr lang="en"/>
              <a:t>Well, how do we translate between them?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e5fab3741b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e5fab3741b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If I only know Bob’s IP address (not MAC address), I get trapped!</a:t>
            </a:r>
            <a:endParaRPr/>
          </a:p>
          <a:p>
            <a:pPr indent="-298450" lvl="1" marL="914400" rtl="0" algn="l">
              <a:spcBef>
                <a:spcPts val="0"/>
              </a:spcBef>
              <a:spcAft>
                <a:spcPts val="0"/>
              </a:spcAft>
              <a:buSzPts val="1100"/>
              <a:buChar char="-"/>
            </a:pPr>
            <a:r>
              <a:rPr lang="en"/>
              <a:t>Can’t send the message -&gt; can’t use layer 2 protocols like ethernet</a:t>
            </a:r>
            <a:endParaRPr/>
          </a:p>
          <a:p>
            <a:pPr indent="-298450" lvl="0" marL="457200" rtl="0" algn="l">
              <a:spcBef>
                <a:spcPts val="0"/>
              </a:spcBef>
              <a:spcAft>
                <a:spcPts val="0"/>
              </a:spcAft>
              <a:buSzPts val="1100"/>
              <a:buChar char="-"/>
            </a:pPr>
            <a:r>
              <a:rPr lang="en"/>
              <a:t>We need to be able to translate this</a:t>
            </a:r>
            <a:endParaRPr/>
          </a:p>
          <a:p>
            <a:pPr indent="-298450" lvl="0" marL="457200" rtl="0" algn="l">
              <a:spcBef>
                <a:spcPts val="0"/>
              </a:spcBef>
              <a:spcAft>
                <a:spcPts val="0"/>
              </a:spcAft>
              <a:buSzPts val="1100"/>
              <a:buChar char="-"/>
            </a:pPr>
            <a:r>
              <a:rPr lang="en"/>
              <a:t>Walk through the steps !</a:t>
            </a:r>
            <a:endParaRPr/>
          </a:p>
          <a:p>
            <a:pPr indent="-298450" lvl="0" marL="457200" rtl="0" algn="l">
              <a:spcBef>
                <a:spcPts val="0"/>
              </a:spcBef>
              <a:spcAft>
                <a:spcPts val="0"/>
              </a:spcAft>
              <a:buSzPts val="1100"/>
              <a:buChar char="-"/>
            </a:pPr>
            <a:r>
              <a:rPr lang="en"/>
              <a:t>Broadcast: you’re telling the entire LAN</a:t>
            </a:r>
            <a:endParaRPr/>
          </a:p>
          <a:p>
            <a:pPr indent="-298450" lvl="1" marL="914400" rtl="0" algn="l">
              <a:spcBef>
                <a:spcPts val="0"/>
              </a:spcBef>
              <a:spcAft>
                <a:spcPts val="0"/>
              </a:spcAft>
              <a:buSzPts val="1100"/>
              <a:buChar char="-"/>
            </a:pPr>
            <a:r>
              <a:rPr lang="en"/>
              <a:t>Everyone’s connected over one wire</a:t>
            </a:r>
            <a:endParaRPr/>
          </a:p>
          <a:p>
            <a:pPr indent="-298450" lvl="1" marL="914400" rtl="0" algn="l">
              <a:spcBef>
                <a:spcPts val="0"/>
              </a:spcBef>
              <a:spcAft>
                <a:spcPts val="0"/>
              </a:spcAft>
              <a:buSzPts val="1100"/>
              <a:buChar char="-"/>
            </a:pPr>
            <a:r>
              <a:rPr lang="en"/>
              <a:t>In Step 3: everyone hears and chooses to ignore</a:t>
            </a:r>
            <a:endParaRPr/>
          </a:p>
          <a:p>
            <a:pPr indent="-298450" lvl="1" marL="914400" rtl="0" algn="l">
              <a:spcBef>
                <a:spcPts val="0"/>
              </a:spcBef>
              <a:spcAft>
                <a:spcPts val="0"/>
              </a:spcAft>
              <a:buSzPts val="1100"/>
              <a:buChar char="-"/>
            </a:pPr>
            <a:r>
              <a:rPr lang="en"/>
              <a:t>They see the packet says “To: Bob”</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e5fab3741b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e5fab3741b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 Translate Layer 3 IP addresses into Layer 2 MAC addresses</a:t>
            </a:r>
            <a:endParaRPr/>
          </a:p>
          <a:p>
            <a:pPr indent="0" lvl="0" marL="0" rtl="0" algn="l">
              <a:spcBef>
                <a:spcPts val="0"/>
              </a:spcBef>
              <a:spcAft>
                <a:spcPts val="0"/>
              </a:spcAft>
              <a:buNone/>
            </a:pPr>
            <a:r>
              <a:rPr lang="en"/>
              <a:t>Cache for optimization!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e5fab3741b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e5fab3741b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e5fab3741b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e5fab3741b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e5fab3741b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e5fab3741b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e5fab3741b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e5fab3741b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Bob outside LAN, the layer 3 packet will be addressed to Bob, but Layer 2 to Router</a:t>
            </a:r>
            <a:endParaRPr/>
          </a:p>
          <a:p>
            <a:pPr indent="-298450" lvl="0" marL="457200" rtl="0" algn="l">
              <a:spcBef>
                <a:spcPts val="0"/>
              </a:spcBef>
              <a:spcAft>
                <a:spcPts val="0"/>
              </a:spcAft>
              <a:buSzPts val="1100"/>
              <a:buChar char="-"/>
            </a:pPr>
            <a:r>
              <a:rPr lang="en"/>
              <a:t>Layer 2 packet wraps around Layer 3 packet</a:t>
            </a:r>
            <a:endParaRPr/>
          </a:p>
          <a:p>
            <a:pPr indent="-298450" lvl="1" marL="914400" rtl="0" algn="l">
              <a:spcBef>
                <a:spcPts val="0"/>
              </a:spcBef>
              <a:spcAft>
                <a:spcPts val="0"/>
              </a:spcAft>
              <a:buSzPts val="1100"/>
              <a:buChar char="-"/>
            </a:pPr>
            <a:r>
              <a:rPr lang="en"/>
              <a:t>Intuition: Pre-phone era, if I needed to get a message to my friend in Seattle. I </a:t>
            </a:r>
            <a:r>
              <a:rPr lang="en"/>
              <a:t>can’t drive there–she’s not locally here. I drop it off at the post office and trust they’ll get it to her.</a:t>
            </a:r>
            <a:endParaRPr/>
          </a:p>
          <a:p>
            <a:pPr indent="-298450" lvl="2" marL="1371600" rtl="0" algn="l">
              <a:spcBef>
                <a:spcPts val="0"/>
              </a:spcBef>
              <a:spcAft>
                <a:spcPts val="0"/>
              </a:spcAft>
              <a:buSzPts val="1100"/>
              <a:buChar char="-"/>
            </a:pPr>
            <a:r>
              <a:rPr lang="en"/>
              <a:t>Layer 2: the Bay area (where I can drive)</a:t>
            </a:r>
            <a:endParaRPr/>
          </a:p>
          <a:p>
            <a:pPr indent="-298450" lvl="2" marL="1371600" rtl="0" algn="l">
              <a:spcBef>
                <a:spcPts val="0"/>
              </a:spcBef>
              <a:spcAft>
                <a:spcPts val="0"/>
              </a:spcAft>
              <a:buSzPts val="1100"/>
              <a:buChar char="-"/>
            </a:pPr>
            <a:r>
              <a:rPr lang="en"/>
              <a:t>Layer 3: USPS needs to do the routing (BGP!)</a:t>
            </a:r>
            <a:endParaRPr/>
          </a:p>
          <a:p>
            <a:pPr indent="-298450" lvl="1" marL="914400" rtl="0" algn="l">
              <a:spcBef>
                <a:spcPts val="0"/>
              </a:spcBef>
              <a:spcAft>
                <a:spcPts val="0"/>
              </a:spcAft>
              <a:buSzPts val="1100"/>
              <a:buChar char="-"/>
            </a:pPr>
            <a:r>
              <a:rPr lang="en"/>
              <a:t>“You want this person? They don’t live in this area”</a:t>
            </a:r>
            <a:endParaRPr/>
          </a:p>
          <a:p>
            <a:pPr indent="-298450" lvl="2" marL="1371600" rtl="0" algn="l">
              <a:spcBef>
                <a:spcPts val="0"/>
              </a:spcBef>
              <a:spcAft>
                <a:spcPts val="0"/>
              </a:spcAft>
              <a:buSzPts val="1100"/>
              <a:buChar char="-"/>
            </a:pPr>
            <a:r>
              <a:rPr lang="en"/>
              <a:t>The router understands zip codes (like subnets) and knows how to route it to the right place</a:t>
            </a:r>
            <a:endParaRPr/>
          </a:p>
          <a:p>
            <a:pPr indent="-298450" lvl="0" marL="457200" rtl="0" algn="l">
              <a:spcBef>
                <a:spcPts val="0"/>
              </a:spcBef>
              <a:spcAft>
                <a:spcPts val="0"/>
              </a:spcAft>
              <a:buSzPts val="1100"/>
              <a:buChar char="-"/>
            </a:pPr>
            <a:r>
              <a:rPr lang="en"/>
              <a:t>Sometimes no request is needed</a:t>
            </a:r>
            <a:endParaRPr/>
          </a:p>
          <a:p>
            <a:pPr indent="-298450" lvl="1" marL="914400" rtl="0" algn="l">
              <a:spcBef>
                <a:spcPts val="0"/>
              </a:spcBef>
              <a:spcAft>
                <a:spcPts val="0"/>
              </a:spcAft>
              <a:buSzPts val="1100"/>
              <a:buChar char="-"/>
            </a:pPr>
            <a:r>
              <a:rPr lang="en"/>
              <a:t>Bob will just randomly broadcast “My IP address is X, here’s my corresponding MAC addresses”</a:t>
            </a:r>
            <a:endParaRPr/>
          </a:p>
          <a:p>
            <a:pPr indent="-298450" lvl="2" marL="1371600" rtl="0" algn="l">
              <a:spcBef>
                <a:spcPts val="0"/>
              </a:spcBef>
              <a:spcAft>
                <a:spcPts val="0"/>
              </a:spcAft>
              <a:buSzPts val="1100"/>
              <a:buChar char="-"/>
            </a:pPr>
            <a:r>
              <a:rPr lang="en"/>
              <a:t>Most people will cache that</a:t>
            </a:r>
            <a:endParaRPr/>
          </a:p>
          <a:p>
            <a:pPr indent="-298450" lvl="1" marL="914400" rtl="0" algn="l">
              <a:spcBef>
                <a:spcPts val="0"/>
              </a:spcBef>
              <a:spcAft>
                <a:spcPts val="0"/>
              </a:spcAft>
              <a:buSzPts val="1100"/>
              <a:buChar char="-"/>
            </a:pPr>
            <a:r>
              <a:rPr lang="en"/>
              <a:t>Kind of strange, might be malicious…?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e60c7b33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e60c7b33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Step 1 stays the same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e60c7b3374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e60c7b3374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Step 2 stays the same</a:t>
            </a:r>
            <a:endParaRPr/>
          </a:p>
          <a:p>
            <a:pPr indent="-298450" lvl="0" marL="457200" rtl="0" algn="l">
              <a:spcBef>
                <a:spcPts val="0"/>
              </a:spcBef>
              <a:spcAft>
                <a:spcPts val="0"/>
              </a:spcAft>
              <a:buSzPts val="1100"/>
              <a:buChar char="-"/>
            </a:pPr>
            <a:r>
              <a:rPr lang="en"/>
              <a:t>Pause &amp; ask</a:t>
            </a:r>
            <a:endParaRPr/>
          </a:p>
          <a:p>
            <a:pPr indent="-298450" lvl="1" marL="914400" rtl="0" algn="l">
              <a:spcBef>
                <a:spcPts val="0"/>
              </a:spcBef>
              <a:spcAft>
                <a:spcPts val="0"/>
              </a:spcAft>
              <a:buSzPts val="1100"/>
              <a:buChar char="-"/>
            </a:pPr>
            <a:r>
              <a:rPr lang="en"/>
              <a:t>Who else can answer?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e60c7b3374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e60c7b3374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Lie about IP address (this is Bob’s IP), be say Mallory’s MAC address</a:t>
            </a:r>
            <a:endParaRPr/>
          </a:p>
          <a:p>
            <a:pPr indent="-298450" lvl="0" marL="457200" rtl="0" algn="l">
              <a:spcBef>
                <a:spcPts val="0"/>
              </a:spcBef>
              <a:spcAft>
                <a:spcPts val="0"/>
              </a:spcAft>
              <a:buSzPts val="1100"/>
              <a:buChar char="-"/>
            </a:pPr>
            <a:r>
              <a:rPr lang="en"/>
              <a:t>If Alice hears this first, she’ll cache this first</a:t>
            </a:r>
            <a:endParaRPr/>
          </a:p>
          <a:p>
            <a:pPr indent="-298450" lvl="1" marL="914400" rtl="0" algn="l">
              <a:spcBef>
                <a:spcPts val="0"/>
              </a:spcBef>
              <a:spcAft>
                <a:spcPts val="0"/>
              </a:spcAft>
              <a:buSzPts val="1100"/>
              <a:buChar char="-"/>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e60c7b3374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e60c7b3374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Anytime Alice wants to send a message to Bob, it will now go to Mallory (yikes)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e60c7b3374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e60c7b3374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 min - 1:00</a:t>
            </a:r>
            <a:endParaRPr/>
          </a:p>
          <a:p>
            <a:pPr indent="-298450" lvl="0" marL="457200" rtl="0" algn="l">
              <a:spcBef>
                <a:spcPts val="0"/>
              </a:spcBef>
              <a:spcAft>
                <a:spcPts val="0"/>
              </a:spcAft>
              <a:buSzPts val="1100"/>
              <a:buChar char="-"/>
            </a:pPr>
            <a:r>
              <a:rPr lang="en"/>
              <a:t>No way to verify response – there’s no security (yet)! -&gt; no cryptography (no signatures, etc.)</a:t>
            </a:r>
            <a:endParaRPr/>
          </a:p>
          <a:p>
            <a:pPr indent="-298450" lvl="0" marL="457200" rtl="0" algn="l">
              <a:spcBef>
                <a:spcPts val="0"/>
              </a:spcBef>
              <a:spcAft>
                <a:spcPts val="0"/>
              </a:spcAft>
              <a:buSzPts val="1100"/>
              <a:buChar char="-"/>
            </a:pPr>
            <a:r>
              <a:rPr lang="en"/>
              <a:t>Alice only broadcasts to the LAN so Mallory has to be in the LAN</a:t>
            </a:r>
            <a:endParaRPr/>
          </a:p>
          <a:p>
            <a:pPr indent="-298450" lvl="1" marL="914400" rtl="0" algn="l">
              <a:spcBef>
                <a:spcPts val="0"/>
              </a:spcBef>
              <a:spcAft>
                <a:spcPts val="0"/>
              </a:spcAft>
              <a:buSzPts val="1100"/>
              <a:buChar char="-"/>
            </a:pPr>
            <a:r>
              <a:rPr lang="en"/>
              <a:t>Connected by the wires</a:t>
            </a:r>
            <a:endParaRPr/>
          </a:p>
          <a:p>
            <a:pPr indent="-298450" lvl="0" marL="457200" rtl="0" algn="l">
              <a:spcBef>
                <a:spcPts val="0"/>
              </a:spcBef>
              <a:spcAft>
                <a:spcPts val="0"/>
              </a:spcAft>
              <a:buSzPts val="1100"/>
              <a:buChar char="-"/>
            </a:pPr>
            <a:r>
              <a:rPr lang="en"/>
              <a:t>Mallory is originally just an on-path attacker -&gt; she only needs to hear Alice’s broadcast</a:t>
            </a:r>
            <a:endParaRPr/>
          </a:p>
          <a:p>
            <a:pPr indent="-298450" lvl="1" marL="914400" rtl="0" algn="l">
              <a:spcBef>
                <a:spcPts val="0"/>
              </a:spcBef>
              <a:spcAft>
                <a:spcPts val="0"/>
              </a:spcAft>
              <a:buSzPts val="1100"/>
              <a:buChar char="-"/>
            </a:pPr>
            <a:r>
              <a:rPr lang="en"/>
              <a:t>Then, she gets upgraded to MITM</a:t>
            </a:r>
            <a:endParaRPr/>
          </a:p>
          <a:p>
            <a:pPr indent="-298450" lvl="1" marL="914400" rtl="0" algn="l">
              <a:spcBef>
                <a:spcPts val="0"/>
              </a:spcBef>
              <a:spcAft>
                <a:spcPts val="0"/>
              </a:spcAft>
              <a:buSzPts val="1100"/>
              <a:buChar char="-"/>
            </a:pPr>
            <a:r>
              <a:rPr lang="en"/>
              <a:t>Think of DHE!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dd7230b6bd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dd7230b6bd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[hardware-level fix] Switch is a server on the network or maybe even the router</a:t>
            </a:r>
            <a:endParaRPr/>
          </a:p>
          <a:p>
            <a:pPr indent="-298450" lvl="1" marL="914400" rtl="0" algn="l">
              <a:spcBef>
                <a:spcPts val="0"/>
              </a:spcBef>
              <a:spcAft>
                <a:spcPts val="0"/>
              </a:spcAft>
              <a:buSzPts val="1100"/>
              <a:buChar char="-"/>
            </a:pPr>
            <a:r>
              <a:rPr lang="en"/>
              <a:t>Sole job is to maintain IP&lt;&gt;MAC mappings</a:t>
            </a:r>
            <a:endParaRPr/>
          </a:p>
          <a:p>
            <a:pPr indent="-298450" lvl="0" marL="457200" rtl="0" algn="l">
              <a:spcBef>
                <a:spcPts val="0"/>
              </a:spcBef>
              <a:spcAft>
                <a:spcPts val="0"/>
              </a:spcAft>
              <a:buSzPts val="1100"/>
              <a:buChar char="-"/>
            </a:pPr>
            <a:r>
              <a:rPr lang="en"/>
              <a:t>Instead of broadcasting, you just send the message directly to the switch (unicast)</a:t>
            </a:r>
            <a:endParaRPr/>
          </a:p>
          <a:p>
            <a:pPr indent="-298450" lvl="1" marL="914400" rtl="0" algn="l">
              <a:spcBef>
                <a:spcPts val="0"/>
              </a:spcBef>
              <a:spcAft>
                <a:spcPts val="0"/>
              </a:spcAft>
              <a:buSzPts val="1100"/>
              <a:buChar char="-"/>
            </a:pPr>
            <a:r>
              <a:rPr lang="en"/>
              <a:t>If switch knows, switch directly sends the message to Bob</a:t>
            </a:r>
            <a:endParaRPr/>
          </a:p>
          <a:p>
            <a:pPr indent="-298450" lvl="1" marL="914400" rtl="0" algn="l">
              <a:spcBef>
                <a:spcPts val="0"/>
              </a:spcBef>
              <a:spcAft>
                <a:spcPts val="0"/>
              </a:spcAft>
              <a:buSzPts val="1100"/>
              <a:buChar char="-"/>
            </a:pPr>
            <a:r>
              <a:rPr lang="en"/>
              <a:t>Otherwise, broadcast the message to everyone</a:t>
            </a:r>
            <a:endParaRPr/>
          </a:p>
          <a:p>
            <a:pPr indent="-298450" lvl="0" marL="457200" rtl="0" algn="l">
              <a:spcBef>
                <a:spcPts val="0"/>
              </a:spcBef>
              <a:spcAft>
                <a:spcPts val="0"/>
              </a:spcAft>
              <a:buSzPts val="1100"/>
              <a:buChar char="-"/>
            </a:pPr>
            <a:r>
              <a:rPr lang="en"/>
              <a:t>Less likely to spoof -&gt; larger cache, less broadcasts</a:t>
            </a:r>
            <a:endParaRPr/>
          </a:p>
          <a:p>
            <a:pPr indent="-298450" lvl="0" marL="457200" rtl="0" algn="l">
              <a:spcBef>
                <a:spcPts val="0"/>
              </a:spcBef>
              <a:spcAft>
                <a:spcPts val="0"/>
              </a:spcAft>
              <a:buSzPts val="1100"/>
              <a:buChar char="-"/>
            </a:pPr>
            <a:r>
              <a:rPr lang="en"/>
              <a:t>VLANs broadcast within VLANs</a:t>
            </a:r>
            <a:endParaRPr/>
          </a:p>
          <a:p>
            <a:pPr indent="-298450" lvl="1" marL="914400" rtl="0" algn="l">
              <a:spcBef>
                <a:spcPts val="0"/>
              </a:spcBef>
              <a:spcAft>
                <a:spcPts val="0"/>
              </a:spcAft>
              <a:buSzPts val="1100"/>
              <a:buChar char="-"/>
            </a:pPr>
            <a:r>
              <a:rPr lang="en"/>
              <a:t>Why virtual? -&gt; Technically still one LAN</a:t>
            </a:r>
            <a:endParaRPr/>
          </a:p>
          <a:p>
            <a:pPr indent="-298450" lvl="1" marL="914400" rtl="0" algn="l">
              <a:spcBef>
                <a:spcPts val="0"/>
              </a:spcBef>
              <a:spcAft>
                <a:spcPts val="0"/>
              </a:spcAft>
              <a:buSzPts val="1100"/>
              <a:buChar char="-"/>
            </a:pPr>
            <a:r>
              <a:rPr lang="en"/>
              <a:t>Why? Maybe you’re at the dentist: split your own WiFi and guest WiFi</a:t>
            </a:r>
            <a:endParaRPr/>
          </a:p>
          <a:p>
            <a:pPr indent="-298450" lvl="0" marL="457200" rtl="0" algn="l">
              <a:spcBef>
                <a:spcPts val="0"/>
              </a:spcBef>
              <a:spcAft>
                <a:spcPts val="0"/>
              </a:spcAft>
              <a:buSzPts val="1100"/>
              <a:buChar char="-"/>
            </a:pPr>
            <a:r>
              <a:rPr lang="en"/>
              <a:t>Arpwatch is a software level fix -&gt; sit on the network and can detect</a:t>
            </a:r>
            <a:endParaRPr/>
          </a:p>
          <a:p>
            <a:pPr indent="-298450" lvl="1" marL="914400" rtl="0" algn="l">
              <a:spcBef>
                <a:spcPts val="0"/>
              </a:spcBef>
              <a:spcAft>
                <a:spcPts val="0"/>
              </a:spcAft>
              <a:buSzPts val="1100"/>
              <a:buChar char="-"/>
            </a:pPr>
            <a:r>
              <a:rPr lang="en"/>
              <a:t>Two responses that came in? Weird</a:t>
            </a:r>
            <a:endParaRPr/>
          </a:p>
          <a:p>
            <a:pPr indent="-298450" lvl="1" marL="914400" rtl="0" algn="l">
              <a:spcBef>
                <a:spcPts val="0"/>
              </a:spcBef>
              <a:spcAft>
                <a:spcPts val="0"/>
              </a:spcAft>
              <a:buSzPts val="1100"/>
              <a:buChar char="-"/>
            </a:pPr>
            <a:r>
              <a:rPr lang="en"/>
              <a:t>One computer keeps answering for everything else… also weird</a:t>
            </a:r>
            <a:endParaRPr/>
          </a:p>
          <a:p>
            <a:pPr indent="-298450" lvl="0" marL="457200" rtl="0" algn="l">
              <a:spcBef>
                <a:spcPts val="0"/>
              </a:spcBef>
              <a:spcAft>
                <a:spcPts val="0"/>
              </a:spcAft>
              <a:buSzPts val="1100"/>
              <a:buChar char="-"/>
            </a:pPr>
            <a:r>
              <a:rPr lang="en"/>
              <a:t>These aren’t perfect -&gt; upper layers will provide more security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dd7230b6bd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dd7230b6bd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25 min - 1:05</a:t>
            </a:r>
            <a:endParaRPr/>
          </a:p>
          <a:p>
            <a:pPr indent="0" lvl="0" marL="0" rtl="0" algn="l">
              <a:spcBef>
                <a:spcPts val="0"/>
              </a:spcBef>
              <a:spcAft>
                <a:spcPts val="0"/>
              </a:spcAft>
              <a:buNone/>
            </a:pPr>
            <a:r>
              <a:rPr lang="en"/>
              <a:t>Done with first protocol! Now you can say you know (A)ARP!</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dd7230b6bd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dd7230b6bd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we set up when you first connect to the network?</a:t>
            </a:r>
            <a:endParaRPr/>
          </a:p>
          <a:p>
            <a:pPr indent="0" lvl="0" marL="0" rtl="0" algn="l">
              <a:spcBef>
                <a:spcPts val="0"/>
              </a:spcBef>
              <a:spcAft>
                <a:spcPts val="0"/>
              </a:spcAft>
              <a:buNone/>
            </a:pPr>
            <a:r>
              <a:rPr lang="en"/>
              <a:t>Post office: set up your mailing address, figure out where your nearest post office is to deliver mail</a:t>
            </a:r>
            <a:endParaRPr/>
          </a:p>
          <a:p>
            <a:pPr indent="-298450" lvl="0" marL="457200" rtl="0" algn="l">
              <a:spcBef>
                <a:spcPts val="0"/>
              </a:spcBef>
              <a:spcAft>
                <a:spcPts val="0"/>
              </a:spcAft>
              <a:buSzPts val="1100"/>
              <a:buChar char="-"/>
            </a:pPr>
            <a:r>
              <a:rPr lang="en"/>
              <a:t>Post office is a router</a:t>
            </a:r>
            <a:endParaRPr/>
          </a:p>
          <a:p>
            <a:pPr indent="-298450" lvl="0" marL="457200" rtl="0" algn="l">
              <a:spcBef>
                <a:spcPts val="0"/>
              </a:spcBef>
              <a:spcAft>
                <a:spcPts val="0"/>
              </a:spcAft>
              <a:buSzPts val="1100"/>
              <a:buChar char="-"/>
            </a:pPr>
            <a:r>
              <a:rPr lang="en"/>
              <a:t>DNS: domain name -&gt; IP address</a:t>
            </a:r>
            <a:endParaRPr/>
          </a:p>
          <a:p>
            <a:pPr indent="-298450" lvl="1" marL="914400" rtl="0" algn="l">
              <a:spcBef>
                <a:spcPts val="0"/>
              </a:spcBef>
              <a:spcAft>
                <a:spcPts val="0"/>
              </a:spcAft>
              <a:buSzPts val="1100"/>
              <a:buChar char="-"/>
            </a:pPr>
            <a:r>
              <a:rPr lang="en"/>
              <a:t>Address book lookup</a:t>
            </a:r>
            <a:endParaRPr/>
          </a:p>
          <a:p>
            <a:pPr indent="-298450" lvl="1" marL="914400" rtl="0" algn="l">
              <a:spcBef>
                <a:spcPts val="0"/>
              </a:spcBef>
              <a:spcAft>
                <a:spcPts val="0"/>
              </a:spcAft>
              <a:buSzPts val="1100"/>
              <a:buChar char="-"/>
            </a:pPr>
            <a:r>
              <a:rPr lang="en"/>
              <a:t>You know who you want to send it to (ie: google.com, but you don’t know the address)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e60c7b3374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e60c7b3374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You don’t know who to ask (so you broadcast to LAN)</a:t>
            </a:r>
            <a:endParaRPr/>
          </a:p>
          <a:p>
            <a:pPr indent="-298450" lvl="0" marL="457200" rtl="0" algn="l">
              <a:spcBef>
                <a:spcPts val="0"/>
              </a:spcBef>
              <a:spcAft>
                <a:spcPts val="0"/>
              </a:spcAft>
              <a:buSzPts val="1100"/>
              <a:buAutoNum type="arabicPeriod"/>
            </a:pPr>
            <a:r>
              <a:rPr lang="en"/>
              <a:t>In theory, multiple people can respond</a:t>
            </a:r>
            <a:endParaRPr/>
          </a:p>
          <a:p>
            <a:pPr indent="-298450" lvl="0" marL="457200" rtl="0" algn="l">
              <a:spcBef>
                <a:spcPts val="0"/>
              </a:spcBef>
              <a:spcAft>
                <a:spcPts val="0"/>
              </a:spcAft>
              <a:buSzPts val="1100"/>
              <a:buAutoNum type="arabicPeriod"/>
            </a:pPr>
            <a:r>
              <a:rPr lang="en"/>
              <a:t>Unchosen ones can be discarded (and used for other people)</a:t>
            </a:r>
            <a:endParaRPr/>
          </a:p>
          <a:p>
            <a:pPr indent="-298450" lvl="0" marL="457200" rtl="0" algn="l">
              <a:spcBef>
                <a:spcPts val="0"/>
              </a:spcBef>
              <a:spcAft>
                <a:spcPts val="0"/>
              </a:spcAft>
              <a:buSzPts val="1100"/>
              <a:buAutoNum type="arabicPeriod"/>
            </a:pPr>
            <a:r>
              <a:rPr lang="en"/>
              <a:t>Like a confirmation email</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e60c7b3374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e60c7b3374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e60c7b3374_1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e60c7b3374_1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e60c7b3374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e60c7b3374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e60c7b3374_1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e60c7b3374_1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e60c7b3374_1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e60c7b3374_1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e60c7b3374_1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e60c7b3374_1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Felt similar to ARP right? So it has similar attacks as well</a:t>
            </a:r>
            <a:endParaRPr/>
          </a:p>
          <a:p>
            <a:pPr indent="-298450" lvl="0" marL="457200" rtl="0" algn="l">
              <a:spcBef>
                <a:spcPts val="0"/>
              </a:spcBef>
              <a:spcAft>
                <a:spcPts val="0"/>
              </a:spcAft>
              <a:buSzPts val="1100"/>
              <a:buChar char="-"/>
            </a:pPr>
            <a:r>
              <a:rPr lang="en"/>
              <a:t>No crypto, etc.</a:t>
            </a:r>
            <a:endParaRPr/>
          </a:p>
          <a:p>
            <a:pPr indent="-298450" lvl="0" marL="457200" rtl="0" algn="l">
              <a:spcBef>
                <a:spcPts val="0"/>
              </a:spcBef>
              <a:spcAft>
                <a:spcPts val="0"/>
              </a:spcAft>
              <a:buSzPts val="1100"/>
              <a:buChar char="-"/>
            </a:pPr>
            <a:r>
              <a:rPr lang="en"/>
              <a:t>In general, accepts first one (why wait?)</a:t>
            </a:r>
            <a:endParaRPr/>
          </a:p>
          <a:p>
            <a:pPr indent="-298450" lvl="1" marL="914400" rtl="0" algn="l">
              <a:spcBef>
                <a:spcPts val="0"/>
              </a:spcBef>
              <a:spcAft>
                <a:spcPts val="0"/>
              </a:spcAft>
              <a:buSzPts val="1100"/>
              <a:buChar char="-"/>
            </a:pPr>
            <a:r>
              <a:rPr lang="en"/>
              <a:t>Implementation dependent</a:t>
            </a:r>
            <a:endParaRPr/>
          </a:p>
          <a:p>
            <a:pPr indent="-298450" lvl="0" marL="457200" rtl="0" algn="l">
              <a:spcBef>
                <a:spcPts val="0"/>
              </a:spcBef>
              <a:spcAft>
                <a:spcPts val="0"/>
              </a:spcAft>
              <a:buClr>
                <a:schemeClr val="dk1"/>
              </a:buClr>
              <a:buSzPts val="1100"/>
              <a:buChar char="-"/>
            </a:pPr>
            <a:r>
              <a:rPr lang="en">
                <a:solidFill>
                  <a:schemeClr val="dk1"/>
                </a:solidFill>
              </a:rPr>
              <a:t>Alice only broadcasts to the LAN so Mallory has to be in the LAN</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Connected by the wires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Mallory is originally just an on-path attacker -&gt; she only needs to hear Alice’s broadcast</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Then, she gets upgraded to MITM</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Can trick Alice into thinking Mallory is the post office (router)</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Can trick Alice into thinking Mallory is the address book (DNS server)</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dd7230b6bd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dd7230b6bd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Designed to be simple/efficient -&gt; basic network, low latency, low overhead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Crypto was later in higher layers (security was not designed in from the start)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dd7230b6bd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dd7230b6bd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When you first move in, it’s hard to trust anybody -&gt; you don’t know your neighbors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dd7230b6bd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dd7230b6bd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 min - 1:20</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dd7230b6bd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dd7230b6bd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Won’t discuss the hardware</a:t>
            </a:r>
            <a:endParaRPr/>
          </a:p>
          <a:p>
            <a:pPr indent="-298450" lvl="0" marL="457200" rtl="0" algn="l">
              <a:spcBef>
                <a:spcPts val="0"/>
              </a:spcBef>
              <a:spcAft>
                <a:spcPts val="0"/>
              </a:spcAft>
              <a:buSzPts val="1100"/>
              <a:buChar char="-"/>
            </a:pPr>
            <a:r>
              <a:rPr lang="en"/>
              <a:t>Wireless connects all the machines to Berkeley Visitor or eduroam (whatever is currently working)</a:t>
            </a:r>
            <a:endParaRPr/>
          </a:p>
          <a:p>
            <a:pPr indent="-298450" lvl="0" marL="457200" rtl="0" algn="l">
              <a:spcBef>
                <a:spcPts val="0"/>
              </a:spcBef>
              <a:spcAft>
                <a:spcPts val="0"/>
              </a:spcAft>
              <a:buSzPts val="1100"/>
              <a:buChar char="-"/>
            </a:pPr>
            <a:r>
              <a:rPr lang="en"/>
              <a:t>Now, you don’t need wires to connect machines</a:t>
            </a:r>
            <a:endParaRPr/>
          </a:p>
          <a:p>
            <a:pPr indent="-298450" lvl="0" marL="457200" rtl="0" algn="l">
              <a:spcBef>
                <a:spcPts val="0"/>
              </a:spcBef>
              <a:spcAft>
                <a:spcPts val="0"/>
              </a:spcAft>
              <a:buSzPts val="1100"/>
              <a:buChar char="-"/>
            </a:pPr>
            <a:r>
              <a:rPr lang="en"/>
              <a:t>Access point sits in the LAN</a:t>
            </a:r>
            <a:endParaRPr/>
          </a:p>
          <a:p>
            <a:pPr indent="-298450" lvl="0" marL="457200" rtl="0" algn="l">
              <a:spcBef>
                <a:spcPts val="0"/>
              </a:spcBef>
              <a:spcAft>
                <a:spcPts val="0"/>
              </a:spcAft>
              <a:buSzPts val="1100"/>
              <a:buChar char="-"/>
            </a:pPr>
            <a:r>
              <a:rPr lang="en"/>
              <a:t>SSID: like eduroam</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dd7230b6bd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dd7230b6bd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WiFi with </a:t>
            </a:r>
            <a:r>
              <a:rPr lang="en"/>
              <a:t>~</a:t>
            </a:r>
            <a:r>
              <a:rPr lang="en"/>
              <a:t>crypto</a:t>
            </a:r>
            <a:r>
              <a:rPr lang="en"/>
              <a:t>~</a:t>
            </a:r>
            <a:endParaRPr/>
          </a:p>
          <a:p>
            <a:pPr indent="-298450" lvl="0" marL="457200" rtl="0" algn="l">
              <a:spcBef>
                <a:spcPts val="0"/>
              </a:spcBef>
              <a:spcAft>
                <a:spcPts val="0"/>
              </a:spcAft>
              <a:buSzPts val="1100"/>
              <a:buChar char="-"/>
            </a:pPr>
            <a:r>
              <a:rPr lang="en"/>
              <a:t>Encrypted so if you don’t know the password, you can’t snoop and read messages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e60c7b3374_4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e60c7b3374_4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What’s the overview? </a:t>
            </a:r>
            <a:r>
              <a:rPr lang="en">
                <a:solidFill>
                  <a:schemeClr val="dk1"/>
                </a:solidFill>
              </a:rPr>
              <a:t>Protocol between client and access point</a:t>
            </a:r>
            <a:endParaRPr/>
          </a:p>
          <a:p>
            <a:pPr indent="-298450" lvl="1" marL="914400" rtl="0" algn="l">
              <a:spcBef>
                <a:spcPts val="0"/>
              </a:spcBef>
              <a:spcAft>
                <a:spcPts val="0"/>
              </a:spcAft>
              <a:buSzPts val="1100"/>
              <a:buChar char="-"/>
            </a:pPr>
            <a:r>
              <a:rPr lang="en"/>
              <a:t>Client has password and wants to join the network (need to check if they’re authorized)</a:t>
            </a:r>
            <a:endParaRPr/>
          </a:p>
          <a:p>
            <a:pPr indent="-298450" lvl="1" marL="914400" rtl="0" algn="l">
              <a:spcBef>
                <a:spcPts val="0"/>
              </a:spcBef>
              <a:spcAft>
                <a:spcPts val="0"/>
              </a:spcAft>
              <a:buSzPts val="1100"/>
              <a:buChar char="-"/>
            </a:pPr>
            <a:r>
              <a:rPr lang="en"/>
              <a:t>AP has the ability to give it keys to join, is already on the LAN, and their entire job (</a:t>
            </a:r>
            <a:r>
              <a:rPr lang="en" strike="sngStrike"/>
              <a:t>sob</a:t>
            </a:r>
            <a:r>
              <a:rPr lang="en"/>
              <a:t>) is to sit and wait, and then give people access (if they’re authorized)</a:t>
            </a:r>
            <a:endParaRPr/>
          </a:p>
          <a:p>
            <a:pPr indent="-298450" lvl="0" marL="457200" rtl="0" algn="l">
              <a:spcBef>
                <a:spcPts val="0"/>
              </a:spcBef>
              <a:spcAft>
                <a:spcPts val="0"/>
              </a:spcAft>
              <a:buSzPts val="1100"/>
              <a:buAutoNum type="arabicPeriod"/>
            </a:pPr>
            <a:r>
              <a:rPr lang="en"/>
              <a:t>Client knows password. Can they directly send it to AP to prove they know it? (No, on-path attackers)</a:t>
            </a:r>
            <a:endParaRPr/>
          </a:p>
          <a:p>
            <a:pPr indent="-298450" lvl="1" marL="914400" rtl="0" algn="l">
              <a:spcBef>
                <a:spcPts val="0"/>
              </a:spcBef>
              <a:spcAft>
                <a:spcPts val="0"/>
              </a:spcAft>
              <a:buSzPts val="1100"/>
              <a:buChar char="○"/>
            </a:pPr>
            <a:r>
              <a:rPr lang="en"/>
              <a:t>How to prove?</a:t>
            </a:r>
            <a:endParaRPr/>
          </a:p>
          <a:p>
            <a:pPr indent="-298450" lvl="0" marL="457200" rtl="0" algn="l">
              <a:spcBef>
                <a:spcPts val="0"/>
              </a:spcBef>
              <a:spcAft>
                <a:spcPts val="0"/>
              </a:spcAft>
              <a:buSzPts val="1100"/>
              <a:buAutoNum type="arabicPeriod"/>
            </a:pPr>
            <a:r>
              <a:rPr lang="en"/>
              <a:t>Deterministic algorithm like PBKDF2 (huh wonder where that sounds familiar from!) with SSID</a:t>
            </a:r>
            <a:endParaRPr/>
          </a:p>
          <a:p>
            <a:pPr indent="-298450" lvl="1" marL="914400" rtl="0" algn="l">
              <a:spcBef>
                <a:spcPts val="0"/>
              </a:spcBef>
              <a:spcAft>
                <a:spcPts val="0"/>
              </a:spcAft>
              <a:buSzPts val="1100"/>
              <a:buChar char="○"/>
            </a:pPr>
            <a:r>
              <a:rPr lang="en"/>
              <a:t>Why SSID? Two different networks with the same password will still have different PSKs.</a:t>
            </a:r>
            <a:endParaRPr/>
          </a:p>
          <a:p>
            <a:pPr indent="-298450" lvl="0" marL="457200" rtl="0" algn="l">
              <a:spcBef>
                <a:spcPts val="0"/>
              </a:spcBef>
              <a:spcAft>
                <a:spcPts val="0"/>
              </a:spcAft>
              <a:buSzPts val="1100"/>
              <a:buAutoNum type="arabicPeriod"/>
            </a:pPr>
            <a:r>
              <a:rPr lang="en"/>
              <a:t>Nonces add randomness</a:t>
            </a:r>
            <a:endParaRPr/>
          </a:p>
          <a:p>
            <a:pPr indent="-298450" lvl="0" marL="457200" rtl="0" algn="l">
              <a:spcBef>
                <a:spcPts val="0"/>
              </a:spcBef>
              <a:spcAft>
                <a:spcPts val="0"/>
              </a:spcAft>
              <a:buSzPts val="1100"/>
              <a:buAutoNum type="arabicPeriod"/>
            </a:pPr>
            <a:r>
              <a:rPr lang="en"/>
              <a:t>Another </a:t>
            </a:r>
            <a:r>
              <a:rPr lang="en"/>
              <a:t>deterministic</a:t>
            </a:r>
            <a:r>
              <a:rPr lang="en"/>
              <a:t> algorithm, </a:t>
            </a:r>
            <a:r>
              <a:rPr lang="en"/>
              <a:t>pseudo</a:t>
            </a:r>
            <a:r>
              <a:rPr lang="en"/>
              <a:t>-random function  -&gt; outputs PTK (blue +  red = purple)</a:t>
            </a:r>
            <a:endParaRPr/>
          </a:p>
          <a:p>
            <a:pPr indent="-298450" lvl="0" marL="457200" rtl="0" algn="l">
              <a:spcBef>
                <a:spcPts val="0"/>
              </a:spcBef>
              <a:spcAft>
                <a:spcPts val="0"/>
              </a:spcAft>
              <a:buSzPts val="1100"/>
              <a:buAutoNum type="arabicPeriod"/>
            </a:pPr>
            <a:r>
              <a:rPr lang="en"/>
              <a:t>Rename MAC (message authentication code) to MIC (message </a:t>
            </a:r>
            <a:r>
              <a:rPr lang="en"/>
              <a:t>integrity</a:t>
            </a:r>
            <a:r>
              <a:rPr lang="en"/>
              <a:t> code) just to differentiate from MAC address</a:t>
            </a:r>
            <a:endParaRPr/>
          </a:p>
          <a:p>
            <a:pPr indent="-298450" lvl="0" marL="457200" rtl="0" algn="l">
              <a:spcBef>
                <a:spcPts val="0"/>
              </a:spcBef>
              <a:spcAft>
                <a:spcPts val="0"/>
              </a:spcAft>
              <a:buSzPts val="1100"/>
              <a:buAutoNum type="arabicPeriod"/>
            </a:pPr>
            <a:r>
              <a:rPr lang="en"/>
              <a:t>You’ve proven who you are. AP encrypts GTK.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not stop at PSK? Everyone would share the same key! -&gt; PTK is different per user</a:t>
            </a:r>
            <a:endParaRPr/>
          </a:p>
          <a:p>
            <a:pPr indent="0" lvl="0" marL="0" rtl="0" algn="l">
              <a:spcBef>
                <a:spcPts val="0"/>
              </a:spcBef>
              <a:spcAft>
                <a:spcPts val="0"/>
              </a:spcAft>
              <a:buNone/>
            </a:pPr>
            <a:r>
              <a:rPr lang="en"/>
              <a:t>Notice how PSK and PTK are never sent!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[Out of Scope - but interesting (~Ashley)]</a:t>
            </a:r>
            <a:endParaRPr/>
          </a:p>
          <a:p>
            <a:pPr indent="0" lvl="0" marL="0" rtl="0" algn="l">
              <a:spcBef>
                <a:spcPts val="0"/>
              </a:spcBef>
              <a:spcAft>
                <a:spcPts val="0"/>
              </a:spcAft>
              <a:buNone/>
            </a:pPr>
            <a:r>
              <a:rPr lang="en"/>
              <a:t>What actually is a PTK?</a:t>
            </a:r>
            <a:endParaRPr/>
          </a:p>
          <a:p>
            <a:pPr indent="-298450" lvl="0" marL="457200" rtl="0" algn="l">
              <a:spcBef>
                <a:spcPts val="0"/>
              </a:spcBef>
              <a:spcAft>
                <a:spcPts val="0"/>
              </a:spcAft>
              <a:buSzPts val="1100"/>
              <a:buChar char="-"/>
            </a:pPr>
            <a:r>
              <a:rPr lang="en"/>
              <a:t>PTK (512 bits) is broken up into multiple different keys of which include:</a:t>
            </a:r>
            <a:endParaRPr/>
          </a:p>
          <a:p>
            <a:pPr indent="-298450" lvl="1" marL="914400" rtl="0" algn="l">
              <a:spcBef>
                <a:spcPts val="0"/>
              </a:spcBef>
              <a:spcAft>
                <a:spcPts val="0"/>
              </a:spcAft>
              <a:buSzPts val="1100"/>
              <a:buChar char="-"/>
            </a:pPr>
            <a:r>
              <a:rPr lang="en"/>
              <a:t>[256 bits] Temporal Key (TK), which is actually used for encrypting the data traffic afterwards</a:t>
            </a:r>
            <a:endParaRPr/>
          </a:p>
          <a:p>
            <a:pPr indent="-298450" lvl="2" marL="1371600" rtl="0" algn="l">
              <a:spcBef>
                <a:spcPts val="0"/>
              </a:spcBef>
              <a:spcAft>
                <a:spcPts val="0"/>
              </a:spcAft>
              <a:buSzPts val="1100"/>
              <a:buChar char="-"/>
            </a:pPr>
            <a:r>
              <a:rPr lang="en"/>
              <a:t>TK is split into the encrypting and MAC keys</a:t>
            </a:r>
            <a:endParaRPr/>
          </a:p>
          <a:p>
            <a:pPr indent="-298450" lvl="2" marL="1371600" rtl="0" algn="l">
              <a:spcBef>
                <a:spcPts val="0"/>
              </a:spcBef>
              <a:spcAft>
                <a:spcPts val="0"/>
              </a:spcAft>
              <a:buSzPts val="1100"/>
              <a:buChar char="-"/>
            </a:pPr>
            <a:r>
              <a:rPr lang="en"/>
              <a:t>128 bits for encryption</a:t>
            </a:r>
            <a:endParaRPr/>
          </a:p>
          <a:p>
            <a:pPr indent="-298450" lvl="2" marL="1371600" rtl="0" algn="l">
              <a:spcBef>
                <a:spcPts val="0"/>
              </a:spcBef>
              <a:spcAft>
                <a:spcPts val="0"/>
              </a:spcAft>
              <a:buSzPts val="1100"/>
              <a:buChar char="-"/>
            </a:pPr>
            <a:r>
              <a:rPr lang="en"/>
              <a:t>128 bits for MAC (64 bit key for MAC on messages sent from client -&gt; AP, 64 bit key for MAC on messages sent from AP to client)</a:t>
            </a:r>
            <a:endParaRPr/>
          </a:p>
          <a:p>
            <a:pPr indent="-298450" lvl="1" marL="914400" rtl="0" algn="l">
              <a:spcBef>
                <a:spcPts val="0"/>
              </a:spcBef>
              <a:spcAft>
                <a:spcPts val="0"/>
              </a:spcAft>
              <a:buSzPts val="1100"/>
              <a:buChar char="-"/>
            </a:pPr>
            <a:r>
              <a:rPr lang="en"/>
              <a:t>[128 bits] Key Confirmation Key (KCK), which is used as the key for the MICs in the handshake</a:t>
            </a:r>
            <a:endParaRPr/>
          </a:p>
          <a:p>
            <a:pPr indent="-298450" lvl="1" marL="914400" rtl="0" algn="l">
              <a:spcBef>
                <a:spcPts val="0"/>
              </a:spcBef>
              <a:spcAft>
                <a:spcPts val="0"/>
              </a:spcAft>
              <a:buSzPts val="1100"/>
              <a:buChar char="-"/>
            </a:pPr>
            <a:r>
              <a:rPr lang="en"/>
              <a:t>[128 bits] Key Encryption Key (KEK), which encrypts the GTK</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dd7230b6bd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dd7230b6bd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50 min - 1:30</a:t>
            </a:r>
            <a:endParaRPr/>
          </a:p>
          <a:p>
            <a:pPr indent="0" lvl="0" marL="0" rtl="0" algn="l">
              <a:spcBef>
                <a:spcPts val="0"/>
              </a:spcBef>
              <a:spcAft>
                <a:spcPts val="0"/>
              </a:spcAft>
              <a:buNone/>
            </a:pPr>
            <a:r>
              <a:rPr lang="en"/>
              <a:t>Functional!</a:t>
            </a:r>
            <a:endParaRPr/>
          </a:p>
          <a:p>
            <a:pPr indent="-298450" lvl="0" marL="457200" rtl="0" algn="l">
              <a:spcBef>
                <a:spcPts val="0"/>
              </a:spcBef>
              <a:spcAft>
                <a:spcPts val="0"/>
              </a:spcAft>
              <a:buSzPts val="1100"/>
              <a:buChar char="-"/>
            </a:pPr>
            <a:r>
              <a:rPr lang="en"/>
              <a:t>Everyone can connect if they have the password (and only if they have the password)</a:t>
            </a:r>
            <a:endParaRPr/>
          </a:p>
          <a:p>
            <a:pPr indent="-298450" lvl="0" marL="457200" rtl="0" algn="l">
              <a:spcBef>
                <a:spcPts val="0"/>
              </a:spcBef>
              <a:spcAft>
                <a:spcPts val="0"/>
              </a:spcAft>
              <a:buSzPts val="1100"/>
              <a:buChar char="-"/>
            </a:pPr>
            <a:r>
              <a:rPr lang="en"/>
              <a:t>Messages sent over the network are encrypted with keys (PTK)</a:t>
            </a:r>
            <a:endParaRPr/>
          </a:p>
          <a:p>
            <a:pPr indent="-298450" lvl="0" marL="457200" rtl="0" algn="l">
              <a:spcBef>
                <a:spcPts val="0"/>
              </a:spcBef>
              <a:spcAft>
                <a:spcPts val="0"/>
              </a:spcAft>
              <a:buSzPts val="1100"/>
              <a:buChar char="-"/>
            </a:pPr>
            <a:r>
              <a:rPr lang="en"/>
              <a:t>An attacker who does not know the Wi-Fi password cannot learn the keys (everything is derived from the password)!</a:t>
            </a:r>
            <a:endParaRPr/>
          </a:p>
          <a:p>
            <a:pPr indent="-298450" lvl="0" marL="457200" rtl="0" algn="l">
              <a:spcBef>
                <a:spcPts val="0"/>
              </a:spcBef>
              <a:spcAft>
                <a:spcPts val="0"/>
              </a:spcAft>
              <a:buSzPts val="1100"/>
              <a:buChar char="-"/>
            </a:pPr>
            <a:r>
              <a:rPr lang="en"/>
              <a:t>GTK Broadcast: ARP, DHCP</a:t>
            </a:r>
            <a:endParaRPr/>
          </a:p>
          <a:p>
            <a:pPr indent="-298450" lvl="0" marL="457200" rtl="0" algn="l">
              <a:spcBef>
                <a:spcPts val="0"/>
              </a:spcBef>
              <a:spcAft>
                <a:spcPts val="0"/>
              </a:spcAft>
              <a:buSzPts val="1100"/>
              <a:buChar char="-"/>
            </a:pPr>
            <a:r>
              <a:rPr lang="en"/>
              <a:t>PTK: </a:t>
            </a:r>
            <a:r>
              <a:rPr lang="en">
                <a:solidFill>
                  <a:schemeClr val="dk1"/>
                </a:solidFill>
              </a:rPr>
              <a:t>If you want to talk to someone over the network, you’d send it to the access point encrypted via the PTK</a:t>
            </a:r>
            <a:endParaRPr>
              <a:solidFill>
                <a:schemeClr val="dk1"/>
              </a:solidFill>
            </a:endParaRPr>
          </a:p>
          <a:p>
            <a:pPr indent="-298450" lvl="0" marL="457200" rtl="0" algn="l">
              <a:spcBef>
                <a:spcPts val="0"/>
              </a:spcBef>
              <a:spcAft>
                <a:spcPts val="0"/>
              </a:spcAft>
              <a:buSzPts val="1100"/>
              <a:buChar char="-"/>
            </a:pPr>
            <a:r>
              <a:rPr lang="en"/>
              <a:t>Talk to someone over the network? Either broadcast via GTK or requires application-layer security or higher layer security</a:t>
            </a:r>
            <a:endParaRPr/>
          </a:p>
          <a:p>
            <a:pPr indent="0" lvl="0" marL="0" rtl="0" algn="l">
              <a:spcBef>
                <a:spcPts val="0"/>
              </a:spcBef>
              <a:spcAft>
                <a:spcPts val="0"/>
              </a:spcAft>
              <a:buNone/>
            </a:pPr>
            <a:r>
              <a:rPr lang="en"/>
              <a:t>This is kind of slow… though.</a:t>
            </a:r>
            <a:endParaRPr/>
          </a:p>
          <a:p>
            <a:pPr indent="-298450" lvl="0" marL="457200" rtl="0" algn="l">
              <a:spcBef>
                <a:spcPts val="0"/>
              </a:spcBef>
              <a:spcAft>
                <a:spcPts val="0"/>
              </a:spcAft>
              <a:buSzPts val="1100"/>
              <a:buChar char="-"/>
            </a:pPr>
            <a:r>
              <a:rPr lang="en"/>
              <a:t>Need to send lots of requests -&gt; lots of back and forth arrows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e60c7b3374_1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e60c7b3374_1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hr - 1:40</a:t>
            </a:r>
            <a:endParaRPr/>
          </a:p>
          <a:p>
            <a:pPr indent="0" lvl="0" marL="0" rtl="0" algn="l">
              <a:spcBef>
                <a:spcPts val="0"/>
              </a:spcBef>
              <a:spcAft>
                <a:spcPts val="0"/>
              </a:spcAft>
              <a:buNone/>
            </a:pPr>
            <a:r>
              <a:rPr lang="en"/>
              <a:t>IRL, we optimize.</a:t>
            </a:r>
            <a:endParaRPr/>
          </a:p>
          <a:p>
            <a:pPr indent="0" lvl="0" marL="0" rtl="0" algn="l">
              <a:spcBef>
                <a:spcPts val="0"/>
              </a:spcBef>
              <a:spcAft>
                <a:spcPts val="0"/>
              </a:spcAft>
              <a:buNone/>
            </a:pPr>
            <a:r>
              <a:rPr lang="en"/>
              <a:t>Steps 1-3 are the same.</a:t>
            </a:r>
            <a:endParaRPr/>
          </a:p>
          <a:p>
            <a:pPr indent="0" lvl="0" marL="0" rtl="0" algn="l">
              <a:spcBef>
                <a:spcPts val="0"/>
              </a:spcBef>
              <a:spcAft>
                <a:spcPts val="0"/>
              </a:spcAft>
              <a:buNone/>
            </a:pPr>
            <a:r>
              <a:rPr lang="en"/>
              <a:t>Step 4: Used to send SNonce, but client already has everything to derive PTK (they generate SNonce)</a:t>
            </a:r>
            <a:endParaRPr/>
          </a:p>
          <a:p>
            <a:pPr indent="-298450" lvl="0" marL="457200" rtl="0" algn="l">
              <a:spcBef>
                <a:spcPts val="0"/>
              </a:spcBef>
              <a:spcAft>
                <a:spcPts val="0"/>
              </a:spcAft>
              <a:buSzPts val="1100"/>
              <a:buChar char="-"/>
            </a:pPr>
            <a:r>
              <a:rPr lang="en"/>
              <a:t>They know PSK since they derived it, they </a:t>
            </a:r>
            <a:r>
              <a:rPr lang="en"/>
              <a:t>received</a:t>
            </a:r>
            <a:r>
              <a:rPr lang="en"/>
              <a:t> ANonce</a:t>
            </a:r>
            <a:endParaRPr/>
          </a:p>
          <a:p>
            <a:pPr indent="-298450" lvl="0" marL="457200" rtl="0" algn="l">
              <a:spcBef>
                <a:spcPts val="0"/>
              </a:spcBef>
              <a:spcAft>
                <a:spcPts val="0"/>
              </a:spcAft>
              <a:buSzPts val="1100"/>
              <a:buChar char="-"/>
            </a:pPr>
            <a:r>
              <a:rPr lang="en"/>
              <a:t>This allows them to send the MIC on their SNonce</a:t>
            </a:r>
            <a:endParaRPr/>
          </a:p>
          <a:p>
            <a:pPr indent="-298450" lvl="0" marL="457200" rtl="0" algn="l">
              <a:spcBef>
                <a:spcPts val="0"/>
              </a:spcBef>
              <a:spcAft>
                <a:spcPts val="0"/>
              </a:spcAft>
              <a:buSzPts val="1100"/>
              <a:buChar char="-"/>
            </a:pPr>
            <a:r>
              <a:rPr lang="en"/>
              <a:t>Saves one message</a:t>
            </a:r>
            <a:endParaRPr/>
          </a:p>
          <a:p>
            <a:pPr indent="0" lvl="0" marL="0" rtl="0" algn="l">
              <a:spcBef>
                <a:spcPts val="0"/>
              </a:spcBef>
              <a:spcAft>
                <a:spcPts val="0"/>
              </a:spcAft>
              <a:buNone/>
            </a:pPr>
            <a:r>
              <a:rPr lang="en"/>
              <a:t>Step 5:</a:t>
            </a:r>
            <a:endParaRPr/>
          </a:p>
          <a:p>
            <a:pPr indent="-298450" lvl="0" marL="457200" rtl="0" algn="l">
              <a:spcBef>
                <a:spcPts val="0"/>
              </a:spcBef>
              <a:spcAft>
                <a:spcPts val="0"/>
              </a:spcAft>
              <a:buSzPts val="1100"/>
              <a:buChar char="-"/>
            </a:pPr>
            <a:r>
              <a:rPr lang="en"/>
              <a:t>Saves another message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Just reducing the number of messages sent back and forth. It takes time to send messages over a network.</a:t>
            </a:r>
            <a:endParaRPr/>
          </a:p>
          <a:p>
            <a:pPr indent="0" lvl="0" marL="0" rtl="0" algn="l">
              <a:spcBef>
                <a:spcPts val="0"/>
              </a:spcBef>
              <a:spcAft>
                <a:spcPts val="0"/>
              </a:spcAft>
              <a:buNone/>
            </a:pPr>
            <a:r>
              <a:rPr lang="en"/>
              <a:t>Symmetric version looks nicer, but this is how it’s done in real life (4-way handshake -&gt; four things being sent: Anonce, SNonce + MIC, MIC + GTK, ACK)</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22ec4538d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22ec4538d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hr 5 min - 1:45</a:t>
            </a:r>
            <a:endParaRPr/>
          </a:p>
          <a:p>
            <a:pPr indent="0" lvl="0" marL="0" rtl="0" algn="l">
              <a:spcBef>
                <a:spcPts val="0"/>
              </a:spcBef>
              <a:spcAft>
                <a:spcPts val="0"/>
              </a:spcAft>
              <a:buNone/>
            </a:pPr>
            <a:r>
              <a:rPr lang="en"/>
              <a:t>Using the more intuitive (symmetric) version when we’re talking about attacks!</a:t>
            </a:r>
            <a:endParaRPr/>
          </a:p>
          <a:p>
            <a:pPr indent="0" lvl="0" marL="0" rtl="0" algn="l">
              <a:spcBef>
                <a:spcPts val="0"/>
              </a:spcBef>
              <a:spcAft>
                <a:spcPts val="0"/>
              </a:spcAft>
              <a:buNone/>
            </a:pPr>
            <a:r>
              <a:rPr lang="en"/>
              <a:t>Must be on the network, know PSK. Send your own nonce!</a:t>
            </a:r>
            <a:endParaRPr/>
          </a:p>
          <a:p>
            <a:pPr indent="0" lvl="0" marL="0" rtl="0" algn="l">
              <a:spcBef>
                <a:spcPts val="0"/>
              </a:spcBef>
              <a:spcAft>
                <a:spcPts val="0"/>
              </a:spcAft>
              <a:buNone/>
            </a:pPr>
            <a:r>
              <a:rPr lang="en"/>
              <a:t>Get upgraded to a MITM!</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2ec4538de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22ec4538de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Why offline?</a:t>
            </a:r>
            <a:endParaRPr/>
          </a:p>
          <a:p>
            <a:pPr indent="-298450" lvl="1" marL="914400" rtl="0" algn="l">
              <a:spcBef>
                <a:spcPts val="0"/>
              </a:spcBef>
              <a:spcAft>
                <a:spcPts val="0"/>
              </a:spcAft>
              <a:buSzPts val="1100"/>
              <a:buChar char="-"/>
            </a:pPr>
            <a:r>
              <a:rPr lang="en"/>
              <a:t>Remember what offline means when we talked about passwords -&gt; you don’t need to attempt it on the server!</a:t>
            </a:r>
            <a:endParaRPr/>
          </a:p>
          <a:p>
            <a:pPr indent="-298450" lvl="1" marL="914400" rtl="0" algn="l">
              <a:spcBef>
                <a:spcPts val="0"/>
              </a:spcBef>
              <a:spcAft>
                <a:spcPts val="0"/>
              </a:spcAft>
              <a:buSzPts val="1100"/>
              <a:buChar char="-"/>
            </a:pPr>
            <a:r>
              <a:rPr lang="en"/>
              <a:t>Online brute-force attack is silly</a:t>
            </a:r>
            <a:endParaRPr/>
          </a:p>
          <a:p>
            <a:pPr indent="-298450" lvl="2" marL="1371600" rtl="0" algn="l">
              <a:spcBef>
                <a:spcPts val="0"/>
              </a:spcBef>
              <a:spcAft>
                <a:spcPts val="0"/>
              </a:spcAft>
              <a:buSzPts val="1100"/>
              <a:buChar char="-"/>
            </a:pPr>
            <a:r>
              <a:rPr lang="en"/>
              <a:t>May just time you out/rate limit</a:t>
            </a:r>
            <a:endParaRPr/>
          </a:p>
          <a:p>
            <a:pPr indent="-298450" lvl="2" marL="1371600" rtl="0" algn="l">
              <a:spcBef>
                <a:spcPts val="0"/>
              </a:spcBef>
              <a:spcAft>
                <a:spcPts val="0"/>
              </a:spcAft>
              <a:buSzPts val="1100"/>
              <a:buChar char="-"/>
            </a:pPr>
            <a:r>
              <a:rPr lang="en"/>
              <a:t>AP can stop you</a:t>
            </a:r>
            <a:endParaRPr/>
          </a:p>
          <a:p>
            <a:pPr indent="-298450" lvl="1" marL="914400" rtl="0" algn="l">
              <a:spcBef>
                <a:spcPts val="0"/>
              </a:spcBef>
              <a:spcAft>
                <a:spcPts val="0"/>
              </a:spcAft>
              <a:buSzPts val="1100"/>
              <a:buChar char="-"/>
            </a:pPr>
            <a:r>
              <a:rPr lang="en"/>
              <a:t>Offline is reasonable -&gt; much more powerful because you don’t need to wait for the AP to tell you whether you’re correct</a:t>
            </a:r>
            <a:endParaRPr/>
          </a:p>
          <a:p>
            <a:pPr indent="-298450" lvl="2" marL="1371600" rtl="0" algn="l">
              <a:spcBef>
                <a:spcPts val="0"/>
              </a:spcBef>
              <a:spcAft>
                <a:spcPts val="0"/>
              </a:spcAft>
              <a:buSzPts val="1100"/>
              <a:buChar char="-"/>
            </a:pPr>
            <a:r>
              <a:rPr lang="en"/>
              <a:t>They can view the handshake</a:t>
            </a:r>
            <a:endParaRPr/>
          </a:p>
          <a:p>
            <a:pPr indent="-298450" lvl="2" marL="1371600" rtl="0" algn="l">
              <a:spcBef>
                <a:spcPts val="0"/>
              </a:spcBef>
              <a:spcAft>
                <a:spcPts val="0"/>
              </a:spcAft>
              <a:buSzPts val="1100"/>
              <a:buChar char="-"/>
            </a:pPr>
            <a:r>
              <a:rPr lang="en"/>
              <a:t>If you can brute force, compare MICs</a:t>
            </a:r>
            <a:endParaRPr/>
          </a:p>
          <a:p>
            <a:pPr indent="-298450" lvl="2" marL="1371600" rtl="0" algn="l">
              <a:spcBef>
                <a:spcPts val="0"/>
              </a:spcBef>
              <a:spcAft>
                <a:spcPts val="0"/>
              </a:spcAft>
              <a:buSzPts val="1100"/>
              <a:buChar char="-"/>
            </a:pPr>
            <a:r>
              <a:rPr lang="en"/>
              <a:t>No longer rate limited by the AP -&gt; you don’t even have to use the AP to check, you just wait until you know</a:t>
            </a:r>
            <a:endParaRPr/>
          </a:p>
          <a:p>
            <a:pPr indent="-298450" lvl="3" marL="1828800" rtl="0" algn="l">
              <a:spcBef>
                <a:spcPts val="0"/>
              </a:spcBef>
              <a:spcAft>
                <a:spcPts val="0"/>
              </a:spcAft>
              <a:buSzPts val="1100"/>
              <a:buChar char="-"/>
            </a:pPr>
            <a:r>
              <a:rPr lang="en"/>
              <a:t>No longer have to keep pinging the AP (“am I right?”)</a:t>
            </a:r>
            <a:endParaRPr/>
          </a:p>
          <a:p>
            <a:pPr indent="-298450" lvl="1" marL="914400" rtl="0" algn="l">
              <a:spcBef>
                <a:spcPts val="0"/>
              </a:spcBef>
              <a:spcAft>
                <a:spcPts val="0"/>
              </a:spcAft>
              <a:buSzPts val="1100"/>
              <a:buChar char="-"/>
            </a:pPr>
            <a:r>
              <a:rPr lang="en"/>
              <a:t>Assume attacker knows the system (Shannon’s maxim)</a:t>
            </a:r>
            <a:endParaRPr/>
          </a:p>
          <a:p>
            <a:pPr indent="-298450" lvl="2" marL="1371600" rtl="0" algn="l">
              <a:spcBef>
                <a:spcPts val="0"/>
              </a:spcBef>
              <a:spcAft>
                <a:spcPts val="0"/>
              </a:spcAft>
              <a:buSzPts val="1100"/>
              <a:buChar char="-"/>
            </a:pPr>
            <a:r>
              <a:rPr lang="en"/>
              <a:t>Walk through</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22ec4538de2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22ec4538de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hr 10 min - 1:50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Sad :’))</a:t>
            </a:r>
            <a:endParaRPr/>
          </a:p>
          <a:p>
            <a:pPr indent="0" lvl="0" marL="0" rtl="0" algn="l">
              <a:spcBef>
                <a:spcPts val="0"/>
              </a:spcBef>
              <a:spcAft>
                <a:spcPts val="0"/>
              </a:spcAft>
              <a:buNone/>
            </a:pPr>
            <a:r>
              <a:rPr lang="en"/>
              <a:t>Summarize the three attacks -&gt; next slide is WPA-Enterprise!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dd7230b6bd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dd7230b6bd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May sound too good to be true!</a:t>
            </a:r>
            <a:endParaRPr/>
          </a:p>
          <a:p>
            <a:pPr indent="-298450" lvl="0" marL="457200" rtl="0" algn="l">
              <a:spcBef>
                <a:spcPts val="0"/>
              </a:spcBef>
              <a:spcAft>
                <a:spcPts val="0"/>
              </a:spcAft>
              <a:buSzPts val="1100"/>
              <a:buChar char="-"/>
            </a:pPr>
            <a:r>
              <a:rPr lang="en"/>
              <a:t>Core problem was that everything was always derived from the PSK since everyone shared the same password</a:t>
            </a:r>
            <a:endParaRPr/>
          </a:p>
          <a:p>
            <a:pPr indent="-298450" lvl="1" marL="914400" rtl="0" algn="l">
              <a:spcBef>
                <a:spcPts val="0"/>
              </a:spcBef>
              <a:spcAft>
                <a:spcPts val="0"/>
              </a:spcAft>
              <a:buSzPts val="1100"/>
              <a:buChar char="-"/>
            </a:pPr>
            <a:r>
              <a:rPr lang="en"/>
              <a:t>All those random colored keys were all derived or encrypted via something derived from the PSK</a:t>
            </a:r>
            <a:endParaRPr/>
          </a:p>
          <a:p>
            <a:pPr indent="-298450" lvl="2" marL="1371600" rtl="0" algn="l">
              <a:spcBef>
                <a:spcPts val="0"/>
              </a:spcBef>
              <a:spcAft>
                <a:spcPts val="0"/>
              </a:spcAft>
              <a:buSzPts val="1100"/>
              <a:buChar char="-"/>
            </a:pPr>
            <a:r>
              <a:rPr lang="en"/>
              <a:t>Rogue AP: share the same password</a:t>
            </a:r>
            <a:endParaRPr/>
          </a:p>
          <a:p>
            <a:pPr indent="-298450" lvl="2" marL="1371600" rtl="0" algn="l">
              <a:spcBef>
                <a:spcPts val="0"/>
              </a:spcBef>
              <a:spcAft>
                <a:spcPts val="0"/>
              </a:spcAft>
              <a:buSzPts val="1100"/>
              <a:buChar char="-"/>
            </a:pPr>
            <a:r>
              <a:rPr lang="en"/>
              <a:t>Offline: brute force the one password</a:t>
            </a:r>
            <a:endParaRPr/>
          </a:p>
          <a:p>
            <a:pPr indent="-298450" lvl="2" marL="1371600" rtl="0" algn="l">
              <a:spcBef>
                <a:spcPts val="0"/>
              </a:spcBef>
              <a:spcAft>
                <a:spcPts val="0"/>
              </a:spcAft>
              <a:buSzPts val="1100"/>
              <a:buChar char="-"/>
            </a:pPr>
            <a:r>
              <a:rPr lang="en"/>
              <a:t>No forward secrecy: allows them to read all the messages from every client</a:t>
            </a:r>
            <a:endParaRPr/>
          </a:p>
          <a:p>
            <a:pPr indent="-298450" lvl="0" marL="457200" rtl="0" algn="l">
              <a:spcBef>
                <a:spcPts val="0"/>
              </a:spcBef>
              <a:spcAft>
                <a:spcPts val="0"/>
              </a:spcAft>
              <a:buSzPts val="1100"/>
              <a:buChar char="-"/>
            </a:pPr>
            <a:r>
              <a:rPr lang="en"/>
              <a:t>Eduroam uses WPA-Enterprise, home WiFis are typically WPA2-PSK</a:t>
            </a:r>
            <a:endParaRPr/>
          </a:p>
          <a:p>
            <a:pPr indent="-298450" lvl="1" marL="914400" rtl="0" algn="l">
              <a:spcBef>
                <a:spcPts val="0"/>
              </a:spcBef>
              <a:spcAft>
                <a:spcPts val="0"/>
              </a:spcAft>
              <a:buSzPts val="1100"/>
              <a:buChar char="-"/>
            </a:pPr>
            <a:r>
              <a:rPr lang="en"/>
              <a:t>Do home WiFis need </a:t>
            </a:r>
            <a:r>
              <a:rPr lang="en"/>
              <a:t>enterprise</a:t>
            </a:r>
            <a:r>
              <a:rPr lang="en"/>
              <a:t>? Security is economics</a:t>
            </a:r>
            <a:endParaRPr/>
          </a:p>
          <a:p>
            <a:pPr indent="-298450" lvl="1" marL="914400" rtl="0" algn="l">
              <a:spcBef>
                <a:spcPts val="0"/>
              </a:spcBef>
              <a:spcAft>
                <a:spcPts val="0"/>
              </a:spcAft>
              <a:buSzPts val="1100"/>
              <a:buChar char="-"/>
            </a:pPr>
            <a:r>
              <a:rPr lang="en"/>
              <a:t>We’ll talk about TLS on Tuesday, which will make this less wishy washy</a:t>
            </a:r>
            <a:endParaRPr/>
          </a:p>
          <a:p>
            <a:pPr indent="-298450" lvl="2" marL="1371600" rtl="0" algn="l">
              <a:spcBef>
                <a:spcPts val="0"/>
              </a:spcBef>
              <a:spcAft>
                <a:spcPts val="0"/>
              </a:spcAft>
              <a:buSzPts val="1100"/>
              <a:buChar char="-"/>
            </a:pPr>
            <a:r>
              <a:rPr lang="en"/>
              <a:t>Form a secure connection to auth server</a:t>
            </a:r>
            <a:endParaRPr/>
          </a:p>
          <a:p>
            <a:pPr indent="-298450" lvl="0" marL="457200" rtl="0" algn="l">
              <a:spcBef>
                <a:spcPts val="0"/>
              </a:spcBef>
              <a:spcAft>
                <a:spcPts val="0"/>
              </a:spcAft>
              <a:buSzPts val="1100"/>
              <a:buChar char="-"/>
            </a:pPr>
            <a:r>
              <a:rPr lang="en"/>
              <a:t>The only thing that changes is we have a one-time key instead of a PSK</a:t>
            </a:r>
            <a:endParaRPr/>
          </a:p>
          <a:p>
            <a:pPr indent="-298450" lvl="1" marL="914400" rtl="0" algn="l">
              <a:spcBef>
                <a:spcPts val="0"/>
              </a:spcBef>
              <a:spcAft>
                <a:spcPts val="0"/>
              </a:spcAft>
              <a:buSzPts val="1100"/>
              <a:buChar char="-"/>
            </a:pPr>
            <a:r>
              <a:rPr lang="en"/>
              <a:t>One-time key usually called a PMK (Pairwise Master Key)</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dd7230b6bd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dd7230b6bd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dd7230b6bd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dd7230b6bd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e60c7b3374_4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e60c7b3374_4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lt1"/>
                </a:solidFill>
              </a:rPr>
              <a:t>CSE 405 - Computer Security - ART</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Low Level Network Attacks</a:t>
            </a:r>
            <a:endParaRPr/>
          </a:p>
        </p:txBody>
      </p:sp>
      <p:sp>
        <p:nvSpPr>
          <p:cNvPr id="65" name="Google Shape;65;p15"/>
          <p:cNvSpPr txBox="1"/>
          <p:nvPr>
            <p:ph idx="1" type="subTitle"/>
          </p:nvPr>
        </p:nvSpPr>
        <p:spPr>
          <a:xfrm>
            <a:off x="311700" y="2926225"/>
            <a:ext cx="8520600" cy="7926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Clr>
                <a:schemeClr val="dk1"/>
              </a:buClr>
              <a:buSzPts val="275"/>
              <a:buFont typeface="Arial"/>
              <a:buNone/>
            </a:pPr>
            <a:r>
              <a:rPr lang="en" sz="6094"/>
              <a:t>CSE 405 January 2025 - Lecture 5</a:t>
            </a:r>
            <a:endParaRPr sz="6094"/>
          </a:p>
          <a:p>
            <a:pPr indent="0" lvl="0" marL="0" rtl="0" algn="ctr">
              <a:spcBef>
                <a:spcPts val="0"/>
              </a:spcBef>
              <a:spcAft>
                <a:spcPts val="0"/>
              </a:spcAft>
              <a:buClr>
                <a:schemeClr val="dk1"/>
              </a:buClr>
              <a:buSzPts val="275"/>
              <a:buFont typeface="Arial"/>
              <a:buNone/>
            </a:pPr>
            <a:r>
              <a:t/>
            </a:r>
            <a:endParaRPr sz="6094"/>
          </a:p>
          <a:p>
            <a:pPr indent="0" lvl="0" marL="0" rtl="0" algn="ctr">
              <a:spcBef>
                <a:spcPts val="0"/>
              </a:spcBef>
              <a:spcAft>
                <a:spcPts val="0"/>
              </a:spcAft>
              <a:buClr>
                <a:schemeClr val="dk1"/>
              </a:buClr>
              <a:buSzPts val="275"/>
              <a:buFont typeface="Arial"/>
              <a:buNone/>
            </a:pPr>
            <a:r>
              <a:rPr lang="en" sz="6094"/>
              <a:t>Special Thanks to Peyrin Kao (UC Berkeley)</a:t>
            </a:r>
            <a:endParaRPr sz="6094"/>
          </a:p>
          <a:p>
            <a:pPr indent="0" lvl="0" marL="0" rtl="0" algn="ctr">
              <a:spcBef>
                <a:spcPts val="0"/>
              </a:spcBef>
              <a:spcAft>
                <a:spcPts val="0"/>
              </a:spcAft>
              <a:buClr>
                <a:schemeClr val="dk1"/>
              </a:buClr>
              <a:buSzPct val="45833"/>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 Low-Level Network Attacks</a:t>
            </a:r>
            <a:endParaRPr/>
          </a:p>
        </p:txBody>
      </p:sp>
      <p:sp>
        <p:nvSpPr>
          <p:cNvPr id="71" name="Google Shape;71;p1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Network Attackers</a:t>
            </a:r>
            <a:endParaRPr/>
          </a:p>
          <a:p>
            <a:pPr indent="-317500" lvl="1" marL="914400" rtl="0" algn="l">
              <a:spcBef>
                <a:spcPts val="0"/>
              </a:spcBef>
              <a:spcAft>
                <a:spcPts val="0"/>
              </a:spcAft>
              <a:buSzPts val="1400"/>
              <a:buChar char="○"/>
            </a:pPr>
            <a:r>
              <a:rPr lang="en"/>
              <a:t>Man-in-the-middle attacker</a:t>
            </a:r>
            <a:endParaRPr/>
          </a:p>
          <a:p>
            <a:pPr indent="-317500" lvl="1" marL="914400" rtl="0" algn="l">
              <a:spcBef>
                <a:spcPts val="0"/>
              </a:spcBef>
              <a:spcAft>
                <a:spcPts val="0"/>
              </a:spcAft>
              <a:buSzPts val="1400"/>
              <a:buChar char="○"/>
            </a:pPr>
            <a:r>
              <a:rPr lang="en"/>
              <a:t>On-path attacker</a:t>
            </a:r>
            <a:endParaRPr/>
          </a:p>
          <a:p>
            <a:pPr indent="-317500" lvl="1" marL="914400" rtl="0" algn="l">
              <a:spcBef>
                <a:spcPts val="0"/>
              </a:spcBef>
              <a:spcAft>
                <a:spcPts val="0"/>
              </a:spcAft>
              <a:buSzPts val="1400"/>
              <a:buChar char="○"/>
            </a:pPr>
            <a:r>
              <a:rPr lang="en"/>
              <a:t>Off-path attacker</a:t>
            </a:r>
            <a:endParaRPr/>
          </a:p>
          <a:p>
            <a:pPr indent="-342900" lvl="0" marL="457200" rtl="0" algn="l">
              <a:spcBef>
                <a:spcPts val="0"/>
              </a:spcBef>
              <a:spcAft>
                <a:spcPts val="0"/>
              </a:spcAft>
              <a:buSzPts val="1800"/>
              <a:buChar char="●"/>
            </a:pPr>
            <a:r>
              <a:rPr lang="en"/>
              <a:t>ARP: Translate IP addresses to MAC addresses</a:t>
            </a:r>
            <a:endParaRPr/>
          </a:p>
          <a:p>
            <a:pPr indent="-342900" lvl="0" marL="457200" rtl="0" algn="l">
              <a:spcBef>
                <a:spcPts val="0"/>
              </a:spcBef>
              <a:spcAft>
                <a:spcPts val="0"/>
              </a:spcAft>
              <a:buSzPts val="1800"/>
              <a:buChar char="●"/>
            </a:pPr>
            <a:r>
              <a:rPr lang="en"/>
              <a:t>WPA: Communicate securely in a wireless local network</a:t>
            </a:r>
            <a:endParaRPr/>
          </a:p>
          <a:p>
            <a:pPr indent="-342900" lvl="0" marL="457200" rtl="0" algn="l">
              <a:spcBef>
                <a:spcPts val="0"/>
              </a:spcBef>
              <a:spcAft>
                <a:spcPts val="0"/>
              </a:spcAft>
              <a:buSzPts val="1800"/>
              <a:buChar char="●"/>
            </a:pPr>
            <a:r>
              <a:rPr lang="en"/>
              <a:t>DHCP: Get configurations when first connecting to a network</a:t>
            </a:r>
            <a:endParaRPr/>
          </a:p>
        </p:txBody>
      </p:sp>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7"/>
          <p:cNvPicPr preferRelativeResize="0"/>
          <p:nvPr/>
        </p:nvPicPr>
        <p:blipFill>
          <a:blip r:embed="rId3">
            <a:alphaModFix/>
          </a:blip>
          <a:stretch>
            <a:fillRect/>
          </a:stretch>
        </p:blipFill>
        <p:spPr>
          <a:xfrm>
            <a:off x="5298949" y="2765850"/>
            <a:ext cx="3845049" cy="2377651"/>
          </a:xfrm>
          <a:prstGeom prst="rect">
            <a:avLst/>
          </a:prstGeom>
          <a:noFill/>
          <a:ln>
            <a:noFill/>
          </a:ln>
        </p:spPr>
      </p:pic>
      <p:sp>
        <p:nvSpPr>
          <p:cNvPr id="78" name="Google Shape;78;p1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Network Attackers</a:t>
            </a:r>
            <a:endParaRPr/>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Network Attackers</a:t>
            </a:r>
            <a:endParaRPr/>
          </a:p>
        </p:txBody>
      </p:sp>
      <p:sp>
        <p:nvSpPr>
          <p:cNvPr id="85" name="Google Shape;8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86" name="Google Shape;86;p18"/>
          <p:cNvGraphicFramePr/>
          <p:nvPr/>
        </p:nvGraphicFramePr>
        <p:xfrm>
          <a:off x="516875" y="2043313"/>
          <a:ext cx="3000000" cy="3000000"/>
        </p:xfrm>
        <a:graphic>
          <a:graphicData uri="http://schemas.openxmlformats.org/drawingml/2006/table">
            <a:tbl>
              <a:tblPr>
                <a:noFill/>
                <a:tableStyleId>{1364716B-9658-414B-9CFB-C2EFFBB96313}</a:tableStyleId>
              </a:tblPr>
              <a:tblGrid>
                <a:gridCol w="2752500"/>
                <a:gridCol w="1768700"/>
                <a:gridCol w="1794525"/>
                <a:gridCol w="1794525"/>
              </a:tblGrid>
              <a:tr h="381000">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lang="en" sz="1800"/>
                        <a:t>Can modify or delete packets</a:t>
                      </a:r>
                      <a:endParaRPr sz="18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800"/>
                        <a:t>Can read packets</a:t>
                      </a:r>
                      <a:endParaRPr sz="18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800"/>
                        <a:t>Can inject spoofed packets</a:t>
                      </a:r>
                      <a:endParaRPr sz="1800"/>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800"/>
                        <a:t>Man-in-the-middle attacker</a:t>
                      </a:r>
                      <a:endParaRPr b="1" sz="18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Clr>
                          <a:schemeClr val="dk1"/>
                        </a:buClr>
                        <a:buSzPts val="1100"/>
                        <a:buFont typeface="Arial"/>
                        <a:buNone/>
                      </a:pPr>
                      <a:r>
                        <a:rPr lang="en" sz="1800">
                          <a:solidFill>
                            <a:schemeClr val="dk1"/>
                          </a:solidFill>
                        </a:rPr>
                        <a:t>✓</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dk1"/>
                          </a:solidFill>
                        </a:rPr>
                        <a:t>✓</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dk1"/>
                          </a:solidFill>
                        </a:rPr>
                        <a:t>✓</a:t>
                      </a:r>
                      <a:endParaRPr sz="1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800"/>
                        <a:t>On-path attacker</a:t>
                      </a:r>
                      <a:endParaRPr b="1" sz="18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800">
                          <a:solidFill>
                            <a:schemeClr val="dk1"/>
                          </a:solidFill>
                        </a:rPr>
                        <a:t>✓</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dk1"/>
                          </a:solidFill>
                        </a:rPr>
                        <a:t>✓</a:t>
                      </a:r>
                      <a:endParaRPr sz="18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800"/>
                        <a:t>Off-path attacker</a:t>
                      </a:r>
                      <a:endParaRPr b="1" sz="18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solidFill>
                            <a:schemeClr val="dk1"/>
                          </a:solidFill>
                        </a:rPr>
                        <a:t>✓</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87" name="Google Shape;87;p18"/>
          <p:cNvSpPr txBox="1"/>
          <p:nvPr>
            <p:ph idx="1" type="body"/>
          </p:nvPr>
        </p:nvSpPr>
        <p:spPr>
          <a:xfrm>
            <a:off x="198500" y="1246825"/>
            <a:ext cx="8520600" cy="796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Threat model: There are 3 types of attackers we’ll consider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Spoofing</a:t>
            </a:r>
            <a:endParaRPr/>
          </a:p>
        </p:txBody>
      </p:sp>
      <p:sp>
        <p:nvSpPr>
          <p:cNvPr id="93" name="Google Shape;93;p1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Anybody can send their own packets through the network</a:t>
            </a:r>
            <a:endParaRPr/>
          </a:p>
          <a:p>
            <a:pPr indent="-342900" lvl="0" marL="457200" rtl="0" algn="l">
              <a:spcBef>
                <a:spcPts val="0"/>
              </a:spcBef>
              <a:spcAft>
                <a:spcPts val="0"/>
              </a:spcAft>
              <a:buSzPts val="1800"/>
              <a:buChar char="●"/>
            </a:pPr>
            <a:r>
              <a:rPr b="1" lang="en"/>
              <a:t>Spoofing</a:t>
            </a:r>
            <a:r>
              <a:rPr lang="en"/>
              <a:t>: Lying about the identity of the sender</a:t>
            </a:r>
            <a:endParaRPr/>
          </a:p>
          <a:p>
            <a:pPr indent="-317500" lvl="1" marL="914400" rtl="0" algn="l">
              <a:spcBef>
                <a:spcPts val="0"/>
              </a:spcBef>
              <a:spcAft>
                <a:spcPts val="0"/>
              </a:spcAft>
              <a:buSzPts val="1400"/>
              <a:buChar char="○"/>
            </a:pPr>
            <a:r>
              <a:rPr lang="en"/>
              <a:t>Example: Mallory sends a message and says the message is from Alice</a:t>
            </a:r>
            <a:endParaRPr/>
          </a:p>
          <a:p>
            <a:pPr indent="-317500" lvl="1" marL="914400" rtl="0" algn="l">
              <a:spcBef>
                <a:spcPts val="0"/>
              </a:spcBef>
              <a:spcAft>
                <a:spcPts val="0"/>
              </a:spcAft>
              <a:buSzPts val="1400"/>
              <a:buChar char="○"/>
            </a:pPr>
            <a:r>
              <a:rPr lang="en"/>
              <a:t>The attacker can lie about the </a:t>
            </a:r>
            <a:r>
              <a:rPr i="1" lang="en"/>
              <a:t>source address</a:t>
            </a:r>
            <a:r>
              <a:rPr lang="en"/>
              <a:t> in the packet header</a:t>
            </a:r>
            <a:endParaRPr/>
          </a:p>
          <a:p>
            <a:pPr indent="-342900" lvl="0" marL="457200" rtl="0" algn="l">
              <a:spcBef>
                <a:spcPts val="0"/>
              </a:spcBef>
              <a:spcAft>
                <a:spcPts val="0"/>
              </a:spcAft>
              <a:buSzPts val="1800"/>
              <a:buChar char="●"/>
            </a:pPr>
            <a:r>
              <a:rPr lang="en"/>
              <a:t>All types of attackers can spoof packets</a:t>
            </a:r>
            <a:endParaRPr/>
          </a:p>
          <a:p>
            <a:pPr indent="-317500" lvl="1" marL="914400" rtl="0" algn="l">
              <a:spcBef>
                <a:spcPts val="0"/>
              </a:spcBef>
              <a:spcAft>
                <a:spcPts val="0"/>
              </a:spcAft>
              <a:buSzPts val="1400"/>
              <a:buChar char="○"/>
            </a:pPr>
            <a:r>
              <a:rPr lang="en"/>
              <a:t>However, some spoofing attacks may be harder if the attacker can’t read or modify packets</a:t>
            </a:r>
            <a:endParaRPr/>
          </a:p>
        </p:txBody>
      </p:sp>
      <p:sp>
        <p:nvSpPr>
          <p:cNvPr id="94" name="Google Shape;9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Real-World On-Path Attackers</a:t>
            </a:r>
            <a:endParaRPr/>
          </a:p>
        </p:txBody>
      </p:sp>
      <p:sp>
        <p:nvSpPr>
          <p:cNvPr id="100" name="Google Shape;10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txBox="1"/>
          <p:nvPr>
            <p:ph idx="1" type="body"/>
          </p:nvPr>
        </p:nvSpPr>
        <p:spPr>
          <a:xfrm>
            <a:off x="198500" y="1246825"/>
            <a:ext cx="8779800" cy="1506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might a real-life attacker read packets?</a:t>
            </a:r>
            <a:endParaRPr/>
          </a:p>
          <a:p>
            <a:pPr indent="-342900" lvl="0" marL="457200" rtl="0" algn="l">
              <a:spcBef>
                <a:spcPts val="0"/>
              </a:spcBef>
              <a:spcAft>
                <a:spcPts val="0"/>
              </a:spcAft>
              <a:buSzPts val="1800"/>
              <a:buChar char="●"/>
            </a:pPr>
            <a:r>
              <a:rPr lang="en"/>
              <a:t>Layer 1 attack: Use a special device to read bits being transmitted across space</a:t>
            </a:r>
            <a:endParaRPr/>
          </a:p>
        </p:txBody>
      </p:sp>
      <p:pic>
        <p:nvPicPr>
          <p:cNvPr id="102" name="Google Shape;102;p20"/>
          <p:cNvPicPr preferRelativeResize="0"/>
          <p:nvPr/>
        </p:nvPicPr>
        <p:blipFill>
          <a:blip r:embed="rId3">
            <a:alphaModFix/>
          </a:blip>
          <a:stretch>
            <a:fillRect/>
          </a:stretch>
        </p:blipFill>
        <p:spPr>
          <a:xfrm>
            <a:off x="876500" y="2147550"/>
            <a:ext cx="2437125" cy="2261950"/>
          </a:xfrm>
          <a:prstGeom prst="rect">
            <a:avLst/>
          </a:prstGeom>
          <a:noFill/>
          <a:ln>
            <a:noFill/>
          </a:ln>
        </p:spPr>
      </p:pic>
      <p:pic>
        <p:nvPicPr>
          <p:cNvPr id="103" name="Google Shape;103;p20"/>
          <p:cNvPicPr preferRelativeResize="0"/>
          <p:nvPr/>
        </p:nvPicPr>
        <p:blipFill>
          <a:blip r:embed="rId4">
            <a:alphaModFix/>
          </a:blip>
          <a:stretch>
            <a:fillRect/>
          </a:stretch>
        </p:blipFill>
        <p:spPr>
          <a:xfrm>
            <a:off x="3725900" y="2147550"/>
            <a:ext cx="2261950" cy="2261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Real-World On-Path Attackers</a:t>
            </a:r>
            <a:endParaRPr/>
          </a:p>
        </p:txBody>
      </p:sp>
      <p:sp>
        <p:nvSpPr>
          <p:cNvPr id="109" name="Google Shape;10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10" name="Google Shape;110;p21"/>
          <p:cNvGraphicFramePr/>
          <p:nvPr/>
        </p:nvGraphicFramePr>
        <p:xfrm>
          <a:off x="952500" y="1352550"/>
          <a:ext cx="3000000" cy="3000000"/>
        </p:xfrm>
        <a:graphic>
          <a:graphicData uri="http://schemas.openxmlformats.org/drawingml/2006/table">
            <a:tbl>
              <a:tblPr>
                <a:noFill/>
                <a:tableStyleId>{1364716B-9658-414B-9CFB-C2EFFBB96313}</a:tableStyleId>
              </a:tblPr>
              <a:tblGrid>
                <a:gridCol w="3619500"/>
                <a:gridCol w="361950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b="1" lang="en" sz="1600">
                          <a:solidFill>
                            <a:schemeClr val="dk2"/>
                          </a:solidFill>
                        </a:rPr>
                        <a:t>Operation Ivy Bells</a:t>
                      </a:r>
                      <a:endParaRPr b="1" sz="1600">
                        <a:solidFill>
                          <a:schemeClr val="dk2"/>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solidFill>
                          <a:schemeClr val="dk2"/>
                        </a:solidFill>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381000">
                <a:tc>
                  <a:txBody>
                    <a:bodyPr/>
                    <a:lstStyle/>
                    <a:p>
                      <a:pPr indent="0" lvl="0" marL="0" rtl="0" algn="l">
                        <a:spcBef>
                          <a:spcPts val="0"/>
                        </a:spcBef>
                        <a:spcAft>
                          <a:spcPts val="0"/>
                        </a:spcAft>
                        <a:buNone/>
                      </a:pPr>
                      <a:r>
                        <a:rPr i="1" lang="en">
                          <a:solidFill>
                            <a:schemeClr val="dk2"/>
                          </a:solidFill>
                        </a:rPr>
                        <a:t>Matthew Carle</a:t>
                      </a:r>
                      <a:endParaRPr i="1">
                        <a:solidFill>
                          <a:schemeClr val="dk2"/>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r">
                        <a:spcBef>
                          <a:spcPts val="0"/>
                        </a:spcBef>
                        <a:spcAft>
                          <a:spcPts val="0"/>
                        </a:spcAft>
                        <a:buNone/>
                      </a:pPr>
                      <a:r>
                        <a:rPr i="1" lang="en">
                          <a:solidFill>
                            <a:schemeClr val="dk2"/>
                          </a:solidFill>
                        </a:rPr>
                        <a:t>February 6, 2017</a:t>
                      </a:r>
                      <a:endParaRPr i="1">
                        <a:solidFill>
                          <a:schemeClr val="dk2"/>
                        </a:solidFill>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381000">
                <a:tc gridSpan="2">
                  <a:txBody>
                    <a:bodyPr/>
                    <a:lstStyle/>
                    <a:p>
                      <a:pPr indent="0" lvl="0" marL="0" rtl="0" algn="l">
                        <a:spcBef>
                          <a:spcPts val="0"/>
                        </a:spcBef>
                        <a:spcAft>
                          <a:spcPts val="0"/>
                        </a:spcAft>
                        <a:buNone/>
                      </a:pPr>
                      <a:r>
                        <a:rPr lang="en">
                          <a:solidFill>
                            <a:schemeClr val="dk2"/>
                          </a:solidFill>
                        </a:rPr>
                        <a:t>In an effort to alter the balance of the Cold War, divers from the USS Halibut scoured the ocean floor for a five-inch diameter cable that carried secret Soviet communications between military bases. The divers found the cable and installed a listening device. Upon their return to the United States, the NSA analyzed the recordings and found that a surprising amount of sensitive Soviet information travelled through the lines without encryption. The original tap was later discovered by the Soviets and is now on exhibit at the KGB museum in Moscow.</a:t>
                      </a:r>
                      <a:endParaRPr>
                        <a:solidFill>
                          <a:schemeClr val="dk2"/>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hMerge="1"/>
              </a:tr>
            </a:tbl>
          </a:graphicData>
        </a:graphic>
      </p:graphicFrame>
      <p:pic>
        <p:nvPicPr>
          <p:cNvPr id="111" name="Google Shape;111;p21" title="Military Community"/>
          <p:cNvPicPr preferRelativeResize="0"/>
          <p:nvPr/>
        </p:nvPicPr>
        <p:blipFill>
          <a:blip r:embed="rId3">
            <a:alphaModFix/>
          </a:blip>
          <a:stretch>
            <a:fillRect/>
          </a:stretch>
        </p:blipFill>
        <p:spPr>
          <a:xfrm>
            <a:off x="1028700" y="1415000"/>
            <a:ext cx="1089427" cy="393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Real-World On-Path Attackers</a:t>
            </a:r>
            <a:endParaRPr/>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8" name="Google Shape;118;p22"/>
          <p:cNvSpPr txBox="1"/>
          <p:nvPr>
            <p:ph idx="1" type="body"/>
          </p:nvPr>
        </p:nvSpPr>
        <p:spPr>
          <a:xfrm>
            <a:off x="198500" y="1246825"/>
            <a:ext cx="8520600" cy="3502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Layer 2 attack: Read packets sent across the local area network (LAN)</a:t>
            </a:r>
            <a:endParaRPr/>
          </a:p>
          <a:p>
            <a:pPr indent="-342900" lvl="0" marL="457200" rtl="0" algn="l">
              <a:spcBef>
                <a:spcPts val="0"/>
              </a:spcBef>
              <a:spcAft>
                <a:spcPts val="0"/>
              </a:spcAft>
              <a:buSzPts val="1800"/>
              <a:buChar char="●"/>
            </a:pPr>
            <a:r>
              <a:rPr lang="en"/>
              <a:t>Recall: A LAN is a network of connected machines</a:t>
            </a:r>
            <a:endParaRPr/>
          </a:p>
          <a:p>
            <a:pPr indent="-317500" lvl="1" marL="914400" rtl="0" algn="l">
              <a:spcBef>
                <a:spcPts val="0"/>
              </a:spcBef>
              <a:spcAft>
                <a:spcPts val="0"/>
              </a:spcAft>
              <a:buSzPts val="1400"/>
              <a:buChar char="○"/>
            </a:pPr>
            <a:r>
              <a:rPr lang="en"/>
              <a:t>Any machine on the LAN can send packets to any other machine on the LAN</a:t>
            </a:r>
            <a:endParaRPr/>
          </a:p>
          <a:p>
            <a:pPr indent="-342900" lvl="0" marL="457200" rtl="0" algn="l">
              <a:spcBef>
                <a:spcPts val="0"/>
              </a:spcBef>
              <a:spcAft>
                <a:spcPts val="0"/>
              </a:spcAft>
              <a:buSzPts val="1800"/>
              <a:buChar char="●"/>
            </a:pPr>
            <a:r>
              <a:rPr lang="en"/>
              <a:t>Some LANs use </a:t>
            </a:r>
            <a:r>
              <a:rPr b="1" lang="en"/>
              <a:t>broadcast technologies</a:t>
            </a:r>
            <a:endParaRPr b="1"/>
          </a:p>
          <a:p>
            <a:pPr indent="-317500" lvl="1" marL="914400" rtl="0" algn="l">
              <a:spcBef>
                <a:spcPts val="0"/>
              </a:spcBef>
              <a:spcAft>
                <a:spcPts val="0"/>
              </a:spcAft>
              <a:buSzPts val="1400"/>
              <a:buChar char="○"/>
            </a:pPr>
            <a:r>
              <a:rPr lang="en"/>
              <a:t>Every packet gets sent to every machine on the LAN</a:t>
            </a:r>
            <a:endParaRPr/>
          </a:p>
          <a:p>
            <a:pPr indent="-317500" lvl="1" marL="914400" rtl="0" algn="l">
              <a:spcBef>
                <a:spcPts val="0"/>
              </a:spcBef>
              <a:spcAft>
                <a:spcPts val="0"/>
              </a:spcAft>
              <a:buSzPts val="1400"/>
              <a:buChar char="○"/>
            </a:pPr>
            <a:r>
              <a:rPr lang="en"/>
              <a:t>Each machine agrees to ignore packets where the destination is a different machine</a:t>
            </a:r>
            <a:endParaRPr/>
          </a:p>
          <a:p>
            <a:pPr indent="-342900" lvl="0" marL="457200" rtl="0" algn="l">
              <a:spcBef>
                <a:spcPts val="0"/>
              </a:spcBef>
              <a:spcAft>
                <a:spcPts val="0"/>
              </a:spcAft>
              <a:buSzPts val="1800"/>
              <a:buChar char="●"/>
            </a:pPr>
            <a:r>
              <a:rPr lang="en"/>
              <a:t>A machine can </a:t>
            </a:r>
            <a:r>
              <a:rPr lang="en"/>
              <a:t>break the agreement and read packets meant for other machines</a:t>
            </a:r>
            <a:endParaRPr/>
          </a:p>
          <a:p>
            <a:pPr indent="-317500" lvl="1" marL="914400" rtl="0" algn="l">
              <a:spcBef>
                <a:spcPts val="0"/>
              </a:spcBef>
              <a:spcAft>
                <a:spcPts val="0"/>
              </a:spcAft>
              <a:buSzPts val="1400"/>
              <a:buChar char="○"/>
            </a:pPr>
            <a:r>
              <a:rPr lang="en"/>
              <a:t>This is called </a:t>
            </a:r>
            <a:r>
              <a:rPr b="1" lang="en"/>
              <a:t>promiscuous mode</a:t>
            </a:r>
            <a:endParaRPr/>
          </a:p>
          <a:p>
            <a:pPr indent="-317500" lvl="1" marL="914400" rtl="0" algn="l">
              <a:spcBef>
                <a:spcPts val="0"/>
              </a:spcBef>
              <a:spcAft>
                <a:spcPts val="0"/>
              </a:spcAft>
              <a:buSzPts val="1400"/>
              <a:buChar char="○"/>
            </a:pPr>
            <a:r>
              <a:rPr lang="en"/>
              <a:t>May require root access on the machine</a:t>
            </a:r>
            <a:endParaRPr/>
          </a:p>
        </p:txBody>
      </p:sp>
      <p:pic>
        <p:nvPicPr>
          <p:cNvPr id="119" name="Google Shape;119;p22"/>
          <p:cNvPicPr preferRelativeResize="0"/>
          <p:nvPr/>
        </p:nvPicPr>
        <p:blipFill rotWithShape="1">
          <a:blip r:embed="rId3">
            <a:alphaModFix/>
          </a:blip>
          <a:srcRect b="46006" l="6239" r="80041" t="7148"/>
          <a:stretch/>
        </p:blipFill>
        <p:spPr>
          <a:xfrm>
            <a:off x="4987675" y="3500722"/>
            <a:ext cx="570140" cy="572700"/>
          </a:xfrm>
          <a:prstGeom prst="rect">
            <a:avLst/>
          </a:prstGeom>
          <a:noFill/>
          <a:ln>
            <a:noFill/>
          </a:ln>
        </p:spPr>
      </p:pic>
      <p:cxnSp>
        <p:nvCxnSpPr>
          <p:cNvPr id="120" name="Google Shape;120;p22"/>
          <p:cNvCxnSpPr>
            <a:stCxn id="119" idx="2"/>
          </p:cNvCxnSpPr>
          <p:nvPr/>
        </p:nvCxnSpPr>
        <p:spPr>
          <a:xfrm>
            <a:off x="5272745" y="4073422"/>
            <a:ext cx="0" cy="447600"/>
          </a:xfrm>
          <a:prstGeom prst="straightConnector1">
            <a:avLst/>
          </a:prstGeom>
          <a:noFill/>
          <a:ln cap="flat" cmpd="sng" w="38100">
            <a:solidFill>
              <a:srgbClr val="000000"/>
            </a:solidFill>
            <a:prstDash val="solid"/>
            <a:round/>
            <a:headEnd len="med" w="med" type="none"/>
            <a:tailEnd len="med" w="med" type="none"/>
          </a:ln>
        </p:spPr>
      </p:cxnSp>
      <p:pic>
        <p:nvPicPr>
          <p:cNvPr id="121" name="Google Shape;121;p22"/>
          <p:cNvPicPr preferRelativeResize="0"/>
          <p:nvPr/>
        </p:nvPicPr>
        <p:blipFill rotWithShape="1">
          <a:blip r:embed="rId3">
            <a:alphaModFix/>
          </a:blip>
          <a:srcRect b="46006" l="6239" r="80041" t="7148"/>
          <a:stretch/>
        </p:blipFill>
        <p:spPr>
          <a:xfrm>
            <a:off x="5882500" y="3500722"/>
            <a:ext cx="570140" cy="572700"/>
          </a:xfrm>
          <a:prstGeom prst="rect">
            <a:avLst/>
          </a:prstGeom>
          <a:noFill/>
          <a:ln>
            <a:noFill/>
          </a:ln>
        </p:spPr>
      </p:pic>
      <p:cxnSp>
        <p:nvCxnSpPr>
          <p:cNvPr id="122" name="Google Shape;122;p22"/>
          <p:cNvCxnSpPr>
            <a:stCxn id="121" idx="2"/>
          </p:cNvCxnSpPr>
          <p:nvPr/>
        </p:nvCxnSpPr>
        <p:spPr>
          <a:xfrm>
            <a:off x="6167570" y="4073422"/>
            <a:ext cx="0" cy="447600"/>
          </a:xfrm>
          <a:prstGeom prst="straightConnector1">
            <a:avLst/>
          </a:prstGeom>
          <a:noFill/>
          <a:ln cap="flat" cmpd="sng" w="38100">
            <a:solidFill>
              <a:srgbClr val="000000"/>
            </a:solidFill>
            <a:prstDash val="solid"/>
            <a:round/>
            <a:headEnd len="med" w="med" type="none"/>
            <a:tailEnd len="med" w="med" type="none"/>
          </a:ln>
        </p:spPr>
      </p:cxnSp>
      <p:pic>
        <p:nvPicPr>
          <p:cNvPr id="123" name="Google Shape;123;p22"/>
          <p:cNvPicPr preferRelativeResize="0"/>
          <p:nvPr/>
        </p:nvPicPr>
        <p:blipFill rotWithShape="1">
          <a:blip r:embed="rId3">
            <a:alphaModFix/>
          </a:blip>
          <a:srcRect b="46006" l="6239" r="80041" t="7148"/>
          <a:stretch/>
        </p:blipFill>
        <p:spPr>
          <a:xfrm>
            <a:off x="6777325" y="3500722"/>
            <a:ext cx="570140" cy="572700"/>
          </a:xfrm>
          <a:prstGeom prst="rect">
            <a:avLst/>
          </a:prstGeom>
          <a:noFill/>
          <a:ln>
            <a:noFill/>
          </a:ln>
        </p:spPr>
      </p:pic>
      <p:cxnSp>
        <p:nvCxnSpPr>
          <p:cNvPr id="124" name="Google Shape;124;p22"/>
          <p:cNvCxnSpPr>
            <a:stCxn id="123" idx="2"/>
          </p:cNvCxnSpPr>
          <p:nvPr/>
        </p:nvCxnSpPr>
        <p:spPr>
          <a:xfrm>
            <a:off x="7062395" y="4073422"/>
            <a:ext cx="0" cy="447600"/>
          </a:xfrm>
          <a:prstGeom prst="straightConnector1">
            <a:avLst/>
          </a:prstGeom>
          <a:noFill/>
          <a:ln cap="flat" cmpd="sng" w="38100">
            <a:solidFill>
              <a:srgbClr val="000000"/>
            </a:solidFill>
            <a:prstDash val="solid"/>
            <a:round/>
            <a:headEnd len="med" w="med" type="none"/>
            <a:tailEnd len="med" w="med" type="none"/>
          </a:ln>
        </p:spPr>
      </p:cxnSp>
      <p:pic>
        <p:nvPicPr>
          <p:cNvPr id="125" name="Google Shape;125;p22"/>
          <p:cNvPicPr preferRelativeResize="0"/>
          <p:nvPr/>
        </p:nvPicPr>
        <p:blipFill rotWithShape="1">
          <a:blip r:embed="rId3">
            <a:alphaModFix/>
          </a:blip>
          <a:srcRect b="46006" l="6239" r="80041" t="7148"/>
          <a:stretch/>
        </p:blipFill>
        <p:spPr>
          <a:xfrm>
            <a:off x="7672150" y="3500722"/>
            <a:ext cx="570140" cy="572700"/>
          </a:xfrm>
          <a:prstGeom prst="rect">
            <a:avLst/>
          </a:prstGeom>
          <a:noFill/>
          <a:ln>
            <a:noFill/>
          </a:ln>
        </p:spPr>
      </p:pic>
      <p:cxnSp>
        <p:nvCxnSpPr>
          <p:cNvPr id="126" name="Google Shape;126;p22"/>
          <p:cNvCxnSpPr>
            <a:stCxn id="125" idx="2"/>
          </p:cNvCxnSpPr>
          <p:nvPr/>
        </p:nvCxnSpPr>
        <p:spPr>
          <a:xfrm>
            <a:off x="7957220" y="4073422"/>
            <a:ext cx="0" cy="447600"/>
          </a:xfrm>
          <a:prstGeom prst="straightConnector1">
            <a:avLst/>
          </a:prstGeom>
          <a:noFill/>
          <a:ln cap="flat" cmpd="sng" w="38100">
            <a:solidFill>
              <a:srgbClr val="000000"/>
            </a:solidFill>
            <a:prstDash val="solid"/>
            <a:round/>
            <a:headEnd len="med" w="med" type="none"/>
            <a:tailEnd len="med" w="med" type="none"/>
          </a:ln>
        </p:spPr>
      </p:cxnSp>
      <p:cxnSp>
        <p:nvCxnSpPr>
          <p:cNvPr id="127" name="Google Shape;127;p22"/>
          <p:cNvCxnSpPr/>
          <p:nvPr/>
        </p:nvCxnSpPr>
        <p:spPr>
          <a:xfrm>
            <a:off x="5280438" y="4502150"/>
            <a:ext cx="2669100" cy="0"/>
          </a:xfrm>
          <a:prstGeom prst="straightConnector1">
            <a:avLst/>
          </a:prstGeom>
          <a:noFill/>
          <a:ln cap="flat" cmpd="sng" w="38100">
            <a:solidFill>
              <a:srgbClr val="000000"/>
            </a:solidFill>
            <a:prstDash val="solid"/>
            <a:round/>
            <a:headEnd len="med" w="med" type="none"/>
            <a:tailEnd len="med" w="med" type="none"/>
          </a:ln>
        </p:spPr>
      </p:cxnSp>
      <p:sp>
        <p:nvSpPr>
          <p:cNvPr id="128" name="Google Shape;128;p22"/>
          <p:cNvSpPr txBox="1"/>
          <p:nvPr/>
        </p:nvSpPr>
        <p:spPr>
          <a:xfrm>
            <a:off x="5143600" y="3567076"/>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A</a:t>
            </a:r>
            <a:endParaRPr sz="800"/>
          </a:p>
        </p:txBody>
      </p:sp>
      <p:sp>
        <p:nvSpPr>
          <p:cNvPr id="129" name="Google Shape;129;p22"/>
          <p:cNvSpPr txBox="1"/>
          <p:nvPr/>
        </p:nvSpPr>
        <p:spPr>
          <a:xfrm>
            <a:off x="6038425" y="3567076"/>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B</a:t>
            </a:r>
            <a:endParaRPr sz="800"/>
          </a:p>
        </p:txBody>
      </p:sp>
      <p:sp>
        <p:nvSpPr>
          <p:cNvPr id="130" name="Google Shape;130;p22"/>
          <p:cNvSpPr txBox="1"/>
          <p:nvPr/>
        </p:nvSpPr>
        <p:spPr>
          <a:xfrm>
            <a:off x="7828075" y="3567076"/>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D</a:t>
            </a:r>
            <a:endParaRPr sz="800"/>
          </a:p>
        </p:txBody>
      </p:sp>
      <p:sp>
        <p:nvSpPr>
          <p:cNvPr id="131" name="Google Shape;131;p22"/>
          <p:cNvSpPr txBox="1"/>
          <p:nvPr/>
        </p:nvSpPr>
        <p:spPr>
          <a:xfrm>
            <a:off x="6933250" y="3567076"/>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C</a:t>
            </a:r>
            <a:endParaRPr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Real-World On-Path Attackers</a:t>
            </a:r>
            <a:endParaRPr/>
          </a:p>
        </p:txBody>
      </p:sp>
      <p:sp>
        <p:nvSpPr>
          <p:cNvPr id="137" name="Google Shape;13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8" name="Google Shape;138;p23"/>
          <p:cNvSpPr txBox="1"/>
          <p:nvPr>
            <p:ph idx="1" type="body"/>
          </p:nvPr>
        </p:nvSpPr>
        <p:spPr>
          <a:xfrm>
            <a:off x="198500" y="1246825"/>
            <a:ext cx="8520600" cy="120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latin typeface="Courier New"/>
                <a:ea typeface="Courier New"/>
                <a:cs typeface="Courier New"/>
                <a:sym typeface="Courier New"/>
              </a:rPr>
              <a:t>tcpdump</a:t>
            </a:r>
            <a:r>
              <a:rPr lang="en"/>
              <a:t>: A program for reading packets on the local network</a:t>
            </a:r>
            <a:endParaRPr/>
          </a:p>
          <a:p>
            <a:pPr indent="-317500" lvl="1" marL="914400" rtl="0" algn="l">
              <a:spcBef>
                <a:spcPts val="0"/>
              </a:spcBef>
              <a:spcAft>
                <a:spcPts val="0"/>
              </a:spcAft>
              <a:buSzPts val="1400"/>
              <a:buChar char="○"/>
            </a:pPr>
            <a:r>
              <a:rPr lang="en"/>
              <a:t>Uses promiscuous mode to read other machines’ packets in broadcast </a:t>
            </a:r>
            <a:r>
              <a:rPr lang="en"/>
              <a:t>technologies</a:t>
            </a:r>
            <a:endParaRPr/>
          </a:p>
          <a:p>
            <a:pPr indent="-342900" lvl="0" marL="457200" rtl="0" algn="l">
              <a:spcBef>
                <a:spcPts val="0"/>
              </a:spcBef>
              <a:spcAft>
                <a:spcPts val="0"/>
              </a:spcAft>
              <a:buSzPts val="1800"/>
              <a:buChar char="●"/>
            </a:pPr>
            <a:r>
              <a:rPr lang="en"/>
              <a:t>Wireshark: A graphical user interface (GUI) for analyzing </a:t>
            </a:r>
            <a:r>
              <a:rPr b="1" lang="en">
                <a:latin typeface="Courier New"/>
                <a:ea typeface="Courier New"/>
                <a:cs typeface="Courier New"/>
                <a:sym typeface="Courier New"/>
              </a:rPr>
              <a:t>tcpdump</a:t>
            </a:r>
            <a:r>
              <a:rPr lang="en"/>
              <a:t> packets</a:t>
            </a:r>
            <a:endParaRPr/>
          </a:p>
        </p:txBody>
      </p:sp>
      <p:pic>
        <p:nvPicPr>
          <p:cNvPr id="139" name="Google Shape;139;p23"/>
          <p:cNvPicPr preferRelativeResize="0"/>
          <p:nvPr/>
        </p:nvPicPr>
        <p:blipFill>
          <a:blip r:embed="rId3">
            <a:alphaModFix/>
          </a:blip>
          <a:stretch>
            <a:fillRect/>
          </a:stretch>
        </p:blipFill>
        <p:spPr>
          <a:xfrm>
            <a:off x="468725" y="2447750"/>
            <a:ext cx="3570724" cy="2351975"/>
          </a:xfrm>
          <a:prstGeom prst="rect">
            <a:avLst/>
          </a:prstGeom>
          <a:noFill/>
          <a:ln>
            <a:noFill/>
          </a:ln>
        </p:spPr>
      </p:pic>
      <p:pic>
        <p:nvPicPr>
          <p:cNvPr id="140" name="Google Shape;140;p23"/>
          <p:cNvPicPr preferRelativeResize="0"/>
          <p:nvPr/>
        </p:nvPicPr>
        <p:blipFill>
          <a:blip r:embed="rId4">
            <a:alphaModFix/>
          </a:blip>
          <a:stretch>
            <a:fillRect/>
          </a:stretch>
        </p:blipFill>
        <p:spPr>
          <a:xfrm>
            <a:off x="4572000" y="2447750"/>
            <a:ext cx="3547008" cy="2351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Real-World On-Path Attackers</a:t>
            </a:r>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4"/>
          <p:cNvSpPr txBox="1"/>
          <p:nvPr>
            <p:ph idx="1" type="body"/>
          </p:nvPr>
        </p:nvSpPr>
        <p:spPr>
          <a:xfrm>
            <a:off x="198500" y="1246825"/>
            <a:ext cx="44958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Some layer 2 (Ethernet) devices can be configured to also send a copy of every packet to the attacker</a:t>
            </a:r>
            <a:endParaRPr/>
          </a:p>
          <a:p>
            <a:pPr indent="-342900" lvl="0" marL="457200" rtl="0" algn="l">
              <a:spcBef>
                <a:spcPts val="0"/>
              </a:spcBef>
              <a:spcAft>
                <a:spcPts val="0"/>
              </a:spcAft>
              <a:buSzPts val="1800"/>
              <a:buChar char="●"/>
            </a:pPr>
            <a:r>
              <a:rPr lang="en"/>
              <a:t>The attacker could also use this device to modify packets (man-in-the-middle attack)</a:t>
            </a:r>
            <a:endParaRPr/>
          </a:p>
          <a:p>
            <a:pPr indent="-342900" lvl="0" marL="457200" rtl="0" algn="l">
              <a:spcBef>
                <a:spcPts val="0"/>
              </a:spcBef>
              <a:spcAft>
                <a:spcPts val="0"/>
              </a:spcAft>
              <a:buSzPts val="1800"/>
              <a:buChar char="●"/>
            </a:pPr>
            <a:r>
              <a:rPr lang="en"/>
              <a:t>Example: DualComm DCGS-2005</a:t>
            </a:r>
            <a:endParaRPr/>
          </a:p>
          <a:p>
            <a:pPr indent="-317500" lvl="1" marL="914400" rtl="0" algn="l">
              <a:spcBef>
                <a:spcPts val="0"/>
              </a:spcBef>
              <a:spcAft>
                <a:spcPts val="0"/>
              </a:spcAft>
              <a:buSzPts val="1400"/>
              <a:buChar char="○"/>
            </a:pPr>
            <a:r>
              <a:rPr lang="en"/>
              <a:t>Newer model: ETAP-2003R</a:t>
            </a:r>
            <a:endParaRPr/>
          </a:p>
          <a:p>
            <a:pPr indent="-317500" lvl="1" marL="914400" rtl="0" algn="l">
              <a:spcBef>
                <a:spcPts val="0"/>
              </a:spcBef>
              <a:spcAft>
                <a:spcPts val="0"/>
              </a:spcAft>
              <a:buSzPts val="1400"/>
              <a:buChar char="○"/>
            </a:pPr>
            <a:r>
              <a:rPr lang="en"/>
              <a:t>Cost: $200</a:t>
            </a:r>
            <a:endParaRPr/>
          </a:p>
          <a:p>
            <a:pPr indent="-317500" lvl="1" marL="914400" rtl="0" algn="l">
              <a:spcBef>
                <a:spcPts val="0"/>
              </a:spcBef>
              <a:spcAft>
                <a:spcPts val="0"/>
              </a:spcAft>
              <a:buSzPts val="1400"/>
              <a:buChar char="○"/>
            </a:pPr>
            <a:r>
              <a:rPr lang="en"/>
              <a:t>Powered with USB (no extra power supply needed)</a:t>
            </a:r>
            <a:endParaRPr/>
          </a:p>
        </p:txBody>
      </p:sp>
      <p:sp>
        <p:nvSpPr>
          <p:cNvPr id="148" name="Google Shape;148;p24"/>
          <p:cNvSpPr/>
          <p:nvPr/>
        </p:nvSpPr>
        <p:spPr>
          <a:xfrm>
            <a:off x="6535525" y="2702188"/>
            <a:ext cx="1791000" cy="63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Ethernet Device</a:t>
            </a:r>
            <a:endParaRPr sz="1600"/>
          </a:p>
        </p:txBody>
      </p:sp>
      <p:sp>
        <p:nvSpPr>
          <p:cNvPr id="149" name="Google Shape;149;p24"/>
          <p:cNvSpPr/>
          <p:nvPr/>
        </p:nvSpPr>
        <p:spPr>
          <a:xfrm>
            <a:off x="5049175" y="4157550"/>
            <a:ext cx="1340400" cy="63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Attacker</a:t>
            </a:r>
            <a:endParaRPr sz="1600"/>
          </a:p>
        </p:txBody>
      </p:sp>
      <p:sp>
        <p:nvSpPr>
          <p:cNvPr id="150" name="Google Shape;150;p24"/>
          <p:cNvSpPr/>
          <p:nvPr/>
        </p:nvSpPr>
        <p:spPr>
          <a:xfrm>
            <a:off x="6760813" y="4157550"/>
            <a:ext cx="1340400" cy="63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Bob</a:t>
            </a:r>
            <a:endParaRPr sz="1600"/>
          </a:p>
        </p:txBody>
      </p:sp>
      <p:sp>
        <p:nvSpPr>
          <p:cNvPr id="151" name="Google Shape;151;p24"/>
          <p:cNvSpPr/>
          <p:nvPr/>
        </p:nvSpPr>
        <p:spPr>
          <a:xfrm>
            <a:off x="6760813" y="1246825"/>
            <a:ext cx="1340400" cy="63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Alice</a:t>
            </a:r>
            <a:endParaRPr sz="1600"/>
          </a:p>
        </p:txBody>
      </p:sp>
      <p:cxnSp>
        <p:nvCxnSpPr>
          <p:cNvPr id="152" name="Google Shape;152;p24"/>
          <p:cNvCxnSpPr>
            <a:stCxn id="151" idx="2"/>
            <a:endCxn id="148" idx="0"/>
          </p:cNvCxnSpPr>
          <p:nvPr/>
        </p:nvCxnSpPr>
        <p:spPr>
          <a:xfrm>
            <a:off x="7431013" y="1885825"/>
            <a:ext cx="0" cy="816300"/>
          </a:xfrm>
          <a:prstGeom prst="straightConnector1">
            <a:avLst/>
          </a:prstGeom>
          <a:noFill/>
          <a:ln cap="flat" cmpd="sng" w="9525">
            <a:solidFill>
              <a:schemeClr val="dk2"/>
            </a:solidFill>
            <a:prstDash val="solid"/>
            <a:round/>
            <a:headEnd len="med" w="med" type="none"/>
            <a:tailEnd len="med" w="med" type="triangle"/>
          </a:ln>
        </p:spPr>
      </p:cxnSp>
      <p:sp>
        <p:nvSpPr>
          <p:cNvPr id="153" name="Google Shape;153;p24"/>
          <p:cNvSpPr txBox="1"/>
          <p:nvPr/>
        </p:nvSpPr>
        <p:spPr>
          <a:xfrm>
            <a:off x="7431025" y="1986213"/>
            <a:ext cx="867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To: Bob</a:t>
            </a:r>
            <a:endParaRPr/>
          </a:p>
          <a:p>
            <a:pPr indent="0" lvl="0" marL="0" rtl="0" algn="l">
              <a:spcBef>
                <a:spcPts val="0"/>
              </a:spcBef>
              <a:spcAft>
                <a:spcPts val="0"/>
              </a:spcAft>
              <a:buNone/>
            </a:pPr>
            <a:r>
              <a:rPr lang="en"/>
              <a:t>“Hi”</a:t>
            </a:r>
            <a:endParaRPr/>
          </a:p>
        </p:txBody>
      </p:sp>
      <p:cxnSp>
        <p:nvCxnSpPr>
          <p:cNvPr id="154" name="Google Shape;154;p24"/>
          <p:cNvCxnSpPr>
            <a:stCxn id="148" idx="2"/>
            <a:endCxn id="150" idx="0"/>
          </p:cNvCxnSpPr>
          <p:nvPr/>
        </p:nvCxnSpPr>
        <p:spPr>
          <a:xfrm>
            <a:off x="7431025" y="3341188"/>
            <a:ext cx="0" cy="816300"/>
          </a:xfrm>
          <a:prstGeom prst="straightConnector1">
            <a:avLst/>
          </a:prstGeom>
          <a:noFill/>
          <a:ln cap="flat" cmpd="sng" w="9525">
            <a:solidFill>
              <a:schemeClr val="dk2"/>
            </a:solidFill>
            <a:prstDash val="solid"/>
            <a:round/>
            <a:headEnd len="med" w="med" type="none"/>
            <a:tailEnd len="med" w="med" type="triangle"/>
          </a:ln>
        </p:spPr>
      </p:cxnSp>
      <p:sp>
        <p:nvSpPr>
          <p:cNvPr id="155" name="Google Shape;155;p24"/>
          <p:cNvSpPr txBox="1"/>
          <p:nvPr/>
        </p:nvSpPr>
        <p:spPr>
          <a:xfrm>
            <a:off x="7431025" y="3441588"/>
            <a:ext cx="867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To: Bob</a:t>
            </a:r>
            <a:endParaRPr/>
          </a:p>
          <a:p>
            <a:pPr indent="0" lvl="0" marL="0" rtl="0" algn="l">
              <a:spcBef>
                <a:spcPts val="0"/>
              </a:spcBef>
              <a:spcAft>
                <a:spcPts val="0"/>
              </a:spcAft>
              <a:buNone/>
            </a:pPr>
            <a:r>
              <a:rPr lang="en"/>
              <a:t>“Hi”</a:t>
            </a:r>
            <a:endParaRPr/>
          </a:p>
        </p:txBody>
      </p:sp>
      <p:sp>
        <p:nvSpPr>
          <p:cNvPr id="156" name="Google Shape;156;p24"/>
          <p:cNvSpPr txBox="1"/>
          <p:nvPr/>
        </p:nvSpPr>
        <p:spPr>
          <a:xfrm>
            <a:off x="5719525" y="3441563"/>
            <a:ext cx="867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To: Bob</a:t>
            </a:r>
            <a:endParaRPr/>
          </a:p>
          <a:p>
            <a:pPr indent="0" lvl="0" marL="0" rtl="0" algn="l">
              <a:spcBef>
                <a:spcPts val="0"/>
              </a:spcBef>
              <a:spcAft>
                <a:spcPts val="0"/>
              </a:spcAft>
              <a:buNone/>
            </a:pPr>
            <a:r>
              <a:rPr lang="en"/>
              <a:t>“Hi”</a:t>
            </a:r>
            <a:endParaRPr/>
          </a:p>
        </p:txBody>
      </p:sp>
      <p:cxnSp>
        <p:nvCxnSpPr>
          <p:cNvPr id="157" name="Google Shape;157;p24"/>
          <p:cNvCxnSpPr>
            <a:stCxn id="148" idx="2"/>
            <a:endCxn id="149" idx="0"/>
          </p:cNvCxnSpPr>
          <p:nvPr/>
        </p:nvCxnSpPr>
        <p:spPr>
          <a:xfrm flipH="1">
            <a:off x="5719525" y="3341188"/>
            <a:ext cx="1711500" cy="816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Address Resolution Protocol (ARP)</a:t>
            </a:r>
            <a:endParaRPr/>
          </a:p>
        </p:txBody>
      </p:sp>
      <p:sp>
        <p:nvSpPr>
          <p:cNvPr id="163" name="Google Shape;16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 Layer 2 and Layer 3</a:t>
            </a:r>
            <a:endParaRPr/>
          </a:p>
        </p:txBody>
      </p:sp>
      <p:sp>
        <p:nvSpPr>
          <p:cNvPr id="169" name="Google Shape;169;p26"/>
          <p:cNvSpPr txBox="1"/>
          <p:nvPr>
            <p:ph idx="1" type="body"/>
          </p:nvPr>
        </p:nvSpPr>
        <p:spPr>
          <a:xfrm>
            <a:off x="198500" y="1246825"/>
            <a:ext cx="4566900" cy="3692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Local area network (LAN): A set of machines connected in a local network</a:t>
            </a:r>
            <a:endParaRPr/>
          </a:p>
          <a:p>
            <a:pPr indent="-317500" lvl="1" marL="914400" rtl="0" algn="l">
              <a:spcBef>
                <a:spcPts val="0"/>
              </a:spcBef>
              <a:spcAft>
                <a:spcPts val="0"/>
              </a:spcAft>
              <a:buSzPts val="1400"/>
              <a:buChar char="○"/>
            </a:pPr>
            <a:r>
              <a:rPr lang="en"/>
              <a:t>The MAC address identifies devices on layer 2</a:t>
            </a:r>
            <a:endParaRPr/>
          </a:p>
          <a:p>
            <a:pPr indent="-342900" lvl="0" marL="457200" rtl="0" algn="l">
              <a:spcBef>
                <a:spcPts val="0"/>
              </a:spcBef>
              <a:spcAft>
                <a:spcPts val="0"/>
              </a:spcAft>
              <a:buSzPts val="1800"/>
              <a:buChar char="●"/>
            </a:pPr>
            <a:r>
              <a:rPr lang="en"/>
              <a:t>Internet</a:t>
            </a:r>
            <a:r>
              <a:rPr lang="en"/>
              <a:t> (IP)</a:t>
            </a:r>
            <a:r>
              <a:rPr lang="en"/>
              <a:t>: Many LANs connected together with routers</a:t>
            </a:r>
            <a:endParaRPr/>
          </a:p>
          <a:p>
            <a:pPr indent="-317500" lvl="1" marL="914400" rtl="0" algn="l">
              <a:spcBef>
                <a:spcPts val="0"/>
              </a:spcBef>
              <a:spcAft>
                <a:spcPts val="0"/>
              </a:spcAft>
              <a:buSzPts val="1400"/>
              <a:buChar char="○"/>
            </a:pPr>
            <a:r>
              <a:rPr lang="en"/>
              <a:t>The IP address identifies devices on layer 3</a:t>
            </a:r>
            <a:endParaRPr/>
          </a:p>
        </p:txBody>
      </p:sp>
      <p:sp>
        <p:nvSpPr>
          <p:cNvPr id="170" name="Google Shape;17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1" name="Google Shape;171;p26"/>
          <p:cNvPicPr preferRelativeResize="0"/>
          <p:nvPr/>
        </p:nvPicPr>
        <p:blipFill rotWithShape="1">
          <a:blip r:embed="rId3">
            <a:alphaModFix/>
          </a:blip>
          <a:srcRect b="46006" l="6239" r="80041" t="7148"/>
          <a:stretch/>
        </p:blipFill>
        <p:spPr>
          <a:xfrm>
            <a:off x="5078575" y="1334772"/>
            <a:ext cx="570140" cy="572700"/>
          </a:xfrm>
          <a:prstGeom prst="rect">
            <a:avLst/>
          </a:prstGeom>
          <a:noFill/>
          <a:ln>
            <a:noFill/>
          </a:ln>
        </p:spPr>
      </p:pic>
      <p:cxnSp>
        <p:nvCxnSpPr>
          <p:cNvPr id="172" name="Google Shape;172;p26"/>
          <p:cNvCxnSpPr>
            <a:stCxn id="171" idx="2"/>
          </p:cNvCxnSpPr>
          <p:nvPr/>
        </p:nvCxnSpPr>
        <p:spPr>
          <a:xfrm>
            <a:off x="5363645" y="1907472"/>
            <a:ext cx="0" cy="447600"/>
          </a:xfrm>
          <a:prstGeom prst="straightConnector1">
            <a:avLst/>
          </a:prstGeom>
          <a:noFill/>
          <a:ln cap="flat" cmpd="sng" w="38100">
            <a:solidFill>
              <a:srgbClr val="000000"/>
            </a:solidFill>
            <a:prstDash val="solid"/>
            <a:round/>
            <a:headEnd len="med" w="med" type="none"/>
            <a:tailEnd len="med" w="med" type="none"/>
          </a:ln>
        </p:spPr>
      </p:cxnSp>
      <p:pic>
        <p:nvPicPr>
          <p:cNvPr id="173" name="Google Shape;173;p26"/>
          <p:cNvPicPr preferRelativeResize="0"/>
          <p:nvPr/>
        </p:nvPicPr>
        <p:blipFill rotWithShape="1">
          <a:blip r:embed="rId3">
            <a:alphaModFix/>
          </a:blip>
          <a:srcRect b="46006" l="6239" r="80041" t="7148"/>
          <a:stretch/>
        </p:blipFill>
        <p:spPr>
          <a:xfrm>
            <a:off x="5973400" y="1334772"/>
            <a:ext cx="570140" cy="572700"/>
          </a:xfrm>
          <a:prstGeom prst="rect">
            <a:avLst/>
          </a:prstGeom>
          <a:noFill/>
          <a:ln>
            <a:noFill/>
          </a:ln>
        </p:spPr>
      </p:pic>
      <p:cxnSp>
        <p:nvCxnSpPr>
          <p:cNvPr id="174" name="Google Shape;174;p26"/>
          <p:cNvCxnSpPr>
            <a:stCxn id="173" idx="2"/>
          </p:cNvCxnSpPr>
          <p:nvPr/>
        </p:nvCxnSpPr>
        <p:spPr>
          <a:xfrm>
            <a:off x="6258470" y="1907472"/>
            <a:ext cx="0" cy="447600"/>
          </a:xfrm>
          <a:prstGeom prst="straightConnector1">
            <a:avLst/>
          </a:prstGeom>
          <a:noFill/>
          <a:ln cap="flat" cmpd="sng" w="38100">
            <a:solidFill>
              <a:srgbClr val="000000"/>
            </a:solidFill>
            <a:prstDash val="solid"/>
            <a:round/>
            <a:headEnd len="med" w="med" type="none"/>
            <a:tailEnd len="med" w="med" type="none"/>
          </a:ln>
        </p:spPr>
      </p:cxnSp>
      <p:pic>
        <p:nvPicPr>
          <p:cNvPr id="175" name="Google Shape;175;p26"/>
          <p:cNvPicPr preferRelativeResize="0"/>
          <p:nvPr/>
        </p:nvPicPr>
        <p:blipFill rotWithShape="1">
          <a:blip r:embed="rId3">
            <a:alphaModFix/>
          </a:blip>
          <a:srcRect b="46006" l="6239" r="80041" t="7148"/>
          <a:stretch/>
        </p:blipFill>
        <p:spPr>
          <a:xfrm>
            <a:off x="6868225" y="1334772"/>
            <a:ext cx="570140" cy="572700"/>
          </a:xfrm>
          <a:prstGeom prst="rect">
            <a:avLst/>
          </a:prstGeom>
          <a:noFill/>
          <a:ln>
            <a:noFill/>
          </a:ln>
        </p:spPr>
      </p:pic>
      <p:cxnSp>
        <p:nvCxnSpPr>
          <p:cNvPr id="176" name="Google Shape;176;p26"/>
          <p:cNvCxnSpPr>
            <a:stCxn id="175" idx="2"/>
          </p:cNvCxnSpPr>
          <p:nvPr/>
        </p:nvCxnSpPr>
        <p:spPr>
          <a:xfrm>
            <a:off x="7153295" y="1907472"/>
            <a:ext cx="0" cy="447600"/>
          </a:xfrm>
          <a:prstGeom prst="straightConnector1">
            <a:avLst/>
          </a:prstGeom>
          <a:noFill/>
          <a:ln cap="flat" cmpd="sng" w="38100">
            <a:solidFill>
              <a:srgbClr val="000000"/>
            </a:solidFill>
            <a:prstDash val="solid"/>
            <a:round/>
            <a:headEnd len="med" w="med" type="none"/>
            <a:tailEnd len="med" w="med" type="none"/>
          </a:ln>
        </p:spPr>
      </p:cxnSp>
      <p:pic>
        <p:nvPicPr>
          <p:cNvPr id="177" name="Google Shape;177;p26"/>
          <p:cNvPicPr preferRelativeResize="0"/>
          <p:nvPr/>
        </p:nvPicPr>
        <p:blipFill rotWithShape="1">
          <a:blip r:embed="rId3">
            <a:alphaModFix/>
          </a:blip>
          <a:srcRect b="46006" l="6239" r="80041" t="7148"/>
          <a:stretch/>
        </p:blipFill>
        <p:spPr>
          <a:xfrm>
            <a:off x="7763050" y="1334772"/>
            <a:ext cx="570140" cy="572700"/>
          </a:xfrm>
          <a:prstGeom prst="rect">
            <a:avLst/>
          </a:prstGeom>
          <a:noFill/>
          <a:ln>
            <a:noFill/>
          </a:ln>
        </p:spPr>
      </p:pic>
      <p:cxnSp>
        <p:nvCxnSpPr>
          <p:cNvPr id="178" name="Google Shape;178;p26"/>
          <p:cNvCxnSpPr>
            <a:stCxn id="177" idx="2"/>
          </p:cNvCxnSpPr>
          <p:nvPr/>
        </p:nvCxnSpPr>
        <p:spPr>
          <a:xfrm>
            <a:off x="8048120" y="1907472"/>
            <a:ext cx="0" cy="447600"/>
          </a:xfrm>
          <a:prstGeom prst="straightConnector1">
            <a:avLst/>
          </a:prstGeom>
          <a:noFill/>
          <a:ln cap="flat" cmpd="sng" w="38100">
            <a:solidFill>
              <a:srgbClr val="000000"/>
            </a:solidFill>
            <a:prstDash val="solid"/>
            <a:round/>
            <a:headEnd len="med" w="med" type="none"/>
            <a:tailEnd len="med" w="med" type="none"/>
          </a:ln>
        </p:spPr>
      </p:cxnSp>
      <p:cxnSp>
        <p:nvCxnSpPr>
          <p:cNvPr id="179" name="Google Shape;179;p26"/>
          <p:cNvCxnSpPr/>
          <p:nvPr/>
        </p:nvCxnSpPr>
        <p:spPr>
          <a:xfrm>
            <a:off x="5371338" y="2336200"/>
            <a:ext cx="2669100" cy="0"/>
          </a:xfrm>
          <a:prstGeom prst="straightConnector1">
            <a:avLst/>
          </a:prstGeom>
          <a:noFill/>
          <a:ln cap="flat" cmpd="sng" w="38100">
            <a:solidFill>
              <a:srgbClr val="000000"/>
            </a:solidFill>
            <a:prstDash val="solid"/>
            <a:round/>
            <a:headEnd len="med" w="med" type="none"/>
            <a:tailEnd len="med" w="med" type="none"/>
          </a:ln>
        </p:spPr>
      </p:cxnSp>
      <p:sp>
        <p:nvSpPr>
          <p:cNvPr id="180" name="Google Shape;180;p26"/>
          <p:cNvSpPr txBox="1"/>
          <p:nvPr/>
        </p:nvSpPr>
        <p:spPr>
          <a:xfrm>
            <a:off x="5234500" y="1401126"/>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A</a:t>
            </a:r>
            <a:endParaRPr sz="800"/>
          </a:p>
        </p:txBody>
      </p:sp>
      <p:sp>
        <p:nvSpPr>
          <p:cNvPr id="181" name="Google Shape;181;p26"/>
          <p:cNvSpPr txBox="1"/>
          <p:nvPr/>
        </p:nvSpPr>
        <p:spPr>
          <a:xfrm>
            <a:off x="6129325" y="1401126"/>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B</a:t>
            </a:r>
            <a:endParaRPr sz="800"/>
          </a:p>
        </p:txBody>
      </p:sp>
      <p:sp>
        <p:nvSpPr>
          <p:cNvPr id="182" name="Google Shape;182;p26"/>
          <p:cNvSpPr txBox="1"/>
          <p:nvPr/>
        </p:nvSpPr>
        <p:spPr>
          <a:xfrm>
            <a:off x="7918975" y="1401126"/>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D</a:t>
            </a:r>
            <a:endParaRPr sz="800"/>
          </a:p>
        </p:txBody>
      </p:sp>
      <p:sp>
        <p:nvSpPr>
          <p:cNvPr id="183" name="Google Shape;183;p26"/>
          <p:cNvSpPr txBox="1"/>
          <p:nvPr/>
        </p:nvSpPr>
        <p:spPr>
          <a:xfrm>
            <a:off x="7024150" y="1401126"/>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C</a:t>
            </a:r>
            <a:endParaRPr sz="800"/>
          </a:p>
        </p:txBody>
      </p:sp>
      <p:pic>
        <p:nvPicPr>
          <p:cNvPr id="184" name="Google Shape;184;p26"/>
          <p:cNvPicPr preferRelativeResize="0"/>
          <p:nvPr/>
        </p:nvPicPr>
        <p:blipFill rotWithShape="1">
          <a:blip r:embed="rId3">
            <a:alphaModFix/>
          </a:blip>
          <a:srcRect b="46006" l="6239" r="80041" t="7148"/>
          <a:stretch/>
        </p:blipFill>
        <p:spPr>
          <a:xfrm>
            <a:off x="5078588" y="4210072"/>
            <a:ext cx="570140" cy="572700"/>
          </a:xfrm>
          <a:prstGeom prst="rect">
            <a:avLst/>
          </a:prstGeom>
          <a:noFill/>
          <a:ln>
            <a:noFill/>
          </a:ln>
        </p:spPr>
      </p:pic>
      <p:cxnSp>
        <p:nvCxnSpPr>
          <p:cNvPr id="185" name="Google Shape;185;p26"/>
          <p:cNvCxnSpPr>
            <a:endCxn id="184" idx="0"/>
          </p:cNvCxnSpPr>
          <p:nvPr/>
        </p:nvCxnSpPr>
        <p:spPr>
          <a:xfrm>
            <a:off x="5363657" y="3762472"/>
            <a:ext cx="0" cy="447600"/>
          </a:xfrm>
          <a:prstGeom prst="straightConnector1">
            <a:avLst/>
          </a:prstGeom>
          <a:noFill/>
          <a:ln cap="flat" cmpd="sng" w="38100">
            <a:solidFill>
              <a:srgbClr val="000000"/>
            </a:solidFill>
            <a:prstDash val="solid"/>
            <a:round/>
            <a:headEnd len="med" w="med" type="none"/>
            <a:tailEnd len="med" w="med" type="none"/>
          </a:ln>
        </p:spPr>
      </p:cxnSp>
      <p:sp>
        <p:nvSpPr>
          <p:cNvPr id="186" name="Google Shape;186;p26"/>
          <p:cNvSpPr txBox="1"/>
          <p:nvPr/>
        </p:nvSpPr>
        <p:spPr>
          <a:xfrm>
            <a:off x="5234513" y="4276426"/>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E</a:t>
            </a:r>
            <a:endParaRPr sz="800"/>
          </a:p>
        </p:txBody>
      </p:sp>
      <p:pic>
        <p:nvPicPr>
          <p:cNvPr id="187" name="Google Shape;187;p26"/>
          <p:cNvPicPr preferRelativeResize="0"/>
          <p:nvPr/>
        </p:nvPicPr>
        <p:blipFill rotWithShape="1">
          <a:blip r:embed="rId3">
            <a:alphaModFix/>
          </a:blip>
          <a:srcRect b="46006" l="6239" r="80041" t="7148"/>
          <a:stretch/>
        </p:blipFill>
        <p:spPr>
          <a:xfrm>
            <a:off x="5973400" y="4210085"/>
            <a:ext cx="570140" cy="572700"/>
          </a:xfrm>
          <a:prstGeom prst="rect">
            <a:avLst/>
          </a:prstGeom>
          <a:noFill/>
          <a:ln>
            <a:noFill/>
          </a:ln>
        </p:spPr>
      </p:pic>
      <p:cxnSp>
        <p:nvCxnSpPr>
          <p:cNvPr id="188" name="Google Shape;188;p26"/>
          <p:cNvCxnSpPr>
            <a:endCxn id="187" idx="0"/>
          </p:cNvCxnSpPr>
          <p:nvPr/>
        </p:nvCxnSpPr>
        <p:spPr>
          <a:xfrm>
            <a:off x="6258470" y="3762485"/>
            <a:ext cx="0" cy="447600"/>
          </a:xfrm>
          <a:prstGeom prst="straightConnector1">
            <a:avLst/>
          </a:prstGeom>
          <a:noFill/>
          <a:ln cap="flat" cmpd="sng" w="38100">
            <a:solidFill>
              <a:srgbClr val="000000"/>
            </a:solidFill>
            <a:prstDash val="solid"/>
            <a:round/>
            <a:headEnd len="med" w="med" type="none"/>
            <a:tailEnd len="med" w="med" type="none"/>
          </a:ln>
        </p:spPr>
      </p:cxnSp>
      <p:sp>
        <p:nvSpPr>
          <p:cNvPr id="189" name="Google Shape;189;p26"/>
          <p:cNvSpPr txBox="1"/>
          <p:nvPr/>
        </p:nvSpPr>
        <p:spPr>
          <a:xfrm>
            <a:off x="6129325" y="4276439"/>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F</a:t>
            </a:r>
            <a:endParaRPr sz="800"/>
          </a:p>
        </p:txBody>
      </p:sp>
      <p:pic>
        <p:nvPicPr>
          <p:cNvPr id="190" name="Google Shape;190;p26"/>
          <p:cNvPicPr preferRelativeResize="0"/>
          <p:nvPr/>
        </p:nvPicPr>
        <p:blipFill rotWithShape="1">
          <a:blip r:embed="rId3">
            <a:alphaModFix/>
          </a:blip>
          <a:srcRect b="46006" l="6239" r="80041" t="7148"/>
          <a:stretch/>
        </p:blipFill>
        <p:spPr>
          <a:xfrm>
            <a:off x="6868225" y="4210085"/>
            <a:ext cx="570140" cy="572700"/>
          </a:xfrm>
          <a:prstGeom prst="rect">
            <a:avLst/>
          </a:prstGeom>
          <a:noFill/>
          <a:ln>
            <a:noFill/>
          </a:ln>
        </p:spPr>
      </p:pic>
      <p:cxnSp>
        <p:nvCxnSpPr>
          <p:cNvPr id="191" name="Google Shape;191;p26"/>
          <p:cNvCxnSpPr>
            <a:endCxn id="190" idx="0"/>
          </p:cNvCxnSpPr>
          <p:nvPr/>
        </p:nvCxnSpPr>
        <p:spPr>
          <a:xfrm>
            <a:off x="7153295" y="3762485"/>
            <a:ext cx="0" cy="447600"/>
          </a:xfrm>
          <a:prstGeom prst="straightConnector1">
            <a:avLst/>
          </a:prstGeom>
          <a:noFill/>
          <a:ln cap="flat" cmpd="sng" w="38100">
            <a:solidFill>
              <a:srgbClr val="000000"/>
            </a:solidFill>
            <a:prstDash val="solid"/>
            <a:round/>
            <a:headEnd len="med" w="med" type="none"/>
            <a:tailEnd len="med" w="med" type="none"/>
          </a:ln>
        </p:spPr>
      </p:cxnSp>
      <p:sp>
        <p:nvSpPr>
          <p:cNvPr id="192" name="Google Shape;192;p26"/>
          <p:cNvSpPr txBox="1"/>
          <p:nvPr/>
        </p:nvSpPr>
        <p:spPr>
          <a:xfrm>
            <a:off x="7024150" y="4276439"/>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G</a:t>
            </a:r>
            <a:endParaRPr sz="800"/>
          </a:p>
        </p:txBody>
      </p:sp>
      <p:pic>
        <p:nvPicPr>
          <p:cNvPr id="193" name="Google Shape;193;p26"/>
          <p:cNvPicPr preferRelativeResize="0"/>
          <p:nvPr/>
        </p:nvPicPr>
        <p:blipFill rotWithShape="1">
          <a:blip r:embed="rId3">
            <a:alphaModFix/>
          </a:blip>
          <a:srcRect b="46006" l="6239" r="80041" t="7148"/>
          <a:stretch/>
        </p:blipFill>
        <p:spPr>
          <a:xfrm>
            <a:off x="7763050" y="4210085"/>
            <a:ext cx="570140" cy="572700"/>
          </a:xfrm>
          <a:prstGeom prst="rect">
            <a:avLst/>
          </a:prstGeom>
          <a:noFill/>
          <a:ln>
            <a:noFill/>
          </a:ln>
        </p:spPr>
      </p:pic>
      <p:cxnSp>
        <p:nvCxnSpPr>
          <p:cNvPr id="194" name="Google Shape;194;p26"/>
          <p:cNvCxnSpPr>
            <a:endCxn id="193" idx="0"/>
          </p:cNvCxnSpPr>
          <p:nvPr/>
        </p:nvCxnSpPr>
        <p:spPr>
          <a:xfrm>
            <a:off x="8048120" y="3762485"/>
            <a:ext cx="0" cy="447600"/>
          </a:xfrm>
          <a:prstGeom prst="straightConnector1">
            <a:avLst/>
          </a:prstGeom>
          <a:noFill/>
          <a:ln cap="flat" cmpd="sng" w="38100">
            <a:solidFill>
              <a:srgbClr val="000000"/>
            </a:solidFill>
            <a:prstDash val="solid"/>
            <a:round/>
            <a:headEnd len="med" w="med" type="none"/>
            <a:tailEnd len="med" w="med" type="none"/>
          </a:ln>
        </p:spPr>
      </p:cxnSp>
      <p:sp>
        <p:nvSpPr>
          <p:cNvPr id="195" name="Google Shape;195;p26"/>
          <p:cNvSpPr txBox="1"/>
          <p:nvPr/>
        </p:nvSpPr>
        <p:spPr>
          <a:xfrm>
            <a:off x="7918975" y="4276439"/>
            <a:ext cx="2583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lang="en" sz="800"/>
              <a:t>H</a:t>
            </a:r>
            <a:endParaRPr sz="800"/>
          </a:p>
        </p:txBody>
      </p:sp>
      <p:cxnSp>
        <p:nvCxnSpPr>
          <p:cNvPr id="196" name="Google Shape;196;p26"/>
          <p:cNvCxnSpPr/>
          <p:nvPr/>
        </p:nvCxnSpPr>
        <p:spPr>
          <a:xfrm>
            <a:off x="5371350" y="3780666"/>
            <a:ext cx="2669100" cy="0"/>
          </a:xfrm>
          <a:prstGeom prst="straightConnector1">
            <a:avLst/>
          </a:prstGeom>
          <a:noFill/>
          <a:ln cap="flat" cmpd="sng" w="38100">
            <a:solidFill>
              <a:srgbClr val="000000"/>
            </a:solidFill>
            <a:prstDash val="solid"/>
            <a:round/>
            <a:headEnd len="med" w="med" type="none"/>
            <a:tailEnd len="med" w="med" type="none"/>
          </a:ln>
        </p:spPr>
      </p:cxnSp>
      <p:sp>
        <p:nvSpPr>
          <p:cNvPr id="197" name="Google Shape;197;p26"/>
          <p:cNvSpPr/>
          <p:nvPr/>
        </p:nvSpPr>
        <p:spPr>
          <a:xfrm>
            <a:off x="6364350" y="2716888"/>
            <a:ext cx="683100" cy="683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Router</a:t>
            </a:r>
            <a:endParaRPr sz="1000"/>
          </a:p>
        </p:txBody>
      </p:sp>
      <p:cxnSp>
        <p:nvCxnSpPr>
          <p:cNvPr id="198" name="Google Shape;198;p26"/>
          <p:cNvCxnSpPr>
            <a:stCxn id="197" idx="0"/>
          </p:cNvCxnSpPr>
          <p:nvPr/>
        </p:nvCxnSpPr>
        <p:spPr>
          <a:xfrm rot="10800000">
            <a:off x="6701700" y="2347588"/>
            <a:ext cx="4200" cy="369300"/>
          </a:xfrm>
          <a:prstGeom prst="straightConnector1">
            <a:avLst/>
          </a:prstGeom>
          <a:noFill/>
          <a:ln cap="flat" cmpd="sng" w="38100">
            <a:solidFill>
              <a:srgbClr val="000000"/>
            </a:solidFill>
            <a:prstDash val="solid"/>
            <a:round/>
            <a:headEnd len="med" w="med" type="none"/>
            <a:tailEnd len="med" w="med" type="none"/>
          </a:ln>
        </p:spPr>
      </p:cxnSp>
      <p:cxnSp>
        <p:nvCxnSpPr>
          <p:cNvPr id="199" name="Google Shape;199;p26"/>
          <p:cNvCxnSpPr>
            <a:endCxn id="197" idx="2"/>
          </p:cNvCxnSpPr>
          <p:nvPr/>
        </p:nvCxnSpPr>
        <p:spPr>
          <a:xfrm rot="10800000">
            <a:off x="6705900" y="3399988"/>
            <a:ext cx="2100" cy="369300"/>
          </a:xfrm>
          <a:prstGeom prst="straightConnector1">
            <a:avLst/>
          </a:prstGeom>
          <a:noFill/>
          <a:ln cap="flat" cmpd="sng" w="38100">
            <a:solidFill>
              <a:srgbClr val="000000"/>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Address Resolution Protocol (ARP)</a:t>
            </a:r>
            <a:endParaRPr/>
          </a:p>
        </p:txBody>
      </p:sp>
      <p:sp>
        <p:nvSpPr>
          <p:cNvPr id="205" name="Google Shape;205;p27"/>
          <p:cNvSpPr txBox="1"/>
          <p:nvPr>
            <p:ph idx="1" type="body"/>
          </p:nvPr>
        </p:nvSpPr>
        <p:spPr>
          <a:xfrm>
            <a:off x="198500" y="1323025"/>
            <a:ext cx="8520600" cy="3713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ARP</a:t>
            </a:r>
            <a:r>
              <a:rPr lang="en"/>
              <a:t>: Translates layer 3 IP addresses to layer 2 MAC addresses</a:t>
            </a:r>
            <a:endParaRPr/>
          </a:p>
          <a:p>
            <a:pPr indent="-317500" lvl="1" marL="914400" rtl="0" algn="l">
              <a:spcBef>
                <a:spcPts val="0"/>
              </a:spcBef>
              <a:spcAft>
                <a:spcPts val="0"/>
              </a:spcAft>
              <a:buSzPts val="1400"/>
              <a:buChar char="○"/>
            </a:pPr>
            <a:r>
              <a:rPr lang="en"/>
              <a:t>Example: Alice wants to send a message to Bob on the local network, but Alice only knows Bob’s IP address (</a:t>
            </a:r>
            <a:r>
              <a:rPr b="1" lang="en">
                <a:latin typeface="Courier New"/>
                <a:ea typeface="Courier New"/>
                <a:cs typeface="Courier New"/>
                <a:sym typeface="Courier New"/>
              </a:rPr>
              <a:t>1.2.3.4</a:t>
            </a:r>
            <a:r>
              <a:rPr lang="en"/>
              <a:t>). To use layer 2 protocols, she must learn Bob’s MAC address.</a:t>
            </a:r>
            <a:endParaRPr/>
          </a:p>
          <a:p>
            <a:pPr indent="-342900" lvl="0" marL="457200" rtl="0" algn="l">
              <a:spcBef>
                <a:spcPts val="0"/>
              </a:spcBef>
              <a:spcAft>
                <a:spcPts val="0"/>
              </a:spcAft>
              <a:buSzPts val="1800"/>
              <a:buChar char="●"/>
            </a:pPr>
            <a:r>
              <a:rPr lang="en"/>
              <a:t>Steps of the protocol</a:t>
            </a:r>
            <a:endParaRPr/>
          </a:p>
          <a:p>
            <a:pPr indent="-260350" lvl="0" marL="914400" rtl="0" algn="l">
              <a:spcBef>
                <a:spcPts val="0"/>
              </a:spcBef>
              <a:spcAft>
                <a:spcPts val="0"/>
              </a:spcAft>
              <a:buSzPts val="1400"/>
              <a:buAutoNum type="arabicPeriod"/>
            </a:pPr>
            <a:r>
              <a:rPr lang="en" sz="1400"/>
              <a:t>Alice checks her cache to see if she already knows Bob’s MAC address.</a:t>
            </a:r>
            <a:endParaRPr sz="1400"/>
          </a:p>
          <a:p>
            <a:pPr indent="-260350" lvl="0" marL="914400" rtl="0" algn="l">
              <a:spcBef>
                <a:spcPts val="0"/>
              </a:spcBef>
              <a:spcAft>
                <a:spcPts val="0"/>
              </a:spcAft>
              <a:buSzPts val="1400"/>
              <a:buAutoNum type="arabicPeriod"/>
            </a:pPr>
            <a:r>
              <a:rPr lang="en" sz="1400"/>
              <a:t>If Bob’s MAC address is not in the cache, Alice </a:t>
            </a:r>
            <a:r>
              <a:rPr b="1" lang="en" sz="1400"/>
              <a:t>broadcasts</a:t>
            </a:r>
            <a:r>
              <a:rPr lang="en" sz="1400"/>
              <a:t> to everyone on the LAN:</a:t>
            </a:r>
            <a:br>
              <a:rPr lang="en" sz="1400"/>
            </a:br>
            <a:r>
              <a:rPr lang="en" sz="1400"/>
              <a:t>“What is the MAC address of </a:t>
            </a:r>
            <a:r>
              <a:rPr b="1" lang="en" sz="1400">
                <a:latin typeface="Courier New"/>
                <a:ea typeface="Courier New"/>
                <a:cs typeface="Courier New"/>
                <a:sym typeface="Courier New"/>
              </a:rPr>
              <a:t>1.2.3.4</a:t>
            </a:r>
            <a:r>
              <a:rPr lang="en" sz="1400"/>
              <a:t>?”</a:t>
            </a:r>
            <a:endParaRPr sz="1400"/>
          </a:p>
          <a:p>
            <a:pPr indent="-260350" lvl="0" marL="914400" rtl="0" algn="l">
              <a:spcBef>
                <a:spcPts val="0"/>
              </a:spcBef>
              <a:spcAft>
                <a:spcPts val="0"/>
              </a:spcAft>
              <a:buSzPts val="1400"/>
              <a:buAutoNum type="arabicPeriod"/>
            </a:pPr>
            <a:r>
              <a:rPr lang="en" sz="1400"/>
              <a:t>Bob responds by sending a message only to Alice: “My IP is </a:t>
            </a:r>
            <a:r>
              <a:rPr b="1" lang="en" sz="1400">
                <a:latin typeface="Courier New"/>
                <a:ea typeface="Courier New"/>
                <a:cs typeface="Courier New"/>
                <a:sym typeface="Courier New"/>
              </a:rPr>
              <a:t>1.2.3.4</a:t>
            </a:r>
            <a:r>
              <a:rPr lang="en" sz="1400"/>
              <a:t> and my MAC address is </a:t>
            </a:r>
            <a:r>
              <a:rPr b="1" lang="en" sz="1400">
                <a:latin typeface="Courier New"/>
                <a:ea typeface="Courier New"/>
                <a:cs typeface="Courier New"/>
                <a:sym typeface="Courier New"/>
              </a:rPr>
              <a:t>ca:fe:f0:0d:be:ef</a:t>
            </a:r>
            <a:r>
              <a:rPr lang="en" sz="1400"/>
              <a:t>.” Everyone else does nothing.</a:t>
            </a:r>
            <a:endParaRPr sz="1400"/>
          </a:p>
          <a:p>
            <a:pPr indent="-260350" lvl="0" marL="914400" rtl="0" algn="l">
              <a:spcBef>
                <a:spcPts val="0"/>
              </a:spcBef>
              <a:spcAft>
                <a:spcPts val="0"/>
              </a:spcAft>
              <a:buSzPts val="1400"/>
              <a:buAutoNum type="arabicPeriod"/>
            </a:pPr>
            <a:r>
              <a:rPr lang="en" sz="1400"/>
              <a:t>Alice caches Bob’s MAC address.</a:t>
            </a:r>
            <a:endParaRPr/>
          </a:p>
        </p:txBody>
      </p:sp>
      <p:sp>
        <p:nvSpPr>
          <p:cNvPr id="206" name="Google Shape;20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Address Resolution Protocol (ARP)</a:t>
            </a:r>
            <a:endParaRPr/>
          </a:p>
        </p:txBody>
      </p:sp>
      <p:sp>
        <p:nvSpPr>
          <p:cNvPr id="212" name="Google Shape;21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28"/>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214" name="Google Shape;214;p28"/>
          <p:cNvSpPr/>
          <p:nvPr/>
        </p:nvSpPr>
        <p:spPr>
          <a:xfrm>
            <a:off x="6550800" y="12646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215" name="Google Shape;215;p28"/>
          <p:cNvSpPr/>
          <p:nvPr/>
        </p:nvSpPr>
        <p:spPr>
          <a:xfrm>
            <a:off x="6550800" y="19141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Charlie</a:t>
            </a:r>
            <a:endParaRPr/>
          </a:p>
        </p:txBody>
      </p:sp>
      <p:sp>
        <p:nvSpPr>
          <p:cNvPr id="216" name="Google Shape;216;p28"/>
          <p:cNvSpPr/>
          <p:nvPr/>
        </p:nvSpPr>
        <p:spPr>
          <a:xfrm>
            <a:off x="6550800" y="25635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Dave</a:t>
            </a:r>
            <a:endParaRPr/>
          </a:p>
        </p:txBody>
      </p:sp>
      <p:sp>
        <p:nvSpPr>
          <p:cNvPr id="217" name="Google Shape;217;p28"/>
          <p:cNvSpPr/>
          <p:nvPr/>
        </p:nvSpPr>
        <p:spPr>
          <a:xfrm>
            <a:off x="6550800" y="32130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aphicFrame>
        <p:nvGraphicFramePr>
          <p:cNvPr id="218" name="Google Shape;218;p28"/>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956825"/>
                <a:gridCol w="956825"/>
              </a:tblGrid>
              <a:tr h="396200">
                <a:tc gridSpan="2">
                  <a:txBody>
                    <a:bodyPr/>
                    <a:lstStyle/>
                    <a:p>
                      <a:pPr indent="0" lvl="0" marL="0" rtl="0" algn="ctr">
                        <a:spcBef>
                          <a:spcPts val="0"/>
                        </a:spcBef>
                        <a:spcAft>
                          <a:spcPts val="0"/>
                        </a:spcAft>
                        <a:buNone/>
                      </a:pPr>
                      <a:r>
                        <a:rPr lang="en"/>
                        <a:t>Alice’s cache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MAC</a:t>
                      </a:r>
                      <a:endParaRPr/>
                    </a:p>
                  </a:txBody>
                  <a:tcPr marT="91425" marB="91425" marR="91425" marL="91425"/>
                </a:tc>
              </a:tr>
              <a:tr h="396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pSp>
        <p:nvGrpSpPr>
          <p:cNvPr id="219" name="Google Shape;219;p28"/>
          <p:cNvGrpSpPr/>
          <p:nvPr/>
        </p:nvGrpSpPr>
        <p:grpSpPr>
          <a:xfrm>
            <a:off x="260500" y="3232225"/>
            <a:ext cx="3108300" cy="1562725"/>
            <a:chOff x="260500" y="3232225"/>
            <a:chExt cx="3108300" cy="1562725"/>
          </a:xfrm>
        </p:grpSpPr>
        <p:cxnSp>
          <p:nvCxnSpPr>
            <p:cNvPr id="220" name="Google Shape;220;p28"/>
            <p:cNvCxnSpPr/>
            <p:nvPr/>
          </p:nvCxnSpPr>
          <p:spPr>
            <a:xfrm rot="10800000">
              <a:off x="972325" y="3232225"/>
              <a:ext cx="0" cy="915300"/>
            </a:xfrm>
            <a:prstGeom prst="straightConnector1">
              <a:avLst/>
            </a:prstGeom>
            <a:noFill/>
            <a:ln cap="flat" cmpd="sng" w="19050">
              <a:solidFill>
                <a:srgbClr val="E69138"/>
              </a:solidFill>
              <a:prstDash val="solid"/>
              <a:round/>
              <a:headEnd len="med" w="med" type="none"/>
              <a:tailEnd len="med" w="med" type="triangle"/>
            </a:ln>
          </p:spPr>
        </p:cxnSp>
        <p:sp>
          <p:nvSpPr>
            <p:cNvPr id="221" name="Google Shape;221;p28"/>
            <p:cNvSpPr txBox="1"/>
            <p:nvPr/>
          </p:nvSpPr>
          <p:spPr>
            <a:xfrm>
              <a:off x="260500" y="3963650"/>
              <a:ext cx="31083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1. </a:t>
              </a:r>
              <a:r>
                <a:rPr lang="en"/>
                <a:t>Alice checks her cache to see if she already knows the MAC address corresponding to</a:t>
              </a:r>
              <a:r>
                <a:rPr lang="en">
                  <a:solidFill>
                    <a:schemeClr val="dk1"/>
                  </a:solidFill>
                </a:rPr>
                <a:t> </a:t>
              </a:r>
              <a:r>
                <a:rPr b="1" lang="en">
                  <a:solidFill>
                    <a:schemeClr val="dk1"/>
                  </a:solidFill>
                  <a:latin typeface="Courier New"/>
                  <a:ea typeface="Courier New"/>
                  <a:cs typeface="Courier New"/>
                  <a:sym typeface="Courier New"/>
                </a:rPr>
                <a:t>1.2.3.4</a:t>
              </a:r>
              <a:r>
                <a:rPr lang="en"/>
                <a:t>.</a:t>
              </a:r>
              <a:endParaRPr/>
            </a:p>
          </p:txBody>
        </p:sp>
      </p:grpSp>
      <p:sp>
        <p:nvSpPr>
          <p:cNvPr id="222" name="Google Shape;222;p28"/>
          <p:cNvSpPr txBox="1"/>
          <p:nvPr/>
        </p:nvSpPr>
        <p:spPr>
          <a:xfrm>
            <a:off x="260500" y="1220400"/>
            <a:ext cx="35739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Alice knows Bob’s IP address (</a:t>
            </a:r>
            <a:r>
              <a:rPr b="1" lang="en">
                <a:latin typeface="Courier New"/>
                <a:ea typeface="Courier New"/>
                <a:cs typeface="Courier New"/>
                <a:sym typeface="Courier New"/>
              </a:rPr>
              <a:t>1.2.3.4</a:t>
            </a:r>
            <a:r>
              <a:rPr lang="en"/>
              <a:t>) but wants to learn Bob’s MAC address.</a:t>
            </a:r>
            <a:endParaRPr/>
          </a:p>
        </p:txBody>
      </p:sp>
      <p:sp>
        <p:nvSpPr>
          <p:cNvPr id="223" name="Google Shape;223;p28"/>
          <p:cNvSpPr txBox="1"/>
          <p:nvPr/>
        </p:nvSpPr>
        <p:spPr>
          <a:xfrm>
            <a:off x="3513500" y="3963650"/>
            <a:ext cx="28770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Since her cache is empty, she must make a request to find out.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Address Resolution Protocol (ARP)</a:t>
            </a:r>
            <a:endParaRPr/>
          </a:p>
        </p:txBody>
      </p:sp>
      <p:sp>
        <p:nvSpPr>
          <p:cNvPr id="229" name="Google Shape;22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29"/>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231" name="Google Shape;231;p29"/>
          <p:cNvSpPr/>
          <p:nvPr/>
        </p:nvSpPr>
        <p:spPr>
          <a:xfrm>
            <a:off x="6550800" y="12646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232" name="Google Shape;232;p29"/>
          <p:cNvSpPr/>
          <p:nvPr/>
        </p:nvSpPr>
        <p:spPr>
          <a:xfrm>
            <a:off x="6550800" y="19141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Charlie</a:t>
            </a:r>
            <a:endParaRPr/>
          </a:p>
        </p:txBody>
      </p:sp>
      <p:sp>
        <p:nvSpPr>
          <p:cNvPr id="233" name="Google Shape;233;p29"/>
          <p:cNvSpPr/>
          <p:nvPr/>
        </p:nvSpPr>
        <p:spPr>
          <a:xfrm>
            <a:off x="6550800" y="25635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Dave</a:t>
            </a:r>
            <a:endParaRPr/>
          </a:p>
        </p:txBody>
      </p:sp>
      <p:sp>
        <p:nvSpPr>
          <p:cNvPr id="234" name="Google Shape;234;p29"/>
          <p:cNvSpPr/>
          <p:nvPr/>
        </p:nvSpPr>
        <p:spPr>
          <a:xfrm>
            <a:off x="6550800" y="32130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aphicFrame>
        <p:nvGraphicFramePr>
          <p:cNvPr id="235" name="Google Shape;235;p29"/>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956825"/>
                <a:gridCol w="956825"/>
              </a:tblGrid>
              <a:tr h="396200">
                <a:tc gridSpan="2">
                  <a:txBody>
                    <a:bodyPr/>
                    <a:lstStyle/>
                    <a:p>
                      <a:pPr indent="0" lvl="0" marL="0" rtl="0" algn="ctr">
                        <a:spcBef>
                          <a:spcPts val="0"/>
                        </a:spcBef>
                        <a:spcAft>
                          <a:spcPts val="0"/>
                        </a:spcAft>
                        <a:buNone/>
                      </a:pPr>
                      <a:r>
                        <a:rPr lang="en"/>
                        <a:t>Alice’s cache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MAC</a:t>
                      </a:r>
                      <a:endParaRPr/>
                    </a:p>
                  </a:txBody>
                  <a:tcPr marT="91425" marB="91425" marR="91425" marL="91425"/>
                </a:tc>
              </a:tr>
              <a:tr h="396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pSp>
        <p:nvGrpSpPr>
          <p:cNvPr id="236" name="Google Shape;236;p29"/>
          <p:cNvGrpSpPr/>
          <p:nvPr/>
        </p:nvGrpSpPr>
        <p:grpSpPr>
          <a:xfrm>
            <a:off x="3400550" y="3189625"/>
            <a:ext cx="3053100" cy="1534300"/>
            <a:chOff x="3400550" y="3189625"/>
            <a:chExt cx="3053100" cy="1534300"/>
          </a:xfrm>
        </p:grpSpPr>
        <p:cxnSp>
          <p:nvCxnSpPr>
            <p:cNvPr id="237" name="Google Shape;237;p29"/>
            <p:cNvCxnSpPr/>
            <p:nvPr/>
          </p:nvCxnSpPr>
          <p:spPr>
            <a:xfrm rot="10800000">
              <a:off x="4711975" y="3189625"/>
              <a:ext cx="0" cy="915300"/>
            </a:xfrm>
            <a:prstGeom prst="straightConnector1">
              <a:avLst/>
            </a:prstGeom>
            <a:noFill/>
            <a:ln cap="flat" cmpd="sng" w="19050">
              <a:solidFill>
                <a:srgbClr val="E69138"/>
              </a:solidFill>
              <a:prstDash val="solid"/>
              <a:round/>
              <a:headEnd len="med" w="med" type="none"/>
              <a:tailEnd len="med" w="med" type="triangle"/>
            </a:ln>
          </p:spPr>
        </p:cxnSp>
        <p:sp>
          <p:nvSpPr>
            <p:cNvPr id="238" name="Google Shape;238;p29"/>
            <p:cNvSpPr txBox="1"/>
            <p:nvPr/>
          </p:nvSpPr>
          <p:spPr>
            <a:xfrm>
              <a:off x="3400550" y="3892625"/>
              <a:ext cx="30531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2. Alice asks everyone else on the local network: </a:t>
              </a:r>
              <a:r>
                <a:rPr lang="en">
                  <a:solidFill>
                    <a:schemeClr val="dk1"/>
                  </a:solidFill>
                </a:rPr>
                <a:t>“What is the MAC address of </a:t>
              </a:r>
              <a:r>
                <a:rPr b="1" lang="en">
                  <a:solidFill>
                    <a:schemeClr val="dk1"/>
                  </a:solidFill>
                  <a:latin typeface="Courier New"/>
                  <a:ea typeface="Courier New"/>
                  <a:cs typeface="Courier New"/>
                  <a:sym typeface="Courier New"/>
                </a:rPr>
                <a:t>1.2.3.4</a:t>
              </a:r>
              <a:r>
                <a:rPr lang="en">
                  <a:solidFill>
                    <a:schemeClr val="dk1"/>
                  </a:solidFill>
                </a:rPr>
                <a:t>?”</a:t>
              </a:r>
              <a:endParaRPr/>
            </a:p>
          </p:txBody>
        </p:sp>
      </p:grpSp>
      <p:sp>
        <p:nvSpPr>
          <p:cNvPr id="239" name="Google Shape;239;p29"/>
          <p:cNvSpPr txBox="1"/>
          <p:nvPr/>
        </p:nvSpPr>
        <p:spPr>
          <a:xfrm>
            <a:off x="260500" y="1220400"/>
            <a:ext cx="35739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Alice knows Bob’s IP address (</a:t>
            </a:r>
            <a:r>
              <a:rPr b="1" lang="en">
                <a:latin typeface="Courier New"/>
                <a:ea typeface="Courier New"/>
                <a:cs typeface="Courier New"/>
                <a:sym typeface="Courier New"/>
              </a:rPr>
              <a:t>1.2.3.4</a:t>
            </a:r>
            <a:r>
              <a:rPr lang="en"/>
              <a:t>) but wants to learn Bob’s MAC address.</a:t>
            </a:r>
            <a:endParaRPr/>
          </a:p>
        </p:txBody>
      </p:sp>
      <p:grpSp>
        <p:nvGrpSpPr>
          <p:cNvPr id="240" name="Google Shape;240;p29"/>
          <p:cNvGrpSpPr/>
          <p:nvPr/>
        </p:nvGrpSpPr>
        <p:grpSpPr>
          <a:xfrm>
            <a:off x="3195200" y="1461450"/>
            <a:ext cx="3355500" cy="1948500"/>
            <a:chOff x="3195200" y="1461450"/>
            <a:chExt cx="3355500" cy="1948500"/>
          </a:xfrm>
        </p:grpSpPr>
        <p:cxnSp>
          <p:nvCxnSpPr>
            <p:cNvPr id="241" name="Google Shape;241;p29"/>
            <p:cNvCxnSpPr>
              <a:stCxn id="230" idx="3"/>
              <a:endCxn id="231" idx="1"/>
            </p:cNvCxnSpPr>
            <p:nvPr/>
          </p:nvCxnSpPr>
          <p:spPr>
            <a:xfrm flipH="1" rot="10800000">
              <a:off x="3195200" y="1461450"/>
              <a:ext cx="3355500" cy="1110300"/>
            </a:xfrm>
            <a:prstGeom prst="straightConnector1">
              <a:avLst/>
            </a:prstGeom>
            <a:noFill/>
            <a:ln cap="flat" cmpd="sng" w="9525">
              <a:solidFill>
                <a:schemeClr val="dk2"/>
              </a:solidFill>
              <a:prstDash val="solid"/>
              <a:round/>
              <a:headEnd len="med" w="med" type="none"/>
              <a:tailEnd len="med" w="med" type="triangle"/>
            </a:ln>
          </p:spPr>
        </p:cxnSp>
        <p:cxnSp>
          <p:nvCxnSpPr>
            <p:cNvPr id="242" name="Google Shape;242;p29"/>
            <p:cNvCxnSpPr>
              <a:stCxn id="230" idx="3"/>
              <a:endCxn id="232" idx="1"/>
            </p:cNvCxnSpPr>
            <p:nvPr/>
          </p:nvCxnSpPr>
          <p:spPr>
            <a:xfrm flipH="1" rot="10800000">
              <a:off x="3195200" y="2110950"/>
              <a:ext cx="3355500" cy="460800"/>
            </a:xfrm>
            <a:prstGeom prst="straightConnector1">
              <a:avLst/>
            </a:prstGeom>
            <a:noFill/>
            <a:ln cap="flat" cmpd="sng" w="9525">
              <a:solidFill>
                <a:schemeClr val="dk2"/>
              </a:solidFill>
              <a:prstDash val="solid"/>
              <a:round/>
              <a:headEnd len="med" w="med" type="none"/>
              <a:tailEnd len="med" w="med" type="triangle"/>
            </a:ln>
          </p:spPr>
        </p:cxnSp>
        <p:cxnSp>
          <p:nvCxnSpPr>
            <p:cNvPr id="243" name="Google Shape;243;p29"/>
            <p:cNvCxnSpPr>
              <a:stCxn id="230" idx="3"/>
              <a:endCxn id="233" idx="1"/>
            </p:cNvCxnSpPr>
            <p:nvPr/>
          </p:nvCxnSpPr>
          <p:spPr>
            <a:xfrm>
              <a:off x="3195200" y="2571750"/>
              <a:ext cx="3355500" cy="188700"/>
            </a:xfrm>
            <a:prstGeom prst="straightConnector1">
              <a:avLst/>
            </a:prstGeom>
            <a:noFill/>
            <a:ln cap="flat" cmpd="sng" w="9525">
              <a:solidFill>
                <a:schemeClr val="dk2"/>
              </a:solidFill>
              <a:prstDash val="solid"/>
              <a:round/>
              <a:headEnd len="med" w="med" type="none"/>
              <a:tailEnd len="med" w="med" type="triangle"/>
            </a:ln>
          </p:spPr>
        </p:cxnSp>
        <p:cxnSp>
          <p:nvCxnSpPr>
            <p:cNvPr id="244" name="Google Shape;244;p29"/>
            <p:cNvCxnSpPr>
              <a:stCxn id="230" idx="3"/>
              <a:endCxn id="234" idx="1"/>
            </p:cNvCxnSpPr>
            <p:nvPr/>
          </p:nvCxnSpPr>
          <p:spPr>
            <a:xfrm>
              <a:off x="3195200" y="2571750"/>
              <a:ext cx="3355500" cy="8382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Address Resolution Protocol (ARP)</a:t>
            </a:r>
            <a:endParaRPr/>
          </a:p>
        </p:txBody>
      </p:sp>
      <p:sp>
        <p:nvSpPr>
          <p:cNvPr id="250" name="Google Shape;25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1" name="Google Shape;251;p30"/>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252" name="Google Shape;252;p30"/>
          <p:cNvSpPr/>
          <p:nvPr/>
        </p:nvSpPr>
        <p:spPr>
          <a:xfrm>
            <a:off x="6550800" y="12646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253" name="Google Shape;253;p30"/>
          <p:cNvSpPr/>
          <p:nvPr/>
        </p:nvSpPr>
        <p:spPr>
          <a:xfrm>
            <a:off x="6550800" y="19141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Charlie</a:t>
            </a:r>
            <a:endParaRPr/>
          </a:p>
        </p:txBody>
      </p:sp>
      <p:sp>
        <p:nvSpPr>
          <p:cNvPr id="254" name="Google Shape;254;p30"/>
          <p:cNvSpPr/>
          <p:nvPr/>
        </p:nvSpPr>
        <p:spPr>
          <a:xfrm>
            <a:off x="6550800" y="25635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Dave</a:t>
            </a:r>
            <a:endParaRPr/>
          </a:p>
        </p:txBody>
      </p:sp>
      <p:sp>
        <p:nvSpPr>
          <p:cNvPr id="255" name="Google Shape;255;p30"/>
          <p:cNvSpPr/>
          <p:nvPr/>
        </p:nvSpPr>
        <p:spPr>
          <a:xfrm>
            <a:off x="6550800" y="32130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aphicFrame>
        <p:nvGraphicFramePr>
          <p:cNvPr id="256" name="Google Shape;256;p30"/>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956825"/>
                <a:gridCol w="956825"/>
              </a:tblGrid>
              <a:tr h="396200">
                <a:tc gridSpan="2">
                  <a:txBody>
                    <a:bodyPr/>
                    <a:lstStyle/>
                    <a:p>
                      <a:pPr indent="0" lvl="0" marL="0" rtl="0" algn="ctr">
                        <a:spcBef>
                          <a:spcPts val="0"/>
                        </a:spcBef>
                        <a:spcAft>
                          <a:spcPts val="0"/>
                        </a:spcAft>
                        <a:buNone/>
                      </a:pPr>
                      <a:r>
                        <a:rPr lang="en"/>
                        <a:t>Alice’s cache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MAC</a:t>
                      </a:r>
                      <a:endParaRPr/>
                    </a:p>
                  </a:txBody>
                  <a:tcPr marT="91425" marB="91425" marR="91425" marL="91425"/>
                </a:tc>
              </a:tr>
              <a:tr h="396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pSp>
        <p:nvGrpSpPr>
          <p:cNvPr id="257" name="Google Shape;257;p30"/>
          <p:cNvGrpSpPr/>
          <p:nvPr/>
        </p:nvGrpSpPr>
        <p:grpSpPr>
          <a:xfrm>
            <a:off x="2524675" y="2526900"/>
            <a:ext cx="3147900" cy="1651350"/>
            <a:chOff x="2524675" y="2526900"/>
            <a:chExt cx="3147900" cy="1651350"/>
          </a:xfrm>
        </p:grpSpPr>
        <p:cxnSp>
          <p:nvCxnSpPr>
            <p:cNvPr id="258" name="Google Shape;258;p30"/>
            <p:cNvCxnSpPr/>
            <p:nvPr/>
          </p:nvCxnSpPr>
          <p:spPr>
            <a:xfrm rot="10800000">
              <a:off x="4285950" y="2526900"/>
              <a:ext cx="0" cy="915300"/>
            </a:xfrm>
            <a:prstGeom prst="straightConnector1">
              <a:avLst/>
            </a:prstGeom>
            <a:noFill/>
            <a:ln cap="flat" cmpd="sng" w="19050">
              <a:solidFill>
                <a:srgbClr val="E69138"/>
              </a:solidFill>
              <a:prstDash val="solid"/>
              <a:round/>
              <a:headEnd len="med" w="med" type="none"/>
              <a:tailEnd len="med" w="med" type="triangle"/>
            </a:ln>
          </p:spPr>
        </p:cxnSp>
        <p:sp>
          <p:nvSpPr>
            <p:cNvPr id="259" name="Google Shape;259;p30"/>
            <p:cNvSpPr txBox="1"/>
            <p:nvPr/>
          </p:nvSpPr>
          <p:spPr>
            <a:xfrm>
              <a:off x="2524675" y="3346950"/>
              <a:ext cx="31479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 Bob responds: </a:t>
              </a:r>
              <a:r>
                <a:rPr lang="en">
                  <a:solidFill>
                    <a:schemeClr val="dk1"/>
                  </a:solidFill>
                </a:rPr>
                <a:t>“My IP is </a:t>
              </a:r>
              <a:r>
                <a:rPr b="1" lang="en">
                  <a:solidFill>
                    <a:schemeClr val="dk1"/>
                  </a:solidFill>
                  <a:latin typeface="Courier New"/>
                  <a:ea typeface="Courier New"/>
                  <a:cs typeface="Courier New"/>
                  <a:sym typeface="Courier New"/>
                </a:rPr>
                <a:t>1.2.3.4</a:t>
              </a:r>
              <a:r>
                <a:rPr lang="en">
                  <a:solidFill>
                    <a:schemeClr val="dk1"/>
                  </a:solidFill>
                </a:rPr>
                <a:t> and my MAC address is </a:t>
              </a:r>
              <a:r>
                <a:rPr b="1" lang="en">
                  <a:solidFill>
                    <a:schemeClr val="dk1"/>
                  </a:solidFill>
                  <a:latin typeface="Courier New"/>
                  <a:ea typeface="Courier New"/>
                  <a:cs typeface="Courier New"/>
                  <a:sym typeface="Courier New"/>
                </a:rPr>
                <a:t>ca:fe:f0:0d:be:ef</a:t>
              </a:r>
              <a:r>
                <a:rPr lang="en">
                  <a:solidFill>
                    <a:schemeClr val="dk1"/>
                  </a:solidFill>
                </a:rPr>
                <a:t>.”</a:t>
              </a:r>
              <a:endParaRPr/>
            </a:p>
          </p:txBody>
        </p:sp>
      </p:grpSp>
      <p:sp>
        <p:nvSpPr>
          <p:cNvPr id="260" name="Google Shape;260;p30"/>
          <p:cNvSpPr txBox="1"/>
          <p:nvPr/>
        </p:nvSpPr>
        <p:spPr>
          <a:xfrm>
            <a:off x="260500" y="1220400"/>
            <a:ext cx="35739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Alice knows Bob’s IP address (</a:t>
            </a:r>
            <a:r>
              <a:rPr b="1" lang="en">
                <a:latin typeface="Courier New"/>
                <a:ea typeface="Courier New"/>
                <a:cs typeface="Courier New"/>
                <a:sym typeface="Courier New"/>
              </a:rPr>
              <a:t>1.2.3.4</a:t>
            </a:r>
            <a:r>
              <a:rPr lang="en"/>
              <a:t>) but wants to learn Bob’s MAC address.</a:t>
            </a:r>
            <a:endParaRPr/>
          </a:p>
        </p:txBody>
      </p:sp>
      <p:cxnSp>
        <p:nvCxnSpPr>
          <p:cNvPr id="261" name="Google Shape;261;p30"/>
          <p:cNvCxnSpPr>
            <a:stCxn id="252" idx="1"/>
            <a:endCxn id="251" idx="3"/>
          </p:cNvCxnSpPr>
          <p:nvPr/>
        </p:nvCxnSpPr>
        <p:spPr>
          <a:xfrm flipH="1">
            <a:off x="3195300" y="1461475"/>
            <a:ext cx="3355500" cy="1110300"/>
          </a:xfrm>
          <a:prstGeom prst="straightConnector1">
            <a:avLst/>
          </a:prstGeom>
          <a:noFill/>
          <a:ln cap="flat" cmpd="sng" w="9525">
            <a:solidFill>
              <a:schemeClr val="dk2"/>
            </a:solidFill>
            <a:prstDash val="solid"/>
            <a:round/>
            <a:headEnd len="med" w="med" type="none"/>
            <a:tailEnd len="med" w="med" type="triangle"/>
          </a:ln>
        </p:spPr>
      </p:cxnSp>
      <p:sp>
        <p:nvSpPr>
          <p:cNvPr id="262" name="Google Shape;262;p30"/>
          <p:cNvSpPr txBox="1"/>
          <p:nvPr/>
        </p:nvSpPr>
        <p:spPr>
          <a:xfrm>
            <a:off x="2789050" y="4122625"/>
            <a:ext cx="31479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Everybody else ignores the request.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Address Resolution Protocol (ARP)</a:t>
            </a:r>
            <a:endParaRPr/>
          </a:p>
        </p:txBody>
      </p:sp>
      <p:sp>
        <p:nvSpPr>
          <p:cNvPr id="268" name="Google Shape;26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31"/>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270" name="Google Shape;270;p31"/>
          <p:cNvSpPr/>
          <p:nvPr/>
        </p:nvSpPr>
        <p:spPr>
          <a:xfrm>
            <a:off x="6550800" y="12646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271" name="Google Shape;271;p31"/>
          <p:cNvSpPr/>
          <p:nvPr/>
        </p:nvSpPr>
        <p:spPr>
          <a:xfrm>
            <a:off x="6550800" y="19141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Charlie</a:t>
            </a:r>
            <a:endParaRPr/>
          </a:p>
        </p:txBody>
      </p:sp>
      <p:sp>
        <p:nvSpPr>
          <p:cNvPr id="272" name="Google Shape;272;p31"/>
          <p:cNvSpPr/>
          <p:nvPr/>
        </p:nvSpPr>
        <p:spPr>
          <a:xfrm>
            <a:off x="6550800" y="25635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Dave</a:t>
            </a:r>
            <a:endParaRPr/>
          </a:p>
        </p:txBody>
      </p:sp>
      <p:sp>
        <p:nvSpPr>
          <p:cNvPr id="273" name="Google Shape;273;p31"/>
          <p:cNvSpPr/>
          <p:nvPr/>
        </p:nvSpPr>
        <p:spPr>
          <a:xfrm>
            <a:off x="6550800" y="32130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aphicFrame>
        <p:nvGraphicFramePr>
          <p:cNvPr id="274" name="Google Shape;274;p31"/>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956825"/>
                <a:gridCol w="956825"/>
              </a:tblGrid>
              <a:tr h="396200">
                <a:tc gridSpan="2">
                  <a:txBody>
                    <a:bodyPr/>
                    <a:lstStyle/>
                    <a:p>
                      <a:pPr indent="0" lvl="0" marL="0" rtl="0" algn="ctr">
                        <a:spcBef>
                          <a:spcPts val="0"/>
                        </a:spcBef>
                        <a:spcAft>
                          <a:spcPts val="0"/>
                        </a:spcAft>
                        <a:buNone/>
                      </a:pPr>
                      <a:r>
                        <a:rPr lang="en"/>
                        <a:t>Alice’s cache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MAC</a:t>
                      </a:r>
                      <a:endParaRPr/>
                    </a:p>
                  </a:txBody>
                  <a:tcPr marT="91425" marB="91425" marR="91425" marL="91425"/>
                </a:tc>
              </a:tr>
              <a:tr h="396200">
                <a:tc>
                  <a:txBody>
                    <a:bodyPr/>
                    <a:lstStyle/>
                    <a:p>
                      <a:pPr indent="0" lvl="0" marL="0" rtl="0" algn="ctr">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1.2.3.4</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sz="1100">
                          <a:solidFill>
                            <a:schemeClr val="dk1"/>
                          </a:solidFill>
                          <a:latin typeface="Courier New"/>
                          <a:ea typeface="Courier New"/>
                          <a:cs typeface="Courier New"/>
                          <a:sym typeface="Courier New"/>
                        </a:rPr>
                        <a:t>ca:fe:f0:0d:be:ef</a:t>
                      </a:r>
                      <a:endParaRPr sz="1100"/>
                    </a:p>
                  </a:txBody>
                  <a:tcPr marT="91425" marB="91425" marR="91425" marL="91425"/>
                </a:tc>
              </a:tr>
            </a:tbl>
          </a:graphicData>
        </a:graphic>
      </p:graphicFrame>
      <p:grpSp>
        <p:nvGrpSpPr>
          <p:cNvPr id="275" name="Google Shape;275;p31"/>
          <p:cNvGrpSpPr/>
          <p:nvPr/>
        </p:nvGrpSpPr>
        <p:grpSpPr>
          <a:xfrm>
            <a:off x="260500" y="3384625"/>
            <a:ext cx="2319300" cy="1078775"/>
            <a:chOff x="260500" y="3384625"/>
            <a:chExt cx="2319300" cy="1078775"/>
          </a:xfrm>
        </p:grpSpPr>
        <p:cxnSp>
          <p:nvCxnSpPr>
            <p:cNvPr id="276" name="Google Shape;276;p31"/>
            <p:cNvCxnSpPr/>
            <p:nvPr/>
          </p:nvCxnSpPr>
          <p:spPr>
            <a:xfrm rot="10800000">
              <a:off x="972325" y="3384625"/>
              <a:ext cx="0" cy="915300"/>
            </a:xfrm>
            <a:prstGeom prst="straightConnector1">
              <a:avLst/>
            </a:prstGeom>
            <a:noFill/>
            <a:ln cap="flat" cmpd="sng" w="19050">
              <a:solidFill>
                <a:srgbClr val="E69138"/>
              </a:solidFill>
              <a:prstDash val="solid"/>
              <a:round/>
              <a:headEnd len="med" w="med" type="none"/>
              <a:tailEnd len="med" w="med" type="triangle"/>
            </a:ln>
          </p:spPr>
        </p:cxnSp>
        <p:sp>
          <p:nvSpPr>
            <p:cNvPr id="277" name="Google Shape;277;p31"/>
            <p:cNvSpPr txBox="1"/>
            <p:nvPr/>
          </p:nvSpPr>
          <p:spPr>
            <a:xfrm>
              <a:off x="260500" y="3847800"/>
              <a:ext cx="23193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 Alice adds Bob’s MAC address to her cache.</a:t>
              </a:r>
              <a:endParaRPr/>
            </a:p>
          </p:txBody>
        </p:sp>
      </p:grpSp>
      <p:sp>
        <p:nvSpPr>
          <p:cNvPr id="278" name="Google Shape;278;p31"/>
          <p:cNvSpPr txBox="1"/>
          <p:nvPr/>
        </p:nvSpPr>
        <p:spPr>
          <a:xfrm>
            <a:off x="260500" y="1220400"/>
            <a:ext cx="35739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Alice knows Bob’s IP address (</a:t>
            </a:r>
            <a:r>
              <a:rPr b="1" lang="en">
                <a:latin typeface="Courier New"/>
                <a:ea typeface="Courier New"/>
                <a:cs typeface="Courier New"/>
                <a:sym typeface="Courier New"/>
              </a:rPr>
              <a:t>1.2.3.4</a:t>
            </a:r>
            <a:r>
              <a:rPr lang="en"/>
              <a:t>) but wants to learn Bob’s MAC address.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Address Resolution Protocol (ARP)</a:t>
            </a:r>
            <a:endParaRPr/>
          </a:p>
        </p:txBody>
      </p:sp>
      <p:sp>
        <p:nvSpPr>
          <p:cNvPr id="284" name="Google Shape;28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32"/>
          <p:cNvSpPr txBox="1"/>
          <p:nvPr>
            <p:ph idx="1" type="body"/>
          </p:nvPr>
        </p:nvSpPr>
        <p:spPr>
          <a:xfrm>
            <a:off x="198500" y="11706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Bob is outside of the LAN, the router will respond with its own MAC address</a:t>
            </a:r>
            <a:endParaRPr/>
          </a:p>
          <a:p>
            <a:pPr indent="-317500" lvl="1" marL="914400" rtl="0" algn="l">
              <a:spcBef>
                <a:spcPts val="0"/>
              </a:spcBef>
              <a:spcAft>
                <a:spcPts val="0"/>
              </a:spcAft>
              <a:buSzPts val="1400"/>
              <a:buChar char="○"/>
            </a:pPr>
            <a:r>
              <a:rPr lang="en"/>
              <a:t>If Alice wants to send a packet to Bob, she sends the packet to the router</a:t>
            </a:r>
            <a:endParaRPr/>
          </a:p>
          <a:p>
            <a:pPr indent="-317500" lvl="1" marL="914400" rtl="0" algn="l">
              <a:spcBef>
                <a:spcPts val="0"/>
              </a:spcBef>
              <a:spcAft>
                <a:spcPts val="0"/>
              </a:spcAft>
              <a:buSzPts val="1400"/>
              <a:buChar char="○"/>
            </a:pPr>
            <a:r>
              <a:rPr lang="en"/>
              <a:t>The router can forward the packet to other LANs to reach Bob</a:t>
            </a:r>
            <a:endParaRPr/>
          </a:p>
          <a:p>
            <a:pPr indent="-317500" lvl="1" marL="914400" rtl="0" algn="l">
              <a:spcBef>
                <a:spcPts val="0"/>
              </a:spcBef>
              <a:spcAft>
                <a:spcPts val="0"/>
              </a:spcAft>
              <a:buSzPts val="1400"/>
              <a:buChar char="○"/>
            </a:pPr>
            <a:r>
              <a:rPr lang="en"/>
              <a:t>Alternatively, if Alice knows what addresses belong to the LAN, she will request the MAC address that corresponds to the router’s IP</a:t>
            </a:r>
            <a:endParaRPr/>
          </a:p>
          <a:p>
            <a:pPr indent="-342900" lvl="0" marL="457200" rtl="0" algn="l">
              <a:spcBef>
                <a:spcPts val="0"/>
              </a:spcBef>
              <a:spcAft>
                <a:spcPts val="0"/>
              </a:spcAft>
              <a:buSzPts val="1800"/>
              <a:buChar char="●"/>
            </a:pPr>
            <a:r>
              <a:rPr lang="en"/>
              <a:t>All received ARP replies are cached, even if no request was sent</a:t>
            </a:r>
            <a:endParaRPr/>
          </a:p>
        </p:txBody>
      </p:sp>
      <p:sp>
        <p:nvSpPr>
          <p:cNvPr id="286" name="Google Shape;286;p32"/>
          <p:cNvSpPr/>
          <p:nvPr/>
        </p:nvSpPr>
        <p:spPr>
          <a:xfrm>
            <a:off x="5696338" y="3105150"/>
            <a:ext cx="2256300" cy="430800"/>
          </a:xfrm>
          <a:prstGeom prst="rect">
            <a:avLst/>
          </a:prstGeom>
          <a:solidFill>
            <a:srgbClr val="F9CB9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To: Router’s MAC address</a:t>
            </a:r>
            <a:endParaRPr sz="1200"/>
          </a:p>
        </p:txBody>
      </p:sp>
      <p:sp>
        <p:nvSpPr>
          <p:cNvPr id="287" name="Google Shape;287;p32"/>
          <p:cNvSpPr/>
          <p:nvPr/>
        </p:nvSpPr>
        <p:spPr>
          <a:xfrm>
            <a:off x="5696338" y="3970575"/>
            <a:ext cx="2256300" cy="4308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To: Bob’s IP address</a:t>
            </a:r>
            <a:endParaRPr sz="1200"/>
          </a:p>
        </p:txBody>
      </p:sp>
      <p:grpSp>
        <p:nvGrpSpPr>
          <p:cNvPr id="288" name="Google Shape;288;p32"/>
          <p:cNvGrpSpPr/>
          <p:nvPr/>
        </p:nvGrpSpPr>
        <p:grpSpPr>
          <a:xfrm>
            <a:off x="3062200" y="2905925"/>
            <a:ext cx="2042100" cy="2176200"/>
            <a:chOff x="3062200" y="2753525"/>
            <a:chExt cx="2042100" cy="2176200"/>
          </a:xfrm>
        </p:grpSpPr>
        <p:sp>
          <p:nvSpPr>
            <p:cNvPr id="289" name="Google Shape;289;p32"/>
            <p:cNvSpPr/>
            <p:nvPr/>
          </p:nvSpPr>
          <p:spPr>
            <a:xfrm>
              <a:off x="3062200" y="2753525"/>
              <a:ext cx="2042100" cy="2176200"/>
            </a:xfrm>
            <a:prstGeom prst="rect">
              <a:avLst/>
            </a:prstGeom>
            <a:solidFill>
              <a:srgbClr val="F9CB9C"/>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From: 20:61:84:3a:a9:52</a:t>
              </a:r>
              <a:endParaRPr sz="1000"/>
            </a:p>
            <a:p>
              <a:pPr indent="0" lvl="0" marL="0" rtl="0" algn="l">
                <a:spcBef>
                  <a:spcPts val="0"/>
                </a:spcBef>
                <a:spcAft>
                  <a:spcPts val="0"/>
                </a:spcAft>
                <a:buNone/>
              </a:pPr>
              <a:r>
                <a:rPr lang="en" sz="1000"/>
                <a:t>To: 6d:36:ff:4a:32:92</a:t>
              </a:r>
              <a:endParaRPr sz="1000"/>
            </a:p>
          </p:txBody>
        </p:sp>
        <p:sp>
          <p:nvSpPr>
            <p:cNvPr id="290" name="Google Shape;290;p32"/>
            <p:cNvSpPr/>
            <p:nvPr/>
          </p:nvSpPr>
          <p:spPr>
            <a:xfrm>
              <a:off x="3229600" y="3241500"/>
              <a:ext cx="1725600" cy="1619100"/>
            </a:xfrm>
            <a:prstGeom prst="rect">
              <a:avLst/>
            </a:prstGeom>
            <a:solidFill>
              <a:srgbClr val="FFF2CC"/>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From: 1.2.3.4</a:t>
              </a:r>
              <a:endParaRPr sz="1000"/>
            </a:p>
            <a:p>
              <a:pPr indent="0" lvl="0" marL="0" rtl="0" algn="l">
                <a:spcBef>
                  <a:spcPts val="0"/>
                </a:spcBef>
                <a:spcAft>
                  <a:spcPts val="0"/>
                </a:spcAft>
                <a:buNone/>
              </a:pPr>
              <a:r>
                <a:rPr lang="en" sz="1000"/>
                <a:t>To: 5.6.7.8</a:t>
              </a:r>
              <a:endParaRPr sz="1000"/>
            </a:p>
          </p:txBody>
        </p:sp>
        <p:sp>
          <p:nvSpPr>
            <p:cNvPr id="291" name="Google Shape;291;p32"/>
            <p:cNvSpPr/>
            <p:nvPr/>
          </p:nvSpPr>
          <p:spPr>
            <a:xfrm>
              <a:off x="3365200" y="3735350"/>
              <a:ext cx="1436100" cy="1069800"/>
            </a:xfrm>
            <a:prstGeom prst="rect">
              <a:avLst/>
            </a:prstGeom>
            <a:solidFill>
              <a:srgbClr val="B6D7A8"/>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From: Port 1234</a:t>
              </a:r>
              <a:endParaRPr sz="1000"/>
            </a:p>
            <a:p>
              <a:pPr indent="0" lvl="0" marL="0" rtl="0" algn="l">
                <a:spcBef>
                  <a:spcPts val="0"/>
                </a:spcBef>
                <a:spcAft>
                  <a:spcPts val="0"/>
                </a:spcAft>
                <a:buNone/>
              </a:pPr>
              <a:r>
                <a:rPr lang="en" sz="1000"/>
                <a:t>To: Port 80</a:t>
              </a:r>
              <a:endParaRPr sz="1000"/>
            </a:p>
          </p:txBody>
        </p:sp>
        <p:sp>
          <p:nvSpPr>
            <p:cNvPr id="292" name="Google Shape;292;p32"/>
            <p:cNvSpPr/>
            <p:nvPr/>
          </p:nvSpPr>
          <p:spPr>
            <a:xfrm>
              <a:off x="3500800" y="4229300"/>
              <a:ext cx="1164900" cy="520200"/>
            </a:xfrm>
            <a:prstGeom prst="rect">
              <a:avLst/>
            </a:prstGeom>
            <a:solidFill>
              <a:srgbClr val="A4C2F4"/>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GET / HTTP/1.1</a:t>
              </a:r>
              <a:endParaRPr sz="1000"/>
            </a:p>
            <a:p>
              <a:pPr indent="0" lvl="0" marL="0" rtl="0" algn="l">
                <a:spcBef>
                  <a:spcPts val="0"/>
                </a:spcBef>
                <a:spcAft>
                  <a:spcPts val="0"/>
                </a:spcAft>
                <a:buNone/>
              </a:pPr>
              <a:r>
                <a:rPr lang="en" sz="1000"/>
                <a:t>...</a:t>
              </a:r>
              <a:endParaRPr sz="1000"/>
            </a:p>
          </p:txBody>
        </p:sp>
      </p:grpSp>
      <p:grpSp>
        <p:nvGrpSpPr>
          <p:cNvPr id="293" name="Google Shape;293;p32"/>
          <p:cNvGrpSpPr/>
          <p:nvPr/>
        </p:nvGrpSpPr>
        <p:grpSpPr>
          <a:xfrm>
            <a:off x="964962" y="3564450"/>
            <a:ext cx="2264700" cy="1077750"/>
            <a:chOff x="964962" y="3412050"/>
            <a:chExt cx="2264700" cy="1077750"/>
          </a:xfrm>
        </p:grpSpPr>
        <p:sp>
          <p:nvSpPr>
            <p:cNvPr id="294" name="Google Shape;294;p32"/>
            <p:cNvSpPr/>
            <p:nvPr/>
          </p:nvSpPr>
          <p:spPr>
            <a:xfrm>
              <a:off x="964962" y="4059000"/>
              <a:ext cx="1335300" cy="4308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Layer 3: </a:t>
              </a:r>
              <a:r>
                <a:rPr lang="en" sz="1200"/>
                <a:t>IP</a:t>
              </a:r>
              <a:endParaRPr sz="1200"/>
            </a:p>
          </p:txBody>
        </p:sp>
        <p:sp>
          <p:nvSpPr>
            <p:cNvPr id="295" name="Google Shape;295;p32"/>
            <p:cNvSpPr/>
            <p:nvPr/>
          </p:nvSpPr>
          <p:spPr>
            <a:xfrm>
              <a:off x="964963" y="3412050"/>
              <a:ext cx="1335300" cy="430800"/>
            </a:xfrm>
            <a:prstGeom prst="rect">
              <a:avLst/>
            </a:prstGeom>
            <a:solidFill>
              <a:srgbClr val="F9CB9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Layer 2: </a:t>
              </a:r>
              <a:r>
                <a:rPr lang="en" sz="1200"/>
                <a:t>Ethernet</a:t>
              </a:r>
              <a:endParaRPr sz="1200"/>
            </a:p>
          </p:txBody>
        </p:sp>
        <p:cxnSp>
          <p:nvCxnSpPr>
            <p:cNvPr id="296" name="Google Shape;296;p32"/>
            <p:cNvCxnSpPr>
              <a:stCxn id="295" idx="3"/>
              <a:endCxn id="289" idx="1"/>
            </p:cNvCxnSpPr>
            <p:nvPr/>
          </p:nvCxnSpPr>
          <p:spPr>
            <a:xfrm>
              <a:off x="2300263" y="3627450"/>
              <a:ext cx="762000" cy="214200"/>
            </a:xfrm>
            <a:prstGeom prst="straightConnector1">
              <a:avLst/>
            </a:prstGeom>
            <a:noFill/>
            <a:ln cap="flat" cmpd="sng" w="9525">
              <a:solidFill>
                <a:schemeClr val="dk2"/>
              </a:solidFill>
              <a:prstDash val="solid"/>
              <a:round/>
              <a:headEnd len="med" w="med" type="none"/>
              <a:tailEnd len="med" w="med" type="triangle"/>
            </a:ln>
          </p:spPr>
        </p:cxnSp>
        <p:cxnSp>
          <p:nvCxnSpPr>
            <p:cNvPr id="297" name="Google Shape;297;p32"/>
            <p:cNvCxnSpPr>
              <a:stCxn id="294" idx="3"/>
              <a:endCxn id="290" idx="1"/>
            </p:cNvCxnSpPr>
            <p:nvPr/>
          </p:nvCxnSpPr>
          <p:spPr>
            <a:xfrm flipH="1" rot="10800000">
              <a:off x="2300262" y="4051200"/>
              <a:ext cx="929400" cy="223200"/>
            </a:xfrm>
            <a:prstGeom prst="straightConnector1">
              <a:avLst/>
            </a:prstGeom>
            <a:noFill/>
            <a:ln cap="flat" cmpd="sng" w="9525">
              <a:solidFill>
                <a:schemeClr val="dk2"/>
              </a:solidFill>
              <a:prstDash val="solid"/>
              <a:round/>
              <a:headEnd len="med" w="med" type="none"/>
              <a:tailEnd len="med" w="med" type="triangle"/>
            </a:ln>
          </p:spPr>
        </p:cxnSp>
      </p:grpSp>
      <p:cxnSp>
        <p:nvCxnSpPr>
          <p:cNvPr id="298" name="Google Shape;298;p32"/>
          <p:cNvCxnSpPr>
            <a:endCxn id="286" idx="1"/>
          </p:cNvCxnSpPr>
          <p:nvPr/>
        </p:nvCxnSpPr>
        <p:spPr>
          <a:xfrm>
            <a:off x="4373638" y="3245250"/>
            <a:ext cx="1322700" cy="75300"/>
          </a:xfrm>
          <a:prstGeom prst="straightConnector1">
            <a:avLst/>
          </a:prstGeom>
          <a:noFill/>
          <a:ln cap="flat" cmpd="sng" w="9525">
            <a:solidFill>
              <a:schemeClr val="dk2"/>
            </a:solidFill>
            <a:prstDash val="solid"/>
            <a:round/>
            <a:headEnd len="med" w="med" type="none"/>
            <a:tailEnd len="med" w="med" type="triangle"/>
          </a:ln>
        </p:spPr>
      </p:cxnSp>
      <p:cxnSp>
        <p:nvCxnSpPr>
          <p:cNvPr id="299" name="Google Shape;299;p32"/>
          <p:cNvCxnSpPr>
            <a:endCxn id="287" idx="1"/>
          </p:cNvCxnSpPr>
          <p:nvPr/>
        </p:nvCxnSpPr>
        <p:spPr>
          <a:xfrm>
            <a:off x="3984238" y="3732075"/>
            <a:ext cx="1712100" cy="453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Attacks on ARP</a:t>
            </a:r>
            <a:endParaRPr/>
          </a:p>
        </p:txBody>
      </p:sp>
      <p:sp>
        <p:nvSpPr>
          <p:cNvPr id="305" name="Google Shape;305;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6" name="Google Shape;306;p33"/>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307" name="Google Shape;307;p33"/>
          <p:cNvSpPr/>
          <p:nvPr/>
        </p:nvSpPr>
        <p:spPr>
          <a:xfrm>
            <a:off x="6550800" y="12646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308" name="Google Shape;308;p33"/>
          <p:cNvSpPr/>
          <p:nvPr/>
        </p:nvSpPr>
        <p:spPr>
          <a:xfrm>
            <a:off x="6550800" y="19141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Charlie</a:t>
            </a:r>
            <a:endParaRPr/>
          </a:p>
        </p:txBody>
      </p:sp>
      <p:sp>
        <p:nvSpPr>
          <p:cNvPr id="309" name="Google Shape;309;p33"/>
          <p:cNvSpPr/>
          <p:nvPr/>
        </p:nvSpPr>
        <p:spPr>
          <a:xfrm>
            <a:off x="6550800" y="25635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Mallory</a:t>
            </a:r>
            <a:endParaRPr/>
          </a:p>
        </p:txBody>
      </p:sp>
      <p:sp>
        <p:nvSpPr>
          <p:cNvPr id="310" name="Google Shape;310;p33"/>
          <p:cNvSpPr/>
          <p:nvPr/>
        </p:nvSpPr>
        <p:spPr>
          <a:xfrm>
            <a:off x="6550800" y="32130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aphicFrame>
        <p:nvGraphicFramePr>
          <p:cNvPr id="311" name="Google Shape;311;p33"/>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956825"/>
                <a:gridCol w="956825"/>
              </a:tblGrid>
              <a:tr h="396200">
                <a:tc gridSpan="2">
                  <a:txBody>
                    <a:bodyPr/>
                    <a:lstStyle/>
                    <a:p>
                      <a:pPr indent="0" lvl="0" marL="0" rtl="0" algn="ctr">
                        <a:spcBef>
                          <a:spcPts val="0"/>
                        </a:spcBef>
                        <a:spcAft>
                          <a:spcPts val="0"/>
                        </a:spcAft>
                        <a:buNone/>
                      </a:pPr>
                      <a:r>
                        <a:rPr lang="en"/>
                        <a:t>Alice’s cache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MAC</a:t>
                      </a:r>
                      <a:endParaRPr/>
                    </a:p>
                  </a:txBody>
                  <a:tcPr marT="91425" marB="91425" marR="91425" marL="91425"/>
                </a:tc>
              </a:tr>
              <a:tr h="396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pSp>
        <p:nvGrpSpPr>
          <p:cNvPr id="312" name="Google Shape;312;p33"/>
          <p:cNvGrpSpPr/>
          <p:nvPr/>
        </p:nvGrpSpPr>
        <p:grpSpPr>
          <a:xfrm>
            <a:off x="260500" y="3232225"/>
            <a:ext cx="3108300" cy="1562725"/>
            <a:chOff x="260500" y="3232225"/>
            <a:chExt cx="3108300" cy="1562725"/>
          </a:xfrm>
        </p:grpSpPr>
        <p:cxnSp>
          <p:nvCxnSpPr>
            <p:cNvPr id="313" name="Google Shape;313;p33"/>
            <p:cNvCxnSpPr/>
            <p:nvPr/>
          </p:nvCxnSpPr>
          <p:spPr>
            <a:xfrm rot="10800000">
              <a:off x="972325" y="3232225"/>
              <a:ext cx="0" cy="915300"/>
            </a:xfrm>
            <a:prstGeom prst="straightConnector1">
              <a:avLst/>
            </a:prstGeom>
            <a:noFill/>
            <a:ln cap="flat" cmpd="sng" w="19050">
              <a:solidFill>
                <a:srgbClr val="E69138"/>
              </a:solidFill>
              <a:prstDash val="solid"/>
              <a:round/>
              <a:headEnd len="med" w="med" type="none"/>
              <a:tailEnd len="med" w="med" type="triangle"/>
            </a:ln>
          </p:spPr>
        </p:cxnSp>
        <p:sp>
          <p:nvSpPr>
            <p:cNvPr id="314" name="Google Shape;314;p33"/>
            <p:cNvSpPr txBox="1"/>
            <p:nvPr/>
          </p:nvSpPr>
          <p:spPr>
            <a:xfrm>
              <a:off x="260500" y="3963650"/>
              <a:ext cx="31083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1. Alice checks her cache to see if she already knows the MAC address corresponding to</a:t>
              </a:r>
              <a:r>
                <a:rPr lang="en">
                  <a:solidFill>
                    <a:schemeClr val="dk1"/>
                  </a:solidFill>
                </a:rPr>
                <a:t> </a:t>
              </a:r>
              <a:r>
                <a:rPr b="1" lang="en">
                  <a:solidFill>
                    <a:schemeClr val="dk1"/>
                  </a:solidFill>
                  <a:latin typeface="Courier New"/>
                  <a:ea typeface="Courier New"/>
                  <a:cs typeface="Courier New"/>
                  <a:sym typeface="Courier New"/>
                </a:rPr>
                <a:t>1.2.3.4</a:t>
              </a:r>
              <a:r>
                <a:rPr lang="en"/>
                <a:t>.</a:t>
              </a:r>
              <a:endParaRPr/>
            </a:p>
          </p:txBody>
        </p:sp>
      </p:grpSp>
      <p:sp>
        <p:nvSpPr>
          <p:cNvPr id="315" name="Google Shape;315;p33"/>
          <p:cNvSpPr txBox="1"/>
          <p:nvPr/>
        </p:nvSpPr>
        <p:spPr>
          <a:xfrm>
            <a:off x="260500" y="1220400"/>
            <a:ext cx="35739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Alice knows Bob’s IP address (</a:t>
            </a:r>
            <a:r>
              <a:rPr b="1" lang="en">
                <a:latin typeface="Courier New"/>
                <a:ea typeface="Courier New"/>
                <a:cs typeface="Courier New"/>
                <a:sym typeface="Courier New"/>
              </a:rPr>
              <a:t>1.2.3.4</a:t>
            </a:r>
            <a:r>
              <a:rPr lang="en"/>
              <a:t>) but wants to learn Bob’s MAC address.</a:t>
            </a:r>
            <a:endParaRPr/>
          </a:p>
        </p:txBody>
      </p:sp>
      <p:sp>
        <p:nvSpPr>
          <p:cNvPr id="316" name="Google Shape;316;p33"/>
          <p:cNvSpPr txBox="1"/>
          <p:nvPr/>
        </p:nvSpPr>
        <p:spPr>
          <a:xfrm>
            <a:off x="3513500" y="3963650"/>
            <a:ext cx="28770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Since her cache is empty, she must make a request to find out.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Attacks on ARP</a:t>
            </a:r>
            <a:endParaRPr/>
          </a:p>
        </p:txBody>
      </p:sp>
      <p:sp>
        <p:nvSpPr>
          <p:cNvPr id="322" name="Google Shape;32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34"/>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324" name="Google Shape;324;p34"/>
          <p:cNvSpPr/>
          <p:nvPr/>
        </p:nvSpPr>
        <p:spPr>
          <a:xfrm>
            <a:off x="6550800" y="12646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325" name="Google Shape;325;p34"/>
          <p:cNvSpPr/>
          <p:nvPr/>
        </p:nvSpPr>
        <p:spPr>
          <a:xfrm>
            <a:off x="6550800" y="19141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Charlie</a:t>
            </a:r>
            <a:endParaRPr/>
          </a:p>
        </p:txBody>
      </p:sp>
      <p:sp>
        <p:nvSpPr>
          <p:cNvPr id="326" name="Google Shape;326;p34"/>
          <p:cNvSpPr/>
          <p:nvPr/>
        </p:nvSpPr>
        <p:spPr>
          <a:xfrm>
            <a:off x="6550800" y="25635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Mallory</a:t>
            </a:r>
            <a:endParaRPr/>
          </a:p>
        </p:txBody>
      </p:sp>
      <p:sp>
        <p:nvSpPr>
          <p:cNvPr id="327" name="Google Shape;327;p34"/>
          <p:cNvSpPr/>
          <p:nvPr/>
        </p:nvSpPr>
        <p:spPr>
          <a:xfrm>
            <a:off x="6550800" y="32130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aphicFrame>
        <p:nvGraphicFramePr>
          <p:cNvPr id="328" name="Google Shape;328;p34"/>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956825"/>
                <a:gridCol w="956825"/>
              </a:tblGrid>
              <a:tr h="396200">
                <a:tc gridSpan="2">
                  <a:txBody>
                    <a:bodyPr/>
                    <a:lstStyle/>
                    <a:p>
                      <a:pPr indent="0" lvl="0" marL="0" rtl="0" algn="ctr">
                        <a:spcBef>
                          <a:spcPts val="0"/>
                        </a:spcBef>
                        <a:spcAft>
                          <a:spcPts val="0"/>
                        </a:spcAft>
                        <a:buNone/>
                      </a:pPr>
                      <a:r>
                        <a:rPr lang="en"/>
                        <a:t>Alice’s cache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MAC</a:t>
                      </a:r>
                      <a:endParaRPr/>
                    </a:p>
                  </a:txBody>
                  <a:tcPr marT="91425" marB="91425" marR="91425" marL="91425"/>
                </a:tc>
              </a:tr>
              <a:tr h="396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29" name="Google Shape;329;p34"/>
          <p:cNvSpPr txBox="1"/>
          <p:nvPr/>
        </p:nvSpPr>
        <p:spPr>
          <a:xfrm>
            <a:off x="260500" y="1220400"/>
            <a:ext cx="35739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Alice knows Bob’s IP address (</a:t>
            </a:r>
            <a:r>
              <a:rPr b="1" lang="en">
                <a:latin typeface="Courier New"/>
                <a:ea typeface="Courier New"/>
                <a:cs typeface="Courier New"/>
                <a:sym typeface="Courier New"/>
              </a:rPr>
              <a:t>1.2.3.4</a:t>
            </a:r>
            <a:r>
              <a:rPr lang="en"/>
              <a:t>) but wants to learn Bob’s MAC address.</a:t>
            </a:r>
            <a:endParaRPr/>
          </a:p>
        </p:txBody>
      </p:sp>
      <p:grpSp>
        <p:nvGrpSpPr>
          <p:cNvPr id="330" name="Google Shape;330;p34"/>
          <p:cNvGrpSpPr/>
          <p:nvPr/>
        </p:nvGrpSpPr>
        <p:grpSpPr>
          <a:xfrm>
            <a:off x="3400550" y="3189625"/>
            <a:ext cx="3053100" cy="1534300"/>
            <a:chOff x="3400550" y="3189625"/>
            <a:chExt cx="3053100" cy="1534300"/>
          </a:xfrm>
        </p:grpSpPr>
        <p:cxnSp>
          <p:nvCxnSpPr>
            <p:cNvPr id="331" name="Google Shape;331;p34"/>
            <p:cNvCxnSpPr/>
            <p:nvPr/>
          </p:nvCxnSpPr>
          <p:spPr>
            <a:xfrm rot="10800000">
              <a:off x="4711975" y="3189625"/>
              <a:ext cx="0" cy="915300"/>
            </a:xfrm>
            <a:prstGeom prst="straightConnector1">
              <a:avLst/>
            </a:prstGeom>
            <a:noFill/>
            <a:ln cap="flat" cmpd="sng" w="19050">
              <a:solidFill>
                <a:srgbClr val="E69138"/>
              </a:solidFill>
              <a:prstDash val="solid"/>
              <a:round/>
              <a:headEnd len="med" w="med" type="none"/>
              <a:tailEnd len="med" w="med" type="triangle"/>
            </a:ln>
          </p:spPr>
        </p:cxnSp>
        <p:sp>
          <p:nvSpPr>
            <p:cNvPr id="332" name="Google Shape;332;p34"/>
            <p:cNvSpPr txBox="1"/>
            <p:nvPr/>
          </p:nvSpPr>
          <p:spPr>
            <a:xfrm>
              <a:off x="3400550" y="3892625"/>
              <a:ext cx="30531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2. Alice asks everyone else on the local network: </a:t>
              </a:r>
              <a:r>
                <a:rPr lang="en">
                  <a:solidFill>
                    <a:schemeClr val="dk1"/>
                  </a:solidFill>
                </a:rPr>
                <a:t>“What is the MAC address of </a:t>
              </a:r>
              <a:r>
                <a:rPr b="1" lang="en">
                  <a:solidFill>
                    <a:schemeClr val="dk1"/>
                  </a:solidFill>
                  <a:latin typeface="Courier New"/>
                  <a:ea typeface="Courier New"/>
                  <a:cs typeface="Courier New"/>
                  <a:sym typeface="Courier New"/>
                </a:rPr>
                <a:t>1.2.3.4</a:t>
              </a:r>
              <a:r>
                <a:rPr lang="en">
                  <a:solidFill>
                    <a:schemeClr val="dk1"/>
                  </a:solidFill>
                </a:rPr>
                <a:t>?”</a:t>
              </a:r>
              <a:endParaRPr/>
            </a:p>
          </p:txBody>
        </p:sp>
      </p:grpSp>
      <p:grpSp>
        <p:nvGrpSpPr>
          <p:cNvPr id="333" name="Google Shape;333;p34"/>
          <p:cNvGrpSpPr/>
          <p:nvPr/>
        </p:nvGrpSpPr>
        <p:grpSpPr>
          <a:xfrm>
            <a:off x="3195200" y="1461450"/>
            <a:ext cx="3355500" cy="1948500"/>
            <a:chOff x="3195200" y="1461450"/>
            <a:chExt cx="3355500" cy="1948500"/>
          </a:xfrm>
        </p:grpSpPr>
        <p:cxnSp>
          <p:nvCxnSpPr>
            <p:cNvPr id="334" name="Google Shape;334;p34"/>
            <p:cNvCxnSpPr>
              <a:stCxn id="323" idx="3"/>
              <a:endCxn id="324" idx="1"/>
            </p:cNvCxnSpPr>
            <p:nvPr/>
          </p:nvCxnSpPr>
          <p:spPr>
            <a:xfrm flipH="1" rot="10800000">
              <a:off x="3195200" y="1461450"/>
              <a:ext cx="3355500" cy="1110300"/>
            </a:xfrm>
            <a:prstGeom prst="straightConnector1">
              <a:avLst/>
            </a:prstGeom>
            <a:noFill/>
            <a:ln cap="flat" cmpd="sng" w="9525">
              <a:solidFill>
                <a:schemeClr val="dk2"/>
              </a:solidFill>
              <a:prstDash val="solid"/>
              <a:round/>
              <a:headEnd len="med" w="med" type="none"/>
              <a:tailEnd len="med" w="med" type="triangle"/>
            </a:ln>
          </p:spPr>
        </p:cxnSp>
        <p:cxnSp>
          <p:nvCxnSpPr>
            <p:cNvPr id="335" name="Google Shape;335;p34"/>
            <p:cNvCxnSpPr>
              <a:stCxn id="323" idx="3"/>
              <a:endCxn id="325" idx="1"/>
            </p:cNvCxnSpPr>
            <p:nvPr/>
          </p:nvCxnSpPr>
          <p:spPr>
            <a:xfrm flipH="1" rot="10800000">
              <a:off x="3195200" y="2110950"/>
              <a:ext cx="3355500" cy="460800"/>
            </a:xfrm>
            <a:prstGeom prst="straightConnector1">
              <a:avLst/>
            </a:prstGeom>
            <a:noFill/>
            <a:ln cap="flat" cmpd="sng" w="9525">
              <a:solidFill>
                <a:schemeClr val="dk2"/>
              </a:solidFill>
              <a:prstDash val="solid"/>
              <a:round/>
              <a:headEnd len="med" w="med" type="none"/>
              <a:tailEnd len="med" w="med" type="triangle"/>
            </a:ln>
          </p:spPr>
        </p:cxnSp>
        <p:cxnSp>
          <p:nvCxnSpPr>
            <p:cNvPr id="336" name="Google Shape;336;p34"/>
            <p:cNvCxnSpPr>
              <a:stCxn id="323" idx="3"/>
              <a:endCxn id="326" idx="1"/>
            </p:cNvCxnSpPr>
            <p:nvPr/>
          </p:nvCxnSpPr>
          <p:spPr>
            <a:xfrm>
              <a:off x="3195200" y="2571750"/>
              <a:ext cx="3355500" cy="188700"/>
            </a:xfrm>
            <a:prstGeom prst="straightConnector1">
              <a:avLst/>
            </a:prstGeom>
            <a:noFill/>
            <a:ln cap="flat" cmpd="sng" w="9525">
              <a:solidFill>
                <a:schemeClr val="dk2"/>
              </a:solidFill>
              <a:prstDash val="solid"/>
              <a:round/>
              <a:headEnd len="med" w="med" type="none"/>
              <a:tailEnd len="med" w="med" type="triangle"/>
            </a:ln>
          </p:spPr>
        </p:cxnSp>
        <p:cxnSp>
          <p:nvCxnSpPr>
            <p:cNvPr id="337" name="Google Shape;337;p34"/>
            <p:cNvCxnSpPr>
              <a:stCxn id="323" idx="3"/>
              <a:endCxn id="327" idx="1"/>
            </p:cNvCxnSpPr>
            <p:nvPr/>
          </p:nvCxnSpPr>
          <p:spPr>
            <a:xfrm>
              <a:off x="3195200" y="2571750"/>
              <a:ext cx="3355500" cy="8382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Attacks on ARP</a:t>
            </a:r>
            <a:endParaRPr/>
          </a:p>
        </p:txBody>
      </p:sp>
      <p:sp>
        <p:nvSpPr>
          <p:cNvPr id="343" name="Google Shape;343;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35"/>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345" name="Google Shape;345;p35"/>
          <p:cNvSpPr/>
          <p:nvPr/>
        </p:nvSpPr>
        <p:spPr>
          <a:xfrm>
            <a:off x="6550800" y="12646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346" name="Google Shape;346;p35"/>
          <p:cNvSpPr/>
          <p:nvPr/>
        </p:nvSpPr>
        <p:spPr>
          <a:xfrm>
            <a:off x="6550800" y="19141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Charlie</a:t>
            </a:r>
            <a:endParaRPr/>
          </a:p>
        </p:txBody>
      </p:sp>
      <p:sp>
        <p:nvSpPr>
          <p:cNvPr id="347" name="Google Shape;347;p35"/>
          <p:cNvSpPr/>
          <p:nvPr/>
        </p:nvSpPr>
        <p:spPr>
          <a:xfrm>
            <a:off x="6550800" y="25635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Mallory</a:t>
            </a:r>
            <a:endParaRPr/>
          </a:p>
        </p:txBody>
      </p:sp>
      <p:sp>
        <p:nvSpPr>
          <p:cNvPr id="348" name="Google Shape;348;p35"/>
          <p:cNvSpPr/>
          <p:nvPr/>
        </p:nvSpPr>
        <p:spPr>
          <a:xfrm>
            <a:off x="6550800" y="32130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aphicFrame>
        <p:nvGraphicFramePr>
          <p:cNvPr id="349" name="Google Shape;349;p35"/>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956825"/>
                <a:gridCol w="956825"/>
              </a:tblGrid>
              <a:tr h="396200">
                <a:tc gridSpan="2">
                  <a:txBody>
                    <a:bodyPr/>
                    <a:lstStyle/>
                    <a:p>
                      <a:pPr indent="0" lvl="0" marL="0" rtl="0" algn="ctr">
                        <a:spcBef>
                          <a:spcPts val="0"/>
                        </a:spcBef>
                        <a:spcAft>
                          <a:spcPts val="0"/>
                        </a:spcAft>
                        <a:buNone/>
                      </a:pPr>
                      <a:r>
                        <a:rPr lang="en"/>
                        <a:t>Alice’s cache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MAC</a:t>
                      </a:r>
                      <a:endParaRPr/>
                    </a:p>
                  </a:txBody>
                  <a:tcPr marT="91425" marB="91425" marR="91425" marL="91425"/>
                </a:tc>
              </a:tr>
              <a:tr h="396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pSp>
        <p:nvGrpSpPr>
          <p:cNvPr id="350" name="Google Shape;350;p35"/>
          <p:cNvGrpSpPr/>
          <p:nvPr/>
        </p:nvGrpSpPr>
        <p:grpSpPr>
          <a:xfrm>
            <a:off x="2709350" y="2907025"/>
            <a:ext cx="3147900" cy="1588975"/>
            <a:chOff x="2709350" y="2907025"/>
            <a:chExt cx="3147900" cy="1588975"/>
          </a:xfrm>
        </p:grpSpPr>
        <p:cxnSp>
          <p:nvCxnSpPr>
            <p:cNvPr id="351" name="Google Shape;351;p35"/>
            <p:cNvCxnSpPr/>
            <p:nvPr/>
          </p:nvCxnSpPr>
          <p:spPr>
            <a:xfrm rot="10800000">
              <a:off x="4711975" y="2907025"/>
              <a:ext cx="0" cy="1197900"/>
            </a:xfrm>
            <a:prstGeom prst="straightConnector1">
              <a:avLst/>
            </a:prstGeom>
            <a:noFill/>
            <a:ln cap="flat" cmpd="sng" w="19050">
              <a:solidFill>
                <a:srgbClr val="E69138"/>
              </a:solidFill>
              <a:prstDash val="solid"/>
              <a:round/>
              <a:headEnd len="med" w="med" type="none"/>
              <a:tailEnd len="med" w="med" type="triangle"/>
            </a:ln>
          </p:spPr>
        </p:cxnSp>
        <p:sp>
          <p:nvSpPr>
            <p:cNvPr id="352" name="Google Shape;352;p35"/>
            <p:cNvSpPr txBox="1"/>
            <p:nvPr/>
          </p:nvSpPr>
          <p:spPr>
            <a:xfrm>
              <a:off x="2709350" y="3449300"/>
              <a:ext cx="31479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 Before Bob’s response can arrive, Mallory sends a malicious response: </a:t>
              </a:r>
              <a:r>
                <a:rPr lang="en">
                  <a:solidFill>
                    <a:schemeClr val="dk1"/>
                  </a:solidFill>
                </a:rPr>
                <a:t>“My IP is </a:t>
              </a:r>
              <a:r>
                <a:rPr b="1" lang="en">
                  <a:solidFill>
                    <a:schemeClr val="dk1"/>
                  </a:solidFill>
                  <a:latin typeface="Courier New"/>
                  <a:ea typeface="Courier New"/>
                  <a:cs typeface="Courier New"/>
                  <a:sym typeface="Courier New"/>
                </a:rPr>
                <a:t>1.2.3.4</a:t>
              </a:r>
              <a:r>
                <a:rPr lang="en">
                  <a:solidFill>
                    <a:schemeClr val="dk1"/>
                  </a:solidFill>
                </a:rPr>
                <a:t> and my MAC address is </a:t>
              </a:r>
              <a:r>
                <a:rPr b="1" lang="en">
                  <a:solidFill>
                    <a:schemeClr val="dk1"/>
                  </a:solidFill>
                  <a:latin typeface="Courier New"/>
                  <a:ea typeface="Courier New"/>
                  <a:cs typeface="Courier New"/>
                  <a:sym typeface="Courier New"/>
                </a:rPr>
                <a:t>66:66:66:66:66:66</a:t>
              </a:r>
              <a:r>
                <a:rPr lang="en">
                  <a:solidFill>
                    <a:schemeClr val="dk1"/>
                  </a:solidFill>
                </a:rPr>
                <a:t>.”</a:t>
              </a:r>
              <a:endParaRPr/>
            </a:p>
          </p:txBody>
        </p:sp>
      </p:grpSp>
      <p:sp>
        <p:nvSpPr>
          <p:cNvPr id="353" name="Google Shape;353;p35"/>
          <p:cNvSpPr txBox="1"/>
          <p:nvPr/>
        </p:nvSpPr>
        <p:spPr>
          <a:xfrm>
            <a:off x="260500" y="1220400"/>
            <a:ext cx="35739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Alice knows Bob’s IP address (</a:t>
            </a:r>
            <a:r>
              <a:rPr b="1" lang="en">
                <a:latin typeface="Courier New"/>
                <a:ea typeface="Courier New"/>
                <a:cs typeface="Courier New"/>
                <a:sym typeface="Courier New"/>
              </a:rPr>
              <a:t>1.2.3.4</a:t>
            </a:r>
            <a:r>
              <a:rPr lang="en"/>
              <a:t>) but wants to learn Bob’s MAC address.</a:t>
            </a:r>
            <a:endParaRPr/>
          </a:p>
        </p:txBody>
      </p:sp>
      <p:cxnSp>
        <p:nvCxnSpPr>
          <p:cNvPr id="354" name="Google Shape;354;p35"/>
          <p:cNvCxnSpPr>
            <a:stCxn id="345" idx="1"/>
          </p:cNvCxnSpPr>
          <p:nvPr/>
        </p:nvCxnSpPr>
        <p:spPr>
          <a:xfrm flipH="1">
            <a:off x="4555200" y="1461475"/>
            <a:ext cx="1995600" cy="672600"/>
          </a:xfrm>
          <a:prstGeom prst="straightConnector1">
            <a:avLst/>
          </a:prstGeom>
          <a:noFill/>
          <a:ln cap="flat" cmpd="sng" w="9525">
            <a:solidFill>
              <a:schemeClr val="dk2"/>
            </a:solidFill>
            <a:prstDash val="solid"/>
            <a:round/>
            <a:headEnd len="med" w="med" type="none"/>
            <a:tailEnd len="med" w="med" type="triangle"/>
          </a:ln>
        </p:spPr>
      </p:cxnSp>
      <p:cxnSp>
        <p:nvCxnSpPr>
          <p:cNvPr id="355" name="Google Shape;355;p35"/>
          <p:cNvCxnSpPr>
            <a:stCxn id="347" idx="1"/>
            <a:endCxn id="344" idx="3"/>
          </p:cNvCxnSpPr>
          <p:nvPr/>
        </p:nvCxnSpPr>
        <p:spPr>
          <a:xfrm rot="10800000">
            <a:off x="3195300" y="2571675"/>
            <a:ext cx="3355500" cy="1887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Attacks on ARP</a:t>
            </a:r>
            <a:endParaRPr/>
          </a:p>
        </p:txBody>
      </p:sp>
      <p:sp>
        <p:nvSpPr>
          <p:cNvPr id="361" name="Google Shape;36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36"/>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363" name="Google Shape;363;p36"/>
          <p:cNvSpPr/>
          <p:nvPr/>
        </p:nvSpPr>
        <p:spPr>
          <a:xfrm>
            <a:off x="6550800" y="12646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364" name="Google Shape;364;p36"/>
          <p:cNvSpPr/>
          <p:nvPr/>
        </p:nvSpPr>
        <p:spPr>
          <a:xfrm>
            <a:off x="6550800" y="19141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Charlie</a:t>
            </a:r>
            <a:endParaRPr/>
          </a:p>
        </p:txBody>
      </p:sp>
      <p:sp>
        <p:nvSpPr>
          <p:cNvPr id="365" name="Google Shape;365;p36"/>
          <p:cNvSpPr/>
          <p:nvPr/>
        </p:nvSpPr>
        <p:spPr>
          <a:xfrm>
            <a:off x="6550800" y="256357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Mallory</a:t>
            </a:r>
            <a:endParaRPr/>
          </a:p>
        </p:txBody>
      </p:sp>
      <p:sp>
        <p:nvSpPr>
          <p:cNvPr id="366" name="Google Shape;366;p36"/>
          <p:cNvSpPr/>
          <p:nvPr/>
        </p:nvSpPr>
        <p:spPr>
          <a:xfrm>
            <a:off x="6550800" y="3213025"/>
            <a:ext cx="875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aphicFrame>
        <p:nvGraphicFramePr>
          <p:cNvPr id="367" name="Google Shape;367;p36"/>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956825"/>
                <a:gridCol w="956825"/>
              </a:tblGrid>
              <a:tr h="396200">
                <a:tc gridSpan="2">
                  <a:txBody>
                    <a:bodyPr/>
                    <a:lstStyle/>
                    <a:p>
                      <a:pPr indent="0" lvl="0" marL="0" rtl="0" algn="ctr">
                        <a:spcBef>
                          <a:spcPts val="0"/>
                        </a:spcBef>
                        <a:spcAft>
                          <a:spcPts val="0"/>
                        </a:spcAft>
                        <a:buNone/>
                      </a:pPr>
                      <a:r>
                        <a:rPr lang="en"/>
                        <a:t>Alice’s cache</a:t>
                      </a:r>
                      <a:endParaRPr/>
                    </a:p>
                  </a:txBody>
                  <a:tcPr marT="91425" marB="91425" marR="91425" marL="91425"/>
                </a:tc>
                <a:tc hMerge="1"/>
              </a:tr>
              <a:tr h="396200">
                <a:tc>
                  <a:txBody>
                    <a:bodyPr/>
                    <a:lstStyle/>
                    <a:p>
                      <a:pPr indent="0" lvl="0" marL="0" rtl="0" algn="l">
                        <a:spcBef>
                          <a:spcPts val="0"/>
                        </a:spcBef>
                        <a:spcAft>
                          <a:spcPts val="0"/>
                        </a:spcAft>
                        <a:buNone/>
                      </a:pPr>
                      <a:r>
                        <a:rPr lang="en"/>
                        <a:t>IP</a:t>
                      </a:r>
                      <a:endParaRPr/>
                    </a:p>
                  </a:txBody>
                  <a:tcPr marT="91425" marB="91425" marR="91425" marL="91425"/>
                </a:tc>
                <a:tc>
                  <a:txBody>
                    <a:bodyPr/>
                    <a:lstStyle/>
                    <a:p>
                      <a:pPr indent="0" lvl="0" marL="0" rtl="0" algn="l">
                        <a:spcBef>
                          <a:spcPts val="0"/>
                        </a:spcBef>
                        <a:spcAft>
                          <a:spcPts val="0"/>
                        </a:spcAft>
                        <a:buNone/>
                      </a:pPr>
                      <a:r>
                        <a:rPr lang="en"/>
                        <a:t>MAC</a:t>
                      </a:r>
                      <a:endParaRPr/>
                    </a:p>
                  </a:txBody>
                  <a:tcPr marT="91425" marB="91425" marR="91425" marL="91425"/>
                </a:tc>
              </a:tr>
              <a:tr h="396200">
                <a:tc>
                  <a:txBody>
                    <a:bodyPr/>
                    <a:lstStyle/>
                    <a:p>
                      <a:pPr indent="0" lvl="0" marL="0" rtl="0" algn="ctr">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1.2.3.4</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sz="1100">
                          <a:solidFill>
                            <a:srgbClr val="FF0000"/>
                          </a:solidFill>
                          <a:latin typeface="Courier New"/>
                          <a:ea typeface="Courier New"/>
                          <a:cs typeface="Courier New"/>
                          <a:sym typeface="Courier New"/>
                        </a:rPr>
                        <a:t>66:66:66:66:66:66</a:t>
                      </a:r>
                      <a:endParaRPr sz="1100">
                        <a:solidFill>
                          <a:srgbClr val="FF0000"/>
                        </a:solidFill>
                      </a:endParaRPr>
                    </a:p>
                  </a:txBody>
                  <a:tcPr marT="91425" marB="91425" marR="91425" marL="91425"/>
                </a:tc>
              </a:tr>
            </a:tbl>
          </a:graphicData>
        </a:graphic>
      </p:graphicFrame>
      <p:grpSp>
        <p:nvGrpSpPr>
          <p:cNvPr id="368" name="Google Shape;368;p36"/>
          <p:cNvGrpSpPr/>
          <p:nvPr/>
        </p:nvGrpSpPr>
        <p:grpSpPr>
          <a:xfrm>
            <a:off x="260500" y="3384625"/>
            <a:ext cx="2838000" cy="1078775"/>
            <a:chOff x="260500" y="3384625"/>
            <a:chExt cx="2838000" cy="1078775"/>
          </a:xfrm>
        </p:grpSpPr>
        <p:cxnSp>
          <p:nvCxnSpPr>
            <p:cNvPr id="369" name="Google Shape;369;p36"/>
            <p:cNvCxnSpPr/>
            <p:nvPr/>
          </p:nvCxnSpPr>
          <p:spPr>
            <a:xfrm rot="10800000">
              <a:off x="972325" y="3384625"/>
              <a:ext cx="0" cy="915300"/>
            </a:xfrm>
            <a:prstGeom prst="straightConnector1">
              <a:avLst/>
            </a:prstGeom>
            <a:noFill/>
            <a:ln cap="flat" cmpd="sng" w="19050">
              <a:solidFill>
                <a:srgbClr val="E69138"/>
              </a:solidFill>
              <a:prstDash val="solid"/>
              <a:round/>
              <a:headEnd len="med" w="med" type="none"/>
              <a:tailEnd len="med" w="med" type="triangle"/>
            </a:ln>
          </p:spPr>
        </p:cxnSp>
        <p:sp>
          <p:nvSpPr>
            <p:cNvPr id="370" name="Google Shape;370;p36"/>
            <p:cNvSpPr txBox="1"/>
            <p:nvPr/>
          </p:nvSpPr>
          <p:spPr>
            <a:xfrm>
              <a:off x="260500" y="3847800"/>
              <a:ext cx="28380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 Alice adds Mallory’s malicious address to her cache.</a:t>
              </a:r>
              <a:endParaRPr/>
            </a:p>
          </p:txBody>
        </p:sp>
      </p:grpSp>
      <p:sp>
        <p:nvSpPr>
          <p:cNvPr id="371" name="Google Shape;371;p36"/>
          <p:cNvSpPr txBox="1"/>
          <p:nvPr/>
        </p:nvSpPr>
        <p:spPr>
          <a:xfrm>
            <a:off x="260500" y="1220400"/>
            <a:ext cx="35739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Alice knows Bob’s IP address (</a:t>
            </a:r>
            <a:r>
              <a:rPr b="1" lang="en">
                <a:latin typeface="Courier New"/>
                <a:ea typeface="Courier New"/>
                <a:cs typeface="Courier New"/>
                <a:sym typeface="Courier New"/>
              </a:rPr>
              <a:t>1.2.3.4</a:t>
            </a:r>
            <a:r>
              <a:rPr lang="en"/>
              <a:t>) but wants to learn Bob’s MAC address.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Attack: ARP Spoofing</a:t>
            </a:r>
            <a:endParaRPr/>
          </a:p>
        </p:txBody>
      </p:sp>
      <p:sp>
        <p:nvSpPr>
          <p:cNvPr id="377" name="Google Shape;377;p3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Alice has no way of verifying the ARP response</a:t>
            </a:r>
            <a:endParaRPr/>
          </a:p>
          <a:p>
            <a:pPr indent="-317500" lvl="1" marL="914400" rtl="0" algn="l">
              <a:spcBef>
                <a:spcPts val="0"/>
              </a:spcBef>
              <a:spcAft>
                <a:spcPts val="0"/>
              </a:spcAft>
              <a:buSzPts val="1400"/>
              <a:buChar char="○"/>
            </a:pPr>
            <a:r>
              <a:rPr lang="en"/>
              <a:t>Spoofing: Any attacker on the local network can claim to have the requested IP address</a:t>
            </a:r>
            <a:endParaRPr/>
          </a:p>
          <a:p>
            <a:pPr indent="-342900" lvl="0" marL="457200" rtl="0" algn="l">
              <a:spcBef>
                <a:spcPts val="0"/>
              </a:spcBef>
              <a:spcAft>
                <a:spcPts val="0"/>
              </a:spcAft>
              <a:buSzPts val="1800"/>
              <a:buChar char="●"/>
            </a:pPr>
            <a:r>
              <a:rPr lang="en"/>
              <a:t>Alice is only expecting one machine to respond, so she will accept the first response</a:t>
            </a:r>
            <a:endParaRPr/>
          </a:p>
          <a:p>
            <a:pPr indent="-317500" lvl="1" marL="914400" rtl="0" algn="l">
              <a:spcBef>
                <a:spcPts val="0"/>
              </a:spcBef>
              <a:spcAft>
                <a:spcPts val="0"/>
              </a:spcAft>
              <a:buSzPts val="1400"/>
              <a:buChar char="○"/>
            </a:pPr>
            <a:r>
              <a:rPr b="1" lang="en"/>
              <a:t>Race condition</a:t>
            </a:r>
            <a:r>
              <a:rPr lang="en"/>
              <a:t>: As long as the attacker responds faster, the requester will accept the attacker’s response</a:t>
            </a:r>
            <a:endParaRPr/>
          </a:p>
          <a:p>
            <a:pPr indent="-342900" lvl="0" marL="457200" rtl="0" algn="l">
              <a:spcBef>
                <a:spcPts val="0"/>
              </a:spcBef>
              <a:spcAft>
                <a:spcPts val="0"/>
              </a:spcAft>
              <a:buSzPts val="1800"/>
              <a:buChar char="●"/>
            </a:pPr>
            <a:r>
              <a:rPr lang="en"/>
              <a:t>ARP spoofing requires Mallory to be in the same LAN as Alice</a:t>
            </a:r>
            <a:endParaRPr/>
          </a:p>
          <a:p>
            <a:pPr indent="-342900" lvl="0" marL="457200" rtl="0" algn="l">
              <a:spcBef>
                <a:spcPts val="0"/>
              </a:spcBef>
              <a:spcAft>
                <a:spcPts val="0"/>
              </a:spcAft>
              <a:buSzPts val="1800"/>
              <a:buChar char="●"/>
            </a:pPr>
            <a:r>
              <a:rPr lang="en"/>
              <a:t>ARP spoofing lets Mallory become a man-in-the-middle (MITM) attacker</a:t>
            </a:r>
            <a:endParaRPr/>
          </a:p>
          <a:p>
            <a:pPr indent="-317500" lvl="1" marL="914400" rtl="0" algn="l">
              <a:spcBef>
                <a:spcPts val="0"/>
              </a:spcBef>
              <a:spcAft>
                <a:spcPts val="0"/>
              </a:spcAft>
              <a:buSzPts val="1400"/>
              <a:buChar char="○"/>
            </a:pPr>
            <a:r>
              <a:rPr lang="en"/>
              <a:t>Alice thinks that Bob’s MAC address is </a:t>
            </a:r>
            <a:r>
              <a:rPr b="1" lang="en">
                <a:latin typeface="Courier New"/>
                <a:ea typeface="Courier New"/>
                <a:cs typeface="Courier New"/>
                <a:sym typeface="Courier New"/>
              </a:rPr>
              <a:t>66:66:66:66:66:66</a:t>
            </a:r>
            <a:r>
              <a:rPr lang="en"/>
              <a:t> (Mallory’s MAC address)</a:t>
            </a:r>
            <a:endParaRPr/>
          </a:p>
          <a:p>
            <a:pPr indent="-317500" lvl="1" marL="914400" rtl="0" algn="l">
              <a:spcBef>
                <a:spcPts val="0"/>
              </a:spcBef>
              <a:spcAft>
                <a:spcPts val="0"/>
              </a:spcAft>
              <a:buSzPts val="1400"/>
              <a:buChar char="○"/>
            </a:pPr>
            <a:r>
              <a:rPr lang="en"/>
              <a:t>When Alice sends a message to Bob, she is actually sending the message to Mallory</a:t>
            </a:r>
            <a:endParaRPr/>
          </a:p>
          <a:p>
            <a:pPr indent="-317500" lvl="1" marL="914400" rtl="0" algn="l">
              <a:spcBef>
                <a:spcPts val="0"/>
              </a:spcBef>
              <a:spcAft>
                <a:spcPts val="0"/>
              </a:spcAft>
              <a:buSzPts val="1400"/>
              <a:buChar char="○"/>
            </a:pPr>
            <a:r>
              <a:rPr lang="en"/>
              <a:t>Mallory can modify the message and then send the modified message to Bob</a:t>
            </a:r>
            <a:endParaRPr/>
          </a:p>
        </p:txBody>
      </p:sp>
      <p:sp>
        <p:nvSpPr>
          <p:cNvPr id="378" name="Google Shape;37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ARP Spoofing: Defenses</a:t>
            </a:r>
            <a:endParaRPr/>
          </a:p>
        </p:txBody>
      </p:sp>
      <p:sp>
        <p:nvSpPr>
          <p:cNvPr id="384" name="Google Shape;384;p38"/>
          <p:cNvSpPr txBox="1"/>
          <p:nvPr>
            <p:ph idx="1" type="body"/>
          </p:nvPr>
        </p:nvSpPr>
        <p:spPr>
          <a:xfrm>
            <a:off x="198500" y="1170625"/>
            <a:ext cx="8520600" cy="3810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Use </a:t>
            </a:r>
            <a:r>
              <a:rPr b="1" lang="en"/>
              <a:t>switches</a:t>
            </a:r>
            <a:r>
              <a:rPr lang="en"/>
              <a:t> to avoid broadcasts and ARP requests</a:t>
            </a:r>
            <a:endParaRPr/>
          </a:p>
          <a:p>
            <a:pPr indent="-317500" lvl="1" marL="914400" rtl="0" algn="l">
              <a:spcBef>
                <a:spcPts val="0"/>
              </a:spcBef>
              <a:spcAft>
                <a:spcPts val="0"/>
              </a:spcAft>
              <a:buSzPts val="1400"/>
              <a:buChar char="○"/>
            </a:pPr>
            <a:r>
              <a:rPr lang="en"/>
              <a:t>When Alice wants to send a message to Bob, she sends the message to a switch on the LAN</a:t>
            </a:r>
            <a:endParaRPr/>
          </a:p>
          <a:p>
            <a:pPr indent="-317500" lvl="1" marL="914400" rtl="0" algn="l">
              <a:spcBef>
                <a:spcPts val="0"/>
              </a:spcBef>
              <a:spcAft>
                <a:spcPts val="0"/>
              </a:spcAft>
              <a:buSzPts val="1400"/>
              <a:buChar char="○"/>
            </a:pPr>
            <a:r>
              <a:rPr lang="en"/>
              <a:t>The switch maintains a cache of IP/MAC mappings</a:t>
            </a:r>
            <a:endParaRPr/>
          </a:p>
          <a:p>
            <a:pPr indent="-317500" lvl="2" marL="1371600" rtl="0" algn="l">
              <a:spcBef>
                <a:spcPts val="0"/>
              </a:spcBef>
              <a:spcAft>
                <a:spcPts val="0"/>
              </a:spcAft>
              <a:buSzPts val="1400"/>
              <a:buChar char="■"/>
            </a:pPr>
            <a:r>
              <a:rPr lang="en"/>
              <a:t>Since everyone is using the switch, its cache is larger than an individual user’s cache</a:t>
            </a:r>
            <a:endParaRPr/>
          </a:p>
          <a:p>
            <a:pPr indent="-317500" lvl="1" marL="914400" rtl="0" algn="l">
              <a:spcBef>
                <a:spcPts val="0"/>
              </a:spcBef>
              <a:spcAft>
                <a:spcPts val="0"/>
              </a:spcAft>
              <a:buSzPts val="1400"/>
              <a:buChar char="○"/>
            </a:pPr>
            <a:r>
              <a:rPr lang="en"/>
              <a:t>If Bob’s MAC address is in the cache, the switch sends the message directly to Bob</a:t>
            </a:r>
            <a:endParaRPr/>
          </a:p>
          <a:p>
            <a:pPr indent="-317500" lvl="1" marL="914400" rtl="0" algn="l">
              <a:spcBef>
                <a:spcPts val="0"/>
              </a:spcBef>
              <a:spcAft>
                <a:spcPts val="0"/>
              </a:spcAft>
              <a:buSzPts val="1400"/>
              <a:buChar char="○"/>
            </a:pPr>
            <a:r>
              <a:rPr lang="en"/>
              <a:t>Otherwise, the switch broadcasts the message</a:t>
            </a:r>
            <a:endParaRPr/>
          </a:p>
          <a:p>
            <a:pPr indent="-342900" lvl="0" marL="457200" rtl="0" algn="l">
              <a:spcBef>
                <a:spcPts val="0"/>
              </a:spcBef>
              <a:spcAft>
                <a:spcPts val="0"/>
              </a:spcAft>
              <a:buSzPts val="1800"/>
              <a:buChar char="●"/>
            </a:pPr>
            <a:r>
              <a:rPr lang="en"/>
              <a:t>Benefits of switches</a:t>
            </a:r>
            <a:endParaRPr/>
          </a:p>
          <a:p>
            <a:pPr indent="-317500" lvl="1" marL="914400" rtl="0" algn="l">
              <a:spcBef>
                <a:spcPts val="0"/>
              </a:spcBef>
              <a:spcAft>
                <a:spcPts val="0"/>
              </a:spcAft>
              <a:buSzPts val="1400"/>
              <a:buChar char="○"/>
            </a:pPr>
            <a:r>
              <a:rPr lang="en"/>
              <a:t>Security: Reduces the number of messages broadcast to the entire LAN</a:t>
            </a:r>
            <a:endParaRPr/>
          </a:p>
          <a:p>
            <a:pPr indent="-317500" lvl="1" marL="914400" rtl="0" algn="l">
              <a:spcBef>
                <a:spcPts val="0"/>
              </a:spcBef>
              <a:spcAft>
                <a:spcPts val="0"/>
              </a:spcAft>
              <a:buSzPts val="1400"/>
              <a:buChar char="○"/>
            </a:pPr>
            <a:r>
              <a:rPr lang="en"/>
              <a:t>Efficiency: Fewer broadcast requests means more requests can be sent per second</a:t>
            </a:r>
            <a:endParaRPr/>
          </a:p>
          <a:p>
            <a:pPr indent="-317500" lvl="1" marL="914400" rtl="0" algn="l">
              <a:spcBef>
                <a:spcPts val="0"/>
              </a:spcBef>
              <a:spcAft>
                <a:spcPts val="0"/>
              </a:spcAft>
              <a:buSzPts val="1400"/>
              <a:buChar char="○"/>
            </a:pPr>
            <a:r>
              <a:rPr lang="en"/>
              <a:t>Isolation: Smarter switches implement virtual local area networks (VLANs), which split a LAN into several isolated parts</a:t>
            </a:r>
            <a:endParaRPr/>
          </a:p>
          <a:p>
            <a:pPr indent="-317500" lvl="2" marL="1371600" rtl="0" algn="l">
              <a:spcBef>
                <a:spcPts val="0"/>
              </a:spcBef>
              <a:spcAft>
                <a:spcPts val="0"/>
              </a:spcAft>
              <a:buSzPts val="1400"/>
              <a:buChar char="■"/>
            </a:pPr>
            <a:r>
              <a:rPr lang="en"/>
              <a:t>One part of the VLAN cannot directly interact with other parts of the VLAN</a:t>
            </a:r>
            <a:endParaRPr/>
          </a:p>
          <a:p>
            <a:pPr indent="-342900" lvl="0" marL="457200" rtl="0" algn="l">
              <a:spcBef>
                <a:spcPts val="0"/>
              </a:spcBef>
              <a:spcAft>
                <a:spcPts val="0"/>
              </a:spcAft>
              <a:buSzPts val="1800"/>
              <a:buChar char="●"/>
            </a:pPr>
            <a:r>
              <a:rPr lang="en"/>
              <a:t>Tools like </a:t>
            </a:r>
            <a:r>
              <a:rPr b="1" lang="en">
                <a:latin typeface="Courier New"/>
                <a:ea typeface="Courier New"/>
                <a:cs typeface="Courier New"/>
                <a:sym typeface="Courier New"/>
              </a:rPr>
              <a:t>arpwatch</a:t>
            </a:r>
            <a:r>
              <a:rPr lang="en"/>
              <a:t> track ARP responses and make sure that there is no </a:t>
            </a:r>
            <a:r>
              <a:rPr lang="en"/>
              <a:t>suspicious</a:t>
            </a:r>
            <a:r>
              <a:rPr lang="en"/>
              <a:t> activity</a:t>
            </a:r>
            <a:endParaRPr/>
          </a:p>
        </p:txBody>
      </p:sp>
      <p:sp>
        <p:nvSpPr>
          <p:cNvPr id="385" name="Google Shape;38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Dynamic Host Configuration Protocol (DHCP)</a:t>
            </a:r>
            <a:endParaRPr/>
          </a:p>
        </p:txBody>
      </p:sp>
      <p:sp>
        <p:nvSpPr>
          <p:cNvPr id="391" name="Google Shape;391;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DHCP: Initial Network Configuration</a:t>
            </a:r>
            <a:endParaRPr/>
          </a:p>
        </p:txBody>
      </p:sp>
      <p:sp>
        <p:nvSpPr>
          <p:cNvPr id="397" name="Google Shape;397;p4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connect to a network, a user needs:</a:t>
            </a:r>
            <a:endParaRPr/>
          </a:p>
          <a:p>
            <a:pPr indent="-317500" lvl="1" marL="914400" rtl="0" algn="l">
              <a:spcBef>
                <a:spcPts val="0"/>
              </a:spcBef>
              <a:spcAft>
                <a:spcPts val="0"/>
              </a:spcAft>
              <a:buSzPts val="1400"/>
              <a:buChar char="○"/>
            </a:pPr>
            <a:r>
              <a:rPr lang="en"/>
              <a:t>An IP address so that other people can contact the user</a:t>
            </a:r>
            <a:endParaRPr/>
          </a:p>
          <a:p>
            <a:pPr indent="-317500" lvl="1" marL="914400" rtl="0" algn="l">
              <a:spcBef>
                <a:spcPts val="0"/>
              </a:spcBef>
              <a:spcAft>
                <a:spcPts val="0"/>
              </a:spcAft>
              <a:buSzPts val="1400"/>
              <a:buChar char="○"/>
            </a:pPr>
            <a:r>
              <a:rPr lang="en"/>
              <a:t>The IP address of the DNS server (we’ll see this soon)</a:t>
            </a:r>
            <a:endParaRPr/>
          </a:p>
          <a:p>
            <a:pPr indent="-317500" lvl="1" marL="914400" rtl="0" algn="l">
              <a:spcBef>
                <a:spcPts val="0"/>
              </a:spcBef>
              <a:spcAft>
                <a:spcPts val="0"/>
              </a:spcAft>
              <a:buSzPts val="1400"/>
              <a:buChar char="○"/>
            </a:pPr>
            <a:r>
              <a:rPr lang="en"/>
              <a:t>The IP address of the router (gateway) so that the user can contact machines outside of the LAN</a:t>
            </a:r>
            <a:endParaRPr/>
          </a:p>
          <a:p>
            <a:pPr indent="-342900" lvl="0" marL="457200" rtl="0" algn="l">
              <a:spcBef>
                <a:spcPts val="0"/>
              </a:spcBef>
              <a:spcAft>
                <a:spcPts val="0"/>
              </a:spcAft>
              <a:buSzPts val="1800"/>
              <a:buChar char="●"/>
            </a:pPr>
            <a:r>
              <a:rPr lang="en"/>
              <a:t>The first time a user connects, they don’t have this information yet</a:t>
            </a:r>
            <a:endParaRPr/>
          </a:p>
          <a:p>
            <a:pPr indent="-317500" lvl="1" marL="914400" rtl="0" algn="l">
              <a:spcBef>
                <a:spcPts val="0"/>
              </a:spcBef>
              <a:spcAft>
                <a:spcPts val="0"/>
              </a:spcAft>
              <a:buSzPts val="1400"/>
              <a:buChar char="○"/>
            </a:pPr>
            <a:r>
              <a:rPr lang="en"/>
              <a:t>The user also doesn’t know who to ask for this information</a:t>
            </a:r>
            <a:endParaRPr/>
          </a:p>
          <a:p>
            <a:pPr indent="-342900" lvl="0" marL="457200" rtl="0" algn="l">
              <a:spcBef>
                <a:spcPts val="0"/>
              </a:spcBef>
              <a:spcAft>
                <a:spcPts val="0"/>
              </a:spcAft>
              <a:buSzPts val="1800"/>
              <a:buChar char="●"/>
            </a:pPr>
            <a:r>
              <a:rPr b="1" lang="en"/>
              <a:t>DHCP</a:t>
            </a:r>
            <a:r>
              <a:rPr lang="en"/>
              <a:t> gives the user a configuration when they first join the network</a:t>
            </a:r>
            <a:endParaRPr/>
          </a:p>
        </p:txBody>
      </p:sp>
      <p:sp>
        <p:nvSpPr>
          <p:cNvPr id="398" name="Google Shape;39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the DHCP Handshake</a:t>
            </a:r>
            <a:endParaRPr/>
          </a:p>
        </p:txBody>
      </p:sp>
      <p:sp>
        <p:nvSpPr>
          <p:cNvPr id="404" name="Google Shape;404;p4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b="1" lang="en"/>
              <a:t>Client Discover:</a:t>
            </a:r>
            <a:r>
              <a:rPr lang="en"/>
              <a:t> The client broadcasts a request for a configuration</a:t>
            </a:r>
            <a:endParaRPr/>
          </a:p>
          <a:p>
            <a:pPr indent="-342900" lvl="0" marL="457200" rtl="0" algn="l">
              <a:spcBef>
                <a:spcPts val="0"/>
              </a:spcBef>
              <a:spcAft>
                <a:spcPts val="0"/>
              </a:spcAft>
              <a:buSzPts val="1800"/>
              <a:buAutoNum type="arabicPeriod"/>
            </a:pPr>
            <a:r>
              <a:rPr b="1" lang="en"/>
              <a:t>DHCP Offer</a:t>
            </a:r>
            <a:r>
              <a:rPr lang="en"/>
              <a:t>: Any DHCP server can respond with a configuration offer</a:t>
            </a:r>
            <a:endParaRPr/>
          </a:p>
          <a:p>
            <a:pPr indent="-317500" lvl="1" marL="914400" rtl="0" algn="l">
              <a:spcBef>
                <a:spcPts val="0"/>
              </a:spcBef>
              <a:spcAft>
                <a:spcPts val="0"/>
              </a:spcAft>
              <a:buSzPts val="1400"/>
              <a:buChar char="○"/>
            </a:pPr>
            <a:r>
              <a:rPr lang="en"/>
              <a:t>Usually only one DHCP server responds</a:t>
            </a:r>
            <a:endParaRPr/>
          </a:p>
          <a:p>
            <a:pPr indent="-317500" lvl="1" marL="914400" rtl="0" algn="l">
              <a:spcBef>
                <a:spcPts val="0"/>
              </a:spcBef>
              <a:spcAft>
                <a:spcPts val="0"/>
              </a:spcAft>
              <a:buSzPts val="1400"/>
              <a:buChar char="○"/>
            </a:pPr>
            <a:r>
              <a:rPr lang="en"/>
              <a:t>The offer includes an IP address for the client, the DNS server’s IP address, and the (gateway) router’s IP address</a:t>
            </a:r>
            <a:endParaRPr/>
          </a:p>
          <a:p>
            <a:pPr indent="-317500" lvl="1" marL="914400" rtl="0" algn="l">
              <a:spcBef>
                <a:spcPts val="0"/>
              </a:spcBef>
              <a:spcAft>
                <a:spcPts val="0"/>
              </a:spcAft>
              <a:buSzPts val="1400"/>
              <a:buChar char="○"/>
            </a:pPr>
            <a:r>
              <a:rPr lang="en"/>
              <a:t>The offer also has an expiration time (how long the user can use this configuration)</a:t>
            </a:r>
            <a:endParaRPr/>
          </a:p>
          <a:p>
            <a:pPr indent="-342900" lvl="0" marL="457200" rtl="0" algn="l">
              <a:spcBef>
                <a:spcPts val="0"/>
              </a:spcBef>
              <a:spcAft>
                <a:spcPts val="0"/>
              </a:spcAft>
              <a:buSzPts val="1800"/>
              <a:buAutoNum type="arabicPeriod"/>
            </a:pPr>
            <a:r>
              <a:rPr b="1" lang="en"/>
              <a:t>Client Request</a:t>
            </a:r>
            <a:r>
              <a:rPr lang="en"/>
              <a:t>: The client broadcasts which configuration it has chosen</a:t>
            </a:r>
            <a:endParaRPr/>
          </a:p>
          <a:p>
            <a:pPr indent="-317500" lvl="1" marL="914400" rtl="0" algn="l">
              <a:spcBef>
                <a:spcPts val="0"/>
              </a:spcBef>
              <a:spcAft>
                <a:spcPts val="0"/>
              </a:spcAft>
              <a:buSzPts val="1400"/>
              <a:buChar char="○"/>
            </a:pPr>
            <a:r>
              <a:rPr lang="en"/>
              <a:t>If multiple DHCP servers made offers, the ones that were not chosen </a:t>
            </a:r>
            <a:r>
              <a:rPr lang="en"/>
              <a:t>discard their offer</a:t>
            </a:r>
            <a:endParaRPr/>
          </a:p>
          <a:p>
            <a:pPr indent="-317500" lvl="1" marL="914400" rtl="0" algn="l">
              <a:spcBef>
                <a:spcPts val="0"/>
              </a:spcBef>
              <a:spcAft>
                <a:spcPts val="0"/>
              </a:spcAft>
              <a:buSzPts val="1400"/>
              <a:buChar char="○"/>
            </a:pPr>
            <a:r>
              <a:rPr lang="en"/>
              <a:t>The chosen DHCP server gives the offer to the client</a:t>
            </a:r>
            <a:endParaRPr/>
          </a:p>
          <a:p>
            <a:pPr indent="-342900" lvl="0" marL="457200" rtl="0" algn="l">
              <a:spcBef>
                <a:spcPts val="0"/>
              </a:spcBef>
              <a:spcAft>
                <a:spcPts val="0"/>
              </a:spcAft>
              <a:buSzPts val="1800"/>
              <a:buAutoNum type="arabicPeriod"/>
            </a:pPr>
            <a:r>
              <a:rPr b="1" lang="en"/>
              <a:t>DHCP Acknowledgement</a:t>
            </a:r>
            <a:r>
              <a:rPr lang="en"/>
              <a:t>: The chosen server confirms that its configuration has been given to the client</a:t>
            </a:r>
            <a:endParaRPr/>
          </a:p>
        </p:txBody>
      </p:sp>
      <p:sp>
        <p:nvSpPr>
          <p:cNvPr id="405" name="Google Shape;40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Host Configuration Protocol (DHCP)</a:t>
            </a:r>
            <a:endParaRPr/>
          </a:p>
        </p:txBody>
      </p:sp>
      <p:sp>
        <p:nvSpPr>
          <p:cNvPr id="411" name="Google Shape;411;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2" name="Google Shape;412;p42"/>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413" name="Google Shape;413;p42"/>
          <p:cNvSpPr/>
          <p:nvPr/>
        </p:nvSpPr>
        <p:spPr>
          <a:xfrm>
            <a:off x="6017400" y="126467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414" name="Google Shape;414;p42"/>
          <p:cNvSpPr/>
          <p:nvPr/>
        </p:nvSpPr>
        <p:spPr>
          <a:xfrm>
            <a:off x="6017400" y="191412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DHCP Server 1</a:t>
            </a:r>
            <a:endParaRPr/>
          </a:p>
        </p:txBody>
      </p:sp>
      <p:sp>
        <p:nvSpPr>
          <p:cNvPr id="415" name="Google Shape;415;p42"/>
          <p:cNvSpPr/>
          <p:nvPr/>
        </p:nvSpPr>
        <p:spPr>
          <a:xfrm>
            <a:off x="6017400" y="256357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DHCP Server 2</a:t>
            </a:r>
            <a:endParaRPr/>
          </a:p>
        </p:txBody>
      </p:sp>
      <p:sp>
        <p:nvSpPr>
          <p:cNvPr id="416" name="Google Shape;416;p42"/>
          <p:cNvSpPr/>
          <p:nvPr/>
        </p:nvSpPr>
        <p:spPr>
          <a:xfrm>
            <a:off x="6017400" y="321302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aphicFrame>
        <p:nvGraphicFramePr>
          <p:cNvPr id="417" name="Google Shape;417;p42"/>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1025225"/>
                <a:gridCol w="888425"/>
              </a:tblGrid>
              <a:tr h="396200">
                <a:tc gridSpan="2">
                  <a:txBody>
                    <a:bodyPr/>
                    <a:lstStyle/>
                    <a:p>
                      <a:pPr indent="0" lvl="0" marL="0" rtl="0" algn="ctr">
                        <a:spcBef>
                          <a:spcPts val="0"/>
                        </a:spcBef>
                        <a:spcAft>
                          <a:spcPts val="0"/>
                        </a:spcAft>
                        <a:buNone/>
                      </a:pPr>
                      <a:r>
                        <a:rPr lang="en" sz="1200"/>
                        <a:t>Alice’s configuration</a:t>
                      </a:r>
                      <a:endParaRPr sz="1200"/>
                    </a:p>
                  </a:txBody>
                  <a:tcPr marT="91425" marB="91425" marR="91425" marL="91425"/>
                </a:tc>
                <a:tc hMerge="1"/>
              </a:tr>
              <a:tr h="396200">
                <a:tc>
                  <a:txBody>
                    <a:bodyPr/>
                    <a:lstStyle/>
                    <a:p>
                      <a:pPr indent="0" lvl="0" marL="0" rtl="0" algn="l">
                        <a:spcBef>
                          <a:spcPts val="0"/>
                        </a:spcBef>
                        <a:spcAft>
                          <a:spcPts val="0"/>
                        </a:spcAft>
                        <a:buNone/>
                      </a:pPr>
                      <a:r>
                        <a:rPr lang="en" sz="1200"/>
                        <a:t>My IP</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r h="329750">
                <a:tc>
                  <a:txBody>
                    <a:bodyPr/>
                    <a:lstStyle/>
                    <a:p>
                      <a:pPr indent="0" lvl="0" marL="0" rtl="0" algn="l">
                        <a:spcBef>
                          <a:spcPts val="0"/>
                        </a:spcBef>
                        <a:spcAft>
                          <a:spcPts val="0"/>
                        </a:spcAft>
                        <a:buNone/>
                      </a:pPr>
                      <a:r>
                        <a:rPr lang="en" sz="1200"/>
                        <a:t>DNS Server</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r h="396200">
                <a:tc>
                  <a:txBody>
                    <a:bodyPr/>
                    <a:lstStyle/>
                    <a:p>
                      <a:pPr indent="0" lvl="0" marL="0" rtl="0" algn="l">
                        <a:spcBef>
                          <a:spcPts val="0"/>
                        </a:spcBef>
                        <a:spcAft>
                          <a:spcPts val="0"/>
                        </a:spcAft>
                        <a:buNone/>
                      </a:pPr>
                      <a:r>
                        <a:rPr lang="en" sz="1200"/>
                        <a:t>Gateway</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bl>
          </a:graphicData>
        </a:graphic>
      </p:graphicFrame>
      <p:sp>
        <p:nvSpPr>
          <p:cNvPr id="418" name="Google Shape;418;p42"/>
          <p:cNvSpPr txBox="1"/>
          <p:nvPr/>
        </p:nvSpPr>
        <p:spPr>
          <a:xfrm>
            <a:off x="260500" y="3675875"/>
            <a:ext cx="35739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Alice wants to connect to the network, but she’s missing a configuration.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Host Configuration Protocol (DHCP)</a:t>
            </a:r>
            <a:endParaRPr/>
          </a:p>
        </p:txBody>
      </p:sp>
      <p:sp>
        <p:nvSpPr>
          <p:cNvPr id="424" name="Google Shape;424;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43"/>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graphicFrame>
        <p:nvGraphicFramePr>
          <p:cNvPr id="426" name="Google Shape;426;p43"/>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1025225"/>
                <a:gridCol w="888425"/>
              </a:tblGrid>
              <a:tr h="396200">
                <a:tc gridSpan="2">
                  <a:txBody>
                    <a:bodyPr/>
                    <a:lstStyle/>
                    <a:p>
                      <a:pPr indent="0" lvl="0" marL="0" rtl="0" algn="ctr">
                        <a:spcBef>
                          <a:spcPts val="0"/>
                        </a:spcBef>
                        <a:spcAft>
                          <a:spcPts val="0"/>
                        </a:spcAft>
                        <a:buNone/>
                      </a:pPr>
                      <a:r>
                        <a:rPr lang="en" sz="1200"/>
                        <a:t>Alice’s configuration</a:t>
                      </a:r>
                      <a:endParaRPr sz="1200"/>
                    </a:p>
                  </a:txBody>
                  <a:tcPr marT="91425" marB="91425" marR="91425" marL="91425"/>
                </a:tc>
                <a:tc hMerge="1"/>
              </a:tr>
              <a:tr h="396200">
                <a:tc>
                  <a:txBody>
                    <a:bodyPr/>
                    <a:lstStyle/>
                    <a:p>
                      <a:pPr indent="0" lvl="0" marL="0" rtl="0" algn="l">
                        <a:spcBef>
                          <a:spcPts val="0"/>
                        </a:spcBef>
                        <a:spcAft>
                          <a:spcPts val="0"/>
                        </a:spcAft>
                        <a:buNone/>
                      </a:pPr>
                      <a:r>
                        <a:rPr lang="en" sz="1200"/>
                        <a:t>My IP</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r h="329750">
                <a:tc>
                  <a:txBody>
                    <a:bodyPr/>
                    <a:lstStyle/>
                    <a:p>
                      <a:pPr indent="0" lvl="0" marL="0" rtl="0" algn="l">
                        <a:spcBef>
                          <a:spcPts val="0"/>
                        </a:spcBef>
                        <a:spcAft>
                          <a:spcPts val="0"/>
                        </a:spcAft>
                        <a:buNone/>
                      </a:pPr>
                      <a:r>
                        <a:rPr lang="en" sz="1200"/>
                        <a:t>DNS Server</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r h="396200">
                <a:tc>
                  <a:txBody>
                    <a:bodyPr/>
                    <a:lstStyle/>
                    <a:p>
                      <a:pPr indent="0" lvl="0" marL="0" rtl="0" algn="l">
                        <a:spcBef>
                          <a:spcPts val="0"/>
                        </a:spcBef>
                        <a:spcAft>
                          <a:spcPts val="0"/>
                        </a:spcAft>
                        <a:buNone/>
                      </a:pPr>
                      <a:r>
                        <a:rPr lang="en" sz="1200"/>
                        <a:t>Gateway</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bl>
          </a:graphicData>
        </a:graphic>
      </p:graphicFrame>
      <p:grpSp>
        <p:nvGrpSpPr>
          <p:cNvPr id="427" name="Google Shape;427;p43"/>
          <p:cNvGrpSpPr/>
          <p:nvPr/>
        </p:nvGrpSpPr>
        <p:grpSpPr>
          <a:xfrm>
            <a:off x="3400550" y="3189625"/>
            <a:ext cx="3309300" cy="1318600"/>
            <a:chOff x="3400550" y="3189625"/>
            <a:chExt cx="3309300" cy="1318600"/>
          </a:xfrm>
        </p:grpSpPr>
        <p:cxnSp>
          <p:nvCxnSpPr>
            <p:cNvPr id="428" name="Google Shape;428;p43"/>
            <p:cNvCxnSpPr/>
            <p:nvPr/>
          </p:nvCxnSpPr>
          <p:spPr>
            <a:xfrm rot="10800000">
              <a:off x="4711975" y="3189625"/>
              <a:ext cx="0" cy="915300"/>
            </a:xfrm>
            <a:prstGeom prst="straightConnector1">
              <a:avLst/>
            </a:prstGeom>
            <a:noFill/>
            <a:ln cap="flat" cmpd="sng" w="19050">
              <a:solidFill>
                <a:srgbClr val="E69138"/>
              </a:solidFill>
              <a:prstDash val="solid"/>
              <a:round/>
              <a:headEnd len="med" w="med" type="none"/>
              <a:tailEnd len="med" w="med" type="triangle"/>
            </a:ln>
          </p:spPr>
        </p:cxnSp>
        <p:sp>
          <p:nvSpPr>
            <p:cNvPr id="429" name="Google Shape;429;p43"/>
            <p:cNvSpPr txBox="1"/>
            <p:nvPr/>
          </p:nvSpPr>
          <p:spPr>
            <a:xfrm>
              <a:off x="3400550" y="3892625"/>
              <a:ext cx="33093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1. </a:t>
              </a:r>
              <a:r>
                <a:rPr b="1" lang="en"/>
                <a:t>Client Discover</a:t>
              </a:r>
              <a:r>
                <a:rPr lang="en"/>
                <a:t>: Alice broadcasts a request for a configuration.</a:t>
              </a:r>
              <a:endParaRPr/>
            </a:p>
          </p:txBody>
        </p:sp>
      </p:grpSp>
      <p:grpSp>
        <p:nvGrpSpPr>
          <p:cNvPr id="430" name="Google Shape;430;p43"/>
          <p:cNvGrpSpPr/>
          <p:nvPr/>
        </p:nvGrpSpPr>
        <p:grpSpPr>
          <a:xfrm>
            <a:off x="3195200" y="1461450"/>
            <a:ext cx="2822100" cy="1948500"/>
            <a:chOff x="3195200" y="1461450"/>
            <a:chExt cx="2822100" cy="1948500"/>
          </a:xfrm>
        </p:grpSpPr>
        <p:cxnSp>
          <p:nvCxnSpPr>
            <p:cNvPr id="431" name="Google Shape;431;p43"/>
            <p:cNvCxnSpPr>
              <a:stCxn id="425" idx="3"/>
              <a:endCxn id="432" idx="1"/>
            </p:cNvCxnSpPr>
            <p:nvPr/>
          </p:nvCxnSpPr>
          <p:spPr>
            <a:xfrm flipH="1" rot="10800000">
              <a:off x="3195200" y="1461450"/>
              <a:ext cx="2822100" cy="1110300"/>
            </a:xfrm>
            <a:prstGeom prst="straightConnector1">
              <a:avLst/>
            </a:prstGeom>
            <a:noFill/>
            <a:ln cap="flat" cmpd="sng" w="9525">
              <a:solidFill>
                <a:schemeClr val="dk2"/>
              </a:solidFill>
              <a:prstDash val="solid"/>
              <a:round/>
              <a:headEnd len="med" w="med" type="none"/>
              <a:tailEnd len="med" w="med" type="triangle"/>
            </a:ln>
          </p:spPr>
        </p:cxnSp>
        <p:cxnSp>
          <p:nvCxnSpPr>
            <p:cNvPr id="433" name="Google Shape;433;p43"/>
            <p:cNvCxnSpPr>
              <a:stCxn id="425" idx="3"/>
              <a:endCxn id="434" idx="1"/>
            </p:cNvCxnSpPr>
            <p:nvPr/>
          </p:nvCxnSpPr>
          <p:spPr>
            <a:xfrm flipH="1" rot="10800000">
              <a:off x="3195200" y="2110950"/>
              <a:ext cx="2822100" cy="460800"/>
            </a:xfrm>
            <a:prstGeom prst="straightConnector1">
              <a:avLst/>
            </a:prstGeom>
            <a:noFill/>
            <a:ln cap="flat" cmpd="sng" w="9525">
              <a:solidFill>
                <a:schemeClr val="dk2"/>
              </a:solidFill>
              <a:prstDash val="solid"/>
              <a:round/>
              <a:headEnd len="med" w="med" type="none"/>
              <a:tailEnd len="med" w="med" type="triangle"/>
            </a:ln>
          </p:spPr>
        </p:cxnSp>
        <p:cxnSp>
          <p:nvCxnSpPr>
            <p:cNvPr id="435" name="Google Shape;435;p43"/>
            <p:cNvCxnSpPr>
              <a:stCxn id="425" idx="3"/>
              <a:endCxn id="436" idx="1"/>
            </p:cNvCxnSpPr>
            <p:nvPr/>
          </p:nvCxnSpPr>
          <p:spPr>
            <a:xfrm>
              <a:off x="3195200" y="2571750"/>
              <a:ext cx="2822100" cy="188700"/>
            </a:xfrm>
            <a:prstGeom prst="straightConnector1">
              <a:avLst/>
            </a:prstGeom>
            <a:noFill/>
            <a:ln cap="flat" cmpd="sng" w="9525">
              <a:solidFill>
                <a:schemeClr val="dk2"/>
              </a:solidFill>
              <a:prstDash val="solid"/>
              <a:round/>
              <a:headEnd len="med" w="med" type="none"/>
              <a:tailEnd len="med" w="med" type="triangle"/>
            </a:ln>
          </p:spPr>
        </p:cxnSp>
        <p:cxnSp>
          <p:nvCxnSpPr>
            <p:cNvPr id="437" name="Google Shape;437;p43"/>
            <p:cNvCxnSpPr>
              <a:stCxn id="425" idx="3"/>
              <a:endCxn id="438" idx="1"/>
            </p:cNvCxnSpPr>
            <p:nvPr/>
          </p:nvCxnSpPr>
          <p:spPr>
            <a:xfrm>
              <a:off x="3195200" y="2571750"/>
              <a:ext cx="2822100" cy="838200"/>
            </a:xfrm>
            <a:prstGeom prst="straightConnector1">
              <a:avLst/>
            </a:prstGeom>
            <a:noFill/>
            <a:ln cap="flat" cmpd="sng" w="9525">
              <a:solidFill>
                <a:schemeClr val="dk2"/>
              </a:solidFill>
              <a:prstDash val="solid"/>
              <a:round/>
              <a:headEnd len="med" w="med" type="none"/>
              <a:tailEnd len="med" w="med" type="triangle"/>
            </a:ln>
          </p:spPr>
        </p:cxnSp>
      </p:grpSp>
      <p:sp>
        <p:nvSpPr>
          <p:cNvPr id="432" name="Google Shape;432;p43"/>
          <p:cNvSpPr/>
          <p:nvPr/>
        </p:nvSpPr>
        <p:spPr>
          <a:xfrm>
            <a:off x="6017400" y="126467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434" name="Google Shape;434;p43"/>
          <p:cNvSpPr/>
          <p:nvPr/>
        </p:nvSpPr>
        <p:spPr>
          <a:xfrm>
            <a:off x="6017400" y="191412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DHCP Server 1</a:t>
            </a:r>
            <a:endParaRPr/>
          </a:p>
        </p:txBody>
      </p:sp>
      <p:sp>
        <p:nvSpPr>
          <p:cNvPr id="436" name="Google Shape;436;p43"/>
          <p:cNvSpPr/>
          <p:nvPr/>
        </p:nvSpPr>
        <p:spPr>
          <a:xfrm>
            <a:off x="6017400" y="256357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DHCP Server 2</a:t>
            </a:r>
            <a:endParaRPr/>
          </a:p>
        </p:txBody>
      </p:sp>
      <p:sp>
        <p:nvSpPr>
          <p:cNvPr id="438" name="Google Shape;438;p43"/>
          <p:cNvSpPr/>
          <p:nvPr/>
        </p:nvSpPr>
        <p:spPr>
          <a:xfrm>
            <a:off x="6017400" y="321302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sp>
        <p:nvSpPr>
          <p:cNvPr id="439" name="Google Shape;439;p43"/>
          <p:cNvSpPr txBox="1"/>
          <p:nvPr/>
        </p:nvSpPr>
        <p:spPr>
          <a:xfrm>
            <a:off x="3583825" y="1430613"/>
            <a:ext cx="1881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“Can anyone give me a configuration?”</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Host Configuration Protocol (DHCP)</a:t>
            </a:r>
            <a:endParaRPr/>
          </a:p>
        </p:txBody>
      </p:sp>
      <p:sp>
        <p:nvSpPr>
          <p:cNvPr id="445" name="Google Shape;445;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44"/>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447" name="Google Shape;447;p44"/>
          <p:cNvSpPr/>
          <p:nvPr/>
        </p:nvSpPr>
        <p:spPr>
          <a:xfrm>
            <a:off x="6017400" y="1264675"/>
            <a:ext cx="12876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448" name="Google Shape;448;p44"/>
          <p:cNvSpPr/>
          <p:nvPr/>
        </p:nvSpPr>
        <p:spPr>
          <a:xfrm>
            <a:off x="6017400" y="1914125"/>
            <a:ext cx="12876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DHCP Server</a:t>
            </a:r>
            <a:endParaRPr/>
          </a:p>
        </p:txBody>
      </p:sp>
      <p:sp>
        <p:nvSpPr>
          <p:cNvPr id="449" name="Google Shape;449;p44"/>
          <p:cNvSpPr/>
          <p:nvPr/>
        </p:nvSpPr>
        <p:spPr>
          <a:xfrm>
            <a:off x="6017400" y="2563575"/>
            <a:ext cx="12876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DHCP Server</a:t>
            </a:r>
            <a:endParaRPr/>
          </a:p>
        </p:txBody>
      </p:sp>
      <p:sp>
        <p:nvSpPr>
          <p:cNvPr id="450" name="Google Shape;450;p44"/>
          <p:cNvSpPr/>
          <p:nvPr/>
        </p:nvSpPr>
        <p:spPr>
          <a:xfrm>
            <a:off x="6017400" y="3213025"/>
            <a:ext cx="12876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aphicFrame>
        <p:nvGraphicFramePr>
          <p:cNvPr id="451" name="Google Shape;451;p44"/>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1025225"/>
                <a:gridCol w="888425"/>
              </a:tblGrid>
              <a:tr h="396200">
                <a:tc gridSpan="2">
                  <a:txBody>
                    <a:bodyPr/>
                    <a:lstStyle/>
                    <a:p>
                      <a:pPr indent="0" lvl="0" marL="0" rtl="0" algn="ctr">
                        <a:spcBef>
                          <a:spcPts val="0"/>
                        </a:spcBef>
                        <a:spcAft>
                          <a:spcPts val="0"/>
                        </a:spcAft>
                        <a:buNone/>
                      </a:pPr>
                      <a:r>
                        <a:rPr lang="en" sz="1200"/>
                        <a:t>Alice’s configuration</a:t>
                      </a:r>
                      <a:endParaRPr sz="1200"/>
                    </a:p>
                  </a:txBody>
                  <a:tcPr marT="91425" marB="91425" marR="91425" marL="91425"/>
                </a:tc>
                <a:tc hMerge="1"/>
              </a:tr>
              <a:tr h="396200">
                <a:tc>
                  <a:txBody>
                    <a:bodyPr/>
                    <a:lstStyle/>
                    <a:p>
                      <a:pPr indent="0" lvl="0" marL="0" rtl="0" algn="l">
                        <a:spcBef>
                          <a:spcPts val="0"/>
                        </a:spcBef>
                        <a:spcAft>
                          <a:spcPts val="0"/>
                        </a:spcAft>
                        <a:buNone/>
                      </a:pPr>
                      <a:r>
                        <a:rPr lang="en" sz="1200"/>
                        <a:t>My IP</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r h="329750">
                <a:tc>
                  <a:txBody>
                    <a:bodyPr/>
                    <a:lstStyle/>
                    <a:p>
                      <a:pPr indent="0" lvl="0" marL="0" rtl="0" algn="l">
                        <a:spcBef>
                          <a:spcPts val="0"/>
                        </a:spcBef>
                        <a:spcAft>
                          <a:spcPts val="0"/>
                        </a:spcAft>
                        <a:buNone/>
                      </a:pPr>
                      <a:r>
                        <a:rPr lang="en" sz="1200"/>
                        <a:t>DNS Server</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r h="396200">
                <a:tc>
                  <a:txBody>
                    <a:bodyPr/>
                    <a:lstStyle/>
                    <a:p>
                      <a:pPr indent="0" lvl="0" marL="0" rtl="0" algn="l">
                        <a:spcBef>
                          <a:spcPts val="0"/>
                        </a:spcBef>
                        <a:spcAft>
                          <a:spcPts val="0"/>
                        </a:spcAft>
                        <a:buNone/>
                      </a:pPr>
                      <a:r>
                        <a:rPr lang="en" sz="1200"/>
                        <a:t>Gateway</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bl>
          </a:graphicData>
        </a:graphic>
      </p:graphicFrame>
      <p:grpSp>
        <p:nvGrpSpPr>
          <p:cNvPr id="452" name="Google Shape;452;p44"/>
          <p:cNvGrpSpPr/>
          <p:nvPr/>
        </p:nvGrpSpPr>
        <p:grpSpPr>
          <a:xfrm>
            <a:off x="3400550" y="3474625"/>
            <a:ext cx="3309300" cy="1338400"/>
            <a:chOff x="3400550" y="3474625"/>
            <a:chExt cx="3309300" cy="1338400"/>
          </a:xfrm>
        </p:grpSpPr>
        <p:cxnSp>
          <p:nvCxnSpPr>
            <p:cNvPr id="453" name="Google Shape;453;p44"/>
            <p:cNvCxnSpPr/>
            <p:nvPr/>
          </p:nvCxnSpPr>
          <p:spPr>
            <a:xfrm rot="10800000">
              <a:off x="4711975" y="3474625"/>
              <a:ext cx="0" cy="935100"/>
            </a:xfrm>
            <a:prstGeom prst="straightConnector1">
              <a:avLst/>
            </a:prstGeom>
            <a:noFill/>
            <a:ln cap="flat" cmpd="sng" w="19050">
              <a:solidFill>
                <a:srgbClr val="E69138"/>
              </a:solidFill>
              <a:prstDash val="solid"/>
              <a:round/>
              <a:headEnd len="med" w="med" type="none"/>
              <a:tailEnd len="med" w="med" type="triangle"/>
            </a:ln>
          </p:spPr>
        </p:cxnSp>
        <p:sp>
          <p:nvSpPr>
            <p:cNvPr id="454" name="Google Shape;454;p44"/>
            <p:cNvSpPr txBox="1"/>
            <p:nvPr/>
          </p:nvSpPr>
          <p:spPr>
            <a:xfrm>
              <a:off x="3400550" y="4197425"/>
              <a:ext cx="33093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2. </a:t>
              </a:r>
              <a:r>
                <a:rPr b="1" lang="en"/>
                <a:t>DHCP Offer</a:t>
              </a:r>
              <a:r>
                <a:rPr lang="en"/>
                <a:t>: Any DHCP server can reply with an offer for Alice.</a:t>
              </a:r>
              <a:endParaRPr/>
            </a:p>
          </p:txBody>
        </p:sp>
      </p:grpSp>
      <p:grpSp>
        <p:nvGrpSpPr>
          <p:cNvPr id="455" name="Google Shape;455;p44"/>
          <p:cNvGrpSpPr/>
          <p:nvPr/>
        </p:nvGrpSpPr>
        <p:grpSpPr>
          <a:xfrm>
            <a:off x="3195300" y="1677425"/>
            <a:ext cx="2822100" cy="894300"/>
            <a:chOff x="3195300" y="1677425"/>
            <a:chExt cx="2822100" cy="894300"/>
          </a:xfrm>
        </p:grpSpPr>
        <p:cxnSp>
          <p:nvCxnSpPr>
            <p:cNvPr id="456" name="Google Shape;456;p44"/>
            <p:cNvCxnSpPr>
              <a:stCxn id="448" idx="1"/>
              <a:endCxn id="446" idx="3"/>
            </p:cNvCxnSpPr>
            <p:nvPr/>
          </p:nvCxnSpPr>
          <p:spPr>
            <a:xfrm flipH="1">
              <a:off x="3195300" y="2110925"/>
              <a:ext cx="2822100" cy="460800"/>
            </a:xfrm>
            <a:prstGeom prst="straightConnector1">
              <a:avLst/>
            </a:prstGeom>
            <a:noFill/>
            <a:ln cap="flat" cmpd="sng" w="9525">
              <a:solidFill>
                <a:schemeClr val="dk2"/>
              </a:solidFill>
              <a:prstDash val="solid"/>
              <a:round/>
              <a:headEnd len="med" w="med" type="none"/>
              <a:tailEnd len="med" w="med" type="triangle"/>
            </a:ln>
          </p:spPr>
        </p:cxnSp>
        <p:sp>
          <p:nvSpPr>
            <p:cNvPr id="457" name="Google Shape;457;p44"/>
            <p:cNvSpPr txBox="1"/>
            <p:nvPr/>
          </p:nvSpPr>
          <p:spPr>
            <a:xfrm>
              <a:off x="3727450" y="1677425"/>
              <a:ext cx="1881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“You can use IP </a:t>
              </a:r>
              <a:r>
                <a:rPr i="1" lang="en" sz="1200"/>
                <a:t>x</a:t>
              </a:r>
              <a:r>
                <a:rPr lang="en" sz="1200"/>
                <a:t>, DNS server </a:t>
              </a:r>
              <a:r>
                <a:rPr i="1" lang="en" sz="1200"/>
                <a:t>y</a:t>
              </a:r>
              <a:r>
                <a:rPr lang="en" sz="1200"/>
                <a:t>, and gateway </a:t>
              </a:r>
              <a:r>
                <a:rPr i="1" lang="en" sz="1200"/>
                <a:t>z</a:t>
              </a:r>
              <a:r>
                <a:rPr lang="en" sz="1200"/>
                <a:t>”</a:t>
              </a:r>
              <a:endParaRPr sz="1200"/>
            </a:p>
          </p:txBody>
        </p:sp>
      </p:grpSp>
      <p:grpSp>
        <p:nvGrpSpPr>
          <p:cNvPr id="458" name="Google Shape;458;p44"/>
          <p:cNvGrpSpPr/>
          <p:nvPr/>
        </p:nvGrpSpPr>
        <p:grpSpPr>
          <a:xfrm>
            <a:off x="3195081" y="2571750"/>
            <a:ext cx="2821975" cy="622125"/>
            <a:chOff x="3195200" y="2571750"/>
            <a:chExt cx="3355500" cy="622125"/>
          </a:xfrm>
        </p:grpSpPr>
        <p:cxnSp>
          <p:nvCxnSpPr>
            <p:cNvPr id="459" name="Google Shape;459;p44"/>
            <p:cNvCxnSpPr/>
            <p:nvPr/>
          </p:nvCxnSpPr>
          <p:spPr>
            <a:xfrm rot="10800000">
              <a:off x="3195200" y="2571750"/>
              <a:ext cx="3355500" cy="188700"/>
            </a:xfrm>
            <a:prstGeom prst="straightConnector1">
              <a:avLst/>
            </a:prstGeom>
            <a:noFill/>
            <a:ln cap="flat" cmpd="sng" w="9525">
              <a:solidFill>
                <a:schemeClr val="dk2"/>
              </a:solidFill>
              <a:prstDash val="solid"/>
              <a:round/>
              <a:headEnd len="med" w="med" type="none"/>
              <a:tailEnd len="med" w="med" type="none"/>
            </a:ln>
          </p:spPr>
        </p:cxnSp>
        <p:sp>
          <p:nvSpPr>
            <p:cNvPr id="460" name="Google Shape;460;p44"/>
            <p:cNvSpPr txBox="1"/>
            <p:nvPr/>
          </p:nvSpPr>
          <p:spPr>
            <a:xfrm>
              <a:off x="3727446" y="2639775"/>
              <a:ext cx="2391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“You can use IP </a:t>
              </a:r>
              <a:r>
                <a:rPr i="1" lang="en" sz="1200">
                  <a:solidFill>
                    <a:schemeClr val="dk1"/>
                  </a:solidFill>
                </a:rPr>
                <a:t>a</a:t>
              </a:r>
              <a:r>
                <a:rPr lang="en" sz="1200">
                  <a:solidFill>
                    <a:schemeClr val="dk1"/>
                  </a:solidFill>
                </a:rPr>
                <a:t>, DNS server </a:t>
              </a:r>
              <a:r>
                <a:rPr i="1" lang="en" sz="1200">
                  <a:solidFill>
                    <a:schemeClr val="dk1"/>
                  </a:solidFill>
                </a:rPr>
                <a:t>b</a:t>
              </a:r>
              <a:r>
                <a:rPr lang="en" sz="1200">
                  <a:solidFill>
                    <a:schemeClr val="dk1"/>
                  </a:solidFill>
                </a:rPr>
                <a:t>, and gateway </a:t>
              </a:r>
              <a:r>
                <a:rPr i="1" lang="en" sz="1200">
                  <a:solidFill>
                    <a:schemeClr val="dk1"/>
                  </a:solidFill>
                </a:rPr>
                <a:t>c</a:t>
              </a:r>
              <a:r>
                <a:rPr lang="en" sz="1200">
                  <a:solidFill>
                    <a:schemeClr val="dk1"/>
                  </a:solidFill>
                </a:rPr>
                <a:t>”</a:t>
              </a:r>
              <a:endParaRPr sz="12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Host Configuration Protocol (DHCP)</a:t>
            </a:r>
            <a:endParaRPr/>
          </a:p>
        </p:txBody>
      </p:sp>
      <p:sp>
        <p:nvSpPr>
          <p:cNvPr id="466" name="Google Shape;466;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7" name="Google Shape;467;p45"/>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graphicFrame>
        <p:nvGraphicFramePr>
          <p:cNvPr id="468" name="Google Shape;468;p45"/>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1025225"/>
                <a:gridCol w="888425"/>
              </a:tblGrid>
              <a:tr h="396200">
                <a:tc gridSpan="2">
                  <a:txBody>
                    <a:bodyPr/>
                    <a:lstStyle/>
                    <a:p>
                      <a:pPr indent="0" lvl="0" marL="0" rtl="0" algn="ctr">
                        <a:spcBef>
                          <a:spcPts val="0"/>
                        </a:spcBef>
                        <a:spcAft>
                          <a:spcPts val="0"/>
                        </a:spcAft>
                        <a:buNone/>
                      </a:pPr>
                      <a:r>
                        <a:rPr lang="en" sz="1200"/>
                        <a:t>Alice’s configuration</a:t>
                      </a:r>
                      <a:endParaRPr sz="1200"/>
                    </a:p>
                  </a:txBody>
                  <a:tcPr marT="91425" marB="91425" marR="91425" marL="91425"/>
                </a:tc>
                <a:tc hMerge="1"/>
              </a:tr>
              <a:tr h="396200">
                <a:tc>
                  <a:txBody>
                    <a:bodyPr/>
                    <a:lstStyle/>
                    <a:p>
                      <a:pPr indent="0" lvl="0" marL="0" rtl="0" algn="l">
                        <a:spcBef>
                          <a:spcPts val="0"/>
                        </a:spcBef>
                        <a:spcAft>
                          <a:spcPts val="0"/>
                        </a:spcAft>
                        <a:buNone/>
                      </a:pPr>
                      <a:r>
                        <a:rPr lang="en" sz="1200"/>
                        <a:t>My IP</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r h="329750">
                <a:tc>
                  <a:txBody>
                    <a:bodyPr/>
                    <a:lstStyle/>
                    <a:p>
                      <a:pPr indent="0" lvl="0" marL="0" rtl="0" algn="l">
                        <a:spcBef>
                          <a:spcPts val="0"/>
                        </a:spcBef>
                        <a:spcAft>
                          <a:spcPts val="0"/>
                        </a:spcAft>
                        <a:buNone/>
                      </a:pPr>
                      <a:r>
                        <a:rPr lang="en" sz="1200"/>
                        <a:t>DNS Server</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r h="396200">
                <a:tc>
                  <a:txBody>
                    <a:bodyPr/>
                    <a:lstStyle/>
                    <a:p>
                      <a:pPr indent="0" lvl="0" marL="0" rtl="0" algn="l">
                        <a:spcBef>
                          <a:spcPts val="0"/>
                        </a:spcBef>
                        <a:spcAft>
                          <a:spcPts val="0"/>
                        </a:spcAft>
                        <a:buNone/>
                      </a:pPr>
                      <a:r>
                        <a:rPr lang="en" sz="1200"/>
                        <a:t>Gateway</a:t>
                      </a:r>
                      <a:endParaRPr sz="1200"/>
                    </a:p>
                  </a:txBody>
                  <a:tcPr marT="91425" marB="91425" marR="91425" marL="91425"/>
                </a:tc>
                <a:tc>
                  <a:txBody>
                    <a:bodyPr/>
                    <a:lstStyle/>
                    <a:p>
                      <a:pPr indent="0" lvl="0" marL="0" rtl="0" algn="l">
                        <a:spcBef>
                          <a:spcPts val="0"/>
                        </a:spcBef>
                        <a:spcAft>
                          <a:spcPts val="0"/>
                        </a:spcAft>
                        <a:buNone/>
                      </a:pPr>
                      <a:r>
                        <a:rPr lang="en" sz="1200"/>
                        <a:t>???</a:t>
                      </a:r>
                      <a:endParaRPr sz="1200"/>
                    </a:p>
                  </a:txBody>
                  <a:tcPr marT="91425" marB="91425" marR="91425" marL="91425"/>
                </a:tc>
              </a:tr>
            </a:tbl>
          </a:graphicData>
        </a:graphic>
      </p:graphicFrame>
      <p:grpSp>
        <p:nvGrpSpPr>
          <p:cNvPr id="469" name="Google Shape;469;p45"/>
          <p:cNvGrpSpPr/>
          <p:nvPr/>
        </p:nvGrpSpPr>
        <p:grpSpPr>
          <a:xfrm>
            <a:off x="3400550" y="3189625"/>
            <a:ext cx="3309300" cy="1318600"/>
            <a:chOff x="3400550" y="3189625"/>
            <a:chExt cx="3309300" cy="1318600"/>
          </a:xfrm>
        </p:grpSpPr>
        <p:cxnSp>
          <p:nvCxnSpPr>
            <p:cNvPr id="470" name="Google Shape;470;p45"/>
            <p:cNvCxnSpPr/>
            <p:nvPr/>
          </p:nvCxnSpPr>
          <p:spPr>
            <a:xfrm rot="10800000">
              <a:off x="4711975" y="3189625"/>
              <a:ext cx="0" cy="915300"/>
            </a:xfrm>
            <a:prstGeom prst="straightConnector1">
              <a:avLst/>
            </a:prstGeom>
            <a:noFill/>
            <a:ln cap="flat" cmpd="sng" w="19050">
              <a:solidFill>
                <a:srgbClr val="E69138"/>
              </a:solidFill>
              <a:prstDash val="solid"/>
              <a:round/>
              <a:headEnd len="med" w="med" type="none"/>
              <a:tailEnd len="med" w="med" type="triangle"/>
            </a:ln>
          </p:spPr>
        </p:cxnSp>
        <p:sp>
          <p:nvSpPr>
            <p:cNvPr id="471" name="Google Shape;471;p45"/>
            <p:cNvSpPr txBox="1"/>
            <p:nvPr/>
          </p:nvSpPr>
          <p:spPr>
            <a:xfrm>
              <a:off x="3400550" y="3892625"/>
              <a:ext cx="33093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r>
                <a:rPr lang="en"/>
                <a:t>. </a:t>
              </a:r>
              <a:r>
                <a:rPr b="1" lang="en"/>
                <a:t>Client Request</a:t>
              </a:r>
              <a:r>
                <a:rPr lang="en"/>
                <a:t>: Alice broadcasts which configuration she has chosen.</a:t>
              </a:r>
              <a:endParaRPr/>
            </a:p>
          </p:txBody>
        </p:sp>
      </p:grpSp>
      <p:sp>
        <p:nvSpPr>
          <p:cNvPr id="472" name="Google Shape;472;p45"/>
          <p:cNvSpPr/>
          <p:nvPr/>
        </p:nvSpPr>
        <p:spPr>
          <a:xfrm>
            <a:off x="6017400" y="126467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473" name="Google Shape;473;p45"/>
          <p:cNvSpPr/>
          <p:nvPr/>
        </p:nvSpPr>
        <p:spPr>
          <a:xfrm>
            <a:off x="6017400" y="191412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DHCP Server 1</a:t>
            </a:r>
            <a:endParaRPr/>
          </a:p>
        </p:txBody>
      </p:sp>
      <p:sp>
        <p:nvSpPr>
          <p:cNvPr id="474" name="Google Shape;474;p45"/>
          <p:cNvSpPr/>
          <p:nvPr/>
        </p:nvSpPr>
        <p:spPr>
          <a:xfrm>
            <a:off x="6017400" y="256357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DHCP Server 2</a:t>
            </a:r>
            <a:endParaRPr/>
          </a:p>
        </p:txBody>
      </p:sp>
      <p:sp>
        <p:nvSpPr>
          <p:cNvPr id="475" name="Google Shape;475;p45"/>
          <p:cNvSpPr/>
          <p:nvPr/>
        </p:nvSpPr>
        <p:spPr>
          <a:xfrm>
            <a:off x="6017400" y="321302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grpSp>
        <p:nvGrpSpPr>
          <p:cNvPr id="476" name="Google Shape;476;p45"/>
          <p:cNvGrpSpPr/>
          <p:nvPr/>
        </p:nvGrpSpPr>
        <p:grpSpPr>
          <a:xfrm>
            <a:off x="3195200" y="1430613"/>
            <a:ext cx="2822100" cy="1979338"/>
            <a:chOff x="3195200" y="1430613"/>
            <a:chExt cx="2822100" cy="1979338"/>
          </a:xfrm>
        </p:grpSpPr>
        <p:cxnSp>
          <p:nvCxnSpPr>
            <p:cNvPr id="477" name="Google Shape;477;p45"/>
            <p:cNvCxnSpPr>
              <a:stCxn id="467" idx="3"/>
              <a:endCxn id="472" idx="1"/>
            </p:cNvCxnSpPr>
            <p:nvPr/>
          </p:nvCxnSpPr>
          <p:spPr>
            <a:xfrm flipH="1" rot="10800000">
              <a:off x="3195200" y="1461450"/>
              <a:ext cx="2822100" cy="1110300"/>
            </a:xfrm>
            <a:prstGeom prst="straightConnector1">
              <a:avLst/>
            </a:prstGeom>
            <a:noFill/>
            <a:ln cap="flat" cmpd="sng" w="9525">
              <a:solidFill>
                <a:schemeClr val="dk2"/>
              </a:solidFill>
              <a:prstDash val="solid"/>
              <a:round/>
              <a:headEnd len="med" w="med" type="none"/>
              <a:tailEnd len="med" w="med" type="triangle"/>
            </a:ln>
          </p:spPr>
        </p:cxnSp>
        <p:cxnSp>
          <p:nvCxnSpPr>
            <p:cNvPr id="478" name="Google Shape;478;p45"/>
            <p:cNvCxnSpPr>
              <a:stCxn id="467" idx="3"/>
              <a:endCxn id="473" idx="1"/>
            </p:cNvCxnSpPr>
            <p:nvPr/>
          </p:nvCxnSpPr>
          <p:spPr>
            <a:xfrm flipH="1" rot="10800000">
              <a:off x="3195200" y="2110950"/>
              <a:ext cx="2822100" cy="460800"/>
            </a:xfrm>
            <a:prstGeom prst="straightConnector1">
              <a:avLst/>
            </a:prstGeom>
            <a:noFill/>
            <a:ln cap="flat" cmpd="sng" w="9525">
              <a:solidFill>
                <a:schemeClr val="dk2"/>
              </a:solidFill>
              <a:prstDash val="solid"/>
              <a:round/>
              <a:headEnd len="med" w="med" type="none"/>
              <a:tailEnd len="med" w="med" type="triangle"/>
            </a:ln>
          </p:spPr>
        </p:cxnSp>
        <p:cxnSp>
          <p:nvCxnSpPr>
            <p:cNvPr id="479" name="Google Shape;479;p45"/>
            <p:cNvCxnSpPr>
              <a:stCxn id="467" idx="3"/>
              <a:endCxn id="474" idx="1"/>
            </p:cNvCxnSpPr>
            <p:nvPr/>
          </p:nvCxnSpPr>
          <p:spPr>
            <a:xfrm>
              <a:off x="3195200" y="2571750"/>
              <a:ext cx="2822100" cy="188700"/>
            </a:xfrm>
            <a:prstGeom prst="straightConnector1">
              <a:avLst/>
            </a:prstGeom>
            <a:noFill/>
            <a:ln cap="flat" cmpd="sng" w="9525">
              <a:solidFill>
                <a:schemeClr val="dk2"/>
              </a:solidFill>
              <a:prstDash val="solid"/>
              <a:round/>
              <a:headEnd len="med" w="med" type="none"/>
              <a:tailEnd len="med" w="med" type="triangle"/>
            </a:ln>
          </p:spPr>
        </p:cxnSp>
        <p:cxnSp>
          <p:nvCxnSpPr>
            <p:cNvPr id="480" name="Google Shape;480;p45"/>
            <p:cNvCxnSpPr>
              <a:stCxn id="467" idx="3"/>
              <a:endCxn id="475" idx="1"/>
            </p:cNvCxnSpPr>
            <p:nvPr/>
          </p:nvCxnSpPr>
          <p:spPr>
            <a:xfrm>
              <a:off x="3195200" y="2571750"/>
              <a:ext cx="2822100" cy="838200"/>
            </a:xfrm>
            <a:prstGeom prst="straightConnector1">
              <a:avLst/>
            </a:prstGeom>
            <a:noFill/>
            <a:ln cap="flat" cmpd="sng" w="9525">
              <a:solidFill>
                <a:schemeClr val="dk2"/>
              </a:solidFill>
              <a:prstDash val="solid"/>
              <a:round/>
              <a:headEnd len="med" w="med" type="none"/>
              <a:tailEnd len="med" w="med" type="triangle"/>
            </a:ln>
          </p:spPr>
        </p:cxnSp>
        <p:sp>
          <p:nvSpPr>
            <p:cNvPr id="481" name="Google Shape;481;p45"/>
            <p:cNvSpPr txBox="1"/>
            <p:nvPr/>
          </p:nvSpPr>
          <p:spPr>
            <a:xfrm>
              <a:off x="3583825" y="1430613"/>
              <a:ext cx="1881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“I’ll use DHCP Server 1”</a:t>
              </a:r>
              <a:endParaRPr sz="12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Host Configuration Protocol (DHCP)</a:t>
            </a:r>
            <a:endParaRPr/>
          </a:p>
        </p:txBody>
      </p:sp>
      <p:sp>
        <p:nvSpPr>
          <p:cNvPr id="487" name="Google Shape;48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88" name="Google Shape;488;p46"/>
          <p:cNvSpPr/>
          <p:nvPr/>
        </p:nvSpPr>
        <p:spPr>
          <a:xfrm>
            <a:off x="2319500" y="2133900"/>
            <a:ext cx="875700" cy="87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graphicFrame>
        <p:nvGraphicFramePr>
          <p:cNvPr id="489" name="Google Shape;489;p46"/>
          <p:cNvGraphicFramePr/>
          <p:nvPr/>
        </p:nvGraphicFramePr>
        <p:xfrm>
          <a:off x="260500" y="2024388"/>
          <a:ext cx="3000000" cy="3000000"/>
        </p:xfrm>
        <a:graphic>
          <a:graphicData uri="http://schemas.openxmlformats.org/drawingml/2006/table">
            <a:tbl>
              <a:tblPr>
                <a:noFill/>
                <a:tableStyleId>{1364716B-9658-414B-9CFB-C2EFFBB96313}</a:tableStyleId>
              </a:tblPr>
              <a:tblGrid>
                <a:gridCol w="1025225"/>
                <a:gridCol w="888425"/>
              </a:tblGrid>
              <a:tr h="396200">
                <a:tc gridSpan="2">
                  <a:txBody>
                    <a:bodyPr/>
                    <a:lstStyle/>
                    <a:p>
                      <a:pPr indent="0" lvl="0" marL="0" rtl="0" algn="ctr">
                        <a:spcBef>
                          <a:spcPts val="0"/>
                        </a:spcBef>
                        <a:spcAft>
                          <a:spcPts val="0"/>
                        </a:spcAft>
                        <a:buNone/>
                      </a:pPr>
                      <a:r>
                        <a:rPr lang="en" sz="1200"/>
                        <a:t>Alice’s configuration</a:t>
                      </a:r>
                      <a:endParaRPr sz="1200"/>
                    </a:p>
                  </a:txBody>
                  <a:tcPr marT="91425" marB="91425" marR="91425" marL="91425"/>
                </a:tc>
                <a:tc hMerge="1"/>
              </a:tr>
              <a:tr h="396200">
                <a:tc>
                  <a:txBody>
                    <a:bodyPr/>
                    <a:lstStyle/>
                    <a:p>
                      <a:pPr indent="0" lvl="0" marL="0" rtl="0" algn="l">
                        <a:spcBef>
                          <a:spcPts val="0"/>
                        </a:spcBef>
                        <a:spcAft>
                          <a:spcPts val="0"/>
                        </a:spcAft>
                        <a:buNone/>
                      </a:pPr>
                      <a:r>
                        <a:rPr lang="en" sz="1200"/>
                        <a:t>My IP</a:t>
                      </a:r>
                      <a:endParaRPr sz="1200"/>
                    </a:p>
                  </a:txBody>
                  <a:tcPr marT="91425" marB="91425" marR="91425" marL="91425"/>
                </a:tc>
                <a:tc>
                  <a:txBody>
                    <a:bodyPr/>
                    <a:lstStyle/>
                    <a:p>
                      <a:pPr indent="0" lvl="0" marL="0" rtl="0" algn="l">
                        <a:spcBef>
                          <a:spcPts val="0"/>
                        </a:spcBef>
                        <a:spcAft>
                          <a:spcPts val="0"/>
                        </a:spcAft>
                        <a:buNone/>
                      </a:pPr>
                      <a:r>
                        <a:rPr lang="en" sz="1200"/>
                        <a:t>x</a:t>
                      </a:r>
                      <a:endParaRPr sz="1200"/>
                    </a:p>
                  </a:txBody>
                  <a:tcPr marT="91425" marB="91425" marR="91425" marL="91425"/>
                </a:tc>
              </a:tr>
              <a:tr h="329750">
                <a:tc>
                  <a:txBody>
                    <a:bodyPr/>
                    <a:lstStyle/>
                    <a:p>
                      <a:pPr indent="0" lvl="0" marL="0" rtl="0" algn="l">
                        <a:spcBef>
                          <a:spcPts val="0"/>
                        </a:spcBef>
                        <a:spcAft>
                          <a:spcPts val="0"/>
                        </a:spcAft>
                        <a:buNone/>
                      </a:pPr>
                      <a:r>
                        <a:rPr lang="en" sz="1200"/>
                        <a:t>DNS Server</a:t>
                      </a:r>
                      <a:endParaRPr sz="1200"/>
                    </a:p>
                  </a:txBody>
                  <a:tcPr marT="91425" marB="91425" marR="91425" marL="91425"/>
                </a:tc>
                <a:tc>
                  <a:txBody>
                    <a:bodyPr/>
                    <a:lstStyle/>
                    <a:p>
                      <a:pPr indent="0" lvl="0" marL="0" rtl="0" algn="l">
                        <a:spcBef>
                          <a:spcPts val="0"/>
                        </a:spcBef>
                        <a:spcAft>
                          <a:spcPts val="0"/>
                        </a:spcAft>
                        <a:buNone/>
                      </a:pPr>
                      <a:r>
                        <a:rPr lang="en" sz="1200"/>
                        <a:t>y</a:t>
                      </a:r>
                      <a:endParaRPr sz="1200"/>
                    </a:p>
                  </a:txBody>
                  <a:tcPr marT="91425" marB="91425" marR="91425" marL="91425"/>
                </a:tc>
              </a:tr>
              <a:tr h="396200">
                <a:tc>
                  <a:txBody>
                    <a:bodyPr/>
                    <a:lstStyle/>
                    <a:p>
                      <a:pPr indent="0" lvl="0" marL="0" rtl="0" algn="l">
                        <a:spcBef>
                          <a:spcPts val="0"/>
                        </a:spcBef>
                        <a:spcAft>
                          <a:spcPts val="0"/>
                        </a:spcAft>
                        <a:buNone/>
                      </a:pPr>
                      <a:r>
                        <a:rPr lang="en" sz="1200"/>
                        <a:t>Gateway</a:t>
                      </a:r>
                      <a:endParaRPr sz="1200"/>
                    </a:p>
                  </a:txBody>
                  <a:tcPr marT="91425" marB="91425" marR="91425" marL="91425"/>
                </a:tc>
                <a:tc>
                  <a:txBody>
                    <a:bodyPr/>
                    <a:lstStyle/>
                    <a:p>
                      <a:pPr indent="0" lvl="0" marL="0" rtl="0" algn="l">
                        <a:spcBef>
                          <a:spcPts val="0"/>
                        </a:spcBef>
                        <a:spcAft>
                          <a:spcPts val="0"/>
                        </a:spcAft>
                        <a:buNone/>
                      </a:pPr>
                      <a:r>
                        <a:rPr lang="en" sz="1200"/>
                        <a:t>z</a:t>
                      </a:r>
                      <a:endParaRPr sz="1200"/>
                    </a:p>
                  </a:txBody>
                  <a:tcPr marT="91425" marB="91425" marR="91425" marL="91425"/>
                </a:tc>
              </a:tr>
            </a:tbl>
          </a:graphicData>
        </a:graphic>
      </p:graphicFrame>
      <p:grpSp>
        <p:nvGrpSpPr>
          <p:cNvPr id="490" name="Google Shape;490;p46"/>
          <p:cNvGrpSpPr/>
          <p:nvPr/>
        </p:nvGrpSpPr>
        <p:grpSpPr>
          <a:xfrm>
            <a:off x="3400550" y="2578525"/>
            <a:ext cx="3309300" cy="2145400"/>
            <a:chOff x="3400550" y="2578525"/>
            <a:chExt cx="3309300" cy="2145400"/>
          </a:xfrm>
        </p:grpSpPr>
        <p:cxnSp>
          <p:nvCxnSpPr>
            <p:cNvPr id="491" name="Google Shape;491;p46"/>
            <p:cNvCxnSpPr/>
            <p:nvPr/>
          </p:nvCxnSpPr>
          <p:spPr>
            <a:xfrm rot="10800000">
              <a:off x="4711975" y="2578525"/>
              <a:ext cx="0" cy="1526400"/>
            </a:xfrm>
            <a:prstGeom prst="straightConnector1">
              <a:avLst/>
            </a:prstGeom>
            <a:noFill/>
            <a:ln cap="flat" cmpd="sng" w="19050">
              <a:solidFill>
                <a:srgbClr val="E69138"/>
              </a:solidFill>
              <a:prstDash val="solid"/>
              <a:round/>
              <a:headEnd len="med" w="med" type="none"/>
              <a:tailEnd len="med" w="med" type="triangle"/>
            </a:ln>
          </p:spPr>
        </p:cxnSp>
        <p:sp>
          <p:nvSpPr>
            <p:cNvPr id="492" name="Google Shape;492;p46"/>
            <p:cNvSpPr txBox="1"/>
            <p:nvPr/>
          </p:nvSpPr>
          <p:spPr>
            <a:xfrm>
              <a:off x="3400550" y="3892625"/>
              <a:ext cx="33093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 </a:t>
              </a:r>
              <a:r>
                <a:rPr b="1" lang="en"/>
                <a:t>DHCP Acknowledgement</a:t>
              </a:r>
              <a:r>
                <a:rPr lang="en"/>
                <a:t>: The chosen DHCP server confirms that the configuration has been set for Alice.</a:t>
              </a:r>
              <a:endParaRPr/>
            </a:p>
          </p:txBody>
        </p:sp>
      </p:grpSp>
      <p:sp>
        <p:nvSpPr>
          <p:cNvPr id="493" name="Google Shape;493;p46"/>
          <p:cNvSpPr/>
          <p:nvPr/>
        </p:nvSpPr>
        <p:spPr>
          <a:xfrm>
            <a:off x="6017400" y="126467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494" name="Google Shape;494;p46"/>
          <p:cNvSpPr/>
          <p:nvPr/>
        </p:nvSpPr>
        <p:spPr>
          <a:xfrm>
            <a:off x="6017400" y="191412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DHCP Server 1</a:t>
            </a:r>
            <a:endParaRPr/>
          </a:p>
        </p:txBody>
      </p:sp>
      <p:sp>
        <p:nvSpPr>
          <p:cNvPr id="495" name="Google Shape;495;p46"/>
          <p:cNvSpPr/>
          <p:nvPr/>
        </p:nvSpPr>
        <p:spPr>
          <a:xfrm>
            <a:off x="6017400" y="256357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DHCP Server 2</a:t>
            </a:r>
            <a:endParaRPr/>
          </a:p>
        </p:txBody>
      </p:sp>
      <p:sp>
        <p:nvSpPr>
          <p:cNvPr id="496" name="Google Shape;496;p46"/>
          <p:cNvSpPr/>
          <p:nvPr/>
        </p:nvSpPr>
        <p:spPr>
          <a:xfrm>
            <a:off x="6017400" y="3213025"/>
            <a:ext cx="15063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Router</a:t>
            </a:r>
            <a:endParaRPr/>
          </a:p>
        </p:txBody>
      </p:sp>
      <p:cxnSp>
        <p:nvCxnSpPr>
          <p:cNvPr id="497" name="Google Shape;497;p46"/>
          <p:cNvCxnSpPr>
            <a:stCxn id="494" idx="1"/>
            <a:endCxn id="488" idx="3"/>
          </p:cNvCxnSpPr>
          <p:nvPr/>
        </p:nvCxnSpPr>
        <p:spPr>
          <a:xfrm flipH="1">
            <a:off x="3195300" y="2110925"/>
            <a:ext cx="2822100" cy="460800"/>
          </a:xfrm>
          <a:prstGeom prst="straightConnector1">
            <a:avLst/>
          </a:prstGeom>
          <a:noFill/>
          <a:ln cap="flat" cmpd="sng" w="9525">
            <a:solidFill>
              <a:schemeClr val="dk2"/>
            </a:solidFill>
            <a:prstDash val="solid"/>
            <a:round/>
            <a:headEnd len="med" w="med" type="none"/>
            <a:tailEnd len="med" w="med" type="triangle"/>
          </a:ln>
        </p:spPr>
      </p:cxnSp>
      <p:sp>
        <p:nvSpPr>
          <p:cNvPr id="498" name="Google Shape;498;p46"/>
          <p:cNvSpPr txBox="1"/>
          <p:nvPr/>
        </p:nvSpPr>
        <p:spPr>
          <a:xfrm>
            <a:off x="7523700" y="1741475"/>
            <a:ext cx="1394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Reserved for Alice: IP </a:t>
            </a:r>
            <a:r>
              <a:rPr i="1" lang="en" sz="1200"/>
              <a:t>x</a:t>
            </a:r>
            <a:r>
              <a:rPr lang="en" sz="1200"/>
              <a:t>, DNS </a:t>
            </a:r>
            <a:r>
              <a:rPr i="1" lang="en" sz="1200"/>
              <a:t>y</a:t>
            </a:r>
            <a:r>
              <a:rPr lang="en" sz="1200"/>
              <a:t>, gateway </a:t>
            </a:r>
            <a:r>
              <a:rPr i="1" lang="en" sz="1200"/>
              <a:t>z</a:t>
            </a:r>
            <a:endParaRPr i="1"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DHCP Attacks</a:t>
            </a:r>
            <a:endParaRPr/>
          </a:p>
        </p:txBody>
      </p:sp>
      <p:sp>
        <p:nvSpPr>
          <p:cNvPr id="504" name="Google Shape;504;p47"/>
          <p:cNvSpPr txBox="1"/>
          <p:nvPr>
            <p:ph idx="1" type="body"/>
          </p:nvPr>
        </p:nvSpPr>
        <p:spPr>
          <a:xfrm>
            <a:off x="198500" y="1246825"/>
            <a:ext cx="88227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Alice has no way of verifying the DHCP response</a:t>
            </a:r>
            <a:endParaRPr/>
          </a:p>
          <a:p>
            <a:pPr indent="-317500" lvl="1" marL="914400" rtl="0" algn="l">
              <a:spcBef>
                <a:spcPts val="0"/>
              </a:spcBef>
              <a:spcAft>
                <a:spcPts val="0"/>
              </a:spcAft>
              <a:buSzPts val="1400"/>
              <a:buChar char="○"/>
            </a:pPr>
            <a:r>
              <a:rPr lang="en"/>
              <a:t>Spoofing: Any attacker on the local network can claim to have a configuration</a:t>
            </a:r>
            <a:endParaRPr/>
          </a:p>
          <a:p>
            <a:pPr indent="-342900" lvl="0" marL="457200" rtl="0" algn="l">
              <a:spcBef>
                <a:spcPts val="0"/>
              </a:spcBef>
              <a:spcAft>
                <a:spcPts val="0"/>
              </a:spcAft>
              <a:buSzPts val="1800"/>
              <a:buChar char="●"/>
            </a:pPr>
            <a:r>
              <a:rPr lang="en"/>
              <a:t>Alice usually expects only one DHCP server to respond, so she will accept the first response</a:t>
            </a:r>
            <a:endParaRPr/>
          </a:p>
          <a:p>
            <a:pPr indent="-317500" lvl="1" marL="914400" rtl="0" algn="l">
              <a:spcBef>
                <a:spcPts val="0"/>
              </a:spcBef>
              <a:spcAft>
                <a:spcPts val="0"/>
              </a:spcAft>
              <a:buSzPts val="1400"/>
              <a:buChar char="○"/>
            </a:pPr>
            <a:r>
              <a:rPr b="1" lang="en"/>
              <a:t>Race condition</a:t>
            </a:r>
            <a:r>
              <a:rPr lang="en"/>
              <a:t>: As long as the attacker responds faster, Alice will accept the attacker’s response</a:t>
            </a:r>
            <a:endParaRPr/>
          </a:p>
          <a:p>
            <a:pPr indent="-342900" lvl="0" marL="457200" rtl="0" algn="l">
              <a:spcBef>
                <a:spcPts val="0"/>
              </a:spcBef>
              <a:spcAft>
                <a:spcPts val="0"/>
              </a:spcAft>
              <a:buSzPts val="1800"/>
              <a:buChar char="●"/>
            </a:pPr>
            <a:r>
              <a:rPr lang="en"/>
              <a:t>DHCP attacks require Mallory to be in the same LAN as Alice</a:t>
            </a:r>
            <a:endParaRPr/>
          </a:p>
          <a:p>
            <a:pPr indent="-342900" lvl="0" marL="457200" rtl="0" algn="l">
              <a:spcBef>
                <a:spcPts val="0"/>
              </a:spcBef>
              <a:spcAft>
                <a:spcPts val="0"/>
              </a:spcAft>
              <a:buSzPts val="1800"/>
              <a:buChar char="●"/>
            </a:pPr>
            <a:r>
              <a:rPr lang="en"/>
              <a:t>DHCP attacks let </a:t>
            </a:r>
            <a:r>
              <a:rPr lang="en"/>
              <a:t>Mallory become a man-in-the-middle (MITM) attacker</a:t>
            </a:r>
            <a:endParaRPr/>
          </a:p>
          <a:p>
            <a:pPr indent="-317500" lvl="1" marL="914400" rtl="0" algn="l">
              <a:spcBef>
                <a:spcPts val="0"/>
              </a:spcBef>
              <a:spcAft>
                <a:spcPts val="0"/>
              </a:spcAft>
              <a:buSzPts val="1400"/>
              <a:buChar char="○"/>
            </a:pPr>
            <a:r>
              <a:rPr lang="en"/>
              <a:t>Mallory claims the gateway router’s address is Mallory’s address</a:t>
            </a:r>
            <a:endParaRPr/>
          </a:p>
          <a:p>
            <a:pPr indent="-317500" lvl="2" marL="1371600" rtl="0" algn="l">
              <a:spcBef>
                <a:spcPts val="0"/>
              </a:spcBef>
              <a:spcAft>
                <a:spcPts val="0"/>
              </a:spcAft>
              <a:buSzPts val="1400"/>
              <a:buChar char="■"/>
            </a:pPr>
            <a:r>
              <a:rPr lang="en"/>
              <a:t>When Alice tries to send a message to the rest of the Internet, she actually sends it to Mallory</a:t>
            </a:r>
            <a:endParaRPr/>
          </a:p>
          <a:p>
            <a:pPr indent="-317500" lvl="2" marL="1371600" rtl="0" algn="l">
              <a:spcBef>
                <a:spcPts val="0"/>
              </a:spcBef>
              <a:spcAft>
                <a:spcPts val="0"/>
              </a:spcAft>
              <a:buSzPts val="1400"/>
              <a:buChar char="■"/>
            </a:pPr>
            <a:r>
              <a:rPr lang="en"/>
              <a:t>Mallory can modify the message before sending it to its destination</a:t>
            </a:r>
            <a:endParaRPr/>
          </a:p>
          <a:p>
            <a:pPr indent="-317500" lvl="1" marL="914400" rtl="0" algn="l">
              <a:spcBef>
                <a:spcPts val="0"/>
              </a:spcBef>
              <a:spcAft>
                <a:spcPts val="0"/>
              </a:spcAft>
              <a:buSzPts val="1400"/>
              <a:buChar char="○"/>
            </a:pPr>
            <a:r>
              <a:rPr lang="en"/>
              <a:t>Mallory can also claim the DNS server’s address is Mallory’s address</a:t>
            </a:r>
            <a:endParaRPr/>
          </a:p>
        </p:txBody>
      </p:sp>
      <p:sp>
        <p:nvSpPr>
          <p:cNvPr id="505" name="Google Shape;505;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ARP and DHCP</a:t>
            </a:r>
            <a:endParaRPr/>
          </a:p>
        </p:txBody>
      </p:sp>
      <p:sp>
        <p:nvSpPr>
          <p:cNvPr id="511" name="Google Shape;511;p4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attacks on ARP and DHCP are very similar</a:t>
            </a:r>
            <a:endParaRPr/>
          </a:p>
          <a:p>
            <a:pPr indent="-317500" lvl="1" marL="914400" rtl="0" algn="l">
              <a:spcBef>
                <a:spcPts val="0"/>
              </a:spcBef>
              <a:spcAft>
                <a:spcPts val="0"/>
              </a:spcAft>
              <a:buSzPts val="1400"/>
              <a:buChar char="○"/>
            </a:pPr>
            <a:r>
              <a:rPr lang="en"/>
              <a:t>Spoofing: The attacker claims to have an answer</a:t>
            </a:r>
            <a:endParaRPr/>
          </a:p>
          <a:p>
            <a:pPr indent="-317500" lvl="1" marL="914400" rtl="0" algn="l">
              <a:spcBef>
                <a:spcPts val="0"/>
              </a:spcBef>
              <a:spcAft>
                <a:spcPts val="0"/>
              </a:spcAft>
              <a:buSzPts val="1400"/>
              <a:buChar char="○"/>
            </a:pPr>
            <a:r>
              <a:rPr lang="en"/>
              <a:t>Race condition: The requester accepts the first response. As long as the attacker’s response arrives first, it is accepted</a:t>
            </a:r>
            <a:endParaRPr/>
          </a:p>
          <a:p>
            <a:pPr indent="-342900" lvl="0" marL="457200" rtl="0" algn="l">
              <a:spcBef>
                <a:spcPts val="0"/>
              </a:spcBef>
              <a:spcAft>
                <a:spcPts val="0"/>
              </a:spcAft>
              <a:buSzPts val="1800"/>
              <a:buChar char="●"/>
            </a:pPr>
            <a:r>
              <a:rPr lang="en"/>
              <a:t>Main vulnerabilities</a:t>
            </a:r>
            <a:endParaRPr/>
          </a:p>
          <a:p>
            <a:pPr indent="-317500" lvl="1" marL="914400" rtl="0" algn="l">
              <a:spcBef>
                <a:spcPts val="0"/>
              </a:spcBef>
              <a:spcAft>
                <a:spcPts val="0"/>
              </a:spcAft>
              <a:buSzPts val="1400"/>
              <a:buChar char="○"/>
            </a:pPr>
            <a:r>
              <a:rPr lang="en"/>
              <a:t>Broadcast protocols: Requests are sent to everyone on the LAN, so the attacker can see every request</a:t>
            </a:r>
            <a:endParaRPr/>
          </a:p>
          <a:p>
            <a:pPr indent="-317500" lvl="1" marL="914400" rtl="0" algn="l">
              <a:spcBef>
                <a:spcPts val="0"/>
              </a:spcBef>
              <a:spcAft>
                <a:spcPts val="0"/>
              </a:spcAft>
              <a:buSzPts val="1400"/>
              <a:buChar char="○"/>
            </a:pPr>
            <a:r>
              <a:rPr lang="en"/>
              <a:t>No trust anchor: There is no way to verify that responses are legitimate</a:t>
            </a:r>
            <a:endParaRPr/>
          </a:p>
        </p:txBody>
      </p:sp>
      <p:sp>
        <p:nvSpPr>
          <p:cNvPr id="512" name="Google Shape;512;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DHCP Defenses</a:t>
            </a:r>
            <a:endParaRPr/>
          </a:p>
        </p:txBody>
      </p:sp>
      <p:sp>
        <p:nvSpPr>
          <p:cNvPr id="518" name="Google Shape;518;p4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DHCP attacks are hard to defend against</a:t>
            </a:r>
            <a:endParaRPr/>
          </a:p>
          <a:p>
            <a:pPr indent="-317500" lvl="1" marL="914400" rtl="0" algn="l">
              <a:spcBef>
                <a:spcPts val="0"/>
              </a:spcBef>
              <a:spcAft>
                <a:spcPts val="0"/>
              </a:spcAft>
              <a:buSzPts val="1400"/>
              <a:buChar char="○"/>
            </a:pPr>
            <a:r>
              <a:rPr lang="en"/>
              <a:t>No root of trust: When we first connect, there’s nobody we can trust</a:t>
            </a:r>
            <a:endParaRPr/>
          </a:p>
          <a:p>
            <a:pPr indent="-342900" lvl="0" marL="457200" rtl="0" algn="l">
              <a:spcBef>
                <a:spcPts val="0"/>
              </a:spcBef>
              <a:spcAft>
                <a:spcPts val="0"/>
              </a:spcAft>
              <a:buSzPts val="1800"/>
              <a:buChar char="●"/>
            </a:pPr>
            <a:r>
              <a:rPr lang="en"/>
              <a:t>Instead, we rely on defenses provided in higher layers</a:t>
            </a:r>
            <a:endParaRPr/>
          </a:p>
          <a:p>
            <a:pPr indent="0" lvl="0" marL="0" rtl="0" algn="l">
              <a:spcBef>
                <a:spcPts val="1200"/>
              </a:spcBef>
              <a:spcAft>
                <a:spcPts val="1200"/>
              </a:spcAft>
              <a:buNone/>
            </a:pPr>
            <a:r>
              <a:t/>
            </a:r>
            <a:endParaRPr/>
          </a:p>
        </p:txBody>
      </p:sp>
      <p:sp>
        <p:nvSpPr>
          <p:cNvPr id="519" name="Google Shape;51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id="524" name="Google Shape;524;p50"/>
          <p:cNvPicPr preferRelativeResize="0"/>
          <p:nvPr/>
        </p:nvPicPr>
        <p:blipFill rotWithShape="1">
          <a:blip r:embed="rId3">
            <a:alphaModFix/>
          </a:blip>
          <a:srcRect b="7201" l="0" r="0" t="0"/>
          <a:stretch/>
        </p:blipFill>
        <p:spPr>
          <a:xfrm>
            <a:off x="2428075" y="2571750"/>
            <a:ext cx="4177034" cy="2571751"/>
          </a:xfrm>
          <a:prstGeom prst="rect">
            <a:avLst/>
          </a:prstGeom>
          <a:noFill/>
          <a:ln>
            <a:noFill/>
          </a:ln>
        </p:spPr>
      </p:pic>
      <p:sp>
        <p:nvSpPr>
          <p:cNvPr id="525" name="Google Shape;525;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Wireless Local Networks</a:t>
            </a:r>
            <a:endParaRPr/>
          </a:p>
        </p:txBody>
      </p:sp>
      <p:sp>
        <p:nvSpPr>
          <p:cNvPr id="526" name="Google Shape;526;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Wi-Fi </a:t>
            </a:r>
            <a:endParaRPr/>
          </a:p>
        </p:txBody>
      </p:sp>
      <p:sp>
        <p:nvSpPr>
          <p:cNvPr id="532" name="Google Shape;532;p5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Wi-Fi</a:t>
            </a:r>
            <a:r>
              <a:rPr lang="en"/>
              <a:t>: A layer 2 protocol that wirelessly connects machines in a LAN</a:t>
            </a:r>
            <a:endParaRPr/>
          </a:p>
          <a:p>
            <a:pPr indent="-317500" lvl="1" marL="914400" rtl="0" algn="l">
              <a:spcBef>
                <a:spcPts val="0"/>
              </a:spcBef>
              <a:spcAft>
                <a:spcPts val="0"/>
              </a:spcAft>
              <a:buSzPts val="1400"/>
              <a:buChar char="○"/>
            </a:pPr>
            <a:r>
              <a:rPr lang="en"/>
              <a:t>Alternative is Ethernet, which uses wires to connect machines in a LAN</a:t>
            </a:r>
            <a:endParaRPr/>
          </a:p>
          <a:p>
            <a:pPr indent="-342900" lvl="0" marL="457200" rtl="0" algn="l">
              <a:spcBef>
                <a:spcPts val="0"/>
              </a:spcBef>
              <a:spcAft>
                <a:spcPts val="0"/>
              </a:spcAft>
              <a:buSzPts val="1800"/>
              <a:buChar char="●"/>
            </a:pPr>
            <a:r>
              <a:rPr lang="en"/>
              <a:t>Parts of a Wi-Fi network</a:t>
            </a:r>
            <a:endParaRPr/>
          </a:p>
          <a:p>
            <a:pPr indent="-317500" lvl="1" marL="914400" rtl="0" algn="l">
              <a:spcBef>
                <a:spcPts val="0"/>
              </a:spcBef>
              <a:spcAft>
                <a:spcPts val="0"/>
              </a:spcAft>
              <a:buSzPts val="1400"/>
              <a:buChar char="○"/>
            </a:pPr>
            <a:r>
              <a:rPr b="1" lang="en"/>
              <a:t>Access point</a:t>
            </a:r>
            <a:r>
              <a:rPr lang="en"/>
              <a:t>: A machine that will help you connect to the network</a:t>
            </a:r>
            <a:endParaRPr/>
          </a:p>
          <a:p>
            <a:pPr indent="-317500" lvl="1" marL="914400" rtl="0" algn="l">
              <a:spcBef>
                <a:spcPts val="0"/>
              </a:spcBef>
              <a:spcAft>
                <a:spcPts val="0"/>
              </a:spcAft>
              <a:buSzPts val="1400"/>
              <a:buChar char="○"/>
            </a:pPr>
            <a:r>
              <a:rPr b="1" lang="en"/>
              <a:t>SSID</a:t>
            </a:r>
            <a:r>
              <a:rPr lang="en"/>
              <a:t>: The name of the Wi-Fi network</a:t>
            </a:r>
            <a:endParaRPr/>
          </a:p>
          <a:p>
            <a:pPr indent="-317500" lvl="1" marL="914400" rtl="0" algn="l">
              <a:spcBef>
                <a:spcPts val="0"/>
              </a:spcBef>
              <a:spcAft>
                <a:spcPts val="0"/>
              </a:spcAft>
              <a:buSzPts val="1400"/>
              <a:buChar char="○"/>
            </a:pPr>
            <a:r>
              <a:rPr lang="en"/>
              <a:t>Password: Optionally, a password to secure Wi-Fi communications</a:t>
            </a:r>
            <a:endParaRPr/>
          </a:p>
        </p:txBody>
      </p:sp>
      <p:sp>
        <p:nvSpPr>
          <p:cNvPr id="533" name="Google Shape;53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WPA2</a:t>
            </a:r>
            <a:endParaRPr/>
          </a:p>
        </p:txBody>
      </p:sp>
      <p:sp>
        <p:nvSpPr>
          <p:cNvPr id="539" name="Google Shape;539;p5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
              <a:t>Wi-Fi Protected Access 2</a:t>
            </a:r>
            <a:r>
              <a:rPr lang="en"/>
              <a:t> (</a:t>
            </a:r>
            <a:r>
              <a:rPr b="1" lang="en"/>
              <a:t>WPA2</a:t>
            </a:r>
            <a:r>
              <a:rPr lang="en"/>
              <a:t>): A protocol for securing Wi-Fi network communications with cryptography</a:t>
            </a:r>
            <a:endParaRPr/>
          </a:p>
          <a:p>
            <a:pPr indent="-342900" lvl="0" marL="457200" rtl="0" algn="l">
              <a:lnSpc>
                <a:spcPct val="115000"/>
              </a:lnSpc>
              <a:spcBef>
                <a:spcPts val="0"/>
              </a:spcBef>
              <a:spcAft>
                <a:spcPts val="0"/>
              </a:spcAft>
              <a:buSzPts val="1800"/>
              <a:buChar char="●"/>
            </a:pPr>
            <a:r>
              <a:rPr lang="en"/>
              <a:t>Design goals</a:t>
            </a:r>
            <a:endParaRPr/>
          </a:p>
          <a:p>
            <a:pPr indent="-317500" lvl="1" marL="914400" rtl="0" algn="l">
              <a:lnSpc>
                <a:spcPct val="115000"/>
              </a:lnSpc>
              <a:spcBef>
                <a:spcPts val="0"/>
              </a:spcBef>
              <a:spcAft>
                <a:spcPts val="0"/>
              </a:spcAft>
              <a:buSzPts val="1400"/>
              <a:buChar char="○"/>
            </a:pPr>
            <a:r>
              <a:rPr lang="en"/>
              <a:t>Everyone with the Wi-Fi password can join the network</a:t>
            </a:r>
            <a:endParaRPr/>
          </a:p>
          <a:p>
            <a:pPr indent="-317500" lvl="1" marL="914400" rtl="0" algn="l">
              <a:lnSpc>
                <a:spcPct val="115000"/>
              </a:lnSpc>
              <a:spcBef>
                <a:spcPts val="0"/>
              </a:spcBef>
              <a:spcAft>
                <a:spcPts val="0"/>
              </a:spcAft>
              <a:buSzPts val="1400"/>
              <a:buChar char="○"/>
            </a:pPr>
            <a:r>
              <a:rPr lang="en"/>
              <a:t>Messages sent over the network are encrypted with keys</a:t>
            </a:r>
            <a:endParaRPr/>
          </a:p>
          <a:p>
            <a:pPr indent="-317500" lvl="1" marL="914400" rtl="0" algn="l">
              <a:lnSpc>
                <a:spcPct val="115000"/>
              </a:lnSpc>
              <a:spcBef>
                <a:spcPts val="0"/>
              </a:spcBef>
              <a:spcAft>
                <a:spcPts val="0"/>
              </a:spcAft>
              <a:buSzPts val="1400"/>
              <a:buChar char="○"/>
            </a:pPr>
            <a:r>
              <a:rPr lang="en"/>
              <a:t>An attacker who does not know the Wi-Fi password cannot learn the keys</a:t>
            </a:r>
            <a:endParaRPr/>
          </a:p>
        </p:txBody>
      </p:sp>
      <p:sp>
        <p:nvSpPr>
          <p:cNvPr id="540" name="Google Shape;540;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WPA Handshake</a:t>
            </a:r>
            <a:endParaRPr/>
          </a:p>
        </p:txBody>
      </p:sp>
      <p:sp>
        <p:nvSpPr>
          <p:cNvPr id="546" name="Google Shape;546;p53"/>
          <p:cNvSpPr txBox="1"/>
          <p:nvPr>
            <p:ph idx="4294967295" type="body"/>
          </p:nvPr>
        </p:nvSpPr>
        <p:spPr>
          <a:xfrm>
            <a:off x="198500" y="1246825"/>
            <a:ext cx="5142600" cy="5556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a:pPr>
            <a:r>
              <a:rPr lang="en" sz="1400"/>
              <a:t>The client sends an authentication request to the access point</a:t>
            </a:r>
            <a:endParaRPr sz="1400"/>
          </a:p>
        </p:txBody>
      </p:sp>
      <p:sp>
        <p:nvSpPr>
          <p:cNvPr id="547" name="Google Shape;547;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48" name="Google Shape;548;p53"/>
          <p:cNvSpPr/>
          <p:nvPr/>
        </p:nvSpPr>
        <p:spPr>
          <a:xfrm>
            <a:off x="5376075" y="943900"/>
            <a:ext cx="3768000" cy="23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9" name="Google Shape;549;p53"/>
          <p:cNvCxnSpPr/>
          <p:nvPr/>
        </p:nvCxnSpPr>
        <p:spPr>
          <a:xfrm>
            <a:off x="6086671" y="499543"/>
            <a:ext cx="0" cy="4537800"/>
          </a:xfrm>
          <a:prstGeom prst="straightConnector1">
            <a:avLst/>
          </a:prstGeom>
          <a:noFill/>
          <a:ln cap="flat" cmpd="sng" w="19050">
            <a:solidFill>
              <a:srgbClr val="000000"/>
            </a:solidFill>
            <a:prstDash val="solid"/>
            <a:round/>
            <a:headEnd len="med" w="med" type="none"/>
            <a:tailEnd len="med" w="med" type="none"/>
          </a:ln>
        </p:spPr>
      </p:cxnSp>
      <p:sp>
        <p:nvSpPr>
          <p:cNvPr id="550" name="Google Shape;550;p53"/>
          <p:cNvSpPr/>
          <p:nvPr/>
        </p:nvSpPr>
        <p:spPr>
          <a:xfrm>
            <a:off x="5587794" y="94800"/>
            <a:ext cx="998100" cy="3516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Client</a:t>
            </a:r>
            <a:endParaRPr sz="1200">
              <a:latin typeface="Calibri"/>
              <a:ea typeface="Calibri"/>
              <a:cs typeface="Calibri"/>
              <a:sym typeface="Calibri"/>
            </a:endParaRPr>
          </a:p>
        </p:txBody>
      </p:sp>
      <p:sp>
        <p:nvSpPr>
          <p:cNvPr id="551" name="Google Shape;551;p53"/>
          <p:cNvSpPr/>
          <p:nvPr/>
        </p:nvSpPr>
        <p:spPr>
          <a:xfrm>
            <a:off x="7334413" y="94800"/>
            <a:ext cx="998100" cy="3516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Access Point</a:t>
            </a:r>
            <a:endParaRPr sz="1200">
              <a:latin typeface="Calibri"/>
              <a:ea typeface="Calibri"/>
              <a:cs typeface="Calibri"/>
              <a:sym typeface="Calibri"/>
            </a:endParaRPr>
          </a:p>
        </p:txBody>
      </p:sp>
      <p:cxnSp>
        <p:nvCxnSpPr>
          <p:cNvPr id="552" name="Google Shape;552;p53"/>
          <p:cNvCxnSpPr/>
          <p:nvPr/>
        </p:nvCxnSpPr>
        <p:spPr>
          <a:xfrm>
            <a:off x="7833291" y="499543"/>
            <a:ext cx="0" cy="4537800"/>
          </a:xfrm>
          <a:prstGeom prst="straightConnector1">
            <a:avLst/>
          </a:prstGeom>
          <a:noFill/>
          <a:ln cap="flat" cmpd="sng" w="19050">
            <a:solidFill>
              <a:srgbClr val="000000"/>
            </a:solidFill>
            <a:prstDash val="solid"/>
            <a:round/>
            <a:headEnd len="med" w="med" type="none"/>
            <a:tailEnd len="med" w="med" type="none"/>
          </a:ln>
        </p:spPr>
      </p:cxnSp>
      <p:grpSp>
        <p:nvGrpSpPr>
          <p:cNvPr id="553" name="Google Shape;553;p53"/>
          <p:cNvGrpSpPr/>
          <p:nvPr/>
        </p:nvGrpSpPr>
        <p:grpSpPr>
          <a:xfrm>
            <a:off x="5417329" y="1056610"/>
            <a:ext cx="1338699" cy="578970"/>
            <a:chOff x="886575" y="1072025"/>
            <a:chExt cx="1586700" cy="555900"/>
          </a:xfrm>
        </p:grpSpPr>
        <p:sp>
          <p:nvSpPr>
            <p:cNvPr id="554" name="Google Shape;554;p53"/>
            <p:cNvSpPr/>
            <p:nvPr/>
          </p:nvSpPr>
          <p:spPr>
            <a:xfrm>
              <a:off x="1599375" y="1072025"/>
              <a:ext cx="161100" cy="555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55" name="Google Shape;555;p53"/>
            <p:cNvSpPr/>
            <p:nvPr/>
          </p:nvSpPr>
          <p:spPr>
            <a:xfrm>
              <a:off x="886575" y="1148225"/>
              <a:ext cx="1586700" cy="403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from wifi password</a:t>
              </a:r>
              <a:endParaRPr sz="1200">
                <a:latin typeface="Calibri"/>
                <a:ea typeface="Calibri"/>
                <a:cs typeface="Calibri"/>
                <a:sym typeface="Calibri"/>
              </a:endParaRPr>
            </a:p>
          </p:txBody>
        </p:sp>
      </p:grpSp>
      <p:grpSp>
        <p:nvGrpSpPr>
          <p:cNvPr id="556" name="Google Shape;556;p53"/>
          <p:cNvGrpSpPr/>
          <p:nvPr/>
        </p:nvGrpSpPr>
        <p:grpSpPr>
          <a:xfrm>
            <a:off x="7163948" y="1056610"/>
            <a:ext cx="1338699" cy="578970"/>
            <a:chOff x="886575" y="1072025"/>
            <a:chExt cx="1586700" cy="555900"/>
          </a:xfrm>
        </p:grpSpPr>
        <p:sp>
          <p:nvSpPr>
            <p:cNvPr id="557" name="Google Shape;557;p53"/>
            <p:cNvSpPr/>
            <p:nvPr/>
          </p:nvSpPr>
          <p:spPr>
            <a:xfrm>
              <a:off x="1599375" y="1072025"/>
              <a:ext cx="161100" cy="555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58" name="Google Shape;558;p53"/>
            <p:cNvSpPr/>
            <p:nvPr/>
          </p:nvSpPr>
          <p:spPr>
            <a:xfrm>
              <a:off x="886575" y="1148225"/>
              <a:ext cx="1586700" cy="403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from wifi password</a:t>
              </a:r>
              <a:endParaRPr sz="1200">
                <a:latin typeface="Calibri"/>
                <a:ea typeface="Calibri"/>
                <a:cs typeface="Calibri"/>
                <a:sym typeface="Calibri"/>
              </a:endParaRPr>
            </a:p>
          </p:txBody>
        </p:sp>
      </p:grpSp>
      <p:grpSp>
        <p:nvGrpSpPr>
          <p:cNvPr id="559" name="Google Shape;559;p53"/>
          <p:cNvGrpSpPr/>
          <p:nvPr/>
        </p:nvGrpSpPr>
        <p:grpSpPr>
          <a:xfrm>
            <a:off x="6097225" y="399750"/>
            <a:ext cx="1725300" cy="668400"/>
            <a:chOff x="6097225" y="399750"/>
            <a:chExt cx="1725300" cy="668400"/>
          </a:xfrm>
        </p:grpSpPr>
        <p:cxnSp>
          <p:nvCxnSpPr>
            <p:cNvPr id="560" name="Google Shape;560;p53"/>
            <p:cNvCxnSpPr/>
            <p:nvPr/>
          </p:nvCxnSpPr>
          <p:spPr>
            <a:xfrm>
              <a:off x="6136492" y="672980"/>
              <a:ext cx="1660800" cy="339600"/>
            </a:xfrm>
            <a:prstGeom prst="straightConnector1">
              <a:avLst/>
            </a:prstGeom>
            <a:noFill/>
            <a:ln cap="flat" cmpd="sng" w="19050">
              <a:solidFill>
                <a:srgbClr val="000000"/>
              </a:solidFill>
              <a:prstDash val="solid"/>
              <a:round/>
              <a:headEnd len="med" w="med" type="none"/>
              <a:tailEnd len="med" w="med" type="triangle"/>
            </a:ln>
          </p:spPr>
        </p:cxnSp>
        <p:sp>
          <p:nvSpPr>
            <p:cNvPr id="561" name="Google Shape;561;p53"/>
            <p:cNvSpPr txBox="1"/>
            <p:nvPr/>
          </p:nvSpPr>
          <p:spPr>
            <a:xfrm rot="684440">
              <a:off x="6111976" y="564497"/>
              <a:ext cx="1695799" cy="33890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Authentication Request</a:t>
              </a:r>
              <a:endParaRPr sz="1200">
                <a:latin typeface="Calibri"/>
                <a:ea typeface="Calibri"/>
                <a:cs typeface="Calibri"/>
                <a:sym typeface="Calibri"/>
              </a:endParaRPr>
            </a:p>
          </p:txBody>
        </p:sp>
      </p:grpSp>
      <p:grpSp>
        <p:nvGrpSpPr>
          <p:cNvPr id="562" name="Google Shape;562;p53"/>
          <p:cNvGrpSpPr/>
          <p:nvPr/>
        </p:nvGrpSpPr>
        <p:grpSpPr>
          <a:xfrm>
            <a:off x="6123745" y="1375140"/>
            <a:ext cx="1666489" cy="665872"/>
            <a:chOff x="6123745" y="1375140"/>
            <a:chExt cx="1666489" cy="665872"/>
          </a:xfrm>
        </p:grpSpPr>
        <p:cxnSp>
          <p:nvCxnSpPr>
            <p:cNvPr id="563" name="Google Shape;563;p53"/>
            <p:cNvCxnSpPr/>
            <p:nvPr/>
          </p:nvCxnSpPr>
          <p:spPr>
            <a:xfrm flipH="1">
              <a:off x="6123745" y="1723912"/>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564" name="Google Shape;564;p53"/>
            <p:cNvSpPr txBox="1"/>
            <p:nvPr/>
          </p:nvSpPr>
          <p:spPr>
            <a:xfrm rot="-650908">
              <a:off x="6145627" y="1525739"/>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Calibri"/>
                  <a:ea typeface="Calibri"/>
                  <a:cs typeface="Calibri"/>
                  <a:sym typeface="Calibri"/>
                </a:rPr>
                <a:t>ANonce</a:t>
              </a:r>
              <a:endParaRPr>
                <a:solidFill>
                  <a:srgbClr val="FF0000"/>
                </a:solidFill>
                <a:latin typeface="Calibri"/>
                <a:ea typeface="Calibri"/>
                <a:cs typeface="Calibri"/>
                <a:sym typeface="Calibri"/>
              </a:endParaRPr>
            </a:p>
          </p:txBody>
        </p:sp>
      </p:grpSp>
      <p:grpSp>
        <p:nvGrpSpPr>
          <p:cNvPr id="565" name="Google Shape;565;p53"/>
          <p:cNvGrpSpPr/>
          <p:nvPr/>
        </p:nvGrpSpPr>
        <p:grpSpPr>
          <a:xfrm>
            <a:off x="6129875" y="1789796"/>
            <a:ext cx="1660200" cy="649085"/>
            <a:chOff x="6129875" y="1789796"/>
            <a:chExt cx="1660200" cy="649085"/>
          </a:xfrm>
        </p:grpSpPr>
        <p:cxnSp>
          <p:nvCxnSpPr>
            <p:cNvPr id="566" name="Google Shape;566;p53"/>
            <p:cNvCxnSpPr/>
            <p:nvPr/>
          </p:nvCxnSpPr>
          <p:spPr>
            <a:xfrm>
              <a:off x="6143701" y="2121781"/>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567" name="Google Shape;567;p53"/>
            <p:cNvSpPr txBox="1"/>
            <p:nvPr/>
          </p:nvSpPr>
          <p:spPr>
            <a:xfrm flipH="1" rot="650908">
              <a:off x="6145469" y="1940396"/>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Calibri"/>
                  <a:ea typeface="Calibri"/>
                  <a:cs typeface="Calibri"/>
                  <a:sym typeface="Calibri"/>
                </a:rPr>
                <a:t>SNonce</a:t>
              </a:r>
              <a:endParaRPr>
                <a:solidFill>
                  <a:srgbClr val="FF0000"/>
                </a:solidFill>
                <a:latin typeface="Calibri"/>
                <a:ea typeface="Calibri"/>
                <a:cs typeface="Calibri"/>
                <a:sym typeface="Calibri"/>
              </a:endParaRPr>
            </a:p>
          </p:txBody>
        </p:sp>
      </p:grpSp>
      <p:grpSp>
        <p:nvGrpSpPr>
          <p:cNvPr id="568" name="Google Shape;568;p53"/>
          <p:cNvGrpSpPr/>
          <p:nvPr/>
        </p:nvGrpSpPr>
        <p:grpSpPr>
          <a:xfrm>
            <a:off x="5417325" y="2519650"/>
            <a:ext cx="1338900" cy="765300"/>
            <a:chOff x="5417325" y="2519650"/>
            <a:chExt cx="1338900" cy="765300"/>
          </a:xfrm>
        </p:grpSpPr>
        <p:sp>
          <p:nvSpPr>
            <p:cNvPr id="569" name="Google Shape;569;p53"/>
            <p:cNvSpPr/>
            <p:nvPr/>
          </p:nvSpPr>
          <p:spPr>
            <a:xfrm>
              <a:off x="6018712" y="2519650"/>
              <a:ext cx="136200" cy="765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70" name="Google Shape;570;p53"/>
            <p:cNvSpPr/>
            <p:nvPr/>
          </p:nvSpPr>
          <p:spPr>
            <a:xfrm>
              <a:off x="5417325" y="2584496"/>
              <a:ext cx="1338900" cy="6339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9900FF"/>
                  </a:solidFill>
                  <a:latin typeface="Calibri"/>
                  <a:ea typeface="Calibri"/>
                  <a:cs typeface="Calibri"/>
                  <a:sym typeface="Calibri"/>
                </a:rPr>
                <a:t>PTK</a:t>
              </a:r>
              <a:r>
                <a:rPr lang="en" sz="1200">
                  <a:latin typeface="Calibri"/>
                  <a:ea typeface="Calibri"/>
                  <a:cs typeface="Calibri"/>
                  <a:sym typeface="Calibri"/>
                </a:rPr>
                <a:t> from PSK, </a:t>
              </a:r>
              <a:r>
                <a:rPr lang="en" sz="1200">
                  <a:solidFill>
                    <a:srgbClr val="FF0000"/>
                  </a:solidFill>
                  <a:latin typeface="Calibri"/>
                  <a:ea typeface="Calibri"/>
                  <a:cs typeface="Calibri"/>
                  <a:sym typeface="Calibri"/>
                </a:rPr>
                <a:t>nonces</a:t>
              </a:r>
              <a:r>
                <a:rPr lang="en" sz="1200">
                  <a:latin typeface="Calibri"/>
                  <a:ea typeface="Calibri"/>
                  <a:cs typeface="Calibri"/>
                  <a:sym typeface="Calibri"/>
                </a:rPr>
                <a:t>, MAC addresses</a:t>
              </a:r>
              <a:endParaRPr sz="1200">
                <a:latin typeface="Calibri"/>
                <a:ea typeface="Calibri"/>
                <a:cs typeface="Calibri"/>
                <a:sym typeface="Calibri"/>
              </a:endParaRPr>
            </a:p>
          </p:txBody>
        </p:sp>
      </p:grpSp>
      <p:grpSp>
        <p:nvGrpSpPr>
          <p:cNvPr id="571" name="Google Shape;571;p53"/>
          <p:cNvGrpSpPr/>
          <p:nvPr/>
        </p:nvGrpSpPr>
        <p:grpSpPr>
          <a:xfrm>
            <a:off x="7163944" y="2519650"/>
            <a:ext cx="1338900" cy="765300"/>
            <a:chOff x="7163944" y="2519650"/>
            <a:chExt cx="1338900" cy="765300"/>
          </a:xfrm>
        </p:grpSpPr>
        <p:sp>
          <p:nvSpPr>
            <p:cNvPr id="572" name="Google Shape;572;p53"/>
            <p:cNvSpPr/>
            <p:nvPr/>
          </p:nvSpPr>
          <p:spPr>
            <a:xfrm>
              <a:off x="7765331" y="2519650"/>
              <a:ext cx="136200" cy="765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73" name="Google Shape;573;p53"/>
            <p:cNvSpPr/>
            <p:nvPr/>
          </p:nvSpPr>
          <p:spPr>
            <a:xfrm>
              <a:off x="7163944" y="2584496"/>
              <a:ext cx="1338900" cy="6339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latin typeface="Calibri"/>
                  <a:ea typeface="Calibri"/>
                  <a:cs typeface="Calibri"/>
                  <a:sym typeface="Calibri"/>
                </a:rPr>
                <a:t>Derive </a:t>
              </a:r>
              <a:r>
                <a:rPr lang="en" sz="1200">
                  <a:solidFill>
                    <a:srgbClr val="9900FF"/>
                  </a:solidFill>
                  <a:latin typeface="Calibri"/>
                  <a:ea typeface="Calibri"/>
                  <a:cs typeface="Calibri"/>
                  <a:sym typeface="Calibri"/>
                </a:rPr>
                <a:t>PTK</a:t>
              </a:r>
              <a:r>
                <a:rPr lang="en" sz="1200">
                  <a:solidFill>
                    <a:srgbClr val="000000"/>
                  </a:solidFill>
                  <a:latin typeface="Calibri"/>
                  <a:ea typeface="Calibri"/>
                  <a:cs typeface="Calibri"/>
                  <a:sym typeface="Calibri"/>
                </a:rPr>
                <a:t> from PSK, </a:t>
              </a:r>
              <a:r>
                <a:rPr lang="en" sz="1200">
                  <a:solidFill>
                    <a:srgbClr val="FF0000"/>
                  </a:solidFill>
                  <a:latin typeface="Calibri"/>
                  <a:ea typeface="Calibri"/>
                  <a:cs typeface="Calibri"/>
                  <a:sym typeface="Calibri"/>
                </a:rPr>
                <a:t>nonces</a:t>
              </a:r>
              <a:r>
                <a:rPr lang="en" sz="1200">
                  <a:solidFill>
                    <a:srgbClr val="000000"/>
                  </a:solidFill>
                  <a:latin typeface="Calibri"/>
                  <a:ea typeface="Calibri"/>
                  <a:cs typeface="Calibri"/>
                  <a:sym typeface="Calibri"/>
                </a:rPr>
                <a:t>, MAC addresses</a:t>
              </a:r>
              <a:endParaRPr sz="1200">
                <a:latin typeface="Calibri"/>
                <a:ea typeface="Calibri"/>
                <a:cs typeface="Calibri"/>
                <a:sym typeface="Calibri"/>
              </a:endParaRPr>
            </a:p>
          </p:txBody>
        </p:sp>
      </p:grpSp>
      <p:grpSp>
        <p:nvGrpSpPr>
          <p:cNvPr id="574" name="Google Shape;574;p53"/>
          <p:cNvGrpSpPr/>
          <p:nvPr/>
        </p:nvGrpSpPr>
        <p:grpSpPr>
          <a:xfrm>
            <a:off x="6123745" y="3067101"/>
            <a:ext cx="1666351" cy="640500"/>
            <a:chOff x="6123745" y="3067101"/>
            <a:chExt cx="1666351" cy="640500"/>
          </a:xfrm>
        </p:grpSpPr>
        <p:cxnSp>
          <p:nvCxnSpPr>
            <p:cNvPr id="575" name="Google Shape;575;p53"/>
            <p:cNvCxnSpPr/>
            <p:nvPr/>
          </p:nvCxnSpPr>
          <p:spPr>
            <a:xfrm flipH="1">
              <a:off x="6123745" y="3381699"/>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576" name="Google Shape;576;p53"/>
            <p:cNvSpPr txBox="1"/>
            <p:nvPr/>
          </p:nvSpPr>
          <p:spPr>
            <a:xfrm rot="-650908">
              <a:off x="6145490" y="3217701"/>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a:t>
              </a:r>
              <a:endParaRPr>
                <a:latin typeface="Calibri"/>
                <a:ea typeface="Calibri"/>
                <a:cs typeface="Calibri"/>
                <a:sym typeface="Calibri"/>
              </a:endParaRPr>
            </a:p>
          </p:txBody>
        </p:sp>
      </p:grpSp>
      <p:grpSp>
        <p:nvGrpSpPr>
          <p:cNvPr id="577" name="Google Shape;577;p53"/>
          <p:cNvGrpSpPr/>
          <p:nvPr/>
        </p:nvGrpSpPr>
        <p:grpSpPr>
          <a:xfrm>
            <a:off x="6129875" y="3490132"/>
            <a:ext cx="1660200" cy="640500"/>
            <a:chOff x="6129875" y="3490132"/>
            <a:chExt cx="1660200" cy="640500"/>
          </a:xfrm>
        </p:grpSpPr>
        <p:cxnSp>
          <p:nvCxnSpPr>
            <p:cNvPr id="578" name="Google Shape;578;p53"/>
            <p:cNvCxnSpPr/>
            <p:nvPr/>
          </p:nvCxnSpPr>
          <p:spPr>
            <a:xfrm>
              <a:off x="6143701" y="3779567"/>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579" name="Google Shape;579;p53"/>
            <p:cNvSpPr txBox="1"/>
            <p:nvPr/>
          </p:nvSpPr>
          <p:spPr>
            <a:xfrm flipH="1" rot="650908">
              <a:off x="6145469" y="3640732"/>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a:t>
              </a:r>
              <a:endParaRPr>
                <a:latin typeface="Calibri"/>
                <a:ea typeface="Calibri"/>
                <a:cs typeface="Calibri"/>
                <a:sym typeface="Calibri"/>
              </a:endParaRPr>
            </a:p>
          </p:txBody>
        </p:sp>
      </p:grpSp>
      <p:grpSp>
        <p:nvGrpSpPr>
          <p:cNvPr id="580" name="Google Shape;580;p53"/>
          <p:cNvGrpSpPr/>
          <p:nvPr/>
        </p:nvGrpSpPr>
        <p:grpSpPr>
          <a:xfrm>
            <a:off x="6123745" y="3887120"/>
            <a:ext cx="1666339" cy="640500"/>
            <a:chOff x="6123745" y="3887120"/>
            <a:chExt cx="1666339" cy="640500"/>
          </a:xfrm>
        </p:grpSpPr>
        <p:cxnSp>
          <p:nvCxnSpPr>
            <p:cNvPr id="581" name="Google Shape;581;p53"/>
            <p:cNvCxnSpPr/>
            <p:nvPr/>
          </p:nvCxnSpPr>
          <p:spPr>
            <a:xfrm flipH="1">
              <a:off x="6123745" y="4210518"/>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582" name="Google Shape;582;p53"/>
            <p:cNvSpPr txBox="1"/>
            <p:nvPr/>
          </p:nvSpPr>
          <p:spPr>
            <a:xfrm rot="-650908">
              <a:off x="6145477" y="4037720"/>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8761D"/>
                  </a:solidFill>
                  <a:latin typeface="Calibri"/>
                  <a:ea typeface="Calibri"/>
                  <a:cs typeface="Calibri"/>
                  <a:sym typeface="Calibri"/>
                </a:rPr>
                <a:t>GTK</a:t>
              </a:r>
              <a:endParaRPr>
                <a:solidFill>
                  <a:srgbClr val="38761D"/>
                </a:solidFill>
                <a:latin typeface="Calibri"/>
                <a:ea typeface="Calibri"/>
                <a:cs typeface="Calibri"/>
                <a:sym typeface="Calibri"/>
              </a:endParaRPr>
            </a:p>
          </p:txBody>
        </p:sp>
      </p:grpSp>
      <p:grpSp>
        <p:nvGrpSpPr>
          <p:cNvPr id="583" name="Google Shape;583;p53"/>
          <p:cNvGrpSpPr/>
          <p:nvPr/>
        </p:nvGrpSpPr>
        <p:grpSpPr>
          <a:xfrm>
            <a:off x="6129875" y="4284964"/>
            <a:ext cx="1660200" cy="640522"/>
            <a:chOff x="6129875" y="4284964"/>
            <a:chExt cx="1660200" cy="640522"/>
          </a:xfrm>
        </p:grpSpPr>
        <p:cxnSp>
          <p:nvCxnSpPr>
            <p:cNvPr id="584" name="Google Shape;584;p53"/>
            <p:cNvCxnSpPr/>
            <p:nvPr/>
          </p:nvCxnSpPr>
          <p:spPr>
            <a:xfrm>
              <a:off x="6143701" y="4608386"/>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585" name="Google Shape;585;p53"/>
            <p:cNvSpPr txBox="1"/>
            <p:nvPr/>
          </p:nvSpPr>
          <p:spPr>
            <a:xfrm flipH="1" rot="650908">
              <a:off x="6145469" y="4435563"/>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ACK</a:t>
              </a:r>
              <a:endParaRPr>
                <a:latin typeface="Calibri"/>
                <a:ea typeface="Calibri"/>
                <a:cs typeface="Calibri"/>
                <a:sym typeface="Calibri"/>
              </a:endParaRPr>
            </a:p>
          </p:txBody>
        </p:sp>
      </p:grpSp>
      <p:sp>
        <p:nvSpPr>
          <p:cNvPr id="586" name="Google Shape;586;p53"/>
          <p:cNvSpPr txBox="1"/>
          <p:nvPr>
            <p:ph idx="4294967295" type="body"/>
          </p:nvPr>
        </p:nvSpPr>
        <p:spPr>
          <a:xfrm>
            <a:off x="198500" y="1802425"/>
            <a:ext cx="5142600" cy="5556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2"/>
            </a:pPr>
            <a:r>
              <a:rPr lang="en" sz="1400"/>
              <a:t>Both use the password to derive the </a:t>
            </a:r>
            <a:r>
              <a:rPr i="1" lang="en" sz="1400">
                <a:solidFill>
                  <a:srgbClr val="0000FF"/>
                </a:solidFill>
              </a:rPr>
              <a:t>PSK</a:t>
            </a:r>
            <a:r>
              <a:rPr lang="en" sz="1400">
                <a:solidFill>
                  <a:srgbClr val="0000FF"/>
                </a:solidFill>
              </a:rPr>
              <a:t> (pre-shared key)</a:t>
            </a:r>
            <a:endParaRPr sz="1400"/>
          </a:p>
        </p:txBody>
      </p:sp>
      <p:sp>
        <p:nvSpPr>
          <p:cNvPr id="587" name="Google Shape;587;p53"/>
          <p:cNvSpPr txBox="1"/>
          <p:nvPr>
            <p:ph idx="4294967295" type="body"/>
          </p:nvPr>
        </p:nvSpPr>
        <p:spPr>
          <a:xfrm>
            <a:off x="198500" y="2358025"/>
            <a:ext cx="5142600" cy="3078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3"/>
            </a:pPr>
            <a:r>
              <a:rPr lang="en" sz="1400"/>
              <a:t>Both exchange random </a:t>
            </a:r>
            <a:r>
              <a:rPr lang="en" sz="1400">
                <a:solidFill>
                  <a:srgbClr val="FF0000"/>
                </a:solidFill>
              </a:rPr>
              <a:t>nonces</a:t>
            </a:r>
            <a:endParaRPr sz="1400"/>
          </a:p>
        </p:txBody>
      </p:sp>
      <p:sp>
        <p:nvSpPr>
          <p:cNvPr id="588" name="Google Shape;588;p53"/>
          <p:cNvSpPr txBox="1"/>
          <p:nvPr>
            <p:ph idx="4294967295" type="body"/>
          </p:nvPr>
        </p:nvSpPr>
        <p:spPr>
          <a:xfrm>
            <a:off x="198500" y="2665125"/>
            <a:ext cx="5142600" cy="5556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4"/>
            </a:pPr>
            <a:r>
              <a:rPr lang="en" sz="1400"/>
              <a:t>Both use the </a:t>
            </a:r>
            <a:r>
              <a:rPr i="1" lang="en" sz="1400">
                <a:solidFill>
                  <a:srgbClr val="0000FF"/>
                </a:solidFill>
              </a:rPr>
              <a:t>PSK</a:t>
            </a:r>
            <a:r>
              <a:rPr lang="en" sz="1400"/>
              <a:t>, </a:t>
            </a:r>
            <a:r>
              <a:rPr lang="en" sz="1400">
                <a:solidFill>
                  <a:srgbClr val="FF0000"/>
                </a:solidFill>
              </a:rPr>
              <a:t>nonces</a:t>
            </a:r>
            <a:r>
              <a:rPr lang="en" sz="1400"/>
              <a:t>, and MAC addresses to derive the </a:t>
            </a:r>
            <a:r>
              <a:rPr i="1" lang="en" sz="1400">
                <a:solidFill>
                  <a:srgbClr val="9900FF"/>
                </a:solidFill>
              </a:rPr>
              <a:t>PTK</a:t>
            </a:r>
            <a:r>
              <a:rPr lang="en" sz="1400">
                <a:solidFill>
                  <a:srgbClr val="9900FF"/>
                </a:solidFill>
              </a:rPr>
              <a:t> (pairwise transport keys)</a:t>
            </a:r>
            <a:endParaRPr sz="1400"/>
          </a:p>
        </p:txBody>
      </p:sp>
      <p:sp>
        <p:nvSpPr>
          <p:cNvPr id="589" name="Google Shape;589;p53"/>
          <p:cNvSpPr txBox="1"/>
          <p:nvPr>
            <p:ph idx="4294967295" type="body"/>
          </p:nvPr>
        </p:nvSpPr>
        <p:spPr>
          <a:xfrm>
            <a:off x="198500" y="3221425"/>
            <a:ext cx="5142600" cy="5556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5"/>
            </a:pPr>
            <a:r>
              <a:rPr lang="en" sz="1400"/>
              <a:t>Both exchange MACs to ensure no one has tampered with the nonces, and that the PTK was correctly derived</a:t>
            </a:r>
            <a:endParaRPr sz="1400"/>
          </a:p>
        </p:txBody>
      </p:sp>
      <p:sp>
        <p:nvSpPr>
          <p:cNvPr id="590" name="Google Shape;590;p53"/>
          <p:cNvSpPr txBox="1"/>
          <p:nvPr>
            <p:ph idx="4294967295" type="body"/>
          </p:nvPr>
        </p:nvSpPr>
        <p:spPr>
          <a:xfrm>
            <a:off x="198500" y="3796925"/>
            <a:ext cx="5142600" cy="8034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6"/>
            </a:pPr>
            <a:r>
              <a:rPr lang="en" sz="1400"/>
              <a:t>The access point encrypts and sends the </a:t>
            </a:r>
            <a:r>
              <a:rPr i="1" lang="en" sz="1400">
                <a:solidFill>
                  <a:srgbClr val="38761D"/>
                </a:solidFill>
              </a:rPr>
              <a:t>GTK</a:t>
            </a:r>
            <a:r>
              <a:rPr lang="en" sz="1400">
                <a:solidFill>
                  <a:srgbClr val="38761D"/>
                </a:solidFill>
              </a:rPr>
              <a:t> (group temporal key)</a:t>
            </a:r>
            <a:r>
              <a:rPr lang="en" sz="1400"/>
              <a:t> to the client, used for broadcasts that anyone can decrypt</a:t>
            </a:r>
            <a:endParaRPr sz="1400"/>
          </a:p>
        </p:txBody>
      </p:sp>
      <p:sp>
        <p:nvSpPr>
          <p:cNvPr id="591" name="Google Shape;591;p53"/>
          <p:cNvSpPr txBox="1"/>
          <p:nvPr>
            <p:ph idx="4294967295" type="body"/>
          </p:nvPr>
        </p:nvSpPr>
        <p:spPr>
          <a:xfrm>
            <a:off x="198500" y="4600325"/>
            <a:ext cx="5142600" cy="3078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7"/>
            </a:pPr>
            <a:r>
              <a:rPr lang="en" sz="1400"/>
              <a:t>The client acknowledges receiving the GTK</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1"/>
                                        <p:tgtEl>
                                          <p:spTgt spid="5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WPA Handshake</a:t>
            </a:r>
            <a:endParaRPr/>
          </a:p>
          <a:p>
            <a:pPr indent="0" lvl="0" marL="0" rtl="0" algn="l">
              <a:spcBef>
                <a:spcPts val="0"/>
              </a:spcBef>
              <a:spcAft>
                <a:spcPts val="0"/>
              </a:spcAft>
              <a:buNone/>
            </a:pPr>
            <a:r>
              <a:t/>
            </a:r>
            <a:endParaRPr/>
          </a:p>
        </p:txBody>
      </p:sp>
      <p:sp>
        <p:nvSpPr>
          <p:cNvPr id="597" name="Google Shape;597;p5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Both sides derive secret keys for communication</a:t>
            </a:r>
            <a:endParaRPr/>
          </a:p>
          <a:p>
            <a:pPr indent="-317500" lvl="1" marL="914400" rtl="0" algn="l">
              <a:spcBef>
                <a:spcPts val="0"/>
              </a:spcBef>
              <a:spcAft>
                <a:spcPts val="0"/>
              </a:spcAft>
              <a:buSzPts val="1400"/>
              <a:buChar char="○"/>
            </a:pPr>
            <a:r>
              <a:rPr lang="en"/>
              <a:t>Wi-Fi password → </a:t>
            </a:r>
            <a:r>
              <a:rPr i="1" lang="en">
                <a:solidFill>
                  <a:srgbClr val="0000FF"/>
                </a:solidFill>
              </a:rPr>
              <a:t>PSK</a:t>
            </a:r>
            <a:endParaRPr i="1">
              <a:solidFill>
                <a:srgbClr val="0000FF"/>
              </a:solidFill>
            </a:endParaRPr>
          </a:p>
          <a:p>
            <a:pPr indent="-317500" lvl="1" marL="914400" rtl="0" algn="l">
              <a:spcBef>
                <a:spcPts val="0"/>
              </a:spcBef>
              <a:spcAft>
                <a:spcPts val="0"/>
              </a:spcAft>
              <a:buSzPts val="1400"/>
              <a:buChar char="○"/>
            </a:pPr>
            <a:r>
              <a:rPr i="1" lang="en">
                <a:solidFill>
                  <a:srgbClr val="0000FF"/>
                </a:solidFill>
              </a:rPr>
              <a:t>PSK</a:t>
            </a:r>
            <a:r>
              <a:rPr lang="en"/>
              <a:t> + </a:t>
            </a:r>
            <a:r>
              <a:rPr lang="en">
                <a:solidFill>
                  <a:srgbClr val="FF0000"/>
                </a:solidFill>
              </a:rPr>
              <a:t>nonces</a:t>
            </a:r>
            <a:r>
              <a:rPr lang="en"/>
              <a:t> + MAC addresses → </a:t>
            </a:r>
            <a:r>
              <a:rPr i="1" lang="en">
                <a:solidFill>
                  <a:srgbClr val="9900FF"/>
                </a:solidFill>
              </a:rPr>
              <a:t>PTK</a:t>
            </a:r>
            <a:endParaRPr i="1">
              <a:solidFill>
                <a:srgbClr val="9900FF"/>
              </a:solidFill>
            </a:endParaRPr>
          </a:p>
          <a:p>
            <a:pPr indent="-317500" lvl="1" marL="914400" rtl="0" algn="l">
              <a:spcBef>
                <a:spcPts val="0"/>
              </a:spcBef>
              <a:spcAft>
                <a:spcPts val="0"/>
              </a:spcAft>
              <a:buSzPts val="1400"/>
              <a:buChar char="○"/>
            </a:pPr>
            <a:r>
              <a:rPr lang="en"/>
              <a:t>The </a:t>
            </a:r>
            <a:r>
              <a:rPr i="1" lang="en">
                <a:solidFill>
                  <a:srgbClr val="9900FF"/>
                </a:solidFill>
              </a:rPr>
              <a:t>PTK</a:t>
            </a:r>
            <a:r>
              <a:rPr lang="en"/>
              <a:t> is used to encrypt and authenticate all future communication</a:t>
            </a:r>
            <a:endParaRPr/>
          </a:p>
          <a:p>
            <a:pPr indent="-317500" lvl="1" marL="914400" rtl="0" algn="l">
              <a:spcBef>
                <a:spcPts val="0"/>
              </a:spcBef>
              <a:spcAft>
                <a:spcPts val="0"/>
              </a:spcAft>
              <a:buSzPts val="1400"/>
              <a:buChar char="○"/>
            </a:pPr>
            <a:r>
              <a:rPr lang="en"/>
              <a:t>Note: The PTK is different for every user, because of the nonces</a:t>
            </a:r>
            <a:endParaRPr/>
          </a:p>
          <a:p>
            <a:pPr indent="-342900" lvl="0" marL="457200" rtl="0" algn="l">
              <a:spcBef>
                <a:spcPts val="0"/>
              </a:spcBef>
              <a:spcAft>
                <a:spcPts val="0"/>
              </a:spcAft>
              <a:buSzPts val="1800"/>
              <a:buChar char="●"/>
            </a:pPr>
            <a:r>
              <a:rPr lang="en"/>
              <a:t>The access point encrypts and sends the </a:t>
            </a:r>
            <a:r>
              <a:rPr i="1" lang="en">
                <a:solidFill>
                  <a:srgbClr val="38761D"/>
                </a:solidFill>
              </a:rPr>
              <a:t>GTK</a:t>
            </a:r>
            <a:r>
              <a:rPr lang="en"/>
              <a:t> to the client</a:t>
            </a:r>
            <a:endParaRPr/>
          </a:p>
          <a:p>
            <a:pPr indent="-317500" lvl="1" marL="914400" rtl="0" algn="l">
              <a:spcBef>
                <a:spcPts val="0"/>
              </a:spcBef>
              <a:spcAft>
                <a:spcPts val="0"/>
              </a:spcAft>
              <a:buSzPts val="1400"/>
              <a:buChar char="○"/>
            </a:pPr>
            <a:r>
              <a:rPr lang="en"/>
              <a:t>The GTK is used for messages broadcast to the entire network</a:t>
            </a:r>
            <a:endParaRPr/>
          </a:p>
          <a:p>
            <a:pPr indent="-317500" lvl="1" marL="914400" rtl="0" algn="l">
              <a:spcBef>
                <a:spcPts val="0"/>
              </a:spcBef>
              <a:spcAft>
                <a:spcPts val="0"/>
              </a:spcAft>
              <a:buSzPts val="1400"/>
              <a:buChar char="○"/>
            </a:pPr>
            <a:r>
              <a:rPr lang="en"/>
              <a:t>Everyone on the network uses the same GTK</a:t>
            </a:r>
            <a:endParaRPr/>
          </a:p>
          <a:p>
            <a:pPr indent="0" lvl="0" marL="0" rtl="0" algn="l">
              <a:spcBef>
                <a:spcPts val="1200"/>
              </a:spcBef>
              <a:spcAft>
                <a:spcPts val="1200"/>
              </a:spcAft>
              <a:buNone/>
            </a:pPr>
            <a:r>
              <a:t/>
            </a:r>
            <a:endParaRPr/>
          </a:p>
        </p:txBody>
      </p:sp>
      <p:sp>
        <p:nvSpPr>
          <p:cNvPr id="598" name="Google Shape;598;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5"/>
          <p:cNvSpPr/>
          <p:nvPr/>
        </p:nvSpPr>
        <p:spPr>
          <a:xfrm>
            <a:off x="5376075" y="943900"/>
            <a:ext cx="3768000" cy="23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Optimized WPA 4-Way Handshake</a:t>
            </a:r>
            <a:endParaRPr/>
          </a:p>
        </p:txBody>
      </p:sp>
      <p:sp>
        <p:nvSpPr>
          <p:cNvPr id="605" name="Google Shape;605;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606" name="Google Shape;606;p55"/>
          <p:cNvCxnSpPr/>
          <p:nvPr/>
        </p:nvCxnSpPr>
        <p:spPr>
          <a:xfrm>
            <a:off x="5970474" y="556773"/>
            <a:ext cx="0" cy="4402200"/>
          </a:xfrm>
          <a:prstGeom prst="straightConnector1">
            <a:avLst/>
          </a:prstGeom>
          <a:noFill/>
          <a:ln cap="flat" cmpd="sng" w="19050">
            <a:solidFill>
              <a:srgbClr val="000000"/>
            </a:solidFill>
            <a:prstDash val="solid"/>
            <a:round/>
            <a:headEnd len="med" w="med" type="none"/>
            <a:tailEnd len="med" w="med" type="none"/>
          </a:ln>
        </p:spPr>
      </p:cxnSp>
      <p:cxnSp>
        <p:nvCxnSpPr>
          <p:cNvPr id="607" name="Google Shape;607;p55"/>
          <p:cNvCxnSpPr/>
          <p:nvPr/>
        </p:nvCxnSpPr>
        <p:spPr>
          <a:xfrm>
            <a:off x="7998465" y="556773"/>
            <a:ext cx="0" cy="4402200"/>
          </a:xfrm>
          <a:prstGeom prst="straightConnector1">
            <a:avLst/>
          </a:prstGeom>
          <a:noFill/>
          <a:ln cap="flat" cmpd="sng" w="19050">
            <a:solidFill>
              <a:srgbClr val="000000"/>
            </a:solidFill>
            <a:prstDash val="solid"/>
            <a:round/>
            <a:headEnd len="med" w="med" type="none"/>
            <a:tailEnd len="med" w="med" type="none"/>
          </a:ln>
        </p:spPr>
      </p:cxnSp>
      <p:sp>
        <p:nvSpPr>
          <p:cNvPr id="608" name="Google Shape;608;p55"/>
          <p:cNvSpPr/>
          <p:nvPr/>
        </p:nvSpPr>
        <p:spPr>
          <a:xfrm>
            <a:off x="5391231" y="164125"/>
            <a:ext cx="1158600" cy="3405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Client</a:t>
            </a:r>
            <a:endParaRPr sz="1200">
              <a:latin typeface="Calibri"/>
              <a:ea typeface="Calibri"/>
              <a:cs typeface="Calibri"/>
              <a:sym typeface="Calibri"/>
            </a:endParaRPr>
          </a:p>
        </p:txBody>
      </p:sp>
      <p:sp>
        <p:nvSpPr>
          <p:cNvPr id="609" name="Google Shape;609;p55"/>
          <p:cNvSpPr/>
          <p:nvPr/>
        </p:nvSpPr>
        <p:spPr>
          <a:xfrm>
            <a:off x="7419221" y="164125"/>
            <a:ext cx="1158600" cy="3405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Access Point</a:t>
            </a:r>
            <a:endParaRPr sz="1200">
              <a:latin typeface="Calibri"/>
              <a:ea typeface="Calibri"/>
              <a:cs typeface="Calibri"/>
              <a:sym typeface="Calibri"/>
            </a:endParaRPr>
          </a:p>
        </p:txBody>
      </p:sp>
      <p:grpSp>
        <p:nvGrpSpPr>
          <p:cNvPr id="610" name="Google Shape;610;p55"/>
          <p:cNvGrpSpPr/>
          <p:nvPr/>
        </p:nvGrpSpPr>
        <p:grpSpPr>
          <a:xfrm>
            <a:off x="5193291" y="1097326"/>
            <a:ext cx="1554331" cy="561737"/>
            <a:chOff x="886575" y="1072025"/>
            <a:chExt cx="1586700" cy="555900"/>
          </a:xfrm>
        </p:grpSpPr>
        <p:sp>
          <p:nvSpPr>
            <p:cNvPr id="611" name="Google Shape;611;p55"/>
            <p:cNvSpPr/>
            <p:nvPr/>
          </p:nvSpPr>
          <p:spPr>
            <a:xfrm>
              <a:off x="1599375" y="1072025"/>
              <a:ext cx="161100" cy="555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12" name="Google Shape;612;p55"/>
            <p:cNvSpPr/>
            <p:nvPr/>
          </p:nvSpPr>
          <p:spPr>
            <a:xfrm>
              <a:off x="886575" y="1148225"/>
              <a:ext cx="1586700" cy="403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from wifi password</a:t>
              </a:r>
              <a:endParaRPr sz="1200">
                <a:latin typeface="Calibri"/>
                <a:ea typeface="Calibri"/>
                <a:cs typeface="Calibri"/>
                <a:sym typeface="Calibri"/>
              </a:endParaRPr>
            </a:p>
          </p:txBody>
        </p:sp>
      </p:grpSp>
      <p:grpSp>
        <p:nvGrpSpPr>
          <p:cNvPr id="613" name="Google Shape;613;p55"/>
          <p:cNvGrpSpPr/>
          <p:nvPr/>
        </p:nvGrpSpPr>
        <p:grpSpPr>
          <a:xfrm>
            <a:off x="7221281" y="1097326"/>
            <a:ext cx="1554331" cy="561737"/>
            <a:chOff x="886575" y="1072025"/>
            <a:chExt cx="1586700" cy="555900"/>
          </a:xfrm>
        </p:grpSpPr>
        <p:sp>
          <p:nvSpPr>
            <p:cNvPr id="614" name="Google Shape;614;p55"/>
            <p:cNvSpPr/>
            <p:nvPr/>
          </p:nvSpPr>
          <p:spPr>
            <a:xfrm>
              <a:off x="1599375" y="1072025"/>
              <a:ext cx="161100" cy="555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15" name="Google Shape;615;p55"/>
            <p:cNvSpPr/>
            <p:nvPr/>
          </p:nvSpPr>
          <p:spPr>
            <a:xfrm>
              <a:off x="886575" y="1148225"/>
              <a:ext cx="1586700" cy="403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from wifi password</a:t>
              </a:r>
              <a:endParaRPr sz="1200">
                <a:latin typeface="Calibri"/>
                <a:ea typeface="Calibri"/>
                <a:cs typeface="Calibri"/>
                <a:sym typeface="Calibri"/>
              </a:endParaRPr>
            </a:p>
          </p:txBody>
        </p:sp>
      </p:grpSp>
      <p:grpSp>
        <p:nvGrpSpPr>
          <p:cNvPr id="616" name="Google Shape;616;p55"/>
          <p:cNvGrpSpPr/>
          <p:nvPr/>
        </p:nvGrpSpPr>
        <p:grpSpPr>
          <a:xfrm>
            <a:off x="6028320" y="383775"/>
            <a:ext cx="2042930" cy="670652"/>
            <a:chOff x="6028320" y="383775"/>
            <a:chExt cx="2042930" cy="670652"/>
          </a:xfrm>
        </p:grpSpPr>
        <p:cxnSp>
          <p:nvCxnSpPr>
            <p:cNvPr id="617" name="Google Shape;617;p55"/>
            <p:cNvCxnSpPr/>
            <p:nvPr/>
          </p:nvCxnSpPr>
          <p:spPr>
            <a:xfrm>
              <a:off x="6028320" y="725027"/>
              <a:ext cx="1928100" cy="329400"/>
            </a:xfrm>
            <a:prstGeom prst="straightConnector1">
              <a:avLst/>
            </a:prstGeom>
            <a:noFill/>
            <a:ln cap="flat" cmpd="sng" w="19050">
              <a:solidFill>
                <a:srgbClr val="000000"/>
              </a:solidFill>
              <a:prstDash val="solid"/>
              <a:round/>
              <a:headEnd len="med" w="med" type="none"/>
              <a:tailEnd len="med" w="med" type="triangle"/>
            </a:ln>
          </p:spPr>
        </p:cxnSp>
        <p:sp>
          <p:nvSpPr>
            <p:cNvPr id="618" name="Google Shape;618;p55"/>
            <p:cNvSpPr txBox="1"/>
            <p:nvPr/>
          </p:nvSpPr>
          <p:spPr>
            <a:xfrm rot="574767">
              <a:off x="6094126" y="542285"/>
              <a:ext cx="1954149" cy="33158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Authentication Request</a:t>
              </a:r>
              <a:endParaRPr>
                <a:latin typeface="Calibri"/>
                <a:ea typeface="Calibri"/>
                <a:cs typeface="Calibri"/>
                <a:sym typeface="Calibri"/>
              </a:endParaRPr>
            </a:p>
          </p:txBody>
        </p:sp>
      </p:grpSp>
      <p:grpSp>
        <p:nvGrpSpPr>
          <p:cNvPr id="619" name="Google Shape;619;p55"/>
          <p:cNvGrpSpPr/>
          <p:nvPr/>
        </p:nvGrpSpPr>
        <p:grpSpPr>
          <a:xfrm>
            <a:off x="6013198" y="1404064"/>
            <a:ext cx="1934824" cy="648289"/>
            <a:chOff x="6013198" y="1404064"/>
            <a:chExt cx="1934824" cy="648289"/>
          </a:xfrm>
        </p:grpSpPr>
        <p:cxnSp>
          <p:nvCxnSpPr>
            <p:cNvPr id="620" name="Google Shape;620;p55"/>
            <p:cNvCxnSpPr/>
            <p:nvPr/>
          </p:nvCxnSpPr>
          <p:spPr>
            <a:xfrm flipH="1">
              <a:off x="6013198" y="1744553"/>
              <a:ext cx="1911600" cy="307800"/>
            </a:xfrm>
            <a:prstGeom prst="straightConnector1">
              <a:avLst/>
            </a:prstGeom>
            <a:noFill/>
            <a:ln cap="flat" cmpd="sng" w="19050">
              <a:solidFill>
                <a:srgbClr val="000000"/>
              </a:solidFill>
              <a:prstDash val="solid"/>
              <a:round/>
              <a:headEnd len="med" w="med" type="none"/>
              <a:tailEnd len="med" w="med" type="triangle"/>
            </a:ln>
          </p:spPr>
        </p:cxnSp>
        <p:sp>
          <p:nvSpPr>
            <p:cNvPr id="621" name="Google Shape;621;p55"/>
            <p:cNvSpPr txBox="1"/>
            <p:nvPr/>
          </p:nvSpPr>
          <p:spPr>
            <a:xfrm rot="-545655">
              <a:off x="6043950" y="1548987"/>
              <a:ext cx="1880944" cy="33145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Calibri"/>
                  <a:ea typeface="Calibri"/>
                  <a:cs typeface="Calibri"/>
                  <a:sym typeface="Calibri"/>
                </a:rPr>
                <a:t>ANonce</a:t>
              </a:r>
              <a:endParaRPr>
                <a:solidFill>
                  <a:srgbClr val="FF0000"/>
                </a:solidFill>
                <a:latin typeface="Calibri"/>
                <a:ea typeface="Calibri"/>
                <a:cs typeface="Calibri"/>
                <a:sym typeface="Calibri"/>
              </a:endParaRPr>
            </a:p>
          </p:txBody>
        </p:sp>
      </p:grpSp>
      <p:grpSp>
        <p:nvGrpSpPr>
          <p:cNvPr id="622" name="Google Shape;622;p55"/>
          <p:cNvGrpSpPr/>
          <p:nvPr/>
        </p:nvGrpSpPr>
        <p:grpSpPr>
          <a:xfrm>
            <a:off x="6013468" y="2655944"/>
            <a:ext cx="1934824" cy="648289"/>
            <a:chOff x="6013468" y="2655944"/>
            <a:chExt cx="1934824" cy="648289"/>
          </a:xfrm>
        </p:grpSpPr>
        <p:cxnSp>
          <p:nvCxnSpPr>
            <p:cNvPr id="623" name="Google Shape;623;p55"/>
            <p:cNvCxnSpPr/>
            <p:nvPr/>
          </p:nvCxnSpPr>
          <p:spPr>
            <a:xfrm>
              <a:off x="6036692" y="2996433"/>
              <a:ext cx="1911600" cy="307800"/>
            </a:xfrm>
            <a:prstGeom prst="straightConnector1">
              <a:avLst/>
            </a:prstGeom>
            <a:noFill/>
            <a:ln cap="flat" cmpd="sng" w="19050">
              <a:solidFill>
                <a:srgbClr val="000000"/>
              </a:solidFill>
              <a:prstDash val="solid"/>
              <a:round/>
              <a:headEnd len="med" w="med" type="none"/>
              <a:tailEnd len="med" w="med" type="triangle"/>
            </a:ln>
          </p:spPr>
        </p:cxnSp>
        <p:sp>
          <p:nvSpPr>
            <p:cNvPr id="624" name="Google Shape;624;p55"/>
            <p:cNvSpPr txBox="1"/>
            <p:nvPr/>
          </p:nvSpPr>
          <p:spPr>
            <a:xfrm flipH="1" rot="545655">
              <a:off x="6036596" y="2800867"/>
              <a:ext cx="1880944" cy="33145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Calibri"/>
                  <a:ea typeface="Calibri"/>
                  <a:cs typeface="Calibri"/>
                  <a:sym typeface="Calibri"/>
                </a:rPr>
                <a:t>SNonce</a:t>
              </a:r>
              <a:r>
                <a:rPr lang="en">
                  <a:latin typeface="Calibri"/>
                  <a:ea typeface="Calibri"/>
                  <a:cs typeface="Calibri"/>
                  <a:sym typeface="Calibri"/>
                </a:rPr>
                <a:t> + MAC</a:t>
              </a:r>
              <a:endParaRPr>
                <a:latin typeface="Calibri"/>
                <a:ea typeface="Calibri"/>
                <a:cs typeface="Calibri"/>
                <a:sym typeface="Calibri"/>
              </a:endParaRPr>
            </a:p>
          </p:txBody>
        </p:sp>
      </p:grpSp>
      <p:grpSp>
        <p:nvGrpSpPr>
          <p:cNvPr id="625" name="Google Shape;625;p55"/>
          <p:cNvGrpSpPr/>
          <p:nvPr/>
        </p:nvGrpSpPr>
        <p:grpSpPr>
          <a:xfrm>
            <a:off x="5193300" y="2145411"/>
            <a:ext cx="1554300" cy="742500"/>
            <a:chOff x="5193300" y="2145411"/>
            <a:chExt cx="1554300" cy="742500"/>
          </a:xfrm>
        </p:grpSpPr>
        <p:sp>
          <p:nvSpPr>
            <p:cNvPr id="626" name="Google Shape;626;p55"/>
            <p:cNvSpPr/>
            <p:nvPr/>
          </p:nvSpPr>
          <p:spPr>
            <a:xfrm>
              <a:off x="5891567" y="2145411"/>
              <a:ext cx="157800" cy="742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27" name="Google Shape;627;p55"/>
            <p:cNvSpPr/>
            <p:nvPr/>
          </p:nvSpPr>
          <p:spPr>
            <a:xfrm>
              <a:off x="5193300" y="2208319"/>
              <a:ext cx="1554300" cy="6147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9900FF"/>
                  </a:solidFill>
                  <a:latin typeface="Calibri"/>
                  <a:ea typeface="Calibri"/>
                  <a:cs typeface="Calibri"/>
                  <a:sym typeface="Calibri"/>
                </a:rPr>
                <a:t>PTK</a:t>
              </a:r>
              <a:r>
                <a:rPr lang="en" sz="1200">
                  <a:latin typeface="Calibri"/>
                  <a:ea typeface="Calibri"/>
                  <a:cs typeface="Calibri"/>
                  <a:sym typeface="Calibri"/>
                </a:rPr>
                <a:t> from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a:t>
              </a:r>
              <a:r>
                <a:rPr lang="en" sz="1200">
                  <a:solidFill>
                    <a:srgbClr val="FF0000"/>
                  </a:solidFill>
                  <a:latin typeface="Calibri"/>
                  <a:ea typeface="Calibri"/>
                  <a:cs typeface="Calibri"/>
                  <a:sym typeface="Calibri"/>
                </a:rPr>
                <a:t>nonces</a:t>
              </a:r>
              <a:r>
                <a:rPr lang="en" sz="1200">
                  <a:latin typeface="Calibri"/>
                  <a:ea typeface="Calibri"/>
                  <a:cs typeface="Calibri"/>
                  <a:sym typeface="Calibri"/>
                </a:rPr>
                <a:t>, MAC addresses</a:t>
              </a:r>
              <a:endParaRPr sz="1200">
                <a:latin typeface="Calibri"/>
                <a:ea typeface="Calibri"/>
                <a:cs typeface="Calibri"/>
                <a:sym typeface="Calibri"/>
              </a:endParaRPr>
            </a:p>
          </p:txBody>
        </p:sp>
      </p:grpSp>
      <p:grpSp>
        <p:nvGrpSpPr>
          <p:cNvPr id="628" name="Google Shape;628;p55"/>
          <p:cNvGrpSpPr/>
          <p:nvPr/>
        </p:nvGrpSpPr>
        <p:grpSpPr>
          <a:xfrm>
            <a:off x="7221290" y="3382412"/>
            <a:ext cx="1554300" cy="742500"/>
            <a:chOff x="7221290" y="3382412"/>
            <a:chExt cx="1554300" cy="742500"/>
          </a:xfrm>
        </p:grpSpPr>
        <p:sp>
          <p:nvSpPr>
            <p:cNvPr id="629" name="Google Shape;629;p55"/>
            <p:cNvSpPr/>
            <p:nvPr/>
          </p:nvSpPr>
          <p:spPr>
            <a:xfrm>
              <a:off x="7919557" y="3382412"/>
              <a:ext cx="157800" cy="742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30" name="Google Shape;630;p55"/>
            <p:cNvSpPr/>
            <p:nvPr/>
          </p:nvSpPr>
          <p:spPr>
            <a:xfrm>
              <a:off x="7221290" y="3445320"/>
              <a:ext cx="1554300" cy="6147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latin typeface="Calibri"/>
                  <a:ea typeface="Calibri"/>
                  <a:cs typeface="Calibri"/>
                  <a:sym typeface="Calibri"/>
                </a:rPr>
                <a:t>Derive </a:t>
              </a:r>
              <a:r>
                <a:rPr lang="en" sz="1200">
                  <a:solidFill>
                    <a:srgbClr val="9900FF"/>
                  </a:solidFill>
                  <a:latin typeface="Calibri"/>
                  <a:ea typeface="Calibri"/>
                  <a:cs typeface="Calibri"/>
                  <a:sym typeface="Calibri"/>
                </a:rPr>
                <a:t>PTK</a:t>
              </a:r>
              <a:r>
                <a:rPr lang="en" sz="1200">
                  <a:solidFill>
                    <a:srgbClr val="000000"/>
                  </a:solidFill>
                  <a:latin typeface="Calibri"/>
                  <a:ea typeface="Calibri"/>
                  <a:cs typeface="Calibri"/>
                  <a:sym typeface="Calibri"/>
                </a:rPr>
                <a:t> from </a:t>
              </a:r>
              <a:r>
                <a:rPr lang="en" sz="1200">
                  <a:solidFill>
                    <a:srgbClr val="0000FF"/>
                  </a:solidFill>
                  <a:latin typeface="Calibri"/>
                  <a:ea typeface="Calibri"/>
                  <a:cs typeface="Calibri"/>
                  <a:sym typeface="Calibri"/>
                </a:rPr>
                <a:t>PSK</a:t>
              </a:r>
              <a:r>
                <a:rPr lang="en" sz="1200">
                  <a:solidFill>
                    <a:srgbClr val="000000"/>
                  </a:solidFill>
                  <a:latin typeface="Calibri"/>
                  <a:ea typeface="Calibri"/>
                  <a:cs typeface="Calibri"/>
                  <a:sym typeface="Calibri"/>
                </a:rPr>
                <a:t>, </a:t>
              </a:r>
              <a:r>
                <a:rPr lang="en" sz="1200">
                  <a:solidFill>
                    <a:srgbClr val="FF0000"/>
                  </a:solidFill>
                  <a:latin typeface="Calibri"/>
                  <a:ea typeface="Calibri"/>
                  <a:cs typeface="Calibri"/>
                  <a:sym typeface="Calibri"/>
                </a:rPr>
                <a:t>nonces</a:t>
              </a:r>
              <a:r>
                <a:rPr lang="en" sz="1200">
                  <a:solidFill>
                    <a:srgbClr val="000000"/>
                  </a:solidFill>
                  <a:latin typeface="Calibri"/>
                  <a:ea typeface="Calibri"/>
                  <a:cs typeface="Calibri"/>
                  <a:sym typeface="Calibri"/>
                </a:rPr>
                <a:t>, MAC addresses</a:t>
              </a:r>
              <a:endParaRPr sz="1200">
                <a:latin typeface="Calibri"/>
                <a:ea typeface="Calibri"/>
                <a:cs typeface="Calibri"/>
                <a:sym typeface="Calibri"/>
              </a:endParaRPr>
            </a:p>
          </p:txBody>
        </p:sp>
      </p:grpSp>
      <p:grpSp>
        <p:nvGrpSpPr>
          <p:cNvPr id="631" name="Google Shape;631;p55"/>
          <p:cNvGrpSpPr/>
          <p:nvPr/>
        </p:nvGrpSpPr>
        <p:grpSpPr>
          <a:xfrm>
            <a:off x="6013198" y="3853010"/>
            <a:ext cx="1934874" cy="621300"/>
            <a:chOff x="6013198" y="3853010"/>
            <a:chExt cx="1934874" cy="621300"/>
          </a:xfrm>
        </p:grpSpPr>
        <p:cxnSp>
          <p:nvCxnSpPr>
            <p:cNvPr id="632" name="Google Shape;632;p55"/>
            <p:cNvCxnSpPr/>
            <p:nvPr/>
          </p:nvCxnSpPr>
          <p:spPr>
            <a:xfrm flipH="1">
              <a:off x="6013198" y="4156850"/>
              <a:ext cx="1911600" cy="307800"/>
            </a:xfrm>
            <a:prstGeom prst="straightConnector1">
              <a:avLst/>
            </a:prstGeom>
            <a:noFill/>
            <a:ln cap="flat" cmpd="sng" w="19050">
              <a:solidFill>
                <a:srgbClr val="000000"/>
              </a:solidFill>
              <a:prstDash val="solid"/>
              <a:round/>
              <a:headEnd len="med" w="med" type="none"/>
              <a:tailEnd len="med" w="med" type="triangle"/>
            </a:ln>
          </p:spPr>
        </p:cxnSp>
        <p:sp>
          <p:nvSpPr>
            <p:cNvPr id="633" name="Google Shape;633;p55"/>
            <p:cNvSpPr txBox="1"/>
            <p:nvPr/>
          </p:nvSpPr>
          <p:spPr>
            <a:xfrm rot="-545655">
              <a:off x="6044000" y="3997933"/>
              <a:ext cx="1880944" cy="33145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 + </a:t>
              </a:r>
              <a:r>
                <a:rPr lang="en">
                  <a:solidFill>
                    <a:srgbClr val="38761D"/>
                  </a:solidFill>
                  <a:latin typeface="Calibri"/>
                  <a:ea typeface="Calibri"/>
                  <a:cs typeface="Calibri"/>
                  <a:sym typeface="Calibri"/>
                </a:rPr>
                <a:t>GTK</a:t>
              </a:r>
              <a:endParaRPr>
                <a:solidFill>
                  <a:srgbClr val="38761D"/>
                </a:solidFill>
                <a:latin typeface="Calibri"/>
                <a:ea typeface="Calibri"/>
                <a:cs typeface="Calibri"/>
                <a:sym typeface="Calibri"/>
              </a:endParaRPr>
            </a:p>
          </p:txBody>
        </p:sp>
      </p:grpSp>
      <p:grpSp>
        <p:nvGrpSpPr>
          <p:cNvPr id="634" name="Google Shape;634;p55"/>
          <p:cNvGrpSpPr/>
          <p:nvPr/>
        </p:nvGrpSpPr>
        <p:grpSpPr>
          <a:xfrm>
            <a:off x="6020868" y="4203064"/>
            <a:ext cx="1927424" cy="647564"/>
            <a:chOff x="6020868" y="4203064"/>
            <a:chExt cx="1927424" cy="647564"/>
          </a:xfrm>
        </p:grpSpPr>
        <p:cxnSp>
          <p:nvCxnSpPr>
            <p:cNvPr id="635" name="Google Shape;635;p55"/>
            <p:cNvCxnSpPr/>
            <p:nvPr/>
          </p:nvCxnSpPr>
          <p:spPr>
            <a:xfrm>
              <a:off x="6036692" y="4542828"/>
              <a:ext cx="1911600" cy="307800"/>
            </a:xfrm>
            <a:prstGeom prst="straightConnector1">
              <a:avLst/>
            </a:prstGeom>
            <a:noFill/>
            <a:ln cap="flat" cmpd="sng" w="19050">
              <a:solidFill>
                <a:srgbClr val="000000"/>
              </a:solidFill>
              <a:prstDash val="solid"/>
              <a:round/>
              <a:headEnd len="med" w="med" type="none"/>
              <a:tailEnd len="med" w="med" type="triangle"/>
            </a:ln>
          </p:spPr>
        </p:cxnSp>
        <p:sp>
          <p:nvSpPr>
            <p:cNvPr id="636" name="Google Shape;636;p55"/>
            <p:cNvSpPr txBox="1"/>
            <p:nvPr/>
          </p:nvSpPr>
          <p:spPr>
            <a:xfrm flipH="1" rot="545655">
              <a:off x="6043996" y="4347987"/>
              <a:ext cx="1880944" cy="33145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ACK</a:t>
              </a:r>
              <a:endParaRPr>
                <a:latin typeface="Calibri"/>
                <a:ea typeface="Calibri"/>
                <a:cs typeface="Calibri"/>
                <a:sym typeface="Calibri"/>
              </a:endParaRPr>
            </a:p>
          </p:txBody>
        </p:sp>
      </p:grpSp>
      <p:sp>
        <p:nvSpPr>
          <p:cNvPr id="637" name="Google Shape;637;p55"/>
          <p:cNvSpPr txBox="1"/>
          <p:nvPr>
            <p:ph idx="1" type="body"/>
          </p:nvPr>
        </p:nvSpPr>
        <p:spPr>
          <a:xfrm>
            <a:off x="198500" y="1246825"/>
            <a:ext cx="5142600" cy="5556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a:pPr>
            <a:r>
              <a:rPr lang="en" sz="1400"/>
              <a:t>The client sends an authentication request to the access point</a:t>
            </a:r>
            <a:endParaRPr sz="1400"/>
          </a:p>
        </p:txBody>
      </p:sp>
      <p:sp>
        <p:nvSpPr>
          <p:cNvPr id="638" name="Google Shape;638;p55"/>
          <p:cNvSpPr txBox="1"/>
          <p:nvPr>
            <p:ph idx="1" type="body"/>
          </p:nvPr>
        </p:nvSpPr>
        <p:spPr>
          <a:xfrm>
            <a:off x="198500" y="1802425"/>
            <a:ext cx="5142600" cy="5556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2"/>
            </a:pPr>
            <a:r>
              <a:rPr lang="en" sz="1400"/>
              <a:t>Both use the password to derive the </a:t>
            </a:r>
            <a:r>
              <a:rPr i="1" lang="en" sz="1400">
                <a:solidFill>
                  <a:srgbClr val="0000FF"/>
                </a:solidFill>
              </a:rPr>
              <a:t>PSK</a:t>
            </a:r>
            <a:r>
              <a:rPr lang="en" sz="1400">
                <a:solidFill>
                  <a:srgbClr val="0000FF"/>
                </a:solidFill>
              </a:rPr>
              <a:t> (pre-shared key)</a:t>
            </a:r>
            <a:endParaRPr sz="1400"/>
          </a:p>
        </p:txBody>
      </p:sp>
      <p:sp>
        <p:nvSpPr>
          <p:cNvPr id="639" name="Google Shape;639;p55"/>
          <p:cNvSpPr txBox="1"/>
          <p:nvPr>
            <p:ph idx="1" type="body"/>
          </p:nvPr>
        </p:nvSpPr>
        <p:spPr>
          <a:xfrm>
            <a:off x="198500" y="2358025"/>
            <a:ext cx="5142600" cy="3078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3"/>
            </a:pPr>
            <a:r>
              <a:rPr lang="en" sz="1400"/>
              <a:t>The AP sends </a:t>
            </a:r>
            <a:r>
              <a:rPr i="1" lang="en" sz="1400">
                <a:solidFill>
                  <a:srgbClr val="FF0000"/>
                </a:solidFill>
              </a:rPr>
              <a:t>ANonce</a:t>
            </a:r>
            <a:r>
              <a:rPr lang="en" sz="1400"/>
              <a:t> to the client</a:t>
            </a:r>
            <a:endParaRPr sz="1400"/>
          </a:p>
        </p:txBody>
      </p:sp>
      <p:sp>
        <p:nvSpPr>
          <p:cNvPr id="640" name="Google Shape;640;p55"/>
          <p:cNvSpPr txBox="1"/>
          <p:nvPr>
            <p:ph idx="1" type="body"/>
          </p:nvPr>
        </p:nvSpPr>
        <p:spPr>
          <a:xfrm>
            <a:off x="198500" y="2663700"/>
            <a:ext cx="5142600" cy="8034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4"/>
            </a:pPr>
            <a:r>
              <a:rPr lang="en" sz="1400"/>
              <a:t>The client generates </a:t>
            </a:r>
            <a:r>
              <a:rPr i="1" lang="en" sz="1400">
                <a:solidFill>
                  <a:srgbClr val="FF0000"/>
                </a:solidFill>
              </a:rPr>
              <a:t>SNonce</a:t>
            </a:r>
            <a:r>
              <a:rPr lang="en" sz="1400"/>
              <a:t>, uses the </a:t>
            </a:r>
            <a:r>
              <a:rPr i="1" lang="en" sz="1400">
                <a:solidFill>
                  <a:srgbClr val="0000FF"/>
                </a:solidFill>
              </a:rPr>
              <a:t>PSK</a:t>
            </a:r>
            <a:r>
              <a:rPr lang="en" sz="1400"/>
              <a:t>, </a:t>
            </a:r>
            <a:r>
              <a:rPr lang="en" sz="1400">
                <a:solidFill>
                  <a:srgbClr val="FF0000"/>
                </a:solidFill>
              </a:rPr>
              <a:t>nonces</a:t>
            </a:r>
            <a:r>
              <a:rPr lang="en" sz="1400"/>
              <a:t>, and MAC addresses to derive the </a:t>
            </a:r>
            <a:r>
              <a:rPr i="1" lang="en" sz="1400">
                <a:solidFill>
                  <a:srgbClr val="9900FF"/>
                </a:solidFill>
              </a:rPr>
              <a:t>PTK</a:t>
            </a:r>
            <a:r>
              <a:rPr lang="en" sz="1400">
                <a:solidFill>
                  <a:srgbClr val="9900FF"/>
                </a:solidFill>
              </a:rPr>
              <a:t> (pairwise transport keys)</a:t>
            </a:r>
            <a:endParaRPr sz="1400"/>
          </a:p>
        </p:txBody>
      </p:sp>
      <p:sp>
        <p:nvSpPr>
          <p:cNvPr id="641" name="Google Shape;641;p55"/>
          <p:cNvSpPr txBox="1"/>
          <p:nvPr>
            <p:ph idx="1" type="body"/>
          </p:nvPr>
        </p:nvSpPr>
        <p:spPr>
          <a:xfrm>
            <a:off x="198500" y="3496038"/>
            <a:ext cx="5142600" cy="3078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5"/>
            </a:pPr>
            <a:r>
              <a:rPr lang="en" sz="1400"/>
              <a:t>The client sends </a:t>
            </a:r>
            <a:r>
              <a:rPr i="1" lang="en" sz="1400">
                <a:solidFill>
                  <a:srgbClr val="FF0000"/>
                </a:solidFill>
              </a:rPr>
              <a:t>SNonce</a:t>
            </a:r>
            <a:r>
              <a:rPr lang="en" sz="1400"/>
              <a:t> and its MAC to the AP</a:t>
            </a:r>
            <a:endParaRPr sz="1400"/>
          </a:p>
        </p:txBody>
      </p:sp>
      <p:sp>
        <p:nvSpPr>
          <p:cNvPr id="642" name="Google Shape;642;p55"/>
          <p:cNvSpPr txBox="1"/>
          <p:nvPr>
            <p:ph idx="1" type="body"/>
          </p:nvPr>
        </p:nvSpPr>
        <p:spPr>
          <a:xfrm>
            <a:off x="198500" y="3772775"/>
            <a:ext cx="5142600" cy="5556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6"/>
            </a:pPr>
            <a:r>
              <a:rPr lang="en" sz="1400"/>
              <a:t>The AP uses the </a:t>
            </a:r>
            <a:r>
              <a:rPr i="1" lang="en" sz="1400">
                <a:solidFill>
                  <a:srgbClr val="0000FF"/>
                </a:solidFill>
              </a:rPr>
              <a:t>PSK</a:t>
            </a:r>
            <a:r>
              <a:rPr lang="en" sz="1400"/>
              <a:t>, </a:t>
            </a:r>
            <a:r>
              <a:rPr lang="en" sz="1400">
                <a:solidFill>
                  <a:srgbClr val="FF0000"/>
                </a:solidFill>
              </a:rPr>
              <a:t>nonces</a:t>
            </a:r>
            <a:r>
              <a:rPr lang="en" sz="1400"/>
              <a:t>, and MAC addresses to derive the </a:t>
            </a:r>
            <a:r>
              <a:rPr i="1" lang="en" sz="1400">
                <a:solidFill>
                  <a:srgbClr val="9900FF"/>
                </a:solidFill>
              </a:rPr>
              <a:t>PTK</a:t>
            </a:r>
            <a:r>
              <a:rPr lang="en" sz="1400">
                <a:solidFill>
                  <a:srgbClr val="9900FF"/>
                </a:solidFill>
              </a:rPr>
              <a:t> (pairwise transport keys)</a:t>
            </a:r>
            <a:endParaRPr sz="1400"/>
          </a:p>
        </p:txBody>
      </p:sp>
      <p:sp>
        <p:nvSpPr>
          <p:cNvPr id="643" name="Google Shape;643;p55"/>
          <p:cNvSpPr txBox="1"/>
          <p:nvPr>
            <p:ph idx="1" type="body"/>
          </p:nvPr>
        </p:nvSpPr>
        <p:spPr>
          <a:xfrm>
            <a:off x="198500" y="4328375"/>
            <a:ext cx="5142600" cy="3078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7"/>
            </a:pPr>
            <a:r>
              <a:rPr lang="en" sz="1400"/>
              <a:t>The AP sends its MAC and </a:t>
            </a:r>
            <a:r>
              <a:rPr i="1" lang="en" sz="1400">
                <a:solidFill>
                  <a:srgbClr val="38761D"/>
                </a:solidFill>
              </a:rPr>
              <a:t>GTK</a:t>
            </a:r>
            <a:r>
              <a:rPr lang="en" sz="1400"/>
              <a:t> to the client</a:t>
            </a:r>
            <a:endParaRPr sz="1400"/>
          </a:p>
        </p:txBody>
      </p:sp>
      <p:sp>
        <p:nvSpPr>
          <p:cNvPr id="644" name="Google Shape;644;p55"/>
          <p:cNvSpPr txBox="1"/>
          <p:nvPr>
            <p:ph idx="1" type="body"/>
          </p:nvPr>
        </p:nvSpPr>
        <p:spPr>
          <a:xfrm>
            <a:off x="198500" y="4634050"/>
            <a:ext cx="5142600" cy="307800"/>
          </a:xfrm>
          <a:prstGeom prst="rect">
            <a:avLst/>
          </a:prstGeom>
        </p:spPr>
        <p:txBody>
          <a:bodyPr anchorCtr="0" anchor="t" bIns="0" lIns="91425" spcFirstLastPara="1" rIns="91425" wrap="square" tIns="91425">
            <a:spAutoFit/>
          </a:bodyPr>
          <a:lstStyle/>
          <a:p>
            <a:pPr indent="-317500" lvl="0" marL="457200" rtl="0" algn="l">
              <a:spcBef>
                <a:spcPts val="0"/>
              </a:spcBef>
              <a:spcAft>
                <a:spcPts val="0"/>
              </a:spcAft>
              <a:buSzPts val="1400"/>
              <a:buAutoNum type="arabicPeriod" startAt="8"/>
            </a:pPr>
            <a:r>
              <a:rPr lang="en" sz="1400"/>
              <a:t>The client acknowledges receiving the GTK</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56"/>
          <p:cNvSpPr txBox="1"/>
          <p:nvPr>
            <p:ph idx="1" type="body"/>
          </p:nvPr>
        </p:nvSpPr>
        <p:spPr>
          <a:xfrm>
            <a:off x="198500" y="1246825"/>
            <a:ext cx="47292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Rogue AP</a:t>
            </a:r>
            <a:r>
              <a:rPr lang="en"/>
              <a:t>: Pretend to be an AP, and offer your own </a:t>
            </a:r>
            <a:r>
              <a:rPr i="1" lang="en">
                <a:solidFill>
                  <a:srgbClr val="FF0000"/>
                </a:solidFill>
              </a:rPr>
              <a:t>ANonce</a:t>
            </a:r>
            <a:r>
              <a:rPr lang="en"/>
              <a:t> to the client</a:t>
            </a:r>
            <a:endParaRPr/>
          </a:p>
          <a:p>
            <a:pPr indent="-317500" lvl="1" marL="914400" rtl="0" algn="l">
              <a:spcBef>
                <a:spcPts val="0"/>
              </a:spcBef>
              <a:spcAft>
                <a:spcPts val="0"/>
              </a:spcAft>
              <a:buSzPts val="1400"/>
              <a:buChar char="○"/>
            </a:pPr>
            <a:r>
              <a:rPr lang="en"/>
              <a:t>If you know the password/PSK, you can complete the 4-way handshake with the client and become a MITM!</a:t>
            </a:r>
            <a:endParaRPr/>
          </a:p>
        </p:txBody>
      </p:sp>
      <p:sp>
        <p:nvSpPr>
          <p:cNvPr id="650" name="Google Shape;650;p5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WPA-PSK Attacks</a:t>
            </a:r>
            <a:endParaRPr/>
          </a:p>
        </p:txBody>
      </p:sp>
      <p:sp>
        <p:nvSpPr>
          <p:cNvPr id="651" name="Google Shape;651;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2" name="Google Shape;652;p56"/>
          <p:cNvSpPr/>
          <p:nvPr/>
        </p:nvSpPr>
        <p:spPr>
          <a:xfrm>
            <a:off x="5376075" y="943900"/>
            <a:ext cx="3768000" cy="23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3" name="Google Shape;653;p56"/>
          <p:cNvCxnSpPr/>
          <p:nvPr/>
        </p:nvCxnSpPr>
        <p:spPr>
          <a:xfrm>
            <a:off x="6086671" y="499543"/>
            <a:ext cx="0" cy="4537800"/>
          </a:xfrm>
          <a:prstGeom prst="straightConnector1">
            <a:avLst/>
          </a:prstGeom>
          <a:noFill/>
          <a:ln cap="flat" cmpd="sng" w="19050">
            <a:solidFill>
              <a:srgbClr val="000000"/>
            </a:solidFill>
            <a:prstDash val="solid"/>
            <a:round/>
            <a:headEnd len="med" w="med" type="none"/>
            <a:tailEnd len="med" w="med" type="none"/>
          </a:ln>
        </p:spPr>
      </p:cxnSp>
      <p:sp>
        <p:nvSpPr>
          <p:cNvPr id="654" name="Google Shape;654;p56"/>
          <p:cNvSpPr/>
          <p:nvPr/>
        </p:nvSpPr>
        <p:spPr>
          <a:xfrm>
            <a:off x="5587794" y="94800"/>
            <a:ext cx="998100" cy="3516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Client</a:t>
            </a:r>
            <a:endParaRPr sz="1200">
              <a:latin typeface="Calibri"/>
              <a:ea typeface="Calibri"/>
              <a:cs typeface="Calibri"/>
              <a:sym typeface="Calibri"/>
            </a:endParaRPr>
          </a:p>
        </p:txBody>
      </p:sp>
      <p:sp>
        <p:nvSpPr>
          <p:cNvPr id="655" name="Google Shape;655;p56"/>
          <p:cNvSpPr/>
          <p:nvPr/>
        </p:nvSpPr>
        <p:spPr>
          <a:xfrm>
            <a:off x="7334413" y="94800"/>
            <a:ext cx="998100" cy="3516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Access Point</a:t>
            </a:r>
            <a:endParaRPr sz="1200">
              <a:latin typeface="Calibri"/>
              <a:ea typeface="Calibri"/>
              <a:cs typeface="Calibri"/>
              <a:sym typeface="Calibri"/>
            </a:endParaRPr>
          </a:p>
        </p:txBody>
      </p:sp>
      <p:cxnSp>
        <p:nvCxnSpPr>
          <p:cNvPr id="656" name="Google Shape;656;p56"/>
          <p:cNvCxnSpPr/>
          <p:nvPr/>
        </p:nvCxnSpPr>
        <p:spPr>
          <a:xfrm>
            <a:off x="7833291" y="499543"/>
            <a:ext cx="0" cy="4537800"/>
          </a:xfrm>
          <a:prstGeom prst="straightConnector1">
            <a:avLst/>
          </a:prstGeom>
          <a:noFill/>
          <a:ln cap="flat" cmpd="sng" w="19050">
            <a:solidFill>
              <a:srgbClr val="000000"/>
            </a:solidFill>
            <a:prstDash val="solid"/>
            <a:round/>
            <a:headEnd len="med" w="med" type="none"/>
            <a:tailEnd len="med" w="med" type="none"/>
          </a:ln>
        </p:spPr>
      </p:cxnSp>
      <p:grpSp>
        <p:nvGrpSpPr>
          <p:cNvPr id="657" name="Google Shape;657;p56"/>
          <p:cNvGrpSpPr/>
          <p:nvPr/>
        </p:nvGrpSpPr>
        <p:grpSpPr>
          <a:xfrm>
            <a:off x="5417329" y="1056610"/>
            <a:ext cx="1338699" cy="578970"/>
            <a:chOff x="886575" y="1072025"/>
            <a:chExt cx="1586700" cy="555900"/>
          </a:xfrm>
        </p:grpSpPr>
        <p:sp>
          <p:nvSpPr>
            <p:cNvPr id="658" name="Google Shape;658;p56"/>
            <p:cNvSpPr/>
            <p:nvPr/>
          </p:nvSpPr>
          <p:spPr>
            <a:xfrm>
              <a:off x="1599375" y="1072025"/>
              <a:ext cx="161100" cy="555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9" name="Google Shape;659;p56"/>
            <p:cNvSpPr/>
            <p:nvPr/>
          </p:nvSpPr>
          <p:spPr>
            <a:xfrm>
              <a:off x="886575" y="1148225"/>
              <a:ext cx="1586700" cy="403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from wifi password</a:t>
              </a:r>
              <a:endParaRPr sz="1200">
                <a:latin typeface="Calibri"/>
                <a:ea typeface="Calibri"/>
                <a:cs typeface="Calibri"/>
                <a:sym typeface="Calibri"/>
              </a:endParaRPr>
            </a:p>
          </p:txBody>
        </p:sp>
      </p:grpSp>
      <p:grpSp>
        <p:nvGrpSpPr>
          <p:cNvPr id="660" name="Google Shape;660;p56"/>
          <p:cNvGrpSpPr/>
          <p:nvPr/>
        </p:nvGrpSpPr>
        <p:grpSpPr>
          <a:xfrm>
            <a:off x="7163948" y="1056610"/>
            <a:ext cx="1338699" cy="578970"/>
            <a:chOff x="886575" y="1072025"/>
            <a:chExt cx="1586700" cy="555900"/>
          </a:xfrm>
        </p:grpSpPr>
        <p:sp>
          <p:nvSpPr>
            <p:cNvPr id="661" name="Google Shape;661;p56"/>
            <p:cNvSpPr/>
            <p:nvPr/>
          </p:nvSpPr>
          <p:spPr>
            <a:xfrm>
              <a:off x="1599375" y="1072025"/>
              <a:ext cx="161100" cy="555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2" name="Google Shape;662;p56"/>
            <p:cNvSpPr/>
            <p:nvPr/>
          </p:nvSpPr>
          <p:spPr>
            <a:xfrm>
              <a:off x="886575" y="1148225"/>
              <a:ext cx="1586700" cy="403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from wifi password</a:t>
              </a:r>
              <a:endParaRPr sz="1200">
                <a:latin typeface="Calibri"/>
                <a:ea typeface="Calibri"/>
                <a:cs typeface="Calibri"/>
                <a:sym typeface="Calibri"/>
              </a:endParaRPr>
            </a:p>
          </p:txBody>
        </p:sp>
      </p:grpSp>
      <p:grpSp>
        <p:nvGrpSpPr>
          <p:cNvPr id="663" name="Google Shape;663;p56"/>
          <p:cNvGrpSpPr/>
          <p:nvPr/>
        </p:nvGrpSpPr>
        <p:grpSpPr>
          <a:xfrm>
            <a:off x="6097225" y="399750"/>
            <a:ext cx="1725300" cy="668400"/>
            <a:chOff x="6097225" y="399750"/>
            <a:chExt cx="1725300" cy="668400"/>
          </a:xfrm>
        </p:grpSpPr>
        <p:cxnSp>
          <p:nvCxnSpPr>
            <p:cNvPr id="664" name="Google Shape;664;p56"/>
            <p:cNvCxnSpPr/>
            <p:nvPr/>
          </p:nvCxnSpPr>
          <p:spPr>
            <a:xfrm>
              <a:off x="6136492" y="672980"/>
              <a:ext cx="1660800" cy="339600"/>
            </a:xfrm>
            <a:prstGeom prst="straightConnector1">
              <a:avLst/>
            </a:prstGeom>
            <a:noFill/>
            <a:ln cap="flat" cmpd="sng" w="19050">
              <a:solidFill>
                <a:srgbClr val="000000"/>
              </a:solidFill>
              <a:prstDash val="solid"/>
              <a:round/>
              <a:headEnd len="med" w="med" type="none"/>
              <a:tailEnd len="med" w="med" type="triangle"/>
            </a:ln>
          </p:spPr>
        </p:cxnSp>
        <p:sp>
          <p:nvSpPr>
            <p:cNvPr id="665" name="Google Shape;665;p56"/>
            <p:cNvSpPr txBox="1"/>
            <p:nvPr/>
          </p:nvSpPr>
          <p:spPr>
            <a:xfrm rot="684440">
              <a:off x="6111976" y="564497"/>
              <a:ext cx="1695799" cy="33890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Authentication Request</a:t>
              </a:r>
              <a:endParaRPr sz="1200">
                <a:latin typeface="Calibri"/>
                <a:ea typeface="Calibri"/>
                <a:cs typeface="Calibri"/>
                <a:sym typeface="Calibri"/>
              </a:endParaRPr>
            </a:p>
          </p:txBody>
        </p:sp>
      </p:grpSp>
      <p:grpSp>
        <p:nvGrpSpPr>
          <p:cNvPr id="666" name="Google Shape;666;p56"/>
          <p:cNvGrpSpPr/>
          <p:nvPr/>
        </p:nvGrpSpPr>
        <p:grpSpPr>
          <a:xfrm>
            <a:off x="6123745" y="1375140"/>
            <a:ext cx="1666489" cy="665872"/>
            <a:chOff x="6123745" y="1375140"/>
            <a:chExt cx="1666489" cy="665872"/>
          </a:xfrm>
        </p:grpSpPr>
        <p:cxnSp>
          <p:nvCxnSpPr>
            <p:cNvPr id="667" name="Google Shape;667;p56"/>
            <p:cNvCxnSpPr/>
            <p:nvPr/>
          </p:nvCxnSpPr>
          <p:spPr>
            <a:xfrm flipH="1">
              <a:off x="6123745" y="1723912"/>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668" name="Google Shape;668;p56"/>
            <p:cNvSpPr txBox="1"/>
            <p:nvPr/>
          </p:nvSpPr>
          <p:spPr>
            <a:xfrm rot="-650908">
              <a:off x="6145627" y="1525739"/>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Calibri"/>
                  <a:ea typeface="Calibri"/>
                  <a:cs typeface="Calibri"/>
                  <a:sym typeface="Calibri"/>
                </a:rPr>
                <a:t>ANonce</a:t>
              </a:r>
              <a:endParaRPr>
                <a:solidFill>
                  <a:srgbClr val="FF0000"/>
                </a:solidFill>
                <a:latin typeface="Calibri"/>
                <a:ea typeface="Calibri"/>
                <a:cs typeface="Calibri"/>
                <a:sym typeface="Calibri"/>
              </a:endParaRPr>
            </a:p>
          </p:txBody>
        </p:sp>
      </p:grpSp>
      <p:grpSp>
        <p:nvGrpSpPr>
          <p:cNvPr id="669" name="Google Shape;669;p56"/>
          <p:cNvGrpSpPr/>
          <p:nvPr/>
        </p:nvGrpSpPr>
        <p:grpSpPr>
          <a:xfrm>
            <a:off x="6129875" y="1789796"/>
            <a:ext cx="1660200" cy="649085"/>
            <a:chOff x="6129875" y="1789796"/>
            <a:chExt cx="1660200" cy="649085"/>
          </a:xfrm>
        </p:grpSpPr>
        <p:cxnSp>
          <p:nvCxnSpPr>
            <p:cNvPr id="670" name="Google Shape;670;p56"/>
            <p:cNvCxnSpPr/>
            <p:nvPr/>
          </p:nvCxnSpPr>
          <p:spPr>
            <a:xfrm>
              <a:off x="6143701" y="2121781"/>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671" name="Google Shape;671;p56"/>
            <p:cNvSpPr txBox="1"/>
            <p:nvPr/>
          </p:nvSpPr>
          <p:spPr>
            <a:xfrm flipH="1" rot="650908">
              <a:off x="6145469" y="1940396"/>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Calibri"/>
                  <a:ea typeface="Calibri"/>
                  <a:cs typeface="Calibri"/>
                  <a:sym typeface="Calibri"/>
                </a:rPr>
                <a:t>SNonce</a:t>
              </a:r>
              <a:endParaRPr>
                <a:solidFill>
                  <a:srgbClr val="FF0000"/>
                </a:solidFill>
                <a:latin typeface="Calibri"/>
                <a:ea typeface="Calibri"/>
                <a:cs typeface="Calibri"/>
                <a:sym typeface="Calibri"/>
              </a:endParaRPr>
            </a:p>
          </p:txBody>
        </p:sp>
      </p:grpSp>
      <p:grpSp>
        <p:nvGrpSpPr>
          <p:cNvPr id="672" name="Google Shape;672;p56"/>
          <p:cNvGrpSpPr/>
          <p:nvPr/>
        </p:nvGrpSpPr>
        <p:grpSpPr>
          <a:xfrm>
            <a:off x="5417325" y="2519650"/>
            <a:ext cx="1338900" cy="765300"/>
            <a:chOff x="5417325" y="2519650"/>
            <a:chExt cx="1338900" cy="765300"/>
          </a:xfrm>
        </p:grpSpPr>
        <p:sp>
          <p:nvSpPr>
            <p:cNvPr id="673" name="Google Shape;673;p56"/>
            <p:cNvSpPr/>
            <p:nvPr/>
          </p:nvSpPr>
          <p:spPr>
            <a:xfrm>
              <a:off x="6018712" y="2519650"/>
              <a:ext cx="136200" cy="765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4" name="Google Shape;674;p56"/>
            <p:cNvSpPr/>
            <p:nvPr/>
          </p:nvSpPr>
          <p:spPr>
            <a:xfrm>
              <a:off x="5417325" y="2584496"/>
              <a:ext cx="1338900" cy="6339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9900FF"/>
                  </a:solidFill>
                  <a:latin typeface="Calibri"/>
                  <a:ea typeface="Calibri"/>
                  <a:cs typeface="Calibri"/>
                  <a:sym typeface="Calibri"/>
                </a:rPr>
                <a:t>PTK</a:t>
              </a:r>
              <a:r>
                <a:rPr lang="en" sz="1200">
                  <a:latin typeface="Calibri"/>
                  <a:ea typeface="Calibri"/>
                  <a:cs typeface="Calibri"/>
                  <a:sym typeface="Calibri"/>
                </a:rPr>
                <a:t> from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a:t>
              </a:r>
              <a:r>
                <a:rPr lang="en" sz="1200">
                  <a:solidFill>
                    <a:srgbClr val="FF0000"/>
                  </a:solidFill>
                  <a:latin typeface="Calibri"/>
                  <a:ea typeface="Calibri"/>
                  <a:cs typeface="Calibri"/>
                  <a:sym typeface="Calibri"/>
                </a:rPr>
                <a:t>nonces</a:t>
              </a:r>
              <a:r>
                <a:rPr lang="en" sz="1200">
                  <a:latin typeface="Calibri"/>
                  <a:ea typeface="Calibri"/>
                  <a:cs typeface="Calibri"/>
                  <a:sym typeface="Calibri"/>
                </a:rPr>
                <a:t>, MAC addresses</a:t>
              </a:r>
              <a:endParaRPr sz="1200">
                <a:latin typeface="Calibri"/>
                <a:ea typeface="Calibri"/>
                <a:cs typeface="Calibri"/>
                <a:sym typeface="Calibri"/>
              </a:endParaRPr>
            </a:p>
          </p:txBody>
        </p:sp>
      </p:grpSp>
      <p:grpSp>
        <p:nvGrpSpPr>
          <p:cNvPr id="675" name="Google Shape;675;p56"/>
          <p:cNvGrpSpPr/>
          <p:nvPr/>
        </p:nvGrpSpPr>
        <p:grpSpPr>
          <a:xfrm>
            <a:off x="7163944" y="2519650"/>
            <a:ext cx="1338900" cy="765300"/>
            <a:chOff x="7163944" y="2519650"/>
            <a:chExt cx="1338900" cy="765300"/>
          </a:xfrm>
        </p:grpSpPr>
        <p:sp>
          <p:nvSpPr>
            <p:cNvPr id="676" name="Google Shape;676;p56"/>
            <p:cNvSpPr/>
            <p:nvPr/>
          </p:nvSpPr>
          <p:spPr>
            <a:xfrm>
              <a:off x="7765331" y="2519650"/>
              <a:ext cx="136200" cy="765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7" name="Google Shape;677;p56"/>
            <p:cNvSpPr/>
            <p:nvPr/>
          </p:nvSpPr>
          <p:spPr>
            <a:xfrm>
              <a:off x="7163944" y="2584496"/>
              <a:ext cx="1338900" cy="6339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latin typeface="Calibri"/>
                  <a:ea typeface="Calibri"/>
                  <a:cs typeface="Calibri"/>
                  <a:sym typeface="Calibri"/>
                </a:rPr>
                <a:t>Derive </a:t>
              </a:r>
              <a:r>
                <a:rPr lang="en" sz="1200">
                  <a:solidFill>
                    <a:srgbClr val="9900FF"/>
                  </a:solidFill>
                  <a:latin typeface="Calibri"/>
                  <a:ea typeface="Calibri"/>
                  <a:cs typeface="Calibri"/>
                  <a:sym typeface="Calibri"/>
                </a:rPr>
                <a:t>PTK</a:t>
              </a:r>
              <a:r>
                <a:rPr lang="en" sz="1200">
                  <a:solidFill>
                    <a:srgbClr val="000000"/>
                  </a:solidFill>
                  <a:latin typeface="Calibri"/>
                  <a:ea typeface="Calibri"/>
                  <a:cs typeface="Calibri"/>
                  <a:sym typeface="Calibri"/>
                </a:rPr>
                <a:t> from </a:t>
              </a:r>
              <a:r>
                <a:rPr lang="en" sz="1200">
                  <a:solidFill>
                    <a:srgbClr val="0000FF"/>
                  </a:solidFill>
                  <a:latin typeface="Calibri"/>
                  <a:ea typeface="Calibri"/>
                  <a:cs typeface="Calibri"/>
                  <a:sym typeface="Calibri"/>
                </a:rPr>
                <a:t>PSK</a:t>
              </a:r>
              <a:r>
                <a:rPr lang="en" sz="1200">
                  <a:solidFill>
                    <a:srgbClr val="000000"/>
                  </a:solidFill>
                  <a:latin typeface="Calibri"/>
                  <a:ea typeface="Calibri"/>
                  <a:cs typeface="Calibri"/>
                  <a:sym typeface="Calibri"/>
                </a:rPr>
                <a:t>, </a:t>
              </a:r>
              <a:r>
                <a:rPr lang="en" sz="1200">
                  <a:solidFill>
                    <a:srgbClr val="FF0000"/>
                  </a:solidFill>
                  <a:latin typeface="Calibri"/>
                  <a:ea typeface="Calibri"/>
                  <a:cs typeface="Calibri"/>
                  <a:sym typeface="Calibri"/>
                </a:rPr>
                <a:t>nonces</a:t>
              </a:r>
              <a:r>
                <a:rPr lang="en" sz="1200">
                  <a:solidFill>
                    <a:srgbClr val="000000"/>
                  </a:solidFill>
                  <a:latin typeface="Calibri"/>
                  <a:ea typeface="Calibri"/>
                  <a:cs typeface="Calibri"/>
                  <a:sym typeface="Calibri"/>
                </a:rPr>
                <a:t>, MAC addresses</a:t>
              </a:r>
              <a:endParaRPr sz="1200">
                <a:latin typeface="Calibri"/>
                <a:ea typeface="Calibri"/>
                <a:cs typeface="Calibri"/>
                <a:sym typeface="Calibri"/>
              </a:endParaRPr>
            </a:p>
          </p:txBody>
        </p:sp>
      </p:grpSp>
      <p:grpSp>
        <p:nvGrpSpPr>
          <p:cNvPr id="678" name="Google Shape;678;p56"/>
          <p:cNvGrpSpPr/>
          <p:nvPr/>
        </p:nvGrpSpPr>
        <p:grpSpPr>
          <a:xfrm>
            <a:off x="6123745" y="3067101"/>
            <a:ext cx="1666351" cy="640500"/>
            <a:chOff x="6123745" y="3067101"/>
            <a:chExt cx="1666351" cy="640500"/>
          </a:xfrm>
        </p:grpSpPr>
        <p:cxnSp>
          <p:nvCxnSpPr>
            <p:cNvPr id="679" name="Google Shape;679;p56"/>
            <p:cNvCxnSpPr/>
            <p:nvPr/>
          </p:nvCxnSpPr>
          <p:spPr>
            <a:xfrm flipH="1">
              <a:off x="6123745" y="3381699"/>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680" name="Google Shape;680;p56"/>
            <p:cNvSpPr txBox="1"/>
            <p:nvPr/>
          </p:nvSpPr>
          <p:spPr>
            <a:xfrm rot="-650908">
              <a:off x="6145490" y="3217701"/>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a:t>
              </a:r>
              <a:endParaRPr>
                <a:latin typeface="Calibri"/>
                <a:ea typeface="Calibri"/>
                <a:cs typeface="Calibri"/>
                <a:sym typeface="Calibri"/>
              </a:endParaRPr>
            </a:p>
          </p:txBody>
        </p:sp>
      </p:grpSp>
      <p:grpSp>
        <p:nvGrpSpPr>
          <p:cNvPr id="681" name="Google Shape;681;p56"/>
          <p:cNvGrpSpPr/>
          <p:nvPr/>
        </p:nvGrpSpPr>
        <p:grpSpPr>
          <a:xfrm>
            <a:off x="6129875" y="3490132"/>
            <a:ext cx="1660200" cy="640500"/>
            <a:chOff x="6129875" y="3490132"/>
            <a:chExt cx="1660200" cy="640500"/>
          </a:xfrm>
        </p:grpSpPr>
        <p:cxnSp>
          <p:nvCxnSpPr>
            <p:cNvPr id="682" name="Google Shape;682;p56"/>
            <p:cNvCxnSpPr/>
            <p:nvPr/>
          </p:nvCxnSpPr>
          <p:spPr>
            <a:xfrm>
              <a:off x="6143701" y="3779567"/>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683" name="Google Shape;683;p56"/>
            <p:cNvSpPr txBox="1"/>
            <p:nvPr/>
          </p:nvSpPr>
          <p:spPr>
            <a:xfrm flipH="1" rot="650908">
              <a:off x="6145469" y="3640732"/>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a:t>
              </a:r>
              <a:endParaRPr>
                <a:latin typeface="Calibri"/>
                <a:ea typeface="Calibri"/>
                <a:cs typeface="Calibri"/>
                <a:sym typeface="Calibri"/>
              </a:endParaRPr>
            </a:p>
          </p:txBody>
        </p:sp>
      </p:grpSp>
      <p:grpSp>
        <p:nvGrpSpPr>
          <p:cNvPr id="684" name="Google Shape;684;p56"/>
          <p:cNvGrpSpPr/>
          <p:nvPr/>
        </p:nvGrpSpPr>
        <p:grpSpPr>
          <a:xfrm>
            <a:off x="6123745" y="3887120"/>
            <a:ext cx="1666339" cy="640500"/>
            <a:chOff x="6123745" y="3887120"/>
            <a:chExt cx="1666339" cy="640500"/>
          </a:xfrm>
        </p:grpSpPr>
        <p:cxnSp>
          <p:nvCxnSpPr>
            <p:cNvPr id="685" name="Google Shape;685;p56"/>
            <p:cNvCxnSpPr/>
            <p:nvPr/>
          </p:nvCxnSpPr>
          <p:spPr>
            <a:xfrm flipH="1">
              <a:off x="6123745" y="4210518"/>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686" name="Google Shape;686;p56"/>
            <p:cNvSpPr txBox="1"/>
            <p:nvPr/>
          </p:nvSpPr>
          <p:spPr>
            <a:xfrm rot="-650908">
              <a:off x="6145477" y="4037720"/>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8761D"/>
                  </a:solidFill>
                  <a:latin typeface="Calibri"/>
                  <a:ea typeface="Calibri"/>
                  <a:cs typeface="Calibri"/>
                  <a:sym typeface="Calibri"/>
                </a:rPr>
                <a:t>GTK</a:t>
              </a:r>
              <a:endParaRPr>
                <a:solidFill>
                  <a:srgbClr val="38761D"/>
                </a:solidFill>
                <a:latin typeface="Calibri"/>
                <a:ea typeface="Calibri"/>
                <a:cs typeface="Calibri"/>
                <a:sym typeface="Calibri"/>
              </a:endParaRPr>
            </a:p>
          </p:txBody>
        </p:sp>
      </p:grpSp>
      <p:grpSp>
        <p:nvGrpSpPr>
          <p:cNvPr id="687" name="Google Shape;687;p56"/>
          <p:cNvGrpSpPr/>
          <p:nvPr/>
        </p:nvGrpSpPr>
        <p:grpSpPr>
          <a:xfrm>
            <a:off x="6129875" y="4284964"/>
            <a:ext cx="1660200" cy="640522"/>
            <a:chOff x="6129875" y="4284964"/>
            <a:chExt cx="1660200" cy="640522"/>
          </a:xfrm>
        </p:grpSpPr>
        <p:cxnSp>
          <p:nvCxnSpPr>
            <p:cNvPr id="688" name="Google Shape;688;p56"/>
            <p:cNvCxnSpPr/>
            <p:nvPr/>
          </p:nvCxnSpPr>
          <p:spPr>
            <a:xfrm>
              <a:off x="6143701" y="4608386"/>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689" name="Google Shape;689;p56"/>
            <p:cNvSpPr txBox="1"/>
            <p:nvPr/>
          </p:nvSpPr>
          <p:spPr>
            <a:xfrm flipH="1" rot="650908">
              <a:off x="6145469" y="4435563"/>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ACK</a:t>
              </a:r>
              <a:endParaRPr>
                <a:latin typeface="Calibri"/>
                <a:ea typeface="Calibri"/>
                <a:cs typeface="Calibri"/>
                <a:sym typeface="Calibri"/>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5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Offline brute-force attack</a:t>
            </a:r>
            <a:r>
              <a:rPr lang="en"/>
              <a:t>: People tend to choose bad passwords, and you have enough information to know if you guessed the password correctly</a:t>
            </a:r>
            <a:endParaRPr/>
          </a:p>
          <a:p>
            <a:pPr indent="-317500" lvl="1" marL="914400" rtl="0" algn="l">
              <a:spcBef>
                <a:spcPts val="0"/>
              </a:spcBef>
              <a:spcAft>
                <a:spcPts val="0"/>
              </a:spcAft>
              <a:buSzPts val="1400"/>
              <a:buChar char="○"/>
            </a:pPr>
            <a:r>
              <a:rPr lang="en"/>
              <a:t>Nonces are sent unencrypted, and client and AP MAC addresses are public</a:t>
            </a:r>
            <a:endParaRPr/>
          </a:p>
          <a:p>
            <a:pPr indent="-317500" lvl="1" marL="914400" rtl="0" algn="l">
              <a:spcBef>
                <a:spcPts val="0"/>
              </a:spcBef>
              <a:spcAft>
                <a:spcPts val="0"/>
              </a:spcAft>
              <a:buSzPts val="1400"/>
              <a:buChar char="○"/>
            </a:pPr>
            <a:r>
              <a:rPr lang="en"/>
              <a:t>Eavesdropper guesses a password and derives:</a:t>
            </a:r>
            <a:endParaRPr/>
          </a:p>
          <a:p>
            <a:pPr indent="-317500" lvl="2" marL="1371600" rtl="0" algn="l">
              <a:spcBef>
                <a:spcPts val="0"/>
              </a:spcBef>
              <a:spcAft>
                <a:spcPts val="0"/>
              </a:spcAft>
              <a:buSzPts val="1400"/>
              <a:buChar char="■"/>
            </a:pPr>
            <a:r>
              <a:rPr lang="en"/>
              <a:t>Wi-Fi password → </a:t>
            </a:r>
            <a:r>
              <a:rPr i="1" lang="en">
                <a:solidFill>
                  <a:srgbClr val="0000FF"/>
                </a:solidFill>
              </a:rPr>
              <a:t>PSK</a:t>
            </a:r>
            <a:endParaRPr i="1"/>
          </a:p>
          <a:p>
            <a:pPr indent="-317500" lvl="2" marL="1371600" rtl="0" algn="l">
              <a:spcBef>
                <a:spcPts val="0"/>
              </a:spcBef>
              <a:spcAft>
                <a:spcPts val="0"/>
              </a:spcAft>
              <a:buSzPts val="1400"/>
              <a:buChar char="■"/>
            </a:pPr>
            <a:r>
              <a:rPr i="1" lang="en">
                <a:solidFill>
                  <a:srgbClr val="0000FF"/>
                </a:solidFill>
              </a:rPr>
              <a:t>PSK</a:t>
            </a:r>
            <a:r>
              <a:rPr lang="en"/>
              <a:t> + </a:t>
            </a:r>
            <a:r>
              <a:rPr lang="en">
                <a:solidFill>
                  <a:srgbClr val="FF0000"/>
                </a:solidFill>
              </a:rPr>
              <a:t>nonces</a:t>
            </a:r>
            <a:r>
              <a:rPr lang="en"/>
              <a:t> + MAC addresses → </a:t>
            </a:r>
            <a:r>
              <a:rPr i="1" lang="en">
                <a:solidFill>
                  <a:srgbClr val="9900FF"/>
                </a:solidFill>
              </a:rPr>
              <a:t>PTK</a:t>
            </a:r>
            <a:endParaRPr i="1">
              <a:solidFill>
                <a:srgbClr val="9900FF"/>
              </a:solidFill>
            </a:endParaRPr>
          </a:p>
          <a:p>
            <a:pPr indent="-317500" lvl="2" marL="1371600" rtl="0" algn="l">
              <a:spcBef>
                <a:spcPts val="0"/>
              </a:spcBef>
              <a:spcAft>
                <a:spcPts val="0"/>
              </a:spcAft>
              <a:buSzPts val="1400"/>
              <a:buChar char="■"/>
            </a:pPr>
            <a:r>
              <a:rPr lang="en"/>
              <a:t>Eavesdropper checks that the MAC from the guess matches the MAC that was sent</a:t>
            </a:r>
            <a:endParaRPr/>
          </a:p>
        </p:txBody>
      </p:sp>
      <p:sp>
        <p:nvSpPr>
          <p:cNvPr id="695" name="Google Shape;695;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WPA-PSK Attacks</a:t>
            </a:r>
            <a:endParaRPr/>
          </a:p>
        </p:txBody>
      </p:sp>
      <p:sp>
        <p:nvSpPr>
          <p:cNvPr id="696" name="Google Shape;696;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7" name="Google Shape;697;p57"/>
          <p:cNvSpPr/>
          <p:nvPr/>
        </p:nvSpPr>
        <p:spPr>
          <a:xfrm>
            <a:off x="5376075" y="943900"/>
            <a:ext cx="3768000" cy="23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8" name="Google Shape;698;p57"/>
          <p:cNvCxnSpPr/>
          <p:nvPr/>
        </p:nvCxnSpPr>
        <p:spPr>
          <a:xfrm>
            <a:off x="6086671" y="499543"/>
            <a:ext cx="0" cy="4537800"/>
          </a:xfrm>
          <a:prstGeom prst="straightConnector1">
            <a:avLst/>
          </a:prstGeom>
          <a:noFill/>
          <a:ln cap="flat" cmpd="sng" w="19050">
            <a:solidFill>
              <a:srgbClr val="000000"/>
            </a:solidFill>
            <a:prstDash val="solid"/>
            <a:round/>
            <a:headEnd len="med" w="med" type="none"/>
            <a:tailEnd len="med" w="med" type="none"/>
          </a:ln>
        </p:spPr>
      </p:cxnSp>
      <p:sp>
        <p:nvSpPr>
          <p:cNvPr id="699" name="Google Shape;699;p57"/>
          <p:cNvSpPr/>
          <p:nvPr/>
        </p:nvSpPr>
        <p:spPr>
          <a:xfrm>
            <a:off x="5587794" y="94800"/>
            <a:ext cx="998100" cy="3516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Client</a:t>
            </a:r>
            <a:endParaRPr sz="1200">
              <a:latin typeface="Calibri"/>
              <a:ea typeface="Calibri"/>
              <a:cs typeface="Calibri"/>
              <a:sym typeface="Calibri"/>
            </a:endParaRPr>
          </a:p>
        </p:txBody>
      </p:sp>
      <p:sp>
        <p:nvSpPr>
          <p:cNvPr id="700" name="Google Shape;700;p57"/>
          <p:cNvSpPr/>
          <p:nvPr/>
        </p:nvSpPr>
        <p:spPr>
          <a:xfrm>
            <a:off x="7334413" y="94800"/>
            <a:ext cx="998100" cy="3516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Access Point</a:t>
            </a:r>
            <a:endParaRPr sz="1200">
              <a:latin typeface="Calibri"/>
              <a:ea typeface="Calibri"/>
              <a:cs typeface="Calibri"/>
              <a:sym typeface="Calibri"/>
            </a:endParaRPr>
          </a:p>
        </p:txBody>
      </p:sp>
      <p:cxnSp>
        <p:nvCxnSpPr>
          <p:cNvPr id="701" name="Google Shape;701;p57"/>
          <p:cNvCxnSpPr/>
          <p:nvPr/>
        </p:nvCxnSpPr>
        <p:spPr>
          <a:xfrm>
            <a:off x="7833291" y="499543"/>
            <a:ext cx="0" cy="4537800"/>
          </a:xfrm>
          <a:prstGeom prst="straightConnector1">
            <a:avLst/>
          </a:prstGeom>
          <a:noFill/>
          <a:ln cap="flat" cmpd="sng" w="19050">
            <a:solidFill>
              <a:srgbClr val="000000"/>
            </a:solidFill>
            <a:prstDash val="solid"/>
            <a:round/>
            <a:headEnd len="med" w="med" type="none"/>
            <a:tailEnd len="med" w="med" type="none"/>
          </a:ln>
        </p:spPr>
      </p:cxnSp>
      <p:grpSp>
        <p:nvGrpSpPr>
          <p:cNvPr id="702" name="Google Shape;702;p57"/>
          <p:cNvGrpSpPr/>
          <p:nvPr/>
        </p:nvGrpSpPr>
        <p:grpSpPr>
          <a:xfrm>
            <a:off x="5417329" y="1056610"/>
            <a:ext cx="1338699" cy="578970"/>
            <a:chOff x="886575" y="1072025"/>
            <a:chExt cx="1586700" cy="555900"/>
          </a:xfrm>
        </p:grpSpPr>
        <p:sp>
          <p:nvSpPr>
            <p:cNvPr id="703" name="Google Shape;703;p57"/>
            <p:cNvSpPr/>
            <p:nvPr/>
          </p:nvSpPr>
          <p:spPr>
            <a:xfrm>
              <a:off x="1599375" y="1072025"/>
              <a:ext cx="161100" cy="555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04" name="Google Shape;704;p57"/>
            <p:cNvSpPr/>
            <p:nvPr/>
          </p:nvSpPr>
          <p:spPr>
            <a:xfrm>
              <a:off x="886575" y="1148225"/>
              <a:ext cx="1586700" cy="403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from wifi password</a:t>
              </a:r>
              <a:endParaRPr sz="1200">
                <a:latin typeface="Calibri"/>
                <a:ea typeface="Calibri"/>
                <a:cs typeface="Calibri"/>
                <a:sym typeface="Calibri"/>
              </a:endParaRPr>
            </a:p>
          </p:txBody>
        </p:sp>
      </p:grpSp>
      <p:grpSp>
        <p:nvGrpSpPr>
          <p:cNvPr id="705" name="Google Shape;705;p57"/>
          <p:cNvGrpSpPr/>
          <p:nvPr/>
        </p:nvGrpSpPr>
        <p:grpSpPr>
          <a:xfrm>
            <a:off x="7163948" y="1056610"/>
            <a:ext cx="1338699" cy="578970"/>
            <a:chOff x="886575" y="1072025"/>
            <a:chExt cx="1586700" cy="555900"/>
          </a:xfrm>
        </p:grpSpPr>
        <p:sp>
          <p:nvSpPr>
            <p:cNvPr id="706" name="Google Shape;706;p57"/>
            <p:cNvSpPr/>
            <p:nvPr/>
          </p:nvSpPr>
          <p:spPr>
            <a:xfrm>
              <a:off x="1599375" y="1072025"/>
              <a:ext cx="161100" cy="555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07" name="Google Shape;707;p57"/>
            <p:cNvSpPr/>
            <p:nvPr/>
          </p:nvSpPr>
          <p:spPr>
            <a:xfrm>
              <a:off x="886575" y="1148225"/>
              <a:ext cx="1586700" cy="403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from wifi password</a:t>
              </a:r>
              <a:endParaRPr sz="1200">
                <a:latin typeface="Calibri"/>
                <a:ea typeface="Calibri"/>
                <a:cs typeface="Calibri"/>
                <a:sym typeface="Calibri"/>
              </a:endParaRPr>
            </a:p>
          </p:txBody>
        </p:sp>
      </p:grpSp>
      <p:grpSp>
        <p:nvGrpSpPr>
          <p:cNvPr id="708" name="Google Shape;708;p57"/>
          <p:cNvGrpSpPr/>
          <p:nvPr/>
        </p:nvGrpSpPr>
        <p:grpSpPr>
          <a:xfrm>
            <a:off x="6097225" y="399750"/>
            <a:ext cx="1725300" cy="668400"/>
            <a:chOff x="6097225" y="399750"/>
            <a:chExt cx="1725300" cy="668400"/>
          </a:xfrm>
        </p:grpSpPr>
        <p:cxnSp>
          <p:nvCxnSpPr>
            <p:cNvPr id="709" name="Google Shape;709;p57"/>
            <p:cNvCxnSpPr/>
            <p:nvPr/>
          </p:nvCxnSpPr>
          <p:spPr>
            <a:xfrm>
              <a:off x="6136492" y="672980"/>
              <a:ext cx="1660800" cy="339600"/>
            </a:xfrm>
            <a:prstGeom prst="straightConnector1">
              <a:avLst/>
            </a:prstGeom>
            <a:noFill/>
            <a:ln cap="flat" cmpd="sng" w="19050">
              <a:solidFill>
                <a:srgbClr val="000000"/>
              </a:solidFill>
              <a:prstDash val="solid"/>
              <a:round/>
              <a:headEnd len="med" w="med" type="none"/>
              <a:tailEnd len="med" w="med" type="triangle"/>
            </a:ln>
          </p:spPr>
        </p:cxnSp>
        <p:sp>
          <p:nvSpPr>
            <p:cNvPr id="710" name="Google Shape;710;p57"/>
            <p:cNvSpPr txBox="1"/>
            <p:nvPr/>
          </p:nvSpPr>
          <p:spPr>
            <a:xfrm rot="684440">
              <a:off x="6111976" y="564497"/>
              <a:ext cx="1695799" cy="33890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Authentication Request</a:t>
              </a:r>
              <a:endParaRPr sz="1200">
                <a:latin typeface="Calibri"/>
                <a:ea typeface="Calibri"/>
                <a:cs typeface="Calibri"/>
                <a:sym typeface="Calibri"/>
              </a:endParaRPr>
            </a:p>
          </p:txBody>
        </p:sp>
      </p:grpSp>
      <p:grpSp>
        <p:nvGrpSpPr>
          <p:cNvPr id="711" name="Google Shape;711;p57"/>
          <p:cNvGrpSpPr/>
          <p:nvPr/>
        </p:nvGrpSpPr>
        <p:grpSpPr>
          <a:xfrm>
            <a:off x="6123745" y="1375140"/>
            <a:ext cx="1666489" cy="665872"/>
            <a:chOff x="6123745" y="1375140"/>
            <a:chExt cx="1666489" cy="665872"/>
          </a:xfrm>
        </p:grpSpPr>
        <p:cxnSp>
          <p:nvCxnSpPr>
            <p:cNvPr id="712" name="Google Shape;712;p57"/>
            <p:cNvCxnSpPr/>
            <p:nvPr/>
          </p:nvCxnSpPr>
          <p:spPr>
            <a:xfrm flipH="1">
              <a:off x="6123745" y="1723912"/>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13" name="Google Shape;713;p57"/>
            <p:cNvSpPr txBox="1"/>
            <p:nvPr/>
          </p:nvSpPr>
          <p:spPr>
            <a:xfrm rot="-650908">
              <a:off x="6145627" y="1525739"/>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Calibri"/>
                  <a:ea typeface="Calibri"/>
                  <a:cs typeface="Calibri"/>
                  <a:sym typeface="Calibri"/>
                </a:rPr>
                <a:t>ANonce</a:t>
              </a:r>
              <a:endParaRPr>
                <a:solidFill>
                  <a:srgbClr val="FF0000"/>
                </a:solidFill>
                <a:latin typeface="Calibri"/>
                <a:ea typeface="Calibri"/>
                <a:cs typeface="Calibri"/>
                <a:sym typeface="Calibri"/>
              </a:endParaRPr>
            </a:p>
          </p:txBody>
        </p:sp>
      </p:grpSp>
      <p:grpSp>
        <p:nvGrpSpPr>
          <p:cNvPr id="714" name="Google Shape;714;p57"/>
          <p:cNvGrpSpPr/>
          <p:nvPr/>
        </p:nvGrpSpPr>
        <p:grpSpPr>
          <a:xfrm>
            <a:off x="6129875" y="1789796"/>
            <a:ext cx="1660200" cy="649085"/>
            <a:chOff x="6129875" y="1789796"/>
            <a:chExt cx="1660200" cy="649085"/>
          </a:xfrm>
        </p:grpSpPr>
        <p:cxnSp>
          <p:nvCxnSpPr>
            <p:cNvPr id="715" name="Google Shape;715;p57"/>
            <p:cNvCxnSpPr/>
            <p:nvPr/>
          </p:nvCxnSpPr>
          <p:spPr>
            <a:xfrm>
              <a:off x="6143701" y="2121781"/>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16" name="Google Shape;716;p57"/>
            <p:cNvSpPr txBox="1"/>
            <p:nvPr/>
          </p:nvSpPr>
          <p:spPr>
            <a:xfrm flipH="1" rot="650908">
              <a:off x="6145469" y="1940396"/>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Calibri"/>
                  <a:ea typeface="Calibri"/>
                  <a:cs typeface="Calibri"/>
                  <a:sym typeface="Calibri"/>
                </a:rPr>
                <a:t>SNonce</a:t>
              </a:r>
              <a:endParaRPr>
                <a:solidFill>
                  <a:srgbClr val="FF0000"/>
                </a:solidFill>
                <a:latin typeface="Calibri"/>
                <a:ea typeface="Calibri"/>
                <a:cs typeface="Calibri"/>
                <a:sym typeface="Calibri"/>
              </a:endParaRPr>
            </a:p>
          </p:txBody>
        </p:sp>
      </p:grpSp>
      <p:grpSp>
        <p:nvGrpSpPr>
          <p:cNvPr id="717" name="Google Shape;717;p57"/>
          <p:cNvGrpSpPr/>
          <p:nvPr/>
        </p:nvGrpSpPr>
        <p:grpSpPr>
          <a:xfrm>
            <a:off x="5417325" y="2519650"/>
            <a:ext cx="1338900" cy="765300"/>
            <a:chOff x="5417325" y="2519650"/>
            <a:chExt cx="1338900" cy="765300"/>
          </a:xfrm>
        </p:grpSpPr>
        <p:sp>
          <p:nvSpPr>
            <p:cNvPr id="718" name="Google Shape;718;p57"/>
            <p:cNvSpPr/>
            <p:nvPr/>
          </p:nvSpPr>
          <p:spPr>
            <a:xfrm>
              <a:off x="6018712" y="2519650"/>
              <a:ext cx="136200" cy="765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19" name="Google Shape;719;p57"/>
            <p:cNvSpPr/>
            <p:nvPr/>
          </p:nvSpPr>
          <p:spPr>
            <a:xfrm>
              <a:off x="5417325" y="2584496"/>
              <a:ext cx="1338900" cy="6339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9900FF"/>
                  </a:solidFill>
                  <a:latin typeface="Calibri"/>
                  <a:ea typeface="Calibri"/>
                  <a:cs typeface="Calibri"/>
                  <a:sym typeface="Calibri"/>
                </a:rPr>
                <a:t>PTK</a:t>
              </a:r>
              <a:r>
                <a:rPr lang="en" sz="1200">
                  <a:latin typeface="Calibri"/>
                  <a:ea typeface="Calibri"/>
                  <a:cs typeface="Calibri"/>
                  <a:sym typeface="Calibri"/>
                </a:rPr>
                <a:t> from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a:t>
              </a:r>
              <a:r>
                <a:rPr lang="en" sz="1200">
                  <a:solidFill>
                    <a:srgbClr val="FF0000"/>
                  </a:solidFill>
                  <a:latin typeface="Calibri"/>
                  <a:ea typeface="Calibri"/>
                  <a:cs typeface="Calibri"/>
                  <a:sym typeface="Calibri"/>
                </a:rPr>
                <a:t>nonces</a:t>
              </a:r>
              <a:r>
                <a:rPr lang="en" sz="1200">
                  <a:latin typeface="Calibri"/>
                  <a:ea typeface="Calibri"/>
                  <a:cs typeface="Calibri"/>
                  <a:sym typeface="Calibri"/>
                </a:rPr>
                <a:t>, MAC addresses</a:t>
              </a:r>
              <a:endParaRPr sz="1200">
                <a:latin typeface="Calibri"/>
                <a:ea typeface="Calibri"/>
                <a:cs typeface="Calibri"/>
                <a:sym typeface="Calibri"/>
              </a:endParaRPr>
            </a:p>
          </p:txBody>
        </p:sp>
      </p:grpSp>
      <p:grpSp>
        <p:nvGrpSpPr>
          <p:cNvPr id="720" name="Google Shape;720;p57"/>
          <p:cNvGrpSpPr/>
          <p:nvPr/>
        </p:nvGrpSpPr>
        <p:grpSpPr>
          <a:xfrm>
            <a:off x="7163944" y="2519650"/>
            <a:ext cx="1338900" cy="765300"/>
            <a:chOff x="7163944" y="2519650"/>
            <a:chExt cx="1338900" cy="765300"/>
          </a:xfrm>
        </p:grpSpPr>
        <p:sp>
          <p:nvSpPr>
            <p:cNvPr id="721" name="Google Shape;721;p57"/>
            <p:cNvSpPr/>
            <p:nvPr/>
          </p:nvSpPr>
          <p:spPr>
            <a:xfrm>
              <a:off x="7765331" y="2519650"/>
              <a:ext cx="136200" cy="765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22" name="Google Shape;722;p57"/>
            <p:cNvSpPr/>
            <p:nvPr/>
          </p:nvSpPr>
          <p:spPr>
            <a:xfrm>
              <a:off x="7163944" y="2584496"/>
              <a:ext cx="1338900" cy="6339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latin typeface="Calibri"/>
                  <a:ea typeface="Calibri"/>
                  <a:cs typeface="Calibri"/>
                  <a:sym typeface="Calibri"/>
                </a:rPr>
                <a:t>Derive </a:t>
              </a:r>
              <a:r>
                <a:rPr lang="en" sz="1200">
                  <a:solidFill>
                    <a:srgbClr val="9900FF"/>
                  </a:solidFill>
                  <a:latin typeface="Calibri"/>
                  <a:ea typeface="Calibri"/>
                  <a:cs typeface="Calibri"/>
                  <a:sym typeface="Calibri"/>
                </a:rPr>
                <a:t>PTK</a:t>
              </a:r>
              <a:r>
                <a:rPr lang="en" sz="1200">
                  <a:solidFill>
                    <a:srgbClr val="000000"/>
                  </a:solidFill>
                  <a:latin typeface="Calibri"/>
                  <a:ea typeface="Calibri"/>
                  <a:cs typeface="Calibri"/>
                  <a:sym typeface="Calibri"/>
                </a:rPr>
                <a:t> from </a:t>
              </a:r>
              <a:r>
                <a:rPr lang="en" sz="1200">
                  <a:solidFill>
                    <a:srgbClr val="0000FF"/>
                  </a:solidFill>
                  <a:latin typeface="Calibri"/>
                  <a:ea typeface="Calibri"/>
                  <a:cs typeface="Calibri"/>
                  <a:sym typeface="Calibri"/>
                </a:rPr>
                <a:t>PSK</a:t>
              </a:r>
              <a:r>
                <a:rPr lang="en" sz="1200">
                  <a:solidFill>
                    <a:srgbClr val="000000"/>
                  </a:solidFill>
                  <a:latin typeface="Calibri"/>
                  <a:ea typeface="Calibri"/>
                  <a:cs typeface="Calibri"/>
                  <a:sym typeface="Calibri"/>
                </a:rPr>
                <a:t>, </a:t>
              </a:r>
              <a:r>
                <a:rPr lang="en" sz="1200">
                  <a:solidFill>
                    <a:srgbClr val="FF0000"/>
                  </a:solidFill>
                  <a:latin typeface="Calibri"/>
                  <a:ea typeface="Calibri"/>
                  <a:cs typeface="Calibri"/>
                  <a:sym typeface="Calibri"/>
                </a:rPr>
                <a:t>nonces</a:t>
              </a:r>
              <a:r>
                <a:rPr lang="en" sz="1200">
                  <a:solidFill>
                    <a:srgbClr val="000000"/>
                  </a:solidFill>
                  <a:latin typeface="Calibri"/>
                  <a:ea typeface="Calibri"/>
                  <a:cs typeface="Calibri"/>
                  <a:sym typeface="Calibri"/>
                </a:rPr>
                <a:t>, MAC addresses</a:t>
              </a:r>
              <a:endParaRPr sz="1200">
                <a:latin typeface="Calibri"/>
                <a:ea typeface="Calibri"/>
                <a:cs typeface="Calibri"/>
                <a:sym typeface="Calibri"/>
              </a:endParaRPr>
            </a:p>
          </p:txBody>
        </p:sp>
      </p:grpSp>
      <p:grpSp>
        <p:nvGrpSpPr>
          <p:cNvPr id="723" name="Google Shape;723;p57"/>
          <p:cNvGrpSpPr/>
          <p:nvPr/>
        </p:nvGrpSpPr>
        <p:grpSpPr>
          <a:xfrm>
            <a:off x="6123745" y="3067101"/>
            <a:ext cx="1666351" cy="640500"/>
            <a:chOff x="6123745" y="3067101"/>
            <a:chExt cx="1666351" cy="640500"/>
          </a:xfrm>
        </p:grpSpPr>
        <p:cxnSp>
          <p:nvCxnSpPr>
            <p:cNvPr id="724" name="Google Shape;724;p57"/>
            <p:cNvCxnSpPr/>
            <p:nvPr/>
          </p:nvCxnSpPr>
          <p:spPr>
            <a:xfrm flipH="1">
              <a:off x="6123745" y="3381699"/>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25" name="Google Shape;725;p57"/>
            <p:cNvSpPr txBox="1"/>
            <p:nvPr/>
          </p:nvSpPr>
          <p:spPr>
            <a:xfrm rot="-650908">
              <a:off x="6145490" y="3217701"/>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a:t>
              </a:r>
              <a:endParaRPr>
                <a:latin typeface="Calibri"/>
                <a:ea typeface="Calibri"/>
                <a:cs typeface="Calibri"/>
                <a:sym typeface="Calibri"/>
              </a:endParaRPr>
            </a:p>
          </p:txBody>
        </p:sp>
      </p:grpSp>
      <p:grpSp>
        <p:nvGrpSpPr>
          <p:cNvPr id="726" name="Google Shape;726;p57"/>
          <p:cNvGrpSpPr/>
          <p:nvPr/>
        </p:nvGrpSpPr>
        <p:grpSpPr>
          <a:xfrm>
            <a:off x="6129875" y="3490132"/>
            <a:ext cx="1660200" cy="640500"/>
            <a:chOff x="6129875" y="3490132"/>
            <a:chExt cx="1660200" cy="640500"/>
          </a:xfrm>
        </p:grpSpPr>
        <p:cxnSp>
          <p:nvCxnSpPr>
            <p:cNvPr id="727" name="Google Shape;727;p57"/>
            <p:cNvCxnSpPr/>
            <p:nvPr/>
          </p:nvCxnSpPr>
          <p:spPr>
            <a:xfrm>
              <a:off x="6143701" y="3779567"/>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28" name="Google Shape;728;p57"/>
            <p:cNvSpPr txBox="1"/>
            <p:nvPr/>
          </p:nvSpPr>
          <p:spPr>
            <a:xfrm flipH="1" rot="650908">
              <a:off x="6145469" y="3640732"/>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a:t>
              </a:r>
              <a:endParaRPr>
                <a:latin typeface="Calibri"/>
                <a:ea typeface="Calibri"/>
                <a:cs typeface="Calibri"/>
                <a:sym typeface="Calibri"/>
              </a:endParaRPr>
            </a:p>
          </p:txBody>
        </p:sp>
      </p:grpSp>
      <p:grpSp>
        <p:nvGrpSpPr>
          <p:cNvPr id="729" name="Google Shape;729;p57"/>
          <p:cNvGrpSpPr/>
          <p:nvPr/>
        </p:nvGrpSpPr>
        <p:grpSpPr>
          <a:xfrm>
            <a:off x="6123745" y="3887120"/>
            <a:ext cx="1666339" cy="640500"/>
            <a:chOff x="6123745" y="3887120"/>
            <a:chExt cx="1666339" cy="640500"/>
          </a:xfrm>
        </p:grpSpPr>
        <p:cxnSp>
          <p:nvCxnSpPr>
            <p:cNvPr id="730" name="Google Shape;730;p57"/>
            <p:cNvCxnSpPr/>
            <p:nvPr/>
          </p:nvCxnSpPr>
          <p:spPr>
            <a:xfrm flipH="1">
              <a:off x="6123745" y="4210518"/>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31" name="Google Shape;731;p57"/>
            <p:cNvSpPr txBox="1"/>
            <p:nvPr/>
          </p:nvSpPr>
          <p:spPr>
            <a:xfrm rot="-650908">
              <a:off x="6145477" y="4037720"/>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8761D"/>
                  </a:solidFill>
                  <a:latin typeface="Calibri"/>
                  <a:ea typeface="Calibri"/>
                  <a:cs typeface="Calibri"/>
                  <a:sym typeface="Calibri"/>
                </a:rPr>
                <a:t>GTK</a:t>
              </a:r>
              <a:endParaRPr>
                <a:solidFill>
                  <a:srgbClr val="38761D"/>
                </a:solidFill>
                <a:latin typeface="Calibri"/>
                <a:ea typeface="Calibri"/>
                <a:cs typeface="Calibri"/>
                <a:sym typeface="Calibri"/>
              </a:endParaRPr>
            </a:p>
          </p:txBody>
        </p:sp>
      </p:grpSp>
      <p:grpSp>
        <p:nvGrpSpPr>
          <p:cNvPr id="732" name="Google Shape;732;p57"/>
          <p:cNvGrpSpPr/>
          <p:nvPr/>
        </p:nvGrpSpPr>
        <p:grpSpPr>
          <a:xfrm>
            <a:off x="6129875" y="4284964"/>
            <a:ext cx="1660200" cy="640522"/>
            <a:chOff x="6129875" y="4284964"/>
            <a:chExt cx="1660200" cy="640522"/>
          </a:xfrm>
        </p:grpSpPr>
        <p:cxnSp>
          <p:nvCxnSpPr>
            <p:cNvPr id="733" name="Google Shape;733;p57"/>
            <p:cNvCxnSpPr/>
            <p:nvPr/>
          </p:nvCxnSpPr>
          <p:spPr>
            <a:xfrm>
              <a:off x="6143701" y="4608386"/>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34" name="Google Shape;734;p57"/>
            <p:cNvSpPr txBox="1"/>
            <p:nvPr/>
          </p:nvSpPr>
          <p:spPr>
            <a:xfrm flipH="1" rot="650908">
              <a:off x="6145469" y="4435563"/>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ACK</a:t>
              </a:r>
              <a:endParaRPr>
                <a:latin typeface="Calibri"/>
                <a:ea typeface="Calibri"/>
                <a:cs typeface="Calibri"/>
                <a:sym typeface="Calibri"/>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58"/>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No forward secrecy</a:t>
            </a:r>
            <a:r>
              <a:rPr lang="en"/>
              <a:t>: An eavesdropper who records the values of </a:t>
            </a:r>
            <a:r>
              <a:rPr i="1" lang="en">
                <a:solidFill>
                  <a:srgbClr val="FF0000"/>
                </a:solidFill>
              </a:rPr>
              <a:t>ANonce</a:t>
            </a:r>
            <a:r>
              <a:rPr lang="en"/>
              <a:t> and </a:t>
            </a:r>
            <a:r>
              <a:rPr i="1" lang="en">
                <a:solidFill>
                  <a:srgbClr val="FF0000"/>
                </a:solidFill>
              </a:rPr>
              <a:t>SNonce</a:t>
            </a:r>
            <a:r>
              <a:rPr lang="en"/>
              <a:t> can derive the key if they later learn the password or </a:t>
            </a:r>
            <a:r>
              <a:rPr i="1" lang="en">
                <a:solidFill>
                  <a:srgbClr val="0000FF"/>
                </a:solidFill>
              </a:rPr>
              <a:t>PSK</a:t>
            </a:r>
            <a:endParaRPr i="1">
              <a:solidFill>
                <a:srgbClr val="0000FF"/>
              </a:solidFill>
            </a:endParaRPr>
          </a:p>
          <a:p>
            <a:pPr indent="-317500" lvl="1" marL="914400" rtl="0" algn="l">
              <a:spcBef>
                <a:spcPts val="0"/>
              </a:spcBef>
              <a:spcAft>
                <a:spcPts val="0"/>
              </a:spcAft>
              <a:buSzPts val="1400"/>
              <a:buChar char="○"/>
            </a:pPr>
            <a:r>
              <a:rPr lang="en"/>
              <a:t>Compare to Diffie-Hellman: An eavesdropper can’t learn the key even if the record </a:t>
            </a:r>
            <a:r>
              <a:rPr i="1" lang="en"/>
              <a:t>g</a:t>
            </a:r>
            <a:r>
              <a:rPr baseline="30000" i="1" lang="en"/>
              <a:t>a</a:t>
            </a:r>
            <a:r>
              <a:rPr lang="en"/>
              <a:t> and </a:t>
            </a:r>
            <a:r>
              <a:rPr i="1" lang="en"/>
              <a:t>g</a:t>
            </a:r>
            <a:r>
              <a:rPr baseline="30000" i="1" lang="en"/>
              <a:t>b</a:t>
            </a:r>
            <a:r>
              <a:rPr lang="en"/>
              <a:t> and later compromise Alice’s computer</a:t>
            </a:r>
            <a:endParaRPr/>
          </a:p>
        </p:txBody>
      </p:sp>
      <p:sp>
        <p:nvSpPr>
          <p:cNvPr id="740" name="Google Shape;740;p5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WPA-PSK Attacks</a:t>
            </a:r>
            <a:endParaRPr/>
          </a:p>
        </p:txBody>
      </p:sp>
      <p:sp>
        <p:nvSpPr>
          <p:cNvPr id="741" name="Google Shape;741;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42" name="Google Shape;742;p58"/>
          <p:cNvSpPr/>
          <p:nvPr/>
        </p:nvSpPr>
        <p:spPr>
          <a:xfrm>
            <a:off x="5376075" y="943900"/>
            <a:ext cx="3768000" cy="23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3" name="Google Shape;743;p58"/>
          <p:cNvCxnSpPr/>
          <p:nvPr/>
        </p:nvCxnSpPr>
        <p:spPr>
          <a:xfrm>
            <a:off x="6086671" y="499543"/>
            <a:ext cx="0" cy="4537800"/>
          </a:xfrm>
          <a:prstGeom prst="straightConnector1">
            <a:avLst/>
          </a:prstGeom>
          <a:noFill/>
          <a:ln cap="flat" cmpd="sng" w="19050">
            <a:solidFill>
              <a:srgbClr val="000000"/>
            </a:solidFill>
            <a:prstDash val="solid"/>
            <a:round/>
            <a:headEnd len="med" w="med" type="none"/>
            <a:tailEnd len="med" w="med" type="none"/>
          </a:ln>
        </p:spPr>
      </p:cxnSp>
      <p:sp>
        <p:nvSpPr>
          <p:cNvPr id="744" name="Google Shape;744;p58"/>
          <p:cNvSpPr/>
          <p:nvPr/>
        </p:nvSpPr>
        <p:spPr>
          <a:xfrm>
            <a:off x="5587794" y="94800"/>
            <a:ext cx="998100" cy="3516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Client</a:t>
            </a:r>
            <a:endParaRPr sz="1200">
              <a:latin typeface="Calibri"/>
              <a:ea typeface="Calibri"/>
              <a:cs typeface="Calibri"/>
              <a:sym typeface="Calibri"/>
            </a:endParaRPr>
          </a:p>
        </p:txBody>
      </p:sp>
      <p:sp>
        <p:nvSpPr>
          <p:cNvPr id="745" name="Google Shape;745;p58"/>
          <p:cNvSpPr/>
          <p:nvPr/>
        </p:nvSpPr>
        <p:spPr>
          <a:xfrm>
            <a:off x="7334413" y="94800"/>
            <a:ext cx="998100" cy="3516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Access Point</a:t>
            </a:r>
            <a:endParaRPr sz="1200">
              <a:latin typeface="Calibri"/>
              <a:ea typeface="Calibri"/>
              <a:cs typeface="Calibri"/>
              <a:sym typeface="Calibri"/>
            </a:endParaRPr>
          </a:p>
        </p:txBody>
      </p:sp>
      <p:cxnSp>
        <p:nvCxnSpPr>
          <p:cNvPr id="746" name="Google Shape;746;p58"/>
          <p:cNvCxnSpPr/>
          <p:nvPr/>
        </p:nvCxnSpPr>
        <p:spPr>
          <a:xfrm>
            <a:off x="7833291" y="499543"/>
            <a:ext cx="0" cy="4537800"/>
          </a:xfrm>
          <a:prstGeom prst="straightConnector1">
            <a:avLst/>
          </a:prstGeom>
          <a:noFill/>
          <a:ln cap="flat" cmpd="sng" w="19050">
            <a:solidFill>
              <a:srgbClr val="000000"/>
            </a:solidFill>
            <a:prstDash val="solid"/>
            <a:round/>
            <a:headEnd len="med" w="med" type="none"/>
            <a:tailEnd len="med" w="med" type="none"/>
          </a:ln>
        </p:spPr>
      </p:cxnSp>
      <p:grpSp>
        <p:nvGrpSpPr>
          <p:cNvPr id="747" name="Google Shape;747;p58"/>
          <p:cNvGrpSpPr/>
          <p:nvPr/>
        </p:nvGrpSpPr>
        <p:grpSpPr>
          <a:xfrm>
            <a:off x="5417329" y="1056610"/>
            <a:ext cx="1338699" cy="578970"/>
            <a:chOff x="886575" y="1072025"/>
            <a:chExt cx="1586700" cy="555900"/>
          </a:xfrm>
        </p:grpSpPr>
        <p:sp>
          <p:nvSpPr>
            <p:cNvPr id="748" name="Google Shape;748;p58"/>
            <p:cNvSpPr/>
            <p:nvPr/>
          </p:nvSpPr>
          <p:spPr>
            <a:xfrm>
              <a:off x="1599375" y="1072025"/>
              <a:ext cx="161100" cy="555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49" name="Google Shape;749;p58"/>
            <p:cNvSpPr/>
            <p:nvPr/>
          </p:nvSpPr>
          <p:spPr>
            <a:xfrm>
              <a:off x="886575" y="1148225"/>
              <a:ext cx="1586700" cy="403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from wifi password</a:t>
              </a:r>
              <a:endParaRPr sz="1200">
                <a:latin typeface="Calibri"/>
                <a:ea typeface="Calibri"/>
                <a:cs typeface="Calibri"/>
                <a:sym typeface="Calibri"/>
              </a:endParaRPr>
            </a:p>
          </p:txBody>
        </p:sp>
      </p:grpSp>
      <p:grpSp>
        <p:nvGrpSpPr>
          <p:cNvPr id="750" name="Google Shape;750;p58"/>
          <p:cNvGrpSpPr/>
          <p:nvPr/>
        </p:nvGrpSpPr>
        <p:grpSpPr>
          <a:xfrm>
            <a:off x="7163948" y="1056610"/>
            <a:ext cx="1338699" cy="578970"/>
            <a:chOff x="886575" y="1072025"/>
            <a:chExt cx="1586700" cy="555900"/>
          </a:xfrm>
        </p:grpSpPr>
        <p:sp>
          <p:nvSpPr>
            <p:cNvPr id="751" name="Google Shape;751;p58"/>
            <p:cNvSpPr/>
            <p:nvPr/>
          </p:nvSpPr>
          <p:spPr>
            <a:xfrm>
              <a:off x="1599375" y="1072025"/>
              <a:ext cx="161100" cy="555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52" name="Google Shape;752;p58"/>
            <p:cNvSpPr/>
            <p:nvPr/>
          </p:nvSpPr>
          <p:spPr>
            <a:xfrm>
              <a:off x="886575" y="1148225"/>
              <a:ext cx="1586700" cy="403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from wifi password</a:t>
              </a:r>
              <a:endParaRPr sz="1200">
                <a:latin typeface="Calibri"/>
                <a:ea typeface="Calibri"/>
                <a:cs typeface="Calibri"/>
                <a:sym typeface="Calibri"/>
              </a:endParaRPr>
            </a:p>
          </p:txBody>
        </p:sp>
      </p:grpSp>
      <p:grpSp>
        <p:nvGrpSpPr>
          <p:cNvPr id="753" name="Google Shape;753;p58"/>
          <p:cNvGrpSpPr/>
          <p:nvPr/>
        </p:nvGrpSpPr>
        <p:grpSpPr>
          <a:xfrm>
            <a:off x="6097225" y="399750"/>
            <a:ext cx="1725300" cy="668400"/>
            <a:chOff x="6097225" y="399750"/>
            <a:chExt cx="1725300" cy="668400"/>
          </a:xfrm>
        </p:grpSpPr>
        <p:cxnSp>
          <p:nvCxnSpPr>
            <p:cNvPr id="754" name="Google Shape;754;p58"/>
            <p:cNvCxnSpPr/>
            <p:nvPr/>
          </p:nvCxnSpPr>
          <p:spPr>
            <a:xfrm>
              <a:off x="6136492" y="672980"/>
              <a:ext cx="1660800" cy="339600"/>
            </a:xfrm>
            <a:prstGeom prst="straightConnector1">
              <a:avLst/>
            </a:prstGeom>
            <a:noFill/>
            <a:ln cap="flat" cmpd="sng" w="19050">
              <a:solidFill>
                <a:srgbClr val="000000"/>
              </a:solidFill>
              <a:prstDash val="solid"/>
              <a:round/>
              <a:headEnd len="med" w="med" type="none"/>
              <a:tailEnd len="med" w="med" type="triangle"/>
            </a:ln>
          </p:spPr>
        </p:cxnSp>
        <p:sp>
          <p:nvSpPr>
            <p:cNvPr id="755" name="Google Shape;755;p58"/>
            <p:cNvSpPr txBox="1"/>
            <p:nvPr/>
          </p:nvSpPr>
          <p:spPr>
            <a:xfrm rot="684440">
              <a:off x="6111976" y="564497"/>
              <a:ext cx="1695799" cy="33890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alibri"/>
                  <a:ea typeface="Calibri"/>
                  <a:cs typeface="Calibri"/>
                  <a:sym typeface="Calibri"/>
                </a:rPr>
                <a:t>Authentication Request</a:t>
              </a:r>
              <a:endParaRPr sz="1200">
                <a:latin typeface="Calibri"/>
                <a:ea typeface="Calibri"/>
                <a:cs typeface="Calibri"/>
                <a:sym typeface="Calibri"/>
              </a:endParaRPr>
            </a:p>
          </p:txBody>
        </p:sp>
      </p:grpSp>
      <p:grpSp>
        <p:nvGrpSpPr>
          <p:cNvPr id="756" name="Google Shape;756;p58"/>
          <p:cNvGrpSpPr/>
          <p:nvPr/>
        </p:nvGrpSpPr>
        <p:grpSpPr>
          <a:xfrm>
            <a:off x="6123745" y="1375140"/>
            <a:ext cx="1666489" cy="665872"/>
            <a:chOff x="6123745" y="1375140"/>
            <a:chExt cx="1666489" cy="665872"/>
          </a:xfrm>
        </p:grpSpPr>
        <p:cxnSp>
          <p:nvCxnSpPr>
            <p:cNvPr id="757" name="Google Shape;757;p58"/>
            <p:cNvCxnSpPr/>
            <p:nvPr/>
          </p:nvCxnSpPr>
          <p:spPr>
            <a:xfrm flipH="1">
              <a:off x="6123745" y="1723912"/>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58" name="Google Shape;758;p58"/>
            <p:cNvSpPr txBox="1"/>
            <p:nvPr/>
          </p:nvSpPr>
          <p:spPr>
            <a:xfrm rot="-650908">
              <a:off x="6145627" y="1525739"/>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Calibri"/>
                  <a:ea typeface="Calibri"/>
                  <a:cs typeface="Calibri"/>
                  <a:sym typeface="Calibri"/>
                </a:rPr>
                <a:t>ANonce</a:t>
              </a:r>
              <a:endParaRPr>
                <a:solidFill>
                  <a:srgbClr val="FF0000"/>
                </a:solidFill>
                <a:latin typeface="Calibri"/>
                <a:ea typeface="Calibri"/>
                <a:cs typeface="Calibri"/>
                <a:sym typeface="Calibri"/>
              </a:endParaRPr>
            </a:p>
          </p:txBody>
        </p:sp>
      </p:grpSp>
      <p:grpSp>
        <p:nvGrpSpPr>
          <p:cNvPr id="759" name="Google Shape;759;p58"/>
          <p:cNvGrpSpPr/>
          <p:nvPr/>
        </p:nvGrpSpPr>
        <p:grpSpPr>
          <a:xfrm>
            <a:off x="6129875" y="1789796"/>
            <a:ext cx="1660200" cy="649085"/>
            <a:chOff x="6129875" y="1789796"/>
            <a:chExt cx="1660200" cy="649085"/>
          </a:xfrm>
        </p:grpSpPr>
        <p:cxnSp>
          <p:nvCxnSpPr>
            <p:cNvPr id="760" name="Google Shape;760;p58"/>
            <p:cNvCxnSpPr/>
            <p:nvPr/>
          </p:nvCxnSpPr>
          <p:spPr>
            <a:xfrm>
              <a:off x="6143701" y="2121781"/>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61" name="Google Shape;761;p58"/>
            <p:cNvSpPr txBox="1"/>
            <p:nvPr/>
          </p:nvSpPr>
          <p:spPr>
            <a:xfrm flipH="1" rot="650908">
              <a:off x="6145469" y="1940396"/>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Calibri"/>
                  <a:ea typeface="Calibri"/>
                  <a:cs typeface="Calibri"/>
                  <a:sym typeface="Calibri"/>
                </a:rPr>
                <a:t>SNonce</a:t>
              </a:r>
              <a:endParaRPr>
                <a:solidFill>
                  <a:srgbClr val="FF0000"/>
                </a:solidFill>
                <a:latin typeface="Calibri"/>
                <a:ea typeface="Calibri"/>
                <a:cs typeface="Calibri"/>
                <a:sym typeface="Calibri"/>
              </a:endParaRPr>
            </a:p>
          </p:txBody>
        </p:sp>
      </p:grpSp>
      <p:grpSp>
        <p:nvGrpSpPr>
          <p:cNvPr id="762" name="Google Shape;762;p58"/>
          <p:cNvGrpSpPr/>
          <p:nvPr/>
        </p:nvGrpSpPr>
        <p:grpSpPr>
          <a:xfrm>
            <a:off x="5417325" y="2519650"/>
            <a:ext cx="1338900" cy="765300"/>
            <a:chOff x="5417325" y="2519650"/>
            <a:chExt cx="1338900" cy="765300"/>
          </a:xfrm>
        </p:grpSpPr>
        <p:sp>
          <p:nvSpPr>
            <p:cNvPr id="763" name="Google Shape;763;p58"/>
            <p:cNvSpPr/>
            <p:nvPr/>
          </p:nvSpPr>
          <p:spPr>
            <a:xfrm>
              <a:off x="6018712" y="2519650"/>
              <a:ext cx="136200" cy="765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4" name="Google Shape;764;p58"/>
            <p:cNvSpPr/>
            <p:nvPr/>
          </p:nvSpPr>
          <p:spPr>
            <a:xfrm>
              <a:off x="5417325" y="2584496"/>
              <a:ext cx="1338900" cy="6339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Calibri"/>
                  <a:ea typeface="Calibri"/>
                  <a:cs typeface="Calibri"/>
                  <a:sym typeface="Calibri"/>
                </a:rPr>
                <a:t>Derive </a:t>
              </a:r>
              <a:r>
                <a:rPr lang="en" sz="1200">
                  <a:solidFill>
                    <a:srgbClr val="9900FF"/>
                  </a:solidFill>
                  <a:latin typeface="Calibri"/>
                  <a:ea typeface="Calibri"/>
                  <a:cs typeface="Calibri"/>
                  <a:sym typeface="Calibri"/>
                </a:rPr>
                <a:t>PTK</a:t>
              </a:r>
              <a:r>
                <a:rPr lang="en" sz="1200">
                  <a:latin typeface="Calibri"/>
                  <a:ea typeface="Calibri"/>
                  <a:cs typeface="Calibri"/>
                  <a:sym typeface="Calibri"/>
                </a:rPr>
                <a:t> from </a:t>
              </a:r>
              <a:r>
                <a:rPr lang="en" sz="1200">
                  <a:solidFill>
                    <a:srgbClr val="0000FF"/>
                  </a:solidFill>
                  <a:latin typeface="Calibri"/>
                  <a:ea typeface="Calibri"/>
                  <a:cs typeface="Calibri"/>
                  <a:sym typeface="Calibri"/>
                </a:rPr>
                <a:t>PSK</a:t>
              </a:r>
              <a:r>
                <a:rPr lang="en" sz="1200">
                  <a:latin typeface="Calibri"/>
                  <a:ea typeface="Calibri"/>
                  <a:cs typeface="Calibri"/>
                  <a:sym typeface="Calibri"/>
                </a:rPr>
                <a:t>, </a:t>
              </a:r>
              <a:r>
                <a:rPr lang="en" sz="1200">
                  <a:solidFill>
                    <a:srgbClr val="FF0000"/>
                  </a:solidFill>
                  <a:latin typeface="Calibri"/>
                  <a:ea typeface="Calibri"/>
                  <a:cs typeface="Calibri"/>
                  <a:sym typeface="Calibri"/>
                </a:rPr>
                <a:t>nonces</a:t>
              </a:r>
              <a:r>
                <a:rPr lang="en" sz="1200">
                  <a:latin typeface="Calibri"/>
                  <a:ea typeface="Calibri"/>
                  <a:cs typeface="Calibri"/>
                  <a:sym typeface="Calibri"/>
                </a:rPr>
                <a:t>, MAC addresses</a:t>
              </a:r>
              <a:endParaRPr sz="1200">
                <a:latin typeface="Calibri"/>
                <a:ea typeface="Calibri"/>
                <a:cs typeface="Calibri"/>
                <a:sym typeface="Calibri"/>
              </a:endParaRPr>
            </a:p>
          </p:txBody>
        </p:sp>
      </p:grpSp>
      <p:grpSp>
        <p:nvGrpSpPr>
          <p:cNvPr id="765" name="Google Shape;765;p58"/>
          <p:cNvGrpSpPr/>
          <p:nvPr/>
        </p:nvGrpSpPr>
        <p:grpSpPr>
          <a:xfrm>
            <a:off x="7163944" y="2519650"/>
            <a:ext cx="1338900" cy="765300"/>
            <a:chOff x="7163944" y="2519650"/>
            <a:chExt cx="1338900" cy="765300"/>
          </a:xfrm>
        </p:grpSpPr>
        <p:sp>
          <p:nvSpPr>
            <p:cNvPr id="766" name="Google Shape;766;p58"/>
            <p:cNvSpPr/>
            <p:nvPr/>
          </p:nvSpPr>
          <p:spPr>
            <a:xfrm>
              <a:off x="7765331" y="2519650"/>
              <a:ext cx="136200" cy="7653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7" name="Google Shape;767;p58"/>
            <p:cNvSpPr/>
            <p:nvPr/>
          </p:nvSpPr>
          <p:spPr>
            <a:xfrm>
              <a:off x="7163944" y="2584496"/>
              <a:ext cx="1338900" cy="6339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latin typeface="Calibri"/>
                  <a:ea typeface="Calibri"/>
                  <a:cs typeface="Calibri"/>
                  <a:sym typeface="Calibri"/>
                </a:rPr>
                <a:t>Derive </a:t>
              </a:r>
              <a:r>
                <a:rPr lang="en" sz="1200">
                  <a:solidFill>
                    <a:srgbClr val="9900FF"/>
                  </a:solidFill>
                  <a:latin typeface="Calibri"/>
                  <a:ea typeface="Calibri"/>
                  <a:cs typeface="Calibri"/>
                  <a:sym typeface="Calibri"/>
                </a:rPr>
                <a:t>PTK</a:t>
              </a:r>
              <a:r>
                <a:rPr lang="en" sz="1200">
                  <a:solidFill>
                    <a:srgbClr val="000000"/>
                  </a:solidFill>
                  <a:latin typeface="Calibri"/>
                  <a:ea typeface="Calibri"/>
                  <a:cs typeface="Calibri"/>
                  <a:sym typeface="Calibri"/>
                </a:rPr>
                <a:t> from </a:t>
              </a:r>
              <a:r>
                <a:rPr lang="en" sz="1200">
                  <a:solidFill>
                    <a:srgbClr val="0000FF"/>
                  </a:solidFill>
                  <a:latin typeface="Calibri"/>
                  <a:ea typeface="Calibri"/>
                  <a:cs typeface="Calibri"/>
                  <a:sym typeface="Calibri"/>
                </a:rPr>
                <a:t>PSK</a:t>
              </a:r>
              <a:r>
                <a:rPr lang="en" sz="1200">
                  <a:solidFill>
                    <a:srgbClr val="000000"/>
                  </a:solidFill>
                  <a:latin typeface="Calibri"/>
                  <a:ea typeface="Calibri"/>
                  <a:cs typeface="Calibri"/>
                  <a:sym typeface="Calibri"/>
                </a:rPr>
                <a:t>, </a:t>
              </a:r>
              <a:r>
                <a:rPr lang="en" sz="1200">
                  <a:solidFill>
                    <a:srgbClr val="FF0000"/>
                  </a:solidFill>
                  <a:latin typeface="Calibri"/>
                  <a:ea typeface="Calibri"/>
                  <a:cs typeface="Calibri"/>
                  <a:sym typeface="Calibri"/>
                </a:rPr>
                <a:t>nonces</a:t>
              </a:r>
              <a:r>
                <a:rPr lang="en" sz="1200">
                  <a:solidFill>
                    <a:srgbClr val="000000"/>
                  </a:solidFill>
                  <a:latin typeface="Calibri"/>
                  <a:ea typeface="Calibri"/>
                  <a:cs typeface="Calibri"/>
                  <a:sym typeface="Calibri"/>
                </a:rPr>
                <a:t>, MAC addresses</a:t>
              </a:r>
              <a:endParaRPr sz="1200">
                <a:latin typeface="Calibri"/>
                <a:ea typeface="Calibri"/>
                <a:cs typeface="Calibri"/>
                <a:sym typeface="Calibri"/>
              </a:endParaRPr>
            </a:p>
          </p:txBody>
        </p:sp>
      </p:grpSp>
      <p:grpSp>
        <p:nvGrpSpPr>
          <p:cNvPr id="768" name="Google Shape;768;p58"/>
          <p:cNvGrpSpPr/>
          <p:nvPr/>
        </p:nvGrpSpPr>
        <p:grpSpPr>
          <a:xfrm>
            <a:off x="6123745" y="3067101"/>
            <a:ext cx="1666351" cy="640500"/>
            <a:chOff x="6123745" y="3067101"/>
            <a:chExt cx="1666351" cy="640500"/>
          </a:xfrm>
        </p:grpSpPr>
        <p:cxnSp>
          <p:nvCxnSpPr>
            <p:cNvPr id="769" name="Google Shape;769;p58"/>
            <p:cNvCxnSpPr/>
            <p:nvPr/>
          </p:nvCxnSpPr>
          <p:spPr>
            <a:xfrm flipH="1">
              <a:off x="6123745" y="3381699"/>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70" name="Google Shape;770;p58"/>
            <p:cNvSpPr txBox="1"/>
            <p:nvPr/>
          </p:nvSpPr>
          <p:spPr>
            <a:xfrm rot="-650908">
              <a:off x="6145490" y="3217701"/>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a:t>
              </a:r>
              <a:endParaRPr>
                <a:latin typeface="Calibri"/>
                <a:ea typeface="Calibri"/>
                <a:cs typeface="Calibri"/>
                <a:sym typeface="Calibri"/>
              </a:endParaRPr>
            </a:p>
          </p:txBody>
        </p:sp>
      </p:grpSp>
      <p:grpSp>
        <p:nvGrpSpPr>
          <p:cNvPr id="771" name="Google Shape;771;p58"/>
          <p:cNvGrpSpPr/>
          <p:nvPr/>
        </p:nvGrpSpPr>
        <p:grpSpPr>
          <a:xfrm>
            <a:off x="6129875" y="3490132"/>
            <a:ext cx="1660200" cy="640500"/>
            <a:chOff x="6129875" y="3490132"/>
            <a:chExt cx="1660200" cy="640500"/>
          </a:xfrm>
        </p:grpSpPr>
        <p:cxnSp>
          <p:nvCxnSpPr>
            <p:cNvPr id="772" name="Google Shape;772;p58"/>
            <p:cNvCxnSpPr/>
            <p:nvPr/>
          </p:nvCxnSpPr>
          <p:spPr>
            <a:xfrm>
              <a:off x="6143701" y="3779567"/>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73" name="Google Shape;773;p58"/>
            <p:cNvSpPr txBox="1"/>
            <p:nvPr/>
          </p:nvSpPr>
          <p:spPr>
            <a:xfrm flipH="1" rot="650908">
              <a:off x="6145469" y="3640732"/>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MAC</a:t>
              </a:r>
              <a:endParaRPr>
                <a:latin typeface="Calibri"/>
                <a:ea typeface="Calibri"/>
                <a:cs typeface="Calibri"/>
                <a:sym typeface="Calibri"/>
              </a:endParaRPr>
            </a:p>
          </p:txBody>
        </p:sp>
      </p:grpSp>
      <p:grpSp>
        <p:nvGrpSpPr>
          <p:cNvPr id="774" name="Google Shape;774;p58"/>
          <p:cNvGrpSpPr/>
          <p:nvPr/>
        </p:nvGrpSpPr>
        <p:grpSpPr>
          <a:xfrm>
            <a:off x="6123745" y="3887120"/>
            <a:ext cx="1666339" cy="640500"/>
            <a:chOff x="6123745" y="3887120"/>
            <a:chExt cx="1666339" cy="640500"/>
          </a:xfrm>
        </p:grpSpPr>
        <p:cxnSp>
          <p:nvCxnSpPr>
            <p:cNvPr id="775" name="Google Shape;775;p58"/>
            <p:cNvCxnSpPr/>
            <p:nvPr/>
          </p:nvCxnSpPr>
          <p:spPr>
            <a:xfrm flipH="1">
              <a:off x="6123745" y="4210518"/>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76" name="Google Shape;776;p58"/>
            <p:cNvSpPr txBox="1"/>
            <p:nvPr/>
          </p:nvSpPr>
          <p:spPr>
            <a:xfrm rot="-650908">
              <a:off x="6145477" y="4037720"/>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8761D"/>
                  </a:solidFill>
                  <a:latin typeface="Calibri"/>
                  <a:ea typeface="Calibri"/>
                  <a:cs typeface="Calibri"/>
                  <a:sym typeface="Calibri"/>
                </a:rPr>
                <a:t>GTK</a:t>
              </a:r>
              <a:endParaRPr>
                <a:solidFill>
                  <a:srgbClr val="38761D"/>
                </a:solidFill>
                <a:latin typeface="Calibri"/>
                <a:ea typeface="Calibri"/>
                <a:cs typeface="Calibri"/>
                <a:sym typeface="Calibri"/>
              </a:endParaRPr>
            </a:p>
          </p:txBody>
        </p:sp>
      </p:grpSp>
      <p:grpSp>
        <p:nvGrpSpPr>
          <p:cNvPr id="777" name="Google Shape;777;p58"/>
          <p:cNvGrpSpPr/>
          <p:nvPr/>
        </p:nvGrpSpPr>
        <p:grpSpPr>
          <a:xfrm>
            <a:off x="6129875" y="4284964"/>
            <a:ext cx="1660200" cy="640522"/>
            <a:chOff x="6129875" y="4284964"/>
            <a:chExt cx="1660200" cy="640522"/>
          </a:xfrm>
        </p:grpSpPr>
        <p:cxnSp>
          <p:nvCxnSpPr>
            <p:cNvPr id="778" name="Google Shape;778;p58"/>
            <p:cNvCxnSpPr/>
            <p:nvPr/>
          </p:nvCxnSpPr>
          <p:spPr>
            <a:xfrm>
              <a:off x="6143701" y="4608386"/>
              <a:ext cx="1646100" cy="317100"/>
            </a:xfrm>
            <a:prstGeom prst="straightConnector1">
              <a:avLst/>
            </a:prstGeom>
            <a:noFill/>
            <a:ln cap="flat" cmpd="sng" w="19050">
              <a:solidFill>
                <a:srgbClr val="000000"/>
              </a:solidFill>
              <a:prstDash val="solid"/>
              <a:round/>
              <a:headEnd len="med" w="med" type="none"/>
              <a:tailEnd len="med" w="med" type="triangle"/>
            </a:ln>
          </p:spPr>
        </p:cxnSp>
        <p:sp>
          <p:nvSpPr>
            <p:cNvPr id="779" name="Google Shape;779;p58"/>
            <p:cNvSpPr txBox="1"/>
            <p:nvPr/>
          </p:nvSpPr>
          <p:spPr>
            <a:xfrm flipH="1" rot="650908">
              <a:off x="6145469" y="4435563"/>
              <a:ext cx="1629013" cy="339301"/>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ACK</a:t>
              </a:r>
              <a:endParaRPr>
                <a:latin typeface="Calibri"/>
                <a:ea typeface="Calibri"/>
                <a:cs typeface="Calibri"/>
                <a:sym typeface="Calibri"/>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5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WPA-Enterprise</a:t>
            </a:r>
            <a:endParaRPr/>
          </a:p>
        </p:txBody>
      </p:sp>
      <p:sp>
        <p:nvSpPr>
          <p:cNvPr id="785" name="Google Shape;785;p5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Core issue: Every client starts with the same </a:t>
            </a:r>
            <a:r>
              <a:rPr i="1" lang="en">
                <a:solidFill>
                  <a:srgbClr val="0000FF"/>
                </a:solidFill>
              </a:rPr>
              <a:t>PSK</a:t>
            </a:r>
            <a:r>
              <a:rPr lang="en"/>
              <a:t> to derive the </a:t>
            </a:r>
            <a:r>
              <a:rPr i="1" lang="en">
                <a:solidFill>
                  <a:srgbClr val="9900FF"/>
                </a:solidFill>
              </a:rPr>
              <a:t>PTK</a:t>
            </a:r>
            <a:endParaRPr i="1">
              <a:solidFill>
                <a:srgbClr val="9900FF"/>
              </a:solidFill>
            </a:endParaRPr>
          </a:p>
          <a:p>
            <a:pPr indent="-317500" lvl="1" marL="914400" rtl="0" algn="l">
              <a:spcBef>
                <a:spcPts val="0"/>
              </a:spcBef>
              <a:spcAft>
                <a:spcPts val="0"/>
              </a:spcAft>
              <a:buSzPts val="1400"/>
              <a:buChar char="○"/>
            </a:pPr>
            <a:r>
              <a:rPr lang="en"/>
              <a:t>Fix: Have each user use their own username and password, instead</a:t>
            </a:r>
            <a:endParaRPr/>
          </a:p>
          <a:p>
            <a:pPr indent="-317500" lvl="2" marL="1371600" rtl="0" algn="l">
              <a:spcBef>
                <a:spcPts val="0"/>
              </a:spcBef>
              <a:spcAft>
                <a:spcPts val="0"/>
              </a:spcAft>
              <a:buSzPts val="1400"/>
              <a:buChar char="■"/>
            </a:pPr>
            <a:r>
              <a:rPr lang="en"/>
              <a:t>This is the model that AirBears2 and </a:t>
            </a:r>
            <a:r>
              <a:rPr lang="en"/>
              <a:t>eduroam</a:t>
            </a:r>
            <a:r>
              <a:rPr lang="en"/>
              <a:t> use!</a:t>
            </a:r>
            <a:endParaRPr/>
          </a:p>
          <a:p>
            <a:pPr indent="-342900" lvl="0" marL="457200" rtl="0" algn="l">
              <a:spcBef>
                <a:spcPts val="0"/>
              </a:spcBef>
              <a:spcAft>
                <a:spcPts val="0"/>
              </a:spcAft>
              <a:buSzPts val="1800"/>
              <a:buChar char="●"/>
            </a:pPr>
            <a:r>
              <a:rPr lang="en"/>
              <a:t>Instead of using a PSK</a:t>
            </a:r>
            <a:r>
              <a:rPr lang="en"/>
              <a:t>, use a key generated randomly by an authentication server</a:t>
            </a:r>
            <a:endParaRPr/>
          </a:p>
          <a:p>
            <a:pPr indent="-317500" lvl="1" marL="914400" rtl="0" algn="l">
              <a:spcBef>
                <a:spcPts val="0"/>
              </a:spcBef>
              <a:spcAft>
                <a:spcPts val="0"/>
              </a:spcAft>
              <a:buSzPts val="1400"/>
              <a:buChar char="○"/>
            </a:pPr>
            <a:r>
              <a:rPr lang="en"/>
              <a:t>For your client to trust the authentication server, you accept a digital certificate</a:t>
            </a:r>
            <a:endParaRPr/>
          </a:p>
          <a:p>
            <a:pPr indent="-317500" lvl="1" marL="914400" rtl="0" algn="l">
              <a:spcBef>
                <a:spcPts val="0"/>
              </a:spcBef>
              <a:spcAft>
                <a:spcPts val="0"/>
              </a:spcAft>
              <a:buSzPts val="1400"/>
              <a:buChar char="○"/>
            </a:pPr>
            <a:r>
              <a:rPr lang="en"/>
              <a:t>Form a secure channel to the authentication server, which lets you enter your username and password</a:t>
            </a:r>
            <a:endParaRPr/>
          </a:p>
          <a:p>
            <a:pPr indent="-317500" lvl="1" marL="914400" rtl="0" algn="l">
              <a:spcBef>
                <a:spcPts val="0"/>
              </a:spcBef>
              <a:spcAft>
                <a:spcPts val="0"/>
              </a:spcAft>
              <a:buSzPts val="1400"/>
              <a:buChar char="○"/>
            </a:pPr>
            <a:r>
              <a:rPr lang="en"/>
              <a:t>If the username and password are correct, the authentication server sends a one-time key to use instead of a PSK to both the client and the AP (also over a secure channel) </a:t>
            </a:r>
            <a:endParaRPr/>
          </a:p>
          <a:p>
            <a:pPr indent="-342900" lvl="0" marL="457200" rtl="0" algn="l">
              <a:spcBef>
                <a:spcPts val="0"/>
              </a:spcBef>
              <a:spcAft>
                <a:spcPts val="0"/>
              </a:spcAft>
              <a:buSzPts val="1800"/>
              <a:buChar char="●"/>
            </a:pPr>
            <a:r>
              <a:rPr lang="en"/>
              <a:t>The rest of the handshake proceeds normally</a:t>
            </a:r>
            <a:endParaRPr/>
          </a:p>
        </p:txBody>
      </p:sp>
      <p:sp>
        <p:nvSpPr>
          <p:cNvPr id="786" name="Google Shape;786;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WPA-Enterprise Attacks</a:t>
            </a:r>
            <a:endParaRPr/>
          </a:p>
        </p:txBody>
      </p:sp>
      <p:sp>
        <p:nvSpPr>
          <p:cNvPr id="792" name="Google Shape;792;p6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WPA Enterprise defends against the previous attacks</a:t>
            </a:r>
            <a:endParaRPr/>
          </a:p>
          <a:p>
            <a:pPr indent="-317500" lvl="1" marL="914400" rtl="0" algn="l">
              <a:spcBef>
                <a:spcPts val="0"/>
              </a:spcBef>
              <a:spcAft>
                <a:spcPts val="0"/>
              </a:spcAft>
              <a:buSzPts val="1400"/>
              <a:buChar char="○"/>
            </a:pPr>
            <a:r>
              <a:rPr b="1" lang="en"/>
              <a:t>Rogue AP attack</a:t>
            </a:r>
            <a:r>
              <a:rPr lang="en"/>
              <a:t>: The APs must authenticate themselves to the server, which the attacker can’t do</a:t>
            </a:r>
            <a:endParaRPr/>
          </a:p>
          <a:p>
            <a:pPr indent="-317500" lvl="1" marL="914400" rtl="0" algn="l">
              <a:spcBef>
                <a:spcPts val="0"/>
              </a:spcBef>
              <a:spcAft>
                <a:spcPts val="0"/>
              </a:spcAft>
              <a:buSzPts val="1400"/>
              <a:buChar char="○"/>
            </a:pPr>
            <a:r>
              <a:rPr b="1" lang="en"/>
              <a:t>Brute-force attack</a:t>
            </a:r>
            <a:r>
              <a:rPr lang="en"/>
              <a:t>: The generated PSK replacement is long and random, too long to brute-force</a:t>
            </a:r>
            <a:endParaRPr/>
          </a:p>
          <a:p>
            <a:pPr indent="-317500" lvl="1" marL="914400" rtl="0" algn="l">
              <a:spcBef>
                <a:spcPts val="0"/>
              </a:spcBef>
              <a:spcAft>
                <a:spcPts val="0"/>
              </a:spcAft>
              <a:buSzPts val="1400"/>
              <a:buChar char="○"/>
            </a:pPr>
            <a:r>
              <a:rPr b="1" lang="en"/>
              <a:t>No forward secrecy</a:t>
            </a:r>
            <a:r>
              <a:rPr lang="en"/>
              <a:t>: The generated </a:t>
            </a:r>
            <a:r>
              <a:rPr lang="en"/>
              <a:t>PSK replacement</a:t>
            </a:r>
            <a:r>
              <a:rPr lang="en"/>
              <a:t> is used once and then discarded, so no information is retained that allows the PTK to be recovered later</a:t>
            </a:r>
            <a:endParaRPr/>
          </a:p>
          <a:p>
            <a:pPr indent="-342900" lvl="0" marL="457200" rtl="0" algn="l">
              <a:spcBef>
                <a:spcPts val="0"/>
              </a:spcBef>
              <a:spcAft>
                <a:spcPts val="0"/>
              </a:spcAft>
              <a:buSzPts val="1800"/>
              <a:buChar char="●"/>
            </a:pPr>
            <a:r>
              <a:rPr lang="en"/>
              <a:t>However, it is still vulnerable to attacks such as ARP or DHCP spoofing</a:t>
            </a:r>
            <a:endParaRPr/>
          </a:p>
        </p:txBody>
      </p:sp>
      <p:sp>
        <p:nvSpPr>
          <p:cNvPr id="793" name="Google Shape;793;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799" name="Google Shape;799;p6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Classes of attackers:</a:t>
            </a:r>
            <a:endParaRPr/>
          </a:p>
          <a:p>
            <a:pPr indent="-317500" lvl="1" marL="914400" rtl="0" algn="l">
              <a:spcBef>
                <a:spcPts val="0"/>
              </a:spcBef>
              <a:spcAft>
                <a:spcPts val="0"/>
              </a:spcAft>
              <a:buSzPts val="1400"/>
              <a:buChar char="○"/>
            </a:pPr>
            <a:r>
              <a:rPr lang="en"/>
              <a:t>Off-path: Can’t see, modify, or drop packets</a:t>
            </a:r>
            <a:endParaRPr/>
          </a:p>
          <a:p>
            <a:pPr indent="-317500" lvl="1" marL="914400" rtl="0" algn="l">
              <a:spcBef>
                <a:spcPts val="0"/>
              </a:spcBef>
              <a:spcAft>
                <a:spcPts val="0"/>
              </a:spcAft>
              <a:buSzPts val="1400"/>
              <a:buChar char="○"/>
            </a:pPr>
            <a:r>
              <a:rPr lang="en"/>
              <a:t>On-path: Can see packets, but can’t modify or drop packets</a:t>
            </a:r>
            <a:endParaRPr/>
          </a:p>
          <a:p>
            <a:pPr indent="-317500" lvl="1" marL="914400" rtl="0" algn="l">
              <a:spcBef>
                <a:spcPts val="0"/>
              </a:spcBef>
              <a:spcAft>
                <a:spcPts val="0"/>
              </a:spcAft>
              <a:buSzPts val="1400"/>
              <a:buChar char="○"/>
            </a:pPr>
            <a:r>
              <a:rPr lang="en"/>
              <a:t>MITM: Can see, modify, and drop packets</a:t>
            </a:r>
            <a:endParaRPr/>
          </a:p>
          <a:p>
            <a:pPr indent="-342900" lvl="0" marL="457200" rtl="0" algn="l">
              <a:spcBef>
                <a:spcPts val="0"/>
              </a:spcBef>
              <a:spcAft>
                <a:spcPts val="0"/>
              </a:spcAft>
              <a:buSzPts val="1800"/>
              <a:buChar char="●"/>
            </a:pPr>
            <a:r>
              <a:rPr lang="en"/>
              <a:t>ARP: A protocol to translate local IP addresses to MAC addresses</a:t>
            </a:r>
            <a:endParaRPr/>
          </a:p>
          <a:p>
            <a:pPr indent="-317500" lvl="1" marL="914400" rtl="0" algn="l">
              <a:spcBef>
                <a:spcPts val="0"/>
              </a:spcBef>
              <a:spcAft>
                <a:spcPts val="0"/>
              </a:spcAft>
              <a:buSzPts val="1400"/>
              <a:buChar char="○"/>
            </a:pPr>
            <a:r>
              <a:rPr lang="en"/>
              <a:t>Ask everyone on the network, “Who has the IP 1.2.3.4?”</a:t>
            </a:r>
            <a:endParaRPr/>
          </a:p>
          <a:p>
            <a:pPr indent="-317500" lvl="1" marL="914400" rtl="0" algn="l">
              <a:spcBef>
                <a:spcPts val="0"/>
              </a:spcBef>
              <a:spcAft>
                <a:spcPts val="0"/>
              </a:spcAft>
              <a:buSzPts val="1400"/>
              <a:buChar char="○"/>
            </a:pPr>
            <a:r>
              <a:rPr lang="en"/>
              <a:t>Attack: The attacker can respond instead of the true device with 1.2.3.4, and packets will get routed to the attacker!</a:t>
            </a:r>
            <a:endParaRPr/>
          </a:p>
          <a:p>
            <a:pPr indent="-317500" lvl="1" marL="914400" rtl="0" algn="l">
              <a:spcBef>
                <a:spcPts val="0"/>
              </a:spcBef>
              <a:spcAft>
                <a:spcPts val="0"/>
              </a:spcAft>
              <a:buSzPts val="1400"/>
              <a:buChar char="○"/>
            </a:pPr>
            <a:r>
              <a:rPr lang="en"/>
              <a:t>Defense: Switches</a:t>
            </a:r>
            <a:endParaRPr/>
          </a:p>
          <a:p>
            <a:pPr indent="-317500" lvl="1" marL="914400" rtl="0" algn="l">
              <a:spcBef>
                <a:spcPts val="0"/>
              </a:spcBef>
              <a:spcAft>
                <a:spcPts val="0"/>
              </a:spcAft>
              <a:buSzPts val="1400"/>
              <a:buChar char="○"/>
            </a:pPr>
            <a:r>
              <a:rPr lang="en"/>
              <a:t>Defense: Rely on higher layers</a:t>
            </a:r>
            <a:endParaRPr/>
          </a:p>
          <a:p>
            <a:pPr indent="-342900" lvl="0" marL="457200" rtl="0" algn="l">
              <a:spcBef>
                <a:spcPts val="0"/>
              </a:spcBef>
              <a:spcAft>
                <a:spcPts val="0"/>
              </a:spcAft>
              <a:buSzPts val="1800"/>
              <a:buChar char="●"/>
            </a:pPr>
            <a:r>
              <a:rPr lang="en"/>
              <a:t>DHCP: A </a:t>
            </a:r>
            <a:r>
              <a:rPr lang="en"/>
              <a:t>protocol</a:t>
            </a:r>
            <a:r>
              <a:rPr lang="en"/>
              <a:t> for a new client to </a:t>
            </a:r>
            <a:r>
              <a:rPr lang="en"/>
              <a:t>receive</a:t>
            </a:r>
            <a:r>
              <a:rPr lang="en"/>
              <a:t> a network configuration</a:t>
            </a:r>
            <a:endParaRPr/>
          </a:p>
          <a:p>
            <a:pPr indent="-317500" lvl="1" marL="914400" rtl="0" algn="l">
              <a:spcBef>
                <a:spcPts val="0"/>
              </a:spcBef>
              <a:spcAft>
                <a:spcPts val="0"/>
              </a:spcAft>
              <a:buSzPts val="1400"/>
              <a:buChar char="○"/>
            </a:pPr>
            <a:r>
              <a:rPr lang="en"/>
              <a:t>Ask everyone on the network, “What is the network configuration to use?”</a:t>
            </a:r>
            <a:endParaRPr/>
          </a:p>
          <a:p>
            <a:pPr indent="-317500" lvl="1" marL="914400" rtl="0" algn="l">
              <a:spcBef>
                <a:spcPts val="0"/>
              </a:spcBef>
              <a:spcAft>
                <a:spcPts val="0"/>
              </a:spcAft>
              <a:buSzPts val="1400"/>
              <a:buChar char="○"/>
            </a:pPr>
            <a:r>
              <a:rPr lang="en"/>
              <a:t>Attack: The attacker can respond with a malicious configuration</a:t>
            </a:r>
            <a:endParaRPr/>
          </a:p>
          <a:p>
            <a:pPr indent="-317500" lvl="1" marL="914400" rtl="0" algn="l">
              <a:spcBef>
                <a:spcPts val="0"/>
              </a:spcBef>
              <a:spcAft>
                <a:spcPts val="0"/>
              </a:spcAft>
              <a:buSzPts val="1400"/>
              <a:buChar char="○"/>
            </a:pPr>
            <a:r>
              <a:rPr lang="en"/>
              <a:t>Defense: Rely on higher layers</a:t>
            </a:r>
            <a:endParaRPr/>
          </a:p>
        </p:txBody>
      </p:sp>
      <p:sp>
        <p:nvSpPr>
          <p:cNvPr id="800" name="Google Shape;800;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806" name="Google Shape;806;p6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WPA: A protocol to encrypt Wi-Fi connections at layer 2</a:t>
            </a:r>
            <a:endParaRPr/>
          </a:p>
          <a:p>
            <a:pPr indent="-317500" lvl="1" marL="914400" rtl="0" algn="l">
              <a:spcBef>
                <a:spcPts val="0"/>
              </a:spcBef>
              <a:spcAft>
                <a:spcPts val="0"/>
              </a:spcAft>
              <a:buSzPts val="1400"/>
              <a:buChar char="○"/>
            </a:pPr>
            <a:r>
              <a:rPr lang="en"/>
              <a:t>Messages between the client and the AP are encrypted with keys</a:t>
            </a:r>
            <a:endParaRPr/>
          </a:p>
          <a:p>
            <a:pPr indent="-317500" lvl="1" marL="914400" rtl="0" algn="l">
              <a:spcBef>
                <a:spcPts val="0"/>
              </a:spcBef>
              <a:spcAft>
                <a:spcPts val="0"/>
              </a:spcAft>
              <a:buSzPts val="1400"/>
              <a:buChar char="○"/>
            </a:pPr>
            <a:r>
              <a:rPr lang="en"/>
              <a:t>Handshake uses cryptographic MACs to verify that both parties have the same PSK and nonces</a:t>
            </a:r>
            <a:endParaRPr/>
          </a:p>
          <a:p>
            <a:pPr indent="-317500" lvl="1" marL="914400" rtl="0" algn="l">
              <a:spcBef>
                <a:spcPts val="0"/>
              </a:spcBef>
              <a:spcAft>
                <a:spcPts val="0"/>
              </a:spcAft>
              <a:buSzPts val="1400"/>
              <a:buChar char="○"/>
            </a:pPr>
            <a:r>
              <a:rPr lang="en"/>
              <a:t>WPA-PSK: Use a password to derive a PSK, which is used in a handshake to arrive at a key</a:t>
            </a:r>
            <a:endParaRPr/>
          </a:p>
          <a:p>
            <a:pPr indent="-317500" lvl="2" marL="1371600" rtl="0" algn="l">
              <a:spcBef>
                <a:spcPts val="0"/>
              </a:spcBef>
              <a:spcAft>
                <a:spcPts val="0"/>
              </a:spcAft>
              <a:buSzPts val="1400"/>
              <a:buChar char="■"/>
            </a:pPr>
            <a:r>
              <a:rPr lang="en"/>
              <a:t>Attack: Attacker can pretend to be an AP</a:t>
            </a:r>
            <a:endParaRPr/>
          </a:p>
          <a:p>
            <a:pPr indent="-317500" lvl="2" marL="1371600" rtl="0" algn="l">
              <a:spcBef>
                <a:spcPts val="0"/>
              </a:spcBef>
              <a:spcAft>
                <a:spcPts val="0"/>
              </a:spcAft>
              <a:buSzPts val="1400"/>
              <a:buChar char="■"/>
            </a:pPr>
            <a:r>
              <a:rPr lang="en"/>
              <a:t>Attack: Brute-force the password after recording a handshake</a:t>
            </a:r>
            <a:endParaRPr/>
          </a:p>
          <a:p>
            <a:pPr indent="-317500" lvl="2" marL="1371600" rtl="0" algn="l">
              <a:spcBef>
                <a:spcPts val="0"/>
              </a:spcBef>
              <a:spcAft>
                <a:spcPts val="0"/>
              </a:spcAft>
              <a:buSzPts val="1400"/>
              <a:buChar char="■"/>
            </a:pPr>
            <a:r>
              <a:rPr lang="en"/>
              <a:t>Vulnerability: No forward secrecy</a:t>
            </a:r>
            <a:endParaRPr/>
          </a:p>
          <a:p>
            <a:pPr indent="-317500" lvl="1" marL="914400" rtl="0" algn="l">
              <a:spcBef>
                <a:spcPts val="0"/>
              </a:spcBef>
              <a:spcAft>
                <a:spcPts val="0"/>
              </a:spcAft>
              <a:buSzPts val="1400"/>
              <a:buChar char="○"/>
            </a:pPr>
            <a:r>
              <a:rPr lang="en"/>
              <a:t>WPA-Enterprise: Use a third party to provide a one-time “replacement PSK,” used in the same handshake</a:t>
            </a:r>
            <a:endParaRPr/>
          </a:p>
          <a:p>
            <a:pPr indent="-317500" lvl="2" marL="1371600" rtl="0" algn="l">
              <a:spcBef>
                <a:spcPts val="0"/>
              </a:spcBef>
              <a:spcAft>
                <a:spcPts val="0"/>
              </a:spcAft>
              <a:buSzPts val="1400"/>
              <a:buChar char="■"/>
            </a:pPr>
            <a:r>
              <a:rPr lang="en"/>
              <a:t>Solves the attacks on WPA-PSK</a:t>
            </a:r>
            <a:endParaRPr/>
          </a:p>
        </p:txBody>
      </p:sp>
      <p:sp>
        <p:nvSpPr>
          <p:cNvPr id="807" name="Google Shape;807;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SE 405">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