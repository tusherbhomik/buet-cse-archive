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5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handoutMasterIdLst>
    <p:handoutMasterId r:id="rId36"/>
  </p:handoutMasterIdLst>
  <p:sldIdLst>
    <p:sldId id="335" r:id="rId2"/>
    <p:sldId id="282" r:id="rId3"/>
    <p:sldId id="422" r:id="rId4"/>
    <p:sldId id="435" r:id="rId5"/>
    <p:sldId id="438" r:id="rId6"/>
    <p:sldId id="436" r:id="rId7"/>
    <p:sldId id="439" r:id="rId8"/>
    <p:sldId id="440" r:id="rId9"/>
    <p:sldId id="441" r:id="rId10"/>
    <p:sldId id="464" r:id="rId11"/>
    <p:sldId id="290" r:id="rId12"/>
    <p:sldId id="443" r:id="rId13"/>
    <p:sldId id="444" r:id="rId14"/>
    <p:sldId id="291" r:id="rId15"/>
    <p:sldId id="445" r:id="rId16"/>
    <p:sldId id="446" r:id="rId17"/>
    <p:sldId id="425" r:id="rId18"/>
    <p:sldId id="450" r:id="rId19"/>
    <p:sldId id="451" r:id="rId20"/>
    <p:sldId id="452" r:id="rId21"/>
    <p:sldId id="453" r:id="rId22"/>
    <p:sldId id="454" r:id="rId23"/>
    <p:sldId id="455" r:id="rId24"/>
    <p:sldId id="456" r:id="rId25"/>
    <p:sldId id="457" r:id="rId26"/>
    <p:sldId id="458" r:id="rId27"/>
    <p:sldId id="465" r:id="rId28"/>
    <p:sldId id="466" r:id="rId29"/>
    <p:sldId id="459" r:id="rId30"/>
    <p:sldId id="460" r:id="rId31"/>
    <p:sldId id="461" r:id="rId32"/>
    <p:sldId id="467" r:id="rId33"/>
    <p:sldId id="462" r:id="rId34"/>
  </p:sldIdLst>
  <p:sldSz cx="9144000" cy="6858000" type="screen4x3"/>
  <p:notesSz cx="7077075" cy="9363075"/>
  <p:custShowLst>
    <p:custShow name="Custom Show 1" id="0">
      <p:sldLst>
        <p:sld r:id="rId2"/>
        <p:sld r:id="rId3"/>
        <p:sld r:id="rId12"/>
        <p:sld r:id="rId15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356" y="7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29" tIns="46965" rIns="93929" bIns="46965" numCol="1" anchor="t" anchorCtr="0" compatLnSpc="1">
            <a:prstTxWarp prst="textNoShape">
              <a:avLst/>
            </a:prstTxWarp>
          </a:bodyPr>
          <a:lstStyle>
            <a:lvl1pPr defTabSz="939299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0557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29" tIns="46965" rIns="93929" bIns="46965" numCol="1" anchor="t" anchorCtr="0" compatLnSpc="1">
            <a:prstTxWarp prst="textNoShape">
              <a:avLst/>
            </a:prstTxWarp>
          </a:bodyPr>
          <a:lstStyle>
            <a:lvl1pPr algn="r" defTabSz="939299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29" tIns="46965" rIns="93929" bIns="46965" numCol="1" anchor="b" anchorCtr="0" compatLnSpc="1">
            <a:prstTxWarp prst="textNoShape">
              <a:avLst/>
            </a:prstTxWarp>
          </a:bodyPr>
          <a:lstStyle>
            <a:lvl1pPr defTabSz="939299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29" tIns="46965" rIns="93929" bIns="46965" numCol="1" anchor="b" anchorCtr="0" compatLnSpc="1">
            <a:prstTxWarp prst="textNoShape">
              <a:avLst/>
            </a:prstTxWarp>
          </a:bodyPr>
          <a:lstStyle>
            <a:lvl1pPr algn="r" defTabSz="939299">
              <a:defRPr sz="1300"/>
            </a:lvl1pPr>
          </a:lstStyle>
          <a:p>
            <a:pPr>
              <a:defRPr/>
            </a:pPr>
            <a:fld id="{2DD85D57-D072-497C-B6E5-F4EE62B9FB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98884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5T15:15:19.1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15702 6127 0,'25'0'78,"24"0"-78,-24 0 16,25 0-16,-1 0 15,50 0-15,174 0 16,149 0 0,74 0-1,-99 0 1,25 0-1,-75 0 17,-149 0-17,-24 0 1,-75 0 0,0 0-1,1 0 1,48 0-1,1 0 1,-74 0 0,-51 25-1,1-25 1,25 24 0,24 1-1,-24-25 1,-25 0-1,-1 0 1,26 0 0,-25 0 15,24 0-15</inkml:trace>
  <inkml:trace contextRef="#ctx0" brushRef="#br0" timeOffset="1872.78">21655 6251 0,'25'0'31,"223"0"-15,-50 0-1,-49 25 1,0-25-1,24 0 1,-73 0 0,-76 0-1</inkml:trace>
  <inkml:trace contextRef="#ctx0" brushRef="#br0" timeOffset="4635.92">6747 6896 0,'50'0'79,"123"49"-79,1-49 15,25 0 1,-26 0-16,224 0 15,-74 0 1,-1 0 0,-148 0-1,-50 0 1,0 0 15,0 0-15,-25 0-1,75 0 1,123 0 0,100 0-1,-25 0 1,-74 0 0,24 0-1,-99 0 1,-49 0-1,-50 0 1,-74 0-16,24 0 16,-24 0-1,24 0 1,1 0 0,73 0 15,-24 0-16,50 0 1,-25 0 0,0 0-1,0 0 1,-50 0 0,-74 0-1,-50 25 157,-25-25-172,25 0 16,-173 0-1,-149 0 1,-4069 0 0,8212 0-1,-4020 0 1,-49 25-1,-24-25 1,-26 0 0,-49 0-1,149 25 1,173-25 0,26 0-16,-150 25 31,0-25 0,-49 0-15,-124 0-1,-50 0 1,75 0 0,49 0-1,0 0 1,124 0-1,25 0 1,74 0 0,26 0-1,-1 0-15,-25 0 16,1 0 0,-51 0-1,75 0 1,-24 0 15</inkml:trace>
  <inkml:trace contextRef="#ctx0" brushRef="#br0" timeOffset="7039.54">9228 7888 0,'49'-50'78,"51"50"-78,98 0 16,-49 0-16,347-25 15,50 25 17,-150 0-17,-98 0 1,-99 0 0,-51 0-1,-73 0-15,98 0 16,-24 0-1,0 0-15,223 0 16,75-24 0,-1-1-1,-123-25 1,-150 50 0,-98-25-1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8-09T14:05:59.2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4738 9401 0,'25'0'94,"0"0"-79,-1 0 17,1 0-17,0 0 1,25 0 0,49 0-1,-25 0 1,1-25-1,-1 25 1,-49 0 0,49 0-1,-24 0 1,24 0 0,-24 0-1,0 0 1,-26 0-1,26 0 1,0 0 15,-26 0-31,100 0 16,-49 0 0,-1-49-1,-24 49 16,-25 0-15,24 0 0,-24 0-1,0 0 1,25 0 0,-26 0-1,26 0 1,-25 0-16,24 0 15,1 0 17,-25 0 155,-25 24-171,-50-24-1,25 0 1,-24 0-16,-50 0 16,-1 0-1,1 0 1,0 0 15,24 0-31,51 0 16,-26 0-1,-24 0 1,-50 50 0,74-50-1,-24 0 1,49 0 0,0 0-1,0 0 1,-49 0-1,24 0 1,-24 0 15,24 0-31,-24 0 16,99 0 250,24 0-251,1 0-15,74 0 16,0 0-1,-50 0 17,-24 0-32,-1 0 15,-24 0 1,124 0 0,-75 0-1,50 0 1,-74 0-1,0 0 1,-26-25 15,76 25 1,-75 0 14,-1 0-46,1 0 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8-09T14:09:30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4763 4068 0,'25'-25'62,"123"25"-46,-23 0-16,222 0 15,-223 0 1,124 0 0,-174 0-1,125 0 1,-26 0 0,26 0-1,-75-25 1,49 25-1,-24 0 1,0 0 0,74 0-1,-24 0 1,123-24 0,50-51-1,-173 50 1,-75-24-1,0 24 17,124 0-17,-25-49 1,25 24 0,-198 50-1,-50-25 1,25 0 15,-1 25-15,1 0-16,0 0 15,25 0 1</inkml:trace>
  <inkml:trace contextRef="#ctx0" brushRef="#br0" timeOffset="1135.25">9004 3225 0,'0'49'47,"0"26"-47,25-51 16,50 100 0,24 0-1,0 25 1,-74-99-1,-25 0 1,50-26 0,-50 1-1,24-25 48,1 0-1,25 0-62,-25-25 32,24 1-32,-24-26 15,149-173 1,173-75-1,273-148 1,248-175 0,-421 373 15,-175 50-31,-247 173 0</inkml:trace>
  <inkml:trace contextRef="#ctx0" brushRef="#br0" timeOffset="2459.46">9649 3150 0,'0'-25'16,"50"25"0,0 0-1,-1 25 1,26 74 0,-26-49-1,1 74 1,24-50-1,1 1 1,-1-26 0,-49-49-16,49 25 31,-24 0-15,-25-25-1,24 0 141,51 0-140,24-25-16,74-124 0,373-198 16,-26 50-1,-24-1 1,-273 124 0,-223 149 15</inkml:trace>
  <inkml:trace contextRef="#ctx0" brushRef="#br0" timeOffset="-172523.73">8707 9847 0,'49'-49'94,"373"49"-94,-223 0 16,-1-25-16,248-49 15,-222 74 1,297-25-1,-1 25 1,-172-50 0,-125-24-1,-124 74 1,149-50 0,-99 1-1,25 24 1,-125 0-1,-24 0 1</inkml:trace>
  <inkml:trace contextRef="#ctx0" brushRef="#br0" timeOffset="-171261.12">11584 9277 0,'25'0'47,"25"50"-16,-50-26-15,74 100-16,-49-99 16,49 124-1,-49-99 1,25 24 0,-26-49-1,26 0 1,0-25-1,-26 0 1,1 0 0,-25 24 15,50 1 78,24-50-93,25-49-16,100 24 16,173-98-1,-124 48-15,174-73 16,-249 98-1,-148 75 1,-25-24 31</inkml:trace>
  <inkml:trace contextRef="#ctx0" brushRef="#br0" timeOffset="-170189.39">12403 9252 0,'0'50'94,"99"99"-94,-49-75 15,-1-24-15,100 148 16,-99-124 15,-26-49-15,76 25 0,-76-25-1,26-25 1,-25 24-1,0-24-15,-1 0 32,1 0-1,50 0 63,148-74-79,-198 49 1,148-74 0,-123 74-16,24-24 15,1 24 1,74-50-1,-50 75 1,-50-24 0,51 24-1,-76 0 17,26-25-32,-25 25 15,24 0 16,-49-25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5T17:00:07.4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14164 4812 0,'99'0'79,"25"25"-79,149 0 15,-25-25-15,422 25 16,-25 74-1,-100-74 1,-321-25 0,-175 0-1,-24 0 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8-09T14:14:55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14337 3845 0,'25'25'62,"99"-25"-46,0 0 0,100 24-1,-26-24 1,50 0-1,0 0 1,0 0-16,149 0 16,25 0-1,-149 0 1,-75 0 0,-74 0-1,-74 0 1,24 0 15,0 0-15,1 0-1,-1 0 1,25 0 0,125 0-1,-75 0 1,74 0-1,-99 0 1,25 0 0,-75 0-1,-49 0 1,24 0 15,-24 0-31,25 0 31,-25 0-15,49 0 0,1 0-1,73 0 17,51 0-17,98 0 1,-123 0-1,-149 0 1,24 0 31,-24 0-31,25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5T17:06:35.0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6747 9624 0,'75'0'94,"24"0"-79,-25 0-15,1 0 16,74 0 0,-25 0-1,148 0 1,-24 0-1,-24 0 1,-26 0 0,1 0-1,24 0 1,-99 0-16,198 0 16,1 0 15,-26 0-31,-24 0 31,0 0-15,-74 0-1,24 0 1,-25 0 0,-99 0-16,125-25 15,24 1 1,-75-1-1,-24 25 1,-50 0 0,1 0-1,73 0 1,-49 0 0,-49 0-1,-1 0 16,-24-25-15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06:36:26.7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3919 2009 0,'125'25'109,"73"0"-93,-74-25-16,149 0 15,124 0 1,74 0 0,99 0-1,-24 0 1,-99 0 15,74-25-15,-323 0-16,273-49 0,1 24 31,24 25-15,-50 25-1,100 0 1,0 0 0,148 0-1,-74 0 1,-74 0-1,-124 0 1,-125 0 0,-173 0-1,-49 0-15,74 0 16,24 0 15,1 0-15,24 0-16,1 0 31,-75 50-15,0-50-1,-99 0 1,-1 0 46,26 0-46,24 0-16,50 0 16,50 0-1,24 25 1,-98 0 15,98-25-15,50 49-16,75-24 31,-26-25-15,-24 0-1,-174 0 1,-49 0 0,-25 0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8-09T14:33:37.6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4887 11112 0,'25'0'31,"-1"0"0,1 0-15,0 0-1,0 0 1,49 25 0,1 75-1,24-1 1,-74-50 0,24-24-1,-24-25 1,25 25-1,-1 25 1,75 49 0,-74-99-16,-25 25 15,24 24 1,1-49 0,-25 0 109,49 0-110,25 0-15,75-99 16,74-99-1,25 49-15,645-323 16,-50 100 0,75 0 15,-472 124-31,-322 174 16,-125 74-1</inkml:trace>
  <inkml:trace contextRef="#ctx0" brushRef="#br0" timeOffset="1592.92">6425 10815 0,'25'0'31,"24"0"31,75 25-62,-74 74 16,74 25 0,0 0-16,25 99 15,49 0 1,-99-123 0,-74-76-1,-25 1 1,50-25 281,123-149-297,1-24 15,74-50 1,447-174-16,470-174 16,-445 298 15,-348 174-16,-199 25 1,-123 74 0,24-25-1,-24 25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8-09T14:38:24.5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5209 5457 0,'50'0'47,"0"0"-47,24 25 15,174-25 1,149 0 0,-99 0-1,-100-25 16,-124 25-31,100 0 16,49 0 0,1 0-1,-26 25 1,25 24 0,0-49-1,50 50 1,75-25-1,-76 0 1,-123-25 0,-50 0-1,-24 24-15,24 1 16,25 0 0,0 0-1,0-25 16,0 25-15,-25-1 0,75-24-1,0 0 1,-50 0 0,-25 0-1,-25 0 1,26 0-1,48 0 1,1 0 0,-25 0-1,-74 0 1,-1 0 0,51-24-1,-1-1 1,25-25 15,-74 25-15,24 25-1,-24 0 1,98-49 0,-48 24 15,-26 0-16,25-24-15,0 49 16,1-25 0,-26 25 15,0-50-15,-49 25-1,25 25 16</inkml:trace>
  <inkml:trace contextRef="#ctx0" brushRef="#br0" timeOffset="2553.27">1613 3746 0,'148'99'110,"-98"-50"-110,0 1 15,-1 0-15,51 49 16,-1-50 15,-25 1-15,-49-25-1,25-25 1,-1 0 0,-24 0-1,0 0 32,0 0-31,-1-25-16,1 25 31,50-50-31,49-49 16,24 0-1,51-25 1,24 0 0,75 0 15,-125 74-31,-24-24 15,-74 49-15,24 25 16,-49-50 0,-26 50-1,76-24 1,-51-1 0,26-25-1,49 25 1,-75-24-1,1 24-15,-25 25 47</inkml:trace>
  <inkml:trace contextRef="#ctx0" brushRef="#br0" timeOffset="3640.54">2431 3473 0,'-25'24'47,"25"1"-16,50 0-31,99 25 16,-25 24-1,25-24 1,-50-1 0,50 51-1,0-1 1,-50-74-1,-25 24 1,-49-49 0,0 25-1,0-25 1,-1 0 15,1 0 32,0 0-16,124-25-47,49-74 15,1 25 1,49-50-16,446-149 15,348-99 1,25-75 0,-522 224-1,-371 124 1,-75 99 0,-74-25 15</inkml:trace>
  <inkml:trace contextRef="#ctx0" brushRef="#br0" timeOffset="17256.8">9749 10443 0,'124'0'94,"521"0"-79,-298 0-15,74 0 16,224 0 0,-248 0-1,-347 0 1,-1 0 0</inkml:trace>
  <inkml:trace contextRef="#ctx0" brushRef="#br0" timeOffset="18171.29">5780 6722 0,'0'-25'47,"273"25"-47,74-74 16,720 24 0,-26 1-1,100-100 1,-347 25 15,-471 74-15</inkml:trace>
  <inkml:trace contextRef="#ctx0" brushRef="#br0" timeOffset="19792.99">23466 9426 0,'0'25'125,"0"74"-125,24-25 16,1 1-16,0-51 16,25 1-16,-26 25 15,1-50 1,-25 25 15,25-25-15,25 0-1,-26 0 17,-24-25-17,25-25-15,-25 25 16,25-49 0,49-50-1,125-273 1,-50 223-1,-25 26 1,-75 48 15,-24 76-31</inkml:trace>
  <inkml:trace contextRef="#ctx0" brushRef="#br0" timeOffset="21133.93">23689 9103 0,'0'50'62,"49"0"-46,-24-1-1,0-24-15,0 0 16,0 0 0,24 49-16,-24-74 15,-25 25 1,50-25 0,-26 25 30,-24-1 64,25-24-95,0 0 17,0 0 15,0 0-47,0 0 46,-1 0-30,51-24-16,-26-1 16,125-149-1,-50 50 1,-25-74 15,-49 49-15,-25 124-16,-1-49 15,-24 49 1,0-25 15,0 1-15,0-26 0,50 26-1,-50 24 1</inkml:trace>
  <inkml:trace contextRef="#ctx0" brushRef="#br0" timeOffset="42699.82">9922 16024 0,'25'0'219,"25"0"-219,24 0 15,-24 0-15,49 0 16,75 0-1,-1 0 1,-98 0 0,49 0 15,24 25-15,-73-25-16,24 24 15,0-24 1,-24 0-1,-1 0 1,1 0 0,49 0-1,-25 0 1,0 0 0,25 0-1,0 50 1,74 0-1,125-50 1,-149 49 0,-50-24-1,0-25 17,-50 0-17,50 0 1,25 0-1,24 0 1,51 0 0,-51 0-1,26 0 1,-75 0 0,74 0-1,-24 0 1,-25 0-1,-25 0 1,99 0 0,124 0-1,-148 0 1,-50 0 15,-1 0-15,26 0-1,74 25 1,50-25 0,49 0-1,-124 0 1,-24 0 0,-75 0-1,-100 0 48,1 0-48,50 0 1,-1-25-16,149 25 16,-49-25-1,0 0 1,-50 25-16,74 0 15,-74-49 1,-74 49 93,173 0-77,-149 0-32,26-25 0,-76 25 15</inkml:trace>
  <inkml:trace contextRef="#ctx0" brushRef="#br0" timeOffset="43908.21">19026 15180 0,'0'50'62,"0"-25"-46,0 49-1,74 100 1,0-25 0,-24-25-1,49 0 1,-74-75-1,0-24 1,0 0 0,-1 0 15,1 0-15,0-25-1,-25 24 110,50-24-125,-1-49 16,26-26-1,49-98 1,-25 74-16,0-1 16,-74 76-16,198-125 15,174-75 1,198-48 0,-123 73-1,-75 26 1,-249 49-1,1-1 1,-99 101 0</inkml:trace>
  <inkml:trace contextRef="#ctx0" brushRef="#br0" timeOffset="45054.25">19919 15180 0,'24'0'31,"26"25"-15,24 74-1,50 26 1,-24-26 0,-1-25-1,-25 1 1,25-26 0,-24 1 15,-1-1-16,-24-24-15,49 0 16,0 49 0,-49-49-1,-25-25 63,49 0-62,50 0-16,0-99 16,149-124-1,-50 24 1,-74 26-16,174-51 16,98-48-1,-24 24 16,-74 49-15,-100 50 0,-124 100-1,-99 24 1,25 0 0</inkml:trace>
  <inkml:trace contextRef="#ctx0" brushRef="#br0" timeOffset="47156.84">2059 14883 0,'-25'25'47,"50"-1"-32,25 1 1,123-25 0,100 0-1,-50 0 1,-74 0-16,75 0 16,48 0-1,1 0 1,-50 0-1,50 0 1,-49 0 15,48-25-15,-172 25 0,48-24 15,-23-1-16,-26 25 1,50 0 0,-25 0-1,-50 0 1,75 0 0,24 0-1,26 0 1,-50 0-1,-100 0 1,1-50 0,0 50-1,24 0 1,-49-25 0</inkml:trace>
  <inkml:trace contextRef="#ctx0" brushRef="#br0" timeOffset="49291.42">6127 17462 0,'25'0'47,"223"0"-31,99 0-16,-74 0 15,74 0 1,323 0 0,25 0-1,-1 0 1,-74 0 0,-74 50-1,-422-50-15,124 25 16,-99-25-1,-124 25 1,49 0 0,-173-25 140,-124 0-140,-75-25-1,25-50-15,-322 26 16,99 49-1,74 0 1,50 0 0,49 0-1,-148 24 1,74-24 0,149 0 15,199 0-16</inkml:trace>
  <inkml:trace contextRef="#ctx0" brushRef="#br0" timeOffset="50389.43">10666 16842 0,'50'0'78,"0"50"-63,49 148 1,0 1 0,0-1-1,-24-74 1,-75-49-1,24-75 32,1 0-15,25 0-32,-25-124 15,148-100 1,100-73-1,-74 74 17,-75 148-17,-75 50 1,1-24 0,148-26-1,26 26 1,-1-26-1,-149 51 1,-49 24-16</inkml:trace>
  <inkml:trace contextRef="#ctx0" brushRef="#br0" timeOffset="51409.71">11435 16718 0,'25'0'63,"50"50"-48,-1 49-15,-24-49 16,24 24-16,-49 1 15,124 123 1,-50-24 0,-50-100-1,-24-74 142,0 0-157,49-50 15,50-98 1,125-100-1,-1 49 1,0 26 0,49 24-1,-173 124 1,-74 0 0,0 0 15,-1 1-16,-24 24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8-09T14:40:40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13469 5779 0,'0'0'0,"25"0"93,0 0-93,25 0 16,-1-24 0,50 24 15,25 0-31,248 0 0,149 0 16,75 0-1,24 0 1,49 0-1,-123 0 17,-75 0-32,-297 0 15,-99 0 17,49 0-17,-25 0 1,-50 0-1,1 0 1,0 0 15,-1 0-15,75 0 0,-49 0-1,-1 0 1,-49 0-1</inkml:trace>
  <inkml:trace contextRef="#ctx0" brushRef="#br0" timeOffset="1287.66">18976 5283 0,'0'25'78,"0"25"-62,50 24-16,-26-24 16,1-1-1,-25-24 1,25-25 0,0 25 15,-25 0-31,25-25 172,24 0-157,50-75 1,1-24-16,-1-25 16,-74 25-16,123-25 15,-73 25 1,-1 24 15,1-24-15,-1 25-1,1-26 1,-1 26 0,-49 49 15</inkml:trace>
  <inkml:trace contextRef="#ctx0" brushRef="#br0" timeOffset="2849.59">19323 5159 0,'0'50'110,"0"24"-95,50 1-15,-1-26 16,-49 1 0,25-25-1,25 24 16,-25-49-15,-25 25 172,24-25-173,1 0 1,25 0-16,74-49 15,-25-26 17,-24-24-17,-1 25 1,-24 24 0,24-49-1,-24 0 1,-26 99-1,1-25 1,0-25-16,0 25 16,-25 1-1,49-26 1,-49 25 0</inkml:trace>
  <inkml:trace contextRef="#ctx0" brushRef="#br0" timeOffset="10012.84">7541 8607 0,'-25'25'47,"25"0"-31,75-25-16,73 0 15,125 25 1,199-25 15,24 0-31,0 0 16,-25 0 15,-149 0 0,-123 0-31,24 0 16,50 0-16,298 0 0,49 0 31,-124 0-15,-75 0 0,-272 0-1,-124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8-09T14:40:56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9997 4093 0,'49'0'78,"50"0"-78,1 0 16,-26 0-16,149 0 15,125-25 17,24 0-17,-75-24 1,51-1-1,-100 50 1,0-50 0,-124 26-1,-50 24 17,-49-25-32,25 25 0,-1 0 31,-24 0 94,0 0-125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5T17:44:26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17661 3969 0,'50'0'47,"173"0"-47,50 0 15,25 0-15,49 0 16,347 0 0,-73 0-1,-101 0 1,-172 0-1,-150 49 17,25 1-17,-24-50 1,-1 0 0,26 0-1,-100 0 1,-75 0-1,50 50 1,-49-50 0,24 0-1,50 0 1,-24 0 0,24 0-1,-50 0-15,-24 0 16,-26 0-1,-48 0 235,-274 0-250</inkml:trace>
  <inkml:trace contextRef="#ctx0" brushRef="#br0" timeOffset="4417.6">3870 4738 0,'49'0'15,"-24"0"1,0 0-16,0 0 16,49 0-1,-24 0 1,24 0-1,75 0 1,50 0 0,49 0-1,149 0 1,148 0 0,596 0-1,422 0 1,-224 0-1,-594 0 1,-398 0 0,-322 0-1,-199 0 173,0 0-173,-49 0-15,-50 0 16,25 0-16,-397 0 16,75 0-1,24 0 1,199 0 0,24 0-1,150 0 1,-51 0 15,-123 0-15,50 0-1,98 0 1,25 0 0,100 0-1,24 0 1,26 0-1,-51 0 1,50 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9" tIns="46965" rIns="93929" bIns="46965" numCol="1" anchor="t" anchorCtr="0" compatLnSpc="1">
            <a:prstTxWarp prst="textNoShape">
              <a:avLst/>
            </a:prstTxWarp>
          </a:bodyPr>
          <a:lstStyle>
            <a:lvl1pPr defTabSz="939299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0557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9" tIns="46965" rIns="93929" bIns="46965" numCol="1" anchor="t" anchorCtr="0" compatLnSpc="1">
            <a:prstTxWarp prst="textNoShape">
              <a:avLst/>
            </a:prstTxWarp>
          </a:bodyPr>
          <a:lstStyle>
            <a:lvl1pPr algn="r" defTabSz="939299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3A29B64-D91B-4C81-9763-F804CDF4A87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703263"/>
            <a:ext cx="4683125" cy="3511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2434" y="4447781"/>
            <a:ext cx="5192210" cy="4212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9" tIns="46965" rIns="93929" bIns="469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9" tIns="46965" rIns="93929" bIns="46965" numCol="1" anchor="b" anchorCtr="0" compatLnSpc="1">
            <a:prstTxWarp prst="textNoShape">
              <a:avLst/>
            </a:prstTxWarp>
          </a:bodyPr>
          <a:lstStyle>
            <a:lvl1pPr defTabSz="939299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9" tIns="46965" rIns="93929" bIns="46965" numCol="1" anchor="b" anchorCtr="0" compatLnSpc="1">
            <a:prstTxWarp prst="textNoShape">
              <a:avLst/>
            </a:prstTxWarp>
          </a:bodyPr>
          <a:lstStyle>
            <a:lvl1pPr algn="r" defTabSz="939299">
              <a:defRPr sz="1300"/>
            </a:lvl1pPr>
          </a:lstStyle>
          <a:p>
            <a:pPr>
              <a:defRPr/>
            </a:pPr>
            <a:fld id="{2142A56F-3E85-4E7D-B4E7-9E6403CDE2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97896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5F24E86D-6723-44FE-8711-F8670374FF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8FE9A57-6A9E-40FA-9838-E464D38B3A34}" type="slidenum">
              <a:rPr lang="en-US" altLang="en-US" sz="130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8700275-52A8-4345-9228-079FD65CB8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152C2E6-B2E3-4412-80F6-E82683846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219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72614CE6-FFF4-4034-B168-49EFB3E04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D8D42BA-40E3-4895-A9C8-A200B308F539}" type="slidenum">
              <a:rPr lang="en-US" altLang="en-US" sz="1300"/>
              <a:pPr/>
              <a:t>2</a:t>
            </a:fld>
            <a:endParaRPr lang="en-US" altLang="en-US" sz="13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0B5CF2B0-262A-45F7-9707-BE0E50722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4BDF3390-60A6-438E-A19E-B7A48E1FE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79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3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132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4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208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5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97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6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102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7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75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8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336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9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859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10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85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C7CAB5FB-4499-4A78-B8E0-70F018F3D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9DE5A9-540A-4836-B1A6-064DE652E547}" type="slidenum">
              <a:rPr lang="en-US" altLang="en-US" sz="1300"/>
              <a:pPr/>
              <a:t>11</a:t>
            </a:fld>
            <a:endParaRPr lang="en-US" altLang="en-US" sz="13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D710D072-F1C5-49CD-9CD9-EB9F3EED2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E0910396-3535-4141-AC82-8ED6F6632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14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C7CAB5FB-4499-4A78-B8E0-70F018F3D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9DE5A9-540A-4836-B1A6-064DE652E547}" type="slidenum">
              <a:rPr lang="en-US" altLang="en-US" sz="1300"/>
              <a:pPr/>
              <a:t>12</a:t>
            </a:fld>
            <a:endParaRPr lang="en-US" altLang="en-US" sz="13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D710D072-F1C5-49CD-9CD9-EB9F3EED2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E0910396-3535-4141-AC82-8ED6F6632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587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C7CAB5FB-4499-4A78-B8E0-70F018F3D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9DE5A9-540A-4836-B1A6-064DE652E547}" type="slidenum">
              <a:rPr lang="en-US" altLang="en-US" sz="1300"/>
              <a:pPr/>
              <a:t>13</a:t>
            </a:fld>
            <a:endParaRPr lang="en-US" altLang="en-US" sz="13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D710D072-F1C5-49CD-9CD9-EB9F3EED2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E0910396-3535-4141-AC82-8ED6F6632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892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271D2120-9A2B-47C4-A534-B51D7FD3C7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197C76-8DA6-4441-8418-E1CA93B2A4A8}" type="slidenum">
              <a:rPr lang="en-US" altLang="en-US" sz="1300"/>
              <a:pPr/>
              <a:t>14</a:t>
            </a:fld>
            <a:endParaRPr lang="en-US" altLang="en-US" sz="13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76320175-7BF1-4C28-8118-24744CF33C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518E7B96-3BC0-4BA0-8F4B-53B5173025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309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38BC8F74-5338-4D8C-9492-03A34375EF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1F6D00-35F2-4B2B-8113-369B74D92DAB}" type="slidenum">
              <a:rPr lang="en-US" altLang="en-US" sz="1300"/>
              <a:pPr/>
              <a:t>18</a:t>
            </a:fld>
            <a:endParaRPr lang="en-US" altLang="en-US" sz="1300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60F81C1A-4945-4A61-BFAE-5BB6BAE73D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A55348B0-634F-4915-A069-EA540582EB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295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16E65DD-EF4C-40F9-B8A2-FC5391BB5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B977A4-0CF7-49CC-8CC4-1EEE95D117D8}" type="slidenum">
              <a:rPr lang="en-US" altLang="en-US" sz="1300"/>
              <a:pPr/>
              <a:t>20</a:t>
            </a:fld>
            <a:endParaRPr lang="en-US" altLang="en-US" sz="13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E386D52D-B7F3-486C-8A04-B930DD098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E369836-416C-4229-8A8C-48ECA010C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694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16E65DD-EF4C-40F9-B8A2-FC5391BB5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B977A4-0CF7-49CC-8CC4-1EEE95D117D8}" type="slidenum">
              <a:rPr lang="en-US" altLang="en-US" sz="1300"/>
              <a:pPr/>
              <a:t>21</a:t>
            </a:fld>
            <a:endParaRPr lang="en-US" altLang="en-US" sz="13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E386D52D-B7F3-486C-8A04-B930DD098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E369836-416C-4229-8A8C-48ECA010C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763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D1855DD-42F7-4673-8C8A-FABC1C3C1B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AC49C3D8-E326-414D-BA9C-243E694C01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8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20000"/>
              <a:buFont typeface="Wingdings" panose="05000000000000000000" pitchFamily="2" charset="2"/>
              <a:buChar char="§"/>
              <a:defRPr/>
            </a:lvl1pPr>
            <a:lvl2pPr marL="800100" indent="-34290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E2AF77-2F8F-413B-811B-93BB032E723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70663" y="6257199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84508-4F00-4F0B-AACD-78A429CB4E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9230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12E5A-52A0-49A3-90D9-67F6A8904E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D96D1-8274-4B5D-8DFC-F883A6F146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973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9F38EDD-F66A-45D6-8FD3-616B47D5094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2D0-2B20-464D-B9A5-A4F8EFBB30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261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9AEAD15-CC4E-4DDB-BCB4-BFD6B09414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2850B-7953-43C3-84E7-6C4CDDE344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05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6290DBB-0BCD-459F-8E4F-FA120878EA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89094-62D5-4D43-96BD-D3CB3B0121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814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EF0AAB0-38F5-434C-B2C0-AABEF56E6D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80F6F2-DE47-4EBC-8416-864F9C93A5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037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219F498-DC72-46C9-809D-A3E9B9733C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C50A1-0700-4943-9F0D-0C1C7AD36C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123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4A3BEA6-AB75-48BD-9865-B5CCFF6E47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02FA7-47FF-4F4C-9EE7-33C697A225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84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59350B-1AE9-4A98-9789-0A3801BD2D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A592D-06D1-4335-9885-C76101E982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09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B28524-8AC4-4458-AAD1-C4223972BC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5E8B3-FD31-41B6-9315-34F8ECD716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159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F6940A-5EB3-4E43-837D-85F46C6F6D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4979C-6AB0-44D1-9772-4F19E45F10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06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8A0A33-DAF4-4E01-9EFC-4F1B17F7A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59FFB63-CDCC-491F-AF2C-DD10F76023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5250" y="6613525"/>
            <a:ext cx="37702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.</a:t>
            </a:r>
            <a:fld id="{465E19B2-DA7E-4A4D-A955-3117C9F14C62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70B0BAF4-3624-4F5B-83AF-93EB8F0247B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svg"/><Relationship Id="rId9" Type="http://schemas.openxmlformats.org/officeDocument/2006/relationships/customXml" Target="../ink/ink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customXml" Target="../ink/ink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 Storage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A40D8FBD-C4B3-47AD-8320-48C6E70CF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File Organization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F1938-EBCF-4D73-95AD-CDD1D0B3975F}"/>
              </a:ext>
            </a:extLst>
          </p:cNvPr>
          <p:cNvSpPr txBox="1"/>
          <p:nvPr/>
        </p:nvSpPr>
        <p:spPr>
          <a:xfrm>
            <a:off x="98474" y="1125415"/>
            <a:ext cx="541606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800" dirty="0"/>
              <a:t>The database is stored as a collection of </a:t>
            </a:r>
            <a:r>
              <a:rPr lang="en-US" altLang="en-US" sz="1800" i="1" dirty="0"/>
              <a:t>files</a:t>
            </a:r>
            <a:r>
              <a:rPr lang="en-US" altLang="en-US" sz="1800" dirty="0"/>
              <a:t>.  </a:t>
            </a:r>
          </a:p>
          <a:p>
            <a:pPr marL="285750" indent="-285750">
              <a:spcAft>
                <a:spcPts val="12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800" dirty="0"/>
              <a:t>Each file is a sequence of </a:t>
            </a:r>
            <a:r>
              <a:rPr lang="en-US" altLang="en-US" sz="1800" i="1" dirty="0"/>
              <a:t>records. </a:t>
            </a:r>
          </a:p>
          <a:p>
            <a:pPr marL="285750" indent="-285750">
              <a:spcAft>
                <a:spcPts val="12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800" i="1" dirty="0"/>
              <a:t> </a:t>
            </a:r>
            <a:r>
              <a:rPr lang="en-US" altLang="en-US" sz="1800" dirty="0"/>
              <a:t>A record is a sequence of fields.</a:t>
            </a:r>
          </a:p>
          <a:p>
            <a:pPr marL="285750" indent="-285750">
              <a:spcAft>
                <a:spcPts val="12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en-US" sz="1800" dirty="0"/>
          </a:p>
          <a:p>
            <a:pPr>
              <a:spcAft>
                <a:spcPts val="1200"/>
              </a:spcAft>
              <a:buClr>
                <a:srgbClr val="FF0000"/>
              </a:buClr>
            </a:pPr>
            <a:r>
              <a:rPr lang="en-US" altLang="en-US" sz="1800" dirty="0"/>
              <a:t>One approach</a:t>
            </a:r>
          </a:p>
          <a:p>
            <a:pPr marL="742950" lvl="1" indent="-285750">
              <a:spcAft>
                <a:spcPts val="1200"/>
              </a:spcAft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altLang="en-US" sz="1800" dirty="0"/>
              <a:t>Assume record size is fixed</a:t>
            </a:r>
          </a:p>
          <a:p>
            <a:pPr marL="742950" lvl="1" indent="-285750">
              <a:spcAft>
                <a:spcPts val="1200"/>
              </a:spcAft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altLang="en-US" sz="1800" dirty="0"/>
              <a:t>Each file has records of one particular type only</a:t>
            </a:r>
          </a:p>
          <a:p>
            <a:pPr marL="742950" lvl="1" indent="-285750">
              <a:spcAft>
                <a:spcPts val="1200"/>
              </a:spcAft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altLang="en-US" sz="1800" dirty="0"/>
              <a:t>Different files are used for different relations</a:t>
            </a:r>
          </a:p>
          <a:p>
            <a:pPr marL="742950" lvl="1" indent="-285750">
              <a:spcAft>
                <a:spcPts val="1200"/>
              </a:spcAft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altLang="en-US" sz="1800" dirty="0"/>
              <a:t>This case is easiest to implement; will consider variable length records later</a:t>
            </a:r>
          </a:p>
          <a:p>
            <a:pPr marL="285750" indent="-285750">
              <a:spcAft>
                <a:spcPts val="12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800" dirty="0"/>
              <a:t> We assume that records are smaller than a disk block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C97B2348-F568-47D8-B6EE-D3D26F97B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5374553" y="1862310"/>
            <a:ext cx="3769447" cy="2410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B01023-115D-4D3E-813A-3AC0593BFC51}"/>
              </a:ext>
            </a:extLst>
          </p:cNvPr>
          <p:cNvSpPr txBox="1"/>
          <p:nvPr/>
        </p:nvSpPr>
        <p:spPr>
          <a:xfrm>
            <a:off x="6175717" y="956603"/>
            <a:ext cx="21804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Instructor</a:t>
            </a:r>
            <a:r>
              <a:rPr lang="en-US" dirty="0"/>
              <a:t> relation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3A1D3C0-FA3D-4905-87AF-0FFB4EF4E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719473"/>
              </p:ext>
            </p:extLst>
          </p:nvPr>
        </p:nvGraphicFramePr>
        <p:xfrm>
          <a:off x="6049108" y="1468880"/>
          <a:ext cx="3094892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73723">
                  <a:extLst>
                    <a:ext uri="{9D8B030D-6E8A-4147-A177-3AD203B41FA5}">
                      <a16:colId xmlns:a16="http://schemas.microsoft.com/office/drawing/2014/main" val="4161535510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1736039446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4141139900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133213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8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CCBFC-2976-4FF3-B9E2-11AE645EE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3671567" y="3143963"/>
            <a:ext cx="5173983" cy="3308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59B2BE-B936-4F9B-A861-7CD4551E81C4}"/>
              </a:ext>
            </a:extLst>
          </p:cNvPr>
          <p:cNvSpPr txBox="1"/>
          <p:nvPr/>
        </p:nvSpPr>
        <p:spPr>
          <a:xfrm>
            <a:off x="661182" y="1041009"/>
            <a:ext cx="7849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b="1" dirty="0"/>
              <a:t>Simple approach: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en-US" sz="1800" dirty="0"/>
              <a:t>Store record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starting from byte </a:t>
            </a:r>
            <a:r>
              <a:rPr lang="en-US" altLang="en-US" sz="1800" i="1" dirty="0">
                <a:sym typeface="Greek Symbols" pitchFamily="18" charset="2"/>
              </a:rPr>
              <a:t>n </a:t>
            </a:r>
            <a:r>
              <a:rPr lang="en-US" altLang="en-US" sz="1800" i="1" dirty="0">
                <a:sym typeface="Symbol" panose="05050102010706020507" pitchFamily="18" charset="2"/>
              </a:rPr>
              <a:t> (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r>
              <a:rPr lang="en-US" altLang="en-US" sz="1800" i="1" dirty="0">
                <a:sym typeface="Symbol" panose="05050102010706020507" pitchFamily="18" charset="2"/>
              </a:rPr>
              <a:t> – </a:t>
            </a:r>
            <a:r>
              <a:rPr lang="en-US" altLang="en-US" sz="1800" dirty="0">
                <a:sym typeface="Symbol" panose="05050102010706020507" pitchFamily="18" charset="2"/>
              </a:rPr>
              <a:t>1), where </a:t>
            </a:r>
            <a:r>
              <a:rPr lang="en-US" altLang="en-US" sz="1800" i="1" dirty="0">
                <a:sym typeface="Symbol" panose="05050102010706020507" pitchFamily="18" charset="2"/>
              </a:rPr>
              <a:t>n </a:t>
            </a:r>
            <a:r>
              <a:rPr lang="en-US" altLang="en-US" sz="1800" dirty="0">
                <a:sym typeface="Symbol" panose="05050102010706020507" pitchFamily="18" charset="2"/>
              </a:rPr>
              <a:t>is the size of each record.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en-US" sz="1800" dirty="0">
                <a:sym typeface="Symbol" panose="05050102010706020507" pitchFamily="18" charset="2"/>
              </a:rPr>
              <a:t>Record access is simple but 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records may cross blocks (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???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  <a:p>
            <a:pPr lvl="2"/>
            <a:r>
              <a:rPr lang="en-US" altLang="en-US" sz="1800" dirty="0">
                <a:sym typeface="Symbol" panose="05050102010706020507" pitchFamily="18" charset="2"/>
              </a:rPr>
              <a:t>Modification: do not allow records to cross block boundaries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AF6D8-68D1-4553-8AA2-0CB4241D3F22}"/>
              </a:ext>
            </a:extLst>
          </p:cNvPr>
          <p:cNvSpPr txBox="1"/>
          <p:nvPr/>
        </p:nvSpPr>
        <p:spPr>
          <a:xfrm>
            <a:off x="140678" y="2518337"/>
            <a:ext cx="32918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Searching a record:</a:t>
            </a:r>
          </a:p>
          <a:p>
            <a:endParaRPr lang="en-US" sz="1800" dirty="0"/>
          </a:p>
          <a:p>
            <a:r>
              <a:rPr lang="en-US" sz="1800" dirty="0"/>
              <a:t>Record size = 70 byte. The disk head position is 00 (track 0 and sector 0).</a:t>
            </a:r>
          </a:p>
          <a:p>
            <a:r>
              <a:rPr lang="en-US" sz="1800" dirty="0"/>
              <a:t>Find the location of 5</a:t>
            </a:r>
            <a:r>
              <a:rPr lang="en-US" sz="1800" baseline="30000" dirty="0"/>
              <a:t>th</a:t>
            </a:r>
            <a:r>
              <a:rPr lang="en-US" sz="1800" dirty="0"/>
              <a:t> record</a:t>
            </a:r>
            <a:r>
              <a:rPr lang="en-US" dirty="0"/>
              <a:t>.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74DA74E-10FF-476C-BC1E-F2F508F3C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78401"/>
              </p:ext>
            </p:extLst>
          </p:nvPr>
        </p:nvGraphicFramePr>
        <p:xfrm>
          <a:off x="4572000" y="2773123"/>
          <a:ext cx="4273552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8388">
                  <a:extLst>
                    <a:ext uri="{9D8B030D-6E8A-4147-A177-3AD203B41FA5}">
                      <a16:colId xmlns:a16="http://schemas.microsoft.com/office/drawing/2014/main" val="416153551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736039446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414113990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33213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82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D9C15A-4376-4E25-B03C-2D6FA3F984C4}"/>
              </a:ext>
            </a:extLst>
          </p:cNvPr>
          <p:cNvSpPr txBox="1"/>
          <p:nvPr/>
        </p:nvSpPr>
        <p:spPr>
          <a:xfrm>
            <a:off x="140678" y="4395774"/>
            <a:ext cx="3291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Record location 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= 70 * (5-1)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= 280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68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 </a:t>
            </a: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(Query Processing)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CCBFC-2976-4FF3-B9E2-11AE645EE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3671567" y="3143963"/>
            <a:ext cx="5173983" cy="3308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59B2BE-B936-4F9B-A861-7CD4551E81C4}"/>
              </a:ext>
            </a:extLst>
          </p:cNvPr>
          <p:cNvSpPr txBox="1"/>
          <p:nvPr/>
        </p:nvSpPr>
        <p:spPr>
          <a:xfrm>
            <a:off x="647114" y="757029"/>
            <a:ext cx="7849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b="1" dirty="0"/>
              <a:t>Simple approach: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en-US" sz="1800" dirty="0"/>
              <a:t>Store record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starting from byte </a:t>
            </a:r>
            <a:r>
              <a:rPr lang="en-US" altLang="en-US" sz="1800" i="1" dirty="0">
                <a:sym typeface="Greek Symbols" pitchFamily="18" charset="2"/>
              </a:rPr>
              <a:t>n </a:t>
            </a:r>
            <a:r>
              <a:rPr lang="en-US" altLang="en-US" sz="1800" i="1" dirty="0">
                <a:sym typeface="Symbol" panose="05050102010706020507" pitchFamily="18" charset="2"/>
              </a:rPr>
              <a:t> (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r>
              <a:rPr lang="en-US" altLang="en-US" sz="1800" i="1" dirty="0">
                <a:sym typeface="Symbol" panose="05050102010706020507" pitchFamily="18" charset="2"/>
              </a:rPr>
              <a:t> – </a:t>
            </a:r>
            <a:r>
              <a:rPr lang="en-US" altLang="en-US" sz="1800" dirty="0">
                <a:sym typeface="Symbol" panose="05050102010706020507" pitchFamily="18" charset="2"/>
              </a:rPr>
              <a:t>1), where </a:t>
            </a:r>
            <a:r>
              <a:rPr lang="en-US" altLang="en-US" sz="1800" i="1" dirty="0">
                <a:sym typeface="Symbol" panose="05050102010706020507" pitchFamily="18" charset="2"/>
              </a:rPr>
              <a:t>n </a:t>
            </a:r>
            <a:r>
              <a:rPr lang="en-US" altLang="en-US" sz="1800" dirty="0">
                <a:sym typeface="Symbol" panose="05050102010706020507" pitchFamily="18" charset="2"/>
              </a:rPr>
              <a:t>is the size of each record.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en-US" sz="1800" dirty="0">
                <a:sym typeface="Symbol" panose="05050102010706020507" pitchFamily="18" charset="2"/>
              </a:rPr>
              <a:t>Record access is simple but 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records may cross blocks (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???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  <a:p>
            <a:pPr lvl="2"/>
            <a:r>
              <a:rPr lang="en-US" altLang="en-US" sz="1800" dirty="0">
                <a:sym typeface="Symbol" panose="05050102010706020507" pitchFamily="18" charset="2"/>
              </a:rPr>
              <a:t>Modification: do not allow records to cross block boundaries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74DA74E-10FF-476C-BC1E-F2F508F3CAE2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773123"/>
          <a:ext cx="4273552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8388">
                  <a:extLst>
                    <a:ext uri="{9D8B030D-6E8A-4147-A177-3AD203B41FA5}">
                      <a16:colId xmlns:a16="http://schemas.microsoft.com/office/drawing/2014/main" val="416153551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736039446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414113990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33213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82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D9C15A-4376-4E25-B03C-2D6FA3F984C4}"/>
              </a:ext>
            </a:extLst>
          </p:cNvPr>
          <p:cNvSpPr txBox="1"/>
          <p:nvPr/>
        </p:nvSpPr>
        <p:spPr>
          <a:xfrm>
            <a:off x="0" y="1928591"/>
            <a:ext cx="36715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endParaRPr lang="en-US" sz="1800" dirty="0">
              <a:solidFill>
                <a:srgbClr val="0000FF"/>
              </a:solidFill>
            </a:endParaRPr>
          </a:p>
          <a:p>
            <a:r>
              <a:rPr lang="en-US" sz="1800" dirty="0"/>
              <a:t>Given block size = 512bytes. Record size = 100 bytes.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Select * from instructor where id = 76766</a:t>
            </a:r>
          </a:p>
          <a:p>
            <a:r>
              <a:rPr lang="en-US" sz="1800" dirty="0"/>
              <a:t>Current head position in track 1000 and instructor location is track 0 and sector 0.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Explain how record crosses block?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What is the block number of id = 76766?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Explain how this query will be executed?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Find the number of seek and block transfer for this query.</a:t>
            </a:r>
          </a:p>
        </p:txBody>
      </p:sp>
    </p:spTree>
    <p:extLst>
      <p:ext uri="{BB962C8B-B14F-4D97-AF65-F5344CB8AC3E}">
        <p14:creationId xmlns:p14="http://schemas.microsoft.com/office/powerpoint/2010/main" val="252852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 </a:t>
            </a: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(Query Processing)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CCBFC-2976-4FF3-B9E2-11AE645EE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3671567" y="3143963"/>
            <a:ext cx="5173983" cy="3308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59B2BE-B936-4F9B-A861-7CD4551E81C4}"/>
              </a:ext>
            </a:extLst>
          </p:cNvPr>
          <p:cNvSpPr txBox="1"/>
          <p:nvPr/>
        </p:nvSpPr>
        <p:spPr>
          <a:xfrm>
            <a:off x="647114" y="757029"/>
            <a:ext cx="7849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b="1" dirty="0"/>
              <a:t>Simple approach: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en-US" sz="1800" dirty="0"/>
              <a:t>Store record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starting from byte </a:t>
            </a:r>
            <a:r>
              <a:rPr lang="en-US" altLang="en-US" sz="1800" i="1" dirty="0">
                <a:sym typeface="Greek Symbols" pitchFamily="18" charset="2"/>
              </a:rPr>
              <a:t>n </a:t>
            </a:r>
            <a:r>
              <a:rPr lang="en-US" altLang="en-US" sz="1800" i="1" dirty="0">
                <a:sym typeface="Symbol" panose="05050102010706020507" pitchFamily="18" charset="2"/>
              </a:rPr>
              <a:t> (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r>
              <a:rPr lang="en-US" altLang="en-US" sz="1800" i="1" dirty="0">
                <a:sym typeface="Symbol" panose="05050102010706020507" pitchFamily="18" charset="2"/>
              </a:rPr>
              <a:t> – </a:t>
            </a:r>
            <a:r>
              <a:rPr lang="en-US" altLang="en-US" sz="1800" dirty="0">
                <a:sym typeface="Symbol" panose="05050102010706020507" pitchFamily="18" charset="2"/>
              </a:rPr>
              <a:t>1), where </a:t>
            </a:r>
            <a:r>
              <a:rPr lang="en-US" altLang="en-US" sz="1800" i="1" dirty="0">
                <a:sym typeface="Symbol" panose="05050102010706020507" pitchFamily="18" charset="2"/>
              </a:rPr>
              <a:t>n </a:t>
            </a:r>
            <a:r>
              <a:rPr lang="en-US" altLang="en-US" sz="1800" dirty="0">
                <a:sym typeface="Symbol" panose="05050102010706020507" pitchFamily="18" charset="2"/>
              </a:rPr>
              <a:t>is the size of each record.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en-US" sz="1800" dirty="0">
                <a:sym typeface="Symbol" panose="05050102010706020507" pitchFamily="18" charset="2"/>
              </a:rPr>
              <a:t>Record access is simple but 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records may cross blocks (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???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  <a:p>
            <a:pPr lvl="2"/>
            <a:r>
              <a:rPr lang="en-US" altLang="en-US" sz="1800" dirty="0">
                <a:sym typeface="Symbol" panose="05050102010706020507" pitchFamily="18" charset="2"/>
              </a:rPr>
              <a:t>Modification: do not allow records to cross block boundaries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74DA74E-10FF-476C-BC1E-F2F508F3CAE2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773123"/>
          <a:ext cx="4273552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8388">
                  <a:extLst>
                    <a:ext uri="{9D8B030D-6E8A-4147-A177-3AD203B41FA5}">
                      <a16:colId xmlns:a16="http://schemas.microsoft.com/office/drawing/2014/main" val="416153551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736039446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414113990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33213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82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D9C15A-4376-4E25-B03C-2D6FA3F984C4}"/>
              </a:ext>
            </a:extLst>
          </p:cNvPr>
          <p:cNvSpPr txBox="1"/>
          <p:nvPr/>
        </p:nvSpPr>
        <p:spPr>
          <a:xfrm>
            <a:off x="0" y="2072541"/>
            <a:ext cx="35661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Question w1-5</a:t>
            </a:r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/>
              <a:t>Given block size = 350bytes. Record size = 100 bytes.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Select * from instructor where id = 98345</a:t>
            </a:r>
          </a:p>
          <a:p>
            <a:r>
              <a:rPr lang="en-US" sz="1800" dirty="0"/>
              <a:t>Current head position in track 1000 and instructor location is track 0 and sector 0.</a:t>
            </a:r>
          </a:p>
          <a:p>
            <a:r>
              <a:rPr lang="en-US" sz="1800" dirty="0"/>
              <a:t>Records does not crosses block boundary.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What is the block number of id = 76766?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Explain how this query will be executed?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Find the number of block transfer and seek for this query.</a:t>
            </a:r>
          </a:p>
        </p:txBody>
      </p:sp>
    </p:spTree>
    <p:extLst>
      <p:ext uri="{BB962C8B-B14F-4D97-AF65-F5344CB8AC3E}">
        <p14:creationId xmlns:p14="http://schemas.microsoft.com/office/powerpoint/2010/main" val="102081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 </a:t>
            </a: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(Deletion of Records)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CCBFC-2976-4FF3-B9E2-11AE645EE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3671567" y="3143963"/>
            <a:ext cx="5173983" cy="3308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59B2BE-B936-4F9B-A861-7CD4551E81C4}"/>
              </a:ext>
            </a:extLst>
          </p:cNvPr>
          <p:cNvSpPr txBox="1"/>
          <p:nvPr/>
        </p:nvSpPr>
        <p:spPr>
          <a:xfrm>
            <a:off x="647114" y="757029"/>
            <a:ext cx="784977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1800" dirty="0"/>
              <a:t>Deletion of record </a:t>
            </a:r>
            <a:r>
              <a:rPr lang="en-US" altLang="en-US" sz="1800" i="1" dirty="0"/>
              <a:t>i:  </a:t>
            </a:r>
            <a:r>
              <a:rPr lang="en-US" altLang="en-US" sz="1800" dirty="0"/>
              <a:t>alternatives</a:t>
            </a:r>
            <a:r>
              <a:rPr lang="en-US" altLang="en-US" sz="1800" i="1" dirty="0"/>
              <a:t>: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b="1" dirty="0">
                <a:solidFill>
                  <a:srgbClr val="0000FF"/>
                </a:solidFill>
              </a:rPr>
              <a:t>move records </a:t>
            </a:r>
            <a:r>
              <a:rPr lang="en-US" altLang="en-US" sz="1800" b="1" i="1" dirty="0" err="1">
                <a:solidFill>
                  <a:srgbClr val="0000FF"/>
                </a:solidFill>
              </a:rPr>
              <a:t>i</a:t>
            </a:r>
            <a:r>
              <a:rPr lang="en-US" altLang="en-US" sz="1800" b="1" dirty="0">
                <a:solidFill>
                  <a:srgbClr val="0000FF"/>
                </a:solidFill>
              </a:rPr>
              <a:t> + 1, . . ., </a:t>
            </a:r>
            <a:r>
              <a:rPr lang="en-US" altLang="en-US" sz="1800" b="1" i="1" dirty="0">
                <a:solidFill>
                  <a:srgbClr val="0000FF"/>
                </a:solidFill>
              </a:rPr>
              <a:t>n</a:t>
            </a:r>
            <a:r>
              <a:rPr lang="en-US" altLang="en-US" sz="1800" b="1" dirty="0">
                <a:solidFill>
                  <a:srgbClr val="0000FF"/>
                </a:solidFill>
              </a:rPr>
              <a:t>  to </a:t>
            </a:r>
            <a:r>
              <a:rPr lang="en-US" altLang="en-US" sz="1800" b="1" i="1" dirty="0" err="1">
                <a:solidFill>
                  <a:srgbClr val="0000FF"/>
                </a:solidFill>
              </a:rPr>
              <a:t>i</a:t>
            </a:r>
            <a:r>
              <a:rPr lang="en-US" altLang="en-US" sz="1800" b="1" i="1" dirty="0">
                <a:solidFill>
                  <a:srgbClr val="0000FF"/>
                </a:solidFill>
              </a:rPr>
              <a:t>, . . . , n </a:t>
            </a:r>
            <a:r>
              <a:rPr lang="en-US" altLang="en-US" sz="1800" b="1" i="1" dirty="0">
                <a:solidFill>
                  <a:srgbClr val="0000FF"/>
                </a:solidFill>
                <a:sym typeface="Symbol" panose="05050102010706020507" pitchFamily="18" charset="2"/>
              </a:rPr>
              <a:t>– 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>
                <a:sym typeface="Symbol" panose="05050102010706020507" pitchFamily="18" charset="2"/>
              </a:rPr>
              <a:t>move record </a:t>
            </a:r>
            <a:r>
              <a:rPr lang="en-US" altLang="en-US" sz="1800" i="1" dirty="0">
                <a:sym typeface="Symbol" panose="05050102010706020507" pitchFamily="18" charset="2"/>
              </a:rPr>
              <a:t>n </a:t>
            </a:r>
            <a:r>
              <a:rPr lang="en-US" altLang="en-US" sz="1800" dirty="0">
                <a:sym typeface="Symbol" panose="05050102010706020507" pitchFamily="18" charset="2"/>
              </a:rPr>
              <a:t> to 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>
                <a:sym typeface="Symbol" panose="05050102010706020507" pitchFamily="18" charset="2"/>
              </a:rPr>
              <a:t>do not move records, but link all free records on a </a:t>
            </a:r>
            <a:r>
              <a:rPr lang="en-US" altLang="en-US" sz="1800" i="1" dirty="0">
                <a:sym typeface="Symbol" panose="05050102010706020507" pitchFamily="18" charset="2"/>
              </a:rPr>
              <a:t>free list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74DA74E-10FF-476C-BC1E-F2F508F3CAE2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773123"/>
          <a:ext cx="4273552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8388">
                  <a:extLst>
                    <a:ext uri="{9D8B030D-6E8A-4147-A177-3AD203B41FA5}">
                      <a16:colId xmlns:a16="http://schemas.microsoft.com/office/drawing/2014/main" val="416153551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736039446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414113990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33213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82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D9C15A-4376-4E25-B03C-2D6FA3F984C4}"/>
              </a:ext>
            </a:extLst>
          </p:cNvPr>
          <p:cNvSpPr txBox="1"/>
          <p:nvPr/>
        </p:nvSpPr>
        <p:spPr>
          <a:xfrm>
            <a:off x="147662" y="3143963"/>
            <a:ext cx="3418448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endParaRPr lang="en-US" sz="1800" dirty="0">
              <a:solidFill>
                <a:srgbClr val="0000FF"/>
              </a:solidFill>
            </a:endParaRPr>
          </a:p>
          <a:p>
            <a:pPr>
              <a:spcAft>
                <a:spcPts val="600"/>
              </a:spcAft>
            </a:pPr>
            <a:endParaRPr lang="en-US" sz="1800" b="1" dirty="0"/>
          </a:p>
          <a:p>
            <a:pPr>
              <a:spcAft>
                <a:spcPts val="600"/>
              </a:spcAft>
            </a:pPr>
            <a:r>
              <a:rPr lang="en-US" sz="1800" b="1" dirty="0"/>
              <a:t>Delete from instructor where id = 22222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/>
              <a:t>Explain how the deletion will be performed </a:t>
            </a:r>
            <a:r>
              <a:rPr lang="en-US" sz="1800" dirty="0">
                <a:solidFill>
                  <a:srgbClr val="0000FF"/>
                </a:solidFill>
              </a:rPr>
              <a:t>using alternative a?</a:t>
            </a:r>
          </a:p>
        </p:txBody>
      </p:sp>
    </p:spTree>
    <p:extLst>
      <p:ext uri="{BB962C8B-B14F-4D97-AF65-F5344CB8AC3E}">
        <p14:creationId xmlns:p14="http://schemas.microsoft.com/office/powerpoint/2010/main" val="401628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 </a:t>
            </a: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(Deletion of Records)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59B2BE-B936-4F9B-A861-7CD4551E81C4}"/>
              </a:ext>
            </a:extLst>
          </p:cNvPr>
          <p:cNvSpPr txBox="1"/>
          <p:nvPr/>
        </p:nvSpPr>
        <p:spPr>
          <a:xfrm>
            <a:off x="647114" y="757029"/>
            <a:ext cx="784977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1800" dirty="0"/>
              <a:t>Deletion of record </a:t>
            </a:r>
            <a:r>
              <a:rPr lang="en-US" altLang="en-US" sz="1800" i="1" dirty="0"/>
              <a:t>i:  </a:t>
            </a:r>
            <a:r>
              <a:rPr lang="en-US" altLang="en-US" sz="1800" dirty="0"/>
              <a:t>alternatives</a:t>
            </a:r>
            <a:r>
              <a:rPr lang="en-US" altLang="en-US" sz="1800" i="1" dirty="0"/>
              <a:t>: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b="1" dirty="0"/>
              <a:t>move records </a:t>
            </a:r>
            <a:r>
              <a:rPr lang="en-US" altLang="en-US" sz="1800" b="1" i="1" dirty="0" err="1"/>
              <a:t>i</a:t>
            </a:r>
            <a:r>
              <a:rPr lang="en-US" altLang="en-US" sz="1800" b="1" dirty="0"/>
              <a:t> + 1, . . ., </a:t>
            </a:r>
            <a:r>
              <a:rPr lang="en-US" altLang="en-US" sz="1800" b="1" i="1" dirty="0"/>
              <a:t>n</a:t>
            </a:r>
            <a:r>
              <a:rPr lang="en-US" altLang="en-US" sz="1800" b="1" dirty="0"/>
              <a:t>  to </a:t>
            </a:r>
            <a:r>
              <a:rPr lang="en-US" altLang="en-US" sz="1800" b="1" i="1" dirty="0" err="1"/>
              <a:t>i</a:t>
            </a:r>
            <a:r>
              <a:rPr lang="en-US" altLang="en-US" sz="1800" b="1" i="1" dirty="0"/>
              <a:t>, . . . , n </a:t>
            </a:r>
            <a:r>
              <a:rPr lang="en-US" altLang="en-US" sz="1800" b="1" i="1" dirty="0">
                <a:sym typeface="Symbol" panose="05050102010706020507" pitchFamily="18" charset="2"/>
              </a:rPr>
              <a:t>– </a:t>
            </a:r>
            <a:r>
              <a:rPr lang="en-US" altLang="en-US" sz="1800" b="1" dirty="0">
                <a:sym typeface="Symbol" panose="05050102010706020507" pitchFamily="18" charset="2"/>
              </a:rPr>
              <a:t>1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>
                <a:sym typeface="Symbol" panose="05050102010706020507" pitchFamily="18" charset="2"/>
              </a:rPr>
              <a:t>move record </a:t>
            </a:r>
            <a:r>
              <a:rPr lang="en-US" altLang="en-US" sz="1800" i="1" dirty="0">
                <a:sym typeface="Symbol" panose="05050102010706020507" pitchFamily="18" charset="2"/>
              </a:rPr>
              <a:t>n </a:t>
            </a:r>
            <a:r>
              <a:rPr lang="en-US" altLang="en-US" sz="1800" dirty="0">
                <a:sym typeface="Symbol" panose="05050102010706020507" pitchFamily="18" charset="2"/>
              </a:rPr>
              <a:t> to 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>
                <a:sym typeface="Symbol" panose="05050102010706020507" pitchFamily="18" charset="2"/>
              </a:rPr>
              <a:t>do not move records, but link all free records on a </a:t>
            </a:r>
            <a:r>
              <a:rPr lang="en-US" altLang="en-US" sz="1800" i="1" dirty="0">
                <a:sym typeface="Symbol" panose="05050102010706020507" pitchFamily="18" charset="2"/>
              </a:rPr>
              <a:t>free list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74DA74E-10FF-476C-BC1E-F2F508F3CAE2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773123"/>
          <a:ext cx="4273552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8388">
                  <a:extLst>
                    <a:ext uri="{9D8B030D-6E8A-4147-A177-3AD203B41FA5}">
                      <a16:colId xmlns:a16="http://schemas.microsoft.com/office/drawing/2014/main" val="416153551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736039446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414113990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33213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82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D9C15A-4376-4E25-B03C-2D6FA3F984C4}"/>
              </a:ext>
            </a:extLst>
          </p:cNvPr>
          <p:cNvSpPr txBox="1"/>
          <p:nvPr/>
        </p:nvSpPr>
        <p:spPr>
          <a:xfrm>
            <a:off x="147662" y="3143963"/>
            <a:ext cx="3418448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endParaRPr lang="en-US" sz="1800" dirty="0">
              <a:solidFill>
                <a:srgbClr val="0000FF"/>
              </a:solidFill>
            </a:endParaRPr>
          </a:p>
          <a:p>
            <a:pPr>
              <a:spcAft>
                <a:spcPts val="600"/>
              </a:spcAft>
            </a:pPr>
            <a:endParaRPr lang="en-US" sz="1800" b="1" dirty="0"/>
          </a:p>
          <a:p>
            <a:pPr>
              <a:spcAft>
                <a:spcPts val="600"/>
              </a:spcAft>
            </a:pPr>
            <a:r>
              <a:rPr lang="en-US" sz="1800" b="1" dirty="0"/>
              <a:t>Delete from instructor where id = 22222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/>
              <a:t>Explain how the deletion will be performed using </a:t>
            </a:r>
            <a:r>
              <a:rPr lang="en-US" sz="1800" dirty="0">
                <a:solidFill>
                  <a:srgbClr val="0000FF"/>
                </a:solidFill>
              </a:rPr>
              <a:t>alternative a?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70106D-D923-496C-94D4-C755CE537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3871" y="3143963"/>
            <a:ext cx="5131679" cy="29984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DCF09E-B548-4103-8A3B-EE269148ADAB}"/>
              </a:ext>
            </a:extLst>
          </p:cNvPr>
          <p:cNvSpPr/>
          <p:nvPr/>
        </p:nvSpPr>
        <p:spPr bwMode="auto">
          <a:xfrm>
            <a:off x="3713871" y="3671668"/>
            <a:ext cx="5131679" cy="56257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9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 </a:t>
            </a: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(Deletion of Records)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59B2BE-B936-4F9B-A861-7CD4551E81C4}"/>
              </a:ext>
            </a:extLst>
          </p:cNvPr>
          <p:cNvSpPr txBox="1"/>
          <p:nvPr/>
        </p:nvSpPr>
        <p:spPr>
          <a:xfrm>
            <a:off x="647114" y="757029"/>
            <a:ext cx="784977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1800" dirty="0"/>
              <a:t>Deletion of record </a:t>
            </a:r>
            <a:r>
              <a:rPr lang="en-US" altLang="en-US" sz="1800" i="1" dirty="0"/>
              <a:t>i:  </a:t>
            </a:r>
            <a:r>
              <a:rPr lang="en-US" altLang="en-US" sz="1800" dirty="0"/>
              <a:t>alternatives</a:t>
            </a:r>
            <a:r>
              <a:rPr lang="en-US" altLang="en-US" sz="1800" i="1" dirty="0"/>
              <a:t>: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/>
              <a:t>move records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+ 1, . . ., </a:t>
            </a:r>
            <a:r>
              <a:rPr lang="en-US" altLang="en-US" sz="1800" i="1" dirty="0"/>
              <a:t>n</a:t>
            </a:r>
            <a:r>
              <a:rPr lang="en-US" altLang="en-US" sz="1800" dirty="0"/>
              <a:t>  to </a:t>
            </a:r>
            <a:r>
              <a:rPr lang="en-US" altLang="en-US" sz="1800" i="1" dirty="0" err="1"/>
              <a:t>i</a:t>
            </a:r>
            <a:r>
              <a:rPr lang="en-US" altLang="en-US" sz="1800" i="1" dirty="0"/>
              <a:t>, . . . , n </a:t>
            </a:r>
            <a:r>
              <a:rPr lang="en-US" altLang="en-US" sz="1800" i="1" dirty="0">
                <a:sym typeface="Symbol" panose="05050102010706020507" pitchFamily="18" charset="2"/>
              </a:rPr>
              <a:t>– </a:t>
            </a:r>
            <a:r>
              <a:rPr lang="en-US" altLang="en-US" sz="1800" dirty="0">
                <a:sym typeface="Symbol" panose="05050102010706020507" pitchFamily="18" charset="2"/>
              </a:rPr>
              <a:t>1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move record </a:t>
            </a:r>
            <a:r>
              <a:rPr lang="en-US" altLang="en-US" sz="1800" b="1" i="1" dirty="0">
                <a:solidFill>
                  <a:srgbClr val="0000FF"/>
                </a:solidFill>
                <a:sym typeface="Symbol" panose="05050102010706020507" pitchFamily="18" charset="2"/>
              </a:rPr>
              <a:t>n 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 to </a:t>
            </a:r>
            <a:r>
              <a:rPr lang="en-US" altLang="en-US" sz="1800" b="1" i="1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endParaRPr lang="en-US" altLang="en-US" sz="18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>
                <a:sym typeface="Symbol" panose="05050102010706020507" pitchFamily="18" charset="2"/>
              </a:rPr>
              <a:t>do not move records, but link all free records on a </a:t>
            </a:r>
            <a:r>
              <a:rPr lang="en-US" altLang="en-US" sz="1800" i="1" dirty="0">
                <a:sym typeface="Symbol" panose="05050102010706020507" pitchFamily="18" charset="2"/>
              </a:rPr>
              <a:t>free list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74DA74E-10FF-476C-BC1E-F2F508F3CAE2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773123"/>
          <a:ext cx="4273552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8388">
                  <a:extLst>
                    <a:ext uri="{9D8B030D-6E8A-4147-A177-3AD203B41FA5}">
                      <a16:colId xmlns:a16="http://schemas.microsoft.com/office/drawing/2014/main" val="416153551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736039446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414113990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33213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82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D9C15A-4376-4E25-B03C-2D6FA3F984C4}"/>
              </a:ext>
            </a:extLst>
          </p:cNvPr>
          <p:cNvSpPr txBox="1"/>
          <p:nvPr/>
        </p:nvSpPr>
        <p:spPr>
          <a:xfrm>
            <a:off x="147662" y="3143963"/>
            <a:ext cx="3418448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endParaRPr lang="en-US" sz="1800" dirty="0">
              <a:solidFill>
                <a:srgbClr val="0000FF"/>
              </a:solidFill>
            </a:endParaRPr>
          </a:p>
          <a:p>
            <a:pPr>
              <a:spcAft>
                <a:spcPts val="600"/>
              </a:spcAft>
            </a:pPr>
            <a:endParaRPr lang="en-US" sz="1800" b="1" dirty="0"/>
          </a:p>
          <a:p>
            <a:pPr>
              <a:spcAft>
                <a:spcPts val="600"/>
              </a:spcAft>
            </a:pPr>
            <a:r>
              <a:rPr lang="en-US" sz="1800" b="1" dirty="0"/>
              <a:t>Delete from instructor where id = 22222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/>
              <a:t>Explain how the deletion will be performed using </a:t>
            </a:r>
            <a:r>
              <a:rPr lang="en-US" sz="1800" dirty="0">
                <a:solidFill>
                  <a:srgbClr val="0000FF"/>
                </a:solidFill>
              </a:rPr>
              <a:t>alternative b?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F3CFF1-91C1-4D51-B104-695D975C5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3362" y="3172744"/>
            <a:ext cx="5152188" cy="29941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DCF09E-B548-4103-8A3B-EE269148ADAB}"/>
              </a:ext>
            </a:extLst>
          </p:cNvPr>
          <p:cNvSpPr/>
          <p:nvPr/>
        </p:nvSpPr>
        <p:spPr bwMode="auto">
          <a:xfrm>
            <a:off x="3713871" y="3729715"/>
            <a:ext cx="5131679" cy="56257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822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 </a:t>
            </a: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(Deletion of Records)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59B2BE-B936-4F9B-A861-7CD4551E81C4}"/>
              </a:ext>
            </a:extLst>
          </p:cNvPr>
          <p:cNvSpPr txBox="1"/>
          <p:nvPr/>
        </p:nvSpPr>
        <p:spPr>
          <a:xfrm>
            <a:off x="647114" y="757029"/>
            <a:ext cx="784977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1800" dirty="0"/>
              <a:t>Deletion of record </a:t>
            </a:r>
            <a:r>
              <a:rPr lang="en-US" altLang="en-US" sz="1800" i="1" dirty="0"/>
              <a:t>i:  </a:t>
            </a:r>
            <a:r>
              <a:rPr lang="en-US" altLang="en-US" sz="1800" dirty="0"/>
              <a:t>alternatives</a:t>
            </a:r>
            <a:r>
              <a:rPr lang="en-US" altLang="en-US" sz="1800" i="1" dirty="0"/>
              <a:t>: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/>
              <a:t>move records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+ 1, . . ., </a:t>
            </a:r>
            <a:r>
              <a:rPr lang="en-US" altLang="en-US" sz="1800" i="1" dirty="0"/>
              <a:t>n</a:t>
            </a:r>
            <a:r>
              <a:rPr lang="en-US" altLang="en-US" sz="1800" dirty="0"/>
              <a:t>  to </a:t>
            </a:r>
            <a:r>
              <a:rPr lang="en-US" altLang="en-US" sz="1800" i="1" dirty="0" err="1"/>
              <a:t>i</a:t>
            </a:r>
            <a:r>
              <a:rPr lang="en-US" altLang="en-US" sz="1800" i="1" dirty="0"/>
              <a:t>, . . . , n </a:t>
            </a:r>
            <a:r>
              <a:rPr lang="en-US" altLang="en-US" sz="1800" i="1" dirty="0">
                <a:sym typeface="Symbol" panose="05050102010706020507" pitchFamily="18" charset="2"/>
              </a:rPr>
              <a:t>– </a:t>
            </a:r>
            <a:r>
              <a:rPr lang="en-US" altLang="en-US" sz="1800" dirty="0">
                <a:sym typeface="Symbol" panose="05050102010706020507" pitchFamily="18" charset="2"/>
              </a:rPr>
              <a:t>1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>
                <a:sym typeface="Symbol" panose="05050102010706020507" pitchFamily="18" charset="2"/>
              </a:rPr>
              <a:t>move record </a:t>
            </a:r>
            <a:r>
              <a:rPr lang="en-US" altLang="en-US" sz="1800" i="1" dirty="0">
                <a:sym typeface="Symbol" panose="05050102010706020507" pitchFamily="18" charset="2"/>
              </a:rPr>
              <a:t>n </a:t>
            </a:r>
            <a:r>
              <a:rPr lang="en-US" altLang="en-US" sz="1800" dirty="0">
                <a:sym typeface="Symbol" panose="05050102010706020507" pitchFamily="18" charset="2"/>
              </a:rPr>
              <a:t> to 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do not move records, but link all free records on a </a:t>
            </a:r>
            <a:r>
              <a:rPr lang="en-US" altLang="en-US" sz="1800" b="1" i="1" dirty="0">
                <a:solidFill>
                  <a:srgbClr val="0000FF"/>
                </a:solidFill>
                <a:sym typeface="Symbol" panose="05050102010706020507" pitchFamily="18" charset="2"/>
              </a:rPr>
              <a:t>free list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74DA74E-10FF-476C-BC1E-F2F508F3CAE2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773123"/>
          <a:ext cx="4273552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8388">
                  <a:extLst>
                    <a:ext uri="{9D8B030D-6E8A-4147-A177-3AD203B41FA5}">
                      <a16:colId xmlns:a16="http://schemas.microsoft.com/office/drawing/2014/main" val="416153551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736039446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414113990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33213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82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D9C15A-4376-4E25-B03C-2D6FA3F984C4}"/>
              </a:ext>
            </a:extLst>
          </p:cNvPr>
          <p:cNvSpPr txBox="1"/>
          <p:nvPr/>
        </p:nvSpPr>
        <p:spPr>
          <a:xfrm>
            <a:off x="119527" y="2414521"/>
            <a:ext cx="3418448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endParaRPr lang="en-US" sz="1800" dirty="0">
              <a:solidFill>
                <a:srgbClr val="0000FF"/>
              </a:solidFill>
            </a:endParaRPr>
          </a:p>
          <a:p>
            <a:pPr>
              <a:spcAft>
                <a:spcPts val="600"/>
              </a:spcAft>
            </a:pPr>
            <a:endParaRPr lang="en-US" sz="1800" b="1" dirty="0"/>
          </a:p>
          <a:p>
            <a:pPr>
              <a:spcAft>
                <a:spcPts val="600"/>
              </a:spcAft>
            </a:pPr>
            <a:r>
              <a:rPr lang="en-US" sz="1800" b="1" dirty="0"/>
              <a:t>Delete from instructor where id = 12121 (record 1)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b="1" dirty="0"/>
              <a:t>Delete from instructor where id = 32343 (record 4)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b="1" dirty="0"/>
              <a:t>Delete from instructor where id = 45565 (record 6)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/>
              <a:t>Explain how the deletion will be performed using </a:t>
            </a:r>
            <a:r>
              <a:rPr lang="en-US" sz="1800" dirty="0">
                <a:solidFill>
                  <a:srgbClr val="0000FF"/>
                </a:solidFill>
              </a:rPr>
              <a:t>alternative c?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5BFA84-4B01-4BAD-97E6-D2AF4FC17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8674" y="3128922"/>
            <a:ext cx="5933966" cy="37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29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 </a:t>
            </a: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(Deletion of Records)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59B2BE-B936-4F9B-A861-7CD4551E81C4}"/>
              </a:ext>
            </a:extLst>
          </p:cNvPr>
          <p:cNvSpPr txBox="1"/>
          <p:nvPr/>
        </p:nvSpPr>
        <p:spPr>
          <a:xfrm>
            <a:off x="647114" y="757029"/>
            <a:ext cx="784977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1800" dirty="0"/>
              <a:t>Deletion of record </a:t>
            </a:r>
            <a:r>
              <a:rPr lang="en-US" altLang="en-US" sz="1800" i="1" dirty="0"/>
              <a:t>i:  </a:t>
            </a:r>
            <a:r>
              <a:rPr lang="en-US" altLang="en-US" sz="1800" dirty="0"/>
              <a:t>alternatives</a:t>
            </a:r>
            <a:r>
              <a:rPr lang="en-US" altLang="en-US" sz="1800" i="1" dirty="0"/>
              <a:t>: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/>
              <a:t>move records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+ 1, . . ., </a:t>
            </a:r>
            <a:r>
              <a:rPr lang="en-US" altLang="en-US" sz="1800" i="1" dirty="0"/>
              <a:t>n</a:t>
            </a:r>
            <a:r>
              <a:rPr lang="en-US" altLang="en-US" sz="1800" dirty="0"/>
              <a:t>  to </a:t>
            </a:r>
            <a:r>
              <a:rPr lang="en-US" altLang="en-US" sz="1800" i="1" dirty="0" err="1"/>
              <a:t>i</a:t>
            </a:r>
            <a:r>
              <a:rPr lang="en-US" altLang="en-US" sz="1800" i="1" dirty="0"/>
              <a:t>, . . . , n </a:t>
            </a:r>
            <a:r>
              <a:rPr lang="en-US" altLang="en-US" sz="1800" i="1" dirty="0">
                <a:sym typeface="Symbol" panose="05050102010706020507" pitchFamily="18" charset="2"/>
              </a:rPr>
              <a:t>– </a:t>
            </a:r>
            <a:r>
              <a:rPr lang="en-US" altLang="en-US" sz="1800" dirty="0">
                <a:sym typeface="Symbol" panose="05050102010706020507" pitchFamily="18" charset="2"/>
              </a:rPr>
              <a:t>1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>
                <a:sym typeface="Symbol" panose="05050102010706020507" pitchFamily="18" charset="2"/>
              </a:rPr>
              <a:t>move record </a:t>
            </a:r>
            <a:r>
              <a:rPr lang="en-US" altLang="en-US" sz="1800" i="1" dirty="0">
                <a:sym typeface="Symbol" panose="05050102010706020507" pitchFamily="18" charset="2"/>
              </a:rPr>
              <a:t>n </a:t>
            </a:r>
            <a:r>
              <a:rPr lang="en-US" altLang="en-US" sz="1800" dirty="0">
                <a:sym typeface="Symbol" panose="05050102010706020507" pitchFamily="18" charset="2"/>
              </a:rPr>
              <a:t> to </a:t>
            </a:r>
            <a:r>
              <a:rPr lang="en-US" altLang="en-US" sz="1800" i="1" dirty="0" err="1">
                <a:sym typeface="Symbol" panose="05050102010706020507" pitchFamily="18" charset="2"/>
              </a:rPr>
              <a:t>i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do not move records, but link all free records on a </a:t>
            </a:r>
            <a:r>
              <a:rPr lang="en-US" altLang="en-US" sz="1800" b="1" i="1" dirty="0">
                <a:solidFill>
                  <a:srgbClr val="0000FF"/>
                </a:solidFill>
                <a:sym typeface="Symbol" panose="05050102010706020507" pitchFamily="18" charset="2"/>
              </a:rPr>
              <a:t>free list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74DA74E-10FF-476C-BC1E-F2F508F3CAE2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773123"/>
          <a:ext cx="4273552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8388">
                  <a:extLst>
                    <a:ext uri="{9D8B030D-6E8A-4147-A177-3AD203B41FA5}">
                      <a16:colId xmlns:a16="http://schemas.microsoft.com/office/drawing/2014/main" val="416153551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736039446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4141139900"/>
                    </a:ext>
                  </a:extLst>
                </a:gridCol>
                <a:gridCol w="1068388">
                  <a:extLst>
                    <a:ext uri="{9D8B030D-6E8A-4147-A177-3AD203B41FA5}">
                      <a16:colId xmlns:a16="http://schemas.microsoft.com/office/drawing/2014/main" val="133213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82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D9C15A-4376-4E25-B03C-2D6FA3F984C4}"/>
              </a:ext>
            </a:extLst>
          </p:cNvPr>
          <p:cNvSpPr txBox="1"/>
          <p:nvPr/>
        </p:nvSpPr>
        <p:spPr>
          <a:xfrm>
            <a:off x="119526" y="2414521"/>
            <a:ext cx="3605385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Discussion</a:t>
            </a:r>
          </a:p>
          <a:p>
            <a:endParaRPr lang="en-US" sz="1800" b="1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800" dirty="0"/>
              <a:t>Implementation of fixed length record file management system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Defining classes and methods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Storage of a relation as per the defined classes</a:t>
            </a:r>
          </a:p>
          <a:p>
            <a:pPr>
              <a:spcAft>
                <a:spcPts val="600"/>
              </a:spcAft>
            </a:pPr>
            <a:endParaRPr lang="en-US" sz="1800" b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5BFA84-4B01-4BAD-97E6-D2AF4FC17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8674" y="3128922"/>
            <a:ext cx="5933966" cy="37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67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6791EE68-37C9-4B1B-9F29-C787D33A9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Variable-Length Records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F477C-AFC7-4A0E-9FD5-266F3A5074B6}"/>
              </a:ext>
            </a:extLst>
          </p:cNvPr>
          <p:cNvSpPr txBox="1"/>
          <p:nvPr/>
        </p:nvSpPr>
        <p:spPr>
          <a:xfrm>
            <a:off x="253218" y="1167618"/>
            <a:ext cx="8592331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1800" dirty="0"/>
              <a:t>Variable-length records arise in database systems in several ways: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r>
              <a:rPr lang="en-US" altLang="en-US" sz="1800" dirty="0"/>
              <a:t>Storage of multiple record types in a file</a:t>
            </a:r>
          </a:p>
          <a:p>
            <a:pPr>
              <a:spcAft>
                <a:spcPts val="600"/>
              </a:spcAft>
            </a:pPr>
            <a:endParaRPr lang="en-US" altLang="en-US" sz="1800" dirty="0"/>
          </a:p>
          <a:p>
            <a:pPr>
              <a:spcAft>
                <a:spcPts val="600"/>
              </a:spcAft>
            </a:pPr>
            <a:r>
              <a:rPr lang="en-US" altLang="en-US" sz="1800" dirty="0">
                <a:solidFill>
                  <a:srgbClr val="0000FF"/>
                </a:solidFill>
              </a:rPr>
              <a:t>Example:</a:t>
            </a:r>
            <a:r>
              <a:rPr lang="en-US" altLang="en-US" sz="1800" dirty="0"/>
              <a:t> </a:t>
            </a:r>
            <a:r>
              <a:rPr lang="en-US" altLang="en-US" sz="1800" i="1" dirty="0"/>
              <a:t>student </a:t>
            </a:r>
            <a:r>
              <a:rPr lang="en-US" altLang="en-US" sz="1800" dirty="0"/>
              <a:t>(id char(10), name char(30), address char(50), CGPA number(3,2), year-admit number(4)) and </a:t>
            </a:r>
            <a:r>
              <a:rPr lang="en-US" altLang="en-US" sz="1800" i="1" dirty="0"/>
              <a:t>takes</a:t>
            </a:r>
            <a:r>
              <a:rPr lang="en-US" altLang="en-US" sz="1800" dirty="0"/>
              <a:t> (id char(10), course-id char(20), level char(1), term char(1)) are stored in same file. 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eriod"/>
            </a:pPr>
            <a:endParaRPr lang="en-US" altLang="en-US" sz="1800" dirty="0"/>
          </a:p>
          <a:p>
            <a:pPr marL="342900" indent="-342900">
              <a:spcAft>
                <a:spcPts val="600"/>
              </a:spcAft>
              <a:buFont typeface="+mj-lt"/>
              <a:buAutoNum type="alphaLcPeriod" startAt="2"/>
            </a:pPr>
            <a:r>
              <a:rPr lang="en-US" altLang="en-US" sz="1800" dirty="0"/>
              <a:t>Record types that allow variable lengths for one or more fields such as strings (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)</a:t>
            </a:r>
          </a:p>
          <a:p>
            <a:pPr>
              <a:spcAft>
                <a:spcPts val="600"/>
              </a:spcAft>
            </a:pPr>
            <a:r>
              <a:rPr lang="en-US" altLang="en-US" sz="1800" dirty="0">
                <a:solidFill>
                  <a:srgbClr val="0000FF"/>
                </a:solidFill>
              </a:rPr>
              <a:t>Example:</a:t>
            </a:r>
            <a:r>
              <a:rPr lang="en-US" altLang="en-US" sz="1800" dirty="0"/>
              <a:t> </a:t>
            </a:r>
            <a:r>
              <a:rPr lang="en-US" altLang="en-US" sz="1800" i="1" dirty="0"/>
              <a:t>student </a:t>
            </a:r>
            <a:r>
              <a:rPr lang="en-US" altLang="en-US" sz="1800" dirty="0"/>
              <a:t>(id char(10), name varchar(30), address varchar(50), CGPA number(3,2), year-admit number(4))</a:t>
            </a:r>
          </a:p>
          <a:p>
            <a:pPr>
              <a:spcAft>
                <a:spcPts val="600"/>
              </a:spcAft>
            </a:pPr>
            <a:endParaRPr lang="en-US" altLang="en-US" sz="1800" dirty="0"/>
          </a:p>
          <a:p>
            <a:pPr>
              <a:spcAft>
                <a:spcPts val="600"/>
              </a:spcAft>
            </a:pPr>
            <a:r>
              <a:rPr lang="en-US" altLang="en-US" sz="2000" dirty="0"/>
              <a:t>c. Record types that allow repeating fields (used in some older data models).</a:t>
            </a:r>
            <a:endParaRPr lang="en-US" altLang="en-US" sz="1800" dirty="0"/>
          </a:p>
          <a:p>
            <a:pPr>
              <a:spcAft>
                <a:spcPts val="600"/>
              </a:spcAft>
            </a:pP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6791EE68-37C9-4B1B-9F29-C787D33A9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Variable-Length Records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F477C-AFC7-4A0E-9FD5-266F3A5074B6}"/>
              </a:ext>
            </a:extLst>
          </p:cNvPr>
          <p:cNvSpPr txBox="1"/>
          <p:nvPr/>
        </p:nvSpPr>
        <p:spPr>
          <a:xfrm>
            <a:off x="253218" y="1167618"/>
            <a:ext cx="859233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1800" b="1" dirty="0"/>
              <a:t>Implementation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Attributes are stored in order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Variable length attributes represented by fixed size (offset, length), with actual data stored after all fixed length attributes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Null values represented by null-value bitmap</a:t>
            </a:r>
          </a:p>
          <a:p>
            <a:pPr>
              <a:spcAft>
                <a:spcPts val="600"/>
              </a:spcAft>
            </a:pPr>
            <a:endParaRPr lang="en-US" altLang="en-US" sz="1800" dirty="0"/>
          </a:p>
          <a:p>
            <a:pPr>
              <a:spcAft>
                <a:spcPts val="600"/>
              </a:spcAft>
            </a:pPr>
            <a:r>
              <a:rPr lang="en-US" altLang="en-US" sz="1800" dirty="0"/>
              <a:t>Example: Implement the variable length record for the relation:</a:t>
            </a:r>
          </a:p>
          <a:p>
            <a:pPr>
              <a:spcAft>
                <a:spcPts val="600"/>
              </a:spcAft>
            </a:pPr>
            <a:r>
              <a:rPr lang="en-US" altLang="en-US" sz="1800" i="1" dirty="0"/>
              <a:t>instructor</a:t>
            </a:r>
            <a:r>
              <a:rPr lang="en-US" altLang="en-US" sz="1800" dirty="0"/>
              <a:t> (id char(5), name varchar2(30), dept-name varchar2(20), salary number(8)) for the following record: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25EAAF7-D9A2-4C63-A1B6-E7F56BAE7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94" y="4823961"/>
            <a:ext cx="6486632" cy="1191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0D3742-EEC3-43B5-8CF2-255620F8E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7026" y="4443023"/>
            <a:ext cx="4324350" cy="2952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ED967E-2847-91A5-4291-7865A9FADC20}"/>
                  </a:ext>
                </a:extLst>
              </p14:cNvPr>
              <p14:cNvContentPartPr/>
              <p14:nvPr/>
            </p14:nvContentPartPr>
            <p14:xfrm>
              <a:off x="2428920" y="2205720"/>
              <a:ext cx="5751000" cy="634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ED967E-2847-91A5-4291-7865A9FADC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19560" y="2196360"/>
                <a:ext cx="5769720" cy="65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312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6791EE68-37C9-4B1B-9F29-C787D33A9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Variable-Length Records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F477C-AFC7-4A0E-9FD5-266F3A5074B6}"/>
              </a:ext>
            </a:extLst>
          </p:cNvPr>
          <p:cNvSpPr txBox="1"/>
          <p:nvPr/>
        </p:nvSpPr>
        <p:spPr>
          <a:xfrm>
            <a:off x="253218" y="1167618"/>
            <a:ext cx="8592331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1800" b="1">
                <a:solidFill>
                  <a:srgbClr val="FF0000"/>
                </a:solidFill>
              </a:rPr>
              <a:t>Question w1-6:</a:t>
            </a:r>
            <a:r>
              <a:rPr lang="en-US" altLang="en-US" sz="1800"/>
              <a:t> </a:t>
            </a:r>
            <a:r>
              <a:rPr lang="en-US" altLang="en-US" sz="1800" dirty="0"/>
              <a:t>Implement the variable length record for the relation:</a:t>
            </a:r>
          </a:p>
          <a:p>
            <a:pPr>
              <a:spcAft>
                <a:spcPts val="600"/>
              </a:spcAft>
            </a:pPr>
            <a:r>
              <a:rPr lang="en-US" altLang="en-US" sz="1800" i="1" dirty="0"/>
              <a:t>instructor</a:t>
            </a:r>
            <a:r>
              <a:rPr lang="en-US" altLang="en-US" sz="1800" dirty="0"/>
              <a:t> (id char(5), name varchar2(30), dept-name varchar2(20), salary number(8)) for the following records: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25EAAF7-D9A2-4C63-A1B6-E7F56BAE7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562" y="4133375"/>
            <a:ext cx="6486632" cy="1191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0D3742-EEC3-43B5-8CF2-255620F8E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312" y="2429351"/>
            <a:ext cx="4324350" cy="295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3CDAF9-ECB7-430F-87A1-441B222B9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4312" y="3133725"/>
            <a:ext cx="43243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4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C76C3333-53AE-4B99-A283-DF0FABC61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467" y="338142"/>
            <a:ext cx="8627985" cy="457200"/>
          </a:xfrm>
        </p:spPr>
        <p:txBody>
          <a:bodyPr/>
          <a:lstStyle/>
          <a:p>
            <a:pPr>
              <a:defRPr/>
            </a:pPr>
            <a:r>
              <a:rPr lang="en-US" altLang="en-US" sz="27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Variable-Length Records: Slotted Page Structure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89C70259-E6A3-4EBA-80A2-237FC0E12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3065463"/>
            <a:ext cx="7430609" cy="3438525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Slotted page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header contains:</a:t>
            </a:r>
          </a:p>
          <a:p>
            <a:pPr lvl="1"/>
            <a:r>
              <a:rPr lang="en-US" altLang="en-US" dirty="0"/>
              <a:t>number of record entries</a:t>
            </a:r>
          </a:p>
          <a:p>
            <a:pPr lvl="1"/>
            <a:r>
              <a:rPr lang="en-US" altLang="en-US" dirty="0"/>
              <a:t>end of free space in the block</a:t>
            </a:r>
          </a:p>
          <a:p>
            <a:pPr lvl="1"/>
            <a:r>
              <a:rPr lang="en-US" altLang="en-US" dirty="0"/>
              <a:t>location and size of each record</a:t>
            </a:r>
          </a:p>
          <a:p>
            <a:r>
              <a:rPr lang="en-US" altLang="en-US" dirty="0"/>
              <a:t>Records can be moved around within a page to keep them contiguous with no empty space between them; entry in the header must be updated.</a:t>
            </a:r>
          </a:p>
          <a:p>
            <a:r>
              <a:rPr lang="en-US" altLang="en-US" dirty="0"/>
              <a:t>Pointers should not point directly to record — instead they should point to the entry for the record in header.</a:t>
            </a:r>
          </a:p>
        </p:txBody>
      </p:sp>
      <p:pic>
        <p:nvPicPr>
          <p:cNvPr id="90116" name="Picture 10">
            <a:extLst>
              <a:ext uri="{FF2B5EF4-FFF2-40B4-BE49-F238E27FC236}">
                <a16:creationId xmlns:a16="http://schemas.microsoft.com/office/drawing/2014/main" id="{F694B84F-B2F1-4444-A933-01994CEFE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15" y="1155738"/>
            <a:ext cx="5103812" cy="1733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0D438B-E689-4CF2-B2CF-A48444B7C7ED}"/>
              </a:ext>
            </a:extLst>
          </p:cNvPr>
          <p:cNvSpPr txBox="1"/>
          <p:nvPr/>
        </p:nvSpPr>
        <p:spPr>
          <a:xfrm>
            <a:off x="407963" y="436098"/>
            <a:ext cx="8328074" cy="3337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relational schema as follows: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(</a:t>
            </a:r>
            <a:r>
              <a:rPr lang="en-US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id,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NID, name, f-name, f-NID, m-name, m-NID, DOB,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cgpa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tot-cred,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-id,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-name,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-street,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-city, house-no, street, city, d-no, d-name, building)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Takes (id, course-no, semester, year, grade)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(course-no, title, credit, pre-req)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record size for student, takes and course are 400, 100 and 80 bytes respectively. The block size is 4 KB. Show the slotted page structure after storage of one tuple (record) from each relation as per the above mentioned order.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7B543-C531-4164-ABDA-F9B7A55C31ED}"/>
              </a:ext>
            </a:extLst>
          </p:cNvPr>
          <p:cNvSpPr txBox="1"/>
          <p:nvPr/>
        </p:nvSpPr>
        <p:spPr>
          <a:xfrm>
            <a:off x="520505" y="3910818"/>
            <a:ext cx="6682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insert student record of 400 byte into the block of 4000byte.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FDD55B-A4BB-44C2-B678-23D25993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818" y="4718178"/>
            <a:ext cx="6891223" cy="15138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138E21-AF46-6738-B556-6423BFF69D3A}"/>
                  </a:ext>
                </a:extLst>
              </p14:cNvPr>
              <p14:cNvContentPartPr/>
              <p14:nvPr/>
            </p14:nvContentPartPr>
            <p14:xfrm>
              <a:off x="1705680" y="3357720"/>
              <a:ext cx="607680" cy="27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138E21-AF46-6738-B556-6423BFF69D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6320" y="3348360"/>
                <a:ext cx="626400" cy="4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864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D517BE-EADD-40C8-B0C2-9CD3BBE3056A}"/>
              </a:ext>
            </a:extLst>
          </p:cNvPr>
          <p:cNvSpPr txBox="1"/>
          <p:nvPr/>
        </p:nvSpPr>
        <p:spPr>
          <a:xfrm>
            <a:off x="351693" y="436098"/>
            <a:ext cx="6682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insert takes record of 100 byte into the block of 4000byte.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E7A259-A3BA-49E1-8EAA-E9E2A1F9D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1327864"/>
            <a:ext cx="7595655" cy="16685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14D9A2-4552-4F55-B78F-B4B684B41C00}"/>
              </a:ext>
            </a:extLst>
          </p:cNvPr>
          <p:cNvSpPr txBox="1"/>
          <p:nvPr/>
        </p:nvSpPr>
        <p:spPr>
          <a:xfrm>
            <a:off x="351692" y="3861584"/>
            <a:ext cx="82155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Question w2-3:</a:t>
            </a:r>
          </a:p>
          <a:p>
            <a:pPr marL="342900" indent="-342900">
              <a:buFont typeface="+mj-lt"/>
              <a:buAutoNum type="alphaLcPeriod"/>
            </a:pPr>
            <a:r>
              <a:rPr lang="en-US" dirty="0"/>
              <a:t>Insert course record of 80 byte into the block of 4000byte.</a:t>
            </a:r>
          </a:p>
          <a:p>
            <a:pPr marL="342900" indent="-342900">
              <a:buFont typeface="+mj-lt"/>
              <a:buAutoNum type="alphaLcPeriod"/>
            </a:pPr>
            <a:r>
              <a:rPr lang="en-US" dirty="0"/>
              <a:t>Explain the deletion of a record for different cases (last record, first record, any record in </a:t>
            </a:r>
            <a:r>
              <a:rPr lang="en-US" dirty="0" err="1"/>
              <a:t>betewen</a:t>
            </a:r>
            <a:r>
              <a:rPr lang="en-US" dirty="0"/>
              <a:t> first and last record)</a:t>
            </a:r>
          </a:p>
        </p:txBody>
      </p:sp>
    </p:spTree>
    <p:extLst>
      <p:ext uri="{BB962C8B-B14F-4D97-AF65-F5344CB8AC3E}">
        <p14:creationId xmlns:p14="http://schemas.microsoft.com/office/powerpoint/2010/main" val="736947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F18C1-BD2E-4B39-B110-F2F02CBE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Storing Large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491D-30F5-4220-98ED-F4DC61CD8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E.g., blob/</a:t>
            </a:r>
            <a:r>
              <a:rPr lang="en-IN" dirty="0" err="1"/>
              <a:t>clob</a:t>
            </a:r>
            <a:r>
              <a:rPr lang="en-IN" dirty="0"/>
              <a:t> types</a:t>
            </a:r>
          </a:p>
          <a:p>
            <a:r>
              <a:rPr lang="en-IN" dirty="0"/>
              <a:t>Some DBMS: Records must be smaller than blocks</a:t>
            </a:r>
          </a:p>
          <a:p>
            <a:r>
              <a:rPr lang="en-IN" dirty="0"/>
              <a:t>Alternatives:</a:t>
            </a:r>
          </a:p>
          <a:p>
            <a:pPr lvl="1"/>
            <a:r>
              <a:rPr lang="en-IN" dirty="0"/>
              <a:t>Store as files in file systems</a:t>
            </a:r>
          </a:p>
          <a:p>
            <a:pPr lvl="1"/>
            <a:r>
              <a:rPr lang="en-IN" dirty="0"/>
              <a:t>Store as files managed by database</a:t>
            </a:r>
          </a:p>
          <a:p>
            <a:pPr lvl="1"/>
            <a:r>
              <a:rPr lang="en-IN" dirty="0"/>
              <a:t>Break into pieces and store in multiple tuples in separate relation</a:t>
            </a:r>
          </a:p>
          <a:p>
            <a:pPr lvl="2"/>
            <a:r>
              <a:rPr lang="en-IN" dirty="0"/>
              <a:t>PostgreSQL TOAST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EF6BFA-E9DC-D1CD-85B7-7DFB7C0386F4}"/>
                  </a:ext>
                </a:extLst>
              </p14:cNvPr>
              <p14:cNvContentPartPr/>
              <p14:nvPr/>
            </p14:nvContentPartPr>
            <p14:xfrm>
              <a:off x="1714680" y="633960"/>
              <a:ext cx="3447000" cy="2955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EF6BFA-E9DC-D1CD-85B7-7DFB7C0386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5320" y="624600"/>
                <a:ext cx="3465720" cy="29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C5BE52-9724-2F45-B08A-2F2893188429}"/>
                  </a:ext>
                </a:extLst>
              </p14:cNvPr>
              <p14:cNvContentPartPr/>
              <p14:nvPr/>
            </p14:nvContentPartPr>
            <p14:xfrm>
              <a:off x="5099040" y="1732320"/>
              <a:ext cx="1045080" cy="72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C5BE52-9724-2F45-B08A-2F28931884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89680" y="1722960"/>
                <a:ext cx="1063800" cy="9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6972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>
            <a:extLst>
              <a:ext uri="{FF2B5EF4-FFF2-40B4-BE49-F238E27FC236}">
                <a16:creationId xmlns:a16="http://schemas.microsoft.com/office/drawing/2014/main" id="{1E0CDBBC-71C6-47C5-B89E-1BDF28D186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Multitable Clustering File Organization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C767BF78-D2D9-436C-985A-ECF7147D7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3" y="1016000"/>
            <a:ext cx="678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Store several relations in one file using a </a:t>
            </a:r>
            <a:r>
              <a:rPr lang="en-US" altLang="en-US" sz="1800" b="1" dirty="0" err="1">
                <a:solidFill>
                  <a:srgbClr val="002060"/>
                </a:solidFill>
              </a:rPr>
              <a:t>multitable</a:t>
            </a:r>
            <a:r>
              <a:rPr lang="en-US" altLang="en-US" sz="1800" b="1" dirty="0">
                <a:solidFill>
                  <a:srgbClr val="002060"/>
                </a:solidFill>
              </a:rPr>
              <a:t> clustering </a:t>
            </a:r>
            <a:r>
              <a:rPr lang="en-US" altLang="en-US" sz="1800" dirty="0"/>
              <a:t>file organization</a:t>
            </a:r>
          </a:p>
        </p:txBody>
      </p:sp>
      <p:sp>
        <p:nvSpPr>
          <p:cNvPr id="98311" name="Text Box 7">
            <a:extLst>
              <a:ext uri="{FF2B5EF4-FFF2-40B4-BE49-F238E27FC236}">
                <a16:creationId xmlns:a16="http://schemas.microsoft.com/office/drawing/2014/main" id="{A8C408CC-5E78-4F76-950F-93004534D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35954"/>
            <a:ext cx="1339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 dirty="0"/>
              <a:t>department</a:t>
            </a:r>
          </a:p>
        </p:txBody>
      </p:sp>
      <p:sp>
        <p:nvSpPr>
          <p:cNvPr id="98312" name="Text Box 8">
            <a:extLst>
              <a:ext uri="{FF2B5EF4-FFF2-40B4-BE49-F238E27FC236}">
                <a16:creationId xmlns:a16="http://schemas.microsoft.com/office/drawing/2014/main" id="{997D0B1D-B44C-4ECF-9498-1849597FB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3245643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 dirty="0"/>
              <a:t>instructor</a:t>
            </a:r>
          </a:p>
        </p:txBody>
      </p:sp>
      <p:sp>
        <p:nvSpPr>
          <p:cNvPr id="98313" name="Text Box 9">
            <a:extLst>
              <a:ext uri="{FF2B5EF4-FFF2-40B4-BE49-F238E27FC236}">
                <a16:creationId xmlns:a16="http://schemas.microsoft.com/office/drawing/2014/main" id="{406E2E2B-92DC-4A3F-9645-D094BDCFA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4738688"/>
            <a:ext cx="22034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 err="1"/>
              <a:t>multitable</a:t>
            </a:r>
            <a:r>
              <a:rPr kumimoji="0" lang="en-US" altLang="en-US" sz="1800" dirty="0"/>
              <a:t> clustering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of</a:t>
            </a:r>
            <a:r>
              <a:rPr kumimoji="0" lang="en-US" altLang="en-US" sz="1800" i="1" dirty="0"/>
              <a:t> department </a:t>
            </a:r>
            <a:r>
              <a:rPr kumimoji="0" lang="en-US" altLang="en-US" sz="1800" dirty="0"/>
              <a:t>and</a:t>
            </a:r>
            <a:r>
              <a:rPr kumimoji="0" lang="en-US" altLang="en-US" sz="1800" i="1" dirty="0"/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 dirty="0"/>
              <a:t>instructor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FFF8798-6E6B-47E8-8BB9-C2576E506B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33413"/>
          <a:stretch/>
        </p:blipFill>
        <p:spPr>
          <a:xfrm>
            <a:off x="1980194" y="1582632"/>
            <a:ext cx="3383855" cy="125602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0C245B3-E503-4226-969D-8E8221626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20736" y="2904062"/>
            <a:ext cx="3633856" cy="141658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804855E-3CEB-48E5-B9FA-BCC8F0829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6119" y="4638390"/>
            <a:ext cx="4155860" cy="1677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4DA8EE-E88E-41D3-BBB0-13325432007F}"/>
              </a:ext>
            </a:extLst>
          </p:cNvPr>
          <p:cNvSpPr txBox="1"/>
          <p:nvPr/>
        </p:nvSpPr>
        <p:spPr>
          <a:xfrm>
            <a:off x="5470993" y="1657350"/>
            <a:ext cx="3673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ID, building</a:t>
            </a:r>
          </a:p>
          <a:p>
            <a:r>
              <a:rPr lang="en-US" dirty="0"/>
              <a:t>FROM instructor </a:t>
            </a:r>
            <a:r>
              <a:rPr lang="en-US" dirty="0" err="1"/>
              <a:t>i</a:t>
            </a:r>
            <a:r>
              <a:rPr lang="en-US" dirty="0"/>
              <a:t>, department d</a:t>
            </a:r>
          </a:p>
          <a:p>
            <a:r>
              <a:rPr lang="en-US" dirty="0"/>
              <a:t>WHERE </a:t>
            </a:r>
            <a:r>
              <a:rPr lang="en-US" dirty="0" err="1"/>
              <a:t>i.dept_name</a:t>
            </a:r>
            <a:r>
              <a:rPr lang="en-US" dirty="0"/>
              <a:t> = </a:t>
            </a:r>
            <a:r>
              <a:rPr lang="en-US" dirty="0" err="1"/>
              <a:t>d.dept_name</a:t>
            </a:r>
            <a:endParaRPr lang="en-US" dirty="0"/>
          </a:p>
          <a:p>
            <a:r>
              <a:rPr lang="en-US" dirty="0"/>
              <a:t>And </a:t>
            </a:r>
            <a:r>
              <a:rPr lang="en-US" dirty="0" err="1"/>
              <a:t>dept_name</a:t>
            </a:r>
            <a:r>
              <a:rPr lang="en-US" dirty="0"/>
              <a:t> = ‘Comp. Sci.’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CC819-D5E7-4E5B-A1FA-D3C4A17A7BC4}"/>
              </a:ext>
            </a:extLst>
          </p:cNvPr>
          <p:cNvSpPr txBox="1"/>
          <p:nvPr/>
        </p:nvSpPr>
        <p:spPr>
          <a:xfrm>
            <a:off x="6020972" y="3123028"/>
            <a:ext cx="3123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Example</a:t>
            </a:r>
          </a:p>
          <a:p>
            <a:r>
              <a:rPr lang="en-US" dirty="0"/>
              <a:t>Explain how the above query is processed using </a:t>
            </a:r>
          </a:p>
          <a:p>
            <a:pPr marL="342900" indent="-342900">
              <a:buFont typeface="+mj-lt"/>
              <a:buAutoNum type="alphaLcPeriod"/>
            </a:pPr>
            <a:r>
              <a:rPr lang="en-US" dirty="0"/>
              <a:t>Single table file organization</a:t>
            </a:r>
          </a:p>
          <a:p>
            <a:pPr marL="342900" indent="-342900">
              <a:buFont typeface="+mj-lt"/>
              <a:buAutoNum type="alphaLcPeriod"/>
            </a:pPr>
            <a:r>
              <a:rPr lang="en-US" dirty="0"/>
              <a:t>Multi-table file organization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1683DE-F5DE-8CB6-D3EC-A64B845228C0}"/>
                  </a:ext>
                </a:extLst>
              </p14:cNvPr>
              <p14:cNvContentPartPr/>
              <p14:nvPr/>
            </p14:nvContentPartPr>
            <p14:xfrm>
              <a:off x="5161320" y="1384200"/>
              <a:ext cx="1991880" cy="18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1683DE-F5DE-8CB6-D3EC-A64B845228C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51960" y="1374840"/>
                <a:ext cx="2010600" cy="3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2761E86C-52C6-4666-890C-618804EBC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9804" y="117475"/>
            <a:ext cx="8077200" cy="609600"/>
          </a:xfrm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Multitable Clustering File Organization (cont.)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5DE76852-4504-41F8-A327-27C6F05B7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268413"/>
            <a:ext cx="7707313" cy="22828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1800" dirty="0"/>
              <a:t>good for queries involving </a:t>
            </a:r>
            <a:r>
              <a:rPr lang="en-US" altLang="en-US" sz="1800" i="1" dirty="0"/>
              <a:t>department </a:t>
            </a:r>
            <a:r>
              <a:rPr lang="en-US" altLang="en-US" sz="1800" dirty="0"/>
              <a:t> </a:t>
            </a:r>
            <a:r>
              <a:rPr lang="en-IN" sz="1800" dirty="0"/>
              <a:t>⨝</a:t>
            </a:r>
            <a:r>
              <a:rPr lang="en-US" altLang="en-US" sz="1800" dirty="0"/>
              <a:t> </a:t>
            </a:r>
            <a:r>
              <a:rPr lang="en-US" altLang="en-US" sz="1800" i="1" dirty="0"/>
              <a:t>instructor</a:t>
            </a:r>
            <a:r>
              <a:rPr lang="en-US" altLang="en-US" sz="1800" dirty="0"/>
              <a:t>, and for queries involving one single department and its instructors</a:t>
            </a:r>
          </a:p>
          <a:p>
            <a:pPr>
              <a:spcAft>
                <a:spcPts val="1200"/>
              </a:spcAft>
            </a:pPr>
            <a:r>
              <a:rPr lang="en-US" altLang="en-US" sz="1800" dirty="0"/>
              <a:t>bad for queries involving only </a:t>
            </a:r>
            <a:r>
              <a:rPr lang="en-US" altLang="en-US" sz="1800" i="1" dirty="0"/>
              <a:t>department</a:t>
            </a:r>
          </a:p>
          <a:p>
            <a:pPr>
              <a:spcAft>
                <a:spcPts val="1200"/>
              </a:spcAft>
            </a:pPr>
            <a:r>
              <a:rPr lang="en-US" altLang="en-US" sz="1800" dirty="0"/>
              <a:t>results in variable size records</a:t>
            </a:r>
          </a:p>
          <a:p>
            <a:pPr>
              <a:spcAft>
                <a:spcPts val="1200"/>
              </a:spcAft>
            </a:pPr>
            <a:r>
              <a:rPr lang="en-US" altLang="en-US" sz="1800" dirty="0"/>
              <a:t>Can add pointer chains to link records of a particular relation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3280A63-15AA-43F9-A155-8EDF5EAC6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762" y="3681787"/>
            <a:ext cx="4155860" cy="1677595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93FF463-7F04-4910-8242-178DA310B1F8}"/>
              </a:ext>
            </a:extLst>
          </p:cNvPr>
          <p:cNvSpPr/>
          <p:nvPr/>
        </p:nvSpPr>
        <p:spPr bwMode="auto">
          <a:xfrm>
            <a:off x="4923692" y="3938954"/>
            <a:ext cx="407963" cy="956603"/>
          </a:xfrm>
          <a:custGeom>
            <a:avLst/>
            <a:gdLst>
              <a:gd name="connsiteX0" fmla="*/ 28136 w 407963"/>
              <a:gd name="connsiteY0" fmla="*/ 0 h 956603"/>
              <a:gd name="connsiteX1" fmla="*/ 98474 w 407963"/>
              <a:gd name="connsiteY1" fmla="*/ 28135 h 956603"/>
              <a:gd name="connsiteX2" fmla="*/ 140677 w 407963"/>
              <a:gd name="connsiteY2" fmla="*/ 42203 h 956603"/>
              <a:gd name="connsiteX3" fmla="*/ 168813 w 407963"/>
              <a:gd name="connsiteY3" fmla="*/ 70338 h 956603"/>
              <a:gd name="connsiteX4" fmla="*/ 211016 w 407963"/>
              <a:gd name="connsiteY4" fmla="*/ 84406 h 956603"/>
              <a:gd name="connsiteX5" fmla="*/ 253219 w 407963"/>
              <a:gd name="connsiteY5" fmla="*/ 112541 h 956603"/>
              <a:gd name="connsiteX6" fmla="*/ 337625 w 407963"/>
              <a:gd name="connsiteY6" fmla="*/ 154744 h 956603"/>
              <a:gd name="connsiteX7" fmla="*/ 351693 w 407963"/>
              <a:gd name="connsiteY7" fmla="*/ 196948 h 956603"/>
              <a:gd name="connsiteX8" fmla="*/ 379828 w 407963"/>
              <a:gd name="connsiteY8" fmla="*/ 239151 h 956603"/>
              <a:gd name="connsiteX9" fmla="*/ 407963 w 407963"/>
              <a:gd name="connsiteY9" fmla="*/ 323557 h 956603"/>
              <a:gd name="connsiteX10" fmla="*/ 393896 w 407963"/>
              <a:gd name="connsiteY10" fmla="*/ 534572 h 956603"/>
              <a:gd name="connsiteX11" fmla="*/ 379828 w 407963"/>
              <a:gd name="connsiteY11" fmla="*/ 576775 h 956603"/>
              <a:gd name="connsiteX12" fmla="*/ 351693 w 407963"/>
              <a:gd name="connsiteY12" fmla="*/ 717452 h 956603"/>
              <a:gd name="connsiteX13" fmla="*/ 295422 w 407963"/>
              <a:gd name="connsiteY13" fmla="*/ 829994 h 956603"/>
              <a:gd name="connsiteX14" fmla="*/ 253219 w 407963"/>
              <a:gd name="connsiteY14" fmla="*/ 844061 h 956603"/>
              <a:gd name="connsiteX15" fmla="*/ 225083 w 407963"/>
              <a:gd name="connsiteY15" fmla="*/ 872197 h 956603"/>
              <a:gd name="connsiteX16" fmla="*/ 140677 w 407963"/>
              <a:gd name="connsiteY16" fmla="*/ 900332 h 956603"/>
              <a:gd name="connsiteX17" fmla="*/ 98474 w 407963"/>
              <a:gd name="connsiteY17" fmla="*/ 914400 h 956603"/>
              <a:gd name="connsiteX18" fmla="*/ 42203 w 407963"/>
              <a:gd name="connsiteY18" fmla="*/ 942535 h 956603"/>
              <a:gd name="connsiteX19" fmla="*/ 0 w 407963"/>
              <a:gd name="connsiteY19" fmla="*/ 956603 h 95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07963" h="956603">
                <a:moveTo>
                  <a:pt x="28136" y="0"/>
                </a:moveTo>
                <a:cubicBezTo>
                  <a:pt x="51582" y="9378"/>
                  <a:pt x="74830" y="19268"/>
                  <a:pt x="98474" y="28135"/>
                </a:cubicBezTo>
                <a:cubicBezTo>
                  <a:pt x="112358" y="33342"/>
                  <a:pt x="127961" y="34574"/>
                  <a:pt x="140677" y="42203"/>
                </a:cubicBezTo>
                <a:cubicBezTo>
                  <a:pt x="152050" y="49027"/>
                  <a:pt x="157440" y="63514"/>
                  <a:pt x="168813" y="70338"/>
                </a:cubicBezTo>
                <a:cubicBezTo>
                  <a:pt x="181529" y="77967"/>
                  <a:pt x="197753" y="77774"/>
                  <a:pt x="211016" y="84406"/>
                </a:cubicBezTo>
                <a:cubicBezTo>
                  <a:pt x="226138" y="91967"/>
                  <a:pt x="238097" y="104980"/>
                  <a:pt x="253219" y="112541"/>
                </a:cubicBezTo>
                <a:cubicBezTo>
                  <a:pt x="369704" y="170784"/>
                  <a:pt x="216677" y="74113"/>
                  <a:pt x="337625" y="154744"/>
                </a:cubicBezTo>
                <a:cubicBezTo>
                  <a:pt x="342314" y="168812"/>
                  <a:pt x="345061" y="183685"/>
                  <a:pt x="351693" y="196948"/>
                </a:cubicBezTo>
                <a:cubicBezTo>
                  <a:pt x="359254" y="212070"/>
                  <a:pt x="372961" y="223701"/>
                  <a:pt x="379828" y="239151"/>
                </a:cubicBezTo>
                <a:cubicBezTo>
                  <a:pt x="391873" y="266252"/>
                  <a:pt x="407963" y="323557"/>
                  <a:pt x="407963" y="323557"/>
                </a:cubicBezTo>
                <a:cubicBezTo>
                  <a:pt x="403274" y="393895"/>
                  <a:pt x="401681" y="464509"/>
                  <a:pt x="393896" y="534572"/>
                </a:cubicBezTo>
                <a:cubicBezTo>
                  <a:pt x="392258" y="549310"/>
                  <a:pt x="383045" y="562299"/>
                  <a:pt x="379828" y="576775"/>
                </a:cubicBezTo>
                <a:cubicBezTo>
                  <a:pt x="358103" y="674534"/>
                  <a:pt x="375713" y="637385"/>
                  <a:pt x="351693" y="717452"/>
                </a:cubicBezTo>
                <a:cubicBezTo>
                  <a:pt x="339376" y="758508"/>
                  <a:pt x="335577" y="805901"/>
                  <a:pt x="295422" y="829994"/>
                </a:cubicBezTo>
                <a:cubicBezTo>
                  <a:pt x="282707" y="837623"/>
                  <a:pt x="267287" y="839372"/>
                  <a:pt x="253219" y="844061"/>
                </a:cubicBezTo>
                <a:cubicBezTo>
                  <a:pt x="243840" y="853440"/>
                  <a:pt x="236946" y="866265"/>
                  <a:pt x="225083" y="872197"/>
                </a:cubicBezTo>
                <a:cubicBezTo>
                  <a:pt x="198557" y="885460"/>
                  <a:pt x="168812" y="890954"/>
                  <a:pt x="140677" y="900332"/>
                </a:cubicBezTo>
                <a:cubicBezTo>
                  <a:pt x="126609" y="905021"/>
                  <a:pt x="111737" y="907769"/>
                  <a:pt x="98474" y="914400"/>
                </a:cubicBezTo>
                <a:cubicBezTo>
                  <a:pt x="79717" y="923778"/>
                  <a:pt x="61478" y="934274"/>
                  <a:pt x="42203" y="942535"/>
                </a:cubicBezTo>
                <a:cubicBezTo>
                  <a:pt x="28573" y="948376"/>
                  <a:pt x="0" y="956603"/>
                  <a:pt x="0" y="956603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0FD7B7-8CC8-EBEB-994B-A8AEE74286AE}"/>
                  </a:ext>
                </a:extLst>
              </p14:cNvPr>
              <p14:cNvContentPartPr/>
              <p14:nvPr/>
            </p14:nvContentPartPr>
            <p14:xfrm>
              <a:off x="2428920" y="3429000"/>
              <a:ext cx="2081160" cy="36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0FD7B7-8CC8-EBEB-994B-A8AEE74286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9560" y="3419640"/>
                <a:ext cx="2099880" cy="5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6C427681-FE92-4716-B0D6-3C1132EC3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Data Dictionary Storage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F8AF8E1-0BFE-4988-B8AF-22B99F21E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151" y="1779588"/>
            <a:ext cx="3657600" cy="27783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Information about relations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names of relations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names, types and lengths of attributes of each relation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names and definitions of views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integrity constraints</a:t>
            </a:r>
          </a:p>
          <a:p>
            <a:pPr lvl="1">
              <a:lnSpc>
                <a:spcPct val="90000"/>
              </a:lnSpc>
            </a:pPr>
            <a:endParaRPr lang="en-US" altLang="en-US" sz="1800" dirty="0"/>
          </a:p>
        </p:txBody>
      </p:sp>
      <p:sp>
        <p:nvSpPr>
          <p:cNvPr id="102404" name="Text Box 6">
            <a:extLst>
              <a:ext uri="{FF2B5EF4-FFF2-40B4-BE49-F238E27FC236}">
                <a16:creationId xmlns:a16="http://schemas.microsoft.com/office/drawing/2014/main" id="{38943F03-FAEF-41D0-8332-F8979FE58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30166"/>
            <a:ext cx="66786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The</a:t>
            </a:r>
            <a:r>
              <a:rPr kumimoji="0" lang="en-US" altLang="en-US" sz="1800" dirty="0">
                <a:solidFill>
                  <a:srgbClr val="000099"/>
                </a:solidFill>
              </a:rPr>
              <a:t> </a:t>
            </a:r>
            <a:r>
              <a:rPr kumimoji="0" lang="en-US" altLang="en-US" sz="1800" b="1" dirty="0">
                <a:solidFill>
                  <a:srgbClr val="002060"/>
                </a:solidFill>
              </a:rPr>
              <a:t>Data dictionary</a:t>
            </a:r>
            <a:r>
              <a:rPr kumimoji="0" lang="en-US" altLang="en-US" sz="1800" dirty="0">
                <a:solidFill>
                  <a:srgbClr val="002060"/>
                </a:solidFill>
              </a:rPr>
              <a:t> </a:t>
            </a:r>
            <a:r>
              <a:rPr kumimoji="0" lang="en-US" altLang="en-US" sz="1800" dirty="0"/>
              <a:t>(also called </a:t>
            </a:r>
            <a:r>
              <a:rPr kumimoji="0" lang="en-US" altLang="en-US" sz="1800" b="1" dirty="0">
                <a:solidFill>
                  <a:srgbClr val="002060"/>
                </a:solidFill>
              </a:rPr>
              <a:t>system catalog</a:t>
            </a:r>
            <a:r>
              <a:rPr kumimoji="0" lang="en-US" altLang="en-US" sz="1800" dirty="0"/>
              <a:t>) stores </a:t>
            </a:r>
            <a:r>
              <a:rPr kumimoji="0" lang="en-US" altLang="en-US" sz="1800" b="1" dirty="0">
                <a:solidFill>
                  <a:srgbClr val="002060"/>
                </a:solidFill>
              </a:rPr>
              <a:t>metadata</a:t>
            </a:r>
            <a:r>
              <a:rPr kumimoji="0" lang="en-US" altLang="en-US" sz="1800" dirty="0"/>
              <a:t>; that is, data about data, such as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562B1F8-100F-4A8A-9B3A-26167BE7D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312" y="1779588"/>
            <a:ext cx="4557537" cy="378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646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6C427681-FE92-4716-B0D6-3C1132EC3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Data Dictionary Storage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F8AF8E1-0BFE-4988-B8AF-22B99F21E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150" y="1779588"/>
            <a:ext cx="3854547" cy="4527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User and accounting information, including passwords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Statistical and descriptive data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number of tuples in each relation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Physical file organization information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How relation is stored (sequential/hash/…)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Physical location of relation </a:t>
            </a:r>
          </a:p>
        </p:txBody>
      </p:sp>
      <p:sp>
        <p:nvSpPr>
          <p:cNvPr id="102404" name="Text Box 6">
            <a:extLst>
              <a:ext uri="{FF2B5EF4-FFF2-40B4-BE49-F238E27FC236}">
                <a16:creationId xmlns:a16="http://schemas.microsoft.com/office/drawing/2014/main" id="{38943F03-FAEF-41D0-8332-F8979FE58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30166"/>
            <a:ext cx="66786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The</a:t>
            </a:r>
            <a:r>
              <a:rPr kumimoji="0" lang="en-US" altLang="en-US" sz="1800" dirty="0">
                <a:solidFill>
                  <a:srgbClr val="000099"/>
                </a:solidFill>
              </a:rPr>
              <a:t> </a:t>
            </a:r>
            <a:r>
              <a:rPr kumimoji="0" lang="en-US" altLang="en-US" sz="1800" b="1" dirty="0">
                <a:solidFill>
                  <a:srgbClr val="002060"/>
                </a:solidFill>
              </a:rPr>
              <a:t>Data dictionary</a:t>
            </a:r>
            <a:r>
              <a:rPr kumimoji="0" lang="en-US" altLang="en-US" sz="1800" dirty="0">
                <a:solidFill>
                  <a:srgbClr val="002060"/>
                </a:solidFill>
              </a:rPr>
              <a:t> </a:t>
            </a:r>
            <a:r>
              <a:rPr kumimoji="0" lang="en-US" altLang="en-US" sz="1800" dirty="0"/>
              <a:t>(also called </a:t>
            </a:r>
            <a:r>
              <a:rPr kumimoji="0" lang="en-US" altLang="en-US" sz="1800" b="1" dirty="0">
                <a:solidFill>
                  <a:srgbClr val="002060"/>
                </a:solidFill>
              </a:rPr>
              <a:t>system catalog</a:t>
            </a:r>
            <a:r>
              <a:rPr kumimoji="0" lang="en-US" altLang="en-US" sz="1800" dirty="0"/>
              <a:t>) stores </a:t>
            </a:r>
            <a:r>
              <a:rPr kumimoji="0" lang="en-US" altLang="en-US" sz="1800" b="1" dirty="0">
                <a:solidFill>
                  <a:srgbClr val="002060"/>
                </a:solidFill>
              </a:rPr>
              <a:t>metadata</a:t>
            </a:r>
            <a:r>
              <a:rPr kumimoji="0" lang="en-US" altLang="en-US" sz="1800" dirty="0"/>
              <a:t>; that is, data about data, such as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562B1F8-100F-4A8A-9B3A-26167BE7D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312" y="1779588"/>
            <a:ext cx="4557537" cy="378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778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EE94F84B-01EE-4596-897A-63559CB1C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654" y="174627"/>
            <a:ext cx="8104188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Relational Representation of System Metadata</a:t>
            </a:r>
          </a:p>
        </p:txBody>
      </p:sp>
      <p:pic>
        <p:nvPicPr>
          <p:cNvPr id="104451" name="Picture 4">
            <a:extLst>
              <a:ext uri="{FF2B5EF4-FFF2-40B4-BE49-F238E27FC236}">
                <a16:creationId xmlns:a16="http://schemas.microsoft.com/office/drawing/2014/main" id="{31E46661-04BA-487C-A994-B5995C026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8" y="1522767"/>
            <a:ext cx="4864100" cy="4035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2" name="Rectangle 6">
            <a:extLst>
              <a:ext uri="{FF2B5EF4-FFF2-40B4-BE49-F238E27FC236}">
                <a16:creationId xmlns:a16="http://schemas.microsoft.com/office/drawing/2014/main" id="{3D2E2374-DDB3-4BA5-963B-D3E901381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0505" y="1384300"/>
            <a:ext cx="2838654" cy="4873625"/>
          </a:xfrm>
          <a:noFill/>
        </p:spPr>
        <p:txBody>
          <a:bodyPr/>
          <a:lstStyle/>
          <a:p>
            <a:r>
              <a:rPr lang="en-US" altLang="en-US" sz="1800" dirty="0"/>
              <a:t>Relational representation on disk</a:t>
            </a:r>
          </a:p>
          <a:p>
            <a:r>
              <a:rPr lang="en-US" altLang="en-US" sz="1800" dirty="0"/>
              <a:t>Specialized data structures designed for efficient access, in memory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305990-6933-4CAA-A823-DA7D3F08997A}"/>
              </a:ext>
            </a:extLst>
          </p:cNvPr>
          <p:cNvSpPr txBox="1"/>
          <p:nvPr/>
        </p:nvSpPr>
        <p:spPr>
          <a:xfrm>
            <a:off x="265112" y="4276578"/>
            <a:ext cx="3378420" cy="188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Question </a:t>
            </a:r>
            <a:r>
              <a:rPr lang="en-US" altLang="en-US" b="1" dirty="0">
                <a:solidFill>
                  <a:srgbClr val="FF0000"/>
                </a:solidFill>
              </a:rPr>
              <a:t>w2-4</a:t>
            </a:r>
            <a:r>
              <a:rPr lang="en-US" altLang="en-US" sz="1600" b="1" dirty="0">
                <a:solidFill>
                  <a:srgbClr val="FF0000"/>
                </a:solidFill>
              </a:rPr>
              <a:t>: </a:t>
            </a:r>
            <a:r>
              <a:rPr lang="en-US" altLang="en-US" sz="1600" dirty="0"/>
              <a:t>In DBMS,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 dirty="0"/>
              <a:t>you cannot create t</a:t>
            </a:r>
            <a:r>
              <a:rPr lang="en-US" altLang="en-US" dirty="0"/>
              <a:t>wo tables or two views with the same name;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t</a:t>
            </a:r>
            <a:r>
              <a:rPr lang="en-US" altLang="en-US" sz="1600" dirty="0"/>
              <a:t>wo attributes or two indices with the same name for the same table.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 dirty="0"/>
              <a:t>How </a:t>
            </a:r>
            <a:r>
              <a:rPr lang="en-US" altLang="en-US" dirty="0"/>
              <a:t>are these</a:t>
            </a:r>
            <a:r>
              <a:rPr lang="en-US" altLang="en-US" sz="1600" dirty="0"/>
              <a:t> implemented? 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330B927-308B-FA50-BAF0-D34599B890FF}"/>
                  </a:ext>
                </a:extLst>
              </p14:cNvPr>
              <p14:cNvContentPartPr/>
              <p14:nvPr/>
            </p14:nvContentPartPr>
            <p14:xfrm>
              <a:off x="1410840" y="669600"/>
              <a:ext cx="4697640" cy="7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330B927-308B-FA50-BAF0-D34599B890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1480" y="660240"/>
                <a:ext cx="4716360" cy="9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4562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00DC2C-F71E-4568-A8BF-BDADAE1B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Column-Oriented Storage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A81589-CC18-45D0-B88D-818E683EF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Also known as </a:t>
            </a:r>
            <a:r>
              <a:rPr lang="en-IN" b="1" dirty="0">
                <a:solidFill>
                  <a:srgbClr val="002060"/>
                </a:solidFill>
              </a:rPr>
              <a:t>columnar</a:t>
            </a:r>
            <a:r>
              <a:rPr lang="en-IN" b="1" dirty="0"/>
              <a:t> </a:t>
            </a:r>
            <a:r>
              <a:rPr lang="en-IN" b="1" dirty="0">
                <a:solidFill>
                  <a:srgbClr val="002060"/>
                </a:solidFill>
              </a:rPr>
              <a:t>representation</a:t>
            </a:r>
          </a:p>
          <a:p>
            <a:r>
              <a:rPr lang="en-IN" dirty="0"/>
              <a:t>Store each attribute of a relation separately</a:t>
            </a:r>
          </a:p>
          <a:p>
            <a:r>
              <a:rPr lang="en-IN" dirty="0"/>
              <a:t>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3" y="2216020"/>
            <a:ext cx="5720412" cy="299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03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ADB3-35F6-4B68-B765-D70C1EF9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Columnar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8808D-A718-4B7A-8519-32D98D6AC9AD}"/>
              </a:ext>
            </a:extLst>
          </p:cNvPr>
          <p:cNvSpPr txBox="1"/>
          <p:nvPr/>
        </p:nvSpPr>
        <p:spPr>
          <a:xfrm>
            <a:off x="630360" y="727075"/>
            <a:ext cx="83531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Benefits: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Reduced IO if only some attributes are accessed </a:t>
            </a:r>
            <a:r>
              <a:rPr lang="en-IN" sz="1800" b="1" dirty="0">
                <a:solidFill>
                  <a:srgbClr val="FF0000"/>
                </a:solidFill>
              </a:rPr>
              <a:t>(How?) </a:t>
            </a:r>
          </a:p>
          <a:p>
            <a:r>
              <a:rPr lang="en-US" sz="1800" dirty="0"/>
              <a:t>SELECT id, salary FROM instructor </a:t>
            </a:r>
            <a:endParaRPr lang="en-IN" sz="1800" b="1" dirty="0">
              <a:solidFill>
                <a:srgbClr val="FF0000"/>
              </a:solidFill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en-IN" sz="1800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1800" dirty="0"/>
              <a:t>Improved CPU cache performance </a:t>
            </a:r>
            <a:r>
              <a:rPr lang="en-IN" sz="1800" b="1" dirty="0">
                <a:solidFill>
                  <a:srgbClr val="FF0000"/>
                </a:solidFill>
              </a:rPr>
              <a:t>(How?)</a:t>
            </a:r>
            <a:r>
              <a:rPr lang="en-IN" sz="1800" dirty="0"/>
              <a:t>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1800" dirty="0"/>
              <a:t>Improved compression </a:t>
            </a:r>
            <a:r>
              <a:rPr lang="en-IN" sz="1800" b="1" dirty="0">
                <a:solidFill>
                  <a:srgbClr val="FF0000"/>
                </a:solidFill>
              </a:rPr>
              <a:t>(How?)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rgbClr val="002060"/>
                </a:solidFill>
              </a:rPr>
              <a:t>Vector processing </a:t>
            </a:r>
            <a:r>
              <a:rPr lang="en-IN" sz="1800" dirty="0"/>
              <a:t>on modern CPU architectures (Parallel CPU operation on multiple elements of an array.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747399-8B6E-4E1B-9B42-36F8E354D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794" y="3520196"/>
            <a:ext cx="5720412" cy="299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66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ADB3-35F6-4B68-B765-D70C1EF9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Columnar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8808D-A718-4B7A-8519-32D98D6AC9AD}"/>
              </a:ext>
            </a:extLst>
          </p:cNvPr>
          <p:cNvSpPr txBox="1"/>
          <p:nvPr/>
        </p:nvSpPr>
        <p:spPr>
          <a:xfrm>
            <a:off x="478302" y="843677"/>
            <a:ext cx="8665698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Drawbacks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800" dirty="0"/>
              <a:t>Cost of </a:t>
            </a:r>
            <a:r>
              <a:rPr lang="en-IN" sz="1800" dirty="0">
                <a:solidFill>
                  <a:srgbClr val="0000FF"/>
                </a:solidFill>
              </a:rPr>
              <a:t>tuple reconstruction </a:t>
            </a:r>
            <a:r>
              <a:rPr lang="en-IN" sz="1800" dirty="0"/>
              <a:t>from columnar representation </a:t>
            </a:r>
            <a:r>
              <a:rPr lang="en-IN" sz="1800" b="1" dirty="0">
                <a:solidFill>
                  <a:srgbClr val="FF0000"/>
                </a:solidFill>
              </a:rPr>
              <a:t>(What?)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800" b="1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IN" sz="1800" dirty="0"/>
              <a:t>Select * from instructor where id = 32343</a:t>
            </a:r>
          </a:p>
          <a:p>
            <a:pPr>
              <a:spcAft>
                <a:spcPts val="600"/>
              </a:spcAft>
            </a:pPr>
            <a:r>
              <a:rPr lang="en-IN" sz="1800" dirty="0"/>
              <a:t>How will this query be executed using columnar storage?</a:t>
            </a:r>
          </a:p>
          <a:p>
            <a:pPr>
              <a:spcAft>
                <a:spcPts val="600"/>
              </a:spcAft>
            </a:pPr>
            <a:r>
              <a:rPr lang="en-IN" sz="1800" dirty="0"/>
              <a:t>Search id column and find 32343 and the tuple-id (here it is 5)</a:t>
            </a:r>
          </a:p>
          <a:p>
            <a:pPr>
              <a:spcAft>
                <a:spcPts val="600"/>
              </a:spcAft>
            </a:pPr>
            <a:r>
              <a:rPr lang="en-IN" sz="1800" dirty="0"/>
              <a:t>Query result = 32343, 5</a:t>
            </a:r>
            <a:r>
              <a:rPr lang="en-IN" sz="1800" baseline="30000" dirty="0"/>
              <a:t>th</a:t>
            </a:r>
            <a:r>
              <a:rPr lang="en-IN" sz="1800" dirty="0"/>
              <a:t> value of name column, 5</a:t>
            </a:r>
            <a:r>
              <a:rPr lang="en-IN" sz="1800" baseline="30000" dirty="0"/>
              <a:t>th</a:t>
            </a:r>
            <a:r>
              <a:rPr lang="en-IN" sz="1800" dirty="0"/>
              <a:t> value of dept-name column,    5</a:t>
            </a:r>
            <a:r>
              <a:rPr lang="en-IN" sz="1800" baseline="30000" dirty="0"/>
              <a:t>th</a:t>
            </a:r>
            <a:r>
              <a:rPr lang="en-IN" sz="1800" dirty="0"/>
              <a:t> value of salary column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81AFBF-B112-4ACB-B6A2-8D106A233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661" y="3573194"/>
            <a:ext cx="5246176" cy="275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56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ADB3-35F6-4B68-B765-D70C1EF9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Columnar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8808D-A718-4B7A-8519-32D98D6AC9AD}"/>
              </a:ext>
            </a:extLst>
          </p:cNvPr>
          <p:cNvSpPr txBox="1"/>
          <p:nvPr/>
        </p:nvSpPr>
        <p:spPr>
          <a:xfrm>
            <a:off x="478302" y="843677"/>
            <a:ext cx="866569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Drawbacks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800" dirty="0"/>
              <a:t>Cost of tuple deletion and update </a:t>
            </a:r>
            <a:r>
              <a:rPr lang="en-IN" sz="1800" b="1" dirty="0">
                <a:solidFill>
                  <a:srgbClr val="FF0000"/>
                </a:solidFill>
              </a:rPr>
              <a:t>(What?)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800" b="1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IN" sz="1800" dirty="0"/>
              <a:t>Delete from instructor where dept-name = ‘History’</a:t>
            </a:r>
          </a:p>
          <a:p>
            <a:pPr>
              <a:spcAft>
                <a:spcPts val="600"/>
              </a:spcAft>
            </a:pP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dirty="0"/>
              <a:t>Find tuple-id of ‘History’ from dept-name column ( tuple-id = 5, 8)</a:t>
            </a:r>
          </a:p>
          <a:p>
            <a:pPr>
              <a:spcAft>
                <a:spcPts val="600"/>
              </a:spcAft>
            </a:pPr>
            <a:r>
              <a:rPr lang="en-IN" sz="1800" dirty="0"/>
              <a:t>Delete tuple-id = 5, 8 from all 4 columns</a:t>
            </a:r>
          </a:p>
          <a:p>
            <a:pPr>
              <a:spcAft>
                <a:spcPts val="600"/>
              </a:spcAft>
            </a:pPr>
            <a:endParaRPr lang="en-IN" sz="1800" dirty="0"/>
          </a:p>
          <a:p>
            <a:pPr>
              <a:spcAft>
                <a:spcPts val="600"/>
              </a:spcAft>
            </a:pPr>
            <a:r>
              <a:rPr lang="en-IN" sz="1800" dirty="0"/>
              <a:t>Similar is update</a:t>
            </a:r>
          </a:p>
          <a:p>
            <a:pPr>
              <a:spcAft>
                <a:spcPts val="600"/>
              </a:spcAft>
            </a:pP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81AFBF-B112-4ACB-B6A2-8D106A233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605" y="4167664"/>
            <a:ext cx="4112231" cy="21558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9E43FD-DC8F-2C99-1482-2F6D40E765EB}"/>
                  </a:ext>
                </a:extLst>
              </p14:cNvPr>
              <p14:cNvContentPartPr/>
              <p14:nvPr/>
            </p14:nvContentPartPr>
            <p14:xfrm>
              <a:off x="1759320" y="3482640"/>
              <a:ext cx="2322000" cy="759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9E43FD-DC8F-2C99-1482-2F6D40E765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9960" y="3473280"/>
                <a:ext cx="2340720" cy="77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0008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ADB3-35F6-4B68-B765-D70C1EF9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Compressed Columnar Representation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2335D-360A-49E1-9F76-288B97AAD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782" y="1123930"/>
            <a:ext cx="5898690" cy="461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1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ADB3-35F6-4B68-B765-D70C1EF9A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14" y="398829"/>
            <a:ext cx="8077200" cy="609600"/>
          </a:xfrm>
        </p:spPr>
        <p:txBody>
          <a:bodyPr/>
          <a:lstStyle/>
          <a:p>
            <a:r>
              <a:rPr lang="en-IN" dirty="0"/>
              <a:t>Query Processing in Compressed Columnar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F45251-566E-46FC-934C-3BE7FDE91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05" y="1385166"/>
            <a:ext cx="6126918" cy="494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72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ADB3-35F6-4B68-B765-D70C1EF9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Columnar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8808D-A718-4B7A-8519-32D98D6AC9AD}"/>
              </a:ext>
            </a:extLst>
          </p:cNvPr>
          <p:cNvSpPr txBox="1"/>
          <p:nvPr/>
        </p:nvSpPr>
        <p:spPr>
          <a:xfrm>
            <a:off x="661183" y="1110962"/>
            <a:ext cx="8665698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Advantages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Storage efficient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Query efficient because query can be processed in compressed form with a very low decompression overhead</a:t>
            </a:r>
          </a:p>
          <a:p>
            <a:endParaRPr lang="en-IN" sz="1800" b="1" dirty="0"/>
          </a:p>
          <a:p>
            <a:endParaRPr lang="en-IN" sz="1800" b="1" dirty="0"/>
          </a:p>
          <a:p>
            <a:r>
              <a:rPr lang="en-IN" sz="1800" b="1" dirty="0"/>
              <a:t>Drawbacks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800" dirty="0"/>
              <a:t>Cost of decompression </a:t>
            </a:r>
            <a:r>
              <a:rPr lang="en-IN" sz="1800" b="1" dirty="0">
                <a:solidFill>
                  <a:srgbClr val="FF0000"/>
                </a:solidFill>
              </a:rPr>
              <a:t>(What?) </a:t>
            </a:r>
          </a:p>
          <a:p>
            <a:pPr>
              <a:spcAft>
                <a:spcPts val="600"/>
              </a:spcAft>
            </a:pPr>
            <a:r>
              <a:rPr lang="en-IN" sz="1800" dirty="0"/>
              <a:t>Columns are stored in compressed format. Every query requires decompression</a:t>
            </a:r>
            <a:endParaRPr lang="en-IN" sz="1800" b="1" dirty="0"/>
          </a:p>
          <a:p>
            <a:pPr>
              <a:spcAft>
                <a:spcPts val="600"/>
              </a:spcAft>
            </a:pPr>
            <a:endParaRPr lang="en-IN" sz="1800" b="1" dirty="0"/>
          </a:p>
          <a:p>
            <a:pPr>
              <a:spcAft>
                <a:spcPts val="600"/>
              </a:spcAft>
            </a:pPr>
            <a:r>
              <a:rPr lang="en-IN" sz="1800" b="1" dirty="0"/>
              <a:t>Conclusions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800" dirty="0"/>
              <a:t>Columnar representation found to be more efficient for decision support than row-oriented representation </a:t>
            </a:r>
            <a:r>
              <a:rPr lang="en-IN" sz="1800" b="1" dirty="0">
                <a:solidFill>
                  <a:srgbClr val="FF0000"/>
                </a:solidFill>
              </a:rPr>
              <a:t>(Why?)</a:t>
            </a:r>
            <a:endParaRPr lang="en-IN" sz="1800" dirty="0"/>
          </a:p>
          <a:p>
            <a:pPr>
              <a:spcAft>
                <a:spcPts val="1200"/>
              </a:spcAft>
            </a:pPr>
            <a:r>
              <a:rPr lang="en-IN" sz="1800" dirty="0"/>
              <a:t>Data Warehouse (DW) is used for decision support</a:t>
            </a:r>
          </a:p>
          <a:p>
            <a:pPr>
              <a:spcAft>
                <a:spcPts val="1200"/>
              </a:spcAft>
            </a:pPr>
            <a:r>
              <a:rPr lang="en-IN" sz="1800" dirty="0"/>
              <a:t>DW uses only few attributes, no update and only data insert. </a:t>
            </a:r>
          </a:p>
          <a:p>
            <a:pPr>
              <a:spcAft>
                <a:spcPts val="1200"/>
              </a:spcAft>
            </a:pPr>
            <a:r>
              <a:rPr lang="en-IN" sz="1800" dirty="0"/>
              <a:t>So column storage is efficient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E8091A-F849-1473-9CA4-7762B4D6B055}"/>
                  </a:ext>
                </a:extLst>
              </p14:cNvPr>
              <p14:cNvContentPartPr/>
              <p14:nvPr/>
            </p14:nvContentPartPr>
            <p14:xfrm>
              <a:off x="580680" y="830520"/>
              <a:ext cx="8349480" cy="5536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E8091A-F849-1473-9CA4-7762B4D6B0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320" y="821160"/>
                <a:ext cx="8368200" cy="55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5013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ADB3-35F6-4B68-B765-D70C1EF9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Columnar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8808D-A718-4B7A-8519-32D98D6AC9AD}"/>
              </a:ext>
            </a:extLst>
          </p:cNvPr>
          <p:cNvSpPr txBox="1"/>
          <p:nvPr/>
        </p:nvSpPr>
        <p:spPr>
          <a:xfrm>
            <a:off x="478302" y="843677"/>
            <a:ext cx="866569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800" b="1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800" dirty="0"/>
              <a:t>Traditional row-oriented representation preferable for transaction processing </a:t>
            </a:r>
            <a:r>
              <a:rPr lang="en-IN" sz="1800" b="1" dirty="0">
                <a:solidFill>
                  <a:srgbClr val="FF0000"/>
                </a:solidFill>
              </a:rPr>
              <a:t>(Why?) </a:t>
            </a:r>
          </a:p>
          <a:p>
            <a:pPr>
              <a:spcAft>
                <a:spcPts val="600"/>
              </a:spcAft>
            </a:pPr>
            <a:r>
              <a:rPr lang="en-IN" sz="1800" dirty="0"/>
              <a:t>Transaction processing requires frequent update and deletion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8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800" dirty="0"/>
              <a:t>Some databases support both representations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800" dirty="0"/>
              <a:t>Called </a:t>
            </a:r>
            <a:r>
              <a:rPr lang="en-IN" sz="1800" b="1" dirty="0">
                <a:solidFill>
                  <a:srgbClr val="002060"/>
                </a:solidFill>
              </a:rPr>
              <a:t>hybrid row/column stores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81AFBF-B112-4ACB-B6A2-8D106A233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49" y="4209797"/>
            <a:ext cx="4112231" cy="21558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D80987-4CFE-F399-D096-D5EDF7959D25}"/>
                  </a:ext>
                </a:extLst>
              </p14:cNvPr>
              <p14:cNvContentPartPr/>
              <p14:nvPr/>
            </p14:nvContentPartPr>
            <p14:xfrm>
              <a:off x="2705760" y="1634040"/>
              <a:ext cx="4608000" cy="1491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D80987-4CFE-F399-D096-D5EDF7959D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6400" y="1624680"/>
                <a:ext cx="4626720" cy="151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4741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DD51DF-BD16-4414-AF17-B95B25D9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Columnar File Representation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947E03-AE49-4DD7-B9F1-237C959C7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388" y="1093788"/>
            <a:ext cx="8031161" cy="4903787"/>
          </a:xfrm>
        </p:spPr>
        <p:txBody>
          <a:bodyPr/>
          <a:lstStyle/>
          <a:p>
            <a:r>
              <a:rPr lang="en-IN" sz="1800" dirty="0"/>
              <a:t>ORC (Optimized Row Columnar) and Parquet: file formats with columnar storage inside file</a:t>
            </a:r>
          </a:p>
          <a:p>
            <a:r>
              <a:rPr lang="en-IN" sz="1800" dirty="0"/>
              <a:t>Very popular for big-data applications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Orc file format</a:t>
            </a:r>
          </a:p>
          <a:p>
            <a:r>
              <a:rPr lang="en-US" sz="1800" dirty="0"/>
              <a:t>ORC and Parquet are columnar file representations used in many big-data processing applications. </a:t>
            </a:r>
          </a:p>
          <a:p>
            <a:r>
              <a:rPr lang="en-US" sz="1800" dirty="0"/>
              <a:t>In ORC, a row-oriented representation is converted to column-oriented representation as follows: A sequence of tuples occupying several hundred megabytes is broken up into a columnar representation called a stripe. </a:t>
            </a:r>
          </a:p>
          <a:p>
            <a:r>
              <a:rPr lang="en-US" sz="1800" dirty="0"/>
              <a:t>An ORC file contains several such stripes, with each stripe occupying around 250 megabytes</a:t>
            </a:r>
            <a:endParaRPr lang="en-IN" sz="1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F050F5-0DE0-FD11-7969-6FC72215A697}"/>
                  </a:ext>
                </a:extLst>
              </p14:cNvPr>
              <p14:cNvContentPartPr/>
              <p14:nvPr/>
            </p14:nvContentPartPr>
            <p14:xfrm>
              <a:off x="3598920" y="1384200"/>
              <a:ext cx="1000440" cy="89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F050F5-0DE0-FD11-7969-6FC72215A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9560" y="1374840"/>
                <a:ext cx="101916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B02F65-EE8D-3E70-94E9-BEEDC1BA7E08}"/>
                  </a:ext>
                </a:extLst>
              </p14:cNvPr>
              <p14:cNvContentPartPr/>
              <p14:nvPr/>
            </p14:nvContentPartPr>
            <p14:xfrm>
              <a:off x="1393200" y="1428840"/>
              <a:ext cx="6876000" cy="27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B02F65-EE8D-3E70-94E9-BEEDC1BA7E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3840" y="1419480"/>
                <a:ext cx="6894720" cy="29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9829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60B0322-7A57-4754-9928-37753E431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852963"/>
            <a:ext cx="3743560" cy="566181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FDD51DF-BD16-4414-AF17-B95B25D9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Columnar File Representation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947E03-AE49-4DD7-B9F1-237C959C7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389" y="1093788"/>
            <a:ext cx="3170470" cy="4903787"/>
          </a:xfrm>
        </p:spPr>
        <p:txBody>
          <a:bodyPr/>
          <a:lstStyle/>
          <a:p>
            <a:r>
              <a:rPr lang="en-IN" sz="1800" dirty="0"/>
              <a:t>ORC (Optimized Row Columnar) and Parquet: file formats with columnar storage inside file</a:t>
            </a:r>
          </a:p>
          <a:p>
            <a:r>
              <a:rPr lang="en-IN" sz="1800" dirty="0"/>
              <a:t>Very popular for big-data applications</a:t>
            </a:r>
          </a:p>
          <a:p>
            <a:r>
              <a:rPr lang="en-IN" sz="1800" dirty="0"/>
              <a:t>Orc file format shown on right:</a:t>
            </a:r>
          </a:p>
        </p:txBody>
      </p:sp>
    </p:spTree>
    <p:extLst>
      <p:ext uri="{BB962C8B-B14F-4D97-AF65-F5344CB8AC3E}">
        <p14:creationId xmlns:p14="http://schemas.microsoft.com/office/powerpoint/2010/main" val="1646136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7EA2-3C95-4A58-AB93-7E3B5255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654" y="100003"/>
            <a:ext cx="8077200" cy="685796"/>
          </a:xfrm>
        </p:spPr>
        <p:txBody>
          <a:bodyPr/>
          <a:lstStyle/>
          <a:p>
            <a:r>
              <a:rPr lang="en-IN" sz="2600" dirty="0"/>
              <a:t>Storage Organization in Main-Memory Databases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6F9F0-775D-4579-A597-103CBDD9A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1233435"/>
            <a:ext cx="3803649" cy="4920791"/>
          </a:xfrm>
        </p:spPr>
        <p:txBody>
          <a:bodyPr/>
          <a:lstStyle/>
          <a:p>
            <a:r>
              <a:rPr lang="en-IN" sz="1800" dirty="0"/>
              <a:t>Can store records directly in memory without a buffer manager</a:t>
            </a:r>
          </a:p>
          <a:p>
            <a:r>
              <a:rPr lang="en-IN" sz="1800" dirty="0"/>
              <a:t>Column-oriented storage can be used in-memory for decision support applications</a:t>
            </a:r>
          </a:p>
          <a:p>
            <a:pPr lvl="1"/>
            <a:r>
              <a:rPr lang="en-IN" sz="1800" dirty="0"/>
              <a:t>Compression reduces memory requirement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8CA4233-73BE-4551-8FC7-EAE70BAF2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3487" y="1328735"/>
            <a:ext cx="3082597" cy="50279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E049F4-F9DA-444B-8C06-9FDF959F3E27}"/>
              </a:ext>
            </a:extLst>
          </p:cNvPr>
          <p:cNvSpPr txBox="1"/>
          <p:nvPr/>
        </p:nvSpPr>
        <p:spPr>
          <a:xfrm>
            <a:off x="5373858" y="2405575"/>
            <a:ext cx="36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V1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E8E83-B27D-4B6D-9D6D-3224CB817F49}"/>
              </a:ext>
            </a:extLst>
          </p:cNvPr>
          <p:cNvSpPr txBox="1"/>
          <p:nvPr/>
        </p:nvSpPr>
        <p:spPr>
          <a:xfrm>
            <a:off x="5373858" y="2667185"/>
            <a:ext cx="36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V2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BD200-CBF7-4A8A-9440-F1591DDAF195}"/>
              </a:ext>
            </a:extLst>
          </p:cNvPr>
          <p:cNvSpPr txBox="1"/>
          <p:nvPr/>
        </p:nvSpPr>
        <p:spPr>
          <a:xfrm>
            <a:off x="5373858" y="3079316"/>
            <a:ext cx="36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V3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AAFC84-70C7-4B4A-BEBD-B64C5E176BB0}"/>
              </a:ext>
            </a:extLst>
          </p:cNvPr>
          <p:cNvSpPr txBox="1"/>
          <p:nvPr/>
        </p:nvSpPr>
        <p:spPr>
          <a:xfrm>
            <a:off x="768350" y="4164037"/>
            <a:ext cx="33675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values of V1, V2, V3, V4 are 1000, 2000, 3000, 4000 respectively.</a:t>
            </a:r>
          </a:p>
          <a:p>
            <a:endParaRPr lang="en-US" sz="1800" dirty="0"/>
          </a:p>
          <a:p>
            <a:r>
              <a:rPr lang="en-US" sz="1800" dirty="0"/>
              <a:t>Find 2500</a:t>
            </a:r>
            <a:r>
              <a:rPr lang="en-US" sz="1800" baseline="30000" dirty="0"/>
              <a:t>th</a:t>
            </a:r>
            <a:r>
              <a:rPr lang="en-US" sz="1800" dirty="0"/>
              <a:t> tuple?</a:t>
            </a:r>
          </a:p>
        </p:txBody>
      </p:sp>
    </p:spTree>
    <p:extLst>
      <p:ext uri="{BB962C8B-B14F-4D97-AF65-F5344CB8AC3E}">
        <p14:creationId xmlns:p14="http://schemas.microsoft.com/office/powerpoint/2010/main" val="1292815510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92924</TotalTime>
  <Words>2195</Words>
  <Application>Microsoft Office PowerPoint</Application>
  <PresentationFormat>On-screen Show (4:3)</PresentationFormat>
  <Paragraphs>325</Paragraphs>
  <Slides>33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  <vt:variant>
        <vt:lpstr>Custom Shows</vt:lpstr>
      </vt:variant>
      <vt:variant>
        <vt:i4>1</vt:i4>
      </vt:variant>
    </vt:vector>
  </HeadingPairs>
  <TitlesOfParts>
    <vt:vector size="43" baseType="lpstr">
      <vt:lpstr>Arial</vt:lpstr>
      <vt:lpstr>Calibri</vt:lpstr>
      <vt:lpstr>Courier New</vt:lpstr>
      <vt:lpstr>Helvetica</vt:lpstr>
      <vt:lpstr>Monotype Sorts</vt:lpstr>
      <vt:lpstr>Times New Roman</vt:lpstr>
      <vt:lpstr>Webdings</vt:lpstr>
      <vt:lpstr>Wingdings</vt:lpstr>
      <vt:lpstr>2_db-5-grey</vt:lpstr>
      <vt:lpstr>Data Storage Structures</vt:lpstr>
      <vt:lpstr>File Organization</vt:lpstr>
      <vt:lpstr>Fixed-Length Records</vt:lpstr>
      <vt:lpstr>Fixed-Length Records (Query Processing)</vt:lpstr>
      <vt:lpstr>Fixed-Length Records (Query Processing)</vt:lpstr>
      <vt:lpstr>Fixed-Length Records (Deletion of Records)</vt:lpstr>
      <vt:lpstr>Fixed-Length Records (Deletion of Records)</vt:lpstr>
      <vt:lpstr>Fixed-Length Records (Deletion of Records)</vt:lpstr>
      <vt:lpstr>Fixed-Length Records (Deletion of Records)</vt:lpstr>
      <vt:lpstr>Fixed-Length Records (Deletion of Records)</vt:lpstr>
      <vt:lpstr>Variable-Length Records</vt:lpstr>
      <vt:lpstr>Variable-Length Records</vt:lpstr>
      <vt:lpstr>Variable-Length Records</vt:lpstr>
      <vt:lpstr>Variable-Length Records: Slotted Page Structure</vt:lpstr>
      <vt:lpstr>PowerPoint Presentation</vt:lpstr>
      <vt:lpstr>PowerPoint Presentation</vt:lpstr>
      <vt:lpstr>Storing Large Objects</vt:lpstr>
      <vt:lpstr>Multitable Clustering File Organization</vt:lpstr>
      <vt:lpstr>Multitable Clustering File Organization (cont.)</vt:lpstr>
      <vt:lpstr>Data Dictionary Storage</vt:lpstr>
      <vt:lpstr>Data Dictionary Storage</vt:lpstr>
      <vt:lpstr>Relational Representation of System Metadata</vt:lpstr>
      <vt:lpstr>Column-Oriented Storage</vt:lpstr>
      <vt:lpstr>Columnar Representation</vt:lpstr>
      <vt:lpstr>Columnar Representation</vt:lpstr>
      <vt:lpstr>Columnar Representation</vt:lpstr>
      <vt:lpstr>Compressed Columnar Representation</vt:lpstr>
      <vt:lpstr>Query Processing in Compressed Columnar Representation</vt:lpstr>
      <vt:lpstr>Columnar Representation</vt:lpstr>
      <vt:lpstr>Columnar Representation</vt:lpstr>
      <vt:lpstr>Columnar File Representation</vt:lpstr>
      <vt:lpstr>Columnar File Representation</vt:lpstr>
      <vt:lpstr>Storage Organization in Main-Memory Databases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479</cp:revision>
  <cp:lastPrinted>2019-06-25T14:52:50Z</cp:lastPrinted>
  <dcterms:created xsi:type="dcterms:W3CDTF">2009-12-21T15:40:22Z</dcterms:created>
  <dcterms:modified xsi:type="dcterms:W3CDTF">2022-10-18T09:04:50Z</dcterms:modified>
</cp:coreProperties>
</file>