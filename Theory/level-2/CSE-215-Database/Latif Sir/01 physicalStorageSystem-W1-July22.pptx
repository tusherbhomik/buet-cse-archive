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5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13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0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5"/>
  </p:notesMasterIdLst>
  <p:handoutMasterIdLst>
    <p:handoutMasterId r:id="rId26"/>
  </p:handoutMasterIdLst>
  <p:sldIdLst>
    <p:sldId id="335" r:id="rId2"/>
    <p:sldId id="426" r:id="rId3"/>
    <p:sldId id="436" r:id="rId4"/>
    <p:sldId id="257" r:id="rId5"/>
    <p:sldId id="261" r:id="rId6"/>
    <p:sldId id="263" r:id="rId7"/>
    <p:sldId id="427" r:id="rId8"/>
    <p:sldId id="422" r:id="rId9"/>
    <p:sldId id="421" r:id="rId10"/>
    <p:sldId id="423" r:id="rId11"/>
    <p:sldId id="428" r:id="rId12"/>
    <p:sldId id="424" r:id="rId13"/>
    <p:sldId id="268" r:id="rId14"/>
    <p:sldId id="270" r:id="rId15"/>
    <p:sldId id="431" r:id="rId16"/>
    <p:sldId id="271" r:id="rId17"/>
    <p:sldId id="433" r:id="rId18"/>
    <p:sldId id="414" r:id="rId19"/>
    <p:sldId id="434" r:id="rId20"/>
    <p:sldId id="435" r:id="rId21"/>
    <p:sldId id="327" r:id="rId22"/>
    <p:sldId id="329" r:id="rId23"/>
    <p:sldId id="330" r:id="rId24"/>
  </p:sldIdLst>
  <p:sldSz cx="9144000" cy="6858000" type="screen4x3"/>
  <p:notesSz cx="6997700" cy="9283700"/>
  <p:custShowLst>
    <p:custShow name="Custom Show 1" id="0">
      <p:sldLst>
        <p:sld r:id="rId2"/>
        <p:sld r:id="rId14"/>
        <p:sld r:id="rId15"/>
        <p:sld r:id="rId17"/>
        <p:sld r:id="rId22"/>
        <p:sld r:id="rId23"/>
        <p:sld r:id="rId24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44" autoAdjust="0"/>
    <p:restoredTop sz="94291" autoAdjust="0"/>
  </p:normalViewPr>
  <p:slideViewPr>
    <p:cSldViewPr snapToGrid="0">
      <p:cViewPr varScale="1">
        <p:scale>
          <a:sx n="67" d="100"/>
          <a:sy n="67" d="100"/>
        </p:scale>
        <p:origin x="1332" y="72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-8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15329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2-08-09T10:30:06.54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4068 12799 0,'199'0'63,"-125"0"-47,50 0-16,25 0 15,49 0 1,51 0-1,-1 0 17,-50 0-32,75 0 15,24 0 1,-73 0 0,49 0-1,-75 0 1,-49 0-1,-25 0 1,50 0 0,24 0-1,25 25 1,0-25 0,125 50-1,-224-50 1,-75 0-1,75 0 1,-49-25 15,74 25-15,24-75 0,-98 51-1,-26 24 1,-24 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2-08-09T10:30:09.05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4168 7689 0,'24'0'16,"26"0"0,-25 0-1,24 0-15,75 0 16,124-24-1,25-26 1,50 0 15,49 1-15,149 24 0,297-74-1,26 24 1,-472 75-16,149 0 15,-348 0 1,-123 0 0,24 0-1,25 0 1,-24 25 0,-1 0-1,1 0 1,-1-25-1,-24 0 48,-25 49-63,-1-49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2-08-09T10:40:56.41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7367 11063 0,'124'0'62,"50"0"-62,-25 0 16,-25 0-16,-50 0 16,174 0-1,174 0 1,24 0 0,-173-50-1,-149 25 1,-99 25-1,25 0 1,-25 0 15,49 0-15,-49 0 0,24 25-1,-24-25 1,0 0-1,0 0 64,0 0-64,-1 0 63,1 0-62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2-08-09T10:43:18.027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7615 9153 0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5T11:28:05.1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5953 11137 0,'75'0'109,"-50"0"-93,49 0-16,25 0 15,25 0 1,0 0 15,25 0-15,-25 0 0,-25-25-1,-49 25-15,74-24 16,0 24-1,50 0 1,-25 0 0,-25-50-1,74 25 1,25 0 0,25 25-1,-49 0 1,-75 0-1,25 0 1,123-74 0,-148 74-1,75 0 1,-75 0 0,25 0-1,-25 0 1,49 0-1,-98 0 1,-1 0 0,1 0-1,49 0 1,25 0 0,-100 0-1,26 0 1,-1 25-1,-24-25 1,-1 0 31,1 0-31,24 0-1,-49 0 1,0 0-1,-50 0 126,0 0-141,-24 0 16,24 0-16,-99 0 15,49 0 17,-24 0-32,-50 49 15,-99-24 1,25 25-1,49-50 1,50 25 0,-24-1-1,23 1 1,-73 0 0,-75 50-1,124-75 1,-24 0-1,-1 0 1,-24 0 0,74 0 15,-25-25-15,-25 0-1,25 0 1,-24 0-1,24 0 1,0 25 0,50 0-1,24 0 1,26 0 0,24 0-16,0 0 15,-24 0 1,-26 0 15,1 0 0,-1 0-15,-24 0 0,-25 0-1,50 0 1,-1 0 15,26 0-15,24 0-1,-25 0 1,25 0 0,-24 0-16,198 0 265,-25 25-265,-25 0 16,174 25-1,74-25 1,50-25 0,-75 0-1,-222 0-15,24 0 16,49 0 0,26 0-1,-1 0 1,-74 0-1,0 0 1,25 0 15,149 0-15,24 0 0,-24 0-1,-149 0 1,-25 0-1,49 0 1,472 0 0,-124-75-1,-174-24 1,-223 24 0,-49 75-1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2-08-09T10:54:06.58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16744 4663 0,'99'0'78,"99"0"-62,75 0-16,298 0 15,148 0 17,769 0-17,-520 0 1,-373 0 0,-322 0-1,-199 0 1,25 25-1,-74-25 1,25 25 0,-125-25 171,-247 0-171,-273 0-1,-50 0 1,-397 0 0,-124 0-1,546 0 1,322 0 0,199 0-1,0 0 1,-199 0 15,-74 0-31,124 49 31,149-24-15,49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2-08-09T10:54:18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8955 5804 0,'49'0'62,"26"0"-62,-1 0 16,100 0 0,124 0-1,49 0 1,-74 0-1,-75-49 1,-49 49 0,-25 0 15,-25 0-31,-24 0 16,-26 0-1,1 0 1,24 0-1,25 0 1,75 0 0,25 24-1,24-24 1,-74 0 0,-25 0-1,74 25 1,-24 25 15,-50-50-31,-50 0 16,1 0-1,24 0 1,74 0 15,-73 0-15,-1 0-1</inkml:trace>
  <inkml:trace contextRef="#ctx0" brushRef="#br0" timeOffset="1060.33">6524 7913 0,'0'-25'47,"50"25"-47,49 0 15,0 0-15,248 0 16,50-50-1,-50-24 1,-49 49 15,-50 25-15,-99-25 0,-50 0-1,-74 25 1,25 0-1,-26 0 1,1 0 0,0 0 46,0 0-62,0 0 16</inkml:trace>
  <inkml:trace contextRef="#ctx0" brushRef="#br0" timeOffset="2049.56">10890 7813 0,'24'0'62,"200"0"-62,24 0 16,446-74-1,174-50 1,-372 50 0,-247 49-1,-200 25 1,26 0-1,24 0 1,0-25 0,-74 25-1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2-07-18T12:30:16.35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6103 10619 0,'88'0'203,"-35"0"-203,53 0 16,17 0 0,-17 0-16,0 0 15,-18 0-15,1 0 16,16 0-1,-69 0 1,52 0 0,0 0-1,-35 0 1,0 0 0,35 0-1,-35 0 1,0 0-1,17 0 1,36 0 15,71 0-31,-36 0 32,-35 0-17,-18 0 1,-18 0-1,-17 0 1,0 0 0,-18 0-1,1 0 1,-1 0 0,0 0-1,1 0 1,-1 0-1,18 0 1,0 0 0,17 0-1,-52 0 17,17 0-17,0 0 1,36 35-1,52-35 1,-34 18 0,-36-18-1,70 35 1,-70-18 0,53-17-1,123 0 1,-70 0-1,-18 0 1,0 0 15,-88 0-31,-35 0 16,-1 0 46,1 0-46,35 0 0,-18 0-1,36 0 1,35 0 0,70 18-1,106 35 1,-158-53-1,-72 0 1,-16 0-16,-19 0 16,19 0 15,-19 0-15,1 0 15,17 0-16,18-18 1,-35 18 0,17 0-1,0-17 1,36-1 0,-53 18-1,-1 0 1,1 0 46,-1-18 63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2-07-18T12:30:23.2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2646 13106 0,'17'0'47,"72"0"-31,52 0-1,53 0 1,-53 0-16,0 0 15,-53 0 1,-35 35 0,35-17-1,1-18 1,52 0 0,17 0-1,19 0 1,-54 0-1,-70 0 1,0 0 0,53 0-1,17 0 1,124 0 15,-141 0-15,-35 0-1,-18 0 1,17 0 0,-17 0-1,71 0 1,17 0 0,70 0-1,-105 0 1,-53-18-1,-35 18 32,17 0-31,-17 0 15,17 0-15,18 18-1,0-18 1,0 17 0,53 1-1,-89-18 1,1 0 0,17 0 15,-17 18-31,35-18 15,-36 0 17</inkml:trace>
  <inkml:trace contextRef="#ctx0" brushRef="#br0" timeOffset="1372.11">7479 13212 0,'0'-18'47,"53"18"-47,106 0 16,-1 0-1,19 0-15,140 0 16,-52 0-1,-36 0 1,-70 0 0,-18 0-1,53 0 1,18 0 0,-18 0-1,-53 0 1,-53 0-1,-70 0 1,-1 0 15,19 0-15,16 0-16,19 0 16,211 0-1,71 35 1,-265-17-1,-70-18 95</inkml:trace>
  <inkml:trace contextRef="#ctx0" brushRef="#br0" timeOffset="4059.42">6720 16439 0,'0'-17'0,"53"17"16,18 0-1,246 0 1,213 0 0,-142 0-16,352 35 15,-140-35 1,-247 0-1,-194 0 1,-53 0 0,-89 0-1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95.5232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2-08-09T11:05:35.8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5482 5085 0,'0'25'78,"75"-25"-62,-1 0-1,174 0 1,-25 0 0,1-25-1,-76 0 1,-98 25-16,24 0 15,-24 0-15,24 0 16,50-25 0,25-49-1,-50 74 1,-24 0 0,-25 0 15,-1 0-16,26 0 1,98 0 0,50-25-1,-123 25 1,-26 0 0,-24 0-16,-1 0 15,50 0 1,1 0-1,-51 0 1,1 0 0,0 0 15,74 0-31,-25 0 16,-74 0-1,24 0 16,26 0-15,-26 0-16,100 0 16,25 0-1,-100 0 1,-24 0 0,-26 0-1,76 0 1,-26 0 15,50 0-31,-99 0 16,0 0-1,24 0 1,-49 25 0,25-25-16,0 0 31,0 0-31,0 0 15</inkml:trace>
  <inkml:trace contextRef="#ctx0" brushRef="#br0" timeOffset="1278.93">571 5904 0,'0'-25'94,"25"25"-94,49 0 16,75 0-16,173 25 15,125 24 1,-50 26 15,49-51-31,-123-24 31,-125 75-15,-173-75-16,74 25 16,25-25-1,25 0 1,49 0-1,75 0 1,25 0 0,-25 24-1,-25 26 1,0-50 15,-25 0-31,100 0 16,-1 0-1,-198 0-15,99 0 16,-49 0 0,-100 0 15,1-50-15,-26 50-1,26-49 1,-50 49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28.45833" units="1/cm"/>
          <inkml:channelProperty channel="Y" name="resolution" value="26.57439" units="1/cm"/>
          <inkml:channelProperty channel="T" name="resolution" value="1" units="1/dev"/>
        </inkml:channelProperties>
      </inkml:inkSource>
      <inkml:timestamp xml:id="ts0" timeString="2022-09-15T14:05:15.8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3870 8657 0,'0'25'78,"25"24"-62,99-49-1,74 25 1,1 0-16,272 49 16,-99-24-1,25-50 1,99 0 0,-99 0-1,-50 0 1,-124 0 15,-49 0-15,-124 0-16,24 0 15,25 0 1,273 0 0,149 0-1,25 0 1,-224 0-1,-198 0 1,-99 0 31,25 0-47,49 0 16,50 0-16,223 0 15,25 0 16,-50 0-15,-124 0 0,-74 0-1,25 0 1,24 0 0,75 0-1,49 0 1,75 0-1,-198 0-15,173 0 16,25 0 0,-50 0-1,-49 0 1,24 0 0,-24 0-1,74 0 1,25 0-1,-124 0 17,-1 0-17,-48 0 1,24 0 0,-124 0-16,223-75 15,-74-24 1,-25 25-1,-99 24 1,-75 25 0,75-49-1,-25 24 1,0 1 0,-74 49-1,-1-25 1,75-25-1,0 26 1,50-26 15,-75 50-15,25 0 0,75 0-1,73 0 1,-48 0-1,-51 0 1,-49 0 0,-24 0-1,-51 0 17,-24 0-32,49 0 15,-24 0 1,24 0-1,-24 0 1,24 0 15,1 0-15,-26 0 0,-24 0-1,0 0 1,74 0-1,-74 0 1</inkml:trace>
  <inkml:trace contextRef="#ctx0" brushRef="#br0" timeOffset="992.24">20415 8706 0,'24'0'187,"1"0"-171,0 0-16,0 0 15,24 25 1,1 0 0,-25-25-1,24 0 1,-24 25-1,0-25 48,25 0-32,24-50-15,100-49-1,24-99 1,50-75 0,-99 49-1,-75 125 1,-24 25 0,-50 49-1,25 25 1</inkml:trace>
  <inkml:trace contextRef="#ctx0" brushRef="#br0" timeOffset="2284.31">20861 8111 0,'25'0'109,"0"0"-93,-25 25-16,49-25 15,1 25 1,-25 0 0,49 74-1,1-25 1,-51-24 0,1-25-1,0-25 1,0 0 15,0 0 94,-1 0-62,1 0-63,0 24 15,0-24 16,0 25 16,-25 0 16,24-25 15,26 0-16,99 0-62,-75-25 16,1-49-16,24 24 16,25-49-1,-25 25 1,-74 74 0,49-50-1,-49 25 16,0 25 1,-25-25 15</inkml:trace>
  <inkml:trace contextRef="#ctx0" brushRef="#br0" timeOffset="10303.54">4862 14015 0,'174'0'47,"-75"0"-32,50 0-15,148 0 16,51 0 15,49 0-15,173 0 0,50 0-1,50 0 1,-25 0-1,-149 0 17,-124 0-32,-198 49 15,-125-49-15,75 0 16,-25 0 0,-24 0-1,-50 25 173</inkml:trace>
  <inkml:trace contextRef="#ctx0" brushRef="#br0" timeOffset="11925.53">22548 11832 0,'25'0'93,"24"25"-93,-24 24 32,49 75-32,-24-49 15,0-26 1,-26 1 0,26-100 140,-50-24-156,50-25 0,74-50 15,25-149 1,49-24 0,-24 74-1,-75 74 1,-50 124 15,-24 1-15,-50 49 62</inkml:trace>
  <inkml:trace contextRef="#ctx0" brushRef="#br0" timeOffset="13140.58">22796 11757 0,'25'-24'93,"24"24"-77,1 49-16,-1-24 16,26 124-1,-25-25 1,-26-25-1,1-24 1,0-51 0,0-24 140,49-99-156,75-99 16,149-125-1,-1-24 1,-148 173-16,-50 50 15,-24 0-15,24-25 32,-74 100-32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3449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483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2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365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048294A3-FBA0-48E6-BAC1-C31A4FE169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9E0957-6F75-455E-8328-45C1F34BBE0F}" type="slidenum">
              <a:rPr lang="en-US" altLang="en-US" sz="1300" smtClean="0"/>
              <a:pPr/>
              <a:t>4</a:t>
            </a:fld>
            <a:endParaRPr lang="en-US" altLang="en-US" sz="13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883A5C15-38DE-4ED9-8294-23102A475A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702C81A-DDDF-4D28-B5C0-A85F56BF2B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278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C48ADEE5-C4A0-4F83-9B18-036FD8CBAA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2EE62E-9FF8-44D3-B807-CC851990CD6D}" type="slidenum">
              <a:rPr lang="en-US" altLang="en-US" sz="1300" smtClean="0"/>
              <a:pPr/>
              <a:t>5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B978EA3-6CF9-4931-85CA-6A1AF32950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690103F9-36CF-40EF-81E1-4FD19CC95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928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6EEADBB4-10F9-4DF9-AA23-2602B1E168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AF9A82-DABB-4882-8E9E-D2F27043EE1B}" type="slidenum">
              <a:rPr lang="en-US" altLang="en-US" sz="1300" smtClean="0"/>
              <a:pPr/>
              <a:t>6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D9DC4ED-F32B-41AC-9079-8643E07E58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6AC17D1-5875-40AE-A6A7-F9DF2FEF0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469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6EEADBB4-10F9-4DF9-AA23-2602B1E168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AF9A82-DABB-4882-8E9E-D2F27043EE1B}" type="slidenum">
              <a:rPr lang="en-US" altLang="en-US" sz="1300" smtClean="0"/>
              <a:pPr/>
              <a:t>7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D9DC4ED-F32B-41AC-9079-8643E07E58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6AC17D1-5875-40AE-A6A7-F9DF2FEF0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575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6EEADBB4-10F9-4DF9-AA23-2602B1E168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AF9A82-DABB-4882-8E9E-D2F27043EE1B}" type="slidenum">
              <a:rPr lang="en-US" altLang="en-US" sz="1300" smtClean="0"/>
              <a:pPr/>
              <a:t>8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D9DC4ED-F32B-41AC-9079-8643E07E58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6AC17D1-5875-40AE-A6A7-F9DF2FEF0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6929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6EEADBB4-10F9-4DF9-AA23-2602B1E168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AF9A82-DABB-4882-8E9E-D2F27043EE1B}" type="slidenum">
              <a:rPr lang="en-US" altLang="en-US" sz="1300" smtClean="0"/>
              <a:pPr/>
              <a:t>9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D9DC4ED-F32B-41AC-9079-8643E07E58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6AC17D1-5875-40AE-A6A7-F9DF2FEF0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481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6EEADBB4-10F9-4DF9-AA23-2602B1E168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AF9A82-DABB-4882-8E9E-D2F27043EE1B}" type="slidenum">
              <a:rPr lang="en-US" altLang="en-US" sz="1300" smtClean="0"/>
              <a:pPr/>
              <a:t>10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D9DC4ED-F32B-41AC-9079-8643E07E58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6AC17D1-5875-40AE-A6A7-F9DF2FEF0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57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6EEADBB4-10F9-4DF9-AA23-2602B1E168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AF9A82-DABB-4882-8E9E-D2F27043EE1B}" type="slidenum">
              <a:rPr lang="en-US" altLang="en-US" sz="1300" smtClean="0"/>
              <a:pPr/>
              <a:t>11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D9DC4ED-F32B-41AC-9079-8643E07E58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6AC17D1-5875-40AE-A6A7-F9DF2FEF0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251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6EEADBB4-10F9-4DF9-AA23-2602B1E168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7AF9A82-DABB-4882-8E9E-D2F27043EE1B}" type="slidenum">
              <a:rPr lang="en-US" altLang="en-US" sz="1300" smtClean="0"/>
              <a:pPr/>
              <a:t>12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2D9DC4ED-F32B-41AC-9079-8643E07E58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96AC17D1-5875-40AE-A6A7-F9DF2FEF0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2155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39BA7D76-01A0-44F2-89B1-63E0F21140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BE9A65A-C6A6-437E-860D-28B578E0FA99}" type="slidenum">
              <a:rPr lang="en-US" altLang="en-US" sz="1300" smtClean="0"/>
              <a:pPr/>
              <a:t>13</a:t>
            </a:fld>
            <a:endParaRPr lang="en-US" altLang="en-US" sz="13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F7F0E3D2-8D1D-4E9E-86ED-3DCB13525B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B1A6E11A-8162-4AD6-A68A-F876C2FC20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929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E02A4683-3128-4DFE-A149-AF7747B87A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321C362-86F0-45B3-B087-EB55DFF280B9}" type="slidenum">
              <a:rPr lang="en-US" altLang="en-US" sz="1300" smtClean="0"/>
              <a:pPr/>
              <a:t>14</a:t>
            </a:fld>
            <a:endParaRPr lang="en-US" altLang="en-US" sz="13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FC8EAC48-4371-407E-BAE5-E8D5CF0E6F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323BF492-B734-4B57-92DB-E4DE382AE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Throughput is </a:t>
            </a:r>
            <a:r>
              <a:rPr lang="en-US" b="1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a measure of how many units of information a system can process in a given amount of time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2699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E02A4683-3128-4DFE-A149-AF7747B87A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321C362-86F0-45B3-B087-EB55DFF280B9}" type="slidenum">
              <a:rPr lang="en-US" altLang="en-US" sz="1300" smtClean="0"/>
              <a:pPr/>
              <a:t>15</a:t>
            </a:fld>
            <a:endParaRPr lang="en-US" altLang="en-US" sz="13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FC8EAC48-4371-407E-BAE5-E8D5CF0E6F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323BF492-B734-4B57-92DB-E4DE382AE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5152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5434224-1541-4F6D-8615-BDEE44F5A6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AC1DCC-3B3E-490B-A449-40495B34789C}" type="slidenum">
              <a:rPr lang="en-US" altLang="en-US" sz="1300" smtClean="0"/>
              <a:pPr/>
              <a:t>16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C386D90-9A87-4D30-8E11-A54A5C6C2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1F6F7F1-7A05-4849-9290-DEB5F5443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4043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5434224-1541-4F6D-8615-BDEE44F5A6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AC1DCC-3B3E-490B-A449-40495B34789C}" type="slidenum">
              <a:rPr lang="en-US" altLang="en-US" sz="1300" smtClean="0"/>
              <a:pPr/>
              <a:t>17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C386D90-9A87-4D30-8E11-A54A5C6C2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1F6F7F1-7A05-4849-9290-DEB5F5443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4766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5434224-1541-4F6D-8615-BDEE44F5A6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AC1DCC-3B3E-490B-A449-40495B34789C}" type="slidenum">
              <a:rPr lang="en-US" altLang="en-US" sz="1300" smtClean="0"/>
              <a:pPr/>
              <a:t>18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C386D90-9A87-4D30-8E11-A54A5C6C2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1F6F7F1-7A05-4849-9290-DEB5F5443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6550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5434224-1541-4F6D-8615-BDEE44F5A6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AC1DCC-3B3E-490B-A449-40495B34789C}" type="slidenum">
              <a:rPr lang="en-US" altLang="en-US" sz="1300" smtClean="0"/>
              <a:pPr/>
              <a:t>19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C386D90-9A87-4D30-8E11-A54A5C6C2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1F6F7F1-7A05-4849-9290-DEB5F5443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7046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65434224-1541-4F6D-8615-BDEE44F5A6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BAC1DCC-3B3E-490B-A449-40495B34789C}" type="slidenum">
              <a:rPr lang="en-US" altLang="en-US" sz="1300" smtClean="0"/>
              <a:pPr/>
              <a:t>20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4C386D90-9A87-4D30-8E11-A54A5C6C20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11F6F7F1-7A05-4849-9290-DEB5F5443B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9224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EF65BE21-C91A-4A31-B1FB-B8E99A772A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8472180-291D-4D38-BFEA-8EB6CB704FCA}" type="slidenum">
              <a:rPr lang="en-US" altLang="en-US" sz="1300" smtClean="0"/>
              <a:pPr/>
              <a:t>21</a:t>
            </a:fld>
            <a:endParaRPr lang="en-US" altLang="en-US" sz="13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E5C88F20-F4BE-468E-B651-F417A34B4D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1388756E-060E-48EC-86E0-7EF60BB00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2255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C30EBD12-8697-40B0-A3F2-4C4F89674A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7BF2B6-781A-4AC8-93AC-C210D5147293}" type="slidenum">
              <a:rPr lang="en-US" altLang="en-US" sz="1300" smtClean="0"/>
              <a:pPr/>
              <a:t>22</a:t>
            </a:fld>
            <a:endParaRPr lang="en-US" altLang="en-US" sz="13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87B9E07E-8C5A-4C76-B1D6-CD8E1136C5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AFB2F9B7-1DD0-43BC-9F80-EFD00F7EAE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4991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C53B6529-72A3-40F6-9F9D-1075C76843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9E53A6-478E-4DAC-B297-8D53FE5E195B}" type="slidenum">
              <a:rPr lang="en-US" altLang="en-US" sz="1300" smtClean="0"/>
              <a:pPr/>
              <a:t>23</a:t>
            </a:fld>
            <a:endParaRPr lang="en-US" altLang="en-US" sz="13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ECA636FD-8B00-4ED2-A13D-4F1D5B1444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0819B8F5-B510-40C9-8DB4-23A4170413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124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49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48145" y="1093788"/>
            <a:ext cx="7727518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62351" y="6613525"/>
            <a:ext cx="48282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12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customXml" Target="../ink/ink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customXml" Target="../ink/ink3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customXml" Target="../ink/ink5.xml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7.xml"/><Relationship Id="rId4" Type="http://schemas.openxmlformats.org/officeDocument/2006/relationships/image" Target="../media/image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9.xml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3723861"/>
            <a:ext cx="7772400" cy="2461591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CSE215: Database</a:t>
            </a: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Dr. Abu Sayed Md. Latiful Hoque</a:t>
            </a: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Professor</a:t>
            </a: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Dept. of CSE, BUET</a:t>
            </a:r>
            <a:b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Contact:</a:t>
            </a:r>
            <a:b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01556346357</a:t>
            </a:r>
            <a:b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asmlatifulhoque@cse.buet.ac.bd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060174"/>
            <a:ext cx="7772400" cy="513522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Course 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E2592B-9559-4FED-A8D5-7F4133AF6B91}"/>
              </a:ext>
            </a:extLst>
          </p:cNvPr>
          <p:cNvSpPr txBox="1"/>
          <p:nvPr/>
        </p:nvSpPr>
        <p:spPr>
          <a:xfrm>
            <a:off x="837028" y="2226365"/>
            <a:ext cx="7772399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Each lecture will have some questions to answer based on class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You have to sit in the lecture with white paper and black ball point pen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You have to write the answer to the paper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dirty="0"/>
              <a:t>Every Tuesday after class, you will have to upload the pdf of the answers of the questions.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FF0000"/>
                </a:solidFill>
              </a:rPr>
              <a:t>These submissions will be equivalent to one class test</a:t>
            </a:r>
            <a:r>
              <a:rPr lang="en-US" sz="18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57724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4547E-9A91-4F87-BC92-28FB67FF8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0EB7E-3E82-494A-A4E9-BC0578820D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Storage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Indexing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Hashing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 Processing Algorithms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"/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Query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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Transactions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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Concurrency Control</a:t>
            </a:r>
            <a:endParaRPr lang="en-US" sz="28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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Recovery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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Parallel and Distributed DBMS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792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84C5E313-37C7-406F-85DF-73D76888BB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8975" y="282575"/>
            <a:ext cx="8340725" cy="4572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Classification of Physical Storage Media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58B2F7D-08DB-4ED7-9A17-6FAED6DF0C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71787" y="1224793"/>
            <a:ext cx="7544081" cy="4460880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dirty="0"/>
              <a:t>Can differentiate storage into:</a:t>
            </a:r>
          </a:p>
          <a:p>
            <a:pPr lvl="1"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volatile storage</a:t>
            </a:r>
            <a:r>
              <a:rPr lang="en-US" altLang="en-US" b="1" dirty="0"/>
              <a:t>: </a:t>
            </a:r>
            <a:r>
              <a:rPr lang="en-US" altLang="en-US" dirty="0"/>
              <a:t>loses contents when power is switched off</a:t>
            </a:r>
          </a:p>
          <a:p>
            <a:pPr lvl="1"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non-volatile storage</a:t>
            </a:r>
            <a:r>
              <a:rPr lang="en-US" altLang="en-US" dirty="0"/>
              <a:t>: 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Contents persist even when power is switched off. </a:t>
            </a:r>
          </a:p>
          <a:p>
            <a:pPr lvl="2">
              <a:spcAft>
                <a:spcPts val="0"/>
              </a:spcAft>
            </a:pPr>
            <a:r>
              <a:rPr lang="en-US" altLang="en-US" dirty="0"/>
              <a:t>Includes secondary and tertiary storage, as well as batter-backed up main-memory.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Factors affecting choice of storage media include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Speed with which data can be accessed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Cost per unit of data</a:t>
            </a:r>
          </a:p>
          <a:p>
            <a:pPr lvl="1">
              <a:spcAft>
                <a:spcPts val="0"/>
              </a:spcAft>
            </a:pPr>
            <a:r>
              <a:rPr lang="en-US" altLang="en-US" dirty="0"/>
              <a:t>Reliability</a:t>
            </a:r>
          </a:p>
          <a:p>
            <a:pPr lvl="1"/>
            <a:endParaRPr lang="en-US" altLang="en-US" sz="2000" dirty="0"/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ECFA860A-EB9E-4870-A0C4-E14881104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0769" y="-50329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Storage Hierarchy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674C41-B5DF-439C-BA03-C6C4B5C80B13}"/>
              </a:ext>
            </a:extLst>
          </p:cNvPr>
          <p:cNvSpPr txBox="1"/>
          <p:nvPr/>
        </p:nvSpPr>
        <p:spPr>
          <a:xfrm>
            <a:off x="256031" y="586280"/>
            <a:ext cx="3546911" cy="5078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en-US" sz="1800" b="1" dirty="0">
                <a:solidFill>
                  <a:srgbClr val="002060"/>
                </a:solidFill>
              </a:rPr>
              <a:t>primary storage</a:t>
            </a:r>
            <a:r>
              <a:rPr lang="en-US" altLang="en-US" sz="1800" b="1" dirty="0"/>
              <a:t>: </a:t>
            </a:r>
            <a:r>
              <a:rPr lang="en-US" altLang="en-US" sz="1800" dirty="0"/>
              <a:t>Fastest media but volatile (cache, main memory).</a:t>
            </a:r>
          </a:p>
          <a:p>
            <a:pPr>
              <a:spcAft>
                <a:spcPts val="0"/>
              </a:spcAft>
            </a:pPr>
            <a:endParaRPr lang="en-US" altLang="en-US" sz="1800" b="1" dirty="0">
              <a:solidFill>
                <a:srgbClr val="002060"/>
              </a:solidFill>
            </a:endParaRPr>
          </a:p>
          <a:p>
            <a:pPr>
              <a:spcAft>
                <a:spcPts val="0"/>
              </a:spcAft>
            </a:pPr>
            <a:r>
              <a:rPr lang="en-US" altLang="en-US" sz="1800" b="1" dirty="0">
                <a:solidFill>
                  <a:srgbClr val="002060"/>
                </a:solidFill>
              </a:rPr>
              <a:t>secondary storage</a:t>
            </a:r>
            <a:r>
              <a:rPr lang="en-US" altLang="en-US" sz="1800" b="1" dirty="0"/>
              <a:t>:</a:t>
            </a:r>
            <a:r>
              <a:rPr lang="en-US" altLang="en-US" sz="1800" dirty="0"/>
              <a:t> next level in hierarchy, non-volatile, moderately fast access time</a:t>
            </a:r>
          </a:p>
          <a:p>
            <a:pPr>
              <a:spcAft>
                <a:spcPts val="0"/>
              </a:spcAft>
            </a:pPr>
            <a:r>
              <a:rPr lang="en-US" altLang="en-US" sz="1800" dirty="0"/>
              <a:t>Also called </a:t>
            </a:r>
            <a:r>
              <a:rPr lang="en-US" altLang="en-US" sz="1800" b="1" dirty="0">
                <a:solidFill>
                  <a:srgbClr val="002060"/>
                </a:solidFill>
              </a:rPr>
              <a:t>on-line storage </a:t>
            </a:r>
          </a:p>
          <a:p>
            <a:pPr>
              <a:spcAft>
                <a:spcPts val="0"/>
              </a:spcAft>
            </a:pPr>
            <a:r>
              <a:rPr lang="en-US" altLang="en-US" sz="1800" dirty="0"/>
              <a:t>E.g., flash memory, magnetic disks</a:t>
            </a:r>
          </a:p>
          <a:p>
            <a:pPr>
              <a:spcAft>
                <a:spcPts val="0"/>
              </a:spcAft>
            </a:pPr>
            <a:endParaRPr lang="en-US" altLang="en-US" sz="1800" b="1" dirty="0">
              <a:solidFill>
                <a:srgbClr val="002060"/>
              </a:solidFill>
            </a:endParaRPr>
          </a:p>
          <a:p>
            <a:pPr>
              <a:spcAft>
                <a:spcPts val="0"/>
              </a:spcAft>
            </a:pPr>
            <a:r>
              <a:rPr lang="en-US" altLang="en-US" sz="1800" b="1" dirty="0">
                <a:solidFill>
                  <a:srgbClr val="002060"/>
                </a:solidFill>
              </a:rPr>
              <a:t>tertiary storage</a:t>
            </a:r>
            <a:r>
              <a:rPr lang="en-US" altLang="en-US" sz="1800" b="1" dirty="0"/>
              <a:t>:</a:t>
            </a:r>
            <a:r>
              <a:rPr lang="en-US" altLang="en-US" sz="1800" dirty="0"/>
              <a:t> lowest level in hierarchy, non-volatile, slow access time</a:t>
            </a:r>
          </a:p>
          <a:p>
            <a:pPr>
              <a:spcAft>
                <a:spcPts val="0"/>
              </a:spcAft>
            </a:pPr>
            <a:r>
              <a:rPr lang="en-US" altLang="en-US" sz="1800" dirty="0"/>
              <a:t>also called </a:t>
            </a:r>
            <a:r>
              <a:rPr lang="en-US" altLang="en-US" sz="1800" b="1" dirty="0">
                <a:solidFill>
                  <a:srgbClr val="002060"/>
                </a:solidFill>
              </a:rPr>
              <a:t>off-line storage </a:t>
            </a:r>
            <a:r>
              <a:rPr lang="en-US" alt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 used for</a:t>
            </a:r>
            <a:r>
              <a:rPr lang="en-US" altLang="en-US" sz="1800" b="1" dirty="0">
                <a:solidFill>
                  <a:srgbClr val="002060"/>
                </a:solidFill>
              </a:rPr>
              <a:t> archival storage</a:t>
            </a:r>
            <a:r>
              <a:rPr lang="en-US" altLang="en-US" sz="1800" dirty="0">
                <a:solidFill>
                  <a:srgbClr val="002060"/>
                </a:solidFill>
              </a:rPr>
              <a:t> </a:t>
            </a:r>
          </a:p>
          <a:p>
            <a:pPr>
              <a:spcAft>
                <a:spcPts val="0"/>
              </a:spcAft>
            </a:pPr>
            <a:r>
              <a:rPr lang="en-US" altLang="en-US" sz="1800" dirty="0"/>
              <a:t>e.g., magnetic tape, optical storage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DBFAE78-588A-4B71-83CC-E5716BAE90F5}"/>
              </a:ext>
            </a:extLst>
          </p:cNvPr>
          <p:cNvGrpSpPr/>
          <p:nvPr/>
        </p:nvGrpSpPr>
        <p:grpSpPr>
          <a:xfrm>
            <a:off x="3953874" y="630803"/>
            <a:ext cx="5190126" cy="5003736"/>
            <a:chOff x="3953874" y="1280160"/>
            <a:chExt cx="5190126" cy="5003736"/>
          </a:xfrm>
        </p:grpSpPr>
        <p:pic>
          <p:nvPicPr>
            <p:cNvPr id="4" name="Content Placeholder 3">
              <a:extLst>
                <a:ext uri="{FF2B5EF4-FFF2-40B4-BE49-F238E27FC236}">
                  <a16:creationId xmlns:a16="http://schemas.microsoft.com/office/drawing/2014/main" id="{5A9ED51D-3D95-4D13-A964-B4D4833DA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53874" y="1486345"/>
              <a:ext cx="5190126" cy="4421219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B0B1C07-1D5A-45A2-98E8-30D5E387E336}"/>
                </a:ext>
              </a:extLst>
            </p:cNvPr>
            <p:cNvSpPr/>
            <p:nvPr/>
          </p:nvSpPr>
          <p:spPr bwMode="auto">
            <a:xfrm>
              <a:off x="4572000" y="1280160"/>
              <a:ext cx="4005072" cy="1554480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CFB607-AFDB-4595-A22E-60E55160DD11}"/>
                </a:ext>
              </a:extLst>
            </p:cNvPr>
            <p:cNvSpPr/>
            <p:nvPr/>
          </p:nvSpPr>
          <p:spPr bwMode="auto">
            <a:xfrm>
              <a:off x="3953874" y="3022806"/>
              <a:ext cx="4934095" cy="1348295"/>
            </a:xfrm>
            <a:prstGeom prst="rect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E011D7E-11C9-4183-BFC6-FADC32B60351}"/>
                </a:ext>
              </a:extLst>
            </p:cNvPr>
            <p:cNvSpPr/>
            <p:nvPr/>
          </p:nvSpPr>
          <p:spPr bwMode="auto">
            <a:xfrm>
              <a:off x="3953874" y="4559267"/>
              <a:ext cx="5190126" cy="1724629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D39057A-3108-4102-BD76-7C57571898C3}"/>
              </a:ext>
            </a:extLst>
          </p:cNvPr>
          <p:cNvSpPr txBox="1"/>
          <p:nvPr/>
        </p:nvSpPr>
        <p:spPr>
          <a:xfrm>
            <a:off x="247505" y="5746352"/>
            <a:ext cx="7549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Discussion: </a:t>
            </a:r>
            <a:r>
              <a:rPr lang="en-US" sz="1800" b="1" dirty="0"/>
              <a:t>Two types DBMS: Disk-based and Main-memory based. </a:t>
            </a:r>
            <a:r>
              <a:rPr lang="en-US" sz="1800" dirty="0"/>
              <a:t>Which part of the memory is concerned with </a:t>
            </a:r>
          </a:p>
          <a:p>
            <a:r>
              <a:rPr lang="en-US" sz="1800" dirty="0"/>
              <a:t>(a) Disk-based DBMS    (b) In Memory DBMS?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1ACF8A6-1E10-C4EC-3161-36679A36074B}"/>
                  </a:ext>
                </a:extLst>
              </p14:cNvPr>
              <p14:cNvContentPartPr/>
              <p14:nvPr/>
            </p14:nvContentPartPr>
            <p14:xfrm>
              <a:off x="1464480" y="4590000"/>
              <a:ext cx="1795320" cy="45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1ACF8A6-1E10-C4EC-3161-36679A36074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48640" y="4526640"/>
                <a:ext cx="18266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CEA4E24-B978-773A-5457-0FECE5C6A92F}"/>
                  </a:ext>
                </a:extLst>
              </p14:cNvPr>
              <p14:cNvContentPartPr/>
              <p14:nvPr/>
            </p14:nvContentPartPr>
            <p14:xfrm>
              <a:off x="1500480" y="2634120"/>
              <a:ext cx="1928880" cy="1342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CEA4E24-B978-773A-5457-0FECE5C6A92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84640" y="2570760"/>
                <a:ext cx="1960200" cy="261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3FDDECEE-4421-4D3A-935D-A39AA4A05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1072" y="20104"/>
            <a:ext cx="4292928" cy="939872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Magnetic Hard Disk Mechanism</a:t>
            </a:r>
          </a:p>
        </p:txBody>
      </p:sp>
      <p:sp>
        <p:nvSpPr>
          <p:cNvPr id="25603" name="Text Box 7">
            <a:extLst>
              <a:ext uri="{FF2B5EF4-FFF2-40B4-BE49-F238E27FC236}">
                <a16:creationId xmlns:a16="http://schemas.microsoft.com/office/drawing/2014/main" id="{383A3D0D-A7FB-452B-9B5E-1F5395298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857" y="5275672"/>
            <a:ext cx="455605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b="1" dirty="0"/>
              <a:t>Schematic diagram of magnetic disk drive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AC2392-ACCA-4691-9D6C-021EBB44F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2380" y="1490490"/>
            <a:ext cx="4641620" cy="36115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22B6FD-D27E-478A-8AC8-4FD8210239E7}"/>
              </a:ext>
            </a:extLst>
          </p:cNvPr>
          <p:cNvSpPr txBox="1"/>
          <p:nvPr/>
        </p:nvSpPr>
        <p:spPr>
          <a:xfrm>
            <a:off x="125620" y="842861"/>
            <a:ext cx="4167309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en-US" sz="1800" b="1" dirty="0">
                <a:solidFill>
                  <a:srgbClr val="002060"/>
                </a:solidFill>
              </a:rPr>
              <a:t>Read-write head</a:t>
            </a:r>
            <a:r>
              <a:rPr lang="en-US" altLang="en-US" sz="1800" dirty="0">
                <a:solidFill>
                  <a:srgbClr val="002060"/>
                </a:solidFill>
              </a:rPr>
              <a:t> </a:t>
            </a:r>
          </a:p>
          <a:p>
            <a:pPr>
              <a:spcAft>
                <a:spcPts val="0"/>
              </a:spcAft>
            </a:pPr>
            <a:r>
              <a:rPr lang="en-US" altLang="en-US" sz="1800" dirty="0"/>
              <a:t>Surface of platter divided into circular </a:t>
            </a:r>
            <a:r>
              <a:rPr lang="en-US" altLang="en-US" sz="1800" b="1" dirty="0">
                <a:solidFill>
                  <a:srgbClr val="002060"/>
                </a:solidFill>
              </a:rPr>
              <a:t>tracks </a:t>
            </a:r>
          </a:p>
          <a:p>
            <a:pPr>
              <a:spcAft>
                <a:spcPts val="0"/>
              </a:spcAft>
            </a:pPr>
            <a:endParaRPr lang="en-US" altLang="en-US" sz="1800" dirty="0"/>
          </a:p>
          <a:p>
            <a:pPr>
              <a:spcAft>
                <a:spcPts val="0"/>
              </a:spcAft>
            </a:pPr>
            <a:r>
              <a:rPr lang="en-US" altLang="en-US" sz="1800" dirty="0"/>
              <a:t>Over 50K-100K tracks per platter on typical hard disks</a:t>
            </a:r>
          </a:p>
          <a:p>
            <a:pPr>
              <a:spcAft>
                <a:spcPts val="0"/>
              </a:spcAft>
            </a:pPr>
            <a:endParaRPr lang="en-US" altLang="en-US" sz="1800" dirty="0"/>
          </a:p>
          <a:p>
            <a:pPr>
              <a:spcAft>
                <a:spcPts val="0"/>
              </a:spcAft>
            </a:pPr>
            <a:r>
              <a:rPr lang="en-US" altLang="en-US" sz="1800" dirty="0"/>
              <a:t>Each track is divided into </a:t>
            </a:r>
            <a:r>
              <a:rPr lang="en-US" altLang="en-US" sz="1800" b="1" dirty="0">
                <a:solidFill>
                  <a:srgbClr val="002060"/>
                </a:solidFill>
              </a:rPr>
              <a:t>sectors</a:t>
            </a:r>
            <a:r>
              <a:rPr lang="en-US" altLang="en-US" sz="1800" b="1" dirty="0"/>
              <a:t>.</a:t>
            </a:r>
            <a:r>
              <a:rPr lang="en-US" altLang="en-US" sz="1800" dirty="0"/>
              <a:t>  </a:t>
            </a:r>
          </a:p>
          <a:p>
            <a:pPr>
              <a:spcAft>
                <a:spcPts val="0"/>
              </a:spcAft>
            </a:pPr>
            <a:endParaRPr lang="en-US" altLang="en-US" sz="1800" dirty="0"/>
          </a:p>
          <a:p>
            <a:pPr>
              <a:spcAft>
                <a:spcPts val="0"/>
              </a:spcAft>
            </a:pPr>
            <a:r>
              <a:rPr lang="en-US" altLang="en-US" sz="1800" dirty="0"/>
              <a:t>A sector is the smallest unit of data that can be read or written. </a:t>
            </a:r>
          </a:p>
          <a:p>
            <a:pPr>
              <a:spcAft>
                <a:spcPts val="0"/>
              </a:spcAft>
            </a:pPr>
            <a:endParaRPr lang="en-US" altLang="en-US" sz="1800" dirty="0"/>
          </a:p>
          <a:p>
            <a:pPr>
              <a:spcAft>
                <a:spcPts val="0"/>
              </a:spcAft>
            </a:pPr>
            <a:r>
              <a:rPr lang="en-US" altLang="en-US" sz="1800" dirty="0"/>
              <a:t>Sector size typically 512 bytes Typical sectors per track: 500 to 1000 (on inner tracks) to 1000 to 2000 (on outer tracks)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3FDDECEE-4421-4D3A-935D-A39AA4A05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1072" y="20104"/>
            <a:ext cx="4292928" cy="939872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Magnetic Hard Disk Mechanism</a:t>
            </a:r>
          </a:p>
        </p:txBody>
      </p:sp>
      <p:sp>
        <p:nvSpPr>
          <p:cNvPr id="25603" name="Text Box 7">
            <a:extLst>
              <a:ext uri="{FF2B5EF4-FFF2-40B4-BE49-F238E27FC236}">
                <a16:creationId xmlns:a16="http://schemas.microsoft.com/office/drawing/2014/main" id="{383A3D0D-A7FB-452B-9B5E-1F5395298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857" y="5275672"/>
            <a:ext cx="455605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b="1" dirty="0"/>
              <a:t>Schematic diagram of magnetic disk drive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AC2392-ACCA-4691-9D6C-021EBB44F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2380" y="1490490"/>
            <a:ext cx="4641620" cy="36115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22B6FD-D27E-478A-8AC8-4FD8210239E7}"/>
              </a:ext>
            </a:extLst>
          </p:cNvPr>
          <p:cNvSpPr txBox="1"/>
          <p:nvPr/>
        </p:nvSpPr>
        <p:spPr>
          <a:xfrm>
            <a:off x="129088" y="490040"/>
            <a:ext cx="4167309" cy="5601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en-US" sz="1800" dirty="0"/>
              <a:t>To read/write a sector: </a:t>
            </a:r>
          </a:p>
          <a:p>
            <a:pPr>
              <a:spcAft>
                <a:spcPts val="0"/>
              </a:spcAft>
            </a:pPr>
            <a:endParaRPr lang="en-US" altLang="en-US" sz="1800" dirty="0"/>
          </a:p>
          <a:p>
            <a:pPr>
              <a:spcAft>
                <a:spcPts val="0"/>
              </a:spcAft>
            </a:pPr>
            <a:r>
              <a:rPr lang="en-US" altLang="en-US" sz="1800" dirty="0"/>
              <a:t>disk arm swings to position head on right track; </a:t>
            </a:r>
          </a:p>
          <a:p>
            <a:pPr>
              <a:spcAft>
                <a:spcPts val="0"/>
              </a:spcAft>
            </a:pPr>
            <a:endParaRPr lang="en-US" altLang="en-US" sz="1800" dirty="0"/>
          </a:p>
          <a:p>
            <a:pPr>
              <a:spcAft>
                <a:spcPts val="0"/>
              </a:spcAft>
            </a:pPr>
            <a:r>
              <a:rPr lang="en-US" altLang="en-US" sz="1800" dirty="0"/>
              <a:t>platter spins continually; </a:t>
            </a:r>
          </a:p>
          <a:p>
            <a:pPr>
              <a:spcAft>
                <a:spcPts val="0"/>
              </a:spcAft>
            </a:pPr>
            <a:endParaRPr lang="en-US" altLang="en-US" sz="1800" dirty="0"/>
          </a:p>
          <a:p>
            <a:pPr>
              <a:spcAft>
                <a:spcPts val="0"/>
              </a:spcAft>
            </a:pPr>
            <a:r>
              <a:rPr lang="en-US" altLang="en-US" sz="1800" dirty="0"/>
              <a:t>data is read/written as sector passes under head</a:t>
            </a:r>
          </a:p>
          <a:p>
            <a:pPr>
              <a:spcAft>
                <a:spcPts val="0"/>
              </a:spcAft>
            </a:pPr>
            <a:endParaRPr lang="en-US" altLang="en-US" sz="1800" dirty="0"/>
          </a:p>
          <a:p>
            <a:pPr>
              <a:spcAft>
                <a:spcPts val="0"/>
              </a:spcAft>
            </a:pPr>
            <a:r>
              <a:rPr lang="en-US" altLang="en-US" sz="1800" dirty="0"/>
              <a:t>Head-disk assemblies multiple disk platters on a single spindle (1 to 5 usually). </a:t>
            </a:r>
          </a:p>
          <a:p>
            <a:pPr>
              <a:spcAft>
                <a:spcPts val="0"/>
              </a:spcAft>
            </a:pPr>
            <a:endParaRPr lang="en-US" altLang="en-US" sz="1800" dirty="0"/>
          </a:p>
          <a:p>
            <a:pPr>
              <a:spcAft>
                <a:spcPts val="0"/>
              </a:spcAft>
            </a:pPr>
            <a:r>
              <a:rPr lang="en-US" altLang="en-US" sz="1800" dirty="0"/>
              <a:t>one head per platter, mounted on a common arm.</a:t>
            </a:r>
          </a:p>
          <a:p>
            <a:pPr>
              <a:spcAft>
                <a:spcPts val="0"/>
              </a:spcAft>
            </a:pPr>
            <a:endParaRPr lang="en-US" altLang="en-US" sz="1800" b="1" dirty="0">
              <a:solidFill>
                <a:srgbClr val="002060"/>
              </a:solidFill>
            </a:endParaRPr>
          </a:p>
          <a:p>
            <a:pPr>
              <a:spcAft>
                <a:spcPts val="0"/>
              </a:spcAft>
            </a:pPr>
            <a:r>
              <a:rPr lang="en-US" altLang="en-US" sz="1800" b="1" dirty="0">
                <a:solidFill>
                  <a:srgbClr val="002060"/>
                </a:solidFill>
              </a:rPr>
              <a:t>Cylinder</a:t>
            </a:r>
            <a:r>
              <a:rPr lang="en-US" altLang="en-US" sz="1800" i="1" dirty="0"/>
              <a:t> </a:t>
            </a:r>
            <a:r>
              <a:rPr lang="en-US" altLang="en-US" sz="1800" i="1" dirty="0" err="1"/>
              <a:t>i</a:t>
            </a:r>
            <a:r>
              <a:rPr lang="en-US" altLang="en-US" sz="1800" b="1" i="1" dirty="0"/>
              <a:t> </a:t>
            </a:r>
            <a:r>
              <a:rPr lang="en-US" altLang="en-US" sz="1800" dirty="0"/>
              <a:t>consists of </a:t>
            </a:r>
            <a:r>
              <a:rPr lang="en-US" altLang="en-US" sz="1800" i="1" dirty="0" err="1"/>
              <a:t>i</a:t>
            </a:r>
            <a:r>
              <a:rPr lang="en-US" altLang="en-US" sz="1800" baseline="30000" dirty="0" err="1"/>
              <a:t>th</a:t>
            </a:r>
            <a:r>
              <a:rPr lang="en-US" altLang="en-US" sz="1800" dirty="0"/>
              <a:t> track of all the platters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89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3FDDECEE-4421-4D3A-935D-A39AA4A05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1072" y="20104"/>
            <a:ext cx="4292928" cy="939872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Magnetic Hard Disk Mechanism</a:t>
            </a:r>
          </a:p>
        </p:txBody>
      </p:sp>
      <p:sp>
        <p:nvSpPr>
          <p:cNvPr id="25603" name="Text Box 7">
            <a:extLst>
              <a:ext uri="{FF2B5EF4-FFF2-40B4-BE49-F238E27FC236}">
                <a16:creationId xmlns:a16="http://schemas.microsoft.com/office/drawing/2014/main" id="{383A3D0D-A7FB-452B-9B5E-1F5395298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857" y="5275672"/>
            <a:ext cx="455605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b="1" dirty="0"/>
              <a:t>Schematic diagram of magnetic disk drive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AC2392-ACCA-4691-9D6C-021EBB44F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2380" y="1490490"/>
            <a:ext cx="4641620" cy="36115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790446-A519-4155-83DA-35FFAD3A840C}"/>
              </a:ext>
            </a:extLst>
          </p:cNvPr>
          <p:cNvSpPr txBox="1"/>
          <p:nvPr/>
        </p:nvSpPr>
        <p:spPr>
          <a:xfrm>
            <a:off x="212035" y="397565"/>
            <a:ext cx="4080894" cy="156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a disk storage system, the outer most track number is 1 and inner most track number is 40000 for each platter. The number of sectors per track are given as follows: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C42CAA-9189-490A-920F-4DFA86FD6D59}"/>
              </a:ext>
            </a:extLst>
          </p:cNvPr>
          <p:cNvGraphicFramePr/>
          <p:nvPr/>
        </p:nvGraphicFramePr>
        <p:xfrm>
          <a:off x="212035" y="1958570"/>
          <a:ext cx="3962400" cy="1072262"/>
        </p:xfrm>
        <a:graphic>
          <a:graphicData uri="http://schemas.openxmlformats.org/drawingml/2006/table">
            <a:tbl>
              <a:tblPr firstRow="1" firstCol="1" bandRow="1"/>
              <a:tblGrid>
                <a:gridCol w="1981200">
                  <a:extLst>
                    <a:ext uri="{9D8B030D-6E8A-4147-A177-3AD203B41FA5}">
                      <a16:colId xmlns:a16="http://schemas.microsoft.com/office/drawing/2014/main" val="175415767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2114341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Track number range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Number of sectors per track</a:t>
                      </a:r>
                      <a:endParaRPr lang="en-US" sz="2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89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1 - 20000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364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20001 – 40000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1000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91279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6940387-D090-4E07-8546-34A7837D73F8}"/>
              </a:ext>
            </a:extLst>
          </p:cNvPr>
          <p:cNvSpPr txBox="1"/>
          <p:nvPr/>
        </p:nvSpPr>
        <p:spPr>
          <a:xfrm>
            <a:off x="212035" y="3193774"/>
            <a:ext cx="3962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size of the sector is 512 Byte. There are 2 sides in each platter and total of 5 platters in the disk.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4574A9-3A26-4FE7-B6D6-B3BB62BB6127}"/>
              </a:ext>
            </a:extLst>
          </p:cNvPr>
          <p:cNvSpPr txBox="1"/>
          <p:nvPr/>
        </p:nvSpPr>
        <p:spPr>
          <a:xfrm>
            <a:off x="397565" y="4293704"/>
            <a:ext cx="3895364" cy="156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w1-1</a:t>
            </a:r>
          </a:p>
          <a:p>
            <a:pPr marL="28575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 the storage size of one platter in GB with detailed calculations.</a:t>
            </a:r>
          </a:p>
          <a:p>
            <a:pPr marL="28575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 the storage size of the disk in GB with detailed calculations.</a:t>
            </a:r>
          </a:p>
        </p:txBody>
      </p:sp>
    </p:spTree>
    <p:extLst>
      <p:ext uri="{BB962C8B-B14F-4D97-AF65-F5344CB8AC3E}">
        <p14:creationId xmlns:p14="http://schemas.microsoft.com/office/powerpoint/2010/main" val="1657700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3FDDECEE-4421-4D3A-935D-A39AA4A05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1072" y="20104"/>
            <a:ext cx="4292928" cy="939872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Performance Measures of Disks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03" name="Text Box 7">
            <a:extLst>
              <a:ext uri="{FF2B5EF4-FFF2-40B4-BE49-F238E27FC236}">
                <a16:creationId xmlns:a16="http://schemas.microsoft.com/office/drawing/2014/main" id="{383A3D0D-A7FB-452B-9B5E-1F5395298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857" y="5275672"/>
            <a:ext cx="455605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b="1" dirty="0"/>
              <a:t>Schematic diagram of magnetic disk drive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AC2392-ACCA-4691-9D6C-021EBB44F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2380" y="1490490"/>
            <a:ext cx="4641620" cy="36115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22B6FD-D27E-478A-8AC8-4FD8210239E7}"/>
              </a:ext>
            </a:extLst>
          </p:cNvPr>
          <p:cNvSpPr txBox="1"/>
          <p:nvPr/>
        </p:nvSpPr>
        <p:spPr>
          <a:xfrm>
            <a:off x="291548" y="859078"/>
            <a:ext cx="4167309" cy="5016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Access time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the time it takes from when a read or write request is issued to when data transfer begins. </a:t>
            </a:r>
          </a:p>
          <a:p>
            <a:pPr>
              <a:spcAft>
                <a:spcPts val="0"/>
              </a:spcAft>
            </a:pPr>
            <a:r>
              <a:rPr lang="en-US" altLang="en-US" sz="1600" b="1" dirty="0">
                <a:solidFill>
                  <a:srgbClr val="002060"/>
                </a:solidFill>
              </a:rPr>
              <a:t>= Seek time + Rotational Latency</a:t>
            </a:r>
          </a:p>
          <a:p>
            <a:pPr>
              <a:spcAft>
                <a:spcPts val="0"/>
              </a:spcAft>
            </a:pPr>
            <a:endParaRPr lang="en-US" altLang="en-US" sz="1600" b="1" dirty="0">
              <a:solidFill>
                <a:srgbClr val="002060"/>
              </a:solidFill>
            </a:endParaRPr>
          </a:p>
          <a:p>
            <a:pPr>
              <a:spcAft>
                <a:spcPts val="0"/>
              </a:spcAft>
            </a:pPr>
            <a:r>
              <a:rPr lang="en-US" altLang="en-US" sz="1600" b="1" dirty="0">
                <a:solidFill>
                  <a:srgbClr val="002060"/>
                </a:solidFill>
              </a:rPr>
              <a:t>Seek time</a:t>
            </a:r>
            <a:r>
              <a:rPr lang="en-US" altLang="en-US" sz="1600" dirty="0">
                <a:solidFill>
                  <a:srgbClr val="002060"/>
                </a:solidFill>
              </a:rPr>
              <a:t> </a:t>
            </a:r>
            <a:r>
              <a:rPr lang="en-US" altLang="en-US" sz="1600" dirty="0"/>
              <a:t>– </a:t>
            </a:r>
            <a:r>
              <a:rPr lang="en-US" altLang="en-US" dirty="0"/>
              <a:t>time it takes to reposition the arm over the correct track. 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 Average seek time is 1/2 the worst case seek time.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4 to 10 milliseconds on typical disks</a:t>
            </a:r>
          </a:p>
          <a:p>
            <a:pPr>
              <a:spcAft>
                <a:spcPts val="0"/>
              </a:spcAft>
            </a:pPr>
            <a:endParaRPr lang="en-US" altLang="en-US" b="1" dirty="0">
              <a:solidFill>
                <a:srgbClr val="002060"/>
              </a:solidFill>
            </a:endParaRPr>
          </a:p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Rotational latency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– time it takes for the sector to be accessed to appear under the head. 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4 to 11 milliseconds on typical disks (5400 to 15000 </a:t>
            </a:r>
            <a:r>
              <a:rPr lang="en-US" altLang="en-US" dirty="0" err="1"/>
              <a:t>r.p.m</a:t>
            </a:r>
            <a:r>
              <a:rPr lang="en-US" altLang="en-US" dirty="0"/>
              <a:t>.)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Average latency is 1/2 of the above latency.</a:t>
            </a:r>
          </a:p>
          <a:p>
            <a:pPr>
              <a:spcAft>
                <a:spcPts val="0"/>
              </a:spcAft>
            </a:pPr>
            <a:r>
              <a:rPr lang="en-US" altLang="en-US" dirty="0"/>
              <a:t>Overall latency is 5 to 20 msec depending on disk model</a:t>
            </a:r>
          </a:p>
          <a:p>
            <a:pPr>
              <a:spcAft>
                <a:spcPts val="0"/>
              </a:spcAft>
            </a:pPr>
            <a:endParaRPr lang="en-US" altLang="en-US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D049432-FE00-8A77-BF13-A2ECB07DF01F}"/>
                  </a:ext>
                </a:extLst>
              </p14:cNvPr>
              <p14:cNvContentPartPr/>
              <p14:nvPr/>
            </p14:nvContentPartPr>
            <p14:xfrm>
              <a:off x="2652120" y="3955680"/>
              <a:ext cx="920160" cy="27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D049432-FE00-8A77-BF13-A2ECB07DF01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36280" y="3892320"/>
                <a:ext cx="95148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8711853-6A72-A953-DFD3-E66431A5C335}"/>
                  </a:ext>
                </a:extLst>
              </p14:cNvPr>
              <p14:cNvContentPartPr/>
              <p14:nvPr/>
            </p14:nvContentPartPr>
            <p14:xfrm>
              <a:off x="2741400" y="3295080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8711853-6A72-A953-DFD3-E66431A5C33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25560" y="3231720"/>
                <a:ext cx="3168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247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3FDDECEE-4421-4D3A-935D-A39AA4A05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1072" y="20104"/>
            <a:ext cx="4292928" cy="939872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Performance Measures of Disks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03" name="Text Box 7">
            <a:extLst>
              <a:ext uri="{FF2B5EF4-FFF2-40B4-BE49-F238E27FC236}">
                <a16:creationId xmlns:a16="http://schemas.microsoft.com/office/drawing/2014/main" id="{383A3D0D-A7FB-452B-9B5E-1F5395298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857" y="5275672"/>
            <a:ext cx="455605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b="1" dirty="0"/>
              <a:t>Schematic diagram of magnetic disk drive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AC2392-ACCA-4691-9D6C-021EBB44F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2380" y="1490490"/>
            <a:ext cx="4641620" cy="36115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22B6FD-D27E-478A-8AC8-4FD8210239E7}"/>
              </a:ext>
            </a:extLst>
          </p:cNvPr>
          <p:cNvSpPr txBox="1"/>
          <p:nvPr/>
        </p:nvSpPr>
        <p:spPr>
          <a:xfrm>
            <a:off x="291548" y="1259188"/>
            <a:ext cx="4167309" cy="43704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2060"/>
                </a:solidFill>
              </a:rPr>
              <a:t>Disk block </a:t>
            </a:r>
            <a:r>
              <a:rPr lang="en-IN" dirty="0"/>
              <a:t>is a logical unit for storage allocation and retrieval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IN" dirty="0"/>
              <a:t>4 to 16 kilobytes typically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altLang="en-US" dirty="0"/>
              <a:t>Smaller blocks: more transfers from disk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altLang="en-US" dirty="0"/>
              <a:t>Larger blocks:  more space wasted due to partially filled blocks</a:t>
            </a:r>
            <a:endParaRPr lang="en-IN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IN" b="1" dirty="0">
              <a:solidFill>
                <a:srgbClr val="002060"/>
              </a:solidFill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2060"/>
                </a:solidFill>
              </a:rPr>
              <a:t>Sequential access pattern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IN" dirty="0"/>
              <a:t>Successive requests are for successive disk blocks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IN" dirty="0"/>
              <a:t>Disk seek required only for first block</a:t>
            </a:r>
          </a:p>
        </p:txBody>
      </p:sp>
    </p:spTree>
    <p:extLst>
      <p:ext uri="{BB962C8B-B14F-4D97-AF65-F5344CB8AC3E}">
        <p14:creationId xmlns:p14="http://schemas.microsoft.com/office/powerpoint/2010/main" val="3445338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3FDDECEE-4421-4D3A-935D-A39AA4A05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1072" y="20104"/>
            <a:ext cx="4292928" cy="939872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Performance Measures of Disks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5603" name="Text Box 7">
            <a:extLst>
              <a:ext uri="{FF2B5EF4-FFF2-40B4-BE49-F238E27FC236}">
                <a16:creationId xmlns:a16="http://schemas.microsoft.com/office/drawing/2014/main" id="{383A3D0D-A7FB-452B-9B5E-1F5395298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8857" y="5275672"/>
            <a:ext cx="455605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700" b="1" dirty="0"/>
              <a:t>Schematic diagram of magnetic disk drive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AC2392-ACCA-4691-9D6C-021EBB44F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2380" y="1490490"/>
            <a:ext cx="4641620" cy="36115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22B6FD-D27E-478A-8AC8-4FD8210239E7}"/>
              </a:ext>
            </a:extLst>
          </p:cNvPr>
          <p:cNvSpPr txBox="1"/>
          <p:nvPr/>
        </p:nvSpPr>
        <p:spPr>
          <a:xfrm>
            <a:off x="291548" y="1228385"/>
            <a:ext cx="4167309" cy="3724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2060"/>
                </a:solidFill>
              </a:rPr>
              <a:t>Random access pattern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IN" dirty="0"/>
              <a:t>Successive requests are for blocks that can be anywhere on disk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IN" dirty="0"/>
              <a:t>Each access requires a seek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IN" dirty="0"/>
              <a:t>Transfer rates are low since a lot of time is wasted in seeks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002060"/>
                </a:solidFill>
              </a:rPr>
              <a:t>I/O operations per second (IOPS)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IN" dirty="0"/>
              <a:t>Number of random block reads that a disk can support per second</a:t>
            </a:r>
          </a:p>
          <a:p>
            <a:pPr marL="742950" lvl="1" indent="-28575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IN" dirty="0"/>
              <a:t>50 to 200 IOPS on current generation magnetic disks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FBA7F6-2312-1759-2AFB-2666C366D045}"/>
                  </a:ext>
                </a:extLst>
              </p14:cNvPr>
              <p14:cNvContentPartPr/>
              <p14:nvPr/>
            </p14:nvContentPartPr>
            <p14:xfrm>
              <a:off x="2125440" y="3929040"/>
              <a:ext cx="2152440" cy="116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FBA7F6-2312-1759-2AFB-2666C366D0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16080" y="3919680"/>
                <a:ext cx="2171160" cy="13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5071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3FDDECEE-4421-4D3A-935D-A39AA4A05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1072" y="20104"/>
            <a:ext cx="4292928" cy="939872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Performance Measures of Disks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BAC2392-ACCA-4691-9D6C-021EBB44F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19406" y="865207"/>
            <a:ext cx="3756259" cy="292270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27F915-B23A-4F62-8E7D-D1F66A390BE3}"/>
              </a:ext>
            </a:extLst>
          </p:cNvPr>
          <p:cNvSpPr txBox="1"/>
          <p:nvPr/>
        </p:nvSpPr>
        <p:spPr>
          <a:xfrm>
            <a:off x="87167" y="1468210"/>
            <a:ext cx="52719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relations and the corresponding size are given below. The relations are stored consecutively in the disk platter starting from track number 1 and platter number 1.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7BEA59-49A2-4809-8686-BA6130861F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4912905"/>
              </p:ext>
            </p:extLst>
          </p:nvPr>
        </p:nvGraphicFramePr>
        <p:xfrm>
          <a:off x="268335" y="2822956"/>
          <a:ext cx="3098317" cy="1212088"/>
        </p:xfrm>
        <a:graphic>
          <a:graphicData uri="http://schemas.openxmlformats.org/drawingml/2006/table">
            <a:tbl>
              <a:tblPr firstRow="1" firstCol="1" bandRow="1"/>
              <a:tblGrid>
                <a:gridCol w="1785729">
                  <a:extLst>
                    <a:ext uri="{9D8B030D-6E8A-4147-A177-3AD203B41FA5}">
                      <a16:colId xmlns:a16="http://schemas.microsoft.com/office/drawing/2014/main" val="3342752720"/>
                    </a:ext>
                  </a:extLst>
                </a:gridCol>
                <a:gridCol w="1312588">
                  <a:extLst>
                    <a:ext uri="{9D8B030D-6E8A-4147-A177-3AD203B41FA5}">
                      <a16:colId xmlns:a16="http://schemas.microsoft.com/office/drawing/2014/main" val="9335818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Relation name</a:t>
                      </a:r>
                      <a:endParaRPr 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Size (GB)</a:t>
                      </a:r>
                      <a:endParaRPr 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855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customer</a:t>
                      </a:r>
                      <a:endParaRPr 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10.24</a:t>
                      </a:r>
                      <a:endParaRPr 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6712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product</a:t>
                      </a:r>
                      <a:endParaRPr 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10.24</a:t>
                      </a:r>
                      <a:endParaRPr 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839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sale</a:t>
                      </a:r>
                      <a:endParaRPr 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10.24</a:t>
                      </a:r>
                      <a:endParaRPr 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94246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0E0F5F9-82EF-4EFA-971A-45250E2E8274}"/>
              </a:ext>
            </a:extLst>
          </p:cNvPr>
          <p:cNvSpPr txBox="1"/>
          <p:nvPr/>
        </p:nvSpPr>
        <p:spPr>
          <a:xfrm>
            <a:off x="172276" y="4143313"/>
            <a:ext cx="4134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following queries Q1 – Q3 are executed consecutively.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27AA36-D4A1-474E-ABAA-C4223EA416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6337972"/>
              </p:ext>
            </p:extLst>
          </p:nvPr>
        </p:nvGraphicFramePr>
        <p:xfrm>
          <a:off x="172277" y="4854168"/>
          <a:ext cx="4134679" cy="1212088"/>
        </p:xfrm>
        <a:graphic>
          <a:graphicData uri="http://schemas.openxmlformats.org/drawingml/2006/table">
            <a:tbl>
              <a:tblPr firstRow="1" firstCol="1" bandRow="1"/>
              <a:tblGrid>
                <a:gridCol w="768626">
                  <a:extLst>
                    <a:ext uri="{9D8B030D-6E8A-4147-A177-3AD203B41FA5}">
                      <a16:colId xmlns:a16="http://schemas.microsoft.com/office/drawing/2014/main" val="526721249"/>
                    </a:ext>
                  </a:extLst>
                </a:gridCol>
                <a:gridCol w="3366053">
                  <a:extLst>
                    <a:ext uri="{9D8B030D-6E8A-4147-A177-3AD203B41FA5}">
                      <a16:colId xmlns:a16="http://schemas.microsoft.com/office/drawing/2014/main" val="2065007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Query</a:t>
                      </a:r>
                      <a:endParaRPr 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SQL</a:t>
                      </a:r>
                      <a:endParaRPr 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967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Q1</a:t>
                      </a:r>
                      <a:endParaRPr 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SELECT * FROM SALE</a:t>
                      </a:r>
                      <a:endParaRPr 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3888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Q2</a:t>
                      </a:r>
                      <a:endParaRPr 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SELECT * FROM CUSTOMER</a:t>
                      </a:r>
                      <a:endParaRPr 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900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Q3</a:t>
                      </a:r>
                      <a:endParaRPr 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b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SELECT * FROM PRODUCT</a:t>
                      </a:r>
                      <a:endParaRPr 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4122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F55E25C-4F3E-449E-9C58-6B1D49D7372F}"/>
              </a:ext>
            </a:extLst>
          </p:cNvPr>
          <p:cNvSpPr txBox="1"/>
          <p:nvPr/>
        </p:nvSpPr>
        <p:spPr>
          <a:xfrm>
            <a:off x="4306955" y="3616162"/>
            <a:ext cx="4935519" cy="2450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Question w1-2</a:t>
            </a:r>
          </a:p>
          <a:p>
            <a:pPr marL="28575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 why block is used in DBMS instead of segment to READ/WRITE to disk?</a:t>
            </a:r>
          </a:p>
          <a:p>
            <a:pPr marL="285750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 the starting track number of relations customer, product and sale respectively.</a:t>
            </a:r>
          </a:p>
          <a:p>
            <a:pPr marL="285750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eriod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Explain the disk head movement and the number of seek to process the above three queries. The initial head position was in track 1.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B146D9-5DA6-4F98-B6F0-692553E446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9619505"/>
              </p:ext>
            </p:extLst>
          </p:nvPr>
        </p:nvGraphicFramePr>
        <p:xfrm>
          <a:off x="258415" y="656869"/>
          <a:ext cx="3962400" cy="811341"/>
        </p:xfrm>
        <a:graphic>
          <a:graphicData uri="http://schemas.openxmlformats.org/drawingml/2006/table">
            <a:tbl>
              <a:tblPr firstRow="1" firstCol="1" bandRow="1"/>
              <a:tblGrid>
                <a:gridCol w="1981200">
                  <a:extLst>
                    <a:ext uri="{9D8B030D-6E8A-4147-A177-3AD203B41FA5}">
                      <a16:colId xmlns:a16="http://schemas.microsoft.com/office/drawing/2014/main" val="175415767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2114341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Track number range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Size (GB)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589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1 - 20000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20.48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3646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20001 – 40000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fontAlgn="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i="0" u="none" strike="noStrike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10.24</a:t>
                      </a: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95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591279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AA9FBE5-0869-44F4-A18A-50702B637F49}"/>
              </a:ext>
            </a:extLst>
          </p:cNvPr>
          <p:cNvSpPr txBox="1"/>
          <p:nvPr/>
        </p:nvSpPr>
        <p:spPr>
          <a:xfrm>
            <a:off x="353753" y="210046"/>
            <a:ext cx="3697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disk storage size as follows:</a:t>
            </a:r>
          </a:p>
        </p:txBody>
      </p:sp>
    </p:spTree>
    <p:extLst>
      <p:ext uri="{BB962C8B-B14F-4D97-AF65-F5344CB8AC3E}">
        <p14:creationId xmlns:p14="http://schemas.microsoft.com/office/powerpoint/2010/main" val="1381219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2EC9E7E1-47A2-4E4B-B460-9EE231864E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0E4945A-A60A-40AF-B199-E71D7808E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139290"/>
            <a:ext cx="7612251" cy="4616741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RAID: Redundant Arrays of Independent Disks </a:t>
            </a:r>
            <a:endParaRPr lang="en-US" altLang="en-US" dirty="0">
              <a:solidFill>
                <a:srgbClr val="002060"/>
              </a:solidFill>
            </a:endParaRPr>
          </a:p>
          <a:p>
            <a:pPr lvl="1">
              <a:spcAft>
                <a:spcPts val="0"/>
              </a:spcAft>
            </a:pPr>
            <a:r>
              <a:rPr lang="en-US" altLang="en-US" dirty="0"/>
              <a:t>disk organization techniques that manage a large numbers of disks, providing a view of a single disk of </a:t>
            </a:r>
          </a:p>
          <a:p>
            <a:pPr lvl="1">
              <a:spcAft>
                <a:spcPts val="0"/>
              </a:spcAft>
            </a:pPr>
            <a:endParaRPr lang="en-US" altLang="en-US" dirty="0"/>
          </a:p>
          <a:p>
            <a:pPr lvl="2"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high capacity </a:t>
            </a:r>
            <a:r>
              <a:rPr lang="en-US" altLang="en-US" dirty="0"/>
              <a:t>and </a:t>
            </a:r>
            <a:r>
              <a:rPr lang="en-US" altLang="en-US" b="1" dirty="0">
                <a:solidFill>
                  <a:srgbClr val="002060"/>
                </a:solidFill>
              </a:rPr>
              <a:t>high speed  </a:t>
            </a:r>
            <a:r>
              <a:rPr lang="en-US" altLang="en-US" dirty="0"/>
              <a:t>by using multiple disks in parallel,</a:t>
            </a:r>
          </a:p>
          <a:p>
            <a:pPr marL="857250" lvl="2" indent="0">
              <a:spcAft>
                <a:spcPts val="0"/>
              </a:spcAft>
              <a:buNone/>
            </a:pPr>
            <a:r>
              <a:rPr lang="en-US" altLang="en-US" dirty="0"/>
              <a:t>  </a:t>
            </a:r>
          </a:p>
          <a:p>
            <a:pPr lvl="2">
              <a:spcAft>
                <a:spcPts val="0"/>
              </a:spcAft>
            </a:pPr>
            <a:r>
              <a:rPr lang="en-US" altLang="en-US" b="1" dirty="0">
                <a:solidFill>
                  <a:srgbClr val="002060"/>
                </a:solidFill>
              </a:rPr>
              <a:t>high reliability </a:t>
            </a:r>
            <a:r>
              <a:rPr lang="en-US" altLang="en-US" dirty="0"/>
              <a:t>by storing data redundantly, so that data can be recovered even if  a disk fails </a:t>
            </a:r>
          </a:p>
          <a:p>
            <a:pPr>
              <a:spcAft>
                <a:spcPts val="0"/>
              </a:spcAft>
            </a:pPr>
            <a:endParaRPr lang="en-US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F0EAECD-C0FB-1301-8114-02A9B618A37F}"/>
                  </a:ext>
                </a:extLst>
              </p14:cNvPr>
              <p14:cNvContentPartPr/>
              <p14:nvPr/>
            </p14:nvContentPartPr>
            <p14:xfrm>
              <a:off x="5813280" y="1678680"/>
              <a:ext cx="2170440" cy="54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F0EAECD-C0FB-1301-8114-02A9B618A3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97440" y="1615320"/>
                <a:ext cx="220176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AFE69EF-D058-DDE2-62EC-B3A5DB8DCF56}"/>
                  </a:ext>
                </a:extLst>
              </p14:cNvPr>
              <p14:cNvContentPartPr/>
              <p14:nvPr/>
            </p14:nvContentPartPr>
            <p14:xfrm>
              <a:off x="2348640" y="2071800"/>
              <a:ext cx="2706120" cy="777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AFE69EF-D058-DDE2-62EC-B3A5DB8DCF5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39280" y="2062440"/>
                <a:ext cx="2724840" cy="795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07094493-EF72-410D-8543-93233D17B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2113" y="260350"/>
            <a:ext cx="8923337" cy="4572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Improvement in Performance via Parallelism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A09838-8008-44B5-8C50-53A3CD117D23}"/>
              </a:ext>
            </a:extLst>
          </p:cNvPr>
          <p:cNvSpPr txBox="1"/>
          <p:nvPr/>
        </p:nvSpPr>
        <p:spPr>
          <a:xfrm>
            <a:off x="46102" y="863809"/>
            <a:ext cx="502662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en-US" sz="1800" dirty="0"/>
              <a:t>Two main goals of parallelism in a disk system: </a:t>
            </a:r>
          </a:p>
          <a:p>
            <a:pPr marL="285750" indent="-285750"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Load balance multiple small accesses to increase throughput</a:t>
            </a:r>
          </a:p>
          <a:p>
            <a:pPr marL="285750" indent="-285750"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Parallelize large accesses to reduce response time.</a:t>
            </a:r>
          </a:p>
          <a:p>
            <a:pPr marL="285750" indent="-285750"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Improve transfer rate by striping data across multiple disks.</a:t>
            </a:r>
          </a:p>
          <a:p>
            <a:pPr>
              <a:spcAft>
                <a:spcPts val="0"/>
              </a:spcAft>
            </a:pPr>
            <a:r>
              <a:rPr lang="en-US" altLang="en-US" sz="1800" b="1" dirty="0">
                <a:solidFill>
                  <a:srgbClr val="002060"/>
                </a:solidFill>
              </a:rPr>
              <a:t>Bit-level striping</a:t>
            </a:r>
            <a:r>
              <a:rPr lang="en-US" altLang="en-US" sz="1800" dirty="0">
                <a:solidFill>
                  <a:srgbClr val="002060"/>
                </a:solidFill>
              </a:rPr>
              <a:t> </a:t>
            </a:r>
            <a:r>
              <a:rPr lang="en-US" altLang="en-US" sz="1800" dirty="0"/>
              <a:t>– split the bits of each byte across multiple disks. In an array of eight disks, write bit </a:t>
            </a:r>
            <a:r>
              <a:rPr lang="en-US" altLang="en-US" sz="1800" i="1" dirty="0" err="1"/>
              <a:t>i</a:t>
            </a:r>
            <a:r>
              <a:rPr lang="en-US" altLang="en-US" sz="1800" dirty="0"/>
              <a:t> of each byte to disk </a:t>
            </a:r>
            <a:r>
              <a:rPr lang="en-US" altLang="en-US" sz="1800" i="1" dirty="0" err="1"/>
              <a:t>i</a:t>
            </a:r>
            <a:r>
              <a:rPr lang="en-US" altLang="en-US" sz="1800" i="1" dirty="0"/>
              <a:t>.</a:t>
            </a:r>
          </a:p>
          <a:p>
            <a:pPr marL="285750" indent="-285750"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Each access can read data at eight times the rate of a single disk (sequential access).</a:t>
            </a:r>
          </a:p>
          <a:p>
            <a:pPr marL="742950" lvl="1" indent="-285750">
              <a:spcAft>
                <a:spcPts val="0"/>
              </a:spcAft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altLang="en-US" sz="1800" dirty="0"/>
              <a:t>Example: select * from student; </a:t>
            </a:r>
          </a:p>
          <a:p>
            <a:pPr marL="285750" indent="-285750"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But seek/access time worse than for a single disk. (Find </a:t>
            </a:r>
            <a:r>
              <a:rPr lang="en-US" altLang="en-US" sz="1800" dirty="0" err="1"/>
              <a:t>i</a:t>
            </a:r>
            <a:r>
              <a:rPr lang="en-US" altLang="en-US" sz="1800" baseline="30000" dirty="0" err="1"/>
              <a:t>th</a:t>
            </a:r>
            <a:r>
              <a:rPr lang="en-US" altLang="en-US" sz="1800" dirty="0"/>
              <a:t> Byte?) </a:t>
            </a:r>
          </a:p>
          <a:p>
            <a:pPr marL="742950" lvl="1" indent="-285750">
              <a:spcAft>
                <a:spcPts val="0"/>
              </a:spcAft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altLang="en-US" sz="1800" dirty="0"/>
              <a:t>Example: Select * from student where id = 05050</a:t>
            </a:r>
          </a:p>
          <a:p>
            <a:pPr marL="285750" indent="-285750"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Bit level striping is not used much any more</a:t>
            </a:r>
          </a:p>
          <a:p>
            <a:pPr>
              <a:spcAft>
                <a:spcPts val="0"/>
              </a:spcAft>
            </a:pPr>
            <a:endParaRPr lang="en-US" altLang="en-US" sz="1800" b="1" dirty="0">
              <a:solidFill>
                <a:srgbClr val="002060"/>
              </a:solidFill>
            </a:endParaRPr>
          </a:p>
        </p:txBody>
      </p:sp>
      <p:grpSp>
        <p:nvGrpSpPr>
          <p:cNvPr id="50180" name="Group 50179">
            <a:extLst>
              <a:ext uri="{FF2B5EF4-FFF2-40B4-BE49-F238E27FC236}">
                <a16:creationId xmlns:a16="http://schemas.microsoft.com/office/drawing/2014/main" id="{C1B0691C-9EEA-49E8-BA71-DCB2009DA2B2}"/>
              </a:ext>
            </a:extLst>
          </p:cNvPr>
          <p:cNvGrpSpPr/>
          <p:nvPr/>
        </p:nvGrpSpPr>
        <p:grpSpPr>
          <a:xfrm>
            <a:off x="5455547" y="2572972"/>
            <a:ext cx="3365550" cy="856028"/>
            <a:chOff x="5570803" y="3372729"/>
            <a:chExt cx="3365550" cy="856028"/>
          </a:xfrm>
        </p:grpSpPr>
        <p:sp>
          <p:nvSpPr>
            <p:cNvPr id="21" name="Flowchart: Magnetic Disk 20">
              <a:extLst>
                <a:ext uri="{FF2B5EF4-FFF2-40B4-BE49-F238E27FC236}">
                  <a16:creationId xmlns:a16="http://schemas.microsoft.com/office/drawing/2014/main" id="{FE457ED0-E75E-4A1A-95CF-E4C6BB3A8025}"/>
                </a:ext>
              </a:extLst>
            </p:cNvPr>
            <p:cNvSpPr/>
            <p:nvPr/>
          </p:nvSpPr>
          <p:spPr bwMode="auto">
            <a:xfrm>
              <a:off x="7267200" y="3398763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</a:t>
              </a:r>
            </a:p>
          </p:txBody>
        </p:sp>
        <p:sp>
          <p:nvSpPr>
            <p:cNvPr id="3" name="Flowchart: Magnetic Disk 2">
              <a:extLst>
                <a:ext uri="{FF2B5EF4-FFF2-40B4-BE49-F238E27FC236}">
                  <a16:creationId xmlns:a16="http://schemas.microsoft.com/office/drawing/2014/main" id="{6A56302D-B10E-4722-B763-37C400A32298}"/>
                </a:ext>
              </a:extLst>
            </p:cNvPr>
            <p:cNvSpPr/>
            <p:nvPr/>
          </p:nvSpPr>
          <p:spPr bwMode="auto">
            <a:xfrm>
              <a:off x="5570803" y="3372729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</a:t>
              </a:r>
            </a:p>
          </p:txBody>
        </p:sp>
        <p:sp>
          <p:nvSpPr>
            <p:cNvPr id="17" name="Flowchart: Magnetic Disk 16">
              <a:extLst>
                <a:ext uri="{FF2B5EF4-FFF2-40B4-BE49-F238E27FC236}">
                  <a16:creationId xmlns:a16="http://schemas.microsoft.com/office/drawing/2014/main" id="{775FE9E2-FD95-4D92-BE08-16215514A2B3}"/>
                </a:ext>
              </a:extLst>
            </p:cNvPr>
            <p:cNvSpPr/>
            <p:nvPr/>
          </p:nvSpPr>
          <p:spPr bwMode="auto">
            <a:xfrm>
              <a:off x="6006009" y="3372729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0</a:t>
              </a:r>
            </a:p>
          </p:txBody>
        </p:sp>
        <p:sp>
          <p:nvSpPr>
            <p:cNvPr id="19" name="Flowchart: Magnetic Disk 18">
              <a:extLst>
                <a:ext uri="{FF2B5EF4-FFF2-40B4-BE49-F238E27FC236}">
                  <a16:creationId xmlns:a16="http://schemas.microsoft.com/office/drawing/2014/main" id="{2DC7984E-533A-4073-BFF9-E14228F5BA67}"/>
                </a:ext>
              </a:extLst>
            </p:cNvPr>
            <p:cNvSpPr/>
            <p:nvPr/>
          </p:nvSpPr>
          <p:spPr bwMode="auto">
            <a:xfrm>
              <a:off x="6424472" y="3372729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</a:t>
              </a:r>
            </a:p>
          </p:txBody>
        </p:sp>
        <p:sp>
          <p:nvSpPr>
            <p:cNvPr id="23" name="Flowchart: Magnetic Disk 22">
              <a:extLst>
                <a:ext uri="{FF2B5EF4-FFF2-40B4-BE49-F238E27FC236}">
                  <a16:creationId xmlns:a16="http://schemas.microsoft.com/office/drawing/2014/main" id="{A8D3EDA2-EEF3-4D4A-AEB7-F0805057004C}"/>
                </a:ext>
              </a:extLst>
            </p:cNvPr>
            <p:cNvSpPr/>
            <p:nvPr/>
          </p:nvSpPr>
          <p:spPr bwMode="auto">
            <a:xfrm>
              <a:off x="6859680" y="3372729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0</a:t>
              </a:r>
            </a:p>
          </p:txBody>
        </p:sp>
        <p:sp>
          <p:nvSpPr>
            <p:cNvPr id="25" name="Flowchart: Magnetic Disk 24">
              <a:extLst>
                <a:ext uri="{FF2B5EF4-FFF2-40B4-BE49-F238E27FC236}">
                  <a16:creationId xmlns:a16="http://schemas.microsoft.com/office/drawing/2014/main" id="{C3DF662A-E551-473C-AD07-297B5A025961}"/>
                </a:ext>
              </a:extLst>
            </p:cNvPr>
            <p:cNvSpPr/>
            <p:nvPr/>
          </p:nvSpPr>
          <p:spPr bwMode="auto">
            <a:xfrm>
              <a:off x="7674720" y="3372729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</a:t>
              </a:r>
            </a:p>
          </p:txBody>
        </p:sp>
        <p:sp>
          <p:nvSpPr>
            <p:cNvPr id="27" name="Flowchart: Magnetic Disk 26">
              <a:extLst>
                <a:ext uri="{FF2B5EF4-FFF2-40B4-BE49-F238E27FC236}">
                  <a16:creationId xmlns:a16="http://schemas.microsoft.com/office/drawing/2014/main" id="{5E311D38-9A16-4FBC-9C8A-7A1446D46BA6}"/>
                </a:ext>
              </a:extLst>
            </p:cNvPr>
            <p:cNvSpPr/>
            <p:nvPr/>
          </p:nvSpPr>
          <p:spPr bwMode="auto">
            <a:xfrm>
              <a:off x="8135387" y="3372729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</a:t>
              </a:r>
            </a:p>
          </p:txBody>
        </p:sp>
        <p:sp>
          <p:nvSpPr>
            <p:cNvPr id="29" name="Flowchart: Magnetic Disk 28">
              <a:extLst>
                <a:ext uri="{FF2B5EF4-FFF2-40B4-BE49-F238E27FC236}">
                  <a16:creationId xmlns:a16="http://schemas.microsoft.com/office/drawing/2014/main" id="{FC65FCFF-2ED1-4191-85A8-F5FFE8ED3621}"/>
                </a:ext>
              </a:extLst>
            </p:cNvPr>
            <p:cNvSpPr/>
            <p:nvPr/>
          </p:nvSpPr>
          <p:spPr bwMode="auto">
            <a:xfrm>
              <a:off x="8570593" y="3372729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</a:t>
              </a:r>
            </a:p>
          </p:txBody>
        </p:sp>
      </p:grpSp>
      <p:sp>
        <p:nvSpPr>
          <p:cNvPr id="50177" name="TextBox 50176">
            <a:extLst>
              <a:ext uri="{FF2B5EF4-FFF2-40B4-BE49-F238E27FC236}">
                <a16:creationId xmlns:a16="http://schemas.microsoft.com/office/drawing/2014/main" id="{A2CE6EDE-A799-4D6C-96B5-3C36A207FD18}"/>
              </a:ext>
            </a:extLst>
          </p:cNvPr>
          <p:cNvSpPr txBox="1"/>
          <p:nvPr/>
        </p:nvSpPr>
        <p:spPr>
          <a:xfrm>
            <a:off x="5455547" y="1209921"/>
            <a:ext cx="3827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Student relation</a:t>
            </a:r>
          </a:p>
          <a:p>
            <a:r>
              <a:rPr lang="en-US" sz="1800" dirty="0"/>
              <a:t>10101111</a:t>
            </a:r>
            <a:r>
              <a:rPr lang="en-US" sz="1800" dirty="0">
                <a:solidFill>
                  <a:srgbClr val="FF0000"/>
                </a:solidFill>
              </a:rPr>
              <a:t>00000000</a:t>
            </a:r>
            <a:r>
              <a:rPr lang="en-US" sz="1800" dirty="0"/>
              <a:t>11111111…</a:t>
            </a:r>
          </a:p>
        </p:txBody>
      </p:sp>
      <p:sp>
        <p:nvSpPr>
          <p:cNvPr id="50181" name="TextBox 50180">
            <a:extLst>
              <a:ext uri="{FF2B5EF4-FFF2-40B4-BE49-F238E27FC236}">
                <a16:creationId xmlns:a16="http://schemas.microsoft.com/office/drawing/2014/main" id="{C1B24696-2F30-425D-9060-FD0D00853E7B}"/>
              </a:ext>
            </a:extLst>
          </p:cNvPr>
          <p:cNvSpPr txBox="1"/>
          <p:nvPr/>
        </p:nvSpPr>
        <p:spPr>
          <a:xfrm>
            <a:off x="5443026" y="1996247"/>
            <a:ext cx="2759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Storing 1</a:t>
            </a:r>
            <a:r>
              <a:rPr lang="en-US" baseline="30000" dirty="0"/>
              <a:t>st</a:t>
            </a:r>
            <a:r>
              <a:rPr lang="en-US" dirty="0"/>
              <a:t> byte</a:t>
            </a:r>
          </a:p>
        </p:txBody>
      </p:sp>
      <p:sp>
        <p:nvSpPr>
          <p:cNvPr id="50182" name="TextBox 50181">
            <a:extLst>
              <a:ext uri="{FF2B5EF4-FFF2-40B4-BE49-F238E27FC236}">
                <a16:creationId xmlns:a16="http://schemas.microsoft.com/office/drawing/2014/main" id="{3F363B6A-3943-494E-9053-CE38DD43D96C}"/>
              </a:ext>
            </a:extLst>
          </p:cNvPr>
          <p:cNvSpPr txBox="1"/>
          <p:nvPr/>
        </p:nvSpPr>
        <p:spPr>
          <a:xfrm>
            <a:off x="5547311" y="3794082"/>
            <a:ext cx="2759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Storing 2</a:t>
            </a:r>
            <a:r>
              <a:rPr lang="en-US" baseline="30000" dirty="0"/>
              <a:t>nd</a:t>
            </a:r>
            <a:r>
              <a:rPr lang="en-US" dirty="0"/>
              <a:t> byte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17A207C-E2F3-43B9-8325-1B43FA30AC9B}"/>
              </a:ext>
            </a:extLst>
          </p:cNvPr>
          <p:cNvGrpSpPr/>
          <p:nvPr/>
        </p:nvGrpSpPr>
        <p:grpSpPr>
          <a:xfrm>
            <a:off x="5272667" y="4434233"/>
            <a:ext cx="3365550" cy="856028"/>
            <a:chOff x="5570803" y="3372729"/>
            <a:chExt cx="3365550" cy="856028"/>
          </a:xfrm>
        </p:grpSpPr>
        <p:sp>
          <p:nvSpPr>
            <p:cNvPr id="44" name="Flowchart: Magnetic Disk 43">
              <a:extLst>
                <a:ext uri="{FF2B5EF4-FFF2-40B4-BE49-F238E27FC236}">
                  <a16:creationId xmlns:a16="http://schemas.microsoft.com/office/drawing/2014/main" id="{4E2CB257-D060-4EAC-896B-99AD6C427F59}"/>
                </a:ext>
              </a:extLst>
            </p:cNvPr>
            <p:cNvSpPr/>
            <p:nvPr/>
          </p:nvSpPr>
          <p:spPr bwMode="auto">
            <a:xfrm>
              <a:off x="7267200" y="3398763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</a:t>
              </a: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</a:rPr>
                <a:t>0</a:t>
              </a:r>
            </a:p>
          </p:txBody>
        </p:sp>
        <p:sp>
          <p:nvSpPr>
            <p:cNvPr id="45" name="Flowchart: Magnetic Disk 44">
              <a:extLst>
                <a:ext uri="{FF2B5EF4-FFF2-40B4-BE49-F238E27FC236}">
                  <a16:creationId xmlns:a16="http://schemas.microsoft.com/office/drawing/2014/main" id="{90A3FB90-0138-4028-B1A5-239C89224CE7}"/>
                </a:ext>
              </a:extLst>
            </p:cNvPr>
            <p:cNvSpPr/>
            <p:nvPr/>
          </p:nvSpPr>
          <p:spPr bwMode="auto">
            <a:xfrm>
              <a:off x="5570803" y="3372729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</a:t>
              </a: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</a:rPr>
                <a:t>0</a:t>
              </a:r>
            </a:p>
          </p:txBody>
        </p:sp>
        <p:sp>
          <p:nvSpPr>
            <p:cNvPr id="46" name="Flowchart: Magnetic Disk 45">
              <a:extLst>
                <a:ext uri="{FF2B5EF4-FFF2-40B4-BE49-F238E27FC236}">
                  <a16:creationId xmlns:a16="http://schemas.microsoft.com/office/drawing/2014/main" id="{05000672-4CD5-483A-9F8A-5A5A03C42467}"/>
                </a:ext>
              </a:extLst>
            </p:cNvPr>
            <p:cNvSpPr/>
            <p:nvPr/>
          </p:nvSpPr>
          <p:spPr bwMode="auto">
            <a:xfrm>
              <a:off x="6006009" y="3372729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0</a:t>
              </a: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</a:rPr>
                <a:t>0</a:t>
              </a:r>
            </a:p>
          </p:txBody>
        </p:sp>
        <p:sp>
          <p:nvSpPr>
            <p:cNvPr id="47" name="Flowchart: Magnetic Disk 46">
              <a:extLst>
                <a:ext uri="{FF2B5EF4-FFF2-40B4-BE49-F238E27FC236}">
                  <a16:creationId xmlns:a16="http://schemas.microsoft.com/office/drawing/2014/main" id="{6FB97893-F9EB-47E8-95C2-D4EA2178FCD9}"/>
                </a:ext>
              </a:extLst>
            </p:cNvPr>
            <p:cNvSpPr/>
            <p:nvPr/>
          </p:nvSpPr>
          <p:spPr bwMode="auto">
            <a:xfrm>
              <a:off x="6424472" y="3372729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</a:t>
              </a: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</a:rPr>
                <a:t>0</a:t>
              </a:r>
            </a:p>
          </p:txBody>
        </p:sp>
        <p:sp>
          <p:nvSpPr>
            <p:cNvPr id="48" name="Flowchart: Magnetic Disk 47">
              <a:extLst>
                <a:ext uri="{FF2B5EF4-FFF2-40B4-BE49-F238E27FC236}">
                  <a16:creationId xmlns:a16="http://schemas.microsoft.com/office/drawing/2014/main" id="{F5142404-3A6D-4B64-BC20-0307CA9D9EB0}"/>
                </a:ext>
              </a:extLst>
            </p:cNvPr>
            <p:cNvSpPr/>
            <p:nvPr/>
          </p:nvSpPr>
          <p:spPr bwMode="auto">
            <a:xfrm>
              <a:off x="6859680" y="3372729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0</a:t>
              </a: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</a:rPr>
                <a:t>0</a:t>
              </a:r>
            </a:p>
          </p:txBody>
        </p:sp>
        <p:sp>
          <p:nvSpPr>
            <p:cNvPr id="49" name="Flowchart: Magnetic Disk 48">
              <a:extLst>
                <a:ext uri="{FF2B5EF4-FFF2-40B4-BE49-F238E27FC236}">
                  <a16:creationId xmlns:a16="http://schemas.microsoft.com/office/drawing/2014/main" id="{8F67E888-F3A3-4E94-B717-16E01E676650}"/>
                </a:ext>
              </a:extLst>
            </p:cNvPr>
            <p:cNvSpPr/>
            <p:nvPr/>
          </p:nvSpPr>
          <p:spPr bwMode="auto">
            <a:xfrm>
              <a:off x="7674720" y="3372729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</a:t>
              </a: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</a:rPr>
                <a:t>0</a:t>
              </a:r>
            </a:p>
          </p:txBody>
        </p:sp>
        <p:sp>
          <p:nvSpPr>
            <p:cNvPr id="50" name="Flowchart: Magnetic Disk 49">
              <a:extLst>
                <a:ext uri="{FF2B5EF4-FFF2-40B4-BE49-F238E27FC236}">
                  <a16:creationId xmlns:a16="http://schemas.microsoft.com/office/drawing/2014/main" id="{CF8B8422-9B14-489D-8A6B-99FEFE29F99B}"/>
                </a:ext>
              </a:extLst>
            </p:cNvPr>
            <p:cNvSpPr/>
            <p:nvPr/>
          </p:nvSpPr>
          <p:spPr bwMode="auto">
            <a:xfrm>
              <a:off x="8135387" y="3372729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</a:t>
              </a: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</a:rPr>
                <a:t>0</a:t>
              </a:r>
            </a:p>
          </p:txBody>
        </p:sp>
        <p:sp>
          <p:nvSpPr>
            <p:cNvPr id="51" name="Flowchart: Magnetic Disk 50">
              <a:extLst>
                <a:ext uri="{FF2B5EF4-FFF2-40B4-BE49-F238E27FC236}">
                  <a16:creationId xmlns:a16="http://schemas.microsoft.com/office/drawing/2014/main" id="{9587A54B-D9EB-4E63-A29C-C68A47FD5E27}"/>
                </a:ext>
              </a:extLst>
            </p:cNvPr>
            <p:cNvSpPr/>
            <p:nvPr/>
          </p:nvSpPr>
          <p:spPr bwMode="auto">
            <a:xfrm>
              <a:off x="8570593" y="3372729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</a:t>
              </a: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</a:rPr>
                <a:t>0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65985AF-18C8-5585-7592-FADDA6301872}"/>
              </a:ext>
            </a:extLst>
          </p:cNvPr>
          <p:cNvSpPr txBox="1"/>
          <p:nvPr/>
        </p:nvSpPr>
        <p:spPr>
          <a:xfrm>
            <a:off x="857250" y="6219121"/>
            <a:ext cx="23145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Throughput - note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933410D-5F9D-6279-5088-5A07CBBC137F}"/>
                  </a:ext>
                </a:extLst>
              </p14:cNvPr>
              <p14:cNvContentPartPr/>
              <p14:nvPr/>
            </p14:nvContentPartPr>
            <p14:xfrm>
              <a:off x="2197080" y="3822840"/>
              <a:ext cx="1962360" cy="63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933410D-5F9D-6279-5088-5A07CBBC13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1240" y="3759480"/>
                <a:ext cx="199368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5DF22EC-51A5-2F96-189E-AE3C1FCA3961}"/>
                  </a:ext>
                </a:extLst>
              </p14:cNvPr>
              <p14:cNvContentPartPr/>
              <p14:nvPr/>
            </p14:nvContentPartPr>
            <p14:xfrm>
              <a:off x="952560" y="4718160"/>
              <a:ext cx="2972160" cy="1206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5DF22EC-51A5-2F96-189E-AE3C1FCA396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3200" y="4708800"/>
                <a:ext cx="2990880" cy="122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7" grpId="0"/>
      <p:bldP spid="50181" grpId="0"/>
      <p:bldP spid="5018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07094493-EF72-410D-8543-93233D17B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2113" y="260350"/>
            <a:ext cx="8923337" cy="457200"/>
          </a:xfrm>
        </p:spPr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Improvement in Performance via Parallelism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A09838-8008-44B5-8C50-53A3CD117D23}"/>
              </a:ext>
            </a:extLst>
          </p:cNvPr>
          <p:cNvSpPr txBox="1"/>
          <p:nvPr/>
        </p:nvSpPr>
        <p:spPr>
          <a:xfrm>
            <a:off x="175943" y="1558810"/>
            <a:ext cx="382730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en-US" sz="1800" b="1" dirty="0">
                <a:solidFill>
                  <a:srgbClr val="002060"/>
                </a:solidFill>
              </a:rPr>
              <a:t>Block-level striping </a:t>
            </a:r>
            <a:r>
              <a:rPr lang="en-US" altLang="en-US" sz="1800" dirty="0"/>
              <a:t>– with </a:t>
            </a:r>
            <a:r>
              <a:rPr lang="en-US" altLang="en-US" sz="1800" i="1" dirty="0"/>
              <a:t>n</a:t>
            </a:r>
            <a:r>
              <a:rPr lang="en-US" altLang="en-US" sz="1800" dirty="0"/>
              <a:t> disks, block </a:t>
            </a:r>
            <a:r>
              <a:rPr lang="en-US" altLang="en-US" sz="1800" i="1" dirty="0" err="1"/>
              <a:t>i</a:t>
            </a:r>
            <a:r>
              <a:rPr lang="en-US" altLang="en-US" sz="1800" dirty="0"/>
              <a:t> of a file goes to disk (</a:t>
            </a:r>
            <a:r>
              <a:rPr lang="en-US" altLang="en-US" sz="1800" i="1" dirty="0" err="1"/>
              <a:t>i</a:t>
            </a:r>
            <a:r>
              <a:rPr lang="en-US" altLang="en-US" sz="1800" dirty="0"/>
              <a:t> mod </a:t>
            </a:r>
            <a:r>
              <a:rPr lang="en-US" altLang="en-US" sz="1800" i="1" dirty="0"/>
              <a:t>n</a:t>
            </a:r>
            <a:r>
              <a:rPr lang="en-US" altLang="en-US" sz="1800" dirty="0"/>
              <a:t>) + 1</a:t>
            </a:r>
          </a:p>
          <a:p>
            <a:pPr>
              <a:spcAft>
                <a:spcPts val="0"/>
              </a:spcAft>
            </a:pPr>
            <a:endParaRPr lang="en-US" altLang="en-US" sz="1800" dirty="0"/>
          </a:p>
          <a:p>
            <a:pPr>
              <a:spcAft>
                <a:spcPts val="0"/>
              </a:spcAft>
              <a:buClr>
                <a:srgbClr val="FF0000"/>
              </a:buClr>
            </a:pPr>
            <a:r>
              <a:rPr lang="en-US" altLang="en-US" sz="1800" dirty="0"/>
              <a:t>1. Requests for different blocks can run in parallel if the blocks reside on different disks</a:t>
            </a:r>
          </a:p>
          <a:p>
            <a:pPr marL="742950" lvl="1" indent="-285750"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Example: Example: Select * from student where id &gt;= 05005 </a:t>
            </a:r>
          </a:p>
          <a:p>
            <a:pPr marL="285750" indent="-285750"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>
              <a:spcAft>
                <a:spcPts val="0"/>
              </a:spcAft>
              <a:buClr>
                <a:srgbClr val="FF0000"/>
              </a:buClr>
            </a:pPr>
            <a:r>
              <a:rPr lang="en-US" altLang="en-US" sz="1800" dirty="0"/>
              <a:t>2. A request for a long sequence of blocks can utilize all disks in parallel</a:t>
            </a:r>
          </a:p>
          <a:p>
            <a:pPr marL="285750" indent="-285750">
              <a:spcAft>
                <a:spcPts val="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Example: select * from student; </a:t>
            </a:r>
          </a:p>
        </p:txBody>
      </p:sp>
      <p:sp>
        <p:nvSpPr>
          <p:cNvPr id="50178" name="TextBox 50177">
            <a:extLst>
              <a:ext uri="{FF2B5EF4-FFF2-40B4-BE49-F238E27FC236}">
                <a16:creationId xmlns:a16="http://schemas.microsoft.com/office/drawing/2014/main" id="{0A1E6D55-578D-42BF-9DD2-30C5E1E9F0EB}"/>
              </a:ext>
            </a:extLst>
          </p:cNvPr>
          <p:cNvSpPr txBox="1"/>
          <p:nvPr/>
        </p:nvSpPr>
        <p:spPr>
          <a:xfrm>
            <a:off x="5238292" y="745286"/>
            <a:ext cx="3827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Student relation</a:t>
            </a:r>
          </a:p>
          <a:p>
            <a:r>
              <a:rPr lang="en-US" sz="1800" dirty="0"/>
              <a:t>B0, B1, B2, B3, B4, B5, B6, B7, </a:t>
            </a:r>
            <a:r>
              <a:rPr lang="en-US" sz="1800" b="1" dirty="0">
                <a:solidFill>
                  <a:srgbClr val="FF0000"/>
                </a:solidFill>
              </a:rPr>
              <a:t>B8,</a:t>
            </a:r>
            <a:r>
              <a:rPr lang="en-US" sz="1800" dirty="0"/>
              <a:t> </a:t>
            </a:r>
            <a:r>
              <a:rPr lang="en-US" sz="1800" b="1" dirty="0">
                <a:solidFill>
                  <a:srgbClr val="FF0000"/>
                </a:solidFill>
              </a:rPr>
              <a:t>B9, B10, B11, B12, B13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AD052B9-D179-41DD-958D-48EB086145C6}"/>
              </a:ext>
            </a:extLst>
          </p:cNvPr>
          <p:cNvGrpSpPr/>
          <p:nvPr/>
        </p:nvGrpSpPr>
        <p:grpSpPr>
          <a:xfrm>
            <a:off x="5135560" y="2572972"/>
            <a:ext cx="3391011" cy="856028"/>
            <a:chOff x="4994880" y="2572972"/>
            <a:chExt cx="3391011" cy="856028"/>
          </a:xfrm>
        </p:grpSpPr>
        <p:sp>
          <p:nvSpPr>
            <p:cNvPr id="16" name="Flowchart: Magnetic Disk 15">
              <a:extLst>
                <a:ext uri="{FF2B5EF4-FFF2-40B4-BE49-F238E27FC236}">
                  <a16:creationId xmlns:a16="http://schemas.microsoft.com/office/drawing/2014/main" id="{006D2806-280C-4422-B34D-A24EA64D4F75}"/>
                </a:ext>
              </a:extLst>
            </p:cNvPr>
            <p:cNvSpPr/>
            <p:nvPr/>
          </p:nvSpPr>
          <p:spPr bwMode="auto">
            <a:xfrm>
              <a:off x="7151944" y="2599006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B5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18" name="Flowchart: Magnetic Disk 17">
              <a:extLst>
                <a:ext uri="{FF2B5EF4-FFF2-40B4-BE49-F238E27FC236}">
                  <a16:creationId xmlns:a16="http://schemas.microsoft.com/office/drawing/2014/main" id="{8E243962-BBAA-46D9-815E-4C9C80261249}"/>
                </a:ext>
              </a:extLst>
            </p:cNvPr>
            <p:cNvSpPr/>
            <p:nvPr/>
          </p:nvSpPr>
          <p:spPr bwMode="auto">
            <a:xfrm>
              <a:off x="5455547" y="2572972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B1</a:t>
              </a:r>
            </a:p>
          </p:txBody>
        </p:sp>
        <p:sp>
          <p:nvSpPr>
            <p:cNvPr id="20" name="Flowchart: Magnetic Disk 19">
              <a:extLst>
                <a:ext uri="{FF2B5EF4-FFF2-40B4-BE49-F238E27FC236}">
                  <a16:creationId xmlns:a16="http://schemas.microsoft.com/office/drawing/2014/main" id="{AA0FD96D-AB21-4233-A1F3-8B5C58A1E640}"/>
                </a:ext>
              </a:extLst>
            </p:cNvPr>
            <p:cNvSpPr/>
            <p:nvPr/>
          </p:nvSpPr>
          <p:spPr bwMode="auto">
            <a:xfrm>
              <a:off x="5890753" y="2572972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B0</a:t>
              </a:r>
            </a:p>
          </p:txBody>
        </p:sp>
        <p:sp>
          <p:nvSpPr>
            <p:cNvPr id="22" name="Flowchart: Magnetic Disk 21">
              <a:extLst>
                <a:ext uri="{FF2B5EF4-FFF2-40B4-BE49-F238E27FC236}">
                  <a16:creationId xmlns:a16="http://schemas.microsoft.com/office/drawing/2014/main" id="{59290348-B733-403A-93CB-61A929645B79}"/>
                </a:ext>
              </a:extLst>
            </p:cNvPr>
            <p:cNvSpPr/>
            <p:nvPr/>
          </p:nvSpPr>
          <p:spPr bwMode="auto">
            <a:xfrm>
              <a:off x="6309216" y="2572972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B3</a:t>
              </a:r>
            </a:p>
          </p:txBody>
        </p:sp>
        <p:sp>
          <p:nvSpPr>
            <p:cNvPr id="24" name="Flowchart: Magnetic Disk 23">
              <a:extLst>
                <a:ext uri="{FF2B5EF4-FFF2-40B4-BE49-F238E27FC236}">
                  <a16:creationId xmlns:a16="http://schemas.microsoft.com/office/drawing/2014/main" id="{7FB21574-4FDA-447F-8CB4-DFC071229CC0}"/>
                </a:ext>
              </a:extLst>
            </p:cNvPr>
            <p:cNvSpPr/>
            <p:nvPr/>
          </p:nvSpPr>
          <p:spPr bwMode="auto">
            <a:xfrm>
              <a:off x="6744424" y="2572972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B4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26" name="Flowchart: Magnetic Disk 25">
              <a:extLst>
                <a:ext uri="{FF2B5EF4-FFF2-40B4-BE49-F238E27FC236}">
                  <a16:creationId xmlns:a16="http://schemas.microsoft.com/office/drawing/2014/main" id="{6AE7B3BD-350A-45FE-93EA-273969A30798}"/>
                </a:ext>
              </a:extLst>
            </p:cNvPr>
            <p:cNvSpPr/>
            <p:nvPr/>
          </p:nvSpPr>
          <p:spPr bwMode="auto">
            <a:xfrm>
              <a:off x="7559464" y="2572972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B6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28" name="Flowchart: Magnetic Disk 27">
              <a:extLst>
                <a:ext uri="{FF2B5EF4-FFF2-40B4-BE49-F238E27FC236}">
                  <a16:creationId xmlns:a16="http://schemas.microsoft.com/office/drawing/2014/main" id="{0DA99932-32D9-4B7D-95C2-1351F38CA29E}"/>
                </a:ext>
              </a:extLst>
            </p:cNvPr>
            <p:cNvSpPr/>
            <p:nvPr/>
          </p:nvSpPr>
          <p:spPr bwMode="auto">
            <a:xfrm>
              <a:off x="8020131" y="2572972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B7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30" name="Flowchart: Magnetic Disk 29">
              <a:extLst>
                <a:ext uri="{FF2B5EF4-FFF2-40B4-BE49-F238E27FC236}">
                  <a16:creationId xmlns:a16="http://schemas.microsoft.com/office/drawing/2014/main" id="{CAF750B3-DF30-45B9-BE01-09C887AE79C6}"/>
                </a:ext>
              </a:extLst>
            </p:cNvPr>
            <p:cNvSpPr/>
            <p:nvPr/>
          </p:nvSpPr>
          <p:spPr bwMode="auto">
            <a:xfrm>
              <a:off x="4994880" y="2599006"/>
              <a:ext cx="365760" cy="82999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B0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8FE26A1-C50B-4C19-978A-D1946DDC3D3A}"/>
              </a:ext>
            </a:extLst>
          </p:cNvPr>
          <p:cNvSpPr txBox="1"/>
          <p:nvPr/>
        </p:nvSpPr>
        <p:spPr>
          <a:xfrm>
            <a:off x="5443026" y="1996247"/>
            <a:ext cx="31951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Block-level striping with 8 disks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D036BA-E149-4EAC-8433-A64112BBBCB1}"/>
              </a:ext>
            </a:extLst>
          </p:cNvPr>
          <p:cNvSpPr txBox="1"/>
          <p:nvPr/>
        </p:nvSpPr>
        <p:spPr>
          <a:xfrm>
            <a:off x="5547311" y="3794082"/>
            <a:ext cx="27599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Block 7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ACD159B-9B83-4057-9236-F44834CBB2A5}"/>
              </a:ext>
            </a:extLst>
          </p:cNvPr>
          <p:cNvGrpSpPr/>
          <p:nvPr/>
        </p:nvGrpSpPr>
        <p:grpSpPr>
          <a:xfrm>
            <a:off x="4408044" y="4497718"/>
            <a:ext cx="3996573" cy="1094199"/>
            <a:chOff x="4408044" y="4497718"/>
            <a:chExt cx="3996573" cy="1445320"/>
          </a:xfrm>
        </p:grpSpPr>
        <p:sp>
          <p:nvSpPr>
            <p:cNvPr id="44" name="Flowchart: Magnetic Disk 43">
              <a:extLst>
                <a:ext uri="{FF2B5EF4-FFF2-40B4-BE49-F238E27FC236}">
                  <a16:creationId xmlns:a16="http://schemas.microsoft.com/office/drawing/2014/main" id="{E3EB7C9E-CCC7-498A-8E2C-45C2DAC1E047}"/>
                </a:ext>
              </a:extLst>
            </p:cNvPr>
            <p:cNvSpPr/>
            <p:nvPr/>
          </p:nvSpPr>
          <p:spPr bwMode="auto">
            <a:xfrm>
              <a:off x="6943433" y="4541674"/>
              <a:ext cx="433116" cy="140136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B5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</a:rPr>
                <a:t>B13</a:t>
              </a:r>
            </a:p>
          </p:txBody>
        </p:sp>
        <p:sp>
          <p:nvSpPr>
            <p:cNvPr id="45" name="Flowchart: Magnetic Disk 44">
              <a:extLst>
                <a:ext uri="{FF2B5EF4-FFF2-40B4-BE49-F238E27FC236}">
                  <a16:creationId xmlns:a16="http://schemas.microsoft.com/office/drawing/2014/main" id="{1AD79C55-BAF6-4494-80FC-46D1682A1F88}"/>
                </a:ext>
              </a:extLst>
            </p:cNvPr>
            <p:cNvSpPr/>
            <p:nvPr/>
          </p:nvSpPr>
          <p:spPr bwMode="auto">
            <a:xfrm>
              <a:off x="4934637" y="4497718"/>
              <a:ext cx="433116" cy="140136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solidFill>
                    <a:srgbClr val="FF0000"/>
                  </a:solidFill>
                  <a:latin typeface="Helvetica" charset="0"/>
                </a:rPr>
                <a:t>B9</a:t>
              </a:r>
              <a:endParaRPr kumimoji="0" 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" charset="0"/>
              </a:endParaRPr>
            </a:p>
          </p:txBody>
        </p:sp>
        <p:sp>
          <p:nvSpPr>
            <p:cNvPr id="46" name="Flowchart: Magnetic Disk 45">
              <a:extLst>
                <a:ext uri="{FF2B5EF4-FFF2-40B4-BE49-F238E27FC236}">
                  <a16:creationId xmlns:a16="http://schemas.microsoft.com/office/drawing/2014/main" id="{E4B88632-22FE-4BC6-B33F-97E2B05AADF7}"/>
                </a:ext>
              </a:extLst>
            </p:cNvPr>
            <p:cNvSpPr/>
            <p:nvPr/>
          </p:nvSpPr>
          <p:spPr bwMode="auto">
            <a:xfrm>
              <a:off x="5449988" y="4497718"/>
              <a:ext cx="433116" cy="140136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B2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solidFill>
                    <a:srgbClr val="FF0000"/>
                  </a:solidFill>
                  <a:latin typeface="Helvetica" charset="0"/>
                </a:rPr>
                <a:t>B10</a:t>
              </a:r>
              <a:endParaRPr kumimoji="0" 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" charset="0"/>
              </a:endParaRPr>
            </a:p>
          </p:txBody>
        </p:sp>
        <p:sp>
          <p:nvSpPr>
            <p:cNvPr id="47" name="Flowchart: Magnetic Disk 46">
              <a:extLst>
                <a:ext uri="{FF2B5EF4-FFF2-40B4-BE49-F238E27FC236}">
                  <a16:creationId xmlns:a16="http://schemas.microsoft.com/office/drawing/2014/main" id="{18DD9C2A-95C1-423C-87F4-432FD9140BB3}"/>
                </a:ext>
              </a:extLst>
            </p:cNvPr>
            <p:cNvSpPr/>
            <p:nvPr/>
          </p:nvSpPr>
          <p:spPr bwMode="auto">
            <a:xfrm>
              <a:off x="5945513" y="4497718"/>
              <a:ext cx="433116" cy="140136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B3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solidFill>
                    <a:srgbClr val="FF0000"/>
                  </a:solidFill>
                  <a:latin typeface="Helvetica" charset="0"/>
                </a:rPr>
                <a:t>B11</a:t>
              </a:r>
              <a:endParaRPr kumimoji="0" 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" charset="0"/>
              </a:endParaRPr>
            </a:p>
          </p:txBody>
        </p:sp>
        <p:sp>
          <p:nvSpPr>
            <p:cNvPr id="48" name="Flowchart: Magnetic Disk 47">
              <a:extLst>
                <a:ext uri="{FF2B5EF4-FFF2-40B4-BE49-F238E27FC236}">
                  <a16:creationId xmlns:a16="http://schemas.microsoft.com/office/drawing/2014/main" id="{6D9716D3-497C-44B8-85A3-CAE65E80869F}"/>
                </a:ext>
              </a:extLst>
            </p:cNvPr>
            <p:cNvSpPr/>
            <p:nvPr/>
          </p:nvSpPr>
          <p:spPr bwMode="auto">
            <a:xfrm>
              <a:off x="6460866" y="4497718"/>
              <a:ext cx="433116" cy="140136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B4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</a:rPr>
                <a:t>B12</a:t>
              </a:r>
            </a:p>
          </p:txBody>
        </p:sp>
        <p:sp>
          <p:nvSpPr>
            <p:cNvPr id="49" name="Flowchart: Magnetic Disk 48">
              <a:extLst>
                <a:ext uri="{FF2B5EF4-FFF2-40B4-BE49-F238E27FC236}">
                  <a16:creationId xmlns:a16="http://schemas.microsoft.com/office/drawing/2014/main" id="{F41AB664-AC32-4666-8816-806ABE8E73BB}"/>
                </a:ext>
              </a:extLst>
            </p:cNvPr>
            <p:cNvSpPr/>
            <p:nvPr/>
          </p:nvSpPr>
          <p:spPr bwMode="auto">
            <a:xfrm>
              <a:off x="7426000" y="4497718"/>
              <a:ext cx="433116" cy="140136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B6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50" name="Flowchart: Magnetic Disk 49">
              <a:extLst>
                <a:ext uri="{FF2B5EF4-FFF2-40B4-BE49-F238E27FC236}">
                  <a16:creationId xmlns:a16="http://schemas.microsoft.com/office/drawing/2014/main" id="{F042C4D3-CD28-4030-937A-B5200232A8F9}"/>
                </a:ext>
              </a:extLst>
            </p:cNvPr>
            <p:cNvSpPr/>
            <p:nvPr/>
          </p:nvSpPr>
          <p:spPr bwMode="auto">
            <a:xfrm>
              <a:off x="7971501" y="4497718"/>
              <a:ext cx="433116" cy="140136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B7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51" name="Flowchart: Magnetic Disk 50">
              <a:extLst>
                <a:ext uri="{FF2B5EF4-FFF2-40B4-BE49-F238E27FC236}">
                  <a16:creationId xmlns:a16="http://schemas.microsoft.com/office/drawing/2014/main" id="{76C5243A-212F-4028-AE04-291D67294C8B}"/>
                </a:ext>
              </a:extLst>
            </p:cNvPr>
            <p:cNvSpPr/>
            <p:nvPr/>
          </p:nvSpPr>
          <p:spPr bwMode="auto">
            <a:xfrm>
              <a:off x="4408044" y="4497718"/>
              <a:ext cx="433116" cy="1401364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B0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</a:rPr>
                <a:t>B8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E15AFDB-D6BC-41A2-B69E-33B973CEBBF8}"/>
              </a:ext>
            </a:extLst>
          </p:cNvPr>
          <p:cNvSpPr txBox="1"/>
          <p:nvPr/>
        </p:nvSpPr>
        <p:spPr>
          <a:xfrm>
            <a:off x="392112" y="5806127"/>
            <a:ext cx="6205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Discussion:</a:t>
            </a:r>
            <a:r>
              <a:rPr lang="en-US" sz="1800" dirty="0"/>
              <a:t> Explain points 1 and 2 of block level striping </a:t>
            </a:r>
          </a:p>
        </p:txBody>
      </p:sp>
    </p:spTree>
    <p:extLst>
      <p:ext uri="{BB962C8B-B14F-4D97-AF65-F5344CB8AC3E}">
        <p14:creationId xmlns:p14="http://schemas.microsoft.com/office/powerpoint/2010/main" val="320668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/>
      <p:bldP spid="32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0C333282-2647-4C5B-88ED-77D98738B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A9385B-8FFC-4DEE-A191-542C8D243AD2}"/>
              </a:ext>
            </a:extLst>
          </p:cNvPr>
          <p:cNvSpPr txBox="1"/>
          <p:nvPr/>
        </p:nvSpPr>
        <p:spPr>
          <a:xfrm>
            <a:off x="196949" y="1419788"/>
            <a:ext cx="4375052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Different RAID organizations, or RAID levels, have differing cost, performance and reliability characteristics</a:t>
            </a:r>
          </a:p>
          <a:p>
            <a:endParaRPr lang="en-US" altLang="en-US" sz="1800" b="1" dirty="0">
              <a:solidFill>
                <a:srgbClr val="002060"/>
              </a:solidFill>
            </a:endParaRPr>
          </a:p>
          <a:p>
            <a:r>
              <a:rPr lang="en-US" altLang="en-US" sz="1800" b="1" dirty="0">
                <a:solidFill>
                  <a:srgbClr val="002060"/>
                </a:solidFill>
              </a:rPr>
              <a:t>RAID Level 0</a:t>
            </a:r>
            <a:r>
              <a:rPr lang="en-US" altLang="en-US" sz="1800" dirty="0"/>
              <a:t>:  </a:t>
            </a:r>
            <a:r>
              <a:rPr lang="en-US" altLang="en-US" sz="1800" dirty="0">
                <a:solidFill>
                  <a:srgbClr val="002060"/>
                </a:solidFill>
              </a:rPr>
              <a:t>Block striping; non-redundant</a:t>
            </a:r>
            <a:r>
              <a:rPr lang="en-US" altLang="en-US" sz="1800" dirty="0">
                <a:solidFill>
                  <a:schemeClr val="tx2"/>
                </a:solidFill>
              </a:rPr>
              <a:t>.</a:t>
            </a:r>
            <a:r>
              <a:rPr lang="en-US" altLang="en-US" sz="1800" dirty="0"/>
              <a:t> 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Used in high-performance applications where data loss is not critical. 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A3A5D4-4477-455D-A442-C86AA5EA54B3}"/>
              </a:ext>
            </a:extLst>
          </p:cNvPr>
          <p:cNvSpPr txBox="1"/>
          <p:nvPr/>
        </p:nvSpPr>
        <p:spPr>
          <a:xfrm>
            <a:off x="4755500" y="1069145"/>
            <a:ext cx="41915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Example: You need 8TB of storage and there are available of 2TB disks.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How many disks will be needed for this storage system in RAID 0?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E2D21-945A-46D9-B544-B74710B5E43E}"/>
              </a:ext>
            </a:extLst>
          </p:cNvPr>
          <p:cNvSpPr txBox="1"/>
          <p:nvPr/>
        </p:nvSpPr>
        <p:spPr>
          <a:xfrm>
            <a:off x="4631011" y="3651168"/>
            <a:ext cx="48111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You have to store student relation file (B0, B1, B2, B3, B4, B6, B7, B8, B9) into the storage system of RAID 0.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How?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B229FF2-9127-46A0-AE6F-30FE28B1913D}"/>
              </a:ext>
            </a:extLst>
          </p:cNvPr>
          <p:cNvGrpSpPr/>
          <p:nvPr/>
        </p:nvGrpSpPr>
        <p:grpSpPr>
          <a:xfrm>
            <a:off x="5339796" y="4921265"/>
            <a:ext cx="2069301" cy="1311926"/>
            <a:chOff x="5527253" y="2411909"/>
            <a:chExt cx="2069301" cy="108975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66D7619-CE91-448A-821F-96F8E68B0B6D}"/>
                </a:ext>
              </a:extLst>
            </p:cNvPr>
            <p:cNvGrpSpPr/>
            <p:nvPr/>
          </p:nvGrpSpPr>
          <p:grpSpPr>
            <a:xfrm>
              <a:off x="5527253" y="2440745"/>
              <a:ext cx="1970585" cy="1060922"/>
              <a:chOff x="4950478" y="2781461"/>
              <a:chExt cx="1970585" cy="1060922"/>
            </a:xfrm>
          </p:grpSpPr>
          <p:sp>
            <p:nvSpPr>
              <p:cNvPr id="9" name="Flowchart: Magnetic Disk 8">
                <a:extLst>
                  <a:ext uri="{FF2B5EF4-FFF2-40B4-BE49-F238E27FC236}">
                    <a16:creationId xmlns:a16="http://schemas.microsoft.com/office/drawing/2014/main" id="{4EE9C7E2-671A-4E30-A006-93AB661A8539}"/>
                  </a:ext>
                </a:extLst>
              </p:cNvPr>
              <p:cNvSpPr/>
              <p:nvPr/>
            </p:nvSpPr>
            <p:spPr bwMode="auto">
              <a:xfrm>
                <a:off x="5477071" y="2781461"/>
                <a:ext cx="433116" cy="1060922"/>
              </a:xfrm>
              <a:prstGeom prst="flowChartMagneticDisk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charset="0"/>
                  </a:rPr>
                  <a:t>B1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B5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B9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endParaRP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</a:endParaRPr>
              </a:p>
            </p:txBody>
          </p:sp>
          <p:sp>
            <p:nvSpPr>
              <p:cNvPr id="10" name="Flowchart: Magnetic Disk 9">
                <a:extLst>
                  <a:ext uri="{FF2B5EF4-FFF2-40B4-BE49-F238E27FC236}">
                    <a16:creationId xmlns:a16="http://schemas.microsoft.com/office/drawing/2014/main" id="{FCC971F8-9175-48EB-BB96-F5A9C760C3E5}"/>
                  </a:ext>
                </a:extLst>
              </p:cNvPr>
              <p:cNvSpPr/>
              <p:nvPr/>
            </p:nvSpPr>
            <p:spPr bwMode="auto">
              <a:xfrm>
                <a:off x="5992422" y="2781461"/>
                <a:ext cx="433116" cy="1060922"/>
              </a:xfrm>
              <a:prstGeom prst="flowChartMagneticDisk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charset="0"/>
                  </a:rPr>
                  <a:t>B2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B6</a:t>
                </a:r>
                <a:endPara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endParaRPr>
              </a:p>
            </p:txBody>
          </p:sp>
          <p:sp>
            <p:nvSpPr>
              <p:cNvPr id="11" name="Flowchart: Magnetic Disk 10">
                <a:extLst>
                  <a:ext uri="{FF2B5EF4-FFF2-40B4-BE49-F238E27FC236}">
                    <a16:creationId xmlns:a16="http://schemas.microsoft.com/office/drawing/2014/main" id="{2FDB43D9-BA06-413F-894B-477F4742B6EE}"/>
                  </a:ext>
                </a:extLst>
              </p:cNvPr>
              <p:cNvSpPr/>
              <p:nvPr/>
            </p:nvSpPr>
            <p:spPr bwMode="auto">
              <a:xfrm>
                <a:off x="6487947" y="2781461"/>
                <a:ext cx="433116" cy="1060922"/>
              </a:xfrm>
              <a:prstGeom prst="flowChartMagneticDisk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charset="0"/>
                  </a:rPr>
                  <a:t>B3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B7</a:t>
                </a:r>
                <a:endPara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endParaRPr>
              </a:p>
            </p:txBody>
          </p:sp>
          <p:sp>
            <p:nvSpPr>
              <p:cNvPr id="15" name="Flowchart: Magnetic Disk 14">
                <a:extLst>
                  <a:ext uri="{FF2B5EF4-FFF2-40B4-BE49-F238E27FC236}">
                    <a16:creationId xmlns:a16="http://schemas.microsoft.com/office/drawing/2014/main" id="{3A53DFDA-C516-40E9-80F4-DA66AF143488}"/>
                  </a:ext>
                </a:extLst>
              </p:cNvPr>
              <p:cNvSpPr/>
              <p:nvPr/>
            </p:nvSpPr>
            <p:spPr bwMode="auto">
              <a:xfrm>
                <a:off x="4950478" y="2781461"/>
                <a:ext cx="433116" cy="1060922"/>
              </a:xfrm>
              <a:prstGeom prst="flowChartMagneticDisk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B0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i="0" u="none" strike="noStrike" cap="none" normalizeH="0" baseline="0" dirty="0">
                    <a:ln>
                      <a:noFill/>
                    </a:ln>
                    <a:effectLst/>
                    <a:latin typeface="Helvetica" charset="0"/>
                  </a:rPr>
                  <a:t>B4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B8</a:t>
                </a:r>
                <a:endParaRPr kumimoji="0" lang="en-US" sz="1600" i="0" u="none" strike="noStrike" cap="none" normalizeH="0" baseline="0" dirty="0">
                  <a:ln>
                    <a:noFill/>
                  </a:ln>
                  <a:effectLst/>
                  <a:latin typeface="Helvetica" charset="0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B2C365A-D843-4F76-8A7D-03FD293D7B3C}"/>
                </a:ext>
              </a:extLst>
            </p:cNvPr>
            <p:cNvSpPr txBox="1"/>
            <p:nvPr/>
          </p:nvSpPr>
          <p:spPr>
            <a:xfrm>
              <a:off x="5527253" y="2411909"/>
              <a:ext cx="20693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D0     D1      D2   D3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F19643-24A5-4D1E-9A24-6C58B4AC7EB9}"/>
              </a:ext>
            </a:extLst>
          </p:cNvPr>
          <p:cNvGrpSpPr/>
          <p:nvPr/>
        </p:nvGrpSpPr>
        <p:grpSpPr>
          <a:xfrm>
            <a:off x="5563647" y="2415442"/>
            <a:ext cx="2069301" cy="1089758"/>
            <a:chOff x="5527253" y="2411909"/>
            <a:chExt cx="2069301" cy="1089758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AD618A6-D85D-4161-9565-8553B0F6A11A}"/>
                </a:ext>
              </a:extLst>
            </p:cNvPr>
            <p:cNvGrpSpPr/>
            <p:nvPr/>
          </p:nvGrpSpPr>
          <p:grpSpPr>
            <a:xfrm>
              <a:off x="5527253" y="2440745"/>
              <a:ext cx="1970585" cy="1060922"/>
              <a:chOff x="4950478" y="2781461"/>
              <a:chExt cx="1970585" cy="1060922"/>
            </a:xfrm>
          </p:grpSpPr>
          <p:sp>
            <p:nvSpPr>
              <p:cNvPr id="23" name="Flowchart: Magnetic Disk 22">
                <a:extLst>
                  <a:ext uri="{FF2B5EF4-FFF2-40B4-BE49-F238E27FC236}">
                    <a16:creationId xmlns:a16="http://schemas.microsoft.com/office/drawing/2014/main" id="{B9017524-824F-46EB-A817-1EBF2DEA9732}"/>
                  </a:ext>
                </a:extLst>
              </p:cNvPr>
              <p:cNvSpPr/>
              <p:nvPr/>
            </p:nvSpPr>
            <p:spPr bwMode="auto">
              <a:xfrm>
                <a:off x="5477071" y="2781461"/>
                <a:ext cx="433116" cy="1060922"/>
              </a:xfrm>
              <a:prstGeom prst="flowChartMagneticDisk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endParaRP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</a:endParaRPr>
              </a:p>
            </p:txBody>
          </p:sp>
          <p:sp>
            <p:nvSpPr>
              <p:cNvPr id="24" name="Flowchart: Magnetic Disk 23">
                <a:extLst>
                  <a:ext uri="{FF2B5EF4-FFF2-40B4-BE49-F238E27FC236}">
                    <a16:creationId xmlns:a16="http://schemas.microsoft.com/office/drawing/2014/main" id="{83DEBDED-7E3B-491F-B490-D3D457344054}"/>
                  </a:ext>
                </a:extLst>
              </p:cNvPr>
              <p:cNvSpPr/>
              <p:nvPr/>
            </p:nvSpPr>
            <p:spPr bwMode="auto">
              <a:xfrm>
                <a:off x="5992422" y="2781461"/>
                <a:ext cx="433116" cy="1060922"/>
              </a:xfrm>
              <a:prstGeom prst="flowChartMagneticDisk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endParaRPr>
              </a:p>
            </p:txBody>
          </p:sp>
          <p:sp>
            <p:nvSpPr>
              <p:cNvPr id="25" name="Flowchart: Magnetic Disk 24">
                <a:extLst>
                  <a:ext uri="{FF2B5EF4-FFF2-40B4-BE49-F238E27FC236}">
                    <a16:creationId xmlns:a16="http://schemas.microsoft.com/office/drawing/2014/main" id="{731A3049-075C-418A-9F07-5BF05D29AC21}"/>
                  </a:ext>
                </a:extLst>
              </p:cNvPr>
              <p:cNvSpPr/>
              <p:nvPr/>
            </p:nvSpPr>
            <p:spPr bwMode="auto">
              <a:xfrm>
                <a:off x="6487947" y="2781461"/>
                <a:ext cx="433116" cy="1060922"/>
              </a:xfrm>
              <a:prstGeom prst="flowChartMagneticDisk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endParaRPr>
              </a:p>
            </p:txBody>
          </p:sp>
          <p:sp>
            <p:nvSpPr>
              <p:cNvPr id="26" name="Flowchart: Magnetic Disk 25">
                <a:extLst>
                  <a:ext uri="{FF2B5EF4-FFF2-40B4-BE49-F238E27FC236}">
                    <a16:creationId xmlns:a16="http://schemas.microsoft.com/office/drawing/2014/main" id="{DE5269CC-F13B-410D-96EC-EDCCC15B270F}"/>
                  </a:ext>
                </a:extLst>
              </p:cNvPr>
              <p:cNvSpPr/>
              <p:nvPr/>
            </p:nvSpPr>
            <p:spPr bwMode="auto">
              <a:xfrm>
                <a:off x="4950478" y="2781461"/>
                <a:ext cx="433116" cy="1060922"/>
              </a:xfrm>
              <a:prstGeom prst="flowChartMagneticDisk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lang="en-US" dirty="0">
                  <a:latin typeface="Helvetica" charset="0"/>
                </a:endParaRP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04496B1-D3E4-4930-884A-EAE1516E391D}"/>
                </a:ext>
              </a:extLst>
            </p:cNvPr>
            <p:cNvSpPr txBox="1"/>
            <p:nvPr/>
          </p:nvSpPr>
          <p:spPr>
            <a:xfrm>
              <a:off x="5527253" y="2411909"/>
              <a:ext cx="20693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D0     D1      D2   D3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E638C29-7F76-4470-A73C-D7B379AB5027}"/>
              </a:ext>
            </a:extLst>
          </p:cNvPr>
          <p:cNvSpPr txBox="1"/>
          <p:nvPr/>
        </p:nvSpPr>
        <p:spPr>
          <a:xfrm>
            <a:off x="6381740" y="727075"/>
            <a:ext cx="1580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RAID Level 0</a:t>
            </a:r>
            <a:endParaRPr lang="en-US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0C333282-2647-4C5B-88ED-77D98738B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A9385B-8FFC-4DEE-A191-542C8D243AD2}"/>
              </a:ext>
            </a:extLst>
          </p:cNvPr>
          <p:cNvSpPr txBox="1"/>
          <p:nvPr/>
        </p:nvSpPr>
        <p:spPr>
          <a:xfrm>
            <a:off x="196948" y="1069145"/>
            <a:ext cx="43750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 b="1" dirty="0">
                <a:solidFill>
                  <a:srgbClr val="002060"/>
                </a:solidFill>
              </a:rPr>
              <a:t>RAID Level 1</a:t>
            </a:r>
            <a:r>
              <a:rPr lang="en-US" altLang="en-US" sz="1800" dirty="0"/>
              <a:t>:  </a:t>
            </a:r>
            <a:r>
              <a:rPr lang="en-US" altLang="en-US" sz="1800" dirty="0">
                <a:solidFill>
                  <a:srgbClr val="002060"/>
                </a:solidFill>
              </a:rPr>
              <a:t>Mirrored disks </a:t>
            </a:r>
            <a:r>
              <a:rPr lang="en-US" altLang="en-US" sz="1800" dirty="0"/>
              <a:t>with block striping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Offers best write performance.  </a:t>
            </a:r>
          </a:p>
          <a:p>
            <a:pPr marL="285750" indent="-285750"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Popular for applications such as storing log files in a database system.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A3A5D4-4477-455D-A442-C86AA5EA54B3}"/>
              </a:ext>
            </a:extLst>
          </p:cNvPr>
          <p:cNvSpPr txBox="1"/>
          <p:nvPr/>
        </p:nvSpPr>
        <p:spPr>
          <a:xfrm>
            <a:off x="4755500" y="1069145"/>
            <a:ext cx="41915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Example: You need 8TB of storage and there are available of 2TB disks.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How many disks will be needed for this storage system in RAID 1?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E2D21-945A-46D9-B544-B74710B5E43E}"/>
              </a:ext>
            </a:extLst>
          </p:cNvPr>
          <p:cNvSpPr txBox="1"/>
          <p:nvPr/>
        </p:nvSpPr>
        <p:spPr>
          <a:xfrm>
            <a:off x="4631011" y="3651168"/>
            <a:ext cx="48111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You have to store student relation file (B0, B1, B2, B3, B4, B5, B6, B7, B8, B9) into the storage system of RAID 1.</a:t>
            </a:r>
          </a:p>
          <a:p>
            <a:r>
              <a:rPr lang="en-US" sz="1800" b="1" dirty="0">
                <a:solidFill>
                  <a:srgbClr val="FF0000"/>
                </a:solidFill>
              </a:rPr>
              <a:t>How?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B229FF2-9127-46A0-AE6F-30FE28B1913D}"/>
              </a:ext>
            </a:extLst>
          </p:cNvPr>
          <p:cNvGrpSpPr/>
          <p:nvPr/>
        </p:nvGrpSpPr>
        <p:grpSpPr>
          <a:xfrm>
            <a:off x="4572000" y="4921265"/>
            <a:ext cx="2069301" cy="1311926"/>
            <a:chOff x="5527253" y="2411909"/>
            <a:chExt cx="2069301" cy="108975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66D7619-CE91-448A-821F-96F8E68B0B6D}"/>
                </a:ext>
              </a:extLst>
            </p:cNvPr>
            <p:cNvGrpSpPr/>
            <p:nvPr/>
          </p:nvGrpSpPr>
          <p:grpSpPr>
            <a:xfrm>
              <a:off x="5527253" y="2440745"/>
              <a:ext cx="1970585" cy="1060922"/>
              <a:chOff x="4950478" y="2781461"/>
              <a:chExt cx="1970585" cy="1060922"/>
            </a:xfrm>
          </p:grpSpPr>
          <p:sp>
            <p:nvSpPr>
              <p:cNvPr id="9" name="Flowchart: Magnetic Disk 8">
                <a:extLst>
                  <a:ext uri="{FF2B5EF4-FFF2-40B4-BE49-F238E27FC236}">
                    <a16:creationId xmlns:a16="http://schemas.microsoft.com/office/drawing/2014/main" id="{4EE9C7E2-671A-4E30-A006-93AB661A8539}"/>
                  </a:ext>
                </a:extLst>
              </p:cNvPr>
              <p:cNvSpPr/>
              <p:nvPr/>
            </p:nvSpPr>
            <p:spPr bwMode="auto">
              <a:xfrm>
                <a:off x="5477071" y="2781461"/>
                <a:ext cx="433116" cy="1060922"/>
              </a:xfrm>
              <a:prstGeom prst="flowChartMagneticDisk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charset="0"/>
                  </a:rPr>
                  <a:t>B1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B5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B9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endParaRP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</a:endParaRPr>
              </a:p>
            </p:txBody>
          </p:sp>
          <p:sp>
            <p:nvSpPr>
              <p:cNvPr id="10" name="Flowchart: Magnetic Disk 9">
                <a:extLst>
                  <a:ext uri="{FF2B5EF4-FFF2-40B4-BE49-F238E27FC236}">
                    <a16:creationId xmlns:a16="http://schemas.microsoft.com/office/drawing/2014/main" id="{FCC971F8-9175-48EB-BB96-F5A9C760C3E5}"/>
                  </a:ext>
                </a:extLst>
              </p:cNvPr>
              <p:cNvSpPr/>
              <p:nvPr/>
            </p:nvSpPr>
            <p:spPr bwMode="auto">
              <a:xfrm>
                <a:off x="5992422" y="2781461"/>
                <a:ext cx="433116" cy="1060922"/>
              </a:xfrm>
              <a:prstGeom prst="flowChartMagneticDisk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charset="0"/>
                  </a:rPr>
                  <a:t>B2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B6</a:t>
                </a:r>
                <a:endPara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endParaRPr>
              </a:p>
            </p:txBody>
          </p:sp>
          <p:sp>
            <p:nvSpPr>
              <p:cNvPr id="11" name="Flowchart: Magnetic Disk 10">
                <a:extLst>
                  <a:ext uri="{FF2B5EF4-FFF2-40B4-BE49-F238E27FC236}">
                    <a16:creationId xmlns:a16="http://schemas.microsoft.com/office/drawing/2014/main" id="{2FDB43D9-BA06-413F-894B-477F4742B6EE}"/>
                  </a:ext>
                </a:extLst>
              </p:cNvPr>
              <p:cNvSpPr/>
              <p:nvPr/>
            </p:nvSpPr>
            <p:spPr bwMode="auto">
              <a:xfrm>
                <a:off x="6487947" y="2781461"/>
                <a:ext cx="433116" cy="1060922"/>
              </a:xfrm>
              <a:prstGeom prst="flowChartMagneticDisk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charset="0"/>
                  </a:rPr>
                  <a:t>B3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B7</a:t>
                </a:r>
                <a:endPara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endParaRPr>
              </a:p>
            </p:txBody>
          </p:sp>
          <p:sp>
            <p:nvSpPr>
              <p:cNvPr id="15" name="Flowchart: Magnetic Disk 14">
                <a:extLst>
                  <a:ext uri="{FF2B5EF4-FFF2-40B4-BE49-F238E27FC236}">
                    <a16:creationId xmlns:a16="http://schemas.microsoft.com/office/drawing/2014/main" id="{3A53DFDA-C516-40E9-80F4-DA66AF143488}"/>
                  </a:ext>
                </a:extLst>
              </p:cNvPr>
              <p:cNvSpPr/>
              <p:nvPr/>
            </p:nvSpPr>
            <p:spPr bwMode="auto">
              <a:xfrm>
                <a:off x="4950478" y="2781461"/>
                <a:ext cx="433116" cy="1060922"/>
              </a:xfrm>
              <a:prstGeom prst="flowChartMagneticDisk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B0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i="0" u="none" strike="noStrike" cap="none" normalizeH="0" baseline="0" dirty="0">
                    <a:ln>
                      <a:noFill/>
                    </a:ln>
                    <a:effectLst/>
                    <a:latin typeface="Helvetica" charset="0"/>
                  </a:rPr>
                  <a:t>B4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B8</a:t>
                </a:r>
                <a:endParaRPr kumimoji="0" lang="en-US" sz="1600" i="0" u="none" strike="noStrike" cap="none" normalizeH="0" baseline="0" dirty="0">
                  <a:ln>
                    <a:noFill/>
                  </a:ln>
                  <a:effectLst/>
                  <a:latin typeface="Helvetica" charset="0"/>
                </a:endParaRP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B2C365A-D843-4F76-8A7D-03FD293D7B3C}"/>
                </a:ext>
              </a:extLst>
            </p:cNvPr>
            <p:cNvSpPr txBox="1"/>
            <p:nvPr/>
          </p:nvSpPr>
          <p:spPr>
            <a:xfrm>
              <a:off x="5527253" y="2411909"/>
              <a:ext cx="20693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D0     D1      D2   D3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E638C29-7F76-4470-A73C-D7B379AB5027}"/>
              </a:ext>
            </a:extLst>
          </p:cNvPr>
          <p:cNvSpPr txBox="1"/>
          <p:nvPr/>
        </p:nvSpPr>
        <p:spPr>
          <a:xfrm>
            <a:off x="6090240" y="727075"/>
            <a:ext cx="2938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RAID Level 1 (Mirroring)</a:t>
            </a:r>
            <a:endParaRPr lang="en-US" b="1" dirty="0">
              <a:solidFill>
                <a:srgbClr val="0000FF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B02BF7C-CFBE-46DF-AE31-95F2A9053CA4}"/>
              </a:ext>
            </a:extLst>
          </p:cNvPr>
          <p:cNvGrpSpPr/>
          <p:nvPr/>
        </p:nvGrpSpPr>
        <p:grpSpPr>
          <a:xfrm>
            <a:off x="4626155" y="2415442"/>
            <a:ext cx="2069301" cy="1089758"/>
            <a:chOff x="4780903" y="2415442"/>
            <a:chExt cx="2069301" cy="108975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5F19643-24A5-4D1E-9A24-6C58B4AC7EB9}"/>
                </a:ext>
              </a:extLst>
            </p:cNvPr>
            <p:cNvGrpSpPr/>
            <p:nvPr/>
          </p:nvGrpSpPr>
          <p:grpSpPr>
            <a:xfrm>
              <a:off x="4780903" y="2415442"/>
              <a:ext cx="2069301" cy="1089758"/>
              <a:chOff x="5527253" y="2411909"/>
              <a:chExt cx="2069301" cy="1089758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AD618A6-D85D-4161-9565-8553B0F6A11A}"/>
                  </a:ext>
                </a:extLst>
              </p:cNvPr>
              <p:cNvGrpSpPr/>
              <p:nvPr/>
            </p:nvGrpSpPr>
            <p:grpSpPr>
              <a:xfrm>
                <a:off x="5527253" y="2440745"/>
                <a:ext cx="1970585" cy="1060922"/>
                <a:chOff x="4950478" y="2781461"/>
                <a:chExt cx="1970585" cy="1060922"/>
              </a:xfrm>
            </p:grpSpPr>
            <p:sp>
              <p:nvSpPr>
                <p:cNvPr id="23" name="Flowchart: Magnetic Disk 22">
                  <a:extLst>
                    <a:ext uri="{FF2B5EF4-FFF2-40B4-BE49-F238E27FC236}">
                      <a16:creationId xmlns:a16="http://schemas.microsoft.com/office/drawing/2014/main" id="{B9017524-824F-46EB-A817-1EBF2DEA9732}"/>
                    </a:ext>
                  </a:extLst>
                </p:cNvPr>
                <p:cNvSpPr/>
                <p:nvPr/>
              </p:nvSpPr>
              <p:spPr bwMode="auto">
                <a:xfrm>
                  <a:off x="5477071" y="2781461"/>
                  <a:ext cx="433116" cy="1060922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charset="0"/>
                  </a:endParaRPr>
                </a:p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Helvetica" charset="0"/>
                  </a:endParaRPr>
                </a:p>
              </p:txBody>
            </p:sp>
            <p:sp>
              <p:nvSpPr>
                <p:cNvPr id="24" name="Flowchart: Magnetic Disk 23">
                  <a:extLst>
                    <a:ext uri="{FF2B5EF4-FFF2-40B4-BE49-F238E27FC236}">
                      <a16:creationId xmlns:a16="http://schemas.microsoft.com/office/drawing/2014/main" id="{83DEBDED-7E3B-491F-B490-D3D457344054}"/>
                    </a:ext>
                  </a:extLst>
                </p:cNvPr>
                <p:cNvSpPr/>
                <p:nvPr/>
              </p:nvSpPr>
              <p:spPr bwMode="auto">
                <a:xfrm>
                  <a:off x="5992422" y="2781461"/>
                  <a:ext cx="433116" cy="1060922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charset="0"/>
                  </a:endParaRPr>
                </a:p>
              </p:txBody>
            </p:sp>
            <p:sp>
              <p:nvSpPr>
                <p:cNvPr id="25" name="Flowchart: Magnetic Disk 24">
                  <a:extLst>
                    <a:ext uri="{FF2B5EF4-FFF2-40B4-BE49-F238E27FC236}">
                      <a16:creationId xmlns:a16="http://schemas.microsoft.com/office/drawing/2014/main" id="{731A3049-075C-418A-9F07-5BF05D29AC21}"/>
                    </a:ext>
                  </a:extLst>
                </p:cNvPr>
                <p:cNvSpPr/>
                <p:nvPr/>
              </p:nvSpPr>
              <p:spPr bwMode="auto">
                <a:xfrm>
                  <a:off x="6487947" y="2781461"/>
                  <a:ext cx="433116" cy="1060922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charset="0"/>
                  </a:endParaRPr>
                </a:p>
              </p:txBody>
            </p:sp>
            <p:sp>
              <p:nvSpPr>
                <p:cNvPr id="26" name="Flowchart: Magnetic Disk 25">
                  <a:extLst>
                    <a:ext uri="{FF2B5EF4-FFF2-40B4-BE49-F238E27FC236}">
                      <a16:creationId xmlns:a16="http://schemas.microsoft.com/office/drawing/2014/main" id="{DE5269CC-F13B-410D-96EC-EDCCC15B270F}"/>
                    </a:ext>
                  </a:extLst>
                </p:cNvPr>
                <p:cNvSpPr/>
                <p:nvPr/>
              </p:nvSpPr>
              <p:spPr bwMode="auto">
                <a:xfrm>
                  <a:off x="4950478" y="2781461"/>
                  <a:ext cx="433116" cy="1060922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lang="en-US" dirty="0">
                    <a:latin typeface="Helvetica" charset="0"/>
                  </a:endParaRPr>
                </a:p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Helvetica" charset="0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04496B1-D3E4-4930-884A-EAE1516E391D}"/>
                  </a:ext>
                </a:extLst>
              </p:cNvPr>
              <p:cNvSpPr txBox="1"/>
              <p:nvPr/>
            </p:nvSpPr>
            <p:spPr>
              <a:xfrm>
                <a:off x="5527253" y="2411909"/>
                <a:ext cx="20693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D0     D1      D2   D3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8A7586A-0B82-457D-B020-A8397AC8F2FF}"/>
                </a:ext>
              </a:extLst>
            </p:cNvPr>
            <p:cNvSpPr txBox="1"/>
            <p:nvPr/>
          </p:nvSpPr>
          <p:spPr>
            <a:xfrm>
              <a:off x="4997461" y="3001554"/>
              <a:ext cx="1586219" cy="33855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    DATA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6B2BC32-CE2B-40A7-A274-915508BB69A6}"/>
              </a:ext>
            </a:extLst>
          </p:cNvPr>
          <p:cNvGrpSpPr/>
          <p:nvPr/>
        </p:nvGrpSpPr>
        <p:grpSpPr>
          <a:xfrm>
            <a:off x="7002779" y="2442257"/>
            <a:ext cx="2069301" cy="1089758"/>
            <a:chOff x="6932439" y="2442257"/>
            <a:chExt cx="2069301" cy="108975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DE52E48-A8B5-4AB9-976A-2968060B37DB}"/>
                </a:ext>
              </a:extLst>
            </p:cNvPr>
            <p:cNvGrpSpPr/>
            <p:nvPr/>
          </p:nvGrpSpPr>
          <p:grpSpPr>
            <a:xfrm>
              <a:off x="6932439" y="2442257"/>
              <a:ext cx="2069301" cy="1089758"/>
              <a:chOff x="5527253" y="2411909"/>
              <a:chExt cx="2069301" cy="108975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ED44419-B155-454D-891B-F57BE335244F}"/>
                  </a:ext>
                </a:extLst>
              </p:cNvPr>
              <p:cNvGrpSpPr/>
              <p:nvPr/>
            </p:nvGrpSpPr>
            <p:grpSpPr>
              <a:xfrm>
                <a:off x="5527253" y="2440745"/>
                <a:ext cx="1970585" cy="1060922"/>
                <a:chOff x="4950478" y="2781461"/>
                <a:chExt cx="1970585" cy="1060922"/>
              </a:xfrm>
            </p:grpSpPr>
            <p:sp>
              <p:nvSpPr>
                <p:cNvPr id="30" name="Flowchart: Magnetic Disk 29">
                  <a:extLst>
                    <a:ext uri="{FF2B5EF4-FFF2-40B4-BE49-F238E27FC236}">
                      <a16:creationId xmlns:a16="http://schemas.microsoft.com/office/drawing/2014/main" id="{5D3C5DB4-84A6-4485-86A0-B1FF766BD3A4}"/>
                    </a:ext>
                  </a:extLst>
                </p:cNvPr>
                <p:cNvSpPr/>
                <p:nvPr/>
              </p:nvSpPr>
              <p:spPr bwMode="auto">
                <a:xfrm>
                  <a:off x="5477071" y="2781461"/>
                  <a:ext cx="433116" cy="1060922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charset="0"/>
                  </a:endParaRPr>
                </a:p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Helvetica" charset="0"/>
                  </a:endParaRPr>
                </a:p>
              </p:txBody>
            </p:sp>
            <p:sp>
              <p:nvSpPr>
                <p:cNvPr id="31" name="Flowchart: Magnetic Disk 30">
                  <a:extLst>
                    <a:ext uri="{FF2B5EF4-FFF2-40B4-BE49-F238E27FC236}">
                      <a16:creationId xmlns:a16="http://schemas.microsoft.com/office/drawing/2014/main" id="{A8CFE0F5-3169-4B24-A564-143DD5692D72}"/>
                    </a:ext>
                  </a:extLst>
                </p:cNvPr>
                <p:cNvSpPr/>
                <p:nvPr/>
              </p:nvSpPr>
              <p:spPr bwMode="auto">
                <a:xfrm>
                  <a:off x="5992422" y="2781461"/>
                  <a:ext cx="433116" cy="1060922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charset="0"/>
                  </a:endParaRPr>
                </a:p>
              </p:txBody>
            </p:sp>
            <p:sp>
              <p:nvSpPr>
                <p:cNvPr id="32" name="Flowchart: Magnetic Disk 31">
                  <a:extLst>
                    <a:ext uri="{FF2B5EF4-FFF2-40B4-BE49-F238E27FC236}">
                      <a16:creationId xmlns:a16="http://schemas.microsoft.com/office/drawing/2014/main" id="{6886AB38-D946-4ABF-97A2-0D7528C49327}"/>
                    </a:ext>
                  </a:extLst>
                </p:cNvPr>
                <p:cNvSpPr/>
                <p:nvPr/>
              </p:nvSpPr>
              <p:spPr bwMode="auto">
                <a:xfrm>
                  <a:off x="6487947" y="2781461"/>
                  <a:ext cx="433116" cy="1060922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charset="0"/>
                  </a:endParaRPr>
                </a:p>
              </p:txBody>
            </p:sp>
            <p:sp>
              <p:nvSpPr>
                <p:cNvPr id="33" name="Flowchart: Magnetic Disk 32">
                  <a:extLst>
                    <a:ext uri="{FF2B5EF4-FFF2-40B4-BE49-F238E27FC236}">
                      <a16:creationId xmlns:a16="http://schemas.microsoft.com/office/drawing/2014/main" id="{11F04335-2214-4049-801C-0E9CD36AF5CE}"/>
                    </a:ext>
                  </a:extLst>
                </p:cNvPr>
                <p:cNvSpPr/>
                <p:nvPr/>
              </p:nvSpPr>
              <p:spPr bwMode="auto">
                <a:xfrm>
                  <a:off x="4950478" y="2781461"/>
                  <a:ext cx="433116" cy="1060922"/>
                </a:xfrm>
                <a:prstGeom prst="flowChartMagneticDisk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lang="en-US" dirty="0">
                    <a:latin typeface="Helvetica" charset="0"/>
                  </a:endParaRPr>
                </a:p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16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Helvetica" charset="0"/>
                  </a:endParaRP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D555687-96A8-43BE-A394-6E69699CFCE6}"/>
                  </a:ext>
                </a:extLst>
              </p:cNvPr>
              <p:cNvSpPr txBox="1"/>
              <p:nvPr/>
            </p:nvSpPr>
            <p:spPr>
              <a:xfrm>
                <a:off x="5527253" y="2411909"/>
                <a:ext cx="20693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D4     D5      D6   D7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61E64B8-CC4C-4F86-B18A-E4534AFCFF4E}"/>
                </a:ext>
              </a:extLst>
            </p:cNvPr>
            <p:cNvSpPr txBox="1"/>
            <p:nvPr/>
          </p:nvSpPr>
          <p:spPr>
            <a:xfrm>
              <a:off x="7093823" y="2943282"/>
              <a:ext cx="1586219" cy="33855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MIRROR DISK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FA4E09B-FDDD-405F-A3D9-CC0453948805}"/>
              </a:ext>
            </a:extLst>
          </p:cNvPr>
          <p:cNvGrpSpPr/>
          <p:nvPr/>
        </p:nvGrpSpPr>
        <p:grpSpPr>
          <a:xfrm>
            <a:off x="6939732" y="4955980"/>
            <a:ext cx="2069301" cy="1311926"/>
            <a:chOff x="5527253" y="2411909"/>
            <a:chExt cx="2069301" cy="1089758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405B579-D02A-4BF1-8339-E8310DE5C269}"/>
                </a:ext>
              </a:extLst>
            </p:cNvPr>
            <p:cNvGrpSpPr/>
            <p:nvPr/>
          </p:nvGrpSpPr>
          <p:grpSpPr>
            <a:xfrm>
              <a:off x="5527253" y="2440745"/>
              <a:ext cx="1970585" cy="1060922"/>
              <a:chOff x="4950478" y="2781461"/>
              <a:chExt cx="1970585" cy="1060922"/>
            </a:xfrm>
          </p:grpSpPr>
          <p:sp>
            <p:nvSpPr>
              <p:cNvPr id="38" name="Flowchart: Magnetic Disk 37">
                <a:extLst>
                  <a:ext uri="{FF2B5EF4-FFF2-40B4-BE49-F238E27FC236}">
                    <a16:creationId xmlns:a16="http://schemas.microsoft.com/office/drawing/2014/main" id="{1A623C28-9F10-4A9C-AA41-680C44ABF55A}"/>
                  </a:ext>
                </a:extLst>
              </p:cNvPr>
              <p:cNvSpPr/>
              <p:nvPr/>
            </p:nvSpPr>
            <p:spPr bwMode="auto">
              <a:xfrm>
                <a:off x="5477071" y="2781461"/>
                <a:ext cx="433116" cy="1060922"/>
              </a:xfrm>
              <a:prstGeom prst="flowChartMagneticDisk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charset="0"/>
                  </a:rPr>
                  <a:t>B1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B5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B9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endParaRP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Helvetica" charset="0"/>
                </a:endParaRPr>
              </a:p>
            </p:txBody>
          </p:sp>
          <p:sp>
            <p:nvSpPr>
              <p:cNvPr id="39" name="Flowchart: Magnetic Disk 38">
                <a:extLst>
                  <a:ext uri="{FF2B5EF4-FFF2-40B4-BE49-F238E27FC236}">
                    <a16:creationId xmlns:a16="http://schemas.microsoft.com/office/drawing/2014/main" id="{3A243F35-A5D6-4A38-B107-351CDDCE0250}"/>
                  </a:ext>
                </a:extLst>
              </p:cNvPr>
              <p:cNvSpPr/>
              <p:nvPr/>
            </p:nvSpPr>
            <p:spPr bwMode="auto">
              <a:xfrm>
                <a:off x="5992422" y="2781461"/>
                <a:ext cx="433116" cy="1060922"/>
              </a:xfrm>
              <a:prstGeom prst="flowChartMagneticDisk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charset="0"/>
                  </a:rPr>
                  <a:t>B2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B6</a:t>
                </a:r>
                <a:endPara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endParaRPr>
              </a:p>
            </p:txBody>
          </p:sp>
          <p:sp>
            <p:nvSpPr>
              <p:cNvPr id="40" name="Flowchart: Magnetic Disk 39">
                <a:extLst>
                  <a:ext uri="{FF2B5EF4-FFF2-40B4-BE49-F238E27FC236}">
                    <a16:creationId xmlns:a16="http://schemas.microsoft.com/office/drawing/2014/main" id="{45CB8A72-3231-4452-9F03-D767F08B9A0C}"/>
                  </a:ext>
                </a:extLst>
              </p:cNvPr>
              <p:cNvSpPr/>
              <p:nvPr/>
            </p:nvSpPr>
            <p:spPr bwMode="auto">
              <a:xfrm>
                <a:off x="6487947" y="2781461"/>
                <a:ext cx="433116" cy="1060922"/>
              </a:xfrm>
              <a:prstGeom prst="flowChartMagneticDisk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Helvetica" charset="0"/>
                  </a:rPr>
                  <a:t>B3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B7</a:t>
                </a:r>
                <a:endPara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endParaRPr>
              </a:p>
            </p:txBody>
          </p:sp>
          <p:sp>
            <p:nvSpPr>
              <p:cNvPr id="41" name="Flowchart: Magnetic Disk 40">
                <a:extLst>
                  <a:ext uri="{FF2B5EF4-FFF2-40B4-BE49-F238E27FC236}">
                    <a16:creationId xmlns:a16="http://schemas.microsoft.com/office/drawing/2014/main" id="{D0248700-3038-4C9B-9780-F861F29F7298}"/>
                  </a:ext>
                </a:extLst>
              </p:cNvPr>
              <p:cNvSpPr/>
              <p:nvPr/>
            </p:nvSpPr>
            <p:spPr bwMode="auto">
              <a:xfrm>
                <a:off x="4950478" y="2781461"/>
                <a:ext cx="433116" cy="1060922"/>
              </a:xfrm>
              <a:prstGeom prst="flowChartMagneticDisk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B0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i="0" u="none" strike="noStrike" cap="none" normalizeH="0" baseline="0" dirty="0">
                    <a:ln>
                      <a:noFill/>
                    </a:ln>
                    <a:effectLst/>
                    <a:latin typeface="Helvetica" charset="0"/>
                  </a:rPr>
                  <a:t>B4</a:t>
                </a: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dirty="0">
                    <a:latin typeface="Helvetica" charset="0"/>
                  </a:rPr>
                  <a:t>B8</a:t>
                </a:r>
                <a:endParaRPr kumimoji="0" lang="en-US" sz="1600" i="0" u="none" strike="noStrike" cap="none" normalizeH="0" baseline="0" dirty="0">
                  <a:ln>
                    <a:noFill/>
                  </a:ln>
                  <a:effectLst/>
                  <a:latin typeface="Helvetica" charset="0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218AA87-0485-4D41-A3D8-D751848C631D}"/>
                </a:ext>
              </a:extLst>
            </p:cNvPr>
            <p:cNvSpPr txBox="1"/>
            <p:nvPr/>
          </p:nvSpPr>
          <p:spPr>
            <a:xfrm>
              <a:off x="5527253" y="2411909"/>
              <a:ext cx="2069301" cy="281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D4     D5      D6   D7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693398A-74FA-41C6-AEA4-BD1189594C01}"/>
              </a:ext>
            </a:extLst>
          </p:cNvPr>
          <p:cNvSpPr txBox="1"/>
          <p:nvPr/>
        </p:nvSpPr>
        <p:spPr>
          <a:xfrm>
            <a:off x="170636" y="3112559"/>
            <a:ext cx="4273569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Question w1-3: </a:t>
            </a:r>
            <a:r>
              <a:rPr lang="en-US" sz="1800" dirty="0"/>
              <a:t>You have been given 6 disks of 4TB each and customer relation has 6 blocks (B0, B1, B2, B3, B4, B5). </a:t>
            </a:r>
          </a:p>
          <a:p>
            <a:r>
              <a:rPr lang="en-US" sz="1800" dirty="0"/>
              <a:t>Show the storage of customer relation using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RAID level 0 storage system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RAID level 1 storage system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Compare performance of the two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409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8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0C333282-2647-4C5B-88ED-77D98738B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31982" y="70581"/>
            <a:ext cx="4281951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(Cont.)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990286-CB9D-43B7-923D-AD0858C4AECC}"/>
              </a:ext>
            </a:extLst>
          </p:cNvPr>
          <p:cNvSpPr txBox="1"/>
          <p:nvPr/>
        </p:nvSpPr>
        <p:spPr>
          <a:xfrm>
            <a:off x="97482" y="1526798"/>
            <a:ext cx="46704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en-US" sz="1800" b="1" dirty="0">
                <a:solidFill>
                  <a:srgbClr val="002060"/>
                </a:solidFill>
              </a:rPr>
              <a:t>RAID Level 5</a:t>
            </a:r>
            <a:r>
              <a:rPr lang="en-US" altLang="en-US" sz="1800" b="1" dirty="0"/>
              <a:t>: </a:t>
            </a:r>
            <a:r>
              <a:rPr lang="en-US" altLang="en-US" sz="1800" dirty="0"/>
              <a:t> </a:t>
            </a:r>
            <a:r>
              <a:rPr lang="en-US" altLang="en-US" sz="1800" dirty="0">
                <a:solidFill>
                  <a:srgbClr val="002060"/>
                </a:solidFill>
              </a:rPr>
              <a:t>Block-Interleaved Distributed Parity</a:t>
            </a:r>
            <a:r>
              <a:rPr lang="en-US" altLang="en-US" sz="1800" dirty="0"/>
              <a:t>; </a:t>
            </a:r>
          </a:p>
          <a:p>
            <a:pPr>
              <a:spcAft>
                <a:spcPts val="0"/>
              </a:spcAft>
            </a:pPr>
            <a:endParaRPr lang="en-US" altLang="en-US" sz="1800" dirty="0"/>
          </a:p>
          <a:p>
            <a:pPr marL="285750" indent="-285750"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en-US" sz="1800" dirty="0"/>
              <a:t>partitions data and parity among all</a:t>
            </a:r>
            <a:r>
              <a:rPr lang="en-US" altLang="en-US" sz="1800" i="1" dirty="0"/>
              <a:t> N</a:t>
            </a:r>
            <a:r>
              <a:rPr lang="en-US" altLang="en-US" sz="1800" dirty="0"/>
              <a:t> + 1 disks, rather than storing data in </a:t>
            </a:r>
            <a:r>
              <a:rPr lang="en-US" altLang="en-US" sz="1800" i="1" dirty="0"/>
              <a:t>N</a:t>
            </a:r>
            <a:r>
              <a:rPr lang="en-US" altLang="en-US" sz="1800" dirty="0"/>
              <a:t> disks and parity in 1 disk </a:t>
            </a:r>
            <a:r>
              <a:rPr lang="en-US" altLang="en-US" sz="1800" dirty="0">
                <a:solidFill>
                  <a:srgbClr val="0000FF"/>
                </a:solidFill>
              </a:rPr>
              <a:t>(like RAID 4).</a:t>
            </a:r>
          </a:p>
          <a:p>
            <a:pPr marL="285750" indent="-285750"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en-US" altLang="en-US" sz="1800" dirty="0"/>
          </a:p>
          <a:p>
            <a:pPr marL="285750" indent="-285750">
              <a:spcAft>
                <a:spcPts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en-US" altLang="en-US" sz="1800" dirty="0"/>
              <a:t>E.g., with 5 disks, parity block Pk for blocks 4k, 4k+1, 4k+2, 4k+3 is stored in disk k mod 5.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6AA2F3-6931-4271-BAEB-5914496A7073}"/>
              </a:ext>
            </a:extLst>
          </p:cNvPr>
          <p:cNvSpPr txBox="1"/>
          <p:nvPr/>
        </p:nvSpPr>
        <p:spPr>
          <a:xfrm>
            <a:off x="4952449" y="1167618"/>
            <a:ext cx="419155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Example: You need 8TB of storage and there are available of 2TB disks.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How many disks will be needed for this storage system in RAID 5?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839C54-81A0-4B94-9ED7-698ED43F76A9}"/>
              </a:ext>
            </a:extLst>
          </p:cNvPr>
          <p:cNvSpPr txBox="1"/>
          <p:nvPr/>
        </p:nvSpPr>
        <p:spPr>
          <a:xfrm>
            <a:off x="5458265" y="357015"/>
            <a:ext cx="3685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RAID Level 5 (Block striping distributed parity)</a:t>
            </a:r>
            <a:endParaRPr lang="en-US" b="1" dirty="0">
              <a:solidFill>
                <a:srgbClr val="0000FF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2E9A66E-19C3-4480-9E8F-A06CF1102C11}"/>
              </a:ext>
            </a:extLst>
          </p:cNvPr>
          <p:cNvGrpSpPr/>
          <p:nvPr/>
        </p:nvGrpSpPr>
        <p:grpSpPr>
          <a:xfrm>
            <a:off x="5330305" y="2790394"/>
            <a:ext cx="2688280" cy="1277211"/>
            <a:chOff x="5231831" y="2807752"/>
            <a:chExt cx="2688280" cy="1277211"/>
          </a:xfrm>
        </p:grpSpPr>
        <p:sp>
          <p:nvSpPr>
            <p:cNvPr id="11" name="Flowchart: Magnetic Disk 10">
              <a:extLst>
                <a:ext uri="{FF2B5EF4-FFF2-40B4-BE49-F238E27FC236}">
                  <a16:creationId xmlns:a16="http://schemas.microsoft.com/office/drawing/2014/main" id="{A4FB9A12-12C3-4E1C-A71A-F25954D22222}"/>
                </a:ext>
              </a:extLst>
            </p:cNvPr>
            <p:cNvSpPr/>
            <p:nvPr/>
          </p:nvSpPr>
          <p:spPr bwMode="auto">
            <a:xfrm>
              <a:off x="5758424" y="2807752"/>
              <a:ext cx="433116" cy="1277211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B0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solidFill>
                    <a:srgbClr val="FF0000"/>
                  </a:solidFill>
                  <a:latin typeface="Helvetica" charset="0"/>
                </a:rPr>
                <a:t>P1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B9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" charset="0"/>
              </a:endParaRPr>
            </a:p>
          </p:txBody>
        </p:sp>
        <p:sp>
          <p:nvSpPr>
            <p:cNvPr id="12" name="Flowchart: Magnetic Disk 11">
              <a:extLst>
                <a:ext uri="{FF2B5EF4-FFF2-40B4-BE49-F238E27FC236}">
                  <a16:creationId xmlns:a16="http://schemas.microsoft.com/office/drawing/2014/main" id="{96DEFA8B-611D-43C2-BAF9-5579AF1C2DBE}"/>
                </a:ext>
              </a:extLst>
            </p:cNvPr>
            <p:cNvSpPr/>
            <p:nvPr/>
          </p:nvSpPr>
          <p:spPr bwMode="auto">
            <a:xfrm>
              <a:off x="6273775" y="2807752"/>
              <a:ext cx="433116" cy="1277211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B5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13" name="Flowchart: Magnetic Disk 12">
              <a:extLst>
                <a:ext uri="{FF2B5EF4-FFF2-40B4-BE49-F238E27FC236}">
                  <a16:creationId xmlns:a16="http://schemas.microsoft.com/office/drawing/2014/main" id="{CF431F93-6BF7-4792-80B7-A7E15D6831E0}"/>
                </a:ext>
              </a:extLst>
            </p:cNvPr>
            <p:cNvSpPr/>
            <p:nvPr/>
          </p:nvSpPr>
          <p:spPr bwMode="auto">
            <a:xfrm>
              <a:off x="6769300" y="2807752"/>
              <a:ext cx="433116" cy="1277211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B2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B6</a:t>
              </a:r>
              <a:endParaRPr kumimoji="0" lang="en-US" sz="1600" i="0" u="none" strike="noStrike" cap="none" normalizeH="0" baseline="0" dirty="0">
                <a:ln>
                  <a:noFill/>
                </a:ln>
                <a:effectLst/>
                <a:latin typeface="Helvetica" charset="0"/>
              </a:endParaRPr>
            </a:p>
          </p:txBody>
        </p:sp>
        <p:sp>
          <p:nvSpPr>
            <p:cNvPr id="14" name="Flowchart: Magnetic Disk 13">
              <a:extLst>
                <a:ext uri="{FF2B5EF4-FFF2-40B4-BE49-F238E27FC236}">
                  <a16:creationId xmlns:a16="http://schemas.microsoft.com/office/drawing/2014/main" id="{834FDFD0-2A5C-4B13-B4F9-0BF1125AB75E}"/>
                </a:ext>
              </a:extLst>
            </p:cNvPr>
            <p:cNvSpPr/>
            <p:nvPr/>
          </p:nvSpPr>
          <p:spPr bwMode="auto">
            <a:xfrm>
              <a:off x="5231831" y="2807752"/>
              <a:ext cx="433116" cy="1277211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solidFill>
                    <a:srgbClr val="FF0000"/>
                  </a:solidFill>
                  <a:latin typeface="Helvetica" charset="0"/>
                </a:rPr>
                <a:t>P0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effectLst/>
                  <a:latin typeface="Helvetica" charset="0"/>
                </a:rPr>
                <a:t>B4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B8</a:t>
              </a:r>
              <a:endParaRPr kumimoji="0" lang="en-US" sz="1600" i="0" u="none" strike="noStrike" cap="none" normalizeH="0" baseline="0" dirty="0">
                <a:ln>
                  <a:noFill/>
                </a:ln>
                <a:effectLst/>
                <a:latin typeface="Helvetica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B257602-9E62-45BD-9F0C-DA8EEB041020}"/>
                </a:ext>
              </a:extLst>
            </p:cNvPr>
            <p:cNvSpPr txBox="1"/>
            <p:nvPr/>
          </p:nvSpPr>
          <p:spPr>
            <a:xfrm>
              <a:off x="5231831" y="2807752"/>
              <a:ext cx="26882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D0     D1      D2   D3    D4</a:t>
              </a:r>
            </a:p>
          </p:txBody>
        </p:sp>
        <p:sp>
          <p:nvSpPr>
            <p:cNvPr id="4" name="Flowchart: Magnetic Disk 3">
              <a:extLst>
                <a:ext uri="{FF2B5EF4-FFF2-40B4-BE49-F238E27FC236}">
                  <a16:creationId xmlns:a16="http://schemas.microsoft.com/office/drawing/2014/main" id="{8E87F80D-C104-4B78-B005-4ADC6FBE8B95}"/>
                </a:ext>
              </a:extLst>
            </p:cNvPr>
            <p:cNvSpPr/>
            <p:nvPr/>
          </p:nvSpPr>
          <p:spPr bwMode="auto">
            <a:xfrm>
              <a:off x="7302502" y="2807752"/>
              <a:ext cx="433116" cy="1277211"/>
            </a:xfrm>
            <a:prstGeom prst="flowChartMagneticDisk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effectLst/>
                  <a:latin typeface="Helvetica" charset="0"/>
                </a:rPr>
                <a:t>B3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B7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3EBB50-640D-41F1-7ADC-14F8C56197E0}"/>
                  </a:ext>
                </a:extLst>
              </p14:cNvPr>
              <p14:cNvContentPartPr/>
              <p14:nvPr/>
            </p14:nvContentPartPr>
            <p14:xfrm>
              <a:off x="205560" y="1776960"/>
              <a:ext cx="3304440" cy="464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3EBB50-640D-41F1-7ADC-14F8C56197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6200" y="1767600"/>
                <a:ext cx="3323160" cy="48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825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0C333282-2647-4C5B-88ED-77D98738B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31982" y="70581"/>
            <a:ext cx="4281951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(Cont.)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990286-CB9D-43B7-923D-AD0858C4AECC}"/>
              </a:ext>
            </a:extLst>
          </p:cNvPr>
          <p:cNvSpPr txBox="1"/>
          <p:nvPr/>
        </p:nvSpPr>
        <p:spPr>
          <a:xfrm>
            <a:off x="0" y="1167618"/>
            <a:ext cx="4670474" cy="423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US" altLang="en-US" sz="1800" b="1" dirty="0">
                <a:solidFill>
                  <a:srgbClr val="002060"/>
                </a:solidFill>
              </a:rPr>
              <a:t>Parity blocks</a:t>
            </a:r>
            <a:r>
              <a:rPr lang="en-US" altLang="en-US" sz="1800" dirty="0"/>
              <a:t>: Parity block </a:t>
            </a:r>
            <a:r>
              <a:rPr lang="en-US" altLang="en-US" sz="1800" i="1" dirty="0"/>
              <a:t>j</a:t>
            </a:r>
            <a:r>
              <a:rPr lang="en-US" altLang="en-US" sz="1800" dirty="0"/>
              <a:t> stores XOR of bits from block </a:t>
            </a:r>
            <a:r>
              <a:rPr lang="en-US" altLang="en-US" sz="1800" i="1" dirty="0"/>
              <a:t>j </a:t>
            </a:r>
            <a:r>
              <a:rPr lang="en-US" altLang="en-US" sz="1800" dirty="0"/>
              <a:t> of each disk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endParaRPr lang="en-US" altLang="en-US" sz="1800" dirty="0"/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US" altLang="en-US" sz="1800" dirty="0"/>
              <a:t>How is recovery performed single disk failure?</a:t>
            </a:r>
          </a:p>
          <a:p>
            <a:pPr marL="285750" indent="-285750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To recover data for a block, compute XOR of bits from all other blocks in the set including the parity block</a:t>
            </a:r>
          </a:p>
          <a:p>
            <a:pPr marL="285750" indent="-285750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 marL="285750" indent="-285750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endParaRPr lang="en-US" altLang="en-US" sz="1800" dirty="0"/>
          </a:p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US" altLang="en-US" sz="1800" dirty="0"/>
              <a:t>What will happen if two disks failed simultaneously?</a:t>
            </a:r>
          </a:p>
          <a:p>
            <a:pPr>
              <a:spcAft>
                <a:spcPts val="600"/>
              </a:spcAft>
              <a:buClr>
                <a:srgbClr val="FF0000"/>
              </a:buClr>
            </a:pPr>
            <a:endParaRPr lang="en-US" alt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6AA2F3-6931-4271-BAEB-5914496A7073}"/>
              </a:ext>
            </a:extLst>
          </p:cNvPr>
          <p:cNvSpPr txBox="1"/>
          <p:nvPr/>
        </p:nvSpPr>
        <p:spPr>
          <a:xfrm>
            <a:off x="4952449" y="1167618"/>
            <a:ext cx="419155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Example: You need 8TB of storage and there are available of 2TB disks.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How many disks will be needed for this storage system in RAID 5?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839C54-81A0-4B94-9ED7-698ED43F76A9}"/>
              </a:ext>
            </a:extLst>
          </p:cNvPr>
          <p:cNvSpPr txBox="1"/>
          <p:nvPr/>
        </p:nvSpPr>
        <p:spPr>
          <a:xfrm>
            <a:off x="5458265" y="357015"/>
            <a:ext cx="3685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RAID Level 5 (Block striping distributed parity)</a:t>
            </a:r>
            <a:endParaRPr lang="en-US" b="1" dirty="0">
              <a:solidFill>
                <a:srgbClr val="0000FF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300574D-7972-4AF0-BBF8-6C59BAED09B4}"/>
              </a:ext>
            </a:extLst>
          </p:cNvPr>
          <p:cNvGrpSpPr/>
          <p:nvPr/>
        </p:nvGrpSpPr>
        <p:grpSpPr>
          <a:xfrm>
            <a:off x="5330305" y="2790394"/>
            <a:ext cx="2688280" cy="1277211"/>
            <a:chOff x="5231831" y="2807752"/>
            <a:chExt cx="2688280" cy="1277211"/>
          </a:xfrm>
        </p:grpSpPr>
        <p:sp>
          <p:nvSpPr>
            <p:cNvPr id="17" name="Flowchart: Magnetic Disk 16">
              <a:extLst>
                <a:ext uri="{FF2B5EF4-FFF2-40B4-BE49-F238E27FC236}">
                  <a16:creationId xmlns:a16="http://schemas.microsoft.com/office/drawing/2014/main" id="{5F9FD8D7-CA34-44D3-A23B-AB9BE8F8CD19}"/>
                </a:ext>
              </a:extLst>
            </p:cNvPr>
            <p:cNvSpPr/>
            <p:nvPr/>
          </p:nvSpPr>
          <p:spPr bwMode="auto">
            <a:xfrm>
              <a:off x="5758424" y="2807752"/>
              <a:ext cx="433116" cy="1277211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B0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solidFill>
                    <a:srgbClr val="FF0000"/>
                  </a:solidFill>
                  <a:latin typeface="Helvetica" charset="0"/>
                </a:rPr>
                <a:t>P1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B9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" charset="0"/>
              </a:endParaRPr>
            </a:p>
          </p:txBody>
        </p:sp>
        <p:sp>
          <p:nvSpPr>
            <p:cNvPr id="18" name="Flowchart: Magnetic Disk 17">
              <a:extLst>
                <a:ext uri="{FF2B5EF4-FFF2-40B4-BE49-F238E27FC236}">
                  <a16:creationId xmlns:a16="http://schemas.microsoft.com/office/drawing/2014/main" id="{A80DA351-C8DC-48C2-9FCC-725CC51DB3E4}"/>
                </a:ext>
              </a:extLst>
            </p:cNvPr>
            <p:cNvSpPr/>
            <p:nvPr/>
          </p:nvSpPr>
          <p:spPr bwMode="auto">
            <a:xfrm>
              <a:off x="6273775" y="2807752"/>
              <a:ext cx="433116" cy="1277211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B5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19" name="Flowchart: Magnetic Disk 18">
              <a:extLst>
                <a:ext uri="{FF2B5EF4-FFF2-40B4-BE49-F238E27FC236}">
                  <a16:creationId xmlns:a16="http://schemas.microsoft.com/office/drawing/2014/main" id="{1191C01A-67EE-4DDF-BB26-1524E56366DC}"/>
                </a:ext>
              </a:extLst>
            </p:cNvPr>
            <p:cNvSpPr/>
            <p:nvPr/>
          </p:nvSpPr>
          <p:spPr bwMode="auto">
            <a:xfrm>
              <a:off x="6769300" y="2807752"/>
              <a:ext cx="433116" cy="1277211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B2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B6</a:t>
              </a:r>
              <a:endParaRPr kumimoji="0" lang="en-US" sz="1600" i="0" u="none" strike="noStrike" cap="none" normalizeH="0" baseline="0" dirty="0">
                <a:ln>
                  <a:noFill/>
                </a:ln>
                <a:effectLst/>
                <a:latin typeface="Helvetica" charset="0"/>
              </a:endParaRPr>
            </a:p>
          </p:txBody>
        </p:sp>
        <p:sp>
          <p:nvSpPr>
            <p:cNvPr id="20" name="Flowchart: Magnetic Disk 19">
              <a:extLst>
                <a:ext uri="{FF2B5EF4-FFF2-40B4-BE49-F238E27FC236}">
                  <a16:creationId xmlns:a16="http://schemas.microsoft.com/office/drawing/2014/main" id="{E84BB8D5-7B6D-48EE-91C6-8686D7FA67D7}"/>
                </a:ext>
              </a:extLst>
            </p:cNvPr>
            <p:cNvSpPr/>
            <p:nvPr/>
          </p:nvSpPr>
          <p:spPr bwMode="auto">
            <a:xfrm>
              <a:off x="5231831" y="2807752"/>
              <a:ext cx="433116" cy="1277211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solidFill>
                    <a:srgbClr val="FF0000"/>
                  </a:solidFill>
                  <a:latin typeface="Helvetica" charset="0"/>
                </a:rPr>
                <a:t>P0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effectLst/>
                  <a:latin typeface="Helvetica" charset="0"/>
                </a:rPr>
                <a:t>B4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B8</a:t>
              </a:r>
              <a:endParaRPr kumimoji="0" lang="en-US" sz="1600" i="0" u="none" strike="noStrike" cap="none" normalizeH="0" baseline="0" dirty="0">
                <a:ln>
                  <a:noFill/>
                </a:ln>
                <a:effectLst/>
                <a:latin typeface="Helvetica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E0D7507-9181-47A5-AC11-66DE99F7DB28}"/>
                </a:ext>
              </a:extLst>
            </p:cNvPr>
            <p:cNvSpPr txBox="1"/>
            <p:nvPr/>
          </p:nvSpPr>
          <p:spPr>
            <a:xfrm>
              <a:off x="5231831" y="2807752"/>
              <a:ext cx="26882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D0     D1      D2   D3    D4</a:t>
              </a:r>
            </a:p>
          </p:txBody>
        </p:sp>
        <p:sp>
          <p:nvSpPr>
            <p:cNvPr id="22" name="Flowchart: Magnetic Disk 21">
              <a:extLst>
                <a:ext uri="{FF2B5EF4-FFF2-40B4-BE49-F238E27FC236}">
                  <a16:creationId xmlns:a16="http://schemas.microsoft.com/office/drawing/2014/main" id="{D1F156BE-CF75-4425-A438-11F3174E2255}"/>
                </a:ext>
              </a:extLst>
            </p:cNvPr>
            <p:cNvSpPr/>
            <p:nvPr/>
          </p:nvSpPr>
          <p:spPr bwMode="auto">
            <a:xfrm>
              <a:off x="7302502" y="2807752"/>
              <a:ext cx="433116" cy="1277211"/>
            </a:xfrm>
            <a:prstGeom prst="flowChartMagneticDisk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effectLst/>
                  <a:latin typeface="Helvetica" charset="0"/>
                </a:rPr>
                <a:t>B3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B7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581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0C333282-2647-4C5B-88ED-77D98738B0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31982" y="70581"/>
            <a:ext cx="4281951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(Cont.)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990286-CB9D-43B7-923D-AD0858C4AECC}"/>
              </a:ext>
            </a:extLst>
          </p:cNvPr>
          <p:cNvSpPr txBox="1"/>
          <p:nvPr/>
        </p:nvSpPr>
        <p:spPr>
          <a:xfrm>
            <a:off x="0" y="1167618"/>
            <a:ext cx="46704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en-US" altLang="en-US" sz="1800" dirty="0"/>
              <a:t>How is update of one block performed in RAID 5?</a:t>
            </a:r>
          </a:p>
          <a:p>
            <a:pPr marL="285750" indent="-285750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Example: Updating block </a:t>
            </a:r>
            <a:r>
              <a:rPr lang="en-US" altLang="en-US" sz="1800" i="1" dirty="0"/>
              <a:t>B2 of D2</a:t>
            </a:r>
            <a:r>
              <a:rPr lang="en-US" altLang="en-US" sz="1800" dirty="0"/>
              <a:t>, parity block </a:t>
            </a:r>
            <a:r>
              <a:rPr lang="en-US" altLang="en-US" sz="1800" i="1" dirty="0"/>
              <a:t>P0 </a:t>
            </a:r>
            <a:r>
              <a:rPr lang="en-US" altLang="en-US" sz="1800" dirty="0"/>
              <a:t>must also be computed and written to disk</a:t>
            </a:r>
          </a:p>
          <a:p>
            <a:pPr marL="285750" indent="-285750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Can be done by using old parity block, old value of current block (B2) and new value of current block (B2) (2 block reads + 2 block writes)</a:t>
            </a:r>
          </a:p>
          <a:p>
            <a:pPr marL="285750" indent="-285750"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en-US" sz="1800" dirty="0"/>
              <a:t>Or by recomputing the parity value using the new values of blocks corresponding to the parity block. More efficient for writing large amounts of data sequentially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6AA2F3-6931-4271-BAEB-5914496A7073}"/>
              </a:ext>
            </a:extLst>
          </p:cNvPr>
          <p:cNvSpPr txBox="1"/>
          <p:nvPr/>
        </p:nvSpPr>
        <p:spPr>
          <a:xfrm>
            <a:off x="4952449" y="1167618"/>
            <a:ext cx="419155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Example: You need 8TB of storage and there are available of 2TB disks.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How many disks will be needed for this storage system in RAID 5?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839C54-81A0-4B94-9ED7-698ED43F76A9}"/>
              </a:ext>
            </a:extLst>
          </p:cNvPr>
          <p:cNvSpPr txBox="1"/>
          <p:nvPr/>
        </p:nvSpPr>
        <p:spPr>
          <a:xfrm>
            <a:off x="5458265" y="357015"/>
            <a:ext cx="36857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RAID Level 5 (Block striping distributed parity)</a:t>
            </a:r>
            <a:endParaRPr lang="en-US" b="1" dirty="0">
              <a:solidFill>
                <a:srgbClr val="0000FF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32347D2-2DAE-496C-8840-4AAC21CCF5FA}"/>
              </a:ext>
            </a:extLst>
          </p:cNvPr>
          <p:cNvGrpSpPr/>
          <p:nvPr/>
        </p:nvGrpSpPr>
        <p:grpSpPr>
          <a:xfrm>
            <a:off x="5330305" y="2790394"/>
            <a:ext cx="2688280" cy="1277211"/>
            <a:chOff x="5231831" y="2807752"/>
            <a:chExt cx="2688280" cy="1277211"/>
          </a:xfrm>
        </p:grpSpPr>
        <p:sp>
          <p:nvSpPr>
            <p:cNvPr id="16" name="Flowchart: Magnetic Disk 15">
              <a:extLst>
                <a:ext uri="{FF2B5EF4-FFF2-40B4-BE49-F238E27FC236}">
                  <a16:creationId xmlns:a16="http://schemas.microsoft.com/office/drawing/2014/main" id="{3FA607FF-5415-46EE-9086-720E24E42365}"/>
                </a:ext>
              </a:extLst>
            </p:cNvPr>
            <p:cNvSpPr/>
            <p:nvPr/>
          </p:nvSpPr>
          <p:spPr bwMode="auto">
            <a:xfrm>
              <a:off x="5758424" y="2807752"/>
              <a:ext cx="433116" cy="1277211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B0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solidFill>
                    <a:srgbClr val="FF0000"/>
                  </a:solidFill>
                  <a:latin typeface="Helvetica" charset="0"/>
                </a:rPr>
                <a:t>P1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B9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" charset="0"/>
              </a:endParaRPr>
            </a:p>
          </p:txBody>
        </p:sp>
        <p:sp>
          <p:nvSpPr>
            <p:cNvPr id="17" name="Flowchart: Magnetic Disk 16">
              <a:extLst>
                <a:ext uri="{FF2B5EF4-FFF2-40B4-BE49-F238E27FC236}">
                  <a16:creationId xmlns:a16="http://schemas.microsoft.com/office/drawing/2014/main" id="{A9C6436A-FBD6-440D-B221-819A1B88BDC1}"/>
                </a:ext>
              </a:extLst>
            </p:cNvPr>
            <p:cNvSpPr/>
            <p:nvPr/>
          </p:nvSpPr>
          <p:spPr bwMode="auto">
            <a:xfrm>
              <a:off x="6273775" y="2807752"/>
              <a:ext cx="433116" cy="1277211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B5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18" name="Flowchart: Magnetic Disk 17">
              <a:extLst>
                <a:ext uri="{FF2B5EF4-FFF2-40B4-BE49-F238E27FC236}">
                  <a16:creationId xmlns:a16="http://schemas.microsoft.com/office/drawing/2014/main" id="{8B0C4564-64BC-4A89-9C71-9C2DC5AEC27F}"/>
                </a:ext>
              </a:extLst>
            </p:cNvPr>
            <p:cNvSpPr/>
            <p:nvPr/>
          </p:nvSpPr>
          <p:spPr bwMode="auto">
            <a:xfrm>
              <a:off x="6769300" y="2807752"/>
              <a:ext cx="433116" cy="1277211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B2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B6</a:t>
              </a:r>
              <a:endParaRPr kumimoji="0" lang="en-US" sz="1600" i="0" u="none" strike="noStrike" cap="none" normalizeH="0" baseline="0" dirty="0">
                <a:ln>
                  <a:noFill/>
                </a:ln>
                <a:effectLst/>
                <a:latin typeface="Helvetica" charset="0"/>
              </a:endParaRPr>
            </a:p>
          </p:txBody>
        </p:sp>
        <p:sp>
          <p:nvSpPr>
            <p:cNvPr id="19" name="Flowchart: Magnetic Disk 18">
              <a:extLst>
                <a:ext uri="{FF2B5EF4-FFF2-40B4-BE49-F238E27FC236}">
                  <a16:creationId xmlns:a16="http://schemas.microsoft.com/office/drawing/2014/main" id="{3E3FE483-B758-43C3-9227-123FB66A40BC}"/>
                </a:ext>
              </a:extLst>
            </p:cNvPr>
            <p:cNvSpPr/>
            <p:nvPr/>
          </p:nvSpPr>
          <p:spPr bwMode="auto">
            <a:xfrm>
              <a:off x="5231831" y="2807752"/>
              <a:ext cx="433116" cy="1277211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solidFill>
                    <a:srgbClr val="FF0000"/>
                  </a:solidFill>
                  <a:latin typeface="Helvetica" charset="0"/>
                </a:rPr>
                <a:t>P0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effectLst/>
                  <a:latin typeface="Helvetica" charset="0"/>
                </a:rPr>
                <a:t>B4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B8</a:t>
              </a:r>
              <a:endParaRPr kumimoji="0" lang="en-US" sz="1600" i="0" u="none" strike="noStrike" cap="none" normalizeH="0" baseline="0" dirty="0">
                <a:ln>
                  <a:noFill/>
                </a:ln>
                <a:effectLst/>
                <a:latin typeface="Helvetica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403EAC6-B945-4566-9B0F-0E6AF5B07E32}"/>
                </a:ext>
              </a:extLst>
            </p:cNvPr>
            <p:cNvSpPr txBox="1"/>
            <p:nvPr/>
          </p:nvSpPr>
          <p:spPr>
            <a:xfrm>
              <a:off x="5231831" y="2807752"/>
              <a:ext cx="26882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D0     D1      D2   D3    D4</a:t>
              </a:r>
            </a:p>
          </p:txBody>
        </p:sp>
        <p:sp>
          <p:nvSpPr>
            <p:cNvPr id="21" name="Flowchart: Magnetic Disk 20">
              <a:extLst>
                <a:ext uri="{FF2B5EF4-FFF2-40B4-BE49-F238E27FC236}">
                  <a16:creationId xmlns:a16="http://schemas.microsoft.com/office/drawing/2014/main" id="{2CC5AD74-95E6-4156-9AA2-A839AE7FB771}"/>
                </a:ext>
              </a:extLst>
            </p:cNvPr>
            <p:cNvSpPr/>
            <p:nvPr/>
          </p:nvSpPr>
          <p:spPr bwMode="auto">
            <a:xfrm>
              <a:off x="7302502" y="2807752"/>
              <a:ext cx="433116" cy="1277211"/>
            </a:xfrm>
            <a:prstGeom prst="flowChartMagneticDisk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effectLst/>
                  <a:latin typeface="Helvetica" charset="0"/>
                </a:rPr>
                <a:t>B3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B7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04BDF43-0910-4383-8536-E390295E60E3}"/>
              </a:ext>
            </a:extLst>
          </p:cNvPr>
          <p:cNvSpPr txBox="1"/>
          <p:nvPr/>
        </p:nvSpPr>
        <p:spPr>
          <a:xfrm>
            <a:off x="4572001" y="4389120"/>
            <a:ext cx="4572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Question w1-4: </a:t>
            </a:r>
            <a:r>
              <a:rPr lang="en-US" sz="1800" dirty="0"/>
              <a:t>You have been given six disks of 8TB each.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What are the effective storage capacity in RAID 0, RAID 1, RAID 5?</a:t>
            </a:r>
          </a:p>
          <a:p>
            <a:pPr marL="342900" indent="-342900">
              <a:buFont typeface="+mj-lt"/>
              <a:buAutoNum type="alphaLcPeriod"/>
            </a:pPr>
            <a:r>
              <a:rPr lang="en-US" sz="1800" dirty="0"/>
              <a:t>Explain why 4 blocks need to be transferred to update 1 block in RAID 5.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96285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1CF99706-30C2-4EB7-8D65-BC5B4CEC71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RAID Levels (Cont.)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07CBC-D559-464F-9976-96CCC9A72F9D}"/>
              </a:ext>
            </a:extLst>
          </p:cNvPr>
          <p:cNvSpPr txBox="1"/>
          <p:nvPr/>
        </p:nvSpPr>
        <p:spPr>
          <a:xfrm>
            <a:off x="176646" y="4005737"/>
            <a:ext cx="6766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Distribution of error correcting block and data blocks</a:t>
            </a:r>
          </a:p>
          <a:p>
            <a:endParaRPr lang="en-US" sz="1800" dirty="0"/>
          </a:p>
          <a:p>
            <a:r>
              <a:rPr lang="en-US" altLang="en-US" sz="1800" dirty="0"/>
              <a:t>with 6 disks, two </a:t>
            </a:r>
            <a:r>
              <a:rPr lang="en-US" sz="1800" dirty="0"/>
              <a:t>error correcting blocks </a:t>
            </a:r>
            <a:r>
              <a:rPr lang="en-US" altLang="en-US" sz="1800" dirty="0"/>
              <a:t>Pk and </a:t>
            </a:r>
            <a:r>
              <a:rPr lang="en-US" altLang="en-US" sz="1800" dirty="0" err="1"/>
              <a:t>Qk</a:t>
            </a:r>
            <a:r>
              <a:rPr lang="en-US" altLang="en-US" sz="1800" dirty="0"/>
              <a:t> for data blocks for blocks 4k, 4k+1, 4k+2, 4k+3 is stored in disk k mod 6 and (k+1) mod 6.</a:t>
            </a: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49028-6846-480F-94BF-8BFEA2BFE0AF}"/>
              </a:ext>
            </a:extLst>
          </p:cNvPr>
          <p:cNvSpPr txBox="1"/>
          <p:nvPr/>
        </p:nvSpPr>
        <p:spPr>
          <a:xfrm>
            <a:off x="141058" y="727075"/>
            <a:ext cx="54297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en-US" sz="1800" b="1" dirty="0">
                <a:solidFill>
                  <a:srgbClr val="002060"/>
                </a:solidFill>
              </a:rPr>
              <a:t>RAID Level 6</a:t>
            </a:r>
            <a:r>
              <a:rPr lang="en-US" altLang="en-US" sz="1800" dirty="0">
                <a:solidFill>
                  <a:srgbClr val="000099"/>
                </a:solidFill>
              </a:rPr>
              <a:t>:</a:t>
            </a:r>
            <a:r>
              <a:rPr lang="en-US" altLang="en-US" sz="1800" dirty="0">
                <a:solidFill>
                  <a:schemeClr val="tx2"/>
                </a:solidFill>
              </a:rPr>
              <a:t> </a:t>
            </a:r>
            <a:r>
              <a:rPr lang="en-US" altLang="en-US" sz="1800" dirty="0">
                <a:solidFill>
                  <a:srgbClr val="002060"/>
                </a:solidFill>
              </a:rPr>
              <a:t>P+Q Redundancy </a:t>
            </a:r>
            <a:r>
              <a:rPr lang="en-US" altLang="en-US" sz="1800" dirty="0"/>
              <a:t>scheme; similar to Level 5, but stores two error correction blocks (P, Q) instead of single parity block to guard against multiple disk failures. </a:t>
            </a:r>
          </a:p>
          <a:p>
            <a:pPr>
              <a:spcAft>
                <a:spcPts val="0"/>
              </a:spcAft>
            </a:pPr>
            <a:endParaRPr lang="en-US" altLang="en-US" sz="1800" dirty="0"/>
          </a:p>
          <a:p>
            <a:pPr>
              <a:spcAft>
                <a:spcPts val="0"/>
              </a:spcAft>
            </a:pPr>
            <a:r>
              <a:rPr lang="en-US" altLang="en-US" sz="1800" dirty="0"/>
              <a:t>Better reliability than Level 5 at a higher cost</a:t>
            </a:r>
          </a:p>
          <a:p>
            <a:pPr>
              <a:spcAft>
                <a:spcPts val="0"/>
              </a:spcAft>
            </a:pPr>
            <a:endParaRPr lang="en-US" altLang="en-US" sz="1800" dirty="0"/>
          </a:p>
          <a:p>
            <a:pPr>
              <a:spcAft>
                <a:spcPts val="0"/>
              </a:spcAft>
            </a:pPr>
            <a:r>
              <a:rPr lang="en-US" altLang="en-US" sz="1800" dirty="0"/>
              <a:t>Becoming more important as storage sizes increase</a:t>
            </a:r>
          </a:p>
          <a:p>
            <a:pPr>
              <a:spcAft>
                <a:spcPts val="0"/>
              </a:spcAft>
            </a:pPr>
            <a:endParaRPr lang="en-US" altLang="en-US" sz="1800" dirty="0"/>
          </a:p>
          <a:p>
            <a:pPr>
              <a:spcAft>
                <a:spcPts val="0"/>
              </a:spcAft>
            </a:pPr>
            <a:r>
              <a:rPr lang="en-US" altLang="en-US" sz="1800" dirty="0"/>
              <a:t>Uses error correcting REED-Solomon code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643D390-839D-48AD-A2BD-48865A9FE209}"/>
              </a:ext>
            </a:extLst>
          </p:cNvPr>
          <p:cNvGrpSpPr/>
          <p:nvPr/>
        </p:nvGrpSpPr>
        <p:grpSpPr>
          <a:xfrm>
            <a:off x="5945675" y="2268391"/>
            <a:ext cx="3057267" cy="1277212"/>
            <a:chOff x="5981054" y="2388734"/>
            <a:chExt cx="3057267" cy="1277212"/>
          </a:xfrm>
        </p:grpSpPr>
        <p:sp>
          <p:nvSpPr>
            <p:cNvPr id="11" name="Flowchart: Magnetic Disk 10">
              <a:extLst>
                <a:ext uri="{FF2B5EF4-FFF2-40B4-BE49-F238E27FC236}">
                  <a16:creationId xmlns:a16="http://schemas.microsoft.com/office/drawing/2014/main" id="{AEB73EE8-9477-4810-B49B-30DBD05A8C08}"/>
                </a:ext>
              </a:extLst>
            </p:cNvPr>
            <p:cNvSpPr/>
            <p:nvPr/>
          </p:nvSpPr>
          <p:spPr bwMode="auto">
            <a:xfrm>
              <a:off x="6545469" y="2388735"/>
              <a:ext cx="433116" cy="1277211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solidFill>
                    <a:srgbClr val="0000FF"/>
                  </a:solidFill>
                  <a:latin typeface="Helvetica" charset="0"/>
                </a:rPr>
                <a:t>Q0</a:t>
              </a:r>
              <a:endParaRPr kumimoji="0" lang="en-US" sz="16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Helvetica" charset="0"/>
              </a:endParaRP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solidFill>
                    <a:srgbClr val="FF0000"/>
                  </a:solidFill>
                  <a:latin typeface="Helvetica" charset="0"/>
                </a:rPr>
                <a:t>P1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B9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" charset="0"/>
              </a:endParaRPr>
            </a:p>
          </p:txBody>
        </p:sp>
        <p:sp>
          <p:nvSpPr>
            <p:cNvPr id="12" name="Flowchart: Magnetic Disk 11">
              <a:extLst>
                <a:ext uri="{FF2B5EF4-FFF2-40B4-BE49-F238E27FC236}">
                  <a16:creationId xmlns:a16="http://schemas.microsoft.com/office/drawing/2014/main" id="{F98390D1-EA2C-4D8A-9674-B3873E990B1F}"/>
                </a:ext>
              </a:extLst>
            </p:cNvPr>
            <p:cNvSpPr/>
            <p:nvPr/>
          </p:nvSpPr>
          <p:spPr bwMode="auto">
            <a:xfrm>
              <a:off x="7060820" y="2388735"/>
              <a:ext cx="433116" cy="1277211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B0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1" i="0" u="none" strike="noStrike" cap="none" normalizeH="0" baseline="0" dirty="0">
                  <a:ln>
                    <a:noFill/>
                  </a:ln>
                  <a:solidFill>
                    <a:srgbClr val="0000FF"/>
                  </a:solidFill>
                  <a:effectLst/>
                  <a:latin typeface="Helvetica" charset="0"/>
                </a:rPr>
                <a:t>Q1</a:t>
              </a:r>
            </a:p>
          </p:txBody>
        </p:sp>
        <p:sp>
          <p:nvSpPr>
            <p:cNvPr id="13" name="Flowchart: Magnetic Disk 12">
              <a:extLst>
                <a:ext uri="{FF2B5EF4-FFF2-40B4-BE49-F238E27FC236}">
                  <a16:creationId xmlns:a16="http://schemas.microsoft.com/office/drawing/2014/main" id="{56229348-1D8A-4DE5-BFD2-1656DAA82A3F}"/>
                </a:ext>
              </a:extLst>
            </p:cNvPr>
            <p:cNvSpPr/>
            <p:nvPr/>
          </p:nvSpPr>
          <p:spPr bwMode="auto">
            <a:xfrm>
              <a:off x="7556345" y="2388735"/>
              <a:ext cx="433116" cy="1277211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B1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B5</a:t>
              </a:r>
              <a:endParaRPr kumimoji="0" lang="en-US" sz="1600" i="0" u="none" strike="noStrike" cap="none" normalizeH="0" baseline="0" dirty="0">
                <a:ln>
                  <a:noFill/>
                </a:ln>
                <a:effectLst/>
                <a:latin typeface="Helvetica" charset="0"/>
              </a:endParaRPr>
            </a:p>
          </p:txBody>
        </p:sp>
        <p:sp>
          <p:nvSpPr>
            <p:cNvPr id="14" name="Flowchart: Magnetic Disk 13">
              <a:extLst>
                <a:ext uri="{FF2B5EF4-FFF2-40B4-BE49-F238E27FC236}">
                  <a16:creationId xmlns:a16="http://schemas.microsoft.com/office/drawing/2014/main" id="{E912F686-E42B-491B-82BB-6F28B0DE5D65}"/>
                </a:ext>
              </a:extLst>
            </p:cNvPr>
            <p:cNvSpPr/>
            <p:nvPr/>
          </p:nvSpPr>
          <p:spPr bwMode="auto">
            <a:xfrm>
              <a:off x="6018876" y="2388735"/>
              <a:ext cx="433116" cy="1277211"/>
            </a:xfrm>
            <a:prstGeom prst="flowChartMagneticDisk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solidFill>
                    <a:srgbClr val="FF0000"/>
                  </a:solidFill>
                  <a:latin typeface="Helvetica" charset="0"/>
                </a:rPr>
                <a:t>P0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effectLst/>
                  <a:latin typeface="Helvetica" charset="0"/>
                </a:rPr>
                <a:t>B4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B8</a:t>
              </a:r>
              <a:endParaRPr kumimoji="0" lang="en-US" sz="1600" i="0" u="none" strike="noStrike" cap="none" normalizeH="0" baseline="0" dirty="0">
                <a:ln>
                  <a:noFill/>
                </a:ln>
                <a:effectLst/>
                <a:latin typeface="Helvetica" charset="0"/>
              </a:endParaRPr>
            </a:p>
          </p:txBody>
        </p:sp>
        <p:sp>
          <p:nvSpPr>
            <p:cNvPr id="16" name="Flowchart: Magnetic Disk 15">
              <a:extLst>
                <a:ext uri="{FF2B5EF4-FFF2-40B4-BE49-F238E27FC236}">
                  <a16:creationId xmlns:a16="http://schemas.microsoft.com/office/drawing/2014/main" id="{B9714D0E-75B0-4C48-8243-474C2D81DD2E}"/>
                </a:ext>
              </a:extLst>
            </p:cNvPr>
            <p:cNvSpPr/>
            <p:nvPr/>
          </p:nvSpPr>
          <p:spPr bwMode="auto">
            <a:xfrm>
              <a:off x="8089547" y="2388735"/>
              <a:ext cx="433116" cy="1277211"/>
            </a:xfrm>
            <a:prstGeom prst="flowChartMagneticDisk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effectLst/>
                  <a:latin typeface="Helvetica" charset="0"/>
                </a:rPr>
                <a:t>B</a:t>
              </a:r>
              <a:r>
                <a:rPr lang="en-US" dirty="0">
                  <a:latin typeface="Helvetica" charset="0"/>
                </a:rPr>
                <a:t>2</a:t>
              </a:r>
              <a:endParaRPr kumimoji="0" lang="en-US" sz="1600" i="0" u="none" strike="noStrike" cap="none" normalizeH="0" baseline="0" dirty="0">
                <a:ln>
                  <a:noFill/>
                </a:ln>
                <a:effectLst/>
                <a:latin typeface="Helvetica" charset="0"/>
              </a:endParaRP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B6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8" name="Flowchart: Magnetic Disk 7">
              <a:extLst>
                <a:ext uri="{FF2B5EF4-FFF2-40B4-BE49-F238E27FC236}">
                  <a16:creationId xmlns:a16="http://schemas.microsoft.com/office/drawing/2014/main" id="{8D31367C-D923-41CB-B8AF-DF191C3DC641}"/>
                </a:ext>
              </a:extLst>
            </p:cNvPr>
            <p:cNvSpPr/>
            <p:nvPr/>
          </p:nvSpPr>
          <p:spPr bwMode="auto">
            <a:xfrm>
              <a:off x="8582845" y="2388734"/>
              <a:ext cx="433116" cy="1277211"/>
            </a:xfrm>
            <a:prstGeom prst="flowChartMagneticDisk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i="0" u="none" strike="noStrike" cap="none" normalizeH="0" baseline="0" dirty="0">
                  <a:ln>
                    <a:noFill/>
                  </a:ln>
                  <a:effectLst/>
                  <a:latin typeface="Helvetica" charset="0"/>
                </a:rPr>
                <a:t>B3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B7</a:t>
              </a:r>
              <a:endPara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70DB30C-9349-4DA8-BA14-7AB8A3291744}"/>
                </a:ext>
              </a:extLst>
            </p:cNvPr>
            <p:cNvSpPr txBox="1"/>
            <p:nvPr/>
          </p:nvSpPr>
          <p:spPr>
            <a:xfrm>
              <a:off x="5981054" y="2424473"/>
              <a:ext cx="30572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D0     D1      D2   D3    D4     D5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4A1A180-5BED-46D7-A25E-6934BFF1D65A}"/>
              </a:ext>
            </a:extLst>
          </p:cNvPr>
          <p:cNvSpPr txBox="1"/>
          <p:nvPr/>
        </p:nvSpPr>
        <p:spPr>
          <a:xfrm>
            <a:off x="351692" y="5598942"/>
            <a:ext cx="8628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Discussion: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Compare RAID 1, RAID 5 and RAID 6 in terms of cost, update, recovery and reliability.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1026">
            <a:extLst>
              <a:ext uri="{FF2B5EF4-FFF2-40B4-BE49-F238E27FC236}">
                <a16:creationId xmlns:a16="http://schemas.microsoft.com/office/drawing/2014/main" id="{4955EDE9-C787-4A3E-9F07-6C31C77CE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Choice of RAID Level</a:t>
            </a:r>
          </a:p>
        </p:txBody>
      </p:sp>
      <p:sp>
        <p:nvSpPr>
          <p:cNvPr id="64515" name="Rectangle 1027">
            <a:extLst>
              <a:ext uri="{FF2B5EF4-FFF2-40B4-BE49-F238E27FC236}">
                <a16:creationId xmlns:a16="http://schemas.microsoft.com/office/drawing/2014/main" id="{FAE9A1C8-33ED-46CB-831F-3CD6F08059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241571"/>
            <a:ext cx="7531221" cy="3529721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altLang="en-US" dirty="0"/>
              <a:t>Factors in choosing RAID level</a:t>
            </a:r>
          </a:p>
          <a:p>
            <a:pPr lvl="1">
              <a:lnSpc>
                <a:spcPct val="90000"/>
              </a:lnSpc>
              <a:spcAft>
                <a:spcPts val="0"/>
              </a:spcAft>
            </a:pPr>
            <a:r>
              <a:rPr lang="en-US" altLang="en-US" dirty="0">
                <a:solidFill>
                  <a:srgbClr val="002060"/>
                </a:solidFill>
              </a:rPr>
              <a:t>Monetary cost</a:t>
            </a:r>
          </a:p>
          <a:p>
            <a:pPr lvl="1">
              <a:lnSpc>
                <a:spcPct val="90000"/>
              </a:lnSpc>
              <a:spcAft>
                <a:spcPts val="0"/>
              </a:spcAft>
            </a:pPr>
            <a:r>
              <a:rPr lang="en-US" altLang="en-US" dirty="0">
                <a:solidFill>
                  <a:srgbClr val="002060"/>
                </a:solidFill>
              </a:rPr>
              <a:t>Performance</a:t>
            </a:r>
            <a:r>
              <a:rPr lang="en-US" altLang="en-US" dirty="0"/>
              <a:t>: Number of I/O operations per second, and bandwidth during normal operation</a:t>
            </a:r>
          </a:p>
          <a:p>
            <a:pPr lvl="1">
              <a:lnSpc>
                <a:spcPct val="90000"/>
              </a:lnSpc>
              <a:spcAft>
                <a:spcPts val="0"/>
              </a:spcAft>
            </a:pPr>
            <a:r>
              <a:rPr lang="en-US" altLang="en-US" dirty="0">
                <a:solidFill>
                  <a:srgbClr val="002060"/>
                </a:solidFill>
              </a:rPr>
              <a:t>Performance during failure</a:t>
            </a:r>
          </a:p>
          <a:p>
            <a:pPr lvl="1">
              <a:lnSpc>
                <a:spcPct val="90000"/>
              </a:lnSpc>
              <a:spcAft>
                <a:spcPts val="0"/>
              </a:spcAft>
            </a:pPr>
            <a:r>
              <a:rPr lang="en-US" altLang="en-US" dirty="0">
                <a:solidFill>
                  <a:srgbClr val="002060"/>
                </a:solidFill>
              </a:rPr>
              <a:t>Performance during rebuild </a:t>
            </a:r>
            <a:r>
              <a:rPr lang="en-US" altLang="en-US" dirty="0"/>
              <a:t>of failed disk</a:t>
            </a:r>
          </a:p>
          <a:p>
            <a:pPr lvl="2">
              <a:lnSpc>
                <a:spcPct val="90000"/>
              </a:lnSpc>
              <a:spcAft>
                <a:spcPts val="0"/>
              </a:spcAft>
            </a:pPr>
            <a:r>
              <a:rPr lang="en-US" altLang="en-US" dirty="0"/>
              <a:t>Including time taken to rebuild failed disk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altLang="en-US" dirty="0"/>
              <a:t>RAID 0 is used only when data safety is not important </a:t>
            </a:r>
          </a:p>
          <a:p>
            <a:pPr lvl="1">
              <a:lnSpc>
                <a:spcPct val="90000"/>
              </a:lnSpc>
              <a:spcAft>
                <a:spcPts val="0"/>
              </a:spcAft>
            </a:pPr>
            <a:r>
              <a:rPr lang="en-US" altLang="en-US" dirty="0"/>
              <a:t>E.g., data can be recovered quickly from other sources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>
            <a:extLst>
              <a:ext uri="{FF2B5EF4-FFF2-40B4-BE49-F238E27FC236}">
                <a16:creationId xmlns:a16="http://schemas.microsoft.com/office/drawing/2014/main" id="{61238607-A732-44BC-AD8B-DCCCA746B4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Choice of RAID Level (Cont.)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C0A05CCA-93C0-499C-9A8A-876F2EC7A3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8350" y="1135956"/>
            <a:ext cx="7670975" cy="4181631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altLang="en-US" sz="1800" dirty="0"/>
              <a:t>Level 1 provides much better write performance than level 5</a:t>
            </a:r>
          </a:p>
          <a:p>
            <a:pPr lvl="1">
              <a:spcAft>
                <a:spcPts val="0"/>
              </a:spcAft>
            </a:pPr>
            <a:r>
              <a:rPr lang="en-US" altLang="en-US" sz="1800" dirty="0"/>
              <a:t>Level 5 requires at least 2 block reads and 2 block writes to write a single block, whereas Level 1 only requires 2 block writes</a:t>
            </a:r>
          </a:p>
          <a:p>
            <a:pPr>
              <a:spcAft>
                <a:spcPts val="0"/>
              </a:spcAft>
            </a:pPr>
            <a:r>
              <a:rPr lang="en-US" altLang="en-US" sz="1800" dirty="0"/>
              <a:t>Level 1 had higher storage cost than level 5</a:t>
            </a:r>
          </a:p>
          <a:p>
            <a:pPr>
              <a:spcAft>
                <a:spcPts val="0"/>
              </a:spcAft>
            </a:pPr>
            <a:r>
              <a:rPr lang="en-US" altLang="en-US" sz="1800" dirty="0"/>
              <a:t>Level 5 is preferred for applications where writes are sequential and large (many blocks), and need large amounts of data storage</a:t>
            </a:r>
          </a:p>
          <a:p>
            <a:pPr>
              <a:spcAft>
                <a:spcPts val="0"/>
              </a:spcAft>
            </a:pPr>
            <a:r>
              <a:rPr lang="en-US" altLang="en-US" sz="1800" dirty="0"/>
              <a:t>RAID 1 is preferred for applications with many random/small updates</a:t>
            </a:r>
          </a:p>
          <a:p>
            <a:pPr>
              <a:spcAft>
                <a:spcPts val="0"/>
              </a:spcAft>
            </a:pPr>
            <a:r>
              <a:rPr lang="en-US" altLang="en-US" sz="1800" dirty="0"/>
              <a:t>Level 6 gives better data protection than RAID 5 since it can tolerate two disk (or disk block) failures</a:t>
            </a:r>
          </a:p>
          <a:p>
            <a:pPr lvl="1">
              <a:spcAft>
                <a:spcPts val="0"/>
              </a:spcAft>
            </a:pPr>
            <a:r>
              <a:rPr lang="en-US" altLang="en-US" sz="1800" dirty="0"/>
              <a:t>Increasing in importance since latent block failures on one disk, coupled with a failure of another disk can result in data loss with RAID 1 and RAID 5.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624E502-2F50-BFC5-CEB1-796901131952}"/>
                  </a:ext>
                </a:extLst>
              </p14:cNvPr>
              <p14:cNvContentPartPr/>
              <p14:nvPr/>
            </p14:nvContentPartPr>
            <p14:xfrm>
              <a:off x="1393200" y="2786040"/>
              <a:ext cx="7412040" cy="2286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624E502-2F50-BFC5-CEB1-7969011319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83840" y="2776680"/>
                <a:ext cx="7430760" cy="230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93495</TotalTime>
  <Words>2511</Words>
  <Application>Microsoft Office PowerPoint</Application>
  <PresentationFormat>On-screen Show (4:3)</PresentationFormat>
  <Paragraphs>413</Paragraphs>
  <Slides>23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  <vt:variant>
        <vt:lpstr>Custom Shows</vt:lpstr>
      </vt:variant>
      <vt:variant>
        <vt:i4>1</vt:i4>
      </vt:variant>
    </vt:vector>
  </HeadingPairs>
  <TitlesOfParts>
    <vt:vector size="34" baseType="lpstr">
      <vt:lpstr>Arial</vt:lpstr>
      <vt:lpstr>Arial</vt:lpstr>
      <vt:lpstr>Calibri</vt:lpstr>
      <vt:lpstr>Courier New</vt:lpstr>
      <vt:lpstr>Helvetica</vt:lpstr>
      <vt:lpstr>Monotype Sorts</vt:lpstr>
      <vt:lpstr>Times New Roman</vt:lpstr>
      <vt:lpstr>Webdings</vt:lpstr>
      <vt:lpstr>Wingdings</vt:lpstr>
      <vt:lpstr>2_db-5-grey</vt:lpstr>
      <vt:lpstr>CSE215: Database     Dr. Abu Sayed Md. Latiful Hoque Professor Dept. of CSE, BUET Contact: 01556346357 asmlatifulhoque@cse.buet.ac.bd</vt:lpstr>
      <vt:lpstr>Course Methodology</vt:lpstr>
      <vt:lpstr>Content</vt:lpstr>
      <vt:lpstr>Classification of Physical Storage Media</vt:lpstr>
      <vt:lpstr>Storage Hierarchy</vt:lpstr>
      <vt:lpstr>Magnetic Hard Disk Mechanism</vt:lpstr>
      <vt:lpstr>Magnetic Hard Disk Mechanism</vt:lpstr>
      <vt:lpstr>Magnetic Hard Disk Mechanism</vt:lpstr>
      <vt:lpstr>Performance Measures of Disks</vt:lpstr>
      <vt:lpstr>Performance Measures of Disks</vt:lpstr>
      <vt:lpstr>Performance Measures of Disks</vt:lpstr>
      <vt:lpstr>Performance Measures of Disks</vt:lpstr>
      <vt:lpstr>RAID</vt:lpstr>
      <vt:lpstr>Improvement in Performance via Parallelism</vt:lpstr>
      <vt:lpstr>Improvement in Performance via Parallelism</vt:lpstr>
      <vt:lpstr>RAID Levels</vt:lpstr>
      <vt:lpstr>RAID Levels </vt:lpstr>
      <vt:lpstr>RAID Levels (Cont.)</vt:lpstr>
      <vt:lpstr>RAID Levels (Cont.)</vt:lpstr>
      <vt:lpstr>RAID Levels (Cont.)</vt:lpstr>
      <vt:lpstr>RAID Levels (Cont.)</vt:lpstr>
      <vt:lpstr>Choice of RAID Level</vt:lpstr>
      <vt:lpstr>Choice of RAID Level (Cont.)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User</cp:lastModifiedBy>
  <cp:revision>525</cp:revision>
  <cp:lastPrinted>1999-06-28T19:27:31Z</cp:lastPrinted>
  <dcterms:created xsi:type="dcterms:W3CDTF">2009-12-21T15:40:22Z</dcterms:created>
  <dcterms:modified xsi:type="dcterms:W3CDTF">2022-09-15T14:05:35Z</dcterms:modified>
</cp:coreProperties>
</file>