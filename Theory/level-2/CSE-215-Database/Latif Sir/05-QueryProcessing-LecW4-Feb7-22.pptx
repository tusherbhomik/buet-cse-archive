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21" r:id="rId1"/>
  </p:sldMasterIdLst>
  <p:notesMasterIdLst>
    <p:notesMasterId r:id="rId57"/>
  </p:notesMasterIdLst>
  <p:handoutMasterIdLst>
    <p:handoutMasterId r:id="rId58"/>
  </p:handoutMasterIdLst>
  <p:sldIdLst>
    <p:sldId id="346" r:id="rId2"/>
    <p:sldId id="256" r:id="rId3"/>
    <p:sldId id="257" r:id="rId4"/>
    <p:sldId id="258" r:id="rId5"/>
    <p:sldId id="259" r:id="rId6"/>
    <p:sldId id="365" r:id="rId7"/>
    <p:sldId id="335" r:id="rId8"/>
    <p:sldId id="262" r:id="rId9"/>
    <p:sldId id="354" r:id="rId10"/>
    <p:sldId id="366" r:id="rId11"/>
    <p:sldId id="263" r:id="rId12"/>
    <p:sldId id="368" r:id="rId13"/>
    <p:sldId id="268" r:id="rId14"/>
    <p:sldId id="372" r:id="rId15"/>
    <p:sldId id="370" r:id="rId16"/>
    <p:sldId id="369" r:id="rId17"/>
    <p:sldId id="373" r:id="rId18"/>
    <p:sldId id="381" r:id="rId19"/>
    <p:sldId id="382" r:id="rId20"/>
    <p:sldId id="350" r:id="rId21"/>
    <p:sldId id="374" r:id="rId22"/>
    <p:sldId id="377" r:id="rId23"/>
    <p:sldId id="375" r:id="rId24"/>
    <p:sldId id="378" r:id="rId25"/>
    <p:sldId id="383" r:id="rId26"/>
    <p:sldId id="270" r:id="rId27"/>
    <p:sldId id="379" r:id="rId28"/>
    <p:sldId id="380" r:id="rId29"/>
    <p:sldId id="392" r:id="rId30"/>
    <p:sldId id="393" r:id="rId31"/>
    <p:sldId id="394" r:id="rId32"/>
    <p:sldId id="271" r:id="rId33"/>
    <p:sldId id="384" r:id="rId34"/>
    <p:sldId id="395" r:id="rId35"/>
    <p:sldId id="396" r:id="rId36"/>
    <p:sldId id="385" r:id="rId37"/>
    <p:sldId id="397" r:id="rId38"/>
    <p:sldId id="386" r:id="rId39"/>
    <p:sldId id="387" r:id="rId40"/>
    <p:sldId id="398" r:id="rId41"/>
    <p:sldId id="272" r:id="rId42"/>
    <p:sldId id="389" r:id="rId43"/>
    <p:sldId id="390" r:id="rId44"/>
    <p:sldId id="399" r:id="rId45"/>
    <p:sldId id="391" r:id="rId46"/>
    <p:sldId id="275" r:id="rId47"/>
    <p:sldId id="277" r:id="rId48"/>
    <p:sldId id="276" r:id="rId49"/>
    <p:sldId id="400" r:id="rId50"/>
    <p:sldId id="401" r:id="rId51"/>
    <p:sldId id="402" r:id="rId52"/>
    <p:sldId id="403" r:id="rId53"/>
    <p:sldId id="404" r:id="rId54"/>
    <p:sldId id="405" r:id="rId55"/>
    <p:sldId id="406" r:id="rId56"/>
  </p:sldIdLst>
  <p:sldSz cx="9144000" cy="6858000" type="screen4x3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Helvetica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34">
          <p15:clr>
            <a:srgbClr val="A4A3A4"/>
          </p15:clr>
        </p15:guide>
        <p15:guide id="2" pos="53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33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1460" y="24"/>
      </p:cViewPr>
      <p:guideLst>
        <p:guide orient="horz" pos="734"/>
        <p:guide pos="53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. Abu Sayed Md. Latiful Hoque" userId="5174d372-da8e-4762-8a92-00f46e4b9073" providerId="ADAL" clId="{1BA38CEA-0E00-42A0-9E41-77A72297373A}"/>
    <pc:docChg chg="modSld">
      <pc:chgData name="Dr. Abu Sayed Md. Latiful Hoque" userId="5174d372-da8e-4762-8a92-00f46e4b9073" providerId="ADAL" clId="{1BA38CEA-0E00-42A0-9E41-77A72297373A}" dt="2022-08-06T06:51:27.746" v="9" actId="20577"/>
      <pc:docMkLst>
        <pc:docMk/>
      </pc:docMkLst>
      <pc:sldChg chg="modSp mod">
        <pc:chgData name="Dr. Abu Sayed Md. Latiful Hoque" userId="5174d372-da8e-4762-8a92-00f46e4b9073" providerId="ADAL" clId="{1BA38CEA-0E00-42A0-9E41-77A72297373A}" dt="2022-08-06T06:49:47.886" v="4" actId="20577"/>
        <pc:sldMkLst>
          <pc:docMk/>
          <pc:sldMk cId="3764029480" sldId="382"/>
        </pc:sldMkLst>
        <pc:spChg chg="mod">
          <ac:chgData name="Dr. Abu Sayed Md. Latiful Hoque" userId="5174d372-da8e-4762-8a92-00f46e4b9073" providerId="ADAL" clId="{1BA38CEA-0E00-42A0-9E41-77A72297373A}" dt="2022-08-06T06:49:47.886" v="4" actId="20577"/>
          <ac:spMkLst>
            <pc:docMk/>
            <pc:sldMk cId="3764029480" sldId="382"/>
            <ac:spMk id="316419" creationId="{69273CB8-BC00-402F-AF16-C1D9F91D07A6}"/>
          </ac:spMkLst>
        </pc:spChg>
      </pc:sldChg>
      <pc:sldChg chg="modSp mod">
        <pc:chgData name="Dr. Abu Sayed Md. Latiful Hoque" userId="5174d372-da8e-4762-8a92-00f46e4b9073" providerId="ADAL" clId="{1BA38CEA-0E00-42A0-9E41-77A72297373A}" dt="2022-08-06T06:51:27.746" v="9" actId="20577"/>
        <pc:sldMkLst>
          <pc:docMk/>
          <pc:sldMk cId="3361983984" sldId="394"/>
        </pc:sldMkLst>
        <pc:spChg chg="mod">
          <ac:chgData name="Dr. Abu Sayed Md. Latiful Hoque" userId="5174d372-da8e-4762-8a92-00f46e4b9073" providerId="ADAL" clId="{1BA38CEA-0E00-42A0-9E41-77A72297373A}" dt="2022-08-06T06:51:27.746" v="9" actId="20577"/>
          <ac:spMkLst>
            <pc:docMk/>
            <pc:sldMk cId="3361983984" sldId="394"/>
            <ac:spMk id="318467" creationId="{C20946C2-54EF-43A4-BEEE-FF0078C6C2C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58" name="Rectangle 2">
            <a:extLst>
              <a:ext uri="{FF2B5EF4-FFF2-40B4-BE49-F238E27FC236}">
                <a16:creationId xmlns:a16="http://schemas.microsoft.com/office/drawing/2014/main" id="{0FBDC9D0-A016-41F3-B44A-F8BD82360C1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59" name="Rectangle 3">
            <a:extLst>
              <a:ext uri="{FF2B5EF4-FFF2-40B4-BE49-F238E27FC236}">
                <a16:creationId xmlns:a16="http://schemas.microsoft.com/office/drawing/2014/main" id="{90805737-772D-46C8-8FC5-72B9150410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t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0" name="Rectangle 4">
            <a:extLst>
              <a:ext uri="{FF2B5EF4-FFF2-40B4-BE49-F238E27FC236}">
                <a16:creationId xmlns:a16="http://schemas.microsoft.com/office/drawing/2014/main" id="{2B4D82F3-758C-404E-BA35-55A8245BE5E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Helvetica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3461" name="Rectangle 5">
            <a:extLst>
              <a:ext uri="{FF2B5EF4-FFF2-40B4-BE49-F238E27FC236}">
                <a16:creationId xmlns:a16="http://schemas.microsoft.com/office/drawing/2014/main" id="{CEA8EB95-7681-446E-87F9-995081C1C77A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 smtClean="0"/>
            </a:lvl1pPr>
          </a:lstStyle>
          <a:p>
            <a:pPr>
              <a:defRPr/>
            </a:pPr>
            <a:fld id="{119CE09D-DE5D-44E4-9C09-1DDE59E2318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72982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898E0D3-1A41-4691-A625-AF7F351F13E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B4B08679-B338-489C-813C-600C2DE9FDA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>
            <a:lvl1pPr algn="r"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1642E38-6AA8-4B51-B9D4-9F6079596819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C8C496AA-20BD-4C43-8228-817031E6EB2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1863" y="4410075"/>
            <a:ext cx="513397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19F9A61A-F657-4467-A0C2-3815362698A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defTabSz="930275">
              <a:defRPr sz="1300"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309E66B4-D60F-4547-A5B6-DE99FA98F9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3027" tIns="46514" rIns="93027" bIns="46514" numCol="1" anchor="b" anchorCtr="0" compatLnSpc="1">
            <a:prstTxWarp prst="textNoShape">
              <a:avLst/>
            </a:prstTxWarp>
          </a:bodyPr>
          <a:lstStyle>
            <a:lvl1pPr algn="r" defTabSz="930275">
              <a:defRPr sz="13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8234170D-4C15-4DC8-9E93-2CEDAB1F13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280900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charset="0"/>
        <a:cs typeface="MS PGothic" charset="0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3D2B6151-4749-434D-A485-87732FD429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3A3D47C1-E4FD-456D-8E85-26A0FB5C6A9E}" type="slidenum">
              <a:rPr lang="en-US" altLang="en-US" sz="1300"/>
              <a:pPr>
                <a:spcBef>
                  <a:spcPct val="0"/>
                </a:spcBef>
              </a:pPr>
              <a:t>1</a:t>
            </a:fld>
            <a:endParaRPr lang="en-US" altLang="en-US" sz="1300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1C1FFEAB-6ADA-430E-AAC3-C7AAF1F36F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9513" y="696913"/>
            <a:ext cx="4641850" cy="3481387"/>
          </a:xfrm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F1686CFA-0F99-4BB6-8074-F9A2F917C0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69919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FDF6E270-062A-4B6B-9E73-A7EE028C78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18BB0E7-2398-4769-8733-666D1E41A670}" type="slidenum">
              <a:rPr lang="en-US" altLang="en-US" sz="1300"/>
              <a:pPr>
                <a:spcBef>
                  <a:spcPct val="0"/>
                </a:spcBef>
              </a:pPr>
              <a:t>2</a:t>
            </a:fld>
            <a:endParaRPr lang="en-US" altLang="en-US" sz="13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D9F3026B-AB87-4F2D-894D-708EB8DEFE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F984C1A4-2D0A-4235-82CF-89A1FC1FB9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898373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E6A61727-5893-4388-9008-C2143E22BC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F81E613-5591-4D23-A0A6-D6157730738E}" type="slidenum">
              <a:rPr lang="en-US" altLang="en-US" sz="1300"/>
              <a:pPr>
                <a:spcBef>
                  <a:spcPct val="0"/>
                </a:spcBef>
              </a:pPr>
              <a:t>3</a:t>
            </a:fld>
            <a:endParaRPr lang="en-US" altLang="en-US" sz="13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C8BFB265-E11E-47B2-BE6B-C8A9F6A3E1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F62FBC9D-FE5C-4325-9C3D-F324D70ADD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3871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5548085A-D25E-4939-827D-300A7A3392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9029481-F7C6-4D7E-8CCD-B0BD43431326}" type="slidenum">
              <a:rPr lang="en-US" altLang="en-US" sz="1300"/>
              <a:pPr>
                <a:spcBef>
                  <a:spcPct val="0"/>
                </a:spcBef>
              </a:pPr>
              <a:t>4</a:t>
            </a:fld>
            <a:endParaRPr lang="en-US" altLang="en-US" sz="13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01124E80-D0DC-4932-B542-DFB39974423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166882AB-D16E-4B3F-A02D-193DE371D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4375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DE17B393-09EE-42C6-A794-9E1A41A497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0C90ED3-6162-407E-8955-73C5104A025A}" type="slidenum">
              <a:rPr lang="en-US" altLang="en-US" sz="1300"/>
              <a:pPr>
                <a:spcBef>
                  <a:spcPct val="0"/>
                </a:spcBef>
              </a:pPr>
              <a:t>5</a:t>
            </a:fld>
            <a:endParaRPr lang="en-US" altLang="en-US" sz="13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5DAEE99-CE43-408C-877F-41745DB239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D60ADDD-A532-4486-9CBB-71BEDF5B0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35558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DE17B393-09EE-42C6-A794-9E1A41A497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0C90ED3-6162-407E-8955-73C5104A025A}" type="slidenum">
              <a:rPr lang="en-US" altLang="en-US" sz="1300"/>
              <a:pPr>
                <a:spcBef>
                  <a:spcPct val="0"/>
                </a:spcBef>
              </a:pPr>
              <a:t>6</a:t>
            </a:fld>
            <a:endParaRPr lang="en-US" altLang="en-US" sz="13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35DAEE99-CE43-408C-877F-41745DB239C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D60ADDD-A532-4486-9CBB-71BEDF5B0C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3111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4B95BF98-7E43-4891-90E1-9BAA59B9C3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C56A9B6-8725-447A-9321-4854013A78C1}" type="slidenum">
              <a:rPr lang="en-US" altLang="en-US" sz="1300"/>
              <a:pPr>
                <a:spcBef>
                  <a:spcPct val="0"/>
                </a:spcBef>
              </a:pPr>
              <a:t>7</a:t>
            </a:fld>
            <a:endParaRPr lang="en-US" altLang="en-US" sz="13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FDC555F4-958C-4FD7-9960-339F2A0591F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EB175AFF-3A9E-4C16-BE72-C67C1E34A7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197211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B018FC6-A18B-483C-BE16-4EB57B097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  <a:pPr>
                <a:spcBef>
                  <a:spcPct val="0"/>
                </a:spcBef>
              </a:pPr>
              <a:t>8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EE88452-27C0-4AD7-9B5D-2515CDDD1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65C40A-9510-4842-BAD9-86FA0C41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3812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B018FC6-A18B-483C-BE16-4EB57B097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  <a:pPr>
                <a:spcBef>
                  <a:spcPct val="0"/>
                </a:spcBef>
              </a:pPr>
              <a:t>9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EE88452-27C0-4AD7-9B5D-2515CDDD1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65C40A-9510-4842-BAD9-86FA0C41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451920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B018FC6-A18B-483C-BE16-4EB57B0978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DCEE227-C4C1-4C1C-8DC1-0B7584949BF1}" type="slidenum">
              <a:rPr lang="en-US" altLang="en-US" sz="1300"/>
              <a:pPr>
                <a:spcBef>
                  <a:spcPct val="0"/>
                </a:spcBef>
              </a:pPr>
              <a:t>10</a:t>
            </a:fld>
            <a:endParaRPr lang="en-US" altLang="en-US" sz="1300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DEE88452-27C0-4AD7-9B5D-2515CDDD14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CE65C40A-9510-4842-BAD9-86FA0C417D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269098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88F6301-714C-4FE8-91A7-DFAF60BA9F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5F1E2AE-1C39-46EC-B503-AA16A34FF476}" type="slidenum">
              <a:rPr lang="en-US" altLang="en-US" sz="1300"/>
              <a:pPr>
                <a:spcBef>
                  <a:spcPct val="0"/>
                </a:spcBef>
              </a:pPr>
              <a:t>11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8E4A80F-EA86-483A-9CCF-9DEFC2C5BC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486AFF1-D1FF-48A8-93A6-6BA573FA0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31549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388F6301-714C-4FE8-91A7-DFAF60BA9F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5F1E2AE-1C39-46EC-B503-AA16A34FF476}" type="slidenum">
              <a:rPr lang="en-US" altLang="en-US" sz="1300"/>
              <a:pPr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78E4A80F-EA86-483A-9CCF-9DEFC2C5BC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3486AFF1-D1FF-48A8-93A6-6BA573FA0D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1019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13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298103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23114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16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43517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17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36437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18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8082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B0B097C5-D41A-489F-BD28-B47D5FC647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16EDCCF-D6B5-458B-A937-6F50AC02D764}" type="slidenum">
              <a:rPr lang="en-US" altLang="en-US" sz="1300"/>
              <a:pPr>
                <a:spcBef>
                  <a:spcPct val="0"/>
                </a:spcBef>
              </a:pPr>
              <a:t>19</a:t>
            </a:fld>
            <a:endParaRPr lang="en-US" altLang="en-US" sz="13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B4B0AB2B-B914-46AE-945B-4F2A259734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7C0904-AD6D-4E15-8AE5-8A8E9C822C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344577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20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224494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21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260403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22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861156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23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52182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24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3254850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D2038342-6288-4651-9671-9D89FA2AE43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3027" tIns="46514" rIns="93027" bIns="46514" anchor="b"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r">
              <a:spcBef>
                <a:spcPct val="0"/>
              </a:spcBef>
            </a:pPr>
            <a:fld id="{E3602458-8836-4AD1-87A4-E1AAEB3E336F}" type="slidenum">
              <a:rPr lang="en-US" altLang="en-US" sz="1300"/>
              <a:pPr algn="r">
                <a:spcBef>
                  <a:spcPct val="0"/>
                </a:spcBef>
              </a:pPr>
              <a:t>25</a:t>
            </a:fld>
            <a:endParaRPr lang="en-US" altLang="en-US" sz="13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DD5E2B09-55A3-403F-BD5D-6EECB59583B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F307FE91-BCEE-4B69-8A93-00729E07FD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999342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26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6832729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27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676481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28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957920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29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677110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30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9507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F2F1CBD7-8837-4FFA-9E6E-4349DD3C65E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2308957-54A5-4376-9A4F-A60FE6483F77}" type="slidenum">
              <a:rPr lang="en-US" altLang="en-US" sz="1300"/>
              <a:pPr>
                <a:spcBef>
                  <a:spcPct val="0"/>
                </a:spcBef>
              </a:pPr>
              <a:t>31</a:t>
            </a:fld>
            <a:endParaRPr lang="en-US" altLang="en-US" sz="13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CC7B13C-5BC4-425A-AD43-DC98560C86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AAD995C5-919A-47D2-B5B1-A305E128C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768841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32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6268843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33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5469257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34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525038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35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020762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36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939158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37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533538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38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923503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39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37924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304C020A-81DD-4F0E-9E1E-11E9EFBBBD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851C2DE-767C-41B7-9020-9E12854B3373}" type="slidenum">
              <a:rPr lang="en-US" altLang="en-US" sz="1300"/>
              <a:pPr>
                <a:spcBef>
                  <a:spcPct val="0"/>
                </a:spcBef>
              </a:pPr>
              <a:t>40</a:t>
            </a:fld>
            <a:endParaRPr lang="en-US" altLang="en-US" sz="1300"/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D1FDE96-53BB-40AB-A363-C3E2527FDF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C5DBAFAE-DC9F-4DE5-8A89-6D3291897A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6156031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ECC9BF4-EEC8-47FC-B870-5C9260A27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  <a:pPr>
                <a:spcBef>
                  <a:spcPct val="0"/>
                </a:spcBef>
              </a:pPr>
              <a:t>41</a:t>
            </a:fld>
            <a:endParaRPr lang="en-US" altLang="en-US" sz="13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DF1AAE9-CC1A-4AE4-BF11-36BB06A0B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00FF708-9969-45FD-835E-508CFA1A8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2750377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ECC9BF4-EEC8-47FC-B870-5C9260A27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  <a:pPr>
                <a:spcBef>
                  <a:spcPct val="0"/>
                </a:spcBef>
              </a:pPr>
              <a:t>42</a:t>
            </a:fld>
            <a:endParaRPr lang="en-US" altLang="en-US" sz="13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DF1AAE9-CC1A-4AE4-BF11-36BB06A0B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00FF708-9969-45FD-835E-508CFA1A8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6600287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ECC9BF4-EEC8-47FC-B870-5C9260A27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  <a:pPr>
                <a:spcBef>
                  <a:spcPct val="0"/>
                </a:spcBef>
              </a:pPr>
              <a:t>43</a:t>
            </a:fld>
            <a:endParaRPr lang="en-US" altLang="en-US" sz="13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DF1AAE9-CC1A-4AE4-BF11-36BB06A0B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00FF708-9969-45FD-835E-508CFA1A8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188042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3ECC9BF4-EEC8-47FC-B870-5C9260A27B1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200FCA9-0AFE-43A5-B670-BA67FF0B6439}" type="slidenum">
              <a:rPr lang="en-US" altLang="en-US" sz="1300"/>
              <a:pPr>
                <a:spcBef>
                  <a:spcPct val="0"/>
                </a:spcBef>
              </a:pPr>
              <a:t>45</a:t>
            </a:fld>
            <a:endParaRPr lang="en-US" altLang="en-US" sz="13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BDF1AAE9-CC1A-4AE4-BF11-36BB06A0B7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400FF708-9969-45FD-835E-508CFA1A88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0714271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24C0E946-5AD3-45F8-ACED-33EBCE4BF1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AC1C478-0C20-4F9F-8BF1-079F4453B4F1}" type="slidenum">
              <a:rPr lang="en-US" altLang="en-US" sz="1300"/>
              <a:pPr>
                <a:spcBef>
                  <a:spcPct val="0"/>
                </a:spcBef>
              </a:pPr>
              <a:t>46</a:t>
            </a:fld>
            <a:endParaRPr lang="en-US" altLang="en-US" sz="13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1D3F2765-981A-499E-95AC-CF3808A73CA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E41FBC5B-83A2-4A9A-A1B0-28128EFEA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0623824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D13A4289-C234-4822-8F80-7601168370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EE679EC6-AB91-4B19-8CF1-6882286BA947}" type="slidenum">
              <a:rPr lang="en-US" altLang="en-US" sz="1300"/>
              <a:pPr>
                <a:spcBef>
                  <a:spcPct val="0"/>
                </a:spcBef>
              </a:pPr>
              <a:t>47</a:t>
            </a:fld>
            <a:endParaRPr lang="en-US" altLang="en-US" sz="130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B387304B-D3DF-4E38-92DB-5D4BCE46F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3BB620EF-1AE8-4EBF-9C1B-4CAA366782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6177501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48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2118165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49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9776558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50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2917544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51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045412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52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3045412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53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690163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54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9703515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E4FACB74-B50C-4B06-A5A5-20D32363EF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defTabSz="930275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E339563-2C98-4B93-83E5-CC098119E216}" type="slidenum">
              <a:rPr lang="en-US" altLang="en-US" sz="1300"/>
              <a:pPr>
                <a:spcBef>
                  <a:spcPct val="0"/>
                </a:spcBef>
              </a:pPr>
              <a:t>55</a:t>
            </a:fld>
            <a:endParaRPr lang="en-US" altLang="en-US" sz="13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E79773B1-5152-4D10-B216-B822905163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B198145A-44FC-4096-9FC2-904B77DA0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7040886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db-book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 sz="2800"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0418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2" y="1102497"/>
            <a:ext cx="8014277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42D457B-4574-44A7-82F5-364A95AA256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1BFAE-C44B-49AE-8C45-A7AABAAB5FEE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4264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447471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4863" y="4073662"/>
            <a:ext cx="7772400" cy="1500187"/>
          </a:xfrm>
        </p:spPr>
        <p:txBody>
          <a:bodyPr anchor="b"/>
          <a:lstStyle>
            <a:lvl1pPr marL="342900" indent="-342900">
              <a:buFont typeface="Wingdings" panose="05000000000000000000" pitchFamily="2" charset="2"/>
              <a:buChar char="§"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833A2CD-6A4B-4240-88F1-B4D7FEB50A7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BBE0E1-96FA-42C8-A339-7F81B98D396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74804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C4FAFEB-DA24-40E3-81A3-2C7117781D6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E86E211-15D2-459B-B331-A82FFB150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24" y="1102497"/>
            <a:ext cx="3985352" cy="5367972"/>
          </a:xfrm>
        </p:spPr>
        <p:txBody>
          <a:bodyPr/>
          <a:lstStyle>
            <a:lvl1pPr marL="342900" indent="-342900">
              <a:buSzPct val="110000"/>
              <a:buFont typeface="Wingdings" panose="05000000000000000000" pitchFamily="2" charset="2"/>
              <a:buChar char="§"/>
              <a:defRPr sz="1700"/>
            </a:lvl1pPr>
            <a:lvl2pPr marL="742950" indent="-285750">
              <a:buSzPct val="110000"/>
              <a:buFont typeface="Arial" panose="020B0604020202020204" pitchFamily="34" charset="0"/>
              <a:buChar char="•"/>
              <a:defRPr sz="1700"/>
            </a:lvl2pPr>
            <a:lvl3pPr marL="1085850" indent="-228600">
              <a:buSzPct val="100000"/>
              <a:buFont typeface="Wingdings" panose="05000000000000000000" pitchFamily="2" charset="2"/>
              <a:buChar char="§"/>
              <a:defRPr sz="1700"/>
            </a:lvl3pPr>
            <a:lvl4pPr marL="1428750" indent="-228600">
              <a:buFont typeface="Arial" panose="020B0604020202020204" pitchFamily="34" charset="0"/>
              <a:buChar char="•"/>
              <a:defRPr sz="1700"/>
            </a:lvl4pPr>
            <a:lvl5pPr marL="1771650" indent="-228600">
              <a:buSzPct val="100000"/>
              <a:buFont typeface="Wingdings" panose="05000000000000000000" pitchFamily="2" charset="2"/>
              <a:buChar char="§"/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28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42096E68-496F-4499-93E9-D10C62B93D1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023997-F532-4D5B-B2F3-9E05A41D497B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348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8A17BCC-393D-48FB-8CCD-31D1E0C6FA4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649892-EB20-4383-9D6A-6D1ED2147F7F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9328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>
            <a:extLst>
              <a:ext uri="{FF2B5EF4-FFF2-40B4-BE49-F238E27FC236}">
                <a16:creationId xmlns:a16="http://schemas.microsoft.com/office/drawing/2014/main" id="{A54EDB4F-7D4C-4F34-9AD3-169F9858A5E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71689-3C51-413B-9388-DDBA7E74E1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117331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A8DFBA5-2441-4C97-8340-430BD863557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D7985-991B-46C7-A32A-6942E2DB1188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70858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8B4ACE8-FA36-4C9A-B2D0-93D5FB40D30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9FD90-85FD-43B3-9F6B-6E3DF5251AE4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651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677CD6D-A5E2-4543-81E0-D97745649CE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078238-A850-4F7F-9FB2-C7F3ED51152A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8907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>
            <a:lvl1pPr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D4BD1A-4145-49C3-8D7D-1F956B7603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75237-B0F8-4D27-B8AA-EA0E8F7832E5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09950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0" y="117475"/>
            <a:ext cx="8077200" cy="609600"/>
          </a:xfr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1700"/>
            </a:lvl1pPr>
            <a:lvl2pPr>
              <a:defRPr sz="1700"/>
            </a:lvl2pPr>
            <a:lvl3pPr>
              <a:defRPr sz="1700"/>
            </a:lvl3pPr>
            <a:lvl4pPr>
              <a:defRPr sz="1700"/>
            </a:lvl4pPr>
            <a:lvl5pPr>
              <a:defRPr sz="17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7C2D5D2-FFA8-4B97-9D6C-DF120847B51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221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E2D77BB-A1E3-4E40-9A08-249BCF8B85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6133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053C40E-D8FC-4564-9F45-CF1A7087346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7</a:t>
            </a: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2D242F4-2B18-4F93-AF83-C0B3D393143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4" y="0"/>
            <a:ext cx="1331912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924340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7">
            <a:extLst>
              <a:ext uri="{FF2B5EF4-FFF2-40B4-BE49-F238E27FC236}">
                <a16:creationId xmlns:a16="http://schemas.microsoft.com/office/drawing/2014/main" id="{6AB433D2-BE84-467A-82DB-DBFCF9F936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4938" y="5726113"/>
            <a:ext cx="3694112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/>
            <a:ext uri="{91240B29-F687-4f45-9708-019B960494DF}"/>
          </a:extLst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b="1" dirty="0">
                <a:solidFill>
                  <a:srgbClr val="002060"/>
                </a:solidFill>
              </a:rPr>
              <a:t>Database System Concepts, 7</a:t>
            </a:r>
            <a:r>
              <a:rPr lang="en-US" altLang="en-US" b="1" baseline="30000" dirty="0">
                <a:solidFill>
                  <a:srgbClr val="002060"/>
                </a:solidFill>
              </a:rPr>
              <a:t>th</a:t>
            </a:r>
            <a:r>
              <a:rPr lang="en-US" altLang="en-US" b="1" dirty="0">
                <a:solidFill>
                  <a:srgbClr val="002060"/>
                </a:solidFill>
              </a:rPr>
              <a:t> Ed</a:t>
            </a:r>
            <a:r>
              <a:rPr lang="en-US" altLang="en-US" dirty="0">
                <a:solidFill>
                  <a:srgbClr val="002060"/>
                </a:solidFill>
              </a:rPr>
              <a:t>.</a:t>
            </a:r>
          </a:p>
          <a:p>
            <a:pPr algn="ctr">
              <a:spcBef>
                <a:spcPct val="50000"/>
              </a:spcBef>
              <a:defRPr/>
            </a:pPr>
            <a:r>
              <a:rPr lang="en-US" altLang="en-US" sz="1200" b="1" dirty="0">
                <a:solidFill>
                  <a:srgbClr val="002060"/>
                </a:solidFill>
              </a:rPr>
              <a:t>©Silberschatz, </a:t>
            </a:r>
            <a:r>
              <a:rPr lang="en-US" altLang="en-US" sz="1200" b="1" dirty="0" err="1">
                <a:solidFill>
                  <a:srgbClr val="002060"/>
                </a:solidFill>
              </a:rPr>
              <a:t>Korth</a:t>
            </a:r>
            <a:r>
              <a:rPr lang="en-US" altLang="en-US" sz="1200" b="1" dirty="0">
                <a:solidFill>
                  <a:srgbClr val="002060"/>
                </a:solidFill>
              </a:rPr>
              <a:t> and Sudarshan</a:t>
            </a:r>
            <a:br>
              <a:rPr lang="en-US" altLang="en-US" sz="1200" b="1" dirty="0">
                <a:solidFill>
                  <a:srgbClr val="002060"/>
                </a:solidFill>
              </a:rPr>
            </a:br>
            <a:r>
              <a:rPr lang="en-US" altLang="en-US" sz="1200" b="1" dirty="0">
                <a:solidFill>
                  <a:srgbClr val="002060"/>
                </a:solidFill>
              </a:rPr>
              <a:t>See </a:t>
            </a:r>
            <a:r>
              <a:rPr lang="en-US" altLang="en-US" sz="1200" b="1" dirty="0">
                <a:solidFill>
                  <a:srgbClr val="002060"/>
                </a:solidFill>
                <a:hlinkClick r:id="rId2"/>
              </a:rPr>
              <a:t>www.db-book.com</a:t>
            </a:r>
            <a:r>
              <a:rPr lang="en-US" altLang="en-US" sz="1200" b="1" dirty="0">
                <a:solidFill>
                  <a:srgbClr val="002060"/>
                </a:solidFill>
              </a:rPr>
              <a:t> for conditions on re-use </a:t>
            </a:r>
          </a:p>
        </p:txBody>
      </p:sp>
      <p:sp>
        <p:nvSpPr>
          <p:cNvPr id="48742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1BECEEC-3BC9-4D4E-99DA-2E5AA457848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 bwMode="auto">
          <a:xfrm>
            <a:off x="2862263" y="5780088"/>
            <a:ext cx="344805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>
                <a:solidFill>
                  <a:srgbClr val="578963"/>
                </a:solidFill>
                <a:latin typeface="Times New Roman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5B7FE48-B4A0-4404-A94E-2D4837BDAD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xfrm>
            <a:off x="6596063" y="6218238"/>
            <a:ext cx="1905000" cy="457200"/>
          </a:xfrm>
        </p:spPr>
        <p:txBody>
          <a:bodyPr/>
          <a:lstStyle>
            <a:lvl1pPr>
              <a:defRPr smtClean="0"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441F42D0-7627-45E8-BCAB-6293FCFFA6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9" name="Picture 8" descr="Cover-6Ed"/>
          <p:cNvPicPr>
            <a:picLocks noChangeAspect="1" noChangeArrowheads="1"/>
          </p:cNvPicPr>
          <p:nvPr userDrawn="1"/>
        </p:nvPicPr>
        <p:blipFill>
          <a:blip r:embed="rId3"/>
          <a:stretch>
            <a:fillRect/>
          </a:stretch>
        </p:blipFill>
        <p:spPr bwMode="auto">
          <a:xfrm>
            <a:off x="0" y="12336"/>
            <a:ext cx="1331269" cy="1700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7714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0B05D94-0FBF-40E0-A0E2-9EC3FEAB3C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14388" y="1093788"/>
            <a:ext cx="7661275" cy="490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US" altLang="en-US" dirty="0"/>
          </a:p>
        </p:txBody>
      </p:sp>
      <p:sp>
        <p:nvSpPr>
          <p:cNvPr id="486403" name="Rectangle 3">
            <a:extLst>
              <a:ext uri="{FF2B5EF4-FFF2-40B4-BE49-F238E27FC236}">
                <a16:creationId xmlns:a16="http://schemas.microsoft.com/office/drawing/2014/main" id="{A6119F77-21C9-4FBD-95D1-4884EA2BEF6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solidFill>
                  <a:schemeClr val="bg2"/>
                </a:solidFill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13E6E76-F12E-4D1B-9B56-009C721BF777}" type="slidenum">
              <a:rPr lang="en-US" altLang="en-US" smtClean="0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486405" name="Text Box 5">
            <a:extLst>
              <a:ext uri="{FF2B5EF4-FFF2-40B4-BE49-F238E27FC236}">
                <a16:creationId xmlns:a16="http://schemas.microsoft.com/office/drawing/2014/main" id="{7FED4366-B3D8-4635-90AF-59F6E59B90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2883" y="6613525"/>
            <a:ext cx="341760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fld id="{370CC2A8-7410-4F9E-B2CB-FCF9B3031B7B}" type="slidenum">
              <a:rPr lang="en-US" altLang="en-US" sz="1000" b="1" smtClean="0">
                <a:solidFill>
                  <a:srgbClr val="00206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altLang="en-US" sz="1000" b="1" dirty="0">
              <a:solidFill>
                <a:srgbClr val="002060"/>
              </a:solidFill>
            </a:endParaRPr>
          </a:p>
        </p:txBody>
      </p:sp>
      <p:sp>
        <p:nvSpPr>
          <p:cNvPr id="486406" name="Rectangle 6">
            <a:extLst>
              <a:ext uri="{FF2B5EF4-FFF2-40B4-BE49-F238E27FC236}">
                <a16:creationId xmlns:a16="http://schemas.microsoft.com/office/drawing/2014/main" id="{0CE0643F-4358-4AEC-B259-E86C95F0E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32" name="Freeform 8">
            <a:extLst>
              <a:ext uri="{FF2B5EF4-FFF2-40B4-BE49-F238E27FC236}">
                <a16:creationId xmlns:a16="http://schemas.microsoft.com/office/drawing/2014/main" id="{0669EEB5-E1E1-4615-B40A-87AE23727066}"/>
              </a:ext>
            </a:extLst>
          </p:cNvPr>
          <p:cNvSpPr>
            <a:spLocks/>
          </p:cNvSpPr>
          <p:nvPr/>
        </p:nvSpPr>
        <p:spPr bwMode="auto">
          <a:xfrm>
            <a:off x="8916988" y="5445125"/>
            <a:ext cx="227012" cy="47625"/>
          </a:xfrm>
          <a:custGeom>
            <a:avLst/>
            <a:gdLst>
              <a:gd name="T0" fmla="*/ 0 w 285"/>
              <a:gd name="T1" fmla="*/ 35963902 h 61"/>
              <a:gd name="T2" fmla="*/ 1268878 w 285"/>
              <a:gd name="T3" fmla="*/ 29258145 h 61"/>
              <a:gd name="T4" fmla="*/ 5710347 w 285"/>
              <a:gd name="T5" fmla="*/ 20724682 h 61"/>
              <a:gd name="T6" fmla="*/ 10785858 w 285"/>
              <a:gd name="T7" fmla="*/ 15238439 h 61"/>
              <a:gd name="T8" fmla="*/ 19033961 w 285"/>
              <a:gd name="T9" fmla="*/ 10362732 h 61"/>
              <a:gd name="T10" fmla="*/ 28550941 w 285"/>
              <a:gd name="T11" fmla="*/ 6095219 h 61"/>
              <a:gd name="T12" fmla="*/ 36164206 w 285"/>
              <a:gd name="T13" fmla="*/ 3656975 h 61"/>
              <a:gd name="T14" fmla="*/ 44412309 w 285"/>
              <a:gd name="T15" fmla="*/ 1218732 h 61"/>
              <a:gd name="T16" fmla="*/ 53929289 w 285"/>
              <a:gd name="T17" fmla="*/ 0 h 61"/>
              <a:gd name="T18" fmla="*/ 63446270 w 285"/>
              <a:gd name="T19" fmla="*/ 0 h 61"/>
              <a:gd name="T20" fmla="*/ 74866965 w 285"/>
              <a:gd name="T21" fmla="*/ 0 h 61"/>
              <a:gd name="T22" fmla="*/ 86921700 w 285"/>
              <a:gd name="T23" fmla="*/ 0 h 61"/>
              <a:gd name="T24" fmla="*/ 97707558 w 285"/>
              <a:gd name="T25" fmla="*/ 1218732 h 61"/>
              <a:gd name="T26" fmla="*/ 109762293 w 285"/>
              <a:gd name="T27" fmla="*/ 3656975 h 61"/>
              <a:gd name="T28" fmla="*/ 121817029 w 285"/>
              <a:gd name="T29" fmla="*/ 4876488 h 61"/>
              <a:gd name="T30" fmla="*/ 132602887 w 285"/>
              <a:gd name="T31" fmla="*/ 7314732 h 61"/>
              <a:gd name="T32" fmla="*/ 142119867 w 285"/>
              <a:gd name="T33" fmla="*/ 9143219 h 61"/>
              <a:gd name="T34" fmla="*/ 151636847 w 285"/>
              <a:gd name="T35" fmla="*/ 11581463 h 61"/>
              <a:gd name="T36" fmla="*/ 161153827 w 285"/>
              <a:gd name="T37" fmla="*/ 14019707 h 61"/>
              <a:gd name="T38" fmla="*/ 168767890 w 285"/>
              <a:gd name="T39" fmla="*/ 15238439 h 61"/>
              <a:gd name="T40" fmla="*/ 173209359 w 285"/>
              <a:gd name="T41" fmla="*/ 16457951 h 61"/>
              <a:gd name="T42" fmla="*/ 179553747 w 285"/>
              <a:gd name="T43" fmla="*/ 18896195 h 61"/>
              <a:gd name="T44" fmla="*/ 177015992 w 285"/>
              <a:gd name="T45" fmla="*/ 26819902 h 61"/>
              <a:gd name="T46" fmla="*/ 173209359 w 285"/>
              <a:gd name="T47" fmla="*/ 25601170 h 61"/>
              <a:gd name="T48" fmla="*/ 164961257 w 285"/>
              <a:gd name="T49" fmla="*/ 24382439 h 61"/>
              <a:gd name="T50" fmla="*/ 152906521 w 285"/>
              <a:gd name="T51" fmla="*/ 21944195 h 61"/>
              <a:gd name="T52" fmla="*/ 145927296 w 285"/>
              <a:gd name="T53" fmla="*/ 20724682 h 61"/>
              <a:gd name="T54" fmla="*/ 138313234 w 285"/>
              <a:gd name="T55" fmla="*/ 19505951 h 61"/>
              <a:gd name="T56" fmla="*/ 131334009 w 285"/>
              <a:gd name="T57" fmla="*/ 18896195 h 61"/>
              <a:gd name="T58" fmla="*/ 124355581 w 285"/>
              <a:gd name="T59" fmla="*/ 17676682 h 61"/>
              <a:gd name="T60" fmla="*/ 115472641 w 285"/>
              <a:gd name="T61" fmla="*/ 16457951 h 61"/>
              <a:gd name="T62" fmla="*/ 109762293 w 285"/>
              <a:gd name="T63" fmla="*/ 15238439 h 61"/>
              <a:gd name="T64" fmla="*/ 103417905 w 285"/>
              <a:gd name="T65" fmla="*/ 14019707 h 61"/>
              <a:gd name="T66" fmla="*/ 97707558 w 285"/>
              <a:gd name="T67" fmla="*/ 12800195 h 61"/>
              <a:gd name="T68" fmla="*/ 90094292 w 285"/>
              <a:gd name="T69" fmla="*/ 11581463 h 61"/>
              <a:gd name="T70" fmla="*/ 69791454 w 285"/>
              <a:gd name="T71" fmla="*/ 9143219 h 61"/>
              <a:gd name="T72" fmla="*/ 52660412 w 285"/>
              <a:gd name="T73" fmla="*/ 12800195 h 61"/>
              <a:gd name="T74" fmla="*/ 37433084 w 285"/>
              <a:gd name="T75" fmla="*/ 17676682 h 61"/>
              <a:gd name="T76" fmla="*/ 33626451 w 285"/>
              <a:gd name="T77" fmla="*/ 18896195 h 61"/>
              <a:gd name="T78" fmla="*/ 27282063 w 285"/>
              <a:gd name="T79" fmla="*/ 20724682 h 61"/>
              <a:gd name="T80" fmla="*/ 20302838 w 285"/>
              <a:gd name="T81" fmla="*/ 23162926 h 61"/>
              <a:gd name="T82" fmla="*/ 14592491 w 285"/>
              <a:gd name="T83" fmla="*/ 26819902 h 61"/>
              <a:gd name="T84" fmla="*/ 4441470 w 285"/>
              <a:gd name="T85" fmla="*/ 33525658 h 61"/>
              <a:gd name="T86" fmla="*/ 1268878 w 285"/>
              <a:gd name="T87" fmla="*/ 37182633 h 61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04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  <p:sldLayoutId id="2147483734" r:id="rId13"/>
    <p:sldLayoutId id="2147483720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2800" b="1">
          <a:solidFill>
            <a:srgbClr val="002060"/>
          </a:solidFill>
          <a:effectLst>
            <a:outerShdw blurRad="38100" dist="38100" dir="2700000" algn="tl">
              <a:srgbClr val="DDDDDD"/>
            </a:outerShdw>
          </a:effectLst>
          <a:latin typeface="+mj-lt"/>
          <a:ea typeface="MS PGothic" charset="0"/>
          <a:cs typeface="MS PGothic" charset="0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charset="0"/>
          <a:cs typeface="MS PGothic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1" fontAlgn="base" hangingPunct="1">
        <a:spcBef>
          <a:spcPct val="35000"/>
        </a:spcBef>
        <a:spcAft>
          <a:spcPct val="0"/>
        </a:spcAft>
        <a:buClr>
          <a:srgbClr val="002060"/>
        </a:buClr>
        <a:buSzPct val="100000"/>
        <a:buFont typeface="Monotype Sorts" pitchFamily="-65" charset="2"/>
        <a:buChar char="n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1pPr>
      <a:lvl2pPr marL="742950" indent="-285750" algn="l" rtl="0" eaLnBrk="1" fontAlgn="base" hangingPunct="1">
        <a:spcBef>
          <a:spcPct val="35000"/>
        </a:spcBef>
        <a:spcAft>
          <a:spcPct val="0"/>
        </a:spcAft>
        <a:buClr>
          <a:srgbClr val="FF9933"/>
        </a:buClr>
        <a:buSzPct val="90000"/>
        <a:buFont typeface="Monotype Sorts" pitchFamily="-65" charset="2"/>
        <a:buChar char="l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2pPr>
      <a:lvl3pPr marL="1085850" indent="-228600" algn="l" rtl="0" eaLnBrk="1" fontAlgn="base" hangingPunct="1">
        <a:spcBef>
          <a:spcPct val="35000"/>
        </a:spcBef>
        <a:spcAft>
          <a:spcPct val="0"/>
        </a:spcAft>
        <a:buClr>
          <a:srgbClr val="33CC33"/>
        </a:buClr>
        <a:buSzPct val="85000"/>
        <a:buFont typeface="Webdings" panose="05030102010509060703" pitchFamily="18" charset="2"/>
        <a:buChar char="4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3pPr>
      <a:lvl4pPr marL="1428750" indent="-228600" algn="l" rtl="0" eaLnBrk="1" fontAlgn="base" hangingPunct="1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pitchFamily="18" charset="0"/>
        <a:buChar char="–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4pPr>
      <a:lvl5pPr marL="17716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 sz="1700">
          <a:solidFill>
            <a:schemeClr val="tx1"/>
          </a:solidFill>
          <a:latin typeface="+mn-lt"/>
          <a:ea typeface="MS PGothic" charset="0"/>
          <a:cs typeface="MS PGothic" charset="0"/>
        </a:defRPr>
      </a:lvl5pPr>
      <a:lvl6pPr marL="22288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1" fontAlgn="base" hangingPunct="1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46" name="Rectangle 2">
            <a:extLst>
              <a:ext uri="{FF2B5EF4-FFF2-40B4-BE49-F238E27FC236}">
                <a16:creationId xmlns:a16="http://schemas.microsoft.com/office/drawing/2014/main" id="{7CAECB4A-B3AE-47EA-8608-B6EE8F6B22D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Query Processing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B83E7B48-50DD-40B1-82EB-DB0F7EE99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Query Processing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04C8AB1-093B-4BD3-B57D-1117443AEF6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74689"/>
            <a:ext cx="7509376" cy="3096524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Overview 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Measures of Query Cost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Selection Operation  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Sorting 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Join Operation 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Other Operations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Evaluation of Expressions</a:t>
            </a:r>
          </a:p>
        </p:txBody>
      </p:sp>
    </p:spTree>
  </p:cSld>
  <p:clrMapOvr>
    <a:masterClrMapping/>
  </p:clrMapOvr>
  <p:transition advTm="5014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>
            <a:extLst>
              <a:ext uri="{FF2B5EF4-FFF2-40B4-BE49-F238E27FC236}">
                <a16:creationId xmlns:a16="http://schemas.microsoft.com/office/drawing/2014/main" id="{C4F7EECF-E672-4EC7-A229-C16B8BBFB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2D2522C3-D90D-4FC0-8084-00D0088674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093788"/>
            <a:ext cx="6925870" cy="1228307"/>
          </a:xfrm>
        </p:spPr>
        <p:txBody>
          <a:bodyPr/>
          <a:lstStyle/>
          <a:p>
            <a:pPr>
              <a:buFont typeface="Monotype Sorts" pitchFamily="-65" charset="2"/>
              <a:buNone/>
            </a:pPr>
            <a:r>
              <a:rPr lang="en-US" altLang="en-US" dirty="0">
                <a:ea typeface="MS PGothic" panose="020B0600070205080204" pitchFamily="34" charset="-128"/>
              </a:rPr>
              <a:t>1.	</a:t>
            </a:r>
            <a:r>
              <a:rPr lang="en-US" altLang="en-US" sz="2000" dirty="0">
                <a:ea typeface="MS PGothic" panose="020B0600070205080204" pitchFamily="34" charset="-128"/>
              </a:rPr>
              <a:t>Parsing and translation</a:t>
            </a:r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2.	Optimization</a:t>
            </a:r>
          </a:p>
          <a:p>
            <a:pPr>
              <a:buFont typeface="Monotype Sorts" pitchFamily="-65" charset="2"/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3.	Evaluation</a:t>
            </a:r>
          </a:p>
        </p:txBody>
      </p:sp>
      <p:pic>
        <p:nvPicPr>
          <p:cNvPr id="9220" name="Picture 11">
            <a:extLst>
              <a:ext uri="{FF2B5EF4-FFF2-40B4-BE49-F238E27FC236}">
                <a16:creationId xmlns:a16="http://schemas.microsoft.com/office/drawing/2014/main" id="{CDACD50C-619F-4E1E-97A1-AEC99C2D4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390" y="2299271"/>
            <a:ext cx="5855786" cy="35165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advTm="152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>
            <a:extLst>
              <a:ext uri="{FF2B5EF4-FFF2-40B4-BE49-F238E27FC236}">
                <a16:creationId xmlns:a16="http://schemas.microsoft.com/office/drawing/2014/main" id="{4E89BB60-2D0A-430C-B904-1D17058D3C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 (Cont.)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428F809-F71E-403F-A785-3D6B01E4DD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43379" y="1150626"/>
            <a:ext cx="7470445" cy="3433408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Parsing and translation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translate the query into its internal form.  This is then translated into relational algebra.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Parser checks syntax, verifies relations</a:t>
            </a:r>
          </a:p>
          <a:p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Evaluation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The query-execution engine takes a query-evaluation plan, executes that plan, and returns the answers to the query.</a:t>
            </a:r>
          </a:p>
          <a:p>
            <a:pPr lvl="1"/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 advTm="992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701EDBC9-0803-4051-8741-608A2893C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38753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Processing: Optimization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555D7EF-9E4A-4BE9-B712-A77059F3A0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80730"/>
            <a:ext cx="7629923" cy="4840242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000" b="1" dirty="0">
                <a:solidFill>
                  <a:srgbClr val="FF0000"/>
                </a:solidFill>
                <a:ea typeface="MS PGothic" panose="020B0600070205080204" pitchFamily="34" charset="-128"/>
              </a:rPr>
              <a:t>EQUIVALENT OF EXPRESSION?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Given schema 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instructor (id, name, dept-name, salary)</a:t>
            </a: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Query:</a:t>
            </a:r>
            <a:r>
              <a:rPr lang="en-US" altLang="en-US" sz="2000" dirty="0">
                <a:ea typeface="MS PGothic" panose="020B0600070205080204" pitchFamily="34" charset="-128"/>
              </a:rPr>
              <a:t> Write relational algebra expression to find id and salary of all instructors whose id is less than 50501. 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SQL: SELECT id, salary FROM INSTRUCTOR WHERE id&lt;50501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Answer 1: 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id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50501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(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id, salary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instructor)) </a:t>
            </a:r>
          </a:p>
          <a:p>
            <a:pPr marL="0" indent="0">
              <a:buNone/>
            </a:pP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		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equivalent to </a:t>
            </a:r>
            <a:endParaRPr lang="en-US" altLang="en-US" sz="2000" i="1" dirty="0">
              <a:solidFill>
                <a:srgbClr val="FF0000"/>
              </a:solidFill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Answer 2: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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id, salary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(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id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50501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instructor))</a:t>
            </a:r>
          </a:p>
          <a:p>
            <a:pPr marL="0" indent="0">
              <a:buNone/>
            </a:pPr>
            <a:endParaRPr lang="en-US" altLang="en-US" sz="2000" dirty="0">
              <a:solidFill>
                <a:srgbClr val="0000FF"/>
              </a:solidFill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>
              <a:solidFill>
                <a:srgbClr val="0000FF"/>
              </a:solidFill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Discussion 1: Instructor is stored physically sorted order of id. Will the query processing cost of answer 1 and answer 2 be the same? How?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3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3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701EDBC9-0803-4051-8741-608A2893CB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387531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 in Query Processing: Optimization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0555D7EF-9E4A-4BE9-B712-A77059F3A0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80730"/>
            <a:ext cx="7629923" cy="4587024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Each relational algebra operation can be evaluated using one of several different algorithms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Correspondingly, a relational-algebra expression can be evaluated in many ways. </a:t>
            </a:r>
          </a:p>
          <a:p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Annotated expression specifying detailed evaluation strategy is called an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evaluation-plan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.  E.g.,: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Use an index on 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id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to find instructors with id &lt; 50501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(Answer 2)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,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Or perform complete relation scan and discard instructors with  id &lt; 50501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(Answer 1)</a:t>
            </a:r>
          </a:p>
        </p:txBody>
      </p:sp>
    </p:spTree>
    <p:extLst>
      <p:ext uri="{BB962C8B-B14F-4D97-AF65-F5344CB8AC3E}">
        <p14:creationId xmlns:p14="http://schemas.microsoft.com/office/powerpoint/2010/main" val="321869579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266" name="Rectangle 1026">
            <a:extLst>
              <a:ext uri="{FF2B5EF4-FFF2-40B4-BE49-F238E27FC236}">
                <a16:creationId xmlns:a16="http://schemas.microsoft.com/office/drawing/2014/main" id="{E41234F1-7767-4810-97CE-92405F4C6B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Basic Steps: Optimization (Cont.)</a:t>
            </a:r>
          </a:p>
        </p:txBody>
      </p:sp>
      <p:sp>
        <p:nvSpPr>
          <p:cNvPr id="15363" name="Rectangle 1027">
            <a:extLst>
              <a:ext uri="{FF2B5EF4-FFF2-40B4-BE49-F238E27FC236}">
                <a16:creationId xmlns:a16="http://schemas.microsoft.com/office/drawing/2014/main" id="{15285419-BB0E-4298-9661-E1BFD3567C5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96" y="1102497"/>
            <a:ext cx="7533439" cy="4275619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Query Optimization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: Amongst all equivalent evaluation plans choose the one with lowest cost. 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Cost is estimated using statistical information from the</a:t>
            </a:r>
            <a:b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</a:b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database catalog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e.g.. number of tuples in each relation, size of tuples, etc.</a:t>
            </a:r>
          </a:p>
          <a:p>
            <a:endParaRPr lang="en-US" altLang="en-US" sz="20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In this chapter we shall study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How to measure query costs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Algorithms for evaluating relational algebra operations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How to combine algorithms for individual operations in order to evaluate a complete expression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578F1715-B75C-468F-BB66-8D3C20C56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19F3437-04AB-4B6A-B938-BC4ED1610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727075"/>
            <a:ext cx="7911416" cy="5364236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Many factors contribute to time cost</a:t>
            </a:r>
          </a:p>
          <a:p>
            <a:pPr lvl="1"/>
            <a:r>
              <a:rPr lang="en-US" altLang="en-US" sz="2000" i="1" dirty="0">
                <a:solidFill>
                  <a:srgbClr val="FF0000"/>
                </a:solidFill>
                <a:ea typeface="MS PGothic" panose="020B0600070205080204" pitchFamily="34" charset="-128"/>
              </a:rPr>
              <a:t>disk access, CPU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, and network </a:t>
            </a:r>
            <a:r>
              <a:rPr lang="en-US" altLang="en-US" sz="2000" i="1" dirty="0">
                <a:solidFill>
                  <a:srgbClr val="FF0000"/>
                </a:solidFill>
                <a:ea typeface="MS PGothic" panose="020B0600070205080204" pitchFamily="34" charset="-128"/>
              </a:rPr>
              <a:t>communication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Cost can be measured based on </a:t>
            </a:r>
          </a:p>
          <a:p>
            <a:pPr lvl="1"/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response time</a:t>
            </a:r>
            <a:r>
              <a:rPr lang="en-US" altLang="en-US" sz="2000" dirty="0">
                <a:ea typeface="MS PGothic" panose="020B0600070205080204" pitchFamily="34" charset="-128"/>
              </a:rPr>
              <a:t>, i.e. total elapsed time for answering query, or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total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resource consumption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We use total resource consumption as cost metric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Response time harder to estimate, and minimizing resource consumption is a good idea in a shared database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We ignore CPU costs for simplicity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Real systems do take CPU cost into account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Network costs must be considered for parallel systems</a:t>
            </a:r>
          </a:p>
          <a:p>
            <a:r>
              <a:rPr lang="en-US" altLang="en-US" sz="2000" dirty="0">
                <a:ea typeface="MS PGothic" panose="020B0600070205080204" pitchFamily="34" charset="-128"/>
              </a:rPr>
              <a:t>We describe how to estimate the cost of each operation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We do not include cost to writing output to disk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7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4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578F1715-B75C-468F-BB66-8D3C20C56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19F3437-04AB-4B6A-B938-BC4ED1610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96" y="1102497"/>
            <a:ext cx="7576657" cy="5202050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Disk cost can be estimated as: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Number of seeks             * average-seek-cost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Number of blocks read     * average-block-read-cost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Number of blocks written * average-block-write-cost</a:t>
            </a:r>
          </a:p>
          <a:p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What is number of seeks?</a:t>
            </a:r>
          </a:p>
          <a:p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Answer: The number of times, the disk head directly moves from one track to another track.</a:t>
            </a:r>
            <a:endParaRPr lang="en-US" altLang="en-US" sz="2000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What is number of block reads?</a:t>
            </a:r>
          </a:p>
          <a:p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Answer: The number of blocks need to be transferred from disk to memory to process the query.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What is number of blocks written?</a:t>
            </a:r>
          </a:p>
          <a:p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Answer: The number of blocks need to be written to disk from memory to process the query.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708277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578F1715-B75C-468F-BB66-8D3C20C566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Measures of Query Cost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519F3437-04AB-4B6A-B938-BC4ED1610D5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0496" y="1102497"/>
            <a:ext cx="7576657" cy="5202050"/>
          </a:xfrm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For simplicity we just use the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block transfers</a:t>
            </a:r>
            <a:r>
              <a:rPr lang="en-US" altLang="en-US" sz="2000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</a:rPr>
              <a:t>from disk and the 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number of seeks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as the cost measures</a:t>
            </a:r>
          </a:p>
          <a:p>
            <a:pPr lvl="1"/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– time to transfer one block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Assuming for simplicity that write cost is same as read cost</a:t>
            </a:r>
          </a:p>
          <a:p>
            <a:pPr lvl="1"/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– time for one seek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Cost for b block transfers plus S seeks</a:t>
            </a:r>
            <a:br>
              <a:rPr lang="en-US" altLang="en-US" sz="2000" dirty="0">
                <a:ea typeface="MS PGothic" panose="020B0600070205080204" pitchFamily="34" charset="-128"/>
              </a:rPr>
            </a:br>
            <a:r>
              <a:rPr lang="en-US" altLang="en-US" sz="2000" dirty="0">
                <a:ea typeface="MS PGothic" panose="020B0600070205080204" pitchFamily="34" charset="-128"/>
              </a:rPr>
              <a:t>        </a:t>
            </a:r>
            <a:r>
              <a:rPr lang="en-US" altLang="en-US" sz="2000" i="1" dirty="0">
                <a:ea typeface="MS PGothic" panose="020B0600070205080204" pitchFamily="34" charset="-128"/>
              </a:rPr>
              <a:t>b *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dirty="0">
                <a:ea typeface="MS PGothic" panose="020B0600070205080204" pitchFamily="34" charset="-128"/>
              </a:rPr>
              <a:t> + S *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</a:t>
            </a:r>
          </a:p>
          <a:p>
            <a:endParaRPr lang="en-US" altLang="en-US" sz="2000" i="1" dirty="0">
              <a:solidFill>
                <a:srgbClr val="002060"/>
              </a:solidFill>
              <a:ea typeface="MS PGothic" panose="020B0600070205080204" pitchFamily="34" charset="-128"/>
            </a:endParaRPr>
          </a:p>
          <a:p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S</a:t>
            </a:r>
            <a:r>
              <a:rPr lang="en-US" altLang="en-US" sz="200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solidFill>
                  <a:schemeClr val="accent4"/>
                </a:solidFill>
                <a:ea typeface="MS PGothic" panose="020B0600070205080204" pitchFamily="34" charset="-128"/>
              </a:rPr>
              <a:t>and</a:t>
            </a:r>
            <a:r>
              <a:rPr lang="en-US" altLang="en-US" sz="2000" i="1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i="1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solidFill>
                  <a:srgbClr val="002060"/>
                </a:solidFill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depend on where data is stored; with 4 KB blocks: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High end magnetic disk: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= 4 </a:t>
            </a:r>
            <a:r>
              <a:rPr lang="en-US" altLang="en-US" sz="2000" dirty="0" err="1">
                <a:ea typeface="MS PGothic" panose="020B0600070205080204" pitchFamily="34" charset="-128"/>
              </a:rPr>
              <a:t>msec</a:t>
            </a:r>
            <a:r>
              <a:rPr lang="en-US" altLang="en-US" sz="2000" dirty="0">
                <a:ea typeface="MS PGothic" panose="020B0600070205080204" pitchFamily="34" charset="-128"/>
              </a:rPr>
              <a:t> 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=0.1 </a:t>
            </a:r>
            <a:r>
              <a:rPr lang="en-US" altLang="en-US" sz="2000" dirty="0" err="1">
                <a:ea typeface="MS PGothic" panose="020B0600070205080204" pitchFamily="34" charset="-128"/>
              </a:rPr>
              <a:t>msec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SSD: 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= 20-90 microsec and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= 2-10 microsec for 4KB 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252209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2A8B6523-A6A8-4254-B0A9-DD3FF39C8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 Operation (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A0F4E0A7-8F2E-443D-9EC7-D2F1BB3BAF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92369" y="1198753"/>
            <a:ext cx="8353181" cy="493735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File scan</a:t>
            </a:r>
            <a:r>
              <a:rPr lang="en-US" altLang="en-US" sz="2000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2000" dirty="0">
                <a:ea typeface="MS PGothic" panose="020B0600070205080204" pitchFamily="34" charset="-128"/>
              </a:rPr>
              <a:t>Algorithm </a:t>
            </a:r>
            <a:r>
              <a:rPr lang="en-US" altLang="en-US" sz="2000" b="1" dirty="0">
                <a:ea typeface="MS PGothic" panose="020B0600070205080204" pitchFamily="34" charset="-128"/>
              </a:rPr>
              <a:t>A1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linear search</a:t>
            </a:r>
            <a:r>
              <a:rPr lang="en-US" altLang="en-US" sz="2000" dirty="0">
                <a:ea typeface="MS PGothic" panose="020B0600070205080204" pitchFamily="34" charset="-128"/>
              </a:rPr>
              <a:t>).  Scan each file block and test all records to see whether they satisfy the selection condition.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Example: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The size of the given student relation is 2000 blocks. The seek time is 5ms and block transfer time is 0.1 </a:t>
            </a:r>
            <a:r>
              <a:rPr lang="en-US" altLang="en-US" sz="2000" dirty="0" err="1">
                <a:ea typeface="MS PGothic" panose="020B0600070205080204" pitchFamily="34" charset="-128"/>
              </a:rPr>
              <a:t>ms.</a:t>
            </a:r>
            <a:r>
              <a:rPr lang="en-US" altLang="en-US" sz="2000" dirty="0">
                <a:ea typeface="MS PGothic" panose="020B0600070205080204" pitchFamily="34" charset="-128"/>
              </a:rPr>
              <a:t> Find the estimated query cost for the following query 	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	SELECT * FROM STUDENT WHERE </a:t>
            </a:r>
            <a:r>
              <a:rPr lang="en-US" altLang="en-US" sz="2000" dirty="0" err="1">
                <a:ea typeface="MS PGothic" panose="020B0600070205080204" pitchFamily="34" charset="-128"/>
              </a:rPr>
              <a:t>cgpa</a:t>
            </a:r>
            <a:r>
              <a:rPr lang="en-US" altLang="en-US" sz="2000" dirty="0">
                <a:ea typeface="MS PGothic" panose="020B0600070205080204" pitchFamily="34" charset="-128"/>
              </a:rPr>
              <a:t> &gt; 3.5 or name = ‘Rafique’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Given student(id, name, CGPA, street, city)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Answer:</a:t>
            </a:r>
            <a:r>
              <a:rPr lang="en-US" altLang="en-US" sz="2000" dirty="0">
                <a:ea typeface="MS PGothic" panose="020B0600070205080204" pitchFamily="34" charset="-128"/>
              </a:rPr>
              <a:t> The query requires 1 seek and full file scan to find all students with </a:t>
            </a:r>
            <a:r>
              <a:rPr lang="en-US" altLang="en-US" sz="2000" dirty="0" err="1">
                <a:ea typeface="MS PGothic" panose="020B0600070205080204" pitchFamily="34" charset="-128"/>
              </a:rPr>
              <a:t>cgpa</a:t>
            </a:r>
            <a:r>
              <a:rPr lang="en-US" altLang="en-US" sz="2000" dirty="0">
                <a:ea typeface="MS PGothic" panose="020B0600070205080204" pitchFamily="34" charset="-128"/>
              </a:rPr>
              <a:t> &gt; 3.5. So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</a:rPr>
              <a:t> = </a:t>
            </a:r>
            <a:r>
              <a:rPr lang="en-US" altLang="en-US" sz="2000" dirty="0">
                <a:ea typeface="MS PGothic" panose="020B0600070205080204" pitchFamily="34" charset="-128"/>
              </a:rPr>
              <a:t>2000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Total cost = 1 × 5 + 2000 × 0.1 = 5 + 200 = 205ms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For full scan</a:t>
            </a:r>
            <a:r>
              <a:rPr lang="en-US" altLang="en-US" sz="2000" dirty="0">
                <a:ea typeface="MS PGothic" panose="020B0600070205080204" pitchFamily="34" charset="-128"/>
              </a:rPr>
              <a:t>, cost estimate = 1 seek +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block transfers 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lvl="2">
              <a:lnSpc>
                <a:spcPct val="90000"/>
              </a:lnSpc>
            </a:pPr>
            <a:r>
              <a:rPr lang="en-US" altLang="en-US" sz="2000" i="1" dirty="0" err="1">
                <a:ea typeface="MS PGothic" panose="020B0600070205080204" pitchFamily="34" charset="-128"/>
              </a:rPr>
              <a:t>b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denotes number of blocks containing records from relation </a:t>
            </a:r>
            <a:r>
              <a:rPr lang="en-US" altLang="en-US" sz="2000" i="1" dirty="0">
                <a:ea typeface="MS PGothic" panose="020B0600070205080204" pitchFamily="34" charset="-128"/>
              </a:rPr>
              <a:t>r</a:t>
            </a:r>
          </a:p>
        </p:txBody>
      </p:sp>
    </p:spTree>
  </p:cSld>
  <p:clrMapOvr>
    <a:masterClrMapping/>
  </p:clrMapOvr>
  <p:transition advTm="38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79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2A8B6523-A6A8-4254-B0A9-DD3FF39C84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 Operation (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)</a:t>
            </a:r>
            <a:endParaRPr lang="en-US" altLang="en-US" dirty="0">
              <a:effectLst>
                <a:outerShdw blurRad="38100" dist="38100" dir="2700000" algn="tl">
                  <a:srgbClr val="C0C0C0"/>
                </a:outerShdw>
              </a:effectLst>
              <a:ea typeface="MS PGothic" panose="020B0600070205080204" pitchFamily="34" charset="-128"/>
            </a:endParaRPr>
          </a:p>
        </p:txBody>
      </p:sp>
      <p:sp>
        <p:nvSpPr>
          <p:cNvPr id="33794" name="Rectangle 3">
            <a:extLst>
              <a:ext uri="{FF2B5EF4-FFF2-40B4-BE49-F238E27FC236}">
                <a16:creationId xmlns:a16="http://schemas.microsoft.com/office/drawing/2014/main" id="{A0F4E0A7-8F2E-443D-9EC7-D2F1BB3BAF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891197"/>
            <a:ext cx="7523391" cy="553773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File scan</a:t>
            </a:r>
            <a:r>
              <a:rPr lang="en-US" altLang="en-US" dirty="0">
                <a:solidFill>
                  <a:srgbClr val="002060"/>
                </a:solidFill>
                <a:ea typeface="MS PGothic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Algorithm </a:t>
            </a:r>
            <a:r>
              <a:rPr lang="en-US" altLang="en-US" b="1" dirty="0">
                <a:ea typeface="MS PGothic" panose="020B0600070205080204" pitchFamily="34" charset="-128"/>
              </a:rPr>
              <a:t>A1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linear search</a:t>
            </a:r>
            <a:r>
              <a:rPr lang="en-US" altLang="en-US" dirty="0">
                <a:ea typeface="MS PGothic" panose="020B0600070205080204" pitchFamily="34" charset="-128"/>
              </a:rPr>
              <a:t>).  Scan each file block and test all records to see whether they satisfy the selection condition.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b="1" dirty="0">
                <a:solidFill>
                  <a:srgbClr val="FF0000"/>
                </a:solidFill>
                <a:ea typeface="MS PGothic" panose="020B0600070205080204" pitchFamily="34" charset="-128"/>
              </a:rPr>
              <a:t>Question:</a:t>
            </a:r>
            <a:r>
              <a:rPr lang="en-US" altLang="en-US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The size of the given student relation is 2000 blocks. The seek time is 5ms and block transfer time is 0.1 </a:t>
            </a:r>
            <a:r>
              <a:rPr lang="en-US" altLang="en-US" dirty="0" err="1">
                <a:ea typeface="MS PGothic" panose="020B0600070205080204" pitchFamily="34" charset="-128"/>
              </a:rPr>
              <a:t>ms.</a:t>
            </a:r>
            <a:r>
              <a:rPr lang="en-US" altLang="en-US" dirty="0">
                <a:ea typeface="MS PGothic" panose="020B0600070205080204" pitchFamily="34" charset="-128"/>
              </a:rPr>
              <a:t> Find the estimated query cost for the following query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ea typeface="MS PGothic" panose="020B0600070205080204" pitchFamily="34" charset="-128"/>
              </a:rPr>
              <a:t>	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ea typeface="MS PGothic" panose="020B0600070205080204" pitchFamily="34" charset="-128"/>
              </a:rPr>
              <a:t>	SELECT * FROM STUDENT WHERE id &lt;1801111042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ea typeface="MS PGothic" panose="020B0600070205080204" pitchFamily="34" charset="-128"/>
              </a:rPr>
              <a:t>The student relation is physically sorted on id. The number of blocks with    id &lt;1801111042 is 800.</a:t>
            </a:r>
          </a:p>
          <a:p>
            <a:pPr marL="0" indent="0">
              <a:lnSpc>
                <a:spcPct val="90000"/>
              </a:lnSpc>
              <a:buNone/>
            </a:pPr>
            <a:endParaRPr lang="en-US" altLang="en-US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FF0000"/>
                </a:solidFill>
                <a:ea typeface="MS PGothic" panose="020B0600070205080204" pitchFamily="34" charset="-128"/>
              </a:rPr>
              <a:t>For partial scan</a:t>
            </a:r>
            <a:r>
              <a:rPr lang="en-US" altLang="en-US" dirty="0">
                <a:ea typeface="MS PGothic" panose="020B0600070205080204" pitchFamily="34" charset="-128"/>
              </a:rPr>
              <a:t>, cost estimate (</a:t>
            </a:r>
            <a:r>
              <a:rPr lang="en-US" altLang="en-US" dirty="0">
                <a:solidFill>
                  <a:srgbClr val="0000FF"/>
                </a:solidFill>
                <a:ea typeface="MS PGothic" panose="020B0600070205080204" pitchFamily="34" charset="-128"/>
              </a:rPr>
              <a:t>average</a:t>
            </a:r>
            <a:r>
              <a:rPr lang="en-US" altLang="en-US" dirty="0">
                <a:ea typeface="MS PGothic" panose="020B0600070205080204" pitchFamily="34" charset="-128"/>
              </a:rPr>
              <a:t>) = 1 seek + (</a:t>
            </a:r>
            <a:r>
              <a:rPr lang="en-US" altLang="en-US" i="1" dirty="0" err="1">
                <a:ea typeface="MS PGothic" panose="020B0600070205080204" pitchFamily="34" charset="-128"/>
              </a:rPr>
              <a:t>b</a:t>
            </a:r>
            <a:r>
              <a:rPr lang="en-US" altLang="en-US" i="1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i="1" baseline="-25000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</a:rPr>
              <a:t>/2) block transfers </a:t>
            </a:r>
            <a:endParaRPr lang="en-US" altLang="en-US" i="1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endParaRPr lang="en-US" altLang="en-US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dirty="0">
                <a:solidFill>
                  <a:srgbClr val="0000FF"/>
                </a:solidFill>
                <a:ea typeface="MS PGothic" panose="020B0600070205080204" pitchFamily="34" charset="-128"/>
              </a:rPr>
              <a:t>Linear search can be applied regardless of selection condition or ordering of records in the file, or availability of indices</a:t>
            </a:r>
          </a:p>
        </p:txBody>
      </p:sp>
    </p:spTree>
    <p:extLst>
      <p:ext uri="{BB962C8B-B14F-4D97-AF65-F5344CB8AC3E}">
        <p14:creationId xmlns:p14="http://schemas.microsoft.com/office/powerpoint/2010/main" val="1546600280"/>
      </p:ext>
    </p:extLst>
  </p:cSld>
  <p:clrMapOvr>
    <a:masterClrMapping/>
  </p:clrMapOvr>
  <p:transition advTm="380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379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79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8350" y="314422"/>
            <a:ext cx="3403577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420837"/>
            <a:ext cx="4023360" cy="4712676"/>
          </a:xfrm>
        </p:spPr>
        <p:txBody>
          <a:bodyPr/>
          <a:lstStyle/>
          <a:p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Index scan </a:t>
            </a:r>
            <a:r>
              <a:rPr lang="en-US" altLang="en-US" sz="2000" dirty="0">
                <a:ea typeface="MS PGothic" panose="020B0600070205080204" pitchFamily="34" charset="-128"/>
              </a:rPr>
              <a:t>– search algorithms that use an index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selection condition must be on </a:t>
            </a: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search-key of index</a:t>
            </a:r>
            <a:r>
              <a:rPr lang="en-US" altLang="en-US" sz="2000" dirty="0">
                <a:ea typeface="MS PGothic" panose="020B0600070205080204" pitchFamily="34" charset="-128"/>
              </a:rPr>
              <a:t>.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Question: Given the relation 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Instructor (id, name, dept, salary)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Seek cost = 4ms, block cost = 0.1ms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Find the cost of query: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FROM INSTRUCTOR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WHERE id = 83821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7B65DB-CD31-45BC-BF2E-B9792B668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463501"/>
            <a:ext cx="4810125" cy="44672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1B90AF-DA8C-47E2-A4A7-5739C91DFF92}"/>
              </a:ext>
            </a:extLst>
          </p:cNvPr>
          <p:cNvSpPr txBox="1"/>
          <p:nvPr/>
        </p:nvSpPr>
        <p:spPr>
          <a:xfrm>
            <a:off x="2658795" y="4930726"/>
            <a:ext cx="64852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Query cost = cost of index and cost of data</a:t>
            </a:r>
          </a:p>
          <a:p>
            <a:r>
              <a:rPr lang="en-US" dirty="0"/>
              <a:t>Index cost = root cost (1 block + 1 seek) + leaf cost (1 block + 1 seek)</a:t>
            </a:r>
          </a:p>
          <a:p>
            <a:r>
              <a:rPr lang="en-US" dirty="0"/>
              <a:t>                 = 2 blocks + 2 seeks</a:t>
            </a:r>
          </a:p>
          <a:p>
            <a:r>
              <a:rPr lang="en-US" dirty="0"/>
              <a:t>Data cost = 1 block + 1 seek </a:t>
            </a:r>
          </a:p>
          <a:p>
            <a:r>
              <a:rPr lang="en-US" dirty="0"/>
              <a:t>Total cost = 3 blocks + 3 seeks = 3*0.1 + 3*4 = 12.3 </a:t>
            </a:r>
            <a:r>
              <a:rPr lang="en-US" dirty="0" err="1"/>
              <a:t>ms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6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164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162656"/>
            <a:ext cx="7617041" cy="4970857"/>
          </a:xfrm>
        </p:spPr>
        <p:txBody>
          <a:bodyPr/>
          <a:lstStyle/>
          <a:p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Index scan </a:t>
            </a:r>
            <a:r>
              <a:rPr lang="en-US" altLang="en-US" dirty="0">
                <a:ea typeface="MS PGothic" panose="020B0600070205080204" pitchFamily="34" charset="-128"/>
              </a:rPr>
              <a:t>– search algorithms that use an index</a:t>
            </a:r>
          </a:p>
          <a:p>
            <a:pPr lvl="1"/>
            <a:r>
              <a:rPr lang="en-US" altLang="en-US" dirty="0">
                <a:ea typeface="MS PGothic" panose="020B0600070205080204" pitchFamily="34" charset="-128"/>
              </a:rPr>
              <a:t>selection condition must be on </a:t>
            </a:r>
            <a:r>
              <a:rPr lang="en-US" altLang="en-US" dirty="0">
                <a:solidFill>
                  <a:srgbClr val="0000FF"/>
                </a:solidFill>
                <a:ea typeface="MS PGothic" panose="020B0600070205080204" pitchFamily="34" charset="-128"/>
              </a:rPr>
              <a:t>search-key of index</a:t>
            </a:r>
            <a:r>
              <a:rPr lang="en-US" altLang="en-US" dirty="0">
                <a:ea typeface="MS PGothic" panose="020B0600070205080204" pitchFamily="34" charset="-128"/>
              </a:rPr>
              <a:t>.</a:t>
            </a:r>
          </a:p>
          <a:p>
            <a:pPr marL="400050" lvl="1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Given the SQL</a:t>
            </a:r>
          </a:p>
          <a:p>
            <a:pPr marL="400050" lvl="1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	SELECT * FROM STUDENT WHERE id =  1520303042</a:t>
            </a:r>
          </a:p>
          <a:p>
            <a:pPr marL="400050" lvl="1" indent="0"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Clustering B+ tree index on id</a:t>
            </a:r>
          </a:p>
          <a:p>
            <a:pPr marL="400050" lvl="1" indent="0">
              <a:buNone/>
            </a:pPr>
            <a:r>
              <a:rPr lang="en-US" altLang="en-US" sz="2000" b="1" dirty="0">
                <a:solidFill>
                  <a:srgbClr val="0000FF"/>
                </a:solidFill>
                <a:ea typeface="MS PGothic" panose="020B0600070205080204" pitchFamily="34" charset="-128"/>
              </a:rPr>
              <a:t>Example</a:t>
            </a:r>
            <a:r>
              <a:rPr lang="en-US" altLang="en-US" sz="2000" dirty="0">
                <a:ea typeface="MS PGothic" panose="020B0600070205080204" pitchFamily="34" charset="-128"/>
              </a:rPr>
              <a:t>: How many records will be returned? Given the height of the index B+ tree is 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dirty="0">
                <a:ea typeface="MS PGothic" panose="020B0600070205080204" pitchFamily="34" charset="-128"/>
              </a:rPr>
              <a:t> , find the cost of the query.</a:t>
            </a:r>
          </a:p>
          <a:p>
            <a:endParaRPr lang="en-US" altLang="en-US" b="1" dirty="0">
              <a:ea typeface="MS PGothic" panose="020B0600070205080204" pitchFamily="34" charset="-128"/>
            </a:endParaRPr>
          </a:p>
          <a:p>
            <a:r>
              <a:rPr lang="en-US" altLang="en-US" sz="2000" b="1" dirty="0">
                <a:ea typeface="MS PGothic" panose="020B0600070205080204" pitchFamily="34" charset="-128"/>
              </a:rPr>
              <a:t>A2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equality on key</a:t>
            </a:r>
            <a:r>
              <a:rPr lang="en-US" altLang="en-US" sz="2000" dirty="0">
                <a:ea typeface="MS PGothic" panose="020B0600070205080204" pitchFamily="34" charset="-128"/>
              </a:rPr>
              <a:t>).  </a:t>
            </a:r>
            <a:r>
              <a:rPr lang="en-US" altLang="en-US" sz="2000" b="1" u="sng" dirty="0">
                <a:solidFill>
                  <a:srgbClr val="FF0000"/>
                </a:solidFill>
                <a:ea typeface="MS PGothic" panose="020B0600070205080204" pitchFamily="34" charset="-128"/>
              </a:rPr>
              <a:t>Retrieve a single record </a:t>
            </a:r>
            <a:r>
              <a:rPr lang="en-US" altLang="en-US" sz="2000" dirty="0">
                <a:ea typeface="MS PGothic" panose="020B0600070205080204" pitchFamily="34" charset="-128"/>
              </a:rPr>
              <a:t>that satisfies the corresponding equality condition  </a:t>
            </a: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Cost</a:t>
            </a:r>
            <a:r>
              <a:rPr lang="en-US" altLang="en-US" sz="2000" dirty="0">
                <a:ea typeface="MS PGothic" panose="020B0600070205080204" pitchFamily="34" charset="-128"/>
              </a:rPr>
              <a:t> = cost of index traversal + cost of data block</a:t>
            </a:r>
          </a:p>
          <a:p>
            <a:pPr marL="457200" lvl="1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             = 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+</a:t>
            </a:r>
            <a:r>
              <a:rPr lang="en-US" altLang="en-US" sz="2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 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950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64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64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16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164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3AB128-25EE-4C9F-91CE-FCC43A301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" y="0"/>
            <a:ext cx="4851639" cy="685800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EF566D-F04B-43C3-91DA-08825CA78C43}"/>
              </a:ext>
            </a:extLst>
          </p:cNvPr>
          <p:cNvSpPr txBox="1"/>
          <p:nvPr/>
        </p:nvSpPr>
        <p:spPr>
          <a:xfrm>
            <a:off x="4994032" y="0"/>
            <a:ext cx="4142082" cy="246221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Index Search</a:t>
            </a:r>
          </a:p>
          <a:p>
            <a:endParaRPr lang="en-US" sz="2000" dirty="0">
              <a:solidFill>
                <a:srgbClr val="0000FF"/>
              </a:solidFill>
            </a:endParaRPr>
          </a:p>
          <a:p>
            <a:r>
              <a:rPr lang="en-US" sz="2000" dirty="0">
                <a:solidFill>
                  <a:srgbClr val="0000FF"/>
                </a:solidFill>
              </a:rPr>
              <a:t>Each node in different location in disk</a:t>
            </a:r>
          </a:p>
          <a:p>
            <a:endParaRPr lang="en-US" sz="2000" dirty="0">
              <a:solidFill>
                <a:srgbClr val="0000FF"/>
              </a:solidFill>
            </a:endParaRPr>
          </a:p>
          <a:p>
            <a:r>
              <a:rPr lang="en-US" sz="1800" dirty="0"/>
              <a:t>Total Number of seek = h</a:t>
            </a:r>
            <a:r>
              <a:rPr lang="en-US" sz="1800" baseline="-25000" dirty="0"/>
              <a:t>i</a:t>
            </a:r>
            <a:r>
              <a:rPr lang="en-US" sz="1800" dirty="0"/>
              <a:t>  , </a:t>
            </a:r>
          </a:p>
          <a:p>
            <a:r>
              <a:rPr lang="en-US" sz="1800" dirty="0"/>
              <a:t>Total number of block transfer = h</a:t>
            </a:r>
            <a:r>
              <a:rPr lang="en-US" sz="1800" baseline="-25000" dirty="0"/>
              <a:t>i </a:t>
            </a:r>
            <a:endParaRPr lang="en-US" sz="1800" dirty="0"/>
          </a:p>
          <a:p>
            <a:r>
              <a:rPr lang="en-US" sz="1800" dirty="0"/>
              <a:t>Estimated time = h</a:t>
            </a:r>
            <a:r>
              <a:rPr lang="en-US" sz="1800" baseline="-25000" dirty="0"/>
              <a:t>i</a:t>
            </a:r>
            <a:r>
              <a:rPr lang="en-US" sz="1800" dirty="0"/>
              <a:t> * T</a:t>
            </a:r>
            <a:r>
              <a:rPr lang="en-US" sz="1800" baseline="-25000" dirty="0"/>
              <a:t>S</a:t>
            </a:r>
            <a:r>
              <a:rPr lang="en-US" sz="1800" dirty="0"/>
              <a:t> + hi*T</a:t>
            </a:r>
            <a:r>
              <a:rPr lang="en-US" sz="1800" baseline="-25000" dirty="0"/>
              <a:t>T</a:t>
            </a:r>
            <a:r>
              <a:rPr lang="en-US" sz="180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4179D9-5EE7-43AE-9B15-A868FFD83BBC}"/>
              </a:ext>
            </a:extLst>
          </p:cNvPr>
          <p:cNvSpPr txBox="1"/>
          <p:nvPr/>
        </p:nvSpPr>
        <p:spPr>
          <a:xfrm>
            <a:off x="4994032" y="2936631"/>
            <a:ext cx="4142082" cy="18158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Data Search</a:t>
            </a:r>
          </a:p>
          <a:p>
            <a:endParaRPr lang="en-US" sz="2000" dirty="0">
              <a:solidFill>
                <a:srgbClr val="0000FF"/>
              </a:solidFill>
            </a:endParaRPr>
          </a:p>
          <a:p>
            <a:r>
              <a:rPr lang="en-US" sz="1800" dirty="0"/>
              <a:t>Total number of seek = 1, </a:t>
            </a:r>
          </a:p>
          <a:p>
            <a:r>
              <a:rPr lang="en-US" sz="1800" dirty="0"/>
              <a:t>Total number of block transfer = 1</a:t>
            </a:r>
          </a:p>
          <a:p>
            <a:r>
              <a:rPr lang="en-US" sz="1800" dirty="0"/>
              <a:t>Estimated time = T</a:t>
            </a:r>
            <a:r>
              <a:rPr lang="en-US" sz="1800" baseline="-25000" dirty="0"/>
              <a:t>S</a:t>
            </a:r>
            <a:r>
              <a:rPr lang="en-US" sz="1800" dirty="0"/>
              <a:t> +T</a:t>
            </a:r>
            <a:r>
              <a:rPr lang="en-US" sz="1800" baseline="-25000" dirty="0"/>
              <a:t>T</a:t>
            </a:r>
            <a:r>
              <a:rPr lang="en-US" sz="1800" dirty="0"/>
              <a:t> </a:t>
            </a:r>
          </a:p>
          <a:p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D051D9-8DF0-48E9-A3B5-B40234168053}"/>
              </a:ext>
            </a:extLst>
          </p:cNvPr>
          <p:cNvSpPr txBox="1"/>
          <p:nvPr/>
        </p:nvSpPr>
        <p:spPr>
          <a:xfrm>
            <a:off x="4994032" y="4931899"/>
            <a:ext cx="4142082" cy="12311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Index and Data Search</a:t>
            </a:r>
          </a:p>
          <a:p>
            <a:endParaRPr lang="en-US" sz="1800" dirty="0"/>
          </a:p>
          <a:p>
            <a:r>
              <a:rPr lang="en-US" sz="1800" dirty="0"/>
              <a:t>Total Estimated time </a:t>
            </a:r>
          </a:p>
          <a:p>
            <a:r>
              <a:rPr lang="en-US" sz="1800" dirty="0"/>
              <a:t>= (h</a:t>
            </a:r>
            <a:r>
              <a:rPr lang="en-US" sz="1800" baseline="-25000" dirty="0"/>
              <a:t>i</a:t>
            </a:r>
            <a:r>
              <a:rPr lang="en-US" sz="1800" dirty="0"/>
              <a:t> * T</a:t>
            </a:r>
            <a:r>
              <a:rPr lang="en-US" sz="1800" baseline="-25000" dirty="0"/>
              <a:t>S</a:t>
            </a:r>
            <a:r>
              <a:rPr lang="en-US" sz="1800" dirty="0"/>
              <a:t> + hi*T</a:t>
            </a:r>
            <a:r>
              <a:rPr lang="en-US" sz="1800" baseline="-25000" dirty="0"/>
              <a:t>T</a:t>
            </a:r>
            <a:r>
              <a:rPr lang="en-US" sz="1800" dirty="0"/>
              <a:t> )+ (T</a:t>
            </a:r>
            <a:r>
              <a:rPr lang="en-US" sz="1800" baseline="-25000" dirty="0"/>
              <a:t>S</a:t>
            </a:r>
            <a:r>
              <a:rPr lang="en-US" sz="1800" dirty="0"/>
              <a:t> +T</a:t>
            </a:r>
            <a:r>
              <a:rPr lang="en-US" sz="1800" baseline="-25000" dirty="0"/>
              <a:t>T</a:t>
            </a:r>
            <a:r>
              <a:rPr lang="en-US" sz="1800" dirty="0"/>
              <a:t> )</a:t>
            </a:r>
          </a:p>
        </p:txBody>
      </p:sp>
    </p:spTree>
    <p:extLst>
      <p:ext uri="{BB962C8B-B14F-4D97-AF65-F5344CB8AC3E}">
        <p14:creationId xmlns:p14="http://schemas.microsoft.com/office/powerpoint/2010/main" val="170790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1" y="1162657"/>
            <a:ext cx="7617041" cy="3565756"/>
          </a:xfrm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</a:rPr>
              <a:t>A3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equality on </a:t>
            </a:r>
            <a:r>
              <a:rPr lang="en-US" altLang="en-US" sz="2000" b="1" dirty="0" err="1">
                <a:solidFill>
                  <a:srgbClr val="002060"/>
                </a:solidFill>
                <a:ea typeface="MS PGothic" panose="020B0600070205080204" pitchFamily="34" charset="-128"/>
              </a:rPr>
              <a:t>nonkey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Retrieve multiple records. 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Records will be on consecutive blocks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Let b = number of blocks containing matching records</a:t>
            </a: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Cost</a:t>
            </a:r>
            <a:r>
              <a:rPr lang="en-US" altLang="en-US" sz="2000" dirty="0">
                <a:ea typeface="MS PGothic" panose="020B0600070205080204" pitchFamily="34" charset="-128"/>
              </a:rPr>
              <a:t> = 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* b</a:t>
            </a:r>
          </a:p>
          <a:p>
            <a:pPr lvl="1"/>
            <a:endParaRPr lang="en-US" altLang="en-US" sz="2000" i="1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00FF"/>
                </a:solidFill>
                <a:ea typeface="MS PGothic" panose="020B0600070205080204" pitchFamily="34" charset="-128"/>
              </a:rPr>
              <a:t>Example: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The relation </a:t>
            </a: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student(id, name, CGPA, street, city, NID)</a:t>
            </a:r>
            <a:r>
              <a:rPr lang="en-US" altLang="en-US" sz="2000" dirty="0">
                <a:ea typeface="MS PGothic" panose="020B0600070205080204" pitchFamily="34" charset="-128"/>
              </a:rPr>
              <a:t> is given. There is a clustering B+ tree index on city attribute of student relation and there are 200 cities. The height of the index is 2 and there are 400 students living in Uttara city. The record size is 400 byte and block size is 4KB. 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Find the query cost for the following query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CITY = ‘UTTARA’</a:t>
            </a:r>
          </a:p>
          <a:p>
            <a:endParaRPr lang="en-US" altLang="en-US" sz="2000" i="1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087491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9538" y="694251"/>
            <a:ext cx="3170604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8812" y="1134522"/>
            <a:ext cx="4041616" cy="3565756"/>
          </a:xfrm>
        </p:spPr>
        <p:txBody>
          <a:bodyPr/>
          <a:lstStyle/>
          <a:p>
            <a:pPr lvl="1"/>
            <a:endParaRPr lang="en-US" altLang="en-US" sz="2000" i="1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0000FF"/>
                </a:solidFill>
                <a:ea typeface="MS PGothic" panose="020B0600070205080204" pitchFamily="34" charset="-128"/>
              </a:rPr>
              <a:t>Example: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The relation </a:t>
            </a: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student(id, name, CGPA, street, city, NID)</a:t>
            </a:r>
            <a:r>
              <a:rPr lang="en-US" altLang="en-US" sz="2000" dirty="0">
                <a:ea typeface="MS PGothic" panose="020B0600070205080204" pitchFamily="34" charset="-128"/>
              </a:rPr>
              <a:t> is given. There is a clustering B+ tree index on city attribute of student relation and there are 200 cities. The height of the index is 2 and there are 400 students living in Uttara city. The record size is 400 byte and block size is 4KB. 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Seek time = 10ms, block transfer time = 0.2ms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Find the query cost for the following query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CITY = ‘UTTARA’</a:t>
            </a:r>
          </a:p>
          <a:p>
            <a:endParaRPr lang="en-US" altLang="en-US" sz="2000" i="1" dirty="0">
              <a:ea typeface="MS PGothic" panose="020B060007020508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4AB40E-5D0B-4CE7-ADFA-641EC3E0A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792" y="0"/>
            <a:ext cx="4851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988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9538" y="694251"/>
            <a:ext cx="3170604" cy="609600"/>
          </a:xfrm>
        </p:spPr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4502" y="1162657"/>
            <a:ext cx="3610890" cy="3565756"/>
          </a:xfrm>
        </p:spPr>
        <p:txBody>
          <a:bodyPr/>
          <a:lstStyle/>
          <a:p>
            <a:pPr lvl="1"/>
            <a:endParaRPr lang="en-US" altLang="en-US" sz="2000" i="1" dirty="0">
              <a:ea typeface="MS PGothic" panose="020B0600070205080204" pitchFamily="34" charset="-128"/>
            </a:endParaRPr>
          </a:p>
          <a:p>
            <a:r>
              <a:rPr lang="en-US" altLang="en-US" sz="2000" i="1" dirty="0">
                <a:ea typeface="MS PGothic" panose="020B0600070205080204" pitchFamily="34" charset="-128"/>
              </a:rPr>
              <a:t>Total cost =</a:t>
            </a:r>
          </a:p>
          <a:p>
            <a:pPr marL="0" indent="0">
              <a:buNone/>
            </a:pPr>
            <a:r>
              <a:rPr lang="en-US" altLang="en-US" sz="2000" i="1" dirty="0">
                <a:ea typeface="MS PGothic" panose="020B0600070205080204" pitchFamily="34" charset="-128"/>
              </a:rPr>
              <a:t>Index cost + data cost</a:t>
            </a:r>
          </a:p>
          <a:p>
            <a:pPr marL="0" indent="0">
              <a:buNone/>
            </a:pPr>
            <a:r>
              <a:rPr lang="en-US" altLang="en-US" sz="2000" i="1" dirty="0">
                <a:ea typeface="MS PGothic" panose="020B0600070205080204" pitchFamily="34" charset="-128"/>
              </a:rPr>
              <a:t>= 2 * (10+0.2) + 1 * 10 + 40 * 0.2</a:t>
            </a:r>
          </a:p>
          <a:p>
            <a:pPr marL="0" indent="0">
              <a:buNone/>
            </a:pPr>
            <a:r>
              <a:rPr lang="en-US" altLang="en-US" sz="2000" i="1" dirty="0">
                <a:ea typeface="MS PGothic" panose="020B0600070205080204" pitchFamily="34" charset="-128"/>
              </a:rPr>
              <a:t>= 20.4 + 10+ 8</a:t>
            </a:r>
          </a:p>
          <a:p>
            <a:pPr marL="0" indent="0">
              <a:buNone/>
            </a:pPr>
            <a:r>
              <a:rPr lang="en-US" altLang="en-US" sz="2000" i="1" dirty="0">
                <a:ea typeface="MS PGothic" panose="020B0600070205080204" pitchFamily="34" charset="-128"/>
              </a:rPr>
              <a:t>=</a:t>
            </a:r>
          </a:p>
          <a:p>
            <a:pPr marL="0" indent="0">
              <a:buNone/>
            </a:pPr>
            <a:endParaRPr lang="en-US" altLang="en-US" sz="2000" i="1" dirty="0">
              <a:ea typeface="MS PGothic" panose="020B0600070205080204" pitchFamily="34" charset="-128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4AB40E-5D0B-4CE7-ADFA-641EC3E0A3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3792" y="0"/>
            <a:ext cx="485163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82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69C0E0E-12BB-4241-BE56-69B9C34C5D4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69273CB8-BC00-402F-AF16-C1D9F91D07A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8350" y="727075"/>
            <a:ext cx="7617041" cy="3565756"/>
          </a:xfrm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</a:rPr>
              <a:t>A3 </a:t>
            </a:r>
            <a:r>
              <a:rPr lang="en-US" altLang="en-US" sz="2000" dirty="0">
                <a:ea typeface="MS PGothic" panose="020B0600070205080204" pitchFamily="34" charset="-128"/>
              </a:rPr>
              <a:t>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equality on </a:t>
            </a:r>
            <a:r>
              <a:rPr lang="en-US" altLang="en-US" sz="2000" b="1" dirty="0" err="1">
                <a:solidFill>
                  <a:srgbClr val="002060"/>
                </a:solidFill>
                <a:ea typeface="MS PGothic" panose="020B0600070205080204" pitchFamily="34" charset="-128"/>
              </a:rPr>
              <a:t>nonkey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Retrieve multiple records. 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Records will be on consecutive blocks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Let b = number of blocks containing matching records</a:t>
            </a:r>
          </a:p>
          <a:p>
            <a:pPr lvl="1"/>
            <a:r>
              <a:rPr lang="en-US" altLang="en-US" sz="2000" i="1" dirty="0">
                <a:ea typeface="MS PGothic" panose="020B0600070205080204" pitchFamily="34" charset="-128"/>
              </a:rPr>
              <a:t>Cost</a:t>
            </a:r>
            <a:r>
              <a:rPr lang="en-US" altLang="en-US" sz="2000" dirty="0">
                <a:ea typeface="MS PGothic" panose="020B0600070205080204" pitchFamily="34" charset="-128"/>
              </a:rPr>
              <a:t> = 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</a:rPr>
              <a:t> * b</a:t>
            </a:r>
          </a:p>
          <a:p>
            <a:pPr lvl="1"/>
            <a:endParaRPr lang="en-US" altLang="en-US" sz="2000" i="1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b="1" dirty="0">
                <a:solidFill>
                  <a:srgbClr val="FF0000"/>
                </a:solidFill>
                <a:ea typeface="MS PGothic" panose="020B0600070205080204" pitchFamily="34" charset="-128"/>
              </a:rPr>
              <a:t>Question: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The relation </a:t>
            </a: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student(id, name, CGPA, street, city, NID)</a:t>
            </a:r>
            <a:r>
              <a:rPr lang="en-US" altLang="en-US" sz="2000" dirty="0">
                <a:ea typeface="MS PGothic" panose="020B0600070205080204" pitchFamily="34" charset="-128"/>
              </a:rPr>
              <a:t> is given. There is a clustering B+ tree index on name attribute of student relation and there are 2000 unique names. The height of the index is 4 and there are 20 students whose name is Abdullah. The record size is 400 bytes and block size is 4KB. Seek time = 10ms, block transfer time = 0.2ms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Find the query cost for the following query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name = ‘Abdullah’</a:t>
            </a:r>
          </a:p>
          <a:p>
            <a:endParaRPr lang="en-US" altLang="en-US" sz="2000" i="1" dirty="0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640294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7DB53E9F-8A74-4C7D-8CBA-255265F636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62657"/>
            <a:ext cx="4360985" cy="5577867"/>
          </a:xfrm>
          <a:ln>
            <a:noFill/>
          </a:ln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</a:rPr>
              <a:t>A4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equality on key/non-key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Retrieve a single record if the search-key is a candidate key</a:t>
            </a:r>
          </a:p>
          <a:p>
            <a:pPr lvl="2"/>
            <a:r>
              <a:rPr lang="en-US" altLang="en-US" sz="2000" i="1" dirty="0">
                <a:ea typeface="MS PGothic" panose="020B0600070205080204" pitchFamily="34" charset="-128"/>
              </a:rPr>
              <a:t>Cost = (h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+ 1)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Retrieve multiple records if search-key is not a candidate key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each of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matching records may be on a different block  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Cost =  (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</a:t>
            </a:r>
            <a:r>
              <a:rPr lang="en-US" altLang="en-US" sz="2000" i="1" dirty="0">
                <a:ea typeface="MS PGothic" panose="020B0600070205080204" pitchFamily="34" charset="-128"/>
              </a:rPr>
              <a:t>n)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Can be very expensive!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D32CB-503C-45C0-92BF-0F47C42882B6}"/>
              </a:ext>
            </a:extLst>
          </p:cNvPr>
          <p:cNvSpPr txBox="1"/>
          <p:nvPr/>
        </p:nvSpPr>
        <p:spPr>
          <a:xfrm>
            <a:off x="4572001" y="1162657"/>
            <a:ext cx="4572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What is secondary index?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Student relation is physically sorted order in disk on id. There is an index on id. 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What type of index on id? Why?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Answer: This is primary index because the file is sorted with the same attribute (id) as the index (id).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Other than the primary index of a relation, all indices of the relation are the secondary index. 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There is an index on district attribute. What type of index is it?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4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6419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7DB53E9F-8A74-4C7D-8CBA-255265F636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62657"/>
            <a:ext cx="4360985" cy="5577867"/>
          </a:xfrm>
          <a:ln>
            <a:noFill/>
          </a:ln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</a:rPr>
              <a:t>A4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equality on </a:t>
            </a:r>
            <a:r>
              <a:rPr lang="en-US" altLang="en-US" sz="2000" b="1" dirty="0">
                <a:solidFill>
                  <a:srgbClr val="FF0000"/>
                </a:solidFill>
                <a:ea typeface="MS PGothic" panose="020B0600070205080204" pitchFamily="34" charset="-128"/>
              </a:rPr>
              <a:t>key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/non-key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Retrieve a single record if the search-key is a candidate key</a:t>
            </a:r>
          </a:p>
          <a:p>
            <a:pPr lvl="2"/>
            <a:r>
              <a:rPr lang="en-US" altLang="en-US" sz="2000" i="1" dirty="0">
                <a:ea typeface="MS PGothic" panose="020B0600070205080204" pitchFamily="34" charset="-128"/>
              </a:rPr>
              <a:t>Cost = (h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+ 1)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D32CB-503C-45C0-92BF-0F47C42882B6}"/>
              </a:ext>
            </a:extLst>
          </p:cNvPr>
          <p:cNvSpPr txBox="1"/>
          <p:nvPr/>
        </p:nvSpPr>
        <p:spPr>
          <a:xfrm>
            <a:off x="4572001" y="1162657"/>
            <a:ext cx="4572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solidFill>
                  <a:srgbClr val="0000FF"/>
                </a:solidFill>
              </a:rPr>
              <a:t>Example:</a:t>
            </a:r>
            <a:r>
              <a:rPr lang="en-US" altLang="en-US" sz="2000" dirty="0">
                <a:ea typeface="MS PGothic" panose="020B0600070205080204" pitchFamily="34" charset="-128"/>
              </a:rPr>
              <a:t> </a:t>
            </a:r>
            <a:r>
              <a:rPr lang="en-US" altLang="en-US" sz="2000" dirty="0"/>
              <a:t>There is a</a:t>
            </a:r>
            <a:r>
              <a:rPr lang="en-US" altLang="en-US" sz="2000" dirty="0">
                <a:ea typeface="MS PGothic" panose="020B0600070205080204" pitchFamily="34" charset="-128"/>
              </a:rPr>
              <a:t> B+ tree index on NID attribute of student relation. The height of the index is 4. </a:t>
            </a:r>
            <a:r>
              <a:rPr lang="en-US" altLang="en-US" sz="2000" dirty="0"/>
              <a:t>Seek cost is 10ms and block transfer cost is 0.2 </a:t>
            </a:r>
            <a:r>
              <a:rPr lang="en-US" altLang="en-US" sz="2000" dirty="0" err="1"/>
              <a:t>ms.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Q1. Find the query cost for the following query using the above index.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NID = 999888331</a:t>
            </a:r>
          </a:p>
          <a:p>
            <a:pPr marL="0" indent="0">
              <a:buNone/>
            </a:pPr>
            <a:endParaRPr lang="en-US" altLang="en-US" sz="2000" dirty="0"/>
          </a:p>
          <a:p>
            <a:r>
              <a:rPr lang="en-US" altLang="en-US" sz="2000" b="1" dirty="0">
                <a:solidFill>
                  <a:srgbClr val="FF0000"/>
                </a:solidFill>
              </a:rPr>
              <a:t>Q2</a:t>
            </a:r>
            <a:r>
              <a:rPr lang="en-US" altLang="en-US" sz="2000" b="1" dirty="0">
                <a:solidFill>
                  <a:srgbClr val="0000FF"/>
                </a:solidFill>
              </a:rPr>
              <a:t>:</a:t>
            </a:r>
            <a:r>
              <a:rPr lang="en-US" altLang="en-US" sz="2000" dirty="0"/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Find the query cost for the above query without using the index. Total number of blocks of student relation is 2000. The NID 999888331 is in 500</a:t>
            </a:r>
            <a:r>
              <a:rPr lang="en-US" altLang="en-US" sz="2000" baseline="30000" dirty="0">
                <a:ea typeface="MS PGothic" panose="020B0600070205080204" pitchFamily="34" charset="-128"/>
              </a:rPr>
              <a:t>th</a:t>
            </a:r>
            <a:r>
              <a:rPr lang="en-US" altLang="en-US" sz="2000" dirty="0">
                <a:ea typeface="MS PGothic" panose="020B0600070205080204" pitchFamily="34" charset="-128"/>
              </a:rPr>
              <a:t> block.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72855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203" y="369868"/>
            <a:ext cx="4207955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D32CB-503C-45C0-92BF-0F47C42882B6}"/>
              </a:ext>
            </a:extLst>
          </p:cNvPr>
          <p:cNvSpPr txBox="1"/>
          <p:nvPr/>
        </p:nvSpPr>
        <p:spPr>
          <a:xfrm>
            <a:off x="42203" y="1007912"/>
            <a:ext cx="4079631" cy="495520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solidFill>
                  <a:srgbClr val="0000FF"/>
                </a:solidFill>
              </a:rPr>
              <a:t>Example</a:t>
            </a:r>
            <a:r>
              <a:rPr lang="en-US" altLang="en-US" sz="2000" b="1" dirty="0">
                <a:solidFill>
                  <a:srgbClr val="0000FF"/>
                </a:solidFill>
                <a:ea typeface="MS PGothic" panose="020B0600070205080204" pitchFamily="34" charset="-128"/>
              </a:rPr>
              <a:t>: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Given B+ tree index on NID attribute of student relation. The height of the index is 4. </a:t>
            </a:r>
            <a:r>
              <a:rPr lang="en-US" altLang="en-US" sz="2000" dirty="0"/>
              <a:t>Seek cost is 10ms and block transfer cost is 0.2 </a:t>
            </a:r>
            <a:r>
              <a:rPr lang="en-US" altLang="en-US" sz="2000" dirty="0" err="1"/>
              <a:t>ms.</a:t>
            </a: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Q1. Find the query cost for the following query using the above index.</a:t>
            </a: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NID = 999888331</a:t>
            </a:r>
            <a:endParaRPr lang="en-US" altLang="en-US" sz="2000" dirty="0"/>
          </a:p>
          <a:p>
            <a:r>
              <a:rPr lang="en-US" altLang="en-US" sz="2000" dirty="0">
                <a:solidFill>
                  <a:srgbClr val="0000FF"/>
                </a:solidFill>
              </a:rPr>
              <a:t>Q2. </a:t>
            </a: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Find the query cost for the above query without using the index. Total number of blocks of student relation is 2000. The NID 999888331 is in 500</a:t>
            </a:r>
            <a:r>
              <a:rPr lang="en-US" altLang="en-US" sz="2000" baseline="30000" dirty="0">
                <a:solidFill>
                  <a:srgbClr val="0000FF"/>
                </a:solidFill>
                <a:ea typeface="MS PGothic" panose="020B0600070205080204" pitchFamily="34" charset="-128"/>
              </a:rPr>
              <a:t>th</a:t>
            </a: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 block.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3347E9-021E-40CC-BE67-65219FF27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1834" y="-894885"/>
            <a:ext cx="485163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2932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7DB53E9F-8A74-4C7D-8CBA-255265F636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1162657"/>
            <a:ext cx="4360985" cy="5577867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</a:rPr>
              <a:t>A4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equality on key/</a:t>
            </a:r>
            <a:r>
              <a:rPr lang="en-US" altLang="en-US" sz="2000" b="1" dirty="0">
                <a:solidFill>
                  <a:srgbClr val="FF0000"/>
                </a:solidFill>
                <a:ea typeface="MS PGothic" panose="020B0600070205080204" pitchFamily="34" charset="-128"/>
              </a:rPr>
              <a:t>non-key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lvl="1"/>
            <a:r>
              <a:rPr lang="en-US" altLang="en-US" sz="2000" dirty="0">
                <a:ea typeface="MS PGothic" panose="020B0600070205080204" pitchFamily="34" charset="-128"/>
              </a:rPr>
              <a:t>Retrieve multiple records if search-key is not a candidate key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each of </a:t>
            </a:r>
            <a:r>
              <a:rPr lang="en-US" altLang="en-US" sz="2000" i="1" dirty="0">
                <a:ea typeface="MS PGothic" panose="020B0600070205080204" pitchFamily="34" charset="-128"/>
              </a:rPr>
              <a:t>n</a:t>
            </a:r>
            <a:r>
              <a:rPr lang="en-US" altLang="en-US" sz="2000" dirty="0">
                <a:ea typeface="MS PGothic" panose="020B0600070205080204" pitchFamily="34" charset="-128"/>
              </a:rPr>
              <a:t> matching records may be on a different block  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</a:rPr>
              <a:t>Cost =  (</a:t>
            </a:r>
            <a:r>
              <a:rPr lang="en-US" altLang="en-US" sz="2000" i="1" dirty="0">
                <a:ea typeface="MS PGothic" panose="020B0600070205080204" pitchFamily="34" charset="-128"/>
              </a:rPr>
              <a:t>h</a:t>
            </a:r>
            <a:r>
              <a:rPr lang="en-US" altLang="en-US" sz="20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+ </a:t>
            </a:r>
            <a:r>
              <a:rPr lang="en-US" altLang="en-US" sz="2000" i="1" dirty="0">
                <a:ea typeface="MS PGothic" panose="020B0600070205080204" pitchFamily="34" charset="-128"/>
              </a:rPr>
              <a:t>n) *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20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20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r>
              <a:rPr lang="en-US" altLang="en-US" sz="2000" i="1" dirty="0"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Can be very expensive!</a:t>
            </a:r>
          </a:p>
          <a:p>
            <a:endParaRPr lang="en-US" altLang="en-US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dirty="0">
              <a:ea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D32CB-503C-45C0-92BF-0F47C42882B6}"/>
              </a:ext>
            </a:extLst>
          </p:cNvPr>
          <p:cNvSpPr txBox="1"/>
          <p:nvPr/>
        </p:nvSpPr>
        <p:spPr>
          <a:xfrm>
            <a:off x="4572001" y="1162657"/>
            <a:ext cx="45720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en-US" sz="2000" dirty="0">
                <a:solidFill>
                  <a:srgbClr val="0000FF"/>
                </a:solidFill>
              </a:rPr>
              <a:t>Example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Given B+ tree index on district attribute of student relation and there are 64 districts. The height of the index is 1 and there are 800 students from Comilla. Each of the records </a:t>
            </a:r>
            <a:r>
              <a:rPr lang="en-US" altLang="en-US" sz="2000" dirty="0"/>
              <a:t>is in different block. Seek cost is 10ms and block transfer cost is 0.2 </a:t>
            </a:r>
            <a:r>
              <a:rPr lang="en-US" altLang="en-US" sz="2000" dirty="0" err="1"/>
              <a:t>ms.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Q1: Find the query cost for the following query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district = ‘Comilla’</a:t>
            </a: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Q2: Find the query cost without using the index.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(This requires full scan of the relation. Why?)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4333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69868"/>
            <a:ext cx="4093699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D32CB-503C-45C0-92BF-0F47C42882B6}"/>
              </a:ext>
            </a:extLst>
          </p:cNvPr>
          <p:cNvSpPr txBox="1"/>
          <p:nvPr/>
        </p:nvSpPr>
        <p:spPr>
          <a:xfrm>
            <a:off x="0" y="979468"/>
            <a:ext cx="4206240" cy="58785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en-US" sz="2000" b="1" dirty="0">
                <a:solidFill>
                  <a:srgbClr val="0000FF"/>
                </a:solidFill>
              </a:rPr>
              <a:t>Example</a:t>
            </a:r>
            <a:r>
              <a:rPr lang="en-US" altLang="en-US" sz="2000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2000" dirty="0">
                <a:ea typeface="MS PGothic" panose="020B0600070205080204" pitchFamily="34" charset="-128"/>
              </a:rPr>
              <a:t>Given B+ tree index on district attribute of student relation and there are 64 districts. The height of the index is 1 and there are 800 students from Comilla. Each of the records </a:t>
            </a:r>
            <a:r>
              <a:rPr lang="en-US" altLang="en-US" sz="2000" dirty="0"/>
              <a:t>is in different block. Seek cost is 10ms and block transfer cost is 0.2 </a:t>
            </a:r>
            <a:r>
              <a:rPr lang="en-US" altLang="en-US" sz="2000" dirty="0" err="1"/>
              <a:t>ms.</a:t>
            </a: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Q1: Find the query cost for the following query using the index.</a:t>
            </a:r>
          </a:p>
          <a:p>
            <a:pPr marL="0" indent="0">
              <a:buNone/>
            </a:pPr>
            <a:endParaRPr lang="en-US" altLang="en-US" sz="20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SELECT * FROM student WHERE district = ‘Comilla’</a:t>
            </a:r>
          </a:p>
          <a:p>
            <a:pPr marL="0" indent="0">
              <a:buNone/>
            </a:pPr>
            <a:endParaRPr lang="en-US" altLang="en-US" sz="2000" dirty="0"/>
          </a:p>
          <a:p>
            <a:pPr marL="0" indent="0"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Q2: Find the query cost without using the index.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(This requires full scan of the relation. Why?)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1ECA4-5718-433F-932A-9A20CCD41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361" y="0"/>
            <a:ext cx="485163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6873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669527DF-FFDC-4C5E-AEAD-2E439565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69868"/>
            <a:ext cx="4093699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Using Indices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AD32CB-503C-45C0-92BF-0F47C42882B6}"/>
              </a:ext>
            </a:extLst>
          </p:cNvPr>
          <p:cNvSpPr txBox="1"/>
          <p:nvPr/>
        </p:nvSpPr>
        <p:spPr>
          <a:xfrm>
            <a:off x="0" y="979468"/>
            <a:ext cx="4206240" cy="5909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</a:rPr>
              <a:t>Question </a:t>
            </a:r>
            <a:r>
              <a:rPr lang="en-US" altLang="en-US" sz="1800" b="1" dirty="0">
                <a:solidFill>
                  <a:srgbClr val="0000FF"/>
                </a:solidFill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</a:rPr>
              <a:t>Given B+ tree index on </a:t>
            </a:r>
            <a:r>
              <a:rPr lang="en-US" altLang="en-US" sz="1800" dirty="0">
                <a:solidFill>
                  <a:srgbClr val="0000FF"/>
                </a:solidFill>
              </a:rPr>
              <a:t>city</a:t>
            </a:r>
            <a:r>
              <a:rPr lang="en-US" altLang="en-US" sz="1800" dirty="0">
                <a:ea typeface="MS PGothic" panose="020B0600070205080204" pitchFamily="34" charset="-128"/>
              </a:rPr>
              <a:t> attribute of student relation and there are </a:t>
            </a:r>
            <a:r>
              <a:rPr lang="en-US" altLang="en-US" sz="1800" dirty="0"/>
              <a:t>500</a:t>
            </a:r>
            <a:r>
              <a:rPr lang="en-US" altLang="en-US" sz="1800" dirty="0">
                <a:ea typeface="MS PGothic" panose="020B0600070205080204" pitchFamily="34" charset="-128"/>
              </a:rPr>
              <a:t> cities. The height of the index is 2 and there are </a:t>
            </a:r>
            <a:r>
              <a:rPr lang="en-US" altLang="en-US" sz="1800" dirty="0"/>
              <a:t>3</a:t>
            </a:r>
            <a:r>
              <a:rPr lang="en-US" altLang="en-US" sz="1800" dirty="0">
                <a:ea typeface="MS PGothic" panose="020B0600070205080204" pitchFamily="34" charset="-128"/>
              </a:rPr>
              <a:t>0 students from city </a:t>
            </a:r>
            <a:r>
              <a:rPr lang="en-US" altLang="en-US" sz="1800" dirty="0"/>
              <a:t>Bhola</a:t>
            </a:r>
            <a:r>
              <a:rPr lang="en-US" altLang="en-US" sz="1800" dirty="0">
                <a:ea typeface="MS PGothic" panose="020B0600070205080204" pitchFamily="34" charset="-128"/>
              </a:rPr>
              <a:t>. Each of the records </a:t>
            </a:r>
            <a:r>
              <a:rPr lang="en-US" altLang="en-US" sz="1800" dirty="0"/>
              <a:t>is in different block and no block is consecutive. Seek cost is 10ms and block transfer cost is 0.1 </a:t>
            </a:r>
            <a:r>
              <a:rPr lang="en-US" altLang="en-US" sz="1800" dirty="0" err="1"/>
              <a:t>ms.</a:t>
            </a:r>
            <a:r>
              <a:rPr lang="en-US" altLang="en-US" sz="1800" dirty="0"/>
              <a:t> The number of blocks of student relation is 2000.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1800" dirty="0"/>
              <a:t>a. </a:t>
            </a:r>
            <a:r>
              <a:rPr lang="en-US" altLang="en-US" sz="1800" dirty="0">
                <a:ea typeface="MS PGothic" panose="020B0600070205080204" pitchFamily="34" charset="-128"/>
              </a:rPr>
              <a:t>Find the query cost for the following query using the index.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SELECT * FROM student WHERE </a:t>
            </a:r>
            <a:r>
              <a:rPr lang="en-US" altLang="en-US" sz="1800" dirty="0"/>
              <a:t>city</a:t>
            </a:r>
            <a:r>
              <a:rPr lang="en-US" altLang="en-US" sz="1800" dirty="0">
                <a:ea typeface="MS PGothic" panose="020B0600070205080204" pitchFamily="34" charset="-128"/>
              </a:rPr>
              <a:t> = ‘</a:t>
            </a:r>
            <a:r>
              <a:rPr lang="en-US" altLang="en-US" sz="1800" dirty="0"/>
              <a:t>Bhola</a:t>
            </a:r>
            <a:r>
              <a:rPr lang="en-US" altLang="en-US" sz="1800" dirty="0">
                <a:ea typeface="MS PGothic" panose="020B0600070205080204" pitchFamily="34" charset="-128"/>
              </a:rPr>
              <a:t>’</a:t>
            </a:r>
          </a:p>
          <a:p>
            <a:pPr marL="0" indent="0">
              <a:buNone/>
            </a:pPr>
            <a:r>
              <a:rPr lang="en-US" altLang="en-US" sz="1800" dirty="0"/>
              <a:t>b. </a:t>
            </a:r>
            <a:r>
              <a:rPr lang="en-US" altLang="en-US" sz="1800" dirty="0">
                <a:ea typeface="MS PGothic" panose="020B0600070205080204" pitchFamily="34" charset="-128"/>
              </a:rPr>
              <a:t>Find the query cost without using the index.</a:t>
            </a:r>
          </a:p>
          <a:p>
            <a:pPr marL="0" indent="0">
              <a:buNone/>
            </a:pPr>
            <a:r>
              <a:rPr lang="en-US" altLang="en-US" sz="1800" dirty="0"/>
              <a:t>c. Find cost of a if Bhola would have 5 students.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1800" dirty="0"/>
              <a:t>d. Compare and explain the cost of a, b and c</a:t>
            </a:r>
            <a:endParaRPr lang="en-US" altLang="en-US" sz="1800" dirty="0">
              <a:ea typeface="MS PGothic" panose="020B0600070205080204" pitchFamily="34" charset="-128"/>
            </a:endParaRPr>
          </a:p>
          <a:p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01ECA4-5718-433F-932A-9A20CCD41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2361" y="0"/>
            <a:ext cx="4851639" cy="6858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0223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C20946C2-54EF-43A4-BEEE-FF0078C6C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13026"/>
            <a:ext cx="3606017" cy="5629159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kumimoji="0" lang="en-US" altLang="en-US" sz="2000" dirty="0">
                <a:ea typeface="MS PGothic" panose="020B0600070205080204" pitchFamily="34" charset="-128"/>
              </a:rPr>
              <a:t>Can implement selections of the form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or 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</a:t>
            </a:r>
            <a:r>
              <a:rPr kumimoji="0"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 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by using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a linear file scan,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or by using indices in the following ways:</a:t>
            </a:r>
            <a:endParaRPr lang="en-US" altLang="en-US" sz="2000" b="1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2000" b="1" dirty="0">
                <a:ea typeface="MS PGothic" panose="020B0600070205080204" pitchFamily="34" charset="-128"/>
              </a:rPr>
              <a:t>A5</a:t>
            </a:r>
            <a:r>
              <a:rPr lang="en-US" altLang="en-US" sz="2000" dirty="0">
                <a:ea typeface="MS PGothic" panose="020B0600070205080204" pitchFamily="34" charset="-128"/>
              </a:rPr>
              <a:t> (</a:t>
            </a:r>
            <a:r>
              <a:rPr lang="en-US" altLang="en-US" sz="2000" b="1" dirty="0">
                <a:solidFill>
                  <a:srgbClr val="002060"/>
                </a:solidFill>
                <a:ea typeface="MS PGothic" panose="020B0600070205080204" pitchFamily="34" charset="-128"/>
              </a:rPr>
              <a:t>clustering index, comparison</a:t>
            </a:r>
            <a:r>
              <a:rPr lang="en-US" altLang="en-US" sz="2000" dirty="0">
                <a:ea typeface="MS PGothic" panose="020B0600070205080204" pitchFamily="34" charset="-128"/>
              </a:rPr>
              <a:t>)</a:t>
            </a:r>
            <a:r>
              <a:rPr lang="en-US" altLang="en-US" sz="2000" i="1" dirty="0">
                <a:ea typeface="MS PGothic" panose="020B0600070205080204" pitchFamily="34" charset="-128"/>
              </a:rPr>
              <a:t>.</a:t>
            </a:r>
            <a:r>
              <a:rPr lang="en-US" altLang="en-US" sz="2000" dirty="0">
                <a:ea typeface="MS PGothic" panose="020B0600070205080204" pitchFamily="34" charset="-128"/>
              </a:rPr>
              <a:t> (Relation is sorted on A)</a:t>
            </a:r>
            <a:endParaRPr lang="en-US" altLang="en-US" sz="2000" i="1" dirty="0">
              <a:ea typeface="MS PGothic" panose="020B0600070205080204" pitchFamily="34" charset="-128"/>
            </a:endParaRPr>
          </a:p>
          <a:p>
            <a:pPr marL="514350" lvl="1" indent="0">
              <a:lnSpc>
                <a:spcPct val="90000"/>
              </a:lnSpc>
              <a:buNone/>
            </a:pPr>
            <a:r>
              <a:rPr lang="en-US" altLang="en-US" sz="2000" dirty="0">
                <a:ea typeface="MS PGothic" panose="020B0600070205080204" pitchFamily="34" charset="-128"/>
              </a:rPr>
              <a:t>For 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 V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use index to find first tuple 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 v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 and scan relation sequentially  from there</a:t>
            </a:r>
          </a:p>
          <a:p>
            <a:pPr marL="514350" lvl="1" indent="0">
              <a:lnSpc>
                <a:spcPct val="90000"/>
              </a:lnSpc>
              <a:buNone/>
            </a:pP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For 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sz="20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) just scan relation sequentially till first tuple &gt; </a:t>
            </a:r>
            <a:r>
              <a:rPr kumimoji="0"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v; </a:t>
            </a:r>
            <a:r>
              <a:rPr kumimoji="0"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do not use index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0DBD45-7592-48C7-B01F-710BFB5C755D}"/>
              </a:ext>
            </a:extLst>
          </p:cNvPr>
          <p:cNvSpPr txBox="1"/>
          <p:nvPr/>
        </p:nvSpPr>
        <p:spPr>
          <a:xfrm>
            <a:off x="3606017" y="1111366"/>
            <a:ext cx="5537983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Example: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Given clustering index on id of student relation. </a:t>
            </a:r>
          </a:p>
          <a:p>
            <a:endParaRPr lang="en-US" sz="2000" dirty="0"/>
          </a:p>
          <a:p>
            <a:r>
              <a:rPr lang="en-US" sz="2000" dirty="0"/>
              <a:t>Q1. Find all students with id &lt;= 1500001042. The id 1500001042 is the first tuple of student relation. </a:t>
            </a:r>
          </a:p>
          <a:p>
            <a:r>
              <a:rPr lang="en-US" dirty="0"/>
              <a:t>SELECT * FROM student WHERE id &lt;= 1500001042</a:t>
            </a:r>
          </a:p>
          <a:p>
            <a:endParaRPr lang="en-US" sz="2000" dirty="0"/>
          </a:p>
          <a:p>
            <a:r>
              <a:rPr lang="en-US" sz="2000" dirty="0"/>
              <a:t>Q2. Find all students with id &lt;= 1800001042. The id 1800001042 is in 1200</a:t>
            </a:r>
            <a:r>
              <a:rPr lang="en-US" sz="2000" baseline="30000" dirty="0"/>
              <a:t>th</a:t>
            </a:r>
            <a:r>
              <a:rPr lang="en-US" sz="2000" dirty="0"/>
              <a:t> block of student relation.</a:t>
            </a:r>
          </a:p>
          <a:p>
            <a:r>
              <a:rPr lang="en-US" dirty="0"/>
              <a:t>SELECT * FROM student WHERE id &lt;= 1800001042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0000FF"/>
                </a:solidFill>
              </a:rPr>
              <a:t>Find the query cost of Q1 and Q2. Here no need to use</a:t>
            </a:r>
            <a:r>
              <a:rPr lang="en-US" sz="2000" dirty="0">
                <a:solidFill>
                  <a:srgbClr val="FF0000"/>
                </a:solidFill>
              </a:rPr>
              <a:t> index (why?)</a:t>
            </a:r>
            <a:r>
              <a:rPr lang="en-US" sz="2000" dirty="0">
                <a:solidFill>
                  <a:srgbClr val="0000FF"/>
                </a:solidFill>
              </a:rPr>
              <a:t>. </a:t>
            </a:r>
            <a:r>
              <a:rPr lang="en-US" altLang="en-US" sz="2000" dirty="0">
                <a:solidFill>
                  <a:srgbClr val="0000FF"/>
                </a:solidFill>
              </a:rPr>
              <a:t>Seek cost is 10ms and block transfer cost is 0.2 </a:t>
            </a:r>
            <a:r>
              <a:rPr lang="en-US" altLang="en-US" sz="2000" dirty="0" err="1">
                <a:solidFill>
                  <a:srgbClr val="0000FF"/>
                </a:solidFill>
              </a:rPr>
              <a:t>ms.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0DBD45-7592-48C7-B01F-710BFB5C755D}"/>
              </a:ext>
            </a:extLst>
          </p:cNvPr>
          <p:cNvSpPr txBox="1"/>
          <p:nvPr/>
        </p:nvSpPr>
        <p:spPr>
          <a:xfrm>
            <a:off x="1" y="900351"/>
            <a:ext cx="5219114" cy="48936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Example: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Given clustering index on id of student relation. </a:t>
            </a:r>
          </a:p>
          <a:p>
            <a:endParaRPr lang="en-US" sz="2000" dirty="0"/>
          </a:p>
          <a:p>
            <a:r>
              <a:rPr lang="en-US" sz="2000" dirty="0"/>
              <a:t>Q1. Find all students with id &lt;= 1500001042. The id 1500001042 is the first tuple of student relation. </a:t>
            </a:r>
          </a:p>
          <a:p>
            <a:r>
              <a:rPr lang="en-US" dirty="0"/>
              <a:t>SELECT * FROM student WHERE id &lt;= 1500001042</a:t>
            </a:r>
          </a:p>
          <a:p>
            <a:endParaRPr lang="en-US" sz="2000" dirty="0"/>
          </a:p>
          <a:p>
            <a:r>
              <a:rPr lang="en-US" sz="2000" dirty="0"/>
              <a:t>Q2. Find all students with id &lt;= 1800001042. The id 1800001042 is in 1200</a:t>
            </a:r>
            <a:r>
              <a:rPr lang="en-US" sz="2000" baseline="30000" dirty="0"/>
              <a:t>th</a:t>
            </a:r>
            <a:r>
              <a:rPr lang="en-US" sz="2000" dirty="0"/>
              <a:t> block of student relation.</a:t>
            </a:r>
          </a:p>
          <a:p>
            <a:r>
              <a:rPr lang="en-US" dirty="0"/>
              <a:t>SELECT * FROM student WHERE id &lt;= 1800001042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0000FF"/>
                </a:solidFill>
              </a:rPr>
              <a:t>Find the query cost of Q1 and Q2. Here no need to use</a:t>
            </a:r>
            <a:r>
              <a:rPr lang="en-US" sz="2000" dirty="0">
                <a:solidFill>
                  <a:srgbClr val="FF0000"/>
                </a:solidFill>
              </a:rPr>
              <a:t> index (why?)</a:t>
            </a:r>
            <a:r>
              <a:rPr lang="en-US" sz="2000" dirty="0">
                <a:solidFill>
                  <a:srgbClr val="0000FF"/>
                </a:solidFill>
              </a:rPr>
              <a:t>. </a:t>
            </a:r>
            <a:r>
              <a:rPr lang="en-US" altLang="en-US" sz="2000" dirty="0">
                <a:solidFill>
                  <a:srgbClr val="0000FF"/>
                </a:solidFill>
              </a:rPr>
              <a:t>Seek cost is 10ms and block transfer cost is 0.2 </a:t>
            </a:r>
            <a:r>
              <a:rPr lang="en-US" altLang="en-US" sz="2000" dirty="0" err="1">
                <a:solidFill>
                  <a:srgbClr val="0000FF"/>
                </a:solidFill>
              </a:rPr>
              <a:t>ms.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E3985-F31C-40D0-B3D3-4A664240CBC5}"/>
              </a:ext>
            </a:extLst>
          </p:cNvPr>
          <p:cNvSpPr txBox="1"/>
          <p:nvPr/>
        </p:nvSpPr>
        <p:spPr>
          <a:xfrm>
            <a:off x="5401994" y="900351"/>
            <a:ext cx="3742005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Answer of Example:</a:t>
            </a:r>
          </a:p>
          <a:p>
            <a:endParaRPr lang="en-US" sz="2000" dirty="0"/>
          </a:p>
          <a:p>
            <a:r>
              <a:rPr lang="en-US" sz="2000" dirty="0"/>
              <a:t>With Index </a:t>
            </a:r>
            <a:r>
              <a:rPr lang="en-US" sz="2000" dirty="0">
                <a:solidFill>
                  <a:srgbClr val="FF0000"/>
                </a:solidFill>
              </a:rPr>
              <a:t>( No need to use index)</a:t>
            </a:r>
          </a:p>
          <a:p>
            <a:r>
              <a:rPr lang="en-US" sz="2000" dirty="0">
                <a:solidFill>
                  <a:srgbClr val="FF0000"/>
                </a:solidFill>
              </a:rPr>
              <a:t>Cost without index</a:t>
            </a:r>
          </a:p>
          <a:p>
            <a:r>
              <a:rPr lang="en-US" sz="2000" dirty="0"/>
              <a:t>Q1 cost </a:t>
            </a:r>
          </a:p>
          <a:p>
            <a:r>
              <a:rPr lang="en-US" sz="2000" dirty="0"/>
              <a:t>= index cost + data cost</a:t>
            </a:r>
          </a:p>
          <a:p>
            <a:r>
              <a:rPr lang="en-US" sz="2000" dirty="0"/>
              <a:t>= 0 + 1 * (10+0.2)</a:t>
            </a:r>
          </a:p>
          <a:p>
            <a:r>
              <a:rPr lang="en-US" sz="2000" dirty="0"/>
              <a:t>= 10.2ms</a:t>
            </a:r>
          </a:p>
          <a:p>
            <a:endParaRPr lang="en-US" sz="2000" dirty="0"/>
          </a:p>
          <a:p>
            <a:r>
              <a:rPr lang="en-US" sz="2000" dirty="0"/>
              <a:t>Q2 cost</a:t>
            </a:r>
          </a:p>
          <a:p>
            <a:r>
              <a:rPr lang="en-US" sz="2000" dirty="0"/>
              <a:t>= index cost + data cost</a:t>
            </a:r>
          </a:p>
          <a:p>
            <a:r>
              <a:rPr lang="en-US" sz="2000" dirty="0"/>
              <a:t>= 0 +  1 seek * 10 + 1200block * 0.2</a:t>
            </a:r>
          </a:p>
          <a:p>
            <a:r>
              <a:rPr lang="en-US" sz="2000" dirty="0"/>
              <a:t>=10 + 240</a:t>
            </a:r>
          </a:p>
          <a:p>
            <a:r>
              <a:rPr lang="en-US" sz="2000" dirty="0"/>
              <a:t>=250ms 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677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0DBD45-7592-48C7-B01F-710BFB5C755D}"/>
              </a:ext>
            </a:extLst>
          </p:cNvPr>
          <p:cNvSpPr txBox="1"/>
          <p:nvPr/>
        </p:nvSpPr>
        <p:spPr>
          <a:xfrm>
            <a:off x="1" y="900351"/>
            <a:ext cx="5219114" cy="397031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</a:rPr>
              <a:t>Example: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  <a:r>
              <a:rPr lang="en-US" sz="2000" dirty="0"/>
              <a:t>Given clustering index on id of student relation. 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Q3. Find all students with id &gt; 1800001042. The id 1800001042 is in 1200</a:t>
            </a:r>
            <a:r>
              <a:rPr lang="en-US" sz="2000" baseline="30000" dirty="0"/>
              <a:t>th</a:t>
            </a:r>
            <a:r>
              <a:rPr lang="en-US" sz="2000" dirty="0"/>
              <a:t> block of student relation.</a:t>
            </a:r>
          </a:p>
          <a:p>
            <a:r>
              <a:rPr lang="en-US" dirty="0"/>
              <a:t>SELECT * FROM student WHERE id &gt; 1800001042</a:t>
            </a:r>
          </a:p>
          <a:p>
            <a:endParaRPr lang="en-US" sz="2000" dirty="0"/>
          </a:p>
          <a:p>
            <a:r>
              <a:rPr lang="en-US" sz="2000" dirty="0">
                <a:solidFill>
                  <a:srgbClr val="0000FF"/>
                </a:solidFill>
              </a:rPr>
              <a:t>Find the query cost of Q3 </a:t>
            </a:r>
            <a:r>
              <a:rPr lang="en-US" sz="2000" dirty="0">
                <a:solidFill>
                  <a:srgbClr val="FF0000"/>
                </a:solidFill>
              </a:rPr>
              <a:t>with index</a:t>
            </a:r>
            <a:r>
              <a:rPr lang="en-US" sz="2000" dirty="0">
                <a:solidFill>
                  <a:srgbClr val="0000FF"/>
                </a:solidFill>
              </a:rPr>
              <a:t>. The height of the index is 4. </a:t>
            </a:r>
            <a:r>
              <a:rPr lang="en-US" altLang="en-US" sz="2000" dirty="0">
                <a:solidFill>
                  <a:srgbClr val="0000FF"/>
                </a:solidFill>
              </a:rPr>
              <a:t>Seek cost is 10ms and block transfer cost is 0.2 </a:t>
            </a:r>
            <a:r>
              <a:rPr lang="en-US" altLang="en-US" sz="2000" dirty="0" err="1">
                <a:solidFill>
                  <a:srgbClr val="0000FF"/>
                </a:solidFill>
              </a:rPr>
              <a:t>ms.</a:t>
            </a:r>
            <a:r>
              <a:rPr lang="en-US" sz="2000" dirty="0">
                <a:solidFill>
                  <a:srgbClr val="0000FF"/>
                </a:solidFill>
              </a:rPr>
              <a:t> 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E3985-F31C-40D0-B3D3-4A664240CBC5}"/>
              </a:ext>
            </a:extLst>
          </p:cNvPr>
          <p:cNvSpPr txBox="1"/>
          <p:nvPr/>
        </p:nvSpPr>
        <p:spPr>
          <a:xfrm>
            <a:off x="5401994" y="900351"/>
            <a:ext cx="3742005" cy="310854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Answer of Example:</a:t>
            </a:r>
          </a:p>
          <a:p>
            <a:endParaRPr lang="en-US" sz="2000" dirty="0"/>
          </a:p>
          <a:p>
            <a:r>
              <a:rPr lang="en-US" sz="2000" dirty="0"/>
              <a:t>With Index </a:t>
            </a:r>
            <a:endParaRPr lang="en-US" sz="2000" dirty="0">
              <a:solidFill>
                <a:srgbClr val="FF0000"/>
              </a:solidFill>
            </a:endParaRPr>
          </a:p>
          <a:p>
            <a:r>
              <a:rPr lang="en-US" sz="2000" dirty="0"/>
              <a:t>Query cost </a:t>
            </a:r>
          </a:p>
          <a:p>
            <a:r>
              <a:rPr lang="en-US" sz="2000" dirty="0"/>
              <a:t>= index cost + data cost</a:t>
            </a:r>
          </a:p>
          <a:p>
            <a:r>
              <a:rPr lang="en-US" sz="2000" dirty="0"/>
              <a:t>= 4 * (10+0.2) + 10+</a:t>
            </a:r>
          </a:p>
          <a:p>
            <a:r>
              <a:rPr lang="en-US" sz="2000" dirty="0"/>
              <a:t>(2000 – 1200) * (0.2)</a:t>
            </a:r>
          </a:p>
          <a:p>
            <a:r>
              <a:rPr lang="en-US" sz="2000" dirty="0"/>
              <a:t>= 50.8 + 160</a:t>
            </a:r>
          </a:p>
          <a:p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041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C20946C2-54EF-43A4-BEEE-FF0078C6C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2455" y="899887"/>
            <a:ext cx="8714935" cy="2529113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A6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comparison</a:t>
            </a:r>
            <a:r>
              <a:rPr lang="en-US" altLang="en-US" dirty="0">
                <a:ea typeface="MS PGothic" panose="020B0600070205080204" pitchFamily="34" charset="-128"/>
              </a:rPr>
              <a:t>).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 V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use index to find first index entry 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v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and scan index sequentially  from there, to find pointers to records.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instructor relation, 12 blocks for 12 records. 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Select * from instructor where salary &gt;= 60000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 err="1">
                <a:ea typeface="MS PGothic" panose="020B0600070205080204" pitchFamily="34" charset="-128"/>
                <a:sym typeface="Symbol" panose="05050102010706020507" pitchFamily="18" charset="2"/>
              </a:rPr>
              <a:t>Asssume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index in memory,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Query Cost =  11 seek + 11 blocks</a:t>
            </a:r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A0E41CD9-C84E-4D4B-8BE0-A3CC89BAD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429000"/>
            <a:ext cx="6553200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C20946C2-54EF-43A4-BEEE-FF0078C6C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2455" y="899887"/>
            <a:ext cx="8714935" cy="235630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A6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comparison</a:t>
            </a:r>
            <a:r>
              <a:rPr lang="en-US" altLang="en-US" dirty="0">
                <a:ea typeface="MS PGothic" panose="020B0600070205080204" pitchFamily="34" charset="-128"/>
              </a:rPr>
              <a:t>). </a:t>
            </a:r>
          </a:p>
          <a:p>
            <a:pPr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just scan leaf pages of index finding pointers to records, till first entry &gt;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instructor relation, 12 blocks for 12 records. 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Select * from instructor where salary &lt;= 87000</a:t>
            </a:r>
          </a:p>
          <a:p>
            <a:pPr marL="0" indent="0">
              <a:lnSpc>
                <a:spcPct val="90000"/>
              </a:lnSpc>
              <a:buNone/>
            </a:pPr>
            <a:endParaRPr kumimoji="0" lang="en-US" altLang="en-US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Data Cost =  9 seek + 9 blocks</a:t>
            </a:r>
          </a:p>
          <a:p>
            <a:pPr>
              <a:lnSpc>
                <a:spcPct val="90000"/>
              </a:lnSpc>
            </a:pPr>
            <a:endParaRPr kumimoji="0" lang="en-US" altLang="en-US" i="1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endParaRPr lang="en-US" altLang="en-US" i="1" dirty="0">
              <a:ea typeface="MS PGothic" panose="020B0600070205080204" pitchFamily="34" charset="-128"/>
            </a:endParaRPr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A0E41CD9-C84E-4D4B-8BE0-A3CC89BAD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429000"/>
            <a:ext cx="6553200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41567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467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63DD128C-77F0-4A3D-A3AD-12E6BC9F55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Selections Involving Comparisons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C20946C2-54EF-43A4-BEEE-FF0078C6C2C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2455" y="899887"/>
            <a:ext cx="8714935" cy="277360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ea typeface="MS PGothic" panose="020B0600070205080204" pitchFamily="34" charset="-128"/>
              </a:rPr>
              <a:t>A6</a:t>
            </a:r>
            <a:r>
              <a:rPr lang="en-US" altLang="en-US" dirty="0">
                <a:ea typeface="MS PGothic" panose="020B0600070205080204" pitchFamily="34" charset="-128"/>
              </a:rPr>
              <a:t> (</a:t>
            </a:r>
            <a:r>
              <a:rPr lang="en-US" altLang="en-US" b="1" dirty="0">
                <a:solidFill>
                  <a:srgbClr val="002060"/>
                </a:solidFill>
                <a:ea typeface="MS PGothic" panose="020B0600070205080204" pitchFamily="34" charset="-128"/>
              </a:rPr>
              <a:t>Secondary index, comparison</a:t>
            </a:r>
            <a:r>
              <a:rPr lang="en-US" altLang="en-US" dirty="0">
                <a:ea typeface="MS PGothic" panose="020B0600070205080204" pitchFamily="34" charset="-128"/>
              </a:rPr>
              <a:t>). 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ea typeface="MS PGothic" panose="020B0600070205080204" pitchFamily="34" charset="-128"/>
              </a:rPr>
              <a:t>For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  V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(r)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 use index to find first index entry 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 v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and scan index sequentially  from there, to find pointers to records. Index in memory.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instructor relation, 12 blocks for 12 records. Q1:Select * from instructor where salary &gt;= 60000,   Data Cost =  11 seek + 11 blocks, seek cost 10ms, block cost 0.1ms</a:t>
            </a:r>
          </a:p>
          <a:p>
            <a:pPr>
              <a:lnSpc>
                <a:spcPct val="90000"/>
              </a:lnSpc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For 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A</a:t>
            </a:r>
            <a:r>
              <a:rPr kumimoji="0" lang="en-US" altLang="en-US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</a:t>
            </a:r>
            <a:r>
              <a:rPr kumimoji="0" lang="en-US" altLang="en-US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) just scan leaf pages of index finding pointers to records, till first entry &gt; </a:t>
            </a:r>
            <a:r>
              <a:rPr kumimoji="0"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v </a:t>
            </a: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Q2:Select * from instructor where salary &lt;= 87000, Data Cost =  9 seek + 9 blocks</a:t>
            </a:r>
            <a:endParaRPr lang="en-US" altLang="en-US" i="1" dirty="0">
              <a:solidFill>
                <a:srgbClr val="0000FF"/>
              </a:solidFill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kumimoji="0" lang="en-US" altLang="en-US" b="1" dirty="0">
                <a:solidFill>
                  <a:srgbClr val="FF0000"/>
                </a:solidFill>
                <a:ea typeface="MS PGothic" panose="020B0600070205080204" pitchFamily="34" charset="-128"/>
                <a:sym typeface="Symbol" panose="05050102010706020507" pitchFamily="18" charset="2"/>
              </a:rPr>
              <a:t>Question:  </a:t>
            </a:r>
            <a:r>
              <a:rPr kumimoji="0"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In either case, retrieve records that are pointed to, requires an I/O per record;</a:t>
            </a:r>
            <a:r>
              <a:rPr lang="en-US" altLang="en-US" dirty="0">
                <a:ea typeface="MS PGothic" panose="020B0600070205080204" pitchFamily="34" charset="-128"/>
              </a:rPr>
              <a:t> Linear file scan may be cheaper! </a:t>
            </a:r>
            <a:r>
              <a:rPr lang="en-US" altLang="en-US" b="1" dirty="0">
                <a:ea typeface="MS PGothic" panose="020B0600070205080204" pitchFamily="34" charset="-128"/>
              </a:rPr>
              <a:t>Explain?</a:t>
            </a:r>
          </a:p>
        </p:txBody>
      </p:sp>
      <p:pic>
        <p:nvPicPr>
          <p:cNvPr id="2" name="Picture 7">
            <a:extLst>
              <a:ext uri="{FF2B5EF4-FFF2-40B4-BE49-F238E27FC236}">
                <a16:creationId xmlns:a16="http://schemas.microsoft.com/office/drawing/2014/main" id="{A0E41CD9-C84E-4D4B-8BE0-A3CC89BAD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870085"/>
            <a:ext cx="5654040" cy="27736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619839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4572000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 (12-11-20)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BB2B64C1-1D3F-4E22-A3D1-7315FFB6625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90135"/>
            <a:ext cx="4940887" cy="5364217"/>
          </a:xfrm>
        </p:spPr>
        <p:txBody>
          <a:bodyPr/>
          <a:lstStyle/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ea typeface="MS PGothic" panose="020B0600070205080204" pitchFamily="34" charset="-128"/>
                <a:sym typeface="Greek Symbols" pitchFamily="18" charset="2"/>
              </a:rPr>
              <a:t>Conjunction: 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. . .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Greek Symbols" pitchFamily="18" charset="2"/>
              </a:rPr>
              <a:t>n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  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ea typeface="MS PGothic" panose="020B0600070205080204" pitchFamily="34" charset="-128"/>
              </a:rPr>
              <a:t>A7</a:t>
            </a:r>
            <a:r>
              <a:rPr lang="en-US" altLang="en-US" sz="1800" dirty="0">
                <a:ea typeface="MS PGothic" panose="020B0600070205080204" pitchFamily="34" charset="-128"/>
              </a:rPr>
              <a:t> (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</a:rPr>
              <a:t>conjunctive selection 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</a:rPr>
              <a:t>using one index</a:t>
            </a:r>
            <a:r>
              <a:rPr lang="en-US" altLang="en-US" sz="1800" dirty="0">
                <a:ea typeface="MS PGothic" panose="020B0600070205080204" pitchFamily="34" charset="-128"/>
              </a:rPr>
              <a:t>).</a:t>
            </a:r>
            <a:r>
              <a:rPr lang="en-US" altLang="en-US" sz="1800" i="1" dirty="0">
                <a:ea typeface="MS PGothic" panose="020B0600070205080204" pitchFamily="34" charset="-128"/>
              </a:rPr>
              <a:t> 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</a:rPr>
              <a:t>Select a combination of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Greek Symbols" pitchFamily="18" charset="2"/>
              </a:rPr>
              <a:t>i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and algorithms A1 through A7 that results in the least cost for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i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i="1" dirty="0">
                <a:ea typeface="MS PGothic" panose="020B0600070205080204" pitchFamily="34" charset="-128"/>
                <a:sym typeface="Greek Symbols" pitchFamily="18" charset="2"/>
              </a:rPr>
              <a:t>r).</a:t>
            </a:r>
          </a:p>
          <a:p>
            <a:pPr>
              <a:tabLst>
                <a:tab pos="2338388" algn="l"/>
              </a:tabLst>
            </a:pPr>
            <a:r>
              <a:rPr lang="en-US" altLang="en-US" sz="1800" i="1" dirty="0">
                <a:ea typeface="MS PGothic" panose="020B0600070205080204" pitchFamily="34" charset="-128"/>
                <a:sym typeface="Greek Symbols" pitchFamily="18" charset="2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Test other conditions on tuple after fetching it into memory buffer.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ea typeface="MS PGothic" panose="020B0600070205080204" pitchFamily="34" charset="-128"/>
                <a:sym typeface="Greek Symbols" pitchFamily="18" charset="2"/>
              </a:rPr>
              <a:t>A8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using composite index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). 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Use appropriate composite (multiple-key) index if available.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ea typeface="MS PGothic" panose="020B0600070205080204" pitchFamily="34" charset="-128"/>
                <a:sym typeface="Greek Symbols" pitchFamily="18" charset="2"/>
              </a:rPr>
              <a:t>A9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by intersection of identifiers</a:t>
            </a:r>
            <a:r>
              <a:rPr lang="en-US" altLang="en-US" sz="1800" i="1" dirty="0">
                <a:ea typeface="MS PGothic" panose="020B0600070205080204" pitchFamily="34" charset="-128"/>
                <a:sym typeface="Greek Symbols" pitchFamily="18" charset="2"/>
              </a:rPr>
              <a:t>).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Requires indices with record pointers.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Use corresponding index for each condition, and take intersection of all the obtained sets of record pointers.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Then fetch records from file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00C8E-0584-4BE5-9CE8-97AD8434A81F}"/>
              </a:ext>
            </a:extLst>
          </p:cNvPr>
          <p:cNvSpPr txBox="1"/>
          <p:nvPr/>
        </p:nvSpPr>
        <p:spPr>
          <a:xfrm>
            <a:off x="4839289" y="3405"/>
            <a:ext cx="4304714" cy="397031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rgbClr val="FF0000"/>
                </a:solidFill>
              </a:rPr>
              <a:t>What is 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</a:rPr>
              <a:t>conjunctive selection?</a:t>
            </a:r>
          </a:p>
          <a:p>
            <a:endParaRPr lang="en-US" sz="1800" b="1" dirty="0">
              <a:solidFill>
                <a:srgbClr val="002060"/>
              </a:solidFill>
            </a:endParaRPr>
          </a:p>
          <a:p>
            <a:r>
              <a:rPr lang="en-US" sz="1800" b="1" dirty="0">
                <a:solidFill>
                  <a:srgbClr val="002060"/>
                </a:solidFill>
              </a:rPr>
              <a:t>Selection that uses a combinations of predicates</a:t>
            </a:r>
          </a:p>
          <a:p>
            <a:endParaRPr lang="en-US" sz="1800" b="1" dirty="0">
              <a:solidFill>
                <a:srgbClr val="002060"/>
              </a:solidFill>
            </a:endParaRPr>
          </a:p>
          <a:p>
            <a:r>
              <a:rPr lang="en-US" sz="1800" b="1" dirty="0">
                <a:solidFill>
                  <a:srgbClr val="002060"/>
                </a:solidFill>
              </a:rPr>
              <a:t>Given schema</a:t>
            </a:r>
          </a:p>
          <a:p>
            <a:r>
              <a:rPr lang="en-US" sz="1800" dirty="0"/>
              <a:t>Student(id, name, </a:t>
            </a:r>
            <a:r>
              <a:rPr lang="en-US" sz="1800" dirty="0" err="1"/>
              <a:t>fname</a:t>
            </a:r>
            <a:r>
              <a:rPr lang="en-US" sz="1800" dirty="0"/>
              <a:t>, </a:t>
            </a:r>
            <a:r>
              <a:rPr lang="en-US" sz="1800" dirty="0" err="1"/>
              <a:t>mname</a:t>
            </a:r>
            <a:r>
              <a:rPr lang="en-US" sz="1800" dirty="0"/>
              <a:t>, </a:t>
            </a:r>
            <a:r>
              <a:rPr lang="en-US" sz="1800" dirty="0" err="1">
                <a:solidFill>
                  <a:srgbClr val="FF0000"/>
                </a:solidFill>
              </a:rPr>
              <a:t>cgpa</a:t>
            </a:r>
            <a:r>
              <a:rPr lang="en-US" sz="1800" dirty="0"/>
              <a:t>, </a:t>
            </a:r>
            <a:r>
              <a:rPr lang="en-US" sz="1800" dirty="0">
                <a:solidFill>
                  <a:srgbClr val="FF0000"/>
                </a:solidFill>
              </a:rPr>
              <a:t>year-admit,</a:t>
            </a:r>
            <a:r>
              <a:rPr lang="en-US" sz="1800" dirty="0"/>
              <a:t> division, district, thana, street, house-number, </a:t>
            </a:r>
            <a:r>
              <a:rPr lang="en-US" sz="1800" dirty="0">
                <a:solidFill>
                  <a:srgbClr val="FF0000"/>
                </a:solidFill>
              </a:rPr>
              <a:t>city</a:t>
            </a:r>
            <a:r>
              <a:rPr lang="en-US" sz="1800" dirty="0"/>
              <a:t>, NID, DOB, total-credit)</a:t>
            </a:r>
          </a:p>
          <a:p>
            <a:endParaRPr lang="en-US" sz="1800" b="1" dirty="0">
              <a:solidFill>
                <a:srgbClr val="002060"/>
              </a:solidFill>
            </a:endParaRPr>
          </a:p>
          <a:p>
            <a:r>
              <a:rPr lang="en-US" sz="1800" b="1" dirty="0">
                <a:solidFill>
                  <a:srgbClr val="002060"/>
                </a:solidFill>
              </a:rPr>
              <a:t>Example: Find students with CGPA = 4 and city = </a:t>
            </a:r>
            <a:r>
              <a:rPr lang="en-US" sz="1800" b="1" dirty="0" err="1">
                <a:solidFill>
                  <a:srgbClr val="002060"/>
                </a:solidFill>
              </a:rPr>
              <a:t>Feni</a:t>
            </a:r>
            <a:r>
              <a:rPr lang="en-US" sz="1800" b="1" dirty="0">
                <a:solidFill>
                  <a:srgbClr val="002060"/>
                </a:solidFill>
              </a:rPr>
              <a:t>  and year-admit = 2019</a:t>
            </a:r>
            <a:r>
              <a:rPr lang="en-US" sz="180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DC1AB-DD7E-4873-91F8-0984258CCD07}"/>
              </a:ext>
            </a:extLst>
          </p:cNvPr>
          <p:cNvSpPr txBox="1"/>
          <p:nvPr/>
        </p:nvSpPr>
        <p:spPr>
          <a:xfrm>
            <a:off x="4839286" y="4282097"/>
            <a:ext cx="4304714" cy="1785104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Algebra: 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CGPA=4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city = </a:t>
            </a:r>
            <a:r>
              <a:rPr lang="en-US" altLang="en-US" sz="1800" baseline="-250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year-admit=2019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ym typeface="Symbol" panose="05050102010706020507" pitchFamily="18" charset="2"/>
              </a:rPr>
              <a:t>student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endParaRPr lang="en-US" altLang="en-US" sz="18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(CGPA=4), 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(City=</a:t>
            </a:r>
            <a:r>
              <a:rPr lang="en-US" altLang="en-US" sz="1800" dirty="0">
                <a:sym typeface="Symbol" panose="05050102010706020507" pitchFamily="18" charset="2"/>
              </a:rPr>
              <a:t>‘</a:t>
            </a:r>
            <a:r>
              <a:rPr lang="en-US" altLang="en-US" sz="18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(year-admit=</a:t>
            </a:r>
            <a:r>
              <a:rPr lang="en-US" altLang="en-US" sz="1800" dirty="0">
                <a:sym typeface="Symbol" panose="05050102010706020507" pitchFamily="18" charset="2"/>
              </a:rPr>
              <a:t>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3673021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00C8E-0584-4BE5-9CE8-97AD8434A81F}"/>
              </a:ext>
            </a:extLst>
          </p:cNvPr>
          <p:cNvSpPr txBox="1"/>
          <p:nvPr/>
        </p:nvSpPr>
        <p:spPr>
          <a:xfrm>
            <a:off x="0" y="993934"/>
            <a:ext cx="4178105" cy="4801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ym typeface="Greek Symbols" pitchFamily="18" charset="2"/>
              </a:rPr>
              <a:t>Conjunction:  </a:t>
            </a:r>
            <a:r>
              <a:rPr lang="en-US" altLang="en-US" sz="1800" dirty="0"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1</a:t>
            </a:r>
            <a:r>
              <a:rPr lang="en-US" altLang="en-US" sz="1800" dirty="0"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2</a:t>
            </a:r>
            <a:r>
              <a:rPr lang="en-US" altLang="en-US" sz="1800" dirty="0">
                <a:sym typeface="Symbol" panose="05050102010706020507" pitchFamily="18" charset="2"/>
              </a:rPr>
              <a:t>. . .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sym typeface="Greek Symbols" pitchFamily="18" charset="2"/>
              </a:rPr>
              <a:t>n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ym typeface="Symbol" panose="05050102010706020507" pitchFamily="18" charset="2"/>
              </a:rPr>
              <a:t>r)  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olidFill>
                  <a:srgbClr val="FF0000"/>
                </a:solidFill>
              </a:rPr>
              <a:t>A7</a:t>
            </a:r>
            <a:r>
              <a:rPr lang="en-US" altLang="en-US" sz="1800" dirty="0">
                <a:solidFill>
                  <a:srgbClr val="FF0000"/>
                </a:solidFill>
              </a:rPr>
              <a:t> (</a:t>
            </a:r>
            <a:r>
              <a:rPr lang="en-US" altLang="en-US" sz="1800" b="1" dirty="0">
                <a:solidFill>
                  <a:srgbClr val="FF0000"/>
                </a:solidFill>
              </a:rPr>
              <a:t>conjunctive selection </a:t>
            </a:r>
            <a:r>
              <a:rPr lang="en-US" altLang="en-US" sz="1800" b="1" dirty="0">
                <a:solidFill>
                  <a:srgbClr val="0000FF"/>
                </a:solidFill>
              </a:rPr>
              <a:t>using one index</a:t>
            </a:r>
            <a:r>
              <a:rPr lang="en-US" altLang="en-US" sz="1800" dirty="0"/>
              <a:t>).</a:t>
            </a:r>
            <a:r>
              <a:rPr lang="en-US" altLang="en-US" sz="1800" i="1" dirty="0"/>
              <a:t> 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/>
              <a:t>Select a combination of </a:t>
            </a:r>
            <a:r>
              <a:rPr lang="en-US" altLang="en-US" sz="1800" dirty="0"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 err="1">
                <a:sym typeface="Greek Symbols" pitchFamily="18" charset="2"/>
              </a:rPr>
              <a:t>i</a:t>
            </a:r>
            <a:r>
              <a:rPr lang="en-US" altLang="en-US" sz="1800" dirty="0">
                <a:sym typeface="Greek Symbols" pitchFamily="18" charset="2"/>
              </a:rPr>
              <a:t> and algorithms A1 through A7 that results in the least cost for </a:t>
            </a:r>
            <a:r>
              <a:rPr lang="en-US" altLang="en-US" sz="1800" dirty="0"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800" dirty="0">
                <a:sym typeface="Greek Symbols" pitchFamily="18" charset="2"/>
              </a:rPr>
              <a:t> (</a:t>
            </a:r>
            <a:r>
              <a:rPr lang="en-US" altLang="en-US" sz="1800" i="1" dirty="0">
                <a:sym typeface="Greek Symbols" pitchFamily="18" charset="2"/>
              </a:rPr>
              <a:t>r).</a:t>
            </a:r>
          </a:p>
          <a:p>
            <a:pPr>
              <a:tabLst>
                <a:tab pos="2338388" algn="l"/>
              </a:tabLst>
            </a:pPr>
            <a:r>
              <a:rPr lang="en-US" altLang="en-US" sz="1800" i="1" dirty="0">
                <a:sym typeface="Greek Symbols" pitchFamily="18" charset="2"/>
              </a:rPr>
              <a:t> </a:t>
            </a:r>
            <a:r>
              <a:rPr lang="en-US" altLang="en-US" sz="1800" dirty="0">
                <a:sym typeface="Greek Symbols" pitchFamily="18" charset="2"/>
              </a:rPr>
              <a:t>Test other conditions on tuple after fetching it into memory buffer.</a:t>
            </a:r>
            <a:endParaRPr lang="en-US" sz="1800" dirty="0">
              <a:solidFill>
                <a:srgbClr val="FF0000"/>
              </a:solidFill>
            </a:endParaRP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b="1" dirty="0">
                <a:solidFill>
                  <a:srgbClr val="002060"/>
                </a:solidFill>
              </a:rPr>
              <a:t>Example: Find students with CGPA = 4 and city = </a:t>
            </a:r>
            <a:r>
              <a:rPr lang="en-US" sz="1800" b="1" dirty="0" err="1">
                <a:solidFill>
                  <a:srgbClr val="002060"/>
                </a:solidFill>
              </a:rPr>
              <a:t>Feni</a:t>
            </a:r>
            <a:r>
              <a:rPr lang="en-US" sz="1800" b="1" dirty="0">
                <a:solidFill>
                  <a:srgbClr val="002060"/>
                </a:solidFill>
              </a:rPr>
              <a:t> and  </a:t>
            </a:r>
            <a:r>
              <a:rPr lang="en-US" sz="1800" b="1" dirty="0" err="1">
                <a:solidFill>
                  <a:srgbClr val="002060"/>
                </a:solidFill>
              </a:rPr>
              <a:t>and</a:t>
            </a:r>
            <a:r>
              <a:rPr lang="en-US" sz="1800" b="1" dirty="0">
                <a:solidFill>
                  <a:srgbClr val="002060"/>
                </a:solidFill>
              </a:rPr>
              <a:t> year-admit = 2019</a:t>
            </a:r>
            <a:r>
              <a:rPr lang="en-US" sz="1800" dirty="0"/>
              <a:t> </a:t>
            </a:r>
          </a:p>
          <a:p>
            <a:endParaRPr lang="en-US" sz="1800" dirty="0"/>
          </a:p>
          <a:p>
            <a:r>
              <a:rPr lang="en-US" sz="1800" dirty="0"/>
              <a:t>Algebra: 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CGPA=4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city = </a:t>
            </a:r>
            <a:r>
              <a:rPr lang="en-US" altLang="en-US" sz="1800" baseline="-250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year-admit=2019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(CGPA=4), 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(City=</a:t>
            </a:r>
            <a:r>
              <a:rPr lang="en-US" altLang="en-US" sz="1800" dirty="0">
                <a:sym typeface="Symbol" panose="05050102010706020507" pitchFamily="18" charset="2"/>
              </a:rPr>
              <a:t>‘</a:t>
            </a:r>
            <a:r>
              <a:rPr lang="en-US" altLang="en-US" sz="18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(year-admit=</a:t>
            </a:r>
            <a:r>
              <a:rPr lang="en-US" altLang="en-US" sz="1800" dirty="0">
                <a:sym typeface="Symbol" panose="05050102010706020507" pitchFamily="18" charset="2"/>
              </a:rPr>
              <a:t>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177B0-C7F6-47F6-B518-CD0AFBC7C436}"/>
              </a:ext>
            </a:extLst>
          </p:cNvPr>
          <p:cNvSpPr txBox="1"/>
          <p:nvPr/>
        </p:nvSpPr>
        <p:spPr>
          <a:xfrm>
            <a:off x="4290647" y="180536"/>
            <a:ext cx="4853354" cy="4524315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Given B+ tree indices on CGPA, city and year-admit. The height of the indices are 2, 2 and 1 respectively.</a:t>
            </a:r>
          </a:p>
          <a:p>
            <a:r>
              <a:rPr lang="en-US" sz="1800" dirty="0"/>
              <a:t>SQL: SELECT * FROM student WHERE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 </a:t>
            </a:r>
            <a:r>
              <a:rPr lang="en-US" altLang="en-US" sz="1800" dirty="0">
                <a:sym typeface="Symbol" panose="05050102010706020507" pitchFamily="18" charset="2"/>
              </a:rPr>
              <a:t>AND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year-admit=2019. </a:t>
            </a:r>
            <a:r>
              <a:rPr lang="en-US" sz="1800" dirty="0" err="1"/>
              <a:t>t</a:t>
            </a:r>
            <a:r>
              <a:rPr lang="en-US" sz="1800" baseline="-25000" dirty="0" err="1"/>
              <a:t>T</a:t>
            </a:r>
            <a:r>
              <a:rPr lang="en-US" sz="1800" dirty="0"/>
              <a:t> = 0.2ms,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= 10ms</a:t>
            </a:r>
            <a:endParaRPr lang="en-US" sz="1800" dirty="0"/>
          </a:p>
          <a:p>
            <a:r>
              <a:rPr lang="en-US" sz="1800" u="sng" dirty="0">
                <a:solidFill>
                  <a:srgbClr val="FF0000"/>
                </a:solidFill>
              </a:rPr>
              <a:t> 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</a:t>
            </a:r>
            <a:endParaRPr lang="en-US" sz="1800" dirty="0"/>
          </a:p>
          <a:p>
            <a:r>
              <a:rPr lang="en-US" sz="1800" dirty="0"/>
              <a:t>Find the least cost of the SQL using A7 algorithm.</a:t>
            </a:r>
          </a:p>
          <a:p>
            <a:r>
              <a:rPr lang="en-US" sz="1800" dirty="0"/>
              <a:t>The indices are secondary index, We have to use A4 algorithm.</a:t>
            </a:r>
          </a:p>
          <a:p>
            <a:r>
              <a:rPr lang="en-US" sz="1800" dirty="0"/>
              <a:t>Query cost = index cost + data cost</a:t>
            </a:r>
          </a:p>
          <a:p>
            <a:r>
              <a:rPr lang="en-US" sz="1800" dirty="0"/>
              <a:t>= </a:t>
            </a:r>
            <a:r>
              <a:rPr lang="en-US" altLang="en-US" sz="1800" i="1" dirty="0">
                <a:ea typeface="MS PGothic" panose="020B0600070205080204" pitchFamily="34" charset="-128"/>
              </a:rPr>
              <a:t>h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1800" i="1" dirty="0">
                <a:ea typeface="MS PGothic" panose="020B0600070205080204" pitchFamily="34" charset="-128"/>
              </a:rPr>
              <a:t>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 +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</a:rPr>
              <a:t>n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7403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3673021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00C8E-0584-4BE5-9CE8-97AD8434A81F}"/>
              </a:ext>
            </a:extLst>
          </p:cNvPr>
          <p:cNvSpPr txBox="1"/>
          <p:nvPr/>
        </p:nvSpPr>
        <p:spPr>
          <a:xfrm>
            <a:off x="0" y="993934"/>
            <a:ext cx="4178105" cy="46614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C1: Cost using CGPA index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= 5, 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= 2 * (10 + 0.2) + 5 * (10 + 0.2)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C2: Cost using city index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= 20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= 2 * (10 + 0.2) + 20 * (10 + 0.2)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Cost using year-admit index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 = 4000</a:t>
            </a: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C3: cost = 2 * (10 + 0.2) + 4000 * (10 + 0.2)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dirty="0">
                <a:solidFill>
                  <a:srgbClr val="231F2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Analysis: 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177B0-C7F6-47F6-B518-CD0AFBC7C436}"/>
              </a:ext>
            </a:extLst>
          </p:cNvPr>
          <p:cNvSpPr txBox="1"/>
          <p:nvPr/>
        </p:nvSpPr>
        <p:spPr>
          <a:xfrm>
            <a:off x="4290647" y="180536"/>
            <a:ext cx="4853354" cy="4524315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Given B+ tree indices on CGPA, city and year-admit. The height of the indices are 2, 2 and 1 respectively.</a:t>
            </a:r>
          </a:p>
          <a:p>
            <a:r>
              <a:rPr lang="en-US" sz="1800" dirty="0"/>
              <a:t>SQL: SELECT * FROM student WHERE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 </a:t>
            </a:r>
            <a:r>
              <a:rPr lang="en-US" altLang="en-US" sz="1800" dirty="0">
                <a:sym typeface="Symbol" panose="05050102010706020507" pitchFamily="18" charset="2"/>
              </a:rPr>
              <a:t>AND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year-admit=2019. </a:t>
            </a:r>
            <a:r>
              <a:rPr lang="en-US" sz="1800" dirty="0" err="1"/>
              <a:t>t</a:t>
            </a:r>
            <a:r>
              <a:rPr lang="en-US" sz="1800" baseline="-25000" dirty="0" err="1"/>
              <a:t>T</a:t>
            </a:r>
            <a:r>
              <a:rPr lang="en-US" sz="1800" dirty="0"/>
              <a:t> = 0.2ms,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= 10ms</a:t>
            </a:r>
            <a:endParaRPr lang="en-US" sz="1800" dirty="0"/>
          </a:p>
          <a:p>
            <a:r>
              <a:rPr lang="en-US" sz="1800" u="sng" dirty="0">
                <a:solidFill>
                  <a:srgbClr val="FF0000"/>
                </a:solidFill>
              </a:rPr>
              <a:t> 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</a:t>
            </a:r>
            <a:endParaRPr lang="en-US" sz="1800" dirty="0"/>
          </a:p>
          <a:p>
            <a:r>
              <a:rPr lang="en-US" sz="1800" dirty="0"/>
              <a:t>Find the least cost of the SQL using A7 algorithm and analyze the result.</a:t>
            </a:r>
          </a:p>
          <a:p>
            <a:r>
              <a:rPr lang="en-US" sz="1800" dirty="0"/>
              <a:t>The indices are secondary index, We have to use A4 algorithm.</a:t>
            </a:r>
          </a:p>
          <a:p>
            <a:r>
              <a:rPr lang="en-US" sz="1800" dirty="0"/>
              <a:t>Query cost = index cost + data cost</a:t>
            </a:r>
          </a:p>
          <a:p>
            <a:r>
              <a:rPr lang="en-US" sz="1800" dirty="0"/>
              <a:t>= </a:t>
            </a:r>
            <a:r>
              <a:rPr lang="en-US" altLang="en-US" sz="1800" i="1" dirty="0">
                <a:ea typeface="MS PGothic" panose="020B0600070205080204" pitchFamily="34" charset="-128"/>
              </a:rPr>
              <a:t>h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1800" i="1" dirty="0">
                <a:ea typeface="MS PGothic" panose="020B0600070205080204" pitchFamily="34" charset="-128"/>
              </a:rPr>
              <a:t>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 +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</a:rPr>
              <a:t>n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5993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3673021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2177B0-C7F6-47F6-B518-CD0AFBC7C436}"/>
              </a:ext>
            </a:extLst>
          </p:cNvPr>
          <p:cNvSpPr txBox="1"/>
          <p:nvPr/>
        </p:nvSpPr>
        <p:spPr>
          <a:xfrm>
            <a:off x="1688124" y="1166842"/>
            <a:ext cx="4853354" cy="4801314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Question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Given B+ tree indices on name,  and total-credit. The height of the indices are 4 and 2 respectively.</a:t>
            </a:r>
          </a:p>
          <a:p>
            <a:r>
              <a:rPr lang="en-US" sz="1800" dirty="0"/>
              <a:t>SQL: SELECT * FROM student WHERE</a:t>
            </a:r>
            <a:r>
              <a:rPr lang="en-US" altLang="en-US" sz="1800" dirty="0">
                <a:sym typeface="Symbol" panose="05050102010706020507" pitchFamily="18" charset="2"/>
              </a:rPr>
              <a:t> name=‘Abdullah’ AND total-credit = 100</a:t>
            </a:r>
            <a:endParaRPr lang="en-US" altLang="en-US" sz="1800" u="sng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r>
              <a:rPr lang="en-US" sz="1800" dirty="0" err="1"/>
              <a:t>t</a:t>
            </a:r>
            <a:r>
              <a:rPr lang="en-US" sz="1800" baseline="-25000" dirty="0" err="1"/>
              <a:t>T</a:t>
            </a:r>
            <a:r>
              <a:rPr lang="en-US" sz="1800" dirty="0"/>
              <a:t> = 0.1ms,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= 10ms</a:t>
            </a:r>
            <a:endParaRPr lang="en-US" sz="1800" dirty="0"/>
          </a:p>
          <a:p>
            <a:r>
              <a:rPr lang="en-US" sz="1800" u="sng" dirty="0">
                <a:solidFill>
                  <a:srgbClr val="FF0000"/>
                </a:solidFill>
              </a:rPr>
              <a:t> </a:t>
            </a:r>
          </a:p>
          <a:p>
            <a:r>
              <a:rPr lang="en-US" sz="1800" dirty="0"/>
              <a:t>The number of tuples (pointers) </a:t>
            </a:r>
            <a:r>
              <a:rPr lang="en-US" altLang="en-US" sz="1800" dirty="0">
                <a:sym typeface="Symbol" panose="05050102010706020507" pitchFamily="18" charset="2"/>
              </a:rPr>
              <a:t>name=‘Abdullah’ and total-credit = 100  are 50 and 200 respectively</a:t>
            </a:r>
            <a:endParaRPr lang="en-US" sz="1800" dirty="0"/>
          </a:p>
          <a:p>
            <a:r>
              <a:rPr lang="en-US" sz="1800" dirty="0">
                <a:solidFill>
                  <a:srgbClr val="0000FF"/>
                </a:solidFill>
              </a:rPr>
              <a:t>a. Find the least cost of the SQL using A7 algorithm and analyze the result.</a:t>
            </a:r>
          </a:p>
          <a:p>
            <a:r>
              <a:rPr lang="en-US" sz="1800" dirty="0"/>
              <a:t>The indices are secondary index, We have to use A4 algorithm.</a:t>
            </a:r>
          </a:p>
          <a:p>
            <a:r>
              <a:rPr lang="en-US" sz="1800" dirty="0"/>
              <a:t>Query cost = index cost + data cost</a:t>
            </a:r>
          </a:p>
          <a:p>
            <a:r>
              <a:rPr lang="en-US" sz="1800" dirty="0"/>
              <a:t>= </a:t>
            </a:r>
            <a:r>
              <a:rPr lang="en-US" altLang="en-US" sz="1800" i="1" dirty="0">
                <a:ea typeface="MS PGothic" panose="020B0600070205080204" pitchFamily="34" charset="-128"/>
              </a:rPr>
              <a:t>h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1800" i="1" dirty="0">
                <a:ea typeface="MS PGothic" panose="020B0600070205080204" pitchFamily="34" charset="-128"/>
              </a:rPr>
              <a:t>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 +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</a:rPr>
              <a:t>n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b. Analyze the result</a:t>
            </a:r>
          </a:p>
        </p:txBody>
      </p:sp>
    </p:spTree>
    <p:extLst>
      <p:ext uri="{BB962C8B-B14F-4D97-AF65-F5344CB8AC3E}">
        <p14:creationId xmlns:p14="http://schemas.microsoft.com/office/powerpoint/2010/main" val="203979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3673021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00C8E-0584-4BE5-9CE8-97AD8434A81F}"/>
              </a:ext>
            </a:extLst>
          </p:cNvPr>
          <p:cNvSpPr txBox="1"/>
          <p:nvPr/>
        </p:nvSpPr>
        <p:spPr>
          <a:xfrm>
            <a:off x="0" y="993934"/>
            <a:ext cx="497840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ym typeface="Greek Symbols" pitchFamily="18" charset="2"/>
              </a:rPr>
              <a:t>Conjunction:  </a:t>
            </a:r>
            <a:r>
              <a:rPr lang="en-US" altLang="en-US" sz="1800" dirty="0"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1</a:t>
            </a:r>
            <a:r>
              <a:rPr lang="en-US" altLang="en-US" sz="1800" dirty="0"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2</a:t>
            </a:r>
            <a:r>
              <a:rPr lang="en-US" altLang="en-US" sz="1800" dirty="0">
                <a:sym typeface="Symbol" panose="05050102010706020507" pitchFamily="18" charset="2"/>
              </a:rPr>
              <a:t>. . .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sym typeface="Greek Symbols" pitchFamily="18" charset="2"/>
              </a:rPr>
              <a:t>n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ym typeface="Symbol" panose="05050102010706020507" pitchFamily="18" charset="2"/>
              </a:rPr>
              <a:t>r)  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A8</a:t>
            </a:r>
            <a:r>
              <a:rPr lang="en-US" altLang="en-US" sz="1800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</a:t>
            </a:r>
            <a:r>
              <a:rPr lang="en-US" altLang="en-US" sz="1800" b="1" dirty="0">
                <a:solidFill>
                  <a:srgbClr val="0000FF"/>
                </a:solidFill>
                <a:ea typeface="MS PGothic" panose="020B0600070205080204" pitchFamily="34" charset="-128"/>
                <a:sym typeface="Greek Symbols" pitchFamily="18" charset="2"/>
              </a:rPr>
              <a:t>using composite index</a:t>
            </a:r>
            <a:r>
              <a:rPr lang="en-US" altLang="en-US" sz="1800" dirty="0">
                <a:solidFill>
                  <a:srgbClr val="0000FF"/>
                </a:solidFill>
                <a:ea typeface="MS PGothic" panose="020B0600070205080204" pitchFamily="34" charset="-128"/>
                <a:sym typeface="Greek Symbols" pitchFamily="18" charset="2"/>
              </a:rPr>
              <a:t>). 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Use appropriate composite (multiple-key) index if available.</a:t>
            </a: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81ECC-B90A-4209-8E86-CE0C2C5CEA06}"/>
              </a:ext>
            </a:extLst>
          </p:cNvPr>
          <p:cNvSpPr txBox="1"/>
          <p:nvPr/>
        </p:nvSpPr>
        <p:spPr>
          <a:xfrm>
            <a:off x="5138057" y="0"/>
            <a:ext cx="4005943" cy="147732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Given B+ tree </a:t>
            </a:r>
            <a:r>
              <a:rPr lang="en-US" sz="1800" b="1" dirty="0">
                <a:solidFill>
                  <a:srgbClr val="0000FF"/>
                </a:solidFill>
              </a:rPr>
              <a:t>composite index </a:t>
            </a:r>
            <a:r>
              <a:rPr lang="en-US" sz="1800" dirty="0"/>
              <a:t>on (CGPA, city, year-admit). </a:t>
            </a:r>
          </a:p>
          <a:p>
            <a:r>
              <a:rPr lang="en-US" sz="1800" dirty="0">
                <a:solidFill>
                  <a:srgbClr val="0000FF"/>
                </a:solidFill>
              </a:rPr>
              <a:t>Discussion 2:</a:t>
            </a:r>
            <a:r>
              <a:rPr lang="en-US" sz="1800" dirty="0"/>
              <a:t> Explain how will this query be executed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using composite index?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745395-509D-4CB5-BD96-F690773A1E6E}"/>
              </a:ext>
            </a:extLst>
          </p:cNvPr>
          <p:cNvSpPr txBox="1"/>
          <p:nvPr/>
        </p:nvSpPr>
        <p:spPr>
          <a:xfrm>
            <a:off x="0" y="2871720"/>
            <a:ext cx="4978400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Example: Find students with CGPA = 4 and city = Uttara and  </a:t>
            </a:r>
            <a:r>
              <a:rPr lang="en-US" sz="1800" b="1" dirty="0" err="1">
                <a:solidFill>
                  <a:srgbClr val="002060"/>
                </a:solidFill>
              </a:rPr>
              <a:t>and</a:t>
            </a:r>
            <a:r>
              <a:rPr lang="en-US" sz="1800" b="1" dirty="0">
                <a:solidFill>
                  <a:srgbClr val="002060"/>
                </a:solidFill>
              </a:rPr>
              <a:t> year-admit = 2019</a:t>
            </a:r>
            <a:r>
              <a:rPr lang="en-US" sz="1800" dirty="0"/>
              <a:t> </a:t>
            </a:r>
          </a:p>
          <a:p>
            <a:endParaRPr lang="en-US" sz="1800" dirty="0"/>
          </a:p>
          <a:p>
            <a:r>
              <a:rPr lang="en-US" sz="1800" dirty="0"/>
              <a:t>Algebra: 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CGPA=4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city = </a:t>
            </a:r>
            <a:r>
              <a:rPr lang="en-US" altLang="en-US" sz="1800" baseline="-250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year-admit=2019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(CGPA=4), 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(City=</a:t>
            </a:r>
            <a:r>
              <a:rPr lang="en-US" altLang="en-US" sz="1800" dirty="0">
                <a:sym typeface="Symbol" panose="05050102010706020507" pitchFamily="18" charset="2"/>
              </a:rPr>
              <a:t>‘</a:t>
            </a:r>
            <a:r>
              <a:rPr lang="en-US" altLang="en-US" sz="18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(year-admit=</a:t>
            </a:r>
            <a:r>
              <a:rPr lang="en-US" altLang="en-US" sz="1800" dirty="0">
                <a:sym typeface="Symbol" panose="05050102010706020507" pitchFamily="18" charset="2"/>
              </a:rPr>
              <a:t>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SQL: SELECT * FROM student WHERE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CGPA=4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AND City=‘</a:t>
            </a:r>
            <a:r>
              <a:rPr lang="en-US" altLang="en-US" sz="1800" u="sng" dirty="0" err="1">
                <a:solidFill>
                  <a:srgbClr val="0000FF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year-admit=2019</a:t>
            </a:r>
            <a:endParaRPr lang="en-US" sz="1800" u="sng" dirty="0">
              <a:solidFill>
                <a:srgbClr val="0000FF"/>
              </a:solidFill>
            </a:endParaRPr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1D2F5B-B827-4FB9-BACE-BF5BA4C8F046}"/>
              </a:ext>
            </a:extLst>
          </p:cNvPr>
          <p:cNvSpPr txBox="1"/>
          <p:nvPr/>
        </p:nvSpPr>
        <p:spPr>
          <a:xfrm>
            <a:off x="5138056" y="1549792"/>
            <a:ext cx="4005943" cy="4524315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What is composite index?</a:t>
            </a:r>
          </a:p>
          <a:p>
            <a:r>
              <a:rPr lang="en-US" sz="1800" dirty="0"/>
              <a:t>Index on multiple attributes.</a:t>
            </a:r>
          </a:p>
          <a:p>
            <a:r>
              <a:rPr lang="en-US" sz="1800" b="1" dirty="0">
                <a:solidFill>
                  <a:srgbClr val="0000FF"/>
                </a:solidFill>
              </a:rPr>
              <a:t>composite index </a:t>
            </a:r>
            <a:r>
              <a:rPr lang="en-US" sz="1800" dirty="0"/>
              <a:t>on </a:t>
            </a:r>
          </a:p>
          <a:p>
            <a:r>
              <a:rPr lang="en-US" sz="1800" dirty="0"/>
              <a:t>(CGPA, city, year-admit)</a:t>
            </a:r>
          </a:p>
          <a:p>
            <a:endParaRPr lang="en-US" sz="1800" dirty="0"/>
          </a:p>
          <a:p>
            <a:r>
              <a:rPr lang="en-US" sz="1800" dirty="0"/>
              <a:t>Search keys in index:</a:t>
            </a:r>
          </a:p>
          <a:p>
            <a:r>
              <a:rPr lang="en-US" sz="1800" dirty="0"/>
              <a:t>(3, ‘Dhaka’, 2015)             record</a:t>
            </a:r>
          </a:p>
          <a:p>
            <a:r>
              <a:rPr lang="en-US" sz="1800" dirty="0"/>
              <a:t>(3, ‘Dhaka’, 2017)              record</a:t>
            </a:r>
          </a:p>
          <a:p>
            <a:r>
              <a:rPr lang="en-US" sz="1800" dirty="0"/>
              <a:t>(3, ‘Dhaka’, 2020)             record</a:t>
            </a:r>
          </a:p>
          <a:p>
            <a:r>
              <a:rPr lang="en-US" sz="1800" dirty="0"/>
              <a:t>(3, ‘</a:t>
            </a:r>
            <a:r>
              <a:rPr lang="en-US" sz="1800" dirty="0" err="1"/>
              <a:t>Feni</a:t>
            </a:r>
            <a:r>
              <a:rPr lang="en-US" sz="1800" dirty="0"/>
              <a:t>’, 2015)               record</a:t>
            </a:r>
          </a:p>
          <a:p>
            <a:r>
              <a:rPr lang="en-US" sz="1800" dirty="0"/>
              <a:t>(3, ‘</a:t>
            </a:r>
            <a:r>
              <a:rPr lang="en-US" sz="1800" dirty="0" err="1"/>
              <a:t>Feni</a:t>
            </a:r>
            <a:r>
              <a:rPr lang="en-US" sz="1800" dirty="0"/>
              <a:t>’, 2020)              record</a:t>
            </a:r>
          </a:p>
          <a:p>
            <a:endParaRPr lang="en-US" sz="1800" dirty="0"/>
          </a:p>
          <a:p>
            <a:r>
              <a:rPr lang="en-US" sz="1800" dirty="0"/>
              <a:t>SELECT * FROM student WHERE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CGPA=3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AND City=‘</a:t>
            </a:r>
            <a:r>
              <a:rPr lang="en-US" altLang="en-US" sz="1800" u="sng" dirty="0" err="1">
                <a:solidFill>
                  <a:srgbClr val="0000FF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year-admit=2015</a:t>
            </a:r>
            <a:endParaRPr lang="en-US" sz="1800" dirty="0"/>
          </a:p>
          <a:p>
            <a:endParaRPr lang="en-US" sz="1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27FE07C-C015-4DFD-A5A6-23D0067908CB}"/>
              </a:ext>
            </a:extLst>
          </p:cNvPr>
          <p:cNvCxnSpPr/>
          <p:nvPr/>
        </p:nvCxnSpPr>
        <p:spPr bwMode="auto">
          <a:xfrm>
            <a:off x="7104185" y="3429000"/>
            <a:ext cx="66118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075E8D-C2D6-482C-A95E-696A14AAA99A}"/>
              </a:ext>
            </a:extLst>
          </p:cNvPr>
          <p:cNvCxnSpPr>
            <a:cxnSpLocks/>
          </p:cNvCxnSpPr>
          <p:nvPr/>
        </p:nvCxnSpPr>
        <p:spPr bwMode="auto">
          <a:xfrm>
            <a:off x="7104185" y="3679874"/>
            <a:ext cx="66118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A4AB6E-F0CA-40BC-8631-76309F3206D9}"/>
              </a:ext>
            </a:extLst>
          </p:cNvPr>
          <p:cNvCxnSpPr>
            <a:cxnSpLocks/>
          </p:cNvCxnSpPr>
          <p:nvPr/>
        </p:nvCxnSpPr>
        <p:spPr bwMode="auto">
          <a:xfrm>
            <a:off x="7104185" y="4001086"/>
            <a:ext cx="66118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6EECA6D-0741-43E6-9B26-6BFB406A55E5}"/>
              </a:ext>
            </a:extLst>
          </p:cNvPr>
          <p:cNvCxnSpPr>
            <a:cxnSpLocks/>
          </p:cNvCxnSpPr>
          <p:nvPr/>
        </p:nvCxnSpPr>
        <p:spPr bwMode="auto">
          <a:xfrm>
            <a:off x="6968198" y="4251960"/>
            <a:ext cx="66118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E88F9B8-BB7A-4BAF-AC8C-94E953C67A9E}"/>
              </a:ext>
            </a:extLst>
          </p:cNvPr>
          <p:cNvCxnSpPr>
            <a:cxnSpLocks/>
          </p:cNvCxnSpPr>
          <p:nvPr/>
        </p:nvCxnSpPr>
        <p:spPr bwMode="auto">
          <a:xfrm>
            <a:off x="6968198" y="4516902"/>
            <a:ext cx="661181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7081218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3673021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00C8E-0584-4BE5-9CE8-97AD8434A81F}"/>
              </a:ext>
            </a:extLst>
          </p:cNvPr>
          <p:cNvSpPr txBox="1"/>
          <p:nvPr/>
        </p:nvSpPr>
        <p:spPr>
          <a:xfrm>
            <a:off x="0" y="993934"/>
            <a:ext cx="497840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ym typeface="Greek Symbols" pitchFamily="18" charset="2"/>
              </a:rPr>
              <a:t>Conjunction:  </a:t>
            </a:r>
            <a:r>
              <a:rPr lang="en-US" altLang="en-US" sz="1800" dirty="0"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1</a:t>
            </a:r>
            <a:r>
              <a:rPr lang="en-US" altLang="en-US" sz="1800" dirty="0"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2</a:t>
            </a:r>
            <a:r>
              <a:rPr lang="en-US" altLang="en-US" sz="1800" dirty="0">
                <a:sym typeface="Symbol" panose="05050102010706020507" pitchFamily="18" charset="2"/>
              </a:rPr>
              <a:t>. . .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sym typeface="Greek Symbols" pitchFamily="18" charset="2"/>
              </a:rPr>
              <a:t>n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ym typeface="Symbol" panose="05050102010706020507" pitchFamily="18" charset="2"/>
              </a:rPr>
              <a:t>r)  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A8</a:t>
            </a:r>
            <a:r>
              <a:rPr lang="en-US" altLang="en-US" sz="1800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conjunctive selection </a:t>
            </a:r>
            <a:r>
              <a:rPr lang="en-US" altLang="en-US" sz="1800" b="1" dirty="0">
                <a:solidFill>
                  <a:srgbClr val="0000FF"/>
                </a:solidFill>
                <a:ea typeface="MS PGothic" panose="020B0600070205080204" pitchFamily="34" charset="-128"/>
                <a:sym typeface="Greek Symbols" pitchFamily="18" charset="2"/>
              </a:rPr>
              <a:t>using composite index</a:t>
            </a:r>
            <a:r>
              <a:rPr lang="en-US" altLang="en-US" sz="1800" dirty="0">
                <a:solidFill>
                  <a:srgbClr val="0000FF"/>
                </a:solidFill>
                <a:ea typeface="MS PGothic" panose="020B0600070205080204" pitchFamily="34" charset="-128"/>
                <a:sym typeface="Greek Symbols" pitchFamily="18" charset="2"/>
              </a:rPr>
              <a:t>). 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Use appropriate composite (multiple-key) index if available.</a:t>
            </a:r>
          </a:p>
          <a:p>
            <a:endParaRPr lang="en-US" sz="1800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81ECC-B90A-4209-8E86-CE0C2C5CEA06}"/>
              </a:ext>
            </a:extLst>
          </p:cNvPr>
          <p:cNvSpPr txBox="1"/>
          <p:nvPr/>
        </p:nvSpPr>
        <p:spPr>
          <a:xfrm>
            <a:off x="5138057" y="0"/>
            <a:ext cx="4005943" cy="147732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Given B+ tree </a:t>
            </a:r>
            <a:r>
              <a:rPr lang="en-US" sz="1800" b="1" dirty="0">
                <a:solidFill>
                  <a:srgbClr val="0000FF"/>
                </a:solidFill>
              </a:rPr>
              <a:t>composite index </a:t>
            </a:r>
            <a:r>
              <a:rPr lang="en-US" sz="1800" dirty="0"/>
              <a:t>on (CGPA, city, year-admit). </a:t>
            </a:r>
          </a:p>
          <a:p>
            <a:r>
              <a:rPr lang="en-US" sz="1800" dirty="0">
                <a:solidFill>
                  <a:srgbClr val="0000FF"/>
                </a:solidFill>
              </a:rPr>
              <a:t>Discussion 2:</a:t>
            </a:r>
            <a:r>
              <a:rPr lang="en-US" sz="1800" dirty="0"/>
              <a:t> Explain how will this query be executed</a:t>
            </a:r>
            <a:r>
              <a:rPr lang="en-US" sz="1800" dirty="0">
                <a:solidFill>
                  <a:srgbClr val="0000FF"/>
                </a:solidFill>
              </a:rPr>
              <a:t> </a:t>
            </a:r>
            <a:r>
              <a:rPr lang="en-US" sz="1800" dirty="0">
                <a:solidFill>
                  <a:srgbClr val="FF0000"/>
                </a:solidFill>
              </a:rPr>
              <a:t>using composite index?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745395-509D-4CB5-BD96-F690773A1E6E}"/>
              </a:ext>
            </a:extLst>
          </p:cNvPr>
          <p:cNvSpPr txBox="1"/>
          <p:nvPr/>
        </p:nvSpPr>
        <p:spPr>
          <a:xfrm>
            <a:off x="0" y="2871720"/>
            <a:ext cx="4978400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2060"/>
                </a:solidFill>
              </a:rPr>
              <a:t>Example: Find students with CGPA = 4 and city = Uttara and  </a:t>
            </a:r>
            <a:r>
              <a:rPr lang="en-US" sz="1800" b="1" dirty="0" err="1">
                <a:solidFill>
                  <a:srgbClr val="002060"/>
                </a:solidFill>
              </a:rPr>
              <a:t>and</a:t>
            </a:r>
            <a:r>
              <a:rPr lang="en-US" sz="1800" b="1" dirty="0">
                <a:solidFill>
                  <a:srgbClr val="002060"/>
                </a:solidFill>
              </a:rPr>
              <a:t> year-admit = 2019</a:t>
            </a:r>
            <a:r>
              <a:rPr lang="en-US" sz="1800" dirty="0"/>
              <a:t> </a:t>
            </a:r>
          </a:p>
          <a:p>
            <a:endParaRPr lang="en-US" sz="1800" dirty="0"/>
          </a:p>
          <a:p>
            <a:r>
              <a:rPr lang="en-US" sz="1800" dirty="0"/>
              <a:t>Algebra: 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CGPA=4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city = </a:t>
            </a:r>
            <a:r>
              <a:rPr lang="en-US" altLang="en-US" sz="1800" baseline="-250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year-admit=2019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(CGPA=4), 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(City=</a:t>
            </a:r>
            <a:r>
              <a:rPr lang="en-US" altLang="en-US" sz="1800" dirty="0">
                <a:sym typeface="Symbol" panose="05050102010706020507" pitchFamily="18" charset="2"/>
              </a:rPr>
              <a:t>‘</a:t>
            </a:r>
            <a:r>
              <a:rPr lang="en-US" altLang="en-US" sz="18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(year-admit=</a:t>
            </a:r>
            <a:r>
              <a:rPr lang="en-US" altLang="en-US" sz="1800" dirty="0">
                <a:sym typeface="Symbol" panose="05050102010706020507" pitchFamily="18" charset="2"/>
              </a:rPr>
              <a:t>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SQL: SELECT * FROM student WHERE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CGPA=4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AND City=‘</a:t>
            </a:r>
            <a:r>
              <a:rPr lang="en-US" altLang="en-US" sz="1800" u="sng" dirty="0" err="1">
                <a:solidFill>
                  <a:srgbClr val="0000FF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year-admit=2019</a:t>
            </a:r>
            <a:endParaRPr lang="en-US" sz="1800" u="sng" dirty="0">
              <a:solidFill>
                <a:srgbClr val="0000FF"/>
              </a:solidFill>
            </a:endParaRPr>
          </a:p>
          <a:p>
            <a:endParaRPr lang="en-US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1D2F5B-B827-4FB9-BACE-BF5BA4C8F046}"/>
              </a:ext>
            </a:extLst>
          </p:cNvPr>
          <p:cNvSpPr txBox="1"/>
          <p:nvPr/>
        </p:nvSpPr>
        <p:spPr>
          <a:xfrm>
            <a:off x="5138056" y="1549792"/>
            <a:ext cx="4005943" cy="4247317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Find the cost of the SQL using A8 algorithm.</a:t>
            </a:r>
          </a:p>
          <a:p>
            <a:r>
              <a:rPr lang="en-US" sz="1800" dirty="0"/>
              <a:t>The height of the </a:t>
            </a:r>
            <a:r>
              <a:rPr lang="en-US" sz="1800" b="1" dirty="0">
                <a:solidFill>
                  <a:srgbClr val="0000FF"/>
                </a:solidFill>
              </a:rPr>
              <a:t>composite index</a:t>
            </a:r>
            <a:r>
              <a:rPr lang="en-US" sz="1800" dirty="0"/>
              <a:t> is 4 and the number of tuples (pointers) for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0000FF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year-admit=2019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is 2. 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</a:t>
            </a:r>
            <a:r>
              <a:rPr lang="en-US" sz="1800" b="1" dirty="0">
                <a:solidFill>
                  <a:srgbClr val="0000FF"/>
                </a:solidFill>
              </a:rPr>
              <a:t>composite index </a:t>
            </a:r>
            <a:r>
              <a:rPr lang="en-US" sz="1800" dirty="0"/>
              <a:t>is a secondary index.</a:t>
            </a:r>
          </a:p>
          <a:p>
            <a:endParaRPr lang="en-US" sz="1800" dirty="0"/>
          </a:p>
          <a:p>
            <a:r>
              <a:rPr lang="en-US" sz="1800" dirty="0"/>
              <a:t>Query cost = index cost + data cost</a:t>
            </a:r>
          </a:p>
          <a:p>
            <a:endParaRPr lang="en-US" sz="1800" dirty="0"/>
          </a:p>
          <a:p>
            <a:r>
              <a:rPr lang="en-US" sz="1800" dirty="0"/>
              <a:t>= </a:t>
            </a:r>
            <a:r>
              <a:rPr lang="en-US" altLang="en-US" sz="1800" i="1" dirty="0">
                <a:ea typeface="MS PGothic" panose="020B0600070205080204" pitchFamily="34" charset="-128"/>
              </a:rPr>
              <a:t>h</a:t>
            </a:r>
            <a:r>
              <a:rPr lang="en-US" altLang="en-US" sz="1800" i="1" baseline="-25000" dirty="0">
                <a:ea typeface="MS PGothic" panose="020B0600070205080204" pitchFamily="34" charset="-128"/>
              </a:rPr>
              <a:t>i</a:t>
            </a:r>
            <a:r>
              <a:rPr lang="en-US" altLang="en-US" sz="1800" i="1" dirty="0">
                <a:ea typeface="MS PGothic" panose="020B0600070205080204" pitchFamily="34" charset="-128"/>
              </a:rPr>
              <a:t>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 +</a:t>
            </a:r>
            <a:r>
              <a:rPr lang="en-US" altLang="en-US" sz="1800" dirty="0">
                <a:ea typeface="MS PGothic" panose="020B0600070205080204" pitchFamily="34" charset="-128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</a:rPr>
              <a:t>n *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</a:t>
            </a:r>
          </a:p>
          <a:p>
            <a:endParaRPr lang="en-US" altLang="en-US" sz="1800" dirty="0">
              <a:sym typeface="Symbol" panose="05050102010706020507" pitchFamily="18" charset="2"/>
            </a:endParaRP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Analyze A7 and A8</a:t>
            </a:r>
          </a:p>
        </p:txBody>
      </p:sp>
    </p:spTree>
    <p:extLst>
      <p:ext uri="{BB962C8B-B14F-4D97-AF65-F5344CB8AC3E}">
        <p14:creationId xmlns:p14="http://schemas.microsoft.com/office/powerpoint/2010/main" val="1330922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7FD05BB0-1BC5-4784-9BDD-C08905CE85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0535"/>
            <a:ext cx="3673021" cy="609600"/>
          </a:xfrm>
        </p:spPr>
        <p:txBody>
          <a:bodyPr/>
          <a:lstStyle/>
          <a:p>
            <a:pPr>
              <a:defRPr/>
            </a:pPr>
            <a:r>
              <a:rPr lang="en-US" altLang="en-US" sz="24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Implementation of Complex Selections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D00C8E-0584-4BE5-9CE8-97AD8434A81F}"/>
              </a:ext>
            </a:extLst>
          </p:cNvPr>
          <p:cNvSpPr txBox="1"/>
          <p:nvPr/>
        </p:nvSpPr>
        <p:spPr>
          <a:xfrm>
            <a:off x="0" y="834280"/>
            <a:ext cx="4978400" cy="56323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ym typeface="Greek Symbols" pitchFamily="18" charset="2"/>
              </a:rPr>
              <a:t>Conjunction:  </a:t>
            </a:r>
            <a:r>
              <a:rPr lang="en-US" altLang="en-US" sz="1800" dirty="0"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1</a:t>
            </a:r>
            <a:r>
              <a:rPr lang="en-US" altLang="en-US" sz="1800" dirty="0"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sym typeface="Greek Symbols" pitchFamily="18" charset="2"/>
              </a:rPr>
              <a:t>2</a:t>
            </a:r>
            <a:r>
              <a:rPr lang="en-US" altLang="en-US" sz="1800" dirty="0">
                <a:sym typeface="Symbol" panose="05050102010706020507" pitchFamily="18" charset="2"/>
              </a:rPr>
              <a:t>. . . </a:t>
            </a:r>
            <a:r>
              <a:rPr lang="en-US" altLang="en-US" sz="1800" baseline="-25000" dirty="0"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sym typeface="Greek Symbols" pitchFamily="18" charset="2"/>
              </a:rPr>
              <a:t>n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sym typeface="Symbol" panose="05050102010706020507" pitchFamily="18" charset="2"/>
              </a:rPr>
              <a:t>r)  </a:t>
            </a:r>
          </a:p>
          <a:p>
            <a:pPr marL="0" indent="0">
              <a:buNone/>
              <a:tabLst>
                <a:tab pos="2338388" algn="l"/>
              </a:tabLst>
            </a:pPr>
            <a:r>
              <a:rPr lang="en-US" altLang="en-US" sz="1800" b="1" dirty="0">
                <a:solidFill>
                  <a:srgbClr val="FF0000"/>
                </a:solidFill>
                <a:sym typeface="Greek Symbols" pitchFamily="18" charset="2"/>
              </a:rPr>
              <a:t>A9</a:t>
            </a:r>
            <a:r>
              <a:rPr lang="en-US" altLang="en-US" sz="1800" dirty="0">
                <a:solidFill>
                  <a:srgbClr val="FF0000"/>
                </a:solidFill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FF0000"/>
                </a:solidFill>
                <a:sym typeface="Greek Symbols" pitchFamily="18" charset="2"/>
              </a:rPr>
              <a:t>conjunctive selection </a:t>
            </a:r>
            <a:r>
              <a:rPr lang="en-US" altLang="en-US" sz="1800" b="1" dirty="0">
                <a:solidFill>
                  <a:srgbClr val="0000FF"/>
                </a:solidFill>
                <a:sym typeface="Greek Symbols" pitchFamily="18" charset="2"/>
              </a:rPr>
              <a:t>by intersection of identifiers</a:t>
            </a:r>
            <a:r>
              <a:rPr lang="en-US" altLang="en-US" sz="1800" i="1" dirty="0">
                <a:solidFill>
                  <a:srgbClr val="0000FF"/>
                </a:solidFill>
                <a:sym typeface="Greek Symbols" pitchFamily="18" charset="2"/>
              </a:rPr>
              <a:t>).</a:t>
            </a:r>
            <a:r>
              <a:rPr lang="en-US" altLang="en-US" sz="1800" dirty="0">
                <a:solidFill>
                  <a:srgbClr val="0000FF"/>
                </a:solidFill>
                <a:sym typeface="Greek Symbols" pitchFamily="18" charset="2"/>
              </a:rPr>
              <a:t>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sym typeface="Greek Symbols" pitchFamily="18" charset="2"/>
              </a:rPr>
              <a:t>Requires indices with record pointers.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sym typeface="Greek Symbols" pitchFamily="18" charset="2"/>
              </a:rPr>
              <a:t>Use corresponding index for each condition, and take intersection of all the obtained sets of record pointers. </a:t>
            </a:r>
          </a:p>
          <a:p>
            <a:pPr>
              <a:tabLst>
                <a:tab pos="2338388" algn="l"/>
              </a:tabLst>
            </a:pPr>
            <a:r>
              <a:rPr lang="en-US" altLang="en-US" sz="1800" dirty="0">
                <a:sym typeface="Greek Symbols" pitchFamily="18" charset="2"/>
              </a:rPr>
              <a:t>Then fetch records from file</a:t>
            </a:r>
          </a:p>
          <a:p>
            <a:endParaRPr lang="en-US" sz="1800" dirty="0">
              <a:solidFill>
                <a:srgbClr val="FF0000"/>
              </a:solidFill>
            </a:endParaRPr>
          </a:p>
          <a:p>
            <a:r>
              <a:rPr lang="en-US" sz="1800" b="1" dirty="0">
                <a:solidFill>
                  <a:srgbClr val="002060"/>
                </a:solidFill>
              </a:rPr>
              <a:t>Example: Find students with CGPA = 4 and city = </a:t>
            </a:r>
            <a:r>
              <a:rPr lang="en-US" sz="1800" b="1" dirty="0" err="1">
                <a:solidFill>
                  <a:srgbClr val="002060"/>
                </a:solidFill>
              </a:rPr>
              <a:t>Feni</a:t>
            </a:r>
            <a:r>
              <a:rPr lang="en-US" sz="1800" b="1" dirty="0">
                <a:solidFill>
                  <a:srgbClr val="002060"/>
                </a:solidFill>
              </a:rPr>
              <a:t> and  </a:t>
            </a:r>
            <a:r>
              <a:rPr lang="en-US" sz="1800" b="1" dirty="0" err="1">
                <a:solidFill>
                  <a:srgbClr val="002060"/>
                </a:solidFill>
              </a:rPr>
              <a:t>and</a:t>
            </a:r>
            <a:r>
              <a:rPr lang="en-US" sz="1800" b="1" dirty="0">
                <a:solidFill>
                  <a:srgbClr val="002060"/>
                </a:solidFill>
              </a:rPr>
              <a:t> year-admit = 2019</a:t>
            </a:r>
            <a:r>
              <a:rPr lang="en-US" sz="1800" dirty="0"/>
              <a:t> </a:t>
            </a:r>
          </a:p>
          <a:p>
            <a:endParaRPr lang="en-US" sz="1800" dirty="0"/>
          </a:p>
          <a:p>
            <a:r>
              <a:rPr lang="en-US" sz="1800" dirty="0"/>
              <a:t>Algebra: 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CGPA=4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city = </a:t>
            </a:r>
            <a:r>
              <a:rPr lang="en-US" altLang="en-US" sz="1800" baseline="-250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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year-admit=2019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(CGPA=4), 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(City=</a:t>
            </a:r>
            <a:r>
              <a:rPr lang="en-US" altLang="en-US" sz="1800" dirty="0">
                <a:sym typeface="Symbol" panose="05050102010706020507" pitchFamily="18" charset="2"/>
              </a:rPr>
              <a:t>‘</a:t>
            </a:r>
            <a:r>
              <a:rPr lang="en-US" altLang="en-US" sz="1800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3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(year-admit=</a:t>
            </a:r>
            <a:r>
              <a:rPr lang="en-US" altLang="en-US" sz="1800" dirty="0">
                <a:sym typeface="Symbol" panose="05050102010706020507" pitchFamily="18" charset="2"/>
              </a:rPr>
              <a:t>2019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), 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SQL: SELECT * FROM student WHERE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CGPA=4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AND City=‘</a:t>
            </a:r>
            <a:r>
              <a:rPr lang="en-US" altLang="en-US" sz="1800" u="sng" dirty="0" err="1">
                <a:solidFill>
                  <a:srgbClr val="0000FF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0000FF"/>
                </a:solidFill>
                <a:sym typeface="Symbol" panose="05050102010706020507" pitchFamily="18" charset="2"/>
              </a:rPr>
              <a:t>year-admit=2019</a:t>
            </a:r>
            <a:endParaRPr lang="en-US" sz="1800" u="sng" dirty="0">
              <a:solidFill>
                <a:srgbClr val="0000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C81ECC-B90A-4209-8E86-CE0C2C5CEA06}"/>
              </a:ext>
            </a:extLst>
          </p:cNvPr>
          <p:cNvSpPr txBox="1"/>
          <p:nvPr/>
        </p:nvSpPr>
        <p:spPr>
          <a:xfrm>
            <a:off x="5138057" y="180535"/>
            <a:ext cx="4005943" cy="147732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Given B+ tree indices on CGPA, city and year-admit. </a:t>
            </a:r>
          </a:p>
          <a:p>
            <a:r>
              <a:rPr lang="en-US" sz="1800" dirty="0">
                <a:solidFill>
                  <a:srgbClr val="0000FF"/>
                </a:solidFill>
              </a:rPr>
              <a:t>Discussion 3</a:t>
            </a:r>
            <a:r>
              <a:rPr lang="en-US" sz="1800" dirty="0"/>
              <a:t>: Explain how will this query be executed using algorithm A9?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09224F-19E2-40B8-8322-7027DE8C48FC}"/>
              </a:ext>
            </a:extLst>
          </p:cNvPr>
          <p:cNvSpPr txBox="1"/>
          <p:nvPr/>
        </p:nvSpPr>
        <p:spPr>
          <a:xfrm>
            <a:off x="5138057" y="1720840"/>
            <a:ext cx="4005943" cy="3416320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Example: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Find the cost of the SQL using A9 algorithm.</a:t>
            </a:r>
          </a:p>
          <a:p>
            <a:r>
              <a:rPr lang="en-US" sz="1800" dirty="0"/>
              <a:t>The height of the indices are 2, 2 and 1 respectively.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indices are secondary index.</a:t>
            </a:r>
          </a:p>
          <a:p>
            <a:endParaRPr lang="en-US" sz="1800" dirty="0"/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696641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C81ECC-B90A-4209-8E86-CE0C2C5CEA06}"/>
              </a:ext>
            </a:extLst>
          </p:cNvPr>
          <p:cNvSpPr txBox="1"/>
          <p:nvPr/>
        </p:nvSpPr>
        <p:spPr>
          <a:xfrm>
            <a:off x="5138057" y="29028"/>
            <a:ext cx="4005943" cy="1477328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Given B+ tree indices on CGPA, city and year-admit. </a:t>
            </a:r>
          </a:p>
          <a:p>
            <a:r>
              <a:rPr lang="en-US" sz="1800" dirty="0">
                <a:solidFill>
                  <a:srgbClr val="0000FF"/>
                </a:solidFill>
              </a:rPr>
              <a:t>Discussion 3: </a:t>
            </a:r>
            <a:r>
              <a:rPr lang="en-US" sz="1800" dirty="0"/>
              <a:t>Explain how will this query be executed using algorithm A9?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43C337-0584-4166-8F69-39B38B345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18" y="0"/>
            <a:ext cx="4851639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B278FD-BB21-4898-8472-E41359E55AC5}"/>
              </a:ext>
            </a:extLst>
          </p:cNvPr>
          <p:cNvSpPr txBox="1"/>
          <p:nvPr/>
        </p:nvSpPr>
        <p:spPr>
          <a:xfrm>
            <a:off x="5138057" y="1589315"/>
            <a:ext cx="4005943" cy="4801314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Find the cost of the SQL using A9 algorithm.</a:t>
            </a:r>
          </a:p>
          <a:p>
            <a:r>
              <a:rPr lang="en-US" sz="1800" dirty="0"/>
              <a:t>The height of the indices are 2, 2 and 1 respectively.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indices are secondary index.</a:t>
            </a:r>
          </a:p>
          <a:p>
            <a:r>
              <a:rPr lang="en-US" sz="1800" dirty="0"/>
              <a:t>Cost = Cost of (CGPA index + City </a:t>
            </a:r>
            <a:r>
              <a:rPr lang="en-US" sz="1800" dirty="0" err="1"/>
              <a:t>index+year-admit</a:t>
            </a:r>
            <a:r>
              <a:rPr lang="en-US" sz="1800" dirty="0"/>
              <a:t> index) + 1 data</a:t>
            </a:r>
          </a:p>
          <a:p>
            <a:endParaRPr lang="en-US" sz="1800" dirty="0"/>
          </a:p>
          <a:p>
            <a:r>
              <a:rPr lang="en-US" sz="1800" dirty="0"/>
              <a:t>= 2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+ 2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+1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+1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 </a:t>
            </a:r>
          </a:p>
          <a:p>
            <a:endParaRPr lang="en-US" sz="1800" dirty="0">
              <a:sym typeface="Symbol" panose="05050102010706020507" pitchFamily="18" charset="2"/>
            </a:endParaRPr>
          </a:p>
          <a:p>
            <a:r>
              <a:rPr lang="en-US" sz="1800" dirty="0">
                <a:sym typeface="Symbol" panose="05050102010706020507" pitchFamily="18" charset="2"/>
              </a:rPr>
              <a:t>= 61.2ms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846675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B278FD-BB21-4898-8472-E41359E55AC5}"/>
              </a:ext>
            </a:extLst>
          </p:cNvPr>
          <p:cNvSpPr txBox="1"/>
          <p:nvPr/>
        </p:nvSpPr>
        <p:spPr>
          <a:xfrm>
            <a:off x="1631853" y="521906"/>
            <a:ext cx="6302326" cy="5078313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Question 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Given B+ tree indices on name,  and total-credit. The height of the indices are 4 and 2 respectively.</a:t>
            </a:r>
          </a:p>
          <a:p>
            <a:r>
              <a:rPr lang="en-US" sz="1800" dirty="0"/>
              <a:t>SQL: SELECT * FROM student WHERE</a:t>
            </a:r>
            <a:r>
              <a:rPr lang="en-US" altLang="en-US" sz="1800" dirty="0">
                <a:sym typeface="Symbol" panose="05050102010706020507" pitchFamily="18" charset="2"/>
              </a:rPr>
              <a:t> name=‘Abdullah’ AND total-credit = 100</a:t>
            </a:r>
            <a:endParaRPr lang="en-US" altLang="en-US" sz="1800" u="sng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r>
              <a:rPr lang="en-US" sz="1800" dirty="0" err="1"/>
              <a:t>t</a:t>
            </a:r>
            <a:r>
              <a:rPr lang="en-US" sz="1800" baseline="-25000" dirty="0" err="1"/>
              <a:t>T</a:t>
            </a:r>
            <a:r>
              <a:rPr lang="en-US" sz="1800" dirty="0"/>
              <a:t> = 0.1ms,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= 10ms</a:t>
            </a:r>
            <a:endParaRPr lang="en-US" sz="1800" dirty="0"/>
          </a:p>
          <a:p>
            <a:r>
              <a:rPr lang="en-US" sz="1800" u="sng" dirty="0">
                <a:solidFill>
                  <a:srgbClr val="FF0000"/>
                </a:solidFill>
              </a:rPr>
              <a:t> </a:t>
            </a:r>
          </a:p>
          <a:p>
            <a:r>
              <a:rPr lang="en-US" sz="1800" dirty="0"/>
              <a:t>The number of tuples (pointers) </a:t>
            </a:r>
            <a:r>
              <a:rPr lang="en-US" altLang="en-US" sz="1800" dirty="0">
                <a:sym typeface="Symbol" panose="05050102010706020507" pitchFamily="18" charset="2"/>
              </a:rPr>
              <a:t>name=‘Abdullah’ AND total-credit = 100  are 50 and 200 respectively. The number of common pointers are 5 and each tuple is in different block.</a:t>
            </a:r>
          </a:p>
          <a:p>
            <a:endParaRPr lang="en-US" sz="1800" dirty="0"/>
          </a:p>
          <a:p>
            <a:r>
              <a:rPr lang="en-US" sz="1800" dirty="0">
                <a:solidFill>
                  <a:srgbClr val="0000FF"/>
                </a:solidFill>
              </a:rPr>
              <a:t>a. Find the cost of the SQL using A9 algorithm.</a:t>
            </a:r>
          </a:p>
          <a:p>
            <a:r>
              <a:rPr lang="en-US" sz="1800" dirty="0"/>
              <a:t>The indices are secondary index</a:t>
            </a:r>
          </a:p>
          <a:p>
            <a:r>
              <a:rPr lang="en-US" sz="1800" dirty="0"/>
              <a:t>Query cost = index cost + data cost</a:t>
            </a:r>
          </a:p>
          <a:p>
            <a:r>
              <a:rPr lang="en-US" sz="1800" dirty="0"/>
              <a:t>Cost = Cost of (name index + total-credit index) + 5 data</a:t>
            </a:r>
          </a:p>
          <a:p>
            <a:endParaRPr lang="en-US" sz="1800" dirty="0"/>
          </a:p>
          <a:p>
            <a:endParaRPr lang="en-US" altLang="en-US" sz="1800" dirty="0">
              <a:sym typeface="Symbol" panose="05050102010706020507" pitchFamily="18" charset="2"/>
            </a:endParaRPr>
          </a:p>
          <a:p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b. Analyze the result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4870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2686AE-6C5E-4CAA-965F-86378A9D9BF8}"/>
              </a:ext>
            </a:extLst>
          </p:cNvPr>
          <p:cNvSpPr txBox="1"/>
          <p:nvPr/>
        </p:nvSpPr>
        <p:spPr>
          <a:xfrm>
            <a:off x="3788228" y="3011967"/>
            <a:ext cx="5355771" cy="2585323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Example: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Find the cost of the SQL using A10 algorithm.</a:t>
            </a:r>
          </a:p>
          <a:p>
            <a:r>
              <a:rPr lang="en-US" sz="1800" dirty="0"/>
              <a:t>The height of the indices are 2, 2 and 1 respectively.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indices are secondary index.</a:t>
            </a:r>
          </a:p>
        </p:txBody>
      </p:sp>
      <p:sp>
        <p:nvSpPr>
          <p:cNvPr id="320514" name="Rectangle 2">
            <a:extLst>
              <a:ext uri="{FF2B5EF4-FFF2-40B4-BE49-F238E27FC236}">
                <a16:creationId xmlns:a16="http://schemas.microsoft.com/office/drawing/2014/main" id="{7CA54525-062A-441C-8B55-B1782A395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20675"/>
            <a:ext cx="4078514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Algorithms for Complex Selections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C6205C-517F-45B6-8500-50261CA2936C}"/>
              </a:ext>
            </a:extLst>
          </p:cNvPr>
          <p:cNvSpPr txBox="1"/>
          <p:nvPr/>
        </p:nvSpPr>
        <p:spPr>
          <a:xfrm>
            <a:off x="3788229" y="0"/>
            <a:ext cx="5355771" cy="2893100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Disjunctive Selection</a:t>
            </a:r>
          </a:p>
          <a:p>
            <a:endParaRPr lang="en-US" sz="1800" dirty="0"/>
          </a:p>
          <a:p>
            <a:r>
              <a:rPr lang="en-US" sz="1800" dirty="0"/>
              <a:t>SQL: SELECT * FROM student WHERE </a:t>
            </a:r>
            <a:r>
              <a:rPr lang="en-US" altLang="en-US" sz="1800" u="sng" dirty="0">
                <a:sym typeface="Symbol" panose="05050102010706020507" pitchFamily="18" charset="2"/>
              </a:rPr>
              <a:t>CGPA=4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OR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</a:t>
            </a:r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OR</a:t>
            </a:r>
            <a:r>
              <a:rPr lang="en-US" altLang="en-US" sz="1800" dirty="0">
                <a:sym typeface="Symbol" panose="05050102010706020507" pitchFamily="18" charset="2"/>
              </a:rPr>
              <a:t> </a:t>
            </a:r>
            <a:r>
              <a:rPr lang="en-US" altLang="en-US" sz="1800" u="sng" dirty="0">
                <a:sym typeface="Symbol" panose="05050102010706020507" pitchFamily="18" charset="2"/>
              </a:rPr>
              <a:t>year-admit=2019</a:t>
            </a:r>
            <a:endParaRPr lang="en-US" sz="1800" u="sng" dirty="0"/>
          </a:p>
          <a:p>
            <a:endParaRPr lang="en-US" sz="1800" dirty="0"/>
          </a:p>
          <a:p>
            <a:r>
              <a:rPr lang="en-US" sz="1800" dirty="0"/>
              <a:t>Given B+ tree indices on CGPA, city and year-admit. </a:t>
            </a:r>
          </a:p>
          <a:p>
            <a:endParaRPr lang="en-US" sz="1800" dirty="0">
              <a:solidFill>
                <a:srgbClr val="0000FF"/>
              </a:solidFill>
            </a:endParaRPr>
          </a:p>
          <a:p>
            <a:r>
              <a:rPr lang="en-US" sz="1800" dirty="0">
                <a:solidFill>
                  <a:srgbClr val="0000FF"/>
                </a:solidFill>
              </a:rPr>
              <a:t>Discussion 4: </a:t>
            </a:r>
            <a:r>
              <a:rPr lang="en-US" sz="1800" dirty="0"/>
              <a:t>Explain how will this query be executed using algorithm A10?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855EF866-759B-4729-84CD-6D98CCFE5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" y="1060647"/>
            <a:ext cx="3672114" cy="3902640"/>
          </a:xfrm>
          <a:noFill/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  <a:sym typeface="Symbol" panose="05050102010706020507" pitchFamily="18" charset="2"/>
              </a:rPr>
              <a:t>Disjunction: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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2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. . .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Greek Symbols" pitchFamily="18" charset="2"/>
              </a:rPr>
              <a:t>n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r). </a:t>
            </a:r>
            <a:endParaRPr lang="en-US" altLang="en-US" sz="18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  <a:sym typeface="Greek Symbols" pitchFamily="18" charset="2"/>
              </a:rPr>
              <a:t>A10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disjunctive selection 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by union of identifiers</a:t>
            </a:r>
            <a:r>
              <a:rPr lang="en-US" altLang="en-US" sz="1800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). </a:t>
            </a:r>
          </a:p>
          <a:p>
            <a:pPr marL="45720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Applicable if </a:t>
            </a:r>
            <a:r>
              <a:rPr lang="en-US" altLang="en-US" sz="1800" i="1" dirty="0">
                <a:ea typeface="MS PGothic" panose="020B0600070205080204" pitchFamily="34" charset="-128"/>
                <a:sym typeface="Greek Symbols" pitchFamily="18" charset="2"/>
              </a:rPr>
              <a:t>all 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conditions have available indices.  </a:t>
            </a:r>
          </a:p>
          <a:p>
            <a:pPr marL="857250" lvl="2" indent="0">
              <a:buNone/>
            </a:pPr>
            <a:r>
              <a:rPr lang="en-US" altLang="en-US" sz="1800" dirty="0">
                <a:solidFill>
                  <a:srgbClr val="0000FF"/>
                </a:solidFill>
                <a:ea typeface="MS PGothic" panose="020B0600070205080204" pitchFamily="34" charset="-128"/>
                <a:sym typeface="Greek Symbols" pitchFamily="18" charset="2"/>
              </a:rPr>
              <a:t>Otherwise use linear scan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.</a:t>
            </a:r>
          </a:p>
          <a:p>
            <a:pPr marL="45720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Use corresponding index for each condition, and take union of all the obtained sets of record pointers. </a:t>
            </a:r>
          </a:p>
          <a:p>
            <a:pPr marL="45720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Then fetch records from file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2686AE-6C5E-4CAA-965F-86378A9D9BF8}"/>
              </a:ext>
            </a:extLst>
          </p:cNvPr>
          <p:cNvSpPr txBox="1"/>
          <p:nvPr/>
        </p:nvSpPr>
        <p:spPr>
          <a:xfrm>
            <a:off x="3788228" y="0"/>
            <a:ext cx="5355771" cy="2585323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Find the cost of the SQL using A10 algorithm.</a:t>
            </a:r>
          </a:p>
          <a:p>
            <a:r>
              <a:rPr lang="en-US" sz="1800" dirty="0"/>
              <a:t>The height of the indices are 2, 2 and 1 respectively.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indices are secondary index.</a:t>
            </a:r>
          </a:p>
        </p:txBody>
      </p:sp>
      <p:sp>
        <p:nvSpPr>
          <p:cNvPr id="320514" name="Rectangle 2">
            <a:extLst>
              <a:ext uri="{FF2B5EF4-FFF2-40B4-BE49-F238E27FC236}">
                <a16:creationId xmlns:a16="http://schemas.microsoft.com/office/drawing/2014/main" id="{7CA54525-062A-441C-8B55-B1782A395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20675"/>
            <a:ext cx="4078514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Algorithms for Complex Selections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855EF866-759B-4729-84CD-6D98CCFE5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" y="1060647"/>
            <a:ext cx="3672114" cy="3902640"/>
          </a:xfrm>
          <a:noFill/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  <a:sym typeface="Symbol" panose="05050102010706020507" pitchFamily="18" charset="2"/>
              </a:rPr>
              <a:t>Disjunction: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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baseline="-25000" dirty="0">
                <a:ea typeface="MS PGothic" panose="020B0600070205080204" pitchFamily="34" charset="-128"/>
                <a:sym typeface="Greek Symbols" pitchFamily="18" charset="2"/>
              </a:rPr>
              <a:t>2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. . . 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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Greek Symbols" pitchFamily="18" charset="2"/>
              </a:rPr>
              <a:t>n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r). </a:t>
            </a:r>
            <a:endParaRPr lang="en-US" altLang="en-US" sz="18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  <a:sym typeface="Greek Symbols" pitchFamily="18" charset="2"/>
              </a:rPr>
              <a:t>A10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(</a:t>
            </a:r>
            <a:r>
              <a:rPr lang="en-US" altLang="en-US" sz="1800" b="1" dirty="0">
                <a:solidFill>
                  <a:srgbClr val="002060"/>
                </a:solidFill>
                <a:ea typeface="MS PGothic" panose="020B0600070205080204" pitchFamily="34" charset="-128"/>
                <a:sym typeface="Greek Symbols" pitchFamily="18" charset="2"/>
              </a:rPr>
              <a:t>disjunctive selection </a:t>
            </a: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by union of identifiers</a:t>
            </a:r>
            <a:r>
              <a:rPr lang="en-US" altLang="en-US" sz="1800" dirty="0">
                <a:solidFill>
                  <a:srgbClr val="FF0000"/>
                </a:solidFill>
                <a:ea typeface="MS PGothic" panose="020B0600070205080204" pitchFamily="34" charset="-128"/>
                <a:sym typeface="Greek Symbols" pitchFamily="18" charset="2"/>
              </a:rPr>
              <a:t>). </a:t>
            </a:r>
          </a:p>
          <a:p>
            <a:pPr marL="45720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Applicable if </a:t>
            </a:r>
            <a:r>
              <a:rPr lang="en-US" altLang="en-US" sz="1800" i="1" dirty="0">
                <a:ea typeface="MS PGothic" panose="020B0600070205080204" pitchFamily="34" charset="-128"/>
                <a:sym typeface="Greek Symbols" pitchFamily="18" charset="2"/>
              </a:rPr>
              <a:t>all 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 conditions have available indices.  </a:t>
            </a:r>
          </a:p>
          <a:p>
            <a:pPr marL="857250" lvl="2" indent="0">
              <a:buNone/>
            </a:pPr>
            <a:r>
              <a:rPr lang="en-US" altLang="en-US" sz="1800" dirty="0">
                <a:solidFill>
                  <a:srgbClr val="0000FF"/>
                </a:solidFill>
                <a:ea typeface="MS PGothic" panose="020B0600070205080204" pitchFamily="34" charset="-128"/>
                <a:sym typeface="Greek Symbols" pitchFamily="18" charset="2"/>
              </a:rPr>
              <a:t>Otherwise use linear scan</a:t>
            </a: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.</a:t>
            </a:r>
          </a:p>
          <a:p>
            <a:pPr marL="45720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Use corresponding index for each condition, and take union of all the obtained sets of record pointers. </a:t>
            </a:r>
          </a:p>
          <a:p>
            <a:pPr marL="45720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Greek Symbols" pitchFamily="18" charset="2"/>
              </a:rPr>
              <a:t>Then fetch records from file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093FF9-93BD-4ABD-BF1B-5F5FACAF4E40}"/>
              </a:ext>
            </a:extLst>
          </p:cNvPr>
          <p:cNvSpPr txBox="1"/>
          <p:nvPr/>
        </p:nvSpPr>
        <p:spPr>
          <a:xfrm>
            <a:off x="3788229" y="3011967"/>
            <a:ext cx="5355771" cy="2031325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Cost = Cost of (CGPA index + City </a:t>
            </a:r>
            <a:r>
              <a:rPr lang="en-US" sz="1800" dirty="0" err="1"/>
              <a:t>index+year-admit</a:t>
            </a:r>
            <a:r>
              <a:rPr lang="en-US" sz="1800" dirty="0"/>
              <a:t> index) + ??? data</a:t>
            </a:r>
          </a:p>
          <a:p>
            <a:endParaRPr lang="en-US" sz="1800" dirty="0"/>
          </a:p>
          <a:p>
            <a:r>
              <a:rPr lang="en-US" sz="1800" dirty="0"/>
              <a:t>= 2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+ 2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+1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n(?)</a:t>
            </a:r>
            <a:r>
              <a:rPr lang="en-US" altLang="en-US" sz="1800" i="1" dirty="0">
                <a:solidFill>
                  <a:srgbClr val="FF0000"/>
                </a:solidFill>
              </a:rPr>
              <a:t> </a:t>
            </a:r>
            <a:r>
              <a:rPr lang="en-US" altLang="en-US" sz="1800" i="1" dirty="0"/>
              <a:t>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 </a:t>
            </a:r>
          </a:p>
          <a:p>
            <a:endParaRPr lang="en-US" sz="1800" dirty="0">
              <a:sym typeface="Symbol" panose="05050102010706020507" pitchFamily="18" charset="2"/>
            </a:endParaRPr>
          </a:p>
          <a:p>
            <a:r>
              <a:rPr lang="en-US" sz="1800" dirty="0">
                <a:sym typeface="Symbol" panose="05050102010706020507" pitchFamily="18" charset="2"/>
              </a:rPr>
              <a:t>= 5*10.2 + 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n(?)</a:t>
            </a:r>
            <a:r>
              <a:rPr lang="en-US" sz="1800" dirty="0">
                <a:sym typeface="Symbol" panose="05050102010706020507" pitchFamily="18" charset="2"/>
              </a:rPr>
              <a:t> *10.2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04064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32686AE-6C5E-4CAA-965F-86378A9D9BF8}"/>
              </a:ext>
            </a:extLst>
          </p:cNvPr>
          <p:cNvSpPr txBox="1"/>
          <p:nvPr/>
        </p:nvSpPr>
        <p:spPr>
          <a:xfrm>
            <a:off x="30121" y="28896"/>
            <a:ext cx="4310742" cy="2862322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0000FF"/>
                </a:solidFill>
              </a:rPr>
              <a:t>Example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Find the cost of the SQL using A10 algorithm.</a:t>
            </a:r>
          </a:p>
          <a:p>
            <a:r>
              <a:rPr lang="en-US" sz="1800" dirty="0"/>
              <a:t>The height of the indices are 2, 2 and 1 respectively.</a:t>
            </a:r>
          </a:p>
          <a:p>
            <a:r>
              <a:rPr lang="en-US" sz="1800" dirty="0"/>
              <a:t>The number of tuples (pointers) for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CGPA=4,</a:t>
            </a:r>
            <a:r>
              <a:rPr lang="en-US" altLang="en-US" sz="1800" dirty="0">
                <a:sym typeface="Symbol" panose="05050102010706020507" pitchFamily="18" charset="2"/>
              </a:rPr>
              <a:t> City=‘</a:t>
            </a:r>
            <a:r>
              <a:rPr lang="en-US" altLang="en-US" sz="1800" u="sng" dirty="0" err="1">
                <a:solidFill>
                  <a:srgbClr val="FF0000"/>
                </a:solidFill>
                <a:sym typeface="Symbol" panose="05050102010706020507" pitchFamily="18" charset="2"/>
              </a:rPr>
              <a:t>Feni</a:t>
            </a:r>
            <a:r>
              <a:rPr lang="en-US" altLang="en-US" sz="1800" dirty="0">
                <a:sym typeface="Symbol" panose="05050102010706020507" pitchFamily="18" charset="2"/>
              </a:rPr>
              <a:t>’ AND </a:t>
            </a:r>
            <a:r>
              <a:rPr lang="en-US" altLang="en-US" sz="1800" u="sng" dirty="0">
                <a:solidFill>
                  <a:srgbClr val="FF0000"/>
                </a:solidFill>
                <a:sym typeface="Symbol" panose="05050102010706020507" pitchFamily="18" charset="2"/>
              </a:rPr>
              <a:t>year-admit=2019 </a:t>
            </a:r>
            <a:r>
              <a:rPr lang="en-US" altLang="en-US" sz="1800" dirty="0">
                <a:sym typeface="Symbol" panose="05050102010706020507" pitchFamily="18" charset="2"/>
              </a:rPr>
              <a:t>are 5, 20 and  4000 respectively </a:t>
            </a:r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The indices are secondary index.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093FF9-93BD-4ABD-BF1B-5F5FACAF4E40}"/>
              </a:ext>
            </a:extLst>
          </p:cNvPr>
          <p:cNvSpPr txBox="1"/>
          <p:nvPr/>
        </p:nvSpPr>
        <p:spPr>
          <a:xfrm>
            <a:off x="30121" y="3299928"/>
            <a:ext cx="4310743" cy="2031325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dirty="0"/>
              <a:t>Cost = Cost of (CGPA index + City </a:t>
            </a:r>
            <a:r>
              <a:rPr lang="en-US" sz="1800" dirty="0" err="1"/>
              <a:t>index+year-admit</a:t>
            </a:r>
            <a:r>
              <a:rPr lang="en-US" sz="1800" dirty="0"/>
              <a:t> index) + ??? data</a:t>
            </a:r>
          </a:p>
          <a:p>
            <a:endParaRPr lang="en-US" sz="1800" dirty="0"/>
          </a:p>
          <a:p>
            <a:r>
              <a:rPr lang="en-US" sz="1800" dirty="0"/>
              <a:t>= 2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+ 2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+1</a:t>
            </a:r>
            <a:r>
              <a:rPr lang="en-US" altLang="en-US" sz="1800" i="1" dirty="0"/>
              <a:t> 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+</a:t>
            </a:r>
            <a:r>
              <a:rPr lang="en-US" alt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???</a:t>
            </a:r>
            <a:r>
              <a:rPr lang="en-US" altLang="en-US" sz="1800" i="1" dirty="0">
                <a:solidFill>
                  <a:srgbClr val="FF0000"/>
                </a:solidFill>
              </a:rPr>
              <a:t> </a:t>
            </a:r>
            <a:r>
              <a:rPr lang="en-US" altLang="en-US" sz="1800" i="1" dirty="0"/>
              <a:t>* </a:t>
            </a:r>
            <a:r>
              <a:rPr lang="en-US" altLang="en-US" sz="1800" dirty="0"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T</a:t>
            </a:r>
            <a:r>
              <a:rPr lang="en-US" altLang="en-US" sz="1800" dirty="0">
                <a:sym typeface="Symbol" panose="05050102010706020507" pitchFamily="18" charset="2"/>
              </a:rPr>
              <a:t> +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dirty="0">
                <a:sym typeface="Symbol" panose="05050102010706020507" pitchFamily="18" charset="2"/>
              </a:rPr>
              <a:t>)  </a:t>
            </a:r>
          </a:p>
          <a:p>
            <a:endParaRPr lang="en-US" sz="1800" dirty="0">
              <a:sym typeface="Symbol" panose="05050102010706020507" pitchFamily="18" charset="2"/>
            </a:endParaRPr>
          </a:p>
          <a:p>
            <a:r>
              <a:rPr lang="en-US" sz="1800" dirty="0">
                <a:sym typeface="Symbol" panose="05050102010706020507" pitchFamily="18" charset="2"/>
              </a:rPr>
              <a:t>= 5*10.2 + </a:t>
            </a:r>
            <a:r>
              <a:rPr lang="en-US" sz="1800" dirty="0">
                <a:solidFill>
                  <a:srgbClr val="FF0000"/>
                </a:solidFill>
                <a:sym typeface="Symbol" panose="05050102010706020507" pitchFamily="18" charset="2"/>
              </a:rPr>
              <a:t>n(?)</a:t>
            </a:r>
            <a:r>
              <a:rPr lang="en-US" sz="1800" dirty="0">
                <a:sym typeface="Symbol" panose="05050102010706020507" pitchFamily="18" charset="2"/>
              </a:rPr>
              <a:t> *10.2</a:t>
            </a:r>
            <a:endParaRPr lang="en-US" sz="18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B69FFBC-B7AD-48DB-89DC-F0AB8391CA40}"/>
              </a:ext>
            </a:extLst>
          </p:cNvPr>
          <p:cNvGrpSpPr/>
          <p:nvPr/>
        </p:nvGrpSpPr>
        <p:grpSpPr>
          <a:xfrm>
            <a:off x="4292361" y="-240990"/>
            <a:ext cx="4851639" cy="6858000"/>
            <a:chOff x="-18382" y="0"/>
            <a:chExt cx="4851639" cy="685800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450518E-5961-49EF-8732-B3881B38EE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18382" y="0"/>
              <a:ext cx="4851639" cy="685800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CCC7222-0D69-4712-8526-6C4D640715BD}"/>
                </a:ext>
              </a:extLst>
            </p:cNvPr>
            <p:cNvSpPr/>
            <p:nvPr/>
          </p:nvSpPr>
          <p:spPr bwMode="auto">
            <a:xfrm>
              <a:off x="1219201" y="1190171"/>
              <a:ext cx="667656" cy="127725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2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6001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9002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12001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12002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EC4C069-D9B8-45B7-8993-75F7B2A4674E}"/>
                </a:ext>
              </a:extLst>
            </p:cNvPr>
            <p:cNvSpPr/>
            <p:nvPr/>
          </p:nvSpPr>
          <p:spPr bwMode="auto">
            <a:xfrm>
              <a:off x="2844801" y="1146629"/>
              <a:ext cx="667656" cy="127725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6001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6002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12001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16001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0A20A97-761C-43C9-AD12-CBBDF6BB6F09}"/>
                </a:ext>
              </a:extLst>
            </p:cNvPr>
            <p:cNvSpPr/>
            <p:nvPr/>
          </p:nvSpPr>
          <p:spPr bwMode="auto">
            <a:xfrm>
              <a:off x="718458" y="3128251"/>
              <a:ext cx="667656" cy="1277258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12001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12002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12003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dirty="0">
                  <a:latin typeface="Helvetica" charset="0"/>
                </a:rPr>
                <a:t>……</a:t>
              </a:r>
            </a:p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Helvetica" charset="0"/>
                </a:rPr>
                <a:t>15999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B0FEC0FC-CBC8-47C3-A32A-CA370DB6507A}"/>
              </a:ext>
            </a:extLst>
          </p:cNvPr>
          <p:cNvSpPr/>
          <p:nvPr/>
        </p:nvSpPr>
        <p:spPr bwMode="auto">
          <a:xfrm>
            <a:off x="2185492" y="5451617"/>
            <a:ext cx="6908800" cy="1045029"/>
          </a:xfrm>
          <a:prstGeom prst="rec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solidFill>
                  <a:srgbClr val="FF0000"/>
                </a:solidFill>
                <a:latin typeface="Helvetica" charset="0"/>
              </a:rPr>
              <a:t>n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Helvetica" charset="0"/>
              </a:rPr>
              <a:t>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= CGPA record set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  <a:sym typeface="Symbol" panose="05050102010706020507" pitchFamily="18" charset="2"/>
              </a:rPr>
              <a:t> city record set  year-admit record set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dirty="0">
                <a:latin typeface="Helvetica" charset="0"/>
                <a:sym typeface="Symbol" panose="05050102010706020507" pitchFamily="18" charset="2"/>
              </a:rPr>
              <a:t>       = </a:t>
            </a: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 5 + 18 + 3998 = 4021</a:t>
            </a:r>
          </a:p>
        </p:txBody>
      </p:sp>
    </p:spTree>
    <p:extLst>
      <p:ext uri="{BB962C8B-B14F-4D97-AF65-F5344CB8AC3E}">
        <p14:creationId xmlns:p14="http://schemas.microsoft.com/office/powerpoint/2010/main" val="1635099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B03AF-C7AE-4AD5-8FAD-522218699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59221-C23E-4682-A079-3CD1FB9189A8}"/>
              </a:ext>
            </a:extLst>
          </p:cNvPr>
          <p:cNvSpPr txBox="1"/>
          <p:nvPr/>
        </p:nvSpPr>
        <p:spPr>
          <a:xfrm>
            <a:off x="1420837" y="1042410"/>
            <a:ext cx="6302326" cy="5355312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800" b="1" dirty="0">
                <a:solidFill>
                  <a:srgbClr val="FF0000"/>
                </a:solidFill>
              </a:rPr>
              <a:t>Question:</a:t>
            </a:r>
            <a:r>
              <a:rPr lang="en-US" sz="1800" dirty="0">
                <a:solidFill>
                  <a:srgbClr val="FF0000"/>
                </a:solidFill>
              </a:rPr>
              <a:t> </a:t>
            </a:r>
            <a:r>
              <a:rPr lang="en-US" sz="1800" dirty="0"/>
              <a:t>Given B+ tree indices on name,  and total-credit. Total number of blocks is 2000. The height of the indices are 4 and 3 respectively.</a:t>
            </a:r>
          </a:p>
          <a:p>
            <a:r>
              <a:rPr lang="en-US" sz="1800" dirty="0"/>
              <a:t>SQL: SELECT * FROM student WHERE</a:t>
            </a:r>
            <a:r>
              <a:rPr lang="en-US" altLang="en-US" sz="1800" dirty="0">
                <a:sym typeface="Symbol" panose="05050102010706020507" pitchFamily="18" charset="2"/>
              </a:rPr>
              <a:t> name=‘Abdullah’ </a:t>
            </a:r>
            <a:r>
              <a:rPr lang="en-US" altLang="en-US" sz="1800" b="1" dirty="0">
                <a:solidFill>
                  <a:srgbClr val="0000FF"/>
                </a:solidFill>
                <a:sym typeface="Symbol" panose="05050102010706020507" pitchFamily="18" charset="2"/>
              </a:rPr>
              <a:t>OR</a:t>
            </a:r>
            <a:r>
              <a:rPr lang="en-US" altLang="en-US" sz="1800" dirty="0">
                <a:sym typeface="Symbol" panose="05050102010706020507" pitchFamily="18" charset="2"/>
              </a:rPr>
              <a:t> total-credit = 100</a:t>
            </a:r>
            <a:endParaRPr lang="en-US" altLang="en-US" sz="1800" u="sng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r>
              <a:rPr lang="en-US" sz="1800" dirty="0" err="1"/>
              <a:t>t</a:t>
            </a:r>
            <a:r>
              <a:rPr lang="en-US" sz="1800" baseline="-25000" dirty="0" err="1"/>
              <a:t>T</a:t>
            </a:r>
            <a:r>
              <a:rPr lang="en-US" sz="1800" dirty="0"/>
              <a:t> = 0.1ms, </a:t>
            </a:r>
            <a:r>
              <a:rPr lang="en-US" altLang="en-US" sz="1800" i="1" dirty="0" err="1">
                <a:sym typeface="Symbol" panose="05050102010706020507" pitchFamily="18" charset="2"/>
              </a:rPr>
              <a:t>t</a:t>
            </a:r>
            <a:r>
              <a:rPr lang="en-US" altLang="en-US" sz="1800" i="1" baseline="-25000" dirty="0" err="1">
                <a:sym typeface="Symbol" panose="05050102010706020507" pitchFamily="18" charset="2"/>
              </a:rPr>
              <a:t>S</a:t>
            </a:r>
            <a:r>
              <a:rPr lang="en-US" altLang="en-US" sz="1800" i="1" baseline="-25000" dirty="0"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sym typeface="Symbol" panose="05050102010706020507" pitchFamily="18" charset="2"/>
              </a:rPr>
              <a:t>= 10ms</a:t>
            </a:r>
            <a:endParaRPr lang="en-US" sz="1800" dirty="0"/>
          </a:p>
          <a:p>
            <a:r>
              <a:rPr lang="en-US" sz="1800" u="sng" dirty="0">
                <a:solidFill>
                  <a:srgbClr val="FF0000"/>
                </a:solidFill>
              </a:rPr>
              <a:t> </a:t>
            </a:r>
          </a:p>
          <a:p>
            <a:r>
              <a:rPr lang="en-US" sz="1800" dirty="0"/>
              <a:t>The number of tuples (pointers) </a:t>
            </a:r>
            <a:r>
              <a:rPr lang="en-US" altLang="en-US" sz="1800" dirty="0">
                <a:sym typeface="Symbol" panose="05050102010706020507" pitchFamily="18" charset="2"/>
              </a:rPr>
              <a:t>name=‘Abdullah’ AND total-credit = 100  are 50 and 200 respectively. The number of common pointers are 5 and each tuple is in different block.</a:t>
            </a:r>
          </a:p>
          <a:p>
            <a:endParaRPr lang="en-US" sz="1800" dirty="0"/>
          </a:p>
          <a:p>
            <a:r>
              <a:rPr lang="en-US" sz="1800" dirty="0">
                <a:solidFill>
                  <a:srgbClr val="0000FF"/>
                </a:solidFill>
              </a:rPr>
              <a:t>a. Find the cost of the SQL using A10 algorithm.</a:t>
            </a:r>
          </a:p>
          <a:p>
            <a:r>
              <a:rPr lang="en-US" sz="1800" dirty="0"/>
              <a:t>The indices are secondary index</a:t>
            </a:r>
          </a:p>
          <a:p>
            <a:r>
              <a:rPr lang="en-US" sz="1800" dirty="0"/>
              <a:t>Query cost = index cost + data cost</a:t>
            </a:r>
          </a:p>
          <a:p>
            <a:r>
              <a:rPr lang="en-US" sz="1800" dirty="0"/>
              <a:t>Cost = Cost of (name index + total-credit index) + </a:t>
            </a:r>
            <a:r>
              <a:rPr lang="en-US" sz="1800" b="1" dirty="0">
                <a:solidFill>
                  <a:srgbClr val="FF0000"/>
                </a:solidFill>
              </a:rPr>
              <a:t>n(?)</a:t>
            </a:r>
            <a:r>
              <a:rPr lang="en-US" sz="1800" dirty="0"/>
              <a:t> data</a:t>
            </a:r>
          </a:p>
          <a:p>
            <a:endParaRPr lang="en-US" sz="1800" dirty="0"/>
          </a:p>
          <a:p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b. Find the cost of the query using A1 algorithm</a:t>
            </a:r>
          </a:p>
          <a:p>
            <a:r>
              <a:rPr lang="en-US" altLang="en-US" sz="1800" dirty="0">
                <a:solidFill>
                  <a:srgbClr val="0000FF"/>
                </a:solidFill>
                <a:sym typeface="Symbol" panose="05050102010706020507" pitchFamily="18" charset="2"/>
              </a:rPr>
              <a:t>c. Analyze the result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2082295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>
            <a:extLst>
              <a:ext uri="{FF2B5EF4-FFF2-40B4-BE49-F238E27FC236}">
                <a16:creationId xmlns:a16="http://schemas.microsoft.com/office/drawing/2014/main" id="{7CA54525-062A-441C-8B55-B1782A395D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Algorithms for Complex Selections</a:t>
            </a:r>
          </a:p>
        </p:txBody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855EF866-759B-4729-84CD-6D98CCFE5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9374" y="1191276"/>
            <a:ext cx="7594412" cy="3902640"/>
          </a:xfrm>
        </p:spPr>
        <p:txBody>
          <a:bodyPr/>
          <a:lstStyle/>
          <a:p>
            <a:r>
              <a:rPr lang="en-US" altLang="en-US" sz="2000" b="1" dirty="0">
                <a:ea typeface="MS PGothic" panose="020B0600070205080204" pitchFamily="34" charset="-128"/>
                <a:sym typeface="Symbol" panose="05050102010706020507" pitchFamily="18" charset="2"/>
              </a:rPr>
              <a:t>Negation:  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</a:t>
            </a:r>
            <a:r>
              <a:rPr lang="en-US" altLang="en-US" sz="20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</a:t>
            </a:r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2000" i="1" dirty="0">
                <a:ea typeface="MS PGothic" panose="020B0600070205080204" pitchFamily="34" charset="-128"/>
                <a:sym typeface="Symbol" panose="05050102010706020507" pitchFamily="18" charset="2"/>
              </a:rPr>
              <a:t>r)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Use linear scan on file</a:t>
            </a:r>
          </a:p>
          <a:p>
            <a:pPr lvl="1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If very few records satisfy , and an index is applicable to </a:t>
            </a:r>
          </a:p>
          <a:p>
            <a:pPr lvl="2"/>
            <a:r>
              <a:rPr lang="en-US" altLang="en-US" sz="2000" dirty="0">
                <a:ea typeface="MS PGothic" panose="020B0600070205080204" pitchFamily="34" charset="-128"/>
                <a:sym typeface="Symbol" panose="05050102010706020507" pitchFamily="18" charset="2"/>
              </a:rPr>
              <a:t> Find satisfying records using index and fetch from file</a:t>
            </a:r>
          </a:p>
        </p:txBody>
      </p:sp>
    </p:spTree>
    <p:extLst>
      <p:ext uri="{BB962C8B-B14F-4D97-AF65-F5344CB8AC3E}">
        <p14:creationId xmlns:p14="http://schemas.microsoft.com/office/powerpoint/2010/main" val="31854630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>
            <a:extLst>
              <a:ext uri="{FF2B5EF4-FFF2-40B4-BE49-F238E27FC236}">
                <a16:creationId xmlns:a16="http://schemas.microsoft.com/office/drawing/2014/main" id="{30ADAA97-BAE6-4F68-846B-69138BFF14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Sorting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363E5989-E98B-420C-AFB3-5AD92AE20E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61135" y="1234849"/>
            <a:ext cx="7501630" cy="4716008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altLang="en-US" sz="2000" dirty="0">
                <a:ea typeface="MS PGothic" panose="020B0600070205080204" pitchFamily="34" charset="-128"/>
              </a:rPr>
              <a:t>We may build an index on the relation, and then use the index to read the relation in sorted order.  </a:t>
            </a:r>
            <a:r>
              <a:rPr lang="en-US" altLang="en-US" sz="2000" dirty="0">
                <a:solidFill>
                  <a:srgbClr val="FF0000"/>
                </a:solidFill>
                <a:ea typeface="MS PGothic" panose="020B0600070205080204" pitchFamily="34" charset="-128"/>
              </a:rPr>
              <a:t>May lead to one disk block access for each tuple.</a:t>
            </a:r>
          </a:p>
          <a:p>
            <a:pPr marL="0" indent="0">
              <a:buNone/>
            </a:pPr>
            <a:endParaRPr lang="en-US" altLang="en-US" sz="2000" dirty="0">
              <a:solidFill>
                <a:srgbClr val="0000FF"/>
              </a:solidFill>
              <a:ea typeface="MS PGothic" panose="020B0600070205080204" pitchFamily="34" charset="-128"/>
            </a:endParaRPr>
          </a:p>
          <a:p>
            <a:pPr marL="0" indent="0">
              <a:buNone/>
            </a:pPr>
            <a:r>
              <a:rPr lang="en-US" altLang="en-US" sz="2000" dirty="0">
                <a:solidFill>
                  <a:srgbClr val="0000FF"/>
                </a:solidFill>
                <a:ea typeface="MS PGothic" panose="020B0600070205080204" pitchFamily="34" charset="-128"/>
              </a:rPr>
              <a:t>Discussion: The case when it May lead to one disk block access for each tuple.</a:t>
            </a:r>
          </a:p>
          <a:p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For relations that fit in memory, techniques like quicksort can be used.  </a:t>
            </a:r>
          </a:p>
          <a:p>
            <a:endParaRPr lang="en-US" altLang="en-US" sz="2000" dirty="0">
              <a:ea typeface="MS PGothic" panose="020B0600070205080204" pitchFamily="34" charset="-128"/>
            </a:endParaRPr>
          </a:p>
          <a:p>
            <a:r>
              <a:rPr lang="en-US" altLang="en-US" sz="2000" dirty="0">
                <a:ea typeface="MS PGothic" panose="020B0600070205080204" pitchFamily="34" charset="-128"/>
              </a:rPr>
              <a:t>For relations that don</a:t>
            </a:r>
            <a:r>
              <a:rPr lang="ja-JP" altLang="en-US" sz="2000" dirty="0">
                <a:ea typeface="MS PGothic" panose="020B0600070205080204" pitchFamily="34" charset="-128"/>
              </a:rPr>
              <a:t>’</a:t>
            </a:r>
            <a:r>
              <a:rPr lang="en-US" altLang="ja-JP" sz="2000" dirty="0">
                <a:ea typeface="MS PGothic" panose="020B0600070205080204" pitchFamily="34" charset="-128"/>
              </a:rPr>
              <a:t>t fit in memory, quicksort is not applicable. Why? </a:t>
            </a:r>
            <a:r>
              <a:rPr lang="en-US" altLang="ja-JP" sz="2000" b="1" dirty="0">
                <a:ea typeface="MS PGothic" panose="020B0600070205080204" pitchFamily="34" charset="-128"/>
              </a:rPr>
              <a:t>external sort-merge </a:t>
            </a:r>
            <a:r>
              <a:rPr lang="en-US" altLang="ja-JP" sz="2000" dirty="0">
                <a:ea typeface="MS PGothic" panose="020B0600070205080204" pitchFamily="34" charset="-128"/>
              </a:rPr>
              <a:t>is a good choice in this case. </a:t>
            </a:r>
            <a:endParaRPr lang="en-US" altLang="en-US" sz="2000" dirty="0">
              <a:ea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>
            <a:extLst>
              <a:ext uri="{FF2B5EF4-FFF2-40B4-BE49-F238E27FC236}">
                <a16:creationId xmlns:a16="http://schemas.microsoft.com/office/drawing/2014/main" id="{2E05F04B-6D1D-4332-BF78-7954D146D0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7288" y="272720"/>
            <a:ext cx="7812088" cy="457200"/>
          </a:xfrm>
        </p:spPr>
        <p:txBody>
          <a:bodyPr/>
          <a:lstStyle/>
          <a:p>
            <a:pPr>
              <a:defRPr/>
            </a:pPr>
            <a:r>
              <a:rPr lang="en-US" altLang="en-US" sz="2800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Example: External Sorting Using Sort-Merge</a:t>
            </a:r>
          </a:p>
        </p:txBody>
      </p:sp>
      <p:pic>
        <p:nvPicPr>
          <p:cNvPr id="37891" name="Picture 8">
            <a:extLst>
              <a:ext uri="{FF2B5EF4-FFF2-40B4-BE49-F238E27FC236}">
                <a16:creationId xmlns:a16="http://schemas.microsoft.com/office/drawing/2014/main" id="{721DF48C-363E-4408-8053-3C04462AC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4439" y="1285591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(Run Creation)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723774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Run Creation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F1BD3-6E74-44CC-823A-C275DBADB660}"/>
              </a:ext>
            </a:extLst>
          </p:cNvPr>
          <p:cNvSpPr txBox="1"/>
          <p:nvPr/>
        </p:nvSpPr>
        <p:spPr>
          <a:xfrm>
            <a:off x="4572000" y="1175657"/>
            <a:ext cx="4572000" cy="3416320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kumimoji="0" lang="en-US" altLang="en-US" sz="1800" dirty="0"/>
              <a:t> Let </a:t>
            </a:r>
            <a:r>
              <a:rPr kumimoji="0" lang="en-US" altLang="en-US" sz="1800" i="1" dirty="0"/>
              <a:t>M</a:t>
            </a:r>
            <a:r>
              <a:rPr kumimoji="0" lang="en-US" altLang="en-US" sz="1800" dirty="0"/>
              <a:t> denote memory size (in pages). </a:t>
            </a:r>
          </a:p>
          <a:p>
            <a:pPr marL="0" indent="0">
              <a:buNone/>
            </a:pPr>
            <a:r>
              <a:rPr lang="en-US" altLang="en-US" sz="1800" dirty="0"/>
              <a:t>Here </a:t>
            </a:r>
            <a:r>
              <a:rPr lang="en-US" altLang="en-US" sz="1800" dirty="0">
                <a:solidFill>
                  <a:srgbClr val="0000FF"/>
                </a:solidFill>
              </a:rPr>
              <a:t>M = 3</a:t>
            </a:r>
          </a:p>
          <a:p>
            <a:pPr marL="0" indent="0">
              <a:buNone/>
            </a:pPr>
            <a:r>
              <a:rPr lang="en-US" altLang="en-US" sz="1800" dirty="0"/>
              <a:t>1.  </a:t>
            </a:r>
            <a:r>
              <a:rPr lang="en-US" altLang="en-US" sz="1800" b="1" dirty="0"/>
              <a:t>Create sorted</a:t>
            </a:r>
            <a:r>
              <a:rPr lang="en-US" altLang="en-US" sz="1800" dirty="0"/>
              <a:t> </a:t>
            </a:r>
            <a:r>
              <a:rPr lang="en-US" altLang="en-US" sz="1800" b="1" dirty="0">
                <a:solidFill>
                  <a:srgbClr val="002060"/>
                </a:solidFill>
              </a:rPr>
              <a:t>runs</a:t>
            </a:r>
            <a:r>
              <a:rPr lang="en-US" altLang="en-US" sz="1800" dirty="0"/>
              <a:t>.  Let </a:t>
            </a:r>
            <a:r>
              <a:rPr lang="en-US" altLang="en-US" sz="1800" i="1" dirty="0" err="1"/>
              <a:t>i</a:t>
            </a:r>
            <a:r>
              <a:rPr lang="en-US" altLang="en-US" sz="1800" dirty="0"/>
              <a:t> be 1 initially. </a:t>
            </a:r>
            <a:br>
              <a:rPr lang="en-US" altLang="en-US" sz="1800" dirty="0"/>
            </a:br>
            <a:r>
              <a:rPr lang="en-US" altLang="en-US" sz="1800" dirty="0"/>
              <a:t>     Repeatedly do the following till the end of the relation:</a:t>
            </a:r>
            <a:br>
              <a:rPr lang="en-US" altLang="en-US" sz="1800" dirty="0"/>
            </a:br>
            <a:r>
              <a:rPr lang="en-US" altLang="en-US" sz="1800" dirty="0"/>
              <a:t>     (a)  Read </a:t>
            </a:r>
            <a:r>
              <a:rPr lang="en-US" altLang="en-US" sz="1800" i="1" dirty="0"/>
              <a:t>M</a:t>
            </a:r>
            <a:r>
              <a:rPr lang="en-US" altLang="en-US" sz="1800" dirty="0"/>
              <a:t> blocks of relation into memory</a:t>
            </a:r>
            <a:br>
              <a:rPr lang="en-US" altLang="en-US" sz="1800" dirty="0"/>
            </a:br>
            <a:r>
              <a:rPr lang="en-US" altLang="en-US" sz="1800" dirty="0"/>
              <a:t>     (b)  Sort the in-memory blocks</a:t>
            </a:r>
            <a:br>
              <a:rPr lang="en-US" altLang="en-US" sz="1800" dirty="0"/>
            </a:br>
            <a:r>
              <a:rPr lang="en-US" altLang="en-US" sz="1800" dirty="0"/>
              <a:t>     (c)  Write sorted data to run </a:t>
            </a:r>
            <a:r>
              <a:rPr lang="en-US" altLang="en-US" sz="1800" i="1" dirty="0"/>
              <a:t>R</a:t>
            </a:r>
            <a:r>
              <a:rPr lang="en-US" altLang="en-US" sz="1800" i="1" baseline="-25000" dirty="0"/>
              <a:t>i</a:t>
            </a:r>
            <a:r>
              <a:rPr lang="en-US" altLang="en-US" sz="1800" dirty="0"/>
              <a:t>; increment </a:t>
            </a:r>
            <a:r>
              <a:rPr lang="en-US" altLang="en-US" sz="1800" i="1" dirty="0" err="1"/>
              <a:t>i</a:t>
            </a:r>
            <a:r>
              <a:rPr lang="en-US" altLang="en-US" sz="1800" i="1" dirty="0"/>
              <a:t>.</a:t>
            </a:r>
            <a:br>
              <a:rPr lang="en-US" altLang="en-US" sz="1800" i="1" dirty="0"/>
            </a:br>
            <a:r>
              <a:rPr lang="en-US" altLang="en-US" sz="1800" i="1" dirty="0"/>
              <a:t> </a:t>
            </a:r>
          </a:p>
          <a:p>
            <a:pPr marL="0" indent="0">
              <a:buNone/>
            </a:pPr>
            <a:r>
              <a:rPr lang="en-US" altLang="en-US" sz="1800" dirty="0"/>
              <a:t>Let the final value of</a:t>
            </a:r>
            <a:r>
              <a:rPr lang="en-US" altLang="en-US" sz="1800" i="1" dirty="0"/>
              <a:t> </a:t>
            </a:r>
            <a:r>
              <a:rPr lang="en-US" altLang="en-US" sz="1800" i="1" dirty="0" err="1"/>
              <a:t>i</a:t>
            </a:r>
            <a:r>
              <a:rPr lang="en-US" altLang="en-US" sz="1800" i="1" dirty="0"/>
              <a:t> </a:t>
            </a:r>
            <a:r>
              <a:rPr lang="en-US" altLang="en-US" sz="1800" dirty="0"/>
              <a:t>be </a:t>
            </a:r>
            <a:r>
              <a:rPr lang="en-US" altLang="en-US" sz="1800" i="1" dirty="0"/>
              <a:t>N </a:t>
            </a:r>
            <a:r>
              <a:rPr lang="en-US" altLang="en-US" sz="1800" b="1" i="1" dirty="0">
                <a:solidFill>
                  <a:srgbClr val="FF0000"/>
                </a:solidFill>
              </a:rPr>
              <a:t>(Here N = ?)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0041B2-CB28-4F7D-A34E-0ED24B06987E}"/>
              </a:ext>
            </a:extLst>
          </p:cNvPr>
          <p:cNvSpPr txBox="1"/>
          <p:nvPr/>
        </p:nvSpPr>
        <p:spPr>
          <a:xfrm>
            <a:off x="4688114" y="4920343"/>
            <a:ext cx="4455886" cy="892552"/>
          </a:xfrm>
          <a:prstGeom prst="rect">
            <a:avLst/>
          </a:prstGeom>
          <a:solidFill>
            <a:schemeClr val="accent5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i="1" kern="0" dirty="0">
                <a:ea typeface="MS PGothic" panose="020B0600070205080204" pitchFamily="34" charset="-128"/>
              </a:rPr>
              <a:t>Here N = 4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2. 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Merge the runs (next slide)…..</a:t>
            </a:r>
            <a:endParaRPr lang="en-US" altLang="en-US" sz="1800" kern="0" dirty="0">
              <a:ea typeface="MS PGothic" panose="020B0600070205080204" pitchFamily="34" charset="-128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1596437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6FC964C-A20F-47BB-A92E-2D9ED2D15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773" y="10885"/>
            <a:ext cx="761581" cy="116477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CBBCA00-E58B-4D5D-804D-6250EF4D0450}"/>
              </a:ext>
            </a:extLst>
          </p:cNvPr>
          <p:cNvCxnSpPr/>
          <p:nvPr/>
        </p:nvCxnSpPr>
        <p:spPr bwMode="auto">
          <a:xfrm flipV="1">
            <a:off x="203200" y="762547"/>
            <a:ext cx="406400" cy="129848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177C761F-2F53-44F9-B7C7-9B5B7D261878}"/>
              </a:ext>
            </a:extLst>
          </p:cNvPr>
          <p:cNvSpPr/>
          <p:nvPr/>
        </p:nvSpPr>
        <p:spPr bwMode="auto">
          <a:xfrm>
            <a:off x="1465943" y="769257"/>
            <a:ext cx="1161143" cy="1335314"/>
          </a:xfrm>
          <a:custGeom>
            <a:avLst/>
            <a:gdLst>
              <a:gd name="connsiteX0" fmla="*/ 0 w 1161143"/>
              <a:gd name="connsiteY0" fmla="*/ 0 h 1335314"/>
              <a:gd name="connsiteX1" fmla="*/ 1161143 w 1161143"/>
              <a:gd name="connsiteY1" fmla="*/ 478972 h 1335314"/>
              <a:gd name="connsiteX2" fmla="*/ 333828 w 1161143"/>
              <a:gd name="connsiteY2" fmla="*/ 1335314 h 13353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61143" h="1335314">
                <a:moveTo>
                  <a:pt x="0" y="0"/>
                </a:moveTo>
                <a:lnTo>
                  <a:pt x="1161143" y="478972"/>
                </a:lnTo>
                <a:lnTo>
                  <a:pt x="333828" y="1335314"/>
                </a:lnTo>
              </a:path>
            </a:pathLst>
          </a:custGeom>
          <a:noFill/>
          <a:ln w="25400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8" grpId="0"/>
      <p:bldP spid="19" grpId="0"/>
      <p:bldP spid="20" grpId="0"/>
      <p:bldP spid="21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Sort-Merge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343371" y="493486"/>
            <a:ext cx="1422400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Input Buffer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B53D4DB-3569-4DA3-B381-44A852DCE9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95550" y="898070"/>
            <a:ext cx="4648450" cy="522660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</a:rPr>
              <a:t>Merge the runs (2-way merge)</a:t>
            </a:r>
            <a:r>
              <a:rPr lang="en-US" altLang="en-US" sz="1800" dirty="0">
                <a:ea typeface="MS PGothic" panose="020B0600070205080204" pitchFamily="34" charset="-128"/>
              </a:rPr>
              <a:t>. Here       </a:t>
            </a:r>
            <a:r>
              <a:rPr lang="en-US" altLang="en-US" sz="1800" i="1" dirty="0">
                <a:ea typeface="MS PGothic" panose="020B0600070205080204" pitchFamily="34" charset="-128"/>
              </a:rPr>
              <a:t>N</a:t>
            </a:r>
            <a:r>
              <a:rPr lang="en-US" altLang="en-US" sz="1800" dirty="0">
                <a:ea typeface="MS PGothic" panose="020B0600070205080204" pitchFamily="34" charset="-128"/>
              </a:rPr>
              <a:t> &gt; </a:t>
            </a:r>
            <a:r>
              <a:rPr lang="en-US" altLang="en-US" sz="1800" i="1" dirty="0">
                <a:ea typeface="MS PGothic" panose="020B0600070205080204" pitchFamily="34" charset="-128"/>
              </a:rPr>
              <a:t>M</a:t>
            </a:r>
            <a:r>
              <a:rPr lang="en-US" altLang="en-US" sz="1800" dirty="0">
                <a:ea typeface="MS PGothic" panose="020B0600070205080204" pitchFamily="34" charset="-128"/>
              </a:rPr>
              <a:t>. M=3, N=4 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Use </a:t>
            </a:r>
            <a:r>
              <a:rPr lang="en-US" altLang="en-US" sz="1800" i="1" dirty="0">
                <a:ea typeface="MS PGothic" panose="020B0600070205080204" pitchFamily="34" charset="-128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</a:rPr>
              <a:t> blocks of memory to buffer input runs, and 1 block to buffer output. Read the first block of each run into its buffer page</a:t>
            </a:r>
          </a:p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</a:rPr>
              <a:t>repeat</a:t>
            </a:r>
          </a:p>
          <a:p>
            <a:pPr marL="51435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Select the first record (in sort order) among all buffer pages</a:t>
            </a:r>
          </a:p>
          <a:p>
            <a:pPr marL="51435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Write the record to the output buffer.  If the output buffer is full write it to disk.</a:t>
            </a:r>
          </a:p>
          <a:p>
            <a:pPr marL="51435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Delete the record from its input buffer page.</a:t>
            </a:r>
            <a:br>
              <a:rPr lang="en-US" altLang="en-US" sz="1800" dirty="0">
                <a:ea typeface="MS PGothic" panose="020B0600070205080204" pitchFamily="34" charset="-128"/>
              </a:rPr>
            </a:br>
            <a:r>
              <a:rPr lang="en-US" altLang="en-US" sz="1800" b="1" dirty="0">
                <a:ea typeface="MS PGothic" panose="020B0600070205080204" pitchFamily="34" charset="-128"/>
              </a:rPr>
              <a:t>If</a:t>
            </a:r>
            <a:r>
              <a:rPr lang="en-US" altLang="en-US" sz="1800" dirty="0">
                <a:ea typeface="MS PGothic" panose="020B0600070205080204" pitchFamily="34" charset="-128"/>
              </a:rPr>
              <a:t> the buffer page becomes empty </a:t>
            </a:r>
            <a:r>
              <a:rPr lang="en-US" altLang="en-US" sz="1800" b="1" dirty="0">
                <a:ea typeface="MS PGothic" panose="020B0600070205080204" pitchFamily="34" charset="-128"/>
              </a:rPr>
              <a:t>then</a:t>
            </a:r>
            <a:br>
              <a:rPr lang="en-US" altLang="en-US" sz="1800" b="1" dirty="0">
                <a:ea typeface="MS PGothic" panose="020B0600070205080204" pitchFamily="34" charset="-128"/>
              </a:rPr>
            </a:br>
            <a:r>
              <a:rPr lang="en-US" altLang="en-US" sz="1800" dirty="0">
                <a:ea typeface="MS PGothic" panose="020B0600070205080204" pitchFamily="34" charset="-128"/>
              </a:rPr>
              <a:t>   read the next block (if any) of the run into the buffer. </a:t>
            </a:r>
          </a:p>
          <a:p>
            <a:pPr marL="57150" indent="0">
              <a:buNone/>
            </a:pPr>
            <a:r>
              <a:rPr lang="en-US" altLang="en-US" sz="1800" b="1" dirty="0">
                <a:ea typeface="MS PGothic" panose="020B0600070205080204" pitchFamily="34" charset="-128"/>
              </a:rPr>
              <a:t>until</a:t>
            </a:r>
            <a:r>
              <a:rPr lang="en-US" altLang="en-US" sz="1800" dirty="0">
                <a:ea typeface="MS PGothic" panose="020B0600070205080204" pitchFamily="34" charset="-128"/>
              </a:rPr>
              <a:t> all input buffer pages are empty: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52400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20D01A1-6ED9-4220-A8AC-059604CFDF4F}"/>
              </a:ext>
            </a:extLst>
          </p:cNvPr>
          <p:cNvSpPr/>
          <p:nvPr/>
        </p:nvSpPr>
        <p:spPr bwMode="auto">
          <a:xfrm>
            <a:off x="1161143" y="1364343"/>
            <a:ext cx="1117600" cy="696686"/>
          </a:xfrm>
          <a:custGeom>
            <a:avLst/>
            <a:gdLst>
              <a:gd name="connsiteX0" fmla="*/ 0 w 1117600"/>
              <a:gd name="connsiteY0" fmla="*/ 0 h 696686"/>
              <a:gd name="connsiteX1" fmla="*/ 1117600 w 1117600"/>
              <a:gd name="connsiteY1" fmla="*/ 696686 h 696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7600" h="696686">
                <a:moveTo>
                  <a:pt x="0" y="0"/>
                </a:moveTo>
                <a:lnTo>
                  <a:pt x="1117600" y="696686"/>
                </a:lnTo>
              </a:path>
            </a:pathLst>
          </a:cu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20D98EB7-E66F-441F-9E5E-7E60EED74EC5}"/>
              </a:ext>
            </a:extLst>
          </p:cNvPr>
          <p:cNvSpPr/>
          <p:nvPr/>
        </p:nvSpPr>
        <p:spPr bwMode="auto">
          <a:xfrm>
            <a:off x="1888798" y="326430"/>
            <a:ext cx="384123" cy="678347"/>
          </a:xfrm>
          <a:prstGeom prst="rightBrac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6" name="Callout: Right Arrow 5">
            <a:extLst>
              <a:ext uri="{FF2B5EF4-FFF2-40B4-BE49-F238E27FC236}">
                <a16:creationId xmlns:a16="http://schemas.microsoft.com/office/drawing/2014/main" id="{CE5850C8-C988-4137-8798-A8CFBDB3E01F}"/>
              </a:ext>
            </a:extLst>
          </p:cNvPr>
          <p:cNvSpPr/>
          <p:nvPr/>
        </p:nvSpPr>
        <p:spPr bwMode="auto">
          <a:xfrm>
            <a:off x="0" y="1004777"/>
            <a:ext cx="820286" cy="521258"/>
          </a:xfrm>
          <a:prstGeom prst="rightArrowCallout">
            <a:avLst/>
          </a:prstGeom>
          <a:solidFill>
            <a:schemeClr val="tx2">
              <a:lumMod val="60000"/>
              <a:lumOff val="4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Helvetica" charset="0"/>
              </a:rPr>
              <a:t>Output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dirty="0">
                <a:latin typeface="Helvetica" charset="0"/>
              </a:rPr>
              <a:t>Buffer</a:t>
            </a:r>
            <a:endParaRPr kumimoji="0" 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36697FB7-9FDC-4476-8EAA-63F5AF3F70CF}"/>
              </a:ext>
            </a:extLst>
          </p:cNvPr>
          <p:cNvGraphicFramePr/>
          <p:nvPr/>
        </p:nvGraphicFramePr>
        <p:xfrm>
          <a:off x="820286" y="1057413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1889048961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98773178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a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19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415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734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6" grpId="0" animBg="1"/>
      <p:bldP spid="27" grpId="0" animBg="1"/>
      <p:bldP spid="28" grpId="0" animBg="1"/>
      <p:bldP spid="6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Sort Merge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057608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B53D4DB-3569-4DA3-B381-44A852DCE9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95550" y="898070"/>
            <a:ext cx="4648450" cy="5226604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</a:rPr>
              <a:t>Merge the runs (2-way merge)</a:t>
            </a:r>
            <a:r>
              <a:rPr lang="en-US" altLang="en-US" sz="1800" dirty="0">
                <a:ea typeface="MS PGothic" panose="020B0600070205080204" pitchFamily="34" charset="-128"/>
              </a:rPr>
              <a:t>. Here       </a:t>
            </a:r>
            <a:r>
              <a:rPr lang="en-US" altLang="en-US" sz="1800" i="1" dirty="0">
                <a:ea typeface="MS PGothic" panose="020B0600070205080204" pitchFamily="34" charset="-128"/>
              </a:rPr>
              <a:t>N</a:t>
            </a:r>
            <a:r>
              <a:rPr lang="en-US" altLang="en-US" sz="1800" dirty="0">
                <a:ea typeface="MS PGothic" panose="020B0600070205080204" pitchFamily="34" charset="-128"/>
              </a:rPr>
              <a:t> &gt; </a:t>
            </a:r>
            <a:r>
              <a:rPr lang="en-US" altLang="en-US" sz="1800" i="1" dirty="0">
                <a:ea typeface="MS PGothic" panose="020B0600070205080204" pitchFamily="34" charset="-128"/>
              </a:rPr>
              <a:t>M</a:t>
            </a:r>
            <a:r>
              <a:rPr lang="en-US" altLang="en-US" sz="1800" dirty="0">
                <a:ea typeface="MS PGothic" panose="020B0600070205080204" pitchFamily="34" charset="-128"/>
              </a:rPr>
              <a:t>. M=3, N=2 </a:t>
            </a:r>
          </a:p>
          <a:p>
            <a:pPr marL="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Use </a:t>
            </a:r>
            <a:r>
              <a:rPr lang="en-US" altLang="en-US" sz="1800" i="1" dirty="0">
                <a:ea typeface="MS PGothic" panose="020B0600070205080204" pitchFamily="34" charset="-128"/>
              </a:rPr>
              <a:t>2</a:t>
            </a:r>
            <a:r>
              <a:rPr lang="en-US" altLang="en-US" sz="1800" dirty="0">
                <a:ea typeface="MS PGothic" panose="020B0600070205080204" pitchFamily="34" charset="-128"/>
              </a:rPr>
              <a:t> blocks of memory to buffer input runs, and 1 block to buffer output. Read the first block of each run into its buffer page</a:t>
            </a:r>
          </a:p>
          <a:p>
            <a:pPr marL="0" indent="0">
              <a:buNone/>
            </a:pPr>
            <a:r>
              <a:rPr lang="en-US" altLang="en-US" sz="1800" b="1" dirty="0">
                <a:ea typeface="MS PGothic" panose="020B0600070205080204" pitchFamily="34" charset="-128"/>
              </a:rPr>
              <a:t>repeat</a:t>
            </a:r>
          </a:p>
          <a:p>
            <a:pPr marL="51435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Select the first record (in sort order) among all buffer pages</a:t>
            </a:r>
          </a:p>
          <a:p>
            <a:pPr marL="51435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Write the record to the output buffer.  If the output buffer is full write it to disk.</a:t>
            </a:r>
          </a:p>
          <a:p>
            <a:pPr marL="514350" lvl="1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Delete the record from its input buffer page.</a:t>
            </a:r>
            <a:br>
              <a:rPr lang="en-US" altLang="en-US" sz="1800" dirty="0">
                <a:ea typeface="MS PGothic" panose="020B0600070205080204" pitchFamily="34" charset="-128"/>
              </a:rPr>
            </a:br>
            <a:r>
              <a:rPr lang="en-US" altLang="en-US" sz="1800" b="1" dirty="0">
                <a:ea typeface="MS PGothic" panose="020B0600070205080204" pitchFamily="34" charset="-128"/>
              </a:rPr>
              <a:t>If</a:t>
            </a:r>
            <a:r>
              <a:rPr lang="en-US" altLang="en-US" sz="1800" dirty="0">
                <a:ea typeface="MS PGothic" panose="020B0600070205080204" pitchFamily="34" charset="-128"/>
              </a:rPr>
              <a:t> the buffer page becomes empty </a:t>
            </a:r>
            <a:r>
              <a:rPr lang="en-US" altLang="en-US" sz="1800" b="1" dirty="0">
                <a:ea typeface="MS PGothic" panose="020B0600070205080204" pitchFamily="34" charset="-128"/>
              </a:rPr>
              <a:t>then</a:t>
            </a:r>
            <a:br>
              <a:rPr lang="en-US" altLang="en-US" sz="1800" b="1" dirty="0">
                <a:ea typeface="MS PGothic" panose="020B0600070205080204" pitchFamily="34" charset="-128"/>
              </a:rPr>
            </a:br>
            <a:r>
              <a:rPr lang="en-US" altLang="en-US" sz="1800" dirty="0">
                <a:ea typeface="MS PGothic" panose="020B0600070205080204" pitchFamily="34" charset="-128"/>
              </a:rPr>
              <a:t>   read the next block (if any) of the run into the buffer. </a:t>
            </a:r>
          </a:p>
          <a:p>
            <a:pPr marL="57150" indent="0">
              <a:buNone/>
            </a:pPr>
            <a:r>
              <a:rPr lang="en-US" altLang="en-US" sz="1800" b="1" dirty="0">
                <a:ea typeface="MS PGothic" panose="020B0600070205080204" pitchFamily="34" charset="-128"/>
              </a:rPr>
              <a:t>until</a:t>
            </a:r>
            <a:r>
              <a:rPr lang="en-US" altLang="en-US" sz="1800" dirty="0">
                <a:ea typeface="MS PGothic" panose="020B0600070205080204" pitchFamily="34" charset="-128"/>
              </a:rPr>
              <a:t> all input buffer pages are empty: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75708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7A4EF-A67B-45C5-9E8C-42DDC05DCEBA}"/>
              </a:ext>
            </a:extLst>
          </p:cNvPr>
          <p:cNvGraphicFramePr/>
          <p:nvPr/>
        </p:nvGraphicFramePr>
        <p:xfrm>
          <a:off x="820286" y="340360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37119347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8528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84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D96DA2-7D38-4458-99EC-10C40A78DFD1}"/>
              </a:ext>
            </a:extLst>
          </p:cNvPr>
          <p:cNvGraphicFramePr/>
          <p:nvPr/>
        </p:nvGraphicFramePr>
        <p:xfrm>
          <a:off x="816407" y="1069531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96917422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03038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5552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44B4D7-52E4-44B0-9B17-0675FE425B4B}"/>
              </a:ext>
            </a:extLst>
          </p:cNvPr>
          <p:cNvCxnSpPr/>
          <p:nvPr/>
        </p:nvCxnSpPr>
        <p:spPr bwMode="auto">
          <a:xfrm>
            <a:off x="1451429" y="1372026"/>
            <a:ext cx="812800" cy="1071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141499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 Analysis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057608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BB53D4DB-3569-4DA3-B381-44A852DCE9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495550" y="898070"/>
            <a:ext cx="4648450" cy="5226604"/>
          </a:xfrm>
        </p:spPr>
        <p:txBody>
          <a:bodyPr/>
          <a:lstStyle/>
          <a:p>
            <a:pPr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If </a:t>
            </a:r>
            <a:r>
              <a:rPr lang="en-US" altLang="en-US" i="1" dirty="0">
                <a:ea typeface="MS PGothic" panose="020B0600070205080204" pitchFamily="34" charset="-128"/>
              </a:rPr>
              <a:t>N</a:t>
            </a:r>
            <a:r>
              <a:rPr lang="en-US" altLang="en-US" dirty="0">
                <a:ea typeface="MS PGothic" panose="020B0600070205080204" pitchFamily="34" charset="-128"/>
              </a:rPr>
              <a:t> 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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, several merge </a:t>
            </a:r>
            <a:r>
              <a:rPr lang="en-US" altLang="en-US" i="1" dirty="0">
                <a:ea typeface="MS PGothic" panose="020B0600070205080204" pitchFamily="34" charset="-128"/>
                <a:sym typeface="Symbol" panose="05050102010706020507" pitchFamily="18" charset="2"/>
              </a:rPr>
              <a:t>passes</a:t>
            </a: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 are required. </a:t>
            </a:r>
          </a:p>
          <a:p>
            <a:pPr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  <a:sym typeface="Symbol" panose="05050102010706020507" pitchFamily="18" charset="2"/>
              </a:rPr>
              <a:t>Here, it is 2</a:t>
            </a:r>
          </a:p>
          <a:p>
            <a:pPr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In each pass, contiguous groups of </a:t>
            </a:r>
            <a:r>
              <a:rPr lang="en-US" altLang="en-US" i="1" dirty="0">
                <a:ea typeface="MS PGothic" panose="020B0600070205080204" pitchFamily="34" charset="-128"/>
              </a:rPr>
              <a:t>M </a:t>
            </a:r>
            <a:r>
              <a:rPr lang="en-US" altLang="en-US" dirty="0">
                <a:ea typeface="MS PGothic" panose="020B0600070205080204" pitchFamily="34" charset="-128"/>
              </a:rPr>
              <a:t>- 1 runs are merged. </a:t>
            </a:r>
          </a:p>
          <a:p>
            <a:pPr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A pass reduces the number of runs by a factor of </a:t>
            </a:r>
            <a:r>
              <a:rPr lang="en-US" altLang="en-US" i="1" dirty="0">
                <a:ea typeface="MS PGothic" panose="020B0600070205080204" pitchFamily="34" charset="-128"/>
              </a:rPr>
              <a:t>M</a:t>
            </a:r>
            <a:r>
              <a:rPr lang="en-US" altLang="en-US" dirty="0">
                <a:ea typeface="MS PGothic" panose="020B0600070205080204" pitchFamily="34" charset="-128"/>
              </a:rPr>
              <a:t> -1, and creates runs longer by the same factor. </a:t>
            </a:r>
          </a:p>
          <a:p>
            <a:pPr marL="857250" lvl="2" indent="0">
              <a:buNone/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E.g.  If M=11, and there are 90 runs, one pass reduces the number of runs to 9, each 10 times the size of the initial runs</a:t>
            </a:r>
          </a:p>
          <a:p>
            <a:pPr>
              <a:tabLst>
                <a:tab pos="2120900" algn="l"/>
              </a:tabLst>
            </a:pPr>
            <a:r>
              <a:rPr lang="en-US" altLang="en-US" dirty="0">
                <a:ea typeface="MS PGothic" panose="020B0600070205080204" pitchFamily="34" charset="-128"/>
              </a:rPr>
              <a:t>Repeated passes are performed till all runs have been merged into one.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75708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7A4EF-A67B-45C5-9E8C-42DDC05DCEBA}"/>
              </a:ext>
            </a:extLst>
          </p:cNvPr>
          <p:cNvGraphicFramePr/>
          <p:nvPr/>
        </p:nvGraphicFramePr>
        <p:xfrm>
          <a:off x="820286" y="340360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37119347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8528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84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D96DA2-7D38-4458-99EC-10C40A78DFD1}"/>
              </a:ext>
            </a:extLst>
          </p:cNvPr>
          <p:cNvGraphicFramePr/>
          <p:nvPr/>
        </p:nvGraphicFramePr>
        <p:xfrm>
          <a:off x="816407" y="1069531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96917422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03038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5552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44B4D7-52E4-44B0-9B17-0675FE425B4B}"/>
              </a:ext>
            </a:extLst>
          </p:cNvPr>
          <p:cNvCxnSpPr/>
          <p:nvPr/>
        </p:nvCxnSpPr>
        <p:spPr bwMode="auto">
          <a:xfrm>
            <a:off x="1451429" y="1372026"/>
            <a:ext cx="812800" cy="1071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E3BAC099-6DAC-45A2-AE9A-FB248C2A92FC}"/>
              </a:ext>
            </a:extLst>
          </p:cNvPr>
          <p:cNvSpPr/>
          <p:nvPr/>
        </p:nvSpPr>
        <p:spPr bwMode="auto">
          <a:xfrm>
            <a:off x="3163651" y="748946"/>
            <a:ext cx="1422400" cy="546456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pass2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83992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 Analysis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057608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75708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7A4EF-A67B-45C5-9E8C-42DDC05DCEBA}"/>
              </a:ext>
            </a:extLst>
          </p:cNvPr>
          <p:cNvGraphicFramePr/>
          <p:nvPr/>
        </p:nvGraphicFramePr>
        <p:xfrm>
          <a:off x="820286" y="340360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37119347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8528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84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D96DA2-7D38-4458-99EC-10C40A78DFD1}"/>
              </a:ext>
            </a:extLst>
          </p:cNvPr>
          <p:cNvGraphicFramePr/>
          <p:nvPr/>
        </p:nvGraphicFramePr>
        <p:xfrm>
          <a:off x="816407" y="1069531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96917422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03038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5552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44B4D7-52E4-44B0-9B17-0675FE425B4B}"/>
              </a:ext>
            </a:extLst>
          </p:cNvPr>
          <p:cNvCxnSpPr/>
          <p:nvPr/>
        </p:nvCxnSpPr>
        <p:spPr bwMode="auto">
          <a:xfrm>
            <a:off x="1451429" y="1372026"/>
            <a:ext cx="812800" cy="1071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E3BAC099-6DAC-45A2-AE9A-FB248C2A92FC}"/>
              </a:ext>
            </a:extLst>
          </p:cNvPr>
          <p:cNvSpPr/>
          <p:nvPr/>
        </p:nvSpPr>
        <p:spPr bwMode="auto">
          <a:xfrm>
            <a:off x="3163651" y="748946"/>
            <a:ext cx="1422400" cy="546456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pass2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2" name="Rectangle 1027">
            <a:extLst>
              <a:ext uri="{FF2B5EF4-FFF2-40B4-BE49-F238E27FC236}">
                <a16:creationId xmlns:a16="http://schemas.microsoft.com/office/drawing/2014/main" id="{AB48BEEB-94C9-4C18-842F-7A81DE334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9712" y="1382874"/>
            <a:ext cx="4764288" cy="4215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742950" indent="-28575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2pPr>
            <a:lvl3pPr marL="1085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3pPr>
            <a:lvl4pPr marL="14287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4pPr>
            <a:lvl5pPr marL="17716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5pPr>
            <a:lvl6pPr marL="2228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altLang="en-US" sz="1800" b="1" dirty="0">
                <a:solidFill>
                  <a:srgbClr val="FF0000"/>
                </a:solidFill>
                <a:ea typeface="MS PGothic" panose="020B0600070205080204" pitchFamily="34" charset="-128"/>
              </a:rPr>
              <a:t>Question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Find the number of runs and number of passes  for a relation with 2200 blocks. Memory size is 11.</a:t>
            </a:r>
            <a:endParaRPr lang="en-US" altLang="en-US" sz="1800" kern="0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endParaRPr lang="en-US" altLang="en-US" sz="1800" kern="0" dirty="0">
              <a:solidFill>
                <a:srgbClr val="FF0000"/>
              </a:solidFill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solidFill>
                  <a:srgbClr val="FF0000"/>
                </a:solidFill>
                <a:ea typeface="MS PGothic" panose="020B0600070205080204" pitchFamily="34" charset="-128"/>
              </a:rPr>
              <a:t>Cost analysis </a:t>
            </a:r>
            <a:r>
              <a:rPr lang="en-US" altLang="en-US" sz="1800" kern="0" dirty="0">
                <a:solidFill>
                  <a:srgbClr val="0000FF"/>
                </a:solidFill>
                <a:ea typeface="MS PGothic" panose="020B0600070205080204" pitchFamily="34" charset="-128"/>
              </a:rPr>
              <a:t>(Total number of passes)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</a:rPr>
              <a:t>Total number of blocks of the relation is </a:t>
            </a:r>
            <a:r>
              <a:rPr lang="en-US" altLang="en-US" sz="1800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</a:rPr>
              <a:t>Size of the memory is M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</a:rPr>
              <a:t>Total number of runs =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</a:t>
            </a:r>
          </a:p>
        </p:txBody>
      </p:sp>
    </p:spTree>
    <p:extLst>
      <p:ext uri="{BB962C8B-B14F-4D97-AF65-F5344CB8AC3E}">
        <p14:creationId xmlns:p14="http://schemas.microsoft.com/office/powerpoint/2010/main" val="105982351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 Analysis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057608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75708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7A4EF-A67B-45C5-9E8C-42DDC05DCEBA}"/>
              </a:ext>
            </a:extLst>
          </p:cNvPr>
          <p:cNvGraphicFramePr/>
          <p:nvPr/>
        </p:nvGraphicFramePr>
        <p:xfrm>
          <a:off x="820286" y="340360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37119347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8528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84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D96DA2-7D38-4458-99EC-10C40A78DFD1}"/>
              </a:ext>
            </a:extLst>
          </p:cNvPr>
          <p:cNvGraphicFramePr/>
          <p:nvPr/>
        </p:nvGraphicFramePr>
        <p:xfrm>
          <a:off x="816407" y="1069531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96917422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03038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5552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44B4D7-52E4-44B0-9B17-0675FE425B4B}"/>
              </a:ext>
            </a:extLst>
          </p:cNvPr>
          <p:cNvCxnSpPr/>
          <p:nvPr/>
        </p:nvCxnSpPr>
        <p:spPr bwMode="auto">
          <a:xfrm>
            <a:off x="1451429" y="1372026"/>
            <a:ext cx="812800" cy="1071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E3BAC099-6DAC-45A2-AE9A-FB248C2A92FC}"/>
              </a:ext>
            </a:extLst>
          </p:cNvPr>
          <p:cNvSpPr/>
          <p:nvPr/>
        </p:nvSpPr>
        <p:spPr bwMode="auto">
          <a:xfrm>
            <a:off x="3163651" y="748946"/>
            <a:ext cx="1422400" cy="546456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pass2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2" name="Rectangle 1027">
            <a:extLst>
              <a:ext uri="{FF2B5EF4-FFF2-40B4-BE49-F238E27FC236}">
                <a16:creationId xmlns:a16="http://schemas.microsoft.com/office/drawing/2014/main" id="{AB48BEEB-94C9-4C18-842F-7A81DE3346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9712" y="1382874"/>
            <a:ext cx="4764288" cy="42154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742950" indent="-28575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2pPr>
            <a:lvl3pPr marL="1085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3pPr>
            <a:lvl4pPr marL="14287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4pPr>
            <a:lvl5pPr marL="17716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5pPr>
            <a:lvl6pPr marL="2228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800" kern="0" dirty="0">
                <a:solidFill>
                  <a:srgbClr val="FF0000"/>
                </a:solidFill>
                <a:ea typeface="MS PGothic" panose="020B0600070205080204" pitchFamily="34" charset="-128"/>
              </a:rPr>
              <a:t>Cost analysis </a:t>
            </a:r>
            <a:r>
              <a:rPr lang="en-US" altLang="en-US" sz="1800" kern="0" dirty="0">
                <a:solidFill>
                  <a:srgbClr val="0000FF"/>
                </a:solidFill>
                <a:ea typeface="MS PGothic" panose="020B0600070205080204" pitchFamily="34" charset="-128"/>
              </a:rPr>
              <a:t>(Total number of passes)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</a:rPr>
              <a:t>Total number of blocks of the relation is </a:t>
            </a:r>
            <a:r>
              <a:rPr lang="en-US" altLang="en-US" sz="1800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</a:rPr>
              <a:t>Size of the memory is M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</a:rPr>
              <a:t>Total number of runs =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</a:t>
            </a: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After merge pass 1, number of runs =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 (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/(M-1) </a:t>
            </a:r>
            <a:endParaRPr lang="en-US" altLang="en-US" sz="1800" kern="0" dirty="0">
              <a:ea typeface="MS PGothic" panose="020B0600070205080204" pitchFamily="34" charset="-128"/>
            </a:endParaRPr>
          </a:p>
          <a:p>
            <a:pPr>
              <a:lnSpc>
                <a:spcPct val="90000"/>
              </a:lnSpc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After merge pass 2, number of runs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     =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 (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/(M-1) (M-1) </a:t>
            </a:r>
            <a:endParaRPr lang="en-US" altLang="en-US" sz="1800" kern="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    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 (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/(M-1) </a:t>
            </a:r>
            <a:r>
              <a:rPr lang="en-US" altLang="en-US" sz="1800" kern="0" baseline="30000" dirty="0">
                <a:ea typeface="MS PGothic" panose="020B0600070205080204" pitchFamily="34" charset="-128"/>
                <a:sym typeface="Symbol" panose="05050102010706020507" pitchFamily="18" charset="2"/>
              </a:rPr>
              <a:t>2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  <a:endParaRPr lang="en-US" altLang="en-US" sz="1800" kern="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kern="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Total number of pass = 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.</a:t>
            </a:r>
          </a:p>
        </p:txBody>
      </p:sp>
    </p:spTree>
    <p:extLst>
      <p:ext uri="{BB962C8B-B14F-4D97-AF65-F5344CB8AC3E}">
        <p14:creationId xmlns:p14="http://schemas.microsoft.com/office/powerpoint/2010/main" val="312444625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 Analysis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057608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75708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7A4EF-A67B-45C5-9E8C-42DDC05DCEBA}"/>
              </a:ext>
            </a:extLst>
          </p:cNvPr>
          <p:cNvGraphicFramePr/>
          <p:nvPr/>
        </p:nvGraphicFramePr>
        <p:xfrm>
          <a:off x="820286" y="340360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37119347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8528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84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D96DA2-7D38-4458-99EC-10C40A78DFD1}"/>
              </a:ext>
            </a:extLst>
          </p:cNvPr>
          <p:cNvGraphicFramePr/>
          <p:nvPr/>
        </p:nvGraphicFramePr>
        <p:xfrm>
          <a:off x="816407" y="1069531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96917422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03038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5552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44B4D7-52E4-44B0-9B17-0675FE425B4B}"/>
              </a:ext>
            </a:extLst>
          </p:cNvPr>
          <p:cNvCxnSpPr/>
          <p:nvPr/>
        </p:nvCxnSpPr>
        <p:spPr bwMode="auto">
          <a:xfrm>
            <a:off x="1451429" y="1372026"/>
            <a:ext cx="812800" cy="1071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E3BAC099-6DAC-45A2-AE9A-FB248C2A92FC}"/>
              </a:ext>
            </a:extLst>
          </p:cNvPr>
          <p:cNvSpPr/>
          <p:nvPr/>
        </p:nvSpPr>
        <p:spPr bwMode="auto">
          <a:xfrm>
            <a:off x="3163651" y="748946"/>
            <a:ext cx="1422400" cy="546456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pass2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3" name="Rectangle 1027">
            <a:extLst>
              <a:ext uri="{FF2B5EF4-FFF2-40B4-BE49-F238E27FC236}">
                <a16:creationId xmlns:a16="http://schemas.microsoft.com/office/drawing/2014/main" id="{3001CA62-EE3D-4F8A-ABB6-38955DD41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370" y="1150625"/>
            <a:ext cx="4702629" cy="5418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742950" indent="-28575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2pPr>
            <a:lvl3pPr marL="1085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3pPr>
            <a:lvl4pPr marL="14287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4pPr>
            <a:lvl5pPr marL="17716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5pPr>
            <a:lvl6pPr marL="2228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solidFill>
                  <a:srgbClr val="FF0000"/>
                </a:solidFill>
                <a:ea typeface="MS PGothic" panose="020B0600070205080204" pitchFamily="34" charset="-128"/>
              </a:rPr>
              <a:t>Cost analysis </a:t>
            </a:r>
            <a:r>
              <a:rPr lang="en-US" altLang="en-US" sz="1800" kern="0" dirty="0">
                <a:solidFill>
                  <a:srgbClr val="0000FF"/>
                </a:solidFill>
                <a:ea typeface="MS PGothic" panose="020B0600070205080204" pitchFamily="34" charset="-128"/>
              </a:rPr>
              <a:t>(Total number of block transfer)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Block transfers for initial run creation as well as in each pass is 2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r</a:t>
            </a:r>
            <a:endParaRPr lang="en-US" altLang="en-US" sz="1800" kern="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for final pass, we don</a:t>
            </a:r>
            <a:r>
              <a:rPr lang="ja-JP" altLang="en-US" sz="1800" kern="0" dirty="0">
                <a:ea typeface="MS PGothic" panose="020B0600070205080204" pitchFamily="34" charset="-128"/>
              </a:rPr>
              <a:t>’</a:t>
            </a:r>
            <a:r>
              <a:rPr lang="en-US" altLang="ja-JP" sz="1800" kern="0" dirty="0">
                <a:ea typeface="MS PGothic" panose="020B0600070205080204" pitchFamily="34" charset="-128"/>
              </a:rPr>
              <a:t>t count write cost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since the output of an operation may be sent to the parent operation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Block transfer for run creation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=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for read+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for write = 2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   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   </a:t>
            </a:r>
            <a:endParaRPr lang="en-US" altLang="en-US" sz="1800" kern="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</a:rPr>
              <a:t>Block transfers for merging</a:t>
            </a:r>
            <a:br>
              <a:rPr lang="en-US" altLang="en-US" sz="1800" kern="0" dirty="0">
                <a:ea typeface="MS PGothic" panose="020B0600070205080204" pitchFamily="34" charset="-128"/>
              </a:rPr>
            </a:br>
            <a:r>
              <a:rPr lang="en-US" altLang="en-US" sz="1800" kern="0" dirty="0">
                <a:ea typeface="MS PGothic" panose="020B0600070205080204" pitchFamily="34" charset="-128"/>
              </a:rPr>
              <a:t>= 2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*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BT for run and merge (B_RM) =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2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+ </a:t>
            </a:r>
            <a:r>
              <a:rPr lang="en-US" altLang="en-US" sz="1800" kern="0" dirty="0">
                <a:ea typeface="MS PGothic" panose="020B0600070205080204" pitchFamily="34" charset="-128"/>
              </a:rPr>
              <a:t>2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*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Final merge, no write.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So Net block transfer = B_RM  -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=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2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+ </a:t>
            </a:r>
            <a:r>
              <a:rPr lang="en-US" altLang="en-US" sz="1800" kern="0" dirty="0">
                <a:ea typeface="MS PGothic" panose="020B0600070205080204" pitchFamily="34" charset="-128"/>
              </a:rPr>
              <a:t>2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baseline="-2500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*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-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  <a:endParaRPr lang="en-US" altLang="en-US" kern="0" dirty="0"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kern="0" dirty="0">
                <a:ea typeface="MS PGothic" panose="020B0600070205080204" pitchFamily="34" charset="-128"/>
              </a:rPr>
              <a:t>= </a:t>
            </a:r>
            <a:r>
              <a:rPr lang="en-US" altLang="en-US" sz="1800" i="1" kern="0" dirty="0" err="1">
                <a:ea typeface="MS PGothic" panose="020B0600070205080204" pitchFamily="34" charset="-128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* (</a:t>
            </a:r>
            <a:r>
              <a:rPr lang="en-US" altLang="en-US" sz="1800" kern="0" dirty="0">
                <a:ea typeface="MS PGothic" panose="020B0600070205080204" pitchFamily="34" charset="-128"/>
              </a:rPr>
              <a:t>2</a:t>
            </a:r>
            <a:r>
              <a:rPr lang="en-US" altLang="en-US" sz="1800" i="1" kern="0" dirty="0">
                <a:ea typeface="MS PGothic" panose="020B0600070205080204" pitchFamily="34" charset="-128"/>
              </a:rPr>
              <a:t> 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* </a:t>
            </a:r>
            <a:r>
              <a:rPr lang="en-US" altLang="en-US" sz="1800" kern="0" dirty="0">
                <a:ea typeface="MS PGothic" panose="020B0600070205080204" pitchFamily="34" charset="-128"/>
              </a:rPr>
              <a:t> 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log 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kern="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kern="0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kern="0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kern="0" dirty="0">
                <a:ea typeface="MS PGothic" panose="020B0600070205080204" pitchFamily="34" charset="-128"/>
                <a:sym typeface="Symbol" panose="05050102010706020507" pitchFamily="18" charset="2"/>
              </a:rPr>
              <a:t>/M)</a:t>
            </a:r>
            <a:r>
              <a:rPr lang="en-US" altLang="en-US" sz="1800" kern="0" dirty="0">
                <a:ea typeface="MS PGothic" panose="020B0600070205080204" pitchFamily="34" charset="-128"/>
                <a:sym typeface="Symbol" panose="05050102010706020507" pitchFamily="18" charset="2"/>
              </a:rPr>
              <a:t> +1</a:t>
            </a:r>
            <a:r>
              <a:rPr lang="en-US" altLang="en-US" sz="1800" kern="0" dirty="0">
                <a:ea typeface="MS PGothic" panose="020B0600070205080204" pitchFamily="34" charset="-128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90030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>
            <a:extLst>
              <a:ext uri="{FF2B5EF4-FFF2-40B4-BE49-F238E27FC236}">
                <a16:creationId xmlns:a16="http://schemas.microsoft.com/office/drawing/2014/main" id="{FF0E6F30-3341-416A-97A7-D2C72A5D0E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472341" y="288470"/>
            <a:ext cx="4455886" cy="609600"/>
          </a:xfrm>
        </p:spPr>
        <p:txBody>
          <a:bodyPr/>
          <a:lstStyle/>
          <a:p>
            <a:pPr>
              <a:defRPr/>
            </a:pP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External Sort-Merge (</a:t>
            </a:r>
            <a:r>
              <a:rPr lang="en-US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Algorithm Analysis</a:t>
            </a:r>
            <a:r>
              <a:rPr lang="en-US" altLang="en-US" dirty="0">
                <a:effectLst>
                  <a:outerShdw blurRad="38100" dist="38100" dir="2700000" algn="tl">
                    <a:srgbClr val="C0C0C0"/>
                  </a:outerShdw>
                </a:effectLst>
                <a:ea typeface="MS PGothic" panose="020B0600070205080204" pitchFamily="34" charset="-128"/>
              </a:rPr>
              <a:t>)</a:t>
            </a:r>
          </a:p>
        </p:txBody>
      </p:sp>
      <p:pic>
        <p:nvPicPr>
          <p:cNvPr id="2" name="Picture 8">
            <a:extLst>
              <a:ext uri="{FF2B5EF4-FFF2-40B4-BE49-F238E27FC236}">
                <a16:creationId xmlns:a16="http://schemas.microsoft.com/office/drawing/2014/main" id="{13A88819-9947-4EC9-B8AD-B694186315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37703"/>
            <a:ext cx="4292349" cy="48546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Callout: Down Arrow 3">
            <a:extLst>
              <a:ext uri="{FF2B5EF4-FFF2-40B4-BE49-F238E27FC236}">
                <a16:creationId xmlns:a16="http://schemas.microsoft.com/office/drawing/2014/main" id="{B6CF1C11-8A0F-4C30-B4D8-4239EAC88F1F}"/>
              </a:ext>
            </a:extLst>
          </p:cNvPr>
          <p:cNvSpPr/>
          <p:nvPr/>
        </p:nvSpPr>
        <p:spPr bwMode="auto">
          <a:xfrm>
            <a:off x="1888799" y="1228103"/>
            <a:ext cx="1422400" cy="609600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pass1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C8FC3B-3B43-4362-88E1-B8348FC7F28B}"/>
              </a:ext>
            </a:extLst>
          </p:cNvPr>
          <p:cNvSpPr txBox="1"/>
          <p:nvPr/>
        </p:nvSpPr>
        <p:spPr>
          <a:xfrm>
            <a:off x="2057608" y="423993"/>
            <a:ext cx="921239" cy="338554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Memory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0BF636-87DD-4997-9350-B1B39F23CB44}"/>
              </a:ext>
            </a:extLst>
          </p:cNvPr>
          <p:cNvSpPr txBox="1"/>
          <p:nvPr/>
        </p:nvSpPr>
        <p:spPr>
          <a:xfrm>
            <a:off x="723774" y="2104571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00F05-1D8E-4B3A-A6BD-D9B481A47D09}"/>
              </a:ext>
            </a:extLst>
          </p:cNvPr>
          <p:cNvSpPr txBox="1"/>
          <p:nvPr/>
        </p:nvSpPr>
        <p:spPr>
          <a:xfrm>
            <a:off x="723774" y="3237790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8444AA-077E-49AE-8EC4-1AD1D9481ACF}"/>
              </a:ext>
            </a:extLst>
          </p:cNvPr>
          <p:cNvSpPr txBox="1"/>
          <p:nvPr/>
        </p:nvSpPr>
        <p:spPr>
          <a:xfrm>
            <a:off x="728185" y="4270243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9D78D7-7969-4634-8F40-CAFA22ED7CDB}"/>
              </a:ext>
            </a:extLst>
          </p:cNvPr>
          <p:cNvSpPr txBox="1"/>
          <p:nvPr/>
        </p:nvSpPr>
        <p:spPr>
          <a:xfrm>
            <a:off x="674451" y="5366619"/>
            <a:ext cx="4625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R4</a:t>
            </a:r>
          </a:p>
        </p:txBody>
      </p:sp>
      <p:graphicFrame>
        <p:nvGraphicFramePr>
          <p:cNvPr id="24" name="Table 24">
            <a:extLst>
              <a:ext uri="{FF2B5EF4-FFF2-40B4-BE49-F238E27FC236}">
                <a16:creationId xmlns:a16="http://schemas.microsoft.com/office/drawing/2014/main" id="{11D5E964-58E3-4938-82C6-3BD8A0D4D592}"/>
              </a:ext>
            </a:extLst>
          </p:cNvPr>
          <p:cNvGraphicFramePr>
            <a:graphicFrameLocks noGrp="1"/>
          </p:cNvGraphicFramePr>
          <p:nvPr/>
        </p:nvGraphicFramePr>
        <p:xfrm>
          <a:off x="820286" y="326430"/>
          <a:ext cx="981150" cy="11125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90575">
                  <a:extLst>
                    <a:ext uri="{9D8B030D-6E8A-4147-A177-3AD203B41FA5}">
                      <a16:colId xmlns:a16="http://schemas.microsoft.com/office/drawing/2014/main" val="2956839626"/>
                    </a:ext>
                  </a:extLst>
                </a:gridCol>
                <a:gridCol w="490575">
                  <a:extLst>
                    <a:ext uri="{9D8B030D-6E8A-4147-A177-3AD203B41FA5}">
                      <a16:colId xmlns:a16="http://schemas.microsoft.com/office/drawing/2014/main" val="1521521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81288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36778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3959178"/>
                  </a:ext>
                </a:extLst>
              </a:tr>
            </a:tbl>
          </a:graphicData>
        </a:graphic>
      </p:graphicFrame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9B2FDB9-19EF-4285-A501-759C88AD2321}"/>
              </a:ext>
            </a:extLst>
          </p:cNvPr>
          <p:cNvSpPr/>
          <p:nvPr/>
        </p:nvSpPr>
        <p:spPr bwMode="auto">
          <a:xfrm>
            <a:off x="537029" y="493486"/>
            <a:ext cx="551542" cy="1757080"/>
          </a:xfrm>
          <a:custGeom>
            <a:avLst/>
            <a:gdLst>
              <a:gd name="connsiteX0" fmla="*/ 551542 w 551542"/>
              <a:gd name="connsiteY0" fmla="*/ 1524000 h 1524000"/>
              <a:gd name="connsiteX1" fmla="*/ 0 w 551542"/>
              <a:gd name="connsiteY1" fmla="*/ 595085 h 1524000"/>
              <a:gd name="connsiteX2" fmla="*/ 188685 w 551542"/>
              <a:gd name="connsiteY2" fmla="*/ 0 h 1524000"/>
              <a:gd name="connsiteX3" fmla="*/ 217714 w 551542"/>
              <a:gd name="connsiteY3" fmla="*/ 14514 h 152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1542" h="1524000">
                <a:moveTo>
                  <a:pt x="551542" y="1524000"/>
                </a:moveTo>
                <a:lnTo>
                  <a:pt x="0" y="595085"/>
                </a:lnTo>
                <a:lnTo>
                  <a:pt x="188685" y="0"/>
                </a:lnTo>
                <a:lnTo>
                  <a:pt x="217714" y="14514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75FE386-C4EA-477B-9085-19238ED7426D}"/>
              </a:ext>
            </a:extLst>
          </p:cNvPr>
          <p:cNvSpPr/>
          <p:nvPr/>
        </p:nvSpPr>
        <p:spPr bwMode="auto">
          <a:xfrm>
            <a:off x="508000" y="928914"/>
            <a:ext cx="580571" cy="2133600"/>
          </a:xfrm>
          <a:custGeom>
            <a:avLst/>
            <a:gdLst>
              <a:gd name="connsiteX0" fmla="*/ 580571 w 580571"/>
              <a:gd name="connsiteY0" fmla="*/ 2133600 h 2133600"/>
              <a:gd name="connsiteX1" fmla="*/ 0 w 580571"/>
              <a:gd name="connsiteY1" fmla="*/ 537029 h 2133600"/>
              <a:gd name="connsiteX2" fmla="*/ 246743 w 580571"/>
              <a:gd name="connsiteY2" fmla="*/ 0 h 213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80571" h="2133600">
                <a:moveTo>
                  <a:pt x="580571" y="2133600"/>
                </a:moveTo>
                <a:lnTo>
                  <a:pt x="0" y="537029"/>
                </a:lnTo>
                <a:lnTo>
                  <a:pt x="246743" y="0"/>
                </a:lnTo>
              </a:path>
            </a:pathLst>
          </a:custGeom>
          <a:noFill/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5D7A4EF-A67B-45C5-9E8C-42DDC05DCEBA}"/>
              </a:ext>
            </a:extLst>
          </p:cNvPr>
          <p:cNvGraphicFramePr/>
          <p:nvPr/>
        </p:nvGraphicFramePr>
        <p:xfrm>
          <a:off x="820286" y="340360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371193479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2285283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i="0" u="none" strike="noStrike" dirty="0"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848491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BD96DA2-7D38-4458-99EC-10C40A78DFD1}"/>
              </a:ext>
            </a:extLst>
          </p:cNvPr>
          <p:cNvGraphicFramePr/>
          <p:nvPr/>
        </p:nvGraphicFramePr>
        <p:xfrm>
          <a:off x="816407" y="1069531"/>
          <a:ext cx="977900" cy="37084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488950">
                  <a:extLst>
                    <a:ext uri="{9D8B030D-6E8A-4147-A177-3AD203B41FA5}">
                      <a16:colId xmlns:a16="http://schemas.microsoft.com/office/drawing/2014/main" val="2969174222"/>
                    </a:ext>
                  </a:extLst>
                </a:gridCol>
                <a:gridCol w="488950">
                  <a:extLst>
                    <a:ext uri="{9D8B030D-6E8A-4147-A177-3AD203B41FA5}">
                      <a16:colId xmlns:a16="http://schemas.microsoft.com/office/drawing/2014/main" val="30303826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</a:rPr>
                        <a:t>b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</a:rPr>
                        <a:t>14</a:t>
                      </a: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155520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44B4D7-52E4-44B0-9B17-0675FE425B4B}"/>
              </a:ext>
            </a:extLst>
          </p:cNvPr>
          <p:cNvCxnSpPr/>
          <p:nvPr/>
        </p:nvCxnSpPr>
        <p:spPr bwMode="auto">
          <a:xfrm>
            <a:off x="1451429" y="1372026"/>
            <a:ext cx="812800" cy="107109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" name="Callout: Down Arrow 2">
            <a:extLst>
              <a:ext uri="{FF2B5EF4-FFF2-40B4-BE49-F238E27FC236}">
                <a16:creationId xmlns:a16="http://schemas.microsoft.com/office/drawing/2014/main" id="{E3BAC099-6DAC-45A2-AE9A-FB248C2A92FC}"/>
              </a:ext>
            </a:extLst>
          </p:cNvPr>
          <p:cNvSpPr/>
          <p:nvPr/>
        </p:nvSpPr>
        <p:spPr bwMode="auto">
          <a:xfrm>
            <a:off x="3163651" y="748946"/>
            <a:ext cx="1422400" cy="546456"/>
          </a:xfrm>
          <a:prstGeom prst="downArrowCallout">
            <a:avLst/>
          </a:prstGeom>
          <a:solidFill>
            <a:schemeClr val="accent5">
              <a:lumMod val="8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dirty="0">
                <a:latin typeface="Helvetica" charset="0"/>
              </a:rPr>
              <a:t>Merge pass2</a:t>
            </a:r>
            <a:endParaRPr kumimoji="0" 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Helvetica" charset="0"/>
            </a:endParaRPr>
          </a:p>
        </p:txBody>
      </p:sp>
      <p:sp>
        <p:nvSpPr>
          <p:cNvPr id="23" name="Rectangle 1027">
            <a:extLst>
              <a:ext uri="{FF2B5EF4-FFF2-40B4-BE49-F238E27FC236}">
                <a16:creationId xmlns:a16="http://schemas.microsoft.com/office/drawing/2014/main" id="{3001CA62-EE3D-4F8A-ABB6-38955DD413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41370" y="1150625"/>
            <a:ext cx="4702629" cy="5418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002060"/>
              </a:buClr>
              <a:buSzPct val="11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1pPr>
            <a:lvl2pPr marL="742950" indent="-28575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FF9933"/>
              </a:buClr>
              <a:buSzPct val="110000"/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2pPr>
            <a:lvl3pPr marL="1085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rgbClr val="33CC33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3pPr>
            <a:lvl4pPr marL="14287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Font typeface="Arial" panose="020B0604020202020204" pitchFamily="34" charset="0"/>
              <a:buChar char="•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4pPr>
            <a:lvl5pPr marL="17716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anose="05000000000000000000" pitchFamily="2" charset="2"/>
              <a:buChar char="§"/>
              <a:defRPr kumimoji="1" sz="1700">
                <a:solidFill>
                  <a:schemeClr val="tx1"/>
                </a:solidFill>
                <a:latin typeface="+mn-lt"/>
                <a:ea typeface="MS PGothic" charset="0"/>
                <a:cs typeface="MS PGothic" charset="0"/>
              </a:defRPr>
            </a:lvl5pPr>
            <a:lvl6pPr marL="22288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6pPr>
            <a:lvl7pPr marL="26860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7pPr>
            <a:lvl8pPr marL="31432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8pPr>
            <a:lvl9pPr marL="3600450" indent="-228600" algn="l" rtl="0" eaLnBrk="1" fontAlgn="base" hangingPunct="1"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ＭＳ Ｐゴシック" charset="-128"/>
              </a:defRPr>
            </a:lvl9pPr>
          </a:lstStyle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1800" kern="0" dirty="0">
                <a:solidFill>
                  <a:srgbClr val="FF0000"/>
                </a:solidFill>
                <a:ea typeface="MS PGothic" panose="020B0600070205080204" pitchFamily="34" charset="-128"/>
              </a:rPr>
              <a:t>Cost analysis </a:t>
            </a:r>
            <a:r>
              <a:rPr lang="en-US" altLang="en-US" sz="1800" kern="0" dirty="0">
                <a:solidFill>
                  <a:srgbClr val="0000FF"/>
                </a:solidFill>
                <a:ea typeface="MS PGothic" panose="020B0600070205080204" pitchFamily="34" charset="-128"/>
              </a:rPr>
              <a:t>(Total number of seek)</a:t>
            </a:r>
          </a:p>
          <a:p>
            <a:pPr marL="57150" indent="0">
              <a:buNone/>
            </a:pPr>
            <a:endParaRPr lang="en-US" altLang="en-US" sz="1800" dirty="0">
              <a:ea typeface="MS PGothic" panose="020B0600070205080204" pitchFamily="34" charset="-128"/>
            </a:endParaRPr>
          </a:p>
          <a:p>
            <a:pPr marL="57150" indent="0">
              <a:buNone/>
            </a:pPr>
            <a:r>
              <a:rPr lang="en-US" altLang="en-US" sz="1800" dirty="0">
                <a:ea typeface="MS PGothic" panose="020B0600070205080204" pitchFamily="34" charset="-128"/>
              </a:rPr>
              <a:t>During run generation: one seek to read each run and one seek to write each run</a:t>
            </a:r>
          </a:p>
          <a:p>
            <a:pPr marL="857250" lvl="2" indent="0">
              <a:buNone/>
            </a:pPr>
            <a:r>
              <a:rPr lang="en-US" altLang="en-US" sz="1800" i="1" dirty="0">
                <a:ea typeface="MS PGothic" panose="020B0600070205080204" pitchFamily="34" charset="-128"/>
              </a:rPr>
              <a:t> 2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/ M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</a:t>
            </a:r>
          </a:p>
          <a:p>
            <a:pPr marL="5715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During the merge phase</a:t>
            </a:r>
          </a:p>
          <a:p>
            <a:pPr marL="11430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Need </a:t>
            </a:r>
            <a:r>
              <a:rPr lang="en-US" altLang="en-US" sz="1800" i="1" dirty="0">
                <a:ea typeface="MS PGothic" panose="020B0600070205080204" pitchFamily="34" charset="-128"/>
              </a:rPr>
              <a:t>2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 seeks for each merge pass except the final one which does not require a write</a:t>
            </a:r>
          </a:p>
          <a:p>
            <a:pPr marL="11430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Total number of seeks:</a:t>
            </a:r>
          </a:p>
          <a:p>
            <a:pPr marL="11430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seek for run creation + seek for merge</a:t>
            </a:r>
          </a:p>
          <a:p>
            <a:pPr marL="114300" indent="0">
              <a:buNone/>
            </a:pP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=    </a:t>
            </a:r>
            <a:r>
              <a:rPr lang="en-US" altLang="en-US" sz="1800" i="1" dirty="0">
                <a:ea typeface="MS PGothic" panose="020B0600070205080204" pitchFamily="34" charset="-128"/>
              </a:rPr>
              <a:t>2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/ M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 + 2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r 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1800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/ M)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 -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endParaRPr lang="en-US" altLang="en-US" sz="1800" dirty="0">
              <a:ea typeface="MS PGothic" panose="020B0600070205080204" pitchFamily="34" charset="-128"/>
              <a:sym typeface="Symbol" panose="05050102010706020507" pitchFamily="18" charset="2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US" sz="1800" kern="0" dirty="0">
                <a:solidFill>
                  <a:srgbClr val="0000FF"/>
                </a:solidFill>
                <a:ea typeface="MS PGothic" panose="020B0600070205080204" pitchFamily="34" charset="-128"/>
              </a:rPr>
              <a:t>  =   </a:t>
            </a:r>
            <a:r>
              <a:rPr lang="en-US" altLang="en-US" sz="1800" i="1" dirty="0">
                <a:ea typeface="MS PGothic" panose="020B0600070205080204" pitchFamily="34" charset="-128"/>
              </a:rPr>
              <a:t>2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/ M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 + 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( 2</a:t>
            </a:r>
            <a:r>
              <a:rPr lang="en-US" altLang="en-US" sz="1800" i="1" dirty="0">
                <a:ea typeface="MS PGothic" panose="020B0600070205080204" pitchFamily="34" charset="-128"/>
              </a:rPr>
              <a:t> 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</a:t>
            </a:r>
            <a:r>
              <a:rPr lang="en-US" altLang="en-US" sz="1800" dirty="0" err="1">
                <a:ea typeface="MS PGothic" panose="020B0600070205080204" pitchFamily="34" charset="-128"/>
                <a:sym typeface="Symbol" panose="05050102010706020507" pitchFamily="18" charset="2"/>
              </a:rPr>
              <a:t>log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M</a:t>
            </a:r>
            <a:r>
              <a:rPr lang="en-US" altLang="en-US" sz="1800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–1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(</a:t>
            </a:r>
            <a:r>
              <a:rPr lang="en-US" altLang="en-US" sz="1800" i="1" dirty="0" err="1">
                <a:ea typeface="MS PGothic" panose="020B0600070205080204" pitchFamily="34" charset="-128"/>
                <a:sym typeface="Symbol" panose="05050102010706020507" pitchFamily="18" charset="2"/>
              </a:rPr>
              <a:t>b</a:t>
            </a:r>
            <a:r>
              <a:rPr lang="en-US" altLang="en-US" sz="1800" i="1" baseline="-25000" dirty="0" err="1">
                <a:ea typeface="MS PGothic" panose="020B0600070205080204" pitchFamily="34" charset="-128"/>
                <a:sym typeface="Symbol" panose="05050102010706020507" pitchFamily="18" charset="2"/>
              </a:rPr>
              <a:t>r</a:t>
            </a:r>
            <a:r>
              <a:rPr lang="en-US" altLang="en-US" sz="1800" i="1" baseline="-25000" dirty="0">
                <a:ea typeface="MS PGothic" panose="020B0600070205080204" pitchFamily="34" charset="-128"/>
                <a:sym typeface="Symbol" panose="05050102010706020507" pitchFamily="18" charset="2"/>
              </a:rPr>
              <a:t>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/ M)</a:t>
            </a:r>
            <a:r>
              <a:rPr lang="en-US" altLang="en-US" sz="1800" dirty="0">
                <a:ea typeface="MS PGothic" panose="020B0600070205080204" pitchFamily="34" charset="-128"/>
                <a:sym typeface="Symbol" panose="05050102010706020507" pitchFamily="18" charset="2"/>
              </a:rPr>
              <a:t> - </a:t>
            </a:r>
            <a:r>
              <a:rPr lang="en-US" altLang="en-US" sz="1800" i="1" dirty="0">
                <a:ea typeface="MS PGothic" panose="020B0600070205080204" pitchFamily="34" charset="-128"/>
                <a:sym typeface="Symbol" panose="05050102010706020507" pitchFamily="18" charset="2"/>
              </a:rPr>
              <a:t>1)</a:t>
            </a:r>
            <a:endParaRPr lang="en-US" altLang="en-US" sz="1800" kern="0" dirty="0">
              <a:solidFill>
                <a:srgbClr val="0000FF"/>
              </a:solidFill>
              <a:ea typeface="MS PGothic" panose="020B0600070205080204" pitchFamily="34" charset="-128"/>
            </a:endParaRPr>
          </a:p>
          <a:p>
            <a:pPr marL="0" indent="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 kern="0" dirty="0">
              <a:solidFill>
                <a:srgbClr val="0000FF"/>
              </a:solidFill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7849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b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1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1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b" id="{854B61EF-CFBF-4F4D-90C6-BAB015E35D01}" vid="{BC3EFCCA-7EC7-446B-8189-3ECEF79E326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db</Template>
  <TotalTime>71175</TotalTime>
  <Words>6897</Words>
  <Application>Microsoft Office PowerPoint</Application>
  <PresentationFormat>On-screen Show (4:3)</PresentationFormat>
  <Paragraphs>800</Paragraphs>
  <Slides>55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Arial</vt:lpstr>
      <vt:lpstr>Calibri</vt:lpstr>
      <vt:lpstr>Helvetica</vt:lpstr>
      <vt:lpstr>Monotype Sorts</vt:lpstr>
      <vt:lpstr>Times New Roman</vt:lpstr>
      <vt:lpstr>Webdings</vt:lpstr>
      <vt:lpstr>Wingdings</vt:lpstr>
      <vt:lpstr>db</vt:lpstr>
      <vt:lpstr>Query Processing</vt:lpstr>
      <vt:lpstr>Query Processing</vt:lpstr>
      <vt:lpstr>Basic Steps in Query Processing</vt:lpstr>
      <vt:lpstr>Basic Steps in Query Processing (Cont.)</vt:lpstr>
      <vt:lpstr>Basic Steps in Query Processing: Optimization</vt:lpstr>
      <vt:lpstr>Basic Steps in Query Processing: Optimization</vt:lpstr>
      <vt:lpstr>Basic Steps: Optimization (Cont.)</vt:lpstr>
      <vt:lpstr>Measures of Query Cost</vt:lpstr>
      <vt:lpstr>Measures of Query Cost</vt:lpstr>
      <vt:lpstr>Measures of Query Cost</vt:lpstr>
      <vt:lpstr>Selection Operation ()</vt:lpstr>
      <vt:lpstr>Selection Operation ()</vt:lpstr>
      <vt:lpstr>Selections Using Indices</vt:lpstr>
      <vt:lpstr>Selections Using Indices</vt:lpstr>
      <vt:lpstr>PowerPoint Presentation</vt:lpstr>
      <vt:lpstr>Selections Using Indices</vt:lpstr>
      <vt:lpstr>Selections Using Indices</vt:lpstr>
      <vt:lpstr>Selections Using Indices</vt:lpstr>
      <vt:lpstr>Selections Using Indices</vt:lpstr>
      <vt:lpstr>Selections Using Indices</vt:lpstr>
      <vt:lpstr>Selections Using Indices</vt:lpstr>
      <vt:lpstr>Selections Using Indices</vt:lpstr>
      <vt:lpstr>Selections Using Indices</vt:lpstr>
      <vt:lpstr>Selections Using Indices</vt:lpstr>
      <vt:lpstr>Selections Using Indices</vt:lpstr>
      <vt:lpstr>Selections Involving Comparisons</vt:lpstr>
      <vt:lpstr>Selections Involving Comparisons</vt:lpstr>
      <vt:lpstr>Selections Involving Comparisons</vt:lpstr>
      <vt:lpstr>Selections Involving Comparisons</vt:lpstr>
      <vt:lpstr>Selections Involving Comparisons</vt:lpstr>
      <vt:lpstr>Selections Involving Comparisons</vt:lpstr>
      <vt:lpstr>Implementation of Complex Selections (12-11-20)</vt:lpstr>
      <vt:lpstr>Implementation of Complex Selections</vt:lpstr>
      <vt:lpstr>Implementation of Complex Selections</vt:lpstr>
      <vt:lpstr>Implementation of Complex Selections</vt:lpstr>
      <vt:lpstr>Implementation of Complex Selections</vt:lpstr>
      <vt:lpstr>Implementation of Complex Selections</vt:lpstr>
      <vt:lpstr>Implementation of Complex Selections</vt:lpstr>
      <vt:lpstr>PowerPoint Presentation</vt:lpstr>
      <vt:lpstr>PowerPoint Presentation</vt:lpstr>
      <vt:lpstr>Algorithms for Complex Selections</vt:lpstr>
      <vt:lpstr>Algorithms for Complex Selections</vt:lpstr>
      <vt:lpstr>PowerPoint Presentation</vt:lpstr>
      <vt:lpstr>PowerPoint Presentation</vt:lpstr>
      <vt:lpstr>Algorithms for Complex Selections</vt:lpstr>
      <vt:lpstr>Sorting</vt:lpstr>
      <vt:lpstr>Example: External Sorting Using Sort-Merge</vt:lpstr>
      <vt:lpstr>External Sort-Merge (Run Creation)</vt:lpstr>
      <vt:lpstr>External Sort-Merge (Sort-Merge)</vt:lpstr>
      <vt:lpstr>External Sort-Merge (Sort Merge)</vt:lpstr>
      <vt:lpstr>External Sort-Merge (Algorithm Analysis)</vt:lpstr>
      <vt:lpstr>External Sort-Merge (Algorithm Analysis)</vt:lpstr>
      <vt:lpstr>External Sort-Merge (Algorithm Analysis)</vt:lpstr>
      <vt:lpstr>External Sort-Merge (Algorithm Analysis)</vt:lpstr>
      <vt:lpstr>External Sort-Merge (Algorithm Analysis)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7:  Relational Database Design</dc:title>
  <dc:creator>Marilyn Turnamian</dc:creator>
  <cp:lastModifiedBy>Dr. Abu Sayed Md. Latiful Hoque</cp:lastModifiedBy>
  <cp:revision>708</cp:revision>
  <cp:lastPrinted>1999-06-28T19:27:31Z</cp:lastPrinted>
  <dcterms:created xsi:type="dcterms:W3CDTF">2000-02-23T18:58:38Z</dcterms:created>
  <dcterms:modified xsi:type="dcterms:W3CDTF">2022-08-06T06:51:35Z</dcterms:modified>
</cp:coreProperties>
</file>