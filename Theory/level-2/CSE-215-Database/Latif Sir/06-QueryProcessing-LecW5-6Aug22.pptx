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2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3.xml" ContentType="application/inkml+xml"/>
  <Override PartName="/ppt/notesSlides/notesSlide2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25.xml" ContentType="application/vnd.openxmlformats-officedocument.presentationml.notesSlide+xml"/>
  <Override PartName="/ppt/ink/ink6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31.xml" ContentType="application/vnd.openxmlformats-officedocument.presentationml.notesSlide+xml"/>
  <Override PartName="/ppt/ink/ink11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2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ink/ink13.xml" ContentType="application/inkml+xml"/>
  <Override PartName="/ppt/notesSlides/notesSlide36.xml" ContentType="application/vnd.openxmlformats-officedocument.presentationml.notesSlide+xml"/>
  <Override PartName="/ppt/ink/ink14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ink/ink15.xml" ContentType="application/inkml+xml"/>
  <Override PartName="/ppt/notesSlides/notesSlide39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40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notesSlides/notesSlide41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1" r:id="rId1"/>
  </p:sldMasterIdLst>
  <p:notesMasterIdLst>
    <p:notesMasterId r:id="rId43"/>
  </p:notesMasterIdLst>
  <p:handoutMasterIdLst>
    <p:handoutMasterId r:id="rId44"/>
  </p:handoutMasterIdLst>
  <p:sldIdLst>
    <p:sldId id="346" r:id="rId2"/>
    <p:sldId id="256" r:id="rId3"/>
    <p:sldId id="279" r:id="rId4"/>
    <p:sldId id="284" r:id="rId5"/>
    <p:sldId id="418" r:id="rId6"/>
    <p:sldId id="419" r:id="rId7"/>
    <p:sldId id="430" r:id="rId8"/>
    <p:sldId id="431" r:id="rId9"/>
    <p:sldId id="432" r:id="rId10"/>
    <p:sldId id="433" r:id="rId11"/>
    <p:sldId id="434" r:id="rId12"/>
    <p:sldId id="286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291" r:id="rId22"/>
    <p:sldId id="293" r:id="rId23"/>
    <p:sldId id="292" r:id="rId24"/>
    <p:sldId id="294" r:id="rId25"/>
    <p:sldId id="451" r:id="rId26"/>
    <p:sldId id="295" r:id="rId27"/>
    <p:sldId id="336" r:id="rId28"/>
    <p:sldId id="296" r:id="rId29"/>
    <p:sldId id="297" r:id="rId30"/>
    <p:sldId id="337" r:id="rId31"/>
    <p:sldId id="305" r:id="rId32"/>
    <p:sldId id="443" r:id="rId33"/>
    <p:sldId id="338" r:id="rId34"/>
    <p:sldId id="444" r:id="rId35"/>
    <p:sldId id="445" r:id="rId36"/>
    <p:sldId id="446" r:id="rId37"/>
    <p:sldId id="447" r:id="rId38"/>
    <p:sldId id="306" r:id="rId39"/>
    <p:sldId id="448" r:id="rId40"/>
    <p:sldId id="339" r:id="rId41"/>
    <p:sldId id="450" r:id="rId42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>
          <p15:clr>
            <a:srgbClr val="A4A3A4"/>
          </p15:clr>
        </p15:guide>
        <p15:guide id="2" pos="5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476" y="72"/>
      </p:cViewPr>
      <p:guideLst>
        <p:guide orient="horz" pos="734"/>
        <p:guide pos="5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bu Sayed Md. Latiful Hoque" userId="5174d372-da8e-4762-8a92-00f46e4b9073" providerId="ADAL" clId="{0EAD324B-30E9-44A8-9E0D-B1224198556D}"/>
    <pc:docChg chg="modSld">
      <pc:chgData name="Dr. Abu Sayed Md. Latiful Hoque" userId="5174d372-da8e-4762-8a92-00f46e4b9073" providerId="ADAL" clId="{0EAD324B-30E9-44A8-9E0D-B1224198556D}" dt="2022-08-22T00:04:05.220" v="10" actId="20577"/>
      <pc:docMkLst>
        <pc:docMk/>
      </pc:docMkLst>
      <pc:sldChg chg="modSp mod">
        <pc:chgData name="Dr. Abu Sayed Md. Latiful Hoque" userId="5174d372-da8e-4762-8a92-00f46e4b9073" providerId="ADAL" clId="{0EAD324B-30E9-44A8-9E0D-B1224198556D}" dt="2022-08-21T23:52:54.014" v="8" actId="13926"/>
        <pc:sldMkLst>
          <pc:docMk/>
          <pc:sldMk cId="0" sldId="291"/>
        </pc:sldMkLst>
        <pc:spChg chg="mod">
          <ac:chgData name="Dr. Abu Sayed Md. Latiful Hoque" userId="5174d372-da8e-4762-8a92-00f46e4b9073" providerId="ADAL" clId="{0EAD324B-30E9-44A8-9E0D-B1224198556D}" dt="2022-08-21T23:52:54.014" v="8" actId="13926"/>
          <ac:spMkLst>
            <pc:docMk/>
            <pc:sldMk cId="0" sldId="291"/>
            <ac:spMk id="68611" creationId="{74D9820F-1360-4789-A03A-243DEC744202}"/>
          </ac:spMkLst>
        </pc:spChg>
      </pc:sldChg>
      <pc:sldChg chg="modSp mod">
        <pc:chgData name="Dr. Abu Sayed Md. Latiful Hoque" userId="5174d372-da8e-4762-8a92-00f46e4b9073" providerId="ADAL" clId="{0EAD324B-30E9-44A8-9E0D-B1224198556D}" dt="2022-08-22T00:04:05.220" v="10" actId="20577"/>
        <pc:sldMkLst>
          <pc:docMk/>
          <pc:sldMk cId="0" sldId="295"/>
        </pc:sldMkLst>
        <pc:spChg chg="mod">
          <ac:chgData name="Dr. Abu Sayed Md. Latiful Hoque" userId="5174d372-da8e-4762-8a92-00f46e4b9073" providerId="ADAL" clId="{0EAD324B-30E9-44A8-9E0D-B1224198556D}" dt="2022-08-22T00:04:05.220" v="10" actId="20577"/>
          <ac:spMkLst>
            <pc:docMk/>
            <pc:sldMk cId="0" sldId="295"/>
            <ac:spMk id="76803" creationId="{E22CD1C5-A5E7-4586-9733-7EBAE6D11015}"/>
          </ac:spMkLst>
        </pc:spChg>
      </pc:sldChg>
    </pc:docChg>
  </pc:docChgLst>
  <pc:docChgLst>
    <pc:chgData name="Dr. Abu Sayed Md. Latiful Hoque" userId="5174d372-da8e-4762-8a92-00f46e4b9073" providerId="ADAL" clId="{0FD0A1A0-82CB-4F77-AB94-458865E84204}"/>
    <pc:docChg chg="custSel addSld delSld modSld">
      <pc:chgData name="Dr. Abu Sayed Md. Latiful Hoque" userId="5174d372-da8e-4762-8a92-00f46e4b9073" providerId="ADAL" clId="{0FD0A1A0-82CB-4F77-AB94-458865E84204}" dt="2022-08-22T02:25:26.546" v="288" actId="14100"/>
      <pc:docMkLst>
        <pc:docMk/>
      </pc:docMkLst>
      <pc:sldChg chg="modSp mod">
        <pc:chgData name="Dr. Abu Sayed Md. Latiful Hoque" userId="5174d372-da8e-4762-8a92-00f46e4b9073" providerId="ADAL" clId="{0FD0A1A0-82CB-4F77-AB94-458865E84204}" dt="2022-08-16T02:10:21.188" v="11" actId="12"/>
        <pc:sldMkLst>
          <pc:docMk/>
          <pc:sldMk cId="0" sldId="256"/>
        </pc:sldMkLst>
        <pc:spChg chg="mod">
          <ac:chgData name="Dr. Abu Sayed Md. Latiful Hoque" userId="5174d372-da8e-4762-8a92-00f46e4b9073" providerId="ADAL" clId="{0FD0A1A0-82CB-4F77-AB94-458865E84204}" dt="2022-08-16T02:10:21.188" v="11" actId="12"/>
          <ac:spMkLst>
            <pc:docMk/>
            <pc:sldMk cId="0" sldId="256"/>
            <ac:spMk id="7171" creationId="{B04C8AB1-093B-4BD3-B57D-1117443AEF6C}"/>
          </ac:spMkLst>
        </pc:spChg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0" sldId="272"/>
        </pc:sldMkLst>
      </pc:sldChg>
      <pc:sldChg chg="modSp mod">
        <pc:chgData name="Dr. Abu Sayed Md. Latiful Hoque" userId="5174d372-da8e-4762-8a92-00f46e4b9073" providerId="ADAL" clId="{0FD0A1A0-82CB-4F77-AB94-458865E84204}" dt="2022-08-16T02:32:34.579" v="15" actId="6549"/>
        <pc:sldMkLst>
          <pc:docMk/>
          <pc:sldMk cId="0" sldId="291"/>
        </pc:sldMkLst>
        <pc:spChg chg="mod">
          <ac:chgData name="Dr. Abu Sayed Md. Latiful Hoque" userId="5174d372-da8e-4762-8a92-00f46e4b9073" providerId="ADAL" clId="{0FD0A1A0-82CB-4F77-AB94-458865E84204}" dt="2022-08-16T02:32:34.579" v="15" actId="6549"/>
          <ac:spMkLst>
            <pc:docMk/>
            <pc:sldMk cId="0" sldId="291"/>
            <ac:spMk id="68611" creationId="{74D9820F-1360-4789-A03A-243DEC744202}"/>
          </ac:spMkLst>
        </pc:spChg>
      </pc:sldChg>
      <pc:sldChg chg="modSp mod modShow">
        <pc:chgData name="Dr. Abu Sayed Md. Latiful Hoque" userId="5174d372-da8e-4762-8a92-00f46e4b9073" providerId="ADAL" clId="{0FD0A1A0-82CB-4F77-AB94-458865E84204}" dt="2022-08-22T02:04:27.100" v="51" actId="729"/>
        <pc:sldMkLst>
          <pc:docMk/>
          <pc:sldMk cId="0" sldId="292"/>
        </pc:sldMkLst>
        <pc:spChg chg="mod">
          <ac:chgData name="Dr. Abu Sayed Md. Latiful Hoque" userId="5174d372-da8e-4762-8a92-00f46e4b9073" providerId="ADAL" clId="{0FD0A1A0-82CB-4F77-AB94-458865E84204}" dt="2022-08-16T02:33:07.637" v="18" actId="14100"/>
          <ac:spMkLst>
            <pc:docMk/>
            <pc:sldMk cId="0" sldId="292"/>
            <ac:spMk id="72707" creationId="{2BB958A5-6618-4B98-BAA4-FEA5A47509CF}"/>
          </ac:spMkLst>
        </pc:spChg>
      </pc:sldChg>
      <pc:sldChg chg="addSp delSp modSp mod">
        <pc:chgData name="Dr. Abu Sayed Md. Latiful Hoque" userId="5174d372-da8e-4762-8a92-00f46e4b9073" providerId="ADAL" clId="{0FD0A1A0-82CB-4F77-AB94-458865E84204}" dt="2022-08-22T02:21:55.044" v="118" actId="1076"/>
        <pc:sldMkLst>
          <pc:docMk/>
          <pc:sldMk cId="0" sldId="294"/>
        </pc:sldMkLst>
        <pc:spChg chg="add del mod">
          <ac:chgData name="Dr. Abu Sayed Md. Latiful Hoque" userId="5174d372-da8e-4762-8a92-00f46e4b9073" providerId="ADAL" clId="{0FD0A1A0-82CB-4F77-AB94-458865E84204}" dt="2022-08-22T02:19:58.167" v="109" actId="478"/>
          <ac:spMkLst>
            <pc:docMk/>
            <pc:sldMk cId="0" sldId="294"/>
            <ac:spMk id="7" creationId="{2B80D59F-7A2F-23DD-372A-D1CA1BE72868}"/>
          </ac:spMkLst>
        </pc:spChg>
        <pc:spChg chg="mod">
          <ac:chgData name="Dr. Abu Sayed Md. Latiful Hoque" userId="5174d372-da8e-4762-8a92-00f46e4b9073" providerId="ADAL" clId="{0FD0A1A0-82CB-4F77-AB94-458865E84204}" dt="2022-08-22T02:13:35.825" v="87" actId="1076"/>
          <ac:spMkLst>
            <pc:docMk/>
            <pc:sldMk cId="0" sldId="294"/>
            <ac:spMk id="74755" creationId="{F63281CE-1FCD-42D4-BD4A-8D618E6CF08A}"/>
          </ac:spMkLst>
        </pc:spChg>
        <pc:spChg chg="mod">
          <ac:chgData name="Dr. Abu Sayed Md. Latiful Hoque" userId="5174d372-da8e-4762-8a92-00f46e4b9073" providerId="ADAL" clId="{0FD0A1A0-82CB-4F77-AB94-458865E84204}" dt="2022-08-22T02:20:02.541" v="110" actId="1076"/>
          <ac:spMkLst>
            <pc:docMk/>
            <pc:sldMk cId="0" sldId="294"/>
            <ac:spMk id="74756" creationId="{45789630-8926-4A06-8E70-2E740D63B85E}"/>
          </ac:spMkLst>
        </pc:spChg>
        <pc:spChg chg="mod">
          <ac:chgData name="Dr. Abu Sayed Md. Latiful Hoque" userId="5174d372-da8e-4762-8a92-00f46e4b9073" providerId="ADAL" clId="{0FD0A1A0-82CB-4F77-AB94-458865E84204}" dt="2022-08-22T02:13:31.357" v="86" actId="1076"/>
          <ac:spMkLst>
            <pc:docMk/>
            <pc:sldMk cId="0" sldId="294"/>
            <ac:spMk id="74757" creationId="{692CBE19-D556-4D45-83B8-A73BB61FEAFF}"/>
          </ac:spMkLst>
        </pc:spChg>
        <pc:spChg chg="del">
          <ac:chgData name="Dr. Abu Sayed Md. Latiful Hoque" userId="5174d372-da8e-4762-8a92-00f46e4b9073" providerId="ADAL" clId="{0FD0A1A0-82CB-4F77-AB94-458865E84204}" dt="2022-08-22T02:19:54.746" v="108" actId="478"/>
          <ac:spMkLst>
            <pc:docMk/>
            <pc:sldMk cId="0" sldId="294"/>
            <ac:spMk id="343042" creationId="{4C19BC0B-9814-430F-B171-DC17AF515FB7}"/>
          </ac:spMkLst>
        </pc:spChg>
        <pc:graphicFrameChg chg="add del mod modGraphic">
          <ac:chgData name="Dr. Abu Sayed Md. Latiful Hoque" userId="5174d372-da8e-4762-8a92-00f46e4b9073" providerId="ADAL" clId="{0FD0A1A0-82CB-4F77-AB94-458865E84204}" dt="2022-08-22T02:14:19.846" v="95" actId="21"/>
          <ac:graphicFrameMkLst>
            <pc:docMk/>
            <pc:sldMk cId="0" sldId="294"/>
            <ac:graphicFrameMk id="2" creationId="{D1FBC577-10D8-B6F8-627E-FDC859418028}"/>
          </ac:graphicFrameMkLst>
        </pc:graphicFrameChg>
        <pc:graphicFrameChg chg="add del mod modGraphic">
          <ac:chgData name="Dr. Abu Sayed Md. Latiful Hoque" userId="5174d372-da8e-4762-8a92-00f46e4b9073" providerId="ADAL" clId="{0FD0A1A0-82CB-4F77-AB94-458865E84204}" dt="2022-08-22T02:16:01.446" v="99" actId="21"/>
          <ac:graphicFrameMkLst>
            <pc:docMk/>
            <pc:sldMk cId="0" sldId="294"/>
            <ac:graphicFrameMk id="3" creationId="{D02CB309-E8B8-3E79-9E46-B2E742613431}"/>
          </ac:graphicFrameMkLst>
        </pc:graphicFrameChg>
        <pc:graphicFrameChg chg="add del mod">
          <ac:chgData name="Dr. Abu Sayed Md. Latiful Hoque" userId="5174d372-da8e-4762-8a92-00f46e4b9073" providerId="ADAL" clId="{0FD0A1A0-82CB-4F77-AB94-458865E84204}" dt="2022-08-22T02:21:48.280" v="116" actId="478"/>
          <ac:graphicFrameMkLst>
            <pc:docMk/>
            <pc:sldMk cId="0" sldId="294"/>
            <ac:graphicFrameMk id="5" creationId="{16CE44B8-6A7E-478C-1083-8E84EEADCCAC}"/>
          </ac:graphicFrameMkLst>
        </pc:graphicFrameChg>
        <pc:graphicFrameChg chg="add mod">
          <ac:chgData name="Dr. Abu Sayed Md. Latiful Hoque" userId="5174d372-da8e-4762-8a92-00f46e4b9073" providerId="ADAL" clId="{0FD0A1A0-82CB-4F77-AB94-458865E84204}" dt="2022-08-22T02:21:29.814" v="115" actId="1076"/>
          <ac:graphicFrameMkLst>
            <pc:docMk/>
            <pc:sldMk cId="0" sldId="294"/>
            <ac:graphicFrameMk id="8" creationId="{F43E265D-3C2D-F153-4780-B54BABCBF267}"/>
          </ac:graphicFrameMkLst>
        </pc:graphicFrameChg>
        <pc:graphicFrameChg chg="add mod">
          <ac:chgData name="Dr. Abu Sayed Md. Latiful Hoque" userId="5174d372-da8e-4762-8a92-00f46e4b9073" providerId="ADAL" clId="{0FD0A1A0-82CB-4F77-AB94-458865E84204}" dt="2022-08-22T02:21:55.044" v="118" actId="1076"/>
          <ac:graphicFrameMkLst>
            <pc:docMk/>
            <pc:sldMk cId="0" sldId="294"/>
            <ac:graphicFrameMk id="9" creationId="{26DEA094-45A2-0888-0C31-1DB23683F89A}"/>
          </ac:graphicFrameMkLst>
        </pc:graphicFrameChg>
        <pc:picChg chg="add del mod">
          <ac:chgData name="Dr. Abu Sayed Md. Latiful Hoque" userId="5174d372-da8e-4762-8a92-00f46e4b9073" providerId="ADAL" clId="{0FD0A1A0-82CB-4F77-AB94-458865E84204}" dt="2022-08-22T02:21:20.504" v="113" actId="478"/>
          <ac:picMkLst>
            <pc:docMk/>
            <pc:sldMk cId="0" sldId="294"/>
            <ac:picMk id="4" creationId="{CC723B3C-2E62-49D4-965E-1CBEF28BB17B}"/>
          </ac:picMkLst>
        </pc:picChg>
      </pc:sldChg>
      <pc:sldChg chg="modSp mod">
        <pc:chgData name="Dr. Abu Sayed Md. Latiful Hoque" userId="5174d372-da8e-4762-8a92-00f46e4b9073" providerId="ADAL" clId="{0FD0A1A0-82CB-4F77-AB94-458865E84204}" dt="2022-08-16T02:42:05.280" v="42" actId="403"/>
        <pc:sldMkLst>
          <pc:docMk/>
          <pc:sldMk cId="0" sldId="295"/>
        </pc:sldMkLst>
        <pc:spChg chg="mod">
          <ac:chgData name="Dr. Abu Sayed Md. Latiful Hoque" userId="5174d372-da8e-4762-8a92-00f46e4b9073" providerId="ADAL" clId="{0FD0A1A0-82CB-4F77-AB94-458865E84204}" dt="2022-08-16T02:42:05.280" v="42" actId="403"/>
          <ac:spMkLst>
            <pc:docMk/>
            <pc:sldMk cId="0" sldId="295"/>
            <ac:spMk id="76803" creationId="{E22CD1C5-A5E7-4586-9733-7EBAE6D11015}"/>
          </ac:spMkLst>
        </pc:spChg>
      </pc:sldChg>
      <pc:sldChg chg="modSp mod">
        <pc:chgData name="Dr. Abu Sayed Md. Latiful Hoque" userId="5174d372-da8e-4762-8a92-00f46e4b9073" providerId="ADAL" clId="{0FD0A1A0-82CB-4F77-AB94-458865E84204}" dt="2022-08-22T02:06:46.620" v="67" actId="13926"/>
        <pc:sldMkLst>
          <pc:docMk/>
          <pc:sldMk cId="0" sldId="296"/>
        </pc:sldMkLst>
        <pc:spChg chg="mod">
          <ac:chgData name="Dr. Abu Sayed Md. Latiful Hoque" userId="5174d372-da8e-4762-8a92-00f46e4b9073" providerId="ADAL" clId="{0FD0A1A0-82CB-4F77-AB94-458865E84204}" dt="2022-08-22T02:06:46.620" v="67" actId="13926"/>
          <ac:spMkLst>
            <pc:docMk/>
            <pc:sldMk cId="0" sldId="296"/>
            <ac:spMk id="345090" creationId="{D3F5826D-9034-43DA-8D33-561C155084B9}"/>
          </ac:spMkLst>
        </pc:spChg>
      </pc:sldChg>
      <pc:sldChg chg="modSp mod">
        <pc:chgData name="Dr. Abu Sayed Md. Latiful Hoque" userId="5174d372-da8e-4762-8a92-00f46e4b9073" providerId="ADAL" clId="{0FD0A1A0-82CB-4F77-AB94-458865E84204}" dt="2022-08-22T02:07:12.208" v="81" actId="13926"/>
        <pc:sldMkLst>
          <pc:docMk/>
          <pc:sldMk cId="0" sldId="297"/>
        </pc:sldMkLst>
        <pc:spChg chg="mod">
          <ac:chgData name="Dr. Abu Sayed Md. Latiful Hoque" userId="5174d372-da8e-4762-8a92-00f46e4b9073" providerId="ADAL" clId="{0FD0A1A0-82CB-4F77-AB94-458865E84204}" dt="2022-08-22T02:07:12.208" v="81" actId="13926"/>
          <ac:spMkLst>
            <pc:docMk/>
            <pc:sldMk cId="0" sldId="297"/>
            <ac:spMk id="346114" creationId="{3013F738-F002-4DED-94F4-70D33E2E26AE}"/>
          </ac:spMkLst>
        </pc:spChg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2040641890" sldId="389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1635099177" sldId="390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3185463087" sldId="391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4208229538" sldId="399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0" sldId="407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0" sldId="408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0" sldId="409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425028668" sldId="410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2364832004" sldId="411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2220695520" sldId="412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3347243063" sldId="413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328805342" sldId="414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2568881174" sldId="415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1048411923" sldId="416"/>
        </pc:sldMkLst>
      </pc:sldChg>
      <pc:sldChg chg="del">
        <pc:chgData name="Dr. Abu Sayed Md. Latiful Hoque" userId="5174d372-da8e-4762-8a92-00f46e4b9073" providerId="ADAL" clId="{0FD0A1A0-82CB-4F77-AB94-458865E84204}" dt="2022-08-14T05:23:19.317" v="0" actId="2696"/>
        <pc:sldMkLst>
          <pc:docMk/>
          <pc:sldMk cId="1432625543" sldId="417"/>
        </pc:sldMkLst>
      </pc:sldChg>
      <pc:sldChg chg="modSp mod">
        <pc:chgData name="Dr. Abu Sayed Md. Latiful Hoque" userId="5174d372-da8e-4762-8a92-00f46e4b9073" providerId="ADAL" clId="{0FD0A1A0-82CB-4F77-AB94-458865E84204}" dt="2022-08-14T05:31:13.921" v="5" actId="20577"/>
        <pc:sldMkLst>
          <pc:docMk/>
          <pc:sldMk cId="2611041018" sldId="441"/>
        </pc:sldMkLst>
        <pc:spChg chg="mod">
          <ac:chgData name="Dr. Abu Sayed Md. Latiful Hoque" userId="5174d372-da8e-4762-8a92-00f46e4b9073" providerId="ADAL" clId="{0FD0A1A0-82CB-4F77-AB94-458865E84204}" dt="2022-08-14T05:31:13.921" v="5" actId="20577"/>
          <ac:spMkLst>
            <pc:docMk/>
            <pc:sldMk cId="2611041018" sldId="441"/>
            <ac:spMk id="4" creationId="{8F30DFF1-44AE-4AE3-8664-FCB79712E51E}"/>
          </ac:spMkLst>
        </pc:spChg>
      </pc:sldChg>
      <pc:sldChg chg="modSp">
        <pc:chgData name="Dr. Abu Sayed Md. Latiful Hoque" userId="5174d372-da8e-4762-8a92-00f46e4b9073" providerId="ADAL" clId="{0FD0A1A0-82CB-4F77-AB94-458865E84204}" dt="2022-08-14T05:31:45.967" v="10" actId="20577"/>
        <pc:sldMkLst>
          <pc:docMk/>
          <pc:sldMk cId="1580979656" sldId="443"/>
        </pc:sldMkLst>
        <pc:spChg chg="mod">
          <ac:chgData name="Dr. Abu Sayed Md. Latiful Hoque" userId="5174d372-da8e-4762-8a92-00f46e4b9073" providerId="ADAL" clId="{0FD0A1A0-82CB-4F77-AB94-458865E84204}" dt="2022-08-14T05:31:45.967" v="10" actId="20577"/>
          <ac:spMkLst>
            <pc:docMk/>
            <pc:sldMk cId="1580979656" sldId="443"/>
            <ac:spMk id="102403" creationId="{AB83BF51-4205-4CC7-9E7F-33401B9B87AD}"/>
          </ac:spMkLst>
        </pc:spChg>
      </pc:sldChg>
      <pc:sldChg chg="modSp add del mod">
        <pc:chgData name="Dr. Abu Sayed Md. Latiful Hoque" userId="5174d372-da8e-4762-8a92-00f46e4b9073" providerId="ADAL" clId="{0FD0A1A0-82CB-4F77-AB94-458865E84204}" dt="2022-08-16T02:43:50.128" v="46" actId="2696"/>
        <pc:sldMkLst>
          <pc:docMk/>
          <pc:sldMk cId="773828050" sldId="451"/>
        </pc:sldMkLst>
        <pc:spChg chg="mod">
          <ac:chgData name="Dr. Abu Sayed Md. Latiful Hoque" userId="5174d372-da8e-4762-8a92-00f46e4b9073" providerId="ADAL" clId="{0FD0A1A0-82CB-4F77-AB94-458865E84204}" dt="2022-08-16T02:42:23.532" v="45" actId="403"/>
          <ac:spMkLst>
            <pc:docMk/>
            <pc:sldMk cId="773828050" sldId="451"/>
            <ac:spMk id="76803" creationId="{E22CD1C5-A5E7-4586-9733-7EBAE6D11015}"/>
          </ac:spMkLst>
        </pc:spChg>
      </pc:sldChg>
      <pc:sldChg chg="modSp add mod">
        <pc:chgData name="Dr. Abu Sayed Md. Latiful Hoque" userId="5174d372-da8e-4762-8a92-00f46e4b9073" providerId="ADAL" clId="{0FD0A1A0-82CB-4F77-AB94-458865E84204}" dt="2022-08-22T02:25:26.546" v="288" actId="14100"/>
        <pc:sldMkLst>
          <pc:docMk/>
          <pc:sldMk cId="3382236897" sldId="451"/>
        </pc:sldMkLst>
        <pc:spChg chg="mod">
          <ac:chgData name="Dr. Abu Sayed Md. Latiful Hoque" userId="5174d372-da8e-4762-8a92-00f46e4b9073" providerId="ADAL" clId="{0FD0A1A0-82CB-4F77-AB94-458865E84204}" dt="2022-08-22T02:24:06.844" v="256" actId="1076"/>
          <ac:spMkLst>
            <pc:docMk/>
            <pc:sldMk cId="3382236897" sldId="451"/>
            <ac:spMk id="74755" creationId="{F63281CE-1FCD-42D4-BD4A-8D618E6CF08A}"/>
          </ac:spMkLst>
        </pc:spChg>
        <pc:spChg chg="mod">
          <ac:chgData name="Dr. Abu Sayed Md. Latiful Hoque" userId="5174d372-da8e-4762-8a92-00f46e4b9073" providerId="ADAL" clId="{0FD0A1A0-82CB-4F77-AB94-458865E84204}" dt="2022-08-22T02:24:03.157" v="255" actId="1076"/>
          <ac:spMkLst>
            <pc:docMk/>
            <pc:sldMk cId="3382236897" sldId="451"/>
            <ac:spMk id="74756" creationId="{45789630-8926-4A06-8E70-2E740D63B85E}"/>
          </ac:spMkLst>
        </pc:spChg>
        <pc:spChg chg="mod">
          <ac:chgData name="Dr. Abu Sayed Md. Latiful Hoque" userId="5174d372-da8e-4762-8a92-00f46e4b9073" providerId="ADAL" clId="{0FD0A1A0-82CB-4F77-AB94-458865E84204}" dt="2022-08-22T02:25:26.546" v="288" actId="14100"/>
          <ac:spMkLst>
            <pc:docMk/>
            <pc:sldMk cId="3382236897" sldId="451"/>
            <ac:spMk id="74757" creationId="{692CBE19-D556-4D45-83B8-A73BB61FEAFF}"/>
          </ac:spMkLst>
        </pc:spChg>
      </pc:sldChg>
      <pc:sldChg chg="new del">
        <pc:chgData name="Dr. Abu Sayed Md. Latiful Hoque" userId="5174d372-da8e-4762-8a92-00f46e4b9073" providerId="ADAL" clId="{0FD0A1A0-82CB-4F77-AB94-458865E84204}" dt="2022-08-16T03:02:46.897" v="49" actId="2696"/>
        <pc:sldMkLst>
          <pc:docMk/>
          <pc:sldMk cId="3443252915" sldId="451"/>
        </pc:sldMkLst>
      </pc:sldChg>
      <pc:sldChg chg="new del">
        <pc:chgData name="Dr. Abu Sayed Md. Latiful Hoque" userId="5174d372-da8e-4762-8a92-00f46e4b9073" providerId="ADAL" clId="{0FD0A1A0-82CB-4F77-AB94-458865E84204}" dt="2022-08-16T03:02:52.335" v="50" actId="2696"/>
        <pc:sldMkLst>
          <pc:docMk/>
          <pc:sldMk cId="3185937614" sldId="45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0FBDC9D0-A016-41F3-B44A-F8BD82360C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90805737-772D-46C8-8FC5-72B9150410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0" name="Rectangle 4">
            <a:extLst>
              <a:ext uri="{FF2B5EF4-FFF2-40B4-BE49-F238E27FC236}">
                <a16:creationId xmlns:a16="http://schemas.microsoft.com/office/drawing/2014/main" id="{2B4D82F3-758C-404E-BA35-55A8245BE5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1" name="Rectangle 5">
            <a:extLst>
              <a:ext uri="{FF2B5EF4-FFF2-40B4-BE49-F238E27FC236}">
                <a16:creationId xmlns:a16="http://schemas.microsoft.com/office/drawing/2014/main" id="{CEA8EB95-7681-446E-87F9-995081C1C77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/>
            </a:lvl1pPr>
          </a:lstStyle>
          <a:p>
            <a:pPr>
              <a:defRPr/>
            </a:pPr>
            <a:fld id="{119CE09D-DE5D-44E4-9C09-1DDE59E231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298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6T18:25:50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3870 4837 0,'0'-25'109,"49"25"-93,-24 25 15,25 0-15,24-25 31,1 0-47,-1 0 15,50-75 17,50-74-32,-100 75 15,-24 24 1,-25 50-16,-25-24 31,49-26 16,-24 25-47,0 0 16</inkml:trace>
  <inkml:trace contextRef="#ctx0" brushRef="#br0" timeOffset="1164.4">3845 5333 0,'25'0'32,"24"25"14,-24-25-14,0 0-17,0 25-15,0 49 16,0 0 0,-1-74-1,1 0 1,0 25-1,-25 0 17,50-25 15,-26 0-16,26 0-16,99-149 1,24-24 0,-123 98-1,0 50 1,-26 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00:11.6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3597 6499 0,'50'-25'125,"49"25"-125,99 0 15,1 0 1,222 0 0,-272 0-16,149 0 15,-149 0 1,-25 0-1,99 0 1,124 0 0,100 0-1,-26 0 1,-123 0 15,-99 0-15,24 0-1,-50 0-15,125 0 32,-25-50-17,99 26 1,0-1 0,75-50-1,-224 51 1,-99-1-1,-75 25 1</inkml:trace>
  <inkml:trace contextRef="#ctx0" brushRef="#br0" timeOffset="1893.96">22126 4589 0,'0'25'78,"25"49"-78,-25-24 16,0-26-1,0 26-15,25 25 31,0-75 32,-1 0-63,51 0 16,24-75-16,0-24 15,50-100 1,49-98-1,-98 148 1,-51 50 0,-24 49-1,-25 25 17,25 1-17</inkml:trace>
  <inkml:trace contextRef="#ctx0" brushRef="#br0" timeOffset="3008.45">22548 4440 0,'-25'50'62,"25"-26"-46,0 26-16,0-25 15,0 49 1,0-49 0,25-25-1,0 50 1,-1-50 0,26 49-1,0-24 1,-26-25-1,26 0 64,-25 0-79,74-25 0,75-173 31,-25-100-16,-75 149 1,0-24 0,-49 74-1,25 49 1,-50 25 0,25 0-1,-25 1-15,0-1 47</inkml:trace>
  <inkml:trace contextRef="#ctx0" brushRef="#br0" timeOffset="5537.11">6276 5680 0,'149'0'141,"148"0"-126,1 0-15,0 0 16,-1 0-1,274 0 1,-174 0 0,-199 0-1,-272 0 204,-25 0-203,-25 25-16,-25-25 15,50 0 1,24 0 0,-24 0-1,-100 0 1,26 0-1,24 0 17,75 0-17,-1 0-15,-24 0 32,49 0-32,1 0 15,-1 0 1,25 0 15</inkml:trace>
  <inkml:trace contextRef="#ctx0" brushRef="#br0" timeOffset="9709.87">13494 7317 0,'50'0'172,"421"0"-172,-99 0 16,-49 0-16,49 0 15,297 0 1,-98 0 0,-199 0-1,-223 0-15,173 25 16,-123-25 15,73 0-15,76 50-16,73-25 31,-73-25-15,-100 0-1,-174 0 1,-49 0 0</inkml:trace>
  <inkml:trace contextRef="#ctx0" brushRef="#br0" timeOffset="42752.3">8037 4316 0,'50'25'156,"74"-50"-156,0 0 16,0-24-16,0 24 15,124 0 1,0-74 0,-25 24-1,-24 26 1,-100 49 0,50 0-1,24 0 16,50 0-15,-74 0 0,-74 0-1,-50-25 1,-1 25 31,1 0-32,0 0 1,0 0 0</inkml:trace>
  <inkml:trace contextRef="#ctx0" brushRef="#br0" timeOffset="44126.52">12353 4192 0,'124'0'140,"50"50"-124,24 24-16,50-49 16,50 49-1,372 1 1,24 24-1,-99-74 1,-98-25 0,-125 0-1,124-75 1,-273 50 0,-49 1-1,-100 24 1</inkml:trace>
  <inkml:trace contextRef="#ctx0" brushRef="#br0" timeOffset="93490.18">13519 7317 0,'0'-24'94,"-25"-1"-79,0 0 1,25 0 0,0 0-16,-25 25 15,1-24 1,-1-26 78,25 25-79,0 0-15,-25 1 16,25-1 31,0 0-32,0 0-15,0 0 16,0 1 0,0-1-1,0-25 1,25 0 0,0 26 15,-25-1-16,24 0 1,1 0 0,0-24-1,0 24-15,25-25 16,-26 50 0,1-25-1,0 25 1,49-24-1,-49 24 1,25 0 0,24 0-1,-24-25 1,49 25 0,-74 0 15,49 0-16,-24 0 1,49 0 0,25 0-1,-74 0 1,24 0 0,25 0-1,-24 0 1,24 0-1,-49 0 1,-1 0 0,-24 0-1,49 0 1,50 0 15,-24 0-15,73 0-1,-24 0 1,-50 0 0,50 0-1,0 0 1,-50 0 0,-49 0-1,-1 0 1,51 0-1,-76 0 1,26 0 0,0 0-1,24 0 1,-24 0 15,-26 0-15,1 0 109,0 0-125,25 0 15,-26 25-15,1-1 16,-25 1 0,0 0 15,25 0-31,-25 0 31,0-1-15,0 1-1,0 0 1,0 49 0,0-49-1,0 0 1,0 0 0,0 25-1,25-26 1,-25 26-1,0 24 1,0-24 0,0 24-1,0 1 1,0-50 15,0-1-31,0 26 16,0-25 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5:52:55.1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7467 7689 0,'49'0'31,"-24"0"-31,25 0 16,-26 0-16,26 0 15,49 0 1,50 0 0,25 0-1,49 0 1,75 0 15,-100 0-31,-49 0 31,-25 0-15,-25 0 0,-25 0-16,-24 0 15,0 0-15,123 0 16,-49 0 0,50 0-1,-50 0 1,50 0-1,24 0 1,1 0 0,24 0-1,-99 0 1,-75 0 0,26 0-1,-50 0 1,148 0-1,75 0 1,50 0 0,-25 0-1,-75 0 1,-24 0 0,24 0-1,26 0 1,48 0-1,1 0 1,25 0 0,-50 0-1,0 0 1,-124 0 15,-25 0-31,-24 0 16,49 0-1,25 0 17,-1 0-17,1 0 1,74 0 0,-24 0-1,-26 0 1,-148 0-16,50 0 15,-26 0 1,51 0 15,-26 0-31,50-24 16,50 24 0,-50 0-1,49-50 1,-24 50 15,-99 0-31,-25 0 16,-1 0 15,1 0-15,0 0 15,0 0-16,74 0 95,-49 0-95</inkml:trace>
  <inkml:trace contextRef="#ctx0" brushRef="#br0" timeOffset="2341.56">15727 8979 0,'49'0'31,"174"0"-31,149 75 16,125-75-1,-76 0 1,-173 0 0,-173 0 15,-51 0-16</inkml:trace>
  <inkml:trace contextRef="#ctx0" brushRef="#br0" timeOffset="4127.92">5284 9599 0,'25'0'62,"74"0"-46,-50 0-16,199 25 16,50 0 15,223-25-15,174 0-1,-51 0 1,-271 0-1,-274 0 1</inkml:trace>
  <inkml:trace contextRef="#ctx0" brushRef="#br0" timeOffset="5026.56">11088 9996 0,'0'25'31,"25"-25"-15,74 0-16,298 0 16,-99 0-16,322 0 31,-323 0-31,199 0 16,-322-25-1,-124 25 1,-25 0-1,-1 0 17,1 0-17,0 0 1</inkml:trace>
  <inkml:trace contextRef="#ctx0" brushRef="#br0" timeOffset="18002.53">22498 6102 0,'25'0'141,"25"50"-141,-1-26 15,50 100 1,1 25-1,-26 0 1,-24-99 0,-26-26-16,1-73 93,25-1-93,-25-74 16,-25 25 0,74-124-1,-24 49 1,-1-49 0,1 124-1,-25-75 1,0 149-1,-1 25 110</inkml:trace>
  <inkml:trace contextRef="#ctx0" brushRef="#br0" timeOffset="19014.49">22920 5928 0,'25'0'62,"49"50"-62,-49-50 16,25 25-1,-26-25-15,76 49 16,-76-24 0,51 25-1,-50-25 32,-1-25 0,26 0 0,0-25-31,-50-50-1,74-73-15,100-150 16,24-49 15,-124 99-15,1 99-1,-75 74 1,0 50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5:54:44.4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18108 5705 0,'25'25'62,"24"-25"-62,1 0 16,-25 0-1,74 0 1,0 0 0,-25 0-1,75 0 1,50 0-1,-50 0 1,49-25 0,-99 25-1,0-25 1,100 0 15,24-24-31,0-26 16,50 1-1,-149 49 1,-49 25 0,-26 0 15,26 0-31,-1 0 16,50 0 15,75 0-16,-125 0 1,0 0-16,1 0 16,-50 0-1,24 0 1,-24 0 0,25 0-1,49 0 1,-50 0 15,-24 0-31,0 0 16</inkml:trace>
  <inkml:trace contextRef="#ctx0" brushRef="#br0" timeOffset="1730.6">17314 6449 0,'25'0'47,"24"0"-31,1 0-1,24 0 1,26 0-16,98 0 15,50 0 1,99 0 0,100 0-1,49 0 1,-74 0 0,-149 0-1,123 0 16,-98 0-15,-50 0 0,-25 0-1,50 0 1,74 0 0,50 0-1,25 0 1,-100-74-1,-49 49 1,-99 0 0,-124 25-1,49-25 1,0 25 15,-49 0-31,-1 0 16,26 0 15,-1 0-15,-49 0-1</inkml:trace>
  <inkml:trace contextRef="#ctx0" brushRef="#br0" timeOffset="2564.13">16099 7119 0,'0'25'32,"124"-25"-17,-50 25-15,-49-25 16,49 0-16,125 24 15,49-24 1,74 0 0,-74 0-1,-74 0 1,-50 0 0,-25 0-1,-74 0 16</inkml:trace>
  <inkml:trace contextRef="#ctx0" brushRef="#br0" timeOffset="65042.9">23639 6325 0,'-25'0'109,"1"0"-93,-1-25-16,25 1 16,0-1 15,0-25-16,0 25 32,-25 25-31,25-24 0,0-1-1,0 0 1,0-25 15,0 1 0,0-26 1,0 26-17,25 24 1,-25 0-1,25 0 1,-1-24 0,1 24-1,25-25 17,-25 25-1,49 1-16,25-1 1,-74 0 0,25 25 15,-26 0-31,26 0 31,49-25-15,-74 25-1,0 0-15,0 0 16,0 0-16,24 0 16,26 0-1,-1 0 1,0 0 0,-49 0-1,25 0 1,-25 0-1,24 0 1,-24 0 47,0 0-48,-25 25 1,25 0-1,-1-25-15,-24 25 16,0-1 0,25 1-1,-25 25 1,25-25 0,0 24 15,0-49-16,-1 25 17,1 0-1,-25 0-15,25 49-1,0-49 16,0 0 1,-1 0-17,-24-1 48,0 1-48,0 25 1,0-25 31,0-1-31,-24 1-16,-26 25 15,-49 24 1,74-49-1,-49 0 1,49-25 47,0 25-63,0-25 15,-49 24 32,24-24-31,1 25-1,24-25 32,0 0-31,0 0-16,0 0 15,-24 0-15,24 0 16,0 0 0,0 0 15,-24 0 16,-1 0-32,-49 0 1,49 0 0,-24 0-1,49 0 1,0 0 15,-24 50-31,24-50 94,0 0-94,0 0 125,0 0-125,1 0 16,-1 0-1,0 0 1,-25-25-1,26 25 1,-1-25 0,0 0 15,0 1-15,0-1-1,25-25 454,0 25-453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05:30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19224 18132 0,'25'0'141,"49"0"-141,25 0 15,149-25 1,-49 1 0,49-51-1,25 50 1,0 1-1,-25-51 1,-149 50-16,25 25 16,99-49-1,-49 49 17,-25 0-17,-25 0 1,0 0-1,-50 0 1,75 0 0,-50 0-1,-24 0 1,-1 0 0,0 0-1,-24 0 1,0 0-1,-1 0 1,-74 0 328,1 0-329,-26 0-15,25 0 16,0 0 0,1 0-1</inkml:trace>
  <inkml:trace contextRef="#ctx0" brushRef="#br0" timeOffset="1569.16">9377 17959 0,'198'0'109,"50"0"-93,0 0-16,124 0 16,-74 0-1,24 0-15,298 0 16,-198 0-1,-199 0 1,-173 0 0</inkml:trace>
  <inkml:trace contextRef="#ctx0" brushRef="#br0" timeOffset="2498.66">11931 16842 0,'25'100'78,"25"-51"-78,-1 75 16,1-99-1,-25 49 1,0-74-16,-25 50 16,24-50-1,-24 25 16,25-25-15,0 0 0,74-25-1,50-74 1,50-75 0,73-74-1,-98 99-15,-25-49 16,297-249 15,-222 175-15,-150 197-1,-49 50 1</inkml:trace>
  <inkml:trace contextRef="#ctx0" brushRef="#br0" timeOffset="3313.22">12750 16669 0,'0'74'62,"50"1"-46,-26-1-16,26-24 15,49 49 1,-74-50 0,0-49-1,0 25 1,-1-25 109,175-223-109,-75 49-16,0 26 15,149-225 1,-25-23-1,-99 172 1,-75 125 0,-49 50-1</inkml:trace>
  <inkml:trace contextRef="#ctx0" brushRef="#br0" timeOffset="4472.6">21556 17115 0,'-25'0'78,"50"50"-78,-1-1 16,1 51-1,25-51 1,-25-49 0,-1 0 62,51-149-63,-50 50-15,49-25 16,25-273 0,1 298-1,-76 25 1</inkml:trace>
  <inkml:trace contextRef="#ctx0" brushRef="#br0" timeOffset="5666.97">21729 16793 0,'-25'25'47,"25"24"-32,50-24 1,24 74 0,-24-49-1,0 49 1,-26-74-1,1-25 1,0 0 0,-25 25-16,50-25 172,24-199-172,-24 100 15,24-124 1,25 99-16,-49 0 15,-25 74 17,-25 25-32</inkml:trace>
  <inkml:trace contextRef="#ctx0" brushRef="#br0" timeOffset="168959.75">17016 11237 0,'124'0'78,"75"0"-62,49 0-16,0 0 15,149 0 1,-224 0-1,-49 0 1,-24 0 0,48 0-1,76 0 1,-51 0 0,-24 24-1,-74-24-15,123 75 16,0-75-1,1 0 1,-1 0 15,-24 0-15,74-50 0,-124 1-1,-50 24 1,1 25-1,-1-25 1,50-25 0,-49 25-1</inkml:trace>
  <inkml:trace contextRef="#ctx0" brushRef="#br0" timeOffset="170343.97">21729 11956 0,'149'0'15,"74"0"-15,100 0 16,396 0-1,-124 0 1,-297 0 0,-199 0-1</inkml:trace>
  <inkml:trace contextRef="#ctx0" brushRef="#br0" timeOffset="171018.61">21208 12402 0,'75'0'62,"173"75"-62,-50-50 16,174 24-1,-248-49-15,174 50 32,-25-25-17,49-25 1,-74 0 0,-173 0-16,-50 0 15</inkml:trace>
  <inkml:trace contextRef="#ctx0" brushRef="#br0" timeOffset="171728.23">22746 12154 0,'0'25'47,"0"0"-31,0 49-16,0-24 15,0-25 1,0 0-16,25-25 16,-25 49-1,149-49 1,124 0 0,223-149 15,25 0-16,-224 1 1,-24-26 0,-198 75-1</inkml:trace>
  <inkml:trace contextRef="#ctx0" brushRef="#br0" timeOffset="172672.72">23143 12080 0,'25'0'16,"0"25"0,0 24-16,-25 26 15,24 49 16,-24-75 1,25-49-17,0 25 1,25-25 0,24 25-1,50 25 1,25-1-1,-75 1-15,1-50 16,24 0 0,99-25-1,50-124 1,50-49 0,74-26 15,-49-73-16,173-75 1,-447 322 0,26 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6:06:45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21208 13047 0,'0'-25'16,"0"1"0,75-26-1,-26 50 1,-24 0 0,25 0-16,49 0 31,-25-25-16,1 25 1,24 0 0,50 0-1,25 0 1,-26 0 0,-24 0-1,-74 0-15,49 0 16,0 0-1,1 0 1,-26 0 0,273-124-1,-148 124 17,-50-49-17,-100 49-15,26 0 31,-26 0-15,26 0 0,24 0-1,-50 24-15,1-24 16,0 0 0,-1 0 15,-24 0 0</inkml:trace>
  <inkml:trace contextRef="#ctx0" brushRef="#br0" timeOffset="6610.56">18281 12328 0,'25'0'47,"0"0"-47,0 0 16,0 0-1,-1 0 1,1 0-16,25 0 16,24-25-1,1 0 1,-1 25 15,25-24-15,25 24-1,25 0 1,0 0 0,0 0-1,49 0 1,25 0 0,249 0-1,-299 0 1,-49 0-1,-74 0 17,24 0-17,-49 0 17,25 0-17,-1 0 1,-24 0-1,0 0 1,25 24 0,-1 1-1,-24-25 1,50 50 0,-51-50 15,1 0-16,25 0 1,-25 25-16,74-1 31,-50-24-31,26 25 16,-1-25 0,25 0-1,25 0 1,-49 0-1,-1 0 1,-24 0 0,-25 0-1,24 0 1,1 0 0,24 0-1,-49 0 1,0 0-1,0 0 1,49 0 15,-49 0-15,0 0-16,24 0 62,1 0-46,-25-25 0,24 1-1,-24-1 1,0 25 0,0-25-1,-25 0 1,25-24-1,-25-1-15,49 0 16,-49 1 15,0-26-31,0 1 32,25-1-17,-25 26 1,0 24 15,0 0-31,0 0 16,0 1-1,0-26 1,0 0 15,0 26-15,0-1-1,-50 0 1,1 25 0,-50 0-1,-50-25 1,50 0 15,-50 25-31,99 0 0,-49 0 16,49 0-1,-49 0 1,25 0 15,-26 0-15,76 0 0,-26 0-1,-24 0 1,-1 0-1,1 0 1,24 0 15,-24 0-31,-25 25 32,-25-25-17,-25 0 1,0 50-16,74-50 31,26 0-15,-1 0-1,1 25 1,-26-25 0,26 0-1,-51 74 1,-24-74-1,75 25 17,24 0-17,-25-1 1,26 1 0,24 0 15,-25 0-16,25 0 1,0-1 0,0 26-1,0-25-15,0 49 32,0-24-17,74 99 1,-24-75-1,-1-24 1,-24-1 0,25-24-1,-1 25 17,1-25-17,24 24 1,50 1-1,-49-25 1,24-25 0,-74 24-1,0-24-15,49 0 16,50 25 0,-49-25-1,-1 0 1,-49 0-1,24 0 1,-49 25 0,25 0-1,50-25 32,-51 0-31,26 0-16,-25-25 47,0 25-32,-1 0 1,1 0 15,-25-25-15</inkml:trace>
  <inkml:trace contextRef="#ctx0" brushRef="#br0" timeOffset="39846.51">17512 15131 0,'25'0'47,"25"-25"-31,74 0-1,0-24 1,-99 49 0,24 0-1,175-25 1,123-50-1,75 75 1,-50 0 0,-50 0-1,-49 0 1,-124 25-16,74 50 31,-74-26-15,-50-24-1,-49 0 1</inkml:trace>
  <inkml:trace contextRef="#ctx0" brushRef="#br0" timeOffset="40872.48">16371 15801 0,'-24'0'47,"24"24"-15,49 1-17,1 0 1,173 25-1,-24-1 17,-75 1-32,148-50 15,-48 0 1,148 0 0,-25 0-1,-124 0 1,-49 0-1,24-75 1,-24-24 0,-124 50-1,-1 49 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6:05:30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4862 15949 0,'25'0'62,"74"0"-46,50 0-16,25 0 16,98 0 15,-73 0-31,173 0 0,-149 0 15,50 0 1,0 0 0,-75 0 15,174 0-15,50 0-1,173 0 1,25 0-1,-123 0 1,-125 0 0,-50 0-1,-223 0-15,50 0 16,74-49 0,100-1-1,49 1 1,-124-51-1,-50 26 17,-98 74-32,-26 0 15,-24 0 1,-26 0 15,51 0-15,-26 0 15,-24 0 0,25 0-31,-25 0 16,24 0 15,26 0-15,-1 0-1,-24 0 1,24 0 0,-49 0-1,0 0 1,0 0 15,-50 25 235,-124-25-251,-50 25-15,-371 74 16,-125 0 0,100-25 15,248 1-15,272-75-16,-98 0 15,-1 25 1,100 24-1,-50-49 1,-50 25 0,75-25-1,-75 25 1,-49 24 0,74-49-1,-49 0 1,74 0-1,99 0 1,-25 0-16,1 0 16,-199 0 15,223 0-15,25-24-1,149 48 282,24 1-297,26 25 16,49 24-1,273 1 1,-75-1 0,-49-49-1,-248 0-15,124 24 16,49-49-1,50 0 1,0-74 0,-24 0 15,73-51-31,-98 51 16,-224 49-16,-49 0 15</inkml:trace>
  <inkml:trace contextRef="#ctx0" brushRef="#br0" timeOffset="-66556.96">10195 4043 0,'25'0'78,"24"0"-62,-24 0 0,25 0-1,0 25-15,148-25 32,-74 0-32,298 0 15,-249 0 1,1 0-1,-75-50 1,25 50 15,-49 0-31,-26 0 16,-24 0 31,49 0-47,-24 0 31,-25 0-31,0 0 16,24 0-1,1 0 1,-1 0 0,1-24-1,24-1 16,-49 25 1</inkml:trace>
  <inkml:trace contextRef="#ctx0" brushRef="#br0" timeOffset="-64099.9">11584 3225 0,'25'0'78,"25"0"-78,-26 0 16,26 24-1,-25-24 1,24 50-1,-49-25-15,50 0 16,0-25 0,-26 0 77,1 0-93,25-50 16,24-99-16,75-99 16,-75 99-1,26 25 1,-1 0-16,-49 50 0,24-25 31,-74 74-15</inkml:trace>
  <inkml:trace contextRef="#ctx0" brushRef="#br0" timeOffset="-62617.89">12080 3026 0,'0'50'78,"25"-50"-62,25 25 0,-50-1-1,74 1 1,-24-25 15,-1 25-15,-24 0 62,25 24-78,-1-49 47,-24-99 78,25 50-125,-25-51 15,24 1-15,26 0 16,-51 25 0,76-51-1,-51 51 1,-24 49 15,-25 0-15,25 1-1,24-1 1,-49 0 0</inkml:trace>
  <inkml:trace contextRef="#ctx0" brushRef="#br0" timeOffset="-59738.62">18802 4068 0,'75'25'78,"-50"-25"-62,49 25-16,100-25 15,297 0 16,149 74-15,99 50 0,-74-50-1,-173 1 1,-200-50 0,-172-25-1,-76 0 1,51 0 15,49-25-15,-75 0-1</inkml:trace>
  <inkml:trace contextRef="#ctx0" brushRef="#br0" timeOffset="-31997.51">15801 14089 0,'74'0'31,"26"0"-31,-1 0 16,174 0-1,-149-50 1,223 26-1,-173-1 1,-26 25 0,-24 0-1,25 0 1,50 0 0,49 0-1,-75 0 1,26 0-1,-1 0 1,75 0 0,99 0-1,199 0 17,-323 0-32,25 0 15,24 0 16,-49 0-15,-49 0 0,-75 0-1,0 0 1,25 0 0,-50 0-1,99 0 1,1 0-1,-26 0-15,100-99 32,-99 24-32,-75 75 15,-74 0 1,0 0 0,-1 0 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16:50.7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8111 11410 0,'25'0'31,"174"-74"-31,-1 74 15,75-50-15,74-49 32,75 49-32,223-24 15,-248-50 1,-224 74 0,100 25-1,0 25 1,-174 0-1,-24 0 1</inkml:trace>
  <inkml:trace contextRef="#ctx0" brushRef="#br0" timeOffset="1089.41">20886 10145 0,'50'0'63,"-50"25"-47,24-25-1,51 0 1,49 0-1,223 0 1,149-273 0,-99-74-1,-50-25 1,-223 223-16,25-74 16,-74-1-1,-75 100 16,0 25-15,0 74 0,0 1-1,0-26 1,-25 25 0</inkml:trace>
  <inkml:trace contextRef="#ctx0" brushRef="#br0" timeOffset="1943.96">21605 9773 0,'50'0'47,"-25"0"-32,24 0 1,-24 0 0,25 0-16,49 0 15,124 50 16,-74 49-15,-25-99 0,0 0-1,99-149 1,50-99 0,-74 99-1,123-173 1,-223 98-1,-24-24 1,-26 75 0,-49 123-16,25-49 15,-25 49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6:18:19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2208 8285 0,'50'25'47,"-1"-25"-47,-24 0 15,25 0 1,-26 0-16,100 0 15,-49 24 1,49-24 0,25 50-1,0-50 1,-50 25 0,25-25-1,-25 0 1,25 0 15,0 0-15,0 0-1,0 0 1,0 0 0,0 0-1,0 0 1,-49 0-1,73 25 1,26 24 0,-100-24-1,26-25 1,-26 0 0,75 0-1,198 0 1,-24 0-1,-75 0 17,-149 0-17,-25 0 1,-24 0 0,0 0-1,-1 0 1,1 0-1,-25 0 17,-1 0-1</inkml:trace>
  <inkml:trace contextRef="#ctx0" brushRef="#br0" timeOffset="3635.4">3275 9054 0,'24'0'78,"1"0"-78,25 0 16,-25 0-1,49 0 1,50 0 0,50 0-1,148 0 1,50-25 0,-248 25-16,149 0 15,-74 0 1,-51 0 15,-48 0-31,48 0 16,-24 0-1,-49 0 1,24 0 0,0 0 15,25 0-16,75 0 1,-75 0 0,-25 0-1,-25-25 1,75 25 15,-50 0-15,-49 0-1,49 0 1,50 25 0,-50-25-1,-74 0 1</inkml:trace>
  <inkml:trace contextRef="#ctx0" brushRef="#br0" timeOffset="6257.87">8583 9178 0,'0'25'31,"25"24"-16,74-49-15,248 0 16,50 0 15,25 50-15,-100-25 0,1-1-1,24-24 1,25 0-1,-99 0 1,-174 0 0,-74 0-1,0 0 32,74 0-31,0 0-1,-74 0 1</inkml:trace>
  <inkml:trace contextRef="#ctx0" brushRef="#br0" timeOffset="98305.93">5061 11509 0,'24'0'79,"1"0"-79,0 0 15,0-24 32,0 24-47,-1 0 16,26 0-1,74-25 1,-25 25 0,-24 0-1,-1 0-15,75 0 16,49 0-1,50 0 1,174 0 0,-75 0-1,75 0 1,-149 0 0,49 0-1,-223 0 1,-49 0 15,0 0-15,24 0-1,1 0 1,49 0 0,-25 0-1,-50 0 1,26 0-1,-1 0 1,-24 25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25:30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4688 11981 0,'-24'0'62,"24"24"-62,0 26 0,24 0 16,-24-26-1,0 26 1,25 0 0,25-1-1,-25-49 32,-1 0-47,51-74 16,-1-50-1,26-25 1,-1 25 0,0 25 15,-25 49-16,-24 1 1</inkml:trace>
  <inkml:trace contextRef="#ctx0" brushRef="#br0" timeOffset="759.59">4936 11782 0,'0'25'47,"0"0"-16,0 0-16,0-1 1,50 51 0,0 24-1,-25-74 1,24 49 0,-24-49-1,0-25 32,0 0-31,49 0-16,50 0 15,99-74 1,0-50 0,-24 0 15,-50 49-16,-100 50-15,1-24 32,-25 24-17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36:48.9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496 3721 0,'25'0'63,"0"0"-48,0 0 1,24 0-1,26 0 1,24 0 0,149 0-1,75 0 1,73-25 15,-48-50-15,-100 75-1,25 0 1,24 0 0,-98 0-16,49-24 15,-25-1 1,0 25 0,1 0-1,24-50 1,24 25-1,51 1 1,-75 24 0,0 0-1,-74 0 1,-26 0 15,51 0-15,-100 0-1,75 0 1,-75 0 0,-25 0-1,1 0 1,24 0 0,-25 0-1,-49 0 1,25 0-1,-25 0 1,24 0 31</inkml:trace>
  <inkml:trace contextRef="#ctx0" brushRef="#br0" timeOffset="8490.42">819 5184 0,'50'0'93,"74"0"-77,-75 0-16,100 0 16,49 0-1,1 0 1,49 0 15,50 0-15,24-25-16,-124 1 31,-49 24-15,-25 0-1,50 0 1,-75 0-1,25 0 1,0 0 0,0 0-1,50 0 1,-75 0 0,50 0-1,49 0 16,75 0-15,99 0 0,0 0-1,-272 0-15,172 0 16,-73-25 0,-26 25-1,-49 0 1,-49 0-1,-50 0 1,0 0 0,-1 0-1,1 0 1,0 0 0,0 0-1,-100 0 157,-198 0-156,149 0-16,25 0 15,-223 0 1,74 0 0,0 0-1,-25 0 16,-25 0-15,50 0 0,74 0-1,1 0 1,24 0 0,-25 0-1,-49 0 1,0 0-1,148 0-15,-123 0 16,0 0 0,49 0-1,-99 0 1,74 0 0,0 0 15,75 0-16,-25 0 1,-49 0 0,-150 0-1,199 0 1,50 0-16,24 0 16,0 0-1,-24 0 1,-50 0-1,25 0 1,74 0 0,-25 0-1,26 0 1,-1 0 0,0 0 15,-49 25-16,-26 24 1,100-74 234,0 1-250,25-1 16,-25-25-1,50 1 1,-25-1 0,-1-24-1,1 24 1,25 25-1,-1-25 1,-24 26-16,25-26 16,-25 0-1,24 26 1,50-26 0,-24 25 15,-26 0-16,26 1 1,-1 24 0,26 0-1,-26-25 1,0 25 0,75 0-1,99 0 1,-124 25-1,-25-25 1,199 49 0,74-24-1,0-25 1,-99 0 15,25 0-15,-100 50-1,-24-26 1,-50-24 0,50 75-1,-125-50-15,150-1 16,49 51 0,-50-75-1,-24 0 1,-1 0-1,-49 0 1,50 0 0,-25 0-1,-25 0 1,124 0 15,149 0-15,347 0-1,-149 0 1,-49 0 0,-149-25-1,-248 0 1,-75 25 0,-24 0-1,-1 0 1,1 0-1,-25 0 1,-1 0 0,1 0-1,25 0 1,-25 0 31,-1 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28:44.5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2729 14759 0,'74'0'110,"50"0"-95,-49 0-15,198 0 16,74 0 15,-25 0-31,-173 0 16,25 0 15,49 0-15,149 0-1,99-75 1,-99 26 0,-272-1-16,-26 25 15,0 25 1,-24 0-1,0 0 1,-26 0 0,1 0 46,0 0-46,0 0-1,0 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31:33.3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12576 10864 0,'25'0'125,"0"25"-109,0-25-16,0 50 16,24-25-16,-24 24 15,0-24 1,0-25-1,24 0 79,50-174-78,1 50-16,-1-24 15,-50 98 1,125-248 0,0 1-1,-100 98 1,-24 100 0,-25 49 46,-1 50-62,-24-24 16</inkml:trace>
  <inkml:trace contextRef="#ctx0" brushRef="#br0" timeOffset="944.45">13097 10418 0,'25'0'32,"0"0"-17,0 25 17,-25 24-17,0 1 1,0 24-1,49-24 1,-24 49 0,0-49-1,24-25 1,-24-1 15,25-24 16,-1-24-47,76-100 31,73-25-15,0-74 0,26 74-1,-1-75 1,-74 76-1,-50 73 1,-74 75-16,-25-25 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33:09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10617 4118 0,'49'0'78,"150"24"-78,-1-24 16,298 50 0,298 49-1,223-99 1,-198 0 15,-199 0-15,-199-49-1,-222-26 1,-150 50 0,-73 25 77</inkml:trace>
  <inkml:trace contextRef="#ctx0" brushRef="#br0" timeOffset="4412.63">13817 4638 0,'0'50'125,"0"0"-109,-25-1-16,0 26 15,-49 74 1,49-50 0,-50 50-1,26-75 1,24 25 0,-74 100-1,49-51 1,25-73-1,25-150 64,25 1-64,-25 24-15,50-49 16,-50 50-1,49-150 1,26 1 0,-75 123-16,0 1 15,25 49 1,-25 0 0,0 1-1,0-1 1,0 0-1,0 124 110,0-24-125,0-1 16,0 75 0,-75 99-1,-49-75 1,25 51 0,24-125-1,26-49 1,74-50 124,-1 0-140,-24-25 16,25 0 0,50-99-1,24-50 1,50-123 0,-50 123-1,0-24 1,0-1-1,-74 75 1,25 50 0,-25-1-1,-1-24 17,1 99-17</inkml:trace>
  <inkml:trace contextRef="#ctx0" brushRef="#br0" timeOffset="65145.21">1166 14139 0,'0'-25'47,"0"50"-32,50 24 1,-25 26-16,-25 74 31,24-25-15,51 24-16,-1 125 31,25-74-15,-49-75-1,-25-75-15,74 100 16,-25 25 0,26-25-1,-26-75 1,-49-49 0,0 0-1,24 24 1,-49-24-1,25-25 48,0 0-47,-25-25 62,0-74-78,0 0 15,0-25-15,0 0 16,-50-149 0,-24-25-1,49 174 1,0 25-1,1 25 1,-26-1 0,25 26-1,0 24 1,0 0 0,1 25-1,-1-25 1,-25 0-1,1 25 1,24 0 15,0-24-15,-25-1 0,1 0 15,24 25 16,0 0 125,25 25-157,0 0-15,0 24 16,-25-49-1,25 50 1,0-25 0,0 24-1,0 26 1,0-51 0,0 51-1,0 24 1,25 25-16,25 0 15,123 50 1,-49-25 0,-24-1-1,-100-123 1,25 0 0</inkml:trace>
  <inkml:trace contextRef="#ctx0" brushRef="#br0" timeOffset="67069.17">13271 14238 0,'-25'49'62,"0"175"-62,-74-26 16,0 149 0,74-173-16,0-50 15,0 124 1,25-99 0,0-50-1,0-49 1,0-1-1,0-24 1,25 25 0,0-50 31,-25-174 15,0 50-62,0-25 16,0-248-16,25 100 31,74-1-15,-49 125-1,-26 48 1,-24 101-1,25-1 32,-25 74 110,0 51-157,0-1 15,25 149 1,-25-74-1,0-50 1,0-25 0,0 0-1,0 0 1,0 25 0,0-99-1,0 25 16</inkml:trace>
  <inkml:trace contextRef="#ctx0" brushRef="#br0" timeOffset="114608.75">4961 15528 0,'199'0'125,"-125"0"-125,50 25 16,0 49-16,273 0 15,124-24 17,-25 0-17,50-26 1,-1-24-1,100 0 1,-322 0 0,-75 0-1,-50 0 1,-98 0 0,-26 0-1,-24 0 1,-26 0-1,-48 0 95,-324-24-110,51 24 15,-621-75 1,124-49 0,-173 0-1,322 25 1,223 24 0,273 75-1,125 0 1,321 0 124,50 0-140,100 0 16,49 0-16,50 0 16,396 0-1,-446 0 1,-272 0 0,-175 0-1</inkml:trace>
  <inkml:trace contextRef="#ctx0" brushRef="#br0" timeOffset="127212.01">10394 12303 0,'49'0'94,"50"0"-94,1 0 16,-1 0-16,-25 0 15,149 0 1,1 0 0,-125 0-16,75 0 15,49 0 1,25 0 15,-99 0-31,-50 0 16,50 50 15,-25-50-15,25 0-1,-75 49 1,25-49 0,-24 0-1,73 0 1,-73 0-1,-26 0 1,-24-24 0,-124 24 77</inkml:trace>
  <inkml:trace contextRef="#ctx0" brushRef="#br0" timeOffset="128536.34">4068 12948 0,'100'0'156,"24"0"-156,74 0 16,75 0-16,372 0 15,-50 0 1,-223 0-1,-99 0 1,-199 0 0,50 0-1,0 0 17,0 0-32,75 0 15,49 0 16,-124 50-15,0-26 0,-74 1-16,98-25 15,101 25 1,147 25 0,-24-26-1,1 76 1,-26-100-1,-198 0 1,-75 25 0,-49-25 31,24 24-47,-24 1 0,0 0 31,25-25-16,-26 50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40:21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6772 4688 0,'74'0'78,"26"0"-63,-51 25-15,75-25 0,174 25 32,74-25-17,-25 0 1,-99 0-1,75 0 1,-1 0 0,75 0-1,-50 0 1,-123 0 0,-51 49-1,-49-49 1,-74 25-16,0-25 31,-1 0 0</inkml:trace>
  <inkml:trace contextRef="#ctx0" brushRef="#br0" timeOffset="14457.2">2282 4887 0,'-24'0'125,"-26"-25"-110,0 25 1,1-25-1,-1 0 1,-49 25 0,0-74-1,24 74 1,26-25 0,24 0-16,0 0 15,-25 0 1,-24-24-1,74 24 1,-25 0 0,0 0-1,25 1 32,0-1-31,0 0 78,0 0-79,25-24-15,174-1 16,49 50-1,-25-50 1,-74 26 0,-25-1-1,25 25 17,-1 0-17,-24-25 1,1 25-1,-51 0 1,25 0 0,-49 0-1,24 0 1,-24 0 0,-1 0-1,1 25 1,-25 0-1,0-25 1,24 24 0,-24 1-1,-25 25 17,50 24-17,-50-49 1,0 0 46,0 0-62,0-1 16,0 1 0,0 0-1,0 0 1,0 0-1,-50 49 1,-49-24 0,-25-26-1,25 1 17,-75 0-17,0 0 1,-74 0-1,50-25 1,49 0 0,25 0-1,-74-50 1,98 50-16,-173-50 16,50 26-1,74 24 1,75-25-1,49 25 1,-49 0 15,24-25-15,-24 25 0</inkml:trace>
  <inkml:trace contextRef="#ctx0" brushRef="#br0" timeOffset="16691.05">11609 4415 0,'25'0'109,"-25"25"-93,0 0-16,0 0 16,49-1 62,26-24-63,24-24-15,25-51 16,99-49 0,0-25-1,-24 25 1,-125 50 0</inkml:trace>
  <inkml:trace contextRef="#ctx0" brushRef="#br0" timeOffset="18145.25">12055 4192 0,'25'0'219,"0"0"-203,0 0-1,0 25 1,-1 24 15,-24-24-15,25-25-16,0 25 16,0 0-1,0 0 1,-1-1 15,1 1 188,0-25-204,0-25 1,24-24 0,51-26-1,24-49 1,49 25 0,-98 25-1,-50 74 1</inkml:trace>
  <inkml:trace contextRef="#ctx0" brushRef="#br0" timeOffset="31263.35">1836 4142 0,'248'0'125,"-50"0"-125,50 0 16,-24 0-16,-51 0 15,75 0 1,-74 0-1,-50 0 1,-50 0 0,-24 0-1,99 0 1,-50 0 15,-49 0-15,-26 0-1,26 0 1,-25 0 0,0 0 15,0 0-31,-1 0 16,1 0-1,0 0 16</inkml:trace>
  <inkml:trace contextRef="#ctx0" brushRef="#br0" timeOffset="32727.53">4465 3324 0,'25'0'188,"0"0"-188,49 0 109,-49 0-93,25 0-16,-1 0 16,-24 0-1,0-25 1,0 25-1,-25-25 32,24 0-31,26 1 0,-25-26-1,24 25 1,51-99-1,-51 75-15,51-75 16,-26 24 0,-24 51-1,24-26 1,-24 26 0,-50 24 15</inkml:trace>
  <inkml:trace contextRef="#ctx0" brushRef="#br0" timeOffset="34041.82">4664 3101 0,'24'0'16,"1"0"-16,0 0 78,0 0-62,0 0-1,-1 0 1,1 0 0,0 24-1,0 26 1,0-25 15,-25 0-15,24-1-1,1-24 17,0 0 218,99-74-250,-25 0 15,-49 24-15,0 0 16,49-24 0,-74 49 15,-1 25-31,1-49 109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6:30:04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2878 9426 0,'24'-25'63,"1"25"-48,0 0 1,25 0-1,24 0-15,199 25 16,74 24 0,1-49-1,-224 50-15,223-25 16,-99-25 0,-50 0-1,-24 0 1,0 0-1,24 0 1,-99 0 15,-74 0-15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41:52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6251 4738 0,'50'24'16,"-25"1"-16,49-25 15,124 75 1,-24-75-1,-50 25 1,25-25 0,49 0 15,50 0-15,-74 0-1,-25 0 1,-50 0-1,-25 0 1,1 0 0,-26 0-1,-24 0-15,50 0 16,-1-25 0,1 0-1,-1 0 1,100-25-1,-26 26 1,-24-26 0,-74 0 15,0 50-15,-26 0-1,1 0 1,-50 0 343</inkml:trace>
  <inkml:trace contextRef="#ctx0" brushRef="#br0" timeOffset="55600.26">6499 7293 0,'50'0'109,"-1"0"-109,26 0 16,-26 0-16,100 0 15,74 0 1,50 0 0,-25 0-1,50-75 1,25 26 15,73-1-15,-123 0-16,-74 1 31,-100 49-15,-74-25-16,74 25 15,-49 0 1,-1 0 0,1 0-1,-25 0 1,-1 0-1,51 0 17,-50 0 15,-1 0-32</inkml:trace>
  <inkml:trace contextRef="#ctx0" brushRef="#br0" timeOffset="81111.62">5333 8781 0,'124'0'141,"0"0"-126,25 0-15,-50 0 16,174 0 0,99 0-1,-74-75 1,49 26 0,-173 49-1,-25-50 1,0 50-1,-25 0 17,0 0-17,-50 0 1,25 0 0,-24 0-1,74 0 1,24 0-1,-49 0 1,-49 0-16,24 0 16,-25-25-1,1 25 1,-1 0 0,-49 0-1,24 0 1,26 0-1,-50 0 17,-1 0-17,1 0 17,25 0 171,99 25-203,-50 0 15,174-25 1,0 25 0,-1 49-1,-172-74 1,-26 25-1,-24-25 1,-25 0 0,-1 0-1,1 0 1,25 0 0,-25 0-16,-75 0 203,-74 0-188,-25 0-15,-25 0 16,1 0 0,24 0-1,-25 0 1,-24 0-1,-1 0 17,1 0-17,-25 0 1,24 0 0,-73 0-1,48 0 1,-49 25-1,174-25-15,-223 74 16,74-49 0,74-25-1,50 0 1,-50 50 0,50-50-1,50 0 1,0 0 15,-26 0-15,-24 0-1,25 0 1,-75 0 0,150 0-1,-26 0 1,25 0-1,-24 0 1,-26 0 0,26 0-1,-26 0 1,1 0 0,-50 0-1,74 0 1,25 0 15,1 0-31,-1 0 16,-25 0-1,25 0 1,-24 0 0,24 0-1,-25 0 1,1 0-1,-26-25 1,1 0 0,24 0-1,-24 0 1,-25 25 0,-25-74-1,49 74 1,-24 0 15,74-25 125,25 0-140,25-24-16,25 24 16,-1-25-1,1 1 16,24-1-15,1 1 0,-26 49-1,26-50 1,-51 25 0,1 25-1,0 0-15,-25-25 16,50 1 15,-26-1-15,26 25-1,-25-25 1,49 0 0,-49 0-1,50 25 16,-1 0-15,-24-24 0,74-26-1,-25 25 1,-25 0 0,1 1-1,-1-1 1,-24 25-1,49 0 1,25-25 0,-75 25-1,1 0 1,25 0 0,-51 0-1,1 0-15,50 0 31,49 0-15,-25 0 0,-25 0-1,-24 0 1,49-25 0,-25 25 15,1 0-16,-1 0 1,50 0 0,-49 0-1,-26 0-15,75 0 16,0 0 0,50 0-1,-75 0 16,-24 0-15,24 0 0,74 0-1,-24 0 1,0 0 0,0 0-1,-75 0 1,150 0-1,-76 0 1,-24 0 0,-24 0-1,-51 25 1,1-25 0,74 25-1,50 0 16,-75-1-15,-25-24 0,-49 0-1,74 50 1,0-25 0,-49-25-1,-25 25 1,0-25-1,24 24 1,1 1 0,-25 0-1,-25 0 48,49 0-48,-49 24 1,0-24 0,0 25 15,0-26 0,-25 1-15,1 25-1,-1-25 17,0 24-32,0-49 15,0 25 1,-49 25 0,0-50 15,-1 74-16,26-74 1,-51 25 0,51-25-1,-26 25 1,-73-25 0,48 24-1,1-24 1,-50 25-1,0-25 1,1 0 0,73 0-16,-74 0 15,-24 0 1,74 0 0,-25 0 15,-1 0-16,26 0 1,25 0 0,-25 0-1,-1 0 1,1 0 0,25 0-1,-25 0 1,-1 0-1,1 0 1,0 0 0,-50 0-1,25 0 1,50 0 0,-26 0 15,1 0-16,-50 0 1,50 0 0,0 0-1,25 0-15,-51 0 16,1 0 0,-24 0-1,48 0 1,-24 0-1,25 0 1,-25 0 0,50 0-1,24 0 1,-24 0 15,-1 0-15,-148 0-1,124 0 1,0 0 0,24 0-1,1 0 1,-1 0 0,-49 0-1,0 0 1,75 0-1,-26 0 1,26 0 0,-26 0 15,26 0 0,24 0-15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6:30:54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7913 13915 0,'50'0'62,"49"0"-46,-25 0-16,224 0 16,-25 0 15,-50 0-15,25 0-1,-174 0-15,100 0 16,-75 0-1,-49 0 1,74 0 0,0 0-1,-74 0 1,-26 0 0,26 0-16,-25 0 15,24 0 1,1 0-1,0 0 17,-26-24 93</inkml:trace>
  <inkml:trace contextRef="#ctx0" brushRef="#br0" timeOffset="1030.28">3225 14387 0,'25'0'0,"0"0"16,24 0 0,26 0-1,24 0 1,149 49 0,-75-24-1,200 0 1,23 49-1,76-24 1,98-25 0,-49-25-1,-149 0 1,-248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45:57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2853 10492 0,'149'0'110,"-50"0"-95,0 0 1,25 50-16,149 49 15,0-74 17,25-25-17,123 0 1,-272 0-16,124 0 16,74-25-1,-24-49 1,-150-1-1,-148 75 1,0 0 78,0 0-79,-25-24 110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6:31:04.9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7789 3299 0,'0'0'0,"25"0"15,74 0-15,50 0 16,-50 0 0,50 0-16,-25 0 0,124 0 31,-50 0-15,100 0-1,-75 0 1,-148 0-1,-50 0 48</inkml:trace>
  <inkml:trace contextRef="#ctx0" brushRef="#br0" timeOffset="21298.5">3473 10790 0,'-25'0'31,"25"50"-15,75-50-1,173 24 1,99-24 0,-124 0-16,199 0 31,173 0-31,-24 0 31,-224 0-15,-248 0-1,-74 0-15,0 0 32,24 0-17,100 0 1,-50 0-1,1-24 17,-100-1-17</inkml:trace>
  <inkml:trace contextRef="#ctx0" brushRef="#br0" timeOffset="21870.06">2382 11956 0,'24'0'15,"100"0"1,50 0-16,297 0 16,50-50-1,-25-24 1,50-1 0,-75 26-1,-99-50 1,-99-1-1,-149 76 1,0 24 0,25 0 15,-50-25-31,-24 0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8:46:55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1290 6176 0,'0'-24'63,"75"24"-47,-26-25-16,26 25 15,98-50 1,1 50-1,0-25 1,24 25 15,-99 0-31,100 0 16,-26 0 0,-49 0-1,0 0 1,100 0-1,-26 0 1,0 0 0,-49 0-1,-50 0 1,-24 0 0,24 0-1,50 0 1,0 0-1,148-24 1,423-100 15,-100 24-15,-174 51 0,-247-1-1,-100 50 1,25 0-1,-50 0 1,100 0 0,-25 0-1,149 0 1,-100-25 0,50 0-1,-74 1 1,-1 24-1,-49 0 1,-24 0 15,-26 0-15,50 49 0,50 1-1,49 49 1,-99 25-1,198 25 1,-198-99 0,0-50-1,50 74 1,24-49 0,26-25-1,49 74 1,24-24-1,-24 49 17,-99-25-17,49 50 1,-124-99 0,0 74-1,-24-24 1,-1-1-1,-24-24 1,-1 49 0,-24-24-1,0-1 1,25 50 0,-50 25-1,0-25 1,0-75-1,0 51 17,0-26-17,0 0 1,-25 1 0,-74-1-1,49-24 1,-124 74-1,-49 50 1,-75-75 0,-24 50-1,-100 24 1,50-74 0,174-49-1,-125 0 1,26-1-1,-75-24 17,24-25-17,26 25 1,-25 0 0,74-25-1,-25 0 1,50 25-1,25-25 1,-174 0 0,124 0-1,-74 24 1,74 51 0,75-50-1,-26-25 1,-49 0 15,75 0-15,0 0-1,-50 0 1,0 0 0,49 0-1,75 0-15,-174 0 16,26 0-1,-101 0 1,76 0 0,49 0-1,25-25 1,24 25 0,50-25-1,0 0 1,1-24 15,48 49-15,1-25-1,25-25 1,49 25 0,-25 1-1,26-26 1,-1 0-1,25-24 1,0-1 0,0-24-1,0-25 1,0-25 0,0 75-16,0 0 15,0-1-15,0-98 31,0 24-15,0 0 0,0 74-1,0 1 1,-25 0 0,25 49-1,0-25 1,0 25-1,-25-74 1,25 50 0,0-51-1,0 26-15,25-25 16,99-75 0,-25 75-1,50-50 1,25 50 15,24-25-15,-24 49-1,-50 1 1,0 0 0,25-1-1,99-24 1,-124 49-1,-75 26 1,26 24 0,-1-25-1,25 25 1,-24 0 0,-1 0 15,-49 0 0,25 0-15</inkml:trace>
  <inkml:trace contextRef="#ctx0" brushRef="#br0" timeOffset="23592.38">3647 7342 0,'0'50'109,"99"-50"-109,-50 25 16,1-25-16,99 49 15,74 1 1,25-50 0,75 49 15,74-49-15,-25 0-1,-124 0 1,149 0-1,-75 0 1,149 0 0,75 0-1,-50 0 1,0 0 0,-124 0-1,-173 0 1,-1-49-1,-74 24 1,-74 25 0,24 0 15,-49 0-15,-149 0 155,-273 0-171,99 0 16,26 0-16,-249 0 16,0 0 15,25 0-15,24 0-1,175 0 1,98 0-1,75 0 1,0 0 0,0 0-1,0 25 1,75 24 0,-1-49 15,75 0 94,24 0-125,1 0 0,49 0 15,-24 0 1,-1 0-16,75 0 16,-25 0-1,-25 0 1</inkml:trace>
  <inkml:trace contextRef="#ctx0" brushRef="#br0" timeOffset="25761.22">4564 7541 0,'0'-25'16,"0"0"-1,0 0 1,0-24 0,0 24-1,25-50 1,0 26 0,-25-1-1,50 1 1,-50 24-16,24 0 15,26 0 1,49-74 0,75 25-1,-75-1 1,0 50 0,1 0-1,73 1 1,26-1-1,-75 0 1,-25 25 0,25 0-1,-25 0 1,124 0 0,-123 0-1,-26 0 1,25 25 15,-24 0-15,49-1-1,0 1 1,-75 0 0,-24-25 15,49 50-16,1-25 1,-25-1 0,-26 1-1,1 25 17,0-50-32,-25 49 15,0-24 32,0 25-31,0-25-1,-25 24 1,0 1 0,-24-1-1,24-24-15,-74 25 16,-125 24-1,-73 50 1,24-49 0,25-51-1,-50 51 1,-74-26 0,99 1-1,0-25 1,125 0 15,-1-25-15,74 0-1,26 0 1,24-25 0,-25 25-1,50-25 1,-24 0-1,-1 0 17</inkml:trace>
  <inkml:trace contextRef="#ctx0" brushRef="#br0" timeOffset="26780.71">10021 7045 0,'0'0'0,"25"0"63,-25 49-48,25-24 1,0 0 0,-25 0-1,25-25 1,-25 24 0,24-24-1,1 0 1,25 0-1,-25 0 1,24 0 0,-49-49-1,50-125 1,74-74 0,-50 50-1,-24 74 16,24 0-15,26-50 0,-51 100-1,-49 49 1</inkml:trace>
  <inkml:trace contextRef="#ctx0" brushRef="#br0" timeOffset="27760.19">10071 6499 0,'0'25'46,"0"-1"1,50-24-15,-26 25-17,26-25 16,-50 25-15,25-25 0,0 25-16,24 0 15,1 74 1,24-50 0,1 26-1,-26-25 16,-24-26-15,0-24 0,0 0-1,0 0 48,-1 0-63,1 0 15,223-173 1,25-125 0,-74 75 15,-125 124-31,-49 49 16,0 25-1,-25 0 16,0 1 63,0-26-47</inkml:trace>
  <inkml:trace contextRef="#ctx0" brushRef="#br0" timeOffset="80132.14">6921 15379 0,'-25'-50'79,"25"25"-79,-25 1 15,0-1 1,25 0-16,-24-49 15,24-1 1,0 26 0,0 24-1,0 0 17,0 0-32,0-24 15,124-26 1,74 26-1,-74-26 1,75 26 0,24-26-1,124 1 1,-74 49 0,49 0-1,-74 25 1,-74 0-1,74 50 1,-74-1 0,-25 26 15,-25-26-15,-75 1-1,1 0 16,-50-26-15,0 26 0,0-25-1,0 49 1,-99-49 0,-1-25-16,-172 0 15,-125 0 1,-124 0-1,-99 0 1,-100 99 15,224-24-15,223-75 0,174 0-1,50 0 1,24 0-1,-25 0 1,0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98E0D3-1A41-4691-A625-AF7F351F1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B08679-B338-489C-813C-600C2DE9FD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1642E38-6AA8-4B51-B9D4-9F607959681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8C496AA-20BD-4C43-8228-817031E6EB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9F9A61A-F657-4467-A0C2-3815362698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09E66B4-D60F-4547-A5B6-DE99FA98F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34170D-4C15-4DC8-9E93-2CEDAB1F13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0900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D2B6151-4749-434D-A485-87732FD42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3D47C1-E4FD-456D-8E85-26A0FB5C6A9E}" type="slidenum">
              <a:rPr lang="en-US" altLang="en-US" sz="130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C1FFEAB-6ADA-430E-AAC3-C7AAF1F36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1686CFA-0F99-4BB6-8074-F9A2F917C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9919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FDF6E270-062A-4B6B-9E73-A7EE028C7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8BB0E7-2398-4769-8733-666D1E41A670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9F3026B-AB87-4F2D-894D-708EB8DEF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84C1A4-2D0A-4235-82CF-89A1FC1FB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983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F14EB24E-1992-449A-AD28-FF477E1F2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E36D8E-1942-4B6F-B492-DC8CBE44093B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FD7109D-2297-4F46-9A8F-16F23C6FA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63074D6-C005-48DF-B89D-3BD9BDA79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2177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4498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3158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8049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3571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2723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9803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8702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1926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410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2667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8840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2444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0175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1918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0850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7250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1611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AA579BEF-3A24-4B50-889B-A595EFD45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A463BFB-5BAE-446A-BC00-D651D93EA269}" type="slidenum">
              <a:rPr lang="en-US" altLang="en-US" sz="1300"/>
              <a:pPr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63F9ACA6-3F1E-4CEC-B741-656C2F9A51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459FC99F-9019-4083-A1D8-FA9D7FC91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851F700A-7B2B-4836-88B1-F9CACD8E5A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2A4DCB-5A1D-4D5C-82F2-DF14D924F197}" type="slidenum">
              <a:rPr lang="en-US" altLang="en-US" sz="1300"/>
              <a:pPr>
                <a:spcBef>
                  <a:spcPct val="0"/>
                </a:spcBef>
              </a:pPr>
              <a:t>22</a:t>
            </a:fld>
            <a:endParaRPr lang="en-US" altLang="en-US" sz="13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B231B14-6D7F-47FC-8278-5EDCD36CE6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B5287FC9-2084-42BE-9146-A9C0EAD44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0661E089-8628-442E-ACBE-9D54FD07A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E82FC5-DED1-4F9E-A1AD-02661FDD5AAB}" type="slidenum">
              <a:rPr lang="en-US" altLang="en-US" sz="1300"/>
              <a:pPr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349231C-8B31-41F8-897F-ABC2DFA65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B9608B6-72A7-4DBD-9892-0B4739201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916D6A6B-3D6A-4502-86D4-1C5C10FE96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51F64DF-0F73-4F11-A473-987EDFB7EBD7}" type="slidenum">
              <a:rPr lang="en-US" altLang="en-US" sz="1300"/>
              <a:pPr>
                <a:spcBef>
                  <a:spcPct val="0"/>
                </a:spcBef>
              </a:pPr>
              <a:t>24</a:t>
            </a:fld>
            <a:endParaRPr lang="en-US" altLang="en-US" sz="13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489731F-BC84-422E-B581-3B4768EC57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3066965-8C02-4467-BCC4-3BB0E0A02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916D6A6B-3D6A-4502-86D4-1C5C10FE96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51F64DF-0F73-4F11-A473-987EDFB7EBD7}" type="slidenum">
              <a:rPr lang="en-US" altLang="en-US" sz="1300"/>
              <a:pPr>
                <a:spcBef>
                  <a:spcPct val="0"/>
                </a:spcBef>
              </a:pPr>
              <a:t>25</a:t>
            </a:fld>
            <a:endParaRPr lang="en-US" altLang="en-US" sz="13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489731F-BC84-422E-B581-3B4768EC57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3066965-8C02-4467-BCC4-3BB0E0A02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06216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36A39A31-1CC5-4EEF-B14A-A3A6474251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DAD197-26E9-4498-9B31-5B905F4B37DB}" type="slidenum">
              <a:rPr lang="en-US" altLang="en-US" sz="1300"/>
              <a:pPr>
                <a:spcBef>
                  <a:spcPct val="0"/>
                </a:spcBef>
              </a:pPr>
              <a:t>26</a:t>
            </a:fld>
            <a:endParaRPr lang="en-US" altLang="en-US" sz="13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16C85EC2-1C14-4D55-8F48-98B0119F30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5456B7D-F458-49BC-BEE4-37E1A290D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E2B0230E-BEFC-41CE-A486-77D294D177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71C98CC-71ED-4C18-9105-63AFDC2E9524}" type="slidenum">
              <a:rPr lang="en-US" altLang="en-US" sz="1300"/>
              <a:pPr>
                <a:spcBef>
                  <a:spcPct val="0"/>
                </a:spcBef>
              </a:pPr>
              <a:t>27</a:t>
            </a:fld>
            <a:endParaRPr lang="en-US" altLang="en-US" sz="13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E1AC8FC-7F54-4A19-9F22-F3C3BC31A7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7A796A79-55B5-4143-923C-B07D08913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50F19A0C-FBFC-4C79-A811-E80C0E4F5F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96EC564-EE84-4871-A23A-FD88EFA5ED28}" type="slidenum">
              <a:rPr lang="en-US" altLang="en-US" sz="1300"/>
              <a:pPr>
                <a:spcBef>
                  <a:spcPct val="0"/>
                </a:spcBef>
              </a:pPr>
              <a:t>28</a:t>
            </a:fld>
            <a:endParaRPr lang="en-US" altLang="en-US" sz="13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506FBE16-B02E-423E-9C2C-71B5C960A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6309900-9CF6-4CFD-9B33-E31B7F9ED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E70BF573-6002-434F-A566-42B8E6440C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D9B1DA8-1186-447B-B22B-1367974E9126}" type="slidenum">
              <a:rPr lang="en-US" altLang="en-US" sz="1300"/>
              <a:pPr>
                <a:spcBef>
                  <a:spcPct val="0"/>
                </a:spcBef>
              </a:pPr>
              <a:t>29</a:t>
            </a:fld>
            <a:endParaRPr lang="en-US" altLang="en-US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FBE3CDFB-CD8F-478A-8EC1-8D3DCC6A38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865815F9-10A0-4280-8ED5-97E491BD0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F794B59E-23F9-4AF1-87EC-4AAEF380C6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BD636F-715A-4B25-A681-97DEEED8DD2F}" type="slidenum">
              <a:rPr lang="en-US" altLang="en-US" sz="1300"/>
              <a:pPr>
                <a:spcBef>
                  <a:spcPct val="0"/>
                </a:spcBef>
              </a:pPr>
              <a:t>30</a:t>
            </a:fld>
            <a:endParaRPr lang="en-US" altLang="en-US" sz="1300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1F8D85A2-D5DE-4B5C-842A-4ED3B9385D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ADE88C13-5FDC-4080-B024-79E0712BC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61152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9C31A9A-21DA-4EBE-B19A-8621513DC4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ED8CD4-9F16-4E96-8301-190BFE224299}" type="slidenum">
              <a:rPr lang="en-US" altLang="en-US" sz="1300"/>
              <a:pPr>
                <a:spcBef>
                  <a:spcPct val="0"/>
                </a:spcBef>
              </a:pPr>
              <a:t>31</a:t>
            </a:fld>
            <a:endParaRPr lang="en-US" altLang="en-US" sz="13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4E27E3FF-FE69-461B-A41B-ED037C499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396EEB19-736D-49D7-907E-7285BCB7C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09980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9C31A9A-21DA-4EBE-B19A-8621513DC4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ED8CD4-9F16-4E96-8301-190BFE224299}" type="slidenum">
              <a:rPr lang="en-US" altLang="en-US" sz="1300"/>
              <a:pPr>
                <a:spcBef>
                  <a:spcPct val="0"/>
                </a:spcBef>
              </a:pPr>
              <a:t>32</a:t>
            </a:fld>
            <a:endParaRPr lang="en-US" altLang="en-US" sz="13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4E27E3FF-FE69-461B-A41B-ED037C499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396EEB19-736D-49D7-907E-7285BCB7C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27308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11A0C94-7116-4D9F-B032-0B7D5CAEF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087AEF-BCD3-4E14-90AC-36F21F61B7CD}" type="slidenum">
              <a:rPr lang="en-US" altLang="en-US" sz="1300"/>
              <a:pPr>
                <a:spcBef>
                  <a:spcPct val="0"/>
                </a:spcBef>
              </a:pPr>
              <a:t>33</a:t>
            </a:fld>
            <a:endParaRPr lang="en-US" altLang="en-US" sz="13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A1EACEC-D3BA-440B-B162-960DEBF63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65FC041A-1CDA-4E0D-899C-36B41A2D1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765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11A0C94-7116-4D9F-B032-0B7D5CAEF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087AEF-BCD3-4E14-90AC-36F21F61B7CD}" type="slidenum">
              <a:rPr lang="en-US" altLang="en-US" sz="1300"/>
              <a:pPr>
                <a:spcBef>
                  <a:spcPct val="0"/>
                </a:spcBef>
              </a:pPr>
              <a:t>34</a:t>
            </a:fld>
            <a:endParaRPr lang="en-US" altLang="en-US" sz="13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A1EACEC-D3BA-440B-B162-960DEBF63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65FC041A-1CDA-4E0D-899C-36B41A2D1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81043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11A0C94-7116-4D9F-B032-0B7D5CAEF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087AEF-BCD3-4E14-90AC-36F21F61B7CD}" type="slidenum">
              <a:rPr lang="en-US" altLang="en-US" sz="1300"/>
              <a:pPr>
                <a:spcBef>
                  <a:spcPct val="0"/>
                </a:spcBef>
              </a:pPr>
              <a:t>35</a:t>
            </a:fld>
            <a:endParaRPr lang="en-US" altLang="en-US" sz="13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A1EACEC-D3BA-440B-B162-960DEBF63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65FC041A-1CDA-4E0D-899C-36B41A2D1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92294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11A0C94-7116-4D9F-B032-0B7D5CAEF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087AEF-BCD3-4E14-90AC-36F21F61B7CD}" type="slidenum">
              <a:rPr lang="en-US" altLang="en-US" sz="1300"/>
              <a:pPr>
                <a:spcBef>
                  <a:spcPct val="0"/>
                </a:spcBef>
              </a:pPr>
              <a:t>36</a:t>
            </a:fld>
            <a:endParaRPr lang="en-US" altLang="en-US" sz="13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A1EACEC-D3BA-440B-B162-960DEBF63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65FC041A-1CDA-4E0D-899C-36B41A2D1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49036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11A0C94-7116-4D9F-B032-0B7D5CAEF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087AEF-BCD3-4E14-90AC-36F21F61B7CD}" type="slidenum">
              <a:rPr lang="en-US" altLang="en-US" sz="1300"/>
              <a:pPr>
                <a:spcBef>
                  <a:spcPct val="0"/>
                </a:spcBef>
              </a:pPr>
              <a:t>37</a:t>
            </a:fld>
            <a:endParaRPr lang="en-US" altLang="en-US" sz="13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A1EACEC-D3BA-440B-B162-960DEBF63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65FC041A-1CDA-4E0D-899C-36B41A2D1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61308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EB4A74A6-6BAE-48D5-887A-08ECE2B9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CF5737-26BD-43D3-AD5F-CA57BF00685E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1A2D4F9E-523D-4D83-9CCA-0A0A3EDC3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4C17232C-71C3-4C8F-94CC-B46F85BCC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32888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EB4A74A6-6BAE-48D5-887A-08ECE2B9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CF5737-26BD-43D3-AD5F-CA57BF00685E}" type="slidenum">
              <a:rPr lang="en-US" altLang="en-US" sz="1300"/>
              <a:pPr>
                <a:spcBef>
                  <a:spcPct val="0"/>
                </a:spcBef>
              </a:pPr>
              <a:t>39</a:t>
            </a:fld>
            <a:endParaRPr lang="en-US" altLang="en-US" sz="13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1A2D4F9E-523D-4D83-9CCA-0A0A3EDC3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4C17232C-71C3-4C8F-94CC-B46F85BCC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7452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9537D33B-516E-4E1D-8155-1BB8818AF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C4ADFA-7B9A-45C2-ACE0-D65735EC0894}" type="slidenum">
              <a:rPr lang="en-US" altLang="en-US" sz="1300"/>
              <a:pPr>
                <a:spcBef>
                  <a:spcPct val="0"/>
                </a:spcBef>
              </a:pPr>
              <a:t>40</a:t>
            </a:fld>
            <a:endParaRPr lang="en-US" altLang="en-US" sz="13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DD97AD53-BD51-4766-B4CC-07042C973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1F53E999-D5D9-4EE0-BF00-9FF2703BF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29767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9537D33B-516E-4E1D-8155-1BB8818AF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C4ADFA-7B9A-45C2-ACE0-D65735EC0894}" type="slidenum">
              <a:rPr lang="en-US" altLang="en-US" sz="1300"/>
              <a:pPr>
                <a:spcBef>
                  <a:spcPct val="0"/>
                </a:spcBef>
              </a:pPr>
              <a:t>41</a:t>
            </a:fld>
            <a:endParaRPr lang="en-US" altLang="en-US" sz="13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DD97AD53-BD51-4766-B4CC-07042C973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1F53E999-D5D9-4EE0-BF00-9FF2703BF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189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41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2" y="1102497"/>
            <a:ext cx="8014277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1BFAE-C44B-49AE-8C45-A7AABAAB5FE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2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BE0E1-96FA-42C8-A339-7F81B98D396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80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23997-F532-4D5B-B2F3-9E05A41D49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48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49892-EB20-4383-9D6A-6D1ED2147F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2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71689-3C51-413B-9388-DDBA7E74E1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73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D7985-991B-46C7-A32A-6942E2DB118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8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9FD90-85FD-43B3-9F6B-6E3DF5251A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6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78238-A850-4F7F-9FB2-C7F3ED5115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0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75237-B0F8-4D27-B8AA-EA0E8F7832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95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22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434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BECEEC-3BC9-4D4E-99DA-2E5AA45784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71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883" y="6613525"/>
            <a:ext cx="3417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04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20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8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9.png"/><Relationship Id="rId4" Type="http://schemas.openxmlformats.org/officeDocument/2006/relationships/customXml" Target="../ink/ink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9.emf"/><Relationship Id="rId4" Type="http://schemas.openxmlformats.org/officeDocument/2006/relationships/image" Target="../media/image15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17.xml"/><Relationship Id="rId4" Type="http://schemas.openxmlformats.org/officeDocument/2006/relationships/image" Target="../media/image1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120.png"/><Relationship Id="rId4" Type="http://schemas.openxmlformats.org/officeDocument/2006/relationships/customXml" Target="../ink/ink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../media/image130.png"/><Relationship Id="rId4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7CAECB4A-B3AE-47EA-8608-B6EE8F6B22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83E7B48-50DD-40B1-82EB-DB0F7EE99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Processing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04C8AB1-093B-4BD3-B57D-1117443AEF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509376" cy="3096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000" dirty="0">
                <a:ea typeface="MS PGothic" panose="020B0600070205080204" pitchFamily="34" charset="-128"/>
              </a:rPr>
              <a:t>Overview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000" dirty="0">
                <a:ea typeface="MS PGothic" panose="020B0600070205080204" pitchFamily="34" charset="-128"/>
              </a:rPr>
              <a:t>Measures of Query Cost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000" dirty="0">
                <a:ea typeface="MS PGothic" panose="020B0600070205080204" pitchFamily="34" charset="-128"/>
              </a:rPr>
              <a:t>Selection Operation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000" dirty="0">
                <a:ea typeface="MS PGothic" panose="020B0600070205080204" pitchFamily="34" charset="-128"/>
              </a:rPr>
              <a:t>Sorting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Join Operation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Other Operations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Evaluation of Expressions</a:t>
            </a:r>
          </a:p>
        </p:txBody>
      </p:sp>
    </p:spTree>
  </p:cSld>
  <p:clrMapOvr>
    <a:masterClrMapping/>
  </p:clrMapOvr>
  <p:transition advTm="501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879B8AA5-A0A8-4838-ADA1-686E9F72F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Join Operation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29C29A8-5587-4BF6-ABF6-F0C97C489F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153195"/>
            <a:ext cx="7542632" cy="3770292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Several different algorithms to implement joins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Nested-loop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Block nested-loop join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Choice based on cost estimate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Examples use the following information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records of </a:t>
            </a:r>
            <a:r>
              <a:rPr lang="en-US" altLang="en-US" i="1" dirty="0">
                <a:ea typeface="MS PGothic" panose="020B0600070205080204" pitchFamily="34" charset="-128"/>
              </a:rPr>
              <a:t>student</a:t>
            </a:r>
            <a:r>
              <a:rPr lang="en-US" altLang="en-US" dirty="0">
                <a:ea typeface="MS PGothic" panose="020B0600070205080204" pitchFamily="34" charset="-128"/>
              </a:rPr>
              <a:t>:  20,000     </a:t>
            </a:r>
            <a:r>
              <a:rPr lang="en-US" altLang="en-US" i="1" dirty="0">
                <a:ea typeface="MS PGothic" panose="020B0600070205080204" pitchFamily="34" charset="-128"/>
              </a:rPr>
              <a:t>takes</a:t>
            </a:r>
            <a:r>
              <a:rPr lang="en-US" altLang="en-US" dirty="0">
                <a:ea typeface="MS PGothic" panose="020B0600070205080204" pitchFamily="34" charset="-128"/>
              </a:rPr>
              <a:t>: 40,000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blocks of   </a:t>
            </a:r>
            <a:r>
              <a:rPr lang="en-US" altLang="en-US" i="1" dirty="0">
                <a:ea typeface="MS PGothic" panose="020B0600070205080204" pitchFamily="34" charset="-128"/>
              </a:rPr>
              <a:t>student</a:t>
            </a:r>
            <a:r>
              <a:rPr lang="en-US" altLang="en-US" dirty="0">
                <a:ea typeface="MS PGothic" panose="020B0600070205080204" pitchFamily="34" charset="-128"/>
              </a:rPr>
              <a:t>:     2000     </a:t>
            </a:r>
            <a:r>
              <a:rPr lang="en-US" altLang="en-US" i="1" dirty="0">
                <a:ea typeface="MS PGothic" panose="020B0600070205080204" pitchFamily="34" charset="-128"/>
              </a:rPr>
              <a:t>takes</a:t>
            </a:r>
            <a:r>
              <a:rPr lang="en-US" altLang="en-US" dirty="0">
                <a:ea typeface="MS PGothic" panose="020B0600070205080204" pitchFamily="34" charset="-128"/>
              </a:rPr>
              <a:t>:      400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D130DBC-ADFB-4E18-2408-8F42BDA90F96}"/>
                  </a:ext>
                </a:extLst>
              </p14:cNvPr>
              <p14:cNvContentPartPr/>
              <p14:nvPr/>
            </p14:nvContentPartPr>
            <p14:xfrm>
              <a:off x="1384200" y="1580400"/>
              <a:ext cx="330840" cy="429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D130DBC-ADFB-4E18-2408-8F42BDA90F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4840" y="1571040"/>
                <a:ext cx="349560" cy="44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095829" y="-24516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FB217-6FA4-472D-B449-A44BB5D5BD3C}"/>
              </a:ext>
            </a:extLst>
          </p:cNvPr>
          <p:cNvSpPr txBox="1"/>
          <p:nvPr/>
        </p:nvSpPr>
        <p:spPr>
          <a:xfrm>
            <a:off x="116114" y="841828"/>
            <a:ext cx="29754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</a:rPr>
              <a:t>To compute the theta join        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i="1" dirty="0"/>
              <a:t>r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IN" altLang="en-US" sz="1800" dirty="0">
                <a:ea typeface="MS PGothic" panose="020B0600070205080204" pitchFamily="34" charset="-128"/>
              </a:rPr>
              <a:t>⨝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s</a:t>
            </a: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7D50C-354A-4037-BCEB-A929055ABDBA}"/>
              </a:ext>
            </a:extLst>
          </p:cNvPr>
          <p:cNvSpPr txBox="1"/>
          <p:nvPr/>
        </p:nvSpPr>
        <p:spPr>
          <a:xfrm>
            <a:off x="2" y="1691229"/>
            <a:ext cx="4572000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endParaRPr lang="en-US" altLang="en-US" b="1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if they do, 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sym typeface="Greek Symbols" pitchFamily="18" charset="2"/>
              </a:rPr>
              <a:t>           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add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i="1" dirty="0">
                <a:sym typeface="Greek Symbols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is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outer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and </a:t>
            </a:r>
            <a:r>
              <a:rPr lang="en-US" altLang="en-US" i="1" dirty="0"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inner 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of the join.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8BDEC-2C3D-43E6-BDCF-074A323AB2CB}"/>
              </a:ext>
            </a:extLst>
          </p:cNvPr>
          <p:cNvSpPr txBox="1"/>
          <p:nvPr/>
        </p:nvSpPr>
        <p:spPr>
          <a:xfrm>
            <a:off x="0" y="4468727"/>
            <a:ext cx="44558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Expensive since it examines every pair of tuples in the two relations.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D91D6-74E6-473F-A2AF-CC0D2EC0ECAB}"/>
              </a:ext>
            </a:extLst>
          </p:cNvPr>
          <p:cNvSpPr txBox="1"/>
          <p:nvPr/>
        </p:nvSpPr>
        <p:spPr>
          <a:xfrm>
            <a:off x="4934857" y="317647"/>
            <a:ext cx="4093029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Cost Analysis (Block transfer) </a:t>
            </a:r>
          </a:p>
          <a:p>
            <a:r>
              <a:rPr lang="en-US" dirty="0"/>
              <a:t>Case 1: (</a:t>
            </a: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worst case block transfer)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i="1" baseline="-25000" dirty="0">
                <a:sym typeface="Symbol" panose="05050102010706020507" pitchFamily="18" charset="2"/>
              </a:rPr>
              <a:t>r</a:t>
            </a:r>
            <a:r>
              <a:rPr lang="en-US" altLang="en-US" i="1" dirty="0">
                <a:sym typeface="Symbol" panose="05050102010706020507" pitchFamily="18" charset="2"/>
              </a:rPr>
              <a:t> = total number of tuples in r</a:t>
            </a:r>
          </a:p>
          <a:p>
            <a:r>
              <a:rPr lang="en-US" altLang="en-US" i="1" dirty="0" err="1"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r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s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if there is enough memory only to hold one block of each relation, 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altLang="en-US" sz="2400" i="1" dirty="0">
                <a:ea typeface="MS PGothic" panose="020B0600070205080204" pitchFamily="34" charset="-128"/>
              </a:rPr>
              <a:t>n</a:t>
            </a:r>
            <a:r>
              <a:rPr lang="en-US" altLang="en-US" sz="24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24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24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4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sz="1600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EEEDF5C6-4C65-4381-9C95-666B1C67535B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4412584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B1(r)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B2(r)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B3(r)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Br(r)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EEA3588-B568-4AC9-8102-1BA1E12121CB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4412584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Bs(s)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16" name="Table 17">
            <a:extLst>
              <a:ext uri="{FF2B5EF4-FFF2-40B4-BE49-F238E27FC236}">
                <a16:creationId xmlns:a16="http://schemas.microsoft.com/office/drawing/2014/main" id="{539E26BF-1A85-4B2C-99F1-7756FDCC864F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3464552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B42DA80-80EB-4474-AED0-D38904D7A80A}"/>
              </a:ext>
            </a:extLst>
          </p:cNvPr>
          <p:cNvSpPr txBox="1"/>
          <p:nvPr/>
        </p:nvSpPr>
        <p:spPr>
          <a:xfrm>
            <a:off x="7837712" y="3464552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36A42B-C3D0-461D-8934-251A29C3D11A}"/>
              </a:ext>
            </a:extLst>
          </p:cNvPr>
          <p:cNvSpPr/>
          <p:nvPr/>
        </p:nvSpPr>
        <p:spPr bwMode="auto">
          <a:xfrm>
            <a:off x="5152571" y="3642989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7C34C7B-3D6D-4578-BABC-61EA833F5004}"/>
              </a:ext>
            </a:extLst>
          </p:cNvPr>
          <p:cNvSpPr/>
          <p:nvPr/>
        </p:nvSpPr>
        <p:spPr bwMode="auto">
          <a:xfrm>
            <a:off x="7418296" y="4009457"/>
            <a:ext cx="1059543" cy="620592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C239C-083C-44F4-AECC-F4AC23349E57}"/>
              </a:ext>
            </a:extLst>
          </p:cNvPr>
          <p:cNvSpPr txBox="1"/>
          <p:nvPr/>
        </p:nvSpPr>
        <p:spPr>
          <a:xfrm>
            <a:off x="5558971" y="4009457"/>
            <a:ext cx="50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0513E-0FC8-4C68-9130-B0E19637819E}"/>
              </a:ext>
            </a:extLst>
          </p:cNvPr>
          <p:cNvSpPr txBox="1"/>
          <p:nvPr/>
        </p:nvSpPr>
        <p:spPr>
          <a:xfrm>
            <a:off x="7707083" y="4093217"/>
            <a:ext cx="50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FB217-6FA4-472D-B449-A44BB5D5BD3C}"/>
              </a:ext>
            </a:extLst>
          </p:cNvPr>
          <p:cNvSpPr txBox="1"/>
          <p:nvPr/>
        </p:nvSpPr>
        <p:spPr>
          <a:xfrm>
            <a:off x="116114" y="841828"/>
            <a:ext cx="29754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</a:rPr>
              <a:t>To compute the theta join        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i="1" dirty="0"/>
              <a:t>r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IN" altLang="en-US" sz="1800" dirty="0">
                <a:ea typeface="MS PGothic" panose="020B0600070205080204" pitchFamily="34" charset="-128"/>
              </a:rPr>
              <a:t>⨝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s</a:t>
            </a:r>
            <a:b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  = student.id = takes .id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7D50C-354A-4037-BCEB-A929055ABDBA}"/>
              </a:ext>
            </a:extLst>
          </p:cNvPr>
          <p:cNvSpPr txBox="1"/>
          <p:nvPr/>
        </p:nvSpPr>
        <p:spPr>
          <a:xfrm>
            <a:off x="58058" y="1879911"/>
            <a:ext cx="4572000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endParaRPr lang="en-US" altLang="en-US" b="1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if they do, 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sym typeface="Greek Symbols" pitchFamily="18" charset="2"/>
              </a:rPr>
              <a:t>           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add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i="1" dirty="0">
                <a:sym typeface="Greek Symbols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 is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outer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and </a:t>
            </a:r>
            <a:r>
              <a:rPr lang="en-US" altLang="en-US" i="1" dirty="0"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inner 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of the join.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8BDEC-2C3D-43E6-BDCF-074A323AB2CB}"/>
              </a:ext>
            </a:extLst>
          </p:cNvPr>
          <p:cNvSpPr txBox="1"/>
          <p:nvPr/>
        </p:nvSpPr>
        <p:spPr>
          <a:xfrm>
            <a:off x="58056" y="4512269"/>
            <a:ext cx="44558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Expensive since it examines every pair of tuples in the two relations.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D91D6-74E6-473F-A2AF-CC0D2EC0ECAB}"/>
              </a:ext>
            </a:extLst>
          </p:cNvPr>
          <p:cNvSpPr txBox="1"/>
          <p:nvPr/>
        </p:nvSpPr>
        <p:spPr>
          <a:xfrm>
            <a:off x="4934857" y="758928"/>
            <a:ext cx="4093029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Cost Analysis (Block transfer) </a:t>
            </a:r>
          </a:p>
          <a:p>
            <a:endParaRPr lang="en-US" dirty="0"/>
          </a:p>
          <a:p>
            <a:r>
              <a:rPr lang="en-US" dirty="0"/>
              <a:t>Case 1: (</a:t>
            </a: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worst case)</a:t>
            </a:r>
            <a:r>
              <a:rPr lang="en-US" altLang="en-US" dirty="0">
                <a:ea typeface="MS PGothic" panose="020B0600070205080204" pitchFamily="34" charset="-128"/>
              </a:rPr>
              <a:t>, 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r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s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if there is enough memory only to hold one block of each relation, 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altLang="en-US" sz="1600" i="1" dirty="0">
                <a:ea typeface="MS PGothic" panose="020B0600070205080204" pitchFamily="34" charset="-128"/>
              </a:rPr>
              <a:t>n</a:t>
            </a:r>
            <a:r>
              <a:rPr lang="en-US" altLang="en-US" sz="16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sz="1600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EEEDF5C6-4C65-4381-9C95-666B1C67535B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4427106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EEA3588-B568-4AC9-8102-1BA1E12121CB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4427106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16" name="Table 17">
            <a:extLst>
              <a:ext uri="{FF2B5EF4-FFF2-40B4-BE49-F238E27FC236}">
                <a16:creationId xmlns:a16="http://schemas.microsoft.com/office/drawing/2014/main" id="{539E26BF-1A85-4B2C-99F1-7756FDCC864F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3479074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B42DA80-80EB-4474-AED0-D38904D7A80A}"/>
              </a:ext>
            </a:extLst>
          </p:cNvPr>
          <p:cNvSpPr txBox="1"/>
          <p:nvPr/>
        </p:nvSpPr>
        <p:spPr>
          <a:xfrm>
            <a:off x="7837712" y="3479074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36A42B-C3D0-461D-8934-251A29C3D11A}"/>
              </a:ext>
            </a:extLst>
          </p:cNvPr>
          <p:cNvSpPr/>
          <p:nvPr/>
        </p:nvSpPr>
        <p:spPr bwMode="auto">
          <a:xfrm>
            <a:off x="5152571" y="3657511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B8C897-FF38-4476-A224-0DEDEC0552D3}"/>
              </a:ext>
            </a:extLst>
          </p:cNvPr>
          <p:cNvSpPr/>
          <p:nvPr/>
        </p:nvSpPr>
        <p:spPr bwMode="auto">
          <a:xfrm>
            <a:off x="7344229" y="4005739"/>
            <a:ext cx="1262794" cy="1001689"/>
          </a:xfrm>
          <a:custGeom>
            <a:avLst/>
            <a:gdLst>
              <a:gd name="connsiteX0" fmla="*/ 1074057 w 1262794"/>
              <a:gd name="connsiteY0" fmla="*/ 1001689 h 1001689"/>
              <a:gd name="connsiteX1" fmla="*/ 1117600 w 1262794"/>
              <a:gd name="connsiteY1" fmla="*/ 914604 h 1001689"/>
              <a:gd name="connsiteX2" fmla="*/ 1146628 w 1262794"/>
              <a:gd name="connsiteY2" fmla="*/ 871061 h 1001689"/>
              <a:gd name="connsiteX3" fmla="*/ 1175657 w 1262794"/>
              <a:gd name="connsiteY3" fmla="*/ 783975 h 1001689"/>
              <a:gd name="connsiteX4" fmla="*/ 1233714 w 1262794"/>
              <a:gd name="connsiteY4" fmla="*/ 696889 h 1001689"/>
              <a:gd name="connsiteX5" fmla="*/ 1262742 w 1262794"/>
              <a:gd name="connsiteY5" fmla="*/ 609804 h 1001689"/>
              <a:gd name="connsiteX6" fmla="*/ 1248228 w 1262794"/>
              <a:gd name="connsiteY6" fmla="*/ 246946 h 1001689"/>
              <a:gd name="connsiteX7" fmla="*/ 1204685 w 1262794"/>
              <a:gd name="connsiteY7" fmla="*/ 217918 h 1001689"/>
              <a:gd name="connsiteX8" fmla="*/ 1059542 w 1262794"/>
              <a:gd name="connsiteY8" fmla="*/ 174375 h 1001689"/>
              <a:gd name="connsiteX9" fmla="*/ 1016000 w 1262794"/>
              <a:gd name="connsiteY9" fmla="*/ 159861 h 1001689"/>
              <a:gd name="connsiteX10" fmla="*/ 856342 w 1262794"/>
              <a:gd name="connsiteY10" fmla="*/ 145346 h 1001689"/>
              <a:gd name="connsiteX11" fmla="*/ 798285 w 1262794"/>
              <a:gd name="connsiteY11" fmla="*/ 130832 h 1001689"/>
              <a:gd name="connsiteX12" fmla="*/ 754742 w 1262794"/>
              <a:gd name="connsiteY12" fmla="*/ 116318 h 1001689"/>
              <a:gd name="connsiteX13" fmla="*/ 478971 w 1262794"/>
              <a:gd name="connsiteY13" fmla="*/ 101804 h 1001689"/>
              <a:gd name="connsiteX14" fmla="*/ 420914 w 1262794"/>
              <a:gd name="connsiteY14" fmla="*/ 87289 h 1001689"/>
              <a:gd name="connsiteX15" fmla="*/ 319314 w 1262794"/>
              <a:gd name="connsiteY15" fmla="*/ 72775 h 1001689"/>
              <a:gd name="connsiteX16" fmla="*/ 232228 w 1262794"/>
              <a:gd name="connsiteY16" fmla="*/ 43746 h 1001689"/>
              <a:gd name="connsiteX17" fmla="*/ 72571 w 1262794"/>
              <a:gd name="connsiteY17" fmla="*/ 14718 h 1001689"/>
              <a:gd name="connsiteX18" fmla="*/ 0 w 1262794"/>
              <a:gd name="connsiteY18" fmla="*/ 204 h 100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62794" h="1001689">
                <a:moveTo>
                  <a:pt x="1074057" y="1001689"/>
                </a:moveTo>
                <a:cubicBezTo>
                  <a:pt x="1088571" y="972661"/>
                  <a:pt x="1101839" y="942975"/>
                  <a:pt x="1117600" y="914604"/>
                </a:cubicBezTo>
                <a:cubicBezTo>
                  <a:pt x="1126072" y="899355"/>
                  <a:pt x="1139543" y="887001"/>
                  <a:pt x="1146628" y="871061"/>
                </a:cubicBezTo>
                <a:cubicBezTo>
                  <a:pt x="1159055" y="843099"/>
                  <a:pt x="1158684" y="809435"/>
                  <a:pt x="1175657" y="783975"/>
                </a:cubicBezTo>
                <a:lnTo>
                  <a:pt x="1233714" y="696889"/>
                </a:lnTo>
                <a:cubicBezTo>
                  <a:pt x="1243390" y="667861"/>
                  <a:pt x="1263965" y="640378"/>
                  <a:pt x="1262742" y="609804"/>
                </a:cubicBezTo>
                <a:cubicBezTo>
                  <a:pt x="1257904" y="488851"/>
                  <a:pt x="1265968" y="366688"/>
                  <a:pt x="1248228" y="246946"/>
                </a:cubicBezTo>
                <a:cubicBezTo>
                  <a:pt x="1245672" y="229690"/>
                  <a:pt x="1220625" y="225003"/>
                  <a:pt x="1204685" y="217918"/>
                </a:cubicBezTo>
                <a:cubicBezTo>
                  <a:pt x="1142591" y="190320"/>
                  <a:pt x="1118655" y="191264"/>
                  <a:pt x="1059542" y="174375"/>
                </a:cubicBezTo>
                <a:cubicBezTo>
                  <a:pt x="1044832" y="170172"/>
                  <a:pt x="1031145" y="162025"/>
                  <a:pt x="1016000" y="159861"/>
                </a:cubicBezTo>
                <a:cubicBezTo>
                  <a:pt x="963098" y="152304"/>
                  <a:pt x="909561" y="150184"/>
                  <a:pt x="856342" y="145346"/>
                </a:cubicBezTo>
                <a:cubicBezTo>
                  <a:pt x="836990" y="140508"/>
                  <a:pt x="817465" y="136312"/>
                  <a:pt x="798285" y="130832"/>
                </a:cubicBezTo>
                <a:cubicBezTo>
                  <a:pt x="783574" y="126629"/>
                  <a:pt x="769979" y="117703"/>
                  <a:pt x="754742" y="116318"/>
                </a:cubicBezTo>
                <a:cubicBezTo>
                  <a:pt x="663069" y="107984"/>
                  <a:pt x="570895" y="106642"/>
                  <a:pt x="478971" y="101804"/>
                </a:cubicBezTo>
                <a:cubicBezTo>
                  <a:pt x="459619" y="96966"/>
                  <a:pt x="440540" y="90857"/>
                  <a:pt x="420914" y="87289"/>
                </a:cubicBezTo>
                <a:cubicBezTo>
                  <a:pt x="387255" y="81169"/>
                  <a:pt x="352648" y="80468"/>
                  <a:pt x="319314" y="72775"/>
                </a:cubicBezTo>
                <a:cubicBezTo>
                  <a:pt x="289499" y="65895"/>
                  <a:pt x="261913" y="51167"/>
                  <a:pt x="232228" y="43746"/>
                </a:cubicBezTo>
                <a:cubicBezTo>
                  <a:pt x="140982" y="20935"/>
                  <a:pt x="193918" y="32053"/>
                  <a:pt x="72571" y="14718"/>
                </a:cubicBezTo>
                <a:cubicBezTo>
                  <a:pt x="19849" y="-2856"/>
                  <a:pt x="44327" y="204"/>
                  <a:pt x="0" y="204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51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EEEDF5C6-4C65-4381-9C95-666B1C67535B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4427103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EEA3588-B568-4AC9-8102-1BA1E12121CB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4427103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16" name="Table 17">
            <a:extLst>
              <a:ext uri="{FF2B5EF4-FFF2-40B4-BE49-F238E27FC236}">
                <a16:creationId xmlns:a16="http://schemas.microsoft.com/office/drawing/2014/main" id="{539E26BF-1A85-4B2C-99F1-7756FDCC864F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3479071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B42DA80-80EB-4474-AED0-D38904D7A80A}"/>
              </a:ext>
            </a:extLst>
          </p:cNvPr>
          <p:cNvSpPr txBox="1"/>
          <p:nvPr/>
        </p:nvSpPr>
        <p:spPr>
          <a:xfrm>
            <a:off x="7837712" y="3479071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36A42B-C3D0-461D-8934-251A29C3D11A}"/>
              </a:ext>
            </a:extLst>
          </p:cNvPr>
          <p:cNvSpPr/>
          <p:nvPr/>
        </p:nvSpPr>
        <p:spPr bwMode="auto">
          <a:xfrm>
            <a:off x="5152571" y="3657508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2A6B73-385E-4FFE-B082-9E9873AC0AB0}"/>
              </a:ext>
            </a:extLst>
          </p:cNvPr>
          <p:cNvSpPr/>
          <p:nvPr/>
        </p:nvSpPr>
        <p:spPr bwMode="auto">
          <a:xfrm>
            <a:off x="7358743" y="4049483"/>
            <a:ext cx="1364343" cy="1712686"/>
          </a:xfrm>
          <a:custGeom>
            <a:avLst/>
            <a:gdLst>
              <a:gd name="connsiteX0" fmla="*/ 0 w 1364343"/>
              <a:gd name="connsiteY0" fmla="*/ 0 h 2467429"/>
              <a:gd name="connsiteX1" fmla="*/ 261258 w 1364343"/>
              <a:gd name="connsiteY1" fmla="*/ 29029 h 2467429"/>
              <a:gd name="connsiteX2" fmla="*/ 304800 w 1364343"/>
              <a:gd name="connsiteY2" fmla="*/ 43543 h 2467429"/>
              <a:gd name="connsiteX3" fmla="*/ 362858 w 1364343"/>
              <a:gd name="connsiteY3" fmla="*/ 58058 h 2467429"/>
              <a:gd name="connsiteX4" fmla="*/ 435429 w 1364343"/>
              <a:gd name="connsiteY4" fmla="*/ 72572 h 2467429"/>
              <a:gd name="connsiteX5" fmla="*/ 478972 w 1364343"/>
              <a:gd name="connsiteY5" fmla="*/ 87086 h 2467429"/>
              <a:gd name="connsiteX6" fmla="*/ 551543 w 1364343"/>
              <a:gd name="connsiteY6" fmla="*/ 101600 h 2467429"/>
              <a:gd name="connsiteX7" fmla="*/ 653143 w 1364343"/>
              <a:gd name="connsiteY7" fmla="*/ 130629 h 2467429"/>
              <a:gd name="connsiteX8" fmla="*/ 754743 w 1364343"/>
              <a:gd name="connsiteY8" fmla="*/ 174172 h 2467429"/>
              <a:gd name="connsiteX9" fmla="*/ 812800 w 1364343"/>
              <a:gd name="connsiteY9" fmla="*/ 203200 h 2467429"/>
              <a:gd name="connsiteX10" fmla="*/ 899886 w 1364343"/>
              <a:gd name="connsiteY10" fmla="*/ 217715 h 2467429"/>
              <a:gd name="connsiteX11" fmla="*/ 957943 w 1364343"/>
              <a:gd name="connsiteY11" fmla="*/ 232229 h 2467429"/>
              <a:gd name="connsiteX12" fmla="*/ 1045029 w 1364343"/>
              <a:gd name="connsiteY12" fmla="*/ 261258 h 2467429"/>
              <a:gd name="connsiteX13" fmla="*/ 1088572 w 1364343"/>
              <a:gd name="connsiteY13" fmla="*/ 290286 h 2467429"/>
              <a:gd name="connsiteX14" fmla="*/ 1175658 w 1364343"/>
              <a:gd name="connsiteY14" fmla="*/ 377372 h 2467429"/>
              <a:gd name="connsiteX15" fmla="*/ 1204686 w 1364343"/>
              <a:gd name="connsiteY15" fmla="*/ 478972 h 2467429"/>
              <a:gd name="connsiteX16" fmla="*/ 1233715 w 1364343"/>
              <a:gd name="connsiteY16" fmla="*/ 522515 h 2467429"/>
              <a:gd name="connsiteX17" fmla="*/ 1277258 w 1364343"/>
              <a:gd name="connsiteY17" fmla="*/ 653143 h 2467429"/>
              <a:gd name="connsiteX18" fmla="*/ 1291772 w 1364343"/>
              <a:gd name="connsiteY18" fmla="*/ 696686 h 2467429"/>
              <a:gd name="connsiteX19" fmla="*/ 1320800 w 1364343"/>
              <a:gd name="connsiteY19" fmla="*/ 856343 h 2467429"/>
              <a:gd name="connsiteX20" fmla="*/ 1335315 w 1364343"/>
              <a:gd name="connsiteY20" fmla="*/ 986972 h 2467429"/>
              <a:gd name="connsiteX21" fmla="*/ 1349829 w 1364343"/>
              <a:gd name="connsiteY21" fmla="*/ 1045029 h 2467429"/>
              <a:gd name="connsiteX22" fmla="*/ 1364343 w 1364343"/>
              <a:gd name="connsiteY22" fmla="*/ 1146629 h 2467429"/>
              <a:gd name="connsiteX23" fmla="*/ 1349829 w 1364343"/>
              <a:gd name="connsiteY23" fmla="*/ 1611086 h 2467429"/>
              <a:gd name="connsiteX24" fmla="*/ 1306286 w 1364343"/>
              <a:gd name="connsiteY24" fmla="*/ 1756229 h 2467429"/>
              <a:gd name="connsiteX25" fmla="*/ 1277258 w 1364343"/>
              <a:gd name="connsiteY25" fmla="*/ 1915886 h 2467429"/>
              <a:gd name="connsiteX26" fmla="*/ 1262743 w 1364343"/>
              <a:gd name="connsiteY26" fmla="*/ 1973943 h 2467429"/>
              <a:gd name="connsiteX27" fmla="*/ 1233715 w 1364343"/>
              <a:gd name="connsiteY27" fmla="*/ 2119086 h 2467429"/>
              <a:gd name="connsiteX28" fmla="*/ 1219200 w 1364343"/>
              <a:gd name="connsiteY28" fmla="*/ 2162629 h 2467429"/>
              <a:gd name="connsiteX29" fmla="*/ 1190172 w 1364343"/>
              <a:gd name="connsiteY29" fmla="*/ 2206172 h 2467429"/>
              <a:gd name="connsiteX30" fmla="*/ 1175658 w 1364343"/>
              <a:gd name="connsiteY30" fmla="*/ 2249715 h 2467429"/>
              <a:gd name="connsiteX31" fmla="*/ 1117600 w 1364343"/>
              <a:gd name="connsiteY31" fmla="*/ 2336800 h 2467429"/>
              <a:gd name="connsiteX32" fmla="*/ 1045029 w 1364343"/>
              <a:gd name="connsiteY32" fmla="*/ 2467429 h 2467429"/>
              <a:gd name="connsiteX33" fmla="*/ 1030515 w 1364343"/>
              <a:gd name="connsiteY33" fmla="*/ 2467429 h 246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364343" h="2467429">
                <a:moveTo>
                  <a:pt x="0" y="0"/>
                </a:moveTo>
                <a:cubicBezTo>
                  <a:pt x="187888" y="37579"/>
                  <a:pt x="-88725" y="-14718"/>
                  <a:pt x="261258" y="29029"/>
                </a:cubicBezTo>
                <a:cubicBezTo>
                  <a:pt x="276439" y="30927"/>
                  <a:pt x="290090" y="39340"/>
                  <a:pt x="304800" y="43543"/>
                </a:cubicBezTo>
                <a:cubicBezTo>
                  <a:pt x="323981" y="49023"/>
                  <a:pt x="343385" y="53731"/>
                  <a:pt x="362858" y="58058"/>
                </a:cubicBezTo>
                <a:cubicBezTo>
                  <a:pt x="386940" y="63410"/>
                  <a:pt x="411496" y="66589"/>
                  <a:pt x="435429" y="72572"/>
                </a:cubicBezTo>
                <a:cubicBezTo>
                  <a:pt x="450272" y="76283"/>
                  <a:pt x="464129" y="83375"/>
                  <a:pt x="478972" y="87086"/>
                </a:cubicBezTo>
                <a:cubicBezTo>
                  <a:pt x="502905" y="93069"/>
                  <a:pt x="527461" y="96248"/>
                  <a:pt x="551543" y="101600"/>
                </a:cubicBezTo>
                <a:cubicBezTo>
                  <a:pt x="606210" y="113748"/>
                  <a:pt x="604659" y="114468"/>
                  <a:pt x="653143" y="130629"/>
                </a:cubicBezTo>
                <a:cubicBezTo>
                  <a:pt x="741383" y="189456"/>
                  <a:pt x="647630" y="134005"/>
                  <a:pt x="754743" y="174172"/>
                </a:cubicBezTo>
                <a:cubicBezTo>
                  <a:pt x="775002" y="181769"/>
                  <a:pt x="792076" y="196983"/>
                  <a:pt x="812800" y="203200"/>
                </a:cubicBezTo>
                <a:cubicBezTo>
                  <a:pt x="840988" y="211656"/>
                  <a:pt x="871028" y="211943"/>
                  <a:pt x="899886" y="217715"/>
                </a:cubicBezTo>
                <a:cubicBezTo>
                  <a:pt x="919447" y="221627"/>
                  <a:pt x="938836" y="226497"/>
                  <a:pt x="957943" y="232229"/>
                </a:cubicBezTo>
                <a:cubicBezTo>
                  <a:pt x="987251" y="241022"/>
                  <a:pt x="1019569" y="244285"/>
                  <a:pt x="1045029" y="261258"/>
                </a:cubicBezTo>
                <a:cubicBezTo>
                  <a:pt x="1059543" y="270934"/>
                  <a:pt x="1075534" y="278697"/>
                  <a:pt x="1088572" y="290286"/>
                </a:cubicBezTo>
                <a:cubicBezTo>
                  <a:pt x="1119255" y="317560"/>
                  <a:pt x="1175658" y="377372"/>
                  <a:pt x="1175658" y="377372"/>
                </a:cubicBezTo>
                <a:cubicBezTo>
                  <a:pt x="1180308" y="395972"/>
                  <a:pt x="1194275" y="458151"/>
                  <a:pt x="1204686" y="478972"/>
                </a:cubicBezTo>
                <a:cubicBezTo>
                  <a:pt x="1212487" y="494574"/>
                  <a:pt x="1224039" y="508001"/>
                  <a:pt x="1233715" y="522515"/>
                </a:cubicBezTo>
                <a:lnTo>
                  <a:pt x="1277258" y="653143"/>
                </a:lnTo>
                <a:cubicBezTo>
                  <a:pt x="1282096" y="667657"/>
                  <a:pt x="1288772" y="681684"/>
                  <a:pt x="1291772" y="696686"/>
                </a:cubicBezTo>
                <a:cubicBezTo>
                  <a:pt x="1302718" y="751415"/>
                  <a:pt x="1313372" y="800633"/>
                  <a:pt x="1320800" y="856343"/>
                </a:cubicBezTo>
                <a:cubicBezTo>
                  <a:pt x="1326590" y="899770"/>
                  <a:pt x="1328653" y="943670"/>
                  <a:pt x="1335315" y="986972"/>
                </a:cubicBezTo>
                <a:cubicBezTo>
                  <a:pt x="1338348" y="1006688"/>
                  <a:pt x="1346261" y="1025403"/>
                  <a:pt x="1349829" y="1045029"/>
                </a:cubicBezTo>
                <a:cubicBezTo>
                  <a:pt x="1355949" y="1078688"/>
                  <a:pt x="1359505" y="1112762"/>
                  <a:pt x="1364343" y="1146629"/>
                </a:cubicBezTo>
                <a:cubicBezTo>
                  <a:pt x="1359505" y="1301448"/>
                  <a:pt x="1358421" y="1456430"/>
                  <a:pt x="1349829" y="1611086"/>
                </a:cubicBezTo>
                <a:cubicBezTo>
                  <a:pt x="1348183" y="1640708"/>
                  <a:pt x="1310500" y="1739372"/>
                  <a:pt x="1306286" y="1756229"/>
                </a:cubicBezTo>
                <a:cubicBezTo>
                  <a:pt x="1273364" y="1887918"/>
                  <a:pt x="1311932" y="1725180"/>
                  <a:pt x="1277258" y="1915886"/>
                </a:cubicBezTo>
                <a:cubicBezTo>
                  <a:pt x="1273690" y="1935512"/>
                  <a:pt x="1266923" y="1954438"/>
                  <a:pt x="1262743" y="1973943"/>
                </a:cubicBezTo>
                <a:cubicBezTo>
                  <a:pt x="1252405" y="2022187"/>
                  <a:pt x="1249318" y="2072279"/>
                  <a:pt x="1233715" y="2119086"/>
                </a:cubicBezTo>
                <a:cubicBezTo>
                  <a:pt x="1228877" y="2133600"/>
                  <a:pt x="1226042" y="2148945"/>
                  <a:pt x="1219200" y="2162629"/>
                </a:cubicBezTo>
                <a:cubicBezTo>
                  <a:pt x="1211399" y="2178231"/>
                  <a:pt x="1197973" y="2190570"/>
                  <a:pt x="1190172" y="2206172"/>
                </a:cubicBezTo>
                <a:cubicBezTo>
                  <a:pt x="1183330" y="2219856"/>
                  <a:pt x="1183088" y="2236341"/>
                  <a:pt x="1175658" y="2249715"/>
                </a:cubicBezTo>
                <a:cubicBezTo>
                  <a:pt x="1158715" y="2280212"/>
                  <a:pt x="1117600" y="2336800"/>
                  <a:pt x="1117600" y="2336800"/>
                </a:cubicBezTo>
                <a:cubicBezTo>
                  <a:pt x="1106644" y="2369669"/>
                  <a:pt x="1078301" y="2467429"/>
                  <a:pt x="1045029" y="2467429"/>
                </a:cubicBezTo>
                <a:lnTo>
                  <a:pt x="1030515" y="2467429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5E314-BCED-4FB9-9B02-846D10A584DA}"/>
              </a:ext>
            </a:extLst>
          </p:cNvPr>
          <p:cNvSpPr txBox="1"/>
          <p:nvPr/>
        </p:nvSpPr>
        <p:spPr>
          <a:xfrm>
            <a:off x="4934857" y="715380"/>
            <a:ext cx="4093029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Cost Analysis (Block transfer) </a:t>
            </a:r>
          </a:p>
          <a:p>
            <a:endParaRPr lang="en-US" dirty="0"/>
          </a:p>
          <a:p>
            <a:r>
              <a:rPr lang="en-US" dirty="0"/>
              <a:t>Case 1: (</a:t>
            </a: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worst case)</a:t>
            </a:r>
            <a:r>
              <a:rPr lang="en-US" altLang="en-US" dirty="0">
                <a:ea typeface="MS PGothic" panose="020B0600070205080204" pitchFamily="34" charset="-128"/>
              </a:rPr>
              <a:t>, 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r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s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if there is enough memory only to hold one block of each relation, 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altLang="en-US" sz="1600" i="1" dirty="0">
                <a:ea typeface="MS PGothic" panose="020B0600070205080204" pitchFamily="34" charset="-128"/>
              </a:rPr>
              <a:t>n</a:t>
            </a:r>
            <a:r>
              <a:rPr lang="en-US" altLang="en-US" sz="16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920A5-9153-422A-82E0-D1EAF42F2E4D}"/>
              </a:ext>
            </a:extLst>
          </p:cNvPr>
          <p:cNvSpPr txBox="1"/>
          <p:nvPr/>
        </p:nvSpPr>
        <p:spPr>
          <a:xfrm>
            <a:off x="58056" y="715380"/>
            <a:ext cx="4572000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endParaRPr lang="en-US" altLang="en-US" b="1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if they do, 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sym typeface="Greek Symbols" pitchFamily="18" charset="2"/>
              </a:rPr>
              <a:t>           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add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i="1" dirty="0">
                <a:sym typeface="Greek Symbols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 is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outer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and </a:t>
            </a:r>
            <a:r>
              <a:rPr lang="en-US" altLang="en-US" i="1" dirty="0"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inner 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of the join.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EF6AD-9791-435C-A633-BD1DE7B93EDF}"/>
              </a:ext>
            </a:extLst>
          </p:cNvPr>
          <p:cNvSpPr txBox="1"/>
          <p:nvPr/>
        </p:nvSpPr>
        <p:spPr>
          <a:xfrm>
            <a:off x="58056" y="3403152"/>
            <a:ext cx="4455887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For 1 tuple of r, number of block transfer (BT) of s = b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s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For n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tuples</a:t>
            </a:r>
            <a:r>
              <a:rPr lang="en-US" altLang="en-US" sz="1800" dirty="0">
                <a:sym typeface="Greek Symbols" pitchFamily="18" charset="2"/>
              </a:rPr>
              <a:t>, number of block transfer (BT) of s = n</a:t>
            </a:r>
            <a:r>
              <a:rPr lang="en-US" altLang="en-US" sz="1800" baseline="-25000" dirty="0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 * </a:t>
            </a:r>
            <a:r>
              <a:rPr lang="en-US" altLang="en-US" sz="1800" dirty="0" err="1">
                <a:sym typeface="Greek Symbols" pitchFamily="18" charset="2"/>
              </a:rPr>
              <a:t>b</a:t>
            </a:r>
            <a:r>
              <a:rPr lang="en-US" altLang="en-US" sz="1800" baseline="-25000" dirty="0" err="1">
                <a:sym typeface="Greek Symbols" pitchFamily="18" charset="2"/>
              </a:rPr>
              <a:t>s</a:t>
            </a:r>
            <a:endParaRPr lang="en-US" altLang="en-US" sz="1800" baseline="-25000" dirty="0"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BT for r = </a:t>
            </a:r>
            <a:r>
              <a:rPr lang="en-US" altLang="en-US" sz="1800" dirty="0" err="1">
                <a:ea typeface="MS PGothic" panose="020B0600070205080204" pitchFamily="34" charset="-128"/>
                <a:sym typeface="Greek Symbols" pitchFamily="18" charset="2"/>
              </a:rPr>
              <a:t>b</a:t>
            </a:r>
            <a:r>
              <a:rPr lang="en-US" altLang="en-US" sz="1800" baseline="-25000" dirty="0" err="1">
                <a:ea typeface="MS PGothic" panose="020B0600070205080204" pitchFamily="34" charset="-128"/>
                <a:sym typeface="Greek Symbols" pitchFamily="18" charset="2"/>
              </a:rPr>
              <a:t>r</a:t>
            </a:r>
            <a:endParaRPr lang="en-US" altLang="en-US" sz="1800" baseline="-25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Total BT = BT for r + BT for s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sym typeface="Greek Symbols" pitchFamily="18" charset="2"/>
              </a:rPr>
              <a:t>= </a:t>
            </a:r>
            <a:r>
              <a:rPr lang="en-US" altLang="en-US" sz="1800" dirty="0" err="1">
                <a:sym typeface="Greek Symbols" pitchFamily="18" charset="2"/>
              </a:rPr>
              <a:t>b</a:t>
            </a:r>
            <a:r>
              <a:rPr lang="en-US" altLang="en-US" sz="1800" baseline="-25000" dirty="0" err="1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 + n</a:t>
            </a:r>
            <a:r>
              <a:rPr lang="en-US" altLang="en-US" sz="1800" baseline="-25000" dirty="0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 * </a:t>
            </a:r>
            <a:r>
              <a:rPr lang="en-US" altLang="en-US" sz="1800" dirty="0" err="1">
                <a:sym typeface="Greek Symbols" pitchFamily="18" charset="2"/>
              </a:rPr>
              <a:t>b</a:t>
            </a:r>
            <a:r>
              <a:rPr lang="en-US" altLang="en-US" sz="1800" baseline="-25000" dirty="0" err="1">
                <a:sym typeface="Greek Symbols" pitchFamily="18" charset="2"/>
              </a:rPr>
              <a:t>s</a:t>
            </a:r>
            <a:r>
              <a:rPr lang="en-US" altLang="en-US" sz="1800" dirty="0">
                <a:sym typeface="Greek Symbols" pitchFamily="18" charset="2"/>
              </a:rPr>
              <a:t>  </a:t>
            </a:r>
            <a:endParaRPr lang="en-US" altLang="en-US" sz="1800" baseline="-25000" dirty="0"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endParaRPr lang="en-US" altLang="en-US" sz="18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Expensive since it examines every pair of tuples in the two relations. </a:t>
            </a:r>
          </a:p>
        </p:txBody>
      </p:sp>
    </p:spTree>
    <p:extLst>
      <p:ext uri="{BB962C8B-B14F-4D97-AF65-F5344CB8AC3E}">
        <p14:creationId xmlns:p14="http://schemas.microsoft.com/office/powerpoint/2010/main" val="371334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EEEDF5C6-4C65-4381-9C95-666B1C67535B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4427103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EEA3588-B568-4AC9-8102-1BA1E12121CB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4427103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16" name="Table 17">
            <a:extLst>
              <a:ext uri="{FF2B5EF4-FFF2-40B4-BE49-F238E27FC236}">
                <a16:creationId xmlns:a16="http://schemas.microsoft.com/office/drawing/2014/main" id="{539E26BF-1A85-4B2C-99F1-7756FDCC864F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3479071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B42DA80-80EB-4474-AED0-D38904D7A80A}"/>
              </a:ext>
            </a:extLst>
          </p:cNvPr>
          <p:cNvSpPr txBox="1"/>
          <p:nvPr/>
        </p:nvSpPr>
        <p:spPr>
          <a:xfrm>
            <a:off x="7837712" y="3479071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36A42B-C3D0-461D-8934-251A29C3D11A}"/>
              </a:ext>
            </a:extLst>
          </p:cNvPr>
          <p:cNvSpPr/>
          <p:nvPr/>
        </p:nvSpPr>
        <p:spPr bwMode="auto">
          <a:xfrm>
            <a:off x="5152571" y="3657508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2A6B73-385E-4FFE-B082-9E9873AC0AB0}"/>
              </a:ext>
            </a:extLst>
          </p:cNvPr>
          <p:cNvSpPr/>
          <p:nvPr/>
        </p:nvSpPr>
        <p:spPr bwMode="auto">
          <a:xfrm>
            <a:off x="7358743" y="4049483"/>
            <a:ext cx="1364343" cy="1712686"/>
          </a:xfrm>
          <a:custGeom>
            <a:avLst/>
            <a:gdLst>
              <a:gd name="connsiteX0" fmla="*/ 0 w 1364343"/>
              <a:gd name="connsiteY0" fmla="*/ 0 h 2467429"/>
              <a:gd name="connsiteX1" fmla="*/ 261258 w 1364343"/>
              <a:gd name="connsiteY1" fmla="*/ 29029 h 2467429"/>
              <a:gd name="connsiteX2" fmla="*/ 304800 w 1364343"/>
              <a:gd name="connsiteY2" fmla="*/ 43543 h 2467429"/>
              <a:gd name="connsiteX3" fmla="*/ 362858 w 1364343"/>
              <a:gd name="connsiteY3" fmla="*/ 58058 h 2467429"/>
              <a:gd name="connsiteX4" fmla="*/ 435429 w 1364343"/>
              <a:gd name="connsiteY4" fmla="*/ 72572 h 2467429"/>
              <a:gd name="connsiteX5" fmla="*/ 478972 w 1364343"/>
              <a:gd name="connsiteY5" fmla="*/ 87086 h 2467429"/>
              <a:gd name="connsiteX6" fmla="*/ 551543 w 1364343"/>
              <a:gd name="connsiteY6" fmla="*/ 101600 h 2467429"/>
              <a:gd name="connsiteX7" fmla="*/ 653143 w 1364343"/>
              <a:gd name="connsiteY7" fmla="*/ 130629 h 2467429"/>
              <a:gd name="connsiteX8" fmla="*/ 754743 w 1364343"/>
              <a:gd name="connsiteY8" fmla="*/ 174172 h 2467429"/>
              <a:gd name="connsiteX9" fmla="*/ 812800 w 1364343"/>
              <a:gd name="connsiteY9" fmla="*/ 203200 h 2467429"/>
              <a:gd name="connsiteX10" fmla="*/ 899886 w 1364343"/>
              <a:gd name="connsiteY10" fmla="*/ 217715 h 2467429"/>
              <a:gd name="connsiteX11" fmla="*/ 957943 w 1364343"/>
              <a:gd name="connsiteY11" fmla="*/ 232229 h 2467429"/>
              <a:gd name="connsiteX12" fmla="*/ 1045029 w 1364343"/>
              <a:gd name="connsiteY12" fmla="*/ 261258 h 2467429"/>
              <a:gd name="connsiteX13" fmla="*/ 1088572 w 1364343"/>
              <a:gd name="connsiteY13" fmla="*/ 290286 h 2467429"/>
              <a:gd name="connsiteX14" fmla="*/ 1175658 w 1364343"/>
              <a:gd name="connsiteY14" fmla="*/ 377372 h 2467429"/>
              <a:gd name="connsiteX15" fmla="*/ 1204686 w 1364343"/>
              <a:gd name="connsiteY15" fmla="*/ 478972 h 2467429"/>
              <a:gd name="connsiteX16" fmla="*/ 1233715 w 1364343"/>
              <a:gd name="connsiteY16" fmla="*/ 522515 h 2467429"/>
              <a:gd name="connsiteX17" fmla="*/ 1277258 w 1364343"/>
              <a:gd name="connsiteY17" fmla="*/ 653143 h 2467429"/>
              <a:gd name="connsiteX18" fmla="*/ 1291772 w 1364343"/>
              <a:gd name="connsiteY18" fmla="*/ 696686 h 2467429"/>
              <a:gd name="connsiteX19" fmla="*/ 1320800 w 1364343"/>
              <a:gd name="connsiteY19" fmla="*/ 856343 h 2467429"/>
              <a:gd name="connsiteX20" fmla="*/ 1335315 w 1364343"/>
              <a:gd name="connsiteY20" fmla="*/ 986972 h 2467429"/>
              <a:gd name="connsiteX21" fmla="*/ 1349829 w 1364343"/>
              <a:gd name="connsiteY21" fmla="*/ 1045029 h 2467429"/>
              <a:gd name="connsiteX22" fmla="*/ 1364343 w 1364343"/>
              <a:gd name="connsiteY22" fmla="*/ 1146629 h 2467429"/>
              <a:gd name="connsiteX23" fmla="*/ 1349829 w 1364343"/>
              <a:gd name="connsiteY23" fmla="*/ 1611086 h 2467429"/>
              <a:gd name="connsiteX24" fmla="*/ 1306286 w 1364343"/>
              <a:gd name="connsiteY24" fmla="*/ 1756229 h 2467429"/>
              <a:gd name="connsiteX25" fmla="*/ 1277258 w 1364343"/>
              <a:gd name="connsiteY25" fmla="*/ 1915886 h 2467429"/>
              <a:gd name="connsiteX26" fmla="*/ 1262743 w 1364343"/>
              <a:gd name="connsiteY26" fmla="*/ 1973943 h 2467429"/>
              <a:gd name="connsiteX27" fmla="*/ 1233715 w 1364343"/>
              <a:gd name="connsiteY27" fmla="*/ 2119086 h 2467429"/>
              <a:gd name="connsiteX28" fmla="*/ 1219200 w 1364343"/>
              <a:gd name="connsiteY28" fmla="*/ 2162629 h 2467429"/>
              <a:gd name="connsiteX29" fmla="*/ 1190172 w 1364343"/>
              <a:gd name="connsiteY29" fmla="*/ 2206172 h 2467429"/>
              <a:gd name="connsiteX30" fmla="*/ 1175658 w 1364343"/>
              <a:gd name="connsiteY30" fmla="*/ 2249715 h 2467429"/>
              <a:gd name="connsiteX31" fmla="*/ 1117600 w 1364343"/>
              <a:gd name="connsiteY31" fmla="*/ 2336800 h 2467429"/>
              <a:gd name="connsiteX32" fmla="*/ 1045029 w 1364343"/>
              <a:gd name="connsiteY32" fmla="*/ 2467429 h 2467429"/>
              <a:gd name="connsiteX33" fmla="*/ 1030515 w 1364343"/>
              <a:gd name="connsiteY33" fmla="*/ 2467429 h 246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364343" h="2467429">
                <a:moveTo>
                  <a:pt x="0" y="0"/>
                </a:moveTo>
                <a:cubicBezTo>
                  <a:pt x="187888" y="37579"/>
                  <a:pt x="-88725" y="-14718"/>
                  <a:pt x="261258" y="29029"/>
                </a:cubicBezTo>
                <a:cubicBezTo>
                  <a:pt x="276439" y="30927"/>
                  <a:pt x="290090" y="39340"/>
                  <a:pt x="304800" y="43543"/>
                </a:cubicBezTo>
                <a:cubicBezTo>
                  <a:pt x="323981" y="49023"/>
                  <a:pt x="343385" y="53731"/>
                  <a:pt x="362858" y="58058"/>
                </a:cubicBezTo>
                <a:cubicBezTo>
                  <a:pt x="386940" y="63410"/>
                  <a:pt x="411496" y="66589"/>
                  <a:pt x="435429" y="72572"/>
                </a:cubicBezTo>
                <a:cubicBezTo>
                  <a:pt x="450272" y="76283"/>
                  <a:pt x="464129" y="83375"/>
                  <a:pt x="478972" y="87086"/>
                </a:cubicBezTo>
                <a:cubicBezTo>
                  <a:pt x="502905" y="93069"/>
                  <a:pt x="527461" y="96248"/>
                  <a:pt x="551543" y="101600"/>
                </a:cubicBezTo>
                <a:cubicBezTo>
                  <a:pt x="606210" y="113748"/>
                  <a:pt x="604659" y="114468"/>
                  <a:pt x="653143" y="130629"/>
                </a:cubicBezTo>
                <a:cubicBezTo>
                  <a:pt x="741383" y="189456"/>
                  <a:pt x="647630" y="134005"/>
                  <a:pt x="754743" y="174172"/>
                </a:cubicBezTo>
                <a:cubicBezTo>
                  <a:pt x="775002" y="181769"/>
                  <a:pt x="792076" y="196983"/>
                  <a:pt x="812800" y="203200"/>
                </a:cubicBezTo>
                <a:cubicBezTo>
                  <a:pt x="840988" y="211656"/>
                  <a:pt x="871028" y="211943"/>
                  <a:pt x="899886" y="217715"/>
                </a:cubicBezTo>
                <a:cubicBezTo>
                  <a:pt x="919447" y="221627"/>
                  <a:pt x="938836" y="226497"/>
                  <a:pt x="957943" y="232229"/>
                </a:cubicBezTo>
                <a:cubicBezTo>
                  <a:pt x="987251" y="241022"/>
                  <a:pt x="1019569" y="244285"/>
                  <a:pt x="1045029" y="261258"/>
                </a:cubicBezTo>
                <a:cubicBezTo>
                  <a:pt x="1059543" y="270934"/>
                  <a:pt x="1075534" y="278697"/>
                  <a:pt x="1088572" y="290286"/>
                </a:cubicBezTo>
                <a:cubicBezTo>
                  <a:pt x="1119255" y="317560"/>
                  <a:pt x="1175658" y="377372"/>
                  <a:pt x="1175658" y="377372"/>
                </a:cubicBezTo>
                <a:cubicBezTo>
                  <a:pt x="1180308" y="395972"/>
                  <a:pt x="1194275" y="458151"/>
                  <a:pt x="1204686" y="478972"/>
                </a:cubicBezTo>
                <a:cubicBezTo>
                  <a:pt x="1212487" y="494574"/>
                  <a:pt x="1224039" y="508001"/>
                  <a:pt x="1233715" y="522515"/>
                </a:cubicBezTo>
                <a:lnTo>
                  <a:pt x="1277258" y="653143"/>
                </a:lnTo>
                <a:cubicBezTo>
                  <a:pt x="1282096" y="667657"/>
                  <a:pt x="1288772" y="681684"/>
                  <a:pt x="1291772" y="696686"/>
                </a:cubicBezTo>
                <a:cubicBezTo>
                  <a:pt x="1302718" y="751415"/>
                  <a:pt x="1313372" y="800633"/>
                  <a:pt x="1320800" y="856343"/>
                </a:cubicBezTo>
                <a:cubicBezTo>
                  <a:pt x="1326590" y="899770"/>
                  <a:pt x="1328653" y="943670"/>
                  <a:pt x="1335315" y="986972"/>
                </a:cubicBezTo>
                <a:cubicBezTo>
                  <a:pt x="1338348" y="1006688"/>
                  <a:pt x="1346261" y="1025403"/>
                  <a:pt x="1349829" y="1045029"/>
                </a:cubicBezTo>
                <a:cubicBezTo>
                  <a:pt x="1355949" y="1078688"/>
                  <a:pt x="1359505" y="1112762"/>
                  <a:pt x="1364343" y="1146629"/>
                </a:cubicBezTo>
                <a:cubicBezTo>
                  <a:pt x="1359505" y="1301448"/>
                  <a:pt x="1358421" y="1456430"/>
                  <a:pt x="1349829" y="1611086"/>
                </a:cubicBezTo>
                <a:cubicBezTo>
                  <a:pt x="1348183" y="1640708"/>
                  <a:pt x="1310500" y="1739372"/>
                  <a:pt x="1306286" y="1756229"/>
                </a:cubicBezTo>
                <a:cubicBezTo>
                  <a:pt x="1273364" y="1887918"/>
                  <a:pt x="1311932" y="1725180"/>
                  <a:pt x="1277258" y="1915886"/>
                </a:cubicBezTo>
                <a:cubicBezTo>
                  <a:pt x="1273690" y="1935512"/>
                  <a:pt x="1266923" y="1954438"/>
                  <a:pt x="1262743" y="1973943"/>
                </a:cubicBezTo>
                <a:cubicBezTo>
                  <a:pt x="1252405" y="2022187"/>
                  <a:pt x="1249318" y="2072279"/>
                  <a:pt x="1233715" y="2119086"/>
                </a:cubicBezTo>
                <a:cubicBezTo>
                  <a:pt x="1228877" y="2133600"/>
                  <a:pt x="1226042" y="2148945"/>
                  <a:pt x="1219200" y="2162629"/>
                </a:cubicBezTo>
                <a:cubicBezTo>
                  <a:pt x="1211399" y="2178231"/>
                  <a:pt x="1197973" y="2190570"/>
                  <a:pt x="1190172" y="2206172"/>
                </a:cubicBezTo>
                <a:cubicBezTo>
                  <a:pt x="1183330" y="2219856"/>
                  <a:pt x="1183088" y="2236341"/>
                  <a:pt x="1175658" y="2249715"/>
                </a:cubicBezTo>
                <a:cubicBezTo>
                  <a:pt x="1158715" y="2280212"/>
                  <a:pt x="1117600" y="2336800"/>
                  <a:pt x="1117600" y="2336800"/>
                </a:cubicBezTo>
                <a:cubicBezTo>
                  <a:pt x="1106644" y="2369669"/>
                  <a:pt x="1078301" y="2467429"/>
                  <a:pt x="1045029" y="2467429"/>
                </a:cubicBezTo>
                <a:lnTo>
                  <a:pt x="1030515" y="2467429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5E314-BCED-4FB9-9B02-846D10A584DA}"/>
              </a:ext>
            </a:extLst>
          </p:cNvPr>
          <p:cNvSpPr txBox="1"/>
          <p:nvPr/>
        </p:nvSpPr>
        <p:spPr>
          <a:xfrm>
            <a:off x="4934857" y="715380"/>
            <a:ext cx="4093029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Cost Analysis-Number of Seek (</a:t>
            </a:r>
            <a:r>
              <a:rPr lang="en-US" b="1" dirty="0" err="1">
                <a:solidFill>
                  <a:srgbClr val="0000FF"/>
                </a:solidFill>
              </a:rPr>
              <a:t>NoS</a:t>
            </a:r>
            <a:r>
              <a:rPr lang="en-US" b="1" dirty="0">
                <a:solidFill>
                  <a:srgbClr val="0000FF"/>
                </a:solidFill>
              </a:rPr>
              <a:t>) </a:t>
            </a:r>
          </a:p>
          <a:p>
            <a:endParaRPr lang="en-US" dirty="0"/>
          </a:p>
          <a:p>
            <a:r>
              <a:rPr lang="en-US" dirty="0"/>
              <a:t>Case 1: (</a:t>
            </a: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worst case </a:t>
            </a:r>
            <a:r>
              <a:rPr lang="en-US" altLang="en-US" b="1" dirty="0" err="1">
                <a:solidFill>
                  <a:srgbClr val="FF0000"/>
                </a:solidFill>
                <a:ea typeface="MS PGothic" panose="020B0600070205080204" pitchFamily="34" charset="-128"/>
              </a:rPr>
              <a:t>NoS</a:t>
            </a: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)</a:t>
            </a:r>
            <a:r>
              <a:rPr lang="en-US" altLang="en-US" dirty="0">
                <a:ea typeface="MS PGothic" panose="020B0600070205080204" pitchFamily="34" charset="-128"/>
              </a:rPr>
              <a:t>, 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r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s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if there is enough memory only to hold one block of each relation, 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altLang="en-US" sz="1600" i="1" dirty="0">
                <a:ea typeface="MS PGothic" panose="020B0600070205080204" pitchFamily="34" charset="-128"/>
              </a:rPr>
              <a:t>n</a:t>
            </a:r>
            <a:r>
              <a:rPr lang="en-US" altLang="en-US" sz="16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920A5-9153-422A-82E0-D1EAF42F2E4D}"/>
              </a:ext>
            </a:extLst>
          </p:cNvPr>
          <p:cNvSpPr txBox="1"/>
          <p:nvPr/>
        </p:nvSpPr>
        <p:spPr>
          <a:xfrm>
            <a:off x="58056" y="715380"/>
            <a:ext cx="4572000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endParaRPr lang="en-US" altLang="en-US" b="1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if they do, 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sym typeface="Greek Symbols" pitchFamily="18" charset="2"/>
              </a:rPr>
              <a:t>           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add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i="1" dirty="0">
                <a:sym typeface="Greek Symbols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 is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outer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and </a:t>
            </a:r>
            <a:r>
              <a:rPr lang="en-US" altLang="en-US" i="1" dirty="0"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inner 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of the join.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EF6AD-9791-435C-A633-BD1DE7B93EDF}"/>
              </a:ext>
            </a:extLst>
          </p:cNvPr>
          <p:cNvSpPr txBox="1"/>
          <p:nvPr/>
        </p:nvSpPr>
        <p:spPr>
          <a:xfrm>
            <a:off x="58056" y="3403152"/>
            <a:ext cx="4455887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For 1 tuple of r, number of seek of s = 1</a:t>
            </a:r>
            <a:endParaRPr lang="en-US" altLang="en-US" sz="1800" baseline="-25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For n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tuples</a:t>
            </a:r>
            <a:r>
              <a:rPr lang="en-US" altLang="en-US" sz="1800" dirty="0">
                <a:sym typeface="Greek Symbols" pitchFamily="18" charset="2"/>
              </a:rPr>
              <a:t>, number of seek in s = n</a:t>
            </a:r>
            <a:r>
              <a:rPr lang="en-US" altLang="en-US" sz="1800" baseline="-25000" dirty="0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 </a:t>
            </a:r>
            <a:endParaRPr lang="en-US" altLang="en-US" sz="1800" baseline="-25000" dirty="0"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 err="1">
                <a:sym typeface="Greek Symbols" pitchFamily="18" charset="2"/>
              </a:rPr>
              <a:t>NoS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for r = </a:t>
            </a:r>
            <a:r>
              <a:rPr lang="en-US" altLang="en-US" sz="1800" dirty="0" err="1">
                <a:ea typeface="MS PGothic" panose="020B0600070205080204" pitchFamily="34" charset="-128"/>
                <a:sym typeface="Greek Symbols" pitchFamily="18" charset="2"/>
              </a:rPr>
              <a:t>b</a:t>
            </a:r>
            <a:r>
              <a:rPr lang="en-US" altLang="en-US" sz="1800" baseline="-25000" dirty="0" err="1">
                <a:ea typeface="MS PGothic" panose="020B0600070205080204" pitchFamily="34" charset="-128"/>
                <a:sym typeface="Greek Symbols" pitchFamily="18" charset="2"/>
              </a:rPr>
              <a:t>r</a:t>
            </a:r>
            <a:endParaRPr lang="en-US" altLang="en-US" sz="1800" baseline="-25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Total </a:t>
            </a:r>
            <a:r>
              <a:rPr lang="en-US" altLang="en-US" sz="1800" dirty="0" err="1">
                <a:ea typeface="MS PGothic" panose="020B0600070205080204" pitchFamily="34" charset="-128"/>
                <a:sym typeface="Greek Symbols" pitchFamily="18" charset="2"/>
              </a:rPr>
              <a:t>NoS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= </a:t>
            </a:r>
            <a:r>
              <a:rPr lang="en-US" altLang="en-US" sz="1800" dirty="0" err="1">
                <a:ea typeface="MS PGothic" panose="020B0600070205080204" pitchFamily="34" charset="-128"/>
                <a:sym typeface="Greek Symbols" pitchFamily="18" charset="2"/>
              </a:rPr>
              <a:t>NoS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for r + </a:t>
            </a:r>
            <a:r>
              <a:rPr lang="en-US" altLang="en-US" sz="1800" dirty="0" err="1">
                <a:ea typeface="MS PGothic" panose="020B0600070205080204" pitchFamily="34" charset="-128"/>
                <a:sym typeface="Greek Symbols" pitchFamily="18" charset="2"/>
              </a:rPr>
              <a:t>NoS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for s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dirty="0">
                <a:sym typeface="Greek Symbols" pitchFamily="18" charset="2"/>
              </a:rPr>
              <a:t>= </a:t>
            </a:r>
            <a:r>
              <a:rPr lang="en-US" altLang="en-US" sz="1800" dirty="0" err="1">
                <a:sym typeface="Greek Symbols" pitchFamily="18" charset="2"/>
              </a:rPr>
              <a:t>b</a:t>
            </a:r>
            <a:r>
              <a:rPr lang="en-US" altLang="en-US" sz="1800" baseline="-25000" dirty="0" err="1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 + n</a:t>
            </a:r>
            <a:r>
              <a:rPr lang="en-US" altLang="en-US" sz="1800" baseline="-25000" dirty="0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 </a:t>
            </a:r>
            <a:endParaRPr lang="en-US" altLang="en-US" sz="1800" baseline="-25000" dirty="0"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endParaRPr lang="en-US" altLang="en-US" sz="18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1800" b="1" dirty="0">
                <a:solidFill>
                  <a:srgbClr val="0000FF"/>
                </a:solidFill>
                <a:sym typeface="Greek Symbols" pitchFamily="18" charset="2"/>
              </a:rPr>
              <a:t>Discussion</a:t>
            </a:r>
          </a:p>
          <a:p>
            <a:pPr marL="342900" indent="-342900">
              <a:buFont typeface="+mj-lt"/>
              <a:buAutoNum type="alphaLcPeriod"/>
              <a:tabLst>
                <a:tab pos="461963" algn="l"/>
                <a:tab pos="850900" algn="l"/>
              </a:tabLst>
            </a:pPr>
            <a:r>
              <a:rPr lang="en-US" altLang="en-US" sz="1800" dirty="0">
                <a:sym typeface="Greek Symbols" pitchFamily="18" charset="2"/>
              </a:rPr>
              <a:t>Explain “for n</a:t>
            </a:r>
            <a:r>
              <a:rPr lang="en-US" altLang="en-US" sz="1800" baseline="-25000" dirty="0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 tuples, number of seek in s = n</a:t>
            </a:r>
            <a:r>
              <a:rPr lang="en-US" altLang="en-US" sz="1800" baseline="-25000" dirty="0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 ”</a:t>
            </a:r>
          </a:p>
          <a:p>
            <a:pPr marL="342900" indent="-342900">
              <a:buFont typeface="+mj-lt"/>
              <a:buAutoNum type="alphaLcPeriod"/>
              <a:tabLst>
                <a:tab pos="461963" algn="l"/>
                <a:tab pos="850900" algn="l"/>
              </a:tabLst>
            </a:pPr>
            <a:r>
              <a:rPr lang="en-US" altLang="en-US" sz="1800" dirty="0">
                <a:sym typeface="Greek Symbols" pitchFamily="18" charset="2"/>
              </a:rPr>
              <a:t>Explain “</a:t>
            </a:r>
            <a:r>
              <a:rPr lang="en-US" altLang="en-US" sz="1800" dirty="0" err="1">
                <a:sym typeface="Greek Symbols" pitchFamily="18" charset="2"/>
              </a:rPr>
              <a:t>NoS</a:t>
            </a:r>
            <a:r>
              <a:rPr lang="en-US" altLang="en-US" sz="1800" dirty="0">
                <a:sym typeface="Greek Symbols" pitchFamily="18" charset="2"/>
              </a:rPr>
              <a:t> for r = </a:t>
            </a:r>
            <a:r>
              <a:rPr lang="en-US" altLang="en-US" sz="1800" dirty="0" err="1">
                <a:sym typeface="Greek Symbols" pitchFamily="18" charset="2"/>
              </a:rPr>
              <a:t>b</a:t>
            </a:r>
            <a:r>
              <a:rPr lang="en-US" altLang="en-US" sz="1800" baseline="-25000" dirty="0" err="1">
                <a:sym typeface="Greek Symbols" pitchFamily="18" charset="2"/>
              </a:rPr>
              <a:t>r</a:t>
            </a:r>
            <a:r>
              <a:rPr lang="en-US" altLang="en-US" sz="1800" dirty="0">
                <a:sym typeface="Greek Symbols" pitchFamily="18" charset="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943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7D50C-354A-4037-BCEB-A929055ABDBA}"/>
              </a:ext>
            </a:extLst>
          </p:cNvPr>
          <p:cNvSpPr txBox="1"/>
          <p:nvPr/>
        </p:nvSpPr>
        <p:spPr>
          <a:xfrm>
            <a:off x="116114" y="821757"/>
            <a:ext cx="45720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endParaRPr lang="en-US" altLang="en-US" b="1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takes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if they do, 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sym typeface="Greek Symbols" pitchFamily="18" charset="2"/>
              </a:rPr>
              <a:t>           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add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0FD29-F0BA-4B39-B20A-68C8B7C8CD3F}"/>
              </a:ext>
            </a:extLst>
          </p:cNvPr>
          <p:cNvSpPr txBox="1"/>
          <p:nvPr/>
        </p:nvSpPr>
        <p:spPr>
          <a:xfrm>
            <a:off x="116114" y="4580182"/>
            <a:ext cx="3904557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Question</a:t>
            </a:r>
          </a:p>
          <a:p>
            <a:r>
              <a:rPr lang="en-US" dirty="0"/>
              <a:t>Write the SQL and</a:t>
            </a:r>
          </a:p>
          <a:p>
            <a:r>
              <a:rPr lang="en-US" dirty="0"/>
              <a:t>Find the worst case number of block transfer and number of seek</a:t>
            </a:r>
          </a:p>
        </p:txBody>
      </p:sp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882328FF-DB78-4D13-8D1E-2D889EEE8152}"/>
              </a:ext>
            </a:extLst>
          </p:cNvPr>
          <p:cNvGraphicFramePr>
            <a:graphicFrameLocks noGrp="1"/>
          </p:cNvGraphicFramePr>
          <p:nvPr/>
        </p:nvGraphicFramePr>
        <p:xfrm>
          <a:off x="174812" y="3085406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E4FBE897-81EA-4F01-A2E3-E7421360B0DA}"/>
              </a:ext>
            </a:extLst>
          </p:cNvPr>
          <p:cNvSpPr txBox="1"/>
          <p:nvPr/>
        </p:nvSpPr>
        <p:spPr>
          <a:xfrm>
            <a:off x="4934857" y="758928"/>
            <a:ext cx="4093029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Cost Analysis (Block transfer) </a:t>
            </a:r>
          </a:p>
          <a:p>
            <a:endParaRPr lang="en-US" dirty="0"/>
          </a:p>
          <a:p>
            <a:r>
              <a:rPr lang="en-US" dirty="0"/>
              <a:t>Case 1: (</a:t>
            </a: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worst case)</a:t>
            </a:r>
            <a:r>
              <a:rPr lang="en-US" altLang="en-US" dirty="0">
                <a:ea typeface="MS PGothic" panose="020B0600070205080204" pitchFamily="34" charset="-128"/>
              </a:rPr>
              <a:t>, 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r</a:t>
            </a: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s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if there is enough memory only to hold one block of each relation, 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altLang="en-US" sz="1600" i="1" dirty="0">
                <a:ea typeface="MS PGothic" panose="020B0600070205080204" pitchFamily="34" charset="-128"/>
              </a:rPr>
              <a:t>n</a:t>
            </a:r>
            <a:r>
              <a:rPr lang="en-US" altLang="en-US" sz="16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sz="1600" dirty="0"/>
          </a:p>
        </p:txBody>
      </p:sp>
      <p:graphicFrame>
        <p:nvGraphicFramePr>
          <p:cNvPr id="29" name="Table 12">
            <a:extLst>
              <a:ext uri="{FF2B5EF4-FFF2-40B4-BE49-F238E27FC236}">
                <a16:creationId xmlns:a16="http://schemas.microsoft.com/office/drawing/2014/main" id="{3A7288C9-01AB-4C9F-AF05-93CEDA786173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4412584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B7DF15D-3926-40A8-B3BA-B342D3B77373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4412584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33" name="Table 17">
            <a:extLst>
              <a:ext uri="{FF2B5EF4-FFF2-40B4-BE49-F238E27FC236}">
                <a16:creationId xmlns:a16="http://schemas.microsoft.com/office/drawing/2014/main" id="{F1D16E1C-629F-498A-92AA-8528B115A096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3464552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32A753B-0E13-41E2-9E8E-65A3EFE515CC}"/>
              </a:ext>
            </a:extLst>
          </p:cNvPr>
          <p:cNvSpPr txBox="1"/>
          <p:nvPr/>
        </p:nvSpPr>
        <p:spPr>
          <a:xfrm>
            <a:off x="7837712" y="3464552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4F3F4CB-CA35-4646-BFB0-9E330B13FE22}"/>
              </a:ext>
            </a:extLst>
          </p:cNvPr>
          <p:cNvSpPr/>
          <p:nvPr/>
        </p:nvSpPr>
        <p:spPr bwMode="auto">
          <a:xfrm>
            <a:off x="5152571" y="3642989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C74DDD0-3098-4812-9E06-7AE869C1F6BD}"/>
              </a:ext>
            </a:extLst>
          </p:cNvPr>
          <p:cNvSpPr/>
          <p:nvPr/>
        </p:nvSpPr>
        <p:spPr bwMode="auto">
          <a:xfrm>
            <a:off x="7418296" y="4009457"/>
            <a:ext cx="1059543" cy="620592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7D50C-354A-4037-BCEB-A929055ABDBA}"/>
              </a:ext>
            </a:extLst>
          </p:cNvPr>
          <p:cNvSpPr txBox="1"/>
          <p:nvPr/>
        </p:nvSpPr>
        <p:spPr>
          <a:xfrm>
            <a:off x="116114" y="821757"/>
            <a:ext cx="45720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endParaRPr lang="en-US" altLang="en-US" b="1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takes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if they do, 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sym typeface="Greek Symbols" pitchFamily="18" charset="2"/>
              </a:rPr>
              <a:t>           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add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0FD29-F0BA-4B39-B20A-68C8B7C8CD3F}"/>
              </a:ext>
            </a:extLst>
          </p:cNvPr>
          <p:cNvSpPr txBox="1"/>
          <p:nvPr/>
        </p:nvSpPr>
        <p:spPr>
          <a:xfrm>
            <a:off x="116114" y="4580182"/>
            <a:ext cx="390455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</a:rPr>
              <a:t>Example</a:t>
            </a:r>
            <a:endParaRPr lang="en-US" altLang="en-US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r>
              <a:rPr lang="en-US" dirty="0"/>
              <a:t>Find the worst case number of block transfer and number of seek</a:t>
            </a:r>
          </a:p>
        </p:txBody>
      </p:sp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882328FF-DB78-4D13-8D1E-2D889EEE8152}"/>
              </a:ext>
            </a:extLst>
          </p:cNvPr>
          <p:cNvGraphicFramePr>
            <a:graphicFrameLocks noGrp="1"/>
          </p:cNvGraphicFramePr>
          <p:nvPr/>
        </p:nvGraphicFramePr>
        <p:xfrm>
          <a:off x="174812" y="3085406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E4FBE897-81EA-4F01-A2E3-E7421360B0DA}"/>
              </a:ext>
            </a:extLst>
          </p:cNvPr>
          <p:cNvSpPr txBox="1"/>
          <p:nvPr/>
        </p:nvSpPr>
        <p:spPr>
          <a:xfrm>
            <a:off x="4934857" y="758928"/>
            <a:ext cx="4093029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Solution 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i="1" dirty="0" err="1"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en-US" altLang="en-US" i="1" dirty="0">
                <a:sym typeface="Symbol" panose="05050102010706020507" pitchFamily="18" charset="2"/>
              </a:rPr>
              <a:t>2000</a:t>
            </a:r>
            <a:endParaRPr lang="en-US" altLang="en-US" sz="16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en-US" altLang="en-US" i="1" dirty="0">
                <a:sym typeface="Symbol" panose="05050102010706020507" pitchFamily="18" charset="2"/>
              </a:rPr>
              <a:t>400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memory only holds one block of each relation, 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= 20000 * 400 + 2000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altLang="en-US" sz="1600" i="1" dirty="0">
                <a:ea typeface="MS PGothic" panose="020B0600070205080204" pitchFamily="34" charset="-128"/>
              </a:rPr>
              <a:t>n</a:t>
            </a:r>
            <a:r>
              <a:rPr lang="en-US" altLang="en-US" sz="16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20000+2000</a:t>
            </a:r>
            <a:endParaRPr lang="en-US" sz="1600" dirty="0"/>
          </a:p>
        </p:txBody>
      </p:sp>
      <p:graphicFrame>
        <p:nvGraphicFramePr>
          <p:cNvPr id="29" name="Table 12">
            <a:extLst>
              <a:ext uri="{FF2B5EF4-FFF2-40B4-BE49-F238E27FC236}">
                <a16:creationId xmlns:a16="http://schemas.microsoft.com/office/drawing/2014/main" id="{3A7288C9-01AB-4C9F-AF05-93CEDA786173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4412584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B7DF15D-3926-40A8-B3BA-B342D3B77373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4412584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33" name="Table 17">
            <a:extLst>
              <a:ext uri="{FF2B5EF4-FFF2-40B4-BE49-F238E27FC236}">
                <a16:creationId xmlns:a16="http://schemas.microsoft.com/office/drawing/2014/main" id="{F1D16E1C-629F-498A-92AA-8528B115A096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3464552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32A753B-0E13-41E2-9E8E-65A3EFE515CC}"/>
              </a:ext>
            </a:extLst>
          </p:cNvPr>
          <p:cNvSpPr txBox="1"/>
          <p:nvPr/>
        </p:nvSpPr>
        <p:spPr>
          <a:xfrm>
            <a:off x="7837712" y="3464552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4F3F4CB-CA35-4646-BFB0-9E330B13FE22}"/>
              </a:ext>
            </a:extLst>
          </p:cNvPr>
          <p:cNvSpPr/>
          <p:nvPr/>
        </p:nvSpPr>
        <p:spPr bwMode="auto">
          <a:xfrm>
            <a:off x="5152571" y="3642989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C74DDD0-3098-4812-9E06-7AE869C1F6BD}"/>
              </a:ext>
            </a:extLst>
          </p:cNvPr>
          <p:cNvSpPr/>
          <p:nvPr/>
        </p:nvSpPr>
        <p:spPr bwMode="auto">
          <a:xfrm>
            <a:off x="7418296" y="4009457"/>
            <a:ext cx="1059543" cy="620592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10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7D50C-354A-4037-BCEB-A929055ABDBA}"/>
              </a:ext>
            </a:extLst>
          </p:cNvPr>
          <p:cNvSpPr txBox="1"/>
          <p:nvPr/>
        </p:nvSpPr>
        <p:spPr>
          <a:xfrm>
            <a:off x="116114" y="821757"/>
            <a:ext cx="45720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endParaRPr lang="en-US" altLang="en-US" b="1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if they do, 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sym typeface="Greek Symbols" pitchFamily="18" charset="2"/>
              </a:rPr>
              <a:t>           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add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D91D6-74E6-473F-A2AF-CC0D2EC0ECAB}"/>
              </a:ext>
            </a:extLst>
          </p:cNvPr>
          <p:cNvSpPr txBox="1"/>
          <p:nvPr/>
        </p:nvSpPr>
        <p:spPr>
          <a:xfrm>
            <a:off x="185056" y="3039592"/>
            <a:ext cx="4503058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Cost Analysis (Block transfer and </a:t>
            </a:r>
            <a:r>
              <a:rPr lang="en-US" sz="1800" b="1" dirty="0" err="1">
                <a:solidFill>
                  <a:srgbClr val="0000FF"/>
                </a:solidFill>
              </a:rPr>
              <a:t>NoS</a:t>
            </a:r>
            <a:r>
              <a:rPr lang="en-US" sz="1800" b="1" dirty="0">
                <a:solidFill>
                  <a:srgbClr val="0000FF"/>
                </a:solidFill>
              </a:rPr>
              <a:t>) 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Case 2 (Best Case):</a:t>
            </a:r>
            <a:r>
              <a:rPr lang="en-US" sz="1800" dirty="0"/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the smaller relation fits entirely in memory, use that as the inner relation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r</a:t>
            </a:r>
          </a:p>
          <a:p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= number of blocks in s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endParaRPr lang="en-US" altLang="en-US" sz="1800" dirty="0">
              <a:ea typeface="MS PGothic" panose="020B0600070205080204" pitchFamily="34" charset="-128"/>
            </a:endParaRPr>
          </a:p>
          <a:p>
            <a:r>
              <a:rPr lang="en-US" altLang="en-US" sz="1800" dirty="0">
                <a:ea typeface="MS PGothic" panose="020B0600070205080204" pitchFamily="34" charset="-128"/>
              </a:rPr>
              <a:t>the estimated </a:t>
            </a:r>
            <a:r>
              <a:rPr lang="en-US" altLang="en-US" sz="1800" dirty="0">
                <a:sym typeface="Symbol" panose="05050102010706020507" pitchFamily="18" charset="2"/>
              </a:rPr>
              <a:t>block transfers</a:t>
            </a:r>
            <a:r>
              <a:rPr lang="en-US" altLang="en-US" sz="1800" dirty="0">
                <a:ea typeface="MS PGothic" panose="020B0600070205080204" pitchFamily="34" charset="-128"/>
              </a:rPr>
              <a:t>  is </a:t>
            </a:r>
            <a:br>
              <a:rPr lang="en-US" altLang="en-US" sz="1800" dirty="0">
                <a:ea typeface="MS PGothic" panose="020B0600070205080204" pitchFamily="34" charset="-128"/>
              </a:rPr>
            </a:br>
            <a:r>
              <a:rPr lang="en-US" altLang="en-US" sz="1800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800" dirty="0">
                <a:sym typeface="Symbol" panose="05050102010706020507" pitchFamily="18" charset="2"/>
              </a:rPr>
              <a:t>Number of seek = 2</a:t>
            </a:r>
            <a:endParaRPr lang="en-US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EEEDF5C6-4C65-4381-9C95-666B1C67535B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4006192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EEA3588-B568-4AC9-8102-1BA1E12121CB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4006192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16" name="Table 17">
            <a:extLst>
              <a:ext uri="{FF2B5EF4-FFF2-40B4-BE49-F238E27FC236}">
                <a16:creationId xmlns:a16="http://schemas.microsoft.com/office/drawing/2014/main" id="{539E26BF-1A85-4B2C-99F1-7756FDCC864F}"/>
              </a:ext>
            </a:extLst>
          </p:cNvPr>
          <p:cNvGraphicFramePr>
            <a:graphicFrameLocks noGrp="1"/>
          </p:cNvGraphicFramePr>
          <p:nvPr/>
        </p:nvGraphicFramePr>
        <p:xfrm>
          <a:off x="6437084" y="1624953"/>
          <a:ext cx="1059543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8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23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73602"/>
                  </a:ext>
                </a:extLst>
              </a:tr>
            </a:tbl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36A42B-C3D0-461D-8934-251A29C3D11A}"/>
              </a:ext>
            </a:extLst>
          </p:cNvPr>
          <p:cNvSpPr/>
          <p:nvPr/>
        </p:nvSpPr>
        <p:spPr bwMode="auto">
          <a:xfrm>
            <a:off x="5152570" y="1826499"/>
            <a:ext cx="1284513" cy="2339102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7D442E2-1EC2-41A4-A31F-9E160EA4120F}"/>
              </a:ext>
            </a:extLst>
          </p:cNvPr>
          <p:cNvSpPr/>
          <p:nvPr/>
        </p:nvSpPr>
        <p:spPr bwMode="auto">
          <a:xfrm>
            <a:off x="7496627" y="2017486"/>
            <a:ext cx="268516" cy="1461667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32B2D61-BFCF-4961-BE98-AE1DF2A89521}"/>
              </a:ext>
            </a:extLst>
          </p:cNvPr>
          <p:cNvSpPr/>
          <p:nvPr/>
        </p:nvSpPr>
        <p:spPr bwMode="auto">
          <a:xfrm>
            <a:off x="8425541" y="4006192"/>
            <a:ext cx="297545" cy="1483360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83664E-DE85-41EA-BECB-CC99B732A4F7}"/>
              </a:ext>
            </a:extLst>
          </p:cNvPr>
          <p:cNvSpPr/>
          <p:nvPr/>
        </p:nvSpPr>
        <p:spPr bwMode="auto">
          <a:xfrm>
            <a:off x="7852229" y="2757714"/>
            <a:ext cx="1204685" cy="1988457"/>
          </a:xfrm>
          <a:custGeom>
            <a:avLst/>
            <a:gdLst>
              <a:gd name="connsiteX0" fmla="*/ 0 w 1204685"/>
              <a:gd name="connsiteY0" fmla="*/ 0 h 1988457"/>
              <a:gd name="connsiteX1" fmla="*/ 246742 w 1204685"/>
              <a:gd name="connsiteY1" fmla="*/ 58057 h 1988457"/>
              <a:gd name="connsiteX2" fmla="*/ 333828 w 1204685"/>
              <a:gd name="connsiteY2" fmla="*/ 87086 h 1988457"/>
              <a:gd name="connsiteX3" fmla="*/ 420914 w 1204685"/>
              <a:gd name="connsiteY3" fmla="*/ 116115 h 1988457"/>
              <a:gd name="connsiteX4" fmla="*/ 464457 w 1204685"/>
              <a:gd name="connsiteY4" fmla="*/ 145143 h 1988457"/>
              <a:gd name="connsiteX5" fmla="*/ 508000 w 1204685"/>
              <a:gd name="connsiteY5" fmla="*/ 188686 h 1988457"/>
              <a:gd name="connsiteX6" fmla="*/ 595085 w 1204685"/>
              <a:gd name="connsiteY6" fmla="*/ 246743 h 1988457"/>
              <a:gd name="connsiteX7" fmla="*/ 682171 w 1204685"/>
              <a:gd name="connsiteY7" fmla="*/ 333829 h 1988457"/>
              <a:gd name="connsiteX8" fmla="*/ 725714 w 1204685"/>
              <a:gd name="connsiteY8" fmla="*/ 362857 h 1988457"/>
              <a:gd name="connsiteX9" fmla="*/ 769257 w 1204685"/>
              <a:gd name="connsiteY9" fmla="*/ 406400 h 1988457"/>
              <a:gd name="connsiteX10" fmla="*/ 856342 w 1204685"/>
              <a:gd name="connsiteY10" fmla="*/ 464457 h 1988457"/>
              <a:gd name="connsiteX11" fmla="*/ 957942 w 1204685"/>
              <a:gd name="connsiteY11" fmla="*/ 580572 h 1988457"/>
              <a:gd name="connsiteX12" fmla="*/ 1001485 w 1204685"/>
              <a:gd name="connsiteY12" fmla="*/ 667657 h 1988457"/>
              <a:gd name="connsiteX13" fmla="*/ 1030514 w 1204685"/>
              <a:gd name="connsiteY13" fmla="*/ 754743 h 1988457"/>
              <a:gd name="connsiteX14" fmla="*/ 1059542 w 1204685"/>
              <a:gd name="connsiteY14" fmla="*/ 798286 h 1988457"/>
              <a:gd name="connsiteX15" fmla="*/ 1103085 w 1204685"/>
              <a:gd name="connsiteY15" fmla="*/ 928915 h 1988457"/>
              <a:gd name="connsiteX16" fmla="*/ 1117600 w 1204685"/>
              <a:gd name="connsiteY16" fmla="*/ 972457 h 1988457"/>
              <a:gd name="connsiteX17" fmla="*/ 1132114 w 1204685"/>
              <a:gd name="connsiteY17" fmla="*/ 1088572 h 1988457"/>
              <a:gd name="connsiteX18" fmla="*/ 1146628 w 1204685"/>
              <a:gd name="connsiteY18" fmla="*/ 1146629 h 1988457"/>
              <a:gd name="connsiteX19" fmla="*/ 1175657 w 1204685"/>
              <a:gd name="connsiteY19" fmla="*/ 1291772 h 1988457"/>
              <a:gd name="connsiteX20" fmla="*/ 1204685 w 1204685"/>
              <a:gd name="connsiteY20" fmla="*/ 1451429 h 1988457"/>
              <a:gd name="connsiteX21" fmla="*/ 1190171 w 1204685"/>
              <a:gd name="connsiteY21" fmla="*/ 1712686 h 1988457"/>
              <a:gd name="connsiteX22" fmla="*/ 1161142 w 1204685"/>
              <a:gd name="connsiteY22" fmla="*/ 1799772 h 1988457"/>
              <a:gd name="connsiteX23" fmla="*/ 1117600 w 1204685"/>
              <a:gd name="connsiteY23" fmla="*/ 1886857 h 1988457"/>
              <a:gd name="connsiteX24" fmla="*/ 1030514 w 1204685"/>
              <a:gd name="connsiteY24" fmla="*/ 1944915 h 1988457"/>
              <a:gd name="connsiteX25" fmla="*/ 957942 w 1204685"/>
              <a:gd name="connsiteY25" fmla="*/ 1988457 h 198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04685" h="1988457">
                <a:moveTo>
                  <a:pt x="0" y="0"/>
                </a:moveTo>
                <a:cubicBezTo>
                  <a:pt x="141364" y="84819"/>
                  <a:pt x="5557" y="17859"/>
                  <a:pt x="246742" y="58057"/>
                </a:cubicBezTo>
                <a:cubicBezTo>
                  <a:pt x="276925" y="63087"/>
                  <a:pt x="304799" y="77410"/>
                  <a:pt x="333828" y="87086"/>
                </a:cubicBezTo>
                <a:cubicBezTo>
                  <a:pt x="333833" y="87088"/>
                  <a:pt x="420910" y="116112"/>
                  <a:pt x="420914" y="116115"/>
                </a:cubicBezTo>
                <a:cubicBezTo>
                  <a:pt x="435428" y="125791"/>
                  <a:pt x="451056" y="133976"/>
                  <a:pt x="464457" y="145143"/>
                </a:cubicBezTo>
                <a:cubicBezTo>
                  <a:pt x="480226" y="158284"/>
                  <a:pt x="491797" y="176084"/>
                  <a:pt x="508000" y="188686"/>
                </a:cubicBezTo>
                <a:cubicBezTo>
                  <a:pt x="535539" y="210105"/>
                  <a:pt x="570416" y="222074"/>
                  <a:pt x="595085" y="246743"/>
                </a:cubicBezTo>
                <a:cubicBezTo>
                  <a:pt x="624114" y="275772"/>
                  <a:pt x="648013" y="311057"/>
                  <a:pt x="682171" y="333829"/>
                </a:cubicBezTo>
                <a:cubicBezTo>
                  <a:pt x="696685" y="343505"/>
                  <a:pt x="712313" y="351690"/>
                  <a:pt x="725714" y="362857"/>
                </a:cubicBezTo>
                <a:cubicBezTo>
                  <a:pt x="741483" y="375998"/>
                  <a:pt x="753054" y="393798"/>
                  <a:pt x="769257" y="406400"/>
                </a:cubicBezTo>
                <a:cubicBezTo>
                  <a:pt x="796796" y="427819"/>
                  <a:pt x="856342" y="464457"/>
                  <a:pt x="856342" y="464457"/>
                </a:cubicBezTo>
                <a:cubicBezTo>
                  <a:pt x="924076" y="566057"/>
                  <a:pt x="885372" y="532190"/>
                  <a:pt x="957942" y="580572"/>
                </a:cubicBezTo>
                <a:cubicBezTo>
                  <a:pt x="1010882" y="739386"/>
                  <a:pt x="926449" y="498827"/>
                  <a:pt x="1001485" y="667657"/>
                </a:cubicBezTo>
                <a:cubicBezTo>
                  <a:pt x="1013912" y="695619"/>
                  <a:pt x="1013541" y="729283"/>
                  <a:pt x="1030514" y="754743"/>
                </a:cubicBezTo>
                <a:cubicBezTo>
                  <a:pt x="1040190" y="769257"/>
                  <a:pt x="1052457" y="782346"/>
                  <a:pt x="1059542" y="798286"/>
                </a:cubicBezTo>
                <a:cubicBezTo>
                  <a:pt x="1059549" y="798303"/>
                  <a:pt x="1095825" y="907135"/>
                  <a:pt x="1103085" y="928915"/>
                </a:cubicBezTo>
                <a:lnTo>
                  <a:pt x="1117600" y="972457"/>
                </a:lnTo>
                <a:cubicBezTo>
                  <a:pt x="1122438" y="1011162"/>
                  <a:pt x="1125702" y="1050097"/>
                  <a:pt x="1132114" y="1088572"/>
                </a:cubicBezTo>
                <a:cubicBezTo>
                  <a:pt x="1135393" y="1108249"/>
                  <a:pt x="1142448" y="1127124"/>
                  <a:pt x="1146628" y="1146629"/>
                </a:cubicBezTo>
                <a:cubicBezTo>
                  <a:pt x="1156966" y="1194873"/>
                  <a:pt x="1168680" y="1242929"/>
                  <a:pt x="1175657" y="1291772"/>
                </a:cubicBezTo>
                <a:cubicBezTo>
                  <a:pt x="1192992" y="1413119"/>
                  <a:pt x="1181874" y="1360183"/>
                  <a:pt x="1204685" y="1451429"/>
                </a:cubicBezTo>
                <a:cubicBezTo>
                  <a:pt x="1199847" y="1538515"/>
                  <a:pt x="1200989" y="1626140"/>
                  <a:pt x="1190171" y="1712686"/>
                </a:cubicBezTo>
                <a:cubicBezTo>
                  <a:pt x="1186376" y="1743049"/>
                  <a:pt x="1170818" y="1770743"/>
                  <a:pt x="1161142" y="1799772"/>
                </a:cubicBezTo>
                <a:cubicBezTo>
                  <a:pt x="1150789" y="1830832"/>
                  <a:pt x="1144082" y="1863685"/>
                  <a:pt x="1117600" y="1886857"/>
                </a:cubicBezTo>
                <a:cubicBezTo>
                  <a:pt x="1091344" y="1909831"/>
                  <a:pt x="1059543" y="1925562"/>
                  <a:pt x="1030514" y="1944915"/>
                </a:cubicBezTo>
                <a:cubicBezTo>
                  <a:pt x="977974" y="1979941"/>
                  <a:pt x="1002570" y="1966144"/>
                  <a:pt x="957942" y="1988457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085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7D50C-354A-4037-BCEB-A929055ABDBA}"/>
              </a:ext>
            </a:extLst>
          </p:cNvPr>
          <p:cNvSpPr txBox="1"/>
          <p:nvPr/>
        </p:nvSpPr>
        <p:spPr>
          <a:xfrm>
            <a:off x="116114" y="821757"/>
            <a:ext cx="45720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endParaRPr lang="en-US" altLang="en-US" b="1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b="1" i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takes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if they do, 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r>
              <a:rPr lang="en-US" altLang="en-US" dirty="0">
                <a:sym typeface="Greek Symbols" pitchFamily="18" charset="2"/>
              </a:rPr>
              <a:t>           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add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0FD29-F0BA-4B39-B20A-68C8B7C8CD3F}"/>
              </a:ext>
            </a:extLst>
          </p:cNvPr>
          <p:cNvSpPr txBox="1"/>
          <p:nvPr/>
        </p:nvSpPr>
        <p:spPr>
          <a:xfrm>
            <a:off x="116114" y="4347958"/>
            <a:ext cx="390455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</a:rPr>
              <a:t>Example</a:t>
            </a:r>
            <a:r>
              <a:rPr lang="en-US" altLang="en-US" dirty="0">
                <a:solidFill>
                  <a:srgbClr val="0000FF"/>
                </a:solidFill>
                <a:ea typeface="MS PGothic" panose="020B0600070205080204" pitchFamily="34" charset="-128"/>
              </a:rPr>
              <a:t>:</a:t>
            </a:r>
          </a:p>
          <a:p>
            <a:r>
              <a:rPr lang="en-US" dirty="0"/>
              <a:t>Find the best case number of block transfer and number of seek</a:t>
            </a:r>
          </a:p>
        </p:txBody>
      </p:sp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882328FF-DB78-4D13-8D1E-2D889EEE8152}"/>
              </a:ext>
            </a:extLst>
          </p:cNvPr>
          <p:cNvGraphicFramePr>
            <a:graphicFrameLocks noGrp="1"/>
          </p:cNvGraphicFramePr>
          <p:nvPr/>
        </p:nvGraphicFramePr>
        <p:xfrm>
          <a:off x="174812" y="3085406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E4FBE897-81EA-4F01-A2E3-E7421360B0DA}"/>
              </a:ext>
            </a:extLst>
          </p:cNvPr>
          <p:cNvSpPr txBox="1"/>
          <p:nvPr/>
        </p:nvSpPr>
        <p:spPr>
          <a:xfrm>
            <a:off x="4934857" y="758928"/>
            <a:ext cx="4093029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Solution 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i="1" dirty="0" err="1"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en-US" altLang="en-US" i="1" dirty="0">
                <a:sym typeface="Symbol" panose="05050102010706020507" pitchFamily="18" charset="2"/>
              </a:rPr>
              <a:t>2000</a:t>
            </a:r>
            <a:endParaRPr lang="en-US" altLang="en-US" sz="16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en-US" altLang="en-US" i="1" dirty="0">
                <a:sym typeface="Symbol" panose="05050102010706020507" pitchFamily="18" charset="2"/>
              </a:rPr>
              <a:t>400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memory only holds one block of each relation, 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= 400 + 2000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i="1" dirty="0"/>
              <a:t>2</a:t>
            </a:r>
            <a:endParaRPr lang="en-US" sz="1600" dirty="0"/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B77ADE72-862A-4159-B794-8E40195D5ABD}"/>
              </a:ext>
            </a:extLst>
          </p:cNvPr>
          <p:cNvGraphicFramePr>
            <a:graphicFrameLocks noGrp="1"/>
          </p:cNvGraphicFramePr>
          <p:nvPr/>
        </p:nvGraphicFramePr>
        <p:xfrm>
          <a:off x="5661212" y="4624754"/>
          <a:ext cx="779502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79502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6C494A-6ACE-4746-90F1-84167952AAB2}"/>
              </a:ext>
            </a:extLst>
          </p:cNvPr>
          <p:cNvGraphicFramePr>
            <a:graphicFrameLocks noGrp="1"/>
          </p:cNvGraphicFramePr>
          <p:nvPr/>
        </p:nvGraphicFramePr>
        <p:xfrm>
          <a:off x="7765143" y="4624754"/>
          <a:ext cx="660398" cy="1463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60398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161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FEB09405-9435-4E6B-831F-57B30009FAE1}"/>
              </a:ext>
            </a:extLst>
          </p:cNvPr>
          <p:cNvGraphicFramePr>
            <a:graphicFrameLocks noGrp="1"/>
          </p:cNvGraphicFramePr>
          <p:nvPr/>
        </p:nvGraphicFramePr>
        <p:xfrm>
          <a:off x="6691723" y="2963545"/>
          <a:ext cx="660398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60398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87161"/>
                  </a:ext>
                </a:extLst>
              </a:tr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23785"/>
                  </a:ext>
                </a:extLst>
              </a:tr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73602"/>
                  </a:ext>
                </a:extLst>
              </a:tr>
            </a:tbl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8DF2F1E-DE86-4D69-A5D3-4FAB35BA61C7}"/>
              </a:ext>
            </a:extLst>
          </p:cNvPr>
          <p:cNvSpPr/>
          <p:nvPr/>
        </p:nvSpPr>
        <p:spPr bwMode="auto">
          <a:xfrm>
            <a:off x="5591627" y="3200399"/>
            <a:ext cx="1027842" cy="1591946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E0934304-14D8-4137-8992-C1871C97C8AA}"/>
              </a:ext>
            </a:extLst>
          </p:cNvPr>
          <p:cNvSpPr/>
          <p:nvPr/>
        </p:nvSpPr>
        <p:spPr bwMode="auto">
          <a:xfrm>
            <a:off x="7377843" y="3322496"/>
            <a:ext cx="268516" cy="1461667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D707D87-2E02-4255-A9E2-E076C0341873}"/>
              </a:ext>
            </a:extLst>
          </p:cNvPr>
          <p:cNvSpPr/>
          <p:nvPr/>
        </p:nvSpPr>
        <p:spPr bwMode="auto">
          <a:xfrm>
            <a:off x="8425541" y="4624754"/>
            <a:ext cx="297545" cy="1483360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AA54E1A-3845-45AF-A3E7-9AA66EB9A2C5}"/>
              </a:ext>
            </a:extLst>
          </p:cNvPr>
          <p:cNvSpPr/>
          <p:nvPr/>
        </p:nvSpPr>
        <p:spPr bwMode="auto">
          <a:xfrm>
            <a:off x="7718613" y="4006192"/>
            <a:ext cx="1338302" cy="1358541"/>
          </a:xfrm>
          <a:custGeom>
            <a:avLst/>
            <a:gdLst>
              <a:gd name="connsiteX0" fmla="*/ 0 w 1204685"/>
              <a:gd name="connsiteY0" fmla="*/ 0 h 1988457"/>
              <a:gd name="connsiteX1" fmla="*/ 246742 w 1204685"/>
              <a:gd name="connsiteY1" fmla="*/ 58057 h 1988457"/>
              <a:gd name="connsiteX2" fmla="*/ 333828 w 1204685"/>
              <a:gd name="connsiteY2" fmla="*/ 87086 h 1988457"/>
              <a:gd name="connsiteX3" fmla="*/ 420914 w 1204685"/>
              <a:gd name="connsiteY3" fmla="*/ 116115 h 1988457"/>
              <a:gd name="connsiteX4" fmla="*/ 464457 w 1204685"/>
              <a:gd name="connsiteY4" fmla="*/ 145143 h 1988457"/>
              <a:gd name="connsiteX5" fmla="*/ 508000 w 1204685"/>
              <a:gd name="connsiteY5" fmla="*/ 188686 h 1988457"/>
              <a:gd name="connsiteX6" fmla="*/ 595085 w 1204685"/>
              <a:gd name="connsiteY6" fmla="*/ 246743 h 1988457"/>
              <a:gd name="connsiteX7" fmla="*/ 682171 w 1204685"/>
              <a:gd name="connsiteY7" fmla="*/ 333829 h 1988457"/>
              <a:gd name="connsiteX8" fmla="*/ 725714 w 1204685"/>
              <a:gd name="connsiteY8" fmla="*/ 362857 h 1988457"/>
              <a:gd name="connsiteX9" fmla="*/ 769257 w 1204685"/>
              <a:gd name="connsiteY9" fmla="*/ 406400 h 1988457"/>
              <a:gd name="connsiteX10" fmla="*/ 856342 w 1204685"/>
              <a:gd name="connsiteY10" fmla="*/ 464457 h 1988457"/>
              <a:gd name="connsiteX11" fmla="*/ 957942 w 1204685"/>
              <a:gd name="connsiteY11" fmla="*/ 580572 h 1988457"/>
              <a:gd name="connsiteX12" fmla="*/ 1001485 w 1204685"/>
              <a:gd name="connsiteY12" fmla="*/ 667657 h 1988457"/>
              <a:gd name="connsiteX13" fmla="*/ 1030514 w 1204685"/>
              <a:gd name="connsiteY13" fmla="*/ 754743 h 1988457"/>
              <a:gd name="connsiteX14" fmla="*/ 1059542 w 1204685"/>
              <a:gd name="connsiteY14" fmla="*/ 798286 h 1988457"/>
              <a:gd name="connsiteX15" fmla="*/ 1103085 w 1204685"/>
              <a:gd name="connsiteY15" fmla="*/ 928915 h 1988457"/>
              <a:gd name="connsiteX16" fmla="*/ 1117600 w 1204685"/>
              <a:gd name="connsiteY16" fmla="*/ 972457 h 1988457"/>
              <a:gd name="connsiteX17" fmla="*/ 1132114 w 1204685"/>
              <a:gd name="connsiteY17" fmla="*/ 1088572 h 1988457"/>
              <a:gd name="connsiteX18" fmla="*/ 1146628 w 1204685"/>
              <a:gd name="connsiteY18" fmla="*/ 1146629 h 1988457"/>
              <a:gd name="connsiteX19" fmla="*/ 1175657 w 1204685"/>
              <a:gd name="connsiteY19" fmla="*/ 1291772 h 1988457"/>
              <a:gd name="connsiteX20" fmla="*/ 1204685 w 1204685"/>
              <a:gd name="connsiteY20" fmla="*/ 1451429 h 1988457"/>
              <a:gd name="connsiteX21" fmla="*/ 1190171 w 1204685"/>
              <a:gd name="connsiteY21" fmla="*/ 1712686 h 1988457"/>
              <a:gd name="connsiteX22" fmla="*/ 1161142 w 1204685"/>
              <a:gd name="connsiteY22" fmla="*/ 1799772 h 1988457"/>
              <a:gd name="connsiteX23" fmla="*/ 1117600 w 1204685"/>
              <a:gd name="connsiteY23" fmla="*/ 1886857 h 1988457"/>
              <a:gd name="connsiteX24" fmla="*/ 1030514 w 1204685"/>
              <a:gd name="connsiteY24" fmla="*/ 1944915 h 1988457"/>
              <a:gd name="connsiteX25" fmla="*/ 957942 w 1204685"/>
              <a:gd name="connsiteY25" fmla="*/ 1988457 h 198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04685" h="1988457">
                <a:moveTo>
                  <a:pt x="0" y="0"/>
                </a:moveTo>
                <a:cubicBezTo>
                  <a:pt x="141364" y="84819"/>
                  <a:pt x="5557" y="17859"/>
                  <a:pt x="246742" y="58057"/>
                </a:cubicBezTo>
                <a:cubicBezTo>
                  <a:pt x="276925" y="63087"/>
                  <a:pt x="304799" y="77410"/>
                  <a:pt x="333828" y="87086"/>
                </a:cubicBezTo>
                <a:cubicBezTo>
                  <a:pt x="333833" y="87088"/>
                  <a:pt x="420910" y="116112"/>
                  <a:pt x="420914" y="116115"/>
                </a:cubicBezTo>
                <a:cubicBezTo>
                  <a:pt x="435428" y="125791"/>
                  <a:pt x="451056" y="133976"/>
                  <a:pt x="464457" y="145143"/>
                </a:cubicBezTo>
                <a:cubicBezTo>
                  <a:pt x="480226" y="158284"/>
                  <a:pt x="491797" y="176084"/>
                  <a:pt x="508000" y="188686"/>
                </a:cubicBezTo>
                <a:cubicBezTo>
                  <a:pt x="535539" y="210105"/>
                  <a:pt x="570416" y="222074"/>
                  <a:pt x="595085" y="246743"/>
                </a:cubicBezTo>
                <a:cubicBezTo>
                  <a:pt x="624114" y="275772"/>
                  <a:pt x="648013" y="311057"/>
                  <a:pt x="682171" y="333829"/>
                </a:cubicBezTo>
                <a:cubicBezTo>
                  <a:pt x="696685" y="343505"/>
                  <a:pt x="712313" y="351690"/>
                  <a:pt x="725714" y="362857"/>
                </a:cubicBezTo>
                <a:cubicBezTo>
                  <a:pt x="741483" y="375998"/>
                  <a:pt x="753054" y="393798"/>
                  <a:pt x="769257" y="406400"/>
                </a:cubicBezTo>
                <a:cubicBezTo>
                  <a:pt x="796796" y="427819"/>
                  <a:pt x="856342" y="464457"/>
                  <a:pt x="856342" y="464457"/>
                </a:cubicBezTo>
                <a:cubicBezTo>
                  <a:pt x="924076" y="566057"/>
                  <a:pt x="885372" y="532190"/>
                  <a:pt x="957942" y="580572"/>
                </a:cubicBezTo>
                <a:cubicBezTo>
                  <a:pt x="1010882" y="739386"/>
                  <a:pt x="926449" y="498827"/>
                  <a:pt x="1001485" y="667657"/>
                </a:cubicBezTo>
                <a:cubicBezTo>
                  <a:pt x="1013912" y="695619"/>
                  <a:pt x="1013541" y="729283"/>
                  <a:pt x="1030514" y="754743"/>
                </a:cubicBezTo>
                <a:cubicBezTo>
                  <a:pt x="1040190" y="769257"/>
                  <a:pt x="1052457" y="782346"/>
                  <a:pt x="1059542" y="798286"/>
                </a:cubicBezTo>
                <a:cubicBezTo>
                  <a:pt x="1059549" y="798303"/>
                  <a:pt x="1095825" y="907135"/>
                  <a:pt x="1103085" y="928915"/>
                </a:cubicBezTo>
                <a:lnTo>
                  <a:pt x="1117600" y="972457"/>
                </a:lnTo>
                <a:cubicBezTo>
                  <a:pt x="1122438" y="1011162"/>
                  <a:pt x="1125702" y="1050097"/>
                  <a:pt x="1132114" y="1088572"/>
                </a:cubicBezTo>
                <a:cubicBezTo>
                  <a:pt x="1135393" y="1108249"/>
                  <a:pt x="1142448" y="1127124"/>
                  <a:pt x="1146628" y="1146629"/>
                </a:cubicBezTo>
                <a:cubicBezTo>
                  <a:pt x="1156966" y="1194873"/>
                  <a:pt x="1168680" y="1242929"/>
                  <a:pt x="1175657" y="1291772"/>
                </a:cubicBezTo>
                <a:cubicBezTo>
                  <a:pt x="1192992" y="1413119"/>
                  <a:pt x="1181874" y="1360183"/>
                  <a:pt x="1204685" y="1451429"/>
                </a:cubicBezTo>
                <a:cubicBezTo>
                  <a:pt x="1199847" y="1538515"/>
                  <a:pt x="1200989" y="1626140"/>
                  <a:pt x="1190171" y="1712686"/>
                </a:cubicBezTo>
                <a:cubicBezTo>
                  <a:pt x="1186376" y="1743049"/>
                  <a:pt x="1170818" y="1770743"/>
                  <a:pt x="1161142" y="1799772"/>
                </a:cubicBezTo>
                <a:cubicBezTo>
                  <a:pt x="1150789" y="1830832"/>
                  <a:pt x="1144082" y="1863685"/>
                  <a:pt x="1117600" y="1886857"/>
                </a:cubicBezTo>
                <a:cubicBezTo>
                  <a:pt x="1091344" y="1909831"/>
                  <a:pt x="1059543" y="1925562"/>
                  <a:pt x="1030514" y="1944915"/>
                </a:cubicBezTo>
                <a:cubicBezTo>
                  <a:pt x="977974" y="1979941"/>
                  <a:pt x="1002570" y="1966144"/>
                  <a:pt x="957942" y="1988457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6E3E2-EAED-4C0D-91E0-E1C9A06DBEE5}"/>
              </a:ext>
            </a:extLst>
          </p:cNvPr>
          <p:cNvSpPr txBox="1"/>
          <p:nvPr/>
        </p:nvSpPr>
        <p:spPr>
          <a:xfrm>
            <a:off x="116113" y="5348123"/>
            <a:ext cx="390455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rgbClr val="0000FF"/>
                </a:solidFill>
              </a:rPr>
              <a:t>Discussion: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Write a discussion on nested loop join considering cost.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47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271E85F-D50F-4FAC-81D5-291C4D3EA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0905" y="991640"/>
            <a:ext cx="5002638" cy="4160932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</a:p>
          <a:p>
            <a:pPr>
              <a:buFont typeface="Monotype Sorts" pitchFamily="-65" charset="2"/>
              <a:buNone/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b="1" dirty="0">
                <a:ea typeface="MS PGothic" panose="020B0600070205080204" pitchFamily="34" charset="-128"/>
              </a:rPr>
              <a:t>for each </a:t>
            </a:r>
            <a:r>
              <a:rPr lang="en-US" altLang="en-US" dirty="0">
                <a:ea typeface="MS PGothic" panose="020B0600070205080204" pitchFamily="34" charset="-128"/>
              </a:rPr>
              <a:t>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of</a:t>
            </a:r>
            <a:r>
              <a:rPr lang="en-US" altLang="en-US" b="1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for each</a:t>
            </a:r>
            <a:r>
              <a:rPr lang="en-US" altLang="en-US" dirty="0">
                <a:ea typeface="MS PGothic" panose="020B0600070205080204" pitchFamily="34" charset="-128"/>
              </a:rPr>
              <a:t> block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</a:rPr>
              <a:t> of </a:t>
            </a:r>
            <a:r>
              <a:rPr lang="en-US" altLang="en-US" b="1" i="1" dirty="0">
                <a:ea typeface="MS PGothic" panose="020B0600070205080204" pitchFamily="34" charset="-128"/>
              </a:rPr>
              <a:t>s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for each</a:t>
            </a:r>
            <a:r>
              <a:rPr lang="en-US" altLang="en-US" dirty="0">
                <a:ea typeface="MS PGothic" panose="020B0600070205080204" pitchFamily="34" charset="-128"/>
              </a:rPr>
              <a:t>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 </a:t>
            </a:r>
            <a:r>
              <a:rPr lang="en-US" altLang="en-US" b="1" baseline="-25000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for each </a:t>
            </a:r>
            <a:r>
              <a:rPr lang="en-US" altLang="en-US" dirty="0">
                <a:ea typeface="MS PGothic" panose="020B0600070205080204" pitchFamily="34" charset="-128"/>
              </a:rPr>
              <a:t>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	</a:t>
            </a:r>
            <a:r>
              <a:rPr lang="en-US" altLang="en-US" dirty="0">
                <a:ea typeface="MS PGothic" panose="020B0600070205080204" pitchFamily="34" charset="-128"/>
              </a:rPr>
              <a:t>Check if (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 </a:t>
            </a:r>
            <a:r>
              <a:rPr lang="en-US" altLang="en-US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			if they do, add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30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B1AC9766-3770-4655-8E71-3BF32D58D893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1959670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B51770-BCC0-42CB-A573-E2242693A828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1959670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ECFBD6A9-417D-4135-BBC8-C0B9580B526B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1011638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 (r)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46AE58-AC98-444F-B9B5-455646EB7C9B}"/>
              </a:ext>
            </a:extLst>
          </p:cNvPr>
          <p:cNvSpPr txBox="1"/>
          <p:nvPr/>
        </p:nvSpPr>
        <p:spPr>
          <a:xfrm>
            <a:off x="7837712" y="1011638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230A4B-F645-4A2C-A0C1-0CD44B01DF1D}"/>
              </a:ext>
            </a:extLst>
          </p:cNvPr>
          <p:cNvSpPr/>
          <p:nvPr/>
        </p:nvSpPr>
        <p:spPr bwMode="auto">
          <a:xfrm>
            <a:off x="5152571" y="1190075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87303B-27EB-422E-A2BA-DE9619B6AA12}"/>
              </a:ext>
            </a:extLst>
          </p:cNvPr>
          <p:cNvSpPr/>
          <p:nvPr/>
        </p:nvSpPr>
        <p:spPr bwMode="auto">
          <a:xfrm>
            <a:off x="7418296" y="1556543"/>
            <a:ext cx="1059543" cy="620592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73A52E-BC92-460E-A5AD-B8B632584915}"/>
              </a:ext>
            </a:extLst>
          </p:cNvPr>
          <p:cNvGrpSpPr/>
          <p:nvPr/>
        </p:nvGrpSpPr>
        <p:grpSpPr>
          <a:xfrm>
            <a:off x="5591947" y="1556543"/>
            <a:ext cx="2356120" cy="310296"/>
            <a:chOff x="5591947" y="1556543"/>
            <a:chExt cx="2356120" cy="31029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FC47D7-8B41-43E6-85F7-E73ED5B7206F}"/>
                </a:ext>
              </a:extLst>
            </p:cNvPr>
            <p:cNvSpPr/>
            <p:nvPr/>
          </p:nvSpPr>
          <p:spPr bwMode="auto">
            <a:xfrm>
              <a:off x="5591947" y="1556543"/>
              <a:ext cx="377371" cy="29995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Helvetica" charset="0"/>
                </a:rPr>
                <a:t>r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5BA19E-8154-445C-9BE6-E7C0DBE09AF5}"/>
                </a:ext>
              </a:extLst>
            </p:cNvPr>
            <p:cNvSpPr/>
            <p:nvPr/>
          </p:nvSpPr>
          <p:spPr bwMode="auto">
            <a:xfrm>
              <a:off x="7570696" y="1566888"/>
              <a:ext cx="377371" cy="29995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s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graphicFrame>
        <p:nvGraphicFramePr>
          <p:cNvPr id="14" name="Table 26">
            <a:extLst>
              <a:ext uri="{FF2B5EF4-FFF2-40B4-BE49-F238E27FC236}">
                <a16:creationId xmlns:a16="http://schemas.microsoft.com/office/drawing/2014/main" id="{B0138EEE-FD04-40ED-94F9-F6EE60B96234}"/>
              </a:ext>
            </a:extLst>
          </p:cNvPr>
          <p:cNvGraphicFramePr>
            <a:graphicFrameLocks noGrp="1"/>
          </p:cNvGraphicFramePr>
          <p:nvPr/>
        </p:nvGraphicFramePr>
        <p:xfrm>
          <a:off x="120905" y="5417137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271E85F-D50F-4FAC-81D5-291C4D3EA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0905" y="991640"/>
            <a:ext cx="5002638" cy="4160932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</a:p>
          <a:p>
            <a:pPr>
              <a:buFont typeface="Monotype Sorts" pitchFamily="-65" charset="2"/>
              <a:buNone/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b="1" dirty="0">
                <a:ea typeface="MS PGothic" panose="020B0600070205080204" pitchFamily="34" charset="-128"/>
              </a:rPr>
              <a:t>for </a:t>
            </a:r>
            <a:r>
              <a:rPr lang="en-US" altLang="en-US" dirty="0">
                <a:ea typeface="MS PGothic" panose="020B0600070205080204" pitchFamily="34" charset="-128"/>
              </a:rPr>
              <a:t>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b="1" dirty="0">
                <a:ea typeface="MS PGothic" panose="020B0600070205080204" pitchFamily="34" charset="-128"/>
              </a:rPr>
              <a:t> of</a:t>
            </a:r>
            <a:r>
              <a:rPr lang="en-US" altLang="en-US" b="1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do begin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(Iteration-1)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for</a:t>
            </a:r>
            <a:r>
              <a:rPr lang="en-US" altLang="en-US" dirty="0">
                <a:ea typeface="MS PGothic" panose="020B0600070205080204" pitchFamily="34" charset="-128"/>
              </a:rPr>
              <a:t> 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b="1" dirty="0">
                <a:ea typeface="MS PGothic" panose="020B0600070205080204" pitchFamily="34" charset="-128"/>
              </a:rPr>
              <a:t> of </a:t>
            </a:r>
            <a:r>
              <a:rPr lang="en-US" altLang="en-US" b="1" i="1" dirty="0">
                <a:ea typeface="MS PGothic" panose="020B0600070205080204" pitchFamily="34" charset="-128"/>
              </a:rPr>
              <a:t>s </a:t>
            </a:r>
            <a:r>
              <a:rPr lang="en-US" altLang="en-US" b="1" dirty="0">
                <a:ea typeface="MS PGothic" panose="020B0600070205080204" pitchFamily="34" charset="-128"/>
              </a:rPr>
              <a:t>do begin 		    			for each</a:t>
            </a:r>
            <a:r>
              <a:rPr lang="en-US" altLang="en-US" dirty="0">
                <a:ea typeface="MS PGothic" panose="020B0600070205080204" pitchFamily="34" charset="-128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 </a:t>
            </a:r>
            <a:r>
              <a:rPr lang="en-US" altLang="en-US" b="1" baseline="-25000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 of r 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for each </a:t>
            </a:r>
            <a:r>
              <a:rPr lang="en-US" altLang="en-US" dirty="0">
                <a:ea typeface="MS PGothic" panose="020B0600070205080204" pitchFamily="34" charset="-128"/>
              </a:rPr>
              <a:t>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i="1" dirty="0">
                <a:ea typeface="MS PGothic" panose="020B0600070205080204" pitchFamily="34" charset="-128"/>
              </a:rPr>
              <a:t> of s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	</a:t>
            </a:r>
            <a:r>
              <a:rPr lang="en-US" altLang="en-US" dirty="0">
                <a:ea typeface="MS PGothic" panose="020B0600070205080204" pitchFamily="34" charset="-128"/>
              </a:rPr>
              <a:t>Check if (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 </a:t>
            </a:r>
            <a:r>
              <a:rPr lang="en-US" altLang="en-US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			if they do, add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baseline="30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B1AC9766-3770-4655-8E71-3BF32D58D893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1959670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B51770-BCC0-42CB-A573-E2242693A828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1959670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ECFBD6A9-417D-4135-BBC8-C0B9580B526B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1011638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 (r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46AE58-AC98-444F-B9B5-455646EB7C9B}"/>
              </a:ext>
            </a:extLst>
          </p:cNvPr>
          <p:cNvSpPr txBox="1"/>
          <p:nvPr/>
        </p:nvSpPr>
        <p:spPr>
          <a:xfrm>
            <a:off x="7837712" y="1011638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230A4B-F645-4A2C-A0C1-0CD44B01DF1D}"/>
              </a:ext>
            </a:extLst>
          </p:cNvPr>
          <p:cNvSpPr/>
          <p:nvPr/>
        </p:nvSpPr>
        <p:spPr bwMode="auto">
          <a:xfrm>
            <a:off x="5152571" y="1190075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87303B-27EB-422E-A2BA-DE9619B6AA12}"/>
              </a:ext>
            </a:extLst>
          </p:cNvPr>
          <p:cNvSpPr/>
          <p:nvPr/>
        </p:nvSpPr>
        <p:spPr bwMode="auto">
          <a:xfrm>
            <a:off x="7418296" y="1556543"/>
            <a:ext cx="1059543" cy="620592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3389FF-6C84-474B-A4F9-2A0538A456C7}"/>
              </a:ext>
            </a:extLst>
          </p:cNvPr>
          <p:cNvGrpSpPr/>
          <p:nvPr/>
        </p:nvGrpSpPr>
        <p:grpSpPr>
          <a:xfrm>
            <a:off x="5591947" y="1556543"/>
            <a:ext cx="2356120" cy="310296"/>
            <a:chOff x="5591947" y="1556543"/>
            <a:chExt cx="2356120" cy="3102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7D35B76-74CF-4FB6-873A-90CB152A8BB6}"/>
                </a:ext>
              </a:extLst>
            </p:cNvPr>
            <p:cNvSpPr/>
            <p:nvPr/>
          </p:nvSpPr>
          <p:spPr bwMode="auto">
            <a:xfrm>
              <a:off x="5591947" y="1556543"/>
              <a:ext cx="377371" cy="29995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Helvetica" charset="0"/>
                </a:rPr>
                <a:t>r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6F4910-1851-4FC1-8B15-E6566DD22840}"/>
                </a:ext>
              </a:extLst>
            </p:cNvPr>
            <p:cNvSpPr/>
            <p:nvPr/>
          </p:nvSpPr>
          <p:spPr bwMode="auto">
            <a:xfrm>
              <a:off x="7570696" y="1566888"/>
              <a:ext cx="377371" cy="29995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s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graphicFrame>
        <p:nvGraphicFramePr>
          <p:cNvPr id="13" name="Table 26">
            <a:extLst>
              <a:ext uri="{FF2B5EF4-FFF2-40B4-BE49-F238E27FC236}">
                <a16:creationId xmlns:a16="http://schemas.microsoft.com/office/drawing/2014/main" id="{C92DE8D2-2F99-4455-9178-10CF02FEA611}"/>
              </a:ext>
            </a:extLst>
          </p:cNvPr>
          <p:cNvGraphicFramePr>
            <a:graphicFrameLocks noGrp="1"/>
          </p:cNvGraphicFramePr>
          <p:nvPr/>
        </p:nvGraphicFramePr>
        <p:xfrm>
          <a:off x="120905" y="5417137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014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B1AC9766-3770-4655-8E71-3BF32D58D893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1959670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B51770-BCC0-42CB-A573-E2242693A828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1959670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ECFBD6A9-417D-4135-BBC8-C0B9580B526B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1011638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 (r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46AE58-AC98-444F-B9B5-455646EB7C9B}"/>
              </a:ext>
            </a:extLst>
          </p:cNvPr>
          <p:cNvSpPr txBox="1"/>
          <p:nvPr/>
        </p:nvSpPr>
        <p:spPr>
          <a:xfrm>
            <a:off x="7837712" y="1011638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230A4B-F645-4A2C-A0C1-0CD44B01DF1D}"/>
              </a:ext>
            </a:extLst>
          </p:cNvPr>
          <p:cNvSpPr/>
          <p:nvPr/>
        </p:nvSpPr>
        <p:spPr bwMode="auto">
          <a:xfrm>
            <a:off x="5152571" y="1190075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87303B-27EB-422E-A2BA-DE9619B6AA12}"/>
              </a:ext>
            </a:extLst>
          </p:cNvPr>
          <p:cNvSpPr/>
          <p:nvPr/>
        </p:nvSpPr>
        <p:spPr bwMode="auto">
          <a:xfrm>
            <a:off x="7418296" y="1556542"/>
            <a:ext cx="1116104" cy="929003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843D456-7911-4F76-8DED-B9BBDEF2A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05" y="991640"/>
            <a:ext cx="5002638" cy="41609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kern="0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</a:p>
          <a:p>
            <a:pPr>
              <a:buFont typeface="Monotype Sorts" pitchFamily="-65" charset="2"/>
              <a:buNone/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kern="0" dirty="0">
                <a:ea typeface="MS PGothic" panose="020B0600070205080204" pitchFamily="34" charset="-128"/>
              </a:rPr>
              <a:t>		</a:t>
            </a:r>
            <a:r>
              <a:rPr lang="en-US" altLang="en-US" b="1" kern="0" dirty="0">
                <a:ea typeface="MS PGothic" panose="020B0600070205080204" pitchFamily="34" charset="-128"/>
              </a:rPr>
              <a:t>for </a:t>
            </a:r>
            <a:r>
              <a:rPr lang="en-US" altLang="en-US" kern="0" dirty="0">
                <a:ea typeface="MS PGothic" panose="020B0600070205080204" pitchFamily="34" charset="-128"/>
              </a:rPr>
              <a:t>block </a:t>
            </a:r>
            <a:r>
              <a:rPr lang="en-US" altLang="en-US" i="1" kern="0" dirty="0">
                <a:ea typeface="MS PGothic" panose="020B0600070205080204" pitchFamily="34" charset="-128"/>
              </a:rPr>
              <a:t>B</a:t>
            </a:r>
            <a:r>
              <a:rPr lang="en-US" altLang="en-US" i="1" kern="0" baseline="-25000" dirty="0">
                <a:ea typeface="MS PGothic" panose="020B0600070205080204" pitchFamily="34" charset="-128"/>
              </a:rPr>
              <a:t>1</a:t>
            </a:r>
            <a:r>
              <a:rPr lang="en-US" altLang="en-US" b="1" kern="0" dirty="0">
                <a:ea typeface="MS PGothic" panose="020B0600070205080204" pitchFamily="34" charset="-128"/>
              </a:rPr>
              <a:t> of</a:t>
            </a:r>
            <a:r>
              <a:rPr lang="en-US" altLang="en-US" b="1" i="1" kern="0" dirty="0">
                <a:ea typeface="MS PGothic" panose="020B0600070205080204" pitchFamily="34" charset="-128"/>
              </a:rPr>
              <a:t> </a:t>
            </a:r>
            <a:r>
              <a:rPr lang="en-US" altLang="en-US" i="1" kern="0" dirty="0">
                <a:ea typeface="MS PGothic" panose="020B0600070205080204" pitchFamily="34" charset="-128"/>
              </a:rPr>
              <a:t>r</a:t>
            </a:r>
            <a:r>
              <a:rPr lang="en-US" altLang="en-US" b="1" kern="0" dirty="0">
                <a:ea typeface="MS PGothic" panose="020B0600070205080204" pitchFamily="34" charset="-128"/>
              </a:rPr>
              <a:t> do begin </a:t>
            </a:r>
            <a:r>
              <a:rPr lang="en-US" altLang="en-US" b="1" kern="0" dirty="0">
                <a:solidFill>
                  <a:srgbClr val="0000FF"/>
                </a:solidFill>
                <a:ea typeface="MS PGothic" panose="020B0600070205080204" pitchFamily="34" charset="-128"/>
              </a:rPr>
              <a:t>(Iteration-1)</a:t>
            </a:r>
            <a:br>
              <a:rPr lang="en-US" altLang="en-US" b="1" kern="0" dirty="0">
                <a:ea typeface="MS PGothic" panose="020B0600070205080204" pitchFamily="34" charset="-128"/>
              </a:rPr>
            </a:br>
            <a:r>
              <a:rPr lang="en-US" altLang="en-US" b="1" kern="0" dirty="0">
                <a:ea typeface="MS PGothic" panose="020B0600070205080204" pitchFamily="34" charset="-128"/>
              </a:rPr>
              <a:t>		for</a:t>
            </a:r>
            <a:r>
              <a:rPr lang="en-US" altLang="en-US" kern="0" dirty="0">
                <a:ea typeface="MS PGothic" panose="020B0600070205080204" pitchFamily="34" charset="-128"/>
              </a:rPr>
              <a:t> block </a:t>
            </a:r>
            <a:r>
              <a:rPr lang="en-US" altLang="en-US" i="1" kern="0" dirty="0">
                <a:ea typeface="MS PGothic" panose="020B0600070205080204" pitchFamily="34" charset="-128"/>
              </a:rPr>
              <a:t>B</a:t>
            </a:r>
            <a:r>
              <a:rPr lang="en-US" altLang="en-US" i="1" kern="0" baseline="-25000" dirty="0">
                <a:ea typeface="MS PGothic" panose="020B0600070205080204" pitchFamily="34" charset="-128"/>
              </a:rPr>
              <a:t>2</a:t>
            </a:r>
            <a:r>
              <a:rPr lang="en-US" altLang="en-US" b="1" kern="0" dirty="0">
                <a:ea typeface="MS PGothic" panose="020B0600070205080204" pitchFamily="34" charset="-128"/>
              </a:rPr>
              <a:t> of </a:t>
            </a:r>
            <a:r>
              <a:rPr lang="en-US" altLang="en-US" b="1" i="1" kern="0" dirty="0">
                <a:ea typeface="MS PGothic" panose="020B0600070205080204" pitchFamily="34" charset="-128"/>
              </a:rPr>
              <a:t>s </a:t>
            </a:r>
            <a:r>
              <a:rPr lang="en-US" altLang="en-US" b="1" kern="0" dirty="0">
                <a:ea typeface="MS PGothic" panose="020B0600070205080204" pitchFamily="34" charset="-128"/>
              </a:rPr>
              <a:t>do begin 		    			for each</a:t>
            </a:r>
            <a:r>
              <a:rPr lang="en-US" altLang="en-US" kern="0" dirty="0">
                <a:ea typeface="MS PGothic" panose="020B0600070205080204" pitchFamily="34" charset="-128"/>
              </a:rPr>
              <a:t> tuple </a:t>
            </a:r>
            <a:r>
              <a:rPr lang="en-US" altLang="en-US" i="1" kern="0" dirty="0">
                <a:ea typeface="MS PGothic" panose="020B0600070205080204" pitchFamily="34" charset="-128"/>
              </a:rPr>
              <a:t>t</a:t>
            </a:r>
            <a:r>
              <a:rPr lang="en-US" altLang="en-US" i="1" kern="0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kern="0" dirty="0">
                <a:ea typeface="MS PGothic" panose="020B0600070205080204" pitchFamily="34" charset="-128"/>
              </a:rPr>
              <a:t> </a:t>
            </a:r>
            <a:r>
              <a:rPr lang="en-US" altLang="en-US" b="1" kern="0" dirty="0">
                <a:ea typeface="MS PGothic" panose="020B0600070205080204" pitchFamily="34" charset="-128"/>
              </a:rPr>
              <a:t>in </a:t>
            </a:r>
            <a:r>
              <a:rPr lang="en-US" altLang="en-US" i="1" kern="0" dirty="0">
                <a:ea typeface="MS PGothic" panose="020B0600070205080204" pitchFamily="34" charset="-128"/>
              </a:rPr>
              <a:t>B</a:t>
            </a:r>
            <a:r>
              <a:rPr lang="en-US" altLang="en-US" i="1" kern="0" baseline="-25000" dirty="0">
                <a:ea typeface="MS PGothic" panose="020B0600070205080204" pitchFamily="34" charset="-128"/>
              </a:rPr>
              <a:t>1 </a:t>
            </a:r>
            <a:r>
              <a:rPr lang="en-US" altLang="en-US" b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b="1" kern="0" dirty="0">
                <a:ea typeface="MS PGothic" panose="020B0600070205080204" pitchFamily="34" charset="-128"/>
              </a:rPr>
              <a:t> of r do begin</a:t>
            </a:r>
            <a:br>
              <a:rPr lang="en-US" altLang="en-US" b="1" kern="0" dirty="0">
                <a:ea typeface="MS PGothic" panose="020B0600070205080204" pitchFamily="34" charset="-128"/>
              </a:rPr>
            </a:br>
            <a:r>
              <a:rPr lang="en-US" altLang="en-US" b="1" kern="0" dirty="0">
                <a:ea typeface="MS PGothic" panose="020B0600070205080204" pitchFamily="34" charset="-128"/>
              </a:rPr>
              <a:t>				for each </a:t>
            </a:r>
            <a:r>
              <a:rPr lang="en-US" altLang="en-US" kern="0" dirty="0">
                <a:ea typeface="MS PGothic" panose="020B0600070205080204" pitchFamily="34" charset="-128"/>
              </a:rPr>
              <a:t>tuple </a:t>
            </a:r>
            <a:r>
              <a:rPr lang="en-US" altLang="en-US" i="1" kern="0" dirty="0" err="1">
                <a:ea typeface="MS PGothic" panose="020B0600070205080204" pitchFamily="34" charset="-128"/>
              </a:rPr>
              <a:t>t</a:t>
            </a:r>
            <a:r>
              <a:rPr lang="en-US" altLang="en-US" i="1" kern="0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kern="0" dirty="0">
                <a:ea typeface="MS PGothic" panose="020B0600070205080204" pitchFamily="34" charset="-128"/>
              </a:rPr>
              <a:t> </a:t>
            </a:r>
            <a:r>
              <a:rPr lang="en-US" altLang="en-US" b="1" kern="0" dirty="0">
                <a:ea typeface="MS PGothic" panose="020B0600070205080204" pitchFamily="34" charset="-128"/>
              </a:rPr>
              <a:t>in </a:t>
            </a:r>
            <a:r>
              <a:rPr lang="en-US" altLang="en-US" i="1" kern="0" dirty="0">
                <a:ea typeface="MS PGothic" panose="020B0600070205080204" pitchFamily="34" charset="-128"/>
              </a:rPr>
              <a:t>B</a:t>
            </a:r>
            <a:r>
              <a:rPr lang="en-US" altLang="en-US" i="1" kern="0" baseline="-25000" dirty="0">
                <a:ea typeface="MS PGothic" panose="020B0600070205080204" pitchFamily="34" charset="-128"/>
              </a:rPr>
              <a:t>2</a:t>
            </a:r>
            <a:r>
              <a:rPr lang="en-US" altLang="en-US" i="1" kern="0" dirty="0">
                <a:ea typeface="MS PGothic" panose="020B0600070205080204" pitchFamily="34" charset="-128"/>
              </a:rPr>
              <a:t> of s </a:t>
            </a:r>
            <a:r>
              <a:rPr lang="en-US" altLang="en-US" b="1" kern="0" dirty="0">
                <a:ea typeface="MS PGothic" panose="020B0600070205080204" pitchFamily="34" charset="-128"/>
              </a:rPr>
              <a:t>do begin</a:t>
            </a:r>
            <a:br>
              <a:rPr lang="en-US" altLang="en-US" b="1" kern="0" dirty="0">
                <a:ea typeface="MS PGothic" panose="020B0600070205080204" pitchFamily="34" charset="-128"/>
              </a:rPr>
            </a:br>
            <a:r>
              <a:rPr lang="en-US" altLang="en-US" b="1" kern="0" dirty="0">
                <a:ea typeface="MS PGothic" panose="020B0600070205080204" pitchFamily="34" charset="-128"/>
              </a:rPr>
              <a:t>					</a:t>
            </a:r>
            <a:r>
              <a:rPr lang="en-US" altLang="en-US" kern="0" dirty="0">
                <a:ea typeface="MS PGothic" panose="020B0600070205080204" pitchFamily="34" charset="-128"/>
              </a:rPr>
              <a:t>Check if (</a:t>
            </a:r>
            <a:r>
              <a:rPr lang="en-US" altLang="en-US" i="1" kern="0" dirty="0" err="1">
                <a:ea typeface="MS PGothic" panose="020B0600070205080204" pitchFamily="34" charset="-128"/>
              </a:rPr>
              <a:t>t</a:t>
            </a:r>
            <a:r>
              <a:rPr lang="en-US" altLang="en-US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kern="0" dirty="0" err="1">
                <a:ea typeface="MS PGothic" panose="020B0600070205080204" pitchFamily="34" charset="-128"/>
              </a:rPr>
              <a:t>,t</a:t>
            </a:r>
            <a:r>
              <a:rPr lang="en-US" altLang="en-US" i="1" kern="0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kern="0" dirty="0">
                <a:ea typeface="MS PGothic" panose="020B0600070205080204" pitchFamily="34" charset="-128"/>
              </a:rPr>
              <a:t>) </a:t>
            </a:r>
            <a:r>
              <a:rPr lang="en-US" altLang="en-US" kern="0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kern="0" dirty="0">
                <a:ea typeface="MS PGothic" panose="020B0600070205080204" pitchFamily="34" charset="-128"/>
              </a:rPr>
            </a:br>
            <a:r>
              <a:rPr lang="en-US" altLang="en-US" kern="0" dirty="0">
                <a:ea typeface="MS PGothic" panose="020B0600070205080204" pitchFamily="34" charset="-128"/>
              </a:rPr>
              <a:t>					if they do, add </a:t>
            </a:r>
            <a:r>
              <a:rPr lang="en-US" altLang="en-US" i="1" kern="0" dirty="0">
                <a:ea typeface="MS PGothic" panose="020B0600070205080204" pitchFamily="34" charset="-128"/>
              </a:rPr>
              <a:t>t</a:t>
            </a:r>
            <a:r>
              <a:rPr lang="en-US" altLang="en-US" i="1" kern="0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kern="0" baseline="30000" dirty="0">
                <a:ea typeface="MS PGothic" panose="020B0600070205080204" pitchFamily="34" charset="-128"/>
              </a:rPr>
              <a:t> </a:t>
            </a:r>
            <a:r>
              <a:rPr lang="en-US" altLang="en-US" kern="0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kern="0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kern="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kern="0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b="1" kern="0" dirty="0">
                <a:ea typeface="MS PGothic" panose="020B0600070205080204" pitchFamily="34" charset="-128"/>
                <a:sym typeface="Symbol" panose="05050102010706020507" pitchFamily="18" charset="2"/>
              </a:rPr>
              <a:t>end</a:t>
            </a:r>
            <a:br>
              <a:rPr lang="en-US" altLang="en-US" b="1" kern="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kern="0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b="1" kern="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kern="0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b="1" kern="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kern="0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0A1FF7-F246-43DF-8715-92800CB59873}"/>
              </a:ext>
            </a:extLst>
          </p:cNvPr>
          <p:cNvGrpSpPr/>
          <p:nvPr/>
        </p:nvGrpSpPr>
        <p:grpSpPr>
          <a:xfrm>
            <a:off x="5591947" y="1556543"/>
            <a:ext cx="2356120" cy="310296"/>
            <a:chOff x="5591947" y="1556543"/>
            <a:chExt cx="2356120" cy="31029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7F7DAE-CDF0-4754-87ED-E5F87AFD75DD}"/>
                </a:ext>
              </a:extLst>
            </p:cNvPr>
            <p:cNvSpPr/>
            <p:nvPr/>
          </p:nvSpPr>
          <p:spPr bwMode="auto">
            <a:xfrm>
              <a:off x="5591947" y="1556543"/>
              <a:ext cx="377371" cy="29995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Helvetica" charset="0"/>
                </a:rPr>
                <a:t>r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FA5BD7F-79D0-40A4-99D8-5D0514A84D50}"/>
                </a:ext>
              </a:extLst>
            </p:cNvPr>
            <p:cNvSpPr/>
            <p:nvPr/>
          </p:nvSpPr>
          <p:spPr bwMode="auto">
            <a:xfrm>
              <a:off x="7570696" y="1566888"/>
              <a:ext cx="377371" cy="29995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s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graphicFrame>
        <p:nvGraphicFramePr>
          <p:cNvPr id="16" name="Table 26">
            <a:extLst>
              <a:ext uri="{FF2B5EF4-FFF2-40B4-BE49-F238E27FC236}">
                <a16:creationId xmlns:a16="http://schemas.microsoft.com/office/drawing/2014/main" id="{D7887D30-A26F-42DF-AF18-917E90C7550C}"/>
              </a:ext>
            </a:extLst>
          </p:cNvPr>
          <p:cNvGraphicFramePr>
            <a:graphicFrameLocks noGrp="1"/>
          </p:cNvGraphicFramePr>
          <p:nvPr/>
        </p:nvGraphicFramePr>
        <p:xfrm>
          <a:off x="120905" y="5417137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292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B1AC9766-3770-4655-8E71-3BF32D58D893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1959670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B51770-BCC0-42CB-A573-E2242693A828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1959670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ECFBD6A9-417D-4135-BBC8-C0B9580B526B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1011638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 (r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r>
                        <a:rPr lang="en-US" dirty="0"/>
                        <a:t>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46AE58-AC98-444F-B9B5-455646EB7C9B}"/>
              </a:ext>
            </a:extLst>
          </p:cNvPr>
          <p:cNvSpPr txBox="1"/>
          <p:nvPr/>
        </p:nvSpPr>
        <p:spPr>
          <a:xfrm>
            <a:off x="7837712" y="1011638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1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230A4B-F645-4A2C-A0C1-0CD44B01DF1D}"/>
              </a:ext>
            </a:extLst>
          </p:cNvPr>
          <p:cNvSpPr/>
          <p:nvPr/>
        </p:nvSpPr>
        <p:spPr bwMode="auto">
          <a:xfrm>
            <a:off x="5152571" y="1190075"/>
            <a:ext cx="1190172" cy="929003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87303B-27EB-422E-A2BA-DE9619B6AA12}"/>
              </a:ext>
            </a:extLst>
          </p:cNvPr>
          <p:cNvSpPr/>
          <p:nvPr/>
        </p:nvSpPr>
        <p:spPr bwMode="auto">
          <a:xfrm>
            <a:off x="7418296" y="1336553"/>
            <a:ext cx="1116104" cy="1854199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1F81126-E2B8-45F8-8586-2E29E207D5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0905" y="991640"/>
            <a:ext cx="5002638" cy="4160932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</a:p>
          <a:p>
            <a:pPr>
              <a:buFont typeface="Monotype Sorts" pitchFamily="-65" charset="2"/>
              <a:buNone/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b="1" dirty="0">
                <a:ea typeface="MS PGothic" panose="020B0600070205080204" pitchFamily="34" charset="-128"/>
              </a:rPr>
              <a:t>for </a:t>
            </a:r>
            <a:r>
              <a:rPr lang="en-US" altLang="en-US" dirty="0">
                <a:ea typeface="MS PGothic" panose="020B0600070205080204" pitchFamily="34" charset="-128"/>
              </a:rPr>
              <a:t>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b="1" dirty="0">
                <a:ea typeface="MS PGothic" panose="020B0600070205080204" pitchFamily="34" charset="-128"/>
              </a:rPr>
              <a:t> of</a:t>
            </a:r>
            <a:r>
              <a:rPr lang="en-US" altLang="en-US" b="1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do begin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(Iteration-1)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for</a:t>
            </a:r>
            <a:r>
              <a:rPr lang="en-US" altLang="en-US" dirty="0">
                <a:ea typeface="MS PGothic" panose="020B0600070205080204" pitchFamily="34" charset="-128"/>
              </a:rPr>
              <a:t> 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400</a:t>
            </a:r>
            <a:r>
              <a:rPr lang="en-US" altLang="en-US" b="1" dirty="0">
                <a:ea typeface="MS PGothic" panose="020B0600070205080204" pitchFamily="34" charset="-128"/>
              </a:rPr>
              <a:t> of </a:t>
            </a:r>
            <a:r>
              <a:rPr lang="en-US" altLang="en-US" b="1" i="1" dirty="0">
                <a:ea typeface="MS PGothic" panose="020B0600070205080204" pitchFamily="34" charset="-128"/>
              </a:rPr>
              <a:t>s </a:t>
            </a:r>
            <a:r>
              <a:rPr lang="en-US" altLang="en-US" b="1" dirty="0">
                <a:ea typeface="MS PGothic" panose="020B0600070205080204" pitchFamily="34" charset="-128"/>
              </a:rPr>
              <a:t>do begin 		    			for each</a:t>
            </a:r>
            <a:r>
              <a:rPr lang="en-US" altLang="en-US" dirty="0">
                <a:ea typeface="MS PGothic" panose="020B0600070205080204" pitchFamily="34" charset="-128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 </a:t>
            </a:r>
            <a:r>
              <a:rPr lang="en-US" altLang="en-US" b="1" baseline="-25000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 of r 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for each </a:t>
            </a:r>
            <a:r>
              <a:rPr lang="en-US" altLang="en-US" dirty="0">
                <a:ea typeface="MS PGothic" panose="020B0600070205080204" pitchFamily="34" charset="-128"/>
              </a:rPr>
              <a:t>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400</a:t>
            </a:r>
            <a:r>
              <a:rPr lang="en-US" altLang="en-US" i="1" dirty="0">
                <a:ea typeface="MS PGothic" panose="020B0600070205080204" pitchFamily="34" charset="-128"/>
              </a:rPr>
              <a:t> of s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	</a:t>
            </a:r>
            <a:r>
              <a:rPr lang="en-US" altLang="en-US" dirty="0">
                <a:ea typeface="MS PGothic" panose="020B0600070205080204" pitchFamily="34" charset="-128"/>
              </a:rPr>
              <a:t>Check if (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 </a:t>
            </a:r>
            <a:r>
              <a:rPr lang="en-US" altLang="en-US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			if they do, add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baseline="30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891B3A-9F99-4E61-A21D-609103EFF57F}"/>
              </a:ext>
            </a:extLst>
          </p:cNvPr>
          <p:cNvGrpSpPr/>
          <p:nvPr/>
        </p:nvGrpSpPr>
        <p:grpSpPr>
          <a:xfrm>
            <a:off x="5591947" y="1556543"/>
            <a:ext cx="2356120" cy="310296"/>
            <a:chOff x="5591947" y="1556543"/>
            <a:chExt cx="2356120" cy="31029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ECF535-FF7E-47D7-B76B-23626CD38DF9}"/>
                </a:ext>
              </a:extLst>
            </p:cNvPr>
            <p:cNvSpPr/>
            <p:nvPr/>
          </p:nvSpPr>
          <p:spPr bwMode="auto">
            <a:xfrm>
              <a:off x="5591947" y="1556543"/>
              <a:ext cx="377371" cy="29995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Helvetica" charset="0"/>
                </a:rPr>
                <a:t>r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788D49-EAC5-4BE4-BBD9-CE2C8927EF5E}"/>
                </a:ext>
              </a:extLst>
            </p:cNvPr>
            <p:cNvSpPr/>
            <p:nvPr/>
          </p:nvSpPr>
          <p:spPr bwMode="auto">
            <a:xfrm>
              <a:off x="7570696" y="1566888"/>
              <a:ext cx="377371" cy="29995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s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graphicFrame>
        <p:nvGraphicFramePr>
          <p:cNvPr id="16" name="Table 26">
            <a:extLst>
              <a:ext uri="{FF2B5EF4-FFF2-40B4-BE49-F238E27FC236}">
                <a16:creationId xmlns:a16="http://schemas.microsoft.com/office/drawing/2014/main" id="{E5A5E748-8ADE-4687-BA03-19BE6CB5AFC4}"/>
              </a:ext>
            </a:extLst>
          </p:cNvPr>
          <p:cNvGraphicFramePr>
            <a:graphicFrameLocks noGrp="1"/>
          </p:cNvGraphicFramePr>
          <p:nvPr/>
        </p:nvGraphicFramePr>
        <p:xfrm>
          <a:off x="120905" y="5628005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308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79997" y="45650"/>
            <a:ext cx="4024088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B1AC9766-3770-4655-8E71-3BF32D58D893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1959670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B51770-BCC0-42CB-A573-E2242693A828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1959670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ECFBD6A9-417D-4135-BBC8-C0B9580B526B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1011638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 (r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46AE58-AC98-444F-B9B5-455646EB7C9B}"/>
              </a:ext>
            </a:extLst>
          </p:cNvPr>
          <p:cNvSpPr txBox="1"/>
          <p:nvPr/>
        </p:nvSpPr>
        <p:spPr>
          <a:xfrm>
            <a:off x="7837712" y="1011638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230A4B-F645-4A2C-A0C1-0CD44B01DF1D}"/>
              </a:ext>
            </a:extLst>
          </p:cNvPr>
          <p:cNvSpPr/>
          <p:nvPr/>
        </p:nvSpPr>
        <p:spPr bwMode="auto">
          <a:xfrm>
            <a:off x="5156197" y="1190075"/>
            <a:ext cx="1186545" cy="1233811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87303B-27EB-422E-A2BA-DE9619B6AA12}"/>
              </a:ext>
            </a:extLst>
          </p:cNvPr>
          <p:cNvSpPr/>
          <p:nvPr/>
        </p:nvSpPr>
        <p:spPr bwMode="auto">
          <a:xfrm>
            <a:off x="7418296" y="1336554"/>
            <a:ext cx="1112478" cy="741680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50F2C0-81A6-457E-8592-10D4EC8EFD26}"/>
              </a:ext>
            </a:extLst>
          </p:cNvPr>
          <p:cNvGrpSpPr/>
          <p:nvPr/>
        </p:nvGrpSpPr>
        <p:grpSpPr>
          <a:xfrm>
            <a:off x="5591947" y="1556543"/>
            <a:ext cx="2356120" cy="310296"/>
            <a:chOff x="5591947" y="1556543"/>
            <a:chExt cx="2356120" cy="31029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59EEA2-8DE2-401A-AC77-493844DFA34E}"/>
                </a:ext>
              </a:extLst>
            </p:cNvPr>
            <p:cNvSpPr/>
            <p:nvPr/>
          </p:nvSpPr>
          <p:spPr bwMode="auto">
            <a:xfrm>
              <a:off x="5591947" y="1556543"/>
              <a:ext cx="377371" cy="29995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Helvetica" charset="0"/>
                </a:rPr>
                <a:t>r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08FDEC-57C8-4F8C-88C4-4028E06DDDB6}"/>
                </a:ext>
              </a:extLst>
            </p:cNvPr>
            <p:cNvSpPr/>
            <p:nvPr/>
          </p:nvSpPr>
          <p:spPr bwMode="auto">
            <a:xfrm>
              <a:off x="7570696" y="1566888"/>
              <a:ext cx="377371" cy="29995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s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541F744E-FE4D-4907-900E-ACA2CA953E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20" y="-1"/>
            <a:ext cx="5002638" cy="4325257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</a:p>
          <a:p>
            <a:pPr>
              <a:buFont typeface="Monotype Sorts" pitchFamily="-65" charset="2"/>
              <a:buNone/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b="1" dirty="0">
                <a:ea typeface="MS PGothic" panose="020B0600070205080204" pitchFamily="34" charset="-128"/>
              </a:rPr>
              <a:t>for </a:t>
            </a:r>
            <a:r>
              <a:rPr lang="en-US" altLang="en-US" dirty="0">
                <a:ea typeface="MS PGothic" panose="020B0600070205080204" pitchFamily="34" charset="-128"/>
              </a:rPr>
              <a:t>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2</a:t>
            </a:r>
            <a:r>
              <a:rPr lang="en-US" altLang="en-US" b="1" dirty="0">
                <a:ea typeface="MS PGothic" panose="020B0600070205080204" pitchFamily="34" charset="-128"/>
              </a:rPr>
              <a:t> of</a:t>
            </a:r>
            <a:r>
              <a:rPr lang="en-US" altLang="en-US" b="1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do begin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(Iteration-2)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for</a:t>
            </a:r>
            <a:r>
              <a:rPr lang="en-US" altLang="en-US" dirty="0">
                <a:ea typeface="MS PGothic" panose="020B0600070205080204" pitchFamily="34" charset="-128"/>
              </a:rPr>
              <a:t> 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b="1" dirty="0">
                <a:ea typeface="MS PGothic" panose="020B0600070205080204" pitchFamily="34" charset="-128"/>
              </a:rPr>
              <a:t> of </a:t>
            </a:r>
            <a:r>
              <a:rPr lang="en-US" altLang="en-US" b="1" i="1" dirty="0">
                <a:ea typeface="MS PGothic" panose="020B0600070205080204" pitchFamily="34" charset="-128"/>
              </a:rPr>
              <a:t>s </a:t>
            </a:r>
            <a:r>
              <a:rPr lang="en-US" altLang="en-US" b="1" dirty="0">
                <a:ea typeface="MS PGothic" panose="020B0600070205080204" pitchFamily="34" charset="-128"/>
              </a:rPr>
              <a:t>do begin 		    			for each</a:t>
            </a:r>
            <a:r>
              <a:rPr lang="en-US" altLang="en-US" dirty="0">
                <a:ea typeface="MS PGothic" panose="020B0600070205080204" pitchFamily="34" charset="-128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2 </a:t>
            </a:r>
            <a:r>
              <a:rPr lang="en-US" altLang="en-US" b="1" baseline="-25000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 of r 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for each </a:t>
            </a:r>
            <a:r>
              <a:rPr lang="en-US" altLang="en-US" dirty="0">
                <a:ea typeface="MS PGothic" panose="020B0600070205080204" pitchFamily="34" charset="-128"/>
              </a:rPr>
              <a:t>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i="1" dirty="0">
                <a:ea typeface="MS PGothic" panose="020B0600070205080204" pitchFamily="34" charset="-128"/>
              </a:rPr>
              <a:t> of s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	</a:t>
            </a:r>
            <a:r>
              <a:rPr lang="en-US" altLang="en-US" dirty="0">
                <a:ea typeface="MS PGothic" panose="020B0600070205080204" pitchFamily="34" charset="-128"/>
              </a:rPr>
              <a:t>Check if (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 </a:t>
            </a:r>
            <a:r>
              <a:rPr lang="en-US" altLang="en-US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			if they do, add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baseline="30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06C96-11B9-4153-8AB6-A2803C2FE788}"/>
              </a:ext>
            </a:extLst>
          </p:cNvPr>
          <p:cNvSpPr txBox="1"/>
          <p:nvPr/>
        </p:nvSpPr>
        <p:spPr>
          <a:xfrm>
            <a:off x="5125773" y="3813870"/>
            <a:ext cx="41510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solidFill>
                  <a:srgbClr val="FF0000"/>
                </a:solidFill>
              </a:rPr>
              <a:t>Block transfer of s</a:t>
            </a:r>
          </a:p>
          <a:p>
            <a:r>
              <a:rPr lang="en-US" sz="1800" dirty="0"/>
              <a:t>For B1 of r, Block transfer of s = 400 </a:t>
            </a:r>
          </a:p>
          <a:p>
            <a:r>
              <a:rPr lang="en-US" sz="1800" dirty="0"/>
              <a:t>For B2 of r, Block transfer of s = 400 </a:t>
            </a:r>
          </a:p>
          <a:p>
            <a:endParaRPr lang="en-US" sz="1800" dirty="0"/>
          </a:p>
          <a:p>
            <a:r>
              <a:rPr lang="en-US" sz="1800" dirty="0"/>
              <a:t>Total block transfer of s </a:t>
            </a:r>
          </a:p>
          <a:p>
            <a:r>
              <a:rPr lang="en-US" sz="1800" dirty="0"/>
              <a:t>= 2000 X 400 = 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/>
              <a:t>Total block transfer of r = </a:t>
            </a:r>
            <a:r>
              <a:rPr lang="en-US" sz="1800" dirty="0" err="1"/>
              <a:t>b</a:t>
            </a:r>
            <a:r>
              <a:rPr lang="en-US" sz="1800" baseline="-25000" dirty="0" err="1"/>
              <a:t>r</a:t>
            </a:r>
            <a:r>
              <a:rPr lang="en-US" sz="1800" dirty="0"/>
              <a:t> </a:t>
            </a:r>
          </a:p>
          <a:p>
            <a:r>
              <a:rPr lang="en-US" sz="1800" dirty="0"/>
              <a:t>Total block transfer for join </a:t>
            </a:r>
          </a:p>
          <a:p>
            <a:r>
              <a:rPr lang="en-US" sz="1800" dirty="0"/>
              <a:t>= </a:t>
            </a:r>
            <a:r>
              <a:rPr lang="en-US" altLang="en-US" sz="1800" dirty="0"/>
              <a:t> </a:t>
            </a:r>
            <a:r>
              <a:rPr lang="en-US" altLang="en-US" sz="1800" i="1" dirty="0" err="1"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 </a:t>
            </a:r>
            <a:r>
              <a:rPr lang="en-US" altLang="en-US" sz="1800" i="1" dirty="0">
                <a:sym typeface="Symbol" panose="05050102010706020507" pitchFamily="18" charset="2"/>
              </a:rPr>
              <a:t>* </a:t>
            </a:r>
            <a:r>
              <a:rPr lang="en-US" altLang="en-US" sz="2000" i="1" dirty="0"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s</a:t>
            </a:r>
            <a:r>
              <a:rPr lang="en-US" sz="1800" dirty="0"/>
              <a:t> + </a:t>
            </a:r>
            <a:r>
              <a:rPr lang="en-US" sz="1800" dirty="0" err="1"/>
              <a:t>b</a:t>
            </a:r>
            <a:r>
              <a:rPr lang="en-US" sz="1800" baseline="-25000" dirty="0" err="1"/>
              <a:t>r</a:t>
            </a:r>
            <a:r>
              <a:rPr lang="en-US" sz="1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13346-AE7A-4830-B72D-5B97D44DA128}"/>
              </a:ext>
            </a:extLst>
          </p:cNvPr>
          <p:cNvSpPr txBox="1"/>
          <p:nvPr/>
        </p:nvSpPr>
        <p:spPr>
          <a:xfrm>
            <a:off x="209708" y="4325256"/>
            <a:ext cx="41510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No. of seek for s and r</a:t>
            </a:r>
          </a:p>
          <a:p>
            <a:r>
              <a:rPr lang="en-US" sz="1800" dirty="0"/>
              <a:t>For B1 of r, 1 seek for s and 1 seek in r </a:t>
            </a:r>
          </a:p>
          <a:p>
            <a:r>
              <a:rPr lang="en-US" sz="1800" dirty="0"/>
              <a:t>For B2 of r, 1 seek for s and 1 seek in r</a:t>
            </a:r>
          </a:p>
          <a:p>
            <a:r>
              <a:rPr lang="en-US" sz="1800" dirty="0"/>
              <a:t>………..</a:t>
            </a:r>
          </a:p>
          <a:p>
            <a:r>
              <a:rPr lang="en-US" sz="1800" dirty="0"/>
              <a:t>For B2000 of r, 1 seek for s and 1 seek in r</a:t>
            </a:r>
          </a:p>
          <a:p>
            <a:r>
              <a:rPr lang="en-US" sz="1800" dirty="0"/>
              <a:t>Total no. of seek = 2 X 2000 = 2 </a:t>
            </a:r>
            <a:r>
              <a:rPr lang="en-US" sz="1800" dirty="0" err="1"/>
              <a:t>b</a:t>
            </a:r>
            <a:r>
              <a:rPr lang="en-US" sz="1800" baseline="-25000" dirty="0" err="1"/>
              <a:t>r</a:t>
            </a:r>
            <a:endParaRPr lang="en-US" sz="1800" baseline="-25000" dirty="0"/>
          </a:p>
        </p:txBody>
      </p:sp>
      <p:graphicFrame>
        <p:nvGraphicFramePr>
          <p:cNvPr id="16" name="Table 26">
            <a:extLst>
              <a:ext uri="{FF2B5EF4-FFF2-40B4-BE49-F238E27FC236}">
                <a16:creationId xmlns:a16="http://schemas.microsoft.com/office/drawing/2014/main" id="{C84BCBC6-E728-4655-869D-C9EFAF4DDC4C}"/>
              </a:ext>
            </a:extLst>
          </p:cNvPr>
          <p:cNvGraphicFramePr>
            <a:graphicFrameLocks noGrp="1"/>
          </p:cNvGraphicFramePr>
          <p:nvPr/>
        </p:nvGraphicFramePr>
        <p:xfrm>
          <a:off x="32320" y="2145090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9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712" y="10584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B1AC9766-3770-4655-8E71-3BF32D58D893}"/>
              </a:ext>
            </a:extLst>
          </p:cNvPr>
          <p:cNvGraphicFramePr>
            <a:graphicFrameLocks noGrp="1"/>
          </p:cNvGraphicFramePr>
          <p:nvPr/>
        </p:nvGraphicFramePr>
        <p:xfrm>
          <a:off x="5265057" y="4383556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B51770-BCC0-42CB-A573-E2242693A828}"/>
              </a:ext>
            </a:extLst>
          </p:cNvPr>
          <p:cNvGraphicFramePr>
            <a:graphicFrameLocks noGrp="1"/>
          </p:cNvGraphicFramePr>
          <p:nvPr/>
        </p:nvGraphicFramePr>
        <p:xfrm>
          <a:off x="7249884" y="4383556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ECFBD6A9-417D-4135-BBC8-C0B9580B526B}"/>
              </a:ext>
            </a:extLst>
          </p:cNvPr>
          <p:cNvGraphicFramePr>
            <a:graphicFrameLocks noGrp="1"/>
          </p:cNvGraphicFramePr>
          <p:nvPr/>
        </p:nvGraphicFramePr>
        <p:xfrm>
          <a:off x="6313714" y="3435524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46AE58-AC98-444F-B9B5-455646EB7C9B}"/>
              </a:ext>
            </a:extLst>
          </p:cNvPr>
          <p:cNvSpPr txBox="1"/>
          <p:nvPr/>
        </p:nvSpPr>
        <p:spPr>
          <a:xfrm>
            <a:off x="7837712" y="3435524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230A4B-F645-4A2C-A0C1-0CD44B01DF1D}"/>
              </a:ext>
            </a:extLst>
          </p:cNvPr>
          <p:cNvSpPr/>
          <p:nvPr/>
        </p:nvSpPr>
        <p:spPr bwMode="auto">
          <a:xfrm>
            <a:off x="5156197" y="3613961"/>
            <a:ext cx="1186545" cy="1233811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87303B-27EB-422E-A2BA-DE9619B6AA12}"/>
              </a:ext>
            </a:extLst>
          </p:cNvPr>
          <p:cNvSpPr/>
          <p:nvPr/>
        </p:nvSpPr>
        <p:spPr bwMode="auto">
          <a:xfrm>
            <a:off x="7418296" y="3760440"/>
            <a:ext cx="1112478" cy="741680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B03F1-F467-4565-91A3-34993EF1ACC9}"/>
              </a:ext>
            </a:extLst>
          </p:cNvPr>
          <p:cNvSpPr txBox="1"/>
          <p:nvPr/>
        </p:nvSpPr>
        <p:spPr>
          <a:xfrm>
            <a:off x="5413829" y="715380"/>
            <a:ext cx="3614057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Cost Analysis (Block transfer) 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F0000"/>
                </a:solidFill>
              </a:rPr>
              <a:t>Case 2 (</a:t>
            </a:r>
            <a:r>
              <a:rPr lang="en-US" b="1" dirty="0">
                <a:solidFill>
                  <a:srgbClr val="FF0000"/>
                </a:solidFill>
              </a:rPr>
              <a:t>Worst</a:t>
            </a:r>
            <a:r>
              <a:rPr lang="en-US" sz="1600" b="1" dirty="0">
                <a:solidFill>
                  <a:srgbClr val="FF0000"/>
                </a:solidFill>
              </a:rPr>
              <a:t> Case):</a:t>
            </a:r>
            <a:r>
              <a:rPr lang="en-US" sz="1600" dirty="0"/>
              <a:t> 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sz="16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6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6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1600" i="1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2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47C35A-05D7-4CA6-9695-C7A9E2CDDD14}"/>
              </a:ext>
            </a:extLst>
          </p:cNvPr>
          <p:cNvGrpSpPr/>
          <p:nvPr/>
        </p:nvGrpSpPr>
        <p:grpSpPr>
          <a:xfrm>
            <a:off x="5702459" y="3910802"/>
            <a:ext cx="2356120" cy="310296"/>
            <a:chOff x="5591947" y="1556543"/>
            <a:chExt cx="2356120" cy="3102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1C0126-0278-40CC-A060-09D5807EF041}"/>
                </a:ext>
              </a:extLst>
            </p:cNvPr>
            <p:cNvSpPr/>
            <p:nvPr/>
          </p:nvSpPr>
          <p:spPr bwMode="auto">
            <a:xfrm>
              <a:off x="5591947" y="1556543"/>
              <a:ext cx="377371" cy="29995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Helvetica" charset="0"/>
                </a:rPr>
                <a:t>r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48C1B44-CDD1-435B-A9AB-A16EF0D7A4CE}"/>
                </a:ext>
              </a:extLst>
            </p:cNvPr>
            <p:cNvSpPr/>
            <p:nvPr/>
          </p:nvSpPr>
          <p:spPr bwMode="auto">
            <a:xfrm>
              <a:off x="7570696" y="1566888"/>
              <a:ext cx="377371" cy="29995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s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F30DFF1-44AE-4AE3-8664-FCB79712E51E}"/>
              </a:ext>
            </a:extLst>
          </p:cNvPr>
          <p:cNvSpPr txBox="1"/>
          <p:nvPr/>
        </p:nvSpPr>
        <p:spPr>
          <a:xfrm>
            <a:off x="226139" y="2395503"/>
            <a:ext cx="493005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Find the cost of each iteration of outer loop and the total cost for the following join operation using block nested join algorithm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IN" altLang="en-US" sz="1800" dirty="0">
                <a:ea typeface="MS PGothic" panose="020B0600070205080204" pitchFamily="34" charset="-128"/>
              </a:rPr>
              <a:t>⨝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takes</a:t>
            </a:r>
            <a:b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    student.id = takes .id</a:t>
            </a:r>
          </a:p>
          <a:p>
            <a:endParaRPr lang="en-US" altLang="en-US" sz="16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graphicFrame>
        <p:nvGraphicFramePr>
          <p:cNvPr id="16" name="Table 26">
            <a:extLst>
              <a:ext uri="{FF2B5EF4-FFF2-40B4-BE49-F238E27FC236}">
                <a16:creationId xmlns:a16="http://schemas.microsoft.com/office/drawing/2014/main" id="{7C36AADD-326E-4D06-A94F-BA7DF2096B2D}"/>
              </a:ext>
            </a:extLst>
          </p:cNvPr>
          <p:cNvGraphicFramePr>
            <a:graphicFrameLocks noGrp="1"/>
          </p:cNvGraphicFramePr>
          <p:nvPr/>
        </p:nvGraphicFramePr>
        <p:xfrm>
          <a:off x="207726" y="974758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26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712" y="10584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B1AC9766-3770-4655-8E71-3BF32D58D893}"/>
              </a:ext>
            </a:extLst>
          </p:cNvPr>
          <p:cNvGraphicFramePr>
            <a:graphicFrameLocks noGrp="1"/>
          </p:cNvGraphicFramePr>
          <p:nvPr/>
        </p:nvGraphicFramePr>
        <p:xfrm>
          <a:off x="5294085" y="1945156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B51770-BCC0-42CB-A573-E2242693A828}"/>
              </a:ext>
            </a:extLst>
          </p:cNvPr>
          <p:cNvGraphicFramePr>
            <a:graphicFrameLocks noGrp="1"/>
          </p:cNvGraphicFramePr>
          <p:nvPr/>
        </p:nvGraphicFramePr>
        <p:xfrm>
          <a:off x="7278912" y="1945156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ECFBD6A9-417D-4135-BBC8-C0B9580B526B}"/>
              </a:ext>
            </a:extLst>
          </p:cNvPr>
          <p:cNvGraphicFramePr>
            <a:graphicFrameLocks noGrp="1"/>
          </p:cNvGraphicFramePr>
          <p:nvPr/>
        </p:nvGraphicFramePr>
        <p:xfrm>
          <a:off x="6342742" y="997124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46AE58-AC98-444F-B9B5-455646EB7C9B}"/>
              </a:ext>
            </a:extLst>
          </p:cNvPr>
          <p:cNvSpPr txBox="1"/>
          <p:nvPr/>
        </p:nvSpPr>
        <p:spPr>
          <a:xfrm>
            <a:off x="7866740" y="997124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230A4B-F645-4A2C-A0C1-0CD44B01DF1D}"/>
              </a:ext>
            </a:extLst>
          </p:cNvPr>
          <p:cNvSpPr/>
          <p:nvPr/>
        </p:nvSpPr>
        <p:spPr bwMode="auto">
          <a:xfrm>
            <a:off x="5185225" y="1175561"/>
            <a:ext cx="1186545" cy="1233811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87303B-27EB-422E-A2BA-DE9619B6AA12}"/>
              </a:ext>
            </a:extLst>
          </p:cNvPr>
          <p:cNvSpPr/>
          <p:nvPr/>
        </p:nvSpPr>
        <p:spPr bwMode="auto">
          <a:xfrm>
            <a:off x="7447324" y="1322040"/>
            <a:ext cx="1112478" cy="741680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47C35A-05D7-4CA6-9695-C7A9E2CDDD14}"/>
              </a:ext>
            </a:extLst>
          </p:cNvPr>
          <p:cNvGrpSpPr/>
          <p:nvPr/>
        </p:nvGrpSpPr>
        <p:grpSpPr>
          <a:xfrm>
            <a:off x="5731487" y="1472402"/>
            <a:ext cx="2356120" cy="310296"/>
            <a:chOff x="5591947" y="1556543"/>
            <a:chExt cx="2356120" cy="3102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1C0126-0278-40CC-A060-09D5807EF041}"/>
                </a:ext>
              </a:extLst>
            </p:cNvPr>
            <p:cNvSpPr/>
            <p:nvPr/>
          </p:nvSpPr>
          <p:spPr bwMode="auto">
            <a:xfrm>
              <a:off x="5591947" y="1556543"/>
              <a:ext cx="377371" cy="29995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Helvetica" charset="0"/>
                </a:rPr>
                <a:t>r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48C1B44-CDD1-435B-A9AB-A16EF0D7A4CE}"/>
                </a:ext>
              </a:extLst>
            </p:cNvPr>
            <p:cNvSpPr/>
            <p:nvPr/>
          </p:nvSpPr>
          <p:spPr bwMode="auto">
            <a:xfrm>
              <a:off x="7570696" y="1566888"/>
              <a:ext cx="377371" cy="29995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s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F30DFF1-44AE-4AE3-8664-FCB79712E51E}"/>
              </a:ext>
            </a:extLst>
          </p:cNvPr>
          <p:cNvSpPr txBox="1"/>
          <p:nvPr/>
        </p:nvSpPr>
        <p:spPr>
          <a:xfrm>
            <a:off x="88254" y="2191751"/>
            <a:ext cx="493005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Find the cost of each iteration of outer loop and the total cost for the following join operation using block nested join algorithm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IN" altLang="en-US" sz="1800" dirty="0">
                <a:ea typeface="MS PGothic" panose="020B0600070205080204" pitchFamily="34" charset="-128"/>
              </a:rPr>
              <a:t>⨝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takes</a:t>
            </a:r>
            <a:b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    student.id = takes .id</a:t>
            </a:r>
          </a:p>
          <a:p>
            <a:endParaRPr lang="en-US" altLang="en-US" sz="16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graphicFrame>
        <p:nvGraphicFramePr>
          <p:cNvPr id="16" name="Table 26">
            <a:extLst>
              <a:ext uri="{FF2B5EF4-FFF2-40B4-BE49-F238E27FC236}">
                <a16:creationId xmlns:a16="http://schemas.microsoft.com/office/drawing/2014/main" id="{7C36AADD-326E-4D06-A94F-BA7DF2096B2D}"/>
              </a:ext>
            </a:extLst>
          </p:cNvPr>
          <p:cNvGraphicFramePr>
            <a:graphicFrameLocks noGrp="1"/>
          </p:cNvGraphicFramePr>
          <p:nvPr/>
        </p:nvGraphicFramePr>
        <p:xfrm>
          <a:off x="207726" y="974758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9E27B84-1F95-48FC-859E-651EE090EADD}"/>
              </a:ext>
            </a:extLst>
          </p:cNvPr>
          <p:cNvSpPr txBox="1"/>
          <p:nvPr/>
        </p:nvSpPr>
        <p:spPr>
          <a:xfrm>
            <a:off x="120906" y="4142884"/>
            <a:ext cx="41510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/>
              <a:t>Block transfer of s</a:t>
            </a:r>
          </a:p>
          <a:p>
            <a:r>
              <a:rPr lang="en-US" sz="1800" dirty="0"/>
              <a:t>For B1 of r, Block transfer of s = 400 </a:t>
            </a:r>
          </a:p>
          <a:p>
            <a:r>
              <a:rPr lang="en-US" sz="1800" dirty="0"/>
              <a:t>For B2 of r, Block transfer of s = 400 </a:t>
            </a:r>
          </a:p>
          <a:p>
            <a:endParaRPr lang="en-US" sz="1800" dirty="0"/>
          </a:p>
          <a:p>
            <a:r>
              <a:rPr lang="en-US" sz="1800" dirty="0"/>
              <a:t>Total block transfer of s </a:t>
            </a:r>
          </a:p>
          <a:p>
            <a:r>
              <a:rPr lang="en-US" sz="1800" dirty="0"/>
              <a:t>= 2000 X 400 = 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/>
              <a:t>Total block transfer of r = </a:t>
            </a:r>
            <a:r>
              <a:rPr lang="en-US" sz="1800" dirty="0" err="1"/>
              <a:t>b</a:t>
            </a:r>
            <a:r>
              <a:rPr lang="en-US" sz="1800" baseline="-25000" dirty="0" err="1"/>
              <a:t>r</a:t>
            </a:r>
            <a:r>
              <a:rPr lang="en-US" sz="1800" dirty="0"/>
              <a:t> </a:t>
            </a:r>
          </a:p>
          <a:p>
            <a:r>
              <a:rPr lang="en-US" sz="1800" dirty="0"/>
              <a:t>Total block transfer for join </a:t>
            </a:r>
          </a:p>
          <a:p>
            <a:r>
              <a:rPr lang="en-US" sz="1800" dirty="0"/>
              <a:t>= </a:t>
            </a:r>
            <a:r>
              <a:rPr lang="en-US" altLang="en-US" sz="1800" dirty="0"/>
              <a:t> </a:t>
            </a:r>
            <a:r>
              <a:rPr lang="en-US" altLang="en-US" sz="1800" i="1" dirty="0" err="1"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 </a:t>
            </a:r>
            <a:r>
              <a:rPr lang="en-US" altLang="en-US" sz="1800" i="1" dirty="0">
                <a:sym typeface="Symbol" panose="05050102010706020507" pitchFamily="18" charset="2"/>
              </a:rPr>
              <a:t>* </a:t>
            </a:r>
            <a:r>
              <a:rPr lang="en-US" altLang="en-US" sz="2000" i="1" dirty="0"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s</a:t>
            </a:r>
            <a:r>
              <a:rPr lang="en-US" sz="1800" dirty="0"/>
              <a:t> + </a:t>
            </a:r>
            <a:r>
              <a:rPr lang="en-US" sz="1800" dirty="0" err="1"/>
              <a:t>b</a:t>
            </a:r>
            <a:r>
              <a:rPr lang="en-US" sz="1800" baseline="-25000" dirty="0" err="1"/>
              <a:t>r</a:t>
            </a:r>
            <a:r>
              <a:rPr lang="en-US" sz="1800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3E153B-4E5C-41CA-858D-71F24ED3EAA3}"/>
              </a:ext>
            </a:extLst>
          </p:cNvPr>
          <p:cNvSpPr txBox="1"/>
          <p:nvPr/>
        </p:nvSpPr>
        <p:spPr>
          <a:xfrm>
            <a:off x="4308274" y="4369935"/>
            <a:ext cx="41510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No. of seek for s and r</a:t>
            </a:r>
          </a:p>
          <a:p>
            <a:r>
              <a:rPr lang="en-US" sz="1800" dirty="0"/>
              <a:t>For B1 of r, 1 seek for s and 1 seek in r </a:t>
            </a:r>
          </a:p>
          <a:p>
            <a:r>
              <a:rPr lang="en-US" sz="1800" dirty="0"/>
              <a:t>For B2 of r, 1 seek for s and 1 seek in r</a:t>
            </a:r>
          </a:p>
          <a:p>
            <a:r>
              <a:rPr lang="en-US" sz="1800" dirty="0"/>
              <a:t>………..</a:t>
            </a:r>
          </a:p>
          <a:p>
            <a:r>
              <a:rPr lang="en-US" sz="1800" dirty="0"/>
              <a:t>For B2000 of r, 1 seek for s and 1 seek in r</a:t>
            </a:r>
          </a:p>
          <a:p>
            <a:r>
              <a:rPr lang="en-US" sz="1800" dirty="0"/>
              <a:t>Total no. of seek = 2 X 2000 = 2 </a:t>
            </a:r>
            <a:r>
              <a:rPr lang="en-US" sz="1800" dirty="0" err="1"/>
              <a:t>b</a:t>
            </a:r>
            <a:r>
              <a:rPr lang="en-US" sz="1800" baseline="-25000" dirty="0" err="1"/>
              <a:t>r</a:t>
            </a:r>
            <a:endParaRPr lang="en-US" sz="1800" baseline="-25000" dirty="0"/>
          </a:p>
        </p:txBody>
      </p:sp>
    </p:spTree>
    <p:extLst>
      <p:ext uri="{BB962C8B-B14F-4D97-AF65-F5344CB8AC3E}">
        <p14:creationId xmlns:p14="http://schemas.microsoft.com/office/powerpoint/2010/main" val="36275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712" y="10584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B1AC9766-3770-4655-8E71-3BF32D58D893}"/>
              </a:ext>
            </a:extLst>
          </p:cNvPr>
          <p:cNvGraphicFramePr>
            <a:graphicFrameLocks noGrp="1"/>
          </p:cNvGraphicFramePr>
          <p:nvPr/>
        </p:nvGraphicFramePr>
        <p:xfrm>
          <a:off x="5294085" y="1945156"/>
          <a:ext cx="1175657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B51770-BCC0-42CB-A573-E2242693A828}"/>
              </a:ext>
            </a:extLst>
          </p:cNvPr>
          <p:cNvGraphicFramePr>
            <a:graphicFrameLocks noGrp="1"/>
          </p:cNvGraphicFramePr>
          <p:nvPr/>
        </p:nvGraphicFramePr>
        <p:xfrm>
          <a:off x="7278912" y="1945156"/>
          <a:ext cx="1175657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ECFBD6A9-417D-4135-BBC8-C0B9580B526B}"/>
              </a:ext>
            </a:extLst>
          </p:cNvPr>
          <p:cNvGraphicFramePr>
            <a:graphicFrameLocks noGrp="1"/>
          </p:cNvGraphicFramePr>
          <p:nvPr/>
        </p:nvGraphicFramePr>
        <p:xfrm>
          <a:off x="6342742" y="997124"/>
          <a:ext cx="1059543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46AE58-AC98-444F-B9B5-455646EB7C9B}"/>
              </a:ext>
            </a:extLst>
          </p:cNvPr>
          <p:cNvSpPr txBox="1"/>
          <p:nvPr/>
        </p:nvSpPr>
        <p:spPr>
          <a:xfrm>
            <a:off x="7866740" y="997124"/>
            <a:ext cx="117565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Iteration 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230A4B-F645-4A2C-A0C1-0CD44B01DF1D}"/>
              </a:ext>
            </a:extLst>
          </p:cNvPr>
          <p:cNvSpPr/>
          <p:nvPr/>
        </p:nvSpPr>
        <p:spPr bwMode="auto">
          <a:xfrm>
            <a:off x="5185225" y="1175561"/>
            <a:ext cx="1186545" cy="1233811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87303B-27EB-422E-A2BA-DE9619B6AA12}"/>
              </a:ext>
            </a:extLst>
          </p:cNvPr>
          <p:cNvSpPr/>
          <p:nvPr/>
        </p:nvSpPr>
        <p:spPr bwMode="auto">
          <a:xfrm>
            <a:off x="7447324" y="1322040"/>
            <a:ext cx="1112478" cy="741680"/>
          </a:xfrm>
          <a:custGeom>
            <a:avLst/>
            <a:gdLst>
              <a:gd name="connsiteX0" fmla="*/ 856343 w 915896"/>
              <a:gd name="connsiteY0" fmla="*/ 872645 h 872645"/>
              <a:gd name="connsiteX1" fmla="*/ 870857 w 915896"/>
              <a:gd name="connsiteY1" fmla="*/ 800074 h 872645"/>
              <a:gd name="connsiteX2" fmla="*/ 899886 w 915896"/>
              <a:gd name="connsiteY2" fmla="*/ 712988 h 872645"/>
              <a:gd name="connsiteX3" fmla="*/ 899886 w 915896"/>
              <a:gd name="connsiteY3" fmla="*/ 451731 h 872645"/>
              <a:gd name="connsiteX4" fmla="*/ 870857 w 915896"/>
              <a:gd name="connsiteY4" fmla="*/ 364645 h 872645"/>
              <a:gd name="connsiteX5" fmla="*/ 827314 w 915896"/>
              <a:gd name="connsiteY5" fmla="*/ 335617 h 872645"/>
              <a:gd name="connsiteX6" fmla="*/ 769257 w 915896"/>
              <a:gd name="connsiteY6" fmla="*/ 263045 h 872645"/>
              <a:gd name="connsiteX7" fmla="*/ 696686 w 915896"/>
              <a:gd name="connsiteY7" fmla="*/ 204988 h 872645"/>
              <a:gd name="connsiteX8" fmla="*/ 653143 w 915896"/>
              <a:gd name="connsiteY8" fmla="*/ 175959 h 872645"/>
              <a:gd name="connsiteX9" fmla="*/ 566057 w 915896"/>
              <a:gd name="connsiteY9" fmla="*/ 146931 h 872645"/>
              <a:gd name="connsiteX10" fmla="*/ 478971 w 915896"/>
              <a:gd name="connsiteY10" fmla="*/ 117902 h 872645"/>
              <a:gd name="connsiteX11" fmla="*/ 435428 w 915896"/>
              <a:gd name="connsiteY11" fmla="*/ 103388 h 872645"/>
              <a:gd name="connsiteX12" fmla="*/ 391886 w 915896"/>
              <a:gd name="connsiteY12" fmla="*/ 88874 h 872645"/>
              <a:gd name="connsiteX13" fmla="*/ 304800 w 915896"/>
              <a:gd name="connsiteY13" fmla="*/ 45331 h 872645"/>
              <a:gd name="connsiteX14" fmla="*/ 217714 w 915896"/>
              <a:gd name="connsiteY14" fmla="*/ 1788 h 872645"/>
              <a:gd name="connsiteX15" fmla="*/ 0 w 915896"/>
              <a:gd name="connsiteY15" fmla="*/ 1788 h 87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5896" h="872645">
                <a:moveTo>
                  <a:pt x="856343" y="872645"/>
                </a:moveTo>
                <a:cubicBezTo>
                  <a:pt x="861181" y="848455"/>
                  <a:pt x="864366" y="823874"/>
                  <a:pt x="870857" y="800074"/>
                </a:cubicBezTo>
                <a:cubicBezTo>
                  <a:pt x="878908" y="770553"/>
                  <a:pt x="899886" y="712988"/>
                  <a:pt x="899886" y="712988"/>
                </a:cubicBezTo>
                <a:cubicBezTo>
                  <a:pt x="917210" y="591718"/>
                  <a:pt x="924913" y="593549"/>
                  <a:pt x="899886" y="451731"/>
                </a:cubicBezTo>
                <a:cubicBezTo>
                  <a:pt x="894568" y="421598"/>
                  <a:pt x="896317" y="381618"/>
                  <a:pt x="870857" y="364645"/>
                </a:cubicBezTo>
                <a:lnTo>
                  <a:pt x="827314" y="335617"/>
                </a:lnTo>
                <a:cubicBezTo>
                  <a:pt x="799059" y="250849"/>
                  <a:pt x="834908" y="328696"/>
                  <a:pt x="769257" y="263045"/>
                </a:cubicBezTo>
                <a:cubicBezTo>
                  <a:pt x="703606" y="197394"/>
                  <a:pt x="781453" y="233244"/>
                  <a:pt x="696686" y="204988"/>
                </a:cubicBezTo>
                <a:cubicBezTo>
                  <a:pt x="682172" y="195312"/>
                  <a:pt x="669084" y="183044"/>
                  <a:pt x="653143" y="175959"/>
                </a:cubicBezTo>
                <a:cubicBezTo>
                  <a:pt x="625181" y="163532"/>
                  <a:pt x="595086" y="156607"/>
                  <a:pt x="566057" y="146931"/>
                </a:cubicBezTo>
                <a:lnTo>
                  <a:pt x="478971" y="117902"/>
                </a:lnTo>
                <a:lnTo>
                  <a:pt x="435428" y="103388"/>
                </a:lnTo>
                <a:lnTo>
                  <a:pt x="391886" y="88874"/>
                </a:lnTo>
                <a:cubicBezTo>
                  <a:pt x="267097" y="5681"/>
                  <a:pt x="424984" y="105423"/>
                  <a:pt x="304800" y="45331"/>
                </a:cubicBezTo>
                <a:cubicBezTo>
                  <a:pt x="270245" y="28054"/>
                  <a:pt x="258758" y="4068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47C35A-05D7-4CA6-9695-C7A9E2CDDD14}"/>
              </a:ext>
            </a:extLst>
          </p:cNvPr>
          <p:cNvGrpSpPr/>
          <p:nvPr/>
        </p:nvGrpSpPr>
        <p:grpSpPr>
          <a:xfrm>
            <a:off x="5731487" y="1472402"/>
            <a:ext cx="2356120" cy="310296"/>
            <a:chOff x="5591947" y="1556543"/>
            <a:chExt cx="2356120" cy="3102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1C0126-0278-40CC-A060-09D5807EF041}"/>
                </a:ext>
              </a:extLst>
            </p:cNvPr>
            <p:cNvSpPr/>
            <p:nvPr/>
          </p:nvSpPr>
          <p:spPr bwMode="auto">
            <a:xfrm>
              <a:off x="5591947" y="1556543"/>
              <a:ext cx="377371" cy="29995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Helvetica" charset="0"/>
                </a:rPr>
                <a:t>r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48C1B44-CDD1-435B-A9AB-A16EF0D7A4CE}"/>
                </a:ext>
              </a:extLst>
            </p:cNvPr>
            <p:cNvSpPr/>
            <p:nvPr/>
          </p:nvSpPr>
          <p:spPr bwMode="auto">
            <a:xfrm>
              <a:off x="7570696" y="1566888"/>
              <a:ext cx="377371" cy="29995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s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F30DFF1-44AE-4AE3-8664-FCB79712E51E}"/>
              </a:ext>
            </a:extLst>
          </p:cNvPr>
          <p:cNvSpPr txBox="1"/>
          <p:nvPr/>
        </p:nvSpPr>
        <p:spPr>
          <a:xfrm>
            <a:off x="88254" y="2191751"/>
            <a:ext cx="493005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Question: </a:t>
            </a:r>
          </a:p>
          <a:p>
            <a:r>
              <a:rPr lang="en-US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a.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Find the cost of each iteration of outer loop and the total cost for the following join operation using block nested join algorithm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sym typeface="Symbol" panose="05050102010706020507" pitchFamily="18" charset="2"/>
              </a:rPr>
              <a:t>takes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IN" altLang="en-US" sz="1800" dirty="0">
                <a:ea typeface="MS PGothic" panose="020B0600070205080204" pitchFamily="34" charset="-128"/>
              </a:rPr>
              <a:t>⨝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b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    student.id = takes .id</a:t>
            </a:r>
          </a:p>
          <a:p>
            <a:endParaRPr lang="en-US" altLang="en-US" sz="16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b.</a:t>
            </a:r>
            <a:r>
              <a:rPr lang="en-US" altLang="en-US" dirty="0">
                <a:sym typeface="Symbol" panose="05050102010706020507" pitchFamily="18" charset="2"/>
              </a:rPr>
              <a:t> Analyze the effect of the size of outer relation</a:t>
            </a:r>
            <a:endParaRPr lang="en-US" altLang="en-US" sz="16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graphicFrame>
        <p:nvGraphicFramePr>
          <p:cNvPr id="16" name="Table 26">
            <a:extLst>
              <a:ext uri="{FF2B5EF4-FFF2-40B4-BE49-F238E27FC236}">
                <a16:creationId xmlns:a16="http://schemas.microsoft.com/office/drawing/2014/main" id="{7C36AADD-326E-4D06-A94F-BA7DF2096B2D}"/>
              </a:ext>
            </a:extLst>
          </p:cNvPr>
          <p:cNvGraphicFramePr>
            <a:graphicFrameLocks noGrp="1"/>
          </p:cNvGraphicFramePr>
          <p:nvPr/>
        </p:nvGraphicFramePr>
        <p:xfrm>
          <a:off x="207726" y="974758"/>
          <a:ext cx="475641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9553">
                  <a:extLst>
                    <a:ext uri="{9D8B030D-6E8A-4147-A177-3AD203B41FA5}">
                      <a16:colId xmlns:a16="http://schemas.microsoft.com/office/drawing/2014/main" val="3136647323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070579635"/>
                    </a:ext>
                  </a:extLst>
                </a:gridCol>
                <a:gridCol w="1771170">
                  <a:extLst>
                    <a:ext uri="{9D8B030D-6E8A-4147-A177-3AD203B41FA5}">
                      <a16:colId xmlns:a16="http://schemas.microsoft.com/office/drawing/2014/main" val="3277191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6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5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04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712" y="10584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271E85F-D50F-4FAC-81D5-291C4D3EA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0906" y="991640"/>
            <a:ext cx="4930058" cy="4160932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</a:p>
          <a:p>
            <a:pPr>
              <a:buFont typeface="Monotype Sorts" pitchFamily="-65" charset="2"/>
              <a:buNone/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b="1" dirty="0">
                <a:ea typeface="MS PGothic" panose="020B0600070205080204" pitchFamily="34" charset="-128"/>
              </a:rPr>
              <a:t>for each </a:t>
            </a:r>
            <a:r>
              <a:rPr lang="en-US" altLang="en-US" dirty="0">
                <a:ea typeface="MS PGothic" panose="020B0600070205080204" pitchFamily="34" charset="-128"/>
              </a:rPr>
              <a:t>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of</a:t>
            </a:r>
            <a:r>
              <a:rPr lang="en-US" altLang="en-US" b="1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for each</a:t>
            </a:r>
            <a:r>
              <a:rPr lang="en-US" altLang="en-US" dirty="0">
                <a:ea typeface="MS PGothic" panose="020B0600070205080204" pitchFamily="34" charset="-128"/>
              </a:rPr>
              <a:t> 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</a:rPr>
              <a:t> of </a:t>
            </a:r>
            <a:r>
              <a:rPr lang="en-US" altLang="en-US" b="1" i="1" dirty="0">
                <a:ea typeface="MS PGothic" panose="020B0600070205080204" pitchFamily="34" charset="-128"/>
              </a:rPr>
              <a:t>s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for each</a:t>
            </a:r>
            <a:r>
              <a:rPr lang="en-US" altLang="en-US" dirty="0">
                <a:ea typeface="MS PGothic" panose="020B0600070205080204" pitchFamily="34" charset="-128"/>
              </a:rPr>
              <a:t> tuple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 </a:t>
            </a:r>
            <a:r>
              <a:rPr lang="en-US" altLang="en-US" b="1" baseline="-25000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for each </a:t>
            </a:r>
            <a:r>
              <a:rPr lang="en-US" altLang="en-US" dirty="0">
                <a:ea typeface="MS PGothic" panose="020B0600070205080204" pitchFamily="34" charset="-128"/>
              </a:rPr>
              <a:t>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	</a:t>
            </a:r>
            <a:r>
              <a:rPr lang="en-US" altLang="en-US" dirty="0">
                <a:ea typeface="MS PGothic" panose="020B0600070205080204" pitchFamily="34" charset="-128"/>
              </a:rPr>
              <a:t>Check if (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 </a:t>
            </a:r>
            <a:r>
              <a:rPr lang="en-US" altLang="en-US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			if they do, add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baseline="30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End 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B03F1-F467-4565-91A3-34993EF1ACC9}"/>
              </a:ext>
            </a:extLst>
          </p:cNvPr>
          <p:cNvSpPr txBox="1"/>
          <p:nvPr/>
        </p:nvSpPr>
        <p:spPr>
          <a:xfrm>
            <a:off x="5413829" y="715380"/>
            <a:ext cx="3614057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Cost Analysis (Block transfer) 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F0000"/>
                </a:solidFill>
              </a:rPr>
              <a:t>Case 2 (Best Case):</a:t>
            </a:r>
            <a:r>
              <a:rPr lang="en-US" sz="1600" dirty="0"/>
              <a:t> </a:t>
            </a:r>
            <a:r>
              <a:rPr lang="en-US" altLang="en-US" sz="1600" dirty="0">
                <a:ea typeface="MS PGothic" panose="020B0600070205080204" pitchFamily="34" charset="-128"/>
                <a:sym typeface="Symbol" panose="05050102010706020507" pitchFamily="18" charset="2"/>
              </a:rPr>
              <a:t>the smaller relation fits entirely in memory, use that as the inner relation</a:t>
            </a:r>
            <a:endParaRPr lang="en-US" altLang="en-US" sz="1600" dirty="0">
              <a:ea typeface="MS PGothic" panose="020B0600070205080204" pitchFamily="34" charset="-128"/>
            </a:endParaRPr>
          </a:p>
          <a:p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the estimated 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Number of seek </a:t>
            </a:r>
            <a:r>
              <a:rPr lang="en-US" sz="1600" dirty="0"/>
              <a:t>= </a:t>
            </a:r>
            <a:r>
              <a:rPr lang="en-US" i="1" dirty="0"/>
              <a:t>2</a:t>
            </a:r>
            <a:endParaRPr lang="en-US" sz="1600" dirty="0"/>
          </a:p>
        </p:txBody>
      </p:sp>
      <p:graphicFrame>
        <p:nvGraphicFramePr>
          <p:cNvPr id="15" name="Table 12">
            <a:extLst>
              <a:ext uri="{FF2B5EF4-FFF2-40B4-BE49-F238E27FC236}">
                <a16:creationId xmlns:a16="http://schemas.microsoft.com/office/drawing/2014/main" id="{6BFC6717-7F7B-4EAE-9C96-A90E3A8BE203}"/>
              </a:ext>
            </a:extLst>
          </p:cNvPr>
          <p:cNvGraphicFramePr>
            <a:graphicFrameLocks noGrp="1"/>
          </p:cNvGraphicFramePr>
          <p:nvPr/>
        </p:nvGraphicFramePr>
        <p:xfrm>
          <a:off x="5661212" y="4624754"/>
          <a:ext cx="779502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79502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64167"/>
                  </a:ext>
                </a:extLst>
              </a:tr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37294"/>
                  </a:ext>
                </a:extLst>
              </a:tr>
              <a:tr h="3336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93883E2-2BAD-438D-93DE-04548E3CE6FF}"/>
              </a:ext>
            </a:extLst>
          </p:cNvPr>
          <p:cNvGraphicFramePr>
            <a:graphicFrameLocks noGrp="1"/>
          </p:cNvGraphicFramePr>
          <p:nvPr/>
        </p:nvGraphicFramePr>
        <p:xfrm>
          <a:off x="7765143" y="4624754"/>
          <a:ext cx="660398" cy="1463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60398">
                  <a:extLst>
                    <a:ext uri="{9D8B030D-6E8A-4147-A177-3AD203B41FA5}">
                      <a16:colId xmlns:a16="http://schemas.microsoft.com/office/drawing/2014/main" val="3458828183"/>
                    </a:ext>
                  </a:extLst>
                </a:gridCol>
              </a:tblGrid>
              <a:tr h="3161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67469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8895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96779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238"/>
                  </a:ext>
                </a:extLst>
              </a:tr>
            </a:tbl>
          </a:graphicData>
        </a:graphic>
      </p:graphicFrame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8E9B877-8F09-4117-9EDF-5A1A1850F1EA}"/>
              </a:ext>
            </a:extLst>
          </p:cNvPr>
          <p:cNvSpPr/>
          <p:nvPr/>
        </p:nvSpPr>
        <p:spPr bwMode="auto">
          <a:xfrm>
            <a:off x="5591627" y="3200399"/>
            <a:ext cx="1027842" cy="1591946"/>
          </a:xfrm>
          <a:custGeom>
            <a:avLst/>
            <a:gdLst>
              <a:gd name="connsiteX0" fmla="*/ 87086 w 1190172"/>
              <a:gd name="connsiteY0" fmla="*/ 929003 h 929003"/>
              <a:gd name="connsiteX1" fmla="*/ 29029 w 1190172"/>
              <a:gd name="connsiteY1" fmla="*/ 856432 h 929003"/>
              <a:gd name="connsiteX2" fmla="*/ 0 w 1190172"/>
              <a:gd name="connsiteY2" fmla="*/ 769346 h 929003"/>
              <a:gd name="connsiteX3" fmla="*/ 14515 w 1190172"/>
              <a:gd name="connsiteY3" fmla="*/ 566146 h 929003"/>
              <a:gd name="connsiteX4" fmla="*/ 29029 w 1190172"/>
              <a:gd name="connsiteY4" fmla="*/ 522603 h 929003"/>
              <a:gd name="connsiteX5" fmla="*/ 87086 w 1190172"/>
              <a:gd name="connsiteY5" fmla="*/ 435517 h 929003"/>
              <a:gd name="connsiteX6" fmla="*/ 130629 w 1190172"/>
              <a:gd name="connsiteY6" fmla="*/ 406489 h 929003"/>
              <a:gd name="connsiteX7" fmla="*/ 159658 w 1190172"/>
              <a:gd name="connsiteY7" fmla="*/ 362946 h 929003"/>
              <a:gd name="connsiteX8" fmla="*/ 203200 w 1190172"/>
              <a:gd name="connsiteY8" fmla="*/ 333917 h 929003"/>
              <a:gd name="connsiteX9" fmla="*/ 261258 w 1190172"/>
              <a:gd name="connsiteY9" fmla="*/ 275860 h 929003"/>
              <a:gd name="connsiteX10" fmla="*/ 333829 w 1190172"/>
              <a:gd name="connsiteY10" fmla="*/ 217803 h 929003"/>
              <a:gd name="connsiteX11" fmla="*/ 377372 w 1190172"/>
              <a:gd name="connsiteY11" fmla="*/ 188774 h 929003"/>
              <a:gd name="connsiteX12" fmla="*/ 464458 w 1190172"/>
              <a:gd name="connsiteY12" fmla="*/ 159746 h 929003"/>
              <a:gd name="connsiteX13" fmla="*/ 508000 w 1190172"/>
              <a:gd name="connsiteY13" fmla="*/ 130717 h 929003"/>
              <a:gd name="connsiteX14" fmla="*/ 551543 w 1190172"/>
              <a:gd name="connsiteY14" fmla="*/ 116203 h 929003"/>
              <a:gd name="connsiteX15" fmla="*/ 667658 w 1190172"/>
              <a:gd name="connsiteY15" fmla="*/ 87174 h 929003"/>
              <a:gd name="connsiteX16" fmla="*/ 812800 w 1190172"/>
              <a:gd name="connsiteY16" fmla="*/ 58146 h 929003"/>
              <a:gd name="connsiteX17" fmla="*/ 885372 w 1190172"/>
              <a:gd name="connsiteY17" fmla="*/ 43632 h 929003"/>
              <a:gd name="connsiteX18" fmla="*/ 1001486 w 1190172"/>
              <a:gd name="connsiteY18" fmla="*/ 14603 h 929003"/>
              <a:gd name="connsiteX19" fmla="*/ 1190172 w 1190172"/>
              <a:gd name="connsiteY19" fmla="*/ 89 h 92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172" h="929003">
                <a:moveTo>
                  <a:pt x="87086" y="929003"/>
                </a:moveTo>
                <a:cubicBezTo>
                  <a:pt x="67734" y="904813"/>
                  <a:pt x="43863" y="883628"/>
                  <a:pt x="29029" y="856432"/>
                </a:cubicBezTo>
                <a:cubicBezTo>
                  <a:pt x="14377" y="829569"/>
                  <a:pt x="0" y="769346"/>
                  <a:pt x="0" y="769346"/>
                </a:cubicBezTo>
                <a:cubicBezTo>
                  <a:pt x="4838" y="701613"/>
                  <a:pt x="6581" y="633587"/>
                  <a:pt x="14515" y="566146"/>
                </a:cubicBezTo>
                <a:cubicBezTo>
                  <a:pt x="16303" y="550951"/>
                  <a:pt x="21599" y="535977"/>
                  <a:pt x="29029" y="522603"/>
                </a:cubicBezTo>
                <a:cubicBezTo>
                  <a:pt x="45972" y="492105"/>
                  <a:pt x="58057" y="454869"/>
                  <a:pt x="87086" y="435517"/>
                </a:cubicBezTo>
                <a:lnTo>
                  <a:pt x="130629" y="406489"/>
                </a:lnTo>
                <a:cubicBezTo>
                  <a:pt x="140305" y="391975"/>
                  <a:pt x="147323" y="375281"/>
                  <a:pt x="159658" y="362946"/>
                </a:cubicBezTo>
                <a:cubicBezTo>
                  <a:pt x="171993" y="350611"/>
                  <a:pt x="192303" y="347538"/>
                  <a:pt x="203200" y="333917"/>
                </a:cubicBezTo>
                <a:cubicBezTo>
                  <a:pt x="259496" y="263546"/>
                  <a:pt x="166258" y="307526"/>
                  <a:pt x="261258" y="275860"/>
                </a:cubicBezTo>
                <a:cubicBezTo>
                  <a:pt x="310192" y="202458"/>
                  <a:pt x="263722" y="252857"/>
                  <a:pt x="333829" y="217803"/>
                </a:cubicBezTo>
                <a:cubicBezTo>
                  <a:pt x="349431" y="210002"/>
                  <a:pt x="361431" y="195859"/>
                  <a:pt x="377372" y="188774"/>
                </a:cubicBezTo>
                <a:cubicBezTo>
                  <a:pt x="405334" y="176347"/>
                  <a:pt x="464458" y="159746"/>
                  <a:pt x="464458" y="159746"/>
                </a:cubicBezTo>
                <a:cubicBezTo>
                  <a:pt x="478972" y="150070"/>
                  <a:pt x="492398" y="138518"/>
                  <a:pt x="508000" y="130717"/>
                </a:cubicBezTo>
                <a:cubicBezTo>
                  <a:pt x="521684" y="123875"/>
                  <a:pt x="536783" y="120229"/>
                  <a:pt x="551543" y="116203"/>
                </a:cubicBezTo>
                <a:cubicBezTo>
                  <a:pt x="590033" y="105706"/>
                  <a:pt x="629809" y="99790"/>
                  <a:pt x="667658" y="87174"/>
                </a:cubicBezTo>
                <a:cubicBezTo>
                  <a:pt x="751113" y="59356"/>
                  <a:pt x="679378" y="80383"/>
                  <a:pt x="812800" y="58146"/>
                </a:cubicBezTo>
                <a:cubicBezTo>
                  <a:pt x="837134" y="54090"/>
                  <a:pt x="861334" y="49179"/>
                  <a:pt x="885372" y="43632"/>
                </a:cubicBezTo>
                <a:cubicBezTo>
                  <a:pt x="924246" y="34661"/>
                  <a:pt x="961834" y="19009"/>
                  <a:pt x="1001486" y="14603"/>
                </a:cubicBezTo>
                <a:cubicBezTo>
                  <a:pt x="1151349" y="-2048"/>
                  <a:pt x="1088304" y="89"/>
                  <a:pt x="1190172" y="8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0690D6C7-2541-445D-A0E9-E323EA0B5520}"/>
              </a:ext>
            </a:extLst>
          </p:cNvPr>
          <p:cNvSpPr/>
          <p:nvPr/>
        </p:nvSpPr>
        <p:spPr bwMode="auto">
          <a:xfrm>
            <a:off x="7377843" y="3322496"/>
            <a:ext cx="268516" cy="1461667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5C803DB3-8B60-4C86-B1A2-431DC07237EF}"/>
              </a:ext>
            </a:extLst>
          </p:cNvPr>
          <p:cNvSpPr/>
          <p:nvPr/>
        </p:nvSpPr>
        <p:spPr bwMode="auto">
          <a:xfrm>
            <a:off x="8425541" y="4624754"/>
            <a:ext cx="297545" cy="1483360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16B8197-DE29-491E-8AAD-AF00F45B2268}"/>
              </a:ext>
            </a:extLst>
          </p:cNvPr>
          <p:cNvSpPr/>
          <p:nvPr/>
        </p:nvSpPr>
        <p:spPr bwMode="auto">
          <a:xfrm>
            <a:off x="7718613" y="4006192"/>
            <a:ext cx="1338302" cy="1358541"/>
          </a:xfrm>
          <a:custGeom>
            <a:avLst/>
            <a:gdLst>
              <a:gd name="connsiteX0" fmla="*/ 0 w 1204685"/>
              <a:gd name="connsiteY0" fmla="*/ 0 h 1988457"/>
              <a:gd name="connsiteX1" fmla="*/ 246742 w 1204685"/>
              <a:gd name="connsiteY1" fmla="*/ 58057 h 1988457"/>
              <a:gd name="connsiteX2" fmla="*/ 333828 w 1204685"/>
              <a:gd name="connsiteY2" fmla="*/ 87086 h 1988457"/>
              <a:gd name="connsiteX3" fmla="*/ 420914 w 1204685"/>
              <a:gd name="connsiteY3" fmla="*/ 116115 h 1988457"/>
              <a:gd name="connsiteX4" fmla="*/ 464457 w 1204685"/>
              <a:gd name="connsiteY4" fmla="*/ 145143 h 1988457"/>
              <a:gd name="connsiteX5" fmla="*/ 508000 w 1204685"/>
              <a:gd name="connsiteY5" fmla="*/ 188686 h 1988457"/>
              <a:gd name="connsiteX6" fmla="*/ 595085 w 1204685"/>
              <a:gd name="connsiteY6" fmla="*/ 246743 h 1988457"/>
              <a:gd name="connsiteX7" fmla="*/ 682171 w 1204685"/>
              <a:gd name="connsiteY7" fmla="*/ 333829 h 1988457"/>
              <a:gd name="connsiteX8" fmla="*/ 725714 w 1204685"/>
              <a:gd name="connsiteY8" fmla="*/ 362857 h 1988457"/>
              <a:gd name="connsiteX9" fmla="*/ 769257 w 1204685"/>
              <a:gd name="connsiteY9" fmla="*/ 406400 h 1988457"/>
              <a:gd name="connsiteX10" fmla="*/ 856342 w 1204685"/>
              <a:gd name="connsiteY10" fmla="*/ 464457 h 1988457"/>
              <a:gd name="connsiteX11" fmla="*/ 957942 w 1204685"/>
              <a:gd name="connsiteY11" fmla="*/ 580572 h 1988457"/>
              <a:gd name="connsiteX12" fmla="*/ 1001485 w 1204685"/>
              <a:gd name="connsiteY12" fmla="*/ 667657 h 1988457"/>
              <a:gd name="connsiteX13" fmla="*/ 1030514 w 1204685"/>
              <a:gd name="connsiteY13" fmla="*/ 754743 h 1988457"/>
              <a:gd name="connsiteX14" fmla="*/ 1059542 w 1204685"/>
              <a:gd name="connsiteY14" fmla="*/ 798286 h 1988457"/>
              <a:gd name="connsiteX15" fmla="*/ 1103085 w 1204685"/>
              <a:gd name="connsiteY15" fmla="*/ 928915 h 1988457"/>
              <a:gd name="connsiteX16" fmla="*/ 1117600 w 1204685"/>
              <a:gd name="connsiteY16" fmla="*/ 972457 h 1988457"/>
              <a:gd name="connsiteX17" fmla="*/ 1132114 w 1204685"/>
              <a:gd name="connsiteY17" fmla="*/ 1088572 h 1988457"/>
              <a:gd name="connsiteX18" fmla="*/ 1146628 w 1204685"/>
              <a:gd name="connsiteY18" fmla="*/ 1146629 h 1988457"/>
              <a:gd name="connsiteX19" fmla="*/ 1175657 w 1204685"/>
              <a:gd name="connsiteY19" fmla="*/ 1291772 h 1988457"/>
              <a:gd name="connsiteX20" fmla="*/ 1204685 w 1204685"/>
              <a:gd name="connsiteY20" fmla="*/ 1451429 h 1988457"/>
              <a:gd name="connsiteX21" fmla="*/ 1190171 w 1204685"/>
              <a:gd name="connsiteY21" fmla="*/ 1712686 h 1988457"/>
              <a:gd name="connsiteX22" fmla="*/ 1161142 w 1204685"/>
              <a:gd name="connsiteY22" fmla="*/ 1799772 h 1988457"/>
              <a:gd name="connsiteX23" fmla="*/ 1117600 w 1204685"/>
              <a:gd name="connsiteY23" fmla="*/ 1886857 h 1988457"/>
              <a:gd name="connsiteX24" fmla="*/ 1030514 w 1204685"/>
              <a:gd name="connsiteY24" fmla="*/ 1944915 h 1988457"/>
              <a:gd name="connsiteX25" fmla="*/ 957942 w 1204685"/>
              <a:gd name="connsiteY25" fmla="*/ 1988457 h 198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04685" h="1988457">
                <a:moveTo>
                  <a:pt x="0" y="0"/>
                </a:moveTo>
                <a:cubicBezTo>
                  <a:pt x="141364" y="84819"/>
                  <a:pt x="5557" y="17859"/>
                  <a:pt x="246742" y="58057"/>
                </a:cubicBezTo>
                <a:cubicBezTo>
                  <a:pt x="276925" y="63087"/>
                  <a:pt x="304799" y="77410"/>
                  <a:pt x="333828" y="87086"/>
                </a:cubicBezTo>
                <a:cubicBezTo>
                  <a:pt x="333833" y="87088"/>
                  <a:pt x="420910" y="116112"/>
                  <a:pt x="420914" y="116115"/>
                </a:cubicBezTo>
                <a:cubicBezTo>
                  <a:pt x="435428" y="125791"/>
                  <a:pt x="451056" y="133976"/>
                  <a:pt x="464457" y="145143"/>
                </a:cubicBezTo>
                <a:cubicBezTo>
                  <a:pt x="480226" y="158284"/>
                  <a:pt x="491797" y="176084"/>
                  <a:pt x="508000" y="188686"/>
                </a:cubicBezTo>
                <a:cubicBezTo>
                  <a:pt x="535539" y="210105"/>
                  <a:pt x="570416" y="222074"/>
                  <a:pt x="595085" y="246743"/>
                </a:cubicBezTo>
                <a:cubicBezTo>
                  <a:pt x="624114" y="275772"/>
                  <a:pt x="648013" y="311057"/>
                  <a:pt x="682171" y="333829"/>
                </a:cubicBezTo>
                <a:cubicBezTo>
                  <a:pt x="696685" y="343505"/>
                  <a:pt x="712313" y="351690"/>
                  <a:pt x="725714" y="362857"/>
                </a:cubicBezTo>
                <a:cubicBezTo>
                  <a:pt x="741483" y="375998"/>
                  <a:pt x="753054" y="393798"/>
                  <a:pt x="769257" y="406400"/>
                </a:cubicBezTo>
                <a:cubicBezTo>
                  <a:pt x="796796" y="427819"/>
                  <a:pt x="856342" y="464457"/>
                  <a:pt x="856342" y="464457"/>
                </a:cubicBezTo>
                <a:cubicBezTo>
                  <a:pt x="924076" y="566057"/>
                  <a:pt x="885372" y="532190"/>
                  <a:pt x="957942" y="580572"/>
                </a:cubicBezTo>
                <a:cubicBezTo>
                  <a:pt x="1010882" y="739386"/>
                  <a:pt x="926449" y="498827"/>
                  <a:pt x="1001485" y="667657"/>
                </a:cubicBezTo>
                <a:cubicBezTo>
                  <a:pt x="1013912" y="695619"/>
                  <a:pt x="1013541" y="729283"/>
                  <a:pt x="1030514" y="754743"/>
                </a:cubicBezTo>
                <a:cubicBezTo>
                  <a:pt x="1040190" y="769257"/>
                  <a:pt x="1052457" y="782346"/>
                  <a:pt x="1059542" y="798286"/>
                </a:cubicBezTo>
                <a:cubicBezTo>
                  <a:pt x="1059549" y="798303"/>
                  <a:pt x="1095825" y="907135"/>
                  <a:pt x="1103085" y="928915"/>
                </a:cubicBezTo>
                <a:lnTo>
                  <a:pt x="1117600" y="972457"/>
                </a:lnTo>
                <a:cubicBezTo>
                  <a:pt x="1122438" y="1011162"/>
                  <a:pt x="1125702" y="1050097"/>
                  <a:pt x="1132114" y="1088572"/>
                </a:cubicBezTo>
                <a:cubicBezTo>
                  <a:pt x="1135393" y="1108249"/>
                  <a:pt x="1142448" y="1127124"/>
                  <a:pt x="1146628" y="1146629"/>
                </a:cubicBezTo>
                <a:cubicBezTo>
                  <a:pt x="1156966" y="1194873"/>
                  <a:pt x="1168680" y="1242929"/>
                  <a:pt x="1175657" y="1291772"/>
                </a:cubicBezTo>
                <a:cubicBezTo>
                  <a:pt x="1192992" y="1413119"/>
                  <a:pt x="1181874" y="1360183"/>
                  <a:pt x="1204685" y="1451429"/>
                </a:cubicBezTo>
                <a:cubicBezTo>
                  <a:pt x="1199847" y="1538515"/>
                  <a:pt x="1200989" y="1626140"/>
                  <a:pt x="1190171" y="1712686"/>
                </a:cubicBezTo>
                <a:cubicBezTo>
                  <a:pt x="1186376" y="1743049"/>
                  <a:pt x="1170818" y="1770743"/>
                  <a:pt x="1161142" y="1799772"/>
                </a:cubicBezTo>
                <a:cubicBezTo>
                  <a:pt x="1150789" y="1830832"/>
                  <a:pt x="1144082" y="1863685"/>
                  <a:pt x="1117600" y="1886857"/>
                </a:cubicBezTo>
                <a:cubicBezTo>
                  <a:pt x="1091344" y="1909831"/>
                  <a:pt x="1059543" y="1925562"/>
                  <a:pt x="1030514" y="1944915"/>
                </a:cubicBezTo>
                <a:cubicBezTo>
                  <a:pt x="977974" y="1979941"/>
                  <a:pt x="1002570" y="1966144"/>
                  <a:pt x="957942" y="1988457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21" name="Table 17">
            <a:extLst>
              <a:ext uri="{FF2B5EF4-FFF2-40B4-BE49-F238E27FC236}">
                <a16:creationId xmlns:a16="http://schemas.microsoft.com/office/drawing/2014/main" id="{275907E4-ADB5-473D-8A30-DCC6A331CF56}"/>
              </a:ext>
            </a:extLst>
          </p:cNvPr>
          <p:cNvGraphicFramePr>
            <a:graphicFrameLocks noGrp="1"/>
          </p:cNvGraphicFramePr>
          <p:nvPr/>
        </p:nvGraphicFramePr>
        <p:xfrm>
          <a:off x="6691723" y="2963545"/>
          <a:ext cx="660398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60398">
                  <a:extLst>
                    <a:ext uri="{9D8B030D-6E8A-4147-A177-3AD203B41FA5}">
                      <a16:colId xmlns:a16="http://schemas.microsoft.com/office/drawing/2014/main" val="2801998918"/>
                    </a:ext>
                  </a:extLst>
                </a:gridCol>
              </a:tblGrid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29901"/>
                  </a:ext>
                </a:extLst>
              </a:tr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03836"/>
                  </a:ext>
                </a:extLst>
              </a:tr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87161"/>
                  </a:ext>
                </a:extLst>
              </a:tr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23785"/>
                  </a:ext>
                </a:extLst>
              </a:tr>
              <a:tr h="3338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73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081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E449C0D3-B1B5-442F-8C15-9D1470DE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4D9820F-1360-4789-A03A-243DEC744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8" y="1178012"/>
            <a:ext cx="7554896" cy="5365663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Applicable for </a:t>
            </a:r>
            <a:r>
              <a:rPr lang="en-US" altLang="en-US" sz="2000" dirty="0" err="1">
                <a:ea typeface="MS PGothic" panose="020B0600070205080204" pitchFamily="34" charset="-128"/>
              </a:rPr>
              <a:t>equi</a:t>
            </a:r>
            <a:r>
              <a:rPr lang="en-US" altLang="en-US" sz="2000" dirty="0">
                <a:ea typeface="MS PGothic" panose="020B0600070205080204" pitchFamily="34" charset="-128"/>
              </a:rPr>
              <a:t>-joins and natural joins </a:t>
            </a:r>
            <a:r>
              <a:rPr lang="en-US" altLang="en-US" sz="2000" b="1" dirty="0">
                <a:highlight>
                  <a:srgbClr val="FFFF00"/>
                </a:highlight>
                <a:ea typeface="MS PGothic" panose="020B0600070205080204" pitchFamily="34" charset="-128"/>
              </a:rPr>
              <a:t>(Why?).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A hash function</a:t>
            </a:r>
            <a:r>
              <a:rPr lang="en-US" altLang="en-US" sz="2000" i="1" dirty="0">
                <a:ea typeface="MS PGothic" panose="020B0600070205080204" pitchFamily="34" charset="-128"/>
              </a:rPr>
              <a:t> h</a:t>
            </a:r>
            <a:r>
              <a:rPr lang="en-US" altLang="en-US" sz="2000" dirty="0">
                <a:ea typeface="MS PGothic" panose="020B0600070205080204" pitchFamily="34" charset="-128"/>
              </a:rPr>
              <a:t> is used to partition tuples of both relations </a:t>
            </a:r>
          </a:p>
          <a:p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dirty="0">
                <a:ea typeface="MS PGothic" panose="020B0600070205080204" pitchFamily="34" charset="-128"/>
              </a:rPr>
              <a:t> maps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JoinAttrs</a:t>
            </a:r>
            <a:r>
              <a:rPr lang="en-US" altLang="en-US" sz="2000" dirty="0">
                <a:ea typeface="MS PGothic" panose="020B0600070205080204" pitchFamily="34" charset="-128"/>
              </a:rPr>
              <a:t> values to {0, 1, ...,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}, where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JoinAttrs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denotes the common attributes of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>
                <a:ea typeface="MS PGothic" panose="020B0600070205080204" pitchFamily="34" charset="-128"/>
              </a:rPr>
              <a:t>s </a:t>
            </a:r>
            <a:r>
              <a:rPr lang="en-US" altLang="en-US" sz="2000" dirty="0">
                <a:ea typeface="MS PGothic" panose="020B0600070205080204" pitchFamily="34" charset="-128"/>
              </a:rPr>
              <a:t>used in the natural join. </a:t>
            </a: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0</a:t>
            </a:r>
            <a:r>
              <a:rPr lang="en-US" altLang="en-US" sz="2000" i="1" dirty="0">
                <a:ea typeface="MS PGothic" panose="020B0600070205080204" pitchFamily="34" charset="-128"/>
              </a:rPr>
              <a:t>,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000" i="1" dirty="0">
                <a:ea typeface="MS PGothic" panose="020B0600070205080204" pitchFamily="34" charset="-128"/>
              </a:rPr>
              <a:t>, . . .,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denote partitions of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</a:rPr>
              <a:t>tuples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 r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is put in partition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where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= h(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[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JoinAttrs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]).</a:t>
            </a: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0</a:t>
            </a:r>
            <a:r>
              <a:rPr lang="en-US" altLang="en-US" sz="2000" i="1" dirty="0">
                <a:ea typeface="MS PGothic" panose="020B0600070205080204" pitchFamily="34" charset="-128"/>
              </a:rPr>
              <a:t>,,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000" i="1" dirty="0">
                <a:ea typeface="MS PGothic" panose="020B0600070205080204" pitchFamily="34" charset="-128"/>
              </a:rPr>
              <a:t>. . .,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denotes partitions of </a:t>
            </a:r>
            <a:r>
              <a:rPr lang="en-US" altLang="en-US" sz="2000" i="1" dirty="0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tuples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is put in partition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, where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= h(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[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JoinAttrs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]).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AE729C-28AB-8BAF-6BA5-BFC99BDED0F7}"/>
                  </a:ext>
                </a:extLst>
              </p14:cNvPr>
              <p14:cNvContentPartPr/>
              <p14:nvPr/>
            </p14:nvContentPartPr>
            <p14:xfrm>
              <a:off x="1294920" y="1339560"/>
              <a:ext cx="7153200" cy="1330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AE729C-28AB-8BAF-6BA5-BFC99BDED0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5560" y="1330200"/>
                <a:ext cx="7171920" cy="134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74E34440-0C98-4ADA-BA4C-BAEBEDF01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(Cont.)</a:t>
            </a:r>
          </a:p>
        </p:txBody>
      </p:sp>
      <p:pic>
        <p:nvPicPr>
          <p:cNvPr id="70659" name="Picture 8">
            <a:extLst>
              <a:ext uri="{FF2B5EF4-FFF2-40B4-BE49-F238E27FC236}">
                <a16:creationId xmlns:a16="http://schemas.microsoft.com/office/drawing/2014/main" id="{EBE0E4E7-07C2-4B72-9B27-F9B80E26A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650" y="1375060"/>
            <a:ext cx="4085807" cy="410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48CAA5AF-67A3-4585-9C6F-0592EA7C4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(Cont.)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2BB958A5-6618-4B98-BAA4-FEA5A4750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02497"/>
            <a:ext cx="7528265" cy="3040877"/>
          </a:xfrm>
        </p:spPr>
        <p:txBody>
          <a:bodyPr/>
          <a:lstStyle/>
          <a:p>
            <a:r>
              <a:rPr lang="en-US" altLang="en-US" sz="2000" i="1" dirty="0">
                <a:ea typeface="MS PGothic" panose="020B0600070205080204" pitchFamily="34" charset="-128"/>
              </a:rPr>
              <a:t>r  </a:t>
            </a:r>
            <a:r>
              <a:rPr lang="en-US" altLang="en-US" sz="2000" dirty="0">
                <a:ea typeface="MS PGothic" panose="020B0600070205080204" pitchFamily="34" charset="-128"/>
              </a:rPr>
              <a:t>tuples 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need only to be compared with </a:t>
            </a:r>
            <a:r>
              <a:rPr lang="en-US" altLang="en-US" sz="2000" i="1" dirty="0">
                <a:ea typeface="MS PGothic" panose="020B0600070205080204" pitchFamily="34" charset="-128"/>
              </a:rPr>
              <a:t>s </a:t>
            </a:r>
            <a:r>
              <a:rPr lang="en-US" altLang="en-US" sz="2000" dirty="0">
                <a:ea typeface="MS PGothic" panose="020B0600070205080204" pitchFamily="34" charset="-128"/>
              </a:rPr>
              <a:t>tuples 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Need not be compared with </a:t>
            </a:r>
            <a:r>
              <a:rPr lang="en-US" altLang="en-US" sz="2000" i="1" dirty="0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tuples in any other partition, since: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an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tuple and an </a:t>
            </a:r>
            <a:r>
              <a:rPr lang="en-US" altLang="en-US" sz="2000" i="1" dirty="0">
                <a:ea typeface="MS PGothic" panose="020B0600070205080204" pitchFamily="34" charset="-128"/>
              </a:rPr>
              <a:t>s </a:t>
            </a:r>
            <a:r>
              <a:rPr lang="en-US" altLang="en-US" sz="2000" dirty="0">
                <a:ea typeface="MS PGothic" panose="020B0600070205080204" pitchFamily="34" charset="-128"/>
              </a:rPr>
              <a:t>tuple that satisfy the join condition will have the same value for the join attributes.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If that value is hashed to some value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, the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tuple has to be 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and the </a:t>
            </a:r>
            <a:r>
              <a:rPr lang="en-US" altLang="en-US" sz="2000" i="1" dirty="0">
                <a:ea typeface="MS PGothic" panose="020B0600070205080204" pitchFamily="34" charset="-128"/>
              </a:rPr>
              <a:t>s </a:t>
            </a:r>
            <a:r>
              <a:rPr lang="en-US" altLang="en-US" sz="2000" dirty="0">
                <a:ea typeface="MS PGothic" panose="020B0600070205080204" pitchFamily="34" charset="-128"/>
              </a:rPr>
              <a:t>tuple 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FF1F8F-21BB-7957-1F22-2BF0F5CE013A}"/>
                  </a:ext>
                </a:extLst>
              </p14:cNvPr>
              <p14:cNvContentPartPr/>
              <p14:nvPr/>
            </p14:nvContentPartPr>
            <p14:xfrm>
              <a:off x="1902240" y="1714320"/>
              <a:ext cx="6760080" cy="1893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FF1F8F-21BB-7957-1F22-2BF0F5CE01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2880" y="1704960"/>
                <a:ext cx="6778800" cy="191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>
            <a:extLst>
              <a:ext uri="{FF2B5EF4-FFF2-40B4-BE49-F238E27FC236}">
                <a16:creationId xmlns:a16="http://schemas.microsoft.com/office/drawing/2014/main" id="{F63281CE-1FCD-42D4-BD4A-8D618E6CF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17393" y="1274731"/>
            <a:ext cx="4026607" cy="3011519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</a:t>
            </a:r>
            <a:r>
              <a:rPr lang="en-US" altLang="en-US" sz="1400" dirty="0">
                <a:ea typeface="MS PGothic" panose="020B0600070205080204" pitchFamily="34" charset="-128"/>
              </a:rPr>
              <a:t>	</a:t>
            </a:r>
            <a:r>
              <a:rPr lang="en-US" altLang="en-US" sz="1600" dirty="0">
                <a:ea typeface="MS PGothic" panose="020B0600070205080204" pitchFamily="34" charset="-128"/>
              </a:rPr>
              <a:t>Partition the relation </a:t>
            </a:r>
            <a:r>
              <a:rPr lang="en-US" altLang="en-US" sz="1600" i="1" dirty="0">
                <a:ea typeface="MS PGothic" panose="020B0600070205080204" pitchFamily="34" charset="-128"/>
              </a:rPr>
              <a:t>s</a:t>
            </a:r>
            <a:r>
              <a:rPr lang="en-US" altLang="en-US" sz="1600" dirty="0">
                <a:ea typeface="MS PGothic" panose="020B0600070205080204" pitchFamily="34" charset="-128"/>
              </a:rPr>
              <a:t> using hashing function </a:t>
            </a:r>
            <a:r>
              <a:rPr lang="en-US" altLang="en-US" sz="1600" i="1" dirty="0">
                <a:ea typeface="MS PGothic" panose="020B0600070205080204" pitchFamily="34" charset="-128"/>
              </a:rPr>
              <a:t>h</a:t>
            </a:r>
            <a:r>
              <a:rPr lang="en-US" altLang="en-US" sz="1600" dirty="0">
                <a:ea typeface="MS PGothic" panose="020B0600070205080204" pitchFamily="34" charset="-128"/>
              </a:rPr>
              <a:t>.  When partitioning a relation, one block of memory is reserved as the output buffer for each partition.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2.	Partition </a:t>
            </a:r>
            <a:r>
              <a:rPr lang="en-US" altLang="en-US" sz="1600" i="1" dirty="0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</a:rPr>
              <a:t> similarly.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3.	For each </a:t>
            </a:r>
            <a:r>
              <a:rPr lang="en-US" altLang="en-US" sz="1600" i="1" dirty="0">
                <a:ea typeface="MS PGothic" panose="020B0600070205080204" pitchFamily="34" charset="-128"/>
              </a:rPr>
              <a:t>i:</a:t>
            </a:r>
            <a:endParaRPr lang="en-US" altLang="en-US" sz="1600" dirty="0">
              <a:ea typeface="MS PGothic" panose="020B0600070205080204" pitchFamily="34" charset="-128"/>
            </a:endParaRPr>
          </a:p>
          <a:p>
            <a:pPr marL="736600" lvl="1" indent="-279400">
              <a:buFont typeface="Monotype Sorts" pitchFamily="-65" charset="2"/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(a)	Load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s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1600" dirty="0">
                <a:ea typeface="MS PGothic" panose="020B0600070205080204" pitchFamily="34" charset="-128"/>
              </a:rPr>
              <a:t> into memory and build an in-memory hash index on it using the join attribute.  This hash index uses a different hash function than the earlier one </a:t>
            </a:r>
            <a:r>
              <a:rPr lang="en-US" altLang="en-US" sz="1600" i="1" dirty="0">
                <a:ea typeface="MS PGothic" panose="020B0600070205080204" pitchFamily="34" charset="-128"/>
              </a:rPr>
              <a:t>h.</a:t>
            </a:r>
            <a:endParaRPr lang="en-US" altLang="en-US" sz="1600" dirty="0">
              <a:ea typeface="MS PGothic" panose="020B0600070205080204" pitchFamily="34" charset="-128"/>
            </a:endParaRPr>
          </a:p>
          <a:p>
            <a:pPr marL="736600" lvl="1" indent="-279400">
              <a:buFont typeface="Monotype Sorts" pitchFamily="-65" charset="2"/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(b)	Read the tuples in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r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1600" dirty="0">
                <a:ea typeface="MS PGothic" panose="020B0600070205080204" pitchFamily="34" charset="-128"/>
              </a:rPr>
              <a:t> from the disk one by one.  For each tuple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t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</a:rPr>
              <a:t> locate each matching tuple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t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</a:rPr>
              <a:t> </a:t>
            </a:r>
            <a:r>
              <a:rPr lang="en-US" altLang="en-US" sz="1600" dirty="0">
                <a:ea typeface="MS PGothic" panose="020B0600070205080204" pitchFamily="34" charset="-128"/>
              </a:rPr>
              <a:t>in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s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1600" dirty="0">
                <a:ea typeface="MS PGothic" panose="020B0600070205080204" pitchFamily="34" charset="-128"/>
              </a:rPr>
              <a:t> using the in-memory hash index.  Output the concatenation of their attributes.</a:t>
            </a:r>
          </a:p>
        </p:txBody>
      </p:sp>
      <p:sp>
        <p:nvSpPr>
          <p:cNvPr id="74756" name="Text Box 4">
            <a:extLst>
              <a:ext uri="{FF2B5EF4-FFF2-40B4-BE49-F238E27FC236}">
                <a16:creationId xmlns:a16="http://schemas.microsoft.com/office/drawing/2014/main" id="{45789630-8926-4A06-8E70-2E740D63B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142" y="314265"/>
            <a:ext cx="30869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The hash-join of </a:t>
            </a:r>
            <a:r>
              <a:rPr kumimoji="0" lang="en-US" altLang="en-US" sz="2000" i="1" dirty="0"/>
              <a:t>r</a:t>
            </a:r>
            <a:r>
              <a:rPr kumimoji="0" lang="en-US" altLang="en-US" sz="2000" dirty="0"/>
              <a:t> and </a:t>
            </a:r>
            <a:r>
              <a:rPr kumimoji="0" lang="en-US" altLang="en-US" sz="2000" i="1" dirty="0"/>
              <a:t>s </a:t>
            </a:r>
            <a:r>
              <a:rPr kumimoji="0" lang="en-US" altLang="en-US" sz="2000" dirty="0"/>
              <a:t>is computed as follows.</a:t>
            </a:r>
          </a:p>
        </p:txBody>
      </p:sp>
      <p:sp>
        <p:nvSpPr>
          <p:cNvPr id="74757" name="Text Box 5">
            <a:extLst>
              <a:ext uri="{FF2B5EF4-FFF2-40B4-BE49-F238E27FC236}">
                <a16:creationId xmlns:a16="http://schemas.microsoft.com/office/drawing/2014/main" id="{692CBE19-D556-4D45-83B8-A73BB61FE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914" y="6143625"/>
            <a:ext cx="82496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Relation </a:t>
            </a:r>
            <a:r>
              <a:rPr kumimoji="0" lang="en-US" altLang="en-US" sz="2000" i="1" dirty="0"/>
              <a:t>s</a:t>
            </a:r>
            <a:r>
              <a:rPr kumimoji="0" lang="en-US" altLang="en-US" sz="2000" dirty="0"/>
              <a:t> is called the </a:t>
            </a:r>
            <a:r>
              <a:rPr kumimoji="0" lang="en-US" altLang="en-US" sz="2000" b="1" dirty="0">
                <a:solidFill>
                  <a:srgbClr val="002060"/>
                </a:solidFill>
              </a:rPr>
              <a:t>build input</a:t>
            </a:r>
            <a:r>
              <a:rPr kumimoji="0" lang="en-US" altLang="en-US" sz="2000" dirty="0">
                <a:solidFill>
                  <a:srgbClr val="002060"/>
                </a:solidFill>
              </a:rPr>
              <a:t> </a:t>
            </a:r>
            <a:r>
              <a:rPr kumimoji="0" lang="en-US" altLang="en-US" sz="2000" dirty="0"/>
              <a:t>and  </a:t>
            </a:r>
            <a:r>
              <a:rPr kumimoji="0" lang="en-US" altLang="en-US" sz="2000" i="1" dirty="0"/>
              <a:t>r </a:t>
            </a:r>
            <a:r>
              <a:rPr kumimoji="0" lang="en-US" altLang="en-US" sz="2000" dirty="0"/>
              <a:t> is called the </a:t>
            </a:r>
            <a:r>
              <a:rPr kumimoji="0" lang="en-US" altLang="en-US" sz="2000" b="1" dirty="0">
                <a:solidFill>
                  <a:srgbClr val="002060"/>
                </a:solidFill>
              </a:rPr>
              <a:t>probe input</a:t>
            </a:r>
            <a:r>
              <a:rPr kumimoji="0" lang="en-US" altLang="en-US" sz="1700" dirty="0">
                <a:solidFill>
                  <a:schemeClr val="accent4"/>
                </a:solidFill>
              </a:rPr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3E265D-3C2D-F153-4780-B54BABCBF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454795"/>
              </p:ext>
            </p:extLst>
          </p:nvPr>
        </p:nvGraphicFramePr>
        <p:xfrm>
          <a:off x="898448" y="95205"/>
          <a:ext cx="2717799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575">
                  <a:extLst>
                    <a:ext uri="{9D8B030D-6E8A-4147-A177-3AD203B41FA5}">
                      <a16:colId xmlns:a16="http://schemas.microsoft.com/office/drawing/2014/main" val="4221406092"/>
                    </a:ext>
                  </a:extLst>
                </a:gridCol>
                <a:gridCol w="849710">
                  <a:extLst>
                    <a:ext uri="{9D8B030D-6E8A-4147-A177-3AD203B41FA5}">
                      <a16:colId xmlns:a16="http://schemas.microsoft.com/office/drawing/2014/main" val="1196180867"/>
                    </a:ext>
                  </a:extLst>
                </a:gridCol>
                <a:gridCol w="623757">
                  <a:extLst>
                    <a:ext uri="{9D8B030D-6E8A-4147-A177-3AD203B41FA5}">
                      <a16:colId xmlns:a16="http://schemas.microsoft.com/office/drawing/2014/main" val="1465272161"/>
                    </a:ext>
                  </a:extLst>
                </a:gridCol>
                <a:gridCol w="623757">
                  <a:extLst>
                    <a:ext uri="{9D8B030D-6E8A-4147-A177-3AD203B41FA5}">
                      <a16:colId xmlns:a16="http://schemas.microsoft.com/office/drawing/2014/main" val="3684790024"/>
                    </a:ext>
                  </a:extLst>
                </a:gridCol>
              </a:tblGrid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student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175794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Tuple-id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Level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term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4758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002396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327862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572698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67317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192303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411749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DEA094-45A2-0888-0C31-1DB23683F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888020"/>
              </p:ext>
            </p:extLst>
          </p:nvPr>
        </p:nvGraphicFramePr>
        <p:xfrm>
          <a:off x="1114347" y="2405040"/>
          <a:ext cx="2286000" cy="35318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4999177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6929120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9745623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takes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049604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Tuple-id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Course-Id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69059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889821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788926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162747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47561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060454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79796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545029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980724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25932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645132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61507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CSE216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73337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D33292-15D5-68F9-05D6-158C2A3D6640}"/>
                  </a:ext>
                </a:extLst>
              </p14:cNvPr>
              <p14:cNvContentPartPr/>
              <p14:nvPr/>
            </p14:nvContentPartPr>
            <p14:xfrm>
              <a:off x="5795640" y="1955520"/>
              <a:ext cx="3205800" cy="634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D33292-15D5-68F9-05D6-158C2A3D66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86280" y="1946160"/>
                <a:ext cx="322452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9EA940-E5B5-9740-9053-3904CDFFB477}"/>
                  </a:ext>
                </a:extLst>
              </p14:cNvPr>
              <p14:cNvContentPartPr/>
              <p14:nvPr/>
            </p14:nvContentPartPr>
            <p14:xfrm>
              <a:off x="3375720" y="4000320"/>
              <a:ext cx="5983200" cy="252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9EA940-E5B5-9740-9053-3904CDFFB4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66360" y="3990960"/>
                <a:ext cx="6001920" cy="254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>
            <a:extLst>
              <a:ext uri="{FF2B5EF4-FFF2-40B4-BE49-F238E27FC236}">
                <a16:creationId xmlns:a16="http://schemas.microsoft.com/office/drawing/2014/main" id="{F63281CE-1FCD-42D4-BD4A-8D618E6CF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18147" y="899280"/>
            <a:ext cx="4026607" cy="3011519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</a:t>
            </a:r>
            <a:r>
              <a:rPr lang="en-US" altLang="en-US" sz="1400" dirty="0">
                <a:ea typeface="MS PGothic" panose="020B0600070205080204" pitchFamily="34" charset="-128"/>
              </a:rPr>
              <a:t>	</a:t>
            </a:r>
            <a:r>
              <a:rPr lang="en-US" altLang="en-US" sz="1600" dirty="0">
                <a:ea typeface="MS PGothic" panose="020B0600070205080204" pitchFamily="34" charset="-128"/>
              </a:rPr>
              <a:t>Partition the relation </a:t>
            </a:r>
            <a:r>
              <a:rPr lang="en-US" altLang="en-US" sz="1600" i="1" dirty="0">
                <a:ea typeface="MS PGothic" panose="020B0600070205080204" pitchFamily="34" charset="-128"/>
              </a:rPr>
              <a:t>s</a:t>
            </a:r>
            <a:r>
              <a:rPr lang="en-US" altLang="en-US" sz="1600" dirty="0">
                <a:ea typeface="MS PGothic" panose="020B0600070205080204" pitchFamily="34" charset="-128"/>
              </a:rPr>
              <a:t> using hashing function </a:t>
            </a:r>
            <a:r>
              <a:rPr lang="en-US" altLang="en-US" sz="1600" i="1" dirty="0">
                <a:ea typeface="MS PGothic" panose="020B0600070205080204" pitchFamily="34" charset="-128"/>
              </a:rPr>
              <a:t>h</a:t>
            </a:r>
            <a:r>
              <a:rPr lang="en-US" altLang="en-US" sz="1600" dirty="0">
                <a:ea typeface="MS PGothic" panose="020B0600070205080204" pitchFamily="34" charset="-128"/>
              </a:rPr>
              <a:t>.  When partitioning a relation, one block of memory is reserved as the output buffer for each partition.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2.	Partition </a:t>
            </a:r>
            <a:r>
              <a:rPr lang="en-US" altLang="en-US" sz="1600" i="1" dirty="0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</a:rPr>
              <a:t> similarly.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3.	For each </a:t>
            </a:r>
            <a:r>
              <a:rPr lang="en-US" altLang="en-US" sz="1600" i="1" dirty="0">
                <a:ea typeface="MS PGothic" panose="020B0600070205080204" pitchFamily="34" charset="-128"/>
              </a:rPr>
              <a:t>i:</a:t>
            </a:r>
            <a:endParaRPr lang="en-US" altLang="en-US" sz="1600" dirty="0">
              <a:ea typeface="MS PGothic" panose="020B0600070205080204" pitchFamily="34" charset="-128"/>
            </a:endParaRPr>
          </a:p>
          <a:p>
            <a:pPr marL="736600" lvl="1" indent="-279400">
              <a:buFont typeface="Monotype Sorts" pitchFamily="-65" charset="2"/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(a)	Load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s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1600" dirty="0">
                <a:ea typeface="MS PGothic" panose="020B0600070205080204" pitchFamily="34" charset="-128"/>
              </a:rPr>
              <a:t> into memory and build an in-memory hash index on it using the join attribute.  This hash index uses a different hash function than the earlier one </a:t>
            </a:r>
            <a:r>
              <a:rPr lang="en-US" altLang="en-US" sz="1600" i="1" dirty="0">
                <a:ea typeface="MS PGothic" panose="020B0600070205080204" pitchFamily="34" charset="-128"/>
              </a:rPr>
              <a:t>h.</a:t>
            </a:r>
            <a:endParaRPr lang="en-US" altLang="en-US" sz="1600" dirty="0">
              <a:ea typeface="MS PGothic" panose="020B0600070205080204" pitchFamily="34" charset="-128"/>
            </a:endParaRPr>
          </a:p>
          <a:p>
            <a:pPr marL="736600" lvl="1" indent="-279400">
              <a:buFont typeface="Monotype Sorts" pitchFamily="-65" charset="2"/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(b)	Read the tuples in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r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1600" dirty="0">
                <a:ea typeface="MS PGothic" panose="020B0600070205080204" pitchFamily="34" charset="-128"/>
              </a:rPr>
              <a:t> from the disk one by one.  For each tuple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t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600" dirty="0">
                <a:ea typeface="MS PGothic" panose="020B0600070205080204" pitchFamily="34" charset="-128"/>
              </a:rPr>
              <a:t> locate each matching tuple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t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1600" i="1" dirty="0">
                <a:ea typeface="MS PGothic" panose="020B0600070205080204" pitchFamily="34" charset="-128"/>
              </a:rPr>
              <a:t> </a:t>
            </a:r>
            <a:r>
              <a:rPr lang="en-US" altLang="en-US" sz="1600" dirty="0">
                <a:ea typeface="MS PGothic" panose="020B0600070205080204" pitchFamily="34" charset="-128"/>
              </a:rPr>
              <a:t>in </a:t>
            </a:r>
            <a:r>
              <a:rPr lang="en-US" altLang="en-US" sz="1600" i="1" dirty="0" err="1">
                <a:ea typeface="MS PGothic" panose="020B0600070205080204" pitchFamily="34" charset="-128"/>
              </a:rPr>
              <a:t>s</a:t>
            </a:r>
            <a:r>
              <a:rPr lang="en-US" altLang="en-US" sz="16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1600" dirty="0">
                <a:ea typeface="MS PGothic" panose="020B0600070205080204" pitchFamily="34" charset="-128"/>
              </a:rPr>
              <a:t> using the in-memory hash index.  Output the concatenation of their attributes.</a:t>
            </a:r>
          </a:p>
        </p:txBody>
      </p:sp>
      <p:sp>
        <p:nvSpPr>
          <p:cNvPr id="74756" name="Text Box 4">
            <a:extLst>
              <a:ext uri="{FF2B5EF4-FFF2-40B4-BE49-F238E27FC236}">
                <a16:creationId xmlns:a16="http://schemas.microsoft.com/office/drawing/2014/main" id="{45789630-8926-4A06-8E70-2E740D63B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142" y="109545"/>
            <a:ext cx="30869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The hash-join of </a:t>
            </a:r>
            <a:r>
              <a:rPr kumimoji="0" lang="en-US" altLang="en-US" sz="2000" i="1" dirty="0"/>
              <a:t>r</a:t>
            </a:r>
            <a:r>
              <a:rPr kumimoji="0" lang="en-US" altLang="en-US" sz="2000" dirty="0"/>
              <a:t> and </a:t>
            </a:r>
            <a:r>
              <a:rPr kumimoji="0" lang="en-US" altLang="en-US" sz="2000" i="1" dirty="0"/>
              <a:t>s </a:t>
            </a:r>
            <a:r>
              <a:rPr kumimoji="0" lang="en-US" altLang="en-US" sz="2000" dirty="0"/>
              <a:t>is computed as follows.</a:t>
            </a:r>
          </a:p>
        </p:txBody>
      </p:sp>
      <p:sp>
        <p:nvSpPr>
          <p:cNvPr id="74757" name="Text Box 5">
            <a:extLst>
              <a:ext uri="{FF2B5EF4-FFF2-40B4-BE49-F238E27FC236}">
                <a16:creationId xmlns:a16="http://schemas.microsoft.com/office/drawing/2014/main" id="{692CBE19-D556-4D45-83B8-A73BB61FE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438" y="5936910"/>
            <a:ext cx="5402262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kumimoji="0" lang="en-US" altLang="en-US" dirty="0">
                <a:solidFill>
                  <a:schemeClr val="accent4"/>
                </a:solidFill>
              </a:rPr>
              <a:t>Question: Design hash function and perform </a:t>
            </a:r>
          </a:p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en-US" sz="1400" dirty="0"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sz="1400" dirty="0">
                <a:ea typeface="MS PGothic" panose="020B0600070205080204" pitchFamily="34" charset="-128"/>
              </a:rPr>
              <a:t>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en-US" sz="1400" i="1" dirty="0">
                <a:ea typeface="MS PGothic" panose="020B0600070205080204" pitchFamily="34" charset="-128"/>
              </a:rPr>
              <a:t> </a:t>
            </a:r>
            <a:r>
              <a:rPr lang="en-US" altLang="en-US" sz="14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4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400" i="1" dirty="0">
                <a:ea typeface="MS PGothic" panose="020B0600070205080204" pitchFamily="34" charset="-128"/>
                <a:sym typeface="Symbol" panose="05050102010706020507" pitchFamily="18" charset="2"/>
              </a:rPr>
              <a:t>takes  </a:t>
            </a:r>
            <a:r>
              <a:rPr lang="en-US" altLang="en-US" sz="1400" dirty="0">
                <a:ea typeface="MS PGothic" panose="020B0600070205080204" pitchFamily="34" charset="-128"/>
                <a:sym typeface="Symbol" panose="05050102010706020507" pitchFamily="18" charset="2"/>
              </a:rPr>
              <a:t>    student.id = takes .id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3E265D-3C2D-F153-4780-B54BABCBF267}"/>
              </a:ext>
            </a:extLst>
          </p:cNvPr>
          <p:cNvGraphicFramePr>
            <a:graphicFrameLocks noGrp="1"/>
          </p:cNvGraphicFramePr>
          <p:nvPr/>
        </p:nvGraphicFramePr>
        <p:xfrm>
          <a:off x="898448" y="95205"/>
          <a:ext cx="2717799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575">
                  <a:extLst>
                    <a:ext uri="{9D8B030D-6E8A-4147-A177-3AD203B41FA5}">
                      <a16:colId xmlns:a16="http://schemas.microsoft.com/office/drawing/2014/main" val="4221406092"/>
                    </a:ext>
                  </a:extLst>
                </a:gridCol>
                <a:gridCol w="849710">
                  <a:extLst>
                    <a:ext uri="{9D8B030D-6E8A-4147-A177-3AD203B41FA5}">
                      <a16:colId xmlns:a16="http://schemas.microsoft.com/office/drawing/2014/main" val="1196180867"/>
                    </a:ext>
                  </a:extLst>
                </a:gridCol>
                <a:gridCol w="623757">
                  <a:extLst>
                    <a:ext uri="{9D8B030D-6E8A-4147-A177-3AD203B41FA5}">
                      <a16:colId xmlns:a16="http://schemas.microsoft.com/office/drawing/2014/main" val="1465272161"/>
                    </a:ext>
                  </a:extLst>
                </a:gridCol>
                <a:gridCol w="623757">
                  <a:extLst>
                    <a:ext uri="{9D8B030D-6E8A-4147-A177-3AD203B41FA5}">
                      <a16:colId xmlns:a16="http://schemas.microsoft.com/office/drawing/2014/main" val="3684790024"/>
                    </a:ext>
                  </a:extLst>
                </a:gridCol>
              </a:tblGrid>
              <a:tr h="238125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student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175794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Tuple-id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Level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term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4758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002396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327862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572698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67317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192303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411749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DEA094-45A2-0888-0C31-1DB23683F89A}"/>
              </a:ext>
            </a:extLst>
          </p:cNvPr>
          <p:cNvGraphicFramePr>
            <a:graphicFrameLocks noGrp="1"/>
          </p:cNvGraphicFramePr>
          <p:nvPr/>
        </p:nvGraphicFramePr>
        <p:xfrm>
          <a:off x="1114347" y="2405040"/>
          <a:ext cx="2286000" cy="35318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4999177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6929120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9745623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takes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049604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Tuple-id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Course-Id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69059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889821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788926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162747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47561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060454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79796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545029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980724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25932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645132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CSE216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61507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20190506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CSE216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73337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13F4C4-A657-6189-CF5E-09CE57692198}"/>
                  </a:ext>
                </a:extLst>
              </p14:cNvPr>
              <p14:cNvContentPartPr/>
              <p14:nvPr/>
            </p14:nvContentPartPr>
            <p14:xfrm>
              <a:off x="5884920" y="4143240"/>
              <a:ext cx="2768400" cy="1625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13F4C4-A657-6189-CF5E-09CE576921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5560" y="4133880"/>
                <a:ext cx="2787120" cy="164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2236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AF20C07A-BC1B-42FB-A66A-3B1318B3D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algorithm (Cont.)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22CD1C5-A5E7-4586-9733-7EBAE6D11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02497"/>
            <a:ext cx="7519387" cy="4143271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The value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and the hash function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dirty="0">
                <a:ea typeface="MS PGothic" panose="020B0600070205080204" pitchFamily="34" charset="-128"/>
              </a:rPr>
              <a:t> is chosen such that each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should fit in memory.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Typically n is chosen as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dirty="0" err="1">
                <a:ea typeface="MS PGothic" panose="020B0600070205080204" pitchFamily="34" charset="-128"/>
              </a:rPr>
              <a:t>b</a:t>
            </a:r>
            <a:r>
              <a:rPr lang="en-US" altLang="en-US" sz="2000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/M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  <a:r>
              <a:rPr lang="en-US" altLang="en-US" sz="2000" dirty="0">
                <a:ea typeface="MS PGothic" panose="020B0600070205080204" pitchFamily="34" charset="-128"/>
              </a:rPr>
              <a:t> * f  where f is a </a:t>
            </a:r>
            <a:r>
              <a:rPr lang="ja-JP" altLang="en-US" sz="2000" dirty="0">
                <a:ea typeface="MS PGothic" panose="020B0600070205080204" pitchFamily="34" charset="-128"/>
              </a:rPr>
              <a:t>“</a:t>
            </a:r>
            <a:r>
              <a:rPr lang="en-US" altLang="ja-JP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fudge factor</a:t>
            </a:r>
            <a:r>
              <a:rPr lang="ja-JP" altLang="en-US" sz="2000" dirty="0">
                <a:ea typeface="MS PGothic" panose="020B0600070205080204" pitchFamily="34" charset="-128"/>
              </a:rPr>
              <a:t>”</a:t>
            </a:r>
            <a:r>
              <a:rPr lang="en-US" altLang="ja-JP" sz="2000" dirty="0">
                <a:ea typeface="MS PGothic" panose="020B0600070205080204" pitchFamily="34" charset="-128"/>
              </a:rPr>
              <a:t>, typically around 1.2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probe relation partitions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need not fit in memory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1026">
            <a:extLst>
              <a:ext uri="{FF2B5EF4-FFF2-40B4-BE49-F238E27FC236}">
                <a16:creationId xmlns:a16="http://schemas.microsoft.com/office/drawing/2014/main" id="{D42B7FD4-42ED-4237-9DF2-52B0BDCA6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Handling of Overflows</a:t>
            </a:r>
          </a:p>
        </p:txBody>
      </p:sp>
      <p:sp>
        <p:nvSpPr>
          <p:cNvPr id="78851" name="Rectangle 1027">
            <a:extLst>
              <a:ext uri="{FF2B5EF4-FFF2-40B4-BE49-F238E27FC236}">
                <a16:creationId xmlns:a16="http://schemas.microsoft.com/office/drawing/2014/main" id="{EF56256C-BEFD-49B6-B765-56D6118FEC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20253"/>
            <a:ext cx="7634798" cy="4889229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Partitioning is said to be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skewed</a:t>
            </a:r>
            <a:r>
              <a:rPr lang="en-US" altLang="en-US" dirty="0">
                <a:ea typeface="MS PGothic" panose="020B0600070205080204" pitchFamily="34" charset="-128"/>
              </a:rPr>
              <a:t> if some partitions have significantly more tuples than some others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Hash-table overflow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occurs in partition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if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does not fit in memory.  Reasons could be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Many tuples in s with same value for join attributes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Bad hash function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Overflow resolution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can be done in build phase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Partition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is further partitioned using different hash function.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Partition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must be similarly partitioned.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Overflow avoidance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performs partitioning carefully to avoid overflows during build phase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E.g., partition build relation into many partitions, then combine them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Both approaches fail with large numbers of duplicates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Fallback option: use block nested loops join on overflowed  partitions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A26E76-A72F-2012-2BF5-6DF21E49FB67}"/>
                  </a:ext>
                </a:extLst>
              </p14:cNvPr>
              <p14:cNvContentPartPr/>
              <p14:nvPr/>
            </p14:nvContentPartPr>
            <p14:xfrm>
              <a:off x="1750320" y="830520"/>
              <a:ext cx="6429600" cy="514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A26E76-A72F-2012-2BF5-6DF21E49FB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0960" y="821160"/>
                <a:ext cx="6448320" cy="51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51468B-AE9C-2383-B971-AC5D9398DDBF}"/>
                  </a:ext>
                </a:extLst>
              </p14:cNvPr>
              <p14:cNvContentPartPr/>
              <p14:nvPr/>
            </p14:nvContentPartPr>
            <p14:xfrm>
              <a:off x="2919960" y="2955600"/>
              <a:ext cx="5644080" cy="115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51468B-AE9C-2383-B971-AC5D9398DD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10600" y="2946240"/>
                <a:ext cx="5662800" cy="117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D3F5826D-9034-43DA-8D33-561C15508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Cost of Hash-Join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ea typeface="MS PGothic" panose="020B0600070205080204" pitchFamily="34" charset="-128"/>
              </a:rPr>
              <a:t>(Self-Study)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112729D-780E-4613-BAB2-2D6AD9A425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6" y="1234850"/>
            <a:ext cx="7528263" cy="4059050"/>
          </a:xfrm>
        </p:spPr>
        <p:txBody>
          <a:bodyPr/>
          <a:lstStyle/>
          <a:p>
            <a:pPr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If recursive partitioning is not required: cost of hash join is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   3(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</a:t>
            </a:r>
            <a:r>
              <a:rPr lang="en-US" altLang="en-US" dirty="0">
                <a:ea typeface="MS PGothic" panose="020B0600070205080204" pitchFamily="34" charset="-128"/>
              </a:rPr>
              <a:t> +4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+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   2(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)  seeks</a:t>
            </a:r>
            <a:endParaRPr lang="en-US" altLang="en-US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recursive partitioning required:</a:t>
            </a:r>
          </a:p>
          <a:p>
            <a:pPr lvl="1"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number of passes required for partitioning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build relation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less than M blocks per partition is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)</a:t>
            </a:r>
          </a:p>
          <a:p>
            <a:pPr lvl="1"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best to choose the smaller relation as the build relation.</a:t>
            </a:r>
          </a:p>
          <a:p>
            <a:pPr lvl="1"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Total cost estimate is: 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</a:t>
            </a:r>
            <a:r>
              <a:rPr lang="en-US" altLang="en-US" dirty="0">
                <a:ea typeface="MS PGothic" panose="020B0600070205080204" pitchFamily="34" charset="-128"/>
              </a:rPr>
              <a:t>2</a:t>
            </a:r>
            <a:r>
              <a:rPr lang="en-US" altLang="en-US" i="1" dirty="0">
                <a:ea typeface="MS PGothic" panose="020B0600070205080204" pitchFamily="34" charset="-128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)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+ 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2(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)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  seeks</a:t>
            </a:r>
            <a:endParaRPr lang="en-US" altLang="en-US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the entire build input can be kept in main memory no partitioning is required</a:t>
            </a:r>
          </a:p>
          <a:p>
            <a:pPr lvl="1"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Cost estimate goes down to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>
            <a:extLst>
              <a:ext uri="{FF2B5EF4-FFF2-40B4-BE49-F238E27FC236}">
                <a16:creationId xmlns:a16="http://schemas.microsoft.com/office/drawing/2014/main" id="{3013F738-F002-4DED-94F4-70D33E2E2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Cost of Hash-Join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ea typeface="MS PGothic" panose="020B0600070205080204" pitchFamily="34" charset="-128"/>
              </a:rPr>
              <a:t>(Self-Study)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A1131E9-EC56-4C6B-87F1-FD17ADD65D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6342" y="1654607"/>
            <a:ext cx="7057167" cy="3037709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Assume that memory size is 20 blocks</a:t>
            </a:r>
          </a:p>
          <a:p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instructor</a:t>
            </a:r>
            <a:r>
              <a:rPr lang="en-US" altLang="en-US" dirty="0">
                <a:ea typeface="MS PGothic" panose="020B0600070205080204" pitchFamily="34" charset="-128"/>
              </a:rPr>
              <a:t>= 100 and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teaches</a:t>
            </a:r>
            <a:r>
              <a:rPr lang="en-US" altLang="en-US" dirty="0">
                <a:ea typeface="MS PGothic" panose="020B0600070205080204" pitchFamily="34" charset="-128"/>
              </a:rPr>
              <a:t> = 400.</a:t>
            </a:r>
          </a:p>
          <a:p>
            <a:r>
              <a:rPr lang="en-US" altLang="en-US" i="1" dirty="0">
                <a:ea typeface="MS PGothic" panose="020B0600070205080204" pitchFamily="34" charset="-128"/>
              </a:rPr>
              <a:t>instructor </a:t>
            </a:r>
            <a:r>
              <a:rPr lang="en-US" altLang="en-US" dirty="0">
                <a:ea typeface="MS PGothic" panose="020B0600070205080204" pitchFamily="34" charset="-128"/>
              </a:rPr>
              <a:t>is to be used as build input.  Partition it into five partitions, each of size 20 blocks.  This partitioning can be done in one pass.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Similarly, partition </a:t>
            </a:r>
            <a:r>
              <a:rPr lang="en-US" altLang="en-US" i="1" dirty="0">
                <a:ea typeface="MS PGothic" panose="020B0600070205080204" pitchFamily="34" charset="-128"/>
              </a:rPr>
              <a:t>teaches</a:t>
            </a:r>
            <a:r>
              <a:rPr lang="en-US" altLang="en-US" dirty="0">
                <a:ea typeface="MS PGothic" panose="020B0600070205080204" pitchFamily="34" charset="-128"/>
              </a:rPr>
              <a:t> into five </a:t>
            </a:r>
            <a:r>
              <a:rPr lang="en-US" altLang="en-US" dirty="0" err="1">
                <a:ea typeface="MS PGothic" panose="020B0600070205080204" pitchFamily="34" charset="-128"/>
              </a:rPr>
              <a:t>partitions,each</a:t>
            </a:r>
            <a:r>
              <a:rPr lang="en-US" altLang="en-US" dirty="0">
                <a:ea typeface="MS PGothic" panose="020B0600070205080204" pitchFamily="34" charset="-128"/>
              </a:rPr>
              <a:t> of size 80.  This is also done in one pass.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Therefore total cost, ignoring cost of writing partially filled blocks: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3(100 + 400) = 1500 block transfers  +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2(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100/3 + 400/3) = 336 seeks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82948" name="Text Box 4">
            <a:extLst>
              <a:ext uri="{FF2B5EF4-FFF2-40B4-BE49-F238E27FC236}">
                <a16:creationId xmlns:a16="http://schemas.microsoft.com/office/drawing/2014/main" id="{14351E07-3738-482B-B521-1C6D9BF59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012" y="1175500"/>
            <a:ext cx="277058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i="1" dirty="0"/>
              <a:t>instructor</a:t>
            </a:r>
            <a:r>
              <a:rPr kumimoji="0" lang="en-IN" altLang="en-US" sz="1700" dirty="0"/>
              <a:t> ⨝</a:t>
            </a:r>
            <a:r>
              <a:rPr kumimoji="0" lang="en-US" altLang="en-US" sz="1700" i="1" dirty="0"/>
              <a:t> teaches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DAD3CFC1-2C2A-42D2-A575-828A9E8A7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Evaluation of Expressions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A77B05E4-D4F7-4717-B352-991F9A2BAF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1208" y="1228774"/>
            <a:ext cx="4860735" cy="373511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So far: we have seen algorithms for individual operations</a:t>
            </a:r>
          </a:p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Alternatives for evaluating an entire expression tree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Materialization</a:t>
            </a:r>
            <a:r>
              <a:rPr lang="en-US" altLang="en-US" dirty="0">
                <a:ea typeface="MS PGothic" panose="020B0600070205080204" pitchFamily="34" charset="-128"/>
              </a:rPr>
              <a:t>:  generate results of an expression whose inputs are relations or are already computed,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materialize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(store) it on disk.  Repeat.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Pipelining</a:t>
            </a:r>
            <a:r>
              <a:rPr lang="en-US" altLang="en-US" dirty="0">
                <a:ea typeface="MS PGothic" panose="020B0600070205080204" pitchFamily="34" charset="-128"/>
              </a:rPr>
              <a:t>:  pass on tuples to parent operations even as an operation is being executed</a:t>
            </a:r>
          </a:p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We study above alternatives in more detail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C4A918-5A38-494B-9F72-D25D48AA5FAE}"/>
              </a:ext>
            </a:extLst>
          </p:cNvPr>
          <p:cNvGrpSpPr/>
          <p:nvPr/>
        </p:nvGrpSpPr>
        <p:grpSpPr>
          <a:xfrm>
            <a:off x="23966" y="1228774"/>
            <a:ext cx="8958826" cy="5252474"/>
            <a:chOff x="23966" y="1228774"/>
            <a:chExt cx="8958826" cy="5252474"/>
          </a:xfrm>
        </p:grpSpPr>
        <p:pic>
          <p:nvPicPr>
            <p:cNvPr id="2" name="Picture 14">
              <a:extLst>
                <a:ext uri="{FF2B5EF4-FFF2-40B4-BE49-F238E27FC236}">
                  <a16:creationId xmlns:a16="http://schemas.microsoft.com/office/drawing/2014/main" id="{96DD2E60-9F57-42AD-88DB-017E132EE0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6951" y="1228774"/>
              <a:ext cx="3965841" cy="2937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CCEA54F-5444-4A1C-B033-1E90185C91B8}"/>
                </a:ext>
              </a:extLst>
            </p:cNvPr>
            <p:cNvSpPr txBox="1"/>
            <p:nvPr/>
          </p:nvSpPr>
          <p:spPr>
            <a:xfrm>
              <a:off x="23966" y="5003920"/>
              <a:ext cx="882158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ym typeface="Symbol" panose="05050102010706020507" pitchFamily="18" charset="2"/>
                </a:rPr>
                <a:t>SQL: SELECT * FROM department a, instructor b WHERE </a:t>
              </a:r>
              <a:r>
                <a:rPr lang="en-US" sz="1800" dirty="0" err="1">
                  <a:sym typeface="Symbol" panose="05050102010706020507" pitchFamily="18" charset="2"/>
                </a:rPr>
                <a:t>a.dept</a:t>
              </a:r>
              <a:r>
                <a:rPr lang="en-US" sz="1800" dirty="0">
                  <a:sym typeface="Symbol" panose="05050102010706020507" pitchFamily="18" charset="2"/>
                </a:rPr>
                <a:t>-name = </a:t>
              </a:r>
              <a:r>
                <a:rPr lang="en-US" sz="1800" dirty="0" err="1">
                  <a:sym typeface="Symbol" panose="05050102010706020507" pitchFamily="18" charset="2"/>
                </a:rPr>
                <a:t>b.dept</a:t>
              </a:r>
              <a:r>
                <a:rPr lang="en-US" sz="1800" dirty="0">
                  <a:sym typeface="Symbol" panose="05050102010706020507" pitchFamily="18" charset="2"/>
                </a:rPr>
                <a:t>-name AND building = ‘Watson’ </a:t>
              </a:r>
            </a:p>
            <a:p>
              <a:r>
                <a:rPr lang="en-US" sz="1800" dirty="0">
                  <a:sym typeface="Symbol" panose="05050102010706020507" pitchFamily="18" charset="2"/>
                </a:rPr>
                <a:t>Algebra option 1: </a:t>
              </a:r>
              <a:r>
                <a:rPr lang="en-US" sz="1800" baseline="-25000" dirty="0">
                  <a:sym typeface="Symbol" panose="05050102010706020507" pitchFamily="18" charset="2"/>
                </a:rPr>
                <a:t>name</a:t>
              </a:r>
              <a:r>
                <a:rPr lang="en-US" sz="1800" dirty="0">
                  <a:sym typeface="Symbol" panose="05050102010706020507" pitchFamily="18" charset="2"/>
                </a:rPr>
                <a:t>((</a:t>
              </a:r>
              <a:r>
                <a:rPr lang="en-US" sz="1800" baseline="-25000" dirty="0">
                  <a:sym typeface="Symbol" panose="05050102010706020507" pitchFamily="18" charset="2"/>
                </a:rPr>
                <a:t>building = ‘Watson’</a:t>
              </a:r>
              <a:r>
                <a:rPr lang="en-US" sz="1800" dirty="0">
                  <a:sym typeface="Symbol" panose="05050102010706020507" pitchFamily="18" charset="2"/>
                </a:rPr>
                <a:t>(department)) </a:t>
              </a:r>
              <a:r>
                <a:rPr lang="en-US" sz="1800" b="0" i="0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rPr>
                <a:t>⨝ instructor)</a:t>
              </a:r>
            </a:p>
            <a:p>
              <a:r>
                <a:rPr lang="en-US" sz="1800" dirty="0">
                  <a:sym typeface="Symbol" panose="05050102010706020507" pitchFamily="18" charset="2"/>
                </a:rPr>
                <a:t>Algebra option 2: </a:t>
              </a:r>
              <a:r>
                <a:rPr lang="en-US" sz="1800" baseline="-25000" dirty="0">
                  <a:sym typeface="Symbol" panose="05050102010706020507" pitchFamily="18" charset="2"/>
                </a:rPr>
                <a:t>name</a:t>
              </a:r>
              <a:r>
                <a:rPr lang="en-US" sz="1800" dirty="0">
                  <a:sym typeface="Symbol" panose="05050102010706020507" pitchFamily="18" charset="2"/>
                </a:rPr>
                <a:t>((</a:t>
              </a:r>
              <a:r>
                <a:rPr lang="en-US" sz="1800" baseline="-25000" dirty="0">
                  <a:sym typeface="Symbol" panose="05050102010706020507" pitchFamily="18" charset="2"/>
                </a:rPr>
                <a:t>building = ‘Watson’</a:t>
              </a:r>
              <a:r>
                <a:rPr lang="en-US" sz="1800" dirty="0">
                  <a:sym typeface="Symbol" panose="05050102010706020507" pitchFamily="18" charset="2"/>
                </a:rPr>
                <a:t>(department </a:t>
              </a:r>
              <a:r>
                <a:rPr lang="en-US" sz="1800" b="0" i="0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rPr>
                <a:t>⨝ instructor))</a:t>
              </a:r>
              <a:endParaRPr lang="en-US" sz="1800" dirty="0"/>
            </a:p>
            <a:p>
              <a:endParaRPr lang="en-US" sz="1800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88D3DD9-E328-F6F5-4610-B9FE6B3085F5}"/>
                  </a:ext>
                </a:extLst>
              </p14:cNvPr>
              <p14:cNvContentPartPr/>
              <p14:nvPr/>
            </p14:nvContentPartPr>
            <p14:xfrm>
              <a:off x="794880" y="2982600"/>
              <a:ext cx="3483000" cy="1161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88D3DD9-E328-F6F5-4610-B9FE6B3085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520" y="2973240"/>
                <a:ext cx="3501720" cy="11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2BACC5A-A9E3-3C85-10FF-91D3618A2DFA}"/>
                  </a:ext>
                </a:extLst>
              </p14:cNvPr>
              <p14:cNvContentPartPr/>
              <p14:nvPr/>
            </p14:nvContentPartPr>
            <p14:xfrm>
              <a:off x="1679040" y="4179240"/>
              <a:ext cx="589680" cy="241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2BACC5A-A9E3-3C85-10FF-91D3618A2D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69680" y="4169880"/>
                <a:ext cx="608400" cy="25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B75B16A1-B58F-4CB3-AA24-54C6642B9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921" y="69003"/>
            <a:ext cx="3324679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AB83BF51-4205-4CC7-9E7F-33401B9B8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51" y="727075"/>
            <a:ext cx="4033420" cy="542698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Materialized evaluation</a:t>
            </a:r>
            <a:r>
              <a:rPr lang="en-US" altLang="en-US" sz="1800" dirty="0">
                <a:ea typeface="MS PGothic" panose="020B0600070205080204" pitchFamily="34" charset="-128"/>
              </a:rPr>
              <a:t>:</a:t>
            </a:r>
            <a:r>
              <a:rPr lang="en-US" altLang="en-US" sz="1800" b="1" dirty="0">
                <a:ea typeface="MS PGothic" panose="020B0600070205080204" pitchFamily="34" charset="-128"/>
              </a:rPr>
              <a:t>  </a:t>
            </a:r>
            <a:r>
              <a:rPr lang="en-US" altLang="en-US" sz="1800" dirty="0">
                <a:ea typeface="MS PGothic" panose="020B0600070205080204" pitchFamily="34" charset="-128"/>
              </a:rPr>
              <a:t>evaluate one operation at a time, starting at the lowest-level.  Use intermediate results materialized into temporary relations to evaluate next-level operations.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The </a:t>
            </a:r>
            <a:r>
              <a:rPr lang="en-US" altLang="en-US" sz="1800" i="1" dirty="0">
                <a:ea typeface="MS PGothic" panose="020B0600070205080204" pitchFamily="34" charset="-128"/>
              </a:rPr>
              <a:t>department</a:t>
            </a:r>
            <a:r>
              <a:rPr lang="en-US" altLang="en-US" sz="1800" dirty="0">
                <a:ea typeface="MS PGothic" panose="020B0600070205080204" pitchFamily="34" charset="-128"/>
              </a:rPr>
              <a:t> and </a:t>
            </a:r>
            <a:r>
              <a:rPr lang="en-US" altLang="en-US" sz="1800" i="1" dirty="0" err="1">
                <a:ea typeface="MS PGothic" panose="020B0600070205080204" pitchFamily="34" charset="-128"/>
              </a:rPr>
              <a:t>tinstructor</a:t>
            </a:r>
            <a:r>
              <a:rPr lang="en-US" altLang="en-US" sz="1800" dirty="0">
                <a:ea typeface="MS PGothic" panose="020B0600070205080204" pitchFamily="34" charset="-128"/>
              </a:rPr>
              <a:t> schemas are given below: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instructor (id, name, dept-name, salary)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Department (dept-name, building, budget)</a:t>
            </a:r>
          </a:p>
          <a:p>
            <a:pPr marL="400050" indent="-400050">
              <a:buFont typeface="+mj-lt"/>
              <a:buAutoNum type="romanLcPeriod"/>
            </a:pPr>
            <a:r>
              <a:rPr lang="en-US" altLang="en-US" sz="1800" dirty="0">
                <a:ea typeface="MS PGothic" panose="020B0600070205080204" pitchFamily="34" charset="-128"/>
              </a:rPr>
              <a:t>Write relational algebra to find the names of all instructors of all departments in ‘Watson’ building.</a:t>
            </a:r>
          </a:p>
          <a:p>
            <a:pPr marL="400050" indent="-400050">
              <a:buFont typeface="+mj-lt"/>
              <a:buAutoNum type="romanLcPeriod"/>
            </a:pPr>
            <a:r>
              <a:rPr lang="en-US" altLang="en-US" sz="1800" dirty="0">
                <a:ea typeface="MS PGothic" panose="020B0600070205080204" pitchFamily="34" charset="-128"/>
              </a:rPr>
              <a:t>Show the query expression tree (operation tree) for the query.</a:t>
            </a:r>
          </a:p>
          <a:p>
            <a:pPr marL="400050" indent="-400050">
              <a:buFont typeface="+mj-lt"/>
              <a:buAutoNum type="romanLcPeriod"/>
            </a:pPr>
            <a:endParaRPr lang="en-US" altLang="en-US" sz="1800" dirty="0"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9CD0B-53D4-415C-9BCB-21DB07883123}"/>
              </a:ext>
            </a:extLst>
          </p:cNvPr>
          <p:cNvSpPr txBox="1"/>
          <p:nvPr/>
        </p:nvSpPr>
        <p:spPr>
          <a:xfrm>
            <a:off x="4136571" y="1262743"/>
            <a:ext cx="5167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ym typeface="Symbol" panose="05050102010706020507" pitchFamily="18" charset="2"/>
              </a:rPr>
              <a:t>Algebra option 1: </a:t>
            </a:r>
          </a:p>
          <a:p>
            <a:r>
              <a:rPr lang="en-US" sz="1800" dirty="0">
                <a:sym typeface="Symbol" panose="05050102010706020507" pitchFamily="18" charset="2"/>
              </a:rPr>
              <a:t></a:t>
            </a:r>
            <a:r>
              <a:rPr lang="en-US" sz="1800" baseline="-25000" dirty="0">
                <a:sym typeface="Symbol" panose="05050102010706020507" pitchFamily="18" charset="2"/>
              </a:rPr>
              <a:t>name</a:t>
            </a:r>
            <a:r>
              <a:rPr lang="en-US" sz="1800" dirty="0">
                <a:sym typeface="Symbol" panose="05050102010706020507" pitchFamily="18" charset="2"/>
              </a:rPr>
              <a:t>((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</a:t>
            </a:r>
            <a:r>
              <a:rPr lang="en-US" sz="1800" dirty="0">
                <a:sym typeface="Symbol" panose="05050102010706020507" pitchFamily="18" charset="2"/>
              </a:rPr>
              <a:t>(department))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⨝ instructor)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3C28A-34AA-49DA-96FD-96D5DC285B1A}"/>
              </a:ext>
            </a:extLst>
          </p:cNvPr>
          <p:cNvSpPr txBox="1"/>
          <p:nvPr/>
        </p:nvSpPr>
        <p:spPr>
          <a:xfrm>
            <a:off x="4572000" y="727075"/>
            <a:ext cx="3294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Relational algebra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A048D-8077-48A1-8616-86972F73B135}"/>
              </a:ext>
            </a:extLst>
          </p:cNvPr>
          <p:cNvSpPr txBox="1"/>
          <p:nvPr/>
        </p:nvSpPr>
        <p:spPr>
          <a:xfrm>
            <a:off x="4383314" y="2409371"/>
            <a:ext cx="4033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Query expression tree</a:t>
            </a:r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0BCD0EE1-0BF0-4CE4-B767-21D9B2C60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113" y="2975428"/>
            <a:ext cx="3965841" cy="2937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0B76CB-49C0-5F6F-5E6B-07D1FCE8D8F7}"/>
                  </a:ext>
                </a:extLst>
              </p14:cNvPr>
              <p14:cNvContentPartPr/>
              <p14:nvPr/>
            </p14:nvContentPartPr>
            <p14:xfrm>
              <a:off x="44640" y="1250280"/>
              <a:ext cx="3241800" cy="61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0B76CB-49C0-5F6F-5E6B-07D1FCE8D8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80" y="1240920"/>
                <a:ext cx="3260520" cy="63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B75B16A1-B58F-4CB3-AA24-54C6642B9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921" y="69003"/>
            <a:ext cx="3324679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AB83BF51-4205-4CC7-9E7F-33401B9B8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51" y="727075"/>
            <a:ext cx="4033420" cy="542698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Materialized evaluation</a:t>
            </a:r>
            <a:r>
              <a:rPr lang="en-US" altLang="en-US" sz="1800" dirty="0">
                <a:ea typeface="MS PGothic" panose="020B0600070205080204" pitchFamily="34" charset="-128"/>
              </a:rPr>
              <a:t>:</a:t>
            </a:r>
            <a:r>
              <a:rPr lang="en-US" altLang="en-US" sz="1800" b="1" dirty="0">
                <a:ea typeface="MS PGothic" panose="020B0600070205080204" pitchFamily="34" charset="-128"/>
              </a:rPr>
              <a:t>  </a:t>
            </a:r>
            <a:r>
              <a:rPr lang="en-US" altLang="en-US" sz="1800" dirty="0">
                <a:ea typeface="MS PGothic" panose="020B0600070205080204" pitchFamily="34" charset="-128"/>
              </a:rPr>
              <a:t>evaluate one operation at a time, starting at the lowest-level.  Use intermediate results materialized into temporary relations to evaluate next-level operations.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Question: </a:t>
            </a:r>
            <a:r>
              <a:rPr lang="en-US" altLang="en-US" sz="1800" dirty="0">
                <a:ea typeface="MS PGothic" panose="020B0600070205080204" pitchFamily="34" charset="-128"/>
              </a:rPr>
              <a:t>The </a:t>
            </a:r>
            <a:r>
              <a:rPr lang="en-US" altLang="en-US" sz="1800" i="1" dirty="0">
                <a:ea typeface="MS PGothic" panose="020B0600070205080204" pitchFamily="34" charset="-128"/>
              </a:rPr>
              <a:t>student</a:t>
            </a:r>
            <a:r>
              <a:rPr lang="en-US" altLang="en-US" sz="1800" dirty="0">
                <a:ea typeface="MS PGothic" panose="020B0600070205080204" pitchFamily="34" charset="-128"/>
              </a:rPr>
              <a:t> and </a:t>
            </a:r>
            <a:r>
              <a:rPr lang="en-US" altLang="en-US" sz="1800" i="1" dirty="0">
                <a:ea typeface="MS PGothic" panose="020B0600070205080204" pitchFamily="34" charset="-128"/>
              </a:rPr>
              <a:t>takes</a:t>
            </a:r>
            <a:r>
              <a:rPr lang="en-US" altLang="en-US" sz="1800" dirty="0">
                <a:ea typeface="MS PGothic" panose="020B0600070205080204" pitchFamily="34" charset="-128"/>
              </a:rPr>
              <a:t> schemas are given below: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student (id, name, CGPA, year-admit)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Takes (id, course-id, semester, year)</a:t>
            </a:r>
          </a:p>
          <a:p>
            <a:pPr marL="400050" indent="-400050">
              <a:buFont typeface="+mj-lt"/>
              <a:buAutoNum type="romanUcPeriod"/>
            </a:pPr>
            <a:r>
              <a:rPr lang="en-US" altLang="en-US" sz="1800" dirty="0">
                <a:ea typeface="MS PGothic" panose="020B0600070205080204" pitchFamily="34" charset="-128"/>
              </a:rPr>
              <a:t>Write SQL and algebra to find id, name of all students of year 2020 and CGPA 4. </a:t>
            </a:r>
          </a:p>
          <a:p>
            <a:pPr marL="400050" indent="-400050">
              <a:buFont typeface="+mj-lt"/>
              <a:buAutoNum type="romanUcPeriod"/>
            </a:pPr>
            <a:r>
              <a:rPr lang="en-US" altLang="en-US" sz="1800" dirty="0">
                <a:ea typeface="MS PGothic" panose="020B0600070205080204" pitchFamily="34" charset="-128"/>
              </a:rPr>
              <a:t>Show the query expression tree (operation tree) for the query using option 2.</a:t>
            </a:r>
          </a:p>
          <a:p>
            <a:pPr marL="400050" indent="-400050">
              <a:buFont typeface="+mj-lt"/>
              <a:buAutoNum type="romanUcPeriod"/>
            </a:pPr>
            <a:r>
              <a:rPr lang="en-US" altLang="en-US" sz="1800" dirty="0">
                <a:ea typeface="MS PGothic" panose="020B0600070205080204" pitchFamily="34" charset="-128"/>
              </a:rPr>
              <a:t>Compare option 1 and option 2</a:t>
            </a:r>
          </a:p>
          <a:p>
            <a:pPr marL="400050" indent="-400050">
              <a:buFont typeface="+mj-lt"/>
              <a:buAutoNum type="romanUcPeriod"/>
            </a:pPr>
            <a:endParaRPr lang="en-US" altLang="en-US" sz="1800" dirty="0"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9CD0B-53D4-415C-9BCB-21DB07883123}"/>
              </a:ext>
            </a:extLst>
          </p:cNvPr>
          <p:cNvSpPr txBox="1"/>
          <p:nvPr/>
        </p:nvSpPr>
        <p:spPr>
          <a:xfrm>
            <a:off x="4136571" y="1262743"/>
            <a:ext cx="5167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ym typeface="Symbol" panose="05050102010706020507" pitchFamily="18" charset="2"/>
              </a:rPr>
              <a:t>Algebra option 2: </a:t>
            </a:r>
          </a:p>
          <a:p>
            <a:r>
              <a:rPr lang="en-US" sz="1800" dirty="0">
                <a:sym typeface="Symbol" panose="05050102010706020507" pitchFamily="18" charset="2"/>
              </a:rPr>
              <a:t></a:t>
            </a:r>
            <a:r>
              <a:rPr lang="en-US" sz="1800" baseline="-25000" dirty="0">
                <a:sym typeface="Symbol" panose="05050102010706020507" pitchFamily="18" charset="2"/>
              </a:rPr>
              <a:t>name</a:t>
            </a:r>
            <a:r>
              <a:rPr lang="en-US" sz="1800" dirty="0">
                <a:sym typeface="Symbol" panose="05050102010706020507" pitchFamily="18" charset="2"/>
              </a:rPr>
              <a:t>((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</a:t>
            </a:r>
            <a:r>
              <a:rPr lang="en-US" sz="1800" dirty="0">
                <a:sym typeface="Symbol" panose="05050102010706020507" pitchFamily="18" charset="2"/>
              </a:rPr>
              <a:t>(department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⨝ instructor))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3C28A-34AA-49DA-96FD-96D5DC285B1A}"/>
              </a:ext>
            </a:extLst>
          </p:cNvPr>
          <p:cNvSpPr txBox="1"/>
          <p:nvPr/>
        </p:nvSpPr>
        <p:spPr>
          <a:xfrm>
            <a:off x="4572000" y="727075"/>
            <a:ext cx="3294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Relational algebra</a:t>
            </a:r>
          </a:p>
        </p:txBody>
      </p:sp>
    </p:spTree>
    <p:extLst>
      <p:ext uri="{BB962C8B-B14F-4D97-AF65-F5344CB8AC3E}">
        <p14:creationId xmlns:p14="http://schemas.microsoft.com/office/powerpoint/2010/main" val="158097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53B60583-6953-4FCC-ABE5-6B7EE1F2A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 (Cont.)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A76FFE1-8C22-447B-8523-476FD7329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9657" y="870858"/>
            <a:ext cx="3439886" cy="492034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Materialized evaluation is always applicable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Cost of writing results to disk and reading them back can be quite high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Our cost formulas for operations ignore cost of writing results to disk, so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Overall cost  =  Sum of costs of individual operations + cost of writing intermediate results to disk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6C11C364-C0FB-4A0B-9691-F64A93F33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742" y="1030512"/>
            <a:ext cx="4780809" cy="35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8577D0-B162-47CC-97F2-1BC393DA48B6}"/>
              </a:ext>
            </a:extLst>
          </p:cNvPr>
          <p:cNvSpPr txBox="1"/>
          <p:nvPr/>
        </p:nvSpPr>
        <p:spPr>
          <a:xfrm>
            <a:off x="3802743" y="2989943"/>
            <a:ext cx="6096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Write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0B8D6-E9CA-4FE8-9825-977A0ADB84FD}"/>
              </a:ext>
            </a:extLst>
          </p:cNvPr>
          <p:cNvSpPr txBox="1"/>
          <p:nvPr/>
        </p:nvSpPr>
        <p:spPr>
          <a:xfrm>
            <a:off x="6959600" y="1763486"/>
            <a:ext cx="6096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Write Cost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604506-42E3-7146-2054-6687B63A1E23}"/>
                  </a:ext>
                </a:extLst>
              </p14:cNvPr>
              <p14:cNvContentPartPr/>
              <p14:nvPr/>
            </p14:nvContentPartPr>
            <p14:xfrm>
              <a:off x="982440" y="5241600"/>
              <a:ext cx="1241640" cy="72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604506-42E3-7146-2054-6687B63A1E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3080" y="5232240"/>
                <a:ext cx="1260360" cy="9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53B60583-6953-4FCC-ABE5-6B7EE1F2A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 (Cont.)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A76FFE1-8C22-447B-8523-476FD7329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600" y="870857"/>
            <a:ext cx="4005943" cy="5297713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</a:rPr>
              <a:t>Example: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</a:rPr>
              <a:t>The cost of </a:t>
            </a:r>
            <a:r>
              <a:rPr lang="en-US" sz="1800" dirty="0">
                <a:sym typeface="Symbol" panose="05050102010706020507" pitchFamily="18" charset="2"/>
              </a:rPr>
              <a:t>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</a:t>
            </a:r>
            <a:r>
              <a:rPr lang="en-US" sz="1800" dirty="0">
                <a:sym typeface="Symbol" panose="05050102010706020507" pitchFamily="18" charset="2"/>
              </a:rPr>
              <a:t>(department) is 1 seek and 20 block transfer. </a:t>
            </a:r>
          </a:p>
          <a:p>
            <a:pPr marL="0" indent="0">
              <a:buNone/>
            </a:pPr>
            <a:endParaRPr lang="en-US" sz="1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sz="1800" dirty="0">
                <a:sym typeface="Symbol" panose="05050102010706020507" pitchFamily="18" charset="2"/>
              </a:rPr>
              <a:t>The cost of ((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 </a:t>
            </a:r>
            <a:r>
              <a:rPr lang="en-US" sz="1800" dirty="0">
                <a:sym typeface="Symbol" panose="05050102010706020507" pitchFamily="18" charset="2"/>
              </a:rPr>
              <a:t>(department))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⨝ instructor) is 10 seek and 100 block transfer. 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The cost of </a:t>
            </a:r>
            <a:r>
              <a:rPr lang="en-US" sz="1800" dirty="0">
                <a:sym typeface="Symbol" panose="05050102010706020507" pitchFamily="18" charset="2"/>
              </a:rPr>
              <a:t></a:t>
            </a:r>
            <a:r>
              <a:rPr lang="en-US" sz="1800" baseline="-25000" dirty="0">
                <a:sym typeface="Symbol" panose="05050102010706020507" pitchFamily="18" charset="2"/>
              </a:rPr>
              <a:t>name </a:t>
            </a:r>
            <a:r>
              <a:rPr lang="en-US" sz="1800" dirty="0">
                <a:sym typeface="Symbol" panose="05050102010706020507" pitchFamily="18" charset="2"/>
              </a:rPr>
              <a:t>(…….) is 1 seek and 50 block transfer.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Write cost for </a:t>
            </a:r>
            <a:r>
              <a:rPr lang="en-US" sz="1800" dirty="0">
                <a:sym typeface="Symbol" panose="05050102010706020507" pitchFamily="18" charset="2"/>
              </a:rPr>
              <a:t>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</a:t>
            </a:r>
            <a:r>
              <a:rPr lang="en-US" sz="1800" dirty="0">
                <a:sym typeface="Symbol" panose="05050102010706020507" pitchFamily="18" charset="2"/>
              </a:rPr>
              <a:t>(department)  is 1 seek and 10 block transfer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Write cost for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⨝ is 1 seek and 50 block transfer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Find overall cost of the query.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6C11C364-C0FB-4A0B-9691-F64A93F33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681" y="1081969"/>
            <a:ext cx="4780809" cy="35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8577D0-B162-47CC-97F2-1BC393DA48B6}"/>
              </a:ext>
            </a:extLst>
          </p:cNvPr>
          <p:cNvSpPr txBox="1"/>
          <p:nvPr/>
        </p:nvSpPr>
        <p:spPr>
          <a:xfrm>
            <a:off x="4300681" y="2591102"/>
            <a:ext cx="6096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Write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0B8D6-E9CA-4FE8-9825-977A0ADB84FD}"/>
              </a:ext>
            </a:extLst>
          </p:cNvPr>
          <p:cNvSpPr txBox="1"/>
          <p:nvPr/>
        </p:nvSpPr>
        <p:spPr>
          <a:xfrm>
            <a:off x="6959600" y="1763486"/>
            <a:ext cx="6096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Write Cost</a:t>
            </a:r>
          </a:p>
        </p:txBody>
      </p:sp>
    </p:spTree>
    <p:extLst>
      <p:ext uri="{BB962C8B-B14F-4D97-AF65-F5344CB8AC3E}">
        <p14:creationId xmlns:p14="http://schemas.microsoft.com/office/powerpoint/2010/main" val="423569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53B60583-6953-4FCC-ABE5-6B7EE1F2A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 (Cont.)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A76FFE1-8C22-447B-8523-476FD7329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600" y="870857"/>
            <a:ext cx="4005943" cy="5297713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</a:rPr>
              <a:t>Example: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</a:rPr>
              <a:t>The cost of </a:t>
            </a:r>
            <a:r>
              <a:rPr lang="en-US" sz="1800" dirty="0">
                <a:sym typeface="Symbol" panose="05050102010706020507" pitchFamily="18" charset="2"/>
              </a:rPr>
              <a:t>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</a:t>
            </a:r>
            <a:r>
              <a:rPr lang="en-US" sz="1800" dirty="0">
                <a:sym typeface="Symbol" panose="05050102010706020507" pitchFamily="18" charset="2"/>
              </a:rPr>
              <a:t>(department) is 1 seek and 20 block transfer. </a:t>
            </a:r>
          </a:p>
          <a:p>
            <a:pPr marL="0" indent="0">
              <a:buNone/>
            </a:pPr>
            <a:endParaRPr lang="en-US" sz="1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sz="1800" dirty="0">
                <a:sym typeface="Symbol" panose="05050102010706020507" pitchFamily="18" charset="2"/>
              </a:rPr>
              <a:t>The cost of ((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 </a:t>
            </a:r>
            <a:r>
              <a:rPr lang="en-US" sz="1800" dirty="0">
                <a:sym typeface="Symbol" panose="05050102010706020507" pitchFamily="18" charset="2"/>
              </a:rPr>
              <a:t>(department))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⨝ instructor) is 10 seek and 100 block transfer. 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The cost of </a:t>
            </a:r>
            <a:r>
              <a:rPr lang="en-US" sz="1800" dirty="0">
                <a:sym typeface="Symbol" panose="05050102010706020507" pitchFamily="18" charset="2"/>
              </a:rPr>
              <a:t></a:t>
            </a:r>
            <a:r>
              <a:rPr lang="en-US" sz="1800" baseline="-25000" dirty="0">
                <a:sym typeface="Symbol" panose="05050102010706020507" pitchFamily="18" charset="2"/>
              </a:rPr>
              <a:t>name </a:t>
            </a:r>
            <a:r>
              <a:rPr lang="en-US" sz="1800" dirty="0">
                <a:sym typeface="Symbol" panose="05050102010706020507" pitchFamily="18" charset="2"/>
              </a:rPr>
              <a:t>(…….) is 1 seek and 50 block transfer.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Write cost for </a:t>
            </a:r>
            <a:r>
              <a:rPr lang="en-US" sz="1800" dirty="0">
                <a:sym typeface="Symbol" panose="05050102010706020507" pitchFamily="18" charset="2"/>
              </a:rPr>
              <a:t>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</a:t>
            </a:r>
            <a:r>
              <a:rPr lang="en-US" sz="1800" dirty="0">
                <a:sym typeface="Symbol" panose="05050102010706020507" pitchFamily="18" charset="2"/>
              </a:rPr>
              <a:t>(department)  is 1 seek and 10 block transfer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Write cost for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⨝ is 1 seek and 50 block transfer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Find overall cost of the </a:t>
            </a:r>
            <a:r>
              <a:rPr lang="en-US" altLang="en-US" sz="1800" dirty="0" err="1">
                <a:ea typeface="MS PGothic" panose="020B0600070205080204" pitchFamily="34" charset="-128"/>
                <a:sym typeface="Symbol" panose="05050102010706020507" pitchFamily="18" charset="2"/>
              </a:rPr>
              <a:t>quesry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6C11C364-C0FB-4A0B-9691-F64A93F33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089" y="870857"/>
            <a:ext cx="3464461" cy="2566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8577D0-B162-47CC-97F2-1BC393DA48B6}"/>
              </a:ext>
            </a:extLst>
          </p:cNvPr>
          <p:cNvSpPr txBox="1"/>
          <p:nvPr/>
        </p:nvSpPr>
        <p:spPr>
          <a:xfrm>
            <a:off x="5020089" y="2154044"/>
            <a:ext cx="6096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Write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0B8D6-E9CA-4FE8-9825-977A0ADB84FD}"/>
              </a:ext>
            </a:extLst>
          </p:cNvPr>
          <p:cNvSpPr txBox="1"/>
          <p:nvPr/>
        </p:nvSpPr>
        <p:spPr>
          <a:xfrm>
            <a:off x="7496629" y="1284514"/>
            <a:ext cx="6096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Write Cost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04038-7CEE-420D-8142-9F2949D0E1EB}"/>
              </a:ext>
            </a:extLst>
          </p:cNvPr>
          <p:cNvSpPr txBox="1"/>
          <p:nvPr/>
        </p:nvSpPr>
        <p:spPr>
          <a:xfrm>
            <a:off x="4673600" y="3773714"/>
            <a:ext cx="43688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Overall cost  =  Sum of costs of individual operations + cost of writing intermediate results to disk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sz="1600" dirty="0">
                <a:ea typeface="MS PGothic" panose="020B0600070205080204" pitchFamily="34" charset="-128"/>
              </a:rPr>
              <a:t>= ((1+10+1) seek + (20+100+50) blocks) + ((1+1) seek + (10+50) blocks)</a:t>
            </a:r>
          </a:p>
          <a:p>
            <a:pPr marL="0" indent="0">
              <a:buNone/>
            </a:pPr>
            <a:endParaRPr lang="en-US" altLang="en-US" sz="16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dirty="0"/>
              <a:t>= (12Seek+170Blocks) + (2 seek + 60blocks)</a:t>
            </a:r>
            <a:endParaRPr lang="en-US" altLang="en-US" sz="1600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F13829-7722-8A10-C448-C428AB2E516C}"/>
                  </a:ext>
                </a:extLst>
              </p14:cNvPr>
              <p14:cNvContentPartPr/>
              <p14:nvPr/>
            </p14:nvContentPartPr>
            <p14:xfrm>
              <a:off x="4527360" y="3447000"/>
              <a:ext cx="759600" cy="52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F13829-7722-8A10-C448-C428AB2E51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18000" y="3437640"/>
                <a:ext cx="778320" cy="54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5036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53B60583-6953-4FCC-ABE5-6B7EE1F2A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 (Cont.)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A76FFE1-8C22-447B-8523-476FD7329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3201" y="1154950"/>
            <a:ext cx="4978400" cy="473785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sz="1800" dirty="0">
                <a:ea typeface="MS PGothic" panose="020B0600070205080204" pitchFamily="34" charset="-128"/>
              </a:rPr>
              <a:t>Materialized evaluation is always applicable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Cost of writing results to disk and reading them back can be quite high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Our cost formulas for operations ignore cost of writing results to disk, so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Overall cost  =  Sum of costs of individual operations + cost of writing intermediate results to disk</a:t>
            </a:r>
            <a:endParaRPr lang="en-US" altLang="en-US" sz="1800" b="1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endParaRPr lang="en-US" altLang="en-US" sz="1800" b="1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Double buffering</a:t>
            </a:r>
            <a:r>
              <a:rPr lang="en-US" altLang="en-US" sz="1800" dirty="0">
                <a:ea typeface="MS PGothic" panose="020B0600070205080204" pitchFamily="34" charset="-128"/>
              </a:rPr>
              <a:t>: use two output buffers for each operation, when one is full write it to disk while the other is getting filled</a:t>
            </a: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Allows overlap of disk writes with computation and reduces execution time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F879ACE-92BF-4815-BCBF-EEBF85DFBEAF}"/>
              </a:ext>
            </a:extLst>
          </p:cNvPr>
          <p:cNvGraphicFramePr>
            <a:graphicFrameLocks noGrp="1"/>
          </p:cNvGraphicFramePr>
          <p:nvPr/>
        </p:nvGraphicFramePr>
        <p:xfrm>
          <a:off x="6792685" y="1154950"/>
          <a:ext cx="1770744" cy="270967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770744">
                  <a:extLst>
                    <a:ext uri="{9D8B030D-6E8A-4147-A177-3AD203B41FA5}">
                      <a16:colId xmlns:a16="http://schemas.microsoft.com/office/drawing/2014/main" val="2613661848"/>
                    </a:ext>
                  </a:extLst>
                </a:gridCol>
              </a:tblGrid>
              <a:tr h="101704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Write (X)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628377"/>
                  </a:ext>
                </a:extLst>
              </a:tr>
              <a:tr h="412469">
                <a:tc>
                  <a:txBody>
                    <a:bodyPr/>
                    <a:lstStyle/>
                    <a:p>
                      <a:r>
                        <a:rPr lang="en-US" dirty="0"/>
                        <a:t>Buffer 1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962688"/>
                  </a:ext>
                </a:extLst>
              </a:tr>
              <a:tr h="412469">
                <a:tc>
                  <a:txBody>
                    <a:bodyPr/>
                    <a:lstStyle/>
                    <a:p>
                      <a:r>
                        <a:rPr lang="en-US" dirty="0"/>
                        <a:t>Buffer 2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840351"/>
                  </a:ext>
                </a:extLst>
              </a:tr>
              <a:tr h="4124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255021"/>
                  </a:ext>
                </a:extLst>
              </a:tr>
            </a:tbl>
          </a:graphicData>
        </a:graphic>
      </p:graphicFrame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FA331666-0A0C-4F50-9C11-BFF2D20B2528}"/>
              </a:ext>
            </a:extLst>
          </p:cNvPr>
          <p:cNvSpPr/>
          <p:nvPr/>
        </p:nvSpPr>
        <p:spPr bwMode="auto">
          <a:xfrm>
            <a:off x="6952343" y="4876800"/>
            <a:ext cx="1611086" cy="1320800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460B8A-58C8-4FF5-B6E7-2E6DF7F0AD1F}"/>
              </a:ext>
            </a:extLst>
          </p:cNvPr>
          <p:cNvCxnSpPr/>
          <p:nvPr/>
        </p:nvCxnSpPr>
        <p:spPr bwMode="auto">
          <a:xfrm>
            <a:off x="7170057" y="1727200"/>
            <a:ext cx="0" cy="5225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EC49480-74E7-4F10-9806-13460D7A470C}"/>
              </a:ext>
            </a:extLst>
          </p:cNvPr>
          <p:cNvSpPr txBox="1"/>
          <p:nvPr/>
        </p:nvSpPr>
        <p:spPr>
          <a:xfrm>
            <a:off x="7329714" y="5457371"/>
            <a:ext cx="7257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DB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1B5AC85-936E-44D2-8023-66E5385448FA}"/>
              </a:ext>
            </a:extLst>
          </p:cNvPr>
          <p:cNvSpPr/>
          <p:nvPr/>
        </p:nvSpPr>
        <p:spPr bwMode="auto">
          <a:xfrm>
            <a:off x="6487954" y="2249714"/>
            <a:ext cx="290215" cy="1179286"/>
          </a:xfrm>
          <a:prstGeom prst="lef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36DFC-4E6E-48D4-B6E6-C443D4B96A95}"/>
              </a:ext>
            </a:extLst>
          </p:cNvPr>
          <p:cNvSpPr txBox="1"/>
          <p:nvPr/>
        </p:nvSpPr>
        <p:spPr>
          <a:xfrm>
            <a:off x="5355698" y="2509550"/>
            <a:ext cx="108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Double Buffering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BE7C11-CC9F-7B69-47D3-107408E0ABCE}"/>
                  </a:ext>
                </a:extLst>
              </p14:cNvPr>
              <p14:cNvContentPartPr/>
              <p14:nvPr/>
            </p14:nvContentPartPr>
            <p14:xfrm>
              <a:off x="419760" y="1482480"/>
              <a:ext cx="5152680" cy="4286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BE7C11-CC9F-7B69-47D3-107408E0AB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400" y="1473120"/>
                <a:ext cx="5171400" cy="430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7847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53B60583-6953-4FCC-ABE5-6B7EE1F2A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 (Cont.)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A76FFE1-8C22-447B-8523-476FD7329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3200" y="1154950"/>
            <a:ext cx="5297715" cy="473785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sz="1800" dirty="0">
                <a:ea typeface="MS PGothic" panose="020B0600070205080204" pitchFamily="34" charset="-128"/>
              </a:rPr>
              <a:t>Materialized evaluation is always applicable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Cost of writing results to disk and reading them back can be quite high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Our cost formulas for operations ignore cost of writing results to disk, so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Overall cost  =  Sum of costs of individual operations + cost of writing intermediate results to disk</a:t>
            </a:r>
            <a:endParaRPr lang="en-US" altLang="en-US" sz="1800" b="1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endParaRPr lang="en-US" altLang="en-US" sz="1800" b="1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Double buffering</a:t>
            </a:r>
            <a:r>
              <a:rPr lang="en-US" altLang="en-US" sz="1800" dirty="0">
                <a:ea typeface="MS PGothic" panose="020B0600070205080204" pitchFamily="34" charset="-128"/>
              </a:rPr>
              <a:t>: use two output buffers for each operation, when one is full write it to disk while the other is getting filled</a:t>
            </a: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Allows overlap of disk writes with computation and reduces execution time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F879ACE-92BF-4815-BCBF-EEBF85DFBEAF}"/>
              </a:ext>
            </a:extLst>
          </p:cNvPr>
          <p:cNvGraphicFramePr>
            <a:graphicFrameLocks noGrp="1"/>
          </p:cNvGraphicFramePr>
          <p:nvPr/>
        </p:nvGraphicFramePr>
        <p:xfrm>
          <a:off x="6792685" y="1154950"/>
          <a:ext cx="1770744" cy="270967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770744">
                  <a:extLst>
                    <a:ext uri="{9D8B030D-6E8A-4147-A177-3AD203B41FA5}">
                      <a16:colId xmlns:a16="http://schemas.microsoft.com/office/drawing/2014/main" val="2613661848"/>
                    </a:ext>
                  </a:extLst>
                </a:gridCol>
              </a:tblGrid>
              <a:tr h="101704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Write (Y)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628377"/>
                  </a:ext>
                </a:extLst>
              </a:tr>
              <a:tr h="412469">
                <a:tc>
                  <a:txBody>
                    <a:bodyPr/>
                    <a:lstStyle/>
                    <a:p>
                      <a:r>
                        <a:rPr lang="en-US" dirty="0"/>
                        <a:t>Buffer 1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962688"/>
                  </a:ext>
                </a:extLst>
              </a:tr>
              <a:tr h="412469">
                <a:tc>
                  <a:txBody>
                    <a:bodyPr/>
                    <a:lstStyle/>
                    <a:p>
                      <a:r>
                        <a:rPr lang="en-US" dirty="0"/>
                        <a:t>Buffer 2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840351"/>
                  </a:ext>
                </a:extLst>
              </a:tr>
              <a:tr h="4124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255021"/>
                  </a:ext>
                </a:extLst>
              </a:tr>
            </a:tbl>
          </a:graphicData>
        </a:graphic>
      </p:graphicFrame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FA331666-0A0C-4F50-9C11-BFF2D20B2528}"/>
              </a:ext>
            </a:extLst>
          </p:cNvPr>
          <p:cNvSpPr/>
          <p:nvPr/>
        </p:nvSpPr>
        <p:spPr bwMode="auto">
          <a:xfrm>
            <a:off x="6952343" y="4876800"/>
            <a:ext cx="1611086" cy="1320800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460B8A-58C8-4FF5-B6E7-2E6DF7F0AD1F}"/>
              </a:ext>
            </a:extLst>
          </p:cNvPr>
          <p:cNvCxnSpPr>
            <a:cxnSpLocks/>
          </p:cNvCxnSpPr>
          <p:nvPr/>
        </p:nvCxnSpPr>
        <p:spPr bwMode="auto">
          <a:xfrm>
            <a:off x="7170057" y="1727200"/>
            <a:ext cx="0" cy="12046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EC49480-74E7-4F10-9806-13460D7A470C}"/>
              </a:ext>
            </a:extLst>
          </p:cNvPr>
          <p:cNvSpPr txBox="1"/>
          <p:nvPr/>
        </p:nvSpPr>
        <p:spPr>
          <a:xfrm>
            <a:off x="7329714" y="5457371"/>
            <a:ext cx="7257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DB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11DC674-6DDB-48FC-8CF1-21979AE4C9A5}"/>
              </a:ext>
            </a:extLst>
          </p:cNvPr>
          <p:cNvSpPr/>
          <p:nvPr/>
        </p:nvSpPr>
        <p:spPr bwMode="auto">
          <a:xfrm>
            <a:off x="6400163" y="2540000"/>
            <a:ext cx="987608" cy="3193143"/>
          </a:xfrm>
          <a:custGeom>
            <a:avLst/>
            <a:gdLst>
              <a:gd name="connsiteX0" fmla="*/ 378008 w 987608"/>
              <a:gd name="connsiteY0" fmla="*/ 0 h 3193143"/>
              <a:gd name="connsiteX1" fmla="*/ 290923 w 987608"/>
              <a:gd name="connsiteY1" fmla="*/ 159657 h 3193143"/>
              <a:gd name="connsiteX2" fmla="*/ 261894 w 987608"/>
              <a:gd name="connsiteY2" fmla="*/ 203200 h 3193143"/>
              <a:gd name="connsiteX3" fmla="*/ 203837 w 987608"/>
              <a:gd name="connsiteY3" fmla="*/ 333829 h 3193143"/>
              <a:gd name="connsiteX4" fmla="*/ 174808 w 987608"/>
              <a:gd name="connsiteY4" fmla="*/ 449943 h 3193143"/>
              <a:gd name="connsiteX5" fmla="*/ 145780 w 987608"/>
              <a:gd name="connsiteY5" fmla="*/ 537029 h 3193143"/>
              <a:gd name="connsiteX6" fmla="*/ 131266 w 987608"/>
              <a:gd name="connsiteY6" fmla="*/ 609600 h 3193143"/>
              <a:gd name="connsiteX7" fmla="*/ 102237 w 987608"/>
              <a:gd name="connsiteY7" fmla="*/ 696686 h 3193143"/>
              <a:gd name="connsiteX8" fmla="*/ 87723 w 987608"/>
              <a:gd name="connsiteY8" fmla="*/ 740229 h 3193143"/>
              <a:gd name="connsiteX9" fmla="*/ 44180 w 987608"/>
              <a:gd name="connsiteY9" fmla="*/ 914400 h 3193143"/>
              <a:gd name="connsiteX10" fmla="*/ 29666 w 987608"/>
              <a:gd name="connsiteY10" fmla="*/ 972457 h 3193143"/>
              <a:gd name="connsiteX11" fmla="*/ 637 w 987608"/>
              <a:gd name="connsiteY11" fmla="*/ 1233714 h 3193143"/>
              <a:gd name="connsiteX12" fmla="*/ 15151 w 987608"/>
              <a:gd name="connsiteY12" fmla="*/ 1494971 h 3193143"/>
              <a:gd name="connsiteX13" fmla="*/ 44180 w 987608"/>
              <a:gd name="connsiteY13" fmla="*/ 1741714 h 3193143"/>
              <a:gd name="connsiteX14" fmla="*/ 58694 w 987608"/>
              <a:gd name="connsiteY14" fmla="*/ 1857829 h 3193143"/>
              <a:gd name="connsiteX15" fmla="*/ 73208 w 987608"/>
              <a:gd name="connsiteY15" fmla="*/ 1901371 h 3193143"/>
              <a:gd name="connsiteX16" fmla="*/ 87723 w 987608"/>
              <a:gd name="connsiteY16" fmla="*/ 1988457 h 3193143"/>
              <a:gd name="connsiteX17" fmla="*/ 116751 w 987608"/>
              <a:gd name="connsiteY17" fmla="*/ 2075543 h 3193143"/>
              <a:gd name="connsiteX18" fmla="*/ 131266 w 987608"/>
              <a:gd name="connsiteY18" fmla="*/ 2133600 h 3193143"/>
              <a:gd name="connsiteX19" fmla="*/ 160294 w 987608"/>
              <a:gd name="connsiteY19" fmla="*/ 2220686 h 3193143"/>
              <a:gd name="connsiteX20" fmla="*/ 203837 w 987608"/>
              <a:gd name="connsiteY20" fmla="*/ 2322286 h 3193143"/>
              <a:gd name="connsiteX21" fmla="*/ 232866 w 987608"/>
              <a:gd name="connsiteY21" fmla="*/ 2409371 h 3193143"/>
              <a:gd name="connsiteX22" fmla="*/ 261894 w 987608"/>
              <a:gd name="connsiteY22" fmla="*/ 2452914 h 3193143"/>
              <a:gd name="connsiteX23" fmla="*/ 290923 w 987608"/>
              <a:gd name="connsiteY23" fmla="*/ 2540000 h 3193143"/>
              <a:gd name="connsiteX24" fmla="*/ 348980 w 987608"/>
              <a:gd name="connsiteY24" fmla="*/ 2627086 h 3193143"/>
              <a:gd name="connsiteX25" fmla="*/ 378008 w 987608"/>
              <a:gd name="connsiteY25" fmla="*/ 2714171 h 3193143"/>
              <a:gd name="connsiteX26" fmla="*/ 436066 w 987608"/>
              <a:gd name="connsiteY26" fmla="*/ 2801257 h 3193143"/>
              <a:gd name="connsiteX27" fmla="*/ 465094 w 987608"/>
              <a:gd name="connsiteY27" fmla="*/ 2844800 h 3193143"/>
              <a:gd name="connsiteX28" fmla="*/ 494123 w 987608"/>
              <a:gd name="connsiteY28" fmla="*/ 2902857 h 3193143"/>
              <a:gd name="connsiteX29" fmla="*/ 581208 w 987608"/>
              <a:gd name="connsiteY29" fmla="*/ 2960914 h 3193143"/>
              <a:gd name="connsiteX30" fmla="*/ 653780 w 987608"/>
              <a:gd name="connsiteY30" fmla="*/ 3018971 h 3193143"/>
              <a:gd name="connsiteX31" fmla="*/ 740866 w 987608"/>
              <a:gd name="connsiteY31" fmla="*/ 3077029 h 3193143"/>
              <a:gd name="connsiteX32" fmla="*/ 784408 w 987608"/>
              <a:gd name="connsiteY32" fmla="*/ 3106057 h 3193143"/>
              <a:gd name="connsiteX33" fmla="*/ 827951 w 987608"/>
              <a:gd name="connsiteY33" fmla="*/ 3135086 h 3193143"/>
              <a:gd name="connsiteX34" fmla="*/ 915037 w 987608"/>
              <a:gd name="connsiteY34" fmla="*/ 3164114 h 3193143"/>
              <a:gd name="connsiteX35" fmla="*/ 958580 w 987608"/>
              <a:gd name="connsiteY35" fmla="*/ 3178629 h 3193143"/>
              <a:gd name="connsiteX36" fmla="*/ 987608 w 987608"/>
              <a:gd name="connsiteY36" fmla="*/ 3193143 h 319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87608" h="3193143">
                <a:moveTo>
                  <a:pt x="378008" y="0"/>
                </a:moveTo>
                <a:cubicBezTo>
                  <a:pt x="336024" y="104963"/>
                  <a:pt x="363431" y="50895"/>
                  <a:pt x="290923" y="159657"/>
                </a:cubicBezTo>
                <a:lnTo>
                  <a:pt x="261894" y="203200"/>
                </a:lnTo>
                <a:cubicBezTo>
                  <a:pt x="227350" y="306835"/>
                  <a:pt x="249839" y="264826"/>
                  <a:pt x="203837" y="333829"/>
                </a:cubicBezTo>
                <a:cubicBezTo>
                  <a:pt x="194161" y="372534"/>
                  <a:pt x="187424" y="412094"/>
                  <a:pt x="174808" y="449943"/>
                </a:cubicBezTo>
                <a:cubicBezTo>
                  <a:pt x="165132" y="478972"/>
                  <a:pt x="151781" y="507024"/>
                  <a:pt x="145780" y="537029"/>
                </a:cubicBezTo>
                <a:cubicBezTo>
                  <a:pt x="140942" y="561219"/>
                  <a:pt x="137757" y="585800"/>
                  <a:pt x="131266" y="609600"/>
                </a:cubicBezTo>
                <a:cubicBezTo>
                  <a:pt x="123215" y="639121"/>
                  <a:pt x="111913" y="667657"/>
                  <a:pt x="102237" y="696686"/>
                </a:cubicBezTo>
                <a:cubicBezTo>
                  <a:pt x="97399" y="711200"/>
                  <a:pt x="91434" y="725386"/>
                  <a:pt x="87723" y="740229"/>
                </a:cubicBezTo>
                <a:lnTo>
                  <a:pt x="44180" y="914400"/>
                </a:lnTo>
                <a:lnTo>
                  <a:pt x="29666" y="972457"/>
                </a:lnTo>
                <a:cubicBezTo>
                  <a:pt x="19990" y="1059543"/>
                  <a:pt x="-4223" y="1146227"/>
                  <a:pt x="637" y="1233714"/>
                </a:cubicBezTo>
                <a:cubicBezTo>
                  <a:pt x="5475" y="1320800"/>
                  <a:pt x="8937" y="1407973"/>
                  <a:pt x="15151" y="1494971"/>
                </a:cubicBezTo>
                <a:cubicBezTo>
                  <a:pt x="24380" y="1624181"/>
                  <a:pt x="28904" y="1627141"/>
                  <a:pt x="44180" y="1741714"/>
                </a:cubicBezTo>
                <a:cubicBezTo>
                  <a:pt x="49335" y="1780378"/>
                  <a:pt x="51716" y="1819452"/>
                  <a:pt x="58694" y="1857829"/>
                </a:cubicBezTo>
                <a:cubicBezTo>
                  <a:pt x="61431" y="1872881"/>
                  <a:pt x="69889" y="1886436"/>
                  <a:pt x="73208" y="1901371"/>
                </a:cubicBezTo>
                <a:cubicBezTo>
                  <a:pt x="79592" y="1930099"/>
                  <a:pt x="80585" y="1959907"/>
                  <a:pt x="87723" y="1988457"/>
                </a:cubicBezTo>
                <a:cubicBezTo>
                  <a:pt x="95144" y="2018142"/>
                  <a:pt x="109329" y="2045858"/>
                  <a:pt x="116751" y="2075543"/>
                </a:cubicBezTo>
                <a:cubicBezTo>
                  <a:pt x="121589" y="2094895"/>
                  <a:pt x="125534" y="2114493"/>
                  <a:pt x="131266" y="2133600"/>
                </a:cubicBezTo>
                <a:cubicBezTo>
                  <a:pt x="140059" y="2162908"/>
                  <a:pt x="152873" y="2191001"/>
                  <a:pt x="160294" y="2220686"/>
                </a:cubicBezTo>
                <a:cubicBezTo>
                  <a:pt x="179039" y="2295666"/>
                  <a:pt x="163743" y="2262145"/>
                  <a:pt x="203837" y="2322286"/>
                </a:cubicBezTo>
                <a:cubicBezTo>
                  <a:pt x="213513" y="2351314"/>
                  <a:pt x="215893" y="2383911"/>
                  <a:pt x="232866" y="2409371"/>
                </a:cubicBezTo>
                <a:cubicBezTo>
                  <a:pt x="242542" y="2423885"/>
                  <a:pt x="254809" y="2436974"/>
                  <a:pt x="261894" y="2452914"/>
                </a:cubicBezTo>
                <a:cubicBezTo>
                  <a:pt x="274321" y="2480876"/>
                  <a:pt x="273950" y="2514540"/>
                  <a:pt x="290923" y="2540000"/>
                </a:cubicBezTo>
                <a:lnTo>
                  <a:pt x="348980" y="2627086"/>
                </a:lnTo>
                <a:cubicBezTo>
                  <a:pt x="358656" y="2656114"/>
                  <a:pt x="361035" y="2688712"/>
                  <a:pt x="378008" y="2714171"/>
                </a:cubicBezTo>
                <a:lnTo>
                  <a:pt x="436066" y="2801257"/>
                </a:lnTo>
                <a:cubicBezTo>
                  <a:pt x="445742" y="2815771"/>
                  <a:pt x="457293" y="2829198"/>
                  <a:pt x="465094" y="2844800"/>
                </a:cubicBezTo>
                <a:cubicBezTo>
                  <a:pt x="474770" y="2864152"/>
                  <a:pt x="478824" y="2887558"/>
                  <a:pt x="494123" y="2902857"/>
                </a:cubicBezTo>
                <a:cubicBezTo>
                  <a:pt x="518792" y="2927526"/>
                  <a:pt x="581208" y="2960914"/>
                  <a:pt x="581208" y="2960914"/>
                </a:cubicBezTo>
                <a:cubicBezTo>
                  <a:pt x="634846" y="3041370"/>
                  <a:pt x="579548" y="2977731"/>
                  <a:pt x="653780" y="3018971"/>
                </a:cubicBezTo>
                <a:cubicBezTo>
                  <a:pt x="684278" y="3035914"/>
                  <a:pt x="711837" y="3057676"/>
                  <a:pt x="740866" y="3077029"/>
                </a:cubicBezTo>
                <a:lnTo>
                  <a:pt x="784408" y="3106057"/>
                </a:lnTo>
                <a:cubicBezTo>
                  <a:pt x="798922" y="3115733"/>
                  <a:pt x="811402" y="3129570"/>
                  <a:pt x="827951" y="3135086"/>
                </a:cubicBezTo>
                <a:lnTo>
                  <a:pt x="915037" y="3164114"/>
                </a:lnTo>
                <a:cubicBezTo>
                  <a:pt x="929551" y="3168952"/>
                  <a:pt x="944896" y="3171787"/>
                  <a:pt x="958580" y="3178629"/>
                </a:cubicBezTo>
                <a:lnTo>
                  <a:pt x="987608" y="3193143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B50E7-4BC7-422D-B977-A3557E60A1BC}"/>
              </a:ext>
            </a:extLst>
          </p:cNvPr>
          <p:cNvSpPr txBox="1"/>
          <p:nvPr/>
        </p:nvSpPr>
        <p:spPr>
          <a:xfrm>
            <a:off x="6792685" y="4136571"/>
            <a:ext cx="1770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If Buffer 1 full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D410766-FA01-4730-BF52-797492D114B6}"/>
              </a:ext>
            </a:extLst>
          </p:cNvPr>
          <p:cNvSpPr/>
          <p:nvPr/>
        </p:nvSpPr>
        <p:spPr bwMode="auto">
          <a:xfrm>
            <a:off x="6502400" y="4267200"/>
            <a:ext cx="232229" cy="145143"/>
          </a:xfrm>
          <a:custGeom>
            <a:avLst/>
            <a:gdLst>
              <a:gd name="connsiteX0" fmla="*/ 232229 w 232229"/>
              <a:gd name="connsiteY0" fmla="*/ 0 h 145143"/>
              <a:gd name="connsiteX1" fmla="*/ 145143 w 232229"/>
              <a:gd name="connsiteY1" fmla="*/ 29029 h 145143"/>
              <a:gd name="connsiteX2" fmla="*/ 72571 w 232229"/>
              <a:gd name="connsiteY2" fmla="*/ 43543 h 145143"/>
              <a:gd name="connsiteX3" fmla="*/ 14514 w 232229"/>
              <a:gd name="connsiteY3" fmla="*/ 130629 h 145143"/>
              <a:gd name="connsiteX4" fmla="*/ 0 w 232229"/>
              <a:gd name="connsiteY4" fmla="*/ 145143 h 145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229" h="145143">
                <a:moveTo>
                  <a:pt x="232229" y="0"/>
                </a:moveTo>
                <a:cubicBezTo>
                  <a:pt x="203200" y="9676"/>
                  <a:pt x="174664" y="20978"/>
                  <a:pt x="145143" y="29029"/>
                </a:cubicBezTo>
                <a:cubicBezTo>
                  <a:pt x="121343" y="35520"/>
                  <a:pt x="92044" y="28397"/>
                  <a:pt x="72571" y="43543"/>
                </a:cubicBezTo>
                <a:cubicBezTo>
                  <a:pt x="45032" y="64962"/>
                  <a:pt x="39184" y="105959"/>
                  <a:pt x="14514" y="130629"/>
                </a:cubicBezTo>
                <a:lnTo>
                  <a:pt x="0" y="145143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772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050">
            <a:extLst>
              <a:ext uri="{FF2B5EF4-FFF2-40B4-BE49-F238E27FC236}">
                <a16:creationId xmlns:a16="http://schemas.microsoft.com/office/drawing/2014/main" id="{08BE99F7-675F-4CF6-B440-2AF8B1C37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</a:t>
            </a:r>
          </a:p>
        </p:txBody>
      </p:sp>
      <p:sp>
        <p:nvSpPr>
          <p:cNvPr id="106499" name="Rectangle 2051">
            <a:extLst>
              <a:ext uri="{FF2B5EF4-FFF2-40B4-BE49-F238E27FC236}">
                <a16:creationId xmlns:a16="http://schemas.microsoft.com/office/drawing/2014/main" id="{96D60249-A125-4E6A-AC6B-5F3808DCA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9658" y="1185553"/>
            <a:ext cx="4151085" cy="4475018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Pipelined evaluation</a:t>
            </a:r>
            <a:r>
              <a:rPr lang="en-US" altLang="en-US" sz="1800" dirty="0">
                <a:ea typeface="MS PGothic" panose="020B0600070205080204" pitchFamily="34" charset="-128"/>
              </a:rPr>
              <a:t>:  evaluate several operations simultaneously, passing the results of one operation on to the next.</a:t>
            </a:r>
          </a:p>
          <a:p>
            <a:pPr>
              <a:lnSpc>
                <a:spcPct val="90000"/>
              </a:lnSpc>
            </a:pPr>
            <a:r>
              <a:rPr lang="en-US" altLang="en-US" sz="1800" dirty="0">
                <a:ea typeface="MS PGothic" panose="020B0600070205080204" pitchFamily="34" charset="-128"/>
              </a:rPr>
              <a:t>E.g., in previous expression tree, don</a:t>
            </a:r>
            <a:r>
              <a:rPr lang="ja-JP" altLang="en-US" sz="1800" dirty="0">
                <a:ea typeface="MS PGothic" panose="020B0600070205080204" pitchFamily="34" charset="-128"/>
              </a:rPr>
              <a:t>’</a:t>
            </a:r>
            <a:r>
              <a:rPr lang="en-US" altLang="ja-JP" sz="1800" dirty="0">
                <a:ea typeface="MS PGothic" panose="020B0600070205080204" pitchFamily="34" charset="-128"/>
              </a:rPr>
              <a:t>t store result of</a:t>
            </a:r>
          </a:p>
          <a:p>
            <a:pPr lvl="1">
              <a:lnSpc>
                <a:spcPct val="90000"/>
              </a:lnSpc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>
                <a:ea typeface="MS PGothic" panose="020B0600070205080204" pitchFamily="34" charset="-128"/>
              </a:rPr>
              <a:t>instead, pass tuples directly to the join..  Similarly, don</a:t>
            </a:r>
            <a:r>
              <a:rPr lang="ja-JP" altLang="en-US" sz="1800" dirty="0">
                <a:ea typeface="MS PGothic" panose="020B0600070205080204" pitchFamily="34" charset="-128"/>
              </a:rPr>
              <a:t>’</a:t>
            </a:r>
            <a:r>
              <a:rPr lang="en-US" altLang="ja-JP" sz="1800" dirty="0">
                <a:ea typeface="MS PGothic" panose="020B0600070205080204" pitchFamily="34" charset="-128"/>
              </a:rPr>
              <a:t>t store result of join, pass tuples directly to projection. 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>
                <a:ea typeface="MS PGothic" panose="020B0600070205080204" pitchFamily="34" charset="-128"/>
              </a:rPr>
              <a:t>Much cheaper than materialization: no need to store a temporary relation to disk.</a:t>
            </a:r>
          </a:p>
        </p:txBody>
      </p:sp>
      <p:graphicFrame>
        <p:nvGraphicFramePr>
          <p:cNvPr id="106500" name="Object 5">
            <a:extLst>
              <a:ext uri="{FF2B5EF4-FFF2-40B4-BE49-F238E27FC236}">
                <a16:creationId xmlns:a16="http://schemas.microsoft.com/office/drawing/2014/main" id="{4F0A48FF-087B-401A-A1C0-B05A20AB04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131" y="2938874"/>
          <a:ext cx="33861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400" imgH="241300" progId="">
                  <p:embed/>
                </p:oleObj>
              </mc:Choice>
              <mc:Fallback>
                <p:oleObj name="Equation" r:id="rId3" imgW="1676400" imgH="241300" progId="">
                  <p:embed/>
                  <p:pic>
                    <p:nvPicPr>
                      <p:cNvPr id="106500" name="Object 5">
                        <a:extLst>
                          <a:ext uri="{FF2B5EF4-FFF2-40B4-BE49-F238E27FC236}">
                            <a16:creationId xmlns:a16="http://schemas.microsoft.com/office/drawing/2014/main" id="{4F0A48FF-087B-401A-A1C0-B05A20AB04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" y="2938874"/>
                        <a:ext cx="3386138" cy="484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634A4E3-99FF-446C-B538-EEB04B444A59}"/>
              </a:ext>
            </a:extLst>
          </p:cNvPr>
          <p:cNvSpPr txBox="1"/>
          <p:nvPr/>
        </p:nvSpPr>
        <p:spPr>
          <a:xfrm>
            <a:off x="5020089" y="2154044"/>
            <a:ext cx="6096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Write Cost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E82F12-83A0-41DB-95CA-499D92D2AECC}"/>
              </a:ext>
            </a:extLst>
          </p:cNvPr>
          <p:cNvSpPr txBox="1"/>
          <p:nvPr/>
        </p:nvSpPr>
        <p:spPr>
          <a:xfrm>
            <a:off x="7496629" y="1284514"/>
            <a:ext cx="6096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Write Cost</a:t>
            </a: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87DED354-EA88-44FF-8D62-BCD66BE66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089" y="870857"/>
            <a:ext cx="3464461" cy="2566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0F00AE-A6C5-45A0-8EDD-ADEFD68793AE}"/>
              </a:ext>
            </a:extLst>
          </p:cNvPr>
          <p:cNvSpPr txBox="1"/>
          <p:nvPr/>
        </p:nvSpPr>
        <p:spPr>
          <a:xfrm>
            <a:off x="4489411" y="4344813"/>
            <a:ext cx="441234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Discussion: </a:t>
            </a:r>
            <a:r>
              <a:rPr lang="en-US" sz="1800" dirty="0"/>
              <a:t>Explain how the above query is executed using pipelining and compare the cost with materialization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AAD5A-87F3-45C7-BF0F-66EA916206E3}"/>
              </a:ext>
            </a:extLst>
          </p:cNvPr>
          <p:cNvSpPr txBox="1"/>
          <p:nvPr/>
        </p:nvSpPr>
        <p:spPr>
          <a:xfrm>
            <a:off x="4833259" y="191935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FBA38-336F-47A4-AE67-CAF1048781BE}"/>
              </a:ext>
            </a:extLst>
          </p:cNvPr>
          <p:cNvSpPr txBox="1"/>
          <p:nvPr/>
        </p:nvSpPr>
        <p:spPr>
          <a:xfrm>
            <a:off x="7362847" y="1084459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087A7-986C-4A0E-995F-3E5F4C0B99F3}"/>
              </a:ext>
            </a:extLst>
          </p:cNvPr>
          <p:cNvSpPr txBox="1"/>
          <p:nvPr/>
        </p:nvSpPr>
        <p:spPr>
          <a:xfrm>
            <a:off x="4310743" y="3712311"/>
            <a:ext cx="5167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ym typeface="Symbol" panose="05050102010706020507" pitchFamily="18" charset="2"/>
              </a:rPr>
              <a:t></a:t>
            </a:r>
            <a:r>
              <a:rPr lang="en-US" sz="1800" baseline="-25000" dirty="0">
                <a:sym typeface="Symbol" panose="05050102010706020507" pitchFamily="18" charset="2"/>
              </a:rPr>
              <a:t>name</a:t>
            </a:r>
            <a:r>
              <a:rPr lang="en-US" sz="1800" dirty="0">
                <a:sym typeface="Symbol" panose="05050102010706020507" pitchFamily="18" charset="2"/>
              </a:rPr>
              <a:t>((</a:t>
            </a:r>
            <a:r>
              <a:rPr lang="en-US" sz="1800" baseline="-25000" dirty="0">
                <a:sym typeface="Symbol" panose="05050102010706020507" pitchFamily="18" charset="2"/>
              </a:rPr>
              <a:t>building = ‘Watson’</a:t>
            </a:r>
            <a:r>
              <a:rPr lang="en-US" sz="1800" dirty="0">
                <a:sym typeface="Symbol" panose="05050102010706020507" pitchFamily="18" charset="2"/>
              </a:rPr>
              <a:t>(department)) 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⨝ instructor)</a:t>
            </a:r>
            <a:endParaRPr lang="en-US" sz="1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4FC4CFD-13EB-076E-7037-1D06872384A2}"/>
                  </a:ext>
                </a:extLst>
              </p14:cNvPr>
              <p14:cNvContentPartPr/>
              <p14:nvPr/>
            </p14:nvContentPartPr>
            <p14:xfrm>
              <a:off x="348480" y="919800"/>
              <a:ext cx="4304520" cy="839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4FC4CFD-13EB-076E-7037-1D06872384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9120" y="910440"/>
                <a:ext cx="4323240" cy="85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050">
            <a:extLst>
              <a:ext uri="{FF2B5EF4-FFF2-40B4-BE49-F238E27FC236}">
                <a16:creationId xmlns:a16="http://schemas.microsoft.com/office/drawing/2014/main" id="{08BE99F7-675F-4CF6-B440-2AF8B1C37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</a:t>
            </a:r>
          </a:p>
        </p:txBody>
      </p:sp>
      <p:sp>
        <p:nvSpPr>
          <p:cNvPr id="106499" name="Rectangle 2051">
            <a:extLst>
              <a:ext uri="{FF2B5EF4-FFF2-40B4-BE49-F238E27FC236}">
                <a16:creationId xmlns:a16="http://schemas.microsoft.com/office/drawing/2014/main" id="{96D60249-A125-4E6A-AC6B-5F3808DCA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1686" y="1191491"/>
            <a:ext cx="3618144" cy="4475018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>
                <a:ea typeface="MS PGothic" panose="020B0600070205080204" pitchFamily="34" charset="-128"/>
              </a:rPr>
              <a:t>Pipelining may not always be possible – e.g., sort, hash-join. </a:t>
            </a:r>
          </a:p>
          <a:p>
            <a:pPr>
              <a:lnSpc>
                <a:spcPct val="90000"/>
              </a:lnSpc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>
                <a:ea typeface="MS PGothic" panose="020B0600070205080204" pitchFamily="34" charset="-128"/>
              </a:rPr>
              <a:t>For pipelining to be effective, use evaluation algorithms that generate output tuples even as tuples are received for inputs to the operation. </a:t>
            </a:r>
          </a:p>
          <a:p>
            <a:pPr>
              <a:lnSpc>
                <a:spcPct val="90000"/>
              </a:lnSpc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>
                <a:ea typeface="MS PGothic" panose="020B0600070205080204" pitchFamily="34" charset="-128"/>
              </a:rPr>
              <a:t> can be executed in two ways:  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demand driven</a:t>
            </a:r>
            <a:r>
              <a:rPr lang="en-US" altLang="en-US" sz="18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</a:rPr>
              <a:t>and 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producer driven</a:t>
            </a:r>
            <a:r>
              <a:rPr lang="en-US" altLang="en-US" sz="18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CE2CC-FE1E-43FB-A48F-4384414E7483}"/>
              </a:ext>
            </a:extLst>
          </p:cNvPr>
          <p:cNvSpPr txBox="1"/>
          <p:nvPr/>
        </p:nvSpPr>
        <p:spPr>
          <a:xfrm>
            <a:off x="4572000" y="1191491"/>
            <a:ext cx="439782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Discussion: </a:t>
            </a:r>
            <a:r>
              <a:rPr lang="en-US" sz="1800" dirty="0"/>
              <a:t>Explain why p</a:t>
            </a:r>
            <a:r>
              <a:rPr lang="en-US" altLang="en-US" sz="1800" dirty="0">
                <a:ea typeface="MS PGothic" panose="020B0600070205080204" pitchFamily="34" charset="-128"/>
              </a:rPr>
              <a:t>ipelining may not be possible  in case of database sorting</a:t>
            </a:r>
            <a:r>
              <a:rPr lang="en-US" altLang="en-US" sz="1800" dirty="0"/>
              <a:t>.</a:t>
            </a:r>
            <a:endParaRPr lang="en-US" sz="1800" dirty="0"/>
          </a:p>
          <a:p>
            <a:endParaRPr lang="en-US" sz="1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1F1639-E8CE-316A-AC86-33F89761911E}"/>
                  </a:ext>
                </a:extLst>
              </p14:cNvPr>
              <p14:cNvContentPartPr/>
              <p14:nvPr/>
            </p14:nvContentPartPr>
            <p14:xfrm>
              <a:off x="1036080" y="3384360"/>
              <a:ext cx="991440" cy="5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1F1639-E8CE-316A-AC86-33F8976191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6720" y="3375000"/>
                <a:ext cx="10101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512834-1C1C-C1F1-0056-24564B89082A}"/>
                  </a:ext>
                </a:extLst>
              </p14:cNvPr>
              <p14:cNvContentPartPr/>
              <p14:nvPr/>
            </p14:nvContentPartPr>
            <p14:xfrm>
              <a:off x="1393200" y="1669680"/>
              <a:ext cx="2438280" cy="1545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512834-1C1C-C1F1-0056-24564B8908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3840" y="1660320"/>
                <a:ext cx="2457000" cy="156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044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3D969869-47E9-4D95-B1BC-52547E73B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 (Cont.)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0F65DC46-5F18-44FC-BC85-911914755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3200" y="1154363"/>
            <a:ext cx="3889829" cy="4961419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In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demand driven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or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lazy</a:t>
            </a:r>
            <a:r>
              <a:rPr lang="en-US" altLang="en-US" b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evaluation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system repeatedly requests next tuple  from top level operation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Each operation requests  next tuple from children operations as required, in order to output its next tuple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In between calls, operation has to maintain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b="1" dirty="0">
                <a:solidFill>
                  <a:srgbClr val="002060"/>
                </a:solidFill>
                <a:ea typeface="MS PGothic" panose="020B0600070205080204" pitchFamily="34" charset="-128"/>
              </a:rPr>
              <a:t>state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so it knows what to return next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Alternative name: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pull</a:t>
            </a:r>
            <a:r>
              <a:rPr lang="en-US" altLang="en-US" dirty="0">
                <a:ea typeface="MS PGothic" panose="020B0600070205080204" pitchFamily="34" charset="-128"/>
              </a:rPr>
              <a:t> model of pipelining</a:t>
            </a:r>
          </a:p>
          <a:p>
            <a:pPr lvl="1"/>
            <a:endParaRPr lang="en-US" altLang="ja-JP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F2FF171F-7FD7-44CF-9A43-A106740BF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973" y="1494971"/>
            <a:ext cx="3464461" cy="2566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72B838F-2EE7-4ED8-8F0F-281B6AABC0AC}"/>
              </a:ext>
            </a:extLst>
          </p:cNvPr>
          <p:cNvGrpSpPr/>
          <p:nvPr/>
        </p:nvGrpSpPr>
        <p:grpSpPr>
          <a:xfrm>
            <a:off x="7026076" y="485873"/>
            <a:ext cx="1189919" cy="774460"/>
            <a:chOff x="7185730" y="485873"/>
            <a:chExt cx="1189919" cy="7744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43F438-1823-4DA8-9999-C29591573C20}"/>
                </a:ext>
              </a:extLst>
            </p:cNvPr>
            <p:cNvSpPr txBox="1"/>
            <p:nvPr/>
          </p:nvSpPr>
          <p:spPr>
            <a:xfrm>
              <a:off x="7185730" y="485873"/>
              <a:ext cx="11899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Output-1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4F7AB43-2054-44F0-8614-B9D7B76036DB}"/>
                </a:ext>
              </a:extLst>
            </p:cNvPr>
            <p:cNvCxnSpPr/>
            <p:nvPr/>
          </p:nvCxnSpPr>
          <p:spPr bwMode="auto">
            <a:xfrm>
              <a:off x="7586520" y="824427"/>
              <a:ext cx="0" cy="4359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2F51B7-F387-43E4-9838-64A6B32251B0}"/>
              </a:ext>
            </a:extLst>
          </p:cNvPr>
          <p:cNvGrpSpPr/>
          <p:nvPr/>
        </p:nvGrpSpPr>
        <p:grpSpPr>
          <a:xfrm>
            <a:off x="7074071" y="1260333"/>
            <a:ext cx="928914" cy="800696"/>
            <a:chOff x="7074071" y="1260333"/>
            <a:chExt cx="928914" cy="80069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F09A48-03D9-4DA5-90DA-C74256D5FBF8}"/>
                </a:ext>
              </a:extLst>
            </p:cNvPr>
            <p:cNvSpPr txBox="1"/>
            <p:nvPr/>
          </p:nvSpPr>
          <p:spPr>
            <a:xfrm>
              <a:off x="7074071" y="1260333"/>
              <a:ext cx="9289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Tuple 1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62E2C32-CF10-4CD9-A166-01C4D14BE5DC}"/>
                </a:ext>
              </a:extLst>
            </p:cNvPr>
            <p:cNvCxnSpPr/>
            <p:nvPr/>
          </p:nvCxnSpPr>
          <p:spPr bwMode="auto">
            <a:xfrm>
              <a:off x="7416800" y="1598887"/>
              <a:ext cx="0" cy="4621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0C02A8-E2D2-4B19-AB84-FCB5C75F8B28}"/>
              </a:ext>
            </a:extLst>
          </p:cNvPr>
          <p:cNvGrpSpPr/>
          <p:nvPr/>
        </p:nvGrpSpPr>
        <p:grpSpPr>
          <a:xfrm>
            <a:off x="4506688" y="2973804"/>
            <a:ext cx="928914" cy="825813"/>
            <a:chOff x="4506688" y="2973804"/>
            <a:chExt cx="928914" cy="82581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4CC102-A2C0-42A0-AAFD-B371F8078FCA}"/>
                </a:ext>
              </a:extLst>
            </p:cNvPr>
            <p:cNvSpPr txBox="1"/>
            <p:nvPr/>
          </p:nvSpPr>
          <p:spPr>
            <a:xfrm>
              <a:off x="4506688" y="2973804"/>
              <a:ext cx="9289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Tuple 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E12B206-6B33-47CB-ABBD-E79D226A08C5}"/>
                </a:ext>
              </a:extLst>
            </p:cNvPr>
            <p:cNvCxnSpPr/>
            <p:nvPr/>
          </p:nvCxnSpPr>
          <p:spPr bwMode="auto">
            <a:xfrm>
              <a:off x="4949371" y="3328490"/>
              <a:ext cx="0" cy="4711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A8AFCD-CD9C-411B-95BE-90DB3C11A0CB}"/>
              </a:ext>
            </a:extLst>
          </p:cNvPr>
          <p:cNvGrpSpPr/>
          <p:nvPr/>
        </p:nvGrpSpPr>
        <p:grpSpPr>
          <a:xfrm>
            <a:off x="5631543" y="2034793"/>
            <a:ext cx="2516582" cy="774460"/>
            <a:chOff x="5631543" y="2034793"/>
            <a:chExt cx="2516582" cy="774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7FB23D-CF3E-4DD5-A37E-375D2DFA7C03}"/>
                </a:ext>
              </a:extLst>
            </p:cNvPr>
            <p:cNvSpPr txBox="1"/>
            <p:nvPr/>
          </p:nvSpPr>
          <p:spPr>
            <a:xfrm>
              <a:off x="6437086" y="2034793"/>
              <a:ext cx="9289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Tuple 1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7E8795A-0194-43B3-822B-FDCCF8C41CA8}"/>
                </a:ext>
              </a:extLst>
            </p:cNvPr>
            <p:cNvCxnSpPr/>
            <p:nvPr/>
          </p:nvCxnSpPr>
          <p:spPr bwMode="auto">
            <a:xfrm flipH="1">
              <a:off x="5631543" y="2373347"/>
              <a:ext cx="805543" cy="4048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9B409E2-D608-4C05-A43B-76747F64EE1D}"/>
                </a:ext>
              </a:extLst>
            </p:cNvPr>
            <p:cNvCxnSpPr/>
            <p:nvPr/>
          </p:nvCxnSpPr>
          <p:spPr bwMode="auto">
            <a:xfrm>
              <a:off x="7219211" y="2373347"/>
              <a:ext cx="928914" cy="4359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45A8A06-39D2-B17C-902B-96714BABB170}"/>
                  </a:ext>
                </a:extLst>
              </p14:cNvPr>
              <p14:cNvContentPartPr/>
              <p14:nvPr/>
            </p14:nvContentPartPr>
            <p14:xfrm>
              <a:off x="1161000" y="5000760"/>
              <a:ext cx="2491560" cy="268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45A8A06-39D2-B17C-902B-96714BABB1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1640" y="4991400"/>
                <a:ext cx="25102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747654-19DD-B575-1242-9507CB1A8B69}"/>
                  </a:ext>
                </a:extLst>
              </p14:cNvPr>
              <p14:cNvContentPartPr/>
              <p14:nvPr/>
            </p14:nvContentPartPr>
            <p14:xfrm>
              <a:off x="1027080" y="3768480"/>
              <a:ext cx="1107720" cy="71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747654-19DD-B575-1242-9507CB1A8B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7720" y="3759120"/>
                <a:ext cx="1126440" cy="9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3D969869-47E9-4D95-B1BC-52547E73B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 (Cont.)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0F65DC46-5F18-44FC-BC85-911914755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576" y="831648"/>
            <a:ext cx="4086268" cy="4961419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sz="1800" dirty="0">
                <a:ea typeface="MS PGothic" panose="020B0600070205080204" pitchFamily="34" charset="-128"/>
              </a:rPr>
              <a:t>In 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producer-driven</a:t>
            </a:r>
            <a:r>
              <a:rPr lang="en-US" altLang="en-US" sz="1800" dirty="0">
                <a:ea typeface="MS PGothic" panose="020B0600070205080204" pitchFamily="34" charset="-128"/>
              </a:rPr>
              <a:t> or 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eager</a:t>
            </a:r>
            <a:r>
              <a:rPr lang="en-US" altLang="en-US" sz="1800" dirty="0">
                <a:ea typeface="MS PGothic" panose="020B0600070205080204" pitchFamily="34" charset="-128"/>
              </a:rPr>
              <a:t> pipelining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Operators produce tuples eagerly and pass them up to their parents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Buffer maintained between operators, child puts tuples in buffer, parent removes tuples from buffer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if buffer is full, child waits till there is space in the buffer, and then generates more tuples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System schedules operations that have space in output buffer and can process more input tuples</a:t>
            </a:r>
          </a:p>
          <a:p>
            <a:r>
              <a:rPr lang="en-US" altLang="en-US" sz="1800" dirty="0">
                <a:ea typeface="MS PGothic" panose="020B0600070205080204" pitchFamily="34" charset="-128"/>
              </a:rPr>
              <a:t>Alternative name: 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push</a:t>
            </a:r>
            <a:r>
              <a:rPr lang="en-US" altLang="en-US" sz="1800" dirty="0">
                <a:ea typeface="MS PGothic" panose="020B0600070205080204" pitchFamily="34" charset="-128"/>
              </a:rPr>
              <a:t> model of pipelining</a:t>
            </a:r>
          </a:p>
          <a:p>
            <a:pPr marL="57150" indent="0">
              <a:buNone/>
            </a:pPr>
            <a:endParaRPr lang="en-US" altLang="ja-JP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F2FF171F-7FD7-44CF-9A43-A106740BF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973" y="1494971"/>
            <a:ext cx="3464461" cy="2566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72B838F-2EE7-4ED8-8F0F-281B6AABC0AC}"/>
              </a:ext>
            </a:extLst>
          </p:cNvPr>
          <p:cNvGrpSpPr/>
          <p:nvPr/>
        </p:nvGrpSpPr>
        <p:grpSpPr>
          <a:xfrm>
            <a:off x="7026076" y="485873"/>
            <a:ext cx="1189919" cy="774460"/>
            <a:chOff x="7185730" y="485873"/>
            <a:chExt cx="1189919" cy="7744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43F438-1823-4DA8-9999-C29591573C20}"/>
                </a:ext>
              </a:extLst>
            </p:cNvPr>
            <p:cNvSpPr txBox="1"/>
            <p:nvPr/>
          </p:nvSpPr>
          <p:spPr>
            <a:xfrm>
              <a:off x="7185730" y="485873"/>
              <a:ext cx="11899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Output-1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4F7AB43-2054-44F0-8614-B9D7B76036DB}"/>
                </a:ext>
              </a:extLst>
            </p:cNvPr>
            <p:cNvCxnSpPr/>
            <p:nvPr/>
          </p:nvCxnSpPr>
          <p:spPr bwMode="auto">
            <a:xfrm>
              <a:off x="7586520" y="824427"/>
              <a:ext cx="0" cy="4359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2F51B7-F387-43E4-9838-64A6B32251B0}"/>
              </a:ext>
            </a:extLst>
          </p:cNvPr>
          <p:cNvGrpSpPr/>
          <p:nvPr/>
        </p:nvGrpSpPr>
        <p:grpSpPr>
          <a:xfrm>
            <a:off x="7074071" y="1260333"/>
            <a:ext cx="928914" cy="800696"/>
            <a:chOff x="7074071" y="1260333"/>
            <a:chExt cx="928914" cy="80069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F09A48-03D9-4DA5-90DA-C74256D5FBF8}"/>
                </a:ext>
              </a:extLst>
            </p:cNvPr>
            <p:cNvSpPr txBox="1"/>
            <p:nvPr/>
          </p:nvSpPr>
          <p:spPr>
            <a:xfrm>
              <a:off x="7074071" y="1260333"/>
              <a:ext cx="9289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Tuple 1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62E2C32-CF10-4CD9-A166-01C4D14BE5DC}"/>
                </a:ext>
              </a:extLst>
            </p:cNvPr>
            <p:cNvCxnSpPr/>
            <p:nvPr/>
          </p:nvCxnSpPr>
          <p:spPr bwMode="auto">
            <a:xfrm>
              <a:off x="7416800" y="1598887"/>
              <a:ext cx="0" cy="4621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3AF27B5-A902-41A1-9D46-50907F179C3E}"/>
              </a:ext>
            </a:extLst>
          </p:cNvPr>
          <p:cNvGrpSpPr/>
          <p:nvPr/>
        </p:nvGrpSpPr>
        <p:grpSpPr>
          <a:xfrm>
            <a:off x="5699413" y="2017037"/>
            <a:ext cx="2516582" cy="774460"/>
            <a:chOff x="5767785" y="4823207"/>
            <a:chExt cx="2516582" cy="774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7FB23D-CF3E-4DD5-A37E-375D2DFA7C03}"/>
                </a:ext>
              </a:extLst>
            </p:cNvPr>
            <p:cNvSpPr txBox="1"/>
            <p:nvPr/>
          </p:nvSpPr>
          <p:spPr>
            <a:xfrm>
              <a:off x="6573328" y="4823207"/>
              <a:ext cx="9289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Tuple 1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7E8795A-0194-43B3-822B-FDCCF8C41CA8}"/>
                </a:ext>
              </a:extLst>
            </p:cNvPr>
            <p:cNvCxnSpPr/>
            <p:nvPr/>
          </p:nvCxnSpPr>
          <p:spPr bwMode="auto">
            <a:xfrm flipH="1">
              <a:off x="5767785" y="5161761"/>
              <a:ext cx="805543" cy="4048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9B409E2-D608-4C05-A43B-76747F64EE1D}"/>
                </a:ext>
              </a:extLst>
            </p:cNvPr>
            <p:cNvCxnSpPr/>
            <p:nvPr/>
          </p:nvCxnSpPr>
          <p:spPr bwMode="auto">
            <a:xfrm>
              <a:off x="7355453" y="5161761"/>
              <a:ext cx="928914" cy="4359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448009-F6B1-472B-BAC9-6E0FA31CF3CF}"/>
              </a:ext>
            </a:extLst>
          </p:cNvPr>
          <p:cNvGrpSpPr/>
          <p:nvPr/>
        </p:nvGrpSpPr>
        <p:grpSpPr>
          <a:xfrm>
            <a:off x="4567096" y="3236686"/>
            <a:ext cx="928914" cy="714301"/>
            <a:chOff x="4567096" y="3236686"/>
            <a:chExt cx="928914" cy="7143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4CC102-A2C0-42A0-AAFD-B371F8078FCA}"/>
                </a:ext>
              </a:extLst>
            </p:cNvPr>
            <p:cNvSpPr txBox="1"/>
            <p:nvPr/>
          </p:nvSpPr>
          <p:spPr>
            <a:xfrm>
              <a:off x="4567096" y="3612433"/>
              <a:ext cx="9289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Tuple 1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EECF7A9-8EEF-40D1-9614-FD6563CE9F84}"/>
                </a:ext>
              </a:extLst>
            </p:cNvPr>
            <p:cNvCxnSpPr/>
            <p:nvPr/>
          </p:nvCxnSpPr>
          <p:spPr bwMode="auto">
            <a:xfrm flipV="1">
              <a:off x="5050973" y="3236686"/>
              <a:ext cx="0" cy="37574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CEEB7E4-8A7A-4612-AB27-30FF219AE14F}"/>
              </a:ext>
            </a:extLst>
          </p:cNvPr>
          <p:cNvSpPr txBox="1"/>
          <p:nvPr/>
        </p:nvSpPr>
        <p:spPr>
          <a:xfrm>
            <a:off x="4567096" y="4583411"/>
            <a:ext cx="43978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Discussion: </a:t>
            </a:r>
            <a:r>
              <a:rPr lang="en-US" sz="1800" dirty="0"/>
              <a:t>Give a comparison between pull and push model of pipelining</a:t>
            </a:r>
          </a:p>
          <a:p>
            <a:endParaRPr lang="en-US" sz="1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15CBA3-8343-5F1F-BEF1-08C7107760C0}"/>
                  </a:ext>
                </a:extLst>
              </p14:cNvPr>
              <p14:cNvContentPartPr/>
              <p14:nvPr/>
            </p14:nvContentPartPr>
            <p14:xfrm>
              <a:off x="857520" y="1187640"/>
              <a:ext cx="2563200" cy="3116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15CBA3-8343-5F1F-BEF1-08C7107760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8160" y="1178280"/>
                <a:ext cx="2581920" cy="31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6A80F0-2C8F-2B25-CBF2-D7EE568F1B7E}"/>
                  </a:ext>
                </a:extLst>
              </p14:cNvPr>
              <p14:cNvContentPartPr/>
              <p14:nvPr/>
            </p14:nvContentPartPr>
            <p14:xfrm>
              <a:off x="330480" y="2027160"/>
              <a:ext cx="4045680" cy="3509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6A80F0-2C8F-2B25-CBF2-D7EE568F1B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120" y="2017800"/>
                <a:ext cx="4064400" cy="352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893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72305</TotalTime>
  <Words>5342</Words>
  <Application>Microsoft Office PowerPoint</Application>
  <PresentationFormat>On-screen Show (4:3)</PresentationFormat>
  <Paragraphs>922</Paragraphs>
  <Slides>41</Slides>
  <Notes>41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Arial</vt:lpstr>
      <vt:lpstr>Calibri</vt:lpstr>
      <vt:lpstr>Helvetica</vt:lpstr>
      <vt:lpstr>Monotype Sorts</vt:lpstr>
      <vt:lpstr>Times New Roman</vt:lpstr>
      <vt:lpstr>Webdings</vt:lpstr>
      <vt:lpstr>Wingdings</vt:lpstr>
      <vt:lpstr>db</vt:lpstr>
      <vt:lpstr>Equation</vt:lpstr>
      <vt:lpstr>Query Processing</vt:lpstr>
      <vt:lpstr>Query Processing</vt:lpstr>
      <vt:lpstr>Join Operation</vt:lpstr>
      <vt:lpstr>Nested-Loop Join</vt:lpstr>
      <vt:lpstr>Nested-Loop Join</vt:lpstr>
      <vt:lpstr>Nested-Loop Join</vt:lpstr>
      <vt:lpstr>Nested-Loop Join</vt:lpstr>
      <vt:lpstr>Nested-Loop Join</vt:lpstr>
      <vt:lpstr>Nested-Loop Join</vt:lpstr>
      <vt:lpstr>Nested-Loop Join</vt:lpstr>
      <vt:lpstr>Nested-Loop Join</vt:lpstr>
      <vt:lpstr>Block Nested-Loop Join</vt:lpstr>
      <vt:lpstr>Block Nested-Loop Join</vt:lpstr>
      <vt:lpstr>Block Nested-Loop Join</vt:lpstr>
      <vt:lpstr>Block Nested-Loop Join</vt:lpstr>
      <vt:lpstr>Block Nested-Loop Join</vt:lpstr>
      <vt:lpstr>Block Nested-Loop Join</vt:lpstr>
      <vt:lpstr>Block Nested-Loop Join</vt:lpstr>
      <vt:lpstr>Block Nested-Loop Join</vt:lpstr>
      <vt:lpstr>Block Nested-Loop Join</vt:lpstr>
      <vt:lpstr>Hash-Join</vt:lpstr>
      <vt:lpstr>Hash-Join (Cont.)</vt:lpstr>
      <vt:lpstr>Hash-Join (Cont.)</vt:lpstr>
      <vt:lpstr>PowerPoint Presentation</vt:lpstr>
      <vt:lpstr>PowerPoint Presentation</vt:lpstr>
      <vt:lpstr>Hash-Join algorithm (Cont.)</vt:lpstr>
      <vt:lpstr>Handling of Overflows</vt:lpstr>
      <vt:lpstr>Cost of Hash-Join (Self-Study)</vt:lpstr>
      <vt:lpstr>Example of Cost of Hash-Join (Self-Study)</vt:lpstr>
      <vt:lpstr>Evaluation of Expressions</vt:lpstr>
      <vt:lpstr>Materialization</vt:lpstr>
      <vt:lpstr>Materialization</vt:lpstr>
      <vt:lpstr>Materialization (Cont.)</vt:lpstr>
      <vt:lpstr>Materialization (Cont.)</vt:lpstr>
      <vt:lpstr>Materialization (Cont.)</vt:lpstr>
      <vt:lpstr>Materialization (Cont.)</vt:lpstr>
      <vt:lpstr>Materialization (Cont.)</vt:lpstr>
      <vt:lpstr>Pipelining</vt:lpstr>
      <vt:lpstr>Pipelining</vt:lpstr>
      <vt:lpstr>Pipelining (Cont.)</vt:lpstr>
      <vt:lpstr>Pipelining (Cont.)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716</cp:revision>
  <cp:lastPrinted>1999-06-28T19:27:31Z</cp:lastPrinted>
  <dcterms:created xsi:type="dcterms:W3CDTF">2000-02-23T18:58:38Z</dcterms:created>
  <dcterms:modified xsi:type="dcterms:W3CDTF">2022-10-18T18:52:51Z</dcterms:modified>
</cp:coreProperties>
</file>