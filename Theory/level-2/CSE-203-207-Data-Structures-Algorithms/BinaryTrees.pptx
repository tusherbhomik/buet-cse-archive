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60" r:id="rId2"/>
    <p:sldId id="261" r:id="rId3"/>
    <p:sldId id="262" r:id="rId4"/>
    <p:sldId id="354" r:id="rId5"/>
    <p:sldId id="349" r:id="rId6"/>
    <p:sldId id="350" r:id="rId7"/>
    <p:sldId id="351" r:id="rId8"/>
    <p:sldId id="355" r:id="rId9"/>
    <p:sldId id="356" r:id="rId10"/>
    <p:sldId id="357" r:id="rId11"/>
    <p:sldId id="358" r:id="rId12"/>
    <p:sldId id="359" r:id="rId13"/>
    <p:sldId id="360" r:id="rId14"/>
    <p:sldId id="263" r:id="rId15"/>
    <p:sldId id="361" r:id="rId16"/>
    <p:sldId id="264" r:id="rId17"/>
    <p:sldId id="286" r:id="rId18"/>
    <p:sldId id="287" r:id="rId19"/>
    <p:sldId id="285" r:id="rId20"/>
    <p:sldId id="266" r:id="rId21"/>
    <p:sldId id="362" r:id="rId22"/>
    <p:sldId id="267" r:id="rId23"/>
    <p:sldId id="363" r:id="rId24"/>
    <p:sldId id="364" r:id="rId25"/>
    <p:sldId id="365" r:id="rId26"/>
    <p:sldId id="366" r:id="rId27"/>
    <p:sldId id="368" r:id="rId28"/>
    <p:sldId id="297" r:id="rId29"/>
    <p:sldId id="298" r:id="rId30"/>
    <p:sldId id="299" r:id="rId31"/>
    <p:sldId id="300" r:id="rId32"/>
    <p:sldId id="301" r:id="rId33"/>
    <p:sldId id="302" r:id="rId34"/>
    <p:sldId id="303" r:id="rId35"/>
    <p:sldId id="304" r:id="rId36"/>
    <p:sldId id="305" r:id="rId37"/>
    <p:sldId id="306" r:id="rId38"/>
    <p:sldId id="307" r:id="rId39"/>
    <p:sldId id="309" r:id="rId40"/>
    <p:sldId id="310" r:id="rId41"/>
    <p:sldId id="311" r:id="rId42"/>
    <p:sldId id="312" r:id="rId43"/>
    <p:sldId id="313" r:id="rId44"/>
    <p:sldId id="314" r:id="rId45"/>
    <p:sldId id="315" r:id="rId46"/>
    <p:sldId id="316" r:id="rId47"/>
    <p:sldId id="317" r:id="rId48"/>
    <p:sldId id="326" r:id="rId49"/>
    <p:sldId id="308" r:id="rId50"/>
    <p:sldId id="318" r:id="rId51"/>
    <p:sldId id="319" r:id="rId52"/>
    <p:sldId id="320" r:id="rId53"/>
    <p:sldId id="321" r:id="rId54"/>
    <p:sldId id="322" r:id="rId55"/>
    <p:sldId id="323" r:id="rId56"/>
    <p:sldId id="324" r:id="rId57"/>
    <p:sldId id="325" r:id="rId58"/>
    <p:sldId id="270" r:id="rId59"/>
    <p:sldId id="327" r:id="rId60"/>
    <p:sldId id="328" r:id="rId61"/>
    <p:sldId id="329" r:id="rId62"/>
    <p:sldId id="271" r:id="rId63"/>
    <p:sldId id="331" r:id="rId64"/>
    <p:sldId id="332" r:id="rId65"/>
    <p:sldId id="272" r:id="rId66"/>
    <p:sldId id="333" r:id="rId67"/>
    <p:sldId id="334" r:id="rId68"/>
    <p:sldId id="273" r:id="rId69"/>
    <p:sldId id="335" r:id="rId70"/>
    <p:sldId id="336" r:id="rId71"/>
    <p:sldId id="337" r:id="rId72"/>
    <p:sldId id="277" r:id="rId73"/>
    <p:sldId id="338" r:id="rId74"/>
    <p:sldId id="339" r:id="rId75"/>
    <p:sldId id="340" r:id="rId76"/>
    <p:sldId id="369" r:id="rId77"/>
    <p:sldId id="341" r:id="rId78"/>
    <p:sldId id="342" r:id="rId79"/>
    <p:sldId id="283" r:id="rId80"/>
    <p:sldId id="344" r:id="rId81"/>
    <p:sldId id="345" r:id="rId82"/>
    <p:sldId id="346" r:id="rId83"/>
    <p:sldId id="347" r:id="rId84"/>
    <p:sldId id="348"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6" d="100"/>
          <a:sy n="46" d="100"/>
        </p:scale>
        <p:origin x="131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0C709E-49C7-471B-8690-233A750113D0}" type="datetimeFigureOut">
              <a:rPr lang="en-US" smtClean="0"/>
              <a:pPr/>
              <a:t>12/5/2021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300921-1AEB-4668-A863-59A9421F452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7"/>
          <p:cNvSpPr>
            <a:spLocks noGrp="1" noChangeArrowheads="1"/>
          </p:cNvSpPr>
          <p:nvPr>
            <p:ph type="sldNum" sz="quarter" idx="5"/>
          </p:nvPr>
        </p:nvSpPr>
        <p:spPr>
          <a:noFill/>
        </p:spPr>
        <p:txBody>
          <a:bodyPr/>
          <a:lstStyle/>
          <a:p>
            <a:fld id="{66E1ECD2-5C21-4B08-B237-00A445752136}" type="slidenum">
              <a:rPr lang="en-US" smtClean="0"/>
              <a:pPr/>
              <a:t>2</a:t>
            </a:fld>
            <a:endParaRPr lang="en-US" smtClean="0"/>
          </a:p>
        </p:txBody>
      </p:sp>
      <p:sp>
        <p:nvSpPr>
          <p:cNvPr id="468995" name="Rectangle 2"/>
          <p:cNvSpPr>
            <a:spLocks noGrp="1" noRot="1" noChangeAspect="1" noChangeArrowheads="1" noTextEdit="1"/>
          </p:cNvSpPr>
          <p:nvPr>
            <p:ph type="sldImg"/>
          </p:nvPr>
        </p:nvSpPr>
        <p:spPr>
          <a:solidFill>
            <a:srgbClr val="FFFFFF"/>
          </a:solidFill>
          <a:ln/>
        </p:spPr>
      </p:sp>
      <p:sp>
        <p:nvSpPr>
          <p:cNvPr id="468996" name="Rectangle 3"/>
          <p:cNvSpPr>
            <a:spLocks noGrp="1" noChangeArrowheads="1"/>
          </p:cNvSpPr>
          <p:nvPr>
            <p:ph type="body" idx="1"/>
          </p:nvPr>
        </p:nvSpPr>
        <p:spPr>
          <a:solidFill>
            <a:srgbClr val="FFFFFF"/>
          </a:solidFill>
          <a:ln>
            <a:solidFill>
              <a:srgbClr val="000000"/>
            </a:solidFill>
          </a:ln>
        </p:spPr>
        <p:txBody>
          <a:bodyPr/>
          <a:lstStyle/>
          <a:p>
            <a:r>
              <a:rPr lang="en-US" smtClean="0"/>
              <a:t>Note that this means every node has two children, either or both of which can be empty. Technically, leaf nodes have two empty children.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3</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smtClean="0"/>
              <a:t>A has depth 0.  B and C form level 1.  The tree has height 4.  Height = max depth + 1.</a:t>
            </a:r>
          </a:p>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4</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smtClean="0"/>
              <a:t>A has depth 0.  B and C form level 1.  The tree has height 4.  Height = max depth + 1.</a:t>
            </a:r>
          </a:p>
          <a:p>
            <a:endParaRPr lang="en-US" smtClean="0"/>
          </a:p>
        </p:txBody>
      </p:sp>
    </p:spTree>
    <p:extLst>
      <p:ext uri="{BB962C8B-B14F-4D97-AF65-F5344CB8AC3E}">
        <p14:creationId xmlns:p14="http://schemas.microsoft.com/office/powerpoint/2010/main" val="1928448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5</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smtClean="0"/>
              <a:t>A has depth 0.  B and C form level 1.  The tree has height 4.  Height = max depth + 1.</a:t>
            </a:r>
          </a:p>
          <a:p>
            <a:endParaRPr lang="en-US" smtClean="0"/>
          </a:p>
        </p:txBody>
      </p:sp>
    </p:spTree>
    <p:extLst>
      <p:ext uri="{BB962C8B-B14F-4D97-AF65-F5344CB8AC3E}">
        <p14:creationId xmlns:p14="http://schemas.microsoft.com/office/powerpoint/2010/main" val="1814743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6</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smtClean="0"/>
              <a:t>A has depth 0.  B and C form level 1.  The tree has height 4.  Height = max depth + 1.</a:t>
            </a:r>
          </a:p>
          <a:p>
            <a:endParaRPr lang="en-US" smtClean="0"/>
          </a:p>
        </p:txBody>
      </p:sp>
    </p:spTree>
    <p:extLst>
      <p:ext uri="{BB962C8B-B14F-4D97-AF65-F5344CB8AC3E}">
        <p14:creationId xmlns:p14="http://schemas.microsoft.com/office/powerpoint/2010/main" val="987786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7</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dirty="0" smtClean="0"/>
              <a:t>A has depth 0.  B and C form level 1.  The tree has height 4.  Height = max depth + 1.</a:t>
            </a:r>
          </a:p>
          <a:p>
            <a:endParaRPr lang="en-US" dirty="0" smtClean="0"/>
          </a:p>
        </p:txBody>
      </p:sp>
    </p:spTree>
    <p:extLst>
      <p:ext uri="{BB962C8B-B14F-4D97-AF65-F5344CB8AC3E}">
        <p14:creationId xmlns:p14="http://schemas.microsoft.com/office/powerpoint/2010/main" val="2858165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8</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dirty="0" smtClean="0"/>
              <a:t>A has depth 0.  B and C form level 1.  The tree has height 4.  Height = max depth + 1.</a:t>
            </a:r>
          </a:p>
          <a:p>
            <a:endParaRPr lang="en-US" dirty="0" smtClean="0"/>
          </a:p>
        </p:txBody>
      </p:sp>
    </p:spTree>
    <p:extLst>
      <p:ext uri="{BB962C8B-B14F-4D97-AF65-F5344CB8AC3E}">
        <p14:creationId xmlns:p14="http://schemas.microsoft.com/office/powerpoint/2010/main" val="410763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9</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dirty="0" smtClean="0"/>
              <a:t>A has depth 0.  B and C form level 1.  The tree has height 4.  Height = max depth + 1.</a:t>
            </a:r>
          </a:p>
          <a:p>
            <a:endParaRPr lang="en-US" dirty="0" smtClean="0"/>
          </a:p>
        </p:txBody>
      </p:sp>
    </p:spTree>
    <p:extLst>
      <p:ext uri="{BB962C8B-B14F-4D97-AF65-F5344CB8AC3E}">
        <p14:creationId xmlns:p14="http://schemas.microsoft.com/office/powerpoint/2010/main" val="3625787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10</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dirty="0" smtClean="0"/>
              <a:t>A has depth 0.  B and C form level 1.  The tree has height 4.  Height = max depth + 1.</a:t>
            </a:r>
          </a:p>
          <a:p>
            <a:endParaRPr lang="en-US" dirty="0" smtClean="0"/>
          </a:p>
        </p:txBody>
      </p:sp>
    </p:spTree>
    <p:extLst>
      <p:ext uri="{BB962C8B-B14F-4D97-AF65-F5344CB8AC3E}">
        <p14:creationId xmlns:p14="http://schemas.microsoft.com/office/powerpoint/2010/main" val="1357964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11</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smtClean="0"/>
              <a:t>A has depth 0.  B and C form level 1.  The tree has height 4.  Height = max depth + 1.</a:t>
            </a:r>
          </a:p>
          <a:p>
            <a:endParaRPr lang="en-US" smtClean="0"/>
          </a:p>
        </p:txBody>
      </p:sp>
    </p:spTree>
    <p:extLst>
      <p:ext uri="{BB962C8B-B14F-4D97-AF65-F5344CB8AC3E}">
        <p14:creationId xmlns:p14="http://schemas.microsoft.com/office/powerpoint/2010/main" val="460766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BA951406-EBF9-4F0D-AF17-69B330F60AFA}" type="slidenum">
              <a:rPr lang="en-US" smtClean="0"/>
              <a:pPr/>
              <a:t>12</a:t>
            </a:fld>
            <a:endParaRPr lang="en-US" smtClean="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r>
              <a:rPr lang="en-US" smtClean="0"/>
              <a:t>A has depth 0.  B and C form level 1.  The tree has height 4.  Height = max depth + 1.</a:t>
            </a:r>
          </a:p>
          <a:p>
            <a:endParaRPr lang="en-US" smtClean="0"/>
          </a:p>
        </p:txBody>
      </p:sp>
    </p:spTree>
    <p:extLst>
      <p:ext uri="{BB962C8B-B14F-4D97-AF65-F5344CB8AC3E}">
        <p14:creationId xmlns:p14="http://schemas.microsoft.com/office/powerpoint/2010/main" val="862596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p:cNvSpPr>
            <a:spLocks noGrp="1" noChangeArrowheads="1"/>
          </p:cNvSpPr>
          <p:nvPr>
            <p:ph type="sldNum" sz="quarter" idx="5"/>
          </p:nvPr>
        </p:nvSpPr>
        <p:spPr>
          <a:noFill/>
        </p:spPr>
        <p:txBody>
          <a:bodyPr/>
          <a:lstStyle/>
          <a:p>
            <a:fld id="{308FD619-071B-4FD4-8427-A22317E4382B}" type="slidenum">
              <a:rPr lang="en-US" smtClean="0"/>
              <a:pPr/>
              <a:t>14</a:t>
            </a:fld>
            <a:endParaRPr lang="en-US" smtClean="0"/>
          </a:p>
        </p:txBody>
      </p:sp>
      <p:sp>
        <p:nvSpPr>
          <p:cNvPr id="471043" name="Rectangle 2"/>
          <p:cNvSpPr>
            <a:spLocks noGrp="1" noRot="1" noChangeAspect="1" noChangeArrowheads="1" noTextEdit="1"/>
          </p:cNvSpPr>
          <p:nvPr>
            <p:ph type="sldImg"/>
          </p:nvPr>
        </p:nvSpPr>
        <p:spPr>
          <a:solidFill>
            <a:srgbClr val="FFFFFF"/>
          </a:solidFill>
          <a:ln/>
        </p:spPr>
      </p:sp>
      <p:sp>
        <p:nvSpPr>
          <p:cNvPr id="471044" name="Rectangle 3"/>
          <p:cNvSpPr>
            <a:spLocks noGrp="1" noChangeArrowheads="1"/>
          </p:cNvSpPr>
          <p:nvPr>
            <p:ph type="body" idx="1"/>
          </p:nvPr>
        </p:nvSpPr>
        <p:spPr>
          <a:solidFill>
            <a:srgbClr val="FFFFFF"/>
          </a:solidFill>
          <a:ln>
            <a:solidFill>
              <a:srgbClr val="000000"/>
            </a:solidFill>
          </a:ln>
        </p:spPr>
        <p:txBody>
          <a:bodyPr/>
          <a:lstStyle/>
          <a:p>
            <a:r>
              <a:rPr lang="en-US" smtClean="0"/>
              <a:t>These terms can be hard to distinguish.  Students will need to remember which is which, since this notation will be used several times during the course.</a:t>
            </a:r>
          </a:p>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p:cNvSpPr>
            <a:spLocks noGrp="1" noChangeArrowheads="1"/>
          </p:cNvSpPr>
          <p:nvPr>
            <p:ph type="sldNum" sz="quarter" idx="5"/>
          </p:nvPr>
        </p:nvSpPr>
        <p:spPr>
          <a:noFill/>
        </p:spPr>
        <p:txBody>
          <a:bodyPr/>
          <a:lstStyle/>
          <a:p>
            <a:fld id="{308FD619-071B-4FD4-8427-A22317E4382B}" type="slidenum">
              <a:rPr lang="en-US" smtClean="0"/>
              <a:pPr/>
              <a:t>15</a:t>
            </a:fld>
            <a:endParaRPr lang="en-US" smtClean="0"/>
          </a:p>
        </p:txBody>
      </p:sp>
      <p:sp>
        <p:nvSpPr>
          <p:cNvPr id="471043" name="Rectangle 2"/>
          <p:cNvSpPr>
            <a:spLocks noGrp="1" noRot="1" noChangeAspect="1" noChangeArrowheads="1" noTextEdit="1"/>
          </p:cNvSpPr>
          <p:nvPr>
            <p:ph type="sldImg"/>
          </p:nvPr>
        </p:nvSpPr>
        <p:spPr>
          <a:solidFill>
            <a:srgbClr val="FFFFFF"/>
          </a:solidFill>
          <a:ln/>
        </p:spPr>
      </p:sp>
      <p:sp>
        <p:nvSpPr>
          <p:cNvPr id="471044" name="Rectangle 3"/>
          <p:cNvSpPr>
            <a:spLocks noGrp="1" noChangeArrowheads="1"/>
          </p:cNvSpPr>
          <p:nvPr>
            <p:ph type="body" idx="1"/>
          </p:nvPr>
        </p:nvSpPr>
        <p:spPr>
          <a:solidFill>
            <a:srgbClr val="FFFFFF"/>
          </a:solidFill>
          <a:ln>
            <a:solidFill>
              <a:srgbClr val="000000"/>
            </a:solidFill>
          </a:ln>
        </p:spPr>
        <p:txBody>
          <a:bodyPr/>
          <a:lstStyle/>
          <a:p>
            <a:r>
              <a:rPr lang="en-US" dirty="0" smtClean="0"/>
              <a:t>These terms can be hard to distinguish.  Students will need to remember which is which, since this notation will be used several times during the course.</a:t>
            </a:r>
          </a:p>
          <a:p>
            <a:endParaRPr lang="en-US" dirty="0" smtClean="0"/>
          </a:p>
        </p:txBody>
      </p:sp>
    </p:spTree>
    <p:extLst>
      <p:ext uri="{BB962C8B-B14F-4D97-AF65-F5344CB8AC3E}">
        <p14:creationId xmlns:p14="http://schemas.microsoft.com/office/powerpoint/2010/main" val="2669958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7"/>
          <p:cNvSpPr>
            <a:spLocks noGrp="1" noChangeArrowheads="1"/>
          </p:cNvSpPr>
          <p:nvPr>
            <p:ph type="sldNum" sz="quarter" idx="5"/>
          </p:nvPr>
        </p:nvSpPr>
        <p:spPr>
          <a:noFill/>
        </p:spPr>
        <p:txBody>
          <a:bodyPr/>
          <a:lstStyle/>
          <a:p>
            <a:fld id="{BD28ACD6-A558-47A2-90FC-4B8120CE05FE}" type="slidenum">
              <a:rPr lang="en-US" smtClean="0"/>
              <a:pPr/>
              <a:t>16</a:t>
            </a:fld>
            <a:endParaRPr lang="en-US" smtClean="0"/>
          </a:p>
        </p:txBody>
      </p:sp>
      <p:sp>
        <p:nvSpPr>
          <p:cNvPr id="472067" name="Rectangle 2"/>
          <p:cNvSpPr>
            <a:spLocks noGrp="1" noRot="1" noChangeAspect="1" noChangeArrowheads="1" noTextEdit="1"/>
          </p:cNvSpPr>
          <p:nvPr>
            <p:ph type="sldImg"/>
          </p:nvPr>
        </p:nvSpPr>
        <p:spPr>
          <a:solidFill>
            <a:srgbClr val="FFFFFF"/>
          </a:solidFill>
          <a:ln/>
        </p:spPr>
      </p:sp>
      <p:sp>
        <p:nvSpPr>
          <p:cNvPr id="472068" name="Rectangle 3"/>
          <p:cNvSpPr>
            <a:spLocks noGrp="1" noChangeArrowheads="1"/>
          </p:cNvSpPr>
          <p:nvPr>
            <p:ph type="body" idx="1"/>
          </p:nvPr>
        </p:nvSpPr>
        <p:spPr>
          <a:solidFill>
            <a:srgbClr val="FFFFFF"/>
          </a:solidFill>
          <a:ln>
            <a:solidFill>
              <a:srgbClr val="000000"/>
            </a:solidFill>
          </a:ln>
        </p:spPr>
        <p:txBody>
          <a:bodyPr/>
          <a:lstStyle/>
          <a:p>
            <a:r>
              <a:rPr lang="en-US" dirty="0" smtClean="0"/>
              <a:t>This theorem is important, because it helps us to calculate space requirements.  It tells us how many nodes are internal and how many are leaf.  We need to know this if we have separate implementations for internal and leaf nodes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p:cNvSpPr>
            <a:spLocks noGrp="1" noChangeArrowheads="1"/>
          </p:cNvSpPr>
          <p:nvPr>
            <p:ph type="sldNum" sz="quarter" idx="5"/>
          </p:nvPr>
        </p:nvSpPr>
        <p:spPr>
          <a:noFill/>
        </p:spPr>
        <p:txBody>
          <a:bodyPr/>
          <a:lstStyle/>
          <a:p>
            <a:fld id="{BB91166F-5370-4612-94BA-6543849AFB02}" type="slidenum">
              <a:rPr lang="en-US" smtClean="0"/>
              <a:pPr/>
              <a:t>17</a:t>
            </a:fld>
            <a:endParaRPr lang="en-US" smtClean="0"/>
          </a:p>
        </p:txBody>
      </p:sp>
      <p:sp>
        <p:nvSpPr>
          <p:cNvPr id="473091" name="Rectangle 2"/>
          <p:cNvSpPr>
            <a:spLocks noGrp="1" noRot="1" noChangeAspect="1" noChangeArrowheads="1" noTextEdit="1"/>
          </p:cNvSpPr>
          <p:nvPr>
            <p:ph type="sldImg"/>
          </p:nvPr>
        </p:nvSpPr>
        <p:spPr>
          <a:solidFill>
            <a:srgbClr val="FFFFFF"/>
          </a:solidFill>
          <a:ln/>
        </p:spPr>
      </p:sp>
      <p:sp>
        <p:nvSpPr>
          <p:cNvPr id="473092" name="Rectangle 3"/>
          <p:cNvSpPr>
            <a:spLocks noGrp="1" noChangeArrowheads="1"/>
          </p:cNvSpPr>
          <p:nvPr>
            <p:ph type="body" idx="1"/>
          </p:nvPr>
        </p:nvSpPr>
        <p:spPr>
          <a:solidFill>
            <a:srgbClr val="FFFFFF"/>
          </a:solidFill>
          <a:ln>
            <a:solidFill>
              <a:srgbClr val="000000"/>
            </a:solidFill>
          </a:ln>
        </p:spPr>
        <p:txBody>
          <a:bodyPr/>
          <a:lstStyle/>
          <a:p>
            <a:r>
              <a:rPr lang="en-US" smtClean="0"/>
              <a:t>Note the style of induction proof: NOT “go forward from n to n+1”. Instead, it reduces an arbitrary tree to one that meets the induction hypothesis, and then restores the original tree while maintaining the proof condition. This is generally easier to do (see explanation in Chapter 2).</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p:cNvSpPr>
            <a:spLocks noGrp="1" noChangeArrowheads="1"/>
          </p:cNvSpPr>
          <p:nvPr>
            <p:ph type="sldNum" sz="quarter" idx="5"/>
          </p:nvPr>
        </p:nvSpPr>
        <p:spPr>
          <a:noFill/>
        </p:spPr>
        <p:txBody>
          <a:bodyPr/>
          <a:lstStyle/>
          <a:p>
            <a:fld id="{BB91166F-5370-4612-94BA-6543849AFB02}" type="slidenum">
              <a:rPr lang="en-US" smtClean="0"/>
              <a:pPr/>
              <a:t>18</a:t>
            </a:fld>
            <a:endParaRPr lang="en-US" smtClean="0"/>
          </a:p>
        </p:txBody>
      </p:sp>
      <p:sp>
        <p:nvSpPr>
          <p:cNvPr id="473091" name="Rectangle 2"/>
          <p:cNvSpPr>
            <a:spLocks noGrp="1" noRot="1" noChangeAspect="1" noChangeArrowheads="1" noTextEdit="1"/>
          </p:cNvSpPr>
          <p:nvPr>
            <p:ph type="sldImg"/>
          </p:nvPr>
        </p:nvSpPr>
        <p:spPr>
          <a:solidFill>
            <a:srgbClr val="FFFFFF"/>
          </a:solidFill>
          <a:ln/>
        </p:spPr>
      </p:sp>
      <p:sp>
        <p:nvSpPr>
          <p:cNvPr id="473092" name="Rectangle 3"/>
          <p:cNvSpPr>
            <a:spLocks noGrp="1" noChangeArrowheads="1"/>
          </p:cNvSpPr>
          <p:nvPr>
            <p:ph type="body" idx="1"/>
          </p:nvPr>
        </p:nvSpPr>
        <p:spPr>
          <a:solidFill>
            <a:srgbClr val="FFFFFF"/>
          </a:solidFill>
          <a:ln>
            <a:solidFill>
              <a:srgbClr val="000000"/>
            </a:solidFill>
          </a:ln>
        </p:spPr>
        <p:txBody>
          <a:bodyPr/>
          <a:lstStyle/>
          <a:p>
            <a:r>
              <a:rPr lang="en-US" dirty="0" smtClean="0"/>
              <a:t>Note the style of induction proof: NOT “go forward from n to n+1”. Instead, it reduces an arbitrary tree to one that meets the induction hypothesis, and then restores the original tree while maintaining the proof condition. This is generally easier to do.</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7"/>
          <p:cNvSpPr>
            <a:spLocks noGrp="1" noChangeArrowheads="1"/>
          </p:cNvSpPr>
          <p:nvPr>
            <p:ph type="sldNum" sz="quarter" idx="5"/>
          </p:nvPr>
        </p:nvSpPr>
        <p:spPr>
          <a:noFill/>
        </p:spPr>
        <p:txBody>
          <a:bodyPr/>
          <a:lstStyle/>
          <a:p>
            <a:fld id="{955C4616-3A6A-4AC3-8126-8417584D5284}" type="slidenum">
              <a:rPr lang="en-US" smtClean="0"/>
              <a:pPr/>
              <a:t>20</a:t>
            </a:fld>
            <a:endParaRPr lang="en-US" smtClean="0"/>
          </a:p>
        </p:txBody>
      </p:sp>
      <p:sp>
        <p:nvSpPr>
          <p:cNvPr id="474115" name="Rectangle 2"/>
          <p:cNvSpPr>
            <a:spLocks noGrp="1" noRot="1" noChangeAspect="1" noChangeArrowheads="1" noTextEdit="1"/>
          </p:cNvSpPr>
          <p:nvPr>
            <p:ph type="sldImg"/>
          </p:nvPr>
        </p:nvSpPr>
        <p:spPr>
          <a:solidFill>
            <a:srgbClr val="FFFFFF"/>
          </a:solidFill>
          <a:ln/>
        </p:spPr>
      </p:sp>
      <p:sp>
        <p:nvSpPr>
          <p:cNvPr id="474116"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7"/>
          <p:cNvSpPr>
            <a:spLocks noGrp="1" noChangeArrowheads="1"/>
          </p:cNvSpPr>
          <p:nvPr>
            <p:ph type="sldNum" sz="quarter" idx="5"/>
          </p:nvPr>
        </p:nvSpPr>
        <p:spPr>
          <a:noFill/>
        </p:spPr>
        <p:txBody>
          <a:bodyPr/>
          <a:lstStyle/>
          <a:p>
            <a:fld id="{955C4616-3A6A-4AC3-8126-8417584D5284}" type="slidenum">
              <a:rPr lang="en-US" smtClean="0"/>
              <a:pPr/>
              <a:t>21</a:t>
            </a:fld>
            <a:endParaRPr lang="en-US" smtClean="0"/>
          </a:p>
        </p:txBody>
      </p:sp>
      <p:sp>
        <p:nvSpPr>
          <p:cNvPr id="474115" name="Rectangle 2"/>
          <p:cNvSpPr>
            <a:spLocks noGrp="1" noRot="1" noChangeAspect="1" noChangeArrowheads="1" noTextEdit="1"/>
          </p:cNvSpPr>
          <p:nvPr>
            <p:ph type="sldImg"/>
          </p:nvPr>
        </p:nvSpPr>
        <p:spPr>
          <a:solidFill>
            <a:srgbClr val="FFFFFF"/>
          </a:solidFill>
          <a:ln/>
        </p:spPr>
      </p:sp>
      <p:sp>
        <p:nvSpPr>
          <p:cNvPr id="474116"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extLst>
      <p:ext uri="{BB962C8B-B14F-4D97-AF65-F5344CB8AC3E}">
        <p14:creationId xmlns:p14="http://schemas.microsoft.com/office/powerpoint/2010/main" val="4170660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7"/>
          <p:cNvSpPr>
            <a:spLocks noGrp="1" noChangeArrowheads="1"/>
          </p:cNvSpPr>
          <p:nvPr>
            <p:ph type="sldNum" sz="quarter" idx="5"/>
          </p:nvPr>
        </p:nvSpPr>
        <p:spPr>
          <a:noFill/>
        </p:spPr>
        <p:txBody>
          <a:bodyPr/>
          <a:lstStyle/>
          <a:p>
            <a:fld id="{D96F8F25-CE43-4E5E-80CB-26E807B21D16}" type="slidenum">
              <a:rPr lang="en-US" smtClean="0"/>
              <a:pPr/>
              <a:t>22</a:t>
            </a:fld>
            <a:endParaRPr lang="en-US" smtClean="0"/>
          </a:p>
        </p:txBody>
      </p:sp>
      <p:sp>
        <p:nvSpPr>
          <p:cNvPr id="475139" name="Rectangle 2"/>
          <p:cNvSpPr>
            <a:spLocks noGrp="1" noRot="1" noChangeAspect="1" noChangeArrowheads="1" noTextEdit="1"/>
          </p:cNvSpPr>
          <p:nvPr>
            <p:ph type="sldImg"/>
          </p:nvPr>
        </p:nvSpPr>
        <p:spPr>
          <a:solidFill>
            <a:srgbClr val="FFFFFF"/>
          </a:solidFill>
          <a:ln/>
        </p:spPr>
      </p:sp>
      <p:sp>
        <p:nvSpPr>
          <p:cNvPr id="475140"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7"/>
          <p:cNvSpPr>
            <a:spLocks noGrp="1" noChangeArrowheads="1"/>
          </p:cNvSpPr>
          <p:nvPr>
            <p:ph type="sldNum" sz="quarter" idx="5"/>
          </p:nvPr>
        </p:nvSpPr>
        <p:spPr>
          <a:noFill/>
        </p:spPr>
        <p:txBody>
          <a:bodyPr/>
          <a:lstStyle/>
          <a:p>
            <a:fld id="{F53972B1-E466-48A2-A7A8-98E42226FA82}" type="slidenum">
              <a:rPr lang="en-US" smtClean="0"/>
              <a:pPr/>
              <a:t>58</a:t>
            </a:fld>
            <a:endParaRPr lang="en-US" smtClean="0"/>
          </a:p>
        </p:txBody>
      </p:sp>
      <p:sp>
        <p:nvSpPr>
          <p:cNvPr id="478211" name="Rectangle 2"/>
          <p:cNvSpPr>
            <a:spLocks noGrp="1" noRot="1" noChangeAspect="1" noChangeArrowheads="1" noTextEdit="1"/>
          </p:cNvSpPr>
          <p:nvPr>
            <p:ph type="sldImg"/>
          </p:nvPr>
        </p:nvSpPr>
        <p:spPr>
          <a:solidFill>
            <a:srgbClr val="FFFFFF"/>
          </a:solidFill>
          <a:ln/>
        </p:spPr>
      </p:sp>
      <p:sp>
        <p:nvSpPr>
          <p:cNvPr id="478212" name="Rectangle 3"/>
          <p:cNvSpPr>
            <a:spLocks noGrp="1" noChangeArrowheads="1"/>
          </p:cNvSpPr>
          <p:nvPr>
            <p:ph type="body" idx="1"/>
          </p:nvPr>
        </p:nvSpPr>
        <p:spPr>
          <a:solidFill>
            <a:srgbClr val="FFFFFF"/>
          </a:solidFill>
          <a:ln>
            <a:solidFill>
              <a:srgbClr val="000000"/>
            </a:solidFill>
          </a:ln>
        </p:spPr>
        <p:txBody>
          <a:bodyPr/>
          <a:lstStyle/>
          <a:p>
            <a:r>
              <a:rPr lang="en-US" smtClean="0"/>
              <a:t>The first implementation is preferred.</a:t>
            </a:r>
          </a:p>
          <a:p>
            <a:endParaRPr lang="en-US" smtClean="0"/>
          </a:p>
          <a:p>
            <a:r>
              <a:rPr lang="en-US" smtClean="0"/>
              <a:t>The second implementation illustrates a common programming style by many students.  It attempts to “look ahead” at the node to be called to determine if it is </a:t>
            </a:r>
            <a:r>
              <a:rPr lang="en-US" smtClean="0">
                <a:latin typeface="Courier New" pitchFamily="26" charset="0"/>
              </a:rPr>
              <a:t>null</a:t>
            </a:r>
            <a:r>
              <a:rPr lang="en-US" smtClean="0"/>
              <a:t> or not.  This is highly error prone, because the calling function must make sure not to pass in a </a:t>
            </a:r>
            <a:r>
              <a:rPr lang="en-US" smtClean="0">
                <a:latin typeface="Helvetica" pitchFamily="26" charset="0"/>
              </a:rPr>
              <a:t>null</a:t>
            </a:r>
            <a:r>
              <a:rPr lang="en-US" smtClean="0"/>
              <a:t> pointer for the tree root.  It might appear to be more efficient (since it does not make recursive calls on the empty pointers), but it is not in reality since it is checking the pointers twice (to see if not </a:t>
            </a:r>
            <a:r>
              <a:rPr lang="en-US" smtClean="0">
                <a:latin typeface="Helvetica" pitchFamily="26" charset="0"/>
              </a:rPr>
              <a:t>null</a:t>
            </a:r>
            <a:r>
              <a:rPr lang="en-US" smtClean="0"/>
              <a:t>, then to process them).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7"/>
          <p:cNvSpPr>
            <a:spLocks noGrp="1" noChangeArrowheads="1"/>
          </p:cNvSpPr>
          <p:nvPr>
            <p:ph type="sldNum" sz="quarter" idx="5"/>
          </p:nvPr>
        </p:nvSpPr>
        <p:spPr>
          <a:noFill/>
        </p:spPr>
        <p:txBody>
          <a:bodyPr/>
          <a:lstStyle/>
          <a:p>
            <a:fld id="{F53972B1-E466-48A2-A7A8-98E42226FA82}" type="slidenum">
              <a:rPr lang="en-US" smtClean="0"/>
              <a:pPr/>
              <a:t>59</a:t>
            </a:fld>
            <a:endParaRPr lang="en-US" smtClean="0"/>
          </a:p>
        </p:txBody>
      </p:sp>
      <p:sp>
        <p:nvSpPr>
          <p:cNvPr id="478211" name="Rectangle 2"/>
          <p:cNvSpPr>
            <a:spLocks noGrp="1" noRot="1" noChangeAspect="1" noChangeArrowheads="1" noTextEdit="1"/>
          </p:cNvSpPr>
          <p:nvPr>
            <p:ph type="sldImg"/>
          </p:nvPr>
        </p:nvSpPr>
        <p:spPr>
          <a:solidFill>
            <a:srgbClr val="FFFFFF"/>
          </a:solidFill>
          <a:ln/>
        </p:spPr>
      </p:sp>
      <p:sp>
        <p:nvSpPr>
          <p:cNvPr id="478212" name="Rectangle 3"/>
          <p:cNvSpPr>
            <a:spLocks noGrp="1" noChangeArrowheads="1"/>
          </p:cNvSpPr>
          <p:nvPr>
            <p:ph type="body" idx="1"/>
          </p:nvPr>
        </p:nvSpPr>
        <p:spPr>
          <a:solidFill>
            <a:srgbClr val="FFFFFF"/>
          </a:solidFill>
          <a:ln>
            <a:solidFill>
              <a:srgbClr val="000000"/>
            </a:solidFill>
          </a:ln>
        </p:spPr>
        <p:txBody>
          <a:bodyPr/>
          <a:lstStyle/>
          <a:p>
            <a:r>
              <a:rPr lang="en-US" smtClean="0"/>
              <a:t>The first implementation is preferred.</a:t>
            </a:r>
          </a:p>
          <a:p>
            <a:endParaRPr lang="en-US" smtClean="0"/>
          </a:p>
          <a:p>
            <a:r>
              <a:rPr lang="en-US" smtClean="0"/>
              <a:t>The second implementation illustrates a common programming style by many students.  It attempts to “look ahead” at the node to be called to determine if it is </a:t>
            </a:r>
            <a:r>
              <a:rPr lang="en-US" smtClean="0">
                <a:latin typeface="Courier New" pitchFamily="26" charset="0"/>
              </a:rPr>
              <a:t>null</a:t>
            </a:r>
            <a:r>
              <a:rPr lang="en-US" smtClean="0"/>
              <a:t> or not.  This is highly error prone, because the calling function must make sure not to pass in a </a:t>
            </a:r>
            <a:r>
              <a:rPr lang="en-US" smtClean="0">
                <a:latin typeface="Helvetica" pitchFamily="26" charset="0"/>
              </a:rPr>
              <a:t>null</a:t>
            </a:r>
            <a:r>
              <a:rPr lang="en-US" smtClean="0"/>
              <a:t> pointer for the tree root.  It might appear to be more efficient (since it does not make recursive calls on the empty pointers), but it is not in reality since it is checking the pointers twice (to see if not </a:t>
            </a:r>
            <a:r>
              <a:rPr lang="en-US" smtClean="0">
                <a:latin typeface="Helvetica" pitchFamily="26" charset="0"/>
              </a:rPr>
              <a:t>null</a:t>
            </a:r>
            <a:r>
              <a:rPr lang="en-US" smtClean="0"/>
              <a:t>, then to process them).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p:cNvSpPr>
            <a:spLocks noGrp="1" noChangeArrowheads="1"/>
          </p:cNvSpPr>
          <p:nvPr>
            <p:ph type="sldNum" sz="quarter" idx="5"/>
          </p:nvPr>
        </p:nvSpPr>
        <p:spPr>
          <a:noFill/>
        </p:spPr>
        <p:txBody>
          <a:bodyPr/>
          <a:lstStyle/>
          <a:p>
            <a:fld id="{774DE839-A525-4DF1-A9AE-B8B6EB9D12E1}" type="slidenum">
              <a:rPr lang="en-US" smtClean="0"/>
              <a:pPr/>
              <a:t>62</a:t>
            </a:fld>
            <a:endParaRPr lang="en-US" smtClean="0"/>
          </a:p>
        </p:txBody>
      </p:sp>
      <p:sp>
        <p:nvSpPr>
          <p:cNvPr id="479235" name="Rectangle 2"/>
          <p:cNvSpPr>
            <a:spLocks noGrp="1" noRot="1" noChangeAspect="1" noChangeArrowheads="1" noTextEdit="1"/>
          </p:cNvSpPr>
          <p:nvPr>
            <p:ph type="sldImg"/>
          </p:nvPr>
        </p:nvSpPr>
        <p:spPr>
          <a:solidFill>
            <a:srgbClr val="FFFFFF"/>
          </a:solidFill>
          <a:ln/>
        </p:spPr>
      </p:sp>
      <p:sp>
        <p:nvSpPr>
          <p:cNvPr id="479236"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7"/>
          <p:cNvSpPr>
            <a:spLocks noGrp="1" noChangeArrowheads="1"/>
          </p:cNvSpPr>
          <p:nvPr>
            <p:ph type="sldNum" sz="quarter" idx="5"/>
          </p:nvPr>
        </p:nvSpPr>
        <p:spPr>
          <a:noFill/>
        </p:spPr>
        <p:txBody>
          <a:bodyPr/>
          <a:lstStyle/>
          <a:p>
            <a:fld id="{4365A3B5-AEA9-4E60-BA1A-D9A4DB00D8D3}" type="slidenum">
              <a:rPr lang="en-US" smtClean="0"/>
              <a:pPr/>
              <a:t>65</a:t>
            </a:fld>
            <a:endParaRPr lang="en-US" smtClean="0"/>
          </a:p>
        </p:txBody>
      </p:sp>
      <p:sp>
        <p:nvSpPr>
          <p:cNvPr id="480259" name="Rectangle 2"/>
          <p:cNvSpPr>
            <a:spLocks noGrp="1" noRot="1" noChangeAspect="1" noChangeArrowheads="1" noTextEdit="1"/>
          </p:cNvSpPr>
          <p:nvPr>
            <p:ph type="sldImg"/>
          </p:nvPr>
        </p:nvSpPr>
        <p:spPr>
          <a:solidFill>
            <a:srgbClr val="FFFFFF"/>
          </a:solidFill>
          <a:ln/>
        </p:spPr>
      </p:sp>
      <p:sp>
        <p:nvSpPr>
          <p:cNvPr id="480260" name="Rectangle 3"/>
          <p:cNvSpPr>
            <a:spLocks noGrp="1" noChangeArrowheads="1"/>
          </p:cNvSpPr>
          <p:nvPr>
            <p:ph type="body" idx="1"/>
          </p:nvPr>
        </p:nvSpPr>
        <p:spPr>
          <a:solidFill>
            <a:srgbClr val="FFFFFF"/>
          </a:solidFill>
          <a:ln>
            <a:solidFill>
              <a:srgbClr val="000000"/>
            </a:solidFill>
          </a:ln>
        </p:spPr>
        <p:txBody>
          <a:bodyPr/>
          <a:lstStyle/>
          <a:p>
            <a:r>
              <a:rPr lang="en-US" dirty="0" smtClean="0"/>
              <a:t>Standard implementation</a:t>
            </a:r>
            <a:r>
              <a:rPr lang="en-US" sz="900" dirty="0" smtClean="0"/>
              <a:t>.  Leaf implementation is identical to internal node implementation, resulting in much wasted space due to null pointers.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7"/>
          <p:cNvSpPr>
            <a:spLocks noGrp="1" noChangeArrowheads="1"/>
          </p:cNvSpPr>
          <p:nvPr>
            <p:ph type="sldNum" sz="quarter" idx="5"/>
          </p:nvPr>
        </p:nvSpPr>
        <p:spPr>
          <a:noFill/>
        </p:spPr>
        <p:txBody>
          <a:bodyPr/>
          <a:lstStyle/>
          <a:p>
            <a:fld id="{4365A3B5-AEA9-4E60-BA1A-D9A4DB00D8D3}" type="slidenum">
              <a:rPr lang="en-US" smtClean="0"/>
              <a:pPr/>
              <a:t>66</a:t>
            </a:fld>
            <a:endParaRPr lang="en-US" smtClean="0"/>
          </a:p>
        </p:txBody>
      </p:sp>
      <p:sp>
        <p:nvSpPr>
          <p:cNvPr id="480259" name="Rectangle 2"/>
          <p:cNvSpPr>
            <a:spLocks noGrp="1" noRot="1" noChangeAspect="1" noChangeArrowheads="1" noTextEdit="1"/>
          </p:cNvSpPr>
          <p:nvPr>
            <p:ph type="sldImg"/>
          </p:nvPr>
        </p:nvSpPr>
        <p:spPr>
          <a:solidFill>
            <a:srgbClr val="FFFFFF"/>
          </a:solidFill>
          <a:ln/>
        </p:spPr>
      </p:sp>
      <p:sp>
        <p:nvSpPr>
          <p:cNvPr id="480260" name="Rectangle 3"/>
          <p:cNvSpPr>
            <a:spLocks noGrp="1" noChangeArrowheads="1"/>
          </p:cNvSpPr>
          <p:nvPr>
            <p:ph type="body" idx="1"/>
          </p:nvPr>
        </p:nvSpPr>
        <p:spPr>
          <a:solidFill>
            <a:srgbClr val="FFFFFF"/>
          </a:solidFill>
          <a:ln>
            <a:solidFill>
              <a:srgbClr val="000000"/>
            </a:solidFill>
          </a:ln>
        </p:spPr>
        <p:txBody>
          <a:bodyPr/>
          <a:lstStyle/>
          <a:p>
            <a:r>
              <a:rPr lang="en-US" dirty="0" smtClean="0"/>
              <a:t>Standard implementation</a:t>
            </a:r>
            <a:r>
              <a:rPr lang="en-US" sz="900" dirty="0" smtClean="0"/>
              <a:t>.  Leaf implementation is identical to internal node implementation, resulting in much wasted space due to null pointers.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p:cNvSpPr>
            <a:spLocks noGrp="1" noChangeArrowheads="1"/>
          </p:cNvSpPr>
          <p:nvPr>
            <p:ph type="sldNum" sz="quarter" idx="5"/>
          </p:nvPr>
        </p:nvSpPr>
        <p:spPr>
          <a:noFill/>
        </p:spPr>
        <p:txBody>
          <a:bodyPr/>
          <a:lstStyle/>
          <a:p>
            <a:fld id="{034B0BDE-E198-4089-B8F4-F1000136CF11}" type="slidenum">
              <a:rPr lang="en-US" smtClean="0"/>
              <a:pPr/>
              <a:t>68</a:t>
            </a:fld>
            <a:endParaRPr lang="en-US" smtClean="0"/>
          </a:p>
        </p:txBody>
      </p:sp>
      <p:sp>
        <p:nvSpPr>
          <p:cNvPr id="481283" name="Rectangle 2"/>
          <p:cNvSpPr>
            <a:spLocks noGrp="1" noRot="1" noChangeAspect="1" noChangeArrowheads="1" noTextEdit="1"/>
          </p:cNvSpPr>
          <p:nvPr>
            <p:ph type="sldImg"/>
          </p:nvPr>
        </p:nvSpPr>
        <p:spPr>
          <a:solidFill>
            <a:srgbClr val="FFFFFF"/>
          </a:solidFill>
          <a:ln/>
        </p:spPr>
      </p:sp>
      <p:sp>
        <p:nvSpPr>
          <p:cNvPr id="481284" name="Rectangle 3"/>
          <p:cNvSpPr>
            <a:spLocks noGrp="1" noChangeArrowheads="1"/>
          </p:cNvSpPr>
          <p:nvPr>
            <p:ph type="body" idx="1"/>
          </p:nvPr>
        </p:nvSpPr>
        <p:spPr>
          <a:solidFill>
            <a:srgbClr val="FFFFFF"/>
          </a:solidFill>
          <a:ln>
            <a:solidFill>
              <a:srgbClr val="000000"/>
            </a:solidFill>
          </a:ln>
        </p:spPr>
        <p:txBody>
          <a:bodyPr/>
          <a:lstStyle/>
          <a:p>
            <a:r>
              <a:rPr lang="en-US" dirty="0" smtClean="0"/>
              <a:t>Example of a tree with distinct internal and leaf node implementations.</a:t>
            </a:r>
            <a:endParaRPr lang="en-US" sz="900" dirty="0" smtClean="0">
              <a:latin typeface="Courier New" pitchFamily="26"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p:cNvSpPr>
            <a:spLocks noGrp="1" noChangeArrowheads="1"/>
          </p:cNvSpPr>
          <p:nvPr>
            <p:ph type="sldNum" sz="quarter" idx="5"/>
          </p:nvPr>
        </p:nvSpPr>
        <p:spPr>
          <a:noFill/>
        </p:spPr>
        <p:txBody>
          <a:bodyPr/>
          <a:lstStyle/>
          <a:p>
            <a:fld id="{034B0BDE-E198-4089-B8F4-F1000136CF11}" type="slidenum">
              <a:rPr lang="en-US" smtClean="0"/>
              <a:pPr/>
              <a:t>69</a:t>
            </a:fld>
            <a:endParaRPr lang="en-US" smtClean="0"/>
          </a:p>
        </p:txBody>
      </p:sp>
      <p:sp>
        <p:nvSpPr>
          <p:cNvPr id="481283" name="Rectangle 2"/>
          <p:cNvSpPr>
            <a:spLocks noGrp="1" noRot="1" noChangeAspect="1" noChangeArrowheads="1" noTextEdit="1"/>
          </p:cNvSpPr>
          <p:nvPr>
            <p:ph type="sldImg"/>
          </p:nvPr>
        </p:nvSpPr>
        <p:spPr>
          <a:solidFill>
            <a:srgbClr val="FFFFFF"/>
          </a:solidFill>
          <a:ln/>
        </p:spPr>
      </p:sp>
      <p:sp>
        <p:nvSpPr>
          <p:cNvPr id="481284" name="Rectangle 3"/>
          <p:cNvSpPr>
            <a:spLocks noGrp="1" noChangeArrowheads="1"/>
          </p:cNvSpPr>
          <p:nvPr>
            <p:ph type="body" idx="1"/>
          </p:nvPr>
        </p:nvSpPr>
        <p:spPr>
          <a:solidFill>
            <a:srgbClr val="FFFFFF"/>
          </a:solidFill>
          <a:ln>
            <a:solidFill>
              <a:srgbClr val="000000"/>
            </a:solidFill>
          </a:ln>
        </p:spPr>
        <p:txBody>
          <a:bodyPr/>
          <a:lstStyle/>
          <a:p>
            <a:r>
              <a:rPr lang="en-US" dirty="0" smtClean="0"/>
              <a:t>Example of a tree with distinct internal and leaf node implementations.</a:t>
            </a:r>
            <a:endParaRPr lang="en-US" sz="900" dirty="0" smtClean="0">
              <a:latin typeface="Courier New" pitchFamily="26"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7"/>
          <p:cNvSpPr>
            <a:spLocks noGrp="1" noChangeArrowheads="1"/>
          </p:cNvSpPr>
          <p:nvPr>
            <p:ph type="sldNum" sz="quarter" idx="5"/>
          </p:nvPr>
        </p:nvSpPr>
        <p:spPr>
          <a:noFill/>
        </p:spPr>
        <p:txBody>
          <a:bodyPr/>
          <a:lstStyle/>
          <a:p>
            <a:fld id="{E6DCEC28-86C0-4B4A-8AF5-38132E44A4EB}" type="slidenum">
              <a:rPr lang="en-US" smtClean="0"/>
              <a:pPr/>
              <a:t>76</a:t>
            </a:fld>
            <a:endParaRPr lang="en-US" smtClean="0"/>
          </a:p>
        </p:txBody>
      </p:sp>
      <p:sp>
        <p:nvSpPr>
          <p:cNvPr id="489475" name="Rectangle 2"/>
          <p:cNvSpPr>
            <a:spLocks noGrp="1" noRot="1" noChangeAspect="1" noChangeArrowheads="1" noTextEdit="1"/>
          </p:cNvSpPr>
          <p:nvPr>
            <p:ph type="sldImg"/>
          </p:nvPr>
        </p:nvSpPr>
        <p:spPr>
          <a:solidFill>
            <a:srgbClr val="FFFFFF"/>
          </a:solidFill>
          <a:ln/>
        </p:spPr>
      </p:sp>
      <p:sp>
        <p:nvSpPr>
          <p:cNvPr id="489476" name="Rectangle 3"/>
          <p:cNvSpPr>
            <a:spLocks noGrp="1" noChangeArrowheads="1"/>
          </p:cNvSpPr>
          <p:nvPr>
            <p:ph type="body" idx="1"/>
          </p:nvPr>
        </p:nvSpPr>
        <p:spPr>
          <a:solidFill>
            <a:srgbClr val="FFFFFF"/>
          </a:solidFill>
          <a:ln>
            <a:solidFill>
              <a:srgbClr val="000000"/>
            </a:solidFill>
          </a:ln>
        </p:spPr>
        <p:txBody>
          <a:bodyPr/>
          <a:lstStyle/>
          <a:p>
            <a:r>
              <a:rPr lang="en-US" smtClean="0"/>
              <a:t>This example is for full binary trees.</a:t>
            </a:r>
          </a:p>
          <a:p>
            <a:endParaRPr lang="en-US" smtClean="0"/>
          </a:p>
          <a:p>
            <a:r>
              <a:rPr lang="en-US" smtClean="0"/>
              <a:t>Half of  the nodes have 2 pointers, which is overhead.</a:t>
            </a:r>
          </a:p>
          <a:p>
            <a:endParaRPr lang="en-US" smtClean="0"/>
          </a:p>
          <a:p>
            <a:r>
              <a:rPr lang="en-US" smtClean="0"/>
              <a:t>The mechanism for distinguishing leaves from internal nodes adds additional overhead not accounted for here.</a:t>
            </a:r>
          </a:p>
          <a:p>
            <a:endParaRPr lang="en-US" smtClean="0"/>
          </a:p>
        </p:txBody>
      </p:sp>
    </p:spTree>
    <p:extLst>
      <p:ext uri="{BB962C8B-B14F-4D97-AF65-F5344CB8AC3E}">
        <p14:creationId xmlns:p14="http://schemas.microsoft.com/office/powerpoint/2010/main" val="28380439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7"/>
          <p:cNvSpPr>
            <a:spLocks noGrp="1" noChangeArrowheads="1"/>
          </p:cNvSpPr>
          <p:nvPr>
            <p:ph type="sldNum" sz="quarter" idx="5"/>
          </p:nvPr>
        </p:nvSpPr>
        <p:spPr>
          <a:noFill/>
        </p:spPr>
        <p:txBody>
          <a:bodyPr/>
          <a:lstStyle/>
          <a:p>
            <a:fld id="{C442C721-5288-465A-A128-FC90B5756F9E}" type="slidenum">
              <a:rPr lang="en-US" smtClean="0"/>
              <a:pPr/>
              <a:t>79</a:t>
            </a:fld>
            <a:endParaRPr lang="en-US" smtClean="0"/>
          </a:p>
        </p:txBody>
      </p:sp>
      <p:sp>
        <p:nvSpPr>
          <p:cNvPr id="490499" name="Rectangle 2"/>
          <p:cNvSpPr>
            <a:spLocks noGrp="1" noRot="1" noChangeAspect="1" noChangeArrowheads="1" noTextEdit="1"/>
          </p:cNvSpPr>
          <p:nvPr>
            <p:ph type="sldImg"/>
          </p:nvPr>
        </p:nvSpPr>
        <p:spPr>
          <a:solidFill>
            <a:srgbClr val="FFFFFF"/>
          </a:solidFill>
          <a:ln/>
        </p:spPr>
      </p:sp>
      <p:sp>
        <p:nvSpPr>
          <p:cNvPr id="490500" name="Rectangle 3"/>
          <p:cNvSpPr>
            <a:spLocks noGrp="1" noChangeArrowheads="1"/>
          </p:cNvSpPr>
          <p:nvPr>
            <p:ph type="body" idx="1"/>
          </p:nvPr>
        </p:nvSpPr>
        <p:spPr>
          <a:solidFill>
            <a:srgbClr val="FFFFFF"/>
          </a:solidFill>
          <a:ln>
            <a:solidFill>
              <a:srgbClr val="000000"/>
            </a:solidFill>
          </a:ln>
        </p:spPr>
        <p:txBody>
          <a:bodyPr/>
          <a:lstStyle/>
          <a:p>
            <a:r>
              <a:rPr lang="en-US" smtClean="0"/>
              <a:t>This is a good example of logical representation vs. physical implementation.</a:t>
            </a:r>
          </a:p>
          <a:p>
            <a:endParaRPr lang="en-US" smtClean="0"/>
          </a:p>
          <a:p>
            <a:r>
              <a:rPr lang="en-US" smtClean="0"/>
              <a:t>Since the complete binary tree is so limited in its shape (there is only one possible shape for n nodes), it is reasonable to expect that space efficiency can be achieved.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7"/>
          <p:cNvSpPr>
            <a:spLocks noGrp="1" noChangeArrowheads="1"/>
          </p:cNvSpPr>
          <p:nvPr>
            <p:ph type="sldNum" sz="quarter" idx="5"/>
          </p:nvPr>
        </p:nvSpPr>
        <p:spPr>
          <a:noFill/>
        </p:spPr>
        <p:txBody>
          <a:bodyPr/>
          <a:lstStyle/>
          <a:p>
            <a:fld id="{C442C721-5288-465A-A128-FC90B5756F9E}" type="slidenum">
              <a:rPr lang="en-US" smtClean="0"/>
              <a:pPr/>
              <a:t>80</a:t>
            </a:fld>
            <a:endParaRPr lang="en-US" smtClean="0"/>
          </a:p>
        </p:txBody>
      </p:sp>
      <p:sp>
        <p:nvSpPr>
          <p:cNvPr id="490499" name="Rectangle 2"/>
          <p:cNvSpPr>
            <a:spLocks noGrp="1" noRot="1" noChangeAspect="1" noChangeArrowheads="1" noTextEdit="1"/>
          </p:cNvSpPr>
          <p:nvPr>
            <p:ph type="sldImg"/>
          </p:nvPr>
        </p:nvSpPr>
        <p:spPr>
          <a:solidFill>
            <a:srgbClr val="FFFFFF"/>
          </a:solidFill>
          <a:ln/>
        </p:spPr>
      </p:sp>
      <p:sp>
        <p:nvSpPr>
          <p:cNvPr id="490500" name="Rectangle 3"/>
          <p:cNvSpPr>
            <a:spLocks noGrp="1" noChangeArrowheads="1"/>
          </p:cNvSpPr>
          <p:nvPr>
            <p:ph type="body" idx="1"/>
          </p:nvPr>
        </p:nvSpPr>
        <p:spPr>
          <a:solidFill>
            <a:srgbClr val="FFFFFF"/>
          </a:solidFill>
          <a:ln>
            <a:solidFill>
              <a:srgbClr val="000000"/>
            </a:solidFill>
          </a:ln>
        </p:spPr>
        <p:txBody>
          <a:bodyPr/>
          <a:lstStyle/>
          <a:p>
            <a:r>
              <a:rPr lang="en-US" smtClean="0"/>
              <a:t>This is a good example of logical representation vs. physical implementation.</a:t>
            </a:r>
          </a:p>
          <a:p>
            <a:endParaRPr lang="en-US" smtClean="0"/>
          </a:p>
          <a:p>
            <a:r>
              <a:rPr lang="en-US" smtClean="0"/>
              <a:t>Since the complete binary tree is so limited in its shape (there is only one possible shape for n nodes), it is reasonable to expect that space efficiency can be achieved.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7"/>
          <p:cNvSpPr>
            <a:spLocks noGrp="1" noChangeArrowheads="1"/>
          </p:cNvSpPr>
          <p:nvPr>
            <p:ph type="sldNum" sz="quarter" idx="5"/>
          </p:nvPr>
        </p:nvSpPr>
        <p:spPr>
          <a:noFill/>
        </p:spPr>
        <p:txBody>
          <a:bodyPr/>
          <a:lstStyle/>
          <a:p>
            <a:fld id="{C442C721-5288-465A-A128-FC90B5756F9E}" type="slidenum">
              <a:rPr lang="en-US" smtClean="0"/>
              <a:pPr/>
              <a:t>81</a:t>
            </a:fld>
            <a:endParaRPr lang="en-US" smtClean="0"/>
          </a:p>
        </p:txBody>
      </p:sp>
      <p:sp>
        <p:nvSpPr>
          <p:cNvPr id="490499" name="Rectangle 2"/>
          <p:cNvSpPr>
            <a:spLocks noGrp="1" noRot="1" noChangeAspect="1" noChangeArrowheads="1" noTextEdit="1"/>
          </p:cNvSpPr>
          <p:nvPr>
            <p:ph type="sldImg"/>
          </p:nvPr>
        </p:nvSpPr>
        <p:spPr>
          <a:solidFill>
            <a:srgbClr val="FFFFFF"/>
          </a:solidFill>
          <a:ln/>
        </p:spPr>
      </p:sp>
      <p:sp>
        <p:nvSpPr>
          <p:cNvPr id="490500" name="Rectangle 3"/>
          <p:cNvSpPr>
            <a:spLocks noGrp="1" noChangeArrowheads="1"/>
          </p:cNvSpPr>
          <p:nvPr>
            <p:ph type="body" idx="1"/>
          </p:nvPr>
        </p:nvSpPr>
        <p:spPr>
          <a:solidFill>
            <a:srgbClr val="FFFFFF"/>
          </a:solidFill>
          <a:ln>
            <a:solidFill>
              <a:srgbClr val="000000"/>
            </a:solidFill>
          </a:ln>
        </p:spPr>
        <p:txBody>
          <a:bodyPr/>
          <a:lstStyle/>
          <a:p>
            <a:r>
              <a:rPr lang="en-US" smtClean="0"/>
              <a:t>This is a good example of logical representation vs. physical implementation.</a:t>
            </a:r>
          </a:p>
          <a:p>
            <a:endParaRPr lang="en-US" smtClean="0"/>
          </a:p>
          <a:p>
            <a:r>
              <a:rPr lang="en-US" smtClean="0"/>
              <a:t>Since the complete binary tree is so limited in its shape (there is only one possible shape for n nodes), it is reasonable to expect that space efficiency can be achieved.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7"/>
          <p:cNvSpPr>
            <a:spLocks noGrp="1" noChangeArrowheads="1"/>
          </p:cNvSpPr>
          <p:nvPr>
            <p:ph type="sldNum" sz="quarter" idx="5"/>
          </p:nvPr>
        </p:nvSpPr>
        <p:spPr>
          <a:noFill/>
        </p:spPr>
        <p:txBody>
          <a:bodyPr/>
          <a:lstStyle/>
          <a:p>
            <a:fld id="{C442C721-5288-465A-A128-FC90B5756F9E}" type="slidenum">
              <a:rPr lang="en-US" smtClean="0"/>
              <a:pPr/>
              <a:t>82</a:t>
            </a:fld>
            <a:endParaRPr lang="en-US" smtClean="0"/>
          </a:p>
        </p:txBody>
      </p:sp>
      <p:sp>
        <p:nvSpPr>
          <p:cNvPr id="490499" name="Rectangle 2"/>
          <p:cNvSpPr>
            <a:spLocks noGrp="1" noRot="1" noChangeAspect="1" noChangeArrowheads="1" noTextEdit="1"/>
          </p:cNvSpPr>
          <p:nvPr>
            <p:ph type="sldImg"/>
          </p:nvPr>
        </p:nvSpPr>
        <p:spPr>
          <a:solidFill>
            <a:srgbClr val="FFFFFF"/>
          </a:solidFill>
          <a:ln/>
        </p:spPr>
      </p:sp>
      <p:sp>
        <p:nvSpPr>
          <p:cNvPr id="490500" name="Rectangle 3"/>
          <p:cNvSpPr>
            <a:spLocks noGrp="1" noChangeArrowheads="1"/>
          </p:cNvSpPr>
          <p:nvPr>
            <p:ph type="body" idx="1"/>
          </p:nvPr>
        </p:nvSpPr>
        <p:spPr>
          <a:solidFill>
            <a:srgbClr val="FFFFFF"/>
          </a:solidFill>
          <a:ln>
            <a:solidFill>
              <a:srgbClr val="000000"/>
            </a:solidFill>
          </a:ln>
        </p:spPr>
        <p:txBody>
          <a:bodyPr/>
          <a:lstStyle/>
          <a:p>
            <a:r>
              <a:rPr lang="en-US" smtClean="0"/>
              <a:t>This is a good example of logical representation vs. physical implementation.</a:t>
            </a:r>
          </a:p>
          <a:p>
            <a:endParaRPr lang="en-US" smtClean="0"/>
          </a:p>
          <a:p>
            <a:r>
              <a:rPr lang="en-US" smtClean="0"/>
              <a:t>Since the complete binary tree is so limited in its shape (there is only one possible shape for n nodes), it is reasonable to expect that space efficiency can be achieved.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7"/>
          <p:cNvSpPr>
            <a:spLocks noGrp="1" noChangeArrowheads="1"/>
          </p:cNvSpPr>
          <p:nvPr>
            <p:ph type="sldNum" sz="quarter" idx="5"/>
          </p:nvPr>
        </p:nvSpPr>
        <p:spPr>
          <a:noFill/>
        </p:spPr>
        <p:txBody>
          <a:bodyPr/>
          <a:lstStyle/>
          <a:p>
            <a:fld id="{C442C721-5288-465A-A128-FC90B5756F9E}" type="slidenum">
              <a:rPr lang="en-US" smtClean="0"/>
              <a:pPr/>
              <a:t>83</a:t>
            </a:fld>
            <a:endParaRPr lang="en-US" smtClean="0"/>
          </a:p>
        </p:txBody>
      </p:sp>
      <p:sp>
        <p:nvSpPr>
          <p:cNvPr id="490499" name="Rectangle 2"/>
          <p:cNvSpPr>
            <a:spLocks noGrp="1" noRot="1" noChangeAspect="1" noChangeArrowheads="1" noTextEdit="1"/>
          </p:cNvSpPr>
          <p:nvPr>
            <p:ph type="sldImg"/>
          </p:nvPr>
        </p:nvSpPr>
        <p:spPr>
          <a:solidFill>
            <a:srgbClr val="FFFFFF"/>
          </a:solidFill>
          <a:ln/>
        </p:spPr>
      </p:sp>
      <p:sp>
        <p:nvSpPr>
          <p:cNvPr id="490500" name="Rectangle 3"/>
          <p:cNvSpPr>
            <a:spLocks noGrp="1" noChangeArrowheads="1"/>
          </p:cNvSpPr>
          <p:nvPr>
            <p:ph type="body" idx="1"/>
          </p:nvPr>
        </p:nvSpPr>
        <p:spPr>
          <a:solidFill>
            <a:srgbClr val="FFFFFF"/>
          </a:solidFill>
          <a:ln>
            <a:solidFill>
              <a:srgbClr val="000000"/>
            </a:solidFill>
          </a:ln>
        </p:spPr>
        <p:txBody>
          <a:bodyPr/>
          <a:lstStyle/>
          <a:p>
            <a:r>
              <a:rPr lang="en-US" smtClean="0"/>
              <a:t>This is a good example of logical representation vs. physical implementation.</a:t>
            </a:r>
          </a:p>
          <a:p>
            <a:endParaRPr lang="en-US" smtClean="0"/>
          </a:p>
          <a:p>
            <a:r>
              <a:rPr lang="en-US" smtClean="0"/>
              <a:t>Since the complete binary tree is so limited in its shape (there is only one possible shape for n nodes), it is reasonable to expect that space efficiency can be achieved.</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7"/>
          <p:cNvSpPr>
            <a:spLocks noGrp="1" noChangeArrowheads="1"/>
          </p:cNvSpPr>
          <p:nvPr>
            <p:ph type="sldNum" sz="quarter" idx="5"/>
          </p:nvPr>
        </p:nvSpPr>
        <p:spPr>
          <a:noFill/>
        </p:spPr>
        <p:txBody>
          <a:bodyPr/>
          <a:lstStyle/>
          <a:p>
            <a:fld id="{C442C721-5288-465A-A128-FC90B5756F9E}" type="slidenum">
              <a:rPr lang="en-US" smtClean="0"/>
              <a:pPr/>
              <a:t>84</a:t>
            </a:fld>
            <a:endParaRPr lang="en-US" smtClean="0"/>
          </a:p>
        </p:txBody>
      </p:sp>
      <p:sp>
        <p:nvSpPr>
          <p:cNvPr id="490499" name="Rectangle 2"/>
          <p:cNvSpPr>
            <a:spLocks noGrp="1" noRot="1" noChangeAspect="1" noChangeArrowheads="1" noTextEdit="1"/>
          </p:cNvSpPr>
          <p:nvPr>
            <p:ph type="sldImg"/>
          </p:nvPr>
        </p:nvSpPr>
        <p:spPr>
          <a:solidFill>
            <a:srgbClr val="FFFFFF"/>
          </a:solidFill>
          <a:ln/>
        </p:spPr>
      </p:sp>
      <p:sp>
        <p:nvSpPr>
          <p:cNvPr id="490500" name="Rectangle 3"/>
          <p:cNvSpPr>
            <a:spLocks noGrp="1" noChangeArrowheads="1"/>
          </p:cNvSpPr>
          <p:nvPr>
            <p:ph type="body" idx="1"/>
          </p:nvPr>
        </p:nvSpPr>
        <p:spPr>
          <a:solidFill>
            <a:srgbClr val="FFFFFF"/>
          </a:solidFill>
          <a:ln>
            <a:solidFill>
              <a:srgbClr val="000000"/>
            </a:solidFill>
          </a:ln>
        </p:spPr>
        <p:txBody>
          <a:bodyPr/>
          <a:lstStyle/>
          <a:p>
            <a:r>
              <a:rPr lang="en-US" smtClean="0"/>
              <a:t>This is a good example of logical representation vs. physical implementation.</a:t>
            </a:r>
          </a:p>
          <a:p>
            <a:endParaRPr lang="en-US" smtClean="0"/>
          </a:p>
          <a:p>
            <a:r>
              <a:rPr lang="en-US" smtClean="0"/>
              <a:t>Since the complete binary tree is so limited in its shape (there is only one possible shape for n nodes), it is reasonable to expect that space efficiency can be achieved.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Started on 21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Started on 21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Started on 21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Started on 21 March 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Started on 21 March 2016</a:t>
            </a:r>
            <a:endParaRPr lang="en-US"/>
          </a:p>
        </p:txBody>
      </p:sp>
      <p:sp>
        <p:nvSpPr>
          <p:cNvPr id="8" name="Footer Placeholder 7"/>
          <p:cNvSpPr>
            <a:spLocks noGrp="1"/>
          </p:cNvSpPr>
          <p:nvPr>
            <p:ph type="ftr" sz="quarter" idx="11"/>
          </p:nvPr>
        </p:nvSpPr>
        <p:spPr/>
        <p:txBody>
          <a:bodyPr/>
          <a:lstStyle/>
          <a:p>
            <a:r>
              <a:rPr lang="en-US" smtClean="0"/>
              <a:t>Course Teacher: Prof. Sohel Rahman</a:t>
            </a:r>
            <a:endParaRPr lang="en-US"/>
          </a:p>
        </p:txBody>
      </p:sp>
      <p:sp>
        <p:nvSpPr>
          <p:cNvPr id="9" name="Slide Number Placeholder 8"/>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Started on 21 March 2016</a:t>
            </a:r>
            <a:endParaRPr lang="en-US"/>
          </a:p>
        </p:txBody>
      </p:sp>
      <p:sp>
        <p:nvSpPr>
          <p:cNvPr id="4" name="Footer Placeholder 3"/>
          <p:cNvSpPr>
            <a:spLocks noGrp="1"/>
          </p:cNvSpPr>
          <p:nvPr>
            <p:ph type="ftr" sz="quarter" idx="11"/>
          </p:nvPr>
        </p:nvSpPr>
        <p:spPr/>
        <p:txBody>
          <a:bodyPr/>
          <a:lstStyle/>
          <a:p>
            <a:r>
              <a:rPr lang="en-US" smtClean="0"/>
              <a:t>Course Teacher: Prof. Sohel Rahman</a:t>
            </a:r>
            <a:endParaRPr lang="en-US"/>
          </a:p>
        </p:txBody>
      </p:sp>
      <p:sp>
        <p:nvSpPr>
          <p:cNvPr id="5" name="Slide Number Placeholder 4"/>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Started on 21 March 2016</a:t>
            </a:r>
            <a:endParaRPr lang="en-US"/>
          </a:p>
        </p:txBody>
      </p:sp>
      <p:sp>
        <p:nvSpPr>
          <p:cNvPr id="3" name="Footer Placeholder 2"/>
          <p:cNvSpPr>
            <a:spLocks noGrp="1"/>
          </p:cNvSpPr>
          <p:nvPr>
            <p:ph type="ftr" sz="quarter" idx="11"/>
          </p:nvPr>
        </p:nvSpPr>
        <p:spPr/>
        <p:txBody>
          <a:bodyPr/>
          <a:lstStyle/>
          <a:p>
            <a:r>
              <a:rPr lang="en-US" smtClean="0"/>
              <a:t>Course Teacher: Prof. Sohel Rahman</a:t>
            </a:r>
            <a:endParaRPr lang="en-US"/>
          </a:p>
        </p:txBody>
      </p:sp>
      <p:sp>
        <p:nvSpPr>
          <p:cNvPr id="4" name="Slide Number Placeholder 3"/>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Started on 21 March 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Started on 21 March 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Started on 21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Started on 21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Started on 21 March 2016</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Course Teacher: Prof. Sohel Rahman</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7E917-6D97-4FA4-9E27-606C7A8A367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0.wmf"/><Relationship Id="rId4"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4.wmf"/></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7.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8.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CSE 203: Data Structures</a:t>
            </a:r>
            <a:endParaRPr lang="en-US" dirty="0"/>
          </a:p>
        </p:txBody>
      </p:sp>
      <p:sp>
        <p:nvSpPr>
          <p:cNvPr id="3" name="Subtitle 2"/>
          <p:cNvSpPr>
            <a:spLocks noGrp="1"/>
          </p:cNvSpPr>
          <p:nvPr>
            <p:ph type="subTitle" idx="1"/>
          </p:nvPr>
        </p:nvSpPr>
        <p:spPr/>
        <p:txBody>
          <a:bodyPr/>
          <a:lstStyle/>
          <a:p>
            <a:r>
              <a:rPr lang="en-US" dirty="0" smtClean="0"/>
              <a:t>Elementary </a:t>
            </a:r>
            <a:r>
              <a:rPr lang="en-US" smtClean="0"/>
              <a:t>Data </a:t>
            </a:r>
            <a:r>
              <a:rPr lang="en-US" smtClean="0"/>
              <a:t>Structures</a:t>
            </a:r>
          </a:p>
          <a:p>
            <a:r>
              <a:rPr lang="en-US" smtClean="0"/>
              <a:t>Binary </a:t>
            </a:r>
            <a:r>
              <a:rPr lang="en-US" dirty="0" smtClean="0"/>
              <a:t>Trees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Trees</a:t>
            </a:r>
          </a:p>
        </p:txBody>
      </p:sp>
      <p:sp>
        <p:nvSpPr>
          <p:cNvPr id="131076" name="Rectangle 3"/>
          <p:cNvSpPr>
            <a:spLocks noGrp="1" noChangeArrowheads="1"/>
          </p:cNvSpPr>
          <p:nvPr>
            <p:ph type="body" idx="1"/>
          </p:nvPr>
        </p:nvSpPr>
        <p:spPr>
          <a:xfrm>
            <a:off x="455613" y="1600200"/>
            <a:ext cx="8226425" cy="4572000"/>
          </a:xfrm>
        </p:spPr>
        <p:txBody>
          <a:bodyPr/>
          <a:lstStyle/>
          <a:p>
            <a:pPr>
              <a:lnSpc>
                <a:spcPct val="90000"/>
              </a:lnSpc>
              <a:buFontTx/>
              <a:buNone/>
            </a:pPr>
            <a:r>
              <a:rPr lang="en-US" dirty="0" smtClean="0">
                <a:latin typeface="Helvetica" pitchFamily="26" charset="0"/>
              </a:rPr>
              <a:t>A </a:t>
            </a:r>
            <a:r>
              <a:rPr lang="en-US" u="sng" dirty="0" smtClean="0">
                <a:latin typeface="Helvetica" pitchFamily="26" charset="0"/>
              </a:rPr>
              <a:t>binary tree</a:t>
            </a:r>
            <a:r>
              <a:rPr lang="en-US" dirty="0" smtClean="0">
                <a:latin typeface="Helvetica" pitchFamily="26" charset="0"/>
              </a:rPr>
              <a:t> is made up of a finite set of nodes. This set either is </a:t>
            </a:r>
            <a:r>
              <a:rPr lang="en-US" u="sng" dirty="0" smtClean="0">
                <a:latin typeface="Helvetica" pitchFamily="26" charset="0"/>
              </a:rPr>
              <a:t>empty</a:t>
            </a:r>
            <a:r>
              <a:rPr lang="en-US" dirty="0" smtClean="0">
                <a:latin typeface="Helvetica" pitchFamily="26" charset="0"/>
              </a:rPr>
              <a:t> or consists of a node called the </a:t>
            </a:r>
            <a:r>
              <a:rPr lang="en-US" u="sng" dirty="0" smtClean="0">
                <a:latin typeface="Helvetica" pitchFamily="26" charset="0"/>
              </a:rPr>
              <a:t>root</a:t>
            </a:r>
            <a:r>
              <a:rPr lang="en-US" dirty="0" smtClean="0">
                <a:latin typeface="Helvetica" pitchFamily="26" charset="0"/>
              </a:rPr>
              <a:t> together with two binary trees, called the left and right </a:t>
            </a:r>
            <a:r>
              <a:rPr lang="en-US" u="sng" dirty="0" smtClean="0">
                <a:latin typeface="Helvetica" pitchFamily="26" charset="0"/>
              </a:rPr>
              <a:t>subtrees</a:t>
            </a:r>
            <a:r>
              <a:rPr lang="en-US" dirty="0" smtClean="0">
                <a:latin typeface="Helvetica" pitchFamily="26" charset="0"/>
              </a:rPr>
              <a:t>, which are disjoint from each other and from the root.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455613" y="1600200"/>
            <a:ext cx="4344987" cy="4495800"/>
          </a:xfrm>
        </p:spPr>
        <p:txBody>
          <a:bodyPr/>
          <a:lstStyle/>
          <a:p>
            <a:pPr>
              <a:lnSpc>
                <a:spcPct val="90000"/>
              </a:lnSpc>
              <a:buFontTx/>
              <a:buNone/>
            </a:pPr>
            <a:r>
              <a:rPr lang="en-US" smtClean="0">
                <a:latin typeface="Helvetica" pitchFamily="26" charset="0"/>
              </a:rPr>
              <a:t>Notation: </a:t>
            </a:r>
            <a:r>
              <a:rPr lang="en-US" u="sng" smtClean="0">
                <a:latin typeface="Helvetica" pitchFamily="26" charset="0"/>
              </a:rPr>
              <a:t>Node</a:t>
            </a:r>
            <a:r>
              <a:rPr lang="en-US" smtClean="0">
                <a:latin typeface="Helvetica" pitchFamily="26" charset="0"/>
              </a:rPr>
              <a:t>, </a:t>
            </a:r>
            <a:r>
              <a:rPr lang="en-US" u="sng" smtClean="0">
                <a:latin typeface="Helvetica" pitchFamily="26" charset="0"/>
              </a:rPr>
              <a:t>children</a:t>
            </a:r>
            <a:r>
              <a:rPr lang="en-US" smtClean="0">
                <a:latin typeface="Helvetica" pitchFamily="26" charset="0"/>
              </a:rPr>
              <a:t>, </a:t>
            </a:r>
            <a:r>
              <a:rPr lang="en-US" u="sng" smtClean="0">
                <a:latin typeface="Helvetica" pitchFamily="26" charset="0"/>
              </a:rPr>
              <a:t>edge</a:t>
            </a:r>
            <a:r>
              <a:rPr lang="en-US" smtClean="0">
                <a:latin typeface="Helvetica" pitchFamily="26" charset="0"/>
              </a:rPr>
              <a:t>, </a:t>
            </a:r>
            <a:r>
              <a:rPr lang="en-US" u="sng" smtClean="0">
                <a:latin typeface="Helvetica" pitchFamily="26" charset="0"/>
              </a:rPr>
              <a:t>parent</a:t>
            </a:r>
            <a:r>
              <a:rPr lang="en-US" smtClean="0">
                <a:latin typeface="Helvetica" pitchFamily="26" charset="0"/>
              </a:rPr>
              <a:t>, </a:t>
            </a:r>
            <a:r>
              <a:rPr lang="en-US" u="sng" smtClean="0">
                <a:latin typeface="Helvetica" pitchFamily="26" charset="0"/>
              </a:rPr>
              <a:t>ancestor</a:t>
            </a:r>
            <a:r>
              <a:rPr lang="en-US" smtClean="0">
                <a:latin typeface="Helvetica" pitchFamily="26" charset="0"/>
              </a:rPr>
              <a:t>, </a:t>
            </a:r>
            <a:r>
              <a:rPr lang="en-US" u="sng" smtClean="0">
                <a:latin typeface="Helvetica" pitchFamily="26" charset="0"/>
              </a:rPr>
              <a:t>descendant</a:t>
            </a:r>
            <a:r>
              <a:rPr lang="en-US" smtClean="0">
                <a:latin typeface="Helvetica" pitchFamily="26" charset="0"/>
              </a:rPr>
              <a:t>, </a:t>
            </a:r>
            <a:r>
              <a:rPr lang="en-US" u="sng" smtClean="0">
                <a:latin typeface="Helvetica" pitchFamily="26" charset="0"/>
              </a:rPr>
              <a:t>path</a:t>
            </a:r>
            <a:r>
              <a:rPr lang="en-US" smtClean="0">
                <a:latin typeface="Helvetica" pitchFamily="26" charset="0"/>
              </a:rPr>
              <a:t>, </a:t>
            </a:r>
            <a:r>
              <a:rPr lang="en-US" u="sng" smtClean="0">
                <a:latin typeface="Helvetica" pitchFamily="26" charset="0"/>
              </a:rPr>
              <a:t>depth</a:t>
            </a:r>
            <a:r>
              <a:rPr lang="en-US" smtClean="0">
                <a:latin typeface="Helvetica" pitchFamily="26" charset="0"/>
              </a:rPr>
              <a:t>, </a:t>
            </a:r>
            <a:r>
              <a:rPr lang="en-US" u="sng" smtClean="0">
                <a:latin typeface="Helvetica" pitchFamily="26" charset="0"/>
              </a:rPr>
              <a:t>height</a:t>
            </a:r>
            <a:r>
              <a:rPr lang="en-US" smtClean="0">
                <a:latin typeface="Helvetica" pitchFamily="26" charset="0"/>
              </a:rPr>
              <a:t>, </a:t>
            </a:r>
            <a:r>
              <a:rPr lang="en-US" u="sng" smtClean="0">
                <a:latin typeface="Helvetica" pitchFamily="26" charset="0"/>
              </a:rPr>
              <a:t>level</a:t>
            </a:r>
            <a:r>
              <a:rPr lang="en-US" smtClean="0">
                <a:latin typeface="Helvetica" pitchFamily="26" charset="0"/>
              </a:rPr>
              <a:t>, </a:t>
            </a:r>
            <a:r>
              <a:rPr lang="en-US" u="sng" smtClean="0">
                <a:latin typeface="Helvetica" pitchFamily="26" charset="0"/>
              </a:rPr>
              <a:t>leaf node</a:t>
            </a:r>
            <a:r>
              <a:rPr lang="en-US" smtClean="0">
                <a:latin typeface="Helvetica" pitchFamily="26" charset="0"/>
              </a:rPr>
              <a:t>, </a:t>
            </a:r>
            <a:r>
              <a:rPr lang="en-US" u="sng" smtClean="0">
                <a:latin typeface="Helvetica" pitchFamily="26" charset="0"/>
              </a:rPr>
              <a:t>internal node</a:t>
            </a:r>
            <a:r>
              <a:rPr lang="en-US" smtClean="0">
                <a:latin typeface="Helvetica" pitchFamily="26" charset="0"/>
              </a:rPr>
              <a:t>, </a:t>
            </a:r>
            <a:r>
              <a:rPr lang="en-US" u="sng" smtClean="0">
                <a:latin typeface="Helvetica" pitchFamily="26" charset="0"/>
              </a:rPr>
              <a:t>subtree</a:t>
            </a:r>
            <a:r>
              <a:rPr lang="en-US" smtClean="0">
                <a:latin typeface="Helvetica" pitchFamily="26" charset="0"/>
              </a:rPr>
              <a:t>.</a:t>
            </a:r>
          </a:p>
          <a:p>
            <a:pPr>
              <a:lnSpc>
                <a:spcPct val="90000"/>
              </a:lnSpc>
              <a:buFontTx/>
              <a:buNone/>
            </a:pPr>
            <a:endParaRPr lang="en-US"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2" name="Rectangle 1"/>
          <p:cNvSpPr/>
          <p:nvPr/>
        </p:nvSpPr>
        <p:spPr>
          <a:xfrm>
            <a:off x="2286000" y="1600200"/>
            <a:ext cx="1066800"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p:cNvSpPr/>
          <p:nvPr/>
        </p:nvSpPr>
        <p:spPr>
          <a:xfrm>
            <a:off x="5410200" y="1981200"/>
            <a:ext cx="457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6477000" y="2971800"/>
            <a:ext cx="457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4876800" y="3962400"/>
            <a:ext cx="457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705600" y="2133600"/>
            <a:ext cx="62555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Root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Binary Tree Example</a:t>
            </a:r>
          </a:p>
        </p:txBody>
      </p:sp>
      <p:sp>
        <p:nvSpPr>
          <p:cNvPr id="132100" name="Rectangle 3"/>
          <p:cNvSpPr>
            <a:spLocks noGrp="1" noChangeArrowheads="1"/>
          </p:cNvSpPr>
          <p:nvPr>
            <p:ph type="body" idx="1"/>
          </p:nvPr>
        </p:nvSpPr>
        <p:spPr>
          <a:xfrm>
            <a:off x="455613" y="1600200"/>
            <a:ext cx="4344987" cy="4495800"/>
          </a:xfrm>
        </p:spPr>
        <p:txBody>
          <a:bodyPr/>
          <a:lstStyle/>
          <a:p>
            <a:pPr>
              <a:lnSpc>
                <a:spcPct val="90000"/>
              </a:lnSpc>
              <a:buFontTx/>
              <a:buNone/>
            </a:pPr>
            <a:r>
              <a:rPr lang="en-US" dirty="0" smtClean="0">
                <a:latin typeface="Helvetica" pitchFamily="26" charset="0"/>
              </a:rPr>
              <a:t>Notation: </a:t>
            </a:r>
            <a:r>
              <a:rPr lang="en-US" u="sng" dirty="0" smtClean="0">
                <a:latin typeface="Helvetica" pitchFamily="26" charset="0"/>
              </a:rPr>
              <a:t>Node</a:t>
            </a:r>
            <a:r>
              <a:rPr lang="en-US" dirty="0" smtClean="0">
                <a:latin typeface="Helvetica" pitchFamily="26" charset="0"/>
              </a:rPr>
              <a:t>, </a:t>
            </a:r>
            <a:r>
              <a:rPr lang="en-US" u="sng" dirty="0" smtClean="0">
                <a:latin typeface="Helvetica" pitchFamily="26" charset="0"/>
              </a:rPr>
              <a:t>children</a:t>
            </a:r>
            <a:r>
              <a:rPr lang="en-US" dirty="0" smtClean="0">
                <a:latin typeface="Helvetica" pitchFamily="26" charset="0"/>
              </a:rPr>
              <a:t>, </a:t>
            </a:r>
            <a:r>
              <a:rPr lang="en-US" u="sng" dirty="0" smtClean="0">
                <a:latin typeface="Helvetica" pitchFamily="26" charset="0"/>
              </a:rPr>
              <a:t>edge</a:t>
            </a:r>
            <a:r>
              <a:rPr lang="en-US" dirty="0" smtClean="0">
                <a:latin typeface="Helvetica" pitchFamily="26" charset="0"/>
              </a:rPr>
              <a:t>, </a:t>
            </a:r>
            <a:r>
              <a:rPr lang="en-US" u="sng" dirty="0" smtClean="0">
                <a:latin typeface="Helvetica" pitchFamily="26" charset="0"/>
              </a:rPr>
              <a:t>parent</a:t>
            </a:r>
            <a:r>
              <a:rPr lang="en-US" dirty="0" smtClean="0">
                <a:latin typeface="Helvetica" pitchFamily="26" charset="0"/>
              </a:rPr>
              <a:t>, </a:t>
            </a:r>
            <a:r>
              <a:rPr lang="en-US" u="sng" dirty="0" smtClean="0">
                <a:latin typeface="Helvetica" pitchFamily="26" charset="0"/>
              </a:rPr>
              <a:t>ancestor</a:t>
            </a:r>
            <a:r>
              <a:rPr lang="en-US" dirty="0" smtClean="0">
                <a:latin typeface="Helvetica" pitchFamily="26" charset="0"/>
              </a:rPr>
              <a:t>, </a:t>
            </a:r>
            <a:r>
              <a:rPr lang="en-US" u="sng" dirty="0" smtClean="0">
                <a:latin typeface="Helvetica" pitchFamily="26" charset="0"/>
              </a:rPr>
              <a:t>descendant</a:t>
            </a:r>
            <a:r>
              <a:rPr lang="en-US" dirty="0" smtClean="0">
                <a:latin typeface="Helvetica" pitchFamily="26" charset="0"/>
              </a:rPr>
              <a:t>, </a:t>
            </a:r>
            <a:r>
              <a:rPr lang="en-US" u="sng" dirty="0" smtClean="0">
                <a:latin typeface="Helvetica" pitchFamily="26" charset="0"/>
              </a:rPr>
              <a:t>path</a:t>
            </a:r>
            <a:r>
              <a:rPr lang="en-US" dirty="0" smtClean="0">
                <a:latin typeface="Helvetica" pitchFamily="26" charset="0"/>
              </a:rPr>
              <a:t>, </a:t>
            </a:r>
            <a:r>
              <a:rPr lang="en-US" u="sng" dirty="0" smtClean="0">
                <a:latin typeface="Helvetica" pitchFamily="26" charset="0"/>
              </a:rPr>
              <a:t>depth</a:t>
            </a:r>
            <a:r>
              <a:rPr lang="en-US" dirty="0" smtClean="0">
                <a:latin typeface="Helvetica" pitchFamily="26" charset="0"/>
              </a:rPr>
              <a:t>, </a:t>
            </a:r>
            <a:r>
              <a:rPr lang="en-US" u="sng" dirty="0" smtClean="0">
                <a:latin typeface="Helvetica" pitchFamily="26" charset="0"/>
              </a:rPr>
              <a:t>height</a:t>
            </a:r>
            <a:r>
              <a:rPr lang="en-US" dirty="0" smtClean="0">
                <a:latin typeface="Helvetica" pitchFamily="26" charset="0"/>
              </a:rPr>
              <a:t>, </a:t>
            </a:r>
            <a:r>
              <a:rPr lang="en-US" u="sng" dirty="0" smtClean="0">
                <a:latin typeface="Helvetica" pitchFamily="26" charset="0"/>
              </a:rPr>
              <a:t>level</a:t>
            </a:r>
            <a:r>
              <a:rPr lang="en-US" dirty="0" smtClean="0">
                <a:latin typeface="Helvetica" pitchFamily="26" charset="0"/>
              </a:rPr>
              <a:t>, </a:t>
            </a:r>
            <a:r>
              <a:rPr lang="en-US" u="sng" dirty="0" smtClean="0">
                <a:latin typeface="Helvetica" pitchFamily="26" charset="0"/>
              </a:rPr>
              <a:t>leaf node</a:t>
            </a:r>
            <a:r>
              <a:rPr lang="en-US" dirty="0" smtClean="0">
                <a:latin typeface="Helvetica" pitchFamily="26" charset="0"/>
              </a:rPr>
              <a:t>, </a:t>
            </a:r>
            <a:r>
              <a:rPr lang="en-US" u="sng" dirty="0" smtClean="0">
                <a:latin typeface="Helvetica" pitchFamily="26" charset="0"/>
              </a:rPr>
              <a:t>internal node</a:t>
            </a:r>
            <a:r>
              <a:rPr lang="en-US" dirty="0" smtClean="0">
                <a:latin typeface="Helvetica" pitchFamily="26" charset="0"/>
              </a:rPr>
              <a:t>, </a:t>
            </a:r>
            <a:r>
              <a:rPr lang="en-US" u="sng" dirty="0" smtClean="0">
                <a:latin typeface="Helvetica" pitchFamily="26" charset="0"/>
              </a:rPr>
              <a:t>subtree</a:t>
            </a:r>
            <a:r>
              <a:rPr lang="en-US" dirty="0" smtClean="0">
                <a:latin typeface="Helvetica" pitchFamily="26" charset="0"/>
              </a:rPr>
              <a:t>.</a:t>
            </a:r>
          </a:p>
          <a:p>
            <a:pPr>
              <a:lnSpc>
                <a:spcPct val="90000"/>
              </a:lnSpc>
              <a:buFontTx/>
              <a:buNone/>
            </a:pPr>
            <a:endParaRPr lang="en-US" dirty="0"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2" name="Rectangle 1"/>
          <p:cNvSpPr/>
          <p:nvPr/>
        </p:nvSpPr>
        <p:spPr>
          <a:xfrm>
            <a:off x="2438400" y="2057400"/>
            <a:ext cx="1066800"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p:cNvSpPr/>
          <p:nvPr/>
        </p:nvSpPr>
        <p:spPr>
          <a:xfrm rot="3800787">
            <a:off x="5266455" y="2252510"/>
            <a:ext cx="443063" cy="428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rot="2493817">
            <a:off x="6535021" y="3226401"/>
            <a:ext cx="417359" cy="3811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9065566">
            <a:off x="4902827" y="3608685"/>
            <a:ext cx="585900" cy="530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47499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0" y="1600200"/>
            <a:ext cx="4344987" cy="4495800"/>
          </a:xfrm>
        </p:spPr>
        <p:txBody>
          <a:bodyPr/>
          <a:lstStyle/>
          <a:p>
            <a:pPr>
              <a:lnSpc>
                <a:spcPct val="90000"/>
              </a:lnSpc>
              <a:buFontTx/>
              <a:buNone/>
            </a:pPr>
            <a:r>
              <a:rPr lang="en-US" dirty="0" smtClean="0">
                <a:latin typeface="Helvetica" pitchFamily="26" charset="0"/>
              </a:rPr>
              <a:t>Notation: </a:t>
            </a:r>
            <a:r>
              <a:rPr lang="en-US" u="sng" dirty="0" smtClean="0">
                <a:latin typeface="Helvetica" pitchFamily="26" charset="0"/>
              </a:rPr>
              <a:t>Node</a:t>
            </a:r>
            <a:r>
              <a:rPr lang="en-US" dirty="0" smtClean="0">
                <a:latin typeface="Helvetica" pitchFamily="26" charset="0"/>
              </a:rPr>
              <a:t>, </a:t>
            </a:r>
            <a:r>
              <a:rPr lang="en-US" u="sng" dirty="0" smtClean="0">
                <a:latin typeface="Helvetica" pitchFamily="26" charset="0"/>
              </a:rPr>
              <a:t>children</a:t>
            </a:r>
            <a:r>
              <a:rPr lang="en-US" dirty="0" smtClean="0">
                <a:latin typeface="Helvetica" pitchFamily="26" charset="0"/>
              </a:rPr>
              <a:t>, </a:t>
            </a:r>
            <a:r>
              <a:rPr lang="en-US" u="sng" dirty="0" smtClean="0">
                <a:latin typeface="Helvetica" pitchFamily="26" charset="0"/>
              </a:rPr>
              <a:t>edge</a:t>
            </a:r>
            <a:r>
              <a:rPr lang="en-US" dirty="0" smtClean="0">
                <a:latin typeface="Helvetica" pitchFamily="26" charset="0"/>
              </a:rPr>
              <a:t>, </a:t>
            </a:r>
            <a:r>
              <a:rPr lang="en-US" u="sng" dirty="0" smtClean="0">
                <a:latin typeface="Helvetica" pitchFamily="26" charset="0"/>
              </a:rPr>
              <a:t>parent</a:t>
            </a:r>
            <a:r>
              <a:rPr lang="en-US" dirty="0" smtClean="0">
                <a:latin typeface="Helvetica" pitchFamily="26" charset="0"/>
              </a:rPr>
              <a:t>, </a:t>
            </a:r>
            <a:r>
              <a:rPr lang="en-US" u="sng" dirty="0" smtClean="0">
                <a:latin typeface="Helvetica" pitchFamily="26" charset="0"/>
              </a:rPr>
              <a:t>ancestor</a:t>
            </a:r>
            <a:r>
              <a:rPr lang="en-US" dirty="0" smtClean="0">
                <a:latin typeface="Helvetica" pitchFamily="26" charset="0"/>
              </a:rPr>
              <a:t>, </a:t>
            </a:r>
            <a:r>
              <a:rPr lang="en-US" u="sng" dirty="0" smtClean="0">
                <a:latin typeface="Helvetica" pitchFamily="26" charset="0"/>
              </a:rPr>
              <a:t>descendant</a:t>
            </a:r>
            <a:r>
              <a:rPr lang="en-US" dirty="0" smtClean="0">
                <a:latin typeface="Helvetica" pitchFamily="26" charset="0"/>
              </a:rPr>
              <a:t>, </a:t>
            </a:r>
            <a:r>
              <a:rPr lang="en-US" u="sng" dirty="0" smtClean="0">
                <a:latin typeface="Helvetica" pitchFamily="26" charset="0"/>
              </a:rPr>
              <a:t>path</a:t>
            </a:r>
            <a:r>
              <a:rPr lang="en-US" dirty="0" smtClean="0">
                <a:latin typeface="Helvetica" pitchFamily="26" charset="0"/>
              </a:rPr>
              <a:t>, </a:t>
            </a:r>
            <a:r>
              <a:rPr lang="en-US" u="sng" dirty="0" smtClean="0">
                <a:latin typeface="Helvetica" pitchFamily="26" charset="0"/>
              </a:rPr>
              <a:t>depth</a:t>
            </a:r>
            <a:r>
              <a:rPr lang="en-US" dirty="0" smtClean="0">
                <a:latin typeface="Helvetica" pitchFamily="26" charset="0"/>
              </a:rPr>
              <a:t>, </a:t>
            </a:r>
            <a:r>
              <a:rPr lang="en-US" u="sng" dirty="0" smtClean="0">
                <a:latin typeface="Helvetica" pitchFamily="26" charset="0"/>
              </a:rPr>
              <a:t>height</a:t>
            </a:r>
            <a:r>
              <a:rPr lang="en-US" dirty="0" smtClean="0">
                <a:latin typeface="Helvetica" pitchFamily="26" charset="0"/>
              </a:rPr>
              <a:t>, </a:t>
            </a:r>
            <a:r>
              <a:rPr lang="en-US" u="sng" dirty="0" smtClean="0">
                <a:latin typeface="Helvetica" pitchFamily="26" charset="0"/>
              </a:rPr>
              <a:t>level</a:t>
            </a:r>
            <a:r>
              <a:rPr lang="en-US" dirty="0" smtClean="0">
                <a:latin typeface="Helvetica" pitchFamily="26" charset="0"/>
              </a:rPr>
              <a:t>, </a:t>
            </a:r>
            <a:r>
              <a:rPr lang="en-US" u="sng" dirty="0" smtClean="0">
                <a:latin typeface="Helvetica" pitchFamily="26" charset="0"/>
              </a:rPr>
              <a:t>leaf node</a:t>
            </a:r>
            <a:r>
              <a:rPr lang="en-US" dirty="0" smtClean="0">
                <a:latin typeface="Helvetica" pitchFamily="26" charset="0"/>
              </a:rPr>
              <a:t>, </a:t>
            </a:r>
            <a:r>
              <a:rPr lang="en-US" u="sng" dirty="0" smtClean="0">
                <a:latin typeface="Helvetica" pitchFamily="26" charset="0"/>
              </a:rPr>
              <a:t>internal node</a:t>
            </a:r>
            <a:r>
              <a:rPr lang="en-US" dirty="0" smtClean="0">
                <a:latin typeface="Helvetica" pitchFamily="26" charset="0"/>
              </a:rPr>
              <a:t>, </a:t>
            </a:r>
            <a:r>
              <a:rPr lang="en-US" u="sng" dirty="0" smtClean="0">
                <a:latin typeface="Helvetica" pitchFamily="26" charset="0"/>
              </a:rPr>
              <a:t>subtree</a:t>
            </a:r>
            <a:r>
              <a:rPr lang="en-US" dirty="0" smtClean="0">
                <a:latin typeface="Helvetica" pitchFamily="26" charset="0"/>
              </a:rPr>
              <a:t>.</a:t>
            </a:r>
          </a:p>
          <a:p>
            <a:pPr>
              <a:lnSpc>
                <a:spcPct val="90000"/>
              </a:lnSpc>
              <a:buFontTx/>
              <a:buNone/>
            </a:pPr>
            <a:endParaRPr lang="en-US" dirty="0"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6" name="Rectangle 5"/>
          <p:cNvSpPr/>
          <p:nvPr/>
        </p:nvSpPr>
        <p:spPr>
          <a:xfrm>
            <a:off x="364575" y="2057400"/>
            <a:ext cx="1542011"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p:cNvCxnSpPr/>
          <p:nvPr/>
        </p:nvCxnSpPr>
        <p:spPr>
          <a:xfrm flipH="1">
            <a:off x="5181600" y="2286000"/>
            <a:ext cx="685800" cy="304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6553200" y="2362200"/>
            <a:ext cx="838200" cy="381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703809" y="2743200"/>
            <a:ext cx="1246944"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dirty="0" smtClean="0"/>
              <a:t>Right Child </a:t>
            </a:r>
          </a:p>
          <a:p>
            <a:pPr algn="ctr"/>
            <a:r>
              <a:rPr lang="en-US" dirty="0" smtClean="0"/>
              <a:t>of A</a:t>
            </a:r>
            <a:endParaRPr lang="en-US" dirty="0"/>
          </a:p>
        </p:txBody>
      </p:sp>
      <p:sp>
        <p:nvSpPr>
          <p:cNvPr id="12" name="TextBox 11"/>
          <p:cNvSpPr txBox="1"/>
          <p:nvPr/>
        </p:nvSpPr>
        <p:spPr>
          <a:xfrm>
            <a:off x="3909280" y="2277198"/>
            <a:ext cx="1121974"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dirty="0" smtClean="0"/>
              <a:t>Left Child </a:t>
            </a:r>
          </a:p>
          <a:p>
            <a:pPr algn="ctr"/>
            <a:r>
              <a:rPr lang="en-US" dirty="0" smtClean="0"/>
              <a:t>of A</a:t>
            </a:r>
            <a:endParaRPr lang="en-US" dirty="0"/>
          </a:p>
        </p:txBody>
      </p:sp>
      <p:sp>
        <p:nvSpPr>
          <p:cNvPr id="13" name="TextBox 12"/>
          <p:cNvSpPr txBox="1"/>
          <p:nvPr/>
        </p:nvSpPr>
        <p:spPr>
          <a:xfrm>
            <a:off x="5374842" y="4419600"/>
            <a:ext cx="721158"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dirty="0" smtClean="0"/>
              <a:t>Right </a:t>
            </a:r>
          </a:p>
          <a:p>
            <a:pPr algn="ctr"/>
            <a:r>
              <a:rPr lang="en-US" dirty="0" smtClean="0"/>
              <a:t>Child </a:t>
            </a:r>
          </a:p>
          <a:p>
            <a:pPr algn="ctr"/>
            <a:r>
              <a:rPr lang="en-US" dirty="0" smtClean="0"/>
              <a:t>of B</a:t>
            </a:r>
            <a:endParaRPr lang="en-US" dirty="0"/>
          </a:p>
        </p:txBody>
      </p:sp>
      <p:sp>
        <p:nvSpPr>
          <p:cNvPr id="8" name="TextBox 7"/>
          <p:cNvSpPr txBox="1"/>
          <p:nvPr/>
        </p:nvSpPr>
        <p:spPr>
          <a:xfrm>
            <a:off x="2885269" y="4962006"/>
            <a:ext cx="2316981"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Does B have a child???</a:t>
            </a:r>
            <a:endParaRPr lang="en-US" dirty="0"/>
          </a:p>
        </p:txBody>
      </p:sp>
      <p:pic>
        <p:nvPicPr>
          <p:cNvPr id="9" name="Picture 8"/>
          <p:cNvPicPr>
            <a:picLocks noChangeAspect="1"/>
          </p:cNvPicPr>
          <p:nvPr/>
        </p:nvPicPr>
        <p:blipFill>
          <a:blip r:embed="rId4"/>
          <a:stretch>
            <a:fillRect/>
          </a:stretch>
        </p:blipFill>
        <p:spPr>
          <a:xfrm>
            <a:off x="4205034" y="3571513"/>
            <a:ext cx="766212" cy="1172537"/>
          </a:xfrm>
          <a:prstGeom prst="rect">
            <a:avLst/>
          </a:prstGeom>
        </p:spPr>
      </p:pic>
      <p:cxnSp>
        <p:nvCxnSpPr>
          <p:cNvPr id="11" name="Straight Arrow Connector 10"/>
          <p:cNvCxnSpPr/>
          <p:nvPr/>
        </p:nvCxnSpPr>
        <p:spPr>
          <a:xfrm>
            <a:off x="5448300" y="3276600"/>
            <a:ext cx="342900" cy="454303"/>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5"/>
          <a:stretch>
            <a:fillRect/>
          </a:stretch>
        </p:blipFill>
        <p:spPr>
          <a:xfrm>
            <a:off x="1135580" y="5509834"/>
            <a:ext cx="1566092" cy="1172332"/>
          </a:xfrm>
          <a:prstGeom prst="rect">
            <a:avLst/>
          </a:prstGeom>
        </p:spPr>
      </p:pic>
      <p:sp>
        <p:nvSpPr>
          <p:cNvPr id="20" name="TextBox 19"/>
          <p:cNvSpPr txBox="1"/>
          <p:nvPr/>
        </p:nvSpPr>
        <p:spPr>
          <a:xfrm>
            <a:off x="2853737" y="5871668"/>
            <a:ext cx="2275559"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B has an empty child!!</a:t>
            </a:r>
            <a:endParaRPr lang="en-US" dirty="0"/>
          </a:p>
        </p:txBody>
      </p:sp>
    </p:spTree>
    <p:extLst>
      <p:ext uri="{BB962C8B-B14F-4D97-AF65-F5344CB8AC3E}">
        <p14:creationId xmlns:p14="http://schemas.microsoft.com/office/powerpoint/2010/main" val="157531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up)">
                                      <p:cBhvr>
                                        <p:cTn id="10" dur="500"/>
                                        <p:tgtEl>
                                          <p:spTgt spid="12"/>
                                        </p:tgtEl>
                                      </p:cBhvr>
                                    </p:animEffect>
                                  </p:childTnLst>
                                </p:cTn>
                              </p:par>
                              <p:par>
                                <p:cTn id="11" presetID="22" presetClass="entr" presetSubtype="1"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par>
                                <p:cTn id="17" presetID="22" presetClass="entr" presetSubtype="1"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8"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455613" y="1600200"/>
            <a:ext cx="4344987" cy="4495800"/>
          </a:xfrm>
        </p:spPr>
        <p:txBody>
          <a:bodyPr/>
          <a:lstStyle/>
          <a:p>
            <a:pPr>
              <a:lnSpc>
                <a:spcPct val="90000"/>
              </a:lnSpc>
              <a:buFontTx/>
              <a:buNone/>
            </a:pPr>
            <a:r>
              <a:rPr lang="en-US" smtClean="0">
                <a:latin typeface="Helvetica" pitchFamily="26" charset="0"/>
              </a:rPr>
              <a:t>Notation: </a:t>
            </a:r>
            <a:r>
              <a:rPr lang="en-US" u="sng" smtClean="0">
                <a:latin typeface="Helvetica" pitchFamily="26" charset="0"/>
              </a:rPr>
              <a:t>Node</a:t>
            </a:r>
            <a:r>
              <a:rPr lang="en-US" smtClean="0">
                <a:latin typeface="Helvetica" pitchFamily="26" charset="0"/>
              </a:rPr>
              <a:t>, </a:t>
            </a:r>
            <a:r>
              <a:rPr lang="en-US" u="sng" smtClean="0">
                <a:latin typeface="Helvetica" pitchFamily="26" charset="0"/>
              </a:rPr>
              <a:t>children</a:t>
            </a:r>
            <a:r>
              <a:rPr lang="en-US" smtClean="0">
                <a:latin typeface="Helvetica" pitchFamily="26" charset="0"/>
              </a:rPr>
              <a:t>, </a:t>
            </a:r>
            <a:r>
              <a:rPr lang="en-US" u="sng" smtClean="0">
                <a:latin typeface="Helvetica" pitchFamily="26" charset="0"/>
              </a:rPr>
              <a:t>edge</a:t>
            </a:r>
            <a:r>
              <a:rPr lang="en-US" smtClean="0">
                <a:latin typeface="Helvetica" pitchFamily="26" charset="0"/>
              </a:rPr>
              <a:t>, </a:t>
            </a:r>
            <a:r>
              <a:rPr lang="en-US" u="sng" smtClean="0">
                <a:latin typeface="Helvetica" pitchFamily="26" charset="0"/>
              </a:rPr>
              <a:t>parent</a:t>
            </a:r>
            <a:r>
              <a:rPr lang="en-US" smtClean="0">
                <a:latin typeface="Helvetica" pitchFamily="26" charset="0"/>
              </a:rPr>
              <a:t>, </a:t>
            </a:r>
            <a:r>
              <a:rPr lang="en-US" u="sng" smtClean="0">
                <a:latin typeface="Helvetica" pitchFamily="26" charset="0"/>
              </a:rPr>
              <a:t>ancestor</a:t>
            </a:r>
            <a:r>
              <a:rPr lang="en-US" smtClean="0">
                <a:latin typeface="Helvetica" pitchFamily="26" charset="0"/>
              </a:rPr>
              <a:t>, </a:t>
            </a:r>
            <a:r>
              <a:rPr lang="en-US" u="sng" smtClean="0">
                <a:latin typeface="Helvetica" pitchFamily="26" charset="0"/>
              </a:rPr>
              <a:t>descendant</a:t>
            </a:r>
            <a:r>
              <a:rPr lang="en-US" smtClean="0">
                <a:latin typeface="Helvetica" pitchFamily="26" charset="0"/>
              </a:rPr>
              <a:t>, </a:t>
            </a:r>
            <a:r>
              <a:rPr lang="en-US" u="sng" smtClean="0">
                <a:latin typeface="Helvetica" pitchFamily="26" charset="0"/>
              </a:rPr>
              <a:t>path</a:t>
            </a:r>
            <a:r>
              <a:rPr lang="en-US" smtClean="0">
                <a:latin typeface="Helvetica" pitchFamily="26" charset="0"/>
              </a:rPr>
              <a:t>, </a:t>
            </a:r>
            <a:r>
              <a:rPr lang="en-US" u="sng" smtClean="0">
                <a:latin typeface="Helvetica" pitchFamily="26" charset="0"/>
              </a:rPr>
              <a:t>depth</a:t>
            </a:r>
            <a:r>
              <a:rPr lang="en-US" smtClean="0">
                <a:latin typeface="Helvetica" pitchFamily="26" charset="0"/>
              </a:rPr>
              <a:t>, </a:t>
            </a:r>
            <a:r>
              <a:rPr lang="en-US" u="sng" smtClean="0">
                <a:latin typeface="Helvetica" pitchFamily="26" charset="0"/>
              </a:rPr>
              <a:t>height</a:t>
            </a:r>
            <a:r>
              <a:rPr lang="en-US" smtClean="0">
                <a:latin typeface="Helvetica" pitchFamily="26" charset="0"/>
              </a:rPr>
              <a:t>, </a:t>
            </a:r>
            <a:r>
              <a:rPr lang="en-US" u="sng" smtClean="0">
                <a:latin typeface="Helvetica" pitchFamily="26" charset="0"/>
              </a:rPr>
              <a:t>level</a:t>
            </a:r>
            <a:r>
              <a:rPr lang="en-US" smtClean="0">
                <a:latin typeface="Helvetica" pitchFamily="26" charset="0"/>
              </a:rPr>
              <a:t>, </a:t>
            </a:r>
            <a:r>
              <a:rPr lang="en-US" u="sng" smtClean="0">
                <a:latin typeface="Helvetica" pitchFamily="26" charset="0"/>
              </a:rPr>
              <a:t>leaf node</a:t>
            </a:r>
            <a:r>
              <a:rPr lang="en-US" smtClean="0">
                <a:latin typeface="Helvetica" pitchFamily="26" charset="0"/>
              </a:rPr>
              <a:t>, </a:t>
            </a:r>
            <a:r>
              <a:rPr lang="en-US" u="sng" smtClean="0">
                <a:latin typeface="Helvetica" pitchFamily="26" charset="0"/>
              </a:rPr>
              <a:t>internal node</a:t>
            </a:r>
            <a:r>
              <a:rPr lang="en-US" smtClean="0">
                <a:latin typeface="Helvetica" pitchFamily="26" charset="0"/>
              </a:rPr>
              <a:t>, </a:t>
            </a:r>
            <a:r>
              <a:rPr lang="en-US" u="sng" smtClean="0">
                <a:latin typeface="Helvetica" pitchFamily="26" charset="0"/>
              </a:rPr>
              <a:t>subtree</a:t>
            </a:r>
            <a:r>
              <a:rPr lang="en-US" smtClean="0">
                <a:latin typeface="Helvetica" pitchFamily="26" charset="0"/>
              </a:rPr>
              <a:t>.</a:t>
            </a:r>
          </a:p>
          <a:p>
            <a:pPr>
              <a:lnSpc>
                <a:spcPct val="90000"/>
              </a:lnSpc>
              <a:buFontTx/>
              <a:buNone/>
            </a:pPr>
            <a:endParaRPr lang="en-US"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6" name="Rectangle 5"/>
          <p:cNvSpPr/>
          <p:nvPr/>
        </p:nvSpPr>
        <p:spPr>
          <a:xfrm>
            <a:off x="838200" y="2514600"/>
            <a:ext cx="1371600"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a:off x="5181600" y="2286000"/>
            <a:ext cx="685800" cy="304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553200" y="2362200"/>
            <a:ext cx="838200" cy="381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448300" y="3276600"/>
            <a:ext cx="342900" cy="454303"/>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5486400" y="1535668"/>
            <a:ext cx="180485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Parent of B and C</a:t>
            </a:r>
            <a:endParaRPr lang="en-US" dirty="0"/>
          </a:p>
        </p:txBody>
      </p:sp>
      <p:sp>
        <p:nvSpPr>
          <p:cNvPr id="14" name="TextBox 13"/>
          <p:cNvSpPr txBox="1"/>
          <p:nvPr/>
        </p:nvSpPr>
        <p:spPr>
          <a:xfrm>
            <a:off x="5448300" y="2827897"/>
            <a:ext cx="1238994"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Parent of D</a:t>
            </a:r>
            <a:endParaRPr lang="en-US" dirty="0"/>
          </a:p>
        </p:txBody>
      </p:sp>
    </p:spTree>
    <p:extLst>
      <p:ext uri="{BB962C8B-B14F-4D97-AF65-F5344CB8AC3E}">
        <p14:creationId xmlns:p14="http://schemas.microsoft.com/office/powerpoint/2010/main" val="18129114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455613" y="1219200"/>
            <a:ext cx="4344987" cy="3429000"/>
          </a:xfrm>
        </p:spPr>
        <p:txBody>
          <a:bodyPr/>
          <a:lstStyle/>
          <a:p>
            <a:pPr>
              <a:lnSpc>
                <a:spcPct val="90000"/>
              </a:lnSpc>
              <a:buFontTx/>
              <a:buNone/>
            </a:pPr>
            <a:r>
              <a:rPr lang="en-US" dirty="0" smtClean="0">
                <a:latin typeface="Helvetica" pitchFamily="26" charset="0"/>
              </a:rPr>
              <a:t>Notation: </a:t>
            </a:r>
            <a:r>
              <a:rPr lang="en-US" u="sng" dirty="0" smtClean="0">
                <a:latin typeface="Helvetica" pitchFamily="26" charset="0"/>
              </a:rPr>
              <a:t>Node</a:t>
            </a:r>
            <a:r>
              <a:rPr lang="en-US" dirty="0" smtClean="0">
                <a:latin typeface="Helvetica" pitchFamily="26" charset="0"/>
              </a:rPr>
              <a:t>, </a:t>
            </a:r>
            <a:r>
              <a:rPr lang="en-US" u="sng" dirty="0" smtClean="0">
                <a:latin typeface="Helvetica" pitchFamily="26" charset="0"/>
              </a:rPr>
              <a:t>children</a:t>
            </a:r>
            <a:r>
              <a:rPr lang="en-US" dirty="0" smtClean="0">
                <a:latin typeface="Helvetica" pitchFamily="26" charset="0"/>
              </a:rPr>
              <a:t>, </a:t>
            </a:r>
            <a:r>
              <a:rPr lang="en-US" u="sng" dirty="0" smtClean="0">
                <a:latin typeface="Helvetica" pitchFamily="26" charset="0"/>
              </a:rPr>
              <a:t>edge</a:t>
            </a:r>
            <a:r>
              <a:rPr lang="en-US" dirty="0" smtClean="0">
                <a:latin typeface="Helvetica" pitchFamily="26" charset="0"/>
              </a:rPr>
              <a:t>, </a:t>
            </a:r>
            <a:r>
              <a:rPr lang="en-US" u="sng" dirty="0" smtClean="0">
                <a:latin typeface="Helvetica" pitchFamily="26" charset="0"/>
              </a:rPr>
              <a:t>parent</a:t>
            </a:r>
            <a:r>
              <a:rPr lang="en-US" dirty="0" smtClean="0">
                <a:latin typeface="Helvetica" pitchFamily="26" charset="0"/>
              </a:rPr>
              <a:t>, </a:t>
            </a:r>
            <a:r>
              <a:rPr lang="en-US" u="sng" dirty="0" smtClean="0">
                <a:latin typeface="Helvetica" pitchFamily="26" charset="0"/>
              </a:rPr>
              <a:t>ancestor</a:t>
            </a:r>
            <a:r>
              <a:rPr lang="en-US" dirty="0" smtClean="0">
                <a:latin typeface="Helvetica" pitchFamily="26" charset="0"/>
              </a:rPr>
              <a:t>, </a:t>
            </a:r>
            <a:r>
              <a:rPr lang="en-US" u="sng" dirty="0" smtClean="0">
                <a:latin typeface="Helvetica" pitchFamily="26" charset="0"/>
              </a:rPr>
              <a:t>descendant</a:t>
            </a:r>
            <a:r>
              <a:rPr lang="en-US" dirty="0" smtClean="0">
                <a:latin typeface="Helvetica" pitchFamily="26" charset="0"/>
              </a:rPr>
              <a:t>, </a:t>
            </a:r>
            <a:r>
              <a:rPr lang="en-US" u="sng" dirty="0" smtClean="0">
                <a:latin typeface="Helvetica" pitchFamily="26" charset="0"/>
              </a:rPr>
              <a:t>path</a:t>
            </a:r>
            <a:r>
              <a:rPr lang="en-US" dirty="0" smtClean="0">
                <a:latin typeface="Helvetica" pitchFamily="26" charset="0"/>
              </a:rPr>
              <a:t>, </a:t>
            </a:r>
            <a:r>
              <a:rPr lang="en-US" u="sng" dirty="0" smtClean="0">
                <a:latin typeface="Helvetica" pitchFamily="26" charset="0"/>
              </a:rPr>
              <a:t>depth</a:t>
            </a:r>
            <a:r>
              <a:rPr lang="en-US" dirty="0" smtClean="0">
                <a:latin typeface="Helvetica" pitchFamily="26" charset="0"/>
              </a:rPr>
              <a:t>, </a:t>
            </a:r>
            <a:r>
              <a:rPr lang="en-US" u="sng" dirty="0" smtClean="0">
                <a:latin typeface="Helvetica" pitchFamily="26" charset="0"/>
              </a:rPr>
              <a:t>height</a:t>
            </a:r>
            <a:r>
              <a:rPr lang="en-US" dirty="0" smtClean="0">
                <a:latin typeface="Helvetica" pitchFamily="26" charset="0"/>
              </a:rPr>
              <a:t>, </a:t>
            </a:r>
            <a:r>
              <a:rPr lang="en-US" u="sng" dirty="0" smtClean="0">
                <a:latin typeface="Helvetica" pitchFamily="26" charset="0"/>
              </a:rPr>
              <a:t>level</a:t>
            </a:r>
            <a:r>
              <a:rPr lang="en-US" dirty="0" smtClean="0">
                <a:latin typeface="Helvetica" pitchFamily="26" charset="0"/>
              </a:rPr>
              <a:t>, </a:t>
            </a:r>
            <a:r>
              <a:rPr lang="en-US" u="sng" dirty="0" smtClean="0">
                <a:latin typeface="Helvetica" pitchFamily="26" charset="0"/>
              </a:rPr>
              <a:t>leaf node</a:t>
            </a:r>
            <a:r>
              <a:rPr lang="en-US" dirty="0" smtClean="0">
                <a:latin typeface="Helvetica" pitchFamily="26" charset="0"/>
              </a:rPr>
              <a:t>, </a:t>
            </a:r>
            <a:r>
              <a:rPr lang="en-US" u="sng" dirty="0" smtClean="0">
                <a:latin typeface="Helvetica" pitchFamily="26" charset="0"/>
              </a:rPr>
              <a:t>internal node</a:t>
            </a:r>
            <a:r>
              <a:rPr lang="en-US" dirty="0" smtClean="0">
                <a:latin typeface="Helvetica" pitchFamily="26" charset="0"/>
              </a:rPr>
              <a:t>, </a:t>
            </a:r>
            <a:r>
              <a:rPr lang="en-US" u="sng" dirty="0" smtClean="0">
                <a:latin typeface="Helvetica" pitchFamily="26" charset="0"/>
              </a:rPr>
              <a:t>subtree</a:t>
            </a:r>
            <a:r>
              <a:rPr lang="en-US" dirty="0" smtClean="0">
                <a:latin typeface="Helvetica" pitchFamily="26" charset="0"/>
              </a:rPr>
              <a:t>.</a:t>
            </a:r>
          </a:p>
          <a:p>
            <a:pPr>
              <a:lnSpc>
                <a:spcPct val="90000"/>
              </a:lnSpc>
              <a:buFontTx/>
              <a:buNone/>
            </a:pPr>
            <a:endParaRPr lang="en-US" dirty="0"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6" name="Rectangle 5"/>
          <p:cNvSpPr/>
          <p:nvPr/>
        </p:nvSpPr>
        <p:spPr>
          <a:xfrm>
            <a:off x="3124200" y="2514600"/>
            <a:ext cx="914400"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reeform 1"/>
          <p:cNvSpPr/>
          <p:nvPr/>
        </p:nvSpPr>
        <p:spPr>
          <a:xfrm>
            <a:off x="6616931" y="2327564"/>
            <a:ext cx="1234697" cy="2527069"/>
          </a:xfrm>
          <a:custGeom>
            <a:avLst/>
            <a:gdLst>
              <a:gd name="connsiteX0" fmla="*/ 83127 w 1234697"/>
              <a:gd name="connsiteY0" fmla="*/ 0 h 2527069"/>
              <a:gd name="connsiteX1" fmla="*/ 232756 w 1234697"/>
              <a:gd name="connsiteY1" fmla="*/ 33251 h 2527069"/>
              <a:gd name="connsiteX2" fmla="*/ 282633 w 1234697"/>
              <a:gd name="connsiteY2" fmla="*/ 49876 h 2527069"/>
              <a:gd name="connsiteX3" fmla="*/ 382385 w 1234697"/>
              <a:gd name="connsiteY3" fmla="*/ 99752 h 2527069"/>
              <a:gd name="connsiteX4" fmla="*/ 432262 w 1234697"/>
              <a:gd name="connsiteY4" fmla="*/ 133003 h 2527069"/>
              <a:gd name="connsiteX5" fmla="*/ 532014 w 1234697"/>
              <a:gd name="connsiteY5" fmla="*/ 166254 h 2527069"/>
              <a:gd name="connsiteX6" fmla="*/ 631767 w 1234697"/>
              <a:gd name="connsiteY6" fmla="*/ 232756 h 2527069"/>
              <a:gd name="connsiteX7" fmla="*/ 764771 w 1234697"/>
              <a:gd name="connsiteY7" fmla="*/ 266007 h 2527069"/>
              <a:gd name="connsiteX8" fmla="*/ 831273 w 1234697"/>
              <a:gd name="connsiteY8" fmla="*/ 299258 h 2527069"/>
              <a:gd name="connsiteX9" fmla="*/ 947651 w 1234697"/>
              <a:gd name="connsiteY9" fmla="*/ 349134 h 2527069"/>
              <a:gd name="connsiteX10" fmla="*/ 1047404 w 1234697"/>
              <a:gd name="connsiteY10" fmla="*/ 415636 h 2527069"/>
              <a:gd name="connsiteX11" fmla="*/ 1197033 w 1234697"/>
              <a:gd name="connsiteY11" fmla="*/ 548640 h 2527069"/>
              <a:gd name="connsiteX12" fmla="*/ 1213658 w 1234697"/>
              <a:gd name="connsiteY12" fmla="*/ 847898 h 2527069"/>
              <a:gd name="connsiteX13" fmla="*/ 1163782 w 1234697"/>
              <a:gd name="connsiteY13" fmla="*/ 947651 h 2527069"/>
              <a:gd name="connsiteX14" fmla="*/ 1113905 w 1234697"/>
              <a:gd name="connsiteY14" fmla="*/ 964276 h 2527069"/>
              <a:gd name="connsiteX15" fmla="*/ 1030778 w 1234697"/>
              <a:gd name="connsiteY15" fmla="*/ 1030778 h 2527069"/>
              <a:gd name="connsiteX16" fmla="*/ 947651 w 1234697"/>
              <a:gd name="connsiteY16" fmla="*/ 1097280 h 2527069"/>
              <a:gd name="connsiteX17" fmla="*/ 847898 w 1234697"/>
              <a:gd name="connsiteY17" fmla="*/ 1197032 h 2527069"/>
              <a:gd name="connsiteX18" fmla="*/ 748145 w 1234697"/>
              <a:gd name="connsiteY18" fmla="*/ 1263534 h 2527069"/>
              <a:gd name="connsiteX19" fmla="*/ 615142 w 1234697"/>
              <a:gd name="connsiteY19" fmla="*/ 1413163 h 2527069"/>
              <a:gd name="connsiteX20" fmla="*/ 581891 w 1234697"/>
              <a:gd name="connsiteY20" fmla="*/ 1463040 h 2527069"/>
              <a:gd name="connsiteX21" fmla="*/ 482138 w 1234697"/>
              <a:gd name="connsiteY21" fmla="*/ 1562792 h 2527069"/>
              <a:gd name="connsiteX22" fmla="*/ 465513 w 1234697"/>
              <a:gd name="connsiteY22" fmla="*/ 1679171 h 2527069"/>
              <a:gd name="connsiteX23" fmla="*/ 399011 w 1234697"/>
              <a:gd name="connsiteY23" fmla="*/ 1778923 h 2527069"/>
              <a:gd name="connsiteX24" fmla="*/ 382385 w 1234697"/>
              <a:gd name="connsiteY24" fmla="*/ 1828800 h 2527069"/>
              <a:gd name="connsiteX25" fmla="*/ 315884 w 1234697"/>
              <a:gd name="connsiteY25" fmla="*/ 1895301 h 2527069"/>
              <a:gd name="connsiteX26" fmla="*/ 249382 w 1234697"/>
              <a:gd name="connsiteY26" fmla="*/ 2044931 h 2527069"/>
              <a:gd name="connsiteX27" fmla="*/ 232756 w 1234697"/>
              <a:gd name="connsiteY27" fmla="*/ 2094807 h 2527069"/>
              <a:gd name="connsiteX28" fmla="*/ 166254 w 1234697"/>
              <a:gd name="connsiteY28" fmla="*/ 2244436 h 2527069"/>
              <a:gd name="connsiteX29" fmla="*/ 149629 w 1234697"/>
              <a:gd name="connsiteY29" fmla="*/ 2310938 h 2527069"/>
              <a:gd name="connsiteX30" fmla="*/ 49876 w 1234697"/>
              <a:gd name="connsiteY30" fmla="*/ 2477192 h 2527069"/>
              <a:gd name="connsiteX31" fmla="*/ 0 w 1234697"/>
              <a:gd name="connsiteY31" fmla="*/ 2527069 h 2527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4697" h="2527069">
                <a:moveTo>
                  <a:pt x="83127" y="0"/>
                </a:moveTo>
                <a:cubicBezTo>
                  <a:pt x="140280" y="11430"/>
                  <a:pt x="177960" y="17595"/>
                  <a:pt x="232756" y="33251"/>
                </a:cubicBezTo>
                <a:cubicBezTo>
                  <a:pt x="249607" y="38065"/>
                  <a:pt x="266007" y="44334"/>
                  <a:pt x="282633" y="49876"/>
                </a:cubicBezTo>
                <a:cubicBezTo>
                  <a:pt x="425566" y="145166"/>
                  <a:pt x="244725" y="30923"/>
                  <a:pt x="382385" y="99752"/>
                </a:cubicBezTo>
                <a:cubicBezTo>
                  <a:pt x="400257" y="108688"/>
                  <a:pt x="414003" y="124888"/>
                  <a:pt x="432262" y="133003"/>
                </a:cubicBezTo>
                <a:cubicBezTo>
                  <a:pt x="464290" y="147238"/>
                  <a:pt x="532014" y="166254"/>
                  <a:pt x="532014" y="166254"/>
                </a:cubicBezTo>
                <a:cubicBezTo>
                  <a:pt x="565265" y="188421"/>
                  <a:pt x="592580" y="224919"/>
                  <a:pt x="631767" y="232756"/>
                </a:cubicBezTo>
                <a:cubicBezTo>
                  <a:pt x="680563" y="242515"/>
                  <a:pt x="720036" y="246835"/>
                  <a:pt x="764771" y="266007"/>
                </a:cubicBezTo>
                <a:cubicBezTo>
                  <a:pt x="787551" y="275770"/>
                  <a:pt x="808493" y="289495"/>
                  <a:pt x="831273" y="299258"/>
                </a:cubicBezTo>
                <a:cubicBezTo>
                  <a:pt x="911538" y="333657"/>
                  <a:pt x="855749" y="293993"/>
                  <a:pt x="947651" y="349134"/>
                </a:cubicBezTo>
                <a:cubicBezTo>
                  <a:pt x="981919" y="369695"/>
                  <a:pt x="1019146" y="387378"/>
                  <a:pt x="1047404" y="415636"/>
                </a:cubicBezTo>
                <a:cubicBezTo>
                  <a:pt x="1161285" y="529518"/>
                  <a:pt x="1108030" y="489305"/>
                  <a:pt x="1197033" y="548640"/>
                </a:cubicBezTo>
                <a:cubicBezTo>
                  <a:pt x="1246990" y="698508"/>
                  <a:pt x="1241567" y="638580"/>
                  <a:pt x="1213658" y="847898"/>
                </a:cubicBezTo>
                <a:cubicBezTo>
                  <a:pt x="1210062" y="874870"/>
                  <a:pt x="1184694" y="930921"/>
                  <a:pt x="1163782" y="947651"/>
                </a:cubicBezTo>
                <a:cubicBezTo>
                  <a:pt x="1150097" y="958599"/>
                  <a:pt x="1130531" y="958734"/>
                  <a:pt x="1113905" y="964276"/>
                </a:cubicBezTo>
                <a:cubicBezTo>
                  <a:pt x="1018612" y="1107214"/>
                  <a:pt x="1145498" y="939001"/>
                  <a:pt x="1030778" y="1030778"/>
                </a:cubicBezTo>
                <a:cubicBezTo>
                  <a:pt x="923349" y="1116722"/>
                  <a:pt x="1073016" y="1055490"/>
                  <a:pt x="947651" y="1097280"/>
                </a:cubicBezTo>
                <a:cubicBezTo>
                  <a:pt x="914400" y="1130531"/>
                  <a:pt x="887024" y="1170948"/>
                  <a:pt x="847898" y="1197032"/>
                </a:cubicBezTo>
                <a:cubicBezTo>
                  <a:pt x="814647" y="1219199"/>
                  <a:pt x="776403" y="1235276"/>
                  <a:pt x="748145" y="1263534"/>
                </a:cubicBezTo>
                <a:cubicBezTo>
                  <a:pt x="675568" y="1336112"/>
                  <a:pt x="679703" y="1327081"/>
                  <a:pt x="615142" y="1413163"/>
                </a:cubicBezTo>
                <a:cubicBezTo>
                  <a:pt x="603153" y="1429148"/>
                  <a:pt x="595166" y="1448106"/>
                  <a:pt x="581891" y="1463040"/>
                </a:cubicBezTo>
                <a:cubicBezTo>
                  <a:pt x="550650" y="1498186"/>
                  <a:pt x="482138" y="1562792"/>
                  <a:pt x="482138" y="1562792"/>
                </a:cubicBezTo>
                <a:cubicBezTo>
                  <a:pt x="476596" y="1601585"/>
                  <a:pt x="479580" y="1642596"/>
                  <a:pt x="465513" y="1679171"/>
                </a:cubicBezTo>
                <a:cubicBezTo>
                  <a:pt x="451167" y="1716470"/>
                  <a:pt x="411648" y="1741011"/>
                  <a:pt x="399011" y="1778923"/>
                </a:cubicBezTo>
                <a:cubicBezTo>
                  <a:pt x="393469" y="1795549"/>
                  <a:pt x="392571" y="1814539"/>
                  <a:pt x="382385" y="1828800"/>
                </a:cubicBezTo>
                <a:cubicBezTo>
                  <a:pt x="364164" y="1854310"/>
                  <a:pt x="338051" y="1873134"/>
                  <a:pt x="315884" y="1895301"/>
                </a:cubicBezTo>
                <a:cubicBezTo>
                  <a:pt x="230104" y="2152641"/>
                  <a:pt x="328419" y="1886859"/>
                  <a:pt x="249382" y="2044931"/>
                </a:cubicBezTo>
                <a:cubicBezTo>
                  <a:pt x="241545" y="2060606"/>
                  <a:pt x="238909" y="2078398"/>
                  <a:pt x="232756" y="2094807"/>
                </a:cubicBezTo>
                <a:cubicBezTo>
                  <a:pt x="200913" y="2179720"/>
                  <a:pt x="204038" y="2168868"/>
                  <a:pt x="166254" y="2244436"/>
                </a:cubicBezTo>
                <a:cubicBezTo>
                  <a:pt x="160712" y="2266603"/>
                  <a:pt x="157652" y="2289543"/>
                  <a:pt x="149629" y="2310938"/>
                </a:cubicBezTo>
                <a:cubicBezTo>
                  <a:pt x="133886" y="2352921"/>
                  <a:pt x="73078" y="2453989"/>
                  <a:pt x="49876" y="2477192"/>
                </a:cubicBezTo>
                <a:lnTo>
                  <a:pt x="0" y="2527069"/>
                </a:lnTo>
              </a:path>
            </a:pathLst>
          </a:custGeom>
          <a:noFill/>
          <a:ln w="635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55613" y="4467176"/>
            <a:ext cx="4991100" cy="23083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400" dirty="0"/>
              <a:t>If </a:t>
            </a:r>
            <a:r>
              <a:rPr lang="en-US" sz="2400" i="1" dirty="0" smtClean="0"/>
              <a:t>n_</a:t>
            </a:r>
            <a:r>
              <a:rPr lang="en-US" sz="2400" dirty="0" smtClean="0"/>
              <a:t>1</a:t>
            </a:r>
            <a:r>
              <a:rPr lang="en-US" sz="2400" dirty="0"/>
              <a:t>, </a:t>
            </a:r>
            <a:r>
              <a:rPr lang="en-US" sz="2400" i="1" dirty="0" smtClean="0"/>
              <a:t>n_</a:t>
            </a:r>
            <a:r>
              <a:rPr lang="en-US" sz="2400" dirty="0" smtClean="0"/>
              <a:t>2</a:t>
            </a:r>
            <a:r>
              <a:rPr lang="en-US" sz="2400" dirty="0"/>
              <a:t>, ..., </a:t>
            </a:r>
            <a:r>
              <a:rPr lang="en-US" sz="2400" i="1" dirty="0" err="1" smtClean="0"/>
              <a:t>n_k</a:t>
            </a:r>
            <a:r>
              <a:rPr lang="en-US" sz="2400" i="1" dirty="0" smtClean="0"/>
              <a:t> </a:t>
            </a:r>
            <a:r>
              <a:rPr lang="en-US" sz="2400" dirty="0"/>
              <a:t>is a sequence of nodes in the tree such that </a:t>
            </a:r>
            <a:r>
              <a:rPr lang="en-US" sz="2400" i="1" dirty="0" err="1" smtClean="0"/>
              <a:t>n_i</a:t>
            </a:r>
            <a:r>
              <a:rPr lang="en-US" sz="2400" i="1" dirty="0" smtClean="0"/>
              <a:t> </a:t>
            </a:r>
            <a:r>
              <a:rPr lang="en-US" sz="2400" dirty="0"/>
              <a:t>is the parent </a:t>
            </a:r>
            <a:r>
              <a:rPr lang="en-US" sz="2400" dirty="0" smtClean="0"/>
              <a:t>of </a:t>
            </a:r>
            <a:r>
              <a:rPr lang="en-US" sz="2400" i="1" dirty="0" err="1" smtClean="0"/>
              <a:t>n_i</a:t>
            </a:r>
            <a:r>
              <a:rPr lang="en-US" sz="2400" i="1" dirty="0" smtClean="0"/>
              <a:t> </a:t>
            </a:r>
            <a:r>
              <a:rPr lang="en-US" sz="2400" dirty="0" smtClean="0"/>
              <a:t>+ 1 </a:t>
            </a:r>
            <a:r>
              <a:rPr lang="en-US" sz="2400" dirty="0"/>
              <a:t>for 1 </a:t>
            </a:r>
            <a:r>
              <a:rPr lang="en-US" sz="2400" i="1" dirty="0"/>
              <a:t>≤ </a:t>
            </a:r>
            <a:r>
              <a:rPr lang="en-US" sz="2400" i="1" dirty="0" err="1"/>
              <a:t>i</a:t>
            </a:r>
            <a:r>
              <a:rPr lang="en-US" sz="2400" i="1" dirty="0"/>
              <a:t> &lt; k</a:t>
            </a:r>
            <a:r>
              <a:rPr lang="en-US" sz="2400" dirty="0"/>
              <a:t>, then this sequence is called a </a:t>
            </a:r>
            <a:r>
              <a:rPr lang="en-US" sz="2400" b="1" dirty="0"/>
              <a:t>path </a:t>
            </a:r>
            <a:r>
              <a:rPr lang="en-US" sz="2400" dirty="0"/>
              <a:t>from </a:t>
            </a:r>
            <a:r>
              <a:rPr lang="en-US" sz="2400" i="1" dirty="0" smtClean="0"/>
              <a:t>n_</a:t>
            </a:r>
            <a:r>
              <a:rPr lang="en-US" sz="2400" dirty="0" smtClean="0"/>
              <a:t>1 </a:t>
            </a:r>
            <a:r>
              <a:rPr lang="en-US" sz="2400" dirty="0"/>
              <a:t>to </a:t>
            </a:r>
            <a:r>
              <a:rPr lang="en-US" sz="2400" i="1" dirty="0" err="1" smtClean="0"/>
              <a:t>n_k</a:t>
            </a:r>
            <a:r>
              <a:rPr lang="en-US" sz="2400" dirty="0"/>
              <a:t>. </a:t>
            </a:r>
            <a:br>
              <a:rPr lang="en-US" sz="2400" dirty="0"/>
            </a:br>
            <a:endParaRPr lang="en-US" sz="2400" dirty="0"/>
          </a:p>
        </p:txBody>
      </p:sp>
      <p:sp>
        <p:nvSpPr>
          <p:cNvPr id="4" name="TextBox 3"/>
          <p:cNvSpPr txBox="1"/>
          <p:nvPr/>
        </p:nvSpPr>
        <p:spPr>
          <a:xfrm>
            <a:off x="7086600" y="1905000"/>
            <a:ext cx="171405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A,C,E,G is a path</a:t>
            </a:r>
            <a:endParaRPr lang="en-US" dirty="0"/>
          </a:p>
        </p:txBody>
      </p:sp>
    </p:spTree>
    <p:extLst>
      <p:ext uri="{BB962C8B-B14F-4D97-AF65-F5344CB8AC3E}">
        <p14:creationId xmlns:p14="http://schemas.microsoft.com/office/powerpoint/2010/main" val="422060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455613" y="1219200"/>
            <a:ext cx="4344987" cy="3429000"/>
          </a:xfrm>
        </p:spPr>
        <p:txBody>
          <a:bodyPr/>
          <a:lstStyle/>
          <a:p>
            <a:pPr>
              <a:lnSpc>
                <a:spcPct val="90000"/>
              </a:lnSpc>
              <a:buFontTx/>
              <a:buNone/>
            </a:pPr>
            <a:r>
              <a:rPr lang="en-US" dirty="0" smtClean="0">
                <a:latin typeface="Helvetica" pitchFamily="26" charset="0"/>
              </a:rPr>
              <a:t>Notation: </a:t>
            </a:r>
            <a:r>
              <a:rPr lang="en-US" u="sng" dirty="0" smtClean="0">
                <a:latin typeface="Helvetica" pitchFamily="26" charset="0"/>
              </a:rPr>
              <a:t>Node</a:t>
            </a:r>
            <a:r>
              <a:rPr lang="en-US" dirty="0" smtClean="0">
                <a:latin typeface="Helvetica" pitchFamily="26" charset="0"/>
              </a:rPr>
              <a:t>, </a:t>
            </a:r>
            <a:r>
              <a:rPr lang="en-US" u="sng" dirty="0" smtClean="0">
                <a:latin typeface="Helvetica" pitchFamily="26" charset="0"/>
              </a:rPr>
              <a:t>children</a:t>
            </a:r>
            <a:r>
              <a:rPr lang="en-US" dirty="0" smtClean="0">
                <a:latin typeface="Helvetica" pitchFamily="26" charset="0"/>
              </a:rPr>
              <a:t>, </a:t>
            </a:r>
            <a:r>
              <a:rPr lang="en-US" u="sng" dirty="0" smtClean="0">
                <a:latin typeface="Helvetica" pitchFamily="26" charset="0"/>
              </a:rPr>
              <a:t>edge</a:t>
            </a:r>
            <a:r>
              <a:rPr lang="en-US" dirty="0" smtClean="0">
                <a:latin typeface="Helvetica" pitchFamily="26" charset="0"/>
              </a:rPr>
              <a:t>, </a:t>
            </a:r>
            <a:r>
              <a:rPr lang="en-US" u="sng" dirty="0" smtClean="0">
                <a:latin typeface="Helvetica" pitchFamily="26" charset="0"/>
              </a:rPr>
              <a:t>parent</a:t>
            </a:r>
            <a:r>
              <a:rPr lang="en-US" dirty="0" smtClean="0">
                <a:latin typeface="Helvetica" pitchFamily="26" charset="0"/>
              </a:rPr>
              <a:t>, </a:t>
            </a:r>
            <a:r>
              <a:rPr lang="en-US" u="sng" dirty="0" smtClean="0">
                <a:latin typeface="Helvetica" pitchFamily="26" charset="0"/>
              </a:rPr>
              <a:t>ancestor</a:t>
            </a:r>
            <a:r>
              <a:rPr lang="en-US" dirty="0" smtClean="0">
                <a:latin typeface="Helvetica" pitchFamily="26" charset="0"/>
              </a:rPr>
              <a:t>, </a:t>
            </a:r>
            <a:r>
              <a:rPr lang="en-US" u="sng" dirty="0" smtClean="0">
                <a:latin typeface="Helvetica" pitchFamily="26" charset="0"/>
              </a:rPr>
              <a:t>descendant</a:t>
            </a:r>
            <a:r>
              <a:rPr lang="en-US" dirty="0" smtClean="0">
                <a:latin typeface="Helvetica" pitchFamily="26" charset="0"/>
              </a:rPr>
              <a:t>, </a:t>
            </a:r>
            <a:r>
              <a:rPr lang="en-US" u="sng" dirty="0" smtClean="0">
                <a:latin typeface="Helvetica" pitchFamily="26" charset="0"/>
              </a:rPr>
              <a:t>path</a:t>
            </a:r>
            <a:r>
              <a:rPr lang="en-US" dirty="0" smtClean="0">
                <a:latin typeface="Helvetica" pitchFamily="26" charset="0"/>
              </a:rPr>
              <a:t>, </a:t>
            </a:r>
            <a:r>
              <a:rPr lang="en-US" u="sng" dirty="0" smtClean="0">
                <a:latin typeface="Helvetica" pitchFamily="26" charset="0"/>
              </a:rPr>
              <a:t>depth</a:t>
            </a:r>
            <a:r>
              <a:rPr lang="en-US" dirty="0" smtClean="0">
                <a:latin typeface="Helvetica" pitchFamily="26" charset="0"/>
              </a:rPr>
              <a:t>, </a:t>
            </a:r>
            <a:r>
              <a:rPr lang="en-US" u="sng" dirty="0" smtClean="0">
                <a:latin typeface="Helvetica" pitchFamily="26" charset="0"/>
              </a:rPr>
              <a:t>height</a:t>
            </a:r>
            <a:r>
              <a:rPr lang="en-US" dirty="0" smtClean="0">
                <a:latin typeface="Helvetica" pitchFamily="26" charset="0"/>
              </a:rPr>
              <a:t>, </a:t>
            </a:r>
            <a:r>
              <a:rPr lang="en-US" u="sng" dirty="0" smtClean="0">
                <a:latin typeface="Helvetica" pitchFamily="26" charset="0"/>
              </a:rPr>
              <a:t>level</a:t>
            </a:r>
            <a:r>
              <a:rPr lang="en-US" dirty="0" smtClean="0">
                <a:latin typeface="Helvetica" pitchFamily="26" charset="0"/>
              </a:rPr>
              <a:t>, </a:t>
            </a:r>
            <a:r>
              <a:rPr lang="en-US" u="sng" dirty="0" smtClean="0">
                <a:latin typeface="Helvetica" pitchFamily="26" charset="0"/>
              </a:rPr>
              <a:t>leaf node</a:t>
            </a:r>
            <a:r>
              <a:rPr lang="en-US" dirty="0" smtClean="0">
                <a:latin typeface="Helvetica" pitchFamily="26" charset="0"/>
              </a:rPr>
              <a:t>, </a:t>
            </a:r>
            <a:r>
              <a:rPr lang="en-US" u="sng" dirty="0" smtClean="0">
                <a:latin typeface="Helvetica" pitchFamily="26" charset="0"/>
              </a:rPr>
              <a:t>internal node</a:t>
            </a:r>
            <a:r>
              <a:rPr lang="en-US" dirty="0" smtClean="0">
                <a:latin typeface="Helvetica" pitchFamily="26" charset="0"/>
              </a:rPr>
              <a:t>, </a:t>
            </a:r>
            <a:r>
              <a:rPr lang="en-US" u="sng" dirty="0" smtClean="0">
                <a:latin typeface="Helvetica" pitchFamily="26" charset="0"/>
              </a:rPr>
              <a:t>subtree</a:t>
            </a:r>
            <a:r>
              <a:rPr lang="en-US" dirty="0" smtClean="0">
                <a:latin typeface="Helvetica" pitchFamily="26" charset="0"/>
              </a:rPr>
              <a:t>.</a:t>
            </a:r>
          </a:p>
          <a:p>
            <a:pPr>
              <a:lnSpc>
                <a:spcPct val="90000"/>
              </a:lnSpc>
              <a:buFontTx/>
              <a:buNone/>
            </a:pPr>
            <a:endParaRPr lang="en-US" dirty="0"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6" name="Rectangle 5"/>
          <p:cNvSpPr/>
          <p:nvPr/>
        </p:nvSpPr>
        <p:spPr>
          <a:xfrm>
            <a:off x="2209800" y="2133600"/>
            <a:ext cx="1679428"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reeform 1"/>
          <p:cNvSpPr/>
          <p:nvPr/>
        </p:nvSpPr>
        <p:spPr>
          <a:xfrm>
            <a:off x="6616931" y="2327564"/>
            <a:ext cx="1234697" cy="2527069"/>
          </a:xfrm>
          <a:custGeom>
            <a:avLst/>
            <a:gdLst>
              <a:gd name="connsiteX0" fmla="*/ 83127 w 1234697"/>
              <a:gd name="connsiteY0" fmla="*/ 0 h 2527069"/>
              <a:gd name="connsiteX1" fmla="*/ 232756 w 1234697"/>
              <a:gd name="connsiteY1" fmla="*/ 33251 h 2527069"/>
              <a:gd name="connsiteX2" fmla="*/ 282633 w 1234697"/>
              <a:gd name="connsiteY2" fmla="*/ 49876 h 2527069"/>
              <a:gd name="connsiteX3" fmla="*/ 382385 w 1234697"/>
              <a:gd name="connsiteY3" fmla="*/ 99752 h 2527069"/>
              <a:gd name="connsiteX4" fmla="*/ 432262 w 1234697"/>
              <a:gd name="connsiteY4" fmla="*/ 133003 h 2527069"/>
              <a:gd name="connsiteX5" fmla="*/ 532014 w 1234697"/>
              <a:gd name="connsiteY5" fmla="*/ 166254 h 2527069"/>
              <a:gd name="connsiteX6" fmla="*/ 631767 w 1234697"/>
              <a:gd name="connsiteY6" fmla="*/ 232756 h 2527069"/>
              <a:gd name="connsiteX7" fmla="*/ 764771 w 1234697"/>
              <a:gd name="connsiteY7" fmla="*/ 266007 h 2527069"/>
              <a:gd name="connsiteX8" fmla="*/ 831273 w 1234697"/>
              <a:gd name="connsiteY8" fmla="*/ 299258 h 2527069"/>
              <a:gd name="connsiteX9" fmla="*/ 947651 w 1234697"/>
              <a:gd name="connsiteY9" fmla="*/ 349134 h 2527069"/>
              <a:gd name="connsiteX10" fmla="*/ 1047404 w 1234697"/>
              <a:gd name="connsiteY10" fmla="*/ 415636 h 2527069"/>
              <a:gd name="connsiteX11" fmla="*/ 1197033 w 1234697"/>
              <a:gd name="connsiteY11" fmla="*/ 548640 h 2527069"/>
              <a:gd name="connsiteX12" fmla="*/ 1213658 w 1234697"/>
              <a:gd name="connsiteY12" fmla="*/ 847898 h 2527069"/>
              <a:gd name="connsiteX13" fmla="*/ 1163782 w 1234697"/>
              <a:gd name="connsiteY13" fmla="*/ 947651 h 2527069"/>
              <a:gd name="connsiteX14" fmla="*/ 1113905 w 1234697"/>
              <a:gd name="connsiteY14" fmla="*/ 964276 h 2527069"/>
              <a:gd name="connsiteX15" fmla="*/ 1030778 w 1234697"/>
              <a:gd name="connsiteY15" fmla="*/ 1030778 h 2527069"/>
              <a:gd name="connsiteX16" fmla="*/ 947651 w 1234697"/>
              <a:gd name="connsiteY16" fmla="*/ 1097280 h 2527069"/>
              <a:gd name="connsiteX17" fmla="*/ 847898 w 1234697"/>
              <a:gd name="connsiteY17" fmla="*/ 1197032 h 2527069"/>
              <a:gd name="connsiteX18" fmla="*/ 748145 w 1234697"/>
              <a:gd name="connsiteY18" fmla="*/ 1263534 h 2527069"/>
              <a:gd name="connsiteX19" fmla="*/ 615142 w 1234697"/>
              <a:gd name="connsiteY19" fmla="*/ 1413163 h 2527069"/>
              <a:gd name="connsiteX20" fmla="*/ 581891 w 1234697"/>
              <a:gd name="connsiteY20" fmla="*/ 1463040 h 2527069"/>
              <a:gd name="connsiteX21" fmla="*/ 482138 w 1234697"/>
              <a:gd name="connsiteY21" fmla="*/ 1562792 h 2527069"/>
              <a:gd name="connsiteX22" fmla="*/ 465513 w 1234697"/>
              <a:gd name="connsiteY22" fmla="*/ 1679171 h 2527069"/>
              <a:gd name="connsiteX23" fmla="*/ 399011 w 1234697"/>
              <a:gd name="connsiteY23" fmla="*/ 1778923 h 2527069"/>
              <a:gd name="connsiteX24" fmla="*/ 382385 w 1234697"/>
              <a:gd name="connsiteY24" fmla="*/ 1828800 h 2527069"/>
              <a:gd name="connsiteX25" fmla="*/ 315884 w 1234697"/>
              <a:gd name="connsiteY25" fmla="*/ 1895301 h 2527069"/>
              <a:gd name="connsiteX26" fmla="*/ 249382 w 1234697"/>
              <a:gd name="connsiteY26" fmla="*/ 2044931 h 2527069"/>
              <a:gd name="connsiteX27" fmla="*/ 232756 w 1234697"/>
              <a:gd name="connsiteY27" fmla="*/ 2094807 h 2527069"/>
              <a:gd name="connsiteX28" fmla="*/ 166254 w 1234697"/>
              <a:gd name="connsiteY28" fmla="*/ 2244436 h 2527069"/>
              <a:gd name="connsiteX29" fmla="*/ 149629 w 1234697"/>
              <a:gd name="connsiteY29" fmla="*/ 2310938 h 2527069"/>
              <a:gd name="connsiteX30" fmla="*/ 49876 w 1234697"/>
              <a:gd name="connsiteY30" fmla="*/ 2477192 h 2527069"/>
              <a:gd name="connsiteX31" fmla="*/ 0 w 1234697"/>
              <a:gd name="connsiteY31" fmla="*/ 2527069 h 2527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4697" h="2527069">
                <a:moveTo>
                  <a:pt x="83127" y="0"/>
                </a:moveTo>
                <a:cubicBezTo>
                  <a:pt x="140280" y="11430"/>
                  <a:pt x="177960" y="17595"/>
                  <a:pt x="232756" y="33251"/>
                </a:cubicBezTo>
                <a:cubicBezTo>
                  <a:pt x="249607" y="38065"/>
                  <a:pt x="266007" y="44334"/>
                  <a:pt x="282633" y="49876"/>
                </a:cubicBezTo>
                <a:cubicBezTo>
                  <a:pt x="425566" y="145166"/>
                  <a:pt x="244725" y="30923"/>
                  <a:pt x="382385" y="99752"/>
                </a:cubicBezTo>
                <a:cubicBezTo>
                  <a:pt x="400257" y="108688"/>
                  <a:pt x="414003" y="124888"/>
                  <a:pt x="432262" y="133003"/>
                </a:cubicBezTo>
                <a:cubicBezTo>
                  <a:pt x="464290" y="147238"/>
                  <a:pt x="532014" y="166254"/>
                  <a:pt x="532014" y="166254"/>
                </a:cubicBezTo>
                <a:cubicBezTo>
                  <a:pt x="565265" y="188421"/>
                  <a:pt x="592580" y="224919"/>
                  <a:pt x="631767" y="232756"/>
                </a:cubicBezTo>
                <a:cubicBezTo>
                  <a:pt x="680563" y="242515"/>
                  <a:pt x="720036" y="246835"/>
                  <a:pt x="764771" y="266007"/>
                </a:cubicBezTo>
                <a:cubicBezTo>
                  <a:pt x="787551" y="275770"/>
                  <a:pt x="808493" y="289495"/>
                  <a:pt x="831273" y="299258"/>
                </a:cubicBezTo>
                <a:cubicBezTo>
                  <a:pt x="911538" y="333657"/>
                  <a:pt x="855749" y="293993"/>
                  <a:pt x="947651" y="349134"/>
                </a:cubicBezTo>
                <a:cubicBezTo>
                  <a:pt x="981919" y="369695"/>
                  <a:pt x="1019146" y="387378"/>
                  <a:pt x="1047404" y="415636"/>
                </a:cubicBezTo>
                <a:cubicBezTo>
                  <a:pt x="1161285" y="529518"/>
                  <a:pt x="1108030" y="489305"/>
                  <a:pt x="1197033" y="548640"/>
                </a:cubicBezTo>
                <a:cubicBezTo>
                  <a:pt x="1246990" y="698508"/>
                  <a:pt x="1241567" y="638580"/>
                  <a:pt x="1213658" y="847898"/>
                </a:cubicBezTo>
                <a:cubicBezTo>
                  <a:pt x="1210062" y="874870"/>
                  <a:pt x="1184694" y="930921"/>
                  <a:pt x="1163782" y="947651"/>
                </a:cubicBezTo>
                <a:cubicBezTo>
                  <a:pt x="1150097" y="958599"/>
                  <a:pt x="1130531" y="958734"/>
                  <a:pt x="1113905" y="964276"/>
                </a:cubicBezTo>
                <a:cubicBezTo>
                  <a:pt x="1018612" y="1107214"/>
                  <a:pt x="1145498" y="939001"/>
                  <a:pt x="1030778" y="1030778"/>
                </a:cubicBezTo>
                <a:cubicBezTo>
                  <a:pt x="923349" y="1116722"/>
                  <a:pt x="1073016" y="1055490"/>
                  <a:pt x="947651" y="1097280"/>
                </a:cubicBezTo>
                <a:cubicBezTo>
                  <a:pt x="914400" y="1130531"/>
                  <a:pt x="887024" y="1170948"/>
                  <a:pt x="847898" y="1197032"/>
                </a:cubicBezTo>
                <a:cubicBezTo>
                  <a:pt x="814647" y="1219199"/>
                  <a:pt x="776403" y="1235276"/>
                  <a:pt x="748145" y="1263534"/>
                </a:cubicBezTo>
                <a:cubicBezTo>
                  <a:pt x="675568" y="1336112"/>
                  <a:pt x="679703" y="1327081"/>
                  <a:pt x="615142" y="1413163"/>
                </a:cubicBezTo>
                <a:cubicBezTo>
                  <a:pt x="603153" y="1429148"/>
                  <a:pt x="595166" y="1448106"/>
                  <a:pt x="581891" y="1463040"/>
                </a:cubicBezTo>
                <a:cubicBezTo>
                  <a:pt x="550650" y="1498186"/>
                  <a:pt x="482138" y="1562792"/>
                  <a:pt x="482138" y="1562792"/>
                </a:cubicBezTo>
                <a:cubicBezTo>
                  <a:pt x="476596" y="1601585"/>
                  <a:pt x="479580" y="1642596"/>
                  <a:pt x="465513" y="1679171"/>
                </a:cubicBezTo>
                <a:cubicBezTo>
                  <a:pt x="451167" y="1716470"/>
                  <a:pt x="411648" y="1741011"/>
                  <a:pt x="399011" y="1778923"/>
                </a:cubicBezTo>
                <a:cubicBezTo>
                  <a:pt x="393469" y="1795549"/>
                  <a:pt x="392571" y="1814539"/>
                  <a:pt x="382385" y="1828800"/>
                </a:cubicBezTo>
                <a:cubicBezTo>
                  <a:pt x="364164" y="1854310"/>
                  <a:pt x="338051" y="1873134"/>
                  <a:pt x="315884" y="1895301"/>
                </a:cubicBezTo>
                <a:cubicBezTo>
                  <a:pt x="230104" y="2152641"/>
                  <a:pt x="328419" y="1886859"/>
                  <a:pt x="249382" y="2044931"/>
                </a:cubicBezTo>
                <a:cubicBezTo>
                  <a:pt x="241545" y="2060606"/>
                  <a:pt x="238909" y="2078398"/>
                  <a:pt x="232756" y="2094807"/>
                </a:cubicBezTo>
                <a:cubicBezTo>
                  <a:pt x="200913" y="2179720"/>
                  <a:pt x="204038" y="2168868"/>
                  <a:pt x="166254" y="2244436"/>
                </a:cubicBezTo>
                <a:cubicBezTo>
                  <a:pt x="160712" y="2266603"/>
                  <a:pt x="157652" y="2289543"/>
                  <a:pt x="149629" y="2310938"/>
                </a:cubicBezTo>
                <a:cubicBezTo>
                  <a:pt x="133886" y="2352921"/>
                  <a:pt x="73078" y="2453989"/>
                  <a:pt x="49876" y="2477192"/>
                </a:cubicBezTo>
                <a:lnTo>
                  <a:pt x="0" y="2527069"/>
                </a:lnTo>
              </a:path>
            </a:pathLst>
          </a:custGeom>
          <a:noFill/>
          <a:ln w="635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55613" y="4467176"/>
            <a:ext cx="4991100" cy="23083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400" dirty="0"/>
              <a:t>If </a:t>
            </a:r>
            <a:r>
              <a:rPr lang="en-US" sz="2400" i="1" dirty="0" smtClean="0"/>
              <a:t>n_</a:t>
            </a:r>
            <a:r>
              <a:rPr lang="en-US" sz="2400" dirty="0" smtClean="0"/>
              <a:t>1</a:t>
            </a:r>
            <a:r>
              <a:rPr lang="en-US" sz="2400" dirty="0"/>
              <a:t>, </a:t>
            </a:r>
            <a:r>
              <a:rPr lang="en-US" sz="2400" i="1" dirty="0" smtClean="0"/>
              <a:t>n_</a:t>
            </a:r>
            <a:r>
              <a:rPr lang="en-US" sz="2400" dirty="0" smtClean="0"/>
              <a:t>2</a:t>
            </a:r>
            <a:r>
              <a:rPr lang="en-US" sz="2400" dirty="0"/>
              <a:t>, ..., </a:t>
            </a:r>
            <a:r>
              <a:rPr lang="en-US" sz="2400" i="1" dirty="0" err="1" smtClean="0"/>
              <a:t>n_k</a:t>
            </a:r>
            <a:r>
              <a:rPr lang="en-US" sz="2400" i="1" dirty="0" smtClean="0"/>
              <a:t> </a:t>
            </a:r>
            <a:r>
              <a:rPr lang="en-US" sz="2400" dirty="0"/>
              <a:t>is a sequence of nodes in the tree such that </a:t>
            </a:r>
            <a:r>
              <a:rPr lang="en-US" sz="2400" i="1" dirty="0" err="1" smtClean="0"/>
              <a:t>n_i</a:t>
            </a:r>
            <a:r>
              <a:rPr lang="en-US" sz="2400" i="1" dirty="0" smtClean="0"/>
              <a:t> </a:t>
            </a:r>
            <a:r>
              <a:rPr lang="en-US" sz="2400" dirty="0"/>
              <a:t>is the parent </a:t>
            </a:r>
            <a:r>
              <a:rPr lang="en-US" sz="2400" dirty="0" smtClean="0"/>
              <a:t>of </a:t>
            </a:r>
            <a:r>
              <a:rPr lang="en-US" sz="2400" i="1" dirty="0" err="1" smtClean="0"/>
              <a:t>n_i</a:t>
            </a:r>
            <a:r>
              <a:rPr lang="en-US" sz="2400" i="1" dirty="0" smtClean="0"/>
              <a:t> </a:t>
            </a:r>
            <a:r>
              <a:rPr lang="en-US" sz="2400" dirty="0" smtClean="0"/>
              <a:t>+ 1 </a:t>
            </a:r>
            <a:r>
              <a:rPr lang="en-US" sz="2400" dirty="0"/>
              <a:t>for 1 </a:t>
            </a:r>
            <a:r>
              <a:rPr lang="en-US" sz="2400" i="1" dirty="0"/>
              <a:t>≤ </a:t>
            </a:r>
            <a:r>
              <a:rPr lang="en-US" sz="2400" i="1" dirty="0" err="1"/>
              <a:t>i</a:t>
            </a:r>
            <a:r>
              <a:rPr lang="en-US" sz="2400" i="1" dirty="0"/>
              <a:t> &lt; k</a:t>
            </a:r>
            <a:r>
              <a:rPr lang="en-US" sz="2400" dirty="0"/>
              <a:t>, then this sequence is called a </a:t>
            </a:r>
            <a:r>
              <a:rPr lang="en-US" sz="2400" b="1" dirty="0"/>
              <a:t>path </a:t>
            </a:r>
            <a:r>
              <a:rPr lang="en-US" sz="2400" dirty="0"/>
              <a:t>from </a:t>
            </a:r>
            <a:r>
              <a:rPr lang="en-US" sz="2400" i="1" dirty="0" smtClean="0"/>
              <a:t>n_</a:t>
            </a:r>
            <a:r>
              <a:rPr lang="en-US" sz="2400" dirty="0" smtClean="0"/>
              <a:t>1 </a:t>
            </a:r>
            <a:r>
              <a:rPr lang="en-US" sz="2400" dirty="0"/>
              <a:t>to </a:t>
            </a:r>
            <a:r>
              <a:rPr lang="en-US" sz="2400" i="1" dirty="0" err="1" smtClean="0"/>
              <a:t>n_k</a:t>
            </a:r>
            <a:r>
              <a:rPr lang="en-US" sz="2400" dirty="0"/>
              <a:t>. </a:t>
            </a:r>
            <a:br>
              <a:rPr lang="en-US" sz="2400" dirty="0"/>
            </a:br>
            <a:endParaRPr lang="en-US" sz="2400" dirty="0"/>
          </a:p>
        </p:txBody>
      </p:sp>
      <p:sp>
        <p:nvSpPr>
          <p:cNvPr id="4" name="TextBox 3"/>
          <p:cNvSpPr txBox="1"/>
          <p:nvPr/>
        </p:nvSpPr>
        <p:spPr>
          <a:xfrm>
            <a:off x="7086600" y="1905000"/>
            <a:ext cx="171405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A,C,E,G is a path</a:t>
            </a:r>
            <a:endParaRPr lang="en-US" dirty="0"/>
          </a:p>
        </p:txBody>
      </p:sp>
      <p:sp>
        <p:nvSpPr>
          <p:cNvPr id="7" name="Oval 6"/>
          <p:cNvSpPr/>
          <p:nvPr/>
        </p:nvSpPr>
        <p:spPr>
          <a:xfrm>
            <a:off x="5867400" y="1752600"/>
            <a:ext cx="749531" cy="914400"/>
          </a:xfrm>
          <a:prstGeom prst="ellipse">
            <a:avLst/>
          </a:prstGeom>
          <a:solidFill>
            <a:srgbClr val="C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946669" y="2743200"/>
            <a:ext cx="749531" cy="914400"/>
          </a:xfrm>
          <a:prstGeom prst="ellipse">
            <a:avLst/>
          </a:prstGeom>
          <a:solidFill>
            <a:srgbClr val="C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62210" y="1383268"/>
            <a:ext cx="154644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Ancestors of G</a:t>
            </a:r>
            <a:endParaRPr lang="en-US" dirty="0"/>
          </a:p>
        </p:txBody>
      </p:sp>
      <p:cxnSp>
        <p:nvCxnSpPr>
          <p:cNvPr id="10" name="Straight Arrow Connector 9"/>
          <p:cNvCxnSpPr/>
          <p:nvPr/>
        </p:nvCxnSpPr>
        <p:spPr>
          <a:xfrm flipH="1" flipV="1">
            <a:off x="5257800" y="1752600"/>
            <a:ext cx="550859" cy="38100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4554541" y="1752600"/>
            <a:ext cx="2392128" cy="1270794"/>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077200" y="3023394"/>
            <a:ext cx="1069524"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Ancestor </a:t>
            </a:r>
          </a:p>
          <a:p>
            <a:r>
              <a:rPr lang="en-US" dirty="0" smtClean="0"/>
              <a:t>of H</a:t>
            </a:r>
            <a:endParaRPr lang="en-US" dirty="0"/>
          </a:p>
        </p:txBody>
      </p:sp>
      <p:cxnSp>
        <p:nvCxnSpPr>
          <p:cNvPr id="17" name="Straight Arrow Connector 16"/>
          <p:cNvCxnSpPr/>
          <p:nvPr/>
        </p:nvCxnSpPr>
        <p:spPr>
          <a:xfrm>
            <a:off x="7695825" y="3352800"/>
            <a:ext cx="381375" cy="30883"/>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6310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455613" y="1219200"/>
            <a:ext cx="4344987" cy="3429000"/>
          </a:xfrm>
        </p:spPr>
        <p:txBody>
          <a:bodyPr/>
          <a:lstStyle/>
          <a:p>
            <a:pPr>
              <a:lnSpc>
                <a:spcPct val="90000"/>
              </a:lnSpc>
              <a:buFontTx/>
              <a:buNone/>
            </a:pPr>
            <a:r>
              <a:rPr lang="en-US" dirty="0" smtClean="0">
                <a:latin typeface="Helvetica" pitchFamily="26" charset="0"/>
              </a:rPr>
              <a:t>Notation: </a:t>
            </a:r>
            <a:r>
              <a:rPr lang="en-US" u="sng" dirty="0" smtClean="0">
                <a:latin typeface="Helvetica" pitchFamily="26" charset="0"/>
              </a:rPr>
              <a:t>Node</a:t>
            </a:r>
            <a:r>
              <a:rPr lang="en-US" dirty="0" smtClean="0">
                <a:latin typeface="Helvetica" pitchFamily="26" charset="0"/>
              </a:rPr>
              <a:t>, </a:t>
            </a:r>
            <a:r>
              <a:rPr lang="en-US" u="sng" dirty="0" smtClean="0">
                <a:latin typeface="Helvetica" pitchFamily="26" charset="0"/>
              </a:rPr>
              <a:t>children</a:t>
            </a:r>
            <a:r>
              <a:rPr lang="en-US" dirty="0" smtClean="0">
                <a:latin typeface="Helvetica" pitchFamily="26" charset="0"/>
              </a:rPr>
              <a:t>, </a:t>
            </a:r>
            <a:r>
              <a:rPr lang="en-US" u="sng" dirty="0" smtClean="0">
                <a:latin typeface="Helvetica" pitchFamily="26" charset="0"/>
              </a:rPr>
              <a:t>edge</a:t>
            </a:r>
            <a:r>
              <a:rPr lang="en-US" dirty="0" smtClean="0">
                <a:latin typeface="Helvetica" pitchFamily="26" charset="0"/>
              </a:rPr>
              <a:t>, </a:t>
            </a:r>
            <a:r>
              <a:rPr lang="en-US" u="sng" dirty="0" smtClean="0">
                <a:latin typeface="Helvetica" pitchFamily="26" charset="0"/>
              </a:rPr>
              <a:t>parent</a:t>
            </a:r>
            <a:r>
              <a:rPr lang="en-US" dirty="0" smtClean="0">
                <a:latin typeface="Helvetica" pitchFamily="26" charset="0"/>
              </a:rPr>
              <a:t>, </a:t>
            </a:r>
            <a:r>
              <a:rPr lang="en-US" u="sng" dirty="0" smtClean="0">
                <a:latin typeface="Helvetica" pitchFamily="26" charset="0"/>
              </a:rPr>
              <a:t>ancestor</a:t>
            </a:r>
            <a:r>
              <a:rPr lang="en-US" dirty="0" smtClean="0">
                <a:latin typeface="Helvetica" pitchFamily="26" charset="0"/>
              </a:rPr>
              <a:t>, </a:t>
            </a:r>
            <a:r>
              <a:rPr lang="en-US" u="sng" dirty="0" smtClean="0">
                <a:latin typeface="Helvetica" pitchFamily="26" charset="0"/>
              </a:rPr>
              <a:t>descendant</a:t>
            </a:r>
            <a:r>
              <a:rPr lang="en-US" dirty="0" smtClean="0">
                <a:latin typeface="Helvetica" pitchFamily="26" charset="0"/>
              </a:rPr>
              <a:t>, </a:t>
            </a:r>
            <a:r>
              <a:rPr lang="en-US" u="sng" dirty="0" smtClean="0">
                <a:latin typeface="Helvetica" pitchFamily="26" charset="0"/>
              </a:rPr>
              <a:t>path</a:t>
            </a:r>
            <a:r>
              <a:rPr lang="en-US" dirty="0" smtClean="0">
                <a:latin typeface="Helvetica" pitchFamily="26" charset="0"/>
              </a:rPr>
              <a:t>, </a:t>
            </a:r>
            <a:r>
              <a:rPr lang="en-US" u="sng" dirty="0" smtClean="0">
                <a:latin typeface="Helvetica" pitchFamily="26" charset="0"/>
              </a:rPr>
              <a:t>depth</a:t>
            </a:r>
            <a:r>
              <a:rPr lang="en-US" dirty="0" smtClean="0">
                <a:latin typeface="Helvetica" pitchFamily="26" charset="0"/>
              </a:rPr>
              <a:t>, </a:t>
            </a:r>
            <a:r>
              <a:rPr lang="en-US" u="sng" dirty="0" smtClean="0">
                <a:latin typeface="Helvetica" pitchFamily="26" charset="0"/>
              </a:rPr>
              <a:t>height</a:t>
            </a:r>
            <a:r>
              <a:rPr lang="en-US" dirty="0" smtClean="0">
                <a:latin typeface="Helvetica" pitchFamily="26" charset="0"/>
              </a:rPr>
              <a:t>, </a:t>
            </a:r>
            <a:r>
              <a:rPr lang="en-US" u="sng" dirty="0" smtClean="0">
                <a:latin typeface="Helvetica" pitchFamily="26" charset="0"/>
              </a:rPr>
              <a:t>level</a:t>
            </a:r>
            <a:r>
              <a:rPr lang="en-US" dirty="0" smtClean="0">
                <a:latin typeface="Helvetica" pitchFamily="26" charset="0"/>
              </a:rPr>
              <a:t>, </a:t>
            </a:r>
            <a:r>
              <a:rPr lang="en-US" u="sng" dirty="0" smtClean="0">
                <a:latin typeface="Helvetica" pitchFamily="26" charset="0"/>
              </a:rPr>
              <a:t>leaf node</a:t>
            </a:r>
            <a:r>
              <a:rPr lang="en-US" dirty="0" smtClean="0">
                <a:latin typeface="Helvetica" pitchFamily="26" charset="0"/>
              </a:rPr>
              <a:t>, </a:t>
            </a:r>
            <a:r>
              <a:rPr lang="en-US" u="sng" dirty="0" smtClean="0">
                <a:latin typeface="Helvetica" pitchFamily="26" charset="0"/>
              </a:rPr>
              <a:t>internal node</a:t>
            </a:r>
            <a:r>
              <a:rPr lang="en-US" dirty="0" smtClean="0">
                <a:latin typeface="Helvetica" pitchFamily="26" charset="0"/>
              </a:rPr>
              <a:t>, </a:t>
            </a:r>
            <a:r>
              <a:rPr lang="en-US" u="sng" dirty="0" smtClean="0">
                <a:latin typeface="Helvetica" pitchFamily="26" charset="0"/>
              </a:rPr>
              <a:t>subtree</a:t>
            </a:r>
            <a:r>
              <a:rPr lang="en-US" dirty="0" smtClean="0">
                <a:latin typeface="Helvetica" pitchFamily="26" charset="0"/>
              </a:rPr>
              <a:t>.</a:t>
            </a:r>
          </a:p>
          <a:p>
            <a:pPr>
              <a:lnSpc>
                <a:spcPct val="90000"/>
              </a:lnSpc>
              <a:buFontTx/>
              <a:buNone/>
            </a:pPr>
            <a:endParaRPr lang="en-US" dirty="0"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6" name="Rectangle 5"/>
          <p:cNvSpPr/>
          <p:nvPr/>
        </p:nvSpPr>
        <p:spPr>
          <a:xfrm>
            <a:off x="825648" y="2606650"/>
            <a:ext cx="2247289" cy="416744"/>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reeform 1"/>
          <p:cNvSpPr/>
          <p:nvPr/>
        </p:nvSpPr>
        <p:spPr>
          <a:xfrm>
            <a:off x="6616931" y="2327564"/>
            <a:ext cx="1234697" cy="2527069"/>
          </a:xfrm>
          <a:custGeom>
            <a:avLst/>
            <a:gdLst>
              <a:gd name="connsiteX0" fmla="*/ 83127 w 1234697"/>
              <a:gd name="connsiteY0" fmla="*/ 0 h 2527069"/>
              <a:gd name="connsiteX1" fmla="*/ 232756 w 1234697"/>
              <a:gd name="connsiteY1" fmla="*/ 33251 h 2527069"/>
              <a:gd name="connsiteX2" fmla="*/ 282633 w 1234697"/>
              <a:gd name="connsiteY2" fmla="*/ 49876 h 2527069"/>
              <a:gd name="connsiteX3" fmla="*/ 382385 w 1234697"/>
              <a:gd name="connsiteY3" fmla="*/ 99752 h 2527069"/>
              <a:gd name="connsiteX4" fmla="*/ 432262 w 1234697"/>
              <a:gd name="connsiteY4" fmla="*/ 133003 h 2527069"/>
              <a:gd name="connsiteX5" fmla="*/ 532014 w 1234697"/>
              <a:gd name="connsiteY5" fmla="*/ 166254 h 2527069"/>
              <a:gd name="connsiteX6" fmla="*/ 631767 w 1234697"/>
              <a:gd name="connsiteY6" fmla="*/ 232756 h 2527069"/>
              <a:gd name="connsiteX7" fmla="*/ 764771 w 1234697"/>
              <a:gd name="connsiteY7" fmla="*/ 266007 h 2527069"/>
              <a:gd name="connsiteX8" fmla="*/ 831273 w 1234697"/>
              <a:gd name="connsiteY8" fmla="*/ 299258 h 2527069"/>
              <a:gd name="connsiteX9" fmla="*/ 947651 w 1234697"/>
              <a:gd name="connsiteY9" fmla="*/ 349134 h 2527069"/>
              <a:gd name="connsiteX10" fmla="*/ 1047404 w 1234697"/>
              <a:gd name="connsiteY10" fmla="*/ 415636 h 2527069"/>
              <a:gd name="connsiteX11" fmla="*/ 1197033 w 1234697"/>
              <a:gd name="connsiteY11" fmla="*/ 548640 h 2527069"/>
              <a:gd name="connsiteX12" fmla="*/ 1213658 w 1234697"/>
              <a:gd name="connsiteY12" fmla="*/ 847898 h 2527069"/>
              <a:gd name="connsiteX13" fmla="*/ 1163782 w 1234697"/>
              <a:gd name="connsiteY13" fmla="*/ 947651 h 2527069"/>
              <a:gd name="connsiteX14" fmla="*/ 1113905 w 1234697"/>
              <a:gd name="connsiteY14" fmla="*/ 964276 h 2527069"/>
              <a:gd name="connsiteX15" fmla="*/ 1030778 w 1234697"/>
              <a:gd name="connsiteY15" fmla="*/ 1030778 h 2527069"/>
              <a:gd name="connsiteX16" fmla="*/ 947651 w 1234697"/>
              <a:gd name="connsiteY16" fmla="*/ 1097280 h 2527069"/>
              <a:gd name="connsiteX17" fmla="*/ 847898 w 1234697"/>
              <a:gd name="connsiteY17" fmla="*/ 1197032 h 2527069"/>
              <a:gd name="connsiteX18" fmla="*/ 748145 w 1234697"/>
              <a:gd name="connsiteY18" fmla="*/ 1263534 h 2527069"/>
              <a:gd name="connsiteX19" fmla="*/ 615142 w 1234697"/>
              <a:gd name="connsiteY19" fmla="*/ 1413163 h 2527069"/>
              <a:gd name="connsiteX20" fmla="*/ 581891 w 1234697"/>
              <a:gd name="connsiteY20" fmla="*/ 1463040 h 2527069"/>
              <a:gd name="connsiteX21" fmla="*/ 482138 w 1234697"/>
              <a:gd name="connsiteY21" fmla="*/ 1562792 h 2527069"/>
              <a:gd name="connsiteX22" fmla="*/ 465513 w 1234697"/>
              <a:gd name="connsiteY22" fmla="*/ 1679171 h 2527069"/>
              <a:gd name="connsiteX23" fmla="*/ 399011 w 1234697"/>
              <a:gd name="connsiteY23" fmla="*/ 1778923 h 2527069"/>
              <a:gd name="connsiteX24" fmla="*/ 382385 w 1234697"/>
              <a:gd name="connsiteY24" fmla="*/ 1828800 h 2527069"/>
              <a:gd name="connsiteX25" fmla="*/ 315884 w 1234697"/>
              <a:gd name="connsiteY25" fmla="*/ 1895301 h 2527069"/>
              <a:gd name="connsiteX26" fmla="*/ 249382 w 1234697"/>
              <a:gd name="connsiteY26" fmla="*/ 2044931 h 2527069"/>
              <a:gd name="connsiteX27" fmla="*/ 232756 w 1234697"/>
              <a:gd name="connsiteY27" fmla="*/ 2094807 h 2527069"/>
              <a:gd name="connsiteX28" fmla="*/ 166254 w 1234697"/>
              <a:gd name="connsiteY28" fmla="*/ 2244436 h 2527069"/>
              <a:gd name="connsiteX29" fmla="*/ 149629 w 1234697"/>
              <a:gd name="connsiteY29" fmla="*/ 2310938 h 2527069"/>
              <a:gd name="connsiteX30" fmla="*/ 49876 w 1234697"/>
              <a:gd name="connsiteY30" fmla="*/ 2477192 h 2527069"/>
              <a:gd name="connsiteX31" fmla="*/ 0 w 1234697"/>
              <a:gd name="connsiteY31" fmla="*/ 2527069 h 2527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4697" h="2527069">
                <a:moveTo>
                  <a:pt x="83127" y="0"/>
                </a:moveTo>
                <a:cubicBezTo>
                  <a:pt x="140280" y="11430"/>
                  <a:pt x="177960" y="17595"/>
                  <a:pt x="232756" y="33251"/>
                </a:cubicBezTo>
                <a:cubicBezTo>
                  <a:pt x="249607" y="38065"/>
                  <a:pt x="266007" y="44334"/>
                  <a:pt x="282633" y="49876"/>
                </a:cubicBezTo>
                <a:cubicBezTo>
                  <a:pt x="425566" y="145166"/>
                  <a:pt x="244725" y="30923"/>
                  <a:pt x="382385" y="99752"/>
                </a:cubicBezTo>
                <a:cubicBezTo>
                  <a:pt x="400257" y="108688"/>
                  <a:pt x="414003" y="124888"/>
                  <a:pt x="432262" y="133003"/>
                </a:cubicBezTo>
                <a:cubicBezTo>
                  <a:pt x="464290" y="147238"/>
                  <a:pt x="532014" y="166254"/>
                  <a:pt x="532014" y="166254"/>
                </a:cubicBezTo>
                <a:cubicBezTo>
                  <a:pt x="565265" y="188421"/>
                  <a:pt x="592580" y="224919"/>
                  <a:pt x="631767" y="232756"/>
                </a:cubicBezTo>
                <a:cubicBezTo>
                  <a:pt x="680563" y="242515"/>
                  <a:pt x="720036" y="246835"/>
                  <a:pt x="764771" y="266007"/>
                </a:cubicBezTo>
                <a:cubicBezTo>
                  <a:pt x="787551" y="275770"/>
                  <a:pt x="808493" y="289495"/>
                  <a:pt x="831273" y="299258"/>
                </a:cubicBezTo>
                <a:cubicBezTo>
                  <a:pt x="911538" y="333657"/>
                  <a:pt x="855749" y="293993"/>
                  <a:pt x="947651" y="349134"/>
                </a:cubicBezTo>
                <a:cubicBezTo>
                  <a:pt x="981919" y="369695"/>
                  <a:pt x="1019146" y="387378"/>
                  <a:pt x="1047404" y="415636"/>
                </a:cubicBezTo>
                <a:cubicBezTo>
                  <a:pt x="1161285" y="529518"/>
                  <a:pt x="1108030" y="489305"/>
                  <a:pt x="1197033" y="548640"/>
                </a:cubicBezTo>
                <a:cubicBezTo>
                  <a:pt x="1246990" y="698508"/>
                  <a:pt x="1241567" y="638580"/>
                  <a:pt x="1213658" y="847898"/>
                </a:cubicBezTo>
                <a:cubicBezTo>
                  <a:pt x="1210062" y="874870"/>
                  <a:pt x="1184694" y="930921"/>
                  <a:pt x="1163782" y="947651"/>
                </a:cubicBezTo>
                <a:cubicBezTo>
                  <a:pt x="1150097" y="958599"/>
                  <a:pt x="1130531" y="958734"/>
                  <a:pt x="1113905" y="964276"/>
                </a:cubicBezTo>
                <a:cubicBezTo>
                  <a:pt x="1018612" y="1107214"/>
                  <a:pt x="1145498" y="939001"/>
                  <a:pt x="1030778" y="1030778"/>
                </a:cubicBezTo>
                <a:cubicBezTo>
                  <a:pt x="923349" y="1116722"/>
                  <a:pt x="1073016" y="1055490"/>
                  <a:pt x="947651" y="1097280"/>
                </a:cubicBezTo>
                <a:cubicBezTo>
                  <a:pt x="914400" y="1130531"/>
                  <a:pt x="887024" y="1170948"/>
                  <a:pt x="847898" y="1197032"/>
                </a:cubicBezTo>
                <a:cubicBezTo>
                  <a:pt x="814647" y="1219199"/>
                  <a:pt x="776403" y="1235276"/>
                  <a:pt x="748145" y="1263534"/>
                </a:cubicBezTo>
                <a:cubicBezTo>
                  <a:pt x="675568" y="1336112"/>
                  <a:pt x="679703" y="1327081"/>
                  <a:pt x="615142" y="1413163"/>
                </a:cubicBezTo>
                <a:cubicBezTo>
                  <a:pt x="603153" y="1429148"/>
                  <a:pt x="595166" y="1448106"/>
                  <a:pt x="581891" y="1463040"/>
                </a:cubicBezTo>
                <a:cubicBezTo>
                  <a:pt x="550650" y="1498186"/>
                  <a:pt x="482138" y="1562792"/>
                  <a:pt x="482138" y="1562792"/>
                </a:cubicBezTo>
                <a:cubicBezTo>
                  <a:pt x="476596" y="1601585"/>
                  <a:pt x="479580" y="1642596"/>
                  <a:pt x="465513" y="1679171"/>
                </a:cubicBezTo>
                <a:cubicBezTo>
                  <a:pt x="451167" y="1716470"/>
                  <a:pt x="411648" y="1741011"/>
                  <a:pt x="399011" y="1778923"/>
                </a:cubicBezTo>
                <a:cubicBezTo>
                  <a:pt x="393469" y="1795549"/>
                  <a:pt x="392571" y="1814539"/>
                  <a:pt x="382385" y="1828800"/>
                </a:cubicBezTo>
                <a:cubicBezTo>
                  <a:pt x="364164" y="1854310"/>
                  <a:pt x="338051" y="1873134"/>
                  <a:pt x="315884" y="1895301"/>
                </a:cubicBezTo>
                <a:cubicBezTo>
                  <a:pt x="230104" y="2152641"/>
                  <a:pt x="328419" y="1886859"/>
                  <a:pt x="249382" y="2044931"/>
                </a:cubicBezTo>
                <a:cubicBezTo>
                  <a:pt x="241545" y="2060606"/>
                  <a:pt x="238909" y="2078398"/>
                  <a:pt x="232756" y="2094807"/>
                </a:cubicBezTo>
                <a:cubicBezTo>
                  <a:pt x="200913" y="2179720"/>
                  <a:pt x="204038" y="2168868"/>
                  <a:pt x="166254" y="2244436"/>
                </a:cubicBezTo>
                <a:cubicBezTo>
                  <a:pt x="160712" y="2266603"/>
                  <a:pt x="157652" y="2289543"/>
                  <a:pt x="149629" y="2310938"/>
                </a:cubicBezTo>
                <a:cubicBezTo>
                  <a:pt x="133886" y="2352921"/>
                  <a:pt x="73078" y="2453989"/>
                  <a:pt x="49876" y="2477192"/>
                </a:cubicBezTo>
                <a:lnTo>
                  <a:pt x="0" y="2527069"/>
                </a:lnTo>
              </a:path>
            </a:pathLst>
          </a:custGeom>
          <a:noFill/>
          <a:ln w="635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55613" y="4467176"/>
            <a:ext cx="4991100" cy="23083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400" dirty="0"/>
              <a:t>If </a:t>
            </a:r>
            <a:r>
              <a:rPr lang="en-US" sz="2400" i="1" dirty="0" smtClean="0"/>
              <a:t>n_</a:t>
            </a:r>
            <a:r>
              <a:rPr lang="en-US" sz="2400" dirty="0" smtClean="0"/>
              <a:t>1</a:t>
            </a:r>
            <a:r>
              <a:rPr lang="en-US" sz="2400" dirty="0"/>
              <a:t>, </a:t>
            </a:r>
            <a:r>
              <a:rPr lang="en-US" sz="2400" i="1" dirty="0" smtClean="0"/>
              <a:t>n_</a:t>
            </a:r>
            <a:r>
              <a:rPr lang="en-US" sz="2400" dirty="0" smtClean="0"/>
              <a:t>2</a:t>
            </a:r>
            <a:r>
              <a:rPr lang="en-US" sz="2400" dirty="0"/>
              <a:t>, ..., </a:t>
            </a:r>
            <a:r>
              <a:rPr lang="en-US" sz="2400" i="1" dirty="0" err="1" smtClean="0"/>
              <a:t>n_k</a:t>
            </a:r>
            <a:r>
              <a:rPr lang="en-US" sz="2400" i="1" dirty="0" smtClean="0"/>
              <a:t> </a:t>
            </a:r>
            <a:r>
              <a:rPr lang="en-US" sz="2400" dirty="0"/>
              <a:t>is a sequence of nodes in the tree such that </a:t>
            </a:r>
            <a:r>
              <a:rPr lang="en-US" sz="2400" i="1" dirty="0" err="1" smtClean="0"/>
              <a:t>n_i</a:t>
            </a:r>
            <a:r>
              <a:rPr lang="en-US" sz="2400" i="1" dirty="0" smtClean="0"/>
              <a:t> </a:t>
            </a:r>
            <a:r>
              <a:rPr lang="en-US" sz="2400" dirty="0"/>
              <a:t>is the parent </a:t>
            </a:r>
            <a:r>
              <a:rPr lang="en-US" sz="2400" dirty="0" smtClean="0"/>
              <a:t>of </a:t>
            </a:r>
            <a:r>
              <a:rPr lang="en-US" sz="2400" i="1" dirty="0" err="1" smtClean="0"/>
              <a:t>n_i</a:t>
            </a:r>
            <a:r>
              <a:rPr lang="en-US" sz="2400" i="1" dirty="0" smtClean="0"/>
              <a:t> </a:t>
            </a:r>
            <a:r>
              <a:rPr lang="en-US" sz="2400" dirty="0" smtClean="0"/>
              <a:t>+ 1 </a:t>
            </a:r>
            <a:r>
              <a:rPr lang="en-US" sz="2400" dirty="0"/>
              <a:t>for 1 </a:t>
            </a:r>
            <a:r>
              <a:rPr lang="en-US" sz="2400" i="1" dirty="0"/>
              <a:t>≤ </a:t>
            </a:r>
            <a:r>
              <a:rPr lang="en-US" sz="2400" i="1" dirty="0" err="1"/>
              <a:t>i</a:t>
            </a:r>
            <a:r>
              <a:rPr lang="en-US" sz="2400" i="1" dirty="0"/>
              <a:t> &lt; k</a:t>
            </a:r>
            <a:r>
              <a:rPr lang="en-US" sz="2400" dirty="0"/>
              <a:t>, then this sequence is called a </a:t>
            </a:r>
            <a:r>
              <a:rPr lang="en-US" sz="2400" b="1" dirty="0"/>
              <a:t>path </a:t>
            </a:r>
            <a:r>
              <a:rPr lang="en-US" sz="2400" dirty="0"/>
              <a:t>from </a:t>
            </a:r>
            <a:r>
              <a:rPr lang="en-US" sz="2400" i="1" dirty="0" smtClean="0"/>
              <a:t>n_</a:t>
            </a:r>
            <a:r>
              <a:rPr lang="en-US" sz="2400" dirty="0" smtClean="0"/>
              <a:t>1 </a:t>
            </a:r>
            <a:r>
              <a:rPr lang="en-US" sz="2400" dirty="0"/>
              <a:t>to </a:t>
            </a:r>
            <a:r>
              <a:rPr lang="en-US" sz="2400" i="1" dirty="0" err="1" smtClean="0"/>
              <a:t>n_k</a:t>
            </a:r>
            <a:r>
              <a:rPr lang="en-US" sz="2400" dirty="0"/>
              <a:t>. </a:t>
            </a:r>
            <a:br>
              <a:rPr lang="en-US" sz="2400" dirty="0"/>
            </a:br>
            <a:endParaRPr lang="en-US" sz="2400" dirty="0"/>
          </a:p>
        </p:txBody>
      </p:sp>
      <p:sp>
        <p:nvSpPr>
          <p:cNvPr id="4" name="TextBox 3"/>
          <p:cNvSpPr txBox="1"/>
          <p:nvPr/>
        </p:nvSpPr>
        <p:spPr>
          <a:xfrm>
            <a:off x="7086600" y="1905000"/>
            <a:ext cx="171405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A,C,E,G is a path</a:t>
            </a:r>
            <a:endParaRPr lang="en-US" dirty="0"/>
          </a:p>
        </p:txBody>
      </p:sp>
      <p:sp>
        <p:nvSpPr>
          <p:cNvPr id="7" name="Oval 6"/>
          <p:cNvSpPr/>
          <p:nvPr/>
        </p:nvSpPr>
        <p:spPr>
          <a:xfrm>
            <a:off x="6019800" y="4648200"/>
            <a:ext cx="749531" cy="914400"/>
          </a:xfrm>
          <a:prstGeom prst="ellipse">
            <a:avLst/>
          </a:prstGeom>
          <a:solidFill>
            <a:srgbClr val="C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946669" y="2743200"/>
            <a:ext cx="749531" cy="914400"/>
          </a:xfrm>
          <a:prstGeom prst="ellipse">
            <a:avLst/>
          </a:prstGeom>
          <a:solidFill>
            <a:srgbClr val="C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62210" y="1383268"/>
            <a:ext cx="174066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Descendant of A</a:t>
            </a:r>
            <a:endParaRPr lang="en-US" dirty="0"/>
          </a:p>
        </p:txBody>
      </p:sp>
      <p:cxnSp>
        <p:nvCxnSpPr>
          <p:cNvPr id="14" name="Straight Arrow Connector 13"/>
          <p:cNvCxnSpPr/>
          <p:nvPr/>
        </p:nvCxnSpPr>
        <p:spPr>
          <a:xfrm flipH="1" flipV="1">
            <a:off x="4554541" y="1752600"/>
            <a:ext cx="2392128" cy="1270794"/>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359595" y="5837406"/>
            <a:ext cx="1349537"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dirty="0" smtClean="0"/>
              <a:t>Descendant </a:t>
            </a:r>
          </a:p>
          <a:p>
            <a:pPr algn="ctr"/>
            <a:r>
              <a:rPr lang="en-US" dirty="0" smtClean="0"/>
              <a:t>of C</a:t>
            </a:r>
            <a:endParaRPr lang="en-US" dirty="0"/>
          </a:p>
        </p:txBody>
      </p:sp>
      <p:cxnSp>
        <p:nvCxnSpPr>
          <p:cNvPr id="17" name="Straight Arrow Connector 16"/>
          <p:cNvCxnSpPr/>
          <p:nvPr/>
        </p:nvCxnSpPr>
        <p:spPr>
          <a:xfrm>
            <a:off x="7695825" y="3352800"/>
            <a:ext cx="381375" cy="30883"/>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flipV="1">
            <a:off x="4554541" y="1752600"/>
            <a:ext cx="1897521" cy="288643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15" idx="0"/>
          </p:cNvCxnSpPr>
          <p:nvPr/>
        </p:nvCxnSpPr>
        <p:spPr>
          <a:xfrm>
            <a:off x="7695825" y="5315674"/>
            <a:ext cx="338539" cy="52173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5" idx="0"/>
          </p:cNvCxnSpPr>
          <p:nvPr/>
        </p:nvCxnSpPr>
        <p:spPr>
          <a:xfrm flipH="1">
            <a:off x="8034364" y="5387088"/>
            <a:ext cx="271436" cy="45031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1168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455613" y="1219200"/>
            <a:ext cx="4344987" cy="3429000"/>
          </a:xfrm>
        </p:spPr>
        <p:txBody>
          <a:bodyPr/>
          <a:lstStyle/>
          <a:p>
            <a:pPr>
              <a:lnSpc>
                <a:spcPct val="90000"/>
              </a:lnSpc>
              <a:buFontTx/>
              <a:buNone/>
            </a:pPr>
            <a:r>
              <a:rPr lang="en-US" dirty="0" smtClean="0">
                <a:latin typeface="Helvetica" pitchFamily="26" charset="0"/>
              </a:rPr>
              <a:t>Notation: </a:t>
            </a:r>
            <a:r>
              <a:rPr lang="en-US" u="sng" dirty="0" smtClean="0">
                <a:latin typeface="Helvetica" pitchFamily="26" charset="0"/>
              </a:rPr>
              <a:t>Node</a:t>
            </a:r>
            <a:r>
              <a:rPr lang="en-US" dirty="0" smtClean="0">
                <a:latin typeface="Helvetica" pitchFamily="26" charset="0"/>
              </a:rPr>
              <a:t>, </a:t>
            </a:r>
            <a:r>
              <a:rPr lang="en-US" u="sng" dirty="0" smtClean="0">
                <a:latin typeface="Helvetica" pitchFamily="26" charset="0"/>
              </a:rPr>
              <a:t>children</a:t>
            </a:r>
            <a:r>
              <a:rPr lang="en-US" dirty="0" smtClean="0">
                <a:latin typeface="Helvetica" pitchFamily="26" charset="0"/>
              </a:rPr>
              <a:t>, </a:t>
            </a:r>
            <a:r>
              <a:rPr lang="en-US" u="sng" dirty="0" smtClean="0">
                <a:latin typeface="Helvetica" pitchFamily="26" charset="0"/>
              </a:rPr>
              <a:t>edge</a:t>
            </a:r>
            <a:r>
              <a:rPr lang="en-US" dirty="0" smtClean="0">
                <a:latin typeface="Helvetica" pitchFamily="26" charset="0"/>
              </a:rPr>
              <a:t>, </a:t>
            </a:r>
            <a:r>
              <a:rPr lang="en-US" u="sng" dirty="0" smtClean="0">
                <a:latin typeface="Helvetica" pitchFamily="26" charset="0"/>
              </a:rPr>
              <a:t>parent</a:t>
            </a:r>
            <a:r>
              <a:rPr lang="en-US" dirty="0" smtClean="0">
                <a:latin typeface="Helvetica" pitchFamily="26" charset="0"/>
              </a:rPr>
              <a:t>, </a:t>
            </a:r>
            <a:r>
              <a:rPr lang="en-US" u="sng" dirty="0" smtClean="0">
                <a:latin typeface="Helvetica" pitchFamily="26" charset="0"/>
              </a:rPr>
              <a:t>ancestor</a:t>
            </a:r>
            <a:r>
              <a:rPr lang="en-US" dirty="0" smtClean="0">
                <a:latin typeface="Helvetica" pitchFamily="26" charset="0"/>
              </a:rPr>
              <a:t>, </a:t>
            </a:r>
            <a:r>
              <a:rPr lang="en-US" u="sng" dirty="0" smtClean="0">
                <a:latin typeface="Helvetica" pitchFamily="26" charset="0"/>
              </a:rPr>
              <a:t>descendant</a:t>
            </a:r>
            <a:r>
              <a:rPr lang="en-US" dirty="0" smtClean="0">
                <a:latin typeface="Helvetica" pitchFamily="26" charset="0"/>
              </a:rPr>
              <a:t>, </a:t>
            </a:r>
            <a:r>
              <a:rPr lang="en-US" u="sng" dirty="0" smtClean="0">
                <a:latin typeface="Helvetica" pitchFamily="26" charset="0"/>
              </a:rPr>
              <a:t>path</a:t>
            </a:r>
            <a:r>
              <a:rPr lang="en-US" dirty="0" smtClean="0">
                <a:latin typeface="Helvetica" pitchFamily="26" charset="0"/>
              </a:rPr>
              <a:t>, </a:t>
            </a:r>
            <a:r>
              <a:rPr lang="en-US" u="sng" dirty="0" smtClean="0">
                <a:latin typeface="Helvetica" pitchFamily="26" charset="0"/>
              </a:rPr>
              <a:t>depth</a:t>
            </a:r>
            <a:r>
              <a:rPr lang="en-US" dirty="0" smtClean="0">
                <a:latin typeface="Helvetica" pitchFamily="26" charset="0"/>
              </a:rPr>
              <a:t>, </a:t>
            </a:r>
            <a:r>
              <a:rPr lang="en-US" u="sng" dirty="0" smtClean="0">
                <a:latin typeface="Helvetica" pitchFamily="26" charset="0"/>
              </a:rPr>
              <a:t>height</a:t>
            </a:r>
            <a:r>
              <a:rPr lang="en-US" dirty="0" smtClean="0">
                <a:latin typeface="Helvetica" pitchFamily="26" charset="0"/>
              </a:rPr>
              <a:t>, </a:t>
            </a:r>
            <a:r>
              <a:rPr lang="en-US" u="sng" dirty="0" smtClean="0">
                <a:latin typeface="Helvetica" pitchFamily="26" charset="0"/>
              </a:rPr>
              <a:t>level</a:t>
            </a:r>
            <a:r>
              <a:rPr lang="en-US" dirty="0" smtClean="0">
                <a:latin typeface="Helvetica" pitchFamily="26" charset="0"/>
              </a:rPr>
              <a:t>, </a:t>
            </a:r>
            <a:r>
              <a:rPr lang="en-US" u="sng" dirty="0" smtClean="0">
                <a:latin typeface="Helvetica" pitchFamily="26" charset="0"/>
              </a:rPr>
              <a:t>leaf node</a:t>
            </a:r>
            <a:r>
              <a:rPr lang="en-US" dirty="0" smtClean="0">
                <a:latin typeface="Helvetica" pitchFamily="26" charset="0"/>
              </a:rPr>
              <a:t>, </a:t>
            </a:r>
            <a:r>
              <a:rPr lang="en-US" u="sng" dirty="0" smtClean="0">
                <a:latin typeface="Helvetica" pitchFamily="26" charset="0"/>
              </a:rPr>
              <a:t>internal node</a:t>
            </a:r>
            <a:r>
              <a:rPr lang="en-US" dirty="0" smtClean="0">
                <a:latin typeface="Helvetica" pitchFamily="26" charset="0"/>
              </a:rPr>
              <a:t>, </a:t>
            </a:r>
            <a:r>
              <a:rPr lang="en-US" u="sng" dirty="0" smtClean="0">
                <a:latin typeface="Helvetica" pitchFamily="26" charset="0"/>
              </a:rPr>
              <a:t>subtree</a:t>
            </a:r>
            <a:r>
              <a:rPr lang="en-US" dirty="0" smtClean="0">
                <a:latin typeface="Helvetica" pitchFamily="26" charset="0"/>
              </a:rPr>
              <a:t>.</a:t>
            </a:r>
          </a:p>
          <a:p>
            <a:pPr>
              <a:lnSpc>
                <a:spcPct val="90000"/>
              </a:lnSpc>
              <a:buFontTx/>
              <a:buNone/>
            </a:pPr>
            <a:endParaRPr lang="en-US" dirty="0"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6" name="Rectangle 5"/>
          <p:cNvSpPr/>
          <p:nvPr/>
        </p:nvSpPr>
        <p:spPr>
          <a:xfrm>
            <a:off x="842961" y="2973878"/>
            <a:ext cx="1138239"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001000" y="3048000"/>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1</a:t>
            </a:r>
            <a:endParaRPr lang="en-US" dirty="0"/>
          </a:p>
        </p:txBody>
      </p:sp>
      <p:sp>
        <p:nvSpPr>
          <p:cNvPr id="18" name="TextBox 17"/>
          <p:cNvSpPr txBox="1"/>
          <p:nvPr/>
        </p:nvSpPr>
        <p:spPr>
          <a:xfrm>
            <a:off x="5562600" y="2983468"/>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1</a:t>
            </a:r>
            <a:endParaRPr lang="en-US" dirty="0"/>
          </a:p>
        </p:txBody>
      </p:sp>
      <p:sp>
        <p:nvSpPr>
          <p:cNvPr id="19" name="TextBox 18"/>
          <p:cNvSpPr txBox="1"/>
          <p:nvPr/>
        </p:nvSpPr>
        <p:spPr>
          <a:xfrm>
            <a:off x="5562600" y="2069068"/>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0</a:t>
            </a:r>
            <a:endParaRPr lang="en-US" dirty="0"/>
          </a:p>
        </p:txBody>
      </p:sp>
      <p:sp>
        <p:nvSpPr>
          <p:cNvPr id="24" name="TextBox 23"/>
          <p:cNvSpPr txBox="1"/>
          <p:nvPr/>
        </p:nvSpPr>
        <p:spPr>
          <a:xfrm>
            <a:off x="4943645" y="3962400"/>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2</a:t>
            </a:r>
          </a:p>
        </p:txBody>
      </p:sp>
      <p:sp>
        <p:nvSpPr>
          <p:cNvPr id="25" name="TextBox 24"/>
          <p:cNvSpPr txBox="1"/>
          <p:nvPr/>
        </p:nvSpPr>
        <p:spPr>
          <a:xfrm>
            <a:off x="6172200" y="3962400"/>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2</a:t>
            </a:r>
          </a:p>
        </p:txBody>
      </p:sp>
      <p:sp>
        <p:nvSpPr>
          <p:cNvPr id="26" name="TextBox 25"/>
          <p:cNvSpPr txBox="1"/>
          <p:nvPr/>
        </p:nvSpPr>
        <p:spPr>
          <a:xfrm>
            <a:off x="8272378" y="3962400"/>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2</a:t>
            </a:r>
          </a:p>
        </p:txBody>
      </p:sp>
      <p:sp>
        <p:nvSpPr>
          <p:cNvPr id="27" name="TextBox 26"/>
          <p:cNvSpPr txBox="1"/>
          <p:nvPr/>
        </p:nvSpPr>
        <p:spPr>
          <a:xfrm>
            <a:off x="5715000" y="4926675"/>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3</a:t>
            </a:r>
            <a:endParaRPr lang="en-US" dirty="0"/>
          </a:p>
        </p:txBody>
      </p:sp>
      <p:sp>
        <p:nvSpPr>
          <p:cNvPr id="28" name="TextBox 27"/>
          <p:cNvSpPr txBox="1"/>
          <p:nvPr/>
        </p:nvSpPr>
        <p:spPr>
          <a:xfrm>
            <a:off x="6943555" y="4926675"/>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3</a:t>
            </a:r>
            <a:endParaRPr lang="en-US" dirty="0"/>
          </a:p>
        </p:txBody>
      </p:sp>
      <p:sp>
        <p:nvSpPr>
          <p:cNvPr id="29" name="TextBox 28"/>
          <p:cNvSpPr txBox="1"/>
          <p:nvPr/>
        </p:nvSpPr>
        <p:spPr>
          <a:xfrm>
            <a:off x="8151493" y="5505359"/>
            <a:ext cx="30168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3</a:t>
            </a:r>
            <a:endParaRPr lang="en-US" dirty="0"/>
          </a:p>
        </p:txBody>
      </p:sp>
      <p:sp>
        <p:nvSpPr>
          <p:cNvPr id="30" name="Rectangle 29"/>
          <p:cNvSpPr/>
          <p:nvPr/>
        </p:nvSpPr>
        <p:spPr>
          <a:xfrm>
            <a:off x="3285299" y="2973878"/>
            <a:ext cx="1138239" cy="533400"/>
          </a:xfrm>
          <a:prstGeom prst="rect">
            <a:avLst/>
          </a:prstGeom>
          <a:solidFill>
            <a:srgbClr val="FF00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4800600" y="2209800"/>
            <a:ext cx="3502086" cy="0"/>
          </a:xfrm>
          <a:prstGeom prst="line">
            <a:avLst/>
          </a:prstGeom>
          <a:ln w="381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728014" y="2025134"/>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0</a:t>
            </a:r>
            <a:endParaRPr lang="en-US" dirty="0"/>
          </a:p>
        </p:txBody>
      </p:sp>
      <p:cxnSp>
        <p:nvCxnSpPr>
          <p:cNvPr id="36" name="Straight Connector 35"/>
          <p:cNvCxnSpPr/>
          <p:nvPr/>
        </p:nvCxnSpPr>
        <p:spPr>
          <a:xfrm>
            <a:off x="4953000" y="3200400"/>
            <a:ext cx="3502086" cy="0"/>
          </a:xfrm>
          <a:prstGeom prst="line">
            <a:avLst/>
          </a:prstGeom>
          <a:ln w="381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8747231" y="3015734"/>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1</a:t>
            </a:r>
            <a:endParaRPr lang="en-US" dirty="0"/>
          </a:p>
        </p:txBody>
      </p:sp>
      <p:sp>
        <p:nvSpPr>
          <p:cNvPr id="40" name="TextBox 39"/>
          <p:cNvSpPr txBox="1"/>
          <p:nvPr/>
        </p:nvSpPr>
        <p:spPr>
          <a:xfrm>
            <a:off x="8732684" y="3962400"/>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2</a:t>
            </a:r>
            <a:endParaRPr lang="en-US" dirty="0"/>
          </a:p>
        </p:txBody>
      </p:sp>
      <p:sp>
        <p:nvSpPr>
          <p:cNvPr id="41" name="TextBox 40"/>
          <p:cNvSpPr txBox="1"/>
          <p:nvPr/>
        </p:nvSpPr>
        <p:spPr>
          <a:xfrm>
            <a:off x="8747231" y="4909066"/>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a:t>3</a:t>
            </a:r>
          </a:p>
        </p:txBody>
      </p:sp>
      <p:cxnSp>
        <p:nvCxnSpPr>
          <p:cNvPr id="42" name="Straight Connector 41"/>
          <p:cNvCxnSpPr/>
          <p:nvPr/>
        </p:nvCxnSpPr>
        <p:spPr>
          <a:xfrm>
            <a:off x="5184714" y="4114800"/>
            <a:ext cx="3502086" cy="0"/>
          </a:xfrm>
          <a:prstGeom prst="line">
            <a:avLst/>
          </a:prstGeom>
          <a:ln w="381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5245331" y="5155676"/>
            <a:ext cx="3502086" cy="0"/>
          </a:xfrm>
          <a:prstGeom prst="line">
            <a:avLst/>
          </a:prstGeom>
          <a:ln w="381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55613" y="5155676"/>
            <a:ext cx="1863587"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Depth of a node…</a:t>
            </a:r>
          </a:p>
        </p:txBody>
      </p:sp>
      <p:sp>
        <p:nvSpPr>
          <p:cNvPr id="34" name="TextBox 33"/>
          <p:cNvSpPr txBox="1"/>
          <p:nvPr/>
        </p:nvSpPr>
        <p:spPr>
          <a:xfrm>
            <a:off x="472238" y="5638800"/>
            <a:ext cx="1768241"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a:t>Level of a node</a:t>
            </a:r>
            <a:r>
              <a:rPr lang="en-US" dirty="0" smtClean="0"/>
              <a:t>…</a:t>
            </a:r>
            <a:endParaRPr lang="en-US" dirty="0"/>
          </a:p>
        </p:txBody>
      </p:sp>
      <p:cxnSp>
        <p:nvCxnSpPr>
          <p:cNvPr id="37" name="Straight Arrow Connector 36"/>
          <p:cNvCxnSpPr/>
          <p:nvPr/>
        </p:nvCxnSpPr>
        <p:spPr>
          <a:xfrm>
            <a:off x="4724400" y="2025134"/>
            <a:ext cx="0" cy="3253264"/>
          </a:xfrm>
          <a:prstGeom prst="straightConnector1">
            <a:avLst/>
          </a:prstGeom>
          <a:ln w="6350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455613" y="6121924"/>
            <a:ext cx="1649491"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smtClean="0"/>
              <a:t>Height of a tree</a:t>
            </a:r>
            <a:endParaRPr lang="en-US" dirty="0"/>
          </a:p>
        </p:txBody>
      </p:sp>
      <p:sp>
        <p:nvSpPr>
          <p:cNvPr id="49" name="Rectangle 48"/>
          <p:cNvSpPr/>
          <p:nvPr/>
        </p:nvSpPr>
        <p:spPr>
          <a:xfrm>
            <a:off x="2130486" y="2973878"/>
            <a:ext cx="1138239" cy="533400"/>
          </a:xfrm>
          <a:prstGeom prst="rect">
            <a:avLst/>
          </a:prstGeom>
          <a:solidFill>
            <a:srgbClr val="00B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3507486" y="4909066"/>
            <a:ext cx="978153"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smtClean="0"/>
              <a:t>3 + 1 = 4</a:t>
            </a:r>
            <a:endParaRPr lang="en-US" dirty="0"/>
          </a:p>
        </p:txBody>
      </p:sp>
    </p:spTree>
    <p:extLst>
      <p:ext uri="{BB962C8B-B14F-4D97-AF65-F5344CB8AC3E}">
        <p14:creationId xmlns:p14="http://schemas.microsoft.com/office/powerpoint/2010/main" val="260470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par>
                                <p:cTn id="40" presetID="22" presetClass="entr" presetSubtype="8" fill="hold"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left)">
                                      <p:cBhvr>
                                        <p:cTn id="42" dur="500"/>
                                        <p:tgtEl>
                                          <p:spTgt spid="36"/>
                                        </p:tgtEl>
                                      </p:cBhvr>
                                    </p:animEffect>
                                  </p:childTnLst>
                                </p:cTn>
                              </p:par>
                              <p:par>
                                <p:cTn id="43" presetID="22" presetClass="entr" presetSubtype="8" fill="hold" nodeType="with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wipe(left)">
                                      <p:cBhvr>
                                        <p:cTn id="45" dur="500"/>
                                        <p:tgtEl>
                                          <p:spTgt spid="42"/>
                                        </p:tgtEl>
                                      </p:cBhvr>
                                    </p:animEffect>
                                  </p:childTnLst>
                                </p:cTn>
                              </p:par>
                              <p:par>
                                <p:cTn id="46" presetID="22" presetClass="entr" presetSubtype="8" fill="hold"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wipe(left)">
                                      <p:cBhvr>
                                        <p:cTn id="48" dur="500"/>
                                        <p:tgtEl>
                                          <p:spTgt spid="43"/>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wipe(left)">
                                      <p:cBhvr>
                                        <p:cTn id="51" dur="500"/>
                                        <p:tgtEl>
                                          <p:spTgt spid="41"/>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wipe(left)">
                                      <p:cBhvr>
                                        <p:cTn id="54" dur="500"/>
                                        <p:tgtEl>
                                          <p:spTgt spid="4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left)">
                                      <p:cBhvr>
                                        <p:cTn id="57" dur="500"/>
                                        <p:tgtEl>
                                          <p:spTgt spid="39"/>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wipe(left)">
                                      <p:cBhvr>
                                        <p:cTn id="60" dur="500"/>
                                        <p:tgtEl>
                                          <p:spTgt spid="31"/>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1000"/>
                                        <p:tgtEl>
                                          <p:spTgt spid="34"/>
                                        </p:tgtEl>
                                      </p:cBhvr>
                                    </p:animEffect>
                                    <p:anim calcmode="lin" valueType="num">
                                      <p:cBhvr>
                                        <p:cTn id="74" dur="1000" fill="hold"/>
                                        <p:tgtEl>
                                          <p:spTgt spid="34"/>
                                        </p:tgtEl>
                                        <p:attrNameLst>
                                          <p:attrName>ppt_x</p:attrName>
                                        </p:attrNameLst>
                                      </p:cBhvr>
                                      <p:tavLst>
                                        <p:tav tm="0">
                                          <p:val>
                                            <p:strVal val="#ppt_x"/>
                                          </p:val>
                                        </p:tav>
                                        <p:tav tm="100000">
                                          <p:val>
                                            <p:strVal val="#ppt_x"/>
                                          </p:val>
                                        </p:tav>
                                      </p:tavLst>
                                    </p:anim>
                                    <p:anim calcmode="lin" valueType="num">
                                      <p:cBhvr>
                                        <p:cTn id="75"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500"/>
                                        <p:tgtEl>
                                          <p:spTgt spid="4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wipe(down)">
                                      <p:cBhvr>
                                        <p:cTn id="85" dur="5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500"/>
                                        <p:tgtEl>
                                          <p:spTgt spid="3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18" grpId="0" animBg="1"/>
      <p:bldP spid="19" grpId="0" animBg="1"/>
      <p:bldP spid="24" grpId="0" animBg="1"/>
      <p:bldP spid="25" grpId="0" animBg="1"/>
      <p:bldP spid="26" grpId="0" animBg="1"/>
      <p:bldP spid="27" grpId="0" animBg="1"/>
      <p:bldP spid="28" grpId="0" animBg="1"/>
      <p:bldP spid="29" grpId="0" animBg="1"/>
      <p:bldP spid="30" grpId="0" animBg="1"/>
      <p:bldP spid="31" grpId="0" animBg="1"/>
      <p:bldP spid="39" grpId="0" animBg="1"/>
      <p:bldP spid="40" grpId="0" animBg="1"/>
      <p:bldP spid="41" grpId="0" animBg="1"/>
      <p:bldP spid="33" grpId="0" animBg="1"/>
      <p:bldP spid="34" grpId="0" animBg="1"/>
      <p:bldP spid="44" grpId="0" animBg="1"/>
      <p:bldP spid="49"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125875" y="1600200"/>
            <a:ext cx="4598525" cy="4495800"/>
          </a:xfrm>
        </p:spPr>
        <p:txBody>
          <a:bodyPr/>
          <a:lstStyle/>
          <a:p>
            <a:pPr>
              <a:lnSpc>
                <a:spcPct val="90000"/>
              </a:lnSpc>
              <a:buFontTx/>
              <a:buNone/>
            </a:pPr>
            <a:r>
              <a:rPr lang="en-US" dirty="0" smtClean="0">
                <a:latin typeface="Helvetica" pitchFamily="26" charset="0"/>
              </a:rPr>
              <a:t>Notation: </a:t>
            </a:r>
            <a:r>
              <a:rPr lang="en-US" u="sng" dirty="0" smtClean="0">
                <a:latin typeface="Helvetica" pitchFamily="26" charset="0"/>
              </a:rPr>
              <a:t>Node</a:t>
            </a:r>
            <a:r>
              <a:rPr lang="en-US" dirty="0" smtClean="0">
                <a:latin typeface="Helvetica" pitchFamily="26" charset="0"/>
              </a:rPr>
              <a:t>, </a:t>
            </a:r>
            <a:r>
              <a:rPr lang="en-US" u="sng" dirty="0" smtClean="0">
                <a:latin typeface="Helvetica" pitchFamily="26" charset="0"/>
              </a:rPr>
              <a:t>children</a:t>
            </a:r>
            <a:r>
              <a:rPr lang="en-US" dirty="0" smtClean="0">
                <a:latin typeface="Helvetica" pitchFamily="26" charset="0"/>
              </a:rPr>
              <a:t>, </a:t>
            </a:r>
            <a:r>
              <a:rPr lang="en-US" u="sng" dirty="0" smtClean="0">
                <a:latin typeface="Helvetica" pitchFamily="26" charset="0"/>
              </a:rPr>
              <a:t>edge</a:t>
            </a:r>
            <a:r>
              <a:rPr lang="en-US" dirty="0" smtClean="0">
                <a:latin typeface="Helvetica" pitchFamily="26" charset="0"/>
              </a:rPr>
              <a:t>, </a:t>
            </a:r>
            <a:r>
              <a:rPr lang="en-US" u="sng" dirty="0" smtClean="0">
                <a:latin typeface="Helvetica" pitchFamily="26" charset="0"/>
              </a:rPr>
              <a:t>parent</a:t>
            </a:r>
            <a:r>
              <a:rPr lang="en-US" dirty="0" smtClean="0">
                <a:latin typeface="Helvetica" pitchFamily="26" charset="0"/>
              </a:rPr>
              <a:t>, </a:t>
            </a:r>
            <a:r>
              <a:rPr lang="en-US" u="sng" dirty="0" smtClean="0">
                <a:latin typeface="Helvetica" pitchFamily="26" charset="0"/>
              </a:rPr>
              <a:t>ancestor</a:t>
            </a:r>
            <a:r>
              <a:rPr lang="en-US" dirty="0" smtClean="0">
                <a:latin typeface="Helvetica" pitchFamily="26" charset="0"/>
              </a:rPr>
              <a:t>, </a:t>
            </a:r>
            <a:r>
              <a:rPr lang="en-US" u="sng" dirty="0" smtClean="0">
                <a:latin typeface="Helvetica" pitchFamily="26" charset="0"/>
              </a:rPr>
              <a:t>descendant</a:t>
            </a:r>
            <a:r>
              <a:rPr lang="en-US" dirty="0" smtClean="0">
                <a:latin typeface="Helvetica" pitchFamily="26" charset="0"/>
              </a:rPr>
              <a:t>, </a:t>
            </a:r>
            <a:r>
              <a:rPr lang="en-US" u="sng" dirty="0" smtClean="0">
                <a:latin typeface="Helvetica" pitchFamily="26" charset="0"/>
              </a:rPr>
              <a:t>path</a:t>
            </a:r>
            <a:r>
              <a:rPr lang="en-US" dirty="0" smtClean="0">
                <a:latin typeface="Helvetica" pitchFamily="26" charset="0"/>
              </a:rPr>
              <a:t>, </a:t>
            </a:r>
            <a:r>
              <a:rPr lang="en-US" u="sng" dirty="0" smtClean="0">
                <a:latin typeface="Helvetica" pitchFamily="26" charset="0"/>
              </a:rPr>
              <a:t>depth</a:t>
            </a:r>
            <a:r>
              <a:rPr lang="en-US" dirty="0" smtClean="0">
                <a:latin typeface="Helvetica" pitchFamily="26" charset="0"/>
              </a:rPr>
              <a:t>, </a:t>
            </a:r>
            <a:r>
              <a:rPr lang="en-US" u="sng" dirty="0" smtClean="0">
                <a:latin typeface="Helvetica" pitchFamily="26" charset="0"/>
              </a:rPr>
              <a:t>height</a:t>
            </a:r>
            <a:r>
              <a:rPr lang="en-US" dirty="0" smtClean="0">
                <a:latin typeface="Helvetica" pitchFamily="26" charset="0"/>
              </a:rPr>
              <a:t>, </a:t>
            </a:r>
            <a:r>
              <a:rPr lang="en-US" u="sng" dirty="0" smtClean="0">
                <a:latin typeface="Helvetica" pitchFamily="26" charset="0"/>
              </a:rPr>
              <a:t>level</a:t>
            </a:r>
            <a:r>
              <a:rPr lang="en-US" dirty="0" smtClean="0">
                <a:latin typeface="Helvetica" pitchFamily="26" charset="0"/>
              </a:rPr>
              <a:t>, </a:t>
            </a:r>
            <a:r>
              <a:rPr lang="en-US" u="sng" dirty="0" smtClean="0">
                <a:latin typeface="Helvetica" pitchFamily="26" charset="0"/>
              </a:rPr>
              <a:t>leaf node</a:t>
            </a:r>
            <a:r>
              <a:rPr lang="en-US" dirty="0" smtClean="0">
                <a:latin typeface="Helvetica" pitchFamily="26" charset="0"/>
              </a:rPr>
              <a:t>, </a:t>
            </a:r>
            <a:r>
              <a:rPr lang="en-US" u="sng" dirty="0" smtClean="0">
                <a:latin typeface="Helvetica" pitchFamily="26" charset="0"/>
              </a:rPr>
              <a:t>internal node</a:t>
            </a:r>
            <a:r>
              <a:rPr lang="en-US" dirty="0" smtClean="0">
                <a:latin typeface="Helvetica" pitchFamily="26" charset="0"/>
              </a:rPr>
              <a:t>, </a:t>
            </a:r>
            <a:r>
              <a:rPr lang="en-US" u="sng" dirty="0" smtClean="0">
                <a:latin typeface="Helvetica" pitchFamily="26" charset="0"/>
              </a:rPr>
              <a:t>subtree</a:t>
            </a:r>
            <a:r>
              <a:rPr lang="en-US" dirty="0" smtClean="0">
                <a:latin typeface="Helvetica" pitchFamily="26" charset="0"/>
              </a:rPr>
              <a:t>.</a:t>
            </a:r>
          </a:p>
          <a:p>
            <a:pPr>
              <a:lnSpc>
                <a:spcPct val="90000"/>
              </a:lnSpc>
              <a:buFontTx/>
              <a:buNone/>
            </a:pPr>
            <a:endParaRPr lang="en-US" dirty="0"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6" name="Rectangle 5"/>
          <p:cNvSpPr/>
          <p:nvPr/>
        </p:nvSpPr>
        <p:spPr>
          <a:xfrm>
            <a:off x="1600200" y="3345180"/>
            <a:ext cx="1827415"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50070" y="3868882"/>
            <a:ext cx="2521729" cy="550718"/>
          </a:xfrm>
          <a:prstGeom prst="rect">
            <a:avLst/>
          </a:prstGeom>
          <a:solidFill>
            <a:srgbClr val="00B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6021185" y="4800600"/>
            <a:ext cx="710740" cy="685800"/>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103225" y="4782027"/>
            <a:ext cx="710740" cy="685800"/>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7906785" y="4800600"/>
            <a:ext cx="710740" cy="685800"/>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367250" y="3800300"/>
            <a:ext cx="710740" cy="685800"/>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489897" y="5644766"/>
            <a:ext cx="443140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Leaf node: nodes having both children empty</a:t>
            </a:r>
            <a:endParaRPr lang="en-US" dirty="0"/>
          </a:p>
        </p:txBody>
      </p:sp>
      <p:sp>
        <p:nvSpPr>
          <p:cNvPr id="7" name="TextBox 6"/>
          <p:cNvSpPr txBox="1"/>
          <p:nvPr/>
        </p:nvSpPr>
        <p:spPr>
          <a:xfrm>
            <a:off x="111542" y="4524777"/>
            <a:ext cx="4583884"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smtClean="0"/>
              <a:t>Internal node: At least one non-empty children</a:t>
            </a:r>
            <a:endParaRPr lang="en-US" dirty="0"/>
          </a:p>
        </p:txBody>
      </p:sp>
    </p:spTree>
    <p:extLst>
      <p:ext uri="{BB962C8B-B14F-4D97-AF65-F5344CB8AC3E}">
        <p14:creationId xmlns:p14="http://schemas.microsoft.com/office/powerpoint/2010/main" val="388751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Example</a:t>
            </a:r>
          </a:p>
        </p:txBody>
      </p:sp>
      <p:sp>
        <p:nvSpPr>
          <p:cNvPr id="132100" name="Rectangle 3"/>
          <p:cNvSpPr>
            <a:spLocks noGrp="1" noChangeArrowheads="1"/>
          </p:cNvSpPr>
          <p:nvPr>
            <p:ph type="body" idx="1"/>
          </p:nvPr>
        </p:nvSpPr>
        <p:spPr>
          <a:xfrm>
            <a:off x="125875" y="1600200"/>
            <a:ext cx="4598525" cy="4495800"/>
          </a:xfrm>
        </p:spPr>
        <p:txBody>
          <a:bodyPr/>
          <a:lstStyle/>
          <a:p>
            <a:pPr>
              <a:lnSpc>
                <a:spcPct val="90000"/>
              </a:lnSpc>
              <a:buFontTx/>
              <a:buNone/>
            </a:pPr>
            <a:r>
              <a:rPr lang="en-US" dirty="0" smtClean="0">
                <a:latin typeface="Helvetica" pitchFamily="26" charset="0"/>
              </a:rPr>
              <a:t>Notation: </a:t>
            </a:r>
            <a:r>
              <a:rPr lang="en-US" u="sng" dirty="0" smtClean="0">
                <a:latin typeface="Helvetica" pitchFamily="26" charset="0"/>
              </a:rPr>
              <a:t>Node</a:t>
            </a:r>
            <a:r>
              <a:rPr lang="en-US" dirty="0" smtClean="0">
                <a:latin typeface="Helvetica" pitchFamily="26" charset="0"/>
              </a:rPr>
              <a:t>, </a:t>
            </a:r>
            <a:r>
              <a:rPr lang="en-US" u="sng" dirty="0" smtClean="0">
                <a:latin typeface="Helvetica" pitchFamily="26" charset="0"/>
              </a:rPr>
              <a:t>children</a:t>
            </a:r>
            <a:r>
              <a:rPr lang="en-US" dirty="0" smtClean="0">
                <a:latin typeface="Helvetica" pitchFamily="26" charset="0"/>
              </a:rPr>
              <a:t>, </a:t>
            </a:r>
            <a:r>
              <a:rPr lang="en-US" u="sng" dirty="0" smtClean="0">
                <a:latin typeface="Helvetica" pitchFamily="26" charset="0"/>
              </a:rPr>
              <a:t>edge</a:t>
            </a:r>
            <a:r>
              <a:rPr lang="en-US" dirty="0" smtClean="0">
                <a:latin typeface="Helvetica" pitchFamily="26" charset="0"/>
              </a:rPr>
              <a:t>, </a:t>
            </a:r>
            <a:r>
              <a:rPr lang="en-US" u="sng" dirty="0" smtClean="0">
                <a:latin typeface="Helvetica" pitchFamily="26" charset="0"/>
              </a:rPr>
              <a:t>parent</a:t>
            </a:r>
            <a:r>
              <a:rPr lang="en-US" dirty="0" smtClean="0">
                <a:latin typeface="Helvetica" pitchFamily="26" charset="0"/>
              </a:rPr>
              <a:t>, </a:t>
            </a:r>
            <a:r>
              <a:rPr lang="en-US" u="sng" dirty="0" smtClean="0">
                <a:latin typeface="Helvetica" pitchFamily="26" charset="0"/>
              </a:rPr>
              <a:t>ancestor</a:t>
            </a:r>
            <a:r>
              <a:rPr lang="en-US" dirty="0" smtClean="0">
                <a:latin typeface="Helvetica" pitchFamily="26" charset="0"/>
              </a:rPr>
              <a:t>, </a:t>
            </a:r>
            <a:r>
              <a:rPr lang="en-US" u="sng" dirty="0" smtClean="0">
                <a:latin typeface="Helvetica" pitchFamily="26" charset="0"/>
              </a:rPr>
              <a:t>descendant</a:t>
            </a:r>
            <a:r>
              <a:rPr lang="en-US" dirty="0" smtClean="0">
                <a:latin typeface="Helvetica" pitchFamily="26" charset="0"/>
              </a:rPr>
              <a:t>, </a:t>
            </a:r>
            <a:r>
              <a:rPr lang="en-US" u="sng" dirty="0" smtClean="0">
                <a:latin typeface="Helvetica" pitchFamily="26" charset="0"/>
              </a:rPr>
              <a:t>path</a:t>
            </a:r>
            <a:r>
              <a:rPr lang="en-US" dirty="0" smtClean="0">
                <a:latin typeface="Helvetica" pitchFamily="26" charset="0"/>
              </a:rPr>
              <a:t>, </a:t>
            </a:r>
            <a:r>
              <a:rPr lang="en-US" u="sng" dirty="0" smtClean="0">
                <a:latin typeface="Helvetica" pitchFamily="26" charset="0"/>
              </a:rPr>
              <a:t>depth</a:t>
            </a:r>
            <a:r>
              <a:rPr lang="en-US" dirty="0" smtClean="0">
                <a:latin typeface="Helvetica" pitchFamily="26" charset="0"/>
              </a:rPr>
              <a:t>, </a:t>
            </a:r>
            <a:r>
              <a:rPr lang="en-US" u="sng" dirty="0" smtClean="0">
                <a:latin typeface="Helvetica" pitchFamily="26" charset="0"/>
              </a:rPr>
              <a:t>height</a:t>
            </a:r>
            <a:r>
              <a:rPr lang="en-US" dirty="0" smtClean="0">
                <a:latin typeface="Helvetica" pitchFamily="26" charset="0"/>
              </a:rPr>
              <a:t>, </a:t>
            </a:r>
            <a:r>
              <a:rPr lang="en-US" u="sng" dirty="0" smtClean="0">
                <a:latin typeface="Helvetica" pitchFamily="26" charset="0"/>
              </a:rPr>
              <a:t>level</a:t>
            </a:r>
            <a:r>
              <a:rPr lang="en-US" dirty="0" smtClean="0">
                <a:latin typeface="Helvetica" pitchFamily="26" charset="0"/>
              </a:rPr>
              <a:t>, </a:t>
            </a:r>
            <a:r>
              <a:rPr lang="en-US" u="sng" dirty="0" smtClean="0">
                <a:latin typeface="Helvetica" pitchFamily="26" charset="0"/>
              </a:rPr>
              <a:t>leaf node</a:t>
            </a:r>
            <a:r>
              <a:rPr lang="en-US" dirty="0" smtClean="0">
                <a:latin typeface="Helvetica" pitchFamily="26" charset="0"/>
              </a:rPr>
              <a:t>, </a:t>
            </a:r>
            <a:r>
              <a:rPr lang="en-US" u="sng" dirty="0" smtClean="0">
                <a:latin typeface="Helvetica" pitchFamily="26" charset="0"/>
              </a:rPr>
              <a:t>internal node</a:t>
            </a:r>
            <a:r>
              <a:rPr lang="en-US" dirty="0" smtClean="0">
                <a:latin typeface="Helvetica" pitchFamily="26" charset="0"/>
              </a:rPr>
              <a:t>, </a:t>
            </a:r>
            <a:r>
              <a:rPr lang="en-US" u="sng" dirty="0" smtClean="0">
                <a:latin typeface="Helvetica" pitchFamily="26" charset="0"/>
              </a:rPr>
              <a:t>subtree</a:t>
            </a:r>
            <a:r>
              <a:rPr lang="en-US" dirty="0" smtClean="0">
                <a:latin typeface="Helvetica" pitchFamily="26" charset="0"/>
              </a:rPr>
              <a:t>.</a:t>
            </a:r>
          </a:p>
          <a:p>
            <a:pPr>
              <a:lnSpc>
                <a:spcPct val="90000"/>
              </a:lnSpc>
              <a:buFontTx/>
              <a:buNone/>
            </a:pPr>
            <a:endParaRPr lang="en-US" dirty="0" smtClean="0">
              <a:latin typeface="Helvetica" pitchFamily="26" charset="0"/>
            </a:endParaRPr>
          </a:p>
        </p:txBody>
      </p:sp>
      <p:pic>
        <p:nvPicPr>
          <p:cNvPr id="132101" name="Picture 4" descr="BinExamp"/>
          <p:cNvPicPr>
            <a:picLocks noChangeAspect="1" noChangeArrowheads="1"/>
          </p:cNvPicPr>
          <p:nvPr/>
        </p:nvPicPr>
        <p:blipFill>
          <a:blip r:embed="rId3" cstate="print"/>
          <a:srcRect l="4968" t="2606" r="3726" b="3909"/>
          <a:stretch>
            <a:fillRect/>
          </a:stretch>
        </p:blipFill>
        <p:spPr bwMode="auto">
          <a:xfrm>
            <a:off x="4724400" y="1752600"/>
            <a:ext cx="3962400" cy="3868738"/>
          </a:xfrm>
          <a:prstGeom prst="rect">
            <a:avLst/>
          </a:prstGeom>
          <a:noFill/>
          <a:ln w="9525">
            <a:noFill/>
            <a:miter lim="800000"/>
            <a:headEnd/>
            <a:tailEnd/>
          </a:ln>
        </p:spPr>
      </p:pic>
      <p:sp>
        <p:nvSpPr>
          <p:cNvPr id="6" name="Rectangle 5"/>
          <p:cNvSpPr/>
          <p:nvPr/>
        </p:nvSpPr>
        <p:spPr>
          <a:xfrm>
            <a:off x="3082635" y="3876500"/>
            <a:ext cx="1565565" cy="533400"/>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p:cNvSpPr/>
          <p:nvPr/>
        </p:nvSpPr>
        <p:spPr>
          <a:xfrm>
            <a:off x="5834337" y="2493818"/>
            <a:ext cx="3010405" cy="3408218"/>
          </a:xfrm>
          <a:custGeom>
            <a:avLst/>
            <a:gdLst>
              <a:gd name="connsiteX0" fmla="*/ 1746870 w 3010405"/>
              <a:gd name="connsiteY0" fmla="*/ 0 h 3408218"/>
              <a:gd name="connsiteX1" fmla="*/ 1364485 w 3010405"/>
              <a:gd name="connsiteY1" fmla="*/ 33251 h 3408218"/>
              <a:gd name="connsiteX2" fmla="*/ 1231481 w 3010405"/>
              <a:gd name="connsiteY2" fmla="*/ 83127 h 3408218"/>
              <a:gd name="connsiteX3" fmla="*/ 1098478 w 3010405"/>
              <a:gd name="connsiteY3" fmla="*/ 116378 h 3408218"/>
              <a:gd name="connsiteX4" fmla="*/ 982099 w 3010405"/>
              <a:gd name="connsiteY4" fmla="*/ 199506 h 3408218"/>
              <a:gd name="connsiteX5" fmla="*/ 932223 w 3010405"/>
              <a:gd name="connsiteY5" fmla="*/ 216131 h 3408218"/>
              <a:gd name="connsiteX6" fmla="*/ 882347 w 3010405"/>
              <a:gd name="connsiteY6" fmla="*/ 249382 h 3408218"/>
              <a:gd name="connsiteX7" fmla="*/ 849096 w 3010405"/>
              <a:gd name="connsiteY7" fmla="*/ 299258 h 3408218"/>
              <a:gd name="connsiteX8" fmla="*/ 799219 w 3010405"/>
              <a:gd name="connsiteY8" fmla="*/ 349135 h 3408218"/>
              <a:gd name="connsiteX9" fmla="*/ 782594 w 3010405"/>
              <a:gd name="connsiteY9" fmla="*/ 415637 h 3408218"/>
              <a:gd name="connsiteX10" fmla="*/ 732718 w 3010405"/>
              <a:gd name="connsiteY10" fmla="*/ 515389 h 3408218"/>
              <a:gd name="connsiteX11" fmla="*/ 666216 w 3010405"/>
              <a:gd name="connsiteY11" fmla="*/ 731520 h 3408218"/>
              <a:gd name="connsiteX12" fmla="*/ 649590 w 3010405"/>
              <a:gd name="connsiteY12" fmla="*/ 814647 h 3408218"/>
              <a:gd name="connsiteX13" fmla="*/ 616339 w 3010405"/>
              <a:gd name="connsiteY13" fmla="*/ 914400 h 3408218"/>
              <a:gd name="connsiteX14" fmla="*/ 583088 w 3010405"/>
              <a:gd name="connsiteY14" fmla="*/ 1080655 h 3408218"/>
              <a:gd name="connsiteX15" fmla="*/ 549838 w 3010405"/>
              <a:gd name="connsiteY15" fmla="*/ 1130531 h 3408218"/>
              <a:gd name="connsiteX16" fmla="*/ 516587 w 3010405"/>
              <a:gd name="connsiteY16" fmla="*/ 1296786 h 3408218"/>
              <a:gd name="connsiteX17" fmla="*/ 499961 w 3010405"/>
              <a:gd name="connsiteY17" fmla="*/ 1379913 h 3408218"/>
              <a:gd name="connsiteX18" fmla="*/ 466710 w 3010405"/>
              <a:gd name="connsiteY18" fmla="*/ 1429789 h 3408218"/>
              <a:gd name="connsiteX19" fmla="*/ 416834 w 3010405"/>
              <a:gd name="connsiteY19" fmla="*/ 1529542 h 3408218"/>
              <a:gd name="connsiteX20" fmla="*/ 383583 w 3010405"/>
              <a:gd name="connsiteY20" fmla="*/ 1629295 h 3408218"/>
              <a:gd name="connsiteX21" fmla="*/ 317081 w 3010405"/>
              <a:gd name="connsiteY21" fmla="*/ 1795549 h 3408218"/>
              <a:gd name="connsiteX22" fmla="*/ 267205 w 3010405"/>
              <a:gd name="connsiteY22" fmla="*/ 1928553 h 3408218"/>
              <a:gd name="connsiteX23" fmla="*/ 250579 w 3010405"/>
              <a:gd name="connsiteY23" fmla="*/ 1995055 h 3408218"/>
              <a:gd name="connsiteX24" fmla="*/ 200703 w 3010405"/>
              <a:gd name="connsiteY24" fmla="*/ 2144684 h 3408218"/>
              <a:gd name="connsiteX25" fmla="*/ 184078 w 3010405"/>
              <a:gd name="connsiteY25" fmla="*/ 2194560 h 3408218"/>
              <a:gd name="connsiteX26" fmla="*/ 150827 w 3010405"/>
              <a:gd name="connsiteY26" fmla="*/ 2294313 h 3408218"/>
              <a:gd name="connsiteX27" fmla="*/ 117576 w 3010405"/>
              <a:gd name="connsiteY27" fmla="*/ 2427317 h 3408218"/>
              <a:gd name="connsiteX28" fmla="*/ 51074 w 3010405"/>
              <a:gd name="connsiteY28" fmla="*/ 2560320 h 3408218"/>
              <a:gd name="connsiteX29" fmla="*/ 1198 w 3010405"/>
              <a:gd name="connsiteY29" fmla="*/ 2660073 h 3408218"/>
              <a:gd name="connsiteX30" fmla="*/ 17823 w 3010405"/>
              <a:gd name="connsiteY30" fmla="*/ 3092335 h 3408218"/>
              <a:gd name="connsiteX31" fmla="*/ 184078 w 3010405"/>
              <a:gd name="connsiteY31" fmla="*/ 3225338 h 3408218"/>
              <a:gd name="connsiteX32" fmla="*/ 350332 w 3010405"/>
              <a:gd name="connsiteY32" fmla="*/ 3241964 h 3408218"/>
              <a:gd name="connsiteX33" fmla="*/ 433459 w 3010405"/>
              <a:gd name="connsiteY33" fmla="*/ 3275215 h 3408218"/>
              <a:gd name="connsiteX34" fmla="*/ 499961 w 3010405"/>
              <a:gd name="connsiteY34" fmla="*/ 3291840 h 3408218"/>
              <a:gd name="connsiteX35" fmla="*/ 1264732 w 3010405"/>
              <a:gd name="connsiteY35" fmla="*/ 3308466 h 3408218"/>
              <a:gd name="connsiteX36" fmla="*/ 1347859 w 3010405"/>
              <a:gd name="connsiteY36" fmla="*/ 3325091 h 3408218"/>
              <a:gd name="connsiteX37" fmla="*/ 1514114 w 3010405"/>
              <a:gd name="connsiteY37" fmla="*/ 3341717 h 3408218"/>
              <a:gd name="connsiteX38" fmla="*/ 1730245 w 3010405"/>
              <a:gd name="connsiteY38" fmla="*/ 3391593 h 3408218"/>
              <a:gd name="connsiteX39" fmla="*/ 1996252 w 3010405"/>
              <a:gd name="connsiteY39" fmla="*/ 3408218 h 3408218"/>
              <a:gd name="connsiteX40" fmla="*/ 2761023 w 3010405"/>
              <a:gd name="connsiteY40" fmla="*/ 3374967 h 3408218"/>
              <a:gd name="connsiteX41" fmla="*/ 2810899 w 3010405"/>
              <a:gd name="connsiteY41" fmla="*/ 3325091 h 3408218"/>
              <a:gd name="connsiteX42" fmla="*/ 2860776 w 3010405"/>
              <a:gd name="connsiteY42" fmla="*/ 3291840 h 3408218"/>
              <a:gd name="connsiteX43" fmla="*/ 2894027 w 3010405"/>
              <a:gd name="connsiteY43" fmla="*/ 3241964 h 3408218"/>
              <a:gd name="connsiteX44" fmla="*/ 2910652 w 3010405"/>
              <a:gd name="connsiteY44" fmla="*/ 3192087 h 3408218"/>
              <a:gd name="connsiteX45" fmla="*/ 2960528 w 3010405"/>
              <a:gd name="connsiteY45" fmla="*/ 3125586 h 3408218"/>
              <a:gd name="connsiteX46" fmla="*/ 2977154 w 3010405"/>
              <a:gd name="connsiteY46" fmla="*/ 3042458 h 3408218"/>
              <a:gd name="connsiteX47" fmla="*/ 2993779 w 3010405"/>
              <a:gd name="connsiteY47" fmla="*/ 2992582 h 3408218"/>
              <a:gd name="connsiteX48" fmla="*/ 3010405 w 3010405"/>
              <a:gd name="connsiteY48" fmla="*/ 2926080 h 3408218"/>
              <a:gd name="connsiteX49" fmla="*/ 2977154 w 3010405"/>
              <a:gd name="connsiteY49" fmla="*/ 2527069 h 3408218"/>
              <a:gd name="connsiteX50" fmla="*/ 2960528 w 3010405"/>
              <a:gd name="connsiteY50" fmla="*/ 2477193 h 3408218"/>
              <a:gd name="connsiteX51" fmla="*/ 2943903 w 3010405"/>
              <a:gd name="connsiteY51" fmla="*/ 2410691 h 3408218"/>
              <a:gd name="connsiteX52" fmla="*/ 2877401 w 3010405"/>
              <a:gd name="connsiteY52" fmla="*/ 2310938 h 3408218"/>
              <a:gd name="connsiteX53" fmla="*/ 2827525 w 3010405"/>
              <a:gd name="connsiteY53" fmla="*/ 2177935 h 3408218"/>
              <a:gd name="connsiteX54" fmla="*/ 2794274 w 3010405"/>
              <a:gd name="connsiteY54" fmla="*/ 2128058 h 3408218"/>
              <a:gd name="connsiteX55" fmla="*/ 2727772 w 3010405"/>
              <a:gd name="connsiteY55" fmla="*/ 2011680 h 3408218"/>
              <a:gd name="connsiteX56" fmla="*/ 2644645 w 3010405"/>
              <a:gd name="connsiteY56" fmla="*/ 1911927 h 3408218"/>
              <a:gd name="connsiteX57" fmla="*/ 2611394 w 3010405"/>
              <a:gd name="connsiteY57" fmla="*/ 1812175 h 3408218"/>
              <a:gd name="connsiteX58" fmla="*/ 2594768 w 3010405"/>
              <a:gd name="connsiteY58" fmla="*/ 1762298 h 3408218"/>
              <a:gd name="connsiteX59" fmla="*/ 2561518 w 3010405"/>
              <a:gd name="connsiteY59" fmla="*/ 1712422 h 3408218"/>
              <a:gd name="connsiteX60" fmla="*/ 2528267 w 3010405"/>
              <a:gd name="connsiteY60" fmla="*/ 1479666 h 3408218"/>
              <a:gd name="connsiteX61" fmla="*/ 2511641 w 3010405"/>
              <a:gd name="connsiteY61" fmla="*/ 1429789 h 3408218"/>
              <a:gd name="connsiteX62" fmla="*/ 2495016 w 3010405"/>
              <a:gd name="connsiteY62" fmla="*/ 1363287 h 3408218"/>
              <a:gd name="connsiteX63" fmla="*/ 2461765 w 3010405"/>
              <a:gd name="connsiteY63" fmla="*/ 1263535 h 3408218"/>
              <a:gd name="connsiteX64" fmla="*/ 2411888 w 3010405"/>
              <a:gd name="connsiteY64" fmla="*/ 1147157 h 3408218"/>
              <a:gd name="connsiteX65" fmla="*/ 2395263 w 3010405"/>
              <a:gd name="connsiteY65" fmla="*/ 1097280 h 3408218"/>
              <a:gd name="connsiteX66" fmla="*/ 2312136 w 3010405"/>
              <a:gd name="connsiteY66" fmla="*/ 964277 h 3408218"/>
              <a:gd name="connsiteX67" fmla="*/ 2278885 w 3010405"/>
              <a:gd name="connsiteY67" fmla="*/ 897775 h 3408218"/>
              <a:gd name="connsiteX68" fmla="*/ 2245634 w 3010405"/>
              <a:gd name="connsiteY68" fmla="*/ 798022 h 3408218"/>
              <a:gd name="connsiteX69" fmla="*/ 2195758 w 3010405"/>
              <a:gd name="connsiteY69" fmla="*/ 748146 h 3408218"/>
              <a:gd name="connsiteX70" fmla="*/ 2145881 w 3010405"/>
              <a:gd name="connsiteY70" fmla="*/ 631767 h 3408218"/>
              <a:gd name="connsiteX71" fmla="*/ 2079379 w 3010405"/>
              <a:gd name="connsiteY71" fmla="*/ 532015 h 3408218"/>
              <a:gd name="connsiteX72" fmla="*/ 2029503 w 3010405"/>
              <a:gd name="connsiteY72" fmla="*/ 432262 h 3408218"/>
              <a:gd name="connsiteX73" fmla="*/ 2012878 w 3010405"/>
              <a:gd name="connsiteY73" fmla="*/ 382386 h 3408218"/>
              <a:gd name="connsiteX74" fmla="*/ 1946376 w 3010405"/>
              <a:gd name="connsiteY74" fmla="*/ 282633 h 3408218"/>
              <a:gd name="connsiteX75" fmla="*/ 1913125 w 3010405"/>
              <a:gd name="connsiteY75" fmla="*/ 232757 h 3408218"/>
              <a:gd name="connsiteX76" fmla="*/ 1896499 w 3010405"/>
              <a:gd name="connsiteY76" fmla="*/ 182880 h 3408218"/>
              <a:gd name="connsiteX77" fmla="*/ 1813372 w 3010405"/>
              <a:gd name="connsiteY77" fmla="*/ 83127 h 3408218"/>
              <a:gd name="connsiteX78" fmla="*/ 1696994 w 3010405"/>
              <a:gd name="connsiteY78" fmla="*/ 16626 h 3408218"/>
              <a:gd name="connsiteX79" fmla="*/ 1680368 w 3010405"/>
              <a:gd name="connsiteY79" fmla="*/ 16626 h 3408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10405" h="3408218">
                <a:moveTo>
                  <a:pt x="1746870" y="0"/>
                </a:moveTo>
                <a:cubicBezTo>
                  <a:pt x="1593034" y="9615"/>
                  <a:pt x="1502085" y="8233"/>
                  <a:pt x="1364485" y="33251"/>
                </a:cubicBezTo>
                <a:cubicBezTo>
                  <a:pt x="1275763" y="49382"/>
                  <a:pt x="1316443" y="46715"/>
                  <a:pt x="1231481" y="83127"/>
                </a:cubicBezTo>
                <a:cubicBezTo>
                  <a:pt x="1186743" y="102300"/>
                  <a:pt x="1147278" y="106618"/>
                  <a:pt x="1098478" y="116378"/>
                </a:cubicBezTo>
                <a:cubicBezTo>
                  <a:pt x="1083413" y="127677"/>
                  <a:pt x="1006413" y="187349"/>
                  <a:pt x="982099" y="199506"/>
                </a:cubicBezTo>
                <a:cubicBezTo>
                  <a:pt x="966424" y="207343"/>
                  <a:pt x="948848" y="210589"/>
                  <a:pt x="932223" y="216131"/>
                </a:cubicBezTo>
                <a:cubicBezTo>
                  <a:pt x="915598" y="227215"/>
                  <a:pt x="896476" y="235253"/>
                  <a:pt x="882347" y="249382"/>
                </a:cubicBezTo>
                <a:cubicBezTo>
                  <a:pt x="868218" y="263511"/>
                  <a:pt x="861888" y="283908"/>
                  <a:pt x="849096" y="299258"/>
                </a:cubicBezTo>
                <a:cubicBezTo>
                  <a:pt x="834044" y="317321"/>
                  <a:pt x="815845" y="332509"/>
                  <a:pt x="799219" y="349135"/>
                </a:cubicBezTo>
                <a:cubicBezTo>
                  <a:pt x="793677" y="371302"/>
                  <a:pt x="791595" y="394635"/>
                  <a:pt x="782594" y="415637"/>
                </a:cubicBezTo>
                <a:cubicBezTo>
                  <a:pt x="739156" y="516993"/>
                  <a:pt x="756070" y="414195"/>
                  <a:pt x="732718" y="515389"/>
                </a:cubicBezTo>
                <a:cubicBezTo>
                  <a:pt x="686803" y="714355"/>
                  <a:pt x="733908" y="629982"/>
                  <a:pt x="666216" y="731520"/>
                </a:cubicBezTo>
                <a:cubicBezTo>
                  <a:pt x="660674" y="759229"/>
                  <a:pt x="657025" y="787385"/>
                  <a:pt x="649590" y="814647"/>
                </a:cubicBezTo>
                <a:cubicBezTo>
                  <a:pt x="640368" y="848462"/>
                  <a:pt x="616339" y="914400"/>
                  <a:pt x="616339" y="914400"/>
                </a:cubicBezTo>
                <a:cubicBezTo>
                  <a:pt x="610211" y="957295"/>
                  <a:pt x="606303" y="1034224"/>
                  <a:pt x="583088" y="1080655"/>
                </a:cubicBezTo>
                <a:cubicBezTo>
                  <a:pt x="574152" y="1098527"/>
                  <a:pt x="560921" y="1113906"/>
                  <a:pt x="549838" y="1130531"/>
                </a:cubicBezTo>
                <a:lnTo>
                  <a:pt x="516587" y="1296786"/>
                </a:lnTo>
                <a:cubicBezTo>
                  <a:pt x="511045" y="1324495"/>
                  <a:pt x="515636" y="1356401"/>
                  <a:pt x="499961" y="1379913"/>
                </a:cubicBezTo>
                <a:lnTo>
                  <a:pt x="466710" y="1429789"/>
                </a:lnTo>
                <a:cubicBezTo>
                  <a:pt x="406083" y="1611677"/>
                  <a:pt x="502771" y="1336184"/>
                  <a:pt x="416834" y="1529542"/>
                </a:cubicBezTo>
                <a:cubicBezTo>
                  <a:pt x="402599" y="1561571"/>
                  <a:pt x="399258" y="1597946"/>
                  <a:pt x="383583" y="1629295"/>
                </a:cubicBezTo>
                <a:cubicBezTo>
                  <a:pt x="305607" y="1785247"/>
                  <a:pt x="399253" y="1590118"/>
                  <a:pt x="317081" y="1795549"/>
                </a:cubicBezTo>
                <a:cubicBezTo>
                  <a:pt x="299511" y="1839476"/>
                  <a:pt x="280238" y="1882939"/>
                  <a:pt x="267205" y="1928553"/>
                </a:cubicBezTo>
                <a:cubicBezTo>
                  <a:pt x="260928" y="1950523"/>
                  <a:pt x="257299" y="1973216"/>
                  <a:pt x="250579" y="1995055"/>
                </a:cubicBezTo>
                <a:cubicBezTo>
                  <a:pt x="235118" y="2045304"/>
                  <a:pt x="217328" y="2094808"/>
                  <a:pt x="200703" y="2144684"/>
                </a:cubicBezTo>
                <a:lnTo>
                  <a:pt x="184078" y="2194560"/>
                </a:lnTo>
                <a:cubicBezTo>
                  <a:pt x="172994" y="2227811"/>
                  <a:pt x="157701" y="2259944"/>
                  <a:pt x="150827" y="2294313"/>
                </a:cubicBezTo>
                <a:cubicBezTo>
                  <a:pt x="142542" y="2335736"/>
                  <a:pt x="135832" y="2387154"/>
                  <a:pt x="117576" y="2427317"/>
                </a:cubicBezTo>
                <a:cubicBezTo>
                  <a:pt x="97065" y="2472441"/>
                  <a:pt x="66749" y="2513296"/>
                  <a:pt x="51074" y="2560320"/>
                </a:cubicBezTo>
                <a:cubicBezTo>
                  <a:pt x="28129" y="2629153"/>
                  <a:pt x="44169" y="2595615"/>
                  <a:pt x="1198" y="2660073"/>
                </a:cubicBezTo>
                <a:cubicBezTo>
                  <a:pt x="6740" y="2804160"/>
                  <a:pt x="-12991" y="2951472"/>
                  <a:pt x="17823" y="3092335"/>
                </a:cubicBezTo>
                <a:cubicBezTo>
                  <a:pt x="25464" y="3127267"/>
                  <a:pt x="133300" y="3214457"/>
                  <a:pt x="184078" y="3225338"/>
                </a:cubicBezTo>
                <a:cubicBezTo>
                  <a:pt x="238536" y="3237008"/>
                  <a:pt x="294914" y="3236422"/>
                  <a:pt x="350332" y="3241964"/>
                </a:cubicBezTo>
                <a:cubicBezTo>
                  <a:pt x="378041" y="3253048"/>
                  <a:pt x="405147" y="3265778"/>
                  <a:pt x="433459" y="3275215"/>
                </a:cubicBezTo>
                <a:cubicBezTo>
                  <a:pt x="455136" y="3282441"/>
                  <a:pt x="477130" y="3290927"/>
                  <a:pt x="499961" y="3291840"/>
                </a:cubicBezTo>
                <a:cubicBezTo>
                  <a:pt x="754741" y="3302031"/>
                  <a:pt x="1009808" y="3302924"/>
                  <a:pt x="1264732" y="3308466"/>
                </a:cubicBezTo>
                <a:cubicBezTo>
                  <a:pt x="1292441" y="3314008"/>
                  <a:pt x="1319849" y="3321356"/>
                  <a:pt x="1347859" y="3325091"/>
                </a:cubicBezTo>
                <a:cubicBezTo>
                  <a:pt x="1403065" y="3332452"/>
                  <a:pt x="1459177" y="3332561"/>
                  <a:pt x="1514114" y="3341717"/>
                </a:cubicBezTo>
                <a:cubicBezTo>
                  <a:pt x="1558190" y="3349063"/>
                  <a:pt x="1674246" y="3386260"/>
                  <a:pt x="1730245" y="3391593"/>
                </a:cubicBezTo>
                <a:cubicBezTo>
                  <a:pt x="1818687" y="3400016"/>
                  <a:pt x="1907583" y="3402676"/>
                  <a:pt x="1996252" y="3408218"/>
                </a:cubicBezTo>
                <a:cubicBezTo>
                  <a:pt x="2251176" y="3397134"/>
                  <a:pt x="2507177" y="3400870"/>
                  <a:pt x="2761023" y="3374967"/>
                </a:cubicBezTo>
                <a:cubicBezTo>
                  <a:pt x="2784413" y="3372580"/>
                  <a:pt x="2792837" y="3340143"/>
                  <a:pt x="2810899" y="3325091"/>
                </a:cubicBezTo>
                <a:cubicBezTo>
                  <a:pt x="2826249" y="3312299"/>
                  <a:pt x="2844150" y="3302924"/>
                  <a:pt x="2860776" y="3291840"/>
                </a:cubicBezTo>
                <a:cubicBezTo>
                  <a:pt x="2871860" y="3275215"/>
                  <a:pt x="2885091" y="3259836"/>
                  <a:pt x="2894027" y="3241964"/>
                </a:cubicBezTo>
                <a:cubicBezTo>
                  <a:pt x="2901864" y="3226289"/>
                  <a:pt x="2901957" y="3207303"/>
                  <a:pt x="2910652" y="3192087"/>
                </a:cubicBezTo>
                <a:cubicBezTo>
                  <a:pt x="2924399" y="3168029"/>
                  <a:pt x="2943903" y="3147753"/>
                  <a:pt x="2960528" y="3125586"/>
                </a:cubicBezTo>
                <a:cubicBezTo>
                  <a:pt x="2966070" y="3097877"/>
                  <a:pt x="2970300" y="3069872"/>
                  <a:pt x="2977154" y="3042458"/>
                </a:cubicBezTo>
                <a:cubicBezTo>
                  <a:pt x="2981404" y="3025457"/>
                  <a:pt x="2988965" y="3009432"/>
                  <a:pt x="2993779" y="2992582"/>
                </a:cubicBezTo>
                <a:cubicBezTo>
                  <a:pt x="3000056" y="2970612"/>
                  <a:pt x="3004863" y="2948247"/>
                  <a:pt x="3010405" y="2926080"/>
                </a:cubicBezTo>
                <a:cubicBezTo>
                  <a:pt x="2999321" y="2793076"/>
                  <a:pt x="2991893" y="2659717"/>
                  <a:pt x="2977154" y="2527069"/>
                </a:cubicBezTo>
                <a:cubicBezTo>
                  <a:pt x="2975219" y="2509651"/>
                  <a:pt x="2965342" y="2494043"/>
                  <a:pt x="2960528" y="2477193"/>
                </a:cubicBezTo>
                <a:cubicBezTo>
                  <a:pt x="2954251" y="2455223"/>
                  <a:pt x="2954122" y="2431128"/>
                  <a:pt x="2943903" y="2410691"/>
                </a:cubicBezTo>
                <a:cubicBezTo>
                  <a:pt x="2926031" y="2374947"/>
                  <a:pt x="2877401" y="2310938"/>
                  <a:pt x="2877401" y="2310938"/>
                </a:cubicBezTo>
                <a:cubicBezTo>
                  <a:pt x="2863011" y="2267769"/>
                  <a:pt x="2847407" y="2217698"/>
                  <a:pt x="2827525" y="2177935"/>
                </a:cubicBezTo>
                <a:cubicBezTo>
                  <a:pt x="2818589" y="2160063"/>
                  <a:pt x="2804188" y="2145407"/>
                  <a:pt x="2794274" y="2128058"/>
                </a:cubicBezTo>
                <a:cubicBezTo>
                  <a:pt x="2764710" y="2076321"/>
                  <a:pt x="2764593" y="2055865"/>
                  <a:pt x="2727772" y="2011680"/>
                </a:cubicBezTo>
                <a:cubicBezTo>
                  <a:pt x="2690483" y="1966933"/>
                  <a:pt x="2668233" y="1965001"/>
                  <a:pt x="2644645" y="1911927"/>
                </a:cubicBezTo>
                <a:cubicBezTo>
                  <a:pt x="2630410" y="1879899"/>
                  <a:pt x="2622478" y="1845426"/>
                  <a:pt x="2611394" y="1812175"/>
                </a:cubicBezTo>
                <a:cubicBezTo>
                  <a:pt x="2605852" y="1795549"/>
                  <a:pt x="2604489" y="1776880"/>
                  <a:pt x="2594768" y="1762298"/>
                </a:cubicBezTo>
                <a:lnTo>
                  <a:pt x="2561518" y="1712422"/>
                </a:lnTo>
                <a:cubicBezTo>
                  <a:pt x="2554329" y="1654912"/>
                  <a:pt x="2541963" y="1541296"/>
                  <a:pt x="2528267" y="1479666"/>
                </a:cubicBezTo>
                <a:cubicBezTo>
                  <a:pt x="2524465" y="1462558"/>
                  <a:pt x="2516455" y="1446640"/>
                  <a:pt x="2511641" y="1429789"/>
                </a:cubicBezTo>
                <a:cubicBezTo>
                  <a:pt x="2505364" y="1407819"/>
                  <a:pt x="2501582" y="1385173"/>
                  <a:pt x="2495016" y="1363287"/>
                </a:cubicBezTo>
                <a:cubicBezTo>
                  <a:pt x="2484945" y="1329716"/>
                  <a:pt x="2470266" y="1297538"/>
                  <a:pt x="2461765" y="1263535"/>
                </a:cubicBezTo>
                <a:cubicBezTo>
                  <a:pt x="2440293" y="1177648"/>
                  <a:pt x="2457814" y="1216045"/>
                  <a:pt x="2411888" y="1147157"/>
                </a:cubicBezTo>
                <a:cubicBezTo>
                  <a:pt x="2406346" y="1130531"/>
                  <a:pt x="2403100" y="1112955"/>
                  <a:pt x="2395263" y="1097280"/>
                </a:cubicBezTo>
                <a:cubicBezTo>
                  <a:pt x="2332557" y="971865"/>
                  <a:pt x="2364889" y="1056594"/>
                  <a:pt x="2312136" y="964277"/>
                </a:cubicBezTo>
                <a:cubicBezTo>
                  <a:pt x="2299840" y="942759"/>
                  <a:pt x="2288089" y="920786"/>
                  <a:pt x="2278885" y="897775"/>
                </a:cubicBezTo>
                <a:cubicBezTo>
                  <a:pt x="2265868" y="865232"/>
                  <a:pt x="2262656" y="828661"/>
                  <a:pt x="2245634" y="798022"/>
                </a:cubicBezTo>
                <a:cubicBezTo>
                  <a:pt x="2234216" y="777469"/>
                  <a:pt x="2212383" y="764771"/>
                  <a:pt x="2195758" y="748146"/>
                </a:cubicBezTo>
                <a:cubicBezTo>
                  <a:pt x="2178559" y="696549"/>
                  <a:pt x="2176697" y="683126"/>
                  <a:pt x="2145881" y="631767"/>
                </a:cubicBezTo>
                <a:cubicBezTo>
                  <a:pt x="2125320" y="597500"/>
                  <a:pt x="2079379" y="532015"/>
                  <a:pt x="2079379" y="532015"/>
                </a:cubicBezTo>
                <a:cubicBezTo>
                  <a:pt x="2037593" y="406651"/>
                  <a:pt x="2093959" y="561175"/>
                  <a:pt x="2029503" y="432262"/>
                </a:cubicBezTo>
                <a:cubicBezTo>
                  <a:pt x="2021666" y="416588"/>
                  <a:pt x="2021389" y="397705"/>
                  <a:pt x="2012878" y="382386"/>
                </a:cubicBezTo>
                <a:cubicBezTo>
                  <a:pt x="1993470" y="347452"/>
                  <a:pt x="1968543" y="315884"/>
                  <a:pt x="1946376" y="282633"/>
                </a:cubicBezTo>
                <a:cubicBezTo>
                  <a:pt x="1935292" y="266008"/>
                  <a:pt x="1919444" y="251713"/>
                  <a:pt x="1913125" y="232757"/>
                </a:cubicBezTo>
                <a:cubicBezTo>
                  <a:pt x="1907583" y="216131"/>
                  <a:pt x="1904336" y="198555"/>
                  <a:pt x="1896499" y="182880"/>
                </a:cubicBezTo>
                <a:cubicBezTo>
                  <a:pt x="1877259" y="144401"/>
                  <a:pt x="1845543" y="110702"/>
                  <a:pt x="1813372" y="83127"/>
                </a:cubicBezTo>
                <a:cubicBezTo>
                  <a:pt x="1763590" y="40457"/>
                  <a:pt x="1753716" y="30806"/>
                  <a:pt x="1696994" y="16626"/>
                </a:cubicBezTo>
                <a:cubicBezTo>
                  <a:pt x="1691617" y="15282"/>
                  <a:pt x="1685910" y="16626"/>
                  <a:pt x="1680368" y="16626"/>
                </a:cubicBezTo>
              </a:path>
            </a:pathLst>
          </a:cu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a:off x="4538749" y="2643447"/>
            <a:ext cx="1562793" cy="2067051"/>
          </a:xfrm>
          <a:custGeom>
            <a:avLst/>
            <a:gdLst>
              <a:gd name="connsiteX0" fmla="*/ 365760 w 1562793"/>
              <a:gd name="connsiteY0" fmla="*/ 133004 h 2067051"/>
              <a:gd name="connsiteX1" fmla="*/ 232756 w 1562793"/>
              <a:gd name="connsiteY1" fmla="*/ 149629 h 2067051"/>
              <a:gd name="connsiteX2" fmla="*/ 216131 w 1562793"/>
              <a:gd name="connsiteY2" fmla="*/ 216131 h 2067051"/>
              <a:gd name="connsiteX3" fmla="*/ 116378 w 1562793"/>
              <a:gd name="connsiteY3" fmla="*/ 315884 h 2067051"/>
              <a:gd name="connsiteX4" fmla="*/ 33251 w 1562793"/>
              <a:gd name="connsiteY4" fmla="*/ 415637 h 2067051"/>
              <a:gd name="connsiteX5" fmla="*/ 16626 w 1562793"/>
              <a:gd name="connsiteY5" fmla="*/ 482138 h 2067051"/>
              <a:gd name="connsiteX6" fmla="*/ 0 w 1562793"/>
              <a:gd name="connsiteY6" fmla="*/ 532015 h 2067051"/>
              <a:gd name="connsiteX7" fmla="*/ 16626 w 1562793"/>
              <a:gd name="connsiteY7" fmla="*/ 681644 h 2067051"/>
              <a:gd name="connsiteX8" fmla="*/ 182880 w 1562793"/>
              <a:gd name="connsiteY8" fmla="*/ 881149 h 2067051"/>
              <a:gd name="connsiteX9" fmla="*/ 232756 w 1562793"/>
              <a:gd name="connsiteY9" fmla="*/ 931026 h 2067051"/>
              <a:gd name="connsiteX10" fmla="*/ 332509 w 1562793"/>
              <a:gd name="connsiteY10" fmla="*/ 997528 h 2067051"/>
              <a:gd name="connsiteX11" fmla="*/ 382386 w 1562793"/>
              <a:gd name="connsiteY11" fmla="*/ 1064029 h 2067051"/>
              <a:gd name="connsiteX12" fmla="*/ 482138 w 1562793"/>
              <a:gd name="connsiteY12" fmla="*/ 1147157 h 2067051"/>
              <a:gd name="connsiteX13" fmla="*/ 581891 w 1562793"/>
              <a:gd name="connsiteY13" fmla="*/ 1280160 h 2067051"/>
              <a:gd name="connsiteX14" fmla="*/ 631767 w 1562793"/>
              <a:gd name="connsiteY14" fmla="*/ 1396538 h 2067051"/>
              <a:gd name="connsiteX15" fmla="*/ 681644 w 1562793"/>
              <a:gd name="connsiteY15" fmla="*/ 1463040 h 2067051"/>
              <a:gd name="connsiteX16" fmla="*/ 714895 w 1562793"/>
              <a:gd name="connsiteY16" fmla="*/ 1512917 h 2067051"/>
              <a:gd name="connsiteX17" fmla="*/ 731520 w 1562793"/>
              <a:gd name="connsiteY17" fmla="*/ 1562793 h 2067051"/>
              <a:gd name="connsiteX18" fmla="*/ 764771 w 1562793"/>
              <a:gd name="connsiteY18" fmla="*/ 1612669 h 2067051"/>
              <a:gd name="connsiteX19" fmla="*/ 831273 w 1562793"/>
              <a:gd name="connsiteY19" fmla="*/ 1762298 h 2067051"/>
              <a:gd name="connsiteX20" fmla="*/ 897775 w 1562793"/>
              <a:gd name="connsiteY20" fmla="*/ 1895302 h 2067051"/>
              <a:gd name="connsiteX21" fmla="*/ 947651 w 1562793"/>
              <a:gd name="connsiteY21" fmla="*/ 1995055 h 2067051"/>
              <a:gd name="connsiteX22" fmla="*/ 1014153 w 1562793"/>
              <a:gd name="connsiteY22" fmla="*/ 2011680 h 2067051"/>
              <a:gd name="connsiteX23" fmla="*/ 1064029 w 1562793"/>
              <a:gd name="connsiteY23" fmla="*/ 2044931 h 2067051"/>
              <a:gd name="connsiteX24" fmla="*/ 1496291 w 1562793"/>
              <a:gd name="connsiteY24" fmla="*/ 2044931 h 2067051"/>
              <a:gd name="connsiteX25" fmla="*/ 1529542 w 1562793"/>
              <a:gd name="connsiteY25" fmla="*/ 1995055 h 2067051"/>
              <a:gd name="connsiteX26" fmla="*/ 1562793 w 1562793"/>
              <a:gd name="connsiteY26" fmla="*/ 1845426 h 2067051"/>
              <a:gd name="connsiteX27" fmla="*/ 1546167 w 1562793"/>
              <a:gd name="connsiteY27" fmla="*/ 1130531 h 2067051"/>
              <a:gd name="connsiteX28" fmla="*/ 1512916 w 1562793"/>
              <a:gd name="connsiteY28" fmla="*/ 1047404 h 2067051"/>
              <a:gd name="connsiteX29" fmla="*/ 1379913 w 1562793"/>
              <a:gd name="connsiteY29" fmla="*/ 881149 h 2067051"/>
              <a:gd name="connsiteX30" fmla="*/ 1330036 w 1562793"/>
              <a:gd name="connsiteY30" fmla="*/ 831273 h 2067051"/>
              <a:gd name="connsiteX31" fmla="*/ 1280160 w 1562793"/>
              <a:gd name="connsiteY31" fmla="*/ 781397 h 2067051"/>
              <a:gd name="connsiteX32" fmla="*/ 1230284 w 1562793"/>
              <a:gd name="connsiteY32" fmla="*/ 748146 h 2067051"/>
              <a:gd name="connsiteX33" fmla="*/ 1180407 w 1562793"/>
              <a:gd name="connsiteY33" fmla="*/ 681644 h 2067051"/>
              <a:gd name="connsiteX34" fmla="*/ 1130531 w 1562793"/>
              <a:gd name="connsiteY34" fmla="*/ 631768 h 2067051"/>
              <a:gd name="connsiteX35" fmla="*/ 1047404 w 1562793"/>
              <a:gd name="connsiteY35" fmla="*/ 515389 h 2067051"/>
              <a:gd name="connsiteX36" fmla="*/ 1030778 w 1562793"/>
              <a:gd name="connsiteY36" fmla="*/ 465513 h 2067051"/>
              <a:gd name="connsiteX37" fmla="*/ 980902 w 1562793"/>
              <a:gd name="connsiteY37" fmla="*/ 365760 h 2067051"/>
              <a:gd name="connsiteX38" fmla="*/ 931026 w 1562793"/>
              <a:gd name="connsiteY38" fmla="*/ 232757 h 2067051"/>
              <a:gd name="connsiteX39" fmla="*/ 914400 w 1562793"/>
              <a:gd name="connsiteY39" fmla="*/ 182880 h 2067051"/>
              <a:gd name="connsiteX40" fmla="*/ 764771 w 1562793"/>
              <a:gd name="connsiteY40" fmla="*/ 49877 h 2067051"/>
              <a:gd name="connsiteX41" fmla="*/ 714895 w 1562793"/>
              <a:gd name="connsiteY41" fmla="*/ 33251 h 2067051"/>
              <a:gd name="connsiteX42" fmla="*/ 631767 w 1562793"/>
              <a:gd name="connsiteY42" fmla="*/ 0 h 2067051"/>
              <a:gd name="connsiteX43" fmla="*/ 432262 w 1562793"/>
              <a:gd name="connsiteY43" fmla="*/ 16626 h 2067051"/>
              <a:gd name="connsiteX44" fmla="*/ 282633 w 1562793"/>
              <a:gd name="connsiteY44" fmla="*/ 133004 h 2067051"/>
              <a:gd name="connsiteX45" fmla="*/ 249382 w 1562793"/>
              <a:gd name="connsiteY45" fmla="*/ 166255 h 2067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562793" h="2067051">
                <a:moveTo>
                  <a:pt x="365760" y="133004"/>
                </a:moveTo>
                <a:cubicBezTo>
                  <a:pt x="321425" y="138546"/>
                  <a:pt x="271813" y="127931"/>
                  <a:pt x="232756" y="149629"/>
                </a:cubicBezTo>
                <a:cubicBezTo>
                  <a:pt x="212782" y="160726"/>
                  <a:pt x="229234" y="197412"/>
                  <a:pt x="216131" y="216131"/>
                </a:cubicBezTo>
                <a:cubicBezTo>
                  <a:pt x="189165" y="254655"/>
                  <a:pt x="142462" y="276758"/>
                  <a:pt x="116378" y="315884"/>
                </a:cubicBezTo>
                <a:cubicBezTo>
                  <a:pt x="70085" y="385323"/>
                  <a:pt x="97256" y="351631"/>
                  <a:pt x="33251" y="415637"/>
                </a:cubicBezTo>
                <a:cubicBezTo>
                  <a:pt x="27709" y="437804"/>
                  <a:pt x="22903" y="460168"/>
                  <a:pt x="16626" y="482138"/>
                </a:cubicBezTo>
                <a:cubicBezTo>
                  <a:pt x="11811" y="498989"/>
                  <a:pt x="0" y="514490"/>
                  <a:pt x="0" y="532015"/>
                </a:cubicBezTo>
                <a:cubicBezTo>
                  <a:pt x="0" y="582198"/>
                  <a:pt x="757" y="634036"/>
                  <a:pt x="16626" y="681644"/>
                </a:cubicBezTo>
                <a:cubicBezTo>
                  <a:pt x="39774" y="751087"/>
                  <a:pt x="136576" y="834845"/>
                  <a:pt x="182880" y="881149"/>
                </a:cubicBezTo>
                <a:cubicBezTo>
                  <a:pt x="199506" y="897775"/>
                  <a:pt x="213193" y="917984"/>
                  <a:pt x="232756" y="931026"/>
                </a:cubicBezTo>
                <a:cubicBezTo>
                  <a:pt x="266007" y="953193"/>
                  <a:pt x="308531" y="965558"/>
                  <a:pt x="332509" y="997528"/>
                </a:cubicBezTo>
                <a:cubicBezTo>
                  <a:pt x="349135" y="1019695"/>
                  <a:pt x="362793" y="1044436"/>
                  <a:pt x="382386" y="1064029"/>
                </a:cubicBezTo>
                <a:cubicBezTo>
                  <a:pt x="455297" y="1136940"/>
                  <a:pt x="414048" y="1051830"/>
                  <a:pt x="482138" y="1147157"/>
                </a:cubicBezTo>
                <a:cubicBezTo>
                  <a:pt x="600311" y="1312600"/>
                  <a:pt x="408178" y="1106447"/>
                  <a:pt x="581891" y="1280160"/>
                </a:cubicBezTo>
                <a:cubicBezTo>
                  <a:pt x="598053" y="1328647"/>
                  <a:pt x="602417" y="1349578"/>
                  <a:pt x="631767" y="1396538"/>
                </a:cubicBezTo>
                <a:cubicBezTo>
                  <a:pt x="646453" y="1420035"/>
                  <a:pt x="665538" y="1440492"/>
                  <a:pt x="681644" y="1463040"/>
                </a:cubicBezTo>
                <a:cubicBezTo>
                  <a:pt x="693258" y="1479300"/>
                  <a:pt x="703811" y="1496291"/>
                  <a:pt x="714895" y="1512917"/>
                </a:cubicBezTo>
                <a:cubicBezTo>
                  <a:pt x="720437" y="1529542"/>
                  <a:pt x="723683" y="1547119"/>
                  <a:pt x="731520" y="1562793"/>
                </a:cubicBezTo>
                <a:cubicBezTo>
                  <a:pt x="740456" y="1580665"/>
                  <a:pt x="756656" y="1594410"/>
                  <a:pt x="764771" y="1612669"/>
                </a:cubicBezTo>
                <a:cubicBezTo>
                  <a:pt x="843910" y="1790732"/>
                  <a:pt x="756022" y="1649422"/>
                  <a:pt x="831273" y="1762298"/>
                </a:cubicBezTo>
                <a:cubicBezTo>
                  <a:pt x="864328" y="1894522"/>
                  <a:pt x="822413" y="1763420"/>
                  <a:pt x="897775" y="1895302"/>
                </a:cubicBezTo>
                <a:cubicBezTo>
                  <a:pt x="918202" y="1931049"/>
                  <a:pt x="907549" y="1968320"/>
                  <a:pt x="947651" y="1995055"/>
                </a:cubicBezTo>
                <a:cubicBezTo>
                  <a:pt x="966663" y="2007730"/>
                  <a:pt x="991986" y="2006138"/>
                  <a:pt x="1014153" y="2011680"/>
                </a:cubicBezTo>
                <a:cubicBezTo>
                  <a:pt x="1030778" y="2022764"/>
                  <a:pt x="1045663" y="2037060"/>
                  <a:pt x="1064029" y="2044931"/>
                </a:cubicBezTo>
                <a:cubicBezTo>
                  <a:pt x="1179279" y="2094325"/>
                  <a:pt x="1479745" y="2045683"/>
                  <a:pt x="1496291" y="2044931"/>
                </a:cubicBezTo>
                <a:cubicBezTo>
                  <a:pt x="1507375" y="2028306"/>
                  <a:pt x="1520606" y="2012927"/>
                  <a:pt x="1529542" y="1995055"/>
                </a:cubicBezTo>
                <a:cubicBezTo>
                  <a:pt x="1550004" y="1954130"/>
                  <a:pt x="1556408" y="1883732"/>
                  <a:pt x="1562793" y="1845426"/>
                </a:cubicBezTo>
                <a:cubicBezTo>
                  <a:pt x="1557251" y="1607128"/>
                  <a:pt x="1561036" y="1368430"/>
                  <a:pt x="1546167" y="1130531"/>
                </a:cubicBezTo>
                <a:cubicBezTo>
                  <a:pt x="1544305" y="1100746"/>
                  <a:pt x="1523395" y="1075347"/>
                  <a:pt x="1512916" y="1047404"/>
                </a:cubicBezTo>
                <a:cubicBezTo>
                  <a:pt x="1472147" y="938687"/>
                  <a:pt x="1529956" y="1031192"/>
                  <a:pt x="1379913" y="881149"/>
                </a:cubicBezTo>
                <a:lnTo>
                  <a:pt x="1330036" y="831273"/>
                </a:lnTo>
                <a:cubicBezTo>
                  <a:pt x="1313411" y="814648"/>
                  <a:pt x="1299723" y="794439"/>
                  <a:pt x="1280160" y="781397"/>
                </a:cubicBezTo>
                <a:cubicBezTo>
                  <a:pt x="1263535" y="770313"/>
                  <a:pt x="1244413" y="762275"/>
                  <a:pt x="1230284" y="748146"/>
                </a:cubicBezTo>
                <a:cubicBezTo>
                  <a:pt x="1210691" y="728553"/>
                  <a:pt x="1198440" y="702682"/>
                  <a:pt x="1180407" y="681644"/>
                </a:cubicBezTo>
                <a:cubicBezTo>
                  <a:pt x="1165106" y="663793"/>
                  <a:pt x="1144197" y="650900"/>
                  <a:pt x="1130531" y="631768"/>
                </a:cubicBezTo>
                <a:cubicBezTo>
                  <a:pt x="1021114" y="478583"/>
                  <a:pt x="1177087" y="645075"/>
                  <a:pt x="1047404" y="515389"/>
                </a:cubicBezTo>
                <a:cubicBezTo>
                  <a:pt x="1041862" y="498764"/>
                  <a:pt x="1038615" y="481188"/>
                  <a:pt x="1030778" y="465513"/>
                </a:cubicBezTo>
                <a:cubicBezTo>
                  <a:pt x="990141" y="384241"/>
                  <a:pt x="1001797" y="449340"/>
                  <a:pt x="980902" y="365760"/>
                </a:cubicBezTo>
                <a:cubicBezTo>
                  <a:pt x="932789" y="173309"/>
                  <a:pt x="999444" y="369594"/>
                  <a:pt x="931026" y="232757"/>
                </a:cubicBezTo>
                <a:cubicBezTo>
                  <a:pt x="923189" y="217082"/>
                  <a:pt x="925159" y="196713"/>
                  <a:pt x="914400" y="182880"/>
                </a:cubicBezTo>
                <a:cubicBezTo>
                  <a:pt x="886361" y="146831"/>
                  <a:pt x="817297" y="76140"/>
                  <a:pt x="764771" y="49877"/>
                </a:cubicBezTo>
                <a:cubicBezTo>
                  <a:pt x="749096" y="42040"/>
                  <a:pt x="731304" y="39404"/>
                  <a:pt x="714895" y="33251"/>
                </a:cubicBezTo>
                <a:cubicBezTo>
                  <a:pt x="686951" y="22772"/>
                  <a:pt x="659476" y="11084"/>
                  <a:pt x="631767" y="0"/>
                </a:cubicBezTo>
                <a:cubicBezTo>
                  <a:pt x="565265" y="5542"/>
                  <a:pt x="496560" y="-1235"/>
                  <a:pt x="432262" y="16626"/>
                </a:cubicBezTo>
                <a:cubicBezTo>
                  <a:pt x="377193" y="31923"/>
                  <a:pt x="322968" y="92669"/>
                  <a:pt x="282633" y="133004"/>
                </a:cubicBezTo>
                <a:lnTo>
                  <a:pt x="249382" y="166255"/>
                </a:lnTo>
              </a:path>
            </a:pathLst>
          </a:cu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V="1">
            <a:off x="8001000" y="2133600"/>
            <a:ext cx="381000" cy="685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256412" y="1684828"/>
            <a:ext cx="18696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Right subtree of A</a:t>
            </a:r>
            <a:endParaRPr lang="en-US" dirty="0"/>
          </a:p>
        </p:txBody>
      </p:sp>
      <p:cxnSp>
        <p:nvCxnSpPr>
          <p:cNvPr id="20" name="Straight Arrow Connector 19"/>
          <p:cNvCxnSpPr/>
          <p:nvPr/>
        </p:nvCxnSpPr>
        <p:spPr>
          <a:xfrm flipH="1">
            <a:off x="4648200" y="4572000"/>
            <a:ext cx="671945" cy="53340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47808" y="5286848"/>
            <a:ext cx="1744708"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Left subtree of A</a:t>
            </a:r>
            <a:endParaRPr lang="en-US" dirty="0"/>
          </a:p>
        </p:txBody>
      </p:sp>
    </p:spTree>
    <p:extLst>
      <p:ext uri="{BB962C8B-B14F-4D97-AF65-F5344CB8AC3E}">
        <p14:creationId xmlns:p14="http://schemas.microsoft.com/office/powerpoint/2010/main" val="10132106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Are the following two trees same?</a:t>
            </a:r>
            <a:endParaRPr lang="en-US" dirty="0"/>
          </a:p>
        </p:txBody>
      </p:sp>
      <p:pic>
        <p:nvPicPr>
          <p:cNvPr id="5" name="Picture 4"/>
          <p:cNvPicPr>
            <a:picLocks noChangeAspect="1"/>
          </p:cNvPicPr>
          <p:nvPr/>
        </p:nvPicPr>
        <p:blipFill>
          <a:blip r:embed="rId2"/>
          <a:stretch>
            <a:fillRect/>
          </a:stretch>
        </p:blipFill>
        <p:spPr>
          <a:xfrm>
            <a:off x="2040594" y="1417638"/>
            <a:ext cx="4522304" cy="1600200"/>
          </a:xfrm>
          <a:prstGeom prst="rect">
            <a:avLst/>
          </a:prstGeom>
        </p:spPr>
      </p:pic>
      <p:pic>
        <p:nvPicPr>
          <p:cNvPr id="6" name="Picture 5"/>
          <p:cNvPicPr>
            <a:picLocks noChangeAspect="1"/>
          </p:cNvPicPr>
          <p:nvPr/>
        </p:nvPicPr>
        <p:blipFill>
          <a:blip r:embed="rId3"/>
          <a:stretch>
            <a:fillRect/>
          </a:stretch>
        </p:blipFill>
        <p:spPr>
          <a:xfrm>
            <a:off x="4061308" y="1656725"/>
            <a:ext cx="766212" cy="1172537"/>
          </a:xfrm>
          <a:prstGeom prst="rect">
            <a:avLst/>
          </a:prstGeom>
        </p:spPr>
      </p:pic>
      <p:pic>
        <p:nvPicPr>
          <p:cNvPr id="7" name="Picture 6"/>
          <p:cNvPicPr>
            <a:picLocks noChangeAspect="1"/>
          </p:cNvPicPr>
          <p:nvPr/>
        </p:nvPicPr>
        <p:blipFill>
          <a:blip r:embed="rId4"/>
          <a:stretch>
            <a:fillRect/>
          </a:stretch>
        </p:blipFill>
        <p:spPr>
          <a:xfrm>
            <a:off x="2110892" y="4234483"/>
            <a:ext cx="4922216" cy="1692901"/>
          </a:xfrm>
          <a:prstGeom prst="rect">
            <a:avLst/>
          </a:prstGeom>
        </p:spPr>
      </p:pic>
      <p:pic>
        <p:nvPicPr>
          <p:cNvPr id="8" name="Picture 7"/>
          <p:cNvPicPr>
            <a:picLocks noChangeAspect="1"/>
          </p:cNvPicPr>
          <p:nvPr/>
        </p:nvPicPr>
        <p:blipFill>
          <a:blip r:embed="rId5"/>
          <a:stretch>
            <a:fillRect/>
          </a:stretch>
        </p:blipFill>
        <p:spPr>
          <a:xfrm>
            <a:off x="3834814" y="2941638"/>
            <a:ext cx="1219200" cy="1219200"/>
          </a:xfrm>
          <a:prstGeom prst="rect">
            <a:avLst/>
          </a:prstGeom>
        </p:spPr>
      </p:pic>
    </p:spTree>
    <p:extLst>
      <p:ext uri="{BB962C8B-B14F-4D97-AF65-F5344CB8AC3E}">
        <p14:creationId xmlns:p14="http://schemas.microsoft.com/office/powerpoint/2010/main" val="130567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Full and Complete Binary Trees</a:t>
            </a:r>
          </a:p>
        </p:txBody>
      </p:sp>
      <p:sp>
        <p:nvSpPr>
          <p:cNvPr id="133124" name="Rectangle 3"/>
          <p:cNvSpPr>
            <a:spLocks noGrp="1" noChangeArrowheads="1"/>
          </p:cNvSpPr>
          <p:nvPr>
            <p:ph type="body" idx="1"/>
          </p:nvPr>
        </p:nvSpPr>
        <p:spPr>
          <a:xfrm>
            <a:off x="381000" y="1600200"/>
            <a:ext cx="8534400" cy="4572000"/>
          </a:xfrm>
        </p:spPr>
        <p:txBody>
          <a:bodyPr/>
          <a:lstStyle/>
          <a:p>
            <a:pPr>
              <a:lnSpc>
                <a:spcPct val="90000"/>
              </a:lnSpc>
              <a:buFontTx/>
              <a:buNone/>
            </a:pPr>
            <a:r>
              <a:rPr lang="en-US" u="sng" dirty="0" smtClean="0">
                <a:latin typeface="Helvetica" pitchFamily="26" charset="0"/>
              </a:rPr>
              <a:t>Full</a:t>
            </a:r>
            <a:r>
              <a:rPr lang="en-US" dirty="0" smtClean="0">
                <a:latin typeface="Helvetica" pitchFamily="26" charset="0"/>
              </a:rPr>
              <a:t> binary tree: </a:t>
            </a:r>
            <a:r>
              <a:rPr lang="en-US" sz="2800" dirty="0" smtClean="0">
                <a:latin typeface="Helvetica" pitchFamily="26" charset="0"/>
              </a:rPr>
              <a:t>Each node is either a leaf or internal node with exactly two non-empty children.</a:t>
            </a:r>
          </a:p>
          <a:p>
            <a:pPr>
              <a:lnSpc>
                <a:spcPct val="20000"/>
              </a:lnSpc>
              <a:buFontTx/>
              <a:buNone/>
            </a:pPr>
            <a:endParaRPr lang="en-US" sz="2800" dirty="0" smtClean="0">
              <a:latin typeface="Helvetica" pitchFamily="26" charset="0"/>
            </a:endParaRPr>
          </a:p>
          <a:p>
            <a:pPr>
              <a:lnSpc>
                <a:spcPct val="90000"/>
              </a:lnSpc>
              <a:buFontTx/>
              <a:buNone/>
            </a:pPr>
            <a:r>
              <a:rPr lang="en-US" u="sng" dirty="0" smtClean="0">
                <a:latin typeface="Helvetica" pitchFamily="26" charset="0"/>
              </a:rPr>
              <a:t>Complete</a:t>
            </a:r>
            <a:r>
              <a:rPr lang="en-US" dirty="0" smtClean="0">
                <a:latin typeface="Helvetica" pitchFamily="26" charset="0"/>
              </a:rPr>
              <a:t> binary tree: </a:t>
            </a:r>
            <a:r>
              <a:rPr lang="en-US" sz="2800" dirty="0" smtClean="0">
                <a:latin typeface="Helvetica" pitchFamily="26" charset="0"/>
              </a:rPr>
              <a:t>If the height of the tree is </a:t>
            </a:r>
            <a:r>
              <a:rPr lang="en-US" sz="2800" i="1" dirty="0" smtClean="0">
                <a:latin typeface="Helvetica" pitchFamily="26" charset="0"/>
              </a:rPr>
              <a:t>d</a:t>
            </a:r>
            <a:r>
              <a:rPr lang="en-US" sz="2800" dirty="0" smtClean="0">
                <a:latin typeface="Helvetica" pitchFamily="26" charset="0"/>
              </a:rPr>
              <a:t>, then all leaves except possibly level </a:t>
            </a:r>
            <a:r>
              <a:rPr lang="en-US" sz="2800" i="1" dirty="0" smtClean="0">
                <a:latin typeface="Helvetica" pitchFamily="26" charset="0"/>
              </a:rPr>
              <a:t>d-</a:t>
            </a:r>
            <a:r>
              <a:rPr lang="en-US" sz="2800" dirty="0" smtClean="0">
                <a:latin typeface="Helvetica" pitchFamily="26" charset="0"/>
              </a:rPr>
              <a:t>1 are completely full.  The bottom level has all nodes to the left side.</a:t>
            </a:r>
          </a:p>
        </p:txBody>
      </p:sp>
      <p:pic>
        <p:nvPicPr>
          <p:cNvPr id="133125" name="Picture 4" descr="FullComp"/>
          <p:cNvPicPr>
            <a:picLocks noChangeAspect="1" noChangeArrowheads="1"/>
          </p:cNvPicPr>
          <p:nvPr/>
        </p:nvPicPr>
        <p:blipFill>
          <a:blip r:embed="rId3" cstate="print"/>
          <a:srcRect l="1158" r="3473" b="2127"/>
          <a:stretch>
            <a:fillRect/>
          </a:stretch>
        </p:blipFill>
        <p:spPr bwMode="auto">
          <a:xfrm>
            <a:off x="1225550" y="4454525"/>
            <a:ext cx="6813550" cy="1901825"/>
          </a:xfrm>
          <a:prstGeom prst="rect">
            <a:avLst/>
          </a:prstGeom>
          <a:noFill/>
          <a:ln w="9525">
            <a:noFill/>
            <a:miter lim="800000"/>
            <a:headEnd/>
            <a:tailEnd/>
          </a:ln>
        </p:spPr>
      </p:pic>
      <p:sp>
        <p:nvSpPr>
          <p:cNvPr id="2" name="Rectangle 1"/>
          <p:cNvSpPr/>
          <p:nvPr/>
        </p:nvSpPr>
        <p:spPr>
          <a:xfrm>
            <a:off x="2378825" y="5372187"/>
            <a:ext cx="381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1981200" y="6170097"/>
            <a:ext cx="51809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Full</a:t>
            </a:r>
            <a:endParaRPr lang="en-US" dirty="0"/>
          </a:p>
        </p:txBody>
      </p:sp>
      <p:sp>
        <p:nvSpPr>
          <p:cNvPr id="10" name="TextBox 9"/>
          <p:cNvSpPr txBox="1"/>
          <p:nvPr/>
        </p:nvSpPr>
        <p:spPr>
          <a:xfrm>
            <a:off x="6294154" y="6190997"/>
            <a:ext cx="109305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Complete</a:t>
            </a:r>
            <a:endParaRPr lang="en-US" dirty="0"/>
          </a:p>
        </p:txBody>
      </p:sp>
      <p:sp>
        <p:nvSpPr>
          <p:cNvPr id="12" name="TextBox 11"/>
          <p:cNvSpPr txBox="1"/>
          <p:nvPr/>
        </p:nvSpPr>
        <p:spPr>
          <a:xfrm>
            <a:off x="2564994" y="6170097"/>
            <a:ext cx="1416478"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Not anymore</a:t>
            </a:r>
            <a:endParaRPr lang="en-US" dirty="0"/>
          </a:p>
        </p:txBody>
      </p:sp>
      <p:sp>
        <p:nvSpPr>
          <p:cNvPr id="13" name="Rectangle 12"/>
          <p:cNvSpPr/>
          <p:nvPr/>
        </p:nvSpPr>
        <p:spPr>
          <a:xfrm>
            <a:off x="7387210" y="5024436"/>
            <a:ext cx="461390" cy="4619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7498922" y="6180699"/>
            <a:ext cx="1416478"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Not anymore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down)">
                                      <p:cBhvr>
                                        <p:cTn id="18" dur="500"/>
                                        <p:tgtEl>
                                          <p:spTgt spid="13"/>
                                        </p:tgtEl>
                                      </p:cBhvr>
                                    </p:animEffect>
                                  </p:childTnLst>
                                </p:cTn>
                              </p:par>
                            </p:childTnLst>
                          </p:cTn>
                        </p:par>
                        <p:par>
                          <p:cTn id="19" fill="hold">
                            <p:stCondLst>
                              <p:cond delay="500"/>
                            </p:stCondLst>
                            <p:childTnLst>
                              <p:par>
                                <p:cTn id="20" presetID="42"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5" name="Picture 4" descr="FullComp"/>
          <p:cNvPicPr>
            <a:picLocks noChangeAspect="1" noChangeArrowheads="1"/>
          </p:cNvPicPr>
          <p:nvPr/>
        </p:nvPicPr>
        <p:blipFill>
          <a:blip r:embed="rId3" cstate="print"/>
          <a:srcRect l="1158" r="3473" b="2127"/>
          <a:stretch>
            <a:fillRect/>
          </a:stretch>
        </p:blipFill>
        <p:spPr bwMode="auto">
          <a:xfrm>
            <a:off x="1225550" y="4454525"/>
            <a:ext cx="6813550" cy="1901825"/>
          </a:xfrm>
          <a:prstGeom prst="rect">
            <a:avLst/>
          </a:prstGeom>
          <a:noFill/>
          <a:ln w="9525">
            <a:noFill/>
            <a:miter lim="800000"/>
            <a:headEnd/>
            <a:tailEnd/>
          </a:ln>
        </p:spPr>
      </p:pic>
      <p:sp>
        <p:nvSpPr>
          <p:cNvPr id="133123"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Full and Complete Binary Trees</a:t>
            </a:r>
          </a:p>
        </p:txBody>
      </p:sp>
      <p:sp>
        <p:nvSpPr>
          <p:cNvPr id="133124" name="Rectangle 3"/>
          <p:cNvSpPr>
            <a:spLocks noGrp="1" noChangeArrowheads="1"/>
          </p:cNvSpPr>
          <p:nvPr>
            <p:ph type="body" idx="1"/>
          </p:nvPr>
        </p:nvSpPr>
        <p:spPr>
          <a:xfrm>
            <a:off x="381000" y="1279526"/>
            <a:ext cx="8534400" cy="3175000"/>
          </a:xfrm>
        </p:spPr>
        <p:txBody>
          <a:bodyPr/>
          <a:lstStyle/>
          <a:p>
            <a:pPr>
              <a:lnSpc>
                <a:spcPct val="90000"/>
              </a:lnSpc>
              <a:buFontTx/>
              <a:buNone/>
            </a:pPr>
            <a:r>
              <a:rPr lang="en-US" u="sng" dirty="0" smtClean="0">
                <a:latin typeface="Helvetica" pitchFamily="26" charset="0"/>
              </a:rPr>
              <a:t>Full</a:t>
            </a:r>
            <a:r>
              <a:rPr lang="en-US" dirty="0" smtClean="0">
                <a:latin typeface="Helvetica" pitchFamily="26" charset="0"/>
              </a:rPr>
              <a:t> binary tree: </a:t>
            </a:r>
            <a:r>
              <a:rPr lang="en-US" sz="2800" dirty="0" smtClean="0">
                <a:latin typeface="Helvetica" pitchFamily="26" charset="0"/>
              </a:rPr>
              <a:t>Each node is either a leaf or internal node with exactly two non-empty children.</a:t>
            </a:r>
          </a:p>
          <a:p>
            <a:pPr>
              <a:lnSpc>
                <a:spcPct val="20000"/>
              </a:lnSpc>
              <a:buFontTx/>
              <a:buNone/>
            </a:pPr>
            <a:endParaRPr lang="en-US" sz="2800" dirty="0" smtClean="0">
              <a:latin typeface="Helvetica" pitchFamily="26" charset="0"/>
            </a:endParaRPr>
          </a:p>
          <a:p>
            <a:pPr>
              <a:lnSpc>
                <a:spcPct val="90000"/>
              </a:lnSpc>
              <a:buFontTx/>
              <a:buNone/>
            </a:pPr>
            <a:r>
              <a:rPr lang="en-US" u="sng" dirty="0" smtClean="0">
                <a:latin typeface="Helvetica" pitchFamily="26" charset="0"/>
              </a:rPr>
              <a:t>Complete</a:t>
            </a:r>
            <a:r>
              <a:rPr lang="en-US" dirty="0" smtClean="0">
                <a:latin typeface="Helvetica" pitchFamily="26" charset="0"/>
              </a:rPr>
              <a:t> binary tree: </a:t>
            </a:r>
            <a:r>
              <a:rPr lang="en-US" sz="2800" dirty="0" smtClean="0">
                <a:latin typeface="Helvetica" pitchFamily="26" charset="0"/>
              </a:rPr>
              <a:t>If the height of the tree is </a:t>
            </a:r>
            <a:r>
              <a:rPr lang="en-US" sz="2800" i="1" dirty="0" smtClean="0">
                <a:latin typeface="Helvetica" pitchFamily="26" charset="0"/>
              </a:rPr>
              <a:t>d</a:t>
            </a:r>
            <a:r>
              <a:rPr lang="en-US" sz="2800" dirty="0" smtClean="0">
                <a:latin typeface="Helvetica" pitchFamily="26" charset="0"/>
              </a:rPr>
              <a:t>, then all leaves except possibly level </a:t>
            </a:r>
            <a:r>
              <a:rPr lang="en-US" sz="2800" i="1" dirty="0" smtClean="0">
                <a:latin typeface="Helvetica" pitchFamily="26" charset="0"/>
              </a:rPr>
              <a:t>d-</a:t>
            </a:r>
            <a:r>
              <a:rPr lang="en-US" sz="2800" dirty="0" smtClean="0">
                <a:latin typeface="Helvetica" pitchFamily="26" charset="0"/>
              </a:rPr>
              <a:t>1 are completely full.  The bottom level has all nodes to the left side.</a:t>
            </a:r>
          </a:p>
        </p:txBody>
      </p:sp>
      <p:sp>
        <p:nvSpPr>
          <p:cNvPr id="3" name="TextBox 2"/>
          <p:cNvSpPr txBox="1"/>
          <p:nvPr/>
        </p:nvSpPr>
        <p:spPr>
          <a:xfrm>
            <a:off x="1981200" y="6170097"/>
            <a:ext cx="51809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Full</a:t>
            </a:r>
            <a:endParaRPr lang="en-US" dirty="0"/>
          </a:p>
        </p:txBody>
      </p:sp>
      <p:sp>
        <p:nvSpPr>
          <p:cNvPr id="10" name="TextBox 9"/>
          <p:cNvSpPr txBox="1"/>
          <p:nvPr/>
        </p:nvSpPr>
        <p:spPr>
          <a:xfrm>
            <a:off x="6294154" y="6190997"/>
            <a:ext cx="109305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Complete</a:t>
            </a:r>
            <a:endParaRPr lang="en-US" dirty="0"/>
          </a:p>
        </p:txBody>
      </p:sp>
      <p:sp>
        <p:nvSpPr>
          <p:cNvPr id="5" name="TextBox 4"/>
          <p:cNvSpPr txBox="1"/>
          <p:nvPr/>
        </p:nvSpPr>
        <p:spPr>
          <a:xfrm>
            <a:off x="3076157" y="3991474"/>
            <a:ext cx="3217997"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sz="2400" dirty="0" smtClean="0"/>
              <a:t>One Crucial Observation</a:t>
            </a:r>
            <a:endParaRPr lang="en-US" sz="2400" dirty="0"/>
          </a:p>
        </p:txBody>
      </p:sp>
      <p:sp>
        <p:nvSpPr>
          <p:cNvPr id="6" name="TextBox 5"/>
          <p:cNvSpPr txBox="1"/>
          <p:nvPr/>
        </p:nvSpPr>
        <p:spPr>
          <a:xfrm>
            <a:off x="86864" y="4989146"/>
            <a:ext cx="1208536"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NOT</a:t>
            </a:r>
          </a:p>
          <a:p>
            <a:r>
              <a:rPr lang="en-US" dirty="0" smtClean="0"/>
              <a:t>COMPLETE</a:t>
            </a:r>
            <a:endParaRPr lang="en-US" dirty="0"/>
          </a:p>
        </p:txBody>
      </p:sp>
      <p:sp>
        <p:nvSpPr>
          <p:cNvPr id="15" name="TextBox 14"/>
          <p:cNvSpPr txBox="1"/>
          <p:nvPr/>
        </p:nvSpPr>
        <p:spPr>
          <a:xfrm>
            <a:off x="7886202" y="5002613"/>
            <a:ext cx="1093761"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NOT FULL</a:t>
            </a:r>
            <a:endParaRPr lang="en-US" dirty="0"/>
          </a:p>
        </p:txBody>
      </p:sp>
    </p:spTree>
    <p:extLst>
      <p:ext uri="{BB962C8B-B14F-4D97-AF65-F5344CB8AC3E}">
        <p14:creationId xmlns:p14="http://schemas.microsoft.com/office/powerpoint/2010/main" val="8125321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Full Binary Tree Theorem (1)</a:t>
            </a:r>
          </a:p>
        </p:txBody>
      </p:sp>
      <p:sp>
        <p:nvSpPr>
          <p:cNvPr id="134148" name="Rectangle 3"/>
          <p:cNvSpPr>
            <a:spLocks noGrp="1" noChangeArrowheads="1"/>
          </p:cNvSpPr>
          <p:nvPr>
            <p:ph type="body" idx="1"/>
          </p:nvPr>
        </p:nvSpPr>
        <p:spPr>
          <a:xfrm>
            <a:off x="455613" y="1600200"/>
            <a:ext cx="8226425" cy="4572000"/>
          </a:xfrm>
        </p:spPr>
        <p:txBody>
          <a:bodyPr/>
          <a:lstStyle/>
          <a:p>
            <a:pPr>
              <a:buFontTx/>
              <a:buNone/>
            </a:pPr>
            <a:r>
              <a:rPr lang="en-US" sz="2800" b="1" smtClean="0">
                <a:latin typeface="Helvetica" pitchFamily="26" charset="0"/>
              </a:rPr>
              <a:t>Theorem</a:t>
            </a:r>
            <a:r>
              <a:rPr lang="en-US" sz="2800" smtClean="0">
                <a:latin typeface="Helvetica" pitchFamily="26" charset="0"/>
              </a:rPr>
              <a:t>: The number of leaves in a non-empty full binary tree is one more than the number of internal nodes.</a:t>
            </a:r>
          </a:p>
          <a:p>
            <a:pPr>
              <a:lnSpc>
                <a:spcPct val="10000"/>
              </a:lnSpc>
              <a:buFontTx/>
              <a:buNone/>
            </a:pPr>
            <a:endParaRPr lang="en-US" sz="2800" smtClean="0">
              <a:latin typeface="Helvetica" pitchFamily="26" charset="0"/>
            </a:endParaRPr>
          </a:p>
          <a:p>
            <a:pPr>
              <a:buFontTx/>
              <a:buNone/>
            </a:pPr>
            <a:r>
              <a:rPr lang="en-US" sz="2800" b="1" smtClean="0">
                <a:latin typeface="Helvetica" pitchFamily="26" charset="0"/>
              </a:rPr>
              <a:t>Proof</a:t>
            </a:r>
            <a:r>
              <a:rPr lang="en-US" sz="2800" smtClean="0">
                <a:latin typeface="Helvetica" pitchFamily="26" charset="0"/>
              </a:rPr>
              <a:t> (by Mathematical Induction):</a:t>
            </a:r>
          </a:p>
          <a:p>
            <a:pPr>
              <a:lnSpc>
                <a:spcPct val="20000"/>
              </a:lnSpc>
              <a:buFontTx/>
              <a:buNone/>
            </a:pPr>
            <a:endParaRPr lang="en-US" sz="2800" smtClean="0">
              <a:latin typeface="Helvetica" pitchFamily="26" charset="0"/>
            </a:endParaRPr>
          </a:p>
          <a:p>
            <a:pPr>
              <a:buFontTx/>
              <a:buNone/>
            </a:pPr>
            <a:r>
              <a:rPr lang="en-US" sz="2800" b="1" smtClean="0">
                <a:latin typeface="Helvetica" pitchFamily="26" charset="0"/>
              </a:rPr>
              <a:t>Base case</a:t>
            </a:r>
            <a:r>
              <a:rPr lang="en-US" sz="2800" smtClean="0">
                <a:latin typeface="Helvetica" pitchFamily="26" charset="0"/>
              </a:rPr>
              <a:t>: </a:t>
            </a:r>
            <a:r>
              <a:rPr lang="en-US" sz="2400" smtClean="0">
                <a:latin typeface="Helvetica" pitchFamily="26" charset="0"/>
              </a:rPr>
              <a:t>A full binary tree with 1 internal node must have two leaf nodes.</a:t>
            </a:r>
          </a:p>
          <a:p>
            <a:pPr>
              <a:lnSpc>
                <a:spcPct val="10000"/>
              </a:lnSpc>
              <a:buFontTx/>
              <a:buNone/>
            </a:pPr>
            <a:endParaRPr lang="en-US" sz="2400" smtClean="0">
              <a:latin typeface="Helvetica" pitchFamily="26" charset="0"/>
            </a:endParaRPr>
          </a:p>
          <a:p>
            <a:pPr>
              <a:buFontTx/>
              <a:buNone/>
            </a:pPr>
            <a:r>
              <a:rPr lang="en-US" sz="2800" b="1" smtClean="0">
                <a:latin typeface="Helvetica" pitchFamily="26" charset="0"/>
              </a:rPr>
              <a:t>Induction Hypothesis</a:t>
            </a:r>
            <a:r>
              <a:rPr lang="en-US" sz="2800" smtClean="0">
                <a:latin typeface="Helvetica" pitchFamily="26" charset="0"/>
              </a:rPr>
              <a:t>: </a:t>
            </a:r>
            <a:r>
              <a:rPr lang="en-US" sz="2400" smtClean="0">
                <a:latin typeface="Helvetica" pitchFamily="26" charset="0"/>
              </a:rPr>
              <a:t>Assume any full binary tree </a:t>
            </a:r>
            <a:r>
              <a:rPr lang="en-US" sz="2400" b="1" smtClean="0">
                <a:latin typeface="Helvetica" pitchFamily="26" charset="0"/>
              </a:rPr>
              <a:t>T</a:t>
            </a:r>
            <a:r>
              <a:rPr lang="en-US" sz="2400" smtClean="0">
                <a:latin typeface="Helvetica" pitchFamily="26" charset="0"/>
              </a:rPr>
              <a:t> containing </a:t>
            </a:r>
            <a:r>
              <a:rPr lang="en-US" sz="2400" i="1" smtClean="0">
                <a:latin typeface="Helvetica" pitchFamily="26" charset="0"/>
              </a:rPr>
              <a:t>n</a:t>
            </a:r>
            <a:r>
              <a:rPr lang="en-US" sz="2400" smtClean="0">
                <a:latin typeface="Helvetica" pitchFamily="26" charset="0"/>
              </a:rPr>
              <a:t>-1 internal nodes has </a:t>
            </a:r>
            <a:r>
              <a:rPr lang="en-US" sz="2400" i="1" smtClean="0">
                <a:latin typeface="Helvetica" pitchFamily="26" charset="0"/>
              </a:rPr>
              <a:t>n</a:t>
            </a:r>
            <a:r>
              <a:rPr lang="en-US" sz="2400" smtClean="0">
                <a:latin typeface="Helvetica" pitchFamily="26" charset="0"/>
              </a:rPr>
              <a:t> leaves.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2"/>
          <p:cNvSpPr>
            <a:spLocks noGrp="1" noChangeArrowheads="1"/>
          </p:cNvSpPr>
          <p:nvPr>
            <p:ph type="title"/>
          </p:nvPr>
        </p:nvSpPr>
        <p:spPr>
          <a:xfrm>
            <a:off x="455613" y="457200"/>
            <a:ext cx="8226425" cy="914400"/>
          </a:xfrm>
        </p:spPr>
        <p:txBody>
          <a:bodyPr>
            <a:normAutofit/>
          </a:bodyPr>
          <a:lstStyle/>
          <a:p>
            <a:r>
              <a:rPr lang="en-US" sz="4800" dirty="0" smtClean="0">
                <a:latin typeface="Helvetica" pitchFamily="26" charset="0"/>
              </a:rPr>
              <a:t>Full Binary Tree Theorem (2)</a:t>
            </a:r>
          </a:p>
        </p:txBody>
      </p:sp>
      <p:sp>
        <p:nvSpPr>
          <p:cNvPr id="135172" name="Rectangle 3"/>
          <p:cNvSpPr>
            <a:spLocks noGrp="1" noChangeArrowheads="1"/>
          </p:cNvSpPr>
          <p:nvPr>
            <p:ph type="body" idx="1"/>
          </p:nvPr>
        </p:nvSpPr>
        <p:spPr>
          <a:xfrm>
            <a:off x="455613" y="1692275"/>
            <a:ext cx="8226425" cy="4572000"/>
          </a:xfrm>
        </p:spPr>
        <p:txBody>
          <a:bodyPr>
            <a:noAutofit/>
          </a:bodyPr>
          <a:lstStyle/>
          <a:p>
            <a:pPr>
              <a:lnSpc>
                <a:spcPct val="90000"/>
              </a:lnSpc>
              <a:buFontTx/>
              <a:buNone/>
            </a:pPr>
            <a:r>
              <a:rPr lang="en-US" b="1" dirty="0" smtClean="0">
                <a:latin typeface="Times" pitchFamily="18" charset="0"/>
              </a:rPr>
              <a:t>Induction Step</a:t>
            </a:r>
            <a:r>
              <a:rPr lang="en-US" dirty="0" smtClean="0">
                <a:latin typeface="Times" pitchFamily="18" charset="0"/>
              </a:rPr>
              <a:t>: </a:t>
            </a:r>
          </a:p>
          <a:p>
            <a:pPr>
              <a:lnSpc>
                <a:spcPct val="90000"/>
              </a:lnSpc>
              <a:buFontTx/>
              <a:buNone/>
            </a:pPr>
            <a:r>
              <a:rPr lang="en-US" sz="2400" dirty="0" smtClean="0">
                <a:latin typeface="Times" pitchFamily="18" charset="0"/>
              </a:rPr>
              <a:t>We want to prove the following here:</a:t>
            </a:r>
          </a:p>
          <a:p>
            <a:pPr>
              <a:lnSpc>
                <a:spcPct val="90000"/>
              </a:lnSpc>
              <a:buFontTx/>
              <a:buNone/>
            </a:pPr>
            <a:endParaRPr lang="en-US" sz="2400" dirty="0" smtClean="0">
              <a:latin typeface="Times" pitchFamily="18" charset="0"/>
            </a:endParaRPr>
          </a:p>
          <a:p>
            <a:pPr>
              <a:lnSpc>
                <a:spcPct val="90000"/>
              </a:lnSpc>
              <a:buFontTx/>
              <a:buNone/>
            </a:pPr>
            <a:r>
              <a:rPr lang="en-US" sz="2400" dirty="0" smtClean="0">
                <a:latin typeface="Times" pitchFamily="18" charset="0"/>
              </a:rPr>
              <a:t>If n-1 internal leaves means n leaves </a:t>
            </a:r>
          </a:p>
          <a:p>
            <a:pPr>
              <a:lnSpc>
                <a:spcPct val="90000"/>
              </a:lnSpc>
              <a:buNone/>
            </a:pPr>
            <a:r>
              <a:rPr lang="en-US" sz="2400" dirty="0" smtClean="0">
                <a:latin typeface="Times" pitchFamily="18" charset="0"/>
              </a:rPr>
              <a:t>Then n internal leaves would mean n+1 leaves </a:t>
            </a:r>
          </a:p>
          <a:p>
            <a:pPr>
              <a:lnSpc>
                <a:spcPct val="10000"/>
              </a:lnSpc>
              <a:buFontTx/>
              <a:buNone/>
            </a:pPr>
            <a:endParaRPr lang="en-US" sz="2400" dirty="0" smtClean="0">
              <a:latin typeface="Times" pitchFamily="18" charset="0"/>
            </a:endParaRPr>
          </a:p>
          <a:p>
            <a:pPr>
              <a:lnSpc>
                <a:spcPct val="90000"/>
              </a:lnSpc>
              <a:buNone/>
            </a:pPr>
            <a:endParaRPr lang="en-US" sz="2400" dirty="0" smtClean="0">
              <a:latin typeface="Times" pitchFamily="18" charset="0"/>
            </a:endParaRPr>
          </a:p>
          <a:p>
            <a:pPr>
              <a:lnSpc>
                <a:spcPct val="90000"/>
              </a:lnSpc>
              <a:buNone/>
            </a:pPr>
            <a:r>
              <a:rPr lang="en-US" sz="2400" dirty="0" smtClean="0">
                <a:latin typeface="Times" pitchFamily="18" charset="0"/>
              </a:rPr>
              <a:t>[Recall that this will establish the chain:</a:t>
            </a:r>
          </a:p>
          <a:p>
            <a:pPr>
              <a:lnSpc>
                <a:spcPct val="90000"/>
              </a:lnSpc>
              <a:buNone/>
            </a:pPr>
            <a:r>
              <a:rPr lang="en-US" sz="2400" dirty="0" smtClean="0">
                <a:latin typeface="Times" pitchFamily="18" charset="0"/>
              </a:rPr>
              <a:t>1 IN means 2 L</a:t>
            </a:r>
          </a:p>
          <a:p>
            <a:pPr>
              <a:lnSpc>
                <a:spcPct val="90000"/>
              </a:lnSpc>
              <a:buNone/>
            </a:pPr>
            <a:r>
              <a:rPr lang="en-US" sz="2400" dirty="0" smtClean="0">
                <a:latin typeface="Times" pitchFamily="18" charset="0"/>
              </a:rPr>
              <a:t>So, 2 IN means 3 L</a:t>
            </a:r>
          </a:p>
          <a:p>
            <a:pPr>
              <a:lnSpc>
                <a:spcPct val="90000"/>
              </a:lnSpc>
              <a:buNone/>
            </a:pPr>
            <a:r>
              <a:rPr lang="en-US" sz="2400" dirty="0" smtClean="0">
                <a:latin typeface="Times" pitchFamily="18" charset="0"/>
              </a:rPr>
              <a:t>So, 3 IN means 4</a:t>
            </a:r>
          </a:p>
          <a:p>
            <a:pPr>
              <a:lnSpc>
                <a:spcPct val="90000"/>
              </a:lnSpc>
              <a:buNone/>
            </a:pPr>
            <a:r>
              <a:rPr lang="en-US" sz="2400" dirty="0" smtClean="0">
                <a:latin typeface="Times" pitchFamily="18" charset="0"/>
              </a:rPr>
              <a:t>And so on…]</a:t>
            </a:r>
          </a:p>
          <a:p>
            <a:pPr>
              <a:lnSpc>
                <a:spcPct val="10000"/>
              </a:lnSpc>
              <a:buFontTx/>
              <a:buNone/>
            </a:pPr>
            <a:endParaRPr lang="en-US" sz="2400" dirty="0" smtClean="0">
              <a:latin typeface="Times" pitchFamily="18" charset="0"/>
            </a:endParaRPr>
          </a:p>
          <a:p>
            <a:pPr>
              <a:lnSpc>
                <a:spcPct val="10000"/>
              </a:lnSpc>
              <a:buFontTx/>
              <a:buNone/>
            </a:pPr>
            <a:endParaRPr lang="en-US" sz="2400" dirty="0" smtClean="0">
              <a:latin typeface="Times"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3967698" y="2531467"/>
            <a:ext cx="3028950" cy="1343025"/>
          </a:xfrm>
          <a:prstGeom prst="rect">
            <a:avLst/>
          </a:prstGeom>
        </p:spPr>
      </p:pic>
      <p:sp>
        <p:nvSpPr>
          <p:cNvPr id="135171" name="Rectangle 2"/>
          <p:cNvSpPr>
            <a:spLocks noGrp="1" noChangeArrowheads="1"/>
          </p:cNvSpPr>
          <p:nvPr>
            <p:ph type="title"/>
          </p:nvPr>
        </p:nvSpPr>
        <p:spPr>
          <a:xfrm>
            <a:off x="427904" y="152400"/>
            <a:ext cx="8226425" cy="473075"/>
          </a:xfrm>
        </p:spPr>
        <p:txBody>
          <a:bodyPr>
            <a:normAutofit fontScale="90000"/>
          </a:bodyPr>
          <a:lstStyle/>
          <a:p>
            <a:r>
              <a:rPr lang="en-US" dirty="0" smtClean="0">
                <a:latin typeface="Helvetica" pitchFamily="26" charset="0"/>
              </a:rPr>
              <a:t>Full Binary Tree Theorem (2)</a:t>
            </a:r>
          </a:p>
        </p:txBody>
      </p:sp>
      <p:sp>
        <p:nvSpPr>
          <p:cNvPr id="135172" name="Rectangle 3"/>
          <p:cNvSpPr>
            <a:spLocks noGrp="1" noChangeArrowheads="1"/>
          </p:cNvSpPr>
          <p:nvPr>
            <p:ph type="body" idx="1"/>
          </p:nvPr>
        </p:nvSpPr>
        <p:spPr>
          <a:xfrm>
            <a:off x="88944" y="859413"/>
            <a:ext cx="4174841" cy="4797961"/>
          </a:xfrm>
        </p:spPr>
        <p:txBody>
          <a:bodyPr>
            <a:noAutofit/>
          </a:bodyPr>
          <a:lstStyle/>
          <a:p>
            <a:pPr>
              <a:lnSpc>
                <a:spcPct val="90000"/>
              </a:lnSpc>
              <a:buFontTx/>
              <a:buNone/>
            </a:pPr>
            <a:r>
              <a:rPr lang="en-US" sz="2400" b="1" dirty="0" smtClean="0">
                <a:latin typeface="Helvetica" pitchFamily="26" charset="0"/>
              </a:rPr>
              <a:t>Induction Step</a:t>
            </a:r>
            <a:r>
              <a:rPr lang="en-US" sz="2400" dirty="0" smtClean="0">
                <a:latin typeface="Helvetica" pitchFamily="26" charset="0"/>
              </a:rPr>
              <a:t>: </a:t>
            </a:r>
            <a:r>
              <a:rPr lang="en-US" sz="2000" dirty="0" smtClean="0">
                <a:latin typeface="Helvetica" pitchFamily="26" charset="0"/>
              </a:rPr>
              <a:t>Given tree </a:t>
            </a:r>
            <a:r>
              <a:rPr lang="en-US" sz="2000" b="1" dirty="0" smtClean="0">
                <a:latin typeface="Helvetica" pitchFamily="26" charset="0"/>
              </a:rPr>
              <a:t>T</a:t>
            </a:r>
            <a:r>
              <a:rPr lang="en-US" sz="2000" dirty="0" smtClean="0">
                <a:latin typeface="Helvetica" pitchFamily="26" charset="0"/>
              </a:rPr>
              <a:t> with n internal nodes, pick internal node </a:t>
            </a:r>
            <a:r>
              <a:rPr lang="en-US" sz="2000" i="1" dirty="0" smtClean="0">
                <a:latin typeface="Helvetica" pitchFamily="26" charset="0"/>
              </a:rPr>
              <a:t>I</a:t>
            </a:r>
            <a:r>
              <a:rPr lang="en-US" sz="2000" dirty="0" smtClean="0">
                <a:latin typeface="Helvetica" pitchFamily="26" charset="0"/>
              </a:rPr>
              <a:t> with two leaf children.  Remove </a:t>
            </a:r>
            <a:r>
              <a:rPr lang="en-US" sz="2000" i="1" dirty="0" smtClean="0">
                <a:latin typeface="Helvetica" pitchFamily="26" charset="0"/>
              </a:rPr>
              <a:t>I</a:t>
            </a:r>
            <a:r>
              <a:rPr lang="en-US" sz="2000" dirty="0" smtClean="0">
                <a:latin typeface="Helvetica" pitchFamily="26" charset="0"/>
              </a:rPr>
              <a:t>’s children, call resulting tree </a:t>
            </a:r>
            <a:r>
              <a:rPr lang="en-US" sz="2000" b="1" dirty="0" smtClean="0">
                <a:latin typeface="Helvetica" pitchFamily="26" charset="0"/>
              </a:rPr>
              <a:t>T’</a:t>
            </a:r>
            <a:r>
              <a:rPr lang="en-US" sz="2000" dirty="0" smtClean="0">
                <a:latin typeface="Helvetica" pitchFamily="26" charset="0"/>
              </a:rPr>
              <a:t>.</a:t>
            </a:r>
          </a:p>
          <a:p>
            <a:pPr>
              <a:lnSpc>
                <a:spcPct val="90000"/>
              </a:lnSpc>
              <a:buFontTx/>
              <a:buNone/>
            </a:pPr>
            <a:r>
              <a:rPr lang="en-US" sz="2000" dirty="0" smtClean="0">
                <a:latin typeface="Helvetica" pitchFamily="26" charset="0"/>
              </a:rPr>
              <a:t>Clearly, </a:t>
            </a:r>
            <a:r>
              <a:rPr lang="en-US" sz="2000" b="1" dirty="0" smtClean="0">
                <a:latin typeface="Helvetica" pitchFamily="26" charset="0"/>
              </a:rPr>
              <a:t>T’</a:t>
            </a:r>
            <a:r>
              <a:rPr lang="en-US" sz="2000" dirty="0" smtClean="0">
                <a:latin typeface="Helvetica" pitchFamily="26" charset="0"/>
              </a:rPr>
              <a:t> is a full binary tree with n-1 internal nodes</a:t>
            </a:r>
          </a:p>
          <a:p>
            <a:pPr>
              <a:lnSpc>
                <a:spcPct val="10000"/>
              </a:lnSpc>
              <a:buFontTx/>
              <a:buNone/>
            </a:pPr>
            <a:endParaRPr lang="en-US" sz="2000" dirty="0" smtClean="0">
              <a:latin typeface="Helvetica" pitchFamily="26" charset="0"/>
            </a:endParaRPr>
          </a:p>
          <a:p>
            <a:pPr>
              <a:lnSpc>
                <a:spcPct val="90000"/>
              </a:lnSpc>
              <a:buFontTx/>
              <a:buNone/>
            </a:pPr>
            <a:r>
              <a:rPr lang="en-US" sz="2000" dirty="0" smtClean="0">
                <a:latin typeface="Helvetica" pitchFamily="26" charset="0"/>
              </a:rPr>
              <a:t>By induction hypothesis, it has n leaves.</a:t>
            </a:r>
          </a:p>
          <a:p>
            <a:pPr>
              <a:lnSpc>
                <a:spcPct val="20000"/>
              </a:lnSpc>
              <a:buFontTx/>
              <a:buNone/>
            </a:pPr>
            <a:endParaRPr lang="en-US" sz="2000" dirty="0" smtClean="0">
              <a:latin typeface="Helvetica" pitchFamily="26" charset="0"/>
            </a:endParaRPr>
          </a:p>
          <a:p>
            <a:pPr>
              <a:lnSpc>
                <a:spcPct val="20000"/>
              </a:lnSpc>
              <a:buFontTx/>
              <a:buNone/>
            </a:pPr>
            <a:r>
              <a:rPr lang="en-US" sz="2000" dirty="0" smtClean="0">
                <a:latin typeface="Helvetica" pitchFamily="26" charset="0"/>
              </a:rPr>
              <a:t>Now:</a:t>
            </a:r>
          </a:p>
          <a:p>
            <a:pPr>
              <a:lnSpc>
                <a:spcPct val="90000"/>
              </a:lnSpc>
              <a:buFontTx/>
              <a:buNone/>
            </a:pPr>
            <a:r>
              <a:rPr lang="en-US" sz="2000" dirty="0" smtClean="0">
                <a:latin typeface="Helvetica" pitchFamily="26" charset="0"/>
              </a:rPr>
              <a:t>Restore </a:t>
            </a:r>
            <a:r>
              <a:rPr lang="en-US" sz="2000" i="1" dirty="0" smtClean="0">
                <a:latin typeface="Helvetica" pitchFamily="26" charset="0"/>
              </a:rPr>
              <a:t>I</a:t>
            </a:r>
            <a:r>
              <a:rPr lang="en-US" sz="2000" dirty="0" smtClean="0">
                <a:latin typeface="Helvetica" pitchFamily="26" charset="0"/>
              </a:rPr>
              <a:t>’s two children.  The number of internal nodes has now gone up by 1 to reach </a:t>
            </a:r>
            <a:r>
              <a:rPr lang="en-US" sz="2000" i="1" dirty="0" smtClean="0">
                <a:latin typeface="Helvetica" pitchFamily="26" charset="0"/>
              </a:rPr>
              <a:t>n</a:t>
            </a:r>
            <a:r>
              <a:rPr lang="en-US" sz="2000" dirty="0" smtClean="0">
                <a:latin typeface="Helvetica" pitchFamily="26" charset="0"/>
              </a:rPr>
              <a:t>.  The number of leaves has also gone up by 1.</a:t>
            </a:r>
          </a:p>
        </p:txBody>
      </p:sp>
      <p:pic>
        <p:nvPicPr>
          <p:cNvPr id="2" name="Picture 1"/>
          <p:cNvPicPr>
            <a:picLocks noChangeAspect="1"/>
          </p:cNvPicPr>
          <p:nvPr/>
        </p:nvPicPr>
        <p:blipFill>
          <a:blip r:embed="rId3"/>
          <a:stretch>
            <a:fillRect/>
          </a:stretch>
        </p:blipFill>
        <p:spPr>
          <a:xfrm>
            <a:off x="4463057" y="697565"/>
            <a:ext cx="3028950" cy="1343025"/>
          </a:xfrm>
          <a:prstGeom prst="rect">
            <a:avLst/>
          </a:prstGeom>
        </p:spPr>
      </p:pic>
      <p:sp>
        <p:nvSpPr>
          <p:cNvPr id="4" name="TextBox 3"/>
          <p:cNvSpPr txBox="1"/>
          <p:nvPr/>
        </p:nvSpPr>
        <p:spPr>
          <a:xfrm>
            <a:off x="7525930" y="1108988"/>
            <a:ext cx="655949" cy="369332"/>
          </a:xfrm>
          <a:prstGeom prst="rect">
            <a:avLst/>
          </a:prstGeom>
          <a:noFill/>
        </p:spPr>
        <p:txBody>
          <a:bodyPr wrap="none" rtlCol="0">
            <a:spAutoFit/>
          </a:bodyPr>
          <a:lstStyle/>
          <a:p>
            <a:r>
              <a:rPr lang="en-US" dirty="0" smtClean="0"/>
              <a:t>n INs</a:t>
            </a:r>
            <a:endParaRPr lang="en-US" dirty="0"/>
          </a:p>
        </p:txBody>
      </p:sp>
      <p:sp>
        <p:nvSpPr>
          <p:cNvPr id="7" name="Right Arrow 6"/>
          <p:cNvSpPr/>
          <p:nvPr/>
        </p:nvSpPr>
        <p:spPr>
          <a:xfrm rot="5400000">
            <a:off x="6094184" y="4064315"/>
            <a:ext cx="533400" cy="3952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833013" y="3467904"/>
            <a:ext cx="723504" cy="33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V="1">
            <a:off x="5329832" y="2551305"/>
            <a:ext cx="1666816" cy="775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063815" y="2306261"/>
            <a:ext cx="1630703" cy="923330"/>
          </a:xfrm>
          <a:prstGeom prst="rect">
            <a:avLst/>
          </a:prstGeom>
          <a:noFill/>
        </p:spPr>
        <p:txBody>
          <a:bodyPr wrap="none" rtlCol="0">
            <a:spAutoFit/>
          </a:bodyPr>
          <a:lstStyle/>
          <a:p>
            <a:r>
              <a:rPr lang="en-US" dirty="0" smtClean="0"/>
              <a:t>X is now an LN</a:t>
            </a:r>
          </a:p>
          <a:p>
            <a:pPr marL="285750" indent="-285750">
              <a:buFont typeface="Symbol" panose="05050102010706020507" pitchFamily="18" charset="2"/>
              <a:buChar char="Þ"/>
            </a:pPr>
            <a:r>
              <a:rPr lang="en-US" dirty="0" smtClean="0"/>
              <a:t>now, n-1 INs</a:t>
            </a:r>
          </a:p>
          <a:p>
            <a:pPr marL="285750" indent="-285750">
              <a:buFont typeface="Symbol" panose="05050102010706020507" pitchFamily="18" charset="2"/>
              <a:buChar char="Þ"/>
            </a:pPr>
            <a:r>
              <a:rPr lang="en-US" dirty="0" smtClean="0"/>
              <a:t>n LN (IH)</a:t>
            </a:r>
          </a:p>
        </p:txBody>
      </p:sp>
      <p:cxnSp>
        <p:nvCxnSpPr>
          <p:cNvPr id="9" name="Straight Arrow Connector 8"/>
          <p:cNvCxnSpPr/>
          <p:nvPr/>
        </p:nvCxnSpPr>
        <p:spPr>
          <a:xfrm flipV="1">
            <a:off x="4754471" y="3657600"/>
            <a:ext cx="337543" cy="39715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p:nvPicPr>
        <p:blipFill>
          <a:blip r:embed="rId3"/>
          <a:stretch>
            <a:fillRect/>
          </a:stretch>
        </p:blipFill>
        <p:spPr>
          <a:xfrm>
            <a:off x="4038600" y="4649426"/>
            <a:ext cx="3028950" cy="1343025"/>
          </a:xfrm>
          <a:prstGeom prst="rect">
            <a:avLst/>
          </a:prstGeom>
        </p:spPr>
      </p:pic>
      <p:cxnSp>
        <p:nvCxnSpPr>
          <p:cNvPr id="20" name="Straight Arrow Connector 19"/>
          <p:cNvCxnSpPr/>
          <p:nvPr/>
        </p:nvCxnSpPr>
        <p:spPr>
          <a:xfrm flipV="1">
            <a:off x="4856260" y="5899468"/>
            <a:ext cx="337543" cy="39715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263785" y="4058349"/>
            <a:ext cx="917815" cy="646331"/>
          </a:xfrm>
          <a:prstGeom prst="rect">
            <a:avLst/>
          </a:prstGeom>
          <a:noFill/>
        </p:spPr>
        <p:txBody>
          <a:bodyPr wrap="none" rtlCol="0">
            <a:spAutoFit/>
          </a:bodyPr>
          <a:lstStyle/>
          <a:p>
            <a:r>
              <a:rPr lang="en-US" dirty="0" smtClean="0"/>
              <a:t>make X </a:t>
            </a:r>
          </a:p>
          <a:p>
            <a:r>
              <a:rPr lang="en-US" dirty="0" smtClean="0"/>
              <a:t>a LN</a:t>
            </a:r>
          </a:p>
        </p:txBody>
      </p:sp>
      <p:sp>
        <p:nvSpPr>
          <p:cNvPr id="22" name="TextBox 21"/>
          <p:cNvSpPr txBox="1"/>
          <p:nvPr/>
        </p:nvSpPr>
        <p:spPr>
          <a:xfrm>
            <a:off x="4236316" y="6261059"/>
            <a:ext cx="1732013" cy="646331"/>
          </a:xfrm>
          <a:prstGeom prst="rect">
            <a:avLst/>
          </a:prstGeom>
          <a:noFill/>
        </p:spPr>
        <p:txBody>
          <a:bodyPr wrap="none" rtlCol="0">
            <a:spAutoFit/>
          </a:bodyPr>
          <a:lstStyle/>
          <a:p>
            <a:r>
              <a:rPr lang="en-US" dirty="0" smtClean="0"/>
              <a:t>Restore the two </a:t>
            </a:r>
          </a:p>
          <a:p>
            <a:r>
              <a:rPr lang="en-US" dirty="0" smtClean="0"/>
              <a:t>children of X</a:t>
            </a:r>
            <a:endParaRPr lang="en-US" dirty="0"/>
          </a:p>
        </p:txBody>
      </p:sp>
      <p:sp>
        <p:nvSpPr>
          <p:cNvPr id="23" name="TextBox 22"/>
          <p:cNvSpPr txBox="1"/>
          <p:nvPr/>
        </p:nvSpPr>
        <p:spPr>
          <a:xfrm>
            <a:off x="7341199" y="4303021"/>
            <a:ext cx="184731" cy="369332"/>
          </a:xfrm>
          <a:prstGeom prst="rect">
            <a:avLst/>
          </a:prstGeom>
          <a:noFill/>
        </p:spPr>
        <p:txBody>
          <a:bodyPr wrap="none" rtlCol="0">
            <a:spAutoFit/>
          </a:bodyPr>
          <a:lstStyle/>
          <a:p>
            <a:endParaRPr lang="en-US" dirty="0"/>
          </a:p>
        </p:txBody>
      </p:sp>
      <p:sp>
        <p:nvSpPr>
          <p:cNvPr id="17" name="TextBox 16"/>
          <p:cNvSpPr txBox="1"/>
          <p:nvPr/>
        </p:nvSpPr>
        <p:spPr>
          <a:xfrm>
            <a:off x="5058988" y="2909874"/>
            <a:ext cx="304892" cy="369332"/>
          </a:xfrm>
          <a:prstGeom prst="rect">
            <a:avLst/>
          </a:prstGeom>
          <a:noFill/>
        </p:spPr>
        <p:txBody>
          <a:bodyPr wrap="none" rtlCol="0">
            <a:spAutoFit/>
          </a:bodyPr>
          <a:lstStyle/>
          <a:p>
            <a:r>
              <a:rPr lang="en-US" dirty="0"/>
              <a:t>X</a:t>
            </a:r>
          </a:p>
        </p:txBody>
      </p:sp>
      <p:sp>
        <p:nvSpPr>
          <p:cNvPr id="27" name="TextBox 26"/>
          <p:cNvSpPr txBox="1"/>
          <p:nvPr/>
        </p:nvSpPr>
        <p:spPr>
          <a:xfrm>
            <a:off x="5187857" y="5064903"/>
            <a:ext cx="304892" cy="369332"/>
          </a:xfrm>
          <a:prstGeom prst="rect">
            <a:avLst/>
          </a:prstGeom>
          <a:noFill/>
        </p:spPr>
        <p:txBody>
          <a:bodyPr wrap="none" rtlCol="0">
            <a:spAutoFit/>
          </a:bodyPr>
          <a:lstStyle/>
          <a:p>
            <a:r>
              <a:rPr lang="en-US" dirty="0"/>
              <a:t>X</a:t>
            </a:r>
          </a:p>
        </p:txBody>
      </p:sp>
      <p:sp>
        <p:nvSpPr>
          <p:cNvPr id="28" name="TextBox 27"/>
          <p:cNvSpPr txBox="1"/>
          <p:nvPr/>
        </p:nvSpPr>
        <p:spPr>
          <a:xfrm>
            <a:off x="6996649" y="4418593"/>
            <a:ext cx="2147351" cy="2308324"/>
          </a:xfrm>
          <a:prstGeom prst="rect">
            <a:avLst/>
          </a:prstGeom>
          <a:noFill/>
        </p:spPr>
        <p:txBody>
          <a:bodyPr wrap="square" rtlCol="0">
            <a:spAutoFit/>
          </a:bodyPr>
          <a:lstStyle/>
          <a:p>
            <a:r>
              <a:rPr lang="en-US" dirty="0" smtClean="0"/>
              <a:t>X is now an IN</a:t>
            </a:r>
          </a:p>
          <a:p>
            <a:pPr marL="285750" indent="-285750">
              <a:buFont typeface="Symbol" panose="05050102010706020507" pitchFamily="18" charset="2"/>
              <a:buChar char="Þ"/>
            </a:pPr>
            <a:r>
              <a:rPr lang="en-US" dirty="0" smtClean="0"/>
              <a:t>now, n INs</a:t>
            </a:r>
          </a:p>
          <a:p>
            <a:r>
              <a:rPr lang="en-US" dirty="0" smtClean="0"/>
              <a:t>How many LNs?</a:t>
            </a:r>
          </a:p>
          <a:p>
            <a:r>
              <a:rPr lang="en-US" dirty="0" smtClean="0"/>
              <a:t>X: IN=&gt; LN</a:t>
            </a:r>
          </a:p>
          <a:p>
            <a:r>
              <a:rPr lang="en-US" dirty="0" smtClean="0"/>
              <a:t>2 LNs added</a:t>
            </a:r>
          </a:p>
          <a:p>
            <a:r>
              <a:rPr lang="en-US" dirty="0" smtClean="0"/>
              <a:t>=&gt; LN increases by 1</a:t>
            </a:r>
          </a:p>
          <a:p>
            <a:r>
              <a:rPr lang="en-US" dirty="0" smtClean="0"/>
              <a:t>=&gt; n+1 (from IH)</a:t>
            </a:r>
          </a:p>
          <a:p>
            <a:endParaRPr lang="en-US" dirty="0"/>
          </a:p>
        </p:txBody>
      </p:sp>
      <p:sp>
        <p:nvSpPr>
          <p:cNvPr id="18" name="TextBox 17"/>
          <p:cNvSpPr txBox="1"/>
          <p:nvPr/>
        </p:nvSpPr>
        <p:spPr>
          <a:xfrm>
            <a:off x="35374" y="5925982"/>
            <a:ext cx="2593980" cy="923330"/>
          </a:xfrm>
          <a:prstGeom prst="rect">
            <a:avLst/>
          </a:prstGeom>
          <a:noFill/>
        </p:spPr>
        <p:txBody>
          <a:bodyPr wrap="none" rtlCol="0">
            <a:spAutoFit/>
          </a:bodyPr>
          <a:lstStyle/>
          <a:p>
            <a:r>
              <a:rPr lang="en-US" dirty="0" smtClean="0"/>
              <a:t>IN = Internal Node</a:t>
            </a:r>
          </a:p>
          <a:p>
            <a:r>
              <a:rPr lang="en-US" dirty="0" smtClean="0"/>
              <a:t>LN = Leaf Node</a:t>
            </a:r>
          </a:p>
          <a:p>
            <a:r>
              <a:rPr lang="en-US" dirty="0" smtClean="0"/>
              <a:t>IH = Induction Hypothesis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a:t>
            </a:r>
            <a:r>
              <a:rPr lang="en-US" dirty="0" smtClean="0">
                <a:latin typeface="Helvetica" pitchFamily="26" charset="0"/>
              </a:rPr>
              <a:t>Full Binary Tree Theorem is useful?</a:t>
            </a:r>
            <a:r>
              <a:rPr lang="en-US" dirty="0" smtClean="0"/>
              <a:t> </a:t>
            </a:r>
            <a:endParaRPr lang="en-US" dirty="0"/>
          </a:p>
        </p:txBody>
      </p:sp>
      <p:sp>
        <p:nvSpPr>
          <p:cNvPr id="3" name="Content Placeholder 2"/>
          <p:cNvSpPr>
            <a:spLocks noGrp="1"/>
          </p:cNvSpPr>
          <p:nvPr>
            <p:ph idx="1"/>
          </p:nvPr>
        </p:nvSpPr>
        <p:spPr/>
        <p:txBody>
          <a:bodyPr>
            <a:normAutofit/>
          </a:bodyPr>
          <a:lstStyle/>
          <a:p>
            <a:r>
              <a:rPr lang="en-US" dirty="0" smtClean="0"/>
              <a:t>Some binary tree implementations store data only at the leaf nodes, using the internal nodes to provide structure to the tree. </a:t>
            </a:r>
          </a:p>
          <a:p>
            <a:r>
              <a:rPr lang="en-US" dirty="0" smtClean="0"/>
              <a:t>More generally, binary tree implementations might require some amount of space for internal nodes, and a different amount for leaf nodes.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388525" y="4692476"/>
            <a:ext cx="4698075" cy="1752600"/>
          </a:xfrm>
          <a:prstGeom prst="rect">
            <a:avLst/>
          </a:prstGeom>
        </p:spPr>
      </p:pic>
      <p:sp>
        <p:nvSpPr>
          <p:cNvPr id="136195" name="Rectangle 2"/>
          <p:cNvSpPr>
            <a:spLocks noGrp="1" noChangeArrowheads="1"/>
          </p:cNvSpPr>
          <p:nvPr>
            <p:ph type="title"/>
          </p:nvPr>
        </p:nvSpPr>
        <p:spPr>
          <a:xfrm>
            <a:off x="304800" y="-50511"/>
            <a:ext cx="8226425" cy="914400"/>
          </a:xfrm>
        </p:spPr>
        <p:txBody>
          <a:bodyPr/>
          <a:lstStyle/>
          <a:p>
            <a:r>
              <a:rPr lang="en-US" dirty="0" smtClean="0">
                <a:latin typeface="Helvetica" pitchFamily="26" charset="0"/>
              </a:rPr>
              <a:t>Full Binary Tree Corollary</a:t>
            </a:r>
          </a:p>
        </p:txBody>
      </p:sp>
      <p:sp>
        <p:nvSpPr>
          <p:cNvPr id="136196" name="Rectangle 3"/>
          <p:cNvSpPr>
            <a:spLocks noGrp="1" noChangeArrowheads="1"/>
          </p:cNvSpPr>
          <p:nvPr>
            <p:ph type="body" idx="1"/>
          </p:nvPr>
        </p:nvSpPr>
        <p:spPr>
          <a:xfrm>
            <a:off x="74613" y="685801"/>
            <a:ext cx="9069387" cy="4419599"/>
          </a:xfrm>
        </p:spPr>
        <p:txBody>
          <a:bodyPr>
            <a:normAutofit fontScale="62500" lnSpcReduction="20000"/>
          </a:bodyPr>
          <a:lstStyle/>
          <a:p>
            <a:pPr>
              <a:buNone/>
            </a:pPr>
            <a:r>
              <a:rPr lang="en-US" b="1" dirty="0" smtClean="0">
                <a:latin typeface="Helvetica" pitchFamily="26" charset="0"/>
              </a:rPr>
              <a:t>Theorem</a:t>
            </a:r>
            <a:r>
              <a:rPr lang="en-US" dirty="0" smtClean="0">
                <a:latin typeface="Helvetica" pitchFamily="26" charset="0"/>
              </a:rPr>
              <a:t>: </a:t>
            </a:r>
            <a:r>
              <a:rPr lang="en-US" dirty="0" smtClean="0"/>
              <a:t>The number of empty </a:t>
            </a:r>
            <a:r>
              <a:rPr lang="en-US" dirty="0" err="1" smtClean="0"/>
              <a:t>subtrees</a:t>
            </a:r>
            <a:r>
              <a:rPr lang="en-US" dirty="0" smtClean="0"/>
              <a:t> in a non-empty binary tree is one more than the number of nodes in the tree.</a:t>
            </a:r>
            <a:endParaRPr lang="en-US" b="1" dirty="0" smtClean="0">
              <a:latin typeface="Helvetica" pitchFamily="26" charset="0"/>
            </a:endParaRPr>
          </a:p>
          <a:p>
            <a:pPr>
              <a:buNone/>
            </a:pPr>
            <a:r>
              <a:rPr lang="en-US" b="1" dirty="0" smtClean="0">
                <a:latin typeface="Helvetica" pitchFamily="26" charset="0"/>
              </a:rPr>
              <a:t>Proof </a:t>
            </a:r>
            <a:r>
              <a:rPr lang="en-US" dirty="0" smtClean="0">
                <a:latin typeface="Helvetica" pitchFamily="26" charset="0"/>
              </a:rPr>
              <a:t>: </a:t>
            </a:r>
          </a:p>
          <a:p>
            <a:r>
              <a:rPr lang="en-US" dirty="0" smtClean="0"/>
              <a:t>Take an arbitrary binary tree T and replace every empty </a:t>
            </a:r>
            <a:r>
              <a:rPr lang="en-US" dirty="0" err="1" smtClean="0"/>
              <a:t>subtree</a:t>
            </a:r>
            <a:r>
              <a:rPr lang="en-US" dirty="0" smtClean="0"/>
              <a:t> with a leaf node. Call the new tree T0. </a:t>
            </a:r>
          </a:p>
          <a:p>
            <a:r>
              <a:rPr lang="en-US" dirty="0" smtClean="0"/>
              <a:t>All nodes originally in T will be internal nodes in T0 (Why?)</a:t>
            </a:r>
          </a:p>
          <a:p>
            <a:r>
              <a:rPr lang="en-US" dirty="0" smtClean="0"/>
              <a:t>T0 is a full binary tree, because every internal node of T now must have two children in T0, and each leaf node in T must have two children in T0 (the leaves just added). </a:t>
            </a:r>
          </a:p>
          <a:p>
            <a:r>
              <a:rPr lang="en-US" dirty="0" smtClean="0"/>
              <a:t>The Full Binary Tree Theorem tells us that the number of leaves in a full binary tree is one more than the number of internal nodes. </a:t>
            </a:r>
          </a:p>
          <a:p>
            <a:r>
              <a:rPr lang="en-US" dirty="0" smtClean="0"/>
              <a:t>Thus, the number of new leaves that were added to create T0 is one more than the number of nodes in T. </a:t>
            </a:r>
          </a:p>
          <a:p>
            <a:r>
              <a:rPr lang="en-US" dirty="0" smtClean="0"/>
              <a:t>Each leaf node in T0 corresponds to an empty subtree in T. Thus, the number of empty </a:t>
            </a:r>
            <a:r>
              <a:rPr lang="en-US" dirty="0" err="1" smtClean="0"/>
              <a:t>subtrees</a:t>
            </a:r>
            <a:r>
              <a:rPr lang="en-US" dirty="0" smtClean="0"/>
              <a:t> in T is one more than the number of nodes in T.</a:t>
            </a:r>
            <a:endParaRPr lang="en-US" dirty="0" smtClean="0">
              <a:latin typeface="Helvetica" pitchFamily="26" charset="0"/>
            </a:endParaRPr>
          </a:p>
        </p:txBody>
      </p:sp>
      <p:grpSp>
        <p:nvGrpSpPr>
          <p:cNvPr id="136207" name="Group 136206"/>
          <p:cNvGrpSpPr/>
          <p:nvPr/>
        </p:nvGrpSpPr>
        <p:grpSpPr>
          <a:xfrm>
            <a:off x="2081082" y="5857473"/>
            <a:ext cx="4920402" cy="1000527"/>
            <a:chOff x="4188357" y="2028886"/>
            <a:chExt cx="4920402" cy="1000527"/>
          </a:xfrm>
        </p:grpSpPr>
        <p:cxnSp>
          <p:nvCxnSpPr>
            <p:cNvPr id="8" name="Straight Connector 7"/>
            <p:cNvCxnSpPr/>
            <p:nvPr/>
          </p:nvCxnSpPr>
          <p:spPr>
            <a:xfrm flipH="1">
              <a:off x="4343400" y="2438400"/>
              <a:ext cx="235618" cy="33331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endCxn id="36" idx="0"/>
            </p:cNvCxnSpPr>
            <p:nvPr/>
          </p:nvCxnSpPr>
          <p:spPr>
            <a:xfrm>
              <a:off x="4588625" y="2414531"/>
              <a:ext cx="249210" cy="35611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7946470" y="2365341"/>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7772400" y="2029904"/>
              <a:ext cx="304800" cy="37998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endCxn id="37" idx="0"/>
            </p:cNvCxnSpPr>
            <p:nvPr/>
          </p:nvCxnSpPr>
          <p:spPr>
            <a:xfrm flipH="1">
              <a:off x="5171974" y="2409886"/>
              <a:ext cx="143410" cy="36076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endCxn id="38" idx="0"/>
            </p:cNvCxnSpPr>
            <p:nvPr/>
          </p:nvCxnSpPr>
          <p:spPr>
            <a:xfrm>
              <a:off x="5315384" y="2402035"/>
              <a:ext cx="213937" cy="36861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41" idx="1"/>
            </p:cNvCxnSpPr>
            <p:nvPr/>
          </p:nvCxnSpPr>
          <p:spPr>
            <a:xfrm flipH="1">
              <a:off x="5728900" y="2440187"/>
              <a:ext cx="255659" cy="35966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42" idx="0"/>
            </p:cNvCxnSpPr>
            <p:nvPr/>
          </p:nvCxnSpPr>
          <p:spPr>
            <a:xfrm>
              <a:off x="5984559" y="2432124"/>
              <a:ext cx="205870" cy="33852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43" idx="1"/>
            </p:cNvCxnSpPr>
            <p:nvPr/>
          </p:nvCxnSpPr>
          <p:spPr>
            <a:xfrm flipH="1">
              <a:off x="6447189" y="2429626"/>
              <a:ext cx="223170" cy="37891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endCxn id="39" idx="0"/>
            </p:cNvCxnSpPr>
            <p:nvPr/>
          </p:nvCxnSpPr>
          <p:spPr>
            <a:xfrm>
              <a:off x="6670359" y="2421775"/>
              <a:ext cx="215914" cy="34887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endCxn id="40" idx="0"/>
            </p:cNvCxnSpPr>
            <p:nvPr/>
          </p:nvCxnSpPr>
          <p:spPr>
            <a:xfrm flipH="1">
              <a:off x="7155366" y="2429626"/>
              <a:ext cx="166852" cy="31357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7322218" y="2421775"/>
              <a:ext cx="263841" cy="32866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33" idx="7"/>
            </p:cNvCxnSpPr>
            <p:nvPr/>
          </p:nvCxnSpPr>
          <p:spPr>
            <a:xfrm flipH="1">
              <a:off x="8586186" y="2028886"/>
              <a:ext cx="370821" cy="41104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endCxn id="32" idx="7"/>
            </p:cNvCxnSpPr>
            <p:nvPr/>
          </p:nvCxnSpPr>
          <p:spPr>
            <a:xfrm>
              <a:off x="9026189" y="2028886"/>
              <a:ext cx="44280" cy="41104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8847299" y="2402035"/>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8363016" y="2402035"/>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7500033" y="2730704"/>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4188357" y="2730302"/>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4707105" y="2770650"/>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5041244" y="2770650"/>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398591" y="2770650"/>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6755543" y="2770650"/>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7024636" y="2743200"/>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5690610" y="2761954"/>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6059699" y="2770650"/>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6408899" y="2770650"/>
              <a:ext cx="261460" cy="25876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6196">
                                            <p:txEl>
                                              <p:pRg st="2" end="2"/>
                                            </p:txEl>
                                          </p:spTgt>
                                        </p:tgtEl>
                                        <p:attrNameLst>
                                          <p:attrName>style.visibility</p:attrName>
                                        </p:attrNameLst>
                                      </p:cBhvr>
                                      <p:to>
                                        <p:strVal val="visible"/>
                                      </p:to>
                                    </p:set>
                                    <p:animEffect transition="in" filter="wipe(down)">
                                      <p:cBhvr>
                                        <p:cTn id="7" dur="500"/>
                                        <p:tgtEl>
                                          <p:spTgt spid="13619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36207"/>
                                        </p:tgtEl>
                                        <p:attrNameLst>
                                          <p:attrName>style.visibility</p:attrName>
                                        </p:attrNameLst>
                                      </p:cBhvr>
                                      <p:to>
                                        <p:strVal val="visible"/>
                                      </p:to>
                                    </p:set>
                                    <p:animEffect transition="in" filter="wipe(up)">
                                      <p:cBhvr>
                                        <p:cTn id="15" dur="500"/>
                                        <p:tgtEl>
                                          <p:spTgt spid="13620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36196">
                                            <p:txEl>
                                              <p:pRg st="3" end="3"/>
                                            </p:txEl>
                                          </p:spTgt>
                                        </p:tgtEl>
                                        <p:attrNameLst>
                                          <p:attrName>style.visibility</p:attrName>
                                        </p:attrNameLst>
                                      </p:cBhvr>
                                      <p:to>
                                        <p:strVal val="visible"/>
                                      </p:to>
                                    </p:set>
                                    <p:animEffect transition="in" filter="wipe(down)">
                                      <p:cBhvr>
                                        <p:cTn id="20" dur="500"/>
                                        <p:tgtEl>
                                          <p:spTgt spid="13619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36196">
                                            <p:txEl>
                                              <p:pRg st="4" end="4"/>
                                            </p:txEl>
                                          </p:spTgt>
                                        </p:tgtEl>
                                        <p:attrNameLst>
                                          <p:attrName>style.visibility</p:attrName>
                                        </p:attrNameLst>
                                      </p:cBhvr>
                                      <p:to>
                                        <p:strVal val="visible"/>
                                      </p:to>
                                    </p:set>
                                    <p:animEffect transition="in" filter="wipe(down)">
                                      <p:cBhvr>
                                        <p:cTn id="25" dur="500"/>
                                        <p:tgtEl>
                                          <p:spTgt spid="13619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36196">
                                            <p:txEl>
                                              <p:pRg st="5" end="5"/>
                                            </p:txEl>
                                          </p:spTgt>
                                        </p:tgtEl>
                                        <p:attrNameLst>
                                          <p:attrName>style.visibility</p:attrName>
                                        </p:attrNameLst>
                                      </p:cBhvr>
                                      <p:to>
                                        <p:strVal val="visible"/>
                                      </p:to>
                                    </p:set>
                                    <p:animEffect transition="in" filter="wipe(down)">
                                      <p:cBhvr>
                                        <p:cTn id="30" dur="500"/>
                                        <p:tgtEl>
                                          <p:spTgt spid="13619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36196">
                                            <p:txEl>
                                              <p:pRg st="6" end="6"/>
                                            </p:txEl>
                                          </p:spTgt>
                                        </p:tgtEl>
                                        <p:attrNameLst>
                                          <p:attrName>style.visibility</p:attrName>
                                        </p:attrNameLst>
                                      </p:cBhvr>
                                      <p:to>
                                        <p:strVal val="visible"/>
                                      </p:to>
                                    </p:set>
                                    <p:animEffect transition="in" filter="wipe(down)">
                                      <p:cBhvr>
                                        <p:cTn id="35" dur="500"/>
                                        <p:tgtEl>
                                          <p:spTgt spid="136196">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36196">
                                            <p:txEl>
                                              <p:pRg st="7" end="7"/>
                                            </p:txEl>
                                          </p:spTgt>
                                        </p:tgtEl>
                                        <p:attrNameLst>
                                          <p:attrName>style.visibility</p:attrName>
                                        </p:attrNameLst>
                                      </p:cBhvr>
                                      <p:to>
                                        <p:strVal val="visible"/>
                                      </p:to>
                                    </p:set>
                                    <p:animEffect transition="in" filter="wipe(down)">
                                      <p:cBhvr>
                                        <p:cTn id="40" dur="500"/>
                                        <p:tgtEl>
                                          <p:spTgt spid="13619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Rectangle 2"/>
          <p:cNvSpPr>
            <a:spLocks noGrp="1" noChangeArrowheads="1"/>
          </p:cNvSpPr>
          <p:nvPr>
            <p:ph type="title"/>
          </p:nvPr>
        </p:nvSpPr>
        <p:spPr>
          <a:xfrm>
            <a:off x="304800" y="-50511"/>
            <a:ext cx="8226425" cy="914400"/>
          </a:xfrm>
        </p:spPr>
        <p:txBody>
          <a:bodyPr/>
          <a:lstStyle/>
          <a:p>
            <a:r>
              <a:rPr lang="en-US" dirty="0" smtClean="0">
                <a:latin typeface="Helvetica" pitchFamily="26" charset="0"/>
              </a:rPr>
              <a:t>Full Binary Tree Corollary</a:t>
            </a:r>
          </a:p>
        </p:txBody>
      </p:sp>
      <p:sp>
        <p:nvSpPr>
          <p:cNvPr id="136196" name="Rectangle 3"/>
          <p:cNvSpPr>
            <a:spLocks noGrp="1" noChangeArrowheads="1"/>
          </p:cNvSpPr>
          <p:nvPr>
            <p:ph type="body" idx="1"/>
          </p:nvPr>
        </p:nvSpPr>
        <p:spPr>
          <a:xfrm>
            <a:off x="74613" y="685801"/>
            <a:ext cx="9069387" cy="6172199"/>
          </a:xfrm>
        </p:spPr>
        <p:txBody>
          <a:bodyPr>
            <a:normAutofit fontScale="85000" lnSpcReduction="20000"/>
          </a:bodyPr>
          <a:lstStyle/>
          <a:p>
            <a:pPr>
              <a:buNone/>
            </a:pPr>
            <a:r>
              <a:rPr lang="en-US" b="1" dirty="0" smtClean="0">
                <a:latin typeface="Helvetica" pitchFamily="26" charset="0"/>
              </a:rPr>
              <a:t>Theorem</a:t>
            </a:r>
            <a:r>
              <a:rPr lang="en-US" dirty="0" smtClean="0">
                <a:latin typeface="Helvetica" pitchFamily="26" charset="0"/>
              </a:rPr>
              <a:t>: </a:t>
            </a:r>
            <a:r>
              <a:rPr lang="en-US" dirty="0" smtClean="0"/>
              <a:t>The number of empty subtrees in a non-empty binary tree is one more than the number of nodes in the tree.</a:t>
            </a:r>
          </a:p>
          <a:p>
            <a:pPr>
              <a:buNone/>
            </a:pPr>
            <a:r>
              <a:rPr lang="en-US" b="1" dirty="0" smtClean="0">
                <a:latin typeface="Helvetica" pitchFamily="26" charset="0"/>
              </a:rPr>
              <a:t>Another Proof </a:t>
            </a:r>
            <a:r>
              <a:rPr lang="en-US" dirty="0" smtClean="0">
                <a:latin typeface="Helvetica" pitchFamily="26" charset="0"/>
              </a:rPr>
              <a:t>: </a:t>
            </a:r>
          </a:p>
          <a:p>
            <a:pPr>
              <a:buNone/>
            </a:pPr>
            <a:r>
              <a:rPr lang="en-US" i="1" dirty="0" smtClean="0">
                <a:latin typeface="Helvetica" pitchFamily="26" charset="0"/>
              </a:rPr>
              <a:t>We prove that a </a:t>
            </a:r>
            <a:r>
              <a:rPr lang="en-US" i="1" dirty="0">
                <a:latin typeface="Helvetica" pitchFamily="26" charset="0"/>
              </a:rPr>
              <a:t>binary tree with n nodes has n+1 empty </a:t>
            </a:r>
            <a:r>
              <a:rPr lang="en-US" i="1" dirty="0" smtClean="0">
                <a:latin typeface="Helvetica" pitchFamily="26" charset="0"/>
              </a:rPr>
              <a:t>subtrees</a:t>
            </a:r>
          </a:p>
          <a:p>
            <a:pPr marL="0" indent="0">
              <a:buNone/>
            </a:pPr>
            <a:r>
              <a:rPr lang="en-US" dirty="0" smtClean="0"/>
              <a:t>By definition, every node in binary tree </a:t>
            </a:r>
            <a:r>
              <a:rPr lang="en-US" b="1" dirty="0" smtClean="0"/>
              <a:t>T </a:t>
            </a:r>
            <a:r>
              <a:rPr lang="en-US" dirty="0" smtClean="0"/>
              <a:t>has two children (some may be empty)</a:t>
            </a:r>
          </a:p>
          <a:p>
            <a:pPr>
              <a:buFont typeface="Symbol" panose="05050102010706020507" pitchFamily="18" charset="2"/>
              <a:buChar char="Þ"/>
            </a:pPr>
            <a:r>
              <a:rPr lang="en-US" dirty="0" smtClean="0"/>
              <a:t>A </a:t>
            </a:r>
            <a:r>
              <a:rPr lang="en-US" dirty="0"/>
              <a:t>total </a:t>
            </a:r>
            <a:r>
              <a:rPr lang="en-US" dirty="0" smtClean="0"/>
              <a:t>of 2</a:t>
            </a:r>
            <a:r>
              <a:rPr lang="en-US" i="1" dirty="0" smtClean="0"/>
              <a:t>n </a:t>
            </a:r>
            <a:r>
              <a:rPr lang="en-US" dirty="0"/>
              <a:t>children in a tree of </a:t>
            </a:r>
            <a:r>
              <a:rPr lang="en-US" i="1" dirty="0"/>
              <a:t>n </a:t>
            </a:r>
            <a:r>
              <a:rPr lang="en-US" dirty="0"/>
              <a:t>nodes. </a:t>
            </a:r>
          </a:p>
          <a:p>
            <a:pPr>
              <a:buFont typeface="Symbol" panose="05050102010706020507" pitchFamily="18" charset="2"/>
              <a:buChar char="Þ"/>
            </a:pPr>
            <a:r>
              <a:rPr lang="en-US" dirty="0" smtClean="0"/>
              <a:t>Every </a:t>
            </a:r>
            <a:r>
              <a:rPr lang="en-US" dirty="0"/>
              <a:t>node except the root node has one </a:t>
            </a:r>
            <a:r>
              <a:rPr lang="en-US" dirty="0" smtClean="0"/>
              <a:t>parent.</a:t>
            </a:r>
            <a:endParaRPr lang="en-US" dirty="0"/>
          </a:p>
          <a:p>
            <a:pPr>
              <a:buFont typeface="Symbol" panose="05050102010706020507" pitchFamily="18" charset="2"/>
              <a:buChar char="Þ"/>
            </a:pPr>
            <a:r>
              <a:rPr lang="en-US" dirty="0" smtClean="0"/>
              <a:t>A </a:t>
            </a:r>
            <a:r>
              <a:rPr lang="en-US" dirty="0"/>
              <a:t>total of </a:t>
            </a:r>
            <a:r>
              <a:rPr lang="en-US" i="1" dirty="0"/>
              <a:t>n - </a:t>
            </a:r>
            <a:r>
              <a:rPr lang="en-US" dirty="0"/>
              <a:t>1 nodes with parents. </a:t>
            </a:r>
          </a:p>
          <a:p>
            <a:pPr>
              <a:buFont typeface="Symbol" panose="05050102010706020507" pitchFamily="18" charset="2"/>
              <a:buChar char="Þ"/>
            </a:pPr>
            <a:r>
              <a:rPr lang="en-US" dirty="0" smtClean="0"/>
              <a:t>In </a:t>
            </a:r>
            <a:r>
              <a:rPr lang="en-US" dirty="0"/>
              <a:t>other words, there are </a:t>
            </a:r>
            <a:r>
              <a:rPr lang="en-US" i="1" dirty="0"/>
              <a:t>n - </a:t>
            </a:r>
            <a:r>
              <a:rPr lang="en-US" dirty="0"/>
              <a:t>1 </a:t>
            </a:r>
            <a:r>
              <a:rPr lang="en-US" dirty="0" smtClean="0"/>
              <a:t>non-empty children.</a:t>
            </a:r>
          </a:p>
          <a:p>
            <a:pPr>
              <a:buFont typeface="Symbol" panose="05050102010706020507" pitchFamily="18" charset="2"/>
              <a:buChar char="Þ"/>
            </a:pPr>
            <a:r>
              <a:rPr lang="en-US" dirty="0" smtClean="0"/>
              <a:t>Because </a:t>
            </a:r>
            <a:r>
              <a:rPr lang="en-US" dirty="0"/>
              <a:t>the total number of children is 2</a:t>
            </a:r>
            <a:r>
              <a:rPr lang="en-US" i="1" dirty="0"/>
              <a:t>n</a:t>
            </a:r>
            <a:r>
              <a:rPr lang="en-US" dirty="0"/>
              <a:t>, the remaining </a:t>
            </a:r>
            <a:r>
              <a:rPr lang="en-US" i="1" dirty="0"/>
              <a:t>n </a:t>
            </a:r>
            <a:r>
              <a:rPr lang="en-US" dirty="0"/>
              <a:t>+ 1 </a:t>
            </a:r>
            <a:r>
              <a:rPr lang="en-US" dirty="0" smtClean="0"/>
              <a:t>children must </a:t>
            </a:r>
            <a:r>
              <a:rPr lang="en-US" dirty="0"/>
              <a:t>be empty. </a:t>
            </a:r>
            <a:br>
              <a:rPr lang="en-US" dirty="0"/>
            </a:br>
            <a:endParaRPr lang="en-US" dirty="0" smtClean="0">
              <a:latin typeface="Helvetica" pitchFamily="26" charset="0"/>
            </a:endParaRPr>
          </a:p>
          <a:p>
            <a:pPr>
              <a:buNone/>
            </a:pPr>
            <a:endParaRPr lang="en-US" dirty="0" smtClean="0">
              <a:latin typeface="Helvetica" pitchFamily="26" charset="0"/>
            </a:endParaRPr>
          </a:p>
        </p:txBody>
      </p:sp>
    </p:spTree>
    <p:extLst>
      <p:ext uri="{BB962C8B-B14F-4D97-AF65-F5344CB8AC3E}">
        <p14:creationId xmlns:p14="http://schemas.microsoft.com/office/powerpoint/2010/main" val="37648531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Binary Tree Node Class</a:t>
            </a:r>
          </a:p>
        </p:txBody>
      </p:sp>
      <p:graphicFrame>
        <p:nvGraphicFramePr>
          <p:cNvPr id="3" name="Object 2"/>
          <p:cNvGraphicFramePr>
            <a:graphicFrameLocks noChangeAspect="1"/>
          </p:cNvGraphicFramePr>
          <p:nvPr>
            <p:extLst>
              <p:ext uri="{D42A27DB-BD31-4B8C-83A1-F6EECF244321}">
                <p14:modId xmlns:p14="http://schemas.microsoft.com/office/powerpoint/2010/main" val="999423375"/>
              </p:ext>
            </p:extLst>
          </p:nvPr>
        </p:nvGraphicFramePr>
        <p:xfrm>
          <a:off x="2438400" y="1276350"/>
          <a:ext cx="3924300" cy="5080000"/>
        </p:xfrm>
        <a:graphic>
          <a:graphicData uri="http://schemas.openxmlformats.org/presentationml/2006/ole">
            <mc:AlternateContent xmlns:mc="http://schemas.openxmlformats.org/markup-compatibility/2006">
              <mc:Choice xmlns:v="urn:schemas-microsoft-com:vml" Requires="v">
                <p:oleObj spid="_x0000_s93194" name="PDF" r:id="rId4" imgW="0" imgH="360" progId="FoxitReader.Document">
                  <p:embed/>
                </p:oleObj>
              </mc:Choice>
              <mc:Fallback>
                <p:oleObj name="PDF" r:id="rId4" imgW="0" imgH="360" progId="FoxitReader.Document">
                  <p:embed/>
                  <p:pic>
                    <p:nvPicPr>
                      <p:cNvPr id="0" name=""/>
                      <p:cNvPicPr/>
                      <p:nvPr/>
                    </p:nvPicPr>
                    <p:blipFill>
                      <a:blip r:embed="rId5"/>
                      <a:stretch>
                        <a:fillRect/>
                      </a:stretch>
                    </p:blipFill>
                    <p:spPr>
                      <a:xfrm>
                        <a:off x="2438400" y="1276350"/>
                        <a:ext cx="3924300" cy="508000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968979AB-70BA-48AD-824F-24E653075EE2}" type="slidenum">
              <a:rPr lang="en-US" altLang="en-US" sz="1400"/>
              <a:pPr algn="r" eaLnBrk="1" hangingPunct="1"/>
              <a:t>23</a:t>
            </a:fld>
            <a:endParaRPr lang="en-US" altLang="en-US" sz="1400"/>
          </a:p>
        </p:txBody>
      </p:sp>
      <p:sp>
        <p:nvSpPr>
          <p:cNvPr id="47109" name="Rectangle 2"/>
          <p:cNvSpPr>
            <a:spLocks noGrp="1" noChangeArrowheads="1"/>
          </p:cNvSpPr>
          <p:nvPr>
            <p:ph type="title" idx="4294967295"/>
          </p:nvPr>
        </p:nvSpPr>
        <p:spPr>
          <a:xfrm>
            <a:off x="0" y="304800"/>
            <a:ext cx="7772400" cy="1143000"/>
          </a:xfrm>
        </p:spPr>
        <p:txBody>
          <a:bodyPr/>
          <a:lstStyle/>
          <a:p>
            <a:pPr fontAlgn="auto">
              <a:spcAft>
                <a:spcPts val="0"/>
              </a:spcAft>
              <a:defRPr/>
            </a:pPr>
            <a:r>
              <a:rPr lang="en-US" smtClean="0"/>
              <a:t>Traversal of Trees</a:t>
            </a:r>
          </a:p>
        </p:txBody>
      </p:sp>
      <p:sp>
        <p:nvSpPr>
          <p:cNvPr id="22533" name="Rectangle 3" descr="Rectangle: Click to edit Master text styles&#10;Second level&#10;Third level&#10;Fourth level&#10;Fifth level"/>
          <p:cNvSpPr>
            <a:spLocks noChangeArrowheads="1"/>
          </p:cNvSpPr>
          <p:nvPr/>
        </p:nvSpPr>
        <p:spPr bwMode="auto">
          <a:xfrm>
            <a:off x="762000" y="1676400"/>
            <a:ext cx="791368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hlink"/>
              </a:buClr>
              <a:buSzPct val="110000"/>
              <a:buBlip>
                <a:blip r:embed="rId2"/>
              </a:buBlip>
            </a:pPr>
            <a:r>
              <a:rPr lang="en-US" dirty="0">
                <a:latin typeface="Helvetica" pitchFamily="26" charset="0"/>
              </a:rPr>
              <a:t>Any process for visiting the nodes in some order is called a traversal.</a:t>
            </a:r>
            <a:endParaRPr lang="en-US" altLang="en-US" dirty="0" smtClean="0"/>
          </a:p>
          <a:p>
            <a:pPr algn="l" eaLnBrk="1" hangingPunct="1">
              <a:spcBef>
                <a:spcPct val="20000"/>
              </a:spcBef>
              <a:buClr>
                <a:schemeClr val="hlink"/>
              </a:buClr>
              <a:buSzPct val="110000"/>
              <a:buFont typeface="Wingdings" panose="05000000000000000000" pitchFamily="2" charset="2"/>
              <a:buBlip>
                <a:blip r:embed="rId2"/>
              </a:buBlip>
            </a:pPr>
            <a:r>
              <a:rPr lang="en-US" altLang="en-US" dirty="0" smtClean="0"/>
              <a:t>A </a:t>
            </a:r>
            <a:r>
              <a:rPr lang="en-US" altLang="en-US" dirty="0"/>
              <a:t>traversal of a tree T is a systematic way of visiting all the nodes of </a:t>
            </a:r>
            <a:r>
              <a:rPr lang="en-US" altLang="en-US" dirty="0" smtClean="0"/>
              <a:t>T</a:t>
            </a:r>
          </a:p>
          <a:p>
            <a:pPr algn="l" eaLnBrk="1" hangingPunct="1">
              <a:spcBef>
                <a:spcPct val="20000"/>
              </a:spcBef>
              <a:buClr>
                <a:schemeClr val="hlink"/>
              </a:buClr>
              <a:buSzPct val="110000"/>
              <a:buFont typeface="Wingdings" panose="05000000000000000000" pitchFamily="2" charset="2"/>
              <a:buBlip>
                <a:blip r:embed="rId2"/>
              </a:buBlip>
            </a:pPr>
            <a:r>
              <a:rPr lang="en-US" altLang="en-US" dirty="0" smtClean="0"/>
              <a:t>Traversing </a:t>
            </a:r>
            <a:r>
              <a:rPr lang="en-US" altLang="en-US" dirty="0"/>
              <a:t>a tree involves visiting the root</a:t>
            </a:r>
            <a:r>
              <a:rPr lang="tr-TR" altLang="en-US" dirty="0"/>
              <a:t> </a:t>
            </a:r>
            <a:r>
              <a:rPr lang="en-US" altLang="en-US" dirty="0"/>
              <a:t>and traversing its subtrees</a:t>
            </a:r>
          </a:p>
          <a:p>
            <a:pPr algn="l" eaLnBrk="1" hangingPunct="1">
              <a:spcBef>
                <a:spcPct val="20000"/>
              </a:spcBef>
              <a:buClr>
                <a:schemeClr val="hlink"/>
              </a:buClr>
              <a:buSzPct val="110000"/>
              <a:buFont typeface="Wingdings" panose="05000000000000000000" pitchFamily="2" charset="2"/>
              <a:buBlip>
                <a:blip r:embed="rId2"/>
              </a:buBlip>
            </a:pPr>
            <a:r>
              <a:rPr lang="en-US" altLang="en-US" dirty="0" smtClean="0"/>
              <a:t>Mainly, there </a:t>
            </a:r>
            <a:r>
              <a:rPr lang="en-US" altLang="en-US" dirty="0"/>
              <a:t>are the following traversal methods:</a:t>
            </a:r>
          </a:p>
          <a:p>
            <a:pPr lvl="1" algn="l" eaLnBrk="1" hangingPunct="1">
              <a:spcBef>
                <a:spcPct val="20000"/>
              </a:spcBef>
              <a:buClr>
                <a:schemeClr val="tx1"/>
              </a:buClr>
              <a:buSzPct val="60000"/>
              <a:buFont typeface="Wingdings" panose="05000000000000000000" pitchFamily="2" charset="2"/>
              <a:buChar char="n"/>
            </a:pPr>
            <a:r>
              <a:rPr lang="en-US" altLang="en-US" sz="2200" dirty="0"/>
              <a:t>Preorder </a:t>
            </a:r>
            <a:r>
              <a:rPr lang="en-US" altLang="en-US" sz="2200" dirty="0" smtClean="0"/>
              <a:t>Traversal (applicable for any tree)</a:t>
            </a:r>
            <a:endParaRPr lang="en-US" altLang="en-US" sz="2200" dirty="0"/>
          </a:p>
          <a:p>
            <a:pPr lvl="1" eaLnBrk="1" hangingPunct="1">
              <a:spcBef>
                <a:spcPct val="20000"/>
              </a:spcBef>
              <a:buClr>
                <a:schemeClr val="tx1"/>
              </a:buClr>
              <a:buSzPct val="60000"/>
              <a:buFont typeface="Wingdings" panose="05000000000000000000" pitchFamily="2" charset="2"/>
              <a:buChar char="n"/>
            </a:pPr>
            <a:r>
              <a:rPr lang="en-US" altLang="en-US" sz="2200" dirty="0" err="1"/>
              <a:t>Postorder</a:t>
            </a:r>
            <a:r>
              <a:rPr lang="en-US" altLang="en-US" sz="2200" dirty="0"/>
              <a:t> </a:t>
            </a:r>
            <a:r>
              <a:rPr lang="en-US" altLang="en-US" sz="2200" dirty="0" smtClean="0"/>
              <a:t>Traversal </a:t>
            </a:r>
            <a:r>
              <a:rPr lang="en-US" altLang="en-US" sz="2200" dirty="0"/>
              <a:t>(applicable for any tree)</a:t>
            </a:r>
            <a:endParaRPr lang="en-US" altLang="en-US" sz="2200" i="1" dirty="0"/>
          </a:p>
          <a:p>
            <a:pPr lvl="1" algn="l" eaLnBrk="1" hangingPunct="1">
              <a:spcBef>
                <a:spcPct val="20000"/>
              </a:spcBef>
              <a:buClr>
                <a:schemeClr val="tx1"/>
              </a:buClr>
              <a:buSzPct val="60000"/>
              <a:buFont typeface="Wingdings" panose="05000000000000000000" pitchFamily="2" charset="2"/>
              <a:buChar char="n"/>
            </a:pPr>
            <a:r>
              <a:rPr lang="en-US" altLang="en-US" sz="2200" dirty="0" err="1"/>
              <a:t>Inorder</a:t>
            </a:r>
            <a:r>
              <a:rPr lang="en-US" altLang="en-US" sz="2200" dirty="0"/>
              <a:t> Traversal (</a:t>
            </a:r>
            <a:r>
              <a:rPr lang="en-US" altLang="en-US" sz="2200" dirty="0">
                <a:solidFill>
                  <a:srgbClr val="006600"/>
                </a:solidFill>
              </a:rPr>
              <a:t>of a binary tree</a:t>
            </a:r>
            <a:r>
              <a:rPr lang="en-US" altLang="en-US" sz="2200" dirty="0" smtClean="0"/>
              <a:t>)</a:t>
            </a:r>
          </a:p>
          <a:p>
            <a:pPr eaLnBrk="1" hangingPunct="1">
              <a:spcBef>
                <a:spcPct val="20000"/>
              </a:spcBef>
              <a:buClr>
                <a:schemeClr val="tx1"/>
              </a:buClr>
              <a:buSzPct val="60000"/>
              <a:buFont typeface="Wingdings" panose="05000000000000000000" pitchFamily="2" charset="2"/>
              <a:buChar char="n"/>
            </a:pPr>
            <a:r>
              <a:rPr lang="en-US" altLang="en-US" sz="2200" dirty="0" smtClean="0"/>
              <a:t>Any </a:t>
            </a:r>
            <a:r>
              <a:rPr lang="en-US" altLang="en-US" sz="2200" dirty="0"/>
              <a:t>traversal that lists every node in the tree exactly once is called an enumeration of the tree’s nodes.</a:t>
            </a:r>
          </a:p>
          <a:p>
            <a:pPr lvl="1" eaLnBrk="1" hangingPunct="1">
              <a:spcBef>
                <a:spcPct val="20000"/>
              </a:spcBef>
              <a:buClr>
                <a:schemeClr val="tx1"/>
              </a:buClr>
              <a:buSzPct val="60000"/>
              <a:buFont typeface="Wingdings" panose="05000000000000000000" pitchFamily="2" charset="2"/>
              <a:buChar char="n"/>
            </a:pPr>
            <a:endParaRPr lang="en-US" altLang="en-US" sz="2200" dirty="0"/>
          </a:p>
          <a:p>
            <a:pPr lvl="1" algn="l" eaLnBrk="1" hangingPunct="1">
              <a:spcBef>
                <a:spcPct val="20000"/>
              </a:spcBef>
              <a:buClr>
                <a:schemeClr val="tx1"/>
              </a:buClr>
              <a:buSzPct val="60000"/>
              <a:buFont typeface="Wingdings" panose="05000000000000000000" pitchFamily="2" charset="2"/>
              <a:buChar char="n"/>
            </a:pPr>
            <a:endParaRPr lang="en-US" altLang="en-US" sz="2200" dirty="0"/>
          </a:p>
        </p:txBody>
      </p:sp>
    </p:spTree>
    <p:extLst>
      <p:ext uri="{BB962C8B-B14F-4D97-AF65-F5344CB8AC3E}">
        <p14:creationId xmlns:p14="http://schemas.microsoft.com/office/powerpoint/2010/main" val="13834560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p:txBody>
          <a:bodyPr/>
          <a:lstStyle/>
          <a:p>
            <a:pPr fontAlgn="auto">
              <a:spcAft>
                <a:spcPts val="0"/>
              </a:spcAft>
              <a:defRPr/>
            </a:pPr>
            <a:r>
              <a:rPr lang="en-US" smtClean="0"/>
              <a:t>Preorder Traversal</a:t>
            </a:r>
          </a:p>
        </p:txBody>
      </p:sp>
      <p:sp>
        <p:nvSpPr>
          <p:cNvPr id="23555" name="Rectangle 3" descr="Rectangle: Click to edit Master text styles&#10;Second level&#10;Third level&#10;Fourth level&#10;Fifth level"/>
          <p:cNvSpPr>
            <a:spLocks noGrp="1" noChangeArrowheads="1"/>
          </p:cNvSpPr>
          <p:nvPr>
            <p:ph sz="quarter" idx="1"/>
          </p:nvPr>
        </p:nvSpPr>
        <p:spPr>
          <a:xfrm>
            <a:off x="427831" y="1136650"/>
            <a:ext cx="4467225" cy="2260600"/>
          </a:xfrm>
        </p:spPr>
        <p:txBody>
          <a:bodyPr/>
          <a:lstStyle/>
          <a:p>
            <a:pPr>
              <a:lnSpc>
                <a:spcPct val="90000"/>
              </a:lnSpc>
            </a:pPr>
            <a:r>
              <a:rPr lang="en-US" altLang="en-US" sz="2200" dirty="0" smtClean="0"/>
              <a:t>In a preorder traversal, a node is visited before its descendants </a:t>
            </a:r>
          </a:p>
          <a:p>
            <a:pPr>
              <a:lnSpc>
                <a:spcPct val="90000"/>
              </a:lnSpc>
              <a:spcBef>
                <a:spcPct val="50000"/>
              </a:spcBef>
            </a:pPr>
            <a:r>
              <a:rPr lang="en-US" altLang="en-US" sz="2200" dirty="0" smtClean="0"/>
              <a:t>If a tree is ordered, then the subtrees are traversed according to the order of the children</a:t>
            </a:r>
          </a:p>
          <a:p>
            <a:pPr>
              <a:lnSpc>
                <a:spcPct val="90000"/>
              </a:lnSpc>
              <a:spcBef>
                <a:spcPct val="50000"/>
              </a:spcBef>
            </a:pPr>
            <a:r>
              <a:rPr lang="en-US" altLang="en-US" sz="2200" dirty="0" smtClean="0"/>
              <a:t>We assume a left to right order</a:t>
            </a:r>
          </a:p>
        </p:txBody>
      </p:sp>
      <p:sp>
        <p:nvSpPr>
          <p:cNvPr id="23558" name="AutoShape 5"/>
          <p:cNvSpPr>
            <a:spLocks noChangeAspect="1" noChangeArrowheads="1"/>
          </p:cNvSpPr>
          <p:nvPr/>
        </p:nvSpPr>
        <p:spPr bwMode="auto">
          <a:xfrm>
            <a:off x="4498975" y="3390900"/>
            <a:ext cx="338138"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A</a:t>
            </a:r>
          </a:p>
        </p:txBody>
      </p:sp>
      <p:sp>
        <p:nvSpPr>
          <p:cNvPr id="23559" name="AutoShape 6"/>
          <p:cNvSpPr>
            <a:spLocks noChangeAspect="1" noChangeArrowheads="1"/>
          </p:cNvSpPr>
          <p:nvPr/>
        </p:nvSpPr>
        <p:spPr bwMode="auto">
          <a:xfrm>
            <a:off x="1660525" y="4305300"/>
            <a:ext cx="334963"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B</a:t>
            </a:r>
          </a:p>
        </p:txBody>
      </p:sp>
      <p:sp>
        <p:nvSpPr>
          <p:cNvPr id="23560" name="AutoShape 7"/>
          <p:cNvSpPr>
            <a:spLocks noChangeAspect="1" noChangeArrowheads="1"/>
          </p:cNvSpPr>
          <p:nvPr/>
        </p:nvSpPr>
        <p:spPr bwMode="auto">
          <a:xfrm>
            <a:off x="7751763" y="4303713"/>
            <a:ext cx="355600" cy="369887"/>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D</a:t>
            </a:r>
          </a:p>
        </p:txBody>
      </p:sp>
      <p:sp>
        <p:nvSpPr>
          <p:cNvPr id="23561" name="AutoShape 8"/>
          <p:cNvSpPr>
            <a:spLocks noChangeAspect="1" noChangeArrowheads="1"/>
          </p:cNvSpPr>
          <p:nvPr/>
        </p:nvSpPr>
        <p:spPr bwMode="auto">
          <a:xfrm>
            <a:off x="5591175" y="4305300"/>
            <a:ext cx="338138"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C</a:t>
            </a:r>
          </a:p>
        </p:txBody>
      </p:sp>
      <p:sp>
        <p:nvSpPr>
          <p:cNvPr id="23562" name="AutoShape 9"/>
          <p:cNvSpPr>
            <a:spLocks noChangeAspect="1" noChangeArrowheads="1"/>
          </p:cNvSpPr>
          <p:nvPr/>
        </p:nvSpPr>
        <p:spPr bwMode="auto">
          <a:xfrm>
            <a:off x="4062413" y="5213350"/>
            <a:ext cx="287337" cy="363538"/>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I</a:t>
            </a:r>
          </a:p>
        </p:txBody>
      </p:sp>
      <p:sp>
        <p:nvSpPr>
          <p:cNvPr id="23563" name="AutoShape 10"/>
          <p:cNvSpPr>
            <a:spLocks noChangeAspect="1" noChangeArrowheads="1"/>
          </p:cNvSpPr>
          <p:nvPr/>
        </p:nvSpPr>
        <p:spPr bwMode="auto">
          <a:xfrm>
            <a:off x="5588000" y="5210175"/>
            <a:ext cx="352425" cy="369888"/>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G</a:t>
            </a:r>
          </a:p>
        </p:txBody>
      </p:sp>
      <p:sp>
        <p:nvSpPr>
          <p:cNvPr id="23564" name="AutoShape 11"/>
          <p:cNvSpPr>
            <a:spLocks noChangeAspect="1" noChangeArrowheads="1"/>
          </p:cNvSpPr>
          <p:nvPr/>
        </p:nvSpPr>
        <p:spPr bwMode="auto">
          <a:xfrm>
            <a:off x="930275" y="5211763"/>
            <a:ext cx="330200"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E</a:t>
            </a:r>
          </a:p>
        </p:txBody>
      </p:sp>
      <p:sp>
        <p:nvSpPr>
          <p:cNvPr id="23565" name="AutoShape 12"/>
          <p:cNvSpPr>
            <a:spLocks noChangeAspect="1" noChangeArrowheads="1"/>
          </p:cNvSpPr>
          <p:nvPr/>
        </p:nvSpPr>
        <p:spPr bwMode="auto">
          <a:xfrm>
            <a:off x="2471738" y="5211763"/>
            <a:ext cx="320675" cy="366712"/>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F</a:t>
            </a:r>
          </a:p>
        </p:txBody>
      </p:sp>
      <p:cxnSp>
        <p:nvCxnSpPr>
          <p:cNvPr id="23566" name="AutoShape 13"/>
          <p:cNvCxnSpPr>
            <a:cxnSpLocks noChangeShapeType="1"/>
            <a:stCxn id="23558" idx="2"/>
            <a:endCxn id="23559" idx="0"/>
          </p:cNvCxnSpPr>
          <p:nvPr/>
        </p:nvCxnSpPr>
        <p:spPr bwMode="auto">
          <a:xfrm flipH="1">
            <a:off x="1828800" y="3768725"/>
            <a:ext cx="2840038" cy="5270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7" name="AutoShape 14"/>
          <p:cNvCxnSpPr>
            <a:cxnSpLocks noChangeShapeType="1"/>
            <a:stCxn id="23558" idx="2"/>
            <a:endCxn id="23561" idx="0"/>
          </p:cNvCxnSpPr>
          <p:nvPr/>
        </p:nvCxnSpPr>
        <p:spPr bwMode="auto">
          <a:xfrm>
            <a:off x="4668838" y="3768725"/>
            <a:ext cx="1092200" cy="5270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8" name="AutoShape 15"/>
          <p:cNvCxnSpPr>
            <a:cxnSpLocks noChangeShapeType="1"/>
            <a:stCxn id="23558" idx="2"/>
            <a:endCxn id="23560" idx="0"/>
          </p:cNvCxnSpPr>
          <p:nvPr/>
        </p:nvCxnSpPr>
        <p:spPr bwMode="auto">
          <a:xfrm>
            <a:off x="4668838" y="3768725"/>
            <a:ext cx="3260725" cy="52546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9" name="AutoShape 16"/>
          <p:cNvCxnSpPr>
            <a:cxnSpLocks noChangeShapeType="1"/>
            <a:stCxn id="23561" idx="2"/>
            <a:endCxn id="23563" idx="0"/>
          </p:cNvCxnSpPr>
          <p:nvPr/>
        </p:nvCxnSpPr>
        <p:spPr bwMode="auto">
          <a:xfrm>
            <a:off x="5761038" y="4683125"/>
            <a:ext cx="3175" cy="51752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70" name="AutoShape 17"/>
          <p:cNvCxnSpPr>
            <a:cxnSpLocks noChangeShapeType="1"/>
            <a:stCxn id="23561" idx="2"/>
            <a:endCxn id="23562" idx="0"/>
          </p:cNvCxnSpPr>
          <p:nvPr/>
        </p:nvCxnSpPr>
        <p:spPr bwMode="auto">
          <a:xfrm flipH="1">
            <a:off x="4206875" y="4683125"/>
            <a:ext cx="1554163" cy="52070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71" name="AutoShape 18"/>
          <p:cNvCxnSpPr>
            <a:cxnSpLocks noChangeShapeType="1"/>
            <a:stCxn id="23559" idx="2"/>
            <a:endCxn id="23565" idx="0"/>
          </p:cNvCxnSpPr>
          <p:nvPr/>
        </p:nvCxnSpPr>
        <p:spPr bwMode="auto">
          <a:xfrm>
            <a:off x="1828800" y="4683125"/>
            <a:ext cx="803275" cy="51911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72" name="AutoShape 19"/>
          <p:cNvCxnSpPr>
            <a:cxnSpLocks noChangeShapeType="1"/>
            <a:stCxn id="23559" idx="2"/>
            <a:endCxn id="23564" idx="0"/>
          </p:cNvCxnSpPr>
          <p:nvPr/>
        </p:nvCxnSpPr>
        <p:spPr bwMode="auto">
          <a:xfrm flipH="1">
            <a:off x="1095375" y="4683125"/>
            <a:ext cx="733425" cy="51911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23573" name="AutoShape 27"/>
          <p:cNvSpPr>
            <a:spLocks noChangeAspect="1" noChangeArrowheads="1"/>
          </p:cNvSpPr>
          <p:nvPr/>
        </p:nvSpPr>
        <p:spPr bwMode="auto">
          <a:xfrm>
            <a:off x="6958013" y="5208588"/>
            <a:ext cx="354012" cy="369887"/>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H</a:t>
            </a:r>
          </a:p>
        </p:txBody>
      </p:sp>
      <p:cxnSp>
        <p:nvCxnSpPr>
          <p:cNvPr id="23574" name="AutoShape 28"/>
          <p:cNvCxnSpPr>
            <a:cxnSpLocks noChangeShapeType="1"/>
            <a:stCxn id="23561" idx="2"/>
            <a:endCxn id="23573" idx="0"/>
          </p:cNvCxnSpPr>
          <p:nvPr/>
        </p:nvCxnSpPr>
        <p:spPr bwMode="auto">
          <a:xfrm>
            <a:off x="5761038" y="4683125"/>
            <a:ext cx="1374775" cy="51593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8225" name="Text Box 38"/>
          <p:cNvSpPr txBox="1">
            <a:spLocks noChangeArrowheads="1"/>
          </p:cNvSpPr>
          <p:nvPr/>
        </p:nvSpPr>
        <p:spPr bwMode="auto">
          <a:xfrm>
            <a:off x="5181600" y="1676400"/>
            <a:ext cx="3352800" cy="16351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eaLnBrk="1" hangingPunct="1">
              <a:lnSpc>
                <a:spcPct val="90000"/>
              </a:lnSpc>
              <a:spcBef>
                <a:spcPct val="20000"/>
              </a:spcBef>
              <a:buClr>
                <a:schemeClr val="hlink"/>
              </a:buClr>
              <a:buSzPct val="110000"/>
              <a:buFont typeface="Wingdings" panose="05000000000000000000" pitchFamily="2" charset="2"/>
              <a:buNone/>
            </a:pPr>
            <a:r>
              <a:rPr lang="en-US" altLang="en-US" b="1" dirty="0">
                <a:solidFill>
                  <a:srgbClr val="000000"/>
                </a:solidFill>
                <a:latin typeface="Times New Roman" panose="02020603050405020304" pitchFamily="18" charset="0"/>
              </a:rPr>
              <a:t>Algorithm</a:t>
            </a:r>
            <a:r>
              <a:rPr lang="en-US" altLang="en-US" dirty="0">
                <a:latin typeface="Times New Roman" panose="02020603050405020304" pitchFamily="18" charset="0"/>
              </a:rPr>
              <a:t> </a:t>
            </a:r>
            <a:r>
              <a:rPr lang="en-US" altLang="en-US" b="1" i="1" dirty="0" err="1">
                <a:solidFill>
                  <a:schemeClr val="tx2"/>
                </a:solidFill>
                <a:latin typeface="Times New Roman" panose="02020603050405020304" pitchFamily="18" charset="0"/>
              </a:rPr>
              <a:t>preOrder</a:t>
            </a:r>
            <a:r>
              <a:rPr lang="en-US" altLang="en-US" dirty="0">
                <a:solidFill>
                  <a:schemeClr val="tx2"/>
                </a:solidFill>
                <a:latin typeface="Times New Roman" panose="02020603050405020304" pitchFamily="18" charset="0"/>
              </a:rPr>
              <a:t>(</a:t>
            </a:r>
            <a:r>
              <a:rPr lang="en-US" altLang="en-US" b="1" i="1" dirty="0">
                <a:solidFill>
                  <a:schemeClr val="tx2"/>
                </a:solidFill>
                <a:latin typeface="Times New Roman" panose="02020603050405020304" pitchFamily="18" charset="0"/>
              </a:rPr>
              <a:t>v</a:t>
            </a:r>
            <a:r>
              <a:rPr lang="en-US" altLang="en-US" dirty="0">
                <a:solidFill>
                  <a:schemeClr val="tx2"/>
                </a:solidFill>
                <a:latin typeface="Times New Roman" panose="02020603050405020304" pitchFamily="18" charset="0"/>
              </a:rPr>
              <a:t>)</a:t>
            </a:r>
            <a:endParaRPr lang="en-US" altLang="en-US" dirty="0">
              <a:latin typeface="Times New Roman" panose="02020603050405020304" pitchFamily="18" charset="0"/>
            </a:endParaRPr>
          </a:p>
          <a:p>
            <a:pPr lvl="1" algn="l" eaLnBrk="1" hangingPunct="1">
              <a:lnSpc>
                <a:spcPct val="90000"/>
              </a:lnSpc>
              <a:spcBef>
                <a:spcPct val="20000"/>
              </a:spcBef>
              <a:buClr>
                <a:schemeClr val="tx1"/>
              </a:buClr>
              <a:buSzPct val="60000"/>
              <a:buFont typeface="Wingdings" panose="05000000000000000000" pitchFamily="2" charset="2"/>
              <a:buNone/>
            </a:pPr>
            <a:r>
              <a:rPr lang="en-US" altLang="en-US" b="1" i="1" dirty="0">
                <a:solidFill>
                  <a:schemeClr val="accent2"/>
                </a:solidFill>
                <a:latin typeface="Times New Roman" panose="02020603050405020304" pitchFamily="18" charset="0"/>
              </a:rPr>
              <a:t>visit</a:t>
            </a:r>
            <a:r>
              <a:rPr lang="en-US" altLang="en-US" dirty="0">
                <a:solidFill>
                  <a:schemeClr val="accent2"/>
                </a:solidFill>
                <a:latin typeface="Times New Roman" panose="02020603050405020304" pitchFamily="18" charset="0"/>
              </a:rPr>
              <a:t>(</a:t>
            </a:r>
            <a:r>
              <a:rPr lang="en-US" altLang="en-US" b="1" i="1" dirty="0">
                <a:solidFill>
                  <a:schemeClr val="accent2"/>
                </a:solidFill>
                <a:latin typeface="Times New Roman" panose="02020603050405020304" pitchFamily="18" charset="0"/>
              </a:rPr>
              <a:t>v</a:t>
            </a:r>
            <a:r>
              <a:rPr lang="en-US" altLang="en-US" dirty="0">
                <a:solidFill>
                  <a:schemeClr val="accent2"/>
                </a:solidFill>
                <a:latin typeface="Times New Roman" panose="02020603050405020304" pitchFamily="18" charset="0"/>
              </a:rPr>
              <a:t>)</a:t>
            </a:r>
            <a:endParaRPr lang="en-US" altLang="en-US" b="1" i="1" dirty="0">
              <a:solidFill>
                <a:schemeClr val="accent2"/>
              </a:solidFill>
              <a:latin typeface="Times New Roman" panose="02020603050405020304" pitchFamily="18" charset="0"/>
            </a:endParaRPr>
          </a:p>
          <a:p>
            <a:pPr lvl="1" algn="l" eaLnBrk="1" hangingPunct="1">
              <a:lnSpc>
                <a:spcPct val="90000"/>
              </a:lnSpc>
              <a:spcBef>
                <a:spcPct val="20000"/>
              </a:spcBef>
              <a:buClr>
                <a:schemeClr val="tx1"/>
              </a:buClr>
              <a:buSzPct val="60000"/>
              <a:buFont typeface="Wingdings" panose="05000000000000000000" pitchFamily="2" charset="2"/>
              <a:buNone/>
            </a:pPr>
            <a:r>
              <a:rPr lang="en-US" altLang="en-US" b="1" dirty="0">
                <a:solidFill>
                  <a:srgbClr val="000000"/>
                </a:solidFill>
                <a:latin typeface="Times New Roman" panose="02020603050405020304" pitchFamily="18" charset="0"/>
              </a:rPr>
              <a:t>for</a:t>
            </a:r>
            <a:r>
              <a:rPr lang="en-US" altLang="en-US" dirty="0">
                <a:solidFill>
                  <a:srgbClr val="000000"/>
                </a:solidFill>
                <a:latin typeface="Times New Roman" panose="02020603050405020304" pitchFamily="18" charset="0"/>
              </a:rPr>
              <a:t> </a:t>
            </a:r>
            <a:r>
              <a:rPr lang="en-US" altLang="en-US" b="1" dirty="0">
                <a:solidFill>
                  <a:srgbClr val="000000"/>
                </a:solidFill>
                <a:latin typeface="Times New Roman" panose="02020603050405020304" pitchFamily="18" charset="0"/>
              </a:rPr>
              <a:t>each</a:t>
            </a:r>
            <a:r>
              <a:rPr lang="en-US" altLang="en-US" dirty="0">
                <a:latin typeface="Times New Roman" panose="02020603050405020304" pitchFamily="18" charset="0"/>
              </a:rPr>
              <a:t> </a:t>
            </a:r>
            <a:r>
              <a:rPr lang="en-US" altLang="en-US" dirty="0">
                <a:solidFill>
                  <a:schemeClr val="accent2"/>
                </a:solidFill>
                <a:latin typeface="Times New Roman" panose="02020603050405020304" pitchFamily="18" charset="0"/>
              </a:rPr>
              <a:t>child </a:t>
            </a:r>
            <a:r>
              <a:rPr lang="en-US" altLang="en-US" b="1" i="1" dirty="0">
                <a:solidFill>
                  <a:schemeClr val="accent2"/>
                </a:solidFill>
                <a:latin typeface="Times New Roman" panose="02020603050405020304" pitchFamily="18" charset="0"/>
              </a:rPr>
              <a:t>w</a:t>
            </a:r>
            <a:r>
              <a:rPr lang="en-US" altLang="en-US" dirty="0">
                <a:solidFill>
                  <a:schemeClr val="accent2"/>
                </a:solidFill>
                <a:latin typeface="Times New Roman" panose="02020603050405020304" pitchFamily="18" charset="0"/>
              </a:rPr>
              <a:t> of </a:t>
            </a:r>
            <a:r>
              <a:rPr lang="en-US" altLang="en-US" b="1" i="1" dirty="0">
                <a:solidFill>
                  <a:schemeClr val="accent2"/>
                </a:solidFill>
                <a:latin typeface="Times New Roman" panose="02020603050405020304" pitchFamily="18" charset="0"/>
              </a:rPr>
              <a:t>v</a:t>
            </a:r>
          </a:p>
          <a:p>
            <a:pPr lvl="1" algn="l" eaLnBrk="1" hangingPunct="1">
              <a:lnSpc>
                <a:spcPct val="90000"/>
              </a:lnSpc>
              <a:spcBef>
                <a:spcPct val="20000"/>
              </a:spcBef>
              <a:buClr>
                <a:schemeClr val="tx1"/>
              </a:buClr>
              <a:buSzPct val="60000"/>
              <a:buFont typeface="Wingdings" panose="05000000000000000000" pitchFamily="2" charset="2"/>
              <a:buNone/>
            </a:pPr>
            <a:r>
              <a:rPr lang="en-US" altLang="en-US" b="1" i="1" dirty="0">
                <a:solidFill>
                  <a:schemeClr val="accent2"/>
                </a:solidFill>
                <a:latin typeface="Times New Roman" panose="02020603050405020304" pitchFamily="18" charset="0"/>
              </a:rPr>
              <a:t>	</a:t>
            </a:r>
            <a:r>
              <a:rPr lang="en-US" altLang="en-US" b="1" i="1" dirty="0" err="1" smtClean="0">
                <a:solidFill>
                  <a:schemeClr val="accent2"/>
                </a:solidFill>
                <a:latin typeface="Times New Roman" panose="02020603050405020304" pitchFamily="18" charset="0"/>
              </a:rPr>
              <a:t>preOrder</a:t>
            </a:r>
            <a:r>
              <a:rPr lang="en-US" altLang="en-US" dirty="0" smtClean="0">
                <a:solidFill>
                  <a:schemeClr val="accent2"/>
                </a:solidFill>
                <a:latin typeface="Times New Roman" panose="02020603050405020304" pitchFamily="18" charset="0"/>
              </a:rPr>
              <a:t> </a:t>
            </a:r>
            <a:r>
              <a:rPr lang="en-US" altLang="en-US" dirty="0">
                <a:solidFill>
                  <a:schemeClr val="accent2"/>
                </a:solidFill>
                <a:latin typeface="Times New Roman" panose="02020603050405020304" pitchFamily="18" charset="0"/>
              </a:rPr>
              <a:t>(</a:t>
            </a:r>
            <a:r>
              <a:rPr lang="en-US" altLang="en-US" b="1" i="1" dirty="0">
                <a:solidFill>
                  <a:schemeClr val="accent2"/>
                </a:solidFill>
                <a:latin typeface="Times New Roman" panose="02020603050405020304" pitchFamily="18" charset="0"/>
              </a:rPr>
              <a:t>w</a:t>
            </a:r>
            <a:r>
              <a:rPr lang="en-US" altLang="en-US" dirty="0">
                <a:solidFill>
                  <a:schemeClr val="accent2"/>
                </a:solidFill>
                <a:latin typeface="Times New Roman" panose="02020603050405020304" pitchFamily="18" charset="0"/>
              </a:rPr>
              <a:t>)</a:t>
            </a:r>
          </a:p>
        </p:txBody>
      </p:sp>
      <p:grpSp>
        <p:nvGrpSpPr>
          <p:cNvPr id="2" name="Group 37"/>
          <p:cNvGrpSpPr>
            <a:grpSpLocks/>
          </p:cNvGrpSpPr>
          <p:nvPr/>
        </p:nvGrpSpPr>
        <p:grpSpPr bwMode="auto">
          <a:xfrm>
            <a:off x="900113" y="3357563"/>
            <a:ext cx="7227887" cy="3049587"/>
            <a:chOff x="567" y="2115"/>
            <a:chExt cx="4553" cy="1921"/>
          </a:xfrm>
        </p:grpSpPr>
        <p:sp>
          <p:nvSpPr>
            <p:cNvPr id="23577" name="Text Box 29"/>
            <p:cNvSpPr txBox="1">
              <a:spLocks noChangeArrowheads="1"/>
            </p:cNvSpPr>
            <p:nvPr/>
          </p:nvSpPr>
          <p:spPr bwMode="auto">
            <a:xfrm>
              <a:off x="2511" y="2115"/>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1</a:t>
              </a:r>
            </a:p>
          </p:txBody>
        </p:sp>
        <p:sp>
          <p:nvSpPr>
            <p:cNvPr id="23578" name="Text Box 30"/>
            <p:cNvSpPr txBox="1">
              <a:spLocks noChangeArrowheads="1"/>
            </p:cNvSpPr>
            <p:nvPr/>
          </p:nvSpPr>
          <p:spPr bwMode="auto">
            <a:xfrm>
              <a:off x="1029" y="2499"/>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2</a:t>
              </a:r>
            </a:p>
          </p:txBody>
        </p:sp>
        <p:sp>
          <p:nvSpPr>
            <p:cNvPr id="23579" name="Text Box 31"/>
            <p:cNvSpPr txBox="1">
              <a:spLocks noChangeArrowheads="1"/>
            </p:cNvSpPr>
            <p:nvPr/>
          </p:nvSpPr>
          <p:spPr bwMode="auto">
            <a:xfrm>
              <a:off x="567" y="3051"/>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3</a:t>
              </a:r>
            </a:p>
          </p:txBody>
        </p:sp>
        <p:sp>
          <p:nvSpPr>
            <p:cNvPr id="23580" name="Text Box 32"/>
            <p:cNvSpPr txBox="1">
              <a:spLocks noChangeArrowheads="1"/>
            </p:cNvSpPr>
            <p:nvPr/>
          </p:nvSpPr>
          <p:spPr bwMode="auto">
            <a:xfrm>
              <a:off x="3328" y="2614"/>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5</a:t>
              </a:r>
            </a:p>
          </p:txBody>
        </p:sp>
        <p:sp>
          <p:nvSpPr>
            <p:cNvPr id="23581" name="Text Box 33"/>
            <p:cNvSpPr txBox="1">
              <a:spLocks noChangeArrowheads="1"/>
            </p:cNvSpPr>
            <p:nvPr/>
          </p:nvSpPr>
          <p:spPr bwMode="auto">
            <a:xfrm>
              <a:off x="1575" y="3051"/>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4</a:t>
              </a:r>
            </a:p>
          </p:txBody>
        </p:sp>
        <p:sp>
          <p:nvSpPr>
            <p:cNvPr id="23582" name="Text Box 34"/>
            <p:cNvSpPr txBox="1">
              <a:spLocks noChangeArrowheads="1"/>
            </p:cNvSpPr>
            <p:nvPr/>
          </p:nvSpPr>
          <p:spPr bwMode="auto">
            <a:xfrm>
              <a:off x="2535" y="3045"/>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6</a:t>
              </a:r>
            </a:p>
          </p:txBody>
        </p:sp>
        <p:sp>
          <p:nvSpPr>
            <p:cNvPr id="23583" name="Text Box 35"/>
            <p:cNvSpPr txBox="1">
              <a:spLocks noChangeArrowheads="1"/>
            </p:cNvSpPr>
            <p:nvPr/>
          </p:nvSpPr>
          <p:spPr bwMode="auto">
            <a:xfrm>
              <a:off x="3405" y="3045"/>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7</a:t>
              </a:r>
            </a:p>
          </p:txBody>
        </p:sp>
        <p:sp>
          <p:nvSpPr>
            <p:cNvPr id="23584" name="Text Box 36"/>
            <p:cNvSpPr txBox="1">
              <a:spLocks noChangeArrowheads="1"/>
            </p:cNvSpPr>
            <p:nvPr/>
          </p:nvSpPr>
          <p:spPr bwMode="auto">
            <a:xfrm>
              <a:off x="4413" y="3045"/>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8</a:t>
              </a:r>
            </a:p>
          </p:txBody>
        </p:sp>
        <p:sp>
          <p:nvSpPr>
            <p:cNvPr id="23585" name="Text Box 37"/>
            <p:cNvSpPr txBox="1">
              <a:spLocks noChangeArrowheads="1"/>
            </p:cNvSpPr>
            <p:nvPr/>
          </p:nvSpPr>
          <p:spPr bwMode="auto">
            <a:xfrm>
              <a:off x="4917" y="2499"/>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9</a:t>
              </a:r>
            </a:p>
          </p:txBody>
        </p:sp>
        <p:sp>
          <p:nvSpPr>
            <p:cNvPr id="23586" name="Rectangle 36"/>
            <p:cNvSpPr>
              <a:spLocks noChangeArrowheads="1"/>
            </p:cNvSpPr>
            <p:nvPr/>
          </p:nvSpPr>
          <p:spPr bwMode="auto">
            <a:xfrm>
              <a:off x="1749" y="3748"/>
              <a:ext cx="21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solidFill>
                    <a:schemeClr val="tx2"/>
                  </a:solidFill>
                  <a:latin typeface="Arial" panose="020B0604020202020204" pitchFamily="34" charset="0"/>
                  <a:cs typeface="Arial" panose="020B0604020202020204" pitchFamily="34" charset="0"/>
                </a:rPr>
                <a:t>Preorder</a:t>
              </a:r>
              <a:r>
                <a:rPr lang="en-US" altLang="en-US" b="1" i="1">
                  <a:solidFill>
                    <a:schemeClr val="tx2"/>
                  </a:solidFill>
                  <a:latin typeface="Arial" panose="020B0604020202020204" pitchFamily="34" charset="0"/>
                  <a:cs typeface="Arial" panose="020B0604020202020204" pitchFamily="34" charset="0"/>
                </a:rPr>
                <a:t>: ABEFCIGHD</a:t>
              </a:r>
            </a:p>
          </p:txBody>
        </p:sp>
      </p:grpSp>
      <p:sp>
        <p:nvSpPr>
          <p:cNvPr id="3" name="TextBox 2"/>
          <p:cNvSpPr txBox="1"/>
          <p:nvPr/>
        </p:nvSpPr>
        <p:spPr>
          <a:xfrm>
            <a:off x="6029094" y="6324600"/>
            <a:ext cx="2918235"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Note: this is not a binary tree</a:t>
            </a:r>
            <a:endParaRPr lang="en-US" dirty="0"/>
          </a:p>
        </p:txBody>
      </p:sp>
    </p:spTree>
    <p:extLst>
      <p:ext uri="{BB962C8B-B14F-4D97-AF65-F5344CB8AC3E}">
        <p14:creationId xmlns:p14="http://schemas.microsoft.com/office/powerpoint/2010/main" val="42776898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225"/>
                                        </p:tgtEl>
                                        <p:attrNameLst>
                                          <p:attrName>style.visibility</p:attrName>
                                        </p:attrNameLst>
                                      </p:cBhvr>
                                      <p:to>
                                        <p:strVal val="visible"/>
                                      </p:to>
                                    </p:set>
                                    <p:anim calcmode="lin" valueType="num">
                                      <p:cBhvr additive="base">
                                        <p:cTn id="13" dur="500" fill="hold"/>
                                        <p:tgtEl>
                                          <p:spTgt spid="8225"/>
                                        </p:tgtEl>
                                        <p:attrNameLst>
                                          <p:attrName>ppt_x</p:attrName>
                                        </p:attrNameLst>
                                      </p:cBhvr>
                                      <p:tavLst>
                                        <p:tav tm="0">
                                          <p:val>
                                            <p:strVal val="#ppt_x"/>
                                          </p:val>
                                        </p:tav>
                                        <p:tav tm="100000">
                                          <p:val>
                                            <p:strVal val="#ppt_x"/>
                                          </p:val>
                                        </p:tav>
                                      </p:tavLst>
                                    </p:anim>
                                    <p:anim calcmode="lin" valueType="num">
                                      <p:cBhvr additive="base">
                                        <p:cTn id="14" dur="500" fill="hold"/>
                                        <p:tgtEl>
                                          <p:spTgt spid="82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1026"/>
          <p:cNvSpPr>
            <a:spLocks noGrp="1" noChangeArrowheads="1"/>
          </p:cNvSpPr>
          <p:nvPr>
            <p:ph type="title"/>
          </p:nvPr>
        </p:nvSpPr>
        <p:spPr/>
        <p:txBody>
          <a:bodyPr/>
          <a:lstStyle/>
          <a:p>
            <a:pPr fontAlgn="auto">
              <a:spcAft>
                <a:spcPts val="0"/>
              </a:spcAft>
              <a:defRPr/>
            </a:pPr>
            <a:r>
              <a:rPr lang="en-US" smtClean="0"/>
              <a:t>Postorder Traversal</a:t>
            </a:r>
          </a:p>
        </p:txBody>
      </p:sp>
      <p:sp>
        <p:nvSpPr>
          <p:cNvPr id="24579" name="Rectangle 1027" descr="Rectangle: Click to edit Master text styles&#10;Second level&#10;Third level&#10;Fourth level&#10;Fifth level"/>
          <p:cNvSpPr>
            <a:spLocks noGrp="1" noChangeArrowheads="1"/>
          </p:cNvSpPr>
          <p:nvPr>
            <p:ph sz="quarter" idx="1"/>
          </p:nvPr>
        </p:nvSpPr>
        <p:spPr>
          <a:xfrm>
            <a:off x="838200" y="1557338"/>
            <a:ext cx="4038600" cy="1439862"/>
          </a:xfrm>
        </p:spPr>
        <p:txBody>
          <a:bodyPr/>
          <a:lstStyle/>
          <a:p>
            <a:r>
              <a:rPr lang="en-US" altLang="en-US" sz="2200" smtClean="0"/>
              <a:t>In a postorder traversal, a node is visited after its descendants</a:t>
            </a:r>
          </a:p>
        </p:txBody>
      </p:sp>
      <p:sp>
        <p:nvSpPr>
          <p:cNvPr id="9223" name="Text Box 1028"/>
          <p:cNvSpPr txBox="1">
            <a:spLocks noChangeArrowheads="1"/>
          </p:cNvSpPr>
          <p:nvPr/>
        </p:nvSpPr>
        <p:spPr bwMode="auto">
          <a:xfrm>
            <a:off x="5181600" y="1676400"/>
            <a:ext cx="3352800" cy="16351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eaLnBrk="1" hangingPunct="1">
              <a:lnSpc>
                <a:spcPct val="90000"/>
              </a:lnSpc>
              <a:spcBef>
                <a:spcPct val="20000"/>
              </a:spcBef>
              <a:buClr>
                <a:schemeClr val="hlink"/>
              </a:buClr>
              <a:buSzPct val="110000"/>
              <a:buFont typeface="Wingdings" panose="05000000000000000000" pitchFamily="2" charset="2"/>
              <a:buNone/>
            </a:pPr>
            <a:r>
              <a:rPr lang="en-US" altLang="en-US" b="1">
                <a:solidFill>
                  <a:srgbClr val="000000"/>
                </a:solidFill>
                <a:latin typeface="Times New Roman" panose="02020603050405020304" pitchFamily="18" charset="0"/>
              </a:rPr>
              <a:t>Algorithm</a:t>
            </a:r>
            <a:r>
              <a:rPr lang="en-US" altLang="en-US">
                <a:latin typeface="Times New Roman" panose="02020603050405020304" pitchFamily="18" charset="0"/>
              </a:rPr>
              <a:t> </a:t>
            </a:r>
            <a:r>
              <a:rPr lang="en-US" altLang="en-US" b="1" i="1">
                <a:solidFill>
                  <a:schemeClr val="tx2"/>
                </a:solidFill>
                <a:latin typeface="Times New Roman" panose="02020603050405020304" pitchFamily="18" charset="0"/>
              </a:rPr>
              <a:t>postOrder</a:t>
            </a:r>
            <a:r>
              <a:rPr lang="en-US" altLang="en-US">
                <a:solidFill>
                  <a:schemeClr val="tx2"/>
                </a:solidFill>
                <a:latin typeface="Times New Roman" panose="02020603050405020304" pitchFamily="18" charset="0"/>
              </a:rPr>
              <a:t>(</a:t>
            </a:r>
            <a:r>
              <a:rPr lang="en-US" altLang="en-US" b="1" i="1">
                <a:solidFill>
                  <a:schemeClr val="tx2"/>
                </a:solidFill>
                <a:latin typeface="Times New Roman" panose="02020603050405020304" pitchFamily="18" charset="0"/>
              </a:rPr>
              <a:t>v</a:t>
            </a:r>
            <a:r>
              <a:rPr lang="en-US" altLang="en-US">
                <a:solidFill>
                  <a:schemeClr val="tx2"/>
                </a:solidFill>
                <a:latin typeface="Times New Roman" panose="02020603050405020304" pitchFamily="18" charset="0"/>
              </a:rPr>
              <a:t>)</a:t>
            </a:r>
          </a:p>
          <a:p>
            <a:pPr lvl="1" algn="l" eaLnBrk="1" hangingPunct="1">
              <a:lnSpc>
                <a:spcPct val="90000"/>
              </a:lnSpc>
              <a:spcBef>
                <a:spcPct val="20000"/>
              </a:spcBef>
              <a:buClr>
                <a:schemeClr val="hlink"/>
              </a:buClr>
              <a:buSzPct val="110000"/>
              <a:buFont typeface="Wingdings" panose="05000000000000000000" pitchFamily="2" charset="2"/>
              <a:buNone/>
            </a:pPr>
            <a:r>
              <a:rPr lang="en-US" altLang="en-US" b="1">
                <a:solidFill>
                  <a:srgbClr val="000000"/>
                </a:solidFill>
                <a:latin typeface="Times New Roman" panose="02020603050405020304" pitchFamily="18" charset="0"/>
              </a:rPr>
              <a:t>for</a:t>
            </a:r>
            <a:r>
              <a:rPr lang="en-US" altLang="en-US">
                <a:solidFill>
                  <a:srgbClr val="000000"/>
                </a:solidFill>
                <a:latin typeface="Times New Roman" panose="02020603050405020304" pitchFamily="18" charset="0"/>
              </a:rPr>
              <a:t> </a:t>
            </a:r>
            <a:r>
              <a:rPr lang="en-US" altLang="en-US" b="1">
                <a:solidFill>
                  <a:srgbClr val="000000"/>
                </a:solidFill>
                <a:latin typeface="Times New Roman" panose="02020603050405020304" pitchFamily="18" charset="0"/>
              </a:rPr>
              <a:t>each</a:t>
            </a:r>
            <a:r>
              <a:rPr lang="en-US" altLang="en-US">
                <a:latin typeface="Times New Roman" panose="02020603050405020304" pitchFamily="18" charset="0"/>
              </a:rPr>
              <a:t> </a:t>
            </a:r>
            <a:r>
              <a:rPr lang="en-US" altLang="en-US">
                <a:solidFill>
                  <a:schemeClr val="accent2"/>
                </a:solidFill>
                <a:latin typeface="Times New Roman" panose="02020603050405020304" pitchFamily="18" charset="0"/>
              </a:rPr>
              <a:t>child </a:t>
            </a:r>
            <a:r>
              <a:rPr lang="en-US" altLang="en-US" b="1" i="1">
                <a:solidFill>
                  <a:schemeClr val="accent2"/>
                </a:solidFill>
                <a:latin typeface="Times New Roman" panose="02020603050405020304" pitchFamily="18" charset="0"/>
              </a:rPr>
              <a:t>w</a:t>
            </a:r>
            <a:r>
              <a:rPr lang="en-US" altLang="en-US">
                <a:solidFill>
                  <a:schemeClr val="accent2"/>
                </a:solidFill>
                <a:latin typeface="Times New Roman" panose="02020603050405020304" pitchFamily="18" charset="0"/>
              </a:rPr>
              <a:t> of </a:t>
            </a:r>
            <a:r>
              <a:rPr lang="en-US" altLang="en-US" b="1" i="1">
                <a:solidFill>
                  <a:schemeClr val="accent2"/>
                </a:solidFill>
                <a:latin typeface="Times New Roman" panose="02020603050405020304" pitchFamily="18" charset="0"/>
              </a:rPr>
              <a:t>v</a:t>
            </a:r>
          </a:p>
          <a:p>
            <a:pPr lvl="1" algn="l" eaLnBrk="1" hangingPunct="1">
              <a:lnSpc>
                <a:spcPct val="90000"/>
              </a:lnSpc>
              <a:spcBef>
                <a:spcPct val="20000"/>
              </a:spcBef>
              <a:buClr>
                <a:schemeClr val="tx1"/>
              </a:buClr>
              <a:buSzPct val="60000"/>
              <a:buFont typeface="Wingdings" panose="05000000000000000000" pitchFamily="2" charset="2"/>
              <a:buNone/>
            </a:pPr>
            <a:r>
              <a:rPr lang="en-US" altLang="en-US" b="1" i="1">
                <a:solidFill>
                  <a:schemeClr val="accent2"/>
                </a:solidFill>
                <a:latin typeface="Times New Roman" panose="02020603050405020304" pitchFamily="18" charset="0"/>
              </a:rPr>
              <a:t>	postOrder</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w</a:t>
            </a:r>
            <a:r>
              <a:rPr lang="en-US" altLang="en-US">
                <a:solidFill>
                  <a:schemeClr val="accent2"/>
                </a:solidFill>
                <a:latin typeface="Times New Roman" panose="02020603050405020304" pitchFamily="18" charset="0"/>
              </a:rPr>
              <a:t>)</a:t>
            </a:r>
            <a:endParaRPr lang="en-US" altLang="en-US">
              <a:latin typeface="Times New Roman" panose="02020603050405020304" pitchFamily="18" charset="0"/>
            </a:endParaRPr>
          </a:p>
          <a:p>
            <a:pPr lvl="1" algn="l" eaLnBrk="1" hangingPunct="1">
              <a:lnSpc>
                <a:spcPct val="90000"/>
              </a:lnSpc>
              <a:spcBef>
                <a:spcPct val="20000"/>
              </a:spcBef>
              <a:buClr>
                <a:schemeClr val="tx1"/>
              </a:buClr>
              <a:buSzPct val="60000"/>
              <a:buFont typeface="Wingdings" panose="05000000000000000000" pitchFamily="2" charset="2"/>
              <a:buNone/>
            </a:pPr>
            <a:r>
              <a:rPr lang="en-US" altLang="en-US" b="1" i="1">
                <a:solidFill>
                  <a:schemeClr val="accent2"/>
                </a:solidFill>
                <a:latin typeface="Times New Roman" panose="02020603050405020304" pitchFamily="18" charset="0"/>
              </a:rPr>
              <a:t>visit</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v</a:t>
            </a:r>
            <a:r>
              <a:rPr lang="en-US" altLang="en-US">
                <a:solidFill>
                  <a:schemeClr val="accent2"/>
                </a:solidFill>
                <a:latin typeface="Times New Roman" panose="02020603050405020304" pitchFamily="18" charset="0"/>
              </a:rPr>
              <a:t>)</a:t>
            </a:r>
          </a:p>
        </p:txBody>
      </p:sp>
      <p:sp>
        <p:nvSpPr>
          <p:cNvPr id="24583" name="AutoShape 1029"/>
          <p:cNvSpPr>
            <a:spLocks noChangeAspect="1" noChangeArrowheads="1"/>
          </p:cNvSpPr>
          <p:nvPr/>
        </p:nvSpPr>
        <p:spPr bwMode="auto">
          <a:xfrm>
            <a:off x="4575175" y="3521075"/>
            <a:ext cx="338138"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A</a:t>
            </a:r>
          </a:p>
        </p:txBody>
      </p:sp>
      <p:sp>
        <p:nvSpPr>
          <p:cNvPr id="24584" name="AutoShape 1030"/>
          <p:cNvSpPr>
            <a:spLocks noChangeAspect="1" noChangeArrowheads="1"/>
          </p:cNvSpPr>
          <p:nvPr/>
        </p:nvSpPr>
        <p:spPr bwMode="auto">
          <a:xfrm>
            <a:off x="1735138" y="4435475"/>
            <a:ext cx="334962"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B</a:t>
            </a:r>
          </a:p>
        </p:txBody>
      </p:sp>
      <p:sp>
        <p:nvSpPr>
          <p:cNvPr id="24585" name="AutoShape 1031"/>
          <p:cNvSpPr>
            <a:spLocks noChangeAspect="1" noChangeArrowheads="1"/>
          </p:cNvSpPr>
          <p:nvPr/>
        </p:nvSpPr>
        <p:spPr bwMode="auto">
          <a:xfrm>
            <a:off x="7826375" y="4433888"/>
            <a:ext cx="355600" cy="369887"/>
          </a:xfrm>
          <a:prstGeom prst="roundRect">
            <a:avLst>
              <a:gd name="adj" fmla="val 16667"/>
            </a:avLst>
          </a:prstGeom>
          <a:solidFill>
            <a:schemeClr val="folHlink"/>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D</a:t>
            </a:r>
          </a:p>
        </p:txBody>
      </p:sp>
      <p:sp>
        <p:nvSpPr>
          <p:cNvPr id="24586" name="AutoShape 1032"/>
          <p:cNvSpPr>
            <a:spLocks noChangeAspect="1" noChangeArrowheads="1"/>
          </p:cNvSpPr>
          <p:nvPr/>
        </p:nvSpPr>
        <p:spPr bwMode="auto">
          <a:xfrm>
            <a:off x="5665788" y="4435475"/>
            <a:ext cx="338137"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C</a:t>
            </a:r>
          </a:p>
        </p:txBody>
      </p:sp>
      <p:sp>
        <p:nvSpPr>
          <p:cNvPr id="24587" name="AutoShape 1033"/>
          <p:cNvSpPr>
            <a:spLocks noChangeAspect="1" noChangeArrowheads="1"/>
          </p:cNvSpPr>
          <p:nvPr/>
        </p:nvSpPr>
        <p:spPr bwMode="auto">
          <a:xfrm>
            <a:off x="4102100" y="5513388"/>
            <a:ext cx="287338" cy="363537"/>
          </a:xfrm>
          <a:prstGeom prst="roundRect">
            <a:avLst>
              <a:gd name="adj" fmla="val 16667"/>
            </a:avLst>
          </a:prstGeom>
          <a:solidFill>
            <a:schemeClr val="folHlink"/>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I</a:t>
            </a:r>
          </a:p>
        </p:txBody>
      </p:sp>
      <p:sp>
        <p:nvSpPr>
          <p:cNvPr id="24588" name="AutoShape 1034"/>
          <p:cNvSpPr>
            <a:spLocks noChangeAspect="1" noChangeArrowheads="1"/>
          </p:cNvSpPr>
          <p:nvPr/>
        </p:nvSpPr>
        <p:spPr bwMode="auto">
          <a:xfrm>
            <a:off x="5665788" y="5484813"/>
            <a:ext cx="352425" cy="369887"/>
          </a:xfrm>
          <a:prstGeom prst="roundRect">
            <a:avLst>
              <a:gd name="adj" fmla="val 16667"/>
            </a:avLst>
          </a:prstGeom>
          <a:solidFill>
            <a:schemeClr val="folHlink"/>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G</a:t>
            </a:r>
          </a:p>
        </p:txBody>
      </p:sp>
      <p:sp>
        <p:nvSpPr>
          <p:cNvPr id="24589" name="AutoShape 1035"/>
          <p:cNvSpPr>
            <a:spLocks noChangeAspect="1" noChangeArrowheads="1"/>
          </p:cNvSpPr>
          <p:nvPr/>
        </p:nvSpPr>
        <p:spPr bwMode="auto">
          <a:xfrm>
            <a:off x="1004888" y="5486400"/>
            <a:ext cx="330200" cy="368300"/>
          </a:xfrm>
          <a:prstGeom prst="roundRect">
            <a:avLst>
              <a:gd name="adj" fmla="val 16667"/>
            </a:avLst>
          </a:prstGeom>
          <a:solidFill>
            <a:schemeClr val="folHlink"/>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E</a:t>
            </a:r>
          </a:p>
        </p:txBody>
      </p:sp>
      <p:sp>
        <p:nvSpPr>
          <p:cNvPr id="24590" name="AutoShape 1036"/>
          <p:cNvSpPr>
            <a:spLocks noChangeAspect="1" noChangeArrowheads="1"/>
          </p:cNvSpPr>
          <p:nvPr/>
        </p:nvSpPr>
        <p:spPr bwMode="auto">
          <a:xfrm>
            <a:off x="2546350" y="5486400"/>
            <a:ext cx="320675" cy="366713"/>
          </a:xfrm>
          <a:prstGeom prst="roundRect">
            <a:avLst>
              <a:gd name="adj" fmla="val 16667"/>
            </a:avLst>
          </a:prstGeom>
          <a:solidFill>
            <a:schemeClr val="folHlink"/>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F</a:t>
            </a:r>
          </a:p>
        </p:txBody>
      </p:sp>
      <p:cxnSp>
        <p:nvCxnSpPr>
          <p:cNvPr id="24591" name="AutoShape 1037"/>
          <p:cNvCxnSpPr>
            <a:cxnSpLocks noChangeShapeType="1"/>
            <a:stCxn id="24583" idx="2"/>
            <a:endCxn id="24584" idx="0"/>
          </p:cNvCxnSpPr>
          <p:nvPr/>
        </p:nvCxnSpPr>
        <p:spPr bwMode="auto">
          <a:xfrm flipH="1">
            <a:off x="1903413" y="3898900"/>
            <a:ext cx="2841625" cy="5270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4592" name="AutoShape 1038"/>
          <p:cNvCxnSpPr>
            <a:cxnSpLocks noChangeShapeType="1"/>
            <a:stCxn id="24583" idx="2"/>
            <a:endCxn id="24586" idx="0"/>
          </p:cNvCxnSpPr>
          <p:nvPr/>
        </p:nvCxnSpPr>
        <p:spPr bwMode="auto">
          <a:xfrm>
            <a:off x="4745038" y="3898900"/>
            <a:ext cx="1090612" cy="5270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4593" name="AutoShape 1039"/>
          <p:cNvCxnSpPr>
            <a:cxnSpLocks noChangeShapeType="1"/>
            <a:stCxn id="24583" idx="2"/>
            <a:endCxn id="24585" idx="0"/>
          </p:cNvCxnSpPr>
          <p:nvPr/>
        </p:nvCxnSpPr>
        <p:spPr bwMode="auto">
          <a:xfrm>
            <a:off x="4745038" y="3898900"/>
            <a:ext cx="3259137" cy="52546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4594" name="AutoShape 1040"/>
          <p:cNvCxnSpPr>
            <a:cxnSpLocks noChangeShapeType="1"/>
            <a:stCxn id="24586" idx="2"/>
            <a:endCxn id="24588" idx="0"/>
          </p:cNvCxnSpPr>
          <p:nvPr/>
        </p:nvCxnSpPr>
        <p:spPr bwMode="auto">
          <a:xfrm>
            <a:off x="5835650" y="4813300"/>
            <a:ext cx="6350" cy="66198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4595" name="AutoShape 1041"/>
          <p:cNvCxnSpPr>
            <a:cxnSpLocks noChangeShapeType="1"/>
            <a:stCxn id="24586" idx="2"/>
            <a:endCxn id="24587" idx="0"/>
          </p:cNvCxnSpPr>
          <p:nvPr/>
        </p:nvCxnSpPr>
        <p:spPr bwMode="auto">
          <a:xfrm flipH="1">
            <a:off x="4246563" y="4813300"/>
            <a:ext cx="1589087" cy="69056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4596" name="AutoShape 1042"/>
          <p:cNvCxnSpPr>
            <a:cxnSpLocks noChangeShapeType="1"/>
            <a:stCxn id="24584" idx="2"/>
            <a:endCxn id="24590" idx="0"/>
          </p:cNvCxnSpPr>
          <p:nvPr/>
        </p:nvCxnSpPr>
        <p:spPr bwMode="auto">
          <a:xfrm>
            <a:off x="1903413" y="4813300"/>
            <a:ext cx="803275" cy="6635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4597" name="AutoShape 1043"/>
          <p:cNvCxnSpPr>
            <a:cxnSpLocks noChangeShapeType="1"/>
            <a:stCxn id="24584" idx="2"/>
            <a:endCxn id="24589" idx="0"/>
          </p:cNvCxnSpPr>
          <p:nvPr/>
        </p:nvCxnSpPr>
        <p:spPr bwMode="auto">
          <a:xfrm flipH="1">
            <a:off x="1169988" y="4813300"/>
            <a:ext cx="733425" cy="6635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24598" name="AutoShape 1044"/>
          <p:cNvSpPr>
            <a:spLocks noChangeAspect="1" noChangeArrowheads="1"/>
          </p:cNvSpPr>
          <p:nvPr/>
        </p:nvSpPr>
        <p:spPr bwMode="auto">
          <a:xfrm>
            <a:off x="7288213" y="5483225"/>
            <a:ext cx="354012" cy="369888"/>
          </a:xfrm>
          <a:prstGeom prst="roundRect">
            <a:avLst>
              <a:gd name="adj" fmla="val 16667"/>
            </a:avLst>
          </a:prstGeom>
          <a:solidFill>
            <a:schemeClr val="folHlink"/>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H</a:t>
            </a:r>
          </a:p>
        </p:txBody>
      </p:sp>
      <p:cxnSp>
        <p:nvCxnSpPr>
          <p:cNvPr id="24599" name="AutoShape 1045"/>
          <p:cNvCxnSpPr>
            <a:cxnSpLocks noChangeShapeType="1"/>
            <a:stCxn id="24586" idx="2"/>
            <a:endCxn id="24598" idx="0"/>
          </p:cNvCxnSpPr>
          <p:nvPr/>
        </p:nvCxnSpPr>
        <p:spPr bwMode="auto">
          <a:xfrm>
            <a:off x="5835650" y="4813300"/>
            <a:ext cx="1630363" cy="66040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nvGrpSpPr>
          <p:cNvPr id="2" name="Group 38"/>
          <p:cNvGrpSpPr>
            <a:grpSpLocks/>
          </p:cNvGrpSpPr>
          <p:nvPr/>
        </p:nvGrpSpPr>
        <p:grpSpPr bwMode="auto">
          <a:xfrm>
            <a:off x="971550" y="3500438"/>
            <a:ext cx="7227888" cy="2906712"/>
            <a:chOff x="612" y="2205"/>
            <a:chExt cx="4553" cy="1831"/>
          </a:xfrm>
        </p:grpSpPr>
        <p:sp>
          <p:nvSpPr>
            <p:cNvPr id="24601" name="Text Box 1046"/>
            <p:cNvSpPr txBox="1">
              <a:spLocks noChangeArrowheads="1"/>
            </p:cNvSpPr>
            <p:nvPr/>
          </p:nvSpPr>
          <p:spPr bwMode="auto">
            <a:xfrm>
              <a:off x="3152" y="2205"/>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9</a:t>
              </a:r>
            </a:p>
          </p:txBody>
        </p:sp>
        <p:sp>
          <p:nvSpPr>
            <p:cNvPr id="24602" name="Text Box 1047"/>
            <p:cNvSpPr txBox="1">
              <a:spLocks noChangeArrowheads="1"/>
            </p:cNvSpPr>
            <p:nvPr/>
          </p:nvSpPr>
          <p:spPr bwMode="auto">
            <a:xfrm>
              <a:off x="1074" y="2581"/>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3</a:t>
              </a:r>
            </a:p>
          </p:txBody>
        </p:sp>
        <p:sp>
          <p:nvSpPr>
            <p:cNvPr id="24603" name="Text Box 1048"/>
            <p:cNvSpPr txBox="1">
              <a:spLocks noChangeArrowheads="1"/>
            </p:cNvSpPr>
            <p:nvPr/>
          </p:nvSpPr>
          <p:spPr bwMode="auto">
            <a:xfrm>
              <a:off x="612" y="3133"/>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1</a:t>
              </a:r>
            </a:p>
          </p:txBody>
        </p:sp>
        <p:sp>
          <p:nvSpPr>
            <p:cNvPr id="24604" name="Text Box 1049"/>
            <p:cNvSpPr txBox="1">
              <a:spLocks noChangeArrowheads="1"/>
            </p:cNvSpPr>
            <p:nvPr/>
          </p:nvSpPr>
          <p:spPr bwMode="auto">
            <a:xfrm>
              <a:off x="3357" y="2747"/>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7</a:t>
              </a:r>
            </a:p>
          </p:txBody>
        </p:sp>
        <p:sp>
          <p:nvSpPr>
            <p:cNvPr id="24605" name="Text Box 1050"/>
            <p:cNvSpPr txBox="1">
              <a:spLocks noChangeArrowheads="1"/>
            </p:cNvSpPr>
            <p:nvPr/>
          </p:nvSpPr>
          <p:spPr bwMode="auto">
            <a:xfrm>
              <a:off x="1620" y="3133"/>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2</a:t>
              </a:r>
            </a:p>
          </p:txBody>
        </p:sp>
        <p:sp>
          <p:nvSpPr>
            <p:cNvPr id="24606" name="Text Box 1051"/>
            <p:cNvSpPr txBox="1">
              <a:spLocks noChangeArrowheads="1"/>
            </p:cNvSpPr>
            <p:nvPr/>
          </p:nvSpPr>
          <p:spPr bwMode="auto">
            <a:xfrm>
              <a:off x="2442" y="3223"/>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4</a:t>
              </a:r>
            </a:p>
          </p:txBody>
        </p:sp>
        <p:sp>
          <p:nvSpPr>
            <p:cNvPr id="24607" name="Text Box 1052"/>
            <p:cNvSpPr txBox="1">
              <a:spLocks noChangeArrowheads="1"/>
            </p:cNvSpPr>
            <p:nvPr/>
          </p:nvSpPr>
          <p:spPr bwMode="auto">
            <a:xfrm>
              <a:off x="3450" y="3223"/>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5</a:t>
              </a:r>
            </a:p>
          </p:txBody>
        </p:sp>
        <p:sp>
          <p:nvSpPr>
            <p:cNvPr id="24608" name="Text Box 1053"/>
            <p:cNvSpPr txBox="1">
              <a:spLocks noChangeArrowheads="1"/>
            </p:cNvSpPr>
            <p:nvPr/>
          </p:nvSpPr>
          <p:spPr bwMode="auto">
            <a:xfrm>
              <a:off x="4619" y="3177"/>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6</a:t>
              </a:r>
            </a:p>
          </p:txBody>
        </p:sp>
        <p:sp>
          <p:nvSpPr>
            <p:cNvPr id="24609" name="Text Box 1054"/>
            <p:cNvSpPr txBox="1">
              <a:spLocks noChangeArrowheads="1"/>
            </p:cNvSpPr>
            <p:nvPr/>
          </p:nvSpPr>
          <p:spPr bwMode="auto">
            <a:xfrm>
              <a:off x="4962" y="2500"/>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8</a:t>
              </a:r>
            </a:p>
          </p:txBody>
        </p:sp>
        <p:sp>
          <p:nvSpPr>
            <p:cNvPr id="24610" name="Rectangle 36"/>
            <p:cNvSpPr>
              <a:spLocks noChangeArrowheads="1"/>
            </p:cNvSpPr>
            <p:nvPr/>
          </p:nvSpPr>
          <p:spPr bwMode="auto">
            <a:xfrm>
              <a:off x="1700" y="3748"/>
              <a:ext cx="22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solidFill>
                    <a:schemeClr val="tx2"/>
                  </a:solidFill>
                  <a:latin typeface="Arial" panose="020B0604020202020204" pitchFamily="34" charset="0"/>
                  <a:cs typeface="Arial" panose="020B0604020202020204" pitchFamily="34" charset="0"/>
                </a:rPr>
                <a:t>Postorder</a:t>
              </a:r>
              <a:r>
                <a:rPr lang="en-US" altLang="en-US" b="1" i="1">
                  <a:solidFill>
                    <a:schemeClr val="tx2"/>
                  </a:solidFill>
                  <a:latin typeface="Arial" panose="020B0604020202020204" pitchFamily="34" charset="0"/>
                  <a:cs typeface="Arial" panose="020B0604020202020204" pitchFamily="34" charset="0"/>
                </a:rPr>
                <a:t>: EFBIGHCDA</a:t>
              </a:r>
            </a:p>
          </p:txBody>
        </p:sp>
      </p:grpSp>
      <p:sp>
        <p:nvSpPr>
          <p:cNvPr id="35" name="TextBox 34"/>
          <p:cNvSpPr txBox="1"/>
          <p:nvPr/>
        </p:nvSpPr>
        <p:spPr>
          <a:xfrm>
            <a:off x="6029094" y="6324600"/>
            <a:ext cx="2918235"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Note: this is not a binary tree</a:t>
            </a:r>
            <a:endParaRPr lang="en-US" dirty="0"/>
          </a:p>
        </p:txBody>
      </p:sp>
    </p:spTree>
    <p:extLst>
      <p:ext uri="{BB962C8B-B14F-4D97-AF65-F5344CB8AC3E}">
        <p14:creationId xmlns:p14="http://schemas.microsoft.com/office/powerpoint/2010/main" val="3684304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23"/>
                                        </p:tgtEl>
                                        <p:attrNameLst>
                                          <p:attrName>style.visibility</p:attrName>
                                        </p:attrNameLst>
                                      </p:cBhvr>
                                      <p:to>
                                        <p:strVal val="visible"/>
                                      </p:to>
                                    </p:set>
                                    <p:anim calcmode="lin" valueType="num">
                                      <p:cBhvr additive="base">
                                        <p:cTn id="13" dur="500" fill="hold"/>
                                        <p:tgtEl>
                                          <p:spTgt spid="9223"/>
                                        </p:tgtEl>
                                        <p:attrNameLst>
                                          <p:attrName>ppt_x</p:attrName>
                                        </p:attrNameLst>
                                      </p:cBhvr>
                                      <p:tavLst>
                                        <p:tav tm="0">
                                          <p:val>
                                            <p:strVal val="#ppt_x"/>
                                          </p:val>
                                        </p:tav>
                                        <p:tav tm="100000">
                                          <p:val>
                                            <p:strVal val="#ppt_x"/>
                                          </p:val>
                                        </p:tav>
                                      </p:tavLst>
                                    </p:anim>
                                    <p:anim calcmode="lin" valueType="num">
                                      <p:cBhvr additive="base">
                                        <p:cTn id="14" dur="500" fill="hold"/>
                                        <p:tgtEl>
                                          <p:spTgt spid="9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5868DFA9-D412-4F14-8DCB-1B9F70FDC67C}" type="slidenum">
              <a:rPr lang="en-US" altLang="en-US" sz="1400"/>
              <a:pPr algn="r" eaLnBrk="1" hangingPunct="1"/>
              <a:t>26</a:t>
            </a:fld>
            <a:endParaRPr lang="en-US" altLang="en-US" sz="1400"/>
          </a:p>
        </p:txBody>
      </p:sp>
      <p:sp>
        <p:nvSpPr>
          <p:cNvPr id="48133" name="Rectangle 2"/>
          <p:cNvSpPr>
            <a:spLocks noGrp="1" noChangeArrowheads="1"/>
          </p:cNvSpPr>
          <p:nvPr>
            <p:ph type="title" idx="4294967295"/>
          </p:nvPr>
        </p:nvSpPr>
        <p:spPr>
          <a:xfrm>
            <a:off x="0" y="304800"/>
            <a:ext cx="7772400" cy="1143000"/>
          </a:xfrm>
        </p:spPr>
        <p:txBody>
          <a:bodyPr/>
          <a:lstStyle/>
          <a:p>
            <a:pPr fontAlgn="auto">
              <a:spcAft>
                <a:spcPts val="0"/>
              </a:spcAft>
              <a:defRPr/>
            </a:pPr>
            <a:r>
              <a:rPr lang="en-US" smtClean="0"/>
              <a:t>Inorder Traversal</a:t>
            </a:r>
          </a:p>
        </p:txBody>
      </p:sp>
      <p:sp>
        <p:nvSpPr>
          <p:cNvPr id="25605" name="Rectangle 3" descr="Rectangle: Click to edit Master text styles&#10;Second level&#10;Third level&#10;Fourth level&#10;Fifth level"/>
          <p:cNvSpPr>
            <a:spLocks noGrp="1" noChangeArrowheads="1"/>
          </p:cNvSpPr>
          <p:nvPr>
            <p:ph type="body" idx="4294967295"/>
          </p:nvPr>
        </p:nvSpPr>
        <p:spPr>
          <a:xfrm>
            <a:off x="0" y="1219200"/>
            <a:ext cx="4876800" cy="2971800"/>
          </a:xfrm>
        </p:spPr>
        <p:txBody>
          <a:bodyPr>
            <a:noAutofit/>
          </a:bodyPr>
          <a:lstStyle/>
          <a:p>
            <a:r>
              <a:rPr lang="en-US" altLang="en-US" sz="2800" dirty="0" smtClean="0"/>
              <a:t>In an </a:t>
            </a:r>
            <a:r>
              <a:rPr lang="en-US" altLang="en-US" sz="2800" dirty="0" err="1" smtClean="0"/>
              <a:t>inorder</a:t>
            </a:r>
            <a:r>
              <a:rPr lang="en-US" altLang="en-US" sz="2800" dirty="0" smtClean="0"/>
              <a:t> traversal a node is visited after its left subtree and before its right subtree:</a:t>
            </a:r>
          </a:p>
          <a:p>
            <a:pPr lvl="1"/>
            <a:r>
              <a:rPr lang="en-US" altLang="en-US" sz="2000" dirty="0" smtClean="0"/>
              <a:t>Traverse </a:t>
            </a:r>
            <a:r>
              <a:rPr lang="en-US" altLang="en-US" sz="2000" dirty="0"/>
              <a:t>the </a:t>
            </a:r>
            <a:r>
              <a:rPr lang="en-US" altLang="en-US" sz="2000" b="1" i="1" dirty="0"/>
              <a:t>left subtree </a:t>
            </a:r>
            <a:r>
              <a:rPr lang="en-US" altLang="en-US" sz="2000" dirty="0"/>
              <a:t>in </a:t>
            </a:r>
            <a:r>
              <a:rPr lang="en-US" altLang="en-US" sz="2000" dirty="0" err="1" smtClean="0"/>
              <a:t>inorder</a:t>
            </a:r>
            <a:r>
              <a:rPr lang="en-US" altLang="en-US" sz="2000" dirty="0" smtClean="0"/>
              <a:t>.</a:t>
            </a:r>
          </a:p>
          <a:p>
            <a:pPr lvl="1"/>
            <a:r>
              <a:rPr lang="en-US" altLang="en-US" sz="2000" dirty="0" smtClean="0"/>
              <a:t>Visit </a:t>
            </a:r>
            <a:r>
              <a:rPr lang="en-US" altLang="en-US" sz="2000" dirty="0"/>
              <a:t>the </a:t>
            </a:r>
            <a:r>
              <a:rPr lang="en-US" altLang="en-US" sz="2000" b="1" i="1" dirty="0" smtClean="0"/>
              <a:t>root</a:t>
            </a:r>
            <a:r>
              <a:rPr lang="en-US" altLang="en-US" sz="2000" dirty="0" smtClean="0"/>
              <a:t>.</a:t>
            </a:r>
          </a:p>
          <a:p>
            <a:pPr lvl="1"/>
            <a:r>
              <a:rPr lang="en-US" altLang="en-US" sz="2000" dirty="0" smtClean="0"/>
              <a:t>Traverse </a:t>
            </a:r>
            <a:r>
              <a:rPr lang="en-US" altLang="en-US" sz="2000" dirty="0"/>
              <a:t>the </a:t>
            </a:r>
            <a:r>
              <a:rPr lang="en-US" altLang="en-US" sz="2000" b="1" i="1" dirty="0"/>
              <a:t>right subtree </a:t>
            </a:r>
            <a:r>
              <a:rPr lang="en-US" altLang="en-US" sz="2000" dirty="0"/>
              <a:t>in </a:t>
            </a:r>
            <a:r>
              <a:rPr lang="en-US" altLang="en-US" sz="2000" dirty="0" err="1"/>
              <a:t>inorder</a:t>
            </a:r>
            <a:r>
              <a:rPr lang="en-US" altLang="en-US" sz="2000" dirty="0"/>
              <a:t>.</a:t>
            </a:r>
          </a:p>
          <a:p>
            <a:endParaRPr lang="en-US" altLang="en-US" sz="2800" dirty="0" smtClean="0"/>
          </a:p>
        </p:txBody>
      </p:sp>
      <p:sp>
        <p:nvSpPr>
          <p:cNvPr id="25606" name="Text Box 4"/>
          <p:cNvSpPr txBox="1">
            <a:spLocks noChangeArrowheads="1"/>
          </p:cNvSpPr>
          <p:nvPr/>
        </p:nvSpPr>
        <p:spPr bwMode="auto">
          <a:xfrm>
            <a:off x="4953000" y="1219200"/>
            <a:ext cx="4191000" cy="2438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eaLnBrk="0" hangingPunct="0">
              <a:defRPr sz="2400">
                <a:solidFill>
                  <a:schemeClr val="tx1"/>
                </a:solidFill>
                <a:latin typeface="Tahoma" panose="020B0604030504040204" pitchFamily="34" charset="0"/>
              </a:defRPr>
            </a:lvl2pPr>
            <a:lvl3pPr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eaLnBrk="1" hangingPunct="1">
              <a:lnSpc>
                <a:spcPct val="90000"/>
              </a:lnSpc>
              <a:spcBef>
                <a:spcPct val="20000"/>
              </a:spcBef>
              <a:buClr>
                <a:schemeClr val="hlink"/>
              </a:buClr>
              <a:buSzPct val="110000"/>
              <a:buFont typeface="Wingdings" panose="05000000000000000000" pitchFamily="2" charset="2"/>
              <a:buNone/>
            </a:pPr>
            <a:r>
              <a:rPr lang="en-US" altLang="en-US" b="1">
                <a:solidFill>
                  <a:srgbClr val="000000"/>
                </a:solidFill>
                <a:latin typeface="Times New Roman" panose="02020603050405020304" pitchFamily="18" charset="0"/>
              </a:rPr>
              <a:t>Algorithm</a:t>
            </a:r>
            <a:r>
              <a:rPr lang="en-US" altLang="en-US">
                <a:latin typeface="Times New Roman" panose="02020603050405020304" pitchFamily="18" charset="0"/>
              </a:rPr>
              <a:t> </a:t>
            </a:r>
            <a:r>
              <a:rPr lang="en-US" altLang="en-US" b="1" i="1">
                <a:solidFill>
                  <a:schemeClr val="tx2"/>
                </a:solidFill>
                <a:latin typeface="Times New Roman" panose="02020603050405020304" pitchFamily="18" charset="0"/>
              </a:rPr>
              <a:t>inOrder</a:t>
            </a:r>
            <a:r>
              <a:rPr lang="en-US" altLang="en-US">
                <a:solidFill>
                  <a:schemeClr val="tx2"/>
                </a:solidFill>
                <a:latin typeface="Times New Roman" panose="02020603050405020304" pitchFamily="18" charset="0"/>
              </a:rPr>
              <a:t>(</a:t>
            </a:r>
            <a:r>
              <a:rPr lang="en-US" altLang="en-US" b="1" i="1">
                <a:solidFill>
                  <a:schemeClr val="tx2"/>
                </a:solidFill>
                <a:latin typeface="Times New Roman" panose="02020603050405020304" pitchFamily="18" charset="0"/>
              </a:rPr>
              <a:t>v</a:t>
            </a:r>
            <a:r>
              <a:rPr lang="en-US" altLang="en-US">
                <a:solidFill>
                  <a:schemeClr val="tx2"/>
                </a:solidFill>
                <a:latin typeface="Times New Roman" panose="02020603050405020304" pitchFamily="18" charset="0"/>
              </a:rPr>
              <a:t>)</a:t>
            </a:r>
          </a:p>
          <a:p>
            <a:pPr lvl="1" algn="l" eaLnBrk="1" hangingPunct="1">
              <a:lnSpc>
                <a:spcPct val="90000"/>
              </a:lnSpc>
              <a:spcBef>
                <a:spcPct val="20000"/>
              </a:spcBef>
              <a:buClr>
                <a:schemeClr val="hlink"/>
              </a:buClr>
              <a:buSzPct val="110000"/>
              <a:buFont typeface="Wingdings" panose="05000000000000000000" pitchFamily="2" charset="2"/>
              <a:buNone/>
            </a:pPr>
            <a:r>
              <a:rPr lang="en-US" altLang="en-US" b="1">
                <a:solidFill>
                  <a:srgbClr val="000000"/>
                </a:solidFill>
                <a:latin typeface="Times New Roman" panose="02020603050405020304" pitchFamily="18" charset="0"/>
              </a:rPr>
              <a:t>if</a:t>
            </a:r>
            <a:r>
              <a:rPr lang="en-US" altLang="en-US">
                <a:solidFill>
                  <a:schemeClr val="tx2"/>
                </a:solidFill>
                <a:latin typeface="Times New Roman" panose="02020603050405020304" pitchFamily="18" charset="0"/>
              </a:rPr>
              <a:t> </a:t>
            </a:r>
            <a:r>
              <a:rPr lang="en-US" altLang="en-US" b="1" i="1">
                <a:solidFill>
                  <a:schemeClr val="accent2"/>
                </a:solidFill>
                <a:latin typeface="Times New Roman" panose="02020603050405020304" pitchFamily="18" charset="0"/>
              </a:rPr>
              <a:t>isInternal </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v</a:t>
            </a:r>
            <a:r>
              <a:rPr lang="en-US" altLang="en-US">
                <a:solidFill>
                  <a:schemeClr val="accent2"/>
                </a:solidFill>
                <a:latin typeface="Times New Roman" panose="02020603050405020304" pitchFamily="18" charset="0"/>
              </a:rPr>
              <a:t>)</a:t>
            </a:r>
            <a:endParaRPr lang="en-US" altLang="en-US">
              <a:solidFill>
                <a:schemeClr val="tx2"/>
              </a:solidFill>
              <a:latin typeface="Times New Roman" panose="02020603050405020304" pitchFamily="18" charset="0"/>
            </a:endParaRPr>
          </a:p>
          <a:p>
            <a:pPr lvl="2" algn="l" eaLnBrk="1" hangingPunct="1">
              <a:lnSpc>
                <a:spcPct val="90000"/>
              </a:lnSpc>
              <a:spcBef>
                <a:spcPct val="20000"/>
              </a:spcBef>
              <a:buClr>
                <a:schemeClr val="tx1"/>
              </a:buClr>
              <a:buSzPct val="60000"/>
              <a:buFont typeface="Wingdings" panose="05000000000000000000" pitchFamily="2" charset="2"/>
              <a:buNone/>
            </a:pPr>
            <a:r>
              <a:rPr lang="en-US" altLang="en-US" b="1" i="1">
                <a:solidFill>
                  <a:schemeClr val="accent2"/>
                </a:solidFill>
                <a:latin typeface="Times New Roman" panose="02020603050405020304" pitchFamily="18" charset="0"/>
              </a:rPr>
              <a:t>inOrder</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leftChild </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v</a:t>
            </a:r>
            <a:r>
              <a:rPr lang="en-US" altLang="en-US">
                <a:solidFill>
                  <a:schemeClr val="accent2"/>
                </a:solidFill>
                <a:latin typeface="Times New Roman" panose="02020603050405020304" pitchFamily="18" charset="0"/>
              </a:rPr>
              <a:t>))</a:t>
            </a:r>
            <a:endParaRPr lang="en-US" altLang="en-US">
              <a:latin typeface="Times New Roman" panose="02020603050405020304" pitchFamily="18" charset="0"/>
            </a:endParaRPr>
          </a:p>
          <a:p>
            <a:pPr lvl="1" algn="l" eaLnBrk="1" hangingPunct="1">
              <a:lnSpc>
                <a:spcPct val="90000"/>
              </a:lnSpc>
              <a:spcBef>
                <a:spcPct val="20000"/>
              </a:spcBef>
              <a:buClr>
                <a:schemeClr val="tx1"/>
              </a:buClr>
              <a:buSzPct val="60000"/>
              <a:buFont typeface="Wingdings" panose="05000000000000000000" pitchFamily="2" charset="2"/>
              <a:buNone/>
            </a:pPr>
            <a:r>
              <a:rPr lang="en-US" altLang="en-US" b="1" i="1">
                <a:solidFill>
                  <a:schemeClr val="accent2"/>
                </a:solidFill>
                <a:latin typeface="Times New Roman" panose="02020603050405020304" pitchFamily="18" charset="0"/>
              </a:rPr>
              <a:t>visit</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v</a:t>
            </a:r>
            <a:r>
              <a:rPr lang="en-US" altLang="en-US">
                <a:solidFill>
                  <a:schemeClr val="accent2"/>
                </a:solidFill>
                <a:latin typeface="Times New Roman" panose="02020603050405020304" pitchFamily="18" charset="0"/>
              </a:rPr>
              <a:t>)</a:t>
            </a:r>
          </a:p>
          <a:p>
            <a:pPr lvl="1" algn="l" eaLnBrk="1" hangingPunct="1">
              <a:lnSpc>
                <a:spcPct val="90000"/>
              </a:lnSpc>
              <a:spcBef>
                <a:spcPct val="20000"/>
              </a:spcBef>
              <a:buClr>
                <a:schemeClr val="hlink"/>
              </a:buClr>
              <a:buSzPct val="110000"/>
              <a:buFont typeface="Wingdings" panose="05000000000000000000" pitchFamily="2" charset="2"/>
              <a:buNone/>
            </a:pPr>
            <a:r>
              <a:rPr lang="en-US" altLang="en-US" b="1">
                <a:solidFill>
                  <a:srgbClr val="000000"/>
                </a:solidFill>
                <a:latin typeface="Times New Roman" panose="02020603050405020304" pitchFamily="18" charset="0"/>
              </a:rPr>
              <a:t>if</a:t>
            </a:r>
            <a:r>
              <a:rPr lang="en-US" altLang="en-US">
                <a:solidFill>
                  <a:schemeClr val="tx2"/>
                </a:solidFill>
                <a:latin typeface="Times New Roman" panose="02020603050405020304" pitchFamily="18" charset="0"/>
              </a:rPr>
              <a:t> </a:t>
            </a:r>
            <a:r>
              <a:rPr lang="en-US" altLang="en-US" b="1" i="1">
                <a:solidFill>
                  <a:schemeClr val="accent2"/>
                </a:solidFill>
                <a:latin typeface="Times New Roman" panose="02020603050405020304" pitchFamily="18" charset="0"/>
              </a:rPr>
              <a:t>isInternal </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v</a:t>
            </a:r>
            <a:r>
              <a:rPr lang="en-US" altLang="en-US">
                <a:solidFill>
                  <a:schemeClr val="accent2"/>
                </a:solidFill>
                <a:latin typeface="Times New Roman" panose="02020603050405020304" pitchFamily="18" charset="0"/>
              </a:rPr>
              <a:t>)</a:t>
            </a:r>
            <a:endParaRPr lang="en-US" altLang="en-US">
              <a:solidFill>
                <a:schemeClr val="tx2"/>
              </a:solidFill>
              <a:latin typeface="Times New Roman" panose="02020603050405020304" pitchFamily="18" charset="0"/>
            </a:endParaRPr>
          </a:p>
          <a:p>
            <a:pPr lvl="2" algn="l" eaLnBrk="1" hangingPunct="1">
              <a:lnSpc>
                <a:spcPct val="90000"/>
              </a:lnSpc>
              <a:spcBef>
                <a:spcPct val="20000"/>
              </a:spcBef>
              <a:buClr>
                <a:schemeClr val="tx1"/>
              </a:buClr>
              <a:buSzPct val="60000"/>
              <a:buFont typeface="Wingdings" panose="05000000000000000000" pitchFamily="2" charset="2"/>
              <a:buNone/>
            </a:pPr>
            <a:r>
              <a:rPr lang="en-US" altLang="en-US" b="1" i="1">
                <a:solidFill>
                  <a:schemeClr val="accent2"/>
                </a:solidFill>
                <a:latin typeface="Times New Roman" panose="02020603050405020304" pitchFamily="18" charset="0"/>
              </a:rPr>
              <a:t>inOrder</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rightChild </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v</a:t>
            </a:r>
            <a:r>
              <a:rPr lang="en-US" altLang="en-US">
                <a:solidFill>
                  <a:schemeClr val="accent2"/>
                </a:solidFill>
                <a:latin typeface="Times New Roman" panose="02020603050405020304" pitchFamily="18" charset="0"/>
              </a:rPr>
              <a:t>))</a:t>
            </a:r>
          </a:p>
        </p:txBody>
      </p:sp>
      <p:sp>
        <p:nvSpPr>
          <p:cNvPr id="25607" name="Oval 6"/>
          <p:cNvSpPr>
            <a:spLocks noChangeArrowheads="1"/>
          </p:cNvSpPr>
          <p:nvPr/>
        </p:nvSpPr>
        <p:spPr bwMode="auto">
          <a:xfrm>
            <a:off x="2427288" y="4419600"/>
            <a:ext cx="381000" cy="381000"/>
          </a:xfrm>
          <a:prstGeom prst="ellipse">
            <a:avLst/>
          </a:prstGeom>
          <a:solidFill>
            <a:schemeClr val="accent1"/>
          </a:solidFill>
          <a:ln w="19050">
            <a:solidFill>
              <a:schemeClr val="tx1"/>
            </a:solidFill>
            <a:round/>
            <a:headEnd/>
            <a:tailEnd/>
          </a:ln>
        </p:spPr>
        <p:txBody>
          <a:bodyPr wrap="none" lIns="0" tIns="0" rIns="0" anchor="ctr" anchorCtr="1"/>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ymbol" panose="05050102010706020507" pitchFamily="18" charset="2"/>
            </a:endParaRPr>
          </a:p>
        </p:txBody>
      </p:sp>
      <p:sp>
        <p:nvSpPr>
          <p:cNvPr id="25608" name="Oval 7"/>
          <p:cNvSpPr>
            <a:spLocks noChangeArrowheads="1"/>
          </p:cNvSpPr>
          <p:nvPr/>
        </p:nvSpPr>
        <p:spPr bwMode="auto">
          <a:xfrm>
            <a:off x="3189288" y="5029200"/>
            <a:ext cx="381000" cy="381000"/>
          </a:xfrm>
          <a:prstGeom prst="ellipse">
            <a:avLst/>
          </a:prstGeom>
          <a:solidFill>
            <a:schemeClr val="accent1"/>
          </a:solidFill>
          <a:ln w="19050">
            <a:solidFill>
              <a:schemeClr val="tx1"/>
            </a:solidFill>
            <a:round/>
            <a:headEnd/>
            <a:tailEnd/>
          </a:ln>
        </p:spPr>
        <p:txBody>
          <a:bodyPr wrap="none" lIns="0" tIns="0" rIns="0" anchor="ctr" anchorCtr="1"/>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ymbol" panose="05050102010706020507" pitchFamily="18" charset="2"/>
              <a:sym typeface="Symbol" panose="05050102010706020507" pitchFamily="18" charset="2"/>
            </a:endParaRPr>
          </a:p>
        </p:txBody>
      </p:sp>
      <p:sp>
        <p:nvSpPr>
          <p:cNvPr id="25609" name="Oval 8"/>
          <p:cNvSpPr>
            <a:spLocks noChangeArrowheads="1"/>
          </p:cNvSpPr>
          <p:nvPr/>
        </p:nvSpPr>
        <p:spPr bwMode="auto">
          <a:xfrm>
            <a:off x="903288" y="5029200"/>
            <a:ext cx="381000" cy="381000"/>
          </a:xfrm>
          <a:prstGeom prst="ellipse">
            <a:avLst/>
          </a:prstGeom>
          <a:solidFill>
            <a:schemeClr val="accent1"/>
          </a:solidFill>
          <a:ln w="19050">
            <a:solidFill>
              <a:schemeClr val="tx1"/>
            </a:solidFill>
            <a:round/>
            <a:headEnd/>
            <a:tailEnd/>
          </a:ln>
        </p:spPr>
        <p:txBody>
          <a:bodyPr wrap="none" lIns="0" tIns="0" rIns="0" anchor="ctr" anchorCtr="1"/>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ymbol" panose="05050102010706020507" pitchFamily="18" charset="2"/>
            </a:endParaRPr>
          </a:p>
        </p:txBody>
      </p:sp>
      <p:sp>
        <p:nvSpPr>
          <p:cNvPr id="25610" name="Oval 9"/>
          <p:cNvSpPr>
            <a:spLocks noChangeArrowheads="1"/>
          </p:cNvSpPr>
          <p:nvPr/>
        </p:nvSpPr>
        <p:spPr bwMode="auto">
          <a:xfrm>
            <a:off x="1665288" y="5638800"/>
            <a:ext cx="381000" cy="381000"/>
          </a:xfrm>
          <a:prstGeom prst="ellipse">
            <a:avLst/>
          </a:prstGeom>
          <a:solidFill>
            <a:schemeClr val="accent1"/>
          </a:solidFill>
          <a:ln w="19050">
            <a:solidFill>
              <a:schemeClr val="tx1"/>
            </a:solidFill>
            <a:round/>
            <a:headEnd/>
            <a:tailEnd/>
          </a:ln>
        </p:spPr>
        <p:txBody>
          <a:bodyPr wrap="none" lIns="0" tIns="0" rIns="0" anchor="ctr" anchorCtr="1"/>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ymbol" panose="05050102010706020507" pitchFamily="18" charset="2"/>
            </a:endParaRPr>
          </a:p>
        </p:txBody>
      </p:sp>
      <p:sp>
        <p:nvSpPr>
          <p:cNvPr id="25611" name="Rectangle 10"/>
          <p:cNvSpPr>
            <a:spLocks noChangeArrowheads="1"/>
          </p:cNvSpPr>
          <p:nvPr/>
        </p:nvSpPr>
        <p:spPr bwMode="auto">
          <a:xfrm>
            <a:off x="522288" y="5638800"/>
            <a:ext cx="381000" cy="381000"/>
          </a:xfrm>
          <a:prstGeom prst="rect">
            <a:avLst/>
          </a:prstGeom>
          <a:solidFill>
            <a:schemeClr val="folHlink"/>
          </a:solidFill>
          <a:ln w="1905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612" name="Rectangle 11"/>
          <p:cNvSpPr>
            <a:spLocks noChangeArrowheads="1"/>
          </p:cNvSpPr>
          <p:nvPr/>
        </p:nvSpPr>
        <p:spPr bwMode="auto">
          <a:xfrm>
            <a:off x="1284288" y="6324600"/>
            <a:ext cx="381000" cy="381000"/>
          </a:xfrm>
          <a:prstGeom prst="rect">
            <a:avLst/>
          </a:prstGeom>
          <a:solidFill>
            <a:schemeClr val="folHlink"/>
          </a:solidFill>
          <a:ln w="1905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613" name="Rectangle 12"/>
          <p:cNvSpPr>
            <a:spLocks noChangeArrowheads="1"/>
          </p:cNvSpPr>
          <p:nvPr/>
        </p:nvSpPr>
        <p:spPr bwMode="auto">
          <a:xfrm>
            <a:off x="2046288" y="6324600"/>
            <a:ext cx="381000" cy="381000"/>
          </a:xfrm>
          <a:prstGeom prst="rect">
            <a:avLst/>
          </a:prstGeom>
          <a:solidFill>
            <a:schemeClr val="folHlink"/>
          </a:solidFill>
          <a:ln w="1905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614" name="Rectangle 13"/>
          <p:cNvSpPr>
            <a:spLocks noChangeArrowheads="1"/>
          </p:cNvSpPr>
          <p:nvPr/>
        </p:nvSpPr>
        <p:spPr bwMode="auto">
          <a:xfrm>
            <a:off x="2808288" y="5638800"/>
            <a:ext cx="381000" cy="381000"/>
          </a:xfrm>
          <a:prstGeom prst="rect">
            <a:avLst/>
          </a:prstGeom>
          <a:solidFill>
            <a:schemeClr val="folHlink"/>
          </a:solidFill>
          <a:ln w="1905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615" name="Rectangle 14"/>
          <p:cNvSpPr>
            <a:spLocks noChangeArrowheads="1"/>
          </p:cNvSpPr>
          <p:nvPr/>
        </p:nvSpPr>
        <p:spPr bwMode="auto">
          <a:xfrm>
            <a:off x="3570288" y="5638800"/>
            <a:ext cx="381000" cy="381000"/>
          </a:xfrm>
          <a:prstGeom prst="rect">
            <a:avLst/>
          </a:prstGeom>
          <a:solidFill>
            <a:schemeClr val="folHlink"/>
          </a:solidFill>
          <a:ln w="1905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cxnSp>
        <p:nvCxnSpPr>
          <p:cNvPr id="25616" name="AutoShape 15"/>
          <p:cNvCxnSpPr>
            <a:cxnSpLocks noChangeShapeType="1"/>
            <a:stCxn id="25607" idx="3"/>
            <a:endCxn id="25609" idx="7"/>
          </p:cNvCxnSpPr>
          <p:nvPr/>
        </p:nvCxnSpPr>
        <p:spPr bwMode="auto">
          <a:xfrm flipH="1">
            <a:off x="1228725" y="4754563"/>
            <a:ext cx="1254125" cy="3206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5617" name="AutoShape 16"/>
          <p:cNvCxnSpPr>
            <a:cxnSpLocks noChangeShapeType="1"/>
            <a:stCxn id="25608" idx="1"/>
            <a:endCxn id="25607" idx="5"/>
          </p:cNvCxnSpPr>
          <p:nvPr/>
        </p:nvCxnSpPr>
        <p:spPr bwMode="auto">
          <a:xfrm flipH="1" flipV="1">
            <a:off x="2752725" y="4754563"/>
            <a:ext cx="492125" cy="3206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5618" name="AutoShape 17"/>
          <p:cNvCxnSpPr>
            <a:cxnSpLocks noChangeShapeType="1"/>
            <a:stCxn id="25615" idx="0"/>
            <a:endCxn id="25608" idx="5"/>
          </p:cNvCxnSpPr>
          <p:nvPr/>
        </p:nvCxnSpPr>
        <p:spPr bwMode="auto">
          <a:xfrm flipH="1" flipV="1">
            <a:off x="3514725" y="5364163"/>
            <a:ext cx="246063" cy="26511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5619" name="AutoShape 18"/>
          <p:cNvCxnSpPr>
            <a:cxnSpLocks noChangeShapeType="1"/>
            <a:stCxn id="25614" idx="0"/>
            <a:endCxn id="25608" idx="3"/>
          </p:cNvCxnSpPr>
          <p:nvPr/>
        </p:nvCxnSpPr>
        <p:spPr bwMode="auto">
          <a:xfrm flipV="1">
            <a:off x="2998788" y="5364163"/>
            <a:ext cx="246062" cy="26511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5620" name="AutoShape 19"/>
          <p:cNvCxnSpPr>
            <a:cxnSpLocks noChangeShapeType="1"/>
            <a:stCxn id="25613" idx="0"/>
            <a:endCxn id="25610" idx="5"/>
          </p:cNvCxnSpPr>
          <p:nvPr/>
        </p:nvCxnSpPr>
        <p:spPr bwMode="auto">
          <a:xfrm flipH="1" flipV="1">
            <a:off x="1990725" y="5973763"/>
            <a:ext cx="246063" cy="34131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5621" name="AutoShape 20"/>
          <p:cNvCxnSpPr>
            <a:cxnSpLocks noChangeShapeType="1"/>
            <a:stCxn id="25612" idx="0"/>
            <a:endCxn id="25610" idx="3"/>
          </p:cNvCxnSpPr>
          <p:nvPr/>
        </p:nvCxnSpPr>
        <p:spPr bwMode="auto">
          <a:xfrm flipV="1">
            <a:off x="1474788" y="5973763"/>
            <a:ext cx="246062" cy="34131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5622" name="AutoShape 21"/>
          <p:cNvCxnSpPr>
            <a:cxnSpLocks noChangeShapeType="1"/>
            <a:stCxn id="25611" idx="0"/>
            <a:endCxn id="25609" idx="3"/>
          </p:cNvCxnSpPr>
          <p:nvPr/>
        </p:nvCxnSpPr>
        <p:spPr bwMode="auto">
          <a:xfrm flipV="1">
            <a:off x="712788" y="5364163"/>
            <a:ext cx="246062" cy="26511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5623" name="AutoShape 22"/>
          <p:cNvCxnSpPr>
            <a:cxnSpLocks noChangeShapeType="1"/>
            <a:stCxn id="25610" idx="1"/>
            <a:endCxn id="25609" idx="5"/>
          </p:cNvCxnSpPr>
          <p:nvPr/>
        </p:nvCxnSpPr>
        <p:spPr bwMode="auto">
          <a:xfrm flipH="1" flipV="1">
            <a:off x="1228725" y="5364163"/>
            <a:ext cx="492125" cy="3206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nvGrpSpPr>
          <p:cNvPr id="2" name="Group 35"/>
          <p:cNvGrpSpPr>
            <a:grpSpLocks/>
          </p:cNvGrpSpPr>
          <p:nvPr/>
        </p:nvGrpSpPr>
        <p:grpSpPr bwMode="auto">
          <a:xfrm>
            <a:off x="304800" y="4191000"/>
            <a:ext cx="3816350" cy="2149475"/>
            <a:chOff x="1200" y="2352"/>
            <a:chExt cx="2404" cy="1354"/>
          </a:xfrm>
        </p:grpSpPr>
        <p:sp>
          <p:nvSpPr>
            <p:cNvPr id="25625" name="Text Box 23"/>
            <p:cNvSpPr txBox="1">
              <a:spLocks noChangeArrowheads="1"/>
            </p:cNvSpPr>
            <p:nvPr/>
          </p:nvSpPr>
          <p:spPr bwMode="auto">
            <a:xfrm>
              <a:off x="1710" y="3456"/>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3</a:t>
              </a:r>
            </a:p>
          </p:txBody>
        </p:sp>
        <p:sp>
          <p:nvSpPr>
            <p:cNvPr id="25626" name="Text Box 24"/>
            <p:cNvSpPr txBox="1">
              <a:spLocks noChangeArrowheads="1"/>
            </p:cNvSpPr>
            <p:nvPr/>
          </p:nvSpPr>
          <p:spPr bwMode="auto">
            <a:xfrm>
              <a:off x="1200" y="3048"/>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1</a:t>
              </a:r>
            </a:p>
          </p:txBody>
        </p:sp>
        <p:sp>
          <p:nvSpPr>
            <p:cNvPr id="25627" name="Text Box 25"/>
            <p:cNvSpPr txBox="1">
              <a:spLocks noChangeArrowheads="1"/>
            </p:cNvSpPr>
            <p:nvPr/>
          </p:nvSpPr>
          <p:spPr bwMode="auto">
            <a:xfrm>
              <a:off x="1470" y="2683"/>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2</a:t>
              </a:r>
            </a:p>
          </p:txBody>
        </p:sp>
        <p:sp>
          <p:nvSpPr>
            <p:cNvPr id="25628" name="Text Box 26"/>
            <p:cNvSpPr txBox="1">
              <a:spLocks noChangeArrowheads="1"/>
            </p:cNvSpPr>
            <p:nvPr/>
          </p:nvSpPr>
          <p:spPr bwMode="auto">
            <a:xfrm>
              <a:off x="2393" y="3456"/>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5</a:t>
              </a:r>
            </a:p>
          </p:txBody>
        </p:sp>
        <p:sp>
          <p:nvSpPr>
            <p:cNvPr id="25629" name="Text Box 27"/>
            <p:cNvSpPr txBox="1">
              <a:spLocks noChangeArrowheads="1"/>
            </p:cNvSpPr>
            <p:nvPr/>
          </p:nvSpPr>
          <p:spPr bwMode="auto">
            <a:xfrm>
              <a:off x="2382" y="2352"/>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dirty="0">
                  <a:solidFill>
                    <a:schemeClr val="tx2"/>
                  </a:solidFill>
                </a:rPr>
                <a:t>6</a:t>
              </a:r>
            </a:p>
          </p:txBody>
        </p:sp>
        <p:sp>
          <p:nvSpPr>
            <p:cNvPr id="25630" name="Text Box 28"/>
            <p:cNvSpPr txBox="1">
              <a:spLocks noChangeArrowheads="1"/>
            </p:cNvSpPr>
            <p:nvPr/>
          </p:nvSpPr>
          <p:spPr bwMode="auto">
            <a:xfrm>
              <a:off x="2681" y="3048"/>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7</a:t>
              </a:r>
            </a:p>
          </p:txBody>
        </p:sp>
        <p:sp>
          <p:nvSpPr>
            <p:cNvPr id="25631" name="Text Box 29"/>
            <p:cNvSpPr txBox="1">
              <a:spLocks noChangeArrowheads="1"/>
            </p:cNvSpPr>
            <p:nvPr/>
          </p:nvSpPr>
          <p:spPr bwMode="auto">
            <a:xfrm>
              <a:off x="3401" y="3048"/>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9</a:t>
              </a:r>
            </a:p>
          </p:txBody>
        </p:sp>
        <p:sp>
          <p:nvSpPr>
            <p:cNvPr id="25632" name="Text Box 30"/>
            <p:cNvSpPr txBox="1">
              <a:spLocks noChangeArrowheads="1"/>
            </p:cNvSpPr>
            <p:nvPr/>
          </p:nvSpPr>
          <p:spPr bwMode="auto">
            <a:xfrm>
              <a:off x="3119" y="2683"/>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dirty="0">
                  <a:solidFill>
                    <a:schemeClr val="tx2"/>
                  </a:solidFill>
                </a:rPr>
                <a:t>8</a:t>
              </a:r>
            </a:p>
          </p:txBody>
        </p:sp>
        <p:sp>
          <p:nvSpPr>
            <p:cNvPr id="25633" name="Text Box 31"/>
            <p:cNvSpPr txBox="1">
              <a:spLocks noChangeArrowheads="1"/>
            </p:cNvSpPr>
            <p:nvPr/>
          </p:nvSpPr>
          <p:spPr bwMode="auto">
            <a:xfrm>
              <a:off x="2105" y="3048"/>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4</a:t>
              </a:r>
            </a:p>
          </p:txBody>
        </p:sp>
      </p:grpSp>
      <p:sp>
        <p:nvSpPr>
          <p:cNvPr id="35" name="TextBox 34"/>
          <p:cNvSpPr txBox="1"/>
          <p:nvPr/>
        </p:nvSpPr>
        <p:spPr>
          <a:xfrm>
            <a:off x="4226728" y="6312477"/>
            <a:ext cx="3697935"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Note: Only applicable to a binary tree</a:t>
            </a:r>
            <a:endParaRPr lang="en-US" dirty="0"/>
          </a:p>
        </p:txBody>
      </p:sp>
      <p:pic>
        <p:nvPicPr>
          <p:cNvPr id="36" name="Picture 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9764" y="3820393"/>
            <a:ext cx="4472527" cy="170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38"/>
          <p:cNvSpPr>
            <a:spLocks noChangeArrowheads="1"/>
          </p:cNvSpPr>
          <p:nvPr/>
        </p:nvSpPr>
        <p:spPr bwMode="auto">
          <a:xfrm>
            <a:off x="4876800" y="5613549"/>
            <a:ext cx="38447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eaLnBrk="1" hangingPunct="1"/>
            <a:r>
              <a:rPr lang="en-US" altLang="en-US" b="1" dirty="0" err="1">
                <a:solidFill>
                  <a:schemeClr val="tx2"/>
                </a:solidFill>
                <a:latin typeface="Arial" panose="020B0604020202020204" pitchFamily="34" charset="0"/>
                <a:cs typeface="Arial" panose="020B0604020202020204" pitchFamily="34" charset="0"/>
              </a:rPr>
              <a:t>Inorder</a:t>
            </a:r>
            <a:r>
              <a:rPr lang="en-US" altLang="en-US" b="1" i="1" dirty="0">
                <a:solidFill>
                  <a:schemeClr val="tx2"/>
                </a:solidFill>
                <a:latin typeface="Arial" panose="020B0604020202020204" pitchFamily="34" charset="0"/>
                <a:cs typeface="Arial" panose="020B0604020202020204" pitchFamily="34" charset="0"/>
              </a:rPr>
              <a:t>: DGBAHEICF</a:t>
            </a:r>
          </a:p>
        </p:txBody>
      </p:sp>
      <p:sp>
        <p:nvSpPr>
          <p:cNvPr id="3" name="TextBox 2"/>
          <p:cNvSpPr txBox="1"/>
          <p:nvPr/>
        </p:nvSpPr>
        <p:spPr>
          <a:xfrm>
            <a:off x="4339764" y="4304342"/>
            <a:ext cx="301686" cy="369332"/>
          </a:xfrm>
          <a:prstGeom prst="rect">
            <a:avLst/>
          </a:prstGeom>
          <a:noFill/>
        </p:spPr>
        <p:txBody>
          <a:bodyPr wrap="none" rtlCol="0">
            <a:spAutoFit/>
          </a:bodyPr>
          <a:lstStyle/>
          <a:p>
            <a:r>
              <a:rPr lang="en-US" dirty="0" smtClean="0"/>
              <a:t>1</a:t>
            </a:r>
            <a:endParaRPr lang="en-US" dirty="0"/>
          </a:p>
        </p:txBody>
      </p:sp>
      <p:sp>
        <p:nvSpPr>
          <p:cNvPr id="38" name="TextBox 37"/>
          <p:cNvSpPr txBox="1"/>
          <p:nvPr/>
        </p:nvSpPr>
        <p:spPr>
          <a:xfrm>
            <a:off x="4848164" y="4800600"/>
            <a:ext cx="301686" cy="369332"/>
          </a:xfrm>
          <a:prstGeom prst="rect">
            <a:avLst/>
          </a:prstGeom>
          <a:noFill/>
        </p:spPr>
        <p:txBody>
          <a:bodyPr wrap="none" rtlCol="0">
            <a:spAutoFit/>
          </a:bodyPr>
          <a:lstStyle/>
          <a:p>
            <a:r>
              <a:rPr lang="en-US" dirty="0"/>
              <a:t>2</a:t>
            </a:r>
          </a:p>
        </p:txBody>
      </p:sp>
      <p:sp>
        <p:nvSpPr>
          <p:cNvPr id="39" name="TextBox 38"/>
          <p:cNvSpPr txBox="1"/>
          <p:nvPr/>
        </p:nvSpPr>
        <p:spPr>
          <a:xfrm>
            <a:off x="5095413" y="3840215"/>
            <a:ext cx="301686" cy="369332"/>
          </a:xfrm>
          <a:prstGeom prst="rect">
            <a:avLst/>
          </a:prstGeom>
          <a:noFill/>
        </p:spPr>
        <p:txBody>
          <a:bodyPr wrap="none" rtlCol="0">
            <a:spAutoFit/>
          </a:bodyPr>
          <a:lstStyle/>
          <a:p>
            <a:r>
              <a:rPr lang="en-US" dirty="0"/>
              <a:t>3</a:t>
            </a:r>
          </a:p>
        </p:txBody>
      </p:sp>
      <p:sp>
        <p:nvSpPr>
          <p:cNvPr id="40" name="TextBox 39"/>
          <p:cNvSpPr txBox="1"/>
          <p:nvPr/>
        </p:nvSpPr>
        <p:spPr>
          <a:xfrm>
            <a:off x="6652166" y="3778965"/>
            <a:ext cx="301686" cy="369332"/>
          </a:xfrm>
          <a:prstGeom prst="rect">
            <a:avLst/>
          </a:prstGeom>
          <a:noFill/>
        </p:spPr>
        <p:txBody>
          <a:bodyPr wrap="none" rtlCol="0">
            <a:spAutoFit/>
          </a:bodyPr>
          <a:lstStyle/>
          <a:p>
            <a:r>
              <a:rPr lang="en-US" dirty="0" smtClean="0"/>
              <a:t>4</a:t>
            </a:r>
            <a:endParaRPr lang="en-US" dirty="0"/>
          </a:p>
        </p:txBody>
      </p:sp>
      <p:sp>
        <p:nvSpPr>
          <p:cNvPr id="41" name="TextBox 40"/>
          <p:cNvSpPr txBox="1"/>
          <p:nvPr/>
        </p:nvSpPr>
        <p:spPr>
          <a:xfrm>
            <a:off x="6553200" y="4964668"/>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6751226" y="4563298"/>
            <a:ext cx="301686" cy="369332"/>
          </a:xfrm>
          <a:prstGeom prst="rect">
            <a:avLst/>
          </a:prstGeom>
          <a:noFill/>
        </p:spPr>
        <p:txBody>
          <a:bodyPr wrap="none" rtlCol="0">
            <a:spAutoFit/>
          </a:bodyPr>
          <a:lstStyle/>
          <a:p>
            <a:r>
              <a:rPr lang="en-US" dirty="0"/>
              <a:t>6</a:t>
            </a:r>
          </a:p>
        </p:txBody>
      </p:sp>
      <p:sp>
        <p:nvSpPr>
          <p:cNvPr id="43" name="TextBox 42"/>
          <p:cNvSpPr txBox="1"/>
          <p:nvPr/>
        </p:nvSpPr>
        <p:spPr>
          <a:xfrm>
            <a:off x="7519809" y="4850368"/>
            <a:ext cx="301686" cy="369332"/>
          </a:xfrm>
          <a:prstGeom prst="rect">
            <a:avLst/>
          </a:prstGeom>
          <a:noFill/>
        </p:spPr>
        <p:txBody>
          <a:bodyPr wrap="none" rtlCol="0">
            <a:spAutoFit/>
          </a:bodyPr>
          <a:lstStyle/>
          <a:p>
            <a:r>
              <a:rPr lang="en-US" dirty="0" smtClean="0"/>
              <a:t>7</a:t>
            </a:r>
            <a:endParaRPr lang="en-US" dirty="0"/>
          </a:p>
        </p:txBody>
      </p:sp>
      <p:sp>
        <p:nvSpPr>
          <p:cNvPr id="44" name="TextBox 43"/>
          <p:cNvSpPr txBox="1"/>
          <p:nvPr/>
        </p:nvSpPr>
        <p:spPr>
          <a:xfrm>
            <a:off x="7670652" y="3966949"/>
            <a:ext cx="301686" cy="369332"/>
          </a:xfrm>
          <a:prstGeom prst="rect">
            <a:avLst/>
          </a:prstGeom>
          <a:noFill/>
        </p:spPr>
        <p:txBody>
          <a:bodyPr wrap="none" rtlCol="0">
            <a:spAutoFit/>
          </a:bodyPr>
          <a:lstStyle/>
          <a:p>
            <a:r>
              <a:rPr lang="en-US" dirty="0" smtClean="0"/>
              <a:t>8</a:t>
            </a:r>
            <a:endParaRPr lang="en-US" dirty="0"/>
          </a:p>
        </p:txBody>
      </p:sp>
      <p:sp>
        <p:nvSpPr>
          <p:cNvPr id="45" name="TextBox 44"/>
          <p:cNvSpPr txBox="1"/>
          <p:nvPr/>
        </p:nvSpPr>
        <p:spPr>
          <a:xfrm>
            <a:off x="8329060" y="4234934"/>
            <a:ext cx="301686" cy="369332"/>
          </a:xfrm>
          <a:prstGeom prst="rect">
            <a:avLst/>
          </a:prstGeom>
          <a:noFill/>
        </p:spPr>
        <p:txBody>
          <a:bodyPr wrap="none" rtlCol="0">
            <a:spAutoFit/>
          </a:bodyPr>
          <a:lstStyle/>
          <a:p>
            <a:r>
              <a:rPr lang="en-US" dirty="0" smtClean="0"/>
              <a:t>9</a:t>
            </a:r>
            <a:endParaRPr lang="en-US" dirty="0"/>
          </a:p>
        </p:txBody>
      </p:sp>
    </p:spTree>
    <p:extLst>
      <p:ext uri="{BB962C8B-B14F-4D97-AF65-F5344CB8AC3E}">
        <p14:creationId xmlns:p14="http://schemas.microsoft.com/office/powerpoint/2010/main" val="782263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down)">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500" fill="hold"/>
                                        <p:tgtEl>
                                          <p:spTgt spid="38"/>
                                        </p:tgtEl>
                                        <p:attrNameLst>
                                          <p:attrName>ppt_x</p:attrName>
                                        </p:attrNameLst>
                                      </p:cBhvr>
                                      <p:tavLst>
                                        <p:tav tm="0">
                                          <p:val>
                                            <p:strVal val="#ppt_x"/>
                                          </p:val>
                                        </p:tav>
                                        <p:tav tm="100000">
                                          <p:val>
                                            <p:strVal val="#ppt_x"/>
                                          </p:val>
                                        </p:tav>
                                      </p:tavLst>
                                    </p:anim>
                                    <p:anim calcmode="lin" valueType="num">
                                      <p:cBhvr additive="base">
                                        <p:cTn id="2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additive="base">
                                        <p:cTn id="30" dur="500" fill="hold"/>
                                        <p:tgtEl>
                                          <p:spTgt spid="39"/>
                                        </p:tgtEl>
                                        <p:attrNameLst>
                                          <p:attrName>ppt_x</p:attrName>
                                        </p:attrNameLst>
                                      </p:cBhvr>
                                      <p:tavLst>
                                        <p:tav tm="0">
                                          <p:val>
                                            <p:strVal val="#ppt_x"/>
                                          </p:val>
                                        </p:tav>
                                        <p:tav tm="100000">
                                          <p:val>
                                            <p:strVal val="#ppt_x"/>
                                          </p:val>
                                        </p:tav>
                                      </p:tavLst>
                                    </p:anim>
                                    <p:anim calcmode="lin" valueType="num">
                                      <p:cBhvr additive="base">
                                        <p:cTn id="31"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 calcmode="lin" valueType="num">
                                      <p:cBhvr additive="base">
                                        <p:cTn id="36" dur="500" fill="hold"/>
                                        <p:tgtEl>
                                          <p:spTgt spid="40"/>
                                        </p:tgtEl>
                                        <p:attrNameLst>
                                          <p:attrName>ppt_x</p:attrName>
                                        </p:attrNameLst>
                                      </p:cBhvr>
                                      <p:tavLst>
                                        <p:tav tm="0">
                                          <p:val>
                                            <p:strVal val="#ppt_x"/>
                                          </p:val>
                                        </p:tav>
                                        <p:tav tm="100000">
                                          <p:val>
                                            <p:strVal val="#ppt_x"/>
                                          </p:val>
                                        </p:tav>
                                      </p:tavLst>
                                    </p:anim>
                                    <p:anim calcmode="lin" valueType="num">
                                      <p:cBhvr additive="base">
                                        <p:cTn id="37"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 calcmode="lin" valueType="num">
                                      <p:cBhvr additive="base">
                                        <p:cTn id="42" dur="500" fill="hold"/>
                                        <p:tgtEl>
                                          <p:spTgt spid="41"/>
                                        </p:tgtEl>
                                        <p:attrNameLst>
                                          <p:attrName>ppt_x</p:attrName>
                                        </p:attrNameLst>
                                      </p:cBhvr>
                                      <p:tavLst>
                                        <p:tav tm="0">
                                          <p:val>
                                            <p:strVal val="#ppt_x"/>
                                          </p:val>
                                        </p:tav>
                                        <p:tav tm="100000">
                                          <p:val>
                                            <p:strVal val="#ppt_x"/>
                                          </p:val>
                                        </p:tav>
                                      </p:tavLst>
                                    </p:anim>
                                    <p:anim calcmode="lin" valueType="num">
                                      <p:cBhvr additive="base">
                                        <p:cTn id="43"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42"/>
                                        </p:tgtEl>
                                        <p:attrNameLst>
                                          <p:attrName>style.visibility</p:attrName>
                                        </p:attrNameLst>
                                      </p:cBhvr>
                                      <p:to>
                                        <p:strVal val="visible"/>
                                      </p:to>
                                    </p:set>
                                    <p:anim calcmode="lin" valueType="num">
                                      <p:cBhvr additive="base">
                                        <p:cTn id="48" dur="500" fill="hold"/>
                                        <p:tgtEl>
                                          <p:spTgt spid="42"/>
                                        </p:tgtEl>
                                        <p:attrNameLst>
                                          <p:attrName>ppt_x</p:attrName>
                                        </p:attrNameLst>
                                      </p:cBhvr>
                                      <p:tavLst>
                                        <p:tav tm="0">
                                          <p:val>
                                            <p:strVal val="#ppt_x"/>
                                          </p:val>
                                        </p:tav>
                                        <p:tav tm="100000">
                                          <p:val>
                                            <p:strVal val="#ppt_x"/>
                                          </p:val>
                                        </p:tav>
                                      </p:tavLst>
                                    </p:anim>
                                    <p:anim calcmode="lin" valueType="num">
                                      <p:cBhvr additive="base">
                                        <p:cTn id="49"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3"/>
                                        </p:tgtEl>
                                        <p:attrNameLst>
                                          <p:attrName>style.visibility</p:attrName>
                                        </p:attrNameLst>
                                      </p:cBhvr>
                                      <p:to>
                                        <p:strVal val="visible"/>
                                      </p:to>
                                    </p:set>
                                    <p:anim calcmode="lin" valueType="num">
                                      <p:cBhvr additive="base">
                                        <p:cTn id="54" dur="500" fill="hold"/>
                                        <p:tgtEl>
                                          <p:spTgt spid="43"/>
                                        </p:tgtEl>
                                        <p:attrNameLst>
                                          <p:attrName>ppt_x</p:attrName>
                                        </p:attrNameLst>
                                      </p:cBhvr>
                                      <p:tavLst>
                                        <p:tav tm="0">
                                          <p:val>
                                            <p:strVal val="#ppt_x"/>
                                          </p:val>
                                        </p:tav>
                                        <p:tav tm="100000">
                                          <p:val>
                                            <p:strVal val="#ppt_x"/>
                                          </p:val>
                                        </p:tav>
                                      </p:tavLst>
                                    </p:anim>
                                    <p:anim calcmode="lin" valueType="num">
                                      <p:cBhvr additive="base">
                                        <p:cTn id="55"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44"/>
                                        </p:tgtEl>
                                        <p:attrNameLst>
                                          <p:attrName>style.visibility</p:attrName>
                                        </p:attrNameLst>
                                      </p:cBhvr>
                                      <p:to>
                                        <p:strVal val="visible"/>
                                      </p:to>
                                    </p:set>
                                    <p:anim calcmode="lin" valueType="num">
                                      <p:cBhvr additive="base">
                                        <p:cTn id="60" dur="500" fill="hold"/>
                                        <p:tgtEl>
                                          <p:spTgt spid="44"/>
                                        </p:tgtEl>
                                        <p:attrNameLst>
                                          <p:attrName>ppt_x</p:attrName>
                                        </p:attrNameLst>
                                      </p:cBhvr>
                                      <p:tavLst>
                                        <p:tav tm="0">
                                          <p:val>
                                            <p:strVal val="#ppt_x"/>
                                          </p:val>
                                        </p:tav>
                                        <p:tav tm="100000">
                                          <p:val>
                                            <p:strVal val="#ppt_x"/>
                                          </p:val>
                                        </p:tav>
                                      </p:tavLst>
                                    </p:anim>
                                    <p:anim calcmode="lin" valueType="num">
                                      <p:cBhvr additive="base">
                                        <p:cTn id="6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45"/>
                                        </p:tgtEl>
                                        <p:attrNameLst>
                                          <p:attrName>style.visibility</p:attrName>
                                        </p:attrNameLst>
                                      </p:cBhvr>
                                      <p:to>
                                        <p:strVal val="visible"/>
                                      </p:to>
                                    </p:set>
                                    <p:anim calcmode="lin" valueType="num">
                                      <p:cBhvr additive="base">
                                        <p:cTn id="66" dur="500" fill="hold"/>
                                        <p:tgtEl>
                                          <p:spTgt spid="45"/>
                                        </p:tgtEl>
                                        <p:attrNameLst>
                                          <p:attrName>ppt_x</p:attrName>
                                        </p:attrNameLst>
                                      </p:cBhvr>
                                      <p:tavLst>
                                        <p:tav tm="0">
                                          <p:val>
                                            <p:strVal val="#ppt_x"/>
                                          </p:val>
                                        </p:tav>
                                        <p:tav tm="100000">
                                          <p:val>
                                            <p:strVal val="#ppt_x"/>
                                          </p:val>
                                        </p:tav>
                                      </p:tavLst>
                                    </p:anim>
                                    <p:anim calcmode="lin" valueType="num">
                                      <p:cBhvr additive="base">
                                        <p:cTn id="67"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wipe(down)">
                                      <p:cBhvr>
                                        <p:cTn id="7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 grpId="0"/>
      <p:bldP spid="38" grpId="0"/>
      <p:bldP spid="39" grpId="0"/>
      <p:bldP spid="40" grpId="0"/>
      <p:bldP spid="41" grpId="0"/>
      <p:bldP spid="42" grpId="0"/>
      <p:bldP spid="43" grpId="0"/>
      <p:bldP spid="44" grpId="0"/>
      <p:bldP spid="4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lide Number Placeholder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A8CCC436-E1E8-476E-9E3E-BF03C4C648F0}" type="slidenum">
              <a:rPr lang="en-US" altLang="en-US" sz="1400"/>
              <a:pPr algn="r" eaLnBrk="1" hangingPunct="1"/>
              <a:t>27</a:t>
            </a:fld>
            <a:endParaRPr lang="en-US" altLang="en-US" sz="1400"/>
          </a:p>
        </p:txBody>
      </p:sp>
      <p:sp>
        <p:nvSpPr>
          <p:cNvPr id="52229" name="Rectangle 1026"/>
          <p:cNvSpPr>
            <a:spLocks noGrp="1" noChangeArrowheads="1"/>
          </p:cNvSpPr>
          <p:nvPr>
            <p:ph type="title" idx="4294967295"/>
          </p:nvPr>
        </p:nvSpPr>
        <p:spPr>
          <a:xfrm>
            <a:off x="0" y="304800"/>
            <a:ext cx="7772400" cy="1143000"/>
          </a:xfrm>
        </p:spPr>
        <p:txBody>
          <a:bodyPr/>
          <a:lstStyle/>
          <a:p>
            <a:pPr fontAlgn="auto">
              <a:spcAft>
                <a:spcPts val="0"/>
              </a:spcAft>
              <a:defRPr/>
            </a:pPr>
            <a:r>
              <a:rPr lang="en-US" smtClean="0"/>
              <a:t>Level Order Traversal</a:t>
            </a:r>
          </a:p>
        </p:txBody>
      </p:sp>
      <p:sp>
        <p:nvSpPr>
          <p:cNvPr id="27653" name="Rectangle 1027" descr="Rectangle: Click to edit Master text styles&#10;Second level&#10;Third level&#10;Fourth level&#10;Fifth level"/>
          <p:cNvSpPr>
            <a:spLocks noGrp="1" noChangeArrowheads="1"/>
          </p:cNvSpPr>
          <p:nvPr>
            <p:ph type="body" idx="4294967295"/>
          </p:nvPr>
        </p:nvSpPr>
        <p:spPr>
          <a:xfrm>
            <a:off x="1449388" y="1557338"/>
            <a:ext cx="7694612" cy="935037"/>
          </a:xfrm>
        </p:spPr>
        <p:txBody>
          <a:bodyPr>
            <a:normAutofit fontScale="92500" lnSpcReduction="10000"/>
          </a:bodyPr>
          <a:lstStyle/>
          <a:p>
            <a:r>
              <a:rPr lang="en-US" altLang="en-US" smtClean="0"/>
              <a:t>In a level order traversal, every node on a level is visited before going to a lower level </a:t>
            </a:r>
          </a:p>
        </p:txBody>
      </p:sp>
      <p:sp>
        <p:nvSpPr>
          <p:cNvPr id="27654" name="AutoShape 5"/>
          <p:cNvSpPr>
            <a:spLocks noChangeAspect="1" noChangeArrowheads="1"/>
          </p:cNvSpPr>
          <p:nvPr/>
        </p:nvSpPr>
        <p:spPr bwMode="auto">
          <a:xfrm>
            <a:off x="4498975" y="2598738"/>
            <a:ext cx="338138"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A</a:t>
            </a:r>
          </a:p>
        </p:txBody>
      </p:sp>
      <p:sp>
        <p:nvSpPr>
          <p:cNvPr id="27655" name="AutoShape 6"/>
          <p:cNvSpPr>
            <a:spLocks noChangeAspect="1" noChangeArrowheads="1"/>
          </p:cNvSpPr>
          <p:nvPr/>
        </p:nvSpPr>
        <p:spPr bwMode="auto">
          <a:xfrm>
            <a:off x="1660525" y="3513138"/>
            <a:ext cx="334963"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B</a:t>
            </a:r>
          </a:p>
        </p:txBody>
      </p:sp>
      <p:sp>
        <p:nvSpPr>
          <p:cNvPr id="27656" name="AutoShape 7"/>
          <p:cNvSpPr>
            <a:spLocks noChangeAspect="1" noChangeArrowheads="1"/>
          </p:cNvSpPr>
          <p:nvPr/>
        </p:nvSpPr>
        <p:spPr bwMode="auto">
          <a:xfrm>
            <a:off x="7751763" y="3511550"/>
            <a:ext cx="355600" cy="369888"/>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D</a:t>
            </a:r>
          </a:p>
        </p:txBody>
      </p:sp>
      <p:sp>
        <p:nvSpPr>
          <p:cNvPr id="27657" name="AutoShape 8"/>
          <p:cNvSpPr>
            <a:spLocks noChangeAspect="1" noChangeArrowheads="1"/>
          </p:cNvSpPr>
          <p:nvPr/>
        </p:nvSpPr>
        <p:spPr bwMode="auto">
          <a:xfrm>
            <a:off x="5591175" y="3513138"/>
            <a:ext cx="338138"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C</a:t>
            </a:r>
          </a:p>
        </p:txBody>
      </p:sp>
      <p:sp>
        <p:nvSpPr>
          <p:cNvPr id="27658" name="AutoShape 9"/>
          <p:cNvSpPr>
            <a:spLocks noChangeAspect="1" noChangeArrowheads="1"/>
          </p:cNvSpPr>
          <p:nvPr/>
        </p:nvSpPr>
        <p:spPr bwMode="auto">
          <a:xfrm>
            <a:off x="4062413" y="4421188"/>
            <a:ext cx="287337" cy="363537"/>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I</a:t>
            </a:r>
          </a:p>
        </p:txBody>
      </p:sp>
      <p:sp>
        <p:nvSpPr>
          <p:cNvPr id="27659" name="AutoShape 10"/>
          <p:cNvSpPr>
            <a:spLocks noChangeAspect="1" noChangeArrowheads="1"/>
          </p:cNvSpPr>
          <p:nvPr/>
        </p:nvSpPr>
        <p:spPr bwMode="auto">
          <a:xfrm>
            <a:off x="5588000" y="4418013"/>
            <a:ext cx="352425" cy="369887"/>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G</a:t>
            </a:r>
          </a:p>
        </p:txBody>
      </p:sp>
      <p:sp>
        <p:nvSpPr>
          <p:cNvPr id="27660" name="AutoShape 11"/>
          <p:cNvSpPr>
            <a:spLocks noChangeAspect="1" noChangeArrowheads="1"/>
          </p:cNvSpPr>
          <p:nvPr/>
        </p:nvSpPr>
        <p:spPr bwMode="auto">
          <a:xfrm>
            <a:off x="930275" y="4419600"/>
            <a:ext cx="330200" cy="368300"/>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E</a:t>
            </a:r>
          </a:p>
        </p:txBody>
      </p:sp>
      <p:sp>
        <p:nvSpPr>
          <p:cNvPr id="27661" name="AutoShape 12"/>
          <p:cNvSpPr>
            <a:spLocks noChangeAspect="1" noChangeArrowheads="1"/>
          </p:cNvSpPr>
          <p:nvPr/>
        </p:nvSpPr>
        <p:spPr bwMode="auto">
          <a:xfrm>
            <a:off x="2471738" y="4419600"/>
            <a:ext cx="320675" cy="366713"/>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F</a:t>
            </a:r>
          </a:p>
        </p:txBody>
      </p:sp>
      <p:cxnSp>
        <p:nvCxnSpPr>
          <p:cNvPr id="27662" name="AutoShape 13"/>
          <p:cNvCxnSpPr>
            <a:cxnSpLocks noChangeShapeType="1"/>
            <a:stCxn id="27654" idx="2"/>
            <a:endCxn id="27655" idx="0"/>
          </p:cNvCxnSpPr>
          <p:nvPr/>
        </p:nvCxnSpPr>
        <p:spPr bwMode="auto">
          <a:xfrm flipH="1">
            <a:off x="1828800" y="2976563"/>
            <a:ext cx="2840038" cy="5270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7663" name="AutoShape 14"/>
          <p:cNvCxnSpPr>
            <a:cxnSpLocks noChangeShapeType="1"/>
            <a:stCxn id="27654" idx="2"/>
            <a:endCxn id="27657" idx="0"/>
          </p:cNvCxnSpPr>
          <p:nvPr/>
        </p:nvCxnSpPr>
        <p:spPr bwMode="auto">
          <a:xfrm>
            <a:off x="4668838" y="2976563"/>
            <a:ext cx="1092200" cy="5270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7664" name="AutoShape 15"/>
          <p:cNvCxnSpPr>
            <a:cxnSpLocks noChangeShapeType="1"/>
            <a:stCxn id="27654" idx="2"/>
            <a:endCxn id="27656" idx="0"/>
          </p:cNvCxnSpPr>
          <p:nvPr/>
        </p:nvCxnSpPr>
        <p:spPr bwMode="auto">
          <a:xfrm>
            <a:off x="4668838" y="2976563"/>
            <a:ext cx="3260725" cy="52546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7665" name="AutoShape 16"/>
          <p:cNvCxnSpPr>
            <a:cxnSpLocks noChangeShapeType="1"/>
            <a:stCxn id="27657" idx="2"/>
            <a:endCxn id="27659" idx="0"/>
          </p:cNvCxnSpPr>
          <p:nvPr/>
        </p:nvCxnSpPr>
        <p:spPr bwMode="auto">
          <a:xfrm>
            <a:off x="5761038" y="3890963"/>
            <a:ext cx="3175" cy="51752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7666" name="AutoShape 17"/>
          <p:cNvCxnSpPr>
            <a:cxnSpLocks noChangeShapeType="1"/>
            <a:stCxn id="27657" idx="2"/>
            <a:endCxn id="27658" idx="0"/>
          </p:cNvCxnSpPr>
          <p:nvPr/>
        </p:nvCxnSpPr>
        <p:spPr bwMode="auto">
          <a:xfrm flipH="1">
            <a:off x="4206875" y="3890963"/>
            <a:ext cx="1554163" cy="52070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7667" name="AutoShape 18"/>
          <p:cNvCxnSpPr>
            <a:cxnSpLocks noChangeShapeType="1"/>
            <a:stCxn id="27655" idx="2"/>
            <a:endCxn id="27661" idx="0"/>
          </p:cNvCxnSpPr>
          <p:nvPr/>
        </p:nvCxnSpPr>
        <p:spPr bwMode="auto">
          <a:xfrm>
            <a:off x="1828800" y="3890963"/>
            <a:ext cx="803275" cy="51911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7668" name="AutoShape 19"/>
          <p:cNvCxnSpPr>
            <a:cxnSpLocks noChangeShapeType="1"/>
            <a:stCxn id="27655" idx="2"/>
            <a:endCxn id="27660" idx="0"/>
          </p:cNvCxnSpPr>
          <p:nvPr/>
        </p:nvCxnSpPr>
        <p:spPr bwMode="auto">
          <a:xfrm flipH="1">
            <a:off x="1095375" y="3890963"/>
            <a:ext cx="733425" cy="51911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27669" name="AutoShape 27"/>
          <p:cNvSpPr>
            <a:spLocks noChangeAspect="1" noChangeArrowheads="1"/>
          </p:cNvSpPr>
          <p:nvPr/>
        </p:nvSpPr>
        <p:spPr bwMode="auto">
          <a:xfrm>
            <a:off x="6958013" y="4416425"/>
            <a:ext cx="354012" cy="369888"/>
          </a:xfrm>
          <a:prstGeom prst="roundRect">
            <a:avLst>
              <a:gd name="adj" fmla="val 16667"/>
            </a:avLst>
          </a:prstGeom>
          <a:solidFill>
            <a:schemeClr val="accent1"/>
          </a:solidFill>
          <a:ln w="19050">
            <a:solidFill>
              <a:schemeClr val="tx1"/>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H</a:t>
            </a:r>
          </a:p>
        </p:txBody>
      </p:sp>
      <p:cxnSp>
        <p:nvCxnSpPr>
          <p:cNvPr id="27670" name="AutoShape 28"/>
          <p:cNvCxnSpPr>
            <a:cxnSpLocks noChangeShapeType="1"/>
            <a:stCxn id="27657" idx="2"/>
            <a:endCxn id="27669" idx="0"/>
          </p:cNvCxnSpPr>
          <p:nvPr/>
        </p:nvCxnSpPr>
        <p:spPr bwMode="auto">
          <a:xfrm>
            <a:off x="5761038" y="3890963"/>
            <a:ext cx="1374775" cy="515937"/>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nvGrpSpPr>
          <p:cNvPr id="2" name="Group 64"/>
          <p:cNvGrpSpPr>
            <a:grpSpLocks/>
          </p:cNvGrpSpPr>
          <p:nvPr/>
        </p:nvGrpSpPr>
        <p:grpSpPr bwMode="auto">
          <a:xfrm>
            <a:off x="900113" y="2565400"/>
            <a:ext cx="7227887" cy="3049588"/>
            <a:chOff x="567" y="1616"/>
            <a:chExt cx="4553" cy="1921"/>
          </a:xfrm>
        </p:grpSpPr>
        <p:sp>
          <p:nvSpPr>
            <p:cNvPr id="27672" name="Rectangle 35"/>
            <p:cNvSpPr>
              <a:spLocks noChangeArrowheads="1"/>
            </p:cNvSpPr>
            <p:nvPr/>
          </p:nvSpPr>
          <p:spPr bwMode="auto">
            <a:xfrm>
              <a:off x="1638" y="3249"/>
              <a:ext cx="25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solidFill>
                    <a:schemeClr val="tx2"/>
                  </a:solidFill>
                  <a:latin typeface="Arial" panose="020B0604020202020204" pitchFamily="34" charset="0"/>
                  <a:cs typeface="Arial" panose="020B0604020202020204" pitchFamily="34" charset="0"/>
                </a:rPr>
                <a:t>Level order</a:t>
              </a:r>
              <a:r>
                <a:rPr lang="en-US" altLang="en-US" b="1" i="1">
                  <a:solidFill>
                    <a:schemeClr val="tx2"/>
                  </a:solidFill>
                  <a:latin typeface="Arial" panose="020B0604020202020204" pitchFamily="34" charset="0"/>
                  <a:cs typeface="Arial" panose="020B0604020202020204" pitchFamily="34" charset="0"/>
                </a:rPr>
                <a:t>: ABCDEFIGH</a:t>
              </a:r>
            </a:p>
          </p:txBody>
        </p:sp>
        <p:sp>
          <p:nvSpPr>
            <p:cNvPr id="27673" name="Text Box 29"/>
            <p:cNvSpPr txBox="1">
              <a:spLocks noChangeArrowheads="1"/>
            </p:cNvSpPr>
            <p:nvPr/>
          </p:nvSpPr>
          <p:spPr bwMode="auto">
            <a:xfrm>
              <a:off x="2511" y="1616"/>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1</a:t>
              </a:r>
            </a:p>
          </p:txBody>
        </p:sp>
        <p:sp>
          <p:nvSpPr>
            <p:cNvPr id="27674" name="Text Box 30"/>
            <p:cNvSpPr txBox="1">
              <a:spLocks noChangeArrowheads="1"/>
            </p:cNvSpPr>
            <p:nvPr/>
          </p:nvSpPr>
          <p:spPr bwMode="auto">
            <a:xfrm>
              <a:off x="1029" y="2000"/>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2</a:t>
              </a:r>
            </a:p>
          </p:txBody>
        </p:sp>
        <p:sp>
          <p:nvSpPr>
            <p:cNvPr id="27675" name="Text Box 31"/>
            <p:cNvSpPr txBox="1">
              <a:spLocks noChangeArrowheads="1"/>
            </p:cNvSpPr>
            <p:nvPr/>
          </p:nvSpPr>
          <p:spPr bwMode="auto">
            <a:xfrm>
              <a:off x="567" y="2552"/>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5</a:t>
              </a:r>
            </a:p>
          </p:txBody>
        </p:sp>
        <p:sp>
          <p:nvSpPr>
            <p:cNvPr id="27676" name="Text Box 32"/>
            <p:cNvSpPr txBox="1">
              <a:spLocks noChangeArrowheads="1"/>
            </p:cNvSpPr>
            <p:nvPr/>
          </p:nvSpPr>
          <p:spPr bwMode="auto">
            <a:xfrm>
              <a:off x="3328" y="2115"/>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3</a:t>
              </a:r>
            </a:p>
          </p:txBody>
        </p:sp>
        <p:sp>
          <p:nvSpPr>
            <p:cNvPr id="27677" name="Text Box 33"/>
            <p:cNvSpPr txBox="1">
              <a:spLocks noChangeArrowheads="1"/>
            </p:cNvSpPr>
            <p:nvPr/>
          </p:nvSpPr>
          <p:spPr bwMode="auto">
            <a:xfrm>
              <a:off x="1575" y="2552"/>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6</a:t>
              </a:r>
            </a:p>
          </p:txBody>
        </p:sp>
        <p:sp>
          <p:nvSpPr>
            <p:cNvPr id="27678" name="Text Box 34"/>
            <p:cNvSpPr txBox="1">
              <a:spLocks noChangeArrowheads="1"/>
            </p:cNvSpPr>
            <p:nvPr/>
          </p:nvSpPr>
          <p:spPr bwMode="auto">
            <a:xfrm>
              <a:off x="2535" y="2546"/>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7</a:t>
              </a:r>
            </a:p>
          </p:txBody>
        </p:sp>
        <p:sp>
          <p:nvSpPr>
            <p:cNvPr id="27679" name="Text Box 35"/>
            <p:cNvSpPr txBox="1">
              <a:spLocks noChangeArrowheads="1"/>
            </p:cNvSpPr>
            <p:nvPr/>
          </p:nvSpPr>
          <p:spPr bwMode="auto">
            <a:xfrm>
              <a:off x="3405" y="2546"/>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8</a:t>
              </a:r>
            </a:p>
          </p:txBody>
        </p:sp>
        <p:sp>
          <p:nvSpPr>
            <p:cNvPr id="27680" name="Text Box 36"/>
            <p:cNvSpPr txBox="1">
              <a:spLocks noChangeArrowheads="1"/>
            </p:cNvSpPr>
            <p:nvPr/>
          </p:nvSpPr>
          <p:spPr bwMode="auto">
            <a:xfrm>
              <a:off x="4413" y="2546"/>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9</a:t>
              </a:r>
            </a:p>
          </p:txBody>
        </p:sp>
        <p:sp>
          <p:nvSpPr>
            <p:cNvPr id="27681" name="Text Box 37"/>
            <p:cNvSpPr txBox="1">
              <a:spLocks noChangeArrowheads="1"/>
            </p:cNvSpPr>
            <p:nvPr/>
          </p:nvSpPr>
          <p:spPr bwMode="auto">
            <a:xfrm>
              <a:off x="4917" y="2000"/>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solidFill>
                    <a:schemeClr val="tx2"/>
                  </a:solidFill>
                </a:rPr>
                <a:t>4</a:t>
              </a:r>
            </a:p>
          </p:txBody>
        </p:sp>
      </p:grpSp>
    </p:spTree>
    <p:extLst>
      <p:ext uri="{BB962C8B-B14F-4D97-AF65-F5344CB8AC3E}">
        <p14:creationId xmlns:p14="http://schemas.microsoft.com/office/powerpoint/2010/main" val="899789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1600200"/>
            <a:ext cx="533400" cy="411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057400"/>
            <a:ext cx="533400" cy="3657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514600"/>
            <a:ext cx="533400" cy="320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971800"/>
            <a:ext cx="5334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3429000"/>
            <a:ext cx="533400"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3886200"/>
            <a:ext cx="5334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4419600"/>
            <a:ext cx="5334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4876800"/>
            <a:ext cx="533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5334000"/>
            <a:ext cx="533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A </a:t>
            </a:r>
          </a:p>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C</a:t>
            </a:r>
          </a:p>
          <a:p>
            <a:pPr marL="514350" indent="-514350">
              <a:buFont typeface="+mj-lt"/>
              <a:buAutoNum type="arabicPeriod"/>
            </a:pPr>
            <a:r>
              <a:rPr lang="en-US" dirty="0" smtClean="0"/>
              <a:t>E</a:t>
            </a:r>
          </a:p>
          <a:p>
            <a:pPr marL="514350" indent="-514350">
              <a:buFont typeface="+mj-lt"/>
              <a:buAutoNum type="arabicPeriod"/>
            </a:pPr>
            <a:r>
              <a:rPr lang="en-US" dirty="0" smtClean="0"/>
              <a:t>G</a:t>
            </a:r>
          </a:p>
          <a:p>
            <a:pPr marL="514350" indent="-514350">
              <a:buFont typeface="+mj-lt"/>
              <a:buAutoNum type="arabicPeriod"/>
            </a:pPr>
            <a:r>
              <a:rPr lang="en-US" dirty="0" smtClean="0"/>
              <a:t>F</a:t>
            </a:r>
          </a:p>
          <a:p>
            <a:pPr marL="514350" indent="-514350">
              <a:buFont typeface="+mj-lt"/>
              <a:buAutoNum type="arabicPeriod"/>
            </a:pPr>
            <a:r>
              <a:rPr lang="en-US" dirty="0" smtClean="0"/>
              <a:t>H</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1600200"/>
            <a:ext cx="533400" cy="411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057400"/>
            <a:ext cx="533400" cy="3657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590800"/>
            <a:ext cx="533400" cy="312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971800"/>
            <a:ext cx="5334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3429000"/>
            <a:ext cx="533400"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3886200"/>
            <a:ext cx="5334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4343400"/>
            <a:ext cx="5334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4876800"/>
            <a:ext cx="533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5334000"/>
            <a:ext cx="533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D</a:t>
            </a:r>
          </a:p>
          <a:p>
            <a:pPr marL="514350" indent="-514350">
              <a:buFont typeface="+mj-lt"/>
              <a:buAutoNum type="arabicPeriod"/>
            </a:pPr>
            <a:r>
              <a:rPr lang="en-US" dirty="0" smtClean="0"/>
              <a:t>B</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H</a:t>
            </a:r>
          </a:p>
          <a:p>
            <a:pPr marL="514350" indent="-514350">
              <a:buFont typeface="+mj-lt"/>
              <a:buAutoNum type="arabicPeriod"/>
            </a:pPr>
            <a:r>
              <a:rPr lang="en-US" dirty="0" smtClean="0"/>
              <a:t>I</a:t>
            </a:r>
          </a:p>
          <a:p>
            <a:pPr marL="514350" indent="-514350">
              <a:buFont typeface="+mj-lt"/>
              <a:buAutoNum type="arabicPeriod"/>
            </a:pPr>
            <a:r>
              <a:rPr lang="en-US" dirty="0" smtClean="0"/>
              <a:t>F</a:t>
            </a:r>
          </a:p>
          <a:p>
            <a:pPr marL="514350" indent="-514350">
              <a:buFont typeface="+mj-lt"/>
              <a:buAutoNum type="arabicPeriod"/>
            </a:pPr>
            <a:r>
              <a:rPr lang="en-US" dirty="0" smtClean="0"/>
              <a:t>C</a:t>
            </a:r>
          </a:p>
          <a:p>
            <a:pPr marL="514350" indent="-514350">
              <a:buFont typeface="+mj-lt"/>
              <a:buAutoNum type="arabicPeriod"/>
            </a:pPr>
            <a:r>
              <a:rPr lang="en-US" dirty="0" smtClean="0"/>
              <a:t>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1676400"/>
            <a:ext cx="533400" cy="403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057400"/>
            <a:ext cx="533400" cy="3657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514600"/>
            <a:ext cx="533400" cy="320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2971800"/>
            <a:ext cx="5334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3429000"/>
            <a:ext cx="533400"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3886200"/>
            <a:ext cx="5334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4343400"/>
            <a:ext cx="5334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4800600"/>
            <a:ext cx="533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
        <p:nvSpPr>
          <p:cNvPr id="5" name="Rectangle 4"/>
          <p:cNvSpPr/>
          <p:nvPr/>
        </p:nvSpPr>
        <p:spPr>
          <a:xfrm>
            <a:off x="914400" y="52578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In-Order Traversal</a:t>
            </a:r>
            <a:endParaRPr lang="en-US" dirty="0"/>
          </a:p>
        </p:txBody>
      </p:sp>
      <p:sp>
        <p:nvSpPr>
          <p:cNvPr id="3" name="Content Placeholder 2"/>
          <p:cNvSpPr>
            <a:spLocks noGrp="1"/>
          </p:cNvSpPr>
          <p:nvPr>
            <p:ph idx="1"/>
          </p:nvPr>
        </p:nvSpPr>
        <p:spPr>
          <a:xfrm>
            <a:off x="457200" y="1600200"/>
            <a:ext cx="3505200" cy="4525963"/>
          </a:xfrm>
        </p:spPr>
        <p:txBody>
          <a:bodyPr>
            <a:normAutofit fontScale="92500" lnSpcReduction="20000"/>
          </a:bodyPr>
          <a:lstStyle/>
          <a:p>
            <a:pPr marL="514350" indent="-514350">
              <a:buFont typeface="+mj-lt"/>
              <a:buAutoNum type="arabicPeriod"/>
            </a:pPr>
            <a:r>
              <a:rPr lang="en-US" dirty="0" smtClean="0"/>
              <a:t>B</a:t>
            </a:r>
          </a:p>
          <a:p>
            <a:pPr marL="514350" indent="-514350">
              <a:buFont typeface="+mj-lt"/>
              <a:buAutoNum type="arabicPeriod"/>
            </a:pPr>
            <a:r>
              <a:rPr lang="en-US" dirty="0" smtClean="0"/>
              <a:t>D</a:t>
            </a:r>
          </a:p>
          <a:p>
            <a:pPr marL="514350" indent="-514350">
              <a:buFont typeface="+mj-lt"/>
              <a:buAutoNum type="arabicPeriod"/>
            </a:pPr>
            <a:r>
              <a:rPr lang="en-US" dirty="0" smtClean="0"/>
              <a:t>A</a:t>
            </a:r>
          </a:p>
          <a:p>
            <a:pPr marL="514350" indent="-514350">
              <a:buFont typeface="+mj-lt"/>
              <a:buAutoNum type="arabicPeriod"/>
            </a:pPr>
            <a:r>
              <a:rPr lang="en-US" dirty="0" smtClean="0"/>
              <a:t>G</a:t>
            </a:r>
          </a:p>
          <a:p>
            <a:pPr marL="514350" indent="-514350">
              <a:buFont typeface="+mj-lt"/>
              <a:buAutoNum type="arabicPeriod"/>
            </a:pPr>
            <a:r>
              <a:rPr lang="en-US" dirty="0" smtClean="0"/>
              <a:t>E</a:t>
            </a:r>
          </a:p>
          <a:p>
            <a:pPr marL="514350" indent="-514350">
              <a:buFont typeface="+mj-lt"/>
              <a:buAutoNum type="arabicPeriod"/>
            </a:pPr>
            <a:r>
              <a:rPr lang="en-US" dirty="0" smtClean="0"/>
              <a:t>C</a:t>
            </a:r>
          </a:p>
          <a:p>
            <a:pPr marL="514350" indent="-514350">
              <a:buFont typeface="+mj-lt"/>
              <a:buAutoNum type="arabicPeriod"/>
            </a:pPr>
            <a:r>
              <a:rPr lang="en-US" dirty="0" smtClean="0"/>
              <a:t>H</a:t>
            </a:r>
          </a:p>
          <a:p>
            <a:pPr marL="514350" indent="-514350">
              <a:buFont typeface="+mj-lt"/>
              <a:buAutoNum type="arabicPeriod"/>
            </a:pPr>
            <a:r>
              <a:rPr lang="en-US" dirty="0" smtClean="0"/>
              <a:t>F</a:t>
            </a:r>
          </a:p>
          <a:p>
            <a:pPr marL="514350" indent="-514350">
              <a:buFont typeface="+mj-lt"/>
              <a:buAutoNum type="arabicPeriod"/>
            </a:pPr>
            <a:r>
              <a:rPr lang="en-US" dirty="0" smtClean="0"/>
              <a:t>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343400" y="1981200"/>
            <a:ext cx="3945775"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Pre-Order Traversal Code V1</a:t>
            </a:r>
          </a:p>
        </p:txBody>
      </p:sp>
      <p:sp>
        <p:nvSpPr>
          <p:cNvPr id="140292" name="Rectangle 3"/>
          <p:cNvSpPr>
            <a:spLocks noGrp="1" noChangeArrowheads="1"/>
          </p:cNvSpPr>
          <p:nvPr>
            <p:ph type="body" idx="1"/>
          </p:nvPr>
        </p:nvSpPr>
        <p:spPr>
          <a:xfrm>
            <a:off x="304800" y="1600200"/>
            <a:ext cx="8839200" cy="4572000"/>
          </a:xfrm>
        </p:spPr>
        <p:txBody>
          <a:bodyPr/>
          <a:lstStyle/>
          <a:p>
            <a:pPr>
              <a:lnSpc>
                <a:spcPct val="60000"/>
              </a:lnSpc>
              <a:buFontTx/>
              <a:buNone/>
            </a:pPr>
            <a:r>
              <a:rPr lang="en-US" sz="2400" b="1" dirty="0" smtClean="0">
                <a:latin typeface="Courier New" pitchFamily="26" charset="0"/>
              </a:rPr>
              <a:t>/** @</a:t>
            </a:r>
            <a:r>
              <a:rPr lang="en-US" sz="2400" b="1" dirty="0" err="1" smtClean="0">
                <a:latin typeface="Courier New" pitchFamily="26" charset="0"/>
              </a:rPr>
              <a:t>param</a:t>
            </a:r>
            <a:r>
              <a:rPr lang="en-US" sz="2400" b="1" dirty="0" smtClean="0">
                <a:latin typeface="Courier New" pitchFamily="26" charset="0"/>
              </a:rPr>
              <a:t> </a:t>
            </a:r>
            <a:r>
              <a:rPr lang="en-US" sz="2400" b="1" dirty="0" err="1" smtClean="0">
                <a:latin typeface="Courier New" pitchFamily="26" charset="0"/>
              </a:rPr>
              <a:t>rt</a:t>
            </a:r>
            <a:r>
              <a:rPr lang="en-US" sz="2400" b="1" dirty="0" smtClean="0">
                <a:latin typeface="Courier New" pitchFamily="26" charset="0"/>
              </a:rPr>
              <a:t> The root of the </a:t>
            </a:r>
            <a:r>
              <a:rPr lang="en-US" sz="2400" b="1" dirty="0" err="1" smtClean="0">
                <a:latin typeface="Courier New" pitchFamily="26" charset="0"/>
              </a:rPr>
              <a:t>subtree</a:t>
            </a:r>
            <a:r>
              <a:rPr lang="en-US" sz="2400" b="1" dirty="0" smtClean="0">
                <a:latin typeface="Courier New" pitchFamily="26" charset="0"/>
              </a:rPr>
              <a:t> */</a:t>
            </a:r>
          </a:p>
          <a:p>
            <a:pPr>
              <a:lnSpc>
                <a:spcPct val="60000"/>
              </a:lnSpc>
              <a:buFontTx/>
              <a:buNone/>
            </a:pPr>
            <a:r>
              <a:rPr lang="en-US" sz="2400" b="1" dirty="0" smtClean="0">
                <a:latin typeface="Courier New" pitchFamily="26" charset="0"/>
              </a:rPr>
              <a:t>void preorder(</a:t>
            </a:r>
            <a:r>
              <a:rPr lang="en-US" sz="2400" b="1" dirty="0" err="1" smtClean="0">
                <a:latin typeface="Courier New" pitchFamily="26" charset="0"/>
              </a:rPr>
              <a:t>BinNode</a:t>
            </a:r>
            <a:r>
              <a:rPr lang="en-US" sz="2400" b="1" dirty="0" smtClean="0">
                <a:latin typeface="Courier New" pitchFamily="26" charset="0"/>
              </a:rPr>
              <a:t> </a:t>
            </a:r>
            <a:r>
              <a:rPr lang="en-US" sz="2400" b="1" dirty="0" err="1" smtClean="0">
                <a:latin typeface="Courier New" pitchFamily="26" charset="0"/>
              </a:rPr>
              <a:t>rt</a:t>
            </a:r>
            <a:r>
              <a:rPr lang="en-US" sz="2400" b="1" dirty="0" smtClean="0">
                <a:latin typeface="Courier New" pitchFamily="26" charset="0"/>
              </a:rPr>
              <a:t>)</a:t>
            </a:r>
          </a:p>
          <a:p>
            <a:pPr>
              <a:lnSpc>
                <a:spcPct val="60000"/>
              </a:lnSpc>
              <a:buFontTx/>
              <a:buNone/>
            </a:pPr>
            <a:r>
              <a:rPr lang="en-US" sz="2400" b="1" dirty="0" smtClean="0">
                <a:latin typeface="Courier New" pitchFamily="26" charset="0"/>
              </a:rPr>
              <a:t>{</a:t>
            </a:r>
          </a:p>
          <a:p>
            <a:pPr>
              <a:lnSpc>
                <a:spcPct val="60000"/>
              </a:lnSpc>
              <a:buFontTx/>
              <a:buNone/>
            </a:pPr>
            <a:r>
              <a:rPr lang="en-US" sz="2400" b="1" dirty="0" smtClean="0">
                <a:latin typeface="Courier New" pitchFamily="26" charset="0"/>
              </a:rPr>
              <a:t>  if (</a:t>
            </a:r>
            <a:r>
              <a:rPr lang="en-US" sz="2400" b="1" dirty="0" err="1" smtClean="0">
                <a:latin typeface="Courier New" pitchFamily="26" charset="0"/>
              </a:rPr>
              <a:t>rt</a:t>
            </a:r>
            <a:r>
              <a:rPr lang="en-US" sz="2400" b="1" dirty="0" smtClean="0">
                <a:latin typeface="Courier New" pitchFamily="26" charset="0"/>
              </a:rPr>
              <a:t> == null) return; // Empty </a:t>
            </a:r>
            <a:r>
              <a:rPr lang="en-US" sz="2400" b="1" dirty="0" err="1" smtClean="0">
                <a:latin typeface="Courier New" pitchFamily="26" charset="0"/>
              </a:rPr>
              <a:t>subtree</a:t>
            </a:r>
            <a:endParaRPr lang="en-US" sz="2400" b="1" dirty="0" smtClean="0">
              <a:latin typeface="Courier New" pitchFamily="26" charset="0"/>
            </a:endParaRPr>
          </a:p>
          <a:p>
            <a:pPr>
              <a:lnSpc>
                <a:spcPct val="60000"/>
              </a:lnSpc>
              <a:buFontTx/>
              <a:buNone/>
            </a:pPr>
            <a:r>
              <a:rPr lang="en-US" sz="2400" b="1" dirty="0" smtClean="0">
                <a:latin typeface="Courier New" pitchFamily="26" charset="0"/>
              </a:rPr>
              <a:t>  visit(</a:t>
            </a:r>
            <a:r>
              <a:rPr lang="en-US" sz="2400" b="1" dirty="0" err="1" smtClean="0">
                <a:latin typeface="Courier New" pitchFamily="26" charset="0"/>
              </a:rPr>
              <a:t>rt</a:t>
            </a:r>
            <a:r>
              <a:rPr lang="en-US" sz="2400" b="1" dirty="0" smtClean="0">
                <a:latin typeface="Courier New" pitchFamily="26" charset="0"/>
              </a:rPr>
              <a:t>);</a:t>
            </a:r>
          </a:p>
          <a:p>
            <a:pPr>
              <a:lnSpc>
                <a:spcPct val="60000"/>
              </a:lnSpc>
              <a:buFontTx/>
              <a:buNone/>
            </a:pPr>
            <a:r>
              <a:rPr lang="en-US" sz="2400" b="1" dirty="0" smtClean="0">
                <a:latin typeface="Courier New" pitchFamily="26" charset="0"/>
              </a:rPr>
              <a:t>  preorder(</a:t>
            </a:r>
            <a:r>
              <a:rPr lang="en-US" sz="2400" b="1" dirty="0" err="1" smtClean="0">
                <a:latin typeface="Courier New" pitchFamily="26" charset="0"/>
              </a:rPr>
              <a:t>rt.left</a:t>
            </a:r>
            <a:r>
              <a:rPr lang="en-US" sz="2400" b="1" dirty="0" smtClean="0">
                <a:latin typeface="Courier New" pitchFamily="26" charset="0"/>
              </a:rPr>
              <a:t>());</a:t>
            </a:r>
          </a:p>
          <a:p>
            <a:pPr>
              <a:lnSpc>
                <a:spcPct val="60000"/>
              </a:lnSpc>
              <a:buFontTx/>
              <a:buNone/>
            </a:pPr>
            <a:r>
              <a:rPr lang="en-US" sz="2400" b="1" dirty="0" smtClean="0">
                <a:latin typeface="Courier New" pitchFamily="26" charset="0"/>
              </a:rPr>
              <a:t>  preorder(</a:t>
            </a:r>
            <a:r>
              <a:rPr lang="en-US" sz="2400" b="1" dirty="0" err="1" smtClean="0">
                <a:latin typeface="Courier New" pitchFamily="26" charset="0"/>
              </a:rPr>
              <a:t>rt.right</a:t>
            </a:r>
            <a:r>
              <a:rPr lang="en-US" sz="2400" b="1" dirty="0" smtClean="0">
                <a:latin typeface="Courier New" pitchFamily="26" charset="0"/>
              </a:rPr>
              <a:t>());</a:t>
            </a:r>
          </a:p>
          <a:p>
            <a:pPr>
              <a:lnSpc>
                <a:spcPct val="60000"/>
              </a:lnSpc>
              <a:buFontTx/>
              <a:buNone/>
            </a:pPr>
            <a:r>
              <a:rPr lang="en-US" sz="2400" b="1" dirty="0" smtClean="0">
                <a:latin typeface="Courier New" pitchFamily="26" charset="0"/>
              </a:rPr>
              <a:t>}</a:t>
            </a:r>
          </a:p>
          <a:p>
            <a:pPr>
              <a:lnSpc>
                <a:spcPct val="40000"/>
              </a:lnSpc>
              <a:buFontTx/>
              <a:buNone/>
            </a:pPr>
            <a:endParaRPr lang="en-US" sz="2400" b="1" dirty="0" smtClean="0">
              <a:latin typeface="Courier New" pitchFamily="26" charset="0"/>
            </a:endParaRPr>
          </a:p>
          <a:p>
            <a:pPr>
              <a:lnSpc>
                <a:spcPct val="60000"/>
              </a:lnSpc>
              <a:buFontTx/>
              <a:buNone/>
            </a:pPr>
            <a:endParaRPr lang="en-US" sz="2400" b="1" dirty="0" smtClean="0">
              <a:latin typeface="Courier New" pitchFamily="26"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Pre-Order Traversal Code V2</a:t>
            </a:r>
          </a:p>
        </p:txBody>
      </p:sp>
      <p:sp>
        <p:nvSpPr>
          <p:cNvPr id="140292" name="Rectangle 3"/>
          <p:cNvSpPr>
            <a:spLocks noGrp="1" noChangeArrowheads="1"/>
          </p:cNvSpPr>
          <p:nvPr>
            <p:ph type="body" idx="1"/>
          </p:nvPr>
        </p:nvSpPr>
        <p:spPr>
          <a:xfrm>
            <a:off x="304800" y="1600200"/>
            <a:ext cx="8839200" cy="4572000"/>
          </a:xfrm>
        </p:spPr>
        <p:txBody>
          <a:bodyPr/>
          <a:lstStyle/>
          <a:p>
            <a:pPr>
              <a:lnSpc>
                <a:spcPct val="60000"/>
              </a:lnSpc>
              <a:buFontTx/>
              <a:buNone/>
            </a:pPr>
            <a:r>
              <a:rPr lang="en-US" sz="2400" b="1" dirty="0" smtClean="0">
                <a:latin typeface="Courier New" pitchFamily="26" charset="0"/>
              </a:rPr>
              <a:t>/** @</a:t>
            </a:r>
            <a:r>
              <a:rPr lang="en-US" sz="2400" b="1" dirty="0" err="1" smtClean="0">
                <a:latin typeface="Courier New" pitchFamily="26" charset="0"/>
              </a:rPr>
              <a:t>param</a:t>
            </a:r>
            <a:r>
              <a:rPr lang="en-US" sz="2400" b="1" dirty="0" smtClean="0">
                <a:latin typeface="Courier New" pitchFamily="26" charset="0"/>
              </a:rPr>
              <a:t> </a:t>
            </a:r>
            <a:r>
              <a:rPr lang="en-US" sz="2400" b="1" dirty="0" err="1" smtClean="0">
                <a:latin typeface="Courier New" pitchFamily="26" charset="0"/>
              </a:rPr>
              <a:t>rt</a:t>
            </a:r>
            <a:r>
              <a:rPr lang="en-US" sz="2400" b="1" dirty="0" smtClean="0">
                <a:latin typeface="Courier New" pitchFamily="26" charset="0"/>
              </a:rPr>
              <a:t> The root of the </a:t>
            </a:r>
            <a:r>
              <a:rPr lang="en-US" sz="2400" b="1" dirty="0" err="1" smtClean="0">
                <a:latin typeface="Courier New" pitchFamily="26" charset="0"/>
              </a:rPr>
              <a:t>subtree</a:t>
            </a:r>
            <a:r>
              <a:rPr lang="en-US" sz="2400" b="1" dirty="0" smtClean="0">
                <a:latin typeface="Courier New" pitchFamily="26" charset="0"/>
              </a:rPr>
              <a:t> */</a:t>
            </a:r>
          </a:p>
          <a:p>
            <a:pPr>
              <a:lnSpc>
                <a:spcPct val="40000"/>
              </a:lnSpc>
              <a:buFontTx/>
              <a:buNone/>
            </a:pPr>
            <a:endParaRPr lang="en-US" sz="2400" b="1" dirty="0" smtClean="0">
              <a:latin typeface="Courier New" pitchFamily="26" charset="0"/>
            </a:endParaRPr>
          </a:p>
          <a:p>
            <a:pPr>
              <a:lnSpc>
                <a:spcPct val="60000"/>
              </a:lnSpc>
              <a:buFontTx/>
              <a:buNone/>
            </a:pPr>
            <a:r>
              <a:rPr lang="en-US" sz="2400" b="1" dirty="0" smtClean="0">
                <a:latin typeface="Courier New" pitchFamily="26" charset="0"/>
              </a:rPr>
              <a:t>void preorder2(</a:t>
            </a:r>
            <a:r>
              <a:rPr lang="en-US" sz="2400" b="1" dirty="0" err="1" smtClean="0">
                <a:latin typeface="Courier New" pitchFamily="26" charset="0"/>
              </a:rPr>
              <a:t>BinNode</a:t>
            </a:r>
            <a:r>
              <a:rPr lang="en-US" sz="2400" b="1" dirty="0" smtClean="0">
                <a:latin typeface="Courier New" pitchFamily="26" charset="0"/>
              </a:rPr>
              <a:t> </a:t>
            </a:r>
            <a:r>
              <a:rPr lang="en-US" sz="2400" b="1" dirty="0" err="1" smtClean="0">
                <a:latin typeface="Courier New" pitchFamily="26" charset="0"/>
              </a:rPr>
              <a:t>rt</a:t>
            </a:r>
            <a:r>
              <a:rPr lang="en-US" sz="2400" b="1" dirty="0" smtClean="0">
                <a:latin typeface="Courier New" pitchFamily="26" charset="0"/>
              </a:rPr>
              <a:t>) // Not so good</a:t>
            </a:r>
          </a:p>
          <a:p>
            <a:pPr>
              <a:lnSpc>
                <a:spcPct val="60000"/>
              </a:lnSpc>
              <a:buFontTx/>
              <a:buNone/>
            </a:pPr>
            <a:r>
              <a:rPr lang="en-US" sz="2400" b="1" dirty="0" smtClean="0">
                <a:latin typeface="Courier New" pitchFamily="26" charset="0"/>
              </a:rPr>
              <a:t>{</a:t>
            </a:r>
          </a:p>
          <a:p>
            <a:pPr>
              <a:lnSpc>
                <a:spcPct val="60000"/>
              </a:lnSpc>
              <a:buFontTx/>
              <a:buNone/>
            </a:pPr>
            <a:r>
              <a:rPr lang="en-US" sz="2400" b="1" dirty="0" smtClean="0">
                <a:latin typeface="Courier New" pitchFamily="26" charset="0"/>
              </a:rPr>
              <a:t>  visit(</a:t>
            </a:r>
            <a:r>
              <a:rPr lang="en-US" sz="2400" b="1" dirty="0" err="1" smtClean="0">
                <a:latin typeface="Courier New" pitchFamily="26" charset="0"/>
              </a:rPr>
              <a:t>rt</a:t>
            </a:r>
            <a:r>
              <a:rPr lang="en-US" sz="2400" b="1" dirty="0" smtClean="0">
                <a:latin typeface="Courier New" pitchFamily="26" charset="0"/>
              </a:rPr>
              <a:t>);</a:t>
            </a:r>
          </a:p>
          <a:p>
            <a:pPr>
              <a:lnSpc>
                <a:spcPct val="60000"/>
              </a:lnSpc>
              <a:buFontTx/>
              <a:buNone/>
            </a:pPr>
            <a:r>
              <a:rPr lang="en-US" sz="2400" b="1" dirty="0" smtClean="0">
                <a:latin typeface="Courier New" pitchFamily="26" charset="0"/>
              </a:rPr>
              <a:t>  if (</a:t>
            </a:r>
            <a:r>
              <a:rPr lang="en-US" sz="2400" b="1" dirty="0" err="1" smtClean="0">
                <a:latin typeface="Courier New" pitchFamily="26" charset="0"/>
              </a:rPr>
              <a:t>rt.left</a:t>
            </a:r>
            <a:r>
              <a:rPr lang="en-US" sz="2400" b="1" dirty="0" smtClean="0">
                <a:latin typeface="Courier New" pitchFamily="26" charset="0"/>
              </a:rPr>
              <a:t>() != null)  preorder(</a:t>
            </a:r>
            <a:r>
              <a:rPr lang="en-US" sz="2400" b="1" dirty="0" err="1" smtClean="0">
                <a:latin typeface="Courier New" pitchFamily="26" charset="0"/>
              </a:rPr>
              <a:t>rt.left</a:t>
            </a:r>
            <a:r>
              <a:rPr lang="en-US" sz="2400" b="1" dirty="0" smtClean="0">
                <a:latin typeface="Courier New" pitchFamily="26" charset="0"/>
              </a:rPr>
              <a:t>());</a:t>
            </a:r>
          </a:p>
          <a:p>
            <a:pPr>
              <a:lnSpc>
                <a:spcPct val="60000"/>
              </a:lnSpc>
              <a:buFontTx/>
              <a:buNone/>
            </a:pPr>
            <a:r>
              <a:rPr lang="en-US" sz="2400" b="1" dirty="0" smtClean="0">
                <a:latin typeface="Courier New" pitchFamily="26" charset="0"/>
              </a:rPr>
              <a:t>  if (</a:t>
            </a:r>
            <a:r>
              <a:rPr lang="en-US" sz="2400" b="1" dirty="0" err="1" smtClean="0">
                <a:latin typeface="Courier New" pitchFamily="26" charset="0"/>
              </a:rPr>
              <a:t>rt.right</a:t>
            </a:r>
            <a:r>
              <a:rPr lang="en-US" sz="2400" b="1" dirty="0" smtClean="0">
                <a:latin typeface="Courier New" pitchFamily="26" charset="0"/>
              </a:rPr>
              <a:t>() != null) preorder(</a:t>
            </a:r>
            <a:r>
              <a:rPr lang="en-US" sz="2400" b="1" dirty="0" err="1" smtClean="0">
                <a:latin typeface="Courier New" pitchFamily="26" charset="0"/>
              </a:rPr>
              <a:t>rt.right</a:t>
            </a:r>
            <a:r>
              <a:rPr lang="en-US" sz="2400" b="1" dirty="0" smtClean="0">
                <a:latin typeface="Courier New" pitchFamily="26" charset="0"/>
              </a:rPr>
              <a:t>());</a:t>
            </a:r>
          </a:p>
          <a:p>
            <a:pPr>
              <a:lnSpc>
                <a:spcPct val="60000"/>
              </a:lnSpc>
              <a:buFontTx/>
              <a:buNone/>
            </a:pPr>
            <a:r>
              <a:rPr lang="en-US" sz="2400" b="1" dirty="0" smtClean="0">
                <a:latin typeface="Courier New" pitchFamily="26" charset="0"/>
              </a:rPr>
              <a:t>}</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 </a:t>
            </a:r>
            <a:r>
              <a:rPr lang="en-US" dirty="0" err="1" smtClean="0"/>
              <a:t>vs</a:t>
            </a:r>
            <a:r>
              <a:rPr lang="en-US" dirty="0" smtClean="0"/>
              <a:t> preorder2</a:t>
            </a:r>
            <a:endParaRPr lang="en-US" dirty="0"/>
          </a:p>
        </p:txBody>
      </p:sp>
      <p:sp>
        <p:nvSpPr>
          <p:cNvPr id="3" name="Content Placeholder 2"/>
          <p:cNvSpPr>
            <a:spLocks noGrp="1"/>
          </p:cNvSpPr>
          <p:nvPr>
            <p:ph idx="1"/>
          </p:nvPr>
        </p:nvSpPr>
        <p:spPr>
          <a:xfrm>
            <a:off x="437804" y="1066801"/>
            <a:ext cx="8229600" cy="3276600"/>
          </a:xfrm>
        </p:spPr>
        <p:txBody>
          <a:bodyPr/>
          <a:lstStyle/>
          <a:p>
            <a:r>
              <a:rPr lang="en-US" dirty="0" smtClean="0"/>
              <a:t>preorder2 makes only half as many recursive calls. (Why?) </a:t>
            </a:r>
          </a:p>
          <a:p>
            <a:r>
              <a:rPr lang="en-US" dirty="0" smtClean="0"/>
              <a:t>On the other hand, </a:t>
            </a:r>
            <a:r>
              <a:rPr lang="en-US" b="1" dirty="0" smtClean="0"/>
              <a:t>preorder2 must access the left and right child pointers twice as often.</a:t>
            </a:r>
          </a:p>
          <a:p>
            <a:r>
              <a:rPr lang="en-US" b="1" dirty="0" smtClean="0"/>
              <a:t>The net </a:t>
            </a:r>
            <a:r>
              <a:rPr lang="en-US" dirty="0" smtClean="0"/>
              <a:t>result is little or no performance improvement.</a:t>
            </a:r>
            <a:endParaRPr lang="en-US" dirty="0"/>
          </a:p>
        </p:txBody>
      </p:sp>
      <p:sp>
        <p:nvSpPr>
          <p:cNvPr id="4" name="Content Placeholder 2"/>
          <p:cNvSpPr txBox="1">
            <a:spLocks/>
          </p:cNvSpPr>
          <p:nvPr/>
        </p:nvSpPr>
        <p:spPr>
          <a:xfrm>
            <a:off x="1981200" y="4114800"/>
            <a:ext cx="5638800" cy="2590799"/>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60000"/>
              </a:lnSpc>
              <a:buFontTx/>
              <a:buNone/>
            </a:pPr>
            <a:endParaRPr lang="en-US" b="1" smtClean="0">
              <a:latin typeface="Courier New" pitchFamily="26" charset="0"/>
            </a:endParaRPr>
          </a:p>
          <a:p>
            <a:pPr>
              <a:lnSpc>
                <a:spcPct val="60000"/>
              </a:lnSpc>
              <a:buFontTx/>
              <a:buNone/>
            </a:pPr>
            <a:endParaRPr lang="en-US" b="1" smtClean="0">
              <a:latin typeface="Courier New" pitchFamily="26" charset="0"/>
            </a:endParaRPr>
          </a:p>
          <a:p>
            <a:pPr>
              <a:lnSpc>
                <a:spcPct val="60000"/>
              </a:lnSpc>
              <a:buFontTx/>
              <a:buNone/>
            </a:pPr>
            <a:r>
              <a:rPr lang="en-US" b="1" smtClean="0">
                <a:latin typeface="Courier New" pitchFamily="26" charset="0"/>
              </a:rPr>
              <a:t>void preorder(BinNode rt)</a:t>
            </a:r>
          </a:p>
          <a:p>
            <a:pPr>
              <a:lnSpc>
                <a:spcPct val="60000"/>
              </a:lnSpc>
              <a:buFontTx/>
              <a:buNone/>
            </a:pPr>
            <a:r>
              <a:rPr lang="en-US" b="1" smtClean="0">
                <a:latin typeface="Courier New" pitchFamily="26" charset="0"/>
              </a:rPr>
              <a:t>{</a:t>
            </a:r>
          </a:p>
          <a:p>
            <a:pPr>
              <a:lnSpc>
                <a:spcPct val="60000"/>
              </a:lnSpc>
              <a:buFontTx/>
              <a:buNone/>
            </a:pPr>
            <a:r>
              <a:rPr lang="en-US" b="1" smtClean="0">
                <a:latin typeface="Courier New" pitchFamily="26" charset="0"/>
              </a:rPr>
              <a:t>  if (rt == null) return; // Empty subtree</a:t>
            </a:r>
          </a:p>
          <a:p>
            <a:pPr>
              <a:lnSpc>
                <a:spcPct val="60000"/>
              </a:lnSpc>
              <a:buFontTx/>
              <a:buNone/>
            </a:pPr>
            <a:r>
              <a:rPr lang="en-US" b="1" smtClean="0">
                <a:latin typeface="Courier New" pitchFamily="26" charset="0"/>
              </a:rPr>
              <a:t>  visit(rt);</a:t>
            </a:r>
          </a:p>
          <a:p>
            <a:pPr>
              <a:lnSpc>
                <a:spcPct val="60000"/>
              </a:lnSpc>
              <a:buFontTx/>
              <a:buNone/>
            </a:pPr>
            <a:r>
              <a:rPr lang="en-US" b="1" smtClean="0">
                <a:latin typeface="Courier New" pitchFamily="26" charset="0"/>
              </a:rPr>
              <a:t>  preorder(rt.left());</a:t>
            </a:r>
          </a:p>
          <a:p>
            <a:pPr>
              <a:lnSpc>
                <a:spcPct val="60000"/>
              </a:lnSpc>
              <a:buFontTx/>
              <a:buNone/>
            </a:pPr>
            <a:r>
              <a:rPr lang="en-US" b="1" smtClean="0">
                <a:latin typeface="Courier New" pitchFamily="26" charset="0"/>
              </a:rPr>
              <a:t>  preorder(rt.right());</a:t>
            </a:r>
          </a:p>
          <a:p>
            <a:pPr>
              <a:lnSpc>
                <a:spcPct val="60000"/>
              </a:lnSpc>
              <a:buFontTx/>
              <a:buNone/>
            </a:pPr>
            <a:r>
              <a:rPr lang="en-US" b="1" smtClean="0">
                <a:latin typeface="Courier New" pitchFamily="26" charset="0"/>
              </a:rPr>
              <a:t>}</a:t>
            </a:r>
          </a:p>
          <a:p>
            <a:pPr>
              <a:lnSpc>
                <a:spcPct val="60000"/>
              </a:lnSpc>
              <a:buFontTx/>
              <a:buNone/>
            </a:pPr>
            <a:endParaRPr lang="en-US" b="1" smtClean="0">
              <a:latin typeface="Courier New" pitchFamily="26" charset="0"/>
            </a:endParaRPr>
          </a:p>
          <a:p>
            <a:pPr>
              <a:lnSpc>
                <a:spcPct val="40000"/>
              </a:lnSpc>
              <a:buFontTx/>
              <a:buNone/>
            </a:pPr>
            <a:endParaRPr lang="en-US" b="1" smtClean="0">
              <a:latin typeface="Courier New" pitchFamily="26" charset="0"/>
            </a:endParaRPr>
          </a:p>
          <a:p>
            <a:pPr>
              <a:lnSpc>
                <a:spcPct val="60000"/>
              </a:lnSpc>
              <a:buFontTx/>
              <a:buNone/>
            </a:pPr>
            <a:r>
              <a:rPr lang="en-US" b="1" smtClean="0">
                <a:latin typeface="Courier New" pitchFamily="26" charset="0"/>
              </a:rPr>
              <a:t>void preorder2(BinNode rt) // Not so good</a:t>
            </a:r>
          </a:p>
          <a:p>
            <a:pPr>
              <a:lnSpc>
                <a:spcPct val="60000"/>
              </a:lnSpc>
              <a:buFontTx/>
              <a:buNone/>
            </a:pPr>
            <a:r>
              <a:rPr lang="en-US" b="1" smtClean="0">
                <a:latin typeface="Courier New" pitchFamily="26" charset="0"/>
              </a:rPr>
              <a:t>{</a:t>
            </a:r>
          </a:p>
          <a:p>
            <a:pPr>
              <a:lnSpc>
                <a:spcPct val="60000"/>
              </a:lnSpc>
              <a:buFontTx/>
              <a:buNone/>
            </a:pPr>
            <a:r>
              <a:rPr lang="en-US" b="1" smtClean="0">
                <a:latin typeface="Courier New" pitchFamily="26" charset="0"/>
              </a:rPr>
              <a:t>  visit(rt);</a:t>
            </a:r>
          </a:p>
          <a:p>
            <a:pPr>
              <a:lnSpc>
                <a:spcPct val="60000"/>
              </a:lnSpc>
              <a:buFontTx/>
              <a:buNone/>
            </a:pPr>
            <a:r>
              <a:rPr lang="en-US" b="1" smtClean="0">
                <a:latin typeface="Courier New" pitchFamily="26" charset="0"/>
              </a:rPr>
              <a:t>  if (rt.left() != null)  preorder(rt.left());</a:t>
            </a:r>
          </a:p>
          <a:p>
            <a:pPr>
              <a:lnSpc>
                <a:spcPct val="60000"/>
              </a:lnSpc>
              <a:buFontTx/>
              <a:buNone/>
            </a:pPr>
            <a:r>
              <a:rPr lang="en-US" b="1" smtClean="0">
                <a:latin typeface="Courier New" pitchFamily="26" charset="0"/>
              </a:rPr>
              <a:t>  if (rt.right() != null) preorder(rt.right());</a:t>
            </a:r>
          </a:p>
          <a:p>
            <a:pPr>
              <a:lnSpc>
                <a:spcPct val="60000"/>
              </a:lnSpc>
              <a:buFontTx/>
              <a:buNone/>
            </a:pPr>
            <a:r>
              <a:rPr lang="en-US" b="1" smtClean="0">
                <a:latin typeface="Courier New" pitchFamily="26" charset="0"/>
              </a:rPr>
              <a:t>}</a:t>
            </a:r>
          </a:p>
          <a:p>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Preorder2 is inferior</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First, for more complex traversals it can become awkward to place the check for the </a:t>
            </a:r>
            <a:r>
              <a:rPr lang="en-US" b="1" dirty="0" smtClean="0"/>
              <a:t>NULL pointer in the </a:t>
            </a:r>
            <a:r>
              <a:rPr lang="en-US" dirty="0" smtClean="0"/>
              <a:t>calling code. </a:t>
            </a:r>
          </a:p>
          <a:p>
            <a:pPr lvl="1"/>
            <a:r>
              <a:rPr lang="en-US" dirty="0" smtClean="0"/>
              <a:t>Even here we had to write two tests for </a:t>
            </a:r>
            <a:r>
              <a:rPr lang="en-US" b="1" dirty="0" smtClean="0"/>
              <a:t>NULL, rather than the one </a:t>
            </a:r>
            <a:r>
              <a:rPr lang="en-US" dirty="0" smtClean="0"/>
              <a:t>needed by </a:t>
            </a:r>
            <a:r>
              <a:rPr lang="en-US" b="1" dirty="0" smtClean="0"/>
              <a:t>preorder.</a:t>
            </a:r>
          </a:p>
          <a:p>
            <a:r>
              <a:rPr lang="en-US" dirty="0" smtClean="0"/>
              <a:t>The more important concern with </a:t>
            </a:r>
            <a:r>
              <a:rPr lang="en-US" b="1" dirty="0" smtClean="0"/>
              <a:t>preorder2 is that it </a:t>
            </a:r>
            <a:r>
              <a:rPr lang="en-US" dirty="0" smtClean="0"/>
              <a:t>tends to be error prone. </a:t>
            </a:r>
          </a:p>
          <a:p>
            <a:pPr lvl="1"/>
            <a:r>
              <a:rPr lang="en-US" dirty="0" smtClean="0"/>
              <a:t>While </a:t>
            </a:r>
            <a:r>
              <a:rPr lang="en-US" b="1" dirty="0" smtClean="0"/>
              <a:t>preorder2 insures that no recursive calls will </a:t>
            </a:r>
            <a:r>
              <a:rPr lang="en-US" dirty="0" smtClean="0"/>
              <a:t>be made on empty </a:t>
            </a:r>
            <a:r>
              <a:rPr lang="en-US" dirty="0" err="1" smtClean="0"/>
              <a:t>subtrees</a:t>
            </a:r>
            <a:r>
              <a:rPr lang="en-US" dirty="0" smtClean="0"/>
              <a:t>, it will fail if the initial call passes in a </a:t>
            </a:r>
            <a:r>
              <a:rPr lang="en-US" b="1" dirty="0" smtClean="0"/>
              <a:t>NULL pointer.</a:t>
            </a: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2"/>
          <p:cNvSpPr>
            <a:spLocks noGrp="1" noChangeArrowheads="1"/>
          </p:cNvSpPr>
          <p:nvPr>
            <p:ph type="title"/>
          </p:nvPr>
        </p:nvSpPr>
        <p:spPr>
          <a:xfrm>
            <a:off x="455613" y="365124"/>
            <a:ext cx="8226425" cy="1235075"/>
          </a:xfrm>
        </p:spPr>
        <p:txBody>
          <a:bodyPr>
            <a:normAutofit fontScale="90000"/>
          </a:bodyPr>
          <a:lstStyle/>
          <a:p>
            <a:r>
              <a:rPr lang="en-US" dirty="0" smtClean="0">
                <a:latin typeface="Helvetica" pitchFamily="26" charset="0"/>
              </a:rPr>
              <a:t>Recursion Example: Counting the nodes</a:t>
            </a:r>
          </a:p>
        </p:txBody>
      </p:sp>
      <p:sp>
        <p:nvSpPr>
          <p:cNvPr id="141316" name="Rectangle 3"/>
          <p:cNvSpPr>
            <a:spLocks noGrp="1" noChangeArrowheads="1"/>
          </p:cNvSpPr>
          <p:nvPr>
            <p:ph type="body" idx="1"/>
          </p:nvPr>
        </p:nvSpPr>
        <p:spPr>
          <a:xfrm>
            <a:off x="304800" y="1600200"/>
            <a:ext cx="8839200" cy="4572000"/>
          </a:xfrm>
        </p:spPr>
        <p:txBody>
          <a:bodyPr>
            <a:normAutofit/>
          </a:bodyPr>
          <a:lstStyle/>
          <a:p>
            <a:r>
              <a:rPr lang="en-US" sz="2400" dirty="0" smtClean="0"/>
              <a:t>We wish to count the number of nodes in a binary tree. </a:t>
            </a:r>
          </a:p>
          <a:p>
            <a:pPr lvl="1"/>
            <a:r>
              <a:rPr lang="en-US" sz="2000" dirty="0" smtClean="0"/>
              <a:t>How?</a:t>
            </a:r>
          </a:p>
          <a:p>
            <a:r>
              <a:rPr lang="en-US" sz="2400" dirty="0" smtClean="0"/>
              <a:t>The key insight is that the total count for any (non-empty) subtree is one for the root plus the counts for the left and right subtrees.</a:t>
            </a:r>
          </a:p>
          <a:p>
            <a:endParaRPr lang="en-US" sz="2400" b="1" dirty="0" smtClean="0">
              <a:latin typeface="Courier New" pitchFamily="26" charset="0"/>
            </a:endParaRPr>
          </a:p>
          <a:p>
            <a:pPr>
              <a:lnSpc>
                <a:spcPct val="60000"/>
              </a:lnSpc>
              <a:buFontTx/>
              <a:buNone/>
            </a:pPr>
            <a:endParaRPr lang="en-US" sz="2400" b="1" dirty="0" smtClean="0">
              <a:latin typeface="Courier New" pitchFamily="26" charset="0"/>
            </a:endParaRPr>
          </a:p>
          <a:p>
            <a:pPr>
              <a:lnSpc>
                <a:spcPct val="60000"/>
              </a:lnSpc>
              <a:buFontTx/>
              <a:buNone/>
            </a:pPr>
            <a:r>
              <a:rPr lang="en-US" sz="2400" b="1" dirty="0" err="1" smtClean="0">
                <a:latin typeface="Courier New" pitchFamily="26" charset="0"/>
              </a:rPr>
              <a:t>int</a:t>
            </a:r>
            <a:r>
              <a:rPr lang="en-US" sz="2400" b="1" dirty="0" smtClean="0">
                <a:latin typeface="Courier New" pitchFamily="26" charset="0"/>
              </a:rPr>
              <a:t> count(</a:t>
            </a:r>
            <a:r>
              <a:rPr lang="en-US" sz="2400" b="1" dirty="0" err="1" smtClean="0">
                <a:latin typeface="Courier New" pitchFamily="26" charset="0"/>
              </a:rPr>
              <a:t>BinNode</a:t>
            </a:r>
            <a:r>
              <a:rPr lang="en-US" sz="2400" b="1" dirty="0" smtClean="0">
                <a:latin typeface="Courier New" pitchFamily="26" charset="0"/>
              </a:rPr>
              <a:t> </a:t>
            </a:r>
            <a:r>
              <a:rPr lang="en-US" sz="2400" b="1" dirty="0" err="1" smtClean="0">
                <a:latin typeface="Courier New" pitchFamily="26" charset="0"/>
              </a:rPr>
              <a:t>rt</a:t>
            </a:r>
            <a:r>
              <a:rPr lang="en-US" sz="2400" b="1" dirty="0" smtClean="0">
                <a:latin typeface="Courier New" pitchFamily="26" charset="0"/>
              </a:rPr>
              <a:t>) {</a:t>
            </a:r>
          </a:p>
          <a:p>
            <a:pPr>
              <a:lnSpc>
                <a:spcPct val="60000"/>
              </a:lnSpc>
              <a:buFontTx/>
              <a:buNone/>
            </a:pPr>
            <a:r>
              <a:rPr lang="en-US" sz="2400" b="1" dirty="0" smtClean="0">
                <a:latin typeface="Courier New" pitchFamily="26" charset="0"/>
              </a:rPr>
              <a:t>  if (</a:t>
            </a:r>
            <a:r>
              <a:rPr lang="en-US" sz="2400" b="1" dirty="0" err="1" smtClean="0">
                <a:latin typeface="Courier New" pitchFamily="26" charset="0"/>
              </a:rPr>
              <a:t>rt</a:t>
            </a:r>
            <a:r>
              <a:rPr lang="en-US" sz="2400" b="1" dirty="0" smtClean="0">
                <a:latin typeface="Courier New" pitchFamily="26" charset="0"/>
              </a:rPr>
              <a:t> == null) return 0;</a:t>
            </a:r>
          </a:p>
          <a:p>
            <a:pPr>
              <a:lnSpc>
                <a:spcPct val="60000"/>
              </a:lnSpc>
              <a:buFontTx/>
              <a:buNone/>
            </a:pPr>
            <a:r>
              <a:rPr lang="en-US" sz="2400" b="1" dirty="0" smtClean="0">
                <a:latin typeface="Courier New" pitchFamily="26" charset="0"/>
              </a:rPr>
              <a:t>  return 1 + count(</a:t>
            </a:r>
            <a:r>
              <a:rPr lang="en-US" sz="2400" b="1" dirty="0" err="1" smtClean="0">
                <a:latin typeface="Courier New" pitchFamily="26" charset="0"/>
              </a:rPr>
              <a:t>rt.left</a:t>
            </a:r>
            <a:r>
              <a:rPr lang="en-US" sz="2400" b="1" dirty="0" smtClean="0">
                <a:latin typeface="Courier New" pitchFamily="26" charset="0"/>
              </a:rPr>
              <a:t>()) + </a:t>
            </a:r>
          </a:p>
          <a:p>
            <a:pPr>
              <a:lnSpc>
                <a:spcPct val="60000"/>
              </a:lnSpc>
              <a:buFontTx/>
              <a:buNone/>
            </a:pPr>
            <a:r>
              <a:rPr lang="en-US" sz="2400" b="1" dirty="0" smtClean="0">
                <a:latin typeface="Courier New" pitchFamily="26" charset="0"/>
              </a:rPr>
              <a:t>             count(</a:t>
            </a:r>
            <a:r>
              <a:rPr lang="en-US" sz="2400" b="1" dirty="0" err="1" smtClean="0">
                <a:latin typeface="Courier New" pitchFamily="26" charset="0"/>
              </a:rPr>
              <a:t>rt.right</a:t>
            </a:r>
            <a:r>
              <a:rPr lang="en-US" sz="2400" b="1" dirty="0" smtClean="0">
                <a:latin typeface="Courier New" pitchFamily="26" charset="0"/>
              </a:rPr>
              <a:t>());</a:t>
            </a:r>
          </a:p>
          <a:p>
            <a:pPr>
              <a:lnSpc>
                <a:spcPct val="60000"/>
              </a:lnSpc>
              <a:buFontTx/>
              <a:buNone/>
            </a:pPr>
            <a:r>
              <a:rPr lang="en-US" sz="2400" b="1" dirty="0" smtClean="0">
                <a:latin typeface="Courier New" pitchFamily="26" charset="0"/>
              </a:rPr>
              <a:t>}</a:t>
            </a:r>
          </a:p>
          <a:p>
            <a:pPr>
              <a:lnSpc>
                <a:spcPct val="60000"/>
              </a:lnSpc>
              <a:buFontTx/>
              <a:buNone/>
            </a:pPr>
            <a:endParaRPr lang="en-US" sz="2400" b="1" dirty="0" smtClean="0">
              <a:latin typeface="Courier New" pitchFamily="2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1316">
                                            <p:txEl>
                                              <p:pRg st="2" end="2"/>
                                            </p:txEl>
                                          </p:spTgt>
                                        </p:tgtEl>
                                        <p:attrNameLst>
                                          <p:attrName>style.visibility</p:attrName>
                                        </p:attrNameLst>
                                      </p:cBhvr>
                                      <p:to>
                                        <p:strVal val="visible"/>
                                      </p:to>
                                    </p:set>
                                    <p:animEffect transition="in" filter="fade">
                                      <p:cBhvr>
                                        <p:cTn id="7" dur="1000"/>
                                        <p:tgtEl>
                                          <p:spTgt spid="141316">
                                            <p:txEl>
                                              <p:pRg st="2" end="2"/>
                                            </p:txEl>
                                          </p:spTgt>
                                        </p:tgtEl>
                                      </p:cBhvr>
                                    </p:animEffect>
                                    <p:anim calcmode="lin" valueType="num">
                                      <p:cBhvr>
                                        <p:cTn id="8" dur="1000" fill="hold"/>
                                        <p:tgtEl>
                                          <p:spTgt spid="14131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413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41316">
                                            <p:txEl>
                                              <p:pRg st="5" end="5"/>
                                            </p:txEl>
                                          </p:spTgt>
                                        </p:tgtEl>
                                        <p:attrNameLst>
                                          <p:attrName>style.visibility</p:attrName>
                                        </p:attrNameLst>
                                      </p:cBhvr>
                                      <p:to>
                                        <p:strVal val="visible"/>
                                      </p:to>
                                    </p:set>
                                    <p:anim calcmode="lin" valueType="num">
                                      <p:cBhvr additive="base">
                                        <p:cTn id="14" dur="500" fill="hold"/>
                                        <p:tgtEl>
                                          <p:spTgt spid="141316">
                                            <p:txEl>
                                              <p:pRg st="5" end="5"/>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41316">
                                            <p:txEl>
                                              <p:pRg st="5" end="5"/>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41316">
                                            <p:txEl>
                                              <p:pRg st="6" end="6"/>
                                            </p:txEl>
                                          </p:spTgt>
                                        </p:tgtEl>
                                        <p:attrNameLst>
                                          <p:attrName>style.visibility</p:attrName>
                                        </p:attrNameLst>
                                      </p:cBhvr>
                                      <p:to>
                                        <p:strVal val="visible"/>
                                      </p:to>
                                    </p:set>
                                    <p:anim calcmode="lin" valueType="num">
                                      <p:cBhvr additive="base">
                                        <p:cTn id="18" dur="500" fill="hold"/>
                                        <p:tgtEl>
                                          <p:spTgt spid="141316">
                                            <p:txEl>
                                              <p:pRg st="6" end="6"/>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1316">
                                            <p:txEl>
                                              <p:pRg st="6" end="6"/>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41316">
                                            <p:txEl>
                                              <p:pRg st="7" end="7"/>
                                            </p:txEl>
                                          </p:spTgt>
                                        </p:tgtEl>
                                        <p:attrNameLst>
                                          <p:attrName>style.visibility</p:attrName>
                                        </p:attrNameLst>
                                      </p:cBhvr>
                                      <p:to>
                                        <p:strVal val="visible"/>
                                      </p:to>
                                    </p:set>
                                    <p:anim calcmode="lin" valueType="num">
                                      <p:cBhvr additive="base">
                                        <p:cTn id="22" dur="500" fill="hold"/>
                                        <p:tgtEl>
                                          <p:spTgt spid="141316">
                                            <p:txEl>
                                              <p:pRg st="7" end="7"/>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1316">
                                            <p:txEl>
                                              <p:pRg st="7" end="7"/>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41316">
                                            <p:txEl>
                                              <p:pRg st="8" end="8"/>
                                            </p:txEl>
                                          </p:spTgt>
                                        </p:tgtEl>
                                        <p:attrNameLst>
                                          <p:attrName>style.visibility</p:attrName>
                                        </p:attrNameLst>
                                      </p:cBhvr>
                                      <p:to>
                                        <p:strVal val="visible"/>
                                      </p:to>
                                    </p:set>
                                    <p:anim calcmode="lin" valueType="num">
                                      <p:cBhvr additive="base">
                                        <p:cTn id="26" dur="500" fill="hold"/>
                                        <p:tgtEl>
                                          <p:spTgt spid="141316">
                                            <p:txEl>
                                              <p:pRg st="8" end="8"/>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41316">
                                            <p:txEl>
                                              <p:pRg st="8" end="8"/>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41316">
                                            <p:txEl>
                                              <p:pRg st="9" end="9"/>
                                            </p:txEl>
                                          </p:spTgt>
                                        </p:tgtEl>
                                        <p:attrNameLst>
                                          <p:attrName>style.visibility</p:attrName>
                                        </p:attrNameLst>
                                      </p:cBhvr>
                                      <p:to>
                                        <p:strVal val="visible"/>
                                      </p:to>
                                    </p:set>
                                    <p:anim calcmode="lin" valueType="num">
                                      <p:cBhvr additive="base">
                                        <p:cTn id="30" dur="500" fill="hold"/>
                                        <p:tgtEl>
                                          <p:spTgt spid="141316">
                                            <p:txEl>
                                              <p:pRg st="9" end="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4131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Binary Tree Implementation: ‘Key’ Value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We do not want to describe what we are looking for by detailing and matching the entire contents of the record. </a:t>
            </a:r>
          </a:p>
          <a:p>
            <a:r>
              <a:rPr lang="en-US" dirty="0" smtClean="0"/>
              <a:t>If we knew everything about the record already, we probably would not need to look for it. </a:t>
            </a:r>
          </a:p>
          <a:p>
            <a:r>
              <a:rPr lang="en-US" dirty="0" smtClean="0"/>
              <a:t>Instead, we typically define what record we want in terms of a key value. </a:t>
            </a:r>
          </a:p>
          <a:p>
            <a:r>
              <a:rPr lang="en-US" dirty="0" smtClean="0"/>
              <a:t>For example, if searching for payroll records, we might wish to search for the record that matches a particular ID number. </a:t>
            </a:r>
          </a:p>
          <a:p>
            <a:r>
              <a:rPr lang="en-US" dirty="0" smtClean="0"/>
              <a:t>The ID number is then the search ‘key’.</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Tree Implementation</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531851800"/>
              </p:ext>
            </p:extLst>
          </p:nvPr>
        </p:nvGraphicFramePr>
        <p:xfrm>
          <a:off x="3629025" y="3062288"/>
          <a:ext cx="1885950" cy="733425"/>
        </p:xfrm>
        <a:graphic>
          <a:graphicData uri="http://schemas.openxmlformats.org/presentationml/2006/ole">
            <mc:AlternateContent xmlns:mc="http://schemas.openxmlformats.org/markup-compatibility/2006">
              <mc:Choice xmlns:v="urn:schemas-microsoft-com:vml" Requires="v">
                <p:oleObj spid="_x0000_s3101" name="Packager Shell Object" showAsIcon="1" r:id="rId3" imgW="1886400" imgH="732960" progId="Package">
                  <p:embed/>
                </p:oleObj>
              </mc:Choice>
              <mc:Fallback>
                <p:oleObj name="Packager Shell Object" showAsIcon="1" r:id="rId3" imgW="1886400" imgH="732960" progId="Package">
                  <p:embed/>
                  <p:pic>
                    <p:nvPicPr>
                      <p:cNvPr id="0" name="Picture 2"/>
                      <p:cNvPicPr>
                        <a:picLocks noChangeAspect="1" noChangeArrowheads="1"/>
                      </p:cNvPicPr>
                      <p:nvPr/>
                    </p:nvPicPr>
                    <p:blipFill>
                      <a:blip r:embed="rId4"/>
                      <a:srcRect/>
                      <a:stretch>
                        <a:fillRect/>
                      </a:stretch>
                    </p:blipFill>
                    <p:spPr bwMode="auto">
                      <a:xfrm>
                        <a:off x="3629025" y="3062288"/>
                        <a:ext cx="188595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Binary Tree Implementation</a:t>
            </a:r>
          </a:p>
        </p:txBody>
      </p:sp>
      <p:pic>
        <p:nvPicPr>
          <p:cNvPr id="5" name="Picture 2"/>
          <p:cNvPicPr>
            <a:picLocks noChangeAspect="1" noChangeArrowheads="1"/>
          </p:cNvPicPr>
          <p:nvPr/>
        </p:nvPicPr>
        <p:blipFill>
          <a:blip r:embed="rId3" cstate="print"/>
          <a:srcRect/>
          <a:stretch>
            <a:fillRect/>
          </a:stretch>
        </p:blipFill>
        <p:spPr bwMode="auto">
          <a:xfrm>
            <a:off x="169025" y="2057400"/>
            <a:ext cx="3945775"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Binary Tree Implementation</a:t>
            </a:r>
          </a:p>
        </p:txBody>
      </p:sp>
      <p:pic>
        <p:nvPicPr>
          <p:cNvPr id="142340" name="Picture 4" descr="BinLink"/>
          <p:cNvPicPr>
            <a:picLocks noChangeAspect="1" noChangeArrowheads="1"/>
          </p:cNvPicPr>
          <p:nvPr/>
        </p:nvPicPr>
        <p:blipFill>
          <a:blip r:embed="rId3" cstate="print"/>
          <a:srcRect l="1181" r="3543" b="1195"/>
          <a:stretch>
            <a:fillRect/>
          </a:stretch>
        </p:blipFill>
        <p:spPr bwMode="auto">
          <a:xfrm>
            <a:off x="4191000" y="1600200"/>
            <a:ext cx="4495800" cy="4219575"/>
          </a:xfrm>
          <a:prstGeom prst="rect">
            <a:avLst/>
          </a:prstGeom>
          <a:noFill/>
          <a:ln w="9525">
            <a:noFill/>
            <a:miter lim="800000"/>
            <a:headEnd/>
            <a:tailEnd/>
          </a:ln>
        </p:spPr>
      </p:pic>
      <p:pic>
        <p:nvPicPr>
          <p:cNvPr id="5" name="Picture 2"/>
          <p:cNvPicPr>
            <a:picLocks noChangeAspect="1" noChangeArrowheads="1"/>
          </p:cNvPicPr>
          <p:nvPr/>
        </p:nvPicPr>
        <p:blipFill>
          <a:blip r:embed="rId4" cstate="print"/>
          <a:srcRect/>
          <a:stretch>
            <a:fillRect/>
          </a:stretch>
        </p:blipFill>
        <p:spPr bwMode="auto">
          <a:xfrm>
            <a:off x="169025" y="2057400"/>
            <a:ext cx="3945775"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important issues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whether the same class definition will be used for leaves and internal nodes.</a:t>
            </a:r>
          </a:p>
          <a:p>
            <a:pPr lvl="1"/>
            <a:r>
              <a:rPr lang="en-US" dirty="0" smtClean="0"/>
              <a:t>Using the same class for both will simplify the implementation, </a:t>
            </a:r>
          </a:p>
          <a:p>
            <a:pPr lvl="1"/>
            <a:r>
              <a:rPr lang="en-US" dirty="0" smtClean="0"/>
              <a:t>but might be an inefficient use of space. </a:t>
            </a:r>
          </a:p>
          <a:p>
            <a:pPr lvl="1"/>
            <a:r>
              <a:rPr lang="en-US" dirty="0" smtClean="0"/>
              <a:t>Some applications require data values only for the leaves.</a:t>
            </a:r>
          </a:p>
          <a:p>
            <a:pPr lvl="1"/>
            <a:r>
              <a:rPr lang="en-US" dirty="0" smtClean="0"/>
              <a:t>Other applications require one type of value for the leaves and another for the internal nodes.</a:t>
            </a:r>
          </a:p>
          <a:p>
            <a:pPr lvl="1"/>
            <a:r>
              <a:rPr lang="en-US" dirty="0" smtClean="0"/>
              <a:t>Also, it seems wasteful to store child pointers in the leaf nodes.</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Binary Tree Implementation</a:t>
            </a:r>
          </a:p>
        </p:txBody>
      </p:sp>
      <p:pic>
        <p:nvPicPr>
          <p:cNvPr id="143364" name="Picture 4" descr="DiffNode"/>
          <p:cNvPicPr>
            <a:picLocks noChangeAspect="1" noChangeArrowheads="1"/>
          </p:cNvPicPr>
          <p:nvPr/>
        </p:nvPicPr>
        <p:blipFill>
          <a:blip r:embed="rId3" cstate="print"/>
          <a:srcRect l="3226" t="2667" r="9677" b="16888"/>
          <a:stretch>
            <a:fillRect/>
          </a:stretch>
        </p:blipFill>
        <p:spPr bwMode="auto">
          <a:xfrm>
            <a:off x="1676400" y="1193800"/>
            <a:ext cx="5486400" cy="4597400"/>
          </a:xfrm>
          <a:prstGeom prst="rect">
            <a:avLst/>
          </a:prstGeom>
          <a:noFill/>
          <a:ln w="9525">
            <a:noFill/>
            <a:miter lim="800000"/>
            <a:headEnd/>
            <a:tailEnd/>
          </a:ln>
        </p:spPr>
      </p:pic>
      <p:sp>
        <p:nvSpPr>
          <p:cNvPr id="5" name="TextBox 4"/>
          <p:cNvSpPr txBox="1"/>
          <p:nvPr/>
        </p:nvSpPr>
        <p:spPr>
          <a:xfrm>
            <a:off x="914400" y="5791200"/>
            <a:ext cx="3199915" cy="954107"/>
          </a:xfrm>
          <a:prstGeom prst="rect">
            <a:avLst/>
          </a:prstGeom>
          <a:noFill/>
        </p:spPr>
        <p:txBody>
          <a:bodyPr wrap="none" rtlCol="0">
            <a:spAutoFit/>
          </a:bodyPr>
          <a:lstStyle/>
          <a:p>
            <a:r>
              <a:rPr lang="en-US" sz="2800" dirty="0" smtClean="0"/>
              <a:t>4x (2x + a) + c </a:t>
            </a:r>
          </a:p>
          <a:p>
            <a:r>
              <a:rPr lang="en-US" sz="2800" dirty="0" smtClean="0"/>
              <a:t>4 * </a:t>
            </a:r>
            <a:r>
              <a:rPr lang="en-US" sz="2800" i="1" dirty="0" smtClean="0"/>
              <a:t>x</a:t>
            </a:r>
            <a:r>
              <a:rPr lang="en-US" sz="2800" dirty="0" smtClean="0"/>
              <a:t>  * (2 * </a:t>
            </a:r>
            <a:r>
              <a:rPr lang="en-US" sz="2800" i="1" dirty="0" smtClean="0"/>
              <a:t>x</a:t>
            </a:r>
            <a:r>
              <a:rPr lang="en-US" sz="2800" dirty="0" smtClean="0"/>
              <a:t> + a) + c</a:t>
            </a:r>
            <a:endParaRPr lang="en-US" sz="2800"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2"/>
          <p:cNvSpPr>
            <a:spLocks noGrp="1" noChangeArrowheads="1"/>
          </p:cNvSpPr>
          <p:nvPr>
            <p:ph type="title"/>
          </p:nvPr>
        </p:nvSpPr>
        <p:spPr/>
        <p:txBody>
          <a:bodyPr/>
          <a:lstStyle/>
          <a:p>
            <a:r>
              <a:rPr lang="en-US" dirty="0" smtClean="0">
                <a:latin typeface="Helvetica" pitchFamily="26" charset="0"/>
              </a:rPr>
              <a:t>Binary Tree Implementation</a:t>
            </a:r>
          </a:p>
        </p:txBody>
      </p:sp>
      <p:sp>
        <p:nvSpPr>
          <p:cNvPr id="6" name="Content Placeholder 5"/>
          <p:cNvSpPr>
            <a:spLocks noGrp="1"/>
          </p:cNvSpPr>
          <p:nvPr>
            <p:ph idx="1"/>
          </p:nvPr>
        </p:nvSpPr>
        <p:spPr>
          <a:xfrm>
            <a:off x="3276600" y="1295400"/>
            <a:ext cx="5715000" cy="4525963"/>
          </a:xfrm>
        </p:spPr>
        <p:txBody>
          <a:bodyPr>
            <a:normAutofit lnSpcReduction="10000"/>
          </a:bodyPr>
          <a:lstStyle/>
          <a:p>
            <a:r>
              <a:rPr lang="en-US" dirty="0" smtClean="0"/>
              <a:t>Internal nodes store operators</a:t>
            </a:r>
          </a:p>
          <a:p>
            <a:pPr lvl="1"/>
            <a:r>
              <a:rPr lang="en-US" dirty="0" smtClean="0"/>
              <a:t>could store a small code identifying the operator (a single byte for the operator’s symbol)</a:t>
            </a:r>
          </a:p>
          <a:p>
            <a:r>
              <a:rPr lang="en-US" dirty="0" smtClean="0"/>
              <a:t>the leaves store operands</a:t>
            </a:r>
          </a:p>
          <a:p>
            <a:pPr lvl="1"/>
            <a:r>
              <a:rPr lang="en-US" dirty="0" smtClean="0"/>
              <a:t>i.e., variable names or numbers, (considerably larger in order to handle the wider range of possible values)</a:t>
            </a:r>
          </a:p>
          <a:p>
            <a:pPr lvl="1"/>
            <a:r>
              <a:rPr lang="en-US" dirty="0" smtClean="0"/>
              <a:t>No child pointers though</a:t>
            </a:r>
          </a:p>
        </p:txBody>
      </p:sp>
      <p:pic>
        <p:nvPicPr>
          <p:cNvPr id="143364" name="Picture 4" descr="DiffNode"/>
          <p:cNvPicPr>
            <a:picLocks noChangeAspect="1" noChangeArrowheads="1"/>
          </p:cNvPicPr>
          <p:nvPr/>
        </p:nvPicPr>
        <p:blipFill>
          <a:blip r:embed="rId3" cstate="print"/>
          <a:srcRect l="3226" t="2667" r="9677" b="16888"/>
          <a:stretch>
            <a:fillRect/>
          </a:stretch>
        </p:blipFill>
        <p:spPr bwMode="auto">
          <a:xfrm>
            <a:off x="152400" y="1143000"/>
            <a:ext cx="2971800" cy="2873375"/>
          </a:xfrm>
          <a:prstGeom prst="rect">
            <a:avLst/>
          </a:prstGeom>
          <a:noFill/>
          <a:ln w="9525">
            <a:noFill/>
            <a:miter lim="800000"/>
            <a:headEnd/>
            <a:tailEnd/>
          </a:ln>
        </p:spPr>
      </p:pic>
      <p:sp>
        <p:nvSpPr>
          <p:cNvPr id="5" name="TextBox 4"/>
          <p:cNvSpPr txBox="1"/>
          <p:nvPr/>
        </p:nvSpPr>
        <p:spPr>
          <a:xfrm>
            <a:off x="229085" y="4114800"/>
            <a:ext cx="3199915" cy="954107"/>
          </a:xfrm>
          <a:prstGeom prst="rect">
            <a:avLst/>
          </a:prstGeom>
          <a:noFill/>
        </p:spPr>
        <p:txBody>
          <a:bodyPr wrap="none" rtlCol="0">
            <a:spAutoFit/>
          </a:bodyPr>
          <a:lstStyle/>
          <a:p>
            <a:r>
              <a:rPr lang="en-US" sz="2800" dirty="0" smtClean="0"/>
              <a:t>4x (2x + a) + c </a:t>
            </a:r>
          </a:p>
          <a:p>
            <a:r>
              <a:rPr lang="en-US" sz="2800" dirty="0" smtClean="0"/>
              <a:t>4 * </a:t>
            </a:r>
            <a:r>
              <a:rPr lang="en-US" sz="2800" i="1" dirty="0" smtClean="0"/>
              <a:t>x</a:t>
            </a:r>
            <a:r>
              <a:rPr lang="en-US" sz="2800" dirty="0" smtClean="0"/>
              <a:t>  * (2 * </a:t>
            </a:r>
            <a:r>
              <a:rPr lang="en-US" sz="2800" i="1" dirty="0" smtClean="0"/>
              <a:t>x</a:t>
            </a:r>
            <a:r>
              <a:rPr lang="en-US" sz="2800" dirty="0" smtClean="0"/>
              <a:t> + a) + c</a:t>
            </a:r>
            <a:endParaRPr lang="en-US" sz="28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Different nodes implementation with inheritance (1)</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407547977"/>
              </p:ext>
            </p:extLst>
          </p:nvPr>
        </p:nvGraphicFramePr>
        <p:xfrm>
          <a:off x="3629025" y="3152775"/>
          <a:ext cx="1885950" cy="733425"/>
        </p:xfrm>
        <a:graphic>
          <a:graphicData uri="http://schemas.openxmlformats.org/presentationml/2006/ole">
            <mc:AlternateContent xmlns:mc="http://schemas.openxmlformats.org/markup-compatibility/2006">
              <mc:Choice xmlns:v="urn:schemas-microsoft-com:vml" Requires="v">
                <p:oleObj spid="_x0000_s4125" name="Packager Shell Object" showAsIcon="1" r:id="rId3" imgW="1886400" imgH="732960" progId="Package">
                  <p:embed/>
                </p:oleObj>
              </mc:Choice>
              <mc:Fallback>
                <p:oleObj name="Packager Shell Object" showAsIcon="1" r:id="rId3" imgW="1886400" imgH="732960" progId="Package">
                  <p:embed/>
                  <p:pic>
                    <p:nvPicPr>
                      <p:cNvPr id="0" name="Picture 2"/>
                      <p:cNvPicPr>
                        <a:picLocks noChangeAspect="1" noChangeArrowheads="1"/>
                      </p:cNvPicPr>
                      <p:nvPr/>
                    </p:nvPicPr>
                    <p:blipFill>
                      <a:blip r:embed="rId4"/>
                      <a:srcRect/>
                      <a:stretch>
                        <a:fillRect/>
                      </a:stretch>
                    </p:blipFill>
                    <p:spPr bwMode="auto">
                      <a:xfrm>
                        <a:off x="3629025" y="3152775"/>
                        <a:ext cx="188595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Different nodes implementation with inheritance (2)</a:t>
            </a:r>
            <a:endParaRPr lang="en-US" dirty="0"/>
          </a:p>
        </p:txBody>
      </p:sp>
      <p:graphicFrame>
        <p:nvGraphicFramePr>
          <p:cNvPr id="4" name="Object 3"/>
          <p:cNvGraphicFramePr>
            <a:graphicFrameLocks noChangeAspect="1"/>
          </p:cNvGraphicFramePr>
          <p:nvPr/>
        </p:nvGraphicFramePr>
        <p:xfrm>
          <a:off x="3694113" y="3086100"/>
          <a:ext cx="1754187" cy="685800"/>
        </p:xfrm>
        <a:graphic>
          <a:graphicData uri="http://schemas.openxmlformats.org/presentationml/2006/ole">
            <mc:AlternateContent xmlns:mc="http://schemas.openxmlformats.org/markup-compatibility/2006">
              <mc:Choice xmlns:v="urn:schemas-microsoft-com:vml" Requires="v">
                <p:oleObj spid="_x0000_s92188" name="Packager Shell Object" r:id="rId3" imgW="1754280" imgH="685440" progId="Package">
                  <p:embed/>
                </p:oleObj>
              </mc:Choice>
              <mc:Fallback>
                <p:oleObj name="Packager Shell Object" r:id="rId3" imgW="1754280" imgH="685440" progId="Package">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4113" y="3086100"/>
                        <a:ext cx="1754187"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itle 1"/>
          <p:cNvSpPr>
            <a:spLocks noGrp="1"/>
          </p:cNvSpPr>
          <p:nvPr>
            <p:ph type="title"/>
          </p:nvPr>
        </p:nvSpPr>
        <p:spPr/>
        <p:txBody>
          <a:bodyPr>
            <a:normAutofit fontScale="90000"/>
          </a:bodyPr>
          <a:lstStyle/>
          <a:p>
            <a:r>
              <a:rPr lang="en-US" dirty="0" smtClean="0">
                <a:latin typeface="Helvetica" pitchFamily="26" charset="0"/>
                <a:cs typeface="Helvetica" pitchFamily="26" charset="0"/>
              </a:rPr>
              <a:t>Why two Implementations?</a:t>
            </a:r>
            <a:br>
              <a:rPr lang="en-US" dirty="0" smtClean="0">
                <a:latin typeface="Helvetica" pitchFamily="26" charset="0"/>
                <a:cs typeface="Helvetica" pitchFamily="26" charset="0"/>
              </a:rPr>
            </a:br>
            <a:r>
              <a:rPr lang="en-US" dirty="0" smtClean="0">
                <a:latin typeface="Helvetica" pitchFamily="26" charset="0"/>
                <a:cs typeface="Helvetica" pitchFamily="26" charset="0"/>
              </a:rPr>
              <a:t>[Design Patterns]</a:t>
            </a:r>
          </a:p>
        </p:txBody>
      </p:sp>
      <p:sp>
        <p:nvSpPr>
          <p:cNvPr id="147459" name="Content Placeholder 2"/>
          <p:cNvSpPr>
            <a:spLocks noGrp="1"/>
          </p:cNvSpPr>
          <p:nvPr>
            <p:ph idx="1"/>
          </p:nvPr>
        </p:nvSpPr>
        <p:spPr/>
        <p:txBody>
          <a:bodyPr/>
          <a:lstStyle/>
          <a:p>
            <a:r>
              <a:rPr lang="en-US" dirty="0" smtClean="0">
                <a:latin typeface="Helvetica" pitchFamily="26" charset="0"/>
                <a:cs typeface="Helvetica" pitchFamily="26" charset="0"/>
              </a:rPr>
              <a:t>Design patterns capture reusable pieces of design wisdom.</a:t>
            </a:r>
          </a:p>
          <a:p>
            <a:r>
              <a:rPr lang="en-US" dirty="0" smtClean="0">
                <a:latin typeface="Helvetica" pitchFamily="26" charset="0"/>
                <a:cs typeface="Helvetica" pitchFamily="26" charset="0"/>
              </a:rPr>
              <a:t>Goals:</a:t>
            </a:r>
          </a:p>
          <a:p>
            <a:pPr lvl="1"/>
            <a:r>
              <a:rPr lang="en-US" dirty="0" smtClean="0">
                <a:latin typeface="Helvetica" pitchFamily="26" charset="0"/>
                <a:cs typeface="Helvetica" pitchFamily="26" charset="0"/>
              </a:rPr>
              <a:t>Quickly communicate design wisdom to new designers</a:t>
            </a:r>
          </a:p>
          <a:p>
            <a:pPr lvl="1"/>
            <a:r>
              <a:rPr lang="en-US" dirty="0" smtClean="0">
                <a:latin typeface="Helvetica" pitchFamily="26" charset="0"/>
                <a:cs typeface="Helvetica" pitchFamily="26" charset="0"/>
              </a:rPr>
              <a:t>Give a shared vocabulary to designers</a:t>
            </a:r>
          </a:p>
          <a:p>
            <a:r>
              <a:rPr lang="en-US" dirty="0" smtClean="0">
                <a:latin typeface="Helvetica" pitchFamily="26" charset="0"/>
                <a:cs typeface="Helvetica" pitchFamily="26" charset="0"/>
              </a:rPr>
              <a:t>WE WILL NOT FOCUS ON THIS</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Space Requirements</a:t>
            </a:r>
            <a:endParaRPr lang="en-US" dirty="0"/>
          </a:p>
        </p:txBody>
      </p:sp>
      <p:sp>
        <p:nvSpPr>
          <p:cNvPr id="3" name="Content Placeholder 2"/>
          <p:cNvSpPr>
            <a:spLocks noGrp="1"/>
          </p:cNvSpPr>
          <p:nvPr>
            <p:ph idx="1"/>
          </p:nvPr>
        </p:nvSpPr>
        <p:spPr>
          <a:xfrm>
            <a:off x="457200" y="1524000"/>
            <a:ext cx="8229600" cy="5029200"/>
          </a:xfrm>
        </p:spPr>
        <p:txBody>
          <a:bodyPr>
            <a:normAutofit fontScale="92500" lnSpcReduction="20000"/>
          </a:bodyPr>
          <a:lstStyle/>
          <a:p>
            <a:r>
              <a:rPr lang="en-US" dirty="0" smtClean="0"/>
              <a:t>Every node has two pointers to its children</a:t>
            </a:r>
          </a:p>
          <a:p>
            <a:r>
              <a:rPr lang="en-US" dirty="0" smtClean="0"/>
              <a:t>total space = n(2P + D) for a tree of n nodes</a:t>
            </a:r>
          </a:p>
          <a:p>
            <a:pPr lvl="1"/>
            <a:r>
              <a:rPr lang="en-US" dirty="0" smtClean="0"/>
              <a:t>P: space required by a pointer</a:t>
            </a:r>
          </a:p>
          <a:p>
            <a:pPr lvl="1"/>
            <a:r>
              <a:rPr lang="en-US" dirty="0" smtClean="0"/>
              <a:t>D: amount of space required by a data value</a:t>
            </a:r>
          </a:p>
          <a:p>
            <a:r>
              <a:rPr lang="en-US" dirty="0" smtClean="0"/>
              <a:t>So, total overhead: 2Pn</a:t>
            </a:r>
          </a:p>
          <a:p>
            <a:r>
              <a:rPr lang="en-US" dirty="0" smtClean="0"/>
              <a:t>Overhead fraction: 2P/(2P+D)</a:t>
            </a:r>
          </a:p>
          <a:p>
            <a:r>
              <a:rPr lang="en-US" dirty="0" smtClean="0"/>
              <a:t>P = D =&gt; 2/3</a:t>
            </a:r>
            <a:r>
              <a:rPr lang="en-US" baseline="30000" dirty="0" smtClean="0"/>
              <a:t>rd</a:t>
            </a:r>
            <a:r>
              <a:rPr lang="en-US" dirty="0" smtClean="0"/>
              <a:t> of its total space is overhead</a:t>
            </a:r>
          </a:p>
          <a:p>
            <a:r>
              <a:rPr lang="en-US" dirty="0" smtClean="0">
                <a:latin typeface="Helvetica" pitchFamily="26" charset="0"/>
              </a:rPr>
              <a:t>From the Full Binary Tree Theorem: Half of the pointers are </a:t>
            </a:r>
            <a:r>
              <a:rPr lang="en-US" b="1" dirty="0" smtClean="0">
                <a:latin typeface="Courier New" pitchFamily="26" charset="0"/>
              </a:rPr>
              <a:t>null</a:t>
            </a:r>
            <a:r>
              <a:rPr lang="en-US" dirty="0" smtClean="0">
                <a:latin typeface="Helvetica" pitchFamily="26" charset="0"/>
              </a:rPr>
              <a:t>.</a:t>
            </a:r>
          </a:p>
          <a:p>
            <a:pPr lvl="1"/>
            <a:r>
              <a:rPr lang="en-US" dirty="0" smtClean="0"/>
              <a:t>half of the pointers are “wasted” </a:t>
            </a:r>
            <a:r>
              <a:rPr lang="en-US" b="1" dirty="0" smtClean="0"/>
              <a:t>NULL values that serve only to indicate tree </a:t>
            </a:r>
            <a:r>
              <a:rPr lang="en-US" dirty="0" smtClean="0"/>
              <a:t>structure, but which do not provide access to new data.</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Space Overhead</a:t>
            </a:r>
            <a:endParaRPr lang="en-US" dirty="0"/>
          </a:p>
        </p:txBody>
      </p:sp>
      <p:sp>
        <p:nvSpPr>
          <p:cNvPr id="3" name="Content Placeholder 2"/>
          <p:cNvSpPr>
            <a:spLocks noGrp="1"/>
          </p:cNvSpPr>
          <p:nvPr>
            <p:ph idx="1"/>
          </p:nvPr>
        </p:nvSpPr>
        <p:spPr/>
        <p:txBody>
          <a:bodyPr/>
          <a:lstStyle/>
          <a:p>
            <a:r>
              <a:rPr lang="en-US" dirty="0" smtClean="0"/>
              <a:t>A common implementation is not to store any actual data in a node</a:t>
            </a:r>
          </a:p>
          <a:p>
            <a:pPr lvl="1"/>
            <a:r>
              <a:rPr lang="en-US" dirty="0" smtClean="0"/>
              <a:t>but rather a pointer to the data record. </a:t>
            </a:r>
          </a:p>
          <a:p>
            <a:r>
              <a:rPr lang="en-US" dirty="0" smtClean="0"/>
              <a:t>In this case, each node will typically store three pointers all of which are overhead:</a:t>
            </a:r>
          </a:p>
          <a:p>
            <a:pPr lvl="1"/>
            <a:r>
              <a:rPr lang="en-US" dirty="0" smtClean="0"/>
              <a:t>overhead fraction of 3P/(3P + D)</a:t>
            </a:r>
          </a:p>
          <a:p>
            <a:pPr lvl="1"/>
            <a:r>
              <a:rPr lang="en-US" dirty="0" smtClean="0"/>
              <a:t>P = D =&gt; 3/4</a:t>
            </a:r>
            <a:r>
              <a:rPr lang="en-US" baseline="30000" dirty="0" smtClean="0"/>
              <a:t>th</a:t>
            </a:r>
            <a:r>
              <a:rPr lang="en-US" dirty="0" smtClean="0"/>
              <a:t> of its total space is overhead</a:t>
            </a:r>
          </a:p>
          <a:p>
            <a:pPr lvl="1"/>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Space Overhead</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r>
              <a:rPr lang="en-US" dirty="0" smtClean="0"/>
              <a:t>If only leaves store data values, then the fraction of total space devoted to overhead depends on whether the tree is full. </a:t>
            </a:r>
          </a:p>
          <a:p>
            <a:pPr lvl="1"/>
            <a:r>
              <a:rPr lang="en-US" dirty="0" smtClean="0"/>
              <a:t>If the tree is not full, then conceivably there might only be one leaf node at the end of a series of internal nodes.</a:t>
            </a:r>
          </a:p>
          <a:p>
            <a:pPr lvl="1"/>
            <a:r>
              <a:rPr lang="en-US" dirty="0" smtClean="0"/>
              <a:t>Thus, the overhead can be an arbitrarily high percentage</a:t>
            </a:r>
          </a:p>
          <a:p>
            <a:r>
              <a:rPr lang="en-US" dirty="0" smtClean="0"/>
              <a:t>The overhead fraction drops as the tree becomes closer to full, being lowest when the tree is truly full. </a:t>
            </a:r>
          </a:p>
          <a:p>
            <a:pPr lvl="1"/>
            <a:r>
              <a:rPr lang="en-US" dirty="0" smtClean="0"/>
              <a:t>In this case, about one half of the nodes are internal.</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2"/>
          <p:cNvSpPr>
            <a:spLocks noGrp="1" noChangeArrowheads="1"/>
          </p:cNvSpPr>
          <p:nvPr>
            <p:ph type="title"/>
          </p:nvPr>
        </p:nvSpPr>
        <p:spPr>
          <a:xfrm>
            <a:off x="455613" y="365125"/>
            <a:ext cx="8226425" cy="914400"/>
          </a:xfrm>
        </p:spPr>
        <p:txBody>
          <a:bodyPr/>
          <a:lstStyle/>
          <a:p>
            <a:r>
              <a:rPr lang="en-US" dirty="0" smtClean="0">
                <a:latin typeface="Helvetica" pitchFamily="26" charset="0"/>
              </a:rPr>
              <a:t>Space Overhead</a:t>
            </a:r>
          </a:p>
        </p:txBody>
      </p:sp>
      <p:sp>
        <p:nvSpPr>
          <p:cNvPr id="152580" name="Rectangle 3"/>
          <p:cNvSpPr>
            <a:spLocks noGrp="1" noChangeArrowheads="1"/>
          </p:cNvSpPr>
          <p:nvPr>
            <p:ph type="body" idx="1"/>
          </p:nvPr>
        </p:nvSpPr>
        <p:spPr>
          <a:xfrm>
            <a:off x="455613" y="1600200"/>
            <a:ext cx="8226425" cy="4572000"/>
          </a:xfrm>
        </p:spPr>
        <p:txBody>
          <a:bodyPr/>
          <a:lstStyle/>
          <a:p>
            <a:pPr>
              <a:lnSpc>
                <a:spcPct val="90000"/>
              </a:lnSpc>
              <a:buFontTx/>
              <a:buNone/>
            </a:pPr>
            <a:r>
              <a:rPr lang="en-US" dirty="0" smtClean="0">
                <a:latin typeface="Helvetica" pitchFamily="26" charset="0"/>
              </a:rPr>
              <a:t>Eliminate pointers from the leaf nodes:</a:t>
            </a:r>
          </a:p>
          <a:p>
            <a:pPr>
              <a:lnSpc>
                <a:spcPct val="0"/>
              </a:lnSpc>
              <a:buFontTx/>
              <a:buNone/>
            </a:pPr>
            <a:endParaRPr lang="en-US" dirty="0" smtClean="0">
              <a:latin typeface="Helvetica" pitchFamily="26" charset="0"/>
            </a:endParaRPr>
          </a:p>
          <a:p>
            <a:pPr>
              <a:lnSpc>
                <a:spcPct val="80000"/>
              </a:lnSpc>
              <a:buFontTx/>
              <a:buNone/>
            </a:pPr>
            <a:r>
              <a:rPr lang="en-US" dirty="0" smtClean="0">
                <a:latin typeface="Helvetica" pitchFamily="26" charset="0"/>
              </a:rPr>
              <a:t>         </a:t>
            </a:r>
            <a:r>
              <a:rPr lang="en-US" i="1" dirty="0" smtClean="0">
                <a:latin typeface="Helvetica" pitchFamily="26" charset="0"/>
              </a:rPr>
              <a:t>n</a:t>
            </a:r>
            <a:r>
              <a:rPr lang="en-US" dirty="0" smtClean="0">
                <a:latin typeface="Helvetica" pitchFamily="26" charset="0"/>
              </a:rPr>
              <a:t>/2(2</a:t>
            </a:r>
            <a:r>
              <a:rPr lang="en-US" i="1" dirty="0" smtClean="0">
                <a:latin typeface="Helvetica" pitchFamily="26" charset="0"/>
              </a:rPr>
              <a:t>P</a:t>
            </a:r>
            <a:r>
              <a:rPr lang="en-US" dirty="0" smtClean="0">
                <a:latin typeface="Helvetica" pitchFamily="26" charset="0"/>
              </a:rPr>
              <a:t>)             </a:t>
            </a:r>
            <a:r>
              <a:rPr lang="en-US" i="1" dirty="0" smtClean="0">
                <a:latin typeface="Helvetica" pitchFamily="26" charset="0"/>
              </a:rPr>
              <a:t>P</a:t>
            </a:r>
          </a:p>
          <a:p>
            <a:pPr>
              <a:lnSpc>
                <a:spcPct val="80000"/>
              </a:lnSpc>
              <a:buFontTx/>
              <a:buNone/>
            </a:pPr>
            <a:r>
              <a:rPr lang="en-US" dirty="0" smtClean="0">
                <a:latin typeface="Helvetica" pitchFamily="26" charset="0"/>
              </a:rPr>
              <a:t>      </a:t>
            </a:r>
            <a:r>
              <a:rPr lang="en-US" i="1" dirty="0" smtClean="0">
                <a:latin typeface="Helvetica" pitchFamily="26" charset="0"/>
              </a:rPr>
              <a:t>n</a:t>
            </a:r>
            <a:r>
              <a:rPr lang="en-US" dirty="0" smtClean="0">
                <a:latin typeface="Helvetica" pitchFamily="26" charset="0"/>
              </a:rPr>
              <a:t>/2(2</a:t>
            </a:r>
            <a:r>
              <a:rPr lang="en-US" i="1" dirty="0" smtClean="0">
                <a:latin typeface="Helvetica" pitchFamily="26" charset="0"/>
              </a:rPr>
              <a:t>P</a:t>
            </a:r>
            <a:r>
              <a:rPr lang="en-US" dirty="0" smtClean="0">
                <a:latin typeface="Helvetica" pitchFamily="26" charset="0"/>
              </a:rPr>
              <a:t>) + </a:t>
            </a:r>
            <a:r>
              <a:rPr lang="en-US" i="1" dirty="0" err="1" smtClean="0">
                <a:latin typeface="Helvetica" pitchFamily="26" charset="0"/>
              </a:rPr>
              <a:t>Dn</a:t>
            </a:r>
            <a:r>
              <a:rPr lang="en-US" dirty="0" smtClean="0">
                <a:latin typeface="Helvetica" pitchFamily="26" charset="0"/>
              </a:rPr>
              <a:t>     </a:t>
            </a:r>
            <a:r>
              <a:rPr lang="en-US" i="1" dirty="0" smtClean="0">
                <a:latin typeface="Helvetica" pitchFamily="26" charset="0"/>
              </a:rPr>
              <a:t>P</a:t>
            </a:r>
            <a:r>
              <a:rPr lang="en-US" dirty="0" smtClean="0">
                <a:latin typeface="Helvetica" pitchFamily="26" charset="0"/>
              </a:rPr>
              <a:t> + </a:t>
            </a:r>
            <a:r>
              <a:rPr lang="en-US" i="1" dirty="0" smtClean="0">
                <a:latin typeface="Helvetica" pitchFamily="26" charset="0"/>
              </a:rPr>
              <a:t>D</a:t>
            </a:r>
          </a:p>
          <a:p>
            <a:pPr>
              <a:lnSpc>
                <a:spcPct val="10000"/>
              </a:lnSpc>
              <a:buFontTx/>
              <a:buNone/>
            </a:pPr>
            <a:endParaRPr lang="en-US" dirty="0" smtClean="0">
              <a:latin typeface="Helvetica" pitchFamily="26" charset="0"/>
            </a:endParaRPr>
          </a:p>
          <a:p>
            <a:pPr>
              <a:lnSpc>
                <a:spcPct val="90000"/>
              </a:lnSpc>
              <a:buFontTx/>
              <a:buNone/>
            </a:pPr>
            <a:r>
              <a:rPr lang="en-US" dirty="0" smtClean="0">
                <a:latin typeface="Helvetica" pitchFamily="26" charset="0"/>
              </a:rPr>
              <a:t>This is 1/2 if </a:t>
            </a:r>
            <a:r>
              <a:rPr lang="en-US" i="1" dirty="0" smtClean="0">
                <a:latin typeface="Helvetica" pitchFamily="26" charset="0"/>
              </a:rPr>
              <a:t>P</a:t>
            </a:r>
            <a:r>
              <a:rPr lang="en-US" dirty="0" smtClean="0">
                <a:latin typeface="Helvetica" pitchFamily="26" charset="0"/>
              </a:rPr>
              <a:t> = </a:t>
            </a:r>
            <a:r>
              <a:rPr lang="en-US" i="1" dirty="0" smtClean="0">
                <a:latin typeface="Helvetica" pitchFamily="26" charset="0"/>
              </a:rPr>
              <a:t>D</a:t>
            </a:r>
            <a:r>
              <a:rPr lang="en-US" dirty="0" smtClean="0">
                <a:latin typeface="Helvetica" pitchFamily="26" charset="0"/>
              </a:rPr>
              <a:t>.</a:t>
            </a:r>
          </a:p>
          <a:p>
            <a:pPr>
              <a:lnSpc>
                <a:spcPct val="10000"/>
              </a:lnSpc>
              <a:buFontTx/>
              <a:buNone/>
            </a:pPr>
            <a:endParaRPr lang="en-US" dirty="0" smtClean="0">
              <a:latin typeface="Helvetica" pitchFamily="26" charset="0"/>
            </a:endParaRPr>
          </a:p>
        </p:txBody>
      </p:sp>
      <p:sp>
        <p:nvSpPr>
          <p:cNvPr id="152581" name="Text Box 4"/>
          <p:cNvSpPr txBox="1">
            <a:spLocks noChangeArrowheads="1"/>
          </p:cNvSpPr>
          <p:nvPr/>
        </p:nvSpPr>
        <p:spPr bwMode="auto">
          <a:xfrm>
            <a:off x="3429000" y="2362200"/>
            <a:ext cx="838200" cy="579438"/>
          </a:xfrm>
          <a:prstGeom prst="rect">
            <a:avLst/>
          </a:prstGeom>
          <a:noFill/>
          <a:ln w="9525">
            <a:noFill/>
            <a:miter lim="800000"/>
            <a:headEnd/>
            <a:tailEnd/>
          </a:ln>
        </p:spPr>
        <p:txBody>
          <a:bodyPr>
            <a:spAutoFit/>
          </a:bodyPr>
          <a:lstStyle/>
          <a:p>
            <a:pPr>
              <a:spcBef>
                <a:spcPct val="50000"/>
              </a:spcBef>
            </a:pPr>
            <a:r>
              <a:rPr lang="en-US" sz="3200"/>
              <a:t> =</a:t>
            </a:r>
          </a:p>
        </p:txBody>
      </p:sp>
      <p:sp>
        <p:nvSpPr>
          <p:cNvPr id="152582" name="Line 5"/>
          <p:cNvSpPr>
            <a:spLocks noChangeShapeType="1"/>
          </p:cNvSpPr>
          <p:nvPr/>
        </p:nvSpPr>
        <p:spPr bwMode="auto">
          <a:xfrm>
            <a:off x="1524000" y="2667000"/>
            <a:ext cx="1905000" cy="0"/>
          </a:xfrm>
          <a:prstGeom prst="line">
            <a:avLst/>
          </a:prstGeom>
          <a:noFill/>
          <a:ln w="9525">
            <a:solidFill>
              <a:schemeClr val="tx1"/>
            </a:solidFill>
            <a:round/>
            <a:headEnd/>
            <a:tailEnd/>
          </a:ln>
        </p:spPr>
        <p:txBody>
          <a:bodyPr wrap="none" anchor="ctr"/>
          <a:lstStyle/>
          <a:p>
            <a:endParaRPr lang="en-US"/>
          </a:p>
        </p:txBody>
      </p:sp>
      <p:sp>
        <p:nvSpPr>
          <p:cNvPr id="152583" name="Line 6"/>
          <p:cNvSpPr>
            <a:spLocks noChangeShapeType="1"/>
          </p:cNvSpPr>
          <p:nvPr/>
        </p:nvSpPr>
        <p:spPr bwMode="auto">
          <a:xfrm>
            <a:off x="4114800" y="2667000"/>
            <a:ext cx="914400" cy="0"/>
          </a:xfrm>
          <a:prstGeom prst="line">
            <a:avLst/>
          </a:prstGeom>
          <a:noFill/>
          <a:ln w="9525">
            <a:solidFill>
              <a:schemeClr val="tx1"/>
            </a:solidFill>
            <a:round/>
            <a:headEnd/>
            <a:tailEnd/>
          </a:ln>
        </p:spPr>
        <p:txBody>
          <a:bodyPr wrap="none" anchor="ctr"/>
          <a:lstStyle/>
          <a:p>
            <a:endParaRPr lang="en-US"/>
          </a:p>
        </p:txBody>
      </p:sp>
      <p:sp>
        <p:nvSpPr>
          <p:cNvPr id="2" name="TextBox 1"/>
          <p:cNvSpPr txBox="1"/>
          <p:nvPr/>
        </p:nvSpPr>
        <p:spPr>
          <a:xfrm>
            <a:off x="6624581" y="2572306"/>
            <a:ext cx="162563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Full Binary Tree</a:t>
            </a:r>
            <a:endParaRPr lang="en-US" dirty="0"/>
          </a:p>
        </p:txBody>
      </p:sp>
      <p:sp>
        <p:nvSpPr>
          <p:cNvPr id="8" name="TextBox 7"/>
          <p:cNvSpPr txBox="1"/>
          <p:nvPr/>
        </p:nvSpPr>
        <p:spPr>
          <a:xfrm>
            <a:off x="6640588" y="3163669"/>
            <a:ext cx="1436612" cy="1200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n/2 IN has 2P</a:t>
            </a:r>
          </a:p>
          <a:p>
            <a:r>
              <a:rPr lang="en-US" dirty="0" smtClean="0"/>
              <a:t>0 P in L</a:t>
            </a:r>
          </a:p>
          <a:p>
            <a:r>
              <a:rPr lang="en-US" dirty="0"/>
              <a:t>n/2 IN has </a:t>
            </a:r>
            <a:r>
              <a:rPr lang="en-US" dirty="0" smtClean="0"/>
              <a:t>D</a:t>
            </a:r>
            <a:endParaRPr lang="en-US" dirty="0"/>
          </a:p>
          <a:p>
            <a:r>
              <a:rPr lang="en-US" dirty="0" smtClean="0"/>
              <a:t>~n/2 L has D</a:t>
            </a:r>
            <a:endParaRPr lang="en-US" dirty="0"/>
          </a:p>
        </p:txBody>
      </p:sp>
    </p:spTree>
    <p:extLst>
      <p:ext uri="{BB962C8B-B14F-4D97-AF65-F5344CB8AC3E}">
        <p14:creationId xmlns:p14="http://schemas.microsoft.com/office/powerpoint/2010/main" val="80374333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Space Overhead</a:t>
            </a:r>
            <a:endParaRPr lang="en-US" dirty="0"/>
          </a:p>
        </p:txBody>
      </p:sp>
      <p:sp>
        <p:nvSpPr>
          <p:cNvPr id="3" name="Content Placeholder 2"/>
          <p:cNvSpPr>
            <a:spLocks noGrp="1"/>
          </p:cNvSpPr>
          <p:nvPr>
            <p:ph idx="1"/>
          </p:nvPr>
        </p:nvSpPr>
        <p:spPr>
          <a:xfrm>
            <a:off x="457200" y="1600200"/>
            <a:ext cx="5562600" cy="4525963"/>
          </a:xfrm>
        </p:spPr>
        <p:txBody>
          <a:bodyPr>
            <a:normAutofit lnSpcReduction="10000"/>
          </a:bodyPr>
          <a:lstStyle/>
          <a:p>
            <a:pPr>
              <a:lnSpc>
                <a:spcPct val="90000"/>
              </a:lnSpc>
              <a:buFontTx/>
              <a:buNone/>
            </a:pPr>
            <a:r>
              <a:rPr lang="en-US" dirty="0" smtClean="0">
                <a:latin typeface="Helvetica" pitchFamily="26" charset="0"/>
              </a:rPr>
              <a:t>If data only at leaves with pointers eliminated</a:t>
            </a:r>
          </a:p>
          <a:p>
            <a:pPr>
              <a:lnSpc>
                <a:spcPct val="90000"/>
              </a:lnSpc>
              <a:buFontTx/>
              <a:buNone/>
            </a:pPr>
            <a:r>
              <a:rPr lang="en-US" dirty="0" smtClean="0">
                <a:latin typeface="Helvetica" pitchFamily="26" charset="0"/>
              </a:rPr>
              <a:t>(2</a:t>
            </a:r>
            <a:r>
              <a:rPr lang="en-US" i="1" dirty="0" smtClean="0">
                <a:latin typeface="Helvetica" pitchFamily="26" charset="0"/>
              </a:rPr>
              <a:t>P)</a:t>
            </a:r>
            <a:r>
              <a:rPr lang="en-US" dirty="0" smtClean="0">
                <a:latin typeface="Helvetica" pitchFamily="26" charset="0"/>
              </a:rPr>
              <a:t>/(2</a:t>
            </a:r>
            <a:r>
              <a:rPr lang="en-US" i="1" dirty="0" smtClean="0">
                <a:latin typeface="Helvetica" pitchFamily="26" charset="0"/>
              </a:rPr>
              <a:t>P </a:t>
            </a:r>
            <a:r>
              <a:rPr lang="en-US" dirty="0" smtClean="0">
                <a:latin typeface="Helvetica" pitchFamily="26" charset="0"/>
              </a:rPr>
              <a:t>+ </a:t>
            </a:r>
            <a:r>
              <a:rPr lang="en-US" i="1" dirty="0" smtClean="0">
                <a:latin typeface="Helvetica" pitchFamily="26" charset="0"/>
              </a:rPr>
              <a:t>D</a:t>
            </a:r>
            <a:r>
              <a:rPr lang="en-US" dirty="0" smtClean="0">
                <a:latin typeface="Helvetica" pitchFamily="26" charset="0"/>
              </a:rPr>
              <a:t>) </a:t>
            </a:r>
            <a:r>
              <a:rPr lang="en-US" dirty="0" smtClean="0">
                <a:latin typeface="Helvetica" pitchFamily="26" charset="0"/>
                <a:sym typeface="Symbol" pitchFamily="26" charset="2"/>
              </a:rPr>
              <a:t> 2/3</a:t>
            </a:r>
            <a:r>
              <a:rPr lang="en-US" dirty="0" smtClean="0">
                <a:latin typeface="Helvetica" pitchFamily="26" charset="0"/>
              </a:rPr>
              <a:t> overhead (Assuming P=D).</a:t>
            </a:r>
          </a:p>
          <a:p>
            <a:pPr>
              <a:lnSpc>
                <a:spcPct val="10000"/>
              </a:lnSpc>
              <a:buFontTx/>
              <a:buNone/>
            </a:pPr>
            <a:endParaRPr lang="en-US" dirty="0" smtClean="0">
              <a:latin typeface="Helvetica" pitchFamily="26" charset="0"/>
            </a:endParaRPr>
          </a:p>
          <a:p>
            <a:pPr>
              <a:lnSpc>
                <a:spcPct val="90000"/>
              </a:lnSpc>
              <a:buFontTx/>
              <a:buNone/>
            </a:pPr>
            <a:r>
              <a:rPr lang="en-US" i="1" dirty="0" smtClean="0">
                <a:latin typeface="Helvetica" pitchFamily="26" charset="0"/>
              </a:rPr>
              <a:t>Note that some method is needed to distinguish leaves from internal nodes. So some space is needed here which we ignore in our analysis</a:t>
            </a:r>
          </a:p>
          <a:p>
            <a:endParaRPr lang="en-US" dirty="0"/>
          </a:p>
        </p:txBody>
      </p:sp>
      <p:sp>
        <p:nvSpPr>
          <p:cNvPr id="4" name="TextBox 3"/>
          <p:cNvSpPr txBox="1"/>
          <p:nvPr/>
        </p:nvSpPr>
        <p:spPr>
          <a:xfrm>
            <a:off x="6019800" y="1640721"/>
            <a:ext cx="162563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Full Binary Tree</a:t>
            </a:r>
            <a:endParaRPr lang="en-US" dirty="0"/>
          </a:p>
        </p:txBody>
      </p:sp>
      <p:sp>
        <p:nvSpPr>
          <p:cNvPr id="5" name="TextBox 4"/>
          <p:cNvSpPr txBox="1"/>
          <p:nvPr/>
        </p:nvSpPr>
        <p:spPr>
          <a:xfrm>
            <a:off x="6019800" y="2286000"/>
            <a:ext cx="1436612"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n/2 IN has 2P</a:t>
            </a:r>
          </a:p>
          <a:p>
            <a:r>
              <a:rPr lang="en-US" dirty="0" smtClean="0"/>
              <a:t>~n/2 L has D</a:t>
            </a:r>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Space Overhead</a:t>
            </a:r>
            <a:endParaRPr lang="en-US" dirty="0"/>
          </a:p>
        </p:txBody>
      </p:sp>
      <p:sp>
        <p:nvSpPr>
          <p:cNvPr id="3" name="Content Placeholder 2"/>
          <p:cNvSpPr>
            <a:spLocks noGrp="1"/>
          </p:cNvSpPr>
          <p:nvPr>
            <p:ph idx="1"/>
          </p:nvPr>
        </p:nvSpPr>
        <p:spPr/>
        <p:txBody>
          <a:bodyPr/>
          <a:lstStyle/>
          <a:p>
            <a:r>
              <a:rPr lang="en-US" dirty="0" smtClean="0"/>
              <a:t>a better implementation would have the internal nodes store two pointers and no data field while the leaf nodes store only a pointer to the data field.</a:t>
            </a:r>
          </a:p>
          <a:p>
            <a:pPr lvl="1"/>
            <a:r>
              <a:rPr lang="en-US" dirty="0" smtClean="0">
                <a:latin typeface="Helvetica" pitchFamily="26" charset="0"/>
              </a:rPr>
              <a:t>(3</a:t>
            </a:r>
            <a:r>
              <a:rPr lang="en-US" i="1" dirty="0" smtClean="0">
                <a:latin typeface="Helvetica" pitchFamily="26" charset="0"/>
              </a:rPr>
              <a:t>P)</a:t>
            </a:r>
            <a:r>
              <a:rPr lang="en-US" dirty="0" smtClean="0">
                <a:latin typeface="Helvetica" pitchFamily="26" charset="0"/>
              </a:rPr>
              <a:t>/(</a:t>
            </a:r>
            <a:r>
              <a:rPr lang="en-US" i="1" dirty="0" smtClean="0">
                <a:latin typeface="Helvetica" pitchFamily="26" charset="0"/>
              </a:rPr>
              <a:t>3P </a:t>
            </a:r>
            <a:r>
              <a:rPr lang="en-US" dirty="0" smtClean="0">
                <a:latin typeface="Helvetica" pitchFamily="26" charset="0"/>
              </a:rPr>
              <a:t>+ </a:t>
            </a:r>
            <a:r>
              <a:rPr lang="en-US" i="1" dirty="0" smtClean="0">
                <a:latin typeface="Helvetica" pitchFamily="26" charset="0"/>
              </a:rPr>
              <a:t>D</a:t>
            </a:r>
            <a:r>
              <a:rPr lang="en-US" dirty="0" smtClean="0">
                <a:latin typeface="Helvetica" pitchFamily="26" charset="0"/>
              </a:rPr>
              <a:t>) =&gt; ¾ when D = P.</a:t>
            </a:r>
          </a:p>
          <a:p>
            <a:endParaRPr lang="en-US" dirty="0" smtClean="0"/>
          </a:p>
          <a:p>
            <a:endParaRPr lang="en-US" dirty="0"/>
          </a:p>
        </p:txBody>
      </p:sp>
      <p:sp>
        <p:nvSpPr>
          <p:cNvPr id="4" name="TextBox 3"/>
          <p:cNvSpPr txBox="1"/>
          <p:nvPr/>
        </p:nvSpPr>
        <p:spPr>
          <a:xfrm>
            <a:off x="6603962" y="3737590"/>
            <a:ext cx="162563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Full Binary Tree</a:t>
            </a:r>
            <a:endParaRPr lang="en-US" dirty="0"/>
          </a:p>
        </p:txBody>
      </p:sp>
      <p:sp>
        <p:nvSpPr>
          <p:cNvPr id="5" name="TextBox 4"/>
          <p:cNvSpPr txBox="1"/>
          <p:nvPr/>
        </p:nvSpPr>
        <p:spPr>
          <a:xfrm>
            <a:off x="6603962" y="4382869"/>
            <a:ext cx="1467068"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n/2 IN has 2P</a:t>
            </a:r>
          </a:p>
          <a:p>
            <a:r>
              <a:rPr lang="en-US" dirty="0" smtClean="0"/>
              <a:t>~n/2 L has 1P</a:t>
            </a:r>
          </a:p>
          <a:p>
            <a:r>
              <a:rPr lang="en-US" dirty="0"/>
              <a:t>~n/2 L has </a:t>
            </a:r>
            <a:r>
              <a:rPr lang="en-US" dirty="0" smtClean="0"/>
              <a:t>1D</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375862" y="0"/>
            <a:ext cx="8226425" cy="1158875"/>
          </a:xfrm>
        </p:spPr>
        <p:txBody>
          <a:bodyPr>
            <a:normAutofit fontScale="90000"/>
          </a:bodyPr>
          <a:lstStyle/>
          <a:p>
            <a:r>
              <a:rPr lang="en-US" dirty="0" smtClean="0">
                <a:latin typeface="Helvetica" pitchFamily="26" charset="0"/>
              </a:rPr>
              <a:t>Array Implementation</a:t>
            </a:r>
            <a:br>
              <a:rPr lang="en-US" dirty="0" smtClean="0">
                <a:latin typeface="Helvetica" pitchFamily="26" charset="0"/>
              </a:rPr>
            </a:br>
            <a:r>
              <a:rPr lang="en-US" dirty="0" smtClean="0">
                <a:latin typeface="Helvetica" pitchFamily="26" charset="0"/>
              </a:rPr>
              <a:t>Complete Binary Tree</a:t>
            </a:r>
          </a:p>
        </p:txBody>
      </p:sp>
      <p:pic>
        <p:nvPicPr>
          <p:cNvPr id="153604" name="Picture 4" descr="BinArray"/>
          <p:cNvPicPr>
            <a:picLocks noChangeAspect="1" noChangeArrowheads="1"/>
          </p:cNvPicPr>
          <p:nvPr/>
        </p:nvPicPr>
        <p:blipFill>
          <a:blip r:embed="rId3" cstate="print"/>
          <a:srcRect l="1263" t="3275" r="3160" b="10915"/>
          <a:stretch>
            <a:fillRect/>
          </a:stretch>
        </p:blipFill>
        <p:spPr bwMode="auto">
          <a:xfrm>
            <a:off x="2133600" y="1143000"/>
            <a:ext cx="4267200" cy="2219174"/>
          </a:xfrm>
          <a:prstGeom prst="rect">
            <a:avLst/>
          </a:prstGeom>
          <a:noFill/>
          <a:ln w="9525">
            <a:noFill/>
            <a:miter lim="800000"/>
            <a:headEnd/>
            <a:tailEnd/>
          </a:ln>
        </p:spPr>
      </p:pic>
      <p:graphicFrame>
        <p:nvGraphicFramePr>
          <p:cNvPr id="263173" name="Group 5"/>
          <p:cNvGraphicFramePr>
            <a:graphicFrameLocks noGrp="1"/>
          </p:cNvGraphicFramePr>
          <p:nvPr/>
        </p:nvGraphicFramePr>
        <p:xfrm>
          <a:off x="533400" y="3505200"/>
          <a:ext cx="8077200" cy="2844800"/>
        </p:xfrm>
        <a:graphic>
          <a:graphicData uri="http://schemas.openxmlformats.org/drawingml/2006/table">
            <a:tbl>
              <a:tblPr/>
              <a:tblGrid>
                <a:gridCol w="2144713">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8312">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831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533400">
                  <a:extLst>
                    <a:ext uri="{9D8B030D-6E8A-4147-A177-3AD203B41FA5}">
                      <a16:colId xmlns:a16="http://schemas.microsoft.com/office/drawing/2014/main" val="20011"/>
                    </a:ext>
                  </a:extLst>
                </a:gridCol>
                <a:gridCol w="533400">
                  <a:extLst>
                    <a:ext uri="{9D8B030D-6E8A-4147-A177-3AD203B41FA5}">
                      <a16:colId xmlns:a16="http://schemas.microsoft.com/office/drawing/2014/main" val="20012"/>
                    </a:ext>
                  </a:extLst>
                </a:gridCol>
              </a:tblGrid>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Position</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Parent</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455613" y="152400"/>
            <a:ext cx="8226425" cy="914400"/>
          </a:xfrm>
        </p:spPr>
        <p:txBody>
          <a:bodyPr/>
          <a:lstStyle/>
          <a:p>
            <a:r>
              <a:rPr lang="en-US" dirty="0" smtClean="0">
                <a:latin typeface="Helvetica" pitchFamily="26" charset="0"/>
              </a:rPr>
              <a:t>Array Implementation</a:t>
            </a:r>
          </a:p>
        </p:txBody>
      </p:sp>
      <p:graphicFrame>
        <p:nvGraphicFramePr>
          <p:cNvPr id="263173" name="Group 5"/>
          <p:cNvGraphicFramePr>
            <a:graphicFrameLocks noGrp="1"/>
          </p:cNvGraphicFramePr>
          <p:nvPr/>
        </p:nvGraphicFramePr>
        <p:xfrm>
          <a:off x="381000" y="990600"/>
          <a:ext cx="8077200" cy="2844800"/>
        </p:xfrm>
        <a:graphic>
          <a:graphicData uri="http://schemas.openxmlformats.org/drawingml/2006/table">
            <a:tbl>
              <a:tblPr/>
              <a:tblGrid>
                <a:gridCol w="2144713">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8312">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831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533400">
                  <a:extLst>
                    <a:ext uri="{9D8B030D-6E8A-4147-A177-3AD203B41FA5}">
                      <a16:colId xmlns:a16="http://schemas.microsoft.com/office/drawing/2014/main" val="20011"/>
                    </a:ext>
                  </a:extLst>
                </a:gridCol>
                <a:gridCol w="533400">
                  <a:extLst>
                    <a:ext uri="{9D8B030D-6E8A-4147-A177-3AD203B41FA5}">
                      <a16:colId xmlns:a16="http://schemas.microsoft.com/office/drawing/2014/main" val="20012"/>
                    </a:ext>
                  </a:extLst>
                </a:gridCol>
              </a:tblGrid>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Position</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Parent</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7" name="Picture 2"/>
          <p:cNvPicPr>
            <a:picLocks noChangeAspect="1" noChangeArrowheads="1"/>
          </p:cNvPicPr>
          <p:nvPr/>
        </p:nvPicPr>
        <p:blipFill>
          <a:blip r:embed="rId3" cstate="print"/>
          <a:srcRect/>
          <a:stretch>
            <a:fillRect/>
          </a:stretch>
        </p:blipFill>
        <p:spPr bwMode="auto">
          <a:xfrm>
            <a:off x="125633" y="3957638"/>
            <a:ext cx="7189567" cy="2671762"/>
          </a:xfrm>
          <a:prstGeom prst="rect">
            <a:avLst/>
          </a:prstGeom>
          <a:noFill/>
          <a:ln w="9525">
            <a:noFill/>
            <a:miter lim="800000"/>
            <a:headEnd/>
            <a:tailEnd/>
          </a:ln>
        </p:spPr>
      </p:pic>
      <p:pic>
        <p:nvPicPr>
          <p:cNvPr id="8" name="Picture 4" descr="BinArray"/>
          <p:cNvPicPr>
            <a:picLocks noChangeAspect="1" noChangeArrowheads="1"/>
          </p:cNvPicPr>
          <p:nvPr/>
        </p:nvPicPr>
        <p:blipFill>
          <a:blip r:embed="rId4" cstate="print"/>
          <a:srcRect l="1263" t="3275" r="3160" b="10915"/>
          <a:stretch>
            <a:fillRect/>
          </a:stretch>
        </p:blipFill>
        <p:spPr bwMode="auto">
          <a:xfrm>
            <a:off x="5621337" y="3959225"/>
            <a:ext cx="3522663" cy="1831975"/>
          </a:xfrm>
          <a:prstGeom prst="rect">
            <a:avLst/>
          </a:prstGeom>
          <a:noFill/>
          <a:ln w="9525">
            <a:noFill/>
            <a:miter lim="800000"/>
            <a:headEnd/>
            <a:tailEnd/>
          </a:ln>
        </p:spPr>
      </p:pic>
      <p:sp>
        <p:nvSpPr>
          <p:cNvPr id="9" name="Rectangle 8"/>
          <p:cNvSpPr/>
          <p:nvPr/>
        </p:nvSpPr>
        <p:spPr>
          <a:xfrm>
            <a:off x="381000" y="5728252"/>
            <a:ext cx="6477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1000" y="5347252"/>
            <a:ext cx="525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81000" y="4966252"/>
            <a:ext cx="525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1000" y="4572000"/>
            <a:ext cx="525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455613" y="152400"/>
            <a:ext cx="8226425" cy="914400"/>
          </a:xfrm>
        </p:spPr>
        <p:txBody>
          <a:bodyPr/>
          <a:lstStyle/>
          <a:p>
            <a:r>
              <a:rPr lang="en-US" dirty="0" smtClean="0">
                <a:latin typeface="Helvetica" pitchFamily="26" charset="0"/>
              </a:rPr>
              <a:t>Array Implementation</a:t>
            </a:r>
          </a:p>
        </p:txBody>
      </p:sp>
      <p:graphicFrame>
        <p:nvGraphicFramePr>
          <p:cNvPr id="263173" name="Group 5"/>
          <p:cNvGraphicFramePr>
            <a:graphicFrameLocks noGrp="1"/>
          </p:cNvGraphicFramePr>
          <p:nvPr/>
        </p:nvGraphicFramePr>
        <p:xfrm>
          <a:off x="381000" y="990600"/>
          <a:ext cx="8077200" cy="2844800"/>
        </p:xfrm>
        <a:graphic>
          <a:graphicData uri="http://schemas.openxmlformats.org/drawingml/2006/table">
            <a:tbl>
              <a:tblPr/>
              <a:tblGrid>
                <a:gridCol w="2144713">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8312">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831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533400">
                  <a:extLst>
                    <a:ext uri="{9D8B030D-6E8A-4147-A177-3AD203B41FA5}">
                      <a16:colId xmlns:a16="http://schemas.microsoft.com/office/drawing/2014/main" val="20011"/>
                    </a:ext>
                  </a:extLst>
                </a:gridCol>
                <a:gridCol w="533400">
                  <a:extLst>
                    <a:ext uri="{9D8B030D-6E8A-4147-A177-3AD203B41FA5}">
                      <a16:colId xmlns:a16="http://schemas.microsoft.com/office/drawing/2014/main" val="20012"/>
                    </a:ext>
                  </a:extLst>
                </a:gridCol>
              </a:tblGrid>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Position</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Parent</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7" name="Picture 2"/>
          <p:cNvPicPr>
            <a:picLocks noChangeAspect="1" noChangeArrowheads="1"/>
          </p:cNvPicPr>
          <p:nvPr/>
        </p:nvPicPr>
        <p:blipFill>
          <a:blip r:embed="rId3" cstate="print"/>
          <a:srcRect/>
          <a:stretch>
            <a:fillRect/>
          </a:stretch>
        </p:blipFill>
        <p:spPr bwMode="auto">
          <a:xfrm>
            <a:off x="125633" y="3957638"/>
            <a:ext cx="7189567" cy="2671762"/>
          </a:xfrm>
          <a:prstGeom prst="rect">
            <a:avLst/>
          </a:prstGeom>
          <a:noFill/>
          <a:ln w="9525">
            <a:noFill/>
            <a:miter lim="800000"/>
            <a:headEnd/>
            <a:tailEnd/>
          </a:ln>
        </p:spPr>
      </p:pic>
      <p:pic>
        <p:nvPicPr>
          <p:cNvPr id="8" name="Picture 4" descr="BinArray"/>
          <p:cNvPicPr>
            <a:picLocks noChangeAspect="1" noChangeArrowheads="1"/>
          </p:cNvPicPr>
          <p:nvPr/>
        </p:nvPicPr>
        <p:blipFill>
          <a:blip r:embed="rId4" cstate="print"/>
          <a:srcRect l="1263" t="3275" r="3160" b="10915"/>
          <a:stretch>
            <a:fillRect/>
          </a:stretch>
        </p:blipFill>
        <p:spPr bwMode="auto">
          <a:xfrm>
            <a:off x="5621337" y="3959225"/>
            <a:ext cx="3522663" cy="1831975"/>
          </a:xfrm>
          <a:prstGeom prst="rect">
            <a:avLst/>
          </a:prstGeom>
          <a:noFill/>
          <a:ln w="9525">
            <a:noFill/>
            <a:miter lim="800000"/>
            <a:headEnd/>
            <a:tailEnd/>
          </a:ln>
        </p:spPr>
      </p:pic>
      <p:sp>
        <p:nvSpPr>
          <p:cNvPr id="9" name="Rectangle 8"/>
          <p:cNvSpPr/>
          <p:nvPr/>
        </p:nvSpPr>
        <p:spPr>
          <a:xfrm>
            <a:off x="381000" y="5791200"/>
            <a:ext cx="6477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1000" y="5410200"/>
            <a:ext cx="525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81000" y="5029200"/>
            <a:ext cx="525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455613" y="152400"/>
            <a:ext cx="8226425" cy="914400"/>
          </a:xfrm>
        </p:spPr>
        <p:txBody>
          <a:bodyPr/>
          <a:lstStyle/>
          <a:p>
            <a:r>
              <a:rPr lang="en-US" dirty="0" smtClean="0">
                <a:latin typeface="Helvetica" pitchFamily="26" charset="0"/>
              </a:rPr>
              <a:t>Array Implementation</a:t>
            </a:r>
          </a:p>
        </p:txBody>
      </p:sp>
      <p:graphicFrame>
        <p:nvGraphicFramePr>
          <p:cNvPr id="263173" name="Group 5"/>
          <p:cNvGraphicFramePr>
            <a:graphicFrameLocks noGrp="1"/>
          </p:cNvGraphicFramePr>
          <p:nvPr/>
        </p:nvGraphicFramePr>
        <p:xfrm>
          <a:off x="381000" y="990600"/>
          <a:ext cx="8077200" cy="2844800"/>
        </p:xfrm>
        <a:graphic>
          <a:graphicData uri="http://schemas.openxmlformats.org/drawingml/2006/table">
            <a:tbl>
              <a:tblPr/>
              <a:tblGrid>
                <a:gridCol w="2144713">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8312">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831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533400">
                  <a:extLst>
                    <a:ext uri="{9D8B030D-6E8A-4147-A177-3AD203B41FA5}">
                      <a16:colId xmlns:a16="http://schemas.microsoft.com/office/drawing/2014/main" val="20011"/>
                    </a:ext>
                  </a:extLst>
                </a:gridCol>
                <a:gridCol w="533400">
                  <a:extLst>
                    <a:ext uri="{9D8B030D-6E8A-4147-A177-3AD203B41FA5}">
                      <a16:colId xmlns:a16="http://schemas.microsoft.com/office/drawing/2014/main" val="20012"/>
                    </a:ext>
                  </a:extLst>
                </a:gridCol>
              </a:tblGrid>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Position</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Parent</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7" name="Picture 2"/>
          <p:cNvPicPr>
            <a:picLocks noChangeAspect="1" noChangeArrowheads="1"/>
          </p:cNvPicPr>
          <p:nvPr/>
        </p:nvPicPr>
        <p:blipFill>
          <a:blip r:embed="rId3" cstate="print"/>
          <a:srcRect/>
          <a:stretch>
            <a:fillRect/>
          </a:stretch>
        </p:blipFill>
        <p:spPr bwMode="auto">
          <a:xfrm>
            <a:off x="125633" y="3957638"/>
            <a:ext cx="7189567" cy="2671762"/>
          </a:xfrm>
          <a:prstGeom prst="rect">
            <a:avLst/>
          </a:prstGeom>
          <a:noFill/>
          <a:ln w="9525">
            <a:noFill/>
            <a:miter lim="800000"/>
            <a:headEnd/>
            <a:tailEnd/>
          </a:ln>
        </p:spPr>
      </p:pic>
      <p:pic>
        <p:nvPicPr>
          <p:cNvPr id="8" name="Picture 4" descr="BinArray"/>
          <p:cNvPicPr>
            <a:picLocks noChangeAspect="1" noChangeArrowheads="1"/>
          </p:cNvPicPr>
          <p:nvPr/>
        </p:nvPicPr>
        <p:blipFill>
          <a:blip r:embed="rId4" cstate="print"/>
          <a:srcRect l="1263" t="3275" r="3160" b="10915"/>
          <a:stretch>
            <a:fillRect/>
          </a:stretch>
        </p:blipFill>
        <p:spPr bwMode="auto">
          <a:xfrm>
            <a:off x="5621337" y="3959225"/>
            <a:ext cx="3522663" cy="1831975"/>
          </a:xfrm>
          <a:prstGeom prst="rect">
            <a:avLst/>
          </a:prstGeom>
          <a:noFill/>
          <a:ln w="9525">
            <a:noFill/>
            <a:miter lim="800000"/>
            <a:headEnd/>
            <a:tailEnd/>
          </a:ln>
        </p:spPr>
      </p:pic>
      <p:sp>
        <p:nvSpPr>
          <p:cNvPr id="9" name="Rectangle 8"/>
          <p:cNvSpPr/>
          <p:nvPr/>
        </p:nvSpPr>
        <p:spPr>
          <a:xfrm>
            <a:off x="381000" y="5791200"/>
            <a:ext cx="6477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1000" y="5410200"/>
            <a:ext cx="525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455613" y="152400"/>
            <a:ext cx="8226425" cy="914400"/>
          </a:xfrm>
        </p:spPr>
        <p:txBody>
          <a:bodyPr/>
          <a:lstStyle/>
          <a:p>
            <a:r>
              <a:rPr lang="en-US" dirty="0" smtClean="0">
                <a:latin typeface="Helvetica" pitchFamily="26" charset="0"/>
              </a:rPr>
              <a:t>Array Implementation</a:t>
            </a:r>
          </a:p>
        </p:txBody>
      </p:sp>
      <p:graphicFrame>
        <p:nvGraphicFramePr>
          <p:cNvPr id="263173" name="Group 5"/>
          <p:cNvGraphicFramePr>
            <a:graphicFrameLocks noGrp="1"/>
          </p:cNvGraphicFramePr>
          <p:nvPr/>
        </p:nvGraphicFramePr>
        <p:xfrm>
          <a:off x="381000" y="990600"/>
          <a:ext cx="8077200" cy="2844800"/>
        </p:xfrm>
        <a:graphic>
          <a:graphicData uri="http://schemas.openxmlformats.org/drawingml/2006/table">
            <a:tbl>
              <a:tblPr/>
              <a:tblGrid>
                <a:gridCol w="2144713">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8312">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831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533400">
                  <a:extLst>
                    <a:ext uri="{9D8B030D-6E8A-4147-A177-3AD203B41FA5}">
                      <a16:colId xmlns:a16="http://schemas.microsoft.com/office/drawing/2014/main" val="20011"/>
                    </a:ext>
                  </a:extLst>
                </a:gridCol>
                <a:gridCol w="533400">
                  <a:extLst>
                    <a:ext uri="{9D8B030D-6E8A-4147-A177-3AD203B41FA5}">
                      <a16:colId xmlns:a16="http://schemas.microsoft.com/office/drawing/2014/main" val="20012"/>
                    </a:ext>
                  </a:extLst>
                </a:gridCol>
              </a:tblGrid>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Position</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Parent</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7" name="Picture 2"/>
          <p:cNvPicPr>
            <a:picLocks noChangeAspect="1" noChangeArrowheads="1"/>
          </p:cNvPicPr>
          <p:nvPr/>
        </p:nvPicPr>
        <p:blipFill>
          <a:blip r:embed="rId3" cstate="print"/>
          <a:srcRect/>
          <a:stretch>
            <a:fillRect/>
          </a:stretch>
        </p:blipFill>
        <p:spPr bwMode="auto">
          <a:xfrm>
            <a:off x="125633" y="3957638"/>
            <a:ext cx="7189567" cy="2671762"/>
          </a:xfrm>
          <a:prstGeom prst="rect">
            <a:avLst/>
          </a:prstGeom>
          <a:noFill/>
          <a:ln w="9525">
            <a:noFill/>
            <a:miter lim="800000"/>
            <a:headEnd/>
            <a:tailEnd/>
          </a:ln>
        </p:spPr>
      </p:pic>
      <p:pic>
        <p:nvPicPr>
          <p:cNvPr id="8" name="Picture 4" descr="BinArray"/>
          <p:cNvPicPr>
            <a:picLocks noChangeAspect="1" noChangeArrowheads="1"/>
          </p:cNvPicPr>
          <p:nvPr/>
        </p:nvPicPr>
        <p:blipFill>
          <a:blip r:embed="rId4" cstate="print"/>
          <a:srcRect l="1263" t="3275" r="3160" b="10915"/>
          <a:stretch>
            <a:fillRect/>
          </a:stretch>
        </p:blipFill>
        <p:spPr bwMode="auto">
          <a:xfrm>
            <a:off x="5621337" y="3959225"/>
            <a:ext cx="3522663" cy="1831975"/>
          </a:xfrm>
          <a:prstGeom prst="rect">
            <a:avLst/>
          </a:prstGeom>
          <a:noFill/>
          <a:ln w="9525">
            <a:noFill/>
            <a:miter lim="800000"/>
            <a:headEnd/>
            <a:tailEnd/>
          </a:ln>
        </p:spPr>
      </p:pic>
      <p:sp>
        <p:nvSpPr>
          <p:cNvPr id="9" name="Rectangle 8"/>
          <p:cNvSpPr/>
          <p:nvPr/>
        </p:nvSpPr>
        <p:spPr>
          <a:xfrm>
            <a:off x="381000" y="5791200"/>
            <a:ext cx="6477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455613" y="152400"/>
            <a:ext cx="8226425" cy="914400"/>
          </a:xfrm>
        </p:spPr>
        <p:txBody>
          <a:bodyPr/>
          <a:lstStyle/>
          <a:p>
            <a:r>
              <a:rPr lang="en-US" dirty="0" smtClean="0">
                <a:latin typeface="Helvetica" pitchFamily="26" charset="0"/>
              </a:rPr>
              <a:t>Array Implementation</a:t>
            </a:r>
          </a:p>
        </p:txBody>
      </p:sp>
      <p:graphicFrame>
        <p:nvGraphicFramePr>
          <p:cNvPr id="263173" name="Group 5"/>
          <p:cNvGraphicFramePr>
            <a:graphicFrameLocks noGrp="1"/>
          </p:cNvGraphicFramePr>
          <p:nvPr/>
        </p:nvGraphicFramePr>
        <p:xfrm>
          <a:off x="381000" y="990600"/>
          <a:ext cx="8077200" cy="2844800"/>
        </p:xfrm>
        <a:graphic>
          <a:graphicData uri="http://schemas.openxmlformats.org/drawingml/2006/table">
            <a:tbl>
              <a:tblPr/>
              <a:tblGrid>
                <a:gridCol w="2144713">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8312">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831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533400">
                  <a:extLst>
                    <a:ext uri="{9D8B030D-6E8A-4147-A177-3AD203B41FA5}">
                      <a16:colId xmlns:a16="http://schemas.microsoft.com/office/drawing/2014/main" val="20011"/>
                    </a:ext>
                  </a:extLst>
                </a:gridCol>
                <a:gridCol w="533400">
                  <a:extLst>
                    <a:ext uri="{9D8B030D-6E8A-4147-A177-3AD203B41FA5}">
                      <a16:colId xmlns:a16="http://schemas.microsoft.com/office/drawing/2014/main" val="20012"/>
                    </a:ext>
                  </a:extLst>
                </a:gridCol>
              </a:tblGrid>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Position</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Parent</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Child</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Left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Right Sibling</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7" name="Picture 2"/>
          <p:cNvPicPr>
            <a:picLocks noChangeAspect="1" noChangeArrowheads="1"/>
          </p:cNvPicPr>
          <p:nvPr/>
        </p:nvPicPr>
        <p:blipFill>
          <a:blip r:embed="rId3" cstate="print"/>
          <a:srcRect/>
          <a:stretch>
            <a:fillRect/>
          </a:stretch>
        </p:blipFill>
        <p:spPr bwMode="auto">
          <a:xfrm>
            <a:off x="125633" y="3957638"/>
            <a:ext cx="7189567" cy="2671762"/>
          </a:xfrm>
          <a:prstGeom prst="rect">
            <a:avLst/>
          </a:prstGeom>
          <a:noFill/>
          <a:ln w="9525">
            <a:noFill/>
            <a:miter lim="800000"/>
            <a:headEnd/>
            <a:tailEnd/>
          </a:ln>
        </p:spPr>
      </p:pic>
      <p:pic>
        <p:nvPicPr>
          <p:cNvPr id="8" name="Picture 4" descr="BinArray"/>
          <p:cNvPicPr>
            <a:picLocks noChangeAspect="1" noChangeArrowheads="1"/>
          </p:cNvPicPr>
          <p:nvPr/>
        </p:nvPicPr>
        <p:blipFill>
          <a:blip r:embed="rId4" cstate="print"/>
          <a:srcRect l="1263" t="3275" r="3160" b="10915"/>
          <a:stretch>
            <a:fillRect/>
          </a:stretch>
        </p:blipFill>
        <p:spPr bwMode="auto">
          <a:xfrm>
            <a:off x="5621337" y="3959225"/>
            <a:ext cx="3522663" cy="183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4077</TotalTime>
  <Words>4898</Words>
  <Application>Microsoft Office PowerPoint</Application>
  <PresentationFormat>On-screen Show (4:3)</PresentationFormat>
  <Paragraphs>1275</Paragraphs>
  <Slides>84</Slides>
  <Notes>33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84</vt:i4>
      </vt:variant>
    </vt:vector>
  </HeadingPairs>
  <TitlesOfParts>
    <vt:vector size="96" baseType="lpstr">
      <vt:lpstr>Arial</vt:lpstr>
      <vt:lpstr>Calibri</vt:lpstr>
      <vt:lpstr>Courier New</vt:lpstr>
      <vt:lpstr>Helvetica</vt:lpstr>
      <vt:lpstr>Symbol</vt:lpstr>
      <vt:lpstr>Tahoma</vt:lpstr>
      <vt:lpstr>Times</vt:lpstr>
      <vt:lpstr>Times New Roman</vt:lpstr>
      <vt:lpstr>Wingdings</vt:lpstr>
      <vt:lpstr>Office Theme</vt:lpstr>
      <vt:lpstr>PDF</vt:lpstr>
      <vt:lpstr>Packager Shell Object</vt:lpstr>
      <vt:lpstr>CSE 203: Data Structures</vt:lpstr>
      <vt:lpstr>Binary Trees</vt:lpstr>
      <vt:lpstr>Binary Tree Example</vt:lpstr>
      <vt:lpstr>Binary Tree Example</vt:lpstr>
      <vt:lpstr>Binary Tree Example</vt:lpstr>
      <vt:lpstr>Binary Tree Example</vt:lpstr>
      <vt:lpstr>Binary Tree Example</vt:lpstr>
      <vt:lpstr>Binary Tree Example</vt:lpstr>
      <vt:lpstr>Binary Tree Example</vt:lpstr>
      <vt:lpstr>Binary Tree Example</vt:lpstr>
      <vt:lpstr>Binary Tree Example</vt:lpstr>
      <vt:lpstr>Binary Tree Example</vt:lpstr>
      <vt:lpstr>Are the following two trees same?</vt:lpstr>
      <vt:lpstr>Full and Complete Binary Trees</vt:lpstr>
      <vt:lpstr>Full and Complete Binary Trees</vt:lpstr>
      <vt:lpstr>Full Binary Tree Theorem (1)</vt:lpstr>
      <vt:lpstr>Full Binary Tree Theorem (2)</vt:lpstr>
      <vt:lpstr>Full Binary Tree Theorem (2)</vt:lpstr>
      <vt:lpstr>Why Full Binary Tree Theorem is useful? </vt:lpstr>
      <vt:lpstr>Full Binary Tree Corollary</vt:lpstr>
      <vt:lpstr>Full Binary Tree Corollary</vt:lpstr>
      <vt:lpstr>Binary Tree Node Class</vt:lpstr>
      <vt:lpstr>Traversal of Trees</vt:lpstr>
      <vt:lpstr>Preorder Traversal</vt:lpstr>
      <vt:lpstr>Postorder Traversal</vt:lpstr>
      <vt:lpstr>Inorder Traversal</vt:lpstr>
      <vt:lpstr>Level Order Traversal</vt:lpstr>
      <vt:lpstr>Pre-Order Traversal</vt:lpstr>
      <vt:lpstr>Pre-Order Traversal</vt:lpstr>
      <vt:lpstr>Pre-Order Traversal</vt:lpstr>
      <vt:lpstr>Pre-Order Traversal</vt:lpstr>
      <vt:lpstr>Pre-Order Traversal</vt:lpstr>
      <vt:lpstr>Pre-Order Traversal</vt:lpstr>
      <vt:lpstr>Pre-Order Traversal</vt:lpstr>
      <vt:lpstr>Pre-Order Traversal</vt:lpstr>
      <vt:lpstr>Pre-Order Traversal</vt:lpstr>
      <vt:lpstr>Pre-Order Traversal</vt:lpstr>
      <vt:lpstr>Post-Order Traversal</vt:lpstr>
      <vt:lpstr>Post-Order Traversal</vt:lpstr>
      <vt:lpstr>Post-Order Traversal</vt:lpstr>
      <vt:lpstr>Post-Order Traversal</vt:lpstr>
      <vt:lpstr>Post-Order Traversal</vt:lpstr>
      <vt:lpstr>Post-Order Traversal</vt:lpstr>
      <vt:lpstr>Post-Order Traversal</vt:lpstr>
      <vt:lpstr>Post-Order Traversal</vt:lpstr>
      <vt:lpstr>Post-Order Traversal</vt:lpstr>
      <vt:lpstr>Post-Order Traversal</vt:lpstr>
      <vt:lpstr>In-Order Traversal</vt:lpstr>
      <vt:lpstr>In-Order Traversal</vt:lpstr>
      <vt:lpstr>In-Order Traversal</vt:lpstr>
      <vt:lpstr>In-Order Traversal</vt:lpstr>
      <vt:lpstr>In-Order Traversal</vt:lpstr>
      <vt:lpstr>In-Order Traversal</vt:lpstr>
      <vt:lpstr>In-Order Traversal</vt:lpstr>
      <vt:lpstr>In-Order Traversal</vt:lpstr>
      <vt:lpstr>In-Order Traversal</vt:lpstr>
      <vt:lpstr>In-Order Traversal</vt:lpstr>
      <vt:lpstr>Pre-Order Traversal Code V1</vt:lpstr>
      <vt:lpstr>Pre-Order Traversal Code V2</vt:lpstr>
      <vt:lpstr>Preorder vs preorder2</vt:lpstr>
      <vt:lpstr>Preorder2 is inferior</vt:lpstr>
      <vt:lpstr>Recursion Example: Counting the nodes</vt:lpstr>
      <vt:lpstr>Binary Tree Implementation: ‘Key’ Value</vt:lpstr>
      <vt:lpstr>Binary Tree Implementation</vt:lpstr>
      <vt:lpstr>Binary Tree Implementation</vt:lpstr>
      <vt:lpstr>Binary Tree Implementation</vt:lpstr>
      <vt:lpstr>Some important issues</vt:lpstr>
      <vt:lpstr>Binary Tree Implementation</vt:lpstr>
      <vt:lpstr>Binary Tree Implementation</vt:lpstr>
      <vt:lpstr>Different nodes implementation with inheritance (1)</vt:lpstr>
      <vt:lpstr>Different nodes implementation with inheritance (2)</vt:lpstr>
      <vt:lpstr>Why two Implementations? [Design Patterns]</vt:lpstr>
      <vt:lpstr>Space Requirements</vt:lpstr>
      <vt:lpstr>Space Overhead</vt:lpstr>
      <vt:lpstr>Space Overhead</vt:lpstr>
      <vt:lpstr>Space Overhead</vt:lpstr>
      <vt:lpstr>Space Overhead</vt:lpstr>
      <vt:lpstr>Space Overhead</vt:lpstr>
      <vt:lpstr>Array Implementation Complete Binary Tree</vt:lpstr>
      <vt:lpstr>Array Implementation</vt:lpstr>
      <vt:lpstr>Array Implementation</vt:lpstr>
      <vt:lpstr>Array Implementation</vt:lpstr>
      <vt:lpstr>Array Implementation</vt:lpstr>
      <vt:lpstr>Array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203: Data Structures</dc:title>
  <dc:creator>User</dc:creator>
  <cp:lastModifiedBy>user</cp:lastModifiedBy>
  <cp:revision>139</cp:revision>
  <dcterms:created xsi:type="dcterms:W3CDTF">2016-03-11T11:41:07Z</dcterms:created>
  <dcterms:modified xsi:type="dcterms:W3CDTF">2021-12-04T18:10:52Z</dcterms:modified>
</cp:coreProperties>
</file>