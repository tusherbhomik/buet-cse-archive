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61" r:id="rId5"/>
    <p:sldId id="664" r:id="rId6"/>
    <p:sldId id="666" r:id="rId7"/>
    <p:sldId id="667" r:id="rId8"/>
    <p:sldId id="674" r:id="rId9"/>
    <p:sldId id="676" r:id="rId10"/>
    <p:sldId id="677" r:id="rId11"/>
    <p:sldId id="678" r:id="rId12"/>
    <p:sldId id="680" r:id="rId13"/>
    <p:sldId id="681" r:id="rId14"/>
    <p:sldId id="683" r:id="rId15"/>
    <p:sldId id="684" r:id="rId16"/>
    <p:sldId id="687" r:id="rId17"/>
    <p:sldId id="685" r:id="rId18"/>
    <p:sldId id="682" r:id="rId19"/>
    <p:sldId id="688" r:id="rId20"/>
    <p:sldId id="691" r:id="rId21"/>
    <p:sldId id="686" r:id="rId22"/>
    <p:sldId id="692" r:id="rId23"/>
    <p:sldId id="689" r:id="rId24"/>
    <p:sldId id="690" r:id="rId25"/>
    <p:sldId id="679" r:id="rId26"/>
    <p:sldId id="693" r:id="rId27"/>
    <p:sldId id="694" r:id="rId28"/>
    <p:sldId id="695" r:id="rId29"/>
    <p:sldId id="696" r:id="rId30"/>
    <p:sldId id="697" r:id="rId31"/>
    <p:sldId id="698" r:id="rId32"/>
    <p:sldId id="699" r:id="rId33"/>
    <p:sldId id="700" r:id="rId34"/>
    <p:sldId id="701" r:id="rId35"/>
    <p:sldId id="702" r:id="rId36"/>
    <p:sldId id="703" r:id="rId37"/>
    <p:sldId id="704" r:id="rId38"/>
    <p:sldId id="705" r:id="rId39"/>
    <p:sldId id="706" r:id="rId40"/>
    <p:sldId id="712" r:id="rId41"/>
    <p:sldId id="707" r:id="rId42"/>
    <p:sldId id="708" r:id="rId43"/>
    <p:sldId id="713" r:id="rId44"/>
    <p:sldId id="714" r:id="rId45"/>
    <p:sldId id="715" r:id="rId46"/>
    <p:sldId id="716" r:id="rId47"/>
    <p:sldId id="717" r:id="rId48"/>
    <p:sldId id="737" r:id="rId49"/>
    <p:sldId id="738" r:id="rId50"/>
    <p:sldId id="719" r:id="rId51"/>
    <p:sldId id="722" r:id="rId52"/>
    <p:sldId id="723" r:id="rId53"/>
    <p:sldId id="726" r:id="rId54"/>
    <p:sldId id="725" r:id="rId55"/>
    <p:sldId id="727" r:id="rId56"/>
    <p:sldId id="728" r:id="rId57"/>
    <p:sldId id="729" r:id="rId58"/>
    <p:sldId id="732" r:id="rId59"/>
    <p:sldId id="730" r:id="rId60"/>
    <p:sldId id="734" r:id="rId61"/>
    <p:sldId id="735" r:id="rId62"/>
    <p:sldId id="731" r:id="rId63"/>
    <p:sldId id="736" r:id="rId64"/>
    <p:sldId id="740" r:id="rId65"/>
    <p:sldId id="741" r:id="rId66"/>
    <p:sldId id="743" r:id="rId67"/>
    <p:sldId id="742" r:id="rId68"/>
    <p:sldId id="747" r:id="rId69"/>
    <p:sldId id="744" r:id="rId70"/>
    <p:sldId id="745" r:id="rId71"/>
    <p:sldId id="746" r:id="rId72"/>
    <p:sldId id="750" r:id="rId73"/>
    <p:sldId id="748" r:id="rId74"/>
    <p:sldId id="749" r:id="rId75"/>
    <p:sldId id="751" r:id="rId76"/>
    <p:sldId id="752" r:id="rId77"/>
    <p:sldId id="753" r:id="rId78"/>
    <p:sldId id="650"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129E"/>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snapToObjects="1">
      <p:cViewPr varScale="1">
        <p:scale>
          <a:sx n="128" d="100"/>
          <a:sy n="128" d="100"/>
        </p:scale>
        <p:origin x="48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42361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40508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t>1/29/22</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4355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t>1/29/22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4937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t>1/29/22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2378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t>1/29/22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8188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t>1/29/22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92262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smtClean="0"/>
              <a:t>1/29/22</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38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smtClean="0"/>
              <a:t>1/29/22</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216615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157CC2-0FC8-4686-B024-99790E0F5162}"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362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35865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t>1/29/22</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5.png"/></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6.png"/><Relationship Id="rId4" Type="http://schemas.openxmlformats.org/officeDocument/2006/relationships/image" Target="../media/image25.png"/></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4.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9.png"/></Relationships>
</file>

<file path=ppt/slides/_rels/slide7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30.png"/></Relationships>
</file>

<file path=ppt/slides/_rels/slide7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30.png"/></Relationships>
</file>

<file path=ppt/slides/_rels/slide7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30.png"/></Relationships>
</file>

<file path=ppt/slides/_rels/slide7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30.png"/></Relationships>
</file>

<file path=ppt/slides/_rels/slide7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3.png"/></Relationships>
</file>

<file path=ppt/slides/_rels/slide7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4.png"/><Relationship Id="rId4" Type="http://schemas.openxmlformats.org/officeDocument/2006/relationships/image" Target="../media/image25.png"/><Relationship Id="rId9" Type="http://schemas.openxmlformats.org/officeDocument/2006/relationships/image" Target="../media/image23.png"/></Relationships>
</file>

<file path=ppt/slides/_rels/slide7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5.png"/><Relationship Id="rId5" Type="http://schemas.openxmlformats.org/officeDocument/2006/relationships/image" Target="../media/image26.png"/><Relationship Id="rId10" Type="http://schemas.openxmlformats.org/officeDocument/2006/relationships/image" Target="../media/image34.png"/><Relationship Id="rId4" Type="http://schemas.openxmlformats.org/officeDocument/2006/relationships/image" Target="../media/image25.png"/><Relationship Id="rId9" Type="http://schemas.openxmlformats.org/officeDocument/2006/relationships/image" Target="../media/image2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0A9CA-B21C-C247-A4C1-99BC01F37DBE}"/>
              </a:ext>
            </a:extLst>
          </p:cNvPr>
          <p:cNvSpPr>
            <a:spLocks noGrp="1"/>
          </p:cNvSpPr>
          <p:nvPr>
            <p:ph type="ctrTitle"/>
          </p:nvPr>
        </p:nvSpPr>
        <p:spPr/>
        <p:txBody>
          <a:bodyPr/>
          <a:lstStyle/>
          <a:p>
            <a:r>
              <a:rPr lang="en-US" dirty="0"/>
              <a:t>Greedy Algorithms</a:t>
            </a:r>
          </a:p>
        </p:txBody>
      </p:sp>
      <p:sp>
        <p:nvSpPr>
          <p:cNvPr id="3" name="Subtitle 2">
            <a:extLst>
              <a:ext uri="{FF2B5EF4-FFF2-40B4-BE49-F238E27FC236}">
                <a16:creationId xmlns:a16="http://schemas.microsoft.com/office/drawing/2014/main" id="{D05E5DC5-C5A3-644D-AD2E-346A381B5D5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0221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5291-91F0-0D4A-B9C5-3943EBC70522}"/>
              </a:ext>
            </a:extLst>
          </p:cNvPr>
          <p:cNvSpPr>
            <a:spLocks noGrp="1"/>
          </p:cNvSpPr>
          <p:nvPr>
            <p:ph type="title"/>
          </p:nvPr>
        </p:nvSpPr>
        <p:spPr/>
        <p:txBody>
          <a:bodyPr/>
          <a:lstStyle/>
          <a:p>
            <a:r>
              <a:rPr lang="en-US"/>
              <a:t>Greedy</a:t>
            </a:r>
            <a:endParaRPr lang="en-US" dirty="0"/>
          </a:p>
        </p:txBody>
      </p:sp>
      <p:sp>
        <p:nvSpPr>
          <p:cNvPr id="3" name="Content Placeholder 2">
            <a:extLst>
              <a:ext uri="{FF2B5EF4-FFF2-40B4-BE49-F238E27FC236}">
                <a16:creationId xmlns:a16="http://schemas.microsoft.com/office/drawing/2014/main" id="{CB618962-6CE0-A640-8B67-E1E6F8ADA1A9}"/>
              </a:ext>
            </a:extLst>
          </p:cNvPr>
          <p:cNvSpPr>
            <a:spLocks noGrp="1"/>
          </p:cNvSpPr>
          <p:nvPr>
            <p:ph idx="1"/>
          </p:nvPr>
        </p:nvSpPr>
        <p:spPr>
          <a:xfrm>
            <a:off x="1069848" y="2121408"/>
            <a:ext cx="7964822" cy="4050792"/>
          </a:xfrm>
        </p:spPr>
        <p:txBody>
          <a:bodyPr/>
          <a:lstStyle/>
          <a:p>
            <a:r>
              <a:rPr lang="en-US" dirty="0"/>
              <a:t>A </a:t>
            </a:r>
            <a:r>
              <a:rPr lang="en-US" dirty="0">
                <a:solidFill>
                  <a:srgbClr val="FF0000"/>
                </a:solidFill>
              </a:rPr>
              <a:t>greedy algorithm </a:t>
            </a:r>
            <a:r>
              <a:rPr lang="en-US" dirty="0"/>
              <a:t>always makes the choice that looks best at the moment</a:t>
            </a:r>
          </a:p>
          <a:p>
            <a:r>
              <a:rPr lang="en-US" dirty="0"/>
              <a:t>The algorithm is usually an iterative algorithm </a:t>
            </a:r>
          </a:p>
          <a:p>
            <a:r>
              <a:rPr lang="en-US" dirty="0"/>
              <a:t>The solution usually composed of elements. For example, a path which composed of edges, a set which composed of elements, etc. </a:t>
            </a:r>
          </a:p>
          <a:p>
            <a:r>
              <a:rPr lang="en-US" dirty="0"/>
              <a:t>In each iteration or step, the algorithm adds one component/element to the solution set. After final step, the solution set will be complete solution of the problem. </a:t>
            </a:r>
          </a:p>
          <a:p>
            <a:endParaRPr lang="en-US" dirty="0"/>
          </a:p>
        </p:txBody>
      </p:sp>
      <p:pic>
        <p:nvPicPr>
          <p:cNvPr id="24" name="Picture 4">
            <a:extLst>
              <a:ext uri="{FF2B5EF4-FFF2-40B4-BE49-F238E27FC236}">
                <a16:creationId xmlns:a16="http://schemas.microsoft.com/office/drawing/2014/main" id="{15FDEE82-061A-5744-82B6-C9D27E9C2431}"/>
              </a:ext>
            </a:extLst>
          </p:cNvPr>
          <p:cNvPicPr>
            <a:picLocks noChangeAspect="1" noChangeArrowheads="1"/>
          </p:cNvPicPr>
          <p:nvPr/>
        </p:nvPicPr>
        <p:blipFill>
          <a:blip r:embed="rId2" cstate="print"/>
          <a:srcRect/>
          <a:stretch>
            <a:fillRect/>
          </a:stretch>
        </p:blipFill>
        <p:spPr bwMode="auto">
          <a:xfrm>
            <a:off x="9231382" y="2449100"/>
            <a:ext cx="2314575" cy="2686050"/>
          </a:xfrm>
          <a:prstGeom prst="rect">
            <a:avLst/>
          </a:prstGeom>
          <a:noFill/>
          <a:ln w="9525">
            <a:noFill/>
            <a:miter lim="800000"/>
            <a:headEnd/>
            <a:tailEnd/>
          </a:ln>
        </p:spPr>
      </p:pic>
    </p:spTree>
    <p:extLst>
      <p:ext uri="{BB962C8B-B14F-4D97-AF65-F5344CB8AC3E}">
        <p14:creationId xmlns:p14="http://schemas.microsoft.com/office/powerpoint/2010/main" val="2208864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51A36-FAFE-3F4A-B62E-B0D5538CF6FE}"/>
              </a:ext>
            </a:extLst>
          </p:cNvPr>
          <p:cNvSpPr>
            <a:spLocks noGrp="1"/>
          </p:cNvSpPr>
          <p:nvPr>
            <p:ph type="title"/>
          </p:nvPr>
        </p:nvSpPr>
        <p:spPr/>
        <p:txBody>
          <a:bodyPr/>
          <a:lstStyle/>
          <a:p>
            <a:r>
              <a:rPr lang="en-US" dirty="0"/>
              <a:t>Greedy Algorithm: Principles</a:t>
            </a:r>
          </a:p>
        </p:txBody>
      </p:sp>
      <p:sp>
        <p:nvSpPr>
          <p:cNvPr id="3" name="Content Placeholder 2">
            <a:extLst>
              <a:ext uri="{FF2B5EF4-FFF2-40B4-BE49-F238E27FC236}">
                <a16:creationId xmlns:a16="http://schemas.microsoft.com/office/drawing/2014/main" id="{3613FB5E-22B3-C24E-A673-5A6F1C49E7B1}"/>
              </a:ext>
            </a:extLst>
          </p:cNvPr>
          <p:cNvSpPr>
            <a:spLocks noGrp="1"/>
          </p:cNvSpPr>
          <p:nvPr>
            <p:ph idx="1"/>
          </p:nvPr>
        </p:nvSpPr>
        <p:spPr/>
        <p:txBody>
          <a:bodyPr>
            <a:normAutofit/>
          </a:bodyPr>
          <a:lstStyle/>
          <a:p>
            <a:pPr>
              <a:defRPr/>
            </a:pPr>
            <a:r>
              <a:rPr lang="en-US" sz="2400" dirty="0">
                <a:solidFill>
                  <a:srgbClr val="000000"/>
                </a:solidFill>
                <a:sym typeface="Symbol" pitchFamily="18" charset="2"/>
              </a:rPr>
              <a:t>A greedy algorithm works in phases. At each phase:</a:t>
            </a:r>
          </a:p>
          <a:p>
            <a:pPr lvl="1">
              <a:defRPr/>
            </a:pPr>
            <a:r>
              <a:rPr lang="en-US" sz="2200" dirty="0">
                <a:solidFill>
                  <a:srgbClr val="000000"/>
                </a:solidFill>
                <a:sym typeface="Symbol" pitchFamily="18" charset="2"/>
              </a:rPr>
              <a:t>The algorithm chooses the </a:t>
            </a:r>
            <a:r>
              <a:rPr lang="en-US" sz="2200" dirty="0">
                <a:solidFill>
                  <a:srgbClr val="FF0000"/>
                </a:solidFill>
                <a:sym typeface="Symbol" pitchFamily="18" charset="2"/>
              </a:rPr>
              <a:t>best you can get right now</a:t>
            </a:r>
            <a:r>
              <a:rPr lang="en-US" sz="2200" dirty="0">
                <a:solidFill>
                  <a:srgbClr val="000000"/>
                </a:solidFill>
                <a:sym typeface="Symbol" pitchFamily="18" charset="2"/>
              </a:rPr>
              <a:t>, without regard for future consequences</a:t>
            </a:r>
          </a:p>
          <a:p>
            <a:pPr lvl="1">
              <a:defRPr/>
            </a:pPr>
            <a:r>
              <a:rPr lang="en-US" sz="2200" dirty="0">
                <a:solidFill>
                  <a:srgbClr val="000000"/>
                </a:solidFill>
                <a:sym typeface="Symbol" pitchFamily="18" charset="2"/>
              </a:rPr>
              <a:t>The algorithm hopes that by choosing a local optimum at each step, it will end up at a global optimum</a:t>
            </a:r>
          </a:p>
          <a:p>
            <a:pPr lvl="1">
              <a:defRPr/>
            </a:pPr>
            <a:r>
              <a:rPr lang="en-US" sz="2200" dirty="0">
                <a:solidFill>
                  <a:srgbClr val="000000"/>
                </a:solidFill>
                <a:sym typeface="Symbol" pitchFamily="18" charset="2"/>
              </a:rPr>
              <a:t>For some problems, the global optimum can be achieved</a:t>
            </a:r>
          </a:p>
        </p:txBody>
      </p:sp>
    </p:spTree>
    <p:extLst>
      <p:ext uri="{BB962C8B-B14F-4D97-AF65-F5344CB8AC3E}">
        <p14:creationId xmlns:p14="http://schemas.microsoft.com/office/powerpoint/2010/main" val="2176334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Activity Scheduling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r>
                  <a:rPr lang="en-US" dirty="0"/>
                  <a:t>Input: A set of activities,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 =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𝑛</m:t>
                        </m:r>
                      </m:sub>
                    </m:sSub>
                    <m:r>
                      <a:rPr lang="en-US" i="1" dirty="0" smtClean="0">
                        <a:latin typeface="Cambria Math" panose="02040503050406030204" pitchFamily="18" charset="0"/>
                      </a:rPr>
                      <m:t>}</m:t>
                    </m:r>
                  </m:oMath>
                </a14:m>
                <a:endParaRPr lang="en-US" dirty="0"/>
              </a:p>
              <a:p>
                <a:pPr lvl="1">
                  <a:buFont typeface="Courier New" panose="02070309020205020404" pitchFamily="49" charset="0"/>
                  <a:buChar char="o"/>
                </a:pPr>
                <a:r>
                  <a:rPr lang="en-US" dirty="0"/>
                  <a:t>Each activity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b="0" i="1" dirty="0" smtClean="0">
                            <a:latin typeface="Cambria Math" panose="02040503050406030204" pitchFamily="18" charset="0"/>
                          </a:rPr>
                          <m:t>𝑖</m:t>
                        </m:r>
                      </m:sub>
                    </m:sSub>
                  </m:oMath>
                </a14:m>
                <a:r>
                  <a:rPr lang="en-US" dirty="0"/>
                  <a:t> has a start time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oMath>
                </a14:m>
                <a:r>
                  <a:rPr lang="en-US" dirty="0"/>
                  <a:t> and a finish time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oMath>
                </a14:m>
                <a:r>
                  <a:rPr lang="en-US" dirty="0"/>
                  <a:t> where </a:t>
                </a:r>
                <a14:m>
                  <m:oMath xmlns:m="http://schemas.openxmlformats.org/officeDocument/2006/math">
                    <m:r>
                      <a:rPr lang="en-US" b="0" i="0" dirty="0" smtClean="0">
                        <a:latin typeface="Cambria Math" panose="02040503050406030204" pitchFamily="18" charset="0"/>
                      </a:rPr>
                      <m:t>0</m:t>
                    </m:r>
                    <m:sSub>
                      <m:sSubPr>
                        <m:ctrlPr>
                          <a:rPr lang="en-US" i="1" dirty="0">
                            <a:latin typeface="Cambria Math" panose="02040503050406030204" pitchFamily="18" charset="0"/>
                          </a:rPr>
                        </m:ctrlPr>
                      </m:sSubPr>
                      <m:e>
                        <m:r>
                          <a:rPr lang="en-US" b="0" i="1" dirty="0" smtClean="0">
                            <a:latin typeface="Cambria Math" panose="02040503050406030204" pitchFamily="18" charset="0"/>
                          </a:rPr>
                          <m:t>≤</m:t>
                        </m:r>
                        <m:r>
                          <a:rPr lang="en-US" b="0" i="1" dirty="0" smtClean="0">
                            <a:latin typeface="Cambria Math" panose="02040503050406030204" pitchFamily="18" charset="0"/>
                          </a:rPr>
                          <m:t>𝑠</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&lt;</m:t>
                    </m:r>
                    <m:r>
                      <a:rPr lang="en-US" b="0" i="1" dirty="0" smtClean="0">
                        <a:latin typeface="Cambria Math" panose="02040503050406030204" pitchFamily="18" charset="0"/>
                        <a:ea typeface="Cambria Math" panose="02040503050406030204" pitchFamily="18" charset="0"/>
                      </a:rPr>
                      <m:t>∞</m:t>
                    </m:r>
                  </m:oMath>
                </a14:m>
                <a:endParaRPr lang="en-US" dirty="0"/>
              </a:p>
              <a:p>
                <a:pPr lvl="1">
                  <a:buFont typeface="Courier New" panose="02070309020205020404" pitchFamily="49" charset="0"/>
                  <a:buChar char="o"/>
                </a:pPr>
                <a:r>
                  <a:rPr lang="en-US" dirty="0"/>
                  <a:t>By doing each job, you will get a constant amount of reward</a:t>
                </a:r>
              </a:p>
              <a:p>
                <a:pPr lvl="1">
                  <a:buFont typeface="Courier New" panose="02070309020205020404" pitchFamily="49" charset="0"/>
                  <a:buChar char="o"/>
                </a:pPr>
                <a:r>
                  <a:rPr lang="en-US" dirty="0"/>
                  <a:t>You want to maximize your rewards in a day </a:t>
                </a:r>
              </a:p>
              <a:p>
                <a:pPr lvl="1">
                  <a:buFont typeface="Courier New" panose="02070309020205020404" pitchFamily="49" charset="0"/>
                  <a:buChar char="o"/>
                </a:pPr>
                <a:r>
                  <a:rPr lang="en-US" dirty="0"/>
                  <a:t>This means you want to do as many jobs (e.g., classes) as possible </a:t>
                </a:r>
              </a:p>
              <a:p>
                <a:pPr lvl="1">
                  <a:buFont typeface="Courier New" panose="02070309020205020404" pitchFamily="49" charset="0"/>
                  <a:buChar char="o"/>
                </a:pPr>
                <a:r>
                  <a:rPr lang="en-US" dirty="0"/>
                  <a:t>Surely, we will do all jobs if it is possible. But job times will overlap, and it is not possible to do all jobs.</a:t>
                </a:r>
              </a:p>
              <a:p>
                <a:pPr lvl="1">
                  <a:buFont typeface="Courier New" panose="02070309020205020404" pitchFamily="49" charset="0"/>
                  <a:buChar char="o"/>
                </a:pPr>
                <a:r>
                  <a:rPr lang="en-US" dirty="0"/>
                  <a:t>Some jobs will have to be sacrificed for other jobs</a:t>
                </a:r>
              </a:p>
              <a:p>
                <a:pPr lvl="1">
                  <a:buFont typeface="Courier New" panose="02070309020205020404" pitchFamily="49" charset="0"/>
                  <a:buChar char="o"/>
                </a:pPr>
                <a:r>
                  <a:rPr lang="en-US" dirty="0"/>
                  <a:t>Your task is to find the maximum number of doable jobs</a:t>
                </a:r>
              </a:p>
              <a:p>
                <a:r>
                  <a:rPr lang="en-US" dirty="0"/>
                  <a:t>Two activities are </a:t>
                </a:r>
                <a:r>
                  <a:rPr lang="en-US" dirty="0">
                    <a:solidFill>
                      <a:srgbClr val="FF0000"/>
                    </a:solidFill>
                  </a:rPr>
                  <a:t>compatible</a:t>
                </a:r>
                <a:r>
                  <a:rPr lang="en-US" dirty="0"/>
                  <a:t> if and only if their intervals do not overlap</a:t>
                </a:r>
              </a:p>
              <a:p>
                <a:r>
                  <a:rPr lang="en-US" dirty="0">
                    <a:solidFill>
                      <a:srgbClr val="0000CC"/>
                    </a:solidFill>
                  </a:rPr>
                  <a:t>Output: a maximum-size subset of mutually compatible activities</a:t>
                </a: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a:p>
                <a:pPr lvl="1">
                  <a:buFont typeface="Courier New" panose="02070309020205020404" pitchFamily="49" charset="0"/>
                  <a:buChar char="o"/>
                </a:pPr>
                <a:endParaRPr lang="en-US" dirty="0"/>
              </a:p>
            </p:txBody>
          </p:sp>
        </mc:Choice>
        <mc:Fallback xmlns="">
          <p:sp>
            <p:nvSpPr>
              <p:cNvPr id="3" name="Content Placeholder 2">
                <a:extLst>
                  <a:ext uri="{FF2B5EF4-FFF2-40B4-BE49-F238E27FC236}">
                    <a16:creationId xmlns:a16="http://schemas.microsoft.com/office/drawing/2014/main" id="{E7C676F9-08F7-3D49-93DF-2EF9B6A9945A}"/>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Tree>
    <p:extLst>
      <p:ext uri="{BB962C8B-B14F-4D97-AF65-F5344CB8AC3E}">
        <p14:creationId xmlns:p14="http://schemas.microsoft.com/office/powerpoint/2010/main" val="127151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p:txBody>
          <a:bodyPr/>
          <a:lstStyle/>
          <a:p>
            <a:r>
              <a:rPr lang="en-US" dirty="0"/>
              <a:t>Activity Scheduling Problem</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The greedy choice can be applied to </a:t>
            </a:r>
            <a:r>
              <a:rPr lang="en-US" altLang="zh-TW" dirty="0"/>
              <a:t>f</a:t>
            </a:r>
            <a:r>
              <a:rPr lang="en-US" dirty="0"/>
              <a:t>ind </a:t>
            </a:r>
            <a:r>
              <a:rPr lang="en-US" i="1" dirty="0"/>
              <a:t>solutions</a:t>
            </a:r>
            <a:r>
              <a:rPr lang="en-US" dirty="0"/>
              <a:t> (the maximum number of activities that can be performed) by using</a:t>
            </a:r>
          </a:p>
          <a:p>
            <a:pPr marL="0" indent="0">
              <a:buNone/>
            </a:pPr>
            <a:endParaRPr lang="en-US" dirty="0"/>
          </a:p>
          <a:p>
            <a:pPr lvl="1">
              <a:buFont typeface="Courier New" panose="02070309020205020404" pitchFamily="49" charset="0"/>
              <a:buChar char="o"/>
            </a:pPr>
            <a:r>
              <a:rPr lang="en-US" dirty="0"/>
              <a:t>earliest finish time</a:t>
            </a:r>
          </a:p>
          <a:p>
            <a:pPr marL="274320" lvl="1" indent="0">
              <a:buNone/>
            </a:pPr>
            <a:endParaRPr lang="en-US" dirty="0"/>
          </a:p>
          <a:p>
            <a:pPr lvl="1">
              <a:buFont typeface="Courier New" panose="02070309020205020404" pitchFamily="49" charset="0"/>
              <a:buChar char="o"/>
            </a:pPr>
            <a:r>
              <a:rPr lang="en-US" dirty="0"/>
              <a:t>earliest start time</a:t>
            </a:r>
          </a:p>
          <a:p>
            <a:pPr marL="274320" lvl="1" indent="0">
              <a:buNone/>
            </a:pPr>
            <a:endParaRPr lang="en-US" dirty="0"/>
          </a:p>
          <a:p>
            <a:pPr lvl="1">
              <a:buFont typeface="Courier New" panose="02070309020205020404" pitchFamily="49" charset="0"/>
              <a:buChar char="o"/>
            </a:pPr>
            <a:r>
              <a:rPr lang="en-US" dirty="0"/>
              <a:t>shortest interval</a:t>
            </a:r>
          </a:p>
        </p:txBody>
      </p:sp>
      <p:grpSp>
        <p:nvGrpSpPr>
          <p:cNvPr id="5" name="Group 4">
            <a:extLst>
              <a:ext uri="{FF2B5EF4-FFF2-40B4-BE49-F238E27FC236}">
                <a16:creationId xmlns:a16="http://schemas.microsoft.com/office/drawing/2014/main" id="{8EBE3FCD-378C-2F47-B558-2103CBD16F3C}"/>
              </a:ext>
            </a:extLst>
          </p:cNvPr>
          <p:cNvGrpSpPr/>
          <p:nvPr/>
        </p:nvGrpSpPr>
        <p:grpSpPr>
          <a:xfrm>
            <a:off x="4306890" y="4902293"/>
            <a:ext cx="2249422" cy="745436"/>
            <a:chOff x="4716016" y="4653136"/>
            <a:chExt cx="2736304" cy="985465"/>
          </a:xfrm>
        </p:grpSpPr>
        <p:sp>
          <p:nvSpPr>
            <p:cNvPr id="7" name="Rounded Rectangular Callout 6">
              <a:extLst>
                <a:ext uri="{FF2B5EF4-FFF2-40B4-BE49-F238E27FC236}">
                  <a16:creationId xmlns:a16="http://schemas.microsoft.com/office/drawing/2014/main" id="{9800B1BC-9A49-FB4A-BDEE-A2396578E542}"/>
                </a:ext>
              </a:extLst>
            </p:cNvPr>
            <p:cNvSpPr/>
            <p:nvPr/>
          </p:nvSpPr>
          <p:spPr bwMode="auto">
            <a:xfrm>
              <a:off x="4716016" y="4653136"/>
              <a:ext cx="2736304" cy="985465"/>
            </a:xfrm>
            <a:prstGeom prst="wedgeRoundRectCallout">
              <a:avLst>
                <a:gd name="adj1" fmla="val -87951"/>
                <a:gd name="adj2" fmla="val -85495"/>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sp>
          <p:nvSpPr>
            <p:cNvPr id="8" name="TextBox 7">
              <a:extLst>
                <a:ext uri="{FF2B5EF4-FFF2-40B4-BE49-F238E27FC236}">
                  <a16:creationId xmlns:a16="http://schemas.microsoft.com/office/drawing/2014/main" id="{949C3C1B-0480-7942-AC4C-43D63CA0C82F}"/>
                </a:ext>
              </a:extLst>
            </p:cNvPr>
            <p:cNvSpPr txBox="1"/>
            <p:nvPr/>
          </p:nvSpPr>
          <p:spPr>
            <a:xfrm>
              <a:off x="4716016" y="4747791"/>
              <a:ext cx="2736304" cy="584775"/>
            </a:xfrm>
            <a:prstGeom prst="rect">
              <a:avLst/>
            </a:prstGeom>
            <a:noFill/>
          </p:spPr>
          <p:txBody>
            <a:bodyPr wrap="square" rtlCol="0">
              <a:spAutoFit/>
            </a:bodyPr>
            <a:lstStyle/>
            <a:p>
              <a:r>
                <a:rPr lang="en-US" sz="1600" dirty="0">
                  <a:solidFill>
                    <a:srgbClr val="FF0000"/>
                  </a:solidFill>
                  <a:latin typeface="+mn-lt"/>
                </a:rPr>
                <a:t>Does not always give optimal solution</a:t>
              </a:r>
            </a:p>
          </p:txBody>
        </p:sp>
      </p:grpSp>
      <p:grpSp>
        <p:nvGrpSpPr>
          <p:cNvPr id="9" name="Group 8">
            <a:extLst>
              <a:ext uri="{FF2B5EF4-FFF2-40B4-BE49-F238E27FC236}">
                <a16:creationId xmlns:a16="http://schemas.microsoft.com/office/drawing/2014/main" id="{DA885DE4-0A66-5C47-A405-B059D1029D2D}"/>
              </a:ext>
            </a:extLst>
          </p:cNvPr>
          <p:cNvGrpSpPr/>
          <p:nvPr/>
        </p:nvGrpSpPr>
        <p:grpSpPr>
          <a:xfrm>
            <a:off x="4306890" y="3927504"/>
            <a:ext cx="2249422" cy="745435"/>
            <a:chOff x="4716016" y="3429000"/>
            <a:chExt cx="2736304" cy="985465"/>
          </a:xfrm>
        </p:grpSpPr>
        <p:sp>
          <p:nvSpPr>
            <p:cNvPr id="10" name="Rounded Rectangular Callout 9">
              <a:extLst>
                <a:ext uri="{FF2B5EF4-FFF2-40B4-BE49-F238E27FC236}">
                  <a16:creationId xmlns:a16="http://schemas.microsoft.com/office/drawing/2014/main" id="{B27BBBC1-AF5E-7A41-B7A5-FAD13381BDBB}"/>
                </a:ext>
              </a:extLst>
            </p:cNvPr>
            <p:cNvSpPr/>
            <p:nvPr/>
          </p:nvSpPr>
          <p:spPr bwMode="auto">
            <a:xfrm>
              <a:off x="4716016" y="3429000"/>
              <a:ext cx="2736304" cy="985465"/>
            </a:xfrm>
            <a:prstGeom prst="wedgeRoundRectCallout">
              <a:avLst>
                <a:gd name="adj1" fmla="val -84913"/>
                <a:gd name="adj2" fmla="val -44724"/>
                <a:gd name="adj3" fmla="val 16667"/>
              </a:avLst>
            </a:prstGeom>
            <a:noFill/>
            <a:ln w="254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sp>
          <p:nvSpPr>
            <p:cNvPr id="11" name="TextBox 10">
              <a:extLst>
                <a:ext uri="{FF2B5EF4-FFF2-40B4-BE49-F238E27FC236}">
                  <a16:creationId xmlns:a16="http://schemas.microsoft.com/office/drawing/2014/main" id="{E061F263-854E-C348-9694-BA5C25A4AFBA}"/>
                </a:ext>
              </a:extLst>
            </p:cNvPr>
            <p:cNvSpPr txBox="1"/>
            <p:nvPr/>
          </p:nvSpPr>
          <p:spPr>
            <a:xfrm>
              <a:off x="4716016" y="3523655"/>
              <a:ext cx="2736304" cy="584775"/>
            </a:xfrm>
            <a:prstGeom prst="rect">
              <a:avLst/>
            </a:prstGeom>
            <a:noFill/>
          </p:spPr>
          <p:txBody>
            <a:bodyPr wrap="square" rtlCol="0">
              <a:spAutoFit/>
            </a:bodyPr>
            <a:lstStyle/>
            <a:p>
              <a:r>
                <a:rPr lang="en-US" sz="1600" dirty="0">
                  <a:solidFill>
                    <a:srgbClr val="FF0000"/>
                  </a:solidFill>
                  <a:latin typeface="+mn-lt"/>
                </a:rPr>
                <a:t>Does not always give optimal solution</a:t>
              </a:r>
            </a:p>
          </p:txBody>
        </p:sp>
      </p:grpSp>
      <p:grpSp>
        <p:nvGrpSpPr>
          <p:cNvPr id="12" name="Group 11">
            <a:extLst>
              <a:ext uri="{FF2B5EF4-FFF2-40B4-BE49-F238E27FC236}">
                <a16:creationId xmlns:a16="http://schemas.microsoft.com/office/drawing/2014/main" id="{6C0B56BE-840E-0E44-999B-C84C4639E0A4}"/>
              </a:ext>
            </a:extLst>
          </p:cNvPr>
          <p:cNvGrpSpPr/>
          <p:nvPr/>
        </p:nvGrpSpPr>
        <p:grpSpPr>
          <a:xfrm>
            <a:off x="4306890" y="2919275"/>
            <a:ext cx="2249422" cy="749808"/>
            <a:chOff x="4722440" y="2227511"/>
            <a:chExt cx="2369840" cy="985465"/>
          </a:xfrm>
        </p:grpSpPr>
        <p:sp>
          <p:nvSpPr>
            <p:cNvPr id="13" name="TextBox 12">
              <a:extLst>
                <a:ext uri="{FF2B5EF4-FFF2-40B4-BE49-F238E27FC236}">
                  <a16:creationId xmlns:a16="http://schemas.microsoft.com/office/drawing/2014/main" id="{0D21DA94-016A-4D43-8B1E-D9A559474DB1}"/>
                </a:ext>
              </a:extLst>
            </p:cNvPr>
            <p:cNvSpPr txBox="1"/>
            <p:nvPr/>
          </p:nvSpPr>
          <p:spPr>
            <a:xfrm>
              <a:off x="4777680" y="2322166"/>
              <a:ext cx="2314600" cy="584775"/>
            </a:xfrm>
            <a:prstGeom prst="rect">
              <a:avLst/>
            </a:prstGeom>
            <a:noFill/>
          </p:spPr>
          <p:txBody>
            <a:bodyPr wrap="square" rtlCol="0">
              <a:spAutoFit/>
            </a:bodyPr>
            <a:lstStyle/>
            <a:p>
              <a:r>
                <a:rPr lang="en-US" sz="1600" dirty="0">
                  <a:solidFill>
                    <a:srgbClr val="0000CC"/>
                  </a:solidFill>
                  <a:latin typeface="+mn-lt"/>
                </a:rPr>
                <a:t>Always gives optimal solution</a:t>
              </a:r>
            </a:p>
          </p:txBody>
        </p:sp>
        <p:sp>
          <p:nvSpPr>
            <p:cNvPr id="14" name="Rounded Rectangular Callout 13">
              <a:extLst>
                <a:ext uri="{FF2B5EF4-FFF2-40B4-BE49-F238E27FC236}">
                  <a16:creationId xmlns:a16="http://schemas.microsoft.com/office/drawing/2014/main" id="{9E58994B-4AD4-0646-8652-723F008F3112}"/>
                </a:ext>
              </a:extLst>
            </p:cNvPr>
            <p:cNvSpPr/>
            <p:nvPr/>
          </p:nvSpPr>
          <p:spPr bwMode="auto">
            <a:xfrm>
              <a:off x="4722440" y="2227511"/>
              <a:ext cx="2359496" cy="985465"/>
            </a:xfrm>
            <a:prstGeom prst="wedgeRoundRectCallout">
              <a:avLst>
                <a:gd name="adj1" fmla="val -83798"/>
                <a:gd name="adj2" fmla="val -1141"/>
                <a:gd name="adj3" fmla="val 16667"/>
              </a:avLst>
            </a:prstGeom>
            <a:noFill/>
            <a:ln w="25400" cap="flat" cmpd="sng" algn="ctr">
              <a:solidFill>
                <a:srgbClr val="0000CC"/>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Tahoma" pitchFamily="34" charset="0"/>
              </a:endParaRPr>
            </a:p>
          </p:txBody>
        </p:sp>
      </p:grpSp>
    </p:spTree>
    <p:extLst>
      <p:ext uri="{BB962C8B-B14F-4D97-AF65-F5344CB8AC3E}">
        <p14:creationId xmlns:p14="http://schemas.microsoft.com/office/powerpoint/2010/main" val="403313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p:sp>
        <p:nvSpPr>
          <p:cNvPr id="3" name="Content Placeholder 2">
            <a:extLst>
              <a:ext uri="{FF2B5EF4-FFF2-40B4-BE49-F238E27FC236}">
                <a16:creationId xmlns:a16="http://schemas.microsoft.com/office/drawing/2014/main" id="{748D3AF1-C7FA-C24A-9BBC-613F9593C019}"/>
              </a:ext>
            </a:extLst>
          </p:cNvPr>
          <p:cNvSpPr>
            <a:spLocks noGrp="1"/>
          </p:cNvSpPr>
          <p:nvPr>
            <p:ph idx="1"/>
          </p:nvPr>
        </p:nvSpPr>
        <p:spPr>
          <a:xfrm>
            <a:off x="1069848" y="2093976"/>
            <a:ext cx="10058400" cy="4050792"/>
          </a:xfrm>
        </p:spPr>
        <p:txBody>
          <a:bodyPr/>
          <a:lstStyle/>
          <a:p>
            <a:r>
              <a:rPr lang="en-US" altLang="zh-TW" dirty="0">
                <a:ea typeface="PMingLiU" pitchFamily="18" charset="-120"/>
              </a:rPr>
              <a:t>Select the activity with the earliest finish time </a:t>
            </a:r>
            <a:r>
              <a:rPr lang="en-US" dirty="0">
                <a:ea typeface="PMingLiU" pitchFamily="18" charset="-120"/>
              </a:rPr>
              <a:t>from the consideration list</a:t>
            </a:r>
            <a:endParaRPr lang="en-US" altLang="zh-TW" dirty="0">
              <a:ea typeface="PMingLiU" pitchFamily="18" charset="-120"/>
            </a:endParaRPr>
          </a:p>
          <a:p>
            <a:r>
              <a:rPr lang="en-US" dirty="0">
                <a:ea typeface="PMingLiU" pitchFamily="18" charset="-120"/>
              </a:rPr>
              <a:t>Eliminate the activity from consideration list</a:t>
            </a:r>
          </a:p>
          <a:p>
            <a:r>
              <a:rPr lang="en-US" dirty="0">
                <a:ea typeface="PMingLiU" pitchFamily="18" charset="-120"/>
              </a:rPr>
              <a:t>Eliminate all non-compatible activities from the consideration list</a:t>
            </a:r>
          </a:p>
          <a:p>
            <a:r>
              <a:rPr lang="en-US" dirty="0">
                <a:ea typeface="PMingLiU" pitchFamily="18" charset="-120"/>
              </a:rPr>
              <a:t>Repeat unless the consideration list is empty</a:t>
            </a:r>
            <a:endParaRPr lang="en-US" dirty="0"/>
          </a:p>
        </p:txBody>
      </p:sp>
    </p:spTree>
    <p:extLst>
      <p:ext uri="{BB962C8B-B14F-4D97-AF65-F5344CB8AC3E}">
        <p14:creationId xmlns:p14="http://schemas.microsoft.com/office/powerpoint/2010/main" val="152499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tx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mc:Choice xmlns:a14="http://schemas.microsoft.com/office/drawing/2010/main"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extLst>
                  <p:ext uri="{D42A27DB-BD31-4B8C-83A1-F6EECF244321}">
                    <p14:modId xmlns:p14="http://schemas.microsoft.com/office/powerpoint/2010/main" val="71979142"/>
                  </p:ext>
                </p:extLst>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extLst>
                  <p:ext uri="{D42A27DB-BD31-4B8C-83A1-F6EECF244321}">
                    <p14:modId xmlns:p14="http://schemas.microsoft.com/office/powerpoint/2010/main" val="71979142"/>
                  </p:ext>
                </p:extLst>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p:spTree>
    <p:extLst>
      <p:ext uri="{BB962C8B-B14F-4D97-AF65-F5344CB8AC3E}">
        <p14:creationId xmlns:p14="http://schemas.microsoft.com/office/powerpoint/2010/main" val="168799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A3DCC3ED-6294-DF4F-ACBA-3237B0579BC0}"/>
              </a:ext>
            </a:extLst>
          </p:cNvPr>
          <p:cNvSpPr txBox="1">
            <a:spLocks/>
          </p:cNvSpPr>
          <p:nvPr/>
        </p:nvSpPr>
        <p:spPr>
          <a:xfrm>
            <a:off x="1069848" y="265974"/>
            <a:ext cx="10058400" cy="1609344"/>
          </a:xfrm>
          <a:prstGeom prst="rect">
            <a:avLst/>
          </a:prstGeom>
        </p:spPr>
        <p:txBody>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Activity Scheduling Problem</a:t>
            </a:r>
          </a:p>
        </p:txBody>
      </p:sp>
      <p:graphicFrame>
        <p:nvGraphicFramePr>
          <p:cNvPr id="35" name="Group 202">
            <a:extLst>
              <a:ext uri="{FF2B5EF4-FFF2-40B4-BE49-F238E27FC236}">
                <a16:creationId xmlns:a16="http://schemas.microsoft.com/office/drawing/2014/main" id="{A882F59F-E714-5248-90E4-0D5B29F0F356}"/>
              </a:ext>
            </a:extLst>
          </p:cNvPr>
          <p:cNvGraphicFramePr>
            <a:graphicFrameLocks/>
          </p:cNvGraphicFramePr>
          <p:nvPr/>
        </p:nvGraphicFramePr>
        <p:xfrm>
          <a:off x="500270" y="1115144"/>
          <a:ext cx="7772400" cy="5699650"/>
        </p:xfrm>
        <a:graphic>
          <a:graphicData uri="http://schemas.openxmlformats.org/drawingml/2006/table">
            <a:tbl>
              <a:tblPr/>
              <a:tblGrid>
                <a:gridCol w="517525">
                  <a:extLst>
                    <a:ext uri="{9D8B030D-6E8A-4147-A177-3AD203B41FA5}">
                      <a16:colId xmlns:a16="http://schemas.microsoft.com/office/drawing/2014/main" val="20000"/>
                    </a:ext>
                  </a:extLst>
                </a:gridCol>
                <a:gridCol w="520700">
                  <a:extLst>
                    <a:ext uri="{9D8B030D-6E8A-4147-A177-3AD203B41FA5}">
                      <a16:colId xmlns:a16="http://schemas.microsoft.com/office/drawing/2014/main" val="20001"/>
                    </a:ext>
                  </a:extLst>
                </a:gridCol>
                <a:gridCol w="514350">
                  <a:extLst>
                    <a:ext uri="{9D8B030D-6E8A-4147-A177-3AD203B41FA5}">
                      <a16:colId xmlns:a16="http://schemas.microsoft.com/office/drawing/2014/main" val="20002"/>
                    </a:ext>
                  </a:extLst>
                </a:gridCol>
                <a:gridCol w="520700">
                  <a:extLst>
                    <a:ext uri="{9D8B030D-6E8A-4147-A177-3AD203B41FA5}">
                      <a16:colId xmlns:a16="http://schemas.microsoft.com/office/drawing/2014/main" val="20003"/>
                    </a:ext>
                  </a:extLst>
                </a:gridCol>
                <a:gridCol w="517525">
                  <a:extLst>
                    <a:ext uri="{9D8B030D-6E8A-4147-A177-3AD203B41FA5}">
                      <a16:colId xmlns:a16="http://schemas.microsoft.com/office/drawing/2014/main" val="20004"/>
                    </a:ext>
                  </a:extLst>
                </a:gridCol>
                <a:gridCol w="517525">
                  <a:extLst>
                    <a:ext uri="{9D8B030D-6E8A-4147-A177-3AD203B41FA5}">
                      <a16:colId xmlns:a16="http://schemas.microsoft.com/office/drawing/2014/main" val="20005"/>
                    </a:ext>
                  </a:extLst>
                </a:gridCol>
                <a:gridCol w="520700">
                  <a:extLst>
                    <a:ext uri="{9D8B030D-6E8A-4147-A177-3AD203B41FA5}">
                      <a16:colId xmlns:a16="http://schemas.microsoft.com/office/drawing/2014/main" val="20006"/>
                    </a:ext>
                  </a:extLst>
                </a:gridCol>
                <a:gridCol w="514350">
                  <a:extLst>
                    <a:ext uri="{9D8B030D-6E8A-4147-A177-3AD203B41FA5}">
                      <a16:colId xmlns:a16="http://schemas.microsoft.com/office/drawing/2014/main" val="20007"/>
                    </a:ext>
                  </a:extLst>
                </a:gridCol>
                <a:gridCol w="520700">
                  <a:extLst>
                    <a:ext uri="{9D8B030D-6E8A-4147-A177-3AD203B41FA5}">
                      <a16:colId xmlns:a16="http://schemas.microsoft.com/office/drawing/2014/main" val="20008"/>
                    </a:ext>
                  </a:extLst>
                </a:gridCol>
                <a:gridCol w="517525">
                  <a:extLst>
                    <a:ext uri="{9D8B030D-6E8A-4147-A177-3AD203B41FA5}">
                      <a16:colId xmlns:a16="http://schemas.microsoft.com/office/drawing/2014/main" val="20009"/>
                    </a:ext>
                  </a:extLst>
                </a:gridCol>
                <a:gridCol w="517525">
                  <a:extLst>
                    <a:ext uri="{9D8B030D-6E8A-4147-A177-3AD203B41FA5}">
                      <a16:colId xmlns:a16="http://schemas.microsoft.com/office/drawing/2014/main" val="20010"/>
                    </a:ext>
                  </a:extLst>
                </a:gridCol>
                <a:gridCol w="520700">
                  <a:extLst>
                    <a:ext uri="{9D8B030D-6E8A-4147-A177-3AD203B41FA5}">
                      <a16:colId xmlns:a16="http://schemas.microsoft.com/office/drawing/2014/main" val="20011"/>
                    </a:ext>
                  </a:extLst>
                </a:gridCol>
                <a:gridCol w="514350">
                  <a:extLst>
                    <a:ext uri="{9D8B030D-6E8A-4147-A177-3AD203B41FA5}">
                      <a16:colId xmlns:a16="http://schemas.microsoft.com/office/drawing/2014/main" val="20012"/>
                    </a:ext>
                  </a:extLst>
                </a:gridCol>
                <a:gridCol w="520700">
                  <a:extLst>
                    <a:ext uri="{9D8B030D-6E8A-4147-A177-3AD203B41FA5}">
                      <a16:colId xmlns:a16="http://schemas.microsoft.com/office/drawing/2014/main" val="20013"/>
                    </a:ext>
                  </a:extLst>
                </a:gridCol>
                <a:gridCol w="517525">
                  <a:extLst>
                    <a:ext uri="{9D8B030D-6E8A-4147-A177-3AD203B41FA5}">
                      <a16:colId xmlns:a16="http://schemas.microsoft.com/office/drawing/2014/main" val="20014"/>
                    </a:ext>
                  </a:extLst>
                </a:gridCol>
              </a:tblGrid>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1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Times New Roman" pitchFamily="18" charset="0"/>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6" name="Line 209">
            <a:extLst>
              <a:ext uri="{FF2B5EF4-FFF2-40B4-BE49-F238E27FC236}">
                <a16:creationId xmlns:a16="http://schemas.microsoft.com/office/drawing/2014/main" id="{78729400-5DDF-0E42-A331-AB7ED65B0861}"/>
              </a:ext>
            </a:extLst>
          </p:cNvPr>
          <p:cNvSpPr>
            <a:spLocks noChangeShapeType="1"/>
          </p:cNvSpPr>
          <p:nvPr/>
        </p:nvSpPr>
        <p:spPr bwMode="auto">
          <a:xfrm>
            <a:off x="1033670" y="1419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37" name="Line 210">
            <a:extLst>
              <a:ext uri="{FF2B5EF4-FFF2-40B4-BE49-F238E27FC236}">
                <a16:creationId xmlns:a16="http://schemas.microsoft.com/office/drawing/2014/main" id="{14490038-4E5B-8E41-8A26-995D72165FA6}"/>
              </a:ext>
            </a:extLst>
          </p:cNvPr>
          <p:cNvSpPr>
            <a:spLocks noChangeShapeType="1"/>
          </p:cNvSpPr>
          <p:nvPr/>
        </p:nvSpPr>
        <p:spPr bwMode="auto">
          <a:xfrm>
            <a:off x="2100470" y="1953344"/>
            <a:ext cx="990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39" name="Line 211">
            <a:extLst>
              <a:ext uri="{FF2B5EF4-FFF2-40B4-BE49-F238E27FC236}">
                <a16:creationId xmlns:a16="http://schemas.microsoft.com/office/drawing/2014/main" id="{FFB8A86B-47FB-1C45-86FD-4C9572122B0A}"/>
              </a:ext>
            </a:extLst>
          </p:cNvPr>
          <p:cNvSpPr>
            <a:spLocks noChangeShapeType="1"/>
          </p:cNvSpPr>
          <p:nvPr/>
        </p:nvSpPr>
        <p:spPr bwMode="auto">
          <a:xfrm>
            <a:off x="500270" y="2410544"/>
            <a:ext cx="31242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0" name="Line 212">
            <a:extLst>
              <a:ext uri="{FF2B5EF4-FFF2-40B4-BE49-F238E27FC236}">
                <a16:creationId xmlns:a16="http://schemas.microsoft.com/office/drawing/2014/main" id="{A1C3348E-A416-EF47-90D0-50F8264A34AA}"/>
              </a:ext>
            </a:extLst>
          </p:cNvPr>
          <p:cNvSpPr>
            <a:spLocks noChangeShapeType="1"/>
          </p:cNvSpPr>
          <p:nvPr/>
        </p:nvSpPr>
        <p:spPr bwMode="auto">
          <a:xfrm>
            <a:off x="3091070" y="29439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1" name="Line 213">
            <a:extLst>
              <a:ext uri="{FF2B5EF4-FFF2-40B4-BE49-F238E27FC236}">
                <a16:creationId xmlns:a16="http://schemas.microsoft.com/office/drawing/2014/main" id="{4A03AB2B-E622-BF4F-B20B-59372127E73E}"/>
              </a:ext>
            </a:extLst>
          </p:cNvPr>
          <p:cNvSpPr>
            <a:spLocks noChangeShapeType="1"/>
          </p:cNvSpPr>
          <p:nvPr/>
        </p:nvSpPr>
        <p:spPr bwMode="auto">
          <a:xfrm>
            <a:off x="2100470" y="3477344"/>
            <a:ext cx="25146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2" name="Line 214">
            <a:extLst>
              <a:ext uri="{FF2B5EF4-FFF2-40B4-BE49-F238E27FC236}">
                <a16:creationId xmlns:a16="http://schemas.microsoft.com/office/drawing/2014/main" id="{D3DC76BC-0AD9-804C-A0CC-4E59FD96FE03}"/>
              </a:ext>
            </a:extLst>
          </p:cNvPr>
          <p:cNvSpPr>
            <a:spLocks noChangeShapeType="1"/>
          </p:cNvSpPr>
          <p:nvPr/>
        </p:nvSpPr>
        <p:spPr bwMode="auto">
          <a:xfrm>
            <a:off x="3091070" y="39345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3" name="Line 215">
            <a:extLst>
              <a:ext uri="{FF2B5EF4-FFF2-40B4-BE49-F238E27FC236}">
                <a16:creationId xmlns:a16="http://schemas.microsoft.com/office/drawing/2014/main" id="{36EC2701-097E-D745-BF08-48F64D33E5CF}"/>
              </a:ext>
            </a:extLst>
          </p:cNvPr>
          <p:cNvSpPr>
            <a:spLocks noChangeShapeType="1"/>
          </p:cNvSpPr>
          <p:nvPr/>
        </p:nvSpPr>
        <p:spPr bwMode="auto">
          <a:xfrm>
            <a:off x="3624470" y="44679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4" name="Line 216">
            <a:extLst>
              <a:ext uri="{FF2B5EF4-FFF2-40B4-BE49-F238E27FC236}">
                <a16:creationId xmlns:a16="http://schemas.microsoft.com/office/drawing/2014/main" id="{28965647-9F23-DE4A-9C5E-774BF43BB75A}"/>
              </a:ext>
            </a:extLst>
          </p:cNvPr>
          <p:cNvSpPr>
            <a:spLocks noChangeShapeType="1"/>
          </p:cNvSpPr>
          <p:nvPr/>
        </p:nvSpPr>
        <p:spPr bwMode="auto">
          <a:xfrm>
            <a:off x="4615070" y="5001344"/>
            <a:ext cx="15240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45" name="Line 217">
            <a:extLst>
              <a:ext uri="{FF2B5EF4-FFF2-40B4-BE49-F238E27FC236}">
                <a16:creationId xmlns:a16="http://schemas.microsoft.com/office/drawing/2014/main" id="{7E43E21F-50D9-E245-B90A-D93A6AFC4A96}"/>
              </a:ext>
            </a:extLst>
          </p:cNvPr>
          <p:cNvSpPr>
            <a:spLocks noChangeShapeType="1"/>
          </p:cNvSpPr>
          <p:nvPr/>
        </p:nvSpPr>
        <p:spPr bwMode="auto">
          <a:xfrm>
            <a:off x="4615070" y="5534744"/>
            <a:ext cx="20574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6" name="Line 218">
            <a:extLst>
              <a:ext uri="{FF2B5EF4-FFF2-40B4-BE49-F238E27FC236}">
                <a16:creationId xmlns:a16="http://schemas.microsoft.com/office/drawing/2014/main" id="{4E2D07D0-F86D-B947-B3FC-9A4E28E5F412}"/>
              </a:ext>
            </a:extLst>
          </p:cNvPr>
          <p:cNvSpPr>
            <a:spLocks noChangeShapeType="1"/>
          </p:cNvSpPr>
          <p:nvPr/>
        </p:nvSpPr>
        <p:spPr bwMode="auto">
          <a:xfrm>
            <a:off x="1567070" y="6068144"/>
            <a:ext cx="5638800" cy="0"/>
          </a:xfrm>
          <a:prstGeom prst="line">
            <a:avLst/>
          </a:prstGeom>
          <a:noFill/>
          <a:ln w="57150">
            <a:solidFill>
              <a:schemeClr val="bg1">
                <a:lumMod val="85000"/>
              </a:schemeClr>
            </a:solidFill>
            <a:round/>
            <a:headEnd type="triangle" w="med" len="med"/>
            <a:tailEnd type="triangle" w="med" len="med"/>
          </a:ln>
          <a:effectLst/>
        </p:spPr>
        <p:txBody>
          <a:bodyPr/>
          <a:lstStyle/>
          <a:p>
            <a:endParaRPr lang="en-US"/>
          </a:p>
        </p:txBody>
      </p:sp>
      <p:sp>
        <p:nvSpPr>
          <p:cNvPr id="47" name="Line 219">
            <a:extLst>
              <a:ext uri="{FF2B5EF4-FFF2-40B4-BE49-F238E27FC236}">
                <a16:creationId xmlns:a16="http://schemas.microsoft.com/office/drawing/2014/main" id="{83D6A3C5-649C-854A-B17D-1D71B04DE181}"/>
              </a:ext>
            </a:extLst>
          </p:cNvPr>
          <p:cNvSpPr>
            <a:spLocks noChangeShapeType="1"/>
          </p:cNvSpPr>
          <p:nvPr/>
        </p:nvSpPr>
        <p:spPr bwMode="auto">
          <a:xfrm>
            <a:off x="6748670" y="6525344"/>
            <a:ext cx="990600" cy="0"/>
          </a:xfrm>
          <a:prstGeom prst="line">
            <a:avLst/>
          </a:prstGeom>
          <a:noFill/>
          <a:ln w="57150">
            <a:solidFill>
              <a:schemeClr val="accent1"/>
            </a:solidFill>
            <a:round/>
            <a:headEnd type="triangle" w="med" len="med"/>
            <a:tailEnd type="triangle" w="med" len="med"/>
          </a:ln>
          <a:effectLst/>
        </p:spPr>
        <p:txBody>
          <a:bodyPr/>
          <a:lstStyle/>
          <a:p>
            <a:endParaRPr lang="en-US"/>
          </a:p>
        </p:txBody>
      </p:sp>
      <p:sp>
        <p:nvSpPr>
          <p:cNvPr id="53" name="Text Box 220">
            <a:extLst>
              <a:ext uri="{FF2B5EF4-FFF2-40B4-BE49-F238E27FC236}">
                <a16:creationId xmlns:a16="http://schemas.microsoft.com/office/drawing/2014/main" id="{AE3A53B6-585D-E04F-AF56-D952B57EC6A5}"/>
              </a:ext>
            </a:extLst>
          </p:cNvPr>
          <p:cNvSpPr txBox="1">
            <a:spLocks noChangeArrowheads="1"/>
          </p:cNvSpPr>
          <p:nvPr/>
        </p:nvSpPr>
        <p:spPr bwMode="auto">
          <a:xfrm>
            <a:off x="7827" y="1045571"/>
            <a:ext cx="492443" cy="5791200"/>
          </a:xfrm>
          <a:prstGeom prst="rect">
            <a:avLst/>
          </a:prstGeom>
          <a:noFill/>
          <a:ln w="9525">
            <a:noFill/>
            <a:miter lim="800000"/>
            <a:headEnd/>
            <a:tailEnd/>
          </a:ln>
          <a:effectLst/>
        </p:spPr>
        <p:txBody>
          <a:bodyPr vert="vert270" wrap="square">
            <a:spAutoFit/>
          </a:bodyPr>
          <a:lstStyle/>
          <a:p>
            <a:pPr fontAlgn="base">
              <a:spcBef>
                <a:spcPct val="0"/>
              </a:spcBef>
              <a:spcAft>
                <a:spcPct val="0"/>
              </a:spcAft>
            </a:pPr>
            <a:r>
              <a:rPr lang="en-US" sz="2000" dirty="0">
                <a:solidFill>
                  <a:srgbClr val="000000"/>
                </a:solidFill>
                <a:latin typeface="Tahoma" pitchFamily="34" charset="0"/>
                <a:cs typeface="Arial" charset="0"/>
              </a:rPr>
              <a:t> 11   10    9     8     7     6     5     4     3    2     1</a:t>
            </a:r>
          </a:p>
        </p:txBody>
      </p:sp>
      <mc:AlternateContent xmlns:mc="http://schemas.openxmlformats.org/markup-compatibility/2006" xmlns:a14="http://schemas.microsoft.com/office/drawing/2010/main">
        <mc:Choice Requires="a14">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1400" i="1" dirty="0" smtClean="0">
                                    <a:solidFill>
                                      <a:srgbClr val="16129E"/>
                                    </a:solidFill>
                                    <a:latin typeface="Cambria Math" panose="02040503050406030204" pitchFamily="18" charset="0"/>
                                  </a:rPr>
                                  <m:t>𝑖</m:t>
                                </m:r>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𝑠</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rgbClr val="16129E"/>
                                        </a:solidFill>
                                        <a:latin typeface="Cambria Math" panose="02040503050406030204" pitchFamily="18" charset="0"/>
                                      </a:rPr>
                                    </m:ctrlPr>
                                  </m:sSubPr>
                                  <m:e>
                                    <m:r>
                                      <a:rPr lang="en-US" sz="1400" b="0" i="1" smtClean="0">
                                        <a:solidFill>
                                          <a:srgbClr val="16129E"/>
                                        </a:solidFill>
                                        <a:latin typeface="Cambria Math" panose="02040503050406030204" pitchFamily="18" charset="0"/>
                                      </a:rPr>
                                      <m:t>𝑓</m:t>
                                    </m:r>
                                  </m:e>
                                  <m:sub>
                                    <m:r>
                                      <a:rPr lang="en-US" sz="1400" b="0" i="1" smtClean="0">
                                        <a:solidFill>
                                          <a:srgbClr val="16129E"/>
                                        </a:solidFill>
                                        <a:latin typeface="Cambria Math" panose="02040503050406030204" pitchFamily="18" charset="0"/>
                                      </a:rPr>
                                      <m:t>𝑖</m:t>
                                    </m:r>
                                  </m:sub>
                                </m:sSub>
                              </m:oMath>
                            </m:oMathPara>
                          </a14:m>
                          <a:endParaRPr lang="en-US" sz="1400" dirty="0">
                            <a:solidFill>
                              <a:srgbClr val="16129E"/>
                            </a:solidFill>
                            <a:latin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Choice>
        <mc:Fallback xmlns="">
          <p:graphicFrame>
            <p:nvGraphicFramePr>
              <p:cNvPr id="55" name="Table 2">
                <a:extLst>
                  <a:ext uri="{FF2B5EF4-FFF2-40B4-BE49-F238E27FC236}">
                    <a16:creationId xmlns:a16="http://schemas.microsoft.com/office/drawing/2014/main" id="{59E9FBE8-A121-324A-9984-A435D6153399}"/>
                  </a:ext>
                </a:extLst>
              </p:cNvPr>
              <p:cNvGraphicFramePr>
                <a:graphicFrameLocks noGrp="1"/>
              </p:cNvGraphicFramePr>
              <p:nvPr/>
            </p:nvGraphicFramePr>
            <p:xfrm>
              <a:off x="8272670" y="1093167"/>
              <a:ext cx="3990561" cy="1112520"/>
            </p:xfrm>
            <a:graphic>
              <a:graphicData uri="http://schemas.openxmlformats.org/drawingml/2006/table">
                <a:tbl>
                  <a:tblPr firstRow="1" bandRow="1">
                    <a:tableStyleId>{5C22544A-7EE6-4342-B048-85BDC9FD1C3A}</a:tableStyleId>
                  </a:tblPr>
                  <a:tblGrid>
                    <a:gridCol w="303674">
                      <a:extLst>
                        <a:ext uri="{9D8B030D-6E8A-4147-A177-3AD203B41FA5}">
                          <a16:colId xmlns:a16="http://schemas.microsoft.com/office/drawing/2014/main" val="1793154374"/>
                        </a:ext>
                      </a:extLst>
                    </a:gridCol>
                    <a:gridCol w="211507">
                      <a:extLst>
                        <a:ext uri="{9D8B030D-6E8A-4147-A177-3AD203B41FA5}">
                          <a16:colId xmlns:a16="http://schemas.microsoft.com/office/drawing/2014/main" val="191759284"/>
                        </a:ext>
                      </a:extLst>
                    </a:gridCol>
                    <a:gridCol w="248478">
                      <a:extLst>
                        <a:ext uri="{9D8B030D-6E8A-4147-A177-3AD203B41FA5}">
                          <a16:colId xmlns:a16="http://schemas.microsoft.com/office/drawing/2014/main" val="771907628"/>
                        </a:ext>
                      </a:extLst>
                    </a:gridCol>
                    <a:gridCol w="268357">
                      <a:extLst>
                        <a:ext uri="{9D8B030D-6E8A-4147-A177-3AD203B41FA5}">
                          <a16:colId xmlns:a16="http://schemas.microsoft.com/office/drawing/2014/main" val="2624938719"/>
                        </a:ext>
                      </a:extLst>
                    </a:gridCol>
                    <a:gridCol w="298174">
                      <a:extLst>
                        <a:ext uri="{9D8B030D-6E8A-4147-A177-3AD203B41FA5}">
                          <a16:colId xmlns:a16="http://schemas.microsoft.com/office/drawing/2014/main" val="2971976802"/>
                        </a:ext>
                      </a:extLst>
                    </a:gridCol>
                    <a:gridCol w="288235">
                      <a:extLst>
                        <a:ext uri="{9D8B030D-6E8A-4147-A177-3AD203B41FA5}">
                          <a16:colId xmlns:a16="http://schemas.microsoft.com/office/drawing/2014/main" val="2988481478"/>
                        </a:ext>
                      </a:extLst>
                    </a:gridCol>
                    <a:gridCol w="288234">
                      <a:extLst>
                        <a:ext uri="{9D8B030D-6E8A-4147-A177-3AD203B41FA5}">
                          <a16:colId xmlns:a16="http://schemas.microsoft.com/office/drawing/2014/main" val="1657809679"/>
                        </a:ext>
                      </a:extLst>
                    </a:gridCol>
                    <a:gridCol w="397566">
                      <a:extLst>
                        <a:ext uri="{9D8B030D-6E8A-4147-A177-3AD203B41FA5}">
                          <a16:colId xmlns:a16="http://schemas.microsoft.com/office/drawing/2014/main" val="449995163"/>
                        </a:ext>
                      </a:extLst>
                    </a:gridCol>
                    <a:gridCol w="387626">
                      <a:extLst>
                        <a:ext uri="{9D8B030D-6E8A-4147-A177-3AD203B41FA5}">
                          <a16:colId xmlns:a16="http://schemas.microsoft.com/office/drawing/2014/main" val="2945321343"/>
                        </a:ext>
                      </a:extLst>
                    </a:gridCol>
                    <a:gridCol w="407504">
                      <a:extLst>
                        <a:ext uri="{9D8B030D-6E8A-4147-A177-3AD203B41FA5}">
                          <a16:colId xmlns:a16="http://schemas.microsoft.com/office/drawing/2014/main" val="98663400"/>
                        </a:ext>
                      </a:extLst>
                    </a:gridCol>
                    <a:gridCol w="424067">
                      <a:extLst>
                        <a:ext uri="{9D8B030D-6E8A-4147-A177-3AD203B41FA5}">
                          <a16:colId xmlns:a16="http://schemas.microsoft.com/office/drawing/2014/main" val="625345780"/>
                        </a:ext>
                      </a:extLst>
                    </a:gridCol>
                    <a:gridCol w="467139">
                      <a:extLst>
                        <a:ext uri="{9D8B030D-6E8A-4147-A177-3AD203B41FA5}">
                          <a16:colId xmlns:a16="http://schemas.microsoft.com/office/drawing/2014/main" val="2746991712"/>
                        </a:ext>
                      </a:extLst>
                    </a:gridCol>
                  </a:tblGrid>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t="-6897" r="-1216667" b="-203448"/>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9315417"/>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3333" r="-1216667" b="-96667"/>
                          </a:stretch>
                        </a:blipFill>
                      </a:tcPr>
                    </a:tc>
                    <a:tc>
                      <a:txBody>
                        <a:bodyPr/>
                        <a:lstStyle/>
                        <a:p>
                          <a:r>
                            <a:rPr lang="en-US" sz="1400" dirty="0">
                              <a:solidFill>
                                <a:srgbClr val="16129E"/>
                              </a:solidFill>
                              <a:latin typeface="Cambria" panose="02040503050406030204" pitchFamily="18"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5603140"/>
                      </a:ext>
                    </a:extLst>
                  </a:tr>
                  <a:tr h="370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10345" r="-1216667"/>
                          </a:stretch>
                        </a:blipFill>
                      </a:tcPr>
                    </a:tc>
                    <a:tc>
                      <a:txBody>
                        <a:bodyPr/>
                        <a:lstStyle/>
                        <a:p>
                          <a:r>
                            <a:rPr lang="en-US" sz="1400" dirty="0">
                              <a:solidFill>
                                <a:srgbClr val="16129E"/>
                              </a:solidFill>
                              <a:latin typeface="Cambria" panose="02040503050406030204" pitchFamily="18"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16129E"/>
                              </a:solidFill>
                              <a:latin typeface="Cambria" panose="02040503050406030204" pitchFamily="18" charset="0"/>
                            </a:rPr>
                            <a:t>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4103711"/>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C49A7F3-880C-E642-86AF-70BC65D13424}"/>
                  </a:ext>
                </a:extLst>
              </p:cNvPr>
              <p:cNvSpPr txBox="1"/>
              <p:nvPr/>
            </p:nvSpPr>
            <p:spPr>
              <a:xfrm>
                <a:off x="8994913" y="2484783"/>
                <a:ext cx="2882348" cy="381515"/>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8</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11</m:t>
                          </m:r>
                        </m:sub>
                      </m:sSub>
                      <m:r>
                        <a:rPr lang="en-US" b="0" i="1" smtClean="0">
                          <a:latin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AC49A7F3-880C-E642-86AF-70BC65D13424}"/>
                  </a:ext>
                </a:extLst>
              </p:cNvPr>
              <p:cNvSpPr txBox="1">
                <a:spLocks noRot="1" noChangeAspect="1" noMove="1" noResize="1" noEditPoints="1" noAdjustHandles="1" noChangeArrowheads="1" noChangeShapeType="1" noTextEdit="1"/>
              </p:cNvSpPr>
              <p:nvPr/>
            </p:nvSpPr>
            <p:spPr>
              <a:xfrm>
                <a:off x="8994913" y="2484783"/>
                <a:ext cx="2882348" cy="381515"/>
              </a:xfrm>
              <a:prstGeom prst="rect">
                <a:avLst/>
              </a:prstGeom>
              <a:blipFill>
                <a:blip r:embed="rId4"/>
                <a:stretch>
                  <a:fillRect b="-9677"/>
                </a:stretch>
              </a:blipFill>
            </p:spPr>
            <p:txBody>
              <a:bodyPr/>
              <a:lstStyle/>
              <a:p>
                <a:r>
                  <a:rPr lang="en-US">
                    <a:noFill/>
                  </a:rPr>
                  <a:t> </a:t>
                </a:r>
              </a:p>
            </p:txBody>
          </p:sp>
        </mc:Fallback>
      </mc:AlternateContent>
    </p:spTree>
    <p:extLst>
      <p:ext uri="{BB962C8B-B14F-4D97-AF65-F5344CB8AC3E}">
        <p14:creationId xmlns:p14="http://schemas.microsoft.com/office/powerpoint/2010/main" val="2542315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AB11-89DD-6E48-9AC4-91F1C16088BF}"/>
              </a:ext>
            </a:extLst>
          </p:cNvPr>
          <p:cNvSpPr>
            <a:spLocks noGrp="1"/>
          </p:cNvSpPr>
          <p:nvPr>
            <p:ph type="title"/>
          </p:nvPr>
        </p:nvSpPr>
        <p:spPr>
          <a:xfrm>
            <a:off x="1069848" y="484632"/>
            <a:ext cx="10837230"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610C8B-69C1-A842-AB6F-0C3061573890}"/>
                  </a:ext>
                </a:extLst>
              </p:cNvPr>
              <p:cNvSpPr txBox="1"/>
              <p:nvPr/>
            </p:nvSpPr>
            <p:spPr>
              <a:xfrm>
                <a:off x="1530626" y="2093976"/>
                <a:ext cx="6202017" cy="3194785"/>
              </a:xfrm>
              <a:prstGeom prst="rect">
                <a:avLst/>
              </a:prstGeom>
              <a:solidFill>
                <a:srgbClr val="ECECEC"/>
              </a:solidFill>
            </p:spPr>
            <p:txBody>
              <a:bodyPr wrap="square" rtlCol="0">
                <a:spAutoFit/>
              </a:bodyPr>
              <a:lstStyle/>
              <a:p>
                <a:r>
                  <a:rPr lang="en-US" sz="2000" dirty="0">
                    <a:latin typeface="Times" pitchFamily="2" charset="0"/>
                  </a:rPr>
                  <a:t>Greedy-Activity-Scheduling (</a:t>
                </a:r>
                <a14:m>
                  <m:oMath xmlns:m="http://schemas.openxmlformats.org/officeDocument/2006/math">
                    <m:r>
                      <a:rPr lang="en-US" sz="2000" i="1" dirty="0" smtClean="0">
                        <a:latin typeface="Cambria Math" panose="02040503050406030204" pitchFamily="18" charset="0"/>
                      </a:rPr>
                      <m:t>𝑆</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𝑛</m:t>
                        </m:r>
                      </m:sub>
                    </m:sSub>
                    <m:r>
                      <a:rPr lang="en-US" sz="2000" i="1" dirty="0" smtClean="0">
                        <a:latin typeface="Cambria Math" panose="02040503050406030204" pitchFamily="18" charset="0"/>
                      </a:rPr>
                      <m:t>], </m:t>
                    </m:r>
                    <m:r>
                      <a:rPr lang="en-US" sz="2000" i="1" dirty="0" smtClean="0">
                        <a:latin typeface="Cambria Math" panose="02040503050406030204" pitchFamily="18" charset="0"/>
                      </a:rPr>
                      <m:t>𝐹</m:t>
                    </m:r>
                    <m:r>
                      <a:rPr lang="en-US" sz="200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𝑓</m:t>
                        </m:r>
                      </m:e>
                      <m:sub>
                        <m:r>
                          <a:rPr lang="en-US" sz="2000" b="0" i="1" dirty="0" smtClean="0">
                            <a:latin typeface="Cambria Math" panose="02040503050406030204" pitchFamily="18" charset="0"/>
                          </a:rPr>
                          <m:t>𝑛</m:t>
                        </m:r>
                      </m:sub>
                    </m:sSub>
                    <m:r>
                      <a:rPr lang="en-US" sz="2000" i="1" dirty="0">
                        <a:latin typeface="Cambria Math" panose="02040503050406030204" pitchFamily="18" charset="0"/>
                      </a:rPr>
                      <m:t>]</m:t>
                    </m:r>
                  </m:oMath>
                </a14:m>
                <a:r>
                  <a:rPr lang="en-US" sz="2000" dirty="0">
                    <a:latin typeface="Times" pitchFamily="2" charset="0"/>
                  </a:rPr>
                  <a:t>)</a:t>
                </a:r>
              </a:p>
              <a:p>
                <a:endParaRPr lang="en-US" sz="2000" i="1" dirty="0">
                  <a:latin typeface="Times" pitchFamily="2" charset="0"/>
                </a:endParaRPr>
              </a:p>
              <a:p>
                <a:r>
                  <a:rPr lang="en-US" sz="2000" dirty="0">
                    <a:latin typeface="Times" pitchFamily="2" charset="0"/>
                  </a:rPr>
                  <a:t>1     sort arrays </a:t>
                </a:r>
                <a14:m>
                  <m:oMath xmlns:m="http://schemas.openxmlformats.org/officeDocument/2006/math">
                    <m:r>
                      <a:rPr lang="en-US" sz="2000" i="1" dirty="0" smtClean="0">
                        <a:latin typeface="Cambria Math" panose="02040503050406030204" pitchFamily="18" charset="0"/>
                      </a:rPr>
                      <m:t>𝑆</m:t>
                    </m:r>
                    <m:r>
                      <a:rPr lang="en-US" sz="2000" b="0" i="1" dirty="0" smtClean="0">
                        <a:latin typeface="Cambria Math" panose="02040503050406030204" pitchFamily="18" charset="0"/>
                      </a:rPr>
                      <m:t> </m:t>
                    </m:r>
                  </m:oMath>
                </a14:m>
                <a:r>
                  <a:rPr lang="en-US" sz="2000" dirty="0">
                    <a:latin typeface="Times" pitchFamily="2" charset="0"/>
                  </a:rPr>
                  <a:t>and </a:t>
                </a:r>
                <a14:m>
                  <m:oMath xmlns:m="http://schemas.openxmlformats.org/officeDocument/2006/math">
                    <m:r>
                      <a:rPr lang="en-US" sz="2000" i="1" dirty="0" smtClean="0">
                        <a:latin typeface="Cambria Math" panose="02040503050406030204" pitchFamily="18" charset="0"/>
                      </a:rPr>
                      <m:t>𝐹</m:t>
                    </m:r>
                  </m:oMath>
                </a14:m>
                <a:r>
                  <a:rPr lang="en-US" sz="2000" dirty="0">
                    <a:latin typeface="Times" pitchFamily="2" charset="0"/>
                  </a:rPr>
                  <a:t> based on finish times </a:t>
                </a:r>
                <a14:m>
                  <m:oMath xmlns:m="http://schemas.openxmlformats.org/officeDocument/2006/math">
                    <m:r>
                      <a:rPr lang="en-US" sz="2000" i="1" dirty="0">
                        <a:latin typeface="Cambria Math" panose="02040503050406030204" pitchFamily="18" charset="0"/>
                      </a:rPr>
                      <m:t>𝐹</m:t>
                    </m:r>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𝑓</m:t>
                        </m:r>
                      </m:e>
                      <m:sub>
                        <m:r>
                          <a:rPr lang="en-US" sz="2000" i="1" dirty="0">
                            <a:latin typeface="Cambria Math" panose="02040503050406030204" pitchFamily="18" charset="0"/>
                          </a:rPr>
                          <m:t>𝑛</m:t>
                        </m:r>
                      </m:sub>
                    </m:sSub>
                    <m:r>
                      <a:rPr lang="en-US" sz="2000" i="1" dirty="0">
                        <a:latin typeface="Cambria Math" panose="02040503050406030204" pitchFamily="18" charset="0"/>
                      </a:rPr>
                      <m:t>]</m:t>
                    </m:r>
                  </m:oMath>
                </a14:m>
                <a:endParaRPr lang="en-US" sz="2000" dirty="0">
                  <a:latin typeface="Times" pitchFamily="2" charset="0"/>
                </a:endParaRPr>
              </a:p>
              <a:p>
                <a:r>
                  <a:rPr lang="en-US" sz="2000" b="0" dirty="0">
                    <a:latin typeface="Times" pitchFamily="2" charset="0"/>
                  </a:rPr>
                  <a:t>2</a:t>
                </a:r>
                <a:r>
                  <a:rPr lang="en-US" sz="2000" b="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1</m:t>
                    </m:r>
                  </m:oMath>
                </a14:m>
                <a:endParaRPr lang="en-US" sz="2000" b="0" dirty="0">
                  <a:latin typeface="Times" pitchFamily="2" charset="0"/>
                </a:endParaRPr>
              </a:p>
              <a:p>
                <a:r>
                  <a:rPr lang="en-US" sz="2000" b="0" dirty="0">
                    <a:latin typeface="Times" pitchFamily="2" charset="0"/>
                  </a:rPr>
                  <a:t>3</a:t>
                </a:r>
                <a:r>
                  <a:rPr lang="en-US" sz="2000" b="0" dirty="0"/>
                  <a:t> </a:t>
                </a:r>
                <a14:m>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i="1">
                            <a:latin typeface="Cambria Math" panose="02040503050406030204" pitchFamily="18" charset="0"/>
                          </a:rPr>
                          <m:t>𝑖</m:t>
                        </m:r>
                      </m:e>
                    </m:d>
                    <m:r>
                      <a:rPr lang="en-US" sz="2000" i="1">
                        <a:latin typeface="Cambria Math" panose="02040503050406030204" pitchFamily="18" charset="0"/>
                      </a:rPr>
                      <m:t>       </m:t>
                    </m:r>
                    <m:r>
                      <a:rPr lang="en-US" sz="2000" b="0" i="1" smtClean="0">
                        <a:latin typeface="Cambria Math" panose="02040503050406030204" pitchFamily="18" charset="0"/>
                      </a:rPr>
                      <m:t>  </m:t>
                    </m:r>
                    <m:r>
                      <a:rPr lang="en-US" sz="2000" i="1">
                        <a:latin typeface="Cambria Math" panose="02040503050406030204" pitchFamily="18" charset="0"/>
                      </a:rPr>
                      <m:t>1</m:t>
                    </m:r>
                  </m:oMath>
                </a14:m>
                <a:endParaRPr lang="en-US" sz="2000" dirty="0">
                  <a:latin typeface="Times" pitchFamily="2" charset="0"/>
                </a:endParaRPr>
              </a:p>
              <a:p>
                <a:r>
                  <a:rPr lang="en-US" sz="2000" dirty="0">
                    <a:latin typeface="Times" pitchFamily="2" charset="0"/>
                  </a:rPr>
                  <a:t>4     for</a:t>
                </a:r>
                <a:r>
                  <a:rPr lang="en-US" sz="2000" dirty="0"/>
                  <a:t> </a:t>
                </a:r>
                <a14:m>
                  <m:oMath xmlns:m="http://schemas.openxmlformats.org/officeDocument/2006/math">
                    <m:r>
                      <a:rPr lang="en-US" sz="2000" b="0" i="1" smtClean="0">
                        <a:latin typeface="Cambria Math" panose="02040503050406030204" pitchFamily="18" charset="0"/>
                      </a:rPr>
                      <m:t>𝑗</m:t>
                    </m:r>
                    <m:r>
                      <a:rPr lang="en-US" sz="2000" i="1">
                        <a:latin typeface="Cambria Math" panose="02040503050406030204" pitchFamily="18" charset="0"/>
                      </a:rPr>
                      <m:t>       </m:t>
                    </m:r>
                    <m:r>
                      <a:rPr lang="en-US" sz="2000" b="0" i="1" smtClean="0">
                        <a:latin typeface="Cambria Math" panose="02040503050406030204" pitchFamily="18" charset="0"/>
                      </a:rPr>
                      <m:t>  2</m:t>
                    </m:r>
                  </m:oMath>
                </a14:m>
                <a:r>
                  <a:rPr lang="en-US" sz="2000" dirty="0">
                    <a:latin typeface="Times" pitchFamily="2" charset="0"/>
                  </a:rPr>
                  <a:t> to </a:t>
                </a:r>
                <a14:m>
                  <m:oMath xmlns:m="http://schemas.openxmlformats.org/officeDocument/2006/math">
                    <m:r>
                      <a:rPr lang="en-US" sz="2000" b="0" i="1" smtClean="0">
                        <a:latin typeface="Cambria Math" panose="02040503050406030204" pitchFamily="18" charset="0"/>
                      </a:rPr>
                      <m:t>𝑛</m:t>
                    </m:r>
                  </m:oMath>
                </a14:m>
                <a:endParaRPr lang="en-US" sz="2000" dirty="0">
                  <a:latin typeface="Times" pitchFamily="2" charset="0"/>
                </a:endParaRPr>
              </a:p>
              <a:p>
                <a:r>
                  <a:rPr lang="en-US" sz="2000" dirty="0">
                    <a:latin typeface="Times" pitchFamily="2" charset="0"/>
                  </a:rPr>
                  <a:t>5	if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𝐹</m:t>
                    </m:r>
                    <m:r>
                      <a:rPr lang="en-US" sz="2000" b="0" i="1" smtClean="0">
                        <a:latin typeface="Cambria Math" panose="02040503050406030204" pitchFamily="18" charset="0"/>
                      </a:rPr>
                      <m:t>[</m:t>
                    </m:r>
                    <m:r>
                      <a:rPr lang="en-US" sz="2000" b="0" i="1" smtClean="0">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m:t>
                    </m:r>
                  </m:oMath>
                </a14:m>
                <a:endParaRPr lang="en-US" sz="2000" dirty="0">
                  <a:latin typeface="Times" pitchFamily="2" charset="0"/>
                </a:endParaRPr>
              </a:p>
              <a:p>
                <a:r>
                  <a:rPr lang="en-US" sz="2000" dirty="0">
                    <a:latin typeface="Times" pitchFamily="2" charset="0"/>
                  </a:rPr>
                  <a:t>6		</a:t>
                </a:r>
                <a:r>
                  <a:rPr lang="en-US" sz="2000" dirty="0"/>
                  <a:t>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m:t>
                    </m:r>
                  </m:oMath>
                </a14:m>
                <a:endParaRPr lang="en-US" sz="2000" b="0" dirty="0"/>
              </a:p>
              <a:p>
                <a:r>
                  <a:rPr lang="en-US" sz="2000" dirty="0">
                    <a:latin typeface="Times" pitchFamily="2" charset="0"/>
                  </a:rPr>
                  <a:t>7		</a:t>
                </a:r>
                <a:r>
                  <a:rPr lang="en-US" sz="2000" dirty="0"/>
                  <a:t> </a:t>
                </a:r>
                <a14:m>
                  <m:oMath xmlns:m="http://schemas.openxmlformats.org/officeDocument/2006/math">
                    <m:r>
                      <a:rPr lang="en-US" sz="2000" i="1">
                        <a:latin typeface="Cambria Math" panose="02040503050406030204" pitchFamily="18" charset="0"/>
                      </a:rPr>
                      <m:t>𝐴</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𝑎</m:t>
                        </m:r>
                      </m:e>
                      <m:sub>
                        <m:r>
                          <a:rPr lang="en-US" sz="2000" b="0" i="1" smtClean="0">
                            <a:latin typeface="Cambria Math" panose="02040503050406030204" pitchFamily="18" charset="0"/>
                          </a:rPr>
                          <m:t>𝑗</m:t>
                        </m:r>
                      </m:sub>
                    </m:sSub>
                  </m:oMath>
                </a14:m>
                <a:endParaRPr lang="en-US" sz="2000" dirty="0">
                  <a:latin typeface="Times" pitchFamily="2" charset="0"/>
                </a:endParaRPr>
              </a:p>
              <a:p>
                <a:r>
                  <a:rPr lang="en-US" sz="2000" dirty="0">
                    <a:latin typeface="Times" pitchFamily="2" charset="0"/>
                  </a:rPr>
                  <a:t>8     return </a:t>
                </a:r>
                <a14:m>
                  <m:oMath xmlns:m="http://schemas.openxmlformats.org/officeDocument/2006/math">
                    <m:r>
                      <a:rPr lang="en-US" sz="2000" i="1">
                        <a:latin typeface="Cambria Math" panose="02040503050406030204" pitchFamily="18" charset="0"/>
                      </a:rPr>
                      <m:t>𝐴</m:t>
                    </m:r>
                  </m:oMath>
                </a14:m>
                <a:r>
                  <a:rPr lang="en-US" dirty="0">
                    <a:latin typeface="Times" pitchFamily="2" charset="0"/>
                  </a:rPr>
                  <a:t> </a:t>
                </a:r>
              </a:p>
            </p:txBody>
          </p:sp>
        </mc:Choice>
        <mc:Fallback xmlns="">
          <p:sp>
            <p:nvSpPr>
              <p:cNvPr id="6" name="TextBox 5">
                <a:extLst>
                  <a:ext uri="{FF2B5EF4-FFF2-40B4-BE49-F238E27FC236}">
                    <a16:creationId xmlns:a16="http://schemas.microsoft.com/office/drawing/2014/main" id="{B6610C8B-69C1-A842-AB6F-0C3061573890}"/>
                  </a:ext>
                </a:extLst>
              </p:cNvPr>
              <p:cNvSpPr txBox="1">
                <a:spLocks noRot="1" noChangeAspect="1" noMove="1" noResize="1" noEditPoints="1" noAdjustHandles="1" noChangeArrowheads="1" noChangeShapeType="1" noTextEdit="1"/>
              </p:cNvSpPr>
              <p:nvPr/>
            </p:nvSpPr>
            <p:spPr>
              <a:xfrm>
                <a:off x="1530626" y="2093976"/>
                <a:ext cx="6202017" cy="3194785"/>
              </a:xfrm>
              <a:prstGeom prst="rect">
                <a:avLst/>
              </a:prstGeom>
              <a:blipFill>
                <a:blip r:embed="rId2"/>
                <a:stretch>
                  <a:fillRect l="-1022" t="-1190" b="-2381"/>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A1FF99BD-0529-054C-9E8A-00E59A1FC57C}"/>
              </a:ext>
            </a:extLst>
          </p:cNvPr>
          <p:cNvCxnSpPr>
            <a:cxnSpLocks/>
          </p:cNvCxnSpPr>
          <p:nvPr/>
        </p:nvCxnSpPr>
        <p:spPr>
          <a:xfrm flipH="1">
            <a:off x="2196546" y="320715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B928FAE-CD55-1342-A165-B1EFA18F87F7}"/>
              </a:ext>
            </a:extLst>
          </p:cNvPr>
          <p:cNvCxnSpPr>
            <a:cxnSpLocks/>
          </p:cNvCxnSpPr>
          <p:nvPr/>
        </p:nvCxnSpPr>
        <p:spPr>
          <a:xfrm flipH="1">
            <a:off x="2562306" y="3528524"/>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7E966DD4-8B4A-9B4F-898F-4FDD64AA27A5}"/>
              </a:ext>
            </a:extLst>
          </p:cNvPr>
          <p:cNvCxnSpPr>
            <a:cxnSpLocks/>
          </p:cNvCxnSpPr>
          <p:nvPr/>
        </p:nvCxnSpPr>
        <p:spPr>
          <a:xfrm flipH="1">
            <a:off x="2562306" y="384657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0D94EAB9-5AB9-5B4F-9649-53E0C1058FDD}"/>
              </a:ext>
            </a:extLst>
          </p:cNvPr>
          <p:cNvCxnSpPr>
            <a:cxnSpLocks/>
          </p:cNvCxnSpPr>
          <p:nvPr/>
        </p:nvCxnSpPr>
        <p:spPr>
          <a:xfrm flipH="1">
            <a:off x="3660911" y="443298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979CB178-FF12-084E-BA2C-CC7E2F7481A3}"/>
              </a:ext>
            </a:extLst>
          </p:cNvPr>
          <p:cNvCxnSpPr>
            <a:cxnSpLocks/>
          </p:cNvCxnSpPr>
          <p:nvPr/>
        </p:nvCxnSpPr>
        <p:spPr>
          <a:xfrm flipH="1">
            <a:off x="3959085" y="475103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0933F01-2E4D-7742-8482-D7C84E99A2D8}"/>
                  </a:ext>
                </a:extLst>
              </p:cNvPr>
              <p:cNvSpPr txBox="1"/>
              <p:nvPr/>
            </p:nvSpPr>
            <p:spPr>
              <a:xfrm>
                <a:off x="1490870" y="5585791"/>
                <a:ext cx="6202017" cy="369332"/>
              </a:xfrm>
              <a:prstGeom prst="rect">
                <a:avLst/>
              </a:prstGeom>
              <a:noFill/>
            </p:spPr>
            <p:txBody>
              <a:bodyPr wrap="square" rtlCol="0">
                <a:spAutoFit/>
              </a:bodyPr>
              <a:lstStyle/>
              <a:p>
                <a:r>
                  <a:rPr lang="en-US" dirty="0">
                    <a:latin typeface="Times" pitchFamily="2" charset="0"/>
                  </a:rPr>
                  <a:t>Running time is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smtClean="0">
                        <a:latin typeface="Cambria Math" panose="02040503050406030204" pitchFamily="18" charset="0"/>
                      </a:rPr>
                      <m:t>𝑛𝑙𝑜𝑔𝑛</m:t>
                    </m:r>
                    <m:r>
                      <a:rPr lang="en-US" i="1" dirty="0" smtClean="0">
                        <a:latin typeface="Cambria Math" panose="02040503050406030204" pitchFamily="18" charset="0"/>
                      </a:rPr>
                      <m:t>)</m:t>
                    </m:r>
                  </m:oMath>
                </a14:m>
                <a:r>
                  <a:rPr lang="en-US" dirty="0"/>
                  <a:t> </a:t>
                </a:r>
                <a:r>
                  <a:rPr lang="en-US" dirty="0">
                    <a:sym typeface="Wingdings" pitchFamily="2" charset="2"/>
                  </a:rPr>
                  <a:t> </a:t>
                </a:r>
                <a:r>
                  <a:rPr lang="en-US" i="0" dirty="0">
                    <a:latin typeface="Times" pitchFamily="2" charset="0"/>
                    <a:sym typeface="Wingdings" pitchFamily="2" charset="2"/>
                  </a:rPr>
                  <a:t>from sorting operation</a:t>
                </a:r>
                <a:endParaRPr lang="en-US" dirty="0">
                  <a:latin typeface="Times" pitchFamily="2" charset="0"/>
                </a:endParaRPr>
              </a:p>
            </p:txBody>
          </p:sp>
        </mc:Choice>
        <mc:Fallback xmlns="">
          <p:sp>
            <p:nvSpPr>
              <p:cNvPr id="15" name="TextBox 14">
                <a:extLst>
                  <a:ext uri="{FF2B5EF4-FFF2-40B4-BE49-F238E27FC236}">
                    <a16:creationId xmlns:a16="http://schemas.microsoft.com/office/drawing/2014/main" id="{70933F01-2E4D-7742-8482-D7C84E99A2D8}"/>
                  </a:ext>
                </a:extLst>
              </p:cNvPr>
              <p:cNvSpPr txBox="1">
                <a:spLocks noRot="1" noChangeAspect="1" noMove="1" noResize="1" noEditPoints="1" noAdjustHandles="1" noChangeArrowheads="1" noChangeShapeType="1" noTextEdit="1"/>
              </p:cNvSpPr>
              <p:nvPr/>
            </p:nvSpPr>
            <p:spPr>
              <a:xfrm>
                <a:off x="1490870" y="5585791"/>
                <a:ext cx="6202017" cy="369332"/>
              </a:xfrm>
              <a:prstGeom prst="rect">
                <a:avLst/>
              </a:prstGeom>
              <a:blipFill>
                <a:blip r:embed="rId3"/>
                <a:stretch>
                  <a:fillRect l="-818" t="-6667" b="-26667"/>
                </a:stretch>
              </a:blipFill>
            </p:spPr>
            <p:txBody>
              <a:bodyPr/>
              <a:lstStyle/>
              <a:p>
                <a:r>
                  <a:rPr lang="en-US">
                    <a:noFill/>
                  </a:rPr>
                  <a:t> </a:t>
                </a:r>
              </a:p>
            </p:txBody>
          </p:sp>
        </mc:Fallback>
      </mc:AlternateContent>
    </p:spTree>
    <p:extLst>
      <p:ext uri="{BB962C8B-B14F-4D97-AF65-F5344CB8AC3E}">
        <p14:creationId xmlns:p14="http://schemas.microsoft.com/office/powerpoint/2010/main" val="457951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Finish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2121408"/>
                <a:ext cx="10360152" cy="4527870"/>
              </a:xfrm>
            </p:spPr>
            <p:txBody>
              <a:bodyPr>
                <a:normAutofit/>
              </a:bodyPr>
              <a:lstStyle/>
              <a:p>
                <a:pPr marL="0" indent="0">
                  <a:buNone/>
                </a:pPr>
                <a:r>
                  <a:rPr lang="en-US" b="1" dirty="0">
                    <a:latin typeface="Times New Roman Bold Italic"/>
                  </a:rPr>
                  <a:t>Theorem 1. The job with the earliest finish time is in an optimal solution. </a:t>
                </a:r>
              </a:p>
              <a:p>
                <a:pPr marL="0" indent="0">
                  <a:buNone/>
                </a:pPr>
                <a:endParaRPr lang="en-US" sz="800" b="1" dirty="0">
                  <a:latin typeface="Times New Roman Bold Italic"/>
                </a:endParaRPr>
              </a:p>
              <a:p>
                <a:r>
                  <a:rPr lang="en-US" sz="2400" dirty="0">
                    <a:latin typeface="Angsana New" panose="02020603050405020304" pitchFamily="18" charset="-34"/>
                    <a:cs typeface="Angsana New" panose="02020603050405020304" pitchFamily="18" charset="-34"/>
                  </a:rPr>
                  <a:t>We will prove this by contradiction! </a:t>
                </a:r>
              </a:p>
              <a:p>
                <a:r>
                  <a:rPr lang="en-US" sz="2400" dirty="0">
                    <a:latin typeface="Angsana New" panose="02020603050405020304" pitchFamily="18" charset="-34"/>
                    <a:cs typeface="Angsana New" panose="02020603050405020304" pitchFamily="18" charset="-34"/>
                  </a:rPr>
                  <a:t>Suppose that the job (say job id </a:t>
                </a:r>
                <a14:m>
                  <m:oMath xmlns:m="http://schemas.openxmlformats.org/officeDocument/2006/math">
                    <m:r>
                      <a:rPr lang="en-US" sz="1800" i="1" dirty="0" smtClean="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with the earliest finish time is not in any of the optimal solutions (there can be multiple optimal solutions) </a:t>
                </a:r>
              </a:p>
              <a:p>
                <a:r>
                  <a:rPr lang="en-US" sz="2400" dirty="0">
                    <a:latin typeface="Angsana New" panose="02020603050405020304" pitchFamily="18" charset="-34"/>
                    <a:cs typeface="Angsana New" panose="02020603050405020304" pitchFamily="18" charset="-34"/>
                  </a:rPr>
                  <a:t>Consider arbitrarily any one of these optimal solution sets (say </a:t>
                </a:r>
                <a14:m>
                  <m:oMath xmlns:m="http://schemas.openxmlformats.org/officeDocument/2006/math">
                    <m:r>
                      <a:rPr lang="en-US" sz="1800" i="1" dirty="0" smtClean="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a:t>
                </a:r>
              </a:p>
              <a:p>
                <a:r>
                  <a:rPr lang="en-US" sz="2400" dirty="0">
                    <a:latin typeface="Angsana New" panose="02020603050405020304" pitchFamily="18" charset="-34"/>
                    <a:cs typeface="Angsana New" panose="02020603050405020304" pitchFamily="18" charset="-34"/>
                  </a:rPr>
                  <a:t>Select the job that has the earliest finish (or start time) time in this solution set </a:t>
                </a:r>
                <a14:m>
                  <m:oMath xmlns:m="http://schemas.openxmlformats.org/officeDocument/2006/math">
                    <m:r>
                      <a:rPr lang="en-US" sz="1800" i="1" dirty="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Let, the job id of this selected job be </a:t>
                </a:r>
                <a14:m>
                  <m:oMath xmlns:m="http://schemas.openxmlformats.org/officeDocument/2006/math">
                    <m:r>
                      <a:rPr lang="en-US" sz="1800" b="0" i="1" dirty="0" smtClean="0">
                        <a:latin typeface="Cambria Math" panose="02040503050406030204" pitchFamily="18" charset="0"/>
                      </a:rPr>
                      <m:t>𝑗</m:t>
                    </m:r>
                  </m:oMath>
                </a14:m>
                <a:r>
                  <a:rPr lang="en-US" sz="2400" dirty="0">
                    <a:latin typeface="Angsana New" panose="02020603050405020304" pitchFamily="18" charset="-34"/>
                    <a:cs typeface="Angsana New" panose="02020603050405020304" pitchFamily="18" charset="-34"/>
                  </a:rPr>
                  <a:t>.</a:t>
                </a:r>
              </a:p>
              <a:p>
                <a:r>
                  <a:rPr lang="en-US" sz="2400" dirty="0">
                    <a:latin typeface="Angsana New" panose="02020603050405020304" pitchFamily="18" charset="-34"/>
                    <a:cs typeface="Angsana New" panose="02020603050405020304" pitchFamily="18" charset="-34"/>
                  </a:rPr>
                  <a:t>Surely, </a:t>
                </a:r>
                <a14:m>
                  <m:oMath xmlns:m="http://schemas.openxmlformats.org/officeDocument/2006/math">
                    <m:r>
                      <a:rPr lang="en-US" sz="1800" i="1" dirty="0" smtClean="0">
                        <a:latin typeface="Cambria Math" panose="02040503050406030204" pitchFamily="18" charset="0"/>
                      </a:rPr>
                      <m:t>𝐹</m:t>
                    </m:r>
                    <m:r>
                      <a:rPr lang="en-US" sz="1800" i="1" dirty="0" smtClean="0">
                        <a:latin typeface="Cambria Math" panose="02040503050406030204" pitchFamily="18" charset="0"/>
                      </a:rPr>
                      <m:t>[</m:t>
                    </m:r>
                    <m:r>
                      <a:rPr lang="en-US" sz="1800" i="1" dirty="0" smtClean="0">
                        <a:latin typeface="Cambria Math" panose="02040503050406030204" pitchFamily="18" charset="0"/>
                      </a:rPr>
                      <m:t>𝑗</m:t>
                    </m:r>
                    <m:r>
                      <a:rPr lang="en-US" sz="1800" i="1" dirty="0" smtClean="0">
                        <a:latin typeface="Cambria Math" panose="02040503050406030204" pitchFamily="18" charset="0"/>
                      </a:rPr>
                      <m:t>] ≥ </m:t>
                    </m:r>
                    <m:r>
                      <a:rPr lang="en-US" sz="1800" i="1" dirty="0" smtClean="0">
                        <a:latin typeface="Cambria Math" panose="02040503050406030204" pitchFamily="18" charset="0"/>
                      </a:rPr>
                      <m:t>𝐹</m:t>
                    </m:r>
                    <m:r>
                      <a:rPr lang="en-US" sz="1800" i="1" dirty="0" smtClean="0">
                        <a:latin typeface="Cambria Math" panose="02040503050406030204" pitchFamily="18" charset="0"/>
                      </a:rPr>
                      <m:t>[</m:t>
                    </m:r>
                    <m:r>
                      <a:rPr lang="en-US" sz="1800" i="1" dirty="0" err="1" smtClean="0">
                        <a:latin typeface="Cambria Math" panose="02040503050406030204" pitchFamily="18" charset="0"/>
                      </a:rPr>
                      <m:t>𝑖</m:t>
                    </m:r>
                    <m:r>
                      <a:rPr lang="en-US" sz="1800" i="1" dirty="0" smtClean="0">
                        <a:latin typeface="Cambria Math" panose="02040503050406030204" pitchFamily="18" charset="0"/>
                      </a:rPr>
                      <m:t>]</m:t>
                    </m:r>
                  </m:oMath>
                </a14:m>
                <a:r>
                  <a:rPr lang="en-US" sz="1800" dirty="0">
                    <a:latin typeface="Angsana New" panose="02020603050405020304" pitchFamily="18" charset="-34"/>
                    <a:cs typeface="Angsana New" panose="02020603050405020304" pitchFamily="18" charset="-34"/>
                  </a:rPr>
                  <a:t> </a:t>
                </a:r>
                <a:r>
                  <a:rPr lang="en-US" sz="2400" dirty="0">
                    <a:latin typeface="Angsana New" panose="02020603050405020304" pitchFamily="18" charset="-34"/>
                    <a:cs typeface="Angsana New" panose="02020603050405020304" pitchFamily="18" charset="-34"/>
                  </a:rPr>
                  <a:t>because job </a:t>
                </a:r>
                <a14:m>
                  <m:oMath xmlns:m="http://schemas.openxmlformats.org/officeDocument/2006/math">
                    <m:r>
                      <a:rPr lang="en-US" sz="1800" b="0" i="1" dirty="0" smtClean="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has the earliest finish time among all jobs initially</a:t>
                </a:r>
              </a:p>
              <a:p>
                <a:r>
                  <a:rPr lang="en-US" sz="2400" dirty="0">
                    <a:latin typeface="Angsana New" panose="02020603050405020304" pitchFamily="18" charset="-34"/>
                    <a:cs typeface="Angsana New" panose="02020603050405020304" pitchFamily="18" charset="-34"/>
                  </a:rPr>
                  <a:t>Observer that, we can replace job </a:t>
                </a:r>
                <a14:m>
                  <m:oMath xmlns:m="http://schemas.openxmlformats.org/officeDocument/2006/math">
                    <m:r>
                      <a:rPr lang="en-US" sz="1800" i="1" dirty="0">
                        <a:latin typeface="Cambria Math" panose="02040503050406030204" pitchFamily="18" charset="0"/>
                      </a:rPr>
                      <m:t>𝑗</m:t>
                    </m:r>
                  </m:oMath>
                </a14:m>
                <a:r>
                  <a:rPr lang="en-US" sz="2400" dirty="0">
                    <a:latin typeface="Angsana New" panose="02020603050405020304" pitchFamily="18" charset="-34"/>
                    <a:cs typeface="Angsana New" panose="02020603050405020304" pitchFamily="18" charset="-34"/>
                  </a:rPr>
                  <a:t> with job </a:t>
                </a:r>
                <a14:m>
                  <m:oMath xmlns:m="http://schemas.openxmlformats.org/officeDocument/2006/math">
                    <m:r>
                      <a:rPr lang="en-US" sz="1800" b="0" i="1" dirty="0" smtClean="0">
                        <a:latin typeface="Cambria Math" panose="02040503050406030204" pitchFamily="18" charset="0"/>
                      </a:rPr>
                      <m:t>𝑖</m:t>
                    </m:r>
                    <m:r>
                      <a:rPr lang="en-US" sz="2400" i="1" dirty="0">
                        <a:latin typeface="Cambria Math" panose="02040503050406030204" pitchFamily="18" charset="0"/>
                      </a:rPr>
                      <m:t> </m:t>
                    </m:r>
                  </m:oMath>
                </a14:m>
                <a:r>
                  <a:rPr lang="en-US" sz="2400" dirty="0">
                    <a:latin typeface="Angsana New" panose="02020603050405020304" pitchFamily="18" charset="-34"/>
                    <a:cs typeface="Angsana New" panose="02020603050405020304" pitchFamily="18" charset="-34"/>
                  </a:rPr>
                  <a:t>without creating any conflict with the other jobs in set </a:t>
                </a:r>
                <a14:m>
                  <m:oMath xmlns:m="http://schemas.openxmlformats.org/officeDocument/2006/math">
                    <m:r>
                      <a:rPr lang="en-US" sz="1800" b="0" i="1" dirty="0" smtClean="0">
                        <a:latin typeface="Cambria Math" panose="02040503050406030204" pitchFamily="18" charset="0"/>
                      </a:rPr>
                      <m:t>𝑃</m:t>
                    </m:r>
                  </m:oMath>
                </a14:m>
                <a:r>
                  <a:rPr lang="en-US" sz="2400" dirty="0">
                    <a:latin typeface="Angsana New" panose="02020603050405020304" pitchFamily="18" charset="-34"/>
                    <a:cs typeface="Angsana New" panose="02020603050405020304" pitchFamily="18" charset="-34"/>
                  </a:rPr>
                  <a:t> and still </a:t>
                </a:r>
                <a14:m>
                  <m:oMath xmlns:m="http://schemas.openxmlformats.org/officeDocument/2006/math">
                    <m:r>
                      <a:rPr lang="en-US" sz="1800" b="0" i="1" dirty="0" smtClean="0">
                        <a:latin typeface="Cambria Math" panose="02040503050406030204" pitchFamily="18" charset="0"/>
                      </a:rPr>
                      <m:t>𝑃</m:t>
                    </m:r>
                    <m:r>
                      <a:rPr lang="en-US" sz="2400" i="1" dirty="0">
                        <a:latin typeface="Cambria Math" panose="02040503050406030204" pitchFamily="18" charset="0"/>
                      </a:rPr>
                      <m:t> </m:t>
                    </m:r>
                  </m:oMath>
                </a14:m>
                <a:r>
                  <a:rPr lang="en-US" sz="2400" dirty="0">
                    <a:latin typeface="Angsana New" panose="02020603050405020304" pitchFamily="18" charset="-34"/>
                    <a:cs typeface="Angsana New" panose="02020603050405020304" pitchFamily="18" charset="-34"/>
                  </a:rPr>
                  <a:t>remains to be optimal [same size] </a:t>
                </a:r>
                <a:r>
                  <a:rPr lang="en-US" sz="1600" dirty="0">
                    <a:latin typeface="Angsana New" panose="02020603050405020304" pitchFamily="18" charset="-34"/>
                    <a:cs typeface="Angsana New" panose="02020603050405020304" pitchFamily="18" charset="-34"/>
                    <a:sym typeface="Wingdings" pitchFamily="2" charset="2"/>
                  </a:rPr>
                  <a:t></a:t>
                </a:r>
                <a:r>
                  <a:rPr lang="en-US" sz="2400" dirty="0">
                    <a:latin typeface="Angsana New" panose="02020603050405020304" pitchFamily="18" charset="-34"/>
                    <a:cs typeface="Angsana New" panose="02020603050405020304" pitchFamily="18" charset="-34"/>
                    <a:sym typeface="Wingdings" pitchFamily="2" charset="2"/>
                  </a:rPr>
                  <a:t> </a:t>
                </a:r>
                <a:r>
                  <a:rPr lang="en-US" sz="2400" dirty="0">
                    <a:latin typeface="Angsana New" panose="02020603050405020304" pitchFamily="18" charset="-34"/>
                    <a:cs typeface="Angsana New" panose="02020603050405020304" pitchFamily="18" charset="-34"/>
                  </a:rPr>
                  <a:t>A contraction to our assumption that job </a:t>
                </a:r>
                <a14:m>
                  <m:oMath xmlns:m="http://schemas.openxmlformats.org/officeDocument/2006/math">
                    <m:r>
                      <a:rPr lang="en-US" sz="1800" i="1" dirty="0">
                        <a:latin typeface="Cambria Math" panose="02040503050406030204" pitchFamily="18" charset="0"/>
                      </a:rPr>
                      <m:t>𝑖</m:t>
                    </m:r>
                  </m:oMath>
                </a14:m>
                <a:r>
                  <a:rPr lang="en-US" sz="2400" dirty="0">
                    <a:latin typeface="Angsana New" panose="02020603050405020304" pitchFamily="18" charset="-34"/>
                    <a:cs typeface="Angsana New" panose="02020603050405020304" pitchFamily="18" charset="-34"/>
                  </a:rPr>
                  <a:t> is not in any optimal solutions!  </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mc:Choice>
        <mc:Fallback xmlns="">
          <p:sp>
            <p:nvSpPr>
              <p:cNvPr id="3" name="Content Placeholder 2">
                <a:extLst>
                  <a:ext uri="{FF2B5EF4-FFF2-40B4-BE49-F238E27FC236}">
                    <a16:creationId xmlns:a16="http://schemas.microsoft.com/office/drawing/2014/main" id="{1F507BE6-6C66-494C-AAF4-FCF714F3AD4E}"/>
                  </a:ext>
                </a:extLst>
              </p:cNvPr>
              <p:cNvSpPr>
                <a:spLocks noGrp="1" noRot="1" noChangeAspect="1" noMove="1" noResize="1" noEditPoints="1" noAdjustHandles="1" noChangeArrowheads="1" noChangeShapeType="1" noTextEdit="1"/>
              </p:cNvSpPr>
              <p:nvPr>
                <p:ph idx="1"/>
              </p:nvPr>
            </p:nvSpPr>
            <p:spPr>
              <a:xfrm>
                <a:off x="1069848" y="2121408"/>
                <a:ext cx="10360152" cy="4527870"/>
              </a:xfrm>
              <a:blipFill>
                <a:blip r:embed="rId2"/>
                <a:stretch>
                  <a:fillRect l="-612" t="-1401"/>
                </a:stretch>
              </a:blipFill>
            </p:spPr>
            <p:txBody>
              <a:bodyPr/>
              <a:lstStyle/>
              <a:p>
                <a:r>
                  <a:rPr lang="en-US">
                    <a:noFill/>
                  </a:rPr>
                  <a:t> </a:t>
                </a:r>
              </a:p>
            </p:txBody>
          </p:sp>
        </mc:Fallback>
      </mc:AlternateContent>
    </p:spTree>
    <p:extLst>
      <p:ext uri="{BB962C8B-B14F-4D97-AF65-F5344CB8AC3E}">
        <p14:creationId xmlns:p14="http://schemas.microsoft.com/office/powerpoint/2010/main" val="3688004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2A8-F52E-DF48-A2C7-388D93534F63}"/>
              </a:ext>
            </a:extLst>
          </p:cNvPr>
          <p:cNvSpPr>
            <a:spLocks noGrp="1"/>
          </p:cNvSpPr>
          <p:nvPr>
            <p:ph type="title"/>
          </p:nvPr>
        </p:nvSpPr>
        <p:spPr>
          <a:xfrm>
            <a:off x="1069848" y="484632"/>
            <a:ext cx="10678204" cy="1609344"/>
          </a:xfrm>
        </p:spPr>
        <p:txBody>
          <a:bodyPr/>
          <a:lstStyle/>
          <a:p>
            <a:r>
              <a:rPr lang="en-US" dirty="0"/>
              <a:t>Activity Scheduling: Early Finish Time</a:t>
            </a:r>
          </a:p>
        </p:txBody>
      </p:sp>
      <p:sp>
        <p:nvSpPr>
          <p:cNvPr id="3" name="Content Placeholder 2">
            <a:extLst>
              <a:ext uri="{FF2B5EF4-FFF2-40B4-BE49-F238E27FC236}">
                <a16:creationId xmlns:a16="http://schemas.microsoft.com/office/drawing/2014/main" id="{1F507BE6-6C66-494C-AAF4-FCF714F3AD4E}"/>
              </a:ext>
            </a:extLst>
          </p:cNvPr>
          <p:cNvSpPr>
            <a:spLocks noGrp="1"/>
          </p:cNvSpPr>
          <p:nvPr>
            <p:ph idx="1"/>
          </p:nvPr>
        </p:nvSpPr>
        <p:spPr>
          <a:xfrm>
            <a:off x="1069848" y="2121408"/>
            <a:ext cx="10360152" cy="4527870"/>
          </a:xfrm>
        </p:spPr>
        <p:txBody>
          <a:bodyPr>
            <a:normAutofit/>
          </a:bodyPr>
          <a:lstStyle/>
          <a:p>
            <a:pPr marL="0" indent="0">
              <a:buNone/>
            </a:pPr>
            <a:r>
              <a:rPr lang="en-US" b="1" dirty="0">
                <a:latin typeface="Times New Roman Bold Italic"/>
              </a:rPr>
              <a:t>Prove that </a:t>
            </a:r>
            <a:r>
              <a:rPr lang="en-US" i="1" dirty="0">
                <a:latin typeface="Times" pitchFamily="2" charset="0"/>
              </a:rPr>
              <a:t>Greedy-Activity-Scheduling</a:t>
            </a:r>
            <a:r>
              <a:rPr lang="en-US" b="1" dirty="0">
                <a:latin typeface="Times New Roman Bold Italic"/>
              </a:rPr>
              <a:t> generate an optimal solution. </a:t>
            </a:r>
          </a:p>
          <a:p>
            <a:pPr marL="0" indent="0">
              <a:buNone/>
            </a:pPr>
            <a:endParaRPr lang="en-US" sz="800" b="1" dirty="0">
              <a:latin typeface="Times New Roman Bold Italic"/>
            </a:endParaRPr>
          </a:p>
          <a:p>
            <a:r>
              <a:rPr lang="en-US" sz="2400" dirty="0">
                <a:latin typeface="Angsana New" panose="02020603050405020304" pitchFamily="18" charset="-34"/>
                <a:cs typeface="Angsana New" panose="02020603050405020304" pitchFamily="18" charset="-34"/>
              </a:rPr>
              <a:t>According </a:t>
            </a:r>
            <a:r>
              <a:rPr lang="en-US" sz="2400" b="1" dirty="0">
                <a:latin typeface="Angsana New" panose="02020603050405020304" pitchFamily="18" charset="-34"/>
                <a:cs typeface="Angsana New" panose="02020603050405020304" pitchFamily="18" charset="-34"/>
              </a:rPr>
              <a:t>theorem 1</a:t>
            </a:r>
            <a:r>
              <a:rPr lang="en-US" sz="2400" dirty="0">
                <a:latin typeface="Angsana New" panose="02020603050405020304" pitchFamily="18" charset="-34"/>
                <a:cs typeface="Angsana New" panose="02020603050405020304" pitchFamily="18" charset="-34"/>
              </a:rPr>
              <a:t>, we select the first job since it is in optimal solution. </a:t>
            </a:r>
          </a:p>
          <a:p>
            <a:r>
              <a:rPr lang="en-US" sz="2400" dirty="0">
                <a:latin typeface="Angsana New" panose="02020603050405020304" pitchFamily="18" charset="-34"/>
                <a:cs typeface="Angsana New" panose="02020603050405020304" pitchFamily="18" charset="-34"/>
              </a:rPr>
              <a:t>Then, we remove all conflicting jobs from the job set. </a:t>
            </a:r>
          </a:p>
          <a:p>
            <a:r>
              <a:rPr lang="en-US" sz="2400" dirty="0">
                <a:latin typeface="Angsana New" panose="02020603050405020304" pitchFamily="18" charset="-34"/>
                <a:cs typeface="Angsana New" panose="02020603050405020304" pitchFamily="18" charset="-34"/>
              </a:rPr>
              <a:t>The original problem is then transformed to a similar problem of smaller size. </a:t>
            </a:r>
          </a:p>
          <a:p>
            <a:r>
              <a:rPr lang="en-US" sz="2400" dirty="0">
                <a:latin typeface="Angsana New" panose="02020603050405020304" pitchFamily="18" charset="-34"/>
                <a:cs typeface="Angsana New" panose="02020603050405020304" pitchFamily="18" charset="-34"/>
              </a:rPr>
              <a:t>So, we continue selecting jobs following </a:t>
            </a:r>
            <a:r>
              <a:rPr lang="en-US" sz="2400" b="1" dirty="0">
                <a:latin typeface="Angsana New" panose="02020603050405020304" pitchFamily="18" charset="-34"/>
                <a:cs typeface="Angsana New" panose="02020603050405020304" pitchFamily="18" charset="-34"/>
              </a:rPr>
              <a:t>theorem 1</a:t>
            </a:r>
            <a:r>
              <a:rPr lang="en-US" sz="2400" dirty="0">
                <a:latin typeface="Angsana New" panose="02020603050405020304" pitchFamily="18" charset="-34"/>
                <a:cs typeface="Angsana New" panose="02020603050405020304" pitchFamily="18" charset="-34"/>
              </a:rPr>
              <a:t> and we always remain optimal. </a:t>
            </a:r>
          </a:p>
          <a:p>
            <a:pPr marL="0" indent="0">
              <a:buNone/>
            </a:pPr>
            <a:endParaRPr lang="en-US" dirty="0"/>
          </a:p>
          <a:p>
            <a:endParaRPr lang="en-US" dirty="0"/>
          </a:p>
          <a:p>
            <a:endParaRPr lang="en-US" dirty="0"/>
          </a:p>
          <a:p>
            <a:endParaRPr lang="en-US" dirty="0"/>
          </a:p>
          <a:p>
            <a:endParaRPr lang="en-US" dirty="0"/>
          </a:p>
          <a:p>
            <a:endParaRPr lang="en-US" b="1" dirty="0"/>
          </a:p>
          <a:p>
            <a:endParaRPr lang="en-US" dirty="0"/>
          </a:p>
        </p:txBody>
      </p:sp>
    </p:spTree>
    <p:extLst>
      <p:ext uri="{BB962C8B-B14F-4D97-AF65-F5344CB8AC3E}">
        <p14:creationId xmlns:p14="http://schemas.microsoft.com/office/powerpoint/2010/main" val="477241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DE-32C3-8440-81CD-1AB259FFEF43}"/>
              </a:ext>
            </a:extLst>
          </p:cNvPr>
          <p:cNvSpPr>
            <a:spLocks noGrp="1"/>
          </p:cNvSpPr>
          <p:nvPr>
            <p:ph type="title"/>
          </p:nvPr>
        </p:nvSpPr>
        <p:spPr/>
        <p:txBody>
          <a:bodyPr/>
          <a:lstStyle/>
          <a:p>
            <a:r>
              <a:rPr lang="en-US" dirty="0"/>
              <a:t>The famous </a:t>
            </a:r>
            <a:r>
              <a:rPr lang="en-US" dirty="0">
                <a:solidFill>
                  <a:srgbClr val="FF0000"/>
                </a:solidFill>
              </a:rPr>
              <a:t>knapsack</a:t>
            </a:r>
            <a:r>
              <a:rPr lang="en-US" dirty="0"/>
              <a:t> </a:t>
            </a:r>
            <a:r>
              <a:rPr lang="en-US" dirty="0">
                <a:solidFill>
                  <a:srgbClr val="FF0000"/>
                </a:solidFill>
              </a:rPr>
              <a:t>problem</a:t>
            </a:r>
          </a:p>
        </p:txBody>
      </p:sp>
      <p:sp>
        <p:nvSpPr>
          <p:cNvPr id="3" name="Content Placeholder 2">
            <a:extLst>
              <a:ext uri="{FF2B5EF4-FFF2-40B4-BE49-F238E27FC236}">
                <a16:creationId xmlns:a16="http://schemas.microsoft.com/office/drawing/2014/main" id="{E7C676F9-08F7-3D49-93DF-2EF9B6A9945A}"/>
              </a:ext>
            </a:extLst>
          </p:cNvPr>
          <p:cNvSpPr>
            <a:spLocks noGrp="1"/>
          </p:cNvSpPr>
          <p:nvPr>
            <p:ph idx="1"/>
          </p:nvPr>
        </p:nvSpPr>
        <p:spPr/>
        <p:txBody>
          <a:bodyPr>
            <a:normAutofit/>
          </a:bodyPr>
          <a:lstStyle/>
          <a:p>
            <a:pPr marL="0" indent="0">
              <a:lnSpc>
                <a:spcPct val="150000"/>
              </a:lnSpc>
              <a:buNone/>
            </a:pPr>
            <a:r>
              <a:rPr lang="en-US" dirty="0">
                <a:latin typeface="Times" pitchFamily="2" charset="0"/>
              </a:rPr>
              <a:t>A thief breaks into a museum.  Fabulous paintings, sculptures, and jewels are everywhere.  The thief has a good eye for the value of these objects and knows that each will fetch hundreds or thousands of dollars on the clandestine art collector’s market.  But the thief has only brought a single knapsack to the scene of the robbery and can take away only what he can carry.  What items should the thief take to maximize the haul?</a:t>
            </a:r>
          </a:p>
        </p:txBody>
      </p:sp>
      <p:grpSp>
        <p:nvGrpSpPr>
          <p:cNvPr id="4" name="Group 4">
            <a:extLst>
              <a:ext uri="{FF2B5EF4-FFF2-40B4-BE49-F238E27FC236}">
                <a16:creationId xmlns:a16="http://schemas.microsoft.com/office/drawing/2014/main" id="{FAC411EF-ADDA-0E48-BC1B-517F9C8F4318}"/>
              </a:ext>
            </a:extLst>
          </p:cNvPr>
          <p:cNvGrpSpPr>
            <a:grpSpLocks/>
          </p:cNvGrpSpPr>
          <p:nvPr/>
        </p:nvGrpSpPr>
        <p:grpSpPr bwMode="auto">
          <a:xfrm flipH="1">
            <a:off x="6830781" y="4594623"/>
            <a:ext cx="2551545" cy="2022575"/>
            <a:chOff x="3577" y="2675"/>
            <a:chExt cx="1768" cy="1359"/>
          </a:xfrm>
        </p:grpSpPr>
        <p:sp>
          <p:nvSpPr>
            <p:cNvPr id="5" name="Freeform 5">
              <a:extLst>
                <a:ext uri="{FF2B5EF4-FFF2-40B4-BE49-F238E27FC236}">
                  <a16:creationId xmlns:a16="http://schemas.microsoft.com/office/drawing/2014/main" id="{B2B86E29-7452-6E42-8DFB-ED67A9555AEA}"/>
                </a:ext>
              </a:extLst>
            </p:cNvPr>
            <p:cNvSpPr>
              <a:spLocks/>
            </p:cNvSpPr>
            <p:nvPr/>
          </p:nvSpPr>
          <p:spPr bwMode="auto">
            <a:xfrm>
              <a:off x="4917" y="3621"/>
              <a:ext cx="428" cy="348"/>
            </a:xfrm>
            <a:custGeom>
              <a:avLst/>
              <a:gdLst>
                <a:gd name="T0" fmla="*/ 0 w 857"/>
                <a:gd name="T1" fmla="*/ 67 h 695"/>
                <a:gd name="T2" fmla="*/ 40 w 857"/>
                <a:gd name="T3" fmla="*/ 152 h 695"/>
                <a:gd name="T4" fmla="*/ 77 w 857"/>
                <a:gd name="T5" fmla="*/ 221 h 695"/>
                <a:gd name="T6" fmla="*/ 113 w 857"/>
                <a:gd name="T7" fmla="*/ 273 h 695"/>
                <a:gd name="T8" fmla="*/ 153 w 857"/>
                <a:gd name="T9" fmla="*/ 310 h 695"/>
                <a:gd name="T10" fmla="*/ 200 w 857"/>
                <a:gd name="T11" fmla="*/ 334 h 695"/>
                <a:gd name="T12" fmla="*/ 259 w 857"/>
                <a:gd name="T13" fmla="*/ 346 h 695"/>
                <a:gd name="T14" fmla="*/ 333 w 857"/>
                <a:gd name="T15" fmla="*/ 348 h 695"/>
                <a:gd name="T16" fmla="*/ 428 w 857"/>
                <a:gd name="T17" fmla="*/ 342 h 695"/>
                <a:gd name="T18" fmla="*/ 335 w 857"/>
                <a:gd name="T19" fmla="*/ 339 h 695"/>
                <a:gd name="T20" fmla="*/ 261 w 857"/>
                <a:gd name="T21" fmla="*/ 327 h 695"/>
                <a:gd name="T22" fmla="*/ 202 w 857"/>
                <a:gd name="T23" fmla="*/ 304 h 695"/>
                <a:gd name="T24" fmla="*/ 158 w 857"/>
                <a:gd name="T25" fmla="*/ 270 h 695"/>
                <a:gd name="T26" fmla="*/ 121 w 857"/>
                <a:gd name="T27" fmla="*/ 223 h 695"/>
                <a:gd name="T28" fmla="*/ 93 w 857"/>
                <a:gd name="T29" fmla="*/ 163 h 695"/>
                <a:gd name="T30" fmla="*/ 66 w 857"/>
                <a:gd name="T31" fmla="*/ 89 h 695"/>
                <a:gd name="T32" fmla="*/ 41 w 857"/>
                <a:gd name="T33" fmla="*/ 0 h 695"/>
                <a:gd name="T34" fmla="*/ 36 w 857"/>
                <a:gd name="T35" fmla="*/ 7 h 695"/>
                <a:gd name="T36" fmla="*/ 30 w 857"/>
                <a:gd name="T37" fmla="*/ 15 h 695"/>
                <a:gd name="T38" fmla="*/ 25 w 857"/>
                <a:gd name="T39" fmla="*/ 24 h 695"/>
                <a:gd name="T40" fmla="*/ 20 w 857"/>
                <a:gd name="T41" fmla="*/ 33 h 695"/>
                <a:gd name="T42" fmla="*/ 15 w 857"/>
                <a:gd name="T43" fmla="*/ 42 h 695"/>
                <a:gd name="T44" fmla="*/ 10 w 857"/>
                <a:gd name="T45" fmla="*/ 51 h 695"/>
                <a:gd name="T46" fmla="*/ 5 w 857"/>
                <a:gd name="T47" fmla="*/ 59 h 695"/>
                <a:gd name="T48" fmla="*/ 0 w 857"/>
                <a:gd name="T49" fmla="*/ 67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 name="Freeform 6">
              <a:extLst>
                <a:ext uri="{FF2B5EF4-FFF2-40B4-BE49-F238E27FC236}">
                  <a16:creationId xmlns:a16="http://schemas.microsoft.com/office/drawing/2014/main" id="{36AABCC3-C739-D54D-8FB7-B8DA079F9336}"/>
                </a:ext>
              </a:extLst>
            </p:cNvPr>
            <p:cNvSpPr>
              <a:spLocks/>
            </p:cNvSpPr>
            <p:nvPr/>
          </p:nvSpPr>
          <p:spPr bwMode="auto">
            <a:xfrm>
              <a:off x="3616" y="3042"/>
              <a:ext cx="119" cy="113"/>
            </a:xfrm>
            <a:custGeom>
              <a:avLst/>
              <a:gdLst>
                <a:gd name="T0" fmla="*/ 0 w 238"/>
                <a:gd name="T1" fmla="*/ 0 h 226"/>
                <a:gd name="T2" fmla="*/ 15 w 238"/>
                <a:gd name="T3" fmla="*/ 2 h 226"/>
                <a:gd name="T4" fmla="*/ 34 w 238"/>
                <a:gd name="T5" fmla="*/ 11 h 226"/>
                <a:gd name="T6" fmla="*/ 52 w 238"/>
                <a:gd name="T7" fmla="*/ 25 h 226"/>
                <a:gd name="T8" fmla="*/ 71 w 238"/>
                <a:gd name="T9" fmla="*/ 42 h 226"/>
                <a:gd name="T10" fmla="*/ 87 w 238"/>
                <a:gd name="T11" fmla="*/ 60 h 226"/>
                <a:gd name="T12" fmla="*/ 102 w 238"/>
                <a:gd name="T13" fmla="*/ 80 h 226"/>
                <a:gd name="T14" fmla="*/ 112 w 238"/>
                <a:gd name="T15" fmla="*/ 97 h 226"/>
                <a:gd name="T16" fmla="*/ 119 w 238"/>
                <a:gd name="T17" fmla="*/ 113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 name="Freeform 7">
              <a:extLst>
                <a:ext uri="{FF2B5EF4-FFF2-40B4-BE49-F238E27FC236}">
                  <a16:creationId xmlns:a16="http://schemas.microsoft.com/office/drawing/2014/main" id="{8EEBABE0-814C-5948-A641-05A417E5A12C}"/>
                </a:ext>
              </a:extLst>
            </p:cNvPr>
            <p:cNvSpPr>
              <a:spLocks/>
            </p:cNvSpPr>
            <p:nvPr/>
          </p:nvSpPr>
          <p:spPr bwMode="auto">
            <a:xfrm>
              <a:off x="3577" y="3113"/>
              <a:ext cx="147" cy="44"/>
            </a:xfrm>
            <a:custGeom>
              <a:avLst/>
              <a:gdLst>
                <a:gd name="T0" fmla="*/ 0 w 294"/>
                <a:gd name="T1" fmla="*/ 1 h 88"/>
                <a:gd name="T2" fmla="*/ 17 w 294"/>
                <a:gd name="T3" fmla="*/ 0 h 88"/>
                <a:gd name="T4" fmla="*/ 38 w 294"/>
                <a:gd name="T5" fmla="*/ 1 h 88"/>
                <a:gd name="T6" fmla="*/ 61 w 294"/>
                <a:gd name="T7" fmla="*/ 3 h 88"/>
                <a:gd name="T8" fmla="*/ 84 w 294"/>
                <a:gd name="T9" fmla="*/ 8 h 88"/>
                <a:gd name="T10" fmla="*/ 106 w 294"/>
                <a:gd name="T11" fmla="*/ 13 h 88"/>
                <a:gd name="T12" fmla="*/ 125 w 294"/>
                <a:gd name="T13" fmla="*/ 22 h 88"/>
                <a:gd name="T14" fmla="*/ 139 w 294"/>
                <a:gd name="T15" fmla="*/ 31 h 88"/>
                <a:gd name="T16" fmla="*/ 147 w 294"/>
                <a:gd name="T17" fmla="*/ 44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 name="Freeform 8">
              <a:extLst>
                <a:ext uri="{FF2B5EF4-FFF2-40B4-BE49-F238E27FC236}">
                  <a16:creationId xmlns:a16="http://schemas.microsoft.com/office/drawing/2014/main" id="{739BF85C-96B3-6A41-817D-3745B7949D68}"/>
                </a:ext>
              </a:extLst>
            </p:cNvPr>
            <p:cNvSpPr>
              <a:spLocks/>
            </p:cNvSpPr>
            <p:nvPr/>
          </p:nvSpPr>
          <p:spPr bwMode="auto">
            <a:xfrm>
              <a:off x="4618" y="3879"/>
              <a:ext cx="370" cy="152"/>
            </a:xfrm>
            <a:custGeom>
              <a:avLst/>
              <a:gdLst>
                <a:gd name="T0" fmla="*/ 108 w 740"/>
                <a:gd name="T1" fmla="*/ 140 h 305"/>
                <a:gd name="T2" fmla="*/ 116 w 740"/>
                <a:gd name="T3" fmla="*/ 131 h 305"/>
                <a:gd name="T4" fmla="*/ 124 w 740"/>
                <a:gd name="T5" fmla="*/ 125 h 305"/>
                <a:gd name="T6" fmla="*/ 131 w 740"/>
                <a:gd name="T7" fmla="*/ 120 h 305"/>
                <a:gd name="T8" fmla="*/ 138 w 740"/>
                <a:gd name="T9" fmla="*/ 115 h 305"/>
                <a:gd name="T10" fmla="*/ 144 w 740"/>
                <a:gd name="T11" fmla="*/ 109 h 305"/>
                <a:gd name="T12" fmla="*/ 151 w 740"/>
                <a:gd name="T13" fmla="*/ 103 h 305"/>
                <a:gd name="T14" fmla="*/ 159 w 740"/>
                <a:gd name="T15" fmla="*/ 97 h 305"/>
                <a:gd name="T16" fmla="*/ 169 w 740"/>
                <a:gd name="T17" fmla="*/ 90 h 305"/>
                <a:gd name="T18" fmla="*/ 185 w 740"/>
                <a:gd name="T19" fmla="*/ 83 h 305"/>
                <a:gd name="T20" fmla="*/ 207 w 740"/>
                <a:gd name="T21" fmla="*/ 76 h 305"/>
                <a:gd name="T22" fmla="*/ 232 w 740"/>
                <a:gd name="T23" fmla="*/ 69 h 305"/>
                <a:gd name="T24" fmla="*/ 260 w 740"/>
                <a:gd name="T25" fmla="*/ 62 h 305"/>
                <a:gd name="T26" fmla="*/ 286 w 740"/>
                <a:gd name="T27" fmla="*/ 56 h 305"/>
                <a:gd name="T28" fmla="*/ 311 w 740"/>
                <a:gd name="T29" fmla="*/ 52 h 305"/>
                <a:gd name="T30" fmla="*/ 333 w 740"/>
                <a:gd name="T31" fmla="*/ 49 h 305"/>
                <a:gd name="T32" fmla="*/ 351 w 740"/>
                <a:gd name="T33" fmla="*/ 51 h 305"/>
                <a:gd name="T34" fmla="*/ 361 w 740"/>
                <a:gd name="T35" fmla="*/ 49 h 305"/>
                <a:gd name="T36" fmla="*/ 368 w 740"/>
                <a:gd name="T37" fmla="*/ 46 h 305"/>
                <a:gd name="T38" fmla="*/ 370 w 740"/>
                <a:gd name="T39" fmla="*/ 41 h 305"/>
                <a:gd name="T40" fmla="*/ 369 w 740"/>
                <a:gd name="T41" fmla="*/ 36 h 305"/>
                <a:gd name="T42" fmla="*/ 366 w 740"/>
                <a:gd name="T43" fmla="*/ 29 h 305"/>
                <a:gd name="T44" fmla="*/ 363 w 740"/>
                <a:gd name="T45" fmla="*/ 22 h 305"/>
                <a:gd name="T46" fmla="*/ 360 w 740"/>
                <a:gd name="T47" fmla="*/ 16 h 305"/>
                <a:gd name="T48" fmla="*/ 359 w 740"/>
                <a:gd name="T49" fmla="*/ 11 h 305"/>
                <a:gd name="T50" fmla="*/ 333 w 740"/>
                <a:gd name="T51" fmla="*/ 2 h 305"/>
                <a:gd name="T52" fmla="*/ 304 w 740"/>
                <a:gd name="T53" fmla="*/ 0 h 305"/>
                <a:gd name="T54" fmla="*/ 272 w 740"/>
                <a:gd name="T55" fmla="*/ 1 h 305"/>
                <a:gd name="T56" fmla="*/ 239 w 740"/>
                <a:gd name="T57" fmla="*/ 6 h 305"/>
                <a:gd name="T58" fmla="*/ 205 w 740"/>
                <a:gd name="T59" fmla="*/ 13 h 305"/>
                <a:gd name="T60" fmla="*/ 173 w 740"/>
                <a:gd name="T61" fmla="*/ 22 h 305"/>
                <a:gd name="T62" fmla="*/ 143 w 740"/>
                <a:gd name="T63" fmla="*/ 32 h 305"/>
                <a:gd name="T64" fmla="*/ 114 w 740"/>
                <a:gd name="T65" fmla="*/ 43 h 305"/>
                <a:gd name="T66" fmla="*/ 101 w 740"/>
                <a:gd name="T67" fmla="*/ 52 h 305"/>
                <a:gd name="T68" fmla="*/ 88 w 740"/>
                <a:gd name="T69" fmla="*/ 61 h 305"/>
                <a:gd name="T70" fmla="*/ 75 w 740"/>
                <a:gd name="T71" fmla="*/ 70 h 305"/>
                <a:gd name="T72" fmla="*/ 61 w 740"/>
                <a:gd name="T73" fmla="*/ 79 h 305"/>
                <a:gd name="T74" fmla="*/ 48 w 740"/>
                <a:gd name="T75" fmla="*/ 88 h 305"/>
                <a:gd name="T76" fmla="*/ 35 w 740"/>
                <a:gd name="T77" fmla="*/ 97 h 305"/>
                <a:gd name="T78" fmla="*/ 22 w 740"/>
                <a:gd name="T79" fmla="*/ 106 h 305"/>
                <a:gd name="T80" fmla="*/ 10 w 740"/>
                <a:gd name="T81" fmla="*/ 116 h 305"/>
                <a:gd name="T82" fmla="*/ 1 w 740"/>
                <a:gd name="T83" fmla="*/ 129 h 305"/>
                <a:gd name="T84" fmla="*/ 0 w 740"/>
                <a:gd name="T85" fmla="*/ 140 h 305"/>
                <a:gd name="T86" fmla="*/ 5 w 740"/>
                <a:gd name="T87" fmla="*/ 147 h 305"/>
                <a:gd name="T88" fmla="*/ 17 w 740"/>
                <a:gd name="T89" fmla="*/ 151 h 305"/>
                <a:gd name="T90" fmla="*/ 33 w 740"/>
                <a:gd name="T91" fmla="*/ 152 h 305"/>
                <a:gd name="T92" fmla="*/ 54 w 740"/>
                <a:gd name="T93" fmla="*/ 151 h 305"/>
                <a:gd name="T94" fmla="*/ 79 w 740"/>
                <a:gd name="T95" fmla="*/ 146 h 305"/>
                <a:gd name="T96" fmla="*/ 108 w 740"/>
                <a:gd name="T97" fmla="*/ 14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 name="Freeform 9">
              <a:extLst>
                <a:ext uri="{FF2B5EF4-FFF2-40B4-BE49-F238E27FC236}">
                  <a16:creationId xmlns:a16="http://schemas.microsoft.com/office/drawing/2014/main" id="{E3D3D567-B5BA-0447-A663-00A6863C40E5}"/>
                </a:ext>
              </a:extLst>
            </p:cNvPr>
            <p:cNvSpPr>
              <a:spLocks/>
            </p:cNvSpPr>
            <p:nvPr/>
          </p:nvSpPr>
          <p:spPr bwMode="auto">
            <a:xfrm>
              <a:off x="4095" y="3677"/>
              <a:ext cx="287" cy="294"/>
            </a:xfrm>
            <a:custGeom>
              <a:avLst/>
              <a:gdLst>
                <a:gd name="T0" fmla="*/ 2 w 573"/>
                <a:gd name="T1" fmla="*/ 0 h 588"/>
                <a:gd name="T2" fmla="*/ 20 w 573"/>
                <a:gd name="T3" fmla="*/ 16 h 588"/>
                <a:gd name="T4" fmla="*/ 38 w 573"/>
                <a:gd name="T5" fmla="*/ 32 h 588"/>
                <a:gd name="T6" fmla="*/ 57 w 573"/>
                <a:gd name="T7" fmla="*/ 48 h 588"/>
                <a:gd name="T8" fmla="*/ 75 w 573"/>
                <a:gd name="T9" fmla="*/ 64 h 588"/>
                <a:gd name="T10" fmla="*/ 94 w 573"/>
                <a:gd name="T11" fmla="*/ 80 h 588"/>
                <a:gd name="T12" fmla="*/ 113 w 573"/>
                <a:gd name="T13" fmla="*/ 96 h 588"/>
                <a:gd name="T14" fmla="*/ 132 w 573"/>
                <a:gd name="T15" fmla="*/ 112 h 588"/>
                <a:gd name="T16" fmla="*/ 151 w 573"/>
                <a:gd name="T17" fmla="*/ 128 h 588"/>
                <a:gd name="T18" fmla="*/ 162 w 573"/>
                <a:gd name="T19" fmla="*/ 143 h 588"/>
                <a:gd name="T20" fmla="*/ 173 w 573"/>
                <a:gd name="T21" fmla="*/ 159 h 588"/>
                <a:gd name="T22" fmla="*/ 184 w 573"/>
                <a:gd name="T23" fmla="*/ 174 h 588"/>
                <a:gd name="T24" fmla="*/ 196 w 573"/>
                <a:gd name="T25" fmla="*/ 189 h 588"/>
                <a:gd name="T26" fmla="*/ 208 w 573"/>
                <a:gd name="T27" fmla="*/ 202 h 588"/>
                <a:gd name="T28" fmla="*/ 223 w 573"/>
                <a:gd name="T29" fmla="*/ 215 h 588"/>
                <a:gd name="T30" fmla="*/ 240 w 573"/>
                <a:gd name="T31" fmla="*/ 224 h 588"/>
                <a:gd name="T32" fmla="*/ 261 w 573"/>
                <a:gd name="T33" fmla="*/ 232 h 588"/>
                <a:gd name="T34" fmla="*/ 275 w 573"/>
                <a:gd name="T35" fmla="*/ 251 h 588"/>
                <a:gd name="T36" fmla="*/ 283 w 573"/>
                <a:gd name="T37" fmla="*/ 266 h 588"/>
                <a:gd name="T38" fmla="*/ 286 w 573"/>
                <a:gd name="T39" fmla="*/ 276 h 588"/>
                <a:gd name="T40" fmla="*/ 287 w 573"/>
                <a:gd name="T41" fmla="*/ 282 h 588"/>
                <a:gd name="T42" fmla="*/ 284 w 573"/>
                <a:gd name="T43" fmla="*/ 287 h 588"/>
                <a:gd name="T44" fmla="*/ 279 w 573"/>
                <a:gd name="T45" fmla="*/ 289 h 588"/>
                <a:gd name="T46" fmla="*/ 274 w 573"/>
                <a:gd name="T47" fmla="*/ 292 h 588"/>
                <a:gd name="T48" fmla="*/ 269 w 573"/>
                <a:gd name="T49" fmla="*/ 294 h 588"/>
                <a:gd name="T50" fmla="*/ 236 w 573"/>
                <a:gd name="T51" fmla="*/ 285 h 588"/>
                <a:gd name="T52" fmla="*/ 208 w 573"/>
                <a:gd name="T53" fmla="*/ 271 h 588"/>
                <a:gd name="T54" fmla="*/ 181 w 573"/>
                <a:gd name="T55" fmla="*/ 251 h 588"/>
                <a:gd name="T56" fmla="*/ 158 w 573"/>
                <a:gd name="T57" fmla="*/ 229 h 588"/>
                <a:gd name="T58" fmla="*/ 134 w 573"/>
                <a:gd name="T59" fmla="*/ 205 h 588"/>
                <a:gd name="T60" fmla="*/ 113 w 573"/>
                <a:gd name="T61" fmla="*/ 180 h 588"/>
                <a:gd name="T62" fmla="*/ 91 w 573"/>
                <a:gd name="T63" fmla="*/ 155 h 588"/>
                <a:gd name="T64" fmla="*/ 69 w 573"/>
                <a:gd name="T65" fmla="*/ 133 h 588"/>
                <a:gd name="T66" fmla="*/ 59 w 573"/>
                <a:gd name="T67" fmla="*/ 119 h 588"/>
                <a:gd name="T68" fmla="*/ 50 w 573"/>
                <a:gd name="T69" fmla="*/ 106 h 588"/>
                <a:gd name="T70" fmla="*/ 42 w 573"/>
                <a:gd name="T71" fmla="*/ 93 h 588"/>
                <a:gd name="T72" fmla="*/ 35 w 573"/>
                <a:gd name="T73" fmla="*/ 80 h 588"/>
                <a:gd name="T74" fmla="*/ 27 w 573"/>
                <a:gd name="T75" fmla="*/ 67 h 588"/>
                <a:gd name="T76" fmla="*/ 19 w 573"/>
                <a:gd name="T77" fmla="*/ 53 h 588"/>
                <a:gd name="T78" fmla="*/ 10 w 573"/>
                <a:gd name="T79" fmla="*/ 40 h 588"/>
                <a:gd name="T80" fmla="*/ 2 w 573"/>
                <a:gd name="T81" fmla="*/ 28 h 588"/>
                <a:gd name="T82" fmla="*/ 2 w 573"/>
                <a:gd name="T83" fmla="*/ 24 h 588"/>
                <a:gd name="T84" fmla="*/ 2 w 573"/>
                <a:gd name="T85" fmla="*/ 20 h 588"/>
                <a:gd name="T86" fmla="*/ 2 w 573"/>
                <a:gd name="T87" fmla="*/ 17 h 588"/>
                <a:gd name="T88" fmla="*/ 1 w 573"/>
                <a:gd name="T89" fmla="*/ 14 h 588"/>
                <a:gd name="T90" fmla="*/ 0 w 573"/>
                <a:gd name="T91" fmla="*/ 10 h 588"/>
                <a:gd name="T92" fmla="*/ 0 w 573"/>
                <a:gd name="T93" fmla="*/ 7 h 588"/>
                <a:gd name="T94" fmla="*/ 0 w 573"/>
                <a:gd name="T95" fmla="*/ 3 h 588"/>
                <a:gd name="T96" fmla="*/ 2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 name="Freeform 10">
              <a:extLst>
                <a:ext uri="{FF2B5EF4-FFF2-40B4-BE49-F238E27FC236}">
                  <a16:creationId xmlns:a16="http://schemas.microsoft.com/office/drawing/2014/main" id="{698BED07-104A-7949-8842-97B0D884B5B4}"/>
                </a:ext>
              </a:extLst>
            </p:cNvPr>
            <p:cNvSpPr>
              <a:spLocks/>
            </p:cNvSpPr>
            <p:nvPr/>
          </p:nvSpPr>
          <p:spPr bwMode="auto">
            <a:xfrm>
              <a:off x="4151" y="3641"/>
              <a:ext cx="419" cy="249"/>
            </a:xfrm>
            <a:custGeom>
              <a:avLst/>
              <a:gdLst>
                <a:gd name="T0" fmla="*/ 268 w 837"/>
                <a:gd name="T1" fmla="*/ 0 h 498"/>
                <a:gd name="T2" fmla="*/ 239 w 837"/>
                <a:gd name="T3" fmla="*/ 10 h 498"/>
                <a:gd name="T4" fmla="*/ 216 w 837"/>
                <a:gd name="T5" fmla="*/ 20 h 498"/>
                <a:gd name="T6" fmla="*/ 198 w 837"/>
                <a:gd name="T7" fmla="*/ 28 h 498"/>
                <a:gd name="T8" fmla="*/ 183 w 837"/>
                <a:gd name="T9" fmla="*/ 37 h 498"/>
                <a:gd name="T10" fmla="*/ 169 w 837"/>
                <a:gd name="T11" fmla="*/ 47 h 498"/>
                <a:gd name="T12" fmla="*/ 155 w 837"/>
                <a:gd name="T13" fmla="*/ 62 h 498"/>
                <a:gd name="T14" fmla="*/ 140 w 837"/>
                <a:gd name="T15" fmla="*/ 80 h 498"/>
                <a:gd name="T16" fmla="*/ 122 w 837"/>
                <a:gd name="T17" fmla="*/ 104 h 498"/>
                <a:gd name="T18" fmla="*/ 114 w 837"/>
                <a:gd name="T19" fmla="*/ 98 h 498"/>
                <a:gd name="T20" fmla="*/ 106 w 837"/>
                <a:gd name="T21" fmla="*/ 92 h 498"/>
                <a:gd name="T22" fmla="*/ 98 w 837"/>
                <a:gd name="T23" fmla="*/ 85 h 498"/>
                <a:gd name="T24" fmla="*/ 90 w 837"/>
                <a:gd name="T25" fmla="*/ 79 h 498"/>
                <a:gd name="T26" fmla="*/ 82 w 837"/>
                <a:gd name="T27" fmla="*/ 73 h 498"/>
                <a:gd name="T28" fmla="*/ 74 w 837"/>
                <a:gd name="T29" fmla="*/ 67 h 498"/>
                <a:gd name="T30" fmla="*/ 66 w 837"/>
                <a:gd name="T31" fmla="*/ 60 h 498"/>
                <a:gd name="T32" fmla="*/ 58 w 837"/>
                <a:gd name="T33" fmla="*/ 54 h 498"/>
                <a:gd name="T34" fmla="*/ 53 w 837"/>
                <a:gd name="T35" fmla="*/ 57 h 498"/>
                <a:gd name="T36" fmla="*/ 47 w 837"/>
                <a:gd name="T37" fmla="*/ 62 h 498"/>
                <a:gd name="T38" fmla="*/ 38 w 837"/>
                <a:gd name="T39" fmla="*/ 68 h 498"/>
                <a:gd name="T40" fmla="*/ 29 w 837"/>
                <a:gd name="T41" fmla="*/ 74 h 498"/>
                <a:gd name="T42" fmla="*/ 19 w 837"/>
                <a:gd name="T43" fmla="*/ 80 h 498"/>
                <a:gd name="T44" fmla="*/ 11 w 837"/>
                <a:gd name="T45" fmla="*/ 85 h 498"/>
                <a:gd name="T46" fmla="*/ 4 w 837"/>
                <a:gd name="T47" fmla="*/ 90 h 498"/>
                <a:gd name="T48" fmla="*/ 0 w 837"/>
                <a:gd name="T49" fmla="*/ 95 h 498"/>
                <a:gd name="T50" fmla="*/ 20 w 837"/>
                <a:gd name="T51" fmla="*/ 114 h 498"/>
                <a:gd name="T52" fmla="*/ 43 w 837"/>
                <a:gd name="T53" fmla="*/ 136 h 498"/>
                <a:gd name="T54" fmla="*/ 66 w 837"/>
                <a:gd name="T55" fmla="*/ 157 h 498"/>
                <a:gd name="T56" fmla="*/ 90 w 837"/>
                <a:gd name="T57" fmla="*/ 179 h 498"/>
                <a:gd name="T58" fmla="*/ 114 w 837"/>
                <a:gd name="T59" fmla="*/ 199 h 498"/>
                <a:gd name="T60" fmla="*/ 139 w 837"/>
                <a:gd name="T61" fmla="*/ 218 h 498"/>
                <a:gd name="T62" fmla="*/ 162 w 837"/>
                <a:gd name="T63" fmla="*/ 233 h 498"/>
                <a:gd name="T64" fmla="*/ 186 w 837"/>
                <a:gd name="T65" fmla="*/ 246 h 498"/>
                <a:gd name="T66" fmla="*/ 204 w 837"/>
                <a:gd name="T67" fmla="*/ 249 h 498"/>
                <a:gd name="T68" fmla="*/ 219 w 837"/>
                <a:gd name="T69" fmla="*/ 248 h 498"/>
                <a:gd name="T70" fmla="*/ 230 w 837"/>
                <a:gd name="T71" fmla="*/ 241 h 498"/>
                <a:gd name="T72" fmla="*/ 239 w 837"/>
                <a:gd name="T73" fmla="*/ 231 h 498"/>
                <a:gd name="T74" fmla="*/ 243 w 837"/>
                <a:gd name="T75" fmla="*/ 216 h 498"/>
                <a:gd name="T76" fmla="*/ 245 w 837"/>
                <a:gd name="T77" fmla="*/ 199 h 498"/>
                <a:gd name="T78" fmla="*/ 242 w 837"/>
                <a:gd name="T79" fmla="*/ 178 h 498"/>
                <a:gd name="T80" fmla="*/ 236 w 837"/>
                <a:gd name="T81" fmla="*/ 154 h 498"/>
                <a:gd name="T82" fmla="*/ 258 w 837"/>
                <a:gd name="T83" fmla="*/ 123 h 498"/>
                <a:gd name="T84" fmla="*/ 279 w 837"/>
                <a:gd name="T85" fmla="*/ 106 h 498"/>
                <a:gd name="T86" fmla="*/ 298 w 837"/>
                <a:gd name="T87" fmla="*/ 97 h 498"/>
                <a:gd name="T88" fmla="*/ 317 w 837"/>
                <a:gd name="T89" fmla="*/ 97 h 498"/>
                <a:gd name="T90" fmla="*/ 337 w 837"/>
                <a:gd name="T91" fmla="*/ 101 h 498"/>
                <a:gd name="T92" fmla="*/ 361 w 837"/>
                <a:gd name="T93" fmla="*/ 107 h 498"/>
                <a:gd name="T94" fmla="*/ 387 w 837"/>
                <a:gd name="T95" fmla="*/ 113 h 498"/>
                <a:gd name="T96" fmla="*/ 419 w 837"/>
                <a:gd name="T97" fmla="*/ 116 h 498"/>
                <a:gd name="T98" fmla="*/ 400 w 837"/>
                <a:gd name="T99" fmla="*/ 102 h 498"/>
                <a:gd name="T100" fmla="*/ 382 w 837"/>
                <a:gd name="T101" fmla="*/ 87 h 498"/>
                <a:gd name="T102" fmla="*/ 362 w 837"/>
                <a:gd name="T103" fmla="*/ 72 h 498"/>
                <a:gd name="T104" fmla="*/ 344 w 837"/>
                <a:gd name="T105" fmla="*/ 57 h 498"/>
                <a:gd name="T106" fmla="*/ 324 w 837"/>
                <a:gd name="T107" fmla="*/ 42 h 498"/>
                <a:gd name="T108" fmla="*/ 305 w 837"/>
                <a:gd name="T109" fmla="*/ 27 h 498"/>
                <a:gd name="T110" fmla="*/ 285 w 837"/>
                <a:gd name="T111" fmla="*/ 13 h 498"/>
                <a:gd name="T112" fmla="*/ 268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1" name="Freeform 11">
              <a:extLst>
                <a:ext uri="{FF2B5EF4-FFF2-40B4-BE49-F238E27FC236}">
                  <a16:creationId xmlns:a16="http://schemas.microsoft.com/office/drawing/2014/main" id="{48CCEBC7-58A1-EE45-BE2C-7767B6A185D4}"/>
                </a:ext>
              </a:extLst>
            </p:cNvPr>
            <p:cNvSpPr>
              <a:spLocks/>
            </p:cNvSpPr>
            <p:nvPr/>
          </p:nvSpPr>
          <p:spPr bwMode="auto">
            <a:xfrm>
              <a:off x="4151" y="3644"/>
              <a:ext cx="419" cy="245"/>
            </a:xfrm>
            <a:custGeom>
              <a:avLst/>
              <a:gdLst>
                <a:gd name="T0" fmla="*/ 273 w 837"/>
                <a:gd name="T1" fmla="*/ 0 h 489"/>
                <a:gd name="T2" fmla="*/ 244 w 837"/>
                <a:gd name="T3" fmla="*/ 11 h 489"/>
                <a:gd name="T4" fmla="*/ 221 w 837"/>
                <a:gd name="T5" fmla="*/ 20 h 489"/>
                <a:gd name="T6" fmla="*/ 202 w 837"/>
                <a:gd name="T7" fmla="*/ 29 h 489"/>
                <a:gd name="T8" fmla="*/ 186 w 837"/>
                <a:gd name="T9" fmla="*/ 39 h 489"/>
                <a:gd name="T10" fmla="*/ 172 w 837"/>
                <a:gd name="T11" fmla="*/ 51 h 489"/>
                <a:gd name="T12" fmla="*/ 158 w 837"/>
                <a:gd name="T13" fmla="*/ 65 h 489"/>
                <a:gd name="T14" fmla="*/ 142 w 837"/>
                <a:gd name="T15" fmla="*/ 84 h 489"/>
                <a:gd name="T16" fmla="*/ 125 w 837"/>
                <a:gd name="T17" fmla="*/ 108 h 489"/>
                <a:gd name="T18" fmla="*/ 116 w 837"/>
                <a:gd name="T19" fmla="*/ 101 h 489"/>
                <a:gd name="T20" fmla="*/ 107 w 837"/>
                <a:gd name="T21" fmla="*/ 95 h 489"/>
                <a:gd name="T22" fmla="*/ 98 w 837"/>
                <a:gd name="T23" fmla="*/ 88 h 489"/>
                <a:gd name="T24" fmla="*/ 89 w 837"/>
                <a:gd name="T25" fmla="*/ 82 h 489"/>
                <a:gd name="T26" fmla="*/ 80 w 837"/>
                <a:gd name="T27" fmla="*/ 74 h 489"/>
                <a:gd name="T28" fmla="*/ 71 w 837"/>
                <a:gd name="T29" fmla="*/ 68 h 489"/>
                <a:gd name="T30" fmla="*/ 62 w 837"/>
                <a:gd name="T31" fmla="*/ 61 h 489"/>
                <a:gd name="T32" fmla="*/ 54 w 837"/>
                <a:gd name="T33" fmla="*/ 56 h 489"/>
                <a:gd name="T34" fmla="*/ 50 w 837"/>
                <a:gd name="T35" fmla="*/ 59 h 489"/>
                <a:gd name="T36" fmla="*/ 43 w 837"/>
                <a:gd name="T37" fmla="*/ 63 h 489"/>
                <a:gd name="T38" fmla="*/ 35 w 837"/>
                <a:gd name="T39" fmla="*/ 67 h 489"/>
                <a:gd name="T40" fmla="*/ 27 w 837"/>
                <a:gd name="T41" fmla="*/ 73 h 489"/>
                <a:gd name="T42" fmla="*/ 18 w 837"/>
                <a:gd name="T43" fmla="*/ 78 h 489"/>
                <a:gd name="T44" fmla="*/ 10 w 837"/>
                <a:gd name="T45" fmla="*/ 83 h 489"/>
                <a:gd name="T46" fmla="*/ 4 w 837"/>
                <a:gd name="T47" fmla="*/ 87 h 489"/>
                <a:gd name="T48" fmla="*/ 0 w 837"/>
                <a:gd name="T49" fmla="*/ 92 h 489"/>
                <a:gd name="T50" fmla="*/ 20 w 837"/>
                <a:gd name="T51" fmla="*/ 111 h 489"/>
                <a:gd name="T52" fmla="*/ 43 w 837"/>
                <a:gd name="T53" fmla="*/ 133 h 489"/>
                <a:gd name="T54" fmla="*/ 66 w 837"/>
                <a:gd name="T55" fmla="*/ 154 h 489"/>
                <a:gd name="T56" fmla="*/ 90 w 837"/>
                <a:gd name="T57" fmla="*/ 175 h 489"/>
                <a:gd name="T58" fmla="*/ 114 w 837"/>
                <a:gd name="T59" fmla="*/ 195 h 489"/>
                <a:gd name="T60" fmla="*/ 139 w 837"/>
                <a:gd name="T61" fmla="*/ 214 h 489"/>
                <a:gd name="T62" fmla="*/ 162 w 837"/>
                <a:gd name="T63" fmla="*/ 229 h 489"/>
                <a:gd name="T64" fmla="*/ 186 w 837"/>
                <a:gd name="T65" fmla="*/ 242 h 489"/>
                <a:gd name="T66" fmla="*/ 203 w 837"/>
                <a:gd name="T67" fmla="*/ 245 h 489"/>
                <a:gd name="T68" fmla="*/ 218 w 837"/>
                <a:gd name="T69" fmla="*/ 244 h 489"/>
                <a:gd name="T70" fmla="*/ 230 w 837"/>
                <a:gd name="T71" fmla="*/ 237 h 489"/>
                <a:gd name="T72" fmla="*/ 238 w 837"/>
                <a:gd name="T73" fmla="*/ 227 h 489"/>
                <a:gd name="T74" fmla="*/ 243 w 837"/>
                <a:gd name="T75" fmla="*/ 213 h 489"/>
                <a:gd name="T76" fmla="*/ 244 w 837"/>
                <a:gd name="T77" fmla="*/ 196 h 489"/>
                <a:gd name="T78" fmla="*/ 241 w 837"/>
                <a:gd name="T79" fmla="*/ 175 h 489"/>
                <a:gd name="T80" fmla="*/ 236 w 837"/>
                <a:gd name="T81" fmla="*/ 151 h 489"/>
                <a:gd name="T82" fmla="*/ 258 w 837"/>
                <a:gd name="T83" fmla="*/ 120 h 489"/>
                <a:gd name="T84" fmla="*/ 279 w 837"/>
                <a:gd name="T85" fmla="*/ 103 h 489"/>
                <a:gd name="T86" fmla="*/ 298 w 837"/>
                <a:gd name="T87" fmla="*/ 94 h 489"/>
                <a:gd name="T88" fmla="*/ 317 w 837"/>
                <a:gd name="T89" fmla="*/ 94 h 489"/>
                <a:gd name="T90" fmla="*/ 337 w 837"/>
                <a:gd name="T91" fmla="*/ 98 h 489"/>
                <a:gd name="T92" fmla="*/ 361 w 837"/>
                <a:gd name="T93" fmla="*/ 104 h 489"/>
                <a:gd name="T94" fmla="*/ 387 w 837"/>
                <a:gd name="T95" fmla="*/ 110 h 489"/>
                <a:gd name="T96" fmla="*/ 419 w 837"/>
                <a:gd name="T97" fmla="*/ 113 h 489"/>
                <a:gd name="T98" fmla="*/ 401 w 837"/>
                <a:gd name="T99" fmla="*/ 99 h 489"/>
                <a:gd name="T100" fmla="*/ 383 w 837"/>
                <a:gd name="T101" fmla="*/ 85 h 489"/>
                <a:gd name="T102" fmla="*/ 364 w 837"/>
                <a:gd name="T103" fmla="*/ 71 h 489"/>
                <a:gd name="T104" fmla="*/ 346 w 837"/>
                <a:gd name="T105" fmla="*/ 56 h 489"/>
                <a:gd name="T106" fmla="*/ 327 w 837"/>
                <a:gd name="T107" fmla="*/ 41 h 489"/>
                <a:gd name="T108" fmla="*/ 309 w 837"/>
                <a:gd name="T109" fmla="*/ 27 h 489"/>
                <a:gd name="T110" fmla="*/ 290 w 837"/>
                <a:gd name="T111" fmla="*/ 13 h 489"/>
                <a:gd name="T112" fmla="*/ 273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2" name="Freeform 12">
              <a:extLst>
                <a:ext uri="{FF2B5EF4-FFF2-40B4-BE49-F238E27FC236}">
                  <a16:creationId xmlns:a16="http://schemas.microsoft.com/office/drawing/2014/main" id="{99A4F630-0399-DD47-A209-653FAF68A891}"/>
                </a:ext>
              </a:extLst>
            </p:cNvPr>
            <p:cNvSpPr>
              <a:spLocks/>
            </p:cNvSpPr>
            <p:nvPr/>
          </p:nvSpPr>
          <p:spPr bwMode="auto">
            <a:xfrm>
              <a:off x="4151" y="3648"/>
              <a:ext cx="419" cy="239"/>
            </a:xfrm>
            <a:custGeom>
              <a:avLst/>
              <a:gdLst>
                <a:gd name="T0" fmla="*/ 277 w 837"/>
                <a:gd name="T1" fmla="*/ 0 h 479"/>
                <a:gd name="T2" fmla="*/ 248 w 837"/>
                <a:gd name="T3" fmla="*/ 10 h 479"/>
                <a:gd name="T4" fmla="*/ 225 w 837"/>
                <a:gd name="T5" fmla="*/ 20 h 479"/>
                <a:gd name="T6" fmla="*/ 206 w 837"/>
                <a:gd name="T7" fmla="*/ 29 h 479"/>
                <a:gd name="T8" fmla="*/ 191 w 837"/>
                <a:gd name="T9" fmla="*/ 40 h 479"/>
                <a:gd name="T10" fmla="*/ 175 w 837"/>
                <a:gd name="T11" fmla="*/ 52 h 479"/>
                <a:gd name="T12" fmla="*/ 161 w 837"/>
                <a:gd name="T13" fmla="*/ 67 h 479"/>
                <a:gd name="T14" fmla="*/ 145 w 837"/>
                <a:gd name="T15" fmla="*/ 86 h 479"/>
                <a:gd name="T16" fmla="*/ 127 w 837"/>
                <a:gd name="T17" fmla="*/ 111 h 479"/>
                <a:gd name="T18" fmla="*/ 118 w 837"/>
                <a:gd name="T19" fmla="*/ 104 h 479"/>
                <a:gd name="T20" fmla="*/ 109 w 837"/>
                <a:gd name="T21" fmla="*/ 97 h 479"/>
                <a:gd name="T22" fmla="*/ 98 w 837"/>
                <a:gd name="T23" fmla="*/ 89 h 479"/>
                <a:gd name="T24" fmla="*/ 88 w 837"/>
                <a:gd name="T25" fmla="*/ 82 h 479"/>
                <a:gd name="T26" fmla="*/ 78 w 837"/>
                <a:gd name="T27" fmla="*/ 75 h 479"/>
                <a:gd name="T28" fmla="*/ 68 w 837"/>
                <a:gd name="T29" fmla="*/ 68 h 479"/>
                <a:gd name="T30" fmla="*/ 58 w 837"/>
                <a:gd name="T31" fmla="*/ 60 h 479"/>
                <a:gd name="T32" fmla="*/ 50 w 837"/>
                <a:gd name="T33" fmla="*/ 55 h 479"/>
                <a:gd name="T34" fmla="*/ 45 w 837"/>
                <a:gd name="T35" fmla="*/ 58 h 479"/>
                <a:gd name="T36" fmla="*/ 40 w 837"/>
                <a:gd name="T37" fmla="*/ 62 h 479"/>
                <a:gd name="T38" fmla="*/ 32 w 837"/>
                <a:gd name="T39" fmla="*/ 66 h 479"/>
                <a:gd name="T40" fmla="*/ 25 w 837"/>
                <a:gd name="T41" fmla="*/ 71 h 479"/>
                <a:gd name="T42" fmla="*/ 16 w 837"/>
                <a:gd name="T43" fmla="*/ 75 h 479"/>
                <a:gd name="T44" fmla="*/ 9 w 837"/>
                <a:gd name="T45" fmla="*/ 79 h 479"/>
                <a:gd name="T46" fmla="*/ 4 w 837"/>
                <a:gd name="T47" fmla="*/ 83 h 479"/>
                <a:gd name="T48" fmla="*/ 0 w 837"/>
                <a:gd name="T49" fmla="*/ 87 h 479"/>
                <a:gd name="T50" fmla="*/ 20 w 837"/>
                <a:gd name="T51" fmla="*/ 107 h 479"/>
                <a:gd name="T52" fmla="*/ 43 w 837"/>
                <a:gd name="T53" fmla="*/ 127 h 479"/>
                <a:gd name="T54" fmla="*/ 66 w 837"/>
                <a:gd name="T55" fmla="*/ 149 h 479"/>
                <a:gd name="T56" fmla="*/ 90 w 837"/>
                <a:gd name="T57" fmla="*/ 170 h 479"/>
                <a:gd name="T58" fmla="*/ 114 w 837"/>
                <a:gd name="T59" fmla="*/ 190 h 479"/>
                <a:gd name="T60" fmla="*/ 139 w 837"/>
                <a:gd name="T61" fmla="*/ 208 h 479"/>
                <a:gd name="T62" fmla="*/ 162 w 837"/>
                <a:gd name="T63" fmla="*/ 224 h 479"/>
                <a:gd name="T64" fmla="*/ 187 w 837"/>
                <a:gd name="T65" fmla="*/ 237 h 479"/>
                <a:gd name="T66" fmla="*/ 203 w 837"/>
                <a:gd name="T67" fmla="*/ 239 h 479"/>
                <a:gd name="T68" fmla="*/ 218 w 837"/>
                <a:gd name="T69" fmla="*/ 238 h 479"/>
                <a:gd name="T70" fmla="*/ 228 w 837"/>
                <a:gd name="T71" fmla="*/ 231 h 479"/>
                <a:gd name="T72" fmla="*/ 238 w 837"/>
                <a:gd name="T73" fmla="*/ 222 h 479"/>
                <a:gd name="T74" fmla="*/ 242 w 837"/>
                <a:gd name="T75" fmla="*/ 208 h 479"/>
                <a:gd name="T76" fmla="*/ 244 w 837"/>
                <a:gd name="T77" fmla="*/ 191 h 479"/>
                <a:gd name="T78" fmla="*/ 241 w 837"/>
                <a:gd name="T79" fmla="*/ 170 h 479"/>
                <a:gd name="T80" fmla="*/ 236 w 837"/>
                <a:gd name="T81" fmla="*/ 147 h 479"/>
                <a:gd name="T82" fmla="*/ 258 w 837"/>
                <a:gd name="T83" fmla="*/ 116 h 479"/>
                <a:gd name="T84" fmla="*/ 279 w 837"/>
                <a:gd name="T85" fmla="*/ 98 h 479"/>
                <a:gd name="T86" fmla="*/ 298 w 837"/>
                <a:gd name="T87" fmla="*/ 90 h 479"/>
                <a:gd name="T88" fmla="*/ 317 w 837"/>
                <a:gd name="T89" fmla="*/ 90 h 479"/>
                <a:gd name="T90" fmla="*/ 337 w 837"/>
                <a:gd name="T91" fmla="*/ 94 h 479"/>
                <a:gd name="T92" fmla="*/ 361 w 837"/>
                <a:gd name="T93" fmla="*/ 100 h 479"/>
                <a:gd name="T94" fmla="*/ 387 w 837"/>
                <a:gd name="T95" fmla="*/ 106 h 479"/>
                <a:gd name="T96" fmla="*/ 419 w 837"/>
                <a:gd name="T97" fmla="*/ 108 h 479"/>
                <a:gd name="T98" fmla="*/ 401 w 837"/>
                <a:gd name="T99" fmla="*/ 94 h 479"/>
                <a:gd name="T100" fmla="*/ 383 w 837"/>
                <a:gd name="T101" fmla="*/ 81 h 479"/>
                <a:gd name="T102" fmla="*/ 366 w 837"/>
                <a:gd name="T103" fmla="*/ 67 h 479"/>
                <a:gd name="T104" fmla="*/ 348 w 837"/>
                <a:gd name="T105" fmla="*/ 54 h 479"/>
                <a:gd name="T106" fmla="*/ 330 w 837"/>
                <a:gd name="T107" fmla="*/ 39 h 479"/>
                <a:gd name="T108" fmla="*/ 312 w 837"/>
                <a:gd name="T109" fmla="*/ 25 h 479"/>
                <a:gd name="T110" fmla="*/ 294 w 837"/>
                <a:gd name="T111" fmla="*/ 12 h 479"/>
                <a:gd name="T112" fmla="*/ 277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3" name="Freeform 13">
              <a:extLst>
                <a:ext uri="{FF2B5EF4-FFF2-40B4-BE49-F238E27FC236}">
                  <a16:creationId xmlns:a16="http://schemas.microsoft.com/office/drawing/2014/main" id="{EACAA3C4-FC28-DF4B-8C15-37E9CFC2B1D7}"/>
                </a:ext>
              </a:extLst>
            </p:cNvPr>
            <p:cNvSpPr>
              <a:spLocks/>
            </p:cNvSpPr>
            <p:nvPr/>
          </p:nvSpPr>
          <p:spPr bwMode="auto">
            <a:xfrm>
              <a:off x="4151" y="3651"/>
              <a:ext cx="419" cy="235"/>
            </a:xfrm>
            <a:custGeom>
              <a:avLst/>
              <a:gdLst>
                <a:gd name="T0" fmla="*/ 283 w 837"/>
                <a:gd name="T1" fmla="*/ 0 h 470"/>
                <a:gd name="T2" fmla="*/ 253 w 837"/>
                <a:gd name="T3" fmla="*/ 11 h 470"/>
                <a:gd name="T4" fmla="*/ 230 w 837"/>
                <a:gd name="T5" fmla="*/ 22 h 470"/>
                <a:gd name="T6" fmla="*/ 210 w 837"/>
                <a:gd name="T7" fmla="*/ 30 h 470"/>
                <a:gd name="T8" fmla="*/ 194 w 837"/>
                <a:gd name="T9" fmla="*/ 42 h 470"/>
                <a:gd name="T10" fmla="*/ 178 w 837"/>
                <a:gd name="T11" fmla="*/ 55 h 470"/>
                <a:gd name="T12" fmla="*/ 164 w 837"/>
                <a:gd name="T13" fmla="*/ 70 h 470"/>
                <a:gd name="T14" fmla="*/ 147 w 837"/>
                <a:gd name="T15" fmla="*/ 90 h 470"/>
                <a:gd name="T16" fmla="*/ 130 w 837"/>
                <a:gd name="T17" fmla="*/ 115 h 470"/>
                <a:gd name="T18" fmla="*/ 120 w 837"/>
                <a:gd name="T19" fmla="*/ 107 h 470"/>
                <a:gd name="T20" fmla="*/ 110 w 837"/>
                <a:gd name="T21" fmla="*/ 101 h 470"/>
                <a:gd name="T22" fmla="*/ 98 w 837"/>
                <a:gd name="T23" fmla="*/ 93 h 470"/>
                <a:gd name="T24" fmla="*/ 87 w 837"/>
                <a:gd name="T25" fmla="*/ 86 h 470"/>
                <a:gd name="T26" fmla="*/ 75 w 837"/>
                <a:gd name="T27" fmla="*/ 77 h 470"/>
                <a:gd name="T28" fmla="*/ 64 w 837"/>
                <a:gd name="T29" fmla="*/ 70 h 470"/>
                <a:gd name="T30" fmla="*/ 53 w 837"/>
                <a:gd name="T31" fmla="*/ 62 h 470"/>
                <a:gd name="T32" fmla="*/ 45 w 837"/>
                <a:gd name="T33" fmla="*/ 57 h 470"/>
                <a:gd name="T34" fmla="*/ 41 w 837"/>
                <a:gd name="T35" fmla="*/ 59 h 470"/>
                <a:gd name="T36" fmla="*/ 36 w 837"/>
                <a:gd name="T37" fmla="*/ 63 h 470"/>
                <a:gd name="T38" fmla="*/ 29 w 837"/>
                <a:gd name="T39" fmla="*/ 67 h 470"/>
                <a:gd name="T40" fmla="*/ 23 w 837"/>
                <a:gd name="T41" fmla="*/ 70 h 470"/>
                <a:gd name="T42" fmla="*/ 15 w 837"/>
                <a:gd name="T43" fmla="*/ 74 h 470"/>
                <a:gd name="T44" fmla="*/ 9 w 837"/>
                <a:gd name="T45" fmla="*/ 77 h 470"/>
                <a:gd name="T46" fmla="*/ 3 w 837"/>
                <a:gd name="T47" fmla="*/ 81 h 470"/>
                <a:gd name="T48" fmla="*/ 0 w 837"/>
                <a:gd name="T49" fmla="*/ 85 h 470"/>
                <a:gd name="T50" fmla="*/ 20 w 837"/>
                <a:gd name="T51" fmla="*/ 104 h 470"/>
                <a:gd name="T52" fmla="*/ 43 w 837"/>
                <a:gd name="T53" fmla="*/ 124 h 470"/>
                <a:gd name="T54" fmla="*/ 66 w 837"/>
                <a:gd name="T55" fmla="*/ 146 h 470"/>
                <a:gd name="T56" fmla="*/ 90 w 837"/>
                <a:gd name="T57" fmla="*/ 168 h 470"/>
                <a:gd name="T58" fmla="*/ 114 w 837"/>
                <a:gd name="T59" fmla="*/ 187 h 470"/>
                <a:gd name="T60" fmla="*/ 139 w 837"/>
                <a:gd name="T61" fmla="*/ 205 h 470"/>
                <a:gd name="T62" fmla="*/ 162 w 837"/>
                <a:gd name="T63" fmla="*/ 220 h 470"/>
                <a:gd name="T64" fmla="*/ 187 w 837"/>
                <a:gd name="T65" fmla="*/ 233 h 470"/>
                <a:gd name="T66" fmla="*/ 203 w 837"/>
                <a:gd name="T67" fmla="*/ 235 h 470"/>
                <a:gd name="T68" fmla="*/ 216 w 837"/>
                <a:gd name="T69" fmla="*/ 234 h 470"/>
                <a:gd name="T70" fmla="*/ 227 w 837"/>
                <a:gd name="T71" fmla="*/ 228 h 470"/>
                <a:gd name="T72" fmla="*/ 236 w 837"/>
                <a:gd name="T73" fmla="*/ 220 h 470"/>
                <a:gd name="T74" fmla="*/ 241 w 837"/>
                <a:gd name="T75" fmla="*/ 206 h 470"/>
                <a:gd name="T76" fmla="*/ 243 w 837"/>
                <a:gd name="T77" fmla="*/ 189 h 470"/>
                <a:gd name="T78" fmla="*/ 241 w 837"/>
                <a:gd name="T79" fmla="*/ 168 h 470"/>
                <a:gd name="T80" fmla="*/ 236 w 837"/>
                <a:gd name="T81" fmla="*/ 144 h 470"/>
                <a:gd name="T82" fmla="*/ 258 w 837"/>
                <a:gd name="T83" fmla="*/ 113 h 470"/>
                <a:gd name="T84" fmla="*/ 279 w 837"/>
                <a:gd name="T85" fmla="*/ 96 h 470"/>
                <a:gd name="T86" fmla="*/ 298 w 837"/>
                <a:gd name="T87" fmla="*/ 87 h 470"/>
                <a:gd name="T88" fmla="*/ 317 w 837"/>
                <a:gd name="T89" fmla="*/ 87 h 470"/>
                <a:gd name="T90" fmla="*/ 337 w 837"/>
                <a:gd name="T91" fmla="*/ 91 h 470"/>
                <a:gd name="T92" fmla="*/ 361 w 837"/>
                <a:gd name="T93" fmla="*/ 97 h 470"/>
                <a:gd name="T94" fmla="*/ 387 w 837"/>
                <a:gd name="T95" fmla="*/ 103 h 470"/>
                <a:gd name="T96" fmla="*/ 419 w 837"/>
                <a:gd name="T97" fmla="*/ 106 h 470"/>
                <a:gd name="T98" fmla="*/ 401 w 837"/>
                <a:gd name="T99" fmla="*/ 92 h 470"/>
                <a:gd name="T100" fmla="*/ 384 w 837"/>
                <a:gd name="T101" fmla="*/ 79 h 470"/>
                <a:gd name="T102" fmla="*/ 367 w 837"/>
                <a:gd name="T103" fmla="*/ 66 h 470"/>
                <a:gd name="T104" fmla="*/ 351 w 837"/>
                <a:gd name="T105" fmla="*/ 53 h 470"/>
                <a:gd name="T106" fmla="*/ 334 w 837"/>
                <a:gd name="T107" fmla="*/ 39 h 470"/>
                <a:gd name="T108" fmla="*/ 317 w 837"/>
                <a:gd name="T109" fmla="*/ 26 h 470"/>
                <a:gd name="T110" fmla="*/ 300 w 837"/>
                <a:gd name="T111" fmla="*/ 13 h 470"/>
                <a:gd name="T112" fmla="*/ 283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4" name="Freeform 14">
              <a:extLst>
                <a:ext uri="{FF2B5EF4-FFF2-40B4-BE49-F238E27FC236}">
                  <a16:creationId xmlns:a16="http://schemas.microsoft.com/office/drawing/2014/main" id="{DF1CD128-B252-F848-92C7-BCC7A9C80680}"/>
                </a:ext>
              </a:extLst>
            </p:cNvPr>
            <p:cNvSpPr>
              <a:spLocks/>
            </p:cNvSpPr>
            <p:nvPr/>
          </p:nvSpPr>
          <p:spPr bwMode="auto">
            <a:xfrm>
              <a:off x="4151" y="3655"/>
              <a:ext cx="419" cy="230"/>
            </a:xfrm>
            <a:custGeom>
              <a:avLst/>
              <a:gdLst>
                <a:gd name="T0" fmla="*/ 287 w 837"/>
                <a:gd name="T1" fmla="*/ 0 h 460"/>
                <a:gd name="T2" fmla="*/ 257 w 837"/>
                <a:gd name="T3" fmla="*/ 11 h 460"/>
                <a:gd name="T4" fmla="*/ 234 w 837"/>
                <a:gd name="T5" fmla="*/ 21 h 460"/>
                <a:gd name="T6" fmla="*/ 214 w 837"/>
                <a:gd name="T7" fmla="*/ 30 h 460"/>
                <a:gd name="T8" fmla="*/ 198 w 837"/>
                <a:gd name="T9" fmla="*/ 43 h 460"/>
                <a:gd name="T10" fmla="*/ 181 w 837"/>
                <a:gd name="T11" fmla="*/ 56 h 460"/>
                <a:gd name="T12" fmla="*/ 166 w 837"/>
                <a:gd name="T13" fmla="*/ 72 h 460"/>
                <a:gd name="T14" fmla="*/ 150 w 837"/>
                <a:gd name="T15" fmla="*/ 92 h 460"/>
                <a:gd name="T16" fmla="*/ 132 w 837"/>
                <a:gd name="T17" fmla="*/ 117 h 460"/>
                <a:gd name="T18" fmla="*/ 122 w 837"/>
                <a:gd name="T19" fmla="*/ 110 h 460"/>
                <a:gd name="T20" fmla="*/ 111 w 837"/>
                <a:gd name="T21" fmla="*/ 102 h 460"/>
                <a:gd name="T22" fmla="*/ 98 w 837"/>
                <a:gd name="T23" fmla="*/ 94 h 460"/>
                <a:gd name="T24" fmla="*/ 87 w 837"/>
                <a:gd name="T25" fmla="*/ 87 h 460"/>
                <a:gd name="T26" fmla="*/ 73 w 837"/>
                <a:gd name="T27" fmla="*/ 78 h 460"/>
                <a:gd name="T28" fmla="*/ 61 w 837"/>
                <a:gd name="T29" fmla="*/ 70 h 460"/>
                <a:gd name="T30" fmla="*/ 50 w 837"/>
                <a:gd name="T31" fmla="*/ 62 h 460"/>
                <a:gd name="T32" fmla="*/ 41 w 837"/>
                <a:gd name="T33" fmla="*/ 56 h 460"/>
                <a:gd name="T34" fmla="*/ 37 w 837"/>
                <a:gd name="T35" fmla="*/ 58 h 460"/>
                <a:gd name="T36" fmla="*/ 32 w 837"/>
                <a:gd name="T37" fmla="*/ 61 h 460"/>
                <a:gd name="T38" fmla="*/ 26 w 837"/>
                <a:gd name="T39" fmla="*/ 65 h 460"/>
                <a:gd name="T40" fmla="*/ 20 w 837"/>
                <a:gd name="T41" fmla="*/ 68 h 460"/>
                <a:gd name="T42" fmla="*/ 14 w 837"/>
                <a:gd name="T43" fmla="*/ 70 h 460"/>
                <a:gd name="T44" fmla="*/ 8 w 837"/>
                <a:gd name="T45" fmla="*/ 73 h 460"/>
                <a:gd name="T46" fmla="*/ 3 w 837"/>
                <a:gd name="T47" fmla="*/ 77 h 460"/>
                <a:gd name="T48" fmla="*/ 0 w 837"/>
                <a:gd name="T49" fmla="*/ 80 h 460"/>
                <a:gd name="T50" fmla="*/ 20 w 837"/>
                <a:gd name="T51" fmla="*/ 100 h 460"/>
                <a:gd name="T52" fmla="*/ 43 w 837"/>
                <a:gd name="T53" fmla="*/ 120 h 460"/>
                <a:gd name="T54" fmla="*/ 66 w 837"/>
                <a:gd name="T55" fmla="*/ 141 h 460"/>
                <a:gd name="T56" fmla="*/ 90 w 837"/>
                <a:gd name="T57" fmla="*/ 162 h 460"/>
                <a:gd name="T58" fmla="*/ 114 w 837"/>
                <a:gd name="T59" fmla="*/ 182 h 460"/>
                <a:gd name="T60" fmla="*/ 139 w 837"/>
                <a:gd name="T61" fmla="*/ 199 h 460"/>
                <a:gd name="T62" fmla="*/ 162 w 837"/>
                <a:gd name="T63" fmla="*/ 215 h 460"/>
                <a:gd name="T64" fmla="*/ 187 w 837"/>
                <a:gd name="T65" fmla="*/ 228 h 460"/>
                <a:gd name="T66" fmla="*/ 202 w 837"/>
                <a:gd name="T67" fmla="*/ 230 h 460"/>
                <a:gd name="T68" fmla="*/ 216 w 837"/>
                <a:gd name="T69" fmla="*/ 229 h 460"/>
                <a:gd name="T70" fmla="*/ 226 w 837"/>
                <a:gd name="T71" fmla="*/ 224 h 460"/>
                <a:gd name="T72" fmla="*/ 235 w 837"/>
                <a:gd name="T73" fmla="*/ 215 h 460"/>
                <a:gd name="T74" fmla="*/ 240 w 837"/>
                <a:gd name="T75" fmla="*/ 202 h 460"/>
                <a:gd name="T76" fmla="*/ 243 w 837"/>
                <a:gd name="T77" fmla="*/ 185 h 460"/>
                <a:gd name="T78" fmla="*/ 241 w 837"/>
                <a:gd name="T79" fmla="*/ 164 h 460"/>
                <a:gd name="T80" fmla="*/ 236 w 837"/>
                <a:gd name="T81" fmla="*/ 140 h 460"/>
                <a:gd name="T82" fmla="*/ 258 w 837"/>
                <a:gd name="T83" fmla="*/ 109 h 460"/>
                <a:gd name="T84" fmla="*/ 279 w 837"/>
                <a:gd name="T85" fmla="*/ 91 h 460"/>
                <a:gd name="T86" fmla="*/ 298 w 837"/>
                <a:gd name="T87" fmla="*/ 83 h 460"/>
                <a:gd name="T88" fmla="*/ 317 w 837"/>
                <a:gd name="T89" fmla="*/ 83 h 460"/>
                <a:gd name="T90" fmla="*/ 337 w 837"/>
                <a:gd name="T91" fmla="*/ 87 h 460"/>
                <a:gd name="T92" fmla="*/ 361 w 837"/>
                <a:gd name="T93" fmla="*/ 93 h 460"/>
                <a:gd name="T94" fmla="*/ 387 w 837"/>
                <a:gd name="T95" fmla="*/ 99 h 460"/>
                <a:gd name="T96" fmla="*/ 419 w 837"/>
                <a:gd name="T97" fmla="*/ 101 h 460"/>
                <a:gd name="T98" fmla="*/ 401 w 837"/>
                <a:gd name="T99" fmla="*/ 88 h 460"/>
                <a:gd name="T100" fmla="*/ 385 w 837"/>
                <a:gd name="T101" fmla="*/ 75 h 460"/>
                <a:gd name="T102" fmla="*/ 369 w 837"/>
                <a:gd name="T103" fmla="*/ 62 h 460"/>
                <a:gd name="T104" fmla="*/ 353 w 837"/>
                <a:gd name="T105" fmla="*/ 50 h 460"/>
                <a:gd name="T106" fmla="*/ 337 w 837"/>
                <a:gd name="T107" fmla="*/ 37 h 460"/>
                <a:gd name="T108" fmla="*/ 320 w 837"/>
                <a:gd name="T109" fmla="*/ 25 h 460"/>
                <a:gd name="T110" fmla="*/ 304 w 837"/>
                <a:gd name="T111" fmla="*/ 12 h 460"/>
                <a:gd name="T112" fmla="*/ 287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5" name="Freeform 15">
              <a:extLst>
                <a:ext uri="{FF2B5EF4-FFF2-40B4-BE49-F238E27FC236}">
                  <a16:creationId xmlns:a16="http://schemas.microsoft.com/office/drawing/2014/main" id="{7FE32B32-7CA5-854A-A496-93E706C46F5F}"/>
                </a:ext>
              </a:extLst>
            </p:cNvPr>
            <p:cNvSpPr>
              <a:spLocks/>
            </p:cNvSpPr>
            <p:nvPr/>
          </p:nvSpPr>
          <p:spPr bwMode="auto">
            <a:xfrm>
              <a:off x="4151" y="3659"/>
              <a:ext cx="419" cy="225"/>
            </a:xfrm>
            <a:custGeom>
              <a:avLst/>
              <a:gdLst>
                <a:gd name="T0" fmla="*/ 292 w 837"/>
                <a:gd name="T1" fmla="*/ 0 h 450"/>
                <a:gd name="T2" fmla="*/ 263 w 837"/>
                <a:gd name="T3" fmla="*/ 11 h 450"/>
                <a:gd name="T4" fmla="*/ 239 w 837"/>
                <a:gd name="T5" fmla="*/ 22 h 450"/>
                <a:gd name="T6" fmla="*/ 218 w 837"/>
                <a:gd name="T7" fmla="*/ 31 h 450"/>
                <a:gd name="T8" fmla="*/ 201 w 837"/>
                <a:gd name="T9" fmla="*/ 44 h 450"/>
                <a:gd name="T10" fmla="*/ 184 w 837"/>
                <a:gd name="T11" fmla="*/ 58 h 450"/>
                <a:gd name="T12" fmla="*/ 169 w 837"/>
                <a:gd name="T13" fmla="*/ 75 h 450"/>
                <a:gd name="T14" fmla="*/ 152 w 837"/>
                <a:gd name="T15" fmla="*/ 95 h 450"/>
                <a:gd name="T16" fmla="*/ 134 w 837"/>
                <a:gd name="T17" fmla="*/ 120 h 450"/>
                <a:gd name="T18" fmla="*/ 124 w 837"/>
                <a:gd name="T19" fmla="*/ 113 h 450"/>
                <a:gd name="T20" fmla="*/ 113 w 837"/>
                <a:gd name="T21" fmla="*/ 105 h 450"/>
                <a:gd name="T22" fmla="*/ 99 w 837"/>
                <a:gd name="T23" fmla="*/ 96 h 450"/>
                <a:gd name="T24" fmla="*/ 85 w 837"/>
                <a:gd name="T25" fmla="*/ 88 h 450"/>
                <a:gd name="T26" fmla="*/ 71 w 837"/>
                <a:gd name="T27" fmla="*/ 79 h 450"/>
                <a:gd name="T28" fmla="*/ 58 w 837"/>
                <a:gd name="T29" fmla="*/ 71 h 450"/>
                <a:gd name="T30" fmla="*/ 46 w 837"/>
                <a:gd name="T31" fmla="*/ 63 h 450"/>
                <a:gd name="T32" fmla="*/ 37 w 837"/>
                <a:gd name="T33" fmla="*/ 56 h 450"/>
                <a:gd name="T34" fmla="*/ 33 w 837"/>
                <a:gd name="T35" fmla="*/ 59 h 450"/>
                <a:gd name="T36" fmla="*/ 28 w 837"/>
                <a:gd name="T37" fmla="*/ 61 h 450"/>
                <a:gd name="T38" fmla="*/ 23 w 837"/>
                <a:gd name="T39" fmla="*/ 63 h 450"/>
                <a:gd name="T40" fmla="*/ 18 w 837"/>
                <a:gd name="T41" fmla="*/ 66 h 450"/>
                <a:gd name="T42" fmla="*/ 13 w 837"/>
                <a:gd name="T43" fmla="*/ 68 h 450"/>
                <a:gd name="T44" fmla="*/ 8 w 837"/>
                <a:gd name="T45" fmla="*/ 71 h 450"/>
                <a:gd name="T46" fmla="*/ 3 w 837"/>
                <a:gd name="T47" fmla="*/ 73 h 450"/>
                <a:gd name="T48" fmla="*/ 0 w 837"/>
                <a:gd name="T49" fmla="*/ 77 h 450"/>
                <a:gd name="T50" fmla="*/ 20 w 837"/>
                <a:gd name="T51" fmla="*/ 96 h 450"/>
                <a:gd name="T52" fmla="*/ 43 w 837"/>
                <a:gd name="T53" fmla="*/ 116 h 450"/>
                <a:gd name="T54" fmla="*/ 66 w 837"/>
                <a:gd name="T55" fmla="*/ 137 h 450"/>
                <a:gd name="T56" fmla="*/ 90 w 837"/>
                <a:gd name="T57" fmla="*/ 158 h 450"/>
                <a:gd name="T58" fmla="*/ 115 w 837"/>
                <a:gd name="T59" fmla="*/ 178 h 450"/>
                <a:gd name="T60" fmla="*/ 139 w 837"/>
                <a:gd name="T61" fmla="*/ 196 h 450"/>
                <a:gd name="T62" fmla="*/ 163 w 837"/>
                <a:gd name="T63" fmla="*/ 211 h 450"/>
                <a:gd name="T64" fmla="*/ 187 w 837"/>
                <a:gd name="T65" fmla="*/ 224 h 450"/>
                <a:gd name="T66" fmla="*/ 201 w 837"/>
                <a:gd name="T67" fmla="*/ 225 h 450"/>
                <a:gd name="T68" fmla="*/ 214 w 837"/>
                <a:gd name="T69" fmla="*/ 225 h 450"/>
                <a:gd name="T70" fmla="*/ 225 w 837"/>
                <a:gd name="T71" fmla="*/ 219 h 450"/>
                <a:gd name="T72" fmla="*/ 235 w 837"/>
                <a:gd name="T73" fmla="*/ 211 h 450"/>
                <a:gd name="T74" fmla="*/ 240 w 837"/>
                <a:gd name="T75" fmla="*/ 198 h 450"/>
                <a:gd name="T76" fmla="*/ 242 w 837"/>
                <a:gd name="T77" fmla="*/ 182 h 450"/>
                <a:gd name="T78" fmla="*/ 241 w 837"/>
                <a:gd name="T79" fmla="*/ 161 h 450"/>
                <a:gd name="T80" fmla="*/ 236 w 837"/>
                <a:gd name="T81" fmla="*/ 136 h 450"/>
                <a:gd name="T82" fmla="*/ 258 w 837"/>
                <a:gd name="T83" fmla="*/ 105 h 450"/>
                <a:gd name="T84" fmla="*/ 279 w 837"/>
                <a:gd name="T85" fmla="*/ 88 h 450"/>
                <a:gd name="T86" fmla="*/ 298 w 837"/>
                <a:gd name="T87" fmla="*/ 79 h 450"/>
                <a:gd name="T88" fmla="*/ 317 w 837"/>
                <a:gd name="T89" fmla="*/ 79 h 450"/>
                <a:gd name="T90" fmla="*/ 337 w 837"/>
                <a:gd name="T91" fmla="*/ 83 h 450"/>
                <a:gd name="T92" fmla="*/ 361 w 837"/>
                <a:gd name="T93" fmla="*/ 89 h 450"/>
                <a:gd name="T94" fmla="*/ 387 w 837"/>
                <a:gd name="T95" fmla="*/ 95 h 450"/>
                <a:gd name="T96" fmla="*/ 419 w 837"/>
                <a:gd name="T97" fmla="*/ 98 h 450"/>
                <a:gd name="T98" fmla="*/ 401 w 837"/>
                <a:gd name="T99" fmla="*/ 84 h 450"/>
                <a:gd name="T100" fmla="*/ 386 w 837"/>
                <a:gd name="T101" fmla="*/ 72 h 450"/>
                <a:gd name="T102" fmla="*/ 371 w 837"/>
                <a:gd name="T103" fmla="*/ 59 h 450"/>
                <a:gd name="T104" fmla="*/ 356 w 837"/>
                <a:gd name="T105" fmla="*/ 48 h 450"/>
                <a:gd name="T106" fmla="*/ 340 w 837"/>
                <a:gd name="T107" fmla="*/ 36 h 450"/>
                <a:gd name="T108" fmla="*/ 325 w 837"/>
                <a:gd name="T109" fmla="*/ 24 h 450"/>
                <a:gd name="T110" fmla="*/ 309 w 837"/>
                <a:gd name="T111" fmla="*/ 12 h 450"/>
                <a:gd name="T112" fmla="*/ 292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6" name="Freeform 16">
              <a:extLst>
                <a:ext uri="{FF2B5EF4-FFF2-40B4-BE49-F238E27FC236}">
                  <a16:creationId xmlns:a16="http://schemas.microsoft.com/office/drawing/2014/main" id="{5D9D3F25-3C0C-BF45-883F-502A28A744DE}"/>
                </a:ext>
              </a:extLst>
            </p:cNvPr>
            <p:cNvSpPr>
              <a:spLocks/>
            </p:cNvSpPr>
            <p:nvPr/>
          </p:nvSpPr>
          <p:spPr bwMode="auto">
            <a:xfrm>
              <a:off x="4151" y="3662"/>
              <a:ext cx="419" cy="221"/>
            </a:xfrm>
            <a:custGeom>
              <a:avLst/>
              <a:gdLst>
                <a:gd name="T0" fmla="*/ 297 w 837"/>
                <a:gd name="T1" fmla="*/ 0 h 441"/>
                <a:gd name="T2" fmla="*/ 267 w 837"/>
                <a:gd name="T3" fmla="*/ 11 h 441"/>
                <a:gd name="T4" fmla="*/ 243 w 837"/>
                <a:gd name="T5" fmla="*/ 22 h 441"/>
                <a:gd name="T6" fmla="*/ 222 w 837"/>
                <a:gd name="T7" fmla="*/ 33 h 441"/>
                <a:gd name="T8" fmla="*/ 204 w 837"/>
                <a:gd name="T9" fmla="*/ 46 h 441"/>
                <a:gd name="T10" fmla="*/ 188 w 837"/>
                <a:gd name="T11" fmla="*/ 60 h 441"/>
                <a:gd name="T12" fmla="*/ 172 w 837"/>
                <a:gd name="T13" fmla="*/ 78 h 441"/>
                <a:gd name="T14" fmla="*/ 155 w 837"/>
                <a:gd name="T15" fmla="*/ 98 h 441"/>
                <a:gd name="T16" fmla="*/ 137 w 837"/>
                <a:gd name="T17" fmla="*/ 124 h 441"/>
                <a:gd name="T18" fmla="*/ 126 w 837"/>
                <a:gd name="T19" fmla="*/ 116 h 441"/>
                <a:gd name="T20" fmla="*/ 114 w 837"/>
                <a:gd name="T21" fmla="*/ 108 h 441"/>
                <a:gd name="T22" fmla="*/ 99 w 837"/>
                <a:gd name="T23" fmla="*/ 99 h 441"/>
                <a:gd name="T24" fmla="*/ 84 w 837"/>
                <a:gd name="T25" fmla="*/ 90 h 441"/>
                <a:gd name="T26" fmla="*/ 68 w 837"/>
                <a:gd name="T27" fmla="*/ 81 h 441"/>
                <a:gd name="T28" fmla="*/ 54 w 837"/>
                <a:gd name="T29" fmla="*/ 72 h 441"/>
                <a:gd name="T30" fmla="*/ 41 w 837"/>
                <a:gd name="T31" fmla="*/ 63 h 441"/>
                <a:gd name="T32" fmla="*/ 33 w 837"/>
                <a:gd name="T33" fmla="*/ 57 h 441"/>
                <a:gd name="T34" fmla="*/ 28 w 837"/>
                <a:gd name="T35" fmla="*/ 59 h 441"/>
                <a:gd name="T36" fmla="*/ 25 w 837"/>
                <a:gd name="T37" fmla="*/ 61 h 441"/>
                <a:gd name="T38" fmla="*/ 20 w 837"/>
                <a:gd name="T39" fmla="*/ 63 h 441"/>
                <a:gd name="T40" fmla="*/ 16 w 837"/>
                <a:gd name="T41" fmla="*/ 65 h 441"/>
                <a:gd name="T42" fmla="*/ 11 w 837"/>
                <a:gd name="T43" fmla="*/ 66 h 441"/>
                <a:gd name="T44" fmla="*/ 7 w 837"/>
                <a:gd name="T45" fmla="*/ 68 h 441"/>
                <a:gd name="T46" fmla="*/ 3 w 837"/>
                <a:gd name="T47" fmla="*/ 70 h 441"/>
                <a:gd name="T48" fmla="*/ 0 w 837"/>
                <a:gd name="T49" fmla="*/ 73 h 441"/>
                <a:gd name="T50" fmla="*/ 20 w 837"/>
                <a:gd name="T51" fmla="*/ 92 h 441"/>
                <a:gd name="T52" fmla="*/ 43 w 837"/>
                <a:gd name="T53" fmla="*/ 113 h 441"/>
                <a:gd name="T54" fmla="*/ 66 w 837"/>
                <a:gd name="T55" fmla="*/ 134 h 441"/>
                <a:gd name="T56" fmla="*/ 90 w 837"/>
                <a:gd name="T57" fmla="*/ 155 h 441"/>
                <a:gd name="T58" fmla="*/ 115 w 837"/>
                <a:gd name="T59" fmla="*/ 174 h 441"/>
                <a:gd name="T60" fmla="*/ 139 w 837"/>
                <a:gd name="T61" fmla="*/ 192 h 441"/>
                <a:gd name="T62" fmla="*/ 163 w 837"/>
                <a:gd name="T63" fmla="*/ 206 h 441"/>
                <a:gd name="T64" fmla="*/ 187 w 837"/>
                <a:gd name="T65" fmla="*/ 219 h 441"/>
                <a:gd name="T66" fmla="*/ 201 w 837"/>
                <a:gd name="T67" fmla="*/ 221 h 441"/>
                <a:gd name="T68" fmla="*/ 214 w 837"/>
                <a:gd name="T69" fmla="*/ 220 h 441"/>
                <a:gd name="T70" fmla="*/ 225 w 837"/>
                <a:gd name="T71" fmla="*/ 216 h 441"/>
                <a:gd name="T72" fmla="*/ 233 w 837"/>
                <a:gd name="T73" fmla="*/ 207 h 441"/>
                <a:gd name="T74" fmla="*/ 239 w 837"/>
                <a:gd name="T75" fmla="*/ 195 h 441"/>
                <a:gd name="T76" fmla="*/ 242 w 837"/>
                <a:gd name="T77" fmla="*/ 179 h 441"/>
                <a:gd name="T78" fmla="*/ 241 w 837"/>
                <a:gd name="T79" fmla="*/ 157 h 441"/>
                <a:gd name="T80" fmla="*/ 236 w 837"/>
                <a:gd name="T81" fmla="*/ 133 h 441"/>
                <a:gd name="T82" fmla="*/ 258 w 837"/>
                <a:gd name="T83" fmla="*/ 102 h 441"/>
                <a:gd name="T84" fmla="*/ 279 w 837"/>
                <a:gd name="T85" fmla="*/ 84 h 441"/>
                <a:gd name="T86" fmla="*/ 298 w 837"/>
                <a:gd name="T87" fmla="*/ 76 h 441"/>
                <a:gd name="T88" fmla="*/ 317 w 837"/>
                <a:gd name="T89" fmla="*/ 76 h 441"/>
                <a:gd name="T90" fmla="*/ 337 w 837"/>
                <a:gd name="T91" fmla="*/ 80 h 441"/>
                <a:gd name="T92" fmla="*/ 361 w 837"/>
                <a:gd name="T93" fmla="*/ 86 h 441"/>
                <a:gd name="T94" fmla="*/ 387 w 837"/>
                <a:gd name="T95" fmla="*/ 92 h 441"/>
                <a:gd name="T96" fmla="*/ 419 w 837"/>
                <a:gd name="T97" fmla="*/ 94 h 441"/>
                <a:gd name="T98" fmla="*/ 401 w 837"/>
                <a:gd name="T99" fmla="*/ 81 h 441"/>
                <a:gd name="T100" fmla="*/ 386 w 837"/>
                <a:gd name="T101" fmla="*/ 69 h 441"/>
                <a:gd name="T102" fmla="*/ 371 w 837"/>
                <a:gd name="T103" fmla="*/ 58 h 441"/>
                <a:gd name="T104" fmla="*/ 357 w 837"/>
                <a:gd name="T105" fmla="*/ 46 h 441"/>
                <a:gd name="T106" fmla="*/ 343 w 837"/>
                <a:gd name="T107" fmla="*/ 35 h 441"/>
                <a:gd name="T108" fmla="*/ 329 w 837"/>
                <a:gd name="T109" fmla="*/ 23 h 441"/>
                <a:gd name="T110" fmla="*/ 313 w 837"/>
                <a:gd name="T111" fmla="*/ 11 h 441"/>
                <a:gd name="T112" fmla="*/ 297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7" name="Freeform 17">
              <a:extLst>
                <a:ext uri="{FF2B5EF4-FFF2-40B4-BE49-F238E27FC236}">
                  <a16:creationId xmlns:a16="http://schemas.microsoft.com/office/drawing/2014/main" id="{D8F6EDE9-ABF5-274B-B343-9AAA19DB3CA4}"/>
                </a:ext>
              </a:extLst>
            </p:cNvPr>
            <p:cNvSpPr>
              <a:spLocks/>
            </p:cNvSpPr>
            <p:nvPr/>
          </p:nvSpPr>
          <p:spPr bwMode="auto">
            <a:xfrm>
              <a:off x="4151" y="3666"/>
              <a:ext cx="419" cy="216"/>
            </a:xfrm>
            <a:custGeom>
              <a:avLst/>
              <a:gdLst>
                <a:gd name="T0" fmla="*/ 302 w 837"/>
                <a:gd name="T1" fmla="*/ 0 h 433"/>
                <a:gd name="T2" fmla="*/ 272 w 837"/>
                <a:gd name="T3" fmla="*/ 11 h 433"/>
                <a:gd name="T4" fmla="*/ 247 w 837"/>
                <a:gd name="T5" fmla="*/ 22 h 433"/>
                <a:gd name="T6" fmla="*/ 226 w 837"/>
                <a:gd name="T7" fmla="*/ 34 h 433"/>
                <a:gd name="T8" fmla="*/ 208 w 837"/>
                <a:gd name="T9" fmla="*/ 47 h 433"/>
                <a:gd name="T10" fmla="*/ 191 w 837"/>
                <a:gd name="T11" fmla="*/ 62 h 433"/>
                <a:gd name="T12" fmla="*/ 174 w 837"/>
                <a:gd name="T13" fmla="*/ 80 h 433"/>
                <a:gd name="T14" fmla="*/ 157 w 837"/>
                <a:gd name="T15" fmla="*/ 101 h 433"/>
                <a:gd name="T16" fmla="*/ 139 w 837"/>
                <a:gd name="T17" fmla="*/ 126 h 433"/>
                <a:gd name="T18" fmla="*/ 128 w 837"/>
                <a:gd name="T19" fmla="*/ 119 h 433"/>
                <a:gd name="T20" fmla="*/ 115 w 837"/>
                <a:gd name="T21" fmla="*/ 111 h 433"/>
                <a:gd name="T22" fmla="*/ 100 w 837"/>
                <a:gd name="T23" fmla="*/ 101 h 433"/>
                <a:gd name="T24" fmla="*/ 83 w 837"/>
                <a:gd name="T25" fmla="*/ 92 h 433"/>
                <a:gd name="T26" fmla="*/ 67 w 837"/>
                <a:gd name="T27" fmla="*/ 82 h 433"/>
                <a:gd name="T28" fmla="*/ 51 w 837"/>
                <a:gd name="T29" fmla="*/ 73 h 433"/>
                <a:gd name="T30" fmla="*/ 38 w 837"/>
                <a:gd name="T31" fmla="*/ 64 h 433"/>
                <a:gd name="T32" fmla="*/ 28 w 837"/>
                <a:gd name="T33" fmla="*/ 57 h 433"/>
                <a:gd name="T34" fmla="*/ 25 w 837"/>
                <a:gd name="T35" fmla="*/ 59 h 433"/>
                <a:gd name="T36" fmla="*/ 21 w 837"/>
                <a:gd name="T37" fmla="*/ 61 h 433"/>
                <a:gd name="T38" fmla="*/ 18 w 837"/>
                <a:gd name="T39" fmla="*/ 61 h 433"/>
                <a:gd name="T40" fmla="*/ 14 w 837"/>
                <a:gd name="T41" fmla="*/ 62 h 433"/>
                <a:gd name="T42" fmla="*/ 10 w 837"/>
                <a:gd name="T43" fmla="*/ 63 h 433"/>
                <a:gd name="T44" fmla="*/ 6 w 837"/>
                <a:gd name="T45" fmla="*/ 64 h 433"/>
                <a:gd name="T46" fmla="*/ 3 w 837"/>
                <a:gd name="T47" fmla="*/ 66 h 433"/>
                <a:gd name="T48" fmla="*/ 0 w 837"/>
                <a:gd name="T49" fmla="*/ 69 h 433"/>
                <a:gd name="T50" fmla="*/ 20 w 837"/>
                <a:gd name="T51" fmla="*/ 88 h 433"/>
                <a:gd name="T52" fmla="*/ 43 w 837"/>
                <a:gd name="T53" fmla="*/ 109 h 433"/>
                <a:gd name="T54" fmla="*/ 67 w 837"/>
                <a:gd name="T55" fmla="*/ 130 h 433"/>
                <a:gd name="T56" fmla="*/ 91 w 837"/>
                <a:gd name="T57" fmla="*/ 150 h 433"/>
                <a:gd name="T58" fmla="*/ 115 w 837"/>
                <a:gd name="T59" fmla="*/ 169 h 433"/>
                <a:gd name="T60" fmla="*/ 140 w 837"/>
                <a:gd name="T61" fmla="*/ 187 h 433"/>
                <a:gd name="T62" fmla="*/ 164 w 837"/>
                <a:gd name="T63" fmla="*/ 202 h 433"/>
                <a:gd name="T64" fmla="*/ 188 w 837"/>
                <a:gd name="T65" fmla="*/ 214 h 433"/>
                <a:gd name="T66" fmla="*/ 200 w 837"/>
                <a:gd name="T67" fmla="*/ 216 h 433"/>
                <a:gd name="T68" fmla="*/ 213 w 837"/>
                <a:gd name="T69" fmla="*/ 215 h 433"/>
                <a:gd name="T70" fmla="*/ 223 w 837"/>
                <a:gd name="T71" fmla="*/ 210 h 433"/>
                <a:gd name="T72" fmla="*/ 233 w 837"/>
                <a:gd name="T73" fmla="*/ 203 h 433"/>
                <a:gd name="T74" fmla="*/ 238 w 837"/>
                <a:gd name="T75" fmla="*/ 190 h 433"/>
                <a:gd name="T76" fmla="*/ 241 w 837"/>
                <a:gd name="T77" fmla="*/ 175 h 433"/>
                <a:gd name="T78" fmla="*/ 240 w 837"/>
                <a:gd name="T79" fmla="*/ 153 h 433"/>
                <a:gd name="T80" fmla="*/ 236 w 837"/>
                <a:gd name="T81" fmla="*/ 129 h 433"/>
                <a:gd name="T82" fmla="*/ 258 w 837"/>
                <a:gd name="T83" fmla="*/ 98 h 433"/>
                <a:gd name="T84" fmla="*/ 279 w 837"/>
                <a:gd name="T85" fmla="*/ 80 h 433"/>
                <a:gd name="T86" fmla="*/ 298 w 837"/>
                <a:gd name="T87" fmla="*/ 72 h 433"/>
                <a:gd name="T88" fmla="*/ 317 w 837"/>
                <a:gd name="T89" fmla="*/ 72 h 433"/>
                <a:gd name="T90" fmla="*/ 337 w 837"/>
                <a:gd name="T91" fmla="*/ 76 h 433"/>
                <a:gd name="T92" fmla="*/ 361 w 837"/>
                <a:gd name="T93" fmla="*/ 82 h 433"/>
                <a:gd name="T94" fmla="*/ 387 w 837"/>
                <a:gd name="T95" fmla="*/ 88 h 433"/>
                <a:gd name="T96" fmla="*/ 419 w 837"/>
                <a:gd name="T97" fmla="*/ 90 h 433"/>
                <a:gd name="T98" fmla="*/ 402 w 837"/>
                <a:gd name="T99" fmla="*/ 78 h 433"/>
                <a:gd name="T100" fmla="*/ 387 w 837"/>
                <a:gd name="T101" fmla="*/ 66 h 433"/>
                <a:gd name="T102" fmla="*/ 373 w 837"/>
                <a:gd name="T103" fmla="*/ 55 h 433"/>
                <a:gd name="T104" fmla="*/ 360 w 837"/>
                <a:gd name="T105" fmla="*/ 44 h 433"/>
                <a:gd name="T106" fmla="*/ 346 w 837"/>
                <a:gd name="T107" fmla="*/ 34 h 433"/>
                <a:gd name="T108" fmla="*/ 332 w 837"/>
                <a:gd name="T109" fmla="*/ 23 h 433"/>
                <a:gd name="T110" fmla="*/ 317 w 837"/>
                <a:gd name="T111" fmla="*/ 11 h 433"/>
                <a:gd name="T112" fmla="*/ 302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8" name="Freeform 18">
              <a:extLst>
                <a:ext uri="{FF2B5EF4-FFF2-40B4-BE49-F238E27FC236}">
                  <a16:creationId xmlns:a16="http://schemas.microsoft.com/office/drawing/2014/main" id="{CA67023D-9C0B-B347-A880-8340E27714DC}"/>
                </a:ext>
              </a:extLst>
            </p:cNvPr>
            <p:cNvSpPr>
              <a:spLocks/>
            </p:cNvSpPr>
            <p:nvPr/>
          </p:nvSpPr>
          <p:spPr bwMode="auto">
            <a:xfrm>
              <a:off x="3659" y="2675"/>
              <a:ext cx="1059" cy="612"/>
            </a:xfrm>
            <a:custGeom>
              <a:avLst/>
              <a:gdLst>
                <a:gd name="T0" fmla="*/ 376 w 2117"/>
                <a:gd name="T1" fmla="*/ 287 h 1224"/>
                <a:gd name="T2" fmla="*/ 302 w 2117"/>
                <a:gd name="T3" fmla="*/ 352 h 1224"/>
                <a:gd name="T4" fmla="*/ 228 w 2117"/>
                <a:gd name="T5" fmla="*/ 398 h 1224"/>
                <a:gd name="T6" fmla="*/ 175 w 2117"/>
                <a:gd name="T7" fmla="*/ 401 h 1224"/>
                <a:gd name="T8" fmla="*/ 137 w 2117"/>
                <a:gd name="T9" fmla="*/ 415 h 1224"/>
                <a:gd name="T10" fmla="*/ 66 w 2117"/>
                <a:gd name="T11" fmla="*/ 471 h 1224"/>
                <a:gd name="T12" fmla="*/ 11 w 2117"/>
                <a:gd name="T13" fmla="*/ 514 h 1224"/>
                <a:gd name="T14" fmla="*/ 2 w 2117"/>
                <a:gd name="T15" fmla="*/ 566 h 1224"/>
                <a:gd name="T16" fmla="*/ 40 w 2117"/>
                <a:gd name="T17" fmla="*/ 607 h 1224"/>
                <a:gd name="T18" fmla="*/ 100 w 2117"/>
                <a:gd name="T19" fmla="*/ 600 h 1224"/>
                <a:gd name="T20" fmla="*/ 160 w 2117"/>
                <a:gd name="T21" fmla="*/ 594 h 1224"/>
                <a:gd name="T22" fmla="*/ 311 w 2117"/>
                <a:gd name="T23" fmla="*/ 589 h 1224"/>
                <a:gd name="T24" fmla="*/ 462 w 2117"/>
                <a:gd name="T25" fmla="*/ 579 h 1224"/>
                <a:gd name="T26" fmla="*/ 597 w 2117"/>
                <a:gd name="T27" fmla="*/ 572 h 1224"/>
                <a:gd name="T28" fmla="*/ 663 w 2117"/>
                <a:gd name="T29" fmla="*/ 568 h 1224"/>
                <a:gd name="T30" fmla="*/ 722 w 2117"/>
                <a:gd name="T31" fmla="*/ 538 h 1224"/>
                <a:gd name="T32" fmla="*/ 792 w 2117"/>
                <a:gd name="T33" fmla="*/ 498 h 1224"/>
                <a:gd name="T34" fmla="*/ 839 w 2117"/>
                <a:gd name="T35" fmla="*/ 461 h 1224"/>
                <a:gd name="T36" fmla="*/ 842 w 2117"/>
                <a:gd name="T37" fmla="*/ 339 h 1224"/>
                <a:gd name="T38" fmla="*/ 881 w 2117"/>
                <a:gd name="T39" fmla="*/ 334 h 1224"/>
                <a:gd name="T40" fmla="*/ 918 w 2117"/>
                <a:gd name="T41" fmla="*/ 362 h 1224"/>
                <a:gd name="T42" fmla="*/ 1015 w 2117"/>
                <a:gd name="T43" fmla="*/ 341 h 1224"/>
                <a:gd name="T44" fmla="*/ 1051 w 2117"/>
                <a:gd name="T45" fmla="*/ 207 h 1224"/>
                <a:gd name="T46" fmla="*/ 947 w 2117"/>
                <a:gd name="T47" fmla="*/ 130 h 1224"/>
                <a:gd name="T48" fmla="*/ 888 w 2117"/>
                <a:gd name="T49" fmla="*/ 165 h 1224"/>
                <a:gd name="T50" fmla="*/ 863 w 2117"/>
                <a:gd name="T51" fmla="*/ 201 h 1224"/>
                <a:gd name="T52" fmla="*/ 826 w 2117"/>
                <a:gd name="T53" fmla="*/ 208 h 1224"/>
                <a:gd name="T54" fmla="*/ 812 w 2117"/>
                <a:gd name="T55" fmla="*/ 195 h 1224"/>
                <a:gd name="T56" fmla="*/ 802 w 2117"/>
                <a:gd name="T57" fmla="*/ 186 h 1224"/>
                <a:gd name="T58" fmla="*/ 801 w 2117"/>
                <a:gd name="T59" fmla="*/ 171 h 1224"/>
                <a:gd name="T60" fmla="*/ 836 w 2117"/>
                <a:gd name="T61" fmla="*/ 165 h 1224"/>
                <a:gd name="T62" fmla="*/ 863 w 2117"/>
                <a:gd name="T63" fmla="*/ 154 h 1224"/>
                <a:gd name="T64" fmla="*/ 899 w 2117"/>
                <a:gd name="T65" fmla="*/ 55 h 1224"/>
                <a:gd name="T66" fmla="*/ 774 w 2117"/>
                <a:gd name="T67" fmla="*/ 0 h 1224"/>
                <a:gd name="T68" fmla="*/ 658 w 2117"/>
                <a:gd name="T69" fmla="*/ 72 h 1224"/>
                <a:gd name="T70" fmla="*/ 659 w 2117"/>
                <a:gd name="T71" fmla="*/ 98 h 1224"/>
                <a:gd name="T72" fmla="*/ 661 w 2117"/>
                <a:gd name="T73" fmla="*/ 124 h 1224"/>
                <a:gd name="T74" fmla="*/ 653 w 2117"/>
                <a:gd name="T75" fmla="*/ 145 h 1224"/>
                <a:gd name="T76" fmla="*/ 631 w 2117"/>
                <a:gd name="T77" fmla="*/ 150 h 1224"/>
                <a:gd name="T78" fmla="*/ 609 w 2117"/>
                <a:gd name="T79" fmla="*/ 155 h 1224"/>
                <a:gd name="T80" fmla="*/ 573 w 2117"/>
                <a:gd name="T81" fmla="*/ 167 h 1224"/>
                <a:gd name="T82" fmla="*/ 532 w 2117"/>
                <a:gd name="T83" fmla="*/ 182 h 1224"/>
                <a:gd name="T84" fmla="*/ 492 w 2117"/>
                <a:gd name="T85" fmla="*/ 197 h 1224"/>
                <a:gd name="T86" fmla="*/ 469 w 2117"/>
                <a:gd name="T87" fmla="*/ 216 h 1224"/>
                <a:gd name="T88" fmla="*/ 447 w 2117"/>
                <a:gd name="T89" fmla="*/ 235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9" name="Freeform 19">
              <a:extLst>
                <a:ext uri="{FF2B5EF4-FFF2-40B4-BE49-F238E27FC236}">
                  <a16:creationId xmlns:a16="http://schemas.microsoft.com/office/drawing/2014/main" id="{C0CC9073-00F0-7C44-B1D5-FCCF4DBE8FAC}"/>
                </a:ext>
              </a:extLst>
            </p:cNvPr>
            <p:cNvSpPr>
              <a:spLocks/>
            </p:cNvSpPr>
            <p:nvPr/>
          </p:nvSpPr>
          <p:spPr bwMode="auto">
            <a:xfrm>
              <a:off x="3693" y="2684"/>
              <a:ext cx="1024" cy="586"/>
            </a:xfrm>
            <a:custGeom>
              <a:avLst/>
              <a:gdLst>
                <a:gd name="T0" fmla="*/ 343 w 2048"/>
                <a:gd name="T1" fmla="*/ 277 h 1171"/>
                <a:gd name="T2" fmla="*/ 276 w 2048"/>
                <a:gd name="T3" fmla="*/ 341 h 1171"/>
                <a:gd name="T4" fmla="*/ 206 w 2048"/>
                <a:gd name="T5" fmla="*/ 387 h 1171"/>
                <a:gd name="T6" fmla="*/ 155 w 2048"/>
                <a:gd name="T7" fmla="*/ 390 h 1171"/>
                <a:gd name="T8" fmla="*/ 119 w 2048"/>
                <a:gd name="T9" fmla="*/ 406 h 1171"/>
                <a:gd name="T10" fmla="*/ 51 w 2048"/>
                <a:gd name="T11" fmla="*/ 461 h 1171"/>
                <a:gd name="T12" fmla="*/ 3 w 2048"/>
                <a:gd name="T13" fmla="*/ 502 h 1171"/>
                <a:gd name="T14" fmla="*/ 1 w 2048"/>
                <a:gd name="T15" fmla="*/ 547 h 1171"/>
                <a:gd name="T16" fmla="*/ 37 w 2048"/>
                <a:gd name="T17" fmla="*/ 581 h 1171"/>
                <a:gd name="T18" fmla="*/ 92 w 2048"/>
                <a:gd name="T19" fmla="*/ 577 h 1171"/>
                <a:gd name="T20" fmla="*/ 150 w 2048"/>
                <a:gd name="T21" fmla="*/ 572 h 1171"/>
                <a:gd name="T22" fmla="*/ 289 w 2048"/>
                <a:gd name="T23" fmla="*/ 570 h 1171"/>
                <a:gd name="T24" fmla="*/ 436 w 2048"/>
                <a:gd name="T25" fmla="*/ 563 h 1171"/>
                <a:gd name="T26" fmla="*/ 569 w 2048"/>
                <a:gd name="T27" fmla="*/ 556 h 1171"/>
                <a:gd name="T28" fmla="*/ 636 w 2048"/>
                <a:gd name="T29" fmla="*/ 552 h 1171"/>
                <a:gd name="T30" fmla="*/ 691 w 2048"/>
                <a:gd name="T31" fmla="*/ 526 h 1171"/>
                <a:gd name="T32" fmla="*/ 757 w 2048"/>
                <a:gd name="T33" fmla="*/ 489 h 1171"/>
                <a:gd name="T34" fmla="*/ 805 w 2048"/>
                <a:gd name="T35" fmla="*/ 452 h 1171"/>
                <a:gd name="T36" fmla="*/ 807 w 2048"/>
                <a:gd name="T37" fmla="*/ 330 h 1171"/>
                <a:gd name="T38" fmla="*/ 847 w 2048"/>
                <a:gd name="T39" fmla="*/ 325 h 1171"/>
                <a:gd name="T40" fmla="*/ 883 w 2048"/>
                <a:gd name="T41" fmla="*/ 353 h 1171"/>
                <a:gd name="T42" fmla="*/ 980 w 2048"/>
                <a:gd name="T43" fmla="*/ 332 h 1171"/>
                <a:gd name="T44" fmla="*/ 1015 w 2048"/>
                <a:gd name="T45" fmla="*/ 200 h 1171"/>
                <a:gd name="T46" fmla="*/ 909 w 2048"/>
                <a:gd name="T47" fmla="*/ 124 h 1171"/>
                <a:gd name="T48" fmla="*/ 850 w 2048"/>
                <a:gd name="T49" fmla="*/ 159 h 1171"/>
                <a:gd name="T50" fmla="*/ 827 w 2048"/>
                <a:gd name="T51" fmla="*/ 193 h 1171"/>
                <a:gd name="T52" fmla="*/ 792 w 2048"/>
                <a:gd name="T53" fmla="*/ 199 h 1171"/>
                <a:gd name="T54" fmla="*/ 778 w 2048"/>
                <a:gd name="T55" fmla="*/ 186 h 1171"/>
                <a:gd name="T56" fmla="*/ 767 w 2048"/>
                <a:gd name="T57" fmla="*/ 175 h 1171"/>
                <a:gd name="T58" fmla="*/ 765 w 2048"/>
                <a:gd name="T59" fmla="*/ 160 h 1171"/>
                <a:gd name="T60" fmla="*/ 795 w 2048"/>
                <a:gd name="T61" fmla="*/ 153 h 1171"/>
                <a:gd name="T62" fmla="*/ 819 w 2048"/>
                <a:gd name="T63" fmla="*/ 141 h 1171"/>
                <a:gd name="T64" fmla="*/ 848 w 2048"/>
                <a:gd name="T65" fmla="*/ 50 h 1171"/>
                <a:gd name="T66" fmla="*/ 731 w 2048"/>
                <a:gd name="T67" fmla="*/ 0 h 1171"/>
                <a:gd name="T68" fmla="*/ 626 w 2048"/>
                <a:gd name="T69" fmla="*/ 65 h 1171"/>
                <a:gd name="T70" fmla="*/ 626 w 2048"/>
                <a:gd name="T71" fmla="*/ 91 h 1171"/>
                <a:gd name="T72" fmla="*/ 627 w 2048"/>
                <a:gd name="T73" fmla="*/ 115 h 1171"/>
                <a:gd name="T74" fmla="*/ 619 w 2048"/>
                <a:gd name="T75" fmla="*/ 135 h 1171"/>
                <a:gd name="T76" fmla="*/ 597 w 2048"/>
                <a:gd name="T77" fmla="*/ 141 h 1171"/>
                <a:gd name="T78" fmla="*/ 574 w 2048"/>
                <a:gd name="T79" fmla="*/ 146 h 1171"/>
                <a:gd name="T80" fmla="*/ 538 w 2048"/>
                <a:gd name="T81" fmla="*/ 158 h 1171"/>
                <a:gd name="T82" fmla="*/ 498 w 2048"/>
                <a:gd name="T83" fmla="*/ 173 h 1171"/>
                <a:gd name="T84" fmla="*/ 458 w 2048"/>
                <a:gd name="T85" fmla="*/ 188 h 1171"/>
                <a:gd name="T86" fmla="*/ 435 w 2048"/>
                <a:gd name="T87" fmla="*/ 207 h 1171"/>
                <a:gd name="T88" fmla="*/ 412 w 2048"/>
                <a:gd name="T89" fmla="*/ 226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0" name="Freeform 20">
              <a:extLst>
                <a:ext uri="{FF2B5EF4-FFF2-40B4-BE49-F238E27FC236}">
                  <a16:creationId xmlns:a16="http://schemas.microsoft.com/office/drawing/2014/main" id="{B2A06088-FE52-284D-A38F-518B0A8CA986}"/>
                </a:ext>
              </a:extLst>
            </p:cNvPr>
            <p:cNvSpPr>
              <a:spLocks/>
            </p:cNvSpPr>
            <p:nvPr/>
          </p:nvSpPr>
          <p:spPr bwMode="auto">
            <a:xfrm>
              <a:off x="3723" y="2694"/>
              <a:ext cx="993" cy="561"/>
            </a:xfrm>
            <a:custGeom>
              <a:avLst/>
              <a:gdLst>
                <a:gd name="T0" fmla="*/ 316 w 1985"/>
                <a:gd name="T1" fmla="*/ 267 h 1121"/>
                <a:gd name="T2" fmla="*/ 256 w 1985"/>
                <a:gd name="T3" fmla="*/ 330 h 1121"/>
                <a:gd name="T4" fmla="*/ 190 w 1985"/>
                <a:gd name="T5" fmla="*/ 375 h 1121"/>
                <a:gd name="T6" fmla="*/ 140 w 1985"/>
                <a:gd name="T7" fmla="*/ 380 h 1121"/>
                <a:gd name="T8" fmla="*/ 105 w 1985"/>
                <a:gd name="T9" fmla="*/ 397 h 1121"/>
                <a:gd name="T10" fmla="*/ 40 w 1985"/>
                <a:gd name="T11" fmla="*/ 450 h 1121"/>
                <a:gd name="T12" fmla="*/ 1 w 1985"/>
                <a:gd name="T13" fmla="*/ 489 h 1121"/>
                <a:gd name="T14" fmla="*/ 5 w 1985"/>
                <a:gd name="T15" fmla="*/ 528 h 1121"/>
                <a:gd name="T16" fmla="*/ 39 w 1985"/>
                <a:gd name="T17" fmla="*/ 557 h 1121"/>
                <a:gd name="T18" fmla="*/ 89 w 1985"/>
                <a:gd name="T19" fmla="*/ 554 h 1121"/>
                <a:gd name="T20" fmla="*/ 146 w 1985"/>
                <a:gd name="T21" fmla="*/ 550 h 1121"/>
                <a:gd name="T22" fmla="*/ 273 w 1985"/>
                <a:gd name="T23" fmla="*/ 552 h 1121"/>
                <a:gd name="T24" fmla="*/ 414 w 1985"/>
                <a:gd name="T25" fmla="*/ 546 h 1121"/>
                <a:gd name="T26" fmla="*/ 545 w 1985"/>
                <a:gd name="T27" fmla="*/ 541 h 1121"/>
                <a:gd name="T28" fmla="*/ 614 w 1985"/>
                <a:gd name="T29" fmla="*/ 536 h 1121"/>
                <a:gd name="T30" fmla="*/ 665 w 1985"/>
                <a:gd name="T31" fmla="*/ 513 h 1121"/>
                <a:gd name="T32" fmla="*/ 728 w 1985"/>
                <a:gd name="T33" fmla="*/ 479 h 1121"/>
                <a:gd name="T34" fmla="*/ 775 w 1985"/>
                <a:gd name="T35" fmla="*/ 442 h 1121"/>
                <a:gd name="T36" fmla="*/ 778 w 1985"/>
                <a:gd name="T37" fmla="*/ 320 h 1121"/>
                <a:gd name="T38" fmla="*/ 817 w 1985"/>
                <a:gd name="T39" fmla="*/ 315 h 1121"/>
                <a:gd name="T40" fmla="*/ 854 w 1985"/>
                <a:gd name="T41" fmla="*/ 343 h 1121"/>
                <a:gd name="T42" fmla="*/ 951 w 1985"/>
                <a:gd name="T43" fmla="*/ 322 h 1121"/>
                <a:gd name="T44" fmla="*/ 984 w 1985"/>
                <a:gd name="T45" fmla="*/ 191 h 1121"/>
                <a:gd name="T46" fmla="*/ 876 w 1985"/>
                <a:gd name="T47" fmla="*/ 117 h 1121"/>
                <a:gd name="T48" fmla="*/ 818 w 1985"/>
                <a:gd name="T49" fmla="*/ 152 h 1121"/>
                <a:gd name="T50" fmla="*/ 796 w 1985"/>
                <a:gd name="T51" fmla="*/ 184 h 1121"/>
                <a:gd name="T52" fmla="*/ 762 w 1985"/>
                <a:gd name="T53" fmla="*/ 189 h 1121"/>
                <a:gd name="T54" fmla="*/ 748 w 1985"/>
                <a:gd name="T55" fmla="*/ 175 h 1121"/>
                <a:gd name="T56" fmla="*/ 737 w 1985"/>
                <a:gd name="T57" fmla="*/ 164 h 1121"/>
                <a:gd name="T58" fmla="*/ 734 w 1985"/>
                <a:gd name="T59" fmla="*/ 148 h 1121"/>
                <a:gd name="T60" fmla="*/ 759 w 1985"/>
                <a:gd name="T61" fmla="*/ 139 h 1121"/>
                <a:gd name="T62" fmla="*/ 779 w 1985"/>
                <a:gd name="T63" fmla="*/ 127 h 1121"/>
                <a:gd name="T64" fmla="*/ 801 w 1985"/>
                <a:gd name="T65" fmla="*/ 45 h 1121"/>
                <a:gd name="T66" fmla="*/ 693 w 1985"/>
                <a:gd name="T67" fmla="*/ 0 h 1121"/>
                <a:gd name="T68" fmla="*/ 597 w 1985"/>
                <a:gd name="T69" fmla="*/ 58 h 1121"/>
                <a:gd name="T70" fmla="*/ 597 w 1985"/>
                <a:gd name="T71" fmla="*/ 82 h 1121"/>
                <a:gd name="T72" fmla="*/ 597 w 1985"/>
                <a:gd name="T73" fmla="*/ 106 h 1121"/>
                <a:gd name="T74" fmla="*/ 589 w 1985"/>
                <a:gd name="T75" fmla="*/ 125 h 1121"/>
                <a:gd name="T76" fmla="*/ 567 w 1985"/>
                <a:gd name="T77" fmla="*/ 131 h 1121"/>
                <a:gd name="T78" fmla="*/ 545 w 1985"/>
                <a:gd name="T79" fmla="*/ 136 h 1121"/>
                <a:gd name="T80" fmla="*/ 509 w 1985"/>
                <a:gd name="T81" fmla="*/ 148 h 1121"/>
                <a:gd name="T82" fmla="*/ 468 w 1985"/>
                <a:gd name="T83" fmla="*/ 163 h 1121"/>
                <a:gd name="T84" fmla="*/ 428 w 1985"/>
                <a:gd name="T85" fmla="*/ 178 h 1121"/>
                <a:gd name="T86" fmla="*/ 405 w 1985"/>
                <a:gd name="T87" fmla="*/ 197 h 1121"/>
                <a:gd name="T88" fmla="*/ 383 w 1985"/>
                <a:gd name="T89" fmla="*/ 216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1" name="Freeform 21">
              <a:extLst>
                <a:ext uri="{FF2B5EF4-FFF2-40B4-BE49-F238E27FC236}">
                  <a16:creationId xmlns:a16="http://schemas.microsoft.com/office/drawing/2014/main" id="{94866990-62B3-A743-970D-555F5B24E9DB}"/>
                </a:ext>
              </a:extLst>
            </p:cNvPr>
            <p:cNvSpPr>
              <a:spLocks/>
            </p:cNvSpPr>
            <p:nvPr/>
          </p:nvSpPr>
          <p:spPr bwMode="auto">
            <a:xfrm>
              <a:off x="3751" y="2703"/>
              <a:ext cx="963" cy="536"/>
            </a:xfrm>
            <a:custGeom>
              <a:avLst/>
              <a:gdLst>
                <a:gd name="T0" fmla="*/ 290 w 1927"/>
                <a:gd name="T1" fmla="*/ 258 h 1072"/>
                <a:gd name="T2" fmla="*/ 237 w 1927"/>
                <a:gd name="T3" fmla="*/ 321 h 1072"/>
                <a:gd name="T4" fmla="*/ 176 w 1927"/>
                <a:gd name="T5" fmla="*/ 364 h 1072"/>
                <a:gd name="T6" fmla="*/ 126 w 1927"/>
                <a:gd name="T7" fmla="*/ 369 h 1072"/>
                <a:gd name="T8" fmla="*/ 93 w 1927"/>
                <a:gd name="T9" fmla="*/ 388 h 1072"/>
                <a:gd name="T10" fmla="*/ 31 w 1927"/>
                <a:gd name="T11" fmla="*/ 439 h 1072"/>
                <a:gd name="T12" fmla="*/ 0 w 1927"/>
                <a:gd name="T13" fmla="*/ 477 h 1072"/>
                <a:gd name="T14" fmla="*/ 10 w 1927"/>
                <a:gd name="T15" fmla="*/ 508 h 1072"/>
                <a:gd name="T16" fmla="*/ 41 w 1927"/>
                <a:gd name="T17" fmla="*/ 533 h 1072"/>
                <a:gd name="T18" fmla="*/ 87 w 1927"/>
                <a:gd name="T19" fmla="*/ 532 h 1072"/>
                <a:gd name="T20" fmla="*/ 142 w 1927"/>
                <a:gd name="T21" fmla="*/ 530 h 1072"/>
                <a:gd name="T22" fmla="*/ 257 w 1927"/>
                <a:gd name="T23" fmla="*/ 534 h 1072"/>
                <a:gd name="T24" fmla="*/ 393 w 1927"/>
                <a:gd name="T25" fmla="*/ 532 h 1072"/>
                <a:gd name="T26" fmla="*/ 523 w 1927"/>
                <a:gd name="T27" fmla="*/ 527 h 1072"/>
                <a:gd name="T28" fmla="*/ 592 w 1927"/>
                <a:gd name="T29" fmla="*/ 523 h 1072"/>
                <a:gd name="T30" fmla="*/ 640 w 1927"/>
                <a:gd name="T31" fmla="*/ 502 h 1072"/>
                <a:gd name="T32" fmla="*/ 699 w 1927"/>
                <a:gd name="T33" fmla="*/ 470 h 1072"/>
                <a:gd name="T34" fmla="*/ 747 w 1927"/>
                <a:gd name="T35" fmla="*/ 433 h 1072"/>
                <a:gd name="T36" fmla="*/ 749 w 1927"/>
                <a:gd name="T37" fmla="*/ 311 h 1072"/>
                <a:gd name="T38" fmla="*/ 789 w 1927"/>
                <a:gd name="T39" fmla="*/ 306 h 1072"/>
                <a:gd name="T40" fmla="*/ 825 w 1927"/>
                <a:gd name="T41" fmla="*/ 334 h 1072"/>
                <a:gd name="T42" fmla="*/ 922 w 1927"/>
                <a:gd name="T43" fmla="*/ 313 h 1072"/>
                <a:gd name="T44" fmla="*/ 953 w 1927"/>
                <a:gd name="T45" fmla="*/ 184 h 1072"/>
                <a:gd name="T46" fmla="*/ 845 w 1927"/>
                <a:gd name="T47" fmla="*/ 111 h 1072"/>
                <a:gd name="T48" fmla="*/ 787 w 1927"/>
                <a:gd name="T49" fmla="*/ 145 h 1072"/>
                <a:gd name="T50" fmla="*/ 767 w 1927"/>
                <a:gd name="T51" fmla="*/ 176 h 1072"/>
                <a:gd name="T52" fmla="*/ 734 w 1927"/>
                <a:gd name="T53" fmla="*/ 180 h 1072"/>
                <a:gd name="T54" fmla="*/ 719 w 1927"/>
                <a:gd name="T55" fmla="*/ 166 h 1072"/>
                <a:gd name="T56" fmla="*/ 708 w 1927"/>
                <a:gd name="T57" fmla="*/ 154 h 1072"/>
                <a:gd name="T58" fmla="*/ 704 w 1927"/>
                <a:gd name="T59" fmla="*/ 137 h 1072"/>
                <a:gd name="T60" fmla="*/ 725 w 1927"/>
                <a:gd name="T61" fmla="*/ 127 h 1072"/>
                <a:gd name="T62" fmla="*/ 739 w 1927"/>
                <a:gd name="T63" fmla="*/ 114 h 1072"/>
                <a:gd name="T64" fmla="*/ 756 w 1927"/>
                <a:gd name="T65" fmla="*/ 40 h 1072"/>
                <a:gd name="T66" fmla="*/ 656 w 1927"/>
                <a:gd name="T67" fmla="*/ 0 h 1072"/>
                <a:gd name="T68" fmla="*/ 571 w 1927"/>
                <a:gd name="T69" fmla="*/ 51 h 1072"/>
                <a:gd name="T70" fmla="*/ 570 w 1927"/>
                <a:gd name="T71" fmla="*/ 75 h 1072"/>
                <a:gd name="T72" fmla="*/ 569 w 1927"/>
                <a:gd name="T73" fmla="*/ 97 h 1072"/>
                <a:gd name="T74" fmla="*/ 561 w 1927"/>
                <a:gd name="T75" fmla="*/ 116 h 1072"/>
                <a:gd name="T76" fmla="*/ 539 w 1927"/>
                <a:gd name="T77" fmla="*/ 122 h 1072"/>
                <a:gd name="T78" fmla="*/ 516 w 1927"/>
                <a:gd name="T79" fmla="*/ 127 h 1072"/>
                <a:gd name="T80" fmla="*/ 480 w 1927"/>
                <a:gd name="T81" fmla="*/ 139 h 1072"/>
                <a:gd name="T82" fmla="*/ 440 w 1927"/>
                <a:gd name="T83" fmla="*/ 154 h 1072"/>
                <a:gd name="T84" fmla="*/ 400 w 1927"/>
                <a:gd name="T85" fmla="*/ 169 h 1072"/>
                <a:gd name="T86" fmla="*/ 377 w 1927"/>
                <a:gd name="T87" fmla="*/ 188 h 1072"/>
                <a:gd name="T88" fmla="*/ 354 w 1927"/>
                <a:gd name="T89" fmla="*/ 207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2" name="Freeform 22">
              <a:extLst>
                <a:ext uri="{FF2B5EF4-FFF2-40B4-BE49-F238E27FC236}">
                  <a16:creationId xmlns:a16="http://schemas.microsoft.com/office/drawing/2014/main" id="{C7FAE3ED-4A4F-CC4F-A642-CB53B18C7F25}"/>
                </a:ext>
              </a:extLst>
            </p:cNvPr>
            <p:cNvSpPr>
              <a:spLocks/>
            </p:cNvSpPr>
            <p:nvPr/>
          </p:nvSpPr>
          <p:spPr bwMode="auto">
            <a:xfrm>
              <a:off x="3778" y="2712"/>
              <a:ext cx="936" cy="517"/>
            </a:xfrm>
            <a:custGeom>
              <a:avLst/>
              <a:gdLst>
                <a:gd name="T0" fmla="*/ 265 w 1871"/>
                <a:gd name="T1" fmla="*/ 248 h 1034"/>
                <a:gd name="T2" fmla="*/ 220 w 1871"/>
                <a:gd name="T3" fmla="*/ 310 h 1034"/>
                <a:gd name="T4" fmla="*/ 163 w 1871"/>
                <a:gd name="T5" fmla="*/ 354 h 1034"/>
                <a:gd name="T6" fmla="*/ 113 w 1871"/>
                <a:gd name="T7" fmla="*/ 359 h 1034"/>
                <a:gd name="T8" fmla="*/ 82 w 1871"/>
                <a:gd name="T9" fmla="*/ 379 h 1034"/>
                <a:gd name="T10" fmla="*/ 23 w 1871"/>
                <a:gd name="T11" fmla="*/ 429 h 1034"/>
                <a:gd name="T12" fmla="*/ 0 w 1871"/>
                <a:gd name="T13" fmla="*/ 465 h 1034"/>
                <a:gd name="T14" fmla="*/ 16 w 1871"/>
                <a:gd name="T15" fmla="*/ 489 h 1034"/>
                <a:gd name="T16" fmla="*/ 45 w 1871"/>
                <a:gd name="T17" fmla="*/ 508 h 1034"/>
                <a:gd name="T18" fmla="*/ 86 w 1871"/>
                <a:gd name="T19" fmla="*/ 508 h 1034"/>
                <a:gd name="T20" fmla="*/ 141 w 1871"/>
                <a:gd name="T21" fmla="*/ 508 h 1034"/>
                <a:gd name="T22" fmla="*/ 243 w 1871"/>
                <a:gd name="T23" fmla="*/ 516 h 1034"/>
                <a:gd name="T24" fmla="*/ 374 w 1871"/>
                <a:gd name="T25" fmla="*/ 516 h 1034"/>
                <a:gd name="T26" fmla="*/ 502 w 1871"/>
                <a:gd name="T27" fmla="*/ 513 h 1034"/>
                <a:gd name="T28" fmla="*/ 573 w 1871"/>
                <a:gd name="T29" fmla="*/ 508 h 1034"/>
                <a:gd name="T30" fmla="*/ 616 w 1871"/>
                <a:gd name="T31" fmla="*/ 490 h 1034"/>
                <a:gd name="T32" fmla="*/ 672 w 1871"/>
                <a:gd name="T33" fmla="*/ 460 h 1034"/>
                <a:gd name="T34" fmla="*/ 720 w 1871"/>
                <a:gd name="T35" fmla="*/ 423 h 1034"/>
                <a:gd name="T36" fmla="*/ 722 w 1871"/>
                <a:gd name="T37" fmla="*/ 301 h 1034"/>
                <a:gd name="T38" fmla="*/ 762 w 1871"/>
                <a:gd name="T39" fmla="*/ 297 h 1034"/>
                <a:gd name="T40" fmla="*/ 798 w 1871"/>
                <a:gd name="T41" fmla="*/ 325 h 1034"/>
                <a:gd name="T42" fmla="*/ 895 w 1871"/>
                <a:gd name="T43" fmla="*/ 304 h 1034"/>
                <a:gd name="T44" fmla="*/ 925 w 1871"/>
                <a:gd name="T45" fmla="*/ 176 h 1034"/>
                <a:gd name="T46" fmla="*/ 815 w 1871"/>
                <a:gd name="T47" fmla="*/ 104 h 1034"/>
                <a:gd name="T48" fmla="*/ 757 w 1871"/>
                <a:gd name="T49" fmla="*/ 138 h 1034"/>
                <a:gd name="T50" fmla="*/ 739 w 1871"/>
                <a:gd name="T51" fmla="*/ 168 h 1034"/>
                <a:gd name="T52" fmla="*/ 707 w 1871"/>
                <a:gd name="T53" fmla="*/ 171 h 1034"/>
                <a:gd name="T54" fmla="*/ 692 w 1871"/>
                <a:gd name="T55" fmla="*/ 156 h 1034"/>
                <a:gd name="T56" fmla="*/ 680 w 1871"/>
                <a:gd name="T57" fmla="*/ 143 h 1034"/>
                <a:gd name="T58" fmla="*/ 677 w 1871"/>
                <a:gd name="T59" fmla="*/ 126 h 1034"/>
                <a:gd name="T60" fmla="*/ 692 w 1871"/>
                <a:gd name="T61" fmla="*/ 114 h 1034"/>
                <a:gd name="T62" fmla="*/ 702 w 1871"/>
                <a:gd name="T63" fmla="*/ 101 h 1034"/>
                <a:gd name="T64" fmla="*/ 712 w 1871"/>
                <a:gd name="T65" fmla="*/ 34 h 1034"/>
                <a:gd name="T66" fmla="*/ 621 w 1871"/>
                <a:gd name="T67" fmla="*/ 0 h 1034"/>
                <a:gd name="T68" fmla="*/ 546 w 1871"/>
                <a:gd name="T69" fmla="*/ 44 h 1034"/>
                <a:gd name="T70" fmla="*/ 545 w 1871"/>
                <a:gd name="T71" fmla="*/ 67 h 1034"/>
                <a:gd name="T72" fmla="*/ 542 w 1871"/>
                <a:gd name="T73" fmla="*/ 88 h 1034"/>
                <a:gd name="T74" fmla="*/ 534 w 1871"/>
                <a:gd name="T75" fmla="*/ 107 h 1034"/>
                <a:gd name="T76" fmla="*/ 512 w 1871"/>
                <a:gd name="T77" fmla="*/ 112 h 1034"/>
                <a:gd name="T78" fmla="*/ 489 w 1871"/>
                <a:gd name="T79" fmla="*/ 117 h 1034"/>
                <a:gd name="T80" fmla="*/ 453 w 1871"/>
                <a:gd name="T81" fmla="*/ 129 h 1034"/>
                <a:gd name="T82" fmla="*/ 413 w 1871"/>
                <a:gd name="T83" fmla="*/ 144 h 1034"/>
                <a:gd name="T84" fmla="*/ 373 w 1871"/>
                <a:gd name="T85" fmla="*/ 159 h 1034"/>
                <a:gd name="T86" fmla="*/ 350 w 1871"/>
                <a:gd name="T87" fmla="*/ 178 h 1034"/>
                <a:gd name="T88" fmla="*/ 327 w 1871"/>
                <a:gd name="T89" fmla="*/ 197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3" name="Freeform 23">
              <a:extLst>
                <a:ext uri="{FF2B5EF4-FFF2-40B4-BE49-F238E27FC236}">
                  <a16:creationId xmlns:a16="http://schemas.microsoft.com/office/drawing/2014/main" id="{E66F1DC1-1C09-BA4F-8FB0-FF4CC913A31D}"/>
                </a:ext>
              </a:extLst>
            </p:cNvPr>
            <p:cNvSpPr>
              <a:spLocks/>
            </p:cNvSpPr>
            <p:nvPr/>
          </p:nvSpPr>
          <p:spPr bwMode="auto">
            <a:xfrm>
              <a:off x="3803" y="2722"/>
              <a:ext cx="910" cy="500"/>
            </a:xfrm>
            <a:custGeom>
              <a:avLst/>
              <a:gdLst>
                <a:gd name="T0" fmla="*/ 242 w 1818"/>
                <a:gd name="T1" fmla="*/ 238 h 999"/>
                <a:gd name="T2" fmla="*/ 203 w 1818"/>
                <a:gd name="T3" fmla="*/ 299 h 999"/>
                <a:gd name="T4" fmla="*/ 151 w 1818"/>
                <a:gd name="T5" fmla="*/ 342 h 999"/>
                <a:gd name="T6" fmla="*/ 102 w 1818"/>
                <a:gd name="T7" fmla="*/ 349 h 999"/>
                <a:gd name="T8" fmla="*/ 72 w 1818"/>
                <a:gd name="T9" fmla="*/ 370 h 999"/>
                <a:gd name="T10" fmla="*/ 18 w 1818"/>
                <a:gd name="T11" fmla="*/ 418 h 999"/>
                <a:gd name="T12" fmla="*/ 3 w 1818"/>
                <a:gd name="T13" fmla="*/ 453 h 999"/>
                <a:gd name="T14" fmla="*/ 26 w 1818"/>
                <a:gd name="T15" fmla="*/ 470 h 999"/>
                <a:gd name="T16" fmla="*/ 52 w 1818"/>
                <a:gd name="T17" fmla="*/ 483 h 999"/>
                <a:gd name="T18" fmla="*/ 89 w 1818"/>
                <a:gd name="T19" fmla="*/ 486 h 999"/>
                <a:gd name="T20" fmla="*/ 141 w 1818"/>
                <a:gd name="T21" fmla="*/ 486 h 999"/>
                <a:gd name="T22" fmla="*/ 231 w 1818"/>
                <a:gd name="T23" fmla="*/ 497 h 999"/>
                <a:gd name="T24" fmla="*/ 356 w 1818"/>
                <a:gd name="T25" fmla="*/ 500 h 999"/>
                <a:gd name="T26" fmla="*/ 484 w 1818"/>
                <a:gd name="T27" fmla="*/ 498 h 999"/>
                <a:gd name="T28" fmla="*/ 555 w 1818"/>
                <a:gd name="T29" fmla="*/ 493 h 999"/>
                <a:gd name="T30" fmla="*/ 596 w 1818"/>
                <a:gd name="T31" fmla="*/ 478 h 999"/>
                <a:gd name="T32" fmla="*/ 648 w 1818"/>
                <a:gd name="T33" fmla="*/ 451 h 999"/>
                <a:gd name="T34" fmla="*/ 695 w 1818"/>
                <a:gd name="T35" fmla="*/ 414 h 999"/>
                <a:gd name="T36" fmla="*/ 698 w 1818"/>
                <a:gd name="T37" fmla="*/ 292 h 999"/>
                <a:gd name="T38" fmla="*/ 737 w 1818"/>
                <a:gd name="T39" fmla="*/ 287 h 999"/>
                <a:gd name="T40" fmla="*/ 774 w 1818"/>
                <a:gd name="T41" fmla="*/ 315 h 999"/>
                <a:gd name="T42" fmla="*/ 870 w 1818"/>
                <a:gd name="T43" fmla="*/ 295 h 999"/>
                <a:gd name="T44" fmla="*/ 899 w 1818"/>
                <a:gd name="T45" fmla="*/ 168 h 999"/>
                <a:gd name="T46" fmla="*/ 787 w 1818"/>
                <a:gd name="T47" fmla="*/ 97 h 999"/>
                <a:gd name="T48" fmla="*/ 730 w 1818"/>
                <a:gd name="T49" fmla="*/ 131 h 999"/>
                <a:gd name="T50" fmla="*/ 713 w 1818"/>
                <a:gd name="T51" fmla="*/ 159 h 999"/>
                <a:gd name="T52" fmla="*/ 682 w 1818"/>
                <a:gd name="T53" fmla="*/ 161 h 999"/>
                <a:gd name="T54" fmla="*/ 667 w 1818"/>
                <a:gd name="T55" fmla="*/ 146 h 999"/>
                <a:gd name="T56" fmla="*/ 655 w 1818"/>
                <a:gd name="T57" fmla="*/ 132 h 999"/>
                <a:gd name="T58" fmla="*/ 651 w 1818"/>
                <a:gd name="T59" fmla="*/ 115 h 999"/>
                <a:gd name="T60" fmla="*/ 662 w 1818"/>
                <a:gd name="T61" fmla="*/ 101 h 999"/>
                <a:gd name="T62" fmla="*/ 667 w 1818"/>
                <a:gd name="T63" fmla="*/ 87 h 999"/>
                <a:gd name="T64" fmla="*/ 670 w 1818"/>
                <a:gd name="T65" fmla="*/ 30 h 999"/>
                <a:gd name="T66" fmla="*/ 588 w 1818"/>
                <a:gd name="T67" fmla="*/ 0 h 999"/>
                <a:gd name="T68" fmla="*/ 524 w 1818"/>
                <a:gd name="T69" fmla="*/ 37 h 999"/>
                <a:gd name="T70" fmla="*/ 522 w 1818"/>
                <a:gd name="T71" fmla="*/ 59 h 999"/>
                <a:gd name="T72" fmla="*/ 519 w 1818"/>
                <a:gd name="T73" fmla="*/ 79 h 999"/>
                <a:gd name="T74" fmla="*/ 509 w 1818"/>
                <a:gd name="T75" fmla="*/ 97 h 999"/>
                <a:gd name="T76" fmla="*/ 487 w 1818"/>
                <a:gd name="T77" fmla="*/ 103 h 999"/>
                <a:gd name="T78" fmla="*/ 465 w 1818"/>
                <a:gd name="T79" fmla="*/ 108 h 999"/>
                <a:gd name="T80" fmla="*/ 428 w 1818"/>
                <a:gd name="T81" fmla="*/ 120 h 999"/>
                <a:gd name="T82" fmla="*/ 388 w 1818"/>
                <a:gd name="T83" fmla="*/ 135 h 999"/>
                <a:gd name="T84" fmla="*/ 348 w 1818"/>
                <a:gd name="T85" fmla="*/ 150 h 999"/>
                <a:gd name="T86" fmla="*/ 325 w 1818"/>
                <a:gd name="T87" fmla="*/ 169 h 999"/>
                <a:gd name="T88" fmla="*/ 302 w 1818"/>
                <a:gd name="T89" fmla="*/ 188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4" name="Freeform 24">
              <a:extLst>
                <a:ext uri="{FF2B5EF4-FFF2-40B4-BE49-F238E27FC236}">
                  <a16:creationId xmlns:a16="http://schemas.microsoft.com/office/drawing/2014/main" id="{EF93AD36-06B1-4C4F-A033-AD240CD91772}"/>
                </a:ext>
              </a:extLst>
            </p:cNvPr>
            <p:cNvSpPr>
              <a:spLocks/>
            </p:cNvSpPr>
            <p:nvPr/>
          </p:nvSpPr>
          <p:spPr bwMode="auto">
            <a:xfrm>
              <a:off x="3828" y="2732"/>
              <a:ext cx="884" cy="484"/>
            </a:xfrm>
            <a:custGeom>
              <a:avLst/>
              <a:gdLst>
                <a:gd name="T0" fmla="*/ 220 w 1768"/>
                <a:gd name="T1" fmla="*/ 228 h 967"/>
                <a:gd name="T2" fmla="*/ 188 w 1768"/>
                <a:gd name="T3" fmla="*/ 289 h 967"/>
                <a:gd name="T4" fmla="*/ 140 w 1768"/>
                <a:gd name="T5" fmla="*/ 332 h 967"/>
                <a:gd name="T6" fmla="*/ 92 w 1768"/>
                <a:gd name="T7" fmla="*/ 338 h 967"/>
                <a:gd name="T8" fmla="*/ 64 w 1768"/>
                <a:gd name="T9" fmla="*/ 360 h 967"/>
                <a:gd name="T10" fmla="*/ 13 w 1768"/>
                <a:gd name="T11" fmla="*/ 407 h 967"/>
                <a:gd name="T12" fmla="*/ 5 w 1768"/>
                <a:gd name="T13" fmla="*/ 440 h 967"/>
                <a:gd name="T14" fmla="*/ 34 w 1768"/>
                <a:gd name="T15" fmla="*/ 451 h 967"/>
                <a:gd name="T16" fmla="*/ 58 w 1768"/>
                <a:gd name="T17" fmla="*/ 458 h 967"/>
                <a:gd name="T18" fmla="*/ 91 w 1768"/>
                <a:gd name="T19" fmla="*/ 464 h 967"/>
                <a:gd name="T20" fmla="*/ 141 w 1768"/>
                <a:gd name="T21" fmla="*/ 466 h 967"/>
                <a:gd name="T22" fmla="*/ 219 w 1768"/>
                <a:gd name="T23" fmla="*/ 479 h 967"/>
                <a:gd name="T24" fmla="*/ 340 w 1768"/>
                <a:gd name="T25" fmla="*/ 484 h 967"/>
                <a:gd name="T26" fmla="*/ 465 w 1768"/>
                <a:gd name="T27" fmla="*/ 483 h 967"/>
                <a:gd name="T28" fmla="*/ 537 w 1768"/>
                <a:gd name="T29" fmla="*/ 477 h 967"/>
                <a:gd name="T30" fmla="*/ 574 w 1768"/>
                <a:gd name="T31" fmla="*/ 466 h 967"/>
                <a:gd name="T32" fmla="*/ 623 w 1768"/>
                <a:gd name="T33" fmla="*/ 441 h 967"/>
                <a:gd name="T34" fmla="*/ 670 w 1768"/>
                <a:gd name="T35" fmla="*/ 404 h 967"/>
                <a:gd name="T36" fmla="*/ 673 w 1768"/>
                <a:gd name="T37" fmla="*/ 282 h 967"/>
                <a:gd name="T38" fmla="*/ 712 w 1768"/>
                <a:gd name="T39" fmla="*/ 278 h 967"/>
                <a:gd name="T40" fmla="*/ 749 w 1768"/>
                <a:gd name="T41" fmla="*/ 306 h 967"/>
                <a:gd name="T42" fmla="*/ 845 w 1768"/>
                <a:gd name="T43" fmla="*/ 285 h 967"/>
                <a:gd name="T44" fmla="*/ 872 w 1768"/>
                <a:gd name="T45" fmla="*/ 160 h 967"/>
                <a:gd name="T46" fmla="*/ 759 w 1768"/>
                <a:gd name="T47" fmla="*/ 92 h 967"/>
                <a:gd name="T48" fmla="*/ 702 w 1768"/>
                <a:gd name="T49" fmla="*/ 124 h 967"/>
                <a:gd name="T50" fmla="*/ 687 w 1768"/>
                <a:gd name="T51" fmla="*/ 150 h 967"/>
                <a:gd name="T52" fmla="*/ 657 w 1768"/>
                <a:gd name="T53" fmla="*/ 152 h 967"/>
                <a:gd name="T54" fmla="*/ 642 w 1768"/>
                <a:gd name="T55" fmla="*/ 135 h 967"/>
                <a:gd name="T56" fmla="*/ 629 w 1768"/>
                <a:gd name="T57" fmla="*/ 121 h 967"/>
                <a:gd name="T58" fmla="*/ 624 w 1768"/>
                <a:gd name="T59" fmla="*/ 104 h 967"/>
                <a:gd name="T60" fmla="*/ 630 w 1768"/>
                <a:gd name="T61" fmla="*/ 88 h 967"/>
                <a:gd name="T62" fmla="*/ 632 w 1768"/>
                <a:gd name="T63" fmla="*/ 74 h 967"/>
                <a:gd name="T64" fmla="*/ 628 w 1768"/>
                <a:gd name="T65" fmla="*/ 25 h 967"/>
                <a:gd name="T66" fmla="*/ 554 w 1768"/>
                <a:gd name="T67" fmla="*/ 0 h 967"/>
                <a:gd name="T68" fmla="*/ 500 w 1768"/>
                <a:gd name="T69" fmla="*/ 30 h 967"/>
                <a:gd name="T70" fmla="*/ 497 w 1768"/>
                <a:gd name="T71" fmla="*/ 51 h 967"/>
                <a:gd name="T72" fmla="*/ 493 w 1768"/>
                <a:gd name="T73" fmla="*/ 70 h 967"/>
                <a:gd name="T74" fmla="*/ 484 w 1768"/>
                <a:gd name="T75" fmla="*/ 88 h 967"/>
                <a:gd name="T76" fmla="*/ 462 w 1768"/>
                <a:gd name="T77" fmla="*/ 93 h 967"/>
                <a:gd name="T78" fmla="*/ 440 w 1768"/>
                <a:gd name="T79" fmla="*/ 98 h 967"/>
                <a:gd name="T80" fmla="*/ 404 w 1768"/>
                <a:gd name="T81" fmla="*/ 110 h 967"/>
                <a:gd name="T82" fmla="*/ 363 w 1768"/>
                <a:gd name="T83" fmla="*/ 125 h 967"/>
                <a:gd name="T84" fmla="*/ 323 w 1768"/>
                <a:gd name="T85" fmla="*/ 140 h 967"/>
                <a:gd name="T86" fmla="*/ 300 w 1768"/>
                <a:gd name="T87" fmla="*/ 159 h 967"/>
                <a:gd name="T88" fmla="*/ 278 w 1768"/>
                <a:gd name="T89" fmla="*/ 178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5" name="Freeform 25">
              <a:extLst>
                <a:ext uri="{FF2B5EF4-FFF2-40B4-BE49-F238E27FC236}">
                  <a16:creationId xmlns:a16="http://schemas.microsoft.com/office/drawing/2014/main" id="{74F23FAE-6E4B-D849-B9EA-C9C167BFD199}"/>
                </a:ext>
              </a:extLst>
            </p:cNvPr>
            <p:cNvSpPr>
              <a:spLocks/>
            </p:cNvSpPr>
            <p:nvPr/>
          </p:nvSpPr>
          <p:spPr bwMode="auto">
            <a:xfrm>
              <a:off x="3852" y="2741"/>
              <a:ext cx="858" cy="468"/>
            </a:xfrm>
            <a:custGeom>
              <a:avLst/>
              <a:gdLst>
                <a:gd name="T0" fmla="*/ 198 w 1715"/>
                <a:gd name="T1" fmla="*/ 219 h 938"/>
                <a:gd name="T2" fmla="*/ 173 w 1715"/>
                <a:gd name="T3" fmla="*/ 278 h 938"/>
                <a:gd name="T4" fmla="*/ 129 w 1715"/>
                <a:gd name="T5" fmla="*/ 321 h 938"/>
                <a:gd name="T6" fmla="*/ 82 w 1715"/>
                <a:gd name="T7" fmla="*/ 328 h 938"/>
                <a:gd name="T8" fmla="*/ 55 w 1715"/>
                <a:gd name="T9" fmla="*/ 352 h 938"/>
                <a:gd name="T10" fmla="*/ 8 w 1715"/>
                <a:gd name="T11" fmla="*/ 397 h 938"/>
                <a:gd name="T12" fmla="*/ 8 w 1715"/>
                <a:gd name="T13" fmla="*/ 428 h 938"/>
                <a:gd name="T14" fmla="*/ 44 w 1715"/>
                <a:gd name="T15" fmla="*/ 431 h 938"/>
                <a:gd name="T16" fmla="*/ 66 w 1715"/>
                <a:gd name="T17" fmla="*/ 433 h 938"/>
                <a:gd name="T18" fmla="*/ 94 w 1715"/>
                <a:gd name="T19" fmla="*/ 440 h 938"/>
                <a:gd name="T20" fmla="*/ 141 w 1715"/>
                <a:gd name="T21" fmla="*/ 443 h 938"/>
                <a:gd name="T22" fmla="*/ 207 w 1715"/>
                <a:gd name="T23" fmla="*/ 460 h 938"/>
                <a:gd name="T24" fmla="*/ 323 w 1715"/>
                <a:gd name="T25" fmla="*/ 468 h 938"/>
                <a:gd name="T26" fmla="*/ 447 w 1715"/>
                <a:gd name="T27" fmla="*/ 468 h 938"/>
                <a:gd name="T28" fmla="*/ 521 w 1715"/>
                <a:gd name="T29" fmla="*/ 462 h 938"/>
                <a:gd name="T30" fmla="*/ 554 w 1715"/>
                <a:gd name="T31" fmla="*/ 454 h 938"/>
                <a:gd name="T32" fmla="*/ 598 w 1715"/>
                <a:gd name="T33" fmla="*/ 432 h 938"/>
                <a:gd name="T34" fmla="*/ 646 w 1715"/>
                <a:gd name="T35" fmla="*/ 395 h 938"/>
                <a:gd name="T36" fmla="*/ 648 w 1715"/>
                <a:gd name="T37" fmla="*/ 273 h 938"/>
                <a:gd name="T38" fmla="*/ 688 w 1715"/>
                <a:gd name="T39" fmla="*/ 268 h 938"/>
                <a:gd name="T40" fmla="*/ 724 w 1715"/>
                <a:gd name="T41" fmla="*/ 296 h 938"/>
                <a:gd name="T42" fmla="*/ 821 w 1715"/>
                <a:gd name="T43" fmla="*/ 276 h 938"/>
                <a:gd name="T44" fmla="*/ 846 w 1715"/>
                <a:gd name="T45" fmla="*/ 153 h 938"/>
                <a:gd name="T46" fmla="*/ 731 w 1715"/>
                <a:gd name="T47" fmla="*/ 86 h 938"/>
                <a:gd name="T48" fmla="*/ 675 w 1715"/>
                <a:gd name="T49" fmla="*/ 118 h 938"/>
                <a:gd name="T50" fmla="*/ 662 w 1715"/>
                <a:gd name="T51" fmla="*/ 142 h 938"/>
                <a:gd name="T52" fmla="*/ 633 w 1715"/>
                <a:gd name="T53" fmla="*/ 143 h 938"/>
                <a:gd name="T54" fmla="*/ 617 w 1715"/>
                <a:gd name="T55" fmla="*/ 126 h 938"/>
                <a:gd name="T56" fmla="*/ 605 w 1715"/>
                <a:gd name="T57" fmla="*/ 111 h 938"/>
                <a:gd name="T58" fmla="*/ 598 w 1715"/>
                <a:gd name="T59" fmla="*/ 93 h 938"/>
                <a:gd name="T60" fmla="*/ 600 w 1715"/>
                <a:gd name="T61" fmla="*/ 76 h 938"/>
                <a:gd name="T62" fmla="*/ 596 w 1715"/>
                <a:gd name="T63" fmla="*/ 61 h 938"/>
                <a:gd name="T64" fmla="*/ 586 w 1715"/>
                <a:gd name="T65" fmla="*/ 19 h 938"/>
                <a:gd name="T66" fmla="*/ 521 w 1715"/>
                <a:gd name="T67" fmla="*/ 0 h 938"/>
                <a:gd name="T68" fmla="*/ 479 w 1715"/>
                <a:gd name="T69" fmla="*/ 22 h 938"/>
                <a:gd name="T70" fmla="*/ 475 w 1715"/>
                <a:gd name="T71" fmla="*/ 43 h 938"/>
                <a:gd name="T72" fmla="*/ 469 w 1715"/>
                <a:gd name="T73" fmla="*/ 61 h 938"/>
                <a:gd name="T74" fmla="*/ 460 w 1715"/>
                <a:gd name="T75" fmla="*/ 79 h 938"/>
                <a:gd name="T76" fmla="*/ 438 w 1715"/>
                <a:gd name="T77" fmla="*/ 84 h 938"/>
                <a:gd name="T78" fmla="*/ 415 w 1715"/>
                <a:gd name="T79" fmla="*/ 89 h 938"/>
                <a:gd name="T80" fmla="*/ 379 w 1715"/>
                <a:gd name="T81" fmla="*/ 101 h 938"/>
                <a:gd name="T82" fmla="*/ 339 w 1715"/>
                <a:gd name="T83" fmla="*/ 116 h 938"/>
                <a:gd name="T84" fmla="*/ 299 w 1715"/>
                <a:gd name="T85" fmla="*/ 131 h 938"/>
                <a:gd name="T86" fmla="*/ 276 w 1715"/>
                <a:gd name="T87" fmla="*/ 150 h 938"/>
                <a:gd name="T88" fmla="*/ 253 w 1715"/>
                <a:gd name="T89" fmla="*/ 169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6" name="Freeform 26">
              <a:extLst>
                <a:ext uri="{FF2B5EF4-FFF2-40B4-BE49-F238E27FC236}">
                  <a16:creationId xmlns:a16="http://schemas.microsoft.com/office/drawing/2014/main" id="{1DB1B6E1-BEA7-1E4D-A6D9-510C9559139B}"/>
                </a:ext>
              </a:extLst>
            </p:cNvPr>
            <p:cNvSpPr>
              <a:spLocks/>
            </p:cNvSpPr>
            <p:nvPr/>
          </p:nvSpPr>
          <p:spPr bwMode="auto">
            <a:xfrm>
              <a:off x="3586" y="3162"/>
              <a:ext cx="125" cy="124"/>
            </a:xfrm>
            <a:custGeom>
              <a:avLst/>
              <a:gdLst>
                <a:gd name="T0" fmla="*/ 57 w 251"/>
                <a:gd name="T1" fmla="*/ 121 h 249"/>
                <a:gd name="T2" fmla="*/ 69 w 251"/>
                <a:gd name="T3" fmla="*/ 122 h 249"/>
                <a:gd name="T4" fmla="*/ 83 w 251"/>
                <a:gd name="T5" fmla="*/ 123 h 249"/>
                <a:gd name="T6" fmla="*/ 97 w 251"/>
                <a:gd name="T7" fmla="*/ 124 h 249"/>
                <a:gd name="T8" fmla="*/ 109 w 251"/>
                <a:gd name="T9" fmla="*/ 123 h 249"/>
                <a:gd name="T10" fmla="*/ 119 w 251"/>
                <a:gd name="T11" fmla="*/ 117 h 249"/>
                <a:gd name="T12" fmla="*/ 125 w 251"/>
                <a:gd name="T13" fmla="*/ 108 h 249"/>
                <a:gd name="T14" fmla="*/ 125 w 251"/>
                <a:gd name="T15" fmla="*/ 91 h 249"/>
                <a:gd name="T16" fmla="*/ 119 w 251"/>
                <a:gd name="T17" fmla="*/ 70 h 249"/>
                <a:gd name="T18" fmla="*/ 113 w 251"/>
                <a:gd name="T19" fmla="*/ 61 h 249"/>
                <a:gd name="T20" fmla="*/ 108 w 251"/>
                <a:gd name="T21" fmla="*/ 53 h 249"/>
                <a:gd name="T22" fmla="*/ 103 w 251"/>
                <a:gd name="T23" fmla="*/ 44 h 249"/>
                <a:gd name="T24" fmla="*/ 98 w 251"/>
                <a:gd name="T25" fmla="*/ 36 h 249"/>
                <a:gd name="T26" fmla="*/ 92 w 251"/>
                <a:gd name="T27" fmla="*/ 27 h 249"/>
                <a:gd name="T28" fmla="*/ 87 w 251"/>
                <a:gd name="T29" fmla="*/ 19 h 249"/>
                <a:gd name="T30" fmla="*/ 82 w 251"/>
                <a:gd name="T31" fmla="*/ 10 h 249"/>
                <a:gd name="T32" fmla="*/ 77 w 251"/>
                <a:gd name="T33" fmla="*/ 2 h 249"/>
                <a:gd name="T34" fmla="*/ 47 w 251"/>
                <a:gd name="T35" fmla="*/ 0 h 249"/>
                <a:gd name="T36" fmla="*/ 23 w 251"/>
                <a:gd name="T37" fmla="*/ 7 h 249"/>
                <a:gd name="T38" fmla="*/ 7 w 251"/>
                <a:gd name="T39" fmla="*/ 21 h 249"/>
                <a:gd name="T40" fmla="*/ 0 w 251"/>
                <a:gd name="T41" fmla="*/ 39 h 249"/>
                <a:gd name="T42" fmla="*/ 0 w 251"/>
                <a:gd name="T43" fmla="*/ 60 h 249"/>
                <a:gd name="T44" fmla="*/ 9 w 251"/>
                <a:gd name="T45" fmla="*/ 83 h 249"/>
                <a:gd name="T46" fmla="*/ 28 w 251"/>
                <a:gd name="T47" fmla="*/ 103 h 249"/>
                <a:gd name="T48" fmla="*/ 57 w 251"/>
                <a:gd name="T49" fmla="*/ 121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7" name="Freeform 27">
              <a:extLst>
                <a:ext uri="{FF2B5EF4-FFF2-40B4-BE49-F238E27FC236}">
                  <a16:creationId xmlns:a16="http://schemas.microsoft.com/office/drawing/2014/main" id="{3C7FE8F5-9929-5F4C-9E56-C74B48B1C315}"/>
                </a:ext>
              </a:extLst>
            </p:cNvPr>
            <p:cNvSpPr>
              <a:spLocks/>
            </p:cNvSpPr>
            <p:nvPr/>
          </p:nvSpPr>
          <p:spPr bwMode="auto">
            <a:xfrm>
              <a:off x="4057" y="2832"/>
              <a:ext cx="442" cy="196"/>
            </a:xfrm>
            <a:custGeom>
              <a:avLst/>
              <a:gdLst>
                <a:gd name="T0" fmla="*/ 0 w 883"/>
                <a:gd name="T1" fmla="*/ 113 h 392"/>
                <a:gd name="T2" fmla="*/ 8 w 883"/>
                <a:gd name="T3" fmla="*/ 110 h 392"/>
                <a:gd name="T4" fmla="*/ 18 w 883"/>
                <a:gd name="T5" fmla="*/ 108 h 392"/>
                <a:gd name="T6" fmla="*/ 28 w 883"/>
                <a:gd name="T7" fmla="*/ 106 h 392"/>
                <a:gd name="T8" fmla="*/ 38 w 883"/>
                <a:gd name="T9" fmla="*/ 106 h 392"/>
                <a:gd name="T10" fmla="*/ 48 w 883"/>
                <a:gd name="T11" fmla="*/ 106 h 392"/>
                <a:gd name="T12" fmla="*/ 59 w 883"/>
                <a:gd name="T13" fmla="*/ 108 h 392"/>
                <a:gd name="T14" fmla="*/ 68 w 883"/>
                <a:gd name="T15" fmla="*/ 110 h 392"/>
                <a:gd name="T16" fmla="*/ 77 w 883"/>
                <a:gd name="T17" fmla="*/ 113 h 392"/>
                <a:gd name="T18" fmla="*/ 99 w 883"/>
                <a:gd name="T19" fmla="*/ 145 h 392"/>
                <a:gd name="T20" fmla="*/ 120 w 883"/>
                <a:gd name="T21" fmla="*/ 168 h 392"/>
                <a:gd name="T22" fmla="*/ 142 w 883"/>
                <a:gd name="T23" fmla="*/ 182 h 392"/>
                <a:gd name="T24" fmla="*/ 166 w 883"/>
                <a:gd name="T25" fmla="*/ 191 h 392"/>
                <a:gd name="T26" fmla="*/ 191 w 883"/>
                <a:gd name="T27" fmla="*/ 195 h 392"/>
                <a:gd name="T28" fmla="*/ 221 w 883"/>
                <a:gd name="T29" fmla="*/ 196 h 392"/>
                <a:gd name="T30" fmla="*/ 256 w 883"/>
                <a:gd name="T31" fmla="*/ 196 h 392"/>
                <a:gd name="T32" fmla="*/ 297 w 883"/>
                <a:gd name="T33" fmla="*/ 196 h 392"/>
                <a:gd name="T34" fmla="*/ 317 w 883"/>
                <a:gd name="T35" fmla="*/ 181 h 392"/>
                <a:gd name="T36" fmla="*/ 337 w 883"/>
                <a:gd name="T37" fmla="*/ 168 h 392"/>
                <a:gd name="T38" fmla="*/ 356 w 883"/>
                <a:gd name="T39" fmla="*/ 154 h 392"/>
                <a:gd name="T40" fmla="*/ 376 w 883"/>
                <a:gd name="T41" fmla="*/ 139 h 392"/>
                <a:gd name="T42" fmla="*/ 394 w 883"/>
                <a:gd name="T43" fmla="*/ 121 h 392"/>
                <a:gd name="T44" fmla="*/ 411 w 883"/>
                <a:gd name="T45" fmla="*/ 101 h 392"/>
                <a:gd name="T46" fmla="*/ 426 w 883"/>
                <a:gd name="T47" fmla="*/ 79 h 392"/>
                <a:gd name="T48" fmla="*/ 442 w 883"/>
                <a:gd name="T49" fmla="*/ 54 h 392"/>
                <a:gd name="T50" fmla="*/ 363 w 883"/>
                <a:gd name="T51" fmla="*/ 73 h 392"/>
                <a:gd name="T52" fmla="*/ 292 w 883"/>
                <a:gd name="T53" fmla="*/ 77 h 392"/>
                <a:gd name="T54" fmla="*/ 230 w 883"/>
                <a:gd name="T55" fmla="*/ 70 h 392"/>
                <a:gd name="T56" fmla="*/ 178 w 883"/>
                <a:gd name="T57" fmla="*/ 55 h 392"/>
                <a:gd name="T58" fmla="*/ 136 w 883"/>
                <a:gd name="T59" fmla="*/ 37 h 392"/>
                <a:gd name="T60" fmla="*/ 105 w 883"/>
                <a:gd name="T61" fmla="*/ 19 h 392"/>
                <a:gd name="T62" fmla="*/ 86 w 883"/>
                <a:gd name="T63" fmla="*/ 5 h 392"/>
                <a:gd name="T64" fmla="*/ 80 w 883"/>
                <a:gd name="T65" fmla="*/ 0 h 392"/>
                <a:gd name="T66" fmla="*/ 63 w 883"/>
                <a:gd name="T67" fmla="*/ 10 h 392"/>
                <a:gd name="T68" fmla="*/ 50 w 883"/>
                <a:gd name="T69" fmla="*/ 22 h 392"/>
                <a:gd name="T70" fmla="*/ 38 w 883"/>
                <a:gd name="T71" fmla="*/ 33 h 392"/>
                <a:gd name="T72" fmla="*/ 28 w 883"/>
                <a:gd name="T73" fmla="*/ 46 h 392"/>
                <a:gd name="T74" fmla="*/ 18 w 883"/>
                <a:gd name="T75" fmla="*/ 59 h 392"/>
                <a:gd name="T76" fmla="*/ 11 w 883"/>
                <a:gd name="T77" fmla="*/ 76 h 392"/>
                <a:gd name="T78" fmla="*/ 5 w 883"/>
                <a:gd name="T79" fmla="*/ 93 h 392"/>
                <a:gd name="T80" fmla="*/ 0 w 883"/>
                <a:gd name="T81" fmla="*/ 113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8" name="Freeform 28">
              <a:extLst>
                <a:ext uri="{FF2B5EF4-FFF2-40B4-BE49-F238E27FC236}">
                  <a16:creationId xmlns:a16="http://schemas.microsoft.com/office/drawing/2014/main" id="{7D0453C3-ED48-3F4D-AC6D-577951B23EFF}"/>
                </a:ext>
              </a:extLst>
            </p:cNvPr>
            <p:cNvSpPr>
              <a:spLocks/>
            </p:cNvSpPr>
            <p:nvPr/>
          </p:nvSpPr>
          <p:spPr bwMode="auto">
            <a:xfrm>
              <a:off x="4187" y="2909"/>
              <a:ext cx="100" cy="94"/>
            </a:xfrm>
            <a:custGeom>
              <a:avLst/>
              <a:gdLst>
                <a:gd name="T0" fmla="*/ 0 w 201"/>
                <a:gd name="T1" fmla="*/ 54 h 188"/>
                <a:gd name="T2" fmla="*/ 7 w 201"/>
                <a:gd name="T3" fmla="*/ 73 h 188"/>
                <a:gd name="T4" fmla="*/ 20 w 201"/>
                <a:gd name="T5" fmla="*/ 86 h 188"/>
                <a:gd name="T6" fmla="*/ 36 w 201"/>
                <a:gd name="T7" fmla="*/ 93 h 188"/>
                <a:gd name="T8" fmla="*/ 54 w 201"/>
                <a:gd name="T9" fmla="*/ 94 h 188"/>
                <a:gd name="T10" fmla="*/ 71 w 201"/>
                <a:gd name="T11" fmla="*/ 88 h 188"/>
                <a:gd name="T12" fmla="*/ 86 w 201"/>
                <a:gd name="T13" fmla="*/ 75 h 188"/>
                <a:gd name="T14" fmla="*/ 96 w 201"/>
                <a:gd name="T15" fmla="*/ 54 h 188"/>
                <a:gd name="T16" fmla="*/ 100 w 201"/>
                <a:gd name="T17" fmla="*/ 27 h 188"/>
                <a:gd name="T18" fmla="*/ 82 w 201"/>
                <a:gd name="T19" fmla="*/ 13 h 188"/>
                <a:gd name="T20" fmla="*/ 64 w 201"/>
                <a:gd name="T21" fmla="*/ 5 h 188"/>
                <a:gd name="T22" fmla="*/ 47 w 201"/>
                <a:gd name="T23" fmla="*/ 0 h 188"/>
                <a:gd name="T24" fmla="*/ 32 w 201"/>
                <a:gd name="T25" fmla="*/ 1 h 188"/>
                <a:gd name="T26" fmla="*/ 19 w 201"/>
                <a:gd name="T27" fmla="*/ 6 h 188"/>
                <a:gd name="T28" fmla="*/ 9 w 201"/>
                <a:gd name="T29" fmla="*/ 17 h 188"/>
                <a:gd name="T30" fmla="*/ 1 w 201"/>
                <a:gd name="T31" fmla="*/ 33 h 188"/>
                <a:gd name="T32" fmla="*/ 0 w 201"/>
                <a:gd name="T33" fmla="*/ 54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 name="Freeform 29">
              <a:extLst>
                <a:ext uri="{FF2B5EF4-FFF2-40B4-BE49-F238E27FC236}">
                  <a16:creationId xmlns:a16="http://schemas.microsoft.com/office/drawing/2014/main" id="{1C013361-6CC7-0D42-A3C8-815622670E16}"/>
                </a:ext>
              </a:extLst>
            </p:cNvPr>
            <p:cNvSpPr>
              <a:spLocks/>
            </p:cNvSpPr>
            <p:nvPr/>
          </p:nvSpPr>
          <p:spPr bwMode="auto">
            <a:xfrm>
              <a:off x="4085" y="2857"/>
              <a:ext cx="73" cy="69"/>
            </a:xfrm>
            <a:custGeom>
              <a:avLst/>
              <a:gdLst>
                <a:gd name="T0" fmla="*/ 5 w 145"/>
                <a:gd name="T1" fmla="*/ 37 h 138"/>
                <a:gd name="T2" fmla="*/ 0 w 145"/>
                <a:gd name="T3" fmla="*/ 53 h 138"/>
                <a:gd name="T4" fmla="*/ 2 w 145"/>
                <a:gd name="T5" fmla="*/ 63 h 138"/>
                <a:gd name="T6" fmla="*/ 9 w 145"/>
                <a:gd name="T7" fmla="*/ 68 h 138"/>
                <a:gd name="T8" fmla="*/ 20 w 145"/>
                <a:gd name="T9" fmla="*/ 69 h 138"/>
                <a:gd name="T10" fmla="*/ 33 w 145"/>
                <a:gd name="T11" fmla="*/ 66 h 138"/>
                <a:gd name="T12" fmla="*/ 47 w 145"/>
                <a:gd name="T13" fmla="*/ 60 h 138"/>
                <a:gd name="T14" fmla="*/ 61 w 145"/>
                <a:gd name="T15" fmla="*/ 53 h 138"/>
                <a:gd name="T16" fmla="*/ 73 w 145"/>
                <a:gd name="T17" fmla="*/ 44 h 138"/>
                <a:gd name="T18" fmla="*/ 70 w 145"/>
                <a:gd name="T19" fmla="*/ 26 h 138"/>
                <a:gd name="T20" fmla="*/ 65 w 145"/>
                <a:gd name="T21" fmla="*/ 13 h 138"/>
                <a:gd name="T22" fmla="*/ 57 w 145"/>
                <a:gd name="T23" fmla="*/ 4 h 138"/>
                <a:gd name="T24" fmla="*/ 49 w 145"/>
                <a:gd name="T25" fmla="*/ 0 h 138"/>
                <a:gd name="T26" fmla="*/ 39 w 145"/>
                <a:gd name="T27" fmla="*/ 0 h 138"/>
                <a:gd name="T28" fmla="*/ 28 w 145"/>
                <a:gd name="T29" fmla="*/ 6 h 138"/>
                <a:gd name="T30" fmla="*/ 17 w 145"/>
                <a:gd name="T31" fmla="*/ 18 h 138"/>
                <a:gd name="T32" fmla="*/ 5 w 145"/>
                <a:gd name="T33" fmla="*/ 3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 name="Freeform 30">
              <a:extLst>
                <a:ext uri="{FF2B5EF4-FFF2-40B4-BE49-F238E27FC236}">
                  <a16:creationId xmlns:a16="http://schemas.microsoft.com/office/drawing/2014/main" id="{B8D996EB-6A3A-4344-9862-1D2B9BFF4300}"/>
                </a:ext>
              </a:extLst>
            </p:cNvPr>
            <p:cNvSpPr>
              <a:spLocks/>
            </p:cNvSpPr>
            <p:nvPr/>
          </p:nvSpPr>
          <p:spPr bwMode="auto">
            <a:xfrm>
              <a:off x="4368" y="2842"/>
              <a:ext cx="602" cy="916"/>
            </a:xfrm>
            <a:custGeom>
              <a:avLst/>
              <a:gdLst>
                <a:gd name="T0" fmla="*/ 81 w 1204"/>
                <a:gd name="T1" fmla="*/ 0 h 1832"/>
                <a:gd name="T2" fmla="*/ 153 w 1204"/>
                <a:gd name="T3" fmla="*/ 27 h 1832"/>
                <a:gd name="T4" fmla="*/ 222 w 1204"/>
                <a:gd name="T5" fmla="*/ 62 h 1832"/>
                <a:gd name="T6" fmla="*/ 287 w 1204"/>
                <a:gd name="T7" fmla="*/ 106 h 1832"/>
                <a:gd name="T8" fmla="*/ 346 w 1204"/>
                <a:gd name="T9" fmla="*/ 155 h 1832"/>
                <a:gd name="T10" fmla="*/ 403 w 1204"/>
                <a:gd name="T11" fmla="*/ 210 h 1832"/>
                <a:gd name="T12" fmla="*/ 456 w 1204"/>
                <a:gd name="T13" fmla="*/ 270 h 1832"/>
                <a:gd name="T14" fmla="*/ 506 w 1204"/>
                <a:gd name="T15" fmla="*/ 335 h 1832"/>
                <a:gd name="T16" fmla="*/ 555 w 1204"/>
                <a:gd name="T17" fmla="*/ 404 h 1832"/>
                <a:gd name="T18" fmla="*/ 574 w 1204"/>
                <a:gd name="T19" fmla="*/ 468 h 1832"/>
                <a:gd name="T20" fmla="*/ 588 w 1204"/>
                <a:gd name="T21" fmla="*/ 525 h 1832"/>
                <a:gd name="T22" fmla="*/ 597 w 1204"/>
                <a:gd name="T23" fmla="*/ 575 h 1832"/>
                <a:gd name="T24" fmla="*/ 602 w 1204"/>
                <a:gd name="T25" fmla="*/ 624 h 1832"/>
                <a:gd name="T26" fmla="*/ 601 w 1204"/>
                <a:gd name="T27" fmla="*/ 671 h 1832"/>
                <a:gd name="T28" fmla="*/ 598 w 1204"/>
                <a:gd name="T29" fmla="*/ 723 h 1832"/>
                <a:gd name="T30" fmla="*/ 591 w 1204"/>
                <a:gd name="T31" fmla="*/ 780 h 1832"/>
                <a:gd name="T32" fmla="*/ 581 w 1204"/>
                <a:gd name="T33" fmla="*/ 848 h 1832"/>
                <a:gd name="T34" fmla="*/ 473 w 1204"/>
                <a:gd name="T35" fmla="*/ 879 h 1832"/>
                <a:gd name="T36" fmla="*/ 363 w 1204"/>
                <a:gd name="T37" fmla="*/ 904 h 1832"/>
                <a:gd name="T38" fmla="*/ 258 w 1204"/>
                <a:gd name="T39" fmla="*/ 916 h 1832"/>
                <a:gd name="T40" fmla="*/ 162 w 1204"/>
                <a:gd name="T41" fmla="*/ 909 h 1832"/>
                <a:gd name="T42" fmla="*/ 82 w 1204"/>
                <a:gd name="T43" fmla="*/ 874 h 1832"/>
                <a:gd name="T44" fmla="*/ 27 w 1204"/>
                <a:gd name="T45" fmla="*/ 807 h 1832"/>
                <a:gd name="T46" fmla="*/ 0 w 1204"/>
                <a:gd name="T47" fmla="*/ 701 h 1832"/>
                <a:gd name="T48" fmla="*/ 9 w 1204"/>
                <a:gd name="T49" fmla="*/ 550 h 1832"/>
                <a:gd name="T50" fmla="*/ 16 w 1204"/>
                <a:gd name="T51" fmla="*/ 542 h 1832"/>
                <a:gd name="T52" fmla="*/ 24 w 1204"/>
                <a:gd name="T53" fmla="*/ 533 h 1832"/>
                <a:gd name="T54" fmla="*/ 33 w 1204"/>
                <a:gd name="T55" fmla="*/ 525 h 1832"/>
                <a:gd name="T56" fmla="*/ 40 w 1204"/>
                <a:gd name="T57" fmla="*/ 518 h 1832"/>
                <a:gd name="T58" fmla="*/ 48 w 1204"/>
                <a:gd name="T59" fmla="*/ 509 h 1832"/>
                <a:gd name="T60" fmla="*/ 56 w 1204"/>
                <a:gd name="T61" fmla="*/ 501 h 1832"/>
                <a:gd name="T62" fmla="*/ 65 w 1204"/>
                <a:gd name="T63" fmla="*/ 493 h 1832"/>
                <a:gd name="T64" fmla="*/ 73 w 1204"/>
                <a:gd name="T65" fmla="*/ 485 h 1832"/>
                <a:gd name="T66" fmla="*/ 65 w 1204"/>
                <a:gd name="T67" fmla="*/ 466 h 1832"/>
                <a:gd name="T68" fmla="*/ 56 w 1204"/>
                <a:gd name="T69" fmla="*/ 447 h 1832"/>
                <a:gd name="T70" fmla="*/ 48 w 1204"/>
                <a:gd name="T71" fmla="*/ 428 h 1832"/>
                <a:gd name="T72" fmla="*/ 40 w 1204"/>
                <a:gd name="T73" fmla="*/ 409 h 1832"/>
                <a:gd name="T74" fmla="*/ 33 w 1204"/>
                <a:gd name="T75" fmla="*/ 389 h 1832"/>
                <a:gd name="T76" fmla="*/ 24 w 1204"/>
                <a:gd name="T77" fmla="*/ 370 h 1832"/>
                <a:gd name="T78" fmla="*/ 16 w 1204"/>
                <a:gd name="T79" fmla="*/ 351 h 1832"/>
                <a:gd name="T80" fmla="*/ 9 w 1204"/>
                <a:gd name="T81" fmla="*/ 332 h 1832"/>
                <a:gd name="T82" fmla="*/ 15 w 1204"/>
                <a:gd name="T83" fmla="*/ 314 h 1832"/>
                <a:gd name="T84" fmla="*/ 23 w 1204"/>
                <a:gd name="T85" fmla="*/ 296 h 1832"/>
                <a:gd name="T86" fmla="*/ 30 w 1204"/>
                <a:gd name="T87" fmla="*/ 278 h 1832"/>
                <a:gd name="T88" fmla="*/ 38 w 1204"/>
                <a:gd name="T89" fmla="*/ 261 h 1832"/>
                <a:gd name="T90" fmla="*/ 45 w 1204"/>
                <a:gd name="T91" fmla="*/ 242 h 1832"/>
                <a:gd name="T92" fmla="*/ 53 w 1204"/>
                <a:gd name="T93" fmla="*/ 225 h 1832"/>
                <a:gd name="T94" fmla="*/ 60 w 1204"/>
                <a:gd name="T95" fmla="*/ 208 h 1832"/>
                <a:gd name="T96" fmla="*/ 68 w 1204"/>
                <a:gd name="T97" fmla="*/ 191 h 1832"/>
                <a:gd name="T98" fmla="*/ 72 w 1204"/>
                <a:gd name="T99" fmla="*/ 168 h 1832"/>
                <a:gd name="T100" fmla="*/ 74 w 1204"/>
                <a:gd name="T101" fmla="*/ 144 h 1832"/>
                <a:gd name="T102" fmla="*/ 74 w 1204"/>
                <a:gd name="T103" fmla="*/ 119 h 1832"/>
                <a:gd name="T104" fmla="*/ 75 w 1204"/>
                <a:gd name="T105" fmla="*/ 96 h 1832"/>
                <a:gd name="T106" fmla="*/ 75 w 1204"/>
                <a:gd name="T107" fmla="*/ 70 h 1832"/>
                <a:gd name="T108" fmla="*/ 75 w 1204"/>
                <a:gd name="T109" fmla="*/ 46 h 1832"/>
                <a:gd name="T110" fmla="*/ 77 w 1204"/>
                <a:gd name="T111" fmla="*/ 22 h 1832"/>
                <a:gd name="T112" fmla="*/ 81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 name="Freeform 31">
              <a:extLst>
                <a:ext uri="{FF2B5EF4-FFF2-40B4-BE49-F238E27FC236}">
                  <a16:creationId xmlns:a16="http://schemas.microsoft.com/office/drawing/2014/main" id="{C22FD341-1FB6-4D4B-9009-5FEE6A623BFB}"/>
                </a:ext>
              </a:extLst>
            </p:cNvPr>
            <p:cNvSpPr>
              <a:spLocks/>
            </p:cNvSpPr>
            <p:nvPr/>
          </p:nvSpPr>
          <p:spPr bwMode="auto">
            <a:xfrm>
              <a:off x="4377" y="2842"/>
              <a:ext cx="588" cy="902"/>
            </a:xfrm>
            <a:custGeom>
              <a:avLst/>
              <a:gdLst>
                <a:gd name="T0" fmla="*/ 73 w 1177"/>
                <a:gd name="T1" fmla="*/ 0 h 1806"/>
                <a:gd name="T2" fmla="*/ 145 w 1177"/>
                <a:gd name="T3" fmla="*/ 27 h 1806"/>
                <a:gd name="T4" fmla="*/ 212 w 1177"/>
                <a:gd name="T5" fmla="*/ 62 h 1806"/>
                <a:gd name="T6" fmla="*/ 276 w 1177"/>
                <a:gd name="T7" fmla="*/ 105 h 1806"/>
                <a:gd name="T8" fmla="*/ 335 w 1177"/>
                <a:gd name="T9" fmla="*/ 155 h 1806"/>
                <a:gd name="T10" fmla="*/ 391 w 1177"/>
                <a:gd name="T11" fmla="*/ 209 h 1806"/>
                <a:gd name="T12" fmla="*/ 444 w 1177"/>
                <a:gd name="T13" fmla="*/ 269 h 1806"/>
                <a:gd name="T14" fmla="*/ 493 w 1177"/>
                <a:gd name="T15" fmla="*/ 334 h 1806"/>
                <a:gd name="T16" fmla="*/ 542 w 1177"/>
                <a:gd name="T17" fmla="*/ 403 h 1806"/>
                <a:gd name="T18" fmla="*/ 560 w 1177"/>
                <a:gd name="T19" fmla="*/ 467 h 1806"/>
                <a:gd name="T20" fmla="*/ 575 w 1177"/>
                <a:gd name="T21" fmla="*/ 522 h 1806"/>
                <a:gd name="T22" fmla="*/ 584 w 1177"/>
                <a:gd name="T23" fmla="*/ 571 h 1806"/>
                <a:gd name="T24" fmla="*/ 588 w 1177"/>
                <a:gd name="T25" fmla="*/ 619 h 1806"/>
                <a:gd name="T26" fmla="*/ 588 w 1177"/>
                <a:gd name="T27" fmla="*/ 665 h 1806"/>
                <a:gd name="T28" fmla="*/ 584 w 1177"/>
                <a:gd name="T29" fmla="*/ 716 h 1806"/>
                <a:gd name="T30" fmla="*/ 577 w 1177"/>
                <a:gd name="T31" fmla="*/ 773 h 1806"/>
                <a:gd name="T32" fmla="*/ 568 w 1177"/>
                <a:gd name="T33" fmla="*/ 841 h 1806"/>
                <a:gd name="T34" fmla="*/ 461 w 1177"/>
                <a:gd name="T35" fmla="*/ 872 h 1806"/>
                <a:gd name="T36" fmla="*/ 354 w 1177"/>
                <a:gd name="T37" fmla="*/ 895 h 1806"/>
                <a:gd name="T38" fmla="*/ 251 w 1177"/>
                <a:gd name="T39" fmla="*/ 902 h 1806"/>
                <a:gd name="T40" fmla="*/ 160 w 1177"/>
                <a:gd name="T41" fmla="*/ 891 h 1806"/>
                <a:gd name="T42" fmla="*/ 83 w 1177"/>
                <a:gd name="T43" fmla="*/ 854 h 1806"/>
                <a:gd name="T44" fmla="*/ 30 w 1177"/>
                <a:gd name="T45" fmla="*/ 787 h 1806"/>
                <a:gd name="T46" fmla="*/ 4 w 1177"/>
                <a:gd name="T47" fmla="*/ 685 h 1806"/>
                <a:gd name="T48" fmla="*/ 11 w 1177"/>
                <a:gd name="T49" fmla="*/ 544 h 1806"/>
                <a:gd name="T50" fmla="*/ 18 w 1177"/>
                <a:gd name="T51" fmla="*/ 535 h 1806"/>
                <a:gd name="T52" fmla="*/ 25 w 1177"/>
                <a:gd name="T53" fmla="*/ 528 h 1806"/>
                <a:gd name="T54" fmla="*/ 31 w 1177"/>
                <a:gd name="T55" fmla="*/ 521 h 1806"/>
                <a:gd name="T56" fmla="*/ 38 w 1177"/>
                <a:gd name="T57" fmla="*/ 514 h 1806"/>
                <a:gd name="T58" fmla="*/ 43 w 1177"/>
                <a:gd name="T59" fmla="*/ 507 h 1806"/>
                <a:gd name="T60" fmla="*/ 49 w 1177"/>
                <a:gd name="T61" fmla="*/ 500 h 1806"/>
                <a:gd name="T62" fmla="*/ 56 w 1177"/>
                <a:gd name="T63" fmla="*/ 492 h 1806"/>
                <a:gd name="T64" fmla="*/ 64 w 1177"/>
                <a:gd name="T65" fmla="*/ 485 h 1806"/>
                <a:gd name="T66" fmla="*/ 56 w 1177"/>
                <a:gd name="T67" fmla="*/ 465 h 1806"/>
                <a:gd name="T68" fmla="*/ 48 w 1177"/>
                <a:gd name="T69" fmla="*/ 447 h 1806"/>
                <a:gd name="T70" fmla="*/ 39 w 1177"/>
                <a:gd name="T71" fmla="*/ 427 h 1806"/>
                <a:gd name="T72" fmla="*/ 32 w 1177"/>
                <a:gd name="T73" fmla="*/ 408 h 1806"/>
                <a:gd name="T74" fmla="*/ 24 w 1177"/>
                <a:gd name="T75" fmla="*/ 389 h 1806"/>
                <a:gd name="T76" fmla="*/ 16 w 1177"/>
                <a:gd name="T77" fmla="*/ 369 h 1806"/>
                <a:gd name="T78" fmla="*/ 7 w 1177"/>
                <a:gd name="T79" fmla="*/ 350 h 1806"/>
                <a:gd name="T80" fmla="*/ 0 w 1177"/>
                <a:gd name="T81" fmla="*/ 331 h 1806"/>
                <a:gd name="T82" fmla="*/ 7 w 1177"/>
                <a:gd name="T83" fmla="*/ 313 h 1806"/>
                <a:gd name="T84" fmla="*/ 14 w 1177"/>
                <a:gd name="T85" fmla="*/ 296 h 1806"/>
                <a:gd name="T86" fmla="*/ 22 w 1177"/>
                <a:gd name="T87" fmla="*/ 277 h 1806"/>
                <a:gd name="T88" fmla="*/ 29 w 1177"/>
                <a:gd name="T89" fmla="*/ 260 h 1806"/>
                <a:gd name="T90" fmla="*/ 37 w 1177"/>
                <a:gd name="T91" fmla="*/ 242 h 1806"/>
                <a:gd name="T92" fmla="*/ 44 w 1177"/>
                <a:gd name="T93" fmla="*/ 225 h 1806"/>
                <a:gd name="T94" fmla="*/ 52 w 1177"/>
                <a:gd name="T95" fmla="*/ 207 h 1806"/>
                <a:gd name="T96" fmla="*/ 59 w 1177"/>
                <a:gd name="T97" fmla="*/ 190 h 1806"/>
                <a:gd name="T98" fmla="*/ 63 w 1177"/>
                <a:gd name="T99" fmla="*/ 168 h 1806"/>
                <a:gd name="T100" fmla="*/ 65 w 1177"/>
                <a:gd name="T101" fmla="*/ 144 h 1806"/>
                <a:gd name="T102" fmla="*/ 65 w 1177"/>
                <a:gd name="T103" fmla="*/ 119 h 1806"/>
                <a:gd name="T104" fmla="*/ 66 w 1177"/>
                <a:gd name="T105" fmla="*/ 95 h 1806"/>
                <a:gd name="T106" fmla="*/ 66 w 1177"/>
                <a:gd name="T107" fmla="*/ 70 h 1806"/>
                <a:gd name="T108" fmla="*/ 66 w 1177"/>
                <a:gd name="T109" fmla="*/ 46 h 1806"/>
                <a:gd name="T110" fmla="*/ 68 w 1177"/>
                <a:gd name="T111" fmla="*/ 22 h 1806"/>
                <a:gd name="T112" fmla="*/ 73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 name="Freeform 32">
              <a:extLst>
                <a:ext uri="{FF2B5EF4-FFF2-40B4-BE49-F238E27FC236}">
                  <a16:creationId xmlns:a16="http://schemas.microsoft.com/office/drawing/2014/main" id="{525FFA2D-24D2-2048-9D9B-3DB716570269}"/>
                </a:ext>
              </a:extLst>
            </p:cNvPr>
            <p:cNvSpPr>
              <a:spLocks/>
            </p:cNvSpPr>
            <p:nvPr/>
          </p:nvSpPr>
          <p:spPr bwMode="auto">
            <a:xfrm>
              <a:off x="4377" y="2842"/>
              <a:ext cx="584" cy="889"/>
            </a:xfrm>
            <a:custGeom>
              <a:avLst/>
              <a:gdLst>
                <a:gd name="T0" fmla="*/ 73 w 1168"/>
                <a:gd name="T1" fmla="*/ 0 h 1779"/>
                <a:gd name="T2" fmla="*/ 145 w 1168"/>
                <a:gd name="T3" fmla="*/ 27 h 1779"/>
                <a:gd name="T4" fmla="*/ 212 w 1168"/>
                <a:gd name="T5" fmla="*/ 62 h 1779"/>
                <a:gd name="T6" fmla="*/ 275 w 1168"/>
                <a:gd name="T7" fmla="*/ 104 h 1779"/>
                <a:gd name="T8" fmla="*/ 333 w 1168"/>
                <a:gd name="T9" fmla="*/ 154 h 1779"/>
                <a:gd name="T10" fmla="*/ 388 w 1168"/>
                <a:gd name="T11" fmla="*/ 208 h 1779"/>
                <a:gd name="T12" fmla="*/ 439 w 1168"/>
                <a:gd name="T13" fmla="*/ 269 h 1779"/>
                <a:gd name="T14" fmla="*/ 488 w 1168"/>
                <a:gd name="T15" fmla="*/ 333 h 1779"/>
                <a:gd name="T16" fmla="*/ 537 w 1168"/>
                <a:gd name="T17" fmla="*/ 402 h 1779"/>
                <a:gd name="T18" fmla="*/ 556 w 1168"/>
                <a:gd name="T19" fmla="*/ 466 h 1779"/>
                <a:gd name="T20" fmla="*/ 570 w 1168"/>
                <a:gd name="T21" fmla="*/ 521 h 1779"/>
                <a:gd name="T22" fmla="*/ 579 w 1168"/>
                <a:gd name="T23" fmla="*/ 570 h 1779"/>
                <a:gd name="T24" fmla="*/ 584 w 1168"/>
                <a:gd name="T25" fmla="*/ 616 h 1779"/>
                <a:gd name="T26" fmla="*/ 584 w 1168"/>
                <a:gd name="T27" fmla="*/ 662 h 1779"/>
                <a:gd name="T28" fmla="*/ 580 w 1168"/>
                <a:gd name="T29" fmla="*/ 712 h 1779"/>
                <a:gd name="T30" fmla="*/ 574 w 1168"/>
                <a:gd name="T31" fmla="*/ 768 h 1779"/>
                <a:gd name="T32" fmla="*/ 564 w 1168"/>
                <a:gd name="T33" fmla="*/ 835 h 1779"/>
                <a:gd name="T34" fmla="*/ 458 w 1168"/>
                <a:gd name="T35" fmla="*/ 866 h 1779"/>
                <a:gd name="T36" fmla="*/ 353 w 1168"/>
                <a:gd name="T37" fmla="*/ 886 h 1779"/>
                <a:gd name="T38" fmla="*/ 253 w 1168"/>
                <a:gd name="T39" fmla="*/ 889 h 1779"/>
                <a:gd name="T40" fmla="*/ 165 w 1168"/>
                <a:gd name="T41" fmla="*/ 874 h 1779"/>
                <a:gd name="T42" fmla="*/ 92 w 1168"/>
                <a:gd name="T43" fmla="*/ 834 h 1779"/>
                <a:gd name="T44" fmla="*/ 41 w 1168"/>
                <a:gd name="T45" fmla="*/ 768 h 1779"/>
                <a:gd name="T46" fmla="*/ 16 w 1168"/>
                <a:gd name="T47" fmla="*/ 670 h 1779"/>
                <a:gd name="T48" fmla="*/ 22 w 1168"/>
                <a:gd name="T49" fmla="*/ 539 h 1779"/>
                <a:gd name="T50" fmla="*/ 28 w 1168"/>
                <a:gd name="T51" fmla="*/ 530 h 1779"/>
                <a:gd name="T52" fmla="*/ 34 w 1168"/>
                <a:gd name="T53" fmla="*/ 524 h 1779"/>
                <a:gd name="T54" fmla="*/ 38 w 1168"/>
                <a:gd name="T55" fmla="*/ 517 h 1779"/>
                <a:gd name="T56" fmla="*/ 43 w 1168"/>
                <a:gd name="T57" fmla="*/ 512 h 1779"/>
                <a:gd name="T58" fmla="*/ 46 w 1168"/>
                <a:gd name="T59" fmla="*/ 505 h 1779"/>
                <a:gd name="T60" fmla="*/ 51 w 1168"/>
                <a:gd name="T61" fmla="*/ 499 h 1779"/>
                <a:gd name="T62" fmla="*/ 56 w 1168"/>
                <a:gd name="T63" fmla="*/ 492 h 1779"/>
                <a:gd name="T64" fmla="*/ 64 w 1168"/>
                <a:gd name="T65" fmla="*/ 485 h 1779"/>
                <a:gd name="T66" fmla="*/ 56 w 1168"/>
                <a:gd name="T67" fmla="*/ 466 h 1779"/>
                <a:gd name="T68" fmla="*/ 48 w 1168"/>
                <a:gd name="T69" fmla="*/ 447 h 1779"/>
                <a:gd name="T70" fmla="*/ 39 w 1168"/>
                <a:gd name="T71" fmla="*/ 427 h 1779"/>
                <a:gd name="T72" fmla="*/ 32 w 1168"/>
                <a:gd name="T73" fmla="*/ 408 h 1779"/>
                <a:gd name="T74" fmla="*/ 24 w 1168"/>
                <a:gd name="T75" fmla="*/ 389 h 1779"/>
                <a:gd name="T76" fmla="*/ 16 w 1168"/>
                <a:gd name="T77" fmla="*/ 369 h 1779"/>
                <a:gd name="T78" fmla="*/ 7 w 1168"/>
                <a:gd name="T79" fmla="*/ 350 h 1779"/>
                <a:gd name="T80" fmla="*/ 0 w 1168"/>
                <a:gd name="T81" fmla="*/ 331 h 1779"/>
                <a:gd name="T82" fmla="*/ 7 w 1168"/>
                <a:gd name="T83" fmla="*/ 313 h 1779"/>
                <a:gd name="T84" fmla="*/ 14 w 1168"/>
                <a:gd name="T85" fmla="*/ 296 h 1779"/>
                <a:gd name="T86" fmla="*/ 22 w 1168"/>
                <a:gd name="T87" fmla="*/ 277 h 1779"/>
                <a:gd name="T88" fmla="*/ 29 w 1168"/>
                <a:gd name="T89" fmla="*/ 260 h 1779"/>
                <a:gd name="T90" fmla="*/ 37 w 1168"/>
                <a:gd name="T91" fmla="*/ 242 h 1779"/>
                <a:gd name="T92" fmla="*/ 44 w 1168"/>
                <a:gd name="T93" fmla="*/ 225 h 1779"/>
                <a:gd name="T94" fmla="*/ 52 w 1168"/>
                <a:gd name="T95" fmla="*/ 207 h 1779"/>
                <a:gd name="T96" fmla="*/ 59 w 1168"/>
                <a:gd name="T97" fmla="*/ 190 h 1779"/>
                <a:gd name="T98" fmla="*/ 63 w 1168"/>
                <a:gd name="T99" fmla="*/ 168 h 1779"/>
                <a:gd name="T100" fmla="*/ 66 w 1168"/>
                <a:gd name="T101" fmla="*/ 144 h 1779"/>
                <a:gd name="T102" fmla="*/ 66 w 1168"/>
                <a:gd name="T103" fmla="*/ 119 h 1779"/>
                <a:gd name="T104" fmla="*/ 66 w 1168"/>
                <a:gd name="T105" fmla="*/ 95 h 1779"/>
                <a:gd name="T106" fmla="*/ 66 w 1168"/>
                <a:gd name="T107" fmla="*/ 70 h 1779"/>
                <a:gd name="T108" fmla="*/ 67 w 1168"/>
                <a:gd name="T109" fmla="*/ 46 h 1779"/>
                <a:gd name="T110" fmla="*/ 69 w 1168"/>
                <a:gd name="T111" fmla="*/ 22 h 1779"/>
                <a:gd name="T112" fmla="*/ 73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 name="Freeform 33">
              <a:extLst>
                <a:ext uri="{FF2B5EF4-FFF2-40B4-BE49-F238E27FC236}">
                  <a16:creationId xmlns:a16="http://schemas.microsoft.com/office/drawing/2014/main" id="{4CE26FA2-DEC7-034C-B1D5-5DD84538A5E9}"/>
                </a:ext>
              </a:extLst>
            </p:cNvPr>
            <p:cNvSpPr>
              <a:spLocks/>
            </p:cNvSpPr>
            <p:nvPr/>
          </p:nvSpPr>
          <p:spPr bwMode="auto">
            <a:xfrm>
              <a:off x="4377" y="2842"/>
              <a:ext cx="580" cy="877"/>
            </a:xfrm>
            <a:custGeom>
              <a:avLst/>
              <a:gdLst>
                <a:gd name="T0" fmla="*/ 73 w 1159"/>
                <a:gd name="T1" fmla="*/ 0 h 1756"/>
                <a:gd name="T2" fmla="*/ 145 w 1159"/>
                <a:gd name="T3" fmla="*/ 27 h 1756"/>
                <a:gd name="T4" fmla="*/ 212 w 1159"/>
                <a:gd name="T5" fmla="*/ 62 h 1756"/>
                <a:gd name="T6" fmla="*/ 273 w 1159"/>
                <a:gd name="T7" fmla="*/ 104 h 1756"/>
                <a:gd name="T8" fmla="*/ 331 w 1159"/>
                <a:gd name="T9" fmla="*/ 153 h 1756"/>
                <a:gd name="T10" fmla="*/ 385 w 1159"/>
                <a:gd name="T11" fmla="*/ 208 h 1756"/>
                <a:gd name="T12" fmla="*/ 436 w 1159"/>
                <a:gd name="T13" fmla="*/ 268 h 1756"/>
                <a:gd name="T14" fmla="*/ 485 w 1159"/>
                <a:gd name="T15" fmla="*/ 332 h 1756"/>
                <a:gd name="T16" fmla="*/ 533 w 1159"/>
                <a:gd name="T17" fmla="*/ 401 h 1756"/>
                <a:gd name="T18" fmla="*/ 552 w 1159"/>
                <a:gd name="T19" fmla="*/ 464 h 1756"/>
                <a:gd name="T20" fmla="*/ 566 w 1159"/>
                <a:gd name="T21" fmla="*/ 519 h 1756"/>
                <a:gd name="T22" fmla="*/ 575 w 1159"/>
                <a:gd name="T23" fmla="*/ 567 h 1756"/>
                <a:gd name="T24" fmla="*/ 580 w 1159"/>
                <a:gd name="T25" fmla="*/ 613 h 1756"/>
                <a:gd name="T26" fmla="*/ 580 w 1159"/>
                <a:gd name="T27" fmla="*/ 657 h 1756"/>
                <a:gd name="T28" fmla="*/ 577 w 1159"/>
                <a:gd name="T29" fmla="*/ 706 h 1756"/>
                <a:gd name="T30" fmla="*/ 570 w 1159"/>
                <a:gd name="T31" fmla="*/ 762 h 1756"/>
                <a:gd name="T32" fmla="*/ 560 w 1159"/>
                <a:gd name="T33" fmla="*/ 829 h 1756"/>
                <a:gd name="T34" fmla="*/ 456 w 1159"/>
                <a:gd name="T35" fmla="*/ 860 h 1756"/>
                <a:gd name="T36" fmla="*/ 353 w 1159"/>
                <a:gd name="T37" fmla="*/ 877 h 1756"/>
                <a:gd name="T38" fmla="*/ 256 w 1159"/>
                <a:gd name="T39" fmla="*/ 876 h 1756"/>
                <a:gd name="T40" fmla="*/ 172 w 1159"/>
                <a:gd name="T41" fmla="*/ 857 h 1756"/>
                <a:gd name="T42" fmla="*/ 101 w 1159"/>
                <a:gd name="T43" fmla="*/ 814 h 1756"/>
                <a:gd name="T44" fmla="*/ 52 w 1159"/>
                <a:gd name="T45" fmla="*/ 749 h 1756"/>
                <a:gd name="T46" fmla="*/ 27 w 1159"/>
                <a:gd name="T47" fmla="*/ 655 h 1756"/>
                <a:gd name="T48" fmla="*/ 33 w 1159"/>
                <a:gd name="T49" fmla="*/ 533 h 1756"/>
                <a:gd name="T50" fmla="*/ 39 w 1159"/>
                <a:gd name="T51" fmla="*/ 525 h 1756"/>
                <a:gd name="T52" fmla="*/ 44 w 1159"/>
                <a:gd name="T53" fmla="*/ 519 h 1756"/>
                <a:gd name="T54" fmla="*/ 46 w 1159"/>
                <a:gd name="T55" fmla="*/ 514 h 1756"/>
                <a:gd name="T56" fmla="*/ 49 w 1159"/>
                <a:gd name="T57" fmla="*/ 509 h 1756"/>
                <a:gd name="T58" fmla="*/ 51 w 1159"/>
                <a:gd name="T59" fmla="*/ 503 h 1756"/>
                <a:gd name="T60" fmla="*/ 53 w 1159"/>
                <a:gd name="T61" fmla="*/ 498 h 1756"/>
                <a:gd name="T62" fmla="*/ 57 w 1159"/>
                <a:gd name="T63" fmla="*/ 492 h 1756"/>
                <a:gd name="T64" fmla="*/ 64 w 1159"/>
                <a:gd name="T65" fmla="*/ 485 h 1756"/>
                <a:gd name="T66" fmla="*/ 56 w 1159"/>
                <a:gd name="T67" fmla="*/ 465 h 1756"/>
                <a:gd name="T68" fmla="*/ 48 w 1159"/>
                <a:gd name="T69" fmla="*/ 446 h 1756"/>
                <a:gd name="T70" fmla="*/ 40 w 1159"/>
                <a:gd name="T71" fmla="*/ 427 h 1756"/>
                <a:gd name="T72" fmla="*/ 32 w 1159"/>
                <a:gd name="T73" fmla="*/ 408 h 1756"/>
                <a:gd name="T74" fmla="*/ 24 w 1159"/>
                <a:gd name="T75" fmla="*/ 389 h 1756"/>
                <a:gd name="T76" fmla="*/ 16 w 1159"/>
                <a:gd name="T77" fmla="*/ 369 h 1756"/>
                <a:gd name="T78" fmla="*/ 8 w 1159"/>
                <a:gd name="T79" fmla="*/ 350 h 1756"/>
                <a:gd name="T80" fmla="*/ 0 w 1159"/>
                <a:gd name="T81" fmla="*/ 331 h 1756"/>
                <a:gd name="T82" fmla="*/ 7 w 1159"/>
                <a:gd name="T83" fmla="*/ 313 h 1756"/>
                <a:gd name="T84" fmla="*/ 15 w 1159"/>
                <a:gd name="T85" fmla="*/ 296 h 1756"/>
                <a:gd name="T86" fmla="*/ 22 w 1159"/>
                <a:gd name="T87" fmla="*/ 277 h 1756"/>
                <a:gd name="T88" fmla="*/ 30 w 1159"/>
                <a:gd name="T89" fmla="*/ 260 h 1756"/>
                <a:gd name="T90" fmla="*/ 37 w 1159"/>
                <a:gd name="T91" fmla="*/ 242 h 1756"/>
                <a:gd name="T92" fmla="*/ 45 w 1159"/>
                <a:gd name="T93" fmla="*/ 225 h 1756"/>
                <a:gd name="T94" fmla="*/ 52 w 1159"/>
                <a:gd name="T95" fmla="*/ 207 h 1756"/>
                <a:gd name="T96" fmla="*/ 60 w 1159"/>
                <a:gd name="T97" fmla="*/ 190 h 1756"/>
                <a:gd name="T98" fmla="*/ 64 w 1159"/>
                <a:gd name="T99" fmla="*/ 168 h 1756"/>
                <a:gd name="T100" fmla="*/ 66 w 1159"/>
                <a:gd name="T101" fmla="*/ 144 h 1756"/>
                <a:gd name="T102" fmla="*/ 66 w 1159"/>
                <a:gd name="T103" fmla="*/ 119 h 1756"/>
                <a:gd name="T104" fmla="*/ 66 w 1159"/>
                <a:gd name="T105" fmla="*/ 95 h 1756"/>
                <a:gd name="T106" fmla="*/ 66 w 1159"/>
                <a:gd name="T107" fmla="*/ 70 h 1756"/>
                <a:gd name="T108" fmla="*/ 67 w 1159"/>
                <a:gd name="T109" fmla="*/ 46 h 1756"/>
                <a:gd name="T110" fmla="*/ 69 w 1159"/>
                <a:gd name="T111" fmla="*/ 22 h 1756"/>
                <a:gd name="T112" fmla="*/ 73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 name="Freeform 34">
              <a:extLst>
                <a:ext uri="{FF2B5EF4-FFF2-40B4-BE49-F238E27FC236}">
                  <a16:creationId xmlns:a16="http://schemas.microsoft.com/office/drawing/2014/main" id="{DEB73264-F13F-324A-B8FF-921239687291}"/>
                </a:ext>
              </a:extLst>
            </p:cNvPr>
            <p:cNvSpPr>
              <a:spLocks/>
            </p:cNvSpPr>
            <p:nvPr/>
          </p:nvSpPr>
          <p:spPr bwMode="auto">
            <a:xfrm>
              <a:off x="4377" y="2842"/>
              <a:ext cx="575" cy="869"/>
            </a:xfrm>
            <a:custGeom>
              <a:avLst/>
              <a:gdLst>
                <a:gd name="T0" fmla="*/ 73 w 1149"/>
                <a:gd name="T1" fmla="*/ 0 h 1738"/>
                <a:gd name="T2" fmla="*/ 145 w 1149"/>
                <a:gd name="T3" fmla="*/ 27 h 1738"/>
                <a:gd name="T4" fmla="*/ 211 w 1149"/>
                <a:gd name="T5" fmla="*/ 62 h 1738"/>
                <a:gd name="T6" fmla="*/ 272 w 1149"/>
                <a:gd name="T7" fmla="*/ 105 h 1738"/>
                <a:gd name="T8" fmla="*/ 329 w 1149"/>
                <a:gd name="T9" fmla="*/ 154 h 1738"/>
                <a:gd name="T10" fmla="*/ 382 w 1149"/>
                <a:gd name="T11" fmla="*/ 208 h 1738"/>
                <a:gd name="T12" fmla="*/ 432 w 1149"/>
                <a:gd name="T13" fmla="*/ 268 h 1738"/>
                <a:gd name="T14" fmla="*/ 480 w 1149"/>
                <a:gd name="T15" fmla="*/ 332 h 1738"/>
                <a:gd name="T16" fmla="*/ 527 w 1149"/>
                <a:gd name="T17" fmla="*/ 401 h 1738"/>
                <a:gd name="T18" fmla="*/ 546 w 1149"/>
                <a:gd name="T19" fmla="*/ 465 h 1738"/>
                <a:gd name="T20" fmla="*/ 560 w 1149"/>
                <a:gd name="T21" fmla="*/ 518 h 1738"/>
                <a:gd name="T22" fmla="*/ 569 w 1149"/>
                <a:gd name="T23" fmla="*/ 565 h 1738"/>
                <a:gd name="T24" fmla="*/ 574 w 1149"/>
                <a:gd name="T25" fmla="*/ 610 h 1738"/>
                <a:gd name="T26" fmla="*/ 575 w 1149"/>
                <a:gd name="T27" fmla="*/ 654 h 1738"/>
                <a:gd name="T28" fmla="*/ 572 w 1149"/>
                <a:gd name="T29" fmla="*/ 702 h 1738"/>
                <a:gd name="T30" fmla="*/ 565 w 1149"/>
                <a:gd name="T31" fmla="*/ 757 h 1738"/>
                <a:gd name="T32" fmla="*/ 556 w 1149"/>
                <a:gd name="T33" fmla="*/ 825 h 1738"/>
                <a:gd name="T34" fmla="*/ 452 w 1149"/>
                <a:gd name="T35" fmla="*/ 856 h 1738"/>
                <a:gd name="T36" fmla="*/ 352 w 1149"/>
                <a:gd name="T37" fmla="*/ 869 h 1738"/>
                <a:gd name="T38" fmla="*/ 258 w 1149"/>
                <a:gd name="T39" fmla="*/ 864 h 1738"/>
                <a:gd name="T40" fmla="*/ 177 w 1149"/>
                <a:gd name="T41" fmla="*/ 841 h 1738"/>
                <a:gd name="T42" fmla="*/ 110 w 1149"/>
                <a:gd name="T43" fmla="*/ 796 h 1738"/>
                <a:gd name="T44" fmla="*/ 63 w 1149"/>
                <a:gd name="T45" fmla="*/ 730 h 1738"/>
                <a:gd name="T46" fmla="*/ 39 w 1149"/>
                <a:gd name="T47" fmla="*/ 641 h 1738"/>
                <a:gd name="T48" fmla="*/ 44 w 1149"/>
                <a:gd name="T49" fmla="*/ 529 h 1738"/>
                <a:gd name="T50" fmla="*/ 50 w 1149"/>
                <a:gd name="T51" fmla="*/ 522 h 1738"/>
                <a:gd name="T52" fmla="*/ 53 w 1149"/>
                <a:gd name="T53" fmla="*/ 516 h 1738"/>
                <a:gd name="T54" fmla="*/ 54 w 1149"/>
                <a:gd name="T55" fmla="*/ 510 h 1738"/>
                <a:gd name="T56" fmla="*/ 54 w 1149"/>
                <a:gd name="T57" fmla="*/ 507 h 1738"/>
                <a:gd name="T58" fmla="*/ 54 w 1149"/>
                <a:gd name="T59" fmla="*/ 502 h 1738"/>
                <a:gd name="T60" fmla="*/ 55 w 1149"/>
                <a:gd name="T61" fmla="*/ 498 h 1738"/>
                <a:gd name="T62" fmla="*/ 57 w 1149"/>
                <a:gd name="T63" fmla="*/ 492 h 1738"/>
                <a:gd name="T64" fmla="*/ 64 w 1149"/>
                <a:gd name="T65" fmla="*/ 485 h 1738"/>
                <a:gd name="T66" fmla="*/ 56 w 1149"/>
                <a:gd name="T67" fmla="*/ 466 h 1738"/>
                <a:gd name="T68" fmla="*/ 48 w 1149"/>
                <a:gd name="T69" fmla="*/ 447 h 1738"/>
                <a:gd name="T70" fmla="*/ 40 w 1149"/>
                <a:gd name="T71" fmla="*/ 428 h 1738"/>
                <a:gd name="T72" fmla="*/ 32 w 1149"/>
                <a:gd name="T73" fmla="*/ 409 h 1738"/>
                <a:gd name="T74" fmla="*/ 24 w 1149"/>
                <a:gd name="T75" fmla="*/ 389 h 1738"/>
                <a:gd name="T76" fmla="*/ 16 w 1149"/>
                <a:gd name="T77" fmla="*/ 370 h 1738"/>
                <a:gd name="T78" fmla="*/ 8 w 1149"/>
                <a:gd name="T79" fmla="*/ 351 h 1738"/>
                <a:gd name="T80" fmla="*/ 0 w 1149"/>
                <a:gd name="T81" fmla="*/ 332 h 1738"/>
                <a:gd name="T82" fmla="*/ 7 w 1149"/>
                <a:gd name="T83" fmla="*/ 314 h 1738"/>
                <a:gd name="T84" fmla="*/ 15 w 1149"/>
                <a:gd name="T85" fmla="*/ 296 h 1738"/>
                <a:gd name="T86" fmla="*/ 22 w 1149"/>
                <a:gd name="T87" fmla="*/ 278 h 1738"/>
                <a:gd name="T88" fmla="*/ 30 w 1149"/>
                <a:gd name="T89" fmla="*/ 261 h 1738"/>
                <a:gd name="T90" fmla="*/ 37 w 1149"/>
                <a:gd name="T91" fmla="*/ 242 h 1738"/>
                <a:gd name="T92" fmla="*/ 45 w 1149"/>
                <a:gd name="T93" fmla="*/ 225 h 1738"/>
                <a:gd name="T94" fmla="*/ 52 w 1149"/>
                <a:gd name="T95" fmla="*/ 208 h 1738"/>
                <a:gd name="T96" fmla="*/ 60 w 1149"/>
                <a:gd name="T97" fmla="*/ 191 h 1738"/>
                <a:gd name="T98" fmla="*/ 64 w 1149"/>
                <a:gd name="T99" fmla="*/ 168 h 1738"/>
                <a:gd name="T100" fmla="*/ 66 w 1149"/>
                <a:gd name="T101" fmla="*/ 144 h 1738"/>
                <a:gd name="T102" fmla="*/ 66 w 1149"/>
                <a:gd name="T103" fmla="*/ 119 h 1738"/>
                <a:gd name="T104" fmla="*/ 66 w 1149"/>
                <a:gd name="T105" fmla="*/ 96 h 1738"/>
                <a:gd name="T106" fmla="*/ 66 w 1149"/>
                <a:gd name="T107" fmla="*/ 70 h 1738"/>
                <a:gd name="T108" fmla="*/ 67 w 1149"/>
                <a:gd name="T109" fmla="*/ 46 h 1738"/>
                <a:gd name="T110" fmla="*/ 69 w 1149"/>
                <a:gd name="T111" fmla="*/ 22 h 1738"/>
                <a:gd name="T112" fmla="*/ 73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 name="Freeform 35">
              <a:extLst>
                <a:ext uri="{FF2B5EF4-FFF2-40B4-BE49-F238E27FC236}">
                  <a16:creationId xmlns:a16="http://schemas.microsoft.com/office/drawing/2014/main" id="{F84A9891-63D9-E748-B9D7-B47EBD660C4B}"/>
                </a:ext>
              </a:extLst>
            </p:cNvPr>
            <p:cNvSpPr>
              <a:spLocks/>
            </p:cNvSpPr>
            <p:nvPr/>
          </p:nvSpPr>
          <p:spPr bwMode="auto">
            <a:xfrm>
              <a:off x="4377" y="2842"/>
              <a:ext cx="570" cy="860"/>
            </a:xfrm>
            <a:custGeom>
              <a:avLst/>
              <a:gdLst>
                <a:gd name="T0" fmla="*/ 73 w 1140"/>
                <a:gd name="T1" fmla="*/ 0 h 1721"/>
                <a:gd name="T2" fmla="*/ 144 w 1140"/>
                <a:gd name="T3" fmla="*/ 27 h 1721"/>
                <a:gd name="T4" fmla="*/ 209 w 1140"/>
                <a:gd name="T5" fmla="*/ 62 h 1721"/>
                <a:gd name="T6" fmla="*/ 270 w 1140"/>
                <a:gd name="T7" fmla="*/ 104 h 1721"/>
                <a:gd name="T8" fmla="*/ 326 w 1140"/>
                <a:gd name="T9" fmla="*/ 153 h 1721"/>
                <a:gd name="T10" fmla="*/ 377 w 1140"/>
                <a:gd name="T11" fmla="*/ 207 h 1721"/>
                <a:gd name="T12" fmla="*/ 428 w 1140"/>
                <a:gd name="T13" fmla="*/ 267 h 1721"/>
                <a:gd name="T14" fmla="*/ 475 w 1140"/>
                <a:gd name="T15" fmla="*/ 331 h 1721"/>
                <a:gd name="T16" fmla="*/ 523 w 1140"/>
                <a:gd name="T17" fmla="*/ 400 h 1721"/>
                <a:gd name="T18" fmla="*/ 542 w 1140"/>
                <a:gd name="T19" fmla="*/ 463 h 1721"/>
                <a:gd name="T20" fmla="*/ 556 w 1140"/>
                <a:gd name="T21" fmla="*/ 517 h 1721"/>
                <a:gd name="T22" fmla="*/ 565 w 1140"/>
                <a:gd name="T23" fmla="*/ 563 h 1721"/>
                <a:gd name="T24" fmla="*/ 570 w 1140"/>
                <a:gd name="T25" fmla="*/ 606 h 1721"/>
                <a:gd name="T26" fmla="*/ 570 w 1140"/>
                <a:gd name="T27" fmla="*/ 649 h 1721"/>
                <a:gd name="T28" fmla="*/ 567 w 1140"/>
                <a:gd name="T29" fmla="*/ 697 h 1721"/>
                <a:gd name="T30" fmla="*/ 560 w 1140"/>
                <a:gd name="T31" fmla="*/ 752 h 1721"/>
                <a:gd name="T32" fmla="*/ 552 w 1140"/>
                <a:gd name="T33" fmla="*/ 818 h 1721"/>
                <a:gd name="T34" fmla="*/ 448 w 1140"/>
                <a:gd name="T35" fmla="*/ 849 h 1721"/>
                <a:gd name="T36" fmla="*/ 350 w 1140"/>
                <a:gd name="T37" fmla="*/ 860 h 1721"/>
                <a:gd name="T38" fmla="*/ 261 w 1140"/>
                <a:gd name="T39" fmla="*/ 851 h 1721"/>
                <a:gd name="T40" fmla="*/ 182 w 1140"/>
                <a:gd name="T41" fmla="*/ 824 h 1721"/>
                <a:gd name="T42" fmla="*/ 118 w 1140"/>
                <a:gd name="T43" fmla="*/ 777 h 1721"/>
                <a:gd name="T44" fmla="*/ 74 w 1140"/>
                <a:gd name="T45" fmla="*/ 711 h 1721"/>
                <a:gd name="T46" fmla="*/ 51 w 1140"/>
                <a:gd name="T47" fmla="*/ 626 h 1721"/>
                <a:gd name="T48" fmla="*/ 54 w 1140"/>
                <a:gd name="T49" fmla="*/ 524 h 1721"/>
                <a:gd name="T50" fmla="*/ 59 w 1140"/>
                <a:gd name="T51" fmla="*/ 516 h 1721"/>
                <a:gd name="T52" fmla="*/ 61 w 1140"/>
                <a:gd name="T53" fmla="*/ 511 h 1721"/>
                <a:gd name="T54" fmla="*/ 60 w 1140"/>
                <a:gd name="T55" fmla="*/ 507 h 1721"/>
                <a:gd name="T56" fmla="*/ 59 w 1140"/>
                <a:gd name="T57" fmla="*/ 504 h 1721"/>
                <a:gd name="T58" fmla="*/ 56 w 1140"/>
                <a:gd name="T59" fmla="*/ 500 h 1721"/>
                <a:gd name="T60" fmla="*/ 56 w 1140"/>
                <a:gd name="T61" fmla="*/ 497 h 1721"/>
                <a:gd name="T62" fmla="*/ 58 w 1140"/>
                <a:gd name="T63" fmla="*/ 492 h 1721"/>
                <a:gd name="T64" fmla="*/ 64 w 1140"/>
                <a:gd name="T65" fmla="*/ 485 h 1721"/>
                <a:gd name="T66" fmla="*/ 56 w 1140"/>
                <a:gd name="T67" fmla="*/ 466 h 1721"/>
                <a:gd name="T68" fmla="*/ 48 w 1140"/>
                <a:gd name="T69" fmla="*/ 447 h 1721"/>
                <a:gd name="T70" fmla="*/ 39 w 1140"/>
                <a:gd name="T71" fmla="*/ 427 h 1721"/>
                <a:gd name="T72" fmla="*/ 32 w 1140"/>
                <a:gd name="T73" fmla="*/ 408 h 1721"/>
                <a:gd name="T74" fmla="*/ 24 w 1140"/>
                <a:gd name="T75" fmla="*/ 389 h 1721"/>
                <a:gd name="T76" fmla="*/ 16 w 1140"/>
                <a:gd name="T77" fmla="*/ 369 h 1721"/>
                <a:gd name="T78" fmla="*/ 7 w 1140"/>
                <a:gd name="T79" fmla="*/ 350 h 1721"/>
                <a:gd name="T80" fmla="*/ 0 w 1140"/>
                <a:gd name="T81" fmla="*/ 331 h 1721"/>
                <a:gd name="T82" fmla="*/ 7 w 1140"/>
                <a:gd name="T83" fmla="*/ 313 h 1721"/>
                <a:gd name="T84" fmla="*/ 14 w 1140"/>
                <a:gd name="T85" fmla="*/ 296 h 1721"/>
                <a:gd name="T86" fmla="*/ 22 w 1140"/>
                <a:gd name="T87" fmla="*/ 277 h 1721"/>
                <a:gd name="T88" fmla="*/ 29 w 1140"/>
                <a:gd name="T89" fmla="*/ 260 h 1721"/>
                <a:gd name="T90" fmla="*/ 37 w 1140"/>
                <a:gd name="T91" fmla="*/ 242 h 1721"/>
                <a:gd name="T92" fmla="*/ 44 w 1140"/>
                <a:gd name="T93" fmla="*/ 225 h 1721"/>
                <a:gd name="T94" fmla="*/ 52 w 1140"/>
                <a:gd name="T95" fmla="*/ 207 h 1721"/>
                <a:gd name="T96" fmla="*/ 59 w 1140"/>
                <a:gd name="T97" fmla="*/ 190 h 1721"/>
                <a:gd name="T98" fmla="*/ 63 w 1140"/>
                <a:gd name="T99" fmla="*/ 168 h 1721"/>
                <a:gd name="T100" fmla="*/ 66 w 1140"/>
                <a:gd name="T101" fmla="*/ 144 h 1721"/>
                <a:gd name="T102" fmla="*/ 66 w 1140"/>
                <a:gd name="T103" fmla="*/ 119 h 1721"/>
                <a:gd name="T104" fmla="*/ 66 w 1140"/>
                <a:gd name="T105" fmla="*/ 95 h 1721"/>
                <a:gd name="T106" fmla="*/ 66 w 1140"/>
                <a:gd name="T107" fmla="*/ 70 h 1721"/>
                <a:gd name="T108" fmla="*/ 67 w 1140"/>
                <a:gd name="T109" fmla="*/ 46 h 1721"/>
                <a:gd name="T110" fmla="*/ 69 w 1140"/>
                <a:gd name="T111" fmla="*/ 22 h 1721"/>
                <a:gd name="T112" fmla="*/ 73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 name="Freeform 36">
              <a:extLst>
                <a:ext uri="{FF2B5EF4-FFF2-40B4-BE49-F238E27FC236}">
                  <a16:creationId xmlns:a16="http://schemas.microsoft.com/office/drawing/2014/main" id="{6129383B-4629-4548-9569-011268BC891B}"/>
                </a:ext>
              </a:extLst>
            </p:cNvPr>
            <p:cNvSpPr>
              <a:spLocks/>
            </p:cNvSpPr>
            <p:nvPr/>
          </p:nvSpPr>
          <p:spPr bwMode="auto">
            <a:xfrm>
              <a:off x="4377" y="2842"/>
              <a:ext cx="566" cy="851"/>
            </a:xfrm>
            <a:custGeom>
              <a:avLst/>
              <a:gdLst>
                <a:gd name="T0" fmla="*/ 73 w 1131"/>
                <a:gd name="T1" fmla="*/ 0 h 1703"/>
                <a:gd name="T2" fmla="*/ 145 w 1131"/>
                <a:gd name="T3" fmla="*/ 27 h 1703"/>
                <a:gd name="T4" fmla="*/ 210 w 1131"/>
                <a:gd name="T5" fmla="*/ 62 h 1703"/>
                <a:gd name="T6" fmla="*/ 269 w 1131"/>
                <a:gd name="T7" fmla="*/ 104 h 1703"/>
                <a:gd name="T8" fmla="*/ 325 w 1131"/>
                <a:gd name="T9" fmla="*/ 153 h 1703"/>
                <a:gd name="T10" fmla="*/ 375 w 1131"/>
                <a:gd name="T11" fmla="*/ 207 h 1703"/>
                <a:gd name="T12" fmla="*/ 424 w 1131"/>
                <a:gd name="T13" fmla="*/ 266 h 1703"/>
                <a:gd name="T14" fmla="*/ 471 w 1131"/>
                <a:gd name="T15" fmla="*/ 331 h 1703"/>
                <a:gd name="T16" fmla="*/ 518 w 1131"/>
                <a:gd name="T17" fmla="*/ 400 h 1703"/>
                <a:gd name="T18" fmla="*/ 537 w 1131"/>
                <a:gd name="T19" fmla="*/ 463 h 1703"/>
                <a:gd name="T20" fmla="*/ 551 w 1131"/>
                <a:gd name="T21" fmla="*/ 515 h 1703"/>
                <a:gd name="T22" fmla="*/ 560 w 1131"/>
                <a:gd name="T23" fmla="*/ 561 h 1703"/>
                <a:gd name="T24" fmla="*/ 565 w 1131"/>
                <a:gd name="T25" fmla="*/ 603 h 1703"/>
                <a:gd name="T26" fmla="*/ 566 w 1131"/>
                <a:gd name="T27" fmla="*/ 645 h 1703"/>
                <a:gd name="T28" fmla="*/ 563 w 1131"/>
                <a:gd name="T29" fmla="*/ 691 h 1703"/>
                <a:gd name="T30" fmla="*/ 556 w 1131"/>
                <a:gd name="T31" fmla="*/ 745 h 1703"/>
                <a:gd name="T32" fmla="*/ 547 w 1131"/>
                <a:gd name="T33" fmla="*/ 812 h 1703"/>
                <a:gd name="T34" fmla="*/ 445 w 1131"/>
                <a:gd name="T35" fmla="*/ 843 h 1703"/>
                <a:gd name="T36" fmla="*/ 349 w 1131"/>
                <a:gd name="T37" fmla="*/ 851 h 1703"/>
                <a:gd name="T38" fmla="*/ 262 w 1131"/>
                <a:gd name="T39" fmla="*/ 838 h 1703"/>
                <a:gd name="T40" fmla="*/ 188 w 1131"/>
                <a:gd name="T41" fmla="*/ 807 h 1703"/>
                <a:gd name="T42" fmla="*/ 128 w 1131"/>
                <a:gd name="T43" fmla="*/ 757 h 1703"/>
                <a:gd name="T44" fmla="*/ 85 w 1131"/>
                <a:gd name="T45" fmla="*/ 692 h 1703"/>
                <a:gd name="T46" fmla="*/ 63 w 1131"/>
                <a:gd name="T47" fmla="*/ 611 h 1703"/>
                <a:gd name="T48" fmla="*/ 65 w 1131"/>
                <a:gd name="T49" fmla="*/ 518 h 1703"/>
                <a:gd name="T50" fmla="*/ 69 w 1131"/>
                <a:gd name="T51" fmla="*/ 511 h 1703"/>
                <a:gd name="T52" fmla="*/ 71 w 1131"/>
                <a:gd name="T53" fmla="*/ 507 h 1703"/>
                <a:gd name="T54" fmla="*/ 68 w 1131"/>
                <a:gd name="T55" fmla="*/ 504 h 1703"/>
                <a:gd name="T56" fmla="*/ 65 w 1131"/>
                <a:gd name="T57" fmla="*/ 502 h 1703"/>
                <a:gd name="T58" fmla="*/ 61 w 1131"/>
                <a:gd name="T59" fmla="*/ 499 h 1703"/>
                <a:gd name="T60" fmla="*/ 58 w 1131"/>
                <a:gd name="T61" fmla="*/ 496 h 1703"/>
                <a:gd name="T62" fmla="*/ 59 w 1131"/>
                <a:gd name="T63" fmla="*/ 492 h 1703"/>
                <a:gd name="T64" fmla="*/ 64 w 1131"/>
                <a:gd name="T65" fmla="*/ 485 h 1703"/>
                <a:gd name="T66" fmla="*/ 56 w 1131"/>
                <a:gd name="T67" fmla="*/ 466 h 1703"/>
                <a:gd name="T68" fmla="*/ 48 w 1131"/>
                <a:gd name="T69" fmla="*/ 447 h 1703"/>
                <a:gd name="T70" fmla="*/ 40 w 1131"/>
                <a:gd name="T71" fmla="*/ 427 h 1703"/>
                <a:gd name="T72" fmla="*/ 32 w 1131"/>
                <a:gd name="T73" fmla="*/ 408 h 1703"/>
                <a:gd name="T74" fmla="*/ 24 w 1131"/>
                <a:gd name="T75" fmla="*/ 389 h 1703"/>
                <a:gd name="T76" fmla="*/ 16 w 1131"/>
                <a:gd name="T77" fmla="*/ 369 h 1703"/>
                <a:gd name="T78" fmla="*/ 8 w 1131"/>
                <a:gd name="T79" fmla="*/ 350 h 1703"/>
                <a:gd name="T80" fmla="*/ 0 w 1131"/>
                <a:gd name="T81" fmla="*/ 331 h 1703"/>
                <a:gd name="T82" fmla="*/ 7 w 1131"/>
                <a:gd name="T83" fmla="*/ 313 h 1703"/>
                <a:gd name="T84" fmla="*/ 15 w 1131"/>
                <a:gd name="T85" fmla="*/ 296 h 1703"/>
                <a:gd name="T86" fmla="*/ 22 w 1131"/>
                <a:gd name="T87" fmla="*/ 277 h 1703"/>
                <a:gd name="T88" fmla="*/ 30 w 1131"/>
                <a:gd name="T89" fmla="*/ 260 h 1703"/>
                <a:gd name="T90" fmla="*/ 37 w 1131"/>
                <a:gd name="T91" fmla="*/ 242 h 1703"/>
                <a:gd name="T92" fmla="*/ 45 w 1131"/>
                <a:gd name="T93" fmla="*/ 225 h 1703"/>
                <a:gd name="T94" fmla="*/ 52 w 1131"/>
                <a:gd name="T95" fmla="*/ 207 h 1703"/>
                <a:gd name="T96" fmla="*/ 60 w 1131"/>
                <a:gd name="T97" fmla="*/ 190 h 1703"/>
                <a:gd name="T98" fmla="*/ 64 w 1131"/>
                <a:gd name="T99" fmla="*/ 168 h 1703"/>
                <a:gd name="T100" fmla="*/ 66 w 1131"/>
                <a:gd name="T101" fmla="*/ 144 h 1703"/>
                <a:gd name="T102" fmla="*/ 66 w 1131"/>
                <a:gd name="T103" fmla="*/ 119 h 1703"/>
                <a:gd name="T104" fmla="*/ 66 w 1131"/>
                <a:gd name="T105" fmla="*/ 95 h 1703"/>
                <a:gd name="T106" fmla="*/ 66 w 1131"/>
                <a:gd name="T107" fmla="*/ 70 h 1703"/>
                <a:gd name="T108" fmla="*/ 67 w 1131"/>
                <a:gd name="T109" fmla="*/ 46 h 1703"/>
                <a:gd name="T110" fmla="*/ 69 w 1131"/>
                <a:gd name="T111" fmla="*/ 22 h 1703"/>
                <a:gd name="T112" fmla="*/ 73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 name="Freeform 37">
              <a:extLst>
                <a:ext uri="{FF2B5EF4-FFF2-40B4-BE49-F238E27FC236}">
                  <a16:creationId xmlns:a16="http://schemas.microsoft.com/office/drawing/2014/main" id="{F931BC4E-736D-5F4C-BA92-6ECCCC5EF9DD}"/>
                </a:ext>
              </a:extLst>
            </p:cNvPr>
            <p:cNvSpPr>
              <a:spLocks/>
            </p:cNvSpPr>
            <p:nvPr/>
          </p:nvSpPr>
          <p:spPr bwMode="auto">
            <a:xfrm>
              <a:off x="4377" y="2842"/>
              <a:ext cx="561" cy="842"/>
            </a:xfrm>
            <a:custGeom>
              <a:avLst/>
              <a:gdLst>
                <a:gd name="T0" fmla="*/ 73 w 1123"/>
                <a:gd name="T1" fmla="*/ 0 h 1684"/>
                <a:gd name="T2" fmla="*/ 143 w 1123"/>
                <a:gd name="T3" fmla="*/ 27 h 1684"/>
                <a:gd name="T4" fmla="*/ 208 w 1123"/>
                <a:gd name="T5" fmla="*/ 62 h 1684"/>
                <a:gd name="T6" fmla="*/ 267 w 1123"/>
                <a:gd name="T7" fmla="*/ 104 h 1684"/>
                <a:gd name="T8" fmla="*/ 321 w 1123"/>
                <a:gd name="T9" fmla="*/ 153 h 1684"/>
                <a:gd name="T10" fmla="*/ 371 w 1123"/>
                <a:gd name="T11" fmla="*/ 206 h 1684"/>
                <a:gd name="T12" fmla="*/ 419 w 1123"/>
                <a:gd name="T13" fmla="*/ 266 h 1684"/>
                <a:gd name="T14" fmla="*/ 466 w 1123"/>
                <a:gd name="T15" fmla="*/ 330 h 1684"/>
                <a:gd name="T16" fmla="*/ 513 w 1123"/>
                <a:gd name="T17" fmla="*/ 399 h 1684"/>
                <a:gd name="T18" fmla="*/ 532 w 1123"/>
                <a:gd name="T19" fmla="*/ 462 h 1684"/>
                <a:gd name="T20" fmla="*/ 546 w 1123"/>
                <a:gd name="T21" fmla="*/ 514 h 1684"/>
                <a:gd name="T22" fmla="*/ 555 w 1123"/>
                <a:gd name="T23" fmla="*/ 559 h 1684"/>
                <a:gd name="T24" fmla="*/ 560 w 1123"/>
                <a:gd name="T25" fmla="*/ 600 h 1684"/>
                <a:gd name="T26" fmla="*/ 561 w 1123"/>
                <a:gd name="T27" fmla="*/ 641 h 1684"/>
                <a:gd name="T28" fmla="*/ 558 w 1123"/>
                <a:gd name="T29" fmla="*/ 686 h 1684"/>
                <a:gd name="T30" fmla="*/ 551 w 1123"/>
                <a:gd name="T31" fmla="*/ 740 h 1684"/>
                <a:gd name="T32" fmla="*/ 542 w 1123"/>
                <a:gd name="T33" fmla="*/ 807 h 1684"/>
                <a:gd name="T34" fmla="*/ 441 w 1123"/>
                <a:gd name="T35" fmla="*/ 837 h 1684"/>
                <a:gd name="T36" fmla="*/ 348 w 1123"/>
                <a:gd name="T37" fmla="*/ 842 h 1684"/>
                <a:gd name="T38" fmla="*/ 265 w 1123"/>
                <a:gd name="T39" fmla="*/ 825 h 1684"/>
                <a:gd name="T40" fmla="*/ 194 w 1123"/>
                <a:gd name="T41" fmla="*/ 790 h 1684"/>
                <a:gd name="T42" fmla="*/ 137 w 1123"/>
                <a:gd name="T43" fmla="*/ 738 h 1684"/>
                <a:gd name="T44" fmla="*/ 96 w 1123"/>
                <a:gd name="T45" fmla="*/ 673 h 1684"/>
                <a:gd name="T46" fmla="*/ 75 w 1123"/>
                <a:gd name="T47" fmla="*/ 596 h 1684"/>
                <a:gd name="T48" fmla="*/ 76 w 1123"/>
                <a:gd name="T49" fmla="*/ 513 h 1684"/>
                <a:gd name="T50" fmla="*/ 80 w 1123"/>
                <a:gd name="T51" fmla="*/ 506 h 1684"/>
                <a:gd name="T52" fmla="*/ 79 w 1123"/>
                <a:gd name="T53" fmla="*/ 502 h 1684"/>
                <a:gd name="T54" fmla="*/ 75 w 1123"/>
                <a:gd name="T55" fmla="*/ 500 h 1684"/>
                <a:gd name="T56" fmla="*/ 70 w 1123"/>
                <a:gd name="T57" fmla="*/ 499 h 1684"/>
                <a:gd name="T58" fmla="*/ 63 w 1123"/>
                <a:gd name="T59" fmla="*/ 497 h 1684"/>
                <a:gd name="T60" fmla="*/ 59 w 1123"/>
                <a:gd name="T61" fmla="*/ 495 h 1684"/>
                <a:gd name="T62" fmla="*/ 59 w 1123"/>
                <a:gd name="T63" fmla="*/ 491 h 1684"/>
                <a:gd name="T64" fmla="*/ 64 w 1123"/>
                <a:gd name="T65" fmla="*/ 485 h 1684"/>
                <a:gd name="T66" fmla="*/ 56 w 1123"/>
                <a:gd name="T67" fmla="*/ 466 h 1684"/>
                <a:gd name="T68" fmla="*/ 48 w 1123"/>
                <a:gd name="T69" fmla="*/ 447 h 1684"/>
                <a:gd name="T70" fmla="*/ 39 w 1123"/>
                <a:gd name="T71" fmla="*/ 427 h 1684"/>
                <a:gd name="T72" fmla="*/ 32 w 1123"/>
                <a:gd name="T73" fmla="*/ 409 h 1684"/>
                <a:gd name="T74" fmla="*/ 24 w 1123"/>
                <a:gd name="T75" fmla="*/ 389 h 1684"/>
                <a:gd name="T76" fmla="*/ 16 w 1123"/>
                <a:gd name="T77" fmla="*/ 370 h 1684"/>
                <a:gd name="T78" fmla="*/ 7 w 1123"/>
                <a:gd name="T79" fmla="*/ 351 h 1684"/>
                <a:gd name="T80" fmla="*/ 0 w 1123"/>
                <a:gd name="T81" fmla="*/ 332 h 1684"/>
                <a:gd name="T82" fmla="*/ 7 w 1123"/>
                <a:gd name="T83" fmla="*/ 314 h 1684"/>
                <a:gd name="T84" fmla="*/ 14 w 1123"/>
                <a:gd name="T85" fmla="*/ 296 h 1684"/>
                <a:gd name="T86" fmla="*/ 22 w 1123"/>
                <a:gd name="T87" fmla="*/ 278 h 1684"/>
                <a:gd name="T88" fmla="*/ 29 w 1123"/>
                <a:gd name="T89" fmla="*/ 261 h 1684"/>
                <a:gd name="T90" fmla="*/ 37 w 1123"/>
                <a:gd name="T91" fmla="*/ 242 h 1684"/>
                <a:gd name="T92" fmla="*/ 44 w 1123"/>
                <a:gd name="T93" fmla="*/ 225 h 1684"/>
                <a:gd name="T94" fmla="*/ 52 w 1123"/>
                <a:gd name="T95" fmla="*/ 208 h 1684"/>
                <a:gd name="T96" fmla="*/ 59 w 1123"/>
                <a:gd name="T97" fmla="*/ 191 h 1684"/>
                <a:gd name="T98" fmla="*/ 63 w 1123"/>
                <a:gd name="T99" fmla="*/ 168 h 1684"/>
                <a:gd name="T100" fmla="*/ 65 w 1123"/>
                <a:gd name="T101" fmla="*/ 144 h 1684"/>
                <a:gd name="T102" fmla="*/ 65 w 1123"/>
                <a:gd name="T103" fmla="*/ 119 h 1684"/>
                <a:gd name="T104" fmla="*/ 66 w 1123"/>
                <a:gd name="T105" fmla="*/ 96 h 1684"/>
                <a:gd name="T106" fmla="*/ 66 w 1123"/>
                <a:gd name="T107" fmla="*/ 70 h 1684"/>
                <a:gd name="T108" fmla="*/ 66 w 1123"/>
                <a:gd name="T109" fmla="*/ 46 h 1684"/>
                <a:gd name="T110" fmla="*/ 68 w 1123"/>
                <a:gd name="T111" fmla="*/ 22 h 1684"/>
                <a:gd name="T112" fmla="*/ 73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 name="Freeform 38">
              <a:extLst>
                <a:ext uri="{FF2B5EF4-FFF2-40B4-BE49-F238E27FC236}">
                  <a16:creationId xmlns:a16="http://schemas.microsoft.com/office/drawing/2014/main" id="{91C07BBF-3583-5440-8269-AC4C8A42F533}"/>
                </a:ext>
              </a:extLst>
            </p:cNvPr>
            <p:cNvSpPr>
              <a:spLocks/>
            </p:cNvSpPr>
            <p:nvPr/>
          </p:nvSpPr>
          <p:spPr bwMode="auto">
            <a:xfrm>
              <a:off x="4668" y="3628"/>
              <a:ext cx="267" cy="363"/>
            </a:xfrm>
            <a:custGeom>
              <a:avLst/>
              <a:gdLst>
                <a:gd name="T0" fmla="*/ 78 w 534"/>
                <a:gd name="T1" fmla="*/ 31 h 724"/>
                <a:gd name="T2" fmla="*/ 57 w 534"/>
                <a:gd name="T3" fmla="*/ 70 h 724"/>
                <a:gd name="T4" fmla="*/ 39 w 534"/>
                <a:gd name="T5" fmla="*/ 105 h 724"/>
                <a:gd name="T6" fmla="*/ 26 w 534"/>
                <a:gd name="T7" fmla="*/ 134 h 724"/>
                <a:gd name="T8" fmla="*/ 20 w 534"/>
                <a:gd name="T9" fmla="*/ 159 h 724"/>
                <a:gd name="T10" fmla="*/ 22 w 534"/>
                <a:gd name="T11" fmla="*/ 182 h 724"/>
                <a:gd name="T12" fmla="*/ 35 w 534"/>
                <a:gd name="T13" fmla="*/ 205 h 724"/>
                <a:gd name="T14" fmla="*/ 60 w 534"/>
                <a:gd name="T15" fmla="*/ 228 h 724"/>
                <a:gd name="T16" fmla="*/ 100 w 534"/>
                <a:gd name="T17" fmla="*/ 253 h 724"/>
                <a:gd name="T18" fmla="*/ 89 w 534"/>
                <a:gd name="T19" fmla="*/ 259 h 724"/>
                <a:gd name="T20" fmla="*/ 77 w 534"/>
                <a:gd name="T21" fmla="*/ 266 h 724"/>
                <a:gd name="T22" fmla="*/ 63 w 534"/>
                <a:gd name="T23" fmla="*/ 275 h 724"/>
                <a:gd name="T24" fmla="*/ 50 w 534"/>
                <a:gd name="T25" fmla="*/ 285 h 724"/>
                <a:gd name="T26" fmla="*/ 36 w 534"/>
                <a:gd name="T27" fmla="*/ 293 h 724"/>
                <a:gd name="T28" fmla="*/ 22 w 534"/>
                <a:gd name="T29" fmla="*/ 302 h 724"/>
                <a:gd name="T30" fmla="*/ 10 w 534"/>
                <a:gd name="T31" fmla="*/ 310 h 724"/>
                <a:gd name="T32" fmla="*/ 0 w 534"/>
                <a:gd name="T33" fmla="*/ 315 h 724"/>
                <a:gd name="T34" fmla="*/ 3 w 534"/>
                <a:gd name="T35" fmla="*/ 323 h 724"/>
                <a:gd name="T36" fmla="*/ 8 w 534"/>
                <a:gd name="T37" fmla="*/ 330 h 724"/>
                <a:gd name="T38" fmla="*/ 14 w 534"/>
                <a:gd name="T39" fmla="*/ 334 h 724"/>
                <a:gd name="T40" fmla="*/ 21 w 534"/>
                <a:gd name="T41" fmla="*/ 339 h 724"/>
                <a:gd name="T42" fmla="*/ 27 w 534"/>
                <a:gd name="T43" fmla="*/ 343 h 724"/>
                <a:gd name="T44" fmla="*/ 33 w 534"/>
                <a:gd name="T45" fmla="*/ 348 h 724"/>
                <a:gd name="T46" fmla="*/ 37 w 534"/>
                <a:gd name="T47" fmla="*/ 354 h 724"/>
                <a:gd name="T48" fmla="*/ 41 w 534"/>
                <a:gd name="T49" fmla="*/ 363 h 724"/>
                <a:gd name="T50" fmla="*/ 66 w 534"/>
                <a:gd name="T51" fmla="*/ 350 h 724"/>
                <a:gd name="T52" fmla="*/ 90 w 534"/>
                <a:gd name="T53" fmla="*/ 337 h 724"/>
                <a:gd name="T54" fmla="*/ 115 w 534"/>
                <a:gd name="T55" fmla="*/ 323 h 724"/>
                <a:gd name="T56" fmla="*/ 139 w 534"/>
                <a:gd name="T57" fmla="*/ 311 h 724"/>
                <a:gd name="T58" fmla="*/ 163 w 534"/>
                <a:gd name="T59" fmla="*/ 298 h 724"/>
                <a:gd name="T60" fmla="*/ 188 w 534"/>
                <a:gd name="T61" fmla="*/ 285 h 724"/>
                <a:gd name="T62" fmla="*/ 212 w 534"/>
                <a:gd name="T63" fmla="*/ 271 h 724"/>
                <a:gd name="T64" fmla="*/ 237 w 534"/>
                <a:gd name="T65" fmla="*/ 259 h 724"/>
                <a:gd name="T66" fmla="*/ 258 w 534"/>
                <a:gd name="T67" fmla="*/ 237 h 724"/>
                <a:gd name="T68" fmla="*/ 267 w 534"/>
                <a:gd name="T69" fmla="*/ 221 h 724"/>
                <a:gd name="T70" fmla="*/ 266 w 534"/>
                <a:gd name="T71" fmla="*/ 209 h 724"/>
                <a:gd name="T72" fmla="*/ 256 w 534"/>
                <a:gd name="T73" fmla="*/ 201 h 724"/>
                <a:gd name="T74" fmla="*/ 237 w 534"/>
                <a:gd name="T75" fmla="*/ 194 h 724"/>
                <a:gd name="T76" fmla="*/ 211 w 534"/>
                <a:gd name="T77" fmla="*/ 187 h 724"/>
                <a:gd name="T78" fmla="*/ 179 w 534"/>
                <a:gd name="T79" fmla="*/ 180 h 724"/>
                <a:gd name="T80" fmla="*/ 142 w 534"/>
                <a:gd name="T81" fmla="*/ 172 h 724"/>
                <a:gd name="T82" fmla="*/ 148 w 534"/>
                <a:gd name="T83" fmla="*/ 160 h 724"/>
                <a:gd name="T84" fmla="*/ 155 w 534"/>
                <a:gd name="T85" fmla="*/ 149 h 724"/>
                <a:gd name="T86" fmla="*/ 162 w 534"/>
                <a:gd name="T87" fmla="*/ 137 h 724"/>
                <a:gd name="T88" fmla="*/ 169 w 534"/>
                <a:gd name="T89" fmla="*/ 126 h 724"/>
                <a:gd name="T90" fmla="*/ 175 w 534"/>
                <a:gd name="T91" fmla="*/ 114 h 724"/>
                <a:gd name="T92" fmla="*/ 182 w 534"/>
                <a:gd name="T93" fmla="*/ 103 h 724"/>
                <a:gd name="T94" fmla="*/ 189 w 534"/>
                <a:gd name="T95" fmla="*/ 92 h 724"/>
                <a:gd name="T96" fmla="*/ 196 w 534"/>
                <a:gd name="T97" fmla="*/ 80 h 724"/>
                <a:gd name="T98" fmla="*/ 185 w 534"/>
                <a:gd name="T99" fmla="*/ 42 h 724"/>
                <a:gd name="T100" fmla="*/ 170 w 534"/>
                <a:gd name="T101" fmla="*/ 17 h 724"/>
                <a:gd name="T102" fmla="*/ 152 w 534"/>
                <a:gd name="T103" fmla="*/ 4 h 724"/>
                <a:gd name="T104" fmla="*/ 133 w 534"/>
                <a:gd name="T105" fmla="*/ 0 h 724"/>
                <a:gd name="T106" fmla="*/ 113 w 534"/>
                <a:gd name="T107" fmla="*/ 3 h 724"/>
                <a:gd name="T108" fmla="*/ 97 w 534"/>
                <a:gd name="T109" fmla="*/ 11 h 724"/>
                <a:gd name="T110" fmla="*/ 84 w 534"/>
                <a:gd name="T111" fmla="*/ 20 h 724"/>
                <a:gd name="T112" fmla="*/ 78 w 53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 name="Freeform 39">
              <a:extLst>
                <a:ext uri="{FF2B5EF4-FFF2-40B4-BE49-F238E27FC236}">
                  <a16:creationId xmlns:a16="http://schemas.microsoft.com/office/drawing/2014/main" id="{0E0044FB-A2E6-A042-B96A-E13F68C12E80}"/>
                </a:ext>
              </a:extLst>
            </p:cNvPr>
            <p:cNvSpPr>
              <a:spLocks/>
            </p:cNvSpPr>
            <p:nvPr/>
          </p:nvSpPr>
          <p:spPr bwMode="auto">
            <a:xfrm>
              <a:off x="4676" y="3628"/>
              <a:ext cx="259" cy="363"/>
            </a:xfrm>
            <a:custGeom>
              <a:avLst/>
              <a:gdLst>
                <a:gd name="T0" fmla="*/ 71 w 519"/>
                <a:gd name="T1" fmla="*/ 31 h 724"/>
                <a:gd name="T2" fmla="*/ 50 w 519"/>
                <a:gd name="T3" fmla="*/ 70 h 724"/>
                <a:gd name="T4" fmla="*/ 34 w 519"/>
                <a:gd name="T5" fmla="*/ 104 h 724"/>
                <a:gd name="T6" fmla="*/ 22 w 519"/>
                <a:gd name="T7" fmla="*/ 133 h 724"/>
                <a:gd name="T8" fmla="*/ 18 w 519"/>
                <a:gd name="T9" fmla="*/ 159 h 724"/>
                <a:gd name="T10" fmla="*/ 22 w 519"/>
                <a:gd name="T11" fmla="*/ 182 h 724"/>
                <a:gd name="T12" fmla="*/ 37 w 519"/>
                <a:gd name="T13" fmla="*/ 204 h 724"/>
                <a:gd name="T14" fmla="*/ 63 w 519"/>
                <a:gd name="T15" fmla="*/ 227 h 724"/>
                <a:gd name="T16" fmla="*/ 104 w 519"/>
                <a:gd name="T17" fmla="*/ 253 h 724"/>
                <a:gd name="T18" fmla="*/ 96 w 519"/>
                <a:gd name="T19" fmla="*/ 258 h 724"/>
                <a:gd name="T20" fmla="*/ 86 w 519"/>
                <a:gd name="T21" fmla="*/ 267 h 724"/>
                <a:gd name="T22" fmla="*/ 72 w 519"/>
                <a:gd name="T23" fmla="*/ 276 h 724"/>
                <a:gd name="T24" fmla="*/ 57 w 519"/>
                <a:gd name="T25" fmla="*/ 288 h 724"/>
                <a:gd name="T26" fmla="*/ 41 w 519"/>
                <a:gd name="T27" fmla="*/ 298 h 724"/>
                <a:gd name="T28" fmla="*/ 25 w 519"/>
                <a:gd name="T29" fmla="*/ 307 h 724"/>
                <a:gd name="T30" fmla="*/ 11 w 519"/>
                <a:gd name="T31" fmla="*/ 315 h 724"/>
                <a:gd name="T32" fmla="*/ 0 w 519"/>
                <a:gd name="T33" fmla="*/ 322 h 724"/>
                <a:gd name="T34" fmla="*/ 2 w 519"/>
                <a:gd name="T35" fmla="*/ 328 h 724"/>
                <a:gd name="T36" fmla="*/ 7 w 519"/>
                <a:gd name="T37" fmla="*/ 334 h 724"/>
                <a:gd name="T38" fmla="*/ 11 w 519"/>
                <a:gd name="T39" fmla="*/ 338 h 724"/>
                <a:gd name="T40" fmla="*/ 17 w 519"/>
                <a:gd name="T41" fmla="*/ 342 h 724"/>
                <a:gd name="T42" fmla="*/ 21 w 519"/>
                <a:gd name="T43" fmla="*/ 345 h 724"/>
                <a:gd name="T44" fmla="*/ 26 w 519"/>
                <a:gd name="T45" fmla="*/ 349 h 724"/>
                <a:gd name="T46" fmla="*/ 30 w 519"/>
                <a:gd name="T47" fmla="*/ 355 h 724"/>
                <a:gd name="T48" fmla="*/ 34 w 519"/>
                <a:gd name="T49" fmla="*/ 363 h 724"/>
                <a:gd name="T50" fmla="*/ 58 w 519"/>
                <a:gd name="T51" fmla="*/ 350 h 724"/>
                <a:gd name="T52" fmla="*/ 83 w 519"/>
                <a:gd name="T53" fmla="*/ 337 h 724"/>
                <a:gd name="T54" fmla="*/ 107 w 519"/>
                <a:gd name="T55" fmla="*/ 323 h 724"/>
                <a:gd name="T56" fmla="*/ 132 w 519"/>
                <a:gd name="T57" fmla="*/ 311 h 724"/>
                <a:gd name="T58" fmla="*/ 156 w 519"/>
                <a:gd name="T59" fmla="*/ 298 h 724"/>
                <a:gd name="T60" fmla="*/ 180 w 519"/>
                <a:gd name="T61" fmla="*/ 285 h 724"/>
                <a:gd name="T62" fmla="*/ 205 w 519"/>
                <a:gd name="T63" fmla="*/ 271 h 724"/>
                <a:gd name="T64" fmla="*/ 229 w 519"/>
                <a:gd name="T65" fmla="*/ 259 h 724"/>
                <a:gd name="T66" fmla="*/ 250 w 519"/>
                <a:gd name="T67" fmla="*/ 237 h 724"/>
                <a:gd name="T68" fmla="*/ 259 w 519"/>
                <a:gd name="T69" fmla="*/ 221 h 724"/>
                <a:gd name="T70" fmla="*/ 258 w 519"/>
                <a:gd name="T71" fmla="*/ 209 h 724"/>
                <a:gd name="T72" fmla="*/ 248 w 519"/>
                <a:gd name="T73" fmla="*/ 201 h 724"/>
                <a:gd name="T74" fmla="*/ 229 w 519"/>
                <a:gd name="T75" fmla="*/ 194 h 724"/>
                <a:gd name="T76" fmla="*/ 204 w 519"/>
                <a:gd name="T77" fmla="*/ 187 h 724"/>
                <a:gd name="T78" fmla="*/ 171 w 519"/>
                <a:gd name="T79" fmla="*/ 180 h 724"/>
                <a:gd name="T80" fmla="*/ 134 w 519"/>
                <a:gd name="T81" fmla="*/ 172 h 724"/>
                <a:gd name="T82" fmla="*/ 140 w 519"/>
                <a:gd name="T83" fmla="*/ 160 h 724"/>
                <a:gd name="T84" fmla="*/ 147 w 519"/>
                <a:gd name="T85" fmla="*/ 149 h 724"/>
                <a:gd name="T86" fmla="*/ 154 w 519"/>
                <a:gd name="T87" fmla="*/ 137 h 724"/>
                <a:gd name="T88" fmla="*/ 161 w 519"/>
                <a:gd name="T89" fmla="*/ 126 h 724"/>
                <a:gd name="T90" fmla="*/ 167 w 519"/>
                <a:gd name="T91" fmla="*/ 114 h 724"/>
                <a:gd name="T92" fmla="*/ 175 w 519"/>
                <a:gd name="T93" fmla="*/ 103 h 724"/>
                <a:gd name="T94" fmla="*/ 181 w 519"/>
                <a:gd name="T95" fmla="*/ 92 h 724"/>
                <a:gd name="T96" fmla="*/ 189 w 519"/>
                <a:gd name="T97" fmla="*/ 80 h 724"/>
                <a:gd name="T98" fmla="*/ 178 w 519"/>
                <a:gd name="T99" fmla="*/ 42 h 724"/>
                <a:gd name="T100" fmla="*/ 163 w 519"/>
                <a:gd name="T101" fmla="*/ 17 h 724"/>
                <a:gd name="T102" fmla="*/ 145 w 519"/>
                <a:gd name="T103" fmla="*/ 4 h 724"/>
                <a:gd name="T104" fmla="*/ 125 w 519"/>
                <a:gd name="T105" fmla="*/ 0 h 724"/>
                <a:gd name="T106" fmla="*/ 106 w 519"/>
                <a:gd name="T107" fmla="*/ 3 h 724"/>
                <a:gd name="T108" fmla="*/ 90 w 519"/>
                <a:gd name="T109" fmla="*/ 11 h 724"/>
                <a:gd name="T110" fmla="*/ 77 w 519"/>
                <a:gd name="T111" fmla="*/ 20 h 724"/>
                <a:gd name="T112" fmla="*/ 71 w 51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 name="Freeform 40">
              <a:extLst>
                <a:ext uri="{FF2B5EF4-FFF2-40B4-BE49-F238E27FC236}">
                  <a16:creationId xmlns:a16="http://schemas.microsoft.com/office/drawing/2014/main" id="{6FE22B11-D58F-ED45-B002-43B0CA916401}"/>
                </a:ext>
              </a:extLst>
            </p:cNvPr>
            <p:cNvSpPr>
              <a:spLocks/>
            </p:cNvSpPr>
            <p:nvPr/>
          </p:nvSpPr>
          <p:spPr bwMode="auto">
            <a:xfrm>
              <a:off x="4683" y="3628"/>
              <a:ext cx="252" cy="363"/>
            </a:xfrm>
            <a:custGeom>
              <a:avLst/>
              <a:gdLst>
                <a:gd name="T0" fmla="*/ 63 w 504"/>
                <a:gd name="T1" fmla="*/ 31 h 724"/>
                <a:gd name="T2" fmla="*/ 44 w 504"/>
                <a:gd name="T3" fmla="*/ 70 h 724"/>
                <a:gd name="T4" fmla="*/ 28 w 504"/>
                <a:gd name="T5" fmla="*/ 104 h 724"/>
                <a:gd name="T6" fmla="*/ 19 w 504"/>
                <a:gd name="T7" fmla="*/ 132 h 724"/>
                <a:gd name="T8" fmla="*/ 17 w 504"/>
                <a:gd name="T9" fmla="*/ 158 h 724"/>
                <a:gd name="T10" fmla="*/ 23 w 504"/>
                <a:gd name="T11" fmla="*/ 180 h 724"/>
                <a:gd name="T12" fmla="*/ 39 w 504"/>
                <a:gd name="T13" fmla="*/ 203 h 724"/>
                <a:gd name="T14" fmla="*/ 67 w 504"/>
                <a:gd name="T15" fmla="*/ 226 h 724"/>
                <a:gd name="T16" fmla="*/ 108 w 504"/>
                <a:gd name="T17" fmla="*/ 252 h 724"/>
                <a:gd name="T18" fmla="*/ 104 w 504"/>
                <a:gd name="T19" fmla="*/ 258 h 724"/>
                <a:gd name="T20" fmla="*/ 95 w 504"/>
                <a:gd name="T21" fmla="*/ 268 h 724"/>
                <a:gd name="T22" fmla="*/ 81 w 504"/>
                <a:gd name="T23" fmla="*/ 278 h 724"/>
                <a:gd name="T24" fmla="*/ 64 w 504"/>
                <a:gd name="T25" fmla="*/ 290 h 724"/>
                <a:gd name="T26" fmla="*/ 46 w 504"/>
                <a:gd name="T27" fmla="*/ 301 h 724"/>
                <a:gd name="T28" fmla="*/ 28 w 504"/>
                <a:gd name="T29" fmla="*/ 312 h 724"/>
                <a:gd name="T30" fmla="*/ 12 w 504"/>
                <a:gd name="T31" fmla="*/ 320 h 724"/>
                <a:gd name="T32" fmla="*/ 0 w 504"/>
                <a:gd name="T33" fmla="*/ 327 h 724"/>
                <a:gd name="T34" fmla="*/ 2 w 504"/>
                <a:gd name="T35" fmla="*/ 334 h 724"/>
                <a:gd name="T36" fmla="*/ 6 w 504"/>
                <a:gd name="T37" fmla="*/ 339 h 724"/>
                <a:gd name="T38" fmla="*/ 10 w 504"/>
                <a:gd name="T39" fmla="*/ 342 h 724"/>
                <a:gd name="T40" fmla="*/ 14 w 504"/>
                <a:gd name="T41" fmla="*/ 345 h 724"/>
                <a:gd name="T42" fmla="*/ 17 w 504"/>
                <a:gd name="T43" fmla="*/ 347 h 724"/>
                <a:gd name="T44" fmla="*/ 20 w 504"/>
                <a:gd name="T45" fmla="*/ 350 h 724"/>
                <a:gd name="T46" fmla="*/ 24 w 504"/>
                <a:gd name="T47" fmla="*/ 355 h 724"/>
                <a:gd name="T48" fmla="*/ 27 w 504"/>
                <a:gd name="T49" fmla="*/ 363 h 724"/>
                <a:gd name="T50" fmla="*/ 51 w 504"/>
                <a:gd name="T51" fmla="*/ 350 h 724"/>
                <a:gd name="T52" fmla="*/ 76 w 504"/>
                <a:gd name="T53" fmla="*/ 337 h 724"/>
                <a:gd name="T54" fmla="*/ 100 w 504"/>
                <a:gd name="T55" fmla="*/ 323 h 724"/>
                <a:gd name="T56" fmla="*/ 125 w 504"/>
                <a:gd name="T57" fmla="*/ 311 h 724"/>
                <a:gd name="T58" fmla="*/ 149 w 504"/>
                <a:gd name="T59" fmla="*/ 298 h 724"/>
                <a:gd name="T60" fmla="*/ 173 w 504"/>
                <a:gd name="T61" fmla="*/ 285 h 724"/>
                <a:gd name="T62" fmla="*/ 198 w 504"/>
                <a:gd name="T63" fmla="*/ 271 h 724"/>
                <a:gd name="T64" fmla="*/ 222 w 504"/>
                <a:gd name="T65" fmla="*/ 259 h 724"/>
                <a:gd name="T66" fmla="*/ 243 w 504"/>
                <a:gd name="T67" fmla="*/ 237 h 724"/>
                <a:gd name="T68" fmla="*/ 252 w 504"/>
                <a:gd name="T69" fmla="*/ 221 h 724"/>
                <a:gd name="T70" fmla="*/ 251 w 504"/>
                <a:gd name="T71" fmla="*/ 209 h 724"/>
                <a:gd name="T72" fmla="*/ 241 w 504"/>
                <a:gd name="T73" fmla="*/ 201 h 724"/>
                <a:gd name="T74" fmla="*/ 222 w 504"/>
                <a:gd name="T75" fmla="*/ 194 h 724"/>
                <a:gd name="T76" fmla="*/ 197 w 504"/>
                <a:gd name="T77" fmla="*/ 187 h 724"/>
                <a:gd name="T78" fmla="*/ 164 w 504"/>
                <a:gd name="T79" fmla="*/ 180 h 724"/>
                <a:gd name="T80" fmla="*/ 127 w 504"/>
                <a:gd name="T81" fmla="*/ 172 h 724"/>
                <a:gd name="T82" fmla="*/ 133 w 504"/>
                <a:gd name="T83" fmla="*/ 160 h 724"/>
                <a:gd name="T84" fmla="*/ 140 w 504"/>
                <a:gd name="T85" fmla="*/ 149 h 724"/>
                <a:gd name="T86" fmla="*/ 147 w 504"/>
                <a:gd name="T87" fmla="*/ 137 h 724"/>
                <a:gd name="T88" fmla="*/ 154 w 504"/>
                <a:gd name="T89" fmla="*/ 126 h 724"/>
                <a:gd name="T90" fmla="*/ 160 w 504"/>
                <a:gd name="T91" fmla="*/ 114 h 724"/>
                <a:gd name="T92" fmla="*/ 168 w 504"/>
                <a:gd name="T93" fmla="*/ 103 h 724"/>
                <a:gd name="T94" fmla="*/ 174 w 504"/>
                <a:gd name="T95" fmla="*/ 92 h 724"/>
                <a:gd name="T96" fmla="*/ 182 w 504"/>
                <a:gd name="T97" fmla="*/ 80 h 724"/>
                <a:gd name="T98" fmla="*/ 171 w 504"/>
                <a:gd name="T99" fmla="*/ 42 h 724"/>
                <a:gd name="T100" fmla="*/ 156 w 504"/>
                <a:gd name="T101" fmla="*/ 17 h 724"/>
                <a:gd name="T102" fmla="*/ 138 w 504"/>
                <a:gd name="T103" fmla="*/ 4 h 724"/>
                <a:gd name="T104" fmla="*/ 118 w 504"/>
                <a:gd name="T105" fmla="*/ 0 h 724"/>
                <a:gd name="T106" fmla="*/ 99 w 504"/>
                <a:gd name="T107" fmla="*/ 3 h 724"/>
                <a:gd name="T108" fmla="*/ 83 w 504"/>
                <a:gd name="T109" fmla="*/ 11 h 724"/>
                <a:gd name="T110" fmla="*/ 70 w 504"/>
                <a:gd name="T111" fmla="*/ 20 h 724"/>
                <a:gd name="T112" fmla="*/ 63 w 50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 name="Freeform 41">
              <a:extLst>
                <a:ext uri="{FF2B5EF4-FFF2-40B4-BE49-F238E27FC236}">
                  <a16:creationId xmlns:a16="http://schemas.microsoft.com/office/drawing/2014/main" id="{0C3EA71E-BA70-9C43-89AF-6B662E91D396}"/>
                </a:ext>
              </a:extLst>
            </p:cNvPr>
            <p:cNvSpPr>
              <a:spLocks/>
            </p:cNvSpPr>
            <p:nvPr/>
          </p:nvSpPr>
          <p:spPr bwMode="auto">
            <a:xfrm>
              <a:off x="4691" y="3628"/>
              <a:ext cx="244" cy="363"/>
            </a:xfrm>
            <a:custGeom>
              <a:avLst/>
              <a:gdLst>
                <a:gd name="T0" fmla="*/ 55 w 487"/>
                <a:gd name="T1" fmla="*/ 31 h 724"/>
                <a:gd name="T2" fmla="*/ 35 w 487"/>
                <a:gd name="T3" fmla="*/ 70 h 724"/>
                <a:gd name="T4" fmla="*/ 21 w 487"/>
                <a:gd name="T5" fmla="*/ 104 h 724"/>
                <a:gd name="T6" fmla="*/ 14 w 487"/>
                <a:gd name="T7" fmla="*/ 132 h 724"/>
                <a:gd name="T8" fmla="*/ 14 w 487"/>
                <a:gd name="T9" fmla="*/ 158 h 724"/>
                <a:gd name="T10" fmla="*/ 22 w 487"/>
                <a:gd name="T11" fmla="*/ 179 h 724"/>
                <a:gd name="T12" fmla="*/ 41 w 487"/>
                <a:gd name="T13" fmla="*/ 202 h 724"/>
                <a:gd name="T14" fmla="*/ 70 w 487"/>
                <a:gd name="T15" fmla="*/ 224 h 724"/>
                <a:gd name="T16" fmla="*/ 111 w 487"/>
                <a:gd name="T17" fmla="*/ 250 h 724"/>
                <a:gd name="T18" fmla="*/ 110 w 487"/>
                <a:gd name="T19" fmla="*/ 257 h 724"/>
                <a:gd name="T20" fmla="*/ 103 w 487"/>
                <a:gd name="T21" fmla="*/ 268 h 724"/>
                <a:gd name="T22" fmla="*/ 88 w 487"/>
                <a:gd name="T23" fmla="*/ 280 h 724"/>
                <a:gd name="T24" fmla="*/ 70 w 487"/>
                <a:gd name="T25" fmla="*/ 293 h 724"/>
                <a:gd name="T26" fmla="*/ 50 w 487"/>
                <a:gd name="T27" fmla="*/ 305 h 724"/>
                <a:gd name="T28" fmla="*/ 30 w 487"/>
                <a:gd name="T29" fmla="*/ 317 h 724"/>
                <a:gd name="T30" fmla="*/ 12 w 487"/>
                <a:gd name="T31" fmla="*/ 326 h 724"/>
                <a:gd name="T32" fmla="*/ 0 w 487"/>
                <a:gd name="T33" fmla="*/ 333 h 724"/>
                <a:gd name="T34" fmla="*/ 2 w 487"/>
                <a:gd name="T35" fmla="*/ 339 h 724"/>
                <a:gd name="T36" fmla="*/ 4 w 487"/>
                <a:gd name="T37" fmla="*/ 343 h 724"/>
                <a:gd name="T38" fmla="*/ 6 w 487"/>
                <a:gd name="T39" fmla="*/ 346 h 724"/>
                <a:gd name="T40" fmla="*/ 9 w 487"/>
                <a:gd name="T41" fmla="*/ 347 h 724"/>
                <a:gd name="T42" fmla="*/ 11 w 487"/>
                <a:gd name="T43" fmla="*/ 348 h 724"/>
                <a:gd name="T44" fmla="*/ 13 w 487"/>
                <a:gd name="T45" fmla="*/ 351 h 724"/>
                <a:gd name="T46" fmla="*/ 16 w 487"/>
                <a:gd name="T47" fmla="*/ 355 h 724"/>
                <a:gd name="T48" fmla="*/ 18 w 487"/>
                <a:gd name="T49" fmla="*/ 363 h 724"/>
                <a:gd name="T50" fmla="*/ 43 w 487"/>
                <a:gd name="T51" fmla="*/ 350 h 724"/>
                <a:gd name="T52" fmla="*/ 67 w 487"/>
                <a:gd name="T53" fmla="*/ 337 h 724"/>
                <a:gd name="T54" fmla="*/ 92 w 487"/>
                <a:gd name="T55" fmla="*/ 323 h 724"/>
                <a:gd name="T56" fmla="*/ 116 w 487"/>
                <a:gd name="T57" fmla="*/ 311 h 724"/>
                <a:gd name="T58" fmla="*/ 140 w 487"/>
                <a:gd name="T59" fmla="*/ 298 h 724"/>
                <a:gd name="T60" fmla="*/ 165 w 487"/>
                <a:gd name="T61" fmla="*/ 285 h 724"/>
                <a:gd name="T62" fmla="*/ 189 w 487"/>
                <a:gd name="T63" fmla="*/ 271 h 724"/>
                <a:gd name="T64" fmla="*/ 214 w 487"/>
                <a:gd name="T65" fmla="*/ 259 h 724"/>
                <a:gd name="T66" fmla="*/ 235 w 487"/>
                <a:gd name="T67" fmla="*/ 237 h 724"/>
                <a:gd name="T68" fmla="*/ 244 w 487"/>
                <a:gd name="T69" fmla="*/ 221 h 724"/>
                <a:gd name="T70" fmla="*/ 243 w 487"/>
                <a:gd name="T71" fmla="*/ 209 h 724"/>
                <a:gd name="T72" fmla="*/ 233 w 487"/>
                <a:gd name="T73" fmla="*/ 201 h 724"/>
                <a:gd name="T74" fmla="*/ 214 w 487"/>
                <a:gd name="T75" fmla="*/ 194 h 724"/>
                <a:gd name="T76" fmla="*/ 188 w 487"/>
                <a:gd name="T77" fmla="*/ 187 h 724"/>
                <a:gd name="T78" fmla="*/ 156 w 487"/>
                <a:gd name="T79" fmla="*/ 180 h 724"/>
                <a:gd name="T80" fmla="*/ 119 w 487"/>
                <a:gd name="T81" fmla="*/ 172 h 724"/>
                <a:gd name="T82" fmla="*/ 125 w 487"/>
                <a:gd name="T83" fmla="*/ 160 h 724"/>
                <a:gd name="T84" fmla="*/ 132 w 487"/>
                <a:gd name="T85" fmla="*/ 149 h 724"/>
                <a:gd name="T86" fmla="*/ 139 w 487"/>
                <a:gd name="T87" fmla="*/ 137 h 724"/>
                <a:gd name="T88" fmla="*/ 146 w 487"/>
                <a:gd name="T89" fmla="*/ 126 h 724"/>
                <a:gd name="T90" fmla="*/ 152 w 487"/>
                <a:gd name="T91" fmla="*/ 114 h 724"/>
                <a:gd name="T92" fmla="*/ 159 w 487"/>
                <a:gd name="T93" fmla="*/ 103 h 724"/>
                <a:gd name="T94" fmla="*/ 166 w 487"/>
                <a:gd name="T95" fmla="*/ 92 h 724"/>
                <a:gd name="T96" fmla="*/ 173 w 487"/>
                <a:gd name="T97" fmla="*/ 80 h 724"/>
                <a:gd name="T98" fmla="*/ 162 w 487"/>
                <a:gd name="T99" fmla="*/ 42 h 724"/>
                <a:gd name="T100" fmla="*/ 147 w 487"/>
                <a:gd name="T101" fmla="*/ 17 h 724"/>
                <a:gd name="T102" fmla="*/ 129 w 487"/>
                <a:gd name="T103" fmla="*/ 4 h 724"/>
                <a:gd name="T104" fmla="*/ 110 w 487"/>
                <a:gd name="T105" fmla="*/ 0 h 724"/>
                <a:gd name="T106" fmla="*/ 90 w 487"/>
                <a:gd name="T107" fmla="*/ 3 h 724"/>
                <a:gd name="T108" fmla="*/ 74 w 487"/>
                <a:gd name="T109" fmla="*/ 11 h 724"/>
                <a:gd name="T110" fmla="*/ 61 w 487"/>
                <a:gd name="T111" fmla="*/ 20 h 724"/>
                <a:gd name="T112" fmla="*/ 55 w 487"/>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 name="Freeform 42">
              <a:extLst>
                <a:ext uri="{FF2B5EF4-FFF2-40B4-BE49-F238E27FC236}">
                  <a16:creationId xmlns:a16="http://schemas.microsoft.com/office/drawing/2014/main" id="{BAEB2E27-6578-A64C-A183-E427BE92B70F}"/>
                </a:ext>
              </a:extLst>
            </p:cNvPr>
            <p:cNvSpPr>
              <a:spLocks/>
            </p:cNvSpPr>
            <p:nvPr/>
          </p:nvSpPr>
          <p:spPr bwMode="auto">
            <a:xfrm>
              <a:off x="4699" y="3628"/>
              <a:ext cx="236" cy="363"/>
            </a:xfrm>
            <a:custGeom>
              <a:avLst/>
              <a:gdLst>
                <a:gd name="T0" fmla="*/ 48 w 472"/>
                <a:gd name="T1" fmla="*/ 31 h 724"/>
                <a:gd name="T2" fmla="*/ 28 w 472"/>
                <a:gd name="T3" fmla="*/ 70 h 724"/>
                <a:gd name="T4" fmla="*/ 15 w 472"/>
                <a:gd name="T5" fmla="*/ 104 h 724"/>
                <a:gd name="T6" fmla="*/ 9 w 472"/>
                <a:gd name="T7" fmla="*/ 131 h 724"/>
                <a:gd name="T8" fmla="*/ 12 w 472"/>
                <a:gd name="T9" fmla="*/ 156 h 724"/>
                <a:gd name="T10" fmla="*/ 22 w 472"/>
                <a:gd name="T11" fmla="*/ 178 h 724"/>
                <a:gd name="T12" fmla="*/ 43 w 472"/>
                <a:gd name="T13" fmla="*/ 201 h 724"/>
                <a:gd name="T14" fmla="*/ 73 w 472"/>
                <a:gd name="T15" fmla="*/ 223 h 724"/>
                <a:gd name="T16" fmla="*/ 115 w 472"/>
                <a:gd name="T17" fmla="*/ 249 h 724"/>
                <a:gd name="T18" fmla="*/ 118 w 472"/>
                <a:gd name="T19" fmla="*/ 257 h 724"/>
                <a:gd name="T20" fmla="*/ 112 w 472"/>
                <a:gd name="T21" fmla="*/ 268 h 724"/>
                <a:gd name="T22" fmla="*/ 97 w 472"/>
                <a:gd name="T23" fmla="*/ 281 h 724"/>
                <a:gd name="T24" fmla="*/ 77 w 472"/>
                <a:gd name="T25" fmla="*/ 295 h 724"/>
                <a:gd name="T26" fmla="*/ 55 w 472"/>
                <a:gd name="T27" fmla="*/ 308 h 724"/>
                <a:gd name="T28" fmla="*/ 32 w 472"/>
                <a:gd name="T29" fmla="*/ 321 h 724"/>
                <a:gd name="T30" fmla="*/ 13 w 472"/>
                <a:gd name="T31" fmla="*/ 331 h 724"/>
                <a:gd name="T32" fmla="*/ 0 w 472"/>
                <a:gd name="T33" fmla="*/ 338 h 724"/>
                <a:gd name="T34" fmla="*/ 1 w 472"/>
                <a:gd name="T35" fmla="*/ 345 h 724"/>
                <a:gd name="T36" fmla="*/ 3 w 472"/>
                <a:gd name="T37" fmla="*/ 348 h 724"/>
                <a:gd name="T38" fmla="*/ 4 w 472"/>
                <a:gd name="T39" fmla="*/ 350 h 724"/>
                <a:gd name="T40" fmla="*/ 5 w 472"/>
                <a:gd name="T41" fmla="*/ 350 h 724"/>
                <a:gd name="T42" fmla="*/ 6 w 472"/>
                <a:gd name="T43" fmla="*/ 350 h 724"/>
                <a:gd name="T44" fmla="*/ 7 w 472"/>
                <a:gd name="T45" fmla="*/ 352 h 724"/>
                <a:gd name="T46" fmla="*/ 8 w 472"/>
                <a:gd name="T47" fmla="*/ 355 h 724"/>
                <a:gd name="T48" fmla="*/ 11 w 472"/>
                <a:gd name="T49" fmla="*/ 363 h 724"/>
                <a:gd name="T50" fmla="*/ 35 w 472"/>
                <a:gd name="T51" fmla="*/ 350 h 724"/>
                <a:gd name="T52" fmla="*/ 59 w 472"/>
                <a:gd name="T53" fmla="*/ 337 h 724"/>
                <a:gd name="T54" fmla="*/ 84 w 472"/>
                <a:gd name="T55" fmla="*/ 323 h 724"/>
                <a:gd name="T56" fmla="*/ 109 w 472"/>
                <a:gd name="T57" fmla="*/ 311 h 724"/>
                <a:gd name="T58" fmla="*/ 133 w 472"/>
                <a:gd name="T59" fmla="*/ 298 h 724"/>
                <a:gd name="T60" fmla="*/ 157 w 472"/>
                <a:gd name="T61" fmla="*/ 285 h 724"/>
                <a:gd name="T62" fmla="*/ 182 w 472"/>
                <a:gd name="T63" fmla="*/ 271 h 724"/>
                <a:gd name="T64" fmla="*/ 206 w 472"/>
                <a:gd name="T65" fmla="*/ 259 h 724"/>
                <a:gd name="T66" fmla="*/ 227 w 472"/>
                <a:gd name="T67" fmla="*/ 237 h 724"/>
                <a:gd name="T68" fmla="*/ 236 w 472"/>
                <a:gd name="T69" fmla="*/ 221 h 724"/>
                <a:gd name="T70" fmla="*/ 235 w 472"/>
                <a:gd name="T71" fmla="*/ 209 h 724"/>
                <a:gd name="T72" fmla="*/ 225 w 472"/>
                <a:gd name="T73" fmla="*/ 201 h 724"/>
                <a:gd name="T74" fmla="*/ 206 w 472"/>
                <a:gd name="T75" fmla="*/ 194 h 724"/>
                <a:gd name="T76" fmla="*/ 181 w 472"/>
                <a:gd name="T77" fmla="*/ 187 h 724"/>
                <a:gd name="T78" fmla="*/ 148 w 472"/>
                <a:gd name="T79" fmla="*/ 180 h 724"/>
                <a:gd name="T80" fmla="*/ 111 w 472"/>
                <a:gd name="T81" fmla="*/ 172 h 724"/>
                <a:gd name="T82" fmla="*/ 117 w 472"/>
                <a:gd name="T83" fmla="*/ 160 h 724"/>
                <a:gd name="T84" fmla="*/ 124 w 472"/>
                <a:gd name="T85" fmla="*/ 149 h 724"/>
                <a:gd name="T86" fmla="*/ 131 w 472"/>
                <a:gd name="T87" fmla="*/ 137 h 724"/>
                <a:gd name="T88" fmla="*/ 138 w 472"/>
                <a:gd name="T89" fmla="*/ 126 h 724"/>
                <a:gd name="T90" fmla="*/ 144 w 472"/>
                <a:gd name="T91" fmla="*/ 114 h 724"/>
                <a:gd name="T92" fmla="*/ 152 w 472"/>
                <a:gd name="T93" fmla="*/ 103 h 724"/>
                <a:gd name="T94" fmla="*/ 158 w 472"/>
                <a:gd name="T95" fmla="*/ 92 h 724"/>
                <a:gd name="T96" fmla="*/ 166 w 472"/>
                <a:gd name="T97" fmla="*/ 80 h 724"/>
                <a:gd name="T98" fmla="*/ 155 w 472"/>
                <a:gd name="T99" fmla="*/ 42 h 724"/>
                <a:gd name="T100" fmla="*/ 140 w 472"/>
                <a:gd name="T101" fmla="*/ 17 h 724"/>
                <a:gd name="T102" fmla="*/ 121 w 472"/>
                <a:gd name="T103" fmla="*/ 4 h 724"/>
                <a:gd name="T104" fmla="*/ 102 w 472"/>
                <a:gd name="T105" fmla="*/ 0 h 724"/>
                <a:gd name="T106" fmla="*/ 83 w 472"/>
                <a:gd name="T107" fmla="*/ 3 h 724"/>
                <a:gd name="T108" fmla="*/ 67 w 472"/>
                <a:gd name="T109" fmla="*/ 11 h 724"/>
                <a:gd name="T110" fmla="*/ 54 w 472"/>
                <a:gd name="T111" fmla="*/ 20 h 724"/>
                <a:gd name="T112" fmla="*/ 48 w 472"/>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 name="Freeform 43">
              <a:extLst>
                <a:ext uri="{FF2B5EF4-FFF2-40B4-BE49-F238E27FC236}">
                  <a16:creationId xmlns:a16="http://schemas.microsoft.com/office/drawing/2014/main" id="{6996203A-1192-654B-8867-8FF2D65CA798}"/>
                </a:ext>
              </a:extLst>
            </p:cNvPr>
            <p:cNvSpPr>
              <a:spLocks/>
            </p:cNvSpPr>
            <p:nvPr/>
          </p:nvSpPr>
          <p:spPr bwMode="auto">
            <a:xfrm>
              <a:off x="4706" y="3628"/>
              <a:ext cx="229" cy="363"/>
            </a:xfrm>
            <a:custGeom>
              <a:avLst/>
              <a:gdLst>
                <a:gd name="T0" fmla="*/ 41 w 459"/>
                <a:gd name="T1" fmla="*/ 31 h 724"/>
                <a:gd name="T2" fmla="*/ 22 w 459"/>
                <a:gd name="T3" fmla="*/ 70 h 724"/>
                <a:gd name="T4" fmla="*/ 11 w 459"/>
                <a:gd name="T5" fmla="*/ 104 h 724"/>
                <a:gd name="T6" fmla="*/ 6 w 459"/>
                <a:gd name="T7" fmla="*/ 131 h 724"/>
                <a:gd name="T8" fmla="*/ 11 w 459"/>
                <a:gd name="T9" fmla="*/ 156 h 724"/>
                <a:gd name="T10" fmla="*/ 23 w 459"/>
                <a:gd name="T11" fmla="*/ 178 h 724"/>
                <a:gd name="T12" fmla="*/ 45 w 459"/>
                <a:gd name="T13" fmla="*/ 201 h 724"/>
                <a:gd name="T14" fmla="*/ 76 w 459"/>
                <a:gd name="T15" fmla="*/ 223 h 724"/>
                <a:gd name="T16" fmla="*/ 119 w 459"/>
                <a:gd name="T17" fmla="*/ 248 h 724"/>
                <a:gd name="T18" fmla="*/ 127 w 459"/>
                <a:gd name="T19" fmla="*/ 256 h 724"/>
                <a:gd name="T20" fmla="*/ 121 w 459"/>
                <a:gd name="T21" fmla="*/ 268 h 724"/>
                <a:gd name="T22" fmla="*/ 106 w 459"/>
                <a:gd name="T23" fmla="*/ 282 h 724"/>
                <a:gd name="T24" fmla="*/ 85 w 459"/>
                <a:gd name="T25" fmla="*/ 298 h 724"/>
                <a:gd name="T26" fmla="*/ 59 w 459"/>
                <a:gd name="T27" fmla="*/ 312 h 724"/>
                <a:gd name="T28" fmla="*/ 34 w 459"/>
                <a:gd name="T29" fmla="*/ 326 h 724"/>
                <a:gd name="T30" fmla="*/ 14 w 459"/>
                <a:gd name="T31" fmla="*/ 337 h 724"/>
                <a:gd name="T32" fmla="*/ 0 w 459"/>
                <a:gd name="T33" fmla="*/ 344 h 724"/>
                <a:gd name="T34" fmla="*/ 1 w 459"/>
                <a:gd name="T35" fmla="*/ 350 h 724"/>
                <a:gd name="T36" fmla="*/ 2 w 459"/>
                <a:gd name="T37" fmla="*/ 353 h 724"/>
                <a:gd name="T38" fmla="*/ 2 w 459"/>
                <a:gd name="T39" fmla="*/ 353 h 724"/>
                <a:gd name="T40" fmla="*/ 2 w 459"/>
                <a:gd name="T41" fmla="*/ 353 h 724"/>
                <a:gd name="T42" fmla="*/ 1 w 459"/>
                <a:gd name="T43" fmla="*/ 352 h 724"/>
                <a:gd name="T44" fmla="*/ 1 w 459"/>
                <a:gd name="T45" fmla="*/ 352 h 724"/>
                <a:gd name="T46" fmla="*/ 1 w 459"/>
                <a:gd name="T47" fmla="*/ 355 h 724"/>
                <a:gd name="T48" fmla="*/ 4 w 459"/>
                <a:gd name="T49" fmla="*/ 363 h 724"/>
                <a:gd name="T50" fmla="*/ 28 w 459"/>
                <a:gd name="T51" fmla="*/ 350 h 724"/>
                <a:gd name="T52" fmla="*/ 53 w 459"/>
                <a:gd name="T53" fmla="*/ 337 h 724"/>
                <a:gd name="T54" fmla="*/ 77 w 459"/>
                <a:gd name="T55" fmla="*/ 323 h 724"/>
                <a:gd name="T56" fmla="*/ 102 w 459"/>
                <a:gd name="T57" fmla="*/ 311 h 724"/>
                <a:gd name="T58" fmla="*/ 126 w 459"/>
                <a:gd name="T59" fmla="*/ 298 h 724"/>
                <a:gd name="T60" fmla="*/ 150 w 459"/>
                <a:gd name="T61" fmla="*/ 285 h 724"/>
                <a:gd name="T62" fmla="*/ 175 w 459"/>
                <a:gd name="T63" fmla="*/ 271 h 724"/>
                <a:gd name="T64" fmla="*/ 199 w 459"/>
                <a:gd name="T65" fmla="*/ 259 h 724"/>
                <a:gd name="T66" fmla="*/ 220 w 459"/>
                <a:gd name="T67" fmla="*/ 237 h 724"/>
                <a:gd name="T68" fmla="*/ 229 w 459"/>
                <a:gd name="T69" fmla="*/ 221 h 724"/>
                <a:gd name="T70" fmla="*/ 228 w 459"/>
                <a:gd name="T71" fmla="*/ 209 h 724"/>
                <a:gd name="T72" fmla="*/ 218 w 459"/>
                <a:gd name="T73" fmla="*/ 201 h 724"/>
                <a:gd name="T74" fmla="*/ 199 w 459"/>
                <a:gd name="T75" fmla="*/ 194 h 724"/>
                <a:gd name="T76" fmla="*/ 174 w 459"/>
                <a:gd name="T77" fmla="*/ 187 h 724"/>
                <a:gd name="T78" fmla="*/ 141 w 459"/>
                <a:gd name="T79" fmla="*/ 180 h 724"/>
                <a:gd name="T80" fmla="*/ 104 w 459"/>
                <a:gd name="T81" fmla="*/ 172 h 724"/>
                <a:gd name="T82" fmla="*/ 110 w 459"/>
                <a:gd name="T83" fmla="*/ 160 h 724"/>
                <a:gd name="T84" fmla="*/ 117 w 459"/>
                <a:gd name="T85" fmla="*/ 149 h 724"/>
                <a:gd name="T86" fmla="*/ 124 w 459"/>
                <a:gd name="T87" fmla="*/ 137 h 724"/>
                <a:gd name="T88" fmla="*/ 131 w 459"/>
                <a:gd name="T89" fmla="*/ 126 h 724"/>
                <a:gd name="T90" fmla="*/ 137 w 459"/>
                <a:gd name="T91" fmla="*/ 114 h 724"/>
                <a:gd name="T92" fmla="*/ 145 w 459"/>
                <a:gd name="T93" fmla="*/ 103 h 724"/>
                <a:gd name="T94" fmla="*/ 151 w 459"/>
                <a:gd name="T95" fmla="*/ 92 h 724"/>
                <a:gd name="T96" fmla="*/ 159 w 459"/>
                <a:gd name="T97" fmla="*/ 80 h 724"/>
                <a:gd name="T98" fmla="*/ 148 w 459"/>
                <a:gd name="T99" fmla="*/ 42 h 724"/>
                <a:gd name="T100" fmla="*/ 133 w 459"/>
                <a:gd name="T101" fmla="*/ 17 h 724"/>
                <a:gd name="T102" fmla="*/ 115 w 459"/>
                <a:gd name="T103" fmla="*/ 4 h 724"/>
                <a:gd name="T104" fmla="*/ 95 w 459"/>
                <a:gd name="T105" fmla="*/ 0 h 724"/>
                <a:gd name="T106" fmla="*/ 76 w 459"/>
                <a:gd name="T107" fmla="*/ 3 h 724"/>
                <a:gd name="T108" fmla="*/ 60 w 459"/>
                <a:gd name="T109" fmla="*/ 11 h 724"/>
                <a:gd name="T110" fmla="*/ 47 w 459"/>
                <a:gd name="T111" fmla="*/ 20 h 724"/>
                <a:gd name="T112" fmla="*/ 41 w 45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 name="Freeform 44">
              <a:extLst>
                <a:ext uri="{FF2B5EF4-FFF2-40B4-BE49-F238E27FC236}">
                  <a16:creationId xmlns:a16="http://schemas.microsoft.com/office/drawing/2014/main" id="{419770E3-7711-B441-91CA-602E39778B06}"/>
                </a:ext>
              </a:extLst>
            </p:cNvPr>
            <p:cNvSpPr>
              <a:spLocks/>
            </p:cNvSpPr>
            <p:nvPr/>
          </p:nvSpPr>
          <p:spPr bwMode="auto">
            <a:xfrm>
              <a:off x="4708" y="3628"/>
              <a:ext cx="227" cy="363"/>
            </a:xfrm>
            <a:custGeom>
              <a:avLst/>
              <a:gdLst>
                <a:gd name="T0" fmla="*/ 39 w 455"/>
                <a:gd name="T1" fmla="*/ 31 h 724"/>
                <a:gd name="T2" fmla="*/ 21 w 455"/>
                <a:gd name="T3" fmla="*/ 70 h 724"/>
                <a:gd name="T4" fmla="*/ 11 w 455"/>
                <a:gd name="T5" fmla="*/ 104 h 724"/>
                <a:gd name="T6" fmla="*/ 8 w 455"/>
                <a:gd name="T7" fmla="*/ 131 h 724"/>
                <a:gd name="T8" fmla="*/ 14 w 455"/>
                <a:gd name="T9" fmla="*/ 156 h 724"/>
                <a:gd name="T10" fmla="*/ 29 w 455"/>
                <a:gd name="T11" fmla="*/ 177 h 724"/>
                <a:gd name="T12" fmla="*/ 52 w 455"/>
                <a:gd name="T13" fmla="*/ 199 h 724"/>
                <a:gd name="T14" fmla="*/ 84 w 455"/>
                <a:gd name="T15" fmla="*/ 221 h 724"/>
                <a:gd name="T16" fmla="*/ 127 w 455"/>
                <a:gd name="T17" fmla="*/ 246 h 724"/>
                <a:gd name="T18" fmla="*/ 138 w 455"/>
                <a:gd name="T19" fmla="*/ 256 h 724"/>
                <a:gd name="T20" fmla="*/ 135 w 455"/>
                <a:gd name="T21" fmla="*/ 269 h 724"/>
                <a:gd name="T22" fmla="*/ 120 w 455"/>
                <a:gd name="T23" fmla="*/ 284 h 724"/>
                <a:gd name="T24" fmla="*/ 97 w 455"/>
                <a:gd name="T25" fmla="*/ 300 h 724"/>
                <a:gd name="T26" fmla="*/ 70 w 455"/>
                <a:gd name="T27" fmla="*/ 316 h 724"/>
                <a:gd name="T28" fmla="*/ 43 w 455"/>
                <a:gd name="T29" fmla="*/ 330 h 724"/>
                <a:gd name="T30" fmla="*/ 20 w 455"/>
                <a:gd name="T31" fmla="*/ 342 h 724"/>
                <a:gd name="T32" fmla="*/ 5 w 455"/>
                <a:gd name="T33" fmla="*/ 349 h 724"/>
                <a:gd name="T34" fmla="*/ 6 w 455"/>
                <a:gd name="T35" fmla="*/ 355 h 724"/>
                <a:gd name="T36" fmla="*/ 6 w 455"/>
                <a:gd name="T37" fmla="*/ 358 h 724"/>
                <a:gd name="T38" fmla="*/ 5 w 455"/>
                <a:gd name="T39" fmla="*/ 357 h 724"/>
                <a:gd name="T40" fmla="*/ 4 w 455"/>
                <a:gd name="T41" fmla="*/ 356 h 724"/>
                <a:gd name="T42" fmla="*/ 2 w 455"/>
                <a:gd name="T43" fmla="*/ 353 h 724"/>
                <a:gd name="T44" fmla="*/ 0 w 455"/>
                <a:gd name="T45" fmla="*/ 353 h 724"/>
                <a:gd name="T46" fmla="*/ 0 w 455"/>
                <a:gd name="T47" fmla="*/ 356 h 724"/>
                <a:gd name="T48" fmla="*/ 2 w 455"/>
                <a:gd name="T49" fmla="*/ 363 h 724"/>
                <a:gd name="T50" fmla="*/ 26 w 455"/>
                <a:gd name="T51" fmla="*/ 350 h 724"/>
                <a:gd name="T52" fmla="*/ 51 w 455"/>
                <a:gd name="T53" fmla="*/ 337 h 724"/>
                <a:gd name="T54" fmla="*/ 75 w 455"/>
                <a:gd name="T55" fmla="*/ 323 h 724"/>
                <a:gd name="T56" fmla="*/ 100 w 455"/>
                <a:gd name="T57" fmla="*/ 311 h 724"/>
                <a:gd name="T58" fmla="*/ 124 w 455"/>
                <a:gd name="T59" fmla="*/ 298 h 724"/>
                <a:gd name="T60" fmla="*/ 148 w 455"/>
                <a:gd name="T61" fmla="*/ 285 h 724"/>
                <a:gd name="T62" fmla="*/ 173 w 455"/>
                <a:gd name="T63" fmla="*/ 271 h 724"/>
                <a:gd name="T64" fmla="*/ 197 w 455"/>
                <a:gd name="T65" fmla="*/ 259 h 724"/>
                <a:gd name="T66" fmla="*/ 218 w 455"/>
                <a:gd name="T67" fmla="*/ 237 h 724"/>
                <a:gd name="T68" fmla="*/ 227 w 455"/>
                <a:gd name="T69" fmla="*/ 221 h 724"/>
                <a:gd name="T70" fmla="*/ 226 w 455"/>
                <a:gd name="T71" fmla="*/ 209 h 724"/>
                <a:gd name="T72" fmla="*/ 216 w 455"/>
                <a:gd name="T73" fmla="*/ 201 h 724"/>
                <a:gd name="T74" fmla="*/ 197 w 455"/>
                <a:gd name="T75" fmla="*/ 194 h 724"/>
                <a:gd name="T76" fmla="*/ 172 w 455"/>
                <a:gd name="T77" fmla="*/ 187 h 724"/>
                <a:gd name="T78" fmla="*/ 139 w 455"/>
                <a:gd name="T79" fmla="*/ 180 h 724"/>
                <a:gd name="T80" fmla="*/ 102 w 455"/>
                <a:gd name="T81" fmla="*/ 172 h 724"/>
                <a:gd name="T82" fmla="*/ 108 w 455"/>
                <a:gd name="T83" fmla="*/ 160 h 724"/>
                <a:gd name="T84" fmla="*/ 115 w 455"/>
                <a:gd name="T85" fmla="*/ 149 h 724"/>
                <a:gd name="T86" fmla="*/ 122 w 455"/>
                <a:gd name="T87" fmla="*/ 137 h 724"/>
                <a:gd name="T88" fmla="*/ 129 w 455"/>
                <a:gd name="T89" fmla="*/ 126 h 724"/>
                <a:gd name="T90" fmla="*/ 135 w 455"/>
                <a:gd name="T91" fmla="*/ 114 h 724"/>
                <a:gd name="T92" fmla="*/ 143 w 455"/>
                <a:gd name="T93" fmla="*/ 103 h 724"/>
                <a:gd name="T94" fmla="*/ 149 w 455"/>
                <a:gd name="T95" fmla="*/ 92 h 724"/>
                <a:gd name="T96" fmla="*/ 157 w 455"/>
                <a:gd name="T97" fmla="*/ 80 h 724"/>
                <a:gd name="T98" fmla="*/ 146 w 455"/>
                <a:gd name="T99" fmla="*/ 42 h 724"/>
                <a:gd name="T100" fmla="*/ 131 w 455"/>
                <a:gd name="T101" fmla="*/ 17 h 724"/>
                <a:gd name="T102" fmla="*/ 113 w 455"/>
                <a:gd name="T103" fmla="*/ 4 h 724"/>
                <a:gd name="T104" fmla="*/ 93 w 455"/>
                <a:gd name="T105" fmla="*/ 0 h 724"/>
                <a:gd name="T106" fmla="*/ 74 w 455"/>
                <a:gd name="T107" fmla="*/ 3 h 724"/>
                <a:gd name="T108" fmla="*/ 58 w 455"/>
                <a:gd name="T109" fmla="*/ 11 h 724"/>
                <a:gd name="T110" fmla="*/ 45 w 455"/>
                <a:gd name="T111" fmla="*/ 20 h 724"/>
                <a:gd name="T112" fmla="*/ 39 w 455"/>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 name="Freeform 45">
              <a:extLst>
                <a:ext uri="{FF2B5EF4-FFF2-40B4-BE49-F238E27FC236}">
                  <a16:creationId xmlns:a16="http://schemas.microsoft.com/office/drawing/2014/main" id="{4B510D82-CED0-B245-BC8F-7F2C00E5ED45}"/>
                </a:ext>
              </a:extLst>
            </p:cNvPr>
            <p:cNvSpPr>
              <a:spLocks/>
            </p:cNvSpPr>
            <p:nvPr/>
          </p:nvSpPr>
          <p:spPr bwMode="auto">
            <a:xfrm>
              <a:off x="4708" y="3628"/>
              <a:ext cx="227" cy="363"/>
            </a:xfrm>
            <a:custGeom>
              <a:avLst/>
              <a:gdLst>
                <a:gd name="T0" fmla="*/ 39 w 454"/>
                <a:gd name="T1" fmla="*/ 31 h 724"/>
                <a:gd name="T2" fmla="*/ 21 w 454"/>
                <a:gd name="T3" fmla="*/ 70 h 724"/>
                <a:gd name="T4" fmla="*/ 12 w 454"/>
                <a:gd name="T5" fmla="*/ 103 h 724"/>
                <a:gd name="T6" fmla="*/ 12 w 454"/>
                <a:gd name="T7" fmla="*/ 131 h 724"/>
                <a:gd name="T8" fmla="*/ 20 w 454"/>
                <a:gd name="T9" fmla="*/ 155 h 724"/>
                <a:gd name="T10" fmla="*/ 36 w 454"/>
                <a:gd name="T11" fmla="*/ 176 h 724"/>
                <a:gd name="T12" fmla="*/ 61 w 454"/>
                <a:gd name="T13" fmla="*/ 198 h 724"/>
                <a:gd name="T14" fmla="*/ 95 w 454"/>
                <a:gd name="T15" fmla="*/ 220 h 724"/>
                <a:gd name="T16" fmla="*/ 138 w 454"/>
                <a:gd name="T17" fmla="*/ 246 h 724"/>
                <a:gd name="T18" fmla="*/ 154 w 454"/>
                <a:gd name="T19" fmla="*/ 255 h 724"/>
                <a:gd name="T20" fmla="*/ 152 w 454"/>
                <a:gd name="T21" fmla="*/ 270 h 724"/>
                <a:gd name="T22" fmla="*/ 136 w 454"/>
                <a:gd name="T23" fmla="*/ 285 h 724"/>
                <a:gd name="T24" fmla="*/ 111 w 454"/>
                <a:gd name="T25" fmla="*/ 303 h 724"/>
                <a:gd name="T26" fmla="*/ 82 w 454"/>
                <a:gd name="T27" fmla="*/ 320 h 724"/>
                <a:gd name="T28" fmla="*/ 53 w 454"/>
                <a:gd name="T29" fmla="*/ 335 h 724"/>
                <a:gd name="T30" fmla="*/ 28 w 454"/>
                <a:gd name="T31" fmla="*/ 347 h 724"/>
                <a:gd name="T32" fmla="*/ 14 w 454"/>
                <a:gd name="T33" fmla="*/ 355 h 724"/>
                <a:gd name="T34" fmla="*/ 14 w 454"/>
                <a:gd name="T35" fmla="*/ 361 h 724"/>
                <a:gd name="T36" fmla="*/ 13 w 454"/>
                <a:gd name="T37" fmla="*/ 363 h 724"/>
                <a:gd name="T38" fmla="*/ 10 w 454"/>
                <a:gd name="T39" fmla="*/ 361 h 724"/>
                <a:gd name="T40" fmla="*/ 7 w 454"/>
                <a:gd name="T41" fmla="*/ 359 h 724"/>
                <a:gd name="T42" fmla="*/ 4 w 454"/>
                <a:gd name="T43" fmla="*/ 355 h 724"/>
                <a:gd name="T44" fmla="*/ 2 w 454"/>
                <a:gd name="T45" fmla="*/ 354 h 724"/>
                <a:gd name="T46" fmla="*/ 0 w 454"/>
                <a:gd name="T47" fmla="*/ 356 h 724"/>
                <a:gd name="T48" fmla="*/ 2 w 454"/>
                <a:gd name="T49" fmla="*/ 363 h 724"/>
                <a:gd name="T50" fmla="*/ 26 w 454"/>
                <a:gd name="T51" fmla="*/ 350 h 724"/>
                <a:gd name="T52" fmla="*/ 51 w 454"/>
                <a:gd name="T53" fmla="*/ 337 h 724"/>
                <a:gd name="T54" fmla="*/ 75 w 454"/>
                <a:gd name="T55" fmla="*/ 323 h 724"/>
                <a:gd name="T56" fmla="*/ 100 w 454"/>
                <a:gd name="T57" fmla="*/ 311 h 724"/>
                <a:gd name="T58" fmla="*/ 123 w 454"/>
                <a:gd name="T59" fmla="*/ 298 h 724"/>
                <a:gd name="T60" fmla="*/ 148 w 454"/>
                <a:gd name="T61" fmla="*/ 285 h 724"/>
                <a:gd name="T62" fmla="*/ 173 w 454"/>
                <a:gd name="T63" fmla="*/ 271 h 724"/>
                <a:gd name="T64" fmla="*/ 197 w 454"/>
                <a:gd name="T65" fmla="*/ 259 h 724"/>
                <a:gd name="T66" fmla="*/ 218 w 454"/>
                <a:gd name="T67" fmla="*/ 237 h 724"/>
                <a:gd name="T68" fmla="*/ 227 w 454"/>
                <a:gd name="T69" fmla="*/ 221 h 724"/>
                <a:gd name="T70" fmla="*/ 226 w 454"/>
                <a:gd name="T71" fmla="*/ 209 h 724"/>
                <a:gd name="T72" fmla="*/ 216 w 454"/>
                <a:gd name="T73" fmla="*/ 201 h 724"/>
                <a:gd name="T74" fmla="*/ 197 w 454"/>
                <a:gd name="T75" fmla="*/ 194 h 724"/>
                <a:gd name="T76" fmla="*/ 172 w 454"/>
                <a:gd name="T77" fmla="*/ 187 h 724"/>
                <a:gd name="T78" fmla="*/ 139 w 454"/>
                <a:gd name="T79" fmla="*/ 180 h 724"/>
                <a:gd name="T80" fmla="*/ 102 w 454"/>
                <a:gd name="T81" fmla="*/ 172 h 724"/>
                <a:gd name="T82" fmla="*/ 108 w 454"/>
                <a:gd name="T83" fmla="*/ 160 h 724"/>
                <a:gd name="T84" fmla="*/ 115 w 454"/>
                <a:gd name="T85" fmla="*/ 149 h 724"/>
                <a:gd name="T86" fmla="*/ 122 w 454"/>
                <a:gd name="T87" fmla="*/ 137 h 724"/>
                <a:gd name="T88" fmla="*/ 129 w 454"/>
                <a:gd name="T89" fmla="*/ 126 h 724"/>
                <a:gd name="T90" fmla="*/ 135 w 454"/>
                <a:gd name="T91" fmla="*/ 114 h 724"/>
                <a:gd name="T92" fmla="*/ 143 w 454"/>
                <a:gd name="T93" fmla="*/ 103 h 724"/>
                <a:gd name="T94" fmla="*/ 149 w 454"/>
                <a:gd name="T95" fmla="*/ 92 h 724"/>
                <a:gd name="T96" fmla="*/ 157 w 454"/>
                <a:gd name="T97" fmla="*/ 80 h 724"/>
                <a:gd name="T98" fmla="*/ 146 w 454"/>
                <a:gd name="T99" fmla="*/ 42 h 724"/>
                <a:gd name="T100" fmla="*/ 131 w 454"/>
                <a:gd name="T101" fmla="*/ 17 h 724"/>
                <a:gd name="T102" fmla="*/ 113 w 454"/>
                <a:gd name="T103" fmla="*/ 4 h 724"/>
                <a:gd name="T104" fmla="*/ 93 w 454"/>
                <a:gd name="T105" fmla="*/ 0 h 724"/>
                <a:gd name="T106" fmla="*/ 74 w 454"/>
                <a:gd name="T107" fmla="*/ 3 h 724"/>
                <a:gd name="T108" fmla="*/ 57 w 454"/>
                <a:gd name="T109" fmla="*/ 11 h 724"/>
                <a:gd name="T110" fmla="*/ 45 w 454"/>
                <a:gd name="T111" fmla="*/ 20 h 724"/>
                <a:gd name="T112" fmla="*/ 39 w 45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 name="Freeform 46">
              <a:extLst>
                <a:ext uri="{FF2B5EF4-FFF2-40B4-BE49-F238E27FC236}">
                  <a16:creationId xmlns:a16="http://schemas.microsoft.com/office/drawing/2014/main" id="{B2F3B498-68EE-834E-BEC5-14ADF95F6DD3}"/>
                </a:ext>
              </a:extLst>
            </p:cNvPr>
            <p:cNvSpPr>
              <a:spLocks/>
            </p:cNvSpPr>
            <p:nvPr/>
          </p:nvSpPr>
          <p:spPr bwMode="auto">
            <a:xfrm>
              <a:off x="4610" y="3894"/>
              <a:ext cx="169" cy="140"/>
            </a:xfrm>
            <a:custGeom>
              <a:avLst/>
              <a:gdLst>
                <a:gd name="T0" fmla="*/ 75 w 338"/>
                <a:gd name="T1" fmla="*/ 0 h 280"/>
                <a:gd name="T2" fmla="*/ 110 w 338"/>
                <a:gd name="T3" fmla="*/ 9 h 280"/>
                <a:gd name="T4" fmla="*/ 134 w 338"/>
                <a:gd name="T5" fmla="*/ 19 h 280"/>
                <a:gd name="T6" fmla="*/ 148 w 338"/>
                <a:gd name="T7" fmla="*/ 27 h 280"/>
                <a:gd name="T8" fmla="*/ 156 w 338"/>
                <a:gd name="T9" fmla="*/ 36 h 280"/>
                <a:gd name="T10" fmla="*/ 159 w 338"/>
                <a:gd name="T11" fmla="*/ 45 h 280"/>
                <a:gd name="T12" fmla="*/ 161 w 338"/>
                <a:gd name="T13" fmla="*/ 55 h 280"/>
                <a:gd name="T14" fmla="*/ 163 w 338"/>
                <a:gd name="T15" fmla="*/ 67 h 280"/>
                <a:gd name="T16" fmla="*/ 169 w 338"/>
                <a:gd name="T17" fmla="*/ 80 h 280"/>
                <a:gd name="T18" fmla="*/ 147 w 338"/>
                <a:gd name="T19" fmla="*/ 102 h 280"/>
                <a:gd name="T20" fmla="*/ 124 w 338"/>
                <a:gd name="T21" fmla="*/ 118 h 280"/>
                <a:gd name="T22" fmla="*/ 102 w 338"/>
                <a:gd name="T23" fmla="*/ 129 h 280"/>
                <a:gd name="T24" fmla="*/ 82 w 338"/>
                <a:gd name="T25" fmla="*/ 136 h 280"/>
                <a:gd name="T26" fmla="*/ 61 w 338"/>
                <a:gd name="T27" fmla="*/ 140 h 280"/>
                <a:gd name="T28" fmla="*/ 42 w 338"/>
                <a:gd name="T29" fmla="*/ 140 h 280"/>
                <a:gd name="T30" fmla="*/ 23 w 338"/>
                <a:gd name="T31" fmla="*/ 138 h 280"/>
                <a:gd name="T32" fmla="*/ 6 w 338"/>
                <a:gd name="T33" fmla="*/ 136 h 280"/>
                <a:gd name="T34" fmla="*/ 0 w 338"/>
                <a:gd name="T35" fmla="*/ 123 h 280"/>
                <a:gd name="T36" fmla="*/ 0 w 338"/>
                <a:gd name="T37" fmla="*/ 108 h 280"/>
                <a:gd name="T38" fmla="*/ 3 w 338"/>
                <a:gd name="T39" fmla="*/ 90 h 280"/>
                <a:gd name="T40" fmla="*/ 12 w 338"/>
                <a:gd name="T41" fmla="*/ 71 h 280"/>
                <a:gd name="T42" fmla="*/ 23 w 338"/>
                <a:gd name="T43" fmla="*/ 51 h 280"/>
                <a:gd name="T44" fmla="*/ 39 w 338"/>
                <a:gd name="T45" fmla="*/ 33 h 280"/>
                <a:gd name="T46" fmla="*/ 55 w 338"/>
                <a:gd name="T47" fmla="*/ 15 h 280"/>
                <a:gd name="T48" fmla="*/ 75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 name="Freeform 47">
              <a:extLst>
                <a:ext uri="{FF2B5EF4-FFF2-40B4-BE49-F238E27FC236}">
                  <a16:creationId xmlns:a16="http://schemas.microsoft.com/office/drawing/2014/main" id="{85EDFCB3-4E55-4146-A3AA-AA574D7CFF79}"/>
                </a:ext>
              </a:extLst>
            </p:cNvPr>
            <p:cNvSpPr>
              <a:spLocks/>
            </p:cNvSpPr>
            <p:nvPr/>
          </p:nvSpPr>
          <p:spPr bwMode="auto">
            <a:xfrm>
              <a:off x="4091" y="3654"/>
              <a:ext cx="146" cy="173"/>
            </a:xfrm>
            <a:custGeom>
              <a:avLst/>
              <a:gdLst>
                <a:gd name="T0" fmla="*/ 146 w 291"/>
                <a:gd name="T1" fmla="*/ 27 h 346"/>
                <a:gd name="T2" fmla="*/ 138 w 291"/>
                <a:gd name="T3" fmla="*/ 45 h 346"/>
                <a:gd name="T4" fmla="*/ 131 w 291"/>
                <a:gd name="T5" fmla="*/ 63 h 346"/>
                <a:gd name="T6" fmla="*/ 123 w 291"/>
                <a:gd name="T7" fmla="*/ 82 h 346"/>
                <a:gd name="T8" fmla="*/ 116 w 291"/>
                <a:gd name="T9" fmla="*/ 100 h 346"/>
                <a:gd name="T10" fmla="*/ 108 w 291"/>
                <a:gd name="T11" fmla="*/ 118 h 346"/>
                <a:gd name="T12" fmla="*/ 100 w 291"/>
                <a:gd name="T13" fmla="*/ 137 h 346"/>
                <a:gd name="T14" fmla="*/ 92 w 291"/>
                <a:gd name="T15" fmla="*/ 155 h 346"/>
                <a:gd name="T16" fmla="*/ 86 w 291"/>
                <a:gd name="T17" fmla="*/ 173 h 346"/>
                <a:gd name="T18" fmla="*/ 69 w 291"/>
                <a:gd name="T19" fmla="*/ 152 h 346"/>
                <a:gd name="T20" fmla="*/ 53 w 291"/>
                <a:gd name="T21" fmla="*/ 131 h 346"/>
                <a:gd name="T22" fmla="*/ 37 w 291"/>
                <a:gd name="T23" fmla="*/ 110 h 346"/>
                <a:gd name="T24" fmla="*/ 24 w 291"/>
                <a:gd name="T25" fmla="*/ 91 h 346"/>
                <a:gd name="T26" fmla="*/ 12 w 291"/>
                <a:gd name="T27" fmla="*/ 72 h 346"/>
                <a:gd name="T28" fmla="*/ 4 w 291"/>
                <a:gd name="T29" fmla="*/ 54 h 346"/>
                <a:gd name="T30" fmla="*/ 0 w 291"/>
                <a:gd name="T31" fmla="*/ 40 h 346"/>
                <a:gd name="T32" fmla="*/ 3 w 291"/>
                <a:gd name="T33" fmla="*/ 28 h 346"/>
                <a:gd name="T34" fmla="*/ 19 w 291"/>
                <a:gd name="T35" fmla="*/ 13 h 346"/>
                <a:gd name="T36" fmla="*/ 36 w 291"/>
                <a:gd name="T37" fmla="*/ 5 h 346"/>
                <a:gd name="T38" fmla="*/ 52 w 291"/>
                <a:gd name="T39" fmla="*/ 0 h 346"/>
                <a:gd name="T40" fmla="*/ 69 w 291"/>
                <a:gd name="T41" fmla="*/ 1 h 346"/>
                <a:gd name="T42" fmla="*/ 86 w 291"/>
                <a:gd name="T43" fmla="*/ 5 h 346"/>
                <a:gd name="T44" fmla="*/ 105 w 291"/>
                <a:gd name="T45" fmla="*/ 11 h 346"/>
                <a:gd name="T46" fmla="*/ 124 w 291"/>
                <a:gd name="T47" fmla="*/ 19 h 346"/>
                <a:gd name="T48" fmla="*/ 146 w 291"/>
                <a:gd name="T49" fmla="*/ 27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 name="Freeform 48">
              <a:extLst>
                <a:ext uri="{FF2B5EF4-FFF2-40B4-BE49-F238E27FC236}">
                  <a16:creationId xmlns:a16="http://schemas.microsoft.com/office/drawing/2014/main" id="{D276859E-12C7-0F4B-8373-139A881A54E7}"/>
                </a:ext>
              </a:extLst>
            </p:cNvPr>
            <p:cNvSpPr>
              <a:spLocks/>
            </p:cNvSpPr>
            <p:nvPr/>
          </p:nvSpPr>
          <p:spPr bwMode="auto">
            <a:xfrm>
              <a:off x="4514" y="2857"/>
              <a:ext cx="157" cy="149"/>
            </a:xfrm>
            <a:custGeom>
              <a:avLst/>
              <a:gdLst>
                <a:gd name="T0" fmla="*/ 0 w 313"/>
                <a:gd name="T1" fmla="*/ 78 h 298"/>
                <a:gd name="T2" fmla="*/ 13 w 313"/>
                <a:gd name="T3" fmla="*/ 69 h 298"/>
                <a:gd name="T4" fmla="*/ 25 w 313"/>
                <a:gd name="T5" fmla="*/ 58 h 298"/>
                <a:gd name="T6" fmla="*/ 33 w 313"/>
                <a:gd name="T7" fmla="*/ 46 h 298"/>
                <a:gd name="T8" fmla="*/ 42 w 313"/>
                <a:gd name="T9" fmla="*/ 34 h 298"/>
                <a:gd name="T10" fmla="*/ 49 w 313"/>
                <a:gd name="T11" fmla="*/ 20 h 298"/>
                <a:gd name="T12" fmla="*/ 59 w 313"/>
                <a:gd name="T13" fmla="*/ 10 h 298"/>
                <a:gd name="T14" fmla="*/ 70 w 313"/>
                <a:gd name="T15" fmla="*/ 3 h 298"/>
                <a:gd name="T16" fmla="*/ 85 w 313"/>
                <a:gd name="T17" fmla="*/ 0 h 298"/>
                <a:gd name="T18" fmla="*/ 117 w 313"/>
                <a:gd name="T19" fmla="*/ 11 h 298"/>
                <a:gd name="T20" fmla="*/ 139 w 313"/>
                <a:gd name="T21" fmla="*/ 29 h 298"/>
                <a:gd name="T22" fmla="*/ 152 w 313"/>
                <a:gd name="T23" fmla="*/ 51 h 298"/>
                <a:gd name="T24" fmla="*/ 157 w 313"/>
                <a:gd name="T25" fmla="*/ 76 h 298"/>
                <a:gd name="T26" fmla="*/ 154 w 313"/>
                <a:gd name="T27" fmla="*/ 99 h 298"/>
                <a:gd name="T28" fmla="*/ 145 w 313"/>
                <a:gd name="T29" fmla="*/ 121 h 298"/>
                <a:gd name="T30" fmla="*/ 130 w 313"/>
                <a:gd name="T31" fmla="*/ 138 h 298"/>
                <a:gd name="T32" fmla="*/ 111 w 313"/>
                <a:gd name="T33" fmla="*/ 149 h 298"/>
                <a:gd name="T34" fmla="*/ 85 w 313"/>
                <a:gd name="T35" fmla="*/ 148 h 298"/>
                <a:gd name="T36" fmla="*/ 65 w 313"/>
                <a:gd name="T37" fmla="*/ 141 h 298"/>
                <a:gd name="T38" fmla="*/ 49 w 313"/>
                <a:gd name="T39" fmla="*/ 129 h 298"/>
                <a:gd name="T40" fmla="*/ 37 w 313"/>
                <a:gd name="T41" fmla="*/ 116 h 298"/>
                <a:gd name="T42" fmla="*/ 27 w 313"/>
                <a:gd name="T43" fmla="*/ 101 h 298"/>
                <a:gd name="T44" fmla="*/ 18 w 313"/>
                <a:gd name="T45" fmla="*/ 89 h 298"/>
                <a:gd name="T46" fmla="*/ 10 w 313"/>
                <a:gd name="T47" fmla="*/ 80 h 298"/>
                <a:gd name="T48" fmla="*/ 0 w 313"/>
                <a:gd name="T49" fmla="*/ 78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 name="Freeform 49">
              <a:extLst>
                <a:ext uri="{FF2B5EF4-FFF2-40B4-BE49-F238E27FC236}">
                  <a16:creationId xmlns:a16="http://schemas.microsoft.com/office/drawing/2014/main" id="{966AD283-C8C8-7D45-9F6F-BBE68E70D68D}"/>
                </a:ext>
              </a:extLst>
            </p:cNvPr>
            <p:cNvSpPr>
              <a:spLocks/>
            </p:cNvSpPr>
            <p:nvPr/>
          </p:nvSpPr>
          <p:spPr bwMode="auto">
            <a:xfrm>
              <a:off x="3806" y="3238"/>
              <a:ext cx="118" cy="112"/>
            </a:xfrm>
            <a:custGeom>
              <a:avLst/>
              <a:gdLst>
                <a:gd name="T0" fmla="*/ 0 w 237"/>
                <a:gd name="T1" fmla="*/ 0 h 224"/>
                <a:gd name="T2" fmla="*/ 15 w 237"/>
                <a:gd name="T3" fmla="*/ 2 h 224"/>
                <a:gd name="T4" fmla="*/ 33 w 237"/>
                <a:gd name="T5" fmla="*/ 11 h 224"/>
                <a:gd name="T6" fmla="*/ 51 w 237"/>
                <a:gd name="T7" fmla="*/ 25 h 224"/>
                <a:gd name="T8" fmla="*/ 69 w 237"/>
                <a:gd name="T9" fmla="*/ 42 h 224"/>
                <a:gd name="T10" fmla="*/ 86 w 237"/>
                <a:gd name="T11" fmla="*/ 60 h 224"/>
                <a:gd name="T12" fmla="*/ 100 w 237"/>
                <a:gd name="T13" fmla="*/ 79 h 224"/>
                <a:gd name="T14" fmla="*/ 111 w 237"/>
                <a:gd name="T15" fmla="*/ 97 h 224"/>
                <a:gd name="T16" fmla="*/ 118 w 237"/>
                <a:gd name="T17" fmla="*/ 112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 name="Freeform 50">
              <a:extLst>
                <a:ext uri="{FF2B5EF4-FFF2-40B4-BE49-F238E27FC236}">
                  <a16:creationId xmlns:a16="http://schemas.microsoft.com/office/drawing/2014/main" id="{31511F31-75F9-0342-B317-254FDF3C8D58}"/>
                </a:ext>
              </a:extLst>
            </p:cNvPr>
            <p:cNvSpPr>
              <a:spLocks/>
            </p:cNvSpPr>
            <p:nvPr/>
          </p:nvSpPr>
          <p:spPr bwMode="auto">
            <a:xfrm>
              <a:off x="3869" y="3207"/>
              <a:ext cx="119" cy="111"/>
            </a:xfrm>
            <a:custGeom>
              <a:avLst/>
              <a:gdLst>
                <a:gd name="T0" fmla="*/ 0 w 238"/>
                <a:gd name="T1" fmla="*/ 0 h 223"/>
                <a:gd name="T2" fmla="*/ 15 w 238"/>
                <a:gd name="T3" fmla="*/ 1 h 223"/>
                <a:gd name="T4" fmla="*/ 34 w 238"/>
                <a:gd name="T5" fmla="*/ 10 h 223"/>
                <a:gd name="T6" fmla="*/ 52 w 238"/>
                <a:gd name="T7" fmla="*/ 23 h 223"/>
                <a:gd name="T8" fmla="*/ 71 w 238"/>
                <a:gd name="T9" fmla="*/ 41 h 223"/>
                <a:gd name="T10" fmla="*/ 87 w 238"/>
                <a:gd name="T11" fmla="*/ 59 h 223"/>
                <a:gd name="T12" fmla="*/ 102 w 238"/>
                <a:gd name="T13" fmla="*/ 79 h 223"/>
                <a:gd name="T14" fmla="*/ 112 w 238"/>
                <a:gd name="T15" fmla="*/ 96 h 223"/>
                <a:gd name="T16" fmla="*/ 119 w 238"/>
                <a:gd name="T17" fmla="*/ 111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 name="Freeform 51">
              <a:extLst>
                <a:ext uri="{FF2B5EF4-FFF2-40B4-BE49-F238E27FC236}">
                  <a16:creationId xmlns:a16="http://schemas.microsoft.com/office/drawing/2014/main" id="{8D7CFA12-19F2-A344-A080-063A957C1471}"/>
                </a:ext>
              </a:extLst>
            </p:cNvPr>
            <p:cNvSpPr>
              <a:spLocks/>
            </p:cNvSpPr>
            <p:nvPr/>
          </p:nvSpPr>
          <p:spPr bwMode="auto">
            <a:xfrm>
              <a:off x="3793" y="3217"/>
              <a:ext cx="18" cy="32"/>
            </a:xfrm>
            <a:custGeom>
              <a:avLst/>
              <a:gdLst>
                <a:gd name="T0" fmla="*/ 18 w 35"/>
                <a:gd name="T1" fmla="*/ 16 h 64"/>
                <a:gd name="T2" fmla="*/ 16 w 35"/>
                <a:gd name="T3" fmla="*/ 22 h 64"/>
                <a:gd name="T4" fmla="*/ 15 w 35"/>
                <a:gd name="T5" fmla="*/ 27 h 64"/>
                <a:gd name="T6" fmla="*/ 11 w 35"/>
                <a:gd name="T7" fmla="*/ 30 h 64"/>
                <a:gd name="T8" fmla="*/ 8 w 35"/>
                <a:gd name="T9" fmla="*/ 32 h 64"/>
                <a:gd name="T10" fmla="*/ 5 w 35"/>
                <a:gd name="T11" fmla="*/ 30 h 64"/>
                <a:gd name="T12" fmla="*/ 2 w 35"/>
                <a:gd name="T13" fmla="*/ 27 h 64"/>
                <a:gd name="T14" fmla="*/ 0 w 35"/>
                <a:gd name="T15" fmla="*/ 21 h 64"/>
                <a:gd name="T16" fmla="*/ 0 w 35"/>
                <a:gd name="T17" fmla="*/ 15 h 64"/>
                <a:gd name="T18" fmla="*/ 0 w 35"/>
                <a:gd name="T19" fmla="*/ 8 h 64"/>
                <a:gd name="T20" fmla="*/ 3 w 35"/>
                <a:gd name="T21" fmla="*/ 4 h 64"/>
                <a:gd name="T22" fmla="*/ 6 w 35"/>
                <a:gd name="T23" fmla="*/ 1 h 64"/>
                <a:gd name="T24" fmla="*/ 10 w 35"/>
                <a:gd name="T25" fmla="*/ 0 h 64"/>
                <a:gd name="T26" fmla="*/ 13 w 35"/>
                <a:gd name="T27" fmla="*/ 1 h 64"/>
                <a:gd name="T28" fmla="*/ 16 w 35"/>
                <a:gd name="T29" fmla="*/ 5 h 64"/>
                <a:gd name="T30" fmla="*/ 17 w 35"/>
                <a:gd name="T31" fmla="*/ 10 h 64"/>
                <a:gd name="T32" fmla="*/ 18 w 35"/>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 name="Freeform 52">
              <a:extLst>
                <a:ext uri="{FF2B5EF4-FFF2-40B4-BE49-F238E27FC236}">
                  <a16:creationId xmlns:a16="http://schemas.microsoft.com/office/drawing/2014/main" id="{550178E6-4454-7542-BED2-719EDD025744}"/>
                </a:ext>
              </a:extLst>
            </p:cNvPr>
            <p:cNvSpPr>
              <a:spLocks/>
            </p:cNvSpPr>
            <p:nvPr/>
          </p:nvSpPr>
          <p:spPr bwMode="auto">
            <a:xfrm>
              <a:off x="3866" y="3186"/>
              <a:ext cx="18" cy="33"/>
            </a:xfrm>
            <a:custGeom>
              <a:avLst/>
              <a:gdLst>
                <a:gd name="T0" fmla="*/ 18 w 38"/>
                <a:gd name="T1" fmla="*/ 17 h 65"/>
                <a:gd name="T2" fmla="*/ 16 w 38"/>
                <a:gd name="T3" fmla="*/ 23 h 65"/>
                <a:gd name="T4" fmla="*/ 14 w 38"/>
                <a:gd name="T5" fmla="*/ 28 h 65"/>
                <a:gd name="T6" fmla="*/ 11 w 38"/>
                <a:gd name="T7" fmla="*/ 31 h 65"/>
                <a:gd name="T8" fmla="*/ 8 w 38"/>
                <a:gd name="T9" fmla="*/ 33 h 65"/>
                <a:gd name="T10" fmla="*/ 4 w 38"/>
                <a:gd name="T11" fmla="*/ 31 h 65"/>
                <a:gd name="T12" fmla="*/ 2 w 38"/>
                <a:gd name="T13" fmla="*/ 27 h 65"/>
                <a:gd name="T14" fmla="*/ 0 w 38"/>
                <a:gd name="T15" fmla="*/ 24 h 65"/>
                <a:gd name="T16" fmla="*/ 0 w 38"/>
                <a:gd name="T17" fmla="*/ 22 h 65"/>
                <a:gd name="T18" fmla="*/ 0 w 38"/>
                <a:gd name="T19" fmla="*/ 19 h 65"/>
                <a:gd name="T20" fmla="*/ 0 w 38"/>
                <a:gd name="T21" fmla="*/ 15 h 65"/>
                <a:gd name="T22" fmla="*/ 0 w 38"/>
                <a:gd name="T23" fmla="*/ 9 h 65"/>
                <a:gd name="T24" fmla="*/ 3 w 38"/>
                <a:gd name="T25" fmla="*/ 5 h 65"/>
                <a:gd name="T26" fmla="*/ 6 w 38"/>
                <a:gd name="T27" fmla="*/ 1 h 65"/>
                <a:gd name="T28" fmla="*/ 9 w 38"/>
                <a:gd name="T29" fmla="*/ 0 h 65"/>
                <a:gd name="T30" fmla="*/ 12 w 38"/>
                <a:gd name="T31" fmla="*/ 2 h 65"/>
                <a:gd name="T32" fmla="*/ 16 w 38"/>
                <a:gd name="T33" fmla="*/ 5 h 65"/>
                <a:gd name="T34" fmla="*/ 17 w 38"/>
                <a:gd name="T35" fmla="*/ 10 h 65"/>
                <a:gd name="T36" fmla="*/ 18 w 38"/>
                <a:gd name="T37" fmla="*/ 17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 name="Freeform 53">
              <a:extLst>
                <a:ext uri="{FF2B5EF4-FFF2-40B4-BE49-F238E27FC236}">
                  <a16:creationId xmlns:a16="http://schemas.microsoft.com/office/drawing/2014/main" id="{E9A35E41-36BC-284F-9011-DBC264D8450B}"/>
                </a:ext>
              </a:extLst>
            </p:cNvPr>
            <p:cNvSpPr>
              <a:spLocks/>
            </p:cNvSpPr>
            <p:nvPr/>
          </p:nvSpPr>
          <p:spPr bwMode="auto">
            <a:xfrm>
              <a:off x="3919" y="3231"/>
              <a:ext cx="18" cy="32"/>
            </a:xfrm>
            <a:custGeom>
              <a:avLst/>
              <a:gdLst>
                <a:gd name="T0" fmla="*/ 18 w 36"/>
                <a:gd name="T1" fmla="*/ 16 h 64"/>
                <a:gd name="T2" fmla="*/ 16 w 36"/>
                <a:gd name="T3" fmla="*/ 22 h 64"/>
                <a:gd name="T4" fmla="*/ 13 w 36"/>
                <a:gd name="T5" fmla="*/ 27 h 64"/>
                <a:gd name="T6" fmla="*/ 10 w 36"/>
                <a:gd name="T7" fmla="*/ 31 h 64"/>
                <a:gd name="T8" fmla="*/ 8 w 36"/>
                <a:gd name="T9" fmla="*/ 32 h 64"/>
                <a:gd name="T10" fmla="*/ 4 w 36"/>
                <a:gd name="T11" fmla="*/ 30 h 64"/>
                <a:gd name="T12" fmla="*/ 1 w 36"/>
                <a:gd name="T13" fmla="*/ 27 h 64"/>
                <a:gd name="T14" fmla="*/ 0 w 36"/>
                <a:gd name="T15" fmla="*/ 22 h 64"/>
                <a:gd name="T16" fmla="*/ 0 w 36"/>
                <a:gd name="T17" fmla="*/ 16 h 64"/>
                <a:gd name="T18" fmla="*/ 1 w 36"/>
                <a:gd name="T19" fmla="*/ 9 h 64"/>
                <a:gd name="T20" fmla="*/ 3 w 36"/>
                <a:gd name="T21" fmla="*/ 4 h 64"/>
                <a:gd name="T22" fmla="*/ 5 w 36"/>
                <a:gd name="T23" fmla="*/ 1 h 64"/>
                <a:gd name="T24" fmla="*/ 9 w 36"/>
                <a:gd name="T25" fmla="*/ 0 h 64"/>
                <a:gd name="T26" fmla="*/ 12 w 36"/>
                <a:gd name="T27" fmla="*/ 1 h 64"/>
                <a:gd name="T28" fmla="*/ 15 w 36"/>
                <a:gd name="T29" fmla="*/ 5 h 64"/>
                <a:gd name="T30" fmla="*/ 18 w 36"/>
                <a:gd name="T31" fmla="*/ 10 h 64"/>
                <a:gd name="T32" fmla="*/ 18 w 36"/>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 name="Freeform 54">
              <a:extLst>
                <a:ext uri="{FF2B5EF4-FFF2-40B4-BE49-F238E27FC236}">
                  <a16:creationId xmlns:a16="http://schemas.microsoft.com/office/drawing/2014/main" id="{9D975726-3AA0-6849-9FA0-8EDBC87F0494}"/>
                </a:ext>
              </a:extLst>
            </p:cNvPr>
            <p:cNvSpPr>
              <a:spLocks/>
            </p:cNvSpPr>
            <p:nvPr/>
          </p:nvSpPr>
          <p:spPr bwMode="auto">
            <a:xfrm>
              <a:off x="4329" y="2757"/>
              <a:ext cx="1004" cy="730"/>
            </a:xfrm>
            <a:custGeom>
              <a:avLst/>
              <a:gdLst>
                <a:gd name="T0" fmla="*/ 7 w 2009"/>
                <a:gd name="T1" fmla="*/ 582 h 1460"/>
                <a:gd name="T2" fmla="*/ 29 w 2009"/>
                <a:gd name="T3" fmla="*/ 532 h 1460"/>
                <a:gd name="T4" fmla="*/ 54 w 2009"/>
                <a:gd name="T5" fmla="*/ 483 h 1460"/>
                <a:gd name="T6" fmla="*/ 76 w 2009"/>
                <a:gd name="T7" fmla="*/ 433 h 1460"/>
                <a:gd name="T8" fmla="*/ 156 w 2009"/>
                <a:gd name="T9" fmla="*/ 298 h 1460"/>
                <a:gd name="T10" fmla="*/ 314 w 2009"/>
                <a:gd name="T11" fmla="*/ 134 h 1460"/>
                <a:gd name="T12" fmla="*/ 504 w 2009"/>
                <a:gd name="T13" fmla="*/ 38 h 1460"/>
                <a:gd name="T14" fmla="*/ 736 w 2009"/>
                <a:gd name="T15" fmla="*/ 13 h 1460"/>
                <a:gd name="T16" fmla="*/ 881 w 2009"/>
                <a:gd name="T17" fmla="*/ 30 h 1460"/>
                <a:gd name="T18" fmla="*/ 901 w 2009"/>
                <a:gd name="T19" fmla="*/ 31 h 1460"/>
                <a:gd name="T20" fmla="*/ 923 w 2009"/>
                <a:gd name="T21" fmla="*/ 25 h 1460"/>
                <a:gd name="T22" fmla="*/ 943 w 2009"/>
                <a:gd name="T23" fmla="*/ 11 h 1460"/>
                <a:gd name="T24" fmla="*/ 958 w 2009"/>
                <a:gd name="T25" fmla="*/ 11 h 1460"/>
                <a:gd name="T26" fmla="*/ 965 w 2009"/>
                <a:gd name="T27" fmla="*/ 33 h 1460"/>
                <a:gd name="T28" fmla="*/ 968 w 2009"/>
                <a:gd name="T29" fmla="*/ 56 h 1460"/>
                <a:gd name="T30" fmla="*/ 966 w 2009"/>
                <a:gd name="T31" fmla="*/ 82 h 1460"/>
                <a:gd name="T32" fmla="*/ 997 w 2009"/>
                <a:gd name="T33" fmla="*/ 201 h 1460"/>
                <a:gd name="T34" fmla="*/ 992 w 2009"/>
                <a:gd name="T35" fmla="*/ 399 h 1460"/>
                <a:gd name="T36" fmla="*/ 939 w 2009"/>
                <a:gd name="T37" fmla="*/ 560 h 1460"/>
                <a:gd name="T38" fmla="*/ 893 w 2009"/>
                <a:gd name="T39" fmla="*/ 663 h 1460"/>
                <a:gd name="T40" fmla="*/ 890 w 2009"/>
                <a:gd name="T41" fmla="*/ 696 h 1460"/>
                <a:gd name="T42" fmla="*/ 888 w 2009"/>
                <a:gd name="T43" fmla="*/ 706 h 1460"/>
                <a:gd name="T44" fmla="*/ 886 w 2009"/>
                <a:gd name="T45" fmla="*/ 711 h 1460"/>
                <a:gd name="T46" fmla="*/ 885 w 2009"/>
                <a:gd name="T47" fmla="*/ 720 h 1460"/>
                <a:gd name="T48" fmla="*/ 873 w 2009"/>
                <a:gd name="T49" fmla="*/ 722 h 1460"/>
                <a:gd name="T50" fmla="*/ 841 w 2009"/>
                <a:gd name="T51" fmla="*/ 714 h 1460"/>
                <a:gd name="T52" fmla="*/ 804 w 2009"/>
                <a:gd name="T53" fmla="*/ 710 h 1460"/>
                <a:gd name="T54" fmla="*/ 771 w 2009"/>
                <a:gd name="T55" fmla="*/ 703 h 1460"/>
                <a:gd name="T56" fmla="*/ 702 w 2009"/>
                <a:gd name="T57" fmla="*/ 669 h 1460"/>
                <a:gd name="T58" fmla="*/ 616 w 2009"/>
                <a:gd name="T59" fmla="*/ 602 h 1460"/>
                <a:gd name="T60" fmla="*/ 551 w 2009"/>
                <a:gd name="T61" fmla="*/ 523 h 1460"/>
                <a:gd name="T62" fmla="*/ 481 w 2009"/>
                <a:gd name="T63" fmla="*/ 432 h 1460"/>
                <a:gd name="T64" fmla="*/ 412 w 2009"/>
                <a:gd name="T65" fmla="*/ 379 h 1460"/>
                <a:gd name="T66" fmla="*/ 367 w 2009"/>
                <a:gd name="T67" fmla="*/ 382 h 1460"/>
                <a:gd name="T68" fmla="*/ 318 w 2009"/>
                <a:gd name="T69" fmla="*/ 399 h 1460"/>
                <a:gd name="T70" fmla="*/ 258 w 2009"/>
                <a:gd name="T71" fmla="*/ 428 h 1460"/>
                <a:gd name="T72" fmla="*/ 205 w 2009"/>
                <a:gd name="T73" fmla="*/ 471 h 1460"/>
                <a:gd name="T74" fmla="*/ 163 w 2009"/>
                <a:gd name="T75" fmla="*/ 523 h 1460"/>
                <a:gd name="T76" fmla="*/ 118 w 2009"/>
                <a:gd name="T77" fmla="*/ 579 h 1460"/>
                <a:gd name="T78" fmla="*/ 76 w 2009"/>
                <a:gd name="T79" fmla="*/ 632 h 1460"/>
                <a:gd name="T80" fmla="*/ 53 w 2009"/>
                <a:gd name="T81" fmla="*/ 654 h 1460"/>
                <a:gd name="T82" fmla="*/ 37 w 2009"/>
                <a:gd name="T83" fmla="*/ 641 h 1460"/>
                <a:gd name="T84" fmla="*/ 20 w 2009"/>
                <a:gd name="T85" fmla="*/ 623 h 1460"/>
                <a:gd name="T86" fmla="*/ 5 w 2009"/>
                <a:gd name="T87" fmla="*/ 610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 name="Freeform 55">
              <a:extLst>
                <a:ext uri="{FF2B5EF4-FFF2-40B4-BE49-F238E27FC236}">
                  <a16:creationId xmlns:a16="http://schemas.microsoft.com/office/drawing/2014/main" id="{38F4BD55-B569-A145-99C3-D8D4DB1A670F}"/>
                </a:ext>
              </a:extLst>
            </p:cNvPr>
            <p:cNvSpPr>
              <a:spLocks/>
            </p:cNvSpPr>
            <p:nvPr/>
          </p:nvSpPr>
          <p:spPr bwMode="auto">
            <a:xfrm>
              <a:off x="4335" y="2766"/>
              <a:ext cx="993" cy="694"/>
            </a:xfrm>
            <a:custGeom>
              <a:avLst/>
              <a:gdLst>
                <a:gd name="T0" fmla="*/ 9 w 1985"/>
                <a:gd name="T1" fmla="*/ 558 h 1387"/>
                <a:gd name="T2" fmla="*/ 29 w 1985"/>
                <a:gd name="T3" fmla="*/ 512 h 1387"/>
                <a:gd name="T4" fmla="*/ 51 w 1985"/>
                <a:gd name="T5" fmla="*/ 469 h 1387"/>
                <a:gd name="T6" fmla="*/ 71 w 1985"/>
                <a:gd name="T7" fmla="*/ 423 h 1387"/>
                <a:gd name="T8" fmla="*/ 150 w 1985"/>
                <a:gd name="T9" fmla="*/ 290 h 1387"/>
                <a:gd name="T10" fmla="*/ 308 w 1985"/>
                <a:gd name="T11" fmla="*/ 126 h 1387"/>
                <a:gd name="T12" fmla="*/ 496 w 1985"/>
                <a:gd name="T13" fmla="*/ 32 h 1387"/>
                <a:gd name="T14" fmla="*/ 726 w 1985"/>
                <a:gd name="T15" fmla="*/ 9 h 1387"/>
                <a:gd name="T16" fmla="*/ 871 w 1985"/>
                <a:gd name="T17" fmla="*/ 25 h 1387"/>
                <a:gd name="T18" fmla="*/ 891 w 1985"/>
                <a:gd name="T19" fmla="*/ 26 h 1387"/>
                <a:gd name="T20" fmla="*/ 913 w 1985"/>
                <a:gd name="T21" fmla="*/ 21 h 1387"/>
                <a:gd name="T22" fmla="*/ 933 w 1985"/>
                <a:gd name="T23" fmla="*/ 9 h 1387"/>
                <a:gd name="T24" fmla="*/ 949 w 1985"/>
                <a:gd name="T25" fmla="*/ 11 h 1387"/>
                <a:gd name="T26" fmla="*/ 957 w 1985"/>
                <a:gd name="T27" fmla="*/ 33 h 1387"/>
                <a:gd name="T28" fmla="*/ 960 w 1985"/>
                <a:gd name="T29" fmla="*/ 55 h 1387"/>
                <a:gd name="T30" fmla="*/ 958 w 1985"/>
                <a:gd name="T31" fmla="*/ 80 h 1387"/>
                <a:gd name="T32" fmla="*/ 987 w 1985"/>
                <a:gd name="T33" fmla="*/ 191 h 1387"/>
                <a:gd name="T34" fmla="*/ 982 w 1985"/>
                <a:gd name="T35" fmla="*/ 377 h 1387"/>
                <a:gd name="T36" fmla="*/ 932 w 1985"/>
                <a:gd name="T37" fmla="*/ 532 h 1387"/>
                <a:gd name="T38" fmla="*/ 886 w 1985"/>
                <a:gd name="T39" fmla="*/ 632 h 1387"/>
                <a:gd name="T40" fmla="*/ 879 w 1985"/>
                <a:gd name="T41" fmla="*/ 664 h 1387"/>
                <a:gd name="T42" fmla="*/ 877 w 1985"/>
                <a:gd name="T43" fmla="*/ 673 h 1387"/>
                <a:gd name="T44" fmla="*/ 873 w 1985"/>
                <a:gd name="T45" fmla="*/ 677 h 1387"/>
                <a:gd name="T46" fmla="*/ 869 w 1985"/>
                <a:gd name="T47" fmla="*/ 685 h 1387"/>
                <a:gd name="T48" fmla="*/ 858 w 1985"/>
                <a:gd name="T49" fmla="*/ 688 h 1387"/>
                <a:gd name="T50" fmla="*/ 828 w 1985"/>
                <a:gd name="T51" fmla="*/ 682 h 1387"/>
                <a:gd name="T52" fmla="*/ 794 w 1985"/>
                <a:gd name="T53" fmla="*/ 679 h 1387"/>
                <a:gd name="T54" fmla="*/ 764 w 1985"/>
                <a:gd name="T55" fmla="*/ 672 h 1387"/>
                <a:gd name="T56" fmla="*/ 695 w 1985"/>
                <a:gd name="T57" fmla="*/ 639 h 1387"/>
                <a:gd name="T58" fmla="*/ 610 w 1985"/>
                <a:gd name="T59" fmla="*/ 574 h 1387"/>
                <a:gd name="T60" fmla="*/ 546 w 1985"/>
                <a:gd name="T61" fmla="*/ 498 h 1387"/>
                <a:gd name="T62" fmla="*/ 476 w 1985"/>
                <a:gd name="T63" fmla="*/ 410 h 1387"/>
                <a:gd name="T64" fmla="*/ 407 w 1985"/>
                <a:gd name="T65" fmla="*/ 357 h 1387"/>
                <a:gd name="T66" fmla="*/ 361 w 1985"/>
                <a:gd name="T67" fmla="*/ 362 h 1387"/>
                <a:gd name="T68" fmla="*/ 310 w 1985"/>
                <a:gd name="T69" fmla="*/ 380 h 1387"/>
                <a:gd name="T70" fmla="*/ 249 w 1985"/>
                <a:gd name="T71" fmla="*/ 412 h 1387"/>
                <a:gd name="T72" fmla="*/ 197 w 1985"/>
                <a:gd name="T73" fmla="*/ 455 h 1387"/>
                <a:gd name="T74" fmla="*/ 157 w 1985"/>
                <a:gd name="T75" fmla="*/ 504 h 1387"/>
                <a:gd name="T76" fmla="*/ 114 w 1985"/>
                <a:gd name="T77" fmla="*/ 554 h 1387"/>
                <a:gd name="T78" fmla="*/ 74 w 1985"/>
                <a:gd name="T79" fmla="*/ 603 h 1387"/>
                <a:gd name="T80" fmla="*/ 51 w 1985"/>
                <a:gd name="T81" fmla="*/ 625 h 1387"/>
                <a:gd name="T82" fmla="*/ 36 w 1985"/>
                <a:gd name="T83" fmla="*/ 613 h 1387"/>
                <a:gd name="T84" fmla="*/ 20 w 1985"/>
                <a:gd name="T85" fmla="*/ 597 h 1387"/>
                <a:gd name="T86" fmla="*/ 5 w 1985"/>
                <a:gd name="T87" fmla="*/ 585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 name="Freeform 56">
              <a:extLst>
                <a:ext uri="{FF2B5EF4-FFF2-40B4-BE49-F238E27FC236}">
                  <a16:creationId xmlns:a16="http://schemas.microsoft.com/office/drawing/2014/main" id="{66552C4D-9B86-E64E-903B-E129C7DCE69D}"/>
                </a:ext>
              </a:extLst>
            </p:cNvPr>
            <p:cNvSpPr>
              <a:spLocks/>
            </p:cNvSpPr>
            <p:nvPr/>
          </p:nvSpPr>
          <p:spPr bwMode="auto">
            <a:xfrm>
              <a:off x="4342" y="2777"/>
              <a:ext cx="979" cy="657"/>
            </a:xfrm>
            <a:custGeom>
              <a:avLst/>
              <a:gdLst>
                <a:gd name="T0" fmla="*/ 7 w 1959"/>
                <a:gd name="T1" fmla="*/ 532 h 1315"/>
                <a:gd name="T2" fmla="*/ 26 w 1959"/>
                <a:gd name="T3" fmla="*/ 490 h 1315"/>
                <a:gd name="T4" fmla="*/ 45 w 1959"/>
                <a:gd name="T5" fmla="*/ 453 h 1315"/>
                <a:gd name="T6" fmla="*/ 63 w 1959"/>
                <a:gd name="T7" fmla="*/ 411 h 1315"/>
                <a:gd name="T8" fmla="*/ 143 w 1959"/>
                <a:gd name="T9" fmla="*/ 279 h 1315"/>
                <a:gd name="T10" fmla="*/ 300 w 1959"/>
                <a:gd name="T11" fmla="*/ 116 h 1315"/>
                <a:gd name="T12" fmla="*/ 486 w 1959"/>
                <a:gd name="T13" fmla="*/ 24 h 1315"/>
                <a:gd name="T14" fmla="*/ 715 w 1959"/>
                <a:gd name="T15" fmla="*/ 1 h 1315"/>
                <a:gd name="T16" fmla="*/ 859 w 1959"/>
                <a:gd name="T17" fmla="*/ 17 h 1315"/>
                <a:gd name="T18" fmla="*/ 879 w 1959"/>
                <a:gd name="T19" fmla="*/ 18 h 1315"/>
                <a:gd name="T20" fmla="*/ 901 w 1959"/>
                <a:gd name="T21" fmla="*/ 15 h 1315"/>
                <a:gd name="T22" fmla="*/ 922 w 1959"/>
                <a:gd name="T23" fmla="*/ 7 h 1315"/>
                <a:gd name="T24" fmla="*/ 937 w 1959"/>
                <a:gd name="T25" fmla="*/ 10 h 1315"/>
                <a:gd name="T26" fmla="*/ 945 w 1959"/>
                <a:gd name="T27" fmla="*/ 31 h 1315"/>
                <a:gd name="T28" fmla="*/ 948 w 1959"/>
                <a:gd name="T29" fmla="*/ 52 h 1315"/>
                <a:gd name="T30" fmla="*/ 948 w 1959"/>
                <a:gd name="T31" fmla="*/ 76 h 1315"/>
                <a:gd name="T32" fmla="*/ 974 w 1959"/>
                <a:gd name="T33" fmla="*/ 180 h 1315"/>
                <a:gd name="T34" fmla="*/ 969 w 1959"/>
                <a:gd name="T35" fmla="*/ 356 h 1315"/>
                <a:gd name="T36" fmla="*/ 922 w 1959"/>
                <a:gd name="T37" fmla="*/ 503 h 1315"/>
                <a:gd name="T38" fmla="*/ 877 w 1959"/>
                <a:gd name="T39" fmla="*/ 601 h 1315"/>
                <a:gd name="T40" fmla="*/ 868 w 1959"/>
                <a:gd name="T41" fmla="*/ 630 h 1315"/>
                <a:gd name="T42" fmla="*/ 863 w 1959"/>
                <a:gd name="T43" fmla="*/ 638 h 1315"/>
                <a:gd name="T44" fmla="*/ 857 w 1959"/>
                <a:gd name="T45" fmla="*/ 643 h 1315"/>
                <a:gd name="T46" fmla="*/ 851 w 1959"/>
                <a:gd name="T47" fmla="*/ 649 h 1315"/>
                <a:gd name="T48" fmla="*/ 840 w 1959"/>
                <a:gd name="T49" fmla="*/ 653 h 1315"/>
                <a:gd name="T50" fmla="*/ 812 w 1959"/>
                <a:gd name="T51" fmla="*/ 648 h 1315"/>
                <a:gd name="T52" fmla="*/ 780 w 1959"/>
                <a:gd name="T53" fmla="*/ 644 h 1315"/>
                <a:gd name="T54" fmla="*/ 753 w 1959"/>
                <a:gd name="T55" fmla="*/ 639 h 1315"/>
                <a:gd name="T56" fmla="*/ 686 w 1959"/>
                <a:gd name="T57" fmla="*/ 606 h 1315"/>
                <a:gd name="T58" fmla="*/ 602 w 1959"/>
                <a:gd name="T59" fmla="*/ 544 h 1315"/>
                <a:gd name="T60" fmla="*/ 539 w 1959"/>
                <a:gd name="T61" fmla="*/ 472 h 1315"/>
                <a:gd name="T62" fmla="*/ 469 w 1959"/>
                <a:gd name="T63" fmla="*/ 386 h 1315"/>
                <a:gd name="T64" fmla="*/ 400 w 1959"/>
                <a:gd name="T65" fmla="*/ 334 h 1315"/>
                <a:gd name="T66" fmla="*/ 352 w 1959"/>
                <a:gd name="T67" fmla="*/ 339 h 1315"/>
                <a:gd name="T68" fmla="*/ 300 w 1959"/>
                <a:gd name="T69" fmla="*/ 359 h 1315"/>
                <a:gd name="T70" fmla="*/ 239 w 1959"/>
                <a:gd name="T71" fmla="*/ 394 h 1315"/>
                <a:gd name="T72" fmla="*/ 188 w 1959"/>
                <a:gd name="T73" fmla="*/ 438 h 1315"/>
                <a:gd name="T74" fmla="*/ 149 w 1959"/>
                <a:gd name="T75" fmla="*/ 483 h 1315"/>
                <a:gd name="T76" fmla="*/ 108 w 1959"/>
                <a:gd name="T77" fmla="*/ 528 h 1315"/>
                <a:gd name="T78" fmla="*/ 69 w 1959"/>
                <a:gd name="T79" fmla="*/ 573 h 1315"/>
                <a:gd name="T80" fmla="*/ 47 w 1959"/>
                <a:gd name="T81" fmla="*/ 596 h 1315"/>
                <a:gd name="T82" fmla="*/ 32 w 1959"/>
                <a:gd name="T83" fmla="*/ 584 h 1315"/>
                <a:gd name="T84" fmla="*/ 18 w 1959"/>
                <a:gd name="T85" fmla="*/ 569 h 1315"/>
                <a:gd name="T86" fmla="*/ 4 w 1959"/>
                <a:gd name="T87" fmla="*/ 55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7" name="Freeform 57">
              <a:extLst>
                <a:ext uri="{FF2B5EF4-FFF2-40B4-BE49-F238E27FC236}">
                  <a16:creationId xmlns:a16="http://schemas.microsoft.com/office/drawing/2014/main" id="{E0CA6990-806B-4648-B9D2-6E7DF0337EA7}"/>
                </a:ext>
              </a:extLst>
            </p:cNvPr>
            <p:cNvSpPr>
              <a:spLocks/>
            </p:cNvSpPr>
            <p:nvPr/>
          </p:nvSpPr>
          <p:spPr bwMode="auto">
            <a:xfrm>
              <a:off x="4349" y="2782"/>
              <a:ext cx="967" cy="627"/>
            </a:xfrm>
            <a:custGeom>
              <a:avLst/>
              <a:gdLst>
                <a:gd name="T0" fmla="*/ 7 w 1934"/>
                <a:gd name="T1" fmla="*/ 513 h 1254"/>
                <a:gd name="T2" fmla="*/ 23 w 1934"/>
                <a:gd name="T3" fmla="*/ 475 h 1254"/>
                <a:gd name="T4" fmla="*/ 41 w 1934"/>
                <a:gd name="T5" fmla="*/ 443 h 1254"/>
                <a:gd name="T6" fmla="*/ 57 w 1934"/>
                <a:gd name="T7" fmla="*/ 405 h 1254"/>
                <a:gd name="T8" fmla="*/ 136 w 1934"/>
                <a:gd name="T9" fmla="*/ 274 h 1254"/>
                <a:gd name="T10" fmla="*/ 291 w 1934"/>
                <a:gd name="T11" fmla="*/ 112 h 1254"/>
                <a:gd name="T12" fmla="*/ 476 w 1934"/>
                <a:gd name="T13" fmla="*/ 21 h 1254"/>
                <a:gd name="T14" fmla="*/ 704 w 1934"/>
                <a:gd name="T15" fmla="*/ 0 h 1254"/>
                <a:gd name="T16" fmla="*/ 849 w 1934"/>
                <a:gd name="T17" fmla="*/ 17 h 1254"/>
                <a:gd name="T18" fmla="*/ 869 w 1934"/>
                <a:gd name="T19" fmla="*/ 18 h 1254"/>
                <a:gd name="T20" fmla="*/ 889 w 1934"/>
                <a:gd name="T21" fmla="*/ 15 h 1254"/>
                <a:gd name="T22" fmla="*/ 910 w 1934"/>
                <a:gd name="T23" fmla="*/ 10 h 1254"/>
                <a:gd name="T24" fmla="*/ 926 w 1934"/>
                <a:gd name="T25" fmla="*/ 15 h 1254"/>
                <a:gd name="T26" fmla="*/ 934 w 1934"/>
                <a:gd name="T27" fmla="*/ 36 h 1254"/>
                <a:gd name="T28" fmla="*/ 938 w 1934"/>
                <a:gd name="T29" fmla="*/ 55 h 1254"/>
                <a:gd name="T30" fmla="*/ 939 w 1934"/>
                <a:gd name="T31" fmla="*/ 77 h 1254"/>
                <a:gd name="T32" fmla="*/ 962 w 1934"/>
                <a:gd name="T33" fmla="*/ 173 h 1254"/>
                <a:gd name="T34" fmla="*/ 958 w 1934"/>
                <a:gd name="T35" fmla="*/ 339 h 1254"/>
                <a:gd name="T36" fmla="*/ 914 w 1934"/>
                <a:gd name="T37" fmla="*/ 480 h 1254"/>
                <a:gd name="T38" fmla="*/ 869 w 1934"/>
                <a:gd name="T39" fmla="*/ 575 h 1254"/>
                <a:gd name="T40" fmla="*/ 857 w 1934"/>
                <a:gd name="T41" fmla="*/ 602 h 1254"/>
                <a:gd name="T42" fmla="*/ 851 w 1934"/>
                <a:gd name="T43" fmla="*/ 610 h 1254"/>
                <a:gd name="T44" fmla="*/ 842 w 1934"/>
                <a:gd name="T45" fmla="*/ 614 h 1254"/>
                <a:gd name="T46" fmla="*/ 834 w 1934"/>
                <a:gd name="T47" fmla="*/ 621 h 1254"/>
                <a:gd name="T48" fmla="*/ 823 w 1934"/>
                <a:gd name="T49" fmla="*/ 624 h 1254"/>
                <a:gd name="T50" fmla="*/ 798 w 1934"/>
                <a:gd name="T51" fmla="*/ 621 h 1254"/>
                <a:gd name="T52" fmla="*/ 769 w 1934"/>
                <a:gd name="T53" fmla="*/ 618 h 1254"/>
                <a:gd name="T54" fmla="*/ 744 w 1934"/>
                <a:gd name="T55" fmla="*/ 613 h 1254"/>
                <a:gd name="T56" fmla="*/ 678 w 1934"/>
                <a:gd name="T57" fmla="*/ 581 h 1254"/>
                <a:gd name="T58" fmla="*/ 594 w 1934"/>
                <a:gd name="T59" fmla="*/ 522 h 1254"/>
                <a:gd name="T60" fmla="*/ 532 w 1934"/>
                <a:gd name="T61" fmla="*/ 451 h 1254"/>
                <a:gd name="T62" fmla="*/ 462 w 1934"/>
                <a:gd name="T63" fmla="*/ 367 h 1254"/>
                <a:gd name="T64" fmla="*/ 393 w 1934"/>
                <a:gd name="T65" fmla="*/ 316 h 1254"/>
                <a:gd name="T66" fmla="*/ 344 w 1934"/>
                <a:gd name="T67" fmla="*/ 322 h 1254"/>
                <a:gd name="T68" fmla="*/ 290 w 1934"/>
                <a:gd name="T69" fmla="*/ 344 h 1254"/>
                <a:gd name="T70" fmla="*/ 230 w 1934"/>
                <a:gd name="T71" fmla="*/ 381 h 1254"/>
                <a:gd name="T72" fmla="*/ 180 w 1934"/>
                <a:gd name="T73" fmla="*/ 427 h 1254"/>
                <a:gd name="T74" fmla="*/ 142 w 1934"/>
                <a:gd name="T75" fmla="*/ 468 h 1254"/>
                <a:gd name="T76" fmla="*/ 102 w 1934"/>
                <a:gd name="T77" fmla="*/ 508 h 1254"/>
                <a:gd name="T78" fmla="*/ 65 w 1934"/>
                <a:gd name="T79" fmla="*/ 550 h 1254"/>
                <a:gd name="T80" fmla="*/ 43 w 1934"/>
                <a:gd name="T81" fmla="*/ 571 h 1254"/>
                <a:gd name="T82" fmla="*/ 30 w 1934"/>
                <a:gd name="T83" fmla="*/ 561 h 1254"/>
                <a:gd name="T84" fmla="*/ 17 w 1934"/>
                <a:gd name="T85" fmla="*/ 548 h 1254"/>
                <a:gd name="T86" fmla="*/ 5 w 1934"/>
                <a:gd name="T87" fmla="*/ 538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8" name="Freeform 58">
              <a:extLst>
                <a:ext uri="{FF2B5EF4-FFF2-40B4-BE49-F238E27FC236}">
                  <a16:creationId xmlns:a16="http://schemas.microsoft.com/office/drawing/2014/main" id="{92C04F4C-BA63-0A4A-88DD-150FCEADBF89}"/>
                </a:ext>
              </a:extLst>
            </p:cNvPr>
            <p:cNvSpPr>
              <a:spLocks/>
            </p:cNvSpPr>
            <p:nvPr/>
          </p:nvSpPr>
          <p:spPr bwMode="auto">
            <a:xfrm>
              <a:off x="4356" y="2785"/>
              <a:ext cx="954" cy="599"/>
            </a:xfrm>
            <a:custGeom>
              <a:avLst/>
              <a:gdLst>
                <a:gd name="T0" fmla="*/ 7 w 1907"/>
                <a:gd name="T1" fmla="*/ 495 h 1197"/>
                <a:gd name="T2" fmla="*/ 21 w 1907"/>
                <a:gd name="T3" fmla="*/ 462 h 1197"/>
                <a:gd name="T4" fmla="*/ 36 w 1907"/>
                <a:gd name="T5" fmla="*/ 436 h 1197"/>
                <a:gd name="T6" fmla="*/ 51 w 1907"/>
                <a:gd name="T7" fmla="*/ 403 h 1197"/>
                <a:gd name="T8" fmla="*/ 129 w 1907"/>
                <a:gd name="T9" fmla="*/ 271 h 1197"/>
                <a:gd name="T10" fmla="*/ 283 w 1907"/>
                <a:gd name="T11" fmla="*/ 111 h 1197"/>
                <a:gd name="T12" fmla="*/ 467 w 1907"/>
                <a:gd name="T13" fmla="*/ 21 h 1197"/>
                <a:gd name="T14" fmla="*/ 693 w 1907"/>
                <a:gd name="T15" fmla="*/ 0 h 1197"/>
                <a:gd name="T16" fmla="*/ 837 w 1907"/>
                <a:gd name="T17" fmla="*/ 17 h 1197"/>
                <a:gd name="T18" fmla="*/ 857 w 1907"/>
                <a:gd name="T19" fmla="*/ 18 h 1197"/>
                <a:gd name="T20" fmla="*/ 879 w 1907"/>
                <a:gd name="T21" fmla="*/ 18 h 1197"/>
                <a:gd name="T22" fmla="*/ 900 w 1907"/>
                <a:gd name="T23" fmla="*/ 14 h 1197"/>
                <a:gd name="T24" fmla="*/ 915 w 1907"/>
                <a:gd name="T25" fmla="*/ 22 h 1197"/>
                <a:gd name="T26" fmla="*/ 923 w 1907"/>
                <a:gd name="T27" fmla="*/ 42 h 1197"/>
                <a:gd name="T28" fmla="*/ 928 w 1907"/>
                <a:gd name="T29" fmla="*/ 61 h 1197"/>
                <a:gd name="T30" fmla="*/ 929 w 1907"/>
                <a:gd name="T31" fmla="*/ 82 h 1197"/>
                <a:gd name="T32" fmla="*/ 950 w 1907"/>
                <a:gd name="T33" fmla="*/ 170 h 1197"/>
                <a:gd name="T34" fmla="*/ 945 w 1907"/>
                <a:gd name="T35" fmla="*/ 324 h 1197"/>
                <a:gd name="T36" fmla="*/ 905 w 1907"/>
                <a:gd name="T37" fmla="*/ 460 h 1197"/>
                <a:gd name="T38" fmla="*/ 861 w 1907"/>
                <a:gd name="T39" fmla="*/ 551 h 1197"/>
                <a:gd name="T40" fmla="*/ 847 w 1907"/>
                <a:gd name="T41" fmla="*/ 577 h 1197"/>
                <a:gd name="T42" fmla="*/ 838 w 1907"/>
                <a:gd name="T43" fmla="*/ 584 h 1197"/>
                <a:gd name="T44" fmla="*/ 828 w 1907"/>
                <a:gd name="T45" fmla="*/ 588 h 1197"/>
                <a:gd name="T46" fmla="*/ 817 w 1907"/>
                <a:gd name="T47" fmla="*/ 594 h 1197"/>
                <a:gd name="T48" fmla="*/ 806 w 1907"/>
                <a:gd name="T49" fmla="*/ 597 h 1197"/>
                <a:gd name="T50" fmla="*/ 783 w 1907"/>
                <a:gd name="T51" fmla="*/ 596 h 1197"/>
                <a:gd name="T52" fmla="*/ 757 w 1907"/>
                <a:gd name="T53" fmla="*/ 593 h 1197"/>
                <a:gd name="T54" fmla="*/ 735 w 1907"/>
                <a:gd name="T55" fmla="*/ 588 h 1197"/>
                <a:gd name="T56" fmla="*/ 669 w 1907"/>
                <a:gd name="T57" fmla="*/ 558 h 1197"/>
                <a:gd name="T58" fmla="*/ 586 w 1907"/>
                <a:gd name="T59" fmla="*/ 500 h 1197"/>
                <a:gd name="T60" fmla="*/ 525 w 1907"/>
                <a:gd name="T61" fmla="*/ 433 h 1197"/>
                <a:gd name="T62" fmla="*/ 457 w 1907"/>
                <a:gd name="T63" fmla="*/ 353 h 1197"/>
                <a:gd name="T64" fmla="*/ 387 w 1907"/>
                <a:gd name="T65" fmla="*/ 301 h 1197"/>
                <a:gd name="T66" fmla="*/ 336 w 1907"/>
                <a:gd name="T67" fmla="*/ 307 h 1197"/>
                <a:gd name="T68" fmla="*/ 280 w 1907"/>
                <a:gd name="T69" fmla="*/ 332 h 1197"/>
                <a:gd name="T70" fmla="*/ 220 w 1907"/>
                <a:gd name="T71" fmla="*/ 372 h 1197"/>
                <a:gd name="T72" fmla="*/ 171 w 1907"/>
                <a:gd name="T73" fmla="*/ 418 h 1197"/>
                <a:gd name="T74" fmla="*/ 134 w 1907"/>
                <a:gd name="T75" fmla="*/ 456 h 1197"/>
                <a:gd name="T76" fmla="*/ 97 w 1907"/>
                <a:gd name="T77" fmla="*/ 490 h 1197"/>
                <a:gd name="T78" fmla="*/ 60 w 1907"/>
                <a:gd name="T79" fmla="*/ 528 h 1197"/>
                <a:gd name="T80" fmla="*/ 38 w 1907"/>
                <a:gd name="T81" fmla="*/ 549 h 1197"/>
                <a:gd name="T82" fmla="*/ 28 w 1907"/>
                <a:gd name="T83" fmla="*/ 540 h 1197"/>
                <a:gd name="T84" fmla="*/ 16 w 1907"/>
                <a:gd name="T85" fmla="*/ 528 h 1197"/>
                <a:gd name="T86" fmla="*/ 4 w 1907"/>
                <a:gd name="T87" fmla="*/ 519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9" name="Freeform 59">
              <a:extLst>
                <a:ext uri="{FF2B5EF4-FFF2-40B4-BE49-F238E27FC236}">
                  <a16:creationId xmlns:a16="http://schemas.microsoft.com/office/drawing/2014/main" id="{5135F21B-1A8A-DF44-B6AB-0BF788203F0B}"/>
                </a:ext>
              </a:extLst>
            </p:cNvPr>
            <p:cNvSpPr>
              <a:spLocks/>
            </p:cNvSpPr>
            <p:nvPr/>
          </p:nvSpPr>
          <p:spPr bwMode="auto">
            <a:xfrm>
              <a:off x="4363" y="2788"/>
              <a:ext cx="940" cy="569"/>
            </a:xfrm>
            <a:custGeom>
              <a:avLst/>
              <a:gdLst>
                <a:gd name="T0" fmla="*/ 6 w 1882"/>
                <a:gd name="T1" fmla="*/ 476 h 1137"/>
                <a:gd name="T2" fmla="*/ 19 w 1882"/>
                <a:gd name="T3" fmla="*/ 447 h 1137"/>
                <a:gd name="T4" fmla="*/ 31 w 1882"/>
                <a:gd name="T5" fmla="*/ 427 h 1137"/>
                <a:gd name="T6" fmla="*/ 44 w 1882"/>
                <a:gd name="T7" fmla="*/ 398 h 1137"/>
                <a:gd name="T8" fmla="*/ 122 w 1882"/>
                <a:gd name="T9" fmla="*/ 268 h 1137"/>
                <a:gd name="T10" fmla="*/ 275 w 1882"/>
                <a:gd name="T11" fmla="*/ 108 h 1137"/>
                <a:gd name="T12" fmla="*/ 456 w 1882"/>
                <a:gd name="T13" fmla="*/ 20 h 1137"/>
                <a:gd name="T14" fmla="*/ 682 w 1882"/>
                <a:gd name="T15" fmla="*/ 0 h 1137"/>
                <a:gd name="T16" fmla="*/ 825 w 1882"/>
                <a:gd name="T17" fmla="*/ 17 h 1137"/>
                <a:gd name="T18" fmla="*/ 845 w 1882"/>
                <a:gd name="T19" fmla="*/ 19 h 1137"/>
                <a:gd name="T20" fmla="*/ 866 w 1882"/>
                <a:gd name="T21" fmla="*/ 19 h 1137"/>
                <a:gd name="T22" fmla="*/ 887 w 1882"/>
                <a:gd name="T23" fmla="*/ 19 h 1137"/>
                <a:gd name="T24" fmla="*/ 902 w 1882"/>
                <a:gd name="T25" fmla="*/ 29 h 1137"/>
                <a:gd name="T26" fmla="*/ 911 w 1882"/>
                <a:gd name="T27" fmla="*/ 48 h 1137"/>
                <a:gd name="T28" fmla="*/ 916 w 1882"/>
                <a:gd name="T29" fmla="*/ 65 h 1137"/>
                <a:gd name="T30" fmla="*/ 919 w 1882"/>
                <a:gd name="T31" fmla="*/ 85 h 1137"/>
                <a:gd name="T32" fmla="*/ 937 w 1882"/>
                <a:gd name="T33" fmla="*/ 165 h 1137"/>
                <a:gd name="T34" fmla="*/ 932 w 1882"/>
                <a:gd name="T35" fmla="*/ 310 h 1137"/>
                <a:gd name="T36" fmla="*/ 895 w 1882"/>
                <a:gd name="T37" fmla="*/ 439 h 1137"/>
                <a:gd name="T38" fmla="*/ 852 w 1882"/>
                <a:gd name="T39" fmla="*/ 526 h 1137"/>
                <a:gd name="T40" fmla="*/ 834 w 1882"/>
                <a:gd name="T41" fmla="*/ 550 h 1137"/>
                <a:gd name="T42" fmla="*/ 825 w 1882"/>
                <a:gd name="T43" fmla="*/ 556 h 1137"/>
                <a:gd name="T44" fmla="*/ 811 w 1882"/>
                <a:gd name="T45" fmla="*/ 560 h 1137"/>
                <a:gd name="T46" fmla="*/ 799 w 1882"/>
                <a:gd name="T47" fmla="*/ 565 h 1137"/>
                <a:gd name="T48" fmla="*/ 788 w 1882"/>
                <a:gd name="T49" fmla="*/ 568 h 1137"/>
                <a:gd name="T50" fmla="*/ 768 w 1882"/>
                <a:gd name="T51" fmla="*/ 568 h 1137"/>
                <a:gd name="T52" fmla="*/ 744 w 1882"/>
                <a:gd name="T53" fmla="*/ 566 h 1137"/>
                <a:gd name="T54" fmla="*/ 724 w 1882"/>
                <a:gd name="T55" fmla="*/ 563 h 1137"/>
                <a:gd name="T56" fmla="*/ 660 w 1882"/>
                <a:gd name="T57" fmla="*/ 534 h 1137"/>
                <a:gd name="T58" fmla="*/ 578 w 1882"/>
                <a:gd name="T59" fmla="*/ 479 h 1137"/>
                <a:gd name="T60" fmla="*/ 517 w 1882"/>
                <a:gd name="T61" fmla="*/ 415 h 1137"/>
                <a:gd name="T62" fmla="*/ 450 w 1882"/>
                <a:gd name="T63" fmla="*/ 336 h 1137"/>
                <a:gd name="T64" fmla="*/ 381 w 1882"/>
                <a:gd name="T65" fmla="*/ 284 h 1137"/>
                <a:gd name="T66" fmla="*/ 328 w 1882"/>
                <a:gd name="T67" fmla="*/ 293 h 1137"/>
                <a:gd name="T68" fmla="*/ 271 w 1882"/>
                <a:gd name="T69" fmla="*/ 320 h 1137"/>
                <a:gd name="T70" fmla="*/ 210 w 1882"/>
                <a:gd name="T71" fmla="*/ 361 h 1137"/>
                <a:gd name="T72" fmla="*/ 162 w 1882"/>
                <a:gd name="T73" fmla="*/ 409 h 1137"/>
                <a:gd name="T74" fmla="*/ 127 w 1882"/>
                <a:gd name="T75" fmla="*/ 442 h 1137"/>
                <a:gd name="T76" fmla="*/ 91 w 1882"/>
                <a:gd name="T77" fmla="*/ 472 h 1137"/>
                <a:gd name="T78" fmla="*/ 56 w 1882"/>
                <a:gd name="T79" fmla="*/ 506 h 1137"/>
                <a:gd name="T80" fmla="*/ 34 w 1882"/>
                <a:gd name="T81" fmla="*/ 526 h 1137"/>
                <a:gd name="T82" fmla="*/ 24 w 1882"/>
                <a:gd name="T83" fmla="*/ 518 h 1137"/>
                <a:gd name="T84" fmla="*/ 14 w 1882"/>
                <a:gd name="T85" fmla="*/ 508 h 1137"/>
                <a:gd name="T86" fmla="*/ 4 w 1882"/>
                <a:gd name="T87" fmla="*/ 50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0" name="Freeform 60">
              <a:extLst>
                <a:ext uri="{FF2B5EF4-FFF2-40B4-BE49-F238E27FC236}">
                  <a16:creationId xmlns:a16="http://schemas.microsoft.com/office/drawing/2014/main" id="{AE705D8B-CDA7-9A45-9512-AAB1D20D1C62}"/>
                </a:ext>
              </a:extLst>
            </p:cNvPr>
            <p:cNvSpPr>
              <a:spLocks/>
            </p:cNvSpPr>
            <p:nvPr/>
          </p:nvSpPr>
          <p:spPr bwMode="auto">
            <a:xfrm>
              <a:off x="4370" y="2792"/>
              <a:ext cx="928" cy="542"/>
            </a:xfrm>
            <a:custGeom>
              <a:avLst/>
              <a:gdLst>
                <a:gd name="T0" fmla="*/ 6 w 1857"/>
                <a:gd name="T1" fmla="*/ 458 h 1084"/>
                <a:gd name="T2" fmla="*/ 17 w 1857"/>
                <a:gd name="T3" fmla="*/ 433 h 1084"/>
                <a:gd name="T4" fmla="*/ 26 w 1857"/>
                <a:gd name="T5" fmla="*/ 418 h 1084"/>
                <a:gd name="T6" fmla="*/ 37 w 1857"/>
                <a:gd name="T7" fmla="*/ 394 h 1084"/>
                <a:gd name="T8" fmla="*/ 115 w 1857"/>
                <a:gd name="T9" fmla="*/ 265 h 1084"/>
                <a:gd name="T10" fmla="*/ 266 w 1857"/>
                <a:gd name="T11" fmla="*/ 106 h 1084"/>
                <a:gd name="T12" fmla="*/ 446 w 1857"/>
                <a:gd name="T13" fmla="*/ 18 h 1084"/>
                <a:gd name="T14" fmla="*/ 671 w 1857"/>
                <a:gd name="T15" fmla="*/ 0 h 1084"/>
                <a:gd name="T16" fmla="*/ 814 w 1857"/>
                <a:gd name="T17" fmla="*/ 17 h 1084"/>
                <a:gd name="T18" fmla="*/ 834 w 1857"/>
                <a:gd name="T19" fmla="*/ 19 h 1084"/>
                <a:gd name="T20" fmla="*/ 855 w 1857"/>
                <a:gd name="T21" fmla="*/ 20 h 1084"/>
                <a:gd name="T22" fmla="*/ 876 w 1857"/>
                <a:gd name="T23" fmla="*/ 22 h 1084"/>
                <a:gd name="T24" fmla="*/ 892 w 1857"/>
                <a:gd name="T25" fmla="*/ 34 h 1084"/>
                <a:gd name="T26" fmla="*/ 900 w 1857"/>
                <a:gd name="T27" fmla="*/ 52 h 1084"/>
                <a:gd name="T28" fmla="*/ 907 w 1857"/>
                <a:gd name="T29" fmla="*/ 69 h 1084"/>
                <a:gd name="T30" fmla="*/ 910 w 1857"/>
                <a:gd name="T31" fmla="*/ 87 h 1084"/>
                <a:gd name="T32" fmla="*/ 925 w 1857"/>
                <a:gd name="T33" fmla="*/ 160 h 1084"/>
                <a:gd name="T34" fmla="*/ 921 w 1857"/>
                <a:gd name="T35" fmla="*/ 294 h 1084"/>
                <a:gd name="T36" fmla="*/ 886 w 1857"/>
                <a:gd name="T37" fmla="*/ 417 h 1084"/>
                <a:gd name="T38" fmla="*/ 844 w 1857"/>
                <a:gd name="T39" fmla="*/ 500 h 1084"/>
                <a:gd name="T40" fmla="*/ 823 w 1857"/>
                <a:gd name="T41" fmla="*/ 523 h 1084"/>
                <a:gd name="T42" fmla="*/ 812 w 1857"/>
                <a:gd name="T43" fmla="*/ 529 h 1084"/>
                <a:gd name="T44" fmla="*/ 797 w 1857"/>
                <a:gd name="T45" fmla="*/ 533 h 1084"/>
                <a:gd name="T46" fmla="*/ 782 w 1857"/>
                <a:gd name="T47" fmla="*/ 537 h 1084"/>
                <a:gd name="T48" fmla="*/ 772 w 1857"/>
                <a:gd name="T49" fmla="*/ 541 h 1084"/>
                <a:gd name="T50" fmla="*/ 754 w 1857"/>
                <a:gd name="T51" fmla="*/ 542 h 1084"/>
                <a:gd name="T52" fmla="*/ 732 w 1857"/>
                <a:gd name="T53" fmla="*/ 540 h 1084"/>
                <a:gd name="T54" fmla="*/ 715 w 1857"/>
                <a:gd name="T55" fmla="*/ 537 h 1084"/>
                <a:gd name="T56" fmla="*/ 652 w 1857"/>
                <a:gd name="T57" fmla="*/ 509 h 1084"/>
                <a:gd name="T58" fmla="*/ 570 w 1857"/>
                <a:gd name="T59" fmla="*/ 456 h 1084"/>
                <a:gd name="T60" fmla="*/ 511 w 1857"/>
                <a:gd name="T61" fmla="*/ 395 h 1084"/>
                <a:gd name="T62" fmla="*/ 444 w 1857"/>
                <a:gd name="T63" fmla="*/ 319 h 1084"/>
                <a:gd name="T64" fmla="*/ 374 w 1857"/>
                <a:gd name="T65" fmla="*/ 269 h 1084"/>
                <a:gd name="T66" fmla="*/ 320 w 1857"/>
                <a:gd name="T67" fmla="*/ 277 h 1084"/>
                <a:gd name="T68" fmla="*/ 261 w 1857"/>
                <a:gd name="T69" fmla="*/ 306 h 1084"/>
                <a:gd name="T70" fmla="*/ 201 w 1857"/>
                <a:gd name="T71" fmla="*/ 350 h 1084"/>
                <a:gd name="T72" fmla="*/ 154 w 1857"/>
                <a:gd name="T73" fmla="*/ 398 h 1084"/>
                <a:gd name="T74" fmla="*/ 120 w 1857"/>
                <a:gd name="T75" fmla="*/ 428 h 1084"/>
                <a:gd name="T76" fmla="*/ 86 w 1857"/>
                <a:gd name="T77" fmla="*/ 453 h 1084"/>
                <a:gd name="T78" fmla="*/ 52 w 1857"/>
                <a:gd name="T79" fmla="*/ 483 h 1084"/>
                <a:gd name="T80" fmla="*/ 31 w 1857"/>
                <a:gd name="T81" fmla="*/ 503 h 1084"/>
                <a:gd name="T82" fmla="*/ 22 w 1857"/>
                <a:gd name="T83" fmla="*/ 497 h 1084"/>
                <a:gd name="T84" fmla="*/ 12 w 1857"/>
                <a:gd name="T85" fmla="*/ 487 h 1084"/>
                <a:gd name="T86" fmla="*/ 4 w 1857"/>
                <a:gd name="T87" fmla="*/ 481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1" name="Freeform 61">
              <a:extLst>
                <a:ext uri="{FF2B5EF4-FFF2-40B4-BE49-F238E27FC236}">
                  <a16:creationId xmlns:a16="http://schemas.microsoft.com/office/drawing/2014/main" id="{7262593A-B6C6-1D45-9E4E-3483EE1CC588}"/>
                </a:ext>
              </a:extLst>
            </p:cNvPr>
            <p:cNvSpPr>
              <a:spLocks/>
            </p:cNvSpPr>
            <p:nvPr/>
          </p:nvSpPr>
          <p:spPr bwMode="auto">
            <a:xfrm>
              <a:off x="4377" y="2795"/>
              <a:ext cx="915" cy="517"/>
            </a:xfrm>
            <a:custGeom>
              <a:avLst/>
              <a:gdLst>
                <a:gd name="T0" fmla="*/ 5 w 1831"/>
                <a:gd name="T1" fmla="*/ 440 h 1034"/>
                <a:gd name="T2" fmla="*/ 14 w 1831"/>
                <a:gd name="T3" fmla="*/ 419 h 1034"/>
                <a:gd name="T4" fmla="*/ 21 w 1831"/>
                <a:gd name="T5" fmla="*/ 410 h 1034"/>
                <a:gd name="T6" fmla="*/ 31 w 1831"/>
                <a:gd name="T7" fmla="*/ 390 h 1034"/>
                <a:gd name="T8" fmla="*/ 107 w 1831"/>
                <a:gd name="T9" fmla="*/ 261 h 1034"/>
                <a:gd name="T10" fmla="*/ 257 w 1831"/>
                <a:gd name="T11" fmla="*/ 103 h 1034"/>
                <a:gd name="T12" fmla="*/ 436 w 1831"/>
                <a:gd name="T13" fmla="*/ 17 h 1034"/>
                <a:gd name="T14" fmla="*/ 659 w 1831"/>
                <a:gd name="T15" fmla="*/ 0 h 1034"/>
                <a:gd name="T16" fmla="*/ 803 w 1831"/>
                <a:gd name="T17" fmla="*/ 17 h 1034"/>
                <a:gd name="T18" fmla="*/ 822 w 1831"/>
                <a:gd name="T19" fmla="*/ 19 h 1034"/>
                <a:gd name="T20" fmla="*/ 843 w 1831"/>
                <a:gd name="T21" fmla="*/ 22 h 1034"/>
                <a:gd name="T22" fmla="*/ 864 w 1831"/>
                <a:gd name="T23" fmla="*/ 27 h 1034"/>
                <a:gd name="T24" fmla="*/ 880 w 1831"/>
                <a:gd name="T25" fmla="*/ 41 h 1034"/>
                <a:gd name="T26" fmla="*/ 889 w 1831"/>
                <a:gd name="T27" fmla="*/ 59 h 1034"/>
                <a:gd name="T28" fmla="*/ 896 w 1831"/>
                <a:gd name="T29" fmla="*/ 74 h 1034"/>
                <a:gd name="T30" fmla="*/ 900 w 1831"/>
                <a:gd name="T31" fmla="*/ 91 h 1034"/>
                <a:gd name="T32" fmla="*/ 913 w 1831"/>
                <a:gd name="T33" fmla="*/ 157 h 1034"/>
                <a:gd name="T34" fmla="*/ 909 w 1831"/>
                <a:gd name="T35" fmla="*/ 280 h 1034"/>
                <a:gd name="T36" fmla="*/ 878 w 1831"/>
                <a:gd name="T37" fmla="*/ 397 h 1034"/>
                <a:gd name="T38" fmla="*/ 836 w 1831"/>
                <a:gd name="T39" fmla="*/ 476 h 1034"/>
                <a:gd name="T40" fmla="*/ 812 w 1831"/>
                <a:gd name="T41" fmla="*/ 496 h 1034"/>
                <a:gd name="T42" fmla="*/ 799 w 1831"/>
                <a:gd name="T43" fmla="*/ 502 h 1034"/>
                <a:gd name="T44" fmla="*/ 782 w 1831"/>
                <a:gd name="T45" fmla="*/ 506 h 1034"/>
                <a:gd name="T46" fmla="*/ 766 w 1831"/>
                <a:gd name="T47" fmla="*/ 509 h 1034"/>
                <a:gd name="T48" fmla="*/ 755 w 1831"/>
                <a:gd name="T49" fmla="*/ 514 h 1034"/>
                <a:gd name="T50" fmla="*/ 739 w 1831"/>
                <a:gd name="T51" fmla="*/ 517 h 1034"/>
                <a:gd name="T52" fmla="*/ 720 w 1831"/>
                <a:gd name="T53" fmla="*/ 515 h 1034"/>
                <a:gd name="T54" fmla="*/ 705 w 1831"/>
                <a:gd name="T55" fmla="*/ 513 h 1034"/>
                <a:gd name="T56" fmla="*/ 644 w 1831"/>
                <a:gd name="T57" fmla="*/ 485 h 1034"/>
                <a:gd name="T58" fmla="*/ 563 w 1831"/>
                <a:gd name="T59" fmla="*/ 435 h 1034"/>
                <a:gd name="T60" fmla="*/ 504 w 1831"/>
                <a:gd name="T61" fmla="*/ 376 h 1034"/>
                <a:gd name="T62" fmla="*/ 437 w 1831"/>
                <a:gd name="T63" fmla="*/ 302 h 1034"/>
                <a:gd name="T64" fmla="*/ 368 w 1831"/>
                <a:gd name="T65" fmla="*/ 252 h 1034"/>
                <a:gd name="T66" fmla="*/ 312 w 1831"/>
                <a:gd name="T67" fmla="*/ 262 h 1034"/>
                <a:gd name="T68" fmla="*/ 252 w 1831"/>
                <a:gd name="T69" fmla="*/ 293 h 1034"/>
                <a:gd name="T70" fmla="*/ 190 w 1831"/>
                <a:gd name="T71" fmla="*/ 340 h 1034"/>
                <a:gd name="T72" fmla="*/ 145 w 1831"/>
                <a:gd name="T73" fmla="*/ 389 h 1034"/>
                <a:gd name="T74" fmla="*/ 112 w 1831"/>
                <a:gd name="T75" fmla="*/ 415 h 1034"/>
                <a:gd name="T76" fmla="*/ 79 w 1831"/>
                <a:gd name="T77" fmla="*/ 435 h 1034"/>
                <a:gd name="T78" fmla="*/ 47 w 1831"/>
                <a:gd name="T79" fmla="*/ 461 h 1034"/>
                <a:gd name="T80" fmla="*/ 27 w 1831"/>
                <a:gd name="T81" fmla="*/ 480 h 1034"/>
                <a:gd name="T82" fmla="*/ 19 w 1831"/>
                <a:gd name="T83" fmla="*/ 475 h 1034"/>
                <a:gd name="T84" fmla="*/ 11 w 1831"/>
                <a:gd name="T85" fmla="*/ 467 h 1034"/>
                <a:gd name="T86" fmla="*/ 4 w 1831"/>
                <a:gd name="T87" fmla="*/ 462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2" name="Freeform 62">
              <a:extLst>
                <a:ext uri="{FF2B5EF4-FFF2-40B4-BE49-F238E27FC236}">
                  <a16:creationId xmlns:a16="http://schemas.microsoft.com/office/drawing/2014/main" id="{E5268FC4-57C2-5C4C-9A1F-43E19D32FC22}"/>
                </a:ext>
              </a:extLst>
            </p:cNvPr>
            <p:cNvSpPr>
              <a:spLocks/>
            </p:cNvSpPr>
            <p:nvPr/>
          </p:nvSpPr>
          <p:spPr bwMode="auto">
            <a:xfrm>
              <a:off x="4473" y="2960"/>
              <a:ext cx="208" cy="212"/>
            </a:xfrm>
            <a:custGeom>
              <a:avLst/>
              <a:gdLst>
                <a:gd name="T0" fmla="*/ 0 w 417"/>
                <a:gd name="T1" fmla="*/ 178 h 425"/>
                <a:gd name="T2" fmla="*/ 10 w 417"/>
                <a:gd name="T3" fmla="*/ 162 h 425"/>
                <a:gd name="T4" fmla="*/ 26 w 417"/>
                <a:gd name="T5" fmla="*/ 143 h 425"/>
                <a:gd name="T6" fmla="*/ 43 w 417"/>
                <a:gd name="T7" fmla="*/ 119 h 425"/>
                <a:gd name="T8" fmla="*/ 62 w 417"/>
                <a:gd name="T9" fmla="*/ 96 h 425"/>
                <a:gd name="T10" fmla="*/ 80 w 417"/>
                <a:gd name="T11" fmla="*/ 71 h 425"/>
                <a:gd name="T12" fmla="*/ 98 w 417"/>
                <a:gd name="T13" fmla="*/ 49 h 425"/>
                <a:gd name="T14" fmla="*/ 113 w 417"/>
                <a:gd name="T15" fmla="*/ 29 h 425"/>
                <a:gd name="T16" fmla="*/ 125 w 417"/>
                <a:gd name="T17" fmla="*/ 13 h 425"/>
                <a:gd name="T18" fmla="*/ 148 w 417"/>
                <a:gd name="T19" fmla="*/ 3 h 425"/>
                <a:gd name="T20" fmla="*/ 171 w 417"/>
                <a:gd name="T21" fmla="*/ 0 h 425"/>
                <a:gd name="T22" fmla="*/ 191 w 417"/>
                <a:gd name="T23" fmla="*/ 2 h 425"/>
                <a:gd name="T24" fmla="*/ 205 w 417"/>
                <a:gd name="T25" fmla="*/ 10 h 425"/>
                <a:gd name="T26" fmla="*/ 208 w 417"/>
                <a:gd name="T27" fmla="*/ 24 h 425"/>
                <a:gd name="T28" fmla="*/ 200 w 417"/>
                <a:gd name="T29" fmla="*/ 44 h 425"/>
                <a:gd name="T30" fmla="*/ 177 w 417"/>
                <a:gd name="T31" fmla="*/ 69 h 425"/>
                <a:gd name="T32" fmla="*/ 136 w 417"/>
                <a:gd name="T33" fmla="*/ 100 h 425"/>
                <a:gd name="T34" fmla="*/ 120 w 417"/>
                <a:gd name="T35" fmla="*/ 114 h 425"/>
                <a:gd name="T36" fmla="*/ 104 w 417"/>
                <a:gd name="T37" fmla="*/ 128 h 425"/>
                <a:gd name="T38" fmla="*/ 88 w 417"/>
                <a:gd name="T39" fmla="*/ 141 h 425"/>
                <a:gd name="T40" fmla="*/ 72 w 417"/>
                <a:gd name="T41" fmla="*/ 156 h 425"/>
                <a:gd name="T42" fmla="*/ 56 w 417"/>
                <a:gd name="T43" fmla="*/ 169 h 425"/>
                <a:gd name="T44" fmla="*/ 40 w 417"/>
                <a:gd name="T45" fmla="*/ 184 h 425"/>
                <a:gd name="T46" fmla="*/ 24 w 417"/>
                <a:gd name="T47" fmla="*/ 198 h 425"/>
                <a:gd name="T48" fmla="*/ 9 w 417"/>
                <a:gd name="T49" fmla="*/ 212 h 425"/>
                <a:gd name="T50" fmla="*/ 7 w 417"/>
                <a:gd name="T51" fmla="*/ 208 h 425"/>
                <a:gd name="T52" fmla="*/ 6 w 417"/>
                <a:gd name="T53" fmla="*/ 203 h 425"/>
                <a:gd name="T54" fmla="*/ 4 w 417"/>
                <a:gd name="T55" fmla="*/ 199 h 425"/>
                <a:gd name="T56" fmla="*/ 4 w 417"/>
                <a:gd name="T57" fmla="*/ 195 h 425"/>
                <a:gd name="T58" fmla="*/ 2 w 417"/>
                <a:gd name="T59" fmla="*/ 191 h 425"/>
                <a:gd name="T60" fmla="*/ 2 w 417"/>
                <a:gd name="T61" fmla="*/ 186 h 425"/>
                <a:gd name="T62" fmla="*/ 0 w 417"/>
                <a:gd name="T63" fmla="*/ 182 h 425"/>
                <a:gd name="T64" fmla="*/ 0 w 417"/>
                <a:gd name="T65" fmla="*/ 178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3" name="Freeform 63">
              <a:extLst>
                <a:ext uri="{FF2B5EF4-FFF2-40B4-BE49-F238E27FC236}">
                  <a16:creationId xmlns:a16="http://schemas.microsoft.com/office/drawing/2014/main" id="{CFC56D31-ED35-6E45-9B34-E42B7A5F2AF7}"/>
                </a:ext>
              </a:extLst>
            </p:cNvPr>
            <p:cNvSpPr>
              <a:spLocks/>
            </p:cNvSpPr>
            <p:nvPr/>
          </p:nvSpPr>
          <p:spPr bwMode="auto">
            <a:xfrm>
              <a:off x="4474" y="2978"/>
              <a:ext cx="192" cy="192"/>
            </a:xfrm>
            <a:custGeom>
              <a:avLst/>
              <a:gdLst>
                <a:gd name="T0" fmla="*/ 0 w 385"/>
                <a:gd name="T1" fmla="*/ 161 h 385"/>
                <a:gd name="T2" fmla="*/ 10 w 385"/>
                <a:gd name="T3" fmla="*/ 146 h 385"/>
                <a:gd name="T4" fmla="*/ 24 w 385"/>
                <a:gd name="T5" fmla="*/ 129 h 385"/>
                <a:gd name="T6" fmla="*/ 40 w 385"/>
                <a:gd name="T7" fmla="*/ 108 h 385"/>
                <a:gd name="T8" fmla="*/ 58 w 385"/>
                <a:gd name="T9" fmla="*/ 87 h 385"/>
                <a:gd name="T10" fmla="*/ 74 w 385"/>
                <a:gd name="T11" fmla="*/ 65 h 385"/>
                <a:gd name="T12" fmla="*/ 90 w 385"/>
                <a:gd name="T13" fmla="*/ 45 h 385"/>
                <a:gd name="T14" fmla="*/ 104 w 385"/>
                <a:gd name="T15" fmla="*/ 27 h 385"/>
                <a:gd name="T16" fmla="*/ 115 w 385"/>
                <a:gd name="T17" fmla="*/ 14 h 385"/>
                <a:gd name="T18" fmla="*/ 137 w 385"/>
                <a:gd name="T19" fmla="*/ 4 h 385"/>
                <a:gd name="T20" fmla="*/ 159 w 385"/>
                <a:gd name="T21" fmla="*/ 0 h 385"/>
                <a:gd name="T22" fmla="*/ 177 w 385"/>
                <a:gd name="T23" fmla="*/ 1 h 385"/>
                <a:gd name="T24" fmla="*/ 189 w 385"/>
                <a:gd name="T25" fmla="*/ 8 h 385"/>
                <a:gd name="T26" fmla="*/ 192 w 385"/>
                <a:gd name="T27" fmla="*/ 19 h 385"/>
                <a:gd name="T28" fmla="*/ 185 w 385"/>
                <a:gd name="T29" fmla="*/ 37 h 385"/>
                <a:gd name="T30" fmla="*/ 164 w 385"/>
                <a:gd name="T31" fmla="*/ 59 h 385"/>
                <a:gd name="T32" fmla="*/ 128 w 385"/>
                <a:gd name="T33" fmla="*/ 88 h 385"/>
                <a:gd name="T34" fmla="*/ 113 w 385"/>
                <a:gd name="T35" fmla="*/ 101 h 385"/>
                <a:gd name="T36" fmla="*/ 98 w 385"/>
                <a:gd name="T37" fmla="*/ 114 h 385"/>
                <a:gd name="T38" fmla="*/ 83 w 385"/>
                <a:gd name="T39" fmla="*/ 127 h 385"/>
                <a:gd name="T40" fmla="*/ 68 w 385"/>
                <a:gd name="T41" fmla="*/ 140 h 385"/>
                <a:gd name="T42" fmla="*/ 53 w 385"/>
                <a:gd name="T43" fmla="*/ 153 h 385"/>
                <a:gd name="T44" fmla="*/ 38 w 385"/>
                <a:gd name="T45" fmla="*/ 166 h 385"/>
                <a:gd name="T46" fmla="*/ 23 w 385"/>
                <a:gd name="T47" fmla="*/ 179 h 385"/>
                <a:gd name="T48" fmla="*/ 9 w 385"/>
                <a:gd name="T49" fmla="*/ 192 h 385"/>
                <a:gd name="T50" fmla="*/ 7 w 385"/>
                <a:gd name="T51" fmla="*/ 188 h 385"/>
                <a:gd name="T52" fmla="*/ 6 w 385"/>
                <a:gd name="T53" fmla="*/ 184 h 385"/>
                <a:gd name="T54" fmla="*/ 5 w 385"/>
                <a:gd name="T55" fmla="*/ 180 h 385"/>
                <a:gd name="T56" fmla="*/ 4 w 385"/>
                <a:gd name="T57" fmla="*/ 177 h 385"/>
                <a:gd name="T58" fmla="*/ 3 w 385"/>
                <a:gd name="T59" fmla="*/ 172 h 385"/>
                <a:gd name="T60" fmla="*/ 2 w 385"/>
                <a:gd name="T61" fmla="*/ 168 h 385"/>
                <a:gd name="T62" fmla="*/ 1 w 385"/>
                <a:gd name="T63" fmla="*/ 165 h 385"/>
                <a:gd name="T64" fmla="*/ 0 w 385"/>
                <a:gd name="T65" fmla="*/ 161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4" name="Freeform 64">
              <a:extLst>
                <a:ext uri="{FF2B5EF4-FFF2-40B4-BE49-F238E27FC236}">
                  <a16:creationId xmlns:a16="http://schemas.microsoft.com/office/drawing/2014/main" id="{C8C83AF2-8A6F-034A-9401-35EDD535C8B1}"/>
                </a:ext>
              </a:extLst>
            </p:cNvPr>
            <p:cNvSpPr>
              <a:spLocks/>
            </p:cNvSpPr>
            <p:nvPr/>
          </p:nvSpPr>
          <p:spPr bwMode="auto">
            <a:xfrm>
              <a:off x="4476" y="2996"/>
              <a:ext cx="175" cy="174"/>
            </a:xfrm>
            <a:custGeom>
              <a:avLst/>
              <a:gdLst>
                <a:gd name="T0" fmla="*/ 0 w 350"/>
                <a:gd name="T1" fmla="*/ 144 h 347"/>
                <a:gd name="T2" fmla="*/ 10 w 350"/>
                <a:gd name="T3" fmla="*/ 131 h 347"/>
                <a:gd name="T4" fmla="*/ 22 w 350"/>
                <a:gd name="T5" fmla="*/ 115 h 347"/>
                <a:gd name="T6" fmla="*/ 37 w 350"/>
                <a:gd name="T7" fmla="*/ 97 h 347"/>
                <a:gd name="T8" fmla="*/ 52 w 350"/>
                <a:gd name="T9" fmla="*/ 79 h 347"/>
                <a:gd name="T10" fmla="*/ 67 w 350"/>
                <a:gd name="T11" fmla="*/ 60 h 347"/>
                <a:gd name="T12" fmla="*/ 82 w 350"/>
                <a:gd name="T13" fmla="*/ 43 h 347"/>
                <a:gd name="T14" fmla="*/ 94 w 350"/>
                <a:gd name="T15" fmla="*/ 26 h 347"/>
                <a:gd name="T16" fmla="*/ 104 w 350"/>
                <a:gd name="T17" fmla="*/ 14 h 347"/>
                <a:gd name="T18" fmla="*/ 124 w 350"/>
                <a:gd name="T19" fmla="*/ 4 h 347"/>
                <a:gd name="T20" fmla="*/ 145 w 350"/>
                <a:gd name="T21" fmla="*/ 0 h 347"/>
                <a:gd name="T22" fmla="*/ 161 w 350"/>
                <a:gd name="T23" fmla="*/ 0 h 347"/>
                <a:gd name="T24" fmla="*/ 172 w 350"/>
                <a:gd name="T25" fmla="*/ 6 h 347"/>
                <a:gd name="T26" fmla="*/ 175 w 350"/>
                <a:gd name="T27" fmla="*/ 15 h 347"/>
                <a:gd name="T28" fmla="*/ 170 w 350"/>
                <a:gd name="T29" fmla="*/ 30 h 347"/>
                <a:gd name="T30" fmla="*/ 151 w 350"/>
                <a:gd name="T31" fmla="*/ 50 h 347"/>
                <a:gd name="T32" fmla="*/ 118 w 350"/>
                <a:gd name="T33" fmla="*/ 75 h 347"/>
                <a:gd name="T34" fmla="*/ 103 w 350"/>
                <a:gd name="T35" fmla="*/ 86 h 347"/>
                <a:gd name="T36" fmla="*/ 90 w 350"/>
                <a:gd name="T37" fmla="*/ 99 h 347"/>
                <a:gd name="T38" fmla="*/ 76 w 350"/>
                <a:gd name="T39" fmla="*/ 111 h 347"/>
                <a:gd name="T40" fmla="*/ 63 w 350"/>
                <a:gd name="T41" fmla="*/ 123 h 347"/>
                <a:gd name="T42" fmla="*/ 48 w 350"/>
                <a:gd name="T43" fmla="*/ 135 h 347"/>
                <a:gd name="T44" fmla="*/ 35 w 350"/>
                <a:gd name="T45" fmla="*/ 149 h 347"/>
                <a:gd name="T46" fmla="*/ 21 w 350"/>
                <a:gd name="T47" fmla="*/ 160 h 347"/>
                <a:gd name="T48" fmla="*/ 7 w 350"/>
                <a:gd name="T49" fmla="*/ 174 h 347"/>
                <a:gd name="T50" fmla="*/ 6 w 350"/>
                <a:gd name="T51" fmla="*/ 170 h 347"/>
                <a:gd name="T52" fmla="*/ 5 w 350"/>
                <a:gd name="T53" fmla="*/ 166 h 347"/>
                <a:gd name="T54" fmla="*/ 5 w 350"/>
                <a:gd name="T55" fmla="*/ 162 h 347"/>
                <a:gd name="T56" fmla="*/ 4 w 350"/>
                <a:gd name="T57" fmla="*/ 159 h 347"/>
                <a:gd name="T58" fmla="*/ 3 w 350"/>
                <a:gd name="T59" fmla="*/ 155 h 347"/>
                <a:gd name="T60" fmla="*/ 2 w 350"/>
                <a:gd name="T61" fmla="*/ 151 h 347"/>
                <a:gd name="T62" fmla="*/ 1 w 350"/>
                <a:gd name="T63" fmla="*/ 147 h 347"/>
                <a:gd name="T64" fmla="*/ 0 w 350"/>
                <a:gd name="T65" fmla="*/ 144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5" name="Freeform 65">
              <a:extLst>
                <a:ext uri="{FF2B5EF4-FFF2-40B4-BE49-F238E27FC236}">
                  <a16:creationId xmlns:a16="http://schemas.microsoft.com/office/drawing/2014/main" id="{51D4DC2B-934B-A142-BF53-B3B3272323F3}"/>
                </a:ext>
              </a:extLst>
            </p:cNvPr>
            <p:cNvSpPr>
              <a:spLocks/>
            </p:cNvSpPr>
            <p:nvPr/>
          </p:nvSpPr>
          <p:spPr bwMode="auto">
            <a:xfrm>
              <a:off x="4477" y="3014"/>
              <a:ext cx="158" cy="155"/>
            </a:xfrm>
            <a:custGeom>
              <a:avLst/>
              <a:gdLst>
                <a:gd name="T0" fmla="*/ 0 w 315"/>
                <a:gd name="T1" fmla="*/ 127 h 309"/>
                <a:gd name="T2" fmla="*/ 8 w 315"/>
                <a:gd name="T3" fmla="*/ 115 h 309"/>
                <a:gd name="T4" fmla="*/ 20 w 315"/>
                <a:gd name="T5" fmla="*/ 101 h 309"/>
                <a:gd name="T6" fmla="*/ 32 w 315"/>
                <a:gd name="T7" fmla="*/ 86 h 309"/>
                <a:gd name="T8" fmla="*/ 47 w 315"/>
                <a:gd name="T9" fmla="*/ 70 h 309"/>
                <a:gd name="T10" fmla="*/ 60 w 315"/>
                <a:gd name="T11" fmla="*/ 54 h 309"/>
                <a:gd name="T12" fmla="*/ 72 w 315"/>
                <a:gd name="T13" fmla="*/ 39 h 309"/>
                <a:gd name="T14" fmla="*/ 84 w 315"/>
                <a:gd name="T15" fmla="*/ 25 h 309"/>
                <a:gd name="T16" fmla="*/ 93 w 315"/>
                <a:gd name="T17" fmla="*/ 14 h 309"/>
                <a:gd name="T18" fmla="*/ 111 w 315"/>
                <a:gd name="T19" fmla="*/ 5 h 309"/>
                <a:gd name="T20" fmla="*/ 129 w 315"/>
                <a:gd name="T21" fmla="*/ 1 h 309"/>
                <a:gd name="T22" fmla="*/ 144 w 315"/>
                <a:gd name="T23" fmla="*/ 0 h 309"/>
                <a:gd name="T24" fmla="*/ 154 w 315"/>
                <a:gd name="T25" fmla="*/ 4 h 309"/>
                <a:gd name="T26" fmla="*/ 158 w 315"/>
                <a:gd name="T27" fmla="*/ 11 h 309"/>
                <a:gd name="T28" fmla="*/ 153 w 315"/>
                <a:gd name="T29" fmla="*/ 24 h 309"/>
                <a:gd name="T30" fmla="*/ 136 w 315"/>
                <a:gd name="T31" fmla="*/ 40 h 309"/>
                <a:gd name="T32" fmla="*/ 109 w 315"/>
                <a:gd name="T33" fmla="*/ 63 h 309"/>
                <a:gd name="T34" fmla="*/ 96 w 315"/>
                <a:gd name="T35" fmla="*/ 74 h 309"/>
                <a:gd name="T36" fmla="*/ 82 w 315"/>
                <a:gd name="T37" fmla="*/ 85 h 309"/>
                <a:gd name="T38" fmla="*/ 70 w 315"/>
                <a:gd name="T39" fmla="*/ 97 h 309"/>
                <a:gd name="T40" fmla="*/ 58 w 315"/>
                <a:gd name="T41" fmla="*/ 108 h 309"/>
                <a:gd name="T42" fmla="*/ 45 w 315"/>
                <a:gd name="T43" fmla="*/ 120 h 309"/>
                <a:gd name="T44" fmla="*/ 32 w 315"/>
                <a:gd name="T45" fmla="*/ 131 h 309"/>
                <a:gd name="T46" fmla="*/ 20 w 315"/>
                <a:gd name="T47" fmla="*/ 143 h 309"/>
                <a:gd name="T48" fmla="*/ 7 w 315"/>
                <a:gd name="T49" fmla="*/ 155 h 309"/>
                <a:gd name="T50" fmla="*/ 6 w 315"/>
                <a:gd name="T51" fmla="*/ 151 h 309"/>
                <a:gd name="T52" fmla="*/ 5 w 315"/>
                <a:gd name="T53" fmla="*/ 147 h 309"/>
                <a:gd name="T54" fmla="*/ 3 w 315"/>
                <a:gd name="T55" fmla="*/ 144 h 309"/>
                <a:gd name="T56" fmla="*/ 3 w 315"/>
                <a:gd name="T57" fmla="*/ 140 h 309"/>
                <a:gd name="T58" fmla="*/ 1 w 315"/>
                <a:gd name="T59" fmla="*/ 134 h 309"/>
                <a:gd name="T60" fmla="*/ 0 w 315"/>
                <a:gd name="T61" fmla="*/ 127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6" name="Freeform 66">
              <a:extLst>
                <a:ext uri="{FF2B5EF4-FFF2-40B4-BE49-F238E27FC236}">
                  <a16:creationId xmlns:a16="http://schemas.microsoft.com/office/drawing/2014/main" id="{DD4F9E7D-903F-DC4C-8455-59C02F94ECAA}"/>
                </a:ext>
              </a:extLst>
            </p:cNvPr>
            <p:cNvSpPr>
              <a:spLocks/>
            </p:cNvSpPr>
            <p:nvPr/>
          </p:nvSpPr>
          <p:spPr bwMode="auto">
            <a:xfrm>
              <a:off x="4478" y="3031"/>
              <a:ext cx="141" cy="136"/>
            </a:xfrm>
            <a:custGeom>
              <a:avLst/>
              <a:gdLst>
                <a:gd name="T0" fmla="*/ 0 w 282"/>
                <a:gd name="T1" fmla="*/ 112 h 272"/>
                <a:gd name="T2" fmla="*/ 7 w 282"/>
                <a:gd name="T3" fmla="*/ 100 h 272"/>
                <a:gd name="T4" fmla="*/ 18 w 282"/>
                <a:gd name="T5" fmla="*/ 88 h 272"/>
                <a:gd name="T6" fmla="*/ 28 w 282"/>
                <a:gd name="T7" fmla="*/ 75 h 272"/>
                <a:gd name="T8" fmla="*/ 41 w 282"/>
                <a:gd name="T9" fmla="*/ 63 h 272"/>
                <a:gd name="T10" fmla="*/ 53 w 282"/>
                <a:gd name="T11" fmla="*/ 49 h 272"/>
                <a:gd name="T12" fmla="*/ 64 w 282"/>
                <a:gd name="T13" fmla="*/ 37 h 272"/>
                <a:gd name="T14" fmla="*/ 74 w 282"/>
                <a:gd name="T15" fmla="*/ 25 h 272"/>
                <a:gd name="T16" fmla="*/ 83 w 282"/>
                <a:gd name="T17" fmla="*/ 15 h 272"/>
                <a:gd name="T18" fmla="*/ 100 w 282"/>
                <a:gd name="T19" fmla="*/ 7 h 272"/>
                <a:gd name="T20" fmla="*/ 116 w 282"/>
                <a:gd name="T21" fmla="*/ 2 h 272"/>
                <a:gd name="T22" fmla="*/ 130 w 282"/>
                <a:gd name="T23" fmla="*/ 0 h 272"/>
                <a:gd name="T24" fmla="*/ 139 w 282"/>
                <a:gd name="T25" fmla="*/ 2 h 272"/>
                <a:gd name="T26" fmla="*/ 141 w 282"/>
                <a:gd name="T27" fmla="*/ 9 h 272"/>
                <a:gd name="T28" fmla="*/ 138 w 282"/>
                <a:gd name="T29" fmla="*/ 18 h 272"/>
                <a:gd name="T30" fmla="*/ 123 w 282"/>
                <a:gd name="T31" fmla="*/ 31 h 272"/>
                <a:gd name="T32" fmla="*/ 100 w 282"/>
                <a:gd name="T33" fmla="*/ 51 h 272"/>
                <a:gd name="T34" fmla="*/ 88 w 282"/>
                <a:gd name="T35" fmla="*/ 61 h 272"/>
                <a:gd name="T36" fmla="*/ 76 w 282"/>
                <a:gd name="T37" fmla="*/ 71 h 272"/>
                <a:gd name="T38" fmla="*/ 65 w 282"/>
                <a:gd name="T39" fmla="*/ 82 h 272"/>
                <a:gd name="T40" fmla="*/ 53 w 282"/>
                <a:gd name="T41" fmla="*/ 93 h 272"/>
                <a:gd name="T42" fmla="*/ 41 w 282"/>
                <a:gd name="T43" fmla="*/ 104 h 272"/>
                <a:gd name="T44" fmla="*/ 30 w 282"/>
                <a:gd name="T45" fmla="*/ 115 h 272"/>
                <a:gd name="T46" fmla="*/ 18 w 282"/>
                <a:gd name="T47" fmla="*/ 125 h 272"/>
                <a:gd name="T48" fmla="*/ 7 w 282"/>
                <a:gd name="T49" fmla="*/ 136 h 272"/>
                <a:gd name="T50" fmla="*/ 5 w 282"/>
                <a:gd name="T51" fmla="*/ 130 h 272"/>
                <a:gd name="T52" fmla="*/ 3 w 282"/>
                <a:gd name="T53" fmla="*/ 123 h 272"/>
                <a:gd name="T54" fmla="*/ 1 w 282"/>
                <a:gd name="T55" fmla="*/ 117 h 272"/>
                <a:gd name="T56" fmla="*/ 0 w 282"/>
                <a:gd name="T57" fmla="*/ 112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7" name="Freeform 67">
              <a:extLst>
                <a:ext uri="{FF2B5EF4-FFF2-40B4-BE49-F238E27FC236}">
                  <a16:creationId xmlns:a16="http://schemas.microsoft.com/office/drawing/2014/main" id="{ACFBCF19-A2DE-494C-A7D9-C55C71EF2DF1}"/>
                </a:ext>
              </a:extLst>
            </p:cNvPr>
            <p:cNvSpPr>
              <a:spLocks/>
            </p:cNvSpPr>
            <p:nvPr/>
          </p:nvSpPr>
          <p:spPr bwMode="auto">
            <a:xfrm>
              <a:off x="4480" y="3047"/>
              <a:ext cx="124" cy="119"/>
            </a:xfrm>
            <a:custGeom>
              <a:avLst/>
              <a:gdLst>
                <a:gd name="T0" fmla="*/ 0 w 248"/>
                <a:gd name="T1" fmla="*/ 96 h 238"/>
                <a:gd name="T2" fmla="*/ 7 w 248"/>
                <a:gd name="T3" fmla="*/ 86 h 238"/>
                <a:gd name="T4" fmla="*/ 15 w 248"/>
                <a:gd name="T5" fmla="*/ 76 h 238"/>
                <a:gd name="T6" fmla="*/ 25 w 248"/>
                <a:gd name="T7" fmla="*/ 66 h 238"/>
                <a:gd name="T8" fmla="*/ 35 w 248"/>
                <a:gd name="T9" fmla="*/ 56 h 238"/>
                <a:gd name="T10" fmla="*/ 45 w 248"/>
                <a:gd name="T11" fmla="*/ 45 h 238"/>
                <a:gd name="T12" fmla="*/ 55 w 248"/>
                <a:gd name="T13" fmla="*/ 35 h 238"/>
                <a:gd name="T14" fmla="*/ 64 w 248"/>
                <a:gd name="T15" fmla="*/ 25 h 238"/>
                <a:gd name="T16" fmla="*/ 72 w 248"/>
                <a:gd name="T17" fmla="*/ 17 h 238"/>
                <a:gd name="T18" fmla="*/ 87 w 248"/>
                <a:gd name="T19" fmla="*/ 8 h 238"/>
                <a:gd name="T20" fmla="*/ 102 w 248"/>
                <a:gd name="T21" fmla="*/ 3 h 238"/>
                <a:gd name="T22" fmla="*/ 114 w 248"/>
                <a:gd name="T23" fmla="*/ 0 h 238"/>
                <a:gd name="T24" fmla="*/ 122 w 248"/>
                <a:gd name="T25" fmla="*/ 2 h 238"/>
                <a:gd name="T26" fmla="*/ 124 w 248"/>
                <a:gd name="T27" fmla="*/ 5 h 238"/>
                <a:gd name="T28" fmla="*/ 121 w 248"/>
                <a:gd name="T29" fmla="*/ 12 h 238"/>
                <a:gd name="T30" fmla="*/ 110 w 248"/>
                <a:gd name="T31" fmla="*/ 24 h 238"/>
                <a:gd name="T32" fmla="*/ 91 w 248"/>
                <a:gd name="T33" fmla="*/ 40 h 238"/>
                <a:gd name="T34" fmla="*/ 79 w 248"/>
                <a:gd name="T35" fmla="*/ 50 h 238"/>
                <a:gd name="T36" fmla="*/ 69 w 248"/>
                <a:gd name="T37" fmla="*/ 59 h 238"/>
                <a:gd name="T38" fmla="*/ 58 w 248"/>
                <a:gd name="T39" fmla="*/ 69 h 238"/>
                <a:gd name="T40" fmla="*/ 48 w 248"/>
                <a:gd name="T41" fmla="*/ 80 h 238"/>
                <a:gd name="T42" fmla="*/ 37 w 248"/>
                <a:gd name="T43" fmla="*/ 89 h 238"/>
                <a:gd name="T44" fmla="*/ 27 w 248"/>
                <a:gd name="T45" fmla="*/ 99 h 238"/>
                <a:gd name="T46" fmla="*/ 16 w 248"/>
                <a:gd name="T47" fmla="*/ 109 h 238"/>
                <a:gd name="T48" fmla="*/ 5 w 248"/>
                <a:gd name="T49" fmla="*/ 119 h 238"/>
                <a:gd name="T50" fmla="*/ 3 w 248"/>
                <a:gd name="T51" fmla="*/ 113 h 238"/>
                <a:gd name="T52" fmla="*/ 3 w 248"/>
                <a:gd name="T53" fmla="*/ 107 h 238"/>
                <a:gd name="T54" fmla="*/ 1 w 248"/>
                <a:gd name="T55" fmla="*/ 102 h 238"/>
                <a:gd name="T56" fmla="*/ 0 w 248"/>
                <a:gd name="T57" fmla="*/ 96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8" name="Freeform 68">
              <a:extLst>
                <a:ext uri="{FF2B5EF4-FFF2-40B4-BE49-F238E27FC236}">
                  <a16:creationId xmlns:a16="http://schemas.microsoft.com/office/drawing/2014/main" id="{49B5E0CC-B93C-1A48-B795-148769763AB7}"/>
                </a:ext>
              </a:extLst>
            </p:cNvPr>
            <p:cNvSpPr>
              <a:spLocks/>
            </p:cNvSpPr>
            <p:nvPr/>
          </p:nvSpPr>
          <p:spPr bwMode="auto">
            <a:xfrm>
              <a:off x="4481" y="3064"/>
              <a:ext cx="107" cy="100"/>
            </a:xfrm>
            <a:custGeom>
              <a:avLst/>
              <a:gdLst>
                <a:gd name="T0" fmla="*/ 0 w 215"/>
                <a:gd name="T1" fmla="*/ 80 h 200"/>
                <a:gd name="T2" fmla="*/ 6 w 215"/>
                <a:gd name="T3" fmla="*/ 72 h 200"/>
                <a:gd name="T4" fmla="*/ 13 w 215"/>
                <a:gd name="T5" fmla="*/ 64 h 200"/>
                <a:gd name="T6" fmla="*/ 21 w 215"/>
                <a:gd name="T7" fmla="*/ 55 h 200"/>
                <a:gd name="T8" fmla="*/ 31 w 215"/>
                <a:gd name="T9" fmla="*/ 48 h 200"/>
                <a:gd name="T10" fmla="*/ 39 w 215"/>
                <a:gd name="T11" fmla="*/ 40 h 200"/>
                <a:gd name="T12" fmla="*/ 47 w 215"/>
                <a:gd name="T13" fmla="*/ 33 h 200"/>
                <a:gd name="T14" fmla="*/ 54 w 215"/>
                <a:gd name="T15" fmla="*/ 25 h 200"/>
                <a:gd name="T16" fmla="*/ 61 w 215"/>
                <a:gd name="T17" fmla="*/ 18 h 200"/>
                <a:gd name="T18" fmla="*/ 75 w 215"/>
                <a:gd name="T19" fmla="*/ 10 h 200"/>
                <a:gd name="T20" fmla="*/ 88 w 215"/>
                <a:gd name="T21" fmla="*/ 5 h 200"/>
                <a:gd name="T22" fmla="*/ 98 w 215"/>
                <a:gd name="T23" fmla="*/ 1 h 200"/>
                <a:gd name="T24" fmla="*/ 105 w 215"/>
                <a:gd name="T25" fmla="*/ 0 h 200"/>
                <a:gd name="T26" fmla="*/ 107 w 215"/>
                <a:gd name="T27" fmla="*/ 1 h 200"/>
                <a:gd name="T28" fmla="*/ 105 w 215"/>
                <a:gd name="T29" fmla="*/ 6 h 200"/>
                <a:gd name="T30" fmla="*/ 96 w 215"/>
                <a:gd name="T31" fmla="*/ 15 h 200"/>
                <a:gd name="T32" fmla="*/ 82 w 215"/>
                <a:gd name="T33" fmla="*/ 28 h 200"/>
                <a:gd name="T34" fmla="*/ 71 w 215"/>
                <a:gd name="T35" fmla="*/ 37 h 200"/>
                <a:gd name="T36" fmla="*/ 62 w 215"/>
                <a:gd name="T37" fmla="*/ 46 h 200"/>
                <a:gd name="T38" fmla="*/ 53 w 215"/>
                <a:gd name="T39" fmla="*/ 54 h 200"/>
                <a:gd name="T40" fmla="*/ 43 w 215"/>
                <a:gd name="T41" fmla="*/ 64 h 200"/>
                <a:gd name="T42" fmla="*/ 34 w 215"/>
                <a:gd name="T43" fmla="*/ 73 h 200"/>
                <a:gd name="T44" fmla="*/ 24 w 215"/>
                <a:gd name="T45" fmla="*/ 82 h 200"/>
                <a:gd name="T46" fmla="*/ 14 w 215"/>
                <a:gd name="T47" fmla="*/ 91 h 200"/>
                <a:gd name="T48" fmla="*/ 5 w 215"/>
                <a:gd name="T49" fmla="*/ 100 h 200"/>
                <a:gd name="T50" fmla="*/ 4 w 215"/>
                <a:gd name="T51" fmla="*/ 95 h 200"/>
                <a:gd name="T52" fmla="*/ 2 w 215"/>
                <a:gd name="T53" fmla="*/ 90 h 200"/>
                <a:gd name="T54" fmla="*/ 1 w 215"/>
                <a:gd name="T55" fmla="*/ 85 h 200"/>
                <a:gd name="T56" fmla="*/ 0 w 215"/>
                <a:gd name="T57" fmla="*/ 8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69" name="Freeform 69">
              <a:extLst>
                <a:ext uri="{FF2B5EF4-FFF2-40B4-BE49-F238E27FC236}">
                  <a16:creationId xmlns:a16="http://schemas.microsoft.com/office/drawing/2014/main" id="{85327298-11D7-D242-9204-8DA1D7DE6E65}"/>
                </a:ext>
              </a:extLst>
            </p:cNvPr>
            <p:cNvSpPr>
              <a:spLocks/>
            </p:cNvSpPr>
            <p:nvPr/>
          </p:nvSpPr>
          <p:spPr bwMode="auto">
            <a:xfrm>
              <a:off x="4482" y="3078"/>
              <a:ext cx="91" cy="86"/>
            </a:xfrm>
            <a:custGeom>
              <a:avLst/>
              <a:gdLst>
                <a:gd name="T0" fmla="*/ 0 w 181"/>
                <a:gd name="T1" fmla="*/ 67 h 170"/>
                <a:gd name="T2" fmla="*/ 5 w 181"/>
                <a:gd name="T3" fmla="*/ 60 h 170"/>
                <a:gd name="T4" fmla="*/ 12 w 181"/>
                <a:gd name="T5" fmla="*/ 54 h 170"/>
                <a:gd name="T6" fmla="*/ 18 w 181"/>
                <a:gd name="T7" fmla="*/ 48 h 170"/>
                <a:gd name="T8" fmla="*/ 25 w 181"/>
                <a:gd name="T9" fmla="*/ 44 h 170"/>
                <a:gd name="T10" fmla="*/ 32 w 181"/>
                <a:gd name="T11" fmla="*/ 38 h 170"/>
                <a:gd name="T12" fmla="*/ 38 w 181"/>
                <a:gd name="T13" fmla="*/ 33 h 170"/>
                <a:gd name="T14" fmla="*/ 44 w 181"/>
                <a:gd name="T15" fmla="*/ 26 h 170"/>
                <a:gd name="T16" fmla="*/ 50 w 181"/>
                <a:gd name="T17" fmla="*/ 21 h 170"/>
                <a:gd name="T18" fmla="*/ 62 w 181"/>
                <a:gd name="T19" fmla="*/ 13 h 170"/>
                <a:gd name="T20" fmla="*/ 74 w 181"/>
                <a:gd name="T21" fmla="*/ 8 h 170"/>
                <a:gd name="T22" fmla="*/ 82 w 181"/>
                <a:gd name="T23" fmla="*/ 3 h 170"/>
                <a:gd name="T24" fmla="*/ 89 w 181"/>
                <a:gd name="T25" fmla="*/ 1 h 170"/>
                <a:gd name="T26" fmla="*/ 91 w 181"/>
                <a:gd name="T27" fmla="*/ 0 h 170"/>
                <a:gd name="T28" fmla="*/ 89 w 181"/>
                <a:gd name="T29" fmla="*/ 3 h 170"/>
                <a:gd name="T30" fmla="*/ 83 w 181"/>
                <a:gd name="T31" fmla="*/ 9 h 170"/>
                <a:gd name="T32" fmla="*/ 72 w 181"/>
                <a:gd name="T33" fmla="*/ 19 h 170"/>
                <a:gd name="T34" fmla="*/ 63 w 181"/>
                <a:gd name="T35" fmla="*/ 26 h 170"/>
                <a:gd name="T36" fmla="*/ 55 w 181"/>
                <a:gd name="T37" fmla="*/ 35 h 170"/>
                <a:gd name="T38" fmla="*/ 47 w 181"/>
                <a:gd name="T39" fmla="*/ 43 h 170"/>
                <a:gd name="T40" fmla="*/ 38 w 181"/>
                <a:gd name="T41" fmla="*/ 52 h 170"/>
                <a:gd name="T42" fmla="*/ 30 w 181"/>
                <a:gd name="T43" fmla="*/ 60 h 170"/>
                <a:gd name="T44" fmla="*/ 22 w 181"/>
                <a:gd name="T45" fmla="*/ 69 h 170"/>
                <a:gd name="T46" fmla="*/ 13 w 181"/>
                <a:gd name="T47" fmla="*/ 77 h 170"/>
                <a:gd name="T48" fmla="*/ 5 w 181"/>
                <a:gd name="T49" fmla="*/ 86 h 170"/>
                <a:gd name="T50" fmla="*/ 3 w 181"/>
                <a:gd name="T51" fmla="*/ 81 h 170"/>
                <a:gd name="T52" fmla="*/ 2 w 181"/>
                <a:gd name="T53" fmla="*/ 76 h 170"/>
                <a:gd name="T54" fmla="*/ 1 w 181"/>
                <a:gd name="T55" fmla="*/ 71 h 170"/>
                <a:gd name="T56" fmla="*/ 0 w 181"/>
                <a:gd name="T57" fmla="*/ 67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0" name="Freeform 70">
              <a:extLst>
                <a:ext uri="{FF2B5EF4-FFF2-40B4-BE49-F238E27FC236}">
                  <a16:creationId xmlns:a16="http://schemas.microsoft.com/office/drawing/2014/main" id="{37E0CB0C-FC3C-6F4A-98CB-FDD8106D0BFC}"/>
                </a:ext>
              </a:extLst>
            </p:cNvPr>
            <p:cNvSpPr>
              <a:spLocks/>
            </p:cNvSpPr>
            <p:nvPr/>
          </p:nvSpPr>
          <p:spPr bwMode="auto">
            <a:xfrm>
              <a:off x="4355" y="3100"/>
              <a:ext cx="426" cy="323"/>
            </a:xfrm>
            <a:custGeom>
              <a:avLst/>
              <a:gdLst>
                <a:gd name="T0" fmla="*/ 417 w 852"/>
                <a:gd name="T1" fmla="*/ 104 h 647"/>
                <a:gd name="T2" fmla="*/ 426 w 852"/>
                <a:gd name="T3" fmla="*/ 203 h 647"/>
                <a:gd name="T4" fmla="*/ 421 w 852"/>
                <a:gd name="T5" fmla="*/ 279 h 647"/>
                <a:gd name="T6" fmla="*/ 393 w 852"/>
                <a:gd name="T7" fmla="*/ 319 h 647"/>
                <a:gd name="T8" fmla="*/ 295 w 852"/>
                <a:gd name="T9" fmla="*/ 319 h 647"/>
                <a:gd name="T10" fmla="*/ 197 w 852"/>
                <a:gd name="T11" fmla="*/ 313 h 647"/>
                <a:gd name="T12" fmla="*/ 137 w 852"/>
                <a:gd name="T13" fmla="*/ 288 h 647"/>
                <a:gd name="T14" fmla="*/ 74 w 852"/>
                <a:gd name="T15" fmla="*/ 220 h 647"/>
                <a:gd name="T16" fmla="*/ 15 w 852"/>
                <a:gd name="T17" fmla="*/ 155 h 647"/>
                <a:gd name="T18" fmla="*/ 0 w 852"/>
                <a:gd name="T19" fmla="*/ 135 h 647"/>
                <a:gd name="T20" fmla="*/ 7 w 852"/>
                <a:gd name="T21" fmla="*/ 118 h 647"/>
                <a:gd name="T22" fmla="*/ 28 w 852"/>
                <a:gd name="T23" fmla="*/ 109 h 647"/>
                <a:gd name="T24" fmla="*/ 37 w 852"/>
                <a:gd name="T25" fmla="*/ 95 h 647"/>
                <a:gd name="T26" fmla="*/ 31 w 852"/>
                <a:gd name="T27" fmla="*/ 68 h 647"/>
                <a:gd name="T28" fmla="*/ 41 w 852"/>
                <a:gd name="T29" fmla="*/ 51 h 647"/>
                <a:gd name="T30" fmla="*/ 63 w 852"/>
                <a:gd name="T31" fmla="*/ 47 h 647"/>
                <a:gd name="T32" fmla="*/ 67 w 852"/>
                <a:gd name="T33" fmla="*/ 32 h 647"/>
                <a:gd name="T34" fmla="*/ 68 w 852"/>
                <a:gd name="T35" fmla="*/ 5 h 647"/>
                <a:gd name="T36" fmla="*/ 92 w 852"/>
                <a:gd name="T37" fmla="*/ 1 h 647"/>
                <a:gd name="T38" fmla="*/ 127 w 852"/>
                <a:gd name="T39" fmla="*/ 25 h 647"/>
                <a:gd name="T40" fmla="*/ 147 w 852"/>
                <a:gd name="T41" fmla="*/ 59 h 647"/>
                <a:gd name="T42" fmla="*/ 150 w 852"/>
                <a:gd name="T43" fmla="*/ 77 h 647"/>
                <a:gd name="T44" fmla="*/ 154 w 852"/>
                <a:gd name="T45" fmla="*/ 95 h 647"/>
                <a:gd name="T46" fmla="*/ 158 w 852"/>
                <a:gd name="T47" fmla="*/ 114 h 647"/>
                <a:gd name="T48" fmla="*/ 179 w 852"/>
                <a:gd name="T49" fmla="*/ 151 h 647"/>
                <a:gd name="T50" fmla="*/ 204 w 852"/>
                <a:gd name="T51" fmla="*/ 185 h 647"/>
                <a:gd name="T52" fmla="*/ 228 w 852"/>
                <a:gd name="T53" fmla="*/ 197 h 647"/>
                <a:gd name="T54" fmla="*/ 271 w 852"/>
                <a:gd name="T55" fmla="*/ 197 h 647"/>
                <a:gd name="T56" fmla="*/ 297 w 852"/>
                <a:gd name="T57" fmla="*/ 183 h 647"/>
                <a:gd name="T58" fmla="*/ 282 w 852"/>
                <a:gd name="T59" fmla="*/ 163 h 647"/>
                <a:gd name="T60" fmla="*/ 268 w 852"/>
                <a:gd name="T61" fmla="*/ 145 h 647"/>
                <a:gd name="T62" fmla="*/ 252 w 852"/>
                <a:gd name="T63" fmla="*/ 126 h 647"/>
                <a:gd name="T64" fmla="*/ 253 w 852"/>
                <a:gd name="T65" fmla="*/ 88 h 647"/>
                <a:gd name="T66" fmla="*/ 289 w 852"/>
                <a:gd name="T67" fmla="*/ 48 h 647"/>
                <a:gd name="T68" fmla="*/ 340 w 852"/>
                <a:gd name="T69" fmla="*/ 26 h 647"/>
                <a:gd name="T70" fmla="*/ 390 w 852"/>
                <a:gd name="T71" fmla="*/ 33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1" name="Freeform 71">
              <a:extLst>
                <a:ext uri="{FF2B5EF4-FFF2-40B4-BE49-F238E27FC236}">
                  <a16:creationId xmlns:a16="http://schemas.microsoft.com/office/drawing/2014/main" id="{80E22BED-3D99-FD40-A0A8-29EE1AB151D1}"/>
                </a:ext>
              </a:extLst>
            </p:cNvPr>
            <p:cNvSpPr>
              <a:spLocks/>
            </p:cNvSpPr>
            <p:nvPr/>
          </p:nvSpPr>
          <p:spPr bwMode="auto">
            <a:xfrm>
              <a:off x="4361" y="3112"/>
              <a:ext cx="413" cy="303"/>
            </a:xfrm>
            <a:custGeom>
              <a:avLst/>
              <a:gdLst>
                <a:gd name="T0" fmla="*/ 401 w 825"/>
                <a:gd name="T1" fmla="*/ 94 h 607"/>
                <a:gd name="T2" fmla="*/ 412 w 825"/>
                <a:gd name="T3" fmla="*/ 189 h 607"/>
                <a:gd name="T4" fmla="*/ 408 w 825"/>
                <a:gd name="T5" fmla="*/ 260 h 607"/>
                <a:gd name="T6" fmla="*/ 381 w 825"/>
                <a:gd name="T7" fmla="*/ 298 h 607"/>
                <a:gd name="T8" fmla="*/ 282 w 825"/>
                <a:gd name="T9" fmla="*/ 299 h 607"/>
                <a:gd name="T10" fmla="*/ 186 w 825"/>
                <a:gd name="T11" fmla="*/ 290 h 607"/>
                <a:gd name="T12" fmla="*/ 128 w 825"/>
                <a:gd name="T13" fmla="*/ 264 h 607"/>
                <a:gd name="T14" fmla="*/ 70 w 825"/>
                <a:gd name="T15" fmla="*/ 203 h 607"/>
                <a:gd name="T16" fmla="*/ 15 w 825"/>
                <a:gd name="T17" fmla="*/ 145 h 607"/>
                <a:gd name="T18" fmla="*/ 0 w 825"/>
                <a:gd name="T19" fmla="*/ 126 h 607"/>
                <a:gd name="T20" fmla="*/ 7 w 825"/>
                <a:gd name="T21" fmla="*/ 108 h 607"/>
                <a:gd name="T22" fmla="*/ 28 w 825"/>
                <a:gd name="T23" fmla="*/ 99 h 607"/>
                <a:gd name="T24" fmla="*/ 37 w 825"/>
                <a:gd name="T25" fmla="*/ 85 h 607"/>
                <a:gd name="T26" fmla="*/ 33 w 825"/>
                <a:gd name="T27" fmla="*/ 60 h 607"/>
                <a:gd name="T28" fmla="*/ 43 w 825"/>
                <a:gd name="T29" fmla="*/ 44 h 607"/>
                <a:gd name="T30" fmla="*/ 64 w 825"/>
                <a:gd name="T31" fmla="*/ 42 h 607"/>
                <a:gd name="T32" fmla="*/ 68 w 825"/>
                <a:gd name="T33" fmla="*/ 29 h 607"/>
                <a:gd name="T34" fmla="*/ 69 w 825"/>
                <a:gd name="T35" fmla="*/ 4 h 607"/>
                <a:gd name="T36" fmla="*/ 92 w 825"/>
                <a:gd name="T37" fmla="*/ 2 h 607"/>
                <a:gd name="T38" fmla="*/ 123 w 825"/>
                <a:gd name="T39" fmla="*/ 26 h 607"/>
                <a:gd name="T40" fmla="*/ 141 w 825"/>
                <a:gd name="T41" fmla="*/ 57 h 607"/>
                <a:gd name="T42" fmla="*/ 144 w 825"/>
                <a:gd name="T43" fmla="*/ 72 h 607"/>
                <a:gd name="T44" fmla="*/ 148 w 825"/>
                <a:gd name="T45" fmla="*/ 86 h 607"/>
                <a:gd name="T46" fmla="*/ 151 w 825"/>
                <a:gd name="T47" fmla="*/ 102 h 607"/>
                <a:gd name="T48" fmla="*/ 171 w 825"/>
                <a:gd name="T49" fmla="*/ 139 h 607"/>
                <a:gd name="T50" fmla="*/ 197 w 825"/>
                <a:gd name="T51" fmla="*/ 174 h 607"/>
                <a:gd name="T52" fmla="*/ 224 w 825"/>
                <a:gd name="T53" fmla="*/ 187 h 607"/>
                <a:gd name="T54" fmla="*/ 268 w 825"/>
                <a:gd name="T55" fmla="*/ 187 h 607"/>
                <a:gd name="T56" fmla="*/ 294 w 825"/>
                <a:gd name="T57" fmla="*/ 173 h 607"/>
                <a:gd name="T58" fmla="*/ 279 w 825"/>
                <a:gd name="T59" fmla="*/ 152 h 607"/>
                <a:gd name="T60" fmla="*/ 264 w 825"/>
                <a:gd name="T61" fmla="*/ 133 h 607"/>
                <a:gd name="T62" fmla="*/ 250 w 825"/>
                <a:gd name="T63" fmla="*/ 112 h 607"/>
                <a:gd name="T64" fmla="*/ 249 w 825"/>
                <a:gd name="T65" fmla="*/ 75 h 607"/>
                <a:gd name="T66" fmla="*/ 282 w 825"/>
                <a:gd name="T67" fmla="*/ 36 h 607"/>
                <a:gd name="T68" fmla="*/ 328 w 825"/>
                <a:gd name="T69" fmla="*/ 16 h 607"/>
                <a:gd name="T70" fmla="*/ 374 w 825"/>
                <a:gd name="T71" fmla="*/ 24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2" name="Freeform 72">
              <a:extLst>
                <a:ext uri="{FF2B5EF4-FFF2-40B4-BE49-F238E27FC236}">
                  <a16:creationId xmlns:a16="http://schemas.microsoft.com/office/drawing/2014/main" id="{14985E18-CC82-824F-A331-442518DAB4CC}"/>
                </a:ext>
              </a:extLst>
            </p:cNvPr>
            <p:cNvSpPr>
              <a:spLocks/>
            </p:cNvSpPr>
            <p:nvPr/>
          </p:nvSpPr>
          <p:spPr bwMode="auto">
            <a:xfrm>
              <a:off x="4367" y="3123"/>
              <a:ext cx="402" cy="284"/>
            </a:xfrm>
            <a:custGeom>
              <a:avLst/>
              <a:gdLst>
                <a:gd name="T0" fmla="*/ 387 w 804"/>
                <a:gd name="T1" fmla="*/ 86 h 569"/>
                <a:gd name="T2" fmla="*/ 400 w 804"/>
                <a:gd name="T3" fmla="*/ 176 h 569"/>
                <a:gd name="T4" fmla="*/ 399 w 804"/>
                <a:gd name="T5" fmla="*/ 242 h 569"/>
                <a:gd name="T6" fmla="*/ 372 w 804"/>
                <a:gd name="T7" fmla="*/ 278 h 569"/>
                <a:gd name="T8" fmla="*/ 272 w 804"/>
                <a:gd name="T9" fmla="*/ 279 h 569"/>
                <a:gd name="T10" fmla="*/ 176 w 804"/>
                <a:gd name="T11" fmla="*/ 267 h 569"/>
                <a:gd name="T12" fmla="*/ 118 w 804"/>
                <a:gd name="T13" fmla="*/ 241 h 569"/>
                <a:gd name="T14" fmla="*/ 67 w 804"/>
                <a:gd name="T15" fmla="*/ 185 h 569"/>
                <a:gd name="T16" fmla="*/ 15 w 804"/>
                <a:gd name="T17" fmla="*/ 134 h 569"/>
                <a:gd name="T18" fmla="*/ 0 w 804"/>
                <a:gd name="T19" fmla="*/ 116 h 569"/>
                <a:gd name="T20" fmla="*/ 6 w 804"/>
                <a:gd name="T21" fmla="*/ 98 h 569"/>
                <a:gd name="T22" fmla="*/ 28 w 804"/>
                <a:gd name="T23" fmla="*/ 89 h 569"/>
                <a:gd name="T24" fmla="*/ 37 w 804"/>
                <a:gd name="T25" fmla="*/ 76 h 569"/>
                <a:gd name="T26" fmla="*/ 34 w 804"/>
                <a:gd name="T27" fmla="*/ 52 h 569"/>
                <a:gd name="T28" fmla="*/ 45 w 804"/>
                <a:gd name="T29" fmla="*/ 38 h 569"/>
                <a:gd name="T30" fmla="*/ 65 w 804"/>
                <a:gd name="T31" fmla="*/ 38 h 569"/>
                <a:gd name="T32" fmla="*/ 68 w 804"/>
                <a:gd name="T33" fmla="*/ 25 h 569"/>
                <a:gd name="T34" fmla="*/ 71 w 804"/>
                <a:gd name="T35" fmla="*/ 3 h 569"/>
                <a:gd name="T36" fmla="*/ 93 w 804"/>
                <a:gd name="T37" fmla="*/ 1 h 569"/>
                <a:gd name="T38" fmla="*/ 120 w 804"/>
                <a:gd name="T39" fmla="*/ 25 h 569"/>
                <a:gd name="T40" fmla="*/ 136 w 804"/>
                <a:gd name="T41" fmla="*/ 55 h 569"/>
                <a:gd name="T42" fmla="*/ 139 w 804"/>
                <a:gd name="T43" fmla="*/ 68 h 569"/>
                <a:gd name="T44" fmla="*/ 142 w 804"/>
                <a:gd name="T45" fmla="*/ 79 h 569"/>
                <a:gd name="T46" fmla="*/ 146 w 804"/>
                <a:gd name="T47" fmla="*/ 91 h 569"/>
                <a:gd name="T48" fmla="*/ 164 w 804"/>
                <a:gd name="T49" fmla="*/ 128 h 569"/>
                <a:gd name="T50" fmla="*/ 191 w 804"/>
                <a:gd name="T51" fmla="*/ 163 h 569"/>
                <a:gd name="T52" fmla="*/ 219 w 804"/>
                <a:gd name="T53" fmla="*/ 177 h 569"/>
                <a:gd name="T54" fmla="*/ 266 w 804"/>
                <a:gd name="T55" fmla="*/ 177 h 569"/>
                <a:gd name="T56" fmla="*/ 293 w 804"/>
                <a:gd name="T57" fmla="*/ 163 h 569"/>
                <a:gd name="T58" fmla="*/ 278 w 804"/>
                <a:gd name="T59" fmla="*/ 141 h 569"/>
                <a:gd name="T60" fmla="*/ 262 w 804"/>
                <a:gd name="T61" fmla="*/ 121 h 569"/>
                <a:gd name="T62" fmla="*/ 247 w 804"/>
                <a:gd name="T63" fmla="*/ 100 h 569"/>
                <a:gd name="T64" fmla="*/ 246 w 804"/>
                <a:gd name="T65" fmla="*/ 62 h 569"/>
                <a:gd name="T66" fmla="*/ 276 w 804"/>
                <a:gd name="T67" fmla="*/ 24 h 569"/>
                <a:gd name="T68" fmla="*/ 318 w 804"/>
                <a:gd name="T69" fmla="*/ 7 h 569"/>
                <a:gd name="T70" fmla="*/ 361 w 804"/>
                <a:gd name="T71" fmla="*/ 17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3" name="Freeform 73">
              <a:extLst>
                <a:ext uri="{FF2B5EF4-FFF2-40B4-BE49-F238E27FC236}">
                  <a16:creationId xmlns:a16="http://schemas.microsoft.com/office/drawing/2014/main" id="{292DFD5D-3B40-3A48-B478-D58F3ACC8337}"/>
                </a:ext>
              </a:extLst>
            </p:cNvPr>
            <p:cNvSpPr>
              <a:spLocks/>
            </p:cNvSpPr>
            <p:nvPr/>
          </p:nvSpPr>
          <p:spPr bwMode="auto">
            <a:xfrm>
              <a:off x="4373" y="3132"/>
              <a:ext cx="390" cy="268"/>
            </a:xfrm>
            <a:custGeom>
              <a:avLst/>
              <a:gdLst>
                <a:gd name="T0" fmla="*/ 372 w 779"/>
                <a:gd name="T1" fmla="*/ 80 h 536"/>
                <a:gd name="T2" fmla="*/ 386 w 779"/>
                <a:gd name="T3" fmla="*/ 166 h 536"/>
                <a:gd name="T4" fmla="*/ 387 w 779"/>
                <a:gd name="T5" fmla="*/ 226 h 536"/>
                <a:gd name="T6" fmla="*/ 361 w 779"/>
                <a:gd name="T7" fmla="*/ 261 h 536"/>
                <a:gd name="T8" fmla="*/ 260 w 779"/>
                <a:gd name="T9" fmla="*/ 262 h 536"/>
                <a:gd name="T10" fmla="*/ 164 w 779"/>
                <a:gd name="T11" fmla="*/ 247 h 536"/>
                <a:gd name="T12" fmla="*/ 109 w 779"/>
                <a:gd name="T13" fmla="*/ 219 h 536"/>
                <a:gd name="T14" fmla="*/ 62 w 779"/>
                <a:gd name="T15" fmla="*/ 170 h 536"/>
                <a:gd name="T16" fmla="*/ 15 w 779"/>
                <a:gd name="T17" fmla="*/ 127 h 536"/>
                <a:gd name="T18" fmla="*/ 0 w 779"/>
                <a:gd name="T19" fmla="*/ 108 h 536"/>
                <a:gd name="T20" fmla="*/ 6 w 779"/>
                <a:gd name="T21" fmla="*/ 91 h 536"/>
                <a:gd name="T22" fmla="*/ 28 w 779"/>
                <a:gd name="T23" fmla="*/ 83 h 536"/>
                <a:gd name="T24" fmla="*/ 37 w 779"/>
                <a:gd name="T25" fmla="*/ 70 h 536"/>
                <a:gd name="T26" fmla="*/ 35 w 779"/>
                <a:gd name="T27" fmla="*/ 47 h 536"/>
                <a:gd name="T28" fmla="*/ 47 w 779"/>
                <a:gd name="T29" fmla="*/ 35 h 536"/>
                <a:gd name="T30" fmla="*/ 65 w 779"/>
                <a:gd name="T31" fmla="*/ 36 h 536"/>
                <a:gd name="T32" fmla="*/ 68 w 779"/>
                <a:gd name="T33" fmla="*/ 24 h 536"/>
                <a:gd name="T34" fmla="*/ 72 w 779"/>
                <a:gd name="T35" fmla="*/ 4 h 536"/>
                <a:gd name="T36" fmla="*/ 92 w 779"/>
                <a:gd name="T37" fmla="*/ 5 h 536"/>
                <a:gd name="T38" fmla="*/ 117 w 779"/>
                <a:gd name="T39" fmla="*/ 28 h 536"/>
                <a:gd name="T40" fmla="*/ 129 w 779"/>
                <a:gd name="T41" fmla="*/ 56 h 536"/>
                <a:gd name="T42" fmla="*/ 132 w 779"/>
                <a:gd name="T43" fmla="*/ 66 h 536"/>
                <a:gd name="T44" fmla="*/ 136 w 779"/>
                <a:gd name="T45" fmla="*/ 73 h 536"/>
                <a:gd name="T46" fmla="*/ 139 w 779"/>
                <a:gd name="T47" fmla="*/ 83 h 536"/>
                <a:gd name="T48" fmla="*/ 157 w 779"/>
                <a:gd name="T49" fmla="*/ 120 h 536"/>
                <a:gd name="T50" fmla="*/ 183 w 779"/>
                <a:gd name="T51" fmla="*/ 156 h 536"/>
                <a:gd name="T52" fmla="*/ 215 w 779"/>
                <a:gd name="T53" fmla="*/ 170 h 536"/>
                <a:gd name="T54" fmla="*/ 263 w 779"/>
                <a:gd name="T55" fmla="*/ 170 h 536"/>
                <a:gd name="T56" fmla="*/ 289 w 779"/>
                <a:gd name="T57" fmla="*/ 155 h 536"/>
                <a:gd name="T58" fmla="*/ 274 w 779"/>
                <a:gd name="T59" fmla="*/ 133 h 536"/>
                <a:gd name="T60" fmla="*/ 259 w 779"/>
                <a:gd name="T61" fmla="*/ 112 h 536"/>
                <a:gd name="T62" fmla="*/ 244 w 779"/>
                <a:gd name="T63" fmla="*/ 89 h 536"/>
                <a:gd name="T64" fmla="*/ 242 w 779"/>
                <a:gd name="T65" fmla="*/ 51 h 536"/>
                <a:gd name="T66" fmla="*/ 269 w 779"/>
                <a:gd name="T67" fmla="*/ 15 h 536"/>
                <a:gd name="T68" fmla="*/ 306 w 779"/>
                <a:gd name="T69" fmla="*/ 0 h 536"/>
                <a:gd name="T70" fmla="*/ 346 w 779"/>
                <a:gd name="T71" fmla="*/ 11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4" name="Freeform 74">
              <a:extLst>
                <a:ext uri="{FF2B5EF4-FFF2-40B4-BE49-F238E27FC236}">
                  <a16:creationId xmlns:a16="http://schemas.microsoft.com/office/drawing/2014/main" id="{276226DD-F588-A348-84CE-BF95B5F1797B}"/>
                </a:ext>
              </a:extLst>
            </p:cNvPr>
            <p:cNvSpPr>
              <a:spLocks/>
            </p:cNvSpPr>
            <p:nvPr/>
          </p:nvSpPr>
          <p:spPr bwMode="auto">
            <a:xfrm>
              <a:off x="4379" y="3134"/>
              <a:ext cx="378" cy="259"/>
            </a:xfrm>
            <a:custGeom>
              <a:avLst/>
              <a:gdLst>
                <a:gd name="T0" fmla="*/ 356 w 756"/>
                <a:gd name="T1" fmla="*/ 81 h 518"/>
                <a:gd name="T2" fmla="*/ 374 w 756"/>
                <a:gd name="T3" fmla="*/ 162 h 518"/>
                <a:gd name="T4" fmla="*/ 377 w 756"/>
                <a:gd name="T5" fmla="*/ 218 h 518"/>
                <a:gd name="T6" fmla="*/ 351 w 756"/>
                <a:gd name="T7" fmla="*/ 250 h 518"/>
                <a:gd name="T8" fmla="*/ 249 w 756"/>
                <a:gd name="T9" fmla="*/ 252 h 518"/>
                <a:gd name="T10" fmla="*/ 154 w 756"/>
                <a:gd name="T11" fmla="*/ 234 h 518"/>
                <a:gd name="T12" fmla="*/ 100 w 756"/>
                <a:gd name="T13" fmla="*/ 205 h 518"/>
                <a:gd name="T14" fmla="*/ 58 w 756"/>
                <a:gd name="T15" fmla="*/ 162 h 518"/>
                <a:gd name="T16" fmla="*/ 15 w 756"/>
                <a:gd name="T17" fmla="*/ 126 h 518"/>
                <a:gd name="T18" fmla="*/ 0 w 756"/>
                <a:gd name="T19" fmla="*/ 108 h 518"/>
                <a:gd name="T20" fmla="*/ 6 w 756"/>
                <a:gd name="T21" fmla="*/ 91 h 518"/>
                <a:gd name="T22" fmla="*/ 28 w 756"/>
                <a:gd name="T23" fmla="*/ 83 h 518"/>
                <a:gd name="T24" fmla="*/ 37 w 756"/>
                <a:gd name="T25" fmla="*/ 71 h 518"/>
                <a:gd name="T26" fmla="*/ 36 w 756"/>
                <a:gd name="T27" fmla="*/ 50 h 518"/>
                <a:gd name="T28" fmla="*/ 48 w 756"/>
                <a:gd name="T29" fmla="*/ 39 h 518"/>
                <a:gd name="T30" fmla="*/ 66 w 756"/>
                <a:gd name="T31" fmla="*/ 42 h 518"/>
                <a:gd name="T32" fmla="*/ 69 w 756"/>
                <a:gd name="T33" fmla="*/ 31 h 518"/>
                <a:gd name="T34" fmla="*/ 74 w 756"/>
                <a:gd name="T35" fmla="*/ 12 h 518"/>
                <a:gd name="T36" fmla="*/ 92 w 756"/>
                <a:gd name="T37" fmla="*/ 16 h 518"/>
                <a:gd name="T38" fmla="*/ 113 w 756"/>
                <a:gd name="T39" fmla="*/ 39 h 518"/>
                <a:gd name="T40" fmla="*/ 123 w 756"/>
                <a:gd name="T41" fmla="*/ 64 h 518"/>
                <a:gd name="T42" fmla="*/ 126 w 756"/>
                <a:gd name="T43" fmla="*/ 71 h 518"/>
                <a:gd name="T44" fmla="*/ 130 w 756"/>
                <a:gd name="T45" fmla="*/ 74 h 518"/>
                <a:gd name="T46" fmla="*/ 134 w 756"/>
                <a:gd name="T47" fmla="*/ 81 h 518"/>
                <a:gd name="T48" fmla="*/ 150 w 756"/>
                <a:gd name="T49" fmla="*/ 118 h 518"/>
                <a:gd name="T50" fmla="*/ 177 w 756"/>
                <a:gd name="T51" fmla="*/ 155 h 518"/>
                <a:gd name="T52" fmla="*/ 210 w 756"/>
                <a:gd name="T53" fmla="*/ 169 h 518"/>
                <a:gd name="T54" fmla="*/ 260 w 756"/>
                <a:gd name="T55" fmla="*/ 169 h 518"/>
                <a:gd name="T56" fmla="*/ 287 w 756"/>
                <a:gd name="T57" fmla="*/ 155 h 518"/>
                <a:gd name="T58" fmla="*/ 272 w 756"/>
                <a:gd name="T59" fmla="*/ 131 h 518"/>
                <a:gd name="T60" fmla="*/ 256 w 756"/>
                <a:gd name="T61" fmla="*/ 109 h 518"/>
                <a:gd name="T62" fmla="*/ 241 w 756"/>
                <a:gd name="T63" fmla="*/ 85 h 518"/>
                <a:gd name="T64" fmla="*/ 239 w 756"/>
                <a:gd name="T65" fmla="*/ 48 h 518"/>
                <a:gd name="T66" fmla="*/ 262 w 756"/>
                <a:gd name="T67" fmla="*/ 13 h 518"/>
                <a:gd name="T68" fmla="*/ 295 w 756"/>
                <a:gd name="T69" fmla="*/ 0 h 518"/>
                <a:gd name="T70" fmla="*/ 331 w 756"/>
                <a:gd name="T71" fmla="*/ 12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5" name="Freeform 75">
              <a:extLst>
                <a:ext uri="{FF2B5EF4-FFF2-40B4-BE49-F238E27FC236}">
                  <a16:creationId xmlns:a16="http://schemas.microsoft.com/office/drawing/2014/main" id="{08F955AB-18E7-EF47-975A-92137B012B38}"/>
                </a:ext>
              </a:extLst>
            </p:cNvPr>
            <p:cNvSpPr>
              <a:spLocks/>
            </p:cNvSpPr>
            <p:nvPr/>
          </p:nvSpPr>
          <p:spPr bwMode="auto">
            <a:xfrm>
              <a:off x="4385" y="3136"/>
              <a:ext cx="366" cy="249"/>
            </a:xfrm>
            <a:custGeom>
              <a:avLst/>
              <a:gdLst>
                <a:gd name="T0" fmla="*/ 342 w 732"/>
                <a:gd name="T1" fmla="*/ 82 h 498"/>
                <a:gd name="T2" fmla="*/ 361 w 732"/>
                <a:gd name="T3" fmla="*/ 159 h 498"/>
                <a:gd name="T4" fmla="*/ 366 w 732"/>
                <a:gd name="T5" fmla="*/ 210 h 498"/>
                <a:gd name="T6" fmla="*/ 341 w 732"/>
                <a:gd name="T7" fmla="*/ 240 h 498"/>
                <a:gd name="T8" fmla="*/ 237 w 732"/>
                <a:gd name="T9" fmla="*/ 242 h 498"/>
                <a:gd name="T10" fmla="*/ 142 w 732"/>
                <a:gd name="T11" fmla="*/ 221 h 498"/>
                <a:gd name="T12" fmla="*/ 90 w 732"/>
                <a:gd name="T13" fmla="*/ 192 h 498"/>
                <a:gd name="T14" fmla="*/ 53 w 732"/>
                <a:gd name="T15" fmla="*/ 154 h 498"/>
                <a:gd name="T16" fmla="*/ 14 w 732"/>
                <a:gd name="T17" fmla="*/ 125 h 498"/>
                <a:gd name="T18" fmla="*/ 0 w 732"/>
                <a:gd name="T19" fmla="*/ 108 h 498"/>
                <a:gd name="T20" fmla="*/ 6 w 732"/>
                <a:gd name="T21" fmla="*/ 92 h 498"/>
                <a:gd name="T22" fmla="*/ 27 w 732"/>
                <a:gd name="T23" fmla="*/ 84 h 498"/>
                <a:gd name="T24" fmla="*/ 37 w 732"/>
                <a:gd name="T25" fmla="*/ 72 h 498"/>
                <a:gd name="T26" fmla="*/ 38 w 732"/>
                <a:gd name="T27" fmla="*/ 52 h 498"/>
                <a:gd name="T28" fmla="*/ 50 w 732"/>
                <a:gd name="T29" fmla="*/ 43 h 498"/>
                <a:gd name="T30" fmla="*/ 67 w 732"/>
                <a:gd name="T31" fmla="*/ 47 h 498"/>
                <a:gd name="T32" fmla="*/ 69 w 732"/>
                <a:gd name="T33" fmla="*/ 37 h 498"/>
                <a:gd name="T34" fmla="*/ 75 w 732"/>
                <a:gd name="T35" fmla="*/ 21 h 498"/>
                <a:gd name="T36" fmla="*/ 92 w 732"/>
                <a:gd name="T37" fmla="*/ 26 h 498"/>
                <a:gd name="T38" fmla="*/ 110 w 732"/>
                <a:gd name="T39" fmla="*/ 49 h 498"/>
                <a:gd name="T40" fmla="*/ 117 w 732"/>
                <a:gd name="T41" fmla="*/ 72 h 498"/>
                <a:gd name="T42" fmla="*/ 120 w 732"/>
                <a:gd name="T43" fmla="*/ 76 h 498"/>
                <a:gd name="T44" fmla="*/ 123 w 732"/>
                <a:gd name="T45" fmla="*/ 75 h 498"/>
                <a:gd name="T46" fmla="*/ 127 w 732"/>
                <a:gd name="T47" fmla="*/ 80 h 498"/>
                <a:gd name="T48" fmla="*/ 142 w 732"/>
                <a:gd name="T49" fmla="*/ 117 h 498"/>
                <a:gd name="T50" fmla="*/ 170 w 732"/>
                <a:gd name="T51" fmla="*/ 154 h 498"/>
                <a:gd name="T52" fmla="*/ 205 w 732"/>
                <a:gd name="T53" fmla="*/ 168 h 498"/>
                <a:gd name="T54" fmla="*/ 257 w 732"/>
                <a:gd name="T55" fmla="*/ 169 h 498"/>
                <a:gd name="T56" fmla="*/ 284 w 732"/>
                <a:gd name="T57" fmla="*/ 154 h 498"/>
                <a:gd name="T58" fmla="*/ 269 w 732"/>
                <a:gd name="T59" fmla="*/ 131 h 498"/>
                <a:gd name="T60" fmla="*/ 253 w 732"/>
                <a:gd name="T61" fmla="*/ 107 h 498"/>
                <a:gd name="T62" fmla="*/ 238 w 732"/>
                <a:gd name="T63" fmla="*/ 83 h 498"/>
                <a:gd name="T64" fmla="*/ 235 w 732"/>
                <a:gd name="T65" fmla="*/ 46 h 498"/>
                <a:gd name="T66" fmla="*/ 255 w 732"/>
                <a:gd name="T67" fmla="*/ 12 h 498"/>
                <a:gd name="T68" fmla="*/ 283 w 732"/>
                <a:gd name="T69" fmla="*/ 0 h 498"/>
                <a:gd name="T70" fmla="*/ 317 w 732"/>
                <a:gd name="T71" fmla="*/ 14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6" name="Freeform 76">
              <a:extLst>
                <a:ext uri="{FF2B5EF4-FFF2-40B4-BE49-F238E27FC236}">
                  <a16:creationId xmlns:a16="http://schemas.microsoft.com/office/drawing/2014/main" id="{74448653-1704-1B4B-BB83-154B27263C42}"/>
                </a:ext>
              </a:extLst>
            </p:cNvPr>
            <p:cNvSpPr>
              <a:spLocks/>
            </p:cNvSpPr>
            <p:nvPr/>
          </p:nvSpPr>
          <p:spPr bwMode="auto">
            <a:xfrm>
              <a:off x="4391" y="3138"/>
              <a:ext cx="355" cy="239"/>
            </a:xfrm>
            <a:custGeom>
              <a:avLst/>
              <a:gdLst>
                <a:gd name="T0" fmla="*/ 328 w 710"/>
                <a:gd name="T1" fmla="*/ 83 h 478"/>
                <a:gd name="T2" fmla="*/ 348 w 710"/>
                <a:gd name="T3" fmla="*/ 156 h 478"/>
                <a:gd name="T4" fmla="*/ 355 w 710"/>
                <a:gd name="T5" fmla="*/ 201 h 478"/>
                <a:gd name="T6" fmla="*/ 331 w 710"/>
                <a:gd name="T7" fmla="*/ 229 h 478"/>
                <a:gd name="T8" fmla="*/ 227 w 710"/>
                <a:gd name="T9" fmla="*/ 232 h 478"/>
                <a:gd name="T10" fmla="*/ 132 w 710"/>
                <a:gd name="T11" fmla="*/ 209 h 478"/>
                <a:gd name="T12" fmla="*/ 82 w 710"/>
                <a:gd name="T13" fmla="*/ 178 h 478"/>
                <a:gd name="T14" fmla="*/ 50 w 710"/>
                <a:gd name="T15" fmla="*/ 147 h 478"/>
                <a:gd name="T16" fmla="*/ 15 w 710"/>
                <a:gd name="T17" fmla="*/ 125 h 478"/>
                <a:gd name="T18" fmla="*/ 0 w 710"/>
                <a:gd name="T19" fmla="*/ 108 h 478"/>
                <a:gd name="T20" fmla="*/ 6 w 710"/>
                <a:gd name="T21" fmla="*/ 92 h 478"/>
                <a:gd name="T22" fmla="*/ 28 w 710"/>
                <a:gd name="T23" fmla="*/ 85 h 478"/>
                <a:gd name="T24" fmla="*/ 38 w 710"/>
                <a:gd name="T25" fmla="*/ 72 h 478"/>
                <a:gd name="T26" fmla="*/ 39 w 710"/>
                <a:gd name="T27" fmla="*/ 54 h 478"/>
                <a:gd name="T28" fmla="*/ 52 w 710"/>
                <a:gd name="T29" fmla="*/ 47 h 478"/>
                <a:gd name="T30" fmla="*/ 67 w 710"/>
                <a:gd name="T31" fmla="*/ 52 h 478"/>
                <a:gd name="T32" fmla="*/ 70 w 710"/>
                <a:gd name="T33" fmla="*/ 43 h 478"/>
                <a:gd name="T34" fmla="*/ 77 w 710"/>
                <a:gd name="T35" fmla="*/ 30 h 478"/>
                <a:gd name="T36" fmla="*/ 92 w 710"/>
                <a:gd name="T37" fmla="*/ 36 h 478"/>
                <a:gd name="T38" fmla="*/ 107 w 710"/>
                <a:gd name="T39" fmla="*/ 58 h 478"/>
                <a:gd name="T40" fmla="*/ 113 w 710"/>
                <a:gd name="T41" fmla="*/ 80 h 478"/>
                <a:gd name="T42" fmla="*/ 116 w 710"/>
                <a:gd name="T43" fmla="*/ 82 h 478"/>
                <a:gd name="T44" fmla="*/ 118 w 710"/>
                <a:gd name="T45" fmla="*/ 77 h 478"/>
                <a:gd name="T46" fmla="*/ 121 w 710"/>
                <a:gd name="T47" fmla="*/ 78 h 478"/>
                <a:gd name="T48" fmla="*/ 136 w 710"/>
                <a:gd name="T49" fmla="*/ 115 h 478"/>
                <a:gd name="T50" fmla="*/ 163 w 710"/>
                <a:gd name="T51" fmla="*/ 154 h 478"/>
                <a:gd name="T52" fmla="*/ 200 w 710"/>
                <a:gd name="T53" fmla="*/ 168 h 478"/>
                <a:gd name="T54" fmla="*/ 254 w 710"/>
                <a:gd name="T55" fmla="*/ 168 h 478"/>
                <a:gd name="T56" fmla="*/ 282 w 710"/>
                <a:gd name="T57" fmla="*/ 154 h 478"/>
                <a:gd name="T58" fmla="*/ 267 w 710"/>
                <a:gd name="T59" fmla="*/ 129 h 478"/>
                <a:gd name="T60" fmla="*/ 251 w 710"/>
                <a:gd name="T61" fmla="*/ 104 h 478"/>
                <a:gd name="T62" fmla="*/ 235 w 710"/>
                <a:gd name="T63" fmla="*/ 79 h 478"/>
                <a:gd name="T64" fmla="*/ 232 w 710"/>
                <a:gd name="T65" fmla="*/ 42 h 478"/>
                <a:gd name="T66" fmla="*/ 248 w 710"/>
                <a:gd name="T67" fmla="*/ 10 h 478"/>
                <a:gd name="T68" fmla="*/ 272 w 710"/>
                <a:gd name="T69" fmla="*/ 0 h 478"/>
                <a:gd name="T70" fmla="*/ 302 w 710"/>
                <a:gd name="T71" fmla="*/ 15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7" name="Freeform 77">
              <a:extLst>
                <a:ext uri="{FF2B5EF4-FFF2-40B4-BE49-F238E27FC236}">
                  <a16:creationId xmlns:a16="http://schemas.microsoft.com/office/drawing/2014/main" id="{6D5DD52C-DE4B-9C42-ABCF-C4CB9C52CD83}"/>
                </a:ext>
              </a:extLst>
            </p:cNvPr>
            <p:cNvSpPr>
              <a:spLocks/>
            </p:cNvSpPr>
            <p:nvPr/>
          </p:nvSpPr>
          <p:spPr bwMode="auto">
            <a:xfrm>
              <a:off x="4397" y="3140"/>
              <a:ext cx="343" cy="230"/>
            </a:xfrm>
            <a:custGeom>
              <a:avLst/>
              <a:gdLst>
                <a:gd name="T0" fmla="*/ 312 w 687"/>
                <a:gd name="T1" fmla="*/ 84 h 459"/>
                <a:gd name="T2" fmla="*/ 335 w 687"/>
                <a:gd name="T3" fmla="*/ 152 h 459"/>
                <a:gd name="T4" fmla="*/ 343 w 687"/>
                <a:gd name="T5" fmla="*/ 192 h 459"/>
                <a:gd name="T6" fmla="*/ 320 w 687"/>
                <a:gd name="T7" fmla="*/ 218 h 459"/>
                <a:gd name="T8" fmla="*/ 216 w 687"/>
                <a:gd name="T9" fmla="*/ 222 h 459"/>
                <a:gd name="T10" fmla="*/ 121 w 687"/>
                <a:gd name="T11" fmla="*/ 196 h 459"/>
                <a:gd name="T12" fmla="*/ 73 w 687"/>
                <a:gd name="T13" fmla="*/ 164 h 459"/>
                <a:gd name="T14" fmla="*/ 46 w 687"/>
                <a:gd name="T15" fmla="*/ 138 h 459"/>
                <a:gd name="T16" fmla="*/ 15 w 687"/>
                <a:gd name="T17" fmla="*/ 124 h 459"/>
                <a:gd name="T18" fmla="*/ 0 w 687"/>
                <a:gd name="T19" fmla="*/ 107 h 459"/>
                <a:gd name="T20" fmla="*/ 6 w 687"/>
                <a:gd name="T21" fmla="*/ 92 h 459"/>
                <a:gd name="T22" fmla="*/ 28 w 687"/>
                <a:gd name="T23" fmla="*/ 85 h 459"/>
                <a:gd name="T24" fmla="*/ 38 w 687"/>
                <a:gd name="T25" fmla="*/ 72 h 459"/>
                <a:gd name="T26" fmla="*/ 40 w 687"/>
                <a:gd name="T27" fmla="*/ 56 h 459"/>
                <a:gd name="T28" fmla="*/ 54 w 687"/>
                <a:gd name="T29" fmla="*/ 51 h 459"/>
                <a:gd name="T30" fmla="*/ 68 w 687"/>
                <a:gd name="T31" fmla="*/ 57 h 459"/>
                <a:gd name="T32" fmla="*/ 70 w 687"/>
                <a:gd name="T33" fmla="*/ 50 h 459"/>
                <a:gd name="T34" fmla="*/ 79 w 687"/>
                <a:gd name="T35" fmla="*/ 39 h 459"/>
                <a:gd name="T36" fmla="*/ 93 w 687"/>
                <a:gd name="T37" fmla="*/ 47 h 459"/>
                <a:gd name="T38" fmla="*/ 105 w 687"/>
                <a:gd name="T39" fmla="*/ 69 h 459"/>
                <a:gd name="T40" fmla="*/ 108 w 687"/>
                <a:gd name="T41" fmla="*/ 88 h 459"/>
                <a:gd name="T42" fmla="*/ 110 w 687"/>
                <a:gd name="T43" fmla="*/ 87 h 459"/>
                <a:gd name="T44" fmla="*/ 113 w 687"/>
                <a:gd name="T45" fmla="*/ 78 h 459"/>
                <a:gd name="T46" fmla="*/ 116 w 687"/>
                <a:gd name="T47" fmla="*/ 76 h 459"/>
                <a:gd name="T48" fmla="*/ 128 w 687"/>
                <a:gd name="T49" fmla="*/ 114 h 459"/>
                <a:gd name="T50" fmla="*/ 157 w 687"/>
                <a:gd name="T51" fmla="*/ 153 h 459"/>
                <a:gd name="T52" fmla="*/ 196 w 687"/>
                <a:gd name="T53" fmla="*/ 167 h 459"/>
                <a:gd name="T54" fmla="*/ 252 w 687"/>
                <a:gd name="T55" fmla="*/ 168 h 459"/>
                <a:gd name="T56" fmla="*/ 279 w 687"/>
                <a:gd name="T57" fmla="*/ 154 h 459"/>
                <a:gd name="T58" fmla="*/ 264 w 687"/>
                <a:gd name="T59" fmla="*/ 127 h 459"/>
                <a:gd name="T60" fmla="*/ 248 w 687"/>
                <a:gd name="T61" fmla="*/ 102 h 459"/>
                <a:gd name="T62" fmla="*/ 233 w 687"/>
                <a:gd name="T63" fmla="*/ 76 h 459"/>
                <a:gd name="T64" fmla="*/ 229 w 687"/>
                <a:gd name="T65" fmla="*/ 39 h 459"/>
                <a:gd name="T66" fmla="*/ 242 w 687"/>
                <a:gd name="T67" fmla="*/ 8 h 459"/>
                <a:gd name="T68" fmla="*/ 261 w 687"/>
                <a:gd name="T69" fmla="*/ 0 h 459"/>
                <a:gd name="T70" fmla="*/ 287 w 687"/>
                <a:gd name="T71" fmla="*/ 17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8" name="Freeform 78">
              <a:extLst>
                <a:ext uri="{FF2B5EF4-FFF2-40B4-BE49-F238E27FC236}">
                  <a16:creationId xmlns:a16="http://schemas.microsoft.com/office/drawing/2014/main" id="{19183ACB-A718-164F-91DE-299759BD14F6}"/>
                </a:ext>
              </a:extLst>
            </p:cNvPr>
            <p:cNvSpPr>
              <a:spLocks/>
            </p:cNvSpPr>
            <p:nvPr/>
          </p:nvSpPr>
          <p:spPr bwMode="auto">
            <a:xfrm>
              <a:off x="4288" y="3368"/>
              <a:ext cx="118" cy="69"/>
            </a:xfrm>
            <a:custGeom>
              <a:avLst/>
              <a:gdLst>
                <a:gd name="T0" fmla="*/ 17 w 236"/>
                <a:gd name="T1" fmla="*/ 0 h 138"/>
                <a:gd name="T2" fmla="*/ 29 w 236"/>
                <a:gd name="T3" fmla="*/ 3 h 138"/>
                <a:gd name="T4" fmla="*/ 42 w 236"/>
                <a:gd name="T5" fmla="*/ 7 h 138"/>
                <a:gd name="T6" fmla="*/ 54 w 236"/>
                <a:gd name="T7" fmla="*/ 11 h 138"/>
                <a:gd name="T8" fmla="*/ 67 w 236"/>
                <a:gd name="T9" fmla="*/ 15 h 138"/>
                <a:gd name="T10" fmla="*/ 79 w 236"/>
                <a:gd name="T11" fmla="*/ 19 h 138"/>
                <a:gd name="T12" fmla="*/ 92 w 236"/>
                <a:gd name="T13" fmla="*/ 23 h 138"/>
                <a:gd name="T14" fmla="*/ 104 w 236"/>
                <a:gd name="T15" fmla="*/ 27 h 138"/>
                <a:gd name="T16" fmla="*/ 117 w 236"/>
                <a:gd name="T17" fmla="*/ 32 h 138"/>
                <a:gd name="T18" fmla="*/ 118 w 236"/>
                <a:gd name="T19" fmla="*/ 37 h 138"/>
                <a:gd name="T20" fmla="*/ 118 w 236"/>
                <a:gd name="T21" fmla="*/ 42 h 138"/>
                <a:gd name="T22" fmla="*/ 118 w 236"/>
                <a:gd name="T23" fmla="*/ 47 h 138"/>
                <a:gd name="T24" fmla="*/ 118 w 236"/>
                <a:gd name="T25" fmla="*/ 52 h 138"/>
                <a:gd name="T26" fmla="*/ 116 w 236"/>
                <a:gd name="T27" fmla="*/ 56 h 138"/>
                <a:gd name="T28" fmla="*/ 114 w 236"/>
                <a:gd name="T29" fmla="*/ 60 h 138"/>
                <a:gd name="T30" fmla="*/ 111 w 236"/>
                <a:gd name="T31" fmla="*/ 65 h 138"/>
                <a:gd name="T32" fmla="*/ 108 w 236"/>
                <a:gd name="T33" fmla="*/ 69 h 138"/>
                <a:gd name="T34" fmla="*/ 98 w 236"/>
                <a:gd name="T35" fmla="*/ 67 h 138"/>
                <a:gd name="T36" fmla="*/ 88 w 236"/>
                <a:gd name="T37" fmla="*/ 66 h 138"/>
                <a:gd name="T38" fmla="*/ 77 w 236"/>
                <a:gd name="T39" fmla="*/ 65 h 138"/>
                <a:gd name="T40" fmla="*/ 67 w 236"/>
                <a:gd name="T41" fmla="*/ 63 h 138"/>
                <a:gd name="T42" fmla="*/ 56 w 236"/>
                <a:gd name="T43" fmla="*/ 62 h 138"/>
                <a:gd name="T44" fmla="*/ 46 w 236"/>
                <a:gd name="T45" fmla="*/ 61 h 138"/>
                <a:gd name="T46" fmla="*/ 36 w 236"/>
                <a:gd name="T47" fmla="*/ 60 h 138"/>
                <a:gd name="T48" fmla="*/ 27 w 236"/>
                <a:gd name="T49" fmla="*/ 59 h 138"/>
                <a:gd name="T50" fmla="*/ 15 w 236"/>
                <a:gd name="T51" fmla="*/ 52 h 138"/>
                <a:gd name="T52" fmla="*/ 7 w 236"/>
                <a:gd name="T53" fmla="*/ 44 h 138"/>
                <a:gd name="T54" fmla="*/ 3 w 236"/>
                <a:gd name="T55" fmla="*/ 37 h 138"/>
                <a:gd name="T56" fmla="*/ 1 w 236"/>
                <a:gd name="T57" fmla="*/ 29 h 138"/>
                <a:gd name="T58" fmla="*/ 0 w 236"/>
                <a:gd name="T59" fmla="*/ 22 h 138"/>
                <a:gd name="T60" fmla="*/ 4 w 236"/>
                <a:gd name="T61" fmla="*/ 14 h 138"/>
                <a:gd name="T62" fmla="*/ 9 w 236"/>
                <a:gd name="T63" fmla="*/ 6 h 138"/>
                <a:gd name="T64" fmla="*/ 17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79" name="Freeform 79">
              <a:extLst>
                <a:ext uri="{FF2B5EF4-FFF2-40B4-BE49-F238E27FC236}">
                  <a16:creationId xmlns:a16="http://schemas.microsoft.com/office/drawing/2014/main" id="{056F94C6-E226-DF48-8D2A-8FB502DF15E8}"/>
                </a:ext>
              </a:extLst>
            </p:cNvPr>
            <p:cNvSpPr>
              <a:spLocks/>
            </p:cNvSpPr>
            <p:nvPr/>
          </p:nvSpPr>
          <p:spPr bwMode="auto">
            <a:xfrm>
              <a:off x="4291" y="3370"/>
              <a:ext cx="112" cy="65"/>
            </a:xfrm>
            <a:custGeom>
              <a:avLst/>
              <a:gdLst>
                <a:gd name="T0" fmla="*/ 16 w 226"/>
                <a:gd name="T1" fmla="*/ 0 h 131"/>
                <a:gd name="T2" fmla="*/ 27 w 226"/>
                <a:gd name="T3" fmla="*/ 4 h 131"/>
                <a:gd name="T4" fmla="*/ 39 w 226"/>
                <a:gd name="T5" fmla="*/ 7 h 131"/>
                <a:gd name="T6" fmla="*/ 51 w 226"/>
                <a:gd name="T7" fmla="*/ 11 h 131"/>
                <a:gd name="T8" fmla="*/ 63 w 226"/>
                <a:gd name="T9" fmla="*/ 15 h 131"/>
                <a:gd name="T10" fmla="*/ 75 w 226"/>
                <a:gd name="T11" fmla="*/ 19 h 131"/>
                <a:gd name="T12" fmla="*/ 87 w 226"/>
                <a:gd name="T13" fmla="*/ 23 h 131"/>
                <a:gd name="T14" fmla="*/ 98 w 226"/>
                <a:gd name="T15" fmla="*/ 26 h 131"/>
                <a:gd name="T16" fmla="*/ 111 w 226"/>
                <a:gd name="T17" fmla="*/ 30 h 131"/>
                <a:gd name="T18" fmla="*/ 112 w 226"/>
                <a:gd name="T19" fmla="*/ 35 h 131"/>
                <a:gd name="T20" fmla="*/ 112 w 226"/>
                <a:gd name="T21" fmla="*/ 40 h 131"/>
                <a:gd name="T22" fmla="*/ 112 w 226"/>
                <a:gd name="T23" fmla="*/ 44 h 131"/>
                <a:gd name="T24" fmla="*/ 112 w 226"/>
                <a:gd name="T25" fmla="*/ 49 h 131"/>
                <a:gd name="T26" fmla="*/ 110 w 226"/>
                <a:gd name="T27" fmla="*/ 53 h 131"/>
                <a:gd name="T28" fmla="*/ 108 w 226"/>
                <a:gd name="T29" fmla="*/ 58 h 131"/>
                <a:gd name="T30" fmla="*/ 105 w 226"/>
                <a:gd name="T31" fmla="*/ 61 h 131"/>
                <a:gd name="T32" fmla="*/ 102 w 226"/>
                <a:gd name="T33" fmla="*/ 65 h 131"/>
                <a:gd name="T34" fmla="*/ 92 w 226"/>
                <a:gd name="T35" fmla="*/ 64 h 131"/>
                <a:gd name="T36" fmla="*/ 82 w 226"/>
                <a:gd name="T37" fmla="*/ 63 h 131"/>
                <a:gd name="T38" fmla="*/ 72 w 226"/>
                <a:gd name="T39" fmla="*/ 61 h 131"/>
                <a:gd name="T40" fmla="*/ 63 w 226"/>
                <a:gd name="T41" fmla="*/ 61 h 131"/>
                <a:gd name="T42" fmla="*/ 53 w 226"/>
                <a:gd name="T43" fmla="*/ 59 h 131"/>
                <a:gd name="T44" fmla="*/ 43 w 226"/>
                <a:gd name="T45" fmla="*/ 58 h 131"/>
                <a:gd name="T46" fmla="*/ 34 w 226"/>
                <a:gd name="T47" fmla="*/ 57 h 131"/>
                <a:gd name="T48" fmla="*/ 24 w 226"/>
                <a:gd name="T49" fmla="*/ 56 h 131"/>
                <a:gd name="T50" fmla="*/ 14 w 226"/>
                <a:gd name="T51" fmla="*/ 49 h 131"/>
                <a:gd name="T52" fmla="*/ 7 w 226"/>
                <a:gd name="T53" fmla="*/ 42 h 131"/>
                <a:gd name="T54" fmla="*/ 2 w 226"/>
                <a:gd name="T55" fmla="*/ 35 h 131"/>
                <a:gd name="T56" fmla="*/ 0 w 226"/>
                <a:gd name="T57" fmla="*/ 28 h 131"/>
                <a:gd name="T58" fmla="*/ 0 w 226"/>
                <a:gd name="T59" fmla="*/ 21 h 131"/>
                <a:gd name="T60" fmla="*/ 2 w 226"/>
                <a:gd name="T61" fmla="*/ 14 h 131"/>
                <a:gd name="T62" fmla="*/ 7 w 226"/>
                <a:gd name="T63" fmla="*/ 7 h 131"/>
                <a:gd name="T64" fmla="*/ 16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0" name="Freeform 80">
              <a:extLst>
                <a:ext uri="{FF2B5EF4-FFF2-40B4-BE49-F238E27FC236}">
                  <a16:creationId xmlns:a16="http://schemas.microsoft.com/office/drawing/2014/main" id="{76F6ADB0-4BE1-E042-892D-329051973DD5}"/>
                </a:ext>
              </a:extLst>
            </p:cNvPr>
            <p:cNvSpPr>
              <a:spLocks/>
            </p:cNvSpPr>
            <p:nvPr/>
          </p:nvSpPr>
          <p:spPr bwMode="auto">
            <a:xfrm>
              <a:off x="4293" y="3371"/>
              <a:ext cx="107" cy="62"/>
            </a:xfrm>
            <a:custGeom>
              <a:avLst/>
              <a:gdLst>
                <a:gd name="T0" fmla="*/ 15 w 215"/>
                <a:gd name="T1" fmla="*/ 0 h 124"/>
                <a:gd name="T2" fmla="*/ 26 w 215"/>
                <a:gd name="T3" fmla="*/ 3 h 124"/>
                <a:gd name="T4" fmla="*/ 38 w 215"/>
                <a:gd name="T5" fmla="*/ 7 h 124"/>
                <a:gd name="T6" fmla="*/ 49 w 215"/>
                <a:gd name="T7" fmla="*/ 11 h 124"/>
                <a:gd name="T8" fmla="*/ 61 w 215"/>
                <a:gd name="T9" fmla="*/ 15 h 124"/>
                <a:gd name="T10" fmla="*/ 72 w 215"/>
                <a:gd name="T11" fmla="*/ 18 h 124"/>
                <a:gd name="T12" fmla="*/ 83 w 215"/>
                <a:gd name="T13" fmla="*/ 22 h 124"/>
                <a:gd name="T14" fmla="*/ 95 w 215"/>
                <a:gd name="T15" fmla="*/ 25 h 124"/>
                <a:gd name="T16" fmla="*/ 106 w 215"/>
                <a:gd name="T17" fmla="*/ 29 h 124"/>
                <a:gd name="T18" fmla="*/ 106 w 215"/>
                <a:gd name="T19" fmla="*/ 33 h 124"/>
                <a:gd name="T20" fmla="*/ 107 w 215"/>
                <a:gd name="T21" fmla="*/ 38 h 124"/>
                <a:gd name="T22" fmla="*/ 106 w 215"/>
                <a:gd name="T23" fmla="*/ 43 h 124"/>
                <a:gd name="T24" fmla="*/ 106 w 215"/>
                <a:gd name="T25" fmla="*/ 48 h 124"/>
                <a:gd name="T26" fmla="*/ 105 w 215"/>
                <a:gd name="T27" fmla="*/ 52 h 124"/>
                <a:gd name="T28" fmla="*/ 103 w 215"/>
                <a:gd name="T29" fmla="*/ 55 h 124"/>
                <a:gd name="T30" fmla="*/ 101 w 215"/>
                <a:gd name="T31" fmla="*/ 58 h 124"/>
                <a:gd name="T32" fmla="*/ 99 w 215"/>
                <a:gd name="T33" fmla="*/ 62 h 124"/>
                <a:gd name="T34" fmla="*/ 89 w 215"/>
                <a:gd name="T35" fmla="*/ 61 h 124"/>
                <a:gd name="T36" fmla="*/ 80 w 215"/>
                <a:gd name="T37" fmla="*/ 60 h 124"/>
                <a:gd name="T38" fmla="*/ 70 w 215"/>
                <a:gd name="T39" fmla="*/ 59 h 124"/>
                <a:gd name="T40" fmla="*/ 61 w 215"/>
                <a:gd name="T41" fmla="*/ 58 h 124"/>
                <a:gd name="T42" fmla="*/ 51 w 215"/>
                <a:gd name="T43" fmla="*/ 57 h 124"/>
                <a:gd name="T44" fmla="*/ 42 w 215"/>
                <a:gd name="T45" fmla="*/ 57 h 124"/>
                <a:gd name="T46" fmla="*/ 32 w 215"/>
                <a:gd name="T47" fmla="*/ 55 h 124"/>
                <a:gd name="T48" fmla="*/ 24 w 215"/>
                <a:gd name="T49" fmla="*/ 55 h 124"/>
                <a:gd name="T50" fmla="*/ 14 w 215"/>
                <a:gd name="T51" fmla="*/ 47 h 124"/>
                <a:gd name="T52" fmla="*/ 7 w 215"/>
                <a:gd name="T53" fmla="*/ 41 h 124"/>
                <a:gd name="T54" fmla="*/ 2 w 215"/>
                <a:gd name="T55" fmla="*/ 33 h 124"/>
                <a:gd name="T56" fmla="*/ 0 w 215"/>
                <a:gd name="T57" fmla="*/ 27 h 124"/>
                <a:gd name="T58" fmla="*/ 0 w 215"/>
                <a:gd name="T59" fmla="*/ 20 h 124"/>
                <a:gd name="T60" fmla="*/ 2 w 215"/>
                <a:gd name="T61" fmla="*/ 13 h 124"/>
                <a:gd name="T62" fmla="*/ 7 w 215"/>
                <a:gd name="T63" fmla="*/ 6 h 124"/>
                <a:gd name="T64" fmla="*/ 15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1" name="Freeform 81">
              <a:extLst>
                <a:ext uri="{FF2B5EF4-FFF2-40B4-BE49-F238E27FC236}">
                  <a16:creationId xmlns:a16="http://schemas.microsoft.com/office/drawing/2014/main" id="{68E8F401-B963-7947-BD3E-AA3AB07F8693}"/>
                </a:ext>
              </a:extLst>
            </p:cNvPr>
            <p:cNvSpPr>
              <a:spLocks/>
            </p:cNvSpPr>
            <p:nvPr/>
          </p:nvSpPr>
          <p:spPr bwMode="auto">
            <a:xfrm>
              <a:off x="4296" y="3372"/>
              <a:ext cx="102" cy="60"/>
            </a:xfrm>
            <a:custGeom>
              <a:avLst/>
              <a:gdLst>
                <a:gd name="T0" fmla="*/ 14 w 205"/>
                <a:gd name="T1" fmla="*/ 0 h 119"/>
                <a:gd name="T2" fmla="*/ 25 w 205"/>
                <a:gd name="T3" fmla="*/ 4 h 119"/>
                <a:gd name="T4" fmla="*/ 36 w 205"/>
                <a:gd name="T5" fmla="*/ 7 h 119"/>
                <a:gd name="T6" fmla="*/ 46 w 205"/>
                <a:gd name="T7" fmla="*/ 10 h 119"/>
                <a:gd name="T8" fmla="*/ 58 w 205"/>
                <a:gd name="T9" fmla="*/ 14 h 119"/>
                <a:gd name="T10" fmla="*/ 68 w 205"/>
                <a:gd name="T11" fmla="*/ 17 h 119"/>
                <a:gd name="T12" fmla="*/ 79 w 205"/>
                <a:gd name="T13" fmla="*/ 21 h 119"/>
                <a:gd name="T14" fmla="*/ 90 w 205"/>
                <a:gd name="T15" fmla="*/ 25 h 119"/>
                <a:gd name="T16" fmla="*/ 101 w 205"/>
                <a:gd name="T17" fmla="*/ 29 h 119"/>
                <a:gd name="T18" fmla="*/ 101 w 205"/>
                <a:gd name="T19" fmla="*/ 33 h 119"/>
                <a:gd name="T20" fmla="*/ 102 w 205"/>
                <a:gd name="T21" fmla="*/ 37 h 119"/>
                <a:gd name="T22" fmla="*/ 101 w 205"/>
                <a:gd name="T23" fmla="*/ 42 h 119"/>
                <a:gd name="T24" fmla="*/ 101 w 205"/>
                <a:gd name="T25" fmla="*/ 46 h 119"/>
                <a:gd name="T26" fmla="*/ 100 w 205"/>
                <a:gd name="T27" fmla="*/ 50 h 119"/>
                <a:gd name="T28" fmla="*/ 98 w 205"/>
                <a:gd name="T29" fmla="*/ 54 h 119"/>
                <a:gd name="T30" fmla="*/ 96 w 205"/>
                <a:gd name="T31" fmla="*/ 57 h 119"/>
                <a:gd name="T32" fmla="*/ 93 w 205"/>
                <a:gd name="T33" fmla="*/ 60 h 119"/>
                <a:gd name="T34" fmla="*/ 84 w 205"/>
                <a:gd name="T35" fmla="*/ 58 h 119"/>
                <a:gd name="T36" fmla="*/ 75 w 205"/>
                <a:gd name="T37" fmla="*/ 57 h 119"/>
                <a:gd name="T38" fmla="*/ 66 w 205"/>
                <a:gd name="T39" fmla="*/ 56 h 119"/>
                <a:gd name="T40" fmla="*/ 58 w 205"/>
                <a:gd name="T41" fmla="*/ 56 h 119"/>
                <a:gd name="T42" fmla="*/ 48 w 205"/>
                <a:gd name="T43" fmla="*/ 54 h 119"/>
                <a:gd name="T44" fmla="*/ 39 w 205"/>
                <a:gd name="T45" fmla="*/ 54 h 119"/>
                <a:gd name="T46" fmla="*/ 31 w 205"/>
                <a:gd name="T47" fmla="*/ 52 h 119"/>
                <a:gd name="T48" fmla="*/ 22 w 205"/>
                <a:gd name="T49" fmla="*/ 52 h 119"/>
                <a:gd name="T50" fmla="*/ 12 w 205"/>
                <a:gd name="T51" fmla="*/ 45 h 119"/>
                <a:gd name="T52" fmla="*/ 6 w 205"/>
                <a:gd name="T53" fmla="*/ 39 h 119"/>
                <a:gd name="T54" fmla="*/ 2 w 205"/>
                <a:gd name="T55" fmla="*/ 32 h 119"/>
                <a:gd name="T56" fmla="*/ 0 w 205"/>
                <a:gd name="T57" fmla="*/ 26 h 119"/>
                <a:gd name="T58" fmla="*/ 0 w 205"/>
                <a:gd name="T59" fmla="*/ 19 h 119"/>
                <a:gd name="T60" fmla="*/ 2 w 205"/>
                <a:gd name="T61" fmla="*/ 13 h 119"/>
                <a:gd name="T62" fmla="*/ 7 w 205"/>
                <a:gd name="T63" fmla="*/ 6 h 119"/>
                <a:gd name="T64" fmla="*/ 14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2" name="Freeform 82">
              <a:extLst>
                <a:ext uri="{FF2B5EF4-FFF2-40B4-BE49-F238E27FC236}">
                  <a16:creationId xmlns:a16="http://schemas.microsoft.com/office/drawing/2014/main" id="{B6CE1E02-EC16-D046-8CEA-118F10607106}"/>
                </a:ext>
              </a:extLst>
            </p:cNvPr>
            <p:cNvSpPr>
              <a:spLocks/>
            </p:cNvSpPr>
            <p:nvPr/>
          </p:nvSpPr>
          <p:spPr bwMode="auto">
            <a:xfrm>
              <a:off x="4298" y="3373"/>
              <a:ext cx="97" cy="57"/>
            </a:xfrm>
            <a:custGeom>
              <a:avLst/>
              <a:gdLst>
                <a:gd name="T0" fmla="*/ 14 w 195"/>
                <a:gd name="T1" fmla="*/ 0 h 114"/>
                <a:gd name="T2" fmla="*/ 24 w 195"/>
                <a:gd name="T3" fmla="*/ 3 h 114"/>
                <a:gd name="T4" fmla="*/ 34 w 195"/>
                <a:gd name="T5" fmla="*/ 6 h 114"/>
                <a:gd name="T6" fmla="*/ 44 w 195"/>
                <a:gd name="T7" fmla="*/ 10 h 114"/>
                <a:gd name="T8" fmla="*/ 55 w 195"/>
                <a:gd name="T9" fmla="*/ 13 h 114"/>
                <a:gd name="T10" fmla="*/ 65 w 195"/>
                <a:gd name="T11" fmla="*/ 17 h 114"/>
                <a:gd name="T12" fmla="*/ 76 w 195"/>
                <a:gd name="T13" fmla="*/ 20 h 114"/>
                <a:gd name="T14" fmla="*/ 86 w 195"/>
                <a:gd name="T15" fmla="*/ 23 h 114"/>
                <a:gd name="T16" fmla="*/ 96 w 195"/>
                <a:gd name="T17" fmla="*/ 27 h 114"/>
                <a:gd name="T18" fmla="*/ 96 w 195"/>
                <a:gd name="T19" fmla="*/ 31 h 114"/>
                <a:gd name="T20" fmla="*/ 97 w 195"/>
                <a:gd name="T21" fmla="*/ 36 h 114"/>
                <a:gd name="T22" fmla="*/ 96 w 195"/>
                <a:gd name="T23" fmla="*/ 40 h 114"/>
                <a:gd name="T24" fmla="*/ 96 w 195"/>
                <a:gd name="T25" fmla="*/ 44 h 114"/>
                <a:gd name="T26" fmla="*/ 95 w 195"/>
                <a:gd name="T27" fmla="*/ 47 h 114"/>
                <a:gd name="T28" fmla="*/ 93 w 195"/>
                <a:gd name="T29" fmla="*/ 51 h 114"/>
                <a:gd name="T30" fmla="*/ 91 w 195"/>
                <a:gd name="T31" fmla="*/ 54 h 114"/>
                <a:gd name="T32" fmla="*/ 88 w 195"/>
                <a:gd name="T33" fmla="*/ 57 h 114"/>
                <a:gd name="T34" fmla="*/ 80 w 195"/>
                <a:gd name="T35" fmla="*/ 56 h 114"/>
                <a:gd name="T36" fmla="*/ 71 w 195"/>
                <a:gd name="T37" fmla="*/ 55 h 114"/>
                <a:gd name="T38" fmla="*/ 63 w 195"/>
                <a:gd name="T39" fmla="*/ 54 h 114"/>
                <a:gd name="T40" fmla="*/ 54 w 195"/>
                <a:gd name="T41" fmla="*/ 53 h 114"/>
                <a:gd name="T42" fmla="*/ 46 w 195"/>
                <a:gd name="T43" fmla="*/ 52 h 114"/>
                <a:gd name="T44" fmla="*/ 38 w 195"/>
                <a:gd name="T45" fmla="*/ 52 h 114"/>
                <a:gd name="T46" fmla="*/ 29 w 195"/>
                <a:gd name="T47" fmla="*/ 50 h 114"/>
                <a:gd name="T48" fmla="*/ 21 w 195"/>
                <a:gd name="T49" fmla="*/ 50 h 114"/>
                <a:gd name="T50" fmla="*/ 12 w 195"/>
                <a:gd name="T51" fmla="*/ 43 h 114"/>
                <a:gd name="T52" fmla="*/ 6 w 195"/>
                <a:gd name="T53" fmla="*/ 37 h 114"/>
                <a:gd name="T54" fmla="*/ 2 w 195"/>
                <a:gd name="T55" fmla="*/ 30 h 114"/>
                <a:gd name="T56" fmla="*/ 0 w 195"/>
                <a:gd name="T57" fmla="*/ 25 h 114"/>
                <a:gd name="T58" fmla="*/ 0 w 195"/>
                <a:gd name="T59" fmla="*/ 18 h 114"/>
                <a:gd name="T60" fmla="*/ 2 w 195"/>
                <a:gd name="T61" fmla="*/ 12 h 114"/>
                <a:gd name="T62" fmla="*/ 6 w 195"/>
                <a:gd name="T63" fmla="*/ 6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3" name="Freeform 83">
              <a:extLst>
                <a:ext uri="{FF2B5EF4-FFF2-40B4-BE49-F238E27FC236}">
                  <a16:creationId xmlns:a16="http://schemas.microsoft.com/office/drawing/2014/main" id="{E6F2BCC5-6239-0D46-A759-DE70584FD572}"/>
                </a:ext>
              </a:extLst>
            </p:cNvPr>
            <p:cNvSpPr>
              <a:spLocks/>
            </p:cNvSpPr>
            <p:nvPr/>
          </p:nvSpPr>
          <p:spPr bwMode="auto">
            <a:xfrm>
              <a:off x="4301" y="3375"/>
              <a:ext cx="92" cy="54"/>
            </a:xfrm>
            <a:custGeom>
              <a:avLst/>
              <a:gdLst>
                <a:gd name="T0" fmla="*/ 12 w 185"/>
                <a:gd name="T1" fmla="*/ 0 h 106"/>
                <a:gd name="T2" fmla="*/ 22 w 185"/>
                <a:gd name="T3" fmla="*/ 3 h 106"/>
                <a:gd name="T4" fmla="*/ 32 w 185"/>
                <a:gd name="T5" fmla="*/ 6 h 106"/>
                <a:gd name="T6" fmla="*/ 42 w 185"/>
                <a:gd name="T7" fmla="*/ 9 h 106"/>
                <a:gd name="T8" fmla="*/ 52 w 185"/>
                <a:gd name="T9" fmla="*/ 12 h 106"/>
                <a:gd name="T10" fmla="*/ 61 w 185"/>
                <a:gd name="T11" fmla="*/ 15 h 106"/>
                <a:gd name="T12" fmla="*/ 71 w 185"/>
                <a:gd name="T13" fmla="*/ 18 h 106"/>
                <a:gd name="T14" fmla="*/ 81 w 185"/>
                <a:gd name="T15" fmla="*/ 21 h 106"/>
                <a:gd name="T16" fmla="*/ 91 w 185"/>
                <a:gd name="T17" fmla="*/ 25 h 106"/>
                <a:gd name="T18" fmla="*/ 91 w 185"/>
                <a:gd name="T19" fmla="*/ 29 h 106"/>
                <a:gd name="T20" fmla="*/ 92 w 185"/>
                <a:gd name="T21" fmla="*/ 34 h 106"/>
                <a:gd name="T22" fmla="*/ 91 w 185"/>
                <a:gd name="T23" fmla="*/ 38 h 106"/>
                <a:gd name="T24" fmla="*/ 91 w 185"/>
                <a:gd name="T25" fmla="*/ 41 h 106"/>
                <a:gd name="T26" fmla="*/ 90 w 185"/>
                <a:gd name="T27" fmla="*/ 44 h 106"/>
                <a:gd name="T28" fmla="*/ 89 w 185"/>
                <a:gd name="T29" fmla="*/ 48 h 106"/>
                <a:gd name="T30" fmla="*/ 86 w 185"/>
                <a:gd name="T31" fmla="*/ 51 h 106"/>
                <a:gd name="T32" fmla="*/ 85 w 185"/>
                <a:gd name="T33" fmla="*/ 54 h 106"/>
                <a:gd name="T34" fmla="*/ 76 w 185"/>
                <a:gd name="T35" fmla="*/ 53 h 106"/>
                <a:gd name="T36" fmla="*/ 68 w 185"/>
                <a:gd name="T37" fmla="*/ 52 h 106"/>
                <a:gd name="T38" fmla="*/ 59 w 185"/>
                <a:gd name="T39" fmla="*/ 51 h 106"/>
                <a:gd name="T40" fmla="*/ 52 w 185"/>
                <a:gd name="T41" fmla="*/ 50 h 106"/>
                <a:gd name="T42" fmla="*/ 43 w 185"/>
                <a:gd name="T43" fmla="*/ 49 h 106"/>
                <a:gd name="T44" fmla="*/ 35 w 185"/>
                <a:gd name="T45" fmla="*/ 48 h 106"/>
                <a:gd name="T46" fmla="*/ 27 w 185"/>
                <a:gd name="T47" fmla="*/ 48 h 106"/>
                <a:gd name="T48" fmla="*/ 19 w 185"/>
                <a:gd name="T49" fmla="*/ 47 h 106"/>
                <a:gd name="T50" fmla="*/ 11 w 185"/>
                <a:gd name="T51" fmla="*/ 41 h 106"/>
                <a:gd name="T52" fmla="*/ 6 w 185"/>
                <a:gd name="T53" fmla="*/ 35 h 106"/>
                <a:gd name="T54" fmla="*/ 2 w 185"/>
                <a:gd name="T55" fmla="*/ 29 h 106"/>
                <a:gd name="T56" fmla="*/ 0 w 185"/>
                <a:gd name="T57" fmla="*/ 23 h 106"/>
                <a:gd name="T58" fmla="*/ 0 w 185"/>
                <a:gd name="T59" fmla="*/ 17 h 106"/>
                <a:gd name="T60" fmla="*/ 2 w 185"/>
                <a:gd name="T61" fmla="*/ 11 h 106"/>
                <a:gd name="T62" fmla="*/ 6 w 185"/>
                <a:gd name="T63" fmla="*/ 6 h 106"/>
                <a:gd name="T64" fmla="*/ 12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4" name="Freeform 84">
              <a:extLst>
                <a:ext uri="{FF2B5EF4-FFF2-40B4-BE49-F238E27FC236}">
                  <a16:creationId xmlns:a16="http://schemas.microsoft.com/office/drawing/2014/main" id="{20239B48-F820-D04B-BD2A-F306C5E90E1C}"/>
                </a:ext>
              </a:extLst>
            </p:cNvPr>
            <p:cNvSpPr>
              <a:spLocks/>
            </p:cNvSpPr>
            <p:nvPr/>
          </p:nvSpPr>
          <p:spPr bwMode="auto">
            <a:xfrm>
              <a:off x="4303" y="3377"/>
              <a:ext cx="87" cy="50"/>
            </a:xfrm>
            <a:custGeom>
              <a:avLst/>
              <a:gdLst>
                <a:gd name="T0" fmla="*/ 12 w 175"/>
                <a:gd name="T1" fmla="*/ 0 h 101"/>
                <a:gd name="T2" fmla="*/ 21 w 175"/>
                <a:gd name="T3" fmla="*/ 2 h 101"/>
                <a:gd name="T4" fmla="*/ 30 w 175"/>
                <a:gd name="T5" fmla="*/ 6 h 101"/>
                <a:gd name="T6" fmla="*/ 39 w 175"/>
                <a:gd name="T7" fmla="*/ 8 h 101"/>
                <a:gd name="T8" fmla="*/ 49 w 175"/>
                <a:gd name="T9" fmla="*/ 11 h 101"/>
                <a:gd name="T10" fmla="*/ 58 w 175"/>
                <a:gd name="T11" fmla="*/ 14 h 101"/>
                <a:gd name="T12" fmla="*/ 67 w 175"/>
                <a:gd name="T13" fmla="*/ 17 h 101"/>
                <a:gd name="T14" fmla="*/ 76 w 175"/>
                <a:gd name="T15" fmla="*/ 20 h 101"/>
                <a:gd name="T16" fmla="*/ 86 w 175"/>
                <a:gd name="T17" fmla="*/ 23 h 101"/>
                <a:gd name="T18" fmla="*/ 86 w 175"/>
                <a:gd name="T19" fmla="*/ 27 h 101"/>
                <a:gd name="T20" fmla="*/ 87 w 175"/>
                <a:gd name="T21" fmla="*/ 31 h 101"/>
                <a:gd name="T22" fmla="*/ 86 w 175"/>
                <a:gd name="T23" fmla="*/ 34 h 101"/>
                <a:gd name="T24" fmla="*/ 86 w 175"/>
                <a:gd name="T25" fmla="*/ 38 h 101"/>
                <a:gd name="T26" fmla="*/ 83 w 175"/>
                <a:gd name="T27" fmla="*/ 44 h 101"/>
                <a:gd name="T28" fmla="*/ 79 w 175"/>
                <a:gd name="T29" fmla="*/ 50 h 101"/>
                <a:gd name="T30" fmla="*/ 71 w 175"/>
                <a:gd name="T31" fmla="*/ 49 h 101"/>
                <a:gd name="T32" fmla="*/ 64 w 175"/>
                <a:gd name="T33" fmla="*/ 48 h 101"/>
                <a:gd name="T34" fmla="*/ 56 w 175"/>
                <a:gd name="T35" fmla="*/ 47 h 101"/>
                <a:gd name="T36" fmla="*/ 49 w 175"/>
                <a:gd name="T37" fmla="*/ 47 h 101"/>
                <a:gd name="T38" fmla="*/ 41 w 175"/>
                <a:gd name="T39" fmla="*/ 46 h 101"/>
                <a:gd name="T40" fmla="*/ 34 w 175"/>
                <a:gd name="T41" fmla="*/ 45 h 101"/>
                <a:gd name="T42" fmla="*/ 26 w 175"/>
                <a:gd name="T43" fmla="*/ 44 h 101"/>
                <a:gd name="T44" fmla="*/ 19 w 175"/>
                <a:gd name="T45" fmla="*/ 44 h 101"/>
                <a:gd name="T46" fmla="*/ 11 w 175"/>
                <a:gd name="T47" fmla="*/ 38 h 101"/>
                <a:gd name="T48" fmla="*/ 6 w 175"/>
                <a:gd name="T49" fmla="*/ 33 h 101"/>
                <a:gd name="T50" fmla="*/ 2 w 175"/>
                <a:gd name="T51" fmla="*/ 27 h 101"/>
                <a:gd name="T52" fmla="*/ 0 w 175"/>
                <a:gd name="T53" fmla="*/ 22 h 101"/>
                <a:gd name="T54" fmla="*/ 0 w 175"/>
                <a:gd name="T55" fmla="*/ 16 h 101"/>
                <a:gd name="T56" fmla="*/ 2 w 175"/>
                <a:gd name="T57" fmla="*/ 11 h 101"/>
                <a:gd name="T58" fmla="*/ 6 w 175"/>
                <a:gd name="T59" fmla="*/ 5 h 101"/>
                <a:gd name="T60" fmla="*/ 12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5" name="Freeform 85">
              <a:extLst>
                <a:ext uri="{FF2B5EF4-FFF2-40B4-BE49-F238E27FC236}">
                  <a16:creationId xmlns:a16="http://schemas.microsoft.com/office/drawing/2014/main" id="{6AA6F514-82C1-3E44-B906-C4647A120536}"/>
                </a:ext>
              </a:extLst>
            </p:cNvPr>
            <p:cNvSpPr>
              <a:spLocks/>
            </p:cNvSpPr>
            <p:nvPr/>
          </p:nvSpPr>
          <p:spPr bwMode="auto">
            <a:xfrm>
              <a:off x="4306" y="3378"/>
              <a:ext cx="81" cy="48"/>
            </a:xfrm>
            <a:custGeom>
              <a:avLst/>
              <a:gdLst>
                <a:gd name="T0" fmla="*/ 11 w 163"/>
                <a:gd name="T1" fmla="*/ 0 h 96"/>
                <a:gd name="T2" fmla="*/ 19 w 163"/>
                <a:gd name="T3" fmla="*/ 3 h 96"/>
                <a:gd name="T4" fmla="*/ 28 w 163"/>
                <a:gd name="T5" fmla="*/ 6 h 96"/>
                <a:gd name="T6" fmla="*/ 37 w 163"/>
                <a:gd name="T7" fmla="*/ 8 h 96"/>
                <a:gd name="T8" fmla="*/ 46 w 163"/>
                <a:gd name="T9" fmla="*/ 11 h 96"/>
                <a:gd name="T10" fmla="*/ 54 w 163"/>
                <a:gd name="T11" fmla="*/ 13 h 96"/>
                <a:gd name="T12" fmla="*/ 63 w 163"/>
                <a:gd name="T13" fmla="*/ 17 h 96"/>
                <a:gd name="T14" fmla="*/ 71 w 163"/>
                <a:gd name="T15" fmla="*/ 20 h 96"/>
                <a:gd name="T16" fmla="*/ 81 w 163"/>
                <a:gd name="T17" fmla="*/ 23 h 96"/>
                <a:gd name="T18" fmla="*/ 81 w 163"/>
                <a:gd name="T19" fmla="*/ 26 h 96"/>
                <a:gd name="T20" fmla="*/ 81 w 163"/>
                <a:gd name="T21" fmla="*/ 30 h 96"/>
                <a:gd name="T22" fmla="*/ 81 w 163"/>
                <a:gd name="T23" fmla="*/ 33 h 96"/>
                <a:gd name="T24" fmla="*/ 81 w 163"/>
                <a:gd name="T25" fmla="*/ 37 h 96"/>
                <a:gd name="T26" fmla="*/ 79 w 163"/>
                <a:gd name="T27" fmla="*/ 43 h 96"/>
                <a:gd name="T28" fmla="*/ 75 w 163"/>
                <a:gd name="T29" fmla="*/ 48 h 96"/>
                <a:gd name="T30" fmla="*/ 68 w 163"/>
                <a:gd name="T31" fmla="*/ 47 h 96"/>
                <a:gd name="T32" fmla="*/ 60 w 163"/>
                <a:gd name="T33" fmla="*/ 46 h 96"/>
                <a:gd name="T34" fmla="*/ 53 w 163"/>
                <a:gd name="T35" fmla="*/ 45 h 96"/>
                <a:gd name="T36" fmla="*/ 46 w 163"/>
                <a:gd name="T37" fmla="*/ 45 h 96"/>
                <a:gd name="T38" fmla="*/ 39 w 163"/>
                <a:gd name="T39" fmla="*/ 43 h 96"/>
                <a:gd name="T40" fmla="*/ 31 w 163"/>
                <a:gd name="T41" fmla="*/ 43 h 96"/>
                <a:gd name="T42" fmla="*/ 24 w 163"/>
                <a:gd name="T43" fmla="*/ 42 h 96"/>
                <a:gd name="T44" fmla="*/ 17 w 163"/>
                <a:gd name="T45" fmla="*/ 41 h 96"/>
                <a:gd name="T46" fmla="*/ 10 w 163"/>
                <a:gd name="T47" fmla="*/ 36 h 96"/>
                <a:gd name="T48" fmla="*/ 5 w 163"/>
                <a:gd name="T49" fmla="*/ 30 h 96"/>
                <a:gd name="T50" fmla="*/ 1 w 163"/>
                <a:gd name="T51" fmla="*/ 25 h 96"/>
                <a:gd name="T52" fmla="*/ 0 w 163"/>
                <a:gd name="T53" fmla="*/ 21 h 96"/>
                <a:gd name="T54" fmla="*/ 0 w 163"/>
                <a:gd name="T55" fmla="*/ 15 h 96"/>
                <a:gd name="T56" fmla="*/ 2 w 163"/>
                <a:gd name="T57" fmla="*/ 10 h 96"/>
                <a:gd name="T58" fmla="*/ 6 w 163"/>
                <a:gd name="T59" fmla="*/ 5 h 96"/>
                <a:gd name="T60" fmla="*/ 11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6" name="Freeform 86">
              <a:extLst>
                <a:ext uri="{FF2B5EF4-FFF2-40B4-BE49-F238E27FC236}">
                  <a16:creationId xmlns:a16="http://schemas.microsoft.com/office/drawing/2014/main" id="{97A4CE6B-C56F-F948-9546-60E4F3BE5C4C}"/>
                </a:ext>
              </a:extLst>
            </p:cNvPr>
            <p:cNvSpPr>
              <a:spLocks/>
            </p:cNvSpPr>
            <p:nvPr/>
          </p:nvSpPr>
          <p:spPr bwMode="auto">
            <a:xfrm>
              <a:off x="4291" y="3412"/>
              <a:ext cx="118" cy="69"/>
            </a:xfrm>
            <a:custGeom>
              <a:avLst/>
              <a:gdLst>
                <a:gd name="T0" fmla="*/ 16 w 235"/>
                <a:gd name="T1" fmla="*/ 0 h 136"/>
                <a:gd name="T2" fmla="*/ 28 w 235"/>
                <a:gd name="T3" fmla="*/ 4 h 136"/>
                <a:gd name="T4" fmla="*/ 41 w 235"/>
                <a:gd name="T5" fmla="*/ 8 h 136"/>
                <a:gd name="T6" fmla="*/ 53 w 235"/>
                <a:gd name="T7" fmla="*/ 12 h 136"/>
                <a:gd name="T8" fmla="*/ 66 w 235"/>
                <a:gd name="T9" fmla="*/ 16 h 136"/>
                <a:gd name="T10" fmla="*/ 79 w 235"/>
                <a:gd name="T11" fmla="*/ 20 h 136"/>
                <a:gd name="T12" fmla="*/ 92 w 235"/>
                <a:gd name="T13" fmla="*/ 24 h 136"/>
                <a:gd name="T14" fmla="*/ 104 w 235"/>
                <a:gd name="T15" fmla="*/ 28 h 136"/>
                <a:gd name="T16" fmla="*/ 117 w 235"/>
                <a:gd name="T17" fmla="*/ 32 h 136"/>
                <a:gd name="T18" fmla="*/ 117 w 235"/>
                <a:gd name="T19" fmla="*/ 38 h 136"/>
                <a:gd name="T20" fmla="*/ 118 w 235"/>
                <a:gd name="T21" fmla="*/ 43 h 136"/>
                <a:gd name="T22" fmla="*/ 117 w 235"/>
                <a:gd name="T23" fmla="*/ 48 h 136"/>
                <a:gd name="T24" fmla="*/ 117 w 235"/>
                <a:gd name="T25" fmla="*/ 53 h 136"/>
                <a:gd name="T26" fmla="*/ 115 w 235"/>
                <a:gd name="T27" fmla="*/ 57 h 136"/>
                <a:gd name="T28" fmla="*/ 113 w 235"/>
                <a:gd name="T29" fmla="*/ 61 h 136"/>
                <a:gd name="T30" fmla="*/ 110 w 235"/>
                <a:gd name="T31" fmla="*/ 65 h 136"/>
                <a:gd name="T32" fmla="*/ 108 w 235"/>
                <a:gd name="T33" fmla="*/ 69 h 136"/>
                <a:gd name="T34" fmla="*/ 97 w 235"/>
                <a:gd name="T35" fmla="*/ 68 h 136"/>
                <a:gd name="T36" fmla="*/ 87 w 235"/>
                <a:gd name="T37" fmla="*/ 66 h 136"/>
                <a:gd name="T38" fmla="*/ 77 w 235"/>
                <a:gd name="T39" fmla="*/ 65 h 136"/>
                <a:gd name="T40" fmla="*/ 66 w 235"/>
                <a:gd name="T41" fmla="*/ 64 h 136"/>
                <a:gd name="T42" fmla="*/ 56 w 235"/>
                <a:gd name="T43" fmla="*/ 63 h 136"/>
                <a:gd name="T44" fmla="*/ 46 w 235"/>
                <a:gd name="T45" fmla="*/ 62 h 136"/>
                <a:gd name="T46" fmla="*/ 36 w 235"/>
                <a:gd name="T47" fmla="*/ 61 h 136"/>
                <a:gd name="T48" fmla="*/ 26 w 235"/>
                <a:gd name="T49" fmla="*/ 60 h 136"/>
                <a:gd name="T50" fmla="*/ 15 w 235"/>
                <a:gd name="T51" fmla="*/ 53 h 136"/>
                <a:gd name="T52" fmla="*/ 8 w 235"/>
                <a:gd name="T53" fmla="*/ 45 h 136"/>
                <a:gd name="T54" fmla="*/ 2 w 235"/>
                <a:gd name="T55" fmla="*/ 38 h 136"/>
                <a:gd name="T56" fmla="*/ 0 w 235"/>
                <a:gd name="T57" fmla="*/ 30 h 136"/>
                <a:gd name="T58" fmla="*/ 0 w 235"/>
                <a:gd name="T59" fmla="*/ 22 h 136"/>
                <a:gd name="T60" fmla="*/ 3 w 235"/>
                <a:gd name="T61" fmla="*/ 14 h 136"/>
                <a:gd name="T62" fmla="*/ 8 w 235"/>
                <a:gd name="T63" fmla="*/ 7 h 136"/>
                <a:gd name="T64" fmla="*/ 16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7" name="Freeform 87">
              <a:extLst>
                <a:ext uri="{FF2B5EF4-FFF2-40B4-BE49-F238E27FC236}">
                  <a16:creationId xmlns:a16="http://schemas.microsoft.com/office/drawing/2014/main" id="{5E66B57A-E247-C14E-9E23-A79BE8432560}"/>
                </a:ext>
              </a:extLst>
            </p:cNvPr>
            <p:cNvSpPr>
              <a:spLocks/>
            </p:cNvSpPr>
            <p:nvPr/>
          </p:nvSpPr>
          <p:spPr bwMode="auto">
            <a:xfrm>
              <a:off x="4294" y="3414"/>
              <a:ext cx="110" cy="64"/>
            </a:xfrm>
            <a:custGeom>
              <a:avLst/>
              <a:gdLst>
                <a:gd name="T0" fmla="*/ 15 w 220"/>
                <a:gd name="T1" fmla="*/ 0 h 128"/>
                <a:gd name="T2" fmla="*/ 27 w 220"/>
                <a:gd name="T3" fmla="*/ 3 h 128"/>
                <a:gd name="T4" fmla="*/ 39 w 220"/>
                <a:gd name="T5" fmla="*/ 7 h 128"/>
                <a:gd name="T6" fmla="*/ 50 w 220"/>
                <a:gd name="T7" fmla="*/ 11 h 128"/>
                <a:gd name="T8" fmla="*/ 62 w 220"/>
                <a:gd name="T9" fmla="*/ 14 h 128"/>
                <a:gd name="T10" fmla="*/ 73 w 220"/>
                <a:gd name="T11" fmla="*/ 17 h 128"/>
                <a:gd name="T12" fmla="*/ 85 w 220"/>
                <a:gd name="T13" fmla="*/ 21 h 128"/>
                <a:gd name="T14" fmla="*/ 97 w 220"/>
                <a:gd name="T15" fmla="*/ 25 h 128"/>
                <a:gd name="T16" fmla="*/ 109 w 220"/>
                <a:gd name="T17" fmla="*/ 29 h 128"/>
                <a:gd name="T18" fmla="*/ 110 w 220"/>
                <a:gd name="T19" fmla="*/ 34 h 128"/>
                <a:gd name="T20" fmla="*/ 110 w 220"/>
                <a:gd name="T21" fmla="*/ 39 h 128"/>
                <a:gd name="T22" fmla="*/ 110 w 220"/>
                <a:gd name="T23" fmla="*/ 44 h 128"/>
                <a:gd name="T24" fmla="*/ 110 w 220"/>
                <a:gd name="T25" fmla="*/ 49 h 128"/>
                <a:gd name="T26" fmla="*/ 109 w 220"/>
                <a:gd name="T27" fmla="*/ 53 h 128"/>
                <a:gd name="T28" fmla="*/ 107 w 220"/>
                <a:gd name="T29" fmla="*/ 57 h 128"/>
                <a:gd name="T30" fmla="*/ 105 w 220"/>
                <a:gd name="T31" fmla="*/ 60 h 128"/>
                <a:gd name="T32" fmla="*/ 102 w 220"/>
                <a:gd name="T33" fmla="*/ 64 h 128"/>
                <a:gd name="T34" fmla="*/ 91 w 220"/>
                <a:gd name="T35" fmla="*/ 63 h 128"/>
                <a:gd name="T36" fmla="*/ 82 w 220"/>
                <a:gd name="T37" fmla="*/ 62 h 128"/>
                <a:gd name="T38" fmla="*/ 72 w 220"/>
                <a:gd name="T39" fmla="*/ 61 h 128"/>
                <a:gd name="T40" fmla="*/ 62 w 220"/>
                <a:gd name="T41" fmla="*/ 60 h 128"/>
                <a:gd name="T42" fmla="*/ 53 w 220"/>
                <a:gd name="T43" fmla="*/ 59 h 128"/>
                <a:gd name="T44" fmla="*/ 43 w 220"/>
                <a:gd name="T45" fmla="*/ 58 h 128"/>
                <a:gd name="T46" fmla="*/ 33 w 220"/>
                <a:gd name="T47" fmla="*/ 58 h 128"/>
                <a:gd name="T48" fmla="*/ 24 w 220"/>
                <a:gd name="T49" fmla="*/ 57 h 128"/>
                <a:gd name="T50" fmla="*/ 14 w 220"/>
                <a:gd name="T51" fmla="*/ 49 h 128"/>
                <a:gd name="T52" fmla="*/ 7 w 220"/>
                <a:gd name="T53" fmla="*/ 43 h 128"/>
                <a:gd name="T54" fmla="*/ 2 w 220"/>
                <a:gd name="T55" fmla="*/ 35 h 128"/>
                <a:gd name="T56" fmla="*/ 0 w 220"/>
                <a:gd name="T57" fmla="*/ 28 h 128"/>
                <a:gd name="T58" fmla="*/ 0 w 220"/>
                <a:gd name="T59" fmla="*/ 21 h 128"/>
                <a:gd name="T60" fmla="*/ 3 w 220"/>
                <a:gd name="T61" fmla="*/ 14 h 128"/>
                <a:gd name="T62" fmla="*/ 7 w 220"/>
                <a:gd name="T63" fmla="*/ 7 h 128"/>
                <a:gd name="T64" fmla="*/ 15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8" name="Freeform 88">
              <a:extLst>
                <a:ext uri="{FF2B5EF4-FFF2-40B4-BE49-F238E27FC236}">
                  <a16:creationId xmlns:a16="http://schemas.microsoft.com/office/drawing/2014/main" id="{C07B2CE2-3162-414D-AA0E-A2FBC6B7A78D}"/>
                </a:ext>
              </a:extLst>
            </p:cNvPr>
            <p:cNvSpPr>
              <a:spLocks/>
            </p:cNvSpPr>
            <p:nvPr/>
          </p:nvSpPr>
          <p:spPr bwMode="auto">
            <a:xfrm>
              <a:off x="4296" y="3416"/>
              <a:ext cx="104" cy="60"/>
            </a:xfrm>
            <a:custGeom>
              <a:avLst/>
              <a:gdLst>
                <a:gd name="T0" fmla="*/ 14 w 206"/>
                <a:gd name="T1" fmla="*/ 0 h 120"/>
                <a:gd name="T2" fmla="*/ 25 w 206"/>
                <a:gd name="T3" fmla="*/ 3 h 120"/>
                <a:gd name="T4" fmla="*/ 36 w 206"/>
                <a:gd name="T5" fmla="*/ 7 h 120"/>
                <a:gd name="T6" fmla="*/ 47 w 206"/>
                <a:gd name="T7" fmla="*/ 10 h 120"/>
                <a:gd name="T8" fmla="*/ 59 w 206"/>
                <a:gd name="T9" fmla="*/ 13 h 120"/>
                <a:gd name="T10" fmla="*/ 69 w 206"/>
                <a:gd name="T11" fmla="*/ 17 h 120"/>
                <a:gd name="T12" fmla="*/ 80 w 206"/>
                <a:gd name="T13" fmla="*/ 20 h 120"/>
                <a:gd name="T14" fmla="*/ 91 w 206"/>
                <a:gd name="T15" fmla="*/ 24 h 120"/>
                <a:gd name="T16" fmla="*/ 102 w 206"/>
                <a:gd name="T17" fmla="*/ 28 h 120"/>
                <a:gd name="T18" fmla="*/ 103 w 206"/>
                <a:gd name="T19" fmla="*/ 32 h 120"/>
                <a:gd name="T20" fmla="*/ 104 w 206"/>
                <a:gd name="T21" fmla="*/ 37 h 120"/>
                <a:gd name="T22" fmla="*/ 104 w 206"/>
                <a:gd name="T23" fmla="*/ 41 h 120"/>
                <a:gd name="T24" fmla="*/ 104 w 206"/>
                <a:gd name="T25" fmla="*/ 46 h 120"/>
                <a:gd name="T26" fmla="*/ 103 w 206"/>
                <a:gd name="T27" fmla="*/ 50 h 120"/>
                <a:gd name="T28" fmla="*/ 101 w 206"/>
                <a:gd name="T29" fmla="*/ 54 h 120"/>
                <a:gd name="T30" fmla="*/ 98 w 206"/>
                <a:gd name="T31" fmla="*/ 57 h 120"/>
                <a:gd name="T32" fmla="*/ 95 w 206"/>
                <a:gd name="T33" fmla="*/ 60 h 120"/>
                <a:gd name="T34" fmla="*/ 86 w 206"/>
                <a:gd name="T35" fmla="*/ 59 h 120"/>
                <a:gd name="T36" fmla="*/ 76 w 206"/>
                <a:gd name="T37" fmla="*/ 59 h 120"/>
                <a:gd name="T38" fmla="*/ 68 w 206"/>
                <a:gd name="T39" fmla="*/ 57 h 120"/>
                <a:gd name="T40" fmla="*/ 59 w 206"/>
                <a:gd name="T41" fmla="*/ 57 h 120"/>
                <a:gd name="T42" fmla="*/ 50 w 206"/>
                <a:gd name="T43" fmla="*/ 56 h 120"/>
                <a:gd name="T44" fmla="*/ 41 w 206"/>
                <a:gd name="T45" fmla="*/ 55 h 120"/>
                <a:gd name="T46" fmla="*/ 32 w 206"/>
                <a:gd name="T47" fmla="*/ 54 h 120"/>
                <a:gd name="T48" fmla="*/ 23 w 206"/>
                <a:gd name="T49" fmla="*/ 54 h 120"/>
                <a:gd name="T50" fmla="*/ 14 w 206"/>
                <a:gd name="T51" fmla="*/ 46 h 120"/>
                <a:gd name="T52" fmla="*/ 7 w 206"/>
                <a:gd name="T53" fmla="*/ 40 h 120"/>
                <a:gd name="T54" fmla="*/ 2 w 206"/>
                <a:gd name="T55" fmla="*/ 32 h 120"/>
                <a:gd name="T56" fmla="*/ 0 w 206"/>
                <a:gd name="T57" fmla="*/ 26 h 120"/>
                <a:gd name="T58" fmla="*/ 0 w 206"/>
                <a:gd name="T59" fmla="*/ 19 h 120"/>
                <a:gd name="T60" fmla="*/ 3 w 206"/>
                <a:gd name="T61" fmla="*/ 13 h 120"/>
                <a:gd name="T62" fmla="*/ 7 w 206"/>
                <a:gd name="T63" fmla="*/ 6 h 120"/>
                <a:gd name="T64" fmla="*/ 14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89" name="Freeform 89">
              <a:extLst>
                <a:ext uri="{FF2B5EF4-FFF2-40B4-BE49-F238E27FC236}">
                  <a16:creationId xmlns:a16="http://schemas.microsoft.com/office/drawing/2014/main" id="{01A212A9-2E02-BB42-99E1-D9BAF6178383}"/>
                </a:ext>
              </a:extLst>
            </p:cNvPr>
            <p:cNvSpPr>
              <a:spLocks/>
            </p:cNvSpPr>
            <p:nvPr/>
          </p:nvSpPr>
          <p:spPr bwMode="auto">
            <a:xfrm>
              <a:off x="4299" y="3417"/>
              <a:ext cx="98" cy="57"/>
            </a:xfrm>
            <a:custGeom>
              <a:avLst/>
              <a:gdLst>
                <a:gd name="T0" fmla="*/ 14 w 195"/>
                <a:gd name="T1" fmla="*/ 0 h 114"/>
                <a:gd name="T2" fmla="*/ 24 w 195"/>
                <a:gd name="T3" fmla="*/ 4 h 114"/>
                <a:gd name="T4" fmla="*/ 34 w 195"/>
                <a:gd name="T5" fmla="*/ 7 h 114"/>
                <a:gd name="T6" fmla="*/ 44 w 195"/>
                <a:gd name="T7" fmla="*/ 10 h 114"/>
                <a:gd name="T8" fmla="*/ 54 w 195"/>
                <a:gd name="T9" fmla="*/ 13 h 114"/>
                <a:gd name="T10" fmla="*/ 63 w 195"/>
                <a:gd name="T11" fmla="*/ 15 h 114"/>
                <a:gd name="T12" fmla="*/ 73 w 195"/>
                <a:gd name="T13" fmla="*/ 19 h 114"/>
                <a:gd name="T14" fmla="*/ 83 w 195"/>
                <a:gd name="T15" fmla="*/ 22 h 114"/>
                <a:gd name="T16" fmla="*/ 94 w 195"/>
                <a:gd name="T17" fmla="*/ 26 h 114"/>
                <a:gd name="T18" fmla="*/ 95 w 195"/>
                <a:gd name="T19" fmla="*/ 30 h 114"/>
                <a:gd name="T20" fmla="*/ 97 w 195"/>
                <a:gd name="T21" fmla="*/ 35 h 114"/>
                <a:gd name="T22" fmla="*/ 97 w 195"/>
                <a:gd name="T23" fmla="*/ 39 h 114"/>
                <a:gd name="T24" fmla="*/ 98 w 195"/>
                <a:gd name="T25" fmla="*/ 44 h 114"/>
                <a:gd name="T26" fmla="*/ 97 w 195"/>
                <a:gd name="T27" fmla="*/ 48 h 114"/>
                <a:gd name="T28" fmla="*/ 95 w 195"/>
                <a:gd name="T29" fmla="*/ 52 h 114"/>
                <a:gd name="T30" fmla="*/ 93 w 195"/>
                <a:gd name="T31" fmla="*/ 55 h 114"/>
                <a:gd name="T32" fmla="*/ 89 w 195"/>
                <a:gd name="T33" fmla="*/ 57 h 114"/>
                <a:gd name="T34" fmla="*/ 80 w 195"/>
                <a:gd name="T35" fmla="*/ 56 h 114"/>
                <a:gd name="T36" fmla="*/ 71 w 195"/>
                <a:gd name="T37" fmla="*/ 56 h 114"/>
                <a:gd name="T38" fmla="*/ 63 w 195"/>
                <a:gd name="T39" fmla="*/ 55 h 114"/>
                <a:gd name="T40" fmla="*/ 55 w 195"/>
                <a:gd name="T41" fmla="*/ 55 h 114"/>
                <a:gd name="T42" fmla="*/ 46 w 195"/>
                <a:gd name="T43" fmla="*/ 54 h 114"/>
                <a:gd name="T44" fmla="*/ 38 w 195"/>
                <a:gd name="T45" fmla="*/ 54 h 114"/>
                <a:gd name="T46" fmla="*/ 29 w 195"/>
                <a:gd name="T47" fmla="*/ 53 h 114"/>
                <a:gd name="T48" fmla="*/ 21 w 195"/>
                <a:gd name="T49" fmla="*/ 52 h 114"/>
                <a:gd name="T50" fmla="*/ 12 w 195"/>
                <a:gd name="T51" fmla="*/ 46 h 114"/>
                <a:gd name="T52" fmla="*/ 6 w 195"/>
                <a:gd name="T53" fmla="*/ 39 h 114"/>
                <a:gd name="T54" fmla="*/ 2 w 195"/>
                <a:gd name="T55" fmla="*/ 32 h 114"/>
                <a:gd name="T56" fmla="*/ 0 w 195"/>
                <a:gd name="T57" fmla="*/ 26 h 114"/>
                <a:gd name="T58" fmla="*/ 0 w 195"/>
                <a:gd name="T59" fmla="*/ 19 h 114"/>
                <a:gd name="T60" fmla="*/ 2 w 195"/>
                <a:gd name="T61" fmla="*/ 13 h 114"/>
                <a:gd name="T62" fmla="*/ 6 w 195"/>
                <a:gd name="T63" fmla="*/ 7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0" name="Freeform 90">
              <a:extLst>
                <a:ext uri="{FF2B5EF4-FFF2-40B4-BE49-F238E27FC236}">
                  <a16:creationId xmlns:a16="http://schemas.microsoft.com/office/drawing/2014/main" id="{89E47467-FC3D-C046-8992-2900076DB298}"/>
                </a:ext>
              </a:extLst>
            </p:cNvPr>
            <p:cNvSpPr>
              <a:spLocks/>
            </p:cNvSpPr>
            <p:nvPr/>
          </p:nvSpPr>
          <p:spPr bwMode="auto">
            <a:xfrm>
              <a:off x="4301" y="3419"/>
              <a:ext cx="92" cy="52"/>
            </a:xfrm>
            <a:custGeom>
              <a:avLst/>
              <a:gdLst>
                <a:gd name="T0" fmla="*/ 13 w 183"/>
                <a:gd name="T1" fmla="*/ 0 h 105"/>
                <a:gd name="T2" fmla="*/ 23 w 183"/>
                <a:gd name="T3" fmla="*/ 2 h 105"/>
                <a:gd name="T4" fmla="*/ 32 w 183"/>
                <a:gd name="T5" fmla="*/ 5 h 105"/>
                <a:gd name="T6" fmla="*/ 41 w 183"/>
                <a:gd name="T7" fmla="*/ 8 h 105"/>
                <a:gd name="T8" fmla="*/ 50 w 183"/>
                <a:gd name="T9" fmla="*/ 11 h 105"/>
                <a:gd name="T10" fmla="*/ 58 w 183"/>
                <a:gd name="T11" fmla="*/ 14 h 105"/>
                <a:gd name="T12" fmla="*/ 67 w 183"/>
                <a:gd name="T13" fmla="*/ 17 h 105"/>
                <a:gd name="T14" fmla="*/ 76 w 183"/>
                <a:gd name="T15" fmla="*/ 19 h 105"/>
                <a:gd name="T16" fmla="*/ 87 w 183"/>
                <a:gd name="T17" fmla="*/ 23 h 105"/>
                <a:gd name="T18" fmla="*/ 88 w 183"/>
                <a:gd name="T19" fmla="*/ 27 h 105"/>
                <a:gd name="T20" fmla="*/ 90 w 183"/>
                <a:gd name="T21" fmla="*/ 31 h 105"/>
                <a:gd name="T22" fmla="*/ 90 w 183"/>
                <a:gd name="T23" fmla="*/ 35 h 105"/>
                <a:gd name="T24" fmla="*/ 92 w 183"/>
                <a:gd name="T25" fmla="*/ 40 h 105"/>
                <a:gd name="T26" fmla="*/ 91 w 183"/>
                <a:gd name="T27" fmla="*/ 44 h 105"/>
                <a:gd name="T28" fmla="*/ 90 w 183"/>
                <a:gd name="T29" fmla="*/ 47 h 105"/>
                <a:gd name="T30" fmla="*/ 87 w 183"/>
                <a:gd name="T31" fmla="*/ 50 h 105"/>
                <a:gd name="T32" fmla="*/ 82 w 183"/>
                <a:gd name="T33" fmla="*/ 52 h 105"/>
                <a:gd name="T34" fmla="*/ 73 w 183"/>
                <a:gd name="T35" fmla="*/ 51 h 105"/>
                <a:gd name="T36" fmla="*/ 66 w 183"/>
                <a:gd name="T37" fmla="*/ 51 h 105"/>
                <a:gd name="T38" fmla="*/ 58 w 183"/>
                <a:gd name="T39" fmla="*/ 51 h 105"/>
                <a:gd name="T40" fmla="*/ 51 w 183"/>
                <a:gd name="T41" fmla="*/ 51 h 105"/>
                <a:gd name="T42" fmla="*/ 44 w 183"/>
                <a:gd name="T43" fmla="*/ 50 h 105"/>
                <a:gd name="T44" fmla="*/ 36 w 183"/>
                <a:gd name="T45" fmla="*/ 49 h 105"/>
                <a:gd name="T46" fmla="*/ 28 w 183"/>
                <a:gd name="T47" fmla="*/ 49 h 105"/>
                <a:gd name="T48" fmla="*/ 21 w 183"/>
                <a:gd name="T49" fmla="*/ 49 h 105"/>
                <a:gd name="T50" fmla="*/ 12 w 183"/>
                <a:gd name="T51" fmla="*/ 42 h 105"/>
                <a:gd name="T52" fmla="*/ 6 w 183"/>
                <a:gd name="T53" fmla="*/ 36 h 105"/>
                <a:gd name="T54" fmla="*/ 2 w 183"/>
                <a:gd name="T55" fmla="*/ 30 h 105"/>
                <a:gd name="T56" fmla="*/ 0 w 183"/>
                <a:gd name="T57" fmla="*/ 24 h 105"/>
                <a:gd name="T58" fmla="*/ 0 w 183"/>
                <a:gd name="T59" fmla="*/ 18 h 105"/>
                <a:gd name="T60" fmla="*/ 2 w 183"/>
                <a:gd name="T61" fmla="*/ 12 h 105"/>
                <a:gd name="T62" fmla="*/ 6 w 183"/>
                <a:gd name="T63" fmla="*/ 5 h 105"/>
                <a:gd name="T64" fmla="*/ 13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1" name="Freeform 91">
              <a:extLst>
                <a:ext uri="{FF2B5EF4-FFF2-40B4-BE49-F238E27FC236}">
                  <a16:creationId xmlns:a16="http://schemas.microsoft.com/office/drawing/2014/main" id="{195637C9-B18E-554E-B43B-C5404524ADED}"/>
                </a:ext>
              </a:extLst>
            </p:cNvPr>
            <p:cNvSpPr>
              <a:spLocks/>
            </p:cNvSpPr>
            <p:nvPr/>
          </p:nvSpPr>
          <p:spPr bwMode="auto">
            <a:xfrm>
              <a:off x="4303" y="3419"/>
              <a:ext cx="85" cy="50"/>
            </a:xfrm>
            <a:custGeom>
              <a:avLst/>
              <a:gdLst>
                <a:gd name="T0" fmla="*/ 13 w 171"/>
                <a:gd name="T1" fmla="*/ 0 h 101"/>
                <a:gd name="T2" fmla="*/ 22 w 171"/>
                <a:gd name="T3" fmla="*/ 2 h 101"/>
                <a:gd name="T4" fmla="*/ 31 w 171"/>
                <a:gd name="T5" fmla="*/ 6 h 101"/>
                <a:gd name="T6" fmla="*/ 38 w 171"/>
                <a:gd name="T7" fmla="*/ 8 h 101"/>
                <a:gd name="T8" fmla="*/ 46 w 171"/>
                <a:gd name="T9" fmla="*/ 11 h 101"/>
                <a:gd name="T10" fmla="*/ 53 w 171"/>
                <a:gd name="T11" fmla="*/ 12 h 101"/>
                <a:gd name="T12" fmla="*/ 61 w 171"/>
                <a:gd name="T13" fmla="*/ 16 h 101"/>
                <a:gd name="T14" fmla="*/ 69 w 171"/>
                <a:gd name="T15" fmla="*/ 18 h 101"/>
                <a:gd name="T16" fmla="*/ 79 w 171"/>
                <a:gd name="T17" fmla="*/ 22 h 101"/>
                <a:gd name="T18" fmla="*/ 80 w 171"/>
                <a:gd name="T19" fmla="*/ 25 h 101"/>
                <a:gd name="T20" fmla="*/ 82 w 171"/>
                <a:gd name="T21" fmla="*/ 29 h 101"/>
                <a:gd name="T22" fmla="*/ 83 w 171"/>
                <a:gd name="T23" fmla="*/ 33 h 101"/>
                <a:gd name="T24" fmla="*/ 85 w 171"/>
                <a:gd name="T25" fmla="*/ 38 h 101"/>
                <a:gd name="T26" fmla="*/ 85 w 171"/>
                <a:gd name="T27" fmla="*/ 41 h 101"/>
                <a:gd name="T28" fmla="*/ 83 w 171"/>
                <a:gd name="T29" fmla="*/ 45 h 101"/>
                <a:gd name="T30" fmla="*/ 81 w 171"/>
                <a:gd name="T31" fmla="*/ 48 h 101"/>
                <a:gd name="T32" fmla="*/ 76 w 171"/>
                <a:gd name="T33" fmla="*/ 50 h 101"/>
                <a:gd name="T34" fmla="*/ 68 w 171"/>
                <a:gd name="T35" fmla="*/ 49 h 101"/>
                <a:gd name="T36" fmla="*/ 61 w 171"/>
                <a:gd name="T37" fmla="*/ 48 h 101"/>
                <a:gd name="T38" fmla="*/ 54 w 171"/>
                <a:gd name="T39" fmla="*/ 48 h 101"/>
                <a:gd name="T40" fmla="*/ 48 w 171"/>
                <a:gd name="T41" fmla="*/ 48 h 101"/>
                <a:gd name="T42" fmla="*/ 41 w 171"/>
                <a:gd name="T43" fmla="*/ 48 h 101"/>
                <a:gd name="T44" fmla="*/ 34 w 171"/>
                <a:gd name="T45" fmla="*/ 48 h 101"/>
                <a:gd name="T46" fmla="*/ 28 w 171"/>
                <a:gd name="T47" fmla="*/ 48 h 101"/>
                <a:gd name="T48" fmla="*/ 21 w 171"/>
                <a:gd name="T49" fmla="*/ 48 h 101"/>
                <a:gd name="T50" fmla="*/ 12 w 171"/>
                <a:gd name="T51" fmla="*/ 41 h 101"/>
                <a:gd name="T52" fmla="*/ 6 w 171"/>
                <a:gd name="T53" fmla="*/ 35 h 101"/>
                <a:gd name="T54" fmla="*/ 2 w 171"/>
                <a:gd name="T55" fmla="*/ 29 h 101"/>
                <a:gd name="T56" fmla="*/ 0 w 171"/>
                <a:gd name="T57" fmla="*/ 24 h 101"/>
                <a:gd name="T58" fmla="*/ 0 w 171"/>
                <a:gd name="T59" fmla="*/ 18 h 101"/>
                <a:gd name="T60" fmla="*/ 2 w 171"/>
                <a:gd name="T61" fmla="*/ 12 h 101"/>
                <a:gd name="T62" fmla="*/ 6 w 171"/>
                <a:gd name="T63" fmla="*/ 6 h 101"/>
                <a:gd name="T64" fmla="*/ 13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2" name="Freeform 92">
              <a:extLst>
                <a:ext uri="{FF2B5EF4-FFF2-40B4-BE49-F238E27FC236}">
                  <a16:creationId xmlns:a16="http://schemas.microsoft.com/office/drawing/2014/main" id="{790FFF9E-4FEF-3240-8958-6C82F654627E}"/>
                </a:ext>
              </a:extLst>
            </p:cNvPr>
            <p:cNvSpPr>
              <a:spLocks/>
            </p:cNvSpPr>
            <p:nvPr/>
          </p:nvSpPr>
          <p:spPr bwMode="auto">
            <a:xfrm>
              <a:off x="4306" y="3421"/>
              <a:ext cx="79" cy="46"/>
            </a:xfrm>
            <a:custGeom>
              <a:avLst/>
              <a:gdLst>
                <a:gd name="T0" fmla="*/ 12 w 158"/>
                <a:gd name="T1" fmla="*/ 0 h 92"/>
                <a:gd name="T2" fmla="*/ 20 w 158"/>
                <a:gd name="T3" fmla="*/ 2 h 92"/>
                <a:gd name="T4" fmla="*/ 28 w 158"/>
                <a:gd name="T5" fmla="*/ 5 h 92"/>
                <a:gd name="T6" fmla="*/ 36 w 158"/>
                <a:gd name="T7" fmla="*/ 7 h 92"/>
                <a:gd name="T8" fmla="*/ 42 w 158"/>
                <a:gd name="T9" fmla="*/ 10 h 92"/>
                <a:gd name="T10" fmla="*/ 48 w 158"/>
                <a:gd name="T11" fmla="*/ 12 h 92"/>
                <a:gd name="T12" fmla="*/ 56 w 158"/>
                <a:gd name="T13" fmla="*/ 13 h 92"/>
                <a:gd name="T14" fmla="*/ 63 w 158"/>
                <a:gd name="T15" fmla="*/ 16 h 92"/>
                <a:gd name="T16" fmla="*/ 73 w 158"/>
                <a:gd name="T17" fmla="*/ 19 h 92"/>
                <a:gd name="T18" fmla="*/ 74 w 158"/>
                <a:gd name="T19" fmla="*/ 22 h 92"/>
                <a:gd name="T20" fmla="*/ 76 w 158"/>
                <a:gd name="T21" fmla="*/ 26 h 92"/>
                <a:gd name="T22" fmla="*/ 78 w 158"/>
                <a:gd name="T23" fmla="*/ 30 h 92"/>
                <a:gd name="T24" fmla="*/ 79 w 158"/>
                <a:gd name="T25" fmla="*/ 35 h 92"/>
                <a:gd name="T26" fmla="*/ 79 w 158"/>
                <a:gd name="T27" fmla="*/ 38 h 92"/>
                <a:gd name="T28" fmla="*/ 78 w 158"/>
                <a:gd name="T29" fmla="*/ 42 h 92"/>
                <a:gd name="T30" fmla="*/ 75 w 158"/>
                <a:gd name="T31" fmla="*/ 44 h 92"/>
                <a:gd name="T32" fmla="*/ 70 w 158"/>
                <a:gd name="T33" fmla="*/ 46 h 92"/>
                <a:gd name="T34" fmla="*/ 62 w 158"/>
                <a:gd name="T35" fmla="*/ 45 h 92"/>
                <a:gd name="T36" fmla="*/ 56 w 158"/>
                <a:gd name="T37" fmla="*/ 45 h 92"/>
                <a:gd name="T38" fmla="*/ 50 w 158"/>
                <a:gd name="T39" fmla="*/ 45 h 92"/>
                <a:gd name="T40" fmla="*/ 44 w 158"/>
                <a:gd name="T41" fmla="*/ 45 h 92"/>
                <a:gd name="T42" fmla="*/ 39 w 158"/>
                <a:gd name="T43" fmla="*/ 45 h 92"/>
                <a:gd name="T44" fmla="*/ 33 w 158"/>
                <a:gd name="T45" fmla="*/ 45 h 92"/>
                <a:gd name="T46" fmla="*/ 26 w 158"/>
                <a:gd name="T47" fmla="*/ 44 h 92"/>
                <a:gd name="T48" fmla="*/ 19 w 158"/>
                <a:gd name="T49" fmla="*/ 44 h 92"/>
                <a:gd name="T50" fmla="*/ 11 w 158"/>
                <a:gd name="T51" fmla="*/ 39 h 92"/>
                <a:gd name="T52" fmla="*/ 6 w 158"/>
                <a:gd name="T53" fmla="*/ 33 h 92"/>
                <a:gd name="T54" fmla="*/ 2 w 158"/>
                <a:gd name="T55" fmla="*/ 27 h 92"/>
                <a:gd name="T56" fmla="*/ 0 w 158"/>
                <a:gd name="T57" fmla="*/ 22 h 92"/>
                <a:gd name="T58" fmla="*/ 0 w 158"/>
                <a:gd name="T59" fmla="*/ 17 h 92"/>
                <a:gd name="T60" fmla="*/ 2 w 158"/>
                <a:gd name="T61" fmla="*/ 11 h 92"/>
                <a:gd name="T62" fmla="*/ 6 w 158"/>
                <a:gd name="T63" fmla="*/ 5 h 92"/>
                <a:gd name="T64" fmla="*/ 12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3" name="Freeform 93">
              <a:extLst>
                <a:ext uri="{FF2B5EF4-FFF2-40B4-BE49-F238E27FC236}">
                  <a16:creationId xmlns:a16="http://schemas.microsoft.com/office/drawing/2014/main" id="{EA35CE13-F276-DB4D-92BD-0E4956424B16}"/>
                </a:ext>
              </a:extLst>
            </p:cNvPr>
            <p:cNvSpPr>
              <a:spLocks/>
            </p:cNvSpPr>
            <p:nvPr/>
          </p:nvSpPr>
          <p:spPr bwMode="auto">
            <a:xfrm>
              <a:off x="4308" y="3423"/>
              <a:ext cx="73" cy="41"/>
            </a:xfrm>
            <a:custGeom>
              <a:avLst/>
              <a:gdLst>
                <a:gd name="T0" fmla="*/ 11 w 146"/>
                <a:gd name="T1" fmla="*/ 0 h 83"/>
                <a:gd name="T2" fmla="*/ 19 w 146"/>
                <a:gd name="T3" fmla="*/ 2 h 83"/>
                <a:gd name="T4" fmla="*/ 26 w 146"/>
                <a:gd name="T5" fmla="*/ 4 h 83"/>
                <a:gd name="T6" fmla="*/ 31 w 146"/>
                <a:gd name="T7" fmla="*/ 6 h 83"/>
                <a:gd name="T8" fmla="*/ 38 w 146"/>
                <a:gd name="T9" fmla="*/ 8 h 83"/>
                <a:gd name="T10" fmla="*/ 43 w 146"/>
                <a:gd name="T11" fmla="*/ 9 h 83"/>
                <a:gd name="T12" fmla="*/ 49 w 146"/>
                <a:gd name="T13" fmla="*/ 11 h 83"/>
                <a:gd name="T14" fmla="*/ 56 w 146"/>
                <a:gd name="T15" fmla="*/ 13 h 83"/>
                <a:gd name="T16" fmla="*/ 65 w 146"/>
                <a:gd name="T17" fmla="*/ 16 h 83"/>
                <a:gd name="T18" fmla="*/ 66 w 146"/>
                <a:gd name="T19" fmla="*/ 19 h 83"/>
                <a:gd name="T20" fmla="*/ 69 w 146"/>
                <a:gd name="T21" fmla="*/ 23 h 83"/>
                <a:gd name="T22" fmla="*/ 71 w 146"/>
                <a:gd name="T23" fmla="*/ 27 h 83"/>
                <a:gd name="T24" fmla="*/ 73 w 146"/>
                <a:gd name="T25" fmla="*/ 31 h 83"/>
                <a:gd name="T26" fmla="*/ 73 w 146"/>
                <a:gd name="T27" fmla="*/ 34 h 83"/>
                <a:gd name="T28" fmla="*/ 73 w 146"/>
                <a:gd name="T29" fmla="*/ 38 h 83"/>
                <a:gd name="T30" fmla="*/ 69 w 146"/>
                <a:gd name="T31" fmla="*/ 40 h 83"/>
                <a:gd name="T32" fmla="*/ 64 w 146"/>
                <a:gd name="T33" fmla="*/ 41 h 83"/>
                <a:gd name="T34" fmla="*/ 57 w 146"/>
                <a:gd name="T35" fmla="*/ 40 h 83"/>
                <a:gd name="T36" fmla="*/ 51 w 146"/>
                <a:gd name="T37" fmla="*/ 40 h 83"/>
                <a:gd name="T38" fmla="*/ 46 w 146"/>
                <a:gd name="T39" fmla="*/ 40 h 83"/>
                <a:gd name="T40" fmla="*/ 41 w 146"/>
                <a:gd name="T41" fmla="*/ 41 h 83"/>
                <a:gd name="T42" fmla="*/ 36 w 146"/>
                <a:gd name="T43" fmla="*/ 41 h 83"/>
                <a:gd name="T44" fmla="*/ 30 w 146"/>
                <a:gd name="T45" fmla="*/ 41 h 83"/>
                <a:gd name="T46" fmla="*/ 24 w 146"/>
                <a:gd name="T47" fmla="*/ 41 h 83"/>
                <a:gd name="T48" fmla="*/ 18 w 146"/>
                <a:gd name="T49" fmla="*/ 41 h 83"/>
                <a:gd name="T50" fmla="*/ 11 w 146"/>
                <a:gd name="T51" fmla="*/ 35 h 83"/>
                <a:gd name="T52" fmla="*/ 5 w 146"/>
                <a:gd name="T53" fmla="*/ 30 h 83"/>
                <a:gd name="T54" fmla="*/ 1 w 146"/>
                <a:gd name="T55" fmla="*/ 25 h 83"/>
                <a:gd name="T56" fmla="*/ 0 w 146"/>
                <a:gd name="T57" fmla="*/ 20 h 83"/>
                <a:gd name="T58" fmla="*/ 0 w 146"/>
                <a:gd name="T59" fmla="*/ 15 h 83"/>
                <a:gd name="T60" fmla="*/ 2 w 146"/>
                <a:gd name="T61" fmla="*/ 10 h 83"/>
                <a:gd name="T62" fmla="*/ 6 w 146"/>
                <a:gd name="T63" fmla="*/ 5 h 83"/>
                <a:gd name="T64" fmla="*/ 11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4" name="Freeform 94">
              <a:extLst>
                <a:ext uri="{FF2B5EF4-FFF2-40B4-BE49-F238E27FC236}">
                  <a16:creationId xmlns:a16="http://schemas.microsoft.com/office/drawing/2014/main" id="{3E5ABF7A-AEDC-A649-BAC2-12C11F98BC34}"/>
                </a:ext>
              </a:extLst>
            </p:cNvPr>
            <p:cNvSpPr>
              <a:spLocks/>
            </p:cNvSpPr>
            <p:nvPr/>
          </p:nvSpPr>
          <p:spPr bwMode="auto">
            <a:xfrm>
              <a:off x="4308" y="3324"/>
              <a:ext cx="117" cy="79"/>
            </a:xfrm>
            <a:custGeom>
              <a:avLst/>
              <a:gdLst>
                <a:gd name="T0" fmla="*/ 16 w 235"/>
                <a:gd name="T1" fmla="*/ 0 h 158"/>
                <a:gd name="T2" fmla="*/ 28 w 235"/>
                <a:gd name="T3" fmla="*/ 3 h 158"/>
                <a:gd name="T4" fmla="*/ 41 w 235"/>
                <a:gd name="T5" fmla="*/ 7 h 158"/>
                <a:gd name="T6" fmla="*/ 53 w 235"/>
                <a:gd name="T7" fmla="*/ 11 h 158"/>
                <a:gd name="T8" fmla="*/ 66 w 235"/>
                <a:gd name="T9" fmla="*/ 15 h 158"/>
                <a:gd name="T10" fmla="*/ 78 w 235"/>
                <a:gd name="T11" fmla="*/ 19 h 158"/>
                <a:gd name="T12" fmla="*/ 91 w 235"/>
                <a:gd name="T13" fmla="*/ 23 h 158"/>
                <a:gd name="T14" fmla="*/ 103 w 235"/>
                <a:gd name="T15" fmla="*/ 27 h 158"/>
                <a:gd name="T16" fmla="*/ 117 w 235"/>
                <a:gd name="T17" fmla="*/ 32 h 158"/>
                <a:gd name="T18" fmla="*/ 117 w 235"/>
                <a:gd name="T19" fmla="*/ 38 h 158"/>
                <a:gd name="T20" fmla="*/ 117 w 235"/>
                <a:gd name="T21" fmla="*/ 44 h 158"/>
                <a:gd name="T22" fmla="*/ 117 w 235"/>
                <a:gd name="T23" fmla="*/ 50 h 158"/>
                <a:gd name="T24" fmla="*/ 117 w 235"/>
                <a:gd name="T25" fmla="*/ 57 h 158"/>
                <a:gd name="T26" fmla="*/ 115 w 235"/>
                <a:gd name="T27" fmla="*/ 63 h 158"/>
                <a:gd name="T28" fmla="*/ 113 w 235"/>
                <a:gd name="T29" fmla="*/ 70 h 158"/>
                <a:gd name="T30" fmla="*/ 110 w 235"/>
                <a:gd name="T31" fmla="*/ 75 h 158"/>
                <a:gd name="T32" fmla="*/ 107 w 235"/>
                <a:gd name="T33" fmla="*/ 79 h 158"/>
                <a:gd name="T34" fmla="*/ 96 w 235"/>
                <a:gd name="T35" fmla="*/ 77 h 158"/>
                <a:gd name="T36" fmla="*/ 86 w 235"/>
                <a:gd name="T37" fmla="*/ 75 h 158"/>
                <a:gd name="T38" fmla="*/ 76 w 235"/>
                <a:gd name="T39" fmla="*/ 72 h 158"/>
                <a:gd name="T40" fmla="*/ 66 w 235"/>
                <a:gd name="T41" fmla="*/ 69 h 158"/>
                <a:gd name="T42" fmla="*/ 55 w 235"/>
                <a:gd name="T43" fmla="*/ 65 h 158"/>
                <a:gd name="T44" fmla="*/ 45 w 235"/>
                <a:gd name="T45" fmla="*/ 62 h 158"/>
                <a:gd name="T46" fmla="*/ 35 w 235"/>
                <a:gd name="T47" fmla="*/ 59 h 158"/>
                <a:gd name="T48" fmla="*/ 25 w 235"/>
                <a:gd name="T49" fmla="*/ 58 h 158"/>
                <a:gd name="T50" fmla="*/ 14 w 235"/>
                <a:gd name="T51" fmla="*/ 50 h 158"/>
                <a:gd name="T52" fmla="*/ 7 w 235"/>
                <a:gd name="T53" fmla="*/ 43 h 158"/>
                <a:gd name="T54" fmla="*/ 2 w 235"/>
                <a:gd name="T55" fmla="*/ 36 h 158"/>
                <a:gd name="T56" fmla="*/ 0 w 235"/>
                <a:gd name="T57" fmla="*/ 29 h 158"/>
                <a:gd name="T58" fmla="*/ 0 w 235"/>
                <a:gd name="T59" fmla="*/ 21 h 158"/>
                <a:gd name="T60" fmla="*/ 3 w 235"/>
                <a:gd name="T61" fmla="*/ 14 h 158"/>
                <a:gd name="T62" fmla="*/ 8 w 235"/>
                <a:gd name="T63" fmla="*/ 7 h 158"/>
                <a:gd name="T64" fmla="*/ 16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5" name="Freeform 95">
              <a:extLst>
                <a:ext uri="{FF2B5EF4-FFF2-40B4-BE49-F238E27FC236}">
                  <a16:creationId xmlns:a16="http://schemas.microsoft.com/office/drawing/2014/main" id="{E10BEC12-5EBD-3D48-8B9F-4B500C9C1A4D}"/>
                </a:ext>
              </a:extLst>
            </p:cNvPr>
            <p:cNvSpPr>
              <a:spLocks/>
            </p:cNvSpPr>
            <p:nvPr/>
          </p:nvSpPr>
          <p:spPr bwMode="auto">
            <a:xfrm>
              <a:off x="4311" y="3325"/>
              <a:ext cx="112" cy="75"/>
            </a:xfrm>
            <a:custGeom>
              <a:avLst/>
              <a:gdLst>
                <a:gd name="T0" fmla="*/ 16 w 225"/>
                <a:gd name="T1" fmla="*/ 0 h 151"/>
                <a:gd name="T2" fmla="*/ 27 w 225"/>
                <a:gd name="T3" fmla="*/ 4 h 151"/>
                <a:gd name="T4" fmla="*/ 39 w 225"/>
                <a:gd name="T5" fmla="*/ 7 h 151"/>
                <a:gd name="T6" fmla="*/ 51 w 225"/>
                <a:gd name="T7" fmla="*/ 11 h 151"/>
                <a:gd name="T8" fmla="*/ 63 w 225"/>
                <a:gd name="T9" fmla="*/ 16 h 151"/>
                <a:gd name="T10" fmla="*/ 75 w 225"/>
                <a:gd name="T11" fmla="*/ 19 h 151"/>
                <a:gd name="T12" fmla="*/ 87 w 225"/>
                <a:gd name="T13" fmla="*/ 23 h 151"/>
                <a:gd name="T14" fmla="*/ 99 w 225"/>
                <a:gd name="T15" fmla="*/ 27 h 151"/>
                <a:gd name="T16" fmla="*/ 112 w 225"/>
                <a:gd name="T17" fmla="*/ 31 h 151"/>
                <a:gd name="T18" fmla="*/ 112 w 225"/>
                <a:gd name="T19" fmla="*/ 36 h 151"/>
                <a:gd name="T20" fmla="*/ 112 w 225"/>
                <a:gd name="T21" fmla="*/ 42 h 151"/>
                <a:gd name="T22" fmla="*/ 112 w 225"/>
                <a:gd name="T23" fmla="*/ 48 h 151"/>
                <a:gd name="T24" fmla="*/ 112 w 225"/>
                <a:gd name="T25" fmla="*/ 55 h 151"/>
                <a:gd name="T26" fmla="*/ 110 w 225"/>
                <a:gd name="T27" fmla="*/ 61 h 151"/>
                <a:gd name="T28" fmla="*/ 108 w 225"/>
                <a:gd name="T29" fmla="*/ 66 h 151"/>
                <a:gd name="T30" fmla="*/ 105 w 225"/>
                <a:gd name="T31" fmla="*/ 71 h 151"/>
                <a:gd name="T32" fmla="*/ 103 w 225"/>
                <a:gd name="T33" fmla="*/ 75 h 151"/>
                <a:gd name="T34" fmla="*/ 92 w 225"/>
                <a:gd name="T35" fmla="*/ 73 h 151"/>
                <a:gd name="T36" fmla="*/ 82 w 225"/>
                <a:gd name="T37" fmla="*/ 71 h 151"/>
                <a:gd name="T38" fmla="*/ 72 w 225"/>
                <a:gd name="T39" fmla="*/ 68 h 151"/>
                <a:gd name="T40" fmla="*/ 63 w 225"/>
                <a:gd name="T41" fmla="*/ 66 h 151"/>
                <a:gd name="T42" fmla="*/ 53 w 225"/>
                <a:gd name="T43" fmla="*/ 63 h 151"/>
                <a:gd name="T44" fmla="*/ 43 w 225"/>
                <a:gd name="T45" fmla="*/ 60 h 151"/>
                <a:gd name="T46" fmla="*/ 34 w 225"/>
                <a:gd name="T47" fmla="*/ 58 h 151"/>
                <a:gd name="T48" fmla="*/ 24 w 225"/>
                <a:gd name="T49" fmla="*/ 57 h 151"/>
                <a:gd name="T50" fmla="*/ 14 w 225"/>
                <a:gd name="T51" fmla="*/ 49 h 151"/>
                <a:gd name="T52" fmla="*/ 7 w 225"/>
                <a:gd name="T53" fmla="*/ 42 h 151"/>
                <a:gd name="T54" fmla="*/ 2 w 225"/>
                <a:gd name="T55" fmla="*/ 35 h 151"/>
                <a:gd name="T56" fmla="*/ 0 w 225"/>
                <a:gd name="T57" fmla="*/ 28 h 151"/>
                <a:gd name="T58" fmla="*/ 0 w 225"/>
                <a:gd name="T59" fmla="*/ 21 h 151"/>
                <a:gd name="T60" fmla="*/ 2 w 225"/>
                <a:gd name="T61" fmla="*/ 14 h 151"/>
                <a:gd name="T62" fmla="*/ 7 w 225"/>
                <a:gd name="T63" fmla="*/ 7 h 151"/>
                <a:gd name="T64" fmla="*/ 16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6" name="Freeform 96">
              <a:extLst>
                <a:ext uri="{FF2B5EF4-FFF2-40B4-BE49-F238E27FC236}">
                  <a16:creationId xmlns:a16="http://schemas.microsoft.com/office/drawing/2014/main" id="{EFBC7AA0-A256-CD4A-B6D1-186C3415A0A9}"/>
                </a:ext>
              </a:extLst>
            </p:cNvPr>
            <p:cNvSpPr>
              <a:spLocks/>
            </p:cNvSpPr>
            <p:nvPr/>
          </p:nvSpPr>
          <p:spPr bwMode="auto">
            <a:xfrm>
              <a:off x="4313" y="3326"/>
              <a:ext cx="107" cy="71"/>
            </a:xfrm>
            <a:custGeom>
              <a:avLst/>
              <a:gdLst>
                <a:gd name="T0" fmla="*/ 15 w 215"/>
                <a:gd name="T1" fmla="*/ 0 h 142"/>
                <a:gd name="T2" fmla="*/ 26 w 215"/>
                <a:gd name="T3" fmla="*/ 3 h 142"/>
                <a:gd name="T4" fmla="*/ 38 w 215"/>
                <a:gd name="T5" fmla="*/ 7 h 142"/>
                <a:gd name="T6" fmla="*/ 49 w 215"/>
                <a:gd name="T7" fmla="*/ 10 h 142"/>
                <a:gd name="T8" fmla="*/ 60 w 215"/>
                <a:gd name="T9" fmla="*/ 14 h 142"/>
                <a:gd name="T10" fmla="*/ 71 w 215"/>
                <a:gd name="T11" fmla="*/ 18 h 142"/>
                <a:gd name="T12" fmla="*/ 83 w 215"/>
                <a:gd name="T13" fmla="*/ 22 h 142"/>
                <a:gd name="T14" fmla="*/ 95 w 215"/>
                <a:gd name="T15" fmla="*/ 25 h 142"/>
                <a:gd name="T16" fmla="*/ 107 w 215"/>
                <a:gd name="T17" fmla="*/ 29 h 142"/>
                <a:gd name="T18" fmla="*/ 107 w 215"/>
                <a:gd name="T19" fmla="*/ 35 h 142"/>
                <a:gd name="T20" fmla="*/ 107 w 215"/>
                <a:gd name="T21" fmla="*/ 40 h 142"/>
                <a:gd name="T22" fmla="*/ 107 w 215"/>
                <a:gd name="T23" fmla="*/ 45 h 142"/>
                <a:gd name="T24" fmla="*/ 107 w 215"/>
                <a:gd name="T25" fmla="*/ 52 h 142"/>
                <a:gd name="T26" fmla="*/ 105 w 215"/>
                <a:gd name="T27" fmla="*/ 57 h 142"/>
                <a:gd name="T28" fmla="*/ 103 w 215"/>
                <a:gd name="T29" fmla="*/ 62 h 142"/>
                <a:gd name="T30" fmla="*/ 100 w 215"/>
                <a:gd name="T31" fmla="*/ 67 h 142"/>
                <a:gd name="T32" fmla="*/ 98 w 215"/>
                <a:gd name="T33" fmla="*/ 71 h 142"/>
                <a:gd name="T34" fmla="*/ 88 w 215"/>
                <a:gd name="T35" fmla="*/ 69 h 142"/>
                <a:gd name="T36" fmla="*/ 79 w 215"/>
                <a:gd name="T37" fmla="*/ 67 h 142"/>
                <a:gd name="T38" fmla="*/ 70 w 215"/>
                <a:gd name="T39" fmla="*/ 65 h 142"/>
                <a:gd name="T40" fmla="*/ 60 w 215"/>
                <a:gd name="T41" fmla="*/ 62 h 142"/>
                <a:gd name="T42" fmla="*/ 51 w 215"/>
                <a:gd name="T43" fmla="*/ 59 h 142"/>
                <a:gd name="T44" fmla="*/ 41 w 215"/>
                <a:gd name="T45" fmla="*/ 57 h 142"/>
                <a:gd name="T46" fmla="*/ 32 w 215"/>
                <a:gd name="T47" fmla="*/ 55 h 142"/>
                <a:gd name="T48" fmla="*/ 23 w 215"/>
                <a:gd name="T49" fmla="*/ 54 h 142"/>
                <a:gd name="T50" fmla="*/ 13 w 215"/>
                <a:gd name="T51" fmla="*/ 47 h 142"/>
                <a:gd name="T52" fmla="*/ 6 w 215"/>
                <a:gd name="T53" fmla="*/ 40 h 142"/>
                <a:gd name="T54" fmla="*/ 2 w 215"/>
                <a:gd name="T55" fmla="*/ 33 h 142"/>
                <a:gd name="T56" fmla="*/ 0 w 215"/>
                <a:gd name="T57" fmla="*/ 27 h 142"/>
                <a:gd name="T58" fmla="*/ 0 w 215"/>
                <a:gd name="T59" fmla="*/ 20 h 142"/>
                <a:gd name="T60" fmla="*/ 2 w 215"/>
                <a:gd name="T61" fmla="*/ 13 h 142"/>
                <a:gd name="T62" fmla="*/ 7 w 215"/>
                <a:gd name="T63" fmla="*/ 6 h 142"/>
                <a:gd name="T64" fmla="*/ 15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7" name="Freeform 97">
              <a:extLst>
                <a:ext uri="{FF2B5EF4-FFF2-40B4-BE49-F238E27FC236}">
                  <a16:creationId xmlns:a16="http://schemas.microsoft.com/office/drawing/2014/main" id="{D3810E70-6990-5D47-82CB-7C259AA75484}"/>
                </a:ext>
              </a:extLst>
            </p:cNvPr>
            <p:cNvSpPr>
              <a:spLocks/>
            </p:cNvSpPr>
            <p:nvPr/>
          </p:nvSpPr>
          <p:spPr bwMode="auto">
            <a:xfrm>
              <a:off x="4315" y="3328"/>
              <a:ext cx="103" cy="66"/>
            </a:xfrm>
            <a:custGeom>
              <a:avLst/>
              <a:gdLst>
                <a:gd name="T0" fmla="*/ 15 w 206"/>
                <a:gd name="T1" fmla="*/ 0 h 130"/>
                <a:gd name="T2" fmla="*/ 26 w 206"/>
                <a:gd name="T3" fmla="*/ 3 h 130"/>
                <a:gd name="T4" fmla="*/ 37 w 206"/>
                <a:gd name="T5" fmla="*/ 6 h 130"/>
                <a:gd name="T6" fmla="*/ 47 w 206"/>
                <a:gd name="T7" fmla="*/ 10 h 130"/>
                <a:gd name="T8" fmla="*/ 58 w 206"/>
                <a:gd name="T9" fmla="*/ 13 h 130"/>
                <a:gd name="T10" fmla="*/ 69 w 206"/>
                <a:gd name="T11" fmla="*/ 16 h 130"/>
                <a:gd name="T12" fmla="*/ 80 w 206"/>
                <a:gd name="T13" fmla="*/ 20 h 130"/>
                <a:gd name="T14" fmla="*/ 91 w 206"/>
                <a:gd name="T15" fmla="*/ 24 h 130"/>
                <a:gd name="T16" fmla="*/ 102 w 206"/>
                <a:gd name="T17" fmla="*/ 28 h 130"/>
                <a:gd name="T18" fmla="*/ 103 w 206"/>
                <a:gd name="T19" fmla="*/ 33 h 130"/>
                <a:gd name="T20" fmla="*/ 103 w 206"/>
                <a:gd name="T21" fmla="*/ 38 h 130"/>
                <a:gd name="T22" fmla="*/ 103 w 206"/>
                <a:gd name="T23" fmla="*/ 43 h 130"/>
                <a:gd name="T24" fmla="*/ 103 w 206"/>
                <a:gd name="T25" fmla="*/ 49 h 130"/>
                <a:gd name="T26" fmla="*/ 101 w 206"/>
                <a:gd name="T27" fmla="*/ 53 h 130"/>
                <a:gd name="T28" fmla="*/ 99 w 206"/>
                <a:gd name="T29" fmla="*/ 58 h 130"/>
                <a:gd name="T30" fmla="*/ 97 w 206"/>
                <a:gd name="T31" fmla="*/ 62 h 130"/>
                <a:gd name="T32" fmla="*/ 94 w 206"/>
                <a:gd name="T33" fmla="*/ 66 h 130"/>
                <a:gd name="T34" fmla="*/ 85 w 206"/>
                <a:gd name="T35" fmla="*/ 64 h 130"/>
                <a:gd name="T36" fmla="*/ 76 w 206"/>
                <a:gd name="T37" fmla="*/ 63 h 130"/>
                <a:gd name="T38" fmla="*/ 67 w 206"/>
                <a:gd name="T39" fmla="*/ 61 h 130"/>
                <a:gd name="T40" fmla="*/ 58 w 206"/>
                <a:gd name="T41" fmla="*/ 59 h 130"/>
                <a:gd name="T42" fmla="*/ 49 w 206"/>
                <a:gd name="T43" fmla="*/ 56 h 130"/>
                <a:gd name="T44" fmla="*/ 40 w 206"/>
                <a:gd name="T45" fmla="*/ 54 h 130"/>
                <a:gd name="T46" fmla="*/ 31 w 206"/>
                <a:gd name="T47" fmla="*/ 53 h 130"/>
                <a:gd name="T48" fmla="*/ 23 w 206"/>
                <a:gd name="T49" fmla="*/ 52 h 130"/>
                <a:gd name="T50" fmla="*/ 13 w 206"/>
                <a:gd name="T51" fmla="*/ 45 h 130"/>
                <a:gd name="T52" fmla="*/ 6 w 206"/>
                <a:gd name="T53" fmla="*/ 39 h 130"/>
                <a:gd name="T54" fmla="*/ 2 w 206"/>
                <a:gd name="T55" fmla="*/ 31 h 130"/>
                <a:gd name="T56" fmla="*/ 0 w 206"/>
                <a:gd name="T57" fmla="*/ 26 h 130"/>
                <a:gd name="T58" fmla="*/ 0 w 206"/>
                <a:gd name="T59" fmla="*/ 19 h 130"/>
                <a:gd name="T60" fmla="*/ 3 w 206"/>
                <a:gd name="T61" fmla="*/ 13 h 130"/>
                <a:gd name="T62" fmla="*/ 7 w 206"/>
                <a:gd name="T63" fmla="*/ 6 h 130"/>
                <a:gd name="T64" fmla="*/ 15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8" name="Freeform 98">
              <a:extLst>
                <a:ext uri="{FF2B5EF4-FFF2-40B4-BE49-F238E27FC236}">
                  <a16:creationId xmlns:a16="http://schemas.microsoft.com/office/drawing/2014/main" id="{9A84BAB3-888E-984F-982E-BBB903B84EEB}"/>
                </a:ext>
              </a:extLst>
            </p:cNvPr>
            <p:cNvSpPr>
              <a:spLocks/>
            </p:cNvSpPr>
            <p:nvPr/>
          </p:nvSpPr>
          <p:spPr bwMode="auto">
            <a:xfrm>
              <a:off x="4318" y="3329"/>
              <a:ext cx="97" cy="62"/>
            </a:xfrm>
            <a:custGeom>
              <a:avLst/>
              <a:gdLst>
                <a:gd name="T0" fmla="*/ 14 w 196"/>
                <a:gd name="T1" fmla="*/ 0 h 124"/>
                <a:gd name="T2" fmla="*/ 24 w 196"/>
                <a:gd name="T3" fmla="*/ 3 h 124"/>
                <a:gd name="T4" fmla="*/ 34 w 196"/>
                <a:gd name="T5" fmla="*/ 7 h 124"/>
                <a:gd name="T6" fmla="*/ 44 w 196"/>
                <a:gd name="T7" fmla="*/ 10 h 124"/>
                <a:gd name="T8" fmla="*/ 55 w 196"/>
                <a:gd name="T9" fmla="*/ 13 h 124"/>
                <a:gd name="T10" fmla="*/ 65 w 196"/>
                <a:gd name="T11" fmla="*/ 17 h 124"/>
                <a:gd name="T12" fmla="*/ 75 w 196"/>
                <a:gd name="T13" fmla="*/ 20 h 124"/>
                <a:gd name="T14" fmla="*/ 85 w 196"/>
                <a:gd name="T15" fmla="*/ 23 h 124"/>
                <a:gd name="T16" fmla="*/ 96 w 196"/>
                <a:gd name="T17" fmla="*/ 27 h 124"/>
                <a:gd name="T18" fmla="*/ 97 w 196"/>
                <a:gd name="T19" fmla="*/ 31 h 124"/>
                <a:gd name="T20" fmla="*/ 97 w 196"/>
                <a:gd name="T21" fmla="*/ 37 h 124"/>
                <a:gd name="T22" fmla="*/ 97 w 196"/>
                <a:gd name="T23" fmla="*/ 42 h 124"/>
                <a:gd name="T24" fmla="*/ 97 w 196"/>
                <a:gd name="T25" fmla="*/ 47 h 124"/>
                <a:gd name="T26" fmla="*/ 95 w 196"/>
                <a:gd name="T27" fmla="*/ 51 h 124"/>
                <a:gd name="T28" fmla="*/ 93 w 196"/>
                <a:gd name="T29" fmla="*/ 55 h 124"/>
                <a:gd name="T30" fmla="*/ 91 w 196"/>
                <a:gd name="T31" fmla="*/ 59 h 124"/>
                <a:gd name="T32" fmla="*/ 88 w 196"/>
                <a:gd name="T33" fmla="*/ 62 h 124"/>
                <a:gd name="T34" fmla="*/ 80 w 196"/>
                <a:gd name="T35" fmla="*/ 60 h 124"/>
                <a:gd name="T36" fmla="*/ 71 w 196"/>
                <a:gd name="T37" fmla="*/ 59 h 124"/>
                <a:gd name="T38" fmla="*/ 62 w 196"/>
                <a:gd name="T39" fmla="*/ 57 h 124"/>
                <a:gd name="T40" fmla="*/ 54 w 196"/>
                <a:gd name="T41" fmla="*/ 55 h 124"/>
                <a:gd name="T42" fmla="*/ 46 w 196"/>
                <a:gd name="T43" fmla="*/ 53 h 124"/>
                <a:gd name="T44" fmla="*/ 37 w 196"/>
                <a:gd name="T45" fmla="*/ 52 h 124"/>
                <a:gd name="T46" fmla="*/ 29 w 196"/>
                <a:gd name="T47" fmla="*/ 50 h 124"/>
                <a:gd name="T48" fmla="*/ 21 w 196"/>
                <a:gd name="T49" fmla="*/ 49 h 124"/>
                <a:gd name="T50" fmla="*/ 12 w 196"/>
                <a:gd name="T51" fmla="*/ 43 h 124"/>
                <a:gd name="T52" fmla="*/ 5 w 196"/>
                <a:gd name="T53" fmla="*/ 37 h 124"/>
                <a:gd name="T54" fmla="*/ 2 w 196"/>
                <a:gd name="T55" fmla="*/ 30 h 124"/>
                <a:gd name="T56" fmla="*/ 0 w 196"/>
                <a:gd name="T57" fmla="*/ 25 h 124"/>
                <a:gd name="T58" fmla="*/ 0 w 196"/>
                <a:gd name="T59" fmla="*/ 18 h 124"/>
                <a:gd name="T60" fmla="*/ 2 w 196"/>
                <a:gd name="T61" fmla="*/ 12 h 124"/>
                <a:gd name="T62" fmla="*/ 6 w 196"/>
                <a:gd name="T63" fmla="*/ 6 h 124"/>
                <a:gd name="T64" fmla="*/ 14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99" name="Freeform 99">
              <a:extLst>
                <a:ext uri="{FF2B5EF4-FFF2-40B4-BE49-F238E27FC236}">
                  <a16:creationId xmlns:a16="http://schemas.microsoft.com/office/drawing/2014/main" id="{64E50465-ACAB-654A-A69F-204A661BE71D}"/>
                </a:ext>
              </a:extLst>
            </p:cNvPr>
            <p:cNvSpPr>
              <a:spLocks/>
            </p:cNvSpPr>
            <p:nvPr/>
          </p:nvSpPr>
          <p:spPr bwMode="auto">
            <a:xfrm>
              <a:off x="4320" y="3331"/>
              <a:ext cx="92" cy="56"/>
            </a:xfrm>
            <a:custGeom>
              <a:avLst/>
              <a:gdLst>
                <a:gd name="T0" fmla="*/ 13 w 185"/>
                <a:gd name="T1" fmla="*/ 0 h 113"/>
                <a:gd name="T2" fmla="*/ 22 w 185"/>
                <a:gd name="T3" fmla="*/ 2 h 113"/>
                <a:gd name="T4" fmla="*/ 32 w 185"/>
                <a:gd name="T5" fmla="*/ 5 h 113"/>
                <a:gd name="T6" fmla="*/ 42 w 185"/>
                <a:gd name="T7" fmla="*/ 8 h 113"/>
                <a:gd name="T8" fmla="*/ 52 w 185"/>
                <a:gd name="T9" fmla="*/ 12 h 113"/>
                <a:gd name="T10" fmla="*/ 61 w 185"/>
                <a:gd name="T11" fmla="*/ 15 h 113"/>
                <a:gd name="T12" fmla="*/ 71 w 185"/>
                <a:gd name="T13" fmla="*/ 18 h 113"/>
                <a:gd name="T14" fmla="*/ 81 w 185"/>
                <a:gd name="T15" fmla="*/ 21 h 113"/>
                <a:gd name="T16" fmla="*/ 91 w 185"/>
                <a:gd name="T17" fmla="*/ 25 h 113"/>
                <a:gd name="T18" fmla="*/ 91 w 185"/>
                <a:gd name="T19" fmla="*/ 28 h 113"/>
                <a:gd name="T20" fmla="*/ 92 w 185"/>
                <a:gd name="T21" fmla="*/ 33 h 113"/>
                <a:gd name="T22" fmla="*/ 91 w 185"/>
                <a:gd name="T23" fmla="*/ 37 h 113"/>
                <a:gd name="T24" fmla="*/ 91 w 185"/>
                <a:gd name="T25" fmla="*/ 42 h 113"/>
                <a:gd name="T26" fmla="*/ 90 w 185"/>
                <a:gd name="T27" fmla="*/ 45 h 113"/>
                <a:gd name="T28" fmla="*/ 88 w 185"/>
                <a:gd name="T29" fmla="*/ 49 h 113"/>
                <a:gd name="T30" fmla="*/ 86 w 185"/>
                <a:gd name="T31" fmla="*/ 52 h 113"/>
                <a:gd name="T32" fmla="*/ 84 w 185"/>
                <a:gd name="T33" fmla="*/ 56 h 113"/>
                <a:gd name="T34" fmla="*/ 76 w 185"/>
                <a:gd name="T35" fmla="*/ 55 h 113"/>
                <a:gd name="T36" fmla="*/ 68 w 185"/>
                <a:gd name="T37" fmla="*/ 54 h 113"/>
                <a:gd name="T38" fmla="*/ 59 w 185"/>
                <a:gd name="T39" fmla="*/ 52 h 113"/>
                <a:gd name="T40" fmla="*/ 52 w 185"/>
                <a:gd name="T41" fmla="*/ 51 h 113"/>
                <a:gd name="T42" fmla="*/ 44 w 185"/>
                <a:gd name="T43" fmla="*/ 49 h 113"/>
                <a:gd name="T44" fmla="*/ 36 w 185"/>
                <a:gd name="T45" fmla="*/ 48 h 113"/>
                <a:gd name="T46" fmla="*/ 27 w 185"/>
                <a:gd name="T47" fmla="*/ 47 h 113"/>
                <a:gd name="T48" fmla="*/ 20 w 185"/>
                <a:gd name="T49" fmla="*/ 46 h 113"/>
                <a:gd name="T50" fmla="*/ 12 w 185"/>
                <a:gd name="T51" fmla="*/ 40 h 113"/>
                <a:gd name="T52" fmla="*/ 5 w 185"/>
                <a:gd name="T53" fmla="*/ 34 h 113"/>
                <a:gd name="T54" fmla="*/ 2 w 185"/>
                <a:gd name="T55" fmla="*/ 28 h 113"/>
                <a:gd name="T56" fmla="*/ 0 w 185"/>
                <a:gd name="T57" fmla="*/ 22 h 113"/>
                <a:gd name="T58" fmla="*/ 0 w 185"/>
                <a:gd name="T59" fmla="*/ 17 h 113"/>
                <a:gd name="T60" fmla="*/ 2 w 185"/>
                <a:gd name="T61" fmla="*/ 11 h 113"/>
                <a:gd name="T62" fmla="*/ 6 w 185"/>
                <a:gd name="T63" fmla="*/ 5 h 113"/>
                <a:gd name="T64" fmla="*/ 13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0" name="Freeform 100">
              <a:extLst>
                <a:ext uri="{FF2B5EF4-FFF2-40B4-BE49-F238E27FC236}">
                  <a16:creationId xmlns:a16="http://schemas.microsoft.com/office/drawing/2014/main" id="{FABAE734-5793-394E-93DD-F8E9B93DD454}"/>
                </a:ext>
              </a:extLst>
            </p:cNvPr>
            <p:cNvSpPr>
              <a:spLocks/>
            </p:cNvSpPr>
            <p:nvPr/>
          </p:nvSpPr>
          <p:spPr bwMode="auto">
            <a:xfrm>
              <a:off x="4323" y="3332"/>
              <a:ext cx="87" cy="53"/>
            </a:xfrm>
            <a:custGeom>
              <a:avLst/>
              <a:gdLst>
                <a:gd name="T0" fmla="*/ 12 w 175"/>
                <a:gd name="T1" fmla="*/ 0 h 106"/>
                <a:gd name="T2" fmla="*/ 21 w 175"/>
                <a:gd name="T3" fmla="*/ 3 h 106"/>
                <a:gd name="T4" fmla="*/ 30 w 175"/>
                <a:gd name="T5" fmla="*/ 6 h 106"/>
                <a:gd name="T6" fmla="*/ 39 w 175"/>
                <a:gd name="T7" fmla="*/ 9 h 106"/>
                <a:gd name="T8" fmla="*/ 49 w 175"/>
                <a:gd name="T9" fmla="*/ 12 h 106"/>
                <a:gd name="T10" fmla="*/ 58 w 175"/>
                <a:gd name="T11" fmla="*/ 14 h 106"/>
                <a:gd name="T12" fmla="*/ 68 w 175"/>
                <a:gd name="T13" fmla="*/ 18 h 106"/>
                <a:gd name="T14" fmla="*/ 77 w 175"/>
                <a:gd name="T15" fmla="*/ 20 h 106"/>
                <a:gd name="T16" fmla="*/ 86 w 175"/>
                <a:gd name="T17" fmla="*/ 24 h 106"/>
                <a:gd name="T18" fmla="*/ 86 w 175"/>
                <a:gd name="T19" fmla="*/ 27 h 106"/>
                <a:gd name="T20" fmla="*/ 87 w 175"/>
                <a:gd name="T21" fmla="*/ 32 h 106"/>
                <a:gd name="T22" fmla="*/ 86 w 175"/>
                <a:gd name="T23" fmla="*/ 36 h 106"/>
                <a:gd name="T24" fmla="*/ 86 w 175"/>
                <a:gd name="T25" fmla="*/ 40 h 106"/>
                <a:gd name="T26" fmla="*/ 84 w 175"/>
                <a:gd name="T27" fmla="*/ 47 h 106"/>
                <a:gd name="T28" fmla="*/ 79 w 175"/>
                <a:gd name="T29" fmla="*/ 53 h 106"/>
                <a:gd name="T30" fmla="*/ 71 w 175"/>
                <a:gd name="T31" fmla="*/ 52 h 106"/>
                <a:gd name="T32" fmla="*/ 64 w 175"/>
                <a:gd name="T33" fmla="*/ 50 h 106"/>
                <a:gd name="T34" fmla="*/ 56 w 175"/>
                <a:gd name="T35" fmla="*/ 49 h 106"/>
                <a:gd name="T36" fmla="*/ 49 w 175"/>
                <a:gd name="T37" fmla="*/ 48 h 106"/>
                <a:gd name="T38" fmla="*/ 41 w 175"/>
                <a:gd name="T39" fmla="*/ 47 h 106"/>
                <a:gd name="T40" fmla="*/ 33 w 175"/>
                <a:gd name="T41" fmla="*/ 46 h 106"/>
                <a:gd name="T42" fmla="*/ 26 w 175"/>
                <a:gd name="T43" fmla="*/ 45 h 106"/>
                <a:gd name="T44" fmla="*/ 18 w 175"/>
                <a:gd name="T45" fmla="*/ 45 h 106"/>
                <a:gd name="T46" fmla="*/ 11 w 175"/>
                <a:gd name="T47" fmla="*/ 39 h 106"/>
                <a:gd name="T48" fmla="*/ 5 w 175"/>
                <a:gd name="T49" fmla="*/ 34 h 106"/>
                <a:gd name="T50" fmla="*/ 1 w 175"/>
                <a:gd name="T51" fmla="*/ 27 h 106"/>
                <a:gd name="T52" fmla="*/ 0 w 175"/>
                <a:gd name="T53" fmla="*/ 22 h 106"/>
                <a:gd name="T54" fmla="*/ 0 w 175"/>
                <a:gd name="T55" fmla="*/ 17 h 106"/>
                <a:gd name="T56" fmla="*/ 2 w 175"/>
                <a:gd name="T57" fmla="*/ 11 h 106"/>
                <a:gd name="T58" fmla="*/ 6 w 175"/>
                <a:gd name="T59" fmla="*/ 5 h 106"/>
                <a:gd name="T60" fmla="*/ 12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1" name="Freeform 101">
              <a:extLst>
                <a:ext uri="{FF2B5EF4-FFF2-40B4-BE49-F238E27FC236}">
                  <a16:creationId xmlns:a16="http://schemas.microsoft.com/office/drawing/2014/main" id="{BD7357ED-A11D-0844-9215-EDAD06537FB9}"/>
                </a:ext>
              </a:extLst>
            </p:cNvPr>
            <p:cNvSpPr>
              <a:spLocks/>
            </p:cNvSpPr>
            <p:nvPr/>
          </p:nvSpPr>
          <p:spPr bwMode="auto">
            <a:xfrm>
              <a:off x="4325" y="3334"/>
              <a:ext cx="82" cy="48"/>
            </a:xfrm>
            <a:custGeom>
              <a:avLst/>
              <a:gdLst>
                <a:gd name="T0" fmla="*/ 12 w 165"/>
                <a:gd name="T1" fmla="*/ 0 h 95"/>
                <a:gd name="T2" fmla="*/ 20 w 165"/>
                <a:gd name="T3" fmla="*/ 2 h 95"/>
                <a:gd name="T4" fmla="*/ 29 w 165"/>
                <a:gd name="T5" fmla="*/ 5 h 95"/>
                <a:gd name="T6" fmla="*/ 37 w 165"/>
                <a:gd name="T7" fmla="*/ 8 h 95"/>
                <a:gd name="T8" fmla="*/ 46 w 165"/>
                <a:gd name="T9" fmla="*/ 11 h 95"/>
                <a:gd name="T10" fmla="*/ 54 w 165"/>
                <a:gd name="T11" fmla="*/ 13 h 95"/>
                <a:gd name="T12" fmla="*/ 64 w 165"/>
                <a:gd name="T13" fmla="*/ 17 h 95"/>
                <a:gd name="T14" fmla="*/ 72 w 165"/>
                <a:gd name="T15" fmla="*/ 19 h 95"/>
                <a:gd name="T16" fmla="*/ 81 w 165"/>
                <a:gd name="T17" fmla="*/ 22 h 95"/>
                <a:gd name="T18" fmla="*/ 81 w 165"/>
                <a:gd name="T19" fmla="*/ 25 h 95"/>
                <a:gd name="T20" fmla="*/ 82 w 165"/>
                <a:gd name="T21" fmla="*/ 29 h 95"/>
                <a:gd name="T22" fmla="*/ 81 w 165"/>
                <a:gd name="T23" fmla="*/ 33 h 95"/>
                <a:gd name="T24" fmla="*/ 81 w 165"/>
                <a:gd name="T25" fmla="*/ 37 h 95"/>
                <a:gd name="T26" fmla="*/ 78 w 165"/>
                <a:gd name="T27" fmla="*/ 42 h 95"/>
                <a:gd name="T28" fmla="*/ 74 w 165"/>
                <a:gd name="T29" fmla="*/ 48 h 95"/>
                <a:gd name="T30" fmla="*/ 67 w 165"/>
                <a:gd name="T31" fmla="*/ 47 h 95"/>
                <a:gd name="T32" fmla="*/ 60 w 165"/>
                <a:gd name="T33" fmla="*/ 46 h 95"/>
                <a:gd name="T34" fmla="*/ 53 w 165"/>
                <a:gd name="T35" fmla="*/ 45 h 95"/>
                <a:gd name="T36" fmla="*/ 46 w 165"/>
                <a:gd name="T37" fmla="*/ 45 h 95"/>
                <a:gd name="T38" fmla="*/ 38 w 165"/>
                <a:gd name="T39" fmla="*/ 43 h 95"/>
                <a:gd name="T40" fmla="*/ 31 w 165"/>
                <a:gd name="T41" fmla="*/ 43 h 95"/>
                <a:gd name="T42" fmla="*/ 24 w 165"/>
                <a:gd name="T43" fmla="*/ 42 h 95"/>
                <a:gd name="T44" fmla="*/ 17 w 165"/>
                <a:gd name="T45" fmla="*/ 42 h 95"/>
                <a:gd name="T46" fmla="*/ 10 w 165"/>
                <a:gd name="T47" fmla="*/ 36 h 95"/>
                <a:gd name="T48" fmla="*/ 5 w 165"/>
                <a:gd name="T49" fmla="*/ 31 h 95"/>
                <a:gd name="T50" fmla="*/ 1 w 165"/>
                <a:gd name="T51" fmla="*/ 25 h 95"/>
                <a:gd name="T52" fmla="*/ 0 w 165"/>
                <a:gd name="T53" fmla="*/ 20 h 95"/>
                <a:gd name="T54" fmla="*/ 0 w 165"/>
                <a:gd name="T55" fmla="*/ 15 h 95"/>
                <a:gd name="T56" fmla="*/ 2 w 165"/>
                <a:gd name="T57" fmla="*/ 10 h 95"/>
                <a:gd name="T58" fmla="*/ 6 w 165"/>
                <a:gd name="T59" fmla="*/ 5 h 95"/>
                <a:gd name="T60" fmla="*/ 12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2" name="Freeform 102">
              <a:extLst>
                <a:ext uri="{FF2B5EF4-FFF2-40B4-BE49-F238E27FC236}">
                  <a16:creationId xmlns:a16="http://schemas.microsoft.com/office/drawing/2014/main" id="{1EA06525-9220-2141-BEB4-C922DF7828D8}"/>
                </a:ext>
              </a:extLst>
            </p:cNvPr>
            <p:cNvSpPr>
              <a:spLocks/>
            </p:cNvSpPr>
            <p:nvPr/>
          </p:nvSpPr>
          <p:spPr bwMode="auto">
            <a:xfrm>
              <a:off x="4255" y="2929"/>
              <a:ext cx="31" cy="37"/>
            </a:xfrm>
            <a:custGeom>
              <a:avLst/>
              <a:gdLst>
                <a:gd name="T0" fmla="*/ 16 w 61"/>
                <a:gd name="T1" fmla="*/ 0 h 73"/>
                <a:gd name="T2" fmla="*/ 21 w 61"/>
                <a:gd name="T3" fmla="*/ 2 h 73"/>
                <a:gd name="T4" fmla="*/ 26 w 61"/>
                <a:gd name="T5" fmla="*/ 6 h 73"/>
                <a:gd name="T6" fmla="*/ 27 w 61"/>
                <a:gd name="T7" fmla="*/ 8 h 73"/>
                <a:gd name="T8" fmla="*/ 29 w 61"/>
                <a:gd name="T9" fmla="*/ 11 h 73"/>
                <a:gd name="T10" fmla="*/ 30 w 61"/>
                <a:gd name="T11" fmla="*/ 15 h 73"/>
                <a:gd name="T12" fmla="*/ 31 w 61"/>
                <a:gd name="T13" fmla="*/ 19 h 73"/>
                <a:gd name="T14" fmla="*/ 30 w 61"/>
                <a:gd name="T15" fmla="*/ 22 h 73"/>
                <a:gd name="T16" fmla="*/ 29 w 61"/>
                <a:gd name="T17" fmla="*/ 26 h 73"/>
                <a:gd name="T18" fmla="*/ 27 w 61"/>
                <a:gd name="T19" fmla="*/ 28 h 73"/>
                <a:gd name="T20" fmla="*/ 26 w 61"/>
                <a:gd name="T21" fmla="*/ 31 h 73"/>
                <a:gd name="T22" fmla="*/ 21 w 61"/>
                <a:gd name="T23" fmla="*/ 35 h 73"/>
                <a:gd name="T24" fmla="*/ 16 w 61"/>
                <a:gd name="T25" fmla="*/ 37 h 73"/>
                <a:gd name="T26" fmla="*/ 9 w 61"/>
                <a:gd name="T27" fmla="*/ 35 h 73"/>
                <a:gd name="T28" fmla="*/ 5 w 61"/>
                <a:gd name="T29" fmla="*/ 31 h 73"/>
                <a:gd name="T30" fmla="*/ 2 w 61"/>
                <a:gd name="T31" fmla="*/ 28 h 73"/>
                <a:gd name="T32" fmla="*/ 1 w 61"/>
                <a:gd name="T33" fmla="*/ 26 h 73"/>
                <a:gd name="T34" fmla="*/ 0 w 61"/>
                <a:gd name="T35" fmla="*/ 22 h 73"/>
                <a:gd name="T36" fmla="*/ 0 w 61"/>
                <a:gd name="T37" fmla="*/ 19 h 73"/>
                <a:gd name="T38" fmla="*/ 0 w 61"/>
                <a:gd name="T39" fmla="*/ 15 h 73"/>
                <a:gd name="T40" fmla="*/ 1 w 61"/>
                <a:gd name="T41" fmla="*/ 11 h 73"/>
                <a:gd name="T42" fmla="*/ 2 w 61"/>
                <a:gd name="T43" fmla="*/ 8 h 73"/>
                <a:gd name="T44" fmla="*/ 5 w 61"/>
                <a:gd name="T45" fmla="*/ 6 h 73"/>
                <a:gd name="T46" fmla="*/ 9 w 61"/>
                <a:gd name="T47" fmla="*/ 2 h 73"/>
                <a:gd name="T48" fmla="*/ 16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3" name="Freeform 103">
              <a:extLst>
                <a:ext uri="{FF2B5EF4-FFF2-40B4-BE49-F238E27FC236}">
                  <a16:creationId xmlns:a16="http://schemas.microsoft.com/office/drawing/2014/main" id="{154FC920-31EC-0942-8746-0B355EC95E6B}"/>
                </a:ext>
              </a:extLst>
            </p:cNvPr>
            <p:cNvSpPr>
              <a:spLocks/>
            </p:cNvSpPr>
            <p:nvPr/>
          </p:nvSpPr>
          <p:spPr bwMode="auto">
            <a:xfrm>
              <a:off x="4120" y="2873"/>
              <a:ext cx="32" cy="37"/>
            </a:xfrm>
            <a:custGeom>
              <a:avLst/>
              <a:gdLst>
                <a:gd name="T0" fmla="*/ 17 w 64"/>
                <a:gd name="T1" fmla="*/ 0 h 74"/>
                <a:gd name="T2" fmla="*/ 22 w 64"/>
                <a:gd name="T3" fmla="*/ 1 h 74"/>
                <a:gd name="T4" fmla="*/ 27 w 64"/>
                <a:gd name="T5" fmla="*/ 5 h 74"/>
                <a:gd name="T6" fmla="*/ 28 w 64"/>
                <a:gd name="T7" fmla="*/ 7 h 74"/>
                <a:gd name="T8" fmla="*/ 30 w 64"/>
                <a:gd name="T9" fmla="*/ 10 h 74"/>
                <a:gd name="T10" fmla="*/ 31 w 64"/>
                <a:gd name="T11" fmla="*/ 14 h 74"/>
                <a:gd name="T12" fmla="*/ 32 w 64"/>
                <a:gd name="T13" fmla="*/ 19 h 74"/>
                <a:gd name="T14" fmla="*/ 30 w 64"/>
                <a:gd name="T15" fmla="*/ 25 h 74"/>
                <a:gd name="T16" fmla="*/ 27 w 64"/>
                <a:gd name="T17" fmla="*/ 31 h 74"/>
                <a:gd name="T18" fmla="*/ 22 w 64"/>
                <a:gd name="T19" fmla="*/ 35 h 74"/>
                <a:gd name="T20" fmla="*/ 17 w 64"/>
                <a:gd name="T21" fmla="*/ 37 h 74"/>
                <a:gd name="T22" fmla="*/ 10 w 64"/>
                <a:gd name="T23" fmla="*/ 35 h 74"/>
                <a:gd name="T24" fmla="*/ 5 w 64"/>
                <a:gd name="T25" fmla="*/ 31 h 74"/>
                <a:gd name="T26" fmla="*/ 1 w 64"/>
                <a:gd name="T27" fmla="*/ 25 h 74"/>
                <a:gd name="T28" fmla="*/ 0 w 64"/>
                <a:gd name="T29" fmla="*/ 19 h 74"/>
                <a:gd name="T30" fmla="*/ 0 w 64"/>
                <a:gd name="T31" fmla="*/ 14 h 74"/>
                <a:gd name="T32" fmla="*/ 1 w 64"/>
                <a:gd name="T33" fmla="*/ 10 h 74"/>
                <a:gd name="T34" fmla="*/ 2 w 64"/>
                <a:gd name="T35" fmla="*/ 7 h 74"/>
                <a:gd name="T36" fmla="*/ 5 w 64"/>
                <a:gd name="T37" fmla="*/ 5 h 74"/>
                <a:gd name="T38" fmla="*/ 10 w 64"/>
                <a:gd name="T39" fmla="*/ 1 h 74"/>
                <a:gd name="T40" fmla="*/ 17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4" name="Freeform 104">
              <a:extLst>
                <a:ext uri="{FF2B5EF4-FFF2-40B4-BE49-F238E27FC236}">
                  <a16:creationId xmlns:a16="http://schemas.microsoft.com/office/drawing/2014/main" id="{40002EB9-028A-CF45-89ED-441A5B7A3E48}"/>
                </a:ext>
              </a:extLst>
            </p:cNvPr>
            <p:cNvSpPr>
              <a:spLocks/>
            </p:cNvSpPr>
            <p:nvPr/>
          </p:nvSpPr>
          <p:spPr bwMode="auto">
            <a:xfrm>
              <a:off x="4176" y="3677"/>
              <a:ext cx="39" cy="27"/>
            </a:xfrm>
            <a:custGeom>
              <a:avLst/>
              <a:gdLst>
                <a:gd name="T0" fmla="*/ 24 w 79"/>
                <a:gd name="T1" fmla="*/ 3 h 56"/>
                <a:gd name="T2" fmla="*/ 27 w 79"/>
                <a:gd name="T3" fmla="*/ 4 h 56"/>
                <a:gd name="T4" fmla="*/ 31 w 79"/>
                <a:gd name="T5" fmla="*/ 6 h 56"/>
                <a:gd name="T6" fmla="*/ 33 w 79"/>
                <a:gd name="T7" fmla="*/ 8 h 56"/>
                <a:gd name="T8" fmla="*/ 36 w 79"/>
                <a:gd name="T9" fmla="*/ 11 h 56"/>
                <a:gd name="T10" fmla="*/ 39 w 79"/>
                <a:gd name="T11" fmla="*/ 16 h 56"/>
                <a:gd name="T12" fmla="*/ 39 w 79"/>
                <a:gd name="T13" fmla="*/ 21 h 56"/>
                <a:gd name="T14" fmla="*/ 35 w 79"/>
                <a:gd name="T15" fmla="*/ 25 h 56"/>
                <a:gd name="T16" fmla="*/ 30 w 79"/>
                <a:gd name="T17" fmla="*/ 27 h 56"/>
                <a:gd name="T18" fmla="*/ 27 w 79"/>
                <a:gd name="T19" fmla="*/ 27 h 56"/>
                <a:gd name="T20" fmla="*/ 23 w 79"/>
                <a:gd name="T21" fmla="*/ 27 h 56"/>
                <a:gd name="T22" fmla="*/ 19 w 79"/>
                <a:gd name="T23" fmla="*/ 26 h 56"/>
                <a:gd name="T24" fmla="*/ 16 w 79"/>
                <a:gd name="T25" fmla="*/ 26 h 56"/>
                <a:gd name="T26" fmla="*/ 12 w 79"/>
                <a:gd name="T27" fmla="*/ 23 h 56"/>
                <a:gd name="T28" fmla="*/ 8 w 79"/>
                <a:gd name="T29" fmla="*/ 21 h 56"/>
                <a:gd name="T30" fmla="*/ 5 w 79"/>
                <a:gd name="T31" fmla="*/ 19 h 56"/>
                <a:gd name="T32" fmla="*/ 3 w 79"/>
                <a:gd name="T33" fmla="*/ 17 h 56"/>
                <a:gd name="T34" fmla="*/ 0 w 79"/>
                <a:gd name="T35" fmla="*/ 12 h 56"/>
                <a:gd name="T36" fmla="*/ 0 w 79"/>
                <a:gd name="T37" fmla="*/ 7 h 56"/>
                <a:gd name="T38" fmla="*/ 3 w 79"/>
                <a:gd name="T39" fmla="*/ 3 h 56"/>
                <a:gd name="T40" fmla="*/ 8 w 79"/>
                <a:gd name="T41" fmla="*/ 1 h 56"/>
                <a:gd name="T42" fmla="*/ 12 w 79"/>
                <a:gd name="T43" fmla="*/ 0 h 56"/>
                <a:gd name="T44" fmla="*/ 15 w 79"/>
                <a:gd name="T45" fmla="*/ 1 h 56"/>
                <a:gd name="T46" fmla="*/ 20 w 79"/>
                <a:gd name="T47" fmla="*/ 1 h 56"/>
                <a:gd name="T48" fmla="*/ 24 w 79"/>
                <a:gd name="T49" fmla="*/ 3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105" name="Freeform 105">
              <a:extLst>
                <a:ext uri="{FF2B5EF4-FFF2-40B4-BE49-F238E27FC236}">
                  <a16:creationId xmlns:a16="http://schemas.microsoft.com/office/drawing/2014/main" id="{62B99773-ED76-E941-9D23-2E3E47137F19}"/>
                </a:ext>
              </a:extLst>
            </p:cNvPr>
            <p:cNvSpPr>
              <a:spLocks/>
            </p:cNvSpPr>
            <p:nvPr/>
          </p:nvSpPr>
          <p:spPr bwMode="auto">
            <a:xfrm>
              <a:off x="4672" y="3921"/>
              <a:ext cx="38" cy="30"/>
            </a:xfrm>
            <a:custGeom>
              <a:avLst/>
              <a:gdLst>
                <a:gd name="T0" fmla="*/ 13 w 75"/>
                <a:gd name="T1" fmla="*/ 4 h 59"/>
                <a:gd name="T2" fmla="*/ 17 w 75"/>
                <a:gd name="T3" fmla="*/ 2 h 59"/>
                <a:gd name="T4" fmla="*/ 20 w 75"/>
                <a:gd name="T5" fmla="*/ 1 h 59"/>
                <a:gd name="T6" fmla="*/ 24 w 75"/>
                <a:gd name="T7" fmla="*/ 0 h 59"/>
                <a:gd name="T8" fmla="*/ 28 w 75"/>
                <a:gd name="T9" fmla="*/ 0 h 59"/>
                <a:gd name="T10" fmla="*/ 33 w 75"/>
                <a:gd name="T11" fmla="*/ 2 h 59"/>
                <a:gd name="T12" fmla="*/ 38 w 75"/>
                <a:gd name="T13" fmla="*/ 5 h 59"/>
                <a:gd name="T14" fmla="*/ 38 w 75"/>
                <a:gd name="T15" fmla="*/ 10 h 59"/>
                <a:gd name="T16" fmla="*/ 37 w 75"/>
                <a:gd name="T17" fmla="*/ 16 h 59"/>
                <a:gd name="T18" fmla="*/ 34 w 75"/>
                <a:gd name="T19" fmla="*/ 19 h 59"/>
                <a:gd name="T20" fmla="*/ 32 w 75"/>
                <a:gd name="T21" fmla="*/ 21 h 59"/>
                <a:gd name="T22" fmla="*/ 29 w 75"/>
                <a:gd name="T23" fmla="*/ 24 h 59"/>
                <a:gd name="T24" fmla="*/ 26 w 75"/>
                <a:gd name="T25" fmla="*/ 27 h 59"/>
                <a:gd name="T26" fmla="*/ 22 w 75"/>
                <a:gd name="T27" fmla="*/ 28 h 59"/>
                <a:gd name="T28" fmla="*/ 18 w 75"/>
                <a:gd name="T29" fmla="*/ 29 h 59"/>
                <a:gd name="T30" fmla="*/ 14 w 75"/>
                <a:gd name="T31" fmla="*/ 29 h 59"/>
                <a:gd name="T32" fmla="*/ 11 w 75"/>
                <a:gd name="T33" fmla="*/ 30 h 59"/>
                <a:gd name="T34" fmla="*/ 5 w 75"/>
                <a:gd name="T35" fmla="*/ 29 h 59"/>
                <a:gd name="T36" fmla="*/ 1 w 75"/>
                <a:gd name="T37" fmla="*/ 26 h 59"/>
                <a:gd name="T38" fmla="*/ 0 w 75"/>
                <a:gd name="T39" fmla="*/ 20 h 59"/>
                <a:gd name="T40" fmla="*/ 2 w 75"/>
                <a:gd name="T41" fmla="*/ 15 h 59"/>
                <a:gd name="T42" fmla="*/ 4 w 75"/>
                <a:gd name="T43" fmla="*/ 12 h 59"/>
                <a:gd name="T44" fmla="*/ 7 w 75"/>
                <a:gd name="T45" fmla="*/ 9 h 59"/>
                <a:gd name="T46" fmla="*/ 10 w 75"/>
                <a:gd name="T47" fmla="*/ 6 h 59"/>
                <a:gd name="T48" fmla="*/ 13 w 75"/>
                <a:gd name="T49" fmla="*/ 4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sp>
        <p:nvSpPr>
          <p:cNvPr id="106" name="AutoShape 106">
            <a:extLst>
              <a:ext uri="{FF2B5EF4-FFF2-40B4-BE49-F238E27FC236}">
                <a16:creationId xmlns:a16="http://schemas.microsoft.com/office/drawing/2014/main" id="{504909AB-3427-7249-9F30-DD655CFF58E9}"/>
              </a:ext>
            </a:extLst>
          </p:cNvPr>
          <p:cNvSpPr>
            <a:spLocks noChangeArrowheads="1"/>
          </p:cNvSpPr>
          <p:nvPr/>
        </p:nvSpPr>
        <p:spPr bwMode="auto">
          <a:xfrm>
            <a:off x="2569066" y="4685407"/>
            <a:ext cx="3948545" cy="1881188"/>
          </a:xfrm>
          <a:prstGeom prst="cloudCallout">
            <a:avLst>
              <a:gd name="adj1" fmla="val 84468"/>
              <a:gd name="adj2" fmla="val -33625"/>
            </a:avLst>
          </a:prstGeom>
          <a:noFill/>
          <a:ln w="9525">
            <a:solidFill>
              <a:schemeClr val="tx1"/>
            </a:solidFill>
            <a:round/>
            <a:headEnd/>
            <a:tailEnd/>
          </a:ln>
        </p:spPr>
        <p:txBody>
          <a:bodyPr lIns="84204" tIns="42102" rIns="84204" bIns="42102" anchor="ctr"/>
          <a:lstStyle/>
          <a:p>
            <a:pPr defTabSz="840642">
              <a:spcBef>
                <a:spcPct val="50000"/>
              </a:spcBef>
            </a:pPr>
            <a:r>
              <a:rPr lang="en-US" sz="2600" b="1" dirty="0">
                <a:solidFill>
                  <a:srgbClr val="339933"/>
                </a:solidFill>
                <a:latin typeface="Arial" charset="0"/>
                <a:ea typeface="ＭＳ Ｐゴシック" pitchFamily="34" charset="-128"/>
                <a:cs typeface="Arial"/>
              </a:rPr>
              <a:t>Which items should I take?</a:t>
            </a:r>
          </a:p>
        </p:txBody>
      </p:sp>
    </p:spTree>
    <p:extLst>
      <p:ext uri="{BB962C8B-B14F-4D97-AF65-F5344CB8AC3E}">
        <p14:creationId xmlns:p14="http://schemas.microsoft.com/office/powerpoint/2010/main" val="1177089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2733-C22A-5540-9CDA-E5A69030FDA6}"/>
              </a:ext>
            </a:extLst>
          </p:cNvPr>
          <p:cNvSpPr>
            <a:spLocks noGrp="1"/>
          </p:cNvSpPr>
          <p:nvPr>
            <p:ph type="title"/>
          </p:nvPr>
        </p:nvSpPr>
        <p:spPr/>
        <p:txBody>
          <a:bodyPr/>
          <a:lstStyle/>
          <a:p>
            <a:r>
              <a:rPr lang="en-US" dirty="0"/>
              <a:t>The famous </a:t>
            </a:r>
            <a:r>
              <a:rPr lang="en-US" dirty="0">
                <a:solidFill>
                  <a:srgbClr val="FF0000"/>
                </a:solidFill>
              </a:rPr>
              <a:t>knapsack</a:t>
            </a:r>
            <a:r>
              <a:rPr lang="en-US" dirty="0"/>
              <a:t> </a:t>
            </a:r>
            <a:r>
              <a:rPr lang="en-US" dirty="0">
                <a:solidFill>
                  <a:srgbClr val="FF0000"/>
                </a:solidFill>
              </a:rPr>
              <a:t>problem</a:t>
            </a:r>
            <a:endParaRPr lang="en-US" dirty="0"/>
          </a:p>
        </p:txBody>
      </p:sp>
      <p:sp>
        <p:nvSpPr>
          <p:cNvPr id="3" name="Content Placeholder 2">
            <a:extLst>
              <a:ext uri="{FF2B5EF4-FFF2-40B4-BE49-F238E27FC236}">
                <a16:creationId xmlns:a16="http://schemas.microsoft.com/office/drawing/2014/main" id="{E5CDDB15-E65B-1B47-9C9A-1D5DF1113EF0}"/>
              </a:ext>
            </a:extLst>
          </p:cNvPr>
          <p:cNvSpPr>
            <a:spLocks noGrp="1"/>
          </p:cNvSpPr>
          <p:nvPr>
            <p:ph idx="1"/>
          </p:nvPr>
        </p:nvSpPr>
        <p:spPr/>
        <p:txBody>
          <a:bodyPr/>
          <a:lstStyle/>
          <a:p>
            <a:pPr marL="0" indent="0" defTabSz="913741">
              <a:spcBef>
                <a:spcPct val="20000"/>
              </a:spcBef>
              <a:buClr>
                <a:srgbClr val="0033CC"/>
              </a:buClr>
              <a:buSzPct val="75000"/>
              <a:buNone/>
            </a:pPr>
            <a:r>
              <a:rPr lang="en-US" dirty="0">
                <a:solidFill>
                  <a:srgbClr val="000000"/>
                </a:solidFill>
                <a:latin typeface="Times New Roman" pitchFamily="18" charset="0"/>
                <a:ea typeface="ＭＳ Ｐゴシック" pitchFamily="34" charset="-128"/>
                <a:cs typeface="Arial"/>
              </a:rPr>
              <a:t>There are two versions of the problem:</a:t>
            </a:r>
          </a:p>
          <a:p>
            <a:pPr marL="0" indent="0" defTabSz="913741">
              <a:spcBef>
                <a:spcPct val="20000"/>
              </a:spcBef>
              <a:buClr>
                <a:srgbClr val="0033CC"/>
              </a:buClr>
              <a:buSzPct val="7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(1) 	</a:t>
            </a:r>
            <a:r>
              <a:rPr lang="en-US" dirty="0">
                <a:solidFill>
                  <a:srgbClr val="0000CC"/>
                </a:solidFill>
                <a:latin typeface="Times New Roman" pitchFamily="18" charset="0"/>
                <a:ea typeface="ＭＳ Ｐゴシック" pitchFamily="34" charset="-128"/>
                <a:cs typeface="Arial"/>
              </a:rPr>
              <a:t>“0-1 knapsack problem”</a:t>
            </a:r>
            <a:r>
              <a:rPr lang="en-US" dirty="0">
                <a:solidFill>
                  <a:srgbClr val="000000"/>
                </a:solidFill>
                <a:latin typeface="Times New Roman" pitchFamily="18" charset="0"/>
                <a:ea typeface="ＭＳ Ｐゴシック" pitchFamily="34" charset="-128"/>
                <a:cs typeface="Arial"/>
              </a:rPr>
              <a:t> </a:t>
            </a:r>
          </a:p>
          <a:p>
            <a:pPr marL="257309" lvl="1" indent="0" defTabSz="913741">
              <a:spcBef>
                <a:spcPct val="20000"/>
              </a:spcBef>
              <a:buClr>
                <a:srgbClr val="CC0000"/>
              </a:buClr>
              <a:buSzPct val="65000"/>
              <a:buNone/>
            </a:pPr>
            <a:r>
              <a:rPr lang="en-US" sz="2100" dirty="0">
                <a:solidFill>
                  <a:srgbClr val="000000"/>
                </a:solidFill>
                <a:latin typeface="Times New Roman" pitchFamily="18" charset="0"/>
                <a:ea typeface="ＭＳ Ｐゴシック" pitchFamily="34" charset="-128"/>
                <a:cs typeface="Arial"/>
              </a:rPr>
              <a:t>	</a:t>
            </a:r>
            <a:r>
              <a:rPr lang="en-US" dirty="0">
                <a:solidFill>
                  <a:srgbClr val="FF0000"/>
                </a:solidFill>
                <a:latin typeface="Times New Roman" pitchFamily="18" charset="0"/>
                <a:ea typeface="ＭＳ Ｐゴシック" pitchFamily="34" charset="-128"/>
                <a:cs typeface="Arial"/>
              </a:rPr>
              <a:t>Items are indivisible</a:t>
            </a:r>
            <a:r>
              <a:rPr lang="en-US" dirty="0">
                <a:solidFill>
                  <a:srgbClr val="000000"/>
                </a:solidFill>
                <a:latin typeface="Times New Roman" pitchFamily="18" charset="0"/>
                <a:ea typeface="ＭＳ Ｐゴシック" pitchFamily="34" charset="-128"/>
                <a:cs typeface="Arial"/>
              </a:rPr>
              <a:t>: you either take an item or not. </a:t>
            </a: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	Solved with </a:t>
            </a:r>
            <a:r>
              <a:rPr lang="en-US" i="1" dirty="0">
                <a:solidFill>
                  <a:srgbClr val="0033CC"/>
                </a:solidFill>
                <a:latin typeface="Times New Roman" pitchFamily="18" charset="0"/>
                <a:ea typeface="ＭＳ Ｐゴシック" pitchFamily="34" charset="-128"/>
                <a:cs typeface="Arial"/>
              </a:rPr>
              <a:t>dynamic programming</a:t>
            </a:r>
            <a:r>
              <a:rPr lang="en-US" dirty="0">
                <a:solidFill>
                  <a:srgbClr val="000000"/>
                </a:solidFill>
                <a:latin typeface="Times New Roman" pitchFamily="18" charset="0"/>
                <a:ea typeface="ＭＳ Ｐゴシック" pitchFamily="34" charset="-128"/>
                <a:cs typeface="Arial"/>
              </a:rPr>
              <a:t>.</a:t>
            </a:r>
          </a:p>
          <a:p>
            <a:pPr marL="257309" lvl="1" indent="0" defTabSz="913741">
              <a:spcBef>
                <a:spcPct val="20000"/>
              </a:spcBef>
              <a:buClr>
                <a:srgbClr val="CC0000"/>
              </a:buClr>
              <a:buSzPct val="6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endParaRPr lang="en-US" dirty="0">
              <a:solidFill>
                <a:srgbClr val="000000"/>
              </a:solidFill>
              <a:latin typeface="Times New Roman" pitchFamily="18" charset="0"/>
              <a:ea typeface="ＭＳ Ｐゴシック" pitchFamily="34" charset="-128"/>
              <a:cs typeface="Arial"/>
            </a:endParaRP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(2) 	</a:t>
            </a:r>
            <a:r>
              <a:rPr lang="en-US" dirty="0">
                <a:solidFill>
                  <a:srgbClr val="0000CC"/>
                </a:solidFill>
                <a:latin typeface="Times New Roman" pitchFamily="18" charset="0"/>
                <a:ea typeface="ＭＳ Ｐゴシック" pitchFamily="34" charset="-128"/>
                <a:cs typeface="Arial"/>
              </a:rPr>
              <a:t>“Fractional knapsack problem”</a:t>
            </a:r>
          </a:p>
          <a:p>
            <a:pPr marL="257309" lvl="1" indent="0" defTabSz="913741">
              <a:spcBef>
                <a:spcPct val="20000"/>
              </a:spcBef>
              <a:buClr>
                <a:srgbClr val="CC0000"/>
              </a:buClr>
              <a:buSzPct val="65000"/>
              <a:buNone/>
            </a:pPr>
            <a:r>
              <a:rPr lang="en-US" sz="2000" dirty="0">
                <a:solidFill>
                  <a:srgbClr val="000000"/>
                </a:solidFill>
                <a:latin typeface="Times New Roman" pitchFamily="18" charset="0"/>
                <a:ea typeface="ＭＳ Ｐゴシック" pitchFamily="34" charset="-128"/>
                <a:cs typeface="Arial"/>
              </a:rPr>
              <a:t>	</a:t>
            </a:r>
            <a:r>
              <a:rPr lang="en-US" dirty="0">
                <a:solidFill>
                  <a:srgbClr val="FF0000"/>
                </a:solidFill>
                <a:latin typeface="Times New Roman" pitchFamily="18" charset="0"/>
                <a:ea typeface="ＭＳ Ｐゴシック" pitchFamily="34" charset="-128"/>
                <a:cs typeface="Arial"/>
              </a:rPr>
              <a:t>Items are divisible</a:t>
            </a:r>
            <a:r>
              <a:rPr lang="en-US" dirty="0">
                <a:solidFill>
                  <a:srgbClr val="000000"/>
                </a:solidFill>
                <a:latin typeface="Times New Roman" pitchFamily="18" charset="0"/>
                <a:ea typeface="ＭＳ Ｐゴシック" pitchFamily="34" charset="-128"/>
                <a:cs typeface="Arial"/>
              </a:rPr>
              <a:t>: you can take any fraction of an item. </a:t>
            </a:r>
          </a:p>
          <a:p>
            <a:pPr marL="257309" lvl="1" indent="0" defTabSz="913741">
              <a:spcBef>
                <a:spcPct val="20000"/>
              </a:spcBef>
              <a:buClr>
                <a:srgbClr val="CC0000"/>
              </a:buClr>
              <a:buSzPct val="65000"/>
              <a:buNone/>
            </a:pPr>
            <a:r>
              <a:rPr lang="en-US" dirty="0">
                <a:solidFill>
                  <a:srgbClr val="000000"/>
                </a:solidFill>
                <a:latin typeface="Times New Roman" pitchFamily="18" charset="0"/>
                <a:ea typeface="ＭＳ Ｐゴシック" pitchFamily="34" charset="-128"/>
                <a:cs typeface="Arial"/>
              </a:rPr>
              <a:t>	Solved with a </a:t>
            </a:r>
            <a:r>
              <a:rPr lang="en-US" i="1" dirty="0">
                <a:solidFill>
                  <a:srgbClr val="0033CC"/>
                </a:solidFill>
                <a:latin typeface="Times New Roman" pitchFamily="18" charset="0"/>
                <a:ea typeface="ＭＳ Ｐゴシック" pitchFamily="34" charset="-128"/>
                <a:cs typeface="Arial"/>
              </a:rPr>
              <a:t>greedy algorithm</a:t>
            </a:r>
            <a:r>
              <a:rPr lang="en-US" sz="2100" dirty="0">
                <a:solidFill>
                  <a:srgbClr val="000000"/>
                </a:solidFill>
                <a:latin typeface="Times New Roman" pitchFamily="18" charset="0"/>
                <a:ea typeface="ＭＳ Ｐゴシック" pitchFamily="34" charset="-128"/>
                <a:cs typeface="Arial"/>
              </a:rPr>
              <a:t>.</a:t>
            </a:r>
            <a:endParaRPr lang="en-US" dirty="0"/>
          </a:p>
        </p:txBody>
      </p:sp>
      <p:grpSp>
        <p:nvGrpSpPr>
          <p:cNvPr id="287" name="Group 10">
            <a:extLst>
              <a:ext uri="{FF2B5EF4-FFF2-40B4-BE49-F238E27FC236}">
                <a16:creationId xmlns:a16="http://schemas.microsoft.com/office/drawing/2014/main" id="{978A03DD-5FC9-4E49-AF29-98ADD1FDCDA9}"/>
              </a:ext>
            </a:extLst>
          </p:cNvPr>
          <p:cNvGrpSpPr>
            <a:grpSpLocks/>
          </p:cNvGrpSpPr>
          <p:nvPr/>
        </p:nvGrpSpPr>
        <p:grpSpPr bwMode="auto">
          <a:xfrm>
            <a:off x="8098435" y="2608421"/>
            <a:ext cx="1889125" cy="1564184"/>
            <a:chOff x="4161" y="1106"/>
            <a:chExt cx="1309" cy="1051"/>
          </a:xfrm>
        </p:grpSpPr>
        <p:grpSp>
          <p:nvGrpSpPr>
            <p:cNvPr id="288" name="Group 11">
              <a:extLst>
                <a:ext uri="{FF2B5EF4-FFF2-40B4-BE49-F238E27FC236}">
                  <a16:creationId xmlns:a16="http://schemas.microsoft.com/office/drawing/2014/main" id="{95B4BA41-91A9-474A-AED2-62BA1A71AD86}"/>
                </a:ext>
              </a:extLst>
            </p:cNvPr>
            <p:cNvGrpSpPr>
              <a:grpSpLocks/>
            </p:cNvGrpSpPr>
            <p:nvPr/>
          </p:nvGrpSpPr>
          <p:grpSpPr bwMode="auto">
            <a:xfrm>
              <a:off x="4161" y="1106"/>
              <a:ext cx="1309" cy="1051"/>
              <a:chOff x="3783" y="912"/>
              <a:chExt cx="1768" cy="1359"/>
            </a:xfrm>
          </p:grpSpPr>
          <p:grpSp>
            <p:nvGrpSpPr>
              <p:cNvPr id="290" name="Group 12">
                <a:extLst>
                  <a:ext uri="{FF2B5EF4-FFF2-40B4-BE49-F238E27FC236}">
                    <a16:creationId xmlns:a16="http://schemas.microsoft.com/office/drawing/2014/main" id="{B9137DF1-029F-904B-A54D-FF2E6B25FF3E}"/>
                  </a:ext>
                </a:extLst>
              </p:cNvPr>
              <p:cNvGrpSpPr>
                <a:grpSpLocks/>
              </p:cNvGrpSpPr>
              <p:nvPr/>
            </p:nvGrpSpPr>
            <p:grpSpPr bwMode="auto">
              <a:xfrm flipH="1">
                <a:off x="3783" y="912"/>
                <a:ext cx="1768" cy="1359"/>
                <a:chOff x="3577" y="2675"/>
                <a:chExt cx="1768" cy="1359"/>
              </a:xfrm>
            </p:grpSpPr>
            <p:sp>
              <p:nvSpPr>
                <p:cNvPr id="334" name="Freeform 13">
                  <a:extLst>
                    <a:ext uri="{FF2B5EF4-FFF2-40B4-BE49-F238E27FC236}">
                      <a16:creationId xmlns:a16="http://schemas.microsoft.com/office/drawing/2014/main" id="{F3E62923-666D-F843-BE70-B8A860D6826F}"/>
                    </a:ext>
                  </a:extLst>
                </p:cNvPr>
                <p:cNvSpPr>
                  <a:spLocks/>
                </p:cNvSpPr>
                <p:nvPr/>
              </p:nvSpPr>
              <p:spPr bwMode="auto">
                <a:xfrm>
                  <a:off x="4917" y="3621"/>
                  <a:ext cx="428" cy="348"/>
                </a:xfrm>
                <a:custGeom>
                  <a:avLst/>
                  <a:gdLst>
                    <a:gd name="T0" fmla="*/ 0 w 857"/>
                    <a:gd name="T1" fmla="*/ 67 h 695"/>
                    <a:gd name="T2" fmla="*/ 40 w 857"/>
                    <a:gd name="T3" fmla="*/ 152 h 695"/>
                    <a:gd name="T4" fmla="*/ 77 w 857"/>
                    <a:gd name="T5" fmla="*/ 221 h 695"/>
                    <a:gd name="T6" fmla="*/ 113 w 857"/>
                    <a:gd name="T7" fmla="*/ 273 h 695"/>
                    <a:gd name="T8" fmla="*/ 153 w 857"/>
                    <a:gd name="T9" fmla="*/ 310 h 695"/>
                    <a:gd name="T10" fmla="*/ 200 w 857"/>
                    <a:gd name="T11" fmla="*/ 334 h 695"/>
                    <a:gd name="T12" fmla="*/ 259 w 857"/>
                    <a:gd name="T13" fmla="*/ 346 h 695"/>
                    <a:gd name="T14" fmla="*/ 333 w 857"/>
                    <a:gd name="T15" fmla="*/ 348 h 695"/>
                    <a:gd name="T16" fmla="*/ 428 w 857"/>
                    <a:gd name="T17" fmla="*/ 342 h 695"/>
                    <a:gd name="T18" fmla="*/ 335 w 857"/>
                    <a:gd name="T19" fmla="*/ 339 h 695"/>
                    <a:gd name="T20" fmla="*/ 261 w 857"/>
                    <a:gd name="T21" fmla="*/ 327 h 695"/>
                    <a:gd name="T22" fmla="*/ 202 w 857"/>
                    <a:gd name="T23" fmla="*/ 304 h 695"/>
                    <a:gd name="T24" fmla="*/ 158 w 857"/>
                    <a:gd name="T25" fmla="*/ 270 h 695"/>
                    <a:gd name="T26" fmla="*/ 121 w 857"/>
                    <a:gd name="T27" fmla="*/ 223 h 695"/>
                    <a:gd name="T28" fmla="*/ 93 w 857"/>
                    <a:gd name="T29" fmla="*/ 163 h 695"/>
                    <a:gd name="T30" fmla="*/ 66 w 857"/>
                    <a:gd name="T31" fmla="*/ 89 h 695"/>
                    <a:gd name="T32" fmla="*/ 41 w 857"/>
                    <a:gd name="T33" fmla="*/ 0 h 695"/>
                    <a:gd name="T34" fmla="*/ 36 w 857"/>
                    <a:gd name="T35" fmla="*/ 7 h 695"/>
                    <a:gd name="T36" fmla="*/ 30 w 857"/>
                    <a:gd name="T37" fmla="*/ 15 h 695"/>
                    <a:gd name="T38" fmla="*/ 25 w 857"/>
                    <a:gd name="T39" fmla="*/ 24 h 695"/>
                    <a:gd name="T40" fmla="*/ 20 w 857"/>
                    <a:gd name="T41" fmla="*/ 33 h 695"/>
                    <a:gd name="T42" fmla="*/ 15 w 857"/>
                    <a:gd name="T43" fmla="*/ 42 h 695"/>
                    <a:gd name="T44" fmla="*/ 10 w 857"/>
                    <a:gd name="T45" fmla="*/ 51 h 695"/>
                    <a:gd name="T46" fmla="*/ 5 w 857"/>
                    <a:gd name="T47" fmla="*/ 59 h 695"/>
                    <a:gd name="T48" fmla="*/ 0 w 857"/>
                    <a:gd name="T49" fmla="*/ 67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5" name="Freeform 14">
                  <a:extLst>
                    <a:ext uri="{FF2B5EF4-FFF2-40B4-BE49-F238E27FC236}">
                      <a16:creationId xmlns:a16="http://schemas.microsoft.com/office/drawing/2014/main" id="{41811B40-23FF-8D47-AC0A-290D105770F0}"/>
                    </a:ext>
                  </a:extLst>
                </p:cNvPr>
                <p:cNvSpPr>
                  <a:spLocks/>
                </p:cNvSpPr>
                <p:nvPr/>
              </p:nvSpPr>
              <p:spPr bwMode="auto">
                <a:xfrm>
                  <a:off x="3616" y="3042"/>
                  <a:ext cx="119" cy="113"/>
                </a:xfrm>
                <a:custGeom>
                  <a:avLst/>
                  <a:gdLst>
                    <a:gd name="T0" fmla="*/ 0 w 238"/>
                    <a:gd name="T1" fmla="*/ 0 h 226"/>
                    <a:gd name="T2" fmla="*/ 15 w 238"/>
                    <a:gd name="T3" fmla="*/ 2 h 226"/>
                    <a:gd name="T4" fmla="*/ 34 w 238"/>
                    <a:gd name="T5" fmla="*/ 11 h 226"/>
                    <a:gd name="T6" fmla="*/ 52 w 238"/>
                    <a:gd name="T7" fmla="*/ 25 h 226"/>
                    <a:gd name="T8" fmla="*/ 71 w 238"/>
                    <a:gd name="T9" fmla="*/ 42 h 226"/>
                    <a:gd name="T10" fmla="*/ 87 w 238"/>
                    <a:gd name="T11" fmla="*/ 60 h 226"/>
                    <a:gd name="T12" fmla="*/ 102 w 238"/>
                    <a:gd name="T13" fmla="*/ 80 h 226"/>
                    <a:gd name="T14" fmla="*/ 112 w 238"/>
                    <a:gd name="T15" fmla="*/ 97 h 226"/>
                    <a:gd name="T16" fmla="*/ 119 w 238"/>
                    <a:gd name="T17" fmla="*/ 113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6" name="Freeform 15">
                  <a:extLst>
                    <a:ext uri="{FF2B5EF4-FFF2-40B4-BE49-F238E27FC236}">
                      <a16:creationId xmlns:a16="http://schemas.microsoft.com/office/drawing/2014/main" id="{31C8ACCD-883A-6C41-96E8-3966E4611EC9}"/>
                    </a:ext>
                  </a:extLst>
                </p:cNvPr>
                <p:cNvSpPr>
                  <a:spLocks/>
                </p:cNvSpPr>
                <p:nvPr/>
              </p:nvSpPr>
              <p:spPr bwMode="auto">
                <a:xfrm>
                  <a:off x="3577" y="3113"/>
                  <a:ext cx="147" cy="44"/>
                </a:xfrm>
                <a:custGeom>
                  <a:avLst/>
                  <a:gdLst>
                    <a:gd name="T0" fmla="*/ 0 w 294"/>
                    <a:gd name="T1" fmla="*/ 1 h 88"/>
                    <a:gd name="T2" fmla="*/ 17 w 294"/>
                    <a:gd name="T3" fmla="*/ 0 h 88"/>
                    <a:gd name="T4" fmla="*/ 38 w 294"/>
                    <a:gd name="T5" fmla="*/ 1 h 88"/>
                    <a:gd name="T6" fmla="*/ 61 w 294"/>
                    <a:gd name="T7" fmla="*/ 3 h 88"/>
                    <a:gd name="T8" fmla="*/ 84 w 294"/>
                    <a:gd name="T9" fmla="*/ 8 h 88"/>
                    <a:gd name="T10" fmla="*/ 106 w 294"/>
                    <a:gd name="T11" fmla="*/ 13 h 88"/>
                    <a:gd name="T12" fmla="*/ 125 w 294"/>
                    <a:gd name="T13" fmla="*/ 22 h 88"/>
                    <a:gd name="T14" fmla="*/ 139 w 294"/>
                    <a:gd name="T15" fmla="*/ 31 h 88"/>
                    <a:gd name="T16" fmla="*/ 147 w 294"/>
                    <a:gd name="T17" fmla="*/ 44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7" name="Freeform 16">
                  <a:extLst>
                    <a:ext uri="{FF2B5EF4-FFF2-40B4-BE49-F238E27FC236}">
                      <a16:creationId xmlns:a16="http://schemas.microsoft.com/office/drawing/2014/main" id="{F4C5585D-8C01-144F-9829-D514ED6CD3CE}"/>
                    </a:ext>
                  </a:extLst>
                </p:cNvPr>
                <p:cNvSpPr>
                  <a:spLocks/>
                </p:cNvSpPr>
                <p:nvPr/>
              </p:nvSpPr>
              <p:spPr bwMode="auto">
                <a:xfrm>
                  <a:off x="4618" y="3879"/>
                  <a:ext cx="370" cy="152"/>
                </a:xfrm>
                <a:custGeom>
                  <a:avLst/>
                  <a:gdLst>
                    <a:gd name="T0" fmla="*/ 108 w 740"/>
                    <a:gd name="T1" fmla="*/ 140 h 305"/>
                    <a:gd name="T2" fmla="*/ 116 w 740"/>
                    <a:gd name="T3" fmla="*/ 131 h 305"/>
                    <a:gd name="T4" fmla="*/ 124 w 740"/>
                    <a:gd name="T5" fmla="*/ 125 h 305"/>
                    <a:gd name="T6" fmla="*/ 131 w 740"/>
                    <a:gd name="T7" fmla="*/ 120 h 305"/>
                    <a:gd name="T8" fmla="*/ 138 w 740"/>
                    <a:gd name="T9" fmla="*/ 115 h 305"/>
                    <a:gd name="T10" fmla="*/ 144 w 740"/>
                    <a:gd name="T11" fmla="*/ 109 h 305"/>
                    <a:gd name="T12" fmla="*/ 151 w 740"/>
                    <a:gd name="T13" fmla="*/ 103 h 305"/>
                    <a:gd name="T14" fmla="*/ 159 w 740"/>
                    <a:gd name="T15" fmla="*/ 97 h 305"/>
                    <a:gd name="T16" fmla="*/ 169 w 740"/>
                    <a:gd name="T17" fmla="*/ 90 h 305"/>
                    <a:gd name="T18" fmla="*/ 185 w 740"/>
                    <a:gd name="T19" fmla="*/ 83 h 305"/>
                    <a:gd name="T20" fmla="*/ 207 w 740"/>
                    <a:gd name="T21" fmla="*/ 76 h 305"/>
                    <a:gd name="T22" fmla="*/ 232 w 740"/>
                    <a:gd name="T23" fmla="*/ 69 h 305"/>
                    <a:gd name="T24" fmla="*/ 260 w 740"/>
                    <a:gd name="T25" fmla="*/ 62 h 305"/>
                    <a:gd name="T26" fmla="*/ 286 w 740"/>
                    <a:gd name="T27" fmla="*/ 56 h 305"/>
                    <a:gd name="T28" fmla="*/ 311 w 740"/>
                    <a:gd name="T29" fmla="*/ 52 h 305"/>
                    <a:gd name="T30" fmla="*/ 333 w 740"/>
                    <a:gd name="T31" fmla="*/ 49 h 305"/>
                    <a:gd name="T32" fmla="*/ 351 w 740"/>
                    <a:gd name="T33" fmla="*/ 51 h 305"/>
                    <a:gd name="T34" fmla="*/ 361 w 740"/>
                    <a:gd name="T35" fmla="*/ 49 h 305"/>
                    <a:gd name="T36" fmla="*/ 368 w 740"/>
                    <a:gd name="T37" fmla="*/ 46 h 305"/>
                    <a:gd name="T38" fmla="*/ 370 w 740"/>
                    <a:gd name="T39" fmla="*/ 41 h 305"/>
                    <a:gd name="T40" fmla="*/ 369 w 740"/>
                    <a:gd name="T41" fmla="*/ 36 h 305"/>
                    <a:gd name="T42" fmla="*/ 366 w 740"/>
                    <a:gd name="T43" fmla="*/ 29 h 305"/>
                    <a:gd name="T44" fmla="*/ 363 w 740"/>
                    <a:gd name="T45" fmla="*/ 22 h 305"/>
                    <a:gd name="T46" fmla="*/ 360 w 740"/>
                    <a:gd name="T47" fmla="*/ 16 h 305"/>
                    <a:gd name="T48" fmla="*/ 359 w 740"/>
                    <a:gd name="T49" fmla="*/ 11 h 305"/>
                    <a:gd name="T50" fmla="*/ 333 w 740"/>
                    <a:gd name="T51" fmla="*/ 2 h 305"/>
                    <a:gd name="T52" fmla="*/ 304 w 740"/>
                    <a:gd name="T53" fmla="*/ 0 h 305"/>
                    <a:gd name="T54" fmla="*/ 272 w 740"/>
                    <a:gd name="T55" fmla="*/ 1 h 305"/>
                    <a:gd name="T56" fmla="*/ 239 w 740"/>
                    <a:gd name="T57" fmla="*/ 6 h 305"/>
                    <a:gd name="T58" fmla="*/ 205 w 740"/>
                    <a:gd name="T59" fmla="*/ 13 h 305"/>
                    <a:gd name="T60" fmla="*/ 173 w 740"/>
                    <a:gd name="T61" fmla="*/ 22 h 305"/>
                    <a:gd name="T62" fmla="*/ 143 w 740"/>
                    <a:gd name="T63" fmla="*/ 32 h 305"/>
                    <a:gd name="T64" fmla="*/ 114 w 740"/>
                    <a:gd name="T65" fmla="*/ 43 h 305"/>
                    <a:gd name="T66" fmla="*/ 101 w 740"/>
                    <a:gd name="T67" fmla="*/ 52 h 305"/>
                    <a:gd name="T68" fmla="*/ 88 w 740"/>
                    <a:gd name="T69" fmla="*/ 61 h 305"/>
                    <a:gd name="T70" fmla="*/ 75 w 740"/>
                    <a:gd name="T71" fmla="*/ 70 h 305"/>
                    <a:gd name="T72" fmla="*/ 61 w 740"/>
                    <a:gd name="T73" fmla="*/ 79 h 305"/>
                    <a:gd name="T74" fmla="*/ 48 w 740"/>
                    <a:gd name="T75" fmla="*/ 88 h 305"/>
                    <a:gd name="T76" fmla="*/ 35 w 740"/>
                    <a:gd name="T77" fmla="*/ 97 h 305"/>
                    <a:gd name="T78" fmla="*/ 22 w 740"/>
                    <a:gd name="T79" fmla="*/ 106 h 305"/>
                    <a:gd name="T80" fmla="*/ 10 w 740"/>
                    <a:gd name="T81" fmla="*/ 116 h 305"/>
                    <a:gd name="T82" fmla="*/ 1 w 740"/>
                    <a:gd name="T83" fmla="*/ 129 h 305"/>
                    <a:gd name="T84" fmla="*/ 0 w 740"/>
                    <a:gd name="T85" fmla="*/ 140 h 305"/>
                    <a:gd name="T86" fmla="*/ 5 w 740"/>
                    <a:gd name="T87" fmla="*/ 147 h 305"/>
                    <a:gd name="T88" fmla="*/ 17 w 740"/>
                    <a:gd name="T89" fmla="*/ 151 h 305"/>
                    <a:gd name="T90" fmla="*/ 33 w 740"/>
                    <a:gd name="T91" fmla="*/ 152 h 305"/>
                    <a:gd name="T92" fmla="*/ 54 w 740"/>
                    <a:gd name="T93" fmla="*/ 151 h 305"/>
                    <a:gd name="T94" fmla="*/ 79 w 740"/>
                    <a:gd name="T95" fmla="*/ 146 h 305"/>
                    <a:gd name="T96" fmla="*/ 108 w 740"/>
                    <a:gd name="T97" fmla="*/ 14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8" name="Freeform 17">
                  <a:extLst>
                    <a:ext uri="{FF2B5EF4-FFF2-40B4-BE49-F238E27FC236}">
                      <a16:creationId xmlns:a16="http://schemas.microsoft.com/office/drawing/2014/main" id="{980B6543-5246-CA48-A802-17EE449CA6C5}"/>
                    </a:ext>
                  </a:extLst>
                </p:cNvPr>
                <p:cNvSpPr>
                  <a:spLocks/>
                </p:cNvSpPr>
                <p:nvPr/>
              </p:nvSpPr>
              <p:spPr bwMode="auto">
                <a:xfrm>
                  <a:off x="4095" y="3677"/>
                  <a:ext cx="287" cy="294"/>
                </a:xfrm>
                <a:custGeom>
                  <a:avLst/>
                  <a:gdLst>
                    <a:gd name="T0" fmla="*/ 2 w 573"/>
                    <a:gd name="T1" fmla="*/ 0 h 588"/>
                    <a:gd name="T2" fmla="*/ 20 w 573"/>
                    <a:gd name="T3" fmla="*/ 16 h 588"/>
                    <a:gd name="T4" fmla="*/ 38 w 573"/>
                    <a:gd name="T5" fmla="*/ 32 h 588"/>
                    <a:gd name="T6" fmla="*/ 57 w 573"/>
                    <a:gd name="T7" fmla="*/ 48 h 588"/>
                    <a:gd name="T8" fmla="*/ 75 w 573"/>
                    <a:gd name="T9" fmla="*/ 64 h 588"/>
                    <a:gd name="T10" fmla="*/ 94 w 573"/>
                    <a:gd name="T11" fmla="*/ 80 h 588"/>
                    <a:gd name="T12" fmla="*/ 113 w 573"/>
                    <a:gd name="T13" fmla="*/ 96 h 588"/>
                    <a:gd name="T14" fmla="*/ 132 w 573"/>
                    <a:gd name="T15" fmla="*/ 112 h 588"/>
                    <a:gd name="T16" fmla="*/ 151 w 573"/>
                    <a:gd name="T17" fmla="*/ 128 h 588"/>
                    <a:gd name="T18" fmla="*/ 162 w 573"/>
                    <a:gd name="T19" fmla="*/ 143 h 588"/>
                    <a:gd name="T20" fmla="*/ 173 w 573"/>
                    <a:gd name="T21" fmla="*/ 159 h 588"/>
                    <a:gd name="T22" fmla="*/ 184 w 573"/>
                    <a:gd name="T23" fmla="*/ 174 h 588"/>
                    <a:gd name="T24" fmla="*/ 196 w 573"/>
                    <a:gd name="T25" fmla="*/ 189 h 588"/>
                    <a:gd name="T26" fmla="*/ 208 w 573"/>
                    <a:gd name="T27" fmla="*/ 202 h 588"/>
                    <a:gd name="T28" fmla="*/ 223 w 573"/>
                    <a:gd name="T29" fmla="*/ 215 h 588"/>
                    <a:gd name="T30" fmla="*/ 240 w 573"/>
                    <a:gd name="T31" fmla="*/ 224 h 588"/>
                    <a:gd name="T32" fmla="*/ 261 w 573"/>
                    <a:gd name="T33" fmla="*/ 232 h 588"/>
                    <a:gd name="T34" fmla="*/ 275 w 573"/>
                    <a:gd name="T35" fmla="*/ 251 h 588"/>
                    <a:gd name="T36" fmla="*/ 283 w 573"/>
                    <a:gd name="T37" fmla="*/ 266 h 588"/>
                    <a:gd name="T38" fmla="*/ 286 w 573"/>
                    <a:gd name="T39" fmla="*/ 276 h 588"/>
                    <a:gd name="T40" fmla="*/ 287 w 573"/>
                    <a:gd name="T41" fmla="*/ 282 h 588"/>
                    <a:gd name="T42" fmla="*/ 284 w 573"/>
                    <a:gd name="T43" fmla="*/ 287 h 588"/>
                    <a:gd name="T44" fmla="*/ 279 w 573"/>
                    <a:gd name="T45" fmla="*/ 289 h 588"/>
                    <a:gd name="T46" fmla="*/ 274 w 573"/>
                    <a:gd name="T47" fmla="*/ 292 h 588"/>
                    <a:gd name="T48" fmla="*/ 269 w 573"/>
                    <a:gd name="T49" fmla="*/ 294 h 588"/>
                    <a:gd name="T50" fmla="*/ 236 w 573"/>
                    <a:gd name="T51" fmla="*/ 285 h 588"/>
                    <a:gd name="T52" fmla="*/ 208 w 573"/>
                    <a:gd name="T53" fmla="*/ 271 h 588"/>
                    <a:gd name="T54" fmla="*/ 181 w 573"/>
                    <a:gd name="T55" fmla="*/ 251 h 588"/>
                    <a:gd name="T56" fmla="*/ 158 w 573"/>
                    <a:gd name="T57" fmla="*/ 229 h 588"/>
                    <a:gd name="T58" fmla="*/ 134 w 573"/>
                    <a:gd name="T59" fmla="*/ 205 h 588"/>
                    <a:gd name="T60" fmla="*/ 113 w 573"/>
                    <a:gd name="T61" fmla="*/ 180 h 588"/>
                    <a:gd name="T62" fmla="*/ 91 w 573"/>
                    <a:gd name="T63" fmla="*/ 155 h 588"/>
                    <a:gd name="T64" fmla="*/ 69 w 573"/>
                    <a:gd name="T65" fmla="*/ 133 h 588"/>
                    <a:gd name="T66" fmla="*/ 59 w 573"/>
                    <a:gd name="T67" fmla="*/ 119 h 588"/>
                    <a:gd name="T68" fmla="*/ 50 w 573"/>
                    <a:gd name="T69" fmla="*/ 106 h 588"/>
                    <a:gd name="T70" fmla="*/ 42 w 573"/>
                    <a:gd name="T71" fmla="*/ 93 h 588"/>
                    <a:gd name="T72" fmla="*/ 35 w 573"/>
                    <a:gd name="T73" fmla="*/ 80 h 588"/>
                    <a:gd name="T74" fmla="*/ 27 w 573"/>
                    <a:gd name="T75" fmla="*/ 67 h 588"/>
                    <a:gd name="T76" fmla="*/ 19 w 573"/>
                    <a:gd name="T77" fmla="*/ 53 h 588"/>
                    <a:gd name="T78" fmla="*/ 10 w 573"/>
                    <a:gd name="T79" fmla="*/ 40 h 588"/>
                    <a:gd name="T80" fmla="*/ 2 w 573"/>
                    <a:gd name="T81" fmla="*/ 28 h 588"/>
                    <a:gd name="T82" fmla="*/ 2 w 573"/>
                    <a:gd name="T83" fmla="*/ 24 h 588"/>
                    <a:gd name="T84" fmla="*/ 2 w 573"/>
                    <a:gd name="T85" fmla="*/ 20 h 588"/>
                    <a:gd name="T86" fmla="*/ 2 w 573"/>
                    <a:gd name="T87" fmla="*/ 17 h 588"/>
                    <a:gd name="T88" fmla="*/ 1 w 573"/>
                    <a:gd name="T89" fmla="*/ 14 h 588"/>
                    <a:gd name="T90" fmla="*/ 0 w 573"/>
                    <a:gd name="T91" fmla="*/ 10 h 588"/>
                    <a:gd name="T92" fmla="*/ 0 w 573"/>
                    <a:gd name="T93" fmla="*/ 7 h 588"/>
                    <a:gd name="T94" fmla="*/ 0 w 573"/>
                    <a:gd name="T95" fmla="*/ 3 h 588"/>
                    <a:gd name="T96" fmla="*/ 2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9" name="Freeform 18">
                  <a:extLst>
                    <a:ext uri="{FF2B5EF4-FFF2-40B4-BE49-F238E27FC236}">
                      <a16:creationId xmlns:a16="http://schemas.microsoft.com/office/drawing/2014/main" id="{B5444855-6C50-C245-801D-97A0221F20C4}"/>
                    </a:ext>
                  </a:extLst>
                </p:cNvPr>
                <p:cNvSpPr>
                  <a:spLocks/>
                </p:cNvSpPr>
                <p:nvPr/>
              </p:nvSpPr>
              <p:spPr bwMode="auto">
                <a:xfrm>
                  <a:off x="4151" y="3641"/>
                  <a:ext cx="419" cy="249"/>
                </a:xfrm>
                <a:custGeom>
                  <a:avLst/>
                  <a:gdLst>
                    <a:gd name="T0" fmla="*/ 268 w 837"/>
                    <a:gd name="T1" fmla="*/ 0 h 498"/>
                    <a:gd name="T2" fmla="*/ 239 w 837"/>
                    <a:gd name="T3" fmla="*/ 10 h 498"/>
                    <a:gd name="T4" fmla="*/ 216 w 837"/>
                    <a:gd name="T5" fmla="*/ 20 h 498"/>
                    <a:gd name="T6" fmla="*/ 198 w 837"/>
                    <a:gd name="T7" fmla="*/ 28 h 498"/>
                    <a:gd name="T8" fmla="*/ 183 w 837"/>
                    <a:gd name="T9" fmla="*/ 37 h 498"/>
                    <a:gd name="T10" fmla="*/ 169 w 837"/>
                    <a:gd name="T11" fmla="*/ 47 h 498"/>
                    <a:gd name="T12" fmla="*/ 155 w 837"/>
                    <a:gd name="T13" fmla="*/ 62 h 498"/>
                    <a:gd name="T14" fmla="*/ 140 w 837"/>
                    <a:gd name="T15" fmla="*/ 80 h 498"/>
                    <a:gd name="T16" fmla="*/ 122 w 837"/>
                    <a:gd name="T17" fmla="*/ 104 h 498"/>
                    <a:gd name="T18" fmla="*/ 114 w 837"/>
                    <a:gd name="T19" fmla="*/ 98 h 498"/>
                    <a:gd name="T20" fmla="*/ 106 w 837"/>
                    <a:gd name="T21" fmla="*/ 92 h 498"/>
                    <a:gd name="T22" fmla="*/ 98 w 837"/>
                    <a:gd name="T23" fmla="*/ 85 h 498"/>
                    <a:gd name="T24" fmla="*/ 90 w 837"/>
                    <a:gd name="T25" fmla="*/ 79 h 498"/>
                    <a:gd name="T26" fmla="*/ 82 w 837"/>
                    <a:gd name="T27" fmla="*/ 73 h 498"/>
                    <a:gd name="T28" fmla="*/ 74 w 837"/>
                    <a:gd name="T29" fmla="*/ 67 h 498"/>
                    <a:gd name="T30" fmla="*/ 66 w 837"/>
                    <a:gd name="T31" fmla="*/ 60 h 498"/>
                    <a:gd name="T32" fmla="*/ 58 w 837"/>
                    <a:gd name="T33" fmla="*/ 54 h 498"/>
                    <a:gd name="T34" fmla="*/ 53 w 837"/>
                    <a:gd name="T35" fmla="*/ 57 h 498"/>
                    <a:gd name="T36" fmla="*/ 47 w 837"/>
                    <a:gd name="T37" fmla="*/ 62 h 498"/>
                    <a:gd name="T38" fmla="*/ 38 w 837"/>
                    <a:gd name="T39" fmla="*/ 68 h 498"/>
                    <a:gd name="T40" fmla="*/ 29 w 837"/>
                    <a:gd name="T41" fmla="*/ 74 h 498"/>
                    <a:gd name="T42" fmla="*/ 19 w 837"/>
                    <a:gd name="T43" fmla="*/ 80 h 498"/>
                    <a:gd name="T44" fmla="*/ 11 w 837"/>
                    <a:gd name="T45" fmla="*/ 85 h 498"/>
                    <a:gd name="T46" fmla="*/ 4 w 837"/>
                    <a:gd name="T47" fmla="*/ 90 h 498"/>
                    <a:gd name="T48" fmla="*/ 0 w 837"/>
                    <a:gd name="T49" fmla="*/ 95 h 498"/>
                    <a:gd name="T50" fmla="*/ 20 w 837"/>
                    <a:gd name="T51" fmla="*/ 114 h 498"/>
                    <a:gd name="T52" fmla="*/ 43 w 837"/>
                    <a:gd name="T53" fmla="*/ 136 h 498"/>
                    <a:gd name="T54" fmla="*/ 66 w 837"/>
                    <a:gd name="T55" fmla="*/ 157 h 498"/>
                    <a:gd name="T56" fmla="*/ 90 w 837"/>
                    <a:gd name="T57" fmla="*/ 179 h 498"/>
                    <a:gd name="T58" fmla="*/ 114 w 837"/>
                    <a:gd name="T59" fmla="*/ 199 h 498"/>
                    <a:gd name="T60" fmla="*/ 139 w 837"/>
                    <a:gd name="T61" fmla="*/ 218 h 498"/>
                    <a:gd name="T62" fmla="*/ 162 w 837"/>
                    <a:gd name="T63" fmla="*/ 233 h 498"/>
                    <a:gd name="T64" fmla="*/ 186 w 837"/>
                    <a:gd name="T65" fmla="*/ 246 h 498"/>
                    <a:gd name="T66" fmla="*/ 204 w 837"/>
                    <a:gd name="T67" fmla="*/ 249 h 498"/>
                    <a:gd name="T68" fmla="*/ 219 w 837"/>
                    <a:gd name="T69" fmla="*/ 248 h 498"/>
                    <a:gd name="T70" fmla="*/ 230 w 837"/>
                    <a:gd name="T71" fmla="*/ 241 h 498"/>
                    <a:gd name="T72" fmla="*/ 239 w 837"/>
                    <a:gd name="T73" fmla="*/ 231 h 498"/>
                    <a:gd name="T74" fmla="*/ 243 w 837"/>
                    <a:gd name="T75" fmla="*/ 216 h 498"/>
                    <a:gd name="T76" fmla="*/ 245 w 837"/>
                    <a:gd name="T77" fmla="*/ 199 h 498"/>
                    <a:gd name="T78" fmla="*/ 242 w 837"/>
                    <a:gd name="T79" fmla="*/ 178 h 498"/>
                    <a:gd name="T80" fmla="*/ 236 w 837"/>
                    <a:gd name="T81" fmla="*/ 154 h 498"/>
                    <a:gd name="T82" fmla="*/ 258 w 837"/>
                    <a:gd name="T83" fmla="*/ 123 h 498"/>
                    <a:gd name="T84" fmla="*/ 279 w 837"/>
                    <a:gd name="T85" fmla="*/ 106 h 498"/>
                    <a:gd name="T86" fmla="*/ 298 w 837"/>
                    <a:gd name="T87" fmla="*/ 97 h 498"/>
                    <a:gd name="T88" fmla="*/ 317 w 837"/>
                    <a:gd name="T89" fmla="*/ 97 h 498"/>
                    <a:gd name="T90" fmla="*/ 337 w 837"/>
                    <a:gd name="T91" fmla="*/ 101 h 498"/>
                    <a:gd name="T92" fmla="*/ 361 w 837"/>
                    <a:gd name="T93" fmla="*/ 107 h 498"/>
                    <a:gd name="T94" fmla="*/ 387 w 837"/>
                    <a:gd name="T95" fmla="*/ 113 h 498"/>
                    <a:gd name="T96" fmla="*/ 419 w 837"/>
                    <a:gd name="T97" fmla="*/ 116 h 498"/>
                    <a:gd name="T98" fmla="*/ 400 w 837"/>
                    <a:gd name="T99" fmla="*/ 102 h 498"/>
                    <a:gd name="T100" fmla="*/ 382 w 837"/>
                    <a:gd name="T101" fmla="*/ 87 h 498"/>
                    <a:gd name="T102" fmla="*/ 362 w 837"/>
                    <a:gd name="T103" fmla="*/ 72 h 498"/>
                    <a:gd name="T104" fmla="*/ 344 w 837"/>
                    <a:gd name="T105" fmla="*/ 57 h 498"/>
                    <a:gd name="T106" fmla="*/ 324 w 837"/>
                    <a:gd name="T107" fmla="*/ 42 h 498"/>
                    <a:gd name="T108" fmla="*/ 305 w 837"/>
                    <a:gd name="T109" fmla="*/ 27 h 498"/>
                    <a:gd name="T110" fmla="*/ 285 w 837"/>
                    <a:gd name="T111" fmla="*/ 13 h 498"/>
                    <a:gd name="T112" fmla="*/ 268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0" name="Freeform 19">
                  <a:extLst>
                    <a:ext uri="{FF2B5EF4-FFF2-40B4-BE49-F238E27FC236}">
                      <a16:creationId xmlns:a16="http://schemas.microsoft.com/office/drawing/2014/main" id="{262815F5-640A-FB49-96A9-3F1AB4928407}"/>
                    </a:ext>
                  </a:extLst>
                </p:cNvPr>
                <p:cNvSpPr>
                  <a:spLocks/>
                </p:cNvSpPr>
                <p:nvPr/>
              </p:nvSpPr>
              <p:spPr bwMode="auto">
                <a:xfrm>
                  <a:off x="4151" y="3644"/>
                  <a:ext cx="419" cy="245"/>
                </a:xfrm>
                <a:custGeom>
                  <a:avLst/>
                  <a:gdLst>
                    <a:gd name="T0" fmla="*/ 273 w 837"/>
                    <a:gd name="T1" fmla="*/ 0 h 489"/>
                    <a:gd name="T2" fmla="*/ 244 w 837"/>
                    <a:gd name="T3" fmla="*/ 11 h 489"/>
                    <a:gd name="T4" fmla="*/ 221 w 837"/>
                    <a:gd name="T5" fmla="*/ 20 h 489"/>
                    <a:gd name="T6" fmla="*/ 202 w 837"/>
                    <a:gd name="T7" fmla="*/ 29 h 489"/>
                    <a:gd name="T8" fmla="*/ 186 w 837"/>
                    <a:gd name="T9" fmla="*/ 39 h 489"/>
                    <a:gd name="T10" fmla="*/ 172 w 837"/>
                    <a:gd name="T11" fmla="*/ 51 h 489"/>
                    <a:gd name="T12" fmla="*/ 158 w 837"/>
                    <a:gd name="T13" fmla="*/ 65 h 489"/>
                    <a:gd name="T14" fmla="*/ 142 w 837"/>
                    <a:gd name="T15" fmla="*/ 84 h 489"/>
                    <a:gd name="T16" fmla="*/ 125 w 837"/>
                    <a:gd name="T17" fmla="*/ 108 h 489"/>
                    <a:gd name="T18" fmla="*/ 116 w 837"/>
                    <a:gd name="T19" fmla="*/ 101 h 489"/>
                    <a:gd name="T20" fmla="*/ 107 w 837"/>
                    <a:gd name="T21" fmla="*/ 95 h 489"/>
                    <a:gd name="T22" fmla="*/ 98 w 837"/>
                    <a:gd name="T23" fmla="*/ 88 h 489"/>
                    <a:gd name="T24" fmla="*/ 89 w 837"/>
                    <a:gd name="T25" fmla="*/ 82 h 489"/>
                    <a:gd name="T26" fmla="*/ 80 w 837"/>
                    <a:gd name="T27" fmla="*/ 74 h 489"/>
                    <a:gd name="T28" fmla="*/ 71 w 837"/>
                    <a:gd name="T29" fmla="*/ 68 h 489"/>
                    <a:gd name="T30" fmla="*/ 62 w 837"/>
                    <a:gd name="T31" fmla="*/ 61 h 489"/>
                    <a:gd name="T32" fmla="*/ 54 w 837"/>
                    <a:gd name="T33" fmla="*/ 56 h 489"/>
                    <a:gd name="T34" fmla="*/ 50 w 837"/>
                    <a:gd name="T35" fmla="*/ 59 h 489"/>
                    <a:gd name="T36" fmla="*/ 43 w 837"/>
                    <a:gd name="T37" fmla="*/ 63 h 489"/>
                    <a:gd name="T38" fmla="*/ 35 w 837"/>
                    <a:gd name="T39" fmla="*/ 67 h 489"/>
                    <a:gd name="T40" fmla="*/ 27 w 837"/>
                    <a:gd name="T41" fmla="*/ 73 h 489"/>
                    <a:gd name="T42" fmla="*/ 18 w 837"/>
                    <a:gd name="T43" fmla="*/ 78 h 489"/>
                    <a:gd name="T44" fmla="*/ 10 w 837"/>
                    <a:gd name="T45" fmla="*/ 83 h 489"/>
                    <a:gd name="T46" fmla="*/ 4 w 837"/>
                    <a:gd name="T47" fmla="*/ 87 h 489"/>
                    <a:gd name="T48" fmla="*/ 0 w 837"/>
                    <a:gd name="T49" fmla="*/ 92 h 489"/>
                    <a:gd name="T50" fmla="*/ 20 w 837"/>
                    <a:gd name="T51" fmla="*/ 111 h 489"/>
                    <a:gd name="T52" fmla="*/ 43 w 837"/>
                    <a:gd name="T53" fmla="*/ 133 h 489"/>
                    <a:gd name="T54" fmla="*/ 66 w 837"/>
                    <a:gd name="T55" fmla="*/ 154 h 489"/>
                    <a:gd name="T56" fmla="*/ 90 w 837"/>
                    <a:gd name="T57" fmla="*/ 175 h 489"/>
                    <a:gd name="T58" fmla="*/ 114 w 837"/>
                    <a:gd name="T59" fmla="*/ 195 h 489"/>
                    <a:gd name="T60" fmla="*/ 139 w 837"/>
                    <a:gd name="T61" fmla="*/ 214 h 489"/>
                    <a:gd name="T62" fmla="*/ 162 w 837"/>
                    <a:gd name="T63" fmla="*/ 229 h 489"/>
                    <a:gd name="T64" fmla="*/ 186 w 837"/>
                    <a:gd name="T65" fmla="*/ 242 h 489"/>
                    <a:gd name="T66" fmla="*/ 203 w 837"/>
                    <a:gd name="T67" fmla="*/ 245 h 489"/>
                    <a:gd name="T68" fmla="*/ 218 w 837"/>
                    <a:gd name="T69" fmla="*/ 244 h 489"/>
                    <a:gd name="T70" fmla="*/ 230 w 837"/>
                    <a:gd name="T71" fmla="*/ 237 h 489"/>
                    <a:gd name="T72" fmla="*/ 238 w 837"/>
                    <a:gd name="T73" fmla="*/ 227 h 489"/>
                    <a:gd name="T74" fmla="*/ 243 w 837"/>
                    <a:gd name="T75" fmla="*/ 213 h 489"/>
                    <a:gd name="T76" fmla="*/ 244 w 837"/>
                    <a:gd name="T77" fmla="*/ 196 h 489"/>
                    <a:gd name="T78" fmla="*/ 241 w 837"/>
                    <a:gd name="T79" fmla="*/ 175 h 489"/>
                    <a:gd name="T80" fmla="*/ 236 w 837"/>
                    <a:gd name="T81" fmla="*/ 151 h 489"/>
                    <a:gd name="T82" fmla="*/ 258 w 837"/>
                    <a:gd name="T83" fmla="*/ 120 h 489"/>
                    <a:gd name="T84" fmla="*/ 279 w 837"/>
                    <a:gd name="T85" fmla="*/ 103 h 489"/>
                    <a:gd name="T86" fmla="*/ 298 w 837"/>
                    <a:gd name="T87" fmla="*/ 94 h 489"/>
                    <a:gd name="T88" fmla="*/ 317 w 837"/>
                    <a:gd name="T89" fmla="*/ 94 h 489"/>
                    <a:gd name="T90" fmla="*/ 337 w 837"/>
                    <a:gd name="T91" fmla="*/ 98 h 489"/>
                    <a:gd name="T92" fmla="*/ 361 w 837"/>
                    <a:gd name="T93" fmla="*/ 104 h 489"/>
                    <a:gd name="T94" fmla="*/ 387 w 837"/>
                    <a:gd name="T95" fmla="*/ 110 h 489"/>
                    <a:gd name="T96" fmla="*/ 419 w 837"/>
                    <a:gd name="T97" fmla="*/ 113 h 489"/>
                    <a:gd name="T98" fmla="*/ 401 w 837"/>
                    <a:gd name="T99" fmla="*/ 99 h 489"/>
                    <a:gd name="T100" fmla="*/ 383 w 837"/>
                    <a:gd name="T101" fmla="*/ 85 h 489"/>
                    <a:gd name="T102" fmla="*/ 364 w 837"/>
                    <a:gd name="T103" fmla="*/ 71 h 489"/>
                    <a:gd name="T104" fmla="*/ 346 w 837"/>
                    <a:gd name="T105" fmla="*/ 56 h 489"/>
                    <a:gd name="T106" fmla="*/ 327 w 837"/>
                    <a:gd name="T107" fmla="*/ 41 h 489"/>
                    <a:gd name="T108" fmla="*/ 309 w 837"/>
                    <a:gd name="T109" fmla="*/ 27 h 489"/>
                    <a:gd name="T110" fmla="*/ 290 w 837"/>
                    <a:gd name="T111" fmla="*/ 13 h 489"/>
                    <a:gd name="T112" fmla="*/ 273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1" name="Freeform 20">
                  <a:extLst>
                    <a:ext uri="{FF2B5EF4-FFF2-40B4-BE49-F238E27FC236}">
                      <a16:creationId xmlns:a16="http://schemas.microsoft.com/office/drawing/2014/main" id="{91BF3CE8-434D-EC42-9D1D-38C7FC5D48E5}"/>
                    </a:ext>
                  </a:extLst>
                </p:cNvPr>
                <p:cNvSpPr>
                  <a:spLocks/>
                </p:cNvSpPr>
                <p:nvPr/>
              </p:nvSpPr>
              <p:spPr bwMode="auto">
                <a:xfrm>
                  <a:off x="4151" y="3648"/>
                  <a:ext cx="419" cy="239"/>
                </a:xfrm>
                <a:custGeom>
                  <a:avLst/>
                  <a:gdLst>
                    <a:gd name="T0" fmla="*/ 277 w 837"/>
                    <a:gd name="T1" fmla="*/ 0 h 479"/>
                    <a:gd name="T2" fmla="*/ 248 w 837"/>
                    <a:gd name="T3" fmla="*/ 10 h 479"/>
                    <a:gd name="T4" fmla="*/ 225 w 837"/>
                    <a:gd name="T5" fmla="*/ 20 h 479"/>
                    <a:gd name="T6" fmla="*/ 206 w 837"/>
                    <a:gd name="T7" fmla="*/ 29 h 479"/>
                    <a:gd name="T8" fmla="*/ 191 w 837"/>
                    <a:gd name="T9" fmla="*/ 40 h 479"/>
                    <a:gd name="T10" fmla="*/ 175 w 837"/>
                    <a:gd name="T11" fmla="*/ 52 h 479"/>
                    <a:gd name="T12" fmla="*/ 161 w 837"/>
                    <a:gd name="T13" fmla="*/ 67 h 479"/>
                    <a:gd name="T14" fmla="*/ 145 w 837"/>
                    <a:gd name="T15" fmla="*/ 86 h 479"/>
                    <a:gd name="T16" fmla="*/ 127 w 837"/>
                    <a:gd name="T17" fmla="*/ 111 h 479"/>
                    <a:gd name="T18" fmla="*/ 118 w 837"/>
                    <a:gd name="T19" fmla="*/ 104 h 479"/>
                    <a:gd name="T20" fmla="*/ 109 w 837"/>
                    <a:gd name="T21" fmla="*/ 97 h 479"/>
                    <a:gd name="T22" fmla="*/ 98 w 837"/>
                    <a:gd name="T23" fmla="*/ 89 h 479"/>
                    <a:gd name="T24" fmla="*/ 88 w 837"/>
                    <a:gd name="T25" fmla="*/ 82 h 479"/>
                    <a:gd name="T26" fmla="*/ 78 w 837"/>
                    <a:gd name="T27" fmla="*/ 75 h 479"/>
                    <a:gd name="T28" fmla="*/ 68 w 837"/>
                    <a:gd name="T29" fmla="*/ 68 h 479"/>
                    <a:gd name="T30" fmla="*/ 58 w 837"/>
                    <a:gd name="T31" fmla="*/ 60 h 479"/>
                    <a:gd name="T32" fmla="*/ 50 w 837"/>
                    <a:gd name="T33" fmla="*/ 55 h 479"/>
                    <a:gd name="T34" fmla="*/ 45 w 837"/>
                    <a:gd name="T35" fmla="*/ 58 h 479"/>
                    <a:gd name="T36" fmla="*/ 40 w 837"/>
                    <a:gd name="T37" fmla="*/ 62 h 479"/>
                    <a:gd name="T38" fmla="*/ 32 w 837"/>
                    <a:gd name="T39" fmla="*/ 66 h 479"/>
                    <a:gd name="T40" fmla="*/ 25 w 837"/>
                    <a:gd name="T41" fmla="*/ 71 h 479"/>
                    <a:gd name="T42" fmla="*/ 16 w 837"/>
                    <a:gd name="T43" fmla="*/ 75 h 479"/>
                    <a:gd name="T44" fmla="*/ 9 w 837"/>
                    <a:gd name="T45" fmla="*/ 79 h 479"/>
                    <a:gd name="T46" fmla="*/ 4 w 837"/>
                    <a:gd name="T47" fmla="*/ 83 h 479"/>
                    <a:gd name="T48" fmla="*/ 0 w 837"/>
                    <a:gd name="T49" fmla="*/ 87 h 479"/>
                    <a:gd name="T50" fmla="*/ 20 w 837"/>
                    <a:gd name="T51" fmla="*/ 107 h 479"/>
                    <a:gd name="T52" fmla="*/ 43 w 837"/>
                    <a:gd name="T53" fmla="*/ 127 h 479"/>
                    <a:gd name="T54" fmla="*/ 66 w 837"/>
                    <a:gd name="T55" fmla="*/ 149 h 479"/>
                    <a:gd name="T56" fmla="*/ 90 w 837"/>
                    <a:gd name="T57" fmla="*/ 170 h 479"/>
                    <a:gd name="T58" fmla="*/ 114 w 837"/>
                    <a:gd name="T59" fmla="*/ 190 h 479"/>
                    <a:gd name="T60" fmla="*/ 139 w 837"/>
                    <a:gd name="T61" fmla="*/ 208 h 479"/>
                    <a:gd name="T62" fmla="*/ 162 w 837"/>
                    <a:gd name="T63" fmla="*/ 224 h 479"/>
                    <a:gd name="T64" fmla="*/ 187 w 837"/>
                    <a:gd name="T65" fmla="*/ 237 h 479"/>
                    <a:gd name="T66" fmla="*/ 203 w 837"/>
                    <a:gd name="T67" fmla="*/ 239 h 479"/>
                    <a:gd name="T68" fmla="*/ 218 w 837"/>
                    <a:gd name="T69" fmla="*/ 238 h 479"/>
                    <a:gd name="T70" fmla="*/ 228 w 837"/>
                    <a:gd name="T71" fmla="*/ 231 h 479"/>
                    <a:gd name="T72" fmla="*/ 238 w 837"/>
                    <a:gd name="T73" fmla="*/ 222 h 479"/>
                    <a:gd name="T74" fmla="*/ 242 w 837"/>
                    <a:gd name="T75" fmla="*/ 208 h 479"/>
                    <a:gd name="T76" fmla="*/ 244 w 837"/>
                    <a:gd name="T77" fmla="*/ 191 h 479"/>
                    <a:gd name="T78" fmla="*/ 241 w 837"/>
                    <a:gd name="T79" fmla="*/ 170 h 479"/>
                    <a:gd name="T80" fmla="*/ 236 w 837"/>
                    <a:gd name="T81" fmla="*/ 147 h 479"/>
                    <a:gd name="T82" fmla="*/ 258 w 837"/>
                    <a:gd name="T83" fmla="*/ 116 h 479"/>
                    <a:gd name="T84" fmla="*/ 279 w 837"/>
                    <a:gd name="T85" fmla="*/ 98 h 479"/>
                    <a:gd name="T86" fmla="*/ 298 w 837"/>
                    <a:gd name="T87" fmla="*/ 90 h 479"/>
                    <a:gd name="T88" fmla="*/ 317 w 837"/>
                    <a:gd name="T89" fmla="*/ 90 h 479"/>
                    <a:gd name="T90" fmla="*/ 337 w 837"/>
                    <a:gd name="T91" fmla="*/ 94 h 479"/>
                    <a:gd name="T92" fmla="*/ 361 w 837"/>
                    <a:gd name="T93" fmla="*/ 100 h 479"/>
                    <a:gd name="T94" fmla="*/ 387 w 837"/>
                    <a:gd name="T95" fmla="*/ 106 h 479"/>
                    <a:gd name="T96" fmla="*/ 419 w 837"/>
                    <a:gd name="T97" fmla="*/ 108 h 479"/>
                    <a:gd name="T98" fmla="*/ 401 w 837"/>
                    <a:gd name="T99" fmla="*/ 94 h 479"/>
                    <a:gd name="T100" fmla="*/ 383 w 837"/>
                    <a:gd name="T101" fmla="*/ 81 h 479"/>
                    <a:gd name="T102" fmla="*/ 366 w 837"/>
                    <a:gd name="T103" fmla="*/ 67 h 479"/>
                    <a:gd name="T104" fmla="*/ 348 w 837"/>
                    <a:gd name="T105" fmla="*/ 54 h 479"/>
                    <a:gd name="T106" fmla="*/ 330 w 837"/>
                    <a:gd name="T107" fmla="*/ 39 h 479"/>
                    <a:gd name="T108" fmla="*/ 312 w 837"/>
                    <a:gd name="T109" fmla="*/ 25 h 479"/>
                    <a:gd name="T110" fmla="*/ 294 w 837"/>
                    <a:gd name="T111" fmla="*/ 12 h 479"/>
                    <a:gd name="T112" fmla="*/ 277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2" name="Freeform 21">
                  <a:extLst>
                    <a:ext uri="{FF2B5EF4-FFF2-40B4-BE49-F238E27FC236}">
                      <a16:creationId xmlns:a16="http://schemas.microsoft.com/office/drawing/2014/main" id="{5960F863-39A0-4444-A939-E551EAAACC16}"/>
                    </a:ext>
                  </a:extLst>
                </p:cNvPr>
                <p:cNvSpPr>
                  <a:spLocks/>
                </p:cNvSpPr>
                <p:nvPr/>
              </p:nvSpPr>
              <p:spPr bwMode="auto">
                <a:xfrm>
                  <a:off x="4151" y="3651"/>
                  <a:ext cx="419" cy="235"/>
                </a:xfrm>
                <a:custGeom>
                  <a:avLst/>
                  <a:gdLst>
                    <a:gd name="T0" fmla="*/ 283 w 837"/>
                    <a:gd name="T1" fmla="*/ 0 h 470"/>
                    <a:gd name="T2" fmla="*/ 253 w 837"/>
                    <a:gd name="T3" fmla="*/ 11 h 470"/>
                    <a:gd name="T4" fmla="*/ 230 w 837"/>
                    <a:gd name="T5" fmla="*/ 22 h 470"/>
                    <a:gd name="T6" fmla="*/ 210 w 837"/>
                    <a:gd name="T7" fmla="*/ 30 h 470"/>
                    <a:gd name="T8" fmla="*/ 194 w 837"/>
                    <a:gd name="T9" fmla="*/ 42 h 470"/>
                    <a:gd name="T10" fmla="*/ 178 w 837"/>
                    <a:gd name="T11" fmla="*/ 55 h 470"/>
                    <a:gd name="T12" fmla="*/ 164 w 837"/>
                    <a:gd name="T13" fmla="*/ 70 h 470"/>
                    <a:gd name="T14" fmla="*/ 147 w 837"/>
                    <a:gd name="T15" fmla="*/ 90 h 470"/>
                    <a:gd name="T16" fmla="*/ 130 w 837"/>
                    <a:gd name="T17" fmla="*/ 115 h 470"/>
                    <a:gd name="T18" fmla="*/ 120 w 837"/>
                    <a:gd name="T19" fmla="*/ 107 h 470"/>
                    <a:gd name="T20" fmla="*/ 110 w 837"/>
                    <a:gd name="T21" fmla="*/ 101 h 470"/>
                    <a:gd name="T22" fmla="*/ 98 w 837"/>
                    <a:gd name="T23" fmla="*/ 93 h 470"/>
                    <a:gd name="T24" fmla="*/ 87 w 837"/>
                    <a:gd name="T25" fmla="*/ 86 h 470"/>
                    <a:gd name="T26" fmla="*/ 75 w 837"/>
                    <a:gd name="T27" fmla="*/ 77 h 470"/>
                    <a:gd name="T28" fmla="*/ 64 w 837"/>
                    <a:gd name="T29" fmla="*/ 70 h 470"/>
                    <a:gd name="T30" fmla="*/ 53 w 837"/>
                    <a:gd name="T31" fmla="*/ 62 h 470"/>
                    <a:gd name="T32" fmla="*/ 45 w 837"/>
                    <a:gd name="T33" fmla="*/ 57 h 470"/>
                    <a:gd name="T34" fmla="*/ 41 w 837"/>
                    <a:gd name="T35" fmla="*/ 59 h 470"/>
                    <a:gd name="T36" fmla="*/ 36 w 837"/>
                    <a:gd name="T37" fmla="*/ 63 h 470"/>
                    <a:gd name="T38" fmla="*/ 29 w 837"/>
                    <a:gd name="T39" fmla="*/ 67 h 470"/>
                    <a:gd name="T40" fmla="*/ 23 w 837"/>
                    <a:gd name="T41" fmla="*/ 70 h 470"/>
                    <a:gd name="T42" fmla="*/ 15 w 837"/>
                    <a:gd name="T43" fmla="*/ 74 h 470"/>
                    <a:gd name="T44" fmla="*/ 9 w 837"/>
                    <a:gd name="T45" fmla="*/ 77 h 470"/>
                    <a:gd name="T46" fmla="*/ 3 w 837"/>
                    <a:gd name="T47" fmla="*/ 81 h 470"/>
                    <a:gd name="T48" fmla="*/ 0 w 837"/>
                    <a:gd name="T49" fmla="*/ 85 h 470"/>
                    <a:gd name="T50" fmla="*/ 20 w 837"/>
                    <a:gd name="T51" fmla="*/ 104 h 470"/>
                    <a:gd name="T52" fmla="*/ 43 w 837"/>
                    <a:gd name="T53" fmla="*/ 124 h 470"/>
                    <a:gd name="T54" fmla="*/ 66 w 837"/>
                    <a:gd name="T55" fmla="*/ 146 h 470"/>
                    <a:gd name="T56" fmla="*/ 90 w 837"/>
                    <a:gd name="T57" fmla="*/ 168 h 470"/>
                    <a:gd name="T58" fmla="*/ 114 w 837"/>
                    <a:gd name="T59" fmla="*/ 187 h 470"/>
                    <a:gd name="T60" fmla="*/ 139 w 837"/>
                    <a:gd name="T61" fmla="*/ 205 h 470"/>
                    <a:gd name="T62" fmla="*/ 162 w 837"/>
                    <a:gd name="T63" fmla="*/ 220 h 470"/>
                    <a:gd name="T64" fmla="*/ 187 w 837"/>
                    <a:gd name="T65" fmla="*/ 233 h 470"/>
                    <a:gd name="T66" fmla="*/ 203 w 837"/>
                    <a:gd name="T67" fmla="*/ 235 h 470"/>
                    <a:gd name="T68" fmla="*/ 216 w 837"/>
                    <a:gd name="T69" fmla="*/ 234 h 470"/>
                    <a:gd name="T70" fmla="*/ 227 w 837"/>
                    <a:gd name="T71" fmla="*/ 228 h 470"/>
                    <a:gd name="T72" fmla="*/ 236 w 837"/>
                    <a:gd name="T73" fmla="*/ 220 h 470"/>
                    <a:gd name="T74" fmla="*/ 241 w 837"/>
                    <a:gd name="T75" fmla="*/ 206 h 470"/>
                    <a:gd name="T76" fmla="*/ 243 w 837"/>
                    <a:gd name="T77" fmla="*/ 189 h 470"/>
                    <a:gd name="T78" fmla="*/ 241 w 837"/>
                    <a:gd name="T79" fmla="*/ 168 h 470"/>
                    <a:gd name="T80" fmla="*/ 236 w 837"/>
                    <a:gd name="T81" fmla="*/ 144 h 470"/>
                    <a:gd name="T82" fmla="*/ 258 w 837"/>
                    <a:gd name="T83" fmla="*/ 113 h 470"/>
                    <a:gd name="T84" fmla="*/ 279 w 837"/>
                    <a:gd name="T85" fmla="*/ 96 h 470"/>
                    <a:gd name="T86" fmla="*/ 298 w 837"/>
                    <a:gd name="T87" fmla="*/ 87 h 470"/>
                    <a:gd name="T88" fmla="*/ 317 w 837"/>
                    <a:gd name="T89" fmla="*/ 87 h 470"/>
                    <a:gd name="T90" fmla="*/ 337 w 837"/>
                    <a:gd name="T91" fmla="*/ 91 h 470"/>
                    <a:gd name="T92" fmla="*/ 361 w 837"/>
                    <a:gd name="T93" fmla="*/ 97 h 470"/>
                    <a:gd name="T94" fmla="*/ 387 w 837"/>
                    <a:gd name="T95" fmla="*/ 103 h 470"/>
                    <a:gd name="T96" fmla="*/ 419 w 837"/>
                    <a:gd name="T97" fmla="*/ 106 h 470"/>
                    <a:gd name="T98" fmla="*/ 401 w 837"/>
                    <a:gd name="T99" fmla="*/ 92 h 470"/>
                    <a:gd name="T100" fmla="*/ 384 w 837"/>
                    <a:gd name="T101" fmla="*/ 79 h 470"/>
                    <a:gd name="T102" fmla="*/ 367 w 837"/>
                    <a:gd name="T103" fmla="*/ 66 h 470"/>
                    <a:gd name="T104" fmla="*/ 351 w 837"/>
                    <a:gd name="T105" fmla="*/ 53 h 470"/>
                    <a:gd name="T106" fmla="*/ 334 w 837"/>
                    <a:gd name="T107" fmla="*/ 39 h 470"/>
                    <a:gd name="T108" fmla="*/ 317 w 837"/>
                    <a:gd name="T109" fmla="*/ 26 h 470"/>
                    <a:gd name="T110" fmla="*/ 300 w 837"/>
                    <a:gd name="T111" fmla="*/ 13 h 470"/>
                    <a:gd name="T112" fmla="*/ 283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3" name="Freeform 22">
                  <a:extLst>
                    <a:ext uri="{FF2B5EF4-FFF2-40B4-BE49-F238E27FC236}">
                      <a16:creationId xmlns:a16="http://schemas.microsoft.com/office/drawing/2014/main" id="{46AADEA3-5D97-4D4B-BAC4-30722F07AA77}"/>
                    </a:ext>
                  </a:extLst>
                </p:cNvPr>
                <p:cNvSpPr>
                  <a:spLocks/>
                </p:cNvSpPr>
                <p:nvPr/>
              </p:nvSpPr>
              <p:spPr bwMode="auto">
                <a:xfrm>
                  <a:off x="4151" y="3655"/>
                  <a:ext cx="419" cy="230"/>
                </a:xfrm>
                <a:custGeom>
                  <a:avLst/>
                  <a:gdLst>
                    <a:gd name="T0" fmla="*/ 287 w 837"/>
                    <a:gd name="T1" fmla="*/ 0 h 460"/>
                    <a:gd name="T2" fmla="*/ 257 w 837"/>
                    <a:gd name="T3" fmla="*/ 11 h 460"/>
                    <a:gd name="T4" fmla="*/ 234 w 837"/>
                    <a:gd name="T5" fmla="*/ 21 h 460"/>
                    <a:gd name="T6" fmla="*/ 214 w 837"/>
                    <a:gd name="T7" fmla="*/ 30 h 460"/>
                    <a:gd name="T8" fmla="*/ 198 w 837"/>
                    <a:gd name="T9" fmla="*/ 43 h 460"/>
                    <a:gd name="T10" fmla="*/ 181 w 837"/>
                    <a:gd name="T11" fmla="*/ 56 h 460"/>
                    <a:gd name="T12" fmla="*/ 166 w 837"/>
                    <a:gd name="T13" fmla="*/ 72 h 460"/>
                    <a:gd name="T14" fmla="*/ 150 w 837"/>
                    <a:gd name="T15" fmla="*/ 92 h 460"/>
                    <a:gd name="T16" fmla="*/ 132 w 837"/>
                    <a:gd name="T17" fmla="*/ 117 h 460"/>
                    <a:gd name="T18" fmla="*/ 122 w 837"/>
                    <a:gd name="T19" fmla="*/ 110 h 460"/>
                    <a:gd name="T20" fmla="*/ 111 w 837"/>
                    <a:gd name="T21" fmla="*/ 102 h 460"/>
                    <a:gd name="T22" fmla="*/ 98 w 837"/>
                    <a:gd name="T23" fmla="*/ 94 h 460"/>
                    <a:gd name="T24" fmla="*/ 87 w 837"/>
                    <a:gd name="T25" fmla="*/ 87 h 460"/>
                    <a:gd name="T26" fmla="*/ 73 w 837"/>
                    <a:gd name="T27" fmla="*/ 78 h 460"/>
                    <a:gd name="T28" fmla="*/ 61 w 837"/>
                    <a:gd name="T29" fmla="*/ 70 h 460"/>
                    <a:gd name="T30" fmla="*/ 50 w 837"/>
                    <a:gd name="T31" fmla="*/ 62 h 460"/>
                    <a:gd name="T32" fmla="*/ 41 w 837"/>
                    <a:gd name="T33" fmla="*/ 56 h 460"/>
                    <a:gd name="T34" fmla="*/ 37 w 837"/>
                    <a:gd name="T35" fmla="*/ 58 h 460"/>
                    <a:gd name="T36" fmla="*/ 32 w 837"/>
                    <a:gd name="T37" fmla="*/ 61 h 460"/>
                    <a:gd name="T38" fmla="*/ 26 w 837"/>
                    <a:gd name="T39" fmla="*/ 65 h 460"/>
                    <a:gd name="T40" fmla="*/ 20 w 837"/>
                    <a:gd name="T41" fmla="*/ 68 h 460"/>
                    <a:gd name="T42" fmla="*/ 14 w 837"/>
                    <a:gd name="T43" fmla="*/ 70 h 460"/>
                    <a:gd name="T44" fmla="*/ 8 w 837"/>
                    <a:gd name="T45" fmla="*/ 73 h 460"/>
                    <a:gd name="T46" fmla="*/ 3 w 837"/>
                    <a:gd name="T47" fmla="*/ 77 h 460"/>
                    <a:gd name="T48" fmla="*/ 0 w 837"/>
                    <a:gd name="T49" fmla="*/ 80 h 460"/>
                    <a:gd name="T50" fmla="*/ 20 w 837"/>
                    <a:gd name="T51" fmla="*/ 100 h 460"/>
                    <a:gd name="T52" fmla="*/ 43 w 837"/>
                    <a:gd name="T53" fmla="*/ 120 h 460"/>
                    <a:gd name="T54" fmla="*/ 66 w 837"/>
                    <a:gd name="T55" fmla="*/ 141 h 460"/>
                    <a:gd name="T56" fmla="*/ 90 w 837"/>
                    <a:gd name="T57" fmla="*/ 162 h 460"/>
                    <a:gd name="T58" fmla="*/ 114 w 837"/>
                    <a:gd name="T59" fmla="*/ 182 h 460"/>
                    <a:gd name="T60" fmla="*/ 139 w 837"/>
                    <a:gd name="T61" fmla="*/ 199 h 460"/>
                    <a:gd name="T62" fmla="*/ 162 w 837"/>
                    <a:gd name="T63" fmla="*/ 215 h 460"/>
                    <a:gd name="T64" fmla="*/ 187 w 837"/>
                    <a:gd name="T65" fmla="*/ 228 h 460"/>
                    <a:gd name="T66" fmla="*/ 202 w 837"/>
                    <a:gd name="T67" fmla="*/ 230 h 460"/>
                    <a:gd name="T68" fmla="*/ 216 w 837"/>
                    <a:gd name="T69" fmla="*/ 229 h 460"/>
                    <a:gd name="T70" fmla="*/ 226 w 837"/>
                    <a:gd name="T71" fmla="*/ 224 h 460"/>
                    <a:gd name="T72" fmla="*/ 235 w 837"/>
                    <a:gd name="T73" fmla="*/ 215 h 460"/>
                    <a:gd name="T74" fmla="*/ 240 w 837"/>
                    <a:gd name="T75" fmla="*/ 202 h 460"/>
                    <a:gd name="T76" fmla="*/ 243 w 837"/>
                    <a:gd name="T77" fmla="*/ 185 h 460"/>
                    <a:gd name="T78" fmla="*/ 241 w 837"/>
                    <a:gd name="T79" fmla="*/ 164 h 460"/>
                    <a:gd name="T80" fmla="*/ 236 w 837"/>
                    <a:gd name="T81" fmla="*/ 140 h 460"/>
                    <a:gd name="T82" fmla="*/ 258 w 837"/>
                    <a:gd name="T83" fmla="*/ 109 h 460"/>
                    <a:gd name="T84" fmla="*/ 279 w 837"/>
                    <a:gd name="T85" fmla="*/ 91 h 460"/>
                    <a:gd name="T86" fmla="*/ 298 w 837"/>
                    <a:gd name="T87" fmla="*/ 83 h 460"/>
                    <a:gd name="T88" fmla="*/ 317 w 837"/>
                    <a:gd name="T89" fmla="*/ 83 h 460"/>
                    <a:gd name="T90" fmla="*/ 337 w 837"/>
                    <a:gd name="T91" fmla="*/ 87 h 460"/>
                    <a:gd name="T92" fmla="*/ 361 w 837"/>
                    <a:gd name="T93" fmla="*/ 93 h 460"/>
                    <a:gd name="T94" fmla="*/ 387 w 837"/>
                    <a:gd name="T95" fmla="*/ 99 h 460"/>
                    <a:gd name="T96" fmla="*/ 419 w 837"/>
                    <a:gd name="T97" fmla="*/ 101 h 460"/>
                    <a:gd name="T98" fmla="*/ 401 w 837"/>
                    <a:gd name="T99" fmla="*/ 88 h 460"/>
                    <a:gd name="T100" fmla="*/ 385 w 837"/>
                    <a:gd name="T101" fmla="*/ 75 h 460"/>
                    <a:gd name="T102" fmla="*/ 369 w 837"/>
                    <a:gd name="T103" fmla="*/ 62 h 460"/>
                    <a:gd name="T104" fmla="*/ 353 w 837"/>
                    <a:gd name="T105" fmla="*/ 50 h 460"/>
                    <a:gd name="T106" fmla="*/ 337 w 837"/>
                    <a:gd name="T107" fmla="*/ 37 h 460"/>
                    <a:gd name="T108" fmla="*/ 320 w 837"/>
                    <a:gd name="T109" fmla="*/ 25 h 460"/>
                    <a:gd name="T110" fmla="*/ 304 w 837"/>
                    <a:gd name="T111" fmla="*/ 12 h 460"/>
                    <a:gd name="T112" fmla="*/ 287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4" name="Freeform 23">
                  <a:extLst>
                    <a:ext uri="{FF2B5EF4-FFF2-40B4-BE49-F238E27FC236}">
                      <a16:creationId xmlns:a16="http://schemas.microsoft.com/office/drawing/2014/main" id="{727FA080-6B7A-6942-8E12-5B86445AC4F2}"/>
                    </a:ext>
                  </a:extLst>
                </p:cNvPr>
                <p:cNvSpPr>
                  <a:spLocks/>
                </p:cNvSpPr>
                <p:nvPr/>
              </p:nvSpPr>
              <p:spPr bwMode="auto">
                <a:xfrm>
                  <a:off x="4151" y="3659"/>
                  <a:ext cx="419" cy="225"/>
                </a:xfrm>
                <a:custGeom>
                  <a:avLst/>
                  <a:gdLst>
                    <a:gd name="T0" fmla="*/ 292 w 837"/>
                    <a:gd name="T1" fmla="*/ 0 h 450"/>
                    <a:gd name="T2" fmla="*/ 263 w 837"/>
                    <a:gd name="T3" fmla="*/ 11 h 450"/>
                    <a:gd name="T4" fmla="*/ 239 w 837"/>
                    <a:gd name="T5" fmla="*/ 22 h 450"/>
                    <a:gd name="T6" fmla="*/ 218 w 837"/>
                    <a:gd name="T7" fmla="*/ 31 h 450"/>
                    <a:gd name="T8" fmla="*/ 201 w 837"/>
                    <a:gd name="T9" fmla="*/ 44 h 450"/>
                    <a:gd name="T10" fmla="*/ 184 w 837"/>
                    <a:gd name="T11" fmla="*/ 58 h 450"/>
                    <a:gd name="T12" fmla="*/ 169 w 837"/>
                    <a:gd name="T13" fmla="*/ 75 h 450"/>
                    <a:gd name="T14" fmla="*/ 152 w 837"/>
                    <a:gd name="T15" fmla="*/ 95 h 450"/>
                    <a:gd name="T16" fmla="*/ 134 w 837"/>
                    <a:gd name="T17" fmla="*/ 120 h 450"/>
                    <a:gd name="T18" fmla="*/ 124 w 837"/>
                    <a:gd name="T19" fmla="*/ 113 h 450"/>
                    <a:gd name="T20" fmla="*/ 113 w 837"/>
                    <a:gd name="T21" fmla="*/ 105 h 450"/>
                    <a:gd name="T22" fmla="*/ 99 w 837"/>
                    <a:gd name="T23" fmla="*/ 96 h 450"/>
                    <a:gd name="T24" fmla="*/ 85 w 837"/>
                    <a:gd name="T25" fmla="*/ 88 h 450"/>
                    <a:gd name="T26" fmla="*/ 71 w 837"/>
                    <a:gd name="T27" fmla="*/ 79 h 450"/>
                    <a:gd name="T28" fmla="*/ 58 w 837"/>
                    <a:gd name="T29" fmla="*/ 71 h 450"/>
                    <a:gd name="T30" fmla="*/ 46 w 837"/>
                    <a:gd name="T31" fmla="*/ 63 h 450"/>
                    <a:gd name="T32" fmla="*/ 37 w 837"/>
                    <a:gd name="T33" fmla="*/ 56 h 450"/>
                    <a:gd name="T34" fmla="*/ 33 w 837"/>
                    <a:gd name="T35" fmla="*/ 59 h 450"/>
                    <a:gd name="T36" fmla="*/ 28 w 837"/>
                    <a:gd name="T37" fmla="*/ 61 h 450"/>
                    <a:gd name="T38" fmla="*/ 23 w 837"/>
                    <a:gd name="T39" fmla="*/ 63 h 450"/>
                    <a:gd name="T40" fmla="*/ 18 w 837"/>
                    <a:gd name="T41" fmla="*/ 66 h 450"/>
                    <a:gd name="T42" fmla="*/ 13 w 837"/>
                    <a:gd name="T43" fmla="*/ 68 h 450"/>
                    <a:gd name="T44" fmla="*/ 8 w 837"/>
                    <a:gd name="T45" fmla="*/ 71 h 450"/>
                    <a:gd name="T46" fmla="*/ 3 w 837"/>
                    <a:gd name="T47" fmla="*/ 73 h 450"/>
                    <a:gd name="T48" fmla="*/ 0 w 837"/>
                    <a:gd name="T49" fmla="*/ 77 h 450"/>
                    <a:gd name="T50" fmla="*/ 20 w 837"/>
                    <a:gd name="T51" fmla="*/ 96 h 450"/>
                    <a:gd name="T52" fmla="*/ 43 w 837"/>
                    <a:gd name="T53" fmla="*/ 116 h 450"/>
                    <a:gd name="T54" fmla="*/ 66 w 837"/>
                    <a:gd name="T55" fmla="*/ 137 h 450"/>
                    <a:gd name="T56" fmla="*/ 90 w 837"/>
                    <a:gd name="T57" fmla="*/ 158 h 450"/>
                    <a:gd name="T58" fmla="*/ 115 w 837"/>
                    <a:gd name="T59" fmla="*/ 178 h 450"/>
                    <a:gd name="T60" fmla="*/ 139 w 837"/>
                    <a:gd name="T61" fmla="*/ 196 h 450"/>
                    <a:gd name="T62" fmla="*/ 163 w 837"/>
                    <a:gd name="T63" fmla="*/ 211 h 450"/>
                    <a:gd name="T64" fmla="*/ 187 w 837"/>
                    <a:gd name="T65" fmla="*/ 224 h 450"/>
                    <a:gd name="T66" fmla="*/ 201 w 837"/>
                    <a:gd name="T67" fmla="*/ 225 h 450"/>
                    <a:gd name="T68" fmla="*/ 214 w 837"/>
                    <a:gd name="T69" fmla="*/ 225 h 450"/>
                    <a:gd name="T70" fmla="*/ 225 w 837"/>
                    <a:gd name="T71" fmla="*/ 219 h 450"/>
                    <a:gd name="T72" fmla="*/ 235 w 837"/>
                    <a:gd name="T73" fmla="*/ 211 h 450"/>
                    <a:gd name="T74" fmla="*/ 240 w 837"/>
                    <a:gd name="T75" fmla="*/ 198 h 450"/>
                    <a:gd name="T76" fmla="*/ 242 w 837"/>
                    <a:gd name="T77" fmla="*/ 182 h 450"/>
                    <a:gd name="T78" fmla="*/ 241 w 837"/>
                    <a:gd name="T79" fmla="*/ 161 h 450"/>
                    <a:gd name="T80" fmla="*/ 236 w 837"/>
                    <a:gd name="T81" fmla="*/ 136 h 450"/>
                    <a:gd name="T82" fmla="*/ 258 w 837"/>
                    <a:gd name="T83" fmla="*/ 105 h 450"/>
                    <a:gd name="T84" fmla="*/ 279 w 837"/>
                    <a:gd name="T85" fmla="*/ 88 h 450"/>
                    <a:gd name="T86" fmla="*/ 298 w 837"/>
                    <a:gd name="T87" fmla="*/ 79 h 450"/>
                    <a:gd name="T88" fmla="*/ 317 w 837"/>
                    <a:gd name="T89" fmla="*/ 79 h 450"/>
                    <a:gd name="T90" fmla="*/ 337 w 837"/>
                    <a:gd name="T91" fmla="*/ 83 h 450"/>
                    <a:gd name="T92" fmla="*/ 361 w 837"/>
                    <a:gd name="T93" fmla="*/ 89 h 450"/>
                    <a:gd name="T94" fmla="*/ 387 w 837"/>
                    <a:gd name="T95" fmla="*/ 95 h 450"/>
                    <a:gd name="T96" fmla="*/ 419 w 837"/>
                    <a:gd name="T97" fmla="*/ 98 h 450"/>
                    <a:gd name="T98" fmla="*/ 401 w 837"/>
                    <a:gd name="T99" fmla="*/ 84 h 450"/>
                    <a:gd name="T100" fmla="*/ 386 w 837"/>
                    <a:gd name="T101" fmla="*/ 72 h 450"/>
                    <a:gd name="T102" fmla="*/ 371 w 837"/>
                    <a:gd name="T103" fmla="*/ 59 h 450"/>
                    <a:gd name="T104" fmla="*/ 356 w 837"/>
                    <a:gd name="T105" fmla="*/ 48 h 450"/>
                    <a:gd name="T106" fmla="*/ 340 w 837"/>
                    <a:gd name="T107" fmla="*/ 36 h 450"/>
                    <a:gd name="T108" fmla="*/ 325 w 837"/>
                    <a:gd name="T109" fmla="*/ 24 h 450"/>
                    <a:gd name="T110" fmla="*/ 309 w 837"/>
                    <a:gd name="T111" fmla="*/ 12 h 450"/>
                    <a:gd name="T112" fmla="*/ 292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5" name="Freeform 24">
                  <a:extLst>
                    <a:ext uri="{FF2B5EF4-FFF2-40B4-BE49-F238E27FC236}">
                      <a16:creationId xmlns:a16="http://schemas.microsoft.com/office/drawing/2014/main" id="{880D1097-1C6D-3846-ABC1-D3C866496750}"/>
                    </a:ext>
                  </a:extLst>
                </p:cNvPr>
                <p:cNvSpPr>
                  <a:spLocks/>
                </p:cNvSpPr>
                <p:nvPr/>
              </p:nvSpPr>
              <p:spPr bwMode="auto">
                <a:xfrm>
                  <a:off x="4151" y="3662"/>
                  <a:ext cx="419" cy="221"/>
                </a:xfrm>
                <a:custGeom>
                  <a:avLst/>
                  <a:gdLst>
                    <a:gd name="T0" fmla="*/ 297 w 837"/>
                    <a:gd name="T1" fmla="*/ 0 h 441"/>
                    <a:gd name="T2" fmla="*/ 267 w 837"/>
                    <a:gd name="T3" fmla="*/ 11 h 441"/>
                    <a:gd name="T4" fmla="*/ 243 w 837"/>
                    <a:gd name="T5" fmla="*/ 22 h 441"/>
                    <a:gd name="T6" fmla="*/ 222 w 837"/>
                    <a:gd name="T7" fmla="*/ 33 h 441"/>
                    <a:gd name="T8" fmla="*/ 204 w 837"/>
                    <a:gd name="T9" fmla="*/ 46 h 441"/>
                    <a:gd name="T10" fmla="*/ 188 w 837"/>
                    <a:gd name="T11" fmla="*/ 60 h 441"/>
                    <a:gd name="T12" fmla="*/ 172 w 837"/>
                    <a:gd name="T13" fmla="*/ 78 h 441"/>
                    <a:gd name="T14" fmla="*/ 155 w 837"/>
                    <a:gd name="T15" fmla="*/ 98 h 441"/>
                    <a:gd name="T16" fmla="*/ 137 w 837"/>
                    <a:gd name="T17" fmla="*/ 124 h 441"/>
                    <a:gd name="T18" fmla="*/ 126 w 837"/>
                    <a:gd name="T19" fmla="*/ 116 h 441"/>
                    <a:gd name="T20" fmla="*/ 114 w 837"/>
                    <a:gd name="T21" fmla="*/ 108 h 441"/>
                    <a:gd name="T22" fmla="*/ 99 w 837"/>
                    <a:gd name="T23" fmla="*/ 99 h 441"/>
                    <a:gd name="T24" fmla="*/ 84 w 837"/>
                    <a:gd name="T25" fmla="*/ 90 h 441"/>
                    <a:gd name="T26" fmla="*/ 68 w 837"/>
                    <a:gd name="T27" fmla="*/ 81 h 441"/>
                    <a:gd name="T28" fmla="*/ 54 w 837"/>
                    <a:gd name="T29" fmla="*/ 72 h 441"/>
                    <a:gd name="T30" fmla="*/ 41 w 837"/>
                    <a:gd name="T31" fmla="*/ 63 h 441"/>
                    <a:gd name="T32" fmla="*/ 33 w 837"/>
                    <a:gd name="T33" fmla="*/ 57 h 441"/>
                    <a:gd name="T34" fmla="*/ 28 w 837"/>
                    <a:gd name="T35" fmla="*/ 59 h 441"/>
                    <a:gd name="T36" fmla="*/ 25 w 837"/>
                    <a:gd name="T37" fmla="*/ 61 h 441"/>
                    <a:gd name="T38" fmla="*/ 20 w 837"/>
                    <a:gd name="T39" fmla="*/ 63 h 441"/>
                    <a:gd name="T40" fmla="*/ 16 w 837"/>
                    <a:gd name="T41" fmla="*/ 65 h 441"/>
                    <a:gd name="T42" fmla="*/ 11 w 837"/>
                    <a:gd name="T43" fmla="*/ 66 h 441"/>
                    <a:gd name="T44" fmla="*/ 7 w 837"/>
                    <a:gd name="T45" fmla="*/ 68 h 441"/>
                    <a:gd name="T46" fmla="*/ 3 w 837"/>
                    <a:gd name="T47" fmla="*/ 70 h 441"/>
                    <a:gd name="T48" fmla="*/ 0 w 837"/>
                    <a:gd name="T49" fmla="*/ 73 h 441"/>
                    <a:gd name="T50" fmla="*/ 20 w 837"/>
                    <a:gd name="T51" fmla="*/ 92 h 441"/>
                    <a:gd name="T52" fmla="*/ 43 w 837"/>
                    <a:gd name="T53" fmla="*/ 113 h 441"/>
                    <a:gd name="T54" fmla="*/ 66 w 837"/>
                    <a:gd name="T55" fmla="*/ 134 h 441"/>
                    <a:gd name="T56" fmla="*/ 90 w 837"/>
                    <a:gd name="T57" fmla="*/ 155 h 441"/>
                    <a:gd name="T58" fmla="*/ 115 w 837"/>
                    <a:gd name="T59" fmla="*/ 174 h 441"/>
                    <a:gd name="T60" fmla="*/ 139 w 837"/>
                    <a:gd name="T61" fmla="*/ 192 h 441"/>
                    <a:gd name="T62" fmla="*/ 163 w 837"/>
                    <a:gd name="T63" fmla="*/ 206 h 441"/>
                    <a:gd name="T64" fmla="*/ 187 w 837"/>
                    <a:gd name="T65" fmla="*/ 219 h 441"/>
                    <a:gd name="T66" fmla="*/ 201 w 837"/>
                    <a:gd name="T67" fmla="*/ 221 h 441"/>
                    <a:gd name="T68" fmla="*/ 214 w 837"/>
                    <a:gd name="T69" fmla="*/ 220 h 441"/>
                    <a:gd name="T70" fmla="*/ 225 w 837"/>
                    <a:gd name="T71" fmla="*/ 216 h 441"/>
                    <a:gd name="T72" fmla="*/ 233 w 837"/>
                    <a:gd name="T73" fmla="*/ 207 h 441"/>
                    <a:gd name="T74" fmla="*/ 239 w 837"/>
                    <a:gd name="T75" fmla="*/ 195 h 441"/>
                    <a:gd name="T76" fmla="*/ 242 w 837"/>
                    <a:gd name="T77" fmla="*/ 179 h 441"/>
                    <a:gd name="T78" fmla="*/ 241 w 837"/>
                    <a:gd name="T79" fmla="*/ 157 h 441"/>
                    <a:gd name="T80" fmla="*/ 236 w 837"/>
                    <a:gd name="T81" fmla="*/ 133 h 441"/>
                    <a:gd name="T82" fmla="*/ 258 w 837"/>
                    <a:gd name="T83" fmla="*/ 102 h 441"/>
                    <a:gd name="T84" fmla="*/ 279 w 837"/>
                    <a:gd name="T85" fmla="*/ 84 h 441"/>
                    <a:gd name="T86" fmla="*/ 298 w 837"/>
                    <a:gd name="T87" fmla="*/ 76 h 441"/>
                    <a:gd name="T88" fmla="*/ 317 w 837"/>
                    <a:gd name="T89" fmla="*/ 76 h 441"/>
                    <a:gd name="T90" fmla="*/ 337 w 837"/>
                    <a:gd name="T91" fmla="*/ 80 h 441"/>
                    <a:gd name="T92" fmla="*/ 361 w 837"/>
                    <a:gd name="T93" fmla="*/ 86 h 441"/>
                    <a:gd name="T94" fmla="*/ 387 w 837"/>
                    <a:gd name="T95" fmla="*/ 92 h 441"/>
                    <a:gd name="T96" fmla="*/ 419 w 837"/>
                    <a:gd name="T97" fmla="*/ 94 h 441"/>
                    <a:gd name="T98" fmla="*/ 401 w 837"/>
                    <a:gd name="T99" fmla="*/ 81 h 441"/>
                    <a:gd name="T100" fmla="*/ 386 w 837"/>
                    <a:gd name="T101" fmla="*/ 69 h 441"/>
                    <a:gd name="T102" fmla="*/ 371 w 837"/>
                    <a:gd name="T103" fmla="*/ 58 h 441"/>
                    <a:gd name="T104" fmla="*/ 357 w 837"/>
                    <a:gd name="T105" fmla="*/ 46 h 441"/>
                    <a:gd name="T106" fmla="*/ 343 w 837"/>
                    <a:gd name="T107" fmla="*/ 35 h 441"/>
                    <a:gd name="T108" fmla="*/ 329 w 837"/>
                    <a:gd name="T109" fmla="*/ 23 h 441"/>
                    <a:gd name="T110" fmla="*/ 313 w 837"/>
                    <a:gd name="T111" fmla="*/ 11 h 441"/>
                    <a:gd name="T112" fmla="*/ 297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6" name="Freeform 25">
                  <a:extLst>
                    <a:ext uri="{FF2B5EF4-FFF2-40B4-BE49-F238E27FC236}">
                      <a16:creationId xmlns:a16="http://schemas.microsoft.com/office/drawing/2014/main" id="{ECE07537-81D6-7B4D-B972-B08EA9CBB39A}"/>
                    </a:ext>
                  </a:extLst>
                </p:cNvPr>
                <p:cNvSpPr>
                  <a:spLocks/>
                </p:cNvSpPr>
                <p:nvPr/>
              </p:nvSpPr>
              <p:spPr bwMode="auto">
                <a:xfrm>
                  <a:off x="4151" y="3666"/>
                  <a:ext cx="419" cy="216"/>
                </a:xfrm>
                <a:custGeom>
                  <a:avLst/>
                  <a:gdLst>
                    <a:gd name="T0" fmla="*/ 302 w 837"/>
                    <a:gd name="T1" fmla="*/ 0 h 433"/>
                    <a:gd name="T2" fmla="*/ 272 w 837"/>
                    <a:gd name="T3" fmla="*/ 11 h 433"/>
                    <a:gd name="T4" fmla="*/ 247 w 837"/>
                    <a:gd name="T5" fmla="*/ 22 h 433"/>
                    <a:gd name="T6" fmla="*/ 226 w 837"/>
                    <a:gd name="T7" fmla="*/ 34 h 433"/>
                    <a:gd name="T8" fmla="*/ 208 w 837"/>
                    <a:gd name="T9" fmla="*/ 47 h 433"/>
                    <a:gd name="T10" fmla="*/ 191 w 837"/>
                    <a:gd name="T11" fmla="*/ 62 h 433"/>
                    <a:gd name="T12" fmla="*/ 174 w 837"/>
                    <a:gd name="T13" fmla="*/ 80 h 433"/>
                    <a:gd name="T14" fmla="*/ 157 w 837"/>
                    <a:gd name="T15" fmla="*/ 101 h 433"/>
                    <a:gd name="T16" fmla="*/ 139 w 837"/>
                    <a:gd name="T17" fmla="*/ 126 h 433"/>
                    <a:gd name="T18" fmla="*/ 128 w 837"/>
                    <a:gd name="T19" fmla="*/ 119 h 433"/>
                    <a:gd name="T20" fmla="*/ 115 w 837"/>
                    <a:gd name="T21" fmla="*/ 111 h 433"/>
                    <a:gd name="T22" fmla="*/ 100 w 837"/>
                    <a:gd name="T23" fmla="*/ 101 h 433"/>
                    <a:gd name="T24" fmla="*/ 83 w 837"/>
                    <a:gd name="T25" fmla="*/ 92 h 433"/>
                    <a:gd name="T26" fmla="*/ 67 w 837"/>
                    <a:gd name="T27" fmla="*/ 82 h 433"/>
                    <a:gd name="T28" fmla="*/ 51 w 837"/>
                    <a:gd name="T29" fmla="*/ 73 h 433"/>
                    <a:gd name="T30" fmla="*/ 38 w 837"/>
                    <a:gd name="T31" fmla="*/ 64 h 433"/>
                    <a:gd name="T32" fmla="*/ 28 w 837"/>
                    <a:gd name="T33" fmla="*/ 57 h 433"/>
                    <a:gd name="T34" fmla="*/ 25 w 837"/>
                    <a:gd name="T35" fmla="*/ 59 h 433"/>
                    <a:gd name="T36" fmla="*/ 21 w 837"/>
                    <a:gd name="T37" fmla="*/ 61 h 433"/>
                    <a:gd name="T38" fmla="*/ 18 w 837"/>
                    <a:gd name="T39" fmla="*/ 61 h 433"/>
                    <a:gd name="T40" fmla="*/ 14 w 837"/>
                    <a:gd name="T41" fmla="*/ 62 h 433"/>
                    <a:gd name="T42" fmla="*/ 10 w 837"/>
                    <a:gd name="T43" fmla="*/ 63 h 433"/>
                    <a:gd name="T44" fmla="*/ 6 w 837"/>
                    <a:gd name="T45" fmla="*/ 64 h 433"/>
                    <a:gd name="T46" fmla="*/ 3 w 837"/>
                    <a:gd name="T47" fmla="*/ 66 h 433"/>
                    <a:gd name="T48" fmla="*/ 0 w 837"/>
                    <a:gd name="T49" fmla="*/ 69 h 433"/>
                    <a:gd name="T50" fmla="*/ 20 w 837"/>
                    <a:gd name="T51" fmla="*/ 88 h 433"/>
                    <a:gd name="T52" fmla="*/ 43 w 837"/>
                    <a:gd name="T53" fmla="*/ 109 h 433"/>
                    <a:gd name="T54" fmla="*/ 67 w 837"/>
                    <a:gd name="T55" fmla="*/ 130 h 433"/>
                    <a:gd name="T56" fmla="*/ 91 w 837"/>
                    <a:gd name="T57" fmla="*/ 150 h 433"/>
                    <a:gd name="T58" fmla="*/ 115 w 837"/>
                    <a:gd name="T59" fmla="*/ 169 h 433"/>
                    <a:gd name="T60" fmla="*/ 140 w 837"/>
                    <a:gd name="T61" fmla="*/ 187 h 433"/>
                    <a:gd name="T62" fmla="*/ 164 w 837"/>
                    <a:gd name="T63" fmla="*/ 202 h 433"/>
                    <a:gd name="T64" fmla="*/ 188 w 837"/>
                    <a:gd name="T65" fmla="*/ 214 h 433"/>
                    <a:gd name="T66" fmla="*/ 200 w 837"/>
                    <a:gd name="T67" fmla="*/ 216 h 433"/>
                    <a:gd name="T68" fmla="*/ 213 w 837"/>
                    <a:gd name="T69" fmla="*/ 215 h 433"/>
                    <a:gd name="T70" fmla="*/ 223 w 837"/>
                    <a:gd name="T71" fmla="*/ 210 h 433"/>
                    <a:gd name="T72" fmla="*/ 233 w 837"/>
                    <a:gd name="T73" fmla="*/ 203 h 433"/>
                    <a:gd name="T74" fmla="*/ 238 w 837"/>
                    <a:gd name="T75" fmla="*/ 190 h 433"/>
                    <a:gd name="T76" fmla="*/ 241 w 837"/>
                    <a:gd name="T77" fmla="*/ 175 h 433"/>
                    <a:gd name="T78" fmla="*/ 240 w 837"/>
                    <a:gd name="T79" fmla="*/ 153 h 433"/>
                    <a:gd name="T80" fmla="*/ 236 w 837"/>
                    <a:gd name="T81" fmla="*/ 129 h 433"/>
                    <a:gd name="T82" fmla="*/ 258 w 837"/>
                    <a:gd name="T83" fmla="*/ 98 h 433"/>
                    <a:gd name="T84" fmla="*/ 279 w 837"/>
                    <a:gd name="T85" fmla="*/ 80 h 433"/>
                    <a:gd name="T86" fmla="*/ 298 w 837"/>
                    <a:gd name="T87" fmla="*/ 72 h 433"/>
                    <a:gd name="T88" fmla="*/ 317 w 837"/>
                    <a:gd name="T89" fmla="*/ 72 h 433"/>
                    <a:gd name="T90" fmla="*/ 337 w 837"/>
                    <a:gd name="T91" fmla="*/ 76 h 433"/>
                    <a:gd name="T92" fmla="*/ 361 w 837"/>
                    <a:gd name="T93" fmla="*/ 82 h 433"/>
                    <a:gd name="T94" fmla="*/ 387 w 837"/>
                    <a:gd name="T95" fmla="*/ 88 h 433"/>
                    <a:gd name="T96" fmla="*/ 419 w 837"/>
                    <a:gd name="T97" fmla="*/ 90 h 433"/>
                    <a:gd name="T98" fmla="*/ 402 w 837"/>
                    <a:gd name="T99" fmla="*/ 78 h 433"/>
                    <a:gd name="T100" fmla="*/ 387 w 837"/>
                    <a:gd name="T101" fmla="*/ 66 h 433"/>
                    <a:gd name="T102" fmla="*/ 373 w 837"/>
                    <a:gd name="T103" fmla="*/ 55 h 433"/>
                    <a:gd name="T104" fmla="*/ 360 w 837"/>
                    <a:gd name="T105" fmla="*/ 44 h 433"/>
                    <a:gd name="T106" fmla="*/ 346 w 837"/>
                    <a:gd name="T107" fmla="*/ 34 h 433"/>
                    <a:gd name="T108" fmla="*/ 332 w 837"/>
                    <a:gd name="T109" fmla="*/ 23 h 433"/>
                    <a:gd name="T110" fmla="*/ 317 w 837"/>
                    <a:gd name="T111" fmla="*/ 11 h 433"/>
                    <a:gd name="T112" fmla="*/ 302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7" name="Freeform 26">
                  <a:extLst>
                    <a:ext uri="{FF2B5EF4-FFF2-40B4-BE49-F238E27FC236}">
                      <a16:creationId xmlns:a16="http://schemas.microsoft.com/office/drawing/2014/main" id="{C70348C2-E42C-C84D-92AE-45FBD91577E5}"/>
                    </a:ext>
                  </a:extLst>
                </p:cNvPr>
                <p:cNvSpPr>
                  <a:spLocks/>
                </p:cNvSpPr>
                <p:nvPr/>
              </p:nvSpPr>
              <p:spPr bwMode="auto">
                <a:xfrm>
                  <a:off x="3659" y="2675"/>
                  <a:ext cx="1059" cy="612"/>
                </a:xfrm>
                <a:custGeom>
                  <a:avLst/>
                  <a:gdLst>
                    <a:gd name="T0" fmla="*/ 376 w 2117"/>
                    <a:gd name="T1" fmla="*/ 287 h 1224"/>
                    <a:gd name="T2" fmla="*/ 302 w 2117"/>
                    <a:gd name="T3" fmla="*/ 352 h 1224"/>
                    <a:gd name="T4" fmla="*/ 228 w 2117"/>
                    <a:gd name="T5" fmla="*/ 398 h 1224"/>
                    <a:gd name="T6" fmla="*/ 175 w 2117"/>
                    <a:gd name="T7" fmla="*/ 401 h 1224"/>
                    <a:gd name="T8" fmla="*/ 137 w 2117"/>
                    <a:gd name="T9" fmla="*/ 415 h 1224"/>
                    <a:gd name="T10" fmla="*/ 66 w 2117"/>
                    <a:gd name="T11" fmla="*/ 471 h 1224"/>
                    <a:gd name="T12" fmla="*/ 11 w 2117"/>
                    <a:gd name="T13" fmla="*/ 514 h 1224"/>
                    <a:gd name="T14" fmla="*/ 2 w 2117"/>
                    <a:gd name="T15" fmla="*/ 566 h 1224"/>
                    <a:gd name="T16" fmla="*/ 40 w 2117"/>
                    <a:gd name="T17" fmla="*/ 607 h 1224"/>
                    <a:gd name="T18" fmla="*/ 100 w 2117"/>
                    <a:gd name="T19" fmla="*/ 600 h 1224"/>
                    <a:gd name="T20" fmla="*/ 160 w 2117"/>
                    <a:gd name="T21" fmla="*/ 594 h 1224"/>
                    <a:gd name="T22" fmla="*/ 311 w 2117"/>
                    <a:gd name="T23" fmla="*/ 589 h 1224"/>
                    <a:gd name="T24" fmla="*/ 462 w 2117"/>
                    <a:gd name="T25" fmla="*/ 579 h 1224"/>
                    <a:gd name="T26" fmla="*/ 597 w 2117"/>
                    <a:gd name="T27" fmla="*/ 572 h 1224"/>
                    <a:gd name="T28" fmla="*/ 663 w 2117"/>
                    <a:gd name="T29" fmla="*/ 568 h 1224"/>
                    <a:gd name="T30" fmla="*/ 722 w 2117"/>
                    <a:gd name="T31" fmla="*/ 538 h 1224"/>
                    <a:gd name="T32" fmla="*/ 792 w 2117"/>
                    <a:gd name="T33" fmla="*/ 498 h 1224"/>
                    <a:gd name="T34" fmla="*/ 839 w 2117"/>
                    <a:gd name="T35" fmla="*/ 461 h 1224"/>
                    <a:gd name="T36" fmla="*/ 842 w 2117"/>
                    <a:gd name="T37" fmla="*/ 339 h 1224"/>
                    <a:gd name="T38" fmla="*/ 881 w 2117"/>
                    <a:gd name="T39" fmla="*/ 334 h 1224"/>
                    <a:gd name="T40" fmla="*/ 918 w 2117"/>
                    <a:gd name="T41" fmla="*/ 362 h 1224"/>
                    <a:gd name="T42" fmla="*/ 1015 w 2117"/>
                    <a:gd name="T43" fmla="*/ 341 h 1224"/>
                    <a:gd name="T44" fmla="*/ 1051 w 2117"/>
                    <a:gd name="T45" fmla="*/ 207 h 1224"/>
                    <a:gd name="T46" fmla="*/ 947 w 2117"/>
                    <a:gd name="T47" fmla="*/ 130 h 1224"/>
                    <a:gd name="T48" fmla="*/ 888 w 2117"/>
                    <a:gd name="T49" fmla="*/ 165 h 1224"/>
                    <a:gd name="T50" fmla="*/ 863 w 2117"/>
                    <a:gd name="T51" fmla="*/ 201 h 1224"/>
                    <a:gd name="T52" fmla="*/ 826 w 2117"/>
                    <a:gd name="T53" fmla="*/ 208 h 1224"/>
                    <a:gd name="T54" fmla="*/ 812 w 2117"/>
                    <a:gd name="T55" fmla="*/ 195 h 1224"/>
                    <a:gd name="T56" fmla="*/ 802 w 2117"/>
                    <a:gd name="T57" fmla="*/ 186 h 1224"/>
                    <a:gd name="T58" fmla="*/ 801 w 2117"/>
                    <a:gd name="T59" fmla="*/ 171 h 1224"/>
                    <a:gd name="T60" fmla="*/ 836 w 2117"/>
                    <a:gd name="T61" fmla="*/ 165 h 1224"/>
                    <a:gd name="T62" fmla="*/ 863 w 2117"/>
                    <a:gd name="T63" fmla="*/ 154 h 1224"/>
                    <a:gd name="T64" fmla="*/ 899 w 2117"/>
                    <a:gd name="T65" fmla="*/ 55 h 1224"/>
                    <a:gd name="T66" fmla="*/ 774 w 2117"/>
                    <a:gd name="T67" fmla="*/ 0 h 1224"/>
                    <a:gd name="T68" fmla="*/ 658 w 2117"/>
                    <a:gd name="T69" fmla="*/ 72 h 1224"/>
                    <a:gd name="T70" fmla="*/ 659 w 2117"/>
                    <a:gd name="T71" fmla="*/ 98 h 1224"/>
                    <a:gd name="T72" fmla="*/ 661 w 2117"/>
                    <a:gd name="T73" fmla="*/ 124 h 1224"/>
                    <a:gd name="T74" fmla="*/ 653 w 2117"/>
                    <a:gd name="T75" fmla="*/ 145 h 1224"/>
                    <a:gd name="T76" fmla="*/ 631 w 2117"/>
                    <a:gd name="T77" fmla="*/ 150 h 1224"/>
                    <a:gd name="T78" fmla="*/ 609 w 2117"/>
                    <a:gd name="T79" fmla="*/ 155 h 1224"/>
                    <a:gd name="T80" fmla="*/ 573 w 2117"/>
                    <a:gd name="T81" fmla="*/ 167 h 1224"/>
                    <a:gd name="T82" fmla="*/ 532 w 2117"/>
                    <a:gd name="T83" fmla="*/ 182 h 1224"/>
                    <a:gd name="T84" fmla="*/ 492 w 2117"/>
                    <a:gd name="T85" fmla="*/ 197 h 1224"/>
                    <a:gd name="T86" fmla="*/ 469 w 2117"/>
                    <a:gd name="T87" fmla="*/ 216 h 1224"/>
                    <a:gd name="T88" fmla="*/ 447 w 2117"/>
                    <a:gd name="T89" fmla="*/ 235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8" name="Freeform 27">
                  <a:extLst>
                    <a:ext uri="{FF2B5EF4-FFF2-40B4-BE49-F238E27FC236}">
                      <a16:creationId xmlns:a16="http://schemas.microsoft.com/office/drawing/2014/main" id="{2B5AB000-5F79-7946-B785-6201F8472A58}"/>
                    </a:ext>
                  </a:extLst>
                </p:cNvPr>
                <p:cNvSpPr>
                  <a:spLocks/>
                </p:cNvSpPr>
                <p:nvPr/>
              </p:nvSpPr>
              <p:spPr bwMode="auto">
                <a:xfrm>
                  <a:off x="3693" y="2684"/>
                  <a:ext cx="1024" cy="586"/>
                </a:xfrm>
                <a:custGeom>
                  <a:avLst/>
                  <a:gdLst>
                    <a:gd name="T0" fmla="*/ 343 w 2048"/>
                    <a:gd name="T1" fmla="*/ 277 h 1171"/>
                    <a:gd name="T2" fmla="*/ 276 w 2048"/>
                    <a:gd name="T3" fmla="*/ 341 h 1171"/>
                    <a:gd name="T4" fmla="*/ 206 w 2048"/>
                    <a:gd name="T5" fmla="*/ 387 h 1171"/>
                    <a:gd name="T6" fmla="*/ 155 w 2048"/>
                    <a:gd name="T7" fmla="*/ 390 h 1171"/>
                    <a:gd name="T8" fmla="*/ 119 w 2048"/>
                    <a:gd name="T9" fmla="*/ 406 h 1171"/>
                    <a:gd name="T10" fmla="*/ 51 w 2048"/>
                    <a:gd name="T11" fmla="*/ 461 h 1171"/>
                    <a:gd name="T12" fmla="*/ 3 w 2048"/>
                    <a:gd name="T13" fmla="*/ 502 h 1171"/>
                    <a:gd name="T14" fmla="*/ 1 w 2048"/>
                    <a:gd name="T15" fmla="*/ 547 h 1171"/>
                    <a:gd name="T16" fmla="*/ 37 w 2048"/>
                    <a:gd name="T17" fmla="*/ 581 h 1171"/>
                    <a:gd name="T18" fmla="*/ 92 w 2048"/>
                    <a:gd name="T19" fmla="*/ 577 h 1171"/>
                    <a:gd name="T20" fmla="*/ 150 w 2048"/>
                    <a:gd name="T21" fmla="*/ 572 h 1171"/>
                    <a:gd name="T22" fmla="*/ 289 w 2048"/>
                    <a:gd name="T23" fmla="*/ 570 h 1171"/>
                    <a:gd name="T24" fmla="*/ 436 w 2048"/>
                    <a:gd name="T25" fmla="*/ 563 h 1171"/>
                    <a:gd name="T26" fmla="*/ 569 w 2048"/>
                    <a:gd name="T27" fmla="*/ 556 h 1171"/>
                    <a:gd name="T28" fmla="*/ 636 w 2048"/>
                    <a:gd name="T29" fmla="*/ 552 h 1171"/>
                    <a:gd name="T30" fmla="*/ 691 w 2048"/>
                    <a:gd name="T31" fmla="*/ 526 h 1171"/>
                    <a:gd name="T32" fmla="*/ 757 w 2048"/>
                    <a:gd name="T33" fmla="*/ 489 h 1171"/>
                    <a:gd name="T34" fmla="*/ 805 w 2048"/>
                    <a:gd name="T35" fmla="*/ 452 h 1171"/>
                    <a:gd name="T36" fmla="*/ 807 w 2048"/>
                    <a:gd name="T37" fmla="*/ 330 h 1171"/>
                    <a:gd name="T38" fmla="*/ 847 w 2048"/>
                    <a:gd name="T39" fmla="*/ 325 h 1171"/>
                    <a:gd name="T40" fmla="*/ 883 w 2048"/>
                    <a:gd name="T41" fmla="*/ 353 h 1171"/>
                    <a:gd name="T42" fmla="*/ 980 w 2048"/>
                    <a:gd name="T43" fmla="*/ 332 h 1171"/>
                    <a:gd name="T44" fmla="*/ 1015 w 2048"/>
                    <a:gd name="T45" fmla="*/ 200 h 1171"/>
                    <a:gd name="T46" fmla="*/ 909 w 2048"/>
                    <a:gd name="T47" fmla="*/ 124 h 1171"/>
                    <a:gd name="T48" fmla="*/ 850 w 2048"/>
                    <a:gd name="T49" fmla="*/ 159 h 1171"/>
                    <a:gd name="T50" fmla="*/ 827 w 2048"/>
                    <a:gd name="T51" fmla="*/ 193 h 1171"/>
                    <a:gd name="T52" fmla="*/ 792 w 2048"/>
                    <a:gd name="T53" fmla="*/ 199 h 1171"/>
                    <a:gd name="T54" fmla="*/ 778 w 2048"/>
                    <a:gd name="T55" fmla="*/ 186 h 1171"/>
                    <a:gd name="T56" fmla="*/ 767 w 2048"/>
                    <a:gd name="T57" fmla="*/ 175 h 1171"/>
                    <a:gd name="T58" fmla="*/ 765 w 2048"/>
                    <a:gd name="T59" fmla="*/ 160 h 1171"/>
                    <a:gd name="T60" fmla="*/ 795 w 2048"/>
                    <a:gd name="T61" fmla="*/ 153 h 1171"/>
                    <a:gd name="T62" fmla="*/ 819 w 2048"/>
                    <a:gd name="T63" fmla="*/ 141 h 1171"/>
                    <a:gd name="T64" fmla="*/ 848 w 2048"/>
                    <a:gd name="T65" fmla="*/ 50 h 1171"/>
                    <a:gd name="T66" fmla="*/ 731 w 2048"/>
                    <a:gd name="T67" fmla="*/ 0 h 1171"/>
                    <a:gd name="T68" fmla="*/ 626 w 2048"/>
                    <a:gd name="T69" fmla="*/ 65 h 1171"/>
                    <a:gd name="T70" fmla="*/ 626 w 2048"/>
                    <a:gd name="T71" fmla="*/ 91 h 1171"/>
                    <a:gd name="T72" fmla="*/ 627 w 2048"/>
                    <a:gd name="T73" fmla="*/ 115 h 1171"/>
                    <a:gd name="T74" fmla="*/ 619 w 2048"/>
                    <a:gd name="T75" fmla="*/ 135 h 1171"/>
                    <a:gd name="T76" fmla="*/ 597 w 2048"/>
                    <a:gd name="T77" fmla="*/ 141 h 1171"/>
                    <a:gd name="T78" fmla="*/ 574 w 2048"/>
                    <a:gd name="T79" fmla="*/ 146 h 1171"/>
                    <a:gd name="T80" fmla="*/ 538 w 2048"/>
                    <a:gd name="T81" fmla="*/ 158 h 1171"/>
                    <a:gd name="T82" fmla="*/ 498 w 2048"/>
                    <a:gd name="T83" fmla="*/ 173 h 1171"/>
                    <a:gd name="T84" fmla="*/ 458 w 2048"/>
                    <a:gd name="T85" fmla="*/ 188 h 1171"/>
                    <a:gd name="T86" fmla="*/ 435 w 2048"/>
                    <a:gd name="T87" fmla="*/ 207 h 1171"/>
                    <a:gd name="T88" fmla="*/ 412 w 2048"/>
                    <a:gd name="T89" fmla="*/ 226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49" name="Freeform 28">
                  <a:extLst>
                    <a:ext uri="{FF2B5EF4-FFF2-40B4-BE49-F238E27FC236}">
                      <a16:creationId xmlns:a16="http://schemas.microsoft.com/office/drawing/2014/main" id="{3DAC5C9D-60EC-F840-A624-38FEEDCC9E1C}"/>
                    </a:ext>
                  </a:extLst>
                </p:cNvPr>
                <p:cNvSpPr>
                  <a:spLocks/>
                </p:cNvSpPr>
                <p:nvPr/>
              </p:nvSpPr>
              <p:spPr bwMode="auto">
                <a:xfrm>
                  <a:off x="3723" y="2694"/>
                  <a:ext cx="993" cy="561"/>
                </a:xfrm>
                <a:custGeom>
                  <a:avLst/>
                  <a:gdLst>
                    <a:gd name="T0" fmla="*/ 316 w 1985"/>
                    <a:gd name="T1" fmla="*/ 267 h 1121"/>
                    <a:gd name="T2" fmla="*/ 256 w 1985"/>
                    <a:gd name="T3" fmla="*/ 330 h 1121"/>
                    <a:gd name="T4" fmla="*/ 190 w 1985"/>
                    <a:gd name="T5" fmla="*/ 375 h 1121"/>
                    <a:gd name="T6" fmla="*/ 140 w 1985"/>
                    <a:gd name="T7" fmla="*/ 380 h 1121"/>
                    <a:gd name="T8" fmla="*/ 105 w 1985"/>
                    <a:gd name="T9" fmla="*/ 397 h 1121"/>
                    <a:gd name="T10" fmla="*/ 40 w 1985"/>
                    <a:gd name="T11" fmla="*/ 450 h 1121"/>
                    <a:gd name="T12" fmla="*/ 1 w 1985"/>
                    <a:gd name="T13" fmla="*/ 489 h 1121"/>
                    <a:gd name="T14" fmla="*/ 5 w 1985"/>
                    <a:gd name="T15" fmla="*/ 528 h 1121"/>
                    <a:gd name="T16" fmla="*/ 39 w 1985"/>
                    <a:gd name="T17" fmla="*/ 557 h 1121"/>
                    <a:gd name="T18" fmla="*/ 89 w 1985"/>
                    <a:gd name="T19" fmla="*/ 554 h 1121"/>
                    <a:gd name="T20" fmla="*/ 146 w 1985"/>
                    <a:gd name="T21" fmla="*/ 550 h 1121"/>
                    <a:gd name="T22" fmla="*/ 273 w 1985"/>
                    <a:gd name="T23" fmla="*/ 552 h 1121"/>
                    <a:gd name="T24" fmla="*/ 414 w 1985"/>
                    <a:gd name="T25" fmla="*/ 546 h 1121"/>
                    <a:gd name="T26" fmla="*/ 545 w 1985"/>
                    <a:gd name="T27" fmla="*/ 541 h 1121"/>
                    <a:gd name="T28" fmla="*/ 614 w 1985"/>
                    <a:gd name="T29" fmla="*/ 536 h 1121"/>
                    <a:gd name="T30" fmla="*/ 665 w 1985"/>
                    <a:gd name="T31" fmla="*/ 513 h 1121"/>
                    <a:gd name="T32" fmla="*/ 728 w 1985"/>
                    <a:gd name="T33" fmla="*/ 479 h 1121"/>
                    <a:gd name="T34" fmla="*/ 775 w 1985"/>
                    <a:gd name="T35" fmla="*/ 442 h 1121"/>
                    <a:gd name="T36" fmla="*/ 778 w 1985"/>
                    <a:gd name="T37" fmla="*/ 320 h 1121"/>
                    <a:gd name="T38" fmla="*/ 817 w 1985"/>
                    <a:gd name="T39" fmla="*/ 315 h 1121"/>
                    <a:gd name="T40" fmla="*/ 854 w 1985"/>
                    <a:gd name="T41" fmla="*/ 343 h 1121"/>
                    <a:gd name="T42" fmla="*/ 951 w 1985"/>
                    <a:gd name="T43" fmla="*/ 322 h 1121"/>
                    <a:gd name="T44" fmla="*/ 984 w 1985"/>
                    <a:gd name="T45" fmla="*/ 191 h 1121"/>
                    <a:gd name="T46" fmla="*/ 876 w 1985"/>
                    <a:gd name="T47" fmla="*/ 117 h 1121"/>
                    <a:gd name="T48" fmla="*/ 818 w 1985"/>
                    <a:gd name="T49" fmla="*/ 152 h 1121"/>
                    <a:gd name="T50" fmla="*/ 796 w 1985"/>
                    <a:gd name="T51" fmla="*/ 184 h 1121"/>
                    <a:gd name="T52" fmla="*/ 762 w 1985"/>
                    <a:gd name="T53" fmla="*/ 189 h 1121"/>
                    <a:gd name="T54" fmla="*/ 748 w 1985"/>
                    <a:gd name="T55" fmla="*/ 175 h 1121"/>
                    <a:gd name="T56" fmla="*/ 737 w 1985"/>
                    <a:gd name="T57" fmla="*/ 164 h 1121"/>
                    <a:gd name="T58" fmla="*/ 734 w 1985"/>
                    <a:gd name="T59" fmla="*/ 148 h 1121"/>
                    <a:gd name="T60" fmla="*/ 759 w 1985"/>
                    <a:gd name="T61" fmla="*/ 139 h 1121"/>
                    <a:gd name="T62" fmla="*/ 779 w 1985"/>
                    <a:gd name="T63" fmla="*/ 127 h 1121"/>
                    <a:gd name="T64" fmla="*/ 801 w 1985"/>
                    <a:gd name="T65" fmla="*/ 45 h 1121"/>
                    <a:gd name="T66" fmla="*/ 693 w 1985"/>
                    <a:gd name="T67" fmla="*/ 0 h 1121"/>
                    <a:gd name="T68" fmla="*/ 597 w 1985"/>
                    <a:gd name="T69" fmla="*/ 58 h 1121"/>
                    <a:gd name="T70" fmla="*/ 597 w 1985"/>
                    <a:gd name="T71" fmla="*/ 82 h 1121"/>
                    <a:gd name="T72" fmla="*/ 597 w 1985"/>
                    <a:gd name="T73" fmla="*/ 106 h 1121"/>
                    <a:gd name="T74" fmla="*/ 589 w 1985"/>
                    <a:gd name="T75" fmla="*/ 125 h 1121"/>
                    <a:gd name="T76" fmla="*/ 567 w 1985"/>
                    <a:gd name="T77" fmla="*/ 131 h 1121"/>
                    <a:gd name="T78" fmla="*/ 545 w 1985"/>
                    <a:gd name="T79" fmla="*/ 136 h 1121"/>
                    <a:gd name="T80" fmla="*/ 509 w 1985"/>
                    <a:gd name="T81" fmla="*/ 148 h 1121"/>
                    <a:gd name="T82" fmla="*/ 468 w 1985"/>
                    <a:gd name="T83" fmla="*/ 163 h 1121"/>
                    <a:gd name="T84" fmla="*/ 428 w 1985"/>
                    <a:gd name="T85" fmla="*/ 178 h 1121"/>
                    <a:gd name="T86" fmla="*/ 405 w 1985"/>
                    <a:gd name="T87" fmla="*/ 197 h 1121"/>
                    <a:gd name="T88" fmla="*/ 383 w 1985"/>
                    <a:gd name="T89" fmla="*/ 216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0" name="Freeform 29">
                  <a:extLst>
                    <a:ext uri="{FF2B5EF4-FFF2-40B4-BE49-F238E27FC236}">
                      <a16:creationId xmlns:a16="http://schemas.microsoft.com/office/drawing/2014/main" id="{ABE64A1E-BBE2-EB45-BD64-1F853331366F}"/>
                    </a:ext>
                  </a:extLst>
                </p:cNvPr>
                <p:cNvSpPr>
                  <a:spLocks/>
                </p:cNvSpPr>
                <p:nvPr/>
              </p:nvSpPr>
              <p:spPr bwMode="auto">
                <a:xfrm>
                  <a:off x="3751" y="2703"/>
                  <a:ext cx="963" cy="536"/>
                </a:xfrm>
                <a:custGeom>
                  <a:avLst/>
                  <a:gdLst>
                    <a:gd name="T0" fmla="*/ 290 w 1927"/>
                    <a:gd name="T1" fmla="*/ 258 h 1072"/>
                    <a:gd name="T2" fmla="*/ 237 w 1927"/>
                    <a:gd name="T3" fmla="*/ 321 h 1072"/>
                    <a:gd name="T4" fmla="*/ 176 w 1927"/>
                    <a:gd name="T5" fmla="*/ 364 h 1072"/>
                    <a:gd name="T6" fmla="*/ 126 w 1927"/>
                    <a:gd name="T7" fmla="*/ 369 h 1072"/>
                    <a:gd name="T8" fmla="*/ 93 w 1927"/>
                    <a:gd name="T9" fmla="*/ 388 h 1072"/>
                    <a:gd name="T10" fmla="*/ 31 w 1927"/>
                    <a:gd name="T11" fmla="*/ 439 h 1072"/>
                    <a:gd name="T12" fmla="*/ 0 w 1927"/>
                    <a:gd name="T13" fmla="*/ 477 h 1072"/>
                    <a:gd name="T14" fmla="*/ 10 w 1927"/>
                    <a:gd name="T15" fmla="*/ 508 h 1072"/>
                    <a:gd name="T16" fmla="*/ 41 w 1927"/>
                    <a:gd name="T17" fmla="*/ 533 h 1072"/>
                    <a:gd name="T18" fmla="*/ 87 w 1927"/>
                    <a:gd name="T19" fmla="*/ 532 h 1072"/>
                    <a:gd name="T20" fmla="*/ 142 w 1927"/>
                    <a:gd name="T21" fmla="*/ 530 h 1072"/>
                    <a:gd name="T22" fmla="*/ 257 w 1927"/>
                    <a:gd name="T23" fmla="*/ 534 h 1072"/>
                    <a:gd name="T24" fmla="*/ 393 w 1927"/>
                    <a:gd name="T25" fmla="*/ 532 h 1072"/>
                    <a:gd name="T26" fmla="*/ 523 w 1927"/>
                    <a:gd name="T27" fmla="*/ 527 h 1072"/>
                    <a:gd name="T28" fmla="*/ 592 w 1927"/>
                    <a:gd name="T29" fmla="*/ 523 h 1072"/>
                    <a:gd name="T30" fmla="*/ 640 w 1927"/>
                    <a:gd name="T31" fmla="*/ 502 h 1072"/>
                    <a:gd name="T32" fmla="*/ 699 w 1927"/>
                    <a:gd name="T33" fmla="*/ 470 h 1072"/>
                    <a:gd name="T34" fmla="*/ 747 w 1927"/>
                    <a:gd name="T35" fmla="*/ 433 h 1072"/>
                    <a:gd name="T36" fmla="*/ 749 w 1927"/>
                    <a:gd name="T37" fmla="*/ 311 h 1072"/>
                    <a:gd name="T38" fmla="*/ 789 w 1927"/>
                    <a:gd name="T39" fmla="*/ 306 h 1072"/>
                    <a:gd name="T40" fmla="*/ 825 w 1927"/>
                    <a:gd name="T41" fmla="*/ 334 h 1072"/>
                    <a:gd name="T42" fmla="*/ 922 w 1927"/>
                    <a:gd name="T43" fmla="*/ 313 h 1072"/>
                    <a:gd name="T44" fmla="*/ 953 w 1927"/>
                    <a:gd name="T45" fmla="*/ 184 h 1072"/>
                    <a:gd name="T46" fmla="*/ 845 w 1927"/>
                    <a:gd name="T47" fmla="*/ 111 h 1072"/>
                    <a:gd name="T48" fmla="*/ 787 w 1927"/>
                    <a:gd name="T49" fmla="*/ 145 h 1072"/>
                    <a:gd name="T50" fmla="*/ 767 w 1927"/>
                    <a:gd name="T51" fmla="*/ 176 h 1072"/>
                    <a:gd name="T52" fmla="*/ 734 w 1927"/>
                    <a:gd name="T53" fmla="*/ 180 h 1072"/>
                    <a:gd name="T54" fmla="*/ 719 w 1927"/>
                    <a:gd name="T55" fmla="*/ 166 h 1072"/>
                    <a:gd name="T56" fmla="*/ 708 w 1927"/>
                    <a:gd name="T57" fmla="*/ 154 h 1072"/>
                    <a:gd name="T58" fmla="*/ 704 w 1927"/>
                    <a:gd name="T59" fmla="*/ 137 h 1072"/>
                    <a:gd name="T60" fmla="*/ 725 w 1927"/>
                    <a:gd name="T61" fmla="*/ 127 h 1072"/>
                    <a:gd name="T62" fmla="*/ 739 w 1927"/>
                    <a:gd name="T63" fmla="*/ 114 h 1072"/>
                    <a:gd name="T64" fmla="*/ 756 w 1927"/>
                    <a:gd name="T65" fmla="*/ 40 h 1072"/>
                    <a:gd name="T66" fmla="*/ 656 w 1927"/>
                    <a:gd name="T67" fmla="*/ 0 h 1072"/>
                    <a:gd name="T68" fmla="*/ 571 w 1927"/>
                    <a:gd name="T69" fmla="*/ 51 h 1072"/>
                    <a:gd name="T70" fmla="*/ 570 w 1927"/>
                    <a:gd name="T71" fmla="*/ 75 h 1072"/>
                    <a:gd name="T72" fmla="*/ 569 w 1927"/>
                    <a:gd name="T73" fmla="*/ 97 h 1072"/>
                    <a:gd name="T74" fmla="*/ 561 w 1927"/>
                    <a:gd name="T75" fmla="*/ 116 h 1072"/>
                    <a:gd name="T76" fmla="*/ 539 w 1927"/>
                    <a:gd name="T77" fmla="*/ 122 h 1072"/>
                    <a:gd name="T78" fmla="*/ 516 w 1927"/>
                    <a:gd name="T79" fmla="*/ 127 h 1072"/>
                    <a:gd name="T80" fmla="*/ 480 w 1927"/>
                    <a:gd name="T81" fmla="*/ 139 h 1072"/>
                    <a:gd name="T82" fmla="*/ 440 w 1927"/>
                    <a:gd name="T83" fmla="*/ 154 h 1072"/>
                    <a:gd name="T84" fmla="*/ 400 w 1927"/>
                    <a:gd name="T85" fmla="*/ 169 h 1072"/>
                    <a:gd name="T86" fmla="*/ 377 w 1927"/>
                    <a:gd name="T87" fmla="*/ 188 h 1072"/>
                    <a:gd name="T88" fmla="*/ 354 w 1927"/>
                    <a:gd name="T89" fmla="*/ 207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1" name="Freeform 30">
                  <a:extLst>
                    <a:ext uri="{FF2B5EF4-FFF2-40B4-BE49-F238E27FC236}">
                      <a16:creationId xmlns:a16="http://schemas.microsoft.com/office/drawing/2014/main" id="{B581D2CE-449E-2D4C-9965-1639A3BE2596}"/>
                    </a:ext>
                  </a:extLst>
                </p:cNvPr>
                <p:cNvSpPr>
                  <a:spLocks/>
                </p:cNvSpPr>
                <p:nvPr/>
              </p:nvSpPr>
              <p:spPr bwMode="auto">
                <a:xfrm>
                  <a:off x="3778" y="2712"/>
                  <a:ext cx="936" cy="517"/>
                </a:xfrm>
                <a:custGeom>
                  <a:avLst/>
                  <a:gdLst>
                    <a:gd name="T0" fmla="*/ 265 w 1871"/>
                    <a:gd name="T1" fmla="*/ 248 h 1034"/>
                    <a:gd name="T2" fmla="*/ 220 w 1871"/>
                    <a:gd name="T3" fmla="*/ 310 h 1034"/>
                    <a:gd name="T4" fmla="*/ 163 w 1871"/>
                    <a:gd name="T5" fmla="*/ 354 h 1034"/>
                    <a:gd name="T6" fmla="*/ 113 w 1871"/>
                    <a:gd name="T7" fmla="*/ 359 h 1034"/>
                    <a:gd name="T8" fmla="*/ 82 w 1871"/>
                    <a:gd name="T9" fmla="*/ 379 h 1034"/>
                    <a:gd name="T10" fmla="*/ 23 w 1871"/>
                    <a:gd name="T11" fmla="*/ 429 h 1034"/>
                    <a:gd name="T12" fmla="*/ 0 w 1871"/>
                    <a:gd name="T13" fmla="*/ 465 h 1034"/>
                    <a:gd name="T14" fmla="*/ 16 w 1871"/>
                    <a:gd name="T15" fmla="*/ 489 h 1034"/>
                    <a:gd name="T16" fmla="*/ 45 w 1871"/>
                    <a:gd name="T17" fmla="*/ 508 h 1034"/>
                    <a:gd name="T18" fmla="*/ 86 w 1871"/>
                    <a:gd name="T19" fmla="*/ 508 h 1034"/>
                    <a:gd name="T20" fmla="*/ 141 w 1871"/>
                    <a:gd name="T21" fmla="*/ 508 h 1034"/>
                    <a:gd name="T22" fmla="*/ 243 w 1871"/>
                    <a:gd name="T23" fmla="*/ 516 h 1034"/>
                    <a:gd name="T24" fmla="*/ 374 w 1871"/>
                    <a:gd name="T25" fmla="*/ 516 h 1034"/>
                    <a:gd name="T26" fmla="*/ 502 w 1871"/>
                    <a:gd name="T27" fmla="*/ 513 h 1034"/>
                    <a:gd name="T28" fmla="*/ 573 w 1871"/>
                    <a:gd name="T29" fmla="*/ 508 h 1034"/>
                    <a:gd name="T30" fmla="*/ 616 w 1871"/>
                    <a:gd name="T31" fmla="*/ 490 h 1034"/>
                    <a:gd name="T32" fmla="*/ 672 w 1871"/>
                    <a:gd name="T33" fmla="*/ 460 h 1034"/>
                    <a:gd name="T34" fmla="*/ 720 w 1871"/>
                    <a:gd name="T35" fmla="*/ 423 h 1034"/>
                    <a:gd name="T36" fmla="*/ 722 w 1871"/>
                    <a:gd name="T37" fmla="*/ 301 h 1034"/>
                    <a:gd name="T38" fmla="*/ 762 w 1871"/>
                    <a:gd name="T39" fmla="*/ 297 h 1034"/>
                    <a:gd name="T40" fmla="*/ 798 w 1871"/>
                    <a:gd name="T41" fmla="*/ 325 h 1034"/>
                    <a:gd name="T42" fmla="*/ 895 w 1871"/>
                    <a:gd name="T43" fmla="*/ 304 h 1034"/>
                    <a:gd name="T44" fmla="*/ 925 w 1871"/>
                    <a:gd name="T45" fmla="*/ 176 h 1034"/>
                    <a:gd name="T46" fmla="*/ 815 w 1871"/>
                    <a:gd name="T47" fmla="*/ 104 h 1034"/>
                    <a:gd name="T48" fmla="*/ 757 w 1871"/>
                    <a:gd name="T49" fmla="*/ 138 h 1034"/>
                    <a:gd name="T50" fmla="*/ 739 w 1871"/>
                    <a:gd name="T51" fmla="*/ 168 h 1034"/>
                    <a:gd name="T52" fmla="*/ 707 w 1871"/>
                    <a:gd name="T53" fmla="*/ 171 h 1034"/>
                    <a:gd name="T54" fmla="*/ 692 w 1871"/>
                    <a:gd name="T55" fmla="*/ 156 h 1034"/>
                    <a:gd name="T56" fmla="*/ 680 w 1871"/>
                    <a:gd name="T57" fmla="*/ 143 h 1034"/>
                    <a:gd name="T58" fmla="*/ 677 w 1871"/>
                    <a:gd name="T59" fmla="*/ 126 h 1034"/>
                    <a:gd name="T60" fmla="*/ 692 w 1871"/>
                    <a:gd name="T61" fmla="*/ 114 h 1034"/>
                    <a:gd name="T62" fmla="*/ 702 w 1871"/>
                    <a:gd name="T63" fmla="*/ 101 h 1034"/>
                    <a:gd name="T64" fmla="*/ 712 w 1871"/>
                    <a:gd name="T65" fmla="*/ 34 h 1034"/>
                    <a:gd name="T66" fmla="*/ 621 w 1871"/>
                    <a:gd name="T67" fmla="*/ 0 h 1034"/>
                    <a:gd name="T68" fmla="*/ 546 w 1871"/>
                    <a:gd name="T69" fmla="*/ 44 h 1034"/>
                    <a:gd name="T70" fmla="*/ 545 w 1871"/>
                    <a:gd name="T71" fmla="*/ 67 h 1034"/>
                    <a:gd name="T72" fmla="*/ 542 w 1871"/>
                    <a:gd name="T73" fmla="*/ 88 h 1034"/>
                    <a:gd name="T74" fmla="*/ 534 w 1871"/>
                    <a:gd name="T75" fmla="*/ 107 h 1034"/>
                    <a:gd name="T76" fmla="*/ 512 w 1871"/>
                    <a:gd name="T77" fmla="*/ 112 h 1034"/>
                    <a:gd name="T78" fmla="*/ 489 w 1871"/>
                    <a:gd name="T79" fmla="*/ 117 h 1034"/>
                    <a:gd name="T80" fmla="*/ 453 w 1871"/>
                    <a:gd name="T81" fmla="*/ 129 h 1034"/>
                    <a:gd name="T82" fmla="*/ 413 w 1871"/>
                    <a:gd name="T83" fmla="*/ 144 h 1034"/>
                    <a:gd name="T84" fmla="*/ 373 w 1871"/>
                    <a:gd name="T85" fmla="*/ 159 h 1034"/>
                    <a:gd name="T86" fmla="*/ 350 w 1871"/>
                    <a:gd name="T87" fmla="*/ 178 h 1034"/>
                    <a:gd name="T88" fmla="*/ 327 w 1871"/>
                    <a:gd name="T89" fmla="*/ 197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2" name="Freeform 31">
                  <a:extLst>
                    <a:ext uri="{FF2B5EF4-FFF2-40B4-BE49-F238E27FC236}">
                      <a16:creationId xmlns:a16="http://schemas.microsoft.com/office/drawing/2014/main" id="{7D66B2CD-683D-024A-B4EB-8741F052526B}"/>
                    </a:ext>
                  </a:extLst>
                </p:cNvPr>
                <p:cNvSpPr>
                  <a:spLocks/>
                </p:cNvSpPr>
                <p:nvPr/>
              </p:nvSpPr>
              <p:spPr bwMode="auto">
                <a:xfrm>
                  <a:off x="3803" y="2722"/>
                  <a:ext cx="910" cy="500"/>
                </a:xfrm>
                <a:custGeom>
                  <a:avLst/>
                  <a:gdLst>
                    <a:gd name="T0" fmla="*/ 242 w 1818"/>
                    <a:gd name="T1" fmla="*/ 238 h 999"/>
                    <a:gd name="T2" fmla="*/ 203 w 1818"/>
                    <a:gd name="T3" fmla="*/ 299 h 999"/>
                    <a:gd name="T4" fmla="*/ 151 w 1818"/>
                    <a:gd name="T5" fmla="*/ 342 h 999"/>
                    <a:gd name="T6" fmla="*/ 102 w 1818"/>
                    <a:gd name="T7" fmla="*/ 349 h 999"/>
                    <a:gd name="T8" fmla="*/ 72 w 1818"/>
                    <a:gd name="T9" fmla="*/ 370 h 999"/>
                    <a:gd name="T10" fmla="*/ 18 w 1818"/>
                    <a:gd name="T11" fmla="*/ 418 h 999"/>
                    <a:gd name="T12" fmla="*/ 3 w 1818"/>
                    <a:gd name="T13" fmla="*/ 453 h 999"/>
                    <a:gd name="T14" fmla="*/ 26 w 1818"/>
                    <a:gd name="T15" fmla="*/ 470 h 999"/>
                    <a:gd name="T16" fmla="*/ 52 w 1818"/>
                    <a:gd name="T17" fmla="*/ 483 h 999"/>
                    <a:gd name="T18" fmla="*/ 89 w 1818"/>
                    <a:gd name="T19" fmla="*/ 486 h 999"/>
                    <a:gd name="T20" fmla="*/ 141 w 1818"/>
                    <a:gd name="T21" fmla="*/ 486 h 999"/>
                    <a:gd name="T22" fmla="*/ 231 w 1818"/>
                    <a:gd name="T23" fmla="*/ 497 h 999"/>
                    <a:gd name="T24" fmla="*/ 356 w 1818"/>
                    <a:gd name="T25" fmla="*/ 500 h 999"/>
                    <a:gd name="T26" fmla="*/ 484 w 1818"/>
                    <a:gd name="T27" fmla="*/ 498 h 999"/>
                    <a:gd name="T28" fmla="*/ 555 w 1818"/>
                    <a:gd name="T29" fmla="*/ 493 h 999"/>
                    <a:gd name="T30" fmla="*/ 596 w 1818"/>
                    <a:gd name="T31" fmla="*/ 478 h 999"/>
                    <a:gd name="T32" fmla="*/ 648 w 1818"/>
                    <a:gd name="T33" fmla="*/ 451 h 999"/>
                    <a:gd name="T34" fmla="*/ 695 w 1818"/>
                    <a:gd name="T35" fmla="*/ 414 h 999"/>
                    <a:gd name="T36" fmla="*/ 698 w 1818"/>
                    <a:gd name="T37" fmla="*/ 292 h 999"/>
                    <a:gd name="T38" fmla="*/ 737 w 1818"/>
                    <a:gd name="T39" fmla="*/ 287 h 999"/>
                    <a:gd name="T40" fmla="*/ 774 w 1818"/>
                    <a:gd name="T41" fmla="*/ 315 h 999"/>
                    <a:gd name="T42" fmla="*/ 870 w 1818"/>
                    <a:gd name="T43" fmla="*/ 295 h 999"/>
                    <a:gd name="T44" fmla="*/ 899 w 1818"/>
                    <a:gd name="T45" fmla="*/ 168 h 999"/>
                    <a:gd name="T46" fmla="*/ 787 w 1818"/>
                    <a:gd name="T47" fmla="*/ 97 h 999"/>
                    <a:gd name="T48" fmla="*/ 730 w 1818"/>
                    <a:gd name="T49" fmla="*/ 131 h 999"/>
                    <a:gd name="T50" fmla="*/ 713 w 1818"/>
                    <a:gd name="T51" fmla="*/ 159 h 999"/>
                    <a:gd name="T52" fmla="*/ 682 w 1818"/>
                    <a:gd name="T53" fmla="*/ 161 h 999"/>
                    <a:gd name="T54" fmla="*/ 667 w 1818"/>
                    <a:gd name="T55" fmla="*/ 146 h 999"/>
                    <a:gd name="T56" fmla="*/ 655 w 1818"/>
                    <a:gd name="T57" fmla="*/ 132 h 999"/>
                    <a:gd name="T58" fmla="*/ 651 w 1818"/>
                    <a:gd name="T59" fmla="*/ 115 h 999"/>
                    <a:gd name="T60" fmla="*/ 662 w 1818"/>
                    <a:gd name="T61" fmla="*/ 101 h 999"/>
                    <a:gd name="T62" fmla="*/ 667 w 1818"/>
                    <a:gd name="T63" fmla="*/ 87 h 999"/>
                    <a:gd name="T64" fmla="*/ 670 w 1818"/>
                    <a:gd name="T65" fmla="*/ 30 h 999"/>
                    <a:gd name="T66" fmla="*/ 588 w 1818"/>
                    <a:gd name="T67" fmla="*/ 0 h 999"/>
                    <a:gd name="T68" fmla="*/ 524 w 1818"/>
                    <a:gd name="T69" fmla="*/ 37 h 999"/>
                    <a:gd name="T70" fmla="*/ 522 w 1818"/>
                    <a:gd name="T71" fmla="*/ 59 h 999"/>
                    <a:gd name="T72" fmla="*/ 519 w 1818"/>
                    <a:gd name="T73" fmla="*/ 79 h 999"/>
                    <a:gd name="T74" fmla="*/ 509 w 1818"/>
                    <a:gd name="T75" fmla="*/ 97 h 999"/>
                    <a:gd name="T76" fmla="*/ 487 w 1818"/>
                    <a:gd name="T77" fmla="*/ 103 h 999"/>
                    <a:gd name="T78" fmla="*/ 465 w 1818"/>
                    <a:gd name="T79" fmla="*/ 108 h 999"/>
                    <a:gd name="T80" fmla="*/ 428 w 1818"/>
                    <a:gd name="T81" fmla="*/ 120 h 999"/>
                    <a:gd name="T82" fmla="*/ 388 w 1818"/>
                    <a:gd name="T83" fmla="*/ 135 h 999"/>
                    <a:gd name="T84" fmla="*/ 348 w 1818"/>
                    <a:gd name="T85" fmla="*/ 150 h 999"/>
                    <a:gd name="T86" fmla="*/ 325 w 1818"/>
                    <a:gd name="T87" fmla="*/ 169 h 999"/>
                    <a:gd name="T88" fmla="*/ 302 w 1818"/>
                    <a:gd name="T89" fmla="*/ 188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3" name="Freeform 32">
                  <a:extLst>
                    <a:ext uri="{FF2B5EF4-FFF2-40B4-BE49-F238E27FC236}">
                      <a16:creationId xmlns:a16="http://schemas.microsoft.com/office/drawing/2014/main" id="{043188D3-96D8-5F4B-9A12-EBACDB6963AB}"/>
                    </a:ext>
                  </a:extLst>
                </p:cNvPr>
                <p:cNvSpPr>
                  <a:spLocks/>
                </p:cNvSpPr>
                <p:nvPr/>
              </p:nvSpPr>
              <p:spPr bwMode="auto">
                <a:xfrm>
                  <a:off x="3828" y="2732"/>
                  <a:ext cx="884" cy="484"/>
                </a:xfrm>
                <a:custGeom>
                  <a:avLst/>
                  <a:gdLst>
                    <a:gd name="T0" fmla="*/ 220 w 1768"/>
                    <a:gd name="T1" fmla="*/ 228 h 967"/>
                    <a:gd name="T2" fmla="*/ 188 w 1768"/>
                    <a:gd name="T3" fmla="*/ 289 h 967"/>
                    <a:gd name="T4" fmla="*/ 140 w 1768"/>
                    <a:gd name="T5" fmla="*/ 332 h 967"/>
                    <a:gd name="T6" fmla="*/ 92 w 1768"/>
                    <a:gd name="T7" fmla="*/ 338 h 967"/>
                    <a:gd name="T8" fmla="*/ 64 w 1768"/>
                    <a:gd name="T9" fmla="*/ 360 h 967"/>
                    <a:gd name="T10" fmla="*/ 13 w 1768"/>
                    <a:gd name="T11" fmla="*/ 407 h 967"/>
                    <a:gd name="T12" fmla="*/ 5 w 1768"/>
                    <a:gd name="T13" fmla="*/ 440 h 967"/>
                    <a:gd name="T14" fmla="*/ 34 w 1768"/>
                    <a:gd name="T15" fmla="*/ 451 h 967"/>
                    <a:gd name="T16" fmla="*/ 58 w 1768"/>
                    <a:gd name="T17" fmla="*/ 458 h 967"/>
                    <a:gd name="T18" fmla="*/ 91 w 1768"/>
                    <a:gd name="T19" fmla="*/ 464 h 967"/>
                    <a:gd name="T20" fmla="*/ 141 w 1768"/>
                    <a:gd name="T21" fmla="*/ 466 h 967"/>
                    <a:gd name="T22" fmla="*/ 219 w 1768"/>
                    <a:gd name="T23" fmla="*/ 479 h 967"/>
                    <a:gd name="T24" fmla="*/ 340 w 1768"/>
                    <a:gd name="T25" fmla="*/ 484 h 967"/>
                    <a:gd name="T26" fmla="*/ 465 w 1768"/>
                    <a:gd name="T27" fmla="*/ 483 h 967"/>
                    <a:gd name="T28" fmla="*/ 537 w 1768"/>
                    <a:gd name="T29" fmla="*/ 477 h 967"/>
                    <a:gd name="T30" fmla="*/ 574 w 1768"/>
                    <a:gd name="T31" fmla="*/ 466 h 967"/>
                    <a:gd name="T32" fmla="*/ 623 w 1768"/>
                    <a:gd name="T33" fmla="*/ 441 h 967"/>
                    <a:gd name="T34" fmla="*/ 670 w 1768"/>
                    <a:gd name="T35" fmla="*/ 404 h 967"/>
                    <a:gd name="T36" fmla="*/ 673 w 1768"/>
                    <a:gd name="T37" fmla="*/ 282 h 967"/>
                    <a:gd name="T38" fmla="*/ 712 w 1768"/>
                    <a:gd name="T39" fmla="*/ 278 h 967"/>
                    <a:gd name="T40" fmla="*/ 749 w 1768"/>
                    <a:gd name="T41" fmla="*/ 306 h 967"/>
                    <a:gd name="T42" fmla="*/ 845 w 1768"/>
                    <a:gd name="T43" fmla="*/ 285 h 967"/>
                    <a:gd name="T44" fmla="*/ 872 w 1768"/>
                    <a:gd name="T45" fmla="*/ 160 h 967"/>
                    <a:gd name="T46" fmla="*/ 759 w 1768"/>
                    <a:gd name="T47" fmla="*/ 92 h 967"/>
                    <a:gd name="T48" fmla="*/ 702 w 1768"/>
                    <a:gd name="T49" fmla="*/ 124 h 967"/>
                    <a:gd name="T50" fmla="*/ 687 w 1768"/>
                    <a:gd name="T51" fmla="*/ 150 h 967"/>
                    <a:gd name="T52" fmla="*/ 657 w 1768"/>
                    <a:gd name="T53" fmla="*/ 152 h 967"/>
                    <a:gd name="T54" fmla="*/ 642 w 1768"/>
                    <a:gd name="T55" fmla="*/ 135 h 967"/>
                    <a:gd name="T56" fmla="*/ 629 w 1768"/>
                    <a:gd name="T57" fmla="*/ 121 h 967"/>
                    <a:gd name="T58" fmla="*/ 624 w 1768"/>
                    <a:gd name="T59" fmla="*/ 104 h 967"/>
                    <a:gd name="T60" fmla="*/ 630 w 1768"/>
                    <a:gd name="T61" fmla="*/ 88 h 967"/>
                    <a:gd name="T62" fmla="*/ 632 w 1768"/>
                    <a:gd name="T63" fmla="*/ 74 h 967"/>
                    <a:gd name="T64" fmla="*/ 628 w 1768"/>
                    <a:gd name="T65" fmla="*/ 25 h 967"/>
                    <a:gd name="T66" fmla="*/ 554 w 1768"/>
                    <a:gd name="T67" fmla="*/ 0 h 967"/>
                    <a:gd name="T68" fmla="*/ 500 w 1768"/>
                    <a:gd name="T69" fmla="*/ 30 h 967"/>
                    <a:gd name="T70" fmla="*/ 497 w 1768"/>
                    <a:gd name="T71" fmla="*/ 51 h 967"/>
                    <a:gd name="T72" fmla="*/ 493 w 1768"/>
                    <a:gd name="T73" fmla="*/ 70 h 967"/>
                    <a:gd name="T74" fmla="*/ 484 w 1768"/>
                    <a:gd name="T75" fmla="*/ 88 h 967"/>
                    <a:gd name="T76" fmla="*/ 462 w 1768"/>
                    <a:gd name="T77" fmla="*/ 93 h 967"/>
                    <a:gd name="T78" fmla="*/ 440 w 1768"/>
                    <a:gd name="T79" fmla="*/ 98 h 967"/>
                    <a:gd name="T80" fmla="*/ 404 w 1768"/>
                    <a:gd name="T81" fmla="*/ 110 h 967"/>
                    <a:gd name="T82" fmla="*/ 363 w 1768"/>
                    <a:gd name="T83" fmla="*/ 125 h 967"/>
                    <a:gd name="T84" fmla="*/ 323 w 1768"/>
                    <a:gd name="T85" fmla="*/ 140 h 967"/>
                    <a:gd name="T86" fmla="*/ 300 w 1768"/>
                    <a:gd name="T87" fmla="*/ 159 h 967"/>
                    <a:gd name="T88" fmla="*/ 278 w 1768"/>
                    <a:gd name="T89" fmla="*/ 178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4" name="Freeform 33">
                  <a:extLst>
                    <a:ext uri="{FF2B5EF4-FFF2-40B4-BE49-F238E27FC236}">
                      <a16:creationId xmlns:a16="http://schemas.microsoft.com/office/drawing/2014/main" id="{85487B50-E64C-064C-9D8E-DE152CA287C6}"/>
                    </a:ext>
                  </a:extLst>
                </p:cNvPr>
                <p:cNvSpPr>
                  <a:spLocks/>
                </p:cNvSpPr>
                <p:nvPr/>
              </p:nvSpPr>
              <p:spPr bwMode="auto">
                <a:xfrm>
                  <a:off x="3852" y="2741"/>
                  <a:ext cx="858" cy="468"/>
                </a:xfrm>
                <a:custGeom>
                  <a:avLst/>
                  <a:gdLst>
                    <a:gd name="T0" fmla="*/ 198 w 1715"/>
                    <a:gd name="T1" fmla="*/ 219 h 938"/>
                    <a:gd name="T2" fmla="*/ 173 w 1715"/>
                    <a:gd name="T3" fmla="*/ 278 h 938"/>
                    <a:gd name="T4" fmla="*/ 129 w 1715"/>
                    <a:gd name="T5" fmla="*/ 321 h 938"/>
                    <a:gd name="T6" fmla="*/ 82 w 1715"/>
                    <a:gd name="T7" fmla="*/ 328 h 938"/>
                    <a:gd name="T8" fmla="*/ 55 w 1715"/>
                    <a:gd name="T9" fmla="*/ 352 h 938"/>
                    <a:gd name="T10" fmla="*/ 8 w 1715"/>
                    <a:gd name="T11" fmla="*/ 397 h 938"/>
                    <a:gd name="T12" fmla="*/ 8 w 1715"/>
                    <a:gd name="T13" fmla="*/ 428 h 938"/>
                    <a:gd name="T14" fmla="*/ 44 w 1715"/>
                    <a:gd name="T15" fmla="*/ 431 h 938"/>
                    <a:gd name="T16" fmla="*/ 66 w 1715"/>
                    <a:gd name="T17" fmla="*/ 433 h 938"/>
                    <a:gd name="T18" fmla="*/ 94 w 1715"/>
                    <a:gd name="T19" fmla="*/ 440 h 938"/>
                    <a:gd name="T20" fmla="*/ 141 w 1715"/>
                    <a:gd name="T21" fmla="*/ 443 h 938"/>
                    <a:gd name="T22" fmla="*/ 207 w 1715"/>
                    <a:gd name="T23" fmla="*/ 460 h 938"/>
                    <a:gd name="T24" fmla="*/ 323 w 1715"/>
                    <a:gd name="T25" fmla="*/ 468 h 938"/>
                    <a:gd name="T26" fmla="*/ 447 w 1715"/>
                    <a:gd name="T27" fmla="*/ 468 h 938"/>
                    <a:gd name="T28" fmla="*/ 521 w 1715"/>
                    <a:gd name="T29" fmla="*/ 462 h 938"/>
                    <a:gd name="T30" fmla="*/ 554 w 1715"/>
                    <a:gd name="T31" fmla="*/ 454 h 938"/>
                    <a:gd name="T32" fmla="*/ 598 w 1715"/>
                    <a:gd name="T33" fmla="*/ 432 h 938"/>
                    <a:gd name="T34" fmla="*/ 646 w 1715"/>
                    <a:gd name="T35" fmla="*/ 395 h 938"/>
                    <a:gd name="T36" fmla="*/ 648 w 1715"/>
                    <a:gd name="T37" fmla="*/ 273 h 938"/>
                    <a:gd name="T38" fmla="*/ 688 w 1715"/>
                    <a:gd name="T39" fmla="*/ 268 h 938"/>
                    <a:gd name="T40" fmla="*/ 724 w 1715"/>
                    <a:gd name="T41" fmla="*/ 296 h 938"/>
                    <a:gd name="T42" fmla="*/ 821 w 1715"/>
                    <a:gd name="T43" fmla="*/ 276 h 938"/>
                    <a:gd name="T44" fmla="*/ 846 w 1715"/>
                    <a:gd name="T45" fmla="*/ 153 h 938"/>
                    <a:gd name="T46" fmla="*/ 731 w 1715"/>
                    <a:gd name="T47" fmla="*/ 86 h 938"/>
                    <a:gd name="T48" fmla="*/ 675 w 1715"/>
                    <a:gd name="T49" fmla="*/ 118 h 938"/>
                    <a:gd name="T50" fmla="*/ 662 w 1715"/>
                    <a:gd name="T51" fmla="*/ 142 h 938"/>
                    <a:gd name="T52" fmla="*/ 633 w 1715"/>
                    <a:gd name="T53" fmla="*/ 143 h 938"/>
                    <a:gd name="T54" fmla="*/ 617 w 1715"/>
                    <a:gd name="T55" fmla="*/ 126 h 938"/>
                    <a:gd name="T56" fmla="*/ 605 w 1715"/>
                    <a:gd name="T57" fmla="*/ 111 h 938"/>
                    <a:gd name="T58" fmla="*/ 598 w 1715"/>
                    <a:gd name="T59" fmla="*/ 93 h 938"/>
                    <a:gd name="T60" fmla="*/ 600 w 1715"/>
                    <a:gd name="T61" fmla="*/ 76 h 938"/>
                    <a:gd name="T62" fmla="*/ 596 w 1715"/>
                    <a:gd name="T63" fmla="*/ 61 h 938"/>
                    <a:gd name="T64" fmla="*/ 586 w 1715"/>
                    <a:gd name="T65" fmla="*/ 19 h 938"/>
                    <a:gd name="T66" fmla="*/ 521 w 1715"/>
                    <a:gd name="T67" fmla="*/ 0 h 938"/>
                    <a:gd name="T68" fmla="*/ 479 w 1715"/>
                    <a:gd name="T69" fmla="*/ 22 h 938"/>
                    <a:gd name="T70" fmla="*/ 475 w 1715"/>
                    <a:gd name="T71" fmla="*/ 43 h 938"/>
                    <a:gd name="T72" fmla="*/ 469 w 1715"/>
                    <a:gd name="T73" fmla="*/ 61 h 938"/>
                    <a:gd name="T74" fmla="*/ 460 w 1715"/>
                    <a:gd name="T75" fmla="*/ 79 h 938"/>
                    <a:gd name="T76" fmla="*/ 438 w 1715"/>
                    <a:gd name="T77" fmla="*/ 84 h 938"/>
                    <a:gd name="T78" fmla="*/ 415 w 1715"/>
                    <a:gd name="T79" fmla="*/ 89 h 938"/>
                    <a:gd name="T80" fmla="*/ 379 w 1715"/>
                    <a:gd name="T81" fmla="*/ 101 h 938"/>
                    <a:gd name="T82" fmla="*/ 339 w 1715"/>
                    <a:gd name="T83" fmla="*/ 116 h 938"/>
                    <a:gd name="T84" fmla="*/ 299 w 1715"/>
                    <a:gd name="T85" fmla="*/ 131 h 938"/>
                    <a:gd name="T86" fmla="*/ 276 w 1715"/>
                    <a:gd name="T87" fmla="*/ 150 h 938"/>
                    <a:gd name="T88" fmla="*/ 253 w 1715"/>
                    <a:gd name="T89" fmla="*/ 169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5" name="Freeform 34">
                  <a:extLst>
                    <a:ext uri="{FF2B5EF4-FFF2-40B4-BE49-F238E27FC236}">
                      <a16:creationId xmlns:a16="http://schemas.microsoft.com/office/drawing/2014/main" id="{CF3A2E55-5DC6-414D-BF85-FD1FB17ECB53}"/>
                    </a:ext>
                  </a:extLst>
                </p:cNvPr>
                <p:cNvSpPr>
                  <a:spLocks/>
                </p:cNvSpPr>
                <p:nvPr/>
              </p:nvSpPr>
              <p:spPr bwMode="auto">
                <a:xfrm>
                  <a:off x="3586" y="3162"/>
                  <a:ext cx="125" cy="124"/>
                </a:xfrm>
                <a:custGeom>
                  <a:avLst/>
                  <a:gdLst>
                    <a:gd name="T0" fmla="*/ 57 w 251"/>
                    <a:gd name="T1" fmla="*/ 121 h 249"/>
                    <a:gd name="T2" fmla="*/ 69 w 251"/>
                    <a:gd name="T3" fmla="*/ 122 h 249"/>
                    <a:gd name="T4" fmla="*/ 83 w 251"/>
                    <a:gd name="T5" fmla="*/ 123 h 249"/>
                    <a:gd name="T6" fmla="*/ 97 w 251"/>
                    <a:gd name="T7" fmla="*/ 124 h 249"/>
                    <a:gd name="T8" fmla="*/ 109 w 251"/>
                    <a:gd name="T9" fmla="*/ 123 h 249"/>
                    <a:gd name="T10" fmla="*/ 119 w 251"/>
                    <a:gd name="T11" fmla="*/ 117 h 249"/>
                    <a:gd name="T12" fmla="*/ 125 w 251"/>
                    <a:gd name="T13" fmla="*/ 108 h 249"/>
                    <a:gd name="T14" fmla="*/ 125 w 251"/>
                    <a:gd name="T15" fmla="*/ 91 h 249"/>
                    <a:gd name="T16" fmla="*/ 119 w 251"/>
                    <a:gd name="T17" fmla="*/ 70 h 249"/>
                    <a:gd name="T18" fmla="*/ 113 w 251"/>
                    <a:gd name="T19" fmla="*/ 61 h 249"/>
                    <a:gd name="T20" fmla="*/ 108 w 251"/>
                    <a:gd name="T21" fmla="*/ 53 h 249"/>
                    <a:gd name="T22" fmla="*/ 103 w 251"/>
                    <a:gd name="T23" fmla="*/ 44 h 249"/>
                    <a:gd name="T24" fmla="*/ 98 w 251"/>
                    <a:gd name="T25" fmla="*/ 36 h 249"/>
                    <a:gd name="T26" fmla="*/ 92 w 251"/>
                    <a:gd name="T27" fmla="*/ 27 h 249"/>
                    <a:gd name="T28" fmla="*/ 87 w 251"/>
                    <a:gd name="T29" fmla="*/ 19 h 249"/>
                    <a:gd name="T30" fmla="*/ 82 w 251"/>
                    <a:gd name="T31" fmla="*/ 10 h 249"/>
                    <a:gd name="T32" fmla="*/ 77 w 251"/>
                    <a:gd name="T33" fmla="*/ 2 h 249"/>
                    <a:gd name="T34" fmla="*/ 47 w 251"/>
                    <a:gd name="T35" fmla="*/ 0 h 249"/>
                    <a:gd name="T36" fmla="*/ 23 w 251"/>
                    <a:gd name="T37" fmla="*/ 7 h 249"/>
                    <a:gd name="T38" fmla="*/ 7 w 251"/>
                    <a:gd name="T39" fmla="*/ 21 h 249"/>
                    <a:gd name="T40" fmla="*/ 0 w 251"/>
                    <a:gd name="T41" fmla="*/ 39 h 249"/>
                    <a:gd name="T42" fmla="*/ 0 w 251"/>
                    <a:gd name="T43" fmla="*/ 60 h 249"/>
                    <a:gd name="T44" fmla="*/ 9 w 251"/>
                    <a:gd name="T45" fmla="*/ 83 h 249"/>
                    <a:gd name="T46" fmla="*/ 28 w 251"/>
                    <a:gd name="T47" fmla="*/ 103 h 249"/>
                    <a:gd name="T48" fmla="*/ 57 w 251"/>
                    <a:gd name="T49" fmla="*/ 121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6" name="Freeform 35">
                  <a:extLst>
                    <a:ext uri="{FF2B5EF4-FFF2-40B4-BE49-F238E27FC236}">
                      <a16:creationId xmlns:a16="http://schemas.microsoft.com/office/drawing/2014/main" id="{F265F85A-F09C-684B-A5BC-8DCA35A3A779}"/>
                    </a:ext>
                  </a:extLst>
                </p:cNvPr>
                <p:cNvSpPr>
                  <a:spLocks/>
                </p:cNvSpPr>
                <p:nvPr/>
              </p:nvSpPr>
              <p:spPr bwMode="auto">
                <a:xfrm>
                  <a:off x="4057" y="2832"/>
                  <a:ext cx="442" cy="196"/>
                </a:xfrm>
                <a:custGeom>
                  <a:avLst/>
                  <a:gdLst>
                    <a:gd name="T0" fmla="*/ 0 w 883"/>
                    <a:gd name="T1" fmla="*/ 113 h 392"/>
                    <a:gd name="T2" fmla="*/ 8 w 883"/>
                    <a:gd name="T3" fmla="*/ 110 h 392"/>
                    <a:gd name="T4" fmla="*/ 18 w 883"/>
                    <a:gd name="T5" fmla="*/ 108 h 392"/>
                    <a:gd name="T6" fmla="*/ 28 w 883"/>
                    <a:gd name="T7" fmla="*/ 106 h 392"/>
                    <a:gd name="T8" fmla="*/ 38 w 883"/>
                    <a:gd name="T9" fmla="*/ 106 h 392"/>
                    <a:gd name="T10" fmla="*/ 48 w 883"/>
                    <a:gd name="T11" fmla="*/ 106 h 392"/>
                    <a:gd name="T12" fmla="*/ 59 w 883"/>
                    <a:gd name="T13" fmla="*/ 108 h 392"/>
                    <a:gd name="T14" fmla="*/ 68 w 883"/>
                    <a:gd name="T15" fmla="*/ 110 h 392"/>
                    <a:gd name="T16" fmla="*/ 77 w 883"/>
                    <a:gd name="T17" fmla="*/ 113 h 392"/>
                    <a:gd name="T18" fmla="*/ 99 w 883"/>
                    <a:gd name="T19" fmla="*/ 145 h 392"/>
                    <a:gd name="T20" fmla="*/ 120 w 883"/>
                    <a:gd name="T21" fmla="*/ 168 h 392"/>
                    <a:gd name="T22" fmla="*/ 142 w 883"/>
                    <a:gd name="T23" fmla="*/ 182 h 392"/>
                    <a:gd name="T24" fmla="*/ 166 w 883"/>
                    <a:gd name="T25" fmla="*/ 191 h 392"/>
                    <a:gd name="T26" fmla="*/ 191 w 883"/>
                    <a:gd name="T27" fmla="*/ 195 h 392"/>
                    <a:gd name="T28" fmla="*/ 221 w 883"/>
                    <a:gd name="T29" fmla="*/ 196 h 392"/>
                    <a:gd name="T30" fmla="*/ 256 w 883"/>
                    <a:gd name="T31" fmla="*/ 196 h 392"/>
                    <a:gd name="T32" fmla="*/ 297 w 883"/>
                    <a:gd name="T33" fmla="*/ 196 h 392"/>
                    <a:gd name="T34" fmla="*/ 317 w 883"/>
                    <a:gd name="T35" fmla="*/ 181 h 392"/>
                    <a:gd name="T36" fmla="*/ 337 w 883"/>
                    <a:gd name="T37" fmla="*/ 168 h 392"/>
                    <a:gd name="T38" fmla="*/ 356 w 883"/>
                    <a:gd name="T39" fmla="*/ 154 h 392"/>
                    <a:gd name="T40" fmla="*/ 376 w 883"/>
                    <a:gd name="T41" fmla="*/ 139 h 392"/>
                    <a:gd name="T42" fmla="*/ 394 w 883"/>
                    <a:gd name="T43" fmla="*/ 121 h 392"/>
                    <a:gd name="T44" fmla="*/ 411 w 883"/>
                    <a:gd name="T45" fmla="*/ 101 h 392"/>
                    <a:gd name="T46" fmla="*/ 426 w 883"/>
                    <a:gd name="T47" fmla="*/ 79 h 392"/>
                    <a:gd name="T48" fmla="*/ 442 w 883"/>
                    <a:gd name="T49" fmla="*/ 54 h 392"/>
                    <a:gd name="T50" fmla="*/ 363 w 883"/>
                    <a:gd name="T51" fmla="*/ 73 h 392"/>
                    <a:gd name="T52" fmla="*/ 292 w 883"/>
                    <a:gd name="T53" fmla="*/ 77 h 392"/>
                    <a:gd name="T54" fmla="*/ 230 w 883"/>
                    <a:gd name="T55" fmla="*/ 70 h 392"/>
                    <a:gd name="T56" fmla="*/ 178 w 883"/>
                    <a:gd name="T57" fmla="*/ 55 h 392"/>
                    <a:gd name="T58" fmla="*/ 136 w 883"/>
                    <a:gd name="T59" fmla="*/ 37 h 392"/>
                    <a:gd name="T60" fmla="*/ 105 w 883"/>
                    <a:gd name="T61" fmla="*/ 19 h 392"/>
                    <a:gd name="T62" fmla="*/ 86 w 883"/>
                    <a:gd name="T63" fmla="*/ 5 h 392"/>
                    <a:gd name="T64" fmla="*/ 80 w 883"/>
                    <a:gd name="T65" fmla="*/ 0 h 392"/>
                    <a:gd name="T66" fmla="*/ 63 w 883"/>
                    <a:gd name="T67" fmla="*/ 10 h 392"/>
                    <a:gd name="T68" fmla="*/ 50 w 883"/>
                    <a:gd name="T69" fmla="*/ 22 h 392"/>
                    <a:gd name="T70" fmla="*/ 38 w 883"/>
                    <a:gd name="T71" fmla="*/ 33 h 392"/>
                    <a:gd name="T72" fmla="*/ 28 w 883"/>
                    <a:gd name="T73" fmla="*/ 46 h 392"/>
                    <a:gd name="T74" fmla="*/ 18 w 883"/>
                    <a:gd name="T75" fmla="*/ 59 h 392"/>
                    <a:gd name="T76" fmla="*/ 11 w 883"/>
                    <a:gd name="T77" fmla="*/ 76 h 392"/>
                    <a:gd name="T78" fmla="*/ 5 w 883"/>
                    <a:gd name="T79" fmla="*/ 93 h 392"/>
                    <a:gd name="T80" fmla="*/ 0 w 883"/>
                    <a:gd name="T81" fmla="*/ 113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7" name="Freeform 36">
                  <a:extLst>
                    <a:ext uri="{FF2B5EF4-FFF2-40B4-BE49-F238E27FC236}">
                      <a16:creationId xmlns:a16="http://schemas.microsoft.com/office/drawing/2014/main" id="{DC072514-9A2C-1A4D-BB01-DDDFF86907ED}"/>
                    </a:ext>
                  </a:extLst>
                </p:cNvPr>
                <p:cNvSpPr>
                  <a:spLocks/>
                </p:cNvSpPr>
                <p:nvPr/>
              </p:nvSpPr>
              <p:spPr bwMode="auto">
                <a:xfrm>
                  <a:off x="4187" y="2909"/>
                  <a:ext cx="100" cy="94"/>
                </a:xfrm>
                <a:custGeom>
                  <a:avLst/>
                  <a:gdLst>
                    <a:gd name="T0" fmla="*/ 0 w 201"/>
                    <a:gd name="T1" fmla="*/ 54 h 188"/>
                    <a:gd name="T2" fmla="*/ 7 w 201"/>
                    <a:gd name="T3" fmla="*/ 73 h 188"/>
                    <a:gd name="T4" fmla="*/ 20 w 201"/>
                    <a:gd name="T5" fmla="*/ 86 h 188"/>
                    <a:gd name="T6" fmla="*/ 36 w 201"/>
                    <a:gd name="T7" fmla="*/ 93 h 188"/>
                    <a:gd name="T8" fmla="*/ 54 w 201"/>
                    <a:gd name="T9" fmla="*/ 94 h 188"/>
                    <a:gd name="T10" fmla="*/ 71 w 201"/>
                    <a:gd name="T11" fmla="*/ 88 h 188"/>
                    <a:gd name="T12" fmla="*/ 86 w 201"/>
                    <a:gd name="T13" fmla="*/ 75 h 188"/>
                    <a:gd name="T14" fmla="*/ 96 w 201"/>
                    <a:gd name="T15" fmla="*/ 54 h 188"/>
                    <a:gd name="T16" fmla="*/ 100 w 201"/>
                    <a:gd name="T17" fmla="*/ 27 h 188"/>
                    <a:gd name="T18" fmla="*/ 82 w 201"/>
                    <a:gd name="T19" fmla="*/ 13 h 188"/>
                    <a:gd name="T20" fmla="*/ 64 w 201"/>
                    <a:gd name="T21" fmla="*/ 5 h 188"/>
                    <a:gd name="T22" fmla="*/ 47 w 201"/>
                    <a:gd name="T23" fmla="*/ 0 h 188"/>
                    <a:gd name="T24" fmla="*/ 32 w 201"/>
                    <a:gd name="T25" fmla="*/ 1 h 188"/>
                    <a:gd name="T26" fmla="*/ 19 w 201"/>
                    <a:gd name="T27" fmla="*/ 6 h 188"/>
                    <a:gd name="T28" fmla="*/ 9 w 201"/>
                    <a:gd name="T29" fmla="*/ 17 h 188"/>
                    <a:gd name="T30" fmla="*/ 1 w 201"/>
                    <a:gd name="T31" fmla="*/ 33 h 188"/>
                    <a:gd name="T32" fmla="*/ 0 w 201"/>
                    <a:gd name="T33" fmla="*/ 54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8" name="Freeform 37">
                  <a:extLst>
                    <a:ext uri="{FF2B5EF4-FFF2-40B4-BE49-F238E27FC236}">
                      <a16:creationId xmlns:a16="http://schemas.microsoft.com/office/drawing/2014/main" id="{D369F7A3-B8B9-4B4B-AD97-F5BE5776CE6B}"/>
                    </a:ext>
                  </a:extLst>
                </p:cNvPr>
                <p:cNvSpPr>
                  <a:spLocks/>
                </p:cNvSpPr>
                <p:nvPr/>
              </p:nvSpPr>
              <p:spPr bwMode="auto">
                <a:xfrm>
                  <a:off x="4085" y="2857"/>
                  <a:ext cx="73" cy="69"/>
                </a:xfrm>
                <a:custGeom>
                  <a:avLst/>
                  <a:gdLst>
                    <a:gd name="T0" fmla="*/ 5 w 145"/>
                    <a:gd name="T1" fmla="*/ 37 h 138"/>
                    <a:gd name="T2" fmla="*/ 0 w 145"/>
                    <a:gd name="T3" fmla="*/ 53 h 138"/>
                    <a:gd name="T4" fmla="*/ 2 w 145"/>
                    <a:gd name="T5" fmla="*/ 63 h 138"/>
                    <a:gd name="T6" fmla="*/ 9 w 145"/>
                    <a:gd name="T7" fmla="*/ 68 h 138"/>
                    <a:gd name="T8" fmla="*/ 20 w 145"/>
                    <a:gd name="T9" fmla="*/ 69 h 138"/>
                    <a:gd name="T10" fmla="*/ 33 w 145"/>
                    <a:gd name="T11" fmla="*/ 66 h 138"/>
                    <a:gd name="T12" fmla="*/ 47 w 145"/>
                    <a:gd name="T13" fmla="*/ 60 h 138"/>
                    <a:gd name="T14" fmla="*/ 61 w 145"/>
                    <a:gd name="T15" fmla="*/ 53 h 138"/>
                    <a:gd name="T16" fmla="*/ 73 w 145"/>
                    <a:gd name="T17" fmla="*/ 44 h 138"/>
                    <a:gd name="T18" fmla="*/ 70 w 145"/>
                    <a:gd name="T19" fmla="*/ 26 h 138"/>
                    <a:gd name="T20" fmla="*/ 65 w 145"/>
                    <a:gd name="T21" fmla="*/ 13 h 138"/>
                    <a:gd name="T22" fmla="*/ 57 w 145"/>
                    <a:gd name="T23" fmla="*/ 4 h 138"/>
                    <a:gd name="T24" fmla="*/ 49 w 145"/>
                    <a:gd name="T25" fmla="*/ 0 h 138"/>
                    <a:gd name="T26" fmla="*/ 39 w 145"/>
                    <a:gd name="T27" fmla="*/ 0 h 138"/>
                    <a:gd name="T28" fmla="*/ 28 w 145"/>
                    <a:gd name="T29" fmla="*/ 6 h 138"/>
                    <a:gd name="T30" fmla="*/ 17 w 145"/>
                    <a:gd name="T31" fmla="*/ 18 h 138"/>
                    <a:gd name="T32" fmla="*/ 5 w 145"/>
                    <a:gd name="T33" fmla="*/ 3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59" name="Freeform 38">
                  <a:extLst>
                    <a:ext uri="{FF2B5EF4-FFF2-40B4-BE49-F238E27FC236}">
                      <a16:creationId xmlns:a16="http://schemas.microsoft.com/office/drawing/2014/main" id="{1FEE27E9-1446-F849-BF45-4965945B7408}"/>
                    </a:ext>
                  </a:extLst>
                </p:cNvPr>
                <p:cNvSpPr>
                  <a:spLocks/>
                </p:cNvSpPr>
                <p:nvPr/>
              </p:nvSpPr>
              <p:spPr bwMode="auto">
                <a:xfrm>
                  <a:off x="4368" y="2842"/>
                  <a:ext cx="602" cy="916"/>
                </a:xfrm>
                <a:custGeom>
                  <a:avLst/>
                  <a:gdLst>
                    <a:gd name="T0" fmla="*/ 81 w 1204"/>
                    <a:gd name="T1" fmla="*/ 0 h 1832"/>
                    <a:gd name="T2" fmla="*/ 153 w 1204"/>
                    <a:gd name="T3" fmla="*/ 27 h 1832"/>
                    <a:gd name="T4" fmla="*/ 222 w 1204"/>
                    <a:gd name="T5" fmla="*/ 62 h 1832"/>
                    <a:gd name="T6" fmla="*/ 287 w 1204"/>
                    <a:gd name="T7" fmla="*/ 106 h 1832"/>
                    <a:gd name="T8" fmla="*/ 346 w 1204"/>
                    <a:gd name="T9" fmla="*/ 155 h 1832"/>
                    <a:gd name="T10" fmla="*/ 403 w 1204"/>
                    <a:gd name="T11" fmla="*/ 210 h 1832"/>
                    <a:gd name="T12" fmla="*/ 456 w 1204"/>
                    <a:gd name="T13" fmla="*/ 270 h 1832"/>
                    <a:gd name="T14" fmla="*/ 506 w 1204"/>
                    <a:gd name="T15" fmla="*/ 335 h 1832"/>
                    <a:gd name="T16" fmla="*/ 555 w 1204"/>
                    <a:gd name="T17" fmla="*/ 404 h 1832"/>
                    <a:gd name="T18" fmla="*/ 574 w 1204"/>
                    <a:gd name="T19" fmla="*/ 468 h 1832"/>
                    <a:gd name="T20" fmla="*/ 588 w 1204"/>
                    <a:gd name="T21" fmla="*/ 525 h 1832"/>
                    <a:gd name="T22" fmla="*/ 597 w 1204"/>
                    <a:gd name="T23" fmla="*/ 575 h 1832"/>
                    <a:gd name="T24" fmla="*/ 602 w 1204"/>
                    <a:gd name="T25" fmla="*/ 624 h 1832"/>
                    <a:gd name="T26" fmla="*/ 601 w 1204"/>
                    <a:gd name="T27" fmla="*/ 671 h 1832"/>
                    <a:gd name="T28" fmla="*/ 598 w 1204"/>
                    <a:gd name="T29" fmla="*/ 723 h 1832"/>
                    <a:gd name="T30" fmla="*/ 591 w 1204"/>
                    <a:gd name="T31" fmla="*/ 780 h 1832"/>
                    <a:gd name="T32" fmla="*/ 581 w 1204"/>
                    <a:gd name="T33" fmla="*/ 848 h 1832"/>
                    <a:gd name="T34" fmla="*/ 473 w 1204"/>
                    <a:gd name="T35" fmla="*/ 879 h 1832"/>
                    <a:gd name="T36" fmla="*/ 363 w 1204"/>
                    <a:gd name="T37" fmla="*/ 904 h 1832"/>
                    <a:gd name="T38" fmla="*/ 258 w 1204"/>
                    <a:gd name="T39" fmla="*/ 916 h 1832"/>
                    <a:gd name="T40" fmla="*/ 162 w 1204"/>
                    <a:gd name="T41" fmla="*/ 909 h 1832"/>
                    <a:gd name="T42" fmla="*/ 82 w 1204"/>
                    <a:gd name="T43" fmla="*/ 874 h 1832"/>
                    <a:gd name="T44" fmla="*/ 27 w 1204"/>
                    <a:gd name="T45" fmla="*/ 807 h 1832"/>
                    <a:gd name="T46" fmla="*/ 0 w 1204"/>
                    <a:gd name="T47" fmla="*/ 701 h 1832"/>
                    <a:gd name="T48" fmla="*/ 9 w 1204"/>
                    <a:gd name="T49" fmla="*/ 550 h 1832"/>
                    <a:gd name="T50" fmla="*/ 16 w 1204"/>
                    <a:gd name="T51" fmla="*/ 542 h 1832"/>
                    <a:gd name="T52" fmla="*/ 24 w 1204"/>
                    <a:gd name="T53" fmla="*/ 533 h 1832"/>
                    <a:gd name="T54" fmla="*/ 33 w 1204"/>
                    <a:gd name="T55" fmla="*/ 525 h 1832"/>
                    <a:gd name="T56" fmla="*/ 40 w 1204"/>
                    <a:gd name="T57" fmla="*/ 518 h 1832"/>
                    <a:gd name="T58" fmla="*/ 48 w 1204"/>
                    <a:gd name="T59" fmla="*/ 509 h 1832"/>
                    <a:gd name="T60" fmla="*/ 56 w 1204"/>
                    <a:gd name="T61" fmla="*/ 501 h 1832"/>
                    <a:gd name="T62" fmla="*/ 65 w 1204"/>
                    <a:gd name="T63" fmla="*/ 493 h 1832"/>
                    <a:gd name="T64" fmla="*/ 73 w 1204"/>
                    <a:gd name="T65" fmla="*/ 485 h 1832"/>
                    <a:gd name="T66" fmla="*/ 65 w 1204"/>
                    <a:gd name="T67" fmla="*/ 466 h 1832"/>
                    <a:gd name="T68" fmla="*/ 56 w 1204"/>
                    <a:gd name="T69" fmla="*/ 447 h 1832"/>
                    <a:gd name="T70" fmla="*/ 48 w 1204"/>
                    <a:gd name="T71" fmla="*/ 428 h 1832"/>
                    <a:gd name="T72" fmla="*/ 40 w 1204"/>
                    <a:gd name="T73" fmla="*/ 409 h 1832"/>
                    <a:gd name="T74" fmla="*/ 33 w 1204"/>
                    <a:gd name="T75" fmla="*/ 389 h 1832"/>
                    <a:gd name="T76" fmla="*/ 24 w 1204"/>
                    <a:gd name="T77" fmla="*/ 370 h 1832"/>
                    <a:gd name="T78" fmla="*/ 16 w 1204"/>
                    <a:gd name="T79" fmla="*/ 351 h 1832"/>
                    <a:gd name="T80" fmla="*/ 9 w 1204"/>
                    <a:gd name="T81" fmla="*/ 332 h 1832"/>
                    <a:gd name="T82" fmla="*/ 15 w 1204"/>
                    <a:gd name="T83" fmla="*/ 314 h 1832"/>
                    <a:gd name="T84" fmla="*/ 23 w 1204"/>
                    <a:gd name="T85" fmla="*/ 296 h 1832"/>
                    <a:gd name="T86" fmla="*/ 30 w 1204"/>
                    <a:gd name="T87" fmla="*/ 278 h 1832"/>
                    <a:gd name="T88" fmla="*/ 38 w 1204"/>
                    <a:gd name="T89" fmla="*/ 261 h 1832"/>
                    <a:gd name="T90" fmla="*/ 45 w 1204"/>
                    <a:gd name="T91" fmla="*/ 242 h 1832"/>
                    <a:gd name="T92" fmla="*/ 53 w 1204"/>
                    <a:gd name="T93" fmla="*/ 225 h 1832"/>
                    <a:gd name="T94" fmla="*/ 60 w 1204"/>
                    <a:gd name="T95" fmla="*/ 208 h 1832"/>
                    <a:gd name="T96" fmla="*/ 68 w 1204"/>
                    <a:gd name="T97" fmla="*/ 191 h 1832"/>
                    <a:gd name="T98" fmla="*/ 72 w 1204"/>
                    <a:gd name="T99" fmla="*/ 168 h 1832"/>
                    <a:gd name="T100" fmla="*/ 74 w 1204"/>
                    <a:gd name="T101" fmla="*/ 144 h 1832"/>
                    <a:gd name="T102" fmla="*/ 74 w 1204"/>
                    <a:gd name="T103" fmla="*/ 119 h 1832"/>
                    <a:gd name="T104" fmla="*/ 75 w 1204"/>
                    <a:gd name="T105" fmla="*/ 96 h 1832"/>
                    <a:gd name="T106" fmla="*/ 75 w 1204"/>
                    <a:gd name="T107" fmla="*/ 70 h 1832"/>
                    <a:gd name="T108" fmla="*/ 75 w 1204"/>
                    <a:gd name="T109" fmla="*/ 46 h 1832"/>
                    <a:gd name="T110" fmla="*/ 77 w 1204"/>
                    <a:gd name="T111" fmla="*/ 22 h 1832"/>
                    <a:gd name="T112" fmla="*/ 81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0" name="Freeform 39">
                  <a:extLst>
                    <a:ext uri="{FF2B5EF4-FFF2-40B4-BE49-F238E27FC236}">
                      <a16:creationId xmlns:a16="http://schemas.microsoft.com/office/drawing/2014/main" id="{EA2D741C-053A-AF44-A96B-844E0C80CFB4}"/>
                    </a:ext>
                  </a:extLst>
                </p:cNvPr>
                <p:cNvSpPr>
                  <a:spLocks/>
                </p:cNvSpPr>
                <p:nvPr/>
              </p:nvSpPr>
              <p:spPr bwMode="auto">
                <a:xfrm>
                  <a:off x="4377" y="2842"/>
                  <a:ext cx="588" cy="902"/>
                </a:xfrm>
                <a:custGeom>
                  <a:avLst/>
                  <a:gdLst>
                    <a:gd name="T0" fmla="*/ 73 w 1177"/>
                    <a:gd name="T1" fmla="*/ 0 h 1806"/>
                    <a:gd name="T2" fmla="*/ 145 w 1177"/>
                    <a:gd name="T3" fmla="*/ 27 h 1806"/>
                    <a:gd name="T4" fmla="*/ 212 w 1177"/>
                    <a:gd name="T5" fmla="*/ 62 h 1806"/>
                    <a:gd name="T6" fmla="*/ 276 w 1177"/>
                    <a:gd name="T7" fmla="*/ 105 h 1806"/>
                    <a:gd name="T8" fmla="*/ 335 w 1177"/>
                    <a:gd name="T9" fmla="*/ 155 h 1806"/>
                    <a:gd name="T10" fmla="*/ 391 w 1177"/>
                    <a:gd name="T11" fmla="*/ 209 h 1806"/>
                    <a:gd name="T12" fmla="*/ 444 w 1177"/>
                    <a:gd name="T13" fmla="*/ 269 h 1806"/>
                    <a:gd name="T14" fmla="*/ 493 w 1177"/>
                    <a:gd name="T15" fmla="*/ 334 h 1806"/>
                    <a:gd name="T16" fmla="*/ 542 w 1177"/>
                    <a:gd name="T17" fmla="*/ 403 h 1806"/>
                    <a:gd name="T18" fmla="*/ 560 w 1177"/>
                    <a:gd name="T19" fmla="*/ 467 h 1806"/>
                    <a:gd name="T20" fmla="*/ 575 w 1177"/>
                    <a:gd name="T21" fmla="*/ 522 h 1806"/>
                    <a:gd name="T22" fmla="*/ 584 w 1177"/>
                    <a:gd name="T23" fmla="*/ 571 h 1806"/>
                    <a:gd name="T24" fmla="*/ 588 w 1177"/>
                    <a:gd name="T25" fmla="*/ 619 h 1806"/>
                    <a:gd name="T26" fmla="*/ 588 w 1177"/>
                    <a:gd name="T27" fmla="*/ 665 h 1806"/>
                    <a:gd name="T28" fmla="*/ 584 w 1177"/>
                    <a:gd name="T29" fmla="*/ 716 h 1806"/>
                    <a:gd name="T30" fmla="*/ 577 w 1177"/>
                    <a:gd name="T31" fmla="*/ 773 h 1806"/>
                    <a:gd name="T32" fmla="*/ 568 w 1177"/>
                    <a:gd name="T33" fmla="*/ 841 h 1806"/>
                    <a:gd name="T34" fmla="*/ 461 w 1177"/>
                    <a:gd name="T35" fmla="*/ 872 h 1806"/>
                    <a:gd name="T36" fmla="*/ 354 w 1177"/>
                    <a:gd name="T37" fmla="*/ 895 h 1806"/>
                    <a:gd name="T38" fmla="*/ 251 w 1177"/>
                    <a:gd name="T39" fmla="*/ 902 h 1806"/>
                    <a:gd name="T40" fmla="*/ 160 w 1177"/>
                    <a:gd name="T41" fmla="*/ 891 h 1806"/>
                    <a:gd name="T42" fmla="*/ 83 w 1177"/>
                    <a:gd name="T43" fmla="*/ 854 h 1806"/>
                    <a:gd name="T44" fmla="*/ 30 w 1177"/>
                    <a:gd name="T45" fmla="*/ 787 h 1806"/>
                    <a:gd name="T46" fmla="*/ 4 w 1177"/>
                    <a:gd name="T47" fmla="*/ 685 h 1806"/>
                    <a:gd name="T48" fmla="*/ 11 w 1177"/>
                    <a:gd name="T49" fmla="*/ 544 h 1806"/>
                    <a:gd name="T50" fmla="*/ 18 w 1177"/>
                    <a:gd name="T51" fmla="*/ 535 h 1806"/>
                    <a:gd name="T52" fmla="*/ 25 w 1177"/>
                    <a:gd name="T53" fmla="*/ 528 h 1806"/>
                    <a:gd name="T54" fmla="*/ 31 w 1177"/>
                    <a:gd name="T55" fmla="*/ 521 h 1806"/>
                    <a:gd name="T56" fmla="*/ 38 w 1177"/>
                    <a:gd name="T57" fmla="*/ 514 h 1806"/>
                    <a:gd name="T58" fmla="*/ 43 w 1177"/>
                    <a:gd name="T59" fmla="*/ 507 h 1806"/>
                    <a:gd name="T60" fmla="*/ 49 w 1177"/>
                    <a:gd name="T61" fmla="*/ 500 h 1806"/>
                    <a:gd name="T62" fmla="*/ 56 w 1177"/>
                    <a:gd name="T63" fmla="*/ 492 h 1806"/>
                    <a:gd name="T64" fmla="*/ 64 w 1177"/>
                    <a:gd name="T65" fmla="*/ 485 h 1806"/>
                    <a:gd name="T66" fmla="*/ 56 w 1177"/>
                    <a:gd name="T67" fmla="*/ 465 h 1806"/>
                    <a:gd name="T68" fmla="*/ 48 w 1177"/>
                    <a:gd name="T69" fmla="*/ 447 h 1806"/>
                    <a:gd name="T70" fmla="*/ 39 w 1177"/>
                    <a:gd name="T71" fmla="*/ 427 h 1806"/>
                    <a:gd name="T72" fmla="*/ 32 w 1177"/>
                    <a:gd name="T73" fmla="*/ 408 h 1806"/>
                    <a:gd name="T74" fmla="*/ 24 w 1177"/>
                    <a:gd name="T75" fmla="*/ 389 h 1806"/>
                    <a:gd name="T76" fmla="*/ 16 w 1177"/>
                    <a:gd name="T77" fmla="*/ 369 h 1806"/>
                    <a:gd name="T78" fmla="*/ 7 w 1177"/>
                    <a:gd name="T79" fmla="*/ 350 h 1806"/>
                    <a:gd name="T80" fmla="*/ 0 w 1177"/>
                    <a:gd name="T81" fmla="*/ 331 h 1806"/>
                    <a:gd name="T82" fmla="*/ 7 w 1177"/>
                    <a:gd name="T83" fmla="*/ 313 h 1806"/>
                    <a:gd name="T84" fmla="*/ 14 w 1177"/>
                    <a:gd name="T85" fmla="*/ 296 h 1806"/>
                    <a:gd name="T86" fmla="*/ 22 w 1177"/>
                    <a:gd name="T87" fmla="*/ 277 h 1806"/>
                    <a:gd name="T88" fmla="*/ 29 w 1177"/>
                    <a:gd name="T89" fmla="*/ 260 h 1806"/>
                    <a:gd name="T90" fmla="*/ 37 w 1177"/>
                    <a:gd name="T91" fmla="*/ 242 h 1806"/>
                    <a:gd name="T92" fmla="*/ 44 w 1177"/>
                    <a:gd name="T93" fmla="*/ 225 h 1806"/>
                    <a:gd name="T94" fmla="*/ 52 w 1177"/>
                    <a:gd name="T95" fmla="*/ 207 h 1806"/>
                    <a:gd name="T96" fmla="*/ 59 w 1177"/>
                    <a:gd name="T97" fmla="*/ 190 h 1806"/>
                    <a:gd name="T98" fmla="*/ 63 w 1177"/>
                    <a:gd name="T99" fmla="*/ 168 h 1806"/>
                    <a:gd name="T100" fmla="*/ 65 w 1177"/>
                    <a:gd name="T101" fmla="*/ 144 h 1806"/>
                    <a:gd name="T102" fmla="*/ 65 w 1177"/>
                    <a:gd name="T103" fmla="*/ 119 h 1806"/>
                    <a:gd name="T104" fmla="*/ 66 w 1177"/>
                    <a:gd name="T105" fmla="*/ 95 h 1806"/>
                    <a:gd name="T106" fmla="*/ 66 w 1177"/>
                    <a:gd name="T107" fmla="*/ 70 h 1806"/>
                    <a:gd name="T108" fmla="*/ 66 w 1177"/>
                    <a:gd name="T109" fmla="*/ 46 h 1806"/>
                    <a:gd name="T110" fmla="*/ 68 w 1177"/>
                    <a:gd name="T111" fmla="*/ 22 h 1806"/>
                    <a:gd name="T112" fmla="*/ 73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1" name="Freeform 40">
                  <a:extLst>
                    <a:ext uri="{FF2B5EF4-FFF2-40B4-BE49-F238E27FC236}">
                      <a16:creationId xmlns:a16="http://schemas.microsoft.com/office/drawing/2014/main" id="{62B5625C-5D9A-7D48-AE1B-AC4FF9F47540}"/>
                    </a:ext>
                  </a:extLst>
                </p:cNvPr>
                <p:cNvSpPr>
                  <a:spLocks/>
                </p:cNvSpPr>
                <p:nvPr/>
              </p:nvSpPr>
              <p:spPr bwMode="auto">
                <a:xfrm>
                  <a:off x="4377" y="2842"/>
                  <a:ext cx="584" cy="889"/>
                </a:xfrm>
                <a:custGeom>
                  <a:avLst/>
                  <a:gdLst>
                    <a:gd name="T0" fmla="*/ 73 w 1168"/>
                    <a:gd name="T1" fmla="*/ 0 h 1779"/>
                    <a:gd name="T2" fmla="*/ 145 w 1168"/>
                    <a:gd name="T3" fmla="*/ 27 h 1779"/>
                    <a:gd name="T4" fmla="*/ 212 w 1168"/>
                    <a:gd name="T5" fmla="*/ 62 h 1779"/>
                    <a:gd name="T6" fmla="*/ 275 w 1168"/>
                    <a:gd name="T7" fmla="*/ 104 h 1779"/>
                    <a:gd name="T8" fmla="*/ 333 w 1168"/>
                    <a:gd name="T9" fmla="*/ 154 h 1779"/>
                    <a:gd name="T10" fmla="*/ 388 w 1168"/>
                    <a:gd name="T11" fmla="*/ 208 h 1779"/>
                    <a:gd name="T12" fmla="*/ 439 w 1168"/>
                    <a:gd name="T13" fmla="*/ 269 h 1779"/>
                    <a:gd name="T14" fmla="*/ 488 w 1168"/>
                    <a:gd name="T15" fmla="*/ 333 h 1779"/>
                    <a:gd name="T16" fmla="*/ 537 w 1168"/>
                    <a:gd name="T17" fmla="*/ 402 h 1779"/>
                    <a:gd name="T18" fmla="*/ 556 w 1168"/>
                    <a:gd name="T19" fmla="*/ 466 h 1779"/>
                    <a:gd name="T20" fmla="*/ 570 w 1168"/>
                    <a:gd name="T21" fmla="*/ 521 h 1779"/>
                    <a:gd name="T22" fmla="*/ 579 w 1168"/>
                    <a:gd name="T23" fmla="*/ 570 h 1779"/>
                    <a:gd name="T24" fmla="*/ 584 w 1168"/>
                    <a:gd name="T25" fmla="*/ 616 h 1779"/>
                    <a:gd name="T26" fmla="*/ 584 w 1168"/>
                    <a:gd name="T27" fmla="*/ 662 h 1779"/>
                    <a:gd name="T28" fmla="*/ 580 w 1168"/>
                    <a:gd name="T29" fmla="*/ 712 h 1779"/>
                    <a:gd name="T30" fmla="*/ 574 w 1168"/>
                    <a:gd name="T31" fmla="*/ 768 h 1779"/>
                    <a:gd name="T32" fmla="*/ 564 w 1168"/>
                    <a:gd name="T33" fmla="*/ 835 h 1779"/>
                    <a:gd name="T34" fmla="*/ 458 w 1168"/>
                    <a:gd name="T35" fmla="*/ 866 h 1779"/>
                    <a:gd name="T36" fmla="*/ 353 w 1168"/>
                    <a:gd name="T37" fmla="*/ 886 h 1779"/>
                    <a:gd name="T38" fmla="*/ 253 w 1168"/>
                    <a:gd name="T39" fmla="*/ 889 h 1779"/>
                    <a:gd name="T40" fmla="*/ 165 w 1168"/>
                    <a:gd name="T41" fmla="*/ 874 h 1779"/>
                    <a:gd name="T42" fmla="*/ 92 w 1168"/>
                    <a:gd name="T43" fmla="*/ 834 h 1779"/>
                    <a:gd name="T44" fmla="*/ 41 w 1168"/>
                    <a:gd name="T45" fmla="*/ 768 h 1779"/>
                    <a:gd name="T46" fmla="*/ 16 w 1168"/>
                    <a:gd name="T47" fmla="*/ 670 h 1779"/>
                    <a:gd name="T48" fmla="*/ 22 w 1168"/>
                    <a:gd name="T49" fmla="*/ 539 h 1779"/>
                    <a:gd name="T50" fmla="*/ 28 w 1168"/>
                    <a:gd name="T51" fmla="*/ 530 h 1779"/>
                    <a:gd name="T52" fmla="*/ 34 w 1168"/>
                    <a:gd name="T53" fmla="*/ 524 h 1779"/>
                    <a:gd name="T54" fmla="*/ 38 w 1168"/>
                    <a:gd name="T55" fmla="*/ 517 h 1779"/>
                    <a:gd name="T56" fmla="*/ 43 w 1168"/>
                    <a:gd name="T57" fmla="*/ 512 h 1779"/>
                    <a:gd name="T58" fmla="*/ 46 w 1168"/>
                    <a:gd name="T59" fmla="*/ 505 h 1779"/>
                    <a:gd name="T60" fmla="*/ 51 w 1168"/>
                    <a:gd name="T61" fmla="*/ 499 h 1779"/>
                    <a:gd name="T62" fmla="*/ 56 w 1168"/>
                    <a:gd name="T63" fmla="*/ 492 h 1779"/>
                    <a:gd name="T64" fmla="*/ 64 w 1168"/>
                    <a:gd name="T65" fmla="*/ 485 h 1779"/>
                    <a:gd name="T66" fmla="*/ 56 w 1168"/>
                    <a:gd name="T67" fmla="*/ 466 h 1779"/>
                    <a:gd name="T68" fmla="*/ 48 w 1168"/>
                    <a:gd name="T69" fmla="*/ 447 h 1779"/>
                    <a:gd name="T70" fmla="*/ 39 w 1168"/>
                    <a:gd name="T71" fmla="*/ 427 h 1779"/>
                    <a:gd name="T72" fmla="*/ 32 w 1168"/>
                    <a:gd name="T73" fmla="*/ 408 h 1779"/>
                    <a:gd name="T74" fmla="*/ 24 w 1168"/>
                    <a:gd name="T75" fmla="*/ 389 h 1779"/>
                    <a:gd name="T76" fmla="*/ 16 w 1168"/>
                    <a:gd name="T77" fmla="*/ 369 h 1779"/>
                    <a:gd name="T78" fmla="*/ 7 w 1168"/>
                    <a:gd name="T79" fmla="*/ 350 h 1779"/>
                    <a:gd name="T80" fmla="*/ 0 w 1168"/>
                    <a:gd name="T81" fmla="*/ 331 h 1779"/>
                    <a:gd name="T82" fmla="*/ 7 w 1168"/>
                    <a:gd name="T83" fmla="*/ 313 h 1779"/>
                    <a:gd name="T84" fmla="*/ 14 w 1168"/>
                    <a:gd name="T85" fmla="*/ 296 h 1779"/>
                    <a:gd name="T86" fmla="*/ 22 w 1168"/>
                    <a:gd name="T87" fmla="*/ 277 h 1779"/>
                    <a:gd name="T88" fmla="*/ 29 w 1168"/>
                    <a:gd name="T89" fmla="*/ 260 h 1779"/>
                    <a:gd name="T90" fmla="*/ 37 w 1168"/>
                    <a:gd name="T91" fmla="*/ 242 h 1779"/>
                    <a:gd name="T92" fmla="*/ 44 w 1168"/>
                    <a:gd name="T93" fmla="*/ 225 h 1779"/>
                    <a:gd name="T94" fmla="*/ 52 w 1168"/>
                    <a:gd name="T95" fmla="*/ 207 h 1779"/>
                    <a:gd name="T96" fmla="*/ 59 w 1168"/>
                    <a:gd name="T97" fmla="*/ 190 h 1779"/>
                    <a:gd name="T98" fmla="*/ 63 w 1168"/>
                    <a:gd name="T99" fmla="*/ 168 h 1779"/>
                    <a:gd name="T100" fmla="*/ 66 w 1168"/>
                    <a:gd name="T101" fmla="*/ 144 h 1779"/>
                    <a:gd name="T102" fmla="*/ 66 w 1168"/>
                    <a:gd name="T103" fmla="*/ 119 h 1779"/>
                    <a:gd name="T104" fmla="*/ 66 w 1168"/>
                    <a:gd name="T105" fmla="*/ 95 h 1779"/>
                    <a:gd name="T106" fmla="*/ 66 w 1168"/>
                    <a:gd name="T107" fmla="*/ 70 h 1779"/>
                    <a:gd name="T108" fmla="*/ 67 w 1168"/>
                    <a:gd name="T109" fmla="*/ 46 h 1779"/>
                    <a:gd name="T110" fmla="*/ 69 w 1168"/>
                    <a:gd name="T111" fmla="*/ 22 h 1779"/>
                    <a:gd name="T112" fmla="*/ 73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2" name="Freeform 41">
                  <a:extLst>
                    <a:ext uri="{FF2B5EF4-FFF2-40B4-BE49-F238E27FC236}">
                      <a16:creationId xmlns:a16="http://schemas.microsoft.com/office/drawing/2014/main" id="{3D57C161-15CB-354A-93D8-D3BAD1713CE3}"/>
                    </a:ext>
                  </a:extLst>
                </p:cNvPr>
                <p:cNvSpPr>
                  <a:spLocks/>
                </p:cNvSpPr>
                <p:nvPr/>
              </p:nvSpPr>
              <p:spPr bwMode="auto">
                <a:xfrm>
                  <a:off x="4377" y="2842"/>
                  <a:ext cx="580" cy="877"/>
                </a:xfrm>
                <a:custGeom>
                  <a:avLst/>
                  <a:gdLst>
                    <a:gd name="T0" fmla="*/ 73 w 1159"/>
                    <a:gd name="T1" fmla="*/ 0 h 1756"/>
                    <a:gd name="T2" fmla="*/ 145 w 1159"/>
                    <a:gd name="T3" fmla="*/ 27 h 1756"/>
                    <a:gd name="T4" fmla="*/ 212 w 1159"/>
                    <a:gd name="T5" fmla="*/ 62 h 1756"/>
                    <a:gd name="T6" fmla="*/ 273 w 1159"/>
                    <a:gd name="T7" fmla="*/ 104 h 1756"/>
                    <a:gd name="T8" fmla="*/ 331 w 1159"/>
                    <a:gd name="T9" fmla="*/ 153 h 1756"/>
                    <a:gd name="T10" fmla="*/ 385 w 1159"/>
                    <a:gd name="T11" fmla="*/ 208 h 1756"/>
                    <a:gd name="T12" fmla="*/ 436 w 1159"/>
                    <a:gd name="T13" fmla="*/ 268 h 1756"/>
                    <a:gd name="T14" fmla="*/ 485 w 1159"/>
                    <a:gd name="T15" fmla="*/ 332 h 1756"/>
                    <a:gd name="T16" fmla="*/ 533 w 1159"/>
                    <a:gd name="T17" fmla="*/ 401 h 1756"/>
                    <a:gd name="T18" fmla="*/ 552 w 1159"/>
                    <a:gd name="T19" fmla="*/ 464 h 1756"/>
                    <a:gd name="T20" fmla="*/ 566 w 1159"/>
                    <a:gd name="T21" fmla="*/ 519 h 1756"/>
                    <a:gd name="T22" fmla="*/ 575 w 1159"/>
                    <a:gd name="T23" fmla="*/ 567 h 1756"/>
                    <a:gd name="T24" fmla="*/ 580 w 1159"/>
                    <a:gd name="T25" fmla="*/ 613 h 1756"/>
                    <a:gd name="T26" fmla="*/ 580 w 1159"/>
                    <a:gd name="T27" fmla="*/ 657 h 1756"/>
                    <a:gd name="T28" fmla="*/ 577 w 1159"/>
                    <a:gd name="T29" fmla="*/ 706 h 1756"/>
                    <a:gd name="T30" fmla="*/ 570 w 1159"/>
                    <a:gd name="T31" fmla="*/ 762 h 1756"/>
                    <a:gd name="T32" fmla="*/ 560 w 1159"/>
                    <a:gd name="T33" fmla="*/ 829 h 1756"/>
                    <a:gd name="T34" fmla="*/ 456 w 1159"/>
                    <a:gd name="T35" fmla="*/ 860 h 1756"/>
                    <a:gd name="T36" fmla="*/ 353 w 1159"/>
                    <a:gd name="T37" fmla="*/ 877 h 1756"/>
                    <a:gd name="T38" fmla="*/ 256 w 1159"/>
                    <a:gd name="T39" fmla="*/ 876 h 1756"/>
                    <a:gd name="T40" fmla="*/ 172 w 1159"/>
                    <a:gd name="T41" fmla="*/ 857 h 1756"/>
                    <a:gd name="T42" fmla="*/ 101 w 1159"/>
                    <a:gd name="T43" fmla="*/ 814 h 1756"/>
                    <a:gd name="T44" fmla="*/ 52 w 1159"/>
                    <a:gd name="T45" fmla="*/ 749 h 1756"/>
                    <a:gd name="T46" fmla="*/ 27 w 1159"/>
                    <a:gd name="T47" fmla="*/ 655 h 1756"/>
                    <a:gd name="T48" fmla="*/ 33 w 1159"/>
                    <a:gd name="T49" fmla="*/ 533 h 1756"/>
                    <a:gd name="T50" fmla="*/ 39 w 1159"/>
                    <a:gd name="T51" fmla="*/ 525 h 1756"/>
                    <a:gd name="T52" fmla="*/ 44 w 1159"/>
                    <a:gd name="T53" fmla="*/ 519 h 1756"/>
                    <a:gd name="T54" fmla="*/ 46 w 1159"/>
                    <a:gd name="T55" fmla="*/ 514 h 1756"/>
                    <a:gd name="T56" fmla="*/ 49 w 1159"/>
                    <a:gd name="T57" fmla="*/ 509 h 1756"/>
                    <a:gd name="T58" fmla="*/ 51 w 1159"/>
                    <a:gd name="T59" fmla="*/ 503 h 1756"/>
                    <a:gd name="T60" fmla="*/ 53 w 1159"/>
                    <a:gd name="T61" fmla="*/ 498 h 1756"/>
                    <a:gd name="T62" fmla="*/ 57 w 1159"/>
                    <a:gd name="T63" fmla="*/ 492 h 1756"/>
                    <a:gd name="T64" fmla="*/ 64 w 1159"/>
                    <a:gd name="T65" fmla="*/ 485 h 1756"/>
                    <a:gd name="T66" fmla="*/ 56 w 1159"/>
                    <a:gd name="T67" fmla="*/ 465 h 1756"/>
                    <a:gd name="T68" fmla="*/ 48 w 1159"/>
                    <a:gd name="T69" fmla="*/ 446 h 1756"/>
                    <a:gd name="T70" fmla="*/ 40 w 1159"/>
                    <a:gd name="T71" fmla="*/ 427 h 1756"/>
                    <a:gd name="T72" fmla="*/ 32 w 1159"/>
                    <a:gd name="T73" fmla="*/ 408 h 1756"/>
                    <a:gd name="T74" fmla="*/ 24 w 1159"/>
                    <a:gd name="T75" fmla="*/ 389 h 1756"/>
                    <a:gd name="T76" fmla="*/ 16 w 1159"/>
                    <a:gd name="T77" fmla="*/ 369 h 1756"/>
                    <a:gd name="T78" fmla="*/ 8 w 1159"/>
                    <a:gd name="T79" fmla="*/ 350 h 1756"/>
                    <a:gd name="T80" fmla="*/ 0 w 1159"/>
                    <a:gd name="T81" fmla="*/ 331 h 1756"/>
                    <a:gd name="T82" fmla="*/ 7 w 1159"/>
                    <a:gd name="T83" fmla="*/ 313 h 1756"/>
                    <a:gd name="T84" fmla="*/ 15 w 1159"/>
                    <a:gd name="T85" fmla="*/ 296 h 1756"/>
                    <a:gd name="T86" fmla="*/ 22 w 1159"/>
                    <a:gd name="T87" fmla="*/ 277 h 1756"/>
                    <a:gd name="T88" fmla="*/ 30 w 1159"/>
                    <a:gd name="T89" fmla="*/ 260 h 1756"/>
                    <a:gd name="T90" fmla="*/ 37 w 1159"/>
                    <a:gd name="T91" fmla="*/ 242 h 1756"/>
                    <a:gd name="T92" fmla="*/ 45 w 1159"/>
                    <a:gd name="T93" fmla="*/ 225 h 1756"/>
                    <a:gd name="T94" fmla="*/ 52 w 1159"/>
                    <a:gd name="T95" fmla="*/ 207 h 1756"/>
                    <a:gd name="T96" fmla="*/ 60 w 1159"/>
                    <a:gd name="T97" fmla="*/ 190 h 1756"/>
                    <a:gd name="T98" fmla="*/ 64 w 1159"/>
                    <a:gd name="T99" fmla="*/ 168 h 1756"/>
                    <a:gd name="T100" fmla="*/ 66 w 1159"/>
                    <a:gd name="T101" fmla="*/ 144 h 1756"/>
                    <a:gd name="T102" fmla="*/ 66 w 1159"/>
                    <a:gd name="T103" fmla="*/ 119 h 1756"/>
                    <a:gd name="T104" fmla="*/ 66 w 1159"/>
                    <a:gd name="T105" fmla="*/ 95 h 1756"/>
                    <a:gd name="T106" fmla="*/ 66 w 1159"/>
                    <a:gd name="T107" fmla="*/ 70 h 1756"/>
                    <a:gd name="T108" fmla="*/ 67 w 1159"/>
                    <a:gd name="T109" fmla="*/ 46 h 1756"/>
                    <a:gd name="T110" fmla="*/ 69 w 1159"/>
                    <a:gd name="T111" fmla="*/ 22 h 1756"/>
                    <a:gd name="T112" fmla="*/ 73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3" name="Freeform 42">
                  <a:extLst>
                    <a:ext uri="{FF2B5EF4-FFF2-40B4-BE49-F238E27FC236}">
                      <a16:creationId xmlns:a16="http://schemas.microsoft.com/office/drawing/2014/main" id="{03607C37-9A14-9D48-B461-34954E5B0CEE}"/>
                    </a:ext>
                  </a:extLst>
                </p:cNvPr>
                <p:cNvSpPr>
                  <a:spLocks/>
                </p:cNvSpPr>
                <p:nvPr/>
              </p:nvSpPr>
              <p:spPr bwMode="auto">
                <a:xfrm>
                  <a:off x="4377" y="2842"/>
                  <a:ext cx="575" cy="869"/>
                </a:xfrm>
                <a:custGeom>
                  <a:avLst/>
                  <a:gdLst>
                    <a:gd name="T0" fmla="*/ 73 w 1149"/>
                    <a:gd name="T1" fmla="*/ 0 h 1738"/>
                    <a:gd name="T2" fmla="*/ 145 w 1149"/>
                    <a:gd name="T3" fmla="*/ 27 h 1738"/>
                    <a:gd name="T4" fmla="*/ 211 w 1149"/>
                    <a:gd name="T5" fmla="*/ 62 h 1738"/>
                    <a:gd name="T6" fmla="*/ 272 w 1149"/>
                    <a:gd name="T7" fmla="*/ 105 h 1738"/>
                    <a:gd name="T8" fmla="*/ 329 w 1149"/>
                    <a:gd name="T9" fmla="*/ 154 h 1738"/>
                    <a:gd name="T10" fmla="*/ 382 w 1149"/>
                    <a:gd name="T11" fmla="*/ 208 h 1738"/>
                    <a:gd name="T12" fmla="*/ 432 w 1149"/>
                    <a:gd name="T13" fmla="*/ 268 h 1738"/>
                    <a:gd name="T14" fmla="*/ 480 w 1149"/>
                    <a:gd name="T15" fmla="*/ 332 h 1738"/>
                    <a:gd name="T16" fmla="*/ 527 w 1149"/>
                    <a:gd name="T17" fmla="*/ 401 h 1738"/>
                    <a:gd name="T18" fmla="*/ 546 w 1149"/>
                    <a:gd name="T19" fmla="*/ 465 h 1738"/>
                    <a:gd name="T20" fmla="*/ 560 w 1149"/>
                    <a:gd name="T21" fmla="*/ 518 h 1738"/>
                    <a:gd name="T22" fmla="*/ 569 w 1149"/>
                    <a:gd name="T23" fmla="*/ 565 h 1738"/>
                    <a:gd name="T24" fmla="*/ 574 w 1149"/>
                    <a:gd name="T25" fmla="*/ 610 h 1738"/>
                    <a:gd name="T26" fmla="*/ 575 w 1149"/>
                    <a:gd name="T27" fmla="*/ 654 h 1738"/>
                    <a:gd name="T28" fmla="*/ 572 w 1149"/>
                    <a:gd name="T29" fmla="*/ 702 h 1738"/>
                    <a:gd name="T30" fmla="*/ 565 w 1149"/>
                    <a:gd name="T31" fmla="*/ 757 h 1738"/>
                    <a:gd name="T32" fmla="*/ 556 w 1149"/>
                    <a:gd name="T33" fmla="*/ 825 h 1738"/>
                    <a:gd name="T34" fmla="*/ 452 w 1149"/>
                    <a:gd name="T35" fmla="*/ 856 h 1738"/>
                    <a:gd name="T36" fmla="*/ 352 w 1149"/>
                    <a:gd name="T37" fmla="*/ 869 h 1738"/>
                    <a:gd name="T38" fmla="*/ 258 w 1149"/>
                    <a:gd name="T39" fmla="*/ 864 h 1738"/>
                    <a:gd name="T40" fmla="*/ 177 w 1149"/>
                    <a:gd name="T41" fmla="*/ 841 h 1738"/>
                    <a:gd name="T42" fmla="*/ 110 w 1149"/>
                    <a:gd name="T43" fmla="*/ 796 h 1738"/>
                    <a:gd name="T44" fmla="*/ 63 w 1149"/>
                    <a:gd name="T45" fmla="*/ 730 h 1738"/>
                    <a:gd name="T46" fmla="*/ 39 w 1149"/>
                    <a:gd name="T47" fmla="*/ 641 h 1738"/>
                    <a:gd name="T48" fmla="*/ 44 w 1149"/>
                    <a:gd name="T49" fmla="*/ 529 h 1738"/>
                    <a:gd name="T50" fmla="*/ 50 w 1149"/>
                    <a:gd name="T51" fmla="*/ 522 h 1738"/>
                    <a:gd name="T52" fmla="*/ 53 w 1149"/>
                    <a:gd name="T53" fmla="*/ 516 h 1738"/>
                    <a:gd name="T54" fmla="*/ 54 w 1149"/>
                    <a:gd name="T55" fmla="*/ 510 h 1738"/>
                    <a:gd name="T56" fmla="*/ 54 w 1149"/>
                    <a:gd name="T57" fmla="*/ 507 h 1738"/>
                    <a:gd name="T58" fmla="*/ 54 w 1149"/>
                    <a:gd name="T59" fmla="*/ 502 h 1738"/>
                    <a:gd name="T60" fmla="*/ 55 w 1149"/>
                    <a:gd name="T61" fmla="*/ 498 h 1738"/>
                    <a:gd name="T62" fmla="*/ 57 w 1149"/>
                    <a:gd name="T63" fmla="*/ 492 h 1738"/>
                    <a:gd name="T64" fmla="*/ 64 w 1149"/>
                    <a:gd name="T65" fmla="*/ 485 h 1738"/>
                    <a:gd name="T66" fmla="*/ 56 w 1149"/>
                    <a:gd name="T67" fmla="*/ 466 h 1738"/>
                    <a:gd name="T68" fmla="*/ 48 w 1149"/>
                    <a:gd name="T69" fmla="*/ 447 h 1738"/>
                    <a:gd name="T70" fmla="*/ 40 w 1149"/>
                    <a:gd name="T71" fmla="*/ 428 h 1738"/>
                    <a:gd name="T72" fmla="*/ 32 w 1149"/>
                    <a:gd name="T73" fmla="*/ 409 h 1738"/>
                    <a:gd name="T74" fmla="*/ 24 w 1149"/>
                    <a:gd name="T75" fmla="*/ 389 h 1738"/>
                    <a:gd name="T76" fmla="*/ 16 w 1149"/>
                    <a:gd name="T77" fmla="*/ 370 h 1738"/>
                    <a:gd name="T78" fmla="*/ 8 w 1149"/>
                    <a:gd name="T79" fmla="*/ 351 h 1738"/>
                    <a:gd name="T80" fmla="*/ 0 w 1149"/>
                    <a:gd name="T81" fmla="*/ 332 h 1738"/>
                    <a:gd name="T82" fmla="*/ 7 w 1149"/>
                    <a:gd name="T83" fmla="*/ 314 h 1738"/>
                    <a:gd name="T84" fmla="*/ 15 w 1149"/>
                    <a:gd name="T85" fmla="*/ 296 h 1738"/>
                    <a:gd name="T86" fmla="*/ 22 w 1149"/>
                    <a:gd name="T87" fmla="*/ 278 h 1738"/>
                    <a:gd name="T88" fmla="*/ 30 w 1149"/>
                    <a:gd name="T89" fmla="*/ 261 h 1738"/>
                    <a:gd name="T90" fmla="*/ 37 w 1149"/>
                    <a:gd name="T91" fmla="*/ 242 h 1738"/>
                    <a:gd name="T92" fmla="*/ 45 w 1149"/>
                    <a:gd name="T93" fmla="*/ 225 h 1738"/>
                    <a:gd name="T94" fmla="*/ 52 w 1149"/>
                    <a:gd name="T95" fmla="*/ 208 h 1738"/>
                    <a:gd name="T96" fmla="*/ 60 w 1149"/>
                    <a:gd name="T97" fmla="*/ 191 h 1738"/>
                    <a:gd name="T98" fmla="*/ 64 w 1149"/>
                    <a:gd name="T99" fmla="*/ 168 h 1738"/>
                    <a:gd name="T100" fmla="*/ 66 w 1149"/>
                    <a:gd name="T101" fmla="*/ 144 h 1738"/>
                    <a:gd name="T102" fmla="*/ 66 w 1149"/>
                    <a:gd name="T103" fmla="*/ 119 h 1738"/>
                    <a:gd name="T104" fmla="*/ 66 w 1149"/>
                    <a:gd name="T105" fmla="*/ 96 h 1738"/>
                    <a:gd name="T106" fmla="*/ 66 w 1149"/>
                    <a:gd name="T107" fmla="*/ 70 h 1738"/>
                    <a:gd name="T108" fmla="*/ 67 w 1149"/>
                    <a:gd name="T109" fmla="*/ 46 h 1738"/>
                    <a:gd name="T110" fmla="*/ 69 w 1149"/>
                    <a:gd name="T111" fmla="*/ 22 h 1738"/>
                    <a:gd name="T112" fmla="*/ 73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4" name="Freeform 43">
                  <a:extLst>
                    <a:ext uri="{FF2B5EF4-FFF2-40B4-BE49-F238E27FC236}">
                      <a16:creationId xmlns:a16="http://schemas.microsoft.com/office/drawing/2014/main" id="{D799AF78-52C6-1441-BF9D-BB5F6F571E09}"/>
                    </a:ext>
                  </a:extLst>
                </p:cNvPr>
                <p:cNvSpPr>
                  <a:spLocks/>
                </p:cNvSpPr>
                <p:nvPr/>
              </p:nvSpPr>
              <p:spPr bwMode="auto">
                <a:xfrm>
                  <a:off x="4377" y="2842"/>
                  <a:ext cx="570" cy="860"/>
                </a:xfrm>
                <a:custGeom>
                  <a:avLst/>
                  <a:gdLst>
                    <a:gd name="T0" fmla="*/ 73 w 1140"/>
                    <a:gd name="T1" fmla="*/ 0 h 1721"/>
                    <a:gd name="T2" fmla="*/ 144 w 1140"/>
                    <a:gd name="T3" fmla="*/ 27 h 1721"/>
                    <a:gd name="T4" fmla="*/ 209 w 1140"/>
                    <a:gd name="T5" fmla="*/ 62 h 1721"/>
                    <a:gd name="T6" fmla="*/ 270 w 1140"/>
                    <a:gd name="T7" fmla="*/ 104 h 1721"/>
                    <a:gd name="T8" fmla="*/ 326 w 1140"/>
                    <a:gd name="T9" fmla="*/ 153 h 1721"/>
                    <a:gd name="T10" fmla="*/ 377 w 1140"/>
                    <a:gd name="T11" fmla="*/ 207 h 1721"/>
                    <a:gd name="T12" fmla="*/ 428 w 1140"/>
                    <a:gd name="T13" fmla="*/ 267 h 1721"/>
                    <a:gd name="T14" fmla="*/ 475 w 1140"/>
                    <a:gd name="T15" fmla="*/ 331 h 1721"/>
                    <a:gd name="T16" fmla="*/ 523 w 1140"/>
                    <a:gd name="T17" fmla="*/ 400 h 1721"/>
                    <a:gd name="T18" fmla="*/ 542 w 1140"/>
                    <a:gd name="T19" fmla="*/ 463 h 1721"/>
                    <a:gd name="T20" fmla="*/ 556 w 1140"/>
                    <a:gd name="T21" fmla="*/ 517 h 1721"/>
                    <a:gd name="T22" fmla="*/ 565 w 1140"/>
                    <a:gd name="T23" fmla="*/ 563 h 1721"/>
                    <a:gd name="T24" fmla="*/ 570 w 1140"/>
                    <a:gd name="T25" fmla="*/ 606 h 1721"/>
                    <a:gd name="T26" fmla="*/ 570 w 1140"/>
                    <a:gd name="T27" fmla="*/ 649 h 1721"/>
                    <a:gd name="T28" fmla="*/ 567 w 1140"/>
                    <a:gd name="T29" fmla="*/ 697 h 1721"/>
                    <a:gd name="T30" fmla="*/ 560 w 1140"/>
                    <a:gd name="T31" fmla="*/ 752 h 1721"/>
                    <a:gd name="T32" fmla="*/ 552 w 1140"/>
                    <a:gd name="T33" fmla="*/ 818 h 1721"/>
                    <a:gd name="T34" fmla="*/ 448 w 1140"/>
                    <a:gd name="T35" fmla="*/ 849 h 1721"/>
                    <a:gd name="T36" fmla="*/ 350 w 1140"/>
                    <a:gd name="T37" fmla="*/ 860 h 1721"/>
                    <a:gd name="T38" fmla="*/ 261 w 1140"/>
                    <a:gd name="T39" fmla="*/ 851 h 1721"/>
                    <a:gd name="T40" fmla="*/ 182 w 1140"/>
                    <a:gd name="T41" fmla="*/ 824 h 1721"/>
                    <a:gd name="T42" fmla="*/ 118 w 1140"/>
                    <a:gd name="T43" fmla="*/ 777 h 1721"/>
                    <a:gd name="T44" fmla="*/ 74 w 1140"/>
                    <a:gd name="T45" fmla="*/ 711 h 1721"/>
                    <a:gd name="T46" fmla="*/ 51 w 1140"/>
                    <a:gd name="T47" fmla="*/ 626 h 1721"/>
                    <a:gd name="T48" fmla="*/ 54 w 1140"/>
                    <a:gd name="T49" fmla="*/ 524 h 1721"/>
                    <a:gd name="T50" fmla="*/ 59 w 1140"/>
                    <a:gd name="T51" fmla="*/ 516 h 1721"/>
                    <a:gd name="T52" fmla="*/ 61 w 1140"/>
                    <a:gd name="T53" fmla="*/ 511 h 1721"/>
                    <a:gd name="T54" fmla="*/ 60 w 1140"/>
                    <a:gd name="T55" fmla="*/ 507 h 1721"/>
                    <a:gd name="T56" fmla="*/ 59 w 1140"/>
                    <a:gd name="T57" fmla="*/ 504 h 1721"/>
                    <a:gd name="T58" fmla="*/ 56 w 1140"/>
                    <a:gd name="T59" fmla="*/ 500 h 1721"/>
                    <a:gd name="T60" fmla="*/ 56 w 1140"/>
                    <a:gd name="T61" fmla="*/ 497 h 1721"/>
                    <a:gd name="T62" fmla="*/ 58 w 1140"/>
                    <a:gd name="T63" fmla="*/ 492 h 1721"/>
                    <a:gd name="T64" fmla="*/ 64 w 1140"/>
                    <a:gd name="T65" fmla="*/ 485 h 1721"/>
                    <a:gd name="T66" fmla="*/ 56 w 1140"/>
                    <a:gd name="T67" fmla="*/ 466 h 1721"/>
                    <a:gd name="T68" fmla="*/ 48 w 1140"/>
                    <a:gd name="T69" fmla="*/ 447 h 1721"/>
                    <a:gd name="T70" fmla="*/ 39 w 1140"/>
                    <a:gd name="T71" fmla="*/ 427 h 1721"/>
                    <a:gd name="T72" fmla="*/ 32 w 1140"/>
                    <a:gd name="T73" fmla="*/ 408 h 1721"/>
                    <a:gd name="T74" fmla="*/ 24 w 1140"/>
                    <a:gd name="T75" fmla="*/ 389 h 1721"/>
                    <a:gd name="T76" fmla="*/ 16 w 1140"/>
                    <a:gd name="T77" fmla="*/ 369 h 1721"/>
                    <a:gd name="T78" fmla="*/ 7 w 1140"/>
                    <a:gd name="T79" fmla="*/ 350 h 1721"/>
                    <a:gd name="T80" fmla="*/ 0 w 1140"/>
                    <a:gd name="T81" fmla="*/ 331 h 1721"/>
                    <a:gd name="T82" fmla="*/ 7 w 1140"/>
                    <a:gd name="T83" fmla="*/ 313 h 1721"/>
                    <a:gd name="T84" fmla="*/ 14 w 1140"/>
                    <a:gd name="T85" fmla="*/ 296 h 1721"/>
                    <a:gd name="T86" fmla="*/ 22 w 1140"/>
                    <a:gd name="T87" fmla="*/ 277 h 1721"/>
                    <a:gd name="T88" fmla="*/ 29 w 1140"/>
                    <a:gd name="T89" fmla="*/ 260 h 1721"/>
                    <a:gd name="T90" fmla="*/ 37 w 1140"/>
                    <a:gd name="T91" fmla="*/ 242 h 1721"/>
                    <a:gd name="T92" fmla="*/ 44 w 1140"/>
                    <a:gd name="T93" fmla="*/ 225 h 1721"/>
                    <a:gd name="T94" fmla="*/ 52 w 1140"/>
                    <a:gd name="T95" fmla="*/ 207 h 1721"/>
                    <a:gd name="T96" fmla="*/ 59 w 1140"/>
                    <a:gd name="T97" fmla="*/ 190 h 1721"/>
                    <a:gd name="T98" fmla="*/ 63 w 1140"/>
                    <a:gd name="T99" fmla="*/ 168 h 1721"/>
                    <a:gd name="T100" fmla="*/ 66 w 1140"/>
                    <a:gd name="T101" fmla="*/ 144 h 1721"/>
                    <a:gd name="T102" fmla="*/ 66 w 1140"/>
                    <a:gd name="T103" fmla="*/ 119 h 1721"/>
                    <a:gd name="T104" fmla="*/ 66 w 1140"/>
                    <a:gd name="T105" fmla="*/ 95 h 1721"/>
                    <a:gd name="T106" fmla="*/ 66 w 1140"/>
                    <a:gd name="T107" fmla="*/ 70 h 1721"/>
                    <a:gd name="T108" fmla="*/ 67 w 1140"/>
                    <a:gd name="T109" fmla="*/ 46 h 1721"/>
                    <a:gd name="T110" fmla="*/ 69 w 1140"/>
                    <a:gd name="T111" fmla="*/ 22 h 1721"/>
                    <a:gd name="T112" fmla="*/ 73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5" name="Freeform 44">
                  <a:extLst>
                    <a:ext uri="{FF2B5EF4-FFF2-40B4-BE49-F238E27FC236}">
                      <a16:creationId xmlns:a16="http://schemas.microsoft.com/office/drawing/2014/main" id="{FA57E22C-7273-734D-9ED0-DC4269297A45}"/>
                    </a:ext>
                  </a:extLst>
                </p:cNvPr>
                <p:cNvSpPr>
                  <a:spLocks/>
                </p:cNvSpPr>
                <p:nvPr/>
              </p:nvSpPr>
              <p:spPr bwMode="auto">
                <a:xfrm>
                  <a:off x="4377" y="2842"/>
                  <a:ext cx="566" cy="851"/>
                </a:xfrm>
                <a:custGeom>
                  <a:avLst/>
                  <a:gdLst>
                    <a:gd name="T0" fmla="*/ 73 w 1131"/>
                    <a:gd name="T1" fmla="*/ 0 h 1703"/>
                    <a:gd name="T2" fmla="*/ 145 w 1131"/>
                    <a:gd name="T3" fmla="*/ 27 h 1703"/>
                    <a:gd name="T4" fmla="*/ 210 w 1131"/>
                    <a:gd name="T5" fmla="*/ 62 h 1703"/>
                    <a:gd name="T6" fmla="*/ 269 w 1131"/>
                    <a:gd name="T7" fmla="*/ 104 h 1703"/>
                    <a:gd name="T8" fmla="*/ 325 w 1131"/>
                    <a:gd name="T9" fmla="*/ 153 h 1703"/>
                    <a:gd name="T10" fmla="*/ 375 w 1131"/>
                    <a:gd name="T11" fmla="*/ 207 h 1703"/>
                    <a:gd name="T12" fmla="*/ 424 w 1131"/>
                    <a:gd name="T13" fmla="*/ 266 h 1703"/>
                    <a:gd name="T14" fmla="*/ 471 w 1131"/>
                    <a:gd name="T15" fmla="*/ 331 h 1703"/>
                    <a:gd name="T16" fmla="*/ 518 w 1131"/>
                    <a:gd name="T17" fmla="*/ 400 h 1703"/>
                    <a:gd name="T18" fmla="*/ 537 w 1131"/>
                    <a:gd name="T19" fmla="*/ 463 h 1703"/>
                    <a:gd name="T20" fmla="*/ 551 w 1131"/>
                    <a:gd name="T21" fmla="*/ 515 h 1703"/>
                    <a:gd name="T22" fmla="*/ 560 w 1131"/>
                    <a:gd name="T23" fmla="*/ 561 h 1703"/>
                    <a:gd name="T24" fmla="*/ 565 w 1131"/>
                    <a:gd name="T25" fmla="*/ 603 h 1703"/>
                    <a:gd name="T26" fmla="*/ 566 w 1131"/>
                    <a:gd name="T27" fmla="*/ 645 h 1703"/>
                    <a:gd name="T28" fmla="*/ 563 w 1131"/>
                    <a:gd name="T29" fmla="*/ 691 h 1703"/>
                    <a:gd name="T30" fmla="*/ 556 w 1131"/>
                    <a:gd name="T31" fmla="*/ 745 h 1703"/>
                    <a:gd name="T32" fmla="*/ 547 w 1131"/>
                    <a:gd name="T33" fmla="*/ 812 h 1703"/>
                    <a:gd name="T34" fmla="*/ 445 w 1131"/>
                    <a:gd name="T35" fmla="*/ 843 h 1703"/>
                    <a:gd name="T36" fmla="*/ 349 w 1131"/>
                    <a:gd name="T37" fmla="*/ 851 h 1703"/>
                    <a:gd name="T38" fmla="*/ 262 w 1131"/>
                    <a:gd name="T39" fmla="*/ 838 h 1703"/>
                    <a:gd name="T40" fmla="*/ 188 w 1131"/>
                    <a:gd name="T41" fmla="*/ 807 h 1703"/>
                    <a:gd name="T42" fmla="*/ 128 w 1131"/>
                    <a:gd name="T43" fmla="*/ 757 h 1703"/>
                    <a:gd name="T44" fmla="*/ 85 w 1131"/>
                    <a:gd name="T45" fmla="*/ 692 h 1703"/>
                    <a:gd name="T46" fmla="*/ 63 w 1131"/>
                    <a:gd name="T47" fmla="*/ 611 h 1703"/>
                    <a:gd name="T48" fmla="*/ 65 w 1131"/>
                    <a:gd name="T49" fmla="*/ 518 h 1703"/>
                    <a:gd name="T50" fmla="*/ 69 w 1131"/>
                    <a:gd name="T51" fmla="*/ 511 h 1703"/>
                    <a:gd name="T52" fmla="*/ 71 w 1131"/>
                    <a:gd name="T53" fmla="*/ 507 h 1703"/>
                    <a:gd name="T54" fmla="*/ 68 w 1131"/>
                    <a:gd name="T55" fmla="*/ 504 h 1703"/>
                    <a:gd name="T56" fmla="*/ 65 w 1131"/>
                    <a:gd name="T57" fmla="*/ 502 h 1703"/>
                    <a:gd name="T58" fmla="*/ 61 w 1131"/>
                    <a:gd name="T59" fmla="*/ 499 h 1703"/>
                    <a:gd name="T60" fmla="*/ 58 w 1131"/>
                    <a:gd name="T61" fmla="*/ 496 h 1703"/>
                    <a:gd name="T62" fmla="*/ 59 w 1131"/>
                    <a:gd name="T63" fmla="*/ 492 h 1703"/>
                    <a:gd name="T64" fmla="*/ 64 w 1131"/>
                    <a:gd name="T65" fmla="*/ 485 h 1703"/>
                    <a:gd name="T66" fmla="*/ 56 w 1131"/>
                    <a:gd name="T67" fmla="*/ 466 h 1703"/>
                    <a:gd name="T68" fmla="*/ 48 w 1131"/>
                    <a:gd name="T69" fmla="*/ 447 h 1703"/>
                    <a:gd name="T70" fmla="*/ 40 w 1131"/>
                    <a:gd name="T71" fmla="*/ 427 h 1703"/>
                    <a:gd name="T72" fmla="*/ 32 w 1131"/>
                    <a:gd name="T73" fmla="*/ 408 h 1703"/>
                    <a:gd name="T74" fmla="*/ 24 w 1131"/>
                    <a:gd name="T75" fmla="*/ 389 h 1703"/>
                    <a:gd name="T76" fmla="*/ 16 w 1131"/>
                    <a:gd name="T77" fmla="*/ 369 h 1703"/>
                    <a:gd name="T78" fmla="*/ 8 w 1131"/>
                    <a:gd name="T79" fmla="*/ 350 h 1703"/>
                    <a:gd name="T80" fmla="*/ 0 w 1131"/>
                    <a:gd name="T81" fmla="*/ 331 h 1703"/>
                    <a:gd name="T82" fmla="*/ 7 w 1131"/>
                    <a:gd name="T83" fmla="*/ 313 h 1703"/>
                    <a:gd name="T84" fmla="*/ 15 w 1131"/>
                    <a:gd name="T85" fmla="*/ 296 h 1703"/>
                    <a:gd name="T86" fmla="*/ 22 w 1131"/>
                    <a:gd name="T87" fmla="*/ 277 h 1703"/>
                    <a:gd name="T88" fmla="*/ 30 w 1131"/>
                    <a:gd name="T89" fmla="*/ 260 h 1703"/>
                    <a:gd name="T90" fmla="*/ 37 w 1131"/>
                    <a:gd name="T91" fmla="*/ 242 h 1703"/>
                    <a:gd name="T92" fmla="*/ 45 w 1131"/>
                    <a:gd name="T93" fmla="*/ 225 h 1703"/>
                    <a:gd name="T94" fmla="*/ 52 w 1131"/>
                    <a:gd name="T95" fmla="*/ 207 h 1703"/>
                    <a:gd name="T96" fmla="*/ 60 w 1131"/>
                    <a:gd name="T97" fmla="*/ 190 h 1703"/>
                    <a:gd name="T98" fmla="*/ 64 w 1131"/>
                    <a:gd name="T99" fmla="*/ 168 h 1703"/>
                    <a:gd name="T100" fmla="*/ 66 w 1131"/>
                    <a:gd name="T101" fmla="*/ 144 h 1703"/>
                    <a:gd name="T102" fmla="*/ 66 w 1131"/>
                    <a:gd name="T103" fmla="*/ 119 h 1703"/>
                    <a:gd name="T104" fmla="*/ 66 w 1131"/>
                    <a:gd name="T105" fmla="*/ 95 h 1703"/>
                    <a:gd name="T106" fmla="*/ 66 w 1131"/>
                    <a:gd name="T107" fmla="*/ 70 h 1703"/>
                    <a:gd name="T108" fmla="*/ 67 w 1131"/>
                    <a:gd name="T109" fmla="*/ 46 h 1703"/>
                    <a:gd name="T110" fmla="*/ 69 w 1131"/>
                    <a:gd name="T111" fmla="*/ 22 h 1703"/>
                    <a:gd name="T112" fmla="*/ 73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6" name="Freeform 45">
                  <a:extLst>
                    <a:ext uri="{FF2B5EF4-FFF2-40B4-BE49-F238E27FC236}">
                      <a16:creationId xmlns:a16="http://schemas.microsoft.com/office/drawing/2014/main" id="{2A625DDB-F6B6-CA4A-8BBE-DEF099DB8C86}"/>
                    </a:ext>
                  </a:extLst>
                </p:cNvPr>
                <p:cNvSpPr>
                  <a:spLocks/>
                </p:cNvSpPr>
                <p:nvPr/>
              </p:nvSpPr>
              <p:spPr bwMode="auto">
                <a:xfrm>
                  <a:off x="4377" y="2842"/>
                  <a:ext cx="561" cy="842"/>
                </a:xfrm>
                <a:custGeom>
                  <a:avLst/>
                  <a:gdLst>
                    <a:gd name="T0" fmla="*/ 73 w 1123"/>
                    <a:gd name="T1" fmla="*/ 0 h 1684"/>
                    <a:gd name="T2" fmla="*/ 143 w 1123"/>
                    <a:gd name="T3" fmla="*/ 27 h 1684"/>
                    <a:gd name="T4" fmla="*/ 208 w 1123"/>
                    <a:gd name="T5" fmla="*/ 62 h 1684"/>
                    <a:gd name="T6" fmla="*/ 267 w 1123"/>
                    <a:gd name="T7" fmla="*/ 104 h 1684"/>
                    <a:gd name="T8" fmla="*/ 321 w 1123"/>
                    <a:gd name="T9" fmla="*/ 153 h 1684"/>
                    <a:gd name="T10" fmla="*/ 371 w 1123"/>
                    <a:gd name="T11" fmla="*/ 206 h 1684"/>
                    <a:gd name="T12" fmla="*/ 419 w 1123"/>
                    <a:gd name="T13" fmla="*/ 266 h 1684"/>
                    <a:gd name="T14" fmla="*/ 466 w 1123"/>
                    <a:gd name="T15" fmla="*/ 330 h 1684"/>
                    <a:gd name="T16" fmla="*/ 513 w 1123"/>
                    <a:gd name="T17" fmla="*/ 399 h 1684"/>
                    <a:gd name="T18" fmla="*/ 532 w 1123"/>
                    <a:gd name="T19" fmla="*/ 462 h 1684"/>
                    <a:gd name="T20" fmla="*/ 546 w 1123"/>
                    <a:gd name="T21" fmla="*/ 514 h 1684"/>
                    <a:gd name="T22" fmla="*/ 555 w 1123"/>
                    <a:gd name="T23" fmla="*/ 559 h 1684"/>
                    <a:gd name="T24" fmla="*/ 560 w 1123"/>
                    <a:gd name="T25" fmla="*/ 600 h 1684"/>
                    <a:gd name="T26" fmla="*/ 561 w 1123"/>
                    <a:gd name="T27" fmla="*/ 641 h 1684"/>
                    <a:gd name="T28" fmla="*/ 558 w 1123"/>
                    <a:gd name="T29" fmla="*/ 686 h 1684"/>
                    <a:gd name="T30" fmla="*/ 551 w 1123"/>
                    <a:gd name="T31" fmla="*/ 740 h 1684"/>
                    <a:gd name="T32" fmla="*/ 542 w 1123"/>
                    <a:gd name="T33" fmla="*/ 807 h 1684"/>
                    <a:gd name="T34" fmla="*/ 441 w 1123"/>
                    <a:gd name="T35" fmla="*/ 837 h 1684"/>
                    <a:gd name="T36" fmla="*/ 348 w 1123"/>
                    <a:gd name="T37" fmla="*/ 842 h 1684"/>
                    <a:gd name="T38" fmla="*/ 265 w 1123"/>
                    <a:gd name="T39" fmla="*/ 825 h 1684"/>
                    <a:gd name="T40" fmla="*/ 194 w 1123"/>
                    <a:gd name="T41" fmla="*/ 790 h 1684"/>
                    <a:gd name="T42" fmla="*/ 137 w 1123"/>
                    <a:gd name="T43" fmla="*/ 738 h 1684"/>
                    <a:gd name="T44" fmla="*/ 96 w 1123"/>
                    <a:gd name="T45" fmla="*/ 673 h 1684"/>
                    <a:gd name="T46" fmla="*/ 75 w 1123"/>
                    <a:gd name="T47" fmla="*/ 596 h 1684"/>
                    <a:gd name="T48" fmla="*/ 76 w 1123"/>
                    <a:gd name="T49" fmla="*/ 513 h 1684"/>
                    <a:gd name="T50" fmla="*/ 80 w 1123"/>
                    <a:gd name="T51" fmla="*/ 506 h 1684"/>
                    <a:gd name="T52" fmla="*/ 79 w 1123"/>
                    <a:gd name="T53" fmla="*/ 502 h 1684"/>
                    <a:gd name="T54" fmla="*/ 75 w 1123"/>
                    <a:gd name="T55" fmla="*/ 500 h 1684"/>
                    <a:gd name="T56" fmla="*/ 70 w 1123"/>
                    <a:gd name="T57" fmla="*/ 499 h 1684"/>
                    <a:gd name="T58" fmla="*/ 63 w 1123"/>
                    <a:gd name="T59" fmla="*/ 497 h 1684"/>
                    <a:gd name="T60" fmla="*/ 59 w 1123"/>
                    <a:gd name="T61" fmla="*/ 495 h 1684"/>
                    <a:gd name="T62" fmla="*/ 59 w 1123"/>
                    <a:gd name="T63" fmla="*/ 491 h 1684"/>
                    <a:gd name="T64" fmla="*/ 64 w 1123"/>
                    <a:gd name="T65" fmla="*/ 485 h 1684"/>
                    <a:gd name="T66" fmla="*/ 56 w 1123"/>
                    <a:gd name="T67" fmla="*/ 466 h 1684"/>
                    <a:gd name="T68" fmla="*/ 48 w 1123"/>
                    <a:gd name="T69" fmla="*/ 447 h 1684"/>
                    <a:gd name="T70" fmla="*/ 39 w 1123"/>
                    <a:gd name="T71" fmla="*/ 427 h 1684"/>
                    <a:gd name="T72" fmla="*/ 32 w 1123"/>
                    <a:gd name="T73" fmla="*/ 409 h 1684"/>
                    <a:gd name="T74" fmla="*/ 24 w 1123"/>
                    <a:gd name="T75" fmla="*/ 389 h 1684"/>
                    <a:gd name="T76" fmla="*/ 16 w 1123"/>
                    <a:gd name="T77" fmla="*/ 370 h 1684"/>
                    <a:gd name="T78" fmla="*/ 7 w 1123"/>
                    <a:gd name="T79" fmla="*/ 351 h 1684"/>
                    <a:gd name="T80" fmla="*/ 0 w 1123"/>
                    <a:gd name="T81" fmla="*/ 332 h 1684"/>
                    <a:gd name="T82" fmla="*/ 7 w 1123"/>
                    <a:gd name="T83" fmla="*/ 314 h 1684"/>
                    <a:gd name="T84" fmla="*/ 14 w 1123"/>
                    <a:gd name="T85" fmla="*/ 296 h 1684"/>
                    <a:gd name="T86" fmla="*/ 22 w 1123"/>
                    <a:gd name="T87" fmla="*/ 278 h 1684"/>
                    <a:gd name="T88" fmla="*/ 29 w 1123"/>
                    <a:gd name="T89" fmla="*/ 261 h 1684"/>
                    <a:gd name="T90" fmla="*/ 37 w 1123"/>
                    <a:gd name="T91" fmla="*/ 242 h 1684"/>
                    <a:gd name="T92" fmla="*/ 44 w 1123"/>
                    <a:gd name="T93" fmla="*/ 225 h 1684"/>
                    <a:gd name="T94" fmla="*/ 52 w 1123"/>
                    <a:gd name="T95" fmla="*/ 208 h 1684"/>
                    <a:gd name="T96" fmla="*/ 59 w 1123"/>
                    <a:gd name="T97" fmla="*/ 191 h 1684"/>
                    <a:gd name="T98" fmla="*/ 63 w 1123"/>
                    <a:gd name="T99" fmla="*/ 168 h 1684"/>
                    <a:gd name="T100" fmla="*/ 65 w 1123"/>
                    <a:gd name="T101" fmla="*/ 144 h 1684"/>
                    <a:gd name="T102" fmla="*/ 65 w 1123"/>
                    <a:gd name="T103" fmla="*/ 119 h 1684"/>
                    <a:gd name="T104" fmla="*/ 66 w 1123"/>
                    <a:gd name="T105" fmla="*/ 96 h 1684"/>
                    <a:gd name="T106" fmla="*/ 66 w 1123"/>
                    <a:gd name="T107" fmla="*/ 70 h 1684"/>
                    <a:gd name="T108" fmla="*/ 66 w 1123"/>
                    <a:gd name="T109" fmla="*/ 46 h 1684"/>
                    <a:gd name="T110" fmla="*/ 68 w 1123"/>
                    <a:gd name="T111" fmla="*/ 22 h 1684"/>
                    <a:gd name="T112" fmla="*/ 73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7" name="Freeform 46">
                  <a:extLst>
                    <a:ext uri="{FF2B5EF4-FFF2-40B4-BE49-F238E27FC236}">
                      <a16:creationId xmlns:a16="http://schemas.microsoft.com/office/drawing/2014/main" id="{61AF0A4F-B324-5545-8A01-F4887BB31A86}"/>
                    </a:ext>
                  </a:extLst>
                </p:cNvPr>
                <p:cNvSpPr>
                  <a:spLocks/>
                </p:cNvSpPr>
                <p:nvPr/>
              </p:nvSpPr>
              <p:spPr bwMode="auto">
                <a:xfrm>
                  <a:off x="4668" y="3628"/>
                  <a:ext cx="267" cy="363"/>
                </a:xfrm>
                <a:custGeom>
                  <a:avLst/>
                  <a:gdLst>
                    <a:gd name="T0" fmla="*/ 78 w 534"/>
                    <a:gd name="T1" fmla="*/ 31 h 724"/>
                    <a:gd name="T2" fmla="*/ 57 w 534"/>
                    <a:gd name="T3" fmla="*/ 70 h 724"/>
                    <a:gd name="T4" fmla="*/ 39 w 534"/>
                    <a:gd name="T5" fmla="*/ 105 h 724"/>
                    <a:gd name="T6" fmla="*/ 26 w 534"/>
                    <a:gd name="T7" fmla="*/ 134 h 724"/>
                    <a:gd name="T8" fmla="*/ 20 w 534"/>
                    <a:gd name="T9" fmla="*/ 159 h 724"/>
                    <a:gd name="T10" fmla="*/ 22 w 534"/>
                    <a:gd name="T11" fmla="*/ 182 h 724"/>
                    <a:gd name="T12" fmla="*/ 35 w 534"/>
                    <a:gd name="T13" fmla="*/ 205 h 724"/>
                    <a:gd name="T14" fmla="*/ 60 w 534"/>
                    <a:gd name="T15" fmla="*/ 228 h 724"/>
                    <a:gd name="T16" fmla="*/ 100 w 534"/>
                    <a:gd name="T17" fmla="*/ 253 h 724"/>
                    <a:gd name="T18" fmla="*/ 89 w 534"/>
                    <a:gd name="T19" fmla="*/ 259 h 724"/>
                    <a:gd name="T20" fmla="*/ 77 w 534"/>
                    <a:gd name="T21" fmla="*/ 266 h 724"/>
                    <a:gd name="T22" fmla="*/ 63 w 534"/>
                    <a:gd name="T23" fmla="*/ 275 h 724"/>
                    <a:gd name="T24" fmla="*/ 50 w 534"/>
                    <a:gd name="T25" fmla="*/ 285 h 724"/>
                    <a:gd name="T26" fmla="*/ 36 w 534"/>
                    <a:gd name="T27" fmla="*/ 293 h 724"/>
                    <a:gd name="T28" fmla="*/ 22 w 534"/>
                    <a:gd name="T29" fmla="*/ 302 h 724"/>
                    <a:gd name="T30" fmla="*/ 10 w 534"/>
                    <a:gd name="T31" fmla="*/ 310 h 724"/>
                    <a:gd name="T32" fmla="*/ 0 w 534"/>
                    <a:gd name="T33" fmla="*/ 315 h 724"/>
                    <a:gd name="T34" fmla="*/ 3 w 534"/>
                    <a:gd name="T35" fmla="*/ 323 h 724"/>
                    <a:gd name="T36" fmla="*/ 8 w 534"/>
                    <a:gd name="T37" fmla="*/ 330 h 724"/>
                    <a:gd name="T38" fmla="*/ 14 w 534"/>
                    <a:gd name="T39" fmla="*/ 334 h 724"/>
                    <a:gd name="T40" fmla="*/ 21 w 534"/>
                    <a:gd name="T41" fmla="*/ 339 h 724"/>
                    <a:gd name="T42" fmla="*/ 27 w 534"/>
                    <a:gd name="T43" fmla="*/ 343 h 724"/>
                    <a:gd name="T44" fmla="*/ 33 w 534"/>
                    <a:gd name="T45" fmla="*/ 348 h 724"/>
                    <a:gd name="T46" fmla="*/ 37 w 534"/>
                    <a:gd name="T47" fmla="*/ 354 h 724"/>
                    <a:gd name="T48" fmla="*/ 41 w 534"/>
                    <a:gd name="T49" fmla="*/ 363 h 724"/>
                    <a:gd name="T50" fmla="*/ 66 w 534"/>
                    <a:gd name="T51" fmla="*/ 350 h 724"/>
                    <a:gd name="T52" fmla="*/ 90 w 534"/>
                    <a:gd name="T53" fmla="*/ 337 h 724"/>
                    <a:gd name="T54" fmla="*/ 115 w 534"/>
                    <a:gd name="T55" fmla="*/ 323 h 724"/>
                    <a:gd name="T56" fmla="*/ 139 w 534"/>
                    <a:gd name="T57" fmla="*/ 311 h 724"/>
                    <a:gd name="T58" fmla="*/ 163 w 534"/>
                    <a:gd name="T59" fmla="*/ 298 h 724"/>
                    <a:gd name="T60" fmla="*/ 188 w 534"/>
                    <a:gd name="T61" fmla="*/ 285 h 724"/>
                    <a:gd name="T62" fmla="*/ 212 w 534"/>
                    <a:gd name="T63" fmla="*/ 271 h 724"/>
                    <a:gd name="T64" fmla="*/ 237 w 534"/>
                    <a:gd name="T65" fmla="*/ 259 h 724"/>
                    <a:gd name="T66" fmla="*/ 258 w 534"/>
                    <a:gd name="T67" fmla="*/ 237 h 724"/>
                    <a:gd name="T68" fmla="*/ 267 w 534"/>
                    <a:gd name="T69" fmla="*/ 221 h 724"/>
                    <a:gd name="T70" fmla="*/ 266 w 534"/>
                    <a:gd name="T71" fmla="*/ 209 h 724"/>
                    <a:gd name="T72" fmla="*/ 256 w 534"/>
                    <a:gd name="T73" fmla="*/ 201 h 724"/>
                    <a:gd name="T74" fmla="*/ 237 w 534"/>
                    <a:gd name="T75" fmla="*/ 194 h 724"/>
                    <a:gd name="T76" fmla="*/ 211 w 534"/>
                    <a:gd name="T77" fmla="*/ 187 h 724"/>
                    <a:gd name="T78" fmla="*/ 179 w 534"/>
                    <a:gd name="T79" fmla="*/ 180 h 724"/>
                    <a:gd name="T80" fmla="*/ 142 w 534"/>
                    <a:gd name="T81" fmla="*/ 172 h 724"/>
                    <a:gd name="T82" fmla="*/ 148 w 534"/>
                    <a:gd name="T83" fmla="*/ 160 h 724"/>
                    <a:gd name="T84" fmla="*/ 155 w 534"/>
                    <a:gd name="T85" fmla="*/ 149 h 724"/>
                    <a:gd name="T86" fmla="*/ 162 w 534"/>
                    <a:gd name="T87" fmla="*/ 137 h 724"/>
                    <a:gd name="T88" fmla="*/ 169 w 534"/>
                    <a:gd name="T89" fmla="*/ 126 h 724"/>
                    <a:gd name="T90" fmla="*/ 175 w 534"/>
                    <a:gd name="T91" fmla="*/ 114 h 724"/>
                    <a:gd name="T92" fmla="*/ 182 w 534"/>
                    <a:gd name="T93" fmla="*/ 103 h 724"/>
                    <a:gd name="T94" fmla="*/ 189 w 534"/>
                    <a:gd name="T95" fmla="*/ 92 h 724"/>
                    <a:gd name="T96" fmla="*/ 196 w 534"/>
                    <a:gd name="T97" fmla="*/ 80 h 724"/>
                    <a:gd name="T98" fmla="*/ 185 w 534"/>
                    <a:gd name="T99" fmla="*/ 42 h 724"/>
                    <a:gd name="T100" fmla="*/ 170 w 534"/>
                    <a:gd name="T101" fmla="*/ 17 h 724"/>
                    <a:gd name="T102" fmla="*/ 152 w 534"/>
                    <a:gd name="T103" fmla="*/ 4 h 724"/>
                    <a:gd name="T104" fmla="*/ 133 w 534"/>
                    <a:gd name="T105" fmla="*/ 0 h 724"/>
                    <a:gd name="T106" fmla="*/ 113 w 534"/>
                    <a:gd name="T107" fmla="*/ 3 h 724"/>
                    <a:gd name="T108" fmla="*/ 97 w 534"/>
                    <a:gd name="T109" fmla="*/ 11 h 724"/>
                    <a:gd name="T110" fmla="*/ 84 w 534"/>
                    <a:gd name="T111" fmla="*/ 20 h 724"/>
                    <a:gd name="T112" fmla="*/ 78 w 53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8" name="Freeform 47">
                  <a:extLst>
                    <a:ext uri="{FF2B5EF4-FFF2-40B4-BE49-F238E27FC236}">
                      <a16:creationId xmlns:a16="http://schemas.microsoft.com/office/drawing/2014/main" id="{81A4FB5B-E6F6-AD49-8D42-DCBA7033B511}"/>
                    </a:ext>
                  </a:extLst>
                </p:cNvPr>
                <p:cNvSpPr>
                  <a:spLocks/>
                </p:cNvSpPr>
                <p:nvPr/>
              </p:nvSpPr>
              <p:spPr bwMode="auto">
                <a:xfrm>
                  <a:off x="4676" y="3628"/>
                  <a:ext cx="259" cy="363"/>
                </a:xfrm>
                <a:custGeom>
                  <a:avLst/>
                  <a:gdLst>
                    <a:gd name="T0" fmla="*/ 71 w 519"/>
                    <a:gd name="T1" fmla="*/ 31 h 724"/>
                    <a:gd name="T2" fmla="*/ 50 w 519"/>
                    <a:gd name="T3" fmla="*/ 70 h 724"/>
                    <a:gd name="T4" fmla="*/ 34 w 519"/>
                    <a:gd name="T5" fmla="*/ 104 h 724"/>
                    <a:gd name="T6" fmla="*/ 22 w 519"/>
                    <a:gd name="T7" fmla="*/ 133 h 724"/>
                    <a:gd name="T8" fmla="*/ 18 w 519"/>
                    <a:gd name="T9" fmla="*/ 159 h 724"/>
                    <a:gd name="T10" fmla="*/ 22 w 519"/>
                    <a:gd name="T11" fmla="*/ 182 h 724"/>
                    <a:gd name="T12" fmla="*/ 37 w 519"/>
                    <a:gd name="T13" fmla="*/ 204 h 724"/>
                    <a:gd name="T14" fmla="*/ 63 w 519"/>
                    <a:gd name="T15" fmla="*/ 227 h 724"/>
                    <a:gd name="T16" fmla="*/ 104 w 519"/>
                    <a:gd name="T17" fmla="*/ 253 h 724"/>
                    <a:gd name="T18" fmla="*/ 96 w 519"/>
                    <a:gd name="T19" fmla="*/ 258 h 724"/>
                    <a:gd name="T20" fmla="*/ 86 w 519"/>
                    <a:gd name="T21" fmla="*/ 267 h 724"/>
                    <a:gd name="T22" fmla="*/ 72 w 519"/>
                    <a:gd name="T23" fmla="*/ 276 h 724"/>
                    <a:gd name="T24" fmla="*/ 57 w 519"/>
                    <a:gd name="T25" fmla="*/ 288 h 724"/>
                    <a:gd name="T26" fmla="*/ 41 w 519"/>
                    <a:gd name="T27" fmla="*/ 298 h 724"/>
                    <a:gd name="T28" fmla="*/ 25 w 519"/>
                    <a:gd name="T29" fmla="*/ 307 h 724"/>
                    <a:gd name="T30" fmla="*/ 11 w 519"/>
                    <a:gd name="T31" fmla="*/ 315 h 724"/>
                    <a:gd name="T32" fmla="*/ 0 w 519"/>
                    <a:gd name="T33" fmla="*/ 322 h 724"/>
                    <a:gd name="T34" fmla="*/ 2 w 519"/>
                    <a:gd name="T35" fmla="*/ 328 h 724"/>
                    <a:gd name="T36" fmla="*/ 7 w 519"/>
                    <a:gd name="T37" fmla="*/ 334 h 724"/>
                    <a:gd name="T38" fmla="*/ 11 w 519"/>
                    <a:gd name="T39" fmla="*/ 338 h 724"/>
                    <a:gd name="T40" fmla="*/ 17 w 519"/>
                    <a:gd name="T41" fmla="*/ 342 h 724"/>
                    <a:gd name="T42" fmla="*/ 21 w 519"/>
                    <a:gd name="T43" fmla="*/ 345 h 724"/>
                    <a:gd name="T44" fmla="*/ 26 w 519"/>
                    <a:gd name="T45" fmla="*/ 349 h 724"/>
                    <a:gd name="T46" fmla="*/ 30 w 519"/>
                    <a:gd name="T47" fmla="*/ 355 h 724"/>
                    <a:gd name="T48" fmla="*/ 34 w 519"/>
                    <a:gd name="T49" fmla="*/ 363 h 724"/>
                    <a:gd name="T50" fmla="*/ 58 w 519"/>
                    <a:gd name="T51" fmla="*/ 350 h 724"/>
                    <a:gd name="T52" fmla="*/ 83 w 519"/>
                    <a:gd name="T53" fmla="*/ 337 h 724"/>
                    <a:gd name="T54" fmla="*/ 107 w 519"/>
                    <a:gd name="T55" fmla="*/ 323 h 724"/>
                    <a:gd name="T56" fmla="*/ 132 w 519"/>
                    <a:gd name="T57" fmla="*/ 311 h 724"/>
                    <a:gd name="T58" fmla="*/ 156 w 519"/>
                    <a:gd name="T59" fmla="*/ 298 h 724"/>
                    <a:gd name="T60" fmla="*/ 180 w 519"/>
                    <a:gd name="T61" fmla="*/ 285 h 724"/>
                    <a:gd name="T62" fmla="*/ 205 w 519"/>
                    <a:gd name="T63" fmla="*/ 271 h 724"/>
                    <a:gd name="T64" fmla="*/ 229 w 519"/>
                    <a:gd name="T65" fmla="*/ 259 h 724"/>
                    <a:gd name="T66" fmla="*/ 250 w 519"/>
                    <a:gd name="T67" fmla="*/ 237 h 724"/>
                    <a:gd name="T68" fmla="*/ 259 w 519"/>
                    <a:gd name="T69" fmla="*/ 221 h 724"/>
                    <a:gd name="T70" fmla="*/ 258 w 519"/>
                    <a:gd name="T71" fmla="*/ 209 h 724"/>
                    <a:gd name="T72" fmla="*/ 248 w 519"/>
                    <a:gd name="T73" fmla="*/ 201 h 724"/>
                    <a:gd name="T74" fmla="*/ 229 w 519"/>
                    <a:gd name="T75" fmla="*/ 194 h 724"/>
                    <a:gd name="T76" fmla="*/ 204 w 519"/>
                    <a:gd name="T77" fmla="*/ 187 h 724"/>
                    <a:gd name="T78" fmla="*/ 171 w 519"/>
                    <a:gd name="T79" fmla="*/ 180 h 724"/>
                    <a:gd name="T80" fmla="*/ 134 w 519"/>
                    <a:gd name="T81" fmla="*/ 172 h 724"/>
                    <a:gd name="T82" fmla="*/ 140 w 519"/>
                    <a:gd name="T83" fmla="*/ 160 h 724"/>
                    <a:gd name="T84" fmla="*/ 147 w 519"/>
                    <a:gd name="T85" fmla="*/ 149 h 724"/>
                    <a:gd name="T86" fmla="*/ 154 w 519"/>
                    <a:gd name="T87" fmla="*/ 137 h 724"/>
                    <a:gd name="T88" fmla="*/ 161 w 519"/>
                    <a:gd name="T89" fmla="*/ 126 h 724"/>
                    <a:gd name="T90" fmla="*/ 167 w 519"/>
                    <a:gd name="T91" fmla="*/ 114 h 724"/>
                    <a:gd name="T92" fmla="*/ 175 w 519"/>
                    <a:gd name="T93" fmla="*/ 103 h 724"/>
                    <a:gd name="T94" fmla="*/ 181 w 519"/>
                    <a:gd name="T95" fmla="*/ 92 h 724"/>
                    <a:gd name="T96" fmla="*/ 189 w 519"/>
                    <a:gd name="T97" fmla="*/ 80 h 724"/>
                    <a:gd name="T98" fmla="*/ 178 w 519"/>
                    <a:gd name="T99" fmla="*/ 42 h 724"/>
                    <a:gd name="T100" fmla="*/ 163 w 519"/>
                    <a:gd name="T101" fmla="*/ 17 h 724"/>
                    <a:gd name="T102" fmla="*/ 145 w 519"/>
                    <a:gd name="T103" fmla="*/ 4 h 724"/>
                    <a:gd name="T104" fmla="*/ 125 w 519"/>
                    <a:gd name="T105" fmla="*/ 0 h 724"/>
                    <a:gd name="T106" fmla="*/ 106 w 519"/>
                    <a:gd name="T107" fmla="*/ 3 h 724"/>
                    <a:gd name="T108" fmla="*/ 90 w 519"/>
                    <a:gd name="T109" fmla="*/ 11 h 724"/>
                    <a:gd name="T110" fmla="*/ 77 w 519"/>
                    <a:gd name="T111" fmla="*/ 20 h 724"/>
                    <a:gd name="T112" fmla="*/ 71 w 51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69" name="Freeform 48">
                  <a:extLst>
                    <a:ext uri="{FF2B5EF4-FFF2-40B4-BE49-F238E27FC236}">
                      <a16:creationId xmlns:a16="http://schemas.microsoft.com/office/drawing/2014/main" id="{F7BCDB10-5CE8-B642-BD53-6519CEA421E4}"/>
                    </a:ext>
                  </a:extLst>
                </p:cNvPr>
                <p:cNvSpPr>
                  <a:spLocks/>
                </p:cNvSpPr>
                <p:nvPr/>
              </p:nvSpPr>
              <p:spPr bwMode="auto">
                <a:xfrm>
                  <a:off x="4683" y="3628"/>
                  <a:ext cx="252" cy="363"/>
                </a:xfrm>
                <a:custGeom>
                  <a:avLst/>
                  <a:gdLst>
                    <a:gd name="T0" fmla="*/ 63 w 504"/>
                    <a:gd name="T1" fmla="*/ 31 h 724"/>
                    <a:gd name="T2" fmla="*/ 44 w 504"/>
                    <a:gd name="T3" fmla="*/ 70 h 724"/>
                    <a:gd name="T4" fmla="*/ 28 w 504"/>
                    <a:gd name="T5" fmla="*/ 104 h 724"/>
                    <a:gd name="T6" fmla="*/ 19 w 504"/>
                    <a:gd name="T7" fmla="*/ 132 h 724"/>
                    <a:gd name="T8" fmla="*/ 17 w 504"/>
                    <a:gd name="T9" fmla="*/ 158 h 724"/>
                    <a:gd name="T10" fmla="*/ 23 w 504"/>
                    <a:gd name="T11" fmla="*/ 180 h 724"/>
                    <a:gd name="T12" fmla="*/ 39 w 504"/>
                    <a:gd name="T13" fmla="*/ 203 h 724"/>
                    <a:gd name="T14" fmla="*/ 67 w 504"/>
                    <a:gd name="T15" fmla="*/ 226 h 724"/>
                    <a:gd name="T16" fmla="*/ 108 w 504"/>
                    <a:gd name="T17" fmla="*/ 252 h 724"/>
                    <a:gd name="T18" fmla="*/ 104 w 504"/>
                    <a:gd name="T19" fmla="*/ 258 h 724"/>
                    <a:gd name="T20" fmla="*/ 95 w 504"/>
                    <a:gd name="T21" fmla="*/ 268 h 724"/>
                    <a:gd name="T22" fmla="*/ 81 w 504"/>
                    <a:gd name="T23" fmla="*/ 278 h 724"/>
                    <a:gd name="T24" fmla="*/ 64 w 504"/>
                    <a:gd name="T25" fmla="*/ 290 h 724"/>
                    <a:gd name="T26" fmla="*/ 46 w 504"/>
                    <a:gd name="T27" fmla="*/ 301 h 724"/>
                    <a:gd name="T28" fmla="*/ 28 w 504"/>
                    <a:gd name="T29" fmla="*/ 312 h 724"/>
                    <a:gd name="T30" fmla="*/ 12 w 504"/>
                    <a:gd name="T31" fmla="*/ 320 h 724"/>
                    <a:gd name="T32" fmla="*/ 0 w 504"/>
                    <a:gd name="T33" fmla="*/ 327 h 724"/>
                    <a:gd name="T34" fmla="*/ 2 w 504"/>
                    <a:gd name="T35" fmla="*/ 334 h 724"/>
                    <a:gd name="T36" fmla="*/ 6 w 504"/>
                    <a:gd name="T37" fmla="*/ 339 h 724"/>
                    <a:gd name="T38" fmla="*/ 10 w 504"/>
                    <a:gd name="T39" fmla="*/ 342 h 724"/>
                    <a:gd name="T40" fmla="*/ 14 w 504"/>
                    <a:gd name="T41" fmla="*/ 345 h 724"/>
                    <a:gd name="T42" fmla="*/ 17 w 504"/>
                    <a:gd name="T43" fmla="*/ 347 h 724"/>
                    <a:gd name="T44" fmla="*/ 20 w 504"/>
                    <a:gd name="T45" fmla="*/ 350 h 724"/>
                    <a:gd name="T46" fmla="*/ 24 w 504"/>
                    <a:gd name="T47" fmla="*/ 355 h 724"/>
                    <a:gd name="T48" fmla="*/ 27 w 504"/>
                    <a:gd name="T49" fmla="*/ 363 h 724"/>
                    <a:gd name="T50" fmla="*/ 51 w 504"/>
                    <a:gd name="T51" fmla="*/ 350 h 724"/>
                    <a:gd name="T52" fmla="*/ 76 w 504"/>
                    <a:gd name="T53" fmla="*/ 337 h 724"/>
                    <a:gd name="T54" fmla="*/ 100 w 504"/>
                    <a:gd name="T55" fmla="*/ 323 h 724"/>
                    <a:gd name="T56" fmla="*/ 125 w 504"/>
                    <a:gd name="T57" fmla="*/ 311 h 724"/>
                    <a:gd name="T58" fmla="*/ 149 w 504"/>
                    <a:gd name="T59" fmla="*/ 298 h 724"/>
                    <a:gd name="T60" fmla="*/ 173 w 504"/>
                    <a:gd name="T61" fmla="*/ 285 h 724"/>
                    <a:gd name="T62" fmla="*/ 198 w 504"/>
                    <a:gd name="T63" fmla="*/ 271 h 724"/>
                    <a:gd name="T64" fmla="*/ 222 w 504"/>
                    <a:gd name="T65" fmla="*/ 259 h 724"/>
                    <a:gd name="T66" fmla="*/ 243 w 504"/>
                    <a:gd name="T67" fmla="*/ 237 h 724"/>
                    <a:gd name="T68" fmla="*/ 252 w 504"/>
                    <a:gd name="T69" fmla="*/ 221 h 724"/>
                    <a:gd name="T70" fmla="*/ 251 w 504"/>
                    <a:gd name="T71" fmla="*/ 209 h 724"/>
                    <a:gd name="T72" fmla="*/ 241 w 504"/>
                    <a:gd name="T73" fmla="*/ 201 h 724"/>
                    <a:gd name="T74" fmla="*/ 222 w 504"/>
                    <a:gd name="T75" fmla="*/ 194 h 724"/>
                    <a:gd name="T76" fmla="*/ 197 w 504"/>
                    <a:gd name="T77" fmla="*/ 187 h 724"/>
                    <a:gd name="T78" fmla="*/ 164 w 504"/>
                    <a:gd name="T79" fmla="*/ 180 h 724"/>
                    <a:gd name="T80" fmla="*/ 127 w 504"/>
                    <a:gd name="T81" fmla="*/ 172 h 724"/>
                    <a:gd name="T82" fmla="*/ 133 w 504"/>
                    <a:gd name="T83" fmla="*/ 160 h 724"/>
                    <a:gd name="T84" fmla="*/ 140 w 504"/>
                    <a:gd name="T85" fmla="*/ 149 h 724"/>
                    <a:gd name="T86" fmla="*/ 147 w 504"/>
                    <a:gd name="T87" fmla="*/ 137 h 724"/>
                    <a:gd name="T88" fmla="*/ 154 w 504"/>
                    <a:gd name="T89" fmla="*/ 126 h 724"/>
                    <a:gd name="T90" fmla="*/ 160 w 504"/>
                    <a:gd name="T91" fmla="*/ 114 h 724"/>
                    <a:gd name="T92" fmla="*/ 168 w 504"/>
                    <a:gd name="T93" fmla="*/ 103 h 724"/>
                    <a:gd name="T94" fmla="*/ 174 w 504"/>
                    <a:gd name="T95" fmla="*/ 92 h 724"/>
                    <a:gd name="T96" fmla="*/ 182 w 504"/>
                    <a:gd name="T97" fmla="*/ 80 h 724"/>
                    <a:gd name="T98" fmla="*/ 171 w 504"/>
                    <a:gd name="T99" fmla="*/ 42 h 724"/>
                    <a:gd name="T100" fmla="*/ 156 w 504"/>
                    <a:gd name="T101" fmla="*/ 17 h 724"/>
                    <a:gd name="T102" fmla="*/ 138 w 504"/>
                    <a:gd name="T103" fmla="*/ 4 h 724"/>
                    <a:gd name="T104" fmla="*/ 118 w 504"/>
                    <a:gd name="T105" fmla="*/ 0 h 724"/>
                    <a:gd name="T106" fmla="*/ 99 w 504"/>
                    <a:gd name="T107" fmla="*/ 3 h 724"/>
                    <a:gd name="T108" fmla="*/ 83 w 504"/>
                    <a:gd name="T109" fmla="*/ 11 h 724"/>
                    <a:gd name="T110" fmla="*/ 70 w 504"/>
                    <a:gd name="T111" fmla="*/ 20 h 724"/>
                    <a:gd name="T112" fmla="*/ 63 w 50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0" name="Freeform 49">
                  <a:extLst>
                    <a:ext uri="{FF2B5EF4-FFF2-40B4-BE49-F238E27FC236}">
                      <a16:creationId xmlns:a16="http://schemas.microsoft.com/office/drawing/2014/main" id="{D5CE3D8F-102C-8540-AB7A-D224709D4BAA}"/>
                    </a:ext>
                  </a:extLst>
                </p:cNvPr>
                <p:cNvSpPr>
                  <a:spLocks/>
                </p:cNvSpPr>
                <p:nvPr/>
              </p:nvSpPr>
              <p:spPr bwMode="auto">
                <a:xfrm>
                  <a:off x="4691" y="3628"/>
                  <a:ext cx="244" cy="363"/>
                </a:xfrm>
                <a:custGeom>
                  <a:avLst/>
                  <a:gdLst>
                    <a:gd name="T0" fmla="*/ 55 w 487"/>
                    <a:gd name="T1" fmla="*/ 31 h 724"/>
                    <a:gd name="T2" fmla="*/ 35 w 487"/>
                    <a:gd name="T3" fmla="*/ 70 h 724"/>
                    <a:gd name="T4" fmla="*/ 21 w 487"/>
                    <a:gd name="T5" fmla="*/ 104 h 724"/>
                    <a:gd name="T6" fmla="*/ 14 w 487"/>
                    <a:gd name="T7" fmla="*/ 132 h 724"/>
                    <a:gd name="T8" fmla="*/ 14 w 487"/>
                    <a:gd name="T9" fmla="*/ 158 h 724"/>
                    <a:gd name="T10" fmla="*/ 22 w 487"/>
                    <a:gd name="T11" fmla="*/ 179 h 724"/>
                    <a:gd name="T12" fmla="*/ 41 w 487"/>
                    <a:gd name="T13" fmla="*/ 202 h 724"/>
                    <a:gd name="T14" fmla="*/ 70 w 487"/>
                    <a:gd name="T15" fmla="*/ 224 h 724"/>
                    <a:gd name="T16" fmla="*/ 111 w 487"/>
                    <a:gd name="T17" fmla="*/ 250 h 724"/>
                    <a:gd name="T18" fmla="*/ 110 w 487"/>
                    <a:gd name="T19" fmla="*/ 257 h 724"/>
                    <a:gd name="T20" fmla="*/ 103 w 487"/>
                    <a:gd name="T21" fmla="*/ 268 h 724"/>
                    <a:gd name="T22" fmla="*/ 88 w 487"/>
                    <a:gd name="T23" fmla="*/ 280 h 724"/>
                    <a:gd name="T24" fmla="*/ 70 w 487"/>
                    <a:gd name="T25" fmla="*/ 293 h 724"/>
                    <a:gd name="T26" fmla="*/ 50 w 487"/>
                    <a:gd name="T27" fmla="*/ 305 h 724"/>
                    <a:gd name="T28" fmla="*/ 30 w 487"/>
                    <a:gd name="T29" fmla="*/ 317 h 724"/>
                    <a:gd name="T30" fmla="*/ 12 w 487"/>
                    <a:gd name="T31" fmla="*/ 326 h 724"/>
                    <a:gd name="T32" fmla="*/ 0 w 487"/>
                    <a:gd name="T33" fmla="*/ 333 h 724"/>
                    <a:gd name="T34" fmla="*/ 2 w 487"/>
                    <a:gd name="T35" fmla="*/ 339 h 724"/>
                    <a:gd name="T36" fmla="*/ 4 w 487"/>
                    <a:gd name="T37" fmla="*/ 343 h 724"/>
                    <a:gd name="T38" fmla="*/ 6 w 487"/>
                    <a:gd name="T39" fmla="*/ 346 h 724"/>
                    <a:gd name="T40" fmla="*/ 9 w 487"/>
                    <a:gd name="T41" fmla="*/ 347 h 724"/>
                    <a:gd name="T42" fmla="*/ 11 w 487"/>
                    <a:gd name="T43" fmla="*/ 348 h 724"/>
                    <a:gd name="T44" fmla="*/ 13 w 487"/>
                    <a:gd name="T45" fmla="*/ 351 h 724"/>
                    <a:gd name="T46" fmla="*/ 16 w 487"/>
                    <a:gd name="T47" fmla="*/ 355 h 724"/>
                    <a:gd name="T48" fmla="*/ 18 w 487"/>
                    <a:gd name="T49" fmla="*/ 363 h 724"/>
                    <a:gd name="T50" fmla="*/ 43 w 487"/>
                    <a:gd name="T51" fmla="*/ 350 h 724"/>
                    <a:gd name="T52" fmla="*/ 67 w 487"/>
                    <a:gd name="T53" fmla="*/ 337 h 724"/>
                    <a:gd name="T54" fmla="*/ 92 w 487"/>
                    <a:gd name="T55" fmla="*/ 323 h 724"/>
                    <a:gd name="T56" fmla="*/ 116 w 487"/>
                    <a:gd name="T57" fmla="*/ 311 h 724"/>
                    <a:gd name="T58" fmla="*/ 140 w 487"/>
                    <a:gd name="T59" fmla="*/ 298 h 724"/>
                    <a:gd name="T60" fmla="*/ 165 w 487"/>
                    <a:gd name="T61" fmla="*/ 285 h 724"/>
                    <a:gd name="T62" fmla="*/ 189 w 487"/>
                    <a:gd name="T63" fmla="*/ 271 h 724"/>
                    <a:gd name="T64" fmla="*/ 214 w 487"/>
                    <a:gd name="T65" fmla="*/ 259 h 724"/>
                    <a:gd name="T66" fmla="*/ 235 w 487"/>
                    <a:gd name="T67" fmla="*/ 237 h 724"/>
                    <a:gd name="T68" fmla="*/ 244 w 487"/>
                    <a:gd name="T69" fmla="*/ 221 h 724"/>
                    <a:gd name="T70" fmla="*/ 243 w 487"/>
                    <a:gd name="T71" fmla="*/ 209 h 724"/>
                    <a:gd name="T72" fmla="*/ 233 w 487"/>
                    <a:gd name="T73" fmla="*/ 201 h 724"/>
                    <a:gd name="T74" fmla="*/ 214 w 487"/>
                    <a:gd name="T75" fmla="*/ 194 h 724"/>
                    <a:gd name="T76" fmla="*/ 188 w 487"/>
                    <a:gd name="T77" fmla="*/ 187 h 724"/>
                    <a:gd name="T78" fmla="*/ 156 w 487"/>
                    <a:gd name="T79" fmla="*/ 180 h 724"/>
                    <a:gd name="T80" fmla="*/ 119 w 487"/>
                    <a:gd name="T81" fmla="*/ 172 h 724"/>
                    <a:gd name="T82" fmla="*/ 125 w 487"/>
                    <a:gd name="T83" fmla="*/ 160 h 724"/>
                    <a:gd name="T84" fmla="*/ 132 w 487"/>
                    <a:gd name="T85" fmla="*/ 149 h 724"/>
                    <a:gd name="T86" fmla="*/ 139 w 487"/>
                    <a:gd name="T87" fmla="*/ 137 h 724"/>
                    <a:gd name="T88" fmla="*/ 146 w 487"/>
                    <a:gd name="T89" fmla="*/ 126 h 724"/>
                    <a:gd name="T90" fmla="*/ 152 w 487"/>
                    <a:gd name="T91" fmla="*/ 114 h 724"/>
                    <a:gd name="T92" fmla="*/ 159 w 487"/>
                    <a:gd name="T93" fmla="*/ 103 h 724"/>
                    <a:gd name="T94" fmla="*/ 166 w 487"/>
                    <a:gd name="T95" fmla="*/ 92 h 724"/>
                    <a:gd name="T96" fmla="*/ 173 w 487"/>
                    <a:gd name="T97" fmla="*/ 80 h 724"/>
                    <a:gd name="T98" fmla="*/ 162 w 487"/>
                    <a:gd name="T99" fmla="*/ 42 h 724"/>
                    <a:gd name="T100" fmla="*/ 147 w 487"/>
                    <a:gd name="T101" fmla="*/ 17 h 724"/>
                    <a:gd name="T102" fmla="*/ 129 w 487"/>
                    <a:gd name="T103" fmla="*/ 4 h 724"/>
                    <a:gd name="T104" fmla="*/ 110 w 487"/>
                    <a:gd name="T105" fmla="*/ 0 h 724"/>
                    <a:gd name="T106" fmla="*/ 90 w 487"/>
                    <a:gd name="T107" fmla="*/ 3 h 724"/>
                    <a:gd name="T108" fmla="*/ 74 w 487"/>
                    <a:gd name="T109" fmla="*/ 11 h 724"/>
                    <a:gd name="T110" fmla="*/ 61 w 487"/>
                    <a:gd name="T111" fmla="*/ 20 h 724"/>
                    <a:gd name="T112" fmla="*/ 55 w 487"/>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1" name="Freeform 50">
                  <a:extLst>
                    <a:ext uri="{FF2B5EF4-FFF2-40B4-BE49-F238E27FC236}">
                      <a16:creationId xmlns:a16="http://schemas.microsoft.com/office/drawing/2014/main" id="{235C283D-9796-8440-83F1-CD833C220321}"/>
                    </a:ext>
                  </a:extLst>
                </p:cNvPr>
                <p:cNvSpPr>
                  <a:spLocks/>
                </p:cNvSpPr>
                <p:nvPr/>
              </p:nvSpPr>
              <p:spPr bwMode="auto">
                <a:xfrm>
                  <a:off x="4699" y="3628"/>
                  <a:ext cx="236" cy="363"/>
                </a:xfrm>
                <a:custGeom>
                  <a:avLst/>
                  <a:gdLst>
                    <a:gd name="T0" fmla="*/ 48 w 472"/>
                    <a:gd name="T1" fmla="*/ 31 h 724"/>
                    <a:gd name="T2" fmla="*/ 28 w 472"/>
                    <a:gd name="T3" fmla="*/ 70 h 724"/>
                    <a:gd name="T4" fmla="*/ 15 w 472"/>
                    <a:gd name="T5" fmla="*/ 104 h 724"/>
                    <a:gd name="T6" fmla="*/ 9 w 472"/>
                    <a:gd name="T7" fmla="*/ 131 h 724"/>
                    <a:gd name="T8" fmla="*/ 12 w 472"/>
                    <a:gd name="T9" fmla="*/ 156 h 724"/>
                    <a:gd name="T10" fmla="*/ 22 w 472"/>
                    <a:gd name="T11" fmla="*/ 178 h 724"/>
                    <a:gd name="T12" fmla="*/ 43 w 472"/>
                    <a:gd name="T13" fmla="*/ 201 h 724"/>
                    <a:gd name="T14" fmla="*/ 73 w 472"/>
                    <a:gd name="T15" fmla="*/ 223 h 724"/>
                    <a:gd name="T16" fmla="*/ 115 w 472"/>
                    <a:gd name="T17" fmla="*/ 249 h 724"/>
                    <a:gd name="T18" fmla="*/ 118 w 472"/>
                    <a:gd name="T19" fmla="*/ 257 h 724"/>
                    <a:gd name="T20" fmla="*/ 112 w 472"/>
                    <a:gd name="T21" fmla="*/ 268 h 724"/>
                    <a:gd name="T22" fmla="*/ 97 w 472"/>
                    <a:gd name="T23" fmla="*/ 281 h 724"/>
                    <a:gd name="T24" fmla="*/ 77 w 472"/>
                    <a:gd name="T25" fmla="*/ 295 h 724"/>
                    <a:gd name="T26" fmla="*/ 55 w 472"/>
                    <a:gd name="T27" fmla="*/ 308 h 724"/>
                    <a:gd name="T28" fmla="*/ 32 w 472"/>
                    <a:gd name="T29" fmla="*/ 321 h 724"/>
                    <a:gd name="T30" fmla="*/ 13 w 472"/>
                    <a:gd name="T31" fmla="*/ 331 h 724"/>
                    <a:gd name="T32" fmla="*/ 0 w 472"/>
                    <a:gd name="T33" fmla="*/ 338 h 724"/>
                    <a:gd name="T34" fmla="*/ 1 w 472"/>
                    <a:gd name="T35" fmla="*/ 345 h 724"/>
                    <a:gd name="T36" fmla="*/ 3 w 472"/>
                    <a:gd name="T37" fmla="*/ 348 h 724"/>
                    <a:gd name="T38" fmla="*/ 4 w 472"/>
                    <a:gd name="T39" fmla="*/ 350 h 724"/>
                    <a:gd name="T40" fmla="*/ 5 w 472"/>
                    <a:gd name="T41" fmla="*/ 350 h 724"/>
                    <a:gd name="T42" fmla="*/ 6 w 472"/>
                    <a:gd name="T43" fmla="*/ 350 h 724"/>
                    <a:gd name="T44" fmla="*/ 7 w 472"/>
                    <a:gd name="T45" fmla="*/ 352 h 724"/>
                    <a:gd name="T46" fmla="*/ 8 w 472"/>
                    <a:gd name="T47" fmla="*/ 355 h 724"/>
                    <a:gd name="T48" fmla="*/ 11 w 472"/>
                    <a:gd name="T49" fmla="*/ 363 h 724"/>
                    <a:gd name="T50" fmla="*/ 35 w 472"/>
                    <a:gd name="T51" fmla="*/ 350 h 724"/>
                    <a:gd name="T52" fmla="*/ 59 w 472"/>
                    <a:gd name="T53" fmla="*/ 337 h 724"/>
                    <a:gd name="T54" fmla="*/ 84 w 472"/>
                    <a:gd name="T55" fmla="*/ 323 h 724"/>
                    <a:gd name="T56" fmla="*/ 109 w 472"/>
                    <a:gd name="T57" fmla="*/ 311 h 724"/>
                    <a:gd name="T58" fmla="*/ 133 w 472"/>
                    <a:gd name="T59" fmla="*/ 298 h 724"/>
                    <a:gd name="T60" fmla="*/ 157 w 472"/>
                    <a:gd name="T61" fmla="*/ 285 h 724"/>
                    <a:gd name="T62" fmla="*/ 182 w 472"/>
                    <a:gd name="T63" fmla="*/ 271 h 724"/>
                    <a:gd name="T64" fmla="*/ 206 w 472"/>
                    <a:gd name="T65" fmla="*/ 259 h 724"/>
                    <a:gd name="T66" fmla="*/ 227 w 472"/>
                    <a:gd name="T67" fmla="*/ 237 h 724"/>
                    <a:gd name="T68" fmla="*/ 236 w 472"/>
                    <a:gd name="T69" fmla="*/ 221 h 724"/>
                    <a:gd name="T70" fmla="*/ 235 w 472"/>
                    <a:gd name="T71" fmla="*/ 209 h 724"/>
                    <a:gd name="T72" fmla="*/ 225 w 472"/>
                    <a:gd name="T73" fmla="*/ 201 h 724"/>
                    <a:gd name="T74" fmla="*/ 206 w 472"/>
                    <a:gd name="T75" fmla="*/ 194 h 724"/>
                    <a:gd name="T76" fmla="*/ 181 w 472"/>
                    <a:gd name="T77" fmla="*/ 187 h 724"/>
                    <a:gd name="T78" fmla="*/ 148 w 472"/>
                    <a:gd name="T79" fmla="*/ 180 h 724"/>
                    <a:gd name="T80" fmla="*/ 111 w 472"/>
                    <a:gd name="T81" fmla="*/ 172 h 724"/>
                    <a:gd name="T82" fmla="*/ 117 w 472"/>
                    <a:gd name="T83" fmla="*/ 160 h 724"/>
                    <a:gd name="T84" fmla="*/ 124 w 472"/>
                    <a:gd name="T85" fmla="*/ 149 h 724"/>
                    <a:gd name="T86" fmla="*/ 131 w 472"/>
                    <a:gd name="T87" fmla="*/ 137 h 724"/>
                    <a:gd name="T88" fmla="*/ 138 w 472"/>
                    <a:gd name="T89" fmla="*/ 126 h 724"/>
                    <a:gd name="T90" fmla="*/ 144 w 472"/>
                    <a:gd name="T91" fmla="*/ 114 h 724"/>
                    <a:gd name="T92" fmla="*/ 152 w 472"/>
                    <a:gd name="T93" fmla="*/ 103 h 724"/>
                    <a:gd name="T94" fmla="*/ 158 w 472"/>
                    <a:gd name="T95" fmla="*/ 92 h 724"/>
                    <a:gd name="T96" fmla="*/ 166 w 472"/>
                    <a:gd name="T97" fmla="*/ 80 h 724"/>
                    <a:gd name="T98" fmla="*/ 155 w 472"/>
                    <a:gd name="T99" fmla="*/ 42 h 724"/>
                    <a:gd name="T100" fmla="*/ 140 w 472"/>
                    <a:gd name="T101" fmla="*/ 17 h 724"/>
                    <a:gd name="T102" fmla="*/ 121 w 472"/>
                    <a:gd name="T103" fmla="*/ 4 h 724"/>
                    <a:gd name="T104" fmla="*/ 102 w 472"/>
                    <a:gd name="T105" fmla="*/ 0 h 724"/>
                    <a:gd name="T106" fmla="*/ 83 w 472"/>
                    <a:gd name="T107" fmla="*/ 3 h 724"/>
                    <a:gd name="T108" fmla="*/ 67 w 472"/>
                    <a:gd name="T109" fmla="*/ 11 h 724"/>
                    <a:gd name="T110" fmla="*/ 54 w 472"/>
                    <a:gd name="T111" fmla="*/ 20 h 724"/>
                    <a:gd name="T112" fmla="*/ 48 w 472"/>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2" name="Freeform 51">
                  <a:extLst>
                    <a:ext uri="{FF2B5EF4-FFF2-40B4-BE49-F238E27FC236}">
                      <a16:creationId xmlns:a16="http://schemas.microsoft.com/office/drawing/2014/main" id="{94AB5A53-E31B-BC49-97E6-952496693B49}"/>
                    </a:ext>
                  </a:extLst>
                </p:cNvPr>
                <p:cNvSpPr>
                  <a:spLocks/>
                </p:cNvSpPr>
                <p:nvPr/>
              </p:nvSpPr>
              <p:spPr bwMode="auto">
                <a:xfrm>
                  <a:off x="4706" y="3628"/>
                  <a:ext cx="229" cy="363"/>
                </a:xfrm>
                <a:custGeom>
                  <a:avLst/>
                  <a:gdLst>
                    <a:gd name="T0" fmla="*/ 41 w 459"/>
                    <a:gd name="T1" fmla="*/ 31 h 724"/>
                    <a:gd name="T2" fmla="*/ 22 w 459"/>
                    <a:gd name="T3" fmla="*/ 70 h 724"/>
                    <a:gd name="T4" fmla="*/ 11 w 459"/>
                    <a:gd name="T5" fmla="*/ 104 h 724"/>
                    <a:gd name="T6" fmla="*/ 6 w 459"/>
                    <a:gd name="T7" fmla="*/ 131 h 724"/>
                    <a:gd name="T8" fmla="*/ 11 w 459"/>
                    <a:gd name="T9" fmla="*/ 156 h 724"/>
                    <a:gd name="T10" fmla="*/ 23 w 459"/>
                    <a:gd name="T11" fmla="*/ 178 h 724"/>
                    <a:gd name="T12" fmla="*/ 45 w 459"/>
                    <a:gd name="T13" fmla="*/ 201 h 724"/>
                    <a:gd name="T14" fmla="*/ 76 w 459"/>
                    <a:gd name="T15" fmla="*/ 223 h 724"/>
                    <a:gd name="T16" fmla="*/ 119 w 459"/>
                    <a:gd name="T17" fmla="*/ 248 h 724"/>
                    <a:gd name="T18" fmla="*/ 127 w 459"/>
                    <a:gd name="T19" fmla="*/ 256 h 724"/>
                    <a:gd name="T20" fmla="*/ 121 w 459"/>
                    <a:gd name="T21" fmla="*/ 268 h 724"/>
                    <a:gd name="T22" fmla="*/ 106 w 459"/>
                    <a:gd name="T23" fmla="*/ 282 h 724"/>
                    <a:gd name="T24" fmla="*/ 85 w 459"/>
                    <a:gd name="T25" fmla="*/ 298 h 724"/>
                    <a:gd name="T26" fmla="*/ 59 w 459"/>
                    <a:gd name="T27" fmla="*/ 312 h 724"/>
                    <a:gd name="T28" fmla="*/ 34 w 459"/>
                    <a:gd name="T29" fmla="*/ 326 h 724"/>
                    <a:gd name="T30" fmla="*/ 14 w 459"/>
                    <a:gd name="T31" fmla="*/ 337 h 724"/>
                    <a:gd name="T32" fmla="*/ 0 w 459"/>
                    <a:gd name="T33" fmla="*/ 344 h 724"/>
                    <a:gd name="T34" fmla="*/ 1 w 459"/>
                    <a:gd name="T35" fmla="*/ 350 h 724"/>
                    <a:gd name="T36" fmla="*/ 2 w 459"/>
                    <a:gd name="T37" fmla="*/ 353 h 724"/>
                    <a:gd name="T38" fmla="*/ 2 w 459"/>
                    <a:gd name="T39" fmla="*/ 353 h 724"/>
                    <a:gd name="T40" fmla="*/ 2 w 459"/>
                    <a:gd name="T41" fmla="*/ 353 h 724"/>
                    <a:gd name="T42" fmla="*/ 1 w 459"/>
                    <a:gd name="T43" fmla="*/ 352 h 724"/>
                    <a:gd name="T44" fmla="*/ 1 w 459"/>
                    <a:gd name="T45" fmla="*/ 352 h 724"/>
                    <a:gd name="T46" fmla="*/ 1 w 459"/>
                    <a:gd name="T47" fmla="*/ 355 h 724"/>
                    <a:gd name="T48" fmla="*/ 4 w 459"/>
                    <a:gd name="T49" fmla="*/ 363 h 724"/>
                    <a:gd name="T50" fmla="*/ 28 w 459"/>
                    <a:gd name="T51" fmla="*/ 350 h 724"/>
                    <a:gd name="T52" fmla="*/ 53 w 459"/>
                    <a:gd name="T53" fmla="*/ 337 h 724"/>
                    <a:gd name="T54" fmla="*/ 77 w 459"/>
                    <a:gd name="T55" fmla="*/ 323 h 724"/>
                    <a:gd name="T56" fmla="*/ 102 w 459"/>
                    <a:gd name="T57" fmla="*/ 311 h 724"/>
                    <a:gd name="T58" fmla="*/ 126 w 459"/>
                    <a:gd name="T59" fmla="*/ 298 h 724"/>
                    <a:gd name="T60" fmla="*/ 150 w 459"/>
                    <a:gd name="T61" fmla="*/ 285 h 724"/>
                    <a:gd name="T62" fmla="*/ 175 w 459"/>
                    <a:gd name="T63" fmla="*/ 271 h 724"/>
                    <a:gd name="T64" fmla="*/ 199 w 459"/>
                    <a:gd name="T65" fmla="*/ 259 h 724"/>
                    <a:gd name="T66" fmla="*/ 220 w 459"/>
                    <a:gd name="T67" fmla="*/ 237 h 724"/>
                    <a:gd name="T68" fmla="*/ 229 w 459"/>
                    <a:gd name="T69" fmla="*/ 221 h 724"/>
                    <a:gd name="T70" fmla="*/ 228 w 459"/>
                    <a:gd name="T71" fmla="*/ 209 h 724"/>
                    <a:gd name="T72" fmla="*/ 218 w 459"/>
                    <a:gd name="T73" fmla="*/ 201 h 724"/>
                    <a:gd name="T74" fmla="*/ 199 w 459"/>
                    <a:gd name="T75" fmla="*/ 194 h 724"/>
                    <a:gd name="T76" fmla="*/ 174 w 459"/>
                    <a:gd name="T77" fmla="*/ 187 h 724"/>
                    <a:gd name="T78" fmla="*/ 141 w 459"/>
                    <a:gd name="T79" fmla="*/ 180 h 724"/>
                    <a:gd name="T80" fmla="*/ 104 w 459"/>
                    <a:gd name="T81" fmla="*/ 172 h 724"/>
                    <a:gd name="T82" fmla="*/ 110 w 459"/>
                    <a:gd name="T83" fmla="*/ 160 h 724"/>
                    <a:gd name="T84" fmla="*/ 117 w 459"/>
                    <a:gd name="T85" fmla="*/ 149 h 724"/>
                    <a:gd name="T86" fmla="*/ 124 w 459"/>
                    <a:gd name="T87" fmla="*/ 137 h 724"/>
                    <a:gd name="T88" fmla="*/ 131 w 459"/>
                    <a:gd name="T89" fmla="*/ 126 h 724"/>
                    <a:gd name="T90" fmla="*/ 137 w 459"/>
                    <a:gd name="T91" fmla="*/ 114 h 724"/>
                    <a:gd name="T92" fmla="*/ 145 w 459"/>
                    <a:gd name="T93" fmla="*/ 103 h 724"/>
                    <a:gd name="T94" fmla="*/ 151 w 459"/>
                    <a:gd name="T95" fmla="*/ 92 h 724"/>
                    <a:gd name="T96" fmla="*/ 159 w 459"/>
                    <a:gd name="T97" fmla="*/ 80 h 724"/>
                    <a:gd name="T98" fmla="*/ 148 w 459"/>
                    <a:gd name="T99" fmla="*/ 42 h 724"/>
                    <a:gd name="T100" fmla="*/ 133 w 459"/>
                    <a:gd name="T101" fmla="*/ 17 h 724"/>
                    <a:gd name="T102" fmla="*/ 115 w 459"/>
                    <a:gd name="T103" fmla="*/ 4 h 724"/>
                    <a:gd name="T104" fmla="*/ 95 w 459"/>
                    <a:gd name="T105" fmla="*/ 0 h 724"/>
                    <a:gd name="T106" fmla="*/ 76 w 459"/>
                    <a:gd name="T107" fmla="*/ 3 h 724"/>
                    <a:gd name="T108" fmla="*/ 60 w 459"/>
                    <a:gd name="T109" fmla="*/ 11 h 724"/>
                    <a:gd name="T110" fmla="*/ 47 w 459"/>
                    <a:gd name="T111" fmla="*/ 20 h 724"/>
                    <a:gd name="T112" fmla="*/ 41 w 45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3" name="Freeform 52">
                  <a:extLst>
                    <a:ext uri="{FF2B5EF4-FFF2-40B4-BE49-F238E27FC236}">
                      <a16:creationId xmlns:a16="http://schemas.microsoft.com/office/drawing/2014/main" id="{43B760D6-2CCB-124D-B298-3635F58A29CD}"/>
                    </a:ext>
                  </a:extLst>
                </p:cNvPr>
                <p:cNvSpPr>
                  <a:spLocks/>
                </p:cNvSpPr>
                <p:nvPr/>
              </p:nvSpPr>
              <p:spPr bwMode="auto">
                <a:xfrm>
                  <a:off x="4708" y="3628"/>
                  <a:ext cx="227" cy="363"/>
                </a:xfrm>
                <a:custGeom>
                  <a:avLst/>
                  <a:gdLst>
                    <a:gd name="T0" fmla="*/ 39 w 455"/>
                    <a:gd name="T1" fmla="*/ 31 h 724"/>
                    <a:gd name="T2" fmla="*/ 21 w 455"/>
                    <a:gd name="T3" fmla="*/ 70 h 724"/>
                    <a:gd name="T4" fmla="*/ 11 w 455"/>
                    <a:gd name="T5" fmla="*/ 104 h 724"/>
                    <a:gd name="T6" fmla="*/ 8 w 455"/>
                    <a:gd name="T7" fmla="*/ 131 h 724"/>
                    <a:gd name="T8" fmla="*/ 14 w 455"/>
                    <a:gd name="T9" fmla="*/ 156 h 724"/>
                    <a:gd name="T10" fmla="*/ 29 w 455"/>
                    <a:gd name="T11" fmla="*/ 177 h 724"/>
                    <a:gd name="T12" fmla="*/ 52 w 455"/>
                    <a:gd name="T13" fmla="*/ 199 h 724"/>
                    <a:gd name="T14" fmla="*/ 84 w 455"/>
                    <a:gd name="T15" fmla="*/ 221 h 724"/>
                    <a:gd name="T16" fmla="*/ 127 w 455"/>
                    <a:gd name="T17" fmla="*/ 246 h 724"/>
                    <a:gd name="T18" fmla="*/ 138 w 455"/>
                    <a:gd name="T19" fmla="*/ 256 h 724"/>
                    <a:gd name="T20" fmla="*/ 135 w 455"/>
                    <a:gd name="T21" fmla="*/ 269 h 724"/>
                    <a:gd name="T22" fmla="*/ 120 w 455"/>
                    <a:gd name="T23" fmla="*/ 284 h 724"/>
                    <a:gd name="T24" fmla="*/ 97 w 455"/>
                    <a:gd name="T25" fmla="*/ 300 h 724"/>
                    <a:gd name="T26" fmla="*/ 70 w 455"/>
                    <a:gd name="T27" fmla="*/ 316 h 724"/>
                    <a:gd name="T28" fmla="*/ 43 w 455"/>
                    <a:gd name="T29" fmla="*/ 330 h 724"/>
                    <a:gd name="T30" fmla="*/ 20 w 455"/>
                    <a:gd name="T31" fmla="*/ 342 h 724"/>
                    <a:gd name="T32" fmla="*/ 5 w 455"/>
                    <a:gd name="T33" fmla="*/ 349 h 724"/>
                    <a:gd name="T34" fmla="*/ 6 w 455"/>
                    <a:gd name="T35" fmla="*/ 355 h 724"/>
                    <a:gd name="T36" fmla="*/ 6 w 455"/>
                    <a:gd name="T37" fmla="*/ 358 h 724"/>
                    <a:gd name="T38" fmla="*/ 5 w 455"/>
                    <a:gd name="T39" fmla="*/ 357 h 724"/>
                    <a:gd name="T40" fmla="*/ 4 w 455"/>
                    <a:gd name="T41" fmla="*/ 356 h 724"/>
                    <a:gd name="T42" fmla="*/ 2 w 455"/>
                    <a:gd name="T43" fmla="*/ 353 h 724"/>
                    <a:gd name="T44" fmla="*/ 0 w 455"/>
                    <a:gd name="T45" fmla="*/ 353 h 724"/>
                    <a:gd name="T46" fmla="*/ 0 w 455"/>
                    <a:gd name="T47" fmla="*/ 356 h 724"/>
                    <a:gd name="T48" fmla="*/ 2 w 455"/>
                    <a:gd name="T49" fmla="*/ 363 h 724"/>
                    <a:gd name="T50" fmla="*/ 26 w 455"/>
                    <a:gd name="T51" fmla="*/ 350 h 724"/>
                    <a:gd name="T52" fmla="*/ 51 w 455"/>
                    <a:gd name="T53" fmla="*/ 337 h 724"/>
                    <a:gd name="T54" fmla="*/ 75 w 455"/>
                    <a:gd name="T55" fmla="*/ 323 h 724"/>
                    <a:gd name="T56" fmla="*/ 100 w 455"/>
                    <a:gd name="T57" fmla="*/ 311 h 724"/>
                    <a:gd name="T58" fmla="*/ 124 w 455"/>
                    <a:gd name="T59" fmla="*/ 298 h 724"/>
                    <a:gd name="T60" fmla="*/ 148 w 455"/>
                    <a:gd name="T61" fmla="*/ 285 h 724"/>
                    <a:gd name="T62" fmla="*/ 173 w 455"/>
                    <a:gd name="T63" fmla="*/ 271 h 724"/>
                    <a:gd name="T64" fmla="*/ 197 w 455"/>
                    <a:gd name="T65" fmla="*/ 259 h 724"/>
                    <a:gd name="T66" fmla="*/ 218 w 455"/>
                    <a:gd name="T67" fmla="*/ 237 h 724"/>
                    <a:gd name="T68" fmla="*/ 227 w 455"/>
                    <a:gd name="T69" fmla="*/ 221 h 724"/>
                    <a:gd name="T70" fmla="*/ 226 w 455"/>
                    <a:gd name="T71" fmla="*/ 209 h 724"/>
                    <a:gd name="T72" fmla="*/ 216 w 455"/>
                    <a:gd name="T73" fmla="*/ 201 h 724"/>
                    <a:gd name="T74" fmla="*/ 197 w 455"/>
                    <a:gd name="T75" fmla="*/ 194 h 724"/>
                    <a:gd name="T76" fmla="*/ 172 w 455"/>
                    <a:gd name="T77" fmla="*/ 187 h 724"/>
                    <a:gd name="T78" fmla="*/ 139 w 455"/>
                    <a:gd name="T79" fmla="*/ 180 h 724"/>
                    <a:gd name="T80" fmla="*/ 102 w 455"/>
                    <a:gd name="T81" fmla="*/ 172 h 724"/>
                    <a:gd name="T82" fmla="*/ 108 w 455"/>
                    <a:gd name="T83" fmla="*/ 160 h 724"/>
                    <a:gd name="T84" fmla="*/ 115 w 455"/>
                    <a:gd name="T85" fmla="*/ 149 h 724"/>
                    <a:gd name="T86" fmla="*/ 122 w 455"/>
                    <a:gd name="T87" fmla="*/ 137 h 724"/>
                    <a:gd name="T88" fmla="*/ 129 w 455"/>
                    <a:gd name="T89" fmla="*/ 126 h 724"/>
                    <a:gd name="T90" fmla="*/ 135 w 455"/>
                    <a:gd name="T91" fmla="*/ 114 h 724"/>
                    <a:gd name="T92" fmla="*/ 143 w 455"/>
                    <a:gd name="T93" fmla="*/ 103 h 724"/>
                    <a:gd name="T94" fmla="*/ 149 w 455"/>
                    <a:gd name="T95" fmla="*/ 92 h 724"/>
                    <a:gd name="T96" fmla="*/ 157 w 455"/>
                    <a:gd name="T97" fmla="*/ 80 h 724"/>
                    <a:gd name="T98" fmla="*/ 146 w 455"/>
                    <a:gd name="T99" fmla="*/ 42 h 724"/>
                    <a:gd name="T100" fmla="*/ 131 w 455"/>
                    <a:gd name="T101" fmla="*/ 17 h 724"/>
                    <a:gd name="T102" fmla="*/ 113 w 455"/>
                    <a:gd name="T103" fmla="*/ 4 h 724"/>
                    <a:gd name="T104" fmla="*/ 93 w 455"/>
                    <a:gd name="T105" fmla="*/ 0 h 724"/>
                    <a:gd name="T106" fmla="*/ 74 w 455"/>
                    <a:gd name="T107" fmla="*/ 3 h 724"/>
                    <a:gd name="T108" fmla="*/ 58 w 455"/>
                    <a:gd name="T109" fmla="*/ 11 h 724"/>
                    <a:gd name="T110" fmla="*/ 45 w 455"/>
                    <a:gd name="T111" fmla="*/ 20 h 724"/>
                    <a:gd name="T112" fmla="*/ 39 w 455"/>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4" name="Freeform 53">
                  <a:extLst>
                    <a:ext uri="{FF2B5EF4-FFF2-40B4-BE49-F238E27FC236}">
                      <a16:creationId xmlns:a16="http://schemas.microsoft.com/office/drawing/2014/main" id="{EE744E72-3007-CA47-A181-CD4952605FAD}"/>
                    </a:ext>
                  </a:extLst>
                </p:cNvPr>
                <p:cNvSpPr>
                  <a:spLocks/>
                </p:cNvSpPr>
                <p:nvPr/>
              </p:nvSpPr>
              <p:spPr bwMode="auto">
                <a:xfrm>
                  <a:off x="4708" y="3628"/>
                  <a:ext cx="227" cy="363"/>
                </a:xfrm>
                <a:custGeom>
                  <a:avLst/>
                  <a:gdLst>
                    <a:gd name="T0" fmla="*/ 39 w 454"/>
                    <a:gd name="T1" fmla="*/ 31 h 724"/>
                    <a:gd name="T2" fmla="*/ 21 w 454"/>
                    <a:gd name="T3" fmla="*/ 70 h 724"/>
                    <a:gd name="T4" fmla="*/ 12 w 454"/>
                    <a:gd name="T5" fmla="*/ 103 h 724"/>
                    <a:gd name="T6" fmla="*/ 12 w 454"/>
                    <a:gd name="T7" fmla="*/ 131 h 724"/>
                    <a:gd name="T8" fmla="*/ 20 w 454"/>
                    <a:gd name="T9" fmla="*/ 155 h 724"/>
                    <a:gd name="T10" fmla="*/ 36 w 454"/>
                    <a:gd name="T11" fmla="*/ 176 h 724"/>
                    <a:gd name="T12" fmla="*/ 61 w 454"/>
                    <a:gd name="T13" fmla="*/ 198 h 724"/>
                    <a:gd name="T14" fmla="*/ 95 w 454"/>
                    <a:gd name="T15" fmla="*/ 220 h 724"/>
                    <a:gd name="T16" fmla="*/ 138 w 454"/>
                    <a:gd name="T17" fmla="*/ 246 h 724"/>
                    <a:gd name="T18" fmla="*/ 154 w 454"/>
                    <a:gd name="T19" fmla="*/ 255 h 724"/>
                    <a:gd name="T20" fmla="*/ 152 w 454"/>
                    <a:gd name="T21" fmla="*/ 270 h 724"/>
                    <a:gd name="T22" fmla="*/ 136 w 454"/>
                    <a:gd name="T23" fmla="*/ 285 h 724"/>
                    <a:gd name="T24" fmla="*/ 111 w 454"/>
                    <a:gd name="T25" fmla="*/ 303 h 724"/>
                    <a:gd name="T26" fmla="*/ 82 w 454"/>
                    <a:gd name="T27" fmla="*/ 320 h 724"/>
                    <a:gd name="T28" fmla="*/ 53 w 454"/>
                    <a:gd name="T29" fmla="*/ 335 h 724"/>
                    <a:gd name="T30" fmla="*/ 28 w 454"/>
                    <a:gd name="T31" fmla="*/ 347 h 724"/>
                    <a:gd name="T32" fmla="*/ 14 w 454"/>
                    <a:gd name="T33" fmla="*/ 355 h 724"/>
                    <a:gd name="T34" fmla="*/ 14 w 454"/>
                    <a:gd name="T35" fmla="*/ 361 h 724"/>
                    <a:gd name="T36" fmla="*/ 13 w 454"/>
                    <a:gd name="T37" fmla="*/ 363 h 724"/>
                    <a:gd name="T38" fmla="*/ 10 w 454"/>
                    <a:gd name="T39" fmla="*/ 361 h 724"/>
                    <a:gd name="T40" fmla="*/ 7 w 454"/>
                    <a:gd name="T41" fmla="*/ 359 h 724"/>
                    <a:gd name="T42" fmla="*/ 4 w 454"/>
                    <a:gd name="T43" fmla="*/ 355 h 724"/>
                    <a:gd name="T44" fmla="*/ 2 w 454"/>
                    <a:gd name="T45" fmla="*/ 354 h 724"/>
                    <a:gd name="T46" fmla="*/ 0 w 454"/>
                    <a:gd name="T47" fmla="*/ 356 h 724"/>
                    <a:gd name="T48" fmla="*/ 2 w 454"/>
                    <a:gd name="T49" fmla="*/ 363 h 724"/>
                    <a:gd name="T50" fmla="*/ 26 w 454"/>
                    <a:gd name="T51" fmla="*/ 350 h 724"/>
                    <a:gd name="T52" fmla="*/ 51 w 454"/>
                    <a:gd name="T53" fmla="*/ 337 h 724"/>
                    <a:gd name="T54" fmla="*/ 75 w 454"/>
                    <a:gd name="T55" fmla="*/ 323 h 724"/>
                    <a:gd name="T56" fmla="*/ 100 w 454"/>
                    <a:gd name="T57" fmla="*/ 311 h 724"/>
                    <a:gd name="T58" fmla="*/ 123 w 454"/>
                    <a:gd name="T59" fmla="*/ 298 h 724"/>
                    <a:gd name="T60" fmla="*/ 148 w 454"/>
                    <a:gd name="T61" fmla="*/ 285 h 724"/>
                    <a:gd name="T62" fmla="*/ 173 w 454"/>
                    <a:gd name="T63" fmla="*/ 271 h 724"/>
                    <a:gd name="T64" fmla="*/ 197 w 454"/>
                    <a:gd name="T65" fmla="*/ 259 h 724"/>
                    <a:gd name="T66" fmla="*/ 218 w 454"/>
                    <a:gd name="T67" fmla="*/ 237 h 724"/>
                    <a:gd name="T68" fmla="*/ 227 w 454"/>
                    <a:gd name="T69" fmla="*/ 221 h 724"/>
                    <a:gd name="T70" fmla="*/ 226 w 454"/>
                    <a:gd name="T71" fmla="*/ 209 h 724"/>
                    <a:gd name="T72" fmla="*/ 216 w 454"/>
                    <a:gd name="T73" fmla="*/ 201 h 724"/>
                    <a:gd name="T74" fmla="*/ 197 w 454"/>
                    <a:gd name="T75" fmla="*/ 194 h 724"/>
                    <a:gd name="T76" fmla="*/ 172 w 454"/>
                    <a:gd name="T77" fmla="*/ 187 h 724"/>
                    <a:gd name="T78" fmla="*/ 139 w 454"/>
                    <a:gd name="T79" fmla="*/ 180 h 724"/>
                    <a:gd name="T80" fmla="*/ 102 w 454"/>
                    <a:gd name="T81" fmla="*/ 172 h 724"/>
                    <a:gd name="T82" fmla="*/ 108 w 454"/>
                    <a:gd name="T83" fmla="*/ 160 h 724"/>
                    <a:gd name="T84" fmla="*/ 115 w 454"/>
                    <a:gd name="T85" fmla="*/ 149 h 724"/>
                    <a:gd name="T86" fmla="*/ 122 w 454"/>
                    <a:gd name="T87" fmla="*/ 137 h 724"/>
                    <a:gd name="T88" fmla="*/ 129 w 454"/>
                    <a:gd name="T89" fmla="*/ 126 h 724"/>
                    <a:gd name="T90" fmla="*/ 135 w 454"/>
                    <a:gd name="T91" fmla="*/ 114 h 724"/>
                    <a:gd name="T92" fmla="*/ 143 w 454"/>
                    <a:gd name="T93" fmla="*/ 103 h 724"/>
                    <a:gd name="T94" fmla="*/ 149 w 454"/>
                    <a:gd name="T95" fmla="*/ 92 h 724"/>
                    <a:gd name="T96" fmla="*/ 157 w 454"/>
                    <a:gd name="T97" fmla="*/ 80 h 724"/>
                    <a:gd name="T98" fmla="*/ 146 w 454"/>
                    <a:gd name="T99" fmla="*/ 42 h 724"/>
                    <a:gd name="T100" fmla="*/ 131 w 454"/>
                    <a:gd name="T101" fmla="*/ 17 h 724"/>
                    <a:gd name="T102" fmla="*/ 113 w 454"/>
                    <a:gd name="T103" fmla="*/ 4 h 724"/>
                    <a:gd name="T104" fmla="*/ 93 w 454"/>
                    <a:gd name="T105" fmla="*/ 0 h 724"/>
                    <a:gd name="T106" fmla="*/ 74 w 454"/>
                    <a:gd name="T107" fmla="*/ 3 h 724"/>
                    <a:gd name="T108" fmla="*/ 57 w 454"/>
                    <a:gd name="T109" fmla="*/ 11 h 724"/>
                    <a:gd name="T110" fmla="*/ 45 w 454"/>
                    <a:gd name="T111" fmla="*/ 20 h 724"/>
                    <a:gd name="T112" fmla="*/ 39 w 45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5" name="Freeform 54">
                  <a:extLst>
                    <a:ext uri="{FF2B5EF4-FFF2-40B4-BE49-F238E27FC236}">
                      <a16:creationId xmlns:a16="http://schemas.microsoft.com/office/drawing/2014/main" id="{C2E396CF-E83E-564B-9CB7-402804133B49}"/>
                    </a:ext>
                  </a:extLst>
                </p:cNvPr>
                <p:cNvSpPr>
                  <a:spLocks/>
                </p:cNvSpPr>
                <p:nvPr/>
              </p:nvSpPr>
              <p:spPr bwMode="auto">
                <a:xfrm>
                  <a:off x="4610" y="3894"/>
                  <a:ext cx="169" cy="140"/>
                </a:xfrm>
                <a:custGeom>
                  <a:avLst/>
                  <a:gdLst>
                    <a:gd name="T0" fmla="*/ 75 w 338"/>
                    <a:gd name="T1" fmla="*/ 0 h 280"/>
                    <a:gd name="T2" fmla="*/ 110 w 338"/>
                    <a:gd name="T3" fmla="*/ 9 h 280"/>
                    <a:gd name="T4" fmla="*/ 134 w 338"/>
                    <a:gd name="T5" fmla="*/ 19 h 280"/>
                    <a:gd name="T6" fmla="*/ 148 w 338"/>
                    <a:gd name="T7" fmla="*/ 27 h 280"/>
                    <a:gd name="T8" fmla="*/ 156 w 338"/>
                    <a:gd name="T9" fmla="*/ 36 h 280"/>
                    <a:gd name="T10" fmla="*/ 159 w 338"/>
                    <a:gd name="T11" fmla="*/ 45 h 280"/>
                    <a:gd name="T12" fmla="*/ 161 w 338"/>
                    <a:gd name="T13" fmla="*/ 55 h 280"/>
                    <a:gd name="T14" fmla="*/ 163 w 338"/>
                    <a:gd name="T15" fmla="*/ 67 h 280"/>
                    <a:gd name="T16" fmla="*/ 169 w 338"/>
                    <a:gd name="T17" fmla="*/ 80 h 280"/>
                    <a:gd name="T18" fmla="*/ 147 w 338"/>
                    <a:gd name="T19" fmla="*/ 102 h 280"/>
                    <a:gd name="T20" fmla="*/ 124 w 338"/>
                    <a:gd name="T21" fmla="*/ 118 h 280"/>
                    <a:gd name="T22" fmla="*/ 102 w 338"/>
                    <a:gd name="T23" fmla="*/ 129 h 280"/>
                    <a:gd name="T24" fmla="*/ 82 w 338"/>
                    <a:gd name="T25" fmla="*/ 136 h 280"/>
                    <a:gd name="T26" fmla="*/ 61 w 338"/>
                    <a:gd name="T27" fmla="*/ 140 h 280"/>
                    <a:gd name="T28" fmla="*/ 42 w 338"/>
                    <a:gd name="T29" fmla="*/ 140 h 280"/>
                    <a:gd name="T30" fmla="*/ 23 w 338"/>
                    <a:gd name="T31" fmla="*/ 138 h 280"/>
                    <a:gd name="T32" fmla="*/ 6 w 338"/>
                    <a:gd name="T33" fmla="*/ 136 h 280"/>
                    <a:gd name="T34" fmla="*/ 0 w 338"/>
                    <a:gd name="T35" fmla="*/ 123 h 280"/>
                    <a:gd name="T36" fmla="*/ 0 w 338"/>
                    <a:gd name="T37" fmla="*/ 108 h 280"/>
                    <a:gd name="T38" fmla="*/ 3 w 338"/>
                    <a:gd name="T39" fmla="*/ 90 h 280"/>
                    <a:gd name="T40" fmla="*/ 12 w 338"/>
                    <a:gd name="T41" fmla="*/ 71 h 280"/>
                    <a:gd name="T42" fmla="*/ 23 w 338"/>
                    <a:gd name="T43" fmla="*/ 51 h 280"/>
                    <a:gd name="T44" fmla="*/ 39 w 338"/>
                    <a:gd name="T45" fmla="*/ 33 h 280"/>
                    <a:gd name="T46" fmla="*/ 55 w 338"/>
                    <a:gd name="T47" fmla="*/ 15 h 280"/>
                    <a:gd name="T48" fmla="*/ 75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6" name="Freeform 55">
                  <a:extLst>
                    <a:ext uri="{FF2B5EF4-FFF2-40B4-BE49-F238E27FC236}">
                      <a16:creationId xmlns:a16="http://schemas.microsoft.com/office/drawing/2014/main" id="{2FE24691-AB47-1D46-909C-4EB67B3E3D56}"/>
                    </a:ext>
                  </a:extLst>
                </p:cNvPr>
                <p:cNvSpPr>
                  <a:spLocks/>
                </p:cNvSpPr>
                <p:nvPr/>
              </p:nvSpPr>
              <p:spPr bwMode="auto">
                <a:xfrm>
                  <a:off x="4091" y="3654"/>
                  <a:ext cx="146" cy="173"/>
                </a:xfrm>
                <a:custGeom>
                  <a:avLst/>
                  <a:gdLst>
                    <a:gd name="T0" fmla="*/ 146 w 291"/>
                    <a:gd name="T1" fmla="*/ 27 h 346"/>
                    <a:gd name="T2" fmla="*/ 138 w 291"/>
                    <a:gd name="T3" fmla="*/ 45 h 346"/>
                    <a:gd name="T4" fmla="*/ 131 w 291"/>
                    <a:gd name="T5" fmla="*/ 63 h 346"/>
                    <a:gd name="T6" fmla="*/ 123 w 291"/>
                    <a:gd name="T7" fmla="*/ 82 h 346"/>
                    <a:gd name="T8" fmla="*/ 116 w 291"/>
                    <a:gd name="T9" fmla="*/ 100 h 346"/>
                    <a:gd name="T10" fmla="*/ 108 w 291"/>
                    <a:gd name="T11" fmla="*/ 118 h 346"/>
                    <a:gd name="T12" fmla="*/ 100 w 291"/>
                    <a:gd name="T13" fmla="*/ 137 h 346"/>
                    <a:gd name="T14" fmla="*/ 92 w 291"/>
                    <a:gd name="T15" fmla="*/ 155 h 346"/>
                    <a:gd name="T16" fmla="*/ 86 w 291"/>
                    <a:gd name="T17" fmla="*/ 173 h 346"/>
                    <a:gd name="T18" fmla="*/ 69 w 291"/>
                    <a:gd name="T19" fmla="*/ 152 h 346"/>
                    <a:gd name="T20" fmla="*/ 53 w 291"/>
                    <a:gd name="T21" fmla="*/ 131 h 346"/>
                    <a:gd name="T22" fmla="*/ 37 w 291"/>
                    <a:gd name="T23" fmla="*/ 110 h 346"/>
                    <a:gd name="T24" fmla="*/ 24 w 291"/>
                    <a:gd name="T25" fmla="*/ 91 h 346"/>
                    <a:gd name="T26" fmla="*/ 12 w 291"/>
                    <a:gd name="T27" fmla="*/ 72 h 346"/>
                    <a:gd name="T28" fmla="*/ 4 w 291"/>
                    <a:gd name="T29" fmla="*/ 54 h 346"/>
                    <a:gd name="T30" fmla="*/ 0 w 291"/>
                    <a:gd name="T31" fmla="*/ 40 h 346"/>
                    <a:gd name="T32" fmla="*/ 3 w 291"/>
                    <a:gd name="T33" fmla="*/ 28 h 346"/>
                    <a:gd name="T34" fmla="*/ 19 w 291"/>
                    <a:gd name="T35" fmla="*/ 13 h 346"/>
                    <a:gd name="T36" fmla="*/ 36 w 291"/>
                    <a:gd name="T37" fmla="*/ 5 h 346"/>
                    <a:gd name="T38" fmla="*/ 52 w 291"/>
                    <a:gd name="T39" fmla="*/ 0 h 346"/>
                    <a:gd name="T40" fmla="*/ 69 w 291"/>
                    <a:gd name="T41" fmla="*/ 1 h 346"/>
                    <a:gd name="T42" fmla="*/ 86 w 291"/>
                    <a:gd name="T43" fmla="*/ 5 h 346"/>
                    <a:gd name="T44" fmla="*/ 105 w 291"/>
                    <a:gd name="T45" fmla="*/ 11 h 346"/>
                    <a:gd name="T46" fmla="*/ 124 w 291"/>
                    <a:gd name="T47" fmla="*/ 19 h 346"/>
                    <a:gd name="T48" fmla="*/ 146 w 291"/>
                    <a:gd name="T49" fmla="*/ 27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7" name="Freeform 56">
                  <a:extLst>
                    <a:ext uri="{FF2B5EF4-FFF2-40B4-BE49-F238E27FC236}">
                      <a16:creationId xmlns:a16="http://schemas.microsoft.com/office/drawing/2014/main" id="{04F04E69-F698-7142-B5B4-AD4AF1CF34BB}"/>
                    </a:ext>
                  </a:extLst>
                </p:cNvPr>
                <p:cNvSpPr>
                  <a:spLocks/>
                </p:cNvSpPr>
                <p:nvPr/>
              </p:nvSpPr>
              <p:spPr bwMode="auto">
                <a:xfrm>
                  <a:off x="4514" y="2857"/>
                  <a:ext cx="157" cy="149"/>
                </a:xfrm>
                <a:custGeom>
                  <a:avLst/>
                  <a:gdLst>
                    <a:gd name="T0" fmla="*/ 0 w 313"/>
                    <a:gd name="T1" fmla="*/ 78 h 298"/>
                    <a:gd name="T2" fmla="*/ 13 w 313"/>
                    <a:gd name="T3" fmla="*/ 69 h 298"/>
                    <a:gd name="T4" fmla="*/ 25 w 313"/>
                    <a:gd name="T5" fmla="*/ 58 h 298"/>
                    <a:gd name="T6" fmla="*/ 33 w 313"/>
                    <a:gd name="T7" fmla="*/ 46 h 298"/>
                    <a:gd name="T8" fmla="*/ 42 w 313"/>
                    <a:gd name="T9" fmla="*/ 34 h 298"/>
                    <a:gd name="T10" fmla="*/ 49 w 313"/>
                    <a:gd name="T11" fmla="*/ 20 h 298"/>
                    <a:gd name="T12" fmla="*/ 59 w 313"/>
                    <a:gd name="T13" fmla="*/ 10 h 298"/>
                    <a:gd name="T14" fmla="*/ 70 w 313"/>
                    <a:gd name="T15" fmla="*/ 3 h 298"/>
                    <a:gd name="T16" fmla="*/ 85 w 313"/>
                    <a:gd name="T17" fmla="*/ 0 h 298"/>
                    <a:gd name="T18" fmla="*/ 117 w 313"/>
                    <a:gd name="T19" fmla="*/ 11 h 298"/>
                    <a:gd name="T20" fmla="*/ 139 w 313"/>
                    <a:gd name="T21" fmla="*/ 29 h 298"/>
                    <a:gd name="T22" fmla="*/ 152 w 313"/>
                    <a:gd name="T23" fmla="*/ 51 h 298"/>
                    <a:gd name="T24" fmla="*/ 157 w 313"/>
                    <a:gd name="T25" fmla="*/ 76 h 298"/>
                    <a:gd name="T26" fmla="*/ 154 w 313"/>
                    <a:gd name="T27" fmla="*/ 99 h 298"/>
                    <a:gd name="T28" fmla="*/ 145 w 313"/>
                    <a:gd name="T29" fmla="*/ 121 h 298"/>
                    <a:gd name="T30" fmla="*/ 130 w 313"/>
                    <a:gd name="T31" fmla="*/ 138 h 298"/>
                    <a:gd name="T32" fmla="*/ 111 w 313"/>
                    <a:gd name="T33" fmla="*/ 149 h 298"/>
                    <a:gd name="T34" fmla="*/ 85 w 313"/>
                    <a:gd name="T35" fmla="*/ 148 h 298"/>
                    <a:gd name="T36" fmla="*/ 65 w 313"/>
                    <a:gd name="T37" fmla="*/ 141 h 298"/>
                    <a:gd name="T38" fmla="*/ 49 w 313"/>
                    <a:gd name="T39" fmla="*/ 129 h 298"/>
                    <a:gd name="T40" fmla="*/ 37 w 313"/>
                    <a:gd name="T41" fmla="*/ 116 h 298"/>
                    <a:gd name="T42" fmla="*/ 27 w 313"/>
                    <a:gd name="T43" fmla="*/ 101 h 298"/>
                    <a:gd name="T44" fmla="*/ 18 w 313"/>
                    <a:gd name="T45" fmla="*/ 89 h 298"/>
                    <a:gd name="T46" fmla="*/ 10 w 313"/>
                    <a:gd name="T47" fmla="*/ 80 h 298"/>
                    <a:gd name="T48" fmla="*/ 0 w 313"/>
                    <a:gd name="T49" fmla="*/ 78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8" name="Freeform 57">
                  <a:extLst>
                    <a:ext uri="{FF2B5EF4-FFF2-40B4-BE49-F238E27FC236}">
                      <a16:creationId xmlns:a16="http://schemas.microsoft.com/office/drawing/2014/main" id="{C966CCCB-E544-5D4F-8A5F-A0364448A401}"/>
                    </a:ext>
                  </a:extLst>
                </p:cNvPr>
                <p:cNvSpPr>
                  <a:spLocks/>
                </p:cNvSpPr>
                <p:nvPr/>
              </p:nvSpPr>
              <p:spPr bwMode="auto">
                <a:xfrm>
                  <a:off x="3806" y="3238"/>
                  <a:ext cx="118" cy="112"/>
                </a:xfrm>
                <a:custGeom>
                  <a:avLst/>
                  <a:gdLst>
                    <a:gd name="T0" fmla="*/ 0 w 237"/>
                    <a:gd name="T1" fmla="*/ 0 h 224"/>
                    <a:gd name="T2" fmla="*/ 15 w 237"/>
                    <a:gd name="T3" fmla="*/ 2 h 224"/>
                    <a:gd name="T4" fmla="*/ 33 w 237"/>
                    <a:gd name="T5" fmla="*/ 11 h 224"/>
                    <a:gd name="T6" fmla="*/ 51 w 237"/>
                    <a:gd name="T7" fmla="*/ 25 h 224"/>
                    <a:gd name="T8" fmla="*/ 69 w 237"/>
                    <a:gd name="T9" fmla="*/ 42 h 224"/>
                    <a:gd name="T10" fmla="*/ 86 w 237"/>
                    <a:gd name="T11" fmla="*/ 60 h 224"/>
                    <a:gd name="T12" fmla="*/ 100 w 237"/>
                    <a:gd name="T13" fmla="*/ 79 h 224"/>
                    <a:gd name="T14" fmla="*/ 111 w 237"/>
                    <a:gd name="T15" fmla="*/ 97 h 224"/>
                    <a:gd name="T16" fmla="*/ 118 w 237"/>
                    <a:gd name="T17" fmla="*/ 112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79" name="Freeform 58">
                  <a:extLst>
                    <a:ext uri="{FF2B5EF4-FFF2-40B4-BE49-F238E27FC236}">
                      <a16:creationId xmlns:a16="http://schemas.microsoft.com/office/drawing/2014/main" id="{692BD223-8953-F742-A85F-FA5A1F3F54CC}"/>
                    </a:ext>
                  </a:extLst>
                </p:cNvPr>
                <p:cNvSpPr>
                  <a:spLocks/>
                </p:cNvSpPr>
                <p:nvPr/>
              </p:nvSpPr>
              <p:spPr bwMode="auto">
                <a:xfrm>
                  <a:off x="3869" y="3207"/>
                  <a:ext cx="119" cy="111"/>
                </a:xfrm>
                <a:custGeom>
                  <a:avLst/>
                  <a:gdLst>
                    <a:gd name="T0" fmla="*/ 0 w 238"/>
                    <a:gd name="T1" fmla="*/ 0 h 223"/>
                    <a:gd name="T2" fmla="*/ 15 w 238"/>
                    <a:gd name="T3" fmla="*/ 1 h 223"/>
                    <a:gd name="T4" fmla="*/ 34 w 238"/>
                    <a:gd name="T5" fmla="*/ 10 h 223"/>
                    <a:gd name="T6" fmla="*/ 52 w 238"/>
                    <a:gd name="T7" fmla="*/ 23 h 223"/>
                    <a:gd name="T8" fmla="*/ 71 w 238"/>
                    <a:gd name="T9" fmla="*/ 41 h 223"/>
                    <a:gd name="T10" fmla="*/ 87 w 238"/>
                    <a:gd name="T11" fmla="*/ 59 h 223"/>
                    <a:gd name="T12" fmla="*/ 102 w 238"/>
                    <a:gd name="T13" fmla="*/ 79 h 223"/>
                    <a:gd name="T14" fmla="*/ 112 w 238"/>
                    <a:gd name="T15" fmla="*/ 96 h 223"/>
                    <a:gd name="T16" fmla="*/ 119 w 238"/>
                    <a:gd name="T17" fmla="*/ 111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0" name="Freeform 59">
                  <a:extLst>
                    <a:ext uri="{FF2B5EF4-FFF2-40B4-BE49-F238E27FC236}">
                      <a16:creationId xmlns:a16="http://schemas.microsoft.com/office/drawing/2014/main" id="{2AD3DC14-15F1-9F4C-9D4C-17991986A8F4}"/>
                    </a:ext>
                  </a:extLst>
                </p:cNvPr>
                <p:cNvSpPr>
                  <a:spLocks/>
                </p:cNvSpPr>
                <p:nvPr/>
              </p:nvSpPr>
              <p:spPr bwMode="auto">
                <a:xfrm>
                  <a:off x="3793" y="3217"/>
                  <a:ext cx="18" cy="32"/>
                </a:xfrm>
                <a:custGeom>
                  <a:avLst/>
                  <a:gdLst>
                    <a:gd name="T0" fmla="*/ 18 w 35"/>
                    <a:gd name="T1" fmla="*/ 16 h 64"/>
                    <a:gd name="T2" fmla="*/ 16 w 35"/>
                    <a:gd name="T3" fmla="*/ 22 h 64"/>
                    <a:gd name="T4" fmla="*/ 15 w 35"/>
                    <a:gd name="T5" fmla="*/ 27 h 64"/>
                    <a:gd name="T6" fmla="*/ 11 w 35"/>
                    <a:gd name="T7" fmla="*/ 30 h 64"/>
                    <a:gd name="T8" fmla="*/ 8 w 35"/>
                    <a:gd name="T9" fmla="*/ 32 h 64"/>
                    <a:gd name="T10" fmla="*/ 5 w 35"/>
                    <a:gd name="T11" fmla="*/ 30 h 64"/>
                    <a:gd name="T12" fmla="*/ 2 w 35"/>
                    <a:gd name="T13" fmla="*/ 27 h 64"/>
                    <a:gd name="T14" fmla="*/ 0 w 35"/>
                    <a:gd name="T15" fmla="*/ 21 h 64"/>
                    <a:gd name="T16" fmla="*/ 0 w 35"/>
                    <a:gd name="T17" fmla="*/ 15 h 64"/>
                    <a:gd name="T18" fmla="*/ 0 w 35"/>
                    <a:gd name="T19" fmla="*/ 8 h 64"/>
                    <a:gd name="T20" fmla="*/ 3 w 35"/>
                    <a:gd name="T21" fmla="*/ 4 h 64"/>
                    <a:gd name="T22" fmla="*/ 6 w 35"/>
                    <a:gd name="T23" fmla="*/ 1 h 64"/>
                    <a:gd name="T24" fmla="*/ 10 w 35"/>
                    <a:gd name="T25" fmla="*/ 0 h 64"/>
                    <a:gd name="T26" fmla="*/ 13 w 35"/>
                    <a:gd name="T27" fmla="*/ 1 h 64"/>
                    <a:gd name="T28" fmla="*/ 16 w 35"/>
                    <a:gd name="T29" fmla="*/ 5 h 64"/>
                    <a:gd name="T30" fmla="*/ 17 w 35"/>
                    <a:gd name="T31" fmla="*/ 10 h 64"/>
                    <a:gd name="T32" fmla="*/ 18 w 35"/>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1" name="Freeform 60">
                  <a:extLst>
                    <a:ext uri="{FF2B5EF4-FFF2-40B4-BE49-F238E27FC236}">
                      <a16:creationId xmlns:a16="http://schemas.microsoft.com/office/drawing/2014/main" id="{C25E4EB1-C460-6D46-9BA3-7AD8BF8C1376}"/>
                    </a:ext>
                  </a:extLst>
                </p:cNvPr>
                <p:cNvSpPr>
                  <a:spLocks/>
                </p:cNvSpPr>
                <p:nvPr/>
              </p:nvSpPr>
              <p:spPr bwMode="auto">
                <a:xfrm>
                  <a:off x="3866" y="3186"/>
                  <a:ext cx="18" cy="33"/>
                </a:xfrm>
                <a:custGeom>
                  <a:avLst/>
                  <a:gdLst>
                    <a:gd name="T0" fmla="*/ 18 w 38"/>
                    <a:gd name="T1" fmla="*/ 17 h 65"/>
                    <a:gd name="T2" fmla="*/ 16 w 38"/>
                    <a:gd name="T3" fmla="*/ 23 h 65"/>
                    <a:gd name="T4" fmla="*/ 14 w 38"/>
                    <a:gd name="T5" fmla="*/ 28 h 65"/>
                    <a:gd name="T6" fmla="*/ 11 w 38"/>
                    <a:gd name="T7" fmla="*/ 31 h 65"/>
                    <a:gd name="T8" fmla="*/ 8 w 38"/>
                    <a:gd name="T9" fmla="*/ 33 h 65"/>
                    <a:gd name="T10" fmla="*/ 4 w 38"/>
                    <a:gd name="T11" fmla="*/ 31 h 65"/>
                    <a:gd name="T12" fmla="*/ 2 w 38"/>
                    <a:gd name="T13" fmla="*/ 27 h 65"/>
                    <a:gd name="T14" fmla="*/ 0 w 38"/>
                    <a:gd name="T15" fmla="*/ 24 h 65"/>
                    <a:gd name="T16" fmla="*/ 0 w 38"/>
                    <a:gd name="T17" fmla="*/ 22 h 65"/>
                    <a:gd name="T18" fmla="*/ 0 w 38"/>
                    <a:gd name="T19" fmla="*/ 19 h 65"/>
                    <a:gd name="T20" fmla="*/ 0 w 38"/>
                    <a:gd name="T21" fmla="*/ 15 h 65"/>
                    <a:gd name="T22" fmla="*/ 0 w 38"/>
                    <a:gd name="T23" fmla="*/ 9 h 65"/>
                    <a:gd name="T24" fmla="*/ 3 w 38"/>
                    <a:gd name="T25" fmla="*/ 5 h 65"/>
                    <a:gd name="T26" fmla="*/ 6 w 38"/>
                    <a:gd name="T27" fmla="*/ 1 h 65"/>
                    <a:gd name="T28" fmla="*/ 9 w 38"/>
                    <a:gd name="T29" fmla="*/ 0 h 65"/>
                    <a:gd name="T30" fmla="*/ 12 w 38"/>
                    <a:gd name="T31" fmla="*/ 2 h 65"/>
                    <a:gd name="T32" fmla="*/ 16 w 38"/>
                    <a:gd name="T33" fmla="*/ 5 h 65"/>
                    <a:gd name="T34" fmla="*/ 17 w 38"/>
                    <a:gd name="T35" fmla="*/ 10 h 65"/>
                    <a:gd name="T36" fmla="*/ 18 w 38"/>
                    <a:gd name="T37" fmla="*/ 17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2" name="Freeform 61">
                  <a:extLst>
                    <a:ext uri="{FF2B5EF4-FFF2-40B4-BE49-F238E27FC236}">
                      <a16:creationId xmlns:a16="http://schemas.microsoft.com/office/drawing/2014/main" id="{46FF5236-9AB5-9948-B898-45DE1DFEAEF4}"/>
                    </a:ext>
                  </a:extLst>
                </p:cNvPr>
                <p:cNvSpPr>
                  <a:spLocks/>
                </p:cNvSpPr>
                <p:nvPr/>
              </p:nvSpPr>
              <p:spPr bwMode="auto">
                <a:xfrm>
                  <a:off x="3919" y="3231"/>
                  <a:ext cx="18" cy="32"/>
                </a:xfrm>
                <a:custGeom>
                  <a:avLst/>
                  <a:gdLst>
                    <a:gd name="T0" fmla="*/ 18 w 36"/>
                    <a:gd name="T1" fmla="*/ 16 h 64"/>
                    <a:gd name="T2" fmla="*/ 16 w 36"/>
                    <a:gd name="T3" fmla="*/ 22 h 64"/>
                    <a:gd name="T4" fmla="*/ 13 w 36"/>
                    <a:gd name="T5" fmla="*/ 27 h 64"/>
                    <a:gd name="T6" fmla="*/ 10 w 36"/>
                    <a:gd name="T7" fmla="*/ 31 h 64"/>
                    <a:gd name="T8" fmla="*/ 8 w 36"/>
                    <a:gd name="T9" fmla="*/ 32 h 64"/>
                    <a:gd name="T10" fmla="*/ 4 w 36"/>
                    <a:gd name="T11" fmla="*/ 30 h 64"/>
                    <a:gd name="T12" fmla="*/ 1 w 36"/>
                    <a:gd name="T13" fmla="*/ 27 h 64"/>
                    <a:gd name="T14" fmla="*/ 0 w 36"/>
                    <a:gd name="T15" fmla="*/ 22 h 64"/>
                    <a:gd name="T16" fmla="*/ 0 w 36"/>
                    <a:gd name="T17" fmla="*/ 16 h 64"/>
                    <a:gd name="T18" fmla="*/ 1 w 36"/>
                    <a:gd name="T19" fmla="*/ 9 h 64"/>
                    <a:gd name="T20" fmla="*/ 3 w 36"/>
                    <a:gd name="T21" fmla="*/ 4 h 64"/>
                    <a:gd name="T22" fmla="*/ 5 w 36"/>
                    <a:gd name="T23" fmla="*/ 1 h 64"/>
                    <a:gd name="T24" fmla="*/ 9 w 36"/>
                    <a:gd name="T25" fmla="*/ 0 h 64"/>
                    <a:gd name="T26" fmla="*/ 12 w 36"/>
                    <a:gd name="T27" fmla="*/ 1 h 64"/>
                    <a:gd name="T28" fmla="*/ 15 w 36"/>
                    <a:gd name="T29" fmla="*/ 5 h 64"/>
                    <a:gd name="T30" fmla="*/ 18 w 36"/>
                    <a:gd name="T31" fmla="*/ 10 h 64"/>
                    <a:gd name="T32" fmla="*/ 18 w 36"/>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3" name="Freeform 62">
                  <a:extLst>
                    <a:ext uri="{FF2B5EF4-FFF2-40B4-BE49-F238E27FC236}">
                      <a16:creationId xmlns:a16="http://schemas.microsoft.com/office/drawing/2014/main" id="{AB7DCDC6-DB98-AB45-94D2-8C342F9B7AEF}"/>
                    </a:ext>
                  </a:extLst>
                </p:cNvPr>
                <p:cNvSpPr>
                  <a:spLocks/>
                </p:cNvSpPr>
                <p:nvPr/>
              </p:nvSpPr>
              <p:spPr bwMode="auto">
                <a:xfrm>
                  <a:off x="4329" y="2757"/>
                  <a:ext cx="1004" cy="730"/>
                </a:xfrm>
                <a:custGeom>
                  <a:avLst/>
                  <a:gdLst>
                    <a:gd name="T0" fmla="*/ 7 w 2009"/>
                    <a:gd name="T1" fmla="*/ 582 h 1460"/>
                    <a:gd name="T2" fmla="*/ 29 w 2009"/>
                    <a:gd name="T3" fmla="*/ 532 h 1460"/>
                    <a:gd name="T4" fmla="*/ 54 w 2009"/>
                    <a:gd name="T5" fmla="*/ 483 h 1460"/>
                    <a:gd name="T6" fmla="*/ 76 w 2009"/>
                    <a:gd name="T7" fmla="*/ 433 h 1460"/>
                    <a:gd name="T8" fmla="*/ 156 w 2009"/>
                    <a:gd name="T9" fmla="*/ 298 h 1460"/>
                    <a:gd name="T10" fmla="*/ 314 w 2009"/>
                    <a:gd name="T11" fmla="*/ 134 h 1460"/>
                    <a:gd name="T12" fmla="*/ 504 w 2009"/>
                    <a:gd name="T13" fmla="*/ 38 h 1460"/>
                    <a:gd name="T14" fmla="*/ 736 w 2009"/>
                    <a:gd name="T15" fmla="*/ 13 h 1460"/>
                    <a:gd name="T16" fmla="*/ 881 w 2009"/>
                    <a:gd name="T17" fmla="*/ 30 h 1460"/>
                    <a:gd name="T18" fmla="*/ 901 w 2009"/>
                    <a:gd name="T19" fmla="*/ 31 h 1460"/>
                    <a:gd name="T20" fmla="*/ 923 w 2009"/>
                    <a:gd name="T21" fmla="*/ 25 h 1460"/>
                    <a:gd name="T22" fmla="*/ 943 w 2009"/>
                    <a:gd name="T23" fmla="*/ 11 h 1460"/>
                    <a:gd name="T24" fmla="*/ 958 w 2009"/>
                    <a:gd name="T25" fmla="*/ 11 h 1460"/>
                    <a:gd name="T26" fmla="*/ 965 w 2009"/>
                    <a:gd name="T27" fmla="*/ 33 h 1460"/>
                    <a:gd name="T28" fmla="*/ 968 w 2009"/>
                    <a:gd name="T29" fmla="*/ 56 h 1460"/>
                    <a:gd name="T30" fmla="*/ 966 w 2009"/>
                    <a:gd name="T31" fmla="*/ 82 h 1460"/>
                    <a:gd name="T32" fmla="*/ 997 w 2009"/>
                    <a:gd name="T33" fmla="*/ 201 h 1460"/>
                    <a:gd name="T34" fmla="*/ 992 w 2009"/>
                    <a:gd name="T35" fmla="*/ 399 h 1460"/>
                    <a:gd name="T36" fmla="*/ 939 w 2009"/>
                    <a:gd name="T37" fmla="*/ 560 h 1460"/>
                    <a:gd name="T38" fmla="*/ 893 w 2009"/>
                    <a:gd name="T39" fmla="*/ 663 h 1460"/>
                    <a:gd name="T40" fmla="*/ 890 w 2009"/>
                    <a:gd name="T41" fmla="*/ 696 h 1460"/>
                    <a:gd name="T42" fmla="*/ 888 w 2009"/>
                    <a:gd name="T43" fmla="*/ 706 h 1460"/>
                    <a:gd name="T44" fmla="*/ 886 w 2009"/>
                    <a:gd name="T45" fmla="*/ 711 h 1460"/>
                    <a:gd name="T46" fmla="*/ 885 w 2009"/>
                    <a:gd name="T47" fmla="*/ 720 h 1460"/>
                    <a:gd name="T48" fmla="*/ 873 w 2009"/>
                    <a:gd name="T49" fmla="*/ 722 h 1460"/>
                    <a:gd name="T50" fmla="*/ 841 w 2009"/>
                    <a:gd name="T51" fmla="*/ 714 h 1460"/>
                    <a:gd name="T52" fmla="*/ 804 w 2009"/>
                    <a:gd name="T53" fmla="*/ 710 h 1460"/>
                    <a:gd name="T54" fmla="*/ 771 w 2009"/>
                    <a:gd name="T55" fmla="*/ 703 h 1460"/>
                    <a:gd name="T56" fmla="*/ 702 w 2009"/>
                    <a:gd name="T57" fmla="*/ 669 h 1460"/>
                    <a:gd name="T58" fmla="*/ 616 w 2009"/>
                    <a:gd name="T59" fmla="*/ 602 h 1460"/>
                    <a:gd name="T60" fmla="*/ 551 w 2009"/>
                    <a:gd name="T61" fmla="*/ 523 h 1460"/>
                    <a:gd name="T62" fmla="*/ 481 w 2009"/>
                    <a:gd name="T63" fmla="*/ 432 h 1460"/>
                    <a:gd name="T64" fmla="*/ 412 w 2009"/>
                    <a:gd name="T65" fmla="*/ 379 h 1460"/>
                    <a:gd name="T66" fmla="*/ 367 w 2009"/>
                    <a:gd name="T67" fmla="*/ 382 h 1460"/>
                    <a:gd name="T68" fmla="*/ 318 w 2009"/>
                    <a:gd name="T69" fmla="*/ 399 h 1460"/>
                    <a:gd name="T70" fmla="*/ 258 w 2009"/>
                    <a:gd name="T71" fmla="*/ 428 h 1460"/>
                    <a:gd name="T72" fmla="*/ 205 w 2009"/>
                    <a:gd name="T73" fmla="*/ 471 h 1460"/>
                    <a:gd name="T74" fmla="*/ 163 w 2009"/>
                    <a:gd name="T75" fmla="*/ 523 h 1460"/>
                    <a:gd name="T76" fmla="*/ 118 w 2009"/>
                    <a:gd name="T77" fmla="*/ 579 h 1460"/>
                    <a:gd name="T78" fmla="*/ 76 w 2009"/>
                    <a:gd name="T79" fmla="*/ 632 h 1460"/>
                    <a:gd name="T80" fmla="*/ 53 w 2009"/>
                    <a:gd name="T81" fmla="*/ 654 h 1460"/>
                    <a:gd name="T82" fmla="*/ 37 w 2009"/>
                    <a:gd name="T83" fmla="*/ 641 h 1460"/>
                    <a:gd name="T84" fmla="*/ 20 w 2009"/>
                    <a:gd name="T85" fmla="*/ 623 h 1460"/>
                    <a:gd name="T86" fmla="*/ 5 w 2009"/>
                    <a:gd name="T87" fmla="*/ 610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4" name="Freeform 63">
                  <a:extLst>
                    <a:ext uri="{FF2B5EF4-FFF2-40B4-BE49-F238E27FC236}">
                      <a16:creationId xmlns:a16="http://schemas.microsoft.com/office/drawing/2014/main" id="{366B62A6-0839-4A4D-8F05-D6F154A0CB40}"/>
                    </a:ext>
                  </a:extLst>
                </p:cNvPr>
                <p:cNvSpPr>
                  <a:spLocks/>
                </p:cNvSpPr>
                <p:nvPr/>
              </p:nvSpPr>
              <p:spPr bwMode="auto">
                <a:xfrm>
                  <a:off x="4335" y="2766"/>
                  <a:ext cx="993" cy="694"/>
                </a:xfrm>
                <a:custGeom>
                  <a:avLst/>
                  <a:gdLst>
                    <a:gd name="T0" fmla="*/ 9 w 1985"/>
                    <a:gd name="T1" fmla="*/ 558 h 1387"/>
                    <a:gd name="T2" fmla="*/ 29 w 1985"/>
                    <a:gd name="T3" fmla="*/ 512 h 1387"/>
                    <a:gd name="T4" fmla="*/ 51 w 1985"/>
                    <a:gd name="T5" fmla="*/ 469 h 1387"/>
                    <a:gd name="T6" fmla="*/ 71 w 1985"/>
                    <a:gd name="T7" fmla="*/ 423 h 1387"/>
                    <a:gd name="T8" fmla="*/ 150 w 1985"/>
                    <a:gd name="T9" fmla="*/ 290 h 1387"/>
                    <a:gd name="T10" fmla="*/ 308 w 1985"/>
                    <a:gd name="T11" fmla="*/ 126 h 1387"/>
                    <a:gd name="T12" fmla="*/ 496 w 1985"/>
                    <a:gd name="T13" fmla="*/ 32 h 1387"/>
                    <a:gd name="T14" fmla="*/ 726 w 1985"/>
                    <a:gd name="T15" fmla="*/ 9 h 1387"/>
                    <a:gd name="T16" fmla="*/ 871 w 1985"/>
                    <a:gd name="T17" fmla="*/ 25 h 1387"/>
                    <a:gd name="T18" fmla="*/ 891 w 1985"/>
                    <a:gd name="T19" fmla="*/ 26 h 1387"/>
                    <a:gd name="T20" fmla="*/ 913 w 1985"/>
                    <a:gd name="T21" fmla="*/ 21 h 1387"/>
                    <a:gd name="T22" fmla="*/ 933 w 1985"/>
                    <a:gd name="T23" fmla="*/ 9 h 1387"/>
                    <a:gd name="T24" fmla="*/ 949 w 1985"/>
                    <a:gd name="T25" fmla="*/ 11 h 1387"/>
                    <a:gd name="T26" fmla="*/ 957 w 1985"/>
                    <a:gd name="T27" fmla="*/ 33 h 1387"/>
                    <a:gd name="T28" fmla="*/ 960 w 1985"/>
                    <a:gd name="T29" fmla="*/ 55 h 1387"/>
                    <a:gd name="T30" fmla="*/ 958 w 1985"/>
                    <a:gd name="T31" fmla="*/ 80 h 1387"/>
                    <a:gd name="T32" fmla="*/ 987 w 1985"/>
                    <a:gd name="T33" fmla="*/ 191 h 1387"/>
                    <a:gd name="T34" fmla="*/ 982 w 1985"/>
                    <a:gd name="T35" fmla="*/ 377 h 1387"/>
                    <a:gd name="T36" fmla="*/ 932 w 1985"/>
                    <a:gd name="T37" fmla="*/ 532 h 1387"/>
                    <a:gd name="T38" fmla="*/ 886 w 1985"/>
                    <a:gd name="T39" fmla="*/ 632 h 1387"/>
                    <a:gd name="T40" fmla="*/ 879 w 1985"/>
                    <a:gd name="T41" fmla="*/ 664 h 1387"/>
                    <a:gd name="T42" fmla="*/ 877 w 1985"/>
                    <a:gd name="T43" fmla="*/ 673 h 1387"/>
                    <a:gd name="T44" fmla="*/ 873 w 1985"/>
                    <a:gd name="T45" fmla="*/ 677 h 1387"/>
                    <a:gd name="T46" fmla="*/ 869 w 1985"/>
                    <a:gd name="T47" fmla="*/ 685 h 1387"/>
                    <a:gd name="T48" fmla="*/ 858 w 1985"/>
                    <a:gd name="T49" fmla="*/ 688 h 1387"/>
                    <a:gd name="T50" fmla="*/ 828 w 1985"/>
                    <a:gd name="T51" fmla="*/ 682 h 1387"/>
                    <a:gd name="T52" fmla="*/ 794 w 1985"/>
                    <a:gd name="T53" fmla="*/ 679 h 1387"/>
                    <a:gd name="T54" fmla="*/ 764 w 1985"/>
                    <a:gd name="T55" fmla="*/ 672 h 1387"/>
                    <a:gd name="T56" fmla="*/ 695 w 1985"/>
                    <a:gd name="T57" fmla="*/ 639 h 1387"/>
                    <a:gd name="T58" fmla="*/ 610 w 1985"/>
                    <a:gd name="T59" fmla="*/ 574 h 1387"/>
                    <a:gd name="T60" fmla="*/ 546 w 1985"/>
                    <a:gd name="T61" fmla="*/ 498 h 1387"/>
                    <a:gd name="T62" fmla="*/ 476 w 1985"/>
                    <a:gd name="T63" fmla="*/ 410 h 1387"/>
                    <a:gd name="T64" fmla="*/ 407 w 1985"/>
                    <a:gd name="T65" fmla="*/ 357 h 1387"/>
                    <a:gd name="T66" fmla="*/ 361 w 1985"/>
                    <a:gd name="T67" fmla="*/ 362 h 1387"/>
                    <a:gd name="T68" fmla="*/ 310 w 1985"/>
                    <a:gd name="T69" fmla="*/ 380 h 1387"/>
                    <a:gd name="T70" fmla="*/ 249 w 1985"/>
                    <a:gd name="T71" fmla="*/ 412 h 1387"/>
                    <a:gd name="T72" fmla="*/ 197 w 1985"/>
                    <a:gd name="T73" fmla="*/ 455 h 1387"/>
                    <a:gd name="T74" fmla="*/ 157 w 1985"/>
                    <a:gd name="T75" fmla="*/ 504 h 1387"/>
                    <a:gd name="T76" fmla="*/ 114 w 1985"/>
                    <a:gd name="T77" fmla="*/ 554 h 1387"/>
                    <a:gd name="T78" fmla="*/ 74 w 1985"/>
                    <a:gd name="T79" fmla="*/ 603 h 1387"/>
                    <a:gd name="T80" fmla="*/ 51 w 1985"/>
                    <a:gd name="T81" fmla="*/ 625 h 1387"/>
                    <a:gd name="T82" fmla="*/ 36 w 1985"/>
                    <a:gd name="T83" fmla="*/ 613 h 1387"/>
                    <a:gd name="T84" fmla="*/ 20 w 1985"/>
                    <a:gd name="T85" fmla="*/ 597 h 1387"/>
                    <a:gd name="T86" fmla="*/ 5 w 1985"/>
                    <a:gd name="T87" fmla="*/ 585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5" name="Freeform 64">
                  <a:extLst>
                    <a:ext uri="{FF2B5EF4-FFF2-40B4-BE49-F238E27FC236}">
                      <a16:creationId xmlns:a16="http://schemas.microsoft.com/office/drawing/2014/main" id="{6EA9066C-7376-BC41-9AB1-B41DCC398CB3}"/>
                    </a:ext>
                  </a:extLst>
                </p:cNvPr>
                <p:cNvSpPr>
                  <a:spLocks/>
                </p:cNvSpPr>
                <p:nvPr/>
              </p:nvSpPr>
              <p:spPr bwMode="auto">
                <a:xfrm>
                  <a:off x="4342" y="2777"/>
                  <a:ext cx="979" cy="657"/>
                </a:xfrm>
                <a:custGeom>
                  <a:avLst/>
                  <a:gdLst>
                    <a:gd name="T0" fmla="*/ 7 w 1959"/>
                    <a:gd name="T1" fmla="*/ 532 h 1315"/>
                    <a:gd name="T2" fmla="*/ 26 w 1959"/>
                    <a:gd name="T3" fmla="*/ 490 h 1315"/>
                    <a:gd name="T4" fmla="*/ 45 w 1959"/>
                    <a:gd name="T5" fmla="*/ 453 h 1315"/>
                    <a:gd name="T6" fmla="*/ 63 w 1959"/>
                    <a:gd name="T7" fmla="*/ 411 h 1315"/>
                    <a:gd name="T8" fmla="*/ 143 w 1959"/>
                    <a:gd name="T9" fmla="*/ 279 h 1315"/>
                    <a:gd name="T10" fmla="*/ 300 w 1959"/>
                    <a:gd name="T11" fmla="*/ 116 h 1315"/>
                    <a:gd name="T12" fmla="*/ 486 w 1959"/>
                    <a:gd name="T13" fmla="*/ 24 h 1315"/>
                    <a:gd name="T14" fmla="*/ 715 w 1959"/>
                    <a:gd name="T15" fmla="*/ 1 h 1315"/>
                    <a:gd name="T16" fmla="*/ 859 w 1959"/>
                    <a:gd name="T17" fmla="*/ 17 h 1315"/>
                    <a:gd name="T18" fmla="*/ 879 w 1959"/>
                    <a:gd name="T19" fmla="*/ 18 h 1315"/>
                    <a:gd name="T20" fmla="*/ 901 w 1959"/>
                    <a:gd name="T21" fmla="*/ 15 h 1315"/>
                    <a:gd name="T22" fmla="*/ 922 w 1959"/>
                    <a:gd name="T23" fmla="*/ 7 h 1315"/>
                    <a:gd name="T24" fmla="*/ 937 w 1959"/>
                    <a:gd name="T25" fmla="*/ 10 h 1315"/>
                    <a:gd name="T26" fmla="*/ 945 w 1959"/>
                    <a:gd name="T27" fmla="*/ 31 h 1315"/>
                    <a:gd name="T28" fmla="*/ 948 w 1959"/>
                    <a:gd name="T29" fmla="*/ 52 h 1315"/>
                    <a:gd name="T30" fmla="*/ 948 w 1959"/>
                    <a:gd name="T31" fmla="*/ 76 h 1315"/>
                    <a:gd name="T32" fmla="*/ 974 w 1959"/>
                    <a:gd name="T33" fmla="*/ 180 h 1315"/>
                    <a:gd name="T34" fmla="*/ 969 w 1959"/>
                    <a:gd name="T35" fmla="*/ 356 h 1315"/>
                    <a:gd name="T36" fmla="*/ 922 w 1959"/>
                    <a:gd name="T37" fmla="*/ 503 h 1315"/>
                    <a:gd name="T38" fmla="*/ 877 w 1959"/>
                    <a:gd name="T39" fmla="*/ 601 h 1315"/>
                    <a:gd name="T40" fmla="*/ 868 w 1959"/>
                    <a:gd name="T41" fmla="*/ 630 h 1315"/>
                    <a:gd name="T42" fmla="*/ 863 w 1959"/>
                    <a:gd name="T43" fmla="*/ 638 h 1315"/>
                    <a:gd name="T44" fmla="*/ 857 w 1959"/>
                    <a:gd name="T45" fmla="*/ 643 h 1315"/>
                    <a:gd name="T46" fmla="*/ 851 w 1959"/>
                    <a:gd name="T47" fmla="*/ 649 h 1315"/>
                    <a:gd name="T48" fmla="*/ 840 w 1959"/>
                    <a:gd name="T49" fmla="*/ 653 h 1315"/>
                    <a:gd name="T50" fmla="*/ 812 w 1959"/>
                    <a:gd name="T51" fmla="*/ 648 h 1315"/>
                    <a:gd name="T52" fmla="*/ 780 w 1959"/>
                    <a:gd name="T53" fmla="*/ 644 h 1315"/>
                    <a:gd name="T54" fmla="*/ 753 w 1959"/>
                    <a:gd name="T55" fmla="*/ 639 h 1315"/>
                    <a:gd name="T56" fmla="*/ 686 w 1959"/>
                    <a:gd name="T57" fmla="*/ 606 h 1315"/>
                    <a:gd name="T58" fmla="*/ 602 w 1959"/>
                    <a:gd name="T59" fmla="*/ 544 h 1315"/>
                    <a:gd name="T60" fmla="*/ 539 w 1959"/>
                    <a:gd name="T61" fmla="*/ 472 h 1315"/>
                    <a:gd name="T62" fmla="*/ 469 w 1959"/>
                    <a:gd name="T63" fmla="*/ 386 h 1315"/>
                    <a:gd name="T64" fmla="*/ 400 w 1959"/>
                    <a:gd name="T65" fmla="*/ 334 h 1315"/>
                    <a:gd name="T66" fmla="*/ 352 w 1959"/>
                    <a:gd name="T67" fmla="*/ 339 h 1315"/>
                    <a:gd name="T68" fmla="*/ 300 w 1959"/>
                    <a:gd name="T69" fmla="*/ 359 h 1315"/>
                    <a:gd name="T70" fmla="*/ 239 w 1959"/>
                    <a:gd name="T71" fmla="*/ 394 h 1315"/>
                    <a:gd name="T72" fmla="*/ 188 w 1959"/>
                    <a:gd name="T73" fmla="*/ 438 h 1315"/>
                    <a:gd name="T74" fmla="*/ 149 w 1959"/>
                    <a:gd name="T75" fmla="*/ 483 h 1315"/>
                    <a:gd name="T76" fmla="*/ 108 w 1959"/>
                    <a:gd name="T77" fmla="*/ 528 h 1315"/>
                    <a:gd name="T78" fmla="*/ 69 w 1959"/>
                    <a:gd name="T79" fmla="*/ 573 h 1315"/>
                    <a:gd name="T80" fmla="*/ 47 w 1959"/>
                    <a:gd name="T81" fmla="*/ 596 h 1315"/>
                    <a:gd name="T82" fmla="*/ 32 w 1959"/>
                    <a:gd name="T83" fmla="*/ 584 h 1315"/>
                    <a:gd name="T84" fmla="*/ 18 w 1959"/>
                    <a:gd name="T85" fmla="*/ 569 h 1315"/>
                    <a:gd name="T86" fmla="*/ 4 w 1959"/>
                    <a:gd name="T87" fmla="*/ 55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6" name="Freeform 65">
                  <a:extLst>
                    <a:ext uri="{FF2B5EF4-FFF2-40B4-BE49-F238E27FC236}">
                      <a16:creationId xmlns:a16="http://schemas.microsoft.com/office/drawing/2014/main" id="{9DDD93A8-7F9F-AA4E-B0CA-4DC4D471A410}"/>
                    </a:ext>
                  </a:extLst>
                </p:cNvPr>
                <p:cNvSpPr>
                  <a:spLocks/>
                </p:cNvSpPr>
                <p:nvPr/>
              </p:nvSpPr>
              <p:spPr bwMode="auto">
                <a:xfrm>
                  <a:off x="4349" y="2782"/>
                  <a:ext cx="967" cy="627"/>
                </a:xfrm>
                <a:custGeom>
                  <a:avLst/>
                  <a:gdLst>
                    <a:gd name="T0" fmla="*/ 7 w 1934"/>
                    <a:gd name="T1" fmla="*/ 513 h 1254"/>
                    <a:gd name="T2" fmla="*/ 23 w 1934"/>
                    <a:gd name="T3" fmla="*/ 475 h 1254"/>
                    <a:gd name="T4" fmla="*/ 41 w 1934"/>
                    <a:gd name="T5" fmla="*/ 443 h 1254"/>
                    <a:gd name="T6" fmla="*/ 57 w 1934"/>
                    <a:gd name="T7" fmla="*/ 405 h 1254"/>
                    <a:gd name="T8" fmla="*/ 136 w 1934"/>
                    <a:gd name="T9" fmla="*/ 274 h 1254"/>
                    <a:gd name="T10" fmla="*/ 291 w 1934"/>
                    <a:gd name="T11" fmla="*/ 112 h 1254"/>
                    <a:gd name="T12" fmla="*/ 476 w 1934"/>
                    <a:gd name="T13" fmla="*/ 21 h 1254"/>
                    <a:gd name="T14" fmla="*/ 704 w 1934"/>
                    <a:gd name="T15" fmla="*/ 0 h 1254"/>
                    <a:gd name="T16" fmla="*/ 849 w 1934"/>
                    <a:gd name="T17" fmla="*/ 17 h 1254"/>
                    <a:gd name="T18" fmla="*/ 869 w 1934"/>
                    <a:gd name="T19" fmla="*/ 18 h 1254"/>
                    <a:gd name="T20" fmla="*/ 889 w 1934"/>
                    <a:gd name="T21" fmla="*/ 15 h 1254"/>
                    <a:gd name="T22" fmla="*/ 910 w 1934"/>
                    <a:gd name="T23" fmla="*/ 10 h 1254"/>
                    <a:gd name="T24" fmla="*/ 926 w 1934"/>
                    <a:gd name="T25" fmla="*/ 15 h 1254"/>
                    <a:gd name="T26" fmla="*/ 934 w 1934"/>
                    <a:gd name="T27" fmla="*/ 36 h 1254"/>
                    <a:gd name="T28" fmla="*/ 938 w 1934"/>
                    <a:gd name="T29" fmla="*/ 55 h 1254"/>
                    <a:gd name="T30" fmla="*/ 939 w 1934"/>
                    <a:gd name="T31" fmla="*/ 77 h 1254"/>
                    <a:gd name="T32" fmla="*/ 962 w 1934"/>
                    <a:gd name="T33" fmla="*/ 173 h 1254"/>
                    <a:gd name="T34" fmla="*/ 958 w 1934"/>
                    <a:gd name="T35" fmla="*/ 339 h 1254"/>
                    <a:gd name="T36" fmla="*/ 914 w 1934"/>
                    <a:gd name="T37" fmla="*/ 480 h 1254"/>
                    <a:gd name="T38" fmla="*/ 869 w 1934"/>
                    <a:gd name="T39" fmla="*/ 575 h 1254"/>
                    <a:gd name="T40" fmla="*/ 857 w 1934"/>
                    <a:gd name="T41" fmla="*/ 602 h 1254"/>
                    <a:gd name="T42" fmla="*/ 851 w 1934"/>
                    <a:gd name="T43" fmla="*/ 610 h 1254"/>
                    <a:gd name="T44" fmla="*/ 842 w 1934"/>
                    <a:gd name="T45" fmla="*/ 614 h 1254"/>
                    <a:gd name="T46" fmla="*/ 834 w 1934"/>
                    <a:gd name="T47" fmla="*/ 621 h 1254"/>
                    <a:gd name="T48" fmla="*/ 823 w 1934"/>
                    <a:gd name="T49" fmla="*/ 624 h 1254"/>
                    <a:gd name="T50" fmla="*/ 798 w 1934"/>
                    <a:gd name="T51" fmla="*/ 621 h 1254"/>
                    <a:gd name="T52" fmla="*/ 769 w 1934"/>
                    <a:gd name="T53" fmla="*/ 618 h 1254"/>
                    <a:gd name="T54" fmla="*/ 744 w 1934"/>
                    <a:gd name="T55" fmla="*/ 613 h 1254"/>
                    <a:gd name="T56" fmla="*/ 678 w 1934"/>
                    <a:gd name="T57" fmla="*/ 581 h 1254"/>
                    <a:gd name="T58" fmla="*/ 594 w 1934"/>
                    <a:gd name="T59" fmla="*/ 522 h 1254"/>
                    <a:gd name="T60" fmla="*/ 532 w 1934"/>
                    <a:gd name="T61" fmla="*/ 451 h 1254"/>
                    <a:gd name="T62" fmla="*/ 462 w 1934"/>
                    <a:gd name="T63" fmla="*/ 367 h 1254"/>
                    <a:gd name="T64" fmla="*/ 393 w 1934"/>
                    <a:gd name="T65" fmla="*/ 316 h 1254"/>
                    <a:gd name="T66" fmla="*/ 344 w 1934"/>
                    <a:gd name="T67" fmla="*/ 322 h 1254"/>
                    <a:gd name="T68" fmla="*/ 290 w 1934"/>
                    <a:gd name="T69" fmla="*/ 344 h 1254"/>
                    <a:gd name="T70" fmla="*/ 230 w 1934"/>
                    <a:gd name="T71" fmla="*/ 381 h 1254"/>
                    <a:gd name="T72" fmla="*/ 180 w 1934"/>
                    <a:gd name="T73" fmla="*/ 427 h 1254"/>
                    <a:gd name="T74" fmla="*/ 142 w 1934"/>
                    <a:gd name="T75" fmla="*/ 468 h 1254"/>
                    <a:gd name="T76" fmla="*/ 102 w 1934"/>
                    <a:gd name="T77" fmla="*/ 508 h 1254"/>
                    <a:gd name="T78" fmla="*/ 65 w 1934"/>
                    <a:gd name="T79" fmla="*/ 550 h 1254"/>
                    <a:gd name="T80" fmla="*/ 43 w 1934"/>
                    <a:gd name="T81" fmla="*/ 571 h 1254"/>
                    <a:gd name="T82" fmla="*/ 30 w 1934"/>
                    <a:gd name="T83" fmla="*/ 561 h 1254"/>
                    <a:gd name="T84" fmla="*/ 17 w 1934"/>
                    <a:gd name="T85" fmla="*/ 548 h 1254"/>
                    <a:gd name="T86" fmla="*/ 5 w 1934"/>
                    <a:gd name="T87" fmla="*/ 538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7" name="Freeform 66">
                  <a:extLst>
                    <a:ext uri="{FF2B5EF4-FFF2-40B4-BE49-F238E27FC236}">
                      <a16:creationId xmlns:a16="http://schemas.microsoft.com/office/drawing/2014/main" id="{A9C1EA72-63D6-8841-B54B-1693B8DE737D}"/>
                    </a:ext>
                  </a:extLst>
                </p:cNvPr>
                <p:cNvSpPr>
                  <a:spLocks/>
                </p:cNvSpPr>
                <p:nvPr/>
              </p:nvSpPr>
              <p:spPr bwMode="auto">
                <a:xfrm>
                  <a:off x="4356" y="2785"/>
                  <a:ext cx="954" cy="599"/>
                </a:xfrm>
                <a:custGeom>
                  <a:avLst/>
                  <a:gdLst>
                    <a:gd name="T0" fmla="*/ 7 w 1907"/>
                    <a:gd name="T1" fmla="*/ 495 h 1197"/>
                    <a:gd name="T2" fmla="*/ 21 w 1907"/>
                    <a:gd name="T3" fmla="*/ 462 h 1197"/>
                    <a:gd name="T4" fmla="*/ 36 w 1907"/>
                    <a:gd name="T5" fmla="*/ 436 h 1197"/>
                    <a:gd name="T6" fmla="*/ 51 w 1907"/>
                    <a:gd name="T7" fmla="*/ 403 h 1197"/>
                    <a:gd name="T8" fmla="*/ 129 w 1907"/>
                    <a:gd name="T9" fmla="*/ 271 h 1197"/>
                    <a:gd name="T10" fmla="*/ 283 w 1907"/>
                    <a:gd name="T11" fmla="*/ 111 h 1197"/>
                    <a:gd name="T12" fmla="*/ 467 w 1907"/>
                    <a:gd name="T13" fmla="*/ 21 h 1197"/>
                    <a:gd name="T14" fmla="*/ 693 w 1907"/>
                    <a:gd name="T15" fmla="*/ 0 h 1197"/>
                    <a:gd name="T16" fmla="*/ 837 w 1907"/>
                    <a:gd name="T17" fmla="*/ 17 h 1197"/>
                    <a:gd name="T18" fmla="*/ 857 w 1907"/>
                    <a:gd name="T19" fmla="*/ 18 h 1197"/>
                    <a:gd name="T20" fmla="*/ 879 w 1907"/>
                    <a:gd name="T21" fmla="*/ 18 h 1197"/>
                    <a:gd name="T22" fmla="*/ 900 w 1907"/>
                    <a:gd name="T23" fmla="*/ 14 h 1197"/>
                    <a:gd name="T24" fmla="*/ 915 w 1907"/>
                    <a:gd name="T25" fmla="*/ 22 h 1197"/>
                    <a:gd name="T26" fmla="*/ 923 w 1907"/>
                    <a:gd name="T27" fmla="*/ 42 h 1197"/>
                    <a:gd name="T28" fmla="*/ 928 w 1907"/>
                    <a:gd name="T29" fmla="*/ 61 h 1197"/>
                    <a:gd name="T30" fmla="*/ 929 w 1907"/>
                    <a:gd name="T31" fmla="*/ 82 h 1197"/>
                    <a:gd name="T32" fmla="*/ 950 w 1907"/>
                    <a:gd name="T33" fmla="*/ 170 h 1197"/>
                    <a:gd name="T34" fmla="*/ 945 w 1907"/>
                    <a:gd name="T35" fmla="*/ 324 h 1197"/>
                    <a:gd name="T36" fmla="*/ 905 w 1907"/>
                    <a:gd name="T37" fmla="*/ 460 h 1197"/>
                    <a:gd name="T38" fmla="*/ 861 w 1907"/>
                    <a:gd name="T39" fmla="*/ 551 h 1197"/>
                    <a:gd name="T40" fmla="*/ 847 w 1907"/>
                    <a:gd name="T41" fmla="*/ 577 h 1197"/>
                    <a:gd name="T42" fmla="*/ 838 w 1907"/>
                    <a:gd name="T43" fmla="*/ 584 h 1197"/>
                    <a:gd name="T44" fmla="*/ 828 w 1907"/>
                    <a:gd name="T45" fmla="*/ 588 h 1197"/>
                    <a:gd name="T46" fmla="*/ 817 w 1907"/>
                    <a:gd name="T47" fmla="*/ 594 h 1197"/>
                    <a:gd name="T48" fmla="*/ 806 w 1907"/>
                    <a:gd name="T49" fmla="*/ 597 h 1197"/>
                    <a:gd name="T50" fmla="*/ 783 w 1907"/>
                    <a:gd name="T51" fmla="*/ 596 h 1197"/>
                    <a:gd name="T52" fmla="*/ 757 w 1907"/>
                    <a:gd name="T53" fmla="*/ 593 h 1197"/>
                    <a:gd name="T54" fmla="*/ 735 w 1907"/>
                    <a:gd name="T55" fmla="*/ 588 h 1197"/>
                    <a:gd name="T56" fmla="*/ 669 w 1907"/>
                    <a:gd name="T57" fmla="*/ 558 h 1197"/>
                    <a:gd name="T58" fmla="*/ 586 w 1907"/>
                    <a:gd name="T59" fmla="*/ 500 h 1197"/>
                    <a:gd name="T60" fmla="*/ 525 w 1907"/>
                    <a:gd name="T61" fmla="*/ 433 h 1197"/>
                    <a:gd name="T62" fmla="*/ 457 w 1907"/>
                    <a:gd name="T63" fmla="*/ 353 h 1197"/>
                    <a:gd name="T64" fmla="*/ 387 w 1907"/>
                    <a:gd name="T65" fmla="*/ 301 h 1197"/>
                    <a:gd name="T66" fmla="*/ 336 w 1907"/>
                    <a:gd name="T67" fmla="*/ 307 h 1197"/>
                    <a:gd name="T68" fmla="*/ 280 w 1907"/>
                    <a:gd name="T69" fmla="*/ 332 h 1197"/>
                    <a:gd name="T70" fmla="*/ 220 w 1907"/>
                    <a:gd name="T71" fmla="*/ 372 h 1197"/>
                    <a:gd name="T72" fmla="*/ 171 w 1907"/>
                    <a:gd name="T73" fmla="*/ 418 h 1197"/>
                    <a:gd name="T74" fmla="*/ 134 w 1907"/>
                    <a:gd name="T75" fmla="*/ 456 h 1197"/>
                    <a:gd name="T76" fmla="*/ 97 w 1907"/>
                    <a:gd name="T77" fmla="*/ 490 h 1197"/>
                    <a:gd name="T78" fmla="*/ 60 w 1907"/>
                    <a:gd name="T79" fmla="*/ 528 h 1197"/>
                    <a:gd name="T80" fmla="*/ 38 w 1907"/>
                    <a:gd name="T81" fmla="*/ 549 h 1197"/>
                    <a:gd name="T82" fmla="*/ 28 w 1907"/>
                    <a:gd name="T83" fmla="*/ 540 h 1197"/>
                    <a:gd name="T84" fmla="*/ 16 w 1907"/>
                    <a:gd name="T85" fmla="*/ 528 h 1197"/>
                    <a:gd name="T86" fmla="*/ 4 w 1907"/>
                    <a:gd name="T87" fmla="*/ 519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8" name="Freeform 67">
                  <a:extLst>
                    <a:ext uri="{FF2B5EF4-FFF2-40B4-BE49-F238E27FC236}">
                      <a16:creationId xmlns:a16="http://schemas.microsoft.com/office/drawing/2014/main" id="{6726D6F1-ED2B-614A-A95F-1F99A56673E3}"/>
                    </a:ext>
                  </a:extLst>
                </p:cNvPr>
                <p:cNvSpPr>
                  <a:spLocks/>
                </p:cNvSpPr>
                <p:nvPr/>
              </p:nvSpPr>
              <p:spPr bwMode="auto">
                <a:xfrm>
                  <a:off x="4363" y="2788"/>
                  <a:ext cx="940" cy="569"/>
                </a:xfrm>
                <a:custGeom>
                  <a:avLst/>
                  <a:gdLst>
                    <a:gd name="T0" fmla="*/ 6 w 1882"/>
                    <a:gd name="T1" fmla="*/ 476 h 1137"/>
                    <a:gd name="T2" fmla="*/ 19 w 1882"/>
                    <a:gd name="T3" fmla="*/ 447 h 1137"/>
                    <a:gd name="T4" fmla="*/ 31 w 1882"/>
                    <a:gd name="T5" fmla="*/ 427 h 1137"/>
                    <a:gd name="T6" fmla="*/ 44 w 1882"/>
                    <a:gd name="T7" fmla="*/ 398 h 1137"/>
                    <a:gd name="T8" fmla="*/ 122 w 1882"/>
                    <a:gd name="T9" fmla="*/ 268 h 1137"/>
                    <a:gd name="T10" fmla="*/ 275 w 1882"/>
                    <a:gd name="T11" fmla="*/ 108 h 1137"/>
                    <a:gd name="T12" fmla="*/ 456 w 1882"/>
                    <a:gd name="T13" fmla="*/ 20 h 1137"/>
                    <a:gd name="T14" fmla="*/ 682 w 1882"/>
                    <a:gd name="T15" fmla="*/ 0 h 1137"/>
                    <a:gd name="T16" fmla="*/ 825 w 1882"/>
                    <a:gd name="T17" fmla="*/ 17 h 1137"/>
                    <a:gd name="T18" fmla="*/ 845 w 1882"/>
                    <a:gd name="T19" fmla="*/ 19 h 1137"/>
                    <a:gd name="T20" fmla="*/ 866 w 1882"/>
                    <a:gd name="T21" fmla="*/ 19 h 1137"/>
                    <a:gd name="T22" fmla="*/ 887 w 1882"/>
                    <a:gd name="T23" fmla="*/ 19 h 1137"/>
                    <a:gd name="T24" fmla="*/ 902 w 1882"/>
                    <a:gd name="T25" fmla="*/ 29 h 1137"/>
                    <a:gd name="T26" fmla="*/ 911 w 1882"/>
                    <a:gd name="T27" fmla="*/ 48 h 1137"/>
                    <a:gd name="T28" fmla="*/ 916 w 1882"/>
                    <a:gd name="T29" fmla="*/ 65 h 1137"/>
                    <a:gd name="T30" fmla="*/ 919 w 1882"/>
                    <a:gd name="T31" fmla="*/ 85 h 1137"/>
                    <a:gd name="T32" fmla="*/ 937 w 1882"/>
                    <a:gd name="T33" fmla="*/ 165 h 1137"/>
                    <a:gd name="T34" fmla="*/ 932 w 1882"/>
                    <a:gd name="T35" fmla="*/ 310 h 1137"/>
                    <a:gd name="T36" fmla="*/ 895 w 1882"/>
                    <a:gd name="T37" fmla="*/ 439 h 1137"/>
                    <a:gd name="T38" fmla="*/ 852 w 1882"/>
                    <a:gd name="T39" fmla="*/ 526 h 1137"/>
                    <a:gd name="T40" fmla="*/ 834 w 1882"/>
                    <a:gd name="T41" fmla="*/ 550 h 1137"/>
                    <a:gd name="T42" fmla="*/ 825 w 1882"/>
                    <a:gd name="T43" fmla="*/ 556 h 1137"/>
                    <a:gd name="T44" fmla="*/ 811 w 1882"/>
                    <a:gd name="T45" fmla="*/ 560 h 1137"/>
                    <a:gd name="T46" fmla="*/ 799 w 1882"/>
                    <a:gd name="T47" fmla="*/ 565 h 1137"/>
                    <a:gd name="T48" fmla="*/ 788 w 1882"/>
                    <a:gd name="T49" fmla="*/ 568 h 1137"/>
                    <a:gd name="T50" fmla="*/ 768 w 1882"/>
                    <a:gd name="T51" fmla="*/ 568 h 1137"/>
                    <a:gd name="T52" fmla="*/ 744 w 1882"/>
                    <a:gd name="T53" fmla="*/ 566 h 1137"/>
                    <a:gd name="T54" fmla="*/ 724 w 1882"/>
                    <a:gd name="T55" fmla="*/ 563 h 1137"/>
                    <a:gd name="T56" fmla="*/ 660 w 1882"/>
                    <a:gd name="T57" fmla="*/ 534 h 1137"/>
                    <a:gd name="T58" fmla="*/ 578 w 1882"/>
                    <a:gd name="T59" fmla="*/ 479 h 1137"/>
                    <a:gd name="T60" fmla="*/ 517 w 1882"/>
                    <a:gd name="T61" fmla="*/ 415 h 1137"/>
                    <a:gd name="T62" fmla="*/ 450 w 1882"/>
                    <a:gd name="T63" fmla="*/ 336 h 1137"/>
                    <a:gd name="T64" fmla="*/ 381 w 1882"/>
                    <a:gd name="T65" fmla="*/ 284 h 1137"/>
                    <a:gd name="T66" fmla="*/ 328 w 1882"/>
                    <a:gd name="T67" fmla="*/ 293 h 1137"/>
                    <a:gd name="T68" fmla="*/ 271 w 1882"/>
                    <a:gd name="T69" fmla="*/ 320 h 1137"/>
                    <a:gd name="T70" fmla="*/ 210 w 1882"/>
                    <a:gd name="T71" fmla="*/ 361 h 1137"/>
                    <a:gd name="T72" fmla="*/ 162 w 1882"/>
                    <a:gd name="T73" fmla="*/ 409 h 1137"/>
                    <a:gd name="T74" fmla="*/ 127 w 1882"/>
                    <a:gd name="T75" fmla="*/ 442 h 1137"/>
                    <a:gd name="T76" fmla="*/ 91 w 1882"/>
                    <a:gd name="T77" fmla="*/ 472 h 1137"/>
                    <a:gd name="T78" fmla="*/ 56 w 1882"/>
                    <a:gd name="T79" fmla="*/ 506 h 1137"/>
                    <a:gd name="T80" fmla="*/ 34 w 1882"/>
                    <a:gd name="T81" fmla="*/ 526 h 1137"/>
                    <a:gd name="T82" fmla="*/ 24 w 1882"/>
                    <a:gd name="T83" fmla="*/ 518 h 1137"/>
                    <a:gd name="T84" fmla="*/ 14 w 1882"/>
                    <a:gd name="T85" fmla="*/ 508 h 1137"/>
                    <a:gd name="T86" fmla="*/ 4 w 1882"/>
                    <a:gd name="T87" fmla="*/ 50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89" name="Freeform 68">
                  <a:extLst>
                    <a:ext uri="{FF2B5EF4-FFF2-40B4-BE49-F238E27FC236}">
                      <a16:creationId xmlns:a16="http://schemas.microsoft.com/office/drawing/2014/main" id="{9EC58B3A-107E-FC4F-AAC6-3AB1AABCCFD2}"/>
                    </a:ext>
                  </a:extLst>
                </p:cNvPr>
                <p:cNvSpPr>
                  <a:spLocks/>
                </p:cNvSpPr>
                <p:nvPr/>
              </p:nvSpPr>
              <p:spPr bwMode="auto">
                <a:xfrm>
                  <a:off x="4370" y="2792"/>
                  <a:ext cx="928" cy="542"/>
                </a:xfrm>
                <a:custGeom>
                  <a:avLst/>
                  <a:gdLst>
                    <a:gd name="T0" fmla="*/ 6 w 1857"/>
                    <a:gd name="T1" fmla="*/ 458 h 1084"/>
                    <a:gd name="T2" fmla="*/ 17 w 1857"/>
                    <a:gd name="T3" fmla="*/ 433 h 1084"/>
                    <a:gd name="T4" fmla="*/ 26 w 1857"/>
                    <a:gd name="T5" fmla="*/ 418 h 1084"/>
                    <a:gd name="T6" fmla="*/ 37 w 1857"/>
                    <a:gd name="T7" fmla="*/ 394 h 1084"/>
                    <a:gd name="T8" fmla="*/ 115 w 1857"/>
                    <a:gd name="T9" fmla="*/ 265 h 1084"/>
                    <a:gd name="T10" fmla="*/ 266 w 1857"/>
                    <a:gd name="T11" fmla="*/ 106 h 1084"/>
                    <a:gd name="T12" fmla="*/ 446 w 1857"/>
                    <a:gd name="T13" fmla="*/ 18 h 1084"/>
                    <a:gd name="T14" fmla="*/ 671 w 1857"/>
                    <a:gd name="T15" fmla="*/ 0 h 1084"/>
                    <a:gd name="T16" fmla="*/ 814 w 1857"/>
                    <a:gd name="T17" fmla="*/ 17 h 1084"/>
                    <a:gd name="T18" fmla="*/ 834 w 1857"/>
                    <a:gd name="T19" fmla="*/ 19 h 1084"/>
                    <a:gd name="T20" fmla="*/ 855 w 1857"/>
                    <a:gd name="T21" fmla="*/ 20 h 1084"/>
                    <a:gd name="T22" fmla="*/ 876 w 1857"/>
                    <a:gd name="T23" fmla="*/ 22 h 1084"/>
                    <a:gd name="T24" fmla="*/ 892 w 1857"/>
                    <a:gd name="T25" fmla="*/ 34 h 1084"/>
                    <a:gd name="T26" fmla="*/ 900 w 1857"/>
                    <a:gd name="T27" fmla="*/ 52 h 1084"/>
                    <a:gd name="T28" fmla="*/ 907 w 1857"/>
                    <a:gd name="T29" fmla="*/ 69 h 1084"/>
                    <a:gd name="T30" fmla="*/ 910 w 1857"/>
                    <a:gd name="T31" fmla="*/ 87 h 1084"/>
                    <a:gd name="T32" fmla="*/ 925 w 1857"/>
                    <a:gd name="T33" fmla="*/ 160 h 1084"/>
                    <a:gd name="T34" fmla="*/ 921 w 1857"/>
                    <a:gd name="T35" fmla="*/ 294 h 1084"/>
                    <a:gd name="T36" fmla="*/ 886 w 1857"/>
                    <a:gd name="T37" fmla="*/ 417 h 1084"/>
                    <a:gd name="T38" fmla="*/ 844 w 1857"/>
                    <a:gd name="T39" fmla="*/ 500 h 1084"/>
                    <a:gd name="T40" fmla="*/ 823 w 1857"/>
                    <a:gd name="T41" fmla="*/ 523 h 1084"/>
                    <a:gd name="T42" fmla="*/ 812 w 1857"/>
                    <a:gd name="T43" fmla="*/ 529 h 1084"/>
                    <a:gd name="T44" fmla="*/ 797 w 1857"/>
                    <a:gd name="T45" fmla="*/ 533 h 1084"/>
                    <a:gd name="T46" fmla="*/ 782 w 1857"/>
                    <a:gd name="T47" fmla="*/ 537 h 1084"/>
                    <a:gd name="T48" fmla="*/ 772 w 1857"/>
                    <a:gd name="T49" fmla="*/ 541 h 1084"/>
                    <a:gd name="T50" fmla="*/ 754 w 1857"/>
                    <a:gd name="T51" fmla="*/ 542 h 1084"/>
                    <a:gd name="T52" fmla="*/ 732 w 1857"/>
                    <a:gd name="T53" fmla="*/ 540 h 1084"/>
                    <a:gd name="T54" fmla="*/ 715 w 1857"/>
                    <a:gd name="T55" fmla="*/ 537 h 1084"/>
                    <a:gd name="T56" fmla="*/ 652 w 1857"/>
                    <a:gd name="T57" fmla="*/ 509 h 1084"/>
                    <a:gd name="T58" fmla="*/ 570 w 1857"/>
                    <a:gd name="T59" fmla="*/ 456 h 1084"/>
                    <a:gd name="T60" fmla="*/ 511 w 1857"/>
                    <a:gd name="T61" fmla="*/ 395 h 1084"/>
                    <a:gd name="T62" fmla="*/ 444 w 1857"/>
                    <a:gd name="T63" fmla="*/ 319 h 1084"/>
                    <a:gd name="T64" fmla="*/ 374 w 1857"/>
                    <a:gd name="T65" fmla="*/ 269 h 1084"/>
                    <a:gd name="T66" fmla="*/ 320 w 1857"/>
                    <a:gd name="T67" fmla="*/ 277 h 1084"/>
                    <a:gd name="T68" fmla="*/ 261 w 1857"/>
                    <a:gd name="T69" fmla="*/ 306 h 1084"/>
                    <a:gd name="T70" fmla="*/ 201 w 1857"/>
                    <a:gd name="T71" fmla="*/ 350 h 1084"/>
                    <a:gd name="T72" fmla="*/ 154 w 1857"/>
                    <a:gd name="T73" fmla="*/ 398 h 1084"/>
                    <a:gd name="T74" fmla="*/ 120 w 1857"/>
                    <a:gd name="T75" fmla="*/ 428 h 1084"/>
                    <a:gd name="T76" fmla="*/ 86 w 1857"/>
                    <a:gd name="T77" fmla="*/ 453 h 1084"/>
                    <a:gd name="T78" fmla="*/ 52 w 1857"/>
                    <a:gd name="T79" fmla="*/ 483 h 1084"/>
                    <a:gd name="T80" fmla="*/ 31 w 1857"/>
                    <a:gd name="T81" fmla="*/ 503 h 1084"/>
                    <a:gd name="T82" fmla="*/ 22 w 1857"/>
                    <a:gd name="T83" fmla="*/ 497 h 1084"/>
                    <a:gd name="T84" fmla="*/ 12 w 1857"/>
                    <a:gd name="T85" fmla="*/ 487 h 1084"/>
                    <a:gd name="T86" fmla="*/ 4 w 1857"/>
                    <a:gd name="T87" fmla="*/ 481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0" name="Freeform 69">
                  <a:extLst>
                    <a:ext uri="{FF2B5EF4-FFF2-40B4-BE49-F238E27FC236}">
                      <a16:creationId xmlns:a16="http://schemas.microsoft.com/office/drawing/2014/main" id="{4F675C41-E35C-F741-B3A7-A9944CE4B3D9}"/>
                    </a:ext>
                  </a:extLst>
                </p:cNvPr>
                <p:cNvSpPr>
                  <a:spLocks/>
                </p:cNvSpPr>
                <p:nvPr/>
              </p:nvSpPr>
              <p:spPr bwMode="auto">
                <a:xfrm>
                  <a:off x="4377" y="2795"/>
                  <a:ext cx="915" cy="517"/>
                </a:xfrm>
                <a:custGeom>
                  <a:avLst/>
                  <a:gdLst>
                    <a:gd name="T0" fmla="*/ 5 w 1831"/>
                    <a:gd name="T1" fmla="*/ 440 h 1034"/>
                    <a:gd name="T2" fmla="*/ 14 w 1831"/>
                    <a:gd name="T3" fmla="*/ 419 h 1034"/>
                    <a:gd name="T4" fmla="*/ 21 w 1831"/>
                    <a:gd name="T5" fmla="*/ 410 h 1034"/>
                    <a:gd name="T6" fmla="*/ 31 w 1831"/>
                    <a:gd name="T7" fmla="*/ 390 h 1034"/>
                    <a:gd name="T8" fmla="*/ 107 w 1831"/>
                    <a:gd name="T9" fmla="*/ 261 h 1034"/>
                    <a:gd name="T10" fmla="*/ 257 w 1831"/>
                    <a:gd name="T11" fmla="*/ 103 h 1034"/>
                    <a:gd name="T12" fmla="*/ 436 w 1831"/>
                    <a:gd name="T13" fmla="*/ 17 h 1034"/>
                    <a:gd name="T14" fmla="*/ 659 w 1831"/>
                    <a:gd name="T15" fmla="*/ 0 h 1034"/>
                    <a:gd name="T16" fmla="*/ 803 w 1831"/>
                    <a:gd name="T17" fmla="*/ 17 h 1034"/>
                    <a:gd name="T18" fmla="*/ 822 w 1831"/>
                    <a:gd name="T19" fmla="*/ 19 h 1034"/>
                    <a:gd name="T20" fmla="*/ 843 w 1831"/>
                    <a:gd name="T21" fmla="*/ 22 h 1034"/>
                    <a:gd name="T22" fmla="*/ 864 w 1831"/>
                    <a:gd name="T23" fmla="*/ 27 h 1034"/>
                    <a:gd name="T24" fmla="*/ 880 w 1831"/>
                    <a:gd name="T25" fmla="*/ 41 h 1034"/>
                    <a:gd name="T26" fmla="*/ 889 w 1831"/>
                    <a:gd name="T27" fmla="*/ 59 h 1034"/>
                    <a:gd name="T28" fmla="*/ 896 w 1831"/>
                    <a:gd name="T29" fmla="*/ 74 h 1034"/>
                    <a:gd name="T30" fmla="*/ 900 w 1831"/>
                    <a:gd name="T31" fmla="*/ 91 h 1034"/>
                    <a:gd name="T32" fmla="*/ 913 w 1831"/>
                    <a:gd name="T33" fmla="*/ 157 h 1034"/>
                    <a:gd name="T34" fmla="*/ 909 w 1831"/>
                    <a:gd name="T35" fmla="*/ 280 h 1034"/>
                    <a:gd name="T36" fmla="*/ 878 w 1831"/>
                    <a:gd name="T37" fmla="*/ 397 h 1034"/>
                    <a:gd name="T38" fmla="*/ 836 w 1831"/>
                    <a:gd name="T39" fmla="*/ 476 h 1034"/>
                    <a:gd name="T40" fmla="*/ 812 w 1831"/>
                    <a:gd name="T41" fmla="*/ 496 h 1034"/>
                    <a:gd name="T42" fmla="*/ 799 w 1831"/>
                    <a:gd name="T43" fmla="*/ 502 h 1034"/>
                    <a:gd name="T44" fmla="*/ 782 w 1831"/>
                    <a:gd name="T45" fmla="*/ 506 h 1034"/>
                    <a:gd name="T46" fmla="*/ 766 w 1831"/>
                    <a:gd name="T47" fmla="*/ 509 h 1034"/>
                    <a:gd name="T48" fmla="*/ 755 w 1831"/>
                    <a:gd name="T49" fmla="*/ 514 h 1034"/>
                    <a:gd name="T50" fmla="*/ 739 w 1831"/>
                    <a:gd name="T51" fmla="*/ 517 h 1034"/>
                    <a:gd name="T52" fmla="*/ 720 w 1831"/>
                    <a:gd name="T53" fmla="*/ 515 h 1034"/>
                    <a:gd name="T54" fmla="*/ 705 w 1831"/>
                    <a:gd name="T55" fmla="*/ 513 h 1034"/>
                    <a:gd name="T56" fmla="*/ 644 w 1831"/>
                    <a:gd name="T57" fmla="*/ 485 h 1034"/>
                    <a:gd name="T58" fmla="*/ 563 w 1831"/>
                    <a:gd name="T59" fmla="*/ 435 h 1034"/>
                    <a:gd name="T60" fmla="*/ 504 w 1831"/>
                    <a:gd name="T61" fmla="*/ 376 h 1034"/>
                    <a:gd name="T62" fmla="*/ 437 w 1831"/>
                    <a:gd name="T63" fmla="*/ 302 h 1034"/>
                    <a:gd name="T64" fmla="*/ 368 w 1831"/>
                    <a:gd name="T65" fmla="*/ 252 h 1034"/>
                    <a:gd name="T66" fmla="*/ 312 w 1831"/>
                    <a:gd name="T67" fmla="*/ 262 h 1034"/>
                    <a:gd name="T68" fmla="*/ 252 w 1831"/>
                    <a:gd name="T69" fmla="*/ 293 h 1034"/>
                    <a:gd name="T70" fmla="*/ 190 w 1831"/>
                    <a:gd name="T71" fmla="*/ 340 h 1034"/>
                    <a:gd name="T72" fmla="*/ 145 w 1831"/>
                    <a:gd name="T73" fmla="*/ 389 h 1034"/>
                    <a:gd name="T74" fmla="*/ 112 w 1831"/>
                    <a:gd name="T75" fmla="*/ 415 h 1034"/>
                    <a:gd name="T76" fmla="*/ 79 w 1831"/>
                    <a:gd name="T77" fmla="*/ 435 h 1034"/>
                    <a:gd name="T78" fmla="*/ 47 w 1831"/>
                    <a:gd name="T79" fmla="*/ 461 h 1034"/>
                    <a:gd name="T80" fmla="*/ 27 w 1831"/>
                    <a:gd name="T81" fmla="*/ 480 h 1034"/>
                    <a:gd name="T82" fmla="*/ 19 w 1831"/>
                    <a:gd name="T83" fmla="*/ 475 h 1034"/>
                    <a:gd name="T84" fmla="*/ 11 w 1831"/>
                    <a:gd name="T85" fmla="*/ 467 h 1034"/>
                    <a:gd name="T86" fmla="*/ 4 w 1831"/>
                    <a:gd name="T87" fmla="*/ 462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1" name="Freeform 70">
                  <a:extLst>
                    <a:ext uri="{FF2B5EF4-FFF2-40B4-BE49-F238E27FC236}">
                      <a16:creationId xmlns:a16="http://schemas.microsoft.com/office/drawing/2014/main" id="{9B17BEDA-6EEB-7D4D-95C4-A5F42303298B}"/>
                    </a:ext>
                  </a:extLst>
                </p:cNvPr>
                <p:cNvSpPr>
                  <a:spLocks/>
                </p:cNvSpPr>
                <p:nvPr/>
              </p:nvSpPr>
              <p:spPr bwMode="auto">
                <a:xfrm>
                  <a:off x="4473" y="2960"/>
                  <a:ext cx="208" cy="212"/>
                </a:xfrm>
                <a:custGeom>
                  <a:avLst/>
                  <a:gdLst>
                    <a:gd name="T0" fmla="*/ 0 w 417"/>
                    <a:gd name="T1" fmla="*/ 178 h 425"/>
                    <a:gd name="T2" fmla="*/ 10 w 417"/>
                    <a:gd name="T3" fmla="*/ 162 h 425"/>
                    <a:gd name="T4" fmla="*/ 26 w 417"/>
                    <a:gd name="T5" fmla="*/ 143 h 425"/>
                    <a:gd name="T6" fmla="*/ 43 w 417"/>
                    <a:gd name="T7" fmla="*/ 119 h 425"/>
                    <a:gd name="T8" fmla="*/ 62 w 417"/>
                    <a:gd name="T9" fmla="*/ 96 h 425"/>
                    <a:gd name="T10" fmla="*/ 80 w 417"/>
                    <a:gd name="T11" fmla="*/ 71 h 425"/>
                    <a:gd name="T12" fmla="*/ 98 w 417"/>
                    <a:gd name="T13" fmla="*/ 49 h 425"/>
                    <a:gd name="T14" fmla="*/ 113 w 417"/>
                    <a:gd name="T15" fmla="*/ 29 h 425"/>
                    <a:gd name="T16" fmla="*/ 125 w 417"/>
                    <a:gd name="T17" fmla="*/ 13 h 425"/>
                    <a:gd name="T18" fmla="*/ 148 w 417"/>
                    <a:gd name="T19" fmla="*/ 3 h 425"/>
                    <a:gd name="T20" fmla="*/ 171 w 417"/>
                    <a:gd name="T21" fmla="*/ 0 h 425"/>
                    <a:gd name="T22" fmla="*/ 191 w 417"/>
                    <a:gd name="T23" fmla="*/ 2 h 425"/>
                    <a:gd name="T24" fmla="*/ 205 w 417"/>
                    <a:gd name="T25" fmla="*/ 10 h 425"/>
                    <a:gd name="T26" fmla="*/ 208 w 417"/>
                    <a:gd name="T27" fmla="*/ 24 h 425"/>
                    <a:gd name="T28" fmla="*/ 200 w 417"/>
                    <a:gd name="T29" fmla="*/ 44 h 425"/>
                    <a:gd name="T30" fmla="*/ 177 w 417"/>
                    <a:gd name="T31" fmla="*/ 69 h 425"/>
                    <a:gd name="T32" fmla="*/ 136 w 417"/>
                    <a:gd name="T33" fmla="*/ 100 h 425"/>
                    <a:gd name="T34" fmla="*/ 120 w 417"/>
                    <a:gd name="T35" fmla="*/ 114 h 425"/>
                    <a:gd name="T36" fmla="*/ 104 w 417"/>
                    <a:gd name="T37" fmla="*/ 128 h 425"/>
                    <a:gd name="T38" fmla="*/ 88 w 417"/>
                    <a:gd name="T39" fmla="*/ 141 h 425"/>
                    <a:gd name="T40" fmla="*/ 72 w 417"/>
                    <a:gd name="T41" fmla="*/ 156 h 425"/>
                    <a:gd name="T42" fmla="*/ 56 w 417"/>
                    <a:gd name="T43" fmla="*/ 169 h 425"/>
                    <a:gd name="T44" fmla="*/ 40 w 417"/>
                    <a:gd name="T45" fmla="*/ 184 h 425"/>
                    <a:gd name="T46" fmla="*/ 24 w 417"/>
                    <a:gd name="T47" fmla="*/ 198 h 425"/>
                    <a:gd name="T48" fmla="*/ 9 w 417"/>
                    <a:gd name="T49" fmla="*/ 212 h 425"/>
                    <a:gd name="T50" fmla="*/ 7 w 417"/>
                    <a:gd name="T51" fmla="*/ 208 h 425"/>
                    <a:gd name="T52" fmla="*/ 6 w 417"/>
                    <a:gd name="T53" fmla="*/ 203 h 425"/>
                    <a:gd name="T54" fmla="*/ 4 w 417"/>
                    <a:gd name="T55" fmla="*/ 199 h 425"/>
                    <a:gd name="T56" fmla="*/ 4 w 417"/>
                    <a:gd name="T57" fmla="*/ 195 h 425"/>
                    <a:gd name="T58" fmla="*/ 2 w 417"/>
                    <a:gd name="T59" fmla="*/ 191 h 425"/>
                    <a:gd name="T60" fmla="*/ 2 w 417"/>
                    <a:gd name="T61" fmla="*/ 186 h 425"/>
                    <a:gd name="T62" fmla="*/ 0 w 417"/>
                    <a:gd name="T63" fmla="*/ 182 h 425"/>
                    <a:gd name="T64" fmla="*/ 0 w 417"/>
                    <a:gd name="T65" fmla="*/ 178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2" name="Freeform 71">
                  <a:extLst>
                    <a:ext uri="{FF2B5EF4-FFF2-40B4-BE49-F238E27FC236}">
                      <a16:creationId xmlns:a16="http://schemas.microsoft.com/office/drawing/2014/main" id="{A67E3D59-47C9-744A-A5E5-FFDF5EA8982E}"/>
                    </a:ext>
                  </a:extLst>
                </p:cNvPr>
                <p:cNvSpPr>
                  <a:spLocks/>
                </p:cNvSpPr>
                <p:nvPr/>
              </p:nvSpPr>
              <p:spPr bwMode="auto">
                <a:xfrm>
                  <a:off x="4474" y="2978"/>
                  <a:ext cx="192" cy="192"/>
                </a:xfrm>
                <a:custGeom>
                  <a:avLst/>
                  <a:gdLst>
                    <a:gd name="T0" fmla="*/ 0 w 385"/>
                    <a:gd name="T1" fmla="*/ 161 h 385"/>
                    <a:gd name="T2" fmla="*/ 10 w 385"/>
                    <a:gd name="T3" fmla="*/ 146 h 385"/>
                    <a:gd name="T4" fmla="*/ 24 w 385"/>
                    <a:gd name="T5" fmla="*/ 129 h 385"/>
                    <a:gd name="T6" fmla="*/ 40 w 385"/>
                    <a:gd name="T7" fmla="*/ 108 h 385"/>
                    <a:gd name="T8" fmla="*/ 58 w 385"/>
                    <a:gd name="T9" fmla="*/ 87 h 385"/>
                    <a:gd name="T10" fmla="*/ 74 w 385"/>
                    <a:gd name="T11" fmla="*/ 65 h 385"/>
                    <a:gd name="T12" fmla="*/ 90 w 385"/>
                    <a:gd name="T13" fmla="*/ 45 h 385"/>
                    <a:gd name="T14" fmla="*/ 104 w 385"/>
                    <a:gd name="T15" fmla="*/ 27 h 385"/>
                    <a:gd name="T16" fmla="*/ 115 w 385"/>
                    <a:gd name="T17" fmla="*/ 14 h 385"/>
                    <a:gd name="T18" fmla="*/ 137 w 385"/>
                    <a:gd name="T19" fmla="*/ 4 h 385"/>
                    <a:gd name="T20" fmla="*/ 159 w 385"/>
                    <a:gd name="T21" fmla="*/ 0 h 385"/>
                    <a:gd name="T22" fmla="*/ 177 w 385"/>
                    <a:gd name="T23" fmla="*/ 1 h 385"/>
                    <a:gd name="T24" fmla="*/ 189 w 385"/>
                    <a:gd name="T25" fmla="*/ 8 h 385"/>
                    <a:gd name="T26" fmla="*/ 192 w 385"/>
                    <a:gd name="T27" fmla="*/ 19 h 385"/>
                    <a:gd name="T28" fmla="*/ 185 w 385"/>
                    <a:gd name="T29" fmla="*/ 37 h 385"/>
                    <a:gd name="T30" fmla="*/ 164 w 385"/>
                    <a:gd name="T31" fmla="*/ 59 h 385"/>
                    <a:gd name="T32" fmla="*/ 128 w 385"/>
                    <a:gd name="T33" fmla="*/ 88 h 385"/>
                    <a:gd name="T34" fmla="*/ 113 w 385"/>
                    <a:gd name="T35" fmla="*/ 101 h 385"/>
                    <a:gd name="T36" fmla="*/ 98 w 385"/>
                    <a:gd name="T37" fmla="*/ 114 h 385"/>
                    <a:gd name="T38" fmla="*/ 83 w 385"/>
                    <a:gd name="T39" fmla="*/ 127 h 385"/>
                    <a:gd name="T40" fmla="*/ 68 w 385"/>
                    <a:gd name="T41" fmla="*/ 140 h 385"/>
                    <a:gd name="T42" fmla="*/ 53 w 385"/>
                    <a:gd name="T43" fmla="*/ 153 h 385"/>
                    <a:gd name="T44" fmla="*/ 38 w 385"/>
                    <a:gd name="T45" fmla="*/ 166 h 385"/>
                    <a:gd name="T46" fmla="*/ 23 w 385"/>
                    <a:gd name="T47" fmla="*/ 179 h 385"/>
                    <a:gd name="T48" fmla="*/ 9 w 385"/>
                    <a:gd name="T49" fmla="*/ 192 h 385"/>
                    <a:gd name="T50" fmla="*/ 7 w 385"/>
                    <a:gd name="T51" fmla="*/ 188 h 385"/>
                    <a:gd name="T52" fmla="*/ 6 w 385"/>
                    <a:gd name="T53" fmla="*/ 184 h 385"/>
                    <a:gd name="T54" fmla="*/ 5 w 385"/>
                    <a:gd name="T55" fmla="*/ 180 h 385"/>
                    <a:gd name="T56" fmla="*/ 4 w 385"/>
                    <a:gd name="T57" fmla="*/ 177 h 385"/>
                    <a:gd name="T58" fmla="*/ 3 w 385"/>
                    <a:gd name="T59" fmla="*/ 172 h 385"/>
                    <a:gd name="T60" fmla="*/ 2 w 385"/>
                    <a:gd name="T61" fmla="*/ 168 h 385"/>
                    <a:gd name="T62" fmla="*/ 1 w 385"/>
                    <a:gd name="T63" fmla="*/ 165 h 385"/>
                    <a:gd name="T64" fmla="*/ 0 w 385"/>
                    <a:gd name="T65" fmla="*/ 161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3" name="Freeform 72">
                  <a:extLst>
                    <a:ext uri="{FF2B5EF4-FFF2-40B4-BE49-F238E27FC236}">
                      <a16:creationId xmlns:a16="http://schemas.microsoft.com/office/drawing/2014/main" id="{0A27892D-8B1F-C44D-86E0-3D8A005B265F}"/>
                    </a:ext>
                  </a:extLst>
                </p:cNvPr>
                <p:cNvSpPr>
                  <a:spLocks/>
                </p:cNvSpPr>
                <p:nvPr/>
              </p:nvSpPr>
              <p:spPr bwMode="auto">
                <a:xfrm>
                  <a:off x="4476" y="2996"/>
                  <a:ext cx="175" cy="174"/>
                </a:xfrm>
                <a:custGeom>
                  <a:avLst/>
                  <a:gdLst>
                    <a:gd name="T0" fmla="*/ 0 w 350"/>
                    <a:gd name="T1" fmla="*/ 144 h 347"/>
                    <a:gd name="T2" fmla="*/ 10 w 350"/>
                    <a:gd name="T3" fmla="*/ 131 h 347"/>
                    <a:gd name="T4" fmla="*/ 22 w 350"/>
                    <a:gd name="T5" fmla="*/ 115 h 347"/>
                    <a:gd name="T6" fmla="*/ 37 w 350"/>
                    <a:gd name="T7" fmla="*/ 97 h 347"/>
                    <a:gd name="T8" fmla="*/ 52 w 350"/>
                    <a:gd name="T9" fmla="*/ 79 h 347"/>
                    <a:gd name="T10" fmla="*/ 67 w 350"/>
                    <a:gd name="T11" fmla="*/ 60 h 347"/>
                    <a:gd name="T12" fmla="*/ 82 w 350"/>
                    <a:gd name="T13" fmla="*/ 43 h 347"/>
                    <a:gd name="T14" fmla="*/ 94 w 350"/>
                    <a:gd name="T15" fmla="*/ 26 h 347"/>
                    <a:gd name="T16" fmla="*/ 104 w 350"/>
                    <a:gd name="T17" fmla="*/ 14 h 347"/>
                    <a:gd name="T18" fmla="*/ 124 w 350"/>
                    <a:gd name="T19" fmla="*/ 4 h 347"/>
                    <a:gd name="T20" fmla="*/ 145 w 350"/>
                    <a:gd name="T21" fmla="*/ 0 h 347"/>
                    <a:gd name="T22" fmla="*/ 161 w 350"/>
                    <a:gd name="T23" fmla="*/ 0 h 347"/>
                    <a:gd name="T24" fmla="*/ 172 w 350"/>
                    <a:gd name="T25" fmla="*/ 6 h 347"/>
                    <a:gd name="T26" fmla="*/ 175 w 350"/>
                    <a:gd name="T27" fmla="*/ 15 h 347"/>
                    <a:gd name="T28" fmla="*/ 170 w 350"/>
                    <a:gd name="T29" fmla="*/ 30 h 347"/>
                    <a:gd name="T30" fmla="*/ 151 w 350"/>
                    <a:gd name="T31" fmla="*/ 50 h 347"/>
                    <a:gd name="T32" fmla="*/ 118 w 350"/>
                    <a:gd name="T33" fmla="*/ 75 h 347"/>
                    <a:gd name="T34" fmla="*/ 103 w 350"/>
                    <a:gd name="T35" fmla="*/ 86 h 347"/>
                    <a:gd name="T36" fmla="*/ 90 w 350"/>
                    <a:gd name="T37" fmla="*/ 99 h 347"/>
                    <a:gd name="T38" fmla="*/ 76 w 350"/>
                    <a:gd name="T39" fmla="*/ 111 h 347"/>
                    <a:gd name="T40" fmla="*/ 63 w 350"/>
                    <a:gd name="T41" fmla="*/ 123 h 347"/>
                    <a:gd name="T42" fmla="*/ 48 w 350"/>
                    <a:gd name="T43" fmla="*/ 135 h 347"/>
                    <a:gd name="T44" fmla="*/ 35 w 350"/>
                    <a:gd name="T45" fmla="*/ 149 h 347"/>
                    <a:gd name="T46" fmla="*/ 21 w 350"/>
                    <a:gd name="T47" fmla="*/ 160 h 347"/>
                    <a:gd name="T48" fmla="*/ 7 w 350"/>
                    <a:gd name="T49" fmla="*/ 174 h 347"/>
                    <a:gd name="T50" fmla="*/ 6 w 350"/>
                    <a:gd name="T51" fmla="*/ 170 h 347"/>
                    <a:gd name="T52" fmla="*/ 5 w 350"/>
                    <a:gd name="T53" fmla="*/ 166 h 347"/>
                    <a:gd name="T54" fmla="*/ 5 w 350"/>
                    <a:gd name="T55" fmla="*/ 162 h 347"/>
                    <a:gd name="T56" fmla="*/ 4 w 350"/>
                    <a:gd name="T57" fmla="*/ 159 h 347"/>
                    <a:gd name="T58" fmla="*/ 3 w 350"/>
                    <a:gd name="T59" fmla="*/ 155 h 347"/>
                    <a:gd name="T60" fmla="*/ 2 w 350"/>
                    <a:gd name="T61" fmla="*/ 151 h 347"/>
                    <a:gd name="T62" fmla="*/ 1 w 350"/>
                    <a:gd name="T63" fmla="*/ 147 h 347"/>
                    <a:gd name="T64" fmla="*/ 0 w 350"/>
                    <a:gd name="T65" fmla="*/ 144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4" name="Freeform 73">
                  <a:extLst>
                    <a:ext uri="{FF2B5EF4-FFF2-40B4-BE49-F238E27FC236}">
                      <a16:creationId xmlns:a16="http://schemas.microsoft.com/office/drawing/2014/main" id="{A6B14A40-3C9E-6547-8F6A-775528E69DD1}"/>
                    </a:ext>
                  </a:extLst>
                </p:cNvPr>
                <p:cNvSpPr>
                  <a:spLocks/>
                </p:cNvSpPr>
                <p:nvPr/>
              </p:nvSpPr>
              <p:spPr bwMode="auto">
                <a:xfrm>
                  <a:off x="4477" y="3014"/>
                  <a:ext cx="158" cy="155"/>
                </a:xfrm>
                <a:custGeom>
                  <a:avLst/>
                  <a:gdLst>
                    <a:gd name="T0" fmla="*/ 0 w 315"/>
                    <a:gd name="T1" fmla="*/ 127 h 309"/>
                    <a:gd name="T2" fmla="*/ 8 w 315"/>
                    <a:gd name="T3" fmla="*/ 115 h 309"/>
                    <a:gd name="T4" fmla="*/ 20 w 315"/>
                    <a:gd name="T5" fmla="*/ 101 h 309"/>
                    <a:gd name="T6" fmla="*/ 32 w 315"/>
                    <a:gd name="T7" fmla="*/ 86 h 309"/>
                    <a:gd name="T8" fmla="*/ 47 w 315"/>
                    <a:gd name="T9" fmla="*/ 70 h 309"/>
                    <a:gd name="T10" fmla="*/ 60 w 315"/>
                    <a:gd name="T11" fmla="*/ 54 h 309"/>
                    <a:gd name="T12" fmla="*/ 72 w 315"/>
                    <a:gd name="T13" fmla="*/ 39 h 309"/>
                    <a:gd name="T14" fmla="*/ 84 w 315"/>
                    <a:gd name="T15" fmla="*/ 25 h 309"/>
                    <a:gd name="T16" fmla="*/ 93 w 315"/>
                    <a:gd name="T17" fmla="*/ 14 h 309"/>
                    <a:gd name="T18" fmla="*/ 111 w 315"/>
                    <a:gd name="T19" fmla="*/ 5 h 309"/>
                    <a:gd name="T20" fmla="*/ 129 w 315"/>
                    <a:gd name="T21" fmla="*/ 1 h 309"/>
                    <a:gd name="T22" fmla="*/ 144 w 315"/>
                    <a:gd name="T23" fmla="*/ 0 h 309"/>
                    <a:gd name="T24" fmla="*/ 154 w 315"/>
                    <a:gd name="T25" fmla="*/ 4 h 309"/>
                    <a:gd name="T26" fmla="*/ 158 w 315"/>
                    <a:gd name="T27" fmla="*/ 11 h 309"/>
                    <a:gd name="T28" fmla="*/ 153 w 315"/>
                    <a:gd name="T29" fmla="*/ 24 h 309"/>
                    <a:gd name="T30" fmla="*/ 136 w 315"/>
                    <a:gd name="T31" fmla="*/ 40 h 309"/>
                    <a:gd name="T32" fmla="*/ 109 w 315"/>
                    <a:gd name="T33" fmla="*/ 63 h 309"/>
                    <a:gd name="T34" fmla="*/ 96 w 315"/>
                    <a:gd name="T35" fmla="*/ 74 h 309"/>
                    <a:gd name="T36" fmla="*/ 82 w 315"/>
                    <a:gd name="T37" fmla="*/ 85 h 309"/>
                    <a:gd name="T38" fmla="*/ 70 w 315"/>
                    <a:gd name="T39" fmla="*/ 97 h 309"/>
                    <a:gd name="T40" fmla="*/ 58 w 315"/>
                    <a:gd name="T41" fmla="*/ 108 h 309"/>
                    <a:gd name="T42" fmla="*/ 45 w 315"/>
                    <a:gd name="T43" fmla="*/ 120 h 309"/>
                    <a:gd name="T44" fmla="*/ 32 w 315"/>
                    <a:gd name="T45" fmla="*/ 131 h 309"/>
                    <a:gd name="T46" fmla="*/ 20 w 315"/>
                    <a:gd name="T47" fmla="*/ 143 h 309"/>
                    <a:gd name="T48" fmla="*/ 7 w 315"/>
                    <a:gd name="T49" fmla="*/ 155 h 309"/>
                    <a:gd name="T50" fmla="*/ 6 w 315"/>
                    <a:gd name="T51" fmla="*/ 151 h 309"/>
                    <a:gd name="T52" fmla="*/ 5 w 315"/>
                    <a:gd name="T53" fmla="*/ 147 h 309"/>
                    <a:gd name="T54" fmla="*/ 3 w 315"/>
                    <a:gd name="T55" fmla="*/ 144 h 309"/>
                    <a:gd name="T56" fmla="*/ 3 w 315"/>
                    <a:gd name="T57" fmla="*/ 140 h 309"/>
                    <a:gd name="T58" fmla="*/ 1 w 315"/>
                    <a:gd name="T59" fmla="*/ 134 h 309"/>
                    <a:gd name="T60" fmla="*/ 0 w 315"/>
                    <a:gd name="T61" fmla="*/ 127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5" name="Freeform 74">
                  <a:extLst>
                    <a:ext uri="{FF2B5EF4-FFF2-40B4-BE49-F238E27FC236}">
                      <a16:creationId xmlns:a16="http://schemas.microsoft.com/office/drawing/2014/main" id="{76A86944-CDD8-BE4A-BAFE-FB385A7834AE}"/>
                    </a:ext>
                  </a:extLst>
                </p:cNvPr>
                <p:cNvSpPr>
                  <a:spLocks/>
                </p:cNvSpPr>
                <p:nvPr/>
              </p:nvSpPr>
              <p:spPr bwMode="auto">
                <a:xfrm>
                  <a:off x="4478" y="3031"/>
                  <a:ext cx="141" cy="136"/>
                </a:xfrm>
                <a:custGeom>
                  <a:avLst/>
                  <a:gdLst>
                    <a:gd name="T0" fmla="*/ 0 w 282"/>
                    <a:gd name="T1" fmla="*/ 112 h 272"/>
                    <a:gd name="T2" fmla="*/ 7 w 282"/>
                    <a:gd name="T3" fmla="*/ 100 h 272"/>
                    <a:gd name="T4" fmla="*/ 18 w 282"/>
                    <a:gd name="T5" fmla="*/ 88 h 272"/>
                    <a:gd name="T6" fmla="*/ 28 w 282"/>
                    <a:gd name="T7" fmla="*/ 75 h 272"/>
                    <a:gd name="T8" fmla="*/ 41 w 282"/>
                    <a:gd name="T9" fmla="*/ 63 h 272"/>
                    <a:gd name="T10" fmla="*/ 53 w 282"/>
                    <a:gd name="T11" fmla="*/ 49 h 272"/>
                    <a:gd name="T12" fmla="*/ 64 w 282"/>
                    <a:gd name="T13" fmla="*/ 37 h 272"/>
                    <a:gd name="T14" fmla="*/ 74 w 282"/>
                    <a:gd name="T15" fmla="*/ 25 h 272"/>
                    <a:gd name="T16" fmla="*/ 83 w 282"/>
                    <a:gd name="T17" fmla="*/ 15 h 272"/>
                    <a:gd name="T18" fmla="*/ 100 w 282"/>
                    <a:gd name="T19" fmla="*/ 7 h 272"/>
                    <a:gd name="T20" fmla="*/ 116 w 282"/>
                    <a:gd name="T21" fmla="*/ 2 h 272"/>
                    <a:gd name="T22" fmla="*/ 130 w 282"/>
                    <a:gd name="T23" fmla="*/ 0 h 272"/>
                    <a:gd name="T24" fmla="*/ 139 w 282"/>
                    <a:gd name="T25" fmla="*/ 2 h 272"/>
                    <a:gd name="T26" fmla="*/ 141 w 282"/>
                    <a:gd name="T27" fmla="*/ 9 h 272"/>
                    <a:gd name="T28" fmla="*/ 138 w 282"/>
                    <a:gd name="T29" fmla="*/ 18 h 272"/>
                    <a:gd name="T30" fmla="*/ 123 w 282"/>
                    <a:gd name="T31" fmla="*/ 31 h 272"/>
                    <a:gd name="T32" fmla="*/ 100 w 282"/>
                    <a:gd name="T33" fmla="*/ 51 h 272"/>
                    <a:gd name="T34" fmla="*/ 88 w 282"/>
                    <a:gd name="T35" fmla="*/ 61 h 272"/>
                    <a:gd name="T36" fmla="*/ 76 w 282"/>
                    <a:gd name="T37" fmla="*/ 71 h 272"/>
                    <a:gd name="T38" fmla="*/ 65 w 282"/>
                    <a:gd name="T39" fmla="*/ 82 h 272"/>
                    <a:gd name="T40" fmla="*/ 53 w 282"/>
                    <a:gd name="T41" fmla="*/ 93 h 272"/>
                    <a:gd name="T42" fmla="*/ 41 w 282"/>
                    <a:gd name="T43" fmla="*/ 104 h 272"/>
                    <a:gd name="T44" fmla="*/ 30 w 282"/>
                    <a:gd name="T45" fmla="*/ 115 h 272"/>
                    <a:gd name="T46" fmla="*/ 18 w 282"/>
                    <a:gd name="T47" fmla="*/ 125 h 272"/>
                    <a:gd name="T48" fmla="*/ 7 w 282"/>
                    <a:gd name="T49" fmla="*/ 136 h 272"/>
                    <a:gd name="T50" fmla="*/ 5 w 282"/>
                    <a:gd name="T51" fmla="*/ 130 h 272"/>
                    <a:gd name="T52" fmla="*/ 3 w 282"/>
                    <a:gd name="T53" fmla="*/ 123 h 272"/>
                    <a:gd name="T54" fmla="*/ 1 w 282"/>
                    <a:gd name="T55" fmla="*/ 117 h 272"/>
                    <a:gd name="T56" fmla="*/ 0 w 282"/>
                    <a:gd name="T57" fmla="*/ 112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6" name="Freeform 75">
                  <a:extLst>
                    <a:ext uri="{FF2B5EF4-FFF2-40B4-BE49-F238E27FC236}">
                      <a16:creationId xmlns:a16="http://schemas.microsoft.com/office/drawing/2014/main" id="{173CA247-91C7-E245-A5A4-6A7F89732AB0}"/>
                    </a:ext>
                  </a:extLst>
                </p:cNvPr>
                <p:cNvSpPr>
                  <a:spLocks/>
                </p:cNvSpPr>
                <p:nvPr/>
              </p:nvSpPr>
              <p:spPr bwMode="auto">
                <a:xfrm>
                  <a:off x="4480" y="3047"/>
                  <a:ext cx="124" cy="119"/>
                </a:xfrm>
                <a:custGeom>
                  <a:avLst/>
                  <a:gdLst>
                    <a:gd name="T0" fmla="*/ 0 w 248"/>
                    <a:gd name="T1" fmla="*/ 96 h 238"/>
                    <a:gd name="T2" fmla="*/ 7 w 248"/>
                    <a:gd name="T3" fmla="*/ 86 h 238"/>
                    <a:gd name="T4" fmla="*/ 15 w 248"/>
                    <a:gd name="T5" fmla="*/ 76 h 238"/>
                    <a:gd name="T6" fmla="*/ 25 w 248"/>
                    <a:gd name="T7" fmla="*/ 66 h 238"/>
                    <a:gd name="T8" fmla="*/ 35 w 248"/>
                    <a:gd name="T9" fmla="*/ 56 h 238"/>
                    <a:gd name="T10" fmla="*/ 45 w 248"/>
                    <a:gd name="T11" fmla="*/ 45 h 238"/>
                    <a:gd name="T12" fmla="*/ 55 w 248"/>
                    <a:gd name="T13" fmla="*/ 35 h 238"/>
                    <a:gd name="T14" fmla="*/ 64 w 248"/>
                    <a:gd name="T15" fmla="*/ 25 h 238"/>
                    <a:gd name="T16" fmla="*/ 72 w 248"/>
                    <a:gd name="T17" fmla="*/ 17 h 238"/>
                    <a:gd name="T18" fmla="*/ 87 w 248"/>
                    <a:gd name="T19" fmla="*/ 8 h 238"/>
                    <a:gd name="T20" fmla="*/ 102 w 248"/>
                    <a:gd name="T21" fmla="*/ 3 h 238"/>
                    <a:gd name="T22" fmla="*/ 114 w 248"/>
                    <a:gd name="T23" fmla="*/ 0 h 238"/>
                    <a:gd name="T24" fmla="*/ 122 w 248"/>
                    <a:gd name="T25" fmla="*/ 2 h 238"/>
                    <a:gd name="T26" fmla="*/ 124 w 248"/>
                    <a:gd name="T27" fmla="*/ 5 h 238"/>
                    <a:gd name="T28" fmla="*/ 121 w 248"/>
                    <a:gd name="T29" fmla="*/ 12 h 238"/>
                    <a:gd name="T30" fmla="*/ 110 w 248"/>
                    <a:gd name="T31" fmla="*/ 24 h 238"/>
                    <a:gd name="T32" fmla="*/ 91 w 248"/>
                    <a:gd name="T33" fmla="*/ 40 h 238"/>
                    <a:gd name="T34" fmla="*/ 79 w 248"/>
                    <a:gd name="T35" fmla="*/ 50 h 238"/>
                    <a:gd name="T36" fmla="*/ 69 w 248"/>
                    <a:gd name="T37" fmla="*/ 59 h 238"/>
                    <a:gd name="T38" fmla="*/ 58 w 248"/>
                    <a:gd name="T39" fmla="*/ 69 h 238"/>
                    <a:gd name="T40" fmla="*/ 48 w 248"/>
                    <a:gd name="T41" fmla="*/ 80 h 238"/>
                    <a:gd name="T42" fmla="*/ 37 w 248"/>
                    <a:gd name="T43" fmla="*/ 89 h 238"/>
                    <a:gd name="T44" fmla="*/ 27 w 248"/>
                    <a:gd name="T45" fmla="*/ 99 h 238"/>
                    <a:gd name="T46" fmla="*/ 16 w 248"/>
                    <a:gd name="T47" fmla="*/ 109 h 238"/>
                    <a:gd name="T48" fmla="*/ 5 w 248"/>
                    <a:gd name="T49" fmla="*/ 119 h 238"/>
                    <a:gd name="T50" fmla="*/ 3 w 248"/>
                    <a:gd name="T51" fmla="*/ 113 h 238"/>
                    <a:gd name="T52" fmla="*/ 3 w 248"/>
                    <a:gd name="T53" fmla="*/ 107 h 238"/>
                    <a:gd name="T54" fmla="*/ 1 w 248"/>
                    <a:gd name="T55" fmla="*/ 102 h 238"/>
                    <a:gd name="T56" fmla="*/ 0 w 248"/>
                    <a:gd name="T57" fmla="*/ 96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7" name="Freeform 76">
                  <a:extLst>
                    <a:ext uri="{FF2B5EF4-FFF2-40B4-BE49-F238E27FC236}">
                      <a16:creationId xmlns:a16="http://schemas.microsoft.com/office/drawing/2014/main" id="{484D5B98-558C-6649-B3D9-BAA5A05E98C1}"/>
                    </a:ext>
                  </a:extLst>
                </p:cNvPr>
                <p:cNvSpPr>
                  <a:spLocks/>
                </p:cNvSpPr>
                <p:nvPr/>
              </p:nvSpPr>
              <p:spPr bwMode="auto">
                <a:xfrm>
                  <a:off x="4481" y="3064"/>
                  <a:ext cx="107" cy="100"/>
                </a:xfrm>
                <a:custGeom>
                  <a:avLst/>
                  <a:gdLst>
                    <a:gd name="T0" fmla="*/ 0 w 215"/>
                    <a:gd name="T1" fmla="*/ 80 h 200"/>
                    <a:gd name="T2" fmla="*/ 6 w 215"/>
                    <a:gd name="T3" fmla="*/ 72 h 200"/>
                    <a:gd name="T4" fmla="*/ 13 w 215"/>
                    <a:gd name="T5" fmla="*/ 64 h 200"/>
                    <a:gd name="T6" fmla="*/ 21 w 215"/>
                    <a:gd name="T7" fmla="*/ 55 h 200"/>
                    <a:gd name="T8" fmla="*/ 31 w 215"/>
                    <a:gd name="T9" fmla="*/ 48 h 200"/>
                    <a:gd name="T10" fmla="*/ 39 w 215"/>
                    <a:gd name="T11" fmla="*/ 40 h 200"/>
                    <a:gd name="T12" fmla="*/ 47 w 215"/>
                    <a:gd name="T13" fmla="*/ 33 h 200"/>
                    <a:gd name="T14" fmla="*/ 54 w 215"/>
                    <a:gd name="T15" fmla="*/ 25 h 200"/>
                    <a:gd name="T16" fmla="*/ 61 w 215"/>
                    <a:gd name="T17" fmla="*/ 18 h 200"/>
                    <a:gd name="T18" fmla="*/ 75 w 215"/>
                    <a:gd name="T19" fmla="*/ 10 h 200"/>
                    <a:gd name="T20" fmla="*/ 88 w 215"/>
                    <a:gd name="T21" fmla="*/ 5 h 200"/>
                    <a:gd name="T22" fmla="*/ 98 w 215"/>
                    <a:gd name="T23" fmla="*/ 1 h 200"/>
                    <a:gd name="T24" fmla="*/ 105 w 215"/>
                    <a:gd name="T25" fmla="*/ 0 h 200"/>
                    <a:gd name="T26" fmla="*/ 107 w 215"/>
                    <a:gd name="T27" fmla="*/ 1 h 200"/>
                    <a:gd name="T28" fmla="*/ 105 w 215"/>
                    <a:gd name="T29" fmla="*/ 6 h 200"/>
                    <a:gd name="T30" fmla="*/ 96 w 215"/>
                    <a:gd name="T31" fmla="*/ 15 h 200"/>
                    <a:gd name="T32" fmla="*/ 82 w 215"/>
                    <a:gd name="T33" fmla="*/ 28 h 200"/>
                    <a:gd name="T34" fmla="*/ 71 w 215"/>
                    <a:gd name="T35" fmla="*/ 37 h 200"/>
                    <a:gd name="T36" fmla="*/ 62 w 215"/>
                    <a:gd name="T37" fmla="*/ 46 h 200"/>
                    <a:gd name="T38" fmla="*/ 53 w 215"/>
                    <a:gd name="T39" fmla="*/ 54 h 200"/>
                    <a:gd name="T40" fmla="*/ 43 w 215"/>
                    <a:gd name="T41" fmla="*/ 64 h 200"/>
                    <a:gd name="T42" fmla="*/ 34 w 215"/>
                    <a:gd name="T43" fmla="*/ 73 h 200"/>
                    <a:gd name="T44" fmla="*/ 24 w 215"/>
                    <a:gd name="T45" fmla="*/ 82 h 200"/>
                    <a:gd name="T46" fmla="*/ 14 w 215"/>
                    <a:gd name="T47" fmla="*/ 91 h 200"/>
                    <a:gd name="T48" fmla="*/ 5 w 215"/>
                    <a:gd name="T49" fmla="*/ 100 h 200"/>
                    <a:gd name="T50" fmla="*/ 4 w 215"/>
                    <a:gd name="T51" fmla="*/ 95 h 200"/>
                    <a:gd name="T52" fmla="*/ 2 w 215"/>
                    <a:gd name="T53" fmla="*/ 90 h 200"/>
                    <a:gd name="T54" fmla="*/ 1 w 215"/>
                    <a:gd name="T55" fmla="*/ 85 h 200"/>
                    <a:gd name="T56" fmla="*/ 0 w 215"/>
                    <a:gd name="T57" fmla="*/ 8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8" name="Freeform 77">
                  <a:extLst>
                    <a:ext uri="{FF2B5EF4-FFF2-40B4-BE49-F238E27FC236}">
                      <a16:creationId xmlns:a16="http://schemas.microsoft.com/office/drawing/2014/main" id="{6E662AAB-F246-5040-90CD-6ED7AE90FECA}"/>
                    </a:ext>
                  </a:extLst>
                </p:cNvPr>
                <p:cNvSpPr>
                  <a:spLocks/>
                </p:cNvSpPr>
                <p:nvPr/>
              </p:nvSpPr>
              <p:spPr bwMode="auto">
                <a:xfrm>
                  <a:off x="4482" y="3078"/>
                  <a:ext cx="91" cy="86"/>
                </a:xfrm>
                <a:custGeom>
                  <a:avLst/>
                  <a:gdLst>
                    <a:gd name="T0" fmla="*/ 0 w 181"/>
                    <a:gd name="T1" fmla="*/ 67 h 170"/>
                    <a:gd name="T2" fmla="*/ 5 w 181"/>
                    <a:gd name="T3" fmla="*/ 60 h 170"/>
                    <a:gd name="T4" fmla="*/ 12 w 181"/>
                    <a:gd name="T5" fmla="*/ 54 h 170"/>
                    <a:gd name="T6" fmla="*/ 18 w 181"/>
                    <a:gd name="T7" fmla="*/ 48 h 170"/>
                    <a:gd name="T8" fmla="*/ 25 w 181"/>
                    <a:gd name="T9" fmla="*/ 44 h 170"/>
                    <a:gd name="T10" fmla="*/ 32 w 181"/>
                    <a:gd name="T11" fmla="*/ 38 h 170"/>
                    <a:gd name="T12" fmla="*/ 38 w 181"/>
                    <a:gd name="T13" fmla="*/ 33 h 170"/>
                    <a:gd name="T14" fmla="*/ 44 w 181"/>
                    <a:gd name="T15" fmla="*/ 26 h 170"/>
                    <a:gd name="T16" fmla="*/ 50 w 181"/>
                    <a:gd name="T17" fmla="*/ 21 h 170"/>
                    <a:gd name="T18" fmla="*/ 62 w 181"/>
                    <a:gd name="T19" fmla="*/ 13 h 170"/>
                    <a:gd name="T20" fmla="*/ 74 w 181"/>
                    <a:gd name="T21" fmla="*/ 8 h 170"/>
                    <a:gd name="T22" fmla="*/ 82 w 181"/>
                    <a:gd name="T23" fmla="*/ 3 h 170"/>
                    <a:gd name="T24" fmla="*/ 89 w 181"/>
                    <a:gd name="T25" fmla="*/ 1 h 170"/>
                    <a:gd name="T26" fmla="*/ 91 w 181"/>
                    <a:gd name="T27" fmla="*/ 0 h 170"/>
                    <a:gd name="T28" fmla="*/ 89 w 181"/>
                    <a:gd name="T29" fmla="*/ 3 h 170"/>
                    <a:gd name="T30" fmla="*/ 83 w 181"/>
                    <a:gd name="T31" fmla="*/ 9 h 170"/>
                    <a:gd name="T32" fmla="*/ 72 w 181"/>
                    <a:gd name="T33" fmla="*/ 19 h 170"/>
                    <a:gd name="T34" fmla="*/ 63 w 181"/>
                    <a:gd name="T35" fmla="*/ 26 h 170"/>
                    <a:gd name="T36" fmla="*/ 55 w 181"/>
                    <a:gd name="T37" fmla="*/ 35 h 170"/>
                    <a:gd name="T38" fmla="*/ 47 w 181"/>
                    <a:gd name="T39" fmla="*/ 43 h 170"/>
                    <a:gd name="T40" fmla="*/ 38 w 181"/>
                    <a:gd name="T41" fmla="*/ 52 h 170"/>
                    <a:gd name="T42" fmla="*/ 30 w 181"/>
                    <a:gd name="T43" fmla="*/ 60 h 170"/>
                    <a:gd name="T44" fmla="*/ 22 w 181"/>
                    <a:gd name="T45" fmla="*/ 69 h 170"/>
                    <a:gd name="T46" fmla="*/ 13 w 181"/>
                    <a:gd name="T47" fmla="*/ 77 h 170"/>
                    <a:gd name="T48" fmla="*/ 5 w 181"/>
                    <a:gd name="T49" fmla="*/ 86 h 170"/>
                    <a:gd name="T50" fmla="*/ 3 w 181"/>
                    <a:gd name="T51" fmla="*/ 81 h 170"/>
                    <a:gd name="T52" fmla="*/ 2 w 181"/>
                    <a:gd name="T53" fmla="*/ 76 h 170"/>
                    <a:gd name="T54" fmla="*/ 1 w 181"/>
                    <a:gd name="T55" fmla="*/ 71 h 170"/>
                    <a:gd name="T56" fmla="*/ 0 w 181"/>
                    <a:gd name="T57" fmla="*/ 67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99" name="Freeform 78">
                  <a:extLst>
                    <a:ext uri="{FF2B5EF4-FFF2-40B4-BE49-F238E27FC236}">
                      <a16:creationId xmlns:a16="http://schemas.microsoft.com/office/drawing/2014/main" id="{2B2B48AD-ED03-2A4A-A9B8-7E15A64E6B6C}"/>
                    </a:ext>
                  </a:extLst>
                </p:cNvPr>
                <p:cNvSpPr>
                  <a:spLocks/>
                </p:cNvSpPr>
                <p:nvPr/>
              </p:nvSpPr>
              <p:spPr bwMode="auto">
                <a:xfrm>
                  <a:off x="4355" y="3100"/>
                  <a:ext cx="426" cy="323"/>
                </a:xfrm>
                <a:custGeom>
                  <a:avLst/>
                  <a:gdLst>
                    <a:gd name="T0" fmla="*/ 417 w 852"/>
                    <a:gd name="T1" fmla="*/ 104 h 647"/>
                    <a:gd name="T2" fmla="*/ 426 w 852"/>
                    <a:gd name="T3" fmla="*/ 203 h 647"/>
                    <a:gd name="T4" fmla="*/ 421 w 852"/>
                    <a:gd name="T5" fmla="*/ 279 h 647"/>
                    <a:gd name="T6" fmla="*/ 393 w 852"/>
                    <a:gd name="T7" fmla="*/ 319 h 647"/>
                    <a:gd name="T8" fmla="*/ 295 w 852"/>
                    <a:gd name="T9" fmla="*/ 319 h 647"/>
                    <a:gd name="T10" fmla="*/ 197 w 852"/>
                    <a:gd name="T11" fmla="*/ 313 h 647"/>
                    <a:gd name="T12" fmla="*/ 137 w 852"/>
                    <a:gd name="T13" fmla="*/ 288 h 647"/>
                    <a:gd name="T14" fmla="*/ 74 w 852"/>
                    <a:gd name="T15" fmla="*/ 220 h 647"/>
                    <a:gd name="T16" fmla="*/ 15 w 852"/>
                    <a:gd name="T17" fmla="*/ 155 h 647"/>
                    <a:gd name="T18" fmla="*/ 0 w 852"/>
                    <a:gd name="T19" fmla="*/ 135 h 647"/>
                    <a:gd name="T20" fmla="*/ 7 w 852"/>
                    <a:gd name="T21" fmla="*/ 118 h 647"/>
                    <a:gd name="T22" fmla="*/ 28 w 852"/>
                    <a:gd name="T23" fmla="*/ 109 h 647"/>
                    <a:gd name="T24" fmla="*/ 37 w 852"/>
                    <a:gd name="T25" fmla="*/ 95 h 647"/>
                    <a:gd name="T26" fmla="*/ 31 w 852"/>
                    <a:gd name="T27" fmla="*/ 68 h 647"/>
                    <a:gd name="T28" fmla="*/ 41 w 852"/>
                    <a:gd name="T29" fmla="*/ 51 h 647"/>
                    <a:gd name="T30" fmla="*/ 63 w 852"/>
                    <a:gd name="T31" fmla="*/ 47 h 647"/>
                    <a:gd name="T32" fmla="*/ 67 w 852"/>
                    <a:gd name="T33" fmla="*/ 32 h 647"/>
                    <a:gd name="T34" fmla="*/ 68 w 852"/>
                    <a:gd name="T35" fmla="*/ 5 h 647"/>
                    <a:gd name="T36" fmla="*/ 92 w 852"/>
                    <a:gd name="T37" fmla="*/ 1 h 647"/>
                    <a:gd name="T38" fmla="*/ 127 w 852"/>
                    <a:gd name="T39" fmla="*/ 25 h 647"/>
                    <a:gd name="T40" fmla="*/ 147 w 852"/>
                    <a:gd name="T41" fmla="*/ 59 h 647"/>
                    <a:gd name="T42" fmla="*/ 150 w 852"/>
                    <a:gd name="T43" fmla="*/ 77 h 647"/>
                    <a:gd name="T44" fmla="*/ 154 w 852"/>
                    <a:gd name="T45" fmla="*/ 95 h 647"/>
                    <a:gd name="T46" fmla="*/ 158 w 852"/>
                    <a:gd name="T47" fmla="*/ 114 h 647"/>
                    <a:gd name="T48" fmla="*/ 179 w 852"/>
                    <a:gd name="T49" fmla="*/ 151 h 647"/>
                    <a:gd name="T50" fmla="*/ 204 w 852"/>
                    <a:gd name="T51" fmla="*/ 185 h 647"/>
                    <a:gd name="T52" fmla="*/ 228 w 852"/>
                    <a:gd name="T53" fmla="*/ 197 h 647"/>
                    <a:gd name="T54" fmla="*/ 271 w 852"/>
                    <a:gd name="T55" fmla="*/ 197 h 647"/>
                    <a:gd name="T56" fmla="*/ 297 w 852"/>
                    <a:gd name="T57" fmla="*/ 183 h 647"/>
                    <a:gd name="T58" fmla="*/ 282 w 852"/>
                    <a:gd name="T59" fmla="*/ 163 h 647"/>
                    <a:gd name="T60" fmla="*/ 268 w 852"/>
                    <a:gd name="T61" fmla="*/ 145 h 647"/>
                    <a:gd name="T62" fmla="*/ 252 w 852"/>
                    <a:gd name="T63" fmla="*/ 126 h 647"/>
                    <a:gd name="T64" fmla="*/ 253 w 852"/>
                    <a:gd name="T65" fmla="*/ 88 h 647"/>
                    <a:gd name="T66" fmla="*/ 289 w 852"/>
                    <a:gd name="T67" fmla="*/ 48 h 647"/>
                    <a:gd name="T68" fmla="*/ 340 w 852"/>
                    <a:gd name="T69" fmla="*/ 26 h 647"/>
                    <a:gd name="T70" fmla="*/ 390 w 852"/>
                    <a:gd name="T71" fmla="*/ 33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0" name="Freeform 79">
                  <a:extLst>
                    <a:ext uri="{FF2B5EF4-FFF2-40B4-BE49-F238E27FC236}">
                      <a16:creationId xmlns:a16="http://schemas.microsoft.com/office/drawing/2014/main" id="{DD98DFEE-179A-FF4C-9439-69827C891B99}"/>
                    </a:ext>
                  </a:extLst>
                </p:cNvPr>
                <p:cNvSpPr>
                  <a:spLocks/>
                </p:cNvSpPr>
                <p:nvPr/>
              </p:nvSpPr>
              <p:spPr bwMode="auto">
                <a:xfrm>
                  <a:off x="4361" y="3112"/>
                  <a:ext cx="413" cy="303"/>
                </a:xfrm>
                <a:custGeom>
                  <a:avLst/>
                  <a:gdLst>
                    <a:gd name="T0" fmla="*/ 401 w 825"/>
                    <a:gd name="T1" fmla="*/ 94 h 607"/>
                    <a:gd name="T2" fmla="*/ 412 w 825"/>
                    <a:gd name="T3" fmla="*/ 189 h 607"/>
                    <a:gd name="T4" fmla="*/ 408 w 825"/>
                    <a:gd name="T5" fmla="*/ 260 h 607"/>
                    <a:gd name="T6" fmla="*/ 381 w 825"/>
                    <a:gd name="T7" fmla="*/ 298 h 607"/>
                    <a:gd name="T8" fmla="*/ 282 w 825"/>
                    <a:gd name="T9" fmla="*/ 299 h 607"/>
                    <a:gd name="T10" fmla="*/ 186 w 825"/>
                    <a:gd name="T11" fmla="*/ 290 h 607"/>
                    <a:gd name="T12" fmla="*/ 128 w 825"/>
                    <a:gd name="T13" fmla="*/ 264 h 607"/>
                    <a:gd name="T14" fmla="*/ 70 w 825"/>
                    <a:gd name="T15" fmla="*/ 203 h 607"/>
                    <a:gd name="T16" fmla="*/ 15 w 825"/>
                    <a:gd name="T17" fmla="*/ 145 h 607"/>
                    <a:gd name="T18" fmla="*/ 0 w 825"/>
                    <a:gd name="T19" fmla="*/ 126 h 607"/>
                    <a:gd name="T20" fmla="*/ 7 w 825"/>
                    <a:gd name="T21" fmla="*/ 108 h 607"/>
                    <a:gd name="T22" fmla="*/ 28 w 825"/>
                    <a:gd name="T23" fmla="*/ 99 h 607"/>
                    <a:gd name="T24" fmla="*/ 37 w 825"/>
                    <a:gd name="T25" fmla="*/ 85 h 607"/>
                    <a:gd name="T26" fmla="*/ 33 w 825"/>
                    <a:gd name="T27" fmla="*/ 60 h 607"/>
                    <a:gd name="T28" fmla="*/ 43 w 825"/>
                    <a:gd name="T29" fmla="*/ 44 h 607"/>
                    <a:gd name="T30" fmla="*/ 64 w 825"/>
                    <a:gd name="T31" fmla="*/ 42 h 607"/>
                    <a:gd name="T32" fmla="*/ 68 w 825"/>
                    <a:gd name="T33" fmla="*/ 29 h 607"/>
                    <a:gd name="T34" fmla="*/ 69 w 825"/>
                    <a:gd name="T35" fmla="*/ 4 h 607"/>
                    <a:gd name="T36" fmla="*/ 92 w 825"/>
                    <a:gd name="T37" fmla="*/ 2 h 607"/>
                    <a:gd name="T38" fmla="*/ 123 w 825"/>
                    <a:gd name="T39" fmla="*/ 26 h 607"/>
                    <a:gd name="T40" fmla="*/ 141 w 825"/>
                    <a:gd name="T41" fmla="*/ 57 h 607"/>
                    <a:gd name="T42" fmla="*/ 144 w 825"/>
                    <a:gd name="T43" fmla="*/ 72 h 607"/>
                    <a:gd name="T44" fmla="*/ 148 w 825"/>
                    <a:gd name="T45" fmla="*/ 86 h 607"/>
                    <a:gd name="T46" fmla="*/ 151 w 825"/>
                    <a:gd name="T47" fmla="*/ 102 h 607"/>
                    <a:gd name="T48" fmla="*/ 171 w 825"/>
                    <a:gd name="T49" fmla="*/ 139 h 607"/>
                    <a:gd name="T50" fmla="*/ 197 w 825"/>
                    <a:gd name="T51" fmla="*/ 174 h 607"/>
                    <a:gd name="T52" fmla="*/ 224 w 825"/>
                    <a:gd name="T53" fmla="*/ 187 h 607"/>
                    <a:gd name="T54" fmla="*/ 268 w 825"/>
                    <a:gd name="T55" fmla="*/ 187 h 607"/>
                    <a:gd name="T56" fmla="*/ 294 w 825"/>
                    <a:gd name="T57" fmla="*/ 173 h 607"/>
                    <a:gd name="T58" fmla="*/ 279 w 825"/>
                    <a:gd name="T59" fmla="*/ 152 h 607"/>
                    <a:gd name="T60" fmla="*/ 264 w 825"/>
                    <a:gd name="T61" fmla="*/ 133 h 607"/>
                    <a:gd name="T62" fmla="*/ 250 w 825"/>
                    <a:gd name="T63" fmla="*/ 112 h 607"/>
                    <a:gd name="T64" fmla="*/ 249 w 825"/>
                    <a:gd name="T65" fmla="*/ 75 h 607"/>
                    <a:gd name="T66" fmla="*/ 282 w 825"/>
                    <a:gd name="T67" fmla="*/ 36 h 607"/>
                    <a:gd name="T68" fmla="*/ 328 w 825"/>
                    <a:gd name="T69" fmla="*/ 16 h 607"/>
                    <a:gd name="T70" fmla="*/ 374 w 825"/>
                    <a:gd name="T71" fmla="*/ 24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1" name="Freeform 80">
                  <a:extLst>
                    <a:ext uri="{FF2B5EF4-FFF2-40B4-BE49-F238E27FC236}">
                      <a16:creationId xmlns:a16="http://schemas.microsoft.com/office/drawing/2014/main" id="{92009E6F-9981-7046-8970-B9AC3265D1D7}"/>
                    </a:ext>
                  </a:extLst>
                </p:cNvPr>
                <p:cNvSpPr>
                  <a:spLocks/>
                </p:cNvSpPr>
                <p:nvPr/>
              </p:nvSpPr>
              <p:spPr bwMode="auto">
                <a:xfrm>
                  <a:off x="4367" y="3123"/>
                  <a:ext cx="402" cy="284"/>
                </a:xfrm>
                <a:custGeom>
                  <a:avLst/>
                  <a:gdLst>
                    <a:gd name="T0" fmla="*/ 387 w 804"/>
                    <a:gd name="T1" fmla="*/ 86 h 569"/>
                    <a:gd name="T2" fmla="*/ 400 w 804"/>
                    <a:gd name="T3" fmla="*/ 176 h 569"/>
                    <a:gd name="T4" fmla="*/ 399 w 804"/>
                    <a:gd name="T5" fmla="*/ 242 h 569"/>
                    <a:gd name="T6" fmla="*/ 372 w 804"/>
                    <a:gd name="T7" fmla="*/ 278 h 569"/>
                    <a:gd name="T8" fmla="*/ 272 w 804"/>
                    <a:gd name="T9" fmla="*/ 279 h 569"/>
                    <a:gd name="T10" fmla="*/ 176 w 804"/>
                    <a:gd name="T11" fmla="*/ 267 h 569"/>
                    <a:gd name="T12" fmla="*/ 118 w 804"/>
                    <a:gd name="T13" fmla="*/ 241 h 569"/>
                    <a:gd name="T14" fmla="*/ 67 w 804"/>
                    <a:gd name="T15" fmla="*/ 185 h 569"/>
                    <a:gd name="T16" fmla="*/ 15 w 804"/>
                    <a:gd name="T17" fmla="*/ 134 h 569"/>
                    <a:gd name="T18" fmla="*/ 0 w 804"/>
                    <a:gd name="T19" fmla="*/ 116 h 569"/>
                    <a:gd name="T20" fmla="*/ 6 w 804"/>
                    <a:gd name="T21" fmla="*/ 98 h 569"/>
                    <a:gd name="T22" fmla="*/ 28 w 804"/>
                    <a:gd name="T23" fmla="*/ 89 h 569"/>
                    <a:gd name="T24" fmla="*/ 37 w 804"/>
                    <a:gd name="T25" fmla="*/ 76 h 569"/>
                    <a:gd name="T26" fmla="*/ 34 w 804"/>
                    <a:gd name="T27" fmla="*/ 52 h 569"/>
                    <a:gd name="T28" fmla="*/ 45 w 804"/>
                    <a:gd name="T29" fmla="*/ 38 h 569"/>
                    <a:gd name="T30" fmla="*/ 65 w 804"/>
                    <a:gd name="T31" fmla="*/ 38 h 569"/>
                    <a:gd name="T32" fmla="*/ 68 w 804"/>
                    <a:gd name="T33" fmla="*/ 25 h 569"/>
                    <a:gd name="T34" fmla="*/ 71 w 804"/>
                    <a:gd name="T35" fmla="*/ 3 h 569"/>
                    <a:gd name="T36" fmla="*/ 93 w 804"/>
                    <a:gd name="T37" fmla="*/ 1 h 569"/>
                    <a:gd name="T38" fmla="*/ 120 w 804"/>
                    <a:gd name="T39" fmla="*/ 25 h 569"/>
                    <a:gd name="T40" fmla="*/ 136 w 804"/>
                    <a:gd name="T41" fmla="*/ 55 h 569"/>
                    <a:gd name="T42" fmla="*/ 139 w 804"/>
                    <a:gd name="T43" fmla="*/ 68 h 569"/>
                    <a:gd name="T44" fmla="*/ 142 w 804"/>
                    <a:gd name="T45" fmla="*/ 79 h 569"/>
                    <a:gd name="T46" fmla="*/ 146 w 804"/>
                    <a:gd name="T47" fmla="*/ 91 h 569"/>
                    <a:gd name="T48" fmla="*/ 164 w 804"/>
                    <a:gd name="T49" fmla="*/ 128 h 569"/>
                    <a:gd name="T50" fmla="*/ 191 w 804"/>
                    <a:gd name="T51" fmla="*/ 163 h 569"/>
                    <a:gd name="T52" fmla="*/ 219 w 804"/>
                    <a:gd name="T53" fmla="*/ 177 h 569"/>
                    <a:gd name="T54" fmla="*/ 266 w 804"/>
                    <a:gd name="T55" fmla="*/ 177 h 569"/>
                    <a:gd name="T56" fmla="*/ 293 w 804"/>
                    <a:gd name="T57" fmla="*/ 163 h 569"/>
                    <a:gd name="T58" fmla="*/ 278 w 804"/>
                    <a:gd name="T59" fmla="*/ 141 h 569"/>
                    <a:gd name="T60" fmla="*/ 262 w 804"/>
                    <a:gd name="T61" fmla="*/ 121 h 569"/>
                    <a:gd name="T62" fmla="*/ 247 w 804"/>
                    <a:gd name="T63" fmla="*/ 100 h 569"/>
                    <a:gd name="T64" fmla="*/ 246 w 804"/>
                    <a:gd name="T65" fmla="*/ 62 h 569"/>
                    <a:gd name="T66" fmla="*/ 276 w 804"/>
                    <a:gd name="T67" fmla="*/ 24 h 569"/>
                    <a:gd name="T68" fmla="*/ 318 w 804"/>
                    <a:gd name="T69" fmla="*/ 7 h 569"/>
                    <a:gd name="T70" fmla="*/ 361 w 804"/>
                    <a:gd name="T71" fmla="*/ 17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2" name="Freeform 81">
                  <a:extLst>
                    <a:ext uri="{FF2B5EF4-FFF2-40B4-BE49-F238E27FC236}">
                      <a16:creationId xmlns:a16="http://schemas.microsoft.com/office/drawing/2014/main" id="{4BD98BF6-B278-5E4A-8980-2E3E49C3E993}"/>
                    </a:ext>
                  </a:extLst>
                </p:cNvPr>
                <p:cNvSpPr>
                  <a:spLocks/>
                </p:cNvSpPr>
                <p:nvPr/>
              </p:nvSpPr>
              <p:spPr bwMode="auto">
                <a:xfrm>
                  <a:off x="4373" y="3132"/>
                  <a:ext cx="390" cy="268"/>
                </a:xfrm>
                <a:custGeom>
                  <a:avLst/>
                  <a:gdLst>
                    <a:gd name="T0" fmla="*/ 372 w 779"/>
                    <a:gd name="T1" fmla="*/ 80 h 536"/>
                    <a:gd name="T2" fmla="*/ 386 w 779"/>
                    <a:gd name="T3" fmla="*/ 166 h 536"/>
                    <a:gd name="T4" fmla="*/ 387 w 779"/>
                    <a:gd name="T5" fmla="*/ 226 h 536"/>
                    <a:gd name="T6" fmla="*/ 361 w 779"/>
                    <a:gd name="T7" fmla="*/ 261 h 536"/>
                    <a:gd name="T8" fmla="*/ 260 w 779"/>
                    <a:gd name="T9" fmla="*/ 262 h 536"/>
                    <a:gd name="T10" fmla="*/ 164 w 779"/>
                    <a:gd name="T11" fmla="*/ 247 h 536"/>
                    <a:gd name="T12" fmla="*/ 109 w 779"/>
                    <a:gd name="T13" fmla="*/ 219 h 536"/>
                    <a:gd name="T14" fmla="*/ 62 w 779"/>
                    <a:gd name="T15" fmla="*/ 170 h 536"/>
                    <a:gd name="T16" fmla="*/ 15 w 779"/>
                    <a:gd name="T17" fmla="*/ 127 h 536"/>
                    <a:gd name="T18" fmla="*/ 0 w 779"/>
                    <a:gd name="T19" fmla="*/ 108 h 536"/>
                    <a:gd name="T20" fmla="*/ 6 w 779"/>
                    <a:gd name="T21" fmla="*/ 91 h 536"/>
                    <a:gd name="T22" fmla="*/ 28 w 779"/>
                    <a:gd name="T23" fmla="*/ 83 h 536"/>
                    <a:gd name="T24" fmla="*/ 37 w 779"/>
                    <a:gd name="T25" fmla="*/ 70 h 536"/>
                    <a:gd name="T26" fmla="*/ 35 w 779"/>
                    <a:gd name="T27" fmla="*/ 47 h 536"/>
                    <a:gd name="T28" fmla="*/ 47 w 779"/>
                    <a:gd name="T29" fmla="*/ 35 h 536"/>
                    <a:gd name="T30" fmla="*/ 65 w 779"/>
                    <a:gd name="T31" fmla="*/ 36 h 536"/>
                    <a:gd name="T32" fmla="*/ 68 w 779"/>
                    <a:gd name="T33" fmla="*/ 24 h 536"/>
                    <a:gd name="T34" fmla="*/ 72 w 779"/>
                    <a:gd name="T35" fmla="*/ 4 h 536"/>
                    <a:gd name="T36" fmla="*/ 92 w 779"/>
                    <a:gd name="T37" fmla="*/ 5 h 536"/>
                    <a:gd name="T38" fmla="*/ 117 w 779"/>
                    <a:gd name="T39" fmla="*/ 28 h 536"/>
                    <a:gd name="T40" fmla="*/ 129 w 779"/>
                    <a:gd name="T41" fmla="*/ 56 h 536"/>
                    <a:gd name="T42" fmla="*/ 132 w 779"/>
                    <a:gd name="T43" fmla="*/ 66 h 536"/>
                    <a:gd name="T44" fmla="*/ 136 w 779"/>
                    <a:gd name="T45" fmla="*/ 73 h 536"/>
                    <a:gd name="T46" fmla="*/ 139 w 779"/>
                    <a:gd name="T47" fmla="*/ 83 h 536"/>
                    <a:gd name="T48" fmla="*/ 157 w 779"/>
                    <a:gd name="T49" fmla="*/ 120 h 536"/>
                    <a:gd name="T50" fmla="*/ 183 w 779"/>
                    <a:gd name="T51" fmla="*/ 156 h 536"/>
                    <a:gd name="T52" fmla="*/ 215 w 779"/>
                    <a:gd name="T53" fmla="*/ 170 h 536"/>
                    <a:gd name="T54" fmla="*/ 263 w 779"/>
                    <a:gd name="T55" fmla="*/ 170 h 536"/>
                    <a:gd name="T56" fmla="*/ 289 w 779"/>
                    <a:gd name="T57" fmla="*/ 155 h 536"/>
                    <a:gd name="T58" fmla="*/ 274 w 779"/>
                    <a:gd name="T59" fmla="*/ 133 h 536"/>
                    <a:gd name="T60" fmla="*/ 259 w 779"/>
                    <a:gd name="T61" fmla="*/ 112 h 536"/>
                    <a:gd name="T62" fmla="*/ 244 w 779"/>
                    <a:gd name="T63" fmla="*/ 89 h 536"/>
                    <a:gd name="T64" fmla="*/ 242 w 779"/>
                    <a:gd name="T65" fmla="*/ 51 h 536"/>
                    <a:gd name="T66" fmla="*/ 269 w 779"/>
                    <a:gd name="T67" fmla="*/ 15 h 536"/>
                    <a:gd name="T68" fmla="*/ 306 w 779"/>
                    <a:gd name="T69" fmla="*/ 0 h 536"/>
                    <a:gd name="T70" fmla="*/ 346 w 779"/>
                    <a:gd name="T71" fmla="*/ 11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3" name="Freeform 82">
                  <a:extLst>
                    <a:ext uri="{FF2B5EF4-FFF2-40B4-BE49-F238E27FC236}">
                      <a16:creationId xmlns:a16="http://schemas.microsoft.com/office/drawing/2014/main" id="{FCDB78CF-9EE3-374E-9FE8-A2DFABC27240}"/>
                    </a:ext>
                  </a:extLst>
                </p:cNvPr>
                <p:cNvSpPr>
                  <a:spLocks/>
                </p:cNvSpPr>
                <p:nvPr/>
              </p:nvSpPr>
              <p:spPr bwMode="auto">
                <a:xfrm>
                  <a:off x="4379" y="3134"/>
                  <a:ext cx="378" cy="259"/>
                </a:xfrm>
                <a:custGeom>
                  <a:avLst/>
                  <a:gdLst>
                    <a:gd name="T0" fmla="*/ 356 w 756"/>
                    <a:gd name="T1" fmla="*/ 81 h 518"/>
                    <a:gd name="T2" fmla="*/ 374 w 756"/>
                    <a:gd name="T3" fmla="*/ 162 h 518"/>
                    <a:gd name="T4" fmla="*/ 377 w 756"/>
                    <a:gd name="T5" fmla="*/ 218 h 518"/>
                    <a:gd name="T6" fmla="*/ 351 w 756"/>
                    <a:gd name="T7" fmla="*/ 250 h 518"/>
                    <a:gd name="T8" fmla="*/ 249 w 756"/>
                    <a:gd name="T9" fmla="*/ 252 h 518"/>
                    <a:gd name="T10" fmla="*/ 154 w 756"/>
                    <a:gd name="T11" fmla="*/ 234 h 518"/>
                    <a:gd name="T12" fmla="*/ 100 w 756"/>
                    <a:gd name="T13" fmla="*/ 205 h 518"/>
                    <a:gd name="T14" fmla="*/ 58 w 756"/>
                    <a:gd name="T15" fmla="*/ 162 h 518"/>
                    <a:gd name="T16" fmla="*/ 15 w 756"/>
                    <a:gd name="T17" fmla="*/ 126 h 518"/>
                    <a:gd name="T18" fmla="*/ 0 w 756"/>
                    <a:gd name="T19" fmla="*/ 108 h 518"/>
                    <a:gd name="T20" fmla="*/ 6 w 756"/>
                    <a:gd name="T21" fmla="*/ 91 h 518"/>
                    <a:gd name="T22" fmla="*/ 28 w 756"/>
                    <a:gd name="T23" fmla="*/ 83 h 518"/>
                    <a:gd name="T24" fmla="*/ 37 w 756"/>
                    <a:gd name="T25" fmla="*/ 71 h 518"/>
                    <a:gd name="T26" fmla="*/ 36 w 756"/>
                    <a:gd name="T27" fmla="*/ 50 h 518"/>
                    <a:gd name="T28" fmla="*/ 48 w 756"/>
                    <a:gd name="T29" fmla="*/ 39 h 518"/>
                    <a:gd name="T30" fmla="*/ 66 w 756"/>
                    <a:gd name="T31" fmla="*/ 42 h 518"/>
                    <a:gd name="T32" fmla="*/ 69 w 756"/>
                    <a:gd name="T33" fmla="*/ 31 h 518"/>
                    <a:gd name="T34" fmla="*/ 74 w 756"/>
                    <a:gd name="T35" fmla="*/ 12 h 518"/>
                    <a:gd name="T36" fmla="*/ 92 w 756"/>
                    <a:gd name="T37" fmla="*/ 16 h 518"/>
                    <a:gd name="T38" fmla="*/ 113 w 756"/>
                    <a:gd name="T39" fmla="*/ 39 h 518"/>
                    <a:gd name="T40" fmla="*/ 123 w 756"/>
                    <a:gd name="T41" fmla="*/ 64 h 518"/>
                    <a:gd name="T42" fmla="*/ 126 w 756"/>
                    <a:gd name="T43" fmla="*/ 71 h 518"/>
                    <a:gd name="T44" fmla="*/ 130 w 756"/>
                    <a:gd name="T45" fmla="*/ 74 h 518"/>
                    <a:gd name="T46" fmla="*/ 134 w 756"/>
                    <a:gd name="T47" fmla="*/ 81 h 518"/>
                    <a:gd name="T48" fmla="*/ 150 w 756"/>
                    <a:gd name="T49" fmla="*/ 118 h 518"/>
                    <a:gd name="T50" fmla="*/ 177 w 756"/>
                    <a:gd name="T51" fmla="*/ 155 h 518"/>
                    <a:gd name="T52" fmla="*/ 210 w 756"/>
                    <a:gd name="T53" fmla="*/ 169 h 518"/>
                    <a:gd name="T54" fmla="*/ 260 w 756"/>
                    <a:gd name="T55" fmla="*/ 169 h 518"/>
                    <a:gd name="T56" fmla="*/ 287 w 756"/>
                    <a:gd name="T57" fmla="*/ 155 h 518"/>
                    <a:gd name="T58" fmla="*/ 272 w 756"/>
                    <a:gd name="T59" fmla="*/ 131 h 518"/>
                    <a:gd name="T60" fmla="*/ 256 w 756"/>
                    <a:gd name="T61" fmla="*/ 109 h 518"/>
                    <a:gd name="T62" fmla="*/ 241 w 756"/>
                    <a:gd name="T63" fmla="*/ 85 h 518"/>
                    <a:gd name="T64" fmla="*/ 239 w 756"/>
                    <a:gd name="T65" fmla="*/ 48 h 518"/>
                    <a:gd name="T66" fmla="*/ 262 w 756"/>
                    <a:gd name="T67" fmla="*/ 13 h 518"/>
                    <a:gd name="T68" fmla="*/ 295 w 756"/>
                    <a:gd name="T69" fmla="*/ 0 h 518"/>
                    <a:gd name="T70" fmla="*/ 331 w 756"/>
                    <a:gd name="T71" fmla="*/ 12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4" name="Freeform 83">
                  <a:extLst>
                    <a:ext uri="{FF2B5EF4-FFF2-40B4-BE49-F238E27FC236}">
                      <a16:creationId xmlns:a16="http://schemas.microsoft.com/office/drawing/2014/main" id="{9A9A6AAA-7321-E945-9BFD-729049466073}"/>
                    </a:ext>
                  </a:extLst>
                </p:cNvPr>
                <p:cNvSpPr>
                  <a:spLocks/>
                </p:cNvSpPr>
                <p:nvPr/>
              </p:nvSpPr>
              <p:spPr bwMode="auto">
                <a:xfrm>
                  <a:off x="4385" y="3136"/>
                  <a:ext cx="366" cy="249"/>
                </a:xfrm>
                <a:custGeom>
                  <a:avLst/>
                  <a:gdLst>
                    <a:gd name="T0" fmla="*/ 342 w 732"/>
                    <a:gd name="T1" fmla="*/ 82 h 498"/>
                    <a:gd name="T2" fmla="*/ 361 w 732"/>
                    <a:gd name="T3" fmla="*/ 159 h 498"/>
                    <a:gd name="T4" fmla="*/ 366 w 732"/>
                    <a:gd name="T5" fmla="*/ 210 h 498"/>
                    <a:gd name="T6" fmla="*/ 341 w 732"/>
                    <a:gd name="T7" fmla="*/ 240 h 498"/>
                    <a:gd name="T8" fmla="*/ 237 w 732"/>
                    <a:gd name="T9" fmla="*/ 242 h 498"/>
                    <a:gd name="T10" fmla="*/ 142 w 732"/>
                    <a:gd name="T11" fmla="*/ 221 h 498"/>
                    <a:gd name="T12" fmla="*/ 90 w 732"/>
                    <a:gd name="T13" fmla="*/ 192 h 498"/>
                    <a:gd name="T14" fmla="*/ 53 w 732"/>
                    <a:gd name="T15" fmla="*/ 154 h 498"/>
                    <a:gd name="T16" fmla="*/ 14 w 732"/>
                    <a:gd name="T17" fmla="*/ 125 h 498"/>
                    <a:gd name="T18" fmla="*/ 0 w 732"/>
                    <a:gd name="T19" fmla="*/ 108 h 498"/>
                    <a:gd name="T20" fmla="*/ 6 w 732"/>
                    <a:gd name="T21" fmla="*/ 92 h 498"/>
                    <a:gd name="T22" fmla="*/ 27 w 732"/>
                    <a:gd name="T23" fmla="*/ 84 h 498"/>
                    <a:gd name="T24" fmla="*/ 37 w 732"/>
                    <a:gd name="T25" fmla="*/ 72 h 498"/>
                    <a:gd name="T26" fmla="*/ 38 w 732"/>
                    <a:gd name="T27" fmla="*/ 52 h 498"/>
                    <a:gd name="T28" fmla="*/ 50 w 732"/>
                    <a:gd name="T29" fmla="*/ 43 h 498"/>
                    <a:gd name="T30" fmla="*/ 67 w 732"/>
                    <a:gd name="T31" fmla="*/ 47 h 498"/>
                    <a:gd name="T32" fmla="*/ 69 w 732"/>
                    <a:gd name="T33" fmla="*/ 37 h 498"/>
                    <a:gd name="T34" fmla="*/ 75 w 732"/>
                    <a:gd name="T35" fmla="*/ 21 h 498"/>
                    <a:gd name="T36" fmla="*/ 92 w 732"/>
                    <a:gd name="T37" fmla="*/ 26 h 498"/>
                    <a:gd name="T38" fmla="*/ 110 w 732"/>
                    <a:gd name="T39" fmla="*/ 49 h 498"/>
                    <a:gd name="T40" fmla="*/ 117 w 732"/>
                    <a:gd name="T41" fmla="*/ 72 h 498"/>
                    <a:gd name="T42" fmla="*/ 120 w 732"/>
                    <a:gd name="T43" fmla="*/ 76 h 498"/>
                    <a:gd name="T44" fmla="*/ 123 w 732"/>
                    <a:gd name="T45" fmla="*/ 75 h 498"/>
                    <a:gd name="T46" fmla="*/ 127 w 732"/>
                    <a:gd name="T47" fmla="*/ 80 h 498"/>
                    <a:gd name="T48" fmla="*/ 142 w 732"/>
                    <a:gd name="T49" fmla="*/ 117 h 498"/>
                    <a:gd name="T50" fmla="*/ 170 w 732"/>
                    <a:gd name="T51" fmla="*/ 154 h 498"/>
                    <a:gd name="T52" fmla="*/ 205 w 732"/>
                    <a:gd name="T53" fmla="*/ 168 h 498"/>
                    <a:gd name="T54" fmla="*/ 257 w 732"/>
                    <a:gd name="T55" fmla="*/ 169 h 498"/>
                    <a:gd name="T56" fmla="*/ 284 w 732"/>
                    <a:gd name="T57" fmla="*/ 154 h 498"/>
                    <a:gd name="T58" fmla="*/ 269 w 732"/>
                    <a:gd name="T59" fmla="*/ 131 h 498"/>
                    <a:gd name="T60" fmla="*/ 253 w 732"/>
                    <a:gd name="T61" fmla="*/ 107 h 498"/>
                    <a:gd name="T62" fmla="*/ 238 w 732"/>
                    <a:gd name="T63" fmla="*/ 83 h 498"/>
                    <a:gd name="T64" fmla="*/ 235 w 732"/>
                    <a:gd name="T65" fmla="*/ 46 h 498"/>
                    <a:gd name="T66" fmla="*/ 255 w 732"/>
                    <a:gd name="T67" fmla="*/ 12 h 498"/>
                    <a:gd name="T68" fmla="*/ 283 w 732"/>
                    <a:gd name="T69" fmla="*/ 0 h 498"/>
                    <a:gd name="T70" fmla="*/ 317 w 732"/>
                    <a:gd name="T71" fmla="*/ 14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5" name="Freeform 84">
                  <a:extLst>
                    <a:ext uri="{FF2B5EF4-FFF2-40B4-BE49-F238E27FC236}">
                      <a16:creationId xmlns:a16="http://schemas.microsoft.com/office/drawing/2014/main" id="{66AC0F13-4E5A-C145-A07C-5EA59BFAD2DE}"/>
                    </a:ext>
                  </a:extLst>
                </p:cNvPr>
                <p:cNvSpPr>
                  <a:spLocks/>
                </p:cNvSpPr>
                <p:nvPr/>
              </p:nvSpPr>
              <p:spPr bwMode="auto">
                <a:xfrm>
                  <a:off x="4391" y="3138"/>
                  <a:ext cx="355" cy="239"/>
                </a:xfrm>
                <a:custGeom>
                  <a:avLst/>
                  <a:gdLst>
                    <a:gd name="T0" fmla="*/ 328 w 710"/>
                    <a:gd name="T1" fmla="*/ 83 h 478"/>
                    <a:gd name="T2" fmla="*/ 348 w 710"/>
                    <a:gd name="T3" fmla="*/ 156 h 478"/>
                    <a:gd name="T4" fmla="*/ 355 w 710"/>
                    <a:gd name="T5" fmla="*/ 201 h 478"/>
                    <a:gd name="T6" fmla="*/ 331 w 710"/>
                    <a:gd name="T7" fmla="*/ 229 h 478"/>
                    <a:gd name="T8" fmla="*/ 227 w 710"/>
                    <a:gd name="T9" fmla="*/ 232 h 478"/>
                    <a:gd name="T10" fmla="*/ 132 w 710"/>
                    <a:gd name="T11" fmla="*/ 209 h 478"/>
                    <a:gd name="T12" fmla="*/ 82 w 710"/>
                    <a:gd name="T13" fmla="*/ 178 h 478"/>
                    <a:gd name="T14" fmla="*/ 50 w 710"/>
                    <a:gd name="T15" fmla="*/ 147 h 478"/>
                    <a:gd name="T16" fmla="*/ 15 w 710"/>
                    <a:gd name="T17" fmla="*/ 125 h 478"/>
                    <a:gd name="T18" fmla="*/ 0 w 710"/>
                    <a:gd name="T19" fmla="*/ 108 h 478"/>
                    <a:gd name="T20" fmla="*/ 6 w 710"/>
                    <a:gd name="T21" fmla="*/ 92 h 478"/>
                    <a:gd name="T22" fmla="*/ 28 w 710"/>
                    <a:gd name="T23" fmla="*/ 85 h 478"/>
                    <a:gd name="T24" fmla="*/ 38 w 710"/>
                    <a:gd name="T25" fmla="*/ 72 h 478"/>
                    <a:gd name="T26" fmla="*/ 39 w 710"/>
                    <a:gd name="T27" fmla="*/ 54 h 478"/>
                    <a:gd name="T28" fmla="*/ 52 w 710"/>
                    <a:gd name="T29" fmla="*/ 47 h 478"/>
                    <a:gd name="T30" fmla="*/ 67 w 710"/>
                    <a:gd name="T31" fmla="*/ 52 h 478"/>
                    <a:gd name="T32" fmla="*/ 70 w 710"/>
                    <a:gd name="T33" fmla="*/ 43 h 478"/>
                    <a:gd name="T34" fmla="*/ 77 w 710"/>
                    <a:gd name="T35" fmla="*/ 30 h 478"/>
                    <a:gd name="T36" fmla="*/ 92 w 710"/>
                    <a:gd name="T37" fmla="*/ 36 h 478"/>
                    <a:gd name="T38" fmla="*/ 107 w 710"/>
                    <a:gd name="T39" fmla="*/ 58 h 478"/>
                    <a:gd name="T40" fmla="*/ 113 w 710"/>
                    <a:gd name="T41" fmla="*/ 80 h 478"/>
                    <a:gd name="T42" fmla="*/ 116 w 710"/>
                    <a:gd name="T43" fmla="*/ 82 h 478"/>
                    <a:gd name="T44" fmla="*/ 118 w 710"/>
                    <a:gd name="T45" fmla="*/ 77 h 478"/>
                    <a:gd name="T46" fmla="*/ 121 w 710"/>
                    <a:gd name="T47" fmla="*/ 78 h 478"/>
                    <a:gd name="T48" fmla="*/ 136 w 710"/>
                    <a:gd name="T49" fmla="*/ 115 h 478"/>
                    <a:gd name="T50" fmla="*/ 163 w 710"/>
                    <a:gd name="T51" fmla="*/ 154 h 478"/>
                    <a:gd name="T52" fmla="*/ 200 w 710"/>
                    <a:gd name="T53" fmla="*/ 168 h 478"/>
                    <a:gd name="T54" fmla="*/ 254 w 710"/>
                    <a:gd name="T55" fmla="*/ 168 h 478"/>
                    <a:gd name="T56" fmla="*/ 282 w 710"/>
                    <a:gd name="T57" fmla="*/ 154 h 478"/>
                    <a:gd name="T58" fmla="*/ 267 w 710"/>
                    <a:gd name="T59" fmla="*/ 129 h 478"/>
                    <a:gd name="T60" fmla="*/ 251 w 710"/>
                    <a:gd name="T61" fmla="*/ 104 h 478"/>
                    <a:gd name="T62" fmla="*/ 235 w 710"/>
                    <a:gd name="T63" fmla="*/ 79 h 478"/>
                    <a:gd name="T64" fmla="*/ 232 w 710"/>
                    <a:gd name="T65" fmla="*/ 42 h 478"/>
                    <a:gd name="T66" fmla="*/ 248 w 710"/>
                    <a:gd name="T67" fmla="*/ 10 h 478"/>
                    <a:gd name="T68" fmla="*/ 272 w 710"/>
                    <a:gd name="T69" fmla="*/ 0 h 478"/>
                    <a:gd name="T70" fmla="*/ 302 w 710"/>
                    <a:gd name="T71" fmla="*/ 15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6" name="Freeform 85">
                  <a:extLst>
                    <a:ext uri="{FF2B5EF4-FFF2-40B4-BE49-F238E27FC236}">
                      <a16:creationId xmlns:a16="http://schemas.microsoft.com/office/drawing/2014/main" id="{9220AC44-408B-B545-9414-46E8E3B66933}"/>
                    </a:ext>
                  </a:extLst>
                </p:cNvPr>
                <p:cNvSpPr>
                  <a:spLocks/>
                </p:cNvSpPr>
                <p:nvPr/>
              </p:nvSpPr>
              <p:spPr bwMode="auto">
                <a:xfrm>
                  <a:off x="4397" y="3140"/>
                  <a:ext cx="343" cy="230"/>
                </a:xfrm>
                <a:custGeom>
                  <a:avLst/>
                  <a:gdLst>
                    <a:gd name="T0" fmla="*/ 312 w 687"/>
                    <a:gd name="T1" fmla="*/ 84 h 459"/>
                    <a:gd name="T2" fmla="*/ 335 w 687"/>
                    <a:gd name="T3" fmla="*/ 152 h 459"/>
                    <a:gd name="T4" fmla="*/ 343 w 687"/>
                    <a:gd name="T5" fmla="*/ 192 h 459"/>
                    <a:gd name="T6" fmla="*/ 320 w 687"/>
                    <a:gd name="T7" fmla="*/ 218 h 459"/>
                    <a:gd name="T8" fmla="*/ 216 w 687"/>
                    <a:gd name="T9" fmla="*/ 222 h 459"/>
                    <a:gd name="T10" fmla="*/ 121 w 687"/>
                    <a:gd name="T11" fmla="*/ 196 h 459"/>
                    <a:gd name="T12" fmla="*/ 73 w 687"/>
                    <a:gd name="T13" fmla="*/ 164 h 459"/>
                    <a:gd name="T14" fmla="*/ 46 w 687"/>
                    <a:gd name="T15" fmla="*/ 138 h 459"/>
                    <a:gd name="T16" fmla="*/ 15 w 687"/>
                    <a:gd name="T17" fmla="*/ 124 h 459"/>
                    <a:gd name="T18" fmla="*/ 0 w 687"/>
                    <a:gd name="T19" fmla="*/ 107 h 459"/>
                    <a:gd name="T20" fmla="*/ 6 w 687"/>
                    <a:gd name="T21" fmla="*/ 92 h 459"/>
                    <a:gd name="T22" fmla="*/ 28 w 687"/>
                    <a:gd name="T23" fmla="*/ 85 h 459"/>
                    <a:gd name="T24" fmla="*/ 38 w 687"/>
                    <a:gd name="T25" fmla="*/ 72 h 459"/>
                    <a:gd name="T26" fmla="*/ 40 w 687"/>
                    <a:gd name="T27" fmla="*/ 56 h 459"/>
                    <a:gd name="T28" fmla="*/ 54 w 687"/>
                    <a:gd name="T29" fmla="*/ 51 h 459"/>
                    <a:gd name="T30" fmla="*/ 68 w 687"/>
                    <a:gd name="T31" fmla="*/ 57 h 459"/>
                    <a:gd name="T32" fmla="*/ 70 w 687"/>
                    <a:gd name="T33" fmla="*/ 50 h 459"/>
                    <a:gd name="T34" fmla="*/ 79 w 687"/>
                    <a:gd name="T35" fmla="*/ 39 h 459"/>
                    <a:gd name="T36" fmla="*/ 93 w 687"/>
                    <a:gd name="T37" fmla="*/ 47 h 459"/>
                    <a:gd name="T38" fmla="*/ 105 w 687"/>
                    <a:gd name="T39" fmla="*/ 69 h 459"/>
                    <a:gd name="T40" fmla="*/ 108 w 687"/>
                    <a:gd name="T41" fmla="*/ 88 h 459"/>
                    <a:gd name="T42" fmla="*/ 110 w 687"/>
                    <a:gd name="T43" fmla="*/ 87 h 459"/>
                    <a:gd name="T44" fmla="*/ 113 w 687"/>
                    <a:gd name="T45" fmla="*/ 78 h 459"/>
                    <a:gd name="T46" fmla="*/ 116 w 687"/>
                    <a:gd name="T47" fmla="*/ 76 h 459"/>
                    <a:gd name="T48" fmla="*/ 128 w 687"/>
                    <a:gd name="T49" fmla="*/ 114 h 459"/>
                    <a:gd name="T50" fmla="*/ 157 w 687"/>
                    <a:gd name="T51" fmla="*/ 153 h 459"/>
                    <a:gd name="T52" fmla="*/ 196 w 687"/>
                    <a:gd name="T53" fmla="*/ 167 h 459"/>
                    <a:gd name="T54" fmla="*/ 252 w 687"/>
                    <a:gd name="T55" fmla="*/ 168 h 459"/>
                    <a:gd name="T56" fmla="*/ 279 w 687"/>
                    <a:gd name="T57" fmla="*/ 154 h 459"/>
                    <a:gd name="T58" fmla="*/ 264 w 687"/>
                    <a:gd name="T59" fmla="*/ 127 h 459"/>
                    <a:gd name="T60" fmla="*/ 248 w 687"/>
                    <a:gd name="T61" fmla="*/ 102 h 459"/>
                    <a:gd name="T62" fmla="*/ 233 w 687"/>
                    <a:gd name="T63" fmla="*/ 76 h 459"/>
                    <a:gd name="T64" fmla="*/ 229 w 687"/>
                    <a:gd name="T65" fmla="*/ 39 h 459"/>
                    <a:gd name="T66" fmla="*/ 242 w 687"/>
                    <a:gd name="T67" fmla="*/ 8 h 459"/>
                    <a:gd name="T68" fmla="*/ 261 w 687"/>
                    <a:gd name="T69" fmla="*/ 0 h 459"/>
                    <a:gd name="T70" fmla="*/ 287 w 687"/>
                    <a:gd name="T71" fmla="*/ 17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7" name="Freeform 86">
                  <a:extLst>
                    <a:ext uri="{FF2B5EF4-FFF2-40B4-BE49-F238E27FC236}">
                      <a16:creationId xmlns:a16="http://schemas.microsoft.com/office/drawing/2014/main" id="{D674E9D5-341A-714F-8C09-87CA4CDC0F20}"/>
                    </a:ext>
                  </a:extLst>
                </p:cNvPr>
                <p:cNvSpPr>
                  <a:spLocks/>
                </p:cNvSpPr>
                <p:nvPr/>
              </p:nvSpPr>
              <p:spPr bwMode="auto">
                <a:xfrm>
                  <a:off x="4288" y="3368"/>
                  <a:ext cx="118" cy="69"/>
                </a:xfrm>
                <a:custGeom>
                  <a:avLst/>
                  <a:gdLst>
                    <a:gd name="T0" fmla="*/ 17 w 236"/>
                    <a:gd name="T1" fmla="*/ 0 h 138"/>
                    <a:gd name="T2" fmla="*/ 29 w 236"/>
                    <a:gd name="T3" fmla="*/ 3 h 138"/>
                    <a:gd name="T4" fmla="*/ 42 w 236"/>
                    <a:gd name="T5" fmla="*/ 7 h 138"/>
                    <a:gd name="T6" fmla="*/ 54 w 236"/>
                    <a:gd name="T7" fmla="*/ 11 h 138"/>
                    <a:gd name="T8" fmla="*/ 67 w 236"/>
                    <a:gd name="T9" fmla="*/ 15 h 138"/>
                    <a:gd name="T10" fmla="*/ 79 w 236"/>
                    <a:gd name="T11" fmla="*/ 19 h 138"/>
                    <a:gd name="T12" fmla="*/ 92 w 236"/>
                    <a:gd name="T13" fmla="*/ 23 h 138"/>
                    <a:gd name="T14" fmla="*/ 104 w 236"/>
                    <a:gd name="T15" fmla="*/ 27 h 138"/>
                    <a:gd name="T16" fmla="*/ 117 w 236"/>
                    <a:gd name="T17" fmla="*/ 32 h 138"/>
                    <a:gd name="T18" fmla="*/ 118 w 236"/>
                    <a:gd name="T19" fmla="*/ 37 h 138"/>
                    <a:gd name="T20" fmla="*/ 118 w 236"/>
                    <a:gd name="T21" fmla="*/ 42 h 138"/>
                    <a:gd name="T22" fmla="*/ 118 w 236"/>
                    <a:gd name="T23" fmla="*/ 47 h 138"/>
                    <a:gd name="T24" fmla="*/ 118 w 236"/>
                    <a:gd name="T25" fmla="*/ 52 h 138"/>
                    <a:gd name="T26" fmla="*/ 116 w 236"/>
                    <a:gd name="T27" fmla="*/ 56 h 138"/>
                    <a:gd name="T28" fmla="*/ 114 w 236"/>
                    <a:gd name="T29" fmla="*/ 60 h 138"/>
                    <a:gd name="T30" fmla="*/ 111 w 236"/>
                    <a:gd name="T31" fmla="*/ 65 h 138"/>
                    <a:gd name="T32" fmla="*/ 108 w 236"/>
                    <a:gd name="T33" fmla="*/ 69 h 138"/>
                    <a:gd name="T34" fmla="*/ 98 w 236"/>
                    <a:gd name="T35" fmla="*/ 67 h 138"/>
                    <a:gd name="T36" fmla="*/ 88 w 236"/>
                    <a:gd name="T37" fmla="*/ 66 h 138"/>
                    <a:gd name="T38" fmla="*/ 77 w 236"/>
                    <a:gd name="T39" fmla="*/ 65 h 138"/>
                    <a:gd name="T40" fmla="*/ 67 w 236"/>
                    <a:gd name="T41" fmla="*/ 63 h 138"/>
                    <a:gd name="T42" fmla="*/ 56 w 236"/>
                    <a:gd name="T43" fmla="*/ 62 h 138"/>
                    <a:gd name="T44" fmla="*/ 46 w 236"/>
                    <a:gd name="T45" fmla="*/ 61 h 138"/>
                    <a:gd name="T46" fmla="*/ 36 w 236"/>
                    <a:gd name="T47" fmla="*/ 60 h 138"/>
                    <a:gd name="T48" fmla="*/ 27 w 236"/>
                    <a:gd name="T49" fmla="*/ 59 h 138"/>
                    <a:gd name="T50" fmla="*/ 15 w 236"/>
                    <a:gd name="T51" fmla="*/ 52 h 138"/>
                    <a:gd name="T52" fmla="*/ 7 w 236"/>
                    <a:gd name="T53" fmla="*/ 44 h 138"/>
                    <a:gd name="T54" fmla="*/ 3 w 236"/>
                    <a:gd name="T55" fmla="*/ 37 h 138"/>
                    <a:gd name="T56" fmla="*/ 1 w 236"/>
                    <a:gd name="T57" fmla="*/ 29 h 138"/>
                    <a:gd name="T58" fmla="*/ 0 w 236"/>
                    <a:gd name="T59" fmla="*/ 22 h 138"/>
                    <a:gd name="T60" fmla="*/ 4 w 236"/>
                    <a:gd name="T61" fmla="*/ 14 h 138"/>
                    <a:gd name="T62" fmla="*/ 9 w 236"/>
                    <a:gd name="T63" fmla="*/ 6 h 138"/>
                    <a:gd name="T64" fmla="*/ 17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8" name="Freeform 87">
                  <a:extLst>
                    <a:ext uri="{FF2B5EF4-FFF2-40B4-BE49-F238E27FC236}">
                      <a16:creationId xmlns:a16="http://schemas.microsoft.com/office/drawing/2014/main" id="{1CCBCB14-7478-DE4A-8E48-A146E9566C01}"/>
                    </a:ext>
                  </a:extLst>
                </p:cNvPr>
                <p:cNvSpPr>
                  <a:spLocks/>
                </p:cNvSpPr>
                <p:nvPr/>
              </p:nvSpPr>
              <p:spPr bwMode="auto">
                <a:xfrm>
                  <a:off x="4291" y="3370"/>
                  <a:ext cx="112" cy="65"/>
                </a:xfrm>
                <a:custGeom>
                  <a:avLst/>
                  <a:gdLst>
                    <a:gd name="T0" fmla="*/ 16 w 226"/>
                    <a:gd name="T1" fmla="*/ 0 h 131"/>
                    <a:gd name="T2" fmla="*/ 27 w 226"/>
                    <a:gd name="T3" fmla="*/ 4 h 131"/>
                    <a:gd name="T4" fmla="*/ 39 w 226"/>
                    <a:gd name="T5" fmla="*/ 7 h 131"/>
                    <a:gd name="T6" fmla="*/ 51 w 226"/>
                    <a:gd name="T7" fmla="*/ 11 h 131"/>
                    <a:gd name="T8" fmla="*/ 63 w 226"/>
                    <a:gd name="T9" fmla="*/ 15 h 131"/>
                    <a:gd name="T10" fmla="*/ 75 w 226"/>
                    <a:gd name="T11" fmla="*/ 19 h 131"/>
                    <a:gd name="T12" fmla="*/ 87 w 226"/>
                    <a:gd name="T13" fmla="*/ 23 h 131"/>
                    <a:gd name="T14" fmla="*/ 98 w 226"/>
                    <a:gd name="T15" fmla="*/ 26 h 131"/>
                    <a:gd name="T16" fmla="*/ 111 w 226"/>
                    <a:gd name="T17" fmla="*/ 30 h 131"/>
                    <a:gd name="T18" fmla="*/ 112 w 226"/>
                    <a:gd name="T19" fmla="*/ 35 h 131"/>
                    <a:gd name="T20" fmla="*/ 112 w 226"/>
                    <a:gd name="T21" fmla="*/ 40 h 131"/>
                    <a:gd name="T22" fmla="*/ 112 w 226"/>
                    <a:gd name="T23" fmla="*/ 44 h 131"/>
                    <a:gd name="T24" fmla="*/ 112 w 226"/>
                    <a:gd name="T25" fmla="*/ 49 h 131"/>
                    <a:gd name="T26" fmla="*/ 110 w 226"/>
                    <a:gd name="T27" fmla="*/ 53 h 131"/>
                    <a:gd name="T28" fmla="*/ 108 w 226"/>
                    <a:gd name="T29" fmla="*/ 58 h 131"/>
                    <a:gd name="T30" fmla="*/ 105 w 226"/>
                    <a:gd name="T31" fmla="*/ 61 h 131"/>
                    <a:gd name="T32" fmla="*/ 102 w 226"/>
                    <a:gd name="T33" fmla="*/ 65 h 131"/>
                    <a:gd name="T34" fmla="*/ 92 w 226"/>
                    <a:gd name="T35" fmla="*/ 64 h 131"/>
                    <a:gd name="T36" fmla="*/ 82 w 226"/>
                    <a:gd name="T37" fmla="*/ 63 h 131"/>
                    <a:gd name="T38" fmla="*/ 72 w 226"/>
                    <a:gd name="T39" fmla="*/ 61 h 131"/>
                    <a:gd name="T40" fmla="*/ 63 w 226"/>
                    <a:gd name="T41" fmla="*/ 61 h 131"/>
                    <a:gd name="T42" fmla="*/ 53 w 226"/>
                    <a:gd name="T43" fmla="*/ 59 h 131"/>
                    <a:gd name="T44" fmla="*/ 43 w 226"/>
                    <a:gd name="T45" fmla="*/ 58 h 131"/>
                    <a:gd name="T46" fmla="*/ 34 w 226"/>
                    <a:gd name="T47" fmla="*/ 57 h 131"/>
                    <a:gd name="T48" fmla="*/ 24 w 226"/>
                    <a:gd name="T49" fmla="*/ 56 h 131"/>
                    <a:gd name="T50" fmla="*/ 14 w 226"/>
                    <a:gd name="T51" fmla="*/ 49 h 131"/>
                    <a:gd name="T52" fmla="*/ 7 w 226"/>
                    <a:gd name="T53" fmla="*/ 42 h 131"/>
                    <a:gd name="T54" fmla="*/ 2 w 226"/>
                    <a:gd name="T55" fmla="*/ 35 h 131"/>
                    <a:gd name="T56" fmla="*/ 0 w 226"/>
                    <a:gd name="T57" fmla="*/ 28 h 131"/>
                    <a:gd name="T58" fmla="*/ 0 w 226"/>
                    <a:gd name="T59" fmla="*/ 21 h 131"/>
                    <a:gd name="T60" fmla="*/ 2 w 226"/>
                    <a:gd name="T61" fmla="*/ 14 h 131"/>
                    <a:gd name="T62" fmla="*/ 7 w 226"/>
                    <a:gd name="T63" fmla="*/ 7 h 131"/>
                    <a:gd name="T64" fmla="*/ 16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09" name="Freeform 88">
                  <a:extLst>
                    <a:ext uri="{FF2B5EF4-FFF2-40B4-BE49-F238E27FC236}">
                      <a16:creationId xmlns:a16="http://schemas.microsoft.com/office/drawing/2014/main" id="{3F018392-8385-7F45-9131-C9E8C622D7C4}"/>
                    </a:ext>
                  </a:extLst>
                </p:cNvPr>
                <p:cNvSpPr>
                  <a:spLocks/>
                </p:cNvSpPr>
                <p:nvPr/>
              </p:nvSpPr>
              <p:spPr bwMode="auto">
                <a:xfrm>
                  <a:off x="4293" y="3371"/>
                  <a:ext cx="107" cy="62"/>
                </a:xfrm>
                <a:custGeom>
                  <a:avLst/>
                  <a:gdLst>
                    <a:gd name="T0" fmla="*/ 15 w 215"/>
                    <a:gd name="T1" fmla="*/ 0 h 124"/>
                    <a:gd name="T2" fmla="*/ 26 w 215"/>
                    <a:gd name="T3" fmla="*/ 3 h 124"/>
                    <a:gd name="T4" fmla="*/ 38 w 215"/>
                    <a:gd name="T5" fmla="*/ 7 h 124"/>
                    <a:gd name="T6" fmla="*/ 49 w 215"/>
                    <a:gd name="T7" fmla="*/ 11 h 124"/>
                    <a:gd name="T8" fmla="*/ 61 w 215"/>
                    <a:gd name="T9" fmla="*/ 15 h 124"/>
                    <a:gd name="T10" fmla="*/ 72 w 215"/>
                    <a:gd name="T11" fmla="*/ 18 h 124"/>
                    <a:gd name="T12" fmla="*/ 83 w 215"/>
                    <a:gd name="T13" fmla="*/ 22 h 124"/>
                    <a:gd name="T14" fmla="*/ 95 w 215"/>
                    <a:gd name="T15" fmla="*/ 25 h 124"/>
                    <a:gd name="T16" fmla="*/ 106 w 215"/>
                    <a:gd name="T17" fmla="*/ 29 h 124"/>
                    <a:gd name="T18" fmla="*/ 106 w 215"/>
                    <a:gd name="T19" fmla="*/ 33 h 124"/>
                    <a:gd name="T20" fmla="*/ 107 w 215"/>
                    <a:gd name="T21" fmla="*/ 38 h 124"/>
                    <a:gd name="T22" fmla="*/ 106 w 215"/>
                    <a:gd name="T23" fmla="*/ 43 h 124"/>
                    <a:gd name="T24" fmla="*/ 106 w 215"/>
                    <a:gd name="T25" fmla="*/ 48 h 124"/>
                    <a:gd name="T26" fmla="*/ 105 w 215"/>
                    <a:gd name="T27" fmla="*/ 52 h 124"/>
                    <a:gd name="T28" fmla="*/ 103 w 215"/>
                    <a:gd name="T29" fmla="*/ 55 h 124"/>
                    <a:gd name="T30" fmla="*/ 101 w 215"/>
                    <a:gd name="T31" fmla="*/ 58 h 124"/>
                    <a:gd name="T32" fmla="*/ 99 w 215"/>
                    <a:gd name="T33" fmla="*/ 62 h 124"/>
                    <a:gd name="T34" fmla="*/ 89 w 215"/>
                    <a:gd name="T35" fmla="*/ 61 h 124"/>
                    <a:gd name="T36" fmla="*/ 80 w 215"/>
                    <a:gd name="T37" fmla="*/ 60 h 124"/>
                    <a:gd name="T38" fmla="*/ 70 w 215"/>
                    <a:gd name="T39" fmla="*/ 59 h 124"/>
                    <a:gd name="T40" fmla="*/ 61 w 215"/>
                    <a:gd name="T41" fmla="*/ 58 h 124"/>
                    <a:gd name="T42" fmla="*/ 51 w 215"/>
                    <a:gd name="T43" fmla="*/ 57 h 124"/>
                    <a:gd name="T44" fmla="*/ 42 w 215"/>
                    <a:gd name="T45" fmla="*/ 57 h 124"/>
                    <a:gd name="T46" fmla="*/ 32 w 215"/>
                    <a:gd name="T47" fmla="*/ 55 h 124"/>
                    <a:gd name="T48" fmla="*/ 24 w 215"/>
                    <a:gd name="T49" fmla="*/ 55 h 124"/>
                    <a:gd name="T50" fmla="*/ 14 w 215"/>
                    <a:gd name="T51" fmla="*/ 47 h 124"/>
                    <a:gd name="T52" fmla="*/ 7 w 215"/>
                    <a:gd name="T53" fmla="*/ 41 h 124"/>
                    <a:gd name="T54" fmla="*/ 2 w 215"/>
                    <a:gd name="T55" fmla="*/ 33 h 124"/>
                    <a:gd name="T56" fmla="*/ 0 w 215"/>
                    <a:gd name="T57" fmla="*/ 27 h 124"/>
                    <a:gd name="T58" fmla="*/ 0 w 215"/>
                    <a:gd name="T59" fmla="*/ 20 h 124"/>
                    <a:gd name="T60" fmla="*/ 2 w 215"/>
                    <a:gd name="T61" fmla="*/ 13 h 124"/>
                    <a:gd name="T62" fmla="*/ 7 w 215"/>
                    <a:gd name="T63" fmla="*/ 6 h 124"/>
                    <a:gd name="T64" fmla="*/ 15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0" name="Freeform 89">
                  <a:extLst>
                    <a:ext uri="{FF2B5EF4-FFF2-40B4-BE49-F238E27FC236}">
                      <a16:creationId xmlns:a16="http://schemas.microsoft.com/office/drawing/2014/main" id="{C8AEA803-560F-0543-BF01-D5EA508835CA}"/>
                    </a:ext>
                  </a:extLst>
                </p:cNvPr>
                <p:cNvSpPr>
                  <a:spLocks/>
                </p:cNvSpPr>
                <p:nvPr/>
              </p:nvSpPr>
              <p:spPr bwMode="auto">
                <a:xfrm>
                  <a:off x="4296" y="3372"/>
                  <a:ext cx="102" cy="60"/>
                </a:xfrm>
                <a:custGeom>
                  <a:avLst/>
                  <a:gdLst>
                    <a:gd name="T0" fmla="*/ 14 w 205"/>
                    <a:gd name="T1" fmla="*/ 0 h 119"/>
                    <a:gd name="T2" fmla="*/ 25 w 205"/>
                    <a:gd name="T3" fmla="*/ 4 h 119"/>
                    <a:gd name="T4" fmla="*/ 36 w 205"/>
                    <a:gd name="T5" fmla="*/ 7 h 119"/>
                    <a:gd name="T6" fmla="*/ 46 w 205"/>
                    <a:gd name="T7" fmla="*/ 10 h 119"/>
                    <a:gd name="T8" fmla="*/ 58 w 205"/>
                    <a:gd name="T9" fmla="*/ 14 h 119"/>
                    <a:gd name="T10" fmla="*/ 68 w 205"/>
                    <a:gd name="T11" fmla="*/ 17 h 119"/>
                    <a:gd name="T12" fmla="*/ 79 w 205"/>
                    <a:gd name="T13" fmla="*/ 21 h 119"/>
                    <a:gd name="T14" fmla="*/ 90 w 205"/>
                    <a:gd name="T15" fmla="*/ 25 h 119"/>
                    <a:gd name="T16" fmla="*/ 101 w 205"/>
                    <a:gd name="T17" fmla="*/ 29 h 119"/>
                    <a:gd name="T18" fmla="*/ 101 w 205"/>
                    <a:gd name="T19" fmla="*/ 33 h 119"/>
                    <a:gd name="T20" fmla="*/ 102 w 205"/>
                    <a:gd name="T21" fmla="*/ 37 h 119"/>
                    <a:gd name="T22" fmla="*/ 101 w 205"/>
                    <a:gd name="T23" fmla="*/ 42 h 119"/>
                    <a:gd name="T24" fmla="*/ 101 w 205"/>
                    <a:gd name="T25" fmla="*/ 46 h 119"/>
                    <a:gd name="T26" fmla="*/ 100 w 205"/>
                    <a:gd name="T27" fmla="*/ 50 h 119"/>
                    <a:gd name="T28" fmla="*/ 98 w 205"/>
                    <a:gd name="T29" fmla="*/ 54 h 119"/>
                    <a:gd name="T30" fmla="*/ 96 w 205"/>
                    <a:gd name="T31" fmla="*/ 57 h 119"/>
                    <a:gd name="T32" fmla="*/ 93 w 205"/>
                    <a:gd name="T33" fmla="*/ 60 h 119"/>
                    <a:gd name="T34" fmla="*/ 84 w 205"/>
                    <a:gd name="T35" fmla="*/ 58 h 119"/>
                    <a:gd name="T36" fmla="*/ 75 w 205"/>
                    <a:gd name="T37" fmla="*/ 57 h 119"/>
                    <a:gd name="T38" fmla="*/ 66 w 205"/>
                    <a:gd name="T39" fmla="*/ 56 h 119"/>
                    <a:gd name="T40" fmla="*/ 58 w 205"/>
                    <a:gd name="T41" fmla="*/ 56 h 119"/>
                    <a:gd name="T42" fmla="*/ 48 w 205"/>
                    <a:gd name="T43" fmla="*/ 54 h 119"/>
                    <a:gd name="T44" fmla="*/ 39 w 205"/>
                    <a:gd name="T45" fmla="*/ 54 h 119"/>
                    <a:gd name="T46" fmla="*/ 31 w 205"/>
                    <a:gd name="T47" fmla="*/ 52 h 119"/>
                    <a:gd name="T48" fmla="*/ 22 w 205"/>
                    <a:gd name="T49" fmla="*/ 52 h 119"/>
                    <a:gd name="T50" fmla="*/ 12 w 205"/>
                    <a:gd name="T51" fmla="*/ 45 h 119"/>
                    <a:gd name="T52" fmla="*/ 6 w 205"/>
                    <a:gd name="T53" fmla="*/ 39 h 119"/>
                    <a:gd name="T54" fmla="*/ 2 w 205"/>
                    <a:gd name="T55" fmla="*/ 32 h 119"/>
                    <a:gd name="T56" fmla="*/ 0 w 205"/>
                    <a:gd name="T57" fmla="*/ 26 h 119"/>
                    <a:gd name="T58" fmla="*/ 0 w 205"/>
                    <a:gd name="T59" fmla="*/ 19 h 119"/>
                    <a:gd name="T60" fmla="*/ 2 w 205"/>
                    <a:gd name="T61" fmla="*/ 13 h 119"/>
                    <a:gd name="T62" fmla="*/ 7 w 205"/>
                    <a:gd name="T63" fmla="*/ 6 h 119"/>
                    <a:gd name="T64" fmla="*/ 14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1" name="Freeform 90">
                  <a:extLst>
                    <a:ext uri="{FF2B5EF4-FFF2-40B4-BE49-F238E27FC236}">
                      <a16:creationId xmlns:a16="http://schemas.microsoft.com/office/drawing/2014/main" id="{54DA40C0-D235-7241-8F6B-46021E51453F}"/>
                    </a:ext>
                  </a:extLst>
                </p:cNvPr>
                <p:cNvSpPr>
                  <a:spLocks/>
                </p:cNvSpPr>
                <p:nvPr/>
              </p:nvSpPr>
              <p:spPr bwMode="auto">
                <a:xfrm>
                  <a:off x="4298" y="3373"/>
                  <a:ext cx="97" cy="57"/>
                </a:xfrm>
                <a:custGeom>
                  <a:avLst/>
                  <a:gdLst>
                    <a:gd name="T0" fmla="*/ 14 w 195"/>
                    <a:gd name="T1" fmla="*/ 0 h 114"/>
                    <a:gd name="T2" fmla="*/ 24 w 195"/>
                    <a:gd name="T3" fmla="*/ 3 h 114"/>
                    <a:gd name="T4" fmla="*/ 34 w 195"/>
                    <a:gd name="T5" fmla="*/ 6 h 114"/>
                    <a:gd name="T6" fmla="*/ 44 w 195"/>
                    <a:gd name="T7" fmla="*/ 10 h 114"/>
                    <a:gd name="T8" fmla="*/ 55 w 195"/>
                    <a:gd name="T9" fmla="*/ 13 h 114"/>
                    <a:gd name="T10" fmla="*/ 65 w 195"/>
                    <a:gd name="T11" fmla="*/ 17 h 114"/>
                    <a:gd name="T12" fmla="*/ 76 w 195"/>
                    <a:gd name="T13" fmla="*/ 20 h 114"/>
                    <a:gd name="T14" fmla="*/ 86 w 195"/>
                    <a:gd name="T15" fmla="*/ 23 h 114"/>
                    <a:gd name="T16" fmla="*/ 96 w 195"/>
                    <a:gd name="T17" fmla="*/ 27 h 114"/>
                    <a:gd name="T18" fmla="*/ 96 w 195"/>
                    <a:gd name="T19" fmla="*/ 31 h 114"/>
                    <a:gd name="T20" fmla="*/ 97 w 195"/>
                    <a:gd name="T21" fmla="*/ 36 h 114"/>
                    <a:gd name="T22" fmla="*/ 96 w 195"/>
                    <a:gd name="T23" fmla="*/ 40 h 114"/>
                    <a:gd name="T24" fmla="*/ 96 w 195"/>
                    <a:gd name="T25" fmla="*/ 44 h 114"/>
                    <a:gd name="T26" fmla="*/ 95 w 195"/>
                    <a:gd name="T27" fmla="*/ 47 h 114"/>
                    <a:gd name="T28" fmla="*/ 93 w 195"/>
                    <a:gd name="T29" fmla="*/ 51 h 114"/>
                    <a:gd name="T30" fmla="*/ 91 w 195"/>
                    <a:gd name="T31" fmla="*/ 54 h 114"/>
                    <a:gd name="T32" fmla="*/ 88 w 195"/>
                    <a:gd name="T33" fmla="*/ 57 h 114"/>
                    <a:gd name="T34" fmla="*/ 80 w 195"/>
                    <a:gd name="T35" fmla="*/ 56 h 114"/>
                    <a:gd name="T36" fmla="*/ 71 w 195"/>
                    <a:gd name="T37" fmla="*/ 55 h 114"/>
                    <a:gd name="T38" fmla="*/ 63 w 195"/>
                    <a:gd name="T39" fmla="*/ 54 h 114"/>
                    <a:gd name="T40" fmla="*/ 54 w 195"/>
                    <a:gd name="T41" fmla="*/ 53 h 114"/>
                    <a:gd name="T42" fmla="*/ 46 w 195"/>
                    <a:gd name="T43" fmla="*/ 52 h 114"/>
                    <a:gd name="T44" fmla="*/ 38 w 195"/>
                    <a:gd name="T45" fmla="*/ 52 h 114"/>
                    <a:gd name="T46" fmla="*/ 29 w 195"/>
                    <a:gd name="T47" fmla="*/ 50 h 114"/>
                    <a:gd name="T48" fmla="*/ 21 w 195"/>
                    <a:gd name="T49" fmla="*/ 50 h 114"/>
                    <a:gd name="T50" fmla="*/ 12 w 195"/>
                    <a:gd name="T51" fmla="*/ 43 h 114"/>
                    <a:gd name="T52" fmla="*/ 6 w 195"/>
                    <a:gd name="T53" fmla="*/ 37 h 114"/>
                    <a:gd name="T54" fmla="*/ 2 w 195"/>
                    <a:gd name="T55" fmla="*/ 30 h 114"/>
                    <a:gd name="T56" fmla="*/ 0 w 195"/>
                    <a:gd name="T57" fmla="*/ 25 h 114"/>
                    <a:gd name="T58" fmla="*/ 0 w 195"/>
                    <a:gd name="T59" fmla="*/ 18 h 114"/>
                    <a:gd name="T60" fmla="*/ 2 w 195"/>
                    <a:gd name="T61" fmla="*/ 12 h 114"/>
                    <a:gd name="T62" fmla="*/ 6 w 195"/>
                    <a:gd name="T63" fmla="*/ 6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2" name="Freeform 91">
                  <a:extLst>
                    <a:ext uri="{FF2B5EF4-FFF2-40B4-BE49-F238E27FC236}">
                      <a16:creationId xmlns:a16="http://schemas.microsoft.com/office/drawing/2014/main" id="{48EBADCE-E3C9-5F46-9CD0-F21E186CCC20}"/>
                    </a:ext>
                  </a:extLst>
                </p:cNvPr>
                <p:cNvSpPr>
                  <a:spLocks/>
                </p:cNvSpPr>
                <p:nvPr/>
              </p:nvSpPr>
              <p:spPr bwMode="auto">
                <a:xfrm>
                  <a:off x="4301" y="3375"/>
                  <a:ext cx="92" cy="54"/>
                </a:xfrm>
                <a:custGeom>
                  <a:avLst/>
                  <a:gdLst>
                    <a:gd name="T0" fmla="*/ 12 w 185"/>
                    <a:gd name="T1" fmla="*/ 0 h 106"/>
                    <a:gd name="T2" fmla="*/ 22 w 185"/>
                    <a:gd name="T3" fmla="*/ 3 h 106"/>
                    <a:gd name="T4" fmla="*/ 32 w 185"/>
                    <a:gd name="T5" fmla="*/ 6 h 106"/>
                    <a:gd name="T6" fmla="*/ 42 w 185"/>
                    <a:gd name="T7" fmla="*/ 9 h 106"/>
                    <a:gd name="T8" fmla="*/ 52 w 185"/>
                    <a:gd name="T9" fmla="*/ 12 h 106"/>
                    <a:gd name="T10" fmla="*/ 61 w 185"/>
                    <a:gd name="T11" fmla="*/ 15 h 106"/>
                    <a:gd name="T12" fmla="*/ 71 w 185"/>
                    <a:gd name="T13" fmla="*/ 18 h 106"/>
                    <a:gd name="T14" fmla="*/ 81 w 185"/>
                    <a:gd name="T15" fmla="*/ 21 h 106"/>
                    <a:gd name="T16" fmla="*/ 91 w 185"/>
                    <a:gd name="T17" fmla="*/ 25 h 106"/>
                    <a:gd name="T18" fmla="*/ 91 w 185"/>
                    <a:gd name="T19" fmla="*/ 29 h 106"/>
                    <a:gd name="T20" fmla="*/ 92 w 185"/>
                    <a:gd name="T21" fmla="*/ 34 h 106"/>
                    <a:gd name="T22" fmla="*/ 91 w 185"/>
                    <a:gd name="T23" fmla="*/ 38 h 106"/>
                    <a:gd name="T24" fmla="*/ 91 w 185"/>
                    <a:gd name="T25" fmla="*/ 41 h 106"/>
                    <a:gd name="T26" fmla="*/ 90 w 185"/>
                    <a:gd name="T27" fmla="*/ 44 h 106"/>
                    <a:gd name="T28" fmla="*/ 89 w 185"/>
                    <a:gd name="T29" fmla="*/ 48 h 106"/>
                    <a:gd name="T30" fmla="*/ 86 w 185"/>
                    <a:gd name="T31" fmla="*/ 51 h 106"/>
                    <a:gd name="T32" fmla="*/ 85 w 185"/>
                    <a:gd name="T33" fmla="*/ 54 h 106"/>
                    <a:gd name="T34" fmla="*/ 76 w 185"/>
                    <a:gd name="T35" fmla="*/ 53 h 106"/>
                    <a:gd name="T36" fmla="*/ 68 w 185"/>
                    <a:gd name="T37" fmla="*/ 52 h 106"/>
                    <a:gd name="T38" fmla="*/ 59 w 185"/>
                    <a:gd name="T39" fmla="*/ 51 h 106"/>
                    <a:gd name="T40" fmla="*/ 52 w 185"/>
                    <a:gd name="T41" fmla="*/ 50 h 106"/>
                    <a:gd name="T42" fmla="*/ 43 w 185"/>
                    <a:gd name="T43" fmla="*/ 49 h 106"/>
                    <a:gd name="T44" fmla="*/ 35 w 185"/>
                    <a:gd name="T45" fmla="*/ 48 h 106"/>
                    <a:gd name="T46" fmla="*/ 27 w 185"/>
                    <a:gd name="T47" fmla="*/ 48 h 106"/>
                    <a:gd name="T48" fmla="*/ 19 w 185"/>
                    <a:gd name="T49" fmla="*/ 47 h 106"/>
                    <a:gd name="T50" fmla="*/ 11 w 185"/>
                    <a:gd name="T51" fmla="*/ 41 h 106"/>
                    <a:gd name="T52" fmla="*/ 6 w 185"/>
                    <a:gd name="T53" fmla="*/ 35 h 106"/>
                    <a:gd name="T54" fmla="*/ 2 w 185"/>
                    <a:gd name="T55" fmla="*/ 29 h 106"/>
                    <a:gd name="T56" fmla="*/ 0 w 185"/>
                    <a:gd name="T57" fmla="*/ 23 h 106"/>
                    <a:gd name="T58" fmla="*/ 0 w 185"/>
                    <a:gd name="T59" fmla="*/ 17 h 106"/>
                    <a:gd name="T60" fmla="*/ 2 w 185"/>
                    <a:gd name="T61" fmla="*/ 11 h 106"/>
                    <a:gd name="T62" fmla="*/ 6 w 185"/>
                    <a:gd name="T63" fmla="*/ 6 h 106"/>
                    <a:gd name="T64" fmla="*/ 12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3" name="Freeform 92">
                  <a:extLst>
                    <a:ext uri="{FF2B5EF4-FFF2-40B4-BE49-F238E27FC236}">
                      <a16:creationId xmlns:a16="http://schemas.microsoft.com/office/drawing/2014/main" id="{3BF477BF-9A1D-7348-B2C1-EE4D0DBC89B7}"/>
                    </a:ext>
                  </a:extLst>
                </p:cNvPr>
                <p:cNvSpPr>
                  <a:spLocks/>
                </p:cNvSpPr>
                <p:nvPr/>
              </p:nvSpPr>
              <p:spPr bwMode="auto">
                <a:xfrm>
                  <a:off x="4303" y="3377"/>
                  <a:ext cx="87" cy="50"/>
                </a:xfrm>
                <a:custGeom>
                  <a:avLst/>
                  <a:gdLst>
                    <a:gd name="T0" fmla="*/ 12 w 175"/>
                    <a:gd name="T1" fmla="*/ 0 h 101"/>
                    <a:gd name="T2" fmla="*/ 21 w 175"/>
                    <a:gd name="T3" fmla="*/ 2 h 101"/>
                    <a:gd name="T4" fmla="*/ 30 w 175"/>
                    <a:gd name="T5" fmla="*/ 6 h 101"/>
                    <a:gd name="T6" fmla="*/ 39 w 175"/>
                    <a:gd name="T7" fmla="*/ 8 h 101"/>
                    <a:gd name="T8" fmla="*/ 49 w 175"/>
                    <a:gd name="T9" fmla="*/ 11 h 101"/>
                    <a:gd name="T10" fmla="*/ 58 w 175"/>
                    <a:gd name="T11" fmla="*/ 14 h 101"/>
                    <a:gd name="T12" fmla="*/ 67 w 175"/>
                    <a:gd name="T13" fmla="*/ 17 h 101"/>
                    <a:gd name="T14" fmla="*/ 76 w 175"/>
                    <a:gd name="T15" fmla="*/ 20 h 101"/>
                    <a:gd name="T16" fmla="*/ 86 w 175"/>
                    <a:gd name="T17" fmla="*/ 23 h 101"/>
                    <a:gd name="T18" fmla="*/ 86 w 175"/>
                    <a:gd name="T19" fmla="*/ 27 h 101"/>
                    <a:gd name="T20" fmla="*/ 87 w 175"/>
                    <a:gd name="T21" fmla="*/ 31 h 101"/>
                    <a:gd name="T22" fmla="*/ 86 w 175"/>
                    <a:gd name="T23" fmla="*/ 34 h 101"/>
                    <a:gd name="T24" fmla="*/ 86 w 175"/>
                    <a:gd name="T25" fmla="*/ 38 h 101"/>
                    <a:gd name="T26" fmla="*/ 83 w 175"/>
                    <a:gd name="T27" fmla="*/ 44 h 101"/>
                    <a:gd name="T28" fmla="*/ 79 w 175"/>
                    <a:gd name="T29" fmla="*/ 50 h 101"/>
                    <a:gd name="T30" fmla="*/ 71 w 175"/>
                    <a:gd name="T31" fmla="*/ 49 h 101"/>
                    <a:gd name="T32" fmla="*/ 64 w 175"/>
                    <a:gd name="T33" fmla="*/ 48 h 101"/>
                    <a:gd name="T34" fmla="*/ 56 w 175"/>
                    <a:gd name="T35" fmla="*/ 47 h 101"/>
                    <a:gd name="T36" fmla="*/ 49 w 175"/>
                    <a:gd name="T37" fmla="*/ 47 h 101"/>
                    <a:gd name="T38" fmla="*/ 41 w 175"/>
                    <a:gd name="T39" fmla="*/ 46 h 101"/>
                    <a:gd name="T40" fmla="*/ 34 w 175"/>
                    <a:gd name="T41" fmla="*/ 45 h 101"/>
                    <a:gd name="T42" fmla="*/ 26 w 175"/>
                    <a:gd name="T43" fmla="*/ 44 h 101"/>
                    <a:gd name="T44" fmla="*/ 19 w 175"/>
                    <a:gd name="T45" fmla="*/ 44 h 101"/>
                    <a:gd name="T46" fmla="*/ 11 w 175"/>
                    <a:gd name="T47" fmla="*/ 38 h 101"/>
                    <a:gd name="T48" fmla="*/ 6 w 175"/>
                    <a:gd name="T49" fmla="*/ 33 h 101"/>
                    <a:gd name="T50" fmla="*/ 2 w 175"/>
                    <a:gd name="T51" fmla="*/ 27 h 101"/>
                    <a:gd name="T52" fmla="*/ 0 w 175"/>
                    <a:gd name="T53" fmla="*/ 22 h 101"/>
                    <a:gd name="T54" fmla="*/ 0 w 175"/>
                    <a:gd name="T55" fmla="*/ 16 h 101"/>
                    <a:gd name="T56" fmla="*/ 2 w 175"/>
                    <a:gd name="T57" fmla="*/ 11 h 101"/>
                    <a:gd name="T58" fmla="*/ 6 w 175"/>
                    <a:gd name="T59" fmla="*/ 5 h 101"/>
                    <a:gd name="T60" fmla="*/ 12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4" name="Freeform 93">
                  <a:extLst>
                    <a:ext uri="{FF2B5EF4-FFF2-40B4-BE49-F238E27FC236}">
                      <a16:creationId xmlns:a16="http://schemas.microsoft.com/office/drawing/2014/main" id="{DD5FB6E5-C68E-064A-BE5D-C1000AC76112}"/>
                    </a:ext>
                  </a:extLst>
                </p:cNvPr>
                <p:cNvSpPr>
                  <a:spLocks/>
                </p:cNvSpPr>
                <p:nvPr/>
              </p:nvSpPr>
              <p:spPr bwMode="auto">
                <a:xfrm>
                  <a:off x="4306" y="3378"/>
                  <a:ext cx="81" cy="48"/>
                </a:xfrm>
                <a:custGeom>
                  <a:avLst/>
                  <a:gdLst>
                    <a:gd name="T0" fmla="*/ 11 w 163"/>
                    <a:gd name="T1" fmla="*/ 0 h 96"/>
                    <a:gd name="T2" fmla="*/ 19 w 163"/>
                    <a:gd name="T3" fmla="*/ 3 h 96"/>
                    <a:gd name="T4" fmla="*/ 28 w 163"/>
                    <a:gd name="T5" fmla="*/ 6 h 96"/>
                    <a:gd name="T6" fmla="*/ 37 w 163"/>
                    <a:gd name="T7" fmla="*/ 8 h 96"/>
                    <a:gd name="T8" fmla="*/ 46 w 163"/>
                    <a:gd name="T9" fmla="*/ 11 h 96"/>
                    <a:gd name="T10" fmla="*/ 54 w 163"/>
                    <a:gd name="T11" fmla="*/ 13 h 96"/>
                    <a:gd name="T12" fmla="*/ 63 w 163"/>
                    <a:gd name="T13" fmla="*/ 17 h 96"/>
                    <a:gd name="T14" fmla="*/ 71 w 163"/>
                    <a:gd name="T15" fmla="*/ 20 h 96"/>
                    <a:gd name="T16" fmla="*/ 81 w 163"/>
                    <a:gd name="T17" fmla="*/ 23 h 96"/>
                    <a:gd name="T18" fmla="*/ 81 w 163"/>
                    <a:gd name="T19" fmla="*/ 26 h 96"/>
                    <a:gd name="T20" fmla="*/ 81 w 163"/>
                    <a:gd name="T21" fmla="*/ 30 h 96"/>
                    <a:gd name="T22" fmla="*/ 81 w 163"/>
                    <a:gd name="T23" fmla="*/ 33 h 96"/>
                    <a:gd name="T24" fmla="*/ 81 w 163"/>
                    <a:gd name="T25" fmla="*/ 37 h 96"/>
                    <a:gd name="T26" fmla="*/ 79 w 163"/>
                    <a:gd name="T27" fmla="*/ 43 h 96"/>
                    <a:gd name="T28" fmla="*/ 75 w 163"/>
                    <a:gd name="T29" fmla="*/ 48 h 96"/>
                    <a:gd name="T30" fmla="*/ 68 w 163"/>
                    <a:gd name="T31" fmla="*/ 47 h 96"/>
                    <a:gd name="T32" fmla="*/ 60 w 163"/>
                    <a:gd name="T33" fmla="*/ 46 h 96"/>
                    <a:gd name="T34" fmla="*/ 53 w 163"/>
                    <a:gd name="T35" fmla="*/ 45 h 96"/>
                    <a:gd name="T36" fmla="*/ 46 w 163"/>
                    <a:gd name="T37" fmla="*/ 45 h 96"/>
                    <a:gd name="T38" fmla="*/ 39 w 163"/>
                    <a:gd name="T39" fmla="*/ 43 h 96"/>
                    <a:gd name="T40" fmla="*/ 31 w 163"/>
                    <a:gd name="T41" fmla="*/ 43 h 96"/>
                    <a:gd name="T42" fmla="*/ 24 w 163"/>
                    <a:gd name="T43" fmla="*/ 42 h 96"/>
                    <a:gd name="T44" fmla="*/ 17 w 163"/>
                    <a:gd name="T45" fmla="*/ 41 h 96"/>
                    <a:gd name="T46" fmla="*/ 10 w 163"/>
                    <a:gd name="T47" fmla="*/ 36 h 96"/>
                    <a:gd name="T48" fmla="*/ 5 w 163"/>
                    <a:gd name="T49" fmla="*/ 30 h 96"/>
                    <a:gd name="T50" fmla="*/ 1 w 163"/>
                    <a:gd name="T51" fmla="*/ 25 h 96"/>
                    <a:gd name="T52" fmla="*/ 0 w 163"/>
                    <a:gd name="T53" fmla="*/ 21 h 96"/>
                    <a:gd name="T54" fmla="*/ 0 w 163"/>
                    <a:gd name="T55" fmla="*/ 15 h 96"/>
                    <a:gd name="T56" fmla="*/ 2 w 163"/>
                    <a:gd name="T57" fmla="*/ 10 h 96"/>
                    <a:gd name="T58" fmla="*/ 6 w 163"/>
                    <a:gd name="T59" fmla="*/ 5 h 96"/>
                    <a:gd name="T60" fmla="*/ 11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5" name="Freeform 94">
                  <a:extLst>
                    <a:ext uri="{FF2B5EF4-FFF2-40B4-BE49-F238E27FC236}">
                      <a16:creationId xmlns:a16="http://schemas.microsoft.com/office/drawing/2014/main" id="{264D17CC-7371-2847-A6AD-374EDABEF5FC}"/>
                    </a:ext>
                  </a:extLst>
                </p:cNvPr>
                <p:cNvSpPr>
                  <a:spLocks/>
                </p:cNvSpPr>
                <p:nvPr/>
              </p:nvSpPr>
              <p:spPr bwMode="auto">
                <a:xfrm>
                  <a:off x="4291" y="3412"/>
                  <a:ext cx="118" cy="69"/>
                </a:xfrm>
                <a:custGeom>
                  <a:avLst/>
                  <a:gdLst>
                    <a:gd name="T0" fmla="*/ 16 w 235"/>
                    <a:gd name="T1" fmla="*/ 0 h 136"/>
                    <a:gd name="T2" fmla="*/ 28 w 235"/>
                    <a:gd name="T3" fmla="*/ 4 h 136"/>
                    <a:gd name="T4" fmla="*/ 41 w 235"/>
                    <a:gd name="T5" fmla="*/ 8 h 136"/>
                    <a:gd name="T6" fmla="*/ 53 w 235"/>
                    <a:gd name="T7" fmla="*/ 12 h 136"/>
                    <a:gd name="T8" fmla="*/ 66 w 235"/>
                    <a:gd name="T9" fmla="*/ 16 h 136"/>
                    <a:gd name="T10" fmla="*/ 79 w 235"/>
                    <a:gd name="T11" fmla="*/ 20 h 136"/>
                    <a:gd name="T12" fmla="*/ 92 w 235"/>
                    <a:gd name="T13" fmla="*/ 24 h 136"/>
                    <a:gd name="T14" fmla="*/ 104 w 235"/>
                    <a:gd name="T15" fmla="*/ 28 h 136"/>
                    <a:gd name="T16" fmla="*/ 117 w 235"/>
                    <a:gd name="T17" fmla="*/ 32 h 136"/>
                    <a:gd name="T18" fmla="*/ 117 w 235"/>
                    <a:gd name="T19" fmla="*/ 38 h 136"/>
                    <a:gd name="T20" fmla="*/ 118 w 235"/>
                    <a:gd name="T21" fmla="*/ 43 h 136"/>
                    <a:gd name="T22" fmla="*/ 117 w 235"/>
                    <a:gd name="T23" fmla="*/ 48 h 136"/>
                    <a:gd name="T24" fmla="*/ 117 w 235"/>
                    <a:gd name="T25" fmla="*/ 53 h 136"/>
                    <a:gd name="T26" fmla="*/ 115 w 235"/>
                    <a:gd name="T27" fmla="*/ 57 h 136"/>
                    <a:gd name="T28" fmla="*/ 113 w 235"/>
                    <a:gd name="T29" fmla="*/ 61 h 136"/>
                    <a:gd name="T30" fmla="*/ 110 w 235"/>
                    <a:gd name="T31" fmla="*/ 65 h 136"/>
                    <a:gd name="T32" fmla="*/ 108 w 235"/>
                    <a:gd name="T33" fmla="*/ 69 h 136"/>
                    <a:gd name="T34" fmla="*/ 97 w 235"/>
                    <a:gd name="T35" fmla="*/ 68 h 136"/>
                    <a:gd name="T36" fmla="*/ 87 w 235"/>
                    <a:gd name="T37" fmla="*/ 66 h 136"/>
                    <a:gd name="T38" fmla="*/ 77 w 235"/>
                    <a:gd name="T39" fmla="*/ 65 h 136"/>
                    <a:gd name="T40" fmla="*/ 66 w 235"/>
                    <a:gd name="T41" fmla="*/ 64 h 136"/>
                    <a:gd name="T42" fmla="*/ 56 w 235"/>
                    <a:gd name="T43" fmla="*/ 63 h 136"/>
                    <a:gd name="T44" fmla="*/ 46 w 235"/>
                    <a:gd name="T45" fmla="*/ 62 h 136"/>
                    <a:gd name="T46" fmla="*/ 36 w 235"/>
                    <a:gd name="T47" fmla="*/ 61 h 136"/>
                    <a:gd name="T48" fmla="*/ 26 w 235"/>
                    <a:gd name="T49" fmla="*/ 60 h 136"/>
                    <a:gd name="T50" fmla="*/ 15 w 235"/>
                    <a:gd name="T51" fmla="*/ 53 h 136"/>
                    <a:gd name="T52" fmla="*/ 8 w 235"/>
                    <a:gd name="T53" fmla="*/ 45 h 136"/>
                    <a:gd name="T54" fmla="*/ 2 w 235"/>
                    <a:gd name="T55" fmla="*/ 38 h 136"/>
                    <a:gd name="T56" fmla="*/ 0 w 235"/>
                    <a:gd name="T57" fmla="*/ 30 h 136"/>
                    <a:gd name="T58" fmla="*/ 0 w 235"/>
                    <a:gd name="T59" fmla="*/ 22 h 136"/>
                    <a:gd name="T60" fmla="*/ 3 w 235"/>
                    <a:gd name="T61" fmla="*/ 14 h 136"/>
                    <a:gd name="T62" fmla="*/ 8 w 235"/>
                    <a:gd name="T63" fmla="*/ 7 h 136"/>
                    <a:gd name="T64" fmla="*/ 16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6" name="Freeform 95">
                  <a:extLst>
                    <a:ext uri="{FF2B5EF4-FFF2-40B4-BE49-F238E27FC236}">
                      <a16:creationId xmlns:a16="http://schemas.microsoft.com/office/drawing/2014/main" id="{A065DFF6-D558-F345-89E1-C413C44E6415}"/>
                    </a:ext>
                  </a:extLst>
                </p:cNvPr>
                <p:cNvSpPr>
                  <a:spLocks/>
                </p:cNvSpPr>
                <p:nvPr/>
              </p:nvSpPr>
              <p:spPr bwMode="auto">
                <a:xfrm>
                  <a:off x="4294" y="3414"/>
                  <a:ext cx="110" cy="64"/>
                </a:xfrm>
                <a:custGeom>
                  <a:avLst/>
                  <a:gdLst>
                    <a:gd name="T0" fmla="*/ 15 w 220"/>
                    <a:gd name="T1" fmla="*/ 0 h 128"/>
                    <a:gd name="T2" fmla="*/ 27 w 220"/>
                    <a:gd name="T3" fmla="*/ 3 h 128"/>
                    <a:gd name="T4" fmla="*/ 39 w 220"/>
                    <a:gd name="T5" fmla="*/ 7 h 128"/>
                    <a:gd name="T6" fmla="*/ 50 w 220"/>
                    <a:gd name="T7" fmla="*/ 11 h 128"/>
                    <a:gd name="T8" fmla="*/ 62 w 220"/>
                    <a:gd name="T9" fmla="*/ 14 h 128"/>
                    <a:gd name="T10" fmla="*/ 73 w 220"/>
                    <a:gd name="T11" fmla="*/ 17 h 128"/>
                    <a:gd name="T12" fmla="*/ 85 w 220"/>
                    <a:gd name="T13" fmla="*/ 21 h 128"/>
                    <a:gd name="T14" fmla="*/ 97 w 220"/>
                    <a:gd name="T15" fmla="*/ 25 h 128"/>
                    <a:gd name="T16" fmla="*/ 109 w 220"/>
                    <a:gd name="T17" fmla="*/ 29 h 128"/>
                    <a:gd name="T18" fmla="*/ 110 w 220"/>
                    <a:gd name="T19" fmla="*/ 34 h 128"/>
                    <a:gd name="T20" fmla="*/ 110 w 220"/>
                    <a:gd name="T21" fmla="*/ 39 h 128"/>
                    <a:gd name="T22" fmla="*/ 110 w 220"/>
                    <a:gd name="T23" fmla="*/ 44 h 128"/>
                    <a:gd name="T24" fmla="*/ 110 w 220"/>
                    <a:gd name="T25" fmla="*/ 49 h 128"/>
                    <a:gd name="T26" fmla="*/ 109 w 220"/>
                    <a:gd name="T27" fmla="*/ 53 h 128"/>
                    <a:gd name="T28" fmla="*/ 107 w 220"/>
                    <a:gd name="T29" fmla="*/ 57 h 128"/>
                    <a:gd name="T30" fmla="*/ 105 w 220"/>
                    <a:gd name="T31" fmla="*/ 60 h 128"/>
                    <a:gd name="T32" fmla="*/ 102 w 220"/>
                    <a:gd name="T33" fmla="*/ 64 h 128"/>
                    <a:gd name="T34" fmla="*/ 91 w 220"/>
                    <a:gd name="T35" fmla="*/ 63 h 128"/>
                    <a:gd name="T36" fmla="*/ 82 w 220"/>
                    <a:gd name="T37" fmla="*/ 62 h 128"/>
                    <a:gd name="T38" fmla="*/ 72 w 220"/>
                    <a:gd name="T39" fmla="*/ 61 h 128"/>
                    <a:gd name="T40" fmla="*/ 62 w 220"/>
                    <a:gd name="T41" fmla="*/ 60 h 128"/>
                    <a:gd name="T42" fmla="*/ 53 w 220"/>
                    <a:gd name="T43" fmla="*/ 59 h 128"/>
                    <a:gd name="T44" fmla="*/ 43 w 220"/>
                    <a:gd name="T45" fmla="*/ 58 h 128"/>
                    <a:gd name="T46" fmla="*/ 33 w 220"/>
                    <a:gd name="T47" fmla="*/ 58 h 128"/>
                    <a:gd name="T48" fmla="*/ 24 w 220"/>
                    <a:gd name="T49" fmla="*/ 57 h 128"/>
                    <a:gd name="T50" fmla="*/ 14 w 220"/>
                    <a:gd name="T51" fmla="*/ 49 h 128"/>
                    <a:gd name="T52" fmla="*/ 7 w 220"/>
                    <a:gd name="T53" fmla="*/ 43 h 128"/>
                    <a:gd name="T54" fmla="*/ 2 w 220"/>
                    <a:gd name="T55" fmla="*/ 35 h 128"/>
                    <a:gd name="T56" fmla="*/ 0 w 220"/>
                    <a:gd name="T57" fmla="*/ 28 h 128"/>
                    <a:gd name="T58" fmla="*/ 0 w 220"/>
                    <a:gd name="T59" fmla="*/ 21 h 128"/>
                    <a:gd name="T60" fmla="*/ 3 w 220"/>
                    <a:gd name="T61" fmla="*/ 14 h 128"/>
                    <a:gd name="T62" fmla="*/ 7 w 220"/>
                    <a:gd name="T63" fmla="*/ 7 h 128"/>
                    <a:gd name="T64" fmla="*/ 15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7" name="Freeform 96">
                  <a:extLst>
                    <a:ext uri="{FF2B5EF4-FFF2-40B4-BE49-F238E27FC236}">
                      <a16:creationId xmlns:a16="http://schemas.microsoft.com/office/drawing/2014/main" id="{B8EC020A-410C-7B47-A337-8FA9BEFC1163}"/>
                    </a:ext>
                  </a:extLst>
                </p:cNvPr>
                <p:cNvSpPr>
                  <a:spLocks/>
                </p:cNvSpPr>
                <p:nvPr/>
              </p:nvSpPr>
              <p:spPr bwMode="auto">
                <a:xfrm>
                  <a:off x="4296" y="3416"/>
                  <a:ext cx="104" cy="60"/>
                </a:xfrm>
                <a:custGeom>
                  <a:avLst/>
                  <a:gdLst>
                    <a:gd name="T0" fmla="*/ 14 w 206"/>
                    <a:gd name="T1" fmla="*/ 0 h 120"/>
                    <a:gd name="T2" fmla="*/ 25 w 206"/>
                    <a:gd name="T3" fmla="*/ 3 h 120"/>
                    <a:gd name="T4" fmla="*/ 36 w 206"/>
                    <a:gd name="T5" fmla="*/ 7 h 120"/>
                    <a:gd name="T6" fmla="*/ 47 w 206"/>
                    <a:gd name="T7" fmla="*/ 10 h 120"/>
                    <a:gd name="T8" fmla="*/ 59 w 206"/>
                    <a:gd name="T9" fmla="*/ 13 h 120"/>
                    <a:gd name="T10" fmla="*/ 69 w 206"/>
                    <a:gd name="T11" fmla="*/ 17 h 120"/>
                    <a:gd name="T12" fmla="*/ 80 w 206"/>
                    <a:gd name="T13" fmla="*/ 20 h 120"/>
                    <a:gd name="T14" fmla="*/ 91 w 206"/>
                    <a:gd name="T15" fmla="*/ 24 h 120"/>
                    <a:gd name="T16" fmla="*/ 102 w 206"/>
                    <a:gd name="T17" fmla="*/ 28 h 120"/>
                    <a:gd name="T18" fmla="*/ 103 w 206"/>
                    <a:gd name="T19" fmla="*/ 32 h 120"/>
                    <a:gd name="T20" fmla="*/ 104 w 206"/>
                    <a:gd name="T21" fmla="*/ 37 h 120"/>
                    <a:gd name="T22" fmla="*/ 104 w 206"/>
                    <a:gd name="T23" fmla="*/ 41 h 120"/>
                    <a:gd name="T24" fmla="*/ 104 w 206"/>
                    <a:gd name="T25" fmla="*/ 46 h 120"/>
                    <a:gd name="T26" fmla="*/ 103 w 206"/>
                    <a:gd name="T27" fmla="*/ 50 h 120"/>
                    <a:gd name="T28" fmla="*/ 101 w 206"/>
                    <a:gd name="T29" fmla="*/ 54 h 120"/>
                    <a:gd name="T30" fmla="*/ 98 w 206"/>
                    <a:gd name="T31" fmla="*/ 57 h 120"/>
                    <a:gd name="T32" fmla="*/ 95 w 206"/>
                    <a:gd name="T33" fmla="*/ 60 h 120"/>
                    <a:gd name="T34" fmla="*/ 86 w 206"/>
                    <a:gd name="T35" fmla="*/ 59 h 120"/>
                    <a:gd name="T36" fmla="*/ 76 w 206"/>
                    <a:gd name="T37" fmla="*/ 59 h 120"/>
                    <a:gd name="T38" fmla="*/ 68 w 206"/>
                    <a:gd name="T39" fmla="*/ 57 h 120"/>
                    <a:gd name="T40" fmla="*/ 59 w 206"/>
                    <a:gd name="T41" fmla="*/ 57 h 120"/>
                    <a:gd name="T42" fmla="*/ 50 w 206"/>
                    <a:gd name="T43" fmla="*/ 56 h 120"/>
                    <a:gd name="T44" fmla="*/ 41 w 206"/>
                    <a:gd name="T45" fmla="*/ 55 h 120"/>
                    <a:gd name="T46" fmla="*/ 32 w 206"/>
                    <a:gd name="T47" fmla="*/ 54 h 120"/>
                    <a:gd name="T48" fmla="*/ 23 w 206"/>
                    <a:gd name="T49" fmla="*/ 54 h 120"/>
                    <a:gd name="T50" fmla="*/ 14 w 206"/>
                    <a:gd name="T51" fmla="*/ 46 h 120"/>
                    <a:gd name="T52" fmla="*/ 7 w 206"/>
                    <a:gd name="T53" fmla="*/ 40 h 120"/>
                    <a:gd name="T54" fmla="*/ 2 w 206"/>
                    <a:gd name="T55" fmla="*/ 32 h 120"/>
                    <a:gd name="T56" fmla="*/ 0 w 206"/>
                    <a:gd name="T57" fmla="*/ 26 h 120"/>
                    <a:gd name="T58" fmla="*/ 0 w 206"/>
                    <a:gd name="T59" fmla="*/ 19 h 120"/>
                    <a:gd name="T60" fmla="*/ 3 w 206"/>
                    <a:gd name="T61" fmla="*/ 13 h 120"/>
                    <a:gd name="T62" fmla="*/ 7 w 206"/>
                    <a:gd name="T63" fmla="*/ 6 h 120"/>
                    <a:gd name="T64" fmla="*/ 14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8" name="Freeform 97">
                  <a:extLst>
                    <a:ext uri="{FF2B5EF4-FFF2-40B4-BE49-F238E27FC236}">
                      <a16:creationId xmlns:a16="http://schemas.microsoft.com/office/drawing/2014/main" id="{D977B494-8F07-8649-87AF-6ABB471A9301}"/>
                    </a:ext>
                  </a:extLst>
                </p:cNvPr>
                <p:cNvSpPr>
                  <a:spLocks/>
                </p:cNvSpPr>
                <p:nvPr/>
              </p:nvSpPr>
              <p:spPr bwMode="auto">
                <a:xfrm>
                  <a:off x="4299" y="3417"/>
                  <a:ext cx="98" cy="57"/>
                </a:xfrm>
                <a:custGeom>
                  <a:avLst/>
                  <a:gdLst>
                    <a:gd name="T0" fmla="*/ 14 w 195"/>
                    <a:gd name="T1" fmla="*/ 0 h 114"/>
                    <a:gd name="T2" fmla="*/ 24 w 195"/>
                    <a:gd name="T3" fmla="*/ 4 h 114"/>
                    <a:gd name="T4" fmla="*/ 34 w 195"/>
                    <a:gd name="T5" fmla="*/ 7 h 114"/>
                    <a:gd name="T6" fmla="*/ 44 w 195"/>
                    <a:gd name="T7" fmla="*/ 10 h 114"/>
                    <a:gd name="T8" fmla="*/ 54 w 195"/>
                    <a:gd name="T9" fmla="*/ 13 h 114"/>
                    <a:gd name="T10" fmla="*/ 63 w 195"/>
                    <a:gd name="T11" fmla="*/ 15 h 114"/>
                    <a:gd name="T12" fmla="*/ 73 w 195"/>
                    <a:gd name="T13" fmla="*/ 19 h 114"/>
                    <a:gd name="T14" fmla="*/ 83 w 195"/>
                    <a:gd name="T15" fmla="*/ 22 h 114"/>
                    <a:gd name="T16" fmla="*/ 94 w 195"/>
                    <a:gd name="T17" fmla="*/ 26 h 114"/>
                    <a:gd name="T18" fmla="*/ 95 w 195"/>
                    <a:gd name="T19" fmla="*/ 30 h 114"/>
                    <a:gd name="T20" fmla="*/ 97 w 195"/>
                    <a:gd name="T21" fmla="*/ 35 h 114"/>
                    <a:gd name="T22" fmla="*/ 97 w 195"/>
                    <a:gd name="T23" fmla="*/ 39 h 114"/>
                    <a:gd name="T24" fmla="*/ 98 w 195"/>
                    <a:gd name="T25" fmla="*/ 44 h 114"/>
                    <a:gd name="T26" fmla="*/ 97 w 195"/>
                    <a:gd name="T27" fmla="*/ 48 h 114"/>
                    <a:gd name="T28" fmla="*/ 95 w 195"/>
                    <a:gd name="T29" fmla="*/ 52 h 114"/>
                    <a:gd name="T30" fmla="*/ 93 w 195"/>
                    <a:gd name="T31" fmla="*/ 55 h 114"/>
                    <a:gd name="T32" fmla="*/ 89 w 195"/>
                    <a:gd name="T33" fmla="*/ 57 h 114"/>
                    <a:gd name="T34" fmla="*/ 80 w 195"/>
                    <a:gd name="T35" fmla="*/ 56 h 114"/>
                    <a:gd name="T36" fmla="*/ 71 w 195"/>
                    <a:gd name="T37" fmla="*/ 56 h 114"/>
                    <a:gd name="T38" fmla="*/ 63 w 195"/>
                    <a:gd name="T39" fmla="*/ 55 h 114"/>
                    <a:gd name="T40" fmla="*/ 55 w 195"/>
                    <a:gd name="T41" fmla="*/ 55 h 114"/>
                    <a:gd name="T42" fmla="*/ 46 w 195"/>
                    <a:gd name="T43" fmla="*/ 54 h 114"/>
                    <a:gd name="T44" fmla="*/ 38 w 195"/>
                    <a:gd name="T45" fmla="*/ 54 h 114"/>
                    <a:gd name="T46" fmla="*/ 29 w 195"/>
                    <a:gd name="T47" fmla="*/ 53 h 114"/>
                    <a:gd name="T48" fmla="*/ 21 w 195"/>
                    <a:gd name="T49" fmla="*/ 52 h 114"/>
                    <a:gd name="T50" fmla="*/ 12 w 195"/>
                    <a:gd name="T51" fmla="*/ 46 h 114"/>
                    <a:gd name="T52" fmla="*/ 6 w 195"/>
                    <a:gd name="T53" fmla="*/ 39 h 114"/>
                    <a:gd name="T54" fmla="*/ 2 w 195"/>
                    <a:gd name="T55" fmla="*/ 32 h 114"/>
                    <a:gd name="T56" fmla="*/ 0 w 195"/>
                    <a:gd name="T57" fmla="*/ 26 h 114"/>
                    <a:gd name="T58" fmla="*/ 0 w 195"/>
                    <a:gd name="T59" fmla="*/ 19 h 114"/>
                    <a:gd name="T60" fmla="*/ 2 w 195"/>
                    <a:gd name="T61" fmla="*/ 13 h 114"/>
                    <a:gd name="T62" fmla="*/ 6 w 195"/>
                    <a:gd name="T63" fmla="*/ 7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19" name="Freeform 98">
                  <a:extLst>
                    <a:ext uri="{FF2B5EF4-FFF2-40B4-BE49-F238E27FC236}">
                      <a16:creationId xmlns:a16="http://schemas.microsoft.com/office/drawing/2014/main" id="{45E8C5B8-C222-6F40-BAC3-8AA3D14F11B6}"/>
                    </a:ext>
                  </a:extLst>
                </p:cNvPr>
                <p:cNvSpPr>
                  <a:spLocks/>
                </p:cNvSpPr>
                <p:nvPr/>
              </p:nvSpPr>
              <p:spPr bwMode="auto">
                <a:xfrm>
                  <a:off x="4301" y="3419"/>
                  <a:ext cx="92" cy="52"/>
                </a:xfrm>
                <a:custGeom>
                  <a:avLst/>
                  <a:gdLst>
                    <a:gd name="T0" fmla="*/ 13 w 183"/>
                    <a:gd name="T1" fmla="*/ 0 h 105"/>
                    <a:gd name="T2" fmla="*/ 23 w 183"/>
                    <a:gd name="T3" fmla="*/ 2 h 105"/>
                    <a:gd name="T4" fmla="*/ 32 w 183"/>
                    <a:gd name="T5" fmla="*/ 5 h 105"/>
                    <a:gd name="T6" fmla="*/ 41 w 183"/>
                    <a:gd name="T7" fmla="*/ 8 h 105"/>
                    <a:gd name="T8" fmla="*/ 50 w 183"/>
                    <a:gd name="T9" fmla="*/ 11 h 105"/>
                    <a:gd name="T10" fmla="*/ 58 w 183"/>
                    <a:gd name="T11" fmla="*/ 14 h 105"/>
                    <a:gd name="T12" fmla="*/ 67 w 183"/>
                    <a:gd name="T13" fmla="*/ 17 h 105"/>
                    <a:gd name="T14" fmla="*/ 76 w 183"/>
                    <a:gd name="T15" fmla="*/ 19 h 105"/>
                    <a:gd name="T16" fmla="*/ 87 w 183"/>
                    <a:gd name="T17" fmla="*/ 23 h 105"/>
                    <a:gd name="T18" fmla="*/ 88 w 183"/>
                    <a:gd name="T19" fmla="*/ 27 h 105"/>
                    <a:gd name="T20" fmla="*/ 90 w 183"/>
                    <a:gd name="T21" fmla="*/ 31 h 105"/>
                    <a:gd name="T22" fmla="*/ 90 w 183"/>
                    <a:gd name="T23" fmla="*/ 35 h 105"/>
                    <a:gd name="T24" fmla="*/ 92 w 183"/>
                    <a:gd name="T25" fmla="*/ 40 h 105"/>
                    <a:gd name="T26" fmla="*/ 91 w 183"/>
                    <a:gd name="T27" fmla="*/ 44 h 105"/>
                    <a:gd name="T28" fmla="*/ 90 w 183"/>
                    <a:gd name="T29" fmla="*/ 47 h 105"/>
                    <a:gd name="T30" fmla="*/ 87 w 183"/>
                    <a:gd name="T31" fmla="*/ 50 h 105"/>
                    <a:gd name="T32" fmla="*/ 82 w 183"/>
                    <a:gd name="T33" fmla="*/ 52 h 105"/>
                    <a:gd name="T34" fmla="*/ 73 w 183"/>
                    <a:gd name="T35" fmla="*/ 51 h 105"/>
                    <a:gd name="T36" fmla="*/ 66 w 183"/>
                    <a:gd name="T37" fmla="*/ 51 h 105"/>
                    <a:gd name="T38" fmla="*/ 58 w 183"/>
                    <a:gd name="T39" fmla="*/ 51 h 105"/>
                    <a:gd name="T40" fmla="*/ 51 w 183"/>
                    <a:gd name="T41" fmla="*/ 51 h 105"/>
                    <a:gd name="T42" fmla="*/ 44 w 183"/>
                    <a:gd name="T43" fmla="*/ 50 h 105"/>
                    <a:gd name="T44" fmla="*/ 36 w 183"/>
                    <a:gd name="T45" fmla="*/ 49 h 105"/>
                    <a:gd name="T46" fmla="*/ 28 w 183"/>
                    <a:gd name="T47" fmla="*/ 49 h 105"/>
                    <a:gd name="T48" fmla="*/ 21 w 183"/>
                    <a:gd name="T49" fmla="*/ 49 h 105"/>
                    <a:gd name="T50" fmla="*/ 12 w 183"/>
                    <a:gd name="T51" fmla="*/ 42 h 105"/>
                    <a:gd name="T52" fmla="*/ 6 w 183"/>
                    <a:gd name="T53" fmla="*/ 36 h 105"/>
                    <a:gd name="T54" fmla="*/ 2 w 183"/>
                    <a:gd name="T55" fmla="*/ 30 h 105"/>
                    <a:gd name="T56" fmla="*/ 0 w 183"/>
                    <a:gd name="T57" fmla="*/ 24 h 105"/>
                    <a:gd name="T58" fmla="*/ 0 w 183"/>
                    <a:gd name="T59" fmla="*/ 18 h 105"/>
                    <a:gd name="T60" fmla="*/ 2 w 183"/>
                    <a:gd name="T61" fmla="*/ 12 h 105"/>
                    <a:gd name="T62" fmla="*/ 6 w 183"/>
                    <a:gd name="T63" fmla="*/ 5 h 105"/>
                    <a:gd name="T64" fmla="*/ 13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0" name="Freeform 99">
                  <a:extLst>
                    <a:ext uri="{FF2B5EF4-FFF2-40B4-BE49-F238E27FC236}">
                      <a16:creationId xmlns:a16="http://schemas.microsoft.com/office/drawing/2014/main" id="{E2453DBB-C368-3E4C-B0FC-6DC24436AEB3}"/>
                    </a:ext>
                  </a:extLst>
                </p:cNvPr>
                <p:cNvSpPr>
                  <a:spLocks/>
                </p:cNvSpPr>
                <p:nvPr/>
              </p:nvSpPr>
              <p:spPr bwMode="auto">
                <a:xfrm>
                  <a:off x="4303" y="3419"/>
                  <a:ext cx="85" cy="50"/>
                </a:xfrm>
                <a:custGeom>
                  <a:avLst/>
                  <a:gdLst>
                    <a:gd name="T0" fmla="*/ 13 w 171"/>
                    <a:gd name="T1" fmla="*/ 0 h 101"/>
                    <a:gd name="T2" fmla="*/ 22 w 171"/>
                    <a:gd name="T3" fmla="*/ 2 h 101"/>
                    <a:gd name="T4" fmla="*/ 31 w 171"/>
                    <a:gd name="T5" fmla="*/ 6 h 101"/>
                    <a:gd name="T6" fmla="*/ 38 w 171"/>
                    <a:gd name="T7" fmla="*/ 8 h 101"/>
                    <a:gd name="T8" fmla="*/ 46 w 171"/>
                    <a:gd name="T9" fmla="*/ 11 h 101"/>
                    <a:gd name="T10" fmla="*/ 53 w 171"/>
                    <a:gd name="T11" fmla="*/ 12 h 101"/>
                    <a:gd name="T12" fmla="*/ 61 w 171"/>
                    <a:gd name="T13" fmla="*/ 16 h 101"/>
                    <a:gd name="T14" fmla="*/ 69 w 171"/>
                    <a:gd name="T15" fmla="*/ 18 h 101"/>
                    <a:gd name="T16" fmla="*/ 79 w 171"/>
                    <a:gd name="T17" fmla="*/ 22 h 101"/>
                    <a:gd name="T18" fmla="*/ 80 w 171"/>
                    <a:gd name="T19" fmla="*/ 25 h 101"/>
                    <a:gd name="T20" fmla="*/ 82 w 171"/>
                    <a:gd name="T21" fmla="*/ 29 h 101"/>
                    <a:gd name="T22" fmla="*/ 83 w 171"/>
                    <a:gd name="T23" fmla="*/ 33 h 101"/>
                    <a:gd name="T24" fmla="*/ 85 w 171"/>
                    <a:gd name="T25" fmla="*/ 38 h 101"/>
                    <a:gd name="T26" fmla="*/ 85 w 171"/>
                    <a:gd name="T27" fmla="*/ 41 h 101"/>
                    <a:gd name="T28" fmla="*/ 83 w 171"/>
                    <a:gd name="T29" fmla="*/ 45 h 101"/>
                    <a:gd name="T30" fmla="*/ 81 w 171"/>
                    <a:gd name="T31" fmla="*/ 48 h 101"/>
                    <a:gd name="T32" fmla="*/ 76 w 171"/>
                    <a:gd name="T33" fmla="*/ 50 h 101"/>
                    <a:gd name="T34" fmla="*/ 68 w 171"/>
                    <a:gd name="T35" fmla="*/ 49 h 101"/>
                    <a:gd name="T36" fmla="*/ 61 w 171"/>
                    <a:gd name="T37" fmla="*/ 48 h 101"/>
                    <a:gd name="T38" fmla="*/ 54 w 171"/>
                    <a:gd name="T39" fmla="*/ 48 h 101"/>
                    <a:gd name="T40" fmla="*/ 48 w 171"/>
                    <a:gd name="T41" fmla="*/ 48 h 101"/>
                    <a:gd name="T42" fmla="*/ 41 w 171"/>
                    <a:gd name="T43" fmla="*/ 48 h 101"/>
                    <a:gd name="T44" fmla="*/ 34 w 171"/>
                    <a:gd name="T45" fmla="*/ 48 h 101"/>
                    <a:gd name="T46" fmla="*/ 28 w 171"/>
                    <a:gd name="T47" fmla="*/ 48 h 101"/>
                    <a:gd name="T48" fmla="*/ 21 w 171"/>
                    <a:gd name="T49" fmla="*/ 48 h 101"/>
                    <a:gd name="T50" fmla="*/ 12 w 171"/>
                    <a:gd name="T51" fmla="*/ 41 h 101"/>
                    <a:gd name="T52" fmla="*/ 6 w 171"/>
                    <a:gd name="T53" fmla="*/ 35 h 101"/>
                    <a:gd name="T54" fmla="*/ 2 w 171"/>
                    <a:gd name="T55" fmla="*/ 29 h 101"/>
                    <a:gd name="T56" fmla="*/ 0 w 171"/>
                    <a:gd name="T57" fmla="*/ 24 h 101"/>
                    <a:gd name="T58" fmla="*/ 0 w 171"/>
                    <a:gd name="T59" fmla="*/ 18 h 101"/>
                    <a:gd name="T60" fmla="*/ 2 w 171"/>
                    <a:gd name="T61" fmla="*/ 12 h 101"/>
                    <a:gd name="T62" fmla="*/ 6 w 171"/>
                    <a:gd name="T63" fmla="*/ 6 h 101"/>
                    <a:gd name="T64" fmla="*/ 13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1" name="Freeform 100">
                  <a:extLst>
                    <a:ext uri="{FF2B5EF4-FFF2-40B4-BE49-F238E27FC236}">
                      <a16:creationId xmlns:a16="http://schemas.microsoft.com/office/drawing/2014/main" id="{FDC7909F-0F87-5445-81E5-0F8B86C52F02}"/>
                    </a:ext>
                  </a:extLst>
                </p:cNvPr>
                <p:cNvSpPr>
                  <a:spLocks/>
                </p:cNvSpPr>
                <p:nvPr/>
              </p:nvSpPr>
              <p:spPr bwMode="auto">
                <a:xfrm>
                  <a:off x="4306" y="3421"/>
                  <a:ext cx="79" cy="46"/>
                </a:xfrm>
                <a:custGeom>
                  <a:avLst/>
                  <a:gdLst>
                    <a:gd name="T0" fmla="*/ 12 w 158"/>
                    <a:gd name="T1" fmla="*/ 0 h 92"/>
                    <a:gd name="T2" fmla="*/ 20 w 158"/>
                    <a:gd name="T3" fmla="*/ 2 h 92"/>
                    <a:gd name="T4" fmla="*/ 28 w 158"/>
                    <a:gd name="T5" fmla="*/ 5 h 92"/>
                    <a:gd name="T6" fmla="*/ 36 w 158"/>
                    <a:gd name="T7" fmla="*/ 7 h 92"/>
                    <a:gd name="T8" fmla="*/ 42 w 158"/>
                    <a:gd name="T9" fmla="*/ 10 h 92"/>
                    <a:gd name="T10" fmla="*/ 48 w 158"/>
                    <a:gd name="T11" fmla="*/ 12 h 92"/>
                    <a:gd name="T12" fmla="*/ 56 w 158"/>
                    <a:gd name="T13" fmla="*/ 13 h 92"/>
                    <a:gd name="T14" fmla="*/ 63 w 158"/>
                    <a:gd name="T15" fmla="*/ 16 h 92"/>
                    <a:gd name="T16" fmla="*/ 73 w 158"/>
                    <a:gd name="T17" fmla="*/ 19 h 92"/>
                    <a:gd name="T18" fmla="*/ 74 w 158"/>
                    <a:gd name="T19" fmla="*/ 22 h 92"/>
                    <a:gd name="T20" fmla="*/ 76 w 158"/>
                    <a:gd name="T21" fmla="*/ 26 h 92"/>
                    <a:gd name="T22" fmla="*/ 78 w 158"/>
                    <a:gd name="T23" fmla="*/ 30 h 92"/>
                    <a:gd name="T24" fmla="*/ 79 w 158"/>
                    <a:gd name="T25" fmla="*/ 35 h 92"/>
                    <a:gd name="T26" fmla="*/ 79 w 158"/>
                    <a:gd name="T27" fmla="*/ 38 h 92"/>
                    <a:gd name="T28" fmla="*/ 78 w 158"/>
                    <a:gd name="T29" fmla="*/ 42 h 92"/>
                    <a:gd name="T30" fmla="*/ 75 w 158"/>
                    <a:gd name="T31" fmla="*/ 44 h 92"/>
                    <a:gd name="T32" fmla="*/ 70 w 158"/>
                    <a:gd name="T33" fmla="*/ 46 h 92"/>
                    <a:gd name="T34" fmla="*/ 62 w 158"/>
                    <a:gd name="T35" fmla="*/ 45 h 92"/>
                    <a:gd name="T36" fmla="*/ 56 w 158"/>
                    <a:gd name="T37" fmla="*/ 45 h 92"/>
                    <a:gd name="T38" fmla="*/ 50 w 158"/>
                    <a:gd name="T39" fmla="*/ 45 h 92"/>
                    <a:gd name="T40" fmla="*/ 44 w 158"/>
                    <a:gd name="T41" fmla="*/ 45 h 92"/>
                    <a:gd name="T42" fmla="*/ 39 w 158"/>
                    <a:gd name="T43" fmla="*/ 45 h 92"/>
                    <a:gd name="T44" fmla="*/ 33 w 158"/>
                    <a:gd name="T45" fmla="*/ 45 h 92"/>
                    <a:gd name="T46" fmla="*/ 26 w 158"/>
                    <a:gd name="T47" fmla="*/ 44 h 92"/>
                    <a:gd name="T48" fmla="*/ 19 w 158"/>
                    <a:gd name="T49" fmla="*/ 44 h 92"/>
                    <a:gd name="T50" fmla="*/ 11 w 158"/>
                    <a:gd name="T51" fmla="*/ 39 h 92"/>
                    <a:gd name="T52" fmla="*/ 6 w 158"/>
                    <a:gd name="T53" fmla="*/ 33 h 92"/>
                    <a:gd name="T54" fmla="*/ 2 w 158"/>
                    <a:gd name="T55" fmla="*/ 27 h 92"/>
                    <a:gd name="T56" fmla="*/ 0 w 158"/>
                    <a:gd name="T57" fmla="*/ 22 h 92"/>
                    <a:gd name="T58" fmla="*/ 0 w 158"/>
                    <a:gd name="T59" fmla="*/ 17 h 92"/>
                    <a:gd name="T60" fmla="*/ 2 w 158"/>
                    <a:gd name="T61" fmla="*/ 11 h 92"/>
                    <a:gd name="T62" fmla="*/ 6 w 158"/>
                    <a:gd name="T63" fmla="*/ 5 h 92"/>
                    <a:gd name="T64" fmla="*/ 12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2" name="Freeform 101">
                  <a:extLst>
                    <a:ext uri="{FF2B5EF4-FFF2-40B4-BE49-F238E27FC236}">
                      <a16:creationId xmlns:a16="http://schemas.microsoft.com/office/drawing/2014/main" id="{38E16FF8-9B1D-DC42-B4DB-FCA03B7A064D}"/>
                    </a:ext>
                  </a:extLst>
                </p:cNvPr>
                <p:cNvSpPr>
                  <a:spLocks/>
                </p:cNvSpPr>
                <p:nvPr/>
              </p:nvSpPr>
              <p:spPr bwMode="auto">
                <a:xfrm>
                  <a:off x="4308" y="3423"/>
                  <a:ext cx="73" cy="41"/>
                </a:xfrm>
                <a:custGeom>
                  <a:avLst/>
                  <a:gdLst>
                    <a:gd name="T0" fmla="*/ 11 w 146"/>
                    <a:gd name="T1" fmla="*/ 0 h 83"/>
                    <a:gd name="T2" fmla="*/ 19 w 146"/>
                    <a:gd name="T3" fmla="*/ 2 h 83"/>
                    <a:gd name="T4" fmla="*/ 26 w 146"/>
                    <a:gd name="T5" fmla="*/ 4 h 83"/>
                    <a:gd name="T6" fmla="*/ 31 w 146"/>
                    <a:gd name="T7" fmla="*/ 6 h 83"/>
                    <a:gd name="T8" fmla="*/ 38 w 146"/>
                    <a:gd name="T9" fmla="*/ 8 h 83"/>
                    <a:gd name="T10" fmla="*/ 43 w 146"/>
                    <a:gd name="T11" fmla="*/ 9 h 83"/>
                    <a:gd name="T12" fmla="*/ 49 w 146"/>
                    <a:gd name="T13" fmla="*/ 11 h 83"/>
                    <a:gd name="T14" fmla="*/ 56 w 146"/>
                    <a:gd name="T15" fmla="*/ 13 h 83"/>
                    <a:gd name="T16" fmla="*/ 65 w 146"/>
                    <a:gd name="T17" fmla="*/ 16 h 83"/>
                    <a:gd name="T18" fmla="*/ 66 w 146"/>
                    <a:gd name="T19" fmla="*/ 19 h 83"/>
                    <a:gd name="T20" fmla="*/ 69 w 146"/>
                    <a:gd name="T21" fmla="*/ 23 h 83"/>
                    <a:gd name="T22" fmla="*/ 71 w 146"/>
                    <a:gd name="T23" fmla="*/ 27 h 83"/>
                    <a:gd name="T24" fmla="*/ 73 w 146"/>
                    <a:gd name="T25" fmla="*/ 31 h 83"/>
                    <a:gd name="T26" fmla="*/ 73 w 146"/>
                    <a:gd name="T27" fmla="*/ 34 h 83"/>
                    <a:gd name="T28" fmla="*/ 73 w 146"/>
                    <a:gd name="T29" fmla="*/ 38 h 83"/>
                    <a:gd name="T30" fmla="*/ 69 w 146"/>
                    <a:gd name="T31" fmla="*/ 40 h 83"/>
                    <a:gd name="T32" fmla="*/ 64 w 146"/>
                    <a:gd name="T33" fmla="*/ 41 h 83"/>
                    <a:gd name="T34" fmla="*/ 57 w 146"/>
                    <a:gd name="T35" fmla="*/ 40 h 83"/>
                    <a:gd name="T36" fmla="*/ 51 w 146"/>
                    <a:gd name="T37" fmla="*/ 40 h 83"/>
                    <a:gd name="T38" fmla="*/ 46 w 146"/>
                    <a:gd name="T39" fmla="*/ 40 h 83"/>
                    <a:gd name="T40" fmla="*/ 41 w 146"/>
                    <a:gd name="T41" fmla="*/ 41 h 83"/>
                    <a:gd name="T42" fmla="*/ 36 w 146"/>
                    <a:gd name="T43" fmla="*/ 41 h 83"/>
                    <a:gd name="T44" fmla="*/ 30 w 146"/>
                    <a:gd name="T45" fmla="*/ 41 h 83"/>
                    <a:gd name="T46" fmla="*/ 24 w 146"/>
                    <a:gd name="T47" fmla="*/ 41 h 83"/>
                    <a:gd name="T48" fmla="*/ 18 w 146"/>
                    <a:gd name="T49" fmla="*/ 41 h 83"/>
                    <a:gd name="T50" fmla="*/ 11 w 146"/>
                    <a:gd name="T51" fmla="*/ 35 h 83"/>
                    <a:gd name="T52" fmla="*/ 5 w 146"/>
                    <a:gd name="T53" fmla="*/ 30 h 83"/>
                    <a:gd name="T54" fmla="*/ 1 w 146"/>
                    <a:gd name="T55" fmla="*/ 25 h 83"/>
                    <a:gd name="T56" fmla="*/ 0 w 146"/>
                    <a:gd name="T57" fmla="*/ 20 h 83"/>
                    <a:gd name="T58" fmla="*/ 0 w 146"/>
                    <a:gd name="T59" fmla="*/ 15 h 83"/>
                    <a:gd name="T60" fmla="*/ 2 w 146"/>
                    <a:gd name="T61" fmla="*/ 10 h 83"/>
                    <a:gd name="T62" fmla="*/ 6 w 146"/>
                    <a:gd name="T63" fmla="*/ 5 h 83"/>
                    <a:gd name="T64" fmla="*/ 11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3" name="Freeform 102">
                  <a:extLst>
                    <a:ext uri="{FF2B5EF4-FFF2-40B4-BE49-F238E27FC236}">
                      <a16:creationId xmlns:a16="http://schemas.microsoft.com/office/drawing/2014/main" id="{78804A33-66A1-8A4E-9F54-DA39BD909C91}"/>
                    </a:ext>
                  </a:extLst>
                </p:cNvPr>
                <p:cNvSpPr>
                  <a:spLocks/>
                </p:cNvSpPr>
                <p:nvPr/>
              </p:nvSpPr>
              <p:spPr bwMode="auto">
                <a:xfrm>
                  <a:off x="4308" y="3324"/>
                  <a:ext cx="117" cy="79"/>
                </a:xfrm>
                <a:custGeom>
                  <a:avLst/>
                  <a:gdLst>
                    <a:gd name="T0" fmla="*/ 16 w 235"/>
                    <a:gd name="T1" fmla="*/ 0 h 158"/>
                    <a:gd name="T2" fmla="*/ 28 w 235"/>
                    <a:gd name="T3" fmla="*/ 3 h 158"/>
                    <a:gd name="T4" fmla="*/ 41 w 235"/>
                    <a:gd name="T5" fmla="*/ 7 h 158"/>
                    <a:gd name="T6" fmla="*/ 53 w 235"/>
                    <a:gd name="T7" fmla="*/ 11 h 158"/>
                    <a:gd name="T8" fmla="*/ 66 w 235"/>
                    <a:gd name="T9" fmla="*/ 15 h 158"/>
                    <a:gd name="T10" fmla="*/ 78 w 235"/>
                    <a:gd name="T11" fmla="*/ 19 h 158"/>
                    <a:gd name="T12" fmla="*/ 91 w 235"/>
                    <a:gd name="T13" fmla="*/ 23 h 158"/>
                    <a:gd name="T14" fmla="*/ 103 w 235"/>
                    <a:gd name="T15" fmla="*/ 27 h 158"/>
                    <a:gd name="T16" fmla="*/ 117 w 235"/>
                    <a:gd name="T17" fmla="*/ 32 h 158"/>
                    <a:gd name="T18" fmla="*/ 117 w 235"/>
                    <a:gd name="T19" fmla="*/ 38 h 158"/>
                    <a:gd name="T20" fmla="*/ 117 w 235"/>
                    <a:gd name="T21" fmla="*/ 44 h 158"/>
                    <a:gd name="T22" fmla="*/ 117 w 235"/>
                    <a:gd name="T23" fmla="*/ 50 h 158"/>
                    <a:gd name="T24" fmla="*/ 117 w 235"/>
                    <a:gd name="T25" fmla="*/ 57 h 158"/>
                    <a:gd name="T26" fmla="*/ 115 w 235"/>
                    <a:gd name="T27" fmla="*/ 63 h 158"/>
                    <a:gd name="T28" fmla="*/ 113 w 235"/>
                    <a:gd name="T29" fmla="*/ 70 h 158"/>
                    <a:gd name="T30" fmla="*/ 110 w 235"/>
                    <a:gd name="T31" fmla="*/ 75 h 158"/>
                    <a:gd name="T32" fmla="*/ 107 w 235"/>
                    <a:gd name="T33" fmla="*/ 79 h 158"/>
                    <a:gd name="T34" fmla="*/ 96 w 235"/>
                    <a:gd name="T35" fmla="*/ 77 h 158"/>
                    <a:gd name="T36" fmla="*/ 86 w 235"/>
                    <a:gd name="T37" fmla="*/ 75 h 158"/>
                    <a:gd name="T38" fmla="*/ 76 w 235"/>
                    <a:gd name="T39" fmla="*/ 72 h 158"/>
                    <a:gd name="T40" fmla="*/ 66 w 235"/>
                    <a:gd name="T41" fmla="*/ 69 h 158"/>
                    <a:gd name="T42" fmla="*/ 55 w 235"/>
                    <a:gd name="T43" fmla="*/ 65 h 158"/>
                    <a:gd name="T44" fmla="*/ 45 w 235"/>
                    <a:gd name="T45" fmla="*/ 62 h 158"/>
                    <a:gd name="T46" fmla="*/ 35 w 235"/>
                    <a:gd name="T47" fmla="*/ 59 h 158"/>
                    <a:gd name="T48" fmla="*/ 25 w 235"/>
                    <a:gd name="T49" fmla="*/ 58 h 158"/>
                    <a:gd name="T50" fmla="*/ 14 w 235"/>
                    <a:gd name="T51" fmla="*/ 50 h 158"/>
                    <a:gd name="T52" fmla="*/ 7 w 235"/>
                    <a:gd name="T53" fmla="*/ 43 h 158"/>
                    <a:gd name="T54" fmla="*/ 2 w 235"/>
                    <a:gd name="T55" fmla="*/ 36 h 158"/>
                    <a:gd name="T56" fmla="*/ 0 w 235"/>
                    <a:gd name="T57" fmla="*/ 29 h 158"/>
                    <a:gd name="T58" fmla="*/ 0 w 235"/>
                    <a:gd name="T59" fmla="*/ 21 h 158"/>
                    <a:gd name="T60" fmla="*/ 3 w 235"/>
                    <a:gd name="T61" fmla="*/ 14 h 158"/>
                    <a:gd name="T62" fmla="*/ 8 w 235"/>
                    <a:gd name="T63" fmla="*/ 7 h 158"/>
                    <a:gd name="T64" fmla="*/ 16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4" name="Freeform 103">
                  <a:extLst>
                    <a:ext uri="{FF2B5EF4-FFF2-40B4-BE49-F238E27FC236}">
                      <a16:creationId xmlns:a16="http://schemas.microsoft.com/office/drawing/2014/main" id="{FBAE13CF-AA31-AB44-898E-4285BCB8960B}"/>
                    </a:ext>
                  </a:extLst>
                </p:cNvPr>
                <p:cNvSpPr>
                  <a:spLocks/>
                </p:cNvSpPr>
                <p:nvPr/>
              </p:nvSpPr>
              <p:spPr bwMode="auto">
                <a:xfrm>
                  <a:off x="4311" y="3325"/>
                  <a:ext cx="112" cy="75"/>
                </a:xfrm>
                <a:custGeom>
                  <a:avLst/>
                  <a:gdLst>
                    <a:gd name="T0" fmla="*/ 16 w 225"/>
                    <a:gd name="T1" fmla="*/ 0 h 151"/>
                    <a:gd name="T2" fmla="*/ 27 w 225"/>
                    <a:gd name="T3" fmla="*/ 4 h 151"/>
                    <a:gd name="T4" fmla="*/ 39 w 225"/>
                    <a:gd name="T5" fmla="*/ 7 h 151"/>
                    <a:gd name="T6" fmla="*/ 51 w 225"/>
                    <a:gd name="T7" fmla="*/ 11 h 151"/>
                    <a:gd name="T8" fmla="*/ 63 w 225"/>
                    <a:gd name="T9" fmla="*/ 16 h 151"/>
                    <a:gd name="T10" fmla="*/ 75 w 225"/>
                    <a:gd name="T11" fmla="*/ 19 h 151"/>
                    <a:gd name="T12" fmla="*/ 87 w 225"/>
                    <a:gd name="T13" fmla="*/ 23 h 151"/>
                    <a:gd name="T14" fmla="*/ 99 w 225"/>
                    <a:gd name="T15" fmla="*/ 27 h 151"/>
                    <a:gd name="T16" fmla="*/ 112 w 225"/>
                    <a:gd name="T17" fmla="*/ 31 h 151"/>
                    <a:gd name="T18" fmla="*/ 112 w 225"/>
                    <a:gd name="T19" fmla="*/ 36 h 151"/>
                    <a:gd name="T20" fmla="*/ 112 w 225"/>
                    <a:gd name="T21" fmla="*/ 42 h 151"/>
                    <a:gd name="T22" fmla="*/ 112 w 225"/>
                    <a:gd name="T23" fmla="*/ 48 h 151"/>
                    <a:gd name="T24" fmla="*/ 112 w 225"/>
                    <a:gd name="T25" fmla="*/ 55 h 151"/>
                    <a:gd name="T26" fmla="*/ 110 w 225"/>
                    <a:gd name="T27" fmla="*/ 61 h 151"/>
                    <a:gd name="T28" fmla="*/ 108 w 225"/>
                    <a:gd name="T29" fmla="*/ 66 h 151"/>
                    <a:gd name="T30" fmla="*/ 105 w 225"/>
                    <a:gd name="T31" fmla="*/ 71 h 151"/>
                    <a:gd name="T32" fmla="*/ 103 w 225"/>
                    <a:gd name="T33" fmla="*/ 75 h 151"/>
                    <a:gd name="T34" fmla="*/ 92 w 225"/>
                    <a:gd name="T35" fmla="*/ 73 h 151"/>
                    <a:gd name="T36" fmla="*/ 82 w 225"/>
                    <a:gd name="T37" fmla="*/ 71 h 151"/>
                    <a:gd name="T38" fmla="*/ 72 w 225"/>
                    <a:gd name="T39" fmla="*/ 68 h 151"/>
                    <a:gd name="T40" fmla="*/ 63 w 225"/>
                    <a:gd name="T41" fmla="*/ 66 h 151"/>
                    <a:gd name="T42" fmla="*/ 53 w 225"/>
                    <a:gd name="T43" fmla="*/ 63 h 151"/>
                    <a:gd name="T44" fmla="*/ 43 w 225"/>
                    <a:gd name="T45" fmla="*/ 60 h 151"/>
                    <a:gd name="T46" fmla="*/ 34 w 225"/>
                    <a:gd name="T47" fmla="*/ 58 h 151"/>
                    <a:gd name="T48" fmla="*/ 24 w 225"/>
                    <a:gd name="T49" fmla="*/ 57 h 151"/>
                    <a:gd name="T50" fmla="*/ 14 w 225"/>
                    <a:gd name="T51" fmla="*/ 49 h 151"/>
                    <a:gd name="T52" fmla="*/ 7 w 225"/>
                    <a:gd name="T53" fmla="*/ 42 h 151"/>
                    <a:gd name="T54" fmla="*/ 2 w 225"/>
                    <a:gd name="T55" fmla="*/ 35 h 151"/>
                    <a:gd name="T56" fmla="*/ 0 w 225"/>
                    <a:gd name="T57" fmla="*/ 28 h 151"/>
                    <a:gd name="T58" fmla="*/ 0 w 225"/>
                    <a:gd name="T59" fmla="*/ 21 h 151"/>
                    <a:gd name="T60" fmla="*/ 2 w 225"/>
                    <a:gd name="T61" fmla="*/ 14 h 151"/>
                    <a:gd name="T62" fmla="*/ 7 w 225"/>
                    <a:gd name="T63" fmla="*/ 7 h 151"/>
                    <a:gd name="T64" fmla="*/ 16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5" name="Freeform 104">
                  <a:extLst>
                    <a:ext uri="{FF2B5EF4-FFF2-40B4-BE49-F238E27FC236}">
                      <a16:creationId xmlns:a16="http://schemas.microsoft.com/office/drawing/2014/main" id="{187737F3-EB20-094B-950E-367607B1D69C}"/>
                    </a:ext>
                  </a:extLst>
                </p:cNvPr>
                <p:cNvSpPr>
                  <a:spLocks/>
                </p:cNvSpPr>
                <p:nvPr/>
              </p:nvSpPr>
              <p:spPr bwMode="auto">
                <a:xfrm>
                  <a:off x="4313" y="3326"/>
                  <a:ext cx="107" cy="71"/>
                </a:xfrm>
                <a:custGeom>
                  <a:avLst/>
                  <a:gdLst>
                    <a:gd name="T0" fmla="*/ 15 w 215"/>
                    <a:gd name="T1" fmla="*/ 0 h 142"/>
                    <a:gd name="T2" fmla="*/ 26 w 215"/>
                    <a:gd name="T3" fmla="*/ 3 h 142"/>
                    <a:gd name="T4" fmla="*/ 38 w 215"/>
                    <a:gd name="T5" fmla="*/ 7 h 142"/>
                    <a:gd name="T6" fmla="*/ 49 w 215"/>
                    <a:gd name="T7" fmla="*/ 10 h 142"/>
                    <a:gd name="T8" fmla="*/ 60 w 215"/>
                    <a:gd name="T9" fmla="*/ 14 h 142"/>
                    <a:gd name="T10" fmla="*/ 71 w 215"/>
                    <a:gd name="T11" fmla="*/ 18 h 142"/>
                    <a:gd name="T12" fmla="*/ 83 w 215"/>
                    <a:gd name="T13" fmla="*/ 22 h 142"/>
                    <a:gd name="T14" fmla="*/ 95 w 215"/>
                    <a:gd name="T15" fmla="*/ 25 h 142"/>
                    <a:gd name="T16" fmla="*/ 107 w 215"/>
                    <a:gd name="T17" fmla="*/ 29 h 142"/>
                    <a:gd name="T18" fmla="*/ 107 w 215"/>
                    <a:gd name="T19" fmla="*/ 35 h 142"/>
                    <a:gd name="T20" fmla="*/ 107 w 215"/>
                    <a:gd name="T21" fmla="*/ 40 h 142"/>
                    <a:gd name="T22" fmla="*/ 107 w 215"/>
                    <a:gd name="T23" fmla="*/ 45 h 142"/>
                    <a:gd name="T24" fmla="*/ 107 w 215"/>
                    <a:gd name="T25" fmla="*/ 52 h 142"/>
                    <a:gd name="T26" fmla="*/ 105 w 215"/>
                    <a:gd name="T27" fmla="*/ 57 h 142"/>
                    <a:gd name="T28" fmla="*/ 103 w 215"/>
                    <a:gd name="T29" fmla="*/ 62 h 142"/>
                    <a:gd name="T30" fmla="*/ 100 w 215"/>
                    <a:gd name="T31" fmla="*/ 67 h 142"/>
                    <a:gd name="T32" fmla="*/ 98 w 215"/>
                    <a:gd name="T33" fmla="*/ 71 h 142"/>
                    <a:gd name="T34" fmla="*/ 88 w 215"/>
                    <a:gd name="T35" fmla="*/ 69 h 142"/>
                    <a:gd name="T36" fmla="*/ 79 w 215"/>
                    <a:gd name="T37" fmla="*/ 67 h 142"/>
                    <a:gd name="T38" fmla="*/ 70 w 215"/>
                    <a:gd name="T39" fmla="*/ 65 h 142"/>
                    <a:gd name="T40" fmla="*/ 60 w 215"/>
                    <a:gd name="T41" fmla="*/ 62 h 142"/>
                    <a:gd name="T42" fmla="*/ 51 w 215"/>
                    <a:gd name="T43" fmla="*/ 59 h 142"/>
                    <a:gd name="T44" fmla="*/ 41 w 215"/>
                    <a:gd name="T45" fmla="*/ 57 h 142"/>
                    <a:gd name="T46" fmla="*/ 32 w 215"/>
                    <a:gd name="T47" fmla="*/ 55 h 142"/>
                    <a:gd name="T48" fmla="*/ 23 w 215"/>
                    <a:gd name="T49" fmla="*/ 54 h 142"/>
                    <a:gd name="T50" fmla="*/ 13 w 215"/>
                    <a:gd name="T51" fmla="*/ 47 h 142"/>
                    <a:gd name="T52" fmla="*/ 6 w 215"/>
                    <a:gd name="T53" fmla="*/ 40 h 142"/>
                    <a:gd name="T54" fmla="*/ 2 w 215"/>
                    <a:gd name="T55" fmla="*/ 33 h 142"/>
                    <a:gd name="T56" fmla="*/ 0 w 215"/>
                    <a:gd name="T57" fmla="*/ 27 h 142"/>
                    <a:gd name="T58" fmla="*/ 0 w 215"/>
                    <a:gd name="T59" fmla="*/ 20 h 142"/>
                    <a:gd name="T60" fmla="*/ 2 w 215"/>
                    <a:gd name="T61" fmla="*/ 13 h 142"/>
                    <a:gd name="T62" fmla="*/ 7 w 215"/>
                    <a:gd name="T63" fmla="*/ 6 h 142"/>
                    <a:gd name="T64" fmla="*/ 15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6" name="Freeform 105">
                  <a:extLst>
                    <a:ext uri="{FF2B5EF4-FFF2-40B4-BE49-F238E27FC236}">
                      <a16:creationId xmlns:a16="http://schemas.microsoft.com/office/drawing/2014/main" id="{2859FA11-A2D7-AC4C-BA5F-F13AB8A906DC}"/>
                    </a:ext>
                  </a:extLst>
                </p:cNvPr>
                <p:cNvSpPr>
                  <a:spLocks/>
                </p:cNvSpPr>
                <p:nvPr/>
              </p:nvSpPr>
              <p:spPr bwMode="auto">
                <a:xfrm>
                  <a:off x="4315" y="3328"/>
                  <a:ext cx="103" cy="66"/>
                </a:xfrm>
                <a:custGeom>
                  <a:avLst/>
                  <a:gdLst>
                    <a:gd name="T0" fmla="*/ 15 w 206"/>
                    <a:gd name="T1" fmla="*/ 0 h 130"/>
                    <a:gd name="T2" fmla="*/ 26 w 206"/>
                    <a:gd name="T3" fmla="*/ 3 h 130"/>
                    <a:gd name="T4" fmla="*/ 37 w 206"/>
                    <a:gd name="T5" fmla="*/ 6 h 130"/>
                    <a:gd name="T6" fmla="*/ 47 w 206"/>
                    <a:gd name="T7" fmla="*/ 10 h 130"/>
                    <a:gd name="T8" fmla="*/ 58 w 206"/>
                    <a:gd name="T9" fmla="*/ 13 h 130"/>
                    <a:gd name="T10" fmla="*/ 69 w 206"/>
                    <a:gd name="T11" fmla="*/ 16 h 130"/>
                    <a:gd name="T12" fmla="*/ 80 w 206"/>
                    <a:gd name="T13" fmla="*/ 20 h 130"/>
                    <a:gd name="T14" fmla="*/ 91 w 206"/>
                    <a:gd name="T15" fmla="*/ 24 h 130"/>
                    <a:gd name="T16" fmla="*/ 102 w 206"/>
                    <a:gd name="T17" fmla="*/ 28 h 130"/>
                    <a:gd name="T18" fmla="*/ 103 w 206"/>
                    <a:gd name="T19" fmla="*/ 33 h 130"/>
                    <a:gd name="T20" fmla="*/ 103 w 206"/>
                    <a:gd name="T21" fmla="*/ 38 h 130"/>
                    <a:gd name="T22" fmla="*/ 103 w 206"/>
                    <a:gd name="T23" fmla="*/ 43 h 130"/>
                    <a:gd name="T24" fmla="*/ 103 w 206"/>
                    <a:gd name="T25" fmla="*/ 49 h 130"/>
                    <a:gd name="T26" fmla="*/ 101 w 206"/>
                    <a:gd name="T27" fmla="*/ 53 h 130"/>
                    <a:gd name="T28" fmla="*/ 99 w 206"/>
                    <a:gd name="T29" fmla="*/ 58 h 130"/>
                    <a:gd name="T30" fmla="*/ 97 w 206"/>
                    <a:gd name="T31" fmla="*/ 62 h 130"/>
                    <a:gd name="T32" fmla="*/ 94 w 206"/>
                    <a:gd name="T33" fmla="*/ 66 h 130"/>
                    <a:gd name="T34" fmla="*/ 85 w 206"/>
                    <a:gd name="T35" fmla="*/ 64 h 130"/>
                    <a:gd name="T36" fmla="*/ 76 w 206"/>
                    <a:gd name="T37" fmla="*/ 63 h 130"/>
                    <a:gd name="T38" fmla="*/ 67 w 206"/>
                    <a:gd name="T39" fmla="*/ 61 h 130"/>
                    <a:gd name="T40" fmla="*/ 58 w 206"/>
                    <a:gd name="T41" fmla="*/ 59 h 130"/>
                    <a:gd name="T42" fmla="*/ 49 w 206"/>
                    <a:gd name="T43" fmla="*/ 56 h 130"/>
                    <a:gd name="T44" fmla="*/ 40 w 206"/>
                    <a:gd name="T45" fmla="*/ 54 h 130"/>
                    <a:gd name="T46" fmla="*/ 31 w 206"/>
                    <a:gd name="T47" fmla="*/ 53 h 130"/>
                    <a:gd name="T48" fmla="*/ 23 w 206"/>
                    <a:gd name="T49" fmla="*/ 52 h 130"/>
                    <a:gd name="T50" fmla="*/ 13 w 206"/>
                    <a:gd name="T51" fmla="*/ 45 h 130"/>
                    <a:gd name="T52" fmla="*/ 6 w 206"/>
                    <a:gd name="T53" fmla="*/ 39 h 130"/>
                    <a:gd name="T54" fmla="*/ 2 w 206"/>
                    <a:gd name="T55" fmla="*/ 31 h 130"/>
                    <a:gd name="T56" fmla="*/ 0 w 206"/>
                    <a:gd name="T57" fmla="*/ 26 h 130"/>
                    <a:gd name="T58" fmla="*/ 0 w 206"/>
                    <a:gd name="T59" fmla="*/ 19 h 130"/>
                    <a:gd name="T60" fmla="*/ 3 w 206"/>
                    <a:gd name="T61" fmla="*/ 13 h 130"/>
                    <a:gd name="T62" fmla="*/ 7 w 206"/>
                    <a:gd name="T63" fmla="*/ 6 h 130"/>
                    <a:gd name="T64" fmla="*/ 15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7" name="Freeform 106">
                  <a:extLst>
                    <a:ext uri="{FF2B5EF4-FFF2-40B4-BE49-F238E27FC236}">
                      <a16:creationId xmlns:a16="http://schemas.microsoft.com/office/drawing/2014/main" id="{1778C6B4-121E-7548-BD6B-55A42E4A572B}"/>
                    </a:ext>
                  </a:extLst>
                </p:cNvPr>
                <p:cNvSpPr>
                  <a:spLocks/>
                </p:cNvSpPr>
                <p:nvPr/>
              </p:nvSpPr>
              <p:spPr bwMode="auto">
                <a:xfrm>
                  <a:off x="4318" y="3329"/>
                  <a:ext cx="97" cy="62"/>
                </a:xfrm>
                <a:custGeom>
                  <a:avLst/>
                  <a:gdLst>
                    <a:gd name="T0" fmla="*/ 14 w 196"/>
                    <a:gd name="T1" fmla="*/ 0 h 124"/>
                    <a:gd name="T2" fmla="*/ 24 w 196"/>
                    <a:gd name="T3" fmla="*/ 3 h 124"/>
                    <a:gd name="T4" fmla="*/ 34 w 196"/>
                    <a:gd name="T5" fmla="*/ 7 h 124"/>
                    <a:gd name="T6" fmla="*/ 44 w 196"/>
                    <a:gd name="T7" fmla="*/ 10 h 124"/>
                    <a:gd name="T8" fmla="*/ 55 w 196"/>
                    <a:gd name="T9" fmla="*/ 13 h 124"/>
                    <a:gd name="T10" fmla="*/ 65 w 196"/>
                    <a:gd name="T11" fmla="*/ 17 h 124"/>
                    <a:gd name="T12" fmla="*/ 75 w 196"/>
                    <a:gd name="T13" fmla="*/ 20 h 124"/>
                    <a:gd name="T14" fmla="*/ 85 w 196"/>
                    <a:gd name="T15" fmla="*/ 23 h 124"/>
                    <a:gd name="T16" fmla="*/ 96 w 196"/>
                    <a:gd name="T17" fmla="*/ 27 h 124"/>
                    <a:gd name="T18" fmla="*/ 97 w 196"/>
                    <a:gd name="T19" fmla="*/ 31 h 124"/>
                    <a:gd name="T20" fmla="*/ 97 w 196"/>
                    <a:gd name="T21" fmla="*/ 37 h 124"/>
                    <a:gd name="T22" fmla="*/ 97 w 196"/>
                    <a:gd name="T23" fmla="*/ 42 h 124"/>
                    <a:gd name="T24" fmla="*/ 97 w 196"/>
                    <a:gd name="T25" fmla="*/ 47 h 124"/>
                    <a:gd name="T26" fmla="*/ 95 w 196"/>
                    <a:gd name="T27" fmla="*/ 51 h 124"/>
                    <a:gd name="T28" fmla="*/ 93 w 196"/>
                    <a:gd name="T29" fmla="*/ 55 h 124"/>
                    <a:gd name="T30" fmla="*/ 91 w 196"/>
                    <a:gd name="T31" fmla="*/ 59 h 124"/>
                    <a:gd name="T32" fmla="*/ 88 w 196"/>
                    <a:gd name="T33" fmla="*/ 62 h 124"/>
                    <a:gd name="T34" fmla="*/ 80 w 196"/>
                    <a:gd name="T35" fmla="*/ 60 h 124"/>
                    <a:gd name="T36" fmla="*/ 71 w 196"/>
                    <a:gd name="T37" fmla="*/ 59 h 124"/>
                    <a:gd name="T38" fmla="*/ 62 w 196"/>
                    <a:gd name="T39" fmla="*/ 57 h 124"/>
                    <a:gd name="T40" fmla="*/ 54 w 196"/>
                    <a:gd name="T41" fmla="*/ 55 h 124"/>
                    <a:gd name="T42" fmla="*/ 46 w 196"/>
                    <a:gd name="T43" fmla="*/ 53 h 124"/>
                    <a:gd name="T44" fmla="*/ 37 w 196"/>
                    <a:gd name="T45" fmla="*/ 52 h 124"/>
                    <a:gd name="T46" fmla="*/ 29 w 196"/>
                    <a:gd name="T47" fmla="*/ 50 h 124"/>
                    <a:gd name="T48" fmla="*/ 21 w 196"/>
                    <a:gd name="T49" fmla="*/ 49 h 124"/>
                    <a:gd name="T50" fmla="*/ 12 w 196"/>
                    <a:gd name="T51" fmla="*/ 43 h 124"/>
                    <a:gd name="T52" fmla="*/ 5 w 196"/>
                    <a:gd name="T53" fmla="*/ 37 h 124"/>
                    <a:gd name="T54" fmla="*/ 2 w 196"/>
                    <a:gd name="T55" fmla="*/ 30 h 124"/>
                    <a:gd name="T56" fmla="*/ 0 w 196"/>
                    <a:gd name="T57" fmla="*/ 25 h 124"/>
                    <a:gd name="T58" fmla="*/ 0 w 196"/>
                    <a:gd name="T59" fmla="*/ 18 h 124"/>
                    <a:gd name="T60" fmla="*/ 2 w 196"/>
                    <a:gd name="T61" fmla="*/ 12 h 124"/>
                    <a:gd name="T62" fmla="*/ 6 w 196"/>
                    <a:gd name="T63" fmla="*/ 6 h 124"/>
                    <a:gd name="T64" fmla="*/ 14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8" name="Freeform 107">
                  <a:extLst>
                    <a:ext uri="{FF2B5EF4-FFF2-40B4-BE49-F238E27FC236}">
                      <a16:creationId xmlns:a16="http://schemas.microsoft.com/office/drawing/2014/main" id="{6EFA0C47-22D1-E145-B6BB-C71E6A9DBD37}"/>
                    </a:ext>
                  </a:extLst>
                </p:cNvPr>
                <p:cNvSpPr>
                  <a:spLocks/>
                </p:cNvSpPr>
                <p:nvPr/>
              </p:nvSpPr>
              <p:spPr bwMode="auto">
                <a:xfrm>
                  <a:off x="4320" y="3331"/>
                  <a:ext cx="92" cy="56"/>
                </a:xfrm>
                <a:custGeom>
                  <a:avLst/>
                  <a:gdLst>
                    <a:gd name="T0" fmla="*/ 13 w 185"/>
                    <a:gd name="T1" fmla="*/ 0 h 113"/>
                    <a:gd name="T2" fmla="*/ 22 w 185"/>
                    <a:gd name="T3" fmla="*/ 2 h 113"/>
                    <a:gd name="T4" fmla="*/ 32 w 185"/>
                    <a:gd name="T5" fmla="*/ 5 h 113"/>
                    <a:gd name="T6" fmla="*/ 42 w 185"/>
                    <a:gd name="T7" fmla="*/ 8 h 113"/>
                    <a:gd name="T8" fmla="*/ 52 w 185"/>
                    <a:gd name="T9" fmla="*/ 12 h 113"/>
                    <a:gd name="T10" fmla="*/ 61 w 185"/>
                    <a:gd name="T11" fmla="*/ 15 h 113"/>
                    <a:gd name="T12" fmla="*/ 71 w 185"/>
                    <a:gd name="T13" fmla="*/ 18 h 113"/>
                    <a:gd name="T14" fmla="*/ 81 w 185"/>
                    <a:gd name="T15" fmla="*/ 21 h 113"/>
                    <a:gd name="T16" fmla="*/ 91 w 185"/>
                    <a:gd name="T17" fmla="*/ 25 h 113"/>
                    <a:gd name="T18" fmla="*/ 91 w 185"/>
                    <a:gd name="T19" fmla="*/ 28 h 113"/>
                    <a:gd name="T20" fmla="*/ 92 w 185"/>
                    <a:gd name="T21" fmla="*/ 33 h 113"/>
                    <a:gd name="T22" fmla="*/ 91 w 185"/>
                    <a:gd name="T23" fmla="*/ 37 h 113"/>
                    <a:gd name="T24" fmla="*/ 91 w 185"/>
                    <a:gd name="T25" fmla="*/ 42 h 113"/>
                    <a:gd name="T26" fmla="*/ 90 w 185"/>
                    <a:gd name="T27" fmla="*/ 45 h 113"/>
                    <a:gd name="T28" fmla="*/ 88 w 185"/>
                    <a:gd name="T29" fmla="*/ 49 h 113"/>
                    <a:gd name="T30" fmla="*/ 86 w 185"/>
                    <a:gd name="T31" fmla="*/ 52 h 113"/>
                    <a:gd name="T32" fmla="*/ 84 w 185"/>
                    <a:gd name="T33" fmla="*/ 56 h 113"/>
                    <a:gd name="T34" fmla="*/ 76 w 185"/>
                    <a:gd name="T35" fmla="*/ 55 h 113"/>
                    <a:gd name="T36" fmla="*/ 68 w 185"/>
                    <a:gd name="T37" fmla="*/ 54 h 113"/>
                    <a:gd name="T38" fmla="*/ 59 w 185"/>
                    <a:gd name="T39" fmla="*/ 52 h 113"/>
                    <a:gd name="T40" fmla="*/ 52 w 185"/>
                    <a:gd name="T41" fmla="*/ 51 h 113"/>
                    <a:gd name="T42" fmla="*/ 44 w 185"/>
                    <a:gd name="T43" fmla="*/ 49 h 113"/>
                    <a:gd name="T44" fmla="*/ 36 w 185"/>
                    <a:gd name="T45" fmla="*/ 48 h 113"/>
                    <a:gd name="T46" fmla="*/ 27 w 185"/>
                    <a:gd name="T47" fmla="*/ 47 h 113"/>
                    <a:gd name="T48" fmla="*/ 20 w 185"/>
                    <a:gd name="T49" fmla="*/ 46 h 113"/>
                    <a:gd name="T50" fmla="*/ 12 w 185"/>
                    <a:gd name="T51" fmla="*/ 40 h 113"/>
                    <a:gd name="T52" fmla="*/ 5 w 185"/>
                    <a:gd name="T53" fmla="*/ 34 h 113"/>
                    <a:gd name="T54" fmla="*/ 2 w 185"/>
                    <a:gd name="T55" fmla="*/ 28 h 113"/>
                    <a:gd name="T56" fmla="*/ 0 w 185"/>
                    <a:gd name="T57" fmla="*/ 22 h 113"/>
                    <a:gd name="T58" fmla="*/ 0 w 185"/>
                    <a:gd name="T59" fmla="*/ 17 h 113"/>
                    <a:gd name="T60" fmla="*/ 2 w 185"/>
                    <a:gd name="T61" fmla="*/ 11 h 113"/>
                    <a:gd name="T62" fmla="*/ 6 w 185"/>
                    <a:gd name="T63" fmla="*/ 5 h 113"/>
                    <a:gd name="T64" fmla="*/ 13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29" name="Freeform 108">
                  <a:extLst>
                    <a:ext uri="{FF2B5EF4-FFF2-40B4-BE49-F238E27FC236}">
                      <a16:creationId xmlns:a16="http://schemas.microsoft.com/office/drawing/2014/main" id="{B3370FA8-2657-C54B-BB84-3148FC7656C3}"/>
                    </a:ext>
                  </a:extLst>
                </p:cNvPr>
                <p:cNvSpPr>
                  <a:spLocks/>
                </p:cNvSpPr>
                <p:nvPr/>
              </p:nvSpPr>
              <p:spPr bwMode="auto">
                <a:xfrm>
                  <a:off x="4323" y="3332"/>
                  <a:ext cx="87" cy="53"/>
                </a:xfrm>
                <a:custGeom>
                  <a:avLst/>
                  <a:gdLst>
                    <a:gd name="T0" fmla="*/ 12 w 175"/>
                    <a:gd name="T1" fmla="*/ 0 h 106"/>
                    <a:gd name="T2" fmla="*/ 21 w 175"/>
                    <a:gd name="T3" fmla="*/ 3 h 106"/>
                    <a:gd name="T4" fmla="*/ 30 w 175"/>
                    <a:gd name="T5" fmla="*/ 6 h 106"/>
                    <a:gd name="T6" fmla="*/ 39 w 175"/>
                    <a:gd name="T7" fmla="*/ 9 h 106"/>
                    <a:gd name="T8" fmla="*/ 49 w 175"/>
                    <a:gd name="T9" fmla="*/ 12 h 106"/>
                    <a:gd name="T10" fmla="*/ 58 w 175"/>
                    <a:gd name="T11" fmla="*/ 14 h 106"/>
                    <a:gd name="T12" fmla="*/ 68 w 175"/>
                    <a:gd name="T13" fmla="*/ 18 h 106"/>
                    <a:gd name="T14" fmla="*/ 77 w 175"/>
                    <a:gd name="T15" fmla="*/ 20 h 106"/>
                    <a:gd name="T16" fmla="*/ 86 w 175"/>
                    <a:gd name="T17" fmla="*/ 24 h 106"/>
                    <a:gd name="T18" fmla="*/ 86 w 175"/>
                    <a:gd name="T19" fmla="*/ 27 h 106"/>
                    <a:gd name="T20" fmla="*/ 87 w 175"/>
                    <a:gd name="T21" fmla="*/ 32 h 106"/>
                    <a:gd name="T22" fmla="*/ 86 w 175"/>
                    <a:gd name="T23" fmla="*/ 36 h 106"/>
                    <a:gd name="T24" fmla="*/ 86 w 175"/>
                    <a:gd name="T25" fmla="*/ 40 h 106"/>
                    <a:gd name="T26" fmla="*/ 84 w 175"/>
                    <a:gd name="T27" fmla="*/ 47 h 106"/>
                    <a:gd name="T28" fmla="*/ 79 w 175"/>
                    <a:gd name="T29" fmla="*/ 53 h 106"/>
                    <a:gd name="T30" fmla="*/ 71 w 175"/>
                    <a:gd name="T31" fmla="*/ 52 h 106"/>
                    <a:gd name="T32" fmla="*/ 64 w 175"/>
                    <a:gd name="T33" fmla="*/ 50 h 106"/>
                    <a:gd name="T34" fmla="*/ 56 w 175"/>
                    <a:gd name="T35" fmla="*/ 49 h 106"/>
                    <a:gd name="T36" fmla="*/ 49 w 175"/>
                    <a:gd name="T37" fmla="*/ 48 h 106"/>
                    <a:gd name="T38" fmla="*/ 41 w 175"/>
                    <a:gd name="T39" fmla="*/ 47 h 106"/>
                    <a:gd name="T40" fmla="*/ 33 w 175"/>
                    <a:gd name="T41" fmla="*/ 46 h 106"/>
                    <a:gd name="T42" fmla="*/ 26 w 175"/>
                    <a:gd name="T43" fmla="*/ 45 h 106"/>
                    <a:gd name="T44" fmla="*/ 18 w 175"/>
                    <a:gd name="T45" fmla="*/ 45 h 106"/>
                    <a:gd name="T46" fmla="*/ 11 w 175"/>
                    <a:gd name="T47" fmla="*/ 39 h 106"/>
                    <a:gd name="T48" fmla="*/ 5 w 175"/>
                    <a:gd name="T49" fmla="*/ 34 h 106"/>
                    <a:gd name="T50" fmla="*/ 1 w 175"/>
                    <a:gd name="T51" fmla="*/ 27 h 106"/>
                    <a:gd name="T52" fmla="*/ 0 w 175"/>
                    <a:gd name="T53" fmla="*/ 22 h 106"/>
                    <a:gd name="T54" fmla="*/ 0 w 175"/>
                    <a:gd name="T55" fmla="*/ 17 h 106"/>
                    <a:gd name="T56" fmla="*/ 2 w 175"/>
                    <a:gd name="T57" fmla="*/ 11 h 106"/>
                    <a:gd name="T58" fmla="*/ 6 w 175"/>
                    <a:gd name="T59" fmla="*/ 5 h 106"/>
                    <a:gd name="T60" fmla="*/ 12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0" name="Freeform 109">
                  <a:extLst>
                    <a:ext uri="{FF2B5EF4-FFF2-40B4-BE49-F238E27FC236}">
                      <a16:creationId xmlns:a16="http://schemas.microsoft.com/office/drawing/2014/main" id="{722B8978-61BF-EC40-9B32-59E0DF7964BF}"/>
                    </a:ext>
                  </a:extLst>
                </p:cNvPr>
                <p:cNvSpPr>
                  <a:spLocks/>
                </p:cNvSpPr>
                <p:nvPr/>
              </p:nvSpPr>
              <p:spPr bwMode="auto">
                <a:xfrm>
                  <a:off x="4325" y="3334"/>
                  <a:ext cx="82" cy="48"/>
                </a:xfrm>
                <a:custGeom>
                  <a:avLst/>
                  <a:gdLst>
                    <a:gd name="T0" fmla="*/ 12 w 165"/>
                    <a:gd name="T1" fmla="*/ 0 h 95"/>
                    <a:gd name="T2" fmla="*/ 20 w 165"/>
                    <a:gd name="T3" fmla="*/ 2 h 95"/>
                    <a:gd name="T4" fmla="*/ 29 w 165"/>
                    <a:gd name="T5" fmla="*/ 5 h 95"/>
                    <a:gd name="T6" fmla="*/ 37 w 165"/>
                    <a:gd name="T7" fmla="*/ 8 h 95"/>
                    <a:gd name="T8" fmla="*/ 46 w 165"/>
                    <a:gd name="T9" fmla="*/ 11 h 95"/>
                    <a:gd name="T10" fmla="*/ 54 w 165"/>
                    <a:gd name="T11" fmla="*/ 13 h 95"/>
                    <a:gd name="T12" fmla="*/ 64 w 165"/>
                    <a:gd name="T13" fmla="*/ 17 h 95"/>
                    <a:gd name="T14" fmla="*/ 72 w 165"/>
                    <a:gd name="T15" fmla="*/ 19 h 95"/>
                    <a:gd name="T16" fmla="*/ 81 w 165"/>
                    <a:gd name="T17" fmla="*/ 22 h 95"/>
                    <a:gd name="T18" fmla="*/ 81 w 165"/>
                    <a:gd name="T19" fmla="*/ 25 h 95"/>
                    <a:gd name="T20" fmla="*/ 82 w 165"/>
                    <a:gd name="T21" fmla="*/ 29 h 95"/>
                    <a:gd name="T22" fmla="*/ 81 w 165"/>
                    <a:gd name="T23" fmla="*/ 33 h 95"/>
                    <a:gd name="T24" fmla="*/ 81 w 165"/>
                    <a:gd name="T25" fmla="*/ 37 h 95"/>
                    <a:gd name="T26" fmla="*/ 78 w 165"/>
                    <a:gd name="T27" fmla="*/ 42 h 95"/>
                    <a:gd name="T28" fmla="*/ 74 w 165"/>
                    <a:gd name="T29" fmla="*/ 48 h 95"/>
                    <a:gd name="T30" fmla="*/ 67 w 165"/>
                    <a:gd name="T31" fmla="*/ 47 h 95"/>
                    <a:gd name="T32" fmla="*/ 60 w 165"/>
                    <a:gd name="T33" fmla="*/ 46 h 95"/>
                    <a:gd name="T34" fmla="*/ 53 w 165"/>
                    <a:gd name="T35" fmla="*/ 45 h 95"/>
                    <a:gd name="T36" fmla="*/ 46 w 165"/>
                    <a:gd name="T37" fmla="*/ 45 h 95"/>
                    <a:gd name="T38" fmla="*/ 38 w 165"/>
                    <a:gd name="T39" fmla="*/ 43 h 95"/>
                    <a:gd name="T40" fmla="*/ 31 w 165"/>
                    <a:gd name="T41" fmla="*/ 43 h 95"/>
                    <a:gd name="T42" fmla="*/ 24 w 165"/>
                    <a:gd name="T43" fmla="*/ 42 h 95"/>
                    <a:gd name="T44" fmla="*/ 17 w 165"/>
                    <a:gd name="T45" fmla="*/ 42 h 95"/>
                    <a:gd name="T46" fmla="*/ 10 w 165"/>
                    <a:gd name="T47" fmla="*/ 36 h 95"/>
                    <a:gd name="T48" fmla="*/ 5 w 165"/>
                    <a:gd name="T49" fmla="*/ 31 h 95"/>
                    <a:gd name="T50" fmla="*/ 1 w 165"/>
                    <a:gd name="T51" fmla="*/ 25 h 95"/>
                    <a:gd name="T52" fmla="*/ 0 w 165"/>
                    <a:gd name="T53" fmla="*/ 20 h 95"/>
                    <a:gd name="T54" fmla="*/ 0 w 165"/>
                    <a:gd name="T55" fmla="*/ 15 h 95"/>
                    <a:gd name="T56" fmla="*/ 2 w 165"/>
                    <a:gd name="T57" fmla="*/ 10 h 95"/>
                    <a:gd name="T58" fmla="*/ 6 w 165"/>
                    <a:gd name="T59" fmla="*/ 5 h 95"/>
                    <a:gd name="T60" fmla="*/ 12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1" name="Freeform 110">
                  <a:extLst>
                    <a:ext uri="{FF2B5EF4-FFF2-40B4-BE49-F238E27FC236}">
                      <a16:creationId xmlns:a16="http://schemas.microsoft.com/office/drawing/2014/main" id="{933DBE6C-9C32-BC43-9B9B-A91C9BE7E27A}"/>
                    </a:ext>
                  </a:extLst>
                </p:cNvPr>
                <p:cNvSpPr>
                  <a:spLocks/>
                </p:cNvSpPr>
                <p:nvPr/>
              </p:nvSpPr>
              <p:spPr bwMode="auto">
                <a:xfrm>
                  <a:off x="4255" y="2929"/>
                  <a:ext cx="31" cy="37"/>
                </a:xfrm>
                <a:custGeom>
                  <a:avLst/>
                  <a:gdLst>
                    <a:gd name="T0" fmla="*/ 16 w 61"/>
                    <a:gd name="T1" fmla="*/ 0 h 73"/>
                    <a:gd name="T2" fmla="*/ 21 w 61"/>
                    <a:gd name="T3" fmla="*/ 2 h 73"/>
                    <a:gd name="T4" fmla="*/ 26 w 61"/>
                    <a:gd name="T5" fmla="*/ 6 h 73"/>
                    <a:gd name="T6" fmla="*/ 27 w 61"/>
                    <a:gd name="T7" fmla="*/ 8 h 73"/>
                    <a:gd name="T8" fmla="*/ 29 w 61"/>
                    <a:gd name="T9" fmla="*/ 11 h 73"/>
                    <a:gd name="T10" fmla="*/ 30 w 61"/>
                    <a:gd name="T11" fmla="*/ 15 h 73"/>
                    <a:gd name="T12" fmla="*/ 31 w 61"/>
                    <a:gd name="T13" fmla="*/ 19 h 73"/>
                    <a:gd name="T14" fmla="*/ 30 w 61"/>
                    <a:gd name="T15" fmla="*/ 22 h 73"/>
                    <a:gd name="T16" fmla="*/ 29 w 61"/>
                    <a:gd name="T17" fmla="*/ 26 h 73"/>
                    <a:gd name="T18" fmla="*/ 27 w 61"/>
                    <a:gd name="T19" fmla="*/ 28 h 73"/>
                    <a:gd name="T20" fmla="*/ 26 w 61"/>
                    <a:gd name="T21" fmla="*/ 31 h 73"/>
                    <a:gd name="T22" fmla="*/ 21 w 61"/>
                    <a:gd name="T23" fmla="*/ 35 h 73"/>
                    <a:gd name="T24" fmla="*/ 16 w 61"/>
                    <a:gd name="T25" fmla="*/ 37 h 73"/>
                    <a:gd name="T26" fmla="*/ 9 w 61"/>
                    <a:gd name="T27" fmla="*/ 35 h 73"/>
                    <a:gd name="T28" fmla="*/ 5 w 61"/>
                    <a:gd name="T29" fmla="*/ 31 h 73"/>
                    <a:gd name="T30" fmla="*/ 2 w 61"/>
                    <a:gd name="T31" fmla="*/ 28 h 73"/>
                    <a:gd name="T32" fmla="*/ 1 w 61"/>
                    <a:gd name="T33" fmla="*/ 26 h 73"/>
                    <a:gd name="T34" fmla="*/ 0 w 61"/>
                    <a:gd name="T35" fmla="*/ 22 h 73"/>
                    <a:gd name="T36" fmla="*/ 0 w 61"/>
                    <a:gd name="T37" fmla="*/ 19 h 73"/>
                    <a:gd name="T38" fmla="*/ 0 w 61"/>
                    <a:gd name="T39" fmla="*/ 15 h 73"/>
                    <a:gd name="T40" fmla="*/ 1 w 61"/>
                    <a:gd name="T41" fmla="*/ 11 h 73"/>
                    <a:gd name="T42" fmla="*/ 2 w 61"/>
                    <a:gd name="T43" fmla="*/ 8 h 73"/>
                    <a:gd name="T44" fmla="*/ 5 w 61"/>
                    <a:gd name="T45" fmla="*/ 6 h 73"/>
                    <a:gd name="T46" fmla="*/ 9 w 61"/>
                    <a:gd name="T47" fmla="*/ 2 h 73"/>
                    <a:gd name="T48" fmla="*/ 16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2" name="Freeform 111">
                  <a:extLst>
                    <a:ext uri="{FF2B5EF4-FFF2-40B4-BE49-F238E27FC236}">
                      <a16:creationId xmlns:a16="http://schemas.microsoft.com/office/drawing/2014/main" id="{1B6249F8-CEF5-4B46-B2E4-E700E66EA0F5}"/>
                    </a:ext>
                  </a:extLst>
                </p:cNvPr>
                <p:cNvSpPr>
                  <a:spLocks/>
                </p:cNvSpPr>
                <p:nvPr/>
              </p:nvSpPr>
              <p:spPr bwMode="auto">
                <a:xfrm>
                  <a:off x="4120" y="2873"/>
                  <a:ext cx="32" cy="37"/>
                </a:xfrm>
                <a:custGeom>
                  <a:avLst/>
                  <a:gdLst>
                    <a:gd name="T0" fmla="*/ 17 w 64"/>
                    <a:gd name="T1" fmla="*/ 0 h 74"/>
                    <a:gd name="T2" fmla="*/ 22 w 64"/>
                    <a:gd name="T3" fmla="*/ 1 h 74"/>
                    <a:gd name="T4" fmla="*/ 27 w 64"/>
                    <a:gd name="T5" fmla="*/ 5 h 74"/>
                    <a:gd name="T6" fmla="*/ 28 w 64"/>
                    <a:gd name="T7" fmla="*/ 7 h 74"/>
                    <a:gd name="T8" fmla="*/ 30 w 64"/>
                    <a:gd name="T9" fmla="*/ 10 h 74"/>
                    <a:gd name="T10" fmla="*/ 31 w 64"/>
                    <a:gd name="T11" fmla="*/ 14 h 74"/>
                    <a:gd name="T12" fmla="*/ 32 w 64"/>
                    <a:gd name="T13" fmla="*/ 19 h 74"/>
                    <a:gd name="T14" fmla="*/ 30 w 64"/>
                    <a:gd name="T15" fmla="*/ 25 h 74"/>
                    <a:gd name="T16" fmla="*/ 27 w 64"/>
                    <a:gd name="T17" fmla="*/ 31 h 74"/>
                    <a:gd name="T18" fmla="*/ 22 w 64"/>
                    <a:gd name="T19" fmla="*/ 35 h 74"/>
                    <a:gd name="T20" fmla="*/ 17 w 64"/>
                    <a:gd name="T21" fmla="*/ 37 h 74"/>
                    <a:gd name="T22" fmla="*/ 10 w 64"/>
                    <a:gd name="T23" fmla="*/ 35 h 74"/>
                    <a:gd name="T24" fmla="*/ 5 w 64"/>
                    <a:gd name="T25" fmla="*/ 31 h 74"/>
                    <a:gd name="T26" fmla="*/ 1 w 64"/>
                    <a:gd name="T27" fmla="*/ 25 h 74"/>
                    <a:gd name="T28" fmla="*/ 0 w 64"/>
                    <a:gd name="T29" fmla="*/ 19 h 74"/>
                    <a:gd name="T30" fmla="*/ 0 w 64"/>
                    <a:gd name="T31" fmla="*/ 14 h 74"/>
                    <a:gd name="T32" fmla="*/ 1 w 64"/>
                    <a:gd name="T33" fmla="*/ 10 h 74"/>
                    <a:gd name="T34" fmla="*/ 2 w 64"/>
                    <a:gd name="T35" fmla="*/ 7 h 74"/>
                    <a:gd name="T36" fmla="*/ 5 w 64"/>
                    <a:gd name="T37" fmla="*/ 5 h 74"/>
                    <a:gd name="T38" fmla="*/ 10 w 64"/>
                    <a:gd name="T39" fmla="*/ 1 h 74"/>
                    <a:gd name="T40" fmla="*/ 17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3" name="Freeform 112">
                  <a:extLst>
                    <a:ext uri="{FF2B5EF4-FFF2-40B4-BE49-F238E27FC236}">
                      <a16:creationId xmlns:a16="http://schemas.microsoft.com/office/drawing/2014/main" id="{68FCE4DD-0372-BF4C-B1CA-22A978010F99}"/>
                    </a:ext>
                  </a:extLst>
                </p:cNvPr>
                <p:cNvSpPr>
                  <a:spLocks/>
                </p:cNvSpPr>
                <p:nvPr/>
              </p:nvSpPr>
              <p:spPr bwMode="auto">
                <a:xfrm>
                  <a:off x="4176" y="3677"/>
                  <a:ext cx="39" cy="27"/>
                </a:xfrm>
                <a:custGeom>
                  <a:avLst/>
                  <a:gdLst>
                    <a:gd name="T0" fmla="*/ 24 w 79"/>
                    <a:gd name="T1" fmla="*/ 3 h 56"/>
                    <a:gd name="T2" fmla="*/ 27 w 79"/>
                    <a:gd name="T3" fmla="*/ 4 h 56"/>
                    <a:gd name="T4" fmla="*/ 31 w 79"/>
                    <a:gd name="T5" fmla="*/ 6 h 56"/>
                    <a:gd name="T6" fmla="*/ 33 w 79"/>
                    <a:gd name="T7" fmla="*/ 8 h 56"/>
                    <a:gd name="T8" fmla="*/ 36 w 79"/>
                    <a:gd name="T9" fmla="*/ 11 h 56"/>
                    <a:gd name="T10" fmla="*/ 39 w 79"/>
                    <a:gd name="T11" fmla="*/ 16 h 56"/>
                    <a:gd name="T12" fmla="*/ 39 w 79"/>
                    <a:gd name="T13" fmla="*/ 21 h 56"/>
                    <a:gd name="T14" fmla="*/ 35 w 79"/>
                    <a:gd name="T15" fmla="*/ 25 h 56"/>
                    <a:gd name="T16" fmla="*/ 30 w 79"/>
                    <a:gd name="T17" fmla="*/ 27 h 56"/>
                    <a:gd name="T18" fmla="*/ 27 w 79"/>
                    <a:gd name="T19" fmla="*/ 27 h 56"/>
                    <a:gd name="T20" fmla="*/ 23 w 79"/>
                    <a:gd name="T21" fmla="*/ 27 h 56"/>
                    <a:gd name="T22" fmla="*/ 19 w 79"/>
                    <a:gd name="T23" fmla="*/ 26 h 56"/>
                    <a:gd name="T24" fmla="*/ 16 w 79"/>
                    <a:gd name="T25" fmla="*/ 26 h 56"/>
                    <a:gd name="T26" fmla="*/ 12 w 79"/>
                    <a:gd name="T27" fmla="*/ 23 h 56"/>
                    <a:gd name="T28" fmla="*/ 8 w 79"/>
                    <a:gd name="T29" fmla="*/ 21 h 56"/>
                    <a:gd name="T30" fmla="*/ 5 w 79"/>
                    <a:gd name="T31" fmla="*/ 19 h 56"/>
                    <a:gd name="T32" fmla="*/ 3 w 79"/>
                    <a:gd name="T33" fmla="*/ 17 h 56"/>
                    <a:gd name="T34" fmla="*/ 0 w 79"/>
                    <a:gd name="T35" fmla="*/ 12 h 56"/>
                    <a:gd name="T36" fmla="*/ 0 w 79"/>
                    <a:gd name="T37" fmla="*/ 7 h 56"/>
                    <a:gd name="T38" fmla="*/ 3 w 79"/>
                    <a:gd name="T39" fmla="*/ 3 h 56"/>
                    <a:gd name="T40" fmla="*/ 8 w 79"/>
                    <a:gd name="T41" fmla="*/ 1 h 56"/>
                    <a:gd name="T42" fmla="*/ 12 w 79"/>
                    <a:gd name="T43" fmla="*/ 0 h 56"/>
                    <a:gd name="T44" fmla="*/ 15 w 79"/>
                    <a:gd name="T45" fmla="*/ 1 h 56"/>
                    <a:gd name="T46" fmla="*/ 20 w 79"/>
                    <a:gd name="T47" fmla="*/ 1 h 56"/>
                    <a:gd name="T48" fmla="*/ 24 w 79"/>
                    <a:gd name="T49" fmla="*/ 3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4" name="Freeform 113">
                  <a:extLst>
                    <a:ext uri="{FF2B5EF4-FFF2-40B4-BE49-F238E27FC236}">
                      <a16:creationId xmlns:a16="http://schemas.microsoft.com/office/drawing/2014/main" id="{BF978707-7000-9C4E-82EB-7B19269468D3}"/>
                    </a:ext>
                  </a:extLst>
                </p:cNvPr>
                <p:cNvSpPr>
                  <a:spLocks/>
                </p:cNvSpPr>
                <p:nvPr/>
              </p:nvSpPr>
              <p:spPr bwMode="auto">
                <a:xfrm>
                  <a:off x="4672" y="3921"/>
                  <a:ext cx="38" cy="30"/>
                </a:xfrm>
                <a:custGeom>
                  <a:avLst/>
                  <a:gdLst>
                    <a:gd name="T0" fmla="*/ 13 w 75"/>
                    <a:gd name="T1" fmla="*/ 4 h 59"/>
                    <a:gd name="T2" fmla="*/ 17 w 75"/>
                    <a:gd name="T3" fmla="*/ 2 h 59"/>
                    <a:gd name="T4" fmla="*/ 20 w 75"/>
                    <a:gd name="T5" fmla="*/ 1 h 59"/>
                    <a:gd name="T6" fmla="*/ 24 w 75"/>
                    <a:gd name="T7" fmla="*/ 0 h 59"/>
                    <a:gd name="T8" fmla="*/ 28 w 75"/>
                    <a:gd name="T9" fmla="*/ 0 h 59"/>
                    <a:gd name="T10" fmla="*/ 33 w 75"/>
                    <a:gd name="T11" fmla="*/ 2 h 59"/>
                    <a:gd name="T12" fmla="*/ 38 w 75"/>
                    <a:gd name="T13" fmla="*/ 5 h 59"/>
                    <a:gd name="T14" fmla="*/ 38 w 75"/>
                    <a:gd name="T15" fmla="*/ 10 h 59"/>
                    <a:gd name="T16" fmla="*/ 37 w 75"/>
                    <a:gd name="T17" fmla="*/ 16 h 59"/>
                    <a:gd name="T18" fmla="*/ 34 w 75"/>
                    <a:gd name="T19" fmla="*/ 19 h 59"/>
                    <a:gd name="T20" fmla="*/ 32 w 75"/>
                    <a:gd name="T21" fmla="*/ 21 h 59"/>
                    <a:gd name="T22" fmla="*/ 29 w 75"/>
                    <a:gd name="T23" fmla="*/ 24 h 59"/>
                    <a:gd name="T24" fmla="*/ 26 w 75"/>
                    <a:gd name="T25" fmla="*/ 27 h 59"/>
                    <a:gd name="T26" fmla="*/ 22 w 75"/>
                    <a:gd name="T27" fmla="*/ 28 h 59"/>
                    <a:gd name="T28" fmla="*/ 18 w 75"/>
                    <a:gd name="T29" fmla="*/ 29 h 59"/>
                    <a:gd name="T30" fmla="*/ 14 w 75"/>
                    <a:gd name="T31" fmla="*/ 29 h 59"/>
                    <a:gd name="T32" fmla="*/ 11 w 75"/>
                    <a:gd name="T33" fmla="*/ 30 h 59"/>
                    <a:gd name="T34" fmla="*/ 5 w 75"/>
                    <a:gd name="T35" fmla="*/ 29 h 59"/>
                    <a:gd name="T36" fmla="*/ 1 w 75"/>
                    <a:gd name="T37" fmla="*/ 26 h 59"/>
                    <a:gd name="T38" fmla="*/ 0 w 75"/>
                    <a:gd name="T39" fmla="*/ 20 h 59"/>
                    <a:gd name="T40" fmla="*/ 2 w 75"/>
                    <a:gd name="T41" fmla="*/ 15 h 59"/>
                    <a:gd name="T42" fmla="*/ 4 w 75"/>
                    <a:gd name="T43" fmla="*/ 12 h 59"/>
                    <a:gd name="T44" fmla="*/ 7 w 75"/>
                    <a:gd name="T45" fmla="*/ 9 h 59"/>
                    <a:gd name="T46" fmla="*/ 10 w 75"/>
                    <a:gd name="T47" fmla="*/ 6 h 59"/>
                    <a:gd name="T48" fmla="*/ 13 w 75"/>
                    <a:gd name="T49" fmla="*/ 4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grpSp>
            <p:nvGrpSpPr>
              <p:cNvPr id="291" name="Group 114">
                <a:extLst>
                  <a:ext uri="{FF2B5EF4-FFF2-40B4-BE49-F238E27FC236}">
                    <a16:creationId xmlns:a16="http://schemas.microsoft.com/office/drawing/2014/main" id="{E1A03A4B-2444-9B47-A914-724C6B2DC07A}"/>
                  </a:ext>
                </a:extLst>
              </p:cNvPr>
              <p:cNvGrpSpPr>
                <a:grpSpLocks/>
              </p:cNvGrpSpPr>
              <p:nvPr/>
            </p:nvGrpSpPr>
            <p:grpSpPr bwMode="auto">
              <a:xfrm>
                <a:off x="3798" y="1098"/>
                <a:ext cx="737" cy="294"/>
                <a:chOff x="3510" y="2756"/>
                <a:chExt cx="737" cy="294"/>
              </a:xfrm>
            </p:grpSpPr>
            <p:sp>
              <p:nvSpPr>
                <p:cNvPr id="292" name="Freeform 115">
                  <a:extLst>
                    <a:ext uri="{FF2B5EF4-FFF2-40B4-BE49-F238E27FC236}">
                      <a16:creationId xmlns:a16="http://schemas.microsoft.com/office/drawing/2014/main" id="{FC0A3C19-04B1-5E4B-A132-17A130E53D48}"/>
                    </a:ext>
                  </a:extLst>
                </p:cNvPr>
                <p:cNvSpPr>
                  <a:spLocks/>
                </p:cNvSpPr>
                <p:nvPr/>
              </p:nvSpPr>
              <p:spPr bwMode="auto">
                <a:xfrm>
                  <a:off x="3613" y="2761"/>
                  <a:ext cx="452" cy="51"/>
                </a:xfrm>
                <a:custGeom>
                  <a:avLst/>
                  <a:gdLst>
                    <a:gd name="T0" fmla="*/ 4 w 902"/>
                    <a:gd name="T1" fmla="*/ 51 h 101"/>
                    <a:gd name="T2" fmla="*/ 452 w 902"/>
                    <a:gd name="T3" fmla="*/ 46 h 101"/>
                    <a:gd name="T4" fmla="*/ 452 w 902"/>
                    <a:gd name="T5" fmla="*/ 22 h 101"/>
                    <a:gd name="T6" fmla="*/ 441 w 902"/>
                    <a:gd name="T7" fmla="*/ 2 h 101"/>
                    <a:gd name="T8" fmla="*/ 403 w 902"/>
                    <a:gd name="T9" fmla="*/ 3 h 101"/>
                    <a:gd name="T10" fmla="*/ 364 w 902"/>
                    <a:gd name="T11" fmla="*/ 0 h 101"/>
                    <a:gd name="T12" fmla="*/ 320 w 902"/>
                    <a:gd name="T13" fmla="*/ 9 h 101"/>
                    <a:gd name="T14" fmla="*/ 283 w 902"/>
                    <a:gd name="T15" fmla="*/ 20 h 101"/>
                    <a:gd name="T16" fmla="*/ 257 w 902"/>
                    <a:gd name="T17" fmla="*/ 16 h 101"/>
                    <a:gd name="T18" fmla="*/ 227 w 902"/>
                    <a:gd name="T19" fmla="*/ 4 h 101"/>
                    <a:gd name="T20" fmla="*/ 169 w 902"/>
                    <a:gd name="T21" fmla="*/ 19 h 101"/>
                    <a:gd name="T22" fmla="*/ 129 w 902"/>
                    <a:gd name="T23" fmla="*/ 16 h 101"/>
                    <a:gd name="T24" fmla="*/ 36 w 902"/>
                    <a:gd name="T25" fmla="*/ 9 h 101"/>
                    <a:gd name="T26" fmla="*/ 18 w 902"/>
                    <a:gd name="T27" fmla="*/ 4 h 101"/>
                    <a:gd name="T28" fmla="*/ 0 w 902"/>
                    <a:gd name="T29" fmla="*/ 19 h 101"/>
                    <a:gd name="T30" fmla="*/ 4 w 902"/>
                    <a:gd name="T31" fmla="*/ 51 h 101"/>
                    <a:gd name="T32" fmla="*/ 4 w 902"/>
                    <a:gd name="T33" fmla="*/ 51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02"/>
                    <a:gd name="T52" fmla="*/ 0 h 101"/>
                    <a:gd name="T53" fmla="*/ 902 w 902"/>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02" h="101">
                      <a:moveTo>
                        <a:pt x="7" y="101"/>
                      </a:moveTo>
                      <a:lnTo>
                        <a:pt x="902" y="92"/>
                      </a:lnTo>
                      <a:lnTo>
                        <a:pt x="902" y="44"/>
                      </a:lnTo>
                      <a:lnTo>
                        <a:pt x="880" y="4"/>
                      </a:lnTo>
                      <a:lnTo>
                        <a:pt x="805" y="6"/>
                      </a:lnTo>
                      <a:lnTo>
                        <a:pt x="726" y="0"/>
                      </a:lnTo>
                      <a:lnTo>
                        <a:pt x="638" y="18"/>
                      </a:lnTo>
                      <a:lnTo>
                        <a:pt x="564" y="40"/>
                      </a:lnTo>
                      <a:lnTo>
                        <a:pt x="513" y="31"/>
                      </a:lnTo>
                      <a:lnTo>
                        <a:pt x="452" y="8"/>
                      </a:lnTo>
                      <a:lnTo>
                        <a:pt x="338" y="37"/>
                      </a:lnTo>
                      <a:lnTo>
                        <a:pt x="258" y="31"/>
                      </a:lnTo>
                      <a:lnTo>
                        <a:pt x="72" y="18"/>
                      </a:lnTo>
                      <a:lnTo>
                        <a:pt x="36" y="8"/>
                      </a:lnTo>
                      <a:lnTo>
                        <a:pt x="0" y="38"/>
                      </a:lnTo>
                      <a:lnTo>
                        <a:pt x="7" y="101"/>
                      </a:lnTo>
                      <a:close/>
                    </a:path>
                  </a:pathLst>
                </a:custGeom>
                <a:solidFill>
                  <a:srgbClr val="D1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3" name="Freeform 116">
                  <a:extLst>
                    <a:ext uri="{FF2B5EF4-FFF2-40B4-BE49-F238E27FC236}">
                      <a16:creationId xmlns:a16="http://schemas.microsoft.com/office/drawing/2014/main" id="{605ED907-77F0-F34E-BF07-50725FA8AD4B}"/>
                    </a:ext>
                  </a:extLst>
                </p:cNvPr>
                <p:cNvSpPr>
                  <a:spLocks/>
                </p:cNvSpPr>
                <p:nvPr/>
              </p:nvSpPr>
              <p:spPr bwMode="auto">
                <a:xfrm>
                  <a:off x="3948" y="2895"/>
                  <a:ext cx="212" cy="129"/>
                </a:xfrm>
                <a:custGeom>
                  <a:avLst/>
                  <a:gdLst>
                    <a:gd name="T0" fmla="*/ 0 w 423"/>
                    <a:gd name="T1" fmla="*/ 14 h 259"/>
                    <a:gd name="T2" fmla="*/ 195 w 423"/>
                    <a:gd name="T3" fmla="*/ 0 h 259"/>
                    <a:gd name="T4" fmla="*/ 212 w 423"/>
                    <a:gd name="T5" fmla="*/ 112 h 259"/>
                    <a:gd name="T6" fmla="*/ 3 w 423"/>
                    <a:gd name="T7" fmla="*/ 129 h 259"/>
                    <a:gd name="T8" fmla="*/ 0 w 423"/>
                    <a:gd name="T9" fmla="*/ 14 h 259"/>
                    <a:gd name="T10" fmla="*/ 0 w 423"/>
                    <a:gd name="T11" fmla="*/ 14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4" name="Freeform 117">
                  <a:extLst>
                    <a:ext uri="{FF2B5EF4-FFF2-40B4-BE49-F238E27FC236}">
                      <a16:creationId xmlns:a16="http://schemas.microsoft.com/office/drawing/2014/main" id="{F6AAC743-6A4F-9F4D-9065-B859FC5FF75B}"/>
                    </a:ext>
                  </a:extLst>
                </p:cNvPr>
                <p:cNvSpPr>
                  <a:spLocks/>
                </p:cNvSpPr>
                <p:nvPr/>
              </p:nvSpPr>
              <p:spPr bwMode="auto">
                <a:xfrm>
                  <a:off x="3724" y="2906"/>
                  <a:ext cx="238" cy="129"/>
                </a:xfrm>
                <a:custGeom>
                  <a:avLst/>
                  <a:gdLst>
                    <a:gd name="T0" fmla="*/ 9 w 475"/>
                    <a:gd name="T1" fmla="*/ 10 h 259"/>
                    <a:gd name="T2" fmla="*/ 238 w 475"/>
                    <a:gd name="T3" fmla="*/ 0 h 259"/>
                    <a:gd name="T4" fmla="*/ 226 w 475"/>
                    <a:gd name="T5" fmla="*/ 114 h 259"/>
                    <a:gd name="T6" fmla="*/ 0 w 475"/>
                    <a:gd name="T7" fmla="*/ 129 h 259"/>
                    <a:gd name="T8" fmla="*/ 9 w 475"/>
                    <a:gd name="T9" fmla="*/ 10 h 259"/>
                    <a:gd name="T10" fmla="*/ 9 w 475"/>
                    <a:gd name="T11" fmla="*/ 10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5" name="Freeform 118">
                  <a:extLst>
                    <a:ext uri="{FF2B5EF4-FFF2-40B4-BE49-F238E27FC236}">
                      <a16:creationId xmlns:a16="http://schemas.microsoft.com/office/drawing/2014/main" id="{D81E2C1D-49A1-F648-9896-1B9193178074}"/>
                    </a:ext>
                  </a:extLst>
                </p:cNvPr>
                <p:cNvSpPr>
                  <a:spLocks/>
                </p:cNvSpPr>
                <p:nvPr/>
              </p:nvSpPr>
              <p:spPr bwMode="auto">
                <a:xfrm>
                  <a:off x="3517" y="2909"/>
                  <a:ext cx="216" cy="126"/>
                </a:xfrm>
                <a:custGeom>
                  <a:avLst/>
                  <a:gdLst>
                    <a:gd name="T0" fmla="*/ 0 w 431"/>
                    <a:gd name="T1" fmla="*/ 20 h 253"/>
                    <a:gd name="T2" fmla="*/ 216 w 431"/>
                    <a:gd name="T3" fmla="*/ 0 h 253"/>
                    <a:gd name="T4" fmla="*/ 212 w 431"/>
                    <a:gd name="T5" fmla="*/ 126 h 253"/>
                    <a:gd name="T6" fmla="*/ 6 w 431"/>
                    <a:gd name="T7" fmla="*/ 125 h 253"/>
                    <a:gd name="T8" fmla="*/ 0 w 431"/>
                    <a:gd name="T9" fmla="*/ 20 h 253"/>
                    <a:gd name="T10" fmla="*/ 0 w 431"/>
                    <a:gd name="T11" fmla="*/ 20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6" name="Freeform 119">
                  <a:extLst>
                    <a:ext uri="{FF2B5EF4-FFF2-40B4-BE49-F238E27FC236}">
                      <a16:creationId xmlns:a16="http://schemas.microsoft.com/office/drawing/2014/main" id="{0DD32798-1F82-2345-8929-4E6DC70E75F5}"/>
                    </a:ext>
                  </a:extLst>
                </p:cNvPr>
                <p:cNvSpPr>
                  <a:spLocks/>
                </p:cNvSpPr>
                <p:nvPr/>
              </p:nvSpPr>
              <p:spPr bwMode="auto">
                <a:xfrm>
                  <a:off x="3833" y="2804"/>
                  <a:ext cx="233" cy="106"/>
                </a:xfrm>
                <a:custGeom>
                  <a:avLst/>
                  <a:gdLst>
                    <a:gd name="T0" fmla="*/ 2 w 465"/>
                    <a:gd name="T1" fmla="*/ 11 h 213"/>
                    <a:gd name="T2" fmla="*/ 221 w 465"/>
                    <a:gd name="T3" fmla="*/ 0 h 213"/>
                    <a:gd name="T4" fmla="*/ 233 w 465"/>
                    <a:gd name="T5" fmla="*/ 94 h 213"/>
                    <a:gd name="T6" fmla="*/ 0 w 465"/>
                    <a:gd name="T7" fmla="*/ 106 h 213"/>
                    <a:gd name="T8" fmla="*/ 2 w 465"/>
                    <a:gd name="T9" fmla="*/ 11 h 213"/>
                    <a:gd name="T10" fmla="*/ 2 w 465"/>
                    <a:gd name="T11" fmla="*/ 11 h 213"/>
                    <a:gd name="T12" fmla="*/ 0 60000 65536"/>
                    <a:gd name="T13" fmla="*/ 0 60000 65536"/>
                    <a:gd name="T14" fmla="*/ 0 60000 65536"/>
                    <a:gd name="T15" fmla="*/ 0 60000 65536"/>
                    <a:gd name="T16" fmla="*/ 0 60000 65536"/>
                    <a:gd name="T17" fmla="*/ 0 60000 65536"/>
                    <a:gd name="T18" fmla="*/ 0 w 465"/>
                    <a:gd name="T19" fmla="*/ 0 h 213"/>
                    <a:gd name="T20" fmla="*/ 465 w 465"/>
                    <a:gd name="T21" fmla="*/ 213 h 213"/>
                  </a:gdLst>
                  <a:ahLst/>
                  <a:cxnLst>
                    <a:cxn ang="T12">
                      <a:pos x="T0" y="T1"/>
                    </a:cxn>
                    <a:cxn ang="T13">
                      <a:pos x="T2" y="T3"/>
                    </a:cxn>
                    <a:cxn ang="T14">
                      <a:pos x="T4" y="T5"/>
                    </a:cxn>
                    <a:cxn ang="T15">
                      <a:pos x="T6" y="T7"/>
                    </a:cxn>
                    <a:cxn ang="T16">
                      <a:pos x="T8" y="T9"/>
                    </a:cxn>
                    <a:cxn ang="T17">
                      <a:pos x="T10" y="T11"/>
                    </a:cxn>
                  </a:cxnLst>
                  <a:rect l="T18" t="T19" r="T20" b="T21"/>
                  <a:pathLst>
                    <a:path w="465" h="213">
                      <a:moveTo>
                        <a:pt x="3" y="23"/>
                      </a:moveTo>
                      <a:lnTo>
                        <a:pt x="441" y="0"/>
                      </a:lnTo>
                      <a:lnTo>
                        <a:pt x="465" y="188"/>
                      </a:lnTo>
                      <a:lnTo>
                        <a:pt x="0" y="213"/>
                      </a:lnTo>
                      <a:lnTo>
                        <a:pt x="3" y="23"/>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7" name="Freeform 120">
                  <a:extLst>
                    <a:ext uri="{FF2B5EF4-FFF2-40B4-BE49-F238E27FC236}">
                      <a16:creationId xmlns:a16="http://schemas.microsoft.com/office/drawing/2014/main" id="{27918CA5-D5AA-6C45-93A5-A7C0862BE32D}"/>
                    </a:ext>
                  </a:extLst>
                </p:cNvPr>
                <p:cNvSpPr>
                  <a:spLocks/>
                </p:cNvSpPr>
                <p:nvPr/>
              </p:nvSpPr>
              <p:spPr bwMode="auto">
                <a:xfrm>
                  <a:off x="3614" y="2804"/>
                  <a:ext cx="228" cy="108"/>
                </a:xfrm>
                <a:custGeom>
                  <a:avLst/>
                  <a:gdLst>
                    <a:gd name="T0" fmla="*/ 0 w 457"/>
                    <a:gd name="T1" fmla="*/ 6 h 217"/>
                    <a:gd name="T2" fmla="*/ 1 w 457"/>
                    <a:gd name="T3" fmla="*/ 105 h 217"/>
                    <a:gd name="T4" fmla="*/ 137 w 457"/>
                    <a:gd name="T5" fmla="*/ 108 h 217"/>
                    <a:gd name="T6" fmla="*/ 228 w 457"/>
                    <a:gd name="T7" fmla="*/ 102 h 217"/>
                    <a:gd name="T8" fmla="*/ 224 w 457"/>
                    <a:gd name="T9" fmla="*/ 0 h 217"/>
                    <a:gd name="T10" fmla="*/ 0 w 457"/>
                    <a:gd name="T11" fmla="*/ 6 h 217"/>
                    <a:gd name="T12" fmla="*/ 0 w 457"/>
                    <a:gd name="T13" fmla="*/ 6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8" name="Freeform 121">
                  <a:extLst>
                    <a:ext uri="{FF2B5EF4-FFF2-40B4-BE49-F238E27FC236}">
                      <a16:creationId xmlns:a16="http://schemas.microsoft.com/office/drawing/2014/main" id="{0A9DD435-E77F-224F-A6CA-BB2D20CBFFE7}"/>
                    </a:ext>
                  </a:extLst>
                </p:cNvPr>
                <p:cNvSpPr>
                  <a:spLocks/>
                </p:cNvSpPr>
                <p:nvPr/>
              </p:nvSpPr>
              <p:spPr bwMode="auto">
                <a:xfrm>
                  <a:off x="3510" y="2891"/>
                  <a:ext cx="654" cy="143"/>
                </a:xfrm>
                <a:custGeom>
                  <a:avLst/>
                  <a:gdLst>
                    <a:gd name="T0" fmla="*/ 222 w 1310"/>
                    <a:gd name="T1" fmla="*/ 140 h 285"/>
                    <a:gd name="T2" fmla="*/ 216 w 1310"/>
                    <a:gd name="T3" fmla="*/ 140 h 285"/>
                    <a:gd name="T4" fmla="*/ 210 w 1310"/>
                    <a:gd name="T5" fmla="*/ 32 h 285"/>
                    <a:gd name="T6" fmla="*/ 122 w 1310"/>
                    <a:gd name="T7" fmla="*/ 36 h 285"/>
                    <a:gd name="T8" fmla="*/ 33 w 1310"/>
                    <a:gd name="T9" fmla="*/ 48 h 285"/>
                    <a:gd name="T10" fmla="*/ 24 w 1310"/>
                    <a:gd name="T11" fmla="*/ 94 h 285"/>
                    <a:gd name="T12" fmla="*/ 18 w 1310"/>
                    <a:gd name="T13" fmla="*/ 143 h 285"/>
                    <a:gd name="T14" fmla="*/ 13 w 1310"/>
                    <a:gd name="T15" fmla="*/ 140 h 285"/>
                    <a:gd name="T16" fmla="*/ 7 w 1310"/>
                    <a:gd name="T17" fmla="*/ 138 h 285"/>
                    <a:gd name="T18" fmla="*/ 0 w 1310"/>
                    <a:gd name="T19" fmla="*/ 32 h 285"/>
                    <a:gd name="T20" fmla="*/ 12 w 1310"/>
                    <a:gd name="T21" fmla="*/ 25 h 285"/>
                    <a:gd name="T22" fmla="*/ 32 w 1310"/>
                    <a:gd name="T23" fmla="*/ 20 h 285"/>
                    <a:gd name="T24" fmla="*/ 89 w 1310"/>
                    <a:gd name="T25" fmla="*/ 13 h 285"/>
                    <a:gd name="T26" fmla="*/ 246 w 1310"/>
                    <a:gd name="T27" fmla="*/ 7 h 285"/>
                    <a:gd name="T28" fmla="*/ 516 w 1310"/>
                    <a:gd name="T29" fmla="*/ 5 h 285"/>
                    <a:gd name="T30" fmla="*/ 582 w 1310"/>
                    <a:gd name="T31" fmla="*/ 0 h 285"/>
                    <a:gd name="T32" fmla="*/ 647 w 1310"/>
                    <a:gd name="T33" fmla="*/ 2 h 285"/>
                    <a:gd name="T34" fmla="*/ 654 w 1310"/>
                    <a:gd name="T35" fmla="*/ 116 h 285"/>
                    <a:gd name="T36" fmla="*/ 645 w 1310"/>
                    <a:gd name="T37" fmla="*/ 117 h 285"/>
                    <a:gd name="T38" fmla="*/ 623 w 1310"/>
                    <a:gd name="T39" fmla="*/ 12 h 285"/>
                    <a:gd name="T40" fmla="*/ 538 w 1310"/>
                    <a:gd name="T41" fmla="*/ 21 h 285"/>
                    <a:gd name="T42" fmla="*/ 455 w 1310"/>
                    <a:gd name="T43" fmla="*/ 32 h 285"/>
                    <a:gd name="T44" fmla="*/ 448 w 1310"/>
                    <a:gd name="T45" fmla="*/ 129 h 285"/>
                    <a:gd name="T46" fmla="*/ 439 w 1310"/>
                    <a:gd name="T47" fmla="*/ 130 h 285"/>
                    <a:gd name="T48" fmla="*/ 430 w 1310"/>
                    <a:gd name="T49" fmla="*/ 23 h 285"/>
                    <a:gd name="T50" fmla="*/ 332 w 1310"/>
                    <a:gd name="T51" fmla="*/ 31 h 285"/>
                    <a:gd name="T52" fmla="*/ 235 w 1310"/>
                    <a:gd name="T53" fmla="*/ 49 h 285"/>
                    <a:gd name="T54" fmla="*/ 222 w 1310"/>
                    <a:gd name="T55" fmla="*/ 140 h 285"/>
                    <a:gd name="T56" fmla="*/ 222 w 1310"/>
                    <a:gd name="T57" fmla="*/ 140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299" name="Freeform 122">
                  <a:extLst>
                    <a:ext uri="{FF2B5EF4-FFF2-40B4-BE49-F238E27FC236}">
                      <a16:creationId xmlns:a16="http://schemas.microsoft.com/office/drawing/2014/main" id="{30D346F4-F5EB-A944-83D7-16F3E581E1D3}"/>
                    </a:ext>
                  </a:extLst>
                </p:cNvPr>
                <p:cNvSpPr>
                  <a:spLocks/>
                </p:cNvSpPr>
                <p:nvPr/>
              </p:nvSpPr>
              <p:spPr bwMode="auto">
                <a:xfrm>
                  <a:off x="3604" y="2798"/>
                  <a:ext cx="472" cy="120"/>
                </a:xfrm>
                <a:custGeom>
                  <a:avLst/>
                  <a:gdLst>
                    <a:gd name="T0" fmla="*/ 7 w 944"/>
                    <a:gd name="T1" fmla="*/ 120 h 239"/>
                    <a:gd name="T2" fmla="*/ 0 w 944"/>
                    <a:gd name="T3" fmla="*/ 8 h 239"/>
                    <a:gd name="T4" fmla="*/ 62 w 944"/>
                    <a:gd name="T5" fmla="*/ 3 h 239"/>
                    <a:gd name="T6" fmla="*/ 180 w 944"/>
                    <a:gd name="T7" fmla="*/ 3 h 239"/>
                    <a:gd name="T8" fmla="*/ 383 w 944"/>
                    <a:gd name="T9" fmla="*/ 4 h 239"/>
                    <a:gd name="T10" fmla="*/ 429 w 944"/>
                    <a:gd name="T11" fmla="*/ 0 h 239"/>
                    <a:gd name="T12" fmla="*/ 472 w 944"/>
                    <a:gd name="T13" fmla="*/ 2 h 239"/>
                    <a:gd name="T14" fmla="*/ 466 w 944"/>
                    <a:gd name="T15" fmla="*/ 101 h 239"/>
                    <a:gd name="T16" fmla="*/ 457 w 944"/>
                    <a:gd name="T17" fmla="*/ 102 h 239"/>
                    <a:gd name="T18" fmla="*/ 437 w 944"/>
                    <a:gd name="T19" fmla="*/ 13 h 239"/>
                    <a:gd name="T20" fmla="*/ 250 w 944"/>
                    <a:gd name="T21" fmla="*/ 29 h 239"/>
                    <a:gd name="T22" fmla="*/ 240 w 944"/>
                    <a:gd name="T23" fmla="*/ 114 h 239"/>
                    <a:gd name="T24" fmla="*/ 232 w 944"/>
                    <a:gd name="T25" fmla="*/ 113 h 239"/>
                    <a:gd name="T26" fmla="*/ 223 w 944"/>
                    <a:gd name="T27" fmla="*/ 19 h 239"/>
                    <a:gd name="T28" fmla="*/ 28 w 944"/>
                    <a:gd name="T29" fmla="*/ 31 h 239"/>
                    <a:gd name="T30" fmla="*/ 18 w 944"/>
                    <a:gd name="T31" fmla="*/ 120 h 239"/>
                    <a:gd name="T32" fmla="*/ 7 w 944"/>
                    <a:gd name="T33" fmla="*/ 120 h 239"/>
                    <a:gd name="T34" fmla="*/ 7 w 944"/>
                    <a:gd name="T35" fmla="*/ 120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44"/>
                    <a:gd name="T55" fmla="*/ 0 h 239"/>
                    <a:gd name="T56" fmla="*/ 944 w 944"/>
                    <a:gd name="T57" fmla="*/ 239 h 23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44" h="239">
                      <a:moveTo>
                        <a:pt x="15" y="239"/>
                      </a:moveTo>
                      <a:lnTo>
                        <a:pt x="0" y="15"/>
                      </a:lnTo>
                      <a:lnTo>
                        <a:pt x="125" y="5"/>
                      </a:lnTo>
                      <a:lnTo>
                        <a:pt x="359" y="5"/>
                      </a:lnTo>
                      <a:lnTo>
                        <a:pt x="766" y="7"/>
                      </a:lnTo>
                      <a:lnTo>
                        <a:pt x="857" y="0"/>
                      </a:lnTo>
                      <a:lnTo>
                        <a:pt x="944" y="3"/>
                      </a:lnTo>
                      <a:lnTo>
                        <a:pt x="931" y="201"/>
                      </a:lnTo>
                      <a:lnTo>
                        <a:pt x="914" y="203"/>
                      </a:lnTo>
                      <a:lnTo>
                        <a:pt x="874" y="26"/>
                      </a:lnTo>
                      <a:lnTo>
                        <a:pt x="501" y="57"/>
                      </a:lnTo>
                      <a:lnTo>
                        <a:pt x="480" y="228"/>
                      </a:lnTo>
                      <a:lnTo>
                        <a:pt x="463" y="226"/>
                      </a:lnTo>
                      <a:lnTo>
                        <a:pt x="446" y="38"/>
                      </a:lnTo>
                      <a:lnTo>
                        <a:pt x="55" y="62"/>
                      </a:lnTo>
                      <a:lnTo>
                        <a:pt x="36" y="239"/>
                      </a:lnTo>
                      <a:lnTo>
                        <a:pt x="15" y="239"/>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0" name="Freeform 123">
                  <a:extLst>
                    <a:ext uri="{FF2B5EF4-FFF2-40B4-BE49-F238E27FC236}">
                      <a16:creationId xmlns:a16="http://schemas.microsoft.com/office/drawing/2014/main" id="{76F0CDF0-8062-7E41-8A8A-027D9C6C8D3D}"/>
                    </a:ext>
                  </a:extLst>
                </p:cNvPr>
                <p:cNvSpPr>
                  <a:spLocks/>
                </p:cNvSpPr>
                <p:nvPr/>
              </p:nvSpPr>
              <p:spPr bwMode="auto">
                <a:xfrm>
                  <a:off x="3603" y="2756"/>
                  <a:ext cx="471" cy="58"/>
                </a:xfrm>
                <a:custGeom>
                  <a:avLst/>
                  <a:gdLst>
                    <a:gd name="T0" fmla="*/ 0 w 942"/>
                    <a:gd name="T1" fmla="*/ 58 h 118"/>
                    <a:gd name="T2" fmla="*/ 2 w 942"/>
                    <a:gd name="T3" fmla="*/ 36 h 118"/>
                    <a:gd name="T4" fmla="*/ 10 w 942"/>
                    <a:gd name="T5" fmla="*/ 17 h 118"/>
                    <a:gd name="T6" fmla="*/ 16 w 942"/>
                    <a:gd name="T7" fmla="*/ 9 h 118"/>
                    <a:gd name="T8" fmla="*/ 25 w 942"/>
                    <a:gd name="T9" fmla="*/ 4 h 118"/>
                    <a:gd name="T10" fmla="*/ 47 w 942"/>
                    <a:gd name="T11" fmla="*/ 5 h 118"/>
                    <a:gd name="T12" fmla="*/ 62 w 942"/>
                    <a:gd name="T13" fmla="*/ 12 h 118"/>
                    <a:gd name="T14" fmla="*/ 80 w 942"/>
                    <a:gd name="T15" fmla="*/ 15 h 118"/>
                    <a:gd name="T16" fmla="*/ 113 w 942"/>
                    <a:gd name="T17" fmla="*/ 13 h 118"/>
                    <a:gd name="T18" fmla="*/ 147 w 942"/>
                    <a:gd name="T19" fmla="*/ 10 h 118"/>
                    <a:gd name="T20" fmla="*/ 181 w 942"/>
                    <a:gd name="T21" fmla="*/ 16 h 118"/>
                    <a:gd name="T22" fmla="*/ 203 w 942"/>
                    <a:gd name="T23" fmla="*/ 8 h 118"/>
                    <a:gd name="T24" fmla="*/ 227 w 942"/>
                    <a:gd name="T25" fmla="*/ 4 h 118"/>
                    <a:gd name="T26" fmla="*/ 250 w 942"/>
                    <a:gd name="T27" fmla="*/ 5 h 118"/>
                    <a:gd name="T28" fmla="*/ 273 w 942"/>
                    <a:gd name="T29" fmla="*/ 14 h 118"/>
                    <a:gd name="T30" fmla="*/ 290 w 942"/>
                    <a:gd name="T31" fmla="*/ 19 h 118"/>
                    <a:gd name="T32" fmla="*/ 308 w 942"/>
                    <a:gd name="T33" fmla="*/ 16 h 118"/>
                    <a:gd name="T34" fmla="*/ 325 w 942"/>
                    <a:gd name="T35" fmla="*/ 7 h 118"/>
                    <a:gd name="T36" fmla="*/ 342 w 942"/>
                    <a:gd name="T37" fmla="*/ 3 h 118"/>
                    <a:gd name="T38" fmla="*/ 377 w 942"/>
                    <a:gd name="T39" fmla="*/ 1 h 118"/>
                    <a:gd name="T40" fmla="*/ 412 w 942"/>
                    <a:gd name="T41" fmla="*/ 4 h 118"/>
                    <a:gd name="T42" fmla="*/ 447 w 942"/>
                    <a:gd name="T43" fmla="*/ 0 h 118"/>
                    <a:gd name="T44" fmla="*/ 469 w 942"/>
                    <a:gd name="T45" fmla="*/ 17 h 118"/>
                    <a:gd name="T46" fmla="*/ 471 w 942"/>
                    <a:gd name="T47" fmla="*/ 46 h 118"/>
                    <a:gd name="T48" fmla="*/ 455 w 942"/>
                    <a:gd name="T49" fmla="*/ 45 h 118"/>
                    <a:gd name="T50" fmla="*/ 453 w 942"/>
                    <a:gd name="T51" fmla="*/ 27 h 118"/>
                    <a:gd name="T52" fmla="*/ 448 w 942"/>
                    <a:gd name="T53" fmla="*/ 18 h 118"/>
                    <a:gd name="T54" fmla="*/ 430 w 942"/>
                    <a:gd name="T55" fmla="*/ 18 h 118"/>
                    <a:gd name="T56" fmla="*/ 408 w 942"/>
                    <a:gd name="T57" fmla="*/ 24 h 118"/>
                    <a:gd name="T58" fmla="*/ 386 w 942"/>
                    <a:gd name="T59" fmla="*/ 17 h 118"/>
                    <a:gd name="T60" fmla="*/ 349 w 942"/>
                    <a:gd name="T61" fmla="*/ 22 h 118"/>
                    <a:gd name="T62" fmla="*/ 313 w 942"/>
                    <a:gd name="T63" fmla="*/ 30 h 118"/>
                    <a:gd name="T64" fmla="*/ 276 w 942"/>
                    <a:gd name="T65" fmla="*/ 32 h 118"/>
                    <a:gd name="T66" fmla="*/ 238 w 942"/>
                    <a:gd name="T67" fmla="*/ 18 h 118"/>
                    <a:gd name="T68" fmla="*/ 200 w 942"/>
                    <a:gd name="T69" fmla="*/ 29 h 118"/>
                    <a:gd name="T70" fmla="*/ 181 w 942"/>
                    <a:gd name="T71" fmla="*/ 32 h 118"/>
                    <a:gd name="T72" fmla="*/ 157 w 942"/>
                    <a:gd name="T73" fmla="*/ 30 h 118"/>
                    <a:gd name="T74" fmla="*/ 88 w 942"/>
                    <a:gd name="T75" fmla="*/ 24 h 118"/>
                    <a:gd name="T76" fmla="*/ 26 w 942"/>
                    <a:gd name="T77" fmla="*/ 21 h 118"/>
                    <a:gd name="T78" fmla="*/ 18 w 942"/>
                    <a:gd name="T79" fmla="*/ 58 h 118"/>
                    <a:gd name="T80" fmla="*/ 0 w 942"/>
                    <a:gd name="T81" fmla="*/ 58 h 118"/>
                    <a:gd name="T82" fmla="*/ 0 w 942"/>
                    <a:gd name="T83" fmla="*/ 58 h 11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42"/>
                    <a:gd name="T127" fmla="*/ 0 h 118"/>
                    <a:gd name="T128" fmla="*/ 942 w 942"/>
                    <a:gd name="T129" fmla="*/ 118 h 11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42" h="118">
                      <a:moveTo>
                        <a:pt x="0" y="118"/>
                      </a:moveTo>
                      <a:lnTo>
                        <a:pt x="3" y="74"/>
                      </a:lnTo>
                      <a:lnTo>
                        <a:pt x="19" y="34"/>
                      </a:lnTo>
                      <a:lnTo>
                        <a:pt x="32" y="19"/>
                      </a:lnTo>
                      <a:lnTo>
                        <a:pt x="49" y="8"/>
                      </a:lnTo>
                      <a:lnTo>
                        <a:pt x="93" y="10"/>
                      </a:lnTo>
                      <a:lnTo>
                        <a:pt x="125" y="25"/>
                      </a:lnTo>
                      <a:lnTo>
                        <a:pt x="159" y="30"/>
                      </a:lnTo>
                      <a:lnTo>
                        <a:pt x="226" y="27"/>
                      </a:lnTo>
                      <a:lnTo>
                        <a:pt x="294" y="21"/>
                      </a:lnTo>
                      <a:lnTo>
                        <a:pt x="361" y="32"/>
                      </a:lnTo>
                      <a:lnTo>
                        <a:pt x="406" y="17"/>
                      </a:lnTo>
                      <a:lnTo>
                        <a:pt x="454" y="8"/>
                      </a:lnTo>
                      <a:lnTo>
                        <a:pt x="500" y="10"/>
                      </a:lnTo>
                      <a:lnTo>
                        <a:pt x="545" y="29"/>
                      </a:lnTo>
                      <a:lnTo>
                        <a:pt x="579" y="38"/>
                      </a:lnTo>
                      <a:lnTo>
                        <a:pt x="615" y="32"/>
                      </a:lnTo>
                      <a:lnTo>
                        <a:pt x="650" y="15"/>
                      </a:lnTo>
                      <a:lnTo>
                        <a:pt x="684" y="6"/>
                      </a:lnTo>
                      <a:lnTo>
                        <a:pt x="754" y="2"/>
                      </a:lnTo>
                      <a:lnTo>
                        <a:pt x="823" y="8"/>
                      </a:lnTo>
                      <a:lnTo>
                        <a:pt x="893" y="0"/>
                      </a:lnTo>
                      <a:lnTo>
                        <a:pt x="937" y="34"/>
                      </a:lnTo>
                      <a:lnTo>
                        <a:pt x="942" y="93"/>
                      </a:lnTo>
                      <a:lnTo>
                        <a:pt x="910" y="91"/>
                      </a:lnTo>
                      <a:lnTo>
                        <a:pt x="906" y="55"/>
                      </a:lnTo>
                      <a:lnTo>
                        <a:pt x="895" y="36"/>
                      </a:lnTo>
                      <a:lnTo>
                        <a:pt x="859" y="36"/>
                      </a:lnTo>
                      <a:lnTo>
                        <a:pt x="815" y="49"/>
                      </a:lnTo>
                      <a:lnTo>
                        <a:pt x="771" y="34"/>
                      </a:lnTo>
                      <a:lnTo>
                        <a:pt x="697" y="44"/>
                      </a:lnTo>
                      <a:lnTo>
                        <a:pt x="625" y="61"/>
                      </a:lnTo>
                      <a:lnTo>
                        <a:pt x="551" y="65"/>
                      </a:lnTo>
                      <a:lnTo>
                        <a:pt x="477" y="36"/>
                      </a:lnTo>
                      <a:lnTo>
                        <a:pt x="399" y="59"/>
                      </a:lnTo>
                      <a:lnTo>
                        <a:pt x="361" y="65"/>
                      </a:lnTo>
                      <a:lnTo>
                        <a:pt x="313" y="61"/>
                      </a:lnTo>
                      <a:lnTo>
                        <a:pt x="176" y="49"/>
                      </a:lnTo>
                      <a:lnTo>
                        <a:pt x="51" y="42"/>
                      </a:lnTo>
                      <a:lnTo>
                        <a:pt x="36" y="118"/>
                      </a:lnTo>
                      <a:lnTo>
                        <a:pt x="0" y="118"/>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1" name="Freeform 124">
                  <a:extLst>
                    <a:ext uri="{FF2B5EF4-FFF2-40B4-BE49-F238E27FC236}">
                      <a16:creationId xmlns:a16="http://schemas.microsoft.com/office/drawing/2014/main" id="{A04A6814-E59C-0247-917E-70FBED0BAE07}"/>
                    </a:ext>
                  </a:extLst>
                </p:cNvPr>
                <p:cNvSpPr>
                  <a:spLocks/>
                </p:cNvSpPr>
                <p:nvPr/>
              </p:nvSpPr>
              <p:spPr bwMode="auto">
                <a:xfrm>
                  <a:off x="3630" y="2823"/>
                  <a:ext cx="185" cy="73"/>
                </a:xfrm>
                <a:custGeom>
                  <a:avLst/>
                  <a:gdLst>
                    <a:gd name="T0" fmla="*/ 6 w 368"/>
                    <a:gd name="T1" fmla="*/ 9 h 146"/>
                    <a:gd name="T2" fmla="*/ 60 w 368"/>
                    <a:gd name="T3" fmla="*/ 5 h 146"/>
                    <a:gd name="T4" fmla="*/ 185 w 368"/>
                    <a:gd name="T5" fmla="*/ 0 h 146"/>
                    <a:gd name="T6" fmla="*/ 103 w 368"/>
                    <a:gd name="T7" fmla="*/ 18 h 146"/>
                    <a:gd name="T8" fmla="*/ 180 w 368"/>
                    <a:gd name="T9" fmla="*/ 27 h 146"/>
                    <a:gd name="T10" fmla="*/ 102 w 368"/>
                    <a:gd name="T11" fmla="*/ 42 h 146"/>
                    <a:gd name="T12" fmla="*/ 178 w 368"/>
                    <a:gd name="T13" fmla="*/ 52 h 146"/>
                    <a:gd name="T14" fmla="*/ 108 w 368"/>
                    <a:gd name="T15" fmla="*/ 67 h 146"/>
                    <a:gd name="T16" fmla="*/ 0 w 368"/>
                    <a:gd name="T17" fmla="*/ 73 h 146"/>
                    <a:gd name="T18" fmla="*/ 6 w 368"/>
                    <a:gd name="T19" fmla="*/ 9 h 146"/>
                    <a:gd name="T20" fmla="*/ 6 w 368"/>
                    <a:gd name="T21" fmla="*/ 9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2" name="Freeform 125">
                  <a:extLst>
                    <a:ext uri="{FF2B5EF4-FFF2-40B4-BE49-F238E27FC236}">
                      <a16:creationId xmlns:a16="http://schemas.microsoft.com/office/drawing/2014/main" id="{F02254F2-531D-6148-ACE6-FE71DDE86C93}"/>
                    </a:ext>
                  </a:extLst>
                </p:cNvPr>
                <p:cNvSpPr>
                  <a:spLocks/>
                </p:cNvSpPr>
                <p:nvPr/>
              </p:nvSpPr>
              <p:spPr bwMode="auto">
                <a:xfrm>
                  <a:off x="3535" y="2929"/>
                  <a:ext cx="173" cy="93"/>
                </a:xfrm>
                <a:custGeom>
                  <a:avLst/>
                  <a:gdLst>
                    <a:gd name="T0" fmla="*/ 7 w 346"/>
                    <a:gd name="T1" fmla="*/ 15 h 184"/>
                    <a:gd name="T2" fmla="*/ 172 w 346"/>
                    <a:gd name="T3" fmla="*/ 0 h 184"/>
                    <a:gd name="T4" fmla="*/ 103 w 346"/>
                    <a:gd name="T5" fmla="*/ 20 h 184"/>
                    <a:gd name="T6" fmla="*/ 173 w 346"/>
                    <a:gd name="T7" fmla="*/ 28 h 184"/>
                    <a:gd name="T8" fmla="*/ 99 w 346"/>
                    <a:gd name="T9" fmla="*/ 45 h 184"/>
                    <a:gd name="T10" fmla="*/ 172 w 346"/>
                    <a:gd name="T11" fmla="*/ 52 h 184"/>
                    <a:gd name="T12" fmla="*/ 100 w 346"/>
                    <a:gd name="T13" fmla="*/ 69 h 184"/>
                    <a:gd name="T14" fmla="*/ 169 w 346"/>
                    <a:gd name="T15" fmla="*/ 75 h 184"/>
                    <a:gd name="T16" fmla="*/ 99 w 346"/>
                    <a:gd name="T17" fmla="*/ 93 h 184"/>
                    <a:gd name="T18" fmla="*/ 0 w 346"/>
                    <a:gd name="T19" fmla="*/ 91 h 184"/>
                    <a:gd name="T20" fmla="*/ 7 w 346"/>
                    <a:gd name="T21" fmla="*/ 15 h 184"/>
                    <a:gd name="T22" fmla="*/ 7 w 346"/>
                    <a:gd name="T23" fmla="*/ 15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3" name="Freeform 126">
                  <a:extLst>
                    <a:ext uri="{FF2B5EF4-FFF2-40B4-BE49-F238E27FC236}">
                      <a16:creationId xmlns:a16="http://schemas.microsoft.com/office/drawing/2014/main" id="{CAF7A31C-A19E-A846-BCCA-C70ADEC1D14A}"/>
                    </a:ext>
                  </a:extLst>
                </p:cNvPr>
                <p:cNvSpPr>
                  <a:spLocks/>
                </p:cNvSpPr>
                <p:nvPr/>
              </p:nvSpPr>
              <p:spPr bwMode="auto">
                <a:xfrm>
                  <a:off x="3964" y="2916"/>
                  <a:ext cx="174" cy="95"/>
                </a:xfrm>
                <a:custGeom>
                  <a:avLst/>
                  <a:gdLst>
                    <a:gd name="T0" fmla="*/ 7 w 348"/>
                    <a:gd name="T1" fmla="*/ 14 h 190"/>
                    <a:gd name="T2" fmla="*/ 0 w 348"/>
                    <a:gd name="T3" fmla="*/ 95 h 190"/>
                    <a:gd name="T4" fmla="*/ 174 w 348"/>
                    <a:gd name="T5" fmla="*/ 76 h 190"/>
                    <a:gd name="T6" fmla="*/ 112 w 348"/>
                    <a:gd name="T7" fmla="*/ 68 h 190"/>
                    <a:gd name="T8" fmla="*/ 167 w 348"/>
                    <a:gd name="T9" fmla="*/ 49 h 190"/>
                    <a:gd name="T10" fmla="*/ 107 w 348"/>
                    <a:gd name="T11" fmla="*/ 47 h 190"/>
                    <a:gd name="T12" fmla="*/ 167 w 348"/>
                    <a:gd name="T13" fmla="*/ 26 h 190"/>
                    <a:gd name="T14" fmla="*/ 106 w 348"/>
                    <a:gd name="T15" fmla="*/ 20 h 190"/>
                    <a:gd name="T16" fmla="*/ 162 w 348"/>
                    <a:gd name="T17" fmla="*/ 2 h 190"/>
                    <a:gd name="T18" fmla="*/ 102 w 348"/>
                    <a:gd name="T19" fmla="*/ 0 h 190"/>
                    <a:gd name="T20" fmla="*/ 7 w 348"/>
                    <a:gd name="T21" fmla="*/ 14 h 190"/>
                    <a:gd name="T22" fmla="*/ 7 w 348"/>
                    <a:gd name="T23" fmla="*/ 14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4" name="Freeform 127">
                  <a:extLst>
                    <a:ext uri="{FF2B5EF4-FFF2-40B4-BE49-F238E27FC236}">
                      <a16:creationId xmlns:a16="http://schemas.microsoft.com/office/drawing/2014/main" id="{D3BC511F-7CB7-3542-970E-A55F17F2F0E6}"/>
                    </a:ext>
                  </a:extLst>
                </p:cNvPr>
                <p:cNvSpPr>
                  <a:spLocks/>
                </p:cNvSpPr>
                <p:nvPr/>
              </p:nvSpPr>
              <p:spPr bwMode="auto">
                <a:xfrm>
                  <a:off x="3766" y="2827"/>
                  <a:ext cx="59" cy="21"/>
                </a:xfrm>
                <a:custGeom>
                  <a:avLst/>
                  <a:gdLst>
                    <a:gd name="T0" fmla="*/ 56 w 117"/>
                    <a:gd name="T1" fmla="*/ 0 h 41"/>
                    <a:gd name="T2" fmla="*/ 0 w 117"/>
                    <a:gd name="T3" fmla="*/ 11 h 41"/>
                    <a:gd name="T4" fmla="*/ 59 w 117"/>
                    <a:gd name="T5" fmla="*/ 21 h 41"/>
                    <a:gd name="T6" fmla="*/ 56 w 117"/>
                    <a:gd name="T7" fmla="*/ 0 h 41"/>
                    <a:gd name="T8" fmla="*/ 56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5" name="Freeform 128">
                  <a:extLst>
                    <a:ext uri="{FF2B5EF4-FFF2-40B4-BE49-F238E27FC236}">
                      <a16:creationId xmlns:a16="http://schemas.microsoft.com/office/drawing/2014/main" id="{5AED10F5-690D-604F-82AB-D8EFBF8B8CEC}"/>
                    </a:ext>
                  </a:extLst>
                </p:cNvPr>
                <p:cNvSpPr>
                  <a:spLocks/>
                </p:cNvSpPr>
                <p:nvPr/>
              </p:nvSpPr>
              <p:spPr bwMode="auto">
                <a:xfrm>
                  <a:off x="3766" y="2852"/>
                  <a:ext cx="61" cy="20"/>
                </a:xfrm>
                <a:custGeom>
                  <a:avLst/>
                  <a:gdLst>
                    <a:gd name="T0" fmla="*/ 61 w 121"/>
                    <a:gd name="T1" fmla="*/ 0 h 40"/>
                    <a:gd name="T2" fmla="*/ 0 w 121"/>
                    <a:gd name="T3" fmla="*/ 10 h 40"/>
                    <a:gd name="T4" fmla="*/ 60 w 121"/>
                    <a:gd name="T5" fmla="*/ 20 h 40"/>
                    <a:gd name="T6" fmla="*/ 61 w 121"/>
                    <a:gd name="T7" fmla="*/ 0 h 40"/>
                    <a:gd name="T8" fmla="*/ 6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6" name="Freeform 129">
                  <a:extLst>
                    <a:ext uri="{FF2B5EF4-FFF2-40B4-BE49-F238E27FC236}">
                      <a16:creationId xmlns:a16="http://schemas.microsoft.com/office/drawing/2014/main" id="{66C66A55-9095-6F42-B658-37B50B3A0BFC}"/>
                    </a:ext>
                  </a:extLst>
                </p:cNvPr>
                <p:cNvSpPr>
                  <a:spLocks/>
                </p:cNvSpPr>
                <p:nvPr/>
              </p:nvSpPr>
              <p:spPr bwMode="auto">
                <a:xfrm>
                  <a:off x="3764" y="2875"/>
                  <a:ext cx="63" cy="18"/>
                </a:xfrm>
                <a:custGeom>
                  <a:avLst/>
                  <a:gdLst>
                    <a:gd name="T0" fmla="*/ 61 w 125"/>
                    <a:gd name="T1" fmla="*/ 0 h 36"/>
                    <a:gd name="T2" fmla="*/ 0 w 125"/>
                    <a:gd name="T3" fmla="*/ 13 h 36"/>
                    <a:gd name="T4" fmla="*/ 63 w 125"/>
                    <a:gd name="T5" fmla="*/ 18 h 36"/>
                    <a:gd name="T6" fmla="*/ 61 w 125"/>
                    <a:gd name="T7" fmla="*/ 0 h 36"/>
                    <a:gd name="T8" fmla="*/ 6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7" name="Freeform 130">
                  <a:extLst>
                    <a:ext uri="{FF2B5EF4-FFF2-40B4-BE49-F238E27FC236}">
                      <a16:creationId xmlns:a16="http://schemas.microsoft.com/office/drawing/2014/main" id="{7D747939-8F2F-8D47-A61F-3F4D1B2BD1B6}"/>
                    </a:ext>
                  </a:extLst>
                </p:cNvPr>
                <p:cNvSpPr>
                  <a:spLocks/>
                </p:cNvSpPr>
                <p:nvPr/>
              </p:nvSpPr>
              <p:spPr bwMode="auto">
                <a:xfrm>
                  <a:off x="3664" y="2931"/>
                  <a:ext cx="52" cy="21"/>
                </a:xfrm>
                <a:custGeom>
                  <a:avLst/>
                  <a:gdLst>
                    <a:gd name="T0" fmla="*/ 48 w 105"/>
                    <a:gd name="T1" fmla="*/ 0 h 41"/>
                    <a:gd name="T2" fmla="*/ 0 w 105"/>
                    <a:gd name="T3" fmla="*/ 16 h 41"/>
                    <a:gd name="T4" fmla="*/ 52 w 105"/>
                    <a:gd name="T5" fmla="*/ 21 h 41"/>
                    <a:gd name="T6" fmla="*/ 48 w 105"/>
                    <a:gd name="T7" fmla="*/ 0 h 41"/>
                    <a:gd name="T8" fmla="*/ 48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8" name="Freeform 131">
                  <a:extLst>
                    <a:ext uri="{FF2B5EF4-FFF2-40B4-BE49-F238E27FC236}">
                      <a16:creationId xmlns:a16="http://schemas.microsoft.com/office/drawing/2014/main" id="{8631557E-4EC1-CF45-A33B-740F820F4B71}"/>
                    </a:ext>
                  </a:extLst>
                </p:cNvPr>
                <p:cNvSpPr>
                  <a:spLocks/>
                </p:cNvSpPr>
                <p:nvPr/>
              </p:nvSpPr>
              <p:spPr bwMode="auto">
                <a:xfrm>
                  <a:off x="3663" y="2960"/>
                  <a:ext cx="54" cy="17"/>
                </a:xfrm>
                <a:custGeom>
                  <a:avLst/>
                  <a:gdLst>
                    <a:gd name="T0" fmla="*/ 53 w 109"/>
                    <a:gd name="T1" fmla="*/ 0 h 34"/>
                    <a:gd name="T2" fmla="*/ 0 w 109"/>
                    <a:gd name="T3" fmla="*/ 12 h 34"/>
                    <a:gd name="T4" fmla="*/ 54 w 109"/>
                    <a:gd name="T5" fmla="*/ 17 h 34"/>
                    <a:gd name="T6" fmla="*/ 53 w 109"/>
                    <a:gd name="T7" fmla="*/ 0 h 34"/>
                    <a:gd name="T8" fmla="*/ 53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09" name="Freeform 132">
                  <a:extLst>
                    <a:ext uri="{FF2B5EF4-FFF2-40B4-BE49-F238E27FC236}">
                      <a16:creationId xmlns:a16="http://schemas.microsoft.com/office/drawing/2014/main" id="{FA4B59EA-1949-164A-8947-3EF171260152}"/>
                    </a:ext>
                  </a:extLst>
                </p:cNvPr>
                <p:cNvSpPr>
                  <a:spLocks/>
                </p:cNvSpPr>
                <p:nvPr/>
              </p:nvSpPr>
              <p:spPr bwMode="auto">
                <a:xfrm>
                  <a:off x="3666" y="2984"/>
                  <a:ext cx="53" cy="19"/>
                </a:xfrm>
                <a:custGeom>
                  <a:avLst/>
                  <a:gdLst>
                    <a:gd name="T0" fmla="*/ 51 w 107"/>
                    <a:gd name="T1" fmla="*/ 0 h 38"/>
                    <a:gd name="T2" fmla="*/ 0 w 107"/>
                    <a:gd name="T3" fmla="*/ 11 h 38"/>
                    <a:gd name="T4" fmla="*/ 53 w 107"/>
                    <a:gd name="T5" fmla="*/ 19 h 38"/>
                    <a:gd name="T6" fmla="*/ 51 w 107"/>
                    <a:gd name="T7" fmla="*/ 0 h 38"/>
                    <a:gd name="T8" fmla="*/ 51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0" name="Freeform 133">
                  <a:extLst>
                    <a:ext uri="{FF2B5EF4-FFF2-40B4-BE49-F238E27FC236}">
                      <a16:creationId xmlns:a16="http://schemas.microsoft.com/office/drawing/2014/main" id="{CD4F9333-543D-8846-9934-E8FBB02B2469}"/>
                    </a:ext>
                  </a:extLst>
                </p:cNvPr>
                <p:cNvSpPr>
                  <a:spLocks/>
                </p:cNvSpPr>
                <p:nvPr/>
              </p:nvSpPr>
              <p:spPr bwMode="auto">
                <a:xfrm>
                  <a:off x="3658" y="3005"/>
                  <a:ext cx="62" cy="15"/>
                </a:xfrm>
                <a:custGeom>
                  <a:avLst/>
                  <a:gdLst>
                    <a:gd name="T0" fmla="*/ 60 w 123"/>
                    <a:gd name="T1" fmla="*/ 0 h 28"/>
                    <a:gd name="T2" fmla="*/ 0 w 123"/>
                    <a:gd name="T3" fmla="*/ 15 h 28"/>
                    <a:gd name="T4" fmla="*/ 62 w 123"/>
                    <a:gd name="T5" fmla="*/ 15 h 28"/>
                    <a:gd name="T6" fmla="*/ 60 w 123"/>
                    <a:gd name="T7" fmla="*/ 0 h 28"/>
                    <a:gd name="T8" fmla="*/ 60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1" name="Freeform 134">
                  <a:extLst>
                    <a:ext uri="{FF2B5EF4-FFF2-40B4-BE49-F238E27FC236}">
                      <a16:creationId xmlns:a16="http://schemas.microsoft.com/office/drawing/2014/main" id="{A3662C17-D6A2-424A-BE57-54699BD3BBB1}"/>
                    </a:ext>
                  </a:extLst>
                </p:cNvPr>
                <p:cNvSpPr>
                  <a:spLocks/>
                </p:cNvSpPr>
                <p:nvPr/>
              </p:nvSpPr>
              <p:spPr bwMode="auto">
                <a:xfrm>
                  <a:off x="4088" y="2918"/>
                  <a:ext cx="46" cy="20"/>
                </a:xfrm>
                <a:custGeom>
                  <a:avLst/>
                  <a:gdLst>
                    <a:gd name="T0" fmla="*/ 42 w 91"/>
                    <a:gd name="T1" fmla="*/ 0 h 40"/>
                    <a:gd name="T2" fmla="*/ 0 w 91"/>
                    <a:gd name="T3" fmla="*/ 16 h 40"/>
                    <a:gd name="T4" fmla="*/ 46 w 91"/>
                    <a:gd name="T5" fmla="*/ 20 h 40"/>
                    <a:gd name="T6" fmla="*/ 42 w 91"/>
                    <a:gd name="T7" fmla="*/ 0 h 40"/>
                    <a:gd name="T8" fmla="*/ 42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2" name="Freeform 135">
                  <a:extLst>
                    <a:ext uri="{FF2B5EF4-FFF2-40B4-BE49-F238E27FC236}">
                      <a16:creationId xmlns:a16="http://schemas.microsoft.com/office/drawing/2014/main" id="{BA47C4A4-62BC-194D-B4F7-0D7A279A12A7}"/>
                    </a:ext>
                  </a:extLst>
                </p:cNvPr>
                <p:cNvSpPr>
                  <a:spLocks/>
                </p:cNvSpPr>
                <p:nvPr/>
              </p:nvSpPr>
              <p:spPr bwMode="auto">
                <a:xfrm>
                  <a:off x="4094" y="2945"/>
                  <a:ext cx="45" cy="17"/>
                </a:xfrm>
                <a:custGeom>
                  <a:avLst/>
                  <a:gdLst>
                    <a:gd name="T0" fmla="*/ 44 w 90"/>
                    <a:gd name="T1" fmla="*/ 0 h 34"/>
                    <a:gd name="T2" fmla="*/ 0 w 90"/>
                    <a:gd name="T3" fmla="*/ 14 h 34"/>
                    <a:gd name="T4" fmla="*/ 45 w 90"/>
                    <a:gd name="T5" fmla="*/ 17 h 34"/>
                    <a:gd name="T6" fmla="*/ 44 w 90"/>
                    <a:gd name="T7" fmla="*/ 0 h 34"/>
                    <a:gd name="T8" fmla="*/ 44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3" name="Freeform 136">
                  <a:extLst>
                    <a:ext uri="{FF2B5EF4-FFF2-40B4-BE49-F238E27FC236}">
                      <a16:creationId xmlns:a16="http://schemas.microsoft.com/office/drawing/2014/main" id="{851B0695-34DF-BC45-AA9D-D896440242A3}"/>
                    </a:ext>
                  </a:extLst>
                </p:cNvPr>
                <p:cNvSpPr>
                  <a:spLocks/>
                </p:cNvSpPr>
                <p:nvPr/>
              </p:nvSpPr>
              <p:spPr bwMode="auto">
                <a:xfrm>
                  <a:off x="4094" y="2966"/>
                  <a:ext cx="48" cy="22"/>
                </a:xfrm>
                <a:custGeom>
                  <a:avLst/>
                  <a:gdLst>
                    <a:gd name="T0" fmla="*/ 46 w 95"/>
                    <a:gd name="T1" fmla="*/ 0 h 44"/>
                    <a:gd name="T2" fmla="*/ 0 w 95"/>
                    <a:gd name="T3" fmla="*/ 16 h 44"/>
                    <a:gd name="T4" fmla="*/ 48 w 95"/>
                    <a:gd name="T5" fmla="*/ 22 h 44"/>
                    <a:gd name="T6" fmla="*/ 46 w 95"/>
                    <a:gd name="T7" fmla="*/ 0 h 44"/>
                    <a:gd name="T8" fmla="*/ 46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4" name="Freeform 137">
                  <a:extLst>
                    <a:ext uri="{FF2B5EF4-FFF2-40B4-BE49-F238E27FC236}">
                      <a16:creationId xmlns:a16="http://schemas.microsoft.com/office/drawing/2014/main" id="{952665AF-5FE3-5A47-BA74-953D42B36B1F}"/>
                    </a:ext>
                  </a:extLst>
                </p:cNvPr>
                <p:cNvSpPr>
                  <a:spLocks/>
                </p:cNvSpPr>
                <p:nvPr/>
              </p:nvSpPr>
              <p:spPr bwMode="auto">
                <a:xfrm>
                  <a:off x="3992" y="3033"/>
                  <a:ext cx="42" cy="17"/>
                </a:xfrm>
                <a:custGeom>
                  <a:avLst/>
                  <a:gdLst>
                    <a:gd name="T0" fmla="*/ 40 w 84"/>
                    <a:gd name="T1" fmla="*/ 0 h 34"/>
                    <a:gd name="T2" fmla="*/ 0 w 84"/>
                    <a:gd name="T3" fmla="*/ 9 h 34"/>
                    <a:gd name="T4" fmla="*/ 42 w 84"/>
                    <a:gd name="T5" fmla="*/ 17 h 34"/>
                    <a:gd name="T6" fmla="*/ 40 w 84"/>
                    <a:gd name="T7" fmla="*/ 0 h 34"/>
                    <a:gd name="T8" fmla="*/ 40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5" name="Freeform 138">
                  <a:extLst>
                    <a:ext uri="{FF2B5EF4-FFF2-40B4-BE49-F238E27FC236}">
                      <a16:creationId xmlns:a16="http://schemas.microsoft.com/office/drawing/2014/main" id="{B1C159DE-24D5-7542-9427-0A9FADF35290}"/>
                    </a:ext>
                  </a:extLst>
                </p:cNvPr>
                <p:cNvSpPr>
                  <a:spLocks/>
                </p:cNvSpPr>
                <p:nvPr/>
              </p:nvSpPr>
              <p:spPr bwMode="auto">
                <a:xfrm>
                  <a:off x="3639" y="2832"/>
                  <a:ext cx="124" cy="57"/>
                </a:xfrm>
                <a:custGeom>
                  <a:avLst/>
                  <a:gdLst>
                    <a:gd name="T0" fmla="*/ 3 w 249"/>
                    <a:gd name="T1" fmla="*/ 9 h 114"/>
                    <a:gd name="T2" fmla="*/ 97 w 249"/>
                    <a:gd name="T3" fmla="*/ 0 h 114"/>
                    <a:gd name="T4" fmla="*/ 61 w 249"/>
                    <a:gd name="T5" fmla="*/ 13 h 114"/>
                    <a:gd name="T6" fmla="*/ 124 w 249"/>
                    <a:gd name="T7" fmla="*/ 21 h 114"/>
                    <a:gd name="T8" fmla="*/ 65 w 249"/>
                    <a:gd name="T9" fmla="*/ 33 h 114"/>
                    <a:gd name="T10" fmla="*/ 118 w 249"/>
                    <a:gd name="T11" fmla="*/ 46 h 114"/>
                    <a:gd name="T12" fmla="*/ 62 w 249"/>
                    <a:gd name="T13" fmla="*/ 55 h 114"/>
                    <a:gd name="T14" fmla="*/ 0 w 249"/>
                    <a:gd name="T15" fmla="*/ 57 h 114"/>
                    <a:gd name="T16" fmla="*/ 3 w 249"/>
                    <a:gd name="T17" fmla="*/ 9 h 114"/>
                    <a:gd name="T18" fmla="*/ 3 w 249"/>
                    <a:gd name="T19" fmla="*/ 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6" name="Freeform 139">
                  <a:extLst>
                    <a:ext uri="{FF2B5EF4-FFF2-40B4-BE49-F238E27FC236}">
                      <a16:creationId xmlns:a16="http://schemas.microsoft.com/office/drawing/2014/main" id="{F8C127E1-A1C6-D945-9AAD-A004A96022F3}"/>
                    </a:ext>
                  </a:extLst>
                </p:cNvPr>
                <p:cNvSpPr>
                  <a:spLocks/>
                </p:cNvSpPr>
                <p:nvPr/>
              </p:nvSpPr>
              <p:spPr bwMode="auto">
                <a:xfrm>
                  <a:off x="3541" y="2942"/>
                  <a:ext cx="121" cy="71"/>
                </a:xfrm>
                <a:custGeom>
                  <a:avLst/>
                  <a:gdLst>
                    <a:gd name="T0" fmla="*/ 8 w 241"/>
                    <a:gd name="T1" fmla="*/ 9 h 142"/>
                    <a:gd name="T2" fmla="*/ 93 w 241"/>
                    <a:gd name="T3" fmla="*/ 0 h 142"/>
                    <a:gd name="T4" fmla="*/ 76 w 241"/>
                    <a:gd name="T5" fmla="*/ 10 h 142"/>
                    <a:gd name="T6" fmla="*/ 108 w 241"/>
                    <a:gd name="T7" fmla="*/ 16 h 142"/>
                    <a:gd name="T8" fmla="*/ 77 w 241"/>
                    <a:gd name="T9" fmla="*/ 28 h 142"/>
                    <a:gd name="T10" fmla="*/ 78 w 241"/>
                    <a:gd name="T11" fmla="*/ 35 h 142"/>
                    <a:gd name="T12" fmla="*/ 121 w 241"/>
                    <a:gd name="T13" fmla="*/ 42 h 142"/>
                    <a:gd name="T14" fmla="*/ 78 w 241"/>
                    <a:gd name="T15" fmla="*/ 56 h 142"/>
                    <a:gd name="T16" fmla="*/ 117 w 241"/>
                    <a:gd name="T17" fmla="*/ 67 h 142"/>
                    <a:gd name="T18" fmla="*/ 77 w 241"/>
                    <a:gd name="T19" fmla="*/ 71 h 142"/>
                    <a:gd name="T20" fmla="*/ 0 w 241"/>
                    <a:gd name="T21" fmla="*/ 71 h 142"/>
                    <a:gd name="T22" fmla="*/ 8 w 241"/>
                    <a:gd name="T23" fmla="*/ 9 h 142"/>
                    <a:gd name="T24" fmla="*/ 8 w 241"/>
                    <a:gd name="T25" fmla="*/ 9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7" name="Freeform 140">
                  <a:extLst>
                    <a:ext uri="{FF2B5EF4-FFF2-40B4-BE49-F238E27FC236}">
                      <a16:creationId xmlns:a16="http://schemas.microsoft.com/office/drawing/2014/main" id="{6596E89A-477B-C14A-A092-B68D377C81F5}"/>
                    </a:ext>
                  </a:extLst>
                </p:cNvPr>
                <p:cNvSpPr>
                  <a:spLocks/>
                </p:cNvSpPr>
                <p:nvPr/>
              </p:nvSpPr>
              <p:spPr bwMode="auto">
                <a:xfrm>
                  <a:off x="3972" y="2923"/>
                  <a:ext cx="121" cy="81"/>
                </a:xfrm>
                <a:custGeom>
                  <a:avLst/>
                  <a:gdLst>
                    <a:gd name="T0" fmla="*/ 6 w 243"/>
                    <a:gd name="T1" fmla="*/ 15 h 161"/>
                    <a:gd name="T2" fmla="*/ 108 w 243"/>
                    <a:gd name="T3" fmla="*/ 0 h 161"/>
                    <a:gd name="T4" fmla="*/ 74 w 243"/>
                    <a:gd name="T5" fmla="*/ 18 h 161"/>
                    <a:gd name="T6" fmla="*/ 121 w 243"/>
                    <a:gd name="T7" fmla="*/ 24 h 161"/>
                    <a:gd name="T8" fmla="*/ 79 w 243"/>
                    <a:gd name="T9" fmla="*/ 39 h 161"/>
                    <a:gd name="T10" fmla="*/ 121 w 243"/>
                    <a:gd name="T11" fmla="*/ 48 h 161"/>
                    <a:gd name="T12" fmla="*/ 88 w 243"/>
                    <a:gd name="T13" fmla="*/ 61 h 161"/>
                    <a:gd name="T14" fmla="*/ 110 w 243"/>
                    <a:gd name="T15" fmla="*/ 68 h 161"/>
                    <a:gd name="T16" fmla="*/ 0 w 243"/>
                    <a:gd name="T17" fmla="*/ 81 h 161"/>
                    <a:gd name="T18" fmla="*/ 6 w 243"/>
                    <a:gd name="T19" fmla="*/ 15 h 161"/>
                    <a:gd name="T20" fmla="*/ 6 w 243"/>
                    <a:gd name="T21" fmla="*/ 15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8" name="Freeform 141">
                  <a:extLst>
                    <a:ext uri="{FF2B5EF4-FFF2-40B4-BE49-F238E27FC236}">
                      <a16:creationId xmlns:a16="http://schemas.microsoft.com/office/drawing/2014/main" id="{8FF9EEFC-CBF5-184A-8312-08580626273B}"/>
                    </a:ext>
                  </a:extLst>
                </p:cNvPr>
                <p:cNvSpPr>
                  <a:spLocks/>
                </p:cNvSpPr>
                <p:nvPr/>
              </p:nvSpPr>
              <p:spPr bwMode="auto">
                <a:xfrm>
                  <a:off x="3852" y="2823"/>
                  <a:ext cx="193" cy="70"/>
                </a:xfrm>
                <a:custGeom>
                  <a:avLst/>
                  <a:gdLst>
                    <a:gd name="T0" fmla="*/ 10 w 385"/>
                    <a:gd name="T1" fmla="*/ 7 h 141"/>
                    <a:gd name="T2" fmla="*/ 0 w 385"/>
                    <a:gd name="T3" fmla="*/ 70 h 141"/>
                    <a:gd name="T4" fmla="*/ 193 w 385"/>
                    <a:gd name="T5" fmla="*/ 66 h 141"/>
                    <a:gd name="T6" fmla="*/ 120 w 385"/>
                    <a:gd name="T7" fmla="*/ 54 h 141"/>
                    <a:gd name="T8" fmla="*/ 186 w 385"/>
                    <a:gd name="T9" fmla="*/ 37 h 141"/>
                    <a:gd name="T10" fmla="*/ 124 w 385"/>
                    <a:gd name="T11" fmla="*/ 27 h 141"/>
                    <a:gd name="T12" fmla="*/ 184 w 385"/>
                    <a:gd name="T13" fmla="*/ 7 h 141"/>
                    <a:gd name="T14" fmla="*/ 124 w 385"/>
                    <a:gd name="T15" fmla="*/ 0 h 141"/>
                    <a:gd name="T16" fmla="*/ 10 w 385"/>
                    <a:gd name="T17" fmla="*/ 7 h 141"/>
                    <a:gd name="T18" fmla="*/ 10 w 385"/>
                    <a:gd name="T19" fmla="*/ 7 h 14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5"/>
                    <a:gd name="T31" fmla="*/ 0 h 141"/>
                    <a:gd name="T32" fmla="*/ 385 w 385"/>
                    <a:gd name="T33" fmla="*/ 141 h 14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5" h="141">
                      <a:moveTo>
                        <a:pt x="19" y="15"/>
                      </a:moveTo>
                      <a:lnTo>
                        <a:pt x="0" y="141"/>
                      </a:lnTo>
                      <a:lnTo>
                        <a:pt x="385" y="133"/>
                      </a:lnTo>
                      <a:lnTo>
                        <a:pt x="239" y="108"/>
                      </a:lnTo>
                      <a:lnTo>
                        <a:pt x="372" y="74"/>
                      </a:lnTo>
                      <a:lnTo>
                        <a:pt x="247" y="55"/>
                      </a:lnTo>
                      <a:lnTo>
                        <a:pt x="368" y="15"/>
                      </a:lnTo>
                      <a:lnTo>
                        <a:pt x="247" y="0"/>
                      </a:lnTo>
                      <a:lnTo>
                        <a:pt x="19" y="15"/>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19" name="Freeform 142">
                  <a:extLst>
                    <a:ext uri="{FF2B5EF4-FFF2-40B4-BE49-F238E27FC236}">
                      <a16:creationId xmlns:a16="http://schemas.microsoft.com/office/drawing/2014/main" id="{EBEA7693-BFB6-C945-99DA-408FEF4F1877}"/>
                    </a:ext>
                  </a:extLst>
                </p:cNvPr>
                <p:cNvSpPr>
                  <a:spLocks/>
                </p:cNvSpPr>
                <p:nvPr/>
              </p:nvSpPr>
              <p:spPr bwMode="auto">
                <a:xfrm>
                  <a:off x="3740" y="2922"/>
                  <a:ext cx="196" cy="98"/>
                </a:xfrm>
                <a:custGeom>
                  <a:avLst/>
                  <a:gdLst>
                    <a:gd name="T0" fmla="*/ 10 w 394"/>
                    <a:gd name="T1" fmla="*/ 23 h 195"/>
                    <a:gd name="T2" fmla="*/ 0 w 394"/>
                    <a:gd name="T3" fmla="*/ 98 h 195"/>
                    <a:gd name="T4" fmla="*/ 196 w 394"/>
                    <a:gd name="T5" fmla="*/ 90 h 195"/>
                    <a:gd name="T6" fmla="*/ 131 w 394"/>
                    <a:gd name="T7" fmla="*/ 76 h 195"/>
                    <a:gd name="T8" fmla="*/ 193 w 394"/>
                    <a:gd name="T9" fmla="*/ 60 h 195"/>
                    <a:gd name="T10" fmla="*/ 122 w 394"/>
                    <a:gd name="T11" fmla="*/ 49 h 195"/>
                    <a:gd name="T12" fmla="*/ 192 w 394"/>
                    <a:gd name="T13" fmla="*/ 31 h 195"/>
                    <a:gd name="T14" fmla="*/ 120 w 394"/>
                    <a:gd name="T15" fmla="*/ 24 h 195"/>
                    <a:gd name="T16" fmla="*/ 188 w 394"/>
                    <a:gd name="T17" fmla="*/ 0 h 195"/>
                    <a:gd name="T18" fmla="*/ 99 w 394"/>
                    <a:gd name="T19" fmla="*/ 9 h 195"/>
                    <a:gd name="T20" fmla="*/ 10 w 394"/>
                    <a:gd name="T21" fmla="*/ 23 h 195"/>
                    <a:gd name="T22" fmla="*/ 10 w 394"/>
                    <a:gd name="T23" fmla="*/ 23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0" name="Freeform 143">
                  <a:extLst>
                    <a:ext uri="{FF2B5EF4-FFF2-40B4-BE49-F238E27FC236}">
                      <a16:creationId xmlns:a16="http://schemas.microsoft.com/office/drawing/2014/main" id="{7B0955BD-EB23-BD4F-B842-4AE15FCB5432}"/>
                    </a:ext>
                  </a:extLst>
                </p:cNvPr>
                <p:cNvSpPr>
                  <a:spLocks/>
                </p:cNvSpPr>
                <p:nvPr/>
              </p:nvSpPr>
              <p:spPr bwMode="auto">
                <a:xfrm>
                  <a:off x="3748" y="2937"/>
                  <a:ext cx="133" cy="75"/>
                </a:xfrm>
                <a:custGeom>
                  <a:avLst/>
                  <a:gdLst>
                    <a:gd name="T0" fmla="*/ 7 w 267"/>
                    <a:gd name="T1" fmla="*/ 16 h 150"/>
                    <a:gd name="T2" fmla="*/ 110 w 267"/>
                    <a:gd name="T3" fmla="*/ 0 h 150"/>
                    <a:gd name="T4" fmla="*/ 89 w 267"/>
                    <a:gd name="T5" fmla="*/ 15 h 150"/>
                    <a:gd name="T6" fmla="*/ 130 w 267"/>
                    <a:gd name="T7" fmla="*/ 19 h 150"/>
                    <a:gd name="T8" fmla="*/ 88 w 267"/>
                    <a:gd name="T9" fmla="*/ 34 h 150"/>
                    <a:gd name="T10" fmla="*/ 133 w 267"/>
                    <a:gd name="T11" fmla="*/ 46 h 150"/>
                    <a:gd name="T12" fmla="*/ 91 w 267"/>
                    <a:gd name="T13" fmla="*/ 54 h 150"/>
                    <a:gd name="T14" fmla="*/ 130 w 267"/>
                    <a:gd name="T15" fmla="*/ 72 h 150"/>
                    <a:gd name="T16" fmla="*/ 0 w 267"/>
                    <a:gd name="T17" fmla="*/ 75 h 150"/>
                    <a:gd name="T18" fmla="*/ 7 w 267"/>
                    <a:gd name="T19" fmla="*/ 16 h 150"/>
                    <a:gd name="T20" fmla="*/ 7 w 267"/>
                    <a:gd name="T21" fmla="*/ 16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1" name="Freeform 144">
                  <a:extLst>
                    <a:ext uri="{FF2B5EF4-FFF2-40B4-BE49-F238E27FC236}">
                      <a16:creationId xmlns:a16="http://schemas.microsoft.com/office/drawing/2014/main" id="{DA0CB447-2358-344C-B8CA-F427C4A0C27D}"/>
                    </a:ext>
                  </a:extLst>
                </p:cNvPr>
                <p:cNvSpPr>
                  <a:spLocks/>
                </p:cNvSpPr>
                <p:nvPr/>
              </p:nvSpPr>
              <p:spPr bwMode="auto">
                <a:xfrm>
                  <a:off x="3859" y="2830"/>
                  <a:ext cx="127" cy="58"/>
                </a:xfrm>
                <a:custGeom>
                  <a:avLst/>
                  <a:gdLst>
                    <a:gd name="T0" fmla="*/ 10 w 253"/>
                    <a:gd name="T1" fmla="*/ 9 h 116"/>
                    <a:gd name="T2" fmla="*/ 0 w 253"/>
                    <a:gd name="T3" fmla="*/ 58 h 116"/>
                    <a:gd name="T4" fmla="*/ 112 w 253"/>
                    <a:gd name="T5" fmla="*/ 56 h 116"/>
                    <a:gd name="T6" fmla="*/ 90 w 253"/>
                    <a:gd name="T7" fmla="*/ 43 h 116"/>
                    <a:gd name="T8" fmla="*/ 122 w 253"/>
                    <a:gd name="T9" fmla="*/ 33 h 116"/>
                    <a:gd name="T10" fmla="*/ 90 w 253"/>
                    <a:gd name="T11" fmla="*/ 21 h 116"/>
                    <a:gd name="T12" fmla="*/ 127 w 253"/>
                    <a:gd name="T13" fmla="*/ 6 h 116"/>
                    <a:gd name="T14" fmla="*/ 89 w 253"/>
                    <a:gd name="T15" fmla="*/ 0 h 116"/>
                    <a:gd name="T16" fmla="*/ 10 w 253"/>
                    <a:gd name="T17" fmla="*/ 9 h 116"/>
                    <a:gd name="T18" fmla="*/ 10 w 253"/>
                    <a:gd name="T19" fmla="*/ 9 h 1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3"/>
                    <a:gd name="T31" fmla="*/ 0 h 116"/>
                    <a:gd name="T32" fmla="*/ 253 w 253"/>
                    <a:gd name="T33" fmla="*/ 116 h 1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3" h="116">
                      <a:moveTo>
                        <a:pt x="19" y="17"/>
                      </a:moveTo>
                      <a:lnTo>
                        <a:pt x="0" y="116"/>
                      </a:lnTo>
                      <a:lnTo>
                        <a:pt x="224" y="111"/>
                      </a:lnTo>
                      <a:lnTo>
                        <a:pt x="180" y="86"/>
                      </a:lnTo>
                      <a:lnTo>
                        <a:pt x="243" y="65"/>
                      </a:lnTo>
                      <a:lnTo>
                        <a:pt x="180" y="42"/>
                      </a:lnTo>
                      <a:lnTo>
                        <a:pt x="253" y="12"/>
                      </a:lnTo>
                      <a:lnTo>
                        <a:pt x="177" y="0"/>
                      </a:lnTo>
                      <a:lnTo>
                        <a:pt x="19" y="17"/>
                      </a:lnTo>
                      <a:close/>
                    </a:path>
                  </a:pathLst>
                </a:custGeom>
                <a:solidFill>
                  <a:srgbClr val="FFE5B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2" name="Freeform 145">
                  <a:extLst>
                    <a:ext uri="{FF2B5EF4-FFF2-40B4-BE49-F238E27FC236}">
                      <a16:creationId xmlns:a16="http://schemas.microsoft.com/office/drawing/2014/main" id="{37EC39D8-EA86-CE4F-98FF-2EE6E272106A}"/>
                    </a:ext>
                  </a:extLst>
                </p:cNvPr>
                <p:cNvSpPr>
                  <a:spLocks/>
                </p:cNvSpPr>
                <p:nvPr/>
              </p:nvSpPr>
              <p:spPr bwMode="auto">
                <a:xfrm>
                  <a:off x="3884" y="2927"/>
                  <a:ext cx="52" cy="20"/>
                </a:xfrm>
                <a:custGeom>
                  <a:avLst/>
                  <a:gdLst>
                    <a:gd name="T0" fmla="*/ 49 w 105"/>
                    <a:gd name="T1" fmla="*/ 0 h 42"/>
                    <a:gd name="T2" fmla="*/ 0 w 105"/>
                    <a:gd name="T3" fmla="*/ 15 h 42"/>
                    <a:gd name="T4" fmla="*/ 52 w 105"/>
                    <a:gd name="T5" fmla="*/ 20 h 42"/>
                    <a:gd name="T6" fmla="*/ 49 w 105"/>
                    <a:gd name="T7" fmla="*/ 0 h 42"/>
                    <a:gd name="T8" fmla="*/ 49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3" name="Freeform 146">
                  <a:extLst>
                    <a:ext uri="{FF2B5EF4-FFF2-40B4-BE49-F238E27FC236}">
                      <a16:creationId xmlns:a16="http://schemas.microsoft.com/office/drawing/2014/main" id="{C2C95DCA-CF84-834C-8A89-41A27146619D}"/>
                    </a:ext>
                  </a:extLst>
                </p:cNvPr>
                <p:cNvSpPr>
                  <a:spLocks/>
                </p:cNvSpPr>
                <p:nvPr/>
              </p:nvSpPr>
              <p:spPr bwMode="auto">
                <a:xfrm>
                  <a:off x="3896" y="2960"/>
                  <a:ext cx="41" cy="17"/>
                </a:xfrm>
                <a:custGeom>
                  <a:avLst/>
                  <a:gdLst>
                    <a:gd name="T0" fmla="*/ 38 w 84"/>
                    <a:gd name="T1" fmla="*/ 0 h 34"/>
                    <a:gd name="T2" fmla="*/ 0 w 84"/>
                    <a:gd name="T3" fmla="*/ 7 h 34"/>
                    <a:gd name="T4" fmla="*/ 41 w 84"/>
                    <a:gd name="T5" fmla="*/ 17 h 34"/>
                    <a:gd name="T6" fmla="*/ 38 w 84"/>
                    <a:gd name="T7" fmla="*/ 0 h 34"/>
                    <a:gd name="T8" fmla="*/ 38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4" name="Freeform 147">
                  <a:extLst>
                    <a:ext uri="{FF2B5EF4-FFF2-40B4-BE49-F238E27FC236}">
                      <a16:creationId xmlns:a16="http://schemas.microsoft.com/office/drawing/2014/main" id="{51C2F4CC-C8C4-E840-8E50-F217AB78CF4A}"/>
                    </a:ext>
                  </a:extLst>
                </p:cNvPr>
                <p:cNvSpPr>
                  <a:spLocks/>
                </p:cNvSpPr>
                <p:nvPr/>
              </p:nvSpPr>
              <p:spPr bwMode="auto">
                <a:xfrm>
                  <a:off x="3900" y="2986"/>
                  <a:ext cx="42" cy="19"/>
                </a:xfrm>
                <a:custGeom>
                  <a:avLst/>
                  <a:gdLst>
                    <a:gd name="T0" fmla="*/ 38 w 83"/>
                    <a:gd name="T1" fmla="*/ 0 h 38"/>
                    <a:gd name="T2" fmla="*/ 0 w 83"/>
                    <a:gd name="T3" fmla="*/ 11 h 38"/>
                    <a:gd name="T4" fmla="*/ 42 w 83"/>
                    <a:gd name="T5" fmla="*/ 19 h 38"/>
                    <a:gd name="T6" fmla="*/ 38 w 83"/>
                    <a:gd name="T7" fmla="*/ 0 h 38"/>
                    <a:gd name="T8" fmla="*/ 38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5" name="Freeform 148">
                  <a:extLst>
                    <a:ext uri="{FF2B5EF4-FFF2-40B4-BE49-F238E27FC236}">
                      <a16:creationId xmlns:a16="http://schemas.microsoft.com/office/drawing/2014/main" id="{4A35B342-B64D-504F-8788-E3781DE1838D}"/>
                    </a:ext>
                  </a:extLst>
                </p:cNvPr>
                <p:cNvSpPr>
                  <a:spLocks/>
                </p:cNvSpPr>
                <p:nvPr/>
              </p:nvSpPr>
              <p:spPr bwMode="auto">
                <a:xfrm>
                  <a:off x="3998" y="2865"/>
                  <a:ext cx="52" cy="22"/>
                </a:xfrm>
                <a:custGeom>
                  <a:avLst/>
                  <a:gdLst>
                    <a:gd name="T0" fmla="*/ 46 w 105"/>
                    <a:gd name="T1" fmla="*/ 0 h 43"/>
                    <a:gd name="T2" fmla="*/ 0 w 105"/>
                    <a:gd name="T3" fmla="*/ 11 h 43"/>
                    <a:gd name="T4" fmla="*/ 52 w 105"/>
                    <a:gd name="T5" fmla="*/ 22 h 43"/>
                    <a:gd name="T6" fmla="*/ 46 w 105"/>
                    <a:gd name="T7" fmla="*/ 0 h 43"/>
                    <a:gd name="T8" fmla="*/ 46 w 105"/>
                    <a:gd name="T9" fmla="*/ 0 h 43"/>
                    <a:gd name="T10" fmla="*/ 0 60000 65536"/>
                    <a:gd name="T11" fmla="*/ 0 60000 65536"/>
                    <a:gd name="T12" fmla="*/ 0 60000 65536"/>
                    <a:gd name="T13" fmla="*/ 0 60000 65536"/>
                    <a:gd name="T14" fmla="*/ 0 60000 65536"/>
                    <a:gd name="T15" fmla="*/ 0 w 105"/>
                    <a:gd name="T16" fmla="*/ 0 h 43"/>
                    <a:gd name="T17" fmla="*/ 105 w 105"/>
                    <a:gd name="T18" fmla="*/ 43 h 43"/>
                  </a:gdLst>
                  <a:ahLst/>
                  <a:cxnLst>
                    <a:cxn ang="T10">
                      <a:pos x="T0" y="T1"/>
                    </a:cxn>
                    <a:cxn ang="T11">
                      <a:pos x="T2" y="T3"/>
                    </a:cxn>
                    <a:cxn ang="T12">
                      <a:pos x="T4" y="T5"/>
                    </a:cxn>
                    <a:cxn ang="T13">
                      <a:pos x="T6" y="T7"/>
                    </a:cxn>
                    <a:cxn ang="T14">
                      <a:pos x="T8" y="T9"/>
                    </a:cxn>
                  </a:cxnLst>
                  <a:rect l="T15" t="T16" r="T17" b="T18"/>
                  <a:pathLst>
                    <a:path w="105" h="43">
                      <a:moveTo>
                        <a:pt x="92" y="0"/>
                      </a:moveTo>
                      <a:lnTo>
                        <a:pt x="0" y="21"/>
                      </a:lnTo>
                      <a:lnTo>
                        <a:pt x="105" y="43"/>
                      </a:lnTo>
                      <a:lnTo>
                        <a:pt x="92"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6" name="Freeform 149">
                  <a:extLst>
                    <a:ext uri="{FF2B5EF4-FFF2-40B4-BE49-F238E27FC236}">
                      <a16:creationId xmlns:a16="http://schemas.microsoft.com/office/drawing/2014/main" id="{1CEF984A-3923-3940-AAC2-797767880F5B}"/>
                    </a:ext>
                  </a:extLst>
                </p:cNvPr>
                <p:cNvSpPr>
                  <a:spLocks/>
                </p:cNvSpPr>
                <p:nvPr/>
              </p:nvSpPr>
              <p:spPr bwMode="auto">
                <a:xfrm>
                  <a:off x="4002" y="2834"/>
                  <a:ext cx="40" cy="20"/>
                </a:xfrm>
                <a:custGeom>
                  <a:avLst/>
                  <a:gdLst>
                    <a:gd name="T0" fmla="*/ 39 w 80"/>
                    <a:gd name="T1" fmla="*/ 0 h 40"/>
                    <a:gd name="T2" fmla="*/ 0 w 80"/>
                    <a:gd name="T3" fmla="*/ 14 h 40"/>
                    <a:gd name="T4" fmla="*/ 40 w 80"/>
                    <a:gd name="T5" fmla="*/ 20 h 40"/>
                    <a:gd name="T6" fmla="*/ 39 w 80"/>
                    <a:gd name="T7" fmla="*/ 0 h 40"/>
                    <a:gd name="T8" fmla="*/ 39 w 80"/>
                    <a:gd name="T9" fmla="*/ 0 h 40"/>
                    <a:gd name="T10" fmla="*/ 0 60000 65536"/>
                    <a:gd name="T11" fmla="*/ 0 60000 65536"/>
                    <a:gd name="T12" fmla="*/ 0 60000 65536"/>
                    <a:gd name="T13" fmla="*/ 0 60000 65536"/>
                    <a:gd name="T14" fmla="*/ 0 60000 65536"/>
                    <a:gd name="T15" fmla="*/ 0 w 80"/>
                    <a:gd name="T16" fmla="*/ 0 h 40"/>
                    <a:gd name="T17" fmla="*/ 80 w 80"/>
                    <a:gd name="T18" fmla="*/ 40 h 40"/>
                  </a:gdLst>
                  <a:ahLst/>
                  <a:cxnLst>
                    <a:cxn ang="T10">
                      <a:pos x="T0" y="T1"/>
                    </a:cxn>
                    <a:cxn ang="T11">
                      <a:pos x="T2" y="T3"/>
                    </a:cxn>
                    <a:cxn ang="T12">
                      <a:pos x="T4" y="T5"/>
                    </a:cxn>
                    <a:cxn ang="T13">
                      <a:pos x="T6" y="T7"/>
                    </a:cxn>
                    <a:cxn ang="T14">
                      <a:pos x="T8" y="T9"/>
                    </a:cxn>
                  </a:cxnLst>
                  <a:rect l="T15" t="T16" r="T17" b="T18"/>
                  <a:pathLst>
                    <a:path w="80" h="40">
                      <a:moveTo>
                        <a:pt x="78" y="0"/>
                      </a:moveTo>
                      <a:lnTo>
                        <a:pt x="0" y="28"/>
                      </a:lnTo>
                      <a:lnTo>
                        <a:pt x="80" y="40"/>
                      </a:lnTo>
                      <a:lnTo>
                        <a:pt x="7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7" name="Freeform 150">
                  <a:extLst>
                    <a:ext uri="{FF2B5EF4-FFF2-40B4-BE49-F238E27FC236}">
                      <a16:creationId xmlns:a16="http://schemas.microsoft.com/office/drawing/2014/main" id="{207E1ACC-5D4E-094B-8457-DBD7AC13C973}"/>
                    </a:ext>
                  </a:extLst>
                </p:cNvPr>
                <p:cNvSpPr>
                  <a:spLocks/>
                </p:cNvSpPr>
                <p:nvPr/>
              </p:nvSpPr>
              <p:spPr bwMode="auto">
                <a:xfrm>
                  <a:off x="4200" y="3029"/>
                  <a:ext cx="47" cy="19"/>
                </a:xfrm>
                <a:custGeom>
                  <a:avLst/>
                  <a:gdLst>
                    <a:gd name="T0" fmla="*/ 44 w 95"/>
                    <a:gd name="T1" fmla="*/ 0 h 38"/>
                    <a:gd name="T2" fmla="*/ 0 w 95"/>
                    <a:gd name="T3" fmla="*/ 12 h 38"/>
                    <a:gd name="T4" fmla="*/ 47 w 95"/>
                    <a:gd name="T5" fmla="*/ 19 h 38"/>
                    <a:gd name="T6" fmla="*/ 44 w 95"/>
                    <a:gd name="T7" fmla="*/ 0 h 38"/>
                    <a:gd name="T8" fmla="*/ 44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8" name="Freeform 151">
                  <a:extLst>
                    <a:ext uri="{FF2B5EF4-FFF2-40B4-BE49-F238E27FC236}">
                      <a16:creationId xmlns:a16="http://schemas.microsoft.com/office/drawing/2014/main" id="{23E72FF6-D35B-FB41-8C24-E08C35FC879F}"/>
                    </a:ext>
                  </a:extLst>
                </p:cNvPr>
                <p:cNvSpPr>
                  <a:spLocks/>
                </p:cNvSpPr>
                <p:nvPr/>
              </p:nvSpPr>
              <p:spPr bwMode="auto">
                <a:xfrm>
                  <a:off x="3628" y="2779"/>
                  <a:ext cx="221" cy="20"/>
                </a:xfrm>
                <a:custGeom>
                  <a:avLst/>
                  <a:gdLst>
                    <a:gd name="T0" fmla="*/ 0 w 441"/>
                    <a:gd name="T1" fmla="*/ 20 h 39"/>
                    <a:gd name="T2" fmla="*/ 1 w 441"/>
                    <a:gd name="T3" fmla="*/ 5 h 39"/>
                    <a:gd name="T4" fmla="*/ 14 w 441"/>
                    <a:gd name="T5" fmla="*/ 1 h 39"/>
                    <a:gd name="T6" fmla="*/ 32 w 441"/>
                    <a:gd name="T7" fmla="*/ 0 h 39"/>
                    <a:gd name="T8" fmla="*/ 54 w 441"/>
                    <a:gd name="T9" fmla="*/ 5 h 39"/>
                    <a:gd name="T10" fmla="*/ 79 w 441"/>
                    <a:gd name="T11" fmla="*/ 11 h 39"/>
                    <a:gd name="T12" fmla="*/ 99 w 441"/>
                    <a:gd name="T13" fmla="*/ 9 h 39"/>
                    <a:gd name="T14" fmla="*/ 114 w 441"/>
                    <a:gd name="T15" fmla="*/ 9 h 39"/>
                    <a:gd name="T16" fmla="*/ 133 w 441"/>
                    <a:gd name="T17" fmla="*/ 12 h 39"/>
                    <a:gd name="T18" fmla="*/ 150 w 441"/>
                    <a:gd name="T19" fmla="*/ 13 h 39"/>
                    <a:gd name="T20" fmla="*/ 167 w 441"/>
                    <a:gd name="T21" fmla="*/ 13 h 39"/>
                    <a:gd name="T22" fmla="*/ 182 w 441"/>
                    <a:gd name="T23" fmla="*/ 9 h 39"/>
                    <a:gd name="T24" fmla="*/ 203 w 441"/>
                    <a:gd name="T25" fmla="*/ 0 h 39"/>
                    <a:gd name="T26" fmla="*/ 216 w 441"/>
                    <a:gd name="T27" fmla="*/ 0 h 39"/>
                    <a:gd name="T28" fmla="*/ 221 w 441"/>
                    <a:gd name="T29" fmla="*/ 8 h 39"/>
                    <a:gd name="T30" fmla="*/ 219 w 441"/>
                    <a:gd name="T31" fmla="*/ 16 h 39"/>
                    <a:gd name="T32" fmla="*/ 204 w 441"/>
                    <a:gd name="T33" fmla="*/ 20 h 39"/>
                    <a:gd name="T34" fmla="*/ 173 w 441"/>
                    <a:gd name="T35" fmla="*/ 19 h 39"/>
                    <a:gd name="T36" fmla="*/ 92 w 441"/>
                    <a:gd name="T37" fmla="*/ 20 h 39"/>
                    <a:gd name="T38" fmla="*/ 30 w 441"/>
                    <a:gd name="T39" fmla="*/ 20 h 39"/>
                    <a:gd name="T40" fmla="*/ 0 w 441"/>
                    <a:gd name="T41" fmla="*/ 20 h 39"/>
                    <a:gd name="T42" fmla="*/ 0 w 441"/>
                    <a:gd name="T43" fmla="*/ 2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29" name="Freeform 152">
                  <a:extLst>
                    <a:ext uri="{FF2B5EF4-FFF2-40B4-BE49-F238E27FC236}">
                      <a16:creationId xmlns:a16="http://schemas.microsoft.com/office/drawing/2014/main" id="{FCE17D20-7CEF-204F-863E-7E1BAA169756}"/>
                    </a:ext>
                  </a:extLst>
                </p:cNvPr>
                <p:cNvSpPr>
                  <a:spLocks/>
                </p:cNvSpPr>
                <p:nvPr/>
              </p:nvSpPr>
              <p:spPr bwMode="auto">
                <a:xfrm>
                  <a:off x="3850" y="2775"/>
                  <a:ext cx="200" cy="24"/>
                </a:xfrm>
                <a:custGeom>
                  <a:avLst/>
                  <a:gdLst>
                    <a:gd name="T0" fmla="*/ 1 w 401"/>
                    <a:gd name="T1" fmla="*/ 11 h 49"/>
                    <a:gd name="T2" fmla="*/ 9 w 401"/>
                    <a:gd name="T3" fmla="*/ 14 h 49"/>
                    <a:gd name="T4" fmla="*/ 35 w 401"/>
                    <a:gd name="T5" fmla="*/ 18 h 49"/>
                    <a:gd name="T6" fmla="*/ 50 w 401"/>
                    <a:gd name="T7" fmla="*/ 17 h 49"/>
                    <a:gd name="T8" fmla="*/ 70 w 401"/>
                    <a:gd name="T9" fmla="*/ 14 h 49"/>
                    <a:gd name="T10" fmla="*/ 88 w 401"/>
                    <a:gd name="T11" fmla="*/ 9 h 49"/>
                    <a:gd name="T12" fmla="*/ 105 w 401"/>
                    <a:gd name="T13" fmla="*/ 6 h 49"/>
                    <a:gd name="T14" fmla="*/ 118 w 401"/>
                    <a:gd name="T15" fmla="*/ 5 h 49"/>
                    <a:gd name="T16" fmla="*/ 134 w 401"/>
                    <a:gd name="T17" fmla="*/ 6 h 49"/>
                    <a:gd name="T18" fmla="*/ 141 w 401"/>
                    <a:gd name="T19" fmla="*/ 10 h 49"/>
                    <a:gd name="T20" fmla="*/ 148 w 401"/>
                    <a:gd name="T21" fmla="*/ 14 h 49"/>
                    <a:gd name="T22" fmla="*/ 158 w 401"/>
                    <a:gd name="T23" fmla="*/ 12 h 49"/>
                    <a:gd name="T24" fmla="*/ 167 w 401"/>
                    <a:gd name="T25" fmla="*/ 6 h 49"/>
                    <a:gd name="T26" fmla="*/ 179 w 401"/>
                    <a:gd name="T27" fmla="*/ 4 h 49"/>
                    <a:gd name="T28" fmla="*/ 190 w 401"/>
                    <a:gd name="T29" fmla="*/ 0 h 49"/>
                    <a:gd name="T30" fmla="*/ 198 w 401"/>
                    <a:gd name="T31" fmla="*/ 5 h 49"/>
                    <a:gd name="T32" fmla="*/ 200 w 401"/>
                    <a:gd name="T33" fmla="*/ 12 h 49"/>
                    <a:gd name="T34" fmla="*/ 198 w 401"/>
                    <a:gd name="T35" fmla="*/ 17 h 49"/>
                    <a:gd name="T36" fmla="*/ 186 w 401"/>
                    <a:gd name="T37" fmla="*/ 21 h 49"/>
                    <a:gd name="T38" fmla="*/ 160 w 401"/>
                    <a:gd name="T39" fmla="*/ 22 h 49"/>
                    <a:gd name="T40" fmla="*/ 119 w 401"/>
                    <a:gd name="T41" fmla="*/ 23 h 49"/>
                    <a:gd name="T42" fmla="*/ 61 w 401"/>
                    <a:gd name="T43" fmla="*/ 24 h 49"/>
                    <a:gd name="T44" fmla="*/ 0 w 401"/>
                    <a:gd name="T45" fmla="*/ 24 h 49"/>
                    <a:gd name="T46" fmla="*/ 1 w 401"/>
                    <a:gd name="T47" fmla="*/ 11 h 49"/>
                    <a:gd name="T48" fmla="*/ 1 w 401"/>
                    <a:gd name="T49" fmla="*/ 11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1"/>
                    <a:gd name="T76" fmla="*/ 0 h 49"/>
                    <a:gd name="T77" fmla="*/ 401 w 401"/>
                    <a:gd name="T78" fmla="*/ 49 h 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1" h="49">
                      <a:moveTo>
                        <a:pt x="2" y="23"/>
                      </a:moveTo>
                      <a:lnTo>
                        <a:pt x="19" y="29"/>
                      </a:lnTo>
                      <a:lnTo>
                        <a:pt x="70" y="36"/>
                      </a:lnTo>
                      <a:lnTo>
                        <a:pt x="101" y="34"/>
                      </a:lnTo>
                      <a:lnTo>
                        <a:pt x="140" y="29"/>
                      </a:lnTo>
                      <a:lnTo>
                        <a:pt x="177" y="19"/>
                      </a:lnTo>
                      <a:lnTo>
                        <a:pt x="211" y="13"/>
                      </a:lnTo>
                      <a:lnTo>
                        <a:pt x="237" y="11"/>
                      </a:lnTo>
                      <a:lnTo>
                        <a:pt x="268" y="13"/>
                      </a:lnTo>
                      <a:lnTo>
                        <a:pt x="283" y="21"/>
                      </a:lnTo>
                      <a:lnTo>
                        <a:pt x="296" y="29"/>
                      </a:lnTo>
                      <a:lnTo>
                        <a:pt x="317" y="25"/>
                      </a:lnTo>
                      <a:lnTo>
                        <a:pt x="334" y="13"/>
                      </a:lnTo>
                      <a:lnTo>
                        <a:pt x="359" y="8"/>
                      </a:lnTo>
                      <a:lnTo>
                        <a:pt x="380" y="0"/>
                      </a:lnTo>
                      <a:lnTo>
                        <a:pt x="397" y="10"/>
                      </a:lnTo>
                      <a:lnTo>
                        <a:pt x="401" y="25"/>
                      </a:lnTo>
                      <a:lnTo>
                        <a:pt x="397" y="34"/>
                      </a:lnTo>
                      <a:lnTo>
                        <a:pt x="372" y="42"/>
                      </a:lnTo>
                      <a:lnTo>
                        <a:pt x="321" y="44"/>
                      </a:lnTo>
                      <a:lnTo>
                        <a:pt x="239" y="46"/>
                      </a:lnTo>
                      <a:lnTo>
                        <a:pt x="123" y="49"/>
                      </a:lnTo>
                      <a:lnTo>
                        <a:pt x="0" y="49"/>
                      </a:lnTo>
                      <a:lnTo>
                        <a:pt x="2" y="23"/>
                      </a:lnTo>
                      <a:close/>
                    </a:path>
                  </a:pathLst>
                </a:custGeom>
                <a:solidFill>
                  <a:srgbClr val="E8D9D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0" name="Freeform 153">
                  <a:extLst>
                    <a:ext uri="{FF2B5EF4-FFF2-40B4-BE49-F238E27FC236}">
                      <a16:creationId xmlns:a16="http://schemas.microsoft.com/office/drawing/2014/main" id="{4CAE98C6-9D2A-174B-93D9-A05C655B36A2}"/>
                    </a:ext>
                  </a:extLst>
                </p:cNvPr>
                <p:cNvSpPr>
                  <a:spLocks/>
                </p:cNvSpPr>
                <p:nvPr/>
              </p:nvSpPr>
              <p:spPr bwMode="auto">
                <a:xfrm>
                  <a:off x="3995" y="2778"/>
                  <a:ext cx="52" cy="15"/>
                </a:xfrm>
                <a:custGeom>
                  <a:avLst/>
                  <a:gdLst>
                    <a:gd name="T0" fmla="*/ 38 w 102"/>
                    <a:gd name="T1" fmla="*/ 14 h 28"/>
                    <a:gd name="T2" fmla="*/ 49 w 102"/>
                    <a:gd name="T3" fmla="*/ 12 h 28"/>
                    <a:gd name="T4" fmla="*/ 52 w 102"/>
                    <a:gd name="T5" fmla="*/ 8 h 28"/>
                    <a:gd name="T6" fmla="*/ 49 w 102"/>
                    <a:gd name="T7" fmla="*/ 1 h 28"/>
                    <a:gd name="T8" fmla="*/ 38 w 102"/>
                    <a:gd name="T9" fmla="*/ 0 h 28"/>
                    <a:gd name="T10" fmla="*/ 21 w 102"/>
                    <a:gd name="T11" fmla="*/ 10 h 28"/>
                    <a:gd name="T12" fmla="*/ 11 w 102"/>
                    <a:gd name="T13" fmla="*/ 13 h 28"/>
                    <a:gd name="T14" fmla="*/ 0 w 102"/>
                    <a:gd name="T15" fmla="*/ 15 h 28"/>
                    <a:gd name="T16" fmla="*/ 25 w 102"/>
                    <a:gd name="T17" fmla="*/ 15 h 28"/>
                    <a:gd name="T18" fmla="*/ 38 w 102"/>
                    <a:gd name="T19" fmla="*/ 14 h 28"/>
                    <a:gd name="T20" fmla="*/ 38 w 102"/>
                    <a:gd name="T21" fmla="*/ 14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28"/>
                    <a:gd name="T35" fmla="*/ 102 w 102"/>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28">
                      <a:moveTo>
                        <a:pt x="74" y="26"/>
                      </a:moveTo>
                      <a:lnTo>
                        <a:pt x="97" y="22"/>
                      </a:lnTo>
                      <a:lnTo>
                        <a:pt x="102" y="15"/>
                      </a:lnTo>
                      <a:lnTo>
                        <a:pt x="97" y="2"/>
                      </a:lnTo>
                      <a:lnTo>
                        <a:pt x="74" y="0"/>
                      </a:lnTo>
                      <a:lnTo>
                        <a:pt x="41" y="19"/>
                      </a:lnTo>
                      <a:lnTo>
                        <a:pt x="21" y="24"/>
                      </a:lnTo>
                      <a:lnTo>
                        <a:pt x="0" y="28"/>
                      </a:lnTo>
                      <a:lnTo>
                        <a:pt x="49" y="28"/>
                      </a:lnTo>
                      <a:lnTo>
                        <a:pt x="74" y="26"/>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1" name="Freeform 154">
                  <a:extLst>
                    <a:ext uri="{FF2B5EF4-FFF2-40B4-BE49-F238E27FC236}">
                      <a16:creationId xmlns:a16="http://schemas.microsoft.com/office/drawing/2014/main" id="{1F681E00-D9D1-C947-A446-C4FCE4234DDD}"/>
                    </a:ext>
                  </a:extLst>
                </p:cNvPr>
                <p:cNvSpPr>
                  <a:spLocks/>
                </p:cNvSpPr>
                <p:nvPr/>
              </p:nvSpPr>
              <p:spPr bwMode="auto">
                <a:xfrm>
                  <a:off x="3900" y="2784"/>
                  <a:ext cx="90" cy="12"/>
                </a:xfrm>
                <a:custGeom>
                  <a:avLst/>
                  <a:gdLst>
                    <a:gd name="T0" fmla="*/ 90 w 178"/>
                    <a:gd name="T1" fmla="*/ 6 h 25"/>
                    <a:gd name="T2" fmla="*/ 73 w 178"/>
                    <a:gd name="T3" fmla="*/ 0 h 25"/>
                    <a:gd name="T4" fmla="*/ 58 w 178"/>
                    <a:gd name="T5" fmla="*/ 1 h 25"/>
                    <a:gd name="T6" fmla="*/ 44 w 178"/>
                    <a:gd name="T7" fmla="*/ 4 h 25"/>
                    <a:gd name="T8" fmla="*/ 30 w 178"/>
                    <a:gd name="T9" fmla="*/ 5 h 25"/>
                    <a:gd name="T10" fmla="*/ 16 w 178"/>
                    <a:gd name="T11" fmla="*/ 8 h 25"/>
                    <a:gd name="T12" fmla="*/ 0 w 178"/>
                    <a:gd name="T13" fmla="*/ 11 h 25"/>
                    <a:gd name="T14" fmla="*/ 14 w 178"/>
                    <a:gd name="T15" fmla="*/ 12 h 25"/>
                    <a:gd name="T16" fmla="*/ 40 w 178"/>
                    <a:gd name="T17" fmla="*/ 9 h 25"/>
                    <a:gd name="T18" fmla="*/ 61 w 178"/>
                    <a:gd name="T19" fmla="*/ 5 h 25"/>
                    <a:gd name="T20" fmla="*/ 70 w 178"/>
                    <a:gd name="T21" fmla="*/ 6 h 25"/>
                    <a:gd name="T22" fmla="*/ 78 w 178"/>
                    <a:gd name="T23" fmla="*/ 8 h 25"/>
                    <a:gd name="T24" fmla="*/ 86 w 178"/>
                    <a:gd name="T25" fmla="*/ 8 h 25"/>
                    <a:gd name="T26" fmla="*/ 90 w 178"/>
                    <a:gd name="T27" fmla="*/ 6 h 25"/>
                    <a:gd name="T28" fmla="*/ 90 w 178"/>
                    <a:gd name="T29" fmla="*/ 6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8"/>
                    <a:gd name="T46" fmla="*/ 0 h 25"/>
                    <a:gd name="T47" fmla="*/ 178 w 178"/>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8" h="25">
                      <a:moveTo>
                        <a:pt x="178" y="13"/>
                      </a:moveTo>
                      <a:lnTo>
                        <a:pt x="144" y="0"/>
                      </a:lnTo>
                      <a:lnTo>
                        <a:pt x="114" y="2"/>
                      </a:lnTo>
                      <a:lnTo>
                        <a:pt x="87" y="8"/>
                      </a:lnTo>
                      <a:lnTo>
                        <a:pt x="60" y="11"/>
                      </a:lnTo>
                      <a:lnTo>
                        <a:pt x="32" y="17"/>
                      </a:lnTo>
                      <a:lnTo>
                        <a:pt x="0" y="23"/>
                      </a:lnTo>
                      <a:lnTo>
                        <a:pt x="28" y="25"/>
                      </a:lnTo>
                      <a:lnTo>
                        <a:pt x="79" y="19"/>
                      </a:lnTo>
                      <a:lnTo>
                        <a:pt x="121" y="11"/>
                      </a:lnTo>
                      <a:lnTo>
                        <a:pt x="138" y="13"/>
                      </a:lnTo>
                      <a:lnTo>
                        <a:pt x="155" y="17"/>
                      </a:lnTo>
                      <a:lnTo>
                        <a:pt x="171" y="17"/>
                      </a:lnTo>
                      <a:lnTo>
                        <a:pt x="178" y="13"/>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2" name="Freeform 155">
                  <a:extLst>
                    <a:ext uri="{FF2B5EF4-FFF2-40B4-BE49-F238E27FC236}">
                      <a16:creationId xmlns:a16="http://schemas.microsoft.com/office/drawing/2014/main" id="{4188ACC9-DB72-1E4F-9185-2EE71EB48A51}"/>
                    </a:ext>
                  </a:extLst>
                </p:cNvPr>
                <p:cNvSpPr>
                  <a:spLocks/>
                </p:cNvSpPr>
                <p:nvPr/>
              </p:nvSpPr>
              <p:spPr bwMode="auto">
                <a:xfrm>
                  <a:off x="3799" y="2781"/>
                  <a:ext cx="45" cy="14"/>
                </a:xfrm>
                <a:custGeom>
                  <a:avLst/>
                  <a:gdLst>
                    <a:gd name="T0" fmla="*/ 36 w 91"/>
                    <a:gd name="T1" fmla="*/ 11 h 29"/>
                    <a:gd name="T2" fmla="*/ 45 w 91"/>
                    <a:gd name="T3" fmla="*/ 9 h 29"/>
                    <a:gd name="T4" fmla="*/ 45 w 91"/>
                    <a:gd name="T5" fmla="*/ 3 h 29"/>
                    <a:gd name="T6" fmla="*/ 40 w 91"/>
                    <a:gd name="T7" fmla="*/ 0 h 29"/>
                    <a:gd name="T8" fmla="*/ 33 w 91"/>
                    <a:gd name="T9" fmla="*/ 1 h 29"/>
                    <a:gd name="T10" fmla="*/ 22 w 91"/>
                    <a:gd name="T11" fmla="*/ 6 h 29"/>
                    <a:gd name="T12" fmla="*/ 11 w 91"/>
                    <a:gd name="T13" fmla="*/ 9 h 29"/>
                    <a:gd name="T14" fmla="*/ 0 w 91"/>
                    <a:gd name="T15" fmla="*/ 14 h 29"/>
                    <a:gd name="T16" fmla="*/ 15 w 91"/>
                    <a:gd name="T17" fmla="*/ 14 h 29"/>
                    <a:gd name="T18" fmla="*/ 27 w 91"/>
                    <a:gd name="T19" fmla="*/ 9 h 29"/>
                    <a:gd name="T20" fmla="*/ 33 w 91"/>
                    <a:gd name="T21" fmla="*/ 8 h 29"/>
                    <a:gd name="T22" fmla="*/ 36 w 91"/>
                    <a:gd name="T23" fmla="*/ 11 h 29"/>
                    <a:gd name="T24" fmla="*/ 36 w 91"/>
                    <a:gd name="T25" fmla="*/ 1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1"/>
                    <a:gd name="T40" fmla="*/ 0 h 29"/>
                    <a:gd name="T41" fmla="*/ 91 w 91"/>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1" h="29">
                      <a:moveTo>
                        <a:pt x="72" y="23"/>
                      </a:moveTo>
                      <a:lnTo>
                        <a:pt x="90" y="19"/>
                      </a:lnTo>
                      <a:lnTo>
                        <a:pt x="91" y="6"/>
                      </a:lnTo>
                      <a:lnTo>
                        <a:pt x="80" y="0"/>
                      </a:lnTo>
                      <a:lnTo>
                        <a:pt x="67" y="2"/>
                      </a:lnTo>
                      <a:lnTo>
                        <a:pt x="44" y="12"/>
                      </a:lnTo>
                      <a:lnTo>
                        <a:pt x="23" y="19"/>
                      </a:lnTo>
                      <a:lnTo>
                        <a:pt x="0" y="29"/>
                      </a:lnTo>
                      <a:lnTo>
                        <a:pt x="31" y="29"/>
                      </a:lnTo>
                      <a:lnTo>
                        <a:pt x="55" y="19"/>
                      </a:lnTo>
                      <a:lnTo>
                        <a:pt x="67" y="17"/>
                      </a:lnTo>
                      <a:lnTo>
                        <a:pt x="72" y="23"/>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333" name="Freeform 156">
                  <a:extLst>
                    <a:ext uri="{FF2B5EF4-FFF2-40B4-BE49-F238E27FC236}">
                      <a16:creationId xmlns:a16="http://schemas.microsoft.com/office/drawing/2014/main" id="{A60B34A9-61F9-8645-9E37-C070722D6232}"/>
                    </a:ext>
                  </a:extLst>
                </p:cNvPr>
                <p:cNvSpPr>
                  <a:spLocks/>
                </p:cNvSpPr>
                <p:nvPr/>
              </p:nvSpPr>
              <p:spPr bwMode="auto">
                <a:xfrm>
                  <a:off x="3632" y="2784"/>
                  <a:ext cx="125" cy="12"/>
                </a:xfrm>
                <a:custGeom>
                  <a:avLst/>
                  <a:gdLst>
                    <a:gd name="T0" fmla="*/ 125 w 249"/>
                    <a:gd name="T1" fmla="*/ 10 h 25"/>
                    <a:gd name="T2" fmla="*/ 113 w 249"/>
                    <a:gd name="T3" fmla="*/ 8 h 25"/>
                    <a:gd name="T4" fmla="*/ 102 w 249"/>
                    <a:gd name="T5" fmla="*/ 5 h 25"/>
                    <a:gd name="T6" fmla="*/ 87 w 249"/>
                    <a:gd name="T7" fmla="*/ 7 h 25"/>
                    <a:gd name="T8" fmla="*/ 79 w 249"/>
                    <a:gd name="T9" fmla="*/ 10 h 25"/>
                    <a:gd name="T10" fmla="*/ 69 w 249"/>
                    <a:gd name="T11" fmla="*/ 9 h 25"/>
                    <a:gd name="T12" fmla="*/ 58 w 249"/>
                    <a:gd name="T13" fmla="*/ 5 h 25"/>
                    <a:gd name="T14" fmla="*/ 39 w 249"/>
                    <a:gd name="T15" fmla="*/ 2 h 25"/>
                    <a:gd name="T16" fmla="*/ 26 w 249"/>
                    <a:gd name="T17" fmla="*/ 0 h 25"/>
                    <a:gd name="T18" fmla="*/ 12 w 249"/>
                    <a:gd name="T19" fmla="*/ 0 h 25"/>
                    <a:gd name="T20" fmla="*/ 1 w 249"/>
                    <a:gd name="T21" fmla="*/ 4 h 25"/>
                    <a:gd name="T22" fmla="*/ 0 w 249"/>
                    <a:gd name="T23" fmla="*/ 8 h 25"/>
                    <a:gd name="T24" fmla="*/ 4 w 249"/>
                    <a:gd name="T25" fmla="*/ 11 h 25"/>
                    <a:gd name="T26" fmla="*/ 19 w 249"/>
                    <a:gd name="T27" fmla="*/ 11 h 25"/>
                    <a:gd name="T28" fmla="*/ 33 w 249"/>
                    <a:gd name="T29" fmla="*/ 8 h 25"/>
                    <a:gd name="T30" fmla="*/ 47 w 249"/>
                    <a:gd name="T31" fmla="*/ 8 h 25"/>
                    <a:gd name="T32" fmla="*/ 55 w 249"/>
                    <a:gd name="T33" fmla="*/ 10 h 25"/>
                    <a:gd name="T34" fmla="*/ 63 w 249"/>
                    <a:gd name="T35" fmla="*/ 12 h 25"/>
                    <a:gd name="T36" fmla="*/ 77 w 249"/>
                    <a:gd name="T37" fmla="*/ 12 h 25"/>
                    <a:gd name="T38" fmla="*/ 88 w 249"/>
                    <a:gd name="T39" fmla="*/ 10 h 25"/>
                    <a:gd name="T40" fmla="*/ 98 w 249"/>
                    <a:gd name="T41" fmla="*/ 9 h 25"/>
                    <a:gd name="T42" fmla="*/ 107 w 249"/>
                    <a:gd name="T43" fmla="*/ 11 h 25"/>
                    <a:gd name="T44" fmla="*/ 116 w 249"/>
                    <a:gd name="T45" fmla="*/ 12 h 25"/>
                    <a:gd name="T46" fmla="*/ 125 w 249"/>
                    <a:gd name="T47" fmla="*/ 10 h 25"/>
                    <a:gd name="T48" fmla="*/ 125 w 249"/>
                    <a:gd name="T49" fmla="*/ 10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grpSp>
        <p:sp>
          <p:nvSpPr>
            <p:cNvPr id="289" name="Freeform 157">
              <a:extLst>
                <a:ext uri="{FF2B5EF4-FFF2-40B4-BE49-F238E27FC236}">
                  <a16:creationId xmlns:a16="http://schemas.microsoft.com/office/drawing/2014/main" id="{9332FD50-15E8-4C4D-B251-6100F54A7B52}"/>
                </a:ext>
              </a:extLst>
            </p:cNvPr>
            <p:cNvSpPr>
              <a:spLocks/>
            </p:cNvSpPr>
            <p:nvPr/>
          </p:nvSpPr>
          <p:spPr bwMode="auto">
            <a:xfrm>
              <a:off x="4364" y="1958"/>
              <a:ext cx="7" cy="6"/>
            </a:xfrm>
            <a:custGeom>
              <a:avLst/>
              <a:gdLst>
                <a:gd name="T0" fmla="*/ 0 w 15"/>
                <a:gd name="T1" fmla="*/ 0 h 13"/>
                <a:gd name="T2" fmla="*/ 4 w 15"/>
                <a:gd name="T3" fmla="*/ 6 h 13"/>
                <a:gd name="T4" fmla="*/ 7 w 15"/>
                <a:gd name="T5" fmla="*/ 0 h 13"/>
                <a:gd name="T6" fmla="*/ 0 w 15"/>
                <a:gd name="T7" fmla="*/ 0 h 13"/>
                <a:gd name="T8" fmla="*/ 0 w 15"/>
                <a:gd name="T9" fmla="*/ 0 h 13"/>
                <a:gd name="T10" fmla="*/ 0 60000 65536"/>
                <a:gd name="T11" fmla="*/ 0 60000 65536"/>
                <a:gd name="T12" fmla="*/ 0 60000 65536"/>
                <a:gd name="T13" fmla="*/ 0 60000 65536"/>
                <a:gd name="T14" fmla="*/ 0 60000 65536"/>
                <a:gd name="T15" fmla="*/ 0 w 15"/>
                <a:gd name="T16" fmla="*/ 0 h 13"/>
                <a:gd name="T17" fmla="*/ 15 w 15"/>
                <a:gd name="T18" fmla="*/ 13 h 13"/>
              </a:gdLst>
              <a:ahLst/>
              <a:cxnLst>
                <a:cxn ang="T10">
                  <a:pos x="T0" y="T1"/>
                </a:cxn>
                <a:cxn ang="T11">
                  <a:pos x="T2" y="T3"/>
                </a:cxn>
                <a:cxn ang="T12">
                  <a:pos x="T4" y="T5"/>
                </a:cxn>
                <a:cxn ang="T13">
                  <a:pos x="T6" y="T7"/>
                </a:cxn>
                <a:cxn ang="T14">
                  <a:pos x="T8" y="T9"/>
                </a:cxn>
              </a:cxnLst>
              <a:rect l="T15" t="T16" r="T17" b="T18"/>
              <a:pathLst>
                <a:path w="15" h="13">
                  <a:moveTo>
                    <a:pt x="0" y="0"/>
                  </a:moveTo>
                  <a:lnTo>
                    <a:pt x="8" y="13"/>
                  </a:lnTo>
                  <a:lnTo>
                    <a:pt x="15" y="1"/>
                  </a:lnTo>
                  <a:lnTo>
                    <a:pt x="0" y="0"/>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grpSp>
        <p:nvGrpSpPr>
          <p:cNvPr id="435" name="Group 586">
            <a:extLst>
              <a:ext uri="{FF2B5EF4-FFF2-40B4-BE49-F238E27FC236}">
                <a16:creationId xmlns:a16="http://schemas.microsoft.com/office/drawing/2014/main" id="{D4598148-D876-9043-A612-B5D8ACE09FAA}"/>
              </a:ext>
            </a:extLst>
          </p:cNvPr>
          <p:cNvGrpSpPr>
            <a:grpSpLocks/>
          </p:cNvGrpSpPr>
          <p:nvPr/>
        </p:nvGrpSpPr>
        <p:grpSpPr bwMode="auto">
          <a:xfrm>
            <a:off x="7978650" y="4843851"/>
            <a:ext cx="1993034" cy="1558231"/>
            <a:chOff x="2673" y="2768"/>
            <a:chExt cx="1193" cy="848"/>
          </a:xfrm>
        </p:grpSpPr>
        <p:grpSp>
          <p:nvGrpSpPr>
            <p:cNvPr id="436" name="Group 587">
              <a:extLst>
                <a:ext uri="{FF2B5EF4-FFF2-40B4-BE49-F238E27FC236}">
                  <a16:creationId xmlns:a16="http://schemas.microsoft.com/office/drawing/2014/main" id="{D923BB0C-84E3-2249-908E-A2F171E54187}"/>
                </a:ext>
              </a:extLst>
            </p:cNvPr>
            <p:cNvGrpSpPr>
              <a:grpSpLocks/>
            </p:cNvGrpSpPr>
            <p:nvPr/>
          </p:nvGrpSpPr>
          <p:grpSpPr bwMode="auto">
            <a:xfrm flipH="1">
              <a:off x="2673" y="2768"/>
              <a:ext cx="1193" cy="848"/>
              <a:chOff x="3577" y="2675"/>
              <a:chExt cx="1768" cy="1359"/>
            </a:xfrm>
          </p:grpSpPr>
          <p:sp>
            <p:nvSpPr>
              <p:cNvPr id="469" name="Freeform 588">
                <a:extLst>
                  <a:ext uri="{FF2B5EF4-FFF2-40B4-BE49-F238E27FC236}">
                    <a16:creationId xmlns:a16="http://schemas.microsoft.com/office/drawing/2014/main" id="{3B37A0F5-7AA4-644A-AA85-D7F9DFF4EC0A}"/>
                  </a:ext>
                </a:extLst>
              </p:cNvPr>
              <p:cNvSpPr>
                <a:spLocks/>
              </p:cNvSpPr>
              <p:nvPr/>
            </p:nvSpPr>
            <p:spPr bwMode="auto">
              <a:xfrm>
                <a:off x="4917" y="3621"/>
                <a:ext cx="428" cy="348"/>
              </a:xfrm>
              <a:custGeom>
                <a:avLst/>
                <a:gdLst>
                  <a:gd name="T0" fmla="*/ 0 w 857"/>
                  <a:gd name="T1" fmla="*/ 67 h 695"/>
                  <a:gd name="T2" fmla="*/ 40 w 857"/>
                  <a:gd name="T3" fmla="*/ 152 h 695"/>
                  <a:gd name="T4" fmla="*/ 77 w 857"/>
                  <a:gd name="T5" fmla="*/ 221 h 695"/>
                  <a:gd name="T6" fmla="*/ 113 w 857"/>
                  <a:gd name="T7" fmla="*/ 273 h 695"/>
                  <a:gd name="T8" fmla="*/ 153 w 857"/>
                  <a:gd name="T9" fmla="*/ 310 h 695"/>
                  <a:gd name="T10" fmla="*/ 200 w 857"/>
                  <a:gd name="T11" fmla="*/ 334 h 695"/>
                  <a:gd name="T12" fmla="*/ 259 w 857"/>
                  <a:gd name="T13" fmla="*/ 346 h 695"/>
                  <a:gd name="T14" fmla="*/ 333 w 857"/>
                  <a:gd name="T15" fmla="*/ 348 h 695"/>
                  <a:gd name="T16" fmla="*/ 428 w 857"/>
                  <a:gd name="T17" fmla="*/ 342 h 695"/>
                  <a:gd name="T18" fmla="*/ 335 w 857"/>
                  <a:gd name="T19" fmla="*/ 339 h 695"/>
                  <a:gd name="T20" fmla="*/ 261 w 857"/>
                  <a:gd name="T21" fmla="*/ 327 h 695"/>
                  <a:gd name="T22" fmla="*/ 202 w 857"/>
                  <a:gd name="T23" fmla="*/ 304 h 695"/>
                  <a:gd name="T24" fmla="*/ 158 w 857"/>
                  <a:gd name="T25" fmla="*/ 270 h 695"/>
                  <a:gd name="T26" fmla="*/ 121 w 857"/>
                  <a:gd name="T27" fmla="*/ 223 h 695"/>
                  <a:gd name="T28" fmla="*/ 93 w 857"/>
                  <a:gd name="T29" fmla="*/ 163 h 695"/>
                  <a:gd name="T30" fmla="*/ 66 w 857"/>
                  <a:gd name="T31" fmla="*/ 89 h 695"/>
                  <a:gd name="T32" fmla="*/ 41 w 857"/>
                  <a:gd name="T33" fmla="*/ 0 h 695"/>
                  <a:gd name="T34" fmla="*/ 36 w 857"/>
                  <a:gd name="T35" fmla="*/ 7 h 695"/>
                  <a:gd name="T36" fmla="*/ 30 w 857"/>
                  <a:gd name="T37" fmla="*/ 15 h 695"/>
                  <a:gd name="T38" fmla="*/ 25 w 857"/>
                  <a:gd name="T39" fmla="*/ 24 h 695"/>
                  <a:gd name="T40" fmla="*/ 20 w 857"/>
                  <a:gd name="T41" fmla="*/ 33 h 695"/>
                  <a:gd name="T42" fmla="*/ 15 w 857"/>
                  <a:gd name="T43" fmla="*/ 42 h 695"/>
                  <a:gd name="T44" fmla="*/ 10 w 857"/>
                  <a:gd name="T45" fmla="*/ 51 h 695"/>
                  <a:gd name="T46" fmla="*/ 5 w 857"/>
                  <a:gd name="T47" fmla="*/ 59 h 695"/>
                  <a:gd name="T48" fmla="*/ 0 w 857"/>
                  <a:gd name="T49" fmla="*/ 67 h 6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57"/>
                  <a:gd name="T76" fmla="*/ 0 h 695"/>
                  <a:gd name="T77" fmla="*/ 857 w 857"/>
                  <a:gd name="T78" fmla="*/ 695 h 6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57" h="695">
                    <a:moveTo>
                      <a:pt x="0" y="134"/>
                    </a:moveTo>
                    <a:lnTo>
                      <a:pt x="80" y="304"/>
                    </a:lnTo>
                    <a:lnTo>
                      <a:pt x="154" y="441"/>
                    </a:lnTo>
                    <a:lnTo>
                      <a:pt x="226" y="545"/>
                    </a:lnTo>
                    <a:lnTo>
                      <a:pt x="306" y="620"/>
                    </a:lnTo>
                    <a:lnTo>
                      <a:pt x="400" y="667"/>
                    </a:lnTo>
                    <a:lnTo>
                      <a:pt x="518" y="692"/>
                    </a:lnTo>
                    <a:lnTo>
                      <a:pt x="666" y="695"/>
                    </a:lnTo>
                    <a:lnTo>
                      <a:pt x="857" y="683"/>
                    </a:lnTo>
                    <a:lnTo>
                      <a:pt x="670" y="678"/>
                    </a:lnTo>
                    <a:lnTo>
                      <a:pt x="522" y="654"/>
                    </a:lnTo>
                    <a:lnTo>
                      <a:pt x="405" y="608"/>
                    </a:lnTo>
                    <a:lnTo>
                      <a:pt x="316" y="539"/>
                    </a:lnTo>
                    <a:lnTo>
                      <a:pt x="243" y="445"/>
                    </a:lnTo>
                    <a:lnTo>
                      <a:pt x="186" y="325"/>
                    </a:lnTo>
                    <a:lnTo>
                      <a:pt x="133" y="177"/>
                    </a:lnTo>
                    <a:lnTo>
                      <a:pt x="83" y="0"/>
                    </a:lnTo>
                    <a:lnTo>
                      <a:pt x="72" y="14"/>
                    </a:lnTo>
                    <a:lnTo>
                      <a:pt x="60" y="30"/>
                    </a:lnTo>
                    <a:lnTo>
                      <a:pt x="50" y="48"/>
                    </a:lnTo>
                    <a:lnTo>
                      <a:pt x="41" y="66"/>
                    </a:lnTo>
                    <a:lnTo>
                      <a:pt x="30" y="84"/>
                    </a:lnTo>
                    <a:lnTo>
                      <a:pt x="20" y="101"/>
                    </a:lnTo>
                    <a:lnTo>
                      <a:pt x="10" y="118"/>
                    </a:lnTo>
                    <a:lnTo>
                      <a:pt x="0" y="134"/>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0" name="Freeform 589">
                <a:extLst>
                  <a:ext uri="{FF2B5EF4-FFF2-40B4-BE49-F238E27FC236}">
                    <a16:creationId xmlns:a16="http://schemas.microsoft.com/office/drawing/2014/main" id="{0420901A-B36E-2E4C-A935-A0675DD80341}"/>
                  </a:ext>
                </a:extLst>
              </p:cNvPr>
              <p:cNvSpPr>
                <a:spLocks/>
              </p:cNvSpPr>
              <p:nvPr/>
            </p:nvSpPr>
            <p:spPr bwMode="auto">
              <a:xfrm>
                <a:off x="3616" y="3042"/>
                <a:ext cx="119" cy="113"/>
              </a:xfrm>
              <a:custGeom>
                <a:avLst/>
                <a:gdLst>
                  <a:gd name="T0" fmla="*/ 0 w 238"/>
                  <a:gd name="T1" fmla="*/ 0 h 226"/>
                  <a:gd name="T2" fmla="*/ 15 w 238"/>
                  <a:gd name="T3" fmla="*/ 2 h 226"/>
                  <a:gd name="T4" fmla="*/ 34 w 238"/>
                  <a:gd name="T5" fmla="*/ 11 h 226"/>
                  <a:gd name="T6" fmla="*/ 52 w 238"/>
                  <a:gd name="T7" fmla="*/ 25 h 226"/>
                  <a:gd name="T8" fmla="*/ 71 w 238"/>
                  <a:gd name="T9" fmla="*/ 42 h 226"/>
                  <a:gd name="T10" fmla="*/ 87 w 238"/>
                  <a:gd name="T11" fmla="*/ 60 h 226"/>
                  <a:gd name="T12" fmla="*/ 102 w 238"/>
                  <a:gd name="T13" fmla="*/ 80 h 226"/>
                  <a:gd name="T14" fmla="*/ 112 w 238"/>
                  <a:gd name="T15" fmla="*/ 97 h 226"/>
                  <a:gd name="T16" fmla="*/ 119 w 238"/>
                  <a:gd name="T17" fmla="*/ 113 h 2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6"/>
                  <a:gd name="T29" fmla="*/ 238 w 238"/>
                  <a:gd name="T30" fmla="*/ 226 h 2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6">
                    <a:moveTo>
                      <a:pt x="0" y="0"/>
                    </a:moveTo>
                    <a:lnTo>
                      <a:pt x="31" y="4"/>
                    </a:lnTo>
                    <a:lnTo>
                      <a:pt x="68" y="21"/>
                    </a:lnTo>
                    <a:lnTo>
                      <a:pt x="104" y="49"/>
                    </a:lnTo>
                    <a:lnTo>
                      <a:pt x="142" y="84"/>
                    </a:lnTo>
                    <a:lnTo>
                      <a:pt x="174" y="120"/>
                    </a:lnTo>
                    <a:lnTo>
                      <a:pt x="203" y="159"/>
                    </a:lnTo>
                    <a:lnTo>
                      <a:pt x="224" y="194"/>
                    </a:lnTo>
                    <a:lnTo>
                      <a:pt x="238" y="226"/>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1" name="Freeform 590">
                <a:extLst>
                  <a:ext uri="{FF2B5EF4-FFF2-40B4-BE49-F238E27FC236}">
                    <a16:creationId xmlns:a16="http://schemas.microsoft.com/office/drawing/2014/main" id="{47440154-026A-2047-9E7F-42EC494150A5}"/>
                  </a:ext>
                </a:extLst>
              </p:cNvPr>
              <p:cNvSpPr>
                <a:spLocks/>
              </p:cNvSpPr>
              <p:nvPr/>
            </p:nvSpPr>
            <p:spPr bwMode="auto">
              <a:xfrm>
                <a:off x="3577" y="3113"/>
                <a:ext cx="147" cy="44"/>
              </a:xfrm>
              <a:custGeom>
                <a:avLst/>
                <a:gdLst>
                  <a:gd name="T0" fmla="*/ 0 w 294"/>
                  <a:gd name="T1" fmla="*/ 1 h 88"/>
                  <a:gd name="T2" fmla="*/ 17 w 294"/>
                  <a:gd name="T3" fmla="*/ 0 h 88"/>
                  <a:gd name="T4" fmla="*/ 38 w 294"/>
                  <a:gd name="T5" fmla="*/ 1 h 88"/>
                  <a:gd name="T6" fmla="*/ 61 w 294"/>
                  <a:gd name="T7" fmla="*/ 3 h 88"/>
                  <a:gd name="T8" fmla="*/ 84 w 294"/>
                  <a:gd name="T9" fmla="*/ 8 h 88"/>
                  <a:gd name="T10" fmla="*/ 106 w 294"/>
                  <a:gd name="T11" fmla="*/ 13 h 88"/>
                  <a:gd name="T12" fmla="*/ 125 w 294"/>
                  <a:gd name="T13" fmla="*/ 22 h 88"/>
                  <a:gd name="T14" fmla="*/ 139 w 294"/>
                  <a:gd name="T15" fmla="*/ 31 h 88"/>
                  <a:gd name="T16" fmla="*/ 147 w 294"/>
                  <a:gd name="T17" fmla="*/ 44 h 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4"/>
                  <a:gd name="T28" fmla="*/ 0 h 88"/>
                  <a:gd name="T29" fmla="*/ 294 w 294"/>
                  <a:gd name="T30" fmla="*/ 88 h 8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4" h="88">
                    <a:moveTo>
                      <a:pt x="0" y="2"/>
                    </a:moveTo>
                    <a:lnTo>
                      <a:pt x="34" y="0"/>
                    </a:lnTo>
                    <a:lnTo>
                      <a:pt x="77" y="2"/>
                    </a:lnTo>
                    <a:lnTo>
                      <a:pt x="122" y="7"/>
                    </a:lnTo>
                    <a:lnTo>
                      <a:pt x="169" y="16"/>
                    </a:lnTo>
                    <a:lnTo>
                      <a:pt x="212" y="27"/>
                    </a:lnTo>
                    <a:lnTo>
                      <a:pt x="250" y="44"/>
                    </a:lnTo>
                    <a:lnTo>
                      <a:pt x="277" y="63"/>
                    </a:lnTo>
                    <a:lnTo>
                      <a:pt x="294" y="88"/>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2" name="Freeform 591">
                <a:extLst>
                  <a:ext uri="{FF2B5EF4-FFF2-40B4-BE49-F238E27FC236}">
                    <a16:creationId xmlns:a16="http://schemas.microsoft.com/office/drawing/2014/main" id="{9AB98E3E-78A1-C642-A40B-1C18BA47B148}"/>
                  </a:ext>
                </a:extLst>
              </p:cNvPr>
              <p:cNvSpPr>
                <a:spLocks/>
              </p:cNvSpPr>
              <p:nvPr/>
            </p:nvSpPr>
            <p:spPr bwMode="auto">
              <a:xfrm>
                <a:off x="4618" y="3879"/>
                <a:ext cx="370" cy="152"/>
              </a:xfrm>
              <a:custGeom>
                <a:avLst/>
                <a:gdLst>
                  <a:gd name="T0" fmla="*/ 108 w 740"/>
                  <a:gd name="T1" fmla="*/ 140 h 305"/>
                  <a:gd name="T2" fmla="*/ 116 w 740"/>
                  <a:gd name="T3" fmla="*/ 131 h 305"/>
                  <a:gd name="T4" fmla="*/ 124 w 740"/>
                  <a:gd name="T5" fmla="*/ 125 h 305"/>
                  <a:gd name="T6" fmla="*/ 131 w 740"/>
                  <a:gd name="T7" fmla="*/ 120 h 305"/>
                  <a:gd name="T8" fmla="*/ 138 w 740"/>
                  <a:gd name="T9" fmla="*/ 115 h 305"/>
                  <a:gd name="T10" fmla="*/ 144 w 740"/>
                  <a:gd name="T11" fmla="*/ 109 h 305"/>
                  <a:gd name="T12" fmla="*/ 151 w 740"/>
                  <a:gd name="T13" fmla="*/ 103 h 305"/>
                  <a:gd name="T14" fmla="*/ 159 w 740"/>
                  <a:gd name="T15" fmla="*/ 97 h 305"/>
                  <a:gd name="T16" fmla="*/ 169 w 740"/>
                  <a:gd name="T17" fmla="*/ 90 h 305"/>
                  <a:gd name="T18" fmla="*/ 185 w 740"/>
                  <a:gd name="T19" fmla="*/ 83 h 305"/>
                  <a:gd name="T20" fmla="*/ 207 w 740"/>
                  <a:gd name="T21" fmla="*/ 76 h 305"/>
                  <a:gd name="T22" fmla="*/ 232 w 740"/>
                  <a:gd name="T23" fmla="*/ 69 h 305"/>
                  <a:gd name="T24" fmla="*/ 260 w 740"/>
                  <a:gd name="T25" fmla="*/ 62 h 305"/>
                  <a:gd name="T26" fmla="*/ 286 w 740"/>
                  <a:gd name="T27" fmla="*/ 56 h 305"/>
                  <a:gd name="T28" fmla="*/ 311 w 740"/>
                  <a:gd name="T29" fmla="*/ 52 h 305"/>
                  <a:gd name="T30" fmla="*/ 333 w 740"/>
                  <a:gd name="T31" fmla="*/ 49 h 305"/>
                  <a:gd name="T32" fmla="*/ 351 w 740"/>
                  <a:gd name="T33" fmla="*/ 51 h 305"/>
                  <a:gd name="T34" fmla="*/ 361 w 740"/>
                  <a:gd name="T35" fmla="*/ 49 h 305"/>
                  <a:gd name="T36" fmla="*/ 368 w 740"/>
                  <a:gd name="T37" fmla="*/ 46 h 305"/>
                  <a:gd name="T38" fmla="*/ 370 w 740"/>
                  <a:gd name="T39" fmla="*/ 41 h 305"/>
                  <a:gd name="T40" fmla="*/ 369 w 740"/>
                  <a:gd name="T41" fmla="*/ 36 h 305"/>
                  <a:gd name="T42" fmla="*/ 366 w 740"/>
                  <a:gd name="T43" fmla="*/ 29 h 305"/>
                  <a:gd name="T44" fmla="*/ 363 w 740"/>
                  <a:gd name="T45" fmla="*/ 22 h 305"/>
                  <a:gd name="T46" fmla="*/ 360 w 740"/>
                  <a:gd name="T47" fmla="*/ 16 h 305"/>
                  <a:gd name="T48" fmla="*/ 359 w 740"/>
                  <a:gd name="T49" fmla="*/ 11 h 305"/>
                  <a:gd name="T50" fmla="*/ 333 w 740"/>
                  <a:gd name="T51" fmla="*/ 2 h 305"/>
                  <a:gd name="T52" fmla="*/ 304 w 740"/>
                  <a:gd name="T53" fmla="*/ 0 h 305"/>
                  <a:gd name="T54" fmla="*/ 272 w 740"/>
                  <a:gd name="T55" fmla="*/ 1 h 305"/>
                  <a:gd name="T56" fmla="*/ 239 w 740"/>
                  <a:gd name="T57" fmla="*/ 6 h 305"/>
                  <a:gd name="T58" fmla="*/ 205 w 740"/>
                  <a:gd name="T59" fmla="*/ 13 h 305"/>
                  <a:gd name="T60" fmla="*/ 173 w 740"/>
                  <a:gd name="T61" fmla="*/ 22 h 305"/>
                  <a:gd name="T62" fmla="*/ 143 w 740"/>
                  <a:gd name="T63" fmla="*/ 32 h 305"/>
                  <a:gd name="T64" fmla="*/ 114 w 740"/>
                  <a:gd name="T65" fmla="*/ 43 h 305"/>
                  <a:gd name="T66" fmla="*/ 101 w 740"/>
                  <a:gd name="T67" fmla="*/ 52 h 305"/>
                  <a:gd name="T68" fmla="*/ 88 w 740"/>
                  <a:gd name="T69" fmla="*/ 61 h 305"/>
                  <a:gd name="T70" fmla="*/ 75 w 740"/>
                  <a:gd name="T71" fmla="*/ 70 h 305"/>
                  <a:gd name="T72" fmla="*/ 61 w 740"/>
                  <a:gd name="T73" fmla="*/ 79 h 305"/>
                  <a:gd name="T74" fmla="*/ 48 w 740"/>
                  <a:gd name="T75" fmla="*/ 88 h 305"/>
                  <a:gd name="T76" fmla="*/ 35 w 740"/>
                  <a:gd name="T77" fmla="*/ 97 h 305"/>
                  <a:gd name="T78" fmla="*/ 22 w 740"/>
                  <a:gd name="T79" fmla="*/ 106 h 305"/>
                  <a:gd name="T80" fmla="*/ 10 w 740"/>
                  <a:gd name="T81" fmla="*/ 116 h 305"/>
                  <a:gd name="T82" fmla="*/ 1 w 740"/>
                  <a:gd name="T83" fmla="*/ 129 h 305"/>
                  <a:gd name="T84" fmla="*/ 0 w 740"/>
                  <a:gd name="T85" fmla="*/ 140 h 305"/>
                  <a:gd name="T86" fmla="*/ 5 w 740"/>
                  <a:gd name="T87" fmla="*/ 147 h 305"/>
                  <a:gd name="T88" fmla="*/ 17 w 740"/>
                  <a:gd name="T89" fmla="*/ 151 h 305"/>
                  <a:gd name="T90" fmla="*/ 33 w 740"/>
                  <a:gd name="T91" fmla="*/ 152 h 305"/>
                  <a:gd name="T92" fmla="*/ 54 w 740"/>
                  <a:gd name="T93" fmla="*/ 151 h 305"/>
                  <a:gd name="T94" fmla="*/ 79 w 740"/>
                  <a:gd name="T95" fmla="*/ 146 h 305"/>
                  <a:gd name="T96" fmla="*/ 108 w 740"/>
                  <a:gd name="T97" fmla="*/ 140 h 3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40"/>
                  <a:gd name="T148" fmla="*/ 0 h 305"/>
                  <a:gd name="T149" fmla="*/ 740 w 740"/>
                  <a:gd name="T150" fmla="*/ 305 h 3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40" h="305">
                    <a:moveTo>
                      <a:pt x="216" y="280"/>
                    </a:moveTo>
                    <a:lnTo>
                      <a:pt x="232" y="263"/>
                    </a:lnTo>
                    <a:lnTo>
                      <a:pt x="248" y="251"/>
                    </a:lnTo>
                    <a:lnTo>
                      <a:pt x="262" y="240"/>
                    </a:lnTo>
                    <a:lnTo>
                      <a:pt x="276" y="230"/>
                    </a:lnTo>
                    <a:lnTo>
                      <a:pt x="288" y="218"/>
                    </a:lnTo>
                    <a:lnTo>
                      <a:pt x="302" y="207"/>
                    </a:lnTo>
                    <a:lnTo>
                      <a:pt x="317" y="194"/>
                    </a:lnTo>
                    <a:lnTo>
                      <a:pt x="337" y="181"/>
                    </a:lnTo>
                    <a:lnTo>
                      <a:pt x="370" y="166"/>
                    </a:lnTo>
                    <a:lnTo>
                      <a:pt x="415" y="152"/>
                    </a:lnTo>
                    <a:lnTo>
                      <a:pt x="465" y="138"/>
                    </a:lnTo>
                    <a:lnTo>
                      <a:pt x="519" y="124"/>
                    </a:lnTo>
                    <a:lnTo>
                      <a:pt x="572" y="112"/>
                    </a:lnTo>
                    <a:lnTo>
                      <a:pt x="622" y="104"/>
                    </a:lnTo>
                    <a:lnTo>
                      <a:pt x="665" y="99"/>
                    </a:lnTo>
                    <a:lnTo>
                      <a:pt x="701" y="103"/>
                    </a:lnTo>
                    <a:lnTo>
                      <a:pt x="722" y="99"/>
                    </a:lnTo>
                    <a:lnTo>
                      <a:pt x="735" y="93"/>
                    </a:lnTo>
                    <a:lnTo>
                      <a:pt x="740" y="83"/>
                    </a:lnTo>
                    <a:lnTo>
                      <a:pt x="738" y="73"/>
                    </a:lnTo>
                    <a:lnTo>
                      <a:pt x="732" y="59"/>
                    </a:lnTo>
                    <a:lnTo>
                      <a:pt x="726" y="45"/>
                    </a:lnTo>
                    <a:lnTo>
                      <a:pt x="720" y="32"/>
                    </a:lnTo>
                    <a:lnTo>
                      <a:pt x="717" y="22"/>
                    </a:lnTo>
                    <a:lnTo>
                      <a:pt x="665" y="5"/>
                    </a:lnTo>
                    <a:lnTo>
                      <a:pt x="607" y="0"/>
                    </a:lnTo>
                    <a:lnTo>
                      <a:pt x="543" y="3"/>
                    </a:lnTo>
                    <a:lnTo>
                      <a:pt x="478" y="13"/>
                    </a:lnTo>
                    <a:lnTo>
                      <a:pt x="411" y="27"/>
                    </a:lnTo>
                    <a:lnTo>
                      <a:pt x="346" y="45"/>
                    </a:lnTo>
                    <a:lnTo>
                      <a:pt x="285" y="65"/>
                    </a:lnTo>
                    <a:lnTo>
                      <a:pt x="229" y="87"/>
                    </a:lnTo>
                    <a:lnTo>
                      <a:pt x="202" y="104"/>
                    </a:lnTo>
                    <a:lnTo>
                      <a:pt x="175" y="122"/>
                    </a:lnTo>
                    <a:lnTo>
                      <a:pt x="149" y="141"/>
                    </a:lnTo>
                    <a:lnTo>
                      <a:pt x="123" y="159"/>
                    </a:lnTo>
                    <a:lnTo>
                      <a:pt x="96" y="177"/>
                    </a:lnTo>
                    <a:lnTo>
                      <a:pt x="70" y="194"/>
                    </a:lnTo>
                    <a:lnTo>
                      <a:pt x="44" y="213"/>
                    </a:lnTo>
                    <a:lnTo>
                      <a:pt x="19" y="232"/>
                    </a:lnTo>
                    <a:lnTo>
                      <a:pt x="1" y="258"/>
                    </a:lnTo>
                    <a:lnTo>
                      <a:pt x="0" y="280"/>
                    </a:lnTo>
                    <a:lnTo>
                      <a:pt x="10" y="295"/>
                    </a:lnTo>
                    <a:lnTo>
                      <a:pt x="34" y="303"/>
                    </a:lnTo>
                    <a:lnTo>
                      <a:pt x="66" y="305"/>
                    </a:lnTo>
                    <a:lnTo>
                      <a:pt x="109" y="302"/>
                    </a:lnTo>
                    <a:lnTo>
                      <a:pt x="158" y="293"/>
                    </a:lnTo>
                    <a:lnTo>
                      <a:pt x="216" y="28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3" name="Freeform 592">
                <a:extLst>
                  <a:ext uri="{FF2B5EF4-FFF2-40B4-BE49-F238E27FC236}">
                    <a16:creationId xmlns:a16="http://schemas.microsoft.com/office/drawing/2014/main" id="{3F75207F-1F79-A240-9748-B5EA0E9CCEC3}"/>
                  </a:ext>
                </a:extLst>
              </p:cNvPr>
              <p:cNvSpPr>
                <a:spLocks/>
              </p:cNvSpPr>
              <p:nvPr/>
            </p:nvSpPr>
            <p:spPr bwMode="auto">
              <a:xfrm>
                <a:off x="4095" y="3677"/>
                <a:ext cx="287" cy="294"/>
              </a:xfrm>
              <a:custGeom>
                <a:avLst/>
                <a:gdLst>
                  <a:gd name="T0" fmla="*/ 2 w 573"/>
                  <a:gd name="T1" fmla="*/ 0 h 588"/>
                  <a:gd name="T2" fmla="*/ 20 w 573"/>
                  <a:gd name="T3" fmla="*/ 16 h 588"/>
                  <a:gd name="T4" fmla="*/ 38 w 573"/>
                  <a:gd name="T5" fmla="*/ 32 h 588"/>
                  <a:gd name="T6" fmla="*/ 57 w 573"/>
                  <a:gd name="T7" fmla="*/ 48 h 588"/>
                  <a:gd name="T8" fmla="*/ 75 w 573"/>
                  <a:gd name="T9" fmla="*/ 64 h 588"/>
                  <a:gd name="T10" fmla="*/ 94 w 573"/>
                  <a:gd name="T11" fmla="*/ 80 h 588"/>
                  <a:gd name="T12" fmla="*/ 113 w 573"/>
                  <a:gd name="T13" fmla="*/ 96 h 588"/>
                  <a:gd name="T14" fmla="*/ 132 w 573"/>
                  <a:gd name="T15" fmla="*/ 112 h 588"/>
                  <a:gd name="T16" fmla="*/ 151 w 573"/>
                  <a:gd name="T17" fmla="*/ 128 h 588"/>
                  <a:gd name="T18" fmla="*/ 162 w 573"/>
                  <a:gd name="T19" fmla="*/ 143 h 588"/>
                  <a:gd name="T20" fmla="*/ 173 w 573"/>
                  <a:gd name="T21" fmla="*/ 159 h 588"/>
                  <a:gd name="T22" fmla="*/ 184 w 573"/>
                  <a:gd name="T23" fmla="*/ 174 h 588"/>
                  <a:gd name="T24" fmla="*/ 196 w 573"/>
                  <a:gd name="T25" fmla="*/ 189 h 588"/>
                  <a:gd name="T26" fmla="*/ 208 w 573"/>
                  <a:gd name="T27" fmla="*/ 202 h 588"/>
                  <a:gd name="T28" fmla="*/ 223 w 573"/>
                  <a:gd name="T29" fmla="*/ 215 h 588"/>
                  <a:gd name="T30" fmla="*/ 240 w 573"/>
                  <a:gd name="T31" fmla="*/ 224 h 588"/>
                  <a:gd name="T32" fmla="*/ 261 w 573"/>
                  <a:gd name="T33" fmla="*/ 232 h 588"/>
                  <a:gd name="T34" fmla="*/ 275 w 573"/>
                  <a:gd name="T35" fmla="*/ 251 h 588"/>
                  <a:gd name="T36" fmla="*/ 283 w 573"/>
                  <a:gd name="T37" fmla="*/ 266 h 588"/>
                  <a:gd name="T38" fmla="*/ 286 w 573"/>
                  <a:gd name="T39" fmla="*/ 276 h 588"/>
                  <a:gd name="T40" fmla="*/ 287 w 573"/>
                  <a:gd name="T41" fmla="*/ 282 h 588"/>
                  <a:gd name="T42" fmla="*/ 284 w 573"/>
                  <a:gd name="T43" fmla="*/ 287 h 588"/>
                  <a:gd name="T44" fmla="*/ 279 w 573"/>
                  <a:gd name="T45" fmla="*/ 289 h 588"/>
                  <a:gd name="T46" fmla="*/ 274 w 573"/>
                  <a:gd name="T47" fmla="*/ 292 h 588"/>
                  <a:gd name="T48" fmla="*/ 269 w 573"/>
                  <a:gd name="T49" fmla="*/ 294 h 588"/>
                  <a:gd name="T50" fmla="*/ 236 w 573"/>
                  <a:gd name="T51" fmla="*/ 285 h 588"/>
                  <a:gd name="T52" fmla="*/ 208 w 573"/>
                  <a:gd name="T53" fmla="*/ 271 h 588"/>
                  <a:gd name="T54" fmla="*/ 181 w 573"/>
                  <a:gd name="T55" fmla="*/ 251 h 588"/>
                  <a:gd name="T56" fmla="*/ 158 w 573"/>
                  <a:gd name="T57" fmla="*/ 229 h 588"/>
                  <a:gd name="T58" fmla="*/ 134 w 573"/>
                  <a:gd name="T59" fmla="*/ 205 h 588"/>
                  <a:gd name="T60" fmla="*/ 113 w 573"/>
                  <a:gd name="T61" fmla="*/ 180 h 588"/>
                  <a:gd name="T62" fmla="*/ 91 w 573"/>
                  <a:gd name="T63" fmla="*/ 155 h 588"/>
                  <a:gd name="T64" fmla="*/ 69 w 573"/>
                  <a:gd name="T65" fmla="*/ 133 h 588"/>
                  <a:gd name="T66" fmla="*/ 59 w 573"/>
                  <a:gd name="T67" fmla="*/ 119 h 588"/>
                  <a:gd name="T68" fmla="*/ 50 w 573"/>
                  <a:gd name="T69" fmla="*/ 106 h 588"/>
                  <a:gd name="T70" fmla="*/ 42 w 573"/>
                  <a:gd name="T71" fmla="*/ 93 h 588"/>
                  <a:gd name="T72" fmla="*/ 35 w 573"/>
                  <a:gd name="T73" fmla="*/ 80 h 588"/>
                  <a:gd name="T74" fmla="*/ 27 w 573"/>
                  <a:gd name="T75" fmla="*/ 67 h 588"/>
                  <a:gd name="T76" fmla="*/ 19 w 573"/>
                  <a:gd name="T77" fmla="*/ 53 h 588"/>
                  <a:gd name="T78" fmla="*/ 10 w 573"/>
                  <a:gd name="T79" fmla="*/ 40 h 588"/>
                  <a:gd name="T80" fmla="*/ 2 w 573"/>
                  <a:gd name="T81" fmla="*/ 28 h 588"/>
                  <a:gd name="T82" fmla="*/ 2 w 573"/>
                  <a:gd name="T83" fmla="*/ 24 h 588"/>
                  <a:gd name="T84" fmla="*/ 2 w 573"/>
                  <a:gd name="T85" fmla="*/ 20 h 588"/>
                  <a:gd name="T86" fmla="*/ 2 w 573"/>
                  <a:gd name="T87" fmla="*/ 17 h 588"/>
                  <a:gd name="T88" fmla="*/ 1 w 573"/>
                  <a:gd name="T89" fmla="*/ 14 h 588"/>
                  <a:gd name="T90" fmla="*/ 0 w 573"/>
                  <a:gd name="T91" fmla="*/ 10 h 588"/>
                  <a:gd name="T92" fmla="*/ 0 w 573"/>
                  <a:gd name="T93" fmla="*/ 7 h 588"/>
                  <a:gd name="T94" fmla="*/ 0 w 573"/>
                  <a:gd name="T95" fmla="*/ 3 h 588"/>
                  <a:gd name="T96" fmla="*/ 2 w 573"/>
                  <a:gd name="T97" fmla="*/ 0 h 5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3"/>
                  <a:gd name="T148" fmla="*/ 0 h 588"/>
                  <a:gd name="T149" fmla="*/ 573 w 573"/>
                  <a:gd name="T150" fmla="*/ 588 h 5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3" h="588">
                    <a:moveTo>
                      <a:pt x="3" y="0"/>
                    </a:moveTo>
                    <a:lnTo>
                      <a:pt x="39" y="32"/>
                    </a:lnTo>
                    <a:lnTo>
                      <a:pt x="75" y="64"/>
                    </a:lnTo>
                    <a:lnTo>
                      <a:pt x="113" y="96"/>
                    </a:lnTo>
                    <a:lnTo>
                      <a:pt x="150" y="128"/>
                    </a:lnTo>
                    <a:lnTo>
                      <a:pt x="188" y="160"/>
                    </a:lnTo>
                    <a:lnTo>
                      <a:pt x="226" y="192"/>
                    </a:lnTo>
                    <a:lnTo>
                      <a:pt x="263" y="224"/>
                    </a:lnTo>
                    <a:lnTo>
                      <a:pt x="301" y="256"/>
                    </a:lnTo>
                    <a:lnTo>
                      <a:pt x="324" y="286"/>
                    </a:lnTo>
                    <a:lnTo>
                      <a:pt x="346" y="318"/>
                    </a:lnTo>
                    <a:lnTo>
                      <a:pt x="367" y="349"/>
                    </a:lnTo>
                    <a:lnTo>
                      <a:pt x="391" y="379"/>
                    </a:lnTo>
                    <a:lnTo>
                      <a:pt x="416" y="405"/>
                    </a:lnTo>
                    <a:lnTo>
                      <a:pt x="446" y="430"/>
                    </a:lnTo>
                    <a:lnTo>
                      <a:pt x="480" y="449"/>
                    </a:lnTo>
                    <a:lnTo>
                      <a:pt x="522" y="464"/>
                    </a:lnTo>
                    <a:lnTo>
                      <a:pt x="549" y="502"/>
                    </a:lnTo>
                    <a:lnTo>
                      <a:pt x="566" y="531"/>
                    </a:lnTo>
                    <a:lnTo>
                      <a:pt x="572" y="551"/>
                    </a:lnTo>
                    <a:lnTo>
                      <a:pt x="573" y="564"/>
                    </a:lnTo>
                    <a:lnTo>
                      <a:pt x="567" y="573"/>
                    </a:lnTo>
                    <a:lnTo>
                      <a:pt x="557" y="578"/>
                    </a:lnTo>
                    <a:lnTo>
                      <a:pt x="547" y="583"/>
                    </a:lnTo>
                    <a:lnTo>
                      <a:pt x="537" y="588"/>
                    </a:lnTo>
                    <a:lnTo>
                      <a:pt x="472" y="569"/>
                    </a:lnTo>
                    <a:lnTo>
                      <a:pt x="415" y="541"/>
                    </a:lnTo>
                    <a:lnTo>
                      <a:pt x="362" y="503"/>
                    </a:lnTo>
                    <a:lnTo>
                      <a:pt x="315" y="459"/>
                    </a:lnTo>
                    <a:lnTo>
                      <a:pt x="268" y="410"/>
                    </a:lnTo>
                    <a:lnTo>
                      <a:pt x="226" y="360"/>
                    </a:lnTo>
                    <a:lnTo>
                      <a:pt x="181" y="310"/>
                    </a:lnTo>
                    <a:lnTo>
                      <a:pt x="137" y="265"/>
                    </a:lnTo>
                    <a:lnTo>
                      <a:pt x="118" y="239"/>
                    </a:lnTo>
                    <a:lnTo>
                      <a:pt x="100" y="212"/>
                    </a:lnTo>
                    <a:lnTo>
                      <a:pt x="84" y="186"/>
                    </a:lnTo>
                    <a:lnTo>
                      <a:pt x="69" y="160"/>
                    </a:lnTo>
                    <a:lnTo>
                      <a:pt x="53" y="133"/>
                    </a:lnTo>
                    <a:lnTo>
                      <a:pt x="38" y="107"/>
                    </a:lnTo>
                    <a:lnTo>
                      <a:pt x="20" y="81"/>
                    </a:lnTo>
                    <a:lnTo>
                      <a:pt x="3" y="56"/>
                    </a:lnTo>
                    <a:lnTo>
                      <a:pt x="3" y="48"/>
                    </a:lnTo>
                    <a:lnTo>
                      <a:pt x="4" y="41"/>
                    </a:lnTo>
                    <a:lnTo>
                      <a:pt x="3" y="34"/>
                    </a:lnTo>
                    <a:lnTo>
                      <a:pt x="1" y="28"/>
                    </a:lnTo>
                    <a:lnTo>
                      <a:pt x="0" y="21"/>
                    </a:lnTo>
                    <a:lnTo>
                      <a:pt x="0" y="14"/>
                    </a:lnTo>
                    <a:lnTo>
                      <a:pt x="0" y="7"/>
                    </a:lnTo>
                    <a:lnTo>
                      <a:pt x="3" y="0"/>
                    </a:lnTo>
                    <a:close/>
                  </a:path>
                </a:pathLst>
              </a:custGeom>
              <a:solidFill>
                <a:srgbClr val="7A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4" name="Freeform 593">
                <a:extLst>
                  <a:ext uri="{FF2B5EF4-FFF2-40B4-BE49-F238E27FC236}">
                    <a16:creationId xmlns:a16="http://schemas.microsoft.com/office/drawing/2014/main" id="{328FFD08-E26A-DC44-B76C-A20311FD3E85}"/>
                  </a:ext>
                </a:extLst>
              </p:cNvPr>
              <p:cNvSpPr>
                <a:spLocks/>
              </p:cNvSpPr>
              <p:nvPr/>
            </p:nvSpPr>
            <p:spPr bwMode="auto">
              <a:xfrm>
                <a:off x="4151" y="3641"/>
                <a:ext cx="419" cy="249"/>
              </a:xfrm>
              <a:custGeom>
                <a:avLst/>
                <a:gdLst>
                  <a:gd name="T0" fmla="*/ 268 w 837"/>
                  <a:gd name="T1" fmla="*/ 0 h 498"/>
                  <a:gd name="T2" fmla="*/ 239 w 837"/>
                  <a:gd name="T3" fmla="*/ 10 h 498"/>
                  <a:gd name="T4" fmla="*/ 216 w 837"/>
                  <a:gd name="T5" fmla="*/ 20 h 498"/>
                  <a:gd name="T6" fmla="*/ 198 w 837"/>
                  <a:gd name="T7" fmla="*/ 28 h 498"/>
                  <a:gd name="T8" fmla="*/ 183 w 837"/>
                  <a:gd name="T9" fmla="*/ 37 h 498"/>
                  <a:gd name="T10" fmla="*/ 169 w 837"/>
                  <a:gd name="T11" fmla="*/ 47 h 498"/>
                  <a:gd name="T12" fmla="*/ 155 w 837"/>
                  <a:gd name="T13" fmla="*/ 62 h 498"/>
                  <a:gd name="T14" fmla="*/ 140 w 837"/>
                  <a:gd name="T15" fmla="*/ 80 h 498"/>
                  <a:gd name="T16" fmla="*/ 122 w 837"/>
                  <a:gd name="T17" fmla="*/ 104 h 498"/>
                  <a:gd name="T18" fmla="*/ 114 w 837"/>
                  <a:gd name="T19" fmla="*/ 98 h 498"/>
                  <a:gd name="T20" fmla="*/ 106 w 837"/>
                  <a:gd name="T21" fmla="*/ 92 h 498"/>
                  <a:gd name="T22" fmla="*/ 98 w 837"/>
                  <a:gd name="T23" fmla="*/ 85 h 498"/>
                  <a:gd name="T24" fmla="*/ 90 w 837"/>
                  <a:gd name="T25" fmla="*/ 79 h 498"/>
                  <a:gd name="T26" fmla="*/ 82 w 837"/>
                  <a:gd name="T27" fmla="*/ 73 h 498"/>
                  <a:gd name="T28" fmla="*/ 74 w 837"/>
                  <a:gd name="T29" fmla="*/ 67 h 498"/>
                  <a:gd name="T30" fmla="*/ 66 w 837"/>
                  <a:gd name="T31" fmla="*/ 60 h 498"/>
                  <a:gd name="T32" fmla="*/ 58 w 837"/>
                  <a:gd name="T33" fmla="*/ 54 h 498"/>
                  <a:gd name="T34" fmla="*/ 53 w 837"/>
                  <a:gd name="T35" fmla="*/ 57 h 498"/>
                  <a:gd name="T36" fmla="*/ 47 w 837"/>
                  <a:gd name="T37" fmla="*/ 62 h 498"/>
                  <a:gd name="T38" fmla="*/ 38 w 837"/>
                  <a:gd name="T39" fmla="*/ 68 h 498"/>
                  <a:gd name="T40" fmla="*/ 29 w 837"/>
                  <a:gd name="T41" fmla="*/ 74 h 498"/>
                  <a:gd name="T42" fmla="*/ 19 w 837"/>
                  <a:gd name="T43" fmla="*/ 80 h 498"/>
                  <a:gd name="T44" fmla="*/ 11 w 837"/>
                  <a:gd name="T45" fmla="*/ 85 h 498"/>
                  <a:gd name="T46" fmla="*/ 4 w 837"/>
                  <a:gd name="T47" fmla="*/ 90 h 498"/>
                  <a:gd name="T48" fmla="*/ 0 w 837"/>
                  <a:gd name="T49" fmla="*/ 95 h 498"/>
                  <a:gd name="T50" fmla="*/ 20 w 837"/>
                  <a:gd name="T51" fmla="*/ 114 h 498"/>
                  <a:gd name="T52" fmla="*/ 43 w 837"/>
                  <a:gd name="T53" fmla="*/ 136 h 498"/>
                  <a:gd name="T54" fmla="*/ 66 w 837"/>
                  <a:gd name="T55" fmla="*/ 157 h 498"/>
                  <a:gd name="T56" fmla="*/ 90 w 837"/>
                  <a:gd name="T57" fmla="*/ 179 h 498"/>
                  <a:gd name="T58" fmla="*/ 114 w 837"/>
                  <a:gd name="T59" fmla="*/ 199 h 498"/>
                  <a:gd name="T60" fmla="*/ 139 w 837"/>
                  <a:gd name="T61" fmla="*/ 218 h 498"/>
                  <a:gd name="T62" fmla="*/ 162 w 837"/>
                  <a:gd name="T63" fmla="*/ 233 h 498"/>
                  <a:gd name="T64" fmla="*/ 186 w 837"/>
                  <a:gd name="T65" fmla="*/ 246 h 498"/>
                  <a:gd name="T66" fmla="*/ 204 w 837"/>
                  <a:gd name="T67" fmla="*/ 249 h 498"/>
                  <a:gd name="T68" fmla="*/ 219 w 837"/>
                  <a:gd name="T69" fmla="*/ 248 h 498"/>
                  <a:gd name="T70" fmla="*/ 230 w 837"/>
                  <a:gd name="T71" fmla="*/ 241 h 498"/>
                  <a:gd name="T72" fmla="*/ 239 w 837"/>
                  <a:gd name="T73" fmla="*/ 231 h 498"/>
                  <a:gd name="T74" fmla="*/ 243 w 837"/>
                  <a:gd name="T75" fmla="*/ 216 h 498"/>
                  <a:gd name="T76" fmla="*/ 245 w 837"/>
                  <a:gd name="T77" fmla="*/ 199 h 498"/>
                  <a:gd name="T78" fmla="*/ 242 w 837"/>
                  <a:gd name="T79" fmla="*/ 178 h 498"/>
                  <a:gd name="T80" fmla="*/ 236 w 837"/>
                  <a:gd name="T81" fmla="*/ 154 h 498"/>
                  <a:gd name="T82" fmla="*/ 258 w 837"/>
                  <a:gd name="T83" fmla="*/ 123 h 498"/>
                  <a:gd name="T84" fmla="*/ 279 w 837"/>
                  <a:gd name="T85" fmla="*/ 106 h 498"/>
                  <a:gd name="T86" fmla="*/ 298 w 837"/>
                  <a:gd name="T87" fmla="*/ 97 h 498"/>
                  <a:gd name="T88" fmla="*/ 317 w 837"/>
                  <a:gd name="T89" fmla="*/ 97 h 498"/>
                  <a:gd name="T90" fmla="*/ 337 w 837"/>
                  <a:gd name="T91" fmla="*/ 101 h 498"/>
                  <a:gd name="T92" fmla="*/ 361 w 837"/>
                  <a:gd name="T93" fmla="*/ 107 h 498"/>
                  <a:gd name="T94" fmla="*/ 387 w 837"/>
                  <a:gd name="T95" fmla="*/ 113 h 498"/>
                  <a:gd name="T96" fmla="*/ 419 w 837"/>
                  <a:gd name="T97" fmla="*/ 116 h 498"/>
                  <a:gd name="T98" fmla="*/ 400 w 837"/>
                  <a:gd name="T99" fmla="*/ 102 h 498"/>
                  <a:gd name="T100" fmla="*/ 382 w 837"/>
                  <a:gd name="T101" fmla="*/ 87 h 498"/>
                  <a:gd name="T102" fmla="*/ 362 w 837"/>
                  <a:gd name="T103" fmla="*/ 72 h 498"/>
                  <a:gd name="T104" fmla="*/ 344 w 837"/>
                  <a:gd name="T105" fmla="*/ 57 h 498"/>
                  <a:gd name="T106" fmla="*/ 324 w 837"/>
                  <a:gd name="T107" fmla="*/ 42 h 498"/>
                  <a:gd name="T108" fmla="*/ 305 w 837"/>
                  <a:gd name="T109" fmla="*/ 27 h 498"/>
                  <a:gd name="T110" fmla="*/ 285 w 837"/>
                  <a:gd name="T111" fmla="*/ 13 h 498"/>
                  <a:gd name="T112" fmla="*/ 268 w 837"/>
                  <a:gd name="T113" fmla="*/ 0 h 4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98"/>
                  <a:gd name="T173" fmla="*/ 837 w 837"/>
                  <a:gd name="T174" fmla="*/ 498 h 4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98">
                    <a:moveTo>
                      <a:pt x="535" y="0"/>
                    </a:moveTo>
                    <a:lnTo>
                      <a:pt x="477" y="20"/>
                    </a:lnTo>
                    <a:lnTo>
                      <a:pt x="432" y="39"/>
                    </a:lnTo>
                    <a:lnTo>
                      <a:pt x="395" y="55"/>
                    </a:lnTo>
                    <a:lnTo>
                      <a:pt x="366" y="74"/>
                    </a:lnTo>
                    <a:lnTo>
                      <a:pt x="337" y="94"/>
                    </a:lnTo>
                    <a:lnTo>
                      <a:pt x="309" y="123"/>
                    </a:lnTo>
                    <a:lnTo>
                      <a:pt x="279" y="159"/>
                    </a:lnTo>
                    <a:lnTo>
                      <a:pt x="244" y="208"/>
                    </a:lnTo>
                    <a:lnTo>
                      <a:pt x="228" y="196"/>
                    </a:lnTo>
                    <a:lnTo>
                      <a:pt x="212" y="183"/>
                    </a:lnTo>
                    <a:lnTo>
                      <a:pt x="195" y="170"/>
                    </a:lnTo>
                    <a:lnTo>
                      <a:pt x="180" y="158"/>
                    </a:lnTo>
                    <a:lnTo>
                      <a:pt x="164" y="145"/>
                    </a:lnTo>
                    <a:lnTo>
                      <a:pt x="148" y="133"/>
                    </a:lnTo>
                    <a:lnTo>
                      <a:pt x="131" y="120"/>
                    </a:lnTo>
                    <a:lnTo>
                      <a:pt x="116" y="108"/>
                    </a:lnTo>
                    <a:lnTo>
                      <a:pt x="106" y="114"/>
                    </a:lnTo>
                    <a:lnTo>
                      <a:pt x="94" y="125"/>
                    </a:lnTo>
                    <a:lnTo>
                      <a:pt x="75" y="135"/>
                    </a:lnTo>
                    <a:lnTo>
                      <a:pt x="57" y="148"/>
                    </a:lnTo>
                    <a:lnTo>
                      <a:pt x="38" y="159"/>
                    </a:lnTo>
                    <a:lnTo>
                      <a:pt x="21" y="170"/>
                    </a:lnTo>
                    <a:lnTo>
                      <a:pt x="7" y="180"/>
                    </a:lnTo>
                    <a:lnTo>
                      <a:pt x="0" y="189"/>
                    </a:lnTo>
                    <a:lnTo>
                      <a:pt x="40" y="228"/>
                    </a:lnTo>
                    <a:lnTo>
                      <a:pt x="85" y="271"/>
                    </a:lnTo>
                    <a:lnTo>
                      <a:pt x="131" y="313"/>
                    </a:lnTo>
                    <a:lnTo>
                      <a:pt x="180" y="357"/>
                    </a:lnTo>
                    <a:lnTo>
                      <a:pt x="228" y="397"/>
                    </a:lnTo>
                    <a:lnTo>
                      <a:pt x="277" y="435"/>
                    </a:lnTo>
                    <a:lnTo>
                      <a:pt x="324" y="466"/>
                    </a:lnTo>
                    <a:lnTo>
                      <a:pt x="372" y="491"/>
                    </a:lnTo>
                    <a:lnTo>
                      <a:pt x="407" y="498"/>
                    </a:lnTo>
                    <a:lnTo>
                      <a:pt x="437" y="495"/>
                    </a:lnTo>
                    <a:lnTo>
                      <a:pt x="460" y="481"/>
                    </a:lnTo>
                    <a:lnTo>
                      <a:pt x="477" y="461"/>
                    </a:lnTo>
                    <a:lnTo>
                      <a:pt x="486" y="432"/>
                    </a:lnTo>
                    <a:lnTo>
                      <a:pt x="489" y="397"/>
                    </a:lnTo>
                    <a:lnTo>
                      <a:pt x="484" y="355"/>
                    </a:lnTo>
                    <a:lnTo>
                      <a:pt x="471" y="308"/>
                    </a:lnTo>
                    <a:lnTo>
                      <a:pt x="516" y="246"/>
                    </a:lnTo>
                    <a:lnTo>
                      <a:pt x="558" y="211"/>
                    </a:lnTo>
                    <a:lnTo>
                      <a:pt x="595" y="194"/>
                    </a:lnTo>
                    <a:lnTo>
                      <a:pt x="634" y="194"/>
                    </a:lnTo>
                    <a:lnTo>
                      <a:pt x="674" y="202"/>
                    </a:lnTo>
                    <a:lnTo>
                      <a:pt x="721" y="214"/>
                    </a:lnTo>
                    <a:lnTo>
                      <a:pt x="773" y="226"/>
                    </a:lnTo>
                    <a:lnTo>
                      <a:pt x="837" y="231"/>
                    </a:lnTo>
                    <a:lnTo>
                      <a:pt x="800" y="203"/>
                    </a:lnTo>
                    <a:lnTo>
                      <a:pt x="763" y="174"/>
                    </a:lnTo>
                    <a:lnTo>
                      <a:pt x="724" y="144"/>
                    </a:lnTo>
                    <a:lnTo>
                      <a:pt x="687" y="114"/>
                    </a:lnTo>
                    <a:lnTo>
                      <a:pt x="647" y="83"/>
                    </a:lnTo>
                    <a:lnTo>
                      <a:pt x="609" y="54"/>
                    </a:lnTo>
                    <a:lnTo>
                      <a:pt x="570" y="25"/>
                    </a:lnTo>
                    <a:lnTo>
                      <a:pt x="535" y="0"/>
                    </a:lnTo>
                    <a:close/>
                  </a:path>
                </a:pathLst>
              </a:custGeom>
              <a:solidFill>
                <a:srgbClr val="8C9E9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5" name="Freeform 594">
                <a:extLst>
                  <a:ext uri="{FF2B5EF4-FFF2-40B4-BE49-F238E27FC236}">
                    <a16:creationId xmlns:a16="http://schemas.microsoft.com/office/drawing/2014/main" id="{B7ACA84B-2353-6647-968A-E4ACD5FD83E2}"/>
                  </a:ext>
                </a:extLst>
              </p:cNvPr>
              <p:cNvSpPr>
                <a:spLocks/>
              </p:cNvSpPr>
              <p:nvPr/>
            </p:nvSpPr>
            <p:spPr bwMode="auto">
              <a:xfrm>
                <a:off x="4151" y="3644"/>
                <a:ext cx="419" cy="245"/>
              </a:xfrm>
              <a:custGeom>
                <a:avLst/>
                <a:gdLst>
                  <a:gd name="T0" fmla="*/ 273 w 837"/>
                  <a:gd name="T1" fmla="*/ 0 h 489"/>
                  <a:gd name="T2" fmla="*/ 244 w 837"/>
                  <a:gd name="T3" fmla="*/ 11 h 489"/>
                  <a:gd name="T4" fmla="*/ 221 w 837"/>
                  <a:gd name="T5" fmla="*/ 20 h 489"/>
                  <a:gd name="T6" fmla="*/ 202 w 837"/>
                  <a:gd name="T7" fmla="*/ 29 h 489"/>
                  <a:gd name="T8" fmla="*/ 186 w 837"/>
                  <a:gd name="T9" fmla="*/ 39 h 489"/>
                  <a:gd name="T10" fmla="*/ 172 w 837"/>
                  <a:gd name="T11" fmla="*/ 51 h 489"/>
                  <a:gd name="T12" fmla="*/ 158 w 837"/>
                  <a:gd name="T13" fmla="*/ 65 h 489"/>
                  <a:gd name="T14" fmla="*/ 142 w 837"/>
                  <a:gd name="T15" fmla="*/ 84 h 489"/>
                  <a:gd name="T16" fmla="*/ 125 w 837"/>
                  <a:gd name="T17" fmla="*/ 108 h 489"/>
                  <a:gd name="T18" fmla="*/ 116 w 837"/>
                  <a:gd name="T19" fmla="*/ 101 h 489"/>
                  <a:gd name="T20" fmla="*/ 107 w 837"/>
                  <a:gd name="T21" fmla="*/ 95 h 489"/>
                  <a:gd name="T22" fmla="*/ 98 w 837"/>
                  <a:gd name="T23" fmla="*/ 88 h 489"/>
                  <a:gd name="T24" fmla="*/ 89 w 837"/>
                  <a:gd name="T25" fmla="*/ 82 h 489"/>
                  <a:gd name="T26" fmla="*/ 80 w 837"/>
                  <a:gd name="T27" fmla="*/ 74 h 489"/>
                  <a:gd name="T28" fmla="*/ 71 w 837"/>
                  <a:gd name="T29" fmla="*/ 68 h 489"/>
                  <a:gd name="T30" fmla="*/ 62 w 837"/>
                  <a:gd name="T31" fmla="*/ 61 h 489"/>
                  <a:gd name="T32" fmla="*/ 54 w 837"/>
                  <a:gd name="T33" fmla="*/ 56 h 489"/>
                  <a:gd name="T34" fmla="*/ 50 w 837"/>
                  <a:gd name="T35" fmla="*/ 59 h 489"/>
                  <a:gd name="T36" fmla="*/ 43 w 837"/>
                  <a:gd name="T37" fmla="*/ 63 h 489"/>
                  <a:gd name="T38" fmla="*/ 35 w 837"/>
                  <a:gd name="T39" fmla="*/ 67 h 489"/>
                  <a:gd name="T40" fmla="*/ 27 w 837"/>
                  <a:gd name="T41" fmla="*/ 73 h 489"/>
                  <a:gd name="T42" fmla="*/ 18 w 837"/>
                  <a:gd name="T43" fmla="*/ 78 h 489"/>
                  <a:gd name="T44" fmla="*/ 10 w 837"/>
                  <a:gd name="T45" fmla="*/ 83 h 489"/>
                  <a:gd name="T46" fmla="*/ 4 w 837"/>
                  <a:gd name="T47" fmla="*/ 87 h 489"/>
                  <a:gd name="T48" fmla="*/ 0 w 837"/>
                  <a:gd name="T49" fmla="*/ 92 h 489"/>
                  <a:gd name="T50" fmla="*/ 20 w 837"/>
                  <a:gd name="T51" fmla="*/ 111 h 489"/>
                  <a:gd name="T52" fmla="*/ 43 w 837"/>
                  <a:gd name="T53" fmla="*/ 133 h 489"/>
                  <a:gd name="T54" fmla="*/ 66 w 837"/>
                  <a:gd name="T55" fmla="*/ 154 h 489"/>
                  <a:gd name="T56" fmla="*/ 90 w 837"/>
                  <a:gd name="T57" fmla="*/ 175 h 489"/>
                  <a:gd name="T58" fmla="*/ 114 w 837"/>
                  <a:gd name="T59" fmla="*/ 195 h 489"/>
                  <a:gd name="T60" fmla="*/ 139 w 837"/>
                  <a:gd name="T61" fmla="*/ 214 h 489"/>
                  <a:gd name="T62" fmla="*/ 162 w 837"/>
                  <a:gd name="T63" fmla="*/ 229 h 489"/>
                  <a:gd name="T64" fmla="*/ 186 w 837"/>
                  <a:gd name="T65" fmla="*/ 242 h 489"/>
                  <a:gd name="T66" fmla="*/ 203 w 837"/>
                  <a:gd name="T67" fmla="*/ 245 h 489"/>
                  <a:gd name="T68" fmla="*/ 218 w 837"/>
                  <a:gd name="T69" fmla="*/ 244 h 489"/>
                  <a:gd name="T70" fmla="*/ 230 w 837"/>
                  <a:gd name="T71" fmla="*/ 237 h 489"/>
                  <a:gd name="T72" fmla="*/ 238 w 837"/>
                  <a:gd name="T73" fmla="*/ 227 h 489"/>
                  <a:gd name="T74" fmla="*/ 243 w 837"/>
                  <a:gd name="T75" fmla="*/ 213 h 489"/>
                  <a:gd name="T76" fmla="*/ 244 w 837"/>
                  <a:gd name="T77" fmla="*/ 196 h 489"/>
                  <a:gd name="T78" fmla="*/ 241 w 837"/>
                  <a:gd name="T79" fmla="*/ 175 h 489"/>
                  <a:gd name="T80" fmla="*/ 236 w 837"/>
                  <a:gd name="T81" fmla="*/ 151 h 489"/>
                  <a:gd name="T82" fmla="*/ 258 w 837"/>
                  <a:gd name="T83" fmla="*/ 120 h 489"/>
                  <a:gd name="T84" fmla="*/ 279 w 837"/>
                  <a:gd name="T85" fmla="*/ 103 h 489"/>
                  <a:gd name="T86" fmla="*/ 298 w 837"/>
                  <a:gd name="T87" fmla="*/ 94 h 489"/>
                  <a:gd name="T88" fmla="*/ 317 w 837"/>
                  <a:gd name="T89" fmla="*/ 94 h 489"/>
                  <a:gd name="T90" fmla="*/ 337 w 837"/>
                  <a:gd name="T91" fmla="*/ 98 h 489"/>
                  <a:gd name="T92" fmla="*/ 361 w 837"/>
                  <a:gd name="T93" fmla="*/ 104 h 489"/>
                  <a:gd name="T94" fmla="*/ 387 w 837"/>
                  <a:gd name="T95" fmla="*/ 110 h 489"/>
                  <a:gd name="T96" fmla="*/ 419 w 837"/>
                  <a:gd name="T97" fmla="*/ 113 h 489"/>
                  <a:gd name="T98" fmla="*/ 401 w 837"/>
                  <a:gd name="T99" fmla="*/ 99 h 489"/>
                  <a:gd name="T100" fmla="*/ 383 w 837"/>
                  <a:gd name="T101" fmla="*/ 85 h 489"/>
                  <a:gd name="T102" fmla="*/ 364 w 837"/>
                  <a:gd name="T103" fmla="*/ 71 h 489"/>
                  <a:gd name="T104" fmla="*/ 346 w 837"/>
                  <a:gd name="T105" fmla="*/ 56 h 489"/>
                  <a:gd name="T106" fmla="*/ 327 w 837"/>
                  <a:gd name="T107" fmla="*/ 41 h 489"/>
                  <a:gd name="T108" fmla="*/ 309 w 837"/>
                  <a:gd name="T109" fmla="*/ 27 h 489"/>
                  <a:gd name="T110" fmla="*/ 290 w 837"/>
                  <a:gd name="T111" fmla="*/ 13 h 489"/>
                  <a:gd name="T112" fmla="*/ 273 w 837"/>
                  <a:gd name="T113" fmla="*/ 0 h 48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89"/>
                  <a:gd name="T173" fmla="*/ 837 w 837"/>
                  <a:gd name="T174" fmla="*/ 489 h 48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89">
                    <a:moveTo>
                      <a:pt x="545" y="0"/>
                    </a:moveTo>
                    <a:lnTo>
                      <a:pt x="487" y="22"/>
                    </a:lnTo>
                    <a:lnTo>
                      <a:pt x="441" y="40"/>
                    </a:lnTo>
                    <a:lnTo>
                      <a:pt x="403" y="58"/>
                    </a:lnTo>
                    <a:lnTo>
                      <a:pt x="372" y="78"/>
                    </a:lnTo>
                    <a:lnTo>
                      <a:pt x="343" y="101"/>
                    </a:lnTo>
                    <a:lnTo>
                      <a:pt x="316" y="129"/>
                    </a:lnTo>
                    <a:lnTo>
                      <a:pt x="284" y="167"/>
                    </a:lnTo>
                    <a:lnTo>
                      <a:pt x="249" y="216"/>
                    </a:lnTo>
                    <a:lnTo>
                      <a:pt x="232" y="202"/>
                    </a:lnTo>
                    <a:lnTo>
                      <a:pt x="214" y="190"/>
                    </a:lnTo>
                    <a:lnTo>
                      <a:pt x="195" y="176"/>
                    </a:lnTo>
                    <a:lnTo>
                      <a:pt x="178" y="163"/>
                    </a:lnTo>
                    <a:lnTo>
                      <a:pt x="159" y="148"/>
                    </a:lnTo>
                    <a:lnTo>
                      <a:pt x="141" y="136"/>
                    </a:lnTo>
                    <a:lnTo>
                      <a:pt x="123" y="122"/>
                    </a:lnTo>
                    <a:lnTo>
                      <a:pt x="107" y="111"/>
                    </a:lnTo>
                    <a:lnTo>
                      <a:pt x="99" y="117"/>
                    </a:lnTo>
                    <a:lnTo>
                      <a:pt x="86" y="126"/>
                    </a:lnTo>
                    <a:lnTo>
                      <a:pt x="70" y="134"/>
                    </a:lnTo>
                    <a:lnTo>
                      <a:pt x="54" y="146"/>
                    </a:lnTo>
                    <a:lnTo>
                      <a:pt x="35" y="156"/>
                    </a:lnTo>
                    <a:lnTo>
                      <a:pt x="20" y="166"/>
                    </a:lnTo>
                    <a:lnTo>
                      <a:pt x="7" y="174"/>
                    </a:lnTo>
                    <a:lnTo>
                      <a:pt x="0" y="183"/>
                    </a:lnTo>
                    <a:lnTo>
                      <a:pt x="40" y="222"/>
                    </a:lnTo>
                    <a:lnTo>
                      <a:pt x="85" y="265"/>
                    </a:lnTo>
                    <a:lnTo>
                      <a:pt x="131" y="307"/>
                    </a:lnTo>
                    <a:lnTo>
                      <a:pt x="180" y="350"/>
                    </a:lnTo>
                    <a:lnTo>
                      <a:pt x="228" y="390"/>
                    </a:lnTo>
                    <a:lnTo>
                      <a:pt x="277" y="428"/>
                    </a:lnTo>
                    <a:lnTo>
                      <a:pt x="324" y="458"/>
                    </a:lnTo>
                    <a:lnTo>
                      <a:pt x="372" y="483"/>
                    </a:lnTo>
                    <a:lnTo>
                      <a:pt x="406" y="489"/>
                    </a:lnTo>
                    <a:lnTo>
                      <a:pt x="436" y="487"/>
                    </a:lnTo>
                    <a:lnTo>
                      <a:pt x="459" y="474"/>
                    </a:lnTo>
                    <a:lnTo>
                      <a:pt x="476" y="454"/>
                    </a:lnTo>
                    <a:lnTo>
                      <a:pt x="485" y="425"/>
                    </a:lnTo>
                    <a:lnTo>
                      <a:pt x="487" y="391"/>
                    </a:lnTo>
                    <a:lnTo>
                      <a:pt x="482" y="349"/>
                    </a:lnTo>
                    <a:lnTo>
                      <a:pt x="471" y="302"/>
                    </a:lnTo>
                    <a:lnTo>
                      <a:pt x="516" y="240"/>
                    </a:lnTo>
                    <a:lnTo>
                      <a:pt x="558" y="205"/>
                    </a:lnTo>
                    <a:lnTo>
                      <a:pt x="595" y="188"/>
                    </a:lnTo>
                    <a:lnTo>
                      <a:pt x="634" y="188"/>
                    </a:lnTo>
                    <a:lnTo>
                      <a:pt x="674" y="196"/>
                    </a:lnTo>
                    <a:lnTo>
                      <a:pt x="721" y="208"/>
                    </a:lnTo>
                    <a:lnTo>
                      <a:pt x="773" y="220"/>
                    </a:lnTo>
                    <a:lnTo>
                      <a:pt x="837" y="225"/>
                    </a:lnTo>
                    <a:lnTo>
                      <a:pt x="801" y="197"/>
                    </a:lnTo>
                    <a:lnTo>
                      <a:pt x="765" y="169"/>
                    </a:lnTo>
                    <a:lnTo>
                      <a:pt x="727" y="141"/>
                    </a:lnTo>
                    <a:lnTo>
                      <a:pt x="691" y="112"/>
                    </a:lnTo>
                    <a:lnTo>
                      <a:pt x="653" y="82"/>
                    </a:lnTo>
                    <a:lnTo>
                      <a:pt x="617" y="54"/>
                    </a:lnTo>
                    <a:lnTo>
                      <a:pt x="579" y="25"/>
                    </a:lnTo>
                    <a:lnTo>
                      <a:pt x="545" y="0"/>
                    </a:lnTo>
                    <a:close/>
                  </a:path>
                </a:pathLst>
              </a:custGeom>
              <a:solidFill>
                <a:srgbClr val="91A3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6" name="Freeform 595">
                <a:extLst>
                  <a:ext uri="{FF2B5EF4-FFF2-40B4-BE49-F238E27FC236}">
                    <a16:creationId xmlns:a16="http://schemas.microsoft.com/office/drawing/2014/main" id="{62C93854-8A20-BD45-BA75-115F69D73B17}"/>
                  </a:ext>
                </a:extLst>
              </p:cNvPr>
              <p:cNvSpPr>
                <a:spLocks/>
              </p:cNvSpPr>
              <p:nvPr/>
            </p:nvSpPr>
            <p:spPr bwMode="auto">
              <a:xfrm>
                <a:off x="4151" y="3648"/>
                <a:ext cx="419" cy="239"/>
              </a:xfrm>
              <a:custGeom>
                <a:avLst/>
                <a:gdLst>
                  <a:gd name="T0" fmla="*/ 277 w 837"/>
                  <a:gd name="T1" fmla="*/ 0 h 479"/>
                  <a:gd name="T2" fmla="*/ 248 w 837"/>
                  <a:gd name="T3" fmla="*/ 10 h 479"/>
                  <a:gd name="T4" fmla="*/ 225 w 837"/>
                  <a:gd name="T5" fmla="*/ 20 h 479"/>
                  <a:gd name="T6" fmla="*/ 206 w 837"/>
                  <a:gd name="T7" fmla="*/ 29 h 479"/>
                  <a:gd name="T8" fmla="*/ 191 w 837"/>
                  <a:gd name="T9" fmla="*/ 40 h 479"/>
                  <a:gd name="T10" fmla="*/ 175 w 837"/>
                  <a:gd name="T11" fmla="*/ 52 h 479"/>
                  <a:gd name="T12" fmla="*/ 161 w 837"/>
                  <a:gd name="T13" fmla="*/ 67 h 479"/>
                  <a:gd name="T14" fmla="*/ 145 w 837"/>
                  <a:gd name="T15" fmla="*/ 86 h 479"/>
                  <a:gd name="T16" fmla="*/ 127 w 837"/>
                  <a:gd name="T17" fmla="*/ 111 h 479"/>
                  <a:gd name="T18" fmla="*/ 118 w 837"/>
                  <a:gd name="T19" fmla="*/ 104 h 479"/>
                  <a:gd name="T20" fmla="*/ 109 w 837"/>
                  <a:gd name="T21" fmla="*/ 97 h 479"/>
                  <a:gd name="T22" fmla="*/ 98 w 837"/>
                  <a:gd name="T23" fmla="*/ 89 h 479"/>
                  <a:gd name="T24" fmla="*/ 88 w 837"/>
                  <a:gd name="T25" fmla="*/ 82 h 479"/>
                  <a:gd name="T26" fmla="*/ 78 w 837"/>
                  <a:gd name="T27" fmla="*/ 75 h 479"/>
                  <a:gd name="T28" fmla="*/ 68 w 837"/>
                  <a:gd name="T29" fmla="*/ 68 h 479"/>
                  <a:gd name="T30" fmla="*/ 58 w 837"/>
                  <a:gd name="T31" fmla="*/ 60 h 479"/>
                  <a:gd name="T32" fmla="*/ 50 w 837"/>
                  <a:gd name="T33" fmla="*/ 55 h 479"/>
                  <a:gd name="T34" fmla="*/ 45 w 837"/>
                  <a:gd name="T35" fmla="*/ 58 h 479"/>
                  <a:gd name="T36" fmla="*/ 40 w 837"/>
                  <a:gd name="T37" fmla="*/ 62 h 479"/>
                  <a:gd name="T38" fmla="*/ 32 w 837"/>
                  <a:gd name="T39" fmla="*/ 66 h 479"/>
                  <a:gd name="T40" fmla="*/ 25 w 837"/>
                  <a:gd name="T41" fmla="*/ 71 h 479"/>
                  <a:gd name="T42" fmla="*/ 16 w 837"/>
                  <a:gd name="T43" fmla="*/ 75 h 479"/>
                  <a:gd name="T44" fmla="*/ 9 w 837"/>
                  <a:gd name="T45" fmla="*/ 79 h 479"/>
                  <a:gd name="T46" fmla="*/ 4 w 837"/>
                  <a:gd name="T47" fmla="*/ 83 h 479"/>
                  <a:gd name="T48" fmla="*/ 0 w 837"/>
                  <a:gd name="T49" fmla="*/ 87 h 479"/>
                  <a:gd name="T50" fmla="*/ 20 w 837"/>
                  <a:gd name="T51" fmla="*/ 107 h 479"/>
                  <a:gd name="T52" fmla="*/ 43 w 837"/>
                  <a:gd name="T53" fmla="*/ 127 h 479"/>
                  <a:gd name="T54" fmla="*/ 66 w 837"/>
                  <a:gd name="T55" fmla="*/ 149 h 479"/>
                  <a:gd name="T56" fmla="*/ 90 w 837"/>
                  <a:gd name="T57" fmla="*/ 170 h 479"/>
                  <a:gd name="T58" fmla="*/ 114 w 837"/>
                  <a:gd name="T59" fmla="*/ 190 h 479"/>
                  <a:gd name="T60" fmla="*/ 139 w 837"/>
                  <a:gd name="T61" fmla="*/ 208 h 479"/>
                  <a:gd name="T62" fmla="*/ 162 w 837"/>
                  <a:gd name="T63" fmla="*/ 224 h 479"/>
                  <a:gd name="T64" fmla="*/ 187 w 837"/>
                  <a:gd name="T65" fmla="*/ 237 h 479"/>
                  <a:gd name="T66" fmla="*/ 203 w 837"/>
                  <a:gd name="T67" fmla="*/ 239 h 479"/>
                  <a:gd name="T68" fmla="*/ 218 w 837"/>
                  <a:gd name="T69" fmla="*/ 238 h 479"/>
                  <a:gd name="T70" fmla="*/ 228 w 837"/>
                  <a:gd name="T71" fmla="*/ 231 h 479"/>
                  <a:gd name="T72" fmla="*/ 238 w 837"/>
                  <a:gd name="T73" fmla="*/ 222 h 479"/>
                  <a:gd name="T74" fmla="*/ 242 w 837"/>
                  <a:gd name="T75" fmla="*/ 208 h 479"/>
                  <a:gd name="T76" fmla="*/ 244 w 837"/>
                  <a:gd name="T77" fmla="*/ 191 h 479"/>
                  <a:gd name="T78" fmla="*/ 241 w 837"/>
                  <a:gd name="T79" fmla="*/ 170 h 479"/>
                  <a:gd name="T80" fmla="*/ 236 w 837"/>
                  <a:gd name="T81" fmla="*/ 147 h 479"/>
                  <a:gd name="T82" fmla="*/ 258 w 837"/>
                  <a:gd name="T83" fmla="*/ 116 h 479"/>
                  <a:gd name="T84" fmla="*/ 279 w 837"/>
                  <a:gd name="T85" fmla="*/ 98 h 479"/>
                  <a:gd name="T86" fmla="*/ 298 w 837"/>
                  <a:gd name="T87" fmla="*/ 90 h 479"/>
                  <a:gd name="T88" fmla="*/ 317 w 837"/>
                  <a:gd name="T89" fmla="*/ 90 h 479"/>
                  <a:gd name="T90" fmla="*/ 337 w 837"/>
                  <a:gd name="T91" fmla="*/ 94 h 479"/>
                  <a:gd name="T92" fmla="*/ 361 w 837"/>
                  <a:gd name="T93" fmla="*/ 100 h 479"/>
                  <a:gd name="T94" fmla="*/ 387 w 837"/>
                  <a:gd name="T95" fmla="*/ 106 h 479"/>
                  <a:gd name="T96" fmla="*/ 419 w 837"/>
                  <a:gd name="T97" fmla="*/ 108 h 479"/>
                  <a:gd name="T98" fmla="*/ 401 w 837"/>
                  <a:gd name="T99" fmla="*/ 94 h 479"/>
                  <a:gd name="T100" fmla="*/ 383 w 837"/>
                  <a:gd name="T101" fmla="*/ 81 h 479"/>
                  <a:gd name="T102" fmla="*/ 366 w 837"/>
                  <a:gd name="T103" fmla="*/ 67 h 479"/>
                  <a:gd name="T104" fmla="*/ 348 w 837"/>
                  <a:gd name="T105" fmla="*/ 54 h 479"/>
                  <a:gd name="T106" fmla="*/ 330 w 837"/>
                  <a:gd name="T107" fmla="*/ 39 h 479"/>
                  <a:gd name="T108" fmla="*/ 312 w 837"/>
                  <a:gd name="T109" fmla="*/ 25 h 479"/>
                  <a:gd name="T110" fmla="*/ 294 w 837"/>
                  <a:gd name="T111" fmla="*/ 12 h 479"/>
                  <a:gd name="T112" fmla="*/ 277 w 837"/>
                  <a:gd name="T113" fmla="*/ 0 h 4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9"/>
                  <a:gd name="T173" fmla="*/ 837 w 837"/>
                  <a:gd name="T174" fmla="*/ 479 h 4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9">
                    <a:moveTo>
                      <a:pt x="554" y="0"/>
                    </a:moveTo>
                    <a:lnTo>
                      <a:pt x="496" y="21"/>
                    </a:lnTo>
                    <a:lnTo>
                      <a:pt x="450" y="41"/>
                    </a:lnTo>
                    <a:lnTo>
                      <a:pt x="412" y="59"/>
                    </a:lnTo>
                    <a:lnTo>
                      <a:pt x="381" y="80"/>
                    </a:lnTo>
                    <a:lnTo>
                      <a:pt x="349" y="104"/>
                    </a:lnTo>
                    <a:lnTo>
                      <a:pt x="321" y="134"/>
                    </a:lnTo>
                    <a:lnTo>
                      <a:pt x="289" y="172"/>
                    </a:lnTo>
                    <a:lnTo>
                      <a:pt x="254" y="222"/>
                    </a:lnTo>
                    <a:lnTo>
                      <a:pt x="235" y="208"/>
                    </a:lnTo>
                    <a:lnTo>
                      <a:pt x="217" y="194"/>
                    </a:lnTo>
                    <a:lnTo>
                      <a:pt x="196" y="179"/>
                    </a:lnTo>
                    <a:lnTo>
                      <a:pt x="176" y="165"/>
                    </a:lnTo>
                    <a:lnTo>
                      <a:pt x="155" y="150"/>
                    </a:lnTo>
                    <a:lnTo>
                      <a:pt x="135" y="136"/>
                    </a:lnTo>
                    <a:lnTo>
                      <a:pt x="115" y="121"/>
                    </a:lnTo>
                    <a:lnTo>
                      <a:pt x="99" y="110"/>
                    </a:lnTo>
                    <a:lnTo>
                      <a:pt x="90" y="116"/>
                    </a:lnTo>
                    <a:lnTo>
                      <a:pt x="79" y="124"/>
                    </a:lnTo>
                    <a:lnTo>
                      <a:pt x="64" y="133"/>
                    </a:lnTo>
                    <a:lnTo>
                      <a:pt x="49" y="143"/>
                    </a:lnTo>
                    <a:lnTo>
                      <a:pt x="32" y="150"/>
                    </a:lnTo>
                    <a:lnTo>
                      <a:pt x="18" y="159"/>
                    </a:lnTo>
                    <a:lnTo>
                      <a:pt x="7" y="166"/>
                    </a:lnTo>
                    <a:lnTo>
                      <a:pt x="0" y="175"/>
                    </a:lnTo>
                    <a:lnTo>
                      <a:pt x="40" y="214"/>
                    </a:lnTo>
                    <a:lnTo>
                      <a:pt x="85" y="255"/>
                    </a:lnTo>
                    <a:lnTo>
                      <a:pt x="131" y="298"/>
                    </a:lnTo>
                    <a:lnTo>
                      <a:pt x="180" y="341"/>
                    </a:lnTo>
                    <a:lnTo>
                      <a:pt x="228" y="381"/>
                    </a:lnTo>
                    <a:lnTo>
                      <a:pt x="277" y="417"/>
                    </a:lnTo>
                    <a:lnTo>
                      <a:pt x="324" y="448"/>
                    </a:lnTo>
                    <a:lnTo>
                      <a:pt x="373" y="474"/>
                    </a:lnTo>
                    <a:lnTo>
                      <a:pt x="406" y="479"/>
                    </a:lnTo>
                    <a:lnTo>
                      <a:pt x="435" y="476"/>
                    </a:lnTo>
                    <a:lnTo>
                      <a:pt x="456" y="463"/>
                    </a:lnTo>
                    <a:lnTo>
                      <a:pt x="475" y="445"/>
                    </a:lnTo>
                    <a:lnTo>
                      <a:pt x="484" y="417"/>
                    </a:lnTo>
                    <a:lnTo>
                      <a:pt x="487" y="382"/>
                    </a:lnTo>
                    <a:lnTo>
                      <a:pt x="482" y="341"/>
                    </a:lnTo>
                    <a:lnTo>
                      <a:pt x="471" y="294"/>
                    </a:lnTo>
                    <a:lnTo>
                      <a:pt x="516" y="232"/>
                    </a:lnTo>
                    <a:lnTo>
                      <a:pt x="558" y="197"/>
                    </a:lnTo>
                    <a:lnTo>
                      <a:pt x="595" y="180"/>
                    </a:lnTo>
                    <a:lnTo>
                      <a:pt x="634" y="180"/>
                    </a:lnTo>
                    <a:lnTo>
                      <a:pt x="674" y="188"/>
                    </a:lnTo>
                    <a:lnTo>
                      <a:pt x="721" y="200"/>
                    </a:lnTo>
                    <a:lnTo>
                      <a:pt x="773" y="212"/>
                    </a:lnTo>
                    <a:lnTo>
                      <a:pt x="837" y="217"/>
                    </a:lnTo>
                    <a:lnTo>
                      <a:pt x="801" y="189"/>
                    </a:lnTo>
                    <a:lnTo>
                      <a:pt x="766" y="163"/>
                    </a:lnTo>
                    <a:lnTo>
                      <a:pt x="731" y="135"/>
                    </a:lnTo>
                    <a:lnTo>
                      <a:pt x="696" y="108"/>
                    </a:lnTo>
                    <a:lnTo>
                      <a:pt x="659" y="79"/>
                    </a:lnTo>
                    <a:lnTo>
                      <a:pt x="624" y="51"/>
                    </a:lnTo>
                    <a:lnTo>
                      <a:pt x="588" y="25"/>
                    </a:lnTo>
                    <a:lnTo>
                      <a:pt x="554" y="0"/>
                    </a:lnTo>
                    <a:close/>
                  </a:path>
                </a:pathLst>
              </a:custGeom>
              <a:solidFill>
                <a:srgbClr val="96A8A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7" name="Freeform 596">
                <a:extLst>
                  <a:ext uri="{FF2B5EF4-FFF2-40B4-BE49-F238E27FC236}">
                    <a16:creationId xmlns:a16="http://schemas.microsoft.com/office/drawing/2014/main" id="{E4EEEDC5-482F-8F4A-8DA2-1B7E9A87B891}"/>
                  </a:ext>
                </a:extLst>
              </p:cNvPr>
              <p:cNvSpPr>
                <a:spLocks/>
              </p:cNvSpPr>
              <p:nvPr/>
            </p:nvSpPr>
            <p:spPr bwMode="auto">
              <a:xfrm>
                <a:off x="4151" y="3651"/>
                <a:ext cx="419" cy="235"/>
              </a:xfrm>
              <a:custGeom>
                <a:avLst/>
                <a:gdLst>
                  <a:gd name="T0" fmla="*/ 283 w 837"/>
                  <a:gd name="T1" fmla="*/ 0 h 470"/>
                  <a:gd name="T2" fmla="*/ 253 w 837"/>
                  <a:gd name="T3" fmla="*/ 11 h 470"/>
                  <a:gd name="T4" fmla="*/ 230 w 837"/>
                  <a:gd name="T5" fmla="*/ 22 h 470"/>
                  <a:gd name="T6" fmla="*/ 210 w 837"/>
                  <a:gd name="T7" fmla="*/ 30 h 470"/>
                  <a:gd name="T8" fmla="*/ 194 w 837"/>
                  <a:gd name="T9" fmla="*/ 42 h 470"/>
                  <a:gd name="T10" fmla="*/ 178 w 837"/>
                  <a:gd name="T11" fmla="*/ 55 h 470"/>
                  <a:gd name="T12" fmla="*/ 164 w 837"/>
                  <a:gd name="T13" fmla="*/ 70 h 470"/>
                  <a:gd name="T14" fmla="*/ 147 w 837"/>
                  <a:gd name="T15" fmla="*/ 90 h 470"/>
                  <a:gd name="T16" fmla="*/ 130 w 837"/>
                  <a:gd name="T17" fmla="*/ 115 h 470"/>
                  <a:gd name="T18" fmla="*/ 120 w 837"/>
                  <a:gd name="T19" fmla="*/ 107 h 470"/>
                  <a:gd name="T20" fmla="*/ 110 w 837"/>
                  <a:gd name="T21" fmla="*/ 101 h 470"/>
                  <a:gd name="T22" fmla="*/ 98 w 837"/>
                  <a:gd name="T23" fmla="*/ 93 h 470"/>
                  <a:gd name="T24" fmla="*/ 87 w 837"/>
                  <a:gd name="T25" fmla="*/ 86 h 470"/>
                  <a:gd name="T26" fmla="*/ 75 w 837"/>
                  <a:gd name="T27" fmla="*/ 77 h 470"/>
                  <a:gd name="T28" fmla="*/ 64 w 837"/>
                  <a:gd name="T29" fmla="*/ 70 h 470"/>
                  <a:gd name="T30" fmla="*/ 53 w 837"/>
                  <a:gd name="T31" fmla="*/ 62 h 470"/>
                  <a:gd name="T32" fmla="*/ 45 w 837"/>
                  <a:gd name="T33" fmla="*/ 57 h 470"/>
                  <a:gd name="T34" fmla="*/ 41 w 837"/>
                  <a:gd name="T35" fmla="*/ 59 h 470"/>
                  <a:gd name="T36" fmla="*/ 36 w 837"/>
                  <a:gd name="T37" fmla="*/ 63 h 470"/>
                  <a:gd name="T38" fmla="*/ 29 w 837"/>
                  <a:gd name="T39" fmla="*/ 67 h 470"/>
                  <a:gd name="T40" fmla="*/ 23 w 837"/>
                  <a:gd name="T41" fmla="*/ 70 h 470"/>
                  <a:gd name="T42" fmla="*/ 15 w 837"/>
                  <a:gd name="T43" fmla="*/ 74 h 470"/>
                  <a:gd name="T44" fmla="*/ 9 w 837"/>
                  <a:gd name="T45" fmla="*/ 77 h 470"/>
                  <a:gd name="T46" fmla="*/ 3 w 837"/>
                  <a:gd name="T47" fmla="*/ 81 h 470"/>
                  <a:gd name="T48" fmla="*/ 0 w 837"/>
                  <a:gd name="T49" fmla="*/ 85 h 470"/>
                  <a:gd name="T50" fmla="*/ 20 w 837"/>
                  <a:gd name="T51" fmla="*/ 104 h 470"/>
                  <a:gd name="T52" fmla="*/ 43 w 837"/>
                  <a:gd name="T53" fmla="*/ 124 h 470"/>
                  <a:gd name="T54" fmla="*/ 66 w 837"/>
                  <a:gd name="T55" fmla="*/ 146 h 470"/>
                  <a:gd name="T56" fmla="*/ 90 w 837"/>
                  <a:gd name="T57" fmla="*/ 168 h 470"/>
                  <a:gd name="T58" fmla="*/ 114 w 837"/>
                  <a:gd name="T59" fmla="*/ 187 h 470"/>
                  <a:gd name="T60" fmla="*/ 139 w 837"/>
                  <a:gd name="T61" fmla="*/ 205 h 470"/>
                  <a:gd name="T62" fmla="*/ 162 w 837"/>
                  <a:gd name="T63" fmla="*/ 220 h 470"/>
                  <a:gd name="T64" fmla="*/ 187 w 837"/>
                  <a:gd name="T65" fmla="*/ 233 h 470"/>
                  <a:gd name="T66" fmla="*/ 203 w 837"/>
                  <a:gd name="T67" fmla="*/ 235 h 470"/>
                  <a:gd name="T68" fmla="*/ 216 w 837"/>
                  <a:gd name="T69" fmla="*/ 234 h 470"/>
                  <a:gd name="T70" fmla="*/ 227 w 837"/>
                  <a:gd name="T71" fmla="*/ 228 h 470"/>
                  <a:gd name="T72" fmla="*/ 236 w 837"/>
                  <a:gd name="T73" fmla="*/ 220 h 470"/>
                  <a:gd name="T74" fmla="*/ 241 w 837"/>
                  <a:gd name="T75" fmla="*/ 206 h 470"/>
                  <a:gd name="T76" fmla="*/ 243 w 837"/>
                  <a:gd name="T77" fmla="*/ 189 h 470"/>
                  <a:gd name="T78" fmla="*/ 241 w 837"/>
                  <a:gd name="T79" fmla="*/ 168 h 470"/>
                  <a:gd name="T80" fmla="*/ 236 w 837"/>
                  <a:gd name="T81" fmla="*/ 144 h 470"/>
                  <a:gd name="T82" fmla="*/ 258 w 837"/>
                  <a:gd name="T83" fmla="*/ 113 h 470"/>
                  <a:gd name="T84" fmla="*/ 279 w 837"/>
                  <a:gd name="T85" fmla="*/ 96 h 470"/>
                  <a:gd name="T86" fmla="*/ 298 w 837"/>
                  <a:gd name="T87" fmla="*/ 87 h 470"/>
                  <a:gd name="T88" fmla="*/ 317 w 837"/>
                  <a:gd name="T89" fmla="*/ 87 h 470"/>
                  <a:gd name="T90" fmla="*/ 337 w 837"/>
                  <a:gd name="T91" fmla="*/ 91 h 470"/>
                  <a:gd name="T92" fmla="*/ 361 w 837"/>
                  <a:gd name="T93" fmla="*/ 97 h 470"/>
                  <a:gd name="T94" fmla="*/ 387 w 837"/>
                  <a:gd name="T95" fmla="*/ 103 h 470"/>
                  <a:gd name="T96" fmla="*/ 419 w 837"/>
                  <a:gd name="T97" fmla="*/ 106 h 470"/>
                  <a:gd name="T98" fmla="*/ 401 w 837"/>
                  <a:gd name="T99" fmla="*/ 92 h 470"/>
                  <a:gd name="T100" fmla="*/ 384 w 837"/>
                  <a:gd name="T101" fmla="*/ 79 h 470"/>
                  <a:gd name="T102" fmla="*/ 367 w 837"/>
                  <a:gd name="T103" fmla="*/ 66 h 470"/>
                  <a:gd name="T104" fmla="*/ 351 w 837"/>
                  <a:gd name="T105" fmla="*/ 53 h 470"/>
                  <a:gd name="T106" fmla="*/ 334 w 837"/>
                  <a:gd name="T107" fmla="*/ 39 h 470"/>
                  <a:gd name="T108" fmla="*/ 317 w 837"/>
                  <a:gd name="T109" fmla="*/ 26 h 470"/>
                  <a:gd name="T110" fmla="*/ 300 w 837"/>
                  <a:gd name="T111" fmla="*/ 13 h 470"/>
                  <a:gd name="T112" fmla="*/ 283 w 837"/>
                  <a:gd name="T113" fmla="*/ 0 h 4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70"/>
                  <a:gd name="T173" fmla="*/ 837 w 837"/>
                  <a:gd name="T174" fmla="*/ 470 h 4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70">
                    <a:moveTo>
                      <a:pt x="565" y="0"/>
                    </a:moveTo>
                    <a:lnTo>
                      <a:pt x="506" y="21"/>
                    </a:lnTo>
                    <a:lnTo>
                      <a:pt x="460" y="43"/>
                    </a:lnTo>
                    <a:lnTo>
                      <a:pt x="420" y="61"/>
                    </a:lnTo>
                    <a:lnTo>
                      <a:pt x="387" y="84"/>
                    </a:lnTo>
                    <a:lnTo>
                      <a:pt x="356" y="109"/>
                    </a:lnTo>
                    <a:lnTo>
                      <a:pt x="327" y="140"/>
                    </a:lnTo>
                    <a:lnTo>
                      <a:pt x="294" y="179"/>
                    </a:lnTo>
                    <a:lnTo>
                      <a:pt x="259" y="229"/>
                    </a:lnTo>
                    <a:lnTo>
                      <a:pt x="240" y="214"/>
                    </a:lnTo>
                    <a:lnTo>
                      <a:pt x="220" y="201"/>
                    </a:lnTo>
                    <a:lnTo>
                      <a:pt x="196" y="186"/>
                    </a:lnTo>
                    <a:lnTo>
                      <a:pt x="174" y="171"/>
                    </a:lnTo>
                    <a:lnTo>
                      <a:pt x="150" y="154"/>
                    </a:lnTo>
                    <a:lnTo>
                      <a:pt x="128" y="139"/>
                    </a:lnTo>
                    <a:lnTo>
                      <a:pt x="106" y="125"/>
                    </a:lnTo>
                    <a:lnTo>
                      <a:pt x="90" y="113"/>
                    </a:lnTo>
                    <a:lnTo>
                      <a:pt x="81" y="119"/>
                    </a:lnTo>
                    <a:lnTo>
                      <a:pt x="71" y="127"/>
                    </a:lnTo>
                    <a:lnTo>
                      <a:pt x="57" y="133"/>
                    </a:lnTo>
                    <a:lnTo>
                      <a:pt x="45" y="140"/>
                    </a:lnTo>
                    <a:lnTo>
                      <a:pt x="30" y="147"/>
                    </a:lnTo>
                    <a:lnTo>
                      <a:pt x="17" y="154"/>
                    </a:lnTo>
                    <a:lnTo>
                      <a:pt x="6" y="162"/>
                    </a:lnTo>
                    <a:lnTo>
                      <a:pt x="0" y="169"/>
                    </a:lnTo>
                    <a:lnTo>
                      <a:pt x="40" y="208"/>
                    </a:lnTo>
                    <a:lnTo>
                      <a:pt x="85" y="249"/>
                    </a:lnTo>
                    <a:lnTo>
                      <a:pt x="131" y="292"/>
                    </a:lnTo>
                    <a:lnTo>
                      <a:pt x="180" y="335"/>
                    </a:lnTo>
                    <a:lnTo>
                      <a:pt x="228" y="374"/>
                    </a:lnTo>
                    <a:lnTo>
                      <a:pt x="277" y="410"/>
                    </a:lnTo>
                    <a:lnTo>
                      <a:pt x="324" y="440"/>
                    </a:lnTo>
                    <a:lnTo>
                      <a:pt x="373" y="465"/>
                    </a:lnTo>
                    <a:lnTo>
                      <a:pt x="405" y="470"/>
                    </a:lnTo>
                    <a:lnTo>
                      <a:pt x="432" y="468"/>
                    </a:lnTo>
                    <a:lnTo>
                      <a:pt x="454" y="456"/>
                    </a:lnTo>
                    <a:lnTo>
                      <a:pt x="472" y="439"/>
                    </a:lnTo>
                    <a:lnTo>
                      <a:pt x="482" y="411"/>
                    </a:lnTo>
                    <a:lnTo>
                      <a:pt x="486" y="377"/>
                    </a:lnTo>
                    <a:lnTo>
                      <a:pt x="482" y="336"/>
                    </a:lnTo>
                    <a:lnTo>
                      <a:pt x="471" y="288"/>
                    </a:lnTo>
                    <a:lnTo>
                      <a:pt x="516" y="226"/>
                    </a:lnTo>
                    <a:lnTo>
                      <a:pt x="558" y="191"/>
                    </a:lnTo>
                    <a:lnTo>
                      <a:pt x="595" y="174"/>
                    </a:lnTo>
                    <a:lnTo>
                      <a:pt x="634" y="174"/>
                    </a:lnTo>
                    <a:lnTo>
                      <a:pt x="674" y="182"/>
                    </a:lnTo>
                    <a:lnTo>
                      <a:pt x="721" y="194"/>
                    </a:lnTo>
                    <a:lnTo>
                      <a:pt x="773" y="206"/>
                    </a:lnTo>
                    <a:lnTo>
                      <a:pt x="837" y="211"/>
                    </a:lnTo>
                    <a:lnTo>
                      <a:pt x="802" y="184"/>
                    </a:lnTo>
                    <a:lnTo>
                      <a:pt x="768" y="158"/>
                    </a:lnTo>
                    <a:lnTo>
                      <a:pt x="734" y="132"/>
                    </a:lnTo>
                    <a:lnTo>
                      <a:pt x="701" y="105"/>
                    </a:lnTo>
                    <a:lnTo>
                      <a:pt x="667" y="78"/>
                    </a:lnTo>
                    <a:lnTo>
                      <a:pt x="633" y="51"/>
                    </a:lnTo>
                    <a:lnTo>
                      <a:pt x="599" y="25"/>
                    </a:lnTo>
                    <a:lnTo>
                      <a:pt x="565" y="0"/>
                    </a:lnTo>
                    <a:close/>
                  </a:path>
                </a:pathLst>
              </a:custGeom>
              <a:solidFill>
                <a:srgbClr val="9E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8" name="Freeform 597">
                <a:extLst>
                  <a:ext uri="{FF2B5EF4-FFF2-40B4-BE49-F238E27FC236}">
                    <a16:creationId xmlns:a16="http://schemas.microsoft.com/office/drawing/2014/main" id="{80CF5CFF-A563-5A47-8EB6-F9EA97A8E2DB}"/>
                  </a:ext>
                </a:extLst>
              </p:cNvPr>
              <p:cNvSpPr>
                <a:spLocks/>
              </p:cNvSpPr>
              <p:nvPr/>
            </p:nvSpPr>
            <p:spPr bwMode="auto">
              <a:xfrm>
                <a:off x="4151" y="3655"/>
                <a:ext cx="419" cy="230"/>
              </a:xfrm>
              <a:custGeom>
                <a:avLst/>
                <a:gdLst>
                  <a:gd name="T0" fmla="*/ 287 w 837"/>
                  <a:gd name="T1" fmla="*/ 0 h 460"/>
                  <a:gd name="T2" fmla="*/ 257 w 837"/>
                  <a:gd name="T3" fmla="*/ 11 h 460"/>
                  <a:gd name="T4" fmla="*/ 234 w 837"/>
                  <a:gd name="T5" fmla="*/ 21 h 460"/>
                  <a:gd name="T6" fmla="*/ 214 w 837"/>
                  <a:gd name="T7" fmla="*/ 30 h 460"/>
                  <a:gd name="T8" fmla="*/ 198 w 837"/>
                  <a:gd name="T9" fmla="*/ 43 h 460"/>
                  <a:gd name="T10" fmla="*/ 181 w 837"/>
                  <a:gd name="T11" fmla="*/ 56 h 460"/>
                  <a:gd name="T12" fmla="*/ 166 w 837"/>
                  <a:gd name="T13" fmla="*/ 72 h 460"/>
                  <a:gd name="T14" fmla="*/ 150 w 837"/>
                  <a:gd name="T15" fmla="*/ 92 h 460"/>
                  <a:gd name="T16" fmla="*/ 132 w 837"/>
                  <a:gd name="T17" fmla="*/ 117 h 460"/>
                  <a:gd name="T18" fmla="*/ 122 w 837"/>
                  <a:gd name="T19" fmla="*/ 110 h 460"/>
                  <a:gd name="T20" fmla="*/ 111 w 837"/>
                  <a:gd name="T21" fmla="*/ 102 h 460"/>
                  <a:gd name="T22" fmla="*/ 98 w 837"/>
                  <a:gd name="T23" fmla="*/ 94 h 460"/>
                  <a:gd name="T24" fmla="*/ 87 w 837"/>
                  <a:gd name="T25" fmla="*/ 87 h 460"/>
                  <a:gd name="T26" fmla="*/ 73 w 837"/>
                  <a:gd name="T27" fmla="*/ 78 h 460"/>
                  <a:gd name="T28" fmla="*/ 61 w 837"/>
                  <a:gd name="T29" fmla="*/ 70 h 460"/>
                  <a:gd name="T30" fmla="*/ 50 w 837"/>
                  <a:gd name="T31" fmla="*/ 62 h 460"/>
                  <a:gd name="T32" fmla="*/ 41 w 837"/>
                  <a:gd name="T33" fmla="*/ 56 h 460"/>
                  <a:gd name="T34" fmla="*/ 37 w 837"/>
                  <a:gd name="T35" fmla="*/ 58 h 460"/>
                  <a:gd name="T36" fmla="*/ 32 w 837"/>
                  <a:gd name="T37" fmla="*/ 61 h 460"/>
                  <a:gd name="T38" fmla="*/ 26 w 837"/>
                  <a:gd name="T39" fmla="*/ 65 h 460"/>
                  <a:gd name="T40" fmla="*/ 20 w 837"/>
                  <a:gd name="T41" fmla="*/ 68 h 460"/>
                  <a:gd name="T42" fmla="*/ 14 w 837"/>
                  <a:gd name="T43" fmla="*/ 70 h 460"/>
                  <a:gd name="T44" fmla="*/ 8 w 837"/>
                  <a:gd name="T45" fmla="*/ 73 h 460"/>
                  <a:gd name="T46" fmla="*/ 3 w 837"/>
                  <a:gd name="T47" fmla="*/ 77 h 460"/>
                  <a:gd name="T48" fmla="*/ 0 w 837"/>
                  <a:gd name="T49" fmla="*/ 80 h 460"/>
                  <a:gd name="T50" fmla="*/ 20 w 837"/>
                  <a:gd name="T51" fmla="*/ 100 h 460"/>
                  <a:gd name="T52" fmla="*/ 43 w 837"/>
                  <a:gd name="T53" fmla="*/ 120 h 460"/>
                  <a:gd name="T54" fmla="*/ 66 w 837"/>
                  <a:gd name="T55" fmla="*/ 141 h 460"/>
                  <a:gd name="T56" fmla="*/ 90 w 837"/>
                  <a:gd name="T57" fmla="*/ 162 h 460"/>
                  <a:gd name="T58" fmla="*/ 114 w 837"/>
                  <a:gd name="T59" fmla="*/ 182 h 460"/>
                  <a:gd name="T60" fmla="*/ 139 w 837"/>
                  <a:gd name="T61" fmla="*/ 199 h 460"/>
                  <a:gd name="T62" fmla="*/ 162 w 837"/>
                  <a:gd name="T63" fmla="*/ 215 h 460"/>
                  <a:gd name="T64" fmla="*/ 187 w 837"/>
                  <a:gd name="T65" fmla="*/ 228 h 460"/>
                  <a:gd name="T66" fmla="*/ 202 w 837"/>
                  <a:gd name="T67" fmla="*/ 230 h 460"/>
                  <a:gd name="T68" fmla="*/ 216 w 837"/>
                  <a:gd name="T69" fmla="*/ 229 h 460"/>
                  <a:gd name="T70" fmla="*/ 226 w 837"/>
                  <a:gd name="T71" fmla="*/ 224 h 460"/>
                  <a:gd name="T72" fmla="*/ 235 w 837"/>
                  <a:gd name="T73" fmla="*/ 215 h 460"/>
                  <a:gd name="T74" fmla="*/ 240 w 837"/>
                  <a:gd name="T75" fmla="*/ 202 h 460"/>
                  <a:gd name="T76" fmla="*/ 243 w 837"/>
                  <a:gd name="T77" fmla="*/ 185 h 460"/>
                  <a:gd name="T78" fmla="*/ 241 w 837"/>
                  <a:gd name="T79" fmla="*/ 164 h 460"/>
                  <a:gd name="T80" fmla="*/ 236 w 837"/>
                  <a:gd name="T81" fmla="*/ 140 h 460"/>
                  <a:gd name="T82" fmla="*/ 258 w 837"/>
                  <a:gd name="T83" fmla="*/ 109 h 460"/>
                  <a:gd name="T84" fmla="*/ 279 w 837"/>
                  <a:gd name="T85" fmla="*/ 91 h 460"/>
                  <a:gd name="T86" fmla="*/ 298 w 837"/>
                  <a:gd name="T87" fmla="*/ 83 h 460"/>
                  <a:gd name="T88" fmla="*/ 317 w 837"/>
                  <a:gd name="T89" fmla="*/ 83 h 460"/>
                  <a:gd name="T90" fmla="*/ 337 w 837"/>
                  <a:gd name="T91" fmla="*/ 87 h 460"/>
                  <a:gd name="T92" fmla="*/ 361 w 837"/>
                  <a:gd name="T93" fmla="*/ 93 h 460"/>
                  <a:gd name="T94" fmla="*/ 387 w 837"/>
                  <a:gd name="T95" fmla="*/ 99 h 460"/>
                  <a:gd name="T96" fmla="*/ 419 w 837"/>
                  <a:gd name="T97" fmla="*/ 101 h 460"/>
                  <a:gd name="T98" fmla="*/ 401 w 837"/>
                  <a:gd name="T99" fmla="*/ 88 h 460"/>
                  <a:gd name="T100" fmla="*/ 385 w 837"/>
                  <a:gd name="T101" fmla="*/ 75 h 460"/>
                  <a:gd name="T102" fmla="*/ 369 w 837"/>
                  <a:gd name="T103" fmla="*/ 62 h 460"/>
                  <a:gd name="T104" fmla="*/ 353 w 837"/>
                  <a:gd name="T105" fmla="*/ 50 h 460"/>
                  <a:gd name="T106" fmla="*/ 337 w 837"/>
                  <a:gd name="T107" fmla="*/ 37 h 460"/>
                  <a:gd name="T108" fmla="*/ 320 w 837"/>
                  <a:gd name="T109" fmla="*/ 25 h 460"/>
                  <a:gd name="T110" fmla="*/ 304 w 837"/>
                  <a:gd name="T111" fmla="*/ 12 h 460"/>
                  <a:gd name="T112" fmla="*/ 287 w 837"/>
                  <a:gd name="T113" fmla="*/ 0 h 46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60"/>
                  <a:gd name="T173" fmla="*/ 837 w 837"/>
                  <a:gd name="T174" fmla="*/ 460 h 46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60">
                    <a:moveTo>
                      <a:pt x="573" y="0"/>
                    </a:moveTo>
                    <a:lnTo>
                      <a:pt x="514" y="21"/>
                    </a:lnTo>
                    <a:lnTo>
                      <a:pt x="467" y="42"/>
                    </a:lnTo>
                    <a:lnTo>
                      <a:pt x="427" y="61"/>
                    </a:lnTo>
                    <a:lnTo>
                      <a:pt x="395" y="85"/>
                    </a:lnTo>
                    <a:lnTo>
                      <a:pt x="362" y="111"/>
                    </a:lnTo>
                    <a:lnTo>
                      <a:pt x="332" y="144"/>
                    </a:lnTo>
                    <a:lnTo>
                      <a:pt x="299" y="183"/>
                    </a:lnTo>
                    <a:lnTo>
                      <a:pt x="263" y="234"/>
                    </a:lnTo>
                    <a:lnTo>
                      <a:pt x="244" y="219"/>
                    </a:lnTo>
                    <a:lnTo>
                      <a:pt x="222" y="204"/>
                    </a:lnTo>
                    <a:lnTo>
                      <a:pt x="196" y="188"/>
                    </a:lnTo>
                    <a:lnTo>
                      <a:pt x="173" y="173"/>
                    </a:lnTo>
                    <a:lnTo>
                      <a:pt x="146" y="155"/>
                    </a:lnTo>
                    <a:lnTo>
                      <a:pt x="121" y="139"/>
                    </a:lnTo>
                    <a:lnTo>
                      <a:pt x="100" y="124"/>
                    </a:lnTo>
                    <a:lnTo>
                      <a:pt x="82" y="111"/>
                    </a:lnTo>
                    <a:lnTo>
                      <a:pt x="74" y="116"/>
                    </a:lnTo>
                    <a:lnTo>
                      <a:pt x="64" y="123"/>
                    </a:lnTo>
                    <a:lnTo>
                      <a:pt x="51" y="129"/>
                    </a:lnTo>
                    <a:lnTo>
                      <a:pt x="40" y="135"/>
                    </a:lnTo>
                    <a:lnTo>
                      <a:pt x="27" y="140"/>
                    </a:lnTo>
                    <a:lnTo>
                      <a:pt x="16" y="146"/>
                    </a:lnTo>
                    <a:lnTo>
                      <a:pt x="6" y="153"/>
                    </a:lnTo>
                    <a:lnTo>
                      <a:pt x="0" y="160"/>
                    </a:lnTo>
                    <a:lnTo>
                      <a:pt x="40" y="199"/>
                    </a:lnTo>
                    <a:lnTo>
                      <a:pt x="85" y="240"/>
                    </a:lnTo>
                    <a:lnTo>
                      <a:pt x="131" y="282"/>
                    </a:lnTo>
                    <a:lnTo>
                      <a:pt x="180" y="324"/>
                    </a:lnTo>
                    <a:lnTo>
                      <a:pt x="228" y="363"/>
                    </a:lnTo>
                    <a:lnTo>
                      <a:pt x="277" y="398"/>
                    </a:lnTo>
                    <a:lnTo>
                      <a:pt x="324" y="430"/>
                    </a:lnTo>
                    <a:lnTo>
                      <a:pt x="373" y="455"/>
                    </a:lnTo>
                    <a:lnTo>
                      <a:pt x="403" y="460"/>
                    </a:lnTo>
                    <a:lnTo>
                      <a:pt x="431" y="457"/>
                    </a:lnTo>
                    <a:lnTo>
                      <a:pt x="452" y="447"/>
                    </a:lnTo>
                    <a:lnTo>
                      <a:pt x="470" y="430"/>
                    </a:lnTo>
                    <a:lnTo>
                      <a:pt x="480" y="403"/>
                    </a:lnTo>
                    <a:lnTo>
                      <a:pt x="485" y="370"/>
                    </a:lnTo>
                    <a:lnTo>
                      <a:pt x="481" y="328"/>
                    </a:lnTo>
                    <a:lnTo>
                      <a:pt x="471" y="279"/>
                    </a:lnTo>
                    <a:lnTo>
                      <a:pt x="516" y="217"/>
                    </a:lnTo>
                    <a:lnTo>
                      <a:pt x="558" y="182"/>
                    </a:lnTo>
                    <a:lnTo>
                      <a:pt x="595" y="165"/>
                    </a:lnTo>
                    <a:lnTo>
                      <a:pt x="634" y="165"/>
                    </a:lnTo>
                    <a:lnTo>
                      <a:pt x="674" y="173"/>
                    </a:lnTo>
                    <a:lnTo>
                      <a:pt x="721" y="185"/>
                    </a:lnTo>
                    <a:lnTo>
                      <a:pt x="773" y="197"/>
                    </a:lnTo>
                    <a:lnTo>
                      <a:pt x="837" y="202"/>
                    </a:lnTo>
                    <a:lnTo>
                      <a:pt x="802" y="175"/>
                    </a:lnTo>
                    <a:lnTo>
                      <a:pt x="770" y="150"/>
                    </a:lnTo>
                    <a:lnTo>
                      <a:pt x="737" y="124"/>
                    </a:lnTo>
                    <a:lnTo>
                      <a:pt x="706" y="99"/>
                    </a:lnTo>
                    <a:lnTo>
                      <a:pt x="673" y="73"/>
                    </a:lnTo>
                    <a:lnTo>
                      <a:pt x="640" y="49"/>
                    </a:lnTo>
                    <a:lnTo>
                      <a:pt x="607" y="24"/>
                    </a:lnTo>
                    <a:lnTo>
                      <a:pt x="573" y="0"/>
                    </a:lnTo>
                    <a:close/>
                  </a:path>
                </a:pathLst>
              </a:custGeom>
              <a:solidFill>
                <a:srgbClr val="A3B3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79" name="Freeform 598">
                <a:extLst>
                  <a:ext uri="{FF2B5EF4-FFF2-40B4-BE49-F238E27FC236}">
                    <a16:creationId xmlns:a16="http://schemas.microsoft.com/office/drawing/2014/main" id="{C1A8E1A7-5807-E441-B861-EE4D191A9CF3}"/>
                  </a:ext>
                </a:extLst>
              </p:cNvPr>
              <p:cNvSpPr>
                <a:spLocks/>
              </p:cNvSpPr>
              <p:nvPr/>
            </p:nvSpPr>
            <p:spPr bwMode="auto">
              <a:xfrm>
                <a:off x="4151" y="3659"/>
                <a:ext cx="419" cy="225"/>
              </a:xfrm>
              <a:custGeom>
                <a:avLst/>
                <a:gdLst>
                  <a:gd name="T0" fmla="*/ 292 w 837"/>
                  <a:gd name="T1" fmla="*/ 0 h 450"/>
                  <a:gd name="T2" fmla="*/ 263 w 837"/>
                  <a:gd name="T3" fmla="*/ 11 h 450"/>
                  <a:gd name="T4" fmla="*/ 239 w 837"/>
                  <a:gd name="T5" fmla="*/ 22 h 450"/>
                  <a:gd name="T6" fmla="*/ 218 w 837"/>
                  <a:gd name="T7" fmla="*/ 31 h 450"/>
                  <a:gd name="T8" fmla="*/ 201 w 837"/>
                  <a:gd name="T9" fmla="*/ 44 h 450"/>
                  <a:gd name="T10" fmla="*/ 184 w 837"/>
                  <a:gd name="T11" fmla="*/ 58 h 450"/>
                  <a:gd name="T12" fmla="*/ 169 w 837"/>
                  <a:gd name="T13" fmla="*/ 75 h 450"/>
                  <a:gd name="T14" fmla="*/ 152 w 837"/>
                  <a:gd name="T15" fmla="*/ 95 h 450"/>
                  <a:gd name="T16" fmla="*/ 134 w 837"/>
                  <a:gd name="T17" fmla="*/ 120 h 450"/>
                  <a:gd name="T18" fmla="*/ 124 w 837"/>
                  <a:gd name="T19" fmla="*/ 113 h 450"/>
                  <a:gd name="T20" fmla="*/ 113 w 837"/>
                  <a:gd name="T21" fmla="*/ 105 h 450"/>
                  <a:gd name="T22" fmla="*/ 99 w 837"/>
                  <a:gd name="T23" fmla="*/ 96 h 450"/>
                  <a:gd name="T24" fmla="*/ 85 w 837"/>
                  <a:gd name="T25" fmla="*/ 88 h 450"/>
                  <a:gd name="T26" fmla="*/ 71 w 837"/>
                  <a:gd name="T27" fmla="*/ 79 h 450"/>
                  <a:gd name="T28" fmla="*/ 58 w 837"/>
                  <a:gd name="T29" fmla="*/ 71 h 450"/>
                  <a:gd name="T30" fmla="*/ 46 w 837"/>
                  <a:gd name="T31" fmla="*/ 63 h 450"/>
                  <a:gd name="T32" fmla="*/ 37 w 837"/>
                  <a:gd name="T33" fmla="*/ 56 h 450"/>
                  <a:gd name="T34" fmla="*/ 33 w 837"/>
                  <a:gd name="T35" fmla="*/ 59 h 450"/>
                  <a:gd name="T36" fmla="*/ 28 w 837"/>
                  <a:gd name="T37" fmla="*/ 61 h 450"/>
                  <a:gd name="T38" fmla="*/ 23 w 837"/>
                  <a:gd name="T39" fmla="*/ 63 h 450"/>
                  <a:gd name="T40" fmla="*/ 18 w 837"/>
                  <a:gd name="T41" fmla="*/ 66 h 450"/>
                  <a:gd name="T42" fmla="*/ 13 w 837"/>
                  <a:gd name="T43" fmla="*/ 68 h 450"/>
                  <a:gd name="T44" fmla="*/ 8 w 837"/>
                  <a:gd name="T45" fmla="*/ 71 h 450"/>
                  <a:gd name="T46" fmla="*/ 3 w 837"/>
                  <a:gd name="T47" fmla="*/ 73 h 450"/>
                  <a:gd name="T48" fmla="*/ 0 w 837"/>
                  <a:gd name="T49" fmla="*/ 77 h 450"/>
                  <a:gd name="T50" fmla="*/ 20 w 837"/>
                  <a:gd name="T51" fmla="*/ 96 h 450"/>
                  <a:gd name="T52" fmla="*/ 43 w 837"/>
                  <a:gd name="T53" fmla="*/ 116 h 450"/>
                  <a:gd name="T54" fmla="*/ 66 w 837"/>
                  <a:gd name="T55" fmla="*/ 137 h 450"/>
                  <a:gd name="T56" fmla="*/ 90 w 837"/>
                  <a:gd name="T57" fmla="*/ 158 h 450"/>
                  <a:gd name="T58" fmla="*/ 115 w 837"/>
                  <a:gd name="T59" fmla="*/ 178 h 450"/>
                  <a:gd name="T60" fmla="*/ 139 w 837"/>
                  <a:gd name="T61" fmla="*/ 196 h 450"/>
                  <a:gd name="T62" fmla="*/ 163 w 837"/>
                  <a:gd name="T63" fmla="*/ 211 h 450"/>
                  <a:gd name="T64" fmla="*/ 187 w 837"/>
                  <a:gd name="T65" fmla="*/ 224 h 450"/>
                  <a:gd name="T66" fmla="*/ 201 w 837"/>
                  <a:gd name="T67" fmla="*/ 225 h 450"/>
                  <a:gd name="T68" fmla="*/ 214 w 837"/>
                  <a:gd name="T69" fmla="*/ 225 h 450"/>
                  <a:gd name="T70" fmla="*/ 225 w 837"/>
                  <a:gd name="T71" fmla="*/ 219 h 450"/>
                  <a:gd name="T72" fmla="*/ 235 w 837"/>
                  <a:gd name="T73" fmla="*/ 211 h 450"/>
                  <a:gd name="T74" fmla="*/ 240 w 837"/>
                  <a:gd name="T75" fmla="*/ 198 h 450"/>
                  <a:gd name="T76" fmla="*/ 242 w 837"/>
                  <a:gd name="T77" fmla="*/ 182 h 450"/>
                  <a:gd name="T78" fmla="*/ 241 w 837"/>
                  <a:gd name="T79" fmla="*/ 161 h 450"/>
                  <a:gd name="T80" fmla="*/ 236 w 837"/>
                  <a:gd name="T81" fmla="*/ 136 h 450"/>
                  <a:gd name="T82" fmla="*/ 258 w 837"/>
                  <a:gd name="T83" fmla="*/ 105 h 450"/>
                  <a:gd name="T84" fmla="*/ 279 w 837"/>
                  <a:gd name="T85" fmla="*/ 88 h 450"/>
                  <a:gd name="T86" fmla="*/ 298 w 837"/>
                  <a:gd name="T87" fmla="*/ 79 h 450"/>
                  <a:gd name="T88" fmla="*/ 317 w 837"/>
                  <a:gd name="T89" fmla="*/ 79 h 450"/>
                  <a:gd name="T90" fmla="*/ 337 w 837"/>
                  <a:gd name="T91" fmla="*/ 83 h 450"/>
                  <a:gd name="T92" fmla="*/ 361 w 837"/>
                  <a:gd name="T93" fmla="*/ 89 h 450"/>
                  <a:gd name="T94" fmla="*/ 387 w 837"/>
                  <a:gd name="T95" fmla="*/ 95 h 450"/>
                  <a:gd name="T96" fmla="*/ 419 w 837"/>
                  <a:gd name="T97" fmla="*/ 98 h 450"/>
                  <a:gd name="T98" fmla="*/ 401 w 837"/>
                  <a:gd name="T99" fmla="*/ 84 h 450"/>
                  <a:gd name="T100" fmla="*/ 386 w 837"/>
                  <a:gd name="T101" fmla="*/ 72 h 450"/>
                  <a:gd name="T102" fmla="*/ 371 w 837"/>
                  <a:gd name="T103" fmla="*/ 59 h 450"/>
                  <a:gd name="T104" fmla="*/ 356 w 837"/>
                  <a:gd name="T105" fmla="*/ 48 h 450"/>
                  <a:gd name="T106" fmla="*/ 340 w 837"/>
                  <a:gd name="T107" fmla="*/ 36 h 450"/>
                  <a:gd name="T108" fmla="*/ 325 w 837"/>
                  <a:gd name="T109" fmla="*/ 24 h 450"/>
                  <a:gd name="T110" fmla="*/ 309 w 837"/>
                  <a:gd name="T111" fmla="*/ 12 h 450"/>
                  <a:gd name="T112" fmla="*/ 292 w 837"/>
                  <a:gd name="T113" fmla="*/ 0 h 45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50"/>
                  <a:gd name="T173" fmla="*/ 837 w 837"/>
                  <a:gd name="T174" fmla="*/ 450 h 45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50">
                    <a:moveTo>
                      <a:pt x="584" y="0"/>
                    </a:moveTo>
                    <a:lnTo>
                      <a:pt x="525" y="22"/>
                    </a:lnTo>
                    <a:lnTo>
                      <a:pt x="477" y="43"/>
                    </a:lnTo>
                    <a:lnTo>
                      <a:pt x="436" y="63"/>
                    </a:lnTo>
                    <a:lnTo>
                      <a:pt x="402" y="88"/>
                    </a:lnTo>
                    <a:lnTo>
                      <a:pt x="368" y="116"/>
                    </a:lnTo>
                    <a:lnTo>
                      <a:pt x="337" y="150"/>
                    </a:lnTo>
                    <a:lnTo>
                      <a:pt x="304" y="190"/>
                    </a:lnTo>
                    <a:lnTo>
                      <a:pt x="268" y="241"/>
                    </a:lnTo>
                    <a:lnTo>
                      <a:pt x="248" y="226"/>
                    </a:lnTo>
                    <a:lnTo>
                      <a:pt x="225" y="210"/>
                    </a:lnTo>
                    <a:lnTo>
                      <a:pt x="198" y="192"/>
                    </a:lnTo>
                    <a:lnTo>
                      <a:pt x="170" y="176"/>
                    </a:lnTo>
                    <a:lnTo>
                      <a:pt x="141" y="157"/>
                    </a:lnTo>
                    <a:lnTo>
                      <a:pt x="115" y="141"/>
                    </a:lnTo>
                    <a:lnTo>
                      <a:pt x="91" y="126"/>
                    </a:lnTo>
                    <a:lnTo>
                      <a:pt x="74" y="113"/>
                    </a:lnTo>
                    <a:lnTo>
                      <a:pt x="65" y="118"/>
                    </a:lnTo>
                    <a:lnTo>
                      <a:pt x="56" y="123"/>
                    </a:lnTo>
                    <a:lnTo>
                      <a:pt x="46" y="127"/>
                    </a:lnTo>
                    <a:lnTo>
                      <a:pt x="36" y="132"/>
                    </a:lnTo>
                    <a:lnTo>
                      <a:pt x="25" y="136"/>
                    </a:lnTo>
                    <a:lnTo>
                      <a:pt x="15" y="141"/>
                    </a:lnTo>
                    <a:lnTo>
                      <a:pt x="6" y="146"/>
                    </a:lnTo>
                    <a:lnTo>
                      <a:pt x="0" y="153"/>
                    </a:lnTo>
                    <a:lnTo>
                      <a:pt x="40" y="191"/>
                    </a:lnTo>
                    <a:lnTo>
                      <a:pt x="85" y="232"/>
                    </a:lnTo>
                    <a:lnTo>
                      <a:pt x="131" y="274"/>
                    </a:lnTo>
                    <a:lnTo>
                      <a:pt x="180" y="316"/>
                    </a:lnTo>
                    <a:lnTo>
                      <a:pt x="229" y="355"/>
                    </a:lnTo>
                    <a:lnTo>
                      <a:pt x="278" y="391"/>
                    </a:lnTo>
                    <a:lnTo>
                      <a:pt x="326" y="421"/>
                    </a:lnTo>
                    <a:lnTo>
                      <a:pt x="373" y="447"/>
                    </a:lnTo>
                    <a:lnTo>
                      <a:pt x="402" y="450"/>
                    </a:lnTo>
                    <a:lnTo>
                      <a:pt x="428" y="449"/>
                    </a:lnTo>
                    <a:lnTo>
                      <a:pt x="450" y="438"/>
                    </a:lnTo>
                    <a:lnTo>
                      <a:pt x="469" y="421"/>
                    </a:lnTo>
                    <a:lnTo>
                      <a:pt x="479" y="395"/>
                    </a:lnTo>
                    <a:lnTo>
                      <a:pt x="484" y="363"/>
                    </a:lnTo>
                    <a:lnTo>
                      <a:pt x="481" y="321"/>
                    </a:lnTo>
                    <a:lnTo>
                      <a:pt x="471" y="272"/>
                    </a:lnTo>
                    <a:lnTo>
                      <a:pt x="516" y="210"/>
                    </a:lnTo>
                    <a:lnTo>
                      <a:pt x="558" y="175"/>
                    </a:lnTo>
                    <a:lnTo>
                      <a:pt x="595" y="158"/>
                    </a:lnTo>
                    <a:lnTo>
                      <a:pt x="634" y="158"/>
                    </a:lnTo>
                    <a:lnTo>
                      <a:pt x="674" y="166"/>
                    </a:lnTo>
                    <a:lnTo>
                      <a:pt x="721" y="178"/>
                    </a:lnTo>
                    <a:lnTo>
                      <a:pt x="773" y="190"/>
                    </a:lnTo>
                    <a:lnTo>
                      <a:pt x="837" y="195"/>
                    </a:lnTo>
                    <a:lnTo>
                      <a:pt x="802" y="168"/>
                    </a:lnTo>
                    <a:lnTo>
                      <a:pt x="771" y="144"/>
                    </a:lnTo>
                    <a:lnTo>
                      <a:pt x="741" y="119"/>
                    </a:lnTo>
                    <a:lnTo>
                      <a:pt x="711" y="96"/>
                    </a:lnTo>
                    <a:lnTo>
                      <a:pt x="679" y="72"/>
                    </a:lnTo>
                    <a:lnTo>
                      <a:pt x="649" y="48"/>
                    </a:lnTo>
                    <a:lnTo>
                      <a:pt x="617" y="24"/>
                    </a:lnTo>
                    <a:lnTo>
                      <a:pt x="584" y="0"/>
                    </a:lnTo>
                    <a:close/>
                  </a:path>
                </a:pathLst>
              </a:custGeom>
              <a:solidFill>
                <a:srgbClr val="ABB8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0" name="Freeform 599">
                <a:extLst>
                  <a:ext uri="{FF2B5EF4-FFF2-40B4-BE49-F238E27FC236}">
                    <a16:creationId xmlns:a16="http://schemas.microsoft.com/office/drawing/2014/main" id="{87C97421-7239-4543-9C7F-A554116C081A}"/>
                  </a:ext>
                </a:extLst>
              </p:cNvPr>
              <p:cNvSpPr>
                <a:spLocks/>
              </p:cNvSpPr>
              <p:nvPr/>
            </p:nvSpPr>
            <p:spPr bwMode="auto">
              <a:xfrm>
                <a:off x="4151" y="3662"/>
                <a:ext cx="419" cy="221"/>
              </a:xfrm>
              <a:custGeom>
                <a:avLst/>
                <a:gdLst>
                  <a:gd name="T0" fmla="*/ 297 w 837"/>
                  <a:gd name="T1" fmla="*/ 0 h 441"/>
                  <a:gd name="T2" fmla="*/ 267 w 837"/>
                  <a:gd name="T3" fmla="*/ 11 h 441"/>
                  <a:gd name="T4" fmla="*/ 243 w 837"/>
                  <a:gd name="T5" fmla="*/ 22 h 441"/>
                  <a:gd name="T6" fmla="*/ 222 w 837"/>
                  <a:gd name="T7" fmla="*/ 33 h 441"/>
                  <a:gd name="T8" fmla="*/ 204 w 837"/>
                  <a:gd name="T9" fmla="*/ 46 h 441"/>
                  <a:gd name="T10" fmla="*/ 188 w 837"/>
                  <a:gd name="T11" fmla="*/ 60 h 441"/>
                  <a:gd name="T12" fmla="*/ 172 w 837"/>
                  <a:gd name="T13" fmla="*/ 78 h 441"/>
                  <a:gd name="T14" fmla="*/ 155 w 837"/>
                  <a:gd name="T15" fmla="*/ 98 h 441"/>
                  <a:gd name="T16" fmla="*/ 137 w 837"/>
                  <a:gd name="T17" fmla="*/ 124 h 441"/>
                  <a:gd name="T18" fmla="*/ 126 w 837"/>
                  <a:gd name="T19" fmla="*/ 116 h 441"/>
                  <a:gd name="T20" fmla="*/ 114 w 837"/>
                  <a:gd name="T21" fmla="*/ 108 h 441"/>
                  <a:gd name="T22" fmla="*/ 99 w 837"/>
                  <a:gd name="T23" fmla="*/ 99 h 441"/>
                  <a:gd name="T24" fmla="*/ 84 w 837"/>
                  <a:gd name="T25" fmla="*/ 90 h 441"/>
                  <a:gd name="T26" fmla="*/ 68 w 837"/>
                  <a:gd name="T27" fmla="*/ 81 h 441"/>
                  <a:gd name="T28" fmla="*/ 54 w 837"/>
                  <a:gd name="T29" fmla="*/ 72 h 441"/>
                  <a:gd name="T30" fmla="*/ 41 w 837"/>
                  <a:gd name="T31" fmla="*/ 63 h 441"/>
                  <a:gd name="T32" fmla="*/ 33 w 837"/>
                  <a:gd name="T33" fmla="*/ 57 h 441"/>
                  <a:gd name="T34" fmla="*/ 28 w 837"/>
                  <a:gd name="T35" fmla="*/ 59 h 441"/>
                  <a:gd name="T36" fmla="*/ 25 w 837"/>
                  <a:gd name="T37" fmla="*/ 61 h 441"/>
                  <a:gd name="T38" fmla="*/ 20 w 837"/>
                  <a:gd name="T39" fmla="*/ 63 h 441"/>
                  <a:gd name="T40" fmla="*/ 16 w 837"/>
                  <a:gd name="T41" fmla="*/ 65 h 441"/>
                  <a:gd name="T42" fmla="*/ 11 w 837"/>
                  <a:gd name="T43" fmla="*/ 66 h 441"/>
                  <a:gd name="T44" fmla="*/ 7 w 837"/>
                  <a:gd name="T45" fmla="*/ 68 h 441"/>
                  <a:gd name="T46" fmla="*/ 3 w 837"/>
                  <a:gd name="T47" fmla="*/ 70 h 441"/>
                  <a:gd name="T48" fmla="*/ 0 w 837"/>
                  <a:gd name="T49" fmla="*/ 73 h 441"/>
                  <a:gd name="T50" fmla="*/ 20 w 837"/>
                  <a:gd name="T51" fmla="*/ 92 h 441"/>
                  <a:gd name="T52" fmla="*/ 43 w 837"/>
                  <a:gd name="T53" fmla="*/ 113 h 441"/>
                  <a:gd name="T54" fmla="*/ 66 w 837"/>
                  <a:gd name="T55" fmla="*/ 134 h 441"/>
                  <a:gd name="T56" fmla="*/ 90 w 837"/>
                  <a:gd name="T57" fmla="*/ 155 h 441"/>
                  <a:gd name="T58" fmla="*/ 115 w 837"/>
                  <a:gd name="T59" fmla="*/ 174 h 441"/>
                  <a:gd name="T60" fmla="*/ 139 w 837"/>
                  <a:gd name="T61" fmla="*/ 192 h 441"/>
                  <a:gd name="T62" fmla="*/ 163 w 837"/>
                  <a:gd name="T63" fmla="*/ 206 h 441"/>
                  <a:gd name="T64" fmla="*/ 187 w 837"/>
                  <a:gd name="T65" fmla="*/ 219 h 441"/>
                  <a:gd name="T66" fmla="*/ 201 w 837"/>
                  <a:gd name="T67" fmla="*/ 221 h 441"/>
                  <a:gd name="T68" fmla="*/ 214 w 837"/>
                  <a:gd name="T69" fmla="*/ 220 h 441"/>
                  <a:gd name="T70" fmla="*/ 225 w 837"/>
                  <a:gd name="T71" fmla="*/ 216 h 441"/>
                  <a:gd name="T72" fmla="*/ 233 w 837"/>
                  <a:gd name="T73" fmla="*/ 207 h 441"/>
                  <a:gd name="T74" fmla="*/ 239 w 837"/>
                  <a:gd name="T75" fmla="*/ 195 h 441"/>
                  <a:gd name="T76" fmla="*/ 242 w 837"/>
                  <a:gd name="T77" fmla="*/ 179 h 441"/>
                  <a:gd name="T78" fmla="*/ 241 w 837"/>
                  <a:gd name="T79" fmla="*/ 157 h 441"/>
                  <a:gd name="T80" fmla="*/ 236 w 837"/>
                  <a:gd name="T81" fmla="*/ 133 h 441"/>
                  <a:gd name="T82" fmla="*/ 258 w 837"/>
                  <a:gd name="T83" fmla="*/ 102 h 441"/>
                  <a:gd name="T84" fmla="*/ 279 w 837"/>
                  <a:gd name="T85" fmla="*/ 84 h 441"/>
                  <a:gd name="T86" fmla="*/ 298 w 837"/>
                  <a:gd name="T87" fmla="*/ 76 h 441"/>
                  <a:gd name="T88" fmla="*/ 317 w 837"/>
                  <a:gd name="T89" fmla="*/ 76 h 441"/>
                  <a:gd name="T90" fmla="*/ 337 w 837"/>
                  <a:gd name="T91" fmla="*/ 80 h 441"/>
                  <a:gd name="T92" fmla="*/ 361 w 837"/>
                  <a:gd name="T93" fmla="*/ 86 h 441"/>
                  <a:gd name="T94" fmla="*/ 387 w 837"/>
                  <a:gd name="T95" fmla="*/ 92 h 441"/>
                  <a:gd name="T96" fmla="*/ 419 w 837"/>
                  <a:gd name="T97" fmla="*/ 94 h 441"/>
                  <a:gd name="T98" fmla="*/ 401 w 837"/>
                  <a:gd name="T99" fmla="*/ 81 h 441"/>
                  <a:gd name="T100" fmla="*/ 386 w 837"/>
                  <a:gd name="T101" fmla="*/ 69 h 441"/>
                  <a:gd name="T102" fmla="*/ 371 w 837"/>
                  <a:gd name="T103" fmla="*/ 58 h 441"/>
                  <a:gd name="T104" fmla="*/ 357 w 837"/>
                  <a:gd name="T105" fmla="*/ 46 h 441"/>
                  <a:gd name="T106" fmla="*/ 343 w 837"/>
                  <a:gd name="T107" fmla="*/ 35 h 441"/>
                  <a:gd name="T108" fmla="*/ 329 w 837"/>
                  <a:gd name="T109" fmla="*/ 23 h 441"/>
                  <a:gd name="T110" fmla="*/ 313 w 837"/>
                  <a:gd name="T111" fmla="*/ 11 h 441"/>
                  <a:gd name="T112" fmla="*/ 297 w 837"/>
                  <a:gd name="T113" fmla="*/ 0 h 4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41"/>
                  <a:gd name="T173" fmla="*/ 837 w 837"/>
                  <a:gd name="T174" fmla="*/ 441 h 44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41">
                    <a:moveTo>
                      <a:pt x="593" y="0"/>
                    </a:moveTo>
                    <a:lnTo>
                      <a:pt x="534" y="21"/>
                    </a:lnTo>
                    <a:lnTo>
                      <a:pt x="485" y="44"/>
                    </a:lnTo>
                    <a:lnTo>
                      <a:pt x="444" y="66"/>
                    </a:lnTo>
                    <a:lnTo>
                      <a:pt x="408" y="92"/>
                    </a:lnTo>
                    <a:lnTo>
                      <a:pt x="375" y="120"/>
                    </a:lnTo>
                    <a:lnTo>
                      <a:pt x="343" y="155"/>
                    </a:lnTo>
                    <a:lnTo>
                      <a:pt x="309" y="196"/>
                    </a:lnTo>
                    <a:lnTo>
                      <a:pt x="273" y="247"/>
                    </a:lnTo>
                    <a:lnTo>
                      <a:pt x="252" y="231"/>
                    </a:lnTo>
                    <a:lnTo>
                      <a:pt x="228" y="216"/>
                    </a:lnTo>
                    <a:lnTo>
                      <a:pt x="198" y="198"/>
                    </a:lnTo>
                    <a:lnTo>
                      <a:pt x="168" y="180"/>
                    </a:lnTo>
                    <a:lnTo>
                      <a:pt x="136" y="161"/>
                    </a:lnTo>
                    <a:lnTo>
                      <a:pt x="107" y="143"/>
                    </a:lnTo>
                    <a:lnTo>
                      <a:pt x="82" y="126"/>
                    </a:lnTo>
                    <a:lnTo>
                      <a:pt x="65" y="114"/>
                    </a:lnTo>
                    <a:lnTo>
                      <a:pt x="56" y="117"/>
                    </a:lnTo>
                    <a:lnTo>
                      <a:pt x="49" y="122"/>
                    </a:lnTo>
                    <a:lnTo>
                      <a:pt x="40" y="125"/>
                    </a:lnTo>
                    <a:lnTo>
                      <a:pt x="31" y="129"/>
                    </a:lnTo>
                    <a:lnTo>
                      <a:pt x="21" y="131"/>
                    </a:lnTo>
                    <a:lnTo>
                      <a:pt x="13" y="135"/>
                    </a:lnTo>
                    <a:lnTo>
                      <a:pt x="5" y="139"/>
                    </a:lnTo>
                    <a:lnTo>
                      <a:pt x="0" y="146"/>
                    </a:lnTo>
                    <a:lnTo>
                      <a:pt x="40" y="184"/>
                    </a:lnTo>
                    <a:lnTo>
                      <a:pt x="85" y="225"/>
                    </a:lnTo>
                    <a:lnTo>
                      <a:pt x="131" y="267"/>
                    </a:lnTo>
                    <a:lnTo>
                      <a:pt x="180" y="309"/>
                    </a:lnTo>
                    <a:lnTo>
                      <a:pt x="229" y="347"/>
                    </a:lnTo>
                    <a:lnTo>
                      <a:pt x="278" y="383"/>
                    </a:lnTo>
                    <a:lnTo>
                      <a:pt x="326" y="412"/>
                    </a:lnTo>
                    <a:lnTo>
                      <a:pt x="373" y="437"/>
                    </a:lnTo>
                    <a:lnTo>
                      <a:pt x="401" y="441"/>
                    </a:lnTo>
                    <a:lnTo>
                      <a:pt x="427" y="440"/>
                    </a:lnTo>
                    <a:lnTo>
                      <a:pt x="449" y="431"/>
                    </a:lnTo>
                    <a:lnTo>
                      <a:pt x="466" y="414"/>
                    </a:lnTo>
                    <a:lnTo>
                      <a:pt x="477" y="389"/>
                    </a:lnTo>
                    <a:lnTo>
                      <a:pt x="484" y="357"/>
                    </a:lnTo>
                    <a:lnTo>
                      <a:pt x="481" y="314"/>
                    </a:lnTo>
                    <a:lnTo>
                      <a:pt x="471" y="265"/>
                    </a:lnTo>
                    <a:lnTo>
                      <a:pt x="516" y="203"/>
                    </a:lnTo>
                    <a:lnTo>
                      <a:pt x="558" y="168"/>
                    </a:lnTo>
                    <a:lnTo>
                      <a:pt x="595" y="151"/>
                    </a:lnTo>
                    <a:lnTo>
                      <a:pt x="634" y="151"/>
                    </a:lnTo>
                    <a:lnTo>
                      <a:pt x="674" y="159"/>
                    </a:lnTo>
                    <a:lnTo>
                      <a:pt x="721" y="171"/>
                    </a:lnTo>
                    <a:lnTo>
                      <a:pt x="773" y="183"/>
                    </a:lnTo>
                    <a:lnTo>
                      <a:pt x="837" y="188"/>
                    </a:lnTo>
                    <a:lnTo>
                      <a:pt x="802" y="161"/>
                    </a:lnTo>
                    <a:lnTo>
                      <a:pt x="772" y="137"/>
                    </a:lnTo>
                    <a:lnTo>
                      <a:pt x="742" y="115"/>
                    </a:lnTo>
                    <a:lnTo>
                      <a:pt x="714" y="92"/>
                    </a:lnTo>
                    <a:lnTo>
                      <a:pt x="686" y="69"/>
                    </a:lnTo>
                    <a:lnTo>
                      <a:pt x="657" y="46"/>
                    </a:lnTo>
                    <a:lnTo>
                      <a:pt x="625" y="22"/>
                    </a:lnTo>
                    <a:lnTo>
                      <a:pt x="593" y="0"/>
                    </a:lnTo>
                    <a:close/>
                  </a:path>
                </a:pathLst>
              </a:custGeom>
              <a:solidFill>
                <a:srgbClr val="B0BD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1" name="Freeform 600">
                <a:extLst>
                  <a:ext uri="{FF2B5EF4-FFF2-40B4-BE49-F238E27FC236}">
                    <a16:creationId xmlns:a16="http://schemas.microsoft.com/office/drawing/2014/main" id="{399AFBF6-03DB-C743-808B-262AC62D53CE}"/>
                  </a:ext>
                </a:extLst>
              </p:cNvPr>
              <p:cNvSpPr>
                <a:spLocks/>
              </p:cNvSpPr>
              <p:nvPr/>
            </p:nvSpPr>
            <p:spPr bwMode="auto">
              <a:xfrm>
                <a:off x="4151" y="3666"/>
                <a:ext cx="419" cy="216"/>
              </a:xfrm>
              <a:custGeom>
                <a:avLst/>
                <a:gdLst>
                  <a:gd name="T0" fmla="*/ 302 w 837"/>
                  <a:gd name="T1" fmla="*/ 0 h 433"/>
                  <a:gd name="T2" fmla="*/ 272 w 837"/>
                  <a:gd name="T3" fmla="*/ 11 h 433"/>
                  <a:gd name="T4" fmla="*/ 247 w 837"/>
                  <a:gd name="T5" fmla="*/ 22 h 433"/>
                  <a:gd name="T6" fmla="*/ 226 w 837"/>
                  <a:gd name="T7" fmla="*/ 34 h 433"/>
                  <a:gd name="T8" fmla="*/ 208 w 837"/>
                  <a:gd name="T9" fmla="*/ 47 h 433"/>
                  <a:gd name="T10" fmla="*/ 191 w 837"/>
                  <a:gd name="T11" fmla="*/ 62 h 433"/>
                  <a:gd name="T12" fmla="*/ 174 w 837"/>
                  <a:gd name="T13" fmla="*/ 80 h 433"/>
                  <a:gd name="T14" fmla="*/ 157 w 837"/>
                  <a:gd name="T15" fmla="*/ 101 h 433"/>
                  <a:gd name="T16" fmla="*/ 139 w 837"/>
                  <a:gd name="T17" fmla="*/ 126 h 433"/>
                  <a:gd name="T18" fmla="*/ 128 w 837"/>
                  <a:gd name="T19" fmla="*/ 119 h 433"/>
                  <a:gd name="T20" fmla="*/ 115 w 837"/>
                  <a:gd name="T21" fmla="*/ 111 h 433"/>
                  <a:gd name="T22" fmla="*/ 100 w 837"/>
                  <a:gd name="T23" fmla="*/ 101 h 433"/>
                  <a:gd name="T24" fmla="*/ 83 w 837"/>
                  <a:gd name="T25" fmla="*/ 92 h 433"/>
                  <a:gd name="T26" fmla="*/ 67 w 837"/>
                  <a:gd name="T27" fmla="*/ 82 h 433"/>
                  <a:gd name="T28" fmla="*/ 51 w 837"/>
                  <a:gd name="T29" fmla="*/ 73 h 433"/>
                  <a:gd name="T30" fmla="*/ 38 w 837"/>
                  <a:gd name="T31" fmla="*/ 64 h 433"/>
                  <a:gd name="T32" fmla="*/ 28 w 837"/>
                  <a:gd name="T33" fmla="*/ 57 h 433"/>
                  <a:gd name="T34" fmla="*/ 25 w 837"/>
                  <a:gd name="T35" fmla="*/ 59 h 433"/>
                  <a:gd name="T36" fmla="*/ 21 w 837"/>
                  <a:gd name="T37" fmla="*/ 61 h 433"/>
                  <a:gd name="T38" fmla="*/ 18 w 837"/>
                  <a:gd name="T39" fmla="*/ 61 h 433"/>
                  <a:gd name="T40" fmla="*/ 14 w 837"/>
                  <a:gd name="T41" fmla="*/ 62 h 433"/>
                  <a:gd name="T42" fmla="*/ 10 w 837"/>
                  <a:gd name="T43" fmla="*/ 63 h 433"/>
                  <a:gd name="T44" fmla="*/ 6 w 837"/>
                  <a:gd name="T45" fmla="*/ 64 h 433"/>
                  <a:gd name="T46" fmla="*/ 3 w 837"/>
                  <a:gd name="T47" fmla="*/ 66 h 433"/>
                  <a:gd name="T48" fmla="*/ 0 w 837"/>
                  <a:gd name="T49" fmla="*/ 69 h 433"/>
                  <a:gd name="T50" fmla="*/ 20 w 837"/>
                  <a:gd name="T51" fmla="*/ 88 h 433"/>
                  <a:gd name="T52" fmla="*/ 43 w 837"/>
                  <a:gd name="T53" fmla="*/ 109 h 433"/>
                  <a:gd name="T54" fmla="*/ 67 w 837"/>
                  <a:gd name="T55" fmla="*/ 130 h 433"/>
                  <a:gd name="T56" fmla="*/ 91 w 837"/>
                  <a:gd name="T57" fmla="*/ 150 h 433"/>
                  <a:gd name="T58" fmla="*/ 115 w 837"/>
                  <a:gd name="T59" fmla="*/ 169 h 433"/>
                  <a:gd name="T60" fmla="*/ 140 w 837"/>
                  <a:gd name="T61" fmla="*/ 187 h 433"/>
                  <a:gd name="T62" fmla="*/ 164 w 837"/>
                  <a:gd name="T63" fmla="*/ 202 h 433"/>
                  <a:gd name="T64" fmla="*/ 188 w 837"/>
                  <a:gd name="T65" fmla="*/ 214 h 433"/>
                  <a:gd name="T66" fmla="*/ 200 w 837"/>
                  <a:gd name="T67" fmla="*/ 216 h 433"/>
                  <a:gd name="T68" fmla="*/ 213 w 837"/>
                  <a:gd name="T69" fmla="*/ 215 h 433"/>
                  <a:gd name="T70" fmla="*/ 223 w 837"/>
                  <a:gd name="T71" fmla="*/ 210 h 433"/>
                  <a:gd name="T72" fmla="*/ 233 w 837"/>
                  <a:gd name="T73" fmla="*/ 203 h 433"/>
                  <a:gd name="T74" fmla="*/ 238 w 837"/>
                  <a:gd name="T75" fmla="*/ 190 h 433"/>
                  <a:gd name="T76" fmla="*/ 241 w 837"/>
                  <a:gd name="T77" fmla="*/ 175 h 433"/>
                  <a:gd name="T78" fmla="*/ 240 w 837"/>
                  <a:gd name="T79" fmla="*/ 153 h 433"/>
                  <a:gd name="T80" fmla="*/ 236 w 837"/>
                  <a:gd name="T81" fmla="*/ 129 h 433"/>
                  <a:gd name="T82" fmla="*/ 258 w 837"/>
                  <a:gd name="T83" fmla="*/ 98 h 433"/>
                  <a:gd name="T84" fmla="*/ 279 w 837"/>
                  <a:gd name="T85" fmla="*/ 80 h 433"/>
                  <a:gd name="T86" fmla="*/ 298 w 837"/>
                  <a:gd name="T87" fmla="*/ 72 h 433"/>
                  <a:gd name="T88" fmla="*/ 317 w 837"/>
                  <a:gd name="T89" fmla="*/ 72 h 433"/>
                  <a:gd name="T90" fmla="*/ 337 w 837"/>
                  <a:gd name="T91" fmla="*/ 76 h 433"/>
                  <a:gd name="T92" fmla="*/ 361 w 837"/>
                  <a:gd name="T93" fmla="*/ 82 h 433"/>
                  <a:gd name="T94" fmla="*/ 387 w 837"/>
                  <a:gd name="T95" fmla="*/ 88 h 433"/>
                  <a:gd name="T96" fmla="*/ 419 w 837"/>
                  <a:gd name="T97" fmla="*/ 90 h 433"/>
                  <a:gd name="T98" fmla="*/ 402 w 837"/>
                  <a:gd name="T99" fmla="*/ 78 h 433"/>
                  <a:gd name="T100" fmla="*/ 387 w 837"/>
                  <a:gd name="T101" fmla="*/ 66 h 433"/>
                  <a:gd name="T102" fmla="*/ 373 w 837"/>
                  <a:gd name="T103" fmla="*/ 55 h 433"/>
                  <a:gd name="T104" fmla="*/ 360 w 837"/>
                  <a:gd name="T105" fmla="*/ 44 h 433"/>
                  <a:gd name="T106" fmla="*/ 346 w 837"/>
                  <a:gd name="T107" fmla="*/ 34 h 433"/>
                  <a:gd name="T108" fmla="*/ 332 w 837"/>
                  <a:gd name="T109" fmla="*/ 23 h 433"/>
                  <a:gd name="T110" fmla="*/ 317 w 837"/>
                  <a:gd name="T111" fmla="*/ 11 h 433"/>
                  <a:gd name="T112" fmla="*/ 302 w 837"/>
                  <a:gd name="T113" fmla="*/ 0 h 4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37"/>
                  <a:gd name="T172" fmla="*/ 0 h 433"/>
                  <a:gd name="T173" fmla="*/ 837 w 837"/>
                  <a:gd name="T174" fmla="*/ 433 h 43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37" h="433">
                    <a:moveTo>
                      <a:pt x="603" y="0"/>
                    </a:moveTo>
                    <a:lnTo>
                      <a:pt x="544" y="23"/>
                    </a:lnTo>
                    <a:lnTo>
                      <a:pt x="494" y="45"/>
                    </a:lnTo>
                    <a:lnTo>
                      <a:pt x="451" y="68"/>
                    </a:lnTo>
                    <a:lnTo>
                      <a:pt x="416" y="95"/>
                    </a:lnTo>
                    <a:lnTo>
                      <a:pt x="381" y="125"/>
                    </a:lnTo>
                    <a:lnTo>
                      <a:pt x="348" y="161"/>
                    </a:lnTo>
                    <a:lnTo>
                      <a:pt x="313" y="203"/>
                    </a:lnTo>
                    <a:lnTo>
                      <a:pt x="277" y="253"/>
                    </a:lnTo>
                    <a:lnTo>
                      <a:pt x="255" y="238"/>
                    </a:lnTo>
                    <a:lnTo>
                      <a:pt x="230" y="222"/>
                    </a:lnTo>
                    <a:lnTo>
                      <a:pt x="199" y="203"/>
                    </a:lnTo>
                    <a:lnTo>
                      <a:pt x="166" y="184"/>
                    </a:lnTo>
                    <a:lnTo>
                      <a:pt x="133" y="164"/>
                    </a:lnTo>
                    <a:lnTo>
                      <a:pt x="101" y="146"/>
                    </a:lnTo>
                    <a:lnTo>
                      <a:pt x="75" y="128"/>
                    </a:lnTo>
                    <a:lnTo>
                      <a:pt x="56" y="115"/>
                    </a:lnTo>
                    <a:lnTo>
                      <a:pt x="49" y="119"/>
                    </a:lnTo>
                    <a:lnTo>
                      <a:pt x="42" y="122"/>
                    </a:lnTo>
                    <a:lnTo>
                      <a:pt x="35" y="123"/>
                    </a:lnTo>
                    <a:lnTo>
                      <a:pt x="27" y="125"/>
                    </a:lnTo>
                    <a:lnTo>
                      <a:pt x="20" y="127"/>
                    </a:lnTo>
                    <a:lnTo>
                      <a:pt x="12" y="129"/>
                    </a:lnTo>
                    <a:lnTo>
                      <a:pt x="5" y="132"/>
                    </a:lnTo>
                    <a:lnTo>
                      <a:pt x="0" y="139"/>
                    </a:lnTo>
                    <a:lnTo>
                      <a:pt x="40" y="177"/>
                    </a:lnTo>
                    <a:lnTo>
                      <a:pt x="85" y="218"/>
                    </a:lnTo>
                    <a:lnTo>
                      <a:pt x="133" y="260"/>
                    </a:lnTo>
                    <a:lnTo>
                      <a:pt x="181" y="301"/>
                    </a:lnTo>
                    <a:lnTo>
                      <a:pt x="230" y="339"/>
                    </a:lnTo>
                    <a:lnTo>
                      <a:pt x="279" y="374"/>
                    </a:lnTo>
                    <a:lnTo>
                      <a:pt x="327" y="404"/>
                    </a:lnTo>
                    <a:lnTo>
                      <a:pt x="375" y="429"/>
                    </a:lnTo>
                    <a:lnTo>
                      <a:pt x="400" y="433"/>
                    </a:lnTo>
                    <a:lnTo>
                      <a:pt x="425" y="430"/>
                    </a:lnTo>
                    <a:lnTo>
                      <a:pt x="446" y="421"/>
                    </a:lnTo>
                    <a:lnTo>
                      <a:pt x="465" y="406"/>
                    </a:lnTo>
                    <a:lnTo>
                      <a:pt x="476" y="381"/>
                    </a:lnTo>
                    <a:lnTo>
                      <a:pt x="482" y="350"/>
                    </a:lnTo>
                    <a:lnTo>
                      <a:pt x="480" y="307"/>
                    </a:lnTo>
                    <a:lnTo>
                      <a:pt x="471" y="258"/>
                    </a:lnTo>
                    <a:lnTo>
                      <a:pt x="516" y="196"/>
                    </a:lnTo>
                    <a:lnTo>
                      <a:pt x="558" y="161"/>
                    </a:lnTo>
                    <a:lnTo>
                      <a:pt x="595" y="144"/>
                    </a:lnTo>
                    <a:lnTo>
                      <a:pt x="634" y="144"/>
                    </a:lnTo>
                    <a:lnTo>
                      <a:pt x="674" y="152"/>
                    </a:lnTo>
                    <a:lnTo>
                      <a:pt x="721" y="164"/>
                    </a:lnTo>
                    <a:lnTo>
                      <a:pt x="773" y="176"/>
                    </a:lnTo>
                    <a:lnTo>
                      <a:pt x="837" y="181"/>
                    </a:lnTo>
                    <a:lnTo>
                      <a:pt x="803" y="156"/>
                    </a:lnTo>
                    <a:lnTo>
                      <a:pt x="773" y="133"/>
                    </a:lnTo>
                    <a:lnTo>
                      <a:pt x="746" y="110"/>
                    </a:lnTo>
                    <a:lnTo>
                      <a:pt x="719" y="89"/>
                    </a:lnTo>
                    <a:lnTo>
                      <a:pt x="692" y="68"/>
                    </a:lnTo>
                    <a:lnTo>
                      <a:pt x="664" y="47"/>
                    </a:lnTo>
                    <a:lnTo>
                      <a:pt x="634" y="23"/>
                    </a:lnTo>
                    <a:lnTo>
                      <a:pt x="603"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2" name="Freeform 601">
                <a:extLst>
                  <a:ext uri="{FF2B5EF4-FFF2-40B4-BE49-F238E27FC236}">
                    <a16:creationId xmlns:a16="http://schemas.microsoft.com/office/drawing/2014/main" id="{AA198536-D25B-3648-9B07-0C8FCDAB8E4D}"/>
                  </a:ext>
                </a:extLst>
              </p:cNvPr>
              <p:cNvSpPr>
                <a:spLocks/>
              </p:cNvSpPr>
              <p:nvPr/>
            </p:nvSpPr>
            <p:spPr bwMode="auto">
              <a:xfrm>
                <a:off x="3659" y="2675"/>
                <a:ext cx="1059" cy="612"/>
              </a:xfrm>
              <a:custGeom>
                <a:avLst/>
                <a:gdLst>
                  <a:gd name="T0" fmla="*/ 376 w 2117"/>
                  <a:gd name="T1" fmla="*/ 287 h 1224"/>
                  <a:gd name="T2" fmla="*/ 302 w 2117"/>
                  <a:gd name="T3" fmla="*/ 352 h 1224"/>
                  <a:gd name="T4" fmla="*/ 228 w 2117"/>
                  <a:gd name="T5" fmla="*/ 398 h 1224"/>
                  <a:gd name="T6" fmla="*/ 175 w 2117"/>
                  <a:gd name="T7" fmla="*/ 401 h 1224"/>
                  <a:gd name="T8" fmla="*/ 137 w 2117"/>
                  <a:gd name="T9" fmla="*/ 415 h 1224"/>
                  <a:gd name="T10" fmla="*/ 66 w 2117"/>
                  <a:gd name="T11" fmla="*/ 471 h 1224"/>
                  <a:gd name="T12" fmla="*/ 11 w 2117"/>
                  <a:gd name="T13" fmla="*/ 514 h 1224"/>
                  <a:gd name="T14" fmla="*/ 2 w 2117"/>
                  <a:gd name="T15" fmla="*/ 566 h 1224"/>
                  <a:gd name="T16" fmla="*/ 40 w 2117"/>
                  <a:gd name="T17" fmla="*/ 607 h 1224"/>
                  <a:gd name="T18" fmla="*/ 100 w 2117"/>
                  <a:gd name="T19" fmla="*/ 600 h 1224"/>
                  <a:gd name="T20" fmla="*/ 160 w 2117"/>
                  <a:gd name="T21" fmla="*/ 594 h 1224"/>
                  <a:gd name="T22" fmla="*/ 311 w 2117"/>
                  <a:gd name="T23" fmla="*/ 589 h 1224"/>
                  <a:gd name="T24" fmla="*/ 462 w 2117"/>
                  <a:gd name="T25" fmla="*/ 579 h 1224"/>
                  <a:gd name="T26" fmla="*/ 597 w 2117"/>
                  <a:gd name="T27" fmla="*/ 572 h 1224"/>
                  <a:gd name="T28" fmla="*/ 663 w 2117"/>
                  <a:gd name="T29" fmla="*/ 568 h 1224"/>
                  <a:gd name="T30" fmla="*/ 722 w 2117"/>
                  <a:gd name="T31" fmla="*/ 538 h 1224"/>
                  <a:gd name="T32" fmla="*/ 792 w 2117"/>
                  <a:gd name="T33" fmla="*/ 498 h 1224"/>
                  <a:gd name="T34" fmla="*/ 839 w 2117"/>
                  <a:gd name="T35" fmla="*/ 461 h 1224"/>
                  <a:gd name="T36" fmla="*/ 842 w 2117"/>
                  <a:gd name="T37" fmla="*/ 339 h 1224"/>
                  <a:gd name="T38" fmla="*/ 881 w 2117"/>
                  <a:gd name="T39" fmla="*/ 334 h 1224"/>
                  <a:gd name="T40" fmla="*/ 918 w 2117"/>
                  <a:gd name="T41" fmla="*/ 362 h 1224"/>
                  <a:gd name="T42" fmla="*/ 1015 w 2117"/>
                  <a:gd name="T43" fmla="*/ 341 h 1224"/>
                  <a:gd name="T44" fmla="*/ 1051 w 2117"/>
                  <a:gd name="T45" fmla="*/ 207 h 1224"/>
                  <a:gd name="T46" fmla="*/ 947 w 2117"/>
                  <a:gd name="T47" fmla="*/ 130 h 1224"/>
                  <a:gd name="T48" fmla="*/ 888 w 2117"/>
                  <a:gd name="T49" fmla="*/ 165 h 1224"/>
                  <a:gd name="T50" fmla="*/ 863 w 2117"/>
                  <a:gd name="T51" fmla="*/ 201 h 1224"/>
                  <a:gd name="T52" fmla="*/ 826 w 2117"/>
                  <a:gd name="T53" fmla="*/ 208 h 1224"/>
                  <a:gd name="T54" fmla="*/ 812 w 2117"/>
                  <a:gd name="T55" fmla="*/ 195 h 1224"/>
                  <a:gd name="T56" fmla="*/ 802 w 2117"/>
                  <a:gd name="T57" fmla="*/ 186 h 1224"/>
                  <a:gd name="T58" fmla="*/ 801 w 2117"/>
                  <a:gd name="T59" fmla="*/ 171 h 1224"/>
                  <a:gd name="T60" fmla="*/ 836 w 2117"/>
                  <a:gd name="T61" fmla="*/ 165 h 1224"/>
                  <a:gd name="T62" fmla="*/ 863 w 2117"/>
                  <a:gd name="T63" fmla="*/ 154 h 1224"/>
                  <a:gd name="T64" fmla="*/ 899 w 2117"/>
                  <a:gd name="T65" fmla="*/ 55 h 1224"/>
                  <a:gd name="T66" fmla="*/ 774 w 2117"/>
                  <a:gd name="T67" fmla="*/ 0 h 1224"/>
                  <a:gd name="T68" fmla="*/ 658 w 2117"/>
                  <a:gd name="T69" fmla="*/ 72 h 1224"/>
                  <a:gd name="T70" fmla="*/ 659 w 2117"/>
                  <a:gd name="T71" fmla="*/ 98 h 1224"/>
                  <a:gd name="T72" fmla="*/ 661 w 2117"/>
                  <a:gd name="T73" fmla="*/ 124 h 1224"/>
                  <a:gd name="T74" fmla="*/ 653 w 2117"/>
                  <a:gd name="T75" fmla="*/ 145 h 1224"/>
                  <a:gd name="T76" fmla="*/ 631 w 2117"/>
                  <a:gd name="T77" fmla="*/ 150 h 1224"/>
                  <a:gd name="T78" fmla="*/ 609 w 2117"/>
                  <a:gd name="T79" fmla="*/ 155 h 1224"/>
                  <a:gd name="T80" fmla="*/ 573 w 2117"/>
                  <a:gd name="T81" fmla="*/ 167 h 1224"/>
                  <a:gd name="T82" fmla="*/ 532 w 2117"/>
                  <a:gd name="T83" fmla="*/ 182 h 1224"/>
                  <a:gd name="T84" fmla="*/ 492 w 2117"/>
                  <a:gd name="T85" fmla="*/ 197 h 1224"/>
                  <a:gd name="T86" fmla="*/ 469 w 2117"/>
                  <a:gd name="T87" fmla="*/ 216 h 1224"/>
                  <a:gd name="T88" fmla="*/ 447 w 2117"/>
                  <a:gd name="T89" fmla="*/ 235 h 122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17"/>
                  <a:gd name="T136" fmla="*/ 0 h 1224"/>
                  <a:gd name="T137" fmla="*/ 2117 w 2117"/>
                  <a:gd name="T138" fmla="*/ 1224 h 122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17" h="1224">
                    <a:moveTo>
                      <a:pt x="864" y="496"/>
                    </a:moveTo>
                    <a:lnTo>
                      <a:pt x="806" y="531"/>
                    </a:lnTo>
                    <a:lnTo>
                      <a:pt x="752" y="574"/>
                    </a:lnTo>
                    <a:lnTo>
                      <a:pt x="700" y="618"/>
                    </a:lnTo>
                    <a:lnTo>
                      <a:pt x="653" y="663"/>
                    </a:lnTo>
                    <a:lnTo>
                      <a:pt x="604" y="704"/>
                    </a:lnTo>
                    <a:lnTo>
                      <a:pt x="556" y="743"/>
                    </a:lnTo>
                    <a:lnTo>
                      <a:pt x="506" y="774"/>
                    </a:lnTo>
                    <a:lnTo>
                      <a:pt x="456" y="797"/>
                    </a:lnTo>
                    <a:lnTo>
                      <a:pt x="412" y="797"/>
                    </a:lnTo>
                    <a:lnTo>
                      <a:pt x="378" y="799"/>
                    </a:lnTo>
                    <a:lnTo>
                      <a:pt x="349" y="802"/>
                    </a:lnTo>
                    <a:lnTo>
                      <a:pt x="324" y="809"/>
                    </a:lnTo>
                    <a:lnTo>
                      <a:pt x="299" y="818"/>
                    </a:lnTo>
                    <a:lnTo>
                      <a:pt x="274" y="831"/>
                    </a:lnTo>
                    <a:lnTo>
                      <a:pt x="244" y="846"/>
                    </a:lnTo>
                    <a:lnTo>
                      <a:pt x="209" y="868"/>
                    </a:lnTo>
                    <a:lnTo>
                      <a:pt x="131" y="942"/>
                    </a:lnTo>
                    <a:lnTo>
                      <a:pt x="77" y="987"/>
                    </a:lnTo>
                    <a:lnTo>
                      <a:pt x="41" y="1011"/>
                    </a:lnTo>
                    <a:lnTo>
                      <a:pt x="22" y="1027"/>
                    </a:lnTo>
                    <a:lnTo>
                      <a:pt x="10" y="1045"/>
                    </a:lnTo>
                    <a:lnTo>
                      <a:pt x="7" y="1076"/>
                    </a:lnTo>
                    <a:lnTo>
                      <a:pt x="3" y="1131"/>
                    </a:lnTo>
                    <a:lnTo>
                      <a:pt x="0" y="1224"/>
                    </a:lnTo>
                    <a:lnTo>
                      <a:pt x="39" y="1219"/>
                    </a:lnTo>
                    <a:lnTo>
                      <a:pt x="79" y="1214"/>
                    </a:lnTo>
                    <a:lnTo>
                      <a:pt x="118" y="1209"/>
                    </a:lnTo>
                    <a:lnTo>
                      <a:pt x="160" y="1205"/>
                    </a:lnTo>
                    <a:lnTo>
                      <a:pt x="199" y="1200"/>
                    </a:lnTo>
                    <a:lnTo>
                      <a:pt x="239" y="1195"/>
                    </a:lnTo>
                    <a:lnTo>
                      <a:pt x="278" y="1191"/>
                    </a:lnTo>
                    <a:lnTo>
                      <a:pt x="319" y="1188"/>
                    </a:lnTo>
                    <a:lnTo>
                      <a:pt x="419" y="1185"/>
                    </a:lnTo>
                    <a:lnTo>
                      <a:pt x="521" y="1183"/>
                    </a:lnTo>
                    <a:lnTo>
                      <a:pt x="621" y="1178"/>
                    </a:lnTo>
                    <a:lnTo>
                      <a:pt x="723" y="1173"/>
                    </a:lnTo>
                    <a:lnTo>
                      <a:pt x="823" y="1165"/>
                    </a:lnTo>
                    <a:lnTo>
                      <a:pt x="923" y="1158"/>
                    </a:lnTo>
                    <a:lnTo>
                      <a:pt x="1025" y="1149"/>
                    </a:lnTo>
                    <a:lnTo>
                      <a:pt x="1128" y="1141"/>
                    </a:lnTo>
                    <a:lnTo>
                      <a:pt x="1194" y="1144"/>
                    </a:lnTo>
                    <a:lnTo>
                      <a:pt x="1246" y="1144"/>
                    </a:lnTo>
                    <a:lnTo>
                      <a:pt x="1288" y="1141"/>
                    </a:lnTo>
                    <a:lnTo>
                      <a:pt x="1326" y="1135"/>
                    </a:lnTo>
                    <a:lnTo>
                      <a:pt x="1360" y="1123"/>
                    </a:lnTo>
                    <a:lnTo>
                      <a:pt x="1399" y="1102"/>
                    </a:lnTo>
                    <a:lnTo>
                      <a:pt x="1444" y="1075"/>
                    </a:lnTo>
                    <a:lnTo>
                      <a:pt x="1502" y="1041"/>
                    </a:lnTo>
                    <a:lnTo>
                      <a:pt x="1542" y="1013"/>
                    </a:lnTo>
                    <a:lnTo>
                      <a:pt x="1583" y="996"/>
                    </a:lnTo>
                    <a:lnTo>
                      <a:pt x="1621" y="978"/>
                    </a:lnTo>
                    <a:lnTo>
                      <a:pt x="1655" y="957"/>
                    </a:lnTo>
                    <a:lnTo>
                      <a:pt x="1678" y="922"/>
                    </a:lnTo>
                    <a:lnTo>
                      <a:pt x="1693" y="868"/>
                    </a:lnTo>
                    <a:lnTo>
                      <a:pt x="1696" y="789"/>
                    </a:lnTo>
                    <a:lnTo>
                      <a:pt x="1683" y="678"/>
                    </a:lnTo>
                    <a:lnTo>
                      <a:pt x="1713" y="659"/>
                    </a:lnTo>
                    <a:lnTo>
                      <a:pt x="1740" y="658"/>
                    </a:lnTo>
                    <a:lnTo>
                      <a:pt x="1762" y="669"/>
                    </a:lnTo>
                    <a:lnTo>
                      <a:pt x="1785" y="688"/>
                    </a:lnTo>
                    <a:lnTo>
                      <a:pt x="1808" y="708"/>
                    </a:lnTo>
                    <a:lnTo>
                      <a:pt x="1835" y="725"/>
                    </a:lnTo>
                    <a:lnTo>
                      <a:pt x="1868" y="735"/>
                    </a:lnTo>
                    <a:lnTo>
                      <a:pt x="1910" y="734"/>
                    </a:lnTo>
                    <a:lnTo>
                      <a:pt x="2029" y="683"/>
                    </a:lnTo>
                    <a:lnTo>
                      <a:pt x="2097" y="604"/>
                    </a:lnTo>
                    <a:lnTo>
                      <a:pt x="2117" y="508"/>
                    </a:lnTo>
                    <a:lnTo>
                      <a:pt x="2101" y="414"/>
                    </a:lnTo>
                    <a:lnTo>
                      <a:pt x="2052" y="332"/>
                    </a:lnTo>
                    <a:lnTo>
                      <a:pt x="1981" y="277"/>
                    </a:lnTo>
                    <a:lnTo>
                      <a:pt x="1893" y="260"/>
                    </a:lnTo>
                    <a:lnTo>
                      <a:pt x="1797" y="300"/>
                    </a:lnTo>
                    <a:lnTo>
                      <a:pt x="1786" y="310"/>
                    </a:lnTo>
                    <a:lnTo>
                      <a:pt x="1775" y="331"/>
                    </a:lnTo>
                    <a:lnTo>
                      <a:pt x="1760" y="354"/>
                    </a:lnTo>
                    <a:lnTo>
                      <a:pt x="1745" y="381"/>
                    </a:lnTo>
                    <a:lnTo>
                      <a:pt x="1725" y="402"/>
                    </a:lnTo>
                    <a:lnTo>
                      <a:pt x="1703" y="420"/>
                    </a:lnTo>
                    <a:lnTo>
                      <a:pt x="1678" y="425"/>
                    </a:lnTo>
                    <a:lnTo>
                      <a:pt x="1652" y="417"/>
                    </a:lnTo>
                    <a:lnTo>
                      <a:pt x="1639" y="406"/>
                    </a:lnTo>
                    <a:lnTo>
                      <a:pt x="1632" y="398"/>
                    </a:lnTo>
                    <a:lnTo>
                      <a:pt x="1624" y="391"/>
                    </a:lnTo>
                    <a:lnTo>
                      <a:pt x="1618" y="386"/>
                    </a:lnTo>
                    <a:lnTo>
                      <a:pt x="1611" y="378"/>
                    </a:lnTo>
                    <a:lnTo>
                      <a:pt x="1604" y="372"/>
                    </a:lnTo>
                    <a:lnTo>
                      <a:pt x="1596" y="364"/>
                    </a:lnTo>
                    <a:lnTo>
                      <a:pt x="1584" y="356"/>
                    </a:lnTo>
                    <a:lnTo>
                      <a:pt x="1602" y="342"/>
                    </a:lnTo>
                    <a:lnTo>
                      <a:pt x="1623" y="336"/>
                    </a:lnTo>
                    <a:lnTo>
                      <a:pt x="1646" y="332"/>
                    </a:lnTo>
                    <a:lnTo>
                      <a:pt x="1671" y="331"/>
                    </a:lnTo>
                    <a:lnTo>
                      <a:pt x="1692" y="327"/>
                    </a:lnTo>
                    <a:lnTo>
                      <a:pt x="1712" y="321"/>
                    </a:lnTo>
                    <a:lnTo>
                      <a:pt x="1726" y="308"/>
                    </a:lnTo>
                    <a:lnTo>
                      <a:pt x="1735" y="288"/>
                    </a:lnTo>
                    <a:lnTo>
                      <a:pt x="1800" y="189"/>
                    </a:lnTo>
                    <a:lnTo>
                      <a:pt x="1797" y="110"/>
                    </a:lnTo>
                    <a:lnTo>
                      <a:pt x="1741" y="49"/>
                    </a:lnTo>
                    <a:lnTo>
                      <a:pt x="1653" y="12"/>
                    </a:lnTo>
                    <a:lnTo>
                      <a:pt x="1548" y="0"/>
                    </a:lnTo>
                    <a:lnTo>
                      <a:pt x="1445" y="16"/>
                    </a:lnTo>
                    <a:lnTo>
                      <a:pt x="1361" y="62"/>
                    </a:lnTo>
                    <a:lnTo>
                      <a:pt x="1316" y="143"/>
                    </a:lnTo>
                    <a:lnTo>
                      <a:pt x="1316" y="160"/>
                    </a:lnTo>
                    <a:lnTo>
                      <a:pt x="1316" y="179"/>
                    </a:lnTo>
                    <a:lnTo>
                      <a:pt x="1317" y="196"/>
                    </a:lnTo>
                    <a:lnTo>
                      <a:pt x="1318" y="214"/>
                    </a:lnTo>
                    <a:lnTo>
                      <a:pt x="1320" y="230"/>
                    </a:lnTo>
                    <a:lnTo>
                      <a:pt x="1321" y="248"/>
                    </a:lnTo>
                    <a:lnTo>
                      <a:pt x="1322" y="267"/>
                    </a:lnTo>
                    <a:lnTo>
                      <a:pt x="1325" y="287"/>
                    </a:lnTo>
                    <a:lnTo>
                      <a:pt x="1306" y="289"/>
                    </a:lnTo>
                    <a:lnTo>
                      <a:pt x="1291" y="293"/>
                    </a:lnTo>
                    <a:lnTo>
                      <a:pt x="1276" y="297"/>
                    </a:lnTo>
                    <a:lnTo>
                      <a:pt x="1262" y="300"/>
                    </a:lnTo>
                    <a:lnTo>
                      <a:pt x="1247" y="303"/>
                    </a:lnTo>
                    <a:lnTo>
                      <a:pt x="1233" y="307"/>
                    </a:lnTo>
                    <a:lnTo>
                      <a:pt x="1217" y="310"/>
                    </a:lnTo>
                    <a:lnTo>
                      <a:pt x="1201" y="314"/>
                    </a:lnTo>
                    <a:lnTo>
                      <a:pt x="1173" y="324"/>
                    </a:lnTo>
                    <a:lnTo>
                      <a:pt x="1145" y="334"/>
                    </a:lnTo>
                    <a:lnTo>
                      <a:pt x="1118" y="344"/>
                    </a:lnTo>
                    <a:lnTo>
                      <a:pt x="1091" y="354"/>
                    </a:lnTo>
                    <a:lnTo>
                      <a:pt x="1064" y="364"/>
                    </a:lnTo>
                    <a:lnTo>
                      <a:pt x="1036" y="374"/>
                    </a:lnTo>
                    <a:lnTo>
                      <a:pt x="1010" y="384"/>
                    </a:lnTo>
                    <a:lnTo>
                      <a:pt x="984" y="394"/>
                    </a:lnTo>
                    <a:lnTo>
                      <a:pt x="969" y="407"/>
                    </a:lnTo>
                    <a:lnTo>
                      <a:pt x="954" y="420"/>
                    </a:lnTo>
                    <a:lnTo>
                      <a:pt x="938" y="432"/>
                    </a:lnTo>
                    <a:lnTo>
                      <a:pt x="923" y="445"/>
                    </a:lnTo>
                    <a:lnTo>
                      <a:pt x="908" y="457"/>
                    </a:lnTo>
                    <a:lnTo>
                      <a:pt x="893" y="470"/>
                    </a:lnTo>
                    <a:lnTo>
                      <a:pt x="878" y="482"/>
                    </a:lnTo>
                    <a:lnTo>
                      <a:pt x="864" y="496"/>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3" name="Freeform 602">
                <a:extLst>
                  <a:ext uri="{FF2B5EF4-FFF2-40B4-BE49-F238E27FC236}">
                    <a16:creationId xmlns:a16="http://schemas.microsoft.com/office/drawing/2014/main" id="{7DF0792E-2865-784B-ABA8-77C1E1C13FE9}"/>
                  </a:ext>
                </a:extLst>
              </p:cNvPr>
              <p:cNvSpPr>
                <a:spLocks/>
              </p:cNvSpPr>
              <p:nvPr/>
            </p:nvSpPr>
            <p:spPr bwMode="auto">
              <a:xfrm>
                <a:off x="3693" y="2684"/>
                <a:ext cx="1024" cy="586"/>
              </a:xfrm>
              <a:custGeom>
                <a:avLst/>
                <a:gdLst>
                  <a:gd name="T0" fmla="*/ 343 w 2048"/>
                  <a:gd name="T1" fmla="*/ 277 h 1171"/>
                  <a:gd name="T2" fmla="*/ 276 w 2048"/>
                  <a:gd name="T3" fmla="*/ 341 h 1171"/>
                  <a:gd name="T4" fmla="*/ 206 w 2048"/>
                  <a:gd name="T5" fmla="*/ 387 h 1171"/>
                  <a:gd name="T6" fmla="*/ 155 w 2048"/>
                  <a:gd name="T7" fmla="*/ 390 h 1171"/>
                  <a:gd name="T8" fmla="*/ 119 w 2048"/>
                  <a:gd name="T9" fmla="*/ 406 h 1171"/>
                  <a:gd name="T10" fmla="*/ 51 w 2048"/>
                  <a:gd name="T11" fmla="*/ 461 h 1171"/>
                  <a:gd name="T12" fmla="*/ 3 w 2048"/>
                  <a:gd name="T13" fmla="*/ 502 h 1171"/>
                  <a:gd name="T14" fmla="*/ 1 w 2048"/>
                  <a:gd name="T15" fmla="*/ 547 h 1171"/>
                  <a:gd name="T16" fmla="*/ 37 w 2048"/>
                  <a:gd name="T17" fmla="*/ 581 h 1171"/>
                  <a:gd name="T18" fmla="*/ 92 w 2048"/>
                  <a:gd name="T19" fmla="*/ 577 h 1171"/>
                  <a:gd name="T20" fmla="*/ 150 w 2048"/>
                  <a:gd name="T21" fmla="*/ 572 h 1171"/>
                  <a:gd name="T22" fmla="*/ 289 w 2048"/>
                  <a:gd name="T23" fmla="*/ 570 h 1171"/>
                  <a:gd name="T24" fmla="*/ 436 w 2048"/>
                  <a:gd name="T25" fmla="*/ 563 h 1171"/>
                  <a:gd name="T26" fmla="*/ 569 w 2048"/>
                  <a:gd name="T27" fmla="*/ 556 h 1171"/>
                  <a:gd name="T28" fmla="*/ 636 w 2048"/>
                  <a:gd name="T29" fmla="*/ 552 h 1171"/>
                  <a:gd name="T30" fmla="*/ 691 w 2048"/>
                  <a:gd name="T31" fmla="*/ 526 h 1171"/>
                  <a:gd name="T32" fmla="*/ 757 w 2048"/>
                  <a:gd name="T33" fmla="*/ 489 h 1171"/>
                  <a:gd name="T34" fmla="*/ 805 w 2048"/>
                  <a:gd name="T35" fmla="*/ 452 h 1171"/>
                  <a:gd name="T36" fmla="*/ 807 w 2048"/>
                  <a:gd name="T37" fmla="*/ 330 h 1171"/>
                  <a:gd name="T38" fmla="*/ 847 w 2048"/>
                  <a:gd name="T39" fmla="*/ 325 h 1171"/>
                  <a:gd name="T40" fmla="*/ 883 w 2048"/>
                  <a:gd name="T41" fmla="*/ 353 h 1171"/>
                  <a:gd name="T42" fmla="*/ 980 w 2048"/>
                  <a:gd name="T43" fmla="*/ 332 h 1171"/>
                  <a:gd name="T44" fmla="*/ 1015 w 2048"/>
                  <a:gd name="T45" fmla="*/ 200 h 1171"/>
                  <a:gd name="T46" fmla="*/ 909 w 2048"/>
                  <a:gd name="T47" fmla="*/ 124 h 1171"/>
                  <a:gd name="T48" fmla="*/ 850 w 2048"/>
                  <a:gd name="T49" fmla="*/ 159 h 1171"/>
                  <a:gd name="T50" fmla="*/ 827 w 2048"/>
                  <a:gd name="T51" fmla="*/ 193 h 1171"/>
                  <a:gd name="T52" fmla="*/ 792 w 2048"/>
                  <a:gd name="T53" fmla="*/ 199 h 1171"/>
                  <a:gd name="T54" fmla="*/ 778 w 2048"/>
                  <a:gd name="T55" fmla="*/ 186 h 1171"/>
                  <a:gd name="T56" fmla="*/ 767 w 2048"/>
                  <a:gd name="T57" fmla="*/ 175 h 1171"/>
                  <a:gd name="T58" fmla="*/ 765 w 2048"/>
                  <a:gd name="T59" fmla="*/ 160 h 1171"/>
                  <a:gd name="T60" fmla="*/ 795 w 2048"/>
                  <a:gd name="T61" fmla="*/ 153 h 1171"/>
                  <a:gd name="T62" fmla="*/ 819 w 2048"/>
                  <a:gd name="T63" fmla="*/ 141 h 1171"/>
                  <a:gd name="T64" fmla="*/ 848 w 2048"/>
                  <a:gd name="T65" fmla="*/ 50 h 1171"/>
                  <a:gd name="T66" fmla="*/ 731 w 2048"/>
                  <a:gd name="T67" fmla="*/ 0 h 1171"/>
                  <a:gd name="T68" fmla="*/ 626 w 2048"/>
                  <a:gd name="T69" fmla="*/ 65 h 1171"/>
                  <a:gd name="T70" fmla="*/ 626 w 2048"/>
                  <a:gd name="T71" fmla="*/ 91 h 1171"/>
                  <a:gd name="T72" fmla="*/ 627 w 2048"/>
                  <a:gd name="T73" fmla="*/ 115 h 1171"/>
                  <a:gd name="T74" fmla="*/ 619 w 2048"/>
                  <a:gd name="T75" fmla="*/ 135 h 1171"/>
                  <a:gd name="T76" fmla="*/ 597 w 2048"/>
                  <a:gd name="T77" fmla="*/ 141 h 1171"/>
                  <a:gd name="T78" fmla="*/ 574 w 2048"/>
                  <a:gd name="T79" fmla="*/ 146 h 1171"/>
                  <a:gd name="T80" fmla="*/ 538 w 2048"/>
                  <a:gd name="T81" fmla="*/ 158 h 1171"/>
                  <a:gd name="T82" fmla="*/ 498 w 2048"/>
                  <a:gd name="T83" fmla="*/ 173 h 1171"/>
                  <a:gd name="T84" fmla="*/ 458 w 2048"/>
                  <a:gd name="T85" fmla="*/ 188 h 1171"/>
                  <a:gd name="T86" fmla="*/ 435 w 2048"/>
                  <a:gd name="T87" fmla="*/ 207 h 1171"/>
                  <a:gd name="T88" fmla="*/ 412 w 2048"/>
                  <a:gd name="T89" fmla="*/ 226 h 117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048"/>
                  <a:gd name="T136" fmla="*/ 0 h 1171"/>
                  <a:gd name="T137" fmla="*/ 2048 w 2048"/>
                  <a:gd name="T138" fmla="*/ 1171 h 117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048" h="1171">
                    <a:moveTo>
                      <a:pt x="796" y="477"/>
                    </a:moveTo>
                    <a:lnTo>
                      <a:pt x="739" y="512"/>
                    </a:lnTo>
                    <a:lnTo>
                      <a:pt x="687" y="553"/>
                    </a:lnTo>
                    <a:lnTo>
                      <a:pt x="640" y="597"/>
                    </a:lnTo>
                    <a:lnTo>
                      <a:pt x="597" y="641"/>
                    </a:lnTo>
                    <a:lnTo>
                      <a:pt x="553" y="682"/>
                    </a:lnTo>
                    <a:lnTo>
                      <a:pt x="509" y="720"/>
                    </a:lnTo>
                    <a:lnTo>
                      <a:pt x="463" y="751"/>
                    </a:lnTo>
                    <a:lnTo>
                      <a:pt x="413" y="774"/>
                    </a:lnTo>
                    <a:lnTo>
                      <a:pt x="370" y="774"/>
                    </a:lnTo>
                    <a:lnTo>
                      <a:pt x="337" y="776"/>
                    </a:lnTo>
                    <a:lnTo>
                      <a:pt x="310" y="780"/>
                    </a:lnTo>
                    <a:lnTo>
                      <a:pt x="286" y="788"/>
                    </a:lnTo>
                    <a:lnTo>
                      <a:pt x="262" y="798"/>
                    </a:lnTo>
                    <a:lnTo>
                      <a:pt x="238" y="812"/>
                    </a:lnTo>
                    <a:lnTo>
                      <a:pt x="208" y="829"/>
                    </a:lnTo>
                    <a:lnTo>
                      <a:pt x="173" y="852"/>
                    </a:lnTo>
                    <a:lnTo>
                      <a:pt x="102" y="922"/>
                    </a:lnTo>
                    <a:lnTo>
                      <a:pt x="53" y="964"/>
                    </a:lnTo>
                    <a:lnTo>
                      <a:pt x="21" y="987"/>
                    </a:lnTo>
                    <a:lnTo>
                      <a:pt x="6" y="1003"/>
                    </a:lnTo>
                    <a:lnTo>
                      <a:pt x="0" y="1018"/>
                    </a:lnTo>
                    <a:lnTo>
                      <a:pt x="0" y="1046"/>
                    </a:lnTo>
                    <a:lnTo>
                      <a:pt x="1" y="1093"/>
                    </a:lnTo>
                    <a:lnTo>
                      <a:pt x="3" y="1171"/>
                    </a:lnTo>
                    <a:lnTo>
                      <a:pt x="38" y="1166"/>
                    </a:lnTo>
                    <a:lnTo>
                      <a:pt x="74" y="1162"/>
                    </a:lnTo>
                    <a:lnTo>
                      <a:pt x="109" y="1160"/>
                    </a:lnTo>
                    <a:lnTo>
                      <a:pt x="147" y="1157"/>
                    </a:lnTo>
                    <a:lnTo>
                      <a:pt x="185" y="1154"/>
                    </a:lnTo>
                    <a:lnTo>
                      <a:pt x="222" y="1151"/>
                    </a:lnTo>
                    <a:lnTo>
                      <a:pt x="260" y="1147"/>
                    </a:lnTo>
                    <a:lnTo>
                      <a:pt x="301" y="1144"/>
                    </a:lnTo>
                    <a:lnTo>
                      <a:pt x="391" y="1144"/>
                    </a:lnTo>
                    <a:lnTo>
                      <a:pt x="484" y="1144"/>
                    </a:lnTo>
                    <a:lnTo>
                      <a:pt x="578" y="1140"/>
                    </a:lnTo>
                    <a:lnTo>
                      <a:pt x="676" y="1137"/>
                    </a:lnTo>
                    <a:lnTo>
                      <a:pt x="773" y="1131"/>
                    </a:lnTo>
                    <a:lnTo>
                      <a:pt x="872" y="1125"/>
                    </a:lnTo>
                    <a:lnTo>
                      <a:pt x="971" y="1117"/>
                    </a:lnTo>
                    <a:lnTo>
                      <a:pt x="1072" y="1111"/>
                    </a:lnTo>
                    <a:lnTo>
                      <a:pt x="1138" y="1112"/>
                    </a:lnTo>
                    <a:lnTo>
                      <a:pt x="1191" y="1112"/>
                    </a:lnTo>
                    <a:lnTo>
                      <a:pt x="1234" y="1110"/>
                    </a:lnTo>
                    <a:lnTo>
                      <a:pt x="1272" y="1104"/>
                    </a:lnTo>
                    <a:lnTo>
                      <a:pt x="1306" y="1091"/>
                    </a:lnTo>
                    <a:lnTo>
                      <a:pt x="1342" y="1075"/>
                    </a:lnTo>
                    <a:lnTo>
                      <a:pt x="1382" y="1052"/>
                    </a:lnTo>
                    <a:lnTo>
                      <a:pt x="1434" y="1022"/>
                    </a:lnTo>
                    <a:lnTo>
                      <a:pt x="1474" y="994"/>
                    </a:lnTo>
                    <a:lnTo>
                      <a:pt x="1515" y="977"/>
                    </a:lnTo>
                    <a:lnTo>
                      <a:pt x="1553" y="959"/>
                    </a:lnTo>
                    <a:lnTo>
                      <a:pt x="1587" y="938"/>
                    </a:lnTo>
                    <a:lnTo>
                      <a:pt x="1610" y="903"/>
                    </a:lnTo>
                    <a:lnTo>
                      <a:pt x="1625" y="849"/>
                    </a:lnTo>
                    <a:lnTo>
                      <a:pt x="1628" y="770"/>
                    </a:lnTo>
                    <a:lnTo>
                      <a:pt x="1615" y="659"/>
                    </a:lnTo>
                    <a:lnTo>
                      <a:pt x="1645" y="640"/>
                    </a:lnTo>
                    <a:lnTo>
                      <a:pt x="1672" y="639"/>
                    </a:lnTo>
                    <a:lnTo>
                      <a:pt x="1694" y="650"/>
                    </a:lnTo>
                    <a:lnTo>
                      <a:pt x="1717" y="669"/>
                    </a:lnTo>
                    <a:lnTo>
                      <a:pt x="1740" y="689"/>
                    </a:lnTo>
                    <a:lnTo>
                      <a:pt x="1767" y="706"/>
                    </a:lnTo>
                    <a:lnTo>
                      <a:pt x="1800" y="716"/>
                    </a:lnTo>
                    <a:lnTo>
                      <a:pt x="1842" y="715"/>
                    </a:lnTo>
                    <a:lnTo>
                      <a:pt x="1961" y="664"/>
                    </a:lnTo>
                    <a:lnTo>
                      <a:pt x="2028" y="585"/>
                    </a:lnTo>
                    <a:lnTo>
                      <a:pt x="2048" y="492"/>
                    </a:lnTo>
                    <a:lnTo>
                      <a:pt x="2030" y="399"/>
                    </a:lnTo>
                    <a:lnTo>
                      <a:pt x="1980" y="318"/>
                    </a:lnTo>
                    <a:lnTo>
                      <a:pt x="1908" y="263"/>
                    </a:lnTo>
                    <a:lnTo>
                      <a:pt x="1819" y="248"/>
                    </a:lnTo>
                    <a:lnTo>
                      <a:pt x="1722" y="288"/>
                    </a:lnTo>
                    <a:lnTo>
                      <a:pt x="1712" y="298"/>
                    </a:lnTo>
                    <a:lnTo>
                      <a:pt x="1701" y="317"/>
                    </a:lnTo>
                    <a:lnTo>
                      <a:pt x="1687" y="340"/>
                    </a:lnTo>
                    <a:lnTo>
                      <a:pt x="1673" y="365"/>
                    </a:lnTo>
                    <a:lnTo>
                      <a:pt x="1654" y="385"/>
                    </a:lnTo>
                    <a:lnTo>
                      <a:pt x="1634" y="402"/>
                    </a:lnTo>
                    <a:lnTo>
                      <a:pt x="1610" y="406"/>
                    </a:lnTo>
                    <a:lnTo>
                      <a:pt x="1584" y="398"/>
                    </a:lnTo>
                    <a:lnTo>
                      <a:pt x="1571" y="387"/>
                    </a:lnTo>
                    <a:lnTo>
                      <a:pt x="1564" y="379"/>
                    </a:lnTo>
                    <a:lnTo>
                      <a:pt x="1556" y="372"/>
                    </a:lnTo>
                    <a:lnTo>
                      <a:pt x="1550" y="365"/>
                    </a:lnTo>
                    <a:lnTo>
                      <a:pt x="1543" y="358"/>
                    </a:lnTo>
                    <a:lnTo>
                      <a:pt x="1535" y="350"/>
                    </a:lnTo>
                    <a:lnTo>
                      <a:pt x="1526" y="342"/>
                    </a:lnTo>
                    <a:lnTo>
                      <a:pt x="1515" y="333"/>
                    </a:lnTo>
                    <a:lnTo>
                      <a:pt x="1530" y="319"/>
                    </a:lnTo>
                    <a:lnTo>
                      <a:pt x="1550" y="312"/>
                    </a:lnTo>
                    <a:lnTo>
                      <a:pt x="1569" y="307"/>
                    </a:lnTo>
                    <a:lnTo>
                      <a:pt x="1590" y="305"/>
                    </a:lnTo>
                    <a:lnTo>
                      <a:pt x="1608" y="300"/>
                    </a:lnTo>
                    <a:lnTo>
                      <a:pt x="1625" y="294"/>
                    </a:lnTo>
                    <a:lnTo>
                      <a:pt x="1638" y="281"/>
                    </a:lnTo>
                    <a:lnTo>
                      <a:pt x="1647" y="264"/>
                    </a:lnTo>
                    <a:lnTo>
                      <a:pt x="1702" y="172"/>
                    </a:lnTo>
                    <a:lnTo>
                      <a:pt x="1696" y="100"/>
                    </a:lnTo>
                    <a:lnTo>
                      <a:pt x="1643" y="43"/>
                    </a:lnTo>
                    <a:lnTo>
                      <a:pt x="1561" y="11"/>
                    </a:lnTo>
                    <a:lnTo>
                      <a:pt x="1462" y="0"/>
                    </a:lnTo>
                    <a:lnTo>
                      <a:pt x="1368" y="15"/>
                    </a:lnTo>
                    <a:lnTo>
                      <a:pt x="1293" y="57"/>
                    </a:lnTo>
                    <a:lnTo>
                      <a:pt x="1252" y="130"/>
                    </a:lnTo>
                    <a:lnTo>
                      <a:pt x="1252" y="147"/>
                    </a:lnTo>
                    <a:lnTo>
                      <a:pt x="1252" y="165"/>
                    </a:lnTo>
                    <a:lnTo>
                      <a:pt x="1252" y="181"/>
                    </a:lnTo>
                    <a:lnTo>
                      <a:pt x="1253" y="197"/>
                    </a:lnTo>
                    <a:lnTo>
                      <a:pt x="1253" y="213"/>
                    </a:lnTo>
                    <a:lnTo>
                      <a:pt x="1254" y="230"/>
                    </a:lnTo>
                    <a:lnTo>
                      <a:pt x="1254" y="248"/>
                    </a:lnTo>
                    <a:lnTo>
                      <a:pt x="1257" y="268"/>
                    </a:lnTo>
                    <a:lnTo>
                      <a:pt x="1238" y="270"/>
                    </a:lnTo>
                    <a:lnTo>
                      <a:pt x="1223" y="274"/>
                    </a:lnTo>
                    <a:lnTo>
                      <a:pt x="1208" y="278"/>
                    </a:lnTo>
                    <a:lnTo>
                      <a:pt x="1194" y="281"/>
                    </a:lnTo>
                    <a:lnTo>
                      <a:pt x="1179" y="284"/>
                    </a:lnTo>
                    <a:lnTo>
                      <a:pt x="1165" y="288"/>
                    </a:lnTo>
                    <a:lnTo>
                      <a:pt x="1149" y="291"/>
                    </a:lnTo>
                    <a:lnTo>
                      <a:pt x="1133" y="295"/>
                    </a:lnTo>
                    <a:lnTo>
                      <a:pt x="1105" y="305"/>
                    </a:lnTo>
                    <a:lnTo>
                      <a:pt x="1077" y="315"/>
                    </a:lnTo>
                    <a:lnTo>
                      <a:pt x="1050" y="325"/>
                    </a:lnTo>
                    <a:lnTo>
                      <a:pt x="1023" y="335"/>
                    </a:lnTo>
                    <a:lnTo>
                      <a:pt x="996" y="345"/>
                    </a:lnTo>
                    <a:lnTo>
                      <a:pt x="968" y="355"/>
                    </a:lnTo>
                    <a:lnTo>
                      <a:pt x="942" y="365"/>
                    </a:lnTo>
                    <a:lnTo>
                      <a:pt x="916" y="375"/>
                    </a:lnTo>
                    <a:lnTo>
                      <a:pt x="901" y="388"/>
                    </a:lnTo>
                    <a:lnTo>
                      <a:pt x="886" y="401"/>
                    </a:lnTo>
                    <a:lnTo>
                      <a:pt x="870" y="413"/>
                    </a:lnTo>
                    <a:lnTo>
                      <a:pt x="855" y="426"/>
                    </a:lnTo>
                    <a:lnTo>
                      <a:pt x="840" y="438"/>
                    </a:lnTo>
                    <a:lnTo>
                      <a:pt x="825" y="451"/>
                    </a:lnTo>
                    <a:lnTo>
                      <a:pt x="810" y="463"/>
                    </a:lnTo>
                    <a:lnTo>
                      <a:pt x="796" y="477"/>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4" name="Freeform 603">
                <a:extLst>
                  <a:ext uri="{FF2B5EF4-FFF2-40B4-BE49-F238E27FC236}">
                    <a16:creationId xmlns:a16="http://schemas.microsoft.com/office/drawing/2014/main" id="{8FDB8FAC-4D2A-524E-A4D3-44D380166F36}"/>
                  </a:ext>
                </a:extLst>
              </p:cNvPr>
              <p:cNvSpPr>
                <a:spLocks/>
              </p:cNvSpPr>
              <p:nvPr/>
            </p:nvSpPr>
            <p:spPr bwMode="auto">
              <a:xfrm>
                <a:off x="3723" y="2694"/>
                <a:ext cx="993" cy="561"/>
              </a:xfrm>
              <a:custGeom>
                <a:avLst/>
                <a:gdLst>
                  <a:gd name="T0" fmla="*/ 316 w 1985"/>
                  <a:gd name="T1" fmla="*/ 267 h 1121"/>
                  <a:gd name="T2" fmla="*/ 256 w 1985"/>
                  <a:gd name="T3" fmla="*/ 330 h 1121"/>
                  <a:gd name="T4" fmla="*/ 190 w 1985"/>
                  <a:gd name="T5" fmla="*/ 375 h 1121"/>
                  <a:gd name="T6" fmla="*/ 140 w 1985"/>
                  <a:gd name="T7" fmla="*/ 380 h 1121"/>
                  <a:gd name="T8" fmla="*/ 105 w 1985"/>
                  <a:gd name="T9" fmla="*/ 397 h 1121"/>
                  <a:gd name="T10" fmla="*/ 40 w 1985"/>
                  <a:gd name="T11" fmla="*/ 450 h 1121"/>
                  <a:gd name="T12" fmla="*/ 1 w 1985"/>
                  <a:gd name="T13" fmla="*/ 489 h 1121"/>
                  <a:gd name="T14" fmla="*/ 5 w 1985"/>
                  <a:gd name="T15" fmla="*/ 528 h 1121"/>
                  <a:gd name="T16" fmla="*/ 39 w 1985"/>
                  <a:gd name="T17" fmla="*/ 557 h 1121"/>
                  <a:gd name="T18" fmla="*/ 89 w 1985"/>
                  <a:gd name="T19" fmla="*/ 554 h 1121"/>
                  <a:gd name="T20" fmla="*/ 146 w 1985"/>
                  <a:gd name="T21" fmla="*/ 550 h 1121"/>
                  <a:gd name="T22" fmla="*/ 273 w 1985"/>
                  <a:gd name="T23" fmla="*/ 552 h 1121"/>
                  <a:gd name="T24" fmla="*/ 414 w 1985"/>
                  <a:gd name="T25" fmla="*/ 546 h 1121"/>
                  <a:gd name="T26" fmla="*/ 545 w 1985"/>
                  <a:gd name="T27" fmla="*/ 541 h 1121"/>
                  <a:gd name="T28" fmla="*/ 614 w 1985"/>
                  <a:gd name="T29" fmla="*/ 536 h 1121"/>
                  <a:gd name="T30" fmla="*/ 665 w 1985"/>
                  <a:gd name="T31" fmla="*/ 513 h 1121"/>
                  <a:gd name="T32" fmla="*/ 728 w 1985"/>
                  <a:gd name="T33" fmla="*/ 479 h 1121"/>
                  <a:gd name="T34" fmla="*/ 775 w 1985"/>
                  <a:gd name="T35" fmla="*/ 442 h 1121"/>
                  <a:gd name="T36" fmla="*/ 778 w 1985"/>
                  <a:gd name="T37" fmla="*/ 320 h 1121"/>
                  <a:gd name="T38" fmla="*/ 817 w 1985"/>
                  <a:gd name="T39" fmla="*/ 315 h 1121"/>
                  <a:gd name="T40" fmla="*/ 854 w 1985"/>
                  <a:gd name="T41" fmla="*/ 343 h 1121"/>
                  <a:gd name="T42" fmla="*/ 951 w 1985"/>
                  <a:gd name="T43" fmla="*/ 322 h 1121"/>
                  <a:gd name="T44" fmla="*/ 984 w 1985"/>
                  <a:gd name="T45" fmla="*/ 191 h 1121"/>
                  <a:gd name="T46" fmla="*/ 876 w 1985"/>
                  <a:gd name="T47" fmla="*/ 117 h 1121"/>
                  <a:gd name="T48" fmla="*/ 818 w 1985"/>
                  <a:gd name="T49" fmla="*/ 152 h 1121"/>
                  <a:gd name="T50" fmla="*/ 796 w 1985"/>
                  <a:gd name="T51" fmla="*/ 184 h 1121"/>
                  <a:gd name="T52" fmla="*/ 762 w 1985"/>
                  <a:gd name="T53" fmla="*/ 189 h 1121"/>
                  <a:gd name="T54" fmla="*/ 748 w 1985"/>
                  <a:gd name="T55" fmla="*/ 175 h 1121"/>
                  <a:gd name="T56" fmla="*/ 737 w 1985"/>
                  <a:gd name="T57" fmla="*/ 164 h 1121"/>
                  <a:gd name="T58" fmla="*/ 734 w 1985"/>
                  <a:gd name="T59" fmla="*/ 148 h 1121"/>
                  <a:gd name="T60" fmla="*/ 759 w 1985"/>
                  <a:gd name="T61" fmla="*/ 139 h 1121"/>
                  <a:gd name="T62" fmla="*/ 779 w 1985"/>
                  <a:gd name="T63" fmla="*/ 127 h 1121"/>
                  <a:gd name="T64" fmla="*/ 801 w 1985"/>
                  <a:gd name="T65" fmla="*/ 45 h 1121"/>
                  <a:gd name="T66" fmla="*/ 693 w 1985"/>
                  <a:gd name="T67" fmla="*/ 0 h 1121"/>
                  <a:gd name="T68" fmla="*/ 597 w 1985"/>
                  <a:gd name="T69" fmla="*/ 58 h 1121"/>
                  <a:gd name="T70" fmla="*/ 597 w 1985"/>
                  <a:gd name="T71" fmla="*/ 82 h 1121"/>
                  <a:gd name="T72" fmla="*/ 597 w 1985"/>
                  <a:gd name="T73" fmla="*/ 106 h 1121"/>
                  <a:gd name="T74" fmla="*/ 589 w 1985"/>
                  <a:gd name="T75" fmla="*/ 125 h 1121"/>
                  <a:gd name="T76" fmla="*/ 567 w 1985"/>
                  <a:gd name="T77" fmla="*/ 131 h 1121"/>
                  <a:gd name="T78" fmla="*/ 545 w 1985"/>
                  <a:gd name="T79" fmla="*/ 136 h 1121"/>
                  <a:gd name="T80" fmla="*/ 509 w 1985"/>
                  <a:gd name="T81" fmla="*/ 148 h 1121"/>
                  <a:gd name="T82" fmla="*/ 468 w 1985"/>
                  <a:gd name="T83" fmla="*/ 163 h 1121"/>
                  <a:gd name="T84" fmla="*/ 428 w 1985"/>
                  <a:gd name="T85" fmla="*/ 178 h 1121"/>
                  <a:gd name="T86" fmla="*/ 405 w 1985"/>
                  <a:gd name="T87" fmla="*/ 197 h 1121"/>
                  <a:gd name="T88" fmla="*/ 383 w 1985"/>
                  <a:gd name="T89" fmla="*/ 216 h 112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85"/>
                  <a:gd name="T136" fmla="*/ 0 h 1121"/>
                  <a:gd name="T137" fmla="*/ 1985 w 1985"/>
                  <a:gd name="T138" fmla="*/ 1121 h 112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85" h="1121">
                    <a:moveTo>
                      <a:pt x="736" y="457"/>
                    </a:moveTo>
                    <a:lnTo>
                      <a:pt x="680" y="492"/>
                    </a:lnTo>
                    <a:lnTo>
                      <a:pt x="632" y="533"/>
                    </a:lnTo>
                    <a:lnTo>
                      <a:pt x="590" y="576"/>
                    </a:lnTo>
                    <a:lnTo>
                      <a:pt x="551" y="620"/>
                    </a:lnTo>
                    <a:lnTo>
                      <a:pt x="511" y="660"/>
                    </a:lnTo>
                    <a:lnTo>
                      <a:pt x="472" y="698"/>
                    </a:lnTo>
                    <a:lnTo>
                      <a:pt x="428" y="728"/>
                    </a:lnTo>
                    <a:lnTo>
                      <a:pt x="380" y="750"/>
                    </a:lnTo>
                    <a:lnTo>
                      <a:pt x="338" y="750"/>
                    </a:lnTo>
                    <a:lnTo>
                      <a:pt x="305" y="754"/>
                    </a:lnTo>
                    <a:lnTo>
                      <a:pt x="279" y="759"/>
                    </a:lnTo>
                    <a:lnTo>
                      <a:pt x="256" y="768"/>
                    </a:lnTo>
                    <a:lnTo>
                      <a:pt x="234" y="778"/>
                    </a:lnTo>
                    <a:lnTo>
                      <a:pt x="210" y="793"/>
                    </a:lnTo>
                    <a:lnTo>
                      <a:pt x="181" y="810"/>
                    </a:lnTo>
                    <a:lnTo>
                      <a:pt x="146" y="833"/>
                    </a:lnTo>
                    <a:lnTo>
                      <a:pt x="79" y="899"/>
                    </a:lnTo>
                    <a:lnTo>
                      <a:pt x="37" y="939"/>
                    </a:lnTo>
                    <a:lnTo>
                      <a:pt x="12" y="962"/>
                    </a:lnTo>
                    <a:lnTo>
                      <a:pt x="2" y="977"/>
                    </a:lnTo>
                    <a:lnTo>
                      <a:pt x="0" y="991"/>
                    </a:lnTo>
                    <a:lnTo>
                      <a:pt x="5" y="1015"/>
                    </a:lnTo>
                    <a:lnTo>
                      <a:pt x="10" y="1055"/>
                    </a:lnTo>
                    <a:lnTo>
                      <a:pt x="14" y="1121"/>
                    </a:lnTo>
                    <a:lnTo>
                      <a:pt x="44" y="1116"/>
                    </a:lnTo>
                    <a:lnTo>
                      <a:pt x="77" y="1114"/>
                    </a:lnTo>
                    <a:lnTo>
                      <a:pt x="109" y="1111"/>
                    </a:lnTo>
                    <a:lnTo>
                      <a:pt x="143" y="1110"/>
                    </a:lnTo>
                    <a:lnTo>
                      <a:pt x="177" y="1107"/>
                    </a:lnTo>
                    <a:lnTo>
                      <a:pt x="214" y="1106"/>
                    </a:lnTo>
                    <a:lnTo>
                      <a:pt x="251" y="1102"/>
                    </a:lnTo>
                    <a:lnTo>
                      <a:pt x="291" y="1100"/>
                    </a:lnTo>
                    <a:lnTo>
                      <a:pt x="372" y="1102"/>
                    </a:lnTo>
                    <a:lnTo>
                      <a:pt x="457" y="1104"/>
                    </a:lnTo>
                    <a:lnTo>
                      <a:pt x="546" y="1104"/>
                    </a:lnTo>
                    <a:lnTo>
                      <a:pt x="637" y="1101"/>
                    </a:lnTo>
                    <a:lnTo>
                      <a:pt x="730" y="1096"/>
                    </a:lnTo>
                    <a:lnTo>
                      <a:pt x="827" y="1092"/>
                    </a:lnTo>
                    <a:lnTo>
                      <a:pt x="925" y="1086"/>
                    </a:lnTo>
                    <a:lnTo>
                      <a:pt x="1024" y="1081"/>
                    </a:lnTo>
                    <a:lnTo>
                      <a:pt x="1090" y="1082"/>
                    </a:lnTo>
                    <a:lnTo>
                      <a:pt x="1144" y="1082"/>
                    </a:lnTo>
                    <a:lnTo>
                      <a:pt x="1188" y="1079"/>
                    </a:lnTo>
                    <a:lnTo>
                      <a:pt x="1227" y="1072"/>
                    </a:lnTo>
                    <a:lnTo>
                      <a:pt x="1259" y="1061"/>
                    </a:lnTo>
                    <a:lnTo>
                      <a:pt x="1293" y="1046"/>
                    </a:lnTo>
                    <a:lnTo>
                      <a:pt x="1330" y="1026"/>
                    </a:lnTo>
                    <a:lnTo>
                      <a:pt x="1374" y="1002"/>
                    </a:lnTo>
                    <a:lnTo>
                      <a:pt x="1414" y="974"/>
                    </a:lnTo>
                    <a:lnTo>
                      <a:pt x="1455" y="957"/>
                    </a:lnTo>
                    <a:lnTo>
                      <a:pt x="1493" y="939"/>
                    </a:lnTo>
                    <a:lnTo>
                      <a:pt x="1527" y="918"/>
                    </a:lnTo>
                    <a:lnTo>
                      <a:pt x="1550" y="883"/>
                    </a:lnTo>
                    <a:lnTo>
                      <a:pt x="1565" y="829"/>
                    </a:lnTo>
                    <a:lnTo>
                      <a:pt x="1568" y="750"/>
                    </a:lnTo>
                    <a:lnTo>
                      <a:pt x="1555" y="639"/>
                    </a:lnTo>
                    <a:lnTo>
                      <a:pt x="1585" y="620"/>
                    </a:lnTo>
                    <a:lnTo>
                      <a:pt x="1612" y="619"/>
                    </a:lnTo>
                    <a:lnTo>
                      <a:pt x="1634" y="630"/>
                    </a:lnTo>
                    <a:lnTo>
                      <a:pt x="1657" y="649"/>
                    </a:lnTo>
                    <a:lnTo>
                      <a:pt x="1680" y="669"/>
                    </a:lnTo>
                    <a:lnTo>
                      <a:pt x="1707" y="686"/>
                    </a:lnTo>
                    <a:lnTo>
                      <a:pt x="1740" y="696"/>
                    </a:lnTo>
                    <a:lnTo>
                      <a:pt x="1782" y="695"/>
                    </a:lnTo>
                    <a:lnTo>
                      <a:pt x="1901" y="644"/>
                    </a:lnTo>
                    <a:lnTo>
                      <a:pt x="1967" y="566"/>
                    </a:lnTo>
                    <a:lnTo>
                      <a:pt x="1985" y="473"/>
                    </a:lnTo>
                    <a:lnTo>
                      <a:pt x="1967" y="382"/>
                    </a:lnTo>
                    <a:lnTo>
                      <a:pt x="1915" y="300"/>
                    </a:lnTo>
                    <a:lnTo>
                      <a:pt x="1841" y="246"/>
                    </a:lnTo>
                    <a:lnTo>
                      <a:pt x="1752" y="233"/>
                    </a:lnTo>
                    <a:lnTo>
                      <a:pt x="1656" y="273"/>
                    </a:lnTo>
                    <a:lnTo>
                      <a:pt x="1646" y="283"/>
                    </a:lnTo>
                    <a:lnTo>
                      <a:pt x="1636" y="303"/>
                    </a:lnTo>
                    <a:lnTo>
                      <a:pt x="1623" y="324"/>
                    </a:lnTo>
                    <a:lnTo>
                      <a:pt x="1609" y="348"/>
                    </a:lnTo>
                    <a:lnTo>
                      <a:pt x="1592" y="368"/>
                    </a:lnTo>
                    <a:lnTo>
                      <a:pt x="1573" y="382"/>
                    </a:lnTo>
                    <a:lnTo>
                      <a:pt x="1550" y="387"/>
                    </a:lnTo>
                    <a:lnTo>
                      <a:pt x="1524" y="378"/>
                    </a:lnTo>
                    <a:lnTo>
                      <a:pt x="1511" y="367"/>
                    </a:lnTo>
                    <a:lnTo>
                      <a:pt x="1503" y="358"/>
                    </a:lnTo>
                    <a:lnTo>
                      <a:pt x="1495" y="350"/>
                    </a:lnTo>
                    <a:lnTo>
                      <a:pt x="1489" y="343"/>
                    </a:lnTo>
                    <a:lnTo>
                      <a:pt x="1481" y="334"/>
                    </a:lnTo>
                    <a:lnTo>
                      <a:pt x="1474" y="327"/>
                    </a:lnTo>
                    <a:lnTo>
                      <a:pt x="1464" y="318"/>
                    </a:lnTo>
                    <a:lnTo>
                      <a:pt x="1454" y="309"/>
                    </a:lnTo>
                    <a:lnTo>
                      <a:pt x="1468" y="295"/>
                    </a:lnTo>
                    <a:lnTo>
                      <a:pt x="1485" y="288"/>
                    </a:lnTo>
                    <a:lnTo>
                      <a:pt x="1501" y="282"/>
                    </a:lnTo>
                    <a:lnTo>
                      <a:pt x="1518" y="278"/>
                    </a:lnTo>
                    <a:lnTo>
                      <a:pt x="1532" y="273"/>
                    </a:lnTo>
                    <a:lnTo>
                      <a:pt x="1547" y="265"/>
                    </a:lnTo>
                    <a:lnTo>
                      <a:pt x="1557" y="253"/>
                    </a:lnTo>
                    <a:lnTo>
                      <a:pt x="1564" y="236"/>
                    </a:lnTo>
                    <a:lnTo>
                      <a:pt x="1611" y="155"/>
                    </a:lnTo>
                    <a:lnTo>
                      <a:pt x="1602" y="89"/>
                    </a:lnTo>
                    <a:lnTo>
                      <a:pt x="1552" y="38"/>
                    </a:lnTo>
                    <a:lnTo>
                      <a:pt x="1475" y="10"/>
                    </a:lnTo>
                    <a:lnTo>
                      <a:pt x="1386" y="0"/>
                    </a:lnTo>
                    <a:lnTo>
                      <a:pt x="1301" y="12"/>
                    </a:lnTo>
                    <a:lnTo>
                      <a:pt x="1231" y="50"/>
                    </a:lnTo>
                    <a:lnTo>
                      <a:pt x="1194" y="115"/>
                    </a:lnTo>
                    <a:lnTo>
                      <a:pt x="1194" y="132"/>
                    </a:lnTo>
                    <a:lnTo>
                      <a:pt x="1194" y="149"/>
                    </a:lnTo>
                    <a:lnTo>
                      <a:pt x="1194" y="164"/>
                    </a:lnTo>
                    <a:lnTo>
                      <a:pt x="1195" y="180"/>
                    </a:lnTo>
                    <a:lnTo>
                      <a:pt x="1194" y="195"/>
                    </a:lnTo>
                    <a:lnTo>
                      <a:pt x="1194" y="211"/>
                    </a:lnTo>
                    <a:lnTo>
                      <a:pt x="1194" y="228"/>
                    </a:lnTo>
                    <a:lnTo>
                      <a:pt x="1197" y="248"/>
                    </a:lnTo>
                    <a:lnTo>
                      <a:pt x="1178" y="250"/>
                    </a:lnTo>
                    <a:lnTo>
                      <a:pt x="1163" y="254"/>
                    </a:lnTo>
                    <a:lnTo>
                      <a:pt x="1148" y="258"/>
                    </a:lnTo>
                    <a:lnTo>
                      <a:pt x="1134" y="261"/>
                    </a:lnTo>
                    <a:lnTo>
                      <a:pt x="1119" y="264"/>
                    </a:lnTo>
                    <a:lnTo>
                      <a:pt x="1105" y="268"/>
                    </a:lnTo>
                    <a:lnTo>
                      <a:pt x="1089" y="271"/>
                    </a:lnTo>
                    <a:lnTo>
                      <a:pt x="1073" y="275"/>
                    </a:lnTo>
                    <a:lnTo>
                      <a:pt x="1045" y="285"/>
                    </a:lnTo>
                    <a:lnTo>
                      <a:pt x="1017" y="295"/>
                    </a:lnTo>
                    <a:lnTo>
                      <a:pt x="990" y="305"/>
                    </a:lnTo>
                    <a:lnTo>
                      <a:pt x="963" y="315"/>
                    </a:lnTo>
                    <a:lnTo>
                      <a:pt x="936" y="325"/>
                    </a:lnTo>
                    <a:lnTo>
                      <a:pt x="908" y="335"/>
                    </a:lnTo>
                    <a:lnTo>
                      <a:pt x="882" y="345"/>
                    </a:lnTo>
                    <a:lnTo>
                      <a:pt x="856" y="355"/>
                    </a:lnTo>
                    <a:lnTo>
                      <a:pt x="841" y="368"/>
                    </a:lnTo>
                    <a:lnTo>
                      <a:pt x="826" y="381"/>
                    </a:lnTo>
                    <a:lnTo>
                      <a:pt x="810" y="393"/>
                    </a:lnTo>
                    <a:lnTo>
                      <a:pt x="795" y="406"/>
                    </a:lnTo>
                    <a:lnTo>
                      <a:pt x="780" y="418"/>
                    </a:lnTo>
                    <a:lnTo>
                      <a:pt x="765" y="431"/>
                    </a:lnTo>
                    <a:lnTo>
                      <a:pt x="750" y="443"/>
                    </a:lnTo>
                    <a:lnTo>
                      <a:pt x="736" y="457"/>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5" name="Freeform 604">
                <a:extLst>
                  <a:ext uri="{FF2B5EF4-FFF2-40B4-BE49-F238E27FC236}">
                    <a16:creationId xmlns:a16="http://schemas.microsoft.com/office/drawing/2014/main" id="{0752B624-0C6B-CE40-9D2D-67180BB66F84}"/>
                  </a:ext>
                </a:extLst>
              </p:cNvPr>
              <p:cNvSpPr>
                <a:spLocks/>
              </p:cNvSpPr>
              <p:nvPr/>
            </p:nvSpPr>
            <p:spPr bwMode="auto">
              <a:xfrm>
                <a:off x="3751" y="2703"/>
                <a:ext cx="963" cy="536"/>
              </a:xfrm>
              <a:custGeom>
                <a:avLst/>
                <a:gdLst>
                  <a:gd name="T0" fmla="*/ 290 w 1927"/>
                  <a:gd name="T1" fmla="*/ 258 h 1072"/>
                  <a:gd name="T2" fmla="*/ 237 w 1927"/>
                  <a:gd name="T3" fmla="*/ 321 h 1072"/>
                  <a:gd name="T4" fmla="*/ 176 w 1927"/>
                  <a:gd name="T5" fmla="*/ 364 h 1072"/>
                  <a:gd name="T6" fmla="*/ 126 w 1927"/>
                  <a:gd name="T7" fmla="*/ 369 h 1072"/>
                  <a:gd name="T8" fmla="*/ 93 w 1927"/>
                  <a:gd name="T9" fmla="*/ 388 h 1072"/>
                  <a:gd name="T10" fmla="*/ 31 w 1927"/>
                  <a:gd name="T11" fmla="*/ 439 h 1072"/>
                  <a:gd name="T12" fmla="*/ 0 w 1927"/>
                  <a:gd name="T13" fmla="*/ 477 h 1072"/>
                  <a:gd name="T14" fmla="*/ 10 w 1927"/>
                  <a:gd name="T15" fmla="*/ 508 h 1072"/>
                  <a:gd name="T16" fmla="*/ 41 w 1927"/>
                  <a:gd name="T17" fmla="*/ 533 h 1072"/>
                  <a:gd name="T18" fmla="*/ 87 w 1927"/>
                  <a:gd name="T19" fmla="*/ 532 h 1072"/>
                  <a:gd name="T20" fmla="*/ 142 w 1927"/>
                  <a:gd name="T21" fmla="*/ 530 h 1072"/>
                  <a:gd name="T22" fmla="*/ 257 w 1927"/>
                  <a:gd name="T23" fmla="*/ 534 h 1072"/>
                  <a:gd name="T24" fmla="*/ 393 w 1927"/>
                  <a:gd name="T25" fmla="*/ 532 h 1072"/>
                  <a:gd name="T26" fmla="*/ 523 w 1927"/>
                  <a:gd name="T27" fmla="*/ 527 h 1072"/>
                  <a:gd name="T28" fmla="*/ 592 w 1927"/>
                  <a:gd name="T29" fmla="*/ 523 h 1072"/>
                  <a:gd name="T30" fmla="*/ 640 w 1927"/>
                  <a:gd name="T31" fmla="*/ 502 h 1072"/>
                  <a:gd name="T32" fmla="*/ 699 w 1927"/>
                  <a:gd name="T33" fmla="*/ 470 h 1072"/>
                  <a:gd name="T34" fmla="*/ 747 w 1927"/>
                  <a:gd name="T35" fmla="*/ 433 h 1072"/>
                  <a:gd name="T36" fmla="*/ 749 w 1927"/>
                  <a:gd name="T37" fmla="*/ 311 h 1072"/>
                  <a:gd name="T38" fmla="*/ 789 w 1927"/>
                  <a:gd name="T39" fmla="*/ 306 h 1072"/>
                  <a:gd name="T40" fmla="*/ 825 w 1927"/>
                  <a:gd name="T41" fmla="*/ 334 h 1072"/>
                  <a:gd name="T42" fmla="*/ 922 w 1927"/>
                  <a:gd name="T43" fmla="*/ 313 h 1072"/>
                  <a:gd name="T44" fmla="*/ 953 w 1927"/>
                  <a:gd name="T45" fmla="*/ 184 h 1072"/>
                  <a:gd name="T46" fmla="*/ 845 w 1927"/>
                  <a:gd name="T47" fmla="*/ 111 h 1072"/>
                  <a:gd name="T48" fmla="*/ 787 w 1927"/>
                  <a:gd name="T49" fmla="*/ 145 h 1072"/>
                  <a:gd name="T50" fmla="*/ 767 w 1927"/>
                  <a:gd name="T51" fmla="*/ 176 h 1072"/>
                  <a:gd name="T52" fmla="*/ 734 w 1927"/>
                  <a:gd name="T53" fmla="*/ 180 h 1072"/>
                  <a:gd name="T54" fmla="*/ 719 w 1927"/>
                  <a:gd name="T55" fmla="*/ 166 h 1072"/>
                  <a:gd name="T56" fmla="*/ 708 w 1927"/>
                  <a:gd name="T57" fmla="*/ 154 h 1072"/>
                  <a:gd name="T58" fmla="*/ 704 w 1927"/>
                  <a:gd name="T59" fmla="*/ 137 h 1072"/>
                  <a:gd name="T60" fmla="*/ 725 w 1927"/>
                  <a:gd name="T61" fmla="*/ 127 h 1072"/>
                  <a:gd name="T62" fmla="*/ 739 w 1927"/>
                  <a:gd name="T63" fmla="*/ 114 h 1072"/>
                  <a:gd name="T64" fmla="*/ 756 w 1927"/>
                  <a:gd name="T65" fmla="*/ 40 h 1072"/>
                  <a:gd name="T66" fmla="*/ 656 w 1927"/>
                  <a:gd name="T67" fmla="*/ 0 h 1072"/>
                  <a:gd name="T68" fmla="*/ 571 w 1927"/>
                  <a:gd name="T69" fmla="*/ 51 h 1072"/>
                  <a:gd name="T70" fmla="*/ 570 w 1927"/>
                  <a:gd name="T71" fmla="*/ 75 h 1072"/>
                  <a:gd name="T72" fmla="*/ 569 w 1927"/>
                  <a:gd name="T73" fmla="*/ 97 h 1072"/>
                  <a:gd name="T74" fmla="*/ 561 w 1927"/>
                  <a:gd name="T75" fmla="*/ 116 h 1072"/>
                  <a:gd name="T76" fmla="*/ 539 w 1927"/>
                  <a:gd name="T77" fmla="*/ 122 h 1072"/>
                  <a:gd name="T78" fmla="*/ 516 w 1927"/>
                  <a:gd name="T79" fmla="*/ 127 h 1072"/>
                  <a:gd name="T80" fmla="*/ 480 w 1927"/>
                  <a:gd name="T81" fmla="*/ 139 h 1072"/>
                  <a:gd name="T82" fmla="*/ 440 w 1927"/>
                  <a:gd name="T83" fmla="*/ 154 h 1072"/>
                  <a:gd name="T84" fmla="*/ 400 w 1927"/>
                  <a:gd name="T85" fmla="*/ 169 h 1072"/>
                  <a:gd name="T86" fmla="*/ 377 w 1927"/>
                  <a:gd name="T87" fmla="*/ 188 h 1072"/>
                  <a:gd name="T88" fmla="*/ 354 w 1927"/>
                  <a:gd name="T89" fmla="*/ 207 h 107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927"/>
                  <a:gd name="T136" fmla="*/ 0 h 1072"/>
                  <a:gd name="T137" fmla="*/ 1927 w 1927"/>
                  <a:gd name="T138" fmla="*/ 1072 h 107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927" h="1072">
                    <a:moveTo>
                      <a:pt x="680" y="440"/>
                    </a:moveTo>
                    <a:lnTo>
                      <a:pt x="625" y="475"/>
                    </a:lnTo>
                    <a:lnTo>
                      <a:pt x="580" y="515"/>
                    </a:lnTo>
                    <a:lnTo>
                      <a:pt x="541" y="558"/>
                    </a:lnTo>
                    <a:lnTo>
                      <a:pt x="509" y="602"/>
                    </a:lnTo>
                    <a:lnTo>
                      <a:pt x="475" y="642"/>
                    </a:lnTo>
                    <a:lnTo>
                      <a:pt x="440" y="678"/>
                    </a:lnTo>
                    <a:lnTo>
                      <a:pt x="400" y="707"/>
                    </a:lnTo>
                    <a:lnTo>
                      <a:pt x="352" y="729"/>
                    </a:lnTo>
                    <a:lnTo>
                      <a:pt x="309" y="729"/>
                    </a:lnTo>
                    <a:lnTo>
                      <a:pt x="278" y="733"/>
                    </a:lnTo>
                    <a:lnTo>
                      <a:pt x="252" y="739"/>
                    </a:lnTo>
                    <a:lnTo>
                      <a:pt x="230" y="749"/>
                    </a:lnTo>
                    <a:lnTo>
                      <a:pt x="209" y="761"/>
                    </a:lnTo>
                    <a:lnTo>
                      <a:pt x="186" y="777"/>
                    </a:lnTo>
                    <a:lnTo>
                      <a:pt x="158" y="795"/>
                    </a:lnTo>
                    <a:lnTo>
                      <a:pt x="124" y="817"/>
                    </a:lnTo>
                    <a:lnTo>
                      <a:pt x="63" y="879"/>
                    </a:lnTo>
                    <a:lnTo>
                      <a:pt x="26" y="919"/>
                    </a:lnTo>
                    <a:lnTo>
                      <a:pt x="5" y="941"/>
                    </a:lnTo>
                    <a:lnTo>
                      <a:pt x="0" y="955"/>
                    </a:lnTo>
                    <a:lnTo>
                      <a:pt x="2" y="966"/>
                    </a:lnTo>
                    <a:lnTo>
                      <a:pt x="11" y="985"/>
                    </a:lnTo>
                    <a:lnTo>
                      <a:pt x="21" y="1016"/>
                    </a:lnTo>
                    <a:lnTo>
                      <a:pt x="28" y="1072"/>
                    </a:lnTo>
                    <a:lnTo>
                      <a:pt x="55" y="1067"/>
                    </a:lnTo>
                    <a:lnTo>
                      <a:pt x="82" y="1065"/>
                    </a:lnTo>
                    <a:lnTo>
                      <a:pt x="111" y="1065"/>
                    </a:lnTo>
                    <a:lnTo>
                      <a:pt x="142" y="1065"/>
                    </a:lnTo>
                    <a:lnTo>
                      <a:pt x="174" y="1064"/>
                    </a:lnTo>
                    <a:lnTo>
                      <a:pt x="209" y="1064"/>
                    </a:lnTo>
                    <a:lnTo>
                      <a:pt x="245" y="1062"/>
                    </a:lnTo>
                    <a:lnTo>
                      <a:pt x="285" y="1059"/>
                    </a:lnTo>
                    <a:lnTo>
                      <a:pt x="356" y="1063"/>
                    </a:lnTo>
                    <a:lnTo>
                      <a:pt x="432" y="1068"/>
                    </a:lnTo>
                    <a:lnTo>
                      <a:pt x="515" y="1068"/>
                    </a:lnTo>
                    <a:lnTo>
                      <a:pt x="603" y="1069"/>
                    </a:lnTo>
                    <a:lnTo>
                      <a:pt x="692" y="1067"/>
                    </a:lnTo>
                    <a:lnTo>
                      <a:pt x="786" y="1064"/>
                    </a:lnTo>
                    <a:lnTo>
                      <a:pt x="882" y="1059"/>
                    </a:lnTo>
                    <a:lnTo>
                      <a:pt x="980" y="1054"/>
                    </a:lnTo>
                    <a:lnTo>
                      <a:pt x="1047" y="1054"/>
                    </a:lnTo>
                    <a:lnTo>
                      <a:pt x="1102" y="1054"/>
                    </a:lnTo>
                    <a:lnTo>
                      <a:pt x="1146" y="1050"/>
                    </a:lnTo>
                    <a:lnTo>
                      <a:pt x="1185" y="1045"/>
                    </a:lnTo>
                    <a:lnTo>
                      <a:pt x="1217" y="1034"/>
                    </a:lnTo>
                    <a:lnTo>
                      <a:pt x="1249" y="1021"/>
                    </a:lnTo>
                    <a:lnTo>
                      <a:pt x="1281" y="1005"/>
                    </a:lnTo>
                    <a:lnTo>
                      <a:pt x="1318" y="985"/>
                    </a:lnTo>
                    <a:lnTo>
                      <a:pt x="1358" y="957"/>
                    </a:lnTo>
                    <a:lnTo>
                      <a:pt x="1399" y="940"/>
                    </a:lnTo>
                    <a:lnTo>
                      <a:pt x="1437" y="922"/>
                    </a:lnTo>
                    <a:lnTo>
                      <a:pt x="1471" y="901"/>
                    </a:lnTo>
                    <a:lnTo>
                      <a:pt x="1494" y="866"/>
                    </a:lnTo>
                    <a:lnTo>
                      <a:pt x="1509" y="812"/>
                    </a:lnTo>
                    <a:lnTo>
                      <a:pt x="1512" y="733"/>
                    </a:lnTo>
                    <a:lnTo>
                      <a:pt x="1499" y="622"/>
                    </a:lnTo>
                    <a:lnTo>
                      <a:pt x="1529" y="603"/>
                    </a:lnTo>
                    <a:lnTo>
                      <a:pt x="1556" y="602"/>
                    </a:lnTo>
                    <a:lnTo>
                      <a:pt x="1578" y="613"/>
                    </a:lnTo>
                    <a:lnTo>
                      <a:pt x="1601" y="632"/>
                    </a:lnTo>
                    <a:lnTo>
                      <a:pt x="1624" y="652"/>
                    </a:lnTo>
                    <a:lnTo>
                      <a:pt x="1651" y="669"/>
                    </a:lnTo>
                    <a:lnTo>
                      <a:pt x="1684" y="679"/>
                    </a:lnTo>
                    <a:lnTo>
                      <a:pt x="1726" y="678"/>
                    </a:lnTo>
                    <a:lnTo>
                      <a:pt x="1844" y="627"/>
                    </a:lnTo>
                    <a:lnTo>
                      <a:pt x="1909" y="550"/>
                    </a:lnTo>
                    <a:lnTo>
                      <a:pt x="1927" y="459"/>
                    </a:lnTo>
                    <a:lnTo>
                      <a:pt x="1907" y="369"/>
                    </a:lnTo>
                    <a:lnTo>
                      <a:pt x="1854" y="288"/>
                    </a:lnTo>
                    <a:lnTo>
                      <a:pt x="1780" y="237"/>
                    </a:lnTo>
                    <a:lnTo>
                      <a:pt x="1690" y="223"/>
                    </a:lnTo>
                    <a:lnTo>
                      <a:pt x="1593" y="263"/>
                    </a:lnTo>
                    <a:lnTo>
                      <a:pt x="1583" y="273"/>
                    </a:lnTo>
                    <a:lnTo>
                      <a:pt x="1575" y="291"/>
                    </a:lnTo>
                    <a:lnTo>
                      <a:pt x="1562" y="311"/>
                    </a:lnTo>
                    <a:lnTo>
                      <a:pt x="1551" y="335"/>
                    </a:lnTo>
                    <a:lnTo>
                      <a:pt x="1534" y="352"/>
                    </a:lnTo>
                    <a:lnTo>
                      <a:pt x="1516" y="366"/>
                    </a:lnTo>
                    <a:lnTo>
                      <a:pt x="1493" y="370"/>
                    </a:lnTo>
                    <a:lnTo>
                      <a:pt x="1468" y="361"/>
                    </a:lnTo>
                    <a:lnTo>
                      <a:pt x="1455" y="350"/>
                    </a:lnTo>
                    <a:lnTo>
                      <a:pt x="1447" y="341"/>
                    </a:lnTo>
                    <a:lnTo>
                      <a:pt x="1439" y="332"/>
                    </a:lnTo>
                    <a:lnTo>
                      <a:pt x="1432" y="325"/>
                    </a:lnTo>
                    <a:lnTo>
                      <a:pt x="1424" y="316"/>
                    </a:lnTo>
                    <a:lnTo>
                      <a:pt x="1417" y="308"/>
                    </a:lnTo>
                    <a:lnTo>
                      <a:pt x="1407" y="298"/>
                    </a:lnTo>
                    <a:lnTo>
                      <a:pt x="1395" y="288"/>
                    </a:lnTo>
                    <a:lnTo>
                      <a:pt x="1409" y="275"/>
                    </a:lnTo>
                    <a:lnTo>
                      <a:pt x="1424" y="266"/>
                    </a:lnTo>
                    <a:lnTo>
                      <a:pt x="1437" y="258"/>
                    </a:lnTo>
                    <a:lnTo>
                      <a:pt x="1450" y="254"/>
                    </a:lnTo>
                    <a:lnTo>
                      <a:pt x="1460" y="247"/>
                    </a:lnTo>
                    <a:lnTo>
                      <a:pt x="1471" y="239"/>
                    </a:lnTo>
                    <a:lnTo>
                      <a:pt x="1479" y="228"/>
                    </a:lnTo>
                    <a:lnTo>
                      <a:pt x="1487" y="213"/>
                    </a:lnTo>
                    <a:lnTo>
                      <a:pt x="1523" y="139"/>
                    </a:lnTo>
                    <a:lnTo>
                      <a:pt x="1512" y="80"/>
                    </a:lnTo>
                    <a:lnTo>
                      <a:pt x="1464" y="35"/>
                    </a:lnTo>
                    <a:lnTo>
                      <a:pt x="1394" y="10"/>
                    </a:lnTo>
                    <a:lnTo>
                      <a:pt x="1313" y="0"/>
                    </a:lnTo>
                    <a:lnTo>
                      <a:pt x="1236" y="13"/>
                    </a:lnTo>
                    <a:lnTo>
                      <a:pt x="1173" y="45"/>
                    </a:lnTo>
                    <a:lnTo>
                      <a:pt x="1142" y="103"/>
                    </a:lnTo>
                    <a:lnTo>
                      <a:pt x="1142" y="119"/>
                    </a:lnTo>
                    <a:lnTo>
                      <a:pt x="1142" y="135"/>
                    </a:lnTo>
                    <a:lnTo>
                      <a:pt x="1141" y="150"/>
                    </a:lnTo>
                    <a:lnTo>
                      <a:pt x="1141" y="166"/>
                    </a:lnTo>
                    <a:lnTo>
                      <a:pt x="1139" y="179"/>
                    </a:lnTo>
                    <a:lnTo>
                      <a:pt x="1138" y="194"/>
                    </a:lnTo>
                    <a:lnTo>
                      <a:pt x="1138" y="211"/>
                    </a:lnTo>
                    <a:lnTo>
                      <a:pt x="1141" y="231"/>
                    </a:lnTo>
                    <a:lnTo>
                      <a:pt x="1122" y="233"/>
                    </a:lnTo>
                    <a:lnTo>
                      <a:pt x="1107" y="237"/>
                    </a:lnTo>
                    <a:lnTo>
                      <a:pt x="1092" y="241"/>
                    </a:lnTo>
                    <a:lnTo>
                      <a:pt x="1078" y="244"/>
                    </a:lnTo>
                    <a:lnTo>
                      <a:pt x="1063" y="247"/>
                    </a:lnTo>
                    <a:lnTo>
                      <a:pt x="1049" y="251"/>
                    </a:lnTo>
                    <a:lnTo>
                      <a:pt x="1033" y="254"/>
                    </a:lnTo>
                    <a:lnTo>
                      <a:pt x="1017" y="258"/>
                    </a:lnTo>
                    <a:lnTo>
                      <a:pt x="989" y="268"/>
                    </a:lnTo>
                    <a:lnTo>
                      <a:pt x="961" y="278"/>
                    </a:lnTo>
                    <a:lnTo>
                      <a:pt x="934" y="288"/>
                    </a:lnTo>
                    <a:lnTo>
                      <a:pt x="907" y="298"/>
                    </a:lnTo>
                    <a:lnTo>
                      <a:pt x="880" y="308"/>
                    </a:lnTo>
                    <a:lnTo>
                      <a:pt x="852" y="318"/>
                    </a:lnTo>
                    <a:lnTo>
                      <a:pt x="826" y="328"/>
                    </a:lnTo>
                    <a:lnTo>
                      <a:pt x="800" y="338"/>
                    </a:lnTo>
                    <a:lnTo>
                      <a:pt x="785" y="351"/>
                    </a:lnTo>
                    <a:lnTo>
                      <a:pt x="770" y="364"/>
                    </a:lnTo>
                    <a:lnTo>
                      <a:pt x="754" y="376"/>
                    </a:lnTo>
                    <a:lnTo>
                      <a:pt x="739" y="389"/>
                    </a:lnTo>
                    <a:lnTo>
                      <a:pt x="724" y="401"/>
                    </a:lnTo>
                    <a:lnTo>
                      <a:pt x="709" y="414"/>
                    </a:lnTo>
                    <a:lnTo>
                      <a:pt x="694" y="426"/>
                    </a:lnTo>
                    <a:lnTo>
                      <a:pt x="680" y="44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6" name="Freeform 605">
                <a:extLst>
                  <a:ext uri="{FF2B5EF4-FFF2-40B4-BE49-F238E27FC236}">
                    <a16:creationId xmlns:a16="http://schemas.microsoft.com/office/drawing/2014/main" id="{D4E55316-EE94-3D47-90FC-E6A88087138D}"/>
                  </a:ext>
                </a:extLst>
              </p:cNvPr>
              <p:cNvSpPr>
                <a:spLocks/>
              </p:cNvSpPr>
              <p:nvPr/>
            </p:nvSpPr>
            <p:spPr bwMode="auto">
              <a:xfrm>
                <a:off x="3778" y="2712"/>
                <a:ext cx="936" cy="517"/>
              </a:xfrm>
              <a:custGeom>
                <a:avLst/>
                <a:gdLst>
                  <a:gd name="T0" fmla="*/ 265 w 1871"/>
                  <a:gd name="T1" fmla="*/ 248 h 1034"/>
                  <a:gd name="T2" fmla="*/ 220 w 1871"/>
                  <a:gd name="T3" fmla="*/ 310 h 1034"/>
                  <a:gd name="T4" fmla="*/ 163 w 1871"/>
                  <a:gd name="T5" fmla="*/ 354 h 1034"/>
                  <a:gd name="T6" fmla="*/ 113 w 1871"/>
                  <a:gd name="T7" fmla="*/ 359 h 1034"/>
                  <a:gd name="T8" fmla="*/ 82 w 1871"/>
                  <a:gd name="T9" fmla="*/ 379 h 1034"/>
                  <a:gd name="T10" fmla="*/ 23 w 1871"/>
                  <a:gd name="T11" fmla="*/ 429 h 1034"/>
                  <a:gd name="T12" fmla="*/ 0 w 1871"/>
                  <a:gd name="T13" fmla="*/ 465 h 1034"/>
                  <a:gd name="T14" fmla="*/ 16 w 1871"/>
                  <a:gd name="T15" fmla="*/ 489 h 1034"/>
                  <a:gd name="T16" fmla="*/ 45 w 1871"/>
                  <a:gd name="T17" fmla="*/ 508 h 1034"/>
                  <a:gd name="T18" fmla="*/ 86 w 1871"/>
                  <a:gd name="T19" fmla="*/ 508 h 1034"/>
                  <a:gd name="T20" fmla="*/ 141 w 1871"/>
                  <a:gd name="T21" fmla="*/ 508 h 1034"/>
                  <a:gd name="T22" fmla="*/ 243 w 1871"/>
                  <a:gd name="T23" fmla="*/ 516 h 1034"/>
                  <a:gd name="T24" fmla="*/ 374 w 1871"/>
                  <a:gd name="T25" fmla="*/ 516 h 1034"/>
                  <a:gd name="T26" fmla="*/ 502 w 1871"/>
                  <a:gd name="T27" fmla="*/ 513 h 1034"/>
                  <a:gd name="T28" fmla="*/ 573 w 1871"/>
                  <a:gd name="T29" fmla="*/ 508 h 1034"/>
                  <a:gd name="T30" fmla="*/ 616 w 1871"/>
                  <a:gd name="T31" fmla="*/ 490 h 1034"/>
                  <a:gd name="T32" fmla="*/ 672 w 1871"/>
                  <a:gd name="T33" fmla="*/ 460 h 1034"/>
                  <a:gd name="T34" fmla="*/ 720 w 1871"/>
                  <a:gd name="T35" fmla="*/ 423 h 1034"/>
                  <a:gd name="T36" fmla="*/ 722 w 1871"/>
                  <a:gd name="T37" fmla="*/ 301 h 1034"/>
                  <a:gd name="T38" fmla="*/ 762 w 1871"/>
                  <a:gd name="T39" fmla="*/ 297 h 1034"/>
                  <a:gd name="T40" fmla="*/ 798 w 1871"/>
                  <a:gd name="T41" fmla="*/ 325 h 1034"/>
                  <a:gd name="T42" fmla="*/ 895 w 1871"/>
                  <a:gd name="T43" fmla="*/ 304 h 1034"/>
                  <a:gd name="T44" fmla="*/ 925 w 1871"/>
                  <a:gd name="T45" fmla="*/ 176 h 1034"/>
                  <a:gd name="T46" fmla="*/ 815 w 1871"/>
                  <a:gd name="T47" fmla="*/ 104 h 1034"/>
                  <a:gd name="T48" fmla="*/ 757 w 1871"/>
                  <a:gd name="T49" fmla="*/ 138 h 1034"/>
                  <a:gd name="T50" fmla="*/ 739 w 1871"/>
                  <a:gd name="T51" fmla="*/ 168 h 1034"/>
                  <a:gd name="T52" fmla="*/ 707 w 1871"/>
                  <a:gd name="T53" fmla="*/ 171 h 1034"/>
                  <a:gd name="T54" fmla="*/ 692 w 1871"/>
                  <a:gd name="T55" fmla="*/ 156 h 1034"/>
                  <a:gd name="T56" fmla="*/ 680 w 1871"/>
                  <a:gd name="T57" fmla="*/ 143 h 1034"/>
                  <a:gd name="T58" fmla="*/ 677 w 1871"/>
                  <a:gd name="T59" fmla="*/ 126 h 1034"/>
                  <a:gd name="T60" fmla="*/ 692 w 1871"/>
                  <a:gd name="T61" fmla="*/ 114 h 1034"/>
                  <a:gd name="T62" fmla="*/ 702 w 1871"/>
                  <a:gd name="T63" fmla="*/ 101 h 1034"/>
                  <a:gd name="T64" fmla="*/ 712 w 1871"/>
                  <a:gd name="T65" fmla="*/ 34 h 1034"/>
                  <a:gd name="T66" fmla="*/ 621 w 1871"/>
                  <a:gd name="T67" fmla="*/ 0 h 1034"/>
                  <a:gd name="T68" fmla="*/ 546 w 1871"/>
                  <a:gd name="T69" fmla="*/ 44 h 1034"/>
                  <a:gd name="T70" fmla="*/ 545 w 1871"/>
                  <a:gd name="T71" fmla="*/ 67 h 1034"/>
                  <a:gd name="T72" fmla="*/ 542 w 1871"/>
                  <a:gd name="T73" fmla="*/ 88 h 1034"/>
                  <a:gd name="T74" fmla="*/ 534 w 1871"/>
                  <a:gd name="T75" fmla="*/ 107 h 1034"/>
                  <a:gd name="T76" fmla="*/ 512 w 1871"/>
                  <a:gd name="T77" fmla="*/ 112 h 1034"/>
                  <a:gd name="T78" fmla="*/ 489 w 1871"/>
                  <a:gd name="T79" fmla="*/ 117 h 1034"/>
                  <a:gd name="T80" fmla="*/ 453 w 1871"/>
                  <a:gd name="T81" fmla="*/ 129 h 1034"/>
                  <a:gd name="T82" fmla="*/ 413 w 1871"/>
                  <a:gd name="T83" fmla="*/ 144 h 1034"/>
                  <a:gd name="T84" fmla="*/ 373 w 1871"/>
                  <a:gd name="T85" fmla="*/ 159 h 1034"/>
                  <a:gd name="T86" fmla="*/ 350 w 1871"/>
                  <a:gd name="T87" fmla="*/ 178 h 1034"/>
                  <a:gd name="T88" fmla="*/ 327 w 1871"/>
                  <a:gd name="T89" fmla="*/ 197 h 103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71"/>
                  <a:gd name="T136" fmla="*/ 0 h 1034"/>
                  <a:gd name="T137" fmla="*/ 1871 w 1871"/>
                  <a:gd name="T138" fmla="*/ 1034 h 103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71" h="1034">
                    <a:moveTo>
                      <a:pt x="625" y="421"/>
                    </a:moveTo>
                    <a:lnTo>
                      <a:pt x="572" y="456"/>
                    </a:lnTo>
                    <a:lnTo>
                      <a:pt x="530" y="496"/>
                    </a:lnTo>
                    <a:lnTo>
                      <a:pt x="496" y="539"/>
                    </a:lnTo>
                    <a:lnTo>
                      <a:pt x="467" y="581"/>
                    </a:lnTo>
                    <a:lnTo>
                      <a:pt x="439" y="620"/>
                    </a:lnTo>
                    <a:lnTo>
                      <a:pt x="407" y="657"/>
                    </a:lnTo>
                    <a:lnTo>
                      <a:pt x="371" y="685"/>
                    </a:lnTo>
                    <a:lnTo>
                      <a:pt x="325" y="708"/>
                    </a:lnTo>
                    <a:lnTo>
                      <a:pt x="282" y="708"/>
                    </a:lnTo>
                    <a:lnTo>
                      <a:pt x="251" y="713"/>
                    </a:lnTo>
                    <a:lnTo>
                      <a:pt x="225" y="719"/>
                    </a:lnTo>
                    <a:lnTo>
                      <a:pt x="205" y="729"/>
                    </a:lnTo>
                    <a:lnTo>
                      <a:pt x="184" y="742"/>
                    </a:lnTo>
                    <a:lnTo>
                      <a:pt x="163" y="758"/>
                    </a:lnTo>
                    <a:lnTo>
                      <a:pt x="135" y="777"/>
                    </a:lnTo>
                    <a:lnTo>
                      <a:pt x="101" y="801"/>
                    </a:lnTo>
                    <a:lnTo>
                      <a:pt x="46" y="858"/>
                    </a:lnTo>
                    <a:lnTo>
                      <a:pt x="15" y="896"/>
                    </a:lnTo>
                    <a:lnTo>
                      <a:pt x="0" y="917"/>
                    </a:lnTo>
                    <a:lnTo>
                      <a:pt x="0" y="931"/>
                    </a:lnTo>
                    <a:lnTo>
                      <a:pt x="6" y="940"/>
                    </a:lnTo>
                    <a:lnTo>
                      <a:pt x="20" y="955"/>
                    </a:lnTo>
                    <a:lnTo>
                      <a:pt x="32" y="979"/>
                    </a:lnTo>
                    <a:lnTo>
                      <a:pt x="44" y="1021"/>
                    </a:lnTo>
                    <a:lnTo>
                      <a:pt x="65" y="1016"/>
                    </a:lnTo>
                    <a:lnTo>
                      <a:pt x="89" y="1016"/>
                    </a:lnTo>
                    <a:lnTo>
                      <a:pt x="115" y="1016"/>
                    </a:lnTo>
                    <a:lnTo>
                      <a:pt x="143" y="1017"/>
                    </a:lnTo>
                    <a:lnTo>
                      <a:pt x="172" y="1017"/>
                    </a:lnTo>
                    <a:lnTo>
                      <a:pt x="205" y="1019"/>
                    </a:lnTo>
                    <a:lnTo>
                      <a:pt x="240" y="1017"/>
                    </a:lnTo>
                    <a:lnTo>
                      <a:pt x="281" y="1016"/>
                    </a:lnTo>
                    <a:lnTo>
                      <a:pt x="340" y="1022"/>
                    </a:lnTo>
                    <a:lnTo>
                      <a:pt x="410" y="1029"/>
                    </a:lnTo>
                    <a:lnTo>
                      <a:pt x="485" y="1031"/>
                    </a:lnTo>
                    <a:lnTo>
                      <a:pt x="569" y="1034"/>
                    </a:lnTo>
                    <a:lnTo>
                      <a:pt x="656" y="1032"/>
                    </a:lnTo>
                    <a:lnTo>
                      <a:pt x="747" y="1031"/>
                    </a:lnTo>
                    <a:lnTo>
                      <a:pt x="841" y="1027"/>
                    </a:lnTo>
                    <a:lnTo>
                      <a:pt x="938" y="1025"/>
                    </a:lnTo>
                    <a:lnTo>
                      <a:pt x="1004" y="1026"/>
                    </a:lnTo>
                    <a:lnTo>
                      <a:pt x="1061" y="1026"/>
                    </a:lnTo>
                    <a:lnTo>
                      <a:pt x="1106" y="1021"/>
                    </a:lnTo>
                    <a:lnTo>
                      <a:pt x="1145" y="1016"/>
                    </a:lnTo>
                    <a:lnTo>
                      <a:pt x="1176" y="1006"/>
                    </a:lnTo>
                    <a:lnTo>
                      <a:pt x="1205" y="995"/>
                    </a:lnTo>
                    <a:lnTo>
                      <a:pt x="1232" y="981"/>
                    </a:lnTo>
                    <a:lnTo>
                      <a:pt x="1263" y="966"/>
                    </a:lnTo>
                    <a:lnTo>
                      <a:pt x="1303" y="938"/>
                    </a:lnTo>
                    <a:lnTo>
                      <a:pt x="1344" y="921"/>
                    </a:lnTo>
                    <a:lnTo>
                      <a:pt x="1382" y="903"/>
                    </a:lnTo>
                    <a:lnTo>
                      <a:pt x="1416" y="882"/>
                    </a:lnTo>
                    <a:lnTo>
                      <a:pt x="1439" y="847"/>
                    </a:lnTo>
                    <a:lnTo>
                      <a:pt x="1454" y="793"/>
                    </a:lnTo>
                    <a:lnTo>
                      <a:pt x="1457" y="714"/>
                    </a:lnTo>
                    <a:lnTo>
                      <a:pt x="1444" y="603"/>
                    </a:lnTo>
                    <a:lnTo>
                      <a:pt x="1474" y="584"/>
                    </a:lnTo>
                    <a:lnTo>
                      <a:pt x="1501" y="583"/>
                    </a:lnTo>
                    <a:lnTo>
                      <a:pt x="1523" y="594"/>
                    </a:lnTo>
                    <a:lnTo>
                      <a:pt x="1546" y="613"/>
                    </a:lnTo>
                    <a:lnTo>
                      <a:pt x="1569" y="633"/>
                    </a:lnTo>
                    <a:lnTo>
                      <a:pt x="1596" y="650"/>
                    </a:lnTo>
                    <a:lnTo>
                      <a:pt x="1629" y="660"/>
                    </a:lnTo>
                    <a:lnTo>
                      <a:pt x="1671" y="659"/>
                    </a:lnTo>
                    <a:lnTo>
                      <a:pt x="1789" y="609"/>
                    </a:lnTo>
                    <a:lnTo>
                      <a:pt x="1854" y="532"/>
                    </a:lnTo>
                    <a:lnTo>
                      <a:pt x="1871" y="442"/>
                    </a:lnTo>
                    <a:lnTo>
                      <a:pt x="1849" y="352"/>
                    </a:lnTo>
                    <a:lnTo>
                      <a:pt x="1795" y="273"/>
                    </a:lnTo>
                    <a:lnTo>
                      <a:pt x="1720" y="222"/>
                    </a:lnTo>
                    <a:lnTo>
                      <a:pt x="1629" y="209"/>
                    </a:lnTo>
                    <a:lnTo>
                      <a:pt x="1532" y="251"/>
                    </a:lnTo>
                    <a:lnTo>
                      <a:pt x="1522" y="259"/>
                    </a:lnTo>
                    <a:lnTo>
                      <a:pt x="1513" y="277"/>
                    </a:lnTo>
                    <a:lnTo>
                      <a:pt x="1503" y="297"/>
                    </a:lnTo>
                    <a:lnTo>
                      <a:pt x="1492" y="318"/>
                    </a:lnTo>
                    <a:lnTo>
                      <a:pt x="1477" y="336"/>
                    </a:lnTo>
                    <a:lnTo>
                      <a:pt x="1459" y="348"/>
                    </a:lnTo>
                    <a:lnTo>
                      <a:pt x="1438" y="351"/>
                    </a:lnTo>
                    <a:lnTo>
                      <a:pt x="1413" y="342"/>
                    </a:lnTo>
                    <a:lnTo>
                      <a:pt x="1400" y="331"/>
                    </a:lnTo>
                    <a:lnTo>
                      <a:pt x="1392" y="321"/>
                    </a:lnTo>
                    <a:lnTo>
                      <a:pt x="1384" y="312"/>
                    </a:lnTo>
                    <a:lnTo>
                      <a:pt x="1377" y="304"/>
                    </a:lnTo>
                    <a:lnTo>
                      <a:pt x="1368" y="296"/>
                    </a:lnTo>
                    <a:lnTo>
                      <a:pt x="1360" y="287"/>
                    </a:lnTo>
                    <a:lnTo>
                      <a:pt x="1350" y="277"/>
                    </a:lnTo>
                    <a:lnTo>
                      <a:pt x="1340" y="267"/>
                    </a:lnTo>
                    <a:lnTo>
                      <a:pt x="1353" y="252"/>
                    </a:lnTo>
                    <a:lnTo>
                      <a:pt x="1364" y="243"/>
                    </a:lnTo>
                    <a:lnTo>
                      <a:pt x="1374" y="234"/>
                    </a:lnTo>
                    <a:lnTo>
                      <a:pt x="1383" y="229"/>
                    </a:lnTo>
                    <a:lnTo>
                      <a:pt x="1389" y="220"/>
                    </a:lnTo>
                    <a:lnTo>
                      <a:pt x="1397" y="213"/>
                    </a:lnTo>
                    <a:lnTo>
                      <a:pt x="1403" y="202"/>
                    </a:lnTo>
                    <a:lnTo>
                      <a:pt x="1409" y="187"/>
                    </a:lnTo>
                    <a:lnTo>
                      <a:pt x="1437" y="121"/>
                    </a:lnTo>
                    <a:lnTo>
                      <a:pt x="1423" y="69"/>
                    </a:lnTo>
                    <a:lnTo>
                      <a:pt x="1378" y="31"/>
                    </a:lnTo>
                    <a:lnTo>
                      <a:pt x="1314" y="9"/>
                    </a:lnTo>
                    <a:lnTo>
                      <a:pt x="1241" y="0"/>
                    </a:lnTo>
                    <a:lnTo>
                      <a:pt x="1173" y="10"/>
                    </a:lnTo>
                    <a:lnTo>
                      <a:pt x="1120" y="39"/>
                    </a:lnTo>
                    <a:lnTo>
                      <a:pt x="1092" y="88"/>
                    </a:lnTo>
                    <a:lnTo>
                      <a:pt x="1091" y="104"/>
                    </a:lnTo>
                    <a:lnTo>
                      <a:pt x="1091" y="120"/>
                    </a:lnTo>
                    <a:lnTo>
                      <a:pt x="1089" y="134"/>
                    </a:lnTo>
                    <a:lnTo>
                      <a:pt x="1088" y="149"/>
                    </a:lnTo>
                    <a:lnTo>
                      <a:pt x="1086" y="162"/>
                    </a:lnTo>
                    <a:lnTo>
                      <a:pt x="1084" y="177"/>
                    </a:lnTo>
                    <a:lnTo>
                      <a:pt x="1084" y="192"/>
                    </a:lnTo>
                    <a:lnTo>
                      <a:pt x="1086" y="212"/>
                    </a:lnTo>
                    <a:lnTo>
                      <a:pt x="1067" y="214"/>
                    </a:lnTo>
                    <a:lnTo>
                      <a:pt x="1052" y="218"/>
                    </a:lnTo>
                    <a:lnTo>
                      <a:pt x="1037" y="222"/>
                    </a:lnTo>
                    <a:lnTo>
                      <a:pt x="1023" y="225"/>
                    </a:lnTo>
                    <a:lnTo>
                      <a:pt x="1008" y="228"/>
                    </a:lnTo>
                    <a:lnTo>
                      <a:pt x="994" y="232"/>
                    </a:lnTo>
                    <a:lnTo>
                      <a:pt x="978" y="235"/>
                    </a:lnTo>
                    <a:lnTo>
                      <a:pt x="962" y="239"/>
                    </a:lnTo>
                    <a:lnTo>
                      <a:pt x="934" y="249"/>
                    </a:lnTo>
                    <a:lnTo>
                      <a:pt x="906" y="259"/>
                    </a:lnTo>
                    <a:lnTo>
                      <a:pt x="879" y="269"/>
                    </a:lnTo>
                    <a:lnTo>
                      <a:pt x="852" y="279"/>
                    </a:lnTo>
                    <a:lnTo>
                      <a:pt x="825" y="289"/>
                    </a:lnTo>
                    <a:lnTo>
                      <a:pt x="797" y="299"/>
                    </a:lnTo>
                    <a:lnTo>
                      <a:pt x="771" y="309"/>
                    </a:lnTo>
                    <a:lnTo>
                      <a:pt x="745" y="319"/>
                    </a:lnTo>
                    <a:lnTo>
                      <a:pt x="730" y="332"/>
                    </a:lnTo>
                    <a:lnTo>
                      <a:pt x="715" y="345"/>
                    </a:lnTo>
                    <a:lnTo>
                      <a:pt x="699" y="357"/>
                    </a:lnTo>
                    <a:lnTo>
                      <a:pt x="684" y="370"/>
                    </a:lnTo>
                    <a:lnTo>
                      <a:pt x="669" y="382"/>
                    </a:lnTo>
                    <a:lnTo>
                      <a:pt x="654" y="395"/>
                    </a:lnTo>
                    <a:lnTo>
                      <a:pt x="639" y="407"/>
                    </a:lnTo>
                    <a:lnTo>
                      <a:pt x="625" y="42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7" name="Freeform 606">
                <a:extLst>
                  <a:ext uri="{FF2B5EF4-FFF2-40B4-BE49-F238E27FC236}">
                    <a16:creationId xmlns:a16="http://schemas.microsoft.com/office/drawing/2014/main" id="{3B27E53E-8A2B-8C40-8071-0D69CF3566C3}"/>
                  </a:ext>
                </a:extLst>
              </p:cNvPr>
              <p:cNvSpPr>
                <a:spLocks/>
              </p:cNvSpPr>
              <p:nvPr/>
            </p:nvSpPr>
            <p:spPr bwMode="auto">
              <a:xfrm>
                <a:off x="3803" y="2722"/>
                <a:ext cx="910" cy="500"/>
              </a:xfrm>
              <a:custGeom>
                <a:avLst/>
                <a:gdLst>
                  <a:gd name="T0" fmla="*/ 242 w 1818"/>
                  <a:gd name="T1" fmla="*/ 238 h 999"/>
                  <a:gd name="T2" fmla="*/ 203 w 1818"/>
                  <a:gd name="T3" fmla="*/ 299 h 999"/>
                  <a:gd name="T4" fmla="*/ 151 w 1818"/>
                  <a:gd name="T5" fmla="*/ 342 h 999"/>
                  <a:gd name="T6" fmla="*/ 102 w 1818"/>
                  <a:gd name="T7" fmla="*/ 349 h 999"/>
                  <a:gd name="T8" fmla="*/ 72 w 1818"/>
                  <a:gd name="T9" fmla="*/ 370 h 999"/>
                  <a:gd name="T10" fmla="*/ 18 w 1818"/>
                  <a:gd name="T11" fmla="*/ 418 h 999"/>
                  <a:gd name="T12" fmla="*/ 3 w 1818"/>
                  <a:gd name="T13" fmla="*/ 453 h 999"/>
                  <a:gd name="T14" fmla="*/ 26 w 1818"/>
                  <a:gd name="T15" fmla="*/ 470 h 999"/>
                  <a:gd name="T16" fmla="*/ 52 w 1818"/>
                  <a:gd name="T17" fmla="*/ 483 h 999"/>
                  <a:gd name="T18" fmla="*/ 89 w 1818"/>
                  <a:gd name="T19" fmla="*/ 486 h 999"/>
                  <a:gd name="T20" fmla="*/ 141 w 1818"/>
                  <a:gd name="T21" fmla="*/ 486 h 999"/>
                  <a:gd name="T22" fmla="*/ 231 w 1818"/>
                  <a:gd name="T23" fmla="*/ 497 h 999"/>
                  <a:gd name="T24" fmla="*/ 356 w 1818"/>
                  <a:gd name="T25" fmla="*/ 500 h 999"/>
                  <a:gd name="T26" fmla="*/ 484 w 1818"/>
                  <a:gd name="T27" fmla="*/ 498 h 999"/>
                  <a:gd name="T28" fmla="*/ 555 w 1818"/>
                  <a:gd name="T29" fmla="*/ 493 h 999"/>
                  <a:gd name="T30" fmla="*/ 596 w 1818"/>
                  <a:gd name="T31" fmla="*/ 478 h 999"/>
                  <a:gd name="T32" fmla="*/ 648 w 1818"/>
                  <a:gd name="T33" fmla="*/ 451 h 999"/>
                  <a:gd name="T34" fmla="*/ 695 w 1818"/>
                  <a:gd name="T35" fmla="*/ 414 h 999"/>
                  <a:gd name="T36" fmla="*/ 698 w 1818"/>
                  <a:gd name="T37" fmla="*/ 292 h 999"/>
                  <a:gd name="T38" fmla="*/ 737 w 1818"/>
                  <a:gd name="T39" fmla="*/ 287 h 999"/>
                  <a:gd name="T40" fmla="*/ 774 w 1818"/>
                  <a:gd name="T41" fmla="*/ 315 h 999"/>
                  <a:gd name="T42" fmla="*/ 870 w 1818"/>
                  <a:gd name="T43" fmla="*/ 295 h 999"/>
                  <a:gd name="T44" fmla="*/ 899 w 1818"/>
                  <a:gd name="T45" fmla="*/ 168 h 999"/>
                  <a:gd name="T46" fmla="*/ 787 w 1818"/>
                  <a:gd name="T47" fmla="*/ 97 h 999"/>
                  <a:gd name="T48" fmla="*/ 730 w 1818"/>
                  <a:gd name="T49" fmla="*/ 131 h 999"/>
                  <a:gd name="T50" fmla="*/ 713 w 1818"/>
                  <a:gd name="T51" fmla="*/ 159 h 999"/>
                  <a:gd name="T52" fmla="*/ 682 w 1818"/>
                  <a:gd name="T53" fmla="*/ 161 h 999"/>
                  <a:gd name="T54" fmla="*/ 667 w 1818"/>
                  <a:gd name="T55" fmla="*/ 146 h 999"/>
                  <a:gd name="T56" fmla="*/ 655 w 1818"/>
                  <a:gd name="T57" fmla="*/ 132 h 999"/>
                  <a:gd name="T58" fmla="*/ 651 w 1818"/>
                  <a:gd name="T59" fmla="*/ 115 h 999"/>
                  <a:gd name="T60" fmla="*/ 662 w 1818"/>
                  <a:gd name="T61" fmla="*/ 101 h 999"/>
                  <a:gd name="T62" fmla="*/ 667 w 1818"/>
                  <a:gd name="T63" fmla="*/ 87 h 999"/>
                  <a:gd name="T64" fmla="*/ 670 w 1818"/>
                  <a:gd name="T65" fmla="*/ 30 h 999"/>
                  <a:gd name="T66" fmla="*/ 588 w 1818"/>
                  <a:gd name="T67" fmla="*/ 0 h 999"/>
                  <a:gd name="T68" fmla="*/ 524 w 1818"/>
                  <a:gd name="T69" fmla="*/ 37 h 999"/>
                  <a:gd name="T70" fmla="*/ 522 w 1818"/>
                  <a:gd name="T71" fmla="*/ 59 h 999"/>
                  <a:gd name="T72" fmla="*/ 519 w 1818"/>
                  <a:gd name="T73" fmla="*/ 79 h 999"/>
                  <a:gd name="T74" fmla="*/ 509 w 1818"/>
                  <a:gd name="T75" fmla="*/ 97 h 999"/>
                  <a:gd name="T76" fmla="*/ 487 w 1818"/>
                  <a:gd name="T77" fmla="*/ 103 h 999"/>
                  <a:gd name="T78" fmla="*/ 465 w 1818"/>
                  <a:gd name="T79" fmla="*/ 108 h 999"/>
                  <a:gd name="T80" fmla="*/ 428 w 1818"/>
                  <a:gd name="T81" fmla="*/ 120 h 999"/>
                  <a:gd name="T82" fmla="*/ 388 w 1818"/>
                  <a:gd name="T83" fmla="*/ 135 h 999"/>
                  <a:gd name="T84" fmla="*/ 348 w 1818"/>
                  <a:gd name="T85" fmla="*/ 150 h 999"/>
                  <a:gd name="T86" fmla="*/ 325 w 1818"/>
                  <a:gd name="T87" fmla="*/ 169 h 999"/>
                  <a:gd name="T88" fmla="*/ 302 w 1818"/>
                  <a:gd name="T89" fmla="*/ 188 h 9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18"/>
                  <a:gd name="T136" fmla="*/ 0 h 999"/>
                  <a:gd name="T137" fmla="*/ 1818 w 1818"/>
                  <a:gd name="T138" fmla="*/ 999 h 9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18" h="999">
                    <a:moveTo>
                      <a:pt x="575" y="401"/>
                    </a:moveTo>
                    <a:lnTo>
                      <a:pt x="523" y="436"/>
                    </a:lnTo>
                    <a:lnTo>
                      <a:pt x="484" y="476"/>
                    </a:lnTo>
                    <a:lnTo>
                      <a:pt x="454" y="516"/>
                    </a:lnTo>
                    <a:lnTo>
                      <a:pt x="430" y="559"/>
                    </a:lnTo>
                    <a:lnTo>
                      <a:pt x="406" y="598"/>
                    </a:lnTo>
                    <a:lnTo>
                      <a:pt x="380" y="634"/>
                    </a:lnTo>
                    <a:lnTo>
                      <a:pt x="346" y="663"/>
                    </a:lnTo>
                    <a:lnTo>
                      <a:pt x="301" y="684"/>
                    </a:lnTo>
                    <a:lnTo>
                      <a:pt x="259" y="684"/>
                    </a:lnTo>
                    <a:lnTo>
                      <a:pt x="228" y="689"/>
                    </a:lnTo>
                    <a:lnTo>
                      <a:pt x="204" y="697"/>
                    </a:lnTo>
                    <a:lnTo>
                      <a:pt x="185" y="708"/>
                    </a:lnTo>
                    <a:lnTo>
                      <a:pt x="165" y="722"/>
                    </a:lnTo>
                    <a:lnTo>
                      <a:pt x="144" y="739"/>
                    </a:lnTo>
                    <a:lnTo>
                      <a:pt x="118" y="758"/>
                    </a:lnTo>
                    <a:lnTo>
                      <a:pt x="84" y="782"/>
                    </a:lnTo>
                    <a:lnTo>
                      <a:pt x="35" y="836"/>
                    </a:lnTo>
                    <a:lnTo>
                      <a:pt x="10" y="871"/>
                    </a:lnTo>
                    <a:lnTo>
                      <a:pt x="0" y="892"/>
                    </a:lnTo>
                    <a:lnTo>
                      <a:pt x="5" y="905"/>
                    </a:lnTo>
                    <a:lnTo>
                      <a:pt x="16" y="912"/>
                    </a:lnTo>
                    <a:lnTo>
                      <a:pt x="34" y="924"/>
                    </a:lnTo>
                    <a:lnTo>
                      <a:pt x="51" y="940"/>
                    </a:lnTo>
                    <a:lnTo>
                      <a:pt x="66" y="969"/>
                    </a:lnTo>
                    <a:lnTo>
                      <a:pt x="83" y="965"/>
                    </a:lnTo>
                    <a:lnTo>
                      <a:pt x="103" y="965"/>
                    </a:lnTo>
                    <a:lnTo>
                      <a:pt x="124" y="966"/>
                    </a:lnTo>
                    <a:lnTo>
                      <a:pt x="150" y="970"/>
                    </a:lnTo>
                    <a:lnTo>
                      <a:pt x="177" y="971"/>
                    </a:lnTo>
                    <a:lnTo>
                      <a:pt x="208" y="974"/>
                    </a:lnTo>
                    <a:lnTo>
                      <a:pt x="242" y="974"/>
                    </a:lnTo>
                    <a:lnTo>
                      <a:pt x="281" y="971"/>
                    </a:lnTo>
                    <a:lnTo>
                      <a:pt x="330" y="980"/>
                    </a:lnTo>
                    <a:lnTo>
                      <a:pt x="391" y="989"/>
                    </a:lnTo>
                    <a:lnTo>
                      <a:pt x="461" y="994"/>
                    </a:lnTo>
                    <a:lnTo>
                      <a:pt x="539" y="997"/>
                    </a:lnTo>
                    <a:lnTo>
                      <a:pt x="622" y="999"/>
                    </a:lnTo>
                    <a:lnTo>
                      <a:pt x="711" y="999"/>
                    </a:lnTo>
                    <a:lnTo>
                      <a:pt x="804" y="996"/>
                    </a:lnTo>
                    <a:lnTo>
                      <a:pt x="899" y="994"/>
                    </a:lnTo>
                    <a:lnTo>
                      <a:pt x="967" y="995"/>
                    </a:lnTo>
                    <a:lnTo>
                      <a:pt x="1023" y="994"/>
                    </a:lnTo>
                    <a:lnTo>
                      <a:pt x="1070" y="990"/>
                    </a:lnTo>
                    <a:lnTo>
                      <a:pt x="1108" y="985"/>
                    </a:lnTo>
                    <a:lnTo>
                      <a:pt x="1140" y="976"/>
                    </a:lnTo>
                    <a:lnTo>
                      <a:pt x="1167" y="966"/>
                    </a:lnTo>
                    <a:lnTo>
                      <a:pt x="1190" y="956"/>
                    </a:lnTo>
                    <a:lnTo>
                      <a:pt x="1213" y="946"/>
                    </a:lnTo>
                    <a:lnTo>
                      <a:pt x="1253" y="918"/>
                    </a:lnTo>
                    <a:lnTo>
                      <a:pt x="1294" y="901"/>
                    </a:lnTo>
                    <a:lnTo>
                      <a:pt x="1332" y="883"/>
                    </a:lnTo>
                    <a:lnTo>
                      <a:pt x="1366" y="862"/>
                    </a:lnTo>
                    <a:lnTo>
                      <a:pt x="1389" y="827"/>
                    </a:lnTo>
                    <a:lnTo>
                      <a:pt x="1404" y="773"/>
                    </a:lnTo>
                    <a:lnTo>
                      <a:pt x="1407" y="694"/>
                    </a:lnTo>
                    <a:lnTo>
                      <a:pt x="1394" y="583"/>
                    </a:lnTo>
                    <a:lnTo>
                      <a:pt x="1424" y="564"/>
                    </a:lnTo>
                    <a:lnTo>
                      <a:pt x="1451" y="563"/>
                    </a:lnTo>
                    <a:lnTo>
                      <a:pt x="1473" y="574"/>
                    </a:lnTo>
                    <a:lnTo>
                      <a:pt x="1496" y="593"/>
                    </a:lnTo>
                    <a:lnTo>
                      <a:pt x="1519" y="613"/>
                    </a:lnTo>
                    <a:lnTo>
                      <a:pt x="1546" y="630"/>
                    </a:lnTo>
                    <a:lnTo>
                      <a:pt x="1579" y="640"/>
                    </a:lnTo>
                    <a:lnTo>
                      <a:pt x="1621" y="639"/>
                    </a:lnTo>
                    <a:lnTo>
                      <a:pt x="1739" y="589"/>
                    </a:lnTo>
                    <a:lnTo>
                      <a:pt x="1803" y="512"/>
                    </a:lnTo>
                    <a:lnTo>
                      <a:pt x="1818" y="424"/>
                    </a:lnTo>
                    <a:lnTo>
                      <a:pt x="1796" y="335"/>
                    </a:lnTo>
                    <a:lnTo>
                      <a:pt x="1740" y="257"/>
                    </a:lnTo>
                    <a:lnTo>
                      <a:pt x="1664" y="207"/>
                    </a:lnTo>
                    <a:lnTo>
                      <a:pt x="1572" y="194"/>
                    </a:lnTo>
                    <a:lnTo>
                      <a:pt x="1475" y="236"/>
                    </a:lnTo>
                    <a:lnTo>
                      <a:pt x="1466" y="244"/>
                    </a:lnTo>
                    <a:lnTo>
                      <a:pt x="1458" y="262"/>
                    </a:lnTo>
                    <a:lnTo>
                      <a:pt x="1448" y="282"/>
                    </a:lnTo>
                    <a:lnTo>
                      <a:pt x="1440" y="302"/>
                    </a:lnTo>
                    <a:lnTo>
                      <a:pt x="1424" y="318"/>
                    </a:lnTo>
                    <a:lnTo>
                      <a:pt x="1408" y="330"/>
                    </a:lnTo>
                    <a:lnTo>
                      <a:pt x="1388" y="331"/>
                    </a:lnTo>
                    <a:lnTo>
                      <a:pt x="1363" y="322"/>
                    </a:lnTo>
                    <a:lnTo>
                      <a:pt x="1350" y="311"/>
                    </a:lnTo>
                    <a:lnTo>
                      <a:pt x="1342" y="301"/>
                    </a:lnTo>
                    <a:lnTo>
                      <a:pt x="1333" y="292"/>
                    </a:lnTo>
                    <a:lnTo>
                      <a:pt x="1325" y="283"/>
                    </a:lnTo>
                    <a:lnTo>
                      <a:pt x="1317" y="273"/>
                    </a:lnTo>
                    <a:lnTo>
                      <a:pt x="1309" y="263"/>
                    </a:lnTo>
                    <a:lnTo>
                      <a:pt x="1299" y="253"/>
                    </a:lnTo>
                    <a:lnTo>
                      <a:pt x="1289" y="243"/>
                    </a:lnTo>
                    <a:lnTo>
                      <a:pt x="1300" y="229"/>
                    </a:lnTo>
                    <a:lnTo>
                      <a:pt x="1309" y="218"/>
                    </a:lnTo>
                    <a:lnTo>
                      <a:pt x="1315" y="209"/>
                    </a:lnTo>
                    <a:lnTo>
                      <a:pt x="1322" y="202"/>
                    </a:lnTo>
                    <a:lnTo>
                      <a:pt x="1324" y="193"/>
                    </a:lnTo>
                    <a:lnTo>
                      <a:pt x="1328" y="185"/>
                    </a:lnTo>
                    <a:lnTo>
                      <a:pt x="1333" y="174"/>
                    </a:lnTo>
                    <a:lnTo>
                      <a:pt x="1339" y="162"/>
                    </a:lnTo>
                    <a:lnTo>
                      <a:pt x="1355" y="104"/>
                    </a:lnTo>
                    <a:lnTo>
                      <a:pt x="1339" y="59"/>
                    </a:lnTo>
                    <a:lnTo>
                      <a:pt x="1297" y="25"/>
                    </a:lnTo>
                    <a:lnTo>
                      <a:pt x="1239" y="6"/>
                    </a:lnTo>
                    <a:lnTo>
                      <a:pt x="1175" y="0"/>
                    </a:lnTo>
                    <a:lnTo>
                      <a:pt x="1115" y="9"/>
                    </a:lnTo>
                    <a:lnTo>
                      <a:pt x="1068" y="31"/>
                    </a:lnTo>
                    <a:lnTo>
                      <a:pt x="1046" y="73"/>
                    </a:lnTo>
                    <a:lnTo>
                      <a:pt x="1044" y="89"/>
                    </a:lnTo>
                    <a:lnTo>
                      <a:pt x="1044" y="104"/>
                    </a:lnTo>
                    <a:lnTo>
                      <a:pt x="1042" y="118"/>
                    </a:lnTo>
                    <a:lnTo>
                      <a:pt x="1041" y="132"/>
                    </a:lnTo>
                    <a:lnTo>
                      <a:pt x="1037" y="143"/>
                    </a:lnTo>
                    <a:lnTo>
                      <a:pt x="1036" y="158"/>
                    </a:lnTo>
                    <a:lnTo>
                      <a:pt x="1034" y="173"/>
                    </a:lnTo>
                    <a:lnTo>
                      <a:pt x="1036" y="192"/>
                    </a:lnTo>
                    <a:lnTo>
                      <a:pt x="1017" y="194"/>
                    </a:lnTo>
                    <a:lnTo>
                      <a:pt x="1002" y="198"/>
                    </a:lnTo>
                    <a:lnTo>
                      <a:pt x="987" y="202"/>
                    </a:lnTo>
                    <a:lnTo>
                      <a:pt x="973" y="205"/>
                    </a:lnTo>
                    <a:lnTo>
                      <a:pt x="958" y="208"/>
                    </a:lnTo>
                    <a:lnTo>
                      <a:pt x="944" y="212"/>
                    </a:lnTo>
                    <a:lnTo>
                      <a:pt x="928" y="215"/>
                    </a:lnTo>
                    <a:lnTo>
                      <a:pt x="912" y="219"/>
                    </a:lnTo>
                    <a:lnTo>
                      <a:pt x="884" y="229"/>
                    </a:lnTo>
                    <a:lnTo>
                      <a:pt x="856" y="239"/>
                    </a:lnTo>
                    <a:lnTo>
                      <a:pt x="829" y="249"/>
                    </a:lnTo>
                    <a:lnTo>
                      <a:pt x="802" y="259"/>
                    </a:lnTo>
                    <a:lnTo>
                      <a:pt x="775" y="269"/>
                    </a:lnTo>
                    <a:lnTo>
                      <a:pt x="747" y="279"/>
                    </a:lnTo>
                    <a:lnTo>
                      <a:pt x="721" y="289"/>
                    </a:lnTo>
                    <a:lnTo>
                      <a:pt x="695" y="299"/>
                    </a:lnTo>
                    <a:lnTo>
                      <a:pt x="680" y="312"/>
                    </a:lnTo>
                    <a:lnTo>
                      <a:pt x="665" y="325"/>
                    </a:lnTo>
                    <a:lnTo>
                      <a:pt x="649" y="337"/>
                    </a:lnTo>
                    <a:lnTo>
                      <a:pt x="634" y="350"/>
                    </a:lnTo>
                    <a:lnTo>
                      <a:pt x="619" y="362"/>
                    </a:lnTo>
                    <a:lnTo>
                      <a:pt x="604" y="375"/>
                    </a:lnTo>
                    <a:lnTo>
                      <a:pt x="589" y="387"/>
                    </a:lnTo>
                    <a:lnTo>
                      <a:pt x="575" y="40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8" name="Freeform 607">
                <a:extLst>
                  <a:ext uri="{FF2B5EF4-FFF2-40B4-BE49-F238E27FC236}">
                    <a16:creationId xmlns:a16="http://schemas.microsoft.com/office/drawing/2014/main" id="{CD7EE32D-CBE6-B04A-8FFC-CF260BF4C9A3}"/>
                  </a:ext>
                </a:extLst>
              </p:cNvPr>
              <p:cNvSpPr>
                <a:spLocks/>
              </p:cNvSpPr>
              <p:nvPr/>
            </p:nvSpPr>
            <p:spPr bwMode="auto">
              <a:xfrm>
                <a:off x="3828" y="2732"/>
                <a:ext cx="884" cy="484"/>
              </a:xfrm>
              <a:custGeom>
                <a:avLst/>
                <a:gdLst>
                  <a:gd name="T0" fmla="*/ 220 w 1768"/>
                  <a:gd name="T1" fmla="*/ 228 h 967"/>
                  <a:gd name="T2" fmla="*/ 188 w 1768"/>
                  <a:gd name="T3" fmla="*/ 289 h 967"/>
                  <a:gd name="T4" fmla="*/ 140 w 1768"/>
                  <a:gd name="T5" fmla="*/ 332 h 967"/>
                  <a:gd name="T6" fmla="*/ 92 w 1768"/>
                  <a:gd name="T7" fmla="*/ 338 h 967"/>
                  <a:gd name="T8" fmla="*/ 64 w 1768"/>
                  <a:gd name="T9" fmla="*/ 360 h 967"/>
                  <a:gd name="T10" fmla="*/ 13 w 1768"/>
                  <a:gd name="T11" fmla="*/ 407 h 967"/>
                  <a:gd name="T12" fmla="*/ 5 w 1768"/>
                  <a:gd name="T13" fmla="*/ 440 h 967"/>
                  <a:gd name="T14" fmla="*/ 34 w 1768"/>
                  <a:gd name="T15" fmla="*/ 451 h 967"/>
                  <a:gd name="T16" fmla="*/ 58 w 1768"/>
                  <a:gd name="T17" fmla="*/ 458 h 967"/>
                  <a:gd name="T18" fmla="*/ 91 w 1768"/>
                  <a:gd name="T19" fmla="*/ 464 h 967"/>
                  <a:gd name="T20" fmla="*/ 141 w 1768"/>
                  <a:gd name="T21" fmla="*/ 466 h 967"/>
                  <a:gd name="T22" fmla="*/ 219 w 1768"/>
                  <a:gd name="T23" fmla="*/ 479 h 967"/>
                  <a:gd name="T24" fmla="*/ 340 w 1768"/>
                  <a:gd name="T25" fmla="*/ 484 h 967"/>
                  <a:gd name="T26" fmla="*/ 465 w 1768"/>
                  <a:gd name="T27" fmla="*/ 483 h 967"/>
                  <a:gd name="T28" fmla="*/ 537 w 1768"/>
                  <a:gd name="T29" fmla="*/ 477 h 967"/>
                  <a:gd name="T30" fmla="*/ 574 w 1768"/>
                  <a:gd name="T31" fmla="*/ 466 h 967"/>
                  <a:gd name="T32" fmla="*/ 623 w 1768"/>
                  <a:gd name="T33" fmla="*/ 441 h 967"/>
                  <a:gd name="T34" fmla="*/ 670 w 1768"/>
                  <a:gd name="T35" fmla="*/ 404 h 967"/>
                  <a:gd name="T36" fmla="*/ 673 w 1768"/>
                  <a:gd name="T37" fmla="*/ 282 h 967"/>
                  <a:gd name="T38" fmla="*/ 712 w 1768"/>
                  <a:gd name="T39" fmla="*/ 278 h 967"/>
                  <a:gd name="T40" fmla="*/ 749 w 1768"/>
                  <a:gd name="T41" fmla="*/ 306 h 967"/>
                  <a:gd name="T42" fmla="*/ 845 w 1768"/>
                  <a:gd name="T43" fmla="*/ 285 h 967"/>
                  <a:gd name="T44" fmla="*/ 872 w 1768"/>
                  <a:gd name="T45" fmla="*/ 160 h 967"/>
                  <a:gd name="T46" fmla="*/ 759 w 1768"/>
                  <a:gd name="T47" fmla="*/ 92 h 967"/>
                  <a:gd name="T48" fmla="*/ 702 w 1768"/>
                  <a:gd name="T49" fmla="*/ 124 h 967"/>
                  <a:gd name="T50" fmla="*/ 687 w 1768"/>
                  <a:gd name="T51" fmla="*/ 150 h 967"/>
                  <a:gd name="T52" fmla="*/ 657 w 1768"/>
                  <a:gd name="T53" fmla="*/ 152 h 967"/>
                  <a:gd name="T54" fmla="*/ 642 w 1768"/>
                  <a:gd name="T55" fmla="*/ 135 h 967"/>
                  <a:gd name="T56" fmla="*/ 629 w 1768"/>
                  <a:gd name="T57" fmla="*/ 121 h 967"/>
                  <a:gd name="T58" fmla="*/ 624 w 1768"/>
                  <a:gd name="T59" fmla="*/ 104 h 967"/>
                  <a:gd name="T60" fmla="*/ 630 w 1768"/>
                  <a:gd name="T61" fmla="*/ 88 h 967"/>
                  <a:gd name="T62" fmla="*/ 632 w 1768"/>
                  <a:gd name="T63" fmla="*/ 74 h 967"/>
                  <a:gd name="T64" fmla="*/ 628 w 1768"/>
                  <a:gd name="T65" fmla="*/ 25 h 967"/>
                  <a:gd name="T66" fmla="*/ 554 w 1768"/>
                  <a:gd name="T67" fmla="*/ 0 h 967"/>
                  <a:gd name="T68" fmla="*/ 500 w 1768"/>
                  <a:gd name="T69" fmla="*/ 30 h 967"/>
                  <a:gd name="T70" fmla="*/ 497 w 1768"/>
                  <a:gd name="T71" fmla="*/ 51 h 967"/>
                  <a:gd name="T72" fmla="*/ 493 w 1768"/>
                  <a:gd name="T73" fmla="*/ 70 h 967"/>
                  <a:gd name="T74" fmla="*/ 484 w 1768"/>
                  <a:gd name="T75" fmla="*/ 88 h 967"/>
                  <a:gd name="T76" fmla="*/ 462 w 1768"/>
                  <a:gd name="T77" fmla="*/ 93 h 967"/>
                  <a:gd name="T78" fmla="*/ 440 w 1768"/>
                  <a:gd name="T79" fmla="*/ 98 h 967"/>
                  <a:gd name="T80" fmla="*/ 404 w 1768"/>
                  <a:gd name="T81" fmla="*/ 110 h 967"/>
                  <a:gd name="T82" fmla="*/ 363 w 1768"/>
                  <a:gd name="T83" fmla="*/ 125 h 967"/>
                  <a:gd name="T84" fmla="*/ 323 w 1768"/>
                  <a:gd name="T85" fmla="*/ 140 h 967"/>
                  <a:gd name="T86" fmla="*/ 300 w 1768"/>
                  <a:gd name="T87" fmla="*/ 159 h 967"/>
                  <a:gd name="T88" fmla="*/ 278 w 1768"/>
                  <a:gd name="T89" fmla="*/ 178 h 96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68"/>
                  <a:gd name="T136" fmla="*/ 0 h 967"/>
                  <a:gd name="T137" fmla="*/ 1768 w 1768"/>
                  <a:gd name="T138" fmla="*/ 967 h 96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68" h="967">
                    <a:moveTo>
                      <a:pt x="526" y="382"/>
                    </a:moveTo>
                    <a:lnTo>
                      <a:pt x="475" y="417"/>
                    </a:lnTo>
                    <a:lnTo>
                      <a:pt x="440" y="456"/>
                    </a:lnTo>
                    <a:lnTo>
                      <a:pt x="414" y="497"/>
                    </a:lnTo>
                    <a:lnTo>
                      <a:pt x="395" y="539"/>
                    </a:lnTo>
                    <a:lnTo>
                      <a:pt x="376" y="577"/>
                    </a:lnTo>
                    <a:lnTo>
                      <a:pt x="353" y="613"/>
                    </a:lnTo>
                    <a:lnTo>
                      <a:pt x="323" y="641"/>
                    </a:lnTo>
                    <a:lnTo>
                      <a:pt x="279" y="663"/>
                    </a:lnTo>
                    <a:lnTo>
                      <a:pt x="238" y="664"/>
                    </a:lnTo>
                    <a:lnTo>
                      <a:pt x="208" y="669"/>
                    </a:lnTo>
                    <a:lnTo>
                      <a:pt x="184" y="676"/>
                    </a:lnTo>
                    <a:lnTo>
                      <a:pt x="167" y="689"/>
                    </a:lnTo>
                    <a:lnTo>
                      <a:pt x="148" y="703"/>
                    </a:lnTo>
                    <a:lnTo>
                      <a:pt x="128" y="720"/>
                    </a:lnTo>
                    <a:lnTo>
                      <a:pt x="101" y="739"/>
                    </a:lnTo>
                    <a:lnTo>
                      <a:pt x="67" y="763"/>
                    </a:lnTo>
                    <a:lnTo>
                      <a:pt x="25" y="813"/>
                    </a:lnTo>
                    <a:lnTo>
                      <a:pt x="4" y="847"/>
                    </a:lnTo>
                    <a:lnTo>
                      <a:pt x="0" y="867"/>
                    </a:lnTo>
                    <a:lnTo>
                      <a:pt x="9" y="879"/>
                    </a:lnTo>
                    <a:lnTo>
                      <a:pt x="25" y="886"/>
                    </a:lnTo>
                    <a:lnTo>
                      <a:pt x="47" y="893"/>
                    </a:lnTo>
                    <a:lnTo>
                      <a:pt x="67" y="902"/>
                    </a:lnTo>
                    <a:lnTo>
                      <a:pt x="86" y="918"/>
                    </a:lnTo>
                    <a:lnTo>
                      <a:pt x="100" y="915"/>
                    </a:lnTo>
                    <a:lnTo>
                      <a:pt x="116" y="916"/>
                    </a:lnTo>
                    <a:lnTo>
                      <a:pt x="135" y="918"/>
                    </a:lnTo>
                    <a:lnTo>
                      <a:pt x="158" y="923"/>
                    </a:lnTo>
                    <a:lnTo>
                      <a:pt x="182" y="927"/>
                    </a:lnTo>
                    <a:lnTo>
                      <a:pt x="210" y="931"/>
                    </a:lnTo>
                    <a:lnTo>
                      <a:pt x="243" y="932"/>
                    </a:lnTo>
                    <a:lnTo>
                      <a:pt x="281" y="931"/>
                    </a:lnTo>
                    <a:lnTo>
                      <a:pt x="321" y="941"/>
                    </a:lnTo>
                    <a:lnTo>
                      <a:pt x="373" y="951"/>
                    </a:lnTo>
                    <a:lnTo>
                      <a:pt x="437" y="957"/>
                    </a:lnTo>
                    <a:lnTo>
                      <a:pt x="513" y="963"/>
                    </a:lnTo>
                    <a:lnTo>
                      <a:pt x="593" y="966"/>
                    </a:lnTo>
                    <a:lnTo>
                      <a:pt x="679" y="967"/>
                    </a:lnTo>
                    <a:lnTo>
                      <a:pt x="769" y="966"/>
                    </a:lnTo>
                    <a:lnTo>
                      <a:pt x="863" y="965"/>
                    </a:lnTo>
                    <a:lnTo>
                      <a:pt x="930" y="966"/>
                    </a:lnTo>
                    <a:lnTo>
                      <a:pt x="988" y="963"/>
                    </a:lnTo>
                    <a:lnTo>
                      <a:pt x="1034" y="958"/>
                    </a:lnTo>
                    <a:lnTo>
                      <a:pt x="1074" y="953"/>
                    </a:lnTo>
                    <a:lnTo>
                      <a:pt x="1105" y="946"/>
                    </a:lnTo>
                    <a:lnTo>
                      <a:pt x="1130" y="938"/>
                    </a:lnTo>
                    <a:lnTo>
                      <a:pt x="1148" y="931"/>
                    </a:lnTo>
                    <a:lnTo>
                      <a:pt x="1164" y="927"/>
                    </a:lnTo>
                    <a:lnTo>
                      <a:pt x="1204" y="899"/>
                    </a:lnTo>
                    <a:lnTo>
                      <a:pt x="1245" y="882"/>
                    </a:lnTo>
                    <a:lnTo>
                      <a:pt x="1283" y="864"/>
                    </a:lnTo>
                    <a:lnTo>
                      <a:pt x="1317" y="843"/>
                    </a:lnTo>
                    <a:lnTo>
                      <a:pt x="1340" y="808"/>
                    </a:lnTo>
                    <a:lnTo>
                      <a:pt x="1355" y="754"/>
                    </a:lnTo>
                    <a:lnTo>
                      <a:pt x="1358" y="675"/>
                    </a:lnTo>
                    <a:lnTo>
                      <a:pt x="1345" y="564"/>
                    </a:lnTo>
                    <a:lnTo>
                      <a:pt x="1375" y="545"/>
                    </a:lnTo>
                    <a:lnTo>
                      <a:pt x="1402" y="544"/>
                    </a:lnTo>
                    <a:lnTo>
                      <a:pt x="1424" y="555"/>
                    </a:lnTo>
                    <a:lnTo>
                      <a:pt x="1447" y="574"/>
                    </a:lnTo>
                    <a:lnTo>
                      <a:pt x="1470" y="594"/>
                    </a:lnTo>
                    <a:lnTo>
                      <a:pt x="1497" y="611"/>
                    </a:lnTo>
                    <a:lnTo>
                      <a:pt x="1530" y="621"/>
                    </a:lnTo>
                    <a:lnTo>
                      <a:pt x="1572" y="620"/>
                    </a:lnTo>
                    <a:lnTo>
                      <a:pt x="1690" y="570"/>
                    </a:lnTo>
                    <a:lnTo>
                      <a:pt x="1753" y="496"/>
                    </a:lnTo>
                    <a:lnTo>
                      <a:pt x="1768" y="407"/>
                    </a:lnTo>
                    <a:lnTo>
                      <a:pt x="1744" y="319"/>
                    </a:lnTo>
                    <a:lnTo>
                      <a:pt x="1688" y="243"/>
                    </a:lnTo>
                    <a:lnTo>
                      <a:pt x="1610" y="194"/>
                    </a:lnTo>
                    <a:lnTo>
                      <a:pt x="1517" y="183"/>
                    </a:lnTo>
                    <a:lnTo>
                      <a:pt x="1419" y="224"/>
                    </a:lnTo>
                    <a:lnTo>
                      <a:pt x="1411" y="233"/>
                    </a:lnTo>
                    <a:lnTo>
                      <a:pt x="1403" y="248"/>
                    </a:lnTo>
                    <a:lnTo>
                      <a:pt x="1394" y="265"/>
                    </a:lnTo>
                    <a:lnTo>
                      <a:pt x="1387" y="285"/>
                    </a:lnTo>
                    <a:lnTo>
                      <a:pt x="1374" y="300"/>
                    </a:lnTo>
                    <a:lnTo>
                      <a:pt x="1359" y="311"/>
                    </a:lnTo>
                    <a:lnTo>
                      <a:pt x="1338" y="312"/>
                    </a:lnTo>
                    <a:lnTo>
                      <a:pt x="1314" y="303"/>
                    </a:lnTo>
                    <a:lnTo>
                      <a:pt x="1301" y="292"/>
                    </a:lnTo>
                    <a:lnTo>
                      <a:pt x="1293" y="282"/>
                    </a:lnTo>
                    <a:lnTo>
                      <a:pt x="1283" y="270"/>
                    </a:lnTo>
                    <a:lnTo>
                      <a:pt x="1275" y="262"/>
                    </a:lnTo>
                    <a:lnTo>
                      <a:pt x="1266" y="252"/>
                    </a:lnTo>
                    <a:lnTo>
                      <a:pt x="1258" y="242"/>
                    </a:lnTo>
                    <a:lnTo>
                      <a:pt x="1248" y="232"/>
                    </a:lnTo>
                    <a:lnTo>
                      <a:pt x="1236" y="222"/>
                    </a:lnTo>
                    <a:lnTo>
                      <a:pt x="1248" y="207"/>
                    </a:lnTo>
                    <a:lnTo>
                      <a:pt x="1255" y="195"/>
                    </a:lnTo>
                    <a:lnTo>
                      <a:pt x="1258" y="185"/>
                    </a:lnTo>
                    <a:lnTo>
                      <a:pt x="1260" y="176"/>
                    </a:lnTo>
                    <a:lnTo>
                      <a:pt x="1259" y="168"/>
                    </a:lnTo>
                    <a:lnTo>
                      <a:pt x="1260" y="159"/>
                    </a:lnTo>
                    <a:lnTo>
                      <a:pt x="1263" y="148"/>
                    </a:lnTo>
                    <a:lnTo>
                      <a:pt x="1269" y="136"/>
                    </a:lnTo>
                    <a:lnTo>
                      <a:pt x="1276" y="86"/>
                    </a:lnTo>
                    <a:lnTo>
                      <a:pt x="1256" y="49"/>
                    </a:lnTo>
                    <a:lnTo>
                      <a:pt x="1216" y="21"/>
                    </a:lnTo>
                    <a:lnTo>
                      <a:pt x="1165" y="5"/>
                    </a:lnTo>
                    <a:lnTo>
                      <a:pt x="1108" y="0"/>
                    </a:lnTo>
                    <a:lnTo>
                      <a:pt x="1057" y="7"/>
                    </a:lnTo>
                    <a:lnTo>
                      <a:pt x="1018" y="26"/>
                    </a:lnTo>
                    <a:lnTo>
                      <a:pt x="1000" y="59"/>
                    </a:lnTo>
                    <a:lnTo>
                      <a:pt x="999" y="75"/>
                    </a:lnTo>
                    <a:lnTo>
                      <a:pt x="998" y="90"/>
                    </a:lnTo>
                    <a:lnTo>
                      <a:pt x="995" y="102"/>
                    </a:lnTo>
                    <a:lnTo>
                      <a:pt x="993" y="115"/>
                    </a:lnTo>
                    <a:lnTo>
                      <a:pt x="989" y="126"/>
                    </a:lnTo>
                    <a:lnTo>
                      <a:pt x="987" y="139"/>
                    </a:lnTo>
                    <a:lnTo>
                      <a:pt x="985" y="154"/>
                    </a:lnTo>
                    <a:lnTo>
                      <a:pt x="987" y="173"/>
                    </a:lnTo>
                    <a:lnTo>
                      <a:pt x="968" y="175"/>
                    </a:lnTo>
                    <a:lnTo>
                      <a:pt x="953" y="179"/>
                    </a:lnTo>
                    <a:lnTo>
                      <a:pt x="938" y="183"/>
                    </a:lnTo>
                    <a:lnTo>
                      <a:pt x="924" y="186"/>
                    </a:lnTo>
                    <a:lnTo>
                      <a:pt x="909" y="189"/>
                    </a:lnTo>
                    <a:lnTo>
                      <a:pt x="895" y="193"/>
                    </a:lnTo>
                    <a:lnTo>
                      <a:pt x="879" y="196"/>
                    </a:lnTo>
                    <a:lnTo>
                      <a:pt x="863" y="200"/>
                    </a:lnTo>
                    <a:lnTo>
                      <a:pt x="835" y="210"/>
                    </a:lnTo>
                    <a:lnTo>
                      <a:pt x="807" y="220"/>
                    </a:lnTo>
                    <a:lnTo>
                      <a:pt x="780" y="230"/>
                    </a:lnTo>
                    <a:lnTo>
                      <a:pt x="753" y="240"/>
                    </a:lnTo>
                    <a:lnTo>
                      <a:pt x="726" y="250"/>
                    </a:lnTo>
                    <a:lnTo>
                      <a:pt x="698" y="260"/>
                    </a:lnTo>
                    <a:lnTo>
                      <a:pt x="672" y="270"/>
                    </a:lnTo>
                    <a:lnTo>
                      <a:pt x="646" y="280"/>
                    </a:lnTo>
                    <a:lnTo>
                      <a:pt x="631" y="293"/>
                    </a:lnTo>
                    <a:lnTo>
                      <a:pt x="616" y="306"/>
                    </a:lnTo>
                    <a:lnTo>
                      <a:pt x="600" y="318"/>
                    </a:lnTo>
                    <a:lnTo>
                      <a:pt x="585" y="331"/>
                    </a:lnTo>
                    <a:lnTo>
                      <a:pt x="570" y="343"/>
                    </a:lnTo>
                    <a:lnTo>
                      <a:pt x="555" y="356"/>
                    </a:lnTo>
                    <a:lnTo>
                      <a:pt x="540" y="368"/>
                    </a:lnTo>
                    <a:lnTo>
                      <a:pt x="526" y="382"/>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89" name="Freeform 608">
                <a:extLst>
                  <a:ext uri="{FF2B5EF4-FFF2-40B4-BE49-F238E27FC236}">
                    <a16:creationId xmlns:a16="http://schemas.microsoft.com/office/drawing/2014/main" id="{BE0746A1-29C5-2340-9B51-900B7065B1FF}"/>
                  </a:ext>
                </a:extLst>
              </p:cNvPr>
              <p:cNvSpPr>
                <a:spLocks/>
              </p:cNvSpPr>
              <p:nvPr/>
            </p:nvSpPr>
            <p:spPr bwMode="auto">
              <a:xfrm>
                <a:off x="3852" y="2741"/>
                <a:ext cx="858" cy="468"/>
              </a:xfrm>
              <a:custGeom>
                <a:avLst/>
                <a:gdLst>
                  <a:gd name="T0" fmla="*/ 198 w 1715"/>
                  <a:gd name="T1" fmla="*/ 219 h 938"/>
                  <a:gd name="T2" fmla="*/ 173 w 1715"/>
                  <a:gd name="T3" fmla="*/ 278 h 938"/>
                  <a:gd name="T4" fmla="*/ 129 w 1715"/>
                  <a:gd name="T5" fmla="*/ 321 h 938"/>
                  <a:gd name="T6" fmla="*/ 82 w 1715"/>
                  <a:gd name="T7" fmla="*/ 328 h 938"/>
                  <a:gd name="T8" fmla="*/ 55 w 1715"/>
                  <a:gd name="T9" fmla="*/ 352 h 938"/>
                  <a:gd name="T10" fmla="*/ 8 w 1715"/>
                  <a:gd name="T11" fmla="*/ 397 h 938"/>
                  <a:gd name="T12" fmla="*/ 8 w 1715"/>
                  <a:gd name="T13" fmla="*/ 428 h 938"/>
                  <a:gd name="T14" fmla="*/ 44 w 1715"/>
                  <a:gd name="T15" fmla="*/ 431 h 938"/>
                  <a:gd name="T16" fmla="*/ 66 w 1715"/>
                  <a:gd name="T17" fmla="*/ 433 h 938"/>
                  <a:gd name="T18" fmla="*/ 94 w 1715"/>
                  <a:gd name="T19" fmla="*/ 440 h 938"/>
                  <a:gd name="T20" fmla="*/ 141 w 1715"/>
                  <a:gd name="T21" fmla="*/ 443 h 938"/>
                  <a:gd name="T22" fmla="*/ 207 w 1715"/>
                  <a:gd name="T23" fmla="*/ 460 h 938"/>
                  <a:gd name="T24" fmla="*/ 323 w 1715"/>
                  <a:gd name="T25" fmla="*/ 468 h 938"/>
                  <a:gd name="T26" fmla="*/ 447 w 1715"/>
                  <a:gd name="T27" fmla="*/ 468 h 938"/>
                  <a:gd name="T28" fmla="*/ 521 w 1715"/>
                  <a:gd name="T29" fmla="*/ 462 h 938"/>
                  <a:gd name="T30" fmla="*/ 554 w 1715"/>
                  <a:gd name="T31" fmla="*/ 454 h 938"/>
                  <a:gd name="T32" fmla="*/ 598 w 1715"/>
                  <a:gd name="T33" fmla="*/ 432 h 938"/>
                  <a:gd name="T34" fmla="*/ 646 w 1715"/>
                  <a:gd name="T35" fmla="*/ 395 h 938"/>
                  <a:gd name="T36" fmla="*/ 648 w 1715"/>
                  <a:gd name="T37" fmla="*/ 273 h 938"/>
                  <a:gd name="T38" fmla="*/ 688 w 1715"/>
                  <a:gd name="T39" fmla="*/ 268 h 938"/>
                  <a:gd name="T40" fmla="*/ 724 w 1715"/>
                  <a:gd name="T41" fmla="*/ 296 h 938"/>
                  <a:gd name="T42" fmla="*/ 821 w 1715"/>
                  <a:gd name="T43" fmla="*/ 276 h 938"/>
                  <a:gd name="T44" fmla="*/ 846 w 1715"/>
                  <a:gd name="T45" fmla="*/ 153 h 938"/>
                  <a:gd name="T46" fmla="*/ 731 w 1715"/>
                  <a:gd name="T47" fmla="*/ 86 h 938"/>
                  <a:gd name="T48" fmla="*/ 675 w 1715"/>
                  <a:gd name="T49" fmla="*/ 118 h 938"/>
                  <a:gd name="T50" fmla="*/ 662 w 1715"/>
                  <a:gd name="T51" fmla="*/ 142 h 938"/>
                  <a:gd name="T52" fmla="*/ 633 w 1715"/>
                  <a:gd name="T53" fmla="*/ 143 h 938"/>
                  <a:gd name="T54" fmla="*/ 617 w 1715"/>
                  <a:gd name="T55" fmla="*/ 126 h 938"/>
                  <a:gd name="T56" fmla="*/ 605 w 1715"/>
                  <a:gd name="T57" fmla="*/ 111 h 938"/>
                  <a:gd name="T58" fmla="*/ 598 w 1715"/>
                  <a:gd name="T59" fmla="*/ 93 h 938"/>
                  <a:gd name="T60" fmla="*/ 600 w 1715"/>
                  <a:gd name="T61" fmla="*/ 76 h 938"/>
                  <a:gd name="T62" fmla="*/ 596 w 1715"/>
                  <a:gd name="T63" fmla="*/ 61 h 938"/>
                  <a:gd name="T64" fmla="*/ 586 w 1715"/>
                  <a:gd name="T65" fmla="*/ 19 h 938"/>
                  <a:gd name="T66" fmla="*/ 521 w 1715"/>
                  <a:gd name="T67" fmla="*/ 0 h 938"/>
                  <a:gd name="T68" fmla="*/ 479 w 1715"/>
                  <a:gd name="T69" fmla="*/ 22 h 938"/>
                  <a:gd name="T70" fmla="*/ 475 w 1715"/>
                  <a:gd name="T71" fmla="*/ 43 h 938"/>
                  <a:gd name="T72" fmla="*/ 469 w 1715"/>
                  <a:gd name="T73" fmla="*/ 61 h 938"/>
                  <a:gd name="T74" fmla="*/ 460 w 1715"/>
                  <a:gd name="T75" fmla="*/ 79 h 938"/>
                  <a:gd name="T76" fmla="*/ 438 w 1715"/>
                  <a:gd name="T77" fmla="*/ 84 h 938"/>
                  <a:gd name="T78" fmla="*/ 415 w 1715"/>
                  <a:gd name="T79" fmla="*/ 89 h 938"/>
                  <a:gd name="T80" fmla="*/ 379 w 1715"/>
                  <a:gd name="T81" fmla="*/ 101 h 938"/>
                  <a:gd name="T82" fmla="*/ 339 w 1715"/>
                  <a:gd name="T83" fmla="*/ 116 h 938"/>
                  <a:gd name="T84" fmla="*/ 299 w 1715"/>
                  <a:gd name="T85" fmla="*/ 131 h 938"/>
                  <a:gd name="T86" fmla="*/ 276 w 1715"/>
                  <a:gd name="T87" fmla="*/ 150 h 938"/>
                  <a:gd name="T88" fmla="*/ 253 w 1715"/>
                  <a:gd name="T89" fmla="*/ 169 h 93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15"/>
                  <a:gd name="T136" fmla="*/ 0 h 938"/>
                  <a:gd name="T137" fmla="*/ 1715 w 1715"/>
                  <a:gd name="T138" fmla="*/ 938 h 93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15" h="938">
                    <a:moveTo>
                      <a:pt x="477" y="365"/>
                    </a:moveTo>
                    <a:lnTo>
                      <a:pt x="427" y="399"/>
                    </a:lnTo>
                    <a:lnTo>
                      <a:pt x="395" y="439"/>
                    </a:lnTo>
                    <a:lnTo>
                      <a:pt x="373" y="479"/>
                    </a:lnTo>
                    <a:lnTo>
                      <a:pt x="360" y="520"/>
                    </a:lnTo>
                    <a:lnTo>
                      <a:pt x="346" y="558"/>
                    </a:lnTo>
                    <a:lnTo>
                      <a:pt x="328" y="593"/>
                    </a:lnTo>
                    <a:lnTo>
                      <a:pt x="301" y="622"/>
                    </a:lnTo>
                    <a:lnTo>
                      <a:pt x="258" y="643"/>
                    </a:lnTo>
                    <a:lnTo>
                      <a:pt x="217" y="644"/>
                    </a:lnTo>
                    <a:lnTo>
                      <a:pt x="187" y="649"/>
                    </a:lnTo>
                    <a:lnTo>
                      <a:pt x="164" y="658"/>
                    </a:lnTo>
                    <a:lnTo>
                      <a:pt x="146" y="672"/>
                    </a:lnTo>
                    <a:lnTo>
                      <a:pt x="129" y="686"/>
                    </a:lnTo>
                    <a:lnTo>
                      <a:pt x="110" y="705"/>
                    </a:lnTo>
                    <a:lnTo>
                      <a:pt x="84" y="726"/>
                    </a:lnTo>
                    <a:lnTo>
                      <a:pt x="51" y="750"/>
                    </a:lnTo>
                    <a:lnTo>
                      <a:pt x="15" y="795"/>
                    </a:lnTo>
                    <a:lnTo>
                      <a:pt x="0" y="826"/>
                    </a:lnTo>
                    <a:lnTo>
                      <a:pt x="1" y="845"/>
                    </a:lnTo>
                    <a:lnTo>
                      <a:pt x="15" y="857"/>
                    </a:lnTo>
                    <a:lnTo>
                      <a:pt x="36" y="861"/>
                    </a:lnTo>
                    <a:lnTo>
                      <a:pt x="62" y="864"/>
                    </a:lnTo>
                    <a:lnTo>
                      <a:pt x="87" y="864"/>
                    </a:lnTo>
                    <a:lnTo>
                      <a:pt x="110" y="869"/>
                    </a:lnTo>
                    <a:lnTo>
                      <a:pt x="119" y="865"/>
                    </a:lnTo>
                    <a:lnTo>
                      <a:pt x="131" y="867"/>
                    </a:lnTo>
                    <a:lnTo>
                      <a:pt x="145" y="871"/>
                    </a:lnTo>
                    <a:lnTo>
                      <a:pt x="164" y="877"/>
                    </a:lnTo>
                    <a:lnTo>
                      <a:pt x="187" y="882"/>
                    </a:lnTo>
                    <a:lnTo>
                      <a:pt x="213" y="888"/>
                    </a:lnTo>
                    <a:lnTo>
                      <a:pt x="244" y="889"/>
                    </a:lnTo>
                    <a:lnTo>
                      <a:pt x="282" y="888"/>
                    </a:lnTo>
                    <a:lnTo>
                      <a:pt x="311" y="900"/>
                    </a:lnTo>
                    <a:lnTo>
                      <a:pt x="356" y="913"/>
                    </a:lnTo>
                    <a:lnTo>
                      <a:pt x="414" y="921"/>
                    </a:lnTo>
                    <a:lnTo>
                      <a:pt x="484" y="930"/>
                    </a:lnTo>
                    <a:lnTo>
                      <a:pt x="560" y="934"/>
                    </a:lnTo>
                    <a:lnTo>
                      <a:pt x="646" y="938"/>
                    </a:lnTo>
                    <a:lnTo>
                      <a:pt x="733" y="938"/>
                    </a:lnTo>
                    <a:lnTo>
                      <a:pt x="825" y="938"/>
                    </a:lnTo>
                    <a:lnTo>
                      <a:pt x="893" y="938"/>
                    </a:lnTo>
                    <a:lnTo>
                      <a:pt x="951" y="935"/>
                    </a:lnTo>
                    <a:lnTo>
                      <a:pt x="1000" y="930"/>
                    </a:lnTo>
                    <a:lnTo>
                      <a:pt x="1041" y="925"/>
                    </a:lnTo>
                    <a:lnTo>
                      <a:pt x="1069" y="918"/>
                    </a:lnTo>
                    <a:lnTo>
                      <a:pt x="1092" y="913"/>
                    </a:lnTo>
                    <a:lnTo>
                      <a:pt x="1107" y="909"/>
                    </a:lnTo>
                    <a:lnTo>
                      <a:pt x="1115" y="910"/>
                    </a:lnTo>
                    <a:lnTo>
                      <a:pt x="1155" y="882"/>
                    </a:lnTo>
                    <a:lnTo>
                      <a:pt x="1196" y="865"/>
                    </a:lnTo>
                    <a:lnTo>
                      <a:pt x="1234" y="847"/>
                    </a:lnTo>
                    <a:lnTo>
                      <a:pt x="1268" y="826"/>
                    </a:lnTo>
                    <a:lnTo>
                      <a:pt x="1291" y="791"/>
                    </a:lnTo>
                    <a:lnTo>
                      <a:pt x="1306" y="737"/>
                    </a:lnTo>
                    <a:lnTo>
                      <a:pt x="1309" y="658"/>
                    </a:lnTo>
                    <a:lnTo>
                      <a:pt x="1296" y="547"/>
                    </a:lnTo>
                    <a:lnTo>
                      <a:pt x="1326" y="528"/>
                    </a:lnTo>
                    <a:lnTo>
                      <a:pt x="1353" y="527"/>
                    </a:lnTo>
                    <a:lnTo>
                      <a:pt x="1375" y="538"/>
                    </a:lnTo>
                    <a:lnTo>
                      <a:pt x="1398" y="557"/>
                    </a:lnTo>
                    <a:lnTo>
                      <a:pt x="1421" y="577"/>
                    </a:lnTo>
                    <a:lnTo>
                      <a:pt x="1448" y="594"/>
                    </a:lnTo>
                    <a:lnTo>
                      <a:pt x="1481" y="604"/>
                    </a:lnTo>
                    <a:lnTo>
                      <a:pt x="1523" y="603"/>
                    </a:lnTo>
                    <a:lnTo>
                      <a:pt x="1641" y="553"/>
                    </a:lnTo>
                    <a:lnTo>
                      <a:pt x="1703" y="479"/>
                    </a:lnTo>
                    <a:lnTo>
                      <a:pt x="1715" y="393"/>
                    </a:lnTo>
                    <a:lnTo>
                      <a:pt x="1691" y="306"/>
                    </a:lnTo>
                    <a:lnTo>
                      <a:pt x="1634" y="231"/>
                    </a:lnTo>
                    <a:lnTo>
                      <a:pt x="1556" y="182"/>
                    </a:lnTo>
                    <a:lnTo>
                      <a:pt x="1462" y="172"/>
                    </a:lnTo>
                    <a:lnTo>
                      <a:pt x="1365" y="213"/>
                    </a:lnTo>
                    <a:lnTo>
                      <a:pt x="1357" y="222"/>
                    </a:lnTo>
                    <a:lnTo>
                      <a:pt x="1350" y="237"/>
                    </a:lnTo>
                    <a:lnTo>
                      <a:pt x="1343" y="255"/>
                    </a:lnTo>
                    <a:lnTo>
                      <a:pt x="1335" y="272"/>
                    </a:lnTo>
                    <a:lnTo>
                      <a:pt x="1324" y="285"/>
                    </a:lnTo>
                    <a:lnTo>
                      <a:pt x="1309" y="295"/>
                    </a:lnTo>
                    <a:lnTo>
                      <a:pt x="1289" y="296"/>
                    </a:lnTo>
                    <a:lnTo>
                      <a:pt x="1265" y="286"/>
                    </a:lnTo>
                    <a:lnTo>
                      <a:pt x="1252" y="275"/>
                    </a:lnTo>
                    <a:lnTo>
                      <a:pt x="1244" y="263"/>
                    </a:lnTo>
                    <a:lnTo>
                      <a:pt x="1234" y="253"/>
                    </a:lnTo>
                    <a:lnTo>
                      <a:pt x="1226" y="243"/>
                    </a:lnTo>
                    <a:lnTo>
                      <a:pt x="1217" y="232"/>
                    </a:lnTo>
                    <a:lnTo>
                      <a:pt x="1209" y="222"/>
                    </a:lnTo>
                    <a:lnTo>
                      <a:pt x="1197" y="212"/>
                    </a:lnTo>
                    <a:lnTo>
                      <a:pt x="1187" y="202"/>
                    </a:lnTo>
                    <a:lnTo>
                      <a:pt x="1196" y="186"/>
                    </a:lnTo>
                    <a:lnTo>
                      <a:pt x="1201" y="174"/>
                    </a:lnTo>
                    <a:lnTo>
                      <a:pt x="1201" y="163"/>
                    </a:lnTo>
                    <a:lnTo>
                      <a:pt x="1199" y="153"/>
                    </a:lnTo>
                    <a:lnTo>
                      <a:pt x="1194" y="142"/>
                    </a:lnTo>
                    <a:lnTo>
                      <a:pt x="1192" y="133"/>
                    </a:lnTo>
                    <a:lnTo>
                      <a:pt x="1192" y="122"/>
                    </a:lnTo>
                    <a:lnTo>
                      <a:pt x="1197" y="112"/>
                    </a:lnTo>
                    <a:lnTo>
                      <a:pt x="1195" y="70"/>
                    </a:lnTo>
                    <a:lnTo>
                      <a:pt x="1172" y="39"/>
                    </a:lnTo>
                    <a:lnTo>
                      <a:pt x="1135" y="17"/>
                    </a:lnTo>
                    <a:lnTo>
                      <a:pt x="1091" y="5"/>
                    </a:lnTo>
                    <a:lnTo>
                      <a:pt x="1042" y="0"/>
                    </a:lnTo>
                    <a:lnTo>
                      <a:pt x="1000" y="7"/>
                    </a:lnTo>
                    <a:lnTo>
                      <a:pt x="969" y="20"/>
                    </a:lnTo>
                    <a:lnTo>
                      <a:pt x="957" y="45"/>
                    </a:lnTo>
                    <a:lnTo>
                      <a:pt x="955" y="62"/>
                    </a:lnTo>
                    <a:lnTo>
                      <a:pt x="953" y="75"/>
                    </a:lnTo>
                    <a:lnTo>
                      <a:pt x="949" y="87"/>
                    </a:lnTo>
                    <a:lnTo>
                      <a:pt x="945" y="99"/>
                    </a:lnTo>
                    <a:lnTo>
                      <a:pt x="941" y="111"/>
                    </a:lnTo>
                    <a:lnTo>
                      <a:pt x="938" y="123"/>
                    </a:lnTo>
                    <a:lnTo>
                      <a:pt x="936" y="137"/>
                    </a:lnTo>
                    <a:lnTo>
                      <a:pt x="938" y="156"/>
                    </a:lnTo>
                    <a:lnTo>
                      <a:pt x="919" y="158"/>
                    </a:lnTo>
                    <a:lnTo>
                      <a:pt x="904" y="162"/>
                    </a:lnTo>
                    <a:lnTo>
                      <a:pt x="889" y="166"/>
                    </a:lnTo>
                    <a:lnTo>
                      <a:pt x="875" y="169"/>
                    </a:lnTo>
                    <a:lnTo>
                      <a:pt x="860" y="172"/>
                    </a:lnTo>
                    <a:lnTo>
                      <a:pt x="846" y="176"/>
                    </a:lnTo>
                    <a:lnTo>
                      <a:pt x="830" y="179"/>
                    </a:lnTo>
                    <a:lnTo>
                      <a:pt x="814" y="183"/>
                    </a:lnTo>
                    <a:lnTo>
                      <a:pt x="786" y="193"/>
                    </a:lnTo>
                    <a:lnTo>
                      <a:pt x="758" y="203"/>
                    </a:lnTo>
                    <a:lnTo>
                      <a:pt x="731" y="213"/>
                    </a:lnTo>
                    <a:lnTo>
                      <a:pt x="704" y="223"/>
                    </a:lnTo>
                    <a:lnTo>
                      <a:pt x="677" y="233"/>
                    </a:lnTo>
                    <a:lnTo>
                      <a:pt x="649" y="243"/>
                    </a:lnTo>
                    <a:lnTo>
                      <a:pt x="623" y="253"/>
                    </a:lnTo>
                    <a:lnTo>
                      <a:pt x="597" y="263"/>
                    </a:lnTo>
                    <a:lnTo>
                      <a:pt x="582" y="276"/>
                    </a:lnTo>
                    <a:lnTo>
                      <a:pt x="567" y="289"/>
                    </a:lnTo>
                    <a:lnTo>
                      <a:pt x="551" y="301"/>
                    </a:lnTo>
                    <a:lnTo>
                      <a:pt x="536" y="314"/>
                    </a:lnTo>
                    <a:lnTo>
                      <a:pt x="521" y="326"/>
                    </a:lnTo>
                    <a:lnTo>
                      <a:pt x="506" y="339"/>
                    </a:lnTo>
                    <a:lnTo>
                      <a:pt x="491" y="351"/>
                    </a:lnTo>
                    <a:lnTo>
                      <a:pt x="477" y="365"/>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0" name="Freeform 609">
                <a:extLst>
                  <a:ext uri="{FF2B5EF4-FFF2-40B4-BE49-F238E27FC236}">
                    <a16:creationId xmlns:a16="http://schemas.microsoft.com/office/drawing/2014/main" id="{CD38F2C9-1DE5-C74D-A3FC-22CCDE1AFA73}"/>
                  </a:ext>
                </a:extLst>
              </p:cNvPr>
              <p:cNvSpPr>
                <a:spLocks/>
              </p:cNvSpPr>
              <p:nvPr/>
            </p:nvSpPr>
            <p:spPr bwMode="auto">
              <a:xfrm>
                <a:off x="3586" y="3162"/>
                <a:ext cx="125" cy="124"/>
              </a:xfrm>
              <a:custGeom>
                <a:avLst/>
                <a:gdLst>
                  <a:gd name="T0" fmla="*/ 57 w 251"/>
                  <a:gd name="T1" fmla="*/ 121 h 249"/>
                  <a:gd name="T2" fmla="*/ 69 w 251"/>
                  <a:gd name="T3" fmla="*/ 122 h 249"/>
                  <a:gd name="T4" fmla="*/ 83 w 251"/>
                  <a:gd name="T5" fmla="*/ 123 h 249"/>
                  <a:gd name="T6" fmla="*/ 97 w 251"/>
                  <a:gd name="T7" fmla="*/ 124 h 249"/>
                  <a:gd name="T8" fmla="*/ 109 w 251"/>
                  <a:gd name="T9" fmla="*/ 123 h 249"/>
                  <a:gd name="T10" fmla="*/ 119 w 251"/>
                  <a:gd name="T11" fmla="*/ 117 h 249"/>
                  <a:gd name="T12" fmla="*/ 125 w 251"/>
                  <a:gd name="T13" fmla="*/ 108 h 249"/>
                  <a:gd name="T14" fmla="*/ 125 w 251"/>
                  <a:gd name="T15" fmla="*/ 91 h 249"/>
                  <a:gd name="T16" fmla="*/ 119 w 251"/>
                  <a:gd name="T17" fmla="*/ 70 h 249"/>
                  <a:gd name="T18" fmla="*/ 113 w 251"/>
                  <a:gd name="T19" fmla="*/ 61 h 249"/>
                  <a:gd name="T20" fmla="*/ 108 w 251"/>
                  <a:gd name="T21" fmla="*/ 53 h 249"/>
                  <a:gd name="T22" fmla="*/ 103 w 251"/>
                  <a:gd name="T23" fmla="*/ 44 h 249"/>
                  <a:gd name="T24" fmla="*/ 98 w 251"/>
                  <a:gd name="T25" fmla="*/ 36 h 249"/>
                  <a:gd name="T26" fmla="*/ 92 w 251"/>
                  <a:gd name="T27" fmla="*/ 27 h 249"/>
                  <a:gd name="T28" fmla="*/ 87 w 251"/>
                  <a:gd name="T29" fmla="*/ 19 h 249"/>
                  <a:gd name="T30" fmla="*/ 82 w 251"/>
                  <a:gd name="T31" fmla="*/ 10 h 249"/>
                  <a:gd name="T32" fmla="*/ 77 w 251"/>
                  <a:gd name="T33" fmla="*/ 2 h 249"/>
                  <a:gd name="T34" fmla="*/ 47 w 251"/>
                  <a:gd name="T35" fmla="*/ 0 h 249"/>
                  <a:gd name="T36" fmla="*/ 23 w 251"/>
                  <a:gd name="T37" fmla="*/ 7 h 249"/>
                  <a:gd name="T38" fmla="*/ 7 w 251"/>
                  <a:gd name="T39" fmla="*/ 21 h 249"/>
                  <a:gd name="T40" fmla="*/ 0 w 251"/>
                  <a:gd name="T41" fmla="*/ 39 h 249"/>
                  <a:gd name="T42" fmla="*/ 0 w 251"/>
                  <a:gd name="T43" fmla="*/ 60 h 249"/>
                  <a:gd name="T44" fmla="*/ 9 w 251"/>
                  <a:gd name="T45" fmla="*/ 83 h 249"/>
                  <a:gd name="T46" fmla="*/ 28 w 251"/>
                  <a:gd name="T47" fmla="*/ 103 h 249"/>
                  <a:gd name="T48" fmla="*/ 57 w 251"/>
                  <a:gd name="T49" fmla="*/ 121 h 2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51"/>
                  <a:gd name="T76" fmla="*/ 0 h 249"/>
                  <a:gd name="T77" fmla="*/ 251 w 251"/>
                  <a:gd name="T78" fmla="*/ 249 h 2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51" h="249">
                    <a:moveTo>
                      <a:pt x="115" y="242"/>
                    </a:moveTo>
                    <a:lnTo>
                      <a:pt x="139" y="245"/>
                    </a:lnTo>
                    <a:lnTo>
                      <a:pt x="167" y="247"/>
                    </a:lnTo>
                    <a:lnTo>
                      <a:pt x="194" y="249"/>
                    </a:lnTo>
                    <a:lnTo>
                      <a:pt x="219" y="246"/>
                    </a:lnTo>
                    <a:lnTo>
                      <a:pt x="238" y="235"/>
                    </a:lnTo>
                    <a:lnTo>
                      <a:pt x="251" y="216"/>
                    </a:lnTo>
                    <a:lnTo>
                      <a:pt x="251" y="183"/>
                    </a:lnTo>
                    <a:lnTo>
                      <a:pt x="238" y="141"/>
                    </a:lnTo>
                    <a:lnTo>
                      <a:pt x="227" y="123"/>
                    </a:lnTo>
                    <a:lnTo>
                      <a:pt x="217" y="106"/>
                    </a:lnTo>
                    <a:lnTo>
                      <a:pt x="207" y="88"/>
                    </a:lnTo>
                    <a:lnTo>
                      <a:pt x="197" y="72"/>
                    </a:lnTo>
                    <a:lnTo>
                      <a:pt x="185" y="54"/>
                    </a:lnTo>
                    <a:lnTo>
                      <a:pt x="175" y="38"/>
                    </a:lnTo>
                    <a:lnTo>
                      <a:pt x="165" y="20"/>
                    </a:lnTo>
                    <a:lnTo>
                      <a:pt x="155" y="4"/>
                    </a:lnTo>
                    <a:lnTo>
                      <a:pt x="94" y="0"/>
                    </a:lnTo>
                    <a:lnTo>
                      <a:pt x="47" y="14"/>
                    </a:lnTo>
                    <a:lnTo>
                      <a:pt x="15" y="42"/>
                    </a:lnTo>
                    <a:lnTo>
                      <a:pt x="0" y="79"/>
                    </a:lnTo>
                    <a:lnTo>
                      <a:pt x="0" y="121"/>
                    </a:lnTo>
                    <a:lnTo>
                      <a:pt x="19" y="166"/>
                    </a:lnTo>
                    <a:lnTo>
                      <a:pt x="56" y="207"/>
                    </a:lnTo>
                    <a:lnTo>
                      <a:pt x="115" y="24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1" name="Freeform 610">
                <a:extLst>
                  <a:ext uri="{FF2B5EF4-FFF2-40B4-BE49-F238E27FC236}">
                    <a16:creationId xmlns:a16="http://schemas.microsoft.com/office/drawing/2014/main" id="{54C92187-A9A7-7147-A6DA-6359D9585205}"/>
                  </a:ext>
                </a:extLst>
              </p:cNvPr>
              <p:cNvSpPr>
                <a:spLocks/>
              </p:cNvSpPr>
              <p:nvPr/>
            </p:nvSpPr>
            <p:spPr bwMode="auto">
              <a:xfrm>
                <a:off x="4057" y="2832"/>
                <a:ext cx="442" cy="196"/>
              </a:xfrm>
              <a:custGeom>
                <a:avLst/>
                <a:gdLst>
                  <a:gd name="T0" fmla="*/ 0 w 883"/>
                  <a:gd name="T1" fmla="*/ 113 h 392"/>
                  <a:gd name="T2" fmla="*/ 8 w 883"/>
                  <a:gd name="T3" fmla="*/ 110 h 392"/>
                  <a:gd name="T4" fmla="*/ 18 w 883"/>
                  <a:gd name="T5" fmla="*/ 108 h 392"/>
                  <a:gd name="T6" fmla="*/ 28 w 883"/>
                  <a:gd name="T7" fmla="*/ 106 h 392"/>
                  <a:gd name="T8" fmla="*/ 38 w 883"/>
                  <a:gd name="T9" fmla="*/ 106 h 392"/>
                  <a:gd name="T10" fmla="*/ 48 w 883"/>
                  <a:gd name="T11" fmla="*/ 106 h 392"/>
                  <a:gd name="T12" fmla="*/ 59 w 883"/>
                  <a:gd name="T13" fmla="*/ 108 h 392"/>
                  <a:gd name="T14" fmla="*/ 68 w 883"/>
                  <a:gd name="T15" fmla="*/ 110 h 392"/>
                  <a:gd name="T16" fmla="*/ 77 w 883"/>
                  <a:gd name="T17" fmla="*/ 113 h 392"/>
                  <a:gd name="T18" fmla="*/ 99 w 883"/>
                  <a:gd name="T19" fmla="*/ 145 h 392"/>
                  <a:gd name="T20" fmla="*/ 120 w 883"/>
                  <a:gd name="T21" fmla="*/ 168 h 392"/>
                  <a:gd name="T22" fmla="*/ 142 w 883"/>
                  <a:gd name="T23" fmla="*/ 182 h 392"/>
                  <a:gd name="T24" fmla="*/ 166 w 883"/>
                  <a:gd name="T25" fmla="*/ 191 h 392"/>
                  <a:gd name="T26" fmla="*/ 191 w 883"/>
                  <a:gd name="T27" fmla="*/ 195 h 392"/>
                  <a:gd name="T28" fmla="*/ 221 w 883"/>
                  <a:gd name="T29" fmla="*/ 196 h 392"/>
                  <a:gd name="T30" fmla="*/ 256 w 883"/>
                  <a:gd name="T31" fmla="*/ 196 h 392"/>
                  <a:gd name="T32" fmla="*/ 297 w 883"/>
                  <a:gd name="T33" fmla="*/ 196 h 392"/>
                  <a:gd name="T34" fmla="*/ 317 w 883"/>
                  <a:gd name="T35" fmla="*/ 181 h 392"/>
                  <a:gd name="T36" fmla="*/ 337 w 883"/>
                  <a:gd name="T37" fmla="*/ 168 h 392"/>
                  <a:gd name="T38" fmla="*/ 356 w 883"/>
                  <a:gd name="T39" fmla="*/ 154 h 392"/>
                  <a:gd name="T40" fmla="*/ 376 w 883"/>
                  <a:gd name="T41" fmla="*/ 139 h 392"/>
                  <a:gd name="T42" fmla="*/ 394 w 883"/>
                  <a:gd name="T43" fmla="*/ 121 h 392"/>
                  <a:gd name="T44" fmla="*/ 411 w 883"/>
                  <a:gd name="T45" fmla="*/ 101 h 392"/>
                  <a:gd name="T46" fmla="*/ 426 w 883"/>
                  <a:gd name="T47" fmla="*/ 79 h 392"/>
                  <a:gd name="T48" fmla="*/ 442 w 883"/>
                  <a:gd name="T49" fmla="*/ 54 h 392"/>
                  <a:gd name="T50" fmla="*/ 363 w 883"/>
                  <a:gd name="T51" fmla="*/ 73 h 392"/>
                  <a:gd name="T52" fmla="*/ 292 w 883"/>
                  <a:gd name="T53" fmla="*/ 77 h 392"/>
                  <a:gd name="T54" fmla="*/ 230 w 883"/>
                  <a:gd name="T55" fmla="*/ 70 h 392"/>
                  <a:gd name="T56" fmla="*/ 178 w 883"/>
                  <a:gd name="T57" fmla="*/ 55 h 392"/>
                  <a:gd name="T58" fmla="*/ 136 w 883"/>
                  <a:gd name="T59" fmla="*/ 37 h 392"/>
                  <a:gd name="T60" fmla="*/ 105 w 883"/>
                  <a:gd name="T61" fmla="*/ 19 h 392"/>
                  <a:gd name="T62" fmla="*/ 86 w 883"/>
                  <a:gd name="T63" fmla="*/ 5 h 392"/>
                  <a:gd name="T64" fmla="*/ 80 w 883"/>
                  <a:gd name="T65" fmla="*/ 0 h 392"/>
                  <a:gd name="T66" fmla="*/ 63 w 883"/>
                  <a:gd name="T67" fmla="*/ 10 h 392"/>
                  <a:gd name="T68" fmla="*/ 50 w 883"/>
                  <a:gd name="T69" fmla="*/ 22 h 392"/>
                  <a:gd name="T70" fmla="*/ 38 w 883"/>
                  <a:gd name="T71" fmla="*/ 33 h 392"/>
                  <a:gd name="T72" fmla="*/ 28 w 883"/>
                  <a:gd name="T73" fmla="*/ 46 h 392"/>
                  <a:gd name="T74" fmla="*/ 18 w 883"/>
                  <a:gd name="T75" fmla="*/ 59 h 392"/>
                  <a:gd name="T76" fmla="*/ 11 w 883"/>
                  <a:gd name="T77" fmla="*/ 76 h 392"/>
                  <a:gd name="T78" fmla="*/ 5 w 883"/>
                  <a:gd name="T79" fmla="*/ 93 h 392"/>
                  <a:gd name="T80" fmla="*/ 0 w 883"/>
                  <a:gd name="T81" fmla="*/ 113 h 3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83"/>
                  <a:gd name="T124" fmla="*/ 0 h 392"/>
                  <a:gd name="T125" fmla="*/ 883 w 883"/>
                  <a:gd name="T126" fmla="*/ 392 h 39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83" h="392">
                    <a:moveTo>
                      <a:pt x="0" y="227"/>
                    </a:moveTo>
                    <a:lnTo>
                      <a:pt x="15" y="221"/>
                    </a:lnTo>
                    <a:lnTo>
                      <a:pt x="35" y="217"/>
                    </a:lnTo>
                    <a:lnTo>
                      <a:pt x="55" y="213"/>
                    </a:lnTo>
                    <a:lnTo>
                      <a:pt x="76" y="213"/>
                    </a:lnTo>
                    <a:lnTo>
                      <a:pt x="96" y="213"/>
                    </a:lnTo>
                    <a:lnTo>
                      <a:pt x="118" y="216"/>
                    </a:lnTo>
                    <a:lnTo>
                      <a:pt x="136" y="220"/>
                    </a:lnTo>
                    <a:lnTo>
                      <a:pt x="153" y="227"/>
                    </a:lnTo>
                    <a:lnTo>
                      <a:pt x="197" y="290"/>
                    </a:lnTo>
                    <a:lnTo>
                      <a:pt x="239" y="335"/>
                    </a:lnTo>
                    <a:lnTo>
                      <a:pt x="283" y="364"/>
                    </a:lnTo>
                    <a:lnTo>
                      <a:pt x="331" y="382"/>
                    </a:lnTo>
                    <a:lnTo>
                      <a:pt x="382" y="390"/>
                    </a:lnTo>
                    <a:lnTo>
                      <a:pt x="441" y="392"/>
                    </a:lnTo>
                    <a:lnTo>
                      <a:pt x="511" y="391"/>
                    </a:lnTo>
                    <a:lnTo>
                      <a:pt x="594" y="391"/>
                    </a:lnTo>
                    <a:lnTo>
                      <a:pt x="634" y="362"/>
                    </a:lnTo>
                    <a:lnTo>
                      <a:pt x="674" y="336"/>
                    </a:lnTo>
                    <a:lnTo>
                      <a:pt x="712" y="307"/>
                    </a:lnTo>
                    <a:lnTo>
                      <a:pt x="751" y="277"/>
                    </a:lnTo>
                    <a:lnTo>
                      <a:pt x="787" y="242"/>
                    </a:lnTo>
                    <a:lnTo>
                      <a:pt x="821" y="203"/>
                    </a:lnTo>
                    <a:lnTo>
                      <a:pt x="852" y="158"/>
                    </a:lnTo>
                    <a:lnTo>
                      <a:pt x="883" y="108"/>
                    </a:lnTo>
                    <a:lnTo>
                      <a:pt x="725" y="146"/>
                    </a:lnTo>
                    <a:lnTo>
                      <a:pt x="583" y="154"/>
                    </a:lnTo>
                    <a:lnTo>
                      <a:pt x="459" y="139"/>
                    </a:lnTo>
                    <a:lnTo>
                      <a:pt x="355" y="111"/>
                    </a:lnTo>
                    <a:lnTo>
                      <a:pt x="271" y="74"/>
                    </a:lnTo>
                    <a:lnTo>
                      <a:pt x="209" y="38"/>
                    </a:lnTo>
                    <a:lnTo>
                      <a:pt x="172" y="10"/>
                    </a:lnTo>
                    <a:lnTo>
                      <a:pt x="159" y="0"/>
                    </a:lnTo>
                    <a:lnTo>
                      <a:pt x="125" y="20"/>
                    </a:lnTo>
                    <a:lnTo>
                      <a:pt x="99" y="43"/>
                    </a:lnTo>
                    <a:lnTo>
                      <a:pt x="75" y="65"/>
                    </a:lnTo>
                    <a:lnTo>
                      <a:pt x="55" y="92"/>
                    </a:lnTo>
                    <a:lnTo>
                      <a:pt x="36" y="119"/>
                    </a:lnTo>
                    <a:lnTo>
                      <a:pt x="22" y="151"/>
                    </a:lnTo>
                    <a:lnTo>
                      <a:pt x="10" y="186"/>
                    </a:lnTo>
                    <a:lnTo>
                      <a:pt x="0" y="22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2" name="Freeform 611">
                <a:extLst>
                  <a:ext uri="{FF2B5EF4-FFF2-40B4-BE49-F238E27FC236}">
                    <a16:creationId xmlns:a16="http://schemas.microsoft.com/office/drawing/2014/main" id="{E905123C-6139-7D44-91F5-E52FCCB47B9E}"/>
                  </a:ext>
                </a:extLst>
              </p:cNvPr>
              <p:cNvSpPr>
                <a:spLocks/>
              </p:cNvSpPr>
              <p:nvPr/>
            </p:nvSpPr>
            <p:spPr bwMode="auto">
              <a:xfrm>
                <a:off x="4187" y="2909"/>
                <a:ext cx="100" cy="94"/>
              </a:xfrm>
              <a:custGeom>
                <a:avLst/>
                <a:gdLst>
                  <a:gd name="T0" fmla="*/ 0 w 201"/>
                  <a:gd name="T1" fmla="*/ 54 h 188"/>
                  <a:gd name="T2" fmla="*/ 7 w 201"/>
                  <a:gd name="T3" fmla="*/ 73 h 188"/>
                  <a:gd name="T4" fmla="*/ 20 w 201"/>
                  <a:gd name="T5" fmla="*/ 86 h 188"/>
                  <a:gd name="T6" fmla="*/ 36 w 201"/>
                  <a:gd name="T7" fmla="*/ 93 h 188"/>
                  <a:gd name="T8" fmla="*/ 54 w 201"/>
                  <a:gd name="T9" fmla="*/ 94 h 188"/>
                  <a:gd name="T10" fmla="*/ 71 w 201"/>
                  <a:gd name="T11" fmla="*/ 88 h 188"/>
                  <a:gd name="T12" fmla="*/ 86 w 201"/>
                  <a:gd name="T13" fmla="*/ 75 h 188"/>
                  <a:gd name="T14" fmla="*/ 96 w 201"/>
                  <a:gd name="T15" fmla="*/ 54 h 188"/>
                  <a:gd name="T16" fmla="*/ 100 w 201"/>
                  <a:gd name="T17" fmla="*/ 27 h 188"/>
                  <a:gd name="T18" fmla="*/ 82 w 201"/>
                  <a:gd name="T19" fmla="*/ 13 h 188"/>
                  <a:gd name="T20" fmla="*/ 64 w 201"/>
                  <a:gd name="T21" fmla="*/ 5 h 188"/>
                  <a:gd name="T22" fmla="*/ 47 w 201"/>
                  <a:gd name="T23" fmla="*/ 0 h 188"/>
                  <a:gd name="T24" fmla="*/ 32 w 201"/>
                  <a:gd name="T25" fmla="*/ 1 h 188"/>
                  <a:gd name="T26" fmla="*/ 19 w 201"/>
                  <a:gd name="T27" fmla="*/ 6 h 188"/>
                  <a:gd name="T28" fmla="*/ 9 w 201"/>
                  <a:gd name="T29" fmla="*/ 17 h 188"/>
                  <a:gd name="T30" fmla="*/ 1 w 201"/>
                  <a:gd name="T31" fmla="*/ 33 h 188"/>
                  <a:gd name="T32" fmla="*/ 0 w 201"/>
                  <a:gd name="T33" fmla="*/ 54 h 1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1"/>
                  <a:gd name="T52" fmla="*/ 0 h 188"/>
                  <a:gd name="T53" fmla="*/ 201 w 201"/>
                  <a:gd name="T54" fmla="*/ 188 h 1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1" h="188">
                    <a:moveTo>
                      <a:pt x="0" y="109"/>
                    </a:moveTo>
                    <a:lnTo>
                      <a:pt x="15" y="146"/>
                    </a:lnTo>
                    <a:lnTo>
                      <a:pt x="41" y="172"/>
                    </a:lnTo>
                    <a:lnTo>
                      <a:pt x="73" y="186"/>
                    </a:lnTo>
                    <a:lnTo>
                      <a:pt x="109" y="188"/>
                    </a:lnTo>
                    <a:lnTo>
                      <a:pt x="143" y="176"/>
                    </a:lnTo>
                    <a:lnTo>
                      <a:pt x="172" y="150"/>
                    </a:lnTo>
                    <a:lnTo>
                      <a:pt x="192" y="109"/>
                    </a:lnTo>
                    <a:lnTo>
                      <a:pt x="201" y="54"/>
                    </a:lnTo>
                    <a:lnTo>
                      <a:pt x="164" y="27"/>
                    </a:lnTo>
                    <a:lnTo>
                      <a:pt x="129" y="9"/>
                    </a:lnTo>
                    <a:lnTo>
                      <a:pt x="95" y="0"/>
                    </a:lnTo>
                    <a:lnTo>
                      <a:pt x="65" y="2"/>
                    </a:lnTo>
                    <a:lnTo>
                      <a:pt x="38" y="12"/>
                    </a:lnTo>
                    <a:lnTo>
                      <a:pt x="18" y="34"/>
                    </a:lnTo>
                    <a:lnTo>
                      <a:pt x="3" y="66"/>
                    </a:lnTo>
                    <a:lnTo>
                      <a:pt x="0" y="109"/>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3" name="Freeform 612">
                <a:extLst>
                  <a:ext uri="{FF2B5EF4-FFF2-40B4-BE49-F238E27FC236}">
                    <a16:creationId xmlns:a16="http://schemas.microsoft.com/office/drawing/2014/main" id="{ED62D8AA-E0E5-7F44-8704-53EB7F837459}"/>
                  </a:ext>
                </a:extLst>
              </p:cNvPr>
              <p:cNvSpPr>
                <a:spLocks/>
              </p:cNvSpPr>
              <p:nvPr/>
            </p:nvSpPr>
            <p:spPr bwMode="auto">
              <a:xfrm>
                <a:off x="4085" y="2857"/>
                <a:ext cx="73" cy="69"/>
              </a:xfrm>
              <a:custGeom>
                <a:avLst/>
                <a:gdLst>
                  <a:gd name="T0" fmla="*/ 5 w 145"/>
                  <a:gd name="T1" fmla="*/ 37 h 138"/>
                  <a:gd name="T2" fmla="*/ 0 w 145"/>
                  <a:gd name="T3" fmla="*/ 53 h 138"/>
                  <a:gd name="T4" fmla="*/ 2 w 145"/>
                  <a:gd name="T5" fmla="*/ 63 h 138"/>
                  <a:gd name="T6" fmla="*/ 9 w 145"/>
                  <a:gd name="T7" fmla="*/ 68 h 138"/>
                  <a:gd name="T8" fmla="*/ 20 w 145"/>
                  <a:gd name="T9" fmla="*/ 69 h 138"/>
                  <a:gd name="T10" fmla="*/ 33 w 145"/>
                  <a:gd name="T11" fmla="*/ 66 h 138"/>
                  <a:gd name="T12" fmla="*/ 47 w 145"/>
                  <a:gd name="T13" fmla="*/ 60 h 138"/>
                  <a:gd name="T14" fmla="*/ 61 w 145"/>
                  <a:gd name="T15" fmla="*/ 53 h 138"/>
                  <a:gd name="T16" fmla="*/ 73 w 145"/>
                  <a:gd name="T17" fmla="*/ 44 h 138"/>
                  <a:gd name="T18" fmla="*/ 70 w 145"/>
                  <a:gd name="T19" fmla="*/ 26 h 138"/>
                  <a:gd name="T20" fmla="*/ 65 w 145"/>
                  <a:gd name="T21" fmla="*/ 13 h 138"/>
                  <a:gd name="T22" fmla="*/ 57 w 145"/>
                  <a:gd name="T23" fmla="*/ 4 h 138"/>
                  <a:gd name="T24" fmla="*/ 49 w 145"/>
                  <a:gd name="T25" fmla="*/ 0 h 138"/>
                  <a:gd name="T26" fmla="*/ 39 w 145"/>
                  <a:gd name="T27" fmla="*/ 0 h 138"/>
                  <a:gd name="T28" fmla="*/ 28 w 145"/>
                  <a:gd name="T29" fmla="*/ 6 h 138"/>
                  <a:gd name="T30" fmla="*/ 17 w 145"/>
                  <a:gd name="T31" fmla="*/ 18 h 138"/>
                  <a:gd name="T32" fmla="*/ 5 w 145"/>
                  <a:gd name="T33" fmla="*/ 37 h 1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5"/>
                  <a:gd name="T52" fmla="*/ 0 h 138"/>
                  <a:gd name="T53" fmla="*/ 145 w 145"/>
                  <a:gd name="T54" fmla="*/ 138 h 13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5" h="138">
                    <a:moveTo>
                      <a:pt x="10" y="74"/>
                    </a:moveTo>
                    <a:lnTo>
                      <a:pt x="0" y="106"/>
                    </a:lnTo>
                    <a:lnTo>
                      <a:pt x="4" y="127"/>
                    </a:lnTo>
                    <a:lnTo>
                      <a:pt x="17" y="136"/>
                    </a:lnTo>
                    <a:lnTo>
                      <a:pt x="40" y="138"/>
                    </a:lnTo>
                    <a:lnTo>
                      <a:pt x="65" y="131"/>
                    </a:lnTo>
                    <a:lnTo>
                      <a:pt x="94" y="121"/>
                    </a:lnTo>
                    <a:lnTo>
                      <a:pt x="122" y="106"/>
                    </a:lnTo>
                    <a:lnTo>
                      <a:pt x="145" y="89"/>
                    </a:lnTo>
                    <a:lnTo>
                      <a:pt x="139" y="53"/>
                    </a:lnTo>
                    <a:lnTo>
                      <a:pt x="129" y="27"/>
                    </a:lnTo>
                    <a:lnTo>
                      <a:pt x="114" y="8"/>
                    </a:lnTo>
                    <a:lnTo>
                      <a:pt x="98" y="0"/>
                    </a:lnTo>
                    <a:lnTo>
                      <a:pt x="78" y="0"/>
                    </a:lnTo>
                    <a:lnTo>
                      <a:pt x="56" y="13"/>
                    </a:lnTo>
                    <a:lnTo>
                      <a:pt x="33" y="37"/>
                    </a:lnTo>
                    <a:lnTo>
                      <a:pt x="10" y="74"/>
                    </a:lnTo>
                    <a:close/>
                  </a:path>
                </a:pathLst>
              </a:custGeom>
              <a:solidFill>
                <a:srgbClr val="F0F0F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4" name="Freeform 613">
                <a:extLst>
                  <a:ext uri="{FF2B5EF4-FFF2-40B4-BE49-F238E27FC236}">
                    <a16:creationId xmlns:a16="http://schemas.microsoft.com/office/drawing/2014/main" id="{35A3A532-8229-ED4B-987A-DAA80A77ED25}"/>
                  </a:ext>
                </a:extLst>
              </p:cNvPr>
              <p:cNvSpPr>
                <a:spLocks/>
              </p:cNvSpPr>
              <p:nvPr/>
            </p:nvSpPr>
            <p:spPr bwMode="auto">
              <a:xfrm>
                <a:off x="4368" y="2842"/>
                <a:ext cx="602" cy="916"/>
              </a:xfrm>
              <a:custGeom>
                <a:avLst/>
                <a:gdLst>
                  <a:gd name="T0" fmla="*/ 81 w 1204"/>
                  <a:gd name="T1" fmla="*/ 0 h 1832"/>
                  <a:gd name="T2" fmla="*/ 153 w 1204"/>
                  <a:gd name="T3" fmla="*/ 27 h 1832"/>
                  <a:gd name="T4" fmla="*/ 222 w 1204"/>
                  <a:gd name="T5" fmla="*/ 62 h 1832"/>
                  <a:gd name="T6" fmla="*/ 287 w 1204"/>
                  <a:gd name="T7" fmla="*/ 106 h 1832"/>
                  <a:gd name="T8" fmla="*/ 346 w 1204"/>
                  <a:gd name="T9" fmla="*/ 155 h 1832"/>
                  <a:gd name="T10" fmla="*/ 403 w 1204"/>
                  <a:gd name="T11" fmla="*/ 210 h 1832"/>
                  <a:gd name="T12" fmla="*/ 456 w 1204"/>
                  <a:gd name="T13" fmla="*/ 270 h 1832"/>
                  <a:gd name="T14" fmla="*/ 506 w 1204"/>
                  <a:gd name="T15" fmla="*/ 335 h 1832"/>
                  <a:gd name="T16" fmla="*/ 555 w 1204"/>
                  <a:gd name="T17" fmla="*/ 404 h 1832"/>
                  <a:gd name="T18" fmla="*/ 574 w 1204"/>
                  <a:gd name="T19" fmla="*/ 468 h 1832"/>
                  <a:gd name="T20" fmla="*/ 588 w 1204"/>
                  <a:gd name="T21" fmla="*/ 525 h 1832"/>
                  <a:gd name="T22" fmla="*/ 597 w 1204"/>
                  <a:gd name="T23" fmla="*/ 575 h 1832"/>
                  <a:gd name="T24" fmla="*/ 602 w 1204"/>
                  <a:gd name="T25" fmla="*/ 624 h 1832"/>
                  <a:gd name="T26" fmla="*/ 601 w 1204"/>
                  <a:gd name="T27" fmla="*/ 671 h 1832"/>
                  <a:gd name="T28" fmla="*/ 598 w 1204"/>
                  <a:gd name="T29" fmla="*/ 723 h 1832"/>
                  <a:gd name="T30" fmla="*/ 591 w 1204"/>
                  <a:gd name="T31" fmla="*/ 780 h 1832"/>
                  <a:gd name="T32" fmla="*/ 581 w 1204"/>
                  <a:gd name="T33" fmla="*/ 848 h 1832"/>
                  <a:gd name="T34" fmla="*/ 473 w 1204"/>
                  <a:gd name="T35" fmla="*/ 879 h 1832"/>
                  <a:gd name="T36" fmla="*/ 363 w 1204"/>
                  <a:gd name="T37" fmla="*/ 904 h 1832"/>
                  <a:gd name="T38" fmla="*/ 258 w 1204"/>
                  <a:gd name="T39" fmla="*/ 916 h 1832"/>
                  <a:gd name="T40" fmla="*/ 162 w 1204"/>
                  <a:gd name="T41" fmla="*/ 909 h 1832"/>
                  <a:gd name="T42" fmla="*/ 82 w 1204"/>
                  <a:gd name="T43" fmla="*/ 874 h 1832"/>
                  <a:gd name="T44" fmla="*/ 27 w 1204"/>
                  <a:gd name="T45" fmla="*/ 807 h 1832"/>
                  <a:gd name="T46" fmla="*/ 0 w 1204"/>
                  <a:gd name="T47" fmla="*/ 701 h 1832"/>
                  <a:gd name="T48" fmla="*/ 9 w 1204"/>
                  <a:gd name="T49" fmla="*/ 550 h 1832"/>
                  <a:gd name="T50" fmla="*/ 16 w 1204"/>
                  <a:gd name="T51" fmla="*/ 542 h 1832"/>
                  <a:gd name="T52" fmla="*/ 24 w 1204"/>
                  <a:gd name="T53" fmla="*/ 533 h 1832"/>
                  <a:gd name="T54" fmla="*/ 33 w 1204"/>
                  <a:gd name="T55" fmla="*/ 525 h 1832"/>
                  <a:gd name="T56" fmla="*/ 40 w 1204"/>
                  <a:gd name="T57" fmla="*/ 518 h 1832"/>
                  <a:gd name="T58" fmla="*/ 48 w 1204"/>
                  <a:gd name="T59" fmla="*/ 509 h 1832"/>
                  <a:gd name="T60" fmla="*/ 56 w 1204"/>
                  <a:gd name="T61" fmla="*/ 501 h 1832"/>
                  <a:gd name="T62" fmla="*/ 65 w 1204"/>
                  <a:gd name="T63" fmla="*/ 493 h 1832"/>
                  <a:gd name="T64" fmla="*/ 73 w 1204"/>
                  <a:gd name="T65" fmla="*/ 485 h 1832"/>
                  <a:gd name="T66" fmla="*/ 65 w 1204"/>
                  <a:gd name="T67" fmla="*/ 466 h 1832"/>
                  <a:gd name="T68" fmla="*/ 56 w 1204"/>
                  <a:gd name="T69" fmla="*/ 447 h 1832"/>
                  <a:gd name="T70" fmla="*/ 48 w 1204"/>
                  <a:gd name="T71" fmla="*/ 428 h 1832"/>
                  <a:gd name="T72" fmla="*/ 40 w 1204"/>
                  <a:gd name="T73" fmla="*/ 409 h 1832"/>
                  <a:gd name="T74" fmla="*/ 33 w 1204"/>
                  <a:gd name="T75" fmla="*/ 389 h 1832"/>
                  <a:gd name="T76" fmla="*/ 24 w 1204"/>
                  <a:gd name="T77" fmla="*/ 370 h 1832"/>
                  <a:gd name="T78" fmla="*/ 16 w 1204"/>
                  <a:gd name="T79" fmla="*/ 351 h 1832"/>
                  <a:gd name="T80" fmla="*/ 9 w 1204"/>
                  <a:gd name="T81" fmla="*/ 332 h 1832"/>
                  <a:gd name="T82" fmla="*/ 15 w 1204"/>
                  <a:gd name="T83" fmla="*/ 314 h 1832"/>
                  <a:gd name="T84" fmla="*/ 23 w 1204"/>
                  <a:gd name="T85" fmla="*/ 296 h 1832"/>
                  <a:gd name="T86" fmla="*/ 30 w 1204"/>
                  <a:gd name="T87" fmla="*/ 278 h 1832"/>
                  <a:gd name="T88" fmla="*/ 38 w 1204"/>
                  <a:gd name="T89" fmla="*/ 261 h 1832"/>
                  <a:gd name="T90" fmla="*/ 45 w 1204"/>
                  <a:gd name="T91" fmla="*/ 242 h 1832"/>
                  <a:gd name="T92" fmla="*/ 53 w 1204"/>
                  <a:gd name="T93" fmla="*/ 225 h 1832"/>
                  <a:gd name="T94" fmla="*/ 60 w 1204"/>
                  <a:gd name="T95" fmla="*/ 208 h 1832"/>
                  <a:gd name="T96" fmla="*/ 68 w 1204"/>
                  <a:gd name="T97" fmla="*/ 191 h 1832"/>
                  <a:gd name="T98" fmla="*/ 72 w 1204"/>
                  <a:gd name="T99" fmla="*/ 168 h 1832"/>
                  <a:gd name="T100" fmla="*/ 74 w 1204"/>
                  <a:gd name="T101" fmla="*/ 144 h 1832"/>
                  <a:gd name="T102" fmla="*/ 74 w 1204"/>
                  <a:gd name="T103" fmla="*/ 119 h 1832"/>
                  <a:gd name="T104" fmla="*/ 75 w 1204"/>
                  <a:gd name="T105" fmla="*/ 96 h 1832"/>
                  <a:gd name="T106" fmla="*/ 75 w 1204"/>
                  <a:gd name="T107" fmla="*/ 70 h 1832"/>
                  <a:gd name="T108" fmla="*/ 75 w 1204"/>
                  <a:gd name="T109" fmla="*/ 46 h 1832"/>
                  <a:gd name="T110" fmla="*/ 77 w 1204"/>
                  <a:gd name="T111" fmla="*/ 22 h 1832"/>
                  <a:gd name="T112" fmla="*/ 81 w 1204"/>
                  <a:gd name="T113" fmla="*/ 0 h 18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204"/>
                  <a:gd name="T172" fmla="*/ 0 h 1832"/>
                  <a:gd name="T173" fmla="*/ 1204 w 1204"/>
                  <a:gd name="T174" fmla="*/ 1832 h 18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204" h="1832">
                    <a:moveTo>
                      <a:pt x="163" y="0"/>
                    </a:moveTo>
                    <a:lnTo>
                      <a:pt x="307" y="54"/>
                    </a:lnTo>
                    <a:lnTo>
                      <a:pt x="445" y="125"/>
                    </a:lnTo>
                    <a:lnTo>
                      <a:pt x="573" y="211"/>
                    </a:lnTo>
                    <a:lnTo>
                      <a:pt x="693" y="310"/>
                    </a:lnTo>
                    <a:lnTo>
                      <a:pt x="806" y="420"/>
                    </a:lnTo>
                    <a:lnTo>
                      <a:pt x="913" y="540"/>
                    </a:lnTo>
                    <a:lnTo>
                      <a:pt x="1013" y="670"/>
                    </a:lnTo>
                    <a:lnTo>
                      <a:pt x="1110" y="808"/>
                    </a:lnTo>
                    <a:lnTo>
                      <a:pt x="1148" y="937"/>
                    </a:lnTo>
                    <a:lnTo>
                      <a:pt x="1176" y="1050"/>
                    </a:lnTo>
                    <a:lnTo>
                      <a:pt x="1194" y="1150"/>
                    </a:lnTo>
                    <a:lnTo>
                      <a:pt x="1204" y="1247"/>
                    </a:lnTo>
                    <a:lnTo>
                      <a:pt x="1202" y="1342"/>
                    </a:lnTo>
                    <a:lnTo>
                      <a:pt x="1196" y="1445"/>
                    </a:lnTo>
                    <a:lnTo>
                      <a:pt x="1181" y="1560"/>
                    </a:lnTo>
                    <a:lnTo>
                      <a:pt x="1162" y="1696"/>
                    </a:lnTo>
                    <a:lnTo>
                      <a:pt x="947" y="1758"/>
                    </a:lnTo>
                    <a:lnTo>
                      <a:pt x="727" y="1808"/>
                    </a:lnTo>
                    <a:lnTo>
                      <a:pt x="515" y="1832"/>
                    </a:lnTo>
                    <a:lnTo>
                      <a:pt x="325" y="1817"/>
                    </a:lnTo>
                    <a:lnTo>
                      <a:pt x="165" y="1747"/>
                    </a:lnTo>
                    <a:lnTo>
                      <a:pt x="54" y="1614"/>
                    </a:lnTo>
                    <a:lnTo>
                      <a:pt x="0" y="1401"/>
                    </a:lnTo>
                    <a:lnTo>
                      <a:pt x="17" y="1099"/>
                    </a:lnTo>
                    <a:lnTo>
                      <a:pt x="32" y="1083"/>
                    </a:lnTo>
                    <a:lnTo>
                      <a:pt x="49" y="1066"/>
                    </a:lnTo>
                    <a:lnTo>
                      <a:pt x="65" y="1050"/>
                    </a:lnTo>
                    <a:lnTo>
                      <a:pt x="81" y="1035"/>
                    </a:lnTo>
                    <a:lnTo>
                      <a:pt x="96" y="1019"/>
                    </a:lnTo>
                    <a:lnTo>
                      <a:pt x="113" y="1003"/>
                    </a:lnTo>
                    <a:lnTo>
                      <a:pt x="129" y="986"/>
                    </a:lnTo>
                    <a:lnTo>
                      <a:pt x="145" y="971"/>
                    </a:lnTo>
                    <a:lnTo>
                      <a:pt x="129" y="932"/>
                    </a:lnTo>
                    <a:lnTo>
                      <a:pt x="113" y="894"/>
                    </a:lnTo>
                    <a:lnTo>
                      <a:pt x="96" y="855"/>
                    </a:lnTo>
                    <a:lnTo>
                      <a:pt x="81" y="817"/>
                    </a:lnTo>
                    <a:lnTo>
                      <a:pt x="65" y="778"/>
                    </a:lnTo>
                    <a:lnTo>
                      <a:pt x="49" y="739"/>
                    </a:lnTo>
                    <a:lnTo>
                      <a:pt x="32" y="701"/>
                    </a:lnTo>
                    <a:lnTo>
                      <a:pt x="17" y="663"/>
                    </a:lnTo>
                    <a:lnTo>
                      <a:pt x="31" y="627"/>
                    </a:lnTo>
                    <a:lnTo>
                      <a:pt x="46" y="592"/>
                    </a:lnTo>
                    <a:lnTo>
                      <a:pt x="61" y="555"/>
                    </a:lnTo>
                    <a:lnTo>
                      <a:pt x="76" y="521"/>
                    </a:lnTo>
                    <a:lnTo>
                      <a:pt x="91" y="485"/>
                    </a:lnTo>
                    <a:lnTo>
                      <a:pt x="106" y="450"/>
                    </a:lnTo>
                    <a:lnTo>
                      <a:pt x="121" y="415"/>
                    </a:lnTo>
                    <a:lnTo>
                      <a:pt x="136" y="381"/>
                    </a:lnTo>
                    <a:lnTo>
                      <a:pt x="144" y="336"/>
                    </a:lnTo>
                    <a:lnTo>
                      <a:pt x="148" y="288"/>
                    </a:lnTo>
                    <a:lnTo>
                      <a:pt x="148" y="239"/>
                    </a:lnTo>
                    <a:lnTo>
                      <a:pt x="149" y="191"/>
                    </a:lnTo>
                    <a:lnTo>
                      <a:pt x="149" y="140"/>
                    </a:lnTo>
                    <a:lnTo>
                      <a:pt x="150" y="92"/>
                    </a:lnTo>
                    <a:lnTo>
                      <a:pt x="154" y="44"/>
                    </a:lnTo>
                    <a:lnTo>
                      <a:pt x="16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5" name="Freeform 614">
                <a:extLst>
                  <a:ext uri="{FF2B5EF4-FFF2-40B4-BE49-F238E27FC236}">
                    <a16:creationId xmlns:a16="http://schemas.microsoft.com/office/drawing/2014/main" id="{B777785C-8CCB-BF42-BA98-304F0A3D3063}"/>
                  </a:ext>
                </a:extLst>
              </p:cNvPr>
              <p:cNvSpPr>
                <a:spLocks/>
              </p:cNvSpPr>
              <p:nvPr/>
            </p:nvSpPr>
            <p:spPr bwMode="auto">
              <a:xfrm>
                <a:off x="4377" y="2842"/>
                <a:ext cx="588" cy="902"/>
              </a:xfrm>
              <a:custGeom>
                <a:avLst/>
                <a:gdLst>
                  <a:gd name="T0" fmla="*/ 73 w 1177"/>
                  <a:gd name="T1" fmla="*/ 0 h 1806"/>
                  <a:gd name="T2" fmla="*/ 145 w 1177"/>
                  <a:gd name="T3" fmla="*/ 27 h 1806"/>
                  <a:gd name="T4" fmla="*/ 212 w 1177"/>
                  <a:gd name="T5" fmla="*/ 62 h 1806"/>
                  <a:gd name="T6" fmla="*/ 276 w 1177"/>
                  <a:gd name="T7" fmla="*/ 105 h 1806"/>
                  <a:gd name="T8" fmla="*/ 335 w 1177"/>
                  <a:gd name="T9" fmla="*/ 155 h 1806"/>
                  <a:gd name="T10" fmla="*/ 391 w 1177"/>
                  <a:gd name="T11" fmla="*/ 209 h 1806"/>
                  <a:gd name="T12" fmla="*/ 444 w 1177"/>
                  <a:gd name="T13" fmla="*/ 269 h 1806"/>
                  <a:gd name="T14" fmla="*/ 493 w 1177"/>
                  <a:gd name="T15" fmla="*/ 334 h 1806"/>
                  <a:gd name="T16" fmla="*/ 542 w 1177"/>
                  <a:gd name="T17" fmla="*/ 403 h 1806"/>
                  <a:gd name="T18" fmla="*/ 560 w 1177"/>
                  <a:gd name="T19" fmla="*/ 467 h 1806"/>
                  <a:gd name="T20" fmla="*/ 575 w 1177"/>
                  <a:gd name="T21" fmla="*/ 522 h 1806"/>
                  <a:gd name="T22" fmla="*/ 584 w 1177"/>
                  <a:gd name="T23" fmla="*/ 571 h 1806"/>
                  <a:gd name="T24" fmla="*/ 588 w 1177"/>
                  <a:gd name="T25" fmla="*/ 619 h 1806"/>
                  <a:gd name="T26" fmla="*/ 588 w 1177"/>
                  <a:gd name="T27" fmla="*/ 665 h 1806"/>
                  <a:gd name="T28" fmla="*/ 584 w 1177"/>
                  <a:gd name="T29" fmla="*/ 716 h 1806"/>
                  <a:gd name="T30" fmla="*/ 577 w 1177"/>
                  <a:gd name="T31" fmla="*/ 773 h 1806"/>
                  <a:gd name="T32" fmla="*/ 568 w 1177"/>
                  <a:gd name="T33" fmla="*/ 841 h 1806"/>
                  <a:gd name="T34" fmla="*/ 461 w 1177"/>
                  <a:gd name="T35" fmla="*/ 872 h 1806"/>
                  <a:gd name="T36" fmla="*/ 354 w 1177"/>
                  <a:gd name="T37" fmla="*/ 895 h 1806"/>
                  <a:gd name="T38" fmla="*/ 251 w 1177"/>
                  <a:gd name="T39" fmla="*/ 902 h 1806"/>
                  <a:gd name="T40" fmla="*/ 160 w 1177"/>
                  <a:gd name="T41" fmla="*/ 891 h 1806"/>
                  <a:gd name="T42" fmla="*/ 83 w 1177"/>
                  <a:gd name="T43" fmla="*/ 854 h 1806"/>
                  <a:gd name="T44" fmla="*/ 30 w 1177"/>
                  <a:gd name="T45" fmla="*/ 787 h 1806"/>
                  <a:gd name="T46" fmla="*/ 4 w 1177"/>
                  <a:gd name="T47" fmla="*/ 685 h 1806"/>
                  <a:gd name="T48" fmla="*/ 11 w 1177"/>
                  <a:gd name="T49" fmla="*/ 544 h 1806"/>
                  <a:gd name="T50" fmla="*/ 18 w 1177"/>
                  <a:gd name="T51" fmla="*/ 535 h 1806"/>
                  <a:gd name="T52" fmla="*/ 25 w 1177"/>
                  <a:gd name="T53" fmla="*/ 528 h 1806"/>
                  <a:gd name="T54" fmla="*/ 31 w 1177"/>
                  <a:gd name="T55" fmla="*/ 521 h 1806"/>
                  <a:gd name="T56" fmla="*/ 38 w 1177"/>
                  <a:gd name="T57" fmla="*/ 514 h 1806"/>
                  <a:gd name="T58" fmla="*/ 43 w 1177"/>
                  <a:gd name="T59" fmla="*/ 507 h 1806"/>
                  <a:gd name="T60" fmla="*/ 49 w 1177"/>
                  <a:gd name="T61" fmla="*/ 500 h 1806"/>
                  <a:gd name="T62" fmla="*/ 56 w 1177"/>
                  <a:gd name="T63" fmla="*/ 492 h 1806"/>
                  <a:gd name="T64" fmla="*/ 64 w 1177"/>
                  <a:gd name="T65" fmla="*/ 485 h 1806"/>
                  <a:gd name="T66" fmla="*/ 56 w 1177"/>
                  <a:gd name="T67" fmla="*/ 465 h 1806"/>
                  <a:gd name="T68" fmla="*/ 48 w 1177"/>
                  <a:gd name="T69" fmla="*/ 447 h 1806"/>
                  <a:gd name="T70" fmla="*/ 39 w 1177"/>
                  <a:gd name="T71" fmla="*/ 427 h 1806"/>
                  <a:gd name="T72" fmla="*/ 32 w 1177"/>
                  <a:gd name="T73" fmla="*/ 408 h 1806"/>
                  <a:gd name="T74" fmla="*/ 24 w 1177"/>
                  <a:gd name="T75" fmla="*/ 389 h 1806"/>
                  <a:gd name="T76" fmla="*/ 16 w 1177"/>
                  <a:gd name="T77" fmla="*/ 369 h 1806"/>
                  <a:gd name="T78" fmla="*/ 7 w 1177"/>
                  <a:gd name="T79" fmla="*/ 350 h 1806"/>
                  <a:gd name="T80" fmla="*/ 0 w 1177"/>
                  <a:gd name="T81" fmla="*/ 331 h 1806"/>
                  <a:gd name="T82" fmla="*/ 7 w 1177"/>
                  <a:gd name="T83" fmla="*/ 313 h 1806"/>
                  <a:gd name="T84" fmla="*/ 14 w 1177"/>
                  <a:gd name="T85" fmla="*/ 296 h 1806"/>
                  <a:gd name="T86" fmla="*/ 22 w 1177"/>
                  <a:gd name="T87" fmla="*/ 277 h 1806"/>
                  <a:gd name="T88" fmla="*/ 29 w 1177"/>
                  <a:gd name="T89" fmla="*/ 260 h 1806"/>
                  <a:gd name="T90" fmla="*/ 37 w 1177"/>
                  <a:gd name="T91" fmla="*/ 242 h 1806"/>
                  <a:gd name="T92" fmla="*/ 44 w 1177"/>
                  <a:gd name="T93" fmla="*/ 225 h 1806"/>
                  <a:gd name="T94" fmla="*/ 52 w 1177"/>
                  <a:gd name="T95" fmla="*/ 207 h 1806"/>
                  <a:gd name="T96" fmla="*/ 59 w 1177"/>
                  <a:gd name="T97" fmla="*/ 190 h 1806"/>
                  <a:gd name="T98" fmla="*/ 63 w 1177"/>
                  <a:gd name="T99" fmla="*/ 168 h 1806"/>
                  <a:gd name="T100" fmla="*/ 65 w 1177"/>
                  <a:gd name="T101" fmla="*/ 144 h 1806"/>
                  <a:gd name="T102" fmla="*/ 65 w 1177"/>
                  <a:gd name="T103" fmla="*/ 119 h 1806"/>
                  <a:gd name="T104" fmla="*/ 66 w 1177"/>
                  <a:gd name="T105" fmla="*/ 95 h 1806"/>
                  <a:gd name="T106" fmla="*/ 66 w 1177"/>
                  <a:gd name="T107" fmla="*/ 70 h 1806"/>
                  <a:gd name="T108" fmla="*/ 66 w 1177"/>
                  <a:gd name="T109" fmla="*/ 46 h 1806"/>
                  <a:gd name="T110" fmla="*/ 68 w 1177"/>
                  <a:gd name="T111" fmla="*/ 22 h 1806"/>
                  <a:gd name="T112" fmla="*/ 73 w 1177"/>
                  <a:gd name="T113" fmla="*/ 0 h 180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77"/>
                  <a:gd name="T172" fmla="*/ 0 h 1806"/>
                  <a:gd name="T173" fmla="*/ 1177 w 1177"/>
                  <a:gd name="T174" fmla="*/ 1806 h 180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77" h="1806">
                    <a:moveTo>
                      <a:pt x="146" y="0"/>
                    </a:moveTo>
                    <a:lnTo>
                      <a:pt x="290" y="54"/>
                    </a:lnTo>
                    <a:lnTo>
                      <a:pt x="425" y="125"/>
                    </a:lnTo>
                    <a:lnTo>
                      <a:pt x="552" y="211"/>
                    </a:lnTo>
                    <a:lnTo>
                      <a:pt x="671" y="310"/>
                    </a:lnTo>
                    <a:lnTo>
                      <a:pt x="783" y="419"/>
                    </a:lnTo>
                    <a:lnTo>
                      <a:pt x="888" y="539"/>
                    </a:lnTo>
                    <a:lnTo>
                      <a:pt x="987" y="668"/>
                    </a:lnTo>
                    <a:lnTo>
                      <a:pt x="1084" y="806"/>
                    </a:lnTo>
                    <a:lnTo>
                      <a:pt x="1121" y="935"/>
                    </a:lnTo>
                    <a:lnTo>
                      <a:pt x="1150" y="1046"/>
                    </a:lnTo>
                    <a:lnTo>
                      <a:pt x="1168" y="1144"/>
                    </a:lnTo>
                    <a:lnTo>
                      <a:pt x="1177" y="1239"/>
                    </a:lnTo>
                    <a:lnTo>
                      <a:pt x="1177" y="1332"/>
                    </a:lnTo>
                    <a:lnTo>
                      <a:pt x="1169" y="1434"/>
                    </a:lnTo>
                    <a:lnTo>
                      <a:pt x="1155" y="1548"/>
                    </a:lnTo>
                    <a:lnTo>
                      <a:pt x="1136" y="1683"/>
                    </a:lnTo>
                    <a:lnTo>
                      <a:pt x="922" y="1746"/>
                    </a:lnTo>
                    <a:lnTo>
                      <a:pt x="709" y="1791"/>
                    </a:lnTo>
                    <a:lnTo>
                      <a:pt x="503" y="1806"/>
                    </a:lnTo>
                    <a:lnTo>
                      <a:pt x="320" y="1783"/>
                    </a:lnTo>
                    <a:lnTo>
                      <a:pt x="167" y="1709"/>
                    </a:lnTo>
                    <a:lnTo>
                      <a:pt x="61" y="1576"/>
                    </a:lnTo>
                    <a:lnTo>
                      <a:pt x="8" y="1372"/>
                    </a:lnTo>
                    <a:lnTo>
                      <a:pt x="23" y="1089"/>
                    </a:lnTo>
                    <a:lnTo>
                      <a:pt x="37" y="1071"/>
                    </a:lnTo>
                    <a:lnTo>
                      <a:pt x="50" y="1058"/>
                    </a:lnTo>
                    <a:lnTo>
                      <a:pt x="63" y="1043"/>
                    </a:lnTo>
                    <a:lnTo>
                      <a:pt x="76" y="1030"/>
                    </a:lnTo>
                    <a:lnTo>
                      <a:pt x="87" y="1015"/>
                    </a:lnTo>
                    <a:lnTo>
                      <a:pt x="99" y="1001"/>
                    </a:lnTo>
                    <a:lnTo>
                      <a:pt x="112" y="986"/>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6" name="Freeform 615">
                <a:extLst>
                  <a:ext uri="{FF2B5EF4-FFF2-40B4-BE49-F238E27FC236}">
                    <a16:creationId xmlns:a16="http://schemas.microsoft.com/office/drawing/2014/main" id="{8B498AD3-AEFB-2046-AC82-F7185A2C2F04}"/>
                  </a:ext>
                </a:extLst>
              </p:cNvPr>
              <p:cNvSpPr>
                <a:spLocks/>
              </p:cNvSpPr>
              <p:nvPr/>
            </p:nvSpPr>
            <p:spPr bwMode="auto">
              <a:xfrm>
                <a:off x="4377" y="2842"/>
                <a:ext cx="584" cy="889"/>
              </a:xfrm>
              <a:custGeom>
                <a:avLst/>
                <a:gdLst>
                  <a:gd name="T0" fmla="*/ 73 w 1168"/>
                  <a:gd name="T1" fmla="*/ 0 h 1779"/>
                  <a:gd name="T2" fmla="*/ 145 w 1168"/>
                  <a:gd name="T3" fmla="*/ 27 h 1779"/>
                  <a:gd name="T4" fmla="*/ 212 w 1168"/>
                  <a:gd name="T5" fmla="*/ 62 h 1779"/>
                  <a:gd name="T6" fmla="*/ 275 w 1168"/>
                  <a:gd name="T7" fmla="*/ 104 h 1779"/>
                  <a:gd name="T8" fmla="*/ 333 w 1168"/>
                  <a:gd name="T9" fmla="*/ 154 h 1779"/>
                  <a:gd name="T10" fmla="*/ 388 w 1168"/>
                  <a:gd name="T11" fmla="*/ 208 h 1779"/>
                  <a:gd name="T12" fmla="*/ 439 w 1168"/>
                  <a:gd name="T13" fmla="*/ 269 h 1779"/>
                  <a:gd name="T14" fmla="*/ 488 w 1168"/>
                  <a:gd name="T15" fmla="*/ 333 h 1779"/>
                  <a:gd name="T16" fmla="*/ 537 w 1168"/>
                  <a:gd name="T17" fmla="*/ 402 h 1779"/>
                  <a:gd name="T18" fmla="*/ 556 w 1168"/>
                  <a:gd name="T19" fmla="*/ 466 h 1779"/>
                  <a:gd name="T20" fmla="*/ 570 w 1168"/>
                  <a:gd name="T21" fmla="*/ 521 h 1779"/>
                  <a:gd name="T22" fmla="*/ 579 w 1168"/>
                  <a:gd name="T23" fmla="*/ 570 h 1779"/>
                  <a:gd name="T24" fmla="*/ 584 w 1168"/>
                  <a:gd name="T25" fmla="*/ 616 h 1779"/>
                  <a:gd name="T26" fmla="*/ 584 w 1168"/>
                  <a:gd name="T27" fmla="*/ 662 h 1779"/>
                  <a:gd name="T28" fmla="*/ 580 w 1168"/>
                  <a:gd name="T29" fmla="*/ 712 h 1779"/>
                  <a:gd name="T30" fmla="*/ 574 w 1168"/>
                  <a:gd name="T31" fmla="*/ 768 h 1779"/>
                  <a:gd name="T32" fmla="*/ 564 w 1168"/>
                  <a:gd name="T33" fmla="*/ 835 h 1779"/>
                  <a:gd name="T34" fmla="*/ 458 w 1168"/>
                  <a:gd name="T35" fmla="*/ 866 h 1779"/>
                  <a:gd name="T36" fmla="*/ 353 w 1168"/>
                  <a:gd name="T37" fmla="*/ 886 h 1779"/>
                  <a:gd name="T38" fmla="*/ 253 w 1168"/>
                  <a:gd name="T39" fmla="*/ 889 h 1779"/>
                  <a:gd name="T40" fmla="*/ 165 w 1168"/>
                  <a:gd name="T41" fmla="*/ 874 h 1779"/>
                  <a:gd name="T42" fmla="*/ 92 w 1168"/>
                  <a:gd name="T43" fmla="*/ 834 h 1779"/>
                  <a:gd name="T44" fmla="*/ 41 w 1168"/>
                  <a:gd name="T45" fmla="*/ 768 h 1779"/>
                  <a:gd name="T46" fmla="*/ 16 w 1168"/>
                  <a:gd name="T47" fmla="*/ 670 h 1779"/>
                  <a:gd name="T48" fmla="*/ 22 w 1168"/>
                  <a:gd name="T49" fmla="*/ 539 h 1779"/>
                  <a:gd name="T50" fmla="*/ 28 w 1168"/>
                  <a:gd name="T51" fmla="*/ 530 h 1779"/>
                  <a:gd name="T52" fmla="*/ 34 w 1168"/>
                  <a:gd name="T53" fmla="*/ 524 h 1779"/>
                  <a:gd name="T54" fmla="*/ 38 w 1168"/>
                  <a:gd name="T55" fmla="*/ 517 h 1779"/>
                  <a:gd name="T56" fmla="*/ 43 w 1168"/>
                  <a:gd name="T57" fmla="*/ 512 h 1779"/>
                  <a:gd name="T58" fmla="*/ 46 w 1168"/>
                  <a:gd name="T59" fmla="*/ 505 h 1779"/>
                  <a:gd name="T60" fmla="*/ 51 w 1168"/>
                  <a:gd name="T61" fmla="*/ 499 h 1779"/>
                  <a:gd name="T62" fmla="*/ 56 w 1168"/>
                  <a:gd name="T63" fmla="*/ 492 h 1779"/>
                  <a:gd name="T64" fmla="*/ 64 w 1168"/>
                  <a:gd name="T65" fmla="*/ 485 h 1779"/>
                  <a:gd name="T66" fmla="*/ 56 w 1168"/>
                  <a:gd name="T67" fmla="*/ 466 h 1779"/>
                  <a:gd name="T68" fmla="*/ 48 w 1168"/>
                  <a:gd name="T69" fmla="*/ 447 h 1779"/>
                  <a:gd name="T70" fmla="*/ 39 w 1168"/>
                  <a:gd name="T71" fmla="*/ 427 h 1779"/>
                  <a:gd name="T72" fmla="*/ 32 w 1168"/>
                  <a:gd name="T73" fmla="*/ 408 h 1779"/>
                  <a:gd name="T74" fmla="*/ 24 w 1168"/>
                  <a:gd name="T75" fmla="*/ 389 h 1779"/>
                  <a:gd name="T76" fmla="*/ 16 w 1168"/>
                  <a:gd name="T77" fmla="*/ 369 h 1779"/>
                  <a:gd name="T78" fmla="*/ 7 w 1168"/>
                  <a:gd name="T79" fmla="*/ 350 h 1779"/>
                  <a:gd name="T80" fmla="*/ 0 w 1168"/>
                  <a:gd name="T81" fmla="*/ 331 h 1779"/>
                  <a:gd name="T82" fmla="*/ 7 w 1168"/>
                  <a:gd name="T83" fmla="*/ 313 h 1779"/>
                  <a:gd name="T84" fmla="*/ 14 w 1168"/>
                  <a:gd name="T85" fmla="*/ 296 h 1779"/>
                  <a:gd name="T86" fmla="*/ 22 w 1168"/>
                  <a:gd name="T87" fmla="*/ 277 h 1779"/>
                  <a:gd name="T88" fmla="*/ 29 w 1168"/>
                  <a:gd name="T89" fmla="*/ 260 h 1779"/>
                  <a:gd name="T90" fmla="*/ 37 w 1168"/>
                  <a:gd name="T91" fmla="*/ 242 h 1779"/>
                  <a:gd name="T92" fmla="*/ 44 w 1168"/>
                  <a:gd name="T93" fmla="*/ 225 h 1779"/>
                  <a:gd name="T94" fmla="*/ 52 w 1168"/>
                  <a:gd name="T95" fmla="*/ 207 h 1779"/>
                  <a:gd name="T96" fmla="*/ 59 w 1168"/>
                  <a:gd name="T97" fmla="*/ 190 h 1779"/>
                  <a:gd name="T98" fmla="*/ 63 w 1168"/>
                  <a:gd name="T99" fmla="*/ 168 h 1779"/>
                  <a:gd name="T100" fmla="*/ 66 w 1168"/>
                  <a:gd name="T101" fmla="*/ 144 h 1779"/>
                  <a:gd name="T102" fmla="*/ 66 w 1168"/>
                  <a:gd name="T103" fmla="*/ 119 h 1779"/>
                  <a:gd name="T104" fmla="*/ 66 w 1168"/>
                  <a:gd name="T105" fmla="*/ 95 h 1779"/>
                  <a:gd name="T106" fmla="*/ 66 w 1168"/>
                  <a:gd name="T107" fmla="*/ 70 h 1779"/>
                  <a:gd name="T108" fmla="*/ 67 w 1168"/>
                  <a:gd name="T109" fmla="*/ 46 h 1779"/>
                  <a:gd name="T110" fmla="*/ 69 w 1168"/>
                  <a:gd name="T111" fmla="*/ 22 h 1779"/>
                  <a:gd name="T112" fmla="*/ 73 w 1168"/>
                  <a:gd name="T113" fmla="*/ 0 h 17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68"/>
                  <a:gd name="T172" fmla="*/ 0 h 1779"/>
                  <a:gd name="T173" fmla="*/ 1168 w 1168"/>
                  <a:gd name="T174" fmla="*/ 1779 h 17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68" h="1779">
                    <a:moveTo>
                      <a:pt x="146" y="0"/>
                    </a:moveTo>
                    <a:lnTo>
                      <a:pt x="290" y="54"/>
                    </a:lnTo>
                    <a:lnTo>
                      <a:pt x="424" y="124"/>
                    </a:lnTo>
                    <a:lnTo>
                      <a:pt x="550" y="209"/>
                    </a:lnTo>
                    <a:lnTo>
                      <a:pt x="667" y="308"/>
                    </a:lnTo>
                    <a:lnTo>
                      <a:pt x="777" y="417"/>
                    </a:lnTo>
                    <a:lnTo>
                      <a:pt x="879" y="538"/>
                    </a:lnTo>
                    <a:lnTo>
                      <a:pt x="977" y="667"/>
                    </a:lnTo>
                    <a:lnTo>
                      <a:pt x="1073" y="805"/>
                    </a:lnTo>
                    <a:lnTo>
                      <a:pt x="1111" y="932"/>
                    </a:lnTo>
                    <a:lnTo>
                      <a:pt x="1140" y="1043"/>
                    </a:lnTo>
                    <a:lnTo>
                      <a:pt x="1158" y="1140"/>
                    </a:lnTo>
                    <a:lnTo>
                      <a:pt x="1168" y="1233"/>
                    </a:lnTo>
                    <a:lnTo>
                      <a:pt x="1168" y="1325"/>
                    </a:lnTo>
                    <a:lnTo>
                      <a:pt x="1160" y="1424"/>
                    </a:lnTo>
                    <a:lnTo>
                      <a:pt x="1147" y="1536"/>
                    </a:lnTo>
                    <a:lnTo>
                      <a:pt x="1128" y="1670"/>
                    </a:lnTo>
                    <a:lnTo>
                      <a:pt x="916" y="1733"/>
                    </a:lnTo>
                    <a:lnTo>
                      <a:pt x="706" y="1773"/>
                    </a:lnTo>
                    <a:lnTo>
                      <a:pt x="507" y="1779"/>
                    </a:lnTo>
                    <a:lnTo>
                      <a:pt x="331" y="1749"/>
                    </a:lnTo>
                    <a:lnTo>
                      <a:pt x="185" y="1669"/>
                    </a:lnTo>
                    <a:lnTo>
                      <a:pt x="82" y="1536"/>
                    </a:lnTo>
                    <a:lnTo>
                      <a:pt x="32" y="1341"/>
                    </a:lnTo>
                    <a:lnTo>
                      <a:pt x="44" y="1078"/>
                    </a:lnTo>
                    <a:lnTo>
                      <a:pt x="57" y="1061"/>
                    </a:lnTo>
                    <a:lnTo>
                      <a:pt x="68" y="1049"/>
                    </a:lnTo>
                    <a:lnTo>
                      <a:pt x="77" y="1035"/>
                    </a:lnTo>
                    <a:lnTo>
                      <a:pt x="86" y="1024"/>
                    </a:lnTo>
                    <a:lnTo>
                      <a:pt x="93" y="1011"/>
                    </a:lnTo>
                    <a:lnTo>
                      <a:pt x="103" y="999"/>
                    </a:lnTo>
                    <a:lnTo>
                      <a:pt x="113"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7" name="Freeform 616">
                <a:extLst>
                  <a:ext uri="{FF2B5EF4-FFF2-40B4-BE49-F238E27FC236}">
                    <a16:creationId xmlns:a16="http://schemas.microsoft.com/office/drawing/2014/main" id="{7DE00A32-F122-2244-912F-0A0CDB1A8AFF}"/>
                  </a:ext>
                </a:extLst>
              </p:cNvPr>
              <p:cNvSpPr>
                <a:spLocks/>
              </p:cNvSpPr>
              <p:nvPr/>
            </p:nvSpPr>
            <p:spPr bwMode="auto">
              <a:xfrm>
                <a:off x="4377" y="2842"/>
                <a:ext cx="580" cy="877"/>
              </a:xfrm>
              <a:custGeom>
                <a:avLst/>
                <a:gdLst>
                  <a:gd name="T0" fmla="*/ 73 w 1159"/>
                  <a:gd name="T1" fmla="*/ 0 h 1756"/>
                  <a:gd name="T2" fmla="*/ 145 w 1159"/>
                  <a:gd name="T3" fmla="*/ 27 h 1756"/>
                  <a:gd name="T4" fmla="*/ 212 w 1159"/>
                  <a:gd name="T5" fmla="*/ 62 h 1756"/>
                  <a:gd name="T6" fmla="*/ 273 w 1159"/>
                  <a:gd name="T7" fmla="*/ 104 h 1756"/>
                  <a:gd name="T8" fmla="*/ 331 w 1159"/>
                  <a:gd name="T9" fmla="*/ 153 h 1756"/>
                  <a:gd name="T10" fmla="*/ 385 w 1159"/>
                  <a:gd name="T11" fmla="*/ 208 h 1756"/>
                  <a:gd name="T12" fmla="*/ 436 w 1159"/>
                  <a:gd name="T13" fmla="*/ 268 h 1756"/>
                  <a:gd name="T14" fmla="*/ 485 w 1159"/>
                  <a:gd name="T15" fmla="*/ 332 h 1756"/>
                  <a:gd name="T16" fmla="*/ 533 w 1159"/>
                  <a:gd name="T17" fmla="*/ 401 h 1756"/>
                  <a:gd name="T18" fmla="*/ 552 w 1159"/>
                  <a:gd name="T19" fmla="*/ 464 h 1756"/>
                  <a:gd name="T20" fmla="*/ 566 w 1159"/>
                  <a:gd name="T21" fmla="*/ 519 h 1756"/>
                  <a:gd name="T22" fmla="*/ 575 w 1159"/>
                  <a:gd name="T23" fmla="*/ 567 h 1756"/>
                  <a:gd name="T24" fmla="*/ 580 w 1159"/>
                  <a:gd name="T25" fmla="*/ 613 h 1756"/>
                  <a:gd name="T26" fmla="*/ 580 w 1159"/>
                  <a:gd name="T27" fmla="*/ 657 h 1756"/>
                  <a:gd name="T28" fmla="*/ 577 w 1159"/>
                  <a:gd name="T29" fmla="*/ 706 h 1756"/>
                  <a:gd name="T30" fmla="*/ 570 w 1159"/>
                  <a:gd name="T31" fmla="*/ 762 h 1756"/>
                  <a:gd name="T32" fmla="*/ 560 w 1159"/>
                  <a:gd name="T33" fmla="*/ 829 h 1756"/>
                  <a:gd name="T34" fmla="*/ 456 w 1159"/>
                  <a:gd name="T35" fmla="*/ 860 h 1756"/>
                  <a:gd name="T36" fmla="*/ 353 w 1159"/>
                  <a:gd name="T37" fmla="*/ 877 h 1756"/>
                  <a:gd name="T38" fmla="*/ 256 w 1159"/>
                  <a:gd name="T39" fmla="*/ 876 h 1756"/>
                  <a:gd name="T40" fmla="*/ 172 w 1159"/>
                  <a:gd name="T41" fmla="*/ 857 h 1756"/>
                  <a:gd name="T42" fmla="*/ 101 w 1159"/>
                  <a:gd name="T43" fmla="*/ 814 h 1756"/>
                  <a:gd name="T44" fmla="*/ 52 w 1159"/>
                  <a:gd name="T45" fmla="*/ 749 h 1756"/>
                  <a:gd name="T46" fmla="*/ 27 w 1159"/>
                  <a:gd name="T47" fmla="*/ 655 h 1756"/>
                  <a:gd name="T48" fmla="*/ 33 w 1159"/>
                  <a:gd name="T49" fmla="*/ 533 h 1756"/>
                  <a:gd name="T50" fmla="*/ 39 w 1159"/>
                  <a:gd name="T51" fmla="*/ 525 h 1756"/>
                  <a:gd name="T52" fmla="*/ 44 w 1159"/>
                  <a:gd name="T53" fmla="*/ 519 h 1756"/>
                  <a:gd name="T54" fmla="*/ 46 w 1159"/>
                  <a:gd name="T55" fmla="*/ 514 h 1756"/>
                  <a:gd name="T56" fmla="*/ 49 w 1159"/>
                  <a:gd name="T57" fmla="*/ 509 h 1756"/>
                  <a:gd name="T58" fmla="*/ 51 w 1159"/>
                  <a:gd name="T59" fmla="*/ 503 h 1756"/>
                  <a:gd name="T60" fmla="*/ 53 w 1159"/>
                  <a:gd name="T61" fmla="*/ 498 h 1756"/>
                  <a:gd name="T62" fmla="*/ 57 w 1159"/>
                  <a:gd name="T63" fmla="*/ 492 h 1756"/>
                  <a:gd name="T64" fmla="*/ 64 w 1159"/>
                  <a:gd name="T65" fmla="*/ 485 h 1756"/>
                  <a:gd name="T66" fmla="*/ 56 w 1159"/>
                  <a:gd name="T67" fmla="*/ 465 h 1756"/>
                  <a:gd name="T68" fmla="*/ 48 w 1159"/>
                  <a:gd name="T69" fmla="*/ 446 h 1756"/>
                  <a:gd name="T70" fmla="*/ 40 w 1159"/>
                  <a:gd name="T71" fmla="*/ 427 h 1756"/>
                  <a:gd name="T72" fmla="*/ 32 w 1159"/>
                  <a:gd name="T73" fmla="*/ 408 h 1756"/>
                  <a:gd name="T74" fmla="*/ 24 w 1159"/>
                  <a:gd name="T75" fmla="*/ 389 h 1756"/>
                  <a:gd name="T76" fmla="*/ 16 w 1159"/>
                  <a:gd name="T77" fmla="*/ 369 h 1756"/>
                  <a:gd name="T78" fmla="*/ 8 w 1159"/>
                  <a:gd name="T79" fmla="*/ 350 h 1756"/>
                  <a:gd name="T80" fmla="*/ 0 w 1159"/>
                  <a:gd name="T81" fmla="*/ 331 h 1756"/>
                  <a:gd name="T82" fmla="*/ 7 w 1159"/>
                  <a:gd name="T83" fmla="*/ 313 h 1756"/>
                  <a:gd name="T84" fmla="*/ 15 w 1159"/>
                  <a:gd name="T85" fmla="*/ 296 h 1756"/>
                  <a:gd name="T86" fmla="*/ 22 w 1159"/>
                  <a:gd name="T87" fmla="*/ 277 h 1756"/>
                  <a:gd name="T88" fmla="*/ 30 w 1159"/>
                  <a:gd name="T89" fmla="*/ 260 h 1756"/>
                  <a:gd name="T90" fmla="*/ 37 w 1159"/>
                  <a:gd name="T91" fmla="*/ 242 h 1756"/>
                  <a:gd name="T92" fmla="*/ 45 w 1159"/>
                  <a:gd name="T93" fmla="*/ 225 h 1756"/>
                  <a:gd name="T94" fmla="*/ 52 w 1159"/>
                  <a:gd name="T95" fmla="*/ 207 h 1756"/>
                  <a:gd name="T96" fmla="*/ 60 w 1159"/>
                  <a:gd name="T97" fmla="*/ 190 h 1756"/>
                  <a:gd name="T98" fmla="*/ 64 w 1159"/>
                  <a:gd name="T99" fmla="*/ 168 h 1756"/>
                  <a:gd name="T100" fmla="*/ 66 w 1159"/>
                  <a:gd name="T101" fmla="*/ 144 h 1756"/>
                  <a:gd name="T102" fmla="*/ 66 w 1159"/>
                  <a:gd name="T103" fmla="*/ 119 h 1756"/>
                  <a:gd name="T104" fmla="*/ 66 w 1159"/>
                  <a:gd name="T105" fmla="*/ 95 h 1756"/>
                  <a:gd name="T106" fmla="*/ 66 w 1159"/>
                  <a:gd name="T107" fmla="*/ 70 h 1756"/>
                  <a:gd name="T108" fmla="*/ 67 w 1159"/>
                  <a:gd name="T109" fmla="*/ 46 h 1756"/>
                  <a:gd name="T110" fmla="*/ 69 w 1159"/>
                  <a:gd name="T111" fmla="*/ 22 h 1756"/>
                  <a:gd name="T112" fmla="*/ 73 w 1159"/>
                  <a:gd name="T113" fmla="*/ 0 h 17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59"/>
                  <a:gd name="T172" fmla="*/ 0 h 1756"/>
                  <a:gd name="T173" fmla="*/ 1159 w 1159"/>
                  <a:gd name="T174" fmla="*/ 1756 h 17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59" h="1756">
                    <a:moveTo>
                      <a:pt x="146" y="0"/>
                    </a:moveTo>
                    <a:lnTo>
                      <a:pt x="290" y="54"/>
                    </a:lnTo>
                    <a:lnTo>
                      <a:pt x="423" y="124"/>
                    </a:lnTo>
                    <a:lnTo>
                      <a:pt x="546" y="209"/>
                    </a:lnTo>
                    <a:lnTo>
                      <a:pt x="662" y="307"/>
                    </a:lnTo>
                    <a:lnTo>
                      <a:pt x="769" y="416"/>
                    </a:lnTo>
                    <a:lnTo>
                      <a:pt x="872" y="536"/>
                    </a:lnTo>
                    <a:lnTo>
                      <a:pt x="970" y="664"/>
                    </a:lnTo>
                    <a:lnTo>
                      <a:pt x="1065" y="802"/>
                    </a:lnTo>
                    <a:lnTo>
                      <a:pt x="1103" y="930"/>
                    </a:lnTo>
                    <a:lnTo>
                      <a:pt x="1131" y="1040"/>
                    </a:lnTo>
                    <a:lnTo>
                      <a:pt x="1149" y="1135"/>
                    </a:lnTo>
                    <a:lnTo>
                      <a:pt x="1159" y="1227"/>
                    </a:lnTo>
                    <a:lnTo>
                      <a:pt x="1159" y="1316"/>
                    </a:lnTo>
                    <a:lnTo>
                      <a:pt x="1153" y="1414"/>
                    </a:lnTo>
                    <a:lnTo>
                      <a:pt x="1139" y="1526"/>
                    </a:lnTo>
                    <a:lnTo>
                      <a:pt x="1120" y="1660"/>
                    </a:lnTo>
                    <a:lnTo>
                      <a:pt x="911" y="1722"/>
                    </a:lnTo>
                    <a:lnTo>
                      <a:pt x="705" y="1756"/>
                    </a:lnTo>
                    <a:lnTo>
                      <a:pt x="512" y="1754"/>
                    </a:lnTo>
                    <a:lnTo>
                      <a:pt x="343" y="1716"/>
                    </a:lnTo>
                    <a:lnTo>
                      <a:pt x="202" y="1630"/>
                    </a:lnTo>
                    <a:lnTo>
                      <a:pt x="104" y="1499"/>
                    </a:lnTo>
                    <a:lnTo>
                      <a:pt x="54" y="1311"/>
                    </a:lnTo>
                    <a:lnTo>
                      <a:pt x="66" y="1068"/>
                    </a:lnTo>
                    <a:lnTo>
                      <a:pt x="78" y="1051"/>
                    </a:lnTo>
                    <a:lnTo>
                      <a:pt x="87" y="1040"/>
                    </a:lnTo>
                    <a:lnTo>
                      <a:pt x="92" y="1029"/>
                    </a:lnTo>
                    <a:lnTo>
                      <a:pt x="97" y="1019"/>
                    </a:lnTo>
                    <a:lnTo>
                      <a:pt x="101" y="1008"/>
                    </a:lnTo>
                    <a:lnTo>
                      <a:pt x="106" y="998"/>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8" name="Freeform 617">
                <a:extLst>
                  <a:ext uri="{FF2B5EF4-FFF2-40B4-BE49-F238E27FC236}">
                    <a16:creationId xmlns:a16="http://schemas.microsoft.com/office/drawing/2014/main" id="{D5EE8BD6-E2E3-FF4E-A8DB-F6328D164237}"/>
                  </a:ext>
                </a:extLst>
              </p:cNvPr>
              <p:cNvSpPr>
                <a:spLocks/>
              </p:cNvSpPr>
              <p:nvPr/>
            </p:nvSpPr>
            <p:spPr bwMode="auto">
              <a:xfrm>
                <a:off x="4377" y="2842"/>
                <a:ext cx="575" cy="869"/>
              </a:xfrm>
              <a:custGeom>
                <a:avLst/>
                <a:gdLst>
                  <a:gd name="T0" fmla="*/ 73 w 1149"/>
                  <a:gd name="T1" fmla="*/ 0 h 1738"/>
                  <a:gd name="T2" fmla="*/ 145 w 1149"/>
                  <a:gd name="T3" fmla="*/ 27 h 1738"/>
                  <a:gd name="T4" fmla="*/ 211 w 1149"/>
                  <a:gd name="T5" fmla="*/ 62 h 1738"/>
                  <a:gd name="T6" fmla="*/ 272 w 1149"/>
                  <a:gd name="T7" fmla="*/ 105 h 1738"/>
                  <a:gd name="T8" fmla="*/ 329 w 1149"/>
                  <a:gd name="T9" fmla="*/ 154 h 1738"/>
                  <a:gd name="T10" fmla="*/ 382 w 1149"/>
                  <a:gd name="T11" fmla="*/ 208 h 1738"/>
                  <a:gd name="T12" fmla="*/ 432 w 1149"/>
                  <a:gd name="T13" fmla="*/ 268 h 1738"/>
                  <a:gd name="T14" fmla="*/ 480 w 1149"/>
                  <a:gd name="T15" fmla="*/ 332 h 1738"/>
                  <a:gd name="T16" fmla="*/ 527 w 1149"/>
                  <a:gd name="T17" fmla="*/ 401 h 1738"/>
                  <a:gd name="T18" fmla="*/ 546 w 1149"/>
                  <a:gd name="T19" fmla="*/ 465 h 1738"/>
                  <a:gd name="T20" fmla="*/ 560 w 1149"/>
                  <a:gd name="T21" fmla="*/ 518 h 1738"/>
                  <a:gd name="T22" fmla="*/ 569 w 1149"/>
                  <a:gd name="T23" fmla="*/ 565 h 1738"/>
                  <a:gd name="T24" fmla="*/ 574 w 1149"/>
                  <a:gd name="T25" fmla="*/ 610 h 1738"/>
                  <a:gd name="T26" fmla="*/ 575 w 1149"/>
                  <a:gd name="T27" fmla="*/ 654 h 1738"/>
                  <a:gd name="T28" fmla="*/ 572 w 1149"/>
                  <a:gd name="T29" fmla="*/ 702 h 1738"/>
                  <a:gd name="T30" fmla="*/ 565 w 1149"/>
                  <a:gd name="T31" fmla="*/ 757 h 1738"/>
                  <a:gd name="T32" fmla="*/ 556 w 1149"/>
                  <a:gd name="T33" fmla="*/ 825 h 1738"/>
                  <a:gd name="T34" fmla="*/ 452 w 1149"/>
                  <a:gd name="T35" fmla="*/ 856 h 1738"/>
                  <a:gd name="T36" fmla="*/ 352 w 1149"/>
                  <a:gd name="T37" fmla="*/ 869 h 1738"/>
                  <a:gd name="T38" fmla="*/ 258 w 1149"/>
                  <a:gd name="T39" fmla="*/ 864 h 1738"/>
                  <a:gd name="T40" fmla="*/ 177 w 1149"/>
                  <a:gd name="T41" fmla="*/ 841 h 1738"/>
                  <a:gd name="T42" fmla="*/ 110 w 1149"/>
                  <a:gd name="T43" fmla="*/ 796 h 1738"/>
                  <a:gd name="T44" fmla="*/ 63 w 1149"/>
                  <a:gd name="T45" fmla="*/ 730 h 1738"/>
                  <a:gd name="T46" fmla="*/ 39 w 1149"/>
                  <a:gd name="T47" fmla="*/ 641 h 1738"/>
                  <a:gd name="T48" fmla="*/ 44 w 1149"/>
                  <a:gd name="T49" fmla="*/ 529 h 1738"/>
                  <a:gd name="T50" fmla="*/ 50 w 1149"/>
                  <a:gd name="T51" fmla="*/ 522 h 1738"/>
                  <a:gd name="T52" fmla="*/ 53 w 1149"/>
                  <a:gd name="T53" fmla="*/ 516 h 1738"/>
                  <a:gd name="T54" fmla="*/ 54 w 1149"/>
                  <a:gd name="T55" fmla="*/ 510 h 1738"/>
                  <a:gd name="T56" fmla="*/ 54 w 1149"/>
                  <a:gd name="T57" fmla="*/ 507 h 1738"/>
                  <a:gd name="T58" fmla="*/ 54 w 1149"/>
                  <a:gd name="T59" fmla="*/ 502 h 1738"/>
                  <a:gd name="T60" fmla="*/ 55 w 1149"/>
                  <a:gd name="T61" fmla="*/ 498 h 1738"/>
                  <a:gd name="T62" fmla="*/ 57 w 1149"/>
                  <a:gd name="T63" fmla="*/ 492 h 1738"/>
                  <a:gd name="T64" fmla="*/ 64 w 1149"/>
                  <a:gd name="T65" fmla="*/ 485 h 1738"/>
                  <a:gd name="T66" fmla="*/ 56 w 1149"/>
                  <a:gd name="T67" fmla="*/ 466 h 1738"/>
                  <a:gd name="T68" fmla="*/ 48 w 1149"/>
                  <a:gd name="T69" fmla="*/ 447 h 1738"/>
                  <a:gd name="T70" fmla="*/ 40 w 1149"/>
                  <a:gd name="T71" fmla="*/ 428 h 1738"/>
                  <a:gd name="T72" fmla="*/ 32 w 1149"/>
                  <a:gd name="T73" fmla="*/ 409 h 1738"/>
                  <a:gd name="T74" fmla="*/ 24 w 1149"/>
                  <a:gd name="T75" fmla="*/ 389 h 1738"/>
                  <a:gd name="T76" fmla="*/ 16 w 1149"/>
                  <a:gd name="T77" fmla="*/ 370 h 1738"/>
                  <a:gd name="T78" fmla="*/ 8 w 1149"/>
                  <a:gd name="T79" fmla="*/ 351 h 1738"/>
                  <a:gd name="T80" fmla="*/ 0 w 1149"/>
                  <a:gd name="T81" fmla="*/ 332 h 1738"/>
                  <a:gd name="T82" fmla="*/ 7 w 1149"/>
                  <a:gd name="T83" fmla="*/ 314 h 1738"/>
                  <a:gd name="T84" fmla="*/ 15 w 1149"/>
                  <a:gd name="T85" fmla="*/ 296 h 1738"/>
                  <a:gd name="T86" fmla="*/ 22 w 1149"/>
                  <a:gd name="T87" fmla="*/ 278 h 1738"/>
                  <a:gd name="T88" fmla="*/ 30 w 1149"/>
                  <a:gd name="T89" fmla="*/ 261 h 1738"/>
                  <a:gd name="T90" fmla="*/ 37 w 1149"/>
                  <a:gd name="T91" fmla="*/ 242 h 1738"/>
                  <a:gd name="T92" fmla="*/ 45 w 1149"/>
                  <a:gd name="T93" fmla="*/ 225 h 1738"/>
                  <a:gd name="T94" fmla="*/ 52 w 1149"/>
                  <a:gd name="T95" fmla="*/ 208 h 1738"/>
                  <a:gd name="T96" fmla="*/ 60 w 1149"/>
                  <a:gd name="T97" fmla="*/ 191 h 1738"/>
                  <a:gd name="T98" fmla="*/ 64 w 1149"/>
                  <a:gd name="T99" fmla="*/ 168 h 1738"/>
                  <a:gd name="T100" fmla="*/ 66 w 1149"/>
                  <a:gd name="T101" fmla="*/ 144 h 1738"/>
                  <a:gd name="T102" fmla="*/ 66 w 1149"/>
                  <a:gd name="T103" fmla="*/ 119 h 1738"/>
                  <a:gd name="T104" fmla="*/ 66 w 1149"/>
                  <a:gd name="T105" fmla="*/ 96 h 1738"/>
                  <a:gd name="T106" fmla="*/ 66 w 1149"/>
                  <a:gd name="T107" fmla="*/ 70 h 1738"/>
                  <a:gd name="T108" fmla="*/ 67 w 1149"/>
                  <a:gd name="T109" fmla="*/ 46 h 1738"/>
                  <a:gd name="T110" fmla="*/ 69 w 1149"/>
                  <a:gd name="T111" fmla="*/ 22 h 1738"/>
                  <a:gd name="T112" fmla="*/ 73 w 1149"/>
                  <a:gd name="T113" fmla="*/ 0 h 173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9"/>
                  <a:gd name="T172" fmla="*/ 0 h 1738"/>
                  <a:gd name="T173" fmla="*/ 1149 w 1149"/>
                  <a:gd name="T174" fmla="*/ 1738 h 173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9" h="1738">
                    <a:moveTo>
                      <a:pt x="146" y="0"/>
                    </a:moveTo>
                    <a:lnTo>
                      <a:pt x="289" y="54"/>
                    </a:lnTo>
                    <a:lnTo>
                      <a:pt x="422" y="124"/>
                    </a:lnTo>
                    <a:lnTo>
                      <a:pt x="543" y="209"/>
                    </a:lnTo>
                    <a:lnTo>
                      <a:pt x="657" y="307"/>
                    </a:lnTo>
                    <a:lnTo>
                      <a:pt x="763" y="415"/>
                    </a:lnTo>
                    <a:lnTo>
                      <a:pt x="864" y="535"/>
                    </a:lnTo>
                    <a:lnTo>
                      <a:pt x="960" y="664"/>
                    </a:lnTo>
                    <a:lnTo>
                      <a:pt x="1054" y="802"/>
                    </a:lnTo>
                    <a:lnTo>
                      <a:pt x="1091" y="930"/>
                    </a:lnTo>
                    <a:lnTo>
                      <a:pt x="1120" y="1036"/>
                    </a:lnTo>
                    <a:lnTo>
                      <a:pt x="1138" y="1130"/>
                    </a:lnTo>
                    <a:lnTo>
                      <a:pt x="1148" y="1219"/>
                    </a:lnTo>
                    <a:lnTo>
                      <a:pt x="1149" y="1307"/>
                    </a:lnTo>
                    <a:lnTo>
                      <a:pt x="1143" y="1404"/>
                    </a:lnTo>
                    <a:lnTo>
                      <a:pt x="1129" y="1514"/>
                    </a:lnTo>
                    <a:lnTo>
                      <a:pt x="1111" y="1649"/>
                    </a:lnTo>
                    <a:lnTo>
                      <a:pt x="903" y="1711"/>
                    </a:lnTo>
                    <a:lnTo>
                      <a:pt x="703" y="1738"/>
                    </a:lnTo>
                    <a:lnTo>
                      <a:pt x="516" y="1728"/>
                    </a:lnTo>
                    <a:lnTo>
                      <a:pt x="353" y="1682"/>
                    </a:lnTo>
                    <a:lnTo>
                      <a:pt x="220" y="1592"/>
                    </a:lnTo>
                    <a:lnTo>
                      <a:pt x="126" y="1460"/>
                    </a:lnTo>
                    <a:lnTo>
                      <a:pt x="78" y="1282"/>
                    </a:lnTo>
                    <a:lnTo>
                      <a:pt x="88" y="1058"/>
                    </a:lnTo>
                    <a:lnTo>
                      <a:pt x="99" y="1043"/>
                    </a:lnTo>
                    <a:lnTo>
                      <a:pt x="106" y="1031"/>
                    </a:lnTo>
                    <a:lnTo>
                      <a:pt x="107" y="1021"/>
                    </a:lnTo>
                    <a:lnTo>
                      <a:pt x="108" y="1014"/>
                    </a:lnTo>
                    <a:lnTo>
                      <a:pt x="107" y="1005"/>
                    </a:lnTo>
                    <a:lnTo>
                      <a:pt x="109" y="996"/>
                    </a:lnTo>
                    <a:lnTo>
                      <a:pt x="114" y="985"/>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99" name="Freeform 618">
                <a:extLst>
                  <a:ext uri="{FF2B5EF4-FFF2-40B4-BE49-F238E27FC236}">
                    <a16:creationId xmlns:a16="http://schemas.microsoft.com/office/drawing/2014/main" id="{9379FDD0-F0FB-BA44-98A0-61E3B9F6A8A8}"/>
                  </a:ext>
                </a:extLst>
              </p:cNvPr>
              <p:cNvSpPr>
                <a:spLocks/>
              </p:cNvSpPr>
              <p:nvPr/>
            </p:nvSpPr>
            <p:spPr bwMode="auto">
              <a:xfrm>
                <a:off x="4377" y="2842"/>
                <a:ext cx="570" cy="860"/>
              </a:xfrm>
              <a:custGeom>
                <a:avLst/>
                <a:gdLst>
                  <a:gd name="T0" fmla="*/ 73 w 1140"/>
                  <a:gd name="T1" fmla="*/ 0 h 1721"/>
                  <a:gd name="T2" fmla="*/ 144 w 1140"/>
                  <a:gd name="T3" fmla="*/ 27 h 1721"/>
                  <a:gd name="T4" fmla="*/ 209 w 1140"/>
                  <a:gd name="T5" fmla="*/ 62 h 1721"/>
                  <a:gd name="T6" fmla="*/ 270 w 1140"/>
                  <a:gd name="T7" fmla="*/ 104 h 1721"/>
                  <a:gd name="T8" fmla="*/ 326 w 1140"/>
                  <a:gd name="T9" fmla="*/ 153 h 1721"/>
                  <a:gd name="T10" fmla="*/ 377 w 1140"/>
                  <a:gd name="T11" fmla="*/ 207 h 1721"/>
                  <a:gd name="T12" fmla="*/ 428 w 1140"/>
                  <a:gd name="T13" fmla="*/ 267 h 1721"/>
                  <a:gd name="T14" fmla="*/ 475 w 1140"/>
                  <a:gd name="T15" fmla="*/ 331 h 1721"/>
                  <a:gd name="T16" fmla="*/ 523 w 1140"/>
                  <a:gd name="T17" fmla="*/ 400 h 1721"/>
                  <a:gd name="T18" fmla="*/ 542 w 1140"/>
                  <a:gd name="T19" fmla="*/ 463 h 1721"/>
                  <a:gd name="T20" fmla="*/ 556 w 1140"/>
                  <a:gd name="T21" fmla="*/ 517 h 1721"/>
                  <a:gd name="T22" fmla="*/ 565 w 1140"/>
                  <a:gd name="T23" fmla="*/ 563 h 1721"/>
                  <a:gd name="T24" fmla="*/ 570 w 1140"/>
                  <a:gd name="T25" fmla="*/ 606 h 1721"/>
                  <a:gd name="T26" fmla="*/ 570 w 1140"/>
                  <a:gd name="T27" fmla="*/ 649 h 1721"/>
                  <a:gd name="T28" fmla="*/ 567 w 1140"/>
                  <a:gd name="T29" fmla="*/ 697 h 1721"/>
                  <a:gd name="T30" fmla="*/ 560 w 1140"/>
                  <a:gd name="T31" fmla="*/ 752 h 1721"/>
                  <a:gd name="T32" fmla="*/ 552 w 1140"/>
                  <a:gd name="T33" fmla="*/ 818 h 1721"/>
                  <a:gd name="T34" fmla="*/ 448 w 1140"/>
                  <a:gd name="T35" fmla="*/ 849 h 1721"/>
                  <a:gd name="T36" fmla="*/ 350 w 1140"/>
                  <a:gd name="T37" fmla="*/ 860 h 1721"/>
                  <a:gd name="T38" fmla="*/ 261 w 1140"/>
                  <a:gd name="T39" fmla="*/ 851 h 1721"/>
                  <a:gd name="T40" fmla="*/ 182 w 1140"/>
                  <a:gd name="T41" fmla="*/ 824 h 1721"/>
                  <a:gd name="T42" fmla="*/ 118 w 1140"/>
                  <a:gd name="T43" fmla="*/ 777 h 1721"/>
                  <a:gd name="T44" fmla="*/ 74 w 1140"/>
                  <a:gd name="T45" fmla="*/ 711 h 1721"/>
                  <a:gd name="T46" fmla="*/ 51 w 1140"/>
                  <a:gd name="T47" fmla="*/ 626 h 1721"/>
                  <a:gd name="T48" fmla="*/ 54 w 1140"/>
                  <a:gd name="T49" fmla="*/ 524 h 1721"/>
                  <a:gd name="T50" fmla="*/ 59 w 1140"/>
                  <a:gd name="T51" fmla="*/ 516 h 1721"/>
                  <a:gd name="T52" fmla="*/ 61 w 1140"/>
                  <a:gd name="T53" fmla="*/ 511 h 1721"/>
                  <a:gd name="T54" fmla="*/ 60 w 1140"/>
                  <a:gd name="T55" fmla="*/ 507 h 1721"/>
                  <a:gd name="T56" fmla="*/ 59 w 1140"/>
                  <a:gd name="T57" fmla="*/ 504 h 1721"/>
                  <a:gd name="T58" fmla="*/ 56 w 1140"/>
                  <a:gd name="T59" fmla="*/ 500 h 1721"/>
                  <a:gd name="T60" fmla="*/ 56 w 1140"/>
                  <a:gd name="T61" fmla="*/ 497 h 1721"/>
                  <a:gd name="T62" fmla="*/ 58 w 1140"/>
                  <a:gd name="T63" fmla="*/ 492 h 1721"/>
                  <a:gd name="T64" fmla="*/ 64 w 1140"/>
                  <a:gd name="T65" fmla="*/ 485 h 1721"/>
                  <a:gd name="T66" fmla="*/ 56 w 1140"/>
                  <a:gd name="T67" fmla="*/ 466 h 1721"/>
                  <a:gd name="T68" fmla="*/ 48 w 1140"/>
                  <a:gd name="T69" fmla="*/ 447 h 1721"/>
                  <a:gd name="T70" fmla="*/ 39 w 1140"/>
                  <a:gd name="T71" fmla="*/ 427 h 1721"/>
                  <a:gd name="T72" fmla="*/ 32 w 1140"/>
                  <a:gd name="T73" fmla="*/ 408 h 1721"/>
                  <a:gd name="T74" fmla="*/ 24 w 1140"/>
                  <a:gd name="T75" fmla="*/ 389 h 1721"/>
                  <a:gd name="T76" fmla="*/ 16 w 1140"/>
                  <a:gd name="T77" fmla="*/ 369 h 1721"/>
                  <a:gd name="T78" fmla="*/ 7 w 1140"/>
                  <a:gd name="T79" fmla="*/ 350 h 1721"/>
                  <a:gd name="T80" fmla="*/ 0 w 1140"/>
                  <a:gd name="T81" fmla="*/ 331 h 1721"/>
                  <a:gd name="T82" fmla="*/ 7 w 1140"/>
                  <a:gd name="T83" fmla="*/ 313 h 1721"/>
                  <a:gd name="T84" fmla="*/ 14 w 1140"/>
                  <a:gd name="T85" fmla="*/ 296 h 1721"/>
                  <a:gd name="T86" fmla="*/ 22 w 1140"/>
                  <a:gd name="T87" fmla="*/ 277 h 1721"/>
                  <a:gd name="T88" fmla="*/ 29 w 1140"/>
                  <a:gd name="T89" fmla="*/ 260 h 1721"/>
                  <a:gd name="T90" fmla="*/ 37 w 1140"/>
                  <a:gd name="T91" fmla="*/ 242 h 1721"/>
                  <a:gd name="T92" fmla="*/ 44 w 1140"/>
                  <a:gd name="T93" fmla="*/ 225 h 1721"/>
                  <a:gd name="T94" fmla="*/ 52 w 1140"/>
                  <a:gd name="T95" fmla="*/ 207 h 1721"/>
                  <a:gd name="T96" fmla="*/ 59 w 1140"/>
                  <a:gd name="T97" fmla="*/ 190 h 1721"/>
                  <a:gd name="T98" fmla="*/ 63 w 1140"/>
                  <a:gd name="T99" fmla="*/ 168 h 1721"/>
                  <a:gd name="T100" fmla="*/ 66 w 1140"/>
                  <a:gd name="T101" fmla="*/ 144 h 1721"/>
                  <a:gd name="T102" fmla="*/ 66 w 1140"/>
                  <a:gd name="T103" fmla="*/ 119 h 1721"/>
                  <a:gd name="T104" fmla="*/ 66 w 1140"/>
                  <a:gd name="T105" fmla="*/ 95 h 1721"/>
                  <a:gd name="T106" fmla="*/ 66 w 1140"/>
                  <a:gd name="T107" fmla="*/ 70 h 1721"/>
                  <a:gd name="T108" fmla="*/ 67 w 1140"/>
                  <a:gd name="T109" fmla="*/ 46 h 1721"/>
                  <a:gd name="T110" fmla="*/ 69 w 1140"/>
                  <a:gd name="T111" fmla="*/ 22 h 1721"/>
                  <a:gd name="T112" fmla="*/ 73 w 1140"/>
                  <a:gd name="T113" fmla="*/ 0 h 172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40"/>
                  <a:gd name="T172" fmla="*/ 0 h 1721"/>
                  <a:gd name="T173" fmla="*/ 1140 w 1140"/>
                  <a:gd name="T174" fmla="*/ 1721 h 172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40" h="1721">
                    <a:moveTo>
                      <a:pt x="146" y="0"/>
                    </a:moveTo>
                    <a:lnTo>
                      <a:pt x="289" y="54"/>
                    </a:lnTo>
                    <a:lnTo>
                      <a:pt x="419" y="124"/>
                    </a:lnTo>
                    <a:lnTo>
                      <a:pt x="540" y="208"/>
                    </a:lnTo>
                    <a:lnTo>
                      <a:pt x="652" y="306"/>
                    </a:lnTo>
                    <a:lnTo>
                      <a:pt x="755" y="415"/>
                    </a:lnTo>
                    <a:lnTo>
                      <a:pt x="856" y="535"/>
                    </a:lnTo>
                    <a:lnTo>
                      <a:pt x="950" y="663"/>
                    </a:lnTo>
                    <a:lnTo>
                      <a:pt x="1045" y="801"/>
                    </a:lnTo>
                    <a:lnTo>
                      <a:pt x="1083" y="927"/>
                    </a:lnTo>
                    <a:lnTo>
                      <a:pt x="1111" y="1035"/>
                    </a:lnTo>
                    <a:lnTo>
                      <a:pt x="1129" y="1127"/>
                    </a:lnTo>
                    <a:lnTo>
                      <a:pt x="1140" y="1213"/>
                    </a:lnTo>
                    <a:lnTo>
                      <a:pt x="1140" y="1298"/>
                    </a:lnTo>
                    <a:lnTo>
                      <a:pt x="1134" y="1394"/>
                    </a:lnTo>
                    <a:lnTo>
                      <a:pt x="1120" y="1504"/>
                    </a:lnTo>
                    <a:lnTo>
                      <a:pt x="1103" y="1637"/>
                    </a:lnTo>
                    <a:lnTo>
                      <a:pt x="896" y="1698"/>
                    </a:lnTo>
                    <a:lnTo>
                      <a:pt x="700" y="1721"/>
                    </a:lnTo>
                    <a:lnTo>
                      <a:pt x="521" y="1703"/>
                    </a:lnTo>
                    <a:lnTo>
                      <a:pt x="365" y="1648"/>
                    </a:lnTo>
                    <a:lnTo>
                      <a:pt x="237" y="1554"/>
                    </a:lnTo>
                    <a:lnTo>
                      <a:pt x="148" y="1422"/>
                    </a:lnTo>
                    <a:lnTo>
                      <a:pt x="103" y="1253"/>
                    </a:lnTo>
                    <a:lnTo>
                      <a:pt x="109" y="1048"/>
                    </a:lnTo>
                    <a:lnTo>
                      <a:pt x="119" y="1033"/>
                    </a:lnTo>
                    <a:lnTo>
                      <a:pt x="123" y="1023"/>
                    </a:lnTo>
                    <a:lnTo>
                      <a:pt x="121" y="1014"/>
                    </a:lnTo>
                    <a:lnTo>
                      <a:pt x="118" y="1009"/>
                    </a:lnTo>
                    <a:lnTo>
                      <a:pt x="113" y="1001"/>
                    </a:lnTo>
                    <a:lnTo>
                      <a:pt x="113" y="995"/>
                    </a:lnTo>
                    <a:lnTo>
                      <a:pt x="116"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0" name="Freeform 619">
                <a:extLst>
                  <a:ext uri="{FF2B5EF4-FFF2-40B4-BE49-F238E27FC236}">
                    <a16:creationId xmlns:a16="http://schemas.microsoft.com/office/drawing/2014/main" id="{B424D150-0DC8-6B4C-8145-C943F3E39E02}"/>
                  </a:ext>
                </a:extLst>
              </p:cNvPr>
              <p:cNvSpPr>
                <a:spLocks/>
              </p:cNvSpPr>
              <p:nvPr/>
            </p:nvSpPr>
            <p:spPr bwMode="auto">
              <a:xfrm>
                <a:off x="4377" y="2842"/>
                <a:ext cx="566" cy="851"/>
              </a:xfrm>
              <a:custGeom>
                <a:avLst/>
                <a:gdLst>
                  <a:gd name="T0" fmla="*/ 73 w 1131"/>
                  <a:gd name="T1" fmla="*/ 0 h 1703"/>
                  <a:gd name="T2" fmla="*/ 145 w 1131"/>
                  <a:gd name="T3" fmla="*/ 27 h 1703"/>
                  <a:gd name="T4" fmla="*/ 210 w 1131"/>
                  <a:gd name="T5" fmla="*/ 62 h 1703"/>
                  <a:gd name="T6" fmla="*/ 269 w 1131"/>
                  <a:gd name="T7" fmla="*/ 104 h 1703"/>
                  <a:gd name="T8" fmla="*/ 325 w 1131"/>
                  <a:gd name="T9" fmla="*/ 153 h 1703"/>
                  <a:gd name="T10" fmla="*/ 375 w 1131"/>
                  <a:gd name="T11" fmla="*/ 207 h 1703"/>
                  <a:gd name="T12" fmla="*/ 424 w 1131"/>
                  <a:gd name="T13" fmla="*/ 266 h 1703"/>
                  <a:gd name="T14" fmla="*/ 471 w 1131"/>
                  <a:gd name="T15" fmla="*/ 331 h 1703"/>
                  <a:gd name="T16" fmla="*/ 518 w 1131"/>
                  <a:gd name="T17" fmla="*/ 400 h 1703"/>
                  <a:gd name="T18" fmla="*/ 537 w 1131"/>
                  <a:gd name="T19" fmla="*/ 463 h 1703"/>
                  <a:gd name="T20" fmla="*/ 551 w 1131"/>
                  <a:gd name="T21" fmla="*/ 515 h 1703"/>
                  <a:gd name="T22" fmla="*/ 560 w 1131"/>
                  <a:gd name="T23" fmla="*/ 561 h 1703"/>
                  <a:gd name="T24" fmla="*/ 565 w 1131"/>
                  <a:gd name="T25" fmla="*/ 603 h 1703"/>
                  <a:gd name="T26" fmla="*/ 566 w 1131"/>
                  <a:gd name="T27" fmla="*/ 645 h 1703"/>
                  <a:gd name="T28" fmla="*/ 563 w 1131"/>
                  <a:gd name="T29" fmla="*/ 691 h 1703"/>
                  <a:gd name="T30" fmla="*/ 556 w 1131"/>
                  <a:gd name="T31" fmla="*/ 745 h 1703"/>
                  <a:gd name="T32" fmla="*/ 547 w 1131"/>
                  <a:gd name="T33" fmla="*/ 812 h 1703"/>
                  <a:gd name="T34" fmla="*/ 445 w 1131"/>
                  <a:gd name="T35" fmla="*/ 843 h 1703"/>
                  <a:gd name="T36" fmla="*/ 349 w 1131"/>
                  <a:gd name="T37" fmla="*/ 851 h 1703"/>
                  <a:gd name="T38" fmla="*/ 262 w 1131"/>
                  <a:gd name="T39" fmla="*/ 838 h 1703"/>
                  <a:gd name="T40" fmla="*/ 188 w 1131"/>
                  <a:gd name="T41" fmla="*/ 807 h 1703"/>
                  <a:gd name="T42" fmla="*/ 128 w 1131"/>
                  <a:gd name="T43" fmla="*/ 757 h 1703"/>
                  <a:gd name="T44" fmla="*/ 85 w 1131"/>
                  <a:gd name="T45" fmla="*/ 692 h 1703"/>
                  <a:gd name="T46" fmla="*/ 63 w 1131"/>
                  <a:gd name="T47" fmla="*/ 611 h 1703"/>
                  <a:gd name="T48" fmla="*/ 65 w 1131"/>
                  <a:gd name="T49" fmla="*/ 518 h 1703"/>
                  <a:gd name="T50" fmla="*/ 69 w 1131"/>
                  <a:gd name="T51" fmla="*/ 511 h 1703"/>
                  <a:gd name="T52" fmla="*/ 71 w 1131"/>
                  <a:gd name="T53" fmla="*/ 507 h 1703"/>
                  <a:gd name="T54" fmla="*/ 68 w 1131"/>
                  <a:gd name="T55" fmla="*/ 504 h 1703"/>
                  <a:gd name="T56" fmla="*/ 65 w 1131"/>
                  <a:gd name="T57" fmla="*/ 502 h 1703"/>
                  <a:gd name="T58" fmla="*/ 61 w 1131"/>
                  <a:gd name="T59" fmla="*/ 499 h 1703"/>
                  <a:gd name="T60" fmla="*/ 58 w 1131"/>
                  <a:gd name="T61" fmla="*/ 496 h 1703"/>
                  <a:gd name="T62" fmla="*/ 59 w 1131"/>
                  <a:gd name="T63" fmla="*/ 492 h 1703"/>
                  <a:gd name="T64" fmla="*/ 64 w 1131"/>
                  <a:gd name="T65" fmla="*/ 485 h 1703"/>
                  <a:gd name="T66" fmla="*/ 56 w 1131"/>
                  <a:gd name="T67" fmla="*/ 466 h 1703"/>
                  <a:gd name="T68" fmla="*/ 48 w 1131"/>
                  <a:gd name="T69" fmla="*/ 447 h 1703"/>
                  <a:gd name="T70" fmla="*/ 40 w 1131"/>
                  <a:gd name="T71" fmla="*/ 427 h 1703"/>
                  <a:gd name="T72" fmla="*/ 32 w 1131"/>
                  <a:gd name="T73" fmla="*/ 408 h 1703"/>
                  <a:gd name="T74" fmla="*/ 24 w 1131"/>
                  <a:gd name="T75" fmla="*/ 389 h 1703"/>
                  <a:gd name="T76" fmla="*/ 16 w 1131"/>
                  <a:gd name="T77" fmla="*/ 369 h 1703"/>
                  <a:gd name="T78" fmla="*/ 8 w 1131"/>
                  <a:gd name="T79" fmla="*/ 350 h 1703"/>
                  <a:gd name="T80" fmla="*/ 0 w 1131"/>
                  <a:gd name="T81" fmla="*/ 331 h 1703"/>
                  <a:gd name="T82" fmla="*/ 7 w 1131"/>
                  <a:gd name="T83" fmla="*/ 313 h 1703"/>
                  <a:gd name="T84" fmla="*/ 15 w 1131"/>
                  <a:gd name="T85" fmla="*/ 296 h 1703"/>
                  <a:gd name="T86" fmla="*/ 22 w 1131"/>
                  <a:gd name="T87" fmla="*/ 277 h 1703"/>
                  <a:gd name="T88" fmla="*/ 30 w 1131"/>
                  <a:gd name="T89" fmla="*/ 260 h 1703"/>
                  <a:gd name="T90" fmla="*/ 37 w 1131"/>
                  <a:gd name="T91" fmla="*/ 242 h 1703"/>
                  <a:gd name="T92" fmla="*/ 45 w 1131"/>
                  <a:gd name="T93" fmla="*/ 225 h 1703"/>
                  <a:gd name="T94" fmla="*/ 52 w 1131"/>
                  <a:gd name="T95" fmla="*/ 207 h 1703"/>
                  <a:gd name="T96" fmla="*/ 60 w 1131"/>
                  <a:gd name="T97" fmla="*/ 190 h 1703"/>
                  <a:gd name="T98" fmla="*/ 64 w 1131"/>
                  <a:gd name="T99" fmla="*/ 168 h 1703"/>
                  <a:gd name="T100" fmla="*/ 66 w 1131"/>
                  <a:gd name="T101" fmla="*/ 144 h 1703"/>
                  <a:gd name="T102" fmla="*/ 66 w 1131"/>
                  <a:gd name="T103" fmla="*/ 119 h 1703"/>
                  <a:gd name="T104" fmla="*/ 66 w 1131"/>
                  <a:gd name="T105" fmla="*/ 95 h 1703"/>
                  <a:gd name="T106" fmla="*/ 66 w 1131"/>
                  <a:gd name="T107" fmla="*/ 70 h 1703"/>
                  <a:gd name="T108" fmla="*/ 67 w 1131"/>
                  <a:gd name="T109" fmla="*/ 46 h 1703"/>
                  <a:gd name="T110" fmla="*/ 69 w 1131"/>
                  <a:gd name="T111" fmla="*/ 22 h 1703"/>
                  <a:gd name="T112" fmla="*/ 73 w 1131"/>
                  <a:gd name="T113" fmla="*/ 0 h 17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31"/>
                  <a:gd name="T172" fmla="*/ 0 h 1703"/>
                  <a:gd name="T173" fmla="*/ 1131 w 1131"/>
                  <a:gd name="T174" fmla="*/ 1703 h 17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31" h="1703">
                    <a:moveTo>
                      <a:pt x="146" y="0"/>
                    </a:moveTo>
                    <a:lnTo>
                      <a:pt x="289" y="54"/>
                    </a:lnTo>
                    <a:lnTo>
                      <a:pt x="419" y="124"/>
                    </a:lnTo>
                    <a:lnTo>
                      <a:pt x="537" y="208"/>
                    </a:lnTo>
                    <a:lnTo>
                      <a:pt x="649" y="306"/>
                    </a:lnTo>
                    <a:lnTo>
                      <a:pt x="750" y="414"/>
                    </a:lnTo>
                    <a:lnTo>
                      <a:pt x="848" y="533"/>
                    </a:lnTo>
                    <a:lnTo>
                      <a:pt x="942" y="662"/>
                    </a:lnTo>
                    <a:lnTo>
                      <a:pt x="1035" y="800"/>
                    </a:lnTo>
                    <a:lnTo>
                      <a:pt x="1073" y="926"/>
                    </a:lnTo>
                    <a:lnTo>
                      <a:pt x="1101" y="1031"/>
                    </a:lnTo>
                    <a:lnTo>
                      <a:pt x="1120" y="1122"/>
                    </a:lnTo>
                    <a:lnTo>
                      <a:pt x="1130" y="1206"/>
                    </a:lnTo>
                    <a:lnTo>
                      <a:pt x="1131" y="1290"/>
                    </a:lnTo>
                    <a:lnTo>
                      <a:pt x="1125" y="1382"/>
                    </a:lnTo>
                    <a:lnTo>
                      <a:pt x="1111" y="1491"/>
                    </a:lnTo>
                    <a:lnTo>
                      <a:pt x="1093" y="1624"/>
                    </a:lnTo>
                    <a:lnTo>
                      <a:pt x="889" y="1686"/>
                    </a:lnTo>
                    <a:lnTo>
                      <a:pt x="698" y="1703"/>
                    </a:lnTo>
                    <a:lnTo>
                      <a:pt x="524" y="1677"/>
                    </a:lnTo>
                    <a:lnTo>
                      <a:pt x="375" y="1614"/>
                    </a:lnTo>
                    <a:lnTo>
                      <a:pt x="255" y="1514"/>
                    </a:lnTo>
                    <a:lnTo>
                      <a:pt x="170" y="1384"/>
                    </a:lnTo>
                    <a:lnTo>
                      <a:pt x="126" y="1222"/>
                    </a:lnTo>
                    <a:lnTo>
                      <a:pt x="129" y="1036"/>
                    </a:lnTo>
                    <a:lnTo>
                      <a:pt x="138" y="1023"/>
                    </a:lnTo>
                    <a:lnTo>
                      <a:pt x="141" y="1014"/>
                    </a:lnTo>
                    <a:lnTo>
                      <a:pt x="136" y="1008"/>
                    </a:lnTo>
                    <a:lnTo>
                      <a:pt x="129" y="1004"/>
                    </a:lnTo>
                    <a:lnTo>
                      <a:pt x="121" y="999"/>
                    </a:lnTo>
                    <a:lnTo>
                      <a:pt x="116" y="993"/>
                    </a:lnTo>
                    <a:lnTo>
                      <a:pt x="117" y="984"/>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1" name="Freeform 620">
                <a:extLst>
                  <a:ext uri="{FF2B5EF4-FFF2-40B4-BE49-F238E27FC236}">
                    <a16:creationId xmlns:a16="http://schemas.microsoft.com/office/drawing/2014/main" id="{26C494A2-D815-4840-85D8-E09BB7151212}"/>
                  </a:ext>
                </a:extLst>
              </p:cNvPr>
              <p:cNvSpPr>
                <a:spLocks/>
              </p:cNvSpPr>
              <p:nvPr/>
            </p:nvSpPr>
            <p:spPr bwMode="auto">
              <a:xfrm>
                <a:off x="4377" y="2842"/>
                <a:ext cx="561" cy="842"/>
              </a:xfrm>
              <a:custGeom>
                <a:avLst/>
                <a:gdLst>
                  <a:gd name="T0" fmla="*/ 73 w 1123"/>
                  <a:gd name="T1" fmla="*/ 0 h 1684"/>
                  <a:gd name="T2" fmla="*/ 143 w 1123"/>
                  <a:gd name="T3" fmla="*/ 27 h 1684"/>
                  <a:gd name="T4" fmla="*/ 208 w 1123"/>
                  <a:gd name="T5" fmla="*/ 62 h 1684"/>
                  <a:gd name="T6" fmla="*/ 267 w 1123"/>
                  <a:gd name="T7" fmla="*/ 104 h 1684"/>
                  <a:gd name="T8" fmla="*/ 321 w 1123"/>
                  <a:gd name="T9" fmla="*/ 153 h 1684"/>
                  <a:gd name="T10" fmla="*/ 371 w 1123"/>
                  <a:gd name="T11" fmla="*/ 206 h 1684"/>
                  <a:gd name="T12" fmla="*/ 419 w 1123"/>
                  <a:gd name="T13" fmla="*/ 266 h 1684"/>
                  <a:gd name="T14" fmla="*/ 466 w 1123"/>
                  <a:gd name="T15" fmla="*/ 330 h 1684"/>
                  <a:gd name="T16" fmla="*/ 513 w 1123"/>
                  <a:gd name="T17" fmla="*/ 399 h 1684"/>
                  <a:gd name="T18" fmla="*/ 532 w 1123"/>
                  <a:gd name="T19" fmla="*/ 462 h 1684"/>
                  <a:gd name="T20" fmla="*/ 546 w 1123"/>
                  <a:gd name="T21" fmla="*/ 514 h 1684"/>
                  <a:gd name="T22" fmla="*/ 555 w 1123"/>
                  <a:gd name="T23" fmla="*/ 559 h 1684"/>
                  <a:gd name="T24" fmla="*/ 560 w 1123"/>
                  <a:gd name="T25" fmla="*/ 600 h 1684"/>
                  <a:gd name="T26" fmla="*/ 561 w 1123"/>
                  <a:gd name="T27" fmla="*/ 641 h 1684"/>
                  <a:gd name="T28" fmla="*/ 558 w 1123"/>
                  <a:gd name="T29" fmla="*/ 686 h 1684"/>
                  <a:gd name="T30" fmla="*/ 551 w 1123"/>
                  <a:gd name="T31" fmla="*/ 740 h 1684"/>
                  <a:gd name="T32" fmla="*/ 542 w 1123"/>
                  <a:gd name="T33" fmla="*/ 807 h 1684"/>
                  <a:gd name="T34" fmla="*/ 441 w 1123"/>
                  <a:gd name="T35" fmla="*/ 837 h 1684"/>
                  <a:gd name="T36" fmla="*/ 348 w 1123"/>
                  <a:gd name="T37" fmla="*/ 842 h 1684"/>
                  <a:gd name="T38" fmla="*/ 265 w 1123"/>
                  <a:gd name="T39" fmla="*/ 825 h 1684"/>
                  <a:gd name="T40" fmla="*/ 194 w 1123"/>
                  <a:gd name="T41" fmla="*/ 790 h 1684"/>
                  <a:gd name="T42" fmla="*/ 137 w 1123"/>
                  <a:gd name="T43" fmla="*/ 738 h 1684"/>
                  <a:gd name="T44" fmla="*/ 96 w 1123"/>
                  <a:gd name="T45" fmla="*/ 673 h 1684"/>
                  <a:gd name="T46" fmla="*/ 75 w 1123"/>
                  <a:gd name="T47" fmla="*/ 596 h 1684"/>
                  <a:gd name="T48" fmla="*/ 76 w 1123"/>
                  <a:gd name="T49" fmla="*/ 513 h 1684"/>
                  <a:gd name="T50" fmla="*/ 80 w 1123"/>
                  <a:gd name="T51" fmla="*/ 506 h 1684"/>
                  <a:gd name="T52" fmla="*/ 79 w 1123"/>
                  <a:gd name="T53" fmla="*/ 502 h 1684"/>
                  <a:gd name="T54" fmla="*/ 75 w 1123"/>
                  <a:gd name="T55" fmla="*/ 500 h 1684"/>
                  <a:gd name="T56" fmla="*/ 70 w 1123"/>
                  <a:gd name="T57" fmla="*/ 499 h 1684"/>
                  <a:gd name="T58" fmla="*/ 63 w 1123"/>
                  <a:gd name="T59" fmla="*/ 497 h 1684"/>
                  <a:gd name="T60" fmla="*/ 59 w 1123"/>
                  <a:gd name="T61" fmla="*/ 495 h 1684"/>
                  <a:gd name="T62" fmla="*/ 59 w 1123"/>
                  <a:gd name="T63" fmla="*/ 491 h 1684"/>
                  <a:gd name="T64" fmla="*/ 64 w 1123"/>
                  <a:gd name="T65" fmla="*/ 485 h 1684"/>
                  <a:gd name="T66" fmla="*/ 56 w 1123"/>
                  <a:gd name="T67" fmla="*/ 466 h 1684"/>
                  <a:gd name="T68" fmla="*/ 48 w 1123"/>
                  <a:gd name="T69" fmla="*/ 447 h 1684"/>
                  <a:gd name="T70" fmla="*/ 39 w 1123"/>
                  <a:gd name="T71" fmla="*/ 427 h 1684"/>
                  <a:gd name="T72" fmla="*/ 32 w 1123"/>
                  <a:gd name="T73" fmla="*/ 409 h 1684"/>
                  <a:gd name="T74" fmla="*/ 24 w 1123"/>
                  <a:gd name="T75" fmla="*/ 389 h 1684"/>
                  <a:gd name="T76" fmla="*/ 16 w 1123"/>
                  <a:gd name="T77" fmla="*/ 370 h 1684"/>
                  <a:gd name="T78" fmla="*/ 7 w 1123"/>
                  <a:gd name="T79" fmla="*/ 351 h 1684"/>
                  <a:gd name="T80" fmla="*/ 0 w 1123"/>
                  <a:gd name="T81" fmla="*/ 332 h 1684"/>
                  <a:gd name="T82" fmla="*/ 7 w 1123"/>
                  <a:gd name="T83" fmla="*/ 314 h 1684"/>
                  <a:gd name="T84" fmla="*/ 14 w 1123"/>
                  <a:gd name="T85" fmla="*/ 296 h 1684"/>
                  <a:gd name="T86" fmla="*/ 22 w 1123"/>
                  <a:gd name="T87" fmla="*/ 278 h 1684"/>
                  <a:gd name="T88" fmla="*/ 29 w 1123"/>
                  <a:gd name="T89" fmla="*/ 261 h 1684"/>
                  <a:gd name="T90" fmla="*/ 37 w 1123"/>
                  <a:gd name="T91" fmla="*/ 242 h 1684"/>
                  <a:gd name="T92" fmla="*/ 44 w 1123"/>
                  <a:gd name="T93" fmla="*/ 225 h 1684"/>
                  <a:gd name="T94" fmla="*/ 52 w 1123"/>
                  <a:gd name="T95" fmla="*/ 208 h 1684"/>
                  <a:gd name="T96" fmla="*/ 59 w 1123"/>
                  <a:gd name="T97" fmla="*/ 191 h 1684"/>
                  <a:gd name="T98" fmla="*/ 63 w 1123"/>
                  <a:gd name="T99" fmla="*/ 168 h 1684"/>
                  <a:gd name="T100" fmla="*/ 65 w 1123"/>
                  <a:gd name="T101" fmla="*/ 144 h 1684"/>
                  <a:gd name="T102" fmla="*/ 65 w 1123"/>
                  <a:gd name="T103" fmla="*/ 119 h 1684"/>
                  <a:gd name="T104" fmla="*/ 66 w 1123"/>
                  <a:gd name="T105" fmla="*/ 96 h 1684"/>
                  <a:gd name="T106" fmla="*/ 66 w 1123"/>
                  <a:gd name="T107" fmla="*/ 70 h 1684"/>
                  <a:gd name="T108" fmla="*/ 66 w 1123"/>
                  <a:gd name="T109" fmla="*/ 46 h 1684"/>
                  <a:gd name="T110" fmla="*/ 68 w 1123"/>
                  <a:gd name="T111" fmla="*/ 22 h 1684"/>
                  <a:gd name="T112" fmla="*/ 73 w 1123"/>
                  <a:gd name="T113" fmla="*/ 0 h 168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3"/>
                  <a:gd name="T172" fmla="*/ 0 h 1684"/>
                  <a:gd name="T173" fmla="*/ 1123 w 1123"/>
                  <a:gd name="T174" fmla="*/ 1684 h 168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3" h="1684">
                    <a:moveTo>
                      <a:pt x="146" y="0"/>
                    </a:moveTo>
                    <a:lnTo>
                      <a:pt x="287" y="54"/>
                    </a:lnTo>
                    <a:lnTo>
                      <a:pt x="417" y="124"/>
                    </a:lnTo>
                    <a:lnTo>
                      <a:pt x="535" y="207"/>
                    </a:lnTo>
                    <a:lnTo>
                      <a:pt x="642" y="305"/>
                    </a:lnTo>
                    <a:lnTo>
                      <a:pt x="743" y="412"/>
                    </a:lnTo>
                    <a:lnTo>
                      <a:pt x="839" y="531"/>
                    </a:lnTo>
                    <a:lnTo>
                      <a:pt x="932" y="659"/>
                    </a:lnTo>
                    <a:lnTo>
                      <a:pt x="1026" y="797"/>
                    </a:lnTo>
                    <a:lnTo>
                      <a:pt x="1064" y="924"/>
                    </a:lnTo>
                    <a:lnTo>
                      <a:pt x="1093" y="1028"/>
                    </a:lnTo>
                    <a:lnTo>
                      <a:pt x="1111" y="1117"/>
                    </a:lnTo>
                    <a:lnTo>
                      <a:pt x="1121" y="1199"/>
                    </a:lnTo>
                    <a:lnTo>
                      <a:pt x="1123" y="1281"/>
                    </a:lnTo>
                    <a:lnTo>
                      <a:pt x="1116" y="1372"/>
                    </a:lnTo>
                    <a:lnTo>
                      <a:pt x="1103" y="1480"/>
                    </a:lnTo>
                    <a:lnTo>
                      <a:pt x="1084" y="1613"/>
                    </a:lnTo>
                    <a:lnTo>
                      <a:pt x="882" y="1673"/>
                    </a:lnTo>
                    <a:lnTo>
                      <a:pt x="696" y="1684"/>
                    </a:lnTo>
                    <a:lnTo>
                      <a:pt x="530" y="1650"/>
                    </a:lnTo>
                    <a:lnTo>
                      <a:pt x="388" y="1580"/>
                    </a:lnTo>
                    <a:lnTo>
                      <a:pt x="274" y="1475"/>
                    </a:lnTo>
                    <a:lnTo>
                      <a:pt x="193" y="1345"/>
                    </a:lnTo>
                    <a:lnTo>
                      <a:pt x="151" y="1192"/>
                    </a:lnTo>
                    <a:lnTo>
                      <a:pt x="152" y="1026"/>
                    </a:lnTo>
                    <a:lnTo>
                      <a:pt x="160" y="1013"/>
                    </a:lnTo>
                    <a:lnTo>
                      <a:pt x="158" y="1005"/>
                    </a:lnTo>
                    <a:lnTo>
                      <a:pt x="151" y="1000"/>
                    </a:lnTo>
                    <a:lnTo>
                      <a:pt x="140" y="999"/>
                    </a:lnTo>
                    <a:lnTo>
                      <a:pt x="127" y="995"/>
                    </a:lnTo>
                    <a:lnTo>
                      <a:pt x="119" y="991"/>
                    </a:lnTo>
                    <a:lnTo>
                      <a:pt x="118" y="982"/>
                    </a:lnTo>
                    <a:lnTo>
                      <a:pt x="128" y="971"/>
                    </a:lnTo>
                    <a:lnTo>
                      <a:pt x="112" y="932"/>
                    </a:lnTo>
                    <a:lnTo>
                      <a:pt x="96" y="894"/>
                    </a:lnTo>
                    <a:lnTo>
                      <a:pt x="79" y="855"/>
                    </a:lnTo>
                    <a:lnTo>
                      <a:pt x="64" y="817"/>
                    </a:lnTo>
                    <a:lnTo>
                      <a:pt x="48" y="778"/>
                    </a:lnTo>
                    <a:lnTo>
                      <a:pt x="32" y="739"/>
                    </a:lnTo>
                    <a:lnTo>
                      <a:pt x="15" y="701"/>
                    </a:lnTo>
                    <a:lnTo>
                      <a:pt x="0" y="663"/>
                    </a:lnTo>
                    <a:lnTo>
                      <a:pt x="14" y="627"/>
                    </a:lnTo>
                    <a:lnTo>
                      <a:pt x="29" y="592"/>
                    </a:lnTo>
                    <a:lnTo>
                      <a:pt x="44" y="555"/>
                    </a:lnTo>
                    <a:lnTo>
                      <a:pt x="59" y="521"/>
                    </a:lnTo>
                    <a:lnTo>
                      <a:pt x="74" y="485"/>
                    </a:lnTo>
                    <a:lnTo>
                      <a:pt x="89" y="450"/>
                    </a:lnTo>
                    <a:lnTo>
                      <a:pt x="104" y="415"/>
                    </a:lnTo>
                    <a:lnTo>
                      <a:pt x="119" y="381"/>
                    </a:lnTo>
                    <a:lnTo>
                      <a:pt x="127" y="336"/>
                    </a:lnTo>
                    <a:lnTo>
                      <a:pt x="131" y="288"/>
                    </a:lnTo>
                    <a:lnTo>
                      <a:pt x="131" y="239"/>
                    </a:lnTo>
                    <a:lnTo>
                      <a:pt x="132" y="191"/>
                    </a:lnTo>
                    <a:lnTo>
                      <a:pt x="132" y="140"/>
                    </a:lnTo>
                    <a:lnTo>
                      <a:pt x="133" y="92"/>
                    </a:lnTo>
                    <a:lnTo>
                      <a:pt x="137" y="44"/>
                    </a:lnTo>
                    <a:lnTo>
                      <a:pt x="146"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2" name="Freeform 621">
                <a:extLst>
                  <a:ext uri="{FF2B5EF4-FFF2-40B4-BE49-F238E27FC236}">
                    <a16:creationId xmlns:a16="http://schemas.microsoft.com/office/drawing/2014/main" id="{E62D265D-698C-9341-81AA-F618B2ECBD2E}"/>
                  </a:ext>
                </a:extLst>
              </p:cNvPr>
              <p:cNvSpPr>
                <a:spLocks/>
              </p:cNvSpPr>
              <p:nvPr/>
            </p:nvSpPr>
            <p:spPr bwMode="auto">
              <a:xfrm>
                <a:off x="4668" y="3628"/>
                <a:ext cx="267" cy="363"/>
              </a:xfrm>
              <a:custGeom>
                <a:avLst/>
                <a:gdLst>
                  <a:gd name="T0" fmla="*/ 78 w 534"/>
                  <a:gd name="T1" fmla="*/ 31 h 724"/>
                  <a:gd name="T2" fmla="*/ 57 w 534"/>
                  <a:gd name="T3" fmla="*/ 70 h 724"/>
                  <a:gd name="T4" fmla="*/ 39 w 534"/>
                  <a:gd name="T5" fmla="*/ 105 h 724"/>
                  <a:gd name="T6" fmla="*/ 26 w 534"/>
                  <a:gd name="T7" fmla="*/ 134 h 724"/>
                  <a:gd name="T8" fmla="*/ 20 w 534"/>
                  <a:gd name="T9" fmla="*/ 159 h 724"/>
                  <a:gd name="T10" fmla="*/ 22 w 534"/>
                  <a:gd name="T11" fmla="*/ 182 h 724"/>
                  <a:gd name="T12" fmla="*/ 35 w 534"/>
                  <a:gd name="T13" fmla="*/ 205 h 724"/>
                  <a:gd name="T14" fmla="*/ 60 w 534"/>
                  <a:gd name="T15" fmla="*/ 228 h 724"/>
                  <a:gd name="T16" fmla="*/ 100 w 534"/>
                  <a:gd name="T17" fmla="*/ 253 h 724"/>
                  <a:gd name="T18" fmla="*/ 89 w 534"/>
                  <a:gd name="T19" fmla="*/ 259 h 724"/>
                  <a:gd name="T20" fmla="*/ 77 w 534"/>
                  <a:gd name="T21" fmla="*/ 266 h 724"/>
                  <a:gd name="T22" fmla="*/ 63 w 534"/>
                  <a:gd name="T23" fmla="*/ 275 h 724"/>
                  <a:gd name="T24" fmla="*/ 50 w 534"/>
                  <a:gd name="T25" fmla="*/ 285 h 724"/>
                  <a:gd name="T26" fmla="*/ 36 w 534"/>
                  <a:gd name="T27" fmla="*/ 293 h 724"/>
                  <a:gd name="T28" fmla="*/ 22 w 534"/>
                  <a:gd name="T29" fmla="*/ 302 h 724"/>
                  <a:gd name="T30" fmla="*/ 10 w 534"/>
                  <a:gd name="T31" fmla="*/ 310 h 724"/>
                  <a:gd name="T32" fmla="*/ 0 w 534"/>
                  <a:gd name="T33" fmla="*/ 315 h 724"/>
                  <a:gd name="T34" fmla="*/ 3 w 534"/>
                  <a:gd name="T35" fmla="*/ 323 h 724"/>
                  <a:gd name="T36" fmla="*/ 8 w 534"/>
                  <a:gd name="T37" fmla="*/ 330 h 724"/>
                  <a:gd name="T38" fmla="*/ 14 w 534"/>
                  <a:gd name="T39" fmla="*/ 334 h 724"/>
                  <a:gd name="T40" fmla="*/ 21 w 534"/>
                  <a:gd name="T41" fmla="*/ 339 h 724"/>
                  <a:gd name="T42" fmla="*/ 27 w 534"/>
                  <a:gd name="T43" fmla="*/ 343 h 724"/>
                  <a:gd name="T44" fmla="*/ 33 w 534"/>
                  <a:gd name="T45" fmla="*/ 348 h 724"/>
                  <a:gd name="T46" fmla="*/ 37 w 534"/>
                  <a:gd name="T47" fmla="*/ 354 h 724"/>
                  <a:gd name="T48" fmla="*/ 41 w 534"/>
                  <a:gd name="T49" fmla="*/ 363 h 724"/>
                  <a:gd name="T50" fmla="*/ 66 w 534"/>
                  <a:gd name="T51" fmla="*/ 350 h 724"/>
                  <a:gd name="T52" fmla="*/ 90 w 534"/>
                  <a:gd name="T53" fmla="*/ 337 h 724"/>
                  <a:gd name="T54" fmla="*/ 115 w 534"/>
                  <a:gd name="T55" fmla="*/ 323 h 724"/>
                  <a:gd name="T56" fmla="*/ 139 w 534"/>
                  <a:gd name="T57" fmla="*/ 311 h 724"/>
                  <a:gd name="T58" fmla="*/ 163 w 534"/>
                  <a:gd name="T59" fmla="*/ 298 h 724"/>
                  <a:gd name="T60" fmla="*/ 188 w 534"/>
                  <a:gd name="T61" fmla="*/ 285 h 724"/>
                  <a:gd name="T62" fmla="*/ 212 w 534"/>
                  <a:gd name="T63" fmla="*/ 271 h 724"/>
                  <a:gd name="T64" fmla="*/ 237 w 534"/>
                  <a:gd name="T65" fmla="*/ 259 h 724"/>
                  <a:gd name="T66" fmla="*/ 258 w 534"/>
                  <a:gd name="T67" fmla="*/ 237 h 724"/>
                  <a:gd name="T68" fmla="*/ 267 w 534"/>
                  <a:gd name="T69" fmla="*/ 221 h 724"/>
                  <a:gd name="T70" fmla="*/ 266 w 534"/>
                  <a:gd name="T71" fmla="*/ 209 h 724"/>
                  <a:gd name="T72" fmla="*/ 256 w 534"/>
                  <a:gd name="T73" fmla="*/ 201 h 724"/>
                  <a:gd name="T74" fmla="*/ 237 w 534"/>
                  <a:gd name="T75" fmla="*/ 194 h 724"/>
                  <a:gd name="T76" fmla="*/ 211 w 534"/>
                  <a:gd name="T77" fmla="*/ 187 h 724"/>
                  <a:gd name="T78" fmla="*/ 179 w 534"/>
                  <a:gd name="T79" fmla="*/ 180 h 724"/>
                  <a:gd name="T80" fmla="*/ 142 w 534"/>
                  <a:gd name="T81" fmla="*/ 172 h 724"/>
                  <a:gd name="T82" fmla="*/ 148 w 534"/>
                  <a:gd name="T83" fmla="*/ 160 h 724"/>
                  <a:gd name="T84" fmla="*/ 155 w 534"/>
                  <a:gd name="T85" fmla="*/ 149 h 724"/>
                  <a:gd name="T86" fmla="*/ 162 w 534"/>
                  <a:gd name="T87" fmla="*/ 137 h 724"/>
                  <a:gd name="T88" fmla="*/ 169 w 534"/>
                  <a:gd name="T89" fmla="*/ 126 h 724"/>
                  <a:gd name="T90" fmla="*/ 175 w 534"/>
                  <a:gd name="T91" fmla="*/ 114 h 724"/>
                  <a:gd name="T92" fmla="*/ 182 w 534"/>
                  <a:gd name="T93" fmla="*/ 103 h 724"/>
                  <a:gd name="T94" fmla="*/ 189 w 534"/>
                  <a:gd name="T95" fmla="*/ 92 h 724"/>
                  <a:gd name="T96" fmla="*/ 196 w 534"/>
                  <a:gd name="T97" fmla="*/ 80 h 724"/>
                  <a:gd name="T98" fmla="*/ 185 w 534"/>
                  <a:gd name="T99" fmla="*/ 42 h 724"/>
                  <a:gd name="T100" fmla="*/ 170 w 534"/>
                  <a:gd name="T101" fmla="*/ 17 h 724"/>
                  <a:gd name="T102" fmla="*/ 152 w 534"/>
                  <a:gd name="T103" fmla="*/ 4 h 724"/>
                  <a:gd name="T104" fmla="*/ 133 w 534"/>
                  <a:gd name="T105" fmla="*/ 0 h 724"/>
                  <a:gd name="T106" fmla="*/ 113 w 534"/>
                  <a:gd name="T107" fmla="*/ 3 h 724"/>
                  <a:gd name="T108" fmla="*/ 97 w 534"/>
                  <a:gd name="T109" fmla="*/ 11 h 724"/>
                  <a:gd name="T110" fmla="*/ 84 w 534"/>
                  <a:gd name="T111" fmla="*/ 20 h 724"/>
                  <a:gd name="T112" fmla="*/ 78 w 53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724"/>
                  <a:gd name="T173" fmla="*/ 534 w 53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724">
                    <a:moveTo>
                      <a:pt x="157" y="61"/>
                    </a:moveTo>
                    <a:lnTo>
                      <a:pt x="114" y="140"/>
                    </a:lnTo>
                    <a:lnTo>
                      <a:pt x="79" y="209"/>
                    </a:lnTo>
                    <a:lnTo>
                      <a:pt x="52" y="267"/>
                    </a:lnTo>
                    <a:lnTo>
                      <a:pt x="40" y="318"/>
                    </a:lnTo>
                    <a:lnTo>
                      <a:pt x="44" y="363"/>
                    </a:lnTo>
                    <a:lnTo>
                      <a:pt x="70" y="409"/>
                    </a:lnTo>
                    <a:lnTo>
                      <a:pt x="121" y="455"/>
                    </a:lnTo>
                    <a:lnTo>
                      <a:pt x="201" y="505"/>
                    </a:lnTo>
                    <a:lnTo>
                      <a:pt x="178" y="516"/>
                    </a:lnTo>
                    <a:lnTo>
                      <a:pt x="154" y="531"/>
                    </a:lnTo>
                    <a:lnTo>
                      <a:pt x="127" y="549"/>
                    </a:lnTo>
                    <a:lnTo>
                      <a:pt x="101" y="568"/>
                    </a:lnTo>
                    <a:lnTo>
                      <a:pt x="72" y="585"/>
                    </a:lnTo>
                    <a:lnTo>
                      <a:pt x="45" y="603"/>
                    </a:lnTo>
                    <a:lnTo>
                      <a:pt x="20" y="618"/>
                    </a:lnTo>
                    <a:lnTo>
                      <a:pt x="0" y="629"/>
                    </a:lnTo>
                    <a:lnTo>
                      <a:pt x="6" y="645"/>
                    </a:lnTo>
                    <a:lnTo>
                      <a:pt x="16" y="658"/>
                    </a:lnTo>
                    <a:lnTo>
                      <a:pt x="28" y="667"/>
                    </a:lnTo>
                    <a:lnTo>
                      <a:pt x="42" y="677"/>
                    </a:lnTo>
                    <a:lnTo>
                      <a:pt x="54" y="684"/>
                    </a:lnTo>
                    <a:lnTo>
                      <a:pt x="65" y="694"/>
                    </a:lnTo>
                    <a:lnTo>
                      <a:pt x="75" y="707"/>
                    </a:lnTo>
                    <a:lnTo>
                      <a:pt x="83" y="724"/>
                    </a:lnTo>
                    <a:lnTo>
                      <a:pt x="132" y="698"/>
                    </a:lnTo>
                    <a:lnTo>
                      <a:pt x="181" y="672"/>
                    </a:lnTo>
                    <a:lnTo>
                      <a:pt x="230" y="645"/>
                    </a:lnTo>
                    <a:lnTo>
                      <a:pt x="279" y="620"/>
                    </a:lnTo>
                    <a:lnTo>
                      <a:pt x="327" y="594"/>
                    </a:lnTo>
                    <a:lnTo>
                      <a:pt x="376" y="568"/>
                    </a:lnTo>
                    <a:lnTo>
                      <a:pt x="425" y="541"/>
                    </a:lnTo>
                    <a:lnTo>
                      <a:pt x="474" y="516"/>
                    </a:lnTo>
                    <a:lnTo>
                      <a:pt x="516" y="472"/>
                    </a:lnTo>
                    <a:lnTo>
                      <a:pt x="534" y="441"/>
                    </a:lnTo>
                    <a:lnTo>
                      <a:pt x="532" y="417"/>
                    </a:lnTo>
                    <a:lnTo>
                      <a:pt x="512" y="401"/>
                    </a:lnTo>
                    <a:lnTo>
                      <a:pt x="474" y="386"/>
                    </a:lnTo>
                    <a:lnTo>
                      <a:pt x="423" y="373"/>
                    </a:lnTo>
                    <a:lnTo>
                      <a:pt x="358" y="360"/>
                    </a:lnTo>
                    <a:lnTo>
                      <a:pt x="284" y="343"/>
                    </a:lnTo>
                    <a:lnTo>
                      <a:pt x="296" y="320"/>
                    </a:lnTo>
                    <a:lnTo>
                      <a:pt x="310" y="297"/>
                    </a:lnTo>
                    <a:lnTo>
                      <a:pt x="324" y="274"/>
                    </a:lnTo>
                    <a:lnTo>
                      <a:pt x="338" y="252"/>
                    </a:lnTo>
                    <a:lnTo>
                      <a:pt x="350" y="228"/>
                    </a:lnTo>
                    <a:lnTo>
                      <a:pt x="365" y="205"/>
                    </a:lnTo>
                    <a:lnTo>
                      <a:pt x="378" y="183"/>
                    </a:lnTo>
                    <a:lnTo>
                      <a:pt x="393" y="160"/>
                    </a:lnTo>
                    <a:lnTo>
                      <a:pt x="371" y="83"/>
                    </a:lnTo>
                    <a:lnTo>
                      <a:pt x="341" y="34"/>
                    </a:lnTo>
                    <a:lnTo>
                      <a:pt x="305" y="7"/>
                    </a:lnTo>
                    <a:lnTo>
                      <a:pt x="266" y="0"/>
                    </a:lnTo>
                    <a:lnTo>
                      <a:pt x="227" y="5"/>
                    </a:lnTo>
                    <a:lnTo>
                      <a:pt x="195" y="21"/>
                    </a:lnTo>
                    <a:lnTo>
                      <a:pt x="169" y="40"/>
                    </a:lnTo>
                    <a:lnTo>
                      <a:pt x="157" y="6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3" name="Freeform 622">
                <a:extLst>
                  <a:ext uri="{FF2B5EF4-FFF2-40B4-BE49-F238E27FC236}">
                    <a16:creationId xmlns:a16="http://schemas.microsoft.com/office/drawing/2014/main" id="{A75A7218-AEAB-E14A-9249-5849A2E69D4B}"/>
                  </a:ext>
                </a:extLst>
              </p:cNvPr>
              <p:cNvSpPr>
                <a:spLocks/>
              </p:cNvSpPr>
              <p:nvPr/>
            </p:nvSpPr>
            <p:spPr bwMode="auto">
              <a:xfrm>
                <a:off x="4676" y="3628"/>
                <a:ext cx="259" cy="363"/>
              </a:xfrm>
              <a:custGeom>
                <a:avLst/>
                <a:gdLst>
                  <a:gd name="T0" fmla="*/ 71 w 519"/>
                  <a:gd name="T1" fmla="*/ 31 h 724"/>
                  <a:gd name="T2" fmla="*/ 50 w 519"/>
                  <a:gd name="T3" fmla="*/ 70 h 724"/>
                  <a:gd name="T4" fmla="*/ 34 w 519"/>
                  <a:gd name="T5" fmla="*/ 104 h 724"/>
                  <a:gd name="T6" fmla="*/ 22 w 519"/>
                  <a:gd name="T7" fmla="*/ 133 h 724"/>
                  <a:gd name="T8" fmla="*/ 18 w 519"/>
                  <a:gd name="T9" fmla="*/ 159 h 724"/>
                  <a:gd name="T10" fmla="*/ 22 w 519"/>
                  <a:gd name="T11" fmla="*/ 182 h 724"/>
                  <a:gd name="T12" fmla="*/ 37 w 519"/>
                  <a:gd name="T13" fmla="*/ 204 h 724"/>
                  <a:gd name="T14" fmla="*/ 63 w 519"/>
                  <a:gd name="T15" fmla="*/ 227 h 724"/>
                  <a:gd name="T16" fmla="*/ 104 w 519"/>
                  <a:gd name="T17" fmla="*/ 253 h 724"/>
                  <a:gd name="T18" fmla="*/ 96 w 519"/>
                  <a:gd name="T19" fmla="*/ 258 h 724"/>
                  <a:gd name="T20" fmla="*/ 86 w 519"/>
                  <a:gd name="T21" fmla="*/ 267 h 724"/>
                  <a:gd name="T22" fmla="*/ 72 w 519"/>
                  <a:gd name="T23" fmla="*/ 276 h 724"/>
                  <a:gd name="T24" fmla="*/ 57 w 519"/>
                  <a:gd name="T25" fmla="*/ 288 h 724"/>
                  <a:gd name="T26" fmla="*/ 41 w 519"/>
                  <a:gd name="T27" fmla="*/ 298 h 724"/>
                  <a:gd name="T28" fmla="*/ 25 w 519"/>
                  <a:gd name="T29" fmla="*/ 307 h 724"/>
                  <a:gd name="T30" fmla="*/ 11 w 519"/>
                  <a:gd name="T31" fmla="*/ 315 h 724"/>
                  <a:gd name="T32" fmla="*/ 0 w 519"/>
                  <a:gd name="T33" fmla="*/ 322 h 724"/>
                  <a:gd name="T34" fmla="*/ 2 w 519"/>
                  <a:gd name="T35" fmla="*/ 328 h 724"/>
                  <a:gd name="T36" fmla="*/ 7 w 519"/>
                  <a:gd name="T37" fmla="*/ 334 h 724"/>
                  <a:gd name="T38" fmla="*/ 11 w 519"/>
                  <a:gd name="T39" fmla="*/ 338 h 724"/>
                  <a:gd name="T40" fmla="*/ 17 w 519"/>
                  <a:gd name="T41" fmla="*/ 342 h 724"/>
                  <a:gd name="T42" fmla="*/ 21 w 519"/>
                  <a:gd name="T43" fmla="*/ 345 h 724"/>
                  <a:gd name="T44" fmla="*/ 26 w 519"/>
                  <a:gd name="T45" fmla="*/ 349 h 724"/>
                  <a:gd name="T46" fmla="*/ 30 w 519"/>
                  <a:gd name="T47" fmla="*/ 355 h 724"/>
                  <a:gd name="T48" fmla="*/ 34 w 519"/>
                  <a:gd name="T49" fmla="*/ 363 h 724"/>
                  <a:gd name="T50" fmla="*/ 58 w 519"/>
                  <a:gd name="T51" fmla="*/ 350 h 724"/>
                  <a:gd name="T52" fmla="*/ 83 w 519"/>
                  <a:gd name="T53" fmla="*/ 337 h 724"/>
                  <a:gd name="T54" fmla="*/ 107 w 519"/>
                  <a:gd name="T55" fmla="*/ 323 h 724"/>
                  <a:gd name="T56" fmla="*/ 132 w 519"/>
                  <a:gd name="T57" fmla="*/ 311 h 724"/>
                  <a:gd name="T58" fmla="*/ 156 w 519"/>
                  <a:gd name="T59" fmla="*/ 298 h 724"/>
                  <a:gd name="T60" fmla="*/ 180 w 519"/>
                  <a:gd name="T61" fmla="*/ 285 h 724"/>
                  <a:gd name="T62" fmla="*/ 205 w 519"/>
                  <a:gd name="T63" fmla="*/ 271 h 724"/>
                  <a:gd name="T64" fmla="*/ 229 w 519"/>
                  <a:gd name="T65" fmla="*/ 259 h 724"/>
                  <a:gd name="T66" fmla="*/ 250 w 519"/>
                  <a:gd name="T67" fmla="*/ 237 h 724"/>
                  <a:gd name="T68" fmla="*/ 259 w 519"/>
                  <a:gd name="T69" fmla="*/ 221 h 724"/>
                  <a:gd name="T70" fmla="*/ 258 w 519"/>
                  <a:gd name="T71" fmla="*/ 209 h 724"/>
                  <a:gd name="T72" fmla="*/ 248 w 519"/>
                  <a:gd name="T73" fmla="*/ 201 h 724"/>
                  <a:gd name="T74" fmla="*/ 229 w 519"/>
                  <a:gd name="T75" fmla="*/ 194 h 724"/>
                  <a:gd name="T76" fmla="*/ 204 w 519"/>
                  <a:gd name="T77" fmla="*/ 187 h 724"/>
                  <a:gd name="T78" fmla="*/ 171 w 519"/>
                  <a:gd name="T79" fmla="*/ 180 h 724"/>
                  <a:gd name="T80" fmla="*/ 134 w 519"/>
                  <a:gd name="T81" fmla="*/ 172 h 724"/>
                  <a:gd name="T82" fmla="*/ 140 w 519"/>
                  <a:gd name="T83" fmla="*/ 160 h 724"/>
                  <a:gd name="T84" fmla="*/ 147 w 519"/>
                  <a:gd name="T85" fmla="*/ 149 h 724"/>
                  <a:gd name="T86" fmla="*/ 154 w 519"/>
                  <a:gd name="T87" fmla="*/ 137 h 724"/>
                  <a:gd name="T88" fmla="*/ 161 w 519"/>
                  <a:gd name="T89" fmla="*/ 126 h 724"/>
                  <a:gd name="T90" fmla="*/ 167 w 519"/>
                  <a:gd name="T91" fmla="*/ 114 h 724"/>
                  <a:gd name="T92" fmla="*/ 175 w 519"/>
                  <a:gd name="T93" fmla="*/ 103 h 724"/>
                  <a:gd name="T94" fmla="*/ 181 w 519"/>
                  <a:gd name="T95" fmla="*/ 92 h 724"/>
                  <a:gd name="T96" fmla="*/ 189 w 519"/>
                  <a:gd name="T97" fmla="*/ 80 h 724"/>
                  <a:gd name="T98" fmla="*/ 178 w 519"/>
                  <a:gd name="T99" fmla="*/ 42 h 724"/>
                  <a:gd name="T100" fmla="*/ 163 w 519"/>
                  <a:gd name="T101" fmla="*/ 17 h 724"/>
                  <a:gd name="T102" fmla="*/ 145 w 519"/>
                  <a:gd name="T103" fmla="*/ 4 h 724"/>
                  <a:gd name="T104" fmla="*/ 125 w 519"/>
                  <a:gd name="T105" fmla="*/ 0 h 724"/>
                  <a:gd name="T106" fmla="*/ 106 w 519"/>
                  <a:gd name="T107" fmla="*/ 3 h 724"/>
                  <a:gd name="T108" fmla="*/ 90 w 519"/>
                  <a:gd name="T109" fmla="*/ 11 h 724"/>
                  <a:gd name="T110" fmla="*/ 77 w 519"/>
                  <a:gd name="T111" fmla="*/ 20 h 724"/>
                  <a:gd name="T112" fmla="*/ 71 w 51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9"/>
                  <a:gd name="T172" fmla="*/ 0 h 724"/>
                  <a:gd name="T173" fmla="*/ 519 w 51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9" h="724">
                    <a:moveTo>
                      <a:pt x="142" y="61"/>
                    </a:moveTo>
                    <a:lnTo>
                      <a:pt x="101" y="140"/>
                    </a:lnTo>
                    <a:lnTo>
                      <a:pt x="68" y="208"/>
                    </a:lnTo>
                    <a:lnTo>
                      <a:pt x="44" y="266"/>
                    </a:lnTo>
                    <a:lnTo>
                      <a:pt x="37" y="317"/>
                    </a:lnTo>
                    <a:lnTo>
                      <a:pt x="45" y="362"/>
                    </a:lnTo>
                    <a:lnTo>
                      <a:pt x="74" y="407"/>
                    </a:lnTo>
                    <a:lnTo>
                      <a:pt x="127" y="452"/>
                    </a:lnTo>
                    <a:lnTo>
                      <a:pt x="208" y="504"/>
                    </a:lnTo>
                    <a:lnTo>
                      <a:pt x="193" y="515"/>
                    </a:lnTo>
                    <a:lnTo>
                      <a:pt x="172" y="533"/>
                    </a:lnTo>
                    <a:lnTo>
                      <a:pt x="144" y="551"/>
                    </a:lnTo>
                    <a:lnTo>
                      <a:pt x="114" y="574"/>
                    </a:lnTo>
                    <a:lnTo>
                      <a:pt x="82" y="594"/>
                    </a:lnTo>
                    <a:lnTo>
                      <a:pt x="50" y="613"/>
                    </a:lnTo>
                    <a:lnTo>
                      <a:pt x="22" y="629"/>
                    </a:lnTo>
                    <a:lnTo>
                      <a:pt x="0" y="642"/>
                    </a:lnTo>
                    <a:lnTo>
                      <a:pt x="5" y="655"/>
                    </a:lnTo>
                    <a:lnTo>
                      <a:pt x="14" y="667"/>
                    </a:lnTo>
                    <a:lnTo>
                      <a:pt x="23" y="674"/>
                    </a:lnTo>
                    <a:lnTo>
                      <a:pt x="34" y="682"/>
                    </a:lnTo>
                    <a:lnTo>
                      <a:pt x="43" y="688"/>
                    </a:lnTo>
                    <a:lnTo>
                      <a:pt x="53" y="697"/>
                    </a:lnTo>
                    <a:lnTo>
                      <a:pt x="60" y="708"/>
                    </a:lnTo>
                    <a:lnTo>
                      <a:pt x="68" y="724"/>
                    </a:lnTo>
                    <a:lnTo>
                      <a:pt x="117" y="698"/>
                    </a:lnTo>
                    <a:lnTo>
                      <a:pt x="166" y="672"/>
                    </a:lnTo>
                    <a:lnTo>
                      <a:pt x="215" y="645"/>
                    </a:lnTo>
                    <a:lnTo>
                      <a:pt x="264" y="620"/>
                    </a:lnTo>
                    <a:lnTo>
                      <a:pt x="312" y="594"/>
                    </a:lnTo>
                    <a:lnTo>
                      <a:pt x="361" y="568"/>
                    </a:lnTo>
                    <a:lnTo>
                      <a:pt x="410" y="541"/>
                    </a:lnTo>
                    <a:lnTo>
                      <a:pt x="459" y="516"/>
                    </a:lnTo>
                    <a:lnTo>
                      <a:pt x="501" y="472"/>
                    </a:lnTo>
                    <a:lnTo>
                      <a:pt x="519" y="441"/>
                    </a:lnTo>
                    <a:lnTo>
                      <a:pt x="517" y="417"/>
                    </a:lnTo>
                    <a:lnTo>
                      <a:pt x="497" y="401"/>
                    </a:lnTo>
                    <a:lnTo>
                      <a:pt x="459" y="386"/>
                    </a:lnTo>
                    <a:lnTo>
                      <a:pt x="408" y="373"/>
                    </a:lnTo>
                    <a:lnTo>
                      <a:pt x="343" y="360"/>
                    </a:lnTo>
                    <a:lnTo>
                      <a:pt x="269" y="343"/>
                    </a:lnTo>
                    <a:lnTo>
                      <a:pt x="281" y="320"/>
                    </a:lnTo>
                    <a:lnTo>
                      <a:pt x="295" y="297"/>
                    </a:lnTo>
                    <a:lnTo>
                      <a:pt x="309" y="274"/>
                    </a:lnTo>
                    <a:lnTo>
                      <a:pt x="323" y="252"/>
                    </a:lnTo>
                    <a:lnTo>
                      <a:pt x="335" y="228"/>
                    </a:lnTo>
                    <a:lnTo>
                      <a:pt x="350" y="205"/>
                    </a:lnTo>
                    <a:lnTo>
                      <a:pt x="363" y="183"/>
                    </a:lnTo>
                    <a:lnTo>
                      <a:pt x="378" y="160"/>
                    </a:lnTo>
                    <a:lnTo>
                      <a:pt x="356" y="83"/>
                    </a:lnTo>
                    <a:lnTo>
                      <a:pt x="326" y="34"/>
                    </a:lnTo>
                    <a:lnTo>
                      <a:pt x="290" y="7"/>
                    </a:lnTo>
                    <a:lnTo>
                      <a:pt x="251" y="0"/>
                    </a:lnTo>
                    <a:lnTo>
                      <a:pt x="212" y="5"/>
                    </a:lnTo>
                    <a:lnTo>
                      <a:pt x="180" y="21"/>
                    </a:lnTo>
                    <a:lnTo>
                      <a:pt x="154" y="40"/>
                    </a:lnTo>
                    <a:lnTo>
                      <a:pt x="142" y="61"/>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4" name="Freeform 623">
                <a:extLst>
                  <a:ext uri="{FF2B5EF4-FFF2-40B4-BE49-F238E27FC236}">
                    <a16:creationId xmlns:a16="http://schemas.microsoft.com/office/drawing/2014/main" id="{8311A78F-AFB2-F543-BC1F-D1382E69240A}"/>
                  </a:ext>
                </a:extLst>
              </p:cNvPr>
              <p:cNvSpPr>
                <a:spLocks/>
              </p:cNvSpPr>
              <p:nvPr/>
            </p:nvSpPr>
            <p:spPr bwMode="auto">
              <a:xfrm>
                <a:off x="4683" y="3628"/>
                <a:ext cx="252" cy="363"/>
              </a:xfrm>
              <a:custGeom>
                <a:avLst/>
                <a:gdLst>
                  <a:gd name="T0" fmla="*/ 63 w 504"/>
                  <a:gd name="T1" fmla="*/ 31 h 724"/>
                  <a:gd name="T2" fmla="*/ 44 w 504"/>
                  <a:gd name="T3" fmla="*/ 70 h 724"/>
                  <a:gd name="T4" fmla="*/ 28 w 504"/>
                  <a:gd name="T5" fmla="*/ 104 h 724"/>
                  <a:gd name="T6" fmla="*/ 19 w 504"/>
                  <a:gd name="T7" fmla="*/ 132 h 724"/>
                  <a:gd name="T8" fmla="*/ 17 w 504"/>
                  <a:gd name="T9" fmla="*/ 158 h 724"/>
                  <a:gd name="T10" fmla="*/ 23 w 504"/>
                  <a:gd name="T11" fmla="*/ 180 h 724"/>
                  <a:gd name="T12" fmla="*/ 39 w 504"/>
                  <a:gd name="T13" fmla="*/ 203 h 724"/>
                  <a:gd name="T14" fmla="*/ 67 w 504"/>
                  <a:gd name="T15" fmla="*/ 226 h 724"/>
                  <a:gd name="T16" fmla="*/ 108 w 504"/>
                  <a:gd name="T17" fmla="*/ 252 h 724"/>
                  <a:gd name="T18" fmla="*/ 104 w 504"/>
                  <a:gd name="T19" fmla="*/ 258 h 724"/>
                  <a:gd name="T20" fmla="*/ 95 w 504"/>
                  <a:gd name="T21" fmla="*/ 268 h 724"/>
                  <a:gd name="T22" fmla="*/ 81 w 504"/>
                  <a:gd name="T23" fmla="*/ 278 h 724"/>
                  <a:gd name="T24" fmla="*/ 64 w 504"/>
                  <a:gd name="T25" fmla="*/ 290 h 724"/>
                  <a:gd name="T26" fmla="*/ 46 w 504"/>
                  <a:gd name="T27" fmla="*/ 301 h 724"/>
                  <a:gd name="T28" fmla="*/ 28 w 504"/>
                  <a:gd name="T29" fmla="*/ 312 h 724"/>
                  <a:gd name="T30" fmla="*/ 12 w 504"/>
                  <a:gd name="T31" fmla="*/ 320 h 724"/>
                  <a:gd name="T32" fmla="*/ 0 w 504"/>
                  <a:gd name="T33" fmla="*/ 327 h 724"/>
                  <a:gd name="T34" fmla="*/ 2 w 504"/>
                  <a:gd name="T35" fmla="*/ 334 h 724"/>
                  <a:gd name="T36" fmla="*/ 6 w 504"/>
                  <a:gd name="T37" fmla="*/ 339 h 724"/>
                  <a:gd name="T38" fmla="*/ 10 w 504"/>
                  <a:gd name="T39" fmla="*/ 342 h 724"/>
                  <a:gd name="T40" fmla="*/ 14 w 504"/>
                  <a:gd name="T41" fmla="*/ 345 h 724"/>
                  <a:gd name="T42" fmla="*/ 17 w 504"/>
                  <a:gd name="T43" fmla="*/ 347 h 724"/>
                  <a:gd name="T44" fmla="*/ 20 w 504"/>
                  <a:gd name="T45" fmla="*/ 350 h 724"/>
                  <a:gd name="T46" fmla="*/ 24 w 504"/>
                  <a:gd name="T47" fmla="*/ 355 h 724"/>
                  <a:gd name="T48" fmla="*/ 27 w 504"/>
                  <a:gd name="T49" fmla="*/ 363 h 724"/>
                  <a:gd name="T50" fmla="*/ 51 w 504"/>
                  <a:gd name="T51" fmla="*/ 350 h 724"/>
                  <a:gd name="T52" fmla="*/ 76 w 504"/>
                  <a:gd name="T53" fmla="*/ 337 h 724"/>
                  <a:gd name="T54" fmla="*/ 100 w 504"/>
                  <a:gd name="T55" fmla="*/ 323 h 724"/>
                  <a:gd name="T56" fmla="*/ 125 w 504"/>
                  <a:gd name="T57" fmla="*/ 311 h 724"/>
                  <a:gd name="T58" fmla="*/ 149 w 504"/>
                  <a:gd name="T59" fmla="*/ 298 h 724"/>
                  <a:gd name="T60" fmla="*/ 173 w 504"/>
                  <a:gd name="T61" fmla="*/ 285 h 724"/>
                  <a:gd name="T62" fmla="*/ 198 w 504"/>
                  <a:gd name="T63" fmla="*/ 271 h 724"/>
                  <a:gd name="T64" fmla="*/ 222 w 504"/>
                  <a:gd name="T65" fmla="*/ 259 h 724"/>
                  <a:gd name="T66" fmla="*/ 243 w 504"/>
                  <a:gd name="T67" fmla="*/ 237 h 724"/>
                  <a:gd name="T68" fmla="*/ 252 w 504"/>
                  <a:gd name="T69" fmla="*/ 221 h 724"/>
                  <a:gd name="T70" fmla="*/ 251 w 504"/>
                  <a:gd name="T71" fmla="*/ 209 h 724"/>
                  <a:gd name="T72" fmla="*/ 241 w 504"/>
                  <a:gd name="T73" fmla="*/ 201 h 724"/>
                  <a:gd name="T74" fmla="*/ 222 w 504"/>
                  <a:gd name="T75" fmla="*/ 194 h 724"/>
                  <a:gd name="T76" fmla="*/ 197 w 504"/>
                  <a:gd name="T77" fmla="*/ 187 h 724"/>
                  <a:gd name="T78" fmla="*/ 164 w 504"/>
                  <a:gd name="T79" fmla="*/ 180 h 724"/>
                  <a:gd name="T80" fmla="*/ 127 w 504"/>
                  <a:gd name="T81" fmla="*/ 172 h 724"/>
                  <a:gd name="T82" fmla="*/ 133 w 504"/>
                  <a:gd name="T83" fmla="*/ 160 h 724"/>
                  <a:gd name="T84" fmla="*/ 140 w 504"/>
                  <a:gd name="T85" fmla="*/ 149 h 724"/>
                  <a:gd name="T86" fmla="*/ 147 w 504"/>
                  <a:gd name="T87" fmla="*/ 137 h 724"/>
                  <a:gd name="T88" fmla="*/ 154 w 504"/>
                  <a:gd name="T89" fmla="*/ 126 h 724"/>
                  <a:gd name="T90" fmla="*/ 160 w 504"/>
                  <a:gd name="T91" fmla="*/ 114 h 724"/>
                  <a:gd name="T92" fmla="*/ 168 w 504"/>
                  <a:gd name="T93" fmla="*/ 103 h 724"/>
                  <a:gd name="T94" fmla="*/ 174 w 504"/>
                  <a:gd name="T95" fmla="*/ 92 h 724"/>
                  <a:gd name="T96" fmla="*/ 182 w 504"/>
                  <a:gd name="T97" fmla="*/ 80 h 724"/>
                  <a:gd name="T98" fmla="*/ 171 w 504"/>
                  <a:gd name="T99" fmla="*/ 42 h 724"/>
                  <a:gd name="T100" fmla="*/ 156 w 504"/>
                  <a:gd name="T101" fmla="*/ 17 h 724"/>
                  <a:gd name="T102" fmla="*/ 138 w 504"/>
                  <a:gd name="T103" fmla="*/ 4 h 724"/>
                  <a:gd name="T104" fmla="*/ 118 w 504"/>
                  <a:gd name="T105" fmla="*/ 0 h 724"/>
                  <a:gd name="T106" fmla="*/ 99 w 504"/>
                  <a:gd name="T107" fmla="*/ 3 h 724"/>
                  <a:gd name="T108" fmla="*/ 83 w 504"/>
                  <a:gd name="T109" fmla="*/ 11 h 724"/>
                  <a:gd name="T110" fmla="*/ 70 w 504"/>
                  <a:gd name="T111" fmla="*/ 20 h 724"/>
                  <a:gd name="T112" fmla="*/ 63 w 50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04"/>
                  <a:gd name="T172" fmla="*/ 0 h 724"/>
                  <a:gd name="T173" fmla="*/ 504 w 50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04" h="724">
                    <a:moveTo>
                      <a:pt x="127" y="61"/>
                    </a:moveTo>
                    <a:lnTo>
                      <a:pt x="87" y="140"/>
                    </a:lnTo>
                    <a:lnTo>
                      <a:pt x="55" y="208"/>
                    </a:lnTo>
                    <a:lnTo>
                      <a:pt x="37" y="264"/>
                    </a:lnTo>
                    <a:lnTo>
                      <a:pt x="33" y="316"/>
                    </a:lnTo>
                    <a:lnTo>
                      <a:pt x="45" y="360"/>
                    </a:lnTo>
                    <a:lnTo>
                      <a:pt x="78" y="405"/>
                    </a:lnTo>
                    <a:lnTo>
                      <a:pt x="133" y="451"/>
                    </a:lnTo>
                    <a:lnTo>
                      <a:pt x="216" y="502"/>
                    </a:lnTo>
                    <a:lnTo>
                      <a:pt x="208" y="515"/>
                    </a:lnTo>
                    <a:lnTo>
                      <a:pt x="190" y="534"/>
                    </a:lnTo>
                    <a:lnTo>
                      <a:pt x="161" y="555"/>
                    </a:lnTo>
                    <a:lnTo>
                      <a:pt x="128" y="579"/>
                    </a:lnTo>
                    <a:lnTo>
                      <a:pt x="91" y="600"/>
                    </a:lnTo>
                    <a:lnTo>
                      <a:pt x="55" y="622"/>
                    </a:lnTo>
                    <a:lnTo>
                      <a:pt x="24" y="638"/>
                    </a:lnTo>
                    <a:lnTo>
                      <a:pt x="0" y="652"/>
                    </a:lnTo>
                    <a:lnTo>
                      <a:pt x="4" y="667"/>
                    </a:lnTo>
                    <a:lnTo>
                      <a:pt x="12" y="677"/>
                    </a:lnTo>
                    <a:lnTo>
                      <a:pt x="19" y="682"/>
                    </a:lnTo>
                    <a:lnTo>
                      <a:pt x="27" y="688"/>
                    </a:lnTo>
                    <a:lnTo>
                      <a:pt x="33" y="692"/>
                    </a:lnTo>
                    <a:lnTo>
                      <a:pt x="40" y="698"/>
                    </a:lnTo>
                    <a:lnTo>
                      <a:pt x="47" y="708"/>
                    </a:lnTo>
                    <a:lnTo>
                      <a:pt x="53" y="724"/>
                    </a:lnTo>
                    <a:lnTo>
                      <a:pt x="102" y="698"/>
                    </a:lnTo>
                    <a:lnTo>
                      <a:pt x="151" y="672"/>
                    </a:lnTo>
                    <a:lnTo>
                      <a:pt x="200" y="645"/>
                    </a:lnTo>
                    <a:lnTo>
                      <a:pt x="249" y="620"/>
                    </a:lnTo>
                    <a:lnTo>
                      <a:pt x="297" y="594"/>
                    </a:lnTo>
                    <a:lnTo>
                      <a:pt x="346" y="568"/>
                    </a:lnTo>
                    <a:lnTo>
                      <a:pt x="395" y="541"/>
                    </a:lnTo>
                    <a:lnTo>
                      <a:pt x="444" y="516"/>
                    </a:lnTo>
                    <a:lnTo>
                      <a:pt x="486" y="472"/>
                    </a:lnTo>
                    <a:lnTo>
                      <a:pt x="504" y="441"/>
                    </a:lnTo>
                    <a:lnTo>
                      <a:pt x="502" y="417"/>
                    </a:lnTo>
                    <a:lnTo>
                      <a:pt x="482" y="401"/>
                    </a:lnTo>
                    <a:lnTo>
                      <a:pt x="444" y="386"/>
                    </a:lnTo>
                    <a:lnTo>
                      <a:pt x="393" y="373"/>
                    </a:lnTo>
                    <a:lnTo>
                      <a:pt x="328" y="360"/>
                    </a:lnTo>
                    <a:lnTo>
                      <a:pt x="254" y="343"/>
                    </a:lnTo>
                    <a:lnTo>
                      <a:pt x="266" y="320"/>
                    </a:lnTo>
                    <a:lnTo>
                      <a:pt x="280" y="297"/>
                    </a:lnTo>
                    <a:lnTo>
                      <a:pt x="294" y="274"/>
                    </a:lnTo>
                    <a:lnTo>
                      <a:pt x="308" y="252"/>
                    </a:lnTo>
                    <a:lnTo>
                      <a:pt x="320" y="228"/>
                    </a:lnTo>
                    <a:lnTo>
                      <a:pt x="335" y="205"/>
                    </a:lnTo>
                    <a:lnTo>
                      <a:pt x="348" y="183"/>
                    </a:lnTo>
                    <a:lnTo>
                      <a:pt x="363" y="160"/>
                    </a:lnTo>
                    <a:lnTo>
                      <a:pt x="341" y="83"/>
                    </a:lnTo>
                    <a:lnTo>
                      <a:pt x="311" y="34"/>
                    </a:lnTo>
                    <a:lnTo>
                      <a:pt x="275" y="7"/>
                    </a:lnTo>
                    <a:lnTo>
                      <a:pt x="236" y="0"/>
                    </a:lnTo>
                    <a:lnTo>
                      <a:pt x="197" y="5"/>
                    </a:lnTo>
                    <a:lnTo>
                      <a:pt x="165" y="21"/>
                    </a:lnTo>
                    <a:lnTo>
                      <a:pt x="139" y="40"/>
                    </a:lnTo>
                    <a:lnTo>
                      <a:pt x="127" y="61"/>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5" name="Freeform 624">
                <a:extLst>
                  <a:ext uri="{FF2B5EF4-FFF2-40B4-BE49-F238E27FC236}">
                    <a16:creationId xmlns:a16="http://schemas.microsoft.com/office/drawing/2014/main" id="{EE028448-8D19-2E49-94C5-45D995B5DDB7}"/>
                  </a:ext>
                </a:extLst>
              </p:cNvPr>
              <p:cNvSpPr>
                <a:spLocks/>
              </p:cNvSpPr>
              <p:nvPr/>
            </p:nvSpPr>
            <p:spPr bwMode="auto">
              <a:xfrm>
                <a:off x="4691" y="3628"/>
                <a:ext cx="244" cy="363"/>
              </a:xfrm>
              <a:custGeom>
                <a:avLst/>
                <a:gdLst>
                  <a:gd name="T0" fmla="*/ 55 w 487"/>
                  <a:gd name="T1" fmla="*/ 31 h 724"/>
                  <a:gd name="T2" fmla="*/ 35 w 487"/>
                  <a:gd name="T3" fmla="*/ 70 h 724"/>
                  <a:gd name="T4" fmla="*/ 21 w 487"/>
                  <a:gd name="T5" fmla="*/ 104 h 724"/>
                  <a:gd name="T6" fmla="*/ 14 w 487"/>
                  <a:gd name="T7" fmla="*/ 132 h 724"/>
                  <a:gd name="T8" fmla="*/ 14 w 487"/>
                  <a:gd name="T9" fmla="*/ 158 h 724"/>
                  <a:gd name="T10" fmla="*/ 22 w 487"/>
                  <a:gd name="T11" fmla="*/ 179 h 724"/>
                  <a:gd name="T12" fmla="*/ 41 w 487"/>
                  <a:gd name="T13" fmla="*/ 202 h 724"/>
                  <a:gd name="T14" fmla="*/ 70 w 487"/>
                  <a:gd name="T15" fmla="*/ 224 h 724"/>
                  <a:gd name="T16" fmla="*/ 111 w 487"/>
                  <a:gd name="T17" fmla="*/ 250 h 724"/>
                  <a:gd name="T18" fmla="*/ 110 w 487"/>
                  <a:gd name="T19" fmla="*/ 257 h 724"/>
                  <a:gd name="T20" fmla="*/ 103 w 487"/>
                  <a:gd name="T21" fmla="*/ 268 h 724"/>
                  <a:gd name="T22" fmla="*/ 88 w 487"/>
                  <a:gd name="T23" fmla="*/ 280 h 724"/>
                  <a:gd name="T24" fmla="*/ 70 w 487"/>
                  <a:gd name="T25" fmla="*/ 293 h 724"/>
                  <a:gd name="T26" fmla="*/ 50 w 487"/>
                  <a:gd name="T27" fmla="*/ 305 h 724"/>
                  <a:gd name="T28" fmla="*/ 30 w 487"/>
                  <a:gd name="T29" fmla="*/ 317 h 724"/>
                  <a:gd name="T30" fmla="*/ 12 w 487"/>
                  <a:gd name="T31" fmla="*/ 326 h 724"/>
                  <a:gd name="T32" fmla="*/ 0 w 487"/>
                  <a:gd name="T33" fmla="*/ 333 h 724"/>
                  <a:gd name="T34" fmla="*/ 2 w 487"/>
                  <a:gd name="T35" fmla="*/ 339 h 724"/>
                  <a:gd name="T36" fmla="*/ 4 w 487"/>
                  <a:gd name="T37" fmla="*/ 343 h 724"/>
                  <a:gd name="T38" fmla="*/ 6 w 487"/>
                  <a:gd name="T39" fmla="*/ 346 h 724"/>
                  <a:gd name="T40" fmla="*/ 9 w 487"/>
                  <a:gd name="T41" fmla="*/ 347 h 724"/>
                  <a:gd name="T42" fmla="*/ 11 w 487"/>
                  <a:gd name="T43" fmla="*/ 348 h 724"/>
                  <a:gd name="T44" fmla="*/ 13 w 487"/>
                  <a:gd name="T45" fmla="*/ 351 h 724"/>
                  <a:gd name="T46" fmla="*/ 16 w 487"/>
                  <a:gd name="T47" fmla="*/ 355 h 724"/>
                  <a:gd name="T48" fmla="*/ 18 w 487"/>
                  <a:gd name="T49" fmla="*/ 363 h 724"/>
                  <a:gd name="T50" fmla="*/ 43 w 487"/>
                  <a:gd name="T51" fmla="*/ 350 h 724"/>
                  <a:gd name="T52" fmla="*/ 67 w 487"/>
                  <a:gd name="T53" fmla="*/ 337 h 724"/>
                  <a:gd name="T54" fmla="*/ 92 w 487"/>
                  <a:gd name="T55" fmla="*/ 323 h 724"/>
                  <a:gd name="T56" fmla="*/ 116 w 487"/>
                  <a:gd name="T57" fmla="*/ 311 h 724"/>
                  <a:gd name="T58" fmla="*/ 140 w 487"/>
                  <a:gd name="T59" fmla="*/ 298 h 724"/>
                  <a:gd name="T60" fmla="*/ 165 w 487"/>
                  <a:gd name="T61" fmla="*/ 285 h 724"/>
                  <a:gd name="T62" fmla="*/ 189 w 487"/>
                  <a:gd name="T63" fmla="*/ 271 h 724"/>
                  <a:gd name="T64" fmla="*/ 214 w 487"/>
                  <a:gd name="T65" fmla="*/ 259 h 724"/>
                  <a:gd name="T66" fmla="*/ 235 w 487"/>
                  <a:gd name="T67" fmla="*/ 237 h 724"/>
                  <a:gd name="T68" fmla="*/ 244 w 487"/>
                  <a:gd name="T69" fmla="*/ 221 h 724"/>
                  <a:gd name="T70" fmla="*/ 243 w 487"/>
                  <a:gd name="T71" fmla="*/ 209 h 724"/>
                  <a:gd name="T72" fmla="*/ 233 w 487"/>
                  <a:gd name="T73" fmla="*/ 201 h 724"/>
                  <a:gd name="T74" fmla="*/ 214 w 487"/>
                  <a:gd name="T75" fmla="*/ 194 h 724"/>
                  <a:gd name="T76" fmla="*/ 188 w 487"/>
                  <a:gd name="T77" fmla="*/ 187 h 724"/>
                  <a:gd name="T78" fmla="*/ 156 w 487"/>
                  <a:gd name="T79" fmla="*/ 180 h 724"/>
                  <a:gd name="T80" fmla="*/ 119 w 487"/>
                  <a:gd name="T81" fmla="*/ 172 h 724"/>
                  <a:gd name="T82" fmla="*/ 125 w 487"/>
                  <a:gd name="T83" fmla="*/ 160 h 724"/>
                  <a:gd name="T84" fmla="*/ 132 w 487"/>
                  <a:gd name="T85" fmla="*/ 149 h 724"/>
                  <a:gd name="T86" fmla="*/ 139 w 487"/>
                  <a:gd name="T87" fmla="*/ 137 h 724"/>
                  <a:gd name="T88" fmla="*/ 146 w 487"/>
                  <a:gd name="T89" fmla="*/ 126 h 724"/>
                  <a:gd name="T90" fmla="*/ 152 w 487"/>
                  <a:gd name="T91" fmla="*/ 114 h 724"/>
                  <a:gd name="T92" fmla="*/ 159 w 487"/>
                  <a:gd name="T93" fmla="*/ 103 h 724"/>
                  <a:gd name="T94" fmla="*/ 166 w 487"/>
                  <a:gd name="T95" fmla="*/ 92 h 724"/>
                  <a:gd name="T96" fmla="*/ 173 w 487"/>
                  <a:gd name="T97" fmla="*/ 80 h 724"/>
                  <a:gd name="T98" fmla="*/ 162 w 487"/>
                  <a:gd name="T99" fmla="*/ 42 h 724"/>
                  <a:gd name="T100" fmla="*/ 147 w 487"/>
                  <a:gd name="T101" fmla="*/ 17 h 724"/>
                  <a:gd name="T102" fmla="*/ 129 w 487"/>
                  <a:gd name="T103" fmla="*/ 4 h 724"/>
                  <a:gd name="T104" fmla="*/ 110 w 487"/>
                  <a:gd name="T105" fmla="*/ 0 h 724"/>
                  <a:gd name="T106" fmla="*/ 90 w 487"/>
                  <a:gd name="T107" fmla="*/ 3 h 724"/>
                  <a:gd name="T108" fmla="*/ 74 w 487"/>
                  <a:gd name="T109" fmla="*/ 11 h 724"/>
                  <a:gd name="T110" fmla="*/ 61 w 487"/>
                  <a:gd name="T111" fmla="*/ 20 h 724"/>
                  <a:gd name="T112" fmla="*/ 55 w 487"/>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87"/>
                  <a:gd name="T172" fmla="*/ 0 h 724"/>
                  <a:gd name="T173" fmla="*/ 487 w 487"/>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87" h="724">
                    <a:moveTo>
                      <a:pt x="110" y="61"/>
                    </a:moveTo>
                    <a:lnTo>
                      <a:pt x="70" y="140"/>
                    </a:lnTo>
                    <a:lnTo>
                      <a:pt x="42" y="208"/>
                    </a:lnTo>
                    <a:lnTo>
                      <a:pt x="27" y="264"/>
                    </a:lnTo>
                    <a:lnTo>
                      <a:pt x="27" y="315"/>
                    </a:lnTo>
                    <a:lnTo>
                      <a:pt x="43" y="358"/>
                    </a:lnTo>
                    <a:lnTo>
                      <a:pt x="81" y="402"/>
                    </a:lnTo>
                    <a:lnTo>
                      <a:pt x="139" y="447"/>
                    </a:lnTo>
                    <a:lnTo>
                      <a:pt x="222" y="499"/>
                    </a:lnTo>
                    <a:lnTo>
                      <a:pt x="220" y="513"/>
                    </a:lnTo>
                    <a:lnTo>
                      <a:pt x="205" y="534"/>
                    </a:lnTo>
                    <a:lnTo>
                      <a:pt x="176" y="558"/>
                    </a:lnTo>
                    <a:lnTo>
                      <a:pt x="140" y="584"/>
                    </a:lnTo>
                    <a:lnTo>
                      <a:pt x="99" y="609"/>
                    </a:lnTo>
                    <a:lnTo>
                      <a:pt x="59" y="632"/>
                    </a:lnTo>
                    <a:lnTo>
                      <a:pt x="23" y="650"/>
                    </a:lnTo>
                    <a:lnTo>
                      <a:pt x="0" y="664"/>
                    </a:lnTo>
                    <a:lnTo>
                      <a:pt x="3" y="677"/>
                    </a:lnTo>
                    <a:lnTo>
                      <a:pt x="7" y="685"/>
                    </a:lnTo>
                    <a:lnTo>
                      <a:pt x="12" y="690"/>
                    </a:lnTo>
                    <a:lnTo>
                      <a:pt x="17" y="693"/>
                    </a:lnTo>
                    <a:lnTo>
                      <a:pt x="21" y="694"/>
                    </a:lnTo>
                    <a:lnTo>
                      <a:pt x="26" y="700"/>
                    </a:lnTo>
                    <a:lnTo>
                      <a:pt x="31" y="708"/>
                    </a:lnTo>
                    <a:lnTo>
                      <a:pt x="36" y="724"/>
                    </a:lnTo>
                    <a:lnTo>
                      <a:pt x="85" y="698"/>
                    </a:lnTo>
                    <a:lnTo>
                      <a:pt x="134" y="672"/>
                    </a:lnTo>
                    <a:lnTo>
                      <a:pt x="183" y="645"/>
                    </a:lnTo>
                    <a:lnTo>
                      <a:pt x="232" y="620"/>
                    </a:lnTo>
                    <a:lnTo>
                      <a:pt x="280" y="594"/>
                    </a:lnTo>
                    <a:lnTo>
                      <a:pt x="329" y="568"/>
                    </a:lnTo>
                    <a:lnTo>
                      <a:pt x="378" y="541"/>
                    </a:lnTo>
                    <a:lnTo>
                      <a:pt x="427" y="516"/>
                    </a:lnTo>
                    <a:lnTo>
                      <a:pt x="469" y="472"/>
                    </a:lnTo>
                    <a:lnTo>
                      <a:pt x="487" y="441"/>
                    </a:lnTo>
                    <a:lnTo>
                      <a:pt x="485" y="417"/>
                    </a:lnTo>
                    <a:lnTo>
                      <a:pt x="465" y="401"/>
                    </a:lnTo>
                    <a:lnTo>
                      <a:pt x="427" y="386"/>
                    </a:lnTo>
                    <a:lnTo>
                      <a:pt x="376" y="373"/>
                    </a:lnTo>
                    <a:lnTo>
                      <a:pt x="311" y="360"/>
                    </a:lnTo>
                    <a:lnTo>
                      <a:pt x="237" y="343"/>
                    </a:lnTo>
                    <a:lnTo>
                      <a:pt x="249" y="320"/>
                    </a:lnTo>
                    <a:lnTo>
                      <a:pt x="263" y="297"/>
                    </a:lnTo>
                    <a:lnTo>
                      <a:pt x="277" y="274"/>
                    </a:lnTo>
                    <a:lnTo>
                      <a:pt x="291" y="252"/>
                    </a:lnTo>
                    <a:lnTo>
                      <a:pt x="303" y="228"/>
                    </a:lnTo>
                    <a:lnTo>
                      <a:pt x="318" y="205"/>
                    </a:lnTo>
                    <a:lnTo>
                      <a:pt x="331" y="183"/>
                    </a:lnTo>
                    <a:lnTo>
                      <a:pt x="346" y="160"/>
                    </a:lnTo>
                    <a:lnTo>
                      <a:pt x="324" y="83"/>
                    </a:lnTo>
                    <a:lnTo>
                      <a:pt x="294" y="34"/>
                    </a:lnTo>
                    <a:lnTo>
                      <a:pt x="258" y="7"/>
                    </a:lnTo>
                    <a:lnTo>
                      <a:pt x="219" y="0"/>
                    </a:lnTo>
                    <a:lnTo>
                      <a:pt x="180" y="5"/>
                    </a:lnTo>
                    <a:lnTo>
                      <a:pt x="148" y="21"/>
                    </a:lnTo>
                    <a:lnTo>
                      <a:pt x="122" y="40"/>
                    </a:lnTo>
                    <a:lnTo>
                      <a:pt x="110" y="61"/>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6" name="Freeform 625">
                <a:extLst>
                  <a:ext uri="{FF2B5EF4-FFF2-40B4-BE49-F238E27FC236}">
                    <a16:creationId xmlns:a16="http://schemas.microsoft.com/office/drawing/2014/main" id="{BC593CFB-7DB0-9F41-BB01-1F5E16156ACB}"/>
                  </a:ext>
                </a:extLst>
              </p:cNvPr>
              <p:cNvSpPr>
                <a:spLocks/>
              </p:cNvSpPr>
              <p:nvPr/>
            </p:nvSpPr>
            <p:spPr bwMode="auto">
              <a:xfrm>
                <a:off x="4699" y="3628"/>
                <a:ext cx="236" cy="363"/>
              </a:xfrm>
              <a:custGeom>
                <a:avLst/>
                <a:gdLst>
                  <a:gd name="T0" fmla="*/ 48 w 472"/>
                  <a:gd name="T1" fmla="*/ 31 h 724"/>
                  <a:gd name="T2" fmla="*/ 28 w 472"/>
                  <a:gd name="T3" fmla="*/ 70 h 724"/>
                  <a:gd name="T4" fmla="*/ 15 w 472"/>
                  <a:gd name="T5" fmla="*/ 104 h 724"/>
                  <a:gd name="T6" fmla="*/ 9 w 472"/>
                  <a:gd name="T7" fmla="*/ 131 h 724"/>
                  <a:gd name="T8" fmla="*/ 12 w 472"/>
                  <a:gd name="T9" fmla="*/ 156 h 724"/>
                  <a:gd name="T10" fmla="*/ 22 w 472"/>
                  <a:gd name="T11" fmla="*/ 178 h 724"/>
                  <a:gd name="T12" fmla="*/ 43 w 472"/>
                  <a:gd name="T13" fmla="*/ 201 h 724"/>
                  <a:gd name="T14" fmla="*/ 73 w 472"/>
                  <a:gd name="T15" fmla="*/ 223 h 724"/>
                  <a:gd name="T16" fmla="*/ 115 w 472"/>
                  <a:gd name="T17" fmla="*/ 249 h 724"/>
                  <a:gd name="T18" fmla="*/ 118 w 472"/>
                  <a:gd name="T19" fmla="*/ 257 h 724"/>
                  <a:gd name="T20" fmla="*/ 112 w 472"/>
                  <a:gd name="T21" fmla="*/ 268 h 724"/>
                  <a:gd name="T22" fmla="*/ 97 w 472"/>
                  <a:gd name="T23" fmla="*/ 281 h 724"/>
                  <a:gd name="T24" fmla="*/ 77 w 472"/>
                  <a:gd name="T25" fmla="*/ 295 h 724"/>
                  <a:gd name="T26" fmla="*/ 55 w 472"/>
                  <a:gd name="T27" fmla="*/ 308 h 724"/>
                  <a:gd name="T28" fmla="*/ 32 w 472"/>
                  <a:gd name="T29" fmla="*/ 321 h 724"/>
                  <a:gd name="T30" fmla="*/ 13 w 472"/>
                  <a:gd name="T31" fmla="*/ 331 h 724"/>
                  <a:gd name="T32" fmla="*/ 0 w 472"/>
                  <a:gd name="T33" fmla="*/ 338 h 724"/>
                  <a:gd name="T34" fmla="*/ 1 w 472"/>
                  <a:gd name="T35" fmla="*/ 345 h 724"/>
                  <a:gd name="T36" fmla="*/ 3 w 472"/>
                  <a:gd name="T37" fmla="*/ 348 h 724"/>
                  <a:gd name="T38" fmla="*/ 4 w 472"/>
                  <a:gd name="T39" fmla="*/ 350 h 724"/>
                  <a:gd name="T40" fmla="*/ 5 w 472"/>
                  <a:gd name="T41" fmla="*/ 350 h 724"/>
                  <a:gd name="T42" fmla="*/ 6 w 472"/>
                  <a:gd name="T43" fmla="*/ 350 h 724"/>
                  <a:gd name="T44" fmla="*/ 7 w 472"/>
                  <a:gd name="T45" fmla="*/ 352 h 724"/>
                  <a:gd name="T46" fmla="*/ 8 w 472"/>
                  <a:gd name="T47" fmla="*/ 355 h 724"/>
                  <a:gd name="T48" fmla="*/ 11 w 472"/>
                  <a:gd name="T49" fmla="*/ 363 h 724"/>
                  <a:gd name="T50" fmla="*/ 35 w 472"/>
                  <a:gd name="T51" fmla="*/ 350 h 724"/>
                  <a:gd name="T52" fmla="*/ 59 w 472"/>
                  <a:gd name="T53" fmla="*/ 337 h 724"/>
                  <a:gd name="T54" fmla="*/ 84 w 472"/>
                  <a:gd name="T55" fmla="*/ 323 h 724"/>
                  <a:gd name="T56" fmla="*/ 109 w 472"/>
                  <a:gd name="T57" fmla="*/ 311 h 724"/>
                  <a:gd name="T58" fmla="*/ 133 w 472"/>
                  <a:gd name="T59" fmla="*/ 298 h 724"/>
                  <a:gd name="T60" fmla="*/ 157 w 472"/>
                  <a:gd name="T61" fmla="*/ 285 h 724"/>
                  <a:gd name="T62" fmla="*/ 182 w 472"/>
                  <a:gd name="T63" fmla="*/ 271 h 724"/>
                  <a:gd name="T64" fmla="*/ 206 w 472"/>
                  <a:gd name="T65" fmla="*/ 259 h 724"/>
                  <a:gd name="T66" fmla="*/ 227 w 472"/>
                  <a:gd name="T67" fmla="*/ 237 h 724"/>
                  <a:gd name="T68" fmla="*/ 236 w 472"/>
                  <a:gd name="T69" fmla="*/ 221 h 724"/>
                  <a:gd name="T70" fmla="*/ 235 w 472"/>
                  <a:gd name="T71" fmla="*/ 209 h 724"/>
                  <a:gd name="T72" fmla="*/ 225 w 472"/>
                  <a:gd name="T73" fmla="*/ 201 h 724"/>
                  <a:gd name="T74" fmla="*/ 206 w 472"/>
                  <a:gd name="T75" fmla="*/ 194 h 724"/>
                  <a:gd name="T76" fmla="*/ 181 w 472"/>
                  <a:gd name="T77" fmla="*/ 187 h 724"/>
                  <a:gd name="T78" fmla="*/ 148 w 472"/>
                  <a:gd name="T79" fmla="*/ 180 h 724"/>
                  <a:gd name="T80" fmla="*/ 111 w 472"/>
                  <a:gd name="T81" fmla="*/ 172 h 724"/>
                  <a:gd name="T82" fmla="*/ 117 w 472"/>
                  <a:gd name="T83" fmla="*/ 160 h 724"/>
                  <a:gd name="T84" fmla="*/ 124 w 472"/>
                  <a:gd name="T85" fmla="*/ 149 h 724"/>
                  <a:gd name="T86" fmla="*/ 131 w 472"/>
                  <a:gd name="T87" fmla="*/ 137 h 724"/>
                  <a:gd name="T88" fmla="*/ 138 w 472"/>
                  <a:gd name="T89" fmla="*/ 126 h 724"/>
                  <a:gd name="T90" fmla="*/ 144 w 472"/>
                  <a:gd name="T91" fmla="*/ 114 h 724"/>
                  <a:gd name="T92" fmla="*/ 152 w 472"/>
                  <a:gd name="T93" fmla="*/ 103 h 724"/>
                  <a:gd name="T94" fmla="*/ 158 w 472"/>
                  <a:gd name="T95" fmla="*/ 92 h 724"/>
                  <a:gd name="T96" fmla="*/ 166 w 472"/>
                  <a:gd name="T97" fmla="*/ 80 h 724"/>
                  <a:gd name="T98" fmla="*/ 155 w 472"/>
                  <a:gd name="T99" fmla="*/ 42 h 724"/>
                  <a:gd name="T100" fmla="*/ 140 w 472"/>
                  <a:gd name="T101" fmla="*/ 17 h 724"/>
                  <a:gd name="T102" fmla="*/ 121 w 472"/>
                  <a:gd name="T103" fmla="*/ 4 h 724"/>
                  <a:gd name="T104" fmla="*/ 102 w 472"/>
                  <a:gd name="T105" fmla="*/ 0 h 724"/>
                  <a:gd name="T106" fmla="*/ 83 w 472"/>
                  <a:gd name="T107" fmla="*/ 3 h 724"/>
                  <a:gd name="T108" fmla="*/ 67 w 472"/>
                  <a:gd name="T109" fmla="*/ 11 h 724"/>
                  <a:gd name="T110" fmla="*/ 54 w 472"/>
                  <a:gd name="T111" fmla="*/ 20 h 724"/>
                  <a:gd name="T112" fmla="*/ 48 w 472"/>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72"/>
                  <a:gd name="T172" fmla="*/ 0 h 724"/>
                  <a:gd name="T173" fmla="*/ 472 w 472"/>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72" h="724">
                    <a:moveTo>
                      <a:pt x="95" y="61"/>
                    </a:moveTo>
                    <a:lnTo>
                      <a:pt x="56" y="140"/>
                    </a:lnTo>
                    <a:lnTo>
                      <a:pt x="31" y="207"/>
                    </a:lnTo>
                    <a:lnTo>
                      <a:pt x="18" y="262"/>
                    </a:lnTo>
                    <a:lnTo>
                      <a:pt x="23" y="312"/>
                    </a:lnTo>
                    <a:lnTo>
                      <a:pt x="44" y="356"/>
                    </a:lnTo>
                    <a:lnTo>
                      <a:pt x="85" y="400"/>
                    </a:lnTo>
                    <a:lnTo>
                      <a:pt x="145" y="445"/>
                    </a:lnTo>
                    <a:lnTo>
                      <a:pt x="229" y="496"/>
                    </a:lnTo>
                    <a:lnTo>
                      <a:pt x="237" y="513"/>
                    </a:lnTo>
                    <a:lnTo>
                      <a:pt x="223" y="535"/>
                    </a:lnTo>
                    <a:lnTo>
                      <a:pt x="193" y="560"/>
                    </a:lnTo>
                    <a:lnTo>
                      <a:pt x="154" y="589"/>
                    </a:lnTo>
                    <a:lnTo>
                      <a:pt x="109" y="615"/>
                    </a:lnTo>
                    <a:lnTo>
                      <a:pt x="64" y="640"/>
                    </a:lnTo>
                    <a:lnTo>
                      <a:pt x="26" y="660"/>
                    </a:lnTo>
                    <a:lnTo>
                      <a:pt x="0" y="674"/>
                    </a:lnTo>
                    <a:lnTo>
                      <a:pt x="2" y="688"/>
                    </a:lnTo>
                    <a:lnTo>
                      <a:pt x="6" y="695"/>
                    </a:lnTo>
                    <a:lnTo>
                      <a:pt x="7" y="698"/>
                    </a:lnTo>
                    <a:lnTo>
                      <a:pt x="10" y="699"/>
                    </a:lnTo>
                    <a:lnTo>
                      <a:pt x="11" y="699"/>
                    </a:lnTo>
                    <a:lnTo>
                      <a:pt x="13" y="702"/>
                    </a:lnTo>
                    <a:lnTo>
                      <a:pt x="16" y="709"/>
                    </a:lnTo>
                    <a:lnTo>
                      <a:pt x="21" y="724"/>
                    </a:lnTo>
                    <a:lnTo>
                      <a:pt x="70" y="698"/>
                    </a:lnTo>
                    <a:lnTo>
                      <a:pt x="119" y="672"/>
                    </a:lnTo>
                    <a:lnTo>
                      <a:pt x="168" y="645"/>
                    </a:lnTo>
                    <a:lnTo>
                      <a:pt x="217" y="620"/>
                    </a:lnTo>
                    <a:lnTo>
                      <a:pt x="265" y="594"/>
                    </a:lnTo>
                    <a:lnTo>
                      <a:pt x="314" y="568"/>
                    </a:lnTo>
                    <a:lnTo>
                      <a:pt x="363" y="541"/>
                    </a:lnTo>
                    <a:lnTo>
                      <a:pt x="412" y="516"/>
                    </a:lnTo>
                    <a:lnTo>
                      <a:pt x="454" y="472"/>
                    </a:lnTo>
                    <a:lnTo>
                      <a:pt x="472" y="441"/>
                    </a:lnTo>
                    <a:lnTo>
                      <a:pt x="470" y="417"/>
                    </a:lnTo>
                    <a:lnTo>
                      <a:pt x="450" y="401"/>
                    </a:lnTo>
                    <a:lnTo>
                      <a:pt x="412" y="386"/>
                    </a:lnTo>
                    <a:lnTo>
                      <a:pt x="361" y="373"/>
                    </a:lnTo>
                    <a:lnTo>
                      <a:pt x="296" y="360"/>
                    </a:lnTo>
                    <a:lnTo>
                      <a:pt x="222" y="343"/>
                    </a:lnTo>
                    <a:lnTo>
                      <a:pt x="234" y="320"/>
                    </a:lnTo>
                    <a:lnTo>
                      <a:pt x="248" y="297"/>
                    </a:lnTo>
                    <a:lnTo>
                      <a:pt x="262" y="274"/>
                    </a:lnTo>
                    <a:lnTo>
                      <a:pt x="276" y="252"/>
                    </a:lnTo>
                    <a:lnTo>
                      <a:pt x="288" y="228"/>
                    </a:lnTo>
                    <a:lnTo>
                      <a:pt x="303" y="205"/>
                    </a:lnTo>
                    <a:lnTo>
                      <a:pt x="316" y="183"/>
                    </a:lnTo>
                    <a:lnTo>
                      <a:pt x="331" y="160"/>
                    </a:lnTo>
                    <a:lnTo>
                      <a:pt x="309" y="83"/>
                    </a:lnTo>
                    <a:lnTo>
                      <a:pt x="279" y="34"/>
                    </a:lnTo>
                    <a:lnTo>
                      <a:pt x="243" y="7"/>
                    </a:lnTo>
                    <a:lnTo>
                      <a:pt x="204" y="0"/>
                    </a:lnTo>
                    <a:lnTo>
                      <a:pt x="165" y="5"/>
                    </a:lnTo>
                    <a:lnTo>
                      <a:pt x="133" y="21"/>
                    </a:lnTo>
                    <a:lnTo>
                      <a:pt x="107" y="40"/>
                    </a:lnTo>
                    <a:lnTo>
                      <a:pt x="95" y="61"/>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7" name="Freeform 626">
                <a:extLst>
                  <a:ext uri="{FF2B5EF4-FFF2-40B4-BE49-F238E27FC236}">
                    <a16:creationId xmlns:a16="http://schemas.microsoft.com/office/drawing/2014/main" id="{D61CD946-B129-8D4B-A447-7625BB938316}"/>
                  </a:ext>
                </a:extLst>
              </p:cNvPr>
              <p:cNvSpPr>
                <a:spLocks/>
              </p:cNvSpPr>
              <p:nvPr/>
            </p:nvSpPr>
            <p:spPr bwMode="auto">
              <a:xfrm>
                <a:off x="4706" y="3628"/>
                <a:ext cx="229" cy="363"/>
              </a:xfrm>
              <a:custGeom>
                <a:avLst/>
                <a:gdLst>
                  <a:gd name="T0" fmla="*/ 41 w 459"/>
                  <a:gd name="T1" fmla="*/ 31 h 724"/>
                  <a:gd name="T2" fmla="*/ 22 w 459"/>
                  <a:gd name="T3" fmla="*/ 70 h 724"/>
                  <a:gd name="T4" fmla="*/ 11 w 459"/>
                  <a:gd name="T5" fmla="*/ 104 h 724"/>
                  <a:gd name="T6" fmla="*/ 6 w 459"/>
                  <a:gd name="T7" fmla="*/ 131 h 724"/>
                  <a:gd name="T8" fmla="*/ 11 w 459"/>
                  <a:gd name="T9" fmla="*/ 156 h 724"/>
                  <a:gd name="T10" fmla="*/ 23 w 459"/>
                  <a:gd name="T11" fmla="*/ 178 h 724"/>
                  <a:gd name="T12" fmla="*/ 45 w 459"/>
                  <a:gd name="T13" fmla="*/ 201 h 724"/>
                  <a:gd name="T14" fmla="*/ 76 w 459"/>
                  <a:gd name="T15" fmla="*/ 223 h 724"/>
                  <a:gd name="T16" fmla="*/ 119 w 459"/>
                  <a:gd name="T17" fmla="*/ 248 h 724"/>
                  <a:gd name="T18" fmla="*/ 127 w 459"/>
                  <a:gd name="T19" fmla="*/ 256 h 724"/>
                  <a:gd name="T20" fmla="*/ 121 w 459"/>
                  <a:gd name="T21" fmla="*/ 268 h 724"/>
                  <a:gd name="T22" fmla="*/ 106 w 459"/>
                  <a:gd name="T23" fmla="*/ 282 h 724"/>
                  <a:gd name="T24" fmla="*/ 85 w 459"/>
                  <a:gd name="T25" fmla="*/ 298 h 724"/>
                  <a:gd name="T26" fmla="*/ 59 w 459"/>
                  <a:gd name="T27" fmla="*/ 312 h 724"/>
                  <a:gd name="T28" fmla="*/ 34 w 459"/>
                  <a:gd name="T29" fmla="*/ 326 h 724"/>
                  <a:gd name="T30" fmla="*/ 14 w 459"/>
                  <a:gd name="T31" fmla="*/ 337 h 724"/>
                  <a:gd name="T32" fmla="*/ 0 w 459"/>
                  <a:gd name="T33" fmla="*/ 344 h 724"/>
                  <a:gd name="T34" fmla="*/ 1 w 459"/>
                  <a:gd name="T35" fmla="*/ 350 h 724"/>
                  <a:gd name="T36" fmla="*/ 2 w 459"/>
                  <a:gd name="T37" fmla="*/ 353 h 724"/>
                  <a:gd name="T38" fmla="*/ 2 w 459"/>
                  <a:gd name="T39" fmla="*/ 353 h 724"/>
                  <a:gd name="T40" fmla="*/ 2 w 459"/>
                  <a:gd name="T41" fmla="*/ 353 h 724"/>
                  <a:gd name="T42" fmla="*/ 1 w 459"/>
                  <a:gd name="T43" fmla="*/ 352 h 724"/>
                  <a:gd name="T44" fmla="*/ 1 w 459"/>
                  <a:gd name="T45" fmla="*/ 352 h 724"/>
                  <a:gd name="T46" fmla="*/ 1 w 459"/>
                  <a:gd name="T47" fmla="*/ 355 h 724"/>
                  <a:gd name="T48" fmla="*/ 4 w 459"/>
                  <a:gd name="T49" fmla="*/ 363 h 724"/>
                  <a:gd name="T50" fmla="*/ 28 w 459"/>
                  <a:gd name="T51" fmla="*/ 350 h 724"/>
                  <a:gd name="T52" fmla="*/ 53 w 459"/>
                  <a:gd name="T53" fmla="*/ 337 h 724"/>
                  <a:gd name="T54" fmla="*/ 77 w 459"/>
                  <a:gd name="T55" fmla="*/ 323 h 724"/>
                  <a:gd name="T56" fmla="*/ 102 w 459"/>
                  <a:gd name="T57" fmla="*/ 311 h 724"/>
                  <a:gd name="T58" fmla="*/ 126 w 459"/>
                  <a:gd name="T59" fmla="*/ 298 h 724"/>
                  <a:gd name="T60" fmla="*/ 150 w 459"/>
                  <a:gd name="T61" fmla="*/ 285 h 724"/>
                  <a:gd name="T62" fmla="*/ 175 w 459"/>
                  <a:gd name="T63" fmla="*/ 271 h 724"/>
                  <a:gd name="T64" fmla="*/ 199 w 459"/>
                  <a:gd name="T65" fmla="*/ 259 h 724"/>
                  <a:gd name="T66" fmla="*/ 220 w 459"/>
                  <a:gd name="T67" fmla="*/ 237 h 724"/>
                  <a:gd name="T68" fmla="*/ 229 w 459"/>
                  <a:gd name="T69" fmla="*/ 221 h 724"/>
                  <a:gd name="T70" fmla="*/ 228 w 459"/>
                  <a:gd name="T71" fmla="*/ 209 h 724"/>
                  <a:gd name="T72" fmla="*/ 218 w 459"/>
                  <a:gd name="T73" fmla="*/ 201 h 724"/>
                  <a:gd name="T74" fmla="*/ 199 w 459"/>
                  <a:gd name="T75" fmla="*/ 194 h 724"/>
                  <a:gd name="T76" fmla="*/ 174 w 459"/>
                  <a:gd name="T77" fmla="*/ 187 h 724"/>
                  <a:gd name="T78" fmla="*/ 141 w 459"/>
                  <a:gd name="T79" fmla="*/ 180 h 724"/>
                  <a:gd name="T80" fmla="*/ 104 w 459"/>
                  <a:gd name="T81" fmla="*/ 172 h 724"/>
                  <a:gd name="T82" fmla="*/ 110 w 459"/>
                  <a:gd name="T83" fmla="*/ 160 h 724"/>
                  <a:gd name="T84" fmla="*/ 117 w 459"/>
                  <a:gd name="T85" fmla="*/ 149 h 724"/>
                  <a:gd name="T86" fmla="*/ 124 w 459"/>
                  <a:gd name="T87" fmla="*/ 137 h 724"/>
                  <a:gd name="T88" fmla="*/ 131 w 459"/>
                  <a:gd name="T89" fmla="*/ 126 h 724"/>
                  <a:gd name="T90" fmla="*/ 137 w 459"/>
                  <a:gd name="T91" fmla="*/ 114 h 724"/>
                  <a:gd name="T92" fmla="*/ 145 w 459"/>
                  <a:gd name="T93" fmla="*/ 103 h 724"/>
                  <a:gd name="T94" fmla="*/ 151 w 459"/>
                  <a:gd name="T95" fmla="*/ 92 h 724"/>
                  <a:gd name="T96" fmla="*/ 159 w 459"/>
                  <a:gd name="T97" fmla="*/ 80 h 724"/>
                  <a:gd name="T98" fmla="*/ 148 w 459"/>
                  <a:gd name="T99" fmla="*/ 42 h 724"/>
                  <a:gd name="T100" fmla="*/ 133 w 459"/>
                  <a:gd name="T101" fmla="*/ 17 h 724"/>
                  <a:gd name="T102" fmla="*/ 115 w 459"/>
                  <a:gd name="T103" fmla="*/ 4 h 724"/>
                  <a:gd name="T104" fmla="*/ 95 w 459"/>
                  <a:gd name="T105" fmla="*/ 0 h 724"/>
                  <a:gd name="T106" fmla="*/ 76 w 459"/>
                  <a:gd name="T107" fmla="*/ 3 h 724"/>
                  <a:gd name="T108" fmla="*/ 60 w 459"/>
                  <a:gd name="T109" fmla="*/ 11 h 724"/>
                  <a:gd name="T110" fmla="*/ 47 w 459"/>
                  <a:gd name="T111" fmla="*/ 20 h 724"/>
                  <a:gd name="T112" fmla="*/ 41 w 459"/>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9"/>
                  <a:gd name="T172" fmla="*/ 0 h 724"/>
                  <a:gd name="T173" fmla="*/ 459 w 459"/>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9" h="724">
                    <a:moveTo>
                      <a:pt x="82" y="61"/>
                    </a:moveTo>
                    <a:lnTo>
                      <a:pt x="44" y="140"/>
                    </a:lnTo>
                    <a:lnTo>
                      <a:pt x="22" y="207"/>
                    </a:lnTo>
                    <a:lnTo>
                      <a:pt x="13" y="262"/>
                    </a:lnTo>
                    <a:lnTo>
                      <a:pt x="22" y="312"/>
                    </a:lnTo>
                    <a:lnTo>
                      <a:pt x="47" y="356"/>
                    </a:lnTo>
                    <a:lnTo>
                      <a:pt x="91" y="400"/>
                    </a:lnTo>
                    <a:lnTo>
                      <a:pt x="153" y="444"/>
                    </a:lnTo>
                    <a:lnTo>
                      <a:pt x="239" y="495"/>
                    </a:lnTo>
                    <a:lnTo>
                      <a:pt x="254" y="511"/>
                    </a:lnTo>
                    <a:lnTo>
                      <a:pt x="242" y="535"/>
                    </a:lnTo>
                    <a:lnTo>
                      <a:pt x="212" y="563"/>
                    </a:lnTo>
                    <a:lnTo>
                      <a:pt x="170" y="594"/>
                    </a:lnTo>
                    <a:lnTo>
                      <a:pt x="118" y="623"/>
                    </a:lnTo>
                    <a:lnTo>
                      <a:pt x="69" y="650"/>
                    </a:lnTo>
                    <a:lnTo>
                      <a:pt x="28" y="672"/>
                    </a:lnTo>
                    <a:lnTo>
                      <a:pt x="0" y="687"/>
                    </a:lnTo>
                    <a:lnTo>
                      <a:pt x="3" y="699"/>
                    </a:lnTo>
                    <a:lnTo>
                      <a:pt x="4" y="704"/>
                    </a:lnTo>
                    <a:lnTo>
                      <a:pt x="4" y="705"/>
                    </a:lnTo>
                    <a:lnTo>
                      <a:pt x="4" y="704"/>
                    </a:lnTo>
                    <a:lnTo>
                      <a:pt x="3" y="702"/>
                    </a:lnTo>
                    <a:lnTo>
                      <a:pt x="3" y="703"/>
                    </a:lnTo>
                    <a:lnTo>
                      <a:pt x="3" y="709"/>
                    </a:lnTo>
                    <a:lnTo>
                      <a:pt x="8" y="724"/>
                    </a:lnTo>
                    <a:lnTo>
                      <a:pt x="57" y="698"/>
                    </a:lnTo>
                    <a:lnTo>
                      <a:pt x="106" y="672"/>
                    </a:lnTo>
                    <a:lnTo>
                      <a:pt x="155" y="645"/>
                    </a:lnTo>
                    <a:lnTo>
                      <a:pt x="204" y="620"/>
                    </a:lnTo>
                    <a:lnTo>
                      <a:pt x="252" y="594"/>
                    </a:lnTo>
                    <a:lnTo>
                      <a:pt x="301" y="568"/>
                    </a:lnTo>
                    <a:lnTo>
                      <a:pt x="350" y="541"/>
                    </a:lnTo>
                    <a:lnTo>
                      <a:pt x="399" y="516"/>
                    </a:lnTo>
                    <a:lnTo>
                      <a:pt x="441" y="472"/>
                    </a:lnTo>
                    <a:lnTo>
                      <a:pt x="459" y="441"/>
                    </a:lnTo>
                    <a:lnTo>
                      <a:pt x="457" y="417"/>
                    </a:lnTo>
                    <a:lnTo>
                      <a:pt x="437" y="401"/>
                    </a:lnTo>
                    <a:lnTo>
                      <a:pt x="399" y="386"/>
                    </a:lnTo>
                    <a:lnTo>
                      <a:pt x="348" y="373"/>
                    </a:lnTo>
                    <a:lnTo>
                      <a:pt x="283" y="360"/>
                    </a:lnTo>
                    <a:lnTo>
                      <a:pt x="209" y="343"/>
                    </a:lnTo>
                    <a:lnTo>
                      <a:pt x="221" y="320"/>
                    </a:lnTo>
                    <a:lnTo>
                      <a:pt x="235" y="297"/>
                    </a:lnTo>
                    <a:lnTo>
                      <a:pt x="249" y="274"/>
                    </a:lnTo>
                    <a:lnTo>
                      <a:pt x="263" y="252"/>
                    </a:lnTo>
                    <a:lnTo>
                      <a:pt x="275" y="228"/>
                    </a:lnTo>
                    <a:lnTo>
                      <a:pt x="290" y="205"/>
                    </a:lnTo>
                    <a:lnTo>
                      <a:pt x="303" y="183"/>
                    </a:lnTo>
                    <a:lnTo>
                      <a:pt x="318" y="160"/>
                    </a:lnTo>
                    <a:lnTo>
                      <a:pt x="296" y="83"/>
                    </a:lnTo>
                    <a:lnTo>
                      <a:pt x="266" y="34"/>
                    </a:lnTo>
                    <a:lnTo>
                      <a:pt x="230" y="7"/>
                    </a:lnTo>
                    <a:lnTo>
                      <a:pt x="191" y="0"/>
                    </a:lnTo>
                    <a:lnTo>
                      <a:pt x="152" y="5"/>
                    </a:lnTo>
                    <a:lnTo>
                      <a:pt x="120" y="21"/>
                    </a:lnTo>
                    <a:lnTo>
                      <a:pt x="94" y="40"/>
                    </a:lnTo>
                    <a:lnTo>
                      <a:pt x="82" y="61"/>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8" name="Freeform 627">
                <a:extLst>
                  <a:ext uri="{FF2B5EF4-FFF2-40B4-BE49-F238E27FC236}">
                    <a16:creationId xmlns:a16="http://schemas.microsoft.com/office/drawing/2014/main" id="{681D82E2-F6E5-264B-ABE5-9C7021E9C8E0}"/>
                  </a:ext>
                </a:extLst>
              </p:cNvPr>
              <p:cNvSpPr>
                <a:spLocks/>
              </p:cNvSpPr>
              <p:nvPr/>
            </p:nvSpPr>
            <p:spPr bwMode="auto">
              <a:xfrm>
                <a:off x="4708" y="3628"/>
                <a:ext cx="227" cy="363"/>
              </a:xfrm>
              <a:custGeom>
                <a:avLst/>
                <a:gdLst>
                  <a:gd name="T0" fmla="*/ 39 w 455"/>
                  <a:gd name="T1" fmla="*/ 31 h 724"/>
                  <a:gd name="T2" fmla="*/ 21 w 455"/>
                  <a:gd name="T3" fmla="*/ 70 h 724"/>
                  <a:gd name="T4" fmla="*/ 11 w 455"/>
                  <a:gd name="T5" fmla="*/ 104 h 724"/>
                  <a:gd name="T6" fmla="*/ 8 w 455"/>
                  <a:gd name="T7" fmla="*/ 131 h 724"/>
                  <a:gd name="T8" fmla="*/ 14 w 455"/>
                  <a:gd name="T9" fmla="*/ 156 h 724"/>
                  <a:gd name="T10" fmla="*/ 29 w 455"/>
                  <a:gd name="T11" fmla="*/ 177 h 724"/>
                  <a:gd name="T12" fmla="*/ 52 w 455"/>
                  <a:gd name="T13" fmla="*/ 199 h 724"/>
                  <a:gd name="T14" fmla="*/ 84 w 455"/>
                  <a:gd name="T15" fmla="*/ 221 h 724"/>
                  <a:gd name="T16" fmla="*/ 127 w 455"/>
                  <a:gd name="T17" fmla="*/ 246 h 724"/>
                  <a:gd name="T18" fmla="*/ 138 w 455"/>
                  <a:gd name="T19" fmla="*/ 256 h 724"/>
                  <a:gd name="T20" fmla="*/ 135 w 455"/>
                  <a:gd name="T21" fmla="*/ 269 h 724"/>
                  <a:gd name="T22" fmla="*/ 120 w 455"/>
                  <a:gd name="T23" fmla="*/ 284 h 724"/>
                  <a:gd name="T24" fmla="*/ 97 w 455"/>
                  <a:gd name="T25" fmla="*/ 300 h 724"/>
                  <a:gd name="T26" fmla="*/ 70 w 455"/>
                  <a:gd name="T27" fmla="*/ 316 h 724"/>
                  <a:gd name="T28" fmla="*/ 43 w 455"/>
                  <a:gd name="T29" fmla="*/ 330 h 724"/>
                  <a:gd name="T30" fmla="*/ 20 w 455"/>
                  <a:gd name="T31" fmla="*/ 342 h 724"/>
                  <a:gd name="T32" fmla="*/ 5 w 455"/>
                  <a:gd name="T33" fmla="*/ 349 h 724"/>
                  <a:gd name="T34" fmla="*/ 6 w 455"/>
                  <a:gd name="T35" fmla="*/ 355 h 724"/>
                  <a:gd name="T36" fmla="*/ 6 w 455"/>
                  <a:gd name="T37" fmla="*/ 358 h 724"/>
                  <a:gd name="T38" fmla="*/ 5 w 455"/>
                  <a:gd name="T39" fmla="*/ 357 h 724"/>
                  <a:gd name="T40" fmla="*/ 4 w 455"/>
                  <a:gd name="T41" fmla="*/ 356 h 724"/>
                  <a:gd name="T42" fmla="*/ 2 w 455"/>
                  <a:gd name="T43" fmla="*/ 353 h 724"/>
                  <a:gd name="T44" fmla="*/ 0 w 455"/>
                  <a:gd name="T45" fmla="*/ 353 h 724"/>
                  <a:gd name="T46" fmla="*/ 0 w 455"/>
                  <a:gd name="T47" fmla="*/ 356 h 724"/>
                  <a:gd name="T48" fmla="*/ 2 w 455"/>
                  <a:gd name="T49" fmla="*/ 363 h 724"/>
                  <a:gd name="T50" fmla="*/ 26 w 455"/>
                  <a:gd name="T51" fmla="*/ 350 h 724"/>
                  <a:gd name="T52" fmla="*/ 51 w 455"/>
                  <a:gd name="T53" fmla="*/ 337 h 724"/>
                  <a:gd name="T54" fmla="*/ 75 w 455"/>
                  <a:gd name="T55" fmla="*/ 323 h 724"/>
                  <a:gd name="T56" fmla="*/ 100 w 455"/>
                  <a:gd name="T57" fmla="*/ 311 h 724"/>
                  <a:gd name="T58" fmla="*/ 124 w 455"/>
                  <a:gd name="T59" fmla="*/ 298 h 724"/>
                  <a:gd name="T60" fmla="*/ 148 w 455"/>
                  <a:gd name="T61" fmla="*/ 285 h 724"/>
                  <a:gd name="T62" fmla="*/ 173 w 455"/>
                  <a:gd name="T63" fmla="*/ 271 h 724"/>
                  <a:gd name="T64" fmla="*/ 197 w 455"/>
                  <a:gd name="T65" fmla="*/ 259 h 724"/>
                  <a:gd name="T66" fmla="*/ 218 w 455"/>
                  <a:gd name="T67" fmla="*/ 237 h 724"/>
                  <a:gd name="T68" fmla="*/ 227 w 455"/>
                  <a:gd name="T69" fmla="*/ 221 h 724"/>
                  <a:gd name="T70" fmla="*/ 226 w 455"/>
                  <a:gd name="T71" fmla="*/ 209 h 724"/>
                  <a:gd name="T72" fmla="*/ 216 w 455"/>
                  <a:gd name="T73" fmla="*/ 201 h 724"/>
                  <a:gd name="T74" fmla="*/ 197 w 455"/>
                  <a:gd name="T75" fmla="*/ 194 h 724"/>
                  <a:gd name="T76" fmla="*/ 172 w 455"/>
                  <a:gd name="T77" fmla="*/ 187 h 724"/>
                  <a:gd name="T78" fmla="*/ 139 w 455"/>
                  <a:gd name="T79" fmla="*/ 180 h 724"/>
                  <a:gd name="T80" fmla="*/ 102 w 455"/>
                  <a:gd name="T81" fmla="*/ 172 h 724"/>
                  <a:gd name="T82" fmla="*/ 108 w 455"/>
                  <a:gd name="T83" fmla="*/ 160 h 724"/>
                  <a:gd name="T84" fmla="*/ 115 w 455"/>
                  <a:gd name="T85" fmla="*/ 149 h 724"/>
                  <a:gd name="T86" fmla="*/ 122 w 455"/>
                  <a:gd name="T87" fmla="*/ 137 h 724"/>
                  <a:gd name="T88" fmla="*/ 129 w 455"/>
                  <a:gd name="T89" fmla="*/ 126 h 724"/>
                  <a:gd name="T90" fmla="*/ 135 w 455"/>
                  <a:gd name="T91" fmla="*/ 114 h 724"/>
                  <a:gd name="T92" fmla="*/ 143 w 455"/>
                  <a:gd name="T93" fmla="*/ 103 h 724"/>
                  <a:gd name="T94" fmla="*/ 149 w 455"/>
                  <a:gd name="T95" fmla="*/ 92 h 724"/>
                  <a:gd name="T96" fmla="*/ 157 w 455"/>
                  <a:gd name="T97" fmla="*/ 80 h 724"/>
                  <a:gd name="T98" fmla="*/ 146 w 455"/>
                  <a:gd name="T99" fmla="*/ 42 h 724"/>
                  <a:gd name="T100" fmla="*/ 131 w 455"/>
                  <a:gd name="T101" fmla="*/ 17 h 724"/>
                  <a:gd name="T102" fmla="*/ 113 w 455"/>
                  <a:gd name="T103" fmla="*/ 4 h 724"/>
                  <a:gd name="T104" fmla="*/ 93 w 455"/>
                  <a:gd name="T105" fmla="*/ 0 h 724"/>
                  <a:gd name="T106" fmla="*/ 74 w 455"/>
                  <a:gd name="T107" fmla="*/ 3 h 724"/>
                  <a:gd name="T108" fmla="*/ 58 w 455"/>
                  <a:gd name="T109" fmla="*/ 11 h 724"/>
                  <a:gd name="T110" fmla="*/ 45 w 455"/>
                  <a:gd name="T111" fmla="*/ 20 h 724"/>
                  <a:gd name="T112" fmla="*/ 39 w 455"/>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5"/>
                  <a:gd name="T172" fmla="*/ 0 h 724"/>
                  <a:gd name="T173" fmla="*/ 455 w 455"/>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5" h="724">
                    <a:moveTo>
                      <a:pt x="78" y="61"/>
                    </a:moveTo>
                    <a:lnTo>
                      <a:pt x="42" y="140"/>
                    </a:lnTo>
                    <a:lnTo>
                      <a:pt x="22" y="207"/>
                    </a:lnTo>
                    <a:lnTo>
                      <a:pt x="16" y="262"/>
                    </a:lnTo>
                    <a:lnTo>
                      <a:pt x="29" y="311"/>
                    </a:lnTo>
                    <a:lnTo>
                      <a:pt x="58" y="353"/>
                    </a:lnTo>
                    <a:lnTo>
                      <a:pt x="104" y="397"/>
                    </a:lnTo>
                    <a:lnTo>
                      <a:pt x="169" y="441"/>
                    </a:lnTo>
                    <a:lnTo>
                      <a:pt x="255" y="491"/>
                    </a:lnTo>
                    <a:lnTo>
                      <a:pt x="277" y="510"/>
                    </a:lnTo>
                    <a:lnTo>
                      <a:pt x="271" y="536"/>
                    </a:lnTo>
                    <a:lnTo>
                      <a:pt x="240" y="566"/>
                    </a:lnTo>
                    <a:lnTo>
                      <a:pt x="195" y="599"/>
                    </a:lnTo>
                    <a:lnTo>
                      <a:pt x="141" y="630"/>
                    </a:lnTo>
                    <a:lnTo>
                      <a:pt x="87" y="659"/>
                    </a:lnTo>
                    <a:lnTo>
                      <a:pt x="40" y="682"/>
                    </a:lnTo>
                    <a:lnTo>
                      <a:pt x="11" y="697"/>
                    </a:lnTo>
                    <a:lnTo>
                      <a:pt x="13" y="709"/>
                    </a:lnTo>
                    <a:lnTo>
                      <a:pt x="13" y="714"/>
                    </a:lnTo>
                    <a:lnTo>
                      <a:pt x="10" y="713"/>
                    </a:lnTo>
                    <a:lnTo>
                      <a:pt x="8" y="711"/>
                    </a:lnTo>
                    <a:lnTo>
                      <a:pt x="4" y="705"/>
                    </a:lnTo>
                    <a:lnTo>
                      <a:pt x="1" y="705"/>
                    </a:lnTo>
                    <a:lnTo>
                      <a:pt x="0" y="711"/>
                    </a:lnTo>
                    <a:lnTo>
                      <a:pt x="4" y="724"/>
                    </a:lnTo>
                    <a:lnTo>
                      <a:pt x="53" y="698"/>
                    </a:lnTo>
                    <a:lnTo>
                      <a:pt x="102" y="672"/>
                    </a:lnTo>
                    <a:lnTo>
                      <a:pt x="151" y="645"/>
                    </a:lnTo>
                    <a:lnTo>
                      <a:pt x="200" y="620"/>
                    </a:lnTo>
                    <a:lnTo>
                      <a:pt x="248" y="594"/>
                    </a:lnTo>
                    <a:lnTo>
                      <a:pt x="297" y="568"/>
                    </a:lnTo>
                    <a:lnTo>
                      <a:pt x="346" y="541"/>
                    </a:lnTo>
                    <a:lnTo>
                      <a:pt x="395" y="516"/>
                    </a:lnTo>
                    <a:lnTo>
                      <a:pt x="437" y="472"/>
                    </a:lnTo>
                    <a:lnTo>
                      <a:pt x="455" y="441"/>
                    </a:lnTo>
                    <a:lnTo>
                      <a:pt x="453" y="417"/>
                    </a:lnTo>
                    <a:lnTo>
                      <a:pt x="433" y="401"/>
                    </a:lnTo>
                    <a:lnTo>
                      <a:pt x="395" y="386"/>
                    </a:lnTo>
                    <a:lnTo>
                      <a:pt x="344" y="373"/>
                    </a:lnTo>
                    <a:lnTo>
                      <a:pt x="279" y="360"/>
                    </a:lnTo>
                    <a:lnTo>
                      <a:pt x="205" y="343"/>
                    </a:lnTo>
                    <a:lnTo>
                      <a:pt x="217" y="320"/>
                    </a:lnTo>
                    <a:lnTo>
                      <a:pt x="231" y="297"/>
                    </a:lnTo>
                    <a:lnTo>
                      <a:pt x="245" y="274"/>
                    </a:lnTo>
                    <a:lnTo>
                      <a:pt x="259" y="252"/>
                    </a:lnTo>
                    <a:lnTo>
                      <a:pt x="271" y="228"/>
                    </a:lnTo>
                    <a:lnTo>
                      <a:pt x="286" y="205"/>
                    </a:lnTo>
                    <a:lnTo>
                      <a:pt x="299" y="183"/>
                    </a:lnTo>
                    <a:lnTo>
                      <a:pt x="314" y="160"/>
                    </a:lnTo>
                    <a:lnTo>
                      <a:pt x="292" y="83"/>
                    </a:lnTo>
                    <a:lnTo>
                      <a:pt x="262" y="34"/>
                    </a:lnTo>
                    <a:lnTo>
                      <a:pt x="226" y="7"/>
                    </a:lnTo>
                    <a:lnTo>
                      <a:pt x="187" y="0"/>
                    </a:lnTo>
                    <a:lnTo>
                      <a:pt x="148" y="5"/>
                    </a:lnTo>
                    <a:lnTo>
                      <a:pt x="116" y="21"/>
                    </a:lnTo>
                    <a:lnTo>
                      <a:pt x="90" y="40"/>
                    </a:lnTo>
                    <a:lnTo>
                      <a:pt x="78" y="61"/>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09" name="Freeform 628">
                <a:extLst>
                  <a:ext uri="{FF2B5EF4-FFF2-40B4-BE49-F238E27FC236}">
                    <a16:creationId xmlns:a16="http://schemas.microsoft.com/office/drawing/2014/main" id="{9EB342E3-B379-9546-9245-244B17864EF8}"/>
                  </a:ext>
                </a:extLst>
              </p:cNvPr>
              <p:cNvSpPr>
                <a:spLocks/>
              </p:cNvSpPr>
              <p:nvPr/>
            </p:nvSpPr>
            <p:spPr bwMode="auto">
              <a:xfrm>
                <a:off x="4708" y="3628"/>
                <a:ext cx="227" cy="363"/>
              </a:xfrm>
              <a:custGeom>
                <a:avLst/>
                <a:gdLst>
                  <a:gd name="T0" fmla="*/ 39 w 454"/>
                  <a:gd name="T1" fmla="*/ 31 h 724"/>
                  <a:gd name="T2" fmla="*/ 21 w 454"/>
                  <a:gd name="T3" fmla="*/ 70 h 724"/>
                  <a:gd name="T4" fmla="*/ 12 w 454"/>
                  <a:gd name="T5" fmla="*/ 103 h 724"/>
                  <a:gd name="T6" fmla="*/ 12 w 454"/>
                  <a:gd name="T7" fmla="*/ 131 h 724"/>
                  <a:gd name="T8" fmla="*/ 20 w 454"/>
                  <a:gd name="T9" fmla="*/ 155 h 724"/>
                  <a:gd name="T10" fmla="*/ 36 w 454"/>
                  <a:gd name="T11" fmla="*/ 176 h 724"/>
                  <a:gd name="T12" fmla="*/ 61 w 454"/>
                  <a:gd name="T13" fmla="*/ 198 h 724"/>
                  <a:gd name="T14" fmla="*/ 95 w 454"/>
                  <a:gd name="T15" fmla="*/ 220 h 724"/>
                  <a:gd name="T16" fmla="*/ 138 w 454"/>
                  <a:gd name="T17" fmla="*/ 246 h 724"/>
                  <a:gd name="T18" fmla="*/ 154 w 454"/>
                  <a:gd name="T19" fmla="*/ 255 h 724"/>
                  <a:gd name="T20" fmla="*/ 152 w 454"/>
                  <a:gd name="T21" fmla="*/ 270 h 724"/>
                  <a:gd name="T22" fmla="*/ 136 w 454"/>
                  <a:gd name="T23" fmla="*/ 285 h 724"/>
                  <a:gd name="T24" fmla="*/ 111 w 454"/>
                  <a:gd name="T25" fmla="*/ 303 h 724"/>
                  <a:gd name="T26" fmla="*/ 82 w 454"/>
                  <a:gd name="T27" fmla="*/ 320 h 724"/>
                  <a:gd name="T28" fmla="*/ 53 w 454"/>
                  <a:gd name="T29" fmla="*/ 335 h 724"/>
                  <a:gd name="T30" fmla="*/ 28 w 454"/>
                  <a:gd name="T31" fmla="*/ 347 h 724"/>
                  <a:gd name="T32" fmla="*/ 14 w 454"/>
                  <a:gd name="T33" fmla="*/ 355 h 724"/>
                  <a:gd name="T34" fmla="*/ 14 w 454"/>
                  <a:gd name="T35" fmla="*/ 361 h 724"/>
                  <a:gd name="T36" fmla="*/ 13 w 454"/>
                  <a:gd name="T37" fmla="*/ 363 h 724"/>
                  <a:gd name="T38" fmla="*/ 10 w 454"/>
                  <a:gd name="T39" fmla="*/ 361 h 724"/>
                  <a:gd name="T40" fmla="*/ 7 w 454"/>
                  <a:gd name="T41" fmla="*/ 359 h 724"/>
                  <a:gd name="T42" fmla="*/ 4 w 454"/>
                  <a:gd name="T43" fmla="*/ 355 h 724"/>
                  <a:gd name="T44" fmla="*/ 2 w 454"/>
                  <a:gd name="T45" fmla="*/ 354 h 724"/>
                  <a:gd name="T46" fmla="*/ 0 w 454"/>
                  <a:gd name="T47" fmla="*/ 356 h 724"/>
                  <a:gd name="T48" fmla="*/ 2 w 454"/>
                  <a:gd name="T49" fmla="*/ 363 h 724"/>
                  <a:gd name="T50" fmla="*/ 26 w 454"/>
                  <a:gd name="T51" fmla="*/ 350 h 724"/>
                  <a:gd name="T52" fmla="*/ 51 w 454"/>
                  <a:gd name="T53" fmla="*/ 337 h 724"/>
                  <a:gd name="T54" fmla="*/ 75 w 454"/>
                  <a:gd name="T55" fmla="*/ 323 h 724"/>
                  <a:gd name="T56" fmla="*/ 100 w 454"/>
                  <a:gd name="T57" fmla="*/ 311 h 724"/>
                  <a:gd name="T58" fmla="*/ 123 w 454"/>
                  <a:gd name="T59" fmla="*/ 298 h 724"/>
                  <a:gd name="T60" fmla="*/ 148 w 454"/>
                  <a:gd name="T61" fmla="*/ 285 h 724"/>
                  <a:gd name="T62" fmla="*/ 173 w 454"/>
                  <a:gd name="T63" fmla="*/ 271 h 724"/>
                  <a:gd name="T64" fmla="*/ 197 w 454"/>
                  <a:gd name="T65" fmla="*/ 259 h 724"/>
                  <a:gd name="T66" fmla="*/ 218 w 454"/>
                  <a:gd name="T67" fmla="*/ 237 h 724"/>
                  <a:gd name="T68" fmla="*/ 227 w 454"/>
                  <a:gd name="T69" fmla="*/ 221 h 724"/>
                  <a:gd name="T70" fmla="*/ 226 w 454"/>
                  <a:gd name="T71" fmla="*/ 209 h 724"/>
                  <a:gd name="T72" fmla="*/ 216 w 454"/>
                  <a:gd name="T73" fmla="*/ 201 h 724"/>
                  <a:gd name="T74" fmla="*/ 197 w 454"/>
                  <a:gd name="T75" fmla="*/ 194 h 724"/>
                  <a:gd name="T76" fmla="*/ 172 w 454"/>
                  <a:gd name="T77" fmla="*/ 187 h 724"/>
                  <a:gd name="T78" fmla="*/ 139 w 454"/>
                  <a:gd name="T79" fmla="*/ 180 h 724"/>
                  <a:gd name="T80" fmla="*/ 102 w 454"/>
                  <a:gd name="T81" fmla="*/ 172 h 724"/>
                  <a:gd name="T82" fmla="*/ 108 w 454"/>
                  <a:gd name="T83" fmla="*/ 160 h 724"/>
                  <a:gd name="T84" fmla="*/ 115 w 454"/>
                  <a:gd name="T85" fmla="*/ 149 h 724"/>
                  <a:gd name="T86" fmla="*/ 122 w 454"/>
                  <a:gd name="T87" fmla="*/ 137 h 724"/>
                  <a:gd name="T88" fmla="*/ 129 w 454"/>
                  <a:gd name="T89" fmla="*/ 126 h 724"/>
                  <a:gd name="T90" fmla="*/ 135 w 454"/>
                  <a:gd name="T91" fmla="*/ 114 h 724"/>
                  <a:gd name="T92" fmla="*/ 143 w 454"/>
                  <a:gd name="T93" fmla="*/ 103 h 724"/>
                  <a:gd name="T94" fmla="*/ 149 w 454"/>
                  <a:gd name="T95" fmla="*/ 92 h 724"/>
                  <a:gd name="T96" fmla="*/ 157 w 454"/>
                  <a:gd name="T97" fmla="*/ 80 h 724"/>
                  <a:gd name="T98" fmla="*/ 146 w 454"/>
                  <a:gd name="T99" fmla="*/ 42 h 724"/>
                  <a:gd name="T100" fmla="*/ 131 w 454"/>
                  <a:gd name="T101" fmla="*/ 17 h 724"/>
                  <a:gd name="T102" fmla="*/ 113 w 454"/>
                  <a:gd name="T103" fmla="*/ 4 h 724"/>
                  <a:gd name="T104" fmla="*/ 93 w 454"/>
                  <a:gd name="T105" fmla="*/ 0 h 724"/>
                  <a:gd name="T106" fmla="*/ 74 w 454"/>
                  <a:gd name="T107" fmla="*/ 3 h 724"/>
                  <a:gd name="T108" fmla="*/ 57 w 454"/>
                  <a:gd name="T109" fmla="*/ 11 h 724"/>
                  <a:gd name="T110" fmla="*/ 45 w 454"/>
                  <a:gd name="T111" fmla="*/ 20 h 724"/>
                  <a:gd name="T112" fmla="*/ 39 w 454"/>
                  <a:gd name="T113" fmla="*/ 31 h 72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54"/>
                  <a:gd name="T172" fmla="*/ 0 h 724"/>
                  <a:gd name="T173" fmla="*/ 454 w 454"/>
                  <a:gd name="T174" fmla="*/ 724 h 72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54" h="724">
                    <a:moveTo>
                      <a:pt x="77" y="61"/>
                    </a:moveTo>
                    <a:lnTo>
                      <a:pt x="42" y="140"/>
                    </a:lnTo>
                    <a:lnTo>
                      <a:pt x="24" y="205"/>
                    </a:lnTo>
                    <a:lnTo>
                      <a:pt x="23" y="261"/>
                    </a:lnTo>
                    <a:lnTo>
                      <a:pt x="39" y="310"/>
                    </a:lnTo>
                    <a:lnTo>
                      <a:pt x="72" y="352"/>
                    </a:lnTo>
                    <a:lnTo>
                      <a:pt x="122" y="395"/>
                    </a:lnTo>
                    <a:lnTo>
                      <a:pt x="190" y="439"/>
                    </a:lnTo>
                    <a:lnTo>
                      <a:pt x="276" y="490"/>
                    </a:lnTo>
                    <a:lnTo>
                      <a:pt x="308" y="509"/>
                    </a:lnTo>
                    <a:lnTo>
                      <a:pt x="303" y="538"/>
                    </a:lnTo>
                    <a:lnTo>
                      <a:pt x="271" y="569"/>
                    </a:lnTo>
                    <a:lnTo>
                      <a:pt x="222" y="605"/>
                    </a:lnTo>
                    <a:lnTo>
                      <a:pt x="163" y="638"/>
                    </a:lnTo>
                    <a:lnTo>
                      <a:pt x="106" y="669"/>
                    </a:lnTo>
                    <a:lnTo>
                      <a:pt x="57" y="693"/>
                    </a:lnTo>
                    <a:lnTo>
                      <a:pt x="27" y="709"/>
                    </a:lnTo>
                    <a:lnTo>
                      <a:pt x="28" y="721"/>
                    </a:lnTo>
                    <a:lnTo>
                      <a:pt x="26" y="724"/>
                    </a:lnTo>
                    <a:lnTo>
                      <a:pt x="19" y="721"/>
                    </a:lnTo>
                    <a:lnTo>
                      <a:pt x="14" y="716"/>
                    </a:lnTo>
                    <a:lnTo>
                      <a:pt x="7" y="709"/>
                    </a:lnTo>
                    <a:lnTo>
                      <a:pt x="3" y="707"/>
                    </a:lnTo>
                    <a:lnTo>
                      <a:pt x="0" y="711"/>
                    </a:lnTo>
                    <a:lnTo>
                      <a:pt x="3" y="724"/>
                    </a:lnTo>
                    <a:lnTo>
                      <a:pt x="52" y="698"/>
                    </a:lnTo>
                    <a:lnTo>
                      <a:pt x="101" y="672"/>
                    </a:lnTo>
                    <a:lnTo>
                      <a:pt x="150" y="645"/>
                    </a:lnTo>
                    <a:lnTo>
                      <a:pt x="199" y="620"/>
                    </a:lnTo>
                    <a:lnTo>
                      <a:pt x="247" y="594"/>
                    </a:lnTo>
                    <a:lnTo>
                      <a:pt x="296" y="568"/>
                    </a:lnTo>
                    <a:lnTo>
                      <a:pt x="345" y="541"/>
                    </a:lnTo>
                    <a:lnTo>
                      <a:pt x="394" y="516"/>
                    </a:lnTo>
                    <a:lnTo>
                      <a:pt x="436" y="472"/>
                    </a:lnTo>
                    <a:lnTo>
                      <a:pt x="454" y="441"/>
                    </a:lnTo>
                    <a:lnTo>
                      <a:pt x="452" y="417"/>
                    </a:lnTo>
                    <a:lnTo>
                      <a:pt x="432" y="401"/>
                    </a:lnTo>
                    <a:lnTo>
                      <a:pt x="394" y="386"/>
                    </a:lnTo>
                    <a:lnTo>
                      <a:pt x="343" y="373"/>
                    </a:lnTo>
                    <a:lnTo>
                      <a:pt x="278" y="360"/>
                    </a:lnTo>
                    <a:lnTo>
                      <a:pt x="204" y="343"/>
                    </a:lnTo>
                    <a:lnTo>
                      <a:pt x="216" y="320"/>
                    </a:lnTo>
                    <a:lnTo>
                      <a:pt x="230" y="297"/>
                    </a:lnTo>
                    <a:lnTo>
                      <a:pt x="244" y="274"/>
                    </a:lnTo>
                    <a:lnTo>
                      <a:pt x="258" y="252"/>
                    </a:lnTo>
                    <a:lnTo>
                      <a:pt x="270" y="228"/>
                    </a:lnTo>
                    <a:lnTo>
                      <a:pt x="285" y="205"/>
                    </a:lnTo>
                    <a:lnTo>
                      <a:pt x="298" y="183"/>
                    </a:lnTo>
                    <a:lnTo>
                      <a:pt x="313" y="160"/>
                    </a:lnTo>
                    <a:lnTo>
                      <a:pt x="291" y="83"/>
                    </a:lnTo>
                    <a:lnTo>
                      <a:pt x="261" y="34"/>
                    </a:lnTo>
                    <a:lnTo>
                      <a:pt x="225" y="7"/>
                    </a:lnTo>
                    <a:lnTo>
                      <a:pt x="186" y="0"/>
                    </a:lnTo>
                    <a:lnTo>
                      <a:pt x="147" y="5"/>
                    </a:lnTo>
                    <a:lnTo>
                      <a:pt x="115" y="21"/>
                    </a:lnTo>
                    <a:lnTo>
                      <a:pt x="89" y="40"/>
                    </a:lnTo>
                    <a:lnTo>
                      <a:pt x="77" y="6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0" name="Freeform 629">
                <a:extLst>
                  <a:ext uri="{FF2B5EF4-FFF2-40B4-BE49-F238E27FC236}">
                    <a16:creationId xmlns:a16="http://schemas.microsoft.com/office/drawing/2014/main" id="{F6550AC7-A0FE-D942-9159-68DEDF32FDD7}"/>
                  </a:ext>
                </a:extLst>
              </p:cNvPr>
              <p:cNvSpPr>
                <a:spLocks/>
              </p:cNvSpPr>
              <p:nvPr/>
            </p:nvSpPr>
            <p:spPr bwMode="auto">
              <a:xfrm>
                <a:off x="4610" y="3894"/>
                <a:ext cx="169" cy="140"/>
              </a:xfrm>
              <a:custGeom>
                <a:avLst/>
                <a:gdLst>
                  <a:gd name="T0" fmla="*/ 75 w 338"/>
                  <a:gd name="T1" fmla="*/ 0 h 280"/>
                  <a:gd name="T2" fmla="*/ 110 w 338"/>
                  <a:gd name="T3" fmla="*/ 9 h 280"/>
                  <a:gd name="T4" fmla="*/ 134 w 338"/>
                  <a:gd name="T5" fmla="*/ 19 h 280"/>
                  <a:gd name="T6" fmla="*/ 148 w 338"/>
                  <a:gd name="T7" fmla="*/ 27 h 280"/>
                  <a:gd name="T8" fmla="*/ 156 w 338"/>
                  <a:gd name="T9" fmla="*/ 36 h 280"/>
                  <a:gd name="T10" fmla="*/ 159 w 338"/>
                  <a:gd name="T11" fmla="*/ 45 h 280"/>
                  <a:gd name="T12" fmla="*/ 161 w 338"/>
                  <a:gd name="T13" fmla="*/ 55 h 280"/>
                  <a:gd name="T14" fmla="*/ 163 w 338"/>
                  <a:gd name="T15" fmla="*/ 67 h 280"/>
                  <a:gd name="T16" fmla="*/ 169 w 338"/>
                  <a:gd name="T17" fmla="*/ 80 h 280"/>
                  <a:gd name="T18" fmla="*/ 147 w 338"/>
                  <a:gd name="T19" fmla="*/ 102 h 280"/>
                  <a:gd name="T20" fmla="*/ 124 w 338"/>
                  <a:gd name="T21" fmla="*/ 118 h 280"/>
                  <a:gd name="T22" fmla="*/ 102 w 338"/>
                  <a:gd name="T23" fmla="*/ 129 h 280"/>
                  <a:gd name="T24" fmla="*/ 82 w 338"/>
                  <a:gd name="T25" fmla="*/ 136 h 280"/>
                  <a:gd name="T26" fmla="*/ 61 w 338"/>
                  <a:gd name="T27" fmla="*/ 140 h 280"/>
                  <a:gd name="T28" fmla="*/ 42 w 338"/>
                  <a:gd name="T29" fmla="*/ 140 h 280"/>
                  <a:gd name="T30" fmla="*/ 23 w 338"/>
                  <a:gd name="T31" fmla="*/ 138 h 280"/>
                  <a:gd name="T32" fmla="*/ 6 w 338"/>
                  <a:gd name="T33" fmla="*/ 136 h 280"/>
                  <a:gd name="T34" fmla="*/ 0 w 338"/>
                  <a:gd name="T35" fmla="*/ 123 h 280"/>
                  <a:gd name="T36" fmla="*/ 0 w 338"/>
                  <a:gd name="T37" fmla="*/ 108 h 280"/>
                  <a:gd name="T38" fmla="*/ 3 w 338"/>
                  <a:gd name="T39" fmla="*/ 90 h 280"/>
                  <a:gd name="T40" fmla="*/ 12 w 338"/>
                  <a:gd name="T41" fmla="*/ 71 h 280"/>
                  <a:gd name="T42" fmla="*/ 23 w 338"/>
                  <a:gd name="T43" fmla="*/ 51 h 280"/>
                  <a:gd name="T44" fmla="*/ 39 w 338"/>
                  <a:gd name="T45" fmla="*/ 33 h 280"/>
                  <a:gd name="T46" fmla="*/ 55 w 338"/>
                  <a:gd name="T47" fmla="*/ 15 h 280"/>
                  <a:gd name="T48" fmla="*/ 75 w 338"/>
                  <a:gd name="T49" fmla="*/ 0 h 2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8"/>
                  <a:gd name="T76" fmla="*/ 0 h 280"/>
                  <a:gd name="T77" fmla="*/ 338 w 338"/>
                  <a:gd name="T78" fmla="*/ 280 h 2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8" h="280">
                    <a:moveTo>
                      <a:pt x="150" y="0"/>
                    </a:moveTo>
                    <a:lnTo>
                      <a:pt x="220" y="19"/>
                    </a:lnTo>
                    <a:lnTo>
                      <a:pt x="268" y="38"/>
                    </a:lnTo>
                    <a:lnTo>
                      <a:pt x="296" y="54"/>
                    </a:lnTo>
                    <a:lnTo>
                      <a:pt x="312" y="73"/>
                    </a:lnTo>
                    <a:lnTo>
                      <a:pt x="317" y="91"/>
                    </a:lnTo>
                    <a:lnTo>
                      <a:pt x="321" y="111"/>
                    </a:lnTo>
                    <a:lnTo>
                      <a:pt x="326" y="133"/>
                    </a:lnTo>
                    <a:lnTo>
                      <a:pt x="338" y="161"/>
                    </a:lnTo>
                    <a:lnTo>
                      <a:pt x="293" y="205"/>
                    </a:lnTo>
                    <a:lnTo>
                      <a:pt x="249" y="237"/>
                    </a:lnTo>
                    <a:lnTo>
                      <a:pt x="205" y="258"/>
                    </a:lnTo>
                    <a:lnTo>
                      <a:pt x="164" y="272"/>
                    </a:lnTo>
                    <a:lnTo>
                      <a:pt x="122" y="279"/>
                    </a:lnTo>
                    <a:lnTo>
                      <a:pt x="85" y="280"/>
                    </a:lnTo>
                    <a:lnTo>
                      <a:pt x="47" y="276"/>
                    </a:lnTo>
                    <a:lnTo>
                      <a:pt x="12" y="272"/>
                    </a:lnTo>
                    <a:lnTo>
                      <a:pt x="0" y="246"/>
                    </a:lnTo>
                    <a:lnTo>
                      <a:pt x="0" y="216"/>
                    </a:lnTo>
                    <a:lnTo>
                      <a:pt x="7" y="180"/>
                    </a:lnTo>
                    <a:lnTo>
                      <a:pt x="25" y="143"/>
                    </a:lnTo>
                    <a:lnTo>
                      <a:pt x="47" y="103"/>
                    </a:lnTo>
                    <a:lnTo>
                      <a:pt x="77" y="65"/>
                    </a:lnTo>
                    <a:lnTo>
                      <a:pt x="111" y="30"/>
                    </a:lnTo>
                    <a:lnTo>
                      <a:pt x="150" y="0"/>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1" name="Freeform 630">
                <a:extLst>
                  <a:ext uri="{FF2B5EF4-FFF2-40B4-BE49-F238E27FC236}">
                    <a16:creationId xmlns:a16="http://schemas.microsoft.com/office/drawing/2014/main" id="{C612E088-504D-6F4A-BB8D-7C08287C6360}"/>
                  </a:ext>
                </a:extLst>
              </p:cNvPr>
              <p:cNvSpPr>
                <a:spLocks/>
              </p:cNvSpPr>
              <p:nvPr/>
            </p:nvSpPr>
            <p:spPr bwMode="auto">
              <a:xfrm>
                <a:off x="4091" y="3654"/>
                <a:ext cx="146" cy="173"/>
              </a:xfrm>
              <a:custGeom>
                <a:avLst/>
                <a:gdLst>
                  <a:gd name="T0" fmla="*/ 146 w 291"/>
                  <a:gd name="T1" fmla="*/ 27 h 346"/>
                  <a:gd name="T2" fmla="*/ 138 w 291"/>
                  <a:gd name="T3" fmla="*/ 45 h 346"/>
                  <a:gd name="T4" fmla="*/ 131 w 291"/>
                  <a:gd name="T5" fmla="*/ 63 h 346"/>
                  <a:gd name="T6" fmla="*/ 123 w 291"/>
                  <a:gd name="T7" fmla="*/ 82 h 346"/>
                  <a:gd name="T8" fmla="*/ 116 w 291"/>
                  <a:gd name="T9" fmla="*/ 100 h 346"/>
                  <a:gd name="T10" fmla="*/ 108 w 291"/>
                  <a:gd name="T11" fmla="*/ 118 h 346"/>
                  <a:gd name="T12" fmla="*/ 100 w 291"/>
                  <a:gd name="T13" fmla="*/ 137 h 346"/>
                  <a:gd name="T14" fmla="*/ 92 w 291"/>
                  <a:gd name="T15" fmla="*/ 155 h 346"/>
                  <a:gd name="T16" fmla="*/ 86 w 291"/>
                  <a:gd name="T17" fmla="*/ 173 h 346"/>
                  <a:gd name="T18" fmla="*/ 69 w 291"/>
                  <a:gd name="T19" fmla="*/ 152 h 346"/>
                  <a:gd name="T20" fmla="*/ 53 w 291"/>
                  <a:gd name="T21" fmla="*/ 131 h 346"/>
                  <a:gd name="T22" fmla="*/ 37 w 291"/>
                  <a:gd name="T23" fmla="*/ 110 h 346"/>
                  <a:gd name="T24" fmla="*/ 24 w 291"/>
                  <a:gd name="T25" fmla="*/ 91 h 346"/>
                  <a:gd name="T26" fmla="*/ 12 w 291"/>
                  <a:gd name="T27" fmla="*/ 72 h 346"/>
                  <a:gd name="T28" fmla="*/ 4 w 291"/>
                  <a:gd name="T29" fmla="*/ 54 h 346"/>
                  <a:gd name="T30" fmla="*/ 0 w 291"/>
                  <a:gd name="T31" fmla="*/ 40 h 346"/>
                  <a:gd name="T32" fmla="*/ 3 w 291"/>
                  <a:gd name="T33" fmla="*/ 28 h 346"/>
                  <a:gd name="T34" fmla="*/ 19 w 291"/>
                  <a:gd name="T35" fmla="*/ 13 h 346"/>
                  <a:gd name="T36" fmla="*/ 36 w 291"/>
                  <a:gd name="T37" fmla="*/ 5 h 346"/>
                  <a:gd name="T38" fmla="*/ 52 w 291"/>
                  <a:gd name="T39" fmla="*/ 0 h 346"/>
                  <a:gd name="T40" fmla="*/ 69 w 291"/>
                  <a:gd name="T41" fmla="*/ 1 h 346"/>
                  <a:gd name="T42" fmla="*/ 86 w 291"/>
                  <a:gd name="T43" fmla="*/ 5 h 346"/>
                  <a:gd name="T44" fmla="*/ 105 w 291"/>
                  <a:gd name="T45" fmla="*/ 11 h 346"/>
                  <a:gd name="T46" fmla="*/ 124 w 291"/>
                  <a:gd name="T47" fmla="*/ 19 h 346"/>
                  <a:gd name="T48" fmla="*/ 146 w 291"/>
                  <a:gd name="T49" fmla="*/ 27 h 3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1"/>
                  <a:gd name="T76" fmla="*/ 0 h 346"/>
                  <a:gd name="T77" fmla="*/ 291 w 291"/>
                  <a:gd name="T78" fmla="*/ 346 h 3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1" h="346">
                    <a:moveTo>
                      <a:pt x="291" y="54"/>
                    </a:moveTo>
                    <a:lnTo>
                      <a:pt x="276" y="91"/>
                    </a:lnTo>
                    <a:lnTo>
                      <a:pt x="261" y="127"/>
                    </a:lnTo>
                    <a:lnTo>
                      <a:pt x="246" y="163"/>
                    </a:lnTo>
                    <a:lnTo>
                      <a:pt x="231" y="201"/>
                    </a:lnTo>
                    <a:lnTo>
                      <a:pt x="215" y="236"/>
                    </a:lnTo>
                    <a:lnTo>
                      <a:pt x="199" y="274"/>
                    </a:lnTo>
                    <a:lnTo>
                      <a:pt x="184" y="309"/>
                    </a:lnTo>
                    <a:lnTo>
                      <a:pt x="171" y="346"/>
                    </a:lnTo>
                    <a:lnTo>
                      <a:pt x="138" y="304"/>
                    </a:lnTo>
                    <a:lnTo>
                      <a:pt x="106" y="262"/>
                    </a:lnTo>
                    <a:lnTo>
                      <a:pt x="74" y="221"/>
                    </a:lnTo>
                    <a:lnTo>
                      <a:pt x="47" y="182"/>
                    </a:lnTo>
                    <a:lnTo>
                      <a:pt x="23" y="143"/>
                    </a:lnTo>
                    <a:lnTo>
                      <a:pt x="8" y="109"/>
                    </a:lnTo>
                    <a:lnTo>
                      <a:pt x="0" y="79"/>
                    </a:lnTo>
                    <a:lnTo>
                      <a:pt x="5" y="57"/>
                    </a:lnTo>
                    <a:lnTo>
                      <a:pt x="38" y="27"/>
                    </a:lnTo>
                    <a:lnTo>
                      <a:pt x="72" y="9"/>
                    </a:lnTo>
                    <a:lnTo>
                      <a:pt x="103" y="0"/>
                    </a:lnTo>
                    <a:lnTo>
                      <a:pt x="137" y="3"/>
                    </a:lnTo>
                    <a:lnTo>
                      <a:pt x="171" y="9"/>
                    </a:lnTo>
                    <a:lnTo>
                      <a:pt x="209" y="22"/>
                    </a:lnTo>
                    <a:lnTo>
                      <a:pt x="248" y="37"/>
                    </a:lnTo>
                    <a:lnTo>
                      <a:pt x="291" y="54"/>
                    </a:lnTo>
                    <a:close/>
                  </a:path>
                </a:pathLst>
              </a:custGeom>
              <a:solidFill>
                <a:srgbClr val="FF005E"/>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2" name="Freeform 631">
                <a:extLst>
                  <a:ext uri="{FF2B5EF4-FFF2-40B4-BE49-F238E27FC236}">
                    <a16:creationId xmlns:a16="http://schemas.microsoft.com/office/drawing/2014/main" id="{912FF4B3-2380-C343-82CD-F26ACFF7F177}"/>
                  </a:ext>
                </a:extLst>
              </p:cNvPr>
              <p:cNvSpPr>
                <a:spLocks/>
              </p:cNvSpPr>
              <p:nvPr/>
            </p:nvSpPr>
            <p:spPr bwMode="auto">
              <a:xfrm>
                <a:off x="4514" y="2857"/>
                <a:ext cx="157" cy="149"/>
              </a:xfrm>
              <a:custGeom>
                <a:avLst/>
                <a:gdLst>
                  <a:gd name="T0" fmla="*/ 0 w 313"/>
                  <a:gd name="T1" fmla="*/ 78 h 298"/>
                  <a:gd name="T2" fmla="*/ 13 w 313"/>
                  <a:gd name="T3" fmla="*/ 69 h 298"/>
                  <a:gd name="T4" fmla="*/ 25 w 313"/>
                  <a:gd name="T5" fmla="*/ 58 h 298"/>
                  <a:gd name="T6" fmla="*/ 33 w 313"/>
                  <a:gd name="T7" fmla="*/ 46 h 298"/>
                  <a:gd name="T8" fmla="*/ 42 w 313"/>
                  <a:gd name="T9" fmla="*/ 34 h 298"/>
                  <a:gd name="T10" fmla="*/ 49 w 313"/>
                  <a:gd name="T11" fmla="*/ 20 h 298"/>
                  <a:gd name="T12" fmla="*/ 59 w 313"/>
                  <a:gd name="T13" fmla="*/ 10 h 298"/>
                  <a:gd name="T14" fmla="*/ 70 w 313"/>
                  <a:gd name="T15" fmla="*/ 3 h 298"/>
                  <a:gd name="T16" fmla="*/ 85 w 313"/>
                  <a:gd name="T17" fmla="*/ 0 h 298"/>
                  <a:gd name="T18" fmla="*/ 117 w 313"/>
                  <a:gd name="T19" fmla="*/ 11 h 298"/>
                  <a:gd name="T20" fmla="*/ 139 w 313"/>
                  <a:gd name="T21" fmla="*/ 29 h 298"/>
                  <a:gd name="T22" fmla="*/ 152 w 313"/>
                  <a:gd name="T23" fmla="*/ 51 h 298"/>
                  <a:gd name="T24" fmla="*/ 157 w 313"/>
                  <a:gd name="T25" fmla="*/ 76 h 298"/>
                  <a:gd name="T26" fmla="*/ 154 w 313"/>
                  <a:gd name="T27" fmla="*/ 99 h 298"/>
                  <a:gd name="T28" fmla="*/ 145 w 313"/>
                  <a:gd name="T29" fmla="*/ 121 h 298"/>
                  <a:gd name="T30" fmla="*/ 130 w 313"/>
                  <a:gd name="T31" fmla="*/ 138 h 298"/>
                  <a:gd name="T32" fmla="*/ 111 w 313"/>
                  <a:gd name="T33" fmla="*/ 149 h 298"/>
                  <a:gd name="T34" fmla="*/ 85 w 313"/>
                  <a:gd name="T35" fmla="*/ 148 h 298"/>
                  <a:gd name="T36" fmla="*/ 65 w 313"/>
                  <a:gd name="T37" fmla="*/ 141 h 298"/>
                  <a:gd name="T38" fmla="*/ 49 w 313"/>
                  <a:gd name="T39" fmla="*/ 129 h 298"/>
                  <a:gd name="T40" fmla="*/ 37 w 313"/>
                  <a:gd name="T41" fmla="*/ 116 h 298"/>
                  <a:gd name="T42" fmla="*/ 27 w 313"/>
                  <a:gd name="T43" fmla="*/ 101 h 298"/>
                  <a:gd name="T44" fmla="*/ 18 w 313"/>
                  <a:gd name="T45" fmla="*/ 89 h 298"/>
                  <a:gd name="T46" fmla="*/ 10 w 313"/>
                  <a:gd name="T47" fmla="*/ 80 h 298"/>
                  <a:gd name="T48" fmla="*/ 0 w 313"/>
                  <a:gd name="T49" fmla="*/ 78 h 29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13"/>
                  <a:gd name="T76" fmla="*/ 0 h 298"/>
                  <a:gd name="T77" fmla="*/ 313 w 313"/>
                  <a:gd name="T78" fmla="*/ 298 h 29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13" h="298">
                    <a:moveTo>
                      <a:pt x="0" y="156"/>
                    </a:moveTo>
                    <a:lnTo>
                      <a:pt x="26" y="138"/>
                    </a:lnTo>
                    <a:lnTo>
                      <a:pt x="49" y="117"/>
                    </a:lnTo>
                    <a:lnTo>
                      <a:pt x="65" y="92"/>
                    </a:lnTo>
                    <a:lnTo>
                      <a:pt x="83" y="67"/>
                    </a:lnTo>
                    <a:lnTo>
                      <a:pt x="98" y="41"/>
                    </a:lnTo>
                    <a:lnTo>
                      <a:pt x="117" y="21"/>
                    </a:lnTo>
                    <a:lnTo>
                      <a:pt x="139" y="6"/>
                    </a:lnTo>
                    <a:lnTo>
                      <a:pt x="169" y="0"/>
                    </a:lnTo>
                    <a:lnTo>
                      <a:pt x="233" y="23"/>
                    </a:lnTo>
                    <a:lnTo>
                      <a:pt x="277" y="59"/>
                    </a:lnTo>
                    <a:lnTo>
                      <a:pt x="303" y="103"/>
                    </a:lnTo>
                    <a:lnTo>
                      <a:pt x="313" y="152"/>
                    </a:lnTo>
                    <a:lnTo>
                      <a:pt x="307" y="198"/>
                    </a:lnTo>
                    <a:lnTo>
                      <a:pt x="290" y="242"/>
                    </a:lnTo>
                    <a:lnTo>
                      <a:pt x="260" y="276"/>
                    </a:lnTo>
                    <a:lnTo>
                      <a:pt x="221" y="298"/>
                    </a:lnTo>
                    <a:lnTo>
                      <a:pt x="169" y="296"/>
                    </a:lnTo>
                    <a:lnTo>
                      <a:pt x="130" y="282"/>
                    </a:lnTo>
                    <a:lnTo>
                      <a:pt x="98" y="258"/>
                    </a:lnTo>
                    <a:lnTo>
                      <a:pt x="74" y="232"/>
                    </a:lnTo>
                    <a:lnTo>
                      <a:pt x="53" y="202"/>
                    </a:lnTo>
                    <a:lnTo>
                      <a:pt x="36" y="178"/>
                    </a:lnTo>
                    <a:lnTo>
                      <a:pt x="19" y="161"/>
                    </a:lnTo>
                    <a:lnTo>
                      <a:pt x="0" y="156"/>
                    </a:lnTo>
                    <a:close/>
                  </a:path>
                </a:pathLst>
              </a:custGeom>
              <a:solidFill>
                <a:srgbClr val="FFEBE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3" name="Freeform 632">
                <a:extLst>
                  <a:ext uri="{FF2B5EF4-FFF2-40B4-BE49-F238E27FC236}">
                    <a16:creationId xmlns:a16="http://schemas.microsoft.com/office/drawing/2014/main" id="{F64874D0-D22D-5A41-B5D4-EFC57E7DD886}"/>
                  </a:ext>
                </a:extLst>
              </p:cNvPr>
              <p:cNvSpPr>
                <a:spLocks/>
              </p:cNvSpPr>
              <p:nvPr/>
            </p:nvSpPr>
            <p:spPr bwMode="auto">
              <a:xfrm>
                <a:off x="3806" y="3238"/>
                <a:ext cx="118" cy="112"/>
              </a:xfrm>
              <a:custGeom>
                <a:avLst/>
                <a:gdLst>
                  <a:gd name="T0" fmla="*/ 0 w 237"/>
                  <a:gd name="T1" fmla="*/ 0 h 224"/>
                  <a:gd name="T2" fmla="*/ 15 w 237"/>
                  <a:gd name="T3" fmla="*/ 2 h 224"/>
                  <a:gd name="T4" fmla="*/ 33 w 237"/>
                  <a:gd name="T5" fmla="*/ 11 h 224"/>
                  <a:gd name="T6" fmla="*/ 51 w 237"/>
                  <a:gd name="T7" fmla="*/ 25 h 224"/>
                  <a:gd name="T8" fmla="*/ 69 w 237"/>
                  <a:gd name="T9" fmla="*/ 42 h 224"/>
                  <a:gd name="T10" fmla="*/ 86 w 237"/>
                  <a:gd name="T11" fmla="*/ 60 h 224"/>
                  <a:gd name="T12" fmla="*/ 100 w 237"/>
                  <a:gd name="T13" fmla="*/ 79 h 224"/>
                  <a:gd name="T14" fmla="*/ 111 w 237"/>
                  <a:gd name="T15" fmla="*/ 97 h 224"/>
                  <a:gd name="T16" fmla="*/ 118 w 237"/>
                  <a:gd name="T17" fmla="*/ 112 h 2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7"/>
                  <a:gd name="T28" fmla="*/ 0 h 224"/>
                  <a:gd name="T29" fmla="*/ 237 w 237"/>
                  <a:gd name="T30" fmla="*/ 224 h 2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7" h="224">
                    <a:moveTo>
                      <a:pt x="0" y="0"/>
                    </a:moveTo>
                    <a:lnTo>
                      <a:pt x="31" y="4"/>
                    </a:lnTo>
                    <a:lnTo>
                      <a:pt x="66" y="21"/>
                    </a:lnTo>
                    <a:lnTo>
                      <a:pt x="103" y="49"/>
                    </a:lnTo>
                    <a:lnTo>
                      <a:pt x="139" y="84"/>
                    </a:lnTo>
                    <a:lnTo>
                      <a:pt x="172" y="120"/>
                    </a:lnTo>
                    <a:lnTo>
                      <a:pt x="201" y="158"/>
                    </a:lnTo>
                    <a:lnTo>
                      <a:pt x="222" y="193"/>
                    </a:lnTo>
                    <a:lnTo>
                      <a:pt x="237" y="224"/>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4" name="Freeform 633">
                <a:extLst>
                  <a:ext uri="{FF2B5EF4-FFF2-40B4-BE49-F238E27FC236}">
                    <a16:creationId xmlns:a16="http://schemas.microsoft.com/office/drawing/2014/main" id="{8A64EACF-77B9-0C42-B7D3-840DB6779297}"/>
                  </a:ext>
                </a:extLst>
              </p:cNvPr>
              <p:cNvSpPr>
                <a:spLocks/>
              </p:cNvSpPr>
              <p:nvPr/>
            </p:nvSpPr>
            <p:spPr bwMode="auto">
              <a:xfrm>
                <a:off x="3869" y="3207"/>
                <a:ext cx="119" cy="111"/>
              </a:xfrm>
              <a:custGeom>
                <a:avLst/>
                <a:gdLst>
                  <a:gd name="T0" fmla="*/ 0 w 238"/>
                  <a:gd name="T1" fmla="*/ 0 h 223"/>
                  <a:gd name="T2" fmla="*/ 15 w 238"/>
                  <a:gd name="T3" fmla="*/ 1 h 223"/>
                  <a:gd name="T4" fmla="*/ 34 w 238"/>
                  <a:gd name="T5" fmla="*/ 10 h 223"/>
                  <a:gd name="T6" fmla="*/ 52 w 238"/>
                  <a:gd name="T7" fmla="*/ 23 h 223"/>
                  <a:gd name="T8" fmla="*/ 71 w 238"/>
                  <a:gd name="T9" fmla="*/ 41 h 223"/>
                  <a:gd name="T10" fmla="*/ 87 w 238"/>
                  <a:gd name="T11" fmla="*/ 59 h 223"/>
                  <a:gd name="T12" fmla="*/ 102 w 238"/>
                  <a:gd name="T13" fmla="*/ 79 h 223"/>
                  <a:gd name="T14" fmla="*/ 112 w 238"/>
                  <a:gd name="T15" fmla="*/ 96 h 223"/>
                  <a:gd name="T16" fmla="*/ 119 w 238"/>
                  <a:gd name="T17" fmla="*/ 111 h 2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
                  <a:gd name="T28" fmla="*/ 0 h 223"/>
                  <a:gd name="T29" fmla="*/ 238 w 238"/>
                  <a:gd name="T30" fmla="*/ 223 h 2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 h="223">
                    <a:moveTo>
                      <a:pt x="0" y="0"/>
                    </a:moveTo>
                    <a:lnTo>
                      <a:pt x="31" y="3"/>
                    </a:lnTo>
                    <a:lnTo>
                      <a:pt x="67" y="21"/>
                    </a:lnTo>
                    <a:lnTo>
                      <a:pt x="104" y="47"/>
                    </a:lnTo>
                    <a:lnTo>
                      <a:pt x="141" y="82"/>
                    </a:lnTo>
                    <a:lnTo>
                      <a:pt x="174" y="119"/>
                    </a:lnTo>
                    <a:lnTo>
                      <a:pt x="203" y="158"/>
                    </a:lnTo>
                    <a:lnTo>
                      <a:pt x="224" y="193"/>
                    </a:lnTo>
                    <a:lnTo>
                      <a:pt x="238" y="223"/>
                    </a:lnTo>
                  </a:path>
                </a:pathLst>
              </a:custGeom>
              <a:noFill/>
              <a:ln w="1588">
                <a:solidFill>
                  <a:srgbClr val="000000"/>
                </a:solid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5" name="Freeform 634">
                <a:extLst>
                  <a:ext uri="{FF2B5EF4-FFF2-40B4-BE49-F238E27FC236}">
                    <a16:creationId xmlns:a16="http://schemas.microsoft.com/office/drawing/2014/main" id="{2CDD62DE-41D9-714B-9CCC-E90407807BDE}"/>
                  </a:ext>
                </a:extLst>
              </p:cNvPr>
              <p:cNvSpPr>
                <a:spLocks/>
              </p:cNvSpPr>
              <p:nvPr/>
            </p:nvSpPr>
            <p:spPr bwMode="auto">
              <a:xfrm>
                <a:off x="3793" y="3217"/>
                <a:ext cx="18" cy="32"/>
              </a:xfrm>
              <a:custGeom>
                <a:avLst/>
                <a:gdLst>
                  <a:gd name="T0" fmla="*/ 18 w 35"/>
                  <a:gd name="T1" fmla="*/ 16 h 64"/>
                  <a:gd name="T2" fmla="*/ 16 w 35"/>
                  <a:gd name="T3" fmla="*/ 22 h 64"/>
                  <a:gd name="T4" fmla="*/ 15 w 35"/>
                  <a:gd name="T5" fmla="*/ 27 h 64"/>
                  <a:gd name="T6" fmla="*/ 11 w 35"/>
                  <a:gd name="T7" fmla="*/ 30 h 64"/>
                  <a:gd name="T8" fmla="*/ 8 w 35"/>
                  <a:gd name="T9" fmla="*/ 32 h 64"/>
                  <a:gd name="T10" fmla="*/ 5 w 35"/>
                  <a:gd name="T11" fmla="*/ 30 h 64"/>
                  <a:gd name="T12" fmla="*/ 2 w 35"/>
                  <a:gd name="T13" fmla="*/ 27 h 64"/>
                  <a:gd name="T14" fmla="*/ 0 w 35"/>
                  <a:gd name="T15" fmla="*/ 21 h 64"/>
                  <a:gd name="T16" fmla="*/ 0 w 35"/>
                  <a:gd name="T17" fmla="*/ 15 h 64"/>
                  <a:gd name="T18" fmla="*/ 0 w 35"/>
                  <a:gd name="T19" fmla="*/ 8 h 64"/>
                  <a:gd name="T20" fmla="*/ 3 w 35"/>
                  <a:gd name="T21" fmla="*/ 4 h 64"/>
                  <a:gd name="T22" fmla="*/ 6 w 35"/>
                  <a:gd name="T23" fmla="*/ 1 h 64"/>
                  <a:gd name="T24" fmla="*/ 10 w 35"/>
                  <a:gd name="T25" fmla="*/ 0 h 64"/>
                  <a:gd name="T26" fmla="*/ 13 w 35"/>
                  <a:gd name="T27" fmla="*/ 1 h 64"/>
                  <a:gd name="T28" fmla="*/ 16 w 35"/>
                  <a:gd name="T29" fmla="*/ 5 h 64"/>
                  <a:gd name="T30" fmla="*/ 17 w 35"/>
                  <a:gd name="T31" fmla="*/ 10 h 64"/>
                  <a:gd name="T32" fmla="*/ 18 w 35"/>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5"/>
                  <a:gd name="T52" fmla="*/ 0 h 64"/>
                  <a:gd name="T53" fmla="*/ 35 w 3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5" h="64">
                    <a:moveTo>
                      <a:pt x="35" y="32"/>
                    </a:moveTo>
                    <a:lnTo>
                      <a:pt x="32" y="44"/>
                    </a:lnTo>
                    <a:lnTo>
                      <a:pt x="29" y="54"/>
                    </a:lnTo>
                    <a:lnTo>
                      <a:pt x="22" y="60"/>
                    </a:lnTo>
                    <a:lnTo>
                      <a:pt x="16" y="64"/>
                    </a:lnTo>
                    <a:lnTo>
                      <a:pt x="9" y="60"/>
                    </a:lnTo>
                    <a:lnTo>
                      <a:pt x="4" y="54"/>
                    </a:lnTo>
                    <a:lnTo>
                      <a:pt x="0" y="42"/>
                    </a:lnTo>
                    <a:lnTo>
                      <a:pt x="0" y="31"/>
                    </a:lnTo>
                    <a:lnTo>
                      <a:pt x="0" y="17"/>
                    </a:lnTo>
                    <a:lnTo>
                      <a:pt x="5" y="8"/>
                    </a:lnTo>
                    <a:lnTo>
                      <a:pt x="11" y="1"/>
                    </a:lnTo>
                    <a:lnTo>
                      <a:pt x="19" y="0"/>
                    </a:lnTo>
                    <a:lnTo>
                      <a:pt x="25" y="2"/>
                    </a:lnTo>
                    <a:lnTo>
                      <a:pt x="31" y="10"/>
                    </a:lnTo>
                    <a:lnTo>
                      <a:pt x="34" y="20"/>
                    </a:lnTo>
                    <a:lnTo>
                      <a:pt x="35" y="32"/>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6" name="Freeform 635">
                <a:extLst>
                  <a:ext uri="{FF2B5EF4-FFF2-40B4-BE49-F238E27FC236}">
                    <a16:creationId xmlns:a16="http://schemas.microsoft.com/office/drawing/2014/main" id="{FEA57B82-7A05-704B-89B7-791DE4BAC355}"/>
                  </a:ext>
                </a:extLst>
              </p:cNvPr>
              <p:cNvSpPr>
                <a:spLocks/>
              </p:cNvSpPr>
              <p:nvPr/>
            </p:nvSpPr>
            <p:spPr bwMode="auto">
              <a:xfrm>
                <a:off x="3866" y="3186"/>
                <a:ext cx="18" cy="33"/>
              </a:xfrm>
              <a:custGeom>
                <a:avLst/>
                <a:gdLst>
                  <a:gd name="T0" fmla="*/ 18 w 38"/>
                  <a:gd name="T1" fmla="*/ 17 h 65"/>
                  <a:gd name="T2" fmla="*/ 16 w 38"/>
                  <a:gd name="T3" fmla="*/ 23 h 65"/>
                  <a:gd name="T4" fmla="*/ 14 w 38"/>
                  <a:gd name="T5" fmla="*/ 28 h 65"/>
                  <a:gd name="T6" fmla="*/ 11 w 38"/>
                  <a:gd name="T7" fmla="*/ 31 h 65"/>
                  <a:gd name="T8" fmla="*/ 8 w 38"/>
                  <a:gd name="T9" fmla="*/ 33 h 65"/>
                  <a:gd name="T10" fmla="*/ 4 w 38"/>
                  <a:gd name="T11" fmla="*/ 31 h 65"/>
                  <a:gd name="T12" fmla="*/ 2 w 38"/>
                  <a:gd name="T13" fmla="*/ 27 h 65"/>
                  <a:gd name="T14" fmla="*/ 0 w 38"/>
                  <a:gd name="T15" fmla="*/ 24 h 65"/>
                  <a:gd name="T16" fmla="*/ 0 w 38"/>
                  <a:gd name="T17" fmla="*/ 22 h 65"/>
                  <a:gd name="T18" fmla="*/ 0 w 38"/>
                  <a:gd name="T19" fmla="*/ 19 h 65"/>
                  <a:gd name="T20" fmla="*/ 0 w 38"/>
                  <a:gd name="T21" fmla="*/ 15 h 65"/>
                  <a:gd name="T22" fmla="*/ 0 w 38"/>
                  <a:gd name="T23" fmla="*/ 9 h 65"/>
                  <a:gd name="T24" fmla="*/ 3 w 38"/>
                  <a:gd name="T25" fmla="*/ 5 h 65"/>
                  <a:gd name="T26" fmla="*/ 6 w 38"/>
                  <a:gd name="T27" fmla="*/ 1 h 65"/>
                  <a:gd name="T28" fmla="*/ 9 w 38"/>
                  <a:gd name="T29" fmla="*/ 0 h 65"/>
                  <a:gd name="T30" fmla="*/ 12 w 38"/>
                  <a:gd name="T31" fmla="*/ 2 h 65"/>
                  <a:gd name="T32" fmla="*/ 16 w 38"/>
                  <a:gd name="T33" fmla="*/ 5 h 65"/>
                  <a:gd name="T34" fmla="*/ 17 w 38"/>
                  <a:gd name="T35" fmla="*/ 10 h 65"/>
                  <a:gd name="T36" fmla="*/ 18 w 38"/>
                  <a:gd name="T37" fmla="*/ 17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8"/>
                  <a:gd name="T58" fmla="*/ 0 h 65"/>
                  <a:gd name="T59" fmla="*/ 38 w 38"/>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8" h="65">
                    <a:moveTo>
                      <a:pt x="38" y="33"/>
                    </a:moveTo>
                    <a:lnTo>
                      <a:pt x="34" y="45"/>
                    </a:lnTo>
                    <a:lnTo>
                      <a:pt x="29" y="55"/>
                    </a:lnTo>
                    <a:lnTo>
                      <a:pt x="23" y="62"/>
                    </a:lnTo>
                    <a:lnTo>
                      <a:pt x="16" y="65"/>
                    </a:lnTo>
                    <a:lnTo>
                      <a:pt x="9" y="62"/>
                    </a:lnTo>
                    <a:lnTo>
                      <a:pt x="4" y="54"/>
                    </a:lnTo>
                    <a:lnTo>
                      <a:pt x="1" y="48"/>
                    </a:lnTo>
                    <a:lnTo>
                      <a:pt x="0" y="43"/>
                    </a:lnTo>
                    <a:lnTo>
                      <a:pt x="0" y="37"/>
                    </a:lnTo>
                    <a:lnTo>
                      <a:pt x="1" y="30"/>
                    </a:lnTo>
                    <a:lnTo>
                      <a:pt x="1" y="18"/>
                    </a:lnTo>
                    <a:lnTo>
                      <a:pt x="6" y="9"/>
                    </a:lnTo>
                    <a:lnTo>
                      <a:pt x="13" y="2"/>
                    </a:lnTo>
                    <a:lnTo>
                      <a:pt x="20" y="0"/>
                    </a:lnTo>
                    <a:lnTo>
                      <a:pt x="26" y="3"/>
                    </a:lnTo>
                    <a:lnTo>
                      <a:pt x="33" y="9"/>
                    </a:lnTo>
                    <a:lnTo>
                      <a:pt x="35" y="19"/>
                    </a:lnTo>
                    <a:lnTo>
                      <a:pt x="38"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7" name="Freeform 636">
                <a:extLst>
                  <a:ext uri="{FF2B5EF4-FFF2-40B4-BE49-F238E27FC236}">
                    <a16:creationId xmlns:a16="http://schemas.microsoft.com/office/drawing/2014/main" id="{331963BC-DE8D-9043-96C4-8A7D86481F17}"/>
                  </a:ext>
                </a:extLst>
              </p:cNvPr>
              <p:cNvSpPr>
                <a:spLocks/>
              </p:cNvSpPr>
              <p:nvPr/>
            </p:nvSpPr>
            <p:spPr bwMode="auto">
              <a:xfrm>
                <a:off x="3919" y="3231"/>
                <a:ext cx="18" cy="32"/>
              </a:xfrm>
              <a:custGeom>
                <a:avLst/>
                <a:gdLst>
                  <a:gd name="T0" fmla="*/ 18 w 36"/>
                  <a:gd name="T1" fmla="*/ 16 h 64"/>
                  <a:gd name="T2" fmla="*/ 16 w 36"/>
                  <a:gd name="T3" fmla="*/ 22 h 64"/>
                  <a:gd name="T4" fmla="*/ 13 w 36"/>
                  <a:gd name="T5" fmla="*/ 27 h 64"/>
                  <a:gd name="T6" fmla="*/ 10 w 36"/>
                  <a:gd name="T7" fmla="*/ 31 h 64"/>
                  <a:gd name="T8" fmla="*/ 8 w 36"/>
                  <a:gd name="T9" fmla="*/ 32 h 64"/>
                  <a:gd name="T10" fmla="*/ 4 w 36"/>
                  <a:gd name="T11" fmla="*/ 30 h 64"/>
                  <a:gd name="T12" fmla="*/ 1 w 36"/>
                  <a:gd name="T13" fmla="*/ 27 h 64"/>
                  <a:gd name="T14" fmla="*/ 0 w 36"/>
                  <a:gd name="T15" fmla="*/ 22 h 64"/>
                  <a:gd name="T16" fmla="*/ 0 w 36"/>
                  <a:gd name="T17" fmla="*/ 16 h 64"/>
                  <a:gd name="T18" fmla="*/ 1 w 36"/>
                  <a:gd name="T19" fmla="*/ 9 h 64"/>
                  <a:gd name="T20" fmla="*/ 3 w 36"/>
                  <a:gd name="T21" fmla="*/ 4 h 64"/>
                  <a:gd name="T22" fmla="*/ 5 w 36"/>
                  <a:gd name="T23" fmla="*/ 1 h 64"/>
                  <a:gd name="T24" fmla="*/ 9 w 36"/>
                  <a:gd name="T25" fmla="*/ 0 h 64"/>
                  <a:gd name="T26" fmla="*/ 12 w 36"/>
                  <a:gd name="T27" fmla="*/ 1 h 64"/>
                  <a:gd name="T28" fmla="*/ 15 w 36"/>
                  <a:gd name="T29" fmla="*/ 5 h 64"/>
                  <a:gd name="T30" fmla="*/ 18 w 36"/>
                  <a:gd name="T31" fmla="*/ 10 h 64"/>
                  <a:gd name="T32" fmla="*/ 18 w 36"/>
                  <a:gd name="T33" fmla="*/ 16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6"/>
                  <a:gd name="T52" fmla="*/ 0 h 64"/>
                  <a:gd name="T53" fmla="*/ 36 w 3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6" h="64">
                    <a:moveTo>
                      <a:pt x="36" y="33"/>
                    </a:moveTo>
                    <a:lnTo>
                      <a:pt x="32" y="44"/>
                    </a:lnTo>
                    <a:lnTo>
                      <a:pt x="27" y="55"/>
                    </a:lnTo>
                    <a:lnTo>
                      <a:pt x="21" y="62"/>
                    </a:lnTo>
                    <a:lnTo>
                      <a:pt x="16" y="64"/>
                    </a:lnTo>
                    <a:lnTo>
                      <a:pt x="8" y="60"/>
                    </a:lnTo>
                    <a:lnTo>
                      <a:pt x="3" y="54"/>
                    </a:lnTo>
                    <a:lnTo>
                      <a:pt x="0" y="44"/>
                    </a:lnTo>
                    <a:lnTo>
                      <a:pt x="0" y="32"/>
                    </a:lnTo>
                    <a:lnTo>
                      <a:pt x="1" y="18"/>
                    </a:lnTo>
                    <a:lnTo>
                      <a:pt x="6" y="9"/>
                    </a:lnTo>
                    <a:lnTo>
                      <a:pt x="11" y="1"/>
                    </a:lnTo>
                    <a:lnTo>
                      <a:pt x="18" y="0"/>
                    </a:lnTo>
                    <a:lnTo>
                      <a:pt x="25" y="3"/>
                    </a:lnTo>
                    <a:lnTo>
                      <a:pt x="31" y="10"/>
                    </a:lnTo>
                    <a:lnTo>
                      <a:pt x="35" y="20"/>
                    </a:lnTo>
                    <a:lnTo>
                      <a:pt x="36" y="33"/>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8" name="Freeform 637">
                <a:extLst>
                  <a:ext uri="{FF2B5EF4-FFF2-40B4-BE49-F238E27FC236}">
                    <a16:creationId xmlns:a16="http://schemas.microsoft.com/office/drawing/2014/main" id="{97D98BB3-B6BC-6E42-B95B-C9DD7BAB4365}"/>
                  </a:ext>
                </a:extLst>
              </p:cNvPr>
              <p:cNvSpPr>
                <a:spLocks/>
              </p:cNvSpPr>
              <p:nvPr/>
            </p:nvSpPr>
            <p:spPr bwMode="auto">
              <a:xfrm>
                <a:off x="4329" y="2757"/>
                <a:ext cx="1004" cy="730"/>
              </a:xfrm>
              <a:custGeom>
                <a:avLst/>
                <a:gdLst>
                  <a:gd name="T0" fmla="*/ 7 w 2009"/>
                  <a:gd name="T1" fmla="*/ 582 h 1460"/>
                  <a:gd name="T2" fmla="*/ 29 w 2009"/>
                  <a:gd name="T3" fmla="*/ 532 h 1460"/>
                  <a:gd name="T4" fmla="*/ 54 w 2009"/>
                  <a:gd name="T5" fmla="*/ 483 h 1460"/>
                  <a:gd name="T6" fmla="*/ 76 w 2009"/>
                  <a:gd name="T7" fmla="*/ 433 h 1460"/>
                  <a:gd name="T8" fmla="*/ 156 w 2009"/>
                  <a:gd name="T9" fmla="*/ 298 h 1460"/>
                  <a:gd name="T10" fmla="*/ 314 w 2009"/>
                  <a:gd name="T11" fmla="*/ 134 h 1460"/>
                  <a:gd name="T12" fmla="*/ 504 w 2009"/>
                  <a:gd name="T13" fmla="*/ 38 h 1460"/>
                  <a:gd name="T14" fmla="*/ 736 w 2009"/>
                  <a:gd name="T15" fmla="*/ 13 h 1460"/>
                  <a:gd name="T16" fmla="*/ 881 w 2009"/>
                  <a:gd name="T17" fmla="*/ 30 h 1460"/>
                  <a:gd name="T18" fmla="*/ 901 w 2009"/>
                  <a:gd name="T19" fmla="*/ 31 h 1460"/>
                  <a:gd name="T20" fmla="*/ 923 w 2009"/>
                  <a:gd name="T21" fmla="*/ 25 h 1460"/>
                  <a:gd name="T22" fmla="*/ 943 w 2009"/>
                  <a:gd name="T23" fmla="*/ 11 h 1460"/>
                  <a:gd name="T24" fmla="*/ 958 w 2009"/>
                  <a:gd name="T25" fmla="*/ 11 h 1460"/>
                  <a:gd name="T26" fmla="*/ 965 w 2009"/>
                  <a:gd name="T27" fmla="*/ 33 h 1460"/>
                  <a:gd name="T28" fmla="*/ 968 w 2009"/>
                  <a:gd name="T29" fmla="*/ 56 h 1460"/>
                  <a:gd name="T30" fmla="*/ 966 w 2009"/>
                  <a:gd name="T31" fmla="*/ 82 h 1460"/>
                  <a:gd name="T32" fmla="*/ 997 w 2009"/>
                  <a:gd name="T33" fmla="*/ 201 h 1460"/>
                  <a:gd name="T34" fmla="*/ 992 w 2009"/>
                  <a:gd name="T35" fmla="*/ 399 h 1460"/>
                  <a:gd name="T36" fmla="*/ 939 w 2009"/>
                  <a:gd name="T37" fmla="*/ 560 h 1460"/>
                  <a:gd name="T38" fmla="*/ 893 w 2009"/>
                  <a:gd name="T39" fmla="*/ 663 h 1460"/>
                  <a:gd name="T40" fmla="*/ 890 w 2009"/>
                  <a:gd name="T41" fmla="*/ 696 h 1460"/>
                  <a:gd name="T42" fmla="*/ 888 w 2009"/>
                  <a:gd name="T43" fmla="*/ 706 h 1460"/>
                  <a:gd name="T44" fmla="*/ 886 w 2009"/>
                  <a:gd name="T45" fmla="*/ 711 h 1460"/>
                  <a:gd name="T46" fmla="*/ 885 w 2009"/>
                  <a:gd name="T47" fmla="*/ 720 h 1460"/>
                  <a:gd name="T48" fmla="*/ 873 w 2009"/>
                  <a:gd name="T49" fmla="*/ 722 h 1460"/>
                  <a:gd name="T50" fmla="*/ 841 w 2009"/>
                  <a:gd name="T51" fmla="*/ 714 h 1460"/>
                  <a:gd name="T52" fmla="*/ 804 w 2009"/>
                  <a:gd name="T53" fmla="*/ 710 h 1460"/>
                  <a:gd name="T54" fmla="*/ 771 w 2009"/>
                  <a:gd name="T55" fmla="*/ 703 h 1460"/>
                  <a:gd name="T56" fmla="*/ 702 w 2009"/>
                  <a:gd name="T57" fmla="*/ 669 h 1460"/>
                  <a:gd name="T58" fmla="*/ 616 w 2009"/>
                  <a:gd name="T59" fmla="*/ 602 h 1460"/>
                  <a:gd name="T60" fmla="*/ 551 w 2009"/>
                  <a:gd name="T61" fmla="*/ 523 h 1460"/>
                  <a:gd name="T62" fmla="*/ 481 w 2009"/>
                  <a:gd name="T63" fmla="*/ 432 h 1460"/>
                  <a:gd name="T64" fmla="*/ 412 w 2009"/>
                  <a:gd name="T65" fmla="*/ 379 h 1460"/>
                  <a:gd name="T66" fmla="*/ 367 w 2009"/>
                  <a:gd name="T67" fmla="*/ 382 h 1460"/>
                  <a:gd name="T68" fmla="*/ 318 w 2009"/>
                  <a:gd name="T69" fmla="*/ 399 h 1460"/>
                  <a:gd name="T70" fmla="*/ 258 w 2009"/>
                  <a:gd name="T71" fmla="*/ 428 h 1460"/>
                  <a:gd name="T72" fmla="*/ 205 w 2009"/>
                  <a:gd name="T73" fmla="*/ 471 h 1460"/>
                  <a:gd name="T74" fmla="*/ 163 w 2009"/>
                  <a:gd name="T75" fmla="*/ 523 h 1460"/>
                  <a:gd name="T76" fmla="*/ 118 w 2009"/>
                  <a:gd name="T77" fmla="*/ 579 h 1460"/>
                  <a:gd name="T78" fmla="*/ 76 w 2009"/>
                  <a:gd name="T79" fmla="*/ 632 h 1460"/>
                  <a:gd name="T80" fmla="*/ 53 w 2009"/>
                  <a:gd name="T81" fmla="*/ 654 h 1460"/>
                  <a:gd name="T82" fmla="*/ 37 w 2009"/>
                  <a:gd name="T83" fmla="*/ 641 h 1460"/>
                  <a:gd name="T84" fmla="*/ 20 w 2009"/>
                  <a:gd name="T85" fmla="*/ 623 h 1460"/>
                  <a:gd name="T86" fmla="*/ 5 w 2009"/>
                  <a:gd name="T87" fmla="*/ 610 h 14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09"/>
                  <a:gd name="T133" fmla="*/ 0 h 1460"/>
                  <a:gd name="T134" fmla="*/ 2009 w 2009"/>
                  <a:gd name="T135" fmla="*/ 1460 h 146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09" h="1460">
                    <a:moveTo>
                      <a:pt x="0" y="1218"/>
                    </a:moveTo>
                    <a:lnTo>
                      <a:pt x="15" y="1164"/>
                    </a:lnTo>
                    <a:lnTo>
                      <a:pt x="36" y="1114"/>
                    </a:lnTo>
                    <a:lnTo>
                      <a:pt x="59" y="1064"/>
                    </a:lnTo>
                    <a:lnTo>
                      <a:pt x="84" y="1016"/>
                    </a:lnTo>
                    <a:lnTo>
                      <a:pt x="108" y="966"/>
                    </a:lnTo>
                    <a:lnTo>
                      <a:pt x="131" y="917"/>
                    </a:lnTo>
                    <a:lnTo>
                      <a:pt x="153" y="866"/>
                    </a:lnTo>
                    <a:lnTo>
                      <a:pt x="170" y="813"/>
                    </a:lnTo>
                    <a:lnTo>
                      <a:pt x="312" y="596"/>
                    </a:lnTo>
                    <a:lnTo>
                      <a:pt x="465" y="416"/>
                    </a:lnTo>
                    <a:lnTo>
                      <a:pt x="629" y="268"/>
                    </a:lnTo>
                    <a:lnTo>
                      <a:pt x="811" y="155"/>
                    </a:lnTo>
                    <a:lnTo>
                      <a:pt x="1009" y="76"/>
                    </a:lnTo>
                    <a:lnTo>
                      <a:pt x="1230" y="35"/>
                    </a:lnTo>
                    <a:lnTo>
                      <a:pt x="1472" y="27"/>
                    </a:lnTo>
                    <a:lnTo>
                      <a:pt x="1743" y="59"/>
                    </a:lnTo>
                    <a:lnTo>
                      <a:pt x="1762" y="61"/>
                    </a:lnTo>
                    <a:lnTo>
                      <a:pt x="1783" y="63"/>
                    </a:lnTo>
                    <a:lnTo>
                      <a:pt x="1803" y="63"/>
                    </a:lnTo>
                    <a:lnTo>
                      <a:pt x="1826" y="60"/>
                    </a:lnTo>
                    <a:lnTo>
                      <a:pt x="1846" y="51"/>
                    </a:lnTo>
                    <a:lnTo>
                      <a:pt x="1867" y="40"/>
                    </a:lnTo>
                    <a:lnTo>
                      <a:pt x="1887" y="22"/>
                    </a:lnTo>
                    <a:lnTo>
                      <a:pt x="1908" y="0"/>
                    </a:lnTo>
                    <a:lnTo>
                      <a:pt x="1917" y="21"/>
                    </a:lnTo>
                    <a:lnTo>
                      <a:pt x="1926" y="44"/>
                    </a:lnTo>
                    <a:lnTo>
                      <a:pt x="1931" y="66"/>
                    </a:lnTo>
                    <a:lnTo>
                      <a:pt x="1936" y="90"/>
                    </a:lnTo>
                    <a:lnTo>
                      <a:pt x="1937" y="113"/>
                    </a:lnTo>
                    <a:lnTo>
                      <a:pt x="1937" y="138"/>
                    </a:lnTo>
                    <a:lnTo>
                      <a:pt x="1933" y="164"/>
                    </a:lnTo>
                    <a:lnTo>
                      <a:pt x="1927" y="193"/>
                    </a:lnTo>
                    <a:lnTo>
                      <a:pt x="1994" y="403"/>
                    </a:lnTo>
                    <a:lnTo>
                      <a:pt x="2009" y="608"/>
                    </a:lnTo>
                    <a:lnTo>
                      <a:pt x="1984" y="798"/>
                    </a:lnTo>
                    <a:lnTo>
                      <a:pt x="1937" y="971"/>
                    </a:lnTo>
                    <a:lnTo>
                      <a:pt x="1878" y="1119"/>
                    </a:lnTo>
                    <a:lnTo>
                      <a:pt x="1823" y="1240"/>
                    </a:lnTo>
                    <a:lnTo>
                      <a:pt x="1787" y="1326"/>
                    </a:lnTo>
                    <a:lnTo>
                      <a:pt x="1782" y="1375"/>
                    </a:lnTo>
                    <a:lnTo>
                      <a:pt x="1780" y="1392"/>
                    </a:lnTo>
                    <a:lnTo>
                      <a:pt x="1779" y="1405"/>
                    </a:lnTo>
                    <a:lnTo>
                      <a:pt x="1777" y="1411"/>
                    </a:lnTo>
                    <a:lnTo>
                      <a:pt x="1775" y="1417"/>
                    </a:lnTo>
                    <a:lnTo>
                      <a:pt x="1773" y="1421"/>
                    </a:lnTo>
                    <a:lnTo>
                      <a:pt x="1772" y="1427"/>
                    </a:lnTo>
                    <a:lnTo>
                      <a:pt x="1770" y="1440"/>
                    </a:lnTo>
                    <a:lnTo>
                      <a:pt x="1770" y="1460"/>
                    </a:lnTo>
                    <a:lnTo>
                      <a:pt x="1747" y="1443"/>
                    </a:lnTo>
                    <a:lnTo>
                      <a:pt x="1718" y="1435"/>
                    </a:lnTo>
                    <a:lnTo>
                      <a:pt x="1683" y="1428"/>
                    </a:lnTo>
                    <a:lnTo>
                      <a:pt x="1646" y="1425"/>
                    </a:lnTo>
                    <a:lnTo>
                      <a:pt x="1609" y="1420"/>
                    </a:lnTo>
                    <a:lnTo>
                      <a:pt x="1574" y="1415"/>
                    </a:lnTo>
                    <a:lnTo>
                      <a:pt x="1543" y="1406"/>
                    </a:lnTo>
                    <a:lnTo>
                      <a:pt x="1522" y="1393"/>
                    </a:lnTo>
                    <a:lnTo>
                      <a:pt x="1404" y="1337"/>
                    </a:lnTo>
                    <a:lnTo>
                      <a:pt x="1310" y="1273"/>
                    </a:lnTo>
                    <a:lnTo>
                      <a:pt x="1232" y="1203"/>
                    </a:lnTo>
                    <a:lnTo>
                      <a:pt x="1167" y="1128"/>
                    </a:lnTo>
                    <a:lnTo>
                      <a:pt x="1103" y="1045"/>
                    </a:lnTo>
                    <a:lnTo>
                      <a:pt x="1038" y="957"/>
                    </a:lnTo>
                    <a:lnTo>
                      <a:pt x="962" y="865"/>
                    </a:lnTo>
                    <a:lnTo>
                      <a:pt x="871" y="768"/>
                    </a:lnTo>
                    <a:lnTo>
                      <a:pt x="825" y="758"/>
                    </a:lnTo>
                    <a:lnTo>
                      <a:pt x="781" y="758"/>
                    </a:lnTo>
                    <a:lnTo>
                      <a:pt x="735" y="764"/>
                    </a:lnTo>
                    <a:lnTo>
                      <a:pt x="688" y="779"/>
                    </a:lnTo>
                    <a:lnTo>
                      <a:pt x="637" y="799"/>
                    </a:lnTo>
                    <a:lnTo>
                      <a:pt x="580" y="826"/>
                    </a:lnTo>
                    <a:lnTo>
                      <a:pt x="516" y="857"/>
                    </a:lnTo>
                    <a:lnTo>
                      <a:pt x="446" y="895"/>
                    </a:lnTo>
                    <a:lnTo>
                      <a:pt x="410" y="942"/>
                    </a:lnTo>
                    <a:lnTo>
                      <a:pt x="371" y="994"/>
                    </a:lnTo>
                    <a:lnTo>
                      <a:pt x="326" y="1046"/>
                    </a:lnTo>
                    <a:lnTo>
                      <a:pt x="282" y="1103"/>
                    </a:lnTo>
                    <a:lnTo>
                      <a:pt x="237" y="1157"/>
                    </a:lnTo>
                    <a:lnTo>
                      <a:pt x="193" y="1210"/>
                    </a:lnTo>
                    <a:lnTo>
                      <a:pt x="153" y="1263"/>
                    </a:lnTo>
                    <a:lnTo>
                      <a:pt x="119" y="1313"/>
                    </a:lnTo>
                    <a:lnTo>
                      <a:pt x="106" y="1308"/>
                    </a:lnTo>
                    <a:lnTo>
                      <a:pt x="93" y="1297"/>
                    </a:lnTo>
                    <a:lnTo>
                      <a:pt x="75" y="1281"/>
                    </a:lnTo>
                    <a:lnTo>
                      <a:pt x="59" y="1264"/>
                    </a:lnTo>
                    <a:lnTo>
                      <a:pt x="40" y="1245"/>
                    </a:lnTo>
                    <a:lnTo>
                      <a:pt x="24" y="1230"/>
                    </a:lnTo>
                    <a:lnTo>
                      <a:pt x="10" y="1220"/>
                    </a:lnTo>
                    <a:lnTo>
                      <a:pt x="0" y="1218"/>
                    </a:lnTo>
                    <a:close/>
                  </a:path>
                </a:pathLst>
              </a:custGeom>
              <a:solidFill>
                <a:srgbClr val="E3A68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19" name="Freeform 638">
                <a:extLst>
                  <a:ext uri="{FF2B5EF4-FFF2-40B4-BE49-F238E27FC236}">
                    <a16:creationId xmlns:a16="http://schemas.microsoft.com/office/drawing/2014/main" id="{BBE9CC99-C94A-D241-B54C-C3A06A646996}"/>
                  </a:ext>
                </a:extLst>
              </p:cNvPr>
              <p:cNvSpPr>
                <a:spLocks/>
              </p:cNvSpPr>
              <p:nvPr/>
            </p:nvSpPr>
            <p:spPr bwMode="auto">
              <a:xfrm>
                <a:off x="4335" y="2766"/>
                <a:ext cx="993" cy="694"/>
              </a:xfrm>
              <a:custGeom>
                <a:avLst/>
                <a:gdLst>
                  <a:gd name="T0" fmla="*/ 9 w 1985"/>
                  <a:gd name="T1" fmla="*/ 558 h 1387"/>
                  <a:gd name="T2" fmla="*/ 29 w 1985"/>
                  <a:gd name="T3" fmla="*/ 512 h 1387"/>
                  <a:gd name="T4" fmla="*/ 51 w 1985"/>
                  <a:gd name="T5" fmla="*/ 469 h 1387"/>
                  <a:gd name="T6" fmla="*/ 71 w 1985"/>
                  <a:gd name="T7" fmla="*/ 423 h 1387"/>
                  <a:gd name="T8" fmla="*/ 150 w 1985"/>
                  <a:gd name="T9" fmla="*/ 290 h 1387"/>
                  <a:gd name="T10" fmla="*/ 308 w 1985"/>
                  <a:gd name="T11" fmla="*/ 126 h 1387"/>
                  <a:gd name="T12" fmla="*/ 496 w 1985"/>
                  <a:gd name="T13" fmla="*/ 32 h 1387"/>
                  <a:gd name="T14" fmla="*/ 726 w 1985"/>
                  <a:gd name="T15" fmla="*/ 9 h 1387"/>
                  <a:gd name="T16" fmla="*/ 871 w 1985"/>
                  <a:gd name="T17" fmla="*/ 25 h 1387"/>
                  <a:gd name="T18" fmla="*/ 891 w 1985"/>
                  <a:gd name="T19" fmla="*/ 26 h 1387"/>
                  <a:gd name="T20" fmla="*/ 913 w 1985"/>
                  <a:gd name="T21" fmla="*/ 21 h 1387"/>
                  <a:gd name="T22" fmla="*/ 933 w 1985"/>
                  <a:gd name="T23" fmla="*/ 9 h 1387"/>
                  <a:gd name="T24" fmla="*/ 949 w 1985"/>
                  <a:gd name="T25" fmla="*/ 11 h 1387"/>
                  <a:gd name="T26" fmla="*/ 957 w 1985"/>
                  <a:gd name="T27" fmla="*/ 33 h 1387"/>
                  <a:gd name="T28" fmla="*/ 960 w 1985"/>
                  <a:gd name="T29" fmla="*/ 55 h 1387"/>
                  <a:gd name="T30" fmla="*/ 958 w 1985"/>
                  <a:gd name="T31" fmla="*/ 80 h 1387"/>
                  <a:gd name="T32" fmla="*/ 987 w 1985"/>
                  <a:gd name="T33" fmla="*/ 191 h 1387"/>
                  <a:gd name="T34" fmla="*/ 982 w 1985"/>
                  <a:gd name="T35" fmla="*/ 377 h 1387"/>
                  <a:gd name="T36" fmla="*/ 932 w 1985"/>
                  <a:gd name="T37" fmla="*/ 532 h 1387"/>
                  <a:gd name="T38" fmla="*/ 886 w 1985"/>
                  <a:gd name="T39" fmla="*/ 632 h 1387"/>
                  <a:gd name="T40" fmla="*/ 879 w 1985"/>
                  <a:gd name="T41" fmla="*/ 664 h 1387"/>
                  <a:gd name="T42" fmla="*/ 877 w 1985"/>
                  <a:gd name="T43" fmla="*/ 673 h 1387"/>
                  <a:gd name="T44" fmla="*/ 873 w 1985"/>
                  <a:gd name="T45" fmla="*/ 677 h 1387"/>
                  <a:gd name="T46" fmla="*/ 869 w 1985"/>
                  <a:gd name="T47" fmla="*/ 685 h 1387"/>
                  <a:gd name="T48" fmla="*/ 858 w 1985"/>
                  <a:gd name="T49" fmla="*/ 688 h 1387"/>
                  <a:gd name="T50" fmla="*/ 828 w 1985"/>
                  <a:gd name="T51" fmla="*/ 682 h 1387"/>
                  <a:gd name="T52" fmla="*/ 794 w 1985"/>
                  <a:gd name="T53" fmla="*/ 679 h 1387"/>
                  <a:gd name="T54" fmla="*/ 764 w 1985"/>
                  <a:gd name="T55" fmla="*/ 672 h 1387"/>
                  <a:gd name="T56" fmla="*/ 695 w 1985"/>
                  <a:gd name="T57" fmla="*/ 639 h 1387"/>
                  <a:gd name="T58" fmla="*/ 610 w 1985"/>
                  <a:gd name="T59" fmla="*/ 574 h 1387"/>
                  <a:gd name="T60" fmla="*/ 546 w 1985"/>
                  <a:gd name="T61" fmla="*/ 498 h 1387"/>
                  <a:gd name="T62" fmla="*/ 476 w 1985"/>
                  <a:gd name="T63" fmla="*/ 410 h 1387"/>
                  <a:gd name="T64" fmla="*/ 407 w 1985"/>
                  <a:gd name="T65" fmla="*/ 357 h 1387"/>
                  <a:gd name="T66" fmla="*/ 361 w 1985"/>
                  <a:gd name="T67" fmla="*/ 362 h 1387"/>
                  <a:gd name="T68" fmla="*/ 310 w 1985"/>
                  <a:gd name="T69" fmla="*/ 380 h 1387"/>
                  <a:gd name="T70" fmla="*/ 249 w 1985"/>
                  <a:gd name="T71" fmla="*/ 412 h 1387"/>
                  <a:gd name="T72" fmla="*/ 197 w 1985"/>
                  <a:gd name="T73" fmla="*/ 455 h 1387"/>
                  <a:gd name="T74" fmla="*/ 157 w 1985"/>
                  <a:gd name="T75" fmla="*/ 504 h 1387"/>
                  <a:gd name="T76" fmla="*/ 114 w 1985"/>
                  <a:gd name="T77" fmla="*/ 554 h 1387"/>
                  <a:gd name="T78" fmla="*/ 74 w 1985"/>
                  <a:gd name="T79" fmla="*/ 603 h 1387"/>
                  <a:gd name="T80" fmla="*/ 51 w 1985"/>
                  <a:gd name="T81" fmla="*/ 625 h 1387"/>
                  <a:gd name="T82" fmla="*/ 36 w 1985"/>
                  <a:gd name="T83" fmla="*/ 613 h 1387"/>
                  <a:gd name="T84" fmla="*/ 20 w 1985"/>
                  <a:gd name="T85" fmla="*/ 597 h 1387"/>
                  <a:gd name="T86" fmla="*/ 5 w 1985"/>
                  <a:gd name="T87" fmla="*/ 585 h 138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85"/>
                  <a:gd name="T133" fmla="*/ 0 h 1387"/>
                  <a:gd name="T134" fmla="*/ 1985 w 1985"/>
                  <a:gd name="T135" fmla="*/ 1387 h 138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85" h="1387">
                    <a:moveTo>
                      <a:pt x="0" y="1168"/>
                    </a:moveTo>
                    <a:lnTo>
                      <a:pt x="17" y="1115"/>
                    </a:lnTo>
                    <a:lnTo>
                      <a:pt x="35" y="1069"/>
                    </a:lnTo>
                    <a:lnTo>
                      <a:pt x="57" y="1023"/>
                    </a:lnTo>
                    <a:lnTo>
                      <a:pt x="79" y="981"/>
                    </a:lnTo>
                    <a:lnTo>
                      <a:pt x="101" y="937"/>
                    </a:lnTo>
                    <a:lnTo>
                      <a:pt x="122" y="893"/>
                    </a:lnTo>
                    <a:lnTo>
                      <a:pt x="141" y="846"/>
                    </a:lnTo>
                    <a:lnTo>
                      <a:pt x="158" y="794"/>
                    </a:lnTo>
                    <a:lnTo>
                      <a:pt x="300" y="579"/>
                    </a:lnTo>
                    <a:lnTo>
                      <a:pt x="452" y="398"/>
                    </a:lnTo>
                    <a:lnTo>
                      <a:pt x="616" y="252"/>
                    </a:lnTo>
                    <a:lnTo>
                      <a:pt x="795" y="141"/>
                    </a:lnTo>
                    <a:lnTo>
                      <a:pt x="991" y="64"/>
                    </a:lnTo>
                    <a:lnTo>
                      <a:pt x="1209" y="23"/>
                    </a:lnTo>
                    <a:lnTo>
                      <a:pt x="1452" y="17"/>
                    </a:lnTo>
                    <a:lnTo>
                      <a:pt x="1722" y="49"/>
                    </a:lnTo>
                    <a:lnTo>
                      <a:pt x="1741" y="50"/>
                    </a:lnTo>
                    <a:lnTo>
                      <a:pt x="1762" y="52"/>
                    </a:lnTo>
                    <a:lnTo>
                      <a:pt x="1782" y="51"/>
                    </a:lnTo>
                    <a:lnTo>
                      <a:pt x="1805" y="49"/>
                    </a:lnTo>
                    <a:lnTo>
                      <a:pt x="1825" y="42"/>
                    </a:lnTo>
                    <a:lnTo>
                      <a:pt x="1846" y="33"/>
                    </a:lnTo>
                    <a:lnTo>
                      <a:pt x="1866" y="18"/>
                    </a:lnTo>
                    <a:lnTo>
                      <a:pt x="1888" y="0"/>
                    </a:lnTo>
                    <a:lnTo>
                      <a:pt x="1898" y="21"/>
                    </a:lnTo>
                    <a:lnTo>
                      <a:pt x="1906" y="44"/>
                    </a:lnTo>
                    <a:lnTo>
                      <a:pt x="1913" y="65"/>
                    </a:lnTo>
                    <a:lnTo>
                      <a:pt x="1918" y="87"/>
                    </a:lnTo>
                    <a:lnTo>
                      <a:pt x="1919" y="110"/>
                    </a:lnTo>
                    <a:lnTo>
                      <a:pt x="1920" y="134"/>
                    </a:lnTo>
                    <a:lnTo>
                      <a:pt x="1916" y="159"/>
                    </a:lnTo>
                    <a:lnTo>
                      <a:pt x="1913" y="186"/>
                    </a:lnTo>
                    <a:lnTo>
                      <a:pt x="1973" y="382"/>
                    </a:lnTo>
                    <a:lnTo>
                      <a:pt x="1985" y="574"/>
                    </a:lnTo>
                    <a:lnTo>
                      <a:pt x="1963" y="754"/>
                    </a:lnTo>
                    <a:lnTo>
                      <a:pt x="1919" y="921"/>
                    </a:lnTo>
                    <a:lnTo>
                      <a:pt x="1863" y="1064"/>
                    </a:lnTo>
                    <a:lnTo>
                      <a:pt x="1810" y="1180"/>
                    </a:lnTo>
                    <a:lnTo>
                      <a:pt x="1771" y="1264"/>
                    </a:lnTo>
                    <a:lnTo>
                      <a:pt x="1761" y="1310"/>
                    </a:lnTo>
                    <a:lnTo>
                      <a:pt x="1758" y="1327"/>
                    </a:lnTo>
                    <a:lnTo>
                      <a:pt x="1757" y="1339"/>
                    </a:lnTo>
                    <a:lnTo>
                      <a:pt x="1753" y="1346"/>
                    </a:lnTo>
                    <a:lnTo>
                      <a:pt x="1750" y="1351"/>
                    </a:lnTo>
                    <a:lnTo>
                      <a:pt x="1745" y="1353"/>
                    </a:lnTo>
                    <a:lnTo>
                      <a:pt x="1741" y="1359"/>
                    </a:lnTo>
                    <a:lnTo>
                      <a:pt x="1737" y="1369"/>
                    </a:lnTo>
                    <a:lnTo>
                      <a:pt x="1736" y="1387"/>
                    </a:lnTo>
                    <a:lnTo>
                      <a:pt x="1715" y="1376"/>
                    </a:lnTo>
                    <a:lnTo>
                      <a:pt x="1688" y="1368"/>
                    </a:lnTo>
                    <a:lnTo>
                      <a:pt x="1656" y="1364"/>
                    </a:lnTo>
                    <a:lnTo>
                      <a:pt x="1622" y="1362"/>
                    </a:lnTo>
                    <a:lnTo>
                      <a:pt x="1587" y="1357"/>
                    </a:lnTo>
                    <a:lnTo>
                      <a:pt x="1555" y="1353"/>
                    </a:lnTo>
                    <a:lnTo>
                      <a:pt x="1528" y="1344"/>
                    </a:lnTo>
                    <a:lnTo>
                      <a:pt x="1508" y="1333"/>
                    </a:lnTo>
                    <a:lnTo>
                      <a:pt x="1390" y="1277"/>
                    </a:lnTo>
                    <a:lnTo>
                      <a:pt x="1296" y="1215"/>
                    </a:lnTo>
                    <a:lnTo>
                      <a:pt x="1219" y="1148"/>
                    </a:lnTo>
                    <a:lnTo>
                      <a:pt x="1154" y="1075"/>
                    </a:lnTo>
                    <a:lnTo>
                      <a:pt x="1091" y="996"/>
                    </a:lnTo>
                    <a:lnTo>
                      <a:pt x="1026" y="911"/>
                    </a:lnTo>
                    <a:lnTo>
                      <a:pt x="951" y="820"/>
                    </a:lnTo>
                    <a:lnTo>
                      <a:pt x="861" y="724"/>
                    </a:lnTo>
                    <a:lnTo>
                      <a:pt x="814" y="714"/>
                    </a:lnTo>
                    <a:lnTo>
                      <a:pt x="768" y="714"/>
                    </a:lnTo>
                    <a:lnTo>
                      <a:pt x="721" y="723"/>
                    </a:lnTo>
                    <a:lnTo>
                      <a:pt x="672" y="739"/>
                    </a:lnTo>
                    <a:lnTo>
                      <a:pt x="619" y="760"/>
                    </a:lnTo>
                    <a:lnTo>
                      <a:pt x="562" y="789"/>
                    </a:lnTo>
                    <a:lnTo>
                      <a:pt x="498" y="823"/>
                    </a:lnTo>
                    <a:lnTo>
                      <a:pt x="429" y="863"/>
                    </a:lnTo>
                    <a:lnTo>
                      <a:pt x="394" y="909"/>
                    </a:lnTo>
                    <a:lnTo>
                      <a:pt x="355" y="958"/>
                    </a:lnTo>
                    <a:lnTo>
                      <a:pt x="314" y="1007"/>
                    </a:lnTo>
                    <a:lnTo>
                      <a:pt x="271" y="1059"/>
                    </a:lnTo>
                    <a:lnTo>
                      <a:pt x="227" y="1107"/>
                    </a:lnTo>
                    <a:lnTo>
                      <a:pt x="186" y="1158"/>
                    </a:lnTo>
                    <a:lnTo>
                      <a:pt x="147" y="1205"/>
                    </a:lnTo>
                    <a:lnTo>
                      <a:pt x="114" y="1254"/>
                    </a:lnTo>
                    <a:lnTo>
                      <a:pt x="102" y="1250"/>
                    </a:lnTo>
                    <a:lnTo>
                      <a:pt x="88" y="1240"/>
                    </a:lnTo>
                    <a:lnTo>
                      <a:pt x="72" y="1226"/>
                    </a:lnTo>
                    <a:lnTo>
                      <a:pt x="57" y="1210"/>
                    </a:lnTo>
                    <a:lnTo>
                      <a:pt x="39" y="1193"/>
                    </a:lnTo>
                    <a:lnTo>
                      <a:pt x="24" y="1180"/>
                    </a:lnTo>
                    <a:lnTo>
                      <a:pt x="10" y="1170"/>
                    </a:lnTo>
                    <a:lnTo>
                      <a:pt x="0" y="1168"/>
                    </a:lnTo>
                    <a:close/>
                  </a:path>
                </a:pathLst>
              </a:custGeom>
              <a:solidFill>
                <a:srgbClr val="E6AB94"/>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0" name="Freeform 639">
                <a:extLst>
                  <a:ext uri="{FF2B5EF4-FFF2-40B4-BE49-F238E27FC236}">
                    <a16:creationId xmlns:a16="http://schemas.microsoft.com/office/drawing/2014/main" id="{E892A7D6-434B-CD40-98A1-2A9BEB173C98}"/>
                  </a:ext>
                </a:extLst>
              </p:cNvPr>
              <p:cNvSpPr>
                <a:spLocks/>
              </p:cNvSpPr>
              <p:nvPr/>
            </p:nvSpPr>
            <p:spPr bwMode="auto">
              <a:xfrm>
                <a:off x="4342" y="2777"/>
                <a:ext cx="979" cy="657"/>
              </a:xfrm>
              <a:custGeom>
                <a:avLst/>
                <a:gdLst>
                  <a:gd name="T0" fmla="*/ 7 w 1959"/>
                  <a:gd name="T1" fmla="*/ 532 h 1315"/>
                  <a:gd name="T2" fmla="*/ 26 w 1959"/>
                  <a:gd name="T3" fmla="*/ 490 h 1315"/>
                  <a:gd name="T4" fmla="*/ 45 w 1959"/>
                  <a:gd name="T5" fmla="*/ 453 h 1315"/>
                  <a:gd name="T6" fmla="*/ 63 w 1959"/>
                  <a:gd name="T7" fmla="*/ 411 h 1315"/>
                  <a:gd name="T8" fmla="*/ 143 w 1959"/>
                  <a:gd name="T9" fmla="*/ 279 h 1315"/>
                  <a:gd name="T10" fmla="*/ 300 w 1959"/>
                  <a:gd name="T11" fmla="*/ 116 h 1315"/>
                  <a:gd name="T12" fmla="*/ 486 w 1959"/>
                  <a:gd name="T13" fmla="*/ 24 h 1315"/>
                  <a:gd name="T14" fmla="*/ 715 w 1959"/>
                  <a:gd name="T15" fmla="*/ 1 h 1315"/>
                  <a:gd name="T16" fmla="*/ 859 w 1959"/>
                  <a:gd name="T17" fmla="*/ 17 h 1315"/>
                  <a:gd name="T18" fmla="*/ 879 w 1959"/>
                  <a:gd name="T19" fmla="*/ 18 h 1315"/>
                  <a:gd name="T20" fmla="*/ 901 w 1959"/>
                  <a:gd name="T21" fmla="*/ 15 h 1315"/>
                  <a:gd name="T22" fmla="*/ 922 w 1959"/>
                  <a:gd name="T23" fmla="*/ 7 h 1315"/>
                  <a:gd name="T24" fmla="*/ 937 w 1959"/>
                  <a:gd name="T25" fmla="*/ 10 h 1315"/>
                  <a:gd name="T26" fmla="*/ 945 w 1959"/>
                  <a:gd name="T27" fmla="*/ 31 h 1315"/>
                  <a:gd name="T28" fmla="*/ 948 w 1959"/>
                  <a:gd name="T29" fmla="*/ 52 h 1315"/>
                  <a:gd name="T30" fmla="*/ 948 w 1959"/>
                  <a:gd name="T31" fmla="*/ 76 h 1315"/>
                  <a:gd name="T32" fmla="*/ 974 w 1959"/>
                  <a:gd name="T33" fmla="*/ 180 h 1315"/>
                  <a:gd name="T34" fmla="*/ 969 w 1959"/>
                  <a:gd name="T35" fmla="*/ 356 h 1315"/>
                  <a:gd name="T36" fmla="*/ 922 w 1959"/>
                  <a:gd name="T37" fmla="*/ 503 h 1315"/>
                  <a:gd name="T38" fmla="*/ 877 w 1959"/>
                  <a:gd name="T39" fmla="*/ 601 h 1315"/>
                  <a:gd name="T40" fmla="*/ 868 w 1959"/>
                  <a:gd name="T41" fmla="*/ 630 h 1315"/>
                  <a:gd name="T42" fmla="*/ 863 w 1959"/>
                  <a:gd name="T43" fmla="*/ 638 h 1315"/>
                  <a:gd name="T44" fmla="*/ 857 w 1959"/>
                  <a:gd name="T45" fmla="*/ 643 h 1315"/>
                  <a:gd name="T46" fmla="*/ 851 w 1959"/>
                  <a:gd name="T47" fmla="*/ 649 h 1315"/>
                  <a:gd name="T48" fmla="*/ 840 w 1959"/>
                  <a:gd name="T49" fmla="*/ 653 h 1315"/>
                  <a:gd name="T50" fmla="*/ 812 w 1959"/>
                  <a:gd name="T51" fmla="*/ 648 h 1315"/>
                  <a:gd name="T52" fmla="*/ 780 w 1959"/>
                  <a:gd name="T53" fmla="*/ 644 h 1315"/>
                  <a:gd name="T54" fmla="*/ 753 w 1959"/>
                  <a:gd name="T55" fmla="*/ 639 h 1315"/>
                  <a:gd name="T56" fmla="*/ 686 w 1959"/>
                  <a:gd name="T57" fmla="*/ 606 h 1315"/>
                  <a:gd name="T58" fmla="*/ 602 w 1959"/>
                  <a:gd name="T59" fmla="*/ 544 h 1315"/>
                  <a:gd name="T60" fmla="*/ 539 w 1959"/>
                  <a:gd name="T61" fmla="*/ 472 h 1315"/>
                  <a:gd name="T62" fmla="*/ 469 w 1959"/>
                  <a:gd name="T63" fmla="*/ 386 h 1315"/>
                  <a:gd name="T64" fmla="*/ 400 w 1959"/>
                  <a:gd name="T65" fmla="*/ 334 h 1315"/>
                  <a:gd name="T66" fmla="*/ 352 w 1959"/>
                  <a:gd name="T67" fmla="*/ 339 h 1315"/>
                  <a:gd name="T68" fmla="*/ 300 w 1959"/>
                  <a:gd name="T69" fmla="*/ 359 h 1315"/>
                  <a:gd name="T70" fmla="*/ 239 w 1959"/>
                  <a:gd name="T71" fmla="*/ 394 h 1315"/>
                  <a:gd name="T72" fmla="*/ 188 w 1959"/>
                  <a:gd name="T73" fmla="*/ 438 h 1315"/>
                  <a:gd name="T74" fmla="*/ 149 w 1959"/>
                  <a:gd name="T75" fmla="*/ 483 h 1315"/>
                  <a:gd name="T76" fmla="*/ 108 w 1959"/>
                  <a:gd name="T77" fmla="*/ 528 h 1315"/>
                  <a:gd name="T78" fmla="*/ 69 w 1959"/>
                  <a:gd name="T79" fmla="*/ 573 h 1315"/>
                  <a:gd name="T80" fmla="*/ 47 w 1959"/>
                  <a:gd name="T81" fmla="*/ 596 h 1315"/>
                  <a:gd name="T82" fmla="*/ 32 w 1959"/>
                  <a:gd name="T83" fmla="*/ 584 h 1315"/>
                  <a:gd name="T84" fmla="*/ 18 w 1959"/>
                  <a:gd name="T85" fmla="*/ 569 h 1315"/>
                  <a:gd name="T86" fmla="*/ 4 w 1959"/>
                  <a:gd name="T87" fmla="*/ 559 h 131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59"/>
                  <a:gd name="T133" fmla="*/ 0 h 1315"/>
                  <a:gd name="T134" fmla="*/ 1959 w 1959"/>
                  <a:gd name="T135" fmla="*/ 1315 h 131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59" h="1315">
                    <a:moveTo>
                      <a:pt x="0" y="1117"/>
                    </a:moveTo>
                    <a:lnTo>
                      <a:pt x="14" y="1065"/>
                    </a:lnTo>
                    <a:lnTo>
                      <a:pt x="33" y="1021"/>
                    </a:lnTo>
                    <a:lnTo>
                      <a:pt x="52" y="981"/>
                    </a:lnTo>
                    <a:lnTo>
                      <a:pt x="72" y="945"/>
                    </a:lnTo>
                    <a:lnTo>
                      <a:pt x="90" y="906"/>
                    </a:lnTo>
                    <a:lnTo>
                      <a:pt x="109" y="867"/>
                    </a:lnTo>
                    <a:lnTo>
                      <a:pt x="127" y="823"/>
                    </a:lnTo>
                    <a:lnTo>
                      <a:pt x="144" y="773"/>
                    </a:lnTo>
                    <a:lnTo>
                      <a:pt x="286" y="558"/>
                    </a:lnTo>
                    <a:lnTo>
                      <a:pt x="436" y="378"/>
                    </a:lnTo>
                    <a:lnTo>
                      <a:pt x="600" y="232"/>
                    </a:lnTo>
                    <a:lnTo>
                      <a:pt x="778" y="123"/>
                    </a:lnTo>
                    <a:lnTo>
                      <a:pt x="972" y="48"/>
                    </a:lnTo>
                    <a:lnTo>
                      <a:pt x="1189" y="7"/>
                    </a:lnTo>
                    <a:lnTo>
                      <a:pt x="1431" y="2"/>
                    </a:lnTo>
                    <a:lnTo>
                      <a:pt x="1701" y="34"/>
                    </a:lnTo>
                    <a:lnTo>
                      <a:pt x="1719" y="35"/>
                    </a:lnTo>
                    <a:lnTo>
                      <a:pt x="1739" y="38"/>
                    </a:lnTo>
                    <a:lnTo>
                      <a:pt x="1759" y="36"/>
                    </a:lnTo>
                    <a:lnTo>
                      <a:pt x="1782" y="36"/>
                    </a:lnTo>
                    <a:lnTo>
                      <a:pt x="1802" y="31"/>
                    </a:lnTo>
                    <a:lnTo>
                      <a:pt x="1823" y="24"/>
                    </a:lnTo>
                    <a:lnTo>
                      <a:pt x="1845" y="14"/>
                    </a:lnTo>
                    <a:lnTo>
                      <a:pt x="1866" y="0"/>
                    </a:lnTo>
                    <a:lnTo>
                      <a:pt x="1875" y="21"/>
                    </a:lnTo>
                    <a:lnTo>
                      <a:pt x="1884" y="43"/>
                    </a:lnTo>
                    <a:lnTo>
                      <a:pt x="1890" y="63"/>
                    </a:lnTo>
                    <a:lnTo>
                      <a:pt x="1895" y="84"/>
                    </a:lnTo>
                    <a:lnTo>
                      <a:pt x="1897" y="105"/>
                    </a:lnTo>
                    <a:lnTo>
                      <a:pt x="1899" y="128"/>
                    </a:lnTo>
                    <a:lnTo>
                      <a:pt x="1897" y="152"/>
                    </a:lnTo>
                    <a:lnTo>
                      <a:pt x="1894" y="179"/>
                    </a:lnTo>
                    <a:lnTo>
                      <a:pt x="1948" y="360"/>
                    </a:lnTo>
                    <a:lnTo>
                      <a:pt x="1959" y="540"/>
                    </a:lnTo>
                    <a:lnTo>
                      <a:pt x="1939" y="712"/>
                    </a:lnTo>
                    <a:lnTo>
                      <a:pt x="1897" y="870"/>
                    </a:lnTo>
                    <a:lnTo>
                      <a:pt x="1845" y="1007"/>
                    </a:lnTo>
                    <a:lnTo>
                      <a:pt x="1793" y="1120"/>
                    </a:lnTo>
                    <a:lnTo>
                      <a:pt x="1754" y="1202"/>
                    </a:lnTo>
                    <a:lnTo>
                      <a:pt x="1739" y="1246"/>
                    </a:lnTo>
                    <a:lnTo>
                      <a:pt x="1736" y="1261"/>
                    </a:lnTo>
                    <a:lnTo>
                      <a:pt x="1733" y="1271"/>
                    </a:lnTo>
                    <a:lnTo>
                      <a:pt x="1727" y="1277"/>
                    </a:lnTo>
                    <a:lnTo>
                      <a:pt x="1722" y="1282"/>
                    </a:lnTo>
                    <a:lnTo>
                      <a:pt x="1714" y="1286"/>
                    </a:lnTo>
                    <a:lnTo>
                      <a:pt x="1709" y="1291"/>
                    </a:lnTo>
                    <a:lnTo>
                      <a:pt x="1703" y="1299"/>
                    </a:lnTo>
                    <a:lnTo>
                      <a:pt x="1701" y="1315"/>
                    </a:lnTo>
                    <a:lnTo>
                      <a:pt x="1680" y="1306"/>
                    </a:lnTo>
                    <a:lnTo>
                      <a:pt x="1655" y="1301"/>
                    </a:lnTo>
                    <a:lnTo>
                      <a:pt x="1625" y="1297"/>
                    </a:lnTo>
                    <a:lnTo>
                      <a:pt x="1594" y="1294"/>
                    </a:lnTo>
                    <a:lnTo>
                      <a:pt x="1561" y="1289"/>
                    </a:lnTo>
                    <a:lnTo>
                      <a:pt x="1533" y="1286"/>
                    </a:lnTo>
                    <a:lnTo>
                      <a:pt x="1507" y="1278"/>
                    </a:lnTo>
                    <a:lnTo>
                      <a:pt x="1490" y="1269"/>
                    </a:lnTo>
                    <a:lnTo>
                      <a:pt x="1372" y="1213"/>
                    </a:lnTo>
                    <a:lnTo>
                      <a:pt x="1279" y="1154"/>
                    </a:lnTo>
                    <a:lnTo>
                      <a:pt x="1204" y="1089"/>
                    </a:lnTo>
                    <a:lnTo>
                      <a:pt x="1140" y="1020"/>
                    </a:lnTo>
                    <a:lnTo>
                      <a:pt x="1079" y="944"/>
                    </a:lnTo>
                    <a:lnTo>
                      <a:pt x="1013" y="861"/>
                    </a:lnTo>
                    <a:lnTo>
                      <a:pt x="938" y="772"/>
                    </a:lnTo>
                    <a:lnTo>
                      <a:pt x="848" y="677"/>
                    </a:lnTo>
                    <a:lnTo>
                      <a:pt x="800" y="668"/>
                    </a:lnTo>
                    <a:lnTo>
                      <a:pt x="753" y="669"/>
                    </a:lnTo>
                    <a:lnTo>
                      <a:pt x="704" y="678"/>
                    </a:lnTo>
                    <a:lnTo>
                      <a:pt x="653" y="695"/>
                    </a:lnTo>
                    <a:lnTo>
                      <a:pt x="600" y="719"/>
                    </a:lnTo>
                    <a:lnTo>
                      <a:pt x="542" y="752"/>
                    </a:lnTo>
                    <a:lnTo>
                      <a:pt x="479" y="788"/>
                    </a:lnTo>
                    <a:lnTo>
                      <a:pt x="411" y="832"/>
                    </a:lnTo>
                    <a:lnTo>
                      <a:pt x="376" y="877"/>
                    </a:lnTo>
                    <a:lnTo>
                      <a:pt x="339" y="922"/>
                    </a:lnTo>
                    <a:lnTo>
                      <a:pt x="299" y="967"/>
                    </a:lnTo>
                    <a:lnTo>
                      <a:pt x="258" y="1013"/>
                    </a:lnTo>
                    <a:lnTo>
                      <a:pt x="216" y="1056"/>
                    </a:lnTo>
                    <a:lnTo>
                      <a:pt x="176" y="1101"/>
                    </a:lnTo>
                    <a:lnTo>
                      <a:pt x="138" y="1147"/>
                    </a:lnTo>
                    <a:lnTo>
                      <a:pt x="105" y="1195"/>
                    </a:lnTo>
                    <a:lnTo>
                      <a:pt x="94" y="1192"/>
                    </a:lnTo>
                    <a:lnTo>
                      <a:pt x="80" y="1182"/>
                    </a:lnTo>
                    <a:lnTo>
                      <a:pt x="65" y="1168"/>
                    </a:lnTo>
                    <a:lnTo>
                      <a:pt x="52" y="1154"/>
                    </a:lnTo>
                    <a:lnTo>
                      <a:pt x="36" y="1139"/>
                    </a:lnTo>
                    <a:lnTo>
                      <a:pt x="21" y="1127"/>
                    </a:lnTo>
                    <a:lnTo>
                      <a:pt x="9" y="1118"/>
                    </a:lnTo>
                    <a:lnTo>
                      <a:pt x="0" y="1117"/>
                    </a:lnTo>
                    <a:close/>
                  </a:path>
                </a:pathLst>
              </a:custGeom>
              <a:solidFill>
                <a:srgbClr val="EBB09C"/>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1" name="Freeform 640">
                <a:extLst>
                  <a:ext uri="{FF2B5EF4-FFF2-40B4-BE49-F238E27FC236}">
                    <a16:creationId xmlns:a16="http://schemas.microsoft.com/office/drawing/2014/main" id="{EB9E0765-8301-E645-B704-4E83179FD453}"/>
                  </a:ext>
                </a:extLst>
              </p:cNvPr>
              <p:cNvSpPr>
                <a:spLocks/>
              </p:cNvSpPr>
              <p:nvPr/>
            </p:nvSpPr>
            <p:spPr bwMode="auto">
              <a:xfrm>
                <a:off x="4349" y="2782"/>
                <a:ext cx="967" cy="627"/>
              </a:xfrm>
              <a:custGeom>
                <a:avLst/>
                <a:gdLst>
                  <a:gd name="T0" fmla="*/ 7 w 1934"/>
                  <a:gd name="T1" fmla="*/ 513 h 1254"/>
                  <a:gd name="T2" fmla="*/ 23 w 1934"/>
                  <a:gd name="T3" fmla="*/ 475 h 1254"/>
                  <a:gd name="T4" fmla="*/ 41 w 1934"/>
                  <a:gd name="T5" fmla="*/ 443 h 1254"/>
                  <a:gd name="T6" fmla="*/ 57 w 1934"/>
                  <a:gd name="T7" fmla="*/ 405 h 1254"/>
                  <a:gd name="T8" fmla="*/ 136 w 1934"/>
                  <a:gd name="T9" fmla="*/ 274 h 1254"/>
                  <a:gd name="T10" fmla="*/ 291 w 1934"/>
                  <a:gd name="T11" fmla="*/ 112 h 1254"/>
                  <a:gd name="T12" fmla="*/ 476 w 1934"/>
                  <a:gd name="T13" fmla="*/ 21 h 1254"/>
                  <a:gd name="T14" fmla="*/ 704 w 1934"/>
                  <a:gd name="T15" fmla="*/ 0 h 1254"/>
                  <a:gd name="T16" fmla="*/ 849 w 1934"/>
                  <a:gd name="T17" fmla="*/ 17 h 1254"/>
                  <a:gd name="T18" fmla="*/ 869 w 1934"/>
                  <a:gd name="T19" fmla="*/ 18 h 1254"/>
                  <a:gd name="T20" fmla="*/ 889 w 1934"/>
                  <a:gd name="T21" fmla="*/ 15 h 1254"/>
                  <a:gd name="T22" fmla="*/ 910 w 1934"/>
                  <a:gd name="T23" fmla="*/ 10 h 1254"/>
                  <a:gd name="T24" fmla="*/ 926 w 1934"/>
                  <a:gd name="T25" fmla="*/ 15 h 1254"/>
                  <a:gd name="T26" fmla="*/ 934 w 1934"/>
                  <a:gd name="T27" fmla="*/ 36 h 1254"/>
                  <a:gd name="T28" fmla="*/ 938 w 1934"/>
                  <a:gd name="T29" fmla="*/ 55 h 1254"/>
                  <a:gd name="T30" fmla="*/ 939 w 1934"/>
                  <a:gd name="T31" fmla="*/ 77 h 1254"/>
                  <a:gd name="T32" fmla="*/ 962 w 1934"/>
                  <a:gd name="T33" fmla="*/ 173 h 1254"/>
                  <a:gd name="T34" fmla="*/ 958 w 1934"/>
                  <a:gd name="T35" fmla="*/ 339 h 1254"/>
                  <a:gd name="T36" fmla="*/ 914 w 1934"/>
                  <a:gd name="T37" fmla="*/ 480 h 1254"/>
                  <a:gd name="T38" fmla="*/ 869 w 1934"/>
                  <a:gd name="T39" fmla="*/ 575 h 1254"/>
                  <a:gd name="T40" fmla="*/ 857 w 1934"/>
                  <a:gd name="T41" fmla="*/ 602 h 1254"/>
                  <a:gd name="T42" fmla="*/ 851 w 1934"/>
                  <a:gd name="T43" fmla="*/ 610 h 1254"/>
                  <a:gd name="T44" fmla="*/ 842 w 1934"/>
                  <a:gd name="T45" fmla="*/ 614 h 1254"/>
                  <a:gd name="T46" fmla="*/ 834 w 1934"/>
                  <a:gd name="T47" fmla="*/ 621 h 1254"/>
                  <a:gd name="T48" fmla="*/ 823 w 1934"/>
                  <a:gd name="T49" fmla="*/ 624 h 1254"/>
                  <a:gd name="T50" fmla="*/ 798 w 1934"/>
                  <a:gd name="T51" fmla="*/ 621 h 1254"/>
                  <a:gd name="T52" fmla="*/ 769 w 1934"/>
                  <a:gd name="T53" fmla="*/ 618 h 1254"/>
                  <a:gd name="T54" fmla="*/ 744 w 1934"/>
                  <a:gd name="T55" fmla="*/ 613 h 1254"/>
                  <a:gd name="T56" fmla="*/ 678 w 1934"/>
                  <a:gd name="T57" fmla="*/ 581 h 1254"/>
                  <a:gd name="T58" fmla="*/ 594 w 1934"/>
                  <a:gd name="T59" fmla="*/ 522 h 1254"/>
                  <a:gd name="T60" fmla="*/ 532 w 1934"/>
                  <a:gd name="T61" fmla="*/ 451 h 1254"/>
                  <a:gd name="T62" fmla="*/ 462 w 1934"/>
                  <a:gd name="T63" fmla="*/ 367 h 1254"/>
                  <a:gd name="T64" fmla="*/ 393 w 1934"/>
                  <a:gd name="T65" fmla="*/ 316 h 1254"/>
                  <a:gd name="T66" fmla="*/ 344 w 1934"/>
                  <a:gd name="T67" fmla="*/ 322 h 1254"/>
                  <a:gd name="T68" fmla="*/ 290 w 1934"/>
                  <a:gd name="T69" fmla="*/ 344 h 1254"/>
                  <a:gd name="T70" fmla="*/ 230 w 1934"/>
                  <a:gd name="T71" fmla="*/ 381 h 1254"/>
                  <a:gd name="T72" fmla="*/ 180 w 1934"/>
                  <a:gd name="T73" fmla="*/ 427 h 1254"/>
                  <a:gd name="T74" fmla="*/ 142 w 1934"/>
                  <a:gd name="T75" fmla="*/ 468 h 1254"/>
                  <a:gd name="T76" fmla="*/ 102 w 1934"/>
                  <a:gd name="T77" fmla="*/ 508 h 1254"/>
                  <a:gd name="T78" fmla="*/ 65 w 1934"/>
                  <a:gd name="T79" fmla="*/ 550 h 1254"/>
                  <a:gd name="T80" fmla="*/ 43 w 1934"/>
                  <a:gd name="T81" fmla="*/ 571 h 1254"/>
                  <a:gd name="T82" fmla="*/ 30 w 1934"/>
                  <a:gd name="T83" fmla="*/ 561 h 1254"/>
                  <a:gd name="T84" fmla="*/ 17 w 1934"/>
                  <a:gd name="T85" fmla="*/ 548 h 1254"/>
                  <a:gd name="T86" fmla="*/ 5 w 1934"/>
                  <a:gd name="T87" fmla="*/ 538 h 1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4"/>
                  <a:gd name="T133" fmla="*/ 0 h 1254"/>
                  <a:gd name="T134" fmla="*/ 1934 w 1934"/>
                  <a:gd name="T135" fmla="*/ 1254 h 125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4" h="1254">
                    <a:moveTo>
                      <a:pt x="0" y="1075"/>
                    </a:moveTo>
                    <a:lnTo>
                      <a:pt x="14" y="1025"/>
                    </a:lnTo>
                    <a:lnTo>
                      <a:pt x="30" y="985"/>
                    </a:lnTo>
                    <a:lnTo>
                      <a:pt x="46" y="950"/>
                    </a:lnTo>
                    <a:lnTo>
                      <a:pt x="65" y="919"/>
                    </a:lnTo>
                    <a:lnTo>
                      <a:pt x="81" y="886"/>
                    </a:lnTo>
                    <a:lnTo>
                      <a:pt x="98" y="852"/>
                    </a:lnTo>
                    <a:lnTo>
                      <a:pt x="114" y="811"/>
                    </a:lnTo>
                    <a:lnTo>
                      <a:pt x="130" y="763"/>
                    </a:lnTo>
                    <a:lnTo>
                      <a:pt x="272" y="548"/>
                    </a:lnTo>
                    <a:lnTo>
                      <a:pt x="421" y="368"/>
                    </a:lnTo>
                    <a:lnTo>
                      <a:pt x="582" y="224"/>
                    </a:lnTo>
                    <a:lnTo>
                      <a:pt x="759" y="117"/>
                    </a:lnTo>
                    <a:lnTo>
                      <a:pt x="952" y="43"/>
                    </a:lnTo>
                    <a:lnTo>
                      <a:pt x="1167" y="4"/>
                    </a:lnTo>
                    <a:lnTo>
                      <a:pt x="1408" y="0"/>
                    </a:lnTo>
                    <a:lnTo>
                      <a:pt x="1678" y="31"/>
                    </a:lnTo>
                    <a:lnTo>
                      <a:pt x="1697" y="33"/>
                    </a:lnTo>
                    <a:lnTo>
                      <a:pt x="1717" y="35"/>
                    </a:lnTo>
                    <a:lnTo>
                      <a:pt x="1737" y="35"/>
                    </a:lnTo>
                    <a:lnTo>
                      <a:pt x="1758" y="35"/>
                    </a:lnTo>
                    <a:lnTo>
                      <a:pt x="1778" y="31"/>
                    </a:lnTo>
                    <a:lnTo>
                      <a:pt x="1799" y="26"/>
                    </a:lnTo>
                    <a:lnTo>
                      <a:pt x="1819" y="19"/>
                    </a:lnTo>
                    <a:lnTo>
                      <a:pt x="1841" y="10"/>
                    </a:lnTo>
                    <a:lnTo>
                      <a:pt x="1851" y="31"/>
                    </a:lnTo>
                    <a:lnTo>
                      <a:pt x="1860" y="51"/>
                    </a:lnTo>
                    <a:lnTo>
                      <a:pt x="1867" y="71"/>
                    </a:lnTo>
                    <a:lnTo>
                      <a:pt x="1873" y="91"/>
                    </a:lnTo>
                    <a:lnTo>
                      <a:pt x="1876" y="110"/>
                    </a:lnTo>
                    <a:lnTo>
                      <a:pt x="1878" y="132"/>
                    </a:lnTo>
                    <a:lnTo>
                      <a:pt x="1877" y="154"/>
                    </a:lnTo>
                    <a:lnTo>
                      <a:pt x="1876" y="180"/>
                    </a:lnTo>
                    <a:lnTo>
                      <a:pt x="1924" y="347"/>
                    </a:lnTo>
                    <a:lnTo>
                      <a:pt x="1934" y="516"/>
                    </a:lnTo>
                    <a:lnTo>
                      <a:pt x="1915" y="678"/>
                    </a:lnTo>
                    <a:lnTo>
                      <a:pt x="1877" y="830"/>
                    </a:lnTo>
                    <a:lnTo>
                      <a:pt x="1827" y="961"/>
                    </a:lnTo>
                    <a:lnTo>
                      <a:pt x="1778" y="1070"/>
                    </a:lnTo>
                    <a:lnTo>
                      <a:pt x="1738" y="1149"/>
                    </a:lnTo>
                    <a:lnTo>
                      <a:pt x="1717" y="1192"/>
                    </a:lnTo>
                    <a:lnTo>
                      <a:pt x="1713" y="1204"/>
                    </a:lnTo>
                    <a:lnTo>
                      <a:pt x="1709" y="1213"/>
                    </a:lnTo>
                    <a:lnTo>
                      <a:pt x="1702" y="1219"/>
                    </a:lnTo>
                    <a:lnTo>
                      <a:pt x="1694" y="1224"/>
                    </a:lnTo>
                    <a:lnTo>
                      <a:pt x="1684" y="1228"/>
                    </a:lnTo>
                    <a:lnTo>
                      <a:pt x="1675" y="1234"/>
                    </a:lnTo>
                    <a:lnTo>
                      <a:pt x="1668" y="1242"/>
                    </a:lnTo>
                    <a:lnTo>
                      <a:pt x="1664" y="1254"/>
                    </a:lnTo>
                    <a:lnTo>
                      <a:pt x="1646" y="1248"/>
                    </a:lnTo>
                    <a:lnTo>
                      <a:pt x="1624" y="1244"/>
                    </a:lnTo>
                    <a:lnTo>
                      <a:pt x="1596" y="1241"/>
                    </a:lnTo>
                    <a:lnTo>
                      <a:pt x="1567" y="1239"/>
                    </a:lnTo>
                    <a:lnTo>
                      <a:pt x="1537" y="1236"/>
                    </a:lnTo>
                    <a:lnTo>
                      <a:pt x="1511" y="1232"/>
                    </a:lnTo>
                    <a:lnTo>
                      <a:pt x="1488" y="1226"/>
                    </a:lnTo>
                    <a:lnTo>
                      <a:pt x="1473" y="1218"/>
                    </a:lnTo>
                    <a:lnTo>
                      <a:pt x="1355" y="1162"/>
                    </a:lnTo>
                    <a:lnTo>
                      <a:pt x="1263" y="1104"/>
                    </a:lnTo>
                    <a:lnTo>
                      <a:pt x="1187" y="1043"/>
                    </a:lnTo>
                    <a:lnTo>
                      <a:pt x="1125" y="976"/>
                    </a:lnTo>
                    <a:lnTo>
                      <a:pt x="1063" y="902"/>
                    </a:lnTo>
                    <a:lnTo>
                      <a:pt x="999" y="822"/>
                    </a:lnTo>
                    <a:lnTo>
                      <a:pt x="924" y="734"/>
                    </a:lnTo>
                    <a:lnTo>
                      <a:pt x="834" y="640"/>
                    </a:lnTo>
                    <a:lnTo>
                      <a:pt x="786" y="632"/>
                    </a:lnTo>
                    <a:lnTo>
                      <a:pt x="739" y="633"/>
                    </a:lnTo>
                    <a:lnTo>
                      <a:pt x="688" y="644"/>
                    </a:lnTo>
                    <a:lnTo>
                      <a:pt x="637" y="664"/>
                    </a:lnTo>
                    <a:lnTo>
                      <a:pt x="580" y="689"/>
                    </a:lnTo>
                    <a:lnTo>
                      <a:pt x="522" y="723"/>
                    </a:lnTo>
                    <a:lnTo>
                      <a:pt x="460" y="763"/>
                    </a:lnTo>
                    <a:lnTo>
                      <a:pt x="395" y="810"/>
                    </a:lnTo>
                    <a:lnTo>
                      <a:pt x="360" y="855"/>
                    </a:lnTo>
                    <a:lnTo>
                      <a:pt x="322" y="897"/>
                    </a:lnTo>
                    <a:lnTo>
                      <a:pt x="283" y="937"/>
                    </a:lnTo>
                    <a:lnTo>
                      <a:pt x="244" y="977"/>
                    </a:lnTo>
                    <a:lnTo>
                      <a:pt x="203" y="1016"/>
                    </a:lnTo>
                    <a:lnTo>
                      <a:pt x="165" y="1058"/>
                    </a:lnTo>
                    <a:lnTo>
                      <a:pt x="129" y="1099"/>
                    </a:lnTo>
                    <a:lnTo>
                      <a:pt x="96" y="1145"/>
                    </a:lnTo>
                    <a:lnTo>
                      <a:pt x="85" y="1142"/>
                    </a:lnTo>
                    <a:lnTo>
                      <a:pt x="74" y="1134"/>
                    </a:lnTo>
                    <a:lnTo>
                      <a:pt x="60" y="1122"/>
                    </a:lnTo>
                    <a:lnTo>
                      <a:pt x="48" y="1109"/>
                    </a:lnTo>
                    <a:lnTo>
                      <a:pt x="34" y="1095"/>
                    </a:lnTo>
                    <a:lnTo>
                      <a:pt x="21" y="1084"/>
                    </a:lnTo>
                    <a:lnTo>
                      <a:pt x="9" y="1076"/>
                    </a:lnTo>
                    <a:lnTo>
                      <a:pt x="0" y="1075"/>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2" name="Freeform 641">
                <a:extLst>
                  <a:ext uri="{FF2B5EF4-FFF2-40B4-BE49-F238E27FC236}">
                    <a16:creationId xmlns:a16="http://schemas.microsoft.com/office/drawing/2014/main" id="{DD526718-0671-574A-9CB1-525B9468ABB2}"/>
                  </a:ext>
                </a:extLst>
              </p:cNvPr>
              <p:cNvSpPr>
                <a:spLocks/>
              </p:cNvSpPr>
              <p:nvPr/>
            </p:nvSpPr>
            <p:spPr bwMode="auto">
              <a:xfrm>
                <a:off x="4356" y="2785"/>
                <a:ext cx="954" cy="599"/>
              </a:xfrm>
              <a:custGeom>
                <a:avLst/>
                <a:gdLst>
                  <a:gd name="T0" fmla="*/ 7 w 1907"/>
                  <a:gd name="T1" fmla="*/ 495 h 1197"/>
                  <a:gd name="T2" fmla="*/ 21 w 1907"/>
                  <a:gd name="T3" fmla="*/ 462 h 1197"/>
                  <a:gd name="T4" fmla="*/ 36 w 1907"/>
                  <a:gd name="T5" fmla="*/ 436 h 1197"/>
                  <a:gd name="T6" fmla="*/ 51 w 1907"/>
                  <a:gd name="T7" fmla="*/ 403 h 1197"/>
                  <a:gd name="T8" fmla="*/ 129 w 1907"/>
                  <a:gd name="T9" fmla="*/ 271 h 1197"/>
                  <a:gd name="T10" fmla="*/ 283 w 1907"/>
                  <a:gd name="T11" fmla="*/ 111 h 1197"/>
                  <a:gd name="T12" fmla="*/ 467 w 1907"/>
                  <a:gd name="T13" fmla="*/ 21 h 1197"/>
                  <a:gd name="T14" fmla="*/ 693 w 1907"/>
                  <a:gd name="T15" fmla="*/ 0 h 1197"/>
                  <a:gd name="T16" fmla="*/ 837 w 1907"/>
                  <a:gd name="T17" fmla="*/ 17 h 1197"/>
                  <a:gd name="T18" fmla="*/ 857 w 1907"/>
                  <a:gd name="T19" fmla="*/ 18 h 1197"/>
                  <a:gd name="T20" fmla="*/ 879 w 1907"/>
                  <a:gd name="T21" fmla="*/ 18 h 1197"/>
                  <a:gd name="T22" fmla="*/ 900 w 1907"/>
                  <a:gd name="T23" fmla="*/ 14 h 1197"/>
                  <a:gd name="T24" fmla="*/ 915 w 1907"/>
                  <a:gd name="T25" fmla="*/ 22 h 1197"/>
                  <a:gd name="T26" fmla="*/ 923 w 1907"/>
                  <a:gd name="T27" fmla="*/ 42 h 1197"/>
                  <a:gd name="T28" fmla="*/ 928 w 1907"/>
                  <a:gd name="T29" fmla="*/ 61 h 1197"/>
                  <a:gd name="T30" fmla="*/ 929 w 1907"/>
                  <a:gd name="T31" fmla="*/ 82 h 1197"/>
                  <a:gd name="T32" fmla="*/ 950 w 1907"/>
                  <a:gd name="T33" fmla="*/ 170 h 1197"/>
                  <a:gd name="T34" fmla="*/ 945 w 1907"/>
                  <a:gd name="T35" fmla="*/ 324 h 1197"/>
                  <a:gd name="T36" fmla="*/ 905 w 1907"/>
                  <a:gd name="T37" fmla="*/ 460 h 1197"/>
                  <a:gd name="T38" fmla="*/ 861 w 1907"/>
                  <a:gd name="T39" fmla="*/ 551 h 1197"/>
                  <a:gd name="T40" fmla="*/ 847 w 1907"/>
                  <a:gd name="T41" fmla="*/ 577 h 1197"/>
                  <a:gd name="T42" fmla="*/ 838 w 1907"/>
                  <a:gd name="T43" fmla="*/ 584 h 1197"/>
                  <a:gd name="T44" fmla="*/ 828 w 1907"/>
                  <a:gd name="T45" fmla="*/ 588 h 1197"/>
                  <a:gd name="T46" fmla="*/ 817 w 1907"/>
                  <a:gd name="T47" fmla="*/ 594 h 1197"/>
                  <a:gd name="T48" fmla="*/ 806 w 1907"/>
                  <a:gd name="T49" fmla="*/ 597 h 1197"/>
                  <a:gd name="T50" fmla="*/ 783 w 1907"/>
                  <a:gd name="T51" fmla="*/ 596 h 1197"/>
                  <a:gd name="T52" fmla="*/ 757 w 1907"/>
                  <a:gd name="T53" fmla="*/ 593 h 1197"/>
                  <a:gd name="T54" fmla="*/ 735 w 1907"/>
                  <a:gd name="T55" fmla="*/ 588 h 1197"/>
                  <a:gd name="T56" fmla="*/ 669 w 1907"/>
                  <a:gd name="T57" fmla="*/ 558 h 1197"/>
                  <a:gd name="T58" fmla="*/ 586 w 1907"/>
                  <a:gd name="T59" fmla="*/ 500 h 1197"/>
                  <a:gd name="T60" fmla="*/ 525 w 1907"/>
                  <a:gd name="T61" fmla="*/ 433 h 1197"/>
                  <a:gd name="T62" fmla="*/ 457 w 1907"/>
                  <a:gd name="T63" fmla="*/ 353 h 1197"/>
                  <a:gd name="T64" fmla="*/ 387 w 1907"/>
                  <a:gd name="T65" fmla="*/ 301 h 1197"/>
                  <a:gd name="T66" fmla="*/ 336 w 1907"/>
                  <a:gd name="T67" fmla="*/ 307 h 1197"/>
                  <a:gd name="T68" fmla="*/ 280 w 1907"/>
                  <a:gd name="T69" fmla="*/ 332 h 1197"/>
                  <a:gd name="T70" fmla="*/ 220 w 1907"/>
                  <a:gd name="T71" fmla="*/ 372 h 1197"/>
                  <a:gd name="T72" fmla="*/ 171 w 1907"/>
                  <a:gd name="T73" fmla="*/ 418 h 1197"/>
                  <a:gd name="T74" fmla="*/ 134 w 1907"/>
                  <a:gd name="T75" fmla="*/ 456 h 1197"/>
                  <a:gd name="T76" fmla="*/ 97 w 1907"/>
                  <a:gd name="T77" fmla="*/ 490 h 1197"/>
                  <a:gd name="T78" fmla="*/ 60 w 1907"/>
                  <a:gd name="T79" fmla="*/ 528 h 1197"/>
                  <a:gd name="T80" fmla="*/ 38 w 1907"/>
                  <a:gd name="T81" fmla="*/ 549 h 1197"/>
                  <a:gd name="T82" fmla="*/ 28 w 1907"/>
                  <a:gd name="T83" fmla="*/ 540 h 1197"/>
                  <a:gd name="T84" fmla="*/ 16 w 1907"/>
                  <a:gd name="T85" fmla="*/ 528 h 1197"/>
                  <a:gd name="T86" fmla="*/ 4 w 1907"/>
                  <a:gd name="T87" fmla="*/ 519 h 119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07"/>
                  <a:gd name="T133" fmla="*/ 0 h 1197"/>
                  <a:gd name="T134" fmla="*/ 1907 w 1907"/>
                  <a:gd name="T135" fmla="*/ 1197 h 119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07" h="1197">
                    <a:moveTo>
                      <a:pt x="0" y="1038"/>
                    </a:moveTo>
                    <a:lnTo>
                      <a:pt x="13" y="989"/>
                    </a:lnTo>
                    <a:lnTo>
                      <a:pt x="29" y="953"/>
                    </a:lnTo>
                    <a:lnTo>
                      <a:pt x="42" y="923"/>
                    </a:lnTo>
                    <a:lnTo>
                      <a:pt x="57" y="898"/>
                    </a:lnTo>
                    <a:lnTo>
                      <a:pt x="71" y="871"/>
                    </a:lnTo>
                    <a:lnTo>
                      <a:pt x="86" y="841"/>
                    </a:lnTo>
                    <a:lnTo>
                      <a:pt x="101" y="805"/>
                    </a:lnTo>
                    <a:lnTo>
                      <a:pt x="116" y="757"/>
                    </a:lnTo>
                    <a:lnTo>
                      <a:pt x="257" y="542"/>
                    </a:lnTo>
                    <a:lnTo>
                      <a:pt x="406" y="364"/>
                    </a:lnTo>
                    <a:lnTo>
                      <a:pt x="565" y="221"/>
                    </a:lnTo>
                    <a:lnTo>
                      <a:pt x="741" y="114"/>
                    </a:lnTo>
                    <a:lnTo>
                      <a:pt x="933" y="42"/>
                    </a:lnTo>
                    <a:lnTo>
                      <a:pt x="1147" y="4"/>
                    </a:lnTo>
                    <a:lnTo>
                      <a:pt x="1385" y="0"/>
                    </a:lnTo>
                    <a:lnTo>
                      <a:pt x="1655" y="32"/>
                    </a:lnTo>
                    <a:lnTo>
                      <a:pt x="1674" y="33"/>
                    </a:lnTo>
                    <a:lnTo>
                      <a:pt x="1694" y="35"/>
                    </a:lnTo>
                    <a:lnTo>
                      <a:pt x="1714" y="35"/>
                    </a:lnTo>
                    <a:lnTo>
                      <a:pt x="1735" y="37"/>
                    </a:lnTo>
                    <a:lnTo>
                      <a:pt x="1757" y="35"/>
                    </a:lnTo>
                    <a:lnTo>
                      <a:pt x="1778" y="33"/>
                    </a:lnTo>
                    <a:lnTo>
                      <a:pt x="1799" y="28"/>
                    </a:lnTo>
                    <a:lnTo>
                      <a:pt x="1821" y="23"/>
                    </a:lnTo>
                    <a:lnTo>
                      <a:pt x="1829" y="43"/>
                    </a:lnTo>
                    <a:lnTo>
                      <a:pt x="1838" y="64"/>
                    </a:lnTo>
                    <a:lnTo>
                      <a:pt x="1846" y="83"/>
                    </a:lnTo>
                    <a:lnTo>
                      <a:pt x="1852" y="103"/>
                    </a:lnTo>
                    <a:lnTo>
                      <a:pt x="1856" y="122"/>
                    </a:lnTo>
                    <a:lnTo>
                      <a:pt x="1858" y="142"/>
                    </a:lnTo>
                    <a:lnTo>
                      <a:pt x="1858" y="163"/>
                    </a:lnTo>
                    <a:lnTo>
                      <a:pt x="1858" y="187"/>
                    </a:lnTo>
                    <a:lnTo>
                      <a:pt x="1900" y="339"/>
                    </a:lnTo>
                    <a:lnTo>
                      <a:pt x="1907" y="495"/>
                    </a:lnTo>
                    <a:lnTo>
                      <a:pt x="1890" y="648"/>
                    </a:lnTo>
                    <a:lnTo>
                      <a:pt x="1856" y="793"/>
                    </a:lnTo>
                    <a:lnTo>
                      <a:pt x="1809" y="920"/>
                    </a:lnTo>
                    <a:lnTo>
                      <a:pt x="1763" y="1025"/>
                    </a:lnTo>
                    <a:lnTo>
                      <a:pt x="1721" y="1101"/>
                    </a:lnTo>
                    <a:lnTo>
                      <a:pt x="1696" y="1142"/>
                    </a:lnTo>
                    <a:lnTo>
                      <a:pt x="1693" y="1153"/>
                    </a:lnTo>
                    <a:lnTo>
                      <a:pt x="1685" y="1162"/>
                    </a:lnTo>
                    <a:lnTo>
                      <a:pt x="1676" y="1167"/>
                    </a:lnTo>
                    <a:lnTo>
                      <a:pt x="1666" y="1172"/>
                    </a:lnTo>
                    <a:lnTo>
                      <a:pt x="1655" y="1176"/>
                    </a:lnTo>
                    <a:lnTo>
                      <a:pt x="1645" y="1181"/>
                    </a:lnTo>
                    <a:lnTo>
                      <a:pt x="1634" y="1187"/>
                    </a:lnTo>
                    <a:lnTo>
                      <a:pt x="1627" y="1197"/>
                    </a:lnTo>
                    <a:lnTo>
                      <a:pt x="1611" y="1193"/>
                    </a:lnTo>
                    <a:lnTo>
                      <a:pt x="1591" y="1192"/>
                    </a:lnTo>
                    <a:lnTo>
                      <a:pt x="1566" y="1191"/>
                    </a:lnTo>
                    <a:lnTo>
                      <a:pt x="1540" y="1189"/>
                    </a:lnTo>
                    <a:lnTo>
                      <a:pt x="1513" y="1186"/>
                    </a:lnTo>
                    <a:lnTo>
                      <a:pt x="1489" y="1182"/>
                    </a:lnTo>
                    <a:lnTo>
                      <a:pt x="1469" y="1176"/>
                    </a:lnTo>
                    <a:lnTo>
                      <a:pt x="1457" y="1169"/>
                    </a:lnTo>
                    <a:lnTo>
                      <a:pt x="1338" y="1116"/>
                    </a:lnTo>
                    <a:lnTo>
                      <a:pt x="1246" y="1059"/>
                    </a:lnTo>
                    <a:lnTo>
                      <a:pt x="1172" y="999"/>
                    </a:lnTo>
                    <a:lnTo>
                      <a:pt x="1109" y="936"/>
                    </a:lnTo>
                    <a:lnTo>
                      <a:pt x="1049" y="866"/>
                    </a:lnTo>
                    <a:lnTo>
                      <a:pt x="987" y="790"/>
                    </a:lnTo>
                    <a:lnTo>
                      <a:pt x="913" y="705"/>
                    </a:lnTo>
                    <a:lnTo>
                      <a:pt x="822" y="611"/>
                    </a:lnTo>
                    <a:lnTo>
                      <a:pt x="773" y="601"/>
                    </a:lnTo>
                    <a:lnTo>
                      <a:pt x="725" y="603"/>
                    </a:lnTo>
                    <a:lnTo>
                      <a:pt x="672" y="614"/>
                    </a:lnTo>
                    <a:lnTo>
                      <a:pt x="618" y="637"/>
                    </a:lnTo>
                    <a:lnTo>
                      <a:pt x="560" y="664"/>
                    </a:lnTo>
                    <a:lnTo>
                      <a:pt x="501" y="701"/>
                    </a:lnTo>
                    <a:lnTo>
                      <a:pt x="440" y="743"/>
                    </a:lnTo>
                    <a:lnTo>
                      <a:pt x="376" y="793"/>
                    </a:lnTo>
                    <a:lnTo>
                      <a:pt x="342" y="836"/>
                    </a:lnTo>
                    <a:lnTo>
                      <a:pt x="306" y="875"/>
                    </a:lnTo>
                    <a:lnTo>
                      <a:pt x="268" y="911"/>
                    </a:lnTo>
                    <a:lnTo>
                      <a:pt x="232" y="946"/>
                    </a:lnTo>
                    <a:lnTo>
                      <a:pt x="193" y="980"/>
                    </a:lnTo>
                    <a:lnTo>
                      <a:pt x="156" y="1017"/>
                    </a:lnTo>
                    <a:lnTo>
                      <a:pt x="120" y="1055"/>
                    </a:lnTo>
                    <a:lnTo>
                      <a:pt x="87" y="1101"/>
                    </a:lnTo>
                    <a:lnTo>
                      <a:pt x="76" y="1097"/>
                    </a:lnTo>
                    <a:lnTo>
                      <a:pt x="66" y="1090"/>
                    </a:lnTo>
                    <a:lnTo>
                      <a:pt x="55" y="1079"/>
                    </a:lnTo>
                    <a:lnTo>
                      <a:pt x="44" y="1068"/>
                    </a:lnTo>
                    <a:lnTo>
                      <a:pt x="31" y="1055"/>
                    </a:lnTo>
                    <a:lnTo>
                      <a:pt x="20" y="1045"/>
                    </a:lnTo>
                    <a:lnTo>
                      <a:pt x="8" y="1038"/>
                    </a:lnTo>
                    <a:lnTo>
                      <a:pt x="0" y="1038"/>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3" name="Freeform 642">
                <a:extLst>
                  <a:ext uri="{FF2B5EF4-FFF2-40B4-BE49-F238E27FC236}">
                    <a16:creationId xmlns:a16="http://schemas.microsoft.com/office/drawing/2014/main" id="{52A8148B-6F01-1B43-A5B3-321D446CB73A}"/>
                  </a:ext>
                </a:extLst>
              </p:cNvPr>
              <p:cNvSpPr>
                <a:spLocks/>
              </p:cNvSpPr>
              <p:nvPr/>
            </p:nvSpPr>
            <p:spPr bwMode="auto">
              <a:xfrm>
                <a:off x="4363" y="2788"/>
                <a:ext cx="940" cy="569"/>
              </a:xfrm>
              <a:custGeom>
                <a:avLst/>
                <a:gdLst>
                  <a:gd name="T0" fmla="*/ 6 w 1882"/>
                  <a:gd name="T1" fmla="*/ 476 h 1137"/>
                  <a:gd name="T2" fmla="*/ 19 w 1882"/>
                  <a:gd name="T3" fmla="*/ 447 h 1137"/>
                  <a:gd name="T4" fmla="*/ 31 w 1882"/>
                  <a:gd name="T5" fmla="*/ 427 h 1137"/>
                  <a:gd name="T6" fmla="*/ 44 w 1882"/>
                  <a:gd name="T7" fmla="*/ 398 h 1137"/>
                  <a:gd name="T8" fmla="*/ 122 w 1882"/>
                  <a:gd name="T9" fmla="*/ 268 h 1137"/>
                  <a:gd name="T10" fmla="*/ 275 w 1882"/>
                  <a:gd name="T11" fmla="*/ 108 h 1137"/>
                  <a:gd name="T12" fmla="*/ 456 w 1882"/>
                  <a:gd name="T13" fmla="*/ 20 h 1137"/>
                  <a:gd name="T14" fmla="*/ 682 w 1882"/>
                  <a:gd name="T15" fmla="*/ 0 h 1137"/>
                  <a:gd name="T16" fmla="*/ 825 w 1882"/>
                  <a:gd name="T17" fmla="*/ 17 h 1137"/>
                  <a:gd name="T18" fmla="*/ 845 w 1882"/>
                  <a:gd name="T19" fmla="*/ 19 h 1137"/>
                  <a:gd name="T20" fmla="*/ 866 w 1882"/>
                  <a:gd name="T21" fmla="*/ 19 h 1137"/>
                  <a:gd name="T22" fmla="*/ 887 w 1882"/>
                  <a:gd name="T23" fmla="*/ 19 h 1137"/>
                  <a:gd name="T24" fmla="*/ 902 w 1882"/>
                  <a:gd name="T25" fmla="*/ 29 h 1137"/>
                  <a:gd name="T26" fmla="*/ 911 w 1882"/>
                  <a:gd name="T27" fmla="*/ 48 h 1137"/>
                  <a:gd name="T28" fmla="*/ 916 w 1882"/>
                  <a:gd name="T29" fmla="*/ 65 h 1137"/>
                  <a:gd name="T30" fmla="*/ 919 w 1882"/>
                  <a:gd name="T31" fmla="*/ 85 h 1137"/>
                  <a:gd name="T32" fmla="*/ 937 w 1882"/>
                  <a:gd name="T33" fmla="*/ 165 h 1137"/>
                  <a:gd name="T34" fmla="*/ 932 w 1882"/>
                  <a:gd name="T35" fmla="*/ 310 h 1137"/>
                  <a:gd name="T36" fmla="*/ 895 w 1882"/>
                  <a:gd name="T37" fmla="*/ 439 h 1137"/>
                  <a:gd name="T38" fmla="*/ 852 w 1882"/>
                  <a:gd name="T39" fmla="*/ 526 h 1137"/>
                  <a:gd name="T40" fmla="*/ 834 w 1882"/>
                  <a:gd name="T41" fmla="*/ 550 h 1137"/>
                  <a:gd name="T42" fmla="*/ 825 w 1882"/>
                  <a:gd name="T43" fmla="*/ 556 h 1137"/>
                  <a:gd name="T44" fmla="*/ 811 w 1882"/>
                  <a:gd name="T45" fmla="*/ 560 h 1137"/>
                  <a:gd name="T46" fmla="*/ 799 w 1882"/>
                  <a:gd name="T47" fmla="*/ 565 h 1137"/>
                  <a:gd name="T48" fmla="*/ 788 w 1882"/>
                  <a:gd name="T49" fmla="*/ 568 h 1137"/>
                  <a:gd name="T50" fmla="*/ 768 w 1882"/>
                  <a:gd name="T51" fmla="*/ 568 h 1137"/>
                  <a:gd name="T52" fmla="*/ 744 w 1882"/>
                  <a:gd name="T53" fmla="*/ 566 h 1137"/>
                  <a:gd name="T54" fmla="*/ 724 w 1882"/>
                  <a:gd name="T55" fmla="*/ 563 h 1137"/>
                  <a:gd name="T56" fmla="*/ 660 w 1882"/>
                  <a:gd name="T57" fmla="*/ 534 h 1137"/>
                  <a:gd name="T58" fmla="*/ 578 w 1882"/>
                  <a:gd name="T59" fmla="*/ 479 h 1137"/>
                  <a:gd name="T60" fmla="*/ 517 w 1882"/>
                  <a:gd name="T61" fmla="*/ 415 h 1137"/>
                  <a:gd name="T62" fmla="*/ 450 w 1882"/>
                  <a:gd name="T63" fmla="*/ 336 h 1137"/>
                  <a:gd name="T64" fmla="*/ 381 w 1882"/>
                  <a:gd name="T65" fmla="*/ 284 h 1137"/>
                  <a:gd name="T66" fmla="*/ 328 w 1882"/>
                  <a:gd name="T67" fmla="*/ 293 h 1137"/>
                  <a:gd name="T68" fmla="*/ 271 w 1882"/>
                  <a:gd name="T69" fmla="*/ 320 h 1137"/>
                  <a:gd name="T70" fmla="*/ 210 w 1882"/>
                  <a:gd name="T71" fmla="*/ 361 h 1137"/>
                  <a:gd name="T72" fmla="*/ 162 w 1882"/>
                  <a:gd name="T73" fmla="*/ 409 h 1137"/>
                  <a:gd name="T74" fmla="*/ 127 w 1882"/>
                  <a:gd name="T75" fmla="*/ 442 h 1137"/>
                  <a:gd name="T76" fmla="*/ 91 w 1882"/>
                  <a:gd name="T77" fmla="*/ 472 h 1137"/>
                  <a:gd name="T78" fmla="*/ 56 w 1882"/>
                  <a:gd name="T79" fmla="*/ 506 h 1137"/>
                  <a:gd name="T80" fmla="*/ 34 w 1882"/>
                  <a:gd name="T81" fmla="*/ 526 h 1137"/>
                  <a:gd name="T82" fmla="*/ 24 w 1882"/>
                  <a:gd name="T83" fmla="*/ 518 h 1137"/>
                  <a:gd name="T84" fmla="*/ 14 w 1882"/>
                  <a:gd name="T85" fmla="*/ 508 h 1137"/>
                  <a:gd name="T86" fmla="*/ 4 w 1882"/>
                  <a:gd name="T87" fmla="*/ 501 h 113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82"/>
                  <a:gd name="T133" fmla="*/ 0 h 1137"/>
                  <a:gd name="T134" fmla="*/ 1882 w 1882"/>
                  <a:gd name="T135" fmla="*/ 1137 h 113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82" h="1137">
                    <a:moveTo>
                      <a:pt x="0" y="1000"/>
                    </a:moveTo>
                    <a:lnTo>
                      <a:pt x="13" y="952"/>
                    </a:lnTo>
                    <a:lnTo>
                      <a:pt x="27" y="919"/>
                    </a:lnTo>
                    <a:lnTo>
                      <a:pt x="39" y="894"/>
                    </a:lnTo>
                    <a:lnTo>
                      <a:pt x="52" y="875"/>
                    </a:lnTo>
                    <a:lnTo>
                      <a:pt x="63" y="854"/>
                    </a:lnTo>
                    <a:lnTo>
                      <a:pt x="76" y="829"/>
                    </a:lnTo>
                    <a:lnTo>
                      <a:pt x="88" y="795"/>
                    </a:lnTo>
                    <a:lnTo>
                      <a:pt x="103" y="750"/>
                    </a:lnTo>
                    <a:lnTo>
                      <a:pt x="244" y="535"/>
                    </a:lnTo>
                    <a:lnTo>
                      <a:pt x="392" y="358"/>
                    </a:lnTo>
                    <a:lnTo>
                      <a:pt x="550" y="216"/>
                    </a:lnTo>
                    <a:lnTo>
                      <a:pt x="723" y="111"/>
                    </a:lnTo>
                    <a:lnTo>
                      <a:pt x="913" y="40"/>
                    </a:lnTo>
                    <a:lnTo>
                      <a:pt x="1127" y="3"/>
                    </a:lnTo>
                    <a:lnTo>
                      <a:pt x="1365" y="0"/>
                    </a:lnTo>
                    <a:lnTo>
                      <a:pt x="1633" y="32"/>
                    </a:lnTo>
                    <a:lnTo>
                      <a:pt x="1652" y="33"/>
                    </a:lnTo>
                    <a:lnTo>
                      <a:pt x="1672" y="36"/>
                    </a:lnTo>
                    <a:lnTo>
                      <a:pt x="1692" y="37"/>
                    </a:lnTo>
                    <a:lnTo>
                      <a:pt x="1713" y="38"/>
                    </a:lnTo>
                    <a:lnTo>
                      <a:pt x="1734" y="38"/>
                    </a:lnTo>
                    <a:lnTo>
                      <a:pt x="1755" y="38"/>
                    </a:lnTo>
                    <a:lnTo>
                      <a:pt x="1776" y="37"/>
                    </a:lnTo>
                    <a:lnTo>
                      <a:pt x="1798" y="37"/>
                    </a:lnTo>
                    <a:lnTo>
                      <a:pt x="1806" y="57"/>
                    </a:lnTo>
                    <a:lnTo>
                      <a:pt x="1815" y="77"/>
                    </a:lnTo>
                    <a:lnTo>
                      <a:pt x="1823" y="95"/>
                    </a:lnTo>
                    <a:lnTo>
                      <a:pt x="1830" y="114"/>
                    </a:lnTo>
                    <a:lnTo>
                      <a:pt x="1834" y="130"/>
                    </a:lnTo>
                    <a:lnTo>
                      <a:pt x="1838" y="150"/>
                    </a:lnTo>
                    <a:lnTo>
                      <a:pt x="1839" y="170"/>
                    </a:lnTo>
                    <a:lnTo>
                      <a:pt x="1840" y="194"/>
                    </a:lnTo>
                    <a:lnTo>
                      <a:pt x="1875" y="330"/>
                    </a:lnTo>
                    <a:lnTo>
                      <a:pt x="1882" y="476"/>
                    </a:lnTo>
                    <a:lnTo>
                      <a:pt x="1865" y="620"/>
                    </a:lnTo>
                    <a:lnTo>
                      <a:pt x="1834" y="756"/>
                    </a:lnTo>
                    <a:lnTo>
                      <a:pt x="1791" y="878"/>
                    </a:lnTo>
                    <a:lnTo>
                      <a:pt x="1747" y="979"/>
                    </a:lnTo>
                    <a:lnTo>
                      <a:pt x="1705" y="1051"/>
                    </a:lnTo>
                    <a:lnTo>
                      <a:pt x="1675" y="1090"/>
                    </a:lnTo>
                    <a:lnTo>
                      <a:pt x="1670" y="1099"/>
                    </a:lnTo>
                    <a:lnTo>
                      <a:pt x="1662" y="1107"/>
                    </a:lnTo>
                    <a:lnTo>
                      <a:pt x="1651" y="1112"/>
                    </a:lnTo>
                    <a:lnTo>
                      <a:pt x="1638" y="1117"/>
                    </a:lnTo>
                    <a:lnTo>
                      <a:pt x="1624" y="1120"/>
                    </a:lnTo>
                    <a:lnTo>
                      <a:pt x="1612" y="1125"/>
                    </a:lnTo>
                    <a:lnTo>
                      <a:pt x="1599" y="1129"/>
                    </a:lnTo>
                    <a:lnTo>
                      <a:pt x="1592" y="1136"/>
                    </a:lnTo>
                    <a:lnTo>
                      <a:pt x="1578" y="1136"/>
                    </a:lnTo>
                    <a:lnTo>
                      <a:pt x="1560" y="1137"/>
                    </a:lnTo>
                    <a:lnTo>
                      <a:pt x="1538" y="1136"/>
                    </a:lnTo>
                    <a:lnTo>
                      <a:pt x="1514" y="1136"/>
                    </a:lnTo>
                    <a:lnTo>
                      <a:pt x="1489" y="1132"/>
                    </a:lnTo>
                    <a:lnTo>
                      <a:pt x="1468" y="1130"/>
                    </a:lnTo>
                    <a:lnTo>
                      <a:pt x="1450" y="1125"/>
                    </a:lnTo>
                    <a:lnTo>
                      <a:pt x="1440" y="1121"/>
                    </a:lnTo>
                    <a:lnTo>
                      <a:pt x="1322" y="1067"/>
                    </a:lnTo>
                    <a:lnTo>
                      <a:pt x="1232" y="1015"/>
                    </a:lnTo>
                    <a:lnTo>
                      <a:pt x="1158" y="957"/>
                    </a:lnTo>
                    <a:lnTo>
                      <a:pt x="1096" y="897"/>
                    </a:lnTo>
                    <a:lnTo>
                      <a:pt x="1036" y="829"/>
                    </a:lnTo>
                    <a:lnTo>
                      <a:pt x="975" y="755"/>
                    </a:lnTo>
                    <a:lnTo>
                      <a:pt x="901" y="671"/>
                    </a:lnTo>
                    <a:lnTo>
                      <a:pt x="811" y="577"/>
                    </a:lnTo>
                    <a:lnTo>
                      <a:pt x="762" y="568"/>
                    </a:lnTo>
                    <a:lnTo>
                      <a:pt x="712" y="572"/>
                    </a:lnTo>
                    <a:lnTo>
                      <a:pt x="656" y="586"/>
                    </a:lnTo>
                    <a:lnTo>
                      <a:pt x="601" y="609"/>
                    </a:lnTo>
                    <a:lnTo>
                      <a:pt x="542" y="639"/>
                    </a:lnTo>
                    <a:lnTo>
                      <a:pt x="483" y="676"/>
                    </a:lnTo>
                    <a:lnTo>
                      <a:pt x="421" y="721"/>
                    </a:lnTo>
                    <a:lnTo>
                      <a:pt x="359" y="774"/>
                    </a:lnTo>
                    <a:lnTo>
                      <a:pt x="325" y="817"/>
                    </a:lnTo>
                    <a:lnTo>
                      <a:pt x="291" y="853"/>
                    </a:lnTo>
                    <a:lnTo>
                      <a:pt x="255" y="884"/>
                    </a:lnTo>
                    <a:lnTo>
                      <a:pt x="220" y="914"/>
                    </a:lnTo>
                    <a:lnTo>
                      <a:pt x="182" y="943"/>
                    </a:lnTo>
                    <a:lnTo>
                      <a:pt x="147" y="974"/>
                    </a:lnTo>
                    <a:lnTo>
                      <a:pt x="113" y="1011"/>
                    </a:lnTo>
                    <a:lnTo>
                      <a:pt x="81" y="1055"/>
                    </a:lnTo>
                    <a:lnTo>
                      <a:pt x="69" y="1052"/>
                    </a:lnTo>
                    <a:lnTo>
                      <a:pt x="59" y="1046"/>
                    </a:lnTo>
                    <a:lnTo>
                      <a:pt x="49" y="1036"/>
                    </a:lnTo>
                    <a:lnTo>
                      <a:pt x="39" y="1027"/>
                    </a:lnTo>
                    <a:lnTo>
                      <a:pt x="28" y="1016"/>
                    </a:lnTo>
                    <a:lnTo>
                      <a:pt x="18" y="1007"/>
                    </a:lnTo>
                    <a:lnTo>
                      <a:pt x="8" y="1001"/>
                    </a:lnTo>
                    <a:lnTo>
                      <a:pt x="0" y="1000"/>
                    </a:lnTo>
                    <a:close/>
                  </a:path>
                </a:pathLst>
              </a:custGeom>
              <a:solidFill>
                <a:srgbClr val="F5BF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4" name="Freeform 643">
                <a:extLst>
                  <a:ext uri="{FF2B5EF4-FFF2-40B4-BE49-F238E27FC236}">
                    <a16:creationId xmlns:a16="http://schemas.microsoft.com/office/drawing/2014/main" id="{2AADFD1C-C501-1640-A2FF-3728744DD85B}"/>
                  </a:ext>
                </a:extLst>
              </p:cNvPr>
              <p:cNvSpPr>
                <a:spLocks/>
              </p:cNvSpPr>
              <p:nvPr/>
            </p:nvSpPr>
            <p:spPr bwMode="auto">
              <a:xfrm>
                <a:off x="4370" y="2792"/>
                <a:ext cx="928" cy="542"/>
              </a:xfrm>
              <a:custGeom>
                <a:avLst/>
                <a:gdLst>
                  <a:gd name="T0" fmla="*/ 6 w 1857"/>
                  <a:gd name="T1" fmla="*/ 458 h 1084"/>
                  <a:gd name="T2" fmla="*/ 17 w 1857"/>
                  <a:gd name="T3" fmla="*/ 433 h 1084"/>
                  <a:gd name="T4" fmla="*/ 26 w 1857"/>
                  <a:gd name="T5" fmla="*/ 418 h 1084"/>
                  <a:gd name="T6" fmla="*/ 37 w 1857"/>
                  <a:gd name="T7" fmla="*/ 394 h 1084"/>
                  <a:gd name="T8" fmla="*/ 115 w 1857"/>
                  <a:gd name="T9" fmla="*/ 265 h 1084"/>
                  <a:gd name="T10" fmla="*/ 266 w 1857"/>
                  <a:gd name="T11" fmla="*/ 106 h 1084"/>
                  <a:gd name="T12" fmla="*/ 446 w 1857"/>
                  <a:gd name="T13" fmla="*/ 18 h 1084"/>
                  <a:gd name="T14" fmla="*/ 671 w 1857"/>
                  <a:gd name="T15" fmla="*/ 0 h 1084"/>
                  <a:gd name="T16" fmla="*/ 814 w 1857"/>
                  <a:gd name="T17" fmla="*/ 17 h 1084"/>
                  <a:gd name="T18" fmla="*/ 834 w 1857"/>
                  <a:gd name="T19" fmla="*/ 19 h 1084"/>
                  <a:gd name="T20" fmla="*/ 855 w 1857"/>
                  <a:gd name="T21" fmla="*/ 20 h 1084"/>
                  <a:gd name="T22" fmla="*/ 876 w 1857"/>
                  <a:gd name="T23" fmla="*/ 22 h 1084"/>
                  <a:gd name="T24" fmla="*/ 892 w 1857"/>
                  <a:gd name="T25" fmla="*/ 34 h 1084"/>
                  <a:gd name="T26" fmla="*/ 900 w 1857"/>
                  <a:gd name="T27" fmla="*/ 52 h 1084"/>
                  <a:gd name="T28" fmla="*/ 907 w 1857"/>
                  <a:gd name="T29" fmla="*/ 69 h 1084"/>
                  <a:gd name="T30" fmla="*/ 910 w 1857"/>
                  <a:gd name="T31" fmla="*/ 87 h 1084"/>
                  <a:gd name="T32" fmla="*/ 925 w 1857"/>
                  <a:gd name="T33" fmla="*/ 160 h 1084"/>
                  <a:gd name="T34" fmla="*/ 921 w 1857"/>
                  <a:gd name="T35" fmla="*/ 294 h 1084"/>
                  <a:gd name="T36" fmla="*/ 886 w 1857"/>
                  <a:gd name="T37" fmla="*/ 417 h 1084"/>
                  <a:gd name="T38" fmla="*/ 844 w 1857"/>
                  <a:gd name="T39" fmla="*/ 500 h 1084"/>
                  <a:gd name="T40" fmla="*/ 823 w 1857"/>
                  <a:gd name="T41" fmla="*/ 523 h 1084"/>
                  <a:gd name="T42" fmla="*/ 812 w 1857"/>
                  <a:gd name="T43" fmla="*/ 529 h 1084"/>
                  <a:gd name="T44" fmla="*/ 797 w 1857"/>
                  <a:gd name="T45" fmla="*/ 533 h 1084"/>
                  <a:gd name="T46" fmla="*/ 782 w 1857"/>
                  <a:gd name="T47" fmla="*/ 537 h 1084"/>
                  <a:gd name="T48" fmla="*/ 772 w 1857"/>
                  <a:gd name="T49" fmla="*/ 541 h 1084"/>
                  <a:gd name="T50" fmla="*/ 754 w 1857"/>
                  <a:gd name="T51" fmla="*/ 542 h 1084"/>
                  <a:gd name="T52" fmla="*/ 732 w 1857"/>
                  <a:gd name="T53" fmla="*/ 540 h 1084"/>
                  <a:gd name="T54" fmla="*/ 715 w 1857"/>
                  <a:gd name="T55" fmla="*/ 537 h 1084"/>
                  <a:gd name="T56" fmla="*/ 652 w 1857"/>
                  <a:gd name="T57" fmla="*/ 509 h 1084"/>
                  <a:gd name="T58" fmla="*/ 570 w 1857"/>
                  <a:gd name="T59" fmla="*/ 456 h 1084"/>
                  <a:gd name="T60" fmla="*/ 511 w 1857"/>
                  <a:gd name="T61" fmla="*/ 395 h 1084"/>
                  <a:gd name="T62" fmla="*/ 444 w 1857"/>
                  <a:gd name="T63" fmla="*/ 319 h 1084"/>
                  <a:gd name="T64" fmla="*/ 374 w 1857"/>
                  <a:gd name="T65" fmla="*/ 269 h 1084"/>
                  <a:gd name="T66" fmla="*/ 320 w 1857"/>
                  <a:gd name="T67" fmla="*/ 277 h 1084"/>
                  <a:gd name="T68" fmla="*/ 261 w 1857"/>
                  <a:gd name="T69" fmla="*/ 306 h 1084"/>
                  <a:gd name="T70" fmla="*/ 201 w 1857"/>
                  <a:gd name="T71" fmla="*/ 350 h 1084"/>
                  <a:gd name="T72" fmla="*/ 154 w 1857"/>
                  <a:gd name="T73" fmla="*/ 398 h 1084"/>
                  <a:gd name="T74" fmla="*/ 120 w 1857"/>
                  <a:gd name="T75" fmla="*/ 428 h 1084"/>
                  <a:gd name="T76" fmla="*/ 86 w 1857"/>
                  <a:gd name="T77" fmla="*/ 453 h 1084"/>
                  <a:gd name="T78" fmla="*/ 52 w 1857"/>
                  <a:gd name="T79" fmla="*/ 483 h 1084"/>
                  <a:gd name="T80" fmla="*/ 31 w 1857"/>
                  <a:gd name="T81" fmla="*/ 503 h 1084"/>
                  <a:gd name="T82" fmla="*/ 22 w 1857"/>
                  <a:gd name="T83" fmla="*/ 497 h 1084"/>
                  <a:gd name="T84" fmla="*/ 12 w 1857"/>
                  <a:gd name="T85" fmla="*/ 487 h 1084"/>
                  <a:gd name="T86" fmla="*/ 4 w 1857"/>
                  <a:gd name="T87" fmla="*/ 481 h 108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57"/>
                  <a:gd name="T133" fmla="*/ 0 h 1084"/>
                  <a:gd name="T134" fmla="*/ 1857 w 1857"/>
                  <a:gd name="T135" fmla="*/ 1084 h 108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57" h="1084">
                    <a:moveTo>
                      <a:pt x="0" y="962"/>
                    </a:moveTo>
                    <a:lnTo>
                      <a:pt x="12" y="916"/>
                    </a:lnTo>
                    <a:lnTo>
                      <a:pt x="24" y="886"/>
                    </a:lnTo>
                    <a:lnTo>
                      <a:pt x="34" y="866"/>
                    </a:lnTo>
                    <a:lnTo>
                      <a:pt x="44" y="852"/>
                    </a:lnTo>
                    <a:lnTo>
                      <a:pt x="53" y="837"/>
                    </a:lnTo>
                    <a:lnTo>
                      <a:pt x="63" y="818"/>
                    </a:lnTo>
                    <a:lnTo>
                      <a:pt x="74" y="788"/>
                    </a:lnTo>
                    <a:lnTo>
                      <a:pt x="89" y="743"/>
                    </a:lnTo>
                    <a:lnTo>
                      <a:pt x="230" y="529"/>
                    </a:lnTo>
                    <a:lnTo>
                      <a:pt x="376" y="352"/>
                    </a:lnTo>
                    <a:lnTo>
                      <a:pt x="533" y="212"/>
                    </a:lnTo>
                    <a:lnTo>
                      <a:pt x="705" y="108"/>
                    </a:lnTo>
                    <a:lnTo>
                      <a:pt x="893" y="36"/>
                    </a:lnTo>
                    <a:lnTo>
                      <a:pt x="1105" y="1"/>
                    </a:lnTo>
                    <a:lnTo>
                      <a:pt x="1342" y="0"/>
                    </a:lnTo>
                    <a:lnTo>
                      <a:pt x="1610" y="31"/>
                    </a:lnTo>
                    <a:lnTo>
                      <a:pt x="1629" y="34"/>
                    </a:lnTo>
                    <a:lnTo>
                      <a:pt x="1649" y="36"/>
                    </a:lnTo>
                    <a:lnTo>
                      <a:pt x="1669" y="38"/>
                    </a:lnTo>
                    <a:lnTo>
                      <a:pt x="1691" y="40"/>
                    </a:lnTo>
                    <a:lnTo>
                      <a:pt x="1711" y="41"/>
                    </a:lnTo>
                    <a:lnTo>
                      <a:pt x="1732" y="43"/>
                    </a:lnTo>
                    <a:lnTo>
                      <a:pt x="1753" y="45"/>
                    </a:lnTo>
                    <a:lnTo>
                      <a:pt x="1776" y="49"/>
                    </a:lnTo>
                    <a:lnTo>
                      <a:pt x="1785" y="69"/>
                    </a:lnTo>
                    <a:lnTo>
                      <a:pt x="1794" y="89"/>
                    </a:lnTo>
                    <a:lnTo>
                      <a:pt x="1801" y="105"/>
                    </a:lnTo>
                    <a:lnTo>
                      <a:pt x="1809" y="123"/>
                    </a:lnTo>
                    <a:lnTo>
                      <a:pt x="1814" y="139"/>
                    </a:lnTo>
                    <a:lnTo>
                      <a:pt x="1819" y="157"/>
                    </a:lnTo>
                    <a:lnTo>
                      <a:pt x="1821" y="175"/>
                    </a:lnTo>
                    <a:lnTo>
                      <a:pt x="1822" y="198"/>
                    </a:lnTo>
                    <a:lnTo>
                      <a:pt x="1851" y="321"/>
                    </a:lnTo>
                    <a:lnTo>
                      <a:pt x="1857" y="454"/>
                    </a:lnTo>
                    <a:lnTo>
                      <a:pt x="1842" y="588"/>
                    </a:lnTo>
                    <a:lnTo>
                      <a:pt x="1814" y="719"/>
                    </a:lnTo>
                    <a:lnTo>
                      <a:pt x="1773" y="835"/>
                    </a:lnTo>
                    <a:lnTo>
                      <a:pt x="1731" y="932"/>
                    </a:lnTo>
                    <a:lnTo>
                      <a:pt x="1688" y="1001"/>
                    </a:lnTo>
                    <a:lnTo>
                      <a:pt x="1652" y="1038"/>
                    </a:lnTo>
                    <a:lnTo>
                      <a:pt x="1647" y="1045"/>
                    </a:lnTo>
                    <a:lnTo>
                      <a:pt x="1638" y="1053"/>
                    </a:lnTo>
                    <a:lnTo>
                      <a:pt x="1624" y="1058"/>
                    </a:lnTo>
                    <a:lnTo>
                      <a:pt x="1610" y="1063"/>
                    </a:lnTo>
                    <a:lnTo>
                      <a:pt x="1594" y="1065"/>
                    </a:lnTo>
                    <a:lnTo>
                      <a:pt x="1579" y="1069"/>
                    </a:lnTo>
                    <a:lnTo>
                      <a:pt x="1565" y="1073"/>
                    </a:lnTo>
                    <a:lnTo>
                      <a:pt x="1557" y="1078"/>
                    </a:lnTo>
                    <a:lnTo>
                      <a:pt x="1545" y="1081"/>
                    </a:lnTo>
                    <a:lnTo>
                      <a:pt x="1529" y="1084"/>
                    </a:lnTo>
                    <a:lnTo>
                      <a:pt x="1508" y="1084"/>
                    </a:lnTo>
                    <a:lnTo>
                      <a:pt x="1488" y="1084"/>
                    </a:lnTo>
                    <a:lnTo>
                      <a:pt x="1465" y="1080"/>
                    </a:lnTo>
                    <a:lnTo>
                      <a:pt x="1446" y="1078"/>
                    </a:lnTo>
                    <a:lnTo>
                      <a:pt x="1431" y="1074"/>
                    </a:lnTo>
                    <a:lnTo>
                      <a:pt x="1422" y="1070"/>
                    </a:lnTo>
                    <a:lnTo>
                      <a:pt x="1304" y="1018"/>
                    </a:lnTo>
                    <a:lnTo>
                      <a:pt x="1214" y="966"/>
                    </a:lnTo>
                    <a:lnTo>
                      <a:pt x="1141" y="912"/>
                    </a:lnTo>
                    <a:lnTo>
                      <a:pt x="1081" y="855"/>
                    </a:lnTo>
                    <a:lnTo>
                      <a:pt x="1022" y="791"/>
                    </a:lnTo>
                    <a:lnTo>
                      <a:pt x="961" y="719"/>
                    </a:lnTo>
                    <a:lnTo>
                      <a:pt x="888" y="638"/>
                    </a:lnTo>
                    <a:lnTo>
                      <a:pt x="798" y="545"/>
                    </a:lnTo>
                    <a:lnTo>
                      <a:pt x="749" y="538"/>
                    </a:lnTo>
                    <a:lnTo>
                      <a:pt x="696" y="541"/>
                    </a:lnTo>
                    <a:lnTo>
                      <a:pt x="641" y="554"/>
                    </a:lnTo>
                    <a:lnTo>
                      <a:pt x="583" y="579"/>
                    </a:lnTo>
                    <a:lnTo>
                      <a:pt x="522" y="612"/>
                    </a:lnTo>
                    <a:lnTo>
                      <a:pt x="462" y="653"/>
                    </a:lnTo>
                    <a:lnTo>
                      <a:pt x="402" y="701"/>
                    </a:lnTo>
                    <a:lnTo>
                      <a:pt x="341" y="757"/>
                    </a:lnTo>
                    <a:lnTo>
                      <a:pt x="308" y="797"/>
                    </a:lnTo>
                    <a:lnTo>
                      <a:pt x="275" y="831"/>
                    </a:lnTo>
                    <a:lnTo>
                      <a:pt x="241" y="857"/>
                    </a:lnTo>
                    <a:lnTo>
                      <a:pt x="207" y="882"/>
                    </a:lnTo>
                    <a:lnTo>
                      <a:pt x="172" y="906"/>
                    </a:lnTo>
                    <a:lnTo>
                      <a:pt x="138" y="934"/>
                    </a:lnTo>
                    <a:lnTo>
                      <a:pt x="104" y="966"/>
                    </a:lnTo>
                    <a:lnTo>
                      <a:pt x="73" y="1009"/>
                    </a:lnTo>
                    <a:lnTo>
                      <a:pt x="63" y="1006"/>
                    </a:lnTo>
                    <a:lnTo>
                      <a:pt x="54" y="1001"/>
                    </a:lnTo>
                    <a:lnTo>
                      <a:pt x="44" y="994"/>
                    </a:lnTo>
                    <a:lnTo>
                      <a:pt x="35" y="985"/>
                    </a:lnTo>
                    <a:lnTo>
                      <a:pt x="25" y="975"/>
                    </a:lnTo>
                    <a:lnTo>
                      <a:pt x="18" y="967"/>
                    </a:lnTo>
                    <a:lnTo>
                      <a:pt x="8" y="962"/>
                    </a:lnTo>
                    <a:lnTo>
                      <a:pt x="0" y="962"/>
                    </a:lnTo>
                    <a:close/>
                  </a:path>
                </a:pathLst>
              </a:custGeom>
              <a:solidFill>
                <a:srgbClr val="FAC4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5" name="Freeform 644">
                <a:extLst>
                  <a:ext uri="{FF2B5EF4-FFF2-40B4-BE49-F238E27FC236}">
                    <a16:creationId xmlns:a16="http://schemas.microsoft.com/office/drawing/2014/main" id="{D3C76888-4FBA-C741-9198-4C919FF469AE}"/>
                  </a:ext>
                </a:extLst>
              </p:cNvPr>
              <p:cNvSpPr>
                <a:spLocks/>
              </p:cNvSpPr>
              <p:nvPr/>
            </p:nvSpPr>
            <p:spPr bwMode="auto">
              <a:xfrm>
                <a:off x="4377" y="2795"/>
                <a:ext cx="915" cy="517"/>
              </a:xfrm>
              <a:custGeom>
                <a:avLst/>
                <a:gdLst>
                  <a:gd name="T0" fmla="*/ 5 w 1831"/>
                  <a:gd name="T1" fmla="*/ 440 h 1034"/>
                  <a:gd name="T2" fmla="*/ 14 w 1831"/>
                  <a:gd name="T3" fmla="*/ 419 h 1034"/>
                  <a:gd name="T4" fmla="*/ 21 w 1831"/>
                  <a:gd name="T5" fmla="*/ 410 h 1034"/>
                  <a:gd name="T6" fmla="*/ 31 w 1831"/>
                  <a:gd name="T7" fmla="*/ 390 h 1034"/>
                  <a:gd name="T8" fmla="*/ 107 w 1831"/>
                  <a:gd name="T9" fmla="*/ 261 h 1034"/>
                  <a:gd name="T10" fmla="*/ 257 w 1831"/>
                  <a:gd name="T11" fmla="*/ 103 h 1034"/>
                  <a:gd name="T12" fmla="*/ 436 w 1831"/>
                  <a:gd name="T13" fmla="*/ 17 h 1034"/>
                  <a:gd name="T14" fmla="*/ 659 w 1831"/>
                  <a:gd name="T15" fmla="*/ 0 h 1034"/>
                  <a:gd name="T16" fmla="*/ 803 w 1831"/>
                  <a:gd name="T17" fmla="*/ 17 h 1034"/>
                  <a:gd name="T18" fmla="*/ 822 w 1831"/>
                  <a:gd name="T19" fmla="*/ 19 h 1034"/>
                  <a:gd name="T20" fmla="*/ 843 w 1831"/>
                  <a:gd name="T21" fmla="*/ 22 h 1034"/>
                  <a:gd name="T22" fmla="*/ 864 w 1831"/>
                  <a:gd name="T23" fmla="*/ 27 h 1034"/>
                  <a:gd name="T24" fmla="*/ 880 w 1831"/>
                  <a:gd name="T25" fmla="*/ 41 h 1034"/>
                  <a:gd name="T26" fmla="*/ 889 w 1831"/>
                  <a:gd name="T27" fmla="*/ 59 h 1034"/>
                  <a:gd name="T28" fmla="*/ 896 w 1831"/>
                  <a:gd name="T29" fmla="*/ 74 h 1034"/>
                  <a:gd name="T30" fmla="*/ 900 w 1831"/>
                  <a:gd name="T31" fmla="*/ 91 h 1034"/>
                  <a:gd name="T32" fmla="*/ 913 w 1831"/>
                  <a:gd name="T33" fmla="*/ 157 h 1034"/>
                  <a:gd name="T34" fmla="*/ 909 w 1831"/>
                  <a:gd name="T35" fmla="*/ 280 h 1034"/>
                  <a:gd name="T36" fmla="*/ 878 w 1831"/>
                  <a:gd name="T37" fmla="*/ 397 h 1034"/>
                  <a:gd name="T38" fmla="*/ 836 w 1831"/>
                  <a:gd name="T39" fmla="*/ 476 h 1034"/>
                  <a:gd name="T40" fmla="*/ 812 w 1831"/>
                  <a:gd name="T41" fmla="*/ 496 h 1034"/>
                  <a:gd name="T42" fmla="*/ 799 w 1831"/>
                  <a:gd name="T43" fmla="*/ 502 h 1034"/>
                  <a:gd name="T44" fmla="*/ 782 w 1831"/>
                  <a:gd name="T45" fmla="*/ 506 h 1034"/>
                  <a:gd name="T46" fmla="*/ 766 w 1831"/>
                  <a:gd name="T47" fmla="*/ 509 h 1034"/>
                  <a:gd name="T48" fmla="*/ 755 w 1831"/>
                  <a:gd name="T49" fmla="*/ 514 h 1034"/>
                  <a:gd name="T50" fmla="*/ 739 w 1831"/>
                  <a:gd name="T51" fmla="*/ 517 h 1034"/>
                  <a:gd name="T52" fmla="*/ 720 w 1831"/>
                  <a:gd name="T53" fmla="*/ 515 h 1034"/>
                  <a:gd name="T54" fmla="*/ 705 w 1831"/>
                  <a:gd name="T55" fmla="*/ 513 h 1034"/>
                  <a:gd name="T56" fmla="*/ 644 w 1831"/>
                  <a:gd name="T57" fmla="*/ 485 h 1034"/>
                  <a:gd name="T58" fmla="*/ 563 w 1831"/>
                  <a:gd name="T59" fmla="*/ 435 h 1034"/>
                  <a:gd name="T60" fmla="*/ 504 w 1831"/>
                  <a:gd name="T61" fmla="*/ 376 h 1034"/>
                  <a:gd name="T62" fmla="*/ 437 w 1831"/>
                  <a:gd name="T63" fmla="*/ 302 h 1034"/>
                  <a:gd name="T64" fmla="*/ 368 w 1831"/>
                  <a:gd name="T65" fmla="*/ 252 h 1034"/>
                  <a:gd name="T66" fmla="*/ 312 w 1831"/>
                  <a:gd name="T67" fmla="*/ 262 h 1034"/>
                  <a:gd name="T68" fmla="*/ 252 w 1831"/>
                  <a:gd name="T69" fmla="*/ 293 h 1034"/>
                  <a:gd name="T70" fmla="*/ 190 w 1831"/>
                  <a:gd name="T71" fmla="*/ 340 h 1034"/>
                  <a:gd name="T72" fmla="*/ 145 w 1831"/>
                  <a:gd name="T73" fmla="*/ 389 h 1034"/>
                  <a:gd name="T74" fmla="*/ 112 w 1831"/>
                  <a:gd name="T75" fmla="*/ 415 h 1034"/>
                  <a:gd name="T76" fmla="*/ 79 w 1831"/>
                  <a:gd name="T77" fmla="*/ 435 h 1034"/>
                  <a:gd name="T78" fmla="*/ 47 w 1831"/>
                  <a:gd name="T79" fmla="*/ 461 h 1034"/>
                  <a:gd name="T80" fmla="*/ 27 w 1831"/>
                  <a:gd name="T81" fmla="*/ 480 h 1034"/>
                  <a:gd name="T82" fmla="*/ 19 w 1831"/>
                  <a:gd name="T83" fmla="*/ 475 h 1034"/>
                  <a:gd name="T84" fmla="*/ 11 w 1831"/>
                  <a:gd name="T85" fmla="*/ 467 h 1034"/>
                  <a:gd name="T86" fmla="*/ 4 w 1831"/>
                  <a:gd name="T87" fmla="*/ 462 h 10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31"/>
                  <a:gd name="T133" fmla="*/ 0 h 1034"/>
                  <a:gd name="T134" fmla="*/ 1831 w 1831"/>
                  <a:gd name="T135" fmla="*/ 1034 h 10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31" h="1034">
                    <a:moveTo>
                      <a:pt x="0" y="925"/>
                    </a:moveTo>
                    <a:lnTo>
                      <a:pt x="11" y="880"/>
                    </a:lnTo>
                    <a:lnTo>
                      <a:pt x="21" y="854"/>
                    </a:lnTo>
                    <a:lnTo>
                      <a:pt x="29" y="839"/>
                    </a:lnTo>
                    <a:lnTo>
                      <a:pt x="36" y="831"/>
                    </a:lnTo>
                    <a:lnTo>
                      <a:pt x="43" y="821"/>
                    </a:lnTo>
                    <a:lnTo>
                      <a:pt x="51" y="807"/>
                    </a:lnTo>
                    <a:lnTo>
                      <a:pt x="62" y="780"/>
                    </a:lnTo>
                    <a:lnTo>
                      <a:pt x="75" y="737"/>
                    </a:lnTo>
                    <a:lnTo>
                      <a:pt x="214" y="523"/>
                    </a:lnTo>
                    <a:lnTo>
                      <a:pt x="361" y="347"/>
                    </a:lnTo>
                    <a:lnTo>
                      <a:pt x="515" y="207"/>
                    </a:lnTo>
                    <a:lnTo>
                      <a:pt x="686" y="104"/>
                    </a:lnTo>
                    <a:lnTo>
                      <a:pt x="873" y="35"/>
                    </a:lnTo>
                    <a:lnTo>
                      <a:pt x="1084" y="2"/>
                    </a:lnTo>
                    <a:lnTo>
                      <a:pt x="1319" y="0"/>
                    </a:lnTo>
                    <a:lnTo>
                      <a:pt x="1588" y="33"/>
                    </a:lnTo>
                    <a:lnTo>
                      <a:pt x="1606" y="35"/>
                    </a:lnTo>
                    <a:lnTo>
                      <a:pt x="1625" y="38"/>
                    </a:lnTo>
                    <a:lnTo>
                      <a:pt x="1645" y="39"/>
                    </a:lnTo>
                    <a:lnTo>
                      <a:pt x="1667" y="43"/>
                    </a:lnTo>
                    <a:lnTo>
                      <a:pt x="1687" y="45"/>
                    </a:lnTo>
                    <a:lnTo>
                      <a:pt x="1708" y="49"/>
                    </a:lnTo>
                    <a:lnTo>
                      <a:pt x="1729" y="54"/>
                    </a:lnTo>
                    <a:lnTo>
                      <a:pt x="1752" y="63"/>
                    </a:lnTo>
                    <a:lnTo>
                      <a:pt x="1761" y="83"/>
                    </a:lnTo>
                    <a:lnTo>
                      <a:pt x="1771" y="102"/>
                    </a:lnTo>
                    <a:lnTo>
                      <a:pt x="1778" y="118"/>
                    </a:lnTo>
                    <a:lnTo>
                      <a:pt x="1787" y="134"/>
                    </a:lnTo>
                    <a:lnTo>
                      <a:pt x="1792" y="149"/>
                    </a:lnTo>
                    <a:lnTo>
                      <a:pt x="1797" y="166"/>
                    </a:lnTo>
                    <a:lnTo>
                      <a:pt x="1801" y="183"/>
                    </a:lnTo>
                    <a:lnTo>
                      <a:pt x="1805" y="206"/>
                    </a:lnTo>
                    <a:lnTo>
                      <a:pt x="1827" y="314"/>
                    </a:lnTo>
                    <a:lnTo>
                      <a:pt x="1831" y="435"/>
                    </a:lnTo>
                    <a:lnTo>
                      <a:pt x="1818" y="560"/>
                    </a:lnTo>
                    <a:lnTo>
                      <a:pt x="1793" y="683"/>
                    </a:lnTo>
                    <a:lnTo>
                      <a:pt x="1757" y="794"/>
                    </a:lnTo>
                    <a:lnTo>
                      <a:pt x="1716" y="886"/>
                    </a:lnTo>
                    <a:lnTo>
                      <a:pt x="1672" y="953"/>
                    </a:lnTo>
                    <a:lnTo>
                      <a:pt x="1632" y="987"/>
                    </a:lnTo>
                    <a:lnTo>
                      <a:pt x="1624" y="993"/>
                    </a:lnTo>
                    <a:lnTo>
                      <a:pt x="1614" y="999"/>
                    </a:lnTo>
                    <a:lnTo>
                      <a:pt x="1599" y="1004"/>
                    </a:lnTo>
                    <a:lnTo>
                      <a:pt x="1584" y="1010"/>
                    </a:lnTo>
                    <a:lnTo>
                      <a:pt x="1565" y="1013"/>
                    </a:lnTo>
                    <a:lnTo>
                      <a:pt x="1549" y="1017"/>
                    </a:lnTo>
                    <a:lnTo>
                      <a:pt x="1532" y="1019"/>
                    </a:lnTo>
                    <a:lnTo>
                      <a:pt x="1521" y="1022"/>
                    </a:lnTo>
                    <a:lnTo>
                      <a:pt x="1510" y="1028"/>
                    </a:lnTo>
                    <a:lnTo>
                      <a:pt x="1496" y="1033"/>
                    </a:lnTo>
                    <a:lnTo>
                      <a:pt x="1479" y="1033"/>
                    </a:lnTo>
                    <a:lnTo>
                      <a:pt x="1461" y="1034"/>
                    </a:lnTo>
                    <a:lnTo>
                      <a:pt x="1441" y="1030"/>
                    </a:lnTo>
                    <a:lnTo>
                      <a:pt x="1425" y="1028"/>
                    </a:lnTo>
                    <a:lnTo>
                      <a:pt x="1411" y="1025"/>
                    </a:lnTo>
                    <a:lnTo>
                      <a:pt x="1405" y="1023"/>
                    </a:lnTo>
                    <a:lnTo>
                      <a:pt x="1288" y="971"/>
                    </a:lnTo>
                    <a:lnTo>
                      <a:pt x="1198" y="921"/>
                    </a:lnTo>
                    <a:lnTo>
                      <a:pt x="1126" y="870"/>
                    </a:lnTo>
                    <a:lnTo>
                      <a:pt x="1066" y="815"/>
                    </a:lnTo>
                    <a:lnTo>
                      <a:pt x="1008" y="753"/>
                    </a:lnTo>
                    <a:lnTo>
                      <a:pt x="948" y="685"/>
                    </a:lnTo>
                    <a:lnTo>
                      <a:pt x="875" y="604"/>
                    </a:lnTo>
                    <a:lnTo>
                      <a:pt x="786" y="513"/>
                    </a:lnTo>
                    <a:lnTo>
                      <a:pt x="736" y="505"/>
                    </a:lnTo>
                    <a:lnTo>
                      <a:pt x="684" y="510"/>
                    </a:lnTo>
                    <a:lnTo>
                      <a:pt x="625" y="525"/>
                    </a:lnTo>
                    <a:lnTo>
                      <a:pt x="566" y="552"/>
                    </a:lnTo>
                    <a:lnTo>
                      <a:pt x="504" y="586"/>
                    </a:lnTo>
                    <a:lnTo>
                      <a:pt x="443" y="629"/>
                    </a:lnTo>
                    <a:lnTo>
                      <a:pt x="381" y="680"/>
                    </a:lnTo>
                    <a:lnTo>
                      <a:pt x="322" y="738"/>
                    </a:lnTo>
                    <a:lnTo>
                      <a:pt x="290" y="779"/>
                    </a:lnTo>
                    <a:lnTo>
                      <a:pt x="257" y="809"/>
                    </a:lnTo>
                    <a:lnTo>
                      <a:pt x="225" y="831"/>
                    </a:lnTo>
                    <a:lnTo>
                      <a:pt x="193" y="851"/>
                    </a:lnTo>
                    <a:lnTo>
                      <a:pt x="159" y="870"/>
                    </a:lnTo>
                    <a:lnTo>
                      <a:pt x="127" y="893"/>
                    </a:lnTo>
                    <a:lnTo>
                      <a:pt x="94" y="923"/>
                    </a:lnTo>
                    <a:lnTo>
                      <a:pt x="64" y="964"/>
                    </a:lnTo>
                    <a:lnTo>
                      <a:pt x="54" y="961"/>
                    </a:lnTo>
                    <a:lnTo>
                      <a:pt x="46" y="958"/>
                    </a:lnTo>
                    <a:lnTo>
                      <a:pt x="39" y="950"/>
                    </a:lnTo>
                    <a:lnTo>
                      <a:pt x="31" y="944"/>
                    </a:lnTo>
                    <a:lnTo>
                      <a:pt x="23" y="935"/>
                    </a:lnTo>
                    <a:lnTo>
                      <a:pt x="15" y="929"/>
                    </a:lnTo>
                    <a:lnTo>
                      <a:pt x="8" y="925"/>
                    </a:lnTo>
                    <a:lnTo>
                      <a:pt x="0" y="925"/>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6" name="Freeform 645">
                <a:extLst>
                  <a:ext uri="{FF2B5EF4-FFF2-40B4-BE49-F238E27FC236}">
                    <a16:creationId xmlns:a16="http://schemas.microsoft.com/office/drawing/2014/main" id="{B327A46C-4F98-064F-B0F0-ADAD04CCB25F}"/>
                  </a:ext>
                </a:extLst>
              </p:cNvPr>
              <p:cNvSpPr>
                <a:spLocks/>
              </p:cNvSpPr>
              <p:nvPr/>
            </p:nvSpPr>
            <p:spPr bwMode="auto">
              <a:xfrm>
                <a:off x="4473" y="2960"/>
                <a:ext cx="208" cy="212"/>
              </a:xfrm>
              <a:custGeom>
                <a:avLst/>
                <a:gdLst>
                  <a:gd name="T0" fmla="*/ 0 w 417"/>
                  <a:gd name="T1" fmla="*/ 178 h 425"/>
                  <a:gd name="T2" fmla="*/ 10 w 417"/>
                  <a:gd name="T3" fmla="*/ 162 h 425"/>
                  <a:gd name="T4" fmla="*/ 26 w 417"/>
                  <a:gd name="T5" fmla="*/ 143 h 425"/>
                  <a:gd name="T6" fmla="*/ 43 w 417"/>
                  <a:gd name="T7" fmla="*/ 119 h 425"/>
                  <a:gd name="T8" fmla="*/ 62 w 417"/>
                  <a:gd name="T9" fmla="*/ 96 h 425"/>
                  <a:gd name="T10" fmla="*/ 80 w 417"/>
                  <a:gd name="T11" fmla="*/ 71 h 425"/>
                  <a:gd name="T12" fmla="*/ 98 w 417"/>
                  <a:gd name="T13" fmla="*/ 49 h 425"/>
                  <a:gd name="T14" fmla="*/ 113 w 417"/>
                  <a:gd name="T15" fmla="*/ 29 h 425"/>
                  <a:gd name="T16" fmla="*/ 125 w 417"/>
                  <a:gd name="T17" fmla="*/ 13 h 425"/>
                  <a:gd name="T18" fmla="*/ 148 w 417"/>
                  <a:gd name="T19" fmla="*/ 3 h 425"/>
                  <a:gd name="T20" fmla="*/ 171 w 417"/>
                  <a:gd name="T21" fmla="*/ 0 h 425"/>
                  <a:gd name="T22" fmla="*/ 191 w 417"/>
                  <a:gd name="T23" fmla="*/ 2 h 425"/>
                  <a:gd name="T24" fmla="*/ 205 w 417"/>
                  <a:gd name="T25" fmla="*/ 10 h 425"/>
                  <a:gd name="T26" fmla="*/ 208 w 417"/>
                  <a:gd name="T27" fmla="*/ 24 h 425"/>
                  <a:gd name="T28" fmla="*/ 200 w 417"/>
                  <a:gd name="T29" fmla="*/ 44 h 425"/>
                  <a:gd name="T30" fmla="*/ 177 w 417"/>
                  <a:gd name="T31" fmla="*/ 69 h 425"/>
                  <a:gd name="T32" fmla="*/ 136 w 417"/>
                  <a:gd name="T33" fmla="*/ 100 h 425"/>
                  <a:gd name="T34" fmla="*/ 120 w 417"/>
                  <a:gd name="T35" fmla="*/ 114 h 425"/>
                  <a:gd name="T36" fmla="*/ 104 w 417"/>
                  <a:gd name="T37" fmla="*/ 128 h 425"/>
                  <a:gd name="T38" fmla="*/ 88 w 417"/>
                  <a:gd name="T39" fmla="*/ 141 h 425"/>
                  <a:gd name="T40" fmla="*/ 72 w 417"/>
                  <a:gd name="T41" fmla="*/ 156 h 425"/>
                  <a:gd name="T42" fmla="*/ 56 w 417"/>
                  <a:gd name="T43" fmla="*/ 169 h 425"/>
                  <a:gd name="T44" fmla="*/ 40 w 417"/>
                  <a:gd name="T45" fmla="*/ 184 h 425"/>
                  <a:gd name="T46" fmla="*/ 24 w 417"/>
                  <a:gd name="T47" fmla="*/ 198 h 425"/>
                  <a:gd name="T48" fmla="*/ 9 w 417"/>
                  <a:gd name="T49" fmla="*/ 212 h 425"/>
                  <a:gd name="T50" fmla="*/ 7 w 417"/>
                  <a:gd name="T51" fmla="*/ 208 h 425"/>
                  <a:gd name="T52" fmla="*/ 6 w 417"/>
                  <a:gd name="T53" fmla="*/ 203 h 425"/>
                  <a:gd name="T54" fmla="*/ 4 w 417"/>
                  <a:gd name="T55" fmla="*/ 199 h 425"/>
                  <a:gd name="T56" fmla="*/ 4 w 417"/>
                  <a:gd name="T57" fmla="*/ 195 h 425"/>
                  <a:gd name="T58" fmla="*/ 2 w 417"/>
                  <a:gd name="T59" fmla="*/ 191 h 425"/>
                  <a:gd name="T60" fmla="*/ 2 w 417"/>
                  <a:gd name="T61" fmla="*/ 186 h 425"/>
                  <a:gd name="T62" fmla="*/ 0 w 417"/>
                  <a:gd name="T63" fmla="*/ 182 h 425"/>
                  <a:gd name="T64" fmla="*/ 0 w 417"/>
                  <a:gd name="T65" fmla="*/ 178 h 4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17"/>
                  <a:gd name="T100" fmla="*/ 0 h 425"/>
                  <a:gd name="T101" fmla="*/ 417 w 417"/>
                  <a:gd name="T102" fmla="*/ 425 h 4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17" h="425">
                    <a:moveTo>
                      <a:pt x="0" y="357"/>
                    </a:moveTo>
                    <a:lnTo>
                      <a:pt x="21" y="324"/>
                    </a:lnTo>
                    <a:lnTo>
                      <a:pt x="52" y="286"/>
                    </a:lnTo>
                    <a:lnTo>
                      <a:pt x="87" y="239"/>
                    </a:lnTo>
                    <a:lnTo>
                      <a:pt x="124" y="192"/>
                    </a:lnTo>
                    <a:lnTo>
                      <a:pt x="161" y="143"/>
                    </a:lnTo>
                    <a:lnTo>
                      <a:pt x="197" y="98"/>
                    </a:lnTo>
                    <a:lnTo>
                      <a:pt x="226" y="58"/>
                    </a:lnTo>
                    <a:lnTo>
                      <a:pt x="250" y="27"/>
                    </a:lnTo>
                    <a:lnTo>
                      <a:pt x="296" y="7"/>
                    </a:lnTo>
                    <a:lnTo>
                      <a:pt x="343" y="0"/>
                    </a:lnTo>
                    <a:lnTo>
                      <a:pt x="383" y="5"/>
                    </a:lnTo>
                    <a:lnTo>
                      <a:pt x="410" y="21"/>
                    </a:lnTo>
                    <a:lnTo>
                      <a:pt x="417" y="49"/>
                    </a:lnTo>
                    <a:lnTo>
                      <a:pt x="401" y="88"/>
                    </a:lnTo>
                    <a:lnTo>
                      <a:pt x="354" y="138"/>
                    </a:lnTo>
                    <a:lnTo>
                      <a:pt x="272" y="200"/>
                    </a:lnTo>
                    <a:lnTo>
                      <a:pt x="240" y="228"/>
                    </a:lnTo>
                    <a:lnTo>
                      <a:pt x="208" y="256"/>
                    </a:lnTo>
                    <a:lnTo>
                      <a:pt x="176" y="283"/>
                    </a:lnTo>
                    <a:lnTo>
                      <a:pt x="144" y="312"/>
                    </a:lnTo>
                    <a:lnTo>
                      <a:pt x="112" y="339"/>
                    </a:lnTo>
                    <a:lnTo>
                      <a:pt x="80" y="368"/>
                    </a:lnTo>
                    <a:lnTo>
                      <a:pt x="48" y="396"/>
                    </a:lnTo>
                    <a:lnTo>
                      <a:pt x="18" y="425"/>
                    </a:lnTo>
                    <a:lnTo>
                      <a:pt x="14" y="416"/>
                    </a:lnTo>
                    <a:lnTo>
                      <a:pt x="13" y="407"/>
                    </a:lnTo>
                    <a:lnTo>
                      <a:pt x="9" y="398"/>
                    </a:lnTo>
                    <a:lnTo>
                      <a:pt x="8" y="391"/>
                    </a:lnTo>
                    <a:lnTo>
                      <a:pt x="5" y="382"/>
                    </a:lnTo>
                    <a:lnTo>
                      <a:pt x="4" y="373"/>
                    </a:lnTo>
                    <a:lnTo>
                      <a:pt x="1" y="365"/>
                    </a:lnTo>
                    <a:lnTo>
                      <a:pt x="0" y="357"/>
                    </a:lnTo>
                    <a:close/>
                  </a:path>
                </a:pathLst>
              </a:custGeom>
              <a:solidFill>
                <a:srgbClr val="FFCC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7" name="Freeform 646">
                <a:extLst>
                  <a:ext uri="{FF2B5EF4-FFF2-40B4-BE49-F238E27FC236}">
                    <a16:creationId xmlns:a16="http://schemas.microsoft.com/office/drawing/2014/main" id="{A5366371-C8B0-5747-9426-1514B949744B}"/>
                  </a:ext>
                </a:extLst>
              </p:cNvPr>
              <p:cNvSpPr>
                <a:spLocks/>
              </p:cNvSpPr>
              <p:nvPr/>
            </p:nvSpPr>
            <p:spPr bwMode="auto">
              <a:xfrm>
                <a:off x="4474" y="2978"/>
                <a:ext cx="192" cy="192"/>
              </a:xfrm>
              <a:custGeom>
                <a:avLst/>
                <a:gdLst>
                  <a:gd name="T0" fmla="*/ 0 w 385"/>
                  <a:gd name="T1" fmla="*/ 161 h 385"/>
                  <a:gd name="T2" fmla="*/ 10 w 385"/>
                  <a:gd name="T3" fmla="*/ 146 h 385"/>
                  <a:gd name="T4" fmla="*/ 24 w 385"/>
                  <a:gd name="T5" fmla="*/ 129 h 385"/>
                  <a:gd name="T6" fmla="*/ 40 w 385"/>
                  <a:gd name="T7" fmla="*/ 108 h 385"/>
                  <a:gd name="T8" fmla="*/ 58 w 385"/>
                  <a:gd name="T9" fmla="*/ 87 h 385"/>
                  <a:gd name="T10" fmla="*/ 74 w 385"/>
                  <a:gd name="T11" fmla="*/ 65 h 385"/>
                  <a:gd name="T12" fmla="*/ 90 w 385"/>
                  <a:gd name="T13" fmla="*/ 45 h 385"/>
                  <a:gd name="T14" fmla="*/ 104 w 385"/>
                  <a:gd name="T15" fmla="*/ 27 h 385"/>
                  <a:gd name="T16" fmla="*/ 115 w 385"/>
                  <a:gd name="T17" fmla="*/ 14 h 385"/>
                  <a:gd name="T18" fmla="*/ 137 w 385"/>
                  <a:gd name="T19" fmla="*/ 4 h 385"/>
                  <a:gd name="T20" fmla="*/ 159 w 385"/>
                  <a:gd name="T21" fmla="*/ 0 h 385"/>
                  <a:gd name="T22" fmla="*/ 177 w 385"/>
                  <a:gd name="T23" fmla="*/ 1 h 385"/>
                  <a:gd name="T24" fmla="*/ 189 w 385"/>
                  <a:gd name="T25" fmla="*/ 8 h 385"/>
                  <a:gd name="T26" fmla="*/ 192 w 385"/>
                  <a:gd name="T27" fmla="*/ 19 h 385"/>
                  <a:gd name="T28" fmla="*/ 185 w 385"/>
                  <a:gd name="T29" fmla="*/ 37 h 385"/>
                  <a:gd name="T30" fmla="*/ 164 w 385"/>
                  <a:gd name="T31" fmla="*/ 59 h 385"/>
                  <a:gd name="T32" fmla="*/ 128 w 385"/>
                  <a:gd name="T33" fmla="*/ 88 h 385"/>
                  <a:gd name="T34" fmla="*/ 113 w 385"/>
                  <a:gd name="T35" fmla="*/ 101 h 385"/>
                  <a:gd name="T36" fmla="*/ 98 w 385"/>
                  <a:gd name="T37" fmla="*/ 114 h 385"/>
                  <a:gd name="T38" fmla="*/ 83 w 385"/>
                  <a:gd name="T39" fmla="*/ 127 h 385"/>
                  <a:gd name="T40" fmla="*/ 68 w 385"/>
                  <a:gd name="T41" fmla="*/ 140 h 385"/>
                  <a:gd name="T42" fmla="*/ 53 w 385"/>
                  <a:gd name="T43" fmla="*/ 153 h 385"/>
                  <a:gd name="T44" fmla="*/ 38 w 385"/>
                  <a:gd name="T45" fmla="*/ 166 h 385"/>
                  <a:gd name="T46" fmla="*/ 23 w 385"/>
                  <a:gd name="T47" fmla="*/ 179 h 385"/>
                  <a:gd name="T48" fmla="*/ 9 w 385"/>
                  <a:gd name="T49" fmla="*/ 192 h 385"/>
                  <a:gd name="T50" fmla="*/ 7 w 385"/>
                  <a:gd name="T51" fmla="*/ 188 h 385"/>
                  <a:gd name="T52" fmla="*/ 6 w 385"/>
                  <a:gd name="T53" fmla="*/ 184 h 385"/>
                  <a:gd name="T54" fmla="*/ 5 w 385"/>
                  <a:gd name="T55" fmla="*/ 180 h 385"/>
                  <a:gd name="T56" fmla="*/ 4 w 385"/>
                  <a:gd name="T57" fmla="*/ 177 h 385"/>
                  <a:gd name="T58" fmla="*/ 3 w 385"/>
                  <a:gd name="T59" fmla="*/ 172 h 385"/>
                  <a:gd name="T60" fmla="*/ 2 w 385"/>
                  <a:gd name="T61" fmla="*/ 168 h 385"/>
                  <a:gd name="T62" fmla="*/ 1 w 385"/>
                  <a:gd name="T63" fmla="*/ 165 h 385"/>
                  <a:gd name="T64" fmla="*/ 0 w 385"/>
                  <a:gd name="T65" fmla="*/ 161 h 3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85"/>
                  <a:gd name="T100" fmla="*/ 0 h 385"/>
                  <a:gd name="T101" fmla="*/ 385 w 385"/>
                  <a:gd name="T102" fmla="*/ 385 h 3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85" h="385">
                    <a:moveTo>
                      <a:pt x="0" y="322"/>
                    </a:moveTo>
                    <a:lnTo>
                      <a:pt x="20" y="293"/>
                    </a:lnTo>
                    <a:lnTo>
                      <a:pt x="48" y="258"/>
                    </a:lnTo>
                    <a:lnTo>
                      <a:pt x="81" y="217"/>
                    </a:lnTo>
                    <a:lnTo>
                      <a:pt x="116" y="174"/>
                    </a:lnTo>
                    <a:lnTo>
                      <a:pt x="148" y="131"/>
                    </a:lnTo>
                    <a:lnTo>
                      <a:pt x="181" y="90"/>
                    </a:lnTo>
                    <a:lnTo>
                      <a:pt x="209" y="55"/>
                    </a:lnTo>
                    <a:lnTo>
                      <a:pt x="231" y="28"/>
                    </a:lnTo>
                    <a:lnTo>
                      <a:pt x="275" y="8"/>
                    </a:lnTo>
                    <a:lnTo>
                      <a:pt x="318" y="0"/>
                    </a:lnTo>
                    <a:lnTo>
                      <a:pt x="354" y="3"/>
                    </a:lnTo>
                    <a:lnTo>
                      <a:pt x="379" y="17"/>
                    </a:lnTo>
                    <a:lnTo>
                      <a:pt x="385" y="39"/>
                    </a:lnTo>
                    <a:lnTo>
                      <a:pt x="370" y="74"/>
                    </a:lnTo>
                    <a:lnTo>
                      <a:pt x="329" y="119"/>
                    </a:lnTo>
                    <a:lnTo>
                      <a:pt x="256" y="177"/>
                    </a:lnTo>
                    <a:lnTo>
                      <a:pt x="226" y="202"/>
                    </a:lnTo>
                    <a:lnTo>
                      <a:pt x="196" y="228"/>
                    </a:lnTo>
                    <a:lnTo>
                      <a:pt x="166" y="255"/>
                    </a:lnTo>
                    <a:lnTo>
                      <a:pt x="136" y="281"/>
                    </a:lnTo>
                    <a:lnTo>
                      <a:pt x="106" y="306"/>
                    </a:lnTo>
                    <a:lnTo>
                      <a:pt x="77" y="332"/>
                    </a:lnTo>
                    <a:lnTo>
                      <a:pt x="47" y="359"/>
                    </a:lnTo>
                    <a:lnTo>
                      <a:pt x="18" y="385"/>
                    </a:lnTo>
                    <a:lnTo>
                      <a:pt x="15" y="376"/>
                    </a:lnTo>
                    <a:lnTo>
                      <a:pt x="13" y="369"/>
                    </a:lnTo>
                    <a:lnTo>
                      <a:pt x="10" y="361"/>
                    </a:lnTo>
                    <a:lnTo>
                      <a:pt x="9" y="354"/>
                    </a:lnTo>
                    <a:lnTo>
                      <a:pt x="7" y="345"/>
                    </a:lnTo>
                    <a:lnTo>
                      <a:pt x="4" y="337"/>
                    </a:lnTo>
                    <a:lnTo>
                      <a:pt x="2" y="330"/>
                    </a:lnTo>
                    <a:lnTo>
                      <a:pt x="0" y="322"/>
                    </a:lnTo>
                    <a:close/>
                  </a:path>
                </a:pathLst>
              </a:custGeom>
              <a:solidFill>
                <a:srgbClr val="FCC7B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8" name="Freeform 647">
                <a:extLst>
                  <a:ext uri="{FF2B5EF4-FFF2-40B4-BE49-F238E27FC236}">
                    <a16:creationId xmlns:a16="http://schemas.microsoft.com/office/drawing/2014/main" id="{A3FBD7FF-314B-9246-9A38-8A656B77CD02}"/>
                  </a:ext>
                </a:extLst>
              </p:cNvPr>
              <p:cNvSpPr>
                <a:spLocks/>
              </p:cNvSpPr>
              <p:nvPr/>
            </p:nvSpPr>
            <p:spPr bwMode="auto">
              <a:xfrm>
                <a:off x="4476" y="2996"/>
                <a:ext cx="175" cy="174"/>
              </a:xfrm>
              <a:custGeom>
                <a:avLst/>
                <a:gdLst>
                  <a:gd name="T0" fmla="*/ 0 w 350"/>
                  <a:gd name="T1" fmla="*/ 144 h 347"/>
                  <a:gd name="T2" fmla="*/ 10 w 350"/>
                  <a:gd name="T3" fmla="*/ 131 h 347"/>
                  <a:gd name="T4" fmla="*/ 22 w 350"/>
                  <a:gd name="T5" fmla="*/ 115 h 347"/>
                  <a:gd name="T6" fmla="*/ 37 w 350"/>
                  <a:gd name="T7" fmla="*/ 97 h 347"/>
                  <a:gd name="T8" fmla="*/ 52 w 350"/>
                  <a:gd name="T9" fmla="*/ 79 h 347"/>
                  <a:gd name="T10" fmla="*/ 67 w 350"/>
                  <a:gd name="T11" fmla="*/ 60 h 347"/>
                  <a:gd name="T12" fmla="*/ 82 w 350"/>
                  <a:gd name="T13" fmla="*/ 43 h 347"/>
                  <a:gd name="T14" fmla="*/ 94 w 350"/>
                  <a:gd name="T15" fmla="*/ 26 h 347"/>
                  <a:gd name="T16" fmla="*/ 104 w 350"/>
                  <a:gd name="T17" fmla="*/ 14 h 347"/>
                  <a:gd name="T18" fmla="*/ 124 w 350"/>
                  <a:gd name="T19" fmla="*/ 4 h 347"/>
                  <a:gd name="T20" fmla="*/ 145 w 350"/>
                  <a:gd name="T21" fmla="*/ 0 h 347"/>
                  <a:gd name="T22" fmla="*/ 161 w 350"/>
                  <a:gd name="T23" fmla="*/ 0 h 347"/>
                  <a:gd name="T24" fmla="*/ 172 w 350"/>
                  <a:gd name="T25" fmla="*/ 6 h 347"/>
                  <a:gd name="T26" fmla="*/ 175 w 350"/>
                  <a:gd name="T27" fmla="*/ 15 h 347"/>
                  <a:gd name="T28" fmla="*/ 170 w 350"/>
                  <a:gd name="T29" fmla="*/ 30 h 347"/>
                  <a:gd name="T30" fmla="*/ 151 w 350"/>
                  <a:gd name="T31" fmla="*/ 50 h 347"/>
                  <a:gd name="T32" fmla="*/ 118 w 350"/>
                  <a:gd name="T33" fmla="*/ 75 h 347"/>
                  <a:gd name="T34" fmla="*/ 103 w 350"/>
                  <a:gd name="T35" fmla="*/ 86 h 347"/>
                  <a:gd name="T36" fmla="*/ 90 w 350"/>
                  <a:gd name="T37" fmla="*/ 99 h 347"/>
                  <a:gd name="T38" fmla="*/ 76 w 350"/>
                  <a:gd name="T39" fmla="*/ 111 h 347"/>
                  <a:gd name="T40" fmla="*/ 63 w 350"/>
                  <a:gd name="T41" fmla="*/ 123 h 347"/>
                  <a:gd name="T42" fmla="*/ 48 w 350"/>
                  <a:gd name="T43" fmla="*/ 135 h 347"/>
                  <a:gd name="T44" fmla="*/ 35 w 350"/>
                  <a:gd name="T45" fmla="*/ 149 h 347"/>
                  <a:gd name="T46" fmla="*/ 21 w 350"/>
                  <a:gd name="T47" fmla="*/ 160 h 347"/>
                  <a:gd name="T48" fmla="*/ 7 w 350"/>
                  <a:gd name="T49" fmla="*/ 174 h 347"/>
                  <a:gd name="T50" fmla="*/ 6 w 350"/>
                  <a:gd name="T51" fmla="*/ 170 h 347"/>
                  <a:gd name="T52" fmla="*/ 5 w 350"/>
                  <a:gd name="T53" fmla="*/ 166 h 347"/>
                  <a:gd name="T54" fmla="*/ 5 w 350"/>
                  <a:gd name="T55" fmla="*/ 162 h 347"/>
                  <a:gd name="T56" fmla="*/ 4 w 350"/>
                  <a:gd name="T57" fmla="*/ 159 h 347"/>
                  <a:gd name="T58" fmla="*/ 3 w 350"/>
                  <a:gd name="T59" fmla="*/ 155 h 347"/>
                  <a:gd name="T60" fmla="*/ 2 w 350"/>
                  <a:gd name="T61" fmla="*/ 151 h 347"/>
                  <a:gd name="T62" fmla="*/ 1 w 350"/>
                  <a:gd name="T63" fmla="*/ 147 h 347"/>
                  <a:gd name="T64" fmla="*/ 0 w 350"/>
                  <a:gd name="T65" fmla="*/ 144 h 34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0"/>
                  <a:gd name="T100" fmla="*/ 0 h 347"/>
                  <a:gd name="T101" fmla="*/ 350 w 350"/>
                  <a:gd name="T102" fmla="*/ 347 h 34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0" h="347">
                    <a:moveTo>
                      <a:pt x="0" y="288"/>
                    </a:moveTo>
                    <a:lnTo>
                      <a:pt x="19" y="261"/>
                    </a:lnTo>
                    <a:lnTo>
                      <a:pt x="44" y="230"/>
                    </a:lnTo>
                    <a:lnTo>
                      <a:pt x="73" y="194"/>
                    </a:lnTo>
                    <a:lnTo>
                      <a:pt x="104" y="157"/>
                    </a:lnTo>
                    <a:lnTo>
                      <a:pt x="134" y="120"/>
                    </a:lnTo>
                    <a:lnTo>
                      <a:pt x="163" y="85"/>
                    </a:lnTo>
                    <a:lnTo>
                      <a:pt x="188" y="52"/>
                    </a:lnTo>
                    <a:lnTo>
                      <a:pt x="208" y="27"/>
                    </a:lnTo>
                    <a:lnTo>
                      <a:pt x="248" y="8"/>
                    </a:lnTo>
                    <a:lnTo>
                      <a:pt x="289" y="0"/>
                    </a:lnTo>
                    <a:lnTo>
                      <a:pt x="321" y="0"/>
                    </a:lnTo>
                    <a:lnTo>
                      <a:pt x="344" y="11"/>
                    </a:lnTo>
                    <a:lnTo>
                      <a:pt x="350" y="30"/>
                    </a:lnTo>
                    <a:lnTo>
                      <a:pt x="339" y="60"/>
                    </a:lnTo>
                    <a:lnTo>
                      <a:pt x="301" y="99"/>
                    </a:lnTo>
                    <a:lnTo>
                      <a:pt x="236" y="150"/>
                    </a:lnTo>
                    <a:lnTo>
                      <a:pt x="207" y="172"/>
                    </a:lnTo>
                    <a:lnTo>
                      <a:pt x="180" y="198"/>
                    </a:lnTo>
                    <a:lnTo>
                      <a:pt x="152" y="221"/>
                    </a:lnTo>
                    <a:lnTo>
                      <a:pt x="126" y="246"/>
                    </a:lnTo>
                    <a:lnTo>
                      <a:pt x="97" y="270"/>
                    </a:lnTo>
                    <a:lnTo>
                      <a:pt x="69" y="297"/>
                    </a:lnTo>
                    <a:lnTo>
                      <a:pt x="42" y="320"/>
                    </a:lnTo>
                    <a:lnTo>
                      <a:pt x="15" y="347"/>
                    </a:lnTo>
                    <a:lnTo>
                      <a:pt x="13" y="339"/>
                    </a:lnTo>
                    <a:lnTo>
                      <a:pt x="11" y="332"/>
                    </a:lnTo>
                    <a:lnTo>
                      <a:pt x="9" y="324"/>
                    </a:lnTo>
                    <a:lnTo>
                      <a:pt x="8" y="317"/>
                    </a:lnTo>
                    <a:lnTo>
                      <a:pt x="5" y="309"/>
                    </a:lnTo>
                    <a:lnTo>
                      <a:pt x="4" y="302"/>
                    </a:lnTo>
                    <a:lnTo>
                      <a:pt x="1" y="294"/>
                    </a:lnTo>
                    <a:lnTo>
                      <a:pt x="0" y="288"/>
                    </a:lnTo>
                    <a:close/>
                  </a:path>
                </a:pathLst>
              </a:custGeom>
              <a:solidFill>
                <a:srgbClr val="FAC4B8"/>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29" name="Freeform 648">
                <a:extLst>
                  <a:ext uri="{FF2B5EF4-FFF2-40B4-BE49-F238E27FC236}">
                    <a16:creationId xmlns:a16="http://schemas.microsoft.com/office/drawing/2014/main" id="{D6365ABB-A806-7747-92D5-038F516EFA36}"/>
                  </a:ext>
                </a:extLst>
              </p:cNvPr>
              <p:cNvSpPr>
                <a:spLocks/>
              </p:cNvSpPr>
              <p:nvPr/>
            </p:nvSpPr>
            <p:spPr bwMode="auto">
              <a:xfrm>
                <a:off x="4477" y="3014"/>
                <a:ext cx="158" cy="155"/>
              </a:xfrm>
              <a:custGeom>
                <a:avLst/>
                <a:gdLst>
                  <a:gd name="T0" fmla="*/ 0 w 315"/>
                  <a:gd name="T1" fmla="*/ 127 h 309"/>
                  <a:gd name="T2" fmla="*/ 8 w 315"/>
                  <a:gd name="T3" fmla="*/ 115 h 309"/>
                  <a:gd name="T4" fmla="*/ 20 w 315"/>
                  <a:gd name="T5" fmla="*/ 101 h 309"/>
                  <a:gd name="T6" fmla="*/ 32 w 315"/>
                  <a:gd name="T7" fmla="*/ 86 h 309"/>
                  <a:gd name="T8" fmla="*/ 47 w 315"/>
                  <a:gd name="T9" fmla="*/ 70 h 309"/>
                  <a:gd name="T10" fmla="*/ 60 w 315"/>
                  <a:gd name="T11" fmla="*/ 54 h 309"/>
                  <a:gd name="T12" fmla="*/ 72 w 315"/>
                  <a:gd name="T13" fmla="*/ 39 h 309"/>
                  <a:gd name="T14" fmla="*/ 84 w 315"/>
                  <a:gd name="T15" fmla="*/ 25 h 309"/>
                  <a:gd name="T16" fmla="*/ 93 w 315"/>
                  <a:gd name="T17" fmla="*/ 14 h 309"/>
                  <a:gd name="T18" fmla="*/ 111 w 315"/>
                  <a:gd name="T19" fmla="*/ 5 h 309"/>
                  <a:gd name="T20" fmla="*/ 129 w 315"/>
                  <a:gd name="T21" fmla="*/ 1 h 309"/>
                  <a:gd name="T22" fmla="*/ 144 w 315"/>
                  <a:gd name="T23" fmla="*/ 0 h 309"/>
                  <a:gd name="T24" fmla="*/ 154 w 315"/>
                  <a:gd name="T25" fmla="*/ 4 h 309"/>
                  <a:gd name="T26" fmla="*/ 158 w 315"/>
                  <a:gd name="T27" fmla="*/ 11 h 309"/>
                  <a:gd name="T28" fmla="*/ 153 w 315"/>
                  <a:gd name="T29" fmla="*/ 24 h 309"/>
                  <a:gd name="T30" fmla="*/ 136 w 315"/>
                  <a:gd name="T31" fmla="*/ 40 h 309"/>
                  <a:gd name="T32" fmla="*/ 109 w 315"/>
                  <a:gd name="T33" fmla="*/ 63 h 309"/>
                  <a:gd name="T34" fmla="*/ 96 w 315"/>
                  <a:gd name="T35" fmla="*/ 74 h 309"/>
                  <a:gd name="T36" fmla="*/ 82 w 315"/>
                  <a:gd name="T37" fmla="*/ 85 h 309"/>
                  <a:gd name="T38" fmla="*/ 70 w 315"/>
                  <a:gd name="T39" fmla="*/ 97 h 309"/>
                  <a:gd name="T40" fmla="*/ 58 w 315"/>
                  <a:gd name="T41" fmla="*/ 108 h 309"/>
                  <a:gd name="T42" fmla="*/ 45 w 315"/>
                  <a:gd name="T43" fmla="*/ 120 h 309"/>
                  <a:gd name="T44" fmla="*/ 32 w 315"/>
                  <a:gd name="T45" fmla="*/ 131 h 309"/>
                  <a:gd name="T46" fmla="*/ 20 w 315"/>
                  <a:gd name="T47" fmla="*/ 143 h 309"/>
                  <a:gd name="T48" fmla="*/ 7 w 315"/>
                  <a:gd name="T49" fmla="*/ 155 h 309"/>
                  <a:gd name="T50" fmla="*/ 6 w 315"/>
                  <a:gd name="T51" fmla="*/ 151 h 309"/>
                  <a:gd name="T52" fmla="*/ 5 w 315"/>
                  <a:gd name="T53" fmla="*/ 147 h 309"/>
                  <a:gd name="T54" fmla="*/ 3 w 315"/>
                  <a:gd name="T55" fmla="*/ 144 h 309"/>
                  <a:gd name="T56" fmla="*/ 3 w 315"/>
                  <a:gd name="T57" fmla="*/ 140 h 309"/>
                  <a:gd name="T58" fmla="*/ 1 w 315"/>
                  <a:gd name="T59" fmla="*/ 134 h 309"/>
                  <a:gd name="T60" fmla="*/ 0 w 315"/>
                  <a:gd name="T61" fmla="*/ 127 h 3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15"/>
                  <a:gd name="T94" fmla="*/ 0 h 309"/>
                  <a:gd name="T95" fmla="*/ 315 w 315"/>
                  <a:gd name="T96" fmla="*/ 309 h 3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15" h="309">
                    <a:moveTo>
                      <a:pt x="0" y="254"/>
                    </a:moveTo>
                    <a:lnTo>
                      <a:pt x="16" y="229"/>
                    </a:lnTo>
                    <a:lnTo>
                      <a:pt x="39" y="201"/>
                    </a:lnTo>
                    <a:lnTo>
                      <a:pt x="64" y="171"/>
                    </a:lnTo>
                    <a:lnTo>
                      <a:pt x="93" y="140"/>
                    </a:lnTo>
                    <a:lnTo>
                      <a:pt x="119" y="107"/>
                    </a:lnTo>
                    <a:lnTo>
                      <a:pt x="144" y="77"/>
                    </a:lnTo>
                    <a:lnTo>
                      <a:pt x="167" y="50"/>
                    </a:lnTo>
                    <a:lnTo>
                      <a:pt x="186" y="27"/>
                    </a:lnTo>
                    <a:lnTo>
                      <a:pt x="222" y="10"/>
                    </a:lnTo>
                    <a:lnTo>
                      <a:pt x="258" y="1"/>
                    </a:lnTo>
                    <a:lnTo>
                      <a:pt x="287" y="0"/>
                    </a:lnTo>
                    <a:lnTo>
                      <a:pt x="308" y="7"/>
                    </a:lnTo>
                    <a:lnTo>
                      <a:pt x="315" y="22"/>
                    </a:lnTo>
                    <a:lnTo>
                      <a:pt x="305" y="47"/>
                    </a:lnTo>
                    <a:lnTo>
                      <a:pt x="272" y="80"/>
                    </a:lnTo>
                    <a:lnTo>
                      <a:pt x="217" y="125"/>
                    </a:lnTo>
                    <a:lnTo>
                      <a:pt x="191" y="148"/>
                    </a:lnTo>
                    <a:lnTo>
                      <a:pt x="164" y="170"/>
                    </a:lnTo>
                    <a:lnTo>
                      <a:pt x="139" y="193"/>
                    </a:lnTo>
                    <a:lnTo>
                      <a:pt x="115" y="216"/>
                    </a:lnTo>
                    <a:lnTo>
                      <a:pt x="89" y="239"/>
                    </a:lnTo>
                    <a:lnTo>
                      <a:pt x="64" y="262"/>
                    </a:lnTo>
                    <a:lnTo>
                      <a:pt x="39" y="285"/>
                    </a:lnTo>
                    <a:lnTo>
                      <a:pt x="14" y="309"/>
                    </a:lnTo>
                    <a:lnTo>
                      <a:pt x="11" y="302"/>
                    </a:lnTo>
                    <a:lnTo>
                      <a:pt x="9" y="294"/>
                    </a:lnTo>
                    <a:lnTo>
                      <a:pt x="6" y="287"/>
                    </a:lnTo>
                    <a:lnTo>
                      <a:pt x="5" y="280"/>
                    </a:lnTo>
                    <a:lnTo>
                      <a:pt x="1" y="267"/>
                    </a:lnTo>
                    <a:lnTo>
                      <a:pt x="0" y="254"/>
                    </a:lnTo>
                    <a:close/>
                  </a:path>
                </a:pathLst>
              </a:custGeom>
              <a:solidFill>
                <a:srgbClr val="F7C2B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0" name="Freeform 649">
                <a:extLst>
                  <a:ext uri="{FF2B5EF4-FFF2-40B4-BE49-F238E27FC236}">
                    <a16:creationId xmlns:a16="http://schemas.microsoft.com/office/drawing/2014/main" id="{A9BFD53A-F541-BC47-B7D3-7FB937CA3825}"/>
                  </a:ext>
                </a:extLst>
              </p:cNvPr>
              <p:cNvSpPr>
                <a:spLocks/>
              </p:cNvSpPr>
              <p:nvPr/>
            </p:nvSpPr>
            <p:spPr bwMode="auto">
              <a:xfrm>
                <a:off x="4478" y="3031"/>
                <a:ext cx="141" cy="136"/>
              </a:xfrm>
              <a:custGeom>
                <a:avLst/>
                <a:gdLst>
                  <a:gd name="T0" fmla="*/ 0 w 282"/>
                  <a:gd name="T1" fmla="*/ 112 h 272"/>
                  <a:gd name="T2" fmla="*/ 7 w 282"/>
                  <a:gd name="T3" fmla="*/ 100 h 272"/>
                  <a:gd name="T4" fmla="*/ 18 w 282"/>
                  <a:gd name="T5" fmla="*/ 88 h 272"/>
                  <a:gd name="T6" fmla="*/ 28 w 282"/>
                  <a:gd name="T7" fmla="*/ 75 h 272"/>
                  <a:gd name="T8" fmla="*/ 41 w 282"/>
                  <a:gd name="T9" fmla="*/ 63 h 272"/>
                  <a:gd name="T10" fmla="*/ 53 w 282"/>
                  <a:gd name="T11" fmla="*/ 49 h 272"/>
                  <a:gd name="T12" fmla="*/ 64 w 282"/>
                  <a:gd name="T13" fmla="*/ 37 h 272"/>
                  <a:gd name="T14" fmla="*/ 74 w 282"/>
                  <a:gd name="T15" fmla="*/ 25 h 272"/>
                  <a:gd name="T16" fmla="*/ 83 w 282"/>
                  <a:gd name="T17" fmla="*/ 15 h 272"/>
                  <a:gd name="T18" fmla="*/ 100 w 282"/>
                  <a:gd name="T19" fmla="*/ 7 h 272"/>
                  <a:gd name="T20" fmla="*/ 116 w 282"/>
                  <a:gd name="T21" fmla="*/ 2 h 272"/>
                  <a:gd name="T22" fmla="*/ 130 w 282"/>
                  <a:gd name="T23" fmla="*/ 0 h 272"/>
                  <a:gd name="T24" fmla="*/ 139 w 282"/>
                  <a:gd name="T25" fmla="*/ 2 h 272"/>
                  <a:gd name="T26" fmla="*/ 141 w 282"/>
                  <a:gd name="T27" fmla="*/ 9 h 272"/>
                  <a:gd name="T28" fmla="*/ 138 w 282"/>
                  <a:gd name="T29" fmla="*/ 18 h 272"/>
                  <a:gd name="T30" fmla="*/ 123 w 282"/>
                  <a:gd name="T31" fmla="*/ 31 h 272"/>
                  <a:gd name="T32" fmla="*/ 100 w 282"/>
                  <a:gd name="T33" fmla="*/ 51 h 272"/>
                  <a:gd name="T34" fmla="*/ 88 w 282"/>
                  <a:gd name="T35" fmla="*/ 61 h 272"/>
                  <a:gd name="T36" fmla="*/ 76 w 282"/>
                  <a:gd name="T37" fmla="*/ 71 h 272"/>
                  <a:gd name="T38" fmla="*/ 65 w 282"/>
                  <a:gd name="T39" fmla="*/ 82 h 272"/>
                  <a:gd name="T40" fmla="*/ 53 w 282"/>
                  <a:gd name="T41" fmla="*/ 93 h 272"/>
                  <a:gd name="T42" fmla="*/ 41 w 282"/>
                  <a:gd name="T43" fmla="*/ 104 h 272"/>
                  <a:gd name="T44" fmla="*/ 30 w 282"/>
                  <a:gd name="T45" fmla="*/ 115 h 272"/>
                  <a:gd name="T46" fmla="*/ 18 w 282"/>
                  <a:gd name="T47" fmla="*/ 125 h 272"/>
                  <a:gd name="T48" fmla="*/ 7 w 282"/>
                  <a:gd name="T49" fmla="*/ 136 h 272"/>
                  <a:gd name="T50" fmla="*/ 5 w 282"/>
                  <a:gd name="T51" fmla="*/ 130 h 272"/>
                  <a:gd name="T52" fmla="*/ 3 w 282"/>
                  <a:gd name="T53" fmla="*/ 123 h 272"/>
                  <a:gd name="T54" fmla="*/ 1 w 282"/>
                  <a:gd name="T55" fmla="*/ 117 h 272"/>
                  <a:gd name="T56" fmla="*/ 0 w 282"/>
                  <a:gd name="T57" fmla="*/ 112 h 27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82"/>
                  <a:gd name="T88" fmla="*/ 0 h 272"/>
                  <a:gd name="T89" fmla="*/ 282 w 282"/>
                  <a:gd name="T90" fmla="*/ 272 h 27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82" h="272">
                    <a:moveTo>
                      <a:pt x="0" y="224"/>
                    </a:moveTo>
                    <a:lnTo>
                      <a:pt x="15" y="201"/>
                    </a:lnTo>
                    <a:lnTo>
                      <a:pt x="35" y="177"/>
                    </a:lnTo>
                    <a:lnTo>
                      <a:pt x="57" y="151"/>
                    </a:lnTo>
                    <a:lnTo>
                      <a:pt x="82" y="126"/>
                    </a:lnTo>
                    <a:lnTo>
                      <a:pt x="106" y="99"/>
                    </a:lnTo>
                    <a:lnTo>
                      <a:pt x="128" y="74"/>
                    </a:lnTo>
                    <a:lnTo>
                      <a:pt x="148" y="51"/>
                    </a:lnTo>
                    <a:lnTo>
                      <a:pt x="166" y="31"/>
                    </a:lnTo>
                    <a:lnTo>
                      <a:pt x="200" y="14"/>
                    </a:lnTo>
                    <a:lnTo>
                      <a:pt x="232" y="4"/>
                    </a:lnTo>
                    <a:lnTo>
                      <a:pt x="259" y="0"/>
                    </a:lnTo>
                    <a:lnTo>
                      <a:pt x="277" y="5"/>
                    </a:lnTo>
                    <a:lnTo>
                      <a:pt x="282" y="17"/>
                    </a:lnTo>
                    <a:lnTo>
                      <a:pt x="275" y="36"/>
                    </a:lnTo>
                    <a:lnTo>
                      <a:pt x="247" y="63"/>
                    </a:lnTo>
                    <a:lnTo>
                      <a:pt x="201" y="102"/>
                    </a:lnTo>
                    <a:lnTo>
                      <a:pt x="176" y="122"/>
                    </a:lnTo>
                    <a:lnTo>
                      <a:pt x="153" y="143"/>
                    </a:lnTo>
                    <a:lnTo>
                      <a:pt x="129" y="165"/>
                    </a:lnTo>
                    <a:lnTo>
                      <a:pt x="107" y="187"/>
                    </a:lnTo>
                    <a:lnTo>
                      <a:pt x="83" y="209"/>
                    </a:lnTo>
                    <a:lnTo>
                      <a:pt x="60" y="230"/>
                    </a:lnTo>
                    <a:lnTo>
                      <a:pt x="37" y="251"/>
                    </a:lnTo>
                    <a:lnTo>
                      <a:pt x="14" y="272"/>
                    </a:lnTo>
                    <a:lnTo>
                      <a:pt x="10" y="260"/>
                    </a:lnTo>
                    <a:lnTo>
                      <a:pt x="6" y="247"/>
                    </a:lnTo>
                    <a:lnTo>
                      <a:pt x="3" y="235"/>
                    </a:lnTo>
                    <a:lnTo>
                      <a:pt x="0" y="224"/>
                    </a:lnTo>
                    <a:close/>
                  </a:path>
                </a:pathLst>
              </a:custGeom>
              <a:solidFill>
                <a:srgbClr val="F5BDB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1" name="Freeform 650">
                <a:extLst>
                  <a:ext uri="{FF2B5EF4-FFF2-40B4-BE49-F238E27FC236}">
                    <a16:creationId xmlns:a16="http://schemas.microsoft.com/office/drawing/2014/main" id="{730F0209-7A7D-3B4F-B62E-526E3A5B6DD1}"/>
                  </a:ext>
                </a:extLst>
              </p:cNvPr>
              <p:cNvSpPr>
                <a:spLocks/>
              </p:cNvSpPr>
              <p:nvPr/>
            </p:nvSpPr>
            <p:spPr bwMode="auto">
              <a:xfrm>
                <a:off x="4480" y="3047"/>
                <a:ext cx="124" cy="119"/>
              </a:xfrm>
              <a:custGeom>
                <a:avLst/>
                <a:gdLst>
                  <a:gd name="T0" fmla="*/ 0 w 248"/>
                  <a:gd name="T1" fmla="*/ 96 h 238"/>
                  <a:gd name="T2" fmla="*/ 7 w 248"/>
                  <a:gd name="T3" fmla="*/ 86 h 238"/>
                  <a:gd name="T4" fmla="*/ 15 w 248"/>
                  <a:gd name="T5" fmla="*/ 76 h 238"/>
                  <a:gd name="T6" fmla="*/ 25 w 248"/>
                  <a:gd name="T7" fmla="*/ 66 h 238"/>
                  <a:gd name="T8" fmla="*/ 35 w 248"/>
                  <a:gd name="T9" fmla="*/ 56 h 238"/>
                  <a:gd name="T10" fmla="*/ 45 w 248"/>
                  <a:gd name="T11" fmla="*/ 45 h 238"/>
                  <a:gd name="T12" fmla="*/ 55 w 248"/>
                  <a:gd name="T13" fmla="*/ 35 h 238"/>
                  <a:gd name="T14" fmla="*/ 64 w 248"/>
                  <a:gd name="T15" fmla="*/ 25 h 238"/>
                  <a:gd name="T16" fmla="*/ 72 w 248"/>
                  <a:gd name="T17" fmla="*/ 17 h 238"/>
                  <a:gd name="T18" fmla="*/ 87 w 248"/>
                  <a:gd name="T19" fmla="*/ 8 h 238"/>
                  <a:gd name="T20" fmla="*/ 102 w 248"/>
                  <a:gd name="T21" fmla="*/ 3 h 238"/>
                  <a:gd name="T22" fmla="*/ 114 w 248"/>
                  <a:gd name="T23" fmla="*/ 0 h 238"/>
                  <a:gd name="T24" fmla="*/ 122 w 248"/>
                  <a:gd name="T25" fmla="*/ 2 h 238"/>
                  <a:gd name="T26" fmla="*/ 124 w 248"/>
                  <a:gd name="T27" fmla="*/ 5 h 238"/>
                  <a:gd name="T28" fmla="*/ 121 w 248"/>
                  <a:gd name="T29" fmla="*/ 12 h 238"/>
                  <a:gd name="T30" fmla="*/ 110 w 248"/>
                  <a:gd name="T31" fmla="*/ 24 h 238"/>
                  <a:gd name="T32" fmla="*/ 91 w 248"/>
                  <a:gd name="T33" fmla="*/ 40 h 238"/>
                  <a:gd name="T34" fmla="*/ 79 w 248"/>
                  <a:gd name="T35" fmla="*/ 50 h 238"/>
                  <a:gd name="T36" fmla="*/ 69 w 248"/>
                  <a:gd name="T37" fmla="*/ 59 h 238"/>
                  <a:gd name="T38" fmla="*/ 58 w 248"/>
                  <a:gd name="T39" fmla="*/ 69 h 238"/>
                  <a:gd name="T40" fmla="*/ 48 w 248"/>
                  <a:gd name="T41" fmla="*/ 80 h 238"/>
                  <a:gd name="T42" fmla="*/ 37 w 248"/>
                  <a:gd name="T43" fmla="*/ 89 h 238"/>
                  <a:gd name="T44" fmla="*/ 27 w 248"/>
                  <a:gd name="T45" fmla="*/ 99 h 238"/>
                  <a:gd name="T46" fmla="*/ 16 w 248"/>
                  <a:gd name="T47" fmla="*/ 109 h 238"/>
                  <a:gd name="T48" fmla="*/ 5 w 248"/>
                  <a:gd name="T49" fmla="*/ 119 h 238"/>
                  <a:gd name="T50" fmla="*/ 3 w 248"/>
                  <a:gd name="T51" fmla="*/ 113 h 238"/>
                  <a:gd name="T52" fmla="*/ 3 w 248"/>
                  <a:gd name="T53" fmla="*/ 107 h 238"/>
                  <a:gd name="T54" fmla="*/ 1 w 248"/>
                  <a:gd name="T55" fmla="*/ 102 h 238"/>
                  <a:gd name="T56" fmla="*/ 0 w 248"/>
                  <a:gd name="T57" fmla="*/ 96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48"/>
                  <a:gd name="T88" fmla="*/ 0 h 238"/>
                  <a:gd name="T89" fmla="*/ 248 w 248"/>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48" h="238">
                    <a:moveTo>
                      <a:pt x="0" y="192"/>
                    </a:moveTo>
                    <a:lnTo>
                      <a:pt x="13" y="172"/>
                    </a:lnTo>
                    <a:lnTo>
                      <a:pt x="30" y="152"/>
                    </a:lnTo>
                    <a:lnTo>
                      <a:pt x="49" y="132"/>
                    </a:lnTo>
                    <a:lnTo>
                      <a:pt x="70" y="112"/>
                    </a:lnTo>
                    <a:lnTo>
                      <a:pt x="90" y="90"/>
                    </a:lnTo>
                    <a:lnTo>
                      <a:pt x="110" y="70"/>
                    </a:lnTo>
                    <a:lnTo>
                      <a:pt x="128" y="50"/>
                    </a:lnTo>
                    <a:lnTo>
                      <a:pt x="143" y="33"/>
                    </a:lnTo>
                    <a:lnTo>
                      <a:pt x="174" y="16"/>
                    </a:lnTo>
                    <a:lnTo>
                      <a:pt x="203" y="6"/>
                    </a:lnTo>
                    <a:lnTo>
                      <a:pt x="227" y="0"/>
                    </a:lnTo>
                    <a:lnTo>
                      <a:pt x="243" y="3"/>
                    </a:lnTo>
                    <a:lnTo>
                      <a:pt x="248" y="9"/>
                    </a:lnTo>
                    <a:lnTo>
                      <a:pt x="242" y="24"/>
                    </a:lnTo>
                    <a:lnTo>
                      <a:pt x="219" y="48"/>
                    </a:lnTo>
                    <a:lnTo>
                      <a:pt x="181" y="80"/>
                    </a:lnTo>
                    <a:lnTo>
                      <a:pt x="158" y="99"/>
                    </a:lnTo>
                    <a:lnTo>
                      <a:pt x="137" y="118"/>
                    </a:lnTo>
                    <a:lnTo>
                      <a:pt x="115" y="138"/>
                    </a:lnTo>
                    <a:lnTo>
                      <a:pt x="95" y="159"/>
                    </a:lnTo>
                    <a:lnTo>
                      <a:pt x="74" y="178"/>
                    </a:lnTo>
                    <a:lnTo>
                      <a:pt x="53" y="198"/>
                    </a:lnTo>
                    <a:lnTo>
                      <a:pt x="31" y="218"/>
                    </a:lnTo>
                    <a:lnTo>
                      <a:pt x="10" y="238"/>
                    </a:lnTo>
                    <a:lnTo>
                      <a:pt x="6" y="226"/>
                    </a:lnTo>
                    <a:lnTo>
                      <a:pt x="5" y="214"/>
                    </a:lnTo>
                    <a:lnTo>
                      <a:pt x="1" y="203"/>
                    </a:lnTo>
                    <a:lnTo>
                      <a:pt x="0" y="192"/>
                    </a:lnTo>
                    <a:close/>
                  </a:path>
                </a:pathLst>
              </a:custGeom>
              <a:solidFill>
                <a:srgbClr val="F2BAA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2" name="Freeform 651">
                <a:extLst>
                  <a:ext uri="{FF2B5EF4-FFF2-40B4-BE49-F238E27FC236}">
                    <a16:creationId xmlns:a16="http://schemas.microsoft.com/office/drawing/2014/main" id="{402ABA9C-D289-BF44-9015-F118E8CE2F6E}"/>
                  </a:ext>
                </a:extLst>
              </p:cNvPr>
              <p:cNvSpPr>
                <a:spLocks/>
              </p:cNvSpPr>
              <p:nvPr/>
            </p:nvSpPr>
            <p:spPr bwMode="auto">
              <a:xfrm>
                <a:off x="4481" y="3064"/>
                <a:ext cx="107" cy="100"/>
              </a:xfrm>
              <a:custGeom>
                <a:avLst/>
                <a:gdLst>
                  <a:gd name="T0" fmla="*/ 0 w 215"/>
                  <a:gd name="T1" fmla="*/ 80 h 200"/>
                  <a:gd name="T2" fmla="*/ 6 w 215"/>
                  <a:gd name="T3" fmla="*/ 72 h 200"/>
                  <a:gd name="T4" fmla="*/ 13 w 215"/>
                  <a:gd name="T5" fmla="*/ 64 h 200"/>
                  <a:gd name="T6" fmla="*/ 21 w 215"/>
                  <a:gd name="T7" fmla="*/ 55 h 200"/>
                  <a:gd name="T8" fmla="*/ 31 w 215"/>
                  <a:gd name="T9" fmla="*/ 48 h 200"/>
                  <a:gd name="T10" fmla="*/ 39 w 215"/>
                  <a:gd name="T11" fmla="*/ 40 h 200"/>
                  <a:gd name="T12" fmla="*/ 47 w 215"/>
                  <a:gd name="T13" fmla="*/ 33 h 200"/>
                  <a:gd name="T14" fmla="*/ 54 w 215"/>
                  <a:gd name="T15" fmla="*/ 25 h 200"/>
                  <a:gd name="T16" fmla="*/ 61 w 215"/>
                  <a:gd name="T17" fmla="*/ 18 h 200"/>
                  <a:gd name="T18" fmla="*/ 75 w 215"/>
                  <a:gd name="T19" fmla="*/ 10 h 200"/>
                  <a:gd name="T20" fmla="*/ 88 w 215"/>
                  <a:gd name="T21" fmla="*/ 5 h 200"/>
                  <a:gd name="T22" fmla="*/ 98 w 215"/>
                  <a:gd name="T23" fmla="*/ 1 h 200"/>
                  <a:gd name="T24" fmla="*/ 105 w 215"/>
                  <a:gd name="T25" fmla="*/ 0 h 200"/>
                  <a:gd name="T26" fmla="*/ 107 w 215"/>
                  <a:gd name="T27" fmla="*/ 1 h 200"/>
                  <a:gd name="T28" fmla="*/ 105 w 215"/>
                  <a:gd name="T29" fmla="*/ 6 h 200"/>
                  <a:gd name="T30" fmla="*/ 96 w 215"/>
                  <a:gd name="T31" fmla="*/ 15 h 200"/>
                  <a:gd name="T32" fmla="*/ 82 w 215"/>
                  <a:gd name="T33" fmla="*/ 28 h 200"/>
                  <a:gd name="T34" fmla="*/ 71 w 215"/>
                  <a:gd name="T35" fmla="*/ 37 h 200"/>
                  <a:gd name="T36" fmla="*/ 62 w 215"/>
                  <a:gd name="T37" fmla="*/ 46 h 200"/>
                  <a:gd name="T38" fmla="*/ 53 w 215"/>
                  <a:gd name="T39" fmla="*/ 54 h 200"/>
                  <a:gd name="T40" fmla="*/ 43 w 215"/>
                  <a:gd name="T41" fmla="*/ 64 h 200"/>
                  <a:gd name="T42" fmla="*/ 34 w 215"/>
                  <a:gd name="T43" fmla="*/ 73 h 200"/>
                  <a:gd name="T44" fmla="*/ 24 w 215"/>
                  <a:gd name="T45" fmla="*/ 82 h 200"/>
                  <a:gd name="T46" fmla="*/ 14 w 215"/>
                  <a:gd name="T47" fmla="*/ 91 h 200"/>
                  <a:gd name="T48" fmla="*/ 5 w 215"/>
                  <a:gd name="T49" fmla="*/ 100 h 200"/>
                  <a:gd name="T50" fmla="*/ 4 w 215"/>
                  <a:gd name="T51" fmla="*/ 95 h 200"/>
                  <a:gd name="T52" fmla="*/ 2 w 215"/>
                  <a:gd name="T53" fmla="*/ 90 h 200"/>
                  <a:gd name="T54" fmla="*/ 1 w 215"/>
                  <a:gd name="T55" fmla="*/ 85 h 200"/>
                  <a:gd name="T56" fmla="*/ 0 w 215"/>
                  <a:gd name="T57" fmla="*/ 80 h 20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15"/>
                  <a:gd name="T88" fmla="*/ 0 h 200"/>
                  <a:gd name="T89" fmla="*/ 215 w 215"/>
                  <a:gd name="T90" fmla="*/ 200 h 20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15" h="200">
                    <a:moveTo>
                      <a:pt x="0" y="159"/>
                    </a:moveTo>
                    <a:lnTo>
                      <a:pt x="12" y="143"/>
                    </a:lnTo>
                    <a:lnTo>
                      <a:pt x="27" y="128"/>
                    </a:lnTo>
                    <a:lnTo>
                      <a:pt x="43" y="111"/>
                    </a:lnTo>
                    <a:lnTo>
                      <a:pt x="62" y="96"/>
                    </a:lnTo>
                    <a:lnTo>
                      <a:pt x="78" y="80"/>
                    </a:lnTo>
                    <a:lnTo>
                      <a:pt x="94" y="65"/>
                    </a:lnTo>
                    <a:lnTo>
                      <a:pt x="108" y="50"/>
                    </a:lnTo>
                    <a:lnTo>
                      <a:pt x="123" y="35"/>
                    </a:lnTo>
                    <a:lnTo>
                      <a:pt x="151" y="20"/>
                    </a:lnTo>
                    <a:lnTo>
                      <a:pt x="176" y="9"/>
                    </a:lnTo>
                    <a:lnTo>
                      <a:pt x="196" y="1"/>
                    </a:lnTo>
                    <a:lnTo>
                      <a:pt x="211" y="0"/>
                    </a:lnTo>
                    <a:lnTo>
                      <a:pt x="215" y="2"/>
                    </a:lnTo>
                    <a:lnTo>
                      <a:pt x="211" y="12"/>
                    </a:lnTo>
                    <a:lnTo>
                      <a:pt x="193" y="30"/>
                    </a:lnTo>
                    <a:lnTo>
                      <a:pt x="165" y="56"/>
                    </a:lnTo>
                    <a:lnTo>
                      <a:pt x="143" y="73"/>
                    </a:lnTo>
                    <a:lnTo>
                      <a:pt x="124" y="91"/>
                    </a:lnTo>
                    <a:lnTo>
                      <a:pt x="106" y="109"/>
                    </a:lnTo>
                    <a:lnTo>
                      <a:pt x="87" y="128"/>
                    </a:lnTo>
                    <a:lnTo>
                      <a:pt x="68" y="145"/>
                    </a:lnTo>
                    <a:lnTo>
                      <a:pt x="49" y="164"/>
                    </a:lnTo>
                    <a:lnTo>
                      <a:pt x="29" y="182"/>
                    </a:lnTo>
                    <a:lnTo>
                      <a:pt x="10" y="200"/>
                    </a:lnTo>
                    <a:lnTo>
                      <a:pt x="8" y="189"/>
                    </a:lnTo>
                    <a:lnTo>
                      <a:pt x="5" y="179"/>
                    </a:lnTo>
                    <a:lnTo>
                      <a:pt x="3" y="169"/>
                    </a:lnTo>
                    <a:lnTo>
                      <a:pt x="0" y="159"/>
                    </a:lnTo>
                    <a:close/>
                  </a:path>
                </a:pathLst>
              </a:custGeom>
              <a:solidFill>
                <a:srgbClr val="F0B8A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3" name="Freeform 652">
                <a:extLst>
                  <a:ext uri="{FF2B5EF4-FFF2-40B4-BE49-F238E27FC236}">
                    <a16:creationId xmlns:a16="http://schemas.microsoft.com/office/drawing/2014/main" id="{4BE106CE-CE82-734F-AD48-7C80B6CFD402}"/>
                  </a:ext>
                </a:extLst>
              </p:cNvPr>
              <p:cNvSpPr>
                <a:spLocks/>
              </p:cNvSpPr>
              <p:nvPr/>
            </p:nvSpPr>
            <p:spPr bwMode="auto">
              <a:xfrm>
                <a:off x="4482" y="3078"/>
                <a:ext cx="91" cy="86"/>
              </a:xfrm>
              <a:custGeom>
                <a:avLst/>
                <a:gdLst>
                  <a:gd name="T0" fmla="*/ 0 w 181"/>
                  <a:gd name="T1" fmla="*/ 67 h 170"/>
                  <a:gd name="T2" fmla="*/ 5 w 181"/>
                  <a:gd name="T3" fmla="*/ 60 h 170"/>
                  <a:gd name="T4" fmla="*/ 12 w 181"/>
                  <a:gd name="T5" fmla="*/ 54 h 170"/>
                  <a:gd name="T6" fmla="*/ 18 w 181"/>
                  <a:gd name="T7" fmla="*/ 48 h 170"/>
                  <a:gd name="T8" fmla="*/ 25 w 181"/>
                  <a:gd name="T9" fmla="*/ 44 h 170"/>
                  <a:gd name="T10" fmla="*/ 32 w 181"/>
                  <a:gd name="T11" fmla="*/ 38 h 170"/>
                  <a:gd name="T12" fmla="*/ 38 w 181"/>
                  <a:gd name="T13" fmla="*/ 33 h 170"/>
                  <a:gd name="T14" fmla="*/ 44 w 181"/>
                  <a:gd name="T15" fmla="*/ 26 h 170"/>
                  <a:gd name="T16" fmla="*/ 50 w 181"/>
                  <a:gd name="T17" fmla="*/ 21 h 170"/>
                  <a:gd name="T18" fmla="*/ 62 w 181"/>
                  <a:gd name="T19" fmla="*/ 13 h 170"/>
                  <a:gd name="T20" fmla="*/ 74 w 181"/>
                  <a:gd name="T21" fmla="*/ 8 h 170"/>
                  <a:gd name="T22" fmla="*/ 82 w 181"/>
                  <a:gd name="T23" fmla="*/ 3 h 170"/>
                  <a:gd name="T24" fmla="*/ 89 w 181"/>
                  <a:gd name="T25" fmla="*/ 1 h 170"/>
                  <a:gd name="T26" fmla="*/ 91 w 181"/>
                  <a:gd name="T27" fmla="*/ 0 h 170"/>
                  <a:gd name="T28" fmla="*/ 89 w 181"/>
                  <a:gd name="T29" fmla="*/ 3 h 170"/>
                  <a:gd name="T30" fmla="*/ 83 w 181"/>
                  <a:gd name="T31" fmla="*/ 9 h 170"/>
                  <a:gd name="T32" fmla="*/ 72 w 181"/>
                  <a:gd name="T33" fmla="*/ 19 h 170"/>
                  <a:gd name="T34" fmla="*/ 63 w 181"/>
                  <a:gd name="T35" fmla="*/ 26 h 170"/>
                  <a:gd name="T36" fmla="*/ 55 w 181"/>
                  <a:gd name="T37" fmla="*/ 35 h 170"/>
                  <a:gd name="T38" fmla="*/ 47 w 181"/>
                  <a:gd name="T39" fmla="*/ 43 h 170"/>
                  <a:gd name="T40" fmla="*/ 38 w 181"/>
                  <a:gd name="T41" fmla="*/ 52 h 170"/>
                  <a:gd name="T42" fmla="*/ 30 w 181"/>
                  <a:gd name="T43" fmla="*/ 60 h 170"/>
                  <a:gd name="T44" fmla="*/ 22 w 181"/>
                  <a:gd name="T45" fmla="*/ 69 h 170"/>
                  <a:gd name="T46" fmla="*/ 13 w 181"/>
                  <a:gd name="T47" fmla="*/ 77 h 170"/>
                  <a:gd name="T48" fmla="*/ 5 w 181"/>
                  <a:gd name="T49" fmla="*/ 86 h 170"/>
                  <a:gd name="T50" fmla="*/ 3 w 181"/>
                  <a:gd name="T51" fmla="*/ 81 h 170"/>
                  <a:gd name="T52" fmla="*/ 2 w 181"/>
                  <a:gd name="T53" fmla="*/ 76 h 170"/>
                  <a:gd name="T54" fmla="*/ 1 w 181"/>
                  <a:gd name="T55" fmla="*/ 71 h 170"/>
                  <a:gd name="T56" fmla="*/ 0 w 181"/>
                  <a:gd name="T57" fmla="*/ 67 h 17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1"/>
                  <a:gd name="T88" fmla="*/ 0 h 170"/>
                  <a:gd name="T89" fmla="*/ 181 w 181"/>
                  <a:gd name="T90" fmla="*/ 170 h 17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1" h="170">
                    <a:moveTo>
                      <a:pt x="0" y="133"/>
                    </a:moveTo>
                    <a:lnTo>
                      <a:pt x="10" y="118"/>
                    </a:lnTo>
                    <a:lnTo>
                      <a:pt x="23" y="106"/>
                    </a:lnTo>
                    <a:lnTo>
                      <a:pt x="35" y="95"/>
                    </a:lnTo>
                    <a:lnTo>
                      <a:pt x="50" y="86"/>
                    </a:lnTo>
                    <a:lnTo>
                      <a:pt x="63" y="75"/>
                    </a:lnTo>
                    <a:lnTo>
                      <a:pt x="76" y="65"/>
                    </a:lnTo>
                    <a:lnTo>
                      <a:pt x="88" y="52"/>
                    </a:lnTo>
                    <a:lnTo>
                      <a:pt x="100" y="41"/>
                    </a:lnTo>
                    <a:lnTo>
                      <a:pt x="124" y="26"/>
                    </a:lnTo>
                    <a:lnTo>
                      <a:pt x="147" y="15"/>
                    </a:lnTo>
                    <a:lnTo>
                      <a:pt x="163" y="6"/>
                    </a:lnTo>
                    <a:lnTo>
                      <a:pt x="177" y="1"/>
                    </a:lnTo>
                    <a:lnTo>
                      <a:pt x="181" y="0"/>
                    </a:lnTo>
                    <a:lnTo>
                      <a:pt x="178" y="6"/>
                    </a:lnTo>
                    <a:lnTo>
                      <a:pt x="166" y="17"/>
                    </a:lnTo>
                    <a:lnTo>
                      <a:pt x="144" y="37"/>
                    </a:lnTo>
                    <a:lnTo>
                      <a:pt x="125" y="52"/>
                    </a:lnTo>
                    <a:lnTo>
                      <a:pt x="109" y="69"/>
                    </a:lnTo>
                    <a:lnTo>
                      <a:pt x="93" y="85"/>
                    </a:lnTo>
                    <a:lnTo>
                      <a:pt x="76" y="102"/>
                    </a:lnTo>
                    <a:lnTo>
                      <a:pt x="60" y="119"/>
                    </a:lnTo>
                    <a:lnTo>
                      <a:pt x="44" y="136"/>
                    </a:lnTo>
                    <a:lnTo>
                      <a:pt x="26" y="153"/>
                    </a:lnTo>
                    <a:lnTo>
                      <a:pt x="9" y="170"/>
                    </a:lnTo>
                    <a:lnTo>
                      <a:pt x="5" y="160"/>
                    </a:lnTo>
                    <a:lnTo>
                      <a:pt x="4" y="150"/>
                    </a:lnTo>
                    <a:lnTo>
                      <a:pt x="1" y="140"/>
                    </a:lnTo>
                    <a:lnTo>
                      <a:pt x="0" y="133"/>
                    </a:lnTo>
                    <a:close/>
                  </a:path>
                </a:pathLst>
              </a:custGeom>
              <a:solidFill>
                <a:srgbClr val="EDB5A3"/>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4" name="Freeform 653">
                <a:extLst>
                  <a:ext uri="{FF2B5EF4-FFF2-40B4-BE49-F238E27FC236}">
                    <a16:creationId xmlns:a16="http://schemas.microsoft.com/office/drawing/2014/main" id="{005E8C5D-3A79-2943-A497-284E2E80E238}"/>
                  </a:ext>
                </a:extLst>
              </p:cNvPr>
              <p:cNvSpPr>
                <a:spLocks/>
              </p:cNvSpPr>
              <p:nvPr/>
            </p:nvSpPr>
            <p:spPr bwMode="auto">
              <a:xfrm>
                <a:off x="4355" y="3100"/>
                <a:ext cx="426" cy="323"/>
              </a:xfrm>
              <a:custGeom>
                <a:avLst/>
                <a:gdLst>
                  <a:gd name="T0" fmla="*/ 417 w 852"/>
                  <a:gd name="T1" fmla="*/ 104 h 647"/>
                  <a:gd name="T2" fmla="*/ 426 w 852"/>
                  <a:gd name="T3" fmla="*/ 203 h 647"/>
                  <a:gd name="T4" fmla="*/ 421 w 852"/>
                  <a:gd name="T5" fmla="*/ 279 h 647"/>
                  <a:gd name="T6" fmla="*/ 393 w 852"/>
                  <a:gd name="T7" fmla="*/ 319 h 647"/>
                  <a:gd name="T8" fmla="*/ 295 w 852"/>
                  <a:gd name="T9" fmla="*/ 319 h 647"/>
                  <a:gd name="T10" fmla="*/ 197 w 852"/>
                  <a:gd name="T11" fmla="*/ 313 h 647"/>
                  <a:gd name="T12" fmla="*/ 137 w 852"/>
                  <a:gd name="T13" fmla="*/ 288 h 647"/>
                  <a:gd name="T14" fmla="*/ 74 w 852"/>
                  <a:gd name="T15" fmla="*/ 220 h 647"/>
                  <a:gd name="T16" fmla="*/ 15 w 852"/>
                  <a:gd name="T17" fmla="*/ 155 h 647"/>
                  <a:gd name="T18" fmla="*/ 0 w 852"/>
                  <a:gd name="T19" fmla="*/ 135 h 647"/>
                  <a:gd name="T20" fmla="*/ 7 w 852"/>
                  <a:gd name="T21" fmla="*/ 118 h 647"/>
                  <a:gd name="T22" fmla="*/ 28 w 852"/>
                  <a:gd name="T23" fmla="*/ 109 h 647"/>
                  <a:gd name="T24" fmla="*/ 37 w 852"/>
                  <a:gd name="T25" fmla="*/ 95 h 647"/>
                  <a:gd name="T26" fmla="*/ 31 w 852"/>
                  <a:gd name="T27" fmla="*/ 68 h 647"/>
                  <a:gd name="T28" fmla="*/ 41 w 852"/>
                  <a:gd name="T29" fmla="*/ 51 h 647"/>
                  <a:gd name="T30" fmla="*/ 63 w 852"/>
                  <a:gd name="T31" fmla="*/ 47 h 647"/>
                  <a:gd name="T32" fmla="*/ 67 w 852"/>
                  <a:gd name="T33" fmla="*/ 32 h 647"/>
                  <a:gd name="T34" fmla="*/ 68 w 852"/>
                  <a:gd name="T35" fmla="*/ 5 h 647"/>
                  <a:gd name="T36" fmla="*/ 92 w 852"/>
                  <a:gd name="T37" fmla="*/ 1 h 647"/>
                  <a:gd name="T38" fmla="*/ 127 w 852"/>
                  <a:gd name="T39" fmla="*/ 25 h 647"/>
                  <a:gd name="T40" fmla="*/ 147 w 852"/>
                  <a:gd name="T41" fmla="*/ 59 h 647"/>
                  <a:gd name="T42" fmla="*/ 150 w 852"/>
                  <a:gd name="T43" fmla="*/ 77 h 647"/>
                  <a:gd name="T44" fmla="*/ 154 w 852"/>
                  <a:gd name="T45" fmla="*/ 95 h 647"/>
                  <a:gd name="T46" fmla="*/ 158 w 852"/>
                  <a:gd name="T47" fmla="*/ 114 h 647"/>
                  <a:gd name="T48" fmla="*/ 179 w 852"/>
                  <a:gd name="T49" fmla="*/ 151 h 647"/>
                  <a:gd name="T50" fmla="*/ 204 w 852"/>
                  <a:gd name="T51" fmla="*/ 185 h 647"/>
                  <a:gd name="T52" fmla="*/ 228 w 852"/>
                  <a:gd name="T53" fmla="*/ 197 h 647"/>
                  <a:gd name="T54" fmla="*/ 271 w 852"/>
                  <a:gd name="T55" fmla="*/ 197 h 647"/>
                  <a:gd name="T56" fmla="*/ 297 w 852"/>
                  <a:gd name="T57" fmla="*/ 183 h 647"/>
                  <a:gd name="T58" fmla="*/ 282 w 852"/>
                  <a:gd name="T59" fmla="*/ 163 h 647"/>
                  <a:gd name="T60" fmla="*/ 268 w 852"/>
                  <a:gd name="T61" fmla="*/ 145 h 647"/>
                  <a:gd name="T62" fmla="*/ 252 w 852"/>
                  <a:gd name="T63" fmla="*/ 126 h 647"/>
                  <a:gd name="T64" fmla="*/ 253 w 852"/>
                  <a:gd name="T65" fmla="*/ 88 h 647"/>
                  <a:gd name="T66" fmla="*/ 289 w 852"/>
                  <a:gd name="T67" fmla="*/ 48 h 647"/>
                  <a:gd name="T68" fmla="*/ 340 w 852"/>
                  <a:gd name="T69" fmla="*/ 26 h 647"/>
                  <a:gd name="T70" fmla="*/ 390 w 852"/>
                  <a:gd name="T71" fmla="*/ 33 h 6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2"/>
                  <a:gd name="T109" fmla="*/ 0 h 647"/>
                  <a:gd name="T110" fmla="*/ 852 w 852"/>
                  <a:gd name="T111" fmla="*/ 647 h 6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2" h="647">
                    <a:moveTo>
                      <a:pt x="819" y="101"/>
                    </a:moveTo>
                    <a:lnTo>
                      <a:pt x="833" y="208"/>
                    </a:lnTo>
                    <a:lnTo>
                      <a:pt x="846" y="312"/>
                    </a:lnTo>
                    <a:lnTo>
                      <a:pt x="852" y="406"/>
                    </a:lnTo>
                    <a:lnTo>
                      <a:pt x="851" y="490"/>
                    </a:lnTo>
                    <a:lnTo>
                      <a:pt x="841" y="559"/>
                    </a:lnTo>
                    <a:lnTo>
                      <a:pt x="819" y="609"/>
                    </a:lnTo>
                    <a:lnTo>
                      <a:pt x="785" y="639"/>
                    </a:lnTo>
                    <a:lnTo>
                      <a:pt x="737" y="647"/>
                    </a:lnTo>
                    <a:lnTo>
                      <a:pt x="589" y="638"/>
                    </a:lnTo>
                    <a:lnTo>
                      <a:pt x="478" y="634"/>
                    </a:lnTo>
                    <a:lnTo>
                      <a:pt x="394" y="626"/>
                    </a:lnTo>
                    <a:lnTo>
                      <a:pt x="330" y="609"/>
                    </a:lnTo>
                    <a:lnTo>
                      <a:pt x="273" y="576"/>
                    </a:lnTo>
                    <a:lnTo>
                      <a:pt x="216" y="523"/>
                    </a:lnTo>
                    <a:lnTo>
                      <a:pt x="148" y="441"/>
                    </a:lnTo>
                    <a:lnTo>
                      <a:pt x="63" y="327"/>
                    </a:lnTo>
                    <a:lnTo>
                      <a:pt x="31" y="310"/>
                    </a:lnTo>
                    <a:lnTo>
                      <a:pt x="10" y="292"/>
                    </a:lnTo>
                    <a:lnTo>
                      <a:pt x="0" y="271"/>
                    </a:lnTo>
                    <a:lnTo>
                      <a:pt x="3" y="253"/>
                    </a:lnTo>
                    <a:lnTo>
                      <a:pt x="13" y="236"/>
                    </a:lnTo>
                    <a:lnTo>
                      <a:pt x="32" y="225"/>
                    </a:lnTo>
                    <a:lnTo>
                      <a:pt x="57" y="218"/>
                    </a:lnTo>
                    <a:lnTo>
                      <a:pt x="89" y="220"/>
                    </a:lnTo>
                    <a:lnTo>
                      <a:pt x="73" y="190"/>
                    </a:lnTo>
                    <a:lnTo>
                      <a:pt x="64" y="162"/>
                    </a:lnTo>
                    <a:lnTo>
                      <a:pt x="63" y="137"/>
                    </a:lnTo>
                    <a:lnTo>
                      <a:pt x="71" y="117"/>
                    </a:lnTo>
                    <a:lnTo>
                      <a:pt x="82" y="102"/>
                    </a:lnTo>
                    <a:lnTo>
                      <a:pt x="102" y="94"/>
                    </a:lnTo>
                    <a:lnTo>
                      <a:pt x="127" y="94"/>
                    </a:lnTo>
                    <a:lnTo>
                      <a:pt x="160" y="107"/>
                    </a:lnTo>
                    <a:lnTo>
                      <a:pt x="133" y="65"/>
                    </a:lnTo>
                    <a:lnTo>
                      <a:pt x="127" y="33"/>
                    </a:lnTo>
                    <a:lnTo>
                      <a:pt x="136" y="10"/>
                    </a:lnTo>
                    <a:lnTo>
                      <a:pt x="156" y="0"/>
                    </a:lnTo>
                    <a:lnTo>
                      <a:pt x="184" y="2"/>
                    </a:lnTo>
                    <a:lnTo>
                      <a:pt x="219" y="19"/>
                    </a:lnTo>
                    <a:lnTo>
                      <a:pt x="255" y="50"/>
                    </a:lnTo>
                    <a:lnTo>
                      <a:pt x="291" y="101"/>
                    </a:lnTo>
                    <a:lnTo>
                      <a:pt x="294" y="118"/>
                    </a:lnTo>
                    <a:lnTo>
                      <a:pt x="298" y="137"/>
                    </a:lnTo>
                    <a:lnTo>
                      <a:pt x="300" y="154"/>
                    </a:lnTo>
                    <a:lnTo>
                      <a:pt x="304" y="173"/>
                    </a:lnTo>
                    <a:lnTo>
                      <a:pt x="308" y="191"/>
                    </a:lnTo>
                    <a:lnTo>
                      <a:pt x="311" y="210"/>
                    </a:lnTo>
                    <a:lnTo>
                      <a:pt x="315" y="228"/>
                    </a:lnTo>
                    <a:lnTo>
                      <a:pt x="319" y="247"/>
                    </a:lnTo>
                    <a:lnTo>
                      <a:pt x="357" y="302"/>
                    </a:lnTo>
                    <a:lnTo>
                      <a:pt x="385" y="342"/>
                    </a:lnTo>
                    <a:lnTo>
                      <a:pt x="408" y="370"/>
                    </a:lnTo>
                    <a:lnTo>
                      <a:pt x="432" y="386"/>
                    </a:lnTo>
                    <a:lnTo>
                      <a:pt x="457" y="394"/>
                    </a:lnTo>
                    <a:lnTo>
                      <a:pt x="493" y="396"/>
                    </a:lnTo>
                    <a:lnTo>
                      <a:pt x="541" y="394"/>
                    </a:lnTo>
                    <a:lnTo>
                      <a:pt x="609" y="391"/>
                    </a:lnTo>
                    <a:lnTo>
                      <a:pt x="594" y="366"/>
                    </a:lnTo>
                    <a:lnTo>
                      <a:pt x="579" y="346"/>
                    </a:lnTo>
                    <a:lnTo>
                      <a:pt x="563" y="326"/>
                    </a:lnTo>
                    <a:lnTo>
                      <a:pt x="550" y="310"/>
                    </a:lnTo>
                    <a:lnTo>
                      <a:pt x="535" y="291"/>
                    </a:lnTo>
                    <a:lnTo>
                      <a:pt x="520" y="274"/>
                    </a:lnTo>
                    <a:lnTo>
                      <a:pt x="505" y="252"/>
                    </a:lnTo>
                    <a:lnTo>
                      <a:pt x="491" y="230"/>
                    </a:lnTo>
                    <a:lnTo>
                      <a:pt x="506" y="177"/>
                    </a:lnTo>
                    <a:lnTo>
                      <a:pt x="536" y="133"/>
                    </a:lnTo>
                    <a:lnTo>
                      <a:pt x="577" y="96"/>
                    </a:lnTo>
                    <a:lnTo>
                      <a:pt x="627" y="69"/>
                    </a:lnTo>
                    <a:lnTo>
                      <a:pt x="679" y="53"/>
                    </a:lnTo>
                    <a:lnTo>
                      <a:pt x="732" y="53"/>
                    </a:lnTo>
                    <a:lnTo>
                      <a:pt x="779" y="67"/>
                    </a:lnTo>
                    <a:lnTo>
                      <a:pt x="819" y="101"/>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5" name="Freeform 654">
                <a:extLst>
                  <a:ext uri="{FF2B5EF4-FFF2-40B4-BE49-F238E27FC236}">
                    <a16:creationId xmlns:a16="http://schemas.microsoft.com/office/drawing/2014/main" id="{1A32B653-E737-6E47-9E7C-8F9B99E58D03}"/>
                  </a:ext>
                </a:extLst>
              </p:cNvPr>
              <p:cNvSpPr>
                <a:spLocks/>
              </p:cNvSpPr>
              <p:nvPr/>
            </p:nvSpPr>
            <p:spPr bwMode="auto">
              <a:xfrm>
                <a:off x="4361" y="3112"/>
                <a:ext cx="413" cy="303"/>
              </a:xfrm>
              <a:custGeom>
                <a:avLst/>
                <a:gdLst>
                  <a:gd name="T0" fmla="*/ 401 w 825"/>
                  <a:gd name="T1" fmla="*/ 94 h 607"/>
                  <a:gd name="T2" fmla="*/ 412 w 825"/>
                  <a:gd name="T3" fmla="*/ 189 h 607"/>
                  <a:gd name="T4" fmla="*/ 408 w 825"/>
                  <a:gd name="T5" fmla="*/ 260 h 607"/>
                  <a:gd name="T6" fmla="*/ 381 w 825"/>
                  <a:gd name="T7" fmla="*/ 298 h 607"/>
                  <a:gd name="T8" fmla="*/ 282 w 825"/>
                  <a:gd name="T9" fmla="*/ 299 h 607"/>
                  <a:gd name="T10" fmla="*/ 186 w 825"/>
                  <a:gd name="T11" fmla="*/ 290 h 607"/>
                  <a:gd name="T12" fmla="*/ 128 w 825"/>
                  <a:gd name="T13" fmla="*/ 264 h 607"/>
                  <a:gd name="T14" fmla="*/ 70 w 825"/>
                  <a:gd name="T15" fmla="*/ 203 h 607"/>
                  <a:gd name="T16" fmla="*/ 15 w 825"/>
                  <a:gd name="T17" fmla="*/ 145 h 607"/>
                  <a:gd name="T18" fmla="*/ 0 w 825"/>
                  <a:gd name="T19" fmla="*/ 126 h 607"/>
                  <a:gd name="T20" fmla="*/ 7 w 825"/>
                  <a:gd name="T21" fmla="*/ 108 h 607"/>
                  <a:gd name="T22" fmla="*/ 28 w 825"/>
                  <a:gd name="T23" fmla="*/ 99 h 607"/>
                  <a:gd name="T24" fmla="*/ 37 w 825"/>
                  <a:gd name="T25" fmla="*/ 85 h 607"/>
                  <a:gd name="T26" fmla="*/ 33 w 825"/>
                  <a:gd name="T27" fmla="*/ 60 h 607"/>
                  <a:gd name="T28" fmla="*/ 43 w 825"/>
                  <a:gd name="T29" fmla="*/ 44 h 607"/>
                  <a:gd name="T30" fmla="*/ 64 w 825"/>
                  <a:gd name="T31" fmla="*/ 42 h 607"/>
                  <a:gd name="T32" fmla="*/ 68 w 825"/>
                  <a:gd name="T33" fmla="*/ 29 h 607"/>
                  <a:gd name="T34" fmla="*/ 69 w 825"/>
                  <a:gd name="T35" fmla="*/ 4 h 607"/>
                  <a:gd name="T36" fmla="*/ 92 w 825"/>
                  <a:gd name="T37" fmla="*/ 2 h 607"/>
                  <a:gd name="T38" fmla="*/ 123 w 825"/>
                  <a:gd name="T39" fmla="*/ 26 h 607"/>
                  <a:gd name="T40" fmla="*/ 141 w 825"/>
                  <a:gd name="T41" fmla="*/ 57 h 607"/>
                  <a:gd name="T42" fmla="*/ 144 w 825"/>
                  <a:gd name="T43" fmla="*/ 72 h 607"/>
                  <a:gd name="T44" fmla="*/ 148 w 825"/>
                  <a:gd name="T45" fmla="*/ 86 h 607"/>
                  <a:gd name="T46" fmla="*/ 151 w 825"/>
                  <a:gd name="T47" fmla="*/ 102 h 607"/>
                  <a:gd name="T48" fmla="*/ 171 w 825"/>
                  <a:gd name="T49" fmla="*/ 139 h 607"/>
                  <a:gd name="T50" fmla="*/ 197 w 825"/>
                  <a:gd name="T51" fmla="*/ 174 h 607"/>
                  <a:gd name="T52" fmla="*/ 224 w 825"/>
                  <a:gd name="T53" fmla="*/ 187 h 607"/>
                  <a:gd name="T54" fmla="*/ 268 w 825"/>
                  <a:gd name="T55" fmla="*/ 187 h 607"/>
                  <a:gd name="T56" fmla="*/ 294 w 825"/>
                  <a:gd name="T57" fmla="*/ 173 h 607"/>
                  <a:gd name="T58" fmla="*/ 279 w 825"/>
                  <a:gd name="T59" fmla="*/ 152 h 607"/>
                  <a:gd name="T60" fmla="*/ 264 w 825"/>
                  <a:gd name="T61" fmla="*/ 133 h 607"/>
                  <a:gd name="T62" fmla="*/ 250 w 825"/>
                  <a:gd name="T63" fmla="*/ 112 h 607"/>
                  <a:gd name="T64" fmla="*/ 249 w 825"/>
                  <a:gd name="T65" fmla="*/ 75 h 607"/>
                  <a:gd name="T66" fmla="*/ 282 w 825"/>
                  <a:gd name="T67" fmla="*/ 36 h 607"/>
                  <a:gd name="T68" fmla="*/ 328 w 825"/>
                  <a:gd name="T69" fmla="*/ 16 h 607"/>
                  <a:gd name="T70" fmla="*/ 374 w 825"/>
                  <a:gd name="T71" fmla="*/ 24 h 60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25"/>
                  <a:gd name="T109" fmla="*/ 0 h 607"/>
                  <a:gd name="T110" fmla="*/ 825 w 825"/>
                  <a:gd name="T111" fmla="*/ 607 h 60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25" h="607">
                    <a:moveTo>
                      <a:pt x="786" y="83"/>
                    </a:moveTo>
                    <a:lnTo>
                      <a:pt x="801" y="189"/>
                    </a:lnTo>
                    <a:lnTo>
                      <a:pt x="815" y="290"/>
                    </a:lnTo>
                    <a:lnTo>
                      <a:pt x="823" y="379"/>
                    </a:lnTo>
                    <a:lnTo>
                      <a:pt x="825" y="458"/>
                    </a:lnTo>
                    <a:lnTo>
                      <a:pt x="816" y="520"/>
                    </a:lnTo>
                    <a:lnTo>
                      <a:pt x="796" y="569"/>
                    </a:lnTo>
                    <a:lnTo>
                      <a:pt x="762" y="597"/>
                    </a:lnTo>
                    <a:lnTo>
                      <a:pt x="712" y="607"/>
                    </a:lnTo>
                    <a:lnTo>
                      <a:pt x="564" y="598"/>
                    </a:lnTo>
                    <a:lnTo>
                      <a:pt x="455" y="592"/>
                    </a:lnTo>
                    <a:lnTo>
                      <a:pt x="372" y="580"/>
                    </a:lnTo>
                    <a:lnTo>
                      <a:pt x="310" y="562"/>
                    </a:lnTo>
                    <a:lnTo>
                      <a:pt x="255" y="529"/>
                    </a:lnTo>
                    <a:lnTo>
                      <a:pt x="202" y="479"/>
                    </a:lnTo>
                    <a:lnTo>
                      <a:pt x="140" y="406"/>
                    </a:lnTo>
                    <a:lnTo>
                      <a:pt x="63" y="307"/>
                    </a:lnTo>
                    <a:lnTo>
                      <a:pt x="29" y="290"/>
                    </a:lnTo>
                    <a:lnTo>
                      <a:pt x="9" y="272"/>
                    </a:lnTo>
                    <a:lnTo>
                      <a:pt x="0" y="252"/>
                    </a:lnTo>
                    <a:lnTo>
                      <a:pt x="2" y="234"/>
                    </a:lnTo>
                    <a:lnTo>
                      <a:pt x="13" y="217"/>
                    </a:lnTo>
                    <a:lnTo>
                      <a:pt x="31" y="206"/>
                    </a:lnTo>
                    <a:lnTo>
                      <a:pt x="56" y="199"/>
                    </a:lnTo>
                    <a:lnTo>
                      <a:pt x="89" y="201"/>
                    </a:lnTo>
                    <a:lnTo>
                      <a:pt x="73" y="171"/>
                    </a:lnTo>
                    <a:lnTo>
                      <a:pt x="65" y="144"/>
                    </a:lnTo>
                    <a:lnTo>
                      <a:pt x="65" y="120"/>
                    </a:lnTo>
                    <a:lnTo>
                      <a:pt x="73" y="103"/>
                    </a:lnTo>
                    <a:lnTo>
                      <a:pt x="85" y="89"/>
                    </a:lnTo>
                    <a:lnTo>
                      <a:pt x="104" y="84"/>
                    </a:lnTo>
                    <a:lnTo>
                      <a:pt x="128" y="85"/>
                    </a:lnTo>
                    <a:lnTo>
                      <a:pt x="158" y="99"/>
                    </a:lnTo>
                    <a:lnTo>
                      <a:pt x="135" y="58"/>
                    </a:lnTo>
                    <a:lnTo>
                      <a:pt x="130" y="28"/>
                    </a:lnTo>
                    <a:lnTo>
                      <a:pt x="138" y="8"/>
                    </a:lnTo>
                    <a:lnTo>
                      <a:pt x="158" y="0"/>
                    </a:lnTo>
                    <a:lnTo>
                      <a:pt x="183" y="4"/>
                    </a:lnTo>
                    <a:lnTo>
                      <a:pt x="214" y="21"/>
                    </a:lnTo>
                    <a:lnTo>
                      <a:pt x="246" y="53"/>
                    </a:lnTo>
                    <a:lnTo>
                      <a:pt x="278" y="99"/>
                    </a:lnTo>
                    <a:lnTo>
                      <a:pt x="281" y="114"/>
                    </a:lnTo>
                    <a:lnTo>
                      <a:pt x="285" y="130"/>
                    </a:lnTo>
                    <a:lnTo>
                      <a:pt x="287" y="144"/>
                    </a:lnTo>
                    <a:lnTo>
                      <a:pt x="291" y="159"/>
                    </a:lnTo>
                    <a:lnTo>
                      <a:pt x="295" y="173"/>
                    </a:lnTo>
                    <a:lnTo>
                      <a:pt x="298" y="189"/>
                    </a:lnTo>
                    <a:lnTo>
                      <a:pt x="302" y="204"/>
                    </a:lnTo>
                    <a:lnTo>
                      <a:pt x="306" y="223"/>
                    </a:lnTo>
                    <a:lnTo>
                      <a:pt x="341" y="278"/>
                    </a:lnTo>
                    <a:lnTo>
                      <a:pt x="370" y="321"/>
                    </a:lnTo>
                    <a:lnTo>
                      <a:pt x="394" y="349"/>
                    </a:lnTo>
                    <a:lnTo>
                      <a:pt x="419" y="366"/>
                    </a:lnTo>
                    <a:lnTo>
                      <a:pt x="448" y="374"/>
                    </a:lnTo>
                    <a:lnTo>
                      <a:pt x="485" y="376"/>
                    </a:lnTo>
                    <a:lnTo>
                      <a:pt x="535" y="374"/>
                    </a:lnTo>
                    <a:lnTo>
                      <a:pt x="604" y="371"/>
                    </a:lnTo>
                    <a:lnTo>
                      <a:pt x="588" y="346"/>
                    </a:lnTo>
                    <a:lnTo>
                      <a:pt x="573" y="325"/>
                    </a:lnTo>
                    <a:lnTo>
                      <a:pt x="558" y="305"/>
                    </a:lnTo>
                    <a:lnTo>
                      <a:pt x="543" y="286"/>
                    </a:lnTo>
                    <a:lnTo>
                      <a:pt x="528" y="266"/>
                    </a:lnTo>
                    <a:lnTo>
                      <a:pt x="513" y="247"/>
                    </a:lnTo>
                    <a:lnTo>
                      <a:pt x="499" y="224"/>
                    </a:lnTo>
                    <a:lnTo>
                      <a:pt x="485" y="202"/>
                    </a:lnTo>
                    <a:lnTo>
                      <a:pt x="498" y="151"/>
                    </a:lnTo>
                    <a:lnTo>
                      <a:pt x="525" y="108"/>
                    </a:lnTo>
                    <a:lnTo>
                      <a:pt x="563" y="72"/>
                    </a:lnTo>
                    <a:lnTo>
                      <a:pt x="608" y="48"/>
                    </a:lnTo>
                    <a:lnTo>
                      <a:pt x="656" y="33"/>
                    </a:lnTo>
                    <a:lnTo>
                      <a:pt x="703" y="34"/>
                    </a:lnTo>
                    <a:lnTo>
                      <a:pt x="747" y="49"/>
                    </a:lnTo>
                    <a:lnTo>
                      <a:pt x="786" y="83"/>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6" name="Freeform 655">
                <a:extLst>
                  <a:ext uri="{FF2B5EF4-FFF2-40B4-BE49-F238E27FC236}">
                    <a16:creationId xmlns:a16="http://schemas.microsoft.com/office/drawing/2014/main" id="{3EB997F4-C088-244B-805B-5B3439A239DE}"/>
                  </a:ext>
                </a:extLst>
              </p:cNvPr>
              <p:cNvSpPr>
                <a:spLocks/>
              </p:cNvSpPr>
              <p:nvPr/>
            </p:nvSpPr>
            <p:spPr bwMode="auto">
              <a:xfrm>
                <a:off x="4367" y="3123"/>
                <a:ext cx="402" cy="284"/>
              </a:xfrm>
              <a:custGeom>
                <a:avLst/>
                <a:gdLst>
                  <a:gd name="T0" fmla="*/ 387 w 804"/>
                  <a:gd name="T1" fmla="*/ 86 h 569"/>
                  <a:gd name="T2" fmla="*/ 400 w 804"/>
                  <a:gd name="T3" fmla="*/ 176 h 569"/>
                  <a:gd name="T4" fmla="*/ 399 w 804"/>
                  <a:gd name="T5" fmla="*/ 242 h 569"/>
                  <a:gd name="T6" fmla="*/ 372 w 804"/>
                  <a:gd name="T7" fmla="*/ 278 h 569"/>
                  <a:gd name="T8" fmla="*/ 272 w 804"/>
                  <a:gd name="T9" fmla="*/ 279 h 569"/>
                  <a:gd name="T10" fmla="*/ 176 w 804"/>
                  <a:gd name="T11" fmla="*/ 267 h 569"/>
                  <a:gd name="T12" fmla="*/ 118 w 804"/>
                  <a:gd name="T13" fmla="*/ 241 h 569"/>
                  <a:gd name="T14" fmla="*/ 67 w 804"/>
                  <a:gd name="T15" fmla="*/ 185 h 569"/>
                  <a:gd name="T16" fmla="*/ 15 w 804"/>
                  <a:gd name="T17" fmla="*/ 134 h 569"/>
                  <a:gd name="T18" fmla="*/ 0 w 804"/>
                  <a:gd name="T19" fmla="*/ 116 h 569"/>
                  <a:gd name="T20" fmla="*/ 6 w 804"/>
                  <a:gd name="T21" fmla="*/ 98 h 569"/>
                  <a:gd name="T22" fmla="*/ 28 w 804"/>
                  <a:gd name="T23" fmla="*/ 89 h 569"/>
                  <a:gd name="T24" fmla="*/ 37 w 804"/>
                  <a:gd name="T25" fmla="*/ 76 h 569"/>
                  <a:gd name="T26" fmla="*/ 34 w 804"/>
                  <a:gd name="T27" fmla="*/ 52 h 569"/>
                  <a:gd name="T28" fmla="*/ 45 w 804"/>
                  <a:gd name="T29" fmla="*/ 38 h 569"/>
                  <a:gd name="T30" fmla="*/ 65 w 804"/>
                  <a:gd name="T31" fmla="*/ 38 h 569"/>
                  <a:gd name="T32" fmla="*/ 68 w 804"/>
                  <a:gd name="T33" fmla="*/ 25 h 569"/>
                  <a:gd name="T34" fmla="*/ 71 w 804"/>
                  <a:gd name="T35" fmla="*/ 3 h 569"/>
                  <a:gd name="T36" fmla="*/ 93 w 804"/>
                  <a:gd name="T37" fmla="*/ 1 h 569"/>
                  <a:gd name="T38" fmla="*/ 120 w 804"/>
                  <a:gd name="T39" fmla="*/ 25 h 569"/>
                  <a:gd name="T40" fmla="*/ 136 w 804"/>
                  <a:gd name="T41" fmla="*/ 55 h 569"/>
                  <a:gd name="T42" fmla="*/ 139 w 804"/>
                  <a:gd name="T43" fmla="*/ 68 h 569"/>
                  <a:gd name="T44" fmla="*/ 142 w 804"/>
                  <a:gd name="T45" fmla="*/ 79 h 569"/>
                  <a:gd name="T46" fmla="*/ 146 w 804"/>
                  <a:gd name="T47" fmla="*/ 91 h 569"/>
                  <a:gd name="T48" fmla="*/ 164 w 804"/>
                  <a:gd name="T49" fmla="*/ 128 h 569"/>
                  <a:gd name="T50" fmla="*/ 191 w 804"/>
                  <a:gd name="T51" fmla="*/ 163 h 569"/>
                  <a:gd name="T52" fmla="*/ 219 w 804"/>
                  <a:gd name="T53" fmla="*/ 177 h 569"/>
                  <a:gd name="T54" fmla="*/ 266 w 804"/>
                  <a:gd name="T55" fmla="*/ 177 h 569"/>
                  <a:gd name="T56" fmla="*/ 293 w 804"/>
                  <a:gd name="T57" fmla="*/ 163 h 569"/>
                  <a:gd name="T58" fmla="*/ 278 w 804"/>
                  <a:gd name="T59" fmla="*/ 141 h 569"/>
                  <a:gd name="T60" fmla="*/ 262 w 804"/>
                  <a:gd name="T61" fmla="*/ 121 h 569"/>
                  <a:gd name="T62" fmla="*/ 247 w 804"/>
                  <a:gd name="T63" fmla="*/ 100 h 569"/>
                  <a:gd name="T64" fmla="*/ 246 w 804"/>
                  <a:gd name="T65" fmla="*/ 62 h 569"/>
                  <a:gd name="T66" fmla="*/ 276 w 804"/>
                  <a:gd name="T67" fmla="*/ 24 h 569"/>
                  <a:gd name="T68" fmla="*/ 318 w 804"/>
                  <a:gd name="T69" fmla="*/ 7 h 569"/>
                  <a:gd name="T70" fmla="*/ 361 w 804"/>
                  <a:gd name="T71" fmla="*/ 17 h 56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04"/>
                  <a:gd name="T109" fmla="*/ 0 h 569"/>
                  <a:gd name="T110" fmla="*/ 804 w 804"/>
                  <a:gd name="T111" fmla="*/ 569 h 56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04" h="569">
                    <a:moveTo>
                      <a:pt x="759" y="69"/>
                    </a:moveTo>
                    <a:lnTo>
                      <a:pt x="774" y="173"/>
                    </a:lnTo>
                    <a:lnTo>
                      <a:pt x="789" y="269"/>
                    </a:lnTo>
                    <a:lnTo>
                      <a:pt x="799" y="353"/>
                    </a:lnTo>
                    <a:lnTo>
                      <a:pt x="804" y="427"/>
                    </a:lnTo>
                    <a:lnTo>
                      <a:pt x="797" y="485"/>
                    </a:lnTo>
                    <a:lnTo>
                      <a:pt x="778" y="530"/>
                    </a:lnTo>
                    <a:lnTo>
                      <a:pt x="743" y="557"/>
                    </a:lnTo>
                    <a:lnTo>
                      <a:pt x="691" y="569"/>
                    </a:lnTo>
                    <a:lnTo>
                      <a:pt x="543" y="559"/>
                    </a:lnTo>
                    <a:lnTo>
                      <a:pt x="434" y="549"/>
                    </a:lnTo>
                    <a:lnTo>
                      <a:pt x="351" y="535"/>
                    </a:lnTo>
                    <a:lnTo>
                      <a:pt x="290" y="515"/>
                    </a:lnTo>
                    <a:lnTo>
                      <a:pt x="237" y="482"/>
                    </a:lnTo>
                    <a:lnTo>
                      <a:pt x="188" y="436"/>
                    </a:lnTo>
                    <a:lnTo>
                      <a:pt x="133" y="371"/>
                    </a:lnTo>
                    <a:lnTo>
                      <a:pt x="64" y="287"/>
                    </a:lnTo>
                    <a:lnTo>
                      <a:pt x="30" y="269"/>
                    </a:lnTo>
                    <a:lnTo>
                      <a:pt x="10" y="250"/>
                    </a:lnTo>
                    <a:lnTo>
                      <a:pt x="0" y="232"/>
                    </a:lnTo>
                    <a:lnTo>
                      <a:pt x="3" y="214"/>
                    </a:lnTo>
                    <a:lnTo>
                      <a:pt x="13" y="196"/>
                    </a:lnTo>
                    <a:lnTo>
                      <a:pt x="32" y="185"/>
                    </a:lnTo>
                    <a:lnTo>
                      <a:pt x="57" y="179"/>
                    </a:lnTo>
                    <a:lnTo>
                      <a:pt x="89" y="181"/>
                    </a:lnTo>
                    <a:lnTo>
                      <a:pt x="73" y="153"/>
                    </a:lnTo>
                    <a:lnTo>
                      <a:pt x="68" y="128"/>
                    </a:lnTo>
                    <a:lnTo>
                      <a:pt x="68" y="105"/>
                    </a:lnTo>
                    <a:lnTo>
                      <a:pt x="77" y="89"/>
                    </a:lnTo>
                    <a:lnTo>
                      <a:pt x="89" y="77"/>
                    </a:lnTo>
                    <a:lnTo>
                      <a:pt x="108" y="74"/>
                    </a:lnTo>
                    <a:lnTo>
                      <a:pt x="129" y="77"/>
                    </a:lnTo>
                    <a:lnTo>
                      <a:pt x="154" y="90"/>
                    </a:lnTo>
                    <a:lnTo>
                      <a:pt x="136" y="51"/>
                    </a:lnTo>
                    <a:lnTo>
                      <a:pt x="133" y="24"/>
                    </a:lnTo>
                    <a:lnTo>
                      <a:pt x="141" y="6"/>
                    </a:lnTo>
                    <a:lnTo>
                      <a:pt x="161" y="0"/>
                    </a:lnTo>
                    <a:lnTo>
                      <a:pt x="185" y="3"/>
                    </a:lnTo>
                    <a:lnTo>
                      <a:pt x="212" y="21"/>
                    </a:lnTo>
                    <a:lnTo>
                      <a:pt x="241" y="51"/>
                    </a:lnTo>
                    <a:lnTo>
                      <a:pt x="269" y="95"/>
                    </a:lnTo>
                    <a:lnTo>
                      <a:pt x="271" y="111"/>
                    </a:lnTo>
                    <a:lnTo>
                      <a:pt x="274" y="125"/>
                    </a:lnTo>
                    <a:lnTo>
                      <a:pt x="277" y="136"/>
                    </a:lnTo>
                    <a:lnTo>
                      <a:pt x="281" y="148"/>
                    </a:lnTo>
                    <a:lnTo>
                      <a:pt x="284" y="158"/>
                    </a:lnTo>
                    <a:lnTo>
                      <a:pt x="287" y="169"/>
                    </a:lnTo>
                    <a:lnTo>
                      <a:pt x="291" y="183"/>
                    </a:lnTo>
                    <a:lnTo>
                      <a:pt x="295" y="200"/>
                    </a:lnTo>
                    <a:lnTo>
                      <a:pt x="328" y="257"/>
                    </a:lnTo>
                    <a:lnTo>
                      <a:pt x="356" y="299"/>
                    </a:lnTo>
                    <a:lnTo>
                      <a:pt x="381" y="327"/>
                    </a:lnTo>
                    <a:lnTo>
                      <a:pt x="409" y="346"/>
                    </a:lnTo>
                    <a:lnTo>
                      <a:pt x="439" y="354"/>
                    </a:lnTo>
                    <a:lnTo>
                      <a:pt x="479" y="357"/>
                    </a:lnTo>
                    <a:lnTo>
                      <a:pt x="531" y="354"/>
                    </a:lnTo>
                    <a:lnTo>
                      <a:pt x="600" y="352"/>
                    </a:lnTo>
                    <a:lnTo>
                      <a:pt x="585" y="326"/>
                    </a:lnTo>
                    <a:lnTo>
                      <a:pt x="570" y="304"/>
                    </a:lnTo>
                    <a:lnTo>
                      <a:pt x="555" y="283"/>
                    </a:lnTo>
                    <a:lnTo>
                      <a:pt x="539" y="264"/>
                    </a:lnTo>
                    <a:lnTo>
                      <a:pt x="524" y="243"/>
                    </a:lnTo>
                    <a:lnTo>
                      <a:pt x="509" y="223"/>
                    </a:lnTo>
                    <a:lnTo>
                      <a:pt x="494" y="200"/>
                    </a:lnTo>
                    <a:lnTo>
                      <a:pt x="479" y="176"/>
                    </a:lnTo>
                    <a:lnTo>
                      <a:pt x="492" y="125"/>
                    </a:lnTo>
                    <a:lnTo>
                      <a:pt x="517" y="82"/>
                    </a:lnTo>
                    <a:lnTo>
                      <a:pt x="551" y="49"/>
                    </a:lnTo>
                    <a:lnTo>
                      <a:pt x="592" y="27"/>
                    </a:lnTo>
                    <a:lnTo>
                      <a:pt x="635" y="15"/>
                    </a:lnTo>
                    <a:lnTo>
                      <a:pt x="680" y="17"/>
                    </a:lnTo>
                    <a:lnTo>
                      <a:pt x="721" y="34"/>
                    </a:lnTo>
                    <a:lnTo>
                      <a:pt x="759" y="69"/>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7" name="Freeform 656">
                <a:extLst>
                  <a:ext uri="{FF2B5EF4-FFF2-40B4-BE49-F238E27FC236}">
                    <a16:creationId xmlns:a16="http://schemas.microsoft.com/office/drawing/2014/main" id="{98DE10A7-8BFF-7D47-93BA-A2D10E01638F}"/>
                  </a:ext>
                </a:extLst>
              </p:cNvPr>
              <p:cNvSpPr>
                <a:spLocks/>
              </p:cNvSpPr>
              <p:nvPr/>
            </p:nvSpPr>
            <p:spPr bwMode="auto">
              <a:xfrm>
                <a:off x="4373" y="3132"/>
                <a:ext cx="390" cy="268"/>
              </a:xfrm>
              <a:custGeom>
                <a:avLst/>
                <a:gdLst>
                  <a:gd name="T0" fmla="*/ 372 w 779"/>
                  <a:gd name="T1" fmla="*/ 80 h 536"/>
                  <a:gd name="T2" fmla="*/ 386 w 779"/>
                  <a:gd name="T3" fmla="*/ 166 h 536"/>
                  <a:gd name="T4" fmla="*/ 387 w 779"/>
                  <a:gd name="T5" fmla="*/ 226 h 536"/>
                  <a:gd name="T6" fmla="*/ 361 w 779"/>
                  <a:gd name="T7" fmla="*/ 261 h 536"/>
                  <a:gd name="T8" fmla="*/ 260 w 779"/>
                  <a:gd name="T9" fmla="*/ 262 h 536"/>
                  <a:gd name="T10" fmla="*/ 164 w 779"/>
                  <a:gd name="T11" fmla="*/ 247 h 536"/>
                  <a:gd name="T12" fmla="*/ 109 w 779"/>
                  <a:gd name="T13" fmla="*/ 219 h 536"/>
                  <a:gd name="T14" fmla="*/ 62 w 779"/>
                  <a:gd name="T15" fmla="*/ 170 h 536"/>
                  <a:gd name="T16" fmla="*/ 15 w 779"/>
                  <a:gd name="T17" fmla="*/ 127 h 536"/>
                  <a:gd name="T18" fmla="*/ 0 w 779"/>
                  <a:gd name="T19" fmla="*/ 108 h 536"/>
                  <a:gd name="T20" fmla="*/ 6 w 779"/>
                  <a:gd name="T21" fmla="*/ 91 h 536"/>
                  <a:gd name="T22" fmla="*/ 28 w 779"/>
                  <a:gd name="T23" fmla="*/ 83 h 536"/>
                  <a:gd name="T24" fmla="*/ 37 w 779"/>
                  <a:gd name="T25" fmla="*/ 70 h 536"/>
                  <a:gd name="T26" fmla="*/ 35 w 779"/>
                  <a:gd name="T27" fmla="*/ 47 h 536"/>
                  <a:gd name="T28" fmla="*/ 47 w 779"/>
                  <a:gd name="T29" fmla="*/ 35 h 536"/>
                  <a:gd name="T30" fmla="*/ 65 w 779"/>
                  <a:gd name="T31" fmla="*/ 36 h 536"/>
                  <a:gd name="T32" fmla="*/ 68 w 779"/>
                  <a:gd name="T33" fmla="*/ 24 h 536"/>
                  <a:gd name="T34" fmla="*/ 72 w 779"/>
                  <a:gd name="T35" fmla="*/ 4 h 536"/>
                  <a:gd name="T36" fmla="*/ 92 w 779"/>
                  <a:gd name="T37" fmla="*/ 5 h 536"/>
                  <a:gd name="T38" fmla="*/ 117 w 779"/>
                  <a:gd name="T39" fmla="*/ 28 h 536"/>
                  <a:gd name="T40" fmla="*/ 129 w 779"/>
                  <a:gd name="T41" fmla="*/ 56 h 536"/>
                  <a:gd name="T42" fmla="*/ 132 w 779"/>
                  <a:gd name="T43" fmla="*/ 66 h 536"/>
                  <a:gd name="T44" fmla="*/ 136 w 779"/>
                  <a:gd name="T45" fmla="*/ 73 h 536"/>
                  <a:gd name="T46" fmla="*/ 139 w 779"/>
                  <a:gd name="T47" fmla="*/ 83 h 536"/>
                  <a:gd name="T48" fmla="*/ 157 w 779"/>
                  <a:gd name="T49" fmla="*/ 120 h 536"/>
                  <a:gd name="T50" fmla="*/ 183 w 779"/>
                  <a:gd name="T51" fmla="*/ 156 h 536"/>
                  <a:gd name="T52" fmla="*/ 215 w 779"/>
                  <a:gd name="T53" fmla="*/ 170 h 536"/>
                  <a:gd name="T54" fmla="*/ 263 w 779"/>
                  <a:gd name="T55" fmla="*/ 170 h 536"/>
                  <a:gd name="T56" fmla="*/ 289 w 779"/>
                  <a:gd name="T57" fmla="*/ 155 h 536"/>
                  <a:gd name="T58" fmla="*/ 274 w 779"/>
                  <a:gd name="T59" fmla="*/ 133 h 536"/>
                  <a:gd name="T60" fmla="*/ 259 w 779"/>
                  <a:gd name="T61" fmla="*/ 112 h 536"/>
                  <a:gd name="T62" fmla="*/ 244 w 779"/>
                  <a:gd name="T63" fmla="*/ 89 h 536"/>
                  <a:gd name="T64" fmla="*/ 242 w 779"/>
                  <a:gd name="T65" fmla="*/ 51 h 536"/>
                  <a:gd name="T66" fmla="*/ 269 w 779"/>
                  <a:gd name="T67" fmla="*/ 15 h 536"/>
                  <a:gd name="T68" fmla="*/ 306 w 779"/>
                  <a:gd name="T69" fmla="*/ 0 h 536"/>
                  <a:gd name="T70" fmla="*/ 346 w 779"/>
                  <a:gd name="T71" fmla="*/ 11 h 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9"/>
                  <a:gd name="T109" fmla="*/ 0 h 536"/>
                  <a:gd name="T110" fmla="*/ 779 w 779"/>
                  <a:gd name="T111" fmla="*/ 536 h 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9" h="536">
                    <a:moveTo>
                      <a:pt x="727" y="58"/>
                    </a:moveTo>
                    <a:lnTo>
                      <a:pt x="743" y="161"/>
                    </a:lnTo>
                    <a:lnTo>
                      <a:pt x="760" y="254"/>
                    </a:lnTo>
                    <a:lnTo>
                      <a:pt x="772" y="333"/>
                    </a:lnTo>
                    <a:lnTo>
                      <a:pt x="779" y="400"/>
                    </a:lnTo>
                    <a:lnTo>
                      <a:pt x="774" y="453"/>
                    </a:lnTo>
                    <a:lnTo>
                      <a:pt x="757" y="494"/>
                    </a:lnTo>
                    <a:lnTo>
                      <a:pt x="722" y="521"/>
                    </a:lnTo>
                    <a:lnTo>
                      <a:pt x="668" y="536"/>
                    </a:lnTo>
                    <a:lnTo>
                      <a:pt x="520" y="524"/>
                    </a:lnTo>
                    <a:lnTo>
                      <a:pt x="410" y="512"/>
                    </a:lnTo>
                    <a:lnTo>
                      <a:pt x="328" y="494"/>
                    </a:lnTo>
                    <a:lnTo>
                      <a:pt x="267" y="472"/>
                    </a:lnTo>
                    <a:lnTo>
                      <a:pt x="217" y="439"/>
                    </a:lnTo>
                    <a:lnTo>
                      <a:pt x="173" y="396"/>
                    </a:lnTo>
                    <a:lnTo>
                      <a:pt x="123" y="340"/>
                    </a:lnTo>
                    <a:lnTo>
                      <a:pt x="62" y="270"/>
                    </a:lnTo>
                    <a:lnTo>
                      <a:pt x="29" y="254"/>
                    </a:lnTo>
                    <a:lnTo>
                      <a:pt x="9" y="236"/>
                    </a:lnTo>
                    <a:lnTo>
                      <a:pt x="0" y="217"/>
                    </a:lnTo>
                    <a:lnTo>
                      <a:pt x="2" y="200"/>
                    </a:lnTo>
                    <a:lnTo>
                      <a:pt x="12" y="183"/>
                    </a:lnTo>
                    <a:lnTo>
                      <a:pt x="31" y="172"/>
                    </a:lnTo>
                    <a:lnTo>
                      <a:pt x="56" y="166"/>
                    </a:lnTo>
                    <a:lnTo>
                      <a:pt x="89" y="168"/>
                    </a:lnTo>
                    <a:lnTo>
                      <a:pt x="73" y="140"/>
                    </a:lnTo>
                    <a:lnTo>
                      <a:pt x="68" y="116"/>
                    </a:lnTo>
                    <a:lnTo>
                      <a:pt x="69" y="94"/>
                    </a:lnTo>
                    <a:lnTo>
                      <a:pt x="79" y="81"/>
                    </a:lnTo>
                    <a:lnTo>
                      <a:pt x="93" y="71"/>
                    </a:lnTo>
                    <a:lnTo>
                      <a:pt x="110" y="68"/>
                    </a:lnTo>
                    <a:lnTo>
                      <a:pt x="130" y="72"/>
                    </a:lnTo>
                    <a:lnTo>
                      <a:pt x="153" y="86"/>
                    </a:lnTo>
                    <a:lnTo>
                      <a:pt x="136" y="48"/>
                    </a:lnTo>
                    <a:lnTo>
                      <a:pt x="135" y="23"/>
                    </a:lnTo>
                    <a:lnTo>
                      <a:pt x="144" y="8"/>
                    </a:lnTo>
                    <a:lnTo>
                      <a:pt x="162" y="4"/>
                    </a:lnTo>
                    <a:lnTo>
                      <a:pt x="183" y="11"/>
                    </a:lnTo>
                    <a:lnTo>
                      <a:pt x="208" y="28"/>
                    </a:lnTo>
                    <a:lnTo>
                      <a:pt x="233" y="57"/>
                    </a:lnTo>
                    <a:lnTo>
                      <a:pt x="256" y="97"/>
                    </a:lnTo>
                    <a:lnTo>
                      <a:pt x="258" y="112"/>
                    </a:lnTo>
                    <a:lnTo>
                      <a:pt x="261" y="123"/>
                    </a:lnTo>
                    <a:lnTo>
                      <a:pt x="264" y="132"/>
                    </a:lnTo>
                    <a:lnTo>
                      <a:pt x="268" y="140"/>
                    </a:lnTo>
                    <a:lnTo>
                      <a:pt x="271" y="146"/>
                    </a:lnTo>
                    <a:lnTo>
                      <a:pt x="274" y="155"/>
                    </a:lnTo>
                    <a:lnTo>
                      <a:pt x="278" y="166"/>
                    </a:lnTo>
                    <a:lnTo>
                      <a:pt x="282" y="182"/>
                    </a:lnTo>
                    <a:lnTo>
                      <a:pt x="313" y="240"/>
                    </a:lnTo>
                    <a:lnTo>
                      <a:pt x="341" y="284"/>
                    </a:lnTo>
                    <a:lnTo>
                      <a:pt x="366" y="313"/>
                    </a:lnTo>
                    <a:lnTo>
                      <a:pt x="396" y="331"/>
                    </a:lnTo>
                    <a:lnTo>
                      <a:pt x="429" y="340"/>
                    </a:lnTo>
                    <a:lnTo>
                      <a:pt x="471" y="343"/>
                    </a:lnTo>
                    <a:lnTo>
                      <a:pt x="525" y="340"/>
                    </a:lnTo>
                    <a:lnTo>
                      <a:pt x="594" y="338"/>
                    </a:lnTo>
                    <a:lnTo>
                      <a:pt x="578" y="310"/>
                    </a:lnTo>
                    <a:lnTo>
                      <a:pt x="563" y="287"/>
                    </a:lnTo>
                    <a:lnTo>
                      <a:pt x="548" y="265"/>
                    </a:lnTo>
                    <a:lnTo>
                      <a:pt x="533" y="245"/>
                    </a:lnTo>
                    <a:lnTo>
                      <a:pt x="518" y="224"/>
                    </a:lnTo>
                    <a:lnTo>
                      <a:pt x="503" y="202"/>
                    </a:lnTo>
                    <a:lnTo>
                      <a:pt x="488" y="178"/>
                    </a:lnTo>
                    <a:lnTo>
                      <a:pt x="473" y="155"/>
                    </a:lnTo>
                    <a:lnTo>
                      <a:pt x="484" y="103"/>
                    </a:lnTo>
                    <a:lnTo>
                      <a:pt x="506" y="63"/>
                    </a:lnTo>
                    <a:lnTo>
                      <a:pt x="537" y="31"/>
                    </a:lnTo>
                    <a:lnTo>
                      <a:pt x="573" y="11"/>
                    </a:lnTo>
                    <a:lnTo>
                      <a:pt x="611" y="0"/>
                    </a:lnTo>
                    <a:lnTo>
                      <a:pt x="652" y="6"/>
                    </a:lnTo>
                    <a:lnTo>
                      <a:pt x="691" y="23"/>
                    </a:lnTo>
                    <a:lnTo>
                      <a:pt x="727" y="58"/>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8" name="Freeform 657">
                <a:extLst>
                  <a:ext uri="{FF2B5EF4-FFF2-40B4-BE49-F238E27FC236}">
                    <a16:creationId xmlns:a16="http://schemas.microsoft.com/office/drawing/2014/main" id="{4891B2E8-5DE4-7A40-ADEE-07438AF16894}"/>
                  </a:ext>
                </a:extLst>
              </p:cNvPr>
              <p:cNvSpPr>
                <a:spLocks/>
              </p:cNvSpPr>
              <p:nvPr/>
            </p:nvSpPr>
            <p:spPr bwMode="auto">
              <a:xfrm>
                <a:off x="4379" y="3134"/>
                <a:ext cx="378" cy="259"/>
              </a:xfrm>
              <a:custGeom>
                <a:avLst/>
                <a:gdLst>
                  <a:gd name="T0" fmla="*/ 356 w 756"/>
                  <a:gd name="T1" fmla="*/ 81 h 518"/>
                  <a:gd name="T2" fmla="*/ 374 w 756"/>
                  <a:gd name="T3" fmla="*/ 162 h 518"/>
                  <a:gd name="T4" fmla="*/ 377 w 756"/>
                  <a:gd name="T5" fmla="*/ 218 h 518"/>
                  <a:gd name="T6" fmla="*/ 351 w 756"/>
                  <a:gd name="T7" fmla="*/ 250 h 518"/>
                  <a:gd name="T8" fmla="*/ 249 w 756"/>
                  <a:gd name="T9" fmla="*/ 252 h 518"/>
                  <a:gd name="T10" fmla="*/ 154 w 756"/>
                  <a:gd name="T11" fmla="*/ 234 h 518"/>
                  <a:gd name="T12" fmla="*/ 100 w 756"/>
                  <a:gd name="T13" fmla="*/ 205 h 518"/>
                  <a:gd name="T14" fmla="*/ 58 w 756"/>
                  <a:gd name="T15" fmla="*/ 162 h 518"/>
                  <a:gd name="T16" fmla="*/ 15 w 756"/>
                  <a:gd name="T17" fmla="*/ 126 h 518"/>
                  <a:gd name="T18" fmla="*/ 0 w 756"/>
                  <a:gd name="T19" fmla="*/ 108 h 518"/>
                  <a:gd name="T20" fmla="*/ 6 w 756"/>
                  <a:gd name="T21" fmla="*/ 91 h 518"/>
                  <a:gd name="T22" fmla="*/ 28 w 756"/>
                  <a:gd name="T23" fmla="*/ 83 h 518"/>
                  <a:gd name="T24" fmla="*/ 37 w 756"/>
                  <a:gd name="T25" fmla="*/ 71 h 518"/>
                  <a:gd name="T26" fmla="*/ 36 w 756"/>
                  <a:gd name="T27" fmla="*/ 50 h 518"/>
                  <a:gd name="T28" fmla="*/ 48 w 756"/>
                  <a:gd name="T29" fmla="*/ 39 h 518"/>
                  <a:gd name="T30" fmla="*/ 66 w 756"/>
                  <a:gd name="T31" fmla="*/ 42 h 518"/>
                  <a:gd name="T32" fmla="*/ 69 w 756"/>
                  <a:gd name="T33" fmla="*/ 31 h 518"/>
                  <a:gd name="T34" fmla="*/ 74 w 756"/>
                  <a:gd name="T35" fmla="*/ 12 h 518"/>
                  <a:gd name="T36" fmla="*/ 92 w 756"/>
                  <a:gd name="T37" fmla="*/ 16 h 518"/>
                  <a:gd name="T38" fmla="*/ 113 w 756"/>
                  <a:gd name="T39" fmla="*/ 39 h 518"/>
                  <a:gd name="T40" fmla="*/ 123 w 756"/>
                  <a:gd name="T41" fmla="*/ 64 h 518"/>
                  <a:gd name="T42" fmla="*/ 126 w 756"/>
                  <a:gd name="T43" fmla="*/ 71 h 518"/>
                  <a:gd name="T44" fmla="*/ 130 w 756"/>
                  <a:gd name="T45" fmla="*/ 74 h 518"/>
                  <a:gd name="T46" fmla="*/ 134 w 756"/>
                  <a:gd name="T47" fmla="*/ 81 h 518"/>
                  <a:gd name="T48" fmla="*/ 150 w 756"/>
                  <a:gd name="T49" fmla="*/ 118 h 518"/>
                  <a:gd name="T50" fmla="*/ 177 w 756"/>
                  <a:gd name="T51" fmla="*/ 155 h 518"/>
                  <a:gd name="T52" fmla="*/ 210 w 756"/>
                  <a:gd name="T53" fmla="*/ 169 h 518"/>
                  <a:gd name="T54" fmla="*/ 260 w 756"/>
                  <a:gd name="T55" fmla="*/ 169 h 518"/>
                  <a:gd name="T56" fmla="*/ 287 w 756"/>
                  <a:gd name="T57" fmla="*/ 155 h 518"/>
                  <a:gd name="T58" fmla="*/ 272 w 756"/>
                  <a:gd name="T59" fmla="*/ 131 h 518"/>
                  <a:gd name="T60" fmla="*/ 256 w 756"/>
                  <a:gd name="T61" fmla="*/ 109 h 518"/>
                  <a:gd name="T62" fmla="*/ 241 w 756"/>
                  <a:gd name="T63" fmla="*/ 85 h 518"/>
                  <a:gd name="T64" fmla="*/ 239 w 756"/>
                  <a:gd name="T65" fmla="*/ 48 h 518"/>
                  <a:gd name="T66" fmla="*/ 262 w 756"/>
                  <a:gd name="T67" fmla="*/ 13 h 518"/>
                  <a:gd name="T68" fmla="*/ 295 w 756"/>
                  <a:gd name="T69" fmla="*/ 0 h 518"/>
                  <a:gd name="T70" fmla="*/ 331 w 756"/>
                  <a:gd name="T71" fmla="*/ 12 h 51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6"/>
                  <a:gd name="T109" fmla="*/ 0 h 518"/>
                  <a:gd name="T110" fmla="*/ 756 w 756"/>
                  <a:gd name="T111" fmla="*/ 518 h 51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6" h="518">
                    <a:moveTo>
                      <a:pt x="696" y="60"/>
                    </a:moveTo>
                    <a:lnTo>
                      <a:pt x="712" y="162"/>
                    </a:lnTo>
                    <a:lnTo>
                      <a:pt x="731" y="251"/>
                    </a:lnTo>
                    <a:lnTo>
                      <a:pt x="747" y="325"/>
                    </a:lnTo>
                    <a:lnTo>
                      <a:pt x="756" y="387"/>
                    </a:lnTo>
                    <a:lnTo>
                      <a:pt x="754" y="436"/>
                    </a:lnTo>
                    <a:lnTo>
                      <a:pt x="737" y="474"/>
                    </a:lnTo>
                    <a:lnTo>
                      <a:pt x="702" y="500"/>
                    </a:lnTo>
                    <a:lnTo>
                      <a:pt x="647" y="518"/>
                    </a:lnTo>
                    <a:lnTo>
                      <a:pt x="499" y="505"/>
                    </a:lnTo>
                    <a:lnTo>
                      <a:pt x="389" y="490"/>
                    </a:lnTo>
                    <a:lnTo>
                      <a:pt x="307" y="469"/>
                    </a:lnTo>
                    <a:lnTo>
                      <a:pt x="248" y="444"/>
                    </a:lnTo>
                    <a:lnTo>
                      <a:pt x="201" y="411"/>
                    </a:lnTo>
                    <a:lnTo>
                      <a:pt x="159" y="372"/>
                    </a:lnTo>
                    <a:lnTo>
                      <a:pt x="117" y="325"/>
                    </a:lnTo>
                    <a:lnTo>
                      <a:pt x="64" y="270"/>
                    </a:lnTo>
                    <a:lnTo>
                      <a:pt x="30" y="252"/>
                    </a:lnTo>
                    <a:lnTo>
                      <a:pt x="10" y="235"/>
                    </a:lnTo>
                    <a:lnTo>
                      <a:pt x="0" y="216"/>
                    </a:lnTo>
                    <a:lnTo>
                      <a:pt x="3" y="200"/>
                    </a:lnTo>
                    <a:lnTo>
                      <a:pt x="13" y="183"/>
                    </a:lnTo>
                    <a:lnTo>
                      <a:pt x="31" y="173"/>
                    </a:lnTo>
                    <a:lnTo>
                      <a:pt x="57" y="167"/>
                    </a:lnTo>
                    <a:lnTo>
                      <a:pt x="89" y="169"/>
                    </a:lnTo>
                    <a:lnTo>
                      <a:pt x="74" y="142"/>
                    </a:lnTo>
                    <a:lnTo>
                      <a:pt x="69" y="119"/>
                    </a:lnTo>
                    <a:lnTo>
                      <a:pt x="72" y="101"/>
                    </a:lnTo>
                    <a:lnTo>
                      <a:pt x="83" y="88"/>
                    </a:lnTo>
                    <a:lnTo>
                      <a:pt x="97" y="79"/>
                    </a:lnTo>
                    <a:lnTo>
                      <a:pt x="114" y="79"/>
                    </a:lnTo>
                    <a:lnTo>
                      <a:pt x="132" y="84"/>
                    </a:lnTo>
                    <a:lnTo>
                      <a:pt x="151" y="97"/>
                    </a:lnTo>
                    <a:lnTo>
                      <a:pt x="138" y="62"/>
                    </a:lnTo>
                    <a:lnTo>
                      <a:pt x="138" y="38"/>
                    </a:lnTo>
                    <a:lnTo>
                      <a:pt x="147" y="25"/>
                    </a:lnTo>
                    <a:lnTo>
                      <a:pt x="164" y="24"/>
                    </a:lnTo>
                    <a:lnTo>
                      <a:pt x="184" y="32"/>
                    </a:lnTo>
                    <a:lnTo>
                      <a:pt x="206" y="50"/>
                    </a:lnTo>
                    <a:lnTo>
                      <a:pt x="227" y="78"/>
                    </a:lnTo>
                    <a:lnTo>
                      <a:pt x="245" y="116"/>
                    </a:lnTo>
                    <a:lnTo>
                      <a:pt x="247" y="128"/>
                    </a:lnTo>
                    <a:lnTo>
                      <a:pt x="251" y="137"/>
                    </a:lnTo>
                    <a:lnTo>
                      <a:pt x="253" y="142"/>
                    </a:lnTo>
                    <a:lnTo>
                      <a:pt x="257" y="146"/>
                    </a:lnTo>
                    <a:lnTo>
                      <a:pt x="260" y="148"/>
                    </a:lnTo>
                    <a:lnTo>
                      <a:pt x="263" y="153"/>
                    </a:lnTo>
                    <a:lnTo>
                      <a:pt x="267" y="162"/>
                    </a:lnTo>
                    <a:lnTo>
                      <a:pt x="271" y="178"/>
                    </a:lnTo>
                    <a:lnTo>
                      <a:pt x="300" y="237"/>
                    </a:lnTo>
                    <a:lnTo>
                      <a:pt x="327" y="281"/>
                    </a:lnTo>
                    <a:lnTo>
                      <a:pt x="354" y="311"/>
                    </a:lnTo>
                    <a:lnTo>
                      <a:pt x="385" y="330"/>
                    </a:lnTo>
                    <a:lnTo>
                      <a:pt x="420" y="339"/>
                    </a:lnTo>
                    <a:lnTo>
                      <a:pt x="464" y="341"/>
                    </a:lnTo>
                    <a:lnTo>
                      <a:pt x="519" y="339"/>
                    </a:lnTo>
                    <a:lnTo>
                      <a:pt x="589" y="336"/>
                    </a:lnTo>
                    <a:lnTo>
                      <a:pt x="573" y="310"/>
                    </a:lnTo>
                    <a:lnTo>
                      <a:pt x="558" y="286"/>
                    </a:lnTo>
                    <a:lnTo>
                      <a:pt x="543" y="263"/>
                    </a:lnTo>
                    <a:lnTo>
                      <a:pt x="528" y="241"/>
                    </a:lnTo>
                    <a:lnTo>
                      <a:pt x="512" y="218"/>
                    </a:lnTo>
                    <a:lnTo>
                      <a:pt x="497" y="196"/>
                    </a:lnTo>
                    <a:lnTo>
                      <a:pt x="482" y="171"/>
                    </a:lnTo>
                    <a:lnTo>
                      <a:pt x="468" y="147"/>
                    </a:lnTo>
                    <a:lnTo>
                      <a:pt x="478" y="97"/>
                    </a:lnTo>
                    <a:lnTo>
                      <a:pt x="499" y="57"/>
                    </a:lnTo>
                    <a:lnTo>
                      <a:pt x="524" y="27"/>
                    </a:lnTo>
                    <a:lnTo>
                      <a:pt x="557" y="8"/>
                    </a:lnTo>
                    <a:lnTo>
                      <a:pt x="589" y="0"/>
                    </a:lnTo>
                    <a:lnTo>
                      <a:pt x="626" y="5"/>
                    </a:lnTo>
                    <a:lnTo>
                      <a:pt x="662" y="25"/>
                    </a:lnTo>
                    <a:lnTo>
                      <a:pt x="696" y="6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39" name="Freeform 658">
                <a:extLst>
                  <a:ext uri="{FF2B5EF4-FFF2-40B4-BE49-F238E27FC236}">
                    <a16:creationId xmlns:a16="http://schemas.microsoft.com/office/drawing/2014/main" id="{AF826BCC-A6BC-6242-944E-A694A29FE813}"/>
                  </a:ext>
                </a:extLst>
              </p:cNvPr>
              <p:cNvSpPr>
                <a:spLocks/>
              </p:cNvSpPr>
              <p:nvPr/>
            </p:nvSpPr>
            <p:spPr bwMode="auto">
              <a:xfrm>
                <a:off x="4385" y="3136"/>
                <a:ext cx="366" cy="249"/>
              </a:xfrm>
              <a:custGeom>
                <a:avLst/>
                <a:gdLst>
                  <a:gd name="T0" fmla="*/ 342 w 732"/>
                  <a:gd name="T1" fmla="*/ 82 h 498"/>
                  <a:gd name="T2" fmla="*/ 361 w 732"/>
                  <a:gd name="T3" fmla="*/ 159 h 498"/>
                  <a:gd name="T4" fmla="*/ 366 w 732"/>
                  <a:gd name="T5" fmla="*/ 210 h 498"/>
                  <a:gd name="T6" fmla="*/ 341 w 732"/>
                  <a:gd name="T7" fmla="*/ 240 h 498"/>
                  <a:gd name="T8" fmla="*/ 237 w 732"/>
                  <a:gd name="T9" fmla="*/ 242 h 498"/>
                  <a:gd name="T10" fmla="*/ 142 w 732"/>
                  <a:gd name="T11" fmla="*/ 221 h 498"/>
                  <a:gd name="T12" fmla="*/ 90 w 732"/>
                  <a:gd name="T13" fmla="*/ 192 h 498"/>
                  <a:gd name="T14" fmla="*/ 53 w 732"/>
                  <a:gd name="T15" fmla="*/ 154 h 498"/>
                  <a:gd name="T16" fmla="*/ 14 w 732"/>
                  <a:gd name="T17" fmla="*/ 125 h 498"/>
                  <a:gd name="T18" fmla="*/ 0 w 732"/>
                  <a:gd name="T19" fmla="*/ 108 h 498"/>
                  <a:gd name="T20" fmla="*/ 6 w 732"/>
                  <a:gd name="T21" fmla="*/ 92 h 498"/>
                  <a:gd name="T22" fmla="*/ 27 w 732"/>
                  <a:gd name="T23" fmla="*/ 84 h 498"/>
                  <a:gd name="T24" fmla="*/ 37 w 732"/>
                  <a:gd name="T25" fmla="*/ 72 h 498"/>
                  <a:gd name="T26" fmla="*/ 38 w 732"/>
                  <a:gd name="T27" fmla="*/ 52 h 498"/>
                  <a:gd name="T28" fmla="*/ 50 w 732"/>
                  <a:gd name="T29" fmla="*/ 43 h 498"/>
                  <a:gd name="T30" fmla="*/ 67 w 732"/>
                  <a:gd name="T31" fmla="*/ 47 h 498"/>
                  <a:gd name="T32" fmla="*/ 69 w 732"/>
                  <a:gd name="T33" fmla="*/ 37 h 498"/>
                  <a:gd name="T34" fmla="*/ 75 w 732"/>
                  <a:gd name="T35" fmla="*/ 21 h 498"/>
                  <a:gd name="T36" fmla="*/ 92 w 732"/>
                  <a:gd name="T37" fmla="*/ 26 h 498"/>
                  <a:gd name="T38" fmla="*/ 110 w 732"/>
                  <a:gd name="T39" fmla="*/ 49 h 498"/>
                  <a:gd name="T40" fmla="*/ 117 w 732"/>
                  <a:gd name="T41" fmla="*/ 72 h 498"/>
                  <a:gd name="T42" fmla="*/ 120 w 732"/>
                  <a:gd name="T43" fmla="*/ 76 h 498"/>
                  <a:gd name="T44" fmla="*/ 123 w 732"/>
                  <a:gd name="T45" fmla="*/ 75 h 498"/>
                  <a:gd name="T46" fmla="*/ 127 w 732"/>
                  <a:gd name="T47" fmla="*/ 80 h 498"/>
                  <a:gd name="T48" fmla="*/ 142 w 732"/>
                  <a:gd name="T49" fmla="*/ 117 h 498"/>
                  <a:gd name="T50" fmla="*/ 170 w 732"/>
                  <a:gd name="T51" fmla="*/ 154 h 498"/>
                  <a:gd name="T52" fmla="*/ 205 w 732"/>
                  <a:gd name="T53" fmla="*/ 168 h 498"/>
                  <a:gd name="T54" fmla="*/ 257 w 732"/>
                  <a:gd name="T55" fmla="*/ 169 h 498"/>
                  <a:gd name="T56" fmla="*/ 284 w 732"/>
                  <a:gd name="T57" fmla="*/ 154 h 498"/>
                  <a:gd name="T58" fmla="*/ 269 w 732"/>
                  <a:gd name="T59" fmla="*/ 131 h 498"/>
                  <a:gd name="T60" fmla="*/ 253 w 732"/>
                  <a:gd name="T61" fmla="*/ 107 h 498"/>
                  <a:gd name="T62" fmla="*/ 238 w 732"/>
                  <a:gd name="T63" fmla="*/ 83 h 498"/>
                  <a:gd name="T64" fmla="*/ 235 w 732"/>
                  <a:gd name="T65" fmla="*/ 46 h 498"/>
                  <a:gd name="T66" fmla="*/ 255 w 732"/>
                  <a:gd name="T67" fmla="*/ 12 h 498"/>
                  <a:gd name="T68" fmla="*/ 283 w 732"/>
                  <a:gd name="T69" fmla="*/ 0 h 498"/>
                  <a:gd name="T70" fmla="*/ 317 w 732"/>
                  <a:gd name="T71" fmla="*/ 14 h 4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2"/>
                  <a:gd name="T109" fmla="*/ 0 h 498"/>
                  <a:gd name="T110" fmla="*/ 732 w 732"/>
                  <a:gd name="T111" fmla="*/ 498 h 4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2" h="498">
                    <a:moveTo>
                      <a:pt x="667" y="64"/>
                    </a:moveTo>
                    <a:lnTo>
                      <a:pt x="684" y="164"/>
                    </a:lnTo>
                    <a:lnTo>
                      <a:pt x="704" y="249"/>
                    </a:lnTo>
                    <a:lnTo>
                      <a:pt x="721" y="318"/>
                    </a:lnTo>
                    <a:lnTo>
                      <a:pt x="732" y="376"/>
                    </a:lnTo>
                    <a:lnTo>
                      <a:pt x="731" y="419"/>
                    </a:lnTo>
                    <a:lnTo>
                      <a:pt x="716" y="454"/>
                    </a:lnTo>
                    <a:lnTo>
                      <a:pt x="681" y="479"/>
                    </a:lnTo>
                    <a:lnTo>
                      <a:pt x="623" y="498"/>
                    </a:lnTo>
                    <a:lnTo>
                      <a:pt x="475" y="484"/>
                    </a:lnTo>
                    <a:lnTo>
                      <a:pt x="365" y="466"/>
                    </a:lnTo>
                    <a:lnTo>
                      <a:pt x="283" y="442"/>
                    </a:lnTo>
                    <a:lnTo>
                      <a:pt x="225" y="416"/>
                    </a:lnTo>
                    <a:lnTo>
                      <a:pt x="180" y="383"/>
                    </a:lnTo>
                    <a:lnTo>
                      <a:pt x="144" y="348"/>
                    </a:lnTo>
                    <a:lnTo>
                      <a:pt x="106" y="308"/>
                    </a:lnTo>
                    <a:lnTo>
                      <a:pt x="62" y="267"/>
                    </a:lnTo>
                    <a:lnTo>
                      <a:pt x="28" y="251"/>
                    </a:lnTo>
                    <a:lnTo>
                      <a:pt x="8" y="233"/>
                    </a:lnTo>
                    <a:lnTo>
                      <a:pt x="0" y="216"/>
                    </a:lnTo>
                    <a:lnTo>
                      <a:pt x="2" y="199"/>
                    </a:lnTo>
                    <a:lnTo>
                      <a:pt x="12" y="184"/>
                    </a:lnTo>
                    <a:lnTo>
                      <a:pt x="30" y="173"/>
                    </a:lnTo>
                    <a:lnTo>
                      <a:pt x="55" y="168"/>
                    </a:lnTo>
                    <a:lnTo>
                      <a:pt x="89" y="170"/>
                    </a:lnTo>
                    <a:lnTo>
                      <a:pt x="74" y="143"/>
                    </a:lnTo>
                    <a:lnTo>
                      <a:pt x="70" y="120"/>
                    </a:lnTo>
                    <a:lnTo>
                      <a:pt x="75" y="103"/>
                    </a:lnTo>
                    <a:lnTo>
                      <a:pt x="86" y="93"/>
                    </a:lnTo>
                    <a:lnTo>
                      <a:pt x="100" y="86"/>
                    </a:lnTo>
                    <a:lnTo>
                      <a:pt x="116" y="86"/>
                    </a:lnTo>
                    <a:lnTo>
                      <a:pt x="133" y="93"/>
                    </a:lnTo>
                    <a:lnTo>
                      <a:pt x="148" y="107"/>
                    </a:lnTo>
                    <a:lnTo>
                      <a:pt x="138" y="73"/>
                    </a:lnTo>
                    <a:lnTo>
                      <a:pt x="140" y="53"/>
                    </a:lnTo>
                    <a:lnTo>
                      <a:pt x="149" y="41"/>
                    </a:lnTo>
                    <a:lnTo>
                      <a:pt x="166" y="43"/>
                    </a:lnTo>
                    <a:lnTo>
                      <a:pt x="184" y="51"/>
                    </a:lnTo>
                    <a:lnTo>
                      <a:pt x="204" y="70"/>
                    </a:lnTo>
                    <a:lnTo>
                      <a:pt x="220" y="97"/>
                    </a:lnTo>
                    <a:lnTo>
                      <a:pt x="234" y="130"/>
                    </a:lnTo>
                    <a:lnTo>
                      <a:pt x="235" y="144"/>
                    </a:lnTo>
                    <a:lnTo>
                      <a:pt x="239" y="150"/>
                    </a:lnTo>
                    <a:lnTo>
                      <a:pt x="240" y="152"/>
                    </a:lnTo>
                    <a:lnTo>
                      <a:pt x="244" y="152"/>
                    </a:lnTo>
                    <a:lnTo>
                      <a:pt x="247" y="150"/>
                    </a:lnTo>
                    <a:lnTo>
                      <a:pt x="250" y="153"/>
                    </a:lnTo>
                    <a:lnTo>
                      <a:pt x="254" y="159"/>
                    </a:lnTo>
                    <a:lnTo>
                      <a:pt x="258" y="174"/>
                    </a:lnTo>
                    <a:lnTo>
                      <a:pt x="284" y="234"/>
                    </a:lnTo>
                    <a:lnTo>
                      <a:pt x="311" y="278"/>
                    </a:lnTo>
                    <a:lnTo>
                      <a:pt x="339" y="308"/>
                    </a:lnTo>
                    <a:lnTo>
                      <a:pt x="372" y="327"/>
                    </a:lnTo>
                    <a:lnTo>
                      <a:pt x="410" y="336"/>
                    </a:lnTo>
                    <a:lnTo>
                      <a:pt x="456" y="340"/>
                    </a:lnTo>
                    <a:lnTo>
                      <a:pt x="514" y="337"/>
                    </a:lnTo>
                    <a:lnTo>
                      <a:pt x="584" y="335"/>
                    </a:lnTo>
                    <a:lnTo>
                      <a:pt x="568" y="308"/>
                    </a:lnTo>
                    <a:lnTo>
                      <a:pt x="553" y="284"/>
                    </a:lnTo>
                    <a:lnTo>
                      <a:pt x="538" y="261"/>
                    </a:lnTo>
                    <a:lnTo>
                      <a:pt x="523" y="238"/>
                    </a:lnTo>
                    <a:lnTo>
                      <a:pt x="506" y="214"/>
                    </a:lnTo>
                    <a:lnTo>
                      <a:pt x="491" y="190"/>
                    </a:lnTo>
                    <a:lnTo>
                      <a:pt x="476" y="165"/>
                    </a:lnTo>
                    <a:lnTo>
                      <a:pt x="461" y="142"/>
                    </a:lnTo>
                    <a:lnTo>
                      <a:pt x="470" y="91"/>
                    </a:lnTo>
                    <a:lnTo>
                      <a:pt x="487" y="53"/>
                    </a:lnTo>
                    <a:lnTo>
                      <a:pt x="510" y="24"/>
                    </a:lnTo>
                    <a:lnTo>
                      <a:pt x="538" y="6"/>
                    </a:lnTo>
                    <a:lnTo>
                      <a:pt x="566" y="0"/>
                    </a:lnTo>
                    <a:lnTo>
                      <a:pt x="599" y="8"/>
                    </a:lnTo>
                    <a:lnTo>
                      <a:pt x="633" y="28"/>
                    </a:lnTo>
                    <a:lnTo>
                      <a:pt x="667" y="64"/>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0" name="Freeform 659">
                <a:extLst>
                  <a:ext uri="{FF2B5EF4-FFF2-40B4-BE49-F238E27FC236}">
                    <a16:creationId xmlns:a16="http://schemas.microsoft.com/office/drawing/2014/main" id="{39C5FE53-B9D9-894D-9795-0536245AB024}"/>
                  </a:ext>
                </a:extLst>
              </p:cNvPr>
              <p:cNvSpPr>
                <a:spLocks/>
              </p:cNvSpPr>
              <p:nvPr/>
            </p:nvSpPr>
            <p:spPr bwMode="auto">
              <a:xfrm>
                <a:off x="4391" y="3138"/>
                <a:ext cx="355" cy="239"/>
              </a:xfrm>
              <a:custGeom>
                <a:avLst/>
                <a:gdLst>
                  <a:gd name="T0" fmla="*/ 328 w 710"/>
                  <a:gd name="T1" fmla="*/ 83 h 478"/>
                  <a:gd name="T2" fmla="*/ 348 w 710"/>
                  <a:gd name="T3" fmla="*/ 156 h 478"/>
                  <a:gd name="T4" fmla="*/ 355 w 710"/>
                  <a:gd name="T5" fmla="*/ 201 h 478"/>
                  <a:gd name="T6" fmla="*/ 331 w 710"/>
                  <a:gd name="T7" fmla="*/ 229 h 478"/>
                  <a:gd name="T8" fmla="*/ 227 w 710"/>
                  <a:gd name="T9" fmla="*/ 232 h 478"/>
                  <a:gd name="T10" fmla="*/ 132 w 710"/>
                  <a:gd name="T11" fmla="*/ 209 h 478"/>
                  <a:gd name="T12" fmla="*/ 82 w 710"/>
                  <a:gd name="T13" fmla="*/ 178 h 478"/>
                  <a:gd name="T14" fmla="*/ 50 w 710"/>
                  <a:gd name="T15" fmla="*/ 147 h 478"/>
                  <a:gd name="T16" fmla="*/ 15 w 710"/>
                  <a:gd name="T17" fmla="*/ 125 h 478"/>
                  <a:gd name="T18" fmla="*/ 0 w 710"/>
                  <a:gd name="T19" fmla="*/ 108 h 478"/>
                  <a:gd name="T20" fmla="*/ 6 w 710"/>
                  <a:gd name="T21" fmla="*/ 92 h 478"/>
                  <a:gd name="T22" fmla="*/ 28 w 710"/>
                  <a:gd name="T23" fmla="*/ 85 h 478"/>
                  <a:gd name="T24" fmla="*/ 38 w 710"/>
                  <a:gd name="T25" fmla="*/ 72 h 478"/>
                  <a:gd name="T26" fmla="*/ 39 w 710"/>
                  <a:gd name="T27" fmla="*/ 54 h 478"/>
                  <a:gd name="T28" fmla="*/ 52 w 710"/>
                  <a:gd name="T29" fmla="*/ 47 h 478"/>
                  <a:gd name="T30" fmla="*/ 67 w 710"/>
                  <a:gd name="T31" fmla="*/ 52 h 478"/>
                  <a:gd name="T32" fmla="*/ 70 w 710"/>
                  <a:gd name="T33" fmla="*/ 43 h 478"/>
                  <a:gd name="T34" fmla="*/ 77 w 710"/>
                  <a:gd name="T35" fmla="*/ 30 h 478"/>
                  <a:gd name="T36" fmla="*/ 92 w 710"/>
                  <a:gd name="T37" fmla="*/ 36 h 478"/>
                  <a:gd name="T38" fmla="*/ 107 w 710"/>
                  <a:gd name="T39" fmla="*/ 58 h 478"/>
                  <a:gd name="T40" fmla="*/ 113 w 710"/>
                  <a:gd name="T41" fmla="*/ 80 h 478"/>
                  <a:gd name="T42" fmla="*/ 116 w 710"/>
                  <a:gd name="T43" fmla="*/ 82 h 478"/>
                  <a:gd name="T44" fmla="*/ 118 w 710"/>
                  <a:gd name="T45" fmla="*/ 77 h 478"/>
                  <a:gd name="T46" fmla="*/ 121 w 710"/>
                  <a:gd name="T47" fmla="*/ 78 h 478"/>
                  <a:gd name="T48" fmla="*/ 136 w 710"/>
                  <a:gd name="T49" fmla="*/ 115 h 478"/>
                  <a:gd name="T50" fmla="*/ 163 w 710"/>
                  <a:gd name="T51" fmla="*/ 154 h 478"/>
                  <a:gd name="T52" fmla="*/ 200 w 710"/>
                  <a:gd name="T53" fmla="*/ 168 h 478"/>
                  <a:gd name="T54" fmla="*/ 254 w 710"/>
                  <a:gd name="T55" fmla="*/ 168 h 478"/>
                  <a:gd name="T56" fmla="*/ 282 w 710"/>
                  <a:gd name="T57" fmla="*/ 154 h 478"/>
                  <a:gd name="T58" fmla="*/ 267 w 710"/>
                  <a:gd name="T59" fmla="*/ 129 h 478"/>
                  <a:gd name="T60" fmla="*/ 251 w 710"/>
                  <a:gd name="T61" fmla="*/ 104 h 478"/>
                  <a:gd name="T62" fmla="*/ 235 w 710"/>
                  <a:gd name="T63" fmla="*/ 79 h 478"/>
                  <a:gd name="T64" fmla="*/ 232 w 710"/>
                  <a:gd name="T65" fmla="*/ 42 h 478"/>
                  <a:gd name="T66" fmla="*/ 248 w 710"/>
                  <a:gd name="T67" fmla="*/ 10 h 478"/>
                  <a:gd name="T68" fmla="*/ 272 w 710"/>
                  <a:gd name="T69" fmla="*/ 0 h 478"/>
                  <a:gd name="T70" fmla="*/ 302 w 710"/>
                  <a:gd name="T71" fmla="*/ 15 h 4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0"/>
                  <a:gd name="T109" fmla="*/ 0 h 478"/>
                  <a:gd name="T110" fmla="*/ 710 w 710"/>
                  <a:gd name="T111" fmla="*/ 478 h 4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0" h="478">
                    <a:moveTo>
                      <a:pt x="637" y="66"/>
                    </a:moveTo>
                    <a:lnTo>
                      <a:pt x="655" y="165"/>
                    </a:lnTo>
                    <a:lnTo>
                      <a:pt x="676" y="247"/>
                    </a:lnTo>
                    <a:lnTo>
                      <a:pt x="696" y="311"/>
                    </a:lnTo>
                    <a:lnTo>
                      <a:pt x="708" y="362"/>
                    </a:lnTo>
                    <a:lnTo>
                      <a:pt x="710" y="401"/>
                    </a:lnTo>
                    <a:lnTo>
                      <a:pt x="696" y="432"/>
                    </a:lnTo>
                    <a:lnTo>
                      <a:pt x="661" y="457"/>
                    </a:lnTo>
                    <a:lnTo>
                      <a:pt x="602" y="478"/>
                    </a:lnTo>
                    <a:lnTo>
                      <a:pt x="454" y="463"/>
                    </a:lnTo>
                    <a:lnTo>
                      <a:pt x="344" y="443"/>
                    </a:lnTo>
                    <a:lnTo>
                      <a:pt x="263" y="417"/>
                    </a:lnTo>
                    <a:lnTo>
                      <a:pt x="207" y="388"/>
                    </a:lnTo>
                    <a:lnTo>
                      <a:pt x="164" y="356"/>
                    </a:lnTo>
                    <a:lnTo>
                      <a:pt x="132" y="324"/>
                    </a:lnTo>
                    <a:lnTo>
                      <a:pt x="100" y="293"/>
                    </a:lnTo>
                    <a:lnTo>
                      <a:pt x="64" y="267"/>
                    </a:lnTo>
                    <a:lnTo>
                      <a:pt x="30" y="250"/>
                    </a:lnTo>
                    <a:lnTo>
                      <a:pt x="10" y="233"/>
                    </a:lnTo>
                    <a:lnTo>
                      <a:pt x="0" y="215"/>
                    </a:lnTo>
                    <a:lnTo>
                      <a:pt x="2" y="199"/>
                    </a:lnTo>
                    <a:lnTo>
                      <a:pt x="12" y="184"/>
                    </a:lnTo>
                    <a:lnTo>
                      <a:pt x="31" y="174"/>
                    </a:lnTo>
                    <a:lnTo>
                      <a:pt x="56" y="169"/>
                    </a:lnTo>
                    <a:lnTo>
                      <a:pt x="90" y="171"/>
                    </a:lnTo>
                    <a:lnTo>
                      <a:pt x="75" y="144"/>
                    </a:lnTo>
                    <a:lnTo>
                      <a:pt x="73" y="123"/>
                    </a:lnTo>
                    <a:lnTo>
                      <a:pt x="78" y="108"/>
                    </a:lnTo>
                    <a:lnTo>
                      <a:pt x="90" y="99"/>
                    </a:lnTo>
                    <a:lnTo>
                      <a:pt x="104" y="94"/>
                    </a:lnTo>
                    <a:lnTo>
                      <a:pt x="120" y="95"/>
                    </a:lnTo>
                    <a:lnTo>
                      <a:pt x="134" y="103"/>
                    </a:lnTo>
                    <a:lnTo>
                      <a:pt x="145" y="116"/>
                    </a:lnTo>
                    <a:lnTo>
                      <a:pt x="139" y="85"/>
                    </a:lnTo>
                    <a:lnTo>
                      <a:pt x="143" y="67"/>
                    </a:lnTo>
                    <a:lnTo>
                      <a:pt x="153" y="59"/>
                    </a:lnTo>
                    <a:lnTo>
                      <a:pt x="168" y="62"/>
                    </a:lnTo>
                    <a:lnTo>
                      <a:pt x="184" y="72"/>
                    </a:lnTo>
                    <a:lnTo>
                      <a:pt x="202" y="91"/>
                    </a:lnTo>
                    <a:lnTo>
                      <a:pt x="214" y="116"/>
                    </a:lnTo>
                    <a:lnTo>
                      <a:pt x="224" y="148"/>
                    </a:lnTo>
                    <a:lnTo>
                      <a:pt x="227" y="160"/>
                    </a:lnTo>
                    <a:lnTo>
                      <a:pt x="229" y="164"/>
                    </a:lnTo>
                    <a:lnTo>
                      <a:pt x="232" y="163"/>
                    </a:lnTo>
                    <a:lnTo>
                      <a:pt x="234" y="159"/>
                    </a:lnTo>
                    <a:lnTo>
                      <a:pt x="237" y="154"/>
                    </a:lnTo>
                    <a:lnTo>
                      <a:pt x="239" y="153"/>
                    </a:lnTo>
                    <a:lnTo>
                      <a:pt x="243" y="156"/>
                    </a:lnTo>
                    <a:lnTo>
                      <a:pt x="247" y="170"/>
                    </a:lnTo>
                    <a:lnTo>
                      <a:pt x="271" y="230"/>
                    </a:lnTo>
                    <a:lnTo>
                      <a:pt x="297" y="277"/>
                    </a:lnTo>
                    <a:lnTo>
                      <a:pt x="326" y="307"/>
                    </a:lnTo>
                    <a:lnTo>
                      <a:pt x="361" y="327"/>
                    </a:lnTo>
                    <a:lnTo>
                      <a:pt x="400" y="336"/>
                    </a:lnTo>
                    <a:lnTo>
                      <a:pt x="449" y="338"/>
                    </a:lnTo>
                    <a:lnTo>
                      <a:pt x="508" y="336"/>
                    </a:lnTo>
                    <a:lnTo>
                      <a:pt x="579" y="333"/>
                    </a:lnTo>
                    <a:lnTo>
                      <a:pt x="563" y="307"/>
                    </a:lnTo>
                    <a:lnTo>
                      <a:pt x="548" y="282"/>
                    </a:lnTo>
                    <a:lnTo>
                      <a:pt x="533" y="257"/>
                    </a:lnTo>
                    <a:lnTo>
                      <a:pt x="518" y="233"/>
                    </a:lnTo>
                    <a:lnTo>
                      <a:pt x="502" y="208"/>
                    </a:lnTo>
                    <a:lnTo>
                      <a:pt x="486" y="183"/>
                    </a:lnTo>
                    <a:lnTo>
                      <a:pt x="471" y="158"/>
                    </a:lnTo>
                    <a:lnTo>
                      <a:pt x="458" y="134"/>
                    </a:lnTo>
                    <a:lnTo>
                      <a:pt x="465" y="84"/>
                    </a:lnTo>
                    <a:lnTo>
                      <a:pt x="479" y="46"/>
                    </a:lnTo>
                    <a:lnTo>
                      <a:pt x="496" y="19"/>
                    </a:lnTo>
                    <a:lnTo>
                      <a:pt x="519" y="4"/>
                    </a:lnTo>
                    <a:lnTo>
                      <a:pt x="544" y="0"/>
                    </a:lnTo>
                    <a:lnTo>
                      <a:pt x="573" y="9"/>
                    </a:lnTo>
                    <a:lnTo>
                      <a:pt x="603" y="30"/>
                    </a:lnTo>
                    <a:lnTo>
                      <a:pt x="637" y="66"/>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1" name="Freeform 660">
                <a:extLst>
                  <a:ext uri="{FF2B5EF4-FFF2-40B4-BE49-F238E27FC236}">
                    <a16:creationId xmlns:a16="http://schemas.microsoft.com/office/drawing/2014/main" id="{02C84F6D-1523-DA4E-B456-F5861BF8D447}"/>
                  </a:ext>
                </a:extLst>
              </p:cNvPr>
              <p:cNvSpPr>
                <a:spLocks/>
              </p:cNvSpPr>
              <p:nvPr/>
            </p:nvSpPr>
            <p:spPr bwMode="auto">
              <a:xfrm>
                <a:off x="4397" y="3140"/>
                <a:ext cx="343" cy="230"/>
              </a:xfrm>
              <a:custGeom>
                <a:avLst/>
                <a:gdLst>
                  <a:gd name="T0" fmla="*/ 312 w 687"/>
                  <a:gd name="T1" fmla="*/ 84 h 459"/>
                  <a:gd name="T2" fmla="*/ 335 w 687"/>
                  <a:gd name="T3" fmla="*/ 152 h 459"/>
                  <a:gd name="T4" fmla="*/ 343 w 687"/>
                  <a:gd name="T5" fmla="*/ 192 h 459"/>
                  <a:gd name="T6" fmla="*/ 320 w 687"/>
                  <a:gd name="T7" fmla="*/ 218 h 459"/>
                  <a:gd name="T8" fmla="*/ 216 w 687"/>
                  <a:gd name="T9" fmla="*/ 222 h 459"/>
                  <a:gd name="T10" fmla="*/ 121 w 687"/>
                  <a:gd name="T11" fmla="*/ 196 h 459"/>
                  <a:gd name="T12" fmla="*/ 73 w 687"/>
                  <a:gd name="T13" fmla="*/ 164 h 459"/>
                  <a:gd name="T14" fmla="*/ 46 w 687"/>
                  <a:gd name="T15" fmla="*/ 138 h 459"/>
                  <a:gd name="T16" fmla="*/ 15 w 687"/>
                  <a:gd name="T17" fmla="*/ 124 h 459"/>
                  <a:gd name="T18" fmla="*/ 0 w 687"/>
                  <a:gd name="T19" fmla="*/ 107 h 459"/>
                  <a:gd name="T20" fmla="*/ 6 w 687"/>
                  <a:gd name="T21" fmla="*/ 92 h 459"/>
                  <a:gd name="T22" fmla="*/ 28 w 687"/>
                  <a:gd name="T23" fmla="*/ 85 h 459"/>
                  <a:gd name="T24" fmla="*/ 38 w 687"/>
                  <a:gd name="T25" fmla="*/ 72 h 459"/>
                  <a:gd name="T26" fmla="*/ 40 w 687"/>
                  <a:gd name="T27" fmla="*/ 56 h 459"/>
                  <a:gd name="T28" fmla="*/ 54 w 687"/>
                  <a:gd name="T29" fmla="*/ 51 h 459"/>
                  <a:gd name="T30" fmla="*/ 68 w 687"/>
                  <a:gd name="T31" fmla="*/ 57 h 459"/>
                  <a:gd name="T32" fmla="*/ 70 w 687"/>
                  <a:gd name="T33" fmla="*/ 50 h 459"/>
                  <a:gd name="T34" fmla="*/ 79 w 687"/>
                  <a:gd name="T35" fmla="*/ 39 h 459"/>
                  <a:gd name="T36" fmla="*/ 93 w 687"/>
                  <a:gd name="T37" fmla="*/ 47 h 459"/>
                  <a:gd name="T38" fmla="*/ 105 w 687"/>
                  <a:gd name="T39" fmla="*/ 69 h 459"/>
                  <a:gd name="T40" fmla="*/ 108 w 687"/>
                  <a:gd name="T41" fmla="*/ 88 h 459"/>
                  <a:gd name="T42" fmla="*/ 110 w 687"/>
                  <a:gd name="T43" fmla="*/ 87 h 459"/>
                  <a:gd name="T44" fmla="*/ 113 w 687"/>
                  <a:gd name="T45" fmla="*/ 78 h 459"/>
                  <a:gd name="T46" fmla="*/ 116 w 687"/>
                  <a:gd name="T47" fmla="*/ 76 h 459"/>
                  <a:gd name="T48" fmla="*/ 128 w 687"/>
                  <a:gd name="T49" fmla="*/ 114 h 459"/>
                  <a:gd name="T50" fmla="*/ 157 w 687"/>
                  <a:gd name="T51" fmla="*/ 153 h 459"/>
                  <a:gd name="T52" fmla="*/ 196 w 687"/>
                  <a:gd name="T53" fmla="*/ 167 h 459"/>
                  <a:gd name="T54" fmla="*/ 252 w 687"/>
                  <a:gd name="T55" fmla="*/ 168 h 459"/>
                  <a:gd name="T56" fmla="*/ 279 w 687"/>
                  <a:gd name="T57" fmla="*/ 154 h 459"/>
                  <a:gd name="T58" fmla="*/ 264 w 687"/>
                  <a:gd name="T59" fmla="*/ 127 h 459"/>
                  <a:gd name="T60" fmla="*/ 248 w 687"/>
                  <a:gd name="T61" fmla="*/ 102 h 459"/>
                  <a:gd name="T62" fmla="*/ 233 w 687"/>
                  <a:gd name="T63" fmla="*/ 76 h 459"/>
                  <a:gd name="T64" fmla="*/ 229 w 687"/>
                  <a:gd name="T65" fmla="*/ 39 h 459"/>
                  <a:gd name="T66" fmla="*/ 242 w 687"/>
                  <a:gd name="T67" fmla="*/ 8 h 459"/>
                  <a:gd name="T68" fmla="*/ 261 w 687"/>
                  <a:gd name="T69" fmla="*/ 0 h 459"/>
                  <a:gd name="T70" fmla="*/ 287 w 687"/>
                  <a:gd name="T71" fmla="*/ 17 h 45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7"/>
                  <a:gd name="T109" fmla="*/ 0 h 459"/>
                  <a:gd name="T110" fmla="*/ 687 w 687"/>
                  <a:gd name="T111" fmla="*/ 459 h 45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7" h="459">
                    <a:moveTo>
                      <a:pt x="606" y="71"/>
                    </a:moveTo>
                    <a:lnTo>
                      <a:pt x="625" y="167"/>
                    </a:lnTo>
                    <a:lnTo>
                      <a:pt x="649" y="245"/>
                    </a:lnTo>
                    <a:lnTo>
                      <a:pt x="670" y="304"/>
                    </a:lnTo>
                    <a:lnTo>
                      <a:pt x="685" y="350"/>
                    </a:lnTo>
                    <a:lnTo>
                      <a:pt x="687" y="384"/>
                    </a:lnTo>
                    <a:lnTo>
                      <a:pt x="676" y="412"/>
                    </a:lnTo>
                    <a:lnTo>
                      <a:pt x="641" y="436"/>
                    </a:lnTo>
                    <a:lnTo>
                      <a:pt x="581" y="459"/>
                    </a:lnTo>
                    <a:lnTo>
                      <a:pt x="433" y="443"/>
                    </a:lnTo>
                    <a:lnTo>
                      <a:pt x="322" y="419"/>
                    </a:lnTo>
                    <a:lnTo>
                      <a:pt x="242" y="391"/>
                    </a:lnTo>
                    <a:lnTo>
                      <a:pt x="187" y="359"/>
                    </a:lnTo>
                    <a:lnTo>
                      <a:pt x="147" y="327"/>
                    </a:lnTo>
                    <a:lnTo>
                      <a:pt x="118" y="299"/>
                    </a:lnTo>
                    <a:lnTo>
                      <a:pt x="92" y="276"/>
                    </a:lnTo>
                    <a:lnTo>
                      <a:pt x="63" y="264"/>
                    </a:lnTo>
                    <a:lnTo>
                      <a:pt x="30" y="248"/>
                    </a:lnTo>
                    <a:lnTo>
                      <a:pt x="10" y="230"/>
                    </a:lnTo>
                    <a:lnTo>
                      <a:pt x="0" y="213"/>
                    </a:lnTo>
                    <a:lnTo>
                      <a:pt x="3" y="198"/>
                    </a:lnTo>
                    <a:lnTo>
                      <a:pt x="13" y="184"/>
                    </a:lnTo>
                    <a:lnTo>
                      <a:pt x="32" y="174"/>
                    </a:lnTo>
                    <a:lnTo>
                      <a:pt x="57" y="169"/>
                    </a:lnTo>
                    <a:lnTo>
                      <a:pt x="90" y="171"/>
                    </a:lnTo>
                    <a:lnTo>
                      <a:pt x="77" y="144"/>
                    </a:lnTo>
                    <a:lnTo>
                      <a:pt x="75" y="125"/>
                    </a:lnTo>
                    <a:lnTo>
                      <a:pt x="80" y="111"/>
                    </a:lnTo>
                    <a:lnTo>
                      <a:pt x="94" y="105"/>
                    </a:lnTo>
                    <a:lnTo>
                      <a:pt x="108" y="102"/>
                    </a:lnTo>
                    <a:lnTo>
                      <a:pt x="124" y="106"/>
                    </a:lnTo>
                    <a:lnTo>
                      <a:pt x="136" y="114"/>
                    </a:lnTo>
                    <a:lnTo>
                      <a:pt x="144" y="129"/>
                    </a:lnTo>
                    <a:lnTo>
                      <a:pt x="141" y="99"/>
                    </a:lnTo>
                    <a:lnTo>
                      <a:pt x="147" y="82"/>
                    </a:lnTo>
                    <a:lnTo>
                      <a:pt x="158" y="77"/>
                    </a:lnTo>
                    <a:lnTo>
                      <a:pt x="173" y="82"/>
                    </a:lnTo>
                    <a:lnTo>
                      <a:pt x="187" y="94"/>
                    </a:lnTo>
                    <a:lnTo>
                      <a:pt x="201" y="114"/>
                    </a:lnTo>
                    <a:lnTo>
                      <a:pt x="210" y="137"/>
                    </a:lnTo>
                    <a:lnTo>
                      <a:pt x="213" y="166"/>
                    </a:lnTo>
                    <a:lnTo>
                      <a:pt x="216" y="176"/>
                    </a:lnTo>
                    <a:lnTo>
                      <a:pt x="218" y="179"/>
                    </a:lnTo>
                    <a:lnTo>
                      <a:pt x="221" y="174"/>
                    </a:lnTo>
                    <a:lnTo>
                      <a:pt x="223" y="165"/>
                    </a:lnTo>
                    <a:lnTo>
                      <a:pt x="226" y="156"/>
                    </a:lnTo>
                    <a:lnTo>
                      <a:pt x="228" y="151"/>
                    </a:lnTo>
                    <a:lnTo>
                      <a:pt x="232" y="152"/>
                    </a:lnTo>
                    <a:lnTo>
                      <a:pt x="236" y="166"/>
                    </a:lnTo>
                    <a:lnTo>
                      <a:pt x="257" y="228"/>
                    </a:lnTo>
                    <a:lnTo>
                      <a:pt x="284" y="274"/>
                    </a:lnTo>
                    <a:lnTo>
                      <a:pt x="314" y="305"/>
                    </a:lnTo>
                    <a:lnTo>
                      <a:pt x="350" y="325"/>
                    </a:lnTo>
                    <a:lnTo>
                      <a:pt x="393" y="334"/>
                    </a:lnTo>
                    <a:lnTo>
                      <a:pt x="444" y="338"/>
                    </a:lnTo>
                    <a:lnTo>
                      <a:pt x="504" y="335"/>
                    </a:lnTo>
                    <a:lnTo>
                      <a:pt x="576" y="333"/>
                    </a:lnTo>
                    <a:lnTo>
                      <a:pt x="559" y="307"/>
                    </a:lnTo>
                    <a:lnTo>
                      <a:pt x="544" y="280"/>
                    </a:lnTo>
                    <a:lnTo>
                      <a:pt x="528" y="254"/>
                    </a:lnTo>
                    <a:lnTo>
                      <a:pt x="513" y="229"/>
                    </a:lnTo>
                    <a:lnTo>
                      <a:pt x="497" y="203"/>
                    </a:lnTo>
                    <a:lnTo>
                      <a:pt x="482" y="177"/>
                    </a:lnTo>
                    <a:lnTo>
                      <a:pt x="467" y="151"/>
                    </a:lnTo>
                    <a:lnTo>
                      <a:pt x="453" y="126"/>
                    </a:lnTo>
                    <a:lnTo>
                      <a:pt x="459" y="77"/>
                    </a:lnTo>
                    <a:lnTo>
                      <a:pt x="470" y="41"/>
                    </a:lnTo>
                    <a:lnTo>
                      <a:pt x="484" y="15"/>
                    </a:lnTo>
                    <a:lnTo>
                      <a:pt x="503" y="2"/>
                    </a:lnTo>
                    <a:lnTo>
                      <a:pt x="523" y="0"/>
                    </a:lnTo>
                    <a:lnTo>
                      <a:pt x="547" y="11"/>
                    </a:lnTo>
                    <a:lnTo>
                      <a:pt x="575" y="33"/>
                    </a:lnTo>
                    <a:lnTo>
                      <a:pt x="606" y="71"/>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2" name="Freeform 661">
                <a:extLst>
                  <a:ext uri="{FF2B5EF4-FFF2-40B4-BE49-F238E27FC236}">
                    <a16:creationId xmlns:a16="http://schemas.microsoft.com/office/drawing/2014/main" id="{04AC3F04-F48E-BC41-8720-BF4BE2819DF1}"/>
                  </a:ext>
                </a:extLst>
              </p:cNvPr>
              <p:cNvSpPr>
                <a:spLocks/>
              </p:cNvSpPr>
              <p:nvPr/>
            </p:nvSpPr>
            <p:spPr bwMode="auto">
              <a:xfrm>
                <a:off x="4288" y="3368"/>
                <a:ext cx="118" cy="69"/>
              </a:xfrm>
              <a:custGeom>
                <a:avLst/>
                <a:gdLst>
                  <a:gd name="T0" fmla="*/ 17 w 236"/>
                  <a:gd name="T1" fmla="*/ 0 h 138"/>
                  <a:gd name="T2" fmla="*/ 29 w 236"/>
                  <a:gd name="T3" fmla="*/ 3 h 138"/>
                  <a:gd name="T4" fmla="*/ 42 w 236"/>
                  <a:gd name="T5" fmla="*/ 7 h 138"/>
                  <a:gd name="T6" fmla="*/ 54 w 236"/>
                  <a:gd name="T7" fmla="*/ 11 h 138"/>
                  <a:gd name="T8" fmla="*/ 67 w 236"/>
                  <a:gd name="T9" fmla="*/ 15 h 138"/>
                  <a:gd name="T10" fmla="*/ 79 w 236"/>
                  <a:gd name="T11" fmla="*/ 19 h 138"/>
                  <a:gd name="T12" fmla="*/ 92 w 236"/>
                  <a:gd name="T13" fmla="*/ 23 h 138"/>
                  <a:gd name="T14" fmla="*/ 104 w 236"/>
                  <a:gd name="T15" fmla="*/ 27 h 138"/>
                  <a:gd name="T16" fmla="*/ 117 w 236"/>
                  <a:gd name="T17" fmla="*/ 32 h 138"/>
                  <a:gd name="T18" fmla="*/ 118 w 236"/>
                  <a:gd name="T19" fmla="*/ 37 h 138"/>
                  <a:gd name="T20" fmla="*/ 118 w 236"/>
                  <a:gd name="T21" fmla="*/ 42 h 138"/>
                  <a:gd name="T22" fmla="*/ 118 w 236"/>
                  <a:gd name="T23" fmla="*/ 47 h 138"/>
                  <a:gd name="T24" fmla="*/ 118 w 236"/>
                  <a:gd name="T25" fmla="*/ 52 h 138"/>
                  <a:gd name="T26" fmla="*/ 116 w 236"/>
                  <a:gd name="T27" fmla="*/ 56 h 138"/>
                  <a:gd name="T28" fmla="*/ 114 w 236"/>
                  <a:gd name="T29" fmla="*/ 60 h 138"/>
                  <a:gd name="T30" fmla="*/ 111 w 236"/>
                  <a:gd name="T31" fmla="*/ 65 h 138"/>
                  <a:gd name="T32" fmla="*/ 108 w 236"/>
                  <a:gd name="T33" fmla="*/ 69 h 138"/>
                  <a:gd name="T34" fmla="*/ 98 w 236"/>
                  <a:gd name="T35" fmla="*/ 67 h 138"/>
                  <a:gd name="T36" fmla="*/ 88 w 236"/>
                  <a:gd name="T37" fmla="*/ 66 h 138"/>
                  <a:gd name="T38" fmla="*/ 77 w 236"/>
                  <a:gd name="T39" fmla="*/ 65 h 138"/>
                  <a:gd name="T40" fmla="*/ 67 w 236"/>
                  <a:gd name="T41" fmla="*/ 63 h 138"/>
                  <a:gd name="T42" fmla="*/ 56 w 236"/>
                  <a:gd name="T43" fmla="*/ 62 h 138"/>
                  <a:gd name="T44" fmla="*/ 46 w 236"/>
                  <a:gd name="T45" fmla="*/ 61 h 138"/>
                  <a:gd name="T46" fmla="*/ 36 w 236"/>
                  <a:gd name="T47" fmla="*/ 60 h 138"/>
                  <a:gd name="T48" fmla="*/ 27 w 236"/>
                  <a:gd name="T49" fmla="*/ 59 h 138"/>
                  <a:gd name="T50" fmla="*/ 15 w 236"/>
                  <a:gd name="T51" fmla="*/ 52 h 138"/>
                  <a:gd name="T52" fmla="*/ 7 w 236"/>
                  <a:gd name="T53" fmla="*/ 44 h 138"/>
                  <a:gd name="T54" fmla="*/ 3 w 236"/>
                  <a:gd name="T55" fmla="*/ 37 h 138"/>
                  <a:gd name="T56" fmla="*/ 1 w 236"/>
                  <a:gd name="T57" fmla="*/ 29 h 138"/>
                  <a:gd name="T58" fmla="*/ 0 w 236"/>
                  <a:gd name="T59" fmla="*/ 22 h 138"/>
                  <a:gd name="T60" fmla="*/ 4 w 236"/>
                  <a:gd name="T61" fmla="*/ 14 h 138"/>
                  <a:gd name="T62" fmla="*/ 9 w 236"/>
                  <a:gd name="T63" fmla="*/ 6 h 138"/>
                  <a:gd name="T64" fmla="*/ 17 w 236"/>
                  <a:gd name="T65" fmla="*/ 0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6"/>
                  <a:gd name="T100" fmla="*/ 0 h 138"/>
                  <a:gd name="T101" fmla="*/ 236 w 236"/>
                  <a:gd name="T102" fmla="*/ 138 h 1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6" h="138">
                    <a:moveTo>
                      <a:pt x="34" y="0"/>
                    </a:moveTo>
                    <a:lnTo>
                      <a:pt x="58" y="7"/>
                    </a:lnTo>
                    <a:lnTo>
                      <a:pt x="83" y="15"/>
                    </a:lnTo>
                    <a:lnTo>
                      <a:pt x="108" y="22"/>
                    </a:lnTo>
                    <a:lnTo>
                      <a:pt x="133" y="31"/>
                    </a:lnTo>
                    <a:lnTo>
                      <a:pt x="158" y="39"/>
                    </a:lnTo>
                    <a:lnTo>
                      <a:pt x="183" y="47"/>
                    </a:lnTo>
                    <a:lnTo>
                      <a:pt x="208" y="55"/>
                    </a:lnTo>
                    <a:lnTo>
                      <a:pt x="233" y="64"/>
                    </a:lnTo>
                    <a:lnTo>
                      <a:pt x="235" y="74"/>
                    </a:lnTo>
                    <a:lnTo>
                      <a:pt x="236" y="85"/>
                    </a:lnTo>
                    <a:lnTo>
                      <a:pt x="236" y="94"/>
                    </a:lnTo>
                    <a:lnTo>
                      <a:pt x="235" y="104"/>
                    </a:lnTo>
                    <a:lnTo>
                      <a:pt x="231" y="112"/>
                    </a:lnTo>
                    <a:lnTo>
                      <a:pt x="227" y="121"/>
                    </a:lnTo>
                    <a:lnTo>
                      <a:pt x="222" y="129"/>
                    </a:lnTo>
                    <a:lnTo>
                      <a:pt x="216" y="138"/>
                    </a:lnTo>
                    <a:lnTo>
                      <a:pt x="195" y="134"/>
                    </a:lnTo>
                    <a:lnTo>
                      <a:pt x="175" y="131"/>
                    </a:lnTo>
                    <a:lnTo>
                      <a:pt x="153" y="129"/>
                    </a:lnTo>
                    <a:lnTo>
                      <a:pt x="133" y="127"/>
                    </a:lnTo>
                    <a:lnTo>
                      <a:pt x="112" y="124"/>
                    </a:lnTo>
                    <a:lnTo>
                      <a:pt x="92" y="122"/>
                    </a:lnTo>
                    <a:lnTo>
                      <a:pt x="72" y="120"/>
                    </a:lnTo>
                    <a:lnTo>
                      <a:pt x="53" y="119"/>
                    </a:lnTo>
                    <a:lnTo>
                      <a:pt x="30" y="104"/>
                    </a:lnTo>
                    <a:lnTo>
                      <a:pt x="15" y="89"/>
                    </a:lnTo>
                    <a:lnTo>
                      <a:pt x="5" y="74"/>
                    </a:lnTo>
                    <a:lnTo>
                      <a:pt x="1" y="59"/>
                    </a:lnTo>
                    <a:lnTo>
                      <a:pt x="0" y="44"/>
                    </a:lnTo>
                    <a:lnTo>
                      <a:pt x="7" y="28"/>
                    </a:lnTo>
                    <a:lnTo>
                      <a:pt x="17" y="13"/>
                    </a:lnTo>
                    <a:lnTo>
                      <a:pt x="34"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3" name="Freeform 662">
                <a:extLst>
                  <a:ext uri="{FF2B5EF4-FFF2-40B4-BE49-F238E27FC236}">
                    <a16:creationId xmlns:a16="http://schemas.microsoft.com/office/drawing/2014/main" id="{0BF23306-12D9-384C-B774-EF6ED1F5D3EE}"/>
                  </a:ext>
                </a:extLst>
              </p:cNvPr>
              <p:cNvSpPr>
                <a:spLocks/>
              </p:cNvSpPr>
              <p:nvPr/>
            </p:nvSpPr>
            <p:spPr bwMode="auto">
              <a:xfrm>
                <a:off x="4291" y="3370"/>
                <a:ext cx="112" cy="65"/>
              </a:xfrm>
              <a:custGeom>
                <a:avLst/>
                <a:gdLst>
                  <a:gd name="T0" fmla="*/ 16 w 226"/>
                  <a:gd name="T1" fmla="*/ 0 h 131"/>
                  <a:gd name="T2" fmla="*/ 27 w 226"/>
                  <a:gd name="T3" fmla="*/ 4 h 131"/>
                  <a:gd name="T4" fmla="*/ 39 w 226"/>
                  <a:gd name="T5" fmla="*/ 7 h 131"/>
                  <a:gd name="T6" fmla="*/ 51 w 226"/>
                  <a:gd name="T7" fmla="*/ 11 h 131"/>
                  <a:gd name="T8" fmla="*/ 63 w 226"/>
                  <a:gd name="T9" fmla="*/ 15 h 131"/>
                  <a:gd name="T10" fmla="*/ 75 w 226"/>
                  <a:gd name="T11" fmla="*/ 19 h 131"/>
                  <a:gd name="T12" fmla="*/ 87 w 226"/>
                  <a:gd name="T13" fmla="*/ 23 h 131"/>
                  <a:gd name="T14" fmla="*/ 98 w 226"/>
                  <a:gd name="T15" fmla="*/ 26 h 131"/>
                  <a:gd name="T16" fmla="*/ 111 w 226"/>
                  <a:gd name="T17" fmla="*/ 30 h 131"/>
                  <a:gd name="T18" fmla="*/ 112 w 226"/>
                  <a:gd name="T19" fmla="*/ 35 h 131"/>
                  <a:gd name="T20" fmla="*/ 112 w 226"/>
                  <a:gd name="T21" fmla="*/ 40 h 131"/>
                  <a:gd name="T22" fmla="*/ 112 w 226"/>
                  <a:gd name="T23" fmla="*/ 44 h 131"/>
                  <a:gd name="T24" fmla="*/ 112 w 226"/>
                  <a:gd name="T25" fmla="*/ 49 h 131"/>
                  <a:gd name="T26" fmla="*/ 110 w 226"/>
                  <a:gd name="T27" fmla="*/ 53 h 131"/>
                  <a:gd name="T28" fmla="*/ 108 w 226"/>
                  <a:gd name="T29" fmla="*/ 58 h 131"/>
                  <a:gd name="T30" fmla="*/ 105 w 226"/>
                  <a:gd name="T31" fmla="*/ 61 h 131"/>
                  <a:gd name="T32" fmla="*/ 102 w 226"/>
                  <a:gd name="T33" fmla="*/ 65 h 131"/>
                  <a:gd name="T34" fmla="*/ 92 w 226"/>
                  <a:gd name="T35" fmla="*/ 64 h 131"/>
                  <a:gd name="T36" fmla="*/ 82 w 226"/>
                  <a:gd name="T37" fmla="*/ 63 h 131"/>
                  <a:gd name="T38" fmla="*/ 72 w 226"/>
                  <a:gd name="T39" fmla="*/ 61 h 131"/>
                  <a:gd name="T40" fmla="*/ 63 w 226"/>
                  <a:gd name="T41" fmla="*/ 61 h 131"/>
                  <a:gd name="T42" fmla="*/ 53 w 226"/>
                  <a:gd name="T43" fmla="*/ 59 h 131"/>
                  <a:gd name="T44" fmla="*/ 43 w 226"/>
                  <a:gd name="T45" fmla="*/ 58 h 131"/>
                  <a:gd name="T46" fmla="*/ 34 w 226"/>
                  <a:gd name="T47" fmla="*/ 57 h 131"/>
                  <a:gd name="T48" fmla="*/ 24 w 226"/>
                  <a:gd name="T49" fmla="*/ 56 h 131"/>
                  <a:gd name="T50" fmla="*/ 14 w 226"/>
                  <a:gd name="T51" fmla="*/ 49 h 131"/>
                  <a:gd name="T52" fmla="*/ 7 w 226"/>
                  <a:gd name="T53" fmla="*/ 42 h 131"/>
                  <a:gd name="T54" fmla="*/ 2 w 226"/>
                  <a:gd name="T55" fmla="*/ 35 h 131"/>
                  <a:gd name="T56" fmla="*/ 0 w 226"/>
                  <a:gd name="T57" fmla="*/ 28 h 131"/>
                  <a:gd name="T58" fmla="*/ 0 w 226"/>
                  <a:gd name="T59" fmla="*/ 21 h 131"/>
                  <a:gd name="T60" fmla="*/ 2 w 226"/>
                  <a:gd name="T61" fmla="*/ 14 h 131"/>
                  <a:gd name="T62" fmla="*/ 7 w 226"/>
                  <a:gd name="T63" fmla="*/ 7 h 131"/>
                  <a:gd name="T64" fmla="*/ 16 w 226"/>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6"/>
                  <a:gd name="T100" fmla="*/ 0 h 131"/>
                  <a:gd name="T101" fmla="*/ 226 w 226"/>
                  <a:gd name="T102" fmla="*/ 131 h 1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6" h="131">
                    <a:moveTo>
                      <a:pt x="32" y="0"/>
                    </a:moveTo>
                    <a:lnTo>
                      <a:pt x="54" y="8"/>
                    </a:lnTo>
                    <a:lnTo>
                      <a:pt x="79" y="15"/>
                    </a:lnTo>
                    <a:lnTo>
                      <a:pt x="102" y="23"/>
                    </a:lnTo>
                    <a:lnTo>
                      <a:pt x="127" y="31"/>
                    </a:lnTo>
                    <a:lnTo>
                      <a:pt x="151" y="38"/>
                    </a:lnTo>
                    <a:lnTo>
                      <a:pt x="175" y="46"/>
                    </a:lnTo>
                    <a:lnTo>
                      <a:pt x="198" y="53"/>
                    </a:lnTo>
                    <a:lnTo>
                      <a:pt x="223" y="61"/>
                    </a:lnTo>
                    <a:lnTo>
                      <a:pt x="225" y="71"/>
                    </a:lnTo>
                    <a:lnTo>
                      <a:pt x="226" y="81"/>
                    </a:lnTo>
                    <a:lnTo>
                      <a:pt x="225" y="89"/>
                    </a:lnTo>
                    <a:lnTo>
                      <a:pt x="225" y="99"/>
                    </a:lnTo>
                    <a:lnTo>
                      <a:pt x="221" y="107"/>
                    </a:lnTo>
                    <a:lnTo>
                      <a:pt x="217" y="116"/>
                    </a:lnTo>
                    <a:lnTo>
                      <a:pt x="211" y="123"/>
                    </a:lnTo>
                    <a:lnTo>
                      <a:pt x="206" y="131"/>
                    </a:lnTo>
                    <a:lnTo>
                      <a:pt x="186" y="128"/>
                    </a:lnTo>
                    <a:lnTo>
                      <a:pt x="166" y="126"/>
                    </a:lnTo>
                    <a:lnTo>
                      <a:pt x="146" y="123"/>
                    </a:lnTo>
                    <a:lnTo>
                      <a:pt x="127" y="122"/>
                    </a:lnTo>
                    <a:lnTo>
                      <a:pt x="107" y="118"/>
                    </a:lnTo>
                    <a:lnTo>
                      <a:pt x="87" y="117"/>
                    </a:lnTo>
                    <a:lnTo>
                      <a:pt x="68" y="114"/>
                    </a:lnTo>
                    <a:lnTo>
                      <a:pt x="49" y="113"/>
                    </a:lnTo>
                    <a:lnTo>
                      <a:pt x="28" y="98"/>
                    </a:lnTo>
                    <a:lnTo>
                      <a:pt x="14" y="84"/>
                    </a:lnTo>
                    <a:lnTo>
                      <a:pt x="4" y="71"/>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4" name="Freeform 663">
                <a:extLst>
                  <a:ext uri="{FF2B5EF4-FFF2-40B4-BE49-F238E27FC236}">
                    <a16:creationId xmlns:a16="http://schemas.microsoft.com/office/drawing/2014/main" id="{EBC66EA4-2195-DB44-8C58-1D38F8D9B3E0}"/>
                  </a:ext>
                </a:extLst>
              </p:cNvPr>
              <p:cNvSpPr>
                <a:spLocks/>
              </p:cNvSpPr>
              <p:nvPr/>
            </p:nvSpPr>
            <p:spPr bwMode="auto">
              <a:xfrm>
                <a:off x="4293" y="3371"/>
                <a:ext cx="107" cy="62"/>
              </a:xfrm>
              <a:custGeom>
                <a:avLst/>
                <a:gdLst>
                  <a:gd name="T0" fmla="*/ 15 w 215"/>
                  <a:gd name="T1" fmla="*/ 0 h 124"/>
                  <a:gd name="T2" fmla="*/ 26 w 215"/>
                  <a:gd name="T3" fmla="*/ 3 h 124"/>
                  <a:gd name="T4" fmla="*/ 38 w 215"/>
                  <a:gd name="T5" fmla="*/ 7 h 124"/>
                  <a:gd name="T6" fmla="*/ 49 w 215"/>
                  <a:gd name="T7" fmla="*/ 11 h 124"/>
                  <a:gd name="T8" fmla="*/ 61 w 215"/>
                  <a:gd name="T9" fmla="*/ 15 h 124"/>
                  <a:gd name="T10" fmla="*/ 72 w 215"/>
                  <a:gd name="T11" fmla="*/ 18 h 124"/>
                  <a:gd name="T12" fmla="*/ 83 w 215"/>
                  <a:gd name="T13" fmla="*/ 22 h 124"/>
                  <a:gd name="T14" fmla="*/ 95 w 215"/>
                  <a:gd name="T15" fmla="*/ 25 h 124"/>
                  <a:gd name="T16" fmla="*/ 106 w 215"/>
                  <a:gd name="T17" fmla="*/ 29 h 124"/>
                  <a:gd name="T18" fmla="*/ 106 w 215"/>
                  <a:gd name="T19" fmla="*/ 33 h 124"/>
                  <a:gd name="T20" fmla="*/ 107 w 215"/>
                  <a:gd name="T21" fmla="*/ 38 h 124"/>
                  <a:gd name="T22" fmla="*/ 106 w 215"/>
                  <a:gd name="T23" fmla="*/ 43 h 124"/>
                  <a:gd name="T24" fmla="*/ 106 w 215"/>
                  <a:gd name="T25" fmla="*/ 48 h 124"/>
                  <a:gd name="T26" fmla="*/ 105 w 215"/>
                  <a:gd name="T27" fmla="*/ 52 h 124"/>
                  <a:gd name="T28" fmla="*/ 103 w 215"/>
                  <a:gd name="T29" fmla="*/ 55 h 124"/>
                  <a:gd name="T30" fmla="*/ 101 w 215"/>
                  <a:gd name="T31" fmla="*/ 58 h 124"/>
                  <a:gd name="T32" fmla="*/ 99 w 215"/>
                  <a:gd name="T33" fmla="*/ 62 h 124"/>
                  <a:gd name="T34" fmla="*/ 89 w 215"/>
                  <a:gd name="T35" fmla="*/ 61 h 124"/>
                  <a:gd name="T36" fmla="*/ 80 w 215"/>
                  <a:gd name="T37" fmla="*/ 60 h 124"/>
                  <a:gd name="T38" fmla="*/ 70 w 215"/>
                  <a:gd name="T39" fmla="*/ 59 h 124"/>
                  <a:gd name="T40" fmla="*/ 61 w 215"/>
                  <a:gd name="T41" fmla="*/ 58 h 124"/>
                  <a:gd name="T42" fmla="*/ 51 w 215"/>
                  <a:gd name="T43" fmla="*/ 57 h 124"/>
                  <a:gd name="T44" fmla="*/ 42 w 215"/>
                  <a:gd name="T45" fmla="*/ 57 h 124"/>
                  <a:gd name="T46" fmla="*/ 32 w 215"/>
                  <a:gd name="T47" fmla="*/ 55 h 124"/>
                  <a:gd name="T48" fmla="*/ 24 w 215"/>
                  <a:gd name="T49" fmla="*/ 55 h 124"/>
                  <a:gd name="T50" fmla="*/ 14 w 215"/>
                  <a:gd name="T51" fmla="*/ 47 h 124"/>
                  <a:gd name="T52" fmla="*/ 7 w 215"/>
                  <a:gd name="T53" fmla="*/ 41 h 124"/>
                  <a:gd name="T54" fmla="*/ 2 w 215"/>
                  <a:gd name="T55" fmla="*/ 33 h 124"/>
                  <a:gd name="T56" fmla="*/ 0 w 215"/>
                  <a:gd name="T57" fmla="*/ 27 h 124"/>
                  <a:gd name="T58" fmla="*/ 0 w 215"/>
                  <a:gd name="T59" fmla="*/ 20 h 124"/>
                  <a:gd name="T60" fmla="*/ 2 w 215"/>
                  <a:gd name="T61" fmla="*/ 13 h 124"/>
                  <a:gd name="T62" fmla="*/ 7 w 215"/>
                  <a:gd name="T63" fmla="*/ 6 h 124"/>
                  <a:gd name="T64" fmla="*/ 15 w 215"/>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24"/>
                  <a:gd name="T101" fmla="*/ 215 w 215"/>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24">
                    <a:moveTo>
                      <a:pt x="30" y="0"/>
                    </a:moveTo>
                    <a:lnTo>
                      <a:pt x="53" y="6"/>
                    </a:lnTo>
                    <a:lnTo>
                      <a:pt x="76" y="14"/>
                    </a:lnTo>
                    <a:lnTo>
                      <a:pt x="98" y="21"/>
                    </a:lnTo>
                    <a:lnTo>
                      <a:pt x="122" y="29"/>
                    </a:lnTo>
                    <a:lnTo>
                      <a:pt x="144" y="35"/>
                    </a:lnTo>
                    <a:lnTo>
                      <a:pt x="167" y="43"/>
                    </a:lnTo>
                    <a:lnTo>
                      <a:pt x="190" y="50"/>
                    </a:lnTo>
                    <a:lnTo>
                      <a:pt x="213" y="58"/>
                    </a:lnTo>
                    <a:lnTo>
                      <a:pt x="213" y="66"/>
                    </a:lnTo>
                    <a:lnTo>
                      <a:pt x="215" y="76"/>
                    </a:lnTo>
                    <a:lnTo>
                      <a:pt x="213" y="85"/>
                    </a:lnTo>
                    <a:lnTo>
                      <a:pt x="213" y="95"/>
                    </a:lnTo>
                    <a:lnTo>
                      <a:pt x="210" y="103"/>
                    </a:lnTo>
                    <a:lnTo>
                      <a:pt x="207" y="110"/>
                    </a:lnTo>
                    <a:lnTo>
                      <a:pt x="202" y="116"/>
                    </a:lnTo>
                    <a:lnTo>
                      <a:pt x="198" y="124"/>
                    </a:lnTo>
                    <a:lnTo>
                      <a:pt x="178" y="121"/>
                    </a:lnTo>
                    <a:lnTo>
                      <a:pt x="160" y="120"/>
                    </a:lnTo>
                    <a:lnTo>
                      <a:pt x="141" y="118"/>
                    </a:lnTo>
                    <a:lnTo>
                      <a:pt x="122" y="116"/>
                    </a:lnTo>
                    <a:lnTo>
                      <a:pt x="103" y="114"/>
                    </a:lnTo>
                    <a:lnTo>
                      <a:pt x="84" y="113"/>
                    </a:lnTo>
                    <a:lnTo>
                      <a:pt x="65" y="110"/>
                    </a:lnTo>
                    <a:lnTo>
                      <a:pt x="48" y="109"/>
                    </a:lnTo>
                    <a:lnTo>
                      <a:pt x="28" y="94"/>
                    </a:lnTo>
                    <a:lnTo>
                      <a:pt x="14" y="81"/>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5" name="Freeform 664">
                <a:extLst>
                  <a:ext uri="{FF2B5EF4-FFF2-40B4-BE49-F238E27FC236}">
                    <a16:creationId xmlns:a16="http://schemas.microsoft.com/office/drawing/2014/main" id="{EF224F96-5BC7-A741-A7FF-AB715F2F4559}"/>
                  </a:ext>
                </a:extLst>
              </p:cNvPr>
              <p:cNvSpPr>
                <a:spLocks/>
              </p:cNvSpPr>
              <p:nvPr/>
            </p:nvSpPr>
            <p:spPr bwMode="auto">
              <a:xfrm>
                <a:off x="4296" y="3372"/>
                <a:ext cx="102" cy="60"/>
              </a:xfrm>
              <a:custGeom>
                <a:avLst/>
                <a:gdLst>
                  <a:gd name="T0" fmla="*/ 14 w 205"/>
                  <a:gd name="T1" fmla="*/ 0 h 119"/>
                  <a:gd name="T2" fmla="*/ 25 w 205"/>
                  <a:gd name="T3" fmla="*/ 4 h 119"/>
                  <a:gd name="T4" fmla="*/ 36 w 205"/>
                  <a:gd name="T5" fmla="*/ 7 h 119"/>
                  <a:gd name="T6" fmla="*/ 46 w 205"/>
                  <a:gd name="T7" fmla="*/ 10 h 119"/>
                  <a:gd name="T8" fmla="*/ 58 w 205"/>
                  <a:gd name="T9" fmla="*/ 14 h 119"/>
                  <a:gd name="T10" fmla="*/ 68 w 205"/>
                  <a:gd name="T11" fmla="*/ 17 h 119"/>
                  <a:gd name="T12" fmla="*/ 79 w 205"/>
                  <a:gd name="T13" fmla="*/ 21 h 119"/>
                  <a:gd name="T14" fmla="*/ 90 w 205"/>
                  <a:gd name="T15" fmla="*/ 25 h 119"/>
                  <a:gd name="T16" fmla="*/ 101 w 205"/>
                  <a:gd name="T17" fmla="*/ 29 h 119"/>
                  <a:gd name="T18" fmla="*/ 101 w 205"/>
                  <a:gd name="T19" fmla="*/ 33 h 119"/>
                  <a:gd name="T20" fmla="*/ 102 w 205"/>
                  <a:gd name="T21" fmla="*/ 37 h 119"/>
                  <a:gd name="T22" fmla="*/ 101 w 205"/>
                  <a:gd name="T23" fmla="*/ 42 h 119"/>
                  <a:gd name="T24" fmla="*/ 101 w 205"/>
                  <a:gd name="T25" fmla="*/ 46 h 119"/>
                  <a:gd name="T26" fmla="*/ 100 w 205"/>
                  <a:gd name="T27" fmla="*/ 50 h 119"/>
                  <a:gd name="T28" fmla="*/ 98 w 205"/>
                  <a:gd name="T29" fmla="*/ 54 h 119"/>
                  <a:gd name="T30" fmla="*/ 96 w 205"/>
                  <a:gd name="T31" fmla="*/ 57 h 119"/>
                  <a:gd name="T32" fmla="*/ 93 w 205"/>
                  <a:gd name="T33" fmla="*/ 60 h 119"/>
                  <a:gd name="T34" fmla="*/ 84 w 205"/>
                  <a:gd name="T35" fmla="*/ 58 h 119"/>
                  <a:gd name="T36" fmla="*/ 75 w 205"/>
                  <a:gd name="T37" fmla="*/ 57 h 119"/>
                  <a:gd name="T38" fmla="*/ 66 w 205"/>
                  <a:gd name="T39" fmla="*/ 56 h 119"/>
                  <a:gd name="T40" fmla="*/ 58 w 205"/>
                  <a:gd name="T41" fmla="*/ 56 h 119"/>
                  <a:gd name="T42" fmla="*/ 48 w 205"/>
                  <a:gd name="T43" fmla="*/ 54 h 119"/>
                  <a:gd name="T44" fmla="*/ 39 w 205"/>
                  <a:gd name="T45" fmla="*/ 54 h 119"/>
                  <a:gd name="T46" fmla="*/ 31 w 205"/>
                  <a:gd name="T47" fmla="*/ 52 h 119"/>
                  <a:gd name="T48" fmla="*/ 22 w 205"/>
                  <a:gd name="T49" fmla="*/ 52 h 119"/>
                  <a:gd name="T50" fmla="*/ 12 w 205"/>
                  <a:gd name="T51" fmla="*/ 45 h 119"/>
                  <a:gd name="T52" fmla="*/ 6 w 205"/>
                  <a:gd name="T53" fmla="*/ 39 h 119"/>
                  <a:gd name="T54" fmla="*/ 2 w 205"/>
                  <a:gd name="T55" fmla="*/ 32 h 119"/>
                  <a:gd name="T56" fmla="*/ 0 w 205"/>
                  <a:gd name="T57" fmla="*/ 26 h 119"/>
                  <a:gd name="T58" fmla="*/ 0 w 205"/>
                  <a:gd name="T59" fmla="*/ 19 h 119"/>
                  <a:gd name="T60" fmla="*/ 2 w 205"/>
                  <a:gd name="T61" fmla="*/ 13 h 119"/>
                  <a:gd name="T62" fmla="*/ 7 w 205"/>
                  <a:gd name="T63" fmla="*/ 6 h 119"/>
                  <a:gd name="T64" fmla="*/ 14 w 205"/>
                  <a:gd name="T65" fmla="*/ 0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5"/>
                  <a:gd name="T100" fmla="*/ 0 h 119"/>
                  <a:gd name="T101" fmla="*/ 205 w 205"/>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5" h="119">
                    <a:moveTo>
                      <a:pt x="29" y="0"/>
                    </a:moveTo>
                    <a:lnTo>
                      <a:pt x="50" y="7"/>
                    </a:lnTo>
                    <a:lnTo>
                      <a:pt x="72" y="14"/>
                    </a:lnTo>
                    <a:lnTo>
                      <a:pt x="93" y="20"/>
                    </a:lnTo>
                    <a:lnTo>
                      <a:pt x="116" y="28"/>
                    </a:lnTo>
                    <a:lnTo>
                      <a:pt x="137" y="34"/>
                    </a:lnTo>
                    <a:lnTo>
                      <a:pt x="158" y="42"/>
                    </a:lnTo>
                    <a:lnTo>
                      <a:pt x="181" y="49"/>
                    </a:lnTo>
                    <a:lnTo>
                      <a:pt x="203" y="57"/>
                    </a:lnTo>
                    <a:lnTo>
                      <a:pt x="203" y="66"/>
                    </a:lnTo>
                    <a:lnTo>
                      <a:pt x="205" y="74"/>
                    </a:lnTo>
                    <a:lnTo>
                      <a:pt x="203" y="83"/>
                    </a:lnTo>
                    <a:lnTo>
                      <a:pt x="203" y="92"/>
                    </a:lnTo>
                    <a:lnTo>
                      <a:pt x="200" y="99"/>
                    </a:lnTo>
                    <a:lnTo>
                      <a:pt x="197" y="107"/>
                    </a:lnTo>
                    <a:lnTo>
                      <a:pt x="192" y="113"/>
                    </a:lnTo>
                    <a:lnTo>
                      <a:pt x="187" y="119"/>
                    </a:lnTo>
                    <a:lnTo>
                      <a:pt x="168" y="116"/>
                    </a:lnTo>
                    <a:lnTo>
                      <a:pt x="151" y="114"/>
                    </a:lnTo>
                    <a:lnTo>
                      <a:pt x="133" y="112"/>
                    </a:lnTo>
                    <a:lnTo>
                      <a:pt x="116" y="111"/>
                    </a:lnTo>
                    <a:lnTo>
                      <a:pt x="97" y="108"/>
                    </a:lnTo>
                    <a:lnTo>
                      <a:pt x="79" y="107"/>
                    </a:lnTo>
                    <a:lnTo>
                      <a:pt x="62" y="104"/>
                    </a:lnTo>
                    <a:lnTo>
                      <a:pt x="44" y="103"/>
                    </a:lnTo>
                    <a:lnTo>
                      <a:pt x="25" y="89"/>
                    </a:lnTo>
                    <a:lnTo>
                      <a:pt x="13" y="77"/>
                    </a:lnTo>
                    <a:lnTo>
                      <a:pt x="4" y="63"/>
                    </a:lnTo>
                    <a:lnTo>
                      <a:pt x="0" y="52"/>
                    </a:lnTo>
                    <a:lnTo>
                      <a:pt x="0" y="38"/>
                    </a:lnTo>
                    <a:lnTo>
                      <a:pt x="5" y="26"/>
                    </a:lnTo>
                    <a:lnTo>
                      <a:pt x="14" y="12"/>
                    </a:lnTo>
                    <a:lnTo>
                      <a:pt x="29"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6" name="Freeform 665">
                <a:extLst>
                  <a:ext uri="{FF2B5EF4-FFF2-40B4-BE49-F238E27FC236}">
                    <a16:creationId xmlns:a16="http://schemas.microsoft.com/office/drawing/2014/main" id="{73F2ED26-A8EB-034D-96BA-3893763113F1}"/>
                  </a:ext>
                </a:extLst>
              </p:cNvPr>
              <p:cNvSpPr>
                <a:spLocks/>
              </p:cNvSpPr>
              <p:nvPr/>
            </p:nvSpPr>
            <p:spPr bwMode="auto">
              <a:xfrm>
                <a:off x="4298" y="3373"/>
                <a:ext cx="97" cy="57"/>
              </a:xfrm>
              <a:custGeom>
                <a:avLst/>
                <a:gdLst>
                  <a:gd name="T0" fmla="*/ 14 w 195"/>
                  <a:gd name="T1" fmla="*/ 0 h 114"/>
                  <a:gd name="T2" fmla="*/ 24 w 195"/>
                  <a:gd name="T3" fmla="*/ 3 h 114"/>
                  <a:gd name="T4" fmla="*/ 34 w 195"/>
                  <a:gd name="T5" fmla="*/ 6 h 114"/>
                  <a:gd name="T6" fmla="*/ 44 w 195"/>
                  <a:gd name="T7" fmla="*/ 10 h 114"/>
                  <a:gd name="T8" fmla="*/ 55 w 195"/>
                  <a:gd name="T9" fmla="*/ 13 h 114"/>
                  <a:gd name="T10" fmla="*/ 65 w 195"/>
                  <a:gd name="T11" fmla="*/ 17 h 114"/>
                  <a:gd name="T12" fmla="*/ 76 w 195"/>
                  <a:gd name="T13" fmla="*/ 20 h 114"/>
                  <a:gd name="T14" fmla="*/ 86 w 195"/>
                  <a:gd name="T15" fmla="*/ 23 h 114"/>
                  <a:gd name="T16" fmla="*/ 96 w 195"/>
                  <a:gd name="T17" fmla="*/ 27 h 114"/>
                  <a:gd name="T18" fmla="*/ 96 w 195"/>
                  <a:gd name="T19" fmla="*/ 31 h 114"/>
                  <a:gd name="T20" fmla="*/ 97 w 195"/>
                  <a:gd name="T21" fmla="*/ 36 h 114"/>
                  <a:gd name="T22" fmla="*/ 96 w 195"/>
                  <a:gd name="T23" fmla="*/ 40 h 114"/>
                  <a:gd name="T24" fmla="*/ 96 w 195"/>
                  <a:gd name="T25" fmla="*/ 44 h 114"/>
                  <a:gd name="T26" fmla="*/ 95 w 195"/>
                  <a:gd name="T27" fmla="*/ 47 h 114"/>
                  <a:gd name="T28" fmla="*/ 93 w 195"/>
                  <a:gd name="T29" fmla="*/ 51 h 114"/>
                  <a:gd name="T30" fmla="*/ 91 w 195"/>
                  <a:gd name="T31" fmla="*/ 54 h 114"/>
                  <a:gd name="T32" fmla="*/ 88 w 195"/>
                  <a:gd name="T33" fmla="*/ 57 h 114"/>
                  <a:gd name="T34" fmla="*/ 80 w 195"/>
                  <a:gd name="T35" fmla="*/ 56 h 114"/>
                  <a:gd name="T36" fmla="*/ 71 w 195"/>
                  <a:gd name="T37" fmla="*/ 55 h 114"/>
                  <a:gd name="T38" fmla="*/ 63 w 195"/>
                  <a:gd name="T39" fmla="*/ 54 h 114"/>
                  <a:gd name="T40" fmla="*/ 54 w 195"/>
                  <a:gd name="T41" fmla="*/ 53 h 114"/>
                  <a:gd name="T42" fmla="*/ 46 w 195"/>
                  <a:gd name="T43" fmla="*/ 52 h 114"/>
                  <a:gd name="T44" fmla="*/ 38 w 195"/>
                  <a:gd name="T45" fmla="*/ 52 h 114"/>
                  <a:gd name="T46" fmla="*/ 29 w 195"/>
                  <a:gd name="T47" fmla="*/ 50 h 114"/>
                  <a:gd name="T48" fmla="*/ 21 w 195"/>
                  <a:gd name="T49" fmla="*/ 50 h 114"/>
                  <a:gd name="T50" fmla="*/ 12 w 195"/>
                  <a:gd name="T51" fmla="*/ 43 h 114"/>
                  <a:gd name="T52" fmla="*/ 6 w 195"/>
                  <a:gd name="T53" fmla="*/ 37 h 114"/>
                  <a:gd name="T54" fmla="*/ 2 w 195"/>
                  <a:gd name="T55" fmla="*/ 30 h 114"/>
                  <a:gd name="T56" fmla="*/ 0 w 195"/>
                  <a:gd name="T57" fmla="*/ 25 h 114"/>
                  <a:gd name="T58" fmla="*/ 0 w 195"/>
                  <a:gd name="T59" fmla="*/ 18 h 114"/>
                  <a:gd name="T60" fmla="*/ 2 w 195"/>
                  <a:gd name="T61" fmla="*/ 12 h 114"/>
                  <a:gd name="T62" fmla="*/ 6 w 195"/>
                  <a:gd name="T63" fmla="*/ 6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8" y="0"/>
                    </a:moveTo>
                    <a:lnTo>
                      <a:pt x="48" y="6"/>
                    </a:lnTo>
                    <a:lnTo>
                      <a:pt x="69" y="12"/>
                    </a:lnTo>
                    <a:lnTo>
                      <a:pt x="89" y="19"/>
                    </a:lnTo>
                    <a:lnTo>
                      <a:pt x="111" y="26"/>
                    </a:lnTo>
                    <a:lnTo>
                      <a:pt x="131" y="33"/>
                    </a:lnTo>
                    <a:lnTo>
                      <a:pt x="152" y="40"/>
                    </a:lnTo>
                    <a:lnTo>
                      <a:pt x="172" y="46"/>
                    </a:lnTo>
                    <a:lnTo>
                      <a:pt x="193" y="54"/>
                    </a:lnTo>
                    <a:lnTo>
                      <a:pt x="193" y="63"/>
                    </a:lnTo>
                    <a:lnTo>
                      <a:pt x="195" y="71"/>
                    </a:lnTo>
                    <a:lnTo>
                      <a:pt x="193" y="79"/>
                    </a:lnTo>
                    <a:lnTo>
                      <a:pt x="193" y="88"/>
                    </a:lnTo>
                    <a:lnTo>
                      <a:pt x="190" y="94"/>
                    </a:lnTo>
                    <a:lnTo>
                      <a:pt x="187" y="101"/>
                    </a:lnTo>
                    <a:lnTo>
                      <a:pt x="182" y="108"/>
                    </a:lnTo>
                    <a:lnTo>
                      <a:pt x="177" y="114"/>
                    </a:lnTo>
                    <a:lnTo>
                      <a:pt x="160" y="111"/>
                    </a:lnTo>
                    <a:lnTo>
                      <a:pt x="143" y="110"/>
                    </a:lnTo>
                    <a:lnTo>
                      <a:pt x="126" y="108"/>
                    </a:lnTo>
                    <a:lnTo>
                      <a:pt x="109" y="106"/>
                    </a:lnTo>
                    <a:lnTo>
                      <a:pt x="92" y="104"/>
                    </a:lnTo>
                    <a:lnTo>
                      <a:pt x="76" y="103"/>
                    </a:lnTo>
                    <a:lnTo>
                      <a:pt x="59" y="100"/>
                    </a:lnTo>
                    <a:lnTo>
                      <a:pt x="43" y="99"/>
                    </a:lnTo>
                    <a:lnTo>
                      <a:pt x="25" y="86"/>
                    </a:lnTo>
                    <a:lnTo>
                      <a:pt x="13" y="74"/>
                    </a:lnTo>
                    <a:lnTo>
                      <a:pt x="4" y="61"/>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7" name="Freeform 666">
                <a:extLst>
                  <a:ext uri="{FF2B5EF4-FFF2-40B4-BE49-F238E27FC236}">
                    <a16:creationId xmlns:a16="http://schemas.microsoft.com/office/drawing/2014/main" id="{739E32B1-03A9-6F4C-A318-701692E3F031}"/>
                  </a:ext>
                </a:extLst>
              </p:cNvPr>
              <p:cNvSpPr>
                <a:spLocks/>
              </p:cNvSpPr>
              <p:nvPr/>
            </p:nvSpPr>
            <p:spPr bwMode="auto">
              <a:xfrm>
                <a:off x="4301" y="3375"/>
                <a:ext cx="92" cy="54"/>
              </a:xfrm>
              <a:custGeom>
                <a:avLst/>
                <a:gdLst>
                  <a:gd name="T0" fmla="*/ 12 w 185"/>
                  <a:gd name="T1" fmla="*/ 0 h 106"/>
                  <a:gd name="T2" fmla="*/ 22 w 185"/>
                  <a:gd name="T3" fmla="*/ 3 h 106"/>
                  <a:gd name="T4" fmla="*/ 32 w 185"/>
                  <a:gd name="T5" fmla="*/ 6 h 106"/>
                  <a:gd name="T6" fmla="*/ 42 w 185"/>
                  <a:gd name="T7" fmla="*/ 9 h 106"/>
                  <a:gd name="T8" fmla="*/ 52 w 185"/>
                  <a:gd name="T9" fmla="*/ 12 h 106"/>
                  <a:gd name="T10" fmla="*/ 61 w 185"/>
                  <a:gd name="T11" fmla="*/ 15 h 106"/>
                  <a:gd name="T12" fmla="*/ 71 w 185"/>
                  <a:gd name="T13" fmla="*/ 18 h 106"/>
                  <a:gd name="T14" fmla="*/ 81 w 185"/>
                  <a:gd name="T15" fmla="*/ 21 h 106"/>
                  <a:gd name="T16" fmla="*/ 91 w 185"/>
                  <a:gd name="T17" fmla="*/ 25 h 106"/>
                  <a:gd name="T18" fmla="*/ 91 w 185"/>
                  <a:gd name="T19" fmla="*/ 29 h 106"/>
                  <a:gd name="T20" fmla="*/ 92 w 185"/>
                  <a:gd name="T21" fmla="*/ 34 h 106"/>
                  <a:gd name="T22" fmla="*/ 91 w 185"/>
                  <a:gd name="T23" fmla="*/ 38 h 106"/>
                  <a:gd name="T24" fmla="*/ 91 w 185"/>
                  <a:gd name="T25" fmla="*/ 41 h 106"/>
                  <a:gd name="T26" fmla="*/ 90 w 185"/>
                  <a:gd name="T27" fmla="*/ 44 h 106"/>
                  <a:gd name="T28" fmla="*/ 89 w 185"/>
                  <a:gd name="T29" fmla="*/ 48 h 106"/>
                  <a:gd name="T30" fmla="*/ 86 w 185"/>
                  <a:gd name="T31" fmla="*/ 51 h 106"/>
                  <a:gd name="T32" fmla="*/ 85 w 185"/>
                  <a:gd name="T33" fmla="*/ 54 h 106"/>
                  <a:gd name="T34" fmla="*/ 76 w 185"/>
                  <a:gd name="T35" fmla="*/ 53 h 106"/>
                  <a:gd name="T36" fmla="*/ 68 w 185"/>
                  <a:gd name="T37" fmla="*/ 52 h 106"/>
                  <a:gd name="T38" fmla="*/ 59 w 185"/>
                  <a:gd name="T39" fmla="*/ 51 h 106"/>
                  <a:gd name="T40" fmla="*/ 52 w 185"/>
                  <a:gd name="T41" fmla="*/ 50 h 106"/>
                  <a:gd name="T42" fmla="*/ 43 w 185"/>
                  <a:gd name="T43" fmla="*/ 49 h 106"/>
                  <a:gd name="T44" fmla="*/ 35 w 185"/>
                  <a:gd name="T45" fmla="*/ 48 h 106"/>
                  <a:gd name="T46" fmla="*/ 27 w 185"/>
                  <a:gd name="T47" fmla="*/ 48 h 106"/>
                  <a:gd name="T48" fmla="*/ 19 w 185"/>
                  <a:gd name="T49" fmla="*/ 47 h 106"/>
                  <a:gd name="T50" fmla="*/ 11 w 185"/>
                  <a:gd name="T51" fmla="*/ 41 h 106"/>
                  <a:gd name="T52" fmla="*/ 6 w 185"/>
                  <a:gd name="T53" fmla="*/ 35 h 106"/>
                  <a:gd name="T54" fmla="*/ 2 w 185"/>
                  <a:gd name="T55" fmla="*/ 29 h 106"/>
                  <a:gd name="T56" fmla="*/ 0 w 185"/>
                  <a:gd name="T57" fmla="*/ 23 h 106"/>
                  <a:gd name="T58" fmla="*/ 0 w 185"/>
                  <a:gd name="T59" fmla="*/ 17 h 106"/>
                  <a:gd name="T60" fmla="*/ 2 w 185"/>
                  <a:gd name="T61" fmla="*/ 11 h 106"/>
                  <a:gd name="T62" fmla="*/ 6 w 185"/>
                  <a:gd name="T63" fmla="*/ 6 h 106"/>
                  <a:gd name="T64" fmla="*/ 12 w 185"/>
                  <a:gd name="T65" fmla="*/ 0 h 1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06"/>
                  <a:gd name="T101" fmla="*/ 185 w 185"/>
                  <a:gd name="T102" fmla="*/ 106 h 1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06">
                    <a:moveTo>
                      <a:pt x="25" y="0"/>
                    </a:moveTo>
                    <a:lnTo>
                      <a:pt x="44" y="5"/>
                    </a:lnTo>
                    <a:lnTo>
                      <a:pt x="64" y="11"/>
                    </a:lnTo>
                    <a:lnTo>
                      <a:pt x="84" y="17"/>
                    </a:lnTo>
                    <a:lnTo>
                      <a:pt x="104" y="24"/>
                    </a:lnTo>
                    <a:lnTo>
                      <a:pt x="123" y="30"/>
                    </a:lnTo>
                    <a:lnTo>
                      <a:pt x="143" y="36"/>
                    </a:lnTo>
                    <a:lnTo>
                      <a:pt x="163" y="42"/>
                    </a:lnTo>
                    <a:lnTo>
                      <a:pt x="183" y="50"/>
                    </a:lnTo>
                    <a:lnTo>
                      <a:pt x="183" y="57"/>
                    </a:lnTo>
                    <a:lnTo>
                      <a:pt x="185" y="66"/>
                    </a:lnTo>
                    <a:lnTo>
                      <a:pt x="183" y="74"/>
                    </a:lnTo>
                    <a:lnTo>
                      <a:pt x="183" y="81"/>
                    </a:lnTo>
                    <a:lnTo>
                      <a:pt x="181" y="87"/>
                    </a:lnTo>
                    <a:lnTo>
                      <a:pt x="178" y="94"/>
                    </a:lnTo>
                    <a:lnTo>
                      <a:pt x="173" y="100"/>
                    </a:lnTo>
                    <a:lnTo>
                      <a:pt x="170" y="106"/>
                    </a:lnTo>
                    <a:lnTo>
                      <a:pt x="152" y="104"/>
                    </a:lnTo>
                    <a:lnTo>
                      <a:pt x="136" y="102"/>
                    </a:lnTo>
                    <a:lnTo>
                      <a:pt x="119" y="100"/>
                    </a:lnTo>
                    <a:lnTo>
                      <a:pt x="104" y="99"/>
                    </a:lnTo>
                    <a:lnTo>
                      <a:pt x="87" y="96"/>
                    </a:lnTo>
                    <a:lnTo>
                      <a:pt x="71" y="95"/>
                    </a:lnTo>
                    <a:lnTo>
                      <a:pt x="54" y="94"/>
                    </a:lnTo>
                    <a:lnTo>
                      <a:pt x="39" y="92"/>
                    </a:lnTo>
                    <a:lnTo>
                      <a:pt x="23" y="80"/>
                    </a:lnTo>
                    <a:lnTo>
                      <a:pt x="12" y="69"/>
                    </a:lnTo>
                    <a:lnTo>
                      <a:pt x="4" y="57"/>
                    </a:lnTo>
                    <a:lnTo>
                      <a:pt x="0" y="46"/>
                    </a:lnTo>
                    <a:lnTo>
                      <a:pt x="0" y="34"/>
                    </a:lnTo>
                    <a:lnTo>
                      <a:pt x="4" y="22"/>
                    </a:lnTo>
                    <a:lnTo>
                      <a:pt x="13" y="11"/>
                    </a:lnTo>
                    <a:lnTo>
                      <a:pt x="25"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8" name="Freeform 667">
                <a:extLst>
                  <a:ext uri="{FF2B5EF4-FFF2-40B4-BE49-F238E27FC236}">
                    <a16:creationId xmlns:a16="http://schemas.microsoft.com/office/drawing/2014/main" id="{F5C7772C-6857-6F44-B4B0-D3FD9A794986}"/>
                  </a:ext>
                </a:extLst>
              </p:cNvPr>
              <p:cNvSpPr>
                <a:spLocks/>
              </p:cNvSpPr>
              <p:nvPr/>
            </p:nvSpPr>
            <p:spPr bwMode="auto">
              <a:xfrm>
                <a:off x="4303" y="3377"/>
                <a:ext cx="87" cy="50"/>
              </a:xfrm>
              <a:custGeom>
                <a:avLst/>
                <a:gdLst>
                  <a:gd name="T0" fmla="*/ 12 w 175"/>
                  <a:gd name="T1" fmla="*/ 0 h 101"/>
                  <a:gd name="T2" fmla="*/ 21 w 175"/>
                  <a:gd name="T3" fmla="*/ 2 h 101"/>
                  <a:gd name="T4" fmla="*/ 30 w 175"/>
                  <a:gd name="T5" fmla="*/ 6 h 101"/>
                  <a:gd name="T6" fmla="*/ 39 w 175"/>
                  <a:gd name="T7" fmla="*/ 8 h 101"/>
                  <a:gd name="T8" fmla="*/ 49 w 175"/>
                  <a:gd name="T9" fmla="*/ 11 h 101"/>
                  <a:gd name="T10" fmla="*/ 58 w 175"/>
                  <a:gd name="T11" fmla="*/ 14 h 101"/>
                  <a:gd name="T12" fmla="*/ 67 w 175"/>
                  <a:gd name="T13" fmla="*/ 17 h 101"/>
                  <a:gd name="T14" fmla="*/ 76 w 175"/>
                  <a:gd name="T15" fmla="*/ 20 h 101"/>
                  <a:gd name="T16" fmla="*/ 86 w 175"/>
                  <a:gd name="T17" fmla="*/ 23 h 101"/>
                  <a:gd name="T18" fmla="*/ 86 w 175"/>
                  <a:gd name="T19" fmla="*/ 27 h 101"/>
                  <a:gd name="T20" fmla="*/ 87 w 175"/>
                  <a:gd name="T21" fmla="*/ 31 h 101"/>
                  <a:gd name="T22" fmla="*/ 86 w 175"/>
                  <a:gd name="T23" fmla="*/ 34 h 101"/>
                  <a:gd name="T24" fmla="*/ 86 w 175"/>
                  <a:gd name="T25" fmla="*/ 38 h 101"/>
                  <a:gd name="T26" fmla="*/ 83 w 175"/>
                  <a:gd name="T27" fmla="*/ 44 h 101"/>
                  <a:gd name="T28" fmla="*/ 79 w 175"/>
                  <a:gd name="T29" fmla="*/ 50 h 101"/>
                  <a:gd name="T30" fmla="*/ 71 w 175"/>
                  <a:gd name="T31" fmla="*/ 49 h 101"/>
                  <a:gd name="T32" fmla="*/ 64 w 175"/>
                  <a:gd name="T33" fmla="*/ 48 h 101"/>
                  <a:gd name="T34" fmla="*/ 56 w 175"/>
                  <a:gd name="T35" fmla="*/ 47 h 101"/>
                  <a:gd name="T36" fmla="*/ 49 w 175"/>
                  <a:gd name="T37" fmla="*/ 47 h 101"/>
                  <a:gd name="T38" fmla="*/ 41 w 175"/>
                  <a:gd name="T39" fmla="*/ 46 h 101"/>
                  <a:gd name="T40" fmla="*/ 34 w 175"/>
                  <a:gd name="T41" fmla="*/ 45 h 101"/>
                  <a:gd name="T42" fmla="*/ 26 w 175"/>
                  <a:gd name="T43" fmla="*/ 44 h 101"/>
                  <a:gd name="T44" fmla="*/ 19 w 175"/>
                  <a:gd name="T45" fmla="*/ 44 h 101"/>
                  <a:gd name="T46" fmla="*/ 11 w 175"/>
                  <a:gd name="T47" fmla="*/ 38 h 101"/>
                  <a:gd name="T48" fmla="*/ 6 w 175"/>
                  <a:gd name="T49" fmla="*/ 33 h 101"/>
                  <a:gd name="T50" fmla="*/ 2 w 175"/>
                  <a:gd name="T51" fmla="*/ 27 h 101"/>
                  <a:gd name="T52" fmla="*/ 0 w 175"/>
                  <a:gd name="T53" fmla="*/ 22 h 101"/>
                  <a:gd name="T54" fmla="*/ 0 w 175"/>
                  <a:gd name="T55" fmla="*/ 16 h 101"/>
                  <a:gd name="T56" fmla="*/ 2 w 175"/>
                  <a:gd name="T57" fmla="*/ 11 h 101"/>
                  <a:gd name="T58" fmla="*/ 6 w 175"/>
                  <a:gd name="T59" fmla="*/ 5 h 101"/>
                  <a:gd name="T60" fmla="*/ 12 w 175"/>
                  <a:gd name="T61" fmla="*/ 0 h 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1"/>
                  <a:gd name="T95" fmla="*/ 175 w 175"/>
                  <a:gd name="T96" fmla="*/ 101 h 10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1">
                    <a:moveTo>
                      <a:pt x="24" y="0"/>
                    </a:moveTo>
                    <a:lnTo>
                      <a:pt x="42" y="5"/>
                    </a:lnTo>
                    <a:lnTo>
                      <a:pt x="61" y="12"/>
                    </a:lnTo>
                    <a:lnTo>
                      <a:pt x="79" y="17"/>
                    </a:lnTo>
                    <a:lnTo>
                      <a:pt x="98" y="23"/>
                    </a:lnTo>
                    <a:lnTo>
                      <a:pt x="116" y="28"/>
                    </a:lnTo>
                    <a:lnTo>
                      <a:pt x="135" y="34"/>
                    </a:lnTo>
                    <a:lnTo>
                      <a:pt x="153" y="41"/>
                    </a:lnTo>
                    <a:lnTo>
                      <a:pt x="172" y="47"/>
                    </a:lnTo>
                    <a:lnTo>
                      <a:pt x="173" y="54"/>
                    </a:lnTo>
                    <a:lnTo>
                      <a:pt x="175" y="62"/>
                    </a:lnTo>
                    <a:lnTo>
                      <a:pt x="173" y="69"/>
                    </a:lnTo>
                    <a:lnTo>
                      <a:pt x="173" y="77"/>
                    </a:lnTo>
                    <a:lnTo>
                      <a:pt x="167" y="89"/>
                    </a:lnTo>
                    <a:lnTo>
                      <a:pt x="158" y="101"/>
                    </a:lnTo>
                    <a:lnTo>
                      <a:pt x="143" y="98"/>
                    </a:lnTo>
                    <a:lnTo>
                      <a:pt x="128" y="97"/>
                    </a:lnTo>
                    <a:lnTo>
                      <a:pt x="113" y="94"/>
                    </a:lnTo>
                    <a:lnTo>
                      <a:pt x="98" y="94"/>
                    </a:lnTo>
                    <a:lnTo>
                      <a:pt x="83" y="92"/>
                    </a:lnTo>
                    <a:lnTo>
                      <a:pt x="68" y="91"/>
                    </a:lnTo>
                    <a:lnTo>
                      <a:pt x="53" y="88"/>
                    </a:lnTo>
                    <a:lnTo>
                      <a:pt x="38" y="88"/>
                    </a:lnTo>
                    <a:lnTo>
                      <a:pt x="23" y="77"/>
                    </a:lnTo>
                    <a:lnTo>
                      <a:pt x="12" y="66"/>
                    </a:lnTo>
                    <a:lnTo>
                      <a:pt x="4" y="54"/>
                    </a:lnTo>
                    <a:lnTo>
                      <a:pt x="0" y="44"/>
                    </a:lnTo>
                    <a:lnTo>
                      <a:pt x="0" y="33"/>
                    </a:lnTo>
                    <a:lnTo>
                      <a:pt x="4" y="22"/>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49" name="Freeform 668">
                <a:extLst>
                  <a:ext uri="{FF2B5EF4-FFF2-40B4-BE49-F238E27FC236}">
                    <a16:creationId xmlns:a16="http://schemas.microsoft.com/office/drawing/2014/main" id="{EF111683-9EE6-664F-84C9-F41DAF5A9DDA}"/>
                  </a:ext>
                </a:extLst>
              </p:cNvPr>
              <p:cNvSpPr>
                <a:spLocks/>
              </p:cNvSpPr>
              <p:nvPr/>
            </p:nvSpPr>
            <p:spPr bwMode="auto">
              <a:xfrm>
                <a:off x="4306" y="3378"/>
                <a:ext cx="81" cy="48"/>
              </a:xfrm>
              <a:custGeom>
                <a:avLst/>
                <a:gdLst>
                  <a:gd name="T0" fmla="*/ 11 w 163"/>
                  <a:gd name="T1" fmla="*/ 0 h 96"/>
                  <a:gd name="T2" fmla="*/ 19 w 163"/>
                  <a:gd name="T3" fmla="*/ 3 h 96"/>
                  <a:gd name="T4" fmla="*/ 28 w 163"/>
                  <a:gd name="T5" fmla="*/ 6 h 96"/>
                  <a:gd name="T6" fmla="*/ 37 w 163"/>
                  <a:gd name="T7" fmla="*/ 8 h 96"/>
                  <a:gd name="T8" fmla="*/ 46 w 163"/>
                  <a:gd name="T9" fmla="*/ 11 h 96"/>
                  <a:gd name="T10" fmla="*/ 54 w 163"/>
                  <a:gd name="T11" fmla="*/ 13 h 96"/>
                  <a:gd name="T12" fmla="*/ 63 w 163"/>
                  <a:gd name="T13" fmla="*/ 17 h 96"/>
                  <a:gd name="T14" fmla="*/ 71 w 163"/>
                  <a:gd name="T15" fmla="*/ 20 h 96"/>
                  <a:gd name="T16" fmla="*/ 81 w 163"/>
                  <a:gd name="T17" fmla="*/ 23 h 96"/>
                  <a:gd name="T18" fmla="*/ 81 w 163"/>
                  <a:gd name="T19" fmla="*/ 26 h 96"/>
                  <a:gd name="T20" fmla="*/ 81 w 163"/>
                  <a:gd name="T21" fmla="*/ 30 h 96"/>
                  <a:gd name="T22" fmla="*/ 81 w 163"/>
                  <a:gd name="T23" fmla="*/ 33 h 96"/>
                  <a:gd name="T24" fmla="*/ 81 w 163"/>
                  <a:gd name="T25" fmla="*/ 37 h 96"/>
                  <a:gd name="T26" fmla="*/ 79 w 163"/>
                  <a:gd name="T27" fmla="*/ 43 h 96"/>
                  <a:gd name="T28" fmla="*/ 75 w 163"/>
                  <a:gd name="T29" fmla="*/ 48 h 96"/>
                  <a:gd name="T30" fmla="*/ 68 w 163"/>
                  <a:gd name="T31" fmla="*/ 47 h 96"/>
                  <a:gd name="T32" fmla="*/ 60 w 163"/>
                  <a:gd name="T33" fmla="*/ 46 h 96"/>
                  <a:gd name="T34" fmla="*/ 53 w 163"/>
                  <a:gd name="T35" fmla="*/ 45 h 96"/>
                  <a:gd name="T36" fmla="*/ 46 w 163"/>
                  <a:gd name="T37" fmla="*/ 45 h 96"/>
                  <a:gd name="T38" fmla="*/ 39 w 163"/>
                  <a:gd name="T39" fmla="*/ 43 h 96"/>
                  <a:gd name="T40" fmla="*/ 31 w 163"/>
                  <a:gd name="T41" fmla="*/ 43 h 96"/>
                  <a:gd name="T42" fmla="*/ 24 w 163"/>
                  <a:gd name="T43" fmla="*/ 42 h 96"/>
                  <a:gd name="T44" fmla="*/ 17 w 163"/>
                  <a:gd name="T45" fmla="*/ 41 h 96"/>
                  <a:gd name="T46" fmla="*/ 10 w 163"/>
                  <a:gd name="T47" fmla="*/ 36 h 96"/>
                  <a:gd name="T48" fmla="*/ 5 w 163"/>
                  <a:gd name="T49" fmla="*/ 30 h 96"/>
                  <a:gd name="T50" fmla="*/ 1 w 163"/>
                  <a:gd name="T51" fmla="*/ 25 h 96"/>
                  <a:gd name="T52" fmla="*/ 0 w 163"/>
                  <a:gd name="T53" fmla="*/ 21 h 96"/>
                  <a:gd name="T54" fmla="*/ 0 w 163"/>
                  <a:gd name="T55" fmla="*/ 15 h 96"/>
                  <a:gd name="T56" fmla="*/ 2 w 163"/>
                  <a:gd name="T57" fmla="*/ 10 h 96"/>
                  <a:gd name="T58" fmla="*/ 6 w 163"/>
                  <a:gd name="T59" fmla="*/ 5 h 96"/>
                  <a:gd name="T60" fmla="*/ 11 w 163"/>
                  <a:gd name="T61" fmla="*/ 0 h 9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3"/>
                  <a:gd name="T94" fmla="*/ 0 h 96"/>
                  <a:gd name="T95" fmla="*/ 163 w 163"/>
                  <a:gd name="T96" fmla="*/ 96 h 9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3" h="96">
                    <a:moveTo>
                      <a:pt x="23" y="0"/>
                    </a:moveTo>
                    <a:lnTo>
                      <a:pt x="39" y="5"/>
                    </a:lnTo>
                    <a:lnTo>
                      <a:pt x="57" y="11"/>
                    </a:lnTo>
                    <a:lnTo>
                      <a:pt x="74" y="16"/>
                    </a:lnTo>
                    <a:lnTo>
                      <a:pt x="92" y="22"/>
                    </a:lnTo>
                    <a:lnTo>
                      <a:pt x="108" y="27"/>
                    </a:lnTo>
                    <a:lnTo>
                      <a:pt x="127" y="34"/>
                    </a:lnTo>
                    <a:lnTo>
                      <a:pt x="143" y="39"/>
                    </a:lnTo>
                    <a:lnTo>
                      <a:pt x="162" y="45"/>
                    </a:lnTo>
                    <a:lnTo>
                      <a:pt x="162" y="52"/>
                    </a:lnTo>
                    <a:lnTo>
                      <a:pt x="163" y="60"/>
                    </a:lnTo>
                    <a:lnTo>
                      <a:pt x="163" y="66"/>
                    </a:lnTo>
                    <a:lnTo>
                      <a:pt x="163" y="74"/>
                    </a:lnTo>
                    <a:lnTo>
                      <a:pt x="158" y="85"/>
                    </a:lnTo>
                    <a:lnTo>
                      <a:pt x="151" y="96"/>
                    </a:lnTo>
                    <a:lnTo>
                      <a:pt x="136" y="94"/>
                    </a:lnTo>
                    <a:lnTo>
                      <a:pt x="121" y="92"/>
                    </a:lnTo>
                    <a:lnTo>
                      <a:pt x="107" y="90"/>
                    </a:lnTo>
                    <a:lnTo>
                      <a:pt x="93" y="89"/>
                    </a:lnTo>
                    <a:lnTo>
                      <a:pt x="78" y="86"/>
                    </a:lnTo>
                    <a:lnTo>
                      <a:pt x="63" y="85"/>
                    </a:lnTo>
                    <a:lnTo>
                      <a:pt x="49" y="84"/>
                    </a:lnTo>
                    <a:lnTo>
                      <a:pt x="35" y="82"/>
                    </a:lnTo>
                    <a:lnTo>
                      <a:pt x="20"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0" name="Freeform 669">
                <a:extLst>
                  <a:ext uri="{FF2B5EF4-FFF2-40B4-BE49-F238E27FC236}">
                    <a16:creationId xmlns:a16="http://schemas.microsoft.com/office/drawing/2014/main" id="{BA82590A-760A-B245-99F6-7320D8A6A18C}"/>
                  </a:ext>
                </a:extLst>
              </p:cNvPr>
              <p:cNvSpPr>
                <a:spLocks/>
              </p:cNvSpPr>
              <p:nvPr/>
            </p:nvSpPr>
            <p:spPr bwMode="auto">
              <a:xfrm>
                <a:off x="4291" y="3412"/>
                <a:ext cx="118" cy="69"/>
              </a:xfrm>
              <a:custGeom>
                <a:avLst/>
                <a:gdLst>
                  <a:gd name="T0" fmla="*/ 16 w 235"/>
                  <a:gd name="T1" fmla="*/ 0 h 136"/>
                  <a:gd name="T2" fmla="*/ 28 w 235"/>
                  <a:gd name="T3" fmla="*/ 4 h 136"/>
                  <a:gd name="T4" fmla="*/ 41 w 235"/>
                  <a:gd name="T5" fmla="*/ 8 h 136"/>
                  <a:gd name="T6" fmla="*/ 53 w 235"/>
                  <a:gd name="T7" fmla="*/ 12 h 136"/>
                  <a:gd name="T8" fmla="*/ 66 w 235"/>
                  <a:gd name="T9" fmla="*/ 16 h 136"/>
                  <a:gd name="T10" fmla="*/ 79 w 235"/>
                  <a:gd name="T11" fmla="*/ 20 h 136"/>
                  <a:gd name="T12" fmla="*/ 92 w 235"/>
                  <a:gd name="T13" fmla="*/ 24 h 136"/>
                  <a:gd name="T14" fmla="*/ 104 w 235"/>
                  <a:gd name="T15" fmla="*/ 28 h 136"/>
                  <a:gd name="T16" fmla="*/ 117 w 235"/>
                  <a:gd name="T17" fmla="*/ 32 h 136"/>
                  <a:gd name="T18" fmla="*/ 117 w 235"/>
                  <a:gd name="T19" fmla="*/ 38 h 136"/>
                  <a:gd name="T20" fmla="*/ 118 w 235"/>
                  <a:gd name="T21" fmla="*/ 43 h 136"/>
                  <a:gd name="T22" fmla="*/ 117 w 235"/>
                  <a:gd name="T23" fmla="*/ 48 h 136"/>
                  <a:gd name="T24" fmla="*/ 117 w 235"/>
                  <a:gd name="T25" fmla="*/ 53 h 136"/>
                  <a:gd name="T26" fmla="*/ 115 w 235"/>
                  <a:gd name="T27" fmla="*/ 57 h 136"/>
                  <a:gd name="T28" fmla="*/ 113 w 235"/>
                  <a:gd name="T29" fmla="*/ 61 h 136"/>
                  <a:gd name="T30" fmla="*/ 110 w 235"/>
                  <a:gd name="T31" fmla="*/ 65 h 136"/>
                  <a:gd name="T32" fmla="*/ 108 w 235"/>
                  <a:gd name="T33" fmla="*/ 69 h 136"/>
                  <a:gd name="T34" fmla="*/ 97 w 235"/>
                  <a:gd name="T35" fmla="*/ 68 h 136"/>
                  <a:gd name="T36" fmla="*/ 87 w 235"/>
                  <a:gd name="T37" fmla="*/ 66 h 136"/>
                  <a:gd name="T38" fmla="*/ 77 w 235"/>
                  <a:gd name="T39" fmla="*/ 65 h 136"/>
                  <a:gd name="T40" fmla="*/ 66 w 235"/>
                  <a:gd name="T41" fmla="*/ 64 h 136"/>
                  <a:gd name="T42" fmla="*/ 56 w 235"/>
                  <a:gd name="T43" fmla="*/ 63 h 136"/>
                  <a:gd name="T44" fmla="*/ 46 w 235"/>
                  <a:gd name="T45" fmla="*/ 62 h 136"/>
                  <a:gd name="T46" fmla="*/ 36 w 235"/>
                  <a:gd name="T47" fmla="*/ 61 h 136"/>
                  <a:gd name="T48" fmla="*/ 26 w 235"/>
                  <a:gd name="T49" fmla="*/ 60 h 136"/>
                  <a:gd name="T50" fmla="*/ 15 w 235"/>
                  <a:gd name="T51" fmla="*/ 53 h 136"/>
                  <a:gd name="T52" fmla="*/ 8 w 235"/>
                  <a:gd name="T53" fmla="*/ 45 h 136"/>
                  <a:gd name="T54" fmla="*/ 2 w 235"/>
                  <a:gd name="T55" fmla="*/ 38 h 136"/>
                  <a:gd name="T56" fmla="*/ 0 w 235"/>
                  <a:gd name="T57" fmla="*/ 30 h 136"/>
                  <a:gd name="T58" fmla="*/ 0 w 235"/>
                  <a:gd name="T59" fmla="*/ 22 h 136"/>
                  <a:gd name="T60" fmla="*/ 3 w 235"/>
                  <a:gd name="T61" fmla="*/ 14 h 136"/>
                  <a:gd name="T62" fmla="*/ 8 w 235"/>
                  <a:gd name="T63" fmla="*/ 7 h 136"/>
                  <a:gd name="T64" fmla="*/ 16 w 235"/>
                  <a:gd name="T65" fmla="*/ 0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36"/>
                  <a:gd name="T101" fmla="*/ 235 w 235"/>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36">
                    <a:moveTo>
                      <a:pt x="32" y="0"/>
                    </a:moveTo>
                    <a:lnTo>
                      <a:pt x="56" y="7"/>
                    </a:lnTo>
                    <a:lnTo>
                      <a:pt x="81" y="16"/>
                    </a:lnTo>
                    <a:lnTo>
                      <a:pt x="106" y="23"/>
                    </a:lnTo>
                    <a:lnTo>
                      <a:pt x="132" y="32"/>
                    </a:lnTo>
                    <a:lnTo>
                      <a:pt x="158" y="40"/>
                    </a:lnTo>
                    <a:lnTo>
                      <a:pt x="183" y="47"/>
                    </a:lnTo>
                    <a:lnTo>
                      <a:pt x="208" y="55"/>
                    </a:lnTo>
                    <a:lnTo>
                      <a:pt x="234" y="64"/>
                    </a:lnTo>
                    <a:lnTo>
                      <a:pt x="234" y="74"/>
                    </a:lnTo>
                    <a:lnTo>
                      <a:pt x="235" y="85"/>
                    </a:lnTo>
                    <a:lnTo>
                      <a:pt x="234" y="95"/>
                    </a:lnTo>
                    <a:lnTo>
                      <a:pt x="234" y="105"/>
                    </a:lnTo>
                    <a:lnTo>
                      <a:pt x="230" y="112"/>
                    </a:lnTo>
                    <a:lnTo>
                      <a:pt x="226" y="121"/>
                    </a:lnTo>
                    <a:lnTo>
                      <a:pt x="220" y="129"/>
                    </a:lnTo>
                    <a:lnTo>
                      <a:pt x="215" y="136"/>
                    </a:lnTo>
                    <a:lnTo>
                      <a:pt x="194" y="134"/>
                    </a:lnTo>
                    <a:lnTo>
                      <a:pt x="174" y="131"/>
                    </a:lnTo>
                    <a:lnTo>
                      <a:pt x="153" y="129"/>
                    </a:lnTo>
                    <a:lnTo>
                      <a:pt x="132" y="127"/>
                    </a:lnTo>
                    <a:lnTo>
                      <a:pt x="111" y="124"/>
                    </a:lnTo>
                    <a:lnTo>
                      <a:pt x="91" y="122"/>
                    </a:lnTo>
                    <a:lnTo>
                      <a:pt x="71" y="120"/>
                    </a:lnTo>
                    <a:lnTo>
                      <a:pt x="51" y="119"/>
                    </a:lnTo>
                    <a:lnTo>
                      <a:pt x="30" y="104"/>
                    </a:lnTo>
                    <a:lnTo>
                      <a:pt x="15" y="89"/>
                    </a:lnTo>
                    <a:lnTo>
                      <a:pt x="3" y="74"/>
                    </a:lnTo>
                    <a:lnTo>
                      <a:pt x="0" y="59"/>
                    </a:lnTo>
                    <a:lnTo>
                      <a:pt x="0" y="44"/>
                    </a:lnTo>
                    <a:lnTo>
                      <a:pt x="5" y="28"/>
                    </a:lnTo>
                    <a:lnTo>
                      <a:pt x="16" y="13"/>
                    </a:lnTo>
                    <a:lnTo>
                      <a:pt x="32"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1" name="Freeform 670">
                <a:extLst>
                  <a:ext uri="{FF2B5EF4-FFF2-40B4-BE49-F238E27FC236}">
                    <a16:creationId xmlns:a16="http://schemas.microsoft.com/office/drawing/2014/main" id="{F393A269-F670-724D-8AC0-3E25971A8156}"/>
                  </a:ext>
                </a:extLst>
              </p:cNvPr>
              <p:cNvSpPr>
                <a:spLocks/>
              </p:cNvSpPr>
              <p:nvPr/>
            </p:nvSpPr>
            <p:spPr bwMode="auto">
              <a:xfrm>
                <a:off x="4294" y="3414"/>
                <a:ext cx="110" cy="64"/>
              </a:xfrm>
              <a:custGeom>
                <a:avLst/>
                <a:gdLst>
                  <a:gd name="T0" fmla="*/ 15 w 220"/>
                  <a:gd name="T1" fmla="*/ 0 h 128"/>
                  <a:gd name="T2" fmla="*/ 27 w 220"/>
                  <a:gd name="T3" fmla="*/ 3 h 128"/>
                  <a:gd name="T4" fmla="*/ 39 w 220"/>
                  <a:gd name="T5" fmla="*/ 7 h 128"/>
                  <a:gd name="T6" fmla="*/ 50 w 220"/>
                  <a:gd name="T7" fmla="*/ 11 h 128"/>
                  <a:gd name="T8" fmla="*/ 62 w 220"/>
                  <a:gd name="T9" fmla="*/ 14 h 128"/>
                  <a:gd name="T10" fmla="*/ 73 w 220"/>
                  <a:gd name="T11" fmla="*/ 17 h 128"/>
                  <a:gd name="T12" fmla="*/ 85 w 220"/>
                  <a:gd name="T13" fmla="*/ 21 h 128"/>
                  <a:gd name="T14" fmla="*/ 97 w 220"/>
                  <a:gd name="T15" fmla="*/ 25 h 128"/>
                  <a:gd name="T16" fmla="*/ 109 w 220"/>
                  <a:gd name="T17" fmla="*/ 29 h 128"/>
                  <a:gd name="T18" fmla="*/ 110 w 220"/>
                  <a:gd name="T19" fmla="*/ 34 h 128"/>
                  <a:gd name="T20" fmla="*/ 110 w 220"/>
                  <a:gd name="T21" fmla="*/ 39 h 128"/>
                  <a:gd name="T22" fmla="*/ 110 w 220"/>
                  <a:gd name="T23" fmla="*/ 44 h 128"/>
                  <a:gd name="T24" fmla="*/ 110 w 220"/>
                  <a:gd name="T25" fmla="*/ 49 h 128"/>
                  <a:gd name="T26" fmla="*/ 109 w 220"/>
                  <a:gd name="T27" fmla="*/ 53 h 128"/>
                  <a:gd name="T28" fmla="*/ 107 w 220"/>
                  <a:gd name="T29" fmla="*/ 57 h 128"/>
                  <a:gd name="T30" fmla="*/ 105 w 220"/>
                  <a:gd name="T31" fmla="*/ 60 h 128"/>
                  <a:gd name="T32" fmla="*/ 102 w 220"/>
                  <a:gd name="T33" fmla="*/ 64 h 128"/>
                  <a:gd name="T34" fmla="*/ 91 w 220"/>
                  <a:gd name="T35" fmla="*/ 63 h 128"/>
                  <a:gd name="T36" fmla="*/ 82 w 220"/>
                  <a:gd name="T37" fmla="*/ 62 h 128"/>
                  <a:gd name="T38" fmla="*/ 72 w 220"/>
                  <a:gd name="T39" fmla="*/ 61 h 128"/>
                  <a:gd name="T40" fmla="*/ 62 w 220"/>
                  <a:gd name="T41" fmla="*/ 60 h 128"/>
                  <a:gd name="T42" fmla="*/ 53 w 220"/>
                  <a:gd name="T43" fmla="*/ 59 h 128"/>
                  <a:gd name="T44" fmla="*/ 43 w 220"/>
                  <a:gd name="T45" fmla="*/ 58 h 128"/>
                  <a:gd name="T46" fmla="*/ 33 w 220"/>
                  <a:gd name="T47" fmla="*/ 58 h 128"/>
                  <a:gd name="T48" fmla="*/ 24 w 220"/>
                  <a:gd name="T49" fmla="*/ 57 h 128"/>
                  <a:gd name="T50" fmla="*/ 14 w 220"/>
                  <a:gd name="T51" fmla="*/ 49 h 128"/>
                  <a:gd name="T52" fmla="*/ 7 w 220"/>
                  <a:gd name="T53" fmla="*/ 43 h 128"/>
                  <a:gd name="T54" fmla="*/ 2 w 220"/>
                  <a:gd name="T55" fmla="*/ 35 h 128"/>
                  <a:gd name="T56" fmla="*/ 0 w 220"/>
                  <a:gd name="T57" fmla="*/ 28 h 128"/>
                  <a:gd name="T58" fmla="*/ 0 w 220"/>
                  <a:gd name="T59" fmla="*/ 21 h 128"/>
                  <a:gd name="T60" fmla="*/ 3 w 220"/>
                  <a:gd name="T61" fmla="*/ 14 h 128"/>
                  <a:gd name="T62" fmla="*/ 7 w 220"/>
                  <a:gd name="T63" fmla="*/ 7 h 128"/>
                  <a:gd name="T64" fmla="*/ 15 w 220"/>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0"/>
                  <a:gd name="T100" fmla="*/ 0 h 128"/>
                  <a:gd name="T101" fmla="*/ 220 w 220"/>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0" h="128">
                    <a:moveTo>
                      <a:pt x="31" y="0"/>
                    </a:moveTo>
                    <a:lnTo>
                      <a:pt x="53" y="7"/>
                    </a:lnTo>
                    <a:lnTo>
                      <a:pt x="77" y="14"/>
                    </a:lnTo>
                    <a:lnTo>
                      <a:pt x="100" y="22"/>
                    </a:lnTo>
                    <a:lnTo>
                      <a:pt x="124" y="29"/>
                    </a:lnTo>
                    <a:lnTo>
                      <a:pt x="146" y="35"/>
                    </a:lnTo>
                    <a:lnTo>
                      <a:pt x="170" y="43"/>
                    </a:lnTo>
                    <a:lnTo>
                      <a:pt x="194" y="51"/>
                    </a:lnTo>
                    <a:lnTo>
                      <a:pt x="218" y="59"/>
                    </a:lnTo>
                    <a:lnTo>
                      <a:pt x="219" y="69"/>
                    </a:lnTo>
                    <a:lnTo>
                      <a:pt x="220" y="79"/>
                    </a:lnTo>
                    <a:lnTo>
                      <a:pt x="220" y="89"/>
                    </a:lnTo>
                    <a:lnTo>
                      <a:pt x="220" y="99"/>
                    </a:lnTo>
                    <a:lnTo>
                      <a:pt x="218" y="107"/>
                    </a:lnTo>
                    <a:lnTo>
                      <a:pt x="214" y="114"/>
                    </a:lnTo>
                    <a:lnTo>
                      <a:pt x="209" y="121"/>
                    </a:lnTo>
                    <a:lnTo>
                      <a:pt x="203" y="128"/>
                    </a:lnTo>
                    <a:lnTo>
                      <a:pt x="181" y="126"/>
                    </a:lnTo>
                    <a:lnTo>
                      <a:pt x="163" y="124"/>
                    </a:lnTo>
                    <a:lnTo>
                      <a:pt x="144" y="122"/>
                    </a:lnTo>
                    <a:lnTo>
                      <a:pt x="125" y="121"/>
                    </a:lnTo>
                    <a:lnTo>
                      <a:pt x="105" y="118"/>
                    </a:lnTo>
                    <a:lnTo>
                      <a:pt x="86" y="117"/>
                    </a:lnTo>
                    <a:lnTo>
                      <a:pt x="66" y="116"/>
                    </a:lnTo>
                    <a:lnTo>
                      <a:pt x="47" y="114"/>
                    </a:lnTo>
                    <a:lnTo>
                      <a:pt x="27" y="99"/>
                    </a:lnTo>
                    <a:lnTo>
                      <a:pt x="13" y="86"/>
                    </a:lnTo>
                    <a:lnTo>
                      <a:pt x="3" y="71"/>
                    </a:lnTo>
                    <a:lnTo>
                      <a:pt x="0" y="57"/>
                    </a:lnTo>
                    <a:lnTo>
                      <a:pt x="0" y="42"/>
                    </a:lnTo>
                    <a:lnTo>
                      <a:pt x="5" y="28"/>
                    </a:lnTo>
                    <a:lnTo>
                      <a:pt x="15" y="14"/>
                    </a:lnTo>
                    <a:lnTo>
                      <a:pt x="31"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2" name="Freeform 671">
                <a:extLst>
                  <a:ext uri="{FF2B5EF4-FFF2-40B4-BE49-F238E27FC236}">
                    <a16:creationId xmlns:a16="http://schemas.microsoft.com/office/drawing/2014/main" id="{33CEBB1F-18F5-404F-997E-FB20C4DC3064}"/>
                  </a:ext>
                </a:extLst>
              </p:cNvPr>
              <p:cNvSpPr>
                <a:spLocks/>
              </p:cNvSpPr>
              <p:nvPr/>
            </p:nvSpPr>
            <p:spPr bwMode="auto">
              <a:xfrm>
                <a:off x="4296" y="3416"/>
                <a:ext cx="104" cy="60"/>
              </a:xfrm>
              <a:custGeom>
                <a:avLst/>
                <a:gdLst>
                  <a:gd name="T0" fmla="*/ 14 w 206"/>
                  <a:gd name="T1" fmla="*/ 0 h 120"/>
                  <a:gd name="T2" fmla="*/ 25 w 206"/>
                  <a:gd name="T3" fmla="*/ 3 h 120"/>
                  <a:gd name="T4" fmla="*/ 36 w 206"/>
                  <a:gd name="T5" fmla="*/ 7 h 120"/>
                  <a:gd name="T6" fmla="*/ 47 w 206"/>
                  <a:gd name="T7" fmla="*/ 10 h 120"/>
                  <a:gd name="T8" fmla="*/ 59 w 206"/>
                  <a:gd name="T9" fmla="*/ 13 h 120"/>
                  <a:gd name="T10" fmla="*/ 69 w 206"/>
                  <a:gd name="T11" fmla="*/ 17 h 120"/>
                  <a:gd name="T12" fmla="*/ 80 w 206"/>
                  <a:gd name="T13" fmla="*/ 20 h 120"/>
                  <a:gd name="T14" fmla="*/ 91 w 206"/>
                  <a:gd name="T15" fmla="*/ 24 h 120"/>
                  <a:gd name="T16" fmla="*/ 102 w 206"/>
                  <a:gd name="T17" fmla="*/ 28 h 120"/>
                  <a:gd name="T18" fmla="*/ 103 w 206"/>
                  <a:gd name="T19" fmla="*/ 32 h 120"/>
                  <a:gd name="T20" fmla="*/ 104 w 206"/>
                  <a:gd name="T21" fmla="*/ 37 h 120"/>
                  <a:gd name="T22" fmla="*/ 104 w 206"/>
                  <a:gd name="T23" fmla="*/ 41 h 120"/>
                  <a:gd name="T24" fmla="*/ 104 w 206"/>
                  <a:gd name="T25" fmla="*/ 46 h 120"/>
                  <a:gd name="T26" fmla="*/ 103 w 206"/>
                  <a:gd name="T27" fmla="*/ 50 h 120"/>
                  <a:gd name="T28" fmla="*/ 101 w 206"/>
                  <a:gd name="T29" fmla="*/ 54 h 120"/>
                  <a:gd name="T30" fmla="*/ 98 w 206"/>
                  <a:gd name="T31" fmla="*/ 57 h 120"/>
                  <a:gd name="T32" fmla="*/ 95 w 206"/>
                  <a:gd name="T33" fmla="*/ 60 h 120"/>
                  <a:gd name="T34" fmla="*/ 86 w 206"/>
                  <a:gd name="T35" fmla="*/ 59 h 120"/>
                  <a:gd name="T36" fmla="*/ 76 w 206"/>
                  <a:gd name="T37" fmla="*/ 59 h 120"/>
                  <a:gd name="T38" fmla="*/ 68 w 206"/>
                  <a:gd name="T39" fmla="*/ 57 h 120"/>
                  <a:gd name="T40" fmla="*/ 59 w 206"/>
                  <a:gd name="T41" fmla="*/ 57 h 120"/>
                  <a:gd name="T42" fmla="*/ 50 w 206"/>
                  <a:gd name="T43" fmla="*/ 56 h 120"/>
                  <a:gd name="T44" fmla="*/ 41 w 206"/>
                  <a:gd name="T45" fmla="*/ 55 h 120"/>
                  <a:gd name="T46" fmla="*/ 32 w 206"/>
                  <a:gd name="T47" fmla="*/ 54 h 120"/>
                  <a:gd name="T48" fmla="*/ 23 w 206"/>
                  <a:gd name="T49" fmla="*/ 54 h 120"/>
                  <a:gd name="T50" fmla="*/ 14 w 206"/>
                  <a:gd name="T51" fmla="*/ 46 h 120"/>
                  <a:gd name="T52" fmla="*/ 7 w 206"/>
                  <a:gd name="T53" fmla="*/ 40 h 120"/>
                  <a:gd name="T54" fmla="*/ 2 w 206"/>
                  <a:gd name="T55" fmla="*/ 32 h 120"/>
                  <a:gd name="T56" fmla="*/ 0 w 206"/>
                  <a:gd name="T57" fmla="*/ 26 h 120"/>
                  <a:gd name="T58" fmla="*/ 0 w 206"/>
                  <a:gd name="T59" fmla="*/ 19 h 120"/>
                  <a:gd name="T60" fmla="*/ 3 w 206"/>
                  <a:gd name="T61" fmla="*/ 13 h 120"/>
                  <a:gd name="T62" fmla="*/ 7 w 206"/>
                  <a:gd name="T63" fmla="*/ 6 h 120"/>
                  <a:gd name="T64" fmla="*/ 14 w 206"/>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20"/>
                  <a:gd name="T101" fmla="*/ 206 w 206"/>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20">
                    <a:moveTo>
                      <a:pt x="28" y="0"/>
                    </a:moveTo>
                    <a:lnTo>
                      <a:pt x="50" y="6"/>
                    </a:lnTo>
                    <a:lnTo>
                      <a:pt x="72" y="13"/>
                    </a:lnTo>
                    <a:lnTo>
                      <a:pt x="94" y="19"/>
                    </a:lnTo>
                    <a:lnTo>
                      <a:pt x="116" y="26"/>
                    </a:lnTo>
                    <a:lnTo>
                      <a:pt x="136" y="33"/>
                    </a:lnTo>
                    <a:lnTo>
                      <a:pt x="158" y="39"/>
                    </a:lnTo>
                    <a:lnTo>
                      <a:pt x="180" y="47"/>
                    </a:lnTo>
                    <a:lnTo>
                      <a:pt x="203" y="55"/>
                    </a:lnTo>
                    <a:lnTo>
                      <a:pt x="204" y="64"/>
                    </a:lnTo>
                    <a:lnTo>
                      <a:pt x="206" y="73"/>
                    </a:lnTo>
                    <a:lnTo>
                      <a:pt x="206" y="82"/>
                    </a:lnTo>
                    <a:lnTo>
                      <a:pt x="206" y="92"/>
                    </a:lnTo>
                    <a:lnTo>
                      <a:pt x="204" y="99"/>
                    </a:lnTo>
                    <a:lnTo>
                      <a:pt x="201" y="107"/>
                    </a:lnTo>
                    <a:lnTo>
                      <a:pt x="195" y="113"/>
                    </a:lnTo>
                    <a:lnTo>
                      <a:pt x="189" y="120"/>
                    </a:lnTo>
                    <a:lnTo>
                      <a:pt x="170" y="118"/>
                    </a:lnTo>
                    <a:lnTo>
                      <a:pt x="151" y="117"/>
                    </a:lnTo>
                    <a:lnTo>
                      <a:pt x="134" y="114"/>
                    </a:lnTo>
                    <a:lnTo>
                      <a:pt x="117" y="114"/>
                    </a:lnTo>
                    <a:lnTo>
                      <a:pt x="99" y="112"/>
                    </a:lnTo>
                    <a:lnTo>
                      <a:pt x="81" y="110"/>
                    </a:lnTo>
                    <a:lnTo>
                      <a:pt x="63" y="108"/>
                    </a:lnTo>
                    <a:lnTo>
                      <a:pt x="46" y="107"/>
                    </a:lnTo>
                    <a:lnTo>
                      <a:pt x="27" y="92"/>
                    </a:lnTo>
                    <a:lnTo>
                      <a:pt x="13" y="79"/>
                    </a:lnTo>
                    <a:lnTo>
                      <a:pt x="3" y="64"/>
                    </a:lnTo>
                    <a:lnTo>
                      <a:pt x="0" y="52"/>
                    </a:lnTo>
                    <a:lnTo>
                      <a:pt x="0" y="38"/>
                    </a:lnTo>
                    <a:lnTo>
                      <a:pt x="5" y="25"/>
                    </a:lnTo>
                    <a:lnTo>
                      <a:pt x="13" y="11"/>
                    </a:lnTo>
                    <a:lnTo>
                      <a:pt x="28"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3" name="Freeform 672">
                <a:extLst>
                  <a:ext uri="{FF2B5EF4-FFF2-40B4-BE49-F238E27FC236}">
                    <a16:creationId xmlns:a16="http://schemas.microsoft.com/office/drawing/2014/main" id="{08F2E6B9-9B3C-A84C-8F8D-810E2D19C267}"/>
                  </a:ext>
                </a:extLst>
              </p:cNvPr>
              <p:cNvSpPr>
                <a:spLocks/>
              </p:cNvSpPr>
              <p:nvPr/>
            </p:nvSpPr>
            <p:spPr bwMode="auto">
              <a:xfrm>
                <a:off x="4299" y="3417"/>
                <a:ext cx="98" cy="57"/>
              </a:xfrm>
              <a:custGeom>
                <a:avLst/>
                <a:gdLst>
                  <a:gd name="T0" fmla="*/ 14 w 195"/>
                  <a:gd name="T1" fmla="*/ 0 h 114"/>
                  <a:gd name="T2" fmla="*/ 24 w 195"/>
                  <a:gd name="T3" fmla="*/ 4 h 114"/>
                  <a:gd name="T4" fmla="*/ 34 w 195"/>
                  <a:gd name="T5" fmla="*/ 7 h 114"/>
                  <a:gd name="T6" fmla="*/ 44 w 195"/>
                  <a:gd name="T7" fmla="*/ 10 h 114"/>
                  <a:gd name="T8" fmla="*/ 54 w 195"/>
                  <a:gd name="T9" fmla="*/ 13 h 114"/>
                  <a:gd name="T10" fmla="*/ 63 w 195"/>
                  <a:gd name="T11" fmla="*/ 15 h 114"/>
                  <a:gd name="T12" fmla="*/ 73 w 195"/>
                  <a:gd name="T13" fmla="*/ 19 h 114"/>
                  <a:gd name="T14" fmla="*/ 83 w 195"/>
                  <a:gd name="T15" fmla="*/ 22 h 114"/>
                  <a:gd name="T16" fmla="*/ 94 w 195"/>
                  <a:gd name="T17" fmla="*/ 26 h 114"/>
                  <a:gd name="T18" fmla="*/ 95 w 195"/>
                  <a:gd name="T19" fmla="*/ 30 h 114"/>
                  <a:gd name="T20" fmla="*/ 97 w 195"/>
                  <a:gd name="T21" fmla="*/ 35 h 114"/>
                  <a:gd name="T22" fmla="*/ 97 w 195"/>
                  <a:gd name="T23" fmla="*/ 39 h 114"/>
                  <a:gd name="T24" fmla="*/ 98 w 195"/>
                  <a:gd name="T25" fmla="*/ 44 h 114"/>
                  <a:gd name="T26" fmla="*/ 97 w 195"/>
                  <a:gd name="T27" fmla="*/ 48 h 114"/>
                  <a:gd name="T28" fmla="*/ 95 w 195"/>
                  <a:gd name="T29" fmla="*/ 52 h 114"/>
                  <a:gd name="T30" fmla="*/ 93 w 195"/>
                  <a:gd name="T31" fmla="*/ 55 h 114"/>
                  <a:gd name="T32" fmla="*/ 89 w 195"/>
                  <a:gd name="T33" fmla="*/ 57 h 114"/>
                  <a:gd name="T34" fmla="*/ 80 w 195"/>
                  <a:gd name="T35" fmla="*/ 56 h 114"/>
                  <a:gd name="T36" fmla="*/ 71 w 195"/>
                  <a:gd name="T37" fmla="*/ 56 h 114"/>
                  <a:gd name="T38" fmla="*/ 63 w 195"/>
                  <a:gd name="T39" fmla="*/ 55 h 114"/>
                  <a:gd name="T40" fmla="*/ 55 w 195"/>
                  <a:gd name="T41" fmla="*/ 55 h 114"/>
                  <a:gd name="T42" fmla="*/ 46 w 195"/>
                  <a:gd name="T43" fmla="*/ 54 h 114"/>
                  <a:gd name="T44" fmla="*/ 38 w 195"/>
                  <a:gd name="T45" fmla="*/ 54 h 114"/>
                  <a:gd name="T46" fmla="*/ 29 w 195"/>
                  <a:gd name="T47" fmla="*/ 53 h 114"/>
                  <a:gd name="T48" fmla="*/ 21 w 195"/>
                  <a:gd name="T49" fmla="*/ 52 h 114"/>
                  <a:gd name="T50" fmla="*/ 12 w 195"/>
                  <a:gd name="T51" fmla="*/ 46 h 114"/>
                  <a:gd name="T52" fmla="*/ 6 w 195"/>
                  <a:gd name="T53" fmla="*/ 39 h 114"/>
                  <a:gd name="T54" fmla="*/ 2 w 195"/>
                  <a:gd name="T55" fmla="*/ 32 h 114"/>
                  <a:gd name="T56" fmla="*/ 0 w 195"/>
                  <a:gd name="T57" fmla="*/ 26 h 114"/>
                  <a:gd name="T58" fmla="*/ 0 w 195"/>
                  <a:gd name="T59" fmla="*/ 19 h 114"/>
                  <a:gd name="T60" fmla="*/ 2 w 195"/>
                  <a:gd name="T61" fmla="*/ 13 h 114"/>
                  <a:gd name="T62" fmla="*/ 6 w 195"/>
                  <a:gd name="T63" fmla="*/ 7 h 114"/>
                  <a:gd name="T64" fmla="*/ 14 w 195"/>
                  <a:gd name="T65" fmla="*/ 0 h 1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5"/>
                  <a:gd name="T100" fmla="*/ 0 h 114"/>
                  <a:gd name="T101" fmla="*/ 195 w 195"/>
                  <a:gd name="T102" fmla="*/ 114 h 1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5" h="114">
                    <a:moveTo>
                      <a:pt x="27" y="0"/>
                    </a:moveTo>
                    <a:lnTo>
                      <a:pt x="47" y="7"/>
                    </a:lnTo>
                    <a:lnTo>
                      <a:pt x="67" y="13"/>
                    </a:lnTo>
                    <a:lnTo>
                      <a:pt x="87" y="19"/>
                    </a:lnTo>
                    <a:lnTo>
                      <a:pt x="107" y="25"/>
                    </a:lnTo>
                    <a:lnTo>
                      <a:pt x="126" y="30"/>
                    </a:lnTo>
                    <a:lnTo>
                      <a:pt x="145" y="38"/>
                    </a:lnTo>
                    <a:lnTo>
                      <a:pt x="165" y="44"/>
                    </a:lnTo>
                    <a:lnTo>
                      <a:pt x="188" y="52"/>
                    </a:lnTo>
                    <a:lnTo>
                      <a:pt x="190" y="61"/>
                    </a:lnTo>
                    <a:lnTo>
                      <a:pt x="193" y="69"/>
                    </a:lnTo>
                    <a:lnTo>
                      <a:pt x="194" y="78"/>
                    </a:lnTo>
                    <a:lnTo>
                      <a:pt x="195" y="88"/>
                    </a:lnTo>
                    <a:lnTo>
                      <a:pt x="193" y="96"/>
                    </a:lnTo>
                    <a:lnTo>
                      <a:pt x="190" y="103"/>
                    </a:lnTo>
                    <a:lnTo>
                      <a:pt x="185" y="109"/>
                    </a:lnTo>
                    <a:lnTo>
                      <a:pt x="178" y="114"/>
                    </a:lnTo>
                    <a:lnTo>
                      <a:pt x="159" y="112"/>
                    </a:lnTo>
                    <a:lnTo>
                      <a:pt x="141" y="111"/>
                    </a:lnTo>
                    <a:lnTo>
                      <a:pt x="125" y="109"/>
                    </a:lnTo>
                    <a:lnTo>
                      <a:pt x="110" y="109"/>
                    </a:lnTo>
                    <a:lnTo>
                      <a:pt x="92" y="108"/>
                    </a:lnTo>
                    <a:lnTo>
                      <a:pt x="76" y="107"/>
                    </a:lnTo>
                    <a:lnTo>
                      <a:pt x="58" y="106"/>
                    </a:lnTo>
                    <a:lnTo>
                      <a:pt x="42" y="104"/>
                    </a:lnTo>
                    <a:lnTo>
                      <a:pt x="23" y="91"/>
                    </a:lnTo>
                    <a:lnTo>
                      <a:pt x="11" y="78"/>
                    </a:lnTo>
                    <a:lnTo>
                      <a:pt x="3" y="64"/>
                    </a:lnTo>
                    <a:lnTo>
                      <a:pt x="0" y="52"/>
                    </a:lnTo>
                    <a:lnTo>
                      <a:pt x="0" y="38"/>
                    </a:lnTo>
                    <a:lnTo>
                      <a:pt x="3" y="25"/>
                    </a:lnTo>
                    <a:lnTo>
                      <a:pt x="12" y="13"/>
                    </a:lnTo>
                    <a:lnTo>
                      <a:pt x="27"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4" name="Freeform 673">
                <a:extLst>
                  <a:ext uri="{FF2B5EF4-FFF2-40B4-BE49-F238E27FC236}">
                    <a16:creationId xmlns:a16="http://schemas.microsoft.com/office/drawing/2014/main" id="{9BACF682-B6DB-8C4C-B733-36C1C697FBE9}"/>
                  </a:ext>
                </a:extLst>
              </p:cNvPr>
              <p:cNvSpPr>
                <a:spLocks/>
              </p:cNvSpPr>
              <p:nvPr/>
            </p:nvSpPr>
            <p:spPr bwMode="auto">
              <a:xfrm>
                <a:off x="4301" y="3419"/>
                <a:ext cx="92" cy="52"/>
              </a:xfrm>
              <a:custGeom>
                <a:avLst/>
                <a:gdLst>
                  <a:gd name="T0" fmla="*/ 13 w 183"/>
                  <a:gd name="T1" fmla="*/ 0 h 105"/>
                  <a:gd name="T2" fmla="*/ 23 w 183"/>
                  <a:gd name="T3" fmla="*/ 2 h 105"/>
                  <a:gd name="T4" fmla="*/ 32 w 183"/>
                  <a:gd name="T5" fmla="*/ 5 h 105"/>
                  <a:gd name="T6" fmla="*/ 41 w 183"/>
                  <a:gd name="T7" fmla="*/ 8 h 105"/>
                  <a:gd name="T8" fmla="*/ 50 w 183"/>
                  <a:gd name="T9" fmla="*/ 11 h 105"/>
                  <a:gd name="T10" fmla="*/ 58 w 183"/>
                  <a:gd name="T11" fmla="*/ 14 h 105"/>
                  <a:gd name="T12" fmla="*/ 67 w 183"/>
                  <a:gd name="T13" fmla="*/ 17 h 105"/>
                  <a:gd name="T14" fmla="*/ 76 w 183"/>
                  <a:gd name="T15" fmla="*/ 19 h 105"/>
                  <a:gd name="T16" fmla="*/ 87 w 183"/>
                  <a:gd name="T17" fmla="*/ 23 h 105"/>
                  <a:gd name="T18" fmla="*/ 88 w 183"/>
                  <a:gd name="T19" fmla="*/ 27 h 105"/>
                  <a:gd name="T20" fmla="*/ 90 w 183"/>
                  <a:gd name="T21" fmla="*/ 31 h 105"/>
                  <a:gd name="T22" fmla="*/ 90 w 183"/>
                  <a:gd name="T23" fmla="*/ 35 h 105"/>
                  <a:gd name="T24" fmla="*/ 92 w 183"/>
                  <a:gd name="T25" fmla="*/ 40 h 105"/>
                  <a:gd name="T26" fmla="*/ 91 w 183"/>
                  <a:gd name="T27" fmla="*/ 44 h 105"/>
                  <a:gd name="T28" fmla="*/ 90 w 183"/>
                  <a:gd name="T29" fmla="*/ 47 h 105"/>
                  <a:gd name="T30" fmla="*/ 87 w 183"/>
                  <a:gd name="T31" fmla="*/ 50 h 105"/>
                  <a:gd name="T32" fmla="*/ 82 w 183"/>
                  <a:gd name="T33" fmla="*/ 52 h 105"/>
                  <a:gd name="T34" fmla="*/ 73 w 183"/>
                  <a:gd name="T35" fmla="*/ 51 h 105"/>
                  <a:gd name="T36" fmla="*/ 66 w 183"/>
                  <a:gd name="T37" fmla="*/ 51 h 105"/>
                  <a:gd name="T38" fmla="*/ 58 w 183"/>
                  <a:gd name="T39" fmla="*/ 51 h 105"/>
                  <a:gd name="T40" fmla="*/ 51 w 183"/>
                  <a:gd name="T41" fmla="*/ 51 h 105"/>
                  <a:gd name="T42" fmla="*/ 44 w 183"/>
                  <a:gd name="T43" fmla="*/ 50 h 105"/>
                  <a:gd name="T44" fmla="*/ 36 w 183"/>
                  <a:gd name="T45" fmla="*/ 49 h 105"/>
                  <a:gd name="T46" fmla="*/ 28 w 183"/>
                  <a:gd name="T47" fmla="*/ 49 h 105"/>
                  <a:gd name="T48" fmla="*/ 21 w 183"/>
                  <a:gd name="T49" fmla="*/ 49 h 105"/>
                  <a:gd name="T50" fmla="*/ 12 w 183"/>
                  <a:gd name="T51" fmla="*/ 42 h 105"/>
                  <a:gd name="T52" fmla="*/ 6 w 183"/>
                  <a:gd name="T53" fmla="*/ 36 h 105"/>
                  <a:gd name="T54" fmla="*/ 2 w 183"/>
                  <a:gd name="T55" fmla="*/ 30 h 105"/>
                  <a:gd name="T56" fmla="*/ 0 w 183"/>
                  <a:gd name="T57" fmla="*/ 24 h 105"/>
                  <a:gd name="T58" fmla="*/ 0 w 183"/>
                  <a:gd name="T59" fmla="*/ 18 h 105"/>
                  <a:gd name="T60" fmla="*/ 2 w 183"/>
                  <a:gd name="T61" fmla="*/ 12 h 105"/>
                  <a:gd name="T62" fmla="*/ 6 w 183"/>
                  <a:gd name="T63" fmla="*/ 5 h 105"/>
                  <a:gd name="T64" fmla="*/ 13 w 183"/>
                  <a:gd name="T65" fmla="*/ 0 h 10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3"/>
                  <a:gd name="T100" fmla="*/ 0 h 105"/>
                  <a:gd name="T101" fmla="*/ 183 w 183"/>
                  <a:gd name="T102" fmla="*/ 105 h 10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3" h="105">
                    <a:moveTo>
                      <a:pt x="26" y="0"/>
                    </a:moveTo>
                    <a:lnTo>
                      <a:pt x="45" y="5"/>
                    </a:lnTo>
                    <a:lnTo>
                      <a:pt x="64" y="11"/>
                    </a:lnTo>
                    <a:lnTo>
                      <a:pt x="81" y="16"/>
                    </a:lnTo>
                    <a:lnTo>
                      <a:pt x="99" y="23"/>
                    </a:lnTo>
                    <a:lnTo>
                      <a:pt x="115" y="28"/>
                    </a:lnTo>
                    <a:lnTo>
                      <a:pt x="134" y="34"/>
                    </a:lnTo>
                    <a:lnTo>
                      <a:pt x="151" y="39"/>
                    </a:lnTo>
                    <a:lnTo>
                      <a:pt x="173" y="47"/>
                    </a:lnTo>
                    <a:lnTo>
                      <a:pt x="175" y="54"/>
                    </a:lnTo>
                    <a:lnTo>
                      <a:pt x="179" y="63"/>
                    </a:lnTo>
                    <a:lnTo>
                      <a:pt x="180" y="70"/>
                    </a:lnTo>
                    <a:lnTo>
                      <a:pt x="183" y="80"/>
                    </a:lnTo>
                    <a:lnTo>
                      <a:pt x="181" y="88"/>
                    </a:lnTo>
                    <a:lnTo>
                      <a:pt x="179" y="95"/>
                    </a:lnTo>
                    <a:lnTo>
                      <a:pt x="173" y="100"/>
                    </a:lnTo>
                    <a:lnTo>
                      <a:pt x="164" y="105"/>
                    </a:lnTo>
                    <a:lnTo>
                      <a:pt x="146" y="103"/>
                    </a:lnTo>
                    <a:lnTo>
                      <a:pt x="131" y="103"/>
                    </a:lnTo>
                    <a:lnTo>
                      <a:pt x="116" y="102"/>
                    </a:lnTo>
                    <a:lnTo>
                      <a:pt x="102" y="102"/>
                    </a:lnTo>
                    <a:lnTo>
                      <a:pt x="87" y="100"/>
                    </a:lnTo>
                    <a:lnTo>
                      <a:pt x="72" y="99"/>
                    </a:lnTo>
                    <a:lnTo>
                      <a:pt x="56" y="98"/>
                    </a:lnTo>
                    <a:lnTo>
                      <a:pt x="41" y="98"/>
                    </a:lnTo>
                    <a:lnTo>
                      <a:pt x="23" y="85"/>
                    </a:lnTo>
                    <a:lnTo>
                      <a:pt x="11" y="73"/>
                    </a:lnTo>
                    <a:lnTo>
                      <a:pt x="3" y="60"/>
                    </a:lnTo>
                    <a:lnTo>
                      <a:pt x="0" y="49"/>
                    </a:lnTo>
                    <a:lnTo>
                      <a:pt x="0" y="37"/>
                    </a:lnTo>
                    <a:lnTo>
                      <a:pt x="3" y="24"/>
                    </a:lnTo>
                    <a:lnTo>
                      <a:pt x="12" y="11"/>
                    </a:lnTo>
                    <a:lnTo>
                      <a:pt x="26"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5" name="Freeform 674">
                <a:extLst>
                  <a:ext uri="{FF2B5EF4-FFF2-40B4-BE49-F238E27FC236}">
                    <a16:creationId xmlns:a16="http://schemas.microsoft.com/office/drawing/2014/main" id="{0A17A924-185C-A043-A416-06BE55B2BCE9}"/>
                  </a:ext>
                </a:extLst>
              </p:cNvPr>
              <p:cNvSpPr>
                <a:spLocks/>
              </p:cNvSpPr>
              <p:nvPr/>
            </p:nvSpPr>
            <p:spPr bwMode="auto">
              <a:xfrm>
                <a:off x="4303" y="3419"/>
                <a:ext cx="85" cy="50"/>
              </a:xfrm>
              <a:custGeom>
                <a:avLst/>
                <a:gdLst>
                  <a:gd name="T0" fmla="*/ 13 w 171"/>
                  <a:gd name="T1" fmla="*/ 0 h 101"/>
                  <a:gd name="T2" fmla="*/ 22 w 171"/>
                  <a:gd name="T3" fmla="*/ 2 h 101"/>
                  <a:gd name="T4" fmla="*/ 31 w 171"/>
                  <a:gd name="T5" fmla="*/ 6 h 101"/>
                  <a:gd name="T6" fmla="*/ 38 w 171"/>
                  <a:gd name="T7" fmla="*/ 8 h 101"/>
                  <a:gd name="T8" fmla="*/ 46 w 171"/>
                  <a:gd name="T9" fmla="*/ 11 h 101"/>
                  <a:gd name="T10" fmla="*/ 53 w 171"/>
                  <a:gd name="T11" fmla="*/ 12 h 101"/>
                  <a:gd name="T12" fmla="*/ 61 w 171"/>
                  <a:gd name="T13" fmla="*/ 16 h 101"/>
                  <a:gd name="T14" fmla="*/ 69 w 171"/>
                  <a:gd name="T15" fmla="*/ 18 h 101"/>
                  <a:gd name="T16" fmla="*/ 79 w 171"/>
                  <a:gd name="T17" fmla="*/ 22 h 101"/>
                  <a:gd name="T18" fmla="*/ 80 w 171"/>
                  <a:gd name="T19" fmla="*/ 25 h 101"/>
                  <a:gd name="T20" fmla="*/ 82 w 171"/>
                  <a:gd name="T21" fmla="*/ 29 h 101"/>
                  <a:gd name="T22" fmla="*/ 83 w 171"/>
                  <a:gd name="T23" fmla="*/ 33 h 101"/>
                  <a:gd name="T24" fmla="*/ 85 w 171"/>
                  <a:gd name="T25" fmla="*/ 38 h 101"/>
                  <a:gd name="T26" fmla="*/ 85 w 171"/>
                  <a:gd name="T27" fmla="*/ 41 h 101"/>
                  <a:gd name="T28" fmla="*/ 83 w 171"/>
                  <a:gd name="T29" fmla="*/ 45 h 101"/>
                  <a:gd name="T30" fmla="*/ 81 w 171"/>
                  <a:gd name="T31" fmla="*/ 48 h 101"/>
                  <a:gd name="T32" fmla="*/ 76 w 171"/>
                  <a:gd name="T33" fmla="*/ 50 h 101"/>
                  <a:gd name="T34" fmla="*/ 68 w 171"/>
                  <a:gd name="T35" fmla="*/ 49 h 101"/>
                  <a:gd name="T36" fmla="*/ 61 w 171"/>
                  <a:gd name="T37" fmla="*/ 48 h 101"/>
                  <a:gd name="T38" fmla="*/ 54 w 171"/>
                  <a:gd name="T39" fmla="*/ 48 h 101"/>
                  <a:gd name="T40" fmla="*/ 48 w 171"/>
                  <a:gd name="T41" fmla="*/ 48 h 101"/>
                  <a:gd name="T42" fmla="*/ 41 w 171"/>
                  <a:gd name="T43" fmla="*/ 48 h 101"/>
                  <a:gd name="T44" fmla="*/ 34 w 171"/>
                  <a:gd name="T45" fmla="*/ 48 h 101"/>
                  <a:gd name="T46" fmla="*/ 28 w 171"/>
                  <a:gd name="T47" fmla="*/ 48 h 101"/>
                  <a:gd name="T48" fmla="*/ 21 w 171"/>
                  <a:gd name="T49" fmla="*/ 48 h 101"/>
                  <a:gd name="T50" fmla="*/ 12 w 171"/>
                  <a:gd name="T51" fmla="*/ 41 h 101"/>
                  <a:gd name="T52" fmla="*/ 6 w 171"/>
                  <a:gd name="T53" fmla="*/ 35 h 101"/>
                  <a:gd name="T54" fmla="*/ 2 w 171"/>
                  <a:gd name="T55" fmla="*/ 29 h 101"/>
                  <a:gd name="T56" fmla="*/ 0 w 171"/>
                  <a:gd name="T57" fmla="*/ 24 h 101"/>
                  <a:gd name="T58" fmla="*/ 0 w 171"/>
                  <a:gd name="T59" fmla="*/ 18 h 101"/>
                  <a:gd name="T60" fmla="*/ 2 w 171"/>
                  <a:gd name="T61" fmla="*/ 12 h 101"/>
                  <a:gd name="T62" fmla="*/ 6 w 171"/>
                  <a:gd name="T63" fmla="*/ 6 h 101"/>
                  <a:gd name="T64" fmla="*/ 13 w 171"/>
                  <a:gd name="T65" fmla="*/ 0 h 1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101"/>
                  <a:gd name="T101" fmla="*/ 171 w 171"/>
                  <a:gd name="T102" fmla="*/ 101 h 1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101">
                    <a:moveTo>
                      <a:pt x="27" y="0"/>
                    </a:moveTo>
                    <a:lnTo>
                      <a:pt x="44" y="5"/>
                    </a:lnTo>
                    <a:lnTo>
                      <a:pt x="62" y="12"/>
                    </a:lnTo>
                    <a:lnTo>
                      <a:pt x="77" y="17"/>
                    </a:lnTo>
                    <a:lnTo>
                      <a:pt x="92" y="22"/>
                    </a:lnTo>
                    <a:lnTo>
                      <a:pt x="107" y="25"/>
                    </a:lnTo>
                    <a:lnTo>
                      <a:pt x="122" y="32"/>
                    </a:lnTo>
                    <a:lnTo>
                      <a:pt x="138" y="37"/>
                    </a:lnTo>
                    <a:lnTo>
                      <a:pt x="158" y="44"/>
                    </a:lnTo>
                    <a:lnTo>
                      <a:pt x="161" y="51"/>
                    </a:lnTo>
                    <a:lnTo>
                      <a:pt x="165" y="59"/>
                    </a:lnTo>
                    <a:lnTo>
                      <a:pt x="167" y="67"/>
                    </a:lnTo>
                    <a:lnTo>
                      <a:pt x="171" y="77"/>
                    </a:lnTo>
                    <a:lnTo>
                      <a:pt x="170" y="83"/>
                    </a:lnTo>
                    <a:lnTo>
                      <a:pt x="167" y="91"/>
                    </a:lnTo>
                    <a:lnTo>
                      <a:pt x="162" y="96"/>
                    </a:lnTo>
                    <a:lnTo>
                      <a:pt x="153" y="101"/>
                    </a:lnTo>
                    <a:lnTo>
                      <a:pt x="137" y="98"/>
                    </a:lnTo>
                    <a:lnTo>
                      <a:pt x="123" y="97"/>
                    </a:lnTo>
                    <a:lnTo>
                      <a:pt x="109" y="97"/>
                    </a:lnTo>
                    <a:lnTo>
                      <a:pt x="97" y="97"/>
                    </a:lnTo>
                    <a:lnTo>
                      <a:pt x="83" y="96"/>
                    </a:lnTo>
                    <a:lnTo>
                      <a:pt x="69" y="96"/>
                    </a:lnTo>
                    <a:lnTo>
                      <a:pt x="56" y="96"/>
                    </a:lnTo>
                    <a:lnTo>
                      <a:pt x="42" y="96"/>
                    </a:lnTo>
                    <a:lnTo>
                      <a:pt x="24" y="83"/>
                    </a:lnTo>
                    <a:lnTo>
                      <a:pt x="12" y="71"/>
                    </a:lnTo>
                    <a:lnTo>
                      <a:pt x="4" y="59"/>
                    </a:lnTo>
                    <a:lnTo>
                      <a:pt x="0" y="48"/>
                    </a:lnTo>
                    <a:lnTo>
                      <a:pt x="0" y="36"/>
                    </a:lnTo>
                    <a:lnTo>
                      <a:pt x="4" y="24"/>
                    </a:lnTo>
                    <a:lnTo>
                      <a:pt x="13" y="12"/>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6" name="Freeform 675">
                <a:extLst>
                  <a:ext uri="{FF2B5EF4-FFF2-40B4-BE49-F238E27FC236}">
                    <a16:creationId xmlns:a16="http://schemas.microsoft.com/office/drawing/2014/main" id="{C6474542-A0BE-374C-B82D-55C89C9F647E}"/>
                  </a:ext>
                </a:extLst>
              </p:cNvPr>
              <p:cNvSpPr>
                <a:spLocks/>
              </p:cNvSpPr>
              <p:nvPr/>
            </p:nvSpPr>
            <p:spPr bwMode="auto">
              <a:xfrm>
                <a:off x="4306" y="3421"/>
                <a:ext cx="79" cy="46"/>
              </a:xfrm>
              <a:custGeom>
                <a:avLst/>
                <a:gdLst>
                  <a:gd name="T0" fmla="*/ 12 w 158"/>
                  <a:gd name="T1" fmla="*/ 0 h 92"/>
                  <a:gd name="T2" fmla="*/ 20 w 158"/>
                  <a:gd name="T3" fmla="*/ 2 h 92"/>
                  <a:gd name="T4" fmla="*/ 28 w 158"/>
                  <a:gd name="T5" fmla="*/ 5 h 92"/>
                  <a:gd name="T6" fmla="*/ 36 w 158"/>
                  <a:gd name="T7" fmla="*/ 7 h 92"/>
                  <a:gd name="T8" fmla="*/ 42 w 158"/>
                  <a:gd name="T9" fmla="*/ 10 h 92"/>
                  <a:gd name="T10" fmla="*/ 48 w 158"/>
                  <a:gd name="T11" fmla="*/ 12 h 92"/>
                  <a:gd name="T12" fmla="*/ 56 w 158"/>
                  <a:gd name="T13" fmla="*/ 13 h 92"/>
                  <a:gd name="T14" fmla="*/ 63 w 158"/>
                  <a:gd name="T15" fmla="*/ 16 h 92"/>
                  <a:gd name="T16" fmla="*/ 73 w 158"/>
                  <a:gd name="T17" fmla="*/ 19 h 92"/>
                  <a:gd name="T18" fmla="*/ 74 w 158"/>
                  <a:gd name="T19" fmla="*/ 22 h 92"/>
                  <a:gd name="T20" fmla="*/ 76 w 158"/>
                  <a:gd name="T21" fmla="*/ 26 h 92"/>
                  <a:gd name="T22" fmla="*/ 78 w 158"/>
                  <a:gd name="T23" fmla="*/ 30 h 92"/>
                  <a:gd name="T24" fmla="*/ 79 w 158"/>
                  <a:gd name="T25" fmla="*/ 35 h 92"/>
                  <a:gd name="T26" fmla="*/ 79 w 158"/>
                  <a:gd name="T27" fmla="*/ 38 h 92"/>
                  <a:gd name="T28" fmla="*/ 78 w 158"/>
                  <a:gd name="T29" fmla="*/ 42 h 92"/>
                  <a:gd name="T30" fmla="*/ 75 w 158"/>
                  <a:gd name="T31" fmla="*/ 44 h 92"/>
                  <a:gd name="T32" fmla="*/ 70 w 158"/>
                  <a:gd name="T33" fmla="*/ 46 h 92"/>
                  <a:gd name="T34" fmla="*/ 62 w 158"/>
                  <a:gd name="T35" fmla="*/ 45 h 92"/>
                  <a:gd name="T36" fmla="*/ 56 w 158"/>
                  <a:gd name="T37" fmla="*/ 45 h 92"/>
                  <a:gd name="T38" fmla="*/ 50 w 158"/>
                  <a:gd name="T39" fmla="*/ 45 h 92"/>
                  <a:gd name="T40" fmla="*/ 44 w 158"/>
                  <a:gd name="T41" fmla="*/ 45 h 92"/>
                  <a:gd name="T42" fmla="*/ 39 w 158"/>
                  <a:gd name="T43" fmla="*/ 45 h 92"/>
                  <a:gd name="T44" fmla="*/ 33 w 158"/>
                  <a:gd name="T45" fmla="*/ 45 h 92"/>
                  <a:gd name="T46" fmla="*/ 26 w 158"/>
                  <a:gd name="T47" fmla="*/ 44 h 92"/>
                  <a:gd name="T48" fmla="*/ 19 w 158"/>
                  <a:gd name="T49" fmla="*/ 44 h 92"/>
                  <a:gd name="T50" fmla="*/ 11 w 158"/>
                  <a:gd name="T51" fmla="*/ 39 h 92"/>
                  <a:gd name="T52" fmla="*/ 6 w 158"/>
                  <a:gd name="T53" fmla="*/ 33 h 92"/>
                  <a:gd name="T54" fmla="*/ 2 w 158"/>
                  <a:gd name="T55" fmla="*/ 27 h 92"/>
                  <a:gd name="T56" fmla="*/ 0 w 158"/>
                  <a:gd name="T57" fmla="*/ 22 h 92"/>
                  <a:gd name="T58" fmla="*/ 0 w 158"/>
                  <a:gd name="T59" fmla="*/ 17 h 92"/>
                  <a:gd name="T60" fmla="*/ 2 w 158"/>
                  <a:gd name="T61" fmla="*/ 11 h 92"/>
                  <a:gd name="T62" fmla="*/ 6 w 158"/>
                  <a:gd name="T63" fmla="*/ 5 h 92"/>
                  <a:gd name="T64" fmla="*/ 12 w 158"/>
                  <a:gd name="T65" fmla="*/ 0 h 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92"/>
                  <a:gd name="T101" fmla="*/ 158 w 158"/>
                  <a:gd name="T102" fmla="*/ 92 h 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92">
                    <a:moveTo>
                      <a:pt x="24" y="0"/>
                    </a:moveTo>
                    <a:lnTo>
                      <a:pt x="40" y="4"/>
                    </a:lnTo>
                    <a:lnTo>
                      <a:pt x="57" y="9"/>
                    </a:lnTo>
                    <a:lnTo>
                      <a:pt x="71" y="14"/>
                    </a:lnTo>
                    <a:lnTo>
                      <a:pt x="84" y="19"/>
                    </a:lnTo>
                    <a:lnTo>
                      <a:pt x="97" y="23"/>
                    </a:lnTo>
                    <a:lnTo>
                      <a:pt x="112" y="27"/>
                    </a:lnTo>
                    <a:lnTo>
                      <a:pt x="127" y="32"/>
                    </a:lnTo>
                    <a:lnTo>
                      <a:pt x="146" y="38"/>
                    </a:lnTo>
                    <a:lnTo>
                      <a:pt x="148" y="44"/>
                    </a:lnTo>
                    <a:lnTo>
                      <a:pt x="152" y="53"/>
                    </a:lnTo>
                    <a:lnTo>
                      <a:pt x="155" y="60"/>
                    </a:lnTo>
                    <a:lnTo>
                      <a:pt x="158" y="69"/>
                    </a:lnTo>
                    <a:lnTo>
                      <a:pt x="158" y="75"/>
                    </a:lnTo>
                    <a:lnTo>
                      <a:pt x="156" y="83"/>
                    </a:lnTo>
                    <a:lnTo>
                      <a:pt x="150" y="88"/>
                    </a:lnTo>
                    <a:lnTo>
                      <a:pt x="140" y="92"/>
                    </a:lnTo>
                    <a:lnTo>
                      <a:pt x="125" y="89"/>
                    </a:lnTo>
                    <a:lnTo>
                      <a:pt x="112" y="89"/>
                    </a:lnTo>
                    <a:lnTo>
                      <a:pt x="101" y="89"/>
                    </a:lnTo>
                    <a:lnTo>
                      <a:pt x="89" y="89"/>
                    </a:lnTo>
                    <a:lnTo>
                      <a:pt x="77" y="89"/>
                    </a:lnTo>
                    <a:lnTo>
                      <a:pt x="66" y="89"/>
                    </a:lnTo>
                    <a:lnTo>
                      <a:pt x="52" y="88"/>
                    </a:lnTo>
                    <a:lnTo>
                      <a:pt x="38" y="88"/>
                    </a:lnTo>
                    <a:lnTo>
                      <a:pt x="23" y="77"/>
                    </a:lnTo>
                    <a:lnTo>
                      <a:pt x="12" y="65"/>
                    </a:lnTo>
                    <a:lnTo>
                      <a:pt x="4" y="54"/>
                    </a:lnTo>
                    <a:lnTo>
                      <a:pt x="0" y="44"/>
                    </a:lnTo>
                    <a:lnTo>
                      <a:pt x="0" y="33"/>
                    </a:lnTo>
                    <a:lnTo>
                      <a:pt x="4" y="21"/>
                    </a:lnTo>
                    <a:lnTo>
                      <a:pt x="12" y="10"/>
                    </a:lnTo>
                    <a:lnTo>
                      <a:pt x="24"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7" name="Freeform 676">
                <a:extLst>
                  <a:ext uri="{FF2B5EF4-FFF2-40B4-BE49-F238E27FC236}">
                    <a16:creationId xmlns:a16="http://schemas.microsoft.com/office/drawing/2014/main" id="{B75E4579-349F-074E-BFA6-D3300A805A10}"/>
                  </a:ext>
                </a:extLst>
              </p:cNvPr>
              <p:cNvSpPr>
                <a:spLocks/>
              </p:cNvSpPr>
              <p:nvPr/>
            </p:nvSpPr>
            <p:spPr bwMode="auto">
              <a:xfrm>
                <a:off x="4308" y="3423"/>
                <a:ext cx="73" cy="41"/>
              </a:xfrm>
              <a:custGeom>
                <a:avLst/>
                <a:gdLst>
                  <a:gd name="T0" fmla="*/ 11 w 146"/>
                  <a:gd name="T1" fmla="*/ 0 h 83"/>
                  <a:gd name="T2" fmla="*/ 19 w 146"/>
                  <a:gd name="T3" fmla="*/ 2 h 83"/>
                  <a:gd name="T4" fmla="*/ 26 w 146"/>
                  <a:gd name="T5" fmla="*/ 4 h 83"/>
                  <a:gd name="T6" fmla="*/ 31 w 146"/>
                  <a:gd name="T7" fmla="*/ 6 h 83"/>
                  <a:gd name="T8" fmla="*/ 38 w 146"/>
                  <a:gd name="T9" fmla="*/ 8 h 83"/>
                  <a:gd name="T10" fmla="*/ 43 w 146"/>
                  <a:gd name="T11" fmla="*/ 9 h 83"/>
                  <a:gd name="T12" fmla="*/ 49 w 146"/>
                  <a:gd name="T13" fmla="*/ 11 h 83"/>
                  <a:gd name="T14" fmla="*/ 56 w 146"/>
                  <a:gd name="T15" fmla="*/ 13 h 83"/>
                  <a:gd name="T16" fmla="*/ 65 w 146"/>
                  <a:gd name="T17" fmla="*/ 16 h 83"/>
                  <a:gd name="T18" fmla="*/ 66 w 146"/>
                  <a:gd name="T19" fmla="*/ 19 h 83"/>
                  <a:gd name="T20" fmla="*/ 69 w 146"/>
                  <a:gd name="T21" fmla="*/ 23 h 83"/>
                  <a:gd name="T22" fmla="*/ 71 w 146"/>
                  <a:gd name="T23" fmla="*/ 27 h 83"/>
                  <a:gd name="T24" fmla="*/ 73 w 146"/>
                  <a:gd name="T25" fmla="*/ 31 h 83"/>
                  <a:gd name="T26" fmla="*/ 73 w 146"/>
                  <a:gd name="T27" fmla="*/ 34 h 83"/>
                  <a:gd name="T28" fmla="*/ 73 w 146"/>
                  <a:gd name="T29" fmla="*/ 38 h 83"/>
                  <a:gd name="T30" fmla="*/ 69 w 146"/>
                  <a:gd name="T31" fmla="*/ 40 h 83"/>
                  <a:gd name="T32" fmla="*/ 64 w 146"/>
                  <a:gd name="T33" fmla="*/ 41 h 83"/>
                  <a:gd name="T34" fmla="*/ 57 w 146"/>
                  <a:gd name="T35" fmla="*/ 40 h 83"/>
                  <a:gd name="T36" fmla="*/ 51 w 146"/>
                  <a:gd name="T37" fmla="*/ 40 h 83"/>
                  <a:gd name="T38" fmla="*/ 46 w 146"/>
                  <a:gd name="T39" fmla="*/ 40 h 83"/>
                  <a:gd name="T40" fmla="*/ 41 w 146"/>
                  <a:gd name="T41" fmla="*/ 41 h 83"/>
                  <a:gd name="T42" fmla="*/ 36 w 146"/>
                  <a:gd name="T43" fmla="*/ 41 h 83"/>
                  <a:gd name="T44" fmla="*/ 30 w 146"/>
                  <a:gd name="T45" fmla="*/ 41 h 83"/>
                  <a:gd name="T46" fmla="*/ 24 w 146"/>
                  <a:gd name="T47" fmla="*/ 41 h 83"/>
                  <a:gd name="T48" fmla="*/ 18 w 146"/>
                  <a:gd name="T49" fmla="*/ 41 h 83"/>
                  <a:gd name="T50" fmla="*/ 11 w 146"/>
                  <a:gd name="T51" fmla="*/ 35 h 83"/>
                  <a:gd name="T52" fmla="*/ 5 w 146"/>
                  <a:gd name="T53" fmla="*/ 30 h 83"/>
                  <a:gd name="T54" fmla="*/ 1 w 146"/>
                  <a:gd name="T55" fmla="*/ 25 h 83"/>
                  <a:gd name="T56" fmla="*/ 0 w 146"/>
                  <a:gd name="T57" fmla="*/ 20 h 83"/>
                  <a:gd name="T58" fmla="*/ 0 w 146"/>
                  <a:gd name="T59" fmla="*/ 15 h 83"/>
                  <a:gd name="T60" fmla="*/ 2 w 146"/>
                  <a:gd name="T61" fmla="*/ 10 h 83"/>
                  <a:gd name="T62" fmla="*/ 6 w 146"/>
                  <a:gd name="T63" fmla="*/ 5 h 83"/>
                  <a:gd name="T64" fmla="*/ 11 w 146"/>
                  <a:gd name="T65" fmla="*/ 0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6"/>
                  <a:gd name="T100" fmla="*/ 0 h 83"/>
                  <a:gd name="T101" fmla="*/ 146 w 146"/>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6" h="83">
                    <a:moveTo>
                      <a:pt x="23" y="0"/>
                    </a:moveTo>
                    <a:lnTo>
                      <a:pt x="38" y="4"/>
                    </a:lnTo>
                    <a:lnTo>
                      <a:pt x="52" y="9"/>
                    </a:lnTo>
                    <a:lnTo>
                      <a:pt x="63" y="12"/>
                    </a:lnTo>
                    <a:lnTo>
                      <a:pt x="76" y="16"/>
                    </a:lnTo>
                    <a:lnTo>
                      <a:pt x="87" y="19"/>
                    </a:lnTo>
                    <a:lnTo>
                      <a:pt x="98" y="23"/>
                    </a:lnTo>
                    <a:lnTo>
                      <a:pt x="112" y="26"/>
                    </a:lnTo>
                    <a:lnTo>
                      <a:pt x="130" y="33"/>
                    </a:lnTo>
                    <a:lnTo>
                      <a:pt x="132" y="39"/>
                    </a:lnTo>
                    <a:lnTo>
                      <a:pt x="137" y="46"/>
                    </a:lnTo>
                    <a:lnTo>
                      <a:pt x="141" y="54"/>
                    </a:lnTo>
                    <a:lnTo>
                      <a:pt x="146" y="63"/>
                    </a:lnTo>
                    <a:lnTo>
                      <a:pt x="146" y="69"/>
                    </a:lnTo>
                    <a:lnTo>
                      <a:pt x="145" y="76"/>
                    </a:lnTo>
                    <a:lnTo>
                      <a:pt x="138" y="80"/>
                    </a:lnTo>
                    <a:lnTo>
                      <a:pt x="128" y="83"/>
                    </a:lnTo>
                    <a:lnTo>
                      <a:pt x="114" y="80"/>
                    </a:lnTo>
                    <a:lnTo>
                      <a:pt x="103" y="80"/>
                    </a:lnTo>
                    <a:lnTo>
                      <a:pt x="92" y="81"/>
                    </a:lnTo>
                    <a:lnTo>
                      <a:pt x="82" y="83"/>
                    </a:lnTo>
                    <a:lnTo>
                      <a:pt x="71" y="83"/>
                    </a:lnTo>
                    <a:lnTo>
                      <a:pt x="61" y="83"/>
                    </a:lnTo>
                    <a:lnTo>
                      <a:pt x="48" y="83"/>
                    </a:lnTo>
                    <a:lnTo>
                      <a:pt x="37" y="83"/>
                    </a:lnTo>
                    <a:lnTo>
                      <a:pt x="22" y="71"/>
                    </a:lnTo>
                    <a:lnTo>
                      <a:pt x="10" y="61"/>
                    </a:lnTo>
                    <a:lnTo>
                      <a:pt x="3" y="51"/>
                    </a:lnTo>
                    <a:lnTo>
                      <a:pt x="0" y="41"/>
                    </a:lnTo>
                    <a:lnTo>
                      <a:pt x="0" y="30"/>
                    </a:lnTo>
                    <a:lnTo>
                      <a:pt x="4" y="20"/>
                    </a:lnTo>
                    <a:lnTo>
                      <a:pt x="12" y="10"/>
                    </a:lnTo>
                    <a:lnTo>
                      <a:pt x="23"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8" name="Freeform 677">
                <a:extLst>
                  <a:ext uri="{FF2B5EF4-FFF2-40B4-BE49-F238E27FC236}">
                    <a16:creationId xmlns:a16="http://schemas.microsoft.com/office/drawing/2014/main" id="{8496872A-04F3-BD4F-A012-485EEF79D0F1}"/>
                  </a:ext>
                </a:extLst>
              </p:cNvPr>
              <p:cNvSpPr>
                <a:spLocks/>
              </p:cNvSpPr>
              <p:nvPr/>
            </p:nvSpPr>
            <p:spPr bwMode="auto">
              <a:xfrm>
                <a:off x="4308" y="3324"/>
                <a:ext cx="117" cy="79"/>
              </a:xfrm>
              <a:custGeom>
                <a:avLst/>
                <a:gdLst>
                  <a:gd name="T0" fmla="*/ 16 w 235"/>
                  <a:gd name="T1" fmla="*/ 0 h 158"/>
                  <a:gd name="T2" fmla="*/ 28 w 235"/>
                  <a:gd name="T3" fmla="*/ 3 h 158"/>
                  <a:gd name="T4" fmla="*/ 41 w 235"/>
                  <a:gd name="T5" fmla="*/ 7 h 158"/>
                  <a:gd name="T6" fmla="*/ 53 w 235"/>
                  <a:gd name="T7" fmla="*/ 11 h 158"/>
                  <a:gd name="T8" fmla="*/ 66 w 235"/>
                  <a:gd name="T9" fmla="*/ 15 h 158"/>
                  <a:gd name="T10" fmla="*/ 78 w 235"/>
                  <a:gd name="T11" fmla="*/ 19 h 158"/>
                  <a:gd name="T12" fmla="*/ 91 w 235"/>
                  <a:gd name="T13" fmla="*/ 23 h 158"/>
                  <a:gd name="T14" fmla="*/ 103 w 235"/>
                  <a:gd name="T15" fmla="*/ 27 h 158"/>
                  <a:gd name="T16" fmla="*/ 117 w 235"/>
                  <a:gd name="T17" fmla="*/ 32 h 158"/>
                  <a:gd name="T18" fmla="*/ 117 w 235"/>
                  <a:gd name="T19" fmla="*/ 38 h 158"/>
                  <a:gd name="T20" fmla="*/ 117 w 235"/>
                  <a:gd name="T21" fmla="*/ 44 h 158"/>
                  <a:gd name="T22" fmla="*/ 117 w 235"/>
                  <a:gd name="T23" fmla="*/ 50 h 158"/>
                  <a:gd name="T24" fmla="*/ 117 w 235"/>
                  <a:gd name="T25" fmla="*/ 57 h 158"/>
                  <a:gd name="T26" fmla="*/ 115 w 235"/>
                  <a:gd name="T27" fmla="*/ 63 h 158"/>
                  <a:gd name="T28" fmla="*/ 113 w 235"/>
                  <a:gd name="T29" fmla="*/ 70 h 158"/>
                  <a:gd name="T30" fmla="*/ 110 w 235"/>
                  <a:gd name="T31" fmla="*/ 75 h 158"/>
                  <a:gd name="T32" fmla="*/ 107 w 235"/>
                  <a:gd name="T33" fmla="*/ 79 h 158"/>
                  <a:gd name="T34" fmla="*/ 96 w 235"/>
                  <a:gd name="T35" fmla="*/ 77 h 158"/>
                  <a:gd name="T36" fmla="*/ 86 w 235"/>
                  <a:gd name="T37" fmla="*/ 75 h 158"/>
                  <a:gd name="T38" fmla="*/ 76 w 235"/>
                  <a:gd name="T39" fmla="*/ 72 h 158"/>
                  <a:gd name="T40" fmla="*/ 66 w 235"/>
                  <a:gd name="T41" fmla="*/ 69 h 158"/>
                  <a:gd name="T42" fmla="*/ 55 w 235"/>
                  <a:gd name="T43" fmla="*/ 65 h 158"/>
                  <a:gd name="T44" fmla="*/ 45 w 235"/>
                  <a:gd name="T45" fmla="*/ 62 h 158"/>
                  <a:gd name="T46" fmla="*/ 35 w 235"/>
                  <a:gd name="T47" fmla="*/ 59 h 158"/>
                  <a:gd name="T48" fmla="*/ 25 w 235"/>
                  <a:gd name="T49" fmla="*/ 58 h 158"/>
                  <a:gd name="T50" fmla="*/ 14 w 235"/>
                  <a:gd name="T51" fmla="*/ 50 h 158"/>
                  <a:gd name="T52" fmla="*/ 7 w 235"/>
                  <a:gd name="T53" fmla="*/ 43 h 158"/>
                  <a:gd name="T54" fmla="*/ 2 w 235"/>
                  <a:gd name="T55" fmla="*/ 36 h 158"/>
                  <a:gd name="T56" fmla="*/ 0 w 235"/>
                  <a:gd name="T57" fmla="*/ 29 h 158"/>
                  <a:gd name="T58" fmla="*/ 0 w 235"/>
                  <a:gd name="T59" fmla="*/ 21 h 158"/>
                  <a:gd name="T60" fmla="*/ 3 w 235"/>
                  <a:gd name="T61" fmla="*/ 14 h 158"/>
                  <a:gd name="T62" fmla="*/ 8 w 235"/>
                  <a:gd name="T63" fmla="*/ 7 h 158"/>
                  <a:gd name="T64" fmla="*/ 16 w 235"/>
                  <a:gd name="T65" fmla="*/ 0 h 1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5"/>
                  <a:gd name="T100" fmla="*/ 0 h 158"/>
                  <a:gd name="T101" fmla="*/ 235 w 235"/>
                  <a:gd name="T102" fmla="*/ 158 h 1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5" h="158">
                    <a:moveTo>
                      <a:pt x="33" y="0"/>
                    </a:moveTo>
                    <a:lnTo>
                      <a:pt x="57" y="7"/>
                    </a:lnTo>
                    <a:lnTo>
                      <a:pt x="82" y="15"/>
                    </a:lnTo>
                    <a:lnTo>
                      <a:pt x="107" y="23"/>
                    </a:lnTo>
                    <a:lnTo>
                      <a:pt x="132" y="30"/>
                    </a:lnTo>
                    <a:lnTo>
                      <a:pt x="157" y="38"/>
                    </a:lnTo>
                    <a:lnTo>
                      <a:pt x="182" y="46"/>
                    </a:lnTo>
                    <a:lnTo>
                      <a:pt x="207" y="55"/>
                    </a:lnTo>
                    <a:lnTo>
                      <a:pt x="234" y="64"/>
                    </a:lnTo>
                    <a:lnTo>
                      <a:pt x="234" y="75"/>
                    </a:lnTo>
                    <a:lnTo>
                      <a:pt x="235" y="88"/>
                    </a:lnTo>
                    <a:lnTo>
                      <a:pt x="234" y="101"/>
                    </a:lnTo>
                    <a:lnTo>
                      <a:pt x="234" y="115"/>
                    </a:lnTo>
                    <a:lnTo>
                      <a:pt x="230" y="127"/>
                    </a:lnTo>
                    <a:lnTo>
                      <a:pt x="226" y="139"/>
                    </a:lnTo>
                    <a:lnTo>
                      <a:pt x="221" y="149"/>
                    </a:lnTo>
                    <a:lnTo>
                      <a:pt x="215" y="158"/>
                    </a:lnTo>
                    <a:lnTo>
                      <a:pt x="193" y="153"/>
                    </a:lnTo>
                    <a:lnTo>
                      <a:pt x="173" y="149"/>
                    </a:lnTo>
                    <a:lnTo>
                      <a:pt x="152" y="143"/>
                    </a:lnTo>
                    <a:lnTo>
                      <a:pt x="132" y="137"/>
                    </a:lnTo>
                    <a:lnTo>
                      <a:pt x="111" y="130"/>
                    </a:lnTo>
                    <a:lnTo>
                      <a:pt x="91" y="124"/>
                    </a:lnTo>
                    <a:lnTo>
                      <a:pt x="71" y="119"/>
                    </a:lnTo>
                    <a:lnTo>
                      <a:pt x="51" y="116"/>
                    </a:lnTo>
                    <a:lnTo>
                      <a:pt x="29" y="101"/>
                    </a:lnTo>
                    <a:lnTo>
                      <a:pt x="15" y="86"/>
                    </a:lnTo>
                    <a:lnTo>
                      <a:pt x="4" y="71"/>
                    </a:lnTo>
                    <a:lnTo>
                      <a:pt x="0" y="58"/>
                    </a:lnTo>
                    <a:lnTo>
                      <a:pt x="0" y="43"/>
                    </a:lnTo>
                    <a:lnTo>
                      <a:pt x="7" y="29"/>
                    </a:lnTo>
                    <a:lnTo>
                      <a:pt x="17" y="14"/>
                    </a:lnTo>
                    <a:lnTo>
                      <a:pt x="33" y="0"/>
                    </a:lnTo>
                    <a:close/>
                  </a:path>
                </a:pathLst>
              </a:custGeom>
              <a:solidFill>
                <a:srgbClr val="9CADA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59" name="Freeform 678">
                <a:extLst>
                  <a:ext uri="{FF2B5EF4-FFF2-40B4-BE49-F238E27FC236}">
                    <a16:creationId xmlns:a16="http://schemas.microsoft.com/office/drawing/2014/main" id="{FB7FB031-1D74-C04B-ADA5-2E2A9E031258}"/>
                  </a:ext>
                </a:extLst>
              </p:cNvPr>
              <p:cNvSpPr>
                <a:spLocks/>
              </p:cNvSpPr>
              <p:nvPr/>
            </p:nvSpPr>
            <p:spPr bwMode="auto">
              <a:xfrm>
                <a:off x="4311" y="3325"/>
                <a:ext cx="112" cy="75"/>
              </a:xfrm>
              <a:custGeom>
                <a:avLst/>
                <a:gdLst>
                  <a:gd name="T0" fmla="*/ 16 w 225"/>
                  <a:gd name="T1" fmla="*/ 0 h 151"/>
                  <a:gd name="T2" fmla="*/ 27 w 225"/>
                  <a:gd name="T3" fmla="*/ 4 h 151"/>
                  <a:gd name="T4" fmla="*/ 39 w 225"/>
                  <a:gd name="T5" fmla="*/ 7 h 151"/>
                  <a:gd name="T6" fmla="*/ 51 w 225"/>
                  <a:gd name="T7" fmla="*/ 11 h 151"/>
                  <a:gd name="T8" fmla="*/ 63 w 225"/>
                  <a:gd name="T9" fmla="*/ 16 h 151"/>
                  <a:gd name="T10" fmla="*/ 75 w 225"/>
                  <a:gd name="T11" fmla="*/ 19 h 151"/>
                  <a:gd name="T12" fmla="*/ 87 w 225"/>
                  <a:gd name="T13" fmla="*/ 23 h 151"/>
                  <a:gd name="T14" fmla="*/ 99 w 225"/>
                  <a:gd name="T15" fmla="*/ 27 h 151"/>
                  <a:gd name="T16" fmla="*/ 112 w 225"/>
                  <a:gd name="T17" fmla="*/ 31 h 151"/>
                  <a:gd name="T18" fmla="*/ 112 w 225"/>
                  <a:gd name="T19" fmla="*/ 36 h 151"/>
                  <a:gd name="T20" fmla="*/ 112 w 225"/>
                  <a:gd name="T21" fmla="*/ 42 h 151"/>
                  <a:gd name="T22" fmla="*/ 112 w 225"/>
                  <a:gd name="T23" fmla="*/ 48 h 151"/>
                  <a:gd name="T24" fmla="*/ 112 w 225"/>
                  <a:gd name="T25" fmla="*/ 55 h 151"/>
                  <a:gd name="T26" fmla="*/ 110 w 225"/>
                  <a:gd name="T27" fmla="*/ 61 h 151"/>
                  <a:gd name="T28" fmla="*/ 108 w 225"/>
                  <a:gd name="T29" fmla="*/ 66 h 151"/>
                  <a:gd name="T30" fmla="*/ 105 w 225"/>
                  <a:gd name="T31" fmla="*/ 71 h 151"/>
                  <a:gd name="T32" fmla="*/ 103 w 225"/>
                  <a:gd name="T33" fmla="*/ 75 h 151"/>
                  <a:gd name="T34" fmla="*/ 92 w 225"/>
                  <a:gd name="T35" fmla="*/ 73 h 151"/>
                  <a:gd name="T36" fmla="*/ 82 w 225"/>
                  <a:gd name="T37" fmla="*/ 71 h 151"/>
                  <a:gd name="T38" fmla="*/ 72 w 225"/>
                  <a:gd name="T39" fmla="*/ 68 h 151"/>
                  <a:gd name="T40" fmla="*/ 63 w 225"/>
                  <a:gd name="T41" fmla="*/ 66 h 151"/>
                  <a:gd name="T42" fmla="*/ 53 w 225"/>
                  <a:gd name="T43" fmla="*/ 63 h 151"/>
                  <a:gd name="T44" fmla="*/ 43 w 225"/>
                  <a:gd name="T45" fmla="*/ 60 h 151"/>
                  <a:gd name="T46" fmla="*/ 34 w 225"/>
                  <a:gd name="T47" fmla="*/ 58 h 151"/>
                  <a:gd name="T48" fmla="*/ 24 w 225"/>
                  <a:gd name="T49" fmla="*/ 57 h 151"/>
                  <a:gd name="T50" fmla="*/ 14 w 225"/>
                  <a:gd name="T51" fmla="*/ 49 h 151"/>
                  <a:gd name="T52" fmla="*/ 7 w 225"/>
                  <a:gd name="T53" fmla="*/ 42 h 151"/>
                  <a:gd name="T54" fmla="*/ 2 w 225"/>
                  <a:gd name="T55" fmla="*/ 35 h 151"/>
                  <a:gd name="T56" fmla="*/ 0 w 225"/>
                  <a:gd name="T57" fmla="*/ 28 h 151"/>
                  <a:gd name="T58" fmla="*/ 0 w 225"/>
                  <a:gd name="T59" fmla="*/ 21 h 151"/>
                  <a:gd name="T60" fmla="*/ 2 w 225"/>
                  <a:gd name="T61" fmla="*/ 14 h 151"/>
                  <a:gd name="T62" fmla="*/ 7 w 225"/>
                  <a:gd name="T63" fmla="*/ 7 h 151"/>
                  <a:gd name="T64" fmla="*/ 16 w 225"/>
                  <a:gd name="T65" fmla="*/ 0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5"/>
                  <a:gd name="T100" fmla="*/ 0 h 151"/>
                  <a:gd name="T101" fmla="*/ 225 w 225"/>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5" h="151">
                    <a:moveTo>
                      <a:pt x="32" y="0"/>
                    </a:moveTo>
                    <a:lnTo>
                      <a:pt x="54" y="8"/>
                    </a:lnTo>
                    <a:lnTo>
                      <a:pt x="79" y="15"/>
                    </a:lnTo>
                    <a:lnTo>
                      <a:pt x="102" y="23"/>
                    </a:lnTo>
                    <a:lnTo>
                      <a:pt x="127" y="32"/>
                    </a:lnTo>
                    <a:lnTo>
                      <a:pt x="151" y="39"/>
                    </a:lnTo>
                    <a:lnTo>
                      <a:pt x="175" y="47"/>
                    </a:lnTo>
                    <a:lnTo>
                      <a:pt x="199" y="54"/>
                    </a:lnTo>
                    <a:lnTo>
                      <a:pt x="224" y="63"/>
                    </a:lnTo>
                    <a:lnTo>
                      <a:pt x="224" y="73"/>
                    </a:lnTo>
                    <a:lnTo>
                      <a:pt x="225" y="85"/>
                    </a:lnTo>
                    <a:lnTo>
                      <a:pt x="224" y="97"/>
                    </a:lnTo>
                    <a:lnTo>
                      <a:pt x="224" y="110"/>
                    </a:lnTo>
                    <a:lnTo>
                      <a:pt x="220" y="122"/>
                    </a:lnTo>
                    <a:lnTo>
                      <a:pt x="216" y="133"/>
                    </a:lnTo>
                    <a:lnTo>
                      <a:pt x="211" y="142"/>
                    </a:lnTo>
                    <a:lnTo>
                      <a:pt x="206" y="151"/>
                    </a:lnTo>
                    <a:lnTo>
                      <a:pt x="185" y="147"/>
                    </a:lnTo>
                    <a:lnTo>
                      <a:pt x="165" y="143"/>
                    </a:lnTo>
                    <a:lnTo>
                      <a:pt x="145" y="137"/>
                    </a:lnTo>
                    <a:lnTo>
                      <a:pt x="126" y="132"/>
                    </a:lnTo>
                    <a:lnTo>
                      <a:pt x="106" y="126"/>
                    </a:lnTo>
                    <a:lnTo>
                      <a:pt x="87" y="121"/>
                    </a:lnTo>
                    <a:lnTo>
                      <a:pt x="68" y="117"/>
                    </a:lnTo>
                    <a:lnTo>
                      <a:pt x="49" y="114"/>
                    </a:lnTo>
                    <a:lnTo>
                      <a:pt x="28" y="99"/>
                    </a:lnTo>
                    <a:lnTo>
                      <a:pt x="14" y="85"/>
                    </a:lnTo>
                    <a:lnTo>
                      <a:pt x="4" y="70"/>
                    </a:lnTo>
                    <a:lnTo>
                      <a:pt x="0" y="57"/>
                    </a:lnTo>
                    <a:lnTo>
                      <a:pt x="0" y="42"/>
                    </a:lnTo>
                    <a:lnTo>
                      <a:pt x="5" y="28"/>
                    </a:lnTo>
                    <a:lnTo>
                      <a:pt x="15" y="14"/>
                    </a:lnTo>
                    <a:lnTo>
                      <a:pt x="32" y="0"/>
                    </a:lnTo>
                    <a:close/>
                  </a:path>
                </a:pathLst>
              </a:custGeom>
              <a:solidFill>
                <a:srgbClr val="A3B5B5"/>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0" name="Freeform 679">
                <a:extLst>
                  <a:ext uri="{FF2B5EF4-FFF2-40B4-BE49-F238E27FC236}">
                    <a16:creationId xmlns:a16="http://schemas.microsoft.com/office/drawing/2014/main" id="{496C0171-91DE-A240-A232-1F3120C280AE}"/>
                  </a:ext>
                </a:extLst>
              </p:cNvPr>
              <p:cNvSpPr>
                <a:spLocks/>
              </p:cNvSpPr>
              <p:nvPr/>
            </p:nvSpPr>
            <p:spPr bwMode="auto">
              <a:xfrm>
                <a:off x="4313" y="3326"/>
                <a:ext cx="107" cy="71"/>
              </a:xfrm>
              <a:custGeom>
                <a:avLst/>
                <a:gdLst>
                  <a:gd name="T0" fmla="*/ 15 w 215"/>
                  <a:gd name="T1" fmla="*/ 0 h 142"/>
                  <a:gd name="T2" fmla="*/ 26 w 215"/>
                  <a:gd name="T3" fmla="*/ 3 h 142"/>
                  <a:gd name="T4" fmla="*/ 38 w 215"/>
                  <a:gd name="T5" fmla="*/ 7 h 142"/>
                  <a:gd name="T6" fmla="*/ 49 w 215"/>
                  <a:gd name="T7" fmla="*/ 10 h 142"/>
                  <a:gd name="T8" fmla="*/ 60 w 215"/>
                  <a:gd name="T9" fmla="*/ 14 h 142"/>
                  <a:gd name="T10" fmla="*/ 71 w 215"/>
                  <a:gd name="T11" fmla="*/ 18 h 142"/>
                  <a:gd name="T12" fmla="*/ 83 w 215"/>
                  <a:gd name="T13" fmla="*/ 22 h 142"/>
                  <a:gd name="T14" fmla="*/ 95 w 215"/>
                  <a:gd name="T15" fmla="*/ 25 h 142"/>
                  <a:gd name="T16" fmla="*/ 107 w 215"/>
                  <a:gd name="T17" fmla="*/ 29 h 142"/>
                  <a:gd name="T18" fmla="*/ 107 w 215"/>
                  <a:gd name="T19" fmla="*/ 35 h 142"/>
                  <a:gd name="T20" fmla="*/ 107 w 215"/>
                  <a:gd name="T21" fmla="*/ 40 h 142"/>
                  <a:gd name="T22" fmla="*/ 107 w 215"/>
                  <a:gd name="T23" fmla="*/ 45 h 142"/>
                  <a:gd name="T24" fmla="*/ 107 w 215"/>
                  <a:gd name="T25" fmla="*/ 52 h 142"/>
                  <a:gd name="T26" fmla="*/ 105 w 215"/>
                  <a:gd name="T27" fmla="*/ 57 h 142"/>
                  <a:gd name="T28" fmla="*/ 103 w 215"/>
                  <a:gd name="T29" fmla="*/ 62 h 142"/>
                  <a:gd name="T30" fmla="*/ 100 w 215"/>
                  <a:gd name="T31" fmla="*/ 67 h 142"/>
                  <a:gd name="T32" fmla="*/ 98 w 215"/>
                  <a:gd name="T33" fmla="*/ 71 h 142"/>
                  <a:gd name="T34" fmla="*/ 88 w 215"/>
                  <a:gd name="T35" fmla="*/ 69 h 142"/>
                  <a:gd name="T36" fmla="*/ 79 w 215"/>
                  <a:gd name="T37" fmla="*/ 67 h 142"/>
                  <a:gd name="T38" fmla="*/ 70 w 215"/>
                  <a:gd name="T39" fmla="*/ 65 h 142"/>
                  <a:gd name="T40" fmla="*/ 60 w 215"/>
                  <a:gd name="T41" fmla="*/ 62 h 142"/>
                  <a:gd name="T42" fmla="*/ 51 w 215"/>
                  <a:gd name="T43" fmla="*/ 59 h 142"/>
                  <a:gd name="T44" fmla="*/ 41 w 215"/>
                  <a:gd name="T45" fmla="*/ 57 h 142"/>
                  <a:gd name="T46" fmla="*/ 32 w 215"/>
                  <a:gd name="T47" fmla="*/ 55 h 142"/>
                  <a:gd name="T48" fmla="*/ 23 w 215"/>
                  <a:gd name="T49" fmla="*/ 54 h 142"/>
                  <a:gd name="T50" fmla="*/ 13 w 215"/>
                  <a:gd name="T51" fmla="*/ 47 h 142"/>
                  <a:gd name="T52" fmla="*/ 6 w 215"/>
                  <a:gd name="T53" fmla="*/ 40 h 142"/>
                  <a:gd name="T54" fmla="*/ 2 w 215"/>
                  <a:gd name="T55" fmla="*/ 33 h 142"/>
                  <a:gd name="T56" fmla="*/ 0 w 215"/>
                  <a:gd name="T57" fmla="*/ 27 h 142"/>
                  <a:gd name="T58" fmla="*/ 0 w 215"/>
                  <a:gd name="T59" fmla="*/ 20 h 142"/>
                  <a:gd name="T60" fmla="*/ 2 w 215"/>
                  <a:gd name="T61" fmla="*/ 13 h 142"/>
                  <a:gd name="T62" fmla="*/ 7 w 215"/>
                  <a:gd name="T63" fmla="*/ 6 h 142"/>
                  <a:gd name="T64" fmla="*/ 15 w 215"/>
                  <a:gd name="T65" fmla="*/ 0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142"/>
                  <a:gd name="T101" fmla="*/ 215 w 215"/>
                  <a:gd name="T102" fmla="*/ 142 h 14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142">
                    <a:moveTo>
                      <a:pt x="30" y="0"/>
                    </a:moveTo>
                    <a:lnTo>
                      <a:pt x="53" y="6"/>
                    </a:lnTo>
                    <a:lnTo>
                      <a:pt x="76" y="14"/>
                    </a:lnTo>
                    <a:lnTo>
                      <a:pt x="98" y="21"/>
                    </a:lnTo>
                    <a:lnTo>
                      <a:pt x="121" y="29"/>
                    </a:lnTo>
                    <a:lnTo>
                      <a:pt x="143" y="36"/>
                    </a:lnTo>
                    <a:lnTo>
                      <a:pt x="166" y="44"/>
                    </a:lnTo>
                    <a:lnTo>
                      <a:pt x="190" y="51"/>
                    </a:lnTo>
                    <a:lnTo>
                      <a:pt x="214" y="59"/>
                    </a:lnTo>
                    <a:lnTo>
                      <a:pt x="214" y="69"/>
                    </a:lnTo>
                    <a:lnTo>
                      <a:pt x="215" y="80"/>
                    </a:lnTo>
                    <a:lnTo>
                      <a:pt x="214" y="91"/>
                    </a:lnTo>
                    <a:lnTo>
                      <a:pt x="214" y="104"/>
                    </a:lnTo>
                    <a:lnTo>
                      <a:pt x="210" y="114"/>
                    </a:lnTo>
                    <a:lnTo>
                      <a:pt x="206" y="124"/>
                    </a:lnTo>
                    <a:lnTo>
                      <a:pt x="201" y="133"/>
                    </a:lnTo>
                    <a:lnTo>
                      <a:pt x="196" y="142"/>
                    </a:lnTo>
                    <a:lnTo>
                      <a:pt x="177" y="138"/>
                    </a:lnTo>
                    <a:lnTo>
                      <a:pt x="158" y="134"/>
                    </a:lnTo>
                    <a:lnTo>
                      <a:pt x="140" y="129"/>
                    </a:lnTo>
                    <a:lnTo>
                      <a:pt x="121" y="124"/>
                    </a:lnTo>
                    <a:lnTo>
                      <a:pt x="102" y="118"/>
                    </a:lnTo>
                    <a:lnTo>
                      <a:pt x="83" y="114"/>
                    </a:lnTo>
                    <a:lnTo>
                      <a:pt x="64" y="110"/>
                    </a:lnTo>
                    <a:lnTo>
                      <a:pt x="46" y="108"/>
                    </a:lnTo>
                    <a:lnTo>
                      <a:pt x="27" y="94"/>
                    </a:lnTo>
                    <a:lnTo>
                      <a:pt x="13" y="80"/>
                    </a:lnTo>
                    <a:lnTo>
                      <a:pt x="4" y="66"/>
                    </a:lnTo>
                    <a:lnTo>
                      <a:pt x="0" y="54"/>
                    </a:lnTo>
                    <a:lnTo>
                      <a:pt x="0" y="40"/>
                    </a:lnTo>
                    <a:lnTo>
                      <a:pt x="5" y="26"/>
                    </a:lnTo>
                    <a:lnTo>
                      <a:pt x="15" y="12"/>
                    </a:lnTo>
                    <a:lnTo>
                      <a:pt x="30" y="0"/>
                    </a:lnTo>
                    <a:close/>
                  </a:path>
                </a:pathLst>
              </a:custGeom>
              <a:solidFill>
                <a:srgbClr val="ABBABA"/>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1" name="Freeform 680">
                <a:extLst>
                  <a:ext uri="{FF2B5EF4-FFF2-40B4-BE49-F238E27FC236}">
                    <a16:creationId xmlns:a16="http://schemas.microsoft.com/office/drawing/2014/main" id="{3A312601-0BFB-C145-886C-4AA132A53847}"/>
                  </a:ext>
                </a:extLst>
              </p:cNvPr>
              <p:cNvSpPr>
                <a:spLocks/>
              </p:cNvSpPr>
              <p:nvPr/>
            </p:nvSpPr>
            <p:spPr bwMode="auto">
              <a:xfrm>
                <a:off x="4315" y="3328"/>
                <a:ext cx="103" cy="66"/>
              </a:xfrm>
              <a:custGeom>
                <a:avLst/>
                <a:gdLst>
                  <a:gd name="T0" fmla="*/ 15 w 206"/>
                  <a:gd name="T1" fmla="*/ 0 h 130"/>
                  <a:gd name="T2" fmla="*/ 26 w 206"/>
                  <a:gd name="T3" fmla="*/ 3 h 130"/>
                  <a:gd name="T4" fmla="*/ 37 w 206"/>
                  <a:gd name="T5" fmla="*/ 6 h 130"/>
                  <a:gd name="T6" fmla="*/ 47 w 206"/>
                  <a:gd name="T7" fmla="*/ 10 h 130"/>
                  <a:gd name="T8" fmla="*/ 58 w 206"/>
                  <a:gd name="T9" fmla="*/ 13 h 130"/>
                  <a:gd name="T10" fmla="*/ 69 w 206"/>
                  <a:gd name="T11" fmla="*/ 16 h 130"/>
                  <a:gd name="T12" fmla="*/ 80 w 206"/>
                  <a:gd name="T13" fmla="*/ 20 h 130"/>
                  <a:gd name="T14" fmla="*/ 91 w 206"/>
                  <a:gd name="T15" fmla="*/ 24 h 130"/>
                  <a:gd name="T16" fmla="*/ 102 w 206"/>
                  <a:gd name="T17" fmla="*/ 28 h 130"/>
                  <a:gd name="T18" fmla="*/ 103 w 206"/>
                  <a:gd name="T19" fmla="*/ 33 h 130"/>
                  <a:gd name="T20" fmla="*/ 103 w 206"/>
                  <a:gd name="T21" fmla="*/ 38 h 130"/>
                  <a:gd name="T22" fmla="*/ 103 w 206"/>
                  <a:gd name="T23" fmla="*/ 43 h 130"/>
                  <a:gd name="T24" fmla="*/ 103 w 206"/>
                  <a:gd name="T25" fmla="*/ 49 h 130"/>
                  <a:gd name="T26" fmla="*/ 101 w 206"/>
                  <a:gd name="T27" fmla="*/ 53 h 130"/>
                  <a:gd name="T28" fmla="*/ 99 w 206"/>
                  <a:gd name="T29" fmla="*/ 58 h 130"/>
                  <a:gd name="T30" fmla="*/ 97 w 206"/>
                  <a:gd name="T31" fmla="*/ 62 h 130"/>
                  <a:gd name="T32" fmla="*/ 94 w 206"/>
                  <a:gd name="T33" fmla="*/ 66 h 130"/>
                  <a:gd name="T34" fmla="*/ 85 w 206"/>
                  <a:gd name="T35" fmla="*/ 64 h 130"/>
                  <a:gd name="T36" fmla="*/ 76 w 206"/>
                  <a:gd name="T37" fmla="*/ 63 h 130"/>
                  <a:gd name="T38" fmla="*/ 67 w 206"/>
                  <a:gd name="T39" fmla="*/ 61 h 130"/>
                  <a:gd name="T40" fmla="*/ 58 w 206"/>
                  <a:gd name="T41" fmla="*/ 59 h 130"/>
                  <a:gd name="T42" fmla="*/ 49 w 206"/>
                  <a:gd name="T43" fmla="*/ 56 h 130"/>
                  <a:gd name="T44" fmla="*/ 40 w 206"/>
                  <a:gd name="T45" fmla="*/ 54 h 130"/>
                  <a:gd name="T46" fmla="*/ 31 w 206"/>
                  <a:gd name="T47" fmla="*/ 53 h 130"/>
                  <a:gd name="T48" fmla="*/ 23 w 206"/>
                  <a:gd name="T49" fmla="*/ 52 h 130"/>
                  <a:gd name="T50" fmla="*/ 13 w 206"/>
                  <a:gd name="T51" fmla="*/ 45 h 130"/>
                  <a:gd name="T52" fmla="*/ 6 w 206"/>
                  <a:gd name="T53" fmla="*/ 39 h 130"/>
                  <a:gd name="T54" fmla="*/ 2 w 206"/>
                  <a:gd name="T55" fmla="*/ 31 h 130"/>
                  <a:gd name="T56" fmla="*/ 0 w 206"/>
                  <a:gd name="T57" fmla="*/ 26 h 130"/>
                  <a:gd name="T58" fmla="*/ 0 w 206"/>
                  <a:gd name="T59" fmla="*/ 19 h 130"/>
                  <a:gd name="T60" fmla="*/ 3 w 206"/>
                  <a:gd name="T61" fmla="*/ 13 h 130"/>
                  <a:gd name="T62" fmla="*/ 7 w 206"/>
                  <a:gd name="T63" fmla="*/ 6 h 130"/>
                  <a:gd name="T64" fmla="*/ 15 w 206"/>
                  <a:gd name="T65" fmla="*/ 0 h 13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6"/>
                  <a:gd name="T100" fmla="*/ 0 h 130"/>
                  <a:gd name="T101" fmla="*/ 206 w 206"/>
                  <a:gd name="T102" fmla="*/ 130 h 13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6" h="130">
                    <a:moveTo>
                      <a:pt x="30" y="0"/>
                    </a:moveTo>
                    <a:lnTo>
                      <a:pt x="52" y="6"/>
                    </a:lnTo>
                    <a:lnTo>
                      <a:pt x="73" y="12"/>
                    </a:lnTo>
                    <a:lnTo>
                      <a:pt x="94" y="19"/>
                    </a:lnTo>
                    <a:lnTo>
                      <a:pt x="117" y="26"/>
                    </a:lnTo>
                    <a:lnTo>
                      <a:pt x="138" y="32"/>
                    </a:lnTo>
                    <a:lnTo>
                      <a:pt x="159" y="40"/>
                    </a:lnTo>
                    <a:lnTo>
                      <a:pt x="181" y="47"/>
                    </a:lnTo>
                    <a:lnTo>
                      <a:pt x="203" y="55"/>
                    </a:lnTo>
                    <a:lnTo>
                      <a:pt x="205" y="65"/>
                    </a:lnTo>
                    <a:lnTo>
                      <a:pt x="206" y="75"/>
                    </a:lnTo>
                    <a:lnTo>
                      <a:pt x="205" y="85"/>
                    </a:lnTo>
                    <a:lnTo>
                      <a:pt x="205" y="96"/>
                    </a:lnTo>
                    <a:lnTo>
                      <a:pt x="201" y="105"/>
                    </a:lnTo>
                    <a:lnTo>
                      <a:pt x="198" y="115"/>
                    </a:lnTo>
                    <a:lnTo>
                      <a:pt x="193" y="123"/>
                    </a:lnTo>
                    <a:lnTo>
                      <a:pt x="188" y="130"/>
                    </a:lnTo>
                    <a:lnTo>
                      <a:pt x="169" y="126"/>
                    </a:lnTo>
                    <a:lnTo>
                      <a:pt x="152" y="124"/>
                    </a:lnTo>
                    <a:lnTo>
                      <a:pt x="133" y="120"/>
                    </a:lnTo>
                    <a:lnTo>
                      <a:pt x="116" y="116"/>
                    </a:lnTo>
                    <a:lnTo>
                      <a:pt x="97" y="111"/>
                    </a:lnTo>
                    <a:lnTo>
                      <a:pt x="79" y="107"/>
                    </a:lnTo>
                    <a:lnTo>
                      <a:pt x="62" y="104"/>
                    </a:lnTo>
                    <a:lnTo>
                      <a:pt x="45" y="102"/>
                    </a:lnTo>
                    <a:lnTo>
                      <a:pt x="26" y="89"/>
                    </a:lnTo>
                    <a:lnTo>
                      <a:pt x="13" y="76"/>
                    </a:lnTo>
                    <a:lnTo>
                      <a:pt x="4" y="62"/>
                    </a:lnTo>
                    <a:lnTo>
                      <a:pt x="0" y="51"/>
                    </a:lnTo>
                    <a:lnTo>
                      <a:pt x="0" y="37"/>
                    </a:lnTo>
                    <a:lnTo>
                      <a:pt x="5" y="25"/>
                    </a:lnTo>
                    <a:lnTo>
                      <a:pt x="15" y="11"/>
                    </a:lnTo>
                    <a:lnTo>
                      <a:pt x="30" y="0"/>
                    </a:lnTo>
                    <a:close/>
                  </a:path>
                </a:pathLst>
              </a:custGeom>
              <a:solidFill>
                <a:srgbClr val="B5C2C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2" name="Freeform 681">
                <a:extLst>
                  <a:ext uri="{FF2B5EF4-FFF2-40B4-BE49-F238E27FC236}">
                    <a16:creationId xmlns:a16="http://schemas.microsoft.com/office/drawing/2014/main" id="{31EC7CB1-1F84-D449-A782-9024801E76C9}"/>
                  </a:ext>
                </a:extLst>
              </p:cNvPr>
              <p:cNvSpPr>
                <a:spLocks/>
              </p:cNvSpPr>
              <p:nvPr/>
            </p:nvSpPr>
            <p:spPr bwMode="auto">
              <a:xfrm>
                <a:off x="4318" y="3329"/>
                <a:ext cx="97" cy="62"/>
              </a:xfrm>
              <a:custGeom>
                <a:avLst/>
                <a:gdLst>
                  <a:gd name="T0" fmla="*/ 14 w 196"/>
                  <a:gd name="T1" fmla="*/ 0 h 124"/>
                  <a:gd name="T2" fmla="*/ 24 w 196"/>
                  <a:gd name="T3" fmla="*/ 3 h 124"/>
                  <a:gd name="T4" fmla="*/ 34 w 196"/>
                  <a:gd name="T5" fmla="*/ 7 h 124"/>
                  <a:gd name="T6" fmla="*/ 44 w 196"/>
                  <a:gd name="T7" fmla="*/ 10 h 124"/>
                  <a:gd name="T8" fmla="*/ 55 w 196"/>
                  <a:gd name="T9" fmla="*/ 13 h 124"/>
                  <a:gd name="T10" fmla="*/ 65 w 196"/>
                  <a:gd name="T11" fmla="*/ 17 h 124"/>
                  <a:gd name="T12" fmla="*/ 75 w 196"/>
                  <a:gd name="T13" fmla="*/ 20 h 124"/>
                  <a:gd name="T14" fmla="*/ 85 w 196"/>
                  <a:gd name="T15" fmla="*/ 23 h 124"/>
                  <a:gd name="T16" fmla="*/ 96 w 196"/>
                  <a:gd name="T17" fmla="*/ 27 h 124"/>
                  <a:gd name="T18" fmla="*/ 97 w 196"/>
                  <a:gd name="T19" fmla="*/ 31 h 124"/>
                  <a:gd name="T20" fmla="*/ 97 w 196"/>
                  <a:gd name="T21" fmla="*/ 37 h 124"/>
                  <a:gd name="T22" fmla="*/ 97 w 196"/>
                  <a:gd name="T23" fmla="*/ 42 h 124"/>
                  <a:gd name="T24" fmla="*/ 97 w 196"/>
                  <a:gd name="T25" fmla="*/ 47 h 124"/>
                  <a:gd name="T26" fmla="*/ 95 w 196"/>
                  <a:gd name="T27" fmla="*/ 51 h 124"/>
                  <a:gd name="T28" fmla="*/ 93 w 196"/>
                  <a:gd name="T29" fmla="*/ 55 h 124"/>
                  <a:gd name="T30" fmla="*/ 91 w 196"/>
                  <a:gd name="T31" fmla="*/ 59 h 124"/>
                  <a:gd name="T32" fmla="*/ 88 w 196"/>
                  <a:gd name="T33" fmla="*/ 62 h 124"/>
                  <a:gd name="T34" fmla="*/ 80 w 196"/>
                  <a:gd name="T35" fmla="*/ 60 h 124"/>
                  <a:gd name="T36" fmla="*/ 71 w 196"/>
                  <a:gd name="T37" fmla="*/ 59 h 124"/>
                  <a:gd name="T38" fmla="*/ 62 w 196"/>
                  <a:gd name="T39" fmla="*/ 57 h 124"/>
                  <a:gd name="T40" fmla="*/ 54 w 196"/>
                  <a:gd name="T41" fmla="*/ 55 h 124"/>
                  <a:gd name="T42" fmla="*/ 46 w 196"/>
                  <a:gd name="T43" fmla="*/ 53 h 124"/>
                  <a:gd name="T44" fmla="*/ 37 w 196"/>
                  <a:gd name="T45" fmla="*/ 52 h 124"/>
                  <a:gd name="T46" fmla="*/ 29 w 196"/>
                  <a:gd name="T47" fmla="*/ 50 h 124"/>
                  <a:gd name="T48" fmla="*/ 21 w 196"/>
                  <a:gd name="T49" fmla="*/ 49 h 124"/>
                  <a:gd name="T50" fmla="*/ 12 w 196"/>
                  <a:gd name="T51" fmla="*/ 43 h 124"/>
                  <a:gd name="T52" fmla="*/ 5 w 196"/>
                  <a:gd name="T53" fmla="*/ 37 h 124"/>
                  <a:gd name="T54" fmla="*/ 2 w 196"/>
                  <a:gd name="T55" fmla="*/ 30 h 124"/>
                  <a:gd name="T56" fmla="*/ 0 w 196"/>
                  <a:gd name="T57" fmla="*/ 25 h 124"/>
                  <a:gd name="T58" fmla="*/ 0 w 196"/>
                  <a:gd name="T59" fmla="*/ 18 h 124"/>
                  <a:gd name="T60" fmla="*/ 2 w 196"/>
                  <a:gd name="T61" fmla="*/ 12 h 124"/>
                  <a:gd name="T62" fmla="*/ 6 w 196"/>
                  <a:gd name="T63" fmla="*/ 6 h 124"/>
                  <a:gd name="T64" fmla="*/ 14 w 196"/>
                  <a:gd name="T65" fmla="*/ 0 h 1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6"/>
                  <a:gd name="T100" fmla="*/ 0 h 124"/>
                  <a:gd name="T101" fmla="*/ 196 w 196"/>
                  <a:gd name="T102" fmla="*/ 124 h 12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6" h="124">
                    <a:moveTo>
                      <a:pt x="28" y="0"/>
                    </a:moveTo>
                    <a:lnTo>
                      <a:pt x="48" y="6"/>
                    </a:lnTo>
                    <a:lnTo>
                      <a:pt x="69" y="13"/>
                    </a:lnTo>
                    <a:lnTo>
                      <a:pt x="89" y="19"/>
                    </a:lnTo>
                    <a:lnTo>
                      <a:pt x="111" y="26"/>
                    </a:lnTo>
                    <a:lnTo>
                      <a:pt x="131" y="33"/>
                    </a:lnTo>
                    <a:lnTo>
                      <a:pt x="152" y="40"/>
                    </a:lnTo>
                    <a:lnTo>
                      <a:pt x="172" y="46"/>
                    </a:lnTo>
                    <a:lnTo>
                      <a:pt x="193" y="54"/>
                    </a:lnTo>
                    <a:lnTo>
                      <a:pt x="195" y="63"/>
                    </a:lnTo>
                    <a:lnTo>
                      <a:pt x="196" y="73"/>
                    </a:lnTo>
                    <a:lnTo>
                      <a:pt x="195" y="83"/>
                    </a:lnTo>
                    <a:lnTo>
                      <a:pt x="195" y="93"/>
                    </a:lnTo>
                    <a:lnTo>
                      <a:pt x="191" y="101"/>
                    </a:lnTo>
                    <a:lnTo>
                      <a:pt x="188" y="110"/>
                    </a:lnTo>
                    <a:lnTo>
                      <a:pt x="183" y="117"/>
                    </a:lnTo>
                    <a:lnTo>
                      <a:pt x="178" y="124"/>
                    </a:lnTo>
                    <a:lnTo>
                      <a:pt x="161" y="120"/>
                    </a:lnTo>
                    <a:lnTo>
                      <a:pt x="143" y="118"/>
                    </a:lnTo>
                    <a:lnTo>
                      <a:pt x="126" y="114"/>
                    </a:lnTo>
                    <a:lnTo>
                      <a:pt x="109" y="110"/>
                    </a:lnTo>
                    <a:lnTo>
                      <a:pt x="92" y="106"/>
                    </a:lnTo>
                    <a:lnTo>
                      <a:pt x="75" y="103"/>
                    </a:lnTo>
                    <a:lnTo>
                      <a:pt x="58" y="99"/>
                    </a:lnTo>
                    <a:lnTo>
                      <a:pt x="42" y="98"/>
                    </a:lnTo>
                    <a:lnTo>
                      <a:pt x="24" y="85"/>
                    </a:lnTo>
                    <a:lnTo>
                      <a:pt x="11" y="73"/>
                    </a:lnTo>
                    <a:lnTo>
                      <a:pt x="4" y="60"/>
                    </a:lnTo>
                    <a:lnTo>
                      <a:pt x="0" y="49"/>
                    </a:lnTo>
                    <a:lnTo>
                      <a:pt x="0" y="36"/>
                    </a:lnTo>
                    <a:lnTo>
                      <a:pt x="4" y="24"/>
                    </a:lnTo>
                    <a:lnTo>
                      <a:pt x="13" y="11"/>
                    </a:lnTo>
                    <a:lnTo>
                      <a:pt x="28" y="0"/>
                    </a:lnTo>
                    <a:close/>
                  </a:path>
                </a:pathLst>
              </a:custGeom>
              <a:solidFill>
                <a:srgbClr val="BAC7C7"/>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3" name="Freeform 682">
                <a:extLst>
                  <a:ext uri="{FF2B5EF4-FFF2-40B4-BE49-F238E27FC236}">
                    <a16:creationId xmlns:a16="http://schemas.microsoft.com/office/drawing/2014/main" id="{55EA9CAC-CCDE-1E47-98E1-C6A5AB79A64E}"/>
                  </a:ext>
                </a:extLst>
              </p:cNvPr>
              <p:cNvSpPr>
                <a:spLocks/>
              </p:cNvSpPr>
              <p:nvPr/>
            </p:nvSpPr>
            <p:spPr bwMode="auto">
              <a:xfrm>
                <a:off x="4320" y="3331"/>
                <a:ext cx="92" cy="56"/>
              </a:xfrm>
              <a:custGeom>
                <a:avLst/>
                <a:gdLst>
                  <a:gd name="T0" fmla="*/ 13 w 185"/>
                  <a:gd name="T1" fmla="*/ 0 h 113"/>
                  <a:gd name="T2" fmla="*/ 22 w 185"/>
                  <a:gd name="T3" fmla="*/ 2 h 113"/>
                  <a:gd name="T4" fmla="*/ 32 w 185"/>
                  <a:gd name="T5" fmla="*/ 5 h 113"/>
                  <a:gd name="T6" fmla="*/ 42 w 185"/>
                  <a:gd name="T7" fmla="*/ 8 h 113"/>
                  <a:gd name="T8" fmla="*/ 52 w 185"/>
                  <a:gd name="T9" fmla="*/ 12 h 113"/>
                  <a:gd name="T10" fmla="*/ 61 w 185"/>
                  <a:gd name="T11" fmla="*/ 15 h 113"/>
                  <a:gd name="T12" fmla="*/ 71 w 185"/>
                  <a:gd name="T13" fmla="*/ 18 h 113"/>
                  <a:gd name="T14" fmla="*/ 81 w 185"/>
                  <a:gd name="T15" fmla="*/ 21 h 113"/>
                  <a:gd name="T16" fmla="*/ 91 w 185"/>
                  <a:gd name="T17" fmla="*/ 25 h 113"/>
                  <a:gd name="T18" fmla="*/ 91 w 185"/>
                  <a:gd name="T19" fmla="*/ 28 h 113"/>
                  <a:gd name="T20" fmla="*/ 92 w 185"/>
                  <a:gd name="T21" fmla="*/ 33 h 113"/>
                  <a:gd name="T22" fmla="*/ 91 w 185"/>
                  <a:gd name="T23" fmla="*/ 37 h 113"/>
                  <a:gd name="T24" fmla="*/ 91 w 185"/>
                  <a:gd name="T25" fmla="*/ 42 h 113"/>
                  <a:gd name="T26" fmla="*/ 90 w 185"/>
                  <a:gd name="T27" fmla="*/ 45 h 113"/>
                  <a:gd name="T28" fmla="*/ 88 w 185"/>
                  <a:gd name="T29" fmla="*/ 49 h 113"/>
                  <a:gd name="T30" fmla="*/ 86 w 185"/>
                  <a:gd name="T31" fmla="*/ 52 h 113"/>
                  <a:gd name="T32" fmla="*/ 84 w 185"/>
                  <a:gd name="T33" fmla="*/ 56 h 113"/>
                  <a:gd name="T34" fmla="*/ 76 w 185"/>
                  <a:gd name="T35" fmla="*/ 55 h 113"/>
                  <a:gd name="T36" fmla="*/ 68 w 185"/>
                  <a:gd name="T37" fmla="*/ 54 h 113"/>
                  <a:gd name="T38" fmla="*/ 59 w 185"/>
                  <a:gd name="T39" fmla="*/ 52 h 113"/>
                  <a:gd name="T40" fmla="*/ 52 w 185"/>
                  <a:gd name="T41" fmla="*/ 51 h 113"/>
                  <a:gd name="T42" fmla="*/ 44 w 185"/>
                  <a:gd name="T43" fmla="*/ 49 h 113"/>
                  <a:gd name="T44" fmla="*/ 36 w 185"/>
                  <a:gd name="T45" fmla="*/ 48 h 113"/>
                  <a:gd name="T46" fmla="*/ 27 w 185"/>
                  <a:gd name="T47" fmla="*/ 47 h 113"/>
                  <a:gd name="T48" fmla="*/ 20 w 185"/>
                  <a:gd name="T49" fmla="*/ 46 h 113"/>
                  <a:gd name="T50" fmla="*/ 12 w 185"/>
                  <a:gd name="T51" fmla="*/ 40 h 113"/>
                  <a:gd name="T52" fmla="*/ 5 w 185"/>
                  <a:gd name="T53" fmla="*/ 34 h 113"/>
                  <a:gd name="T54" fmla="*/ 2 w 185"/>
                  <a:gd name="T55" fmla="*/ 28 h 113"/>
                  <a:gd name="T56" fmla="*/ 0 w 185"/>
                  <a:gd name="T57" fmla="*/ 22 h 113"/>
                  <a:gd name="T58" fmla="*/ 0 w 185"/>
                  <a:gd name="T59" fmla="*/ 17 h 113"/>
                  <a:gd name="T60" fmla="*/ 2 w 185"/>
                  <a:gd name="T61" fmla="*/ 11 h 113"/>
                  <a:gd name="T62" fmla="*/ 6 w 185"/>
                  <a:gd name="T63" fmla="*/ 5 h 113"/>
                  <a:gd name="T64" fmla="*/ 13 w 185"/>
                  <a:gd name="T65" fmla="*/ 0 h 1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5"/>
                  <a:gd name="T100" fmla="*/ 0 h 113"/>
                  <a:gd name="T101" fmla="*/ 185 w 185"/>
                  <a:gd name="T102" fmla="*/ 113 h 1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5" h="113">
                    <a:moveTo>
                      <a:pt x="27" y="0"/>
                    </a:moveTo>
                    <a:lnTo>
                      <a:pt x="45" y="5"/>
                    </a:lnTo>
                    <a:lnTo>
                      <a:pt x="64" y="11"/>
                    </a:lnTo>
                    <a:lnTo>
                      <a:pt x="84" y="17"/>
                    </a:lnTo>
                    <a:lnTo>
                      <a:pt x="104" y="24"/>
                    </a:lnTo>
                    <a:lnTo>
                      <a:pt x="123" y="30"/>
                    </a:lnTo>
                    <a:lnTo>
                      <a:pt x="143" y="36"/>
                    </a:lnTo>
                    <a:lnTo>
                      <a:pt x="163" y="42"/>
                    </a:lnTo>
                    <a:lnTo>
                      <a:pt x="183" y="50"/>
                    </a:lnTo>
                    <a:lnTo>
                      <a:pt x="183" y="57"/>
                    </a:lnTo>
                    <a:lnTo>
                      <a:pt x="185" y="67"/>
                    </a:lnTo>
                    <a:lnTo>
                      <a:pt x="183" y="75"/>
                    </a:lnTo>
                    <a:lnTo>
                      <a:pt x="183" y="85"/>
                    </a:lnTo>
                    <a:lnTo>
                      <a:pt x="180" y="91"/>
                    </a:lnTo>
                    <a:lnTo>
                      <a:pt x="177" y="99"/>
                    </a:lnTo>
                    <a:lnTo>
                      <a:pt x="173" y="105"/>
                    </a:lnTo>
                    <a:lnTo>
                      <a:pt x="169" y="113"/>
                    </a:lnTo>
                    <a:lnTo>
                      <a:pt x="152" y="110"/>
                    </a:lnTo>
                    <a:lnTo>
                      <a:pt x="137" y="108"/>
                    </a:lnTo>
                    <a:lnTo>
                      <a:pt x="119" y="105"/>
                    </a:lnTo>
                    <a:lnTo>
                      <a:pt x="104" y="102"/>
                    </a:lnTo>
                    <a:lnTo>
                      <a:pt x="88" y="99"/>
                    </a:lnTo>
                    <a:lnTo>
                      <a:pt x="72" y="96"/>
                    </a:lnTo>
                    <a:lnTo>
                      <a:pt x="55" y="94"/>
                    </a:lnTo>
                    <a:lnTo>
                      <a:pt x="40" y="92"/>
                    </a:lnTo>
                    <a:lnTo>
                      <a:pt x="24" y="80"/>
                    </a:lnTo>
                    <a:lnTo>
                      <a:pt x="11" y="69"/>
                    </a:lnTo>
                    <a:lnTo>
                      <a:pt x="4" y="56"/>
                    </a:lnTo>
                    <a:lnTo>
                      <a:pt x="0" y="45"/>
                    </a:lnTo>
                    <a:lnTo>
                      <a:pt x="0" y="34"/>
                    </a:lnTo>
                    <a:lnTo>
                      <a:pt x="4" y="22"/>
                    </a:lnTo>
                    <a:lnTo>
                      <a:pt x="13" y="11"/>
                    </a:lnTo>
                    <a:lnTo>
                      <a:pt x="27" y="0"/>
                    </a:lnTo>
                    <a:close/>
                  </a:path>
                </a:pathLst>
              </a:custGeom>
              <a:solidFill>
                <a:srgbClr val="C4CFC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4" name="Freeform 683">
                <a:extLst>
                  <a:ext uri="{FF2B5EF4-FFF2-40B4-BE49-F238E27FC236}">
                    <a16:creationId xmlns:a16="http://schemas.microsoft.com/office/drawing/2014/main" id="{B5062E14-24BF-9248-A7C5-043B2B1A6B93}"/>
                  </a:ext>
                </a:extLst>
              </p:cNvPr>
              <p:cNvSpPr>
                <a:spLocks/>
              </p:cNvSpPr>
              <p:nvPr/>
            </p:nvSpPr>
            <p:spPr bwMode="auto">
              <a:xfrm>
                <a:off x="4323" y="3332"/>
                <a:ext cx="87" cy="53"/>
              </a:xfrm>
              <a:custGeom>
                <a:avLst/>
                <a:gdLst>
                  <a:gd name="T0" fmla="*/ 12 w 175"/>
                  <a:gd name="T1" fmla="*/ 0 h 106"/>
                  <a:gd name="T2" fmla="*/ 21 w 175"/>
                  <a:gd name="T3" fmla="*/ 3 h 106"/>
                  <a:gd name="T4" fmla="*/ 30 w 175"/>
                  <a:gd name="T5" fmla="*/ 6 h 106"/>
                  <a:gd name="T6" fmla="*/ 39 w 175"/>
                  <a:gd name="T7" fmla="*/ 9 h 106"/>
                  <a:gd name="T8" fmla="*/ 49 w 175"/>
                  <a:gd name="T9" fmla="*/ 12 h 106"/>
                  <a:gd name="T10" fmla="*/ 58 w 175"/>
                  <a:gd name="T11" fmla="*/ 14 h 106"/>
                  <a:gd name="T12" fmla="*/ 68 w 175"/>
                  <a:gd name="T13" fmla="*/ 18 h 106"/>
                  <a:gd name="T14" fmla="*/ 77 w 175"/>
                  <a:gd name="T15" fmla="*/ 20 h 106"/>
                  <a:gd name="T16" fmla="*/ 86 w 175"/>
                  <a:gd name="T17" fmla="*/ 24 h 106"/>
                  <a:gd name="T18" fmla="*/ 86 w 175"/>
                  <a:gd name="T19" fmla="*/ 27 h 106"/>
                  <a:gd name="T20" fmla="*/ 87 w 175"/>
                  <a:gd name="T21" fmla="*/ 32 h 106"/>
                  <a:gd name="T22" fmla="*/ 86 w 175"/>
                  <a:gd name="T23" fmla="*/ 36 h 106"/>
                  <a:gd name="T24" fmla="*/ 86 w 175"/>
                  <a:gd name="T25" fmla="*/ 40 h 106"/>
                  <a:gd name="T26" fmla="*/ 84 w 175"/>
                  <a:gd name="T27" fmla="*/ 47 h 106"/>
                  <a:gd name="T28" fmla="*/ 79 w 175"/>
                  <a:gd name="T29" fmla="*/ 53 h 106"/>
                  <a:gd name="T30" fmla="*/ 71 w 175"/>
                  <a:gd name="T31" fmla="*/ 52 h 106"/>
                  <a:gd name="T32" fmla="*/ 64 w 175"/>
                  <a:gd name="T33" fmla="*/ 50 h 106"/>
                  <a:gd name="T34" fmla="*/ 56 w 175"/>
                  <a:gd name="T35" fmla="*/ 49 h 106"/>
                  <a:gd name="T36" fmla="*/ 49 w 175"/>
                  <a:gd name="T37" fmla="*/ 48 h 106"/>
                  <a:gd name="T38" fmla="*/ 41 w 175"/>
                  <a:gd name="T39" fmla="*/ 47 h 106"/>
                  <a:gd name="T40" fmla="*/ 33 w 175"/>
                  <a:gd name="T41" fmla="*/ 46 h 106"/>
                  <a:gd name="T42" fmla="*/ 26 w 175"/>
                  <a:gd name="T43" fmla="*/ 45 h 106"/>
                  <a:gd name="T44" fmla="*/ 18 w 175"/>
                  <a:gd name="T45" fmla="*/ 45 h 106"/>
                  <a:gd name="T46" fmla="*/ 11 w 175"/>
                  <a:gd name="T47" fmla="*/ 39 h 106"/>
                  <a:gd name="T48" fmla="*/ 5 w 175"/>
                  <a:gd name="T49" fmla="*/ 34 h 106"/>
                  <a:gd name="T50" fmla="*/ 1 w 175"/>
                  <a:gd name="T51" fmla="*/ 27 h 106"/>
                  <a:gd name="T52" fmla="*/ 0 w 175"/>
                  <a:gd name="T53" fmla="*/ 22 h 106"/>
                  <a:gd name="T54" fmla="*/ 0 w 175"/>
                  <a:gd name="T55" fmla="*/ 17 h 106"/>
                  <a:gd name="T56" fmla="*/ 2 w 175"/>
                  <a:gd name="T57" fmla="*/ 11 h 106"/>
                  <a:gd name="T58" fmla="*/ 6 w 175"/>
                  <a:gd name="T59" fmla="*/ 5 h 106"/>
                  <a:gd name="T60" fmla="*/ 12 w 175"/>
                  <a:gd name="T61" fmla="*/ 0 h 10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75"/>
                  <a:gd name="T94" fmla="*/ 0 h 106"/>
                  <a:gd name="T95" fmla="*/ 175 w 175"/>
                  <a:gd name="T96" fmla="*/ 106 h 10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75" h="106">
                    <a:moveTo>
                      <a:pt x="25" y="0"/>
                    </a:moveTo>
                    <a:lnTo>
                      <a:pt x="43" y="5"/>
                    </a:lnTo>
                    <a:lnTo>
                      <a:pt x="60" y="12"/>
                    </a:lnTo>
                    <a:lnTo>
                      <a:pt x="79" y="17"/>
                    </a:lnTo>
                    <a:lnTo>
                      <a:pt x="98" y="24"/>
                    </a:lnTo>
                    <a:lnTo>
                      <a:pt x="117" y="29"/>
                    </a:lnTo>
                    <a:lnTo>
                      <a:pt x="136" y="35"/>
                    </a:lnTo>
                    <a:lnTo>
                      <a:pt x="154" y="40"/>
                    </a:lnTo>
                    <a:lnTo>
                      <a:pt x="173" y="48"/>
                    </a:lnTo>
                    <a:lnTo>
                      <a:pt x="173" y="55"/>
                    </a:lnTo>
                    <a:lnTo>
                      <a:pt x="175" y="64"/>
                    </a:lnTo>
                    <a:lnTo>
                      <a:pt x="173" y="72"/>
                    </a:lnTo>
                    <a:lnTo>
                      <a:pt x="173" y="80"/>
                    </a:lnTo>
                    <a:lnTo>
                      <a:pt x="168" y="93"/>
                    </a:lnTo>
                    <a:lnTo>
                      <a:pt x="159" y="106"/>
                    </a:lnTo>
                    <a:lnTo>
                      <a:pt x="143" y="103"/>
                    </a:lnTo>
                    <a:lnTo>
                      <a:pt x="128" y="100"/>
                    </a:lnTo>
                    <a:lnTo>
                      <a:pt x="113" y="98"/>
                    </a:lnTo>
                    <a:lnTo>
                      <a:pt x="98" y="95"/>
                    </a:lnTo>
                    <a:lnTo>
                      <a:pt x="82" y="93"/>
                    </a:lnTo>
                    <a:lnTo>
                      <a:pt x="67" y="92"/>
                    </a:lnTo>
                    <a:lnTo>
                      <a:pt x="52" y="89"/>
                    </a:lnTo>
                    <a:lnTo>
                      <a:pt x="37" y="89"/>
                    </a:lnTo>
                    <a:lnTo>
                      <a:pt x="22" y="78"/>
                    </a:lnTo>
                    <a:lnTo>
                      <a:pt x="10" y="67"/>
                    </a:lnTo>
                    <a:lnTo>
                      <a:pt x="3" y="55"/>
                    </a:lnTo>
                    <a:lnTo>
                      <a:pt x="0" y="44"/>
                    </a:lnTo>
                    <a:lnTo>
                      <a:pt x="0" y="33"/>
                    </a:lnTo>
                    <a:lnTo>
                      <a:pt x="5" y="22"/>
                    </a:lnTo>
                    <a:lnTo>
                      <a:pt x="13" y="10"/>
                    </a:lnTo>
                    <a:lnTo>
                      <a:pt x="25" y="0"/>
                    </a:lnTo>
                    <a:close/>
                  </a:path>
                </a:pathLst>
              </a:custGeom>
              <a:solidFill>
                <a:srgbClr val="CCD6D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5" name="Freeform 684">
                <a:extLst>
                  <a:ext uri="{FF2B5EF4-FFF2-40B4-BE49-F238E27FC236}">
                    <a16:creationId xmlns:a16="http://schemas.microsoft.com/office/drawing/2014/main" id="{3B257064-1D46-A941-914C-883F2011FDED}"/>
                  </a:ext>
                </a:extLst>
              </p:cNvPr>
              <p:cNvSpPr>
                <a:spLocks/>
              </p:cNvSpPr>
              <p:nvPr/>
            </p:nvSpPr>
            <p:spPr bwMode="auto">
              <a:xfrm>
                <a:off x="4325" y="3334"/>
                <a:ext cx="82" cy="48"/>
              </a:xfrm>
              <a:custGeom>
                <a:avLst/>
                <a:gdLst>
                  <a:gd name="T0" fmla="*/ 12 w 165"/>
                  <a:gd name="T1" fmla="*/ 0 h 95"/>
                  <a:gd name="T2" fmla="*/ 20 w 165"/>
                  <a:gd name="T3" fmla="*/ 2 h 95"/>
                  <a:gd name="T4" fmla="*/ 29 w 165"/>
                  <a:gd name="T5" fmla="*/ 5 h 95"/>
                  <a:gd name="T6" fmla="*/ 37 w 165"/>
                  <a:gd name="T7" fmla="*/ 8 h 95"/>
                  <a:gd name="T8" fmla="*/ 46 w 165"/>
                  <a:gd name="T9" fmla="*/ 11 h 95"/>
                  <a:gd name="T10" fmla="*/ 54 w 165"/>
                  <a:gd name="T11" fmla="*/ 13 h 95"/>
                  <a:gd name="T12" fmla="*/ 64 w 165"/>
                  <a:gd name="T13" fmla="*/ 17 h 95"/>
                  <a:gd name="T14" fmla="*/ 72 w 165"/>
                  <a:gd name="T15" fmla="*/ 19 h 95"/>
                  <a:gd name="T16" fmla="*/ 81 w 165"/>
                  <a:gd name="T17" fmla="*/ 22 h 95"/>
                  <a:gd name="T18" fmla="*/ 81 w 165"/>
                  <a:gd name="T19" fmla="*/ 25 h 95"/>
                  <a:gd name="T20" fmla="*/ 82 w 165"/>
                  <a:gd name="T21" fmla="*/ 29 h 95"/>
                  <a:gd name="T22" fmla="*/ 81 w 165"/>
                  <a:gd name="T23" fmla="*/ 33 h 95"/>
                  <a:gd name="T24" fmla="*/ 81 w 165"/>
                  <a:gd name="T25" fmla="*/ 37 h 95"/>
                  <a:gd name="T26" fmla="*/ 78 w 165"/>
                  <a:gd name="T27" fmla="*/ 42 h 95"/>
                  <a:gd name="T28" fmla="*/ 74 w 165"/>
                  <a:gd name="T29" fmla="*/ 48 h 95"/>
                  <a:gd name="T30" fmla="*/ 67 w 165"/>
                  <a:gd name="T31" fmla="*/ 47 h 95"/>
                  <a:gd name="T32" fmla="*/ 60 w 165"/>
                  <a:gd name="T33" fmla="*/ 46 h 95"/>
                  <a:gd name="T34" fmla="*/ 53 w 165"/>
                  <a:gd name="T35" fmla="*/ 45 h 95"/>
                  <a:gd name="T36" fmla="*/ 46 w 165"/>
                  <a:gd name="T37" fmla="*/ 45 h 95"/>
                  <a:gd name="T38" fmla="*/ 38 w 165"/>
                  <a:gd name="T39" fmla="*/ 43 h 95"/>
                  <a:gd name="T40" fmla="*/ 31 w 165"/>
                  <a:gd name="T41" fmla="*/ 43 h 95"/>
                  <a:gd name="T42" fmla="*/ 24 w 165"/>
                  <a:gd name="T43" fmla="*/ 42 h 95"/>
                  <a:gd name="T44" fmla="*/ 17 w 165"/>
                  <a:gd name="T45" fmla="*/ 42 h 95"/>
                  <a:gd name="T46" fmla="*/ 10 w 165"/>
                  <a:gd name="T47" fmla="*/ 36 h 95"/>
                  <a:gd name="T48" fmla="*/ 5 w 165"/>
                  <a:gd name="T49" fmla="*/ 31 h 95"/>
                  <a:gd name="T50" fmla="*/ 1 w 165"/>
                  <a:gd name="T51" fmla="*/ 25 h 95"/>
                  <a:gd name="T52" fmla="*/ 0 w 165"/>
                  <a:gd name="T53" fmla="*/ 20 h 95"/>
                  <a:gd name="T54" fmla="*/ 0 w 165"/>
                  <a:gd name="T55" fmla="*/ 15 h 95"/>
                  <a:gd name="T56" fmla="*/ 2 w 165"/>
                  <a:gd name="T57" fmla="*/ 10 h 95"/>
                  <a:gd name="T58" fmla="*/ 6 w 165"/>
                  <a:gd name="T59" fmla="*/ 5 h 95"/>
                  <a:gd name="T60" fmla="*/ 12 w 165"/>
                  <a:gd name="T61" fmla="*/ 0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5"/>
                  <a:gd name="T94" fmla="*/ 0 h 95"/>
                  <a:gd name="T95" fmla="*/ 165 w 165"/>
                  <a:gd name="T96" fmla="*/ 95 h 9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5" h="95">
                    <a:moveTo>
                      <a:pt x="24" y="0"/>
                    </a:moveTo>
                    <a:lnTo>
                      <a:pt x="40" y="4"/>
                    </a:lnTo>
                    <a:lnTo>
                      <a:pt x="58" y="10"/>
                    </a:lnTo>
                    <a:lnTo>
                      <a:pt x="75" y="15"/>
                    </a:lnTo>
                    <a:lnTo>
                      <a:pt x="93" y="21"/>
                    </a:lnTo>
                    <a:lnTo>
                      <a:pt x="109" y="26"/>
                    </a:lnTo>
                    <a:lnTo>
                      <a:pt x="128" y="33"/>
                    </a:lnTo>
                    <a:lnTo>
                      <a:pt x="144" y="38"/>
                    </a:lnTo>
                    <a:lnTo>
                      <a:pt x="163" y="44"/>
                    </a:lnTo>
                    <a:lnTo>
                      <a:pt x="163" y="50"/>
                    </a:lnTo>
                    <a:lnTo>
                      <a:pt x="165" y="58"/>
                    </a:lnTo>
                    <a:lnTo>
                      <a:pt x="163" y="65"/>
                    </a:lnTo>
                    <a:lnTo>
                      <a:pt x="163" y="73"/>
                    </a:lnTo>
                    <a:lnTo>
                      <a:pt x="157" y="84"/>
                    </a:lnTo>
                    <a:lnTo>
                      <a:pt x="149" y="95"/>
                    </a:lnTo>
                    <a:lnTo>
                      <a:pt x="134" y="93"/>
                    </a:lnTo>
                    <a:lnTo>
                      <a:pt x="121" y="91"/>
                    </a:lnTo>
                    <a:lnTo>
                      <a:pt x="106" y="89"/>
                    </a:lnTo>
                    <a:lnTo>
                      <a:pt x="92" y="89"/>
                    </a:lnTo>
                    <a:lnTo>
                      <a:pt x="77" y="86"/>
                    </a:lnTo>
                    <a:lnTo>
                      <a:pt x="63" y="85"/>
                    </a:lnTo>
                    <a:lnTo>
                      <a:pt x="49" y="83"/>
                    </a:lnTo>
                    <a:lnTo>
                      <a:pt x="35" y="83"/>
                    </a:lnTo>
                    <a:lnTo>
                      <a:pt x="20" y="71"/>
                    </a:lnTo>
                    <a:lnTo>
                      <a:pt x="10" y="61"/>
                    </a:lnTo>
                    <a:lnTo>
                      <a:pt x="3" y="50"/>
                    </a:lnTo>
                    <a:lnTo>
                      <a:pt x="0" y="40"/>
                    </a:lnTo>
                    <a:lnTo>
                      <a:pt x="0" y="29"/>
                    </a:lnTo>
                    <a:lnTo>
                      <a:pt x="4" y="19"/>
                    </a:lnTo>
                    <a:lnTo>
                      <a:pt x="12" y="9"/>
                    </a:lnTo>
                    <a:lnTo>
                      <a:pt x="24" y="0"/>
                    </a:lnTo>
                    <a:close/>
                  </a:path>
                </a:pathLst>
              </a:custGeom>
              <a:solidFill>
                <a:srgbClr val="D4DBDB"/>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6" name="Freeform 685">
                <a:extLst>
                  <a:ext uri="{FF2B5EF4-FFF2-40B4-BE49-F238E27FC236}">
                    <a16:creationId xmlns:a16="http://schemas.microsoft.com/office/drawing/2014/main" id="{4C95224A-D42C-974F-8F88-3B789F7D389A}"/>
                  </a:ext>
                </a:extLst>
              </p:cNvPr>
              <p:cNvSpPr>
                <a:spLocks/>
              </p:cNvSpPr>
              <p:nvPr/>
            </p:nvSpPr>
            <p:spPr bwMode="auto">
              <a:xfrm>
                <a:off x="4255" y="2929"/>
                <a:ext cx="31" cy="37"/>
              </a:xfrm>
              <a:custGeom>
                <a:avLst/>
                <a:gdLst>
                  <a:gd name="T0" fmla="*/ 16 w 61"/>
                  <a:gd name="T1" fmla="*/ 0 h 73"/>
                  <a:gd name="T2" fmla="*/ 21 w 61"/>
                  <a:gd name="T3" fmla="*/ 2 h 73"/>
                  <a:gd name="T4" fmla="*/ 26 w 61"/>
                  <a:gd name="T5" fmla="*/ 6 h 73"/>
                  <a:gd name="T6" fmla="*/ 27 w 61"/>
                  <a:gd name="T7" fmla="*/ 8 h 73"/>
                  <a:gd name="T8" fmla="*/ 29 w 61"/>
                  <a:gd name="T9" fmla="*/ 11 h 73"/>
                  <a:gd name="T10" fmla="*/ 30 w 61"/>
                  <a:gd name="T11" fmla="*/ 15 h 73"/>
                  <a:gd name="T12" fmla="*/ 31 w 61"/>
                  <a:gd name="T13" fmla="*/ 19 h 73"/>
                  <a:gd name="T14" fmla="*/ 30 w 61"/>
                  <a:gd name="T15" fmla="*/ 22 h 73"/>
                  <a:gd name="T16" fmla="*/ 29 w 61"/>
                  <a:gd name="T17" fmla="*/ 26 h 73"/>
                  <a:gd name="T18" fmla="*/ 27 w 61"/>
                  <a:gd name="T19" fmla="*/ 28 h 73"/>
                  <a:gd name="T20" fmla="*/ 26 w 61"/>
                  <a:gd name="T21" fmla="*/ 31 h 73"/>
                  <a:gd name="T22" fmla="*/ 21 w 61"/>
                  <a:gd name="T23" fmla="*/ 35 h 73"/>
                  <a:gd name="T24" fmla="*/ 16 w 61"/>
                  <a:gd name="T25" fmla="*/ 37 h 73"/>
                  <a:gd name="T26" fmla="*/ 9 w 61"/>
                  <a:gd name="T27" fmla="*/ 35 h 73"/>
                  <a:gd name="T28" fmla="*/ 5 w 61"/>
                  <a:gd name="T29" fmla="*/ 31 h 73"/>
                  <a:gd name="T30" fmla="*/ 2 w 61"/>
                  <a:gd name="T31" fmla="*/ 28 h 73"/>
                  <a:gd name="T32" fmla="*/ 1 w 61"/>
                  <a:gd name="T33" fmla="*/ 26 h 73"/>
                  <a:gd name="T34" fmla="*/ 0 w 61"/>
                  <a:gd name="T35" fmla="*/ 22 h 73"/>
                  <a:gd name="T36" fmla="*/ 0 w 61"/>
                  <a:gd name="T37" fmla="*/ 19 h 73"/>
                  <a:gd name="T38" fmla="*/ 0 w 61"/>
                  <a:gd name="T39" fmla="*/ 15 h 73"/>
                  <a:gd name="T40" fmla="*/ 1 w 61"/>
                  <a:gd name="T41" fmla="*/ 11 h 73"/>
                  <a:gd name="T42" fmla="*/ 2 w 61"/>
                  <a:gd name="T43" fmla="*/ 8 h 73"/>
                  <a:gd name="T44" fmla="*/ 5 w 61"/>
                  <a:gd name="T45" fmla="*/ 6 h 73"/>
                  <a:gd name="T46" fmla="*/ 9 w 61"/>
                  <a:gd name="T47" fmla="*/ 2 h 73"/>
                  <a:gd name="T48" fmla="*/ 16 w 61"/>
                  <a:gd name="T49" fmla="*/ 0 h 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1"/>
                  <a:gd name="T76" fmla="*/ 0 h 73"/>
                  <a:gd name="T77" fmla="*/ 61 w 61"/>
                  <a:gd name="T78" fmla="*/ 73 h 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1" h="73">
                    <a:moveTo>
                      <a:pt x="31" y="0"/>
                    </a:moveTo>
                    <a:lnTo>
                      <a:pt x="41" y="3"/>
                    </a:lnTo>
                    <a:lnTo>
                      <a:pt x="51" y="11"/>
                    </a:lnTo>
                    <a:lnTo>
                      <a:pt x="54" y="16"/>
                    </a:lnTo>
                    <a:lnTo>
                      <a:pt x="57" y="22"/>
                    </a:lnTo>
                    <a:lnTo>
                      <a:pt x="60" y="29"/>
                    </a:lnTo>
                    <a:lnTo>
                      <a:pt x="61" y="37"/>
                    </a:lnTo>
                    <a:lnTo>
                      <a:pt x="60" y="43"/>
                    </a:lnTo>
                    <a:lnTo>
                      <a:pt x="57" y="51"/>
                    </a:lnTo>
                    <a:lnTo>
                      <a:pt x="54" y="56"/>
                    </a:lnTo>
                    <a:lnTo>
                      <a:pt x="51" y="62"/>
                    </a:lnTo>
                    <a:lnTo>
                      <a:pt x="41" y="69"/>
                    </a:lnTo>
                    <a:lnTo>
                      <a:pt x="31" y="73"/>
                    </a:lnTo>
                    <a:lnTo>
                      <a:pt x="17" y="69"/>
                    </a:lnTo>
                    <a:lnTo>
                      <a:pt x="9" y="62"/>
                    </a:lnTo>
                    <a:lnTo>
                      <a:pt x="4" y="56"/>
                    </a:lnTo>
                    <a:lnTo>
                      <a:pt x="1" y="51"/>
                    </a:lnTo>
                    <a:lnTo>
                      <a:pt x="0" y="43"/>
                    </a:lnTo>
                    <a:lnTo>
                      <a:pt x="0" y="37"/>
                    </a:lnTo>
                    <a:lnTo>
                      <a:pt x="0" y="29"/>
                    </a:lnTo>
                    <a:lnTo>
                      <a:pt x="1" y="22"/>
                    </a:lnTo>
                    <a:lnTo>
                      <a:pt x="4" y="16"/>
                    </a:lnTo>
                    <a:lnTo>
                      <a:pt x="9" y="11"/>
                    </a:lnTo>
                    <a:lnTo>
                      <a:pt x="17" y="3"/>
                    </a:lnTo>
                    <a:lnTo>
                      <a:pt x="31"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7" name="Freeform 686">
                <a:extLst>
                  <a:ext uri="{FF2B5EF4-FFF2-40B4-BE49-F238E27FC236}">
                    <a16:creationId xmlns:a16="http://schemas.microsoft.com/office/drawing/2014/main" id="{8BD258F7-3315-6242-ABD2-AD2FFD52566F}"/>
                  </a:ext>
                </a:extLst>
              </p:cNvPr>
              <p:cNvSpPr>
                <a:spLocks/>
              </p:cNvSpPr>
              <p:nvPr/>
            </p:nvSpPr>
            <p:spPr bwMode="auto">
              <a:xfrm>
                <a:off x="4120" y="2873"/>
                <a:ext cx="32" cy="37"/>
              </a:xfrm>
              <a:custGeom>
                <a:avLst/>
                <a:gdLst>
                  <a:gd name="T0" fmla="*/ 17 w 64"/>
                  <a:gd name="T1" fmla="*/ 0 h 74"/>
                  <a:gd name="T2" fmla="*/ 22 w 64"/>
                  <a:gd name="T3" fmla="*/ 1 h 74"/>
                  <a:gd name="T4" fmla="*/ 27 w 64"/>
                  <a:gd name="T5" fmla="*/ 5 h 74"/>
                  <a:gd name="T6" fmla="*/ 28 w 64"/>
                  <a:gd name="T7" fmla="*/ 7 h 74"/>
                  <a:gd name="T8" fmla="*/ 30 w 64"/>
                  <a:gd name="T9" fmla="*/ 10 h 74"/>
                  <a:gd name="T10" fmla="*/ 31 w 64"/>
                  <a:gd name="T11" fmla="*/ 14 h 74"/>
                  <a:gd name="T12" fmla="*/ 32 w 64"/>
                  <a:gd name="T13" fmla="*/ 19 h 74"/>
                  <a:gd name="T14" fmla="*/ 30 w 64"/>
                  <a:gd name="T15" fmla="*/ 25 h 74"/>
                  <a:gd name="T16" fmla="*/ 27 w 64"/>
                  <a:gd name="T17" fmla="*/ 31 h 74"/>
                  <a:gd name="T18" fmla="*/ 22 w 64"/>
                  <a:gd name="T19" fmla="*/ 35 h 74"/>
                  <a:gd name="T20" fmla="*/ 17 w 64"/>
                  <a:gd name="T21" fmla="*/ 37 h 74"/>
                  <a:gd name="T22" fmla="*/ 10 w 64"/>
                  <a:gd name="T23" fmla="*/ 35 h 74"/>
                  <a:gd name="T24" fmla="*/ 5 w 64"/>
                  <a:gd name="T25" fmla="*/ 31 h 74"/>
                  <a:gd name="T26" fmla="*/ 1 w 64"/>
                  <a:gd name="T27" fmla="*/ 25 h 74"/>
                  <a:gd name="T28" fmla="*/ 0 w 64"/>
                  <a:gd name="T29" fmla="*/ 19 h 74"/>
                  <a:gd name="T30" fmla="*/ 0 w 64"/>
                  <a:gd name="T31" fmla="*/ 14 h 74"/>
                  <a:gd name="T32" fmla="*/ 1 w 64"/>
                  <a:gd name="T33" fmla="*/ 10 h 74"/>
                  <a:gd name="T34" fmla="*/ 2 w 64"/>
                  <a:gd name="T35" fmla="*/ 7 h 74"/>
                  <a:gd name="T36" fmla="*/ 5 w 64"/>
                  <a:gd name="T37" fmla="*/ 5 h 74"/>
                  <a:gd name="T38" fmla="*/ 10 w 64"/>
                  <a:gd name="T39" fmla="*/ 1 h 74"/>
                  <a:gd name="T40" fmla="*/ 17 w 64"/>
                  <a:gd name="T41" fmla="*/ 0 h 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74"/>
                  <a:gd name="T65" fmla="*/ 64 w 64"/>
                  <a:gd name="T66" fmla="*/ 74 h 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74">
                    <a:moveTo>
                      <a:pt x="34" y="0"/>
                    </a:moveTo>
                    <a:lnTo>
                      <a:pt x="44" y="2"/>
                    </a:lnTo>
                    <a:lnTo>
                      <a:pt x="54" y="10"/>
                    </a:lnTo>
                    <a:lnTo>
                      <a:pt x="57" y="15"/>
                    </a:lnTo>
                    <a:lnTo>
                      <a:pt x="60" y="21"/>
                    </a:lnTo>
                    <a:lnTo>
                      <a:pt x="63" y="29"/>
                    </a:lnTo>
                    <a:lnTo>
                      <a:pt x="64" y="38"/>
                    </a:lnTo>
                    <a:lnTo>
                      <a:pt x="60" y="50"/>
                    </a:lnTo>
                    <a:lnTo>
                      <a:pt x="54" y="63"/>
                    </a:lnTo>
                    <a:lnTo>
                      <a:pt x="44" y="70"/>
                    </a:lnTo>
                    <a:lnTo>
                      <a:pt x="34" y="74"/>
                    </a:lnTo>
                    <a:lnTo>
                      <a:pt x="20" y="70"/>
                    </a:lnTo>
                    <a:lnTo>
                      <a:pt x="10" y="63"/>
                    </a:lnTo>
                    <a:lnTo>
                      <a:pt x="3" y="50"/>
                    </a:lnTo>
                    <a:lnTo>
                      <a:pt x="0" y="38"/>
                    </a:lnTo>
                    <a:lnTo>
                      <a:pt x="0" y="29"/>
                    </a:lnTo>
                    <a:lnTo>
                      <a:pt x="3" y="21"/>
                    </a:lnTo>
                    <a:lnTo>
                      <a:pt x="5" y="15"/>
                    </a:lnTo>
                    <a:lnTo>
                      <a:pt x="10" y="10"/>
                    </a:lnTo>
                    <a:lnTo>
                      <a:pt x="20" y="2"/>
                    </a:lnTo>
                    <a:lnTo>
                      <a:pt x="34" y="0"/>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8" name="Freeform 687">
                <a:extLst>
                  <a:ext uri="{FF2B5EF4-FFF2-40B4-BE49-F238E27FC236}">
                    <a16:creationId xmlns:a16="http://schemas.microsoft.com/office/drawing/2014/main" id="{B6B1F2C6-2332-BE4E-A7D7-FC75704B1A0D}"/>
                  </a:ext>
                </a:extLst>
              </p:cNvPr>
              <p:cNvSpPr>
                <a:spLocks/>
              </p:cNvSpPr>
              <p:nvPr/>
            </p:nvSpPr>
            <p:spPr bwMode="auto">
              <a:xfrm>
                <a:off x="4176" y="3677"/>
                <a:ext cx="39" cy="27"/>
              </a:xfrm>
              <a:custGeom>
                <a:avLst/>
                <a:gdLst>
                  <a:gd name="T0" fmla="*/ 24 w 79"/>
                  <a:gd name="T1" fmla="*/ 3 h 56"/>
                  <a:gd name="T2" fmla="*/ 27 w 79"/>
                  <a:gd name="T3" fmla="*/ 4 h 56"/>
                  <a:gd name="T4" fmla="*/ 31 w 79"/>
                  <a:gd name="T5" fmla="*/ 6 h 56"/>
                  <a:gd name="T6" fmla="*/ 33 w 79"/>
                  <a:gd name="T7" fmla="*/ 8 h 56"/>
                  <a:gd name="T8" fmla="*/ 36 w 79"/>
                  <a:gd name="T9" fmla="*/ 11 h 56"/>
                  <a:gd name="T10" fmla="*/ 39 w 79"/>
                  <a:gd name="T11" fmla="*/ 16 h 56"/>
                  <a:gd name="T12" fmla="*/ 39 w 79"/>
                  <a:gd name="T13" fmla="*/ 21 h 56"/>
                  <a:gd name="T14" fmla="*/ 35 w 79"/>
                  <a:gd name="T15" fmla="*/ 25 h 56"/>
                  <a:gd name="T16" fmla="*/ 30 w 79"/>
                  <a:gd name="T17" fmla="*/ 27 h 56"/>
                  <a:gd name="T18" fmla="*/ 27 w 79"/>
                  <a:gd name="T19" fmla="*/ 27 h 56"/>
                  <a:gd name="T20" fmla="*/ 23 w 79"/>
                  <a:gd name="T21" fmla="*/ 27 h 56"/>
                  <a:gd name="T22" fmla="*/ 19 w 79"/>
                  <a:gd name="T23" fmla="*/ 26 h 56"/>
                  <a:gd name="T24" fmla="*/ 16 w 79"/>
                  <a:gd name="T25" fmla="*/ 26 h 56"/>
                  <a:gd name="T26" fmla="*/ 12 w 79"/>
                  <a:gd name="T27" fmla="*/ 23 h 56"/>
                  <a:gd name="T28" fmla="*/ 8 w 79"/>
                  <a:gd name="T29" fmla="*/ 21 h 56"/>
                  <a:gd name="T30" fmla="*/ 5 w 79"/>
                  <a:gd name="T31" fmla="*/ 19 h 56"/>
                  <a:gd name="T32" fmla="*/ 3 w 79"/>
                  <a:gd name="T33" fmla="*/ 17 h 56"/>
                  <a:gd name="T34" fmla="*/ 0 w 79"/>
                  <a:gd name="T35" fmla="*/ 12 h 56"/>
                  <a:gd name="T36" fmla="*/ 0 w 79"/>
                  <a:gd name="T37" fmla="*/ 7 h 56"/>
                  <a:gd name="T38" fmla="*/ 3 w 79"/>
                  <a:gd name="T39" fmla="*/ 3 h 56"/>
                  <a:gd name="T40" fmla="*/ 8 w 79"/>
                  <a:gd name="T41" fmla="*/ 1 h 56"/>
                  <a:gd name="T42" fmla="*/ 12 w 79"/>
                  <a:gd name="T43" fmla="*/ 0 h 56"/>
                  <a:gd name="T44" fmla="*/ 15 w 79"/>
                  <a:gd name="T45" fmla="*/ 1 h 56"/>
                  <a:gd name="T46" fmla="*/ 20 w 79"/>
                  <a:gd name="T47" fmla="*/ 1 h 56"/>
                  <a:gd name="T48" fmla="*/ 24 w 79"/>
                  <a:gd name="T49" fmla="*/ 3 h 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9"/>
                  <a:gd name="T76" fmla="*/ 0 h 56"/>
                  <a:gd name="T77" fmla="*/ 79 w 79"/>
                  <a:gd name="T78" fmla="*/ 56 h 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9" h="56">
                    <a:moveTo>
                      <a:pt x="49" y="7"/>
                    </a:moveTo>
                    <a:lnTo>
                      <a:pt x="55" y="9"/>
                    </a:lnTo>
                    <a:lnTo>
                      <a:pt x="62" y="13"/>
                    </a:lnTo>
                    <a:lnTo>
                      <a:pt x="67" y="17"/>
                    </a:lnTo>
                    <a:lnTo>
                      <a:pt x="73" y="23"/>
                    </a:lnTo>
                    <a:lnTo>
                      <a:pt x="79" y="33"/>
                    </a:lnTo>
                    <a:lnTo>
                      <a:pt x="79" y="44"/>
                    </a:lnTo>
                    <a:lnTo>
                      <a:pt x="71" y="51"/>
                    </a:lnTo>
                    <a:lnTo>
                      <a:pt x="61" y="56"/>
                    </a:lnTo>
                    <a:lnTo>
                      <a:pt x="54" y="56"/>
                    </a:lnTo>
                    <a:lnTo>
                      <a:pt x="46" y="56"/>
                    </a:lnTo>
                    <a:lnTo>
                      <a:pt x="39" y="54"/>
                    </a:lnTo>
                    <a:lnTo>
                      <a:pt x="32" y="53"/>
                    </a:lnTo>
                    <a:lnTo>
                      <a:pt x="24" y="48"/>
                    </a:lnTo>
                    <a:lnTo>
                      <a:pt x="16" y="44"/>
                    </a:lnTo>
                    <a:lnTo>
                      <a:pt x="10" y="39"/>
                    </a:lnTo>
                    <a:lnTo>
                      <a:pt x="6" y="36"/>
                    </a:lnTo>
                    <a:lnTo>
                      <a:pt x="0" y="24"/>
                    </a:lnTo>
                    <a:lnTo>
                      <a:pt x="1" y="14"/>
                    </a:lnTo>
                    <a:lnTo>
                      <a:pt x="7" y="7"/>
                    </a:lnTo>
                    <a:lnTo>
                      <a:pt x="17" y="3"/>
                    </a:lnTo>
                    <a:lnTo>
                      <a:pt x="24" y="0"/>
                    </a:lnTo>
                    <a:lnTo>
                      <a:pt x="31" y="2"/>
                    </a:lnTo>
                    <a:lnTo>
                      <a:pt x="40" y="3"/>
                    </a:lnTo>
                    <a:lnTo>
                      <a:pt x="49" y="7"/>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569" name="Freeform 688">
                <a:extLst>
                  <a:ext uri="{FF2B5EF4-FFF2-40B4-BE49-F238E27FC236}">
                    <a16:creationId xmlns:a16="http://schemas.microsoft.com/office/drawing/2014/main" id="{C2639364-823E-6947-A4C0-573543F6C02B}"/>
                  </a:ext>
                </a:extLst>
              </p:cNvPr>
              <p:cNvSpPr>
                <a:spLocks/>
              </p:cNvSpPr>
              <p:nvPr/>
            </p:nvSpPr>
            <p:spPr bwMode="auto">
              <a:xfrm>
                <a:off x="4672" y="3921"/>
                <a:ext cx="38" cy="30"/>
              </a:xfrm>
              <a:custGeom>
                <a:avLst/>
                <a:gdLst>
                  <a:gd name="T0" fmla="*/ 13 w 75"/>
                  <a:gd name="T1" fmla="*/ 4 h 59"/>
                  <a:gd name="T2" fmla="*/ 17 w 75"/>
                  <a:gd name="T3" fmla="*/ 2 h 59"/>
                  <a:gd name="T4" fmla="*/ 20 w 75"/>
                  <a:gd name="T5" fmla="*/ 1 h 59"/>
                  <a:gd name="T6" fmla="*/ 24 w 75"/>
                  <a:gd name="T7" fmla="*/ 0 h 59"/>
                  <a:gd name="T8" fmla="*/ 28 w 75"/>
                  <a:gd name="T9" fmla="*/ 0 h 59"/>
                  <a:gd name="T10" fmla="*/ 33 w 75"/>
                  <a:gd name="T11" fmla="*/ 2 h 59"/>
                  <a:gd name="T12" fmla="*/ 38 w 75"/>
                  <a:gd name="T13" fmla="*/ 5 h 59"/>
                  <a:gd name="T14" fmla="*/ 38 w 75"/>
                  <a:gd name="T15" fmla="*/ 10 h 59"/>
                  <a:gd name="T16" fmla="*/ 37 w 75"/>
                  <a:gd name="T17" fmla="*/ 16 h 59"/>
                  <a:gd name="T18" fmla="*/ 34 w 75"/>
                  <a:gd name="T19" fmla="*/ 19 h 59"/>
                  <a:gd name="T20" fmla="*/ 32 w 75"/>
                  <a:gd name="T21" fmla="*/ 21 h 59"/>
                  <a:gd name="T22" fmla="*/ 29 w 75"/>
                  <a:gd name="T23" fmla="*/ 24 h 59"/>
                  <a:gd name="T24" fmla="*/ 26 w 75"/>
                  <a:gd name="T25" fmla="*/ 27 h 59"/>
                  <a:gd name="T26" fmla="*/ 22 w 75"/>
                  <a:gd name="T27" fmla="*/ 28 h 59"/>
                  <a:gd name="T28" fmla="*/ 18 w 75"/>
                  <a:gd name="T29" fmla="*/ 29 h 59"/>
                  <a:gd name="T30" fmla="*/ 14 w 75"/>
                  <a:gd name="T31" fmla="*/ 29 h 59"/>
                  <a:gd name="T32" fmla="*/ 11 w 75"/>
                  <a:gd name="T33" fmla="*/ 30 h 59"/>
                  <a:gd name="T34" fmla="*/ 5 w 75"/>
                  <a:gd name="T35" fmla="*/ 29 h 59"/>
                  <a:gd name="T36" fmla="*/ 1 w 75"/>
                  <a:gd name="T37" fmla="*/ 26 h 59"/>
                  <a:gd name="T38" fmla="*/ 0 w 75"/>
                  <a:gd name="T39" fmla="*/ 20 h 59"/>
                  <a:gd name="T40" fmla="*/ 2 w 75"/>
                  <a:gd name="T41" fmla="*/ 15 h 59"/>
                  <a:gd name="T42" fmla="*/ 4 w 75"/>
                  <a:gd name="T43" fmla="*/ 12 h 59"/>
                  <a:gd name="T44" fmla="*/ 7 w 75"/>
                  <a:gd name="T45" fmla="*/ 9 h 59"/>
                  <a:gd name="T46" fmla="*/ 10 w 75"/>
                  <a:gd name="T47" fmla="*/ 6 h 59"/>
                  <a:gd name="T48" fmla="*/ 13 w 75"/>
                  <a:gd name="T49" fmla="*/ 4 h 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59"/>
                  <a:gd name="T77" fmla="*/ 75 w 75"/>
                  <a:gd name="T78" fmla="*/ 59 h 5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59">
                    <a:moveTo>
                      <a:pt x="26" y="8"/>
                    </a:moveTo>
                    <a:lnTo>
                      <a:pt x="33" y="4"/>
                    </a:lnTo>
                    <a:lnTo>
                      <a:pt x="40" y="1"/>
                    </a:lnTo>
                    <a:lnTo>
                      <a:pt x="48" y="0"/>
                    </a:lnTo>
                    <a:lnTo>
                      <a:pt x="55" y="0"/>
                    </a:lnTo>
                    <a:lnTo>
                      <a:pt x="66" y="3"/>
                    </a:lnTo>
                    <a:lnTo>
                      <a:pt x="75" y="10"/>
                    </a:lnTo>
                    <a:lnTo>
                      <a:pt x="75" y="19"/>
                    </a:lnTo>
                    <a:lnTo>
                      <a:pt x="73" y="32"/>
                    </a:lnTo>
                    <a:lnTo>
                      <a:pt x="68" y="37"/>
                    </a:lnTo>
                    <a:lnTo>
                      <a:pt x="64" y="42"/>
                    </a:lnTo>
                    <a:lnTo>
                      <a:pt x="58" y="47"/>
                    </a:lnTo>
                    <a:lnTo>
                      <a:pt x="51" y="53"/>
                    </a:lnTo>
                    <a:lnTo>
                      <a:pt x="43" y="55"/>
                    </a:lnTo>
                    <a:lnTo>
                      <a:pt x="35" y="58"/>
                    </a:lnTo>
                    <a:lnTo>
                      <a:pt x="28" y="58"/>
                    </a:lnTo>
                    <a:lnTo>
                      <a:pt x="21" y="59"/>
                    </a:lnTo>
                    <a:lnTo>
                      <a:pt x="10" y="57"/>
                    </a:lnTo>
                    <a:lnTo>
                      <a:pt x="2" y="52"/>
                    </a:lnTo>
                    <a:lnTo>
                      <a:pt x="0" y="40"/>
                    </a:lnTo>
                    <a:lnTo>
                      <a:pt x="4" y="29"/>
                    </a:lnTo>
                    <a:lnTo>
                      <a:pt x="7" y="23"/>
                    </a:lnTo>
                    <a:lnTo>
                      <a:pt x="13" y="18"/>
                    </a:lnTo>
                    <a:lnTo>
                      <a:pt x="19" y="11"/>
                    </a:lnTo>
                    <a:lnTo>
                      <a:pt x="26" y="8"/>
                    </a:lnTo>
                    <a:close/>
                  </a:path>
                </a:pathLst>
              </a:custGeom>
              <a:solidFill>
                <a:srgbClr val="FFDE1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sp>
          <p:nvSpPr>
            <p:cNvPr id="437" name="Freeform 689">
              <a:extLst>
                <a:ext uri="{FF2B5EF4-FFF2-40B4-BE49-F238E27FC236}">
                  <a16:creationId xmlns:a16="http://schemas.microsoft.com/office/drawing/2014/main" id="{A1509306-DFD6-1140-B7A0-6E3DCC89D8F2}"/>
                </a:ext>
              </a:extLst>
            </p:cNvPr>
            <p:cNvSpPr>
              <a:spLocks/>
            </p:cNvSpPr>
            <p:nvPr/>
          </p:nvSpPr>
          <p:spPr bwMode="auto">
            <a:xfrm>
              <a:off x="2979" y="2947"/>
              <a:ext cx="143" cy="81"/>
            </a:xfrm>
            <a:custGeom>
              <a:avLst/>
              <a:gdLst>
                <a:gd name="T0" fmla="*/ 0 w 423"/>
                <a:gd name="T1" fmla="*/ 9 h 259"/>
                <a:gd name="T2" fmla="*/ 132 w 423"/>
                <a:gd name="T3" fmla="*/ 0 h 259"/>
                <a:gd name="T4" fmla="*/ 143 w 423"/>
                <a:gd name="T5" fmla="*/ 70 h 259"/>
                <a:gd name="T6" fmla="*/ 2 w 423"/>
                <a:gd name="T7" fmla="*/ 81 h 259"/>
                <a:gd name="T8" fmla="*/ 0 w 423"/>
                <a:gd name="T9" fmla="*/ 9 h 259"/>
                <a:gd name="T10" fmla="*/ 0 w 423"/>
                <a:gd name="T11" fmla="*/ 9 h 259"/>
                <a:gd name="T12" fmla="*/ 0 60000 65536"/>
                <a:gd name="T13" fmla="*/ 0 60000 65536"/>
                <a:gd name="T14" fmla="*/ 0 60000 65536"/>
                <a:gd name="T15" fmla="*/ 0 60000 65536"/>
                <a:gd name="T16" fmla="*/ 0 60000 65536"/>
                <a:gd name="T17" fmla="*/ 0 60000 65536"/>
                <a:gd name="T18" fmla="*/ 0 w 423"/>
                <a:gd name="T19" fmla="*/ 0 h 259"/>
                <a:gd name="T20" fmla="*/ 423 w 423"/>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23" h="259">
                  <a:moveTo>
                    <a:pt x="0" y="29"/>
                  </a:moveTo>
                  <a:lnTo>
                    <a:pt x="389" y="0"/>
                  </a:lnTo>
                  <a:lnTo>
                    <a:pt x="423" y="225"/>
                  </a:lnTo>
                  <a:lnTo>
                    <a:pt x="5" y="259"/>
                  </a:lnTo>
                  <a:lnTo>
                    <a:pt x="0" y="29"/>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8" name="Freeform 690">
              <a:extLst>
                <a:ext uri="{FF2B5EF4-FFF2-40B4-BE49-F238E27FC236}">
                  <a16:creationId xmlns:a16="http://schemas.microsoft.com/office/drawing/2014/main" id="{03AAF0C6-1CF4-D341-975A-91C42B832C1B}"/>
                </a:ext>
              </a:extLst>
            </p:cNvPr>
            <p:cNvSpPr>
              <a:spLocks/>
            </p:cNvSpPr>
            <p:nvPr/>
          </p:nvSpPr>
          <p:spPr bwMode="auto">
            <a:xfrm>
              <a:off x="2828" y="2954"/>
              <a:ext cx="160" cy="80"/>
            </a:xfrm>
            <a:custGeom>
              <a:avLst/>
              <a:gdLst>
                <a:gd name="T0" fmla="*/ 6 w 475"/>
                <a:gd name="T1" fmla="*/ 6 h 259"/>
                <a:gd name="T2" fmla="*/ 160 w 475"/>
                <a:gd name="T3" fmla="*/ 0 h 259"/>
                <a:gd name="T4" fmla="*/ 152 w 475"/>
                <a:gd name="T5" fmla="*/ 70 h 259"/>
                <a:gd name="T6" fmla="*/ 0 w 475"/>
                <a:gd name="T7" fmla="*/ 80 h 259"/>
                <a:gd name="T8" fmla="*/ 6 w 475"/>
                <a:gd name="T9" fmla="*/ 6 h 259"/>
                <a:gd name="T10" fmla="*/ 6 w 475"/>
                <a:gd name="T11" fmla="*/ 6 h 259"/>
                <a:gd name="T12" fmla="*/ 0 60000 65536"/>
                <a:gd name="T13" fmla="*/ 0 60000 65536"/>
                <a:gd name="T14" fmla="*/ 0 60000 65536"/>
                <a:gd name="T15" fmla="*/ 0 60000 65536"/>
                <a:gd name="T16" fmla="*/ 0 60000 65536"/>
                <a:gd name="T17" fmla="*/ 0 60000 65536"/>
                <a:gd name="T18" fmla="*/ 0 w 475"/>
                <a:gd name="T19" fmla="*/ 0 h 259"/>
                <a:gd name="T20" fmla="*/ 475 w 475"/>
                <a:gd name="T21" fmla="*/ 259 h 259"/>
              </a:gdLst>
              <a:ahLst/>
              <a:cxnLst>
                <a:cxn ang="T12">
                  <a:pos x="T0" y="T1"/>
                </a:cxn>
                <a:cxn ang="T13">
                  <a:pos x="T2" y="T3"/>
                </a:cxn>
                <a:cxn ang="T14">
                  <a:pos x="T4" y="T5"/>
                </a:cxn>
                <a:cxn ang="T15">
                  <a:pos x="T6" y="T7"/>
                </a:cxn>
                <a:cxn ang="T16">
                  <a:pos x="T8" y="T9"/>
                </a:cxn>
                <a:cxn ang="T17">
                  <a:pos x="T10" y="T11"/>
                </a:cxn>
              </a:cxnLst>
              <a:rect l="T18" t="T19" r="T20" b="T21"/>
              <a:pathLst>
                <a:path w="475" h="259">
                  <a:moveTo>
                    <a:pt x="17" y="21"/>
                  </a:moveTo>
                  <a:lnTo>
                    <a:pt x="475" y="0"/>
                  </a:lnTo>
                  <a:lnTo>
                    <a:pt x="452" y="228"/>
                  </a:lnTo>
                  <a:lnTo>
                    <a:pt x="0" y="259"/>
                  </a:lnTo>
                  <a:lnTo>
                    <a:pt x="17" y="21"/>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39" name="Freeform 691">
              <a:extLst>
                <a:ext uri="{FF2B5EF4-FFF2-40B4-BE49-F238E27FC236}">
                  <a16:creationId xmlns:a16="http://schemas.microsoft.com/office/drawing/2014/main" id="{2014495A-3F2C-A643-BA26-A03735492DB7}"/>
                </a:ext>
              </a:extLst>
            </p:cNvPr>
            <p:cNvSpPr>
              <a:spLocks/>
            </p:cNvSpPr>
            <p:nvPr/>
          </p:nvSpPr>
          <p:spPr bwMode="auto">
            <a:xfrm>
              <a:off x="2688" y="2956"/>
              <a:ext cx="146" cy="78"/>
            </a:xfrm>
            <a:custGeom>
              <a:avLst/>
              <a:gdLst>
                <a:gd name="T0" fmla="*/ 0 w 431"/>
                <a:gd name="T1" fmla="*/ 12 h 253"/>
                <a:gd name="T2" fmla="*/ 146 w 431"/>
                <a:gd name="T3" fmla="*/ 0 h 253"/>
                <a:gd name="T4" fmla="*/ 143 w 431"/>
                <a:gd name="T5" fmla="*/ 78 h 253"/>
                <a:gd name="T6" fmla="*/ 4 w 431"/>
                <a:gd name="T7" fmla="*/ 77 h 253"/>
                <a:gd name="T8" fmla="*/ 0 w 431"/>
                <a:gd name="T9" fmla="*/ 12 h 253"/>
                <a:gd name="T10" fmla="*/ 0 w 431"/>
                <a:gd name="T11" fmla="*/ 12 h 253"/>
                <a:gd name="T12" fmla="*/ 0 60000 65536"/>
                <a:gd name="T13" fmla="*/ 0 60000 65536"/>
                <a:gd name="T14" fmla="*/ 0 60000 65536"/>
                <a:gd name="T15" fmla="*/ 0 60000 65536"/>
                <a:gd name="T16" fmla="*/ 0 60000 65536"/>
                <a:gd name="T17" fmla="*/ 0 60000 65536"/>
                <a:gd name="T18" fmla="*/ 0 w 431"/>
                <a:gd name="T19" fmla="*/ 0 h 253"/>
                <a:gd name="T20" fmla="*/ 431 w 431"/>
                <a:gd name="T21" fmla="*/ 253 h 253"/>
              </a:gdLst>
              <a:ahLst/>
              <a:cxnLst>
                <a:cxn ang="T12">
                  <a:pos x="T0" y="T1"/>
                </a:cxn>
                <a:cxn ang="T13">
                  <a:pos x="T2" y="T3"/>
                </a:cxn>
                <a:cxn ang="T14">
                  <a:pos x="T4" y="T5"/>
                </a:cxn>
                <a:cxn ang="T15">
                  <a:pos x="T6" y="T7"/>
                </a:cxn>
                <a:cxn ang="T16">
                  <a:pos x="T8" y="T9"/>
                </a:cxn>
                <a:cxn ang="T17">
                  <a:pos x="T10" y="T11"/>
                </a:cxn>
              </a:cxnLst>
              <a:rect l="T18" t="T19" r="T20" b="T21"/>
              <a:pathLst>
                <a:path w="431" h="253">
                  <a:moveTo>
                    <a:pt x="0" y="40"/>
                  </a:moveTo>
                  <a:lnTo>
                    <a:pt x="431" y="0"/>
                  </a:lnTo>
                  <a:lnTo>
                    <a:pt x="423" y="253"/>
                  </a:lnTo>
                  <a:lnTo>
                    <a:pt x="11" y="251"/>
                  </a:lnTo>
                  <a:lnTo>
                    <a:pt x="0" y="40"/>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0" name="Freeform 692">
              <a:extLst>
                <a:ext uri="{FF2B5EF4-FFF2-40B4-BE49-F238E27FC236}">
                  <a16:creationId xmlns:a16="http://schemas.microsoft.com/office/drawing/2014/main" id="{9FFBF5CA-B4E8-564A-987A-751B35EDD3CA}"/>
                </a:ext>
              </a:extLst>
            </p:cNvPr>
            <p:cNvSpPr>
              <a:spLocks/>
            </p:cNvSpPr>
            <p:nvPr/>
          </p:nvSpPr>
          <p:spPr bwMode="auto">
            <a:xfrm>
              <a:off x="2753" y="2890"/>
              <a:ext cx="154" cy="68"/>
            </a:xfrm>
            <a:custGeom>
              <a:avLst/>
              <a:gdLst>
                <a:gd name="T0" fmla="*/ 0 w 457"/>
                <a:gd name="T1" fmla="*/ 4 h 217"/>
                <a:gd name="T2" fmla="*/ 1 w 457"/>
                <a:gd name="T3" fmla="*/ 66 h 217"/>
                <a:gd name="T4" fmla="*/ 92 w 457"/>
                <a:gd name="T5" fmla="*/ 68 h 217"/>
                <a:gd name="T6" fmla="*/ 154 w 457"/>
                <a:gd name="T7" fmla="*/ 64 h 217"/>
                <a:gd name="T8" fmla="*/ 151 w 457"/>
                <a:gd name="T9" fmla="*/ 0 h 217"/>
                <a:gd name="T10" fmla="*/ 0 w 457"/>
                <a:gd name="T11" fmla="*/ 4 h 217"/>
                <a:gd name="T12" fmla="*/ 0 w 457"/>
                <a:gd name="T13" fmla="*/ 4 h 217"/>
                <a:gd name="T14" fmla="*/ 0 60000 65536"/>
                <a:gd name="T15" fmla="*/ 0 60000 65536"/>
                <a:gd name="T16" fmla="*/ 0 60000 65536"/>
                <a:gd name="T17" fmla="*/ 0 60000 65536"/>
                <a:gd name="T18" fmla="*/ 0 60000 65536"/>
                <a:gd name="T19" fmla="*/ 0 60000 65536"/>
                <a:gd name="T20" fmla="*/ 0 60000 65536"/>
                <a:gd name="T21" fmla="*/ 0 w 457"/>
                <a:gd name="T22" fmla="*/ 0 h 217"/>
                <a:gd name="T23" fmla="*/ 457 w 457"/>
                <a:gd name="T24" fmla="*/ 217 h 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17">
                  <a:moveTo>
                    <a:pt x="0" y="13"/>
                  </a:moveTo>
                  <a:lnTo>
                    <a:pt x="2" y="211"/>
                  </a:lnTo>
                  <a:lnTo>
                    <a:pt x="274" y="217"/>
                  </a:lnTo>
                  <a:lnTo>
                    <a:pt x="457" y="205"/>
                  </a:lnTo>
                  <a:lnTo>
                    <a:pt x="449" y="0"/>
                  </a:lnTo>
                  <a:lnTo>
                    <a:pt x="0" y="13"/>
                  </a:lnTo>
                  <a:close/>
                </a:path>
              </a:pathLst>
            </a:custGeom>
            <a:solidFill>
              <a:srgbClr val="D99966"/>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1" name="Freeform 693">
              <a:extLst>
                <a:ext uri="{FF2B5EF4-FFF2-40B4-BE49-F238E27FC236}">
                  <a16:creationId xmlns:a16="http://schemas.microsoft.com/office/drawing/2014/main" id="{4E420671-F950-2B4C-8005-FEC4D61F70F9}"/>
                </a:ext>
              </a:extLst>
            </p:cNvPr>
            <p:cNvSpPr>
              <a:spLocks/>
            </p:cNvSpPr>
            <p:nvPr/>
          </p:nvSpPr>
          <p:spPr bwMode="auto">
            <a:xfrm>
              <a:off x="2683" y="2945"/>
              <a:ext cx="441" cy="89"/>
            </a:xfrm>
            <a:custGeom>
              <a:avLst/>
              <a:gdLst>
                <a:gd name="T0" fmla="*/ 150 w 1310"/>
                <a:gd name="T1" fmla="*/ 87 h 285"/>
                <a:gd name="T2" fmla="*/ 145 w 1310"/>
                <a:gd name="T3" fmla="*/ 87 h 285"/>
                <a:gd name="T4" fmla="*/ 141 w 1310"/>
                <a:gd name="T5" fmla="*/ 20 h 285"/>
                <a:gd name="T6" fmla="*/ 82 w 1310"/>
                <a:gd name="T7" fmla="*/ 22 h 285"/>
                <a:gd name="T8" fmla="*/ 23 w 1310"/>
                <a:gd name="T9" fmla="*/ 30 h 285"/>
                <a:gd name="T10" fmla="*/ 16 w 1310"/>
                <a:gd name="T11" fmla="*/ 59 h 285"/>
                <a:gd name="T12" fmla="*/ 12 w 1310"/>
                <a:gd name="T13" fmla="*/ 89 h 285"/>
                <a:gd name="T14" fmla="*/ 9 w 1310"/>
                <a:gd name="T15" fmla="*/ 87 h 285"/>
                <a:gd name="T16" fmla="*/ 5 w 1310"/>
                <a:gd name="T17" fmla="*/ 86 h 285"/>
                <a:gd name="T18" fmla="*/ 0 w 1310"/>
                <a:gd name="T19" fmla="*/ 20 h 285"/>
                <a:gd name="T20" fmla="*/ 8 w 1310"/>
                <a:gd name="T21" fmla="*/ 15 h 285"/>
                <a:gd name="T22" fmla="*/ 22 w 1310"/>
                <a:gd name="T23" fmla="*/ 12 h 285"/>
                <a:gd name="T24" fmla="*/ 60 w 1310"/>
                <a:gd name="T25" fmla="*/ 8 h 285"/>
                <a:gd name="T26" fmla="*/ 166 w 1310"/>
                <a:gd name="T27" fmla="*/ 4 h 285"/>
                <a:gd name="T28" fmla="*/ 348 w 1310"/>
                <a:gd name="T29" fmla="*/ 3 h 285"/>
                <a:gd name="T30" fmla="*/ 393 w 1310"/>
                <a:gd name="T31" fmla="*/ 0 h 285"/>
                <a:gd name="T32" fmla="*/ 436 w 1310"/>
                <a:gd name="T33" fmla="*/ 1 h 285"/>
                <a:gd name="T34" fmla="*/ 441 w 1310"/>
                <a:gd name="T35" fmla="*/ 72 h 285"/>
                <a:gd name="T36" fmla="*/ 435 w 1310"/>
                <a:gd name="T37" fmla="*/ 73 h 285"/>
                <a:gd name="T38" fmla="*/ 420 w 1310"/>
                <a:gd name="T39" fmla="*/ 7 h 285"/>
                <a:gd name="T40" fmla="*/ 363 w 1310"/>
                <a:gd name="T41" fmla="*/ 13 h 285"/>
                <a:gd name="T42" fmla="*/ 307 w 1310"/>
                <a:gd name="T43" fmla="*/ 20 h 285"/>
                <a:gd name="T44" fmla="*/ 302 w 1310"/>
                <a:gd name="T45" fmla="*/ 81 h 285"/>
                <a:gd name="T46" fmla="*/ 296 w 1310"/>
                <a:gd name="T47" fmla="*/ 81 h 285"/>
                <a:gd name="T48" fmla="*/ 290 w 1310"/>
                <a:gd name="T49" fmla="*/ 14 h 285"/>
                <a:gd name="T50" fmla="*/ 224 w 1310"/>
                <a:gd name="T51" fmla="*/ 19 h 285"/>
                <a:gd name="T52" fmla="*/ 158 w 1310"/>
                <a:gd name="T53" fmla="*/ 30 h 285"/>
                <a:gd name="T54" fmla="*/ 150 w 1310"/>
                <a:gd name="T55" fmla="*/ 87 h 285"/>
                <a:gd name="T56" fmla="*/ 150 w 1310"/>
                <a:gd name="T57" fmla="*/ 87 h 28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310"/>
                <a:gd name="T88" fmla="*/ 0 h 285"/>
                <a:gd name="T89" fmla="*/ 1310 w 1310"/>
                <a:gd name="T90" fmla="*/ 285 h 28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310" h="285">
                  <a:moveTo>
                    <a:pt x="445" y="279"/>
                  </a:moveTo>
                  <a:lnTo>
                    <a:pt x="432" y="279"/>
                  </a:lnTo>
                  <a:lnTo>
                    <a:pt x="420" y="63"/>
                  </a:lnTo>
                  <a:lnTo>
                    <a:pt x="244" y="72"/>
                  </a:lnTo>
                  <a:lnTo>
                    <a:pt x="67" y="95"/>
                  </a:lnTo>
                  <a:lnTo>
                    <a:pt x="48" y="188"/>
                  </a:lnTo>
                  <a:lnTo>
                    <a:pt x="36" y="285"/>
                  </a:lnTo>
                  <a:lnTo>
                    <a:pt x="27" y="279"/>
                  </a:lnTo>
                  <a:lnTo>
                    <a:pt x="14" y="275"/>
                  </a:lnTo>
                  <a:lnTo>
                    <a:pt x="0" y="63"/>
                  </a:lnTo>
                  <a:lnTo>
                    <a:pt x="25" y="49"/>
                  </a:lnTo>
                  <a:lnTo>
                    <a:pt x="65" y="40"/>
                  </a:lnTo>
                  <a:lnTo>
                    <a:pt x="179" y="26"/>
                  </a:lnTo>
                  <a:lnTo>
                    <a:pt x="493" y="13"/>
                  </a:lnTo>
                  <a:lnTo>
                    <a:pt x="1034" y="9"/>
                  </a:lnTo>
                  <a:lnTo>
                    <a:pt x="1166" y="0"/>
                  </a:lnTo>
                  <a:lnTo>
                    <a:pt x="1295" y="4"/>
                  </a:lnTo>
                  <a:lnTo>
                    <a:pt x="1310" y="232"/>
                  </a:lnTo>
                  <a:lnTo>
                    <a:pt x="1291" y="234"/>
                  </a:lnTo>
                  <a:lnTo>
                    <a:pt x="1247" y="23"/>
                  </a:lnTo>
                  <a:lnTo>
                    <a:pt x="1078" y="42"/>
                  </a:lnTo>
                  <a:lnTo>
                    <a:pt x="911" y="64"/>
                  </a:lnTo>
                  <a:lnTo>
                    <a:pt x="898" y="258"/>
                  </a:lnTo>
                  <a:lnTo>
                    <a:pt x="879" y="260"/>
                  </a:lnTo>
                  <a:lnTo>
                    <a:pt x="861" y="45"/>
                  </a:lnTo>
                  <a:lnTo>
                    <a:pt x="666" y="61"/>
                  </a:lnTo>
                  <a:lnTo>
                    <a:pt x="470" y="97"/>
                  </a:lnTo>
                  <a:lnTo>
                    <a:pt x="445" y="279"/>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2" name="Freeform 694">
              <a:extLst>
                <a:ext uri="{FF2B5EF4-FFF2-40B4-BE49-F238E27FC236}">
                  <a16:creationId xmlns:a16="http://schemas.microsoft.com/office/drawing/2014/main" id="{0E911697-ADC7-8E4A-8A18-DEF1B8E6BED3}"/>
                </a:ext>
              </a:extLst>
            </p:cNvPr>
            <p:cNvSpPr>
              <a:spLocks/>
            </p:cNvSpPr>
            <p:nvPr/>
          </p:nvSpPr>
          <p:spPr bwMode="auto">
            <a:xfrm>
              <a:off x="2747" y="2888"/>
              <a:ext cx="167" cy="73"/>
            </a:xfrm>
            <a:custGeom>
              <a:avLst/>
              <a:gdLst>
                <a:gd name="T0" fmla="*/ 5 w 248"/>
                <a:gd name="T1" fmla="*/ 73 h 117"/>
                <a:gd name="T2" fmla="*/ 0 w 248"/>
                <a:gd name="T3" fmla="*/ 3 h 117"/>
                <a:gd name="T4" fmla="*/ 42 w 248"/>
                <a:gd name="T5" fmla="*/ 0 h 117"/>
                <a:gd name="T6" fmla="*/ 121 w 248"/>
                <a:gd name="T7" fmla="*/ 0 h 117"/>
                <a:gd name="T8" fmla="*/ 167 w 248"/>
                <a:gd name="T9" fmla="*/ 2 h 117"/>
                <a:gd name="T10" fmla="*/ 162 w 248"/>
                <a:gd name="T11" fmla="*/ 69 h 117"/>
                <a:gd name="T12" fmla="*/ 156 w 248"/>
                <a:gd name="T13" fmla="*/ 69 h 117"/>
                <a:gd name="T14" fmla="*/ 151 w 248"/>
                <a:gd name="T15" fmla="*/ 13 h 117"/>
                <a:gd name="T16" fmla="*/ 19 w 248"/>
                <a:gd name="T17" fmla="*/ 17 h 117"/>
                <a:gd name="T18" fmla="*/ 12 w 248"/>
                <a:gd name="T19" fmla="*/ 73 h 117"/>
                <a:gd name="T20" fmla="*/ 5 w 248"/>
                <a:gd name="T21" fmla="*/ 73 h 117"/>
                <a:gd name="T22" fmla="*/ 5 w 248"/>
                <a:gd name="T23" fmla="*/ 73 h 1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8"/>
                <a:gd name="T37" fmla="*/ 0 h 117"/>
                <a:gd name="T38" fmla="*/ 248 w 248"/>
                <a:gd name="T39" fmla="*/ 117 h 1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8" h="117">
                  <a:moveTo>
                    <a:pt x="8" y="117"/>
                  </a:moveTo>
                  <a:lnTo>
                    <a:pt x="0" y="5"/>
                  </a:lnTo>
                  <a:lnTo>
                    <a:pt x="63" y="0"/>
                  </a:lnTo>
                  <a:lnTo>
                    <a:pt x="180" y="0"/>
                  </a:lnTo>
                  <a:lnTo>
                    <a:pt x="248" y="3"/>
                  </a:lnTo>
                  <a:lnTo>
                    <a:pt x="240" y="111"/>
                  </a:lnTo>
                  <a:lnTo>
                    <a:pt x="232" y="110"/>
                  </a:lnTo>
                  <a:lnTo>
                    <a:pt x="224" y="21"/>
                  </a:lnTo>
                  <a:lnTo>
                    <a:pt x="28" y="28"/>
                  </a:lnTo>
                  <a:lnTo>
                    <a:pt x="18" y="117"/>
                  </a:lnTo>
                  <a:lnTo>
                    <a:pt x="8" y="117"/>
                  </a:lnTo>
                  <a:close/>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3" name="Freeform 695">
              <a:extLst>
                <a:ext uri="{FF2B5EF4-FFF2-40B4-BE49-F238E27FC236}">
                  <a16:creationId xmlns:a16="http://schemas.microsoft.com/office/drawing/2014/main" id="{E8DEA184-2A4D-144A-92E3-E9BD563C84FB}"/>
                </a:ext>
              </a:extLst>
            </p:cNvPr>
            <p:cNvSpPr>
              <a:spLocks/>
            </p:cNvSpPr>
            <p:nvPr/>
          </p:nvSpPr>
          <p:spPr bwMode="auto">
            <a:xfrm>
              <a:off x="2746" y="2863"/>
              <a:ext cx="184" cy="34"/>
            </a:xfrm>
            <a:custGeom>
              <a:avLst/>
              <a:gdLst>
                <a:gd name="T0" fmla="*/ 161 w 273"/>
                <a:gd name="T1" fmla="*/ 9 h 54"/>
                <a:gd name="T2" fmla="*/ 135 w 273"/>
                <a:gd name="T3" fmla="*/ 16 h 54"/>
                <a:gd name="T4" fmla="*/ 122 w 273"/>
                <a:gd name="T5" fmla="*/ 18 h 54"/>
                <a:gd name="T6" fmla="*/ 106 w 273"/>
                <a:gd name="T7" fmla="*/ 16 h 54"/>
                <a:gd name="T8" fmla="*/ 59 w 273"/>
                <a:gd name="T9" fmla="*/ 13 h 54"/>
                <a:gd name="T10" fmla="*/ 18 w 273"/>
                <a:gd name="T11" fmla="*/ 11 h 54"/>
                <a:gd name="T12" fmla="*/ 12 w 273"/>
                <a:gd name="T13" fmla="*/ 34 h 54"/>
                <a:gd name="T14" fmla="*/ 0 w 273"/>
                <a:gd name="T15" fmla="*/ 34 h 54"/>
                <a:gd name="T16" fmla="*/ 0 w 273"/>
                <a:gd name="T17" fmla="*/ 34 h 54"/>
                <a:gd name="T18" fmla="*/ 1 w 273"/>
                <a:gd name="T19" fmla="*/ 20 h 54"/>
                <a:gd name="T20" fmla="*/ 7 w 273"/>
                <a:gd name="T21" fmla="*/ 8 h 54"/>
                <a:gd name="T22" fmla="*/ 11 w 273"/>
                <a:gd name="T23" fmla="*/ 3 h 54"/>
                <a:gd name="T24" fmla="*/ 17 w 273"/>
                <a:gd name="T25" fmla="*/ 0 h 54"/>
                <a:gd name="T26" fmla="*/ 32 w 273"/>
                <a:gd name="T27" fmla="*/ 1 h 54"/>
                <a:gd name="T28" fmla="*/ 42 w 273"/>
                <a:gd name="T29" fmla="*/ 5 h 54"/>
                <a:gd name="T30" fmla="*/ 54 w 273"/>
                <a:gd name="T31" fmla="*/ 7 h 54"/>
                <a:gd name="T32" fmla="*/ 76 w 273"/>
                <a:gd name="T33" fmla="*/ 6 h 54"/>
                <a:gd name="T34" fmla="*/ 99 w 273"/>
                <a:gd name="T35" fmla="*/ 4 h 54"/>
                <a:gd name="T36" fmla="*/ 122 w 273"/>
                <a:gd name="T37" fmla="*/ 8 h 54"/>
                <a:gd name="T38" fmla="*/ 137 w 273"/>
                <a:gd name="T39" fmla="*/ 3 h 54"/>
                <a:gd name="T40" fmla="*/ 153 w 273"/>
                <a:gd name="T41" fmla="*/ 0 h 54"/>
                <a:gd name="T42" fmla="*/ 168 w 273"/>
                <a:gd name="T43" fmla="*/ 1 h 54"/>
                <a:gd name="T44" fmla="*/ 184 w 273"/>
                <a:gd name="T45" fmla="*/ 6 h 54"/>
                <a:gd name="T46" fmla="*/ 166 w 273"/>
                <a:gd name="T47" fmla="*/ 31 h 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3"/>
                <a:gd name="T73" fmla="*/ 0 h 54"/>
                <a:gd name="T74" fmla="*/ 273 w 273"/>
                <a:gd name="T75" fmla="*/ 54 h 5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3" h="54">
                  <a:moveTo>
                    <a:pt x="239" y="14"/>
                  </a:moveTo>
                  <a:lnTo>
                    <a:pt x="200" y="25"/>
                  </a:lnTo>
                  <a:lnTo>
                    <a:pt x="181" y="28"/>
                  </a:lnTo>
                  <a:lnTo>
                    <a:pt x="157" y="26"/>
                  </a:lnTo>
                  <a:lnTo>
                    <a:pt x="88" y="20"/>
                  </a:lnTo>
                  <a:lnTo>
                    <a:pt x="26" y="17"/>
                  </a:lnTo>
                  <a:lnTo>
                    <a:pt x="18" y="54"/>
                  </a:lnTo>
                  <a:lnTo>
                    <a:pt x="0" y="54"/>
                  </a:lnTo>
                  <a:lnTo>
                    <a:pt x="2" y="32"/>
                  </a:lnTo>
                  <a:lnTo>
                    <a:pt x="10" y="13"/>
                  </a:lnTo>
                  <a:lnTo>
                    <a:pt x="16" y="5"/>
                  </a:lnTo>
                  <a:lnTo>
                    <a:pt x="25" y="0"/>
                  </a:lnTo>
                  <a:lnTo>
                    <a:pt x="47" y="1"/>
                  </a:lnTo>
                  <a:lnTo>
                    <a:pt x="63" y="8"/>
                  </a:lnTo>
                  <a:lnTo>
                    <a:pt x="80" y="11"/>
                  </a:lnTo>
                  <a:lnTo>
                    <a:pt x="113" y="9"/>
                  </a:lnTo>
                  <a:lnTo>
                    <a:pt x="147" y="6"/>
                  </a:lnTo>
                  <a:lnTo>
                    <a:pt x="181" y="12"/>
                  </a:lnTo>
                  <a:lnTo>
                    <a:pt x="203" y="4"/>
                  </a:lnTo>
                  <a:lnTo>
                    <a:pt x="227" y="0"/>
                  </a:lnTo>
                  <a:lnTo>
                    <a:pt x="250" y="1"/>
                  </a:lnTo>
                  <a:lnTo>
                    <a:pt x="273" y="10"/>
                  </a:lnTo>
                  <a:lnTo>
                    <a:pt x="246" y="50"/>
                  </a:lnTo>
                </a:path>
              </a:pathLst>
            </a:custGeom>
            <a:solidFill>
              <a:srgbClr val="000000"/>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4" name="Freeform 696">
              <a:extLst>
                <a:ext uri="{FF2B5EF4-FFF2-40B4-BE49-F238E27FC236}">
                  <a16:creationId xmlns:a16="http://schemas.microsoft.com/office/drawing/2014/main" id="{C956E4ED-F01E-E849-99FB-10244AFEC93F}"/>
                </a:ext>
              </a:extLst>
            </p:cNvPr>
            <p:cNvSpPr>
              <a:spLocks/>
            </p:cNvSpPr>
            <p:nvPr/>
          </p:nvSpPr>
          <p:spPr bwMode="auto">
            <a:xfrm>
              <a:off x="2764" y="2902"/>
              <a:ext cx="125" cy="46"/>
            </a:xfrm>
            <a:custGeom>
              <a:avLst/>
              <a:gdLst>
                <a:gd name="T0" fmla="*/ 4 w 368"/>
                <a:gd name="T1" fmla="*/ 6 h 146"/>
                <a:gd name="T2" fmla="*/ 40 w 368"/>
                <a:gd name="T3" fmla="*/ 3 h 146"/>
                <a:gd name="T4" fmla="*/ 125 w 368"/>
                <a:gd name="T5" fmla="*/ 0 h 146"/>
                <a:gd name="T6" fmla="*/ 70 w 368"/>
                <a:gd name="T7" fmla="*/ 11 h 146"/>
                <a:gd name="T8" fmla="*/ 122 w 368"/>
                <a:gd name="T9" fmla="*/ 17 h 146"/>
                <a:gd name="T10" fmla="*/ 69 w 368"/>
                <a:gd name="T11" fmla="*/ 26 h 146"/>
                <a:gd name="T12" fmla="*/ 121 w 368"/>
                <a:gd name="T13" fmla="*/ 33 h 146"/>
                <a:gd name="T14" fmla="*/ 73 w 368"/>
                <a:gd name="T15" fmla="*/ 42 h 146"/>
                <a:gd name="T16" fmla="*/ 0 w 368"/>
                <a:gd name="T17" fmla="*/ 46 h 146"/>
                <a:gd name="T18" fmla="*/ 4 w 368"/>
                <a:gd name="T19" fmla="*/ 6 h 146"/>
                <a:gd name="T20" fmla="*/ 4 w 368"/>
                <a:gd name="T21" fmla="*/ 6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8"/>
                <a:gd name="T34" fmla="*/ 0 h 146"/>
                <a:gd name="T35" fmla="*/ 368 w 368"/>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8" h="146">
                  <a:moveTo>
                    <a:pt x="11" y="19"/>
                  </a:moveTo>
                  <a:lnTo>
                    <a:pt x="119" y="11"/>
                  </a:lnTo>
                  <a:lnTo>
                    <a:pt x="368" y="0"/>
                  </a:lnTo>
                  <a:lnTo>
                    <a:pt x="205" y="36"/>
                  </a:lnTo>
                  <a:lnTo>
                    <a:pt x="359" y="55"/>
                  </a:lnTo>
                  <a:lnTo>
                    <a:pt x="203" y="84"/>
                  </a:lnTo>
                  <a:lnTo>
                    <a:pt x="355" y="105"/>
                  </a:lnTo>
                  <a:lnTo>
                    <a:pt x="215" y="133"/>
                  </a:lnTo>
                  <a:lnTo>
                    <a:pt x="0" y="146"/>
                  </a:lnTo>
                  <a:lnTo>
                    <a:pt x="11" y="1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5" name="Freeform 697">
              <a:extLst>
                <a:ext uri="{FF2B5EF4-FFF2-40B4-BE49-F238E27FC236}">
                  <a16:creationId xmlns:a16="http://schemas.microsoft.com/office/drawing/2014/main" id="{064A4B09-E279-D94B-9140-48B8013465AD}"/>
                </a:ext>
              </a:extLst>
            </p:cNvPr>
            <p:cNvSpPr>
              <a:spLocks/>
            </p:cNvSpPr>
            <p:nvPr/>
          </p:nvSpPr>
          <p:spPr bwMode="auto">
            <a:xfrm>
              <a:off x="2700" y="2968"/>
              <a:ext cx="117" cy="58"/>
            </a:xfrm>
            <a:custGeom>
              <a:avLst/>
              <a:gdLst>
                <a:gd name="T0" fmla="*/ 5 w 346"/>
                <a:gd name="T1" fmla="*/ 9 h 184"/>
                <a:gd name="T2" fmla="*/ 116 w 346"/>
                <a:gd name="T3" fmla="*/ 0 h 184"/>
                <a:gd name="T4" fmla="*/ 70 w 346"/>
                <a:gd name="T5" fmla="*/ 13 h 184"/>
                <a:gd name="T6" fmla="*/ 117 w 346"/>
                <a:gd name="T7" fmla="*/ 17 h 184"/>
                <a:gd name="T8" fmla="*/ 67 w 346"/>
                <a:gd name="T9" fmla="*/ 28 h 184"/>
                <a:gd name="T10" fmla="*/ 116 w 346"/>
                <a:gd name="T11" fmla="*/ 32 h 184"/>
                <a:gd name="T12" fmla="*/ 68 w 346"/>
                <a:gd name="T13" fmla="*/ 43 h 184"/>
                <a:gd name="T14" fmla="*/ 114 w 346"/>
                <a:gd name="T15" fmla="*/ 47 h 184"/>
                <a:gd name="T16" fmla="*/ 67 w 346"/>
                <a:gd name="T17" fmla="*/ 58 h 184"/>
                <a:gd name="T18" fmla="*/ 0 w 346"/>
                <a:gd name="T19" fmla="*/ 57 h 184"/>
                <a:gd name="T20" fmla="*/ 5 w 346"/>
                <a:gd name="T21" fmla="*/ 9 h 184"/>
                <a:gd name="T22" fmla="*/ 5 w 346"/>
                <a:gd name="T23" fmla="*/ 9 h 18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6"/>
                <a:gd name="T37" fmla="*/ 0 h 184"/>
                <a:gd name="T38" fmla="*/ 346 w 346"/>
                <a:gd name="T39" fmla="*/ 184 h 18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6" h="184">
                  <a:moveTo>
                    <a:pt x="15" y="30"/>
                  </a:moveTo>
                  <a:lnTo>
                    <a:pt x="344" y="0"/>
                  </a:lnTo>
                  <a:lnTo>
                    <a:pt x="207" y="40"/>
                  </a:lnTo>
                  <a:lnTo>
                    <a:pt x="346" y="55"/>
                  </a:lnTo>
                  <a:lnTo>
                    <a:pt x="199" y="89"/>
                  </a:lnTo>
                  <a:lnTo>
                    <a:pt x="344" y="102"/>
                  </a:lnTo>
                  <a:lnTo>
                    <a:pt x="201" y="137"/>
                  </a:lnTo>
                  <a:lnTo>
                    <a:pt x="338" y="148"/>
                  </a:lnTo>
                  <a:lnTo>
                    <a:pt x="199" y="184"/>
                  </a:lnTo>
                  <a:lnTo>
                    <a:pt x="0" y="180"/>
                  </a:lnTo>
                  <a:lnTo>
                    <a:pt x="15" y="30"/>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6" name="Freeform 698">
              <a:extLst>
                <a:ext uri="{FF2B5EF4-FFF2-40B4-BE49-F238E27FC236}">
                  <a16:creationId xmlns:a16="http://schemas.microsoft.com/office/drawing/2014/main" id="{D5CB7FC0-E8D2-7D4A-A17E-F30732951324}"/>
                </a:ext>
              </a:extLst>
            </p:cNvPr>
            <p:cNvSpPr>
              <a:spLocks/>
            </p:cNvSpPr>
            <p:nvPr/>
          </p:nvSpPr>
          <p:spPr bwMode="auto">
            <a:xfrm>
              <a:off x="2989" y="2960"/>
              <a:ext cx="118" cy="59"/>
            </a:xfrm>
            <a:custGeom>
              <a:avLst/>
              <a:gdLst>
                <a:gd name="T0" fmla="*/ 5 w 348"/>
                <a:gd name="T1" fmla="*/ 9 h 190"/>
                <a:gd name="T2" fmla="*/ 0 w 348"/>
                <a:gd name="T3" fmla="*/ 59 h 190"/>
                <a:gd name="T4" fmla="*/ 118 w 348"/>
                <a:gd name="T5" fmla="*/ 47 h 190"/>
                <a:gd name="T6" fmla="*/ 76 w 348"/>
                <a:gd name="T7" fmla="*/ 42 h 190"/>
                <a:gd name="T8" fmla="*/ 113 w 348"/>
                <a:gd name="T9" fmla="*/ 31 h 190"/>
                <a:gd name="T10" fmla="*/ 73 w 348"/>
                <a:gd name="T11" fmla="*/ 29 h 190"/>
                <a:gd name="T12" fmla="*/ 113 w 348"/>
                <a:gd name="T13" fmla="*/ 16 h 190"/>
                <a:gd name="T14" fmla="*/ 72 w 348"/>
                <a:gd name="T15" fmla="*/ 12 h 190"/>
                <a:gd name="T16" fmla="*/ 110 w 348"/>
                <a:gd name="T17" fmla="*/ 1 h 190"/>
                <a:gd name="T18" fmla="*/ 70 w 348"/>
                <a:gd name="T19" fmla="*/ 0 h 190"/>
                <a:gd name="T20" fmla="*/ 5 w 348"/>
                <a:gd name="T21" fmla="*/ 9 h 190"/>
                <a:gd name="T22" fmla="*/ 5 w 348"/>
                <a:gd name="T23" fmla="*/ 9 h 1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8"/>
                <a:gd name="T37" fmla="*/ 0 h 190"/>
                <a:gd name="T38" fmla="*/ 348 w 348"/>
                <a:gd name="T39" fmla="*/ 190 h 1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8" h="190">
                  <a:moveTo>
                    <a:pt x="15" y="29"/>
                  </a:moveTo>
                  <a:lnTo>
                    <a:pt x="0" y="190"/>
                  </a:lnTo>
                  <a:lnTo>
                    <a:pt x="348" y="152"/>
                  </a:lnTo>
                  <a:lnTo>
                    <a:pt x="224" y="135"/>
                  </a:lnTo>
                  <a:lnTo>
                    <a:pt x="333" y="99"/>
                  </a:lnTo>
                  <a:lnTo>
                    <a:pt x="215" y="93"/>
                  </a:lnTo>
                  <a:lnTo>
                    <a:pt x="334" y="53"/>
                  </a:lnTo>
                  <a:lnTo>
                    <a:pt x="213" y="40"/>
                  </a:lnTo>
                  <a:lnTo>
                    <a:pt x="323" y="4"/>
                  </a:lnTo>
                  <a:lnTo>
                    <a:pt x="205" y="0"/>
                  </a:lnTo>
                  <a:lnTo>
                    <a:pt x="15" y="29"/>
                  </a:lnTo>
                  <a:close/>
                </a:path>
              </a:pathLst>
            </a:custGeom>
            <a:solidFill>
              <a:srgbClr val="E5B2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7" name="Freeform 699">
              <a:extLst>
                <a:ext uri="{FF2B5EF4-FFF2-40B4-BE49-F238E27FC236}">
                  <a16:creationId xmlns:a16="http://schemas.microsoft.com/office/drawing/2014/main" id="{3EFC07C3-C64B-444E-861B-6F1169761C6A}"/>
                </a:ext>
              </a:extLst>
            </p:cNvPr>
            <p:cNvSpPr>
              <a:spLocks/>
            </p:cNvSpPr>
            <p:nvPr/>
          </p:nvSpPr>
          <p:spPr bwMode="auto">
            <a:xfrm>
              <a:off x="2856" y="2905"/>
              <a:ext cx="40" cy="13"/>
            </a:xfrm>
            <a:custGeom>
              <a:avLst/>
              <a:gdLst>
                <a:gd name="T0" fmla="*/ 38 w 117"/>
                <a:gd name="T1" fmla="*/ 0 h 41"/>
                <a:gd name="T2" fmla="*/ 0 w 117"/>
                <a:gd name="T3" fmla="*/ 7 h 41"/>
                <a:gd name="T4" fmla="*/ 40 w 117"/>
                <a:gd name="T5" fmla="*/ 13 h 41"/>
                <a:gd name="T6" fmla="*/ 38 w 117"/>
                <a:gd name="T7" fmla="*/ 0 h 41"/>
                <a:gd name="T8" fmla="*/ 38 w 117"/>
                <a:gd name="T9" fmla="*/ 0 h 41"/>
                <a:gd name="T10" fmla="*/ 0 60000 65536"/>
                <a:gd name="T11" fmla="*/ 0 60000 65536"/>
                <a:gd name="T12" fmla="*/ 0 60000 65536"/>
                <a:gd name="T13" fmla="*/ 0 60000 65536"/>
                <a:gd name="T14" fmla="*/ 0 60000 65536"/>
                <a:gd name="T15" fmla="*/ 0 w 117"/>
                <a:gd name="T16" fmla="*/ 0 h 41"/>
                <a:gd name="T17" fmla="*/ 117 w 117"/>
                <a:gd name="T18" fmla="*/ 41 h 41"/>
              </a:gdLst>
              <a:ahLst/>
              <a:cxnLst>
                <a:cxn ang="T10">
                  <a:pos x="T0" y="T1"/>
                </a:cxn>
                <a:cxn ang="T11">
                  <a:pos x="T2" y="T3"/>
                </a:cxn>
                <a:cxn ang="T12">
                  <a:pos x="T4" y="T5"/>
                </a:cxn>
                <a:cxn ang="T13">
                  <a:pos x="T6" y="T7"/>
                </a:cxn>
                <a:cxn ang="T14">
                  <a:pos x="T8" y="T9"/>
                </a:cxn>
              </a:cxnLst>
              <a:rect l="T15" t="T16" r="T17" b="T18"/>
              <a:pathLst>
                <a:path w="117" h="41">
                  <a:moveTo>
                    <a:pt x="112" y="0"/>
                  </a:moveTo>
                  <a:lnTo>
                    <a:pt x="0" y="22"/>
                  </a:lnTo>
                  <a:lnTo>
                    <a:pt x="117" y="41"/>
                  </a:lnTo>
                  <a:lnTo>
                    <a:pt x="11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8" name="Freeform 700">
              <a:extLst>
                <a:ext uri="{FF2B5EF4-FFF2-40B4-BE49-F238E27FC236}">
                  <a16:creationId xmlns:a16="http://schemas.microsoft.com/office/drawing/2014/main" id="{A7DDB963-386E-6F4D-97AC-63AE73C17107}"/>
                </a:ext>
              </a:extLst>
            </p:cNvPr>
            <p:cNvSpPr>
              <a:spLocks/>
            </p:cNvSpPr>
            <p:nvPr/>
          </p:nvSpPr>
          <p:spPr bwMode="auto">
            <a:xfrm>
              <a:off x="2856" y="2920"/>
              <a:ext cx="41" cy="13"/>
            </a:xfrm>
            <a:custGeom>
              <a:avLst/>
              <a:gdLst>
                <a:gd name="T0" fmla="*/ 41 w 121"/>
                <a:gd name="T1" fmla="*/ 0 h 40"/>
                <a:gd name="T2" fmla="*/ 0 w 121"/>
                <a:gd name="T3" fmla="*/ 7 h 40"/>
                <a:gd name="T4" fmla="*/ 40 w 121"/>
                <a:gd name="T5" fmla="*/ 13 h 40"/>
                <a:gd name="T6" fmla="*/ 41 w 121"/>
                <a:gd name="T7" fmla="*/ 0 h 40"/>
                <a:gd name="T8" fmla="*/ 41 w 121"/>
                <a:gd name="T9" fmla="*/ 0 h 40"/>
                <a:gd name="T10" fmla="*/ 0 60000 65536"/>
                <a:gd name="T11" fmla="*/ 0 60000 65536"/>
                <a:gd name="T12" fmla="*/ 0 60000 65536"/>
                <a:gd name="T13" fmla="*/ 0 60000 65536"/>
                <a:gd name="T14" fmla="*/ 0 60000 65536"/>
                <a:gd name="T15" fmla="*/ 0 w 121"/>
                <a:gd name="T16" fmla="*/ 0 h 40"/>
                <a:gd name="T17" fmla="*/ 121 w 121"/>
                <a:gd name="T18" fmla="*/ 40 h 40"/>
              </a:gdLst>
              <a:ahLst/>
              <a:cxnLst>
                <a:cxn ang="T10">
                  <a:pos x="T0" y="T1"/>
                </a:cxn>
                <a:cxn ang="T11">
                  <a:pos x="T2" y="T3"/>
                </a:cxn>
                <a:cxn ang="T12">
                  <a:pos x="T4" y="T5"/>
                </a:cxn>
                <a:cxn ang="T13">
                  <a:pos x="T6" y="T7"/>
                </a:cxn>
                <a:cxn ang="T14">
                  <a:pos x="T8" y="T9"/>
                </a:cxn>
              </a:cxnLst>
              <a:rect l="T15" t="T16" r="T17" b="T18"/>
              <a:pathLst>
                <a:path w="121" h="40">
                  <a:moveTo>
                    <a:pt x="121" y="0"/>
                  </a:moveTo>
                  <a:lnTo>
                    <a:pt x="0" y="21"/>
                  </a:lnTo>
                  <a:lnTo>
                    <a:pt x="119" y="40"/>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49" name="Freeform 701">
              <a:extLst>
                <a:ext uri="{FF2B5EF4-FFF2-40B4-BE49-F238E27FC236}">
                  <a16:creationId xmlns:a16="http://schemas.microsoft.com/office/drawing/2014/main" id="{7174AD43-6CB2-8D4C-B966-BA8B997F0541}"/>
                </a:ext>
              </a:extLst>
            </p:cNvPr>
            <p:cNvSpPr>
              <a:spLocks/>
            </p:cNvSpPr>
            <p:nvPr/>
          </p:nvSpPr>
          <p:spPr bwMode="auto">
            <a:xfrm>
              <a:off x="2855" y="2935"/>
              <a:ext cx="42" cy="11"/>
            </a:xfrm>
            <a:custGeom>
              <a:avLst/>
              <a:gdLst>
                <a:gd name="T0" fmla="*/ 41 w 125"/>
                <a:gd name="T1" fmla="*/ 0 h 36"/>
                <a:gd name="T2" fmla="*/ 0 w 125"/>
                <a:gd name="T3" fmla="*/ 8 h 36"/>
                <a:gd name="T4" fmla="*/ 42 w 125"/>
                <a:gd name="T5" fmla="*/ 11 h 36"/>
                <a:gd name="T6" fmla="*/ 41 w 125"/>
                <a:gd name="T7" fmla="*/ 0 h 36"/>
                <a:gd name="T8" fmla="*/ 41 w 125"/>
                <a:gd name="T9" fmla="*/ 0 h 36"/>
                <a:gd name="T10" fmla="*/ 0 60000 65536"/>
                <a:gd name="T11" fmla="*/ 0 60000 65536"/>
                <a:gd name="T12" fmla="*/ 0 60000 65536"/>
                <a:gd name="T13" fmla="*/ 0 60000 65536"/>
                <a:gd name="T14" fmla="*/ 0 60000 65536"/>
                <a:gd name="T15" fmla="*/ 0 w 125"/>
                <a:gd name="T16" fmla="*/ 0 h 36"/>
                <a:gd name="T17" fmla="*/ 125 w 125"/>
                <a:gd name="T18" fmla="*/ 36 h 36"/>
              </a:gdLst>
              <a:ahLst/>
              <a:cxnLst>
                <a:cxn ang="T10">
                  <a:pos x="T0" y="T1"/>
                </a:cxn>
                <a:cxn ang="T11">
                  <a:pos x="T2" y="T3"/>
                </a:cxn>
                <a:cxn ang="T12">
                  <a:pos x="T4" y="T5"/>
                </a:cxn>
                <a:cxn ang="T13">
                  <a:pos x="T6" y="T7"/>
                </a:cxn>
                <a:cxn ang="T14">
                  <a:pos x="T8" y="T9"/>
                </a:cxn>
              </a:cxnLst>
              <a:rect l="T15" t="T16" r="T17" b="T18"/>
              <a:pathLst>
                <a:path w="125" h="36">
                  <a:moveTo>
                    <a:pt x="121" y="0"/>
                  </a:moveTo>
                  <a:lnTo>
                    <a:pt x="0" y="26"/>
                  </a:lnTo>
                  <a:lnTo>
                    <a:pt x="125" y="36"/>
                  </a:lnTo>
                  <a:lnTo>
                    <a:pt x="121"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0" name="Freeform 702">
              <a:extLst>
                <a:ext uri="{FF2B5EF4-FFF2-40B4-BE49-F238E27FC236}">
                  <a16:creationId xmlns:a16="http://schemas.microsoft.com/office/drawing/2014/main" id="{C75C7E69-D85C-D34F-8DAB-0BAA1FBFE24B}"/>
                </a:ext>
              </a:extLst>
            </p:cNvPr>
            <p:cNvSpPr>
              <a:spLocks/>
            </p:cNvSpPr>
            <p:nvPr/>
          </p:nvSpPr>
          <p:spPr bwMode="auto">
            <a:xfrm>
              <a:off x="2787" y="2970"/>
              <a:ext cx="35" cy="13"/>
            </a:xfrm>
            <a:custGeom>
              <a:avLst/>
              <a:gdLst>
                <a:gd name="T0" fmla="*/ 32 w 105"/>
                <a:gd name="T1" fmla="*/ 0 h 41"/>
                <a:gd name="T2" fmla="*/ 0 w 105"/>
                <a:gd name="T3" fmla="*/ 10 h 41"/>
                <a:gd name="T4" fmla="*/ 35 w 105"/>
                <a:gd name="T5" fmla="*/ 13 h 41"/>
                <a:gd name="T6" fmla="*/ 32 w 105"/>
                <a:gd name="T7" fmla="*/ 0 h 41"/>
                <a:gd name="T8" fmla="*/ 32 w 105"/>
                <a:gd name="T9" fmla="*/ 0 h 41"/>
                <a:gd name="T10" fmla="*/ 0 60000 65536"/>
                <a:gd name="T11" fmla="*/ 0 60000 65536"/>
                <a:gd name="T12" fmla="*/ 0 60000 65536"/>
                <a:gd name="T13" fmla="*/ 0 60000 65536"/>
                <a:gd name="T14" fmla="*/ 0 60000 65536"/>
                <a:gd name="T15" fmla="*/ 0 w 105"/>
                <a:gd name="T16" fmla="*/ 0 h 41"/>
                <a:gd name="T17" fmla="*/ 105 w 105"/>
                <a:gd name="T18" fmla="*/ 41 h 41"/>
              </a:gdLst>
              <a:ahLst/>
              <a:cxnLst>
                <a:cxn ang="T10">
                  <a:pos x="T0" y="T1"/>
                </a:cxn>
                <a:cxn ang="T11">
                  <a:pos x="T2" y="T3"/>
                </a:cxn>
                <a:cxn ang="T12">
                  <a:pos x="T4" y="T5"/>
                </a:cxn>
                <a:cxn ang="T13">
                  <a:pos x="T6" y="T7"/>
                </a:cxn>
                <a:cxn ang="T14">
                  <a:pos x="T8" y="T9"/>
                </a:cxn>
              </a:cxnLst>
              <a:rect l="T15" t="T16" r="T17" b="T18"/>
              <a:pathLst>
                <a:path w="105" h="41">
                  <a:moveTo>
                    <a:pt x="97" y="0"/>
                  </a:moveTo>
                  <a:lnTo>
                    <a:pt x="0" y="32"/>
                  </a:lnTo>
                  <a:lnTo>
                    <a:pt x="105" y="41"/>
                  </a:lnTo>
                  <a:lnTo>
                    <a:pt x="9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1" name="Freeform 703">
              <a:extLst>
                <a:ext uri="{FF2B5EF4-FFF2-40B4-BE49-F238E27FC236}">
                  <a16:creationId xmlns:a16="http://schemas.microsoft.com/office/drawing/2014/main" id="{1F458992-8C5E-5F47-A405-7ABDC249608D}"/>
                </a:ext>
              </a:extLst>
            </p:cNvPr>
            <p:cNvSpPr>
              <a:spLocks/>
            </p:cNvSpPr>
            <p:nvPr/>
          </p:nvSpPr>
          <p:spPr bwMode="auto">
            <a:xfrm>
              <a:off x="2786" y="2988"/>
              <a:ext cx="37" cy="10"/>
            </a:xfrm>
            <a:custGeom>
              <a:avLst/>
              <a:gdLst>
                <a:gd name="T0" fmla="*/ 36 w 109"/>
                <a:gd name="T1" fmla="*/ 0 h 34"/>
                <a:gd name="T2" fmla="*/ 0 w 109"/>
                <a:gd name="T3" fmla="*/ 7 h 34"/>
                <a:gd name="T4" fmla="*/ 37 w 109"/>
                <a:gd name="T5" fmla="*/ 10 h 34"/>
                <a:gd name="T6" fmla="*/ 36 w 109"/>
                <a:gd name="T7" fmla="*/ 0 h 34"/>
                <a:gd name="T8" fmla="*/ 36 w 109"/>
                <a:gd name="T9" fmla="*/ 0 h 34"/>
                <a:gd name="T10" fmla="*/ 0 60000 65536"/>
                <a:gd name="T11" fmla="*/ 0 60000 65536"/>
                <a:gd name="T12" fmla="*/ 0 60000 65536"/>
                <a:gd name="T13" fmla="*/ 0 60000 65536"/>
                <a:gd name="T14" fmla="*/ 0 60000 65536"/>
                <a:gd name="T15" fmla="*/ 0 w 109"/>
                <a:gd name="T16" fmla="*/ 0 h 34"/>
                <a:gd name="T17" fmla="*/ 109 w 109"/>
                <a:gd name="T18" fmla="*/ 34 h 34"/>
              </a:gdLst>
              <a:ahLst/>
              <a:cxnLst>
                <a:cxn ang="T10">
                  <a:pos x="T0" y="T1"/>
                </a:cxn>
                <a:cxn ang="T11">
                  <a:pos x="T2" y="T3"/>
                </a:cxn>
                <a:cxn ang="T12">
                  <a:pos x="T4" y="T5"/>
                </a:cxn>
                <a:cxn ang="T13">
                  <a:pos x="T6" y="T7"/>
                </a:cxn>
                <a:cxn ang="T14">
                  <a:pos x="T8" y="T9"/>
                </a:cxn>
              </a:cxnLst>
              <a:rect l="T15" t="T16" r="T17" b="T18"/>
              <a:pathLst>
                <a:path w="109" h="34">
                  <a:moveTo>
                    <a:pt x="107" y="0"/>
                  </a:moveTo>
                  <a:lnTo>
                    <a:pt x="0" y="24"/>
                  </a:lnTo>
                  <a:lnTo>
                    <a:pt x="109" y="34"/>
                  </a:lnTo>
                  <a:lnTo>
                    <a:pt x="107"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2" name="Freeform 704">
              <a:extLst>
                <a:ext uri="{FF2B5EF4-FFF2-40B4-BE49-F238E27FC236}">
                  <a16:creationId xmlns:a16="http://schemas.microsoft.com/office/drawing/2014/main" id="{F6A155E0-CC9F-824F-BDD2-46DD234E3BF5}"/>
                </a:ext>
              </a:extLst>
            </p:cNvPr>
            <p:cNvSpPr>
              <a:spLocks/>
            </p:cNvSpPr>
            <p:nvPr/>
          </p:nvSpPr>
          <p:spPr bwMode="auto">
            <a:xfrm>
              <a:off x="2788" y="3003"/>
              <a:ext cx="36" cy="11"/>
            </a:xfrm>
            <a:custGeom>
              <a:avLst/>
              <a:gdLst>
                <a:gd name="T0" fmla="*/ 35 w 107"/>
                <a:gd name="T1" fmla="*/ 0 h 38"/>
                <a:gd name="T2" fmla="*/ 0 w 107"/>
                <a:gd name="T3" fmla="*/ 7 h 38"/>
                <a:gd name="T4" fmla="*/ 36 w 107"/>
                <a:gd name="T5" fmla="*/ 11 h 38"/>
                <a:gd name="T6" fmla="*/ 35 w 107"/>
                <a:gd name="T7" fmla="*/ 0 h 38"/>
                <a:gd name="T8" fmla="*/ 35 w 107"/>
                <a:gd name="T9" fmla="*/ 0 h 38"/>
                <a:gd name="T10" fmla="*/ 0 60000 65536"/>
                <a:gd name="T11" fmla="*/ 0 60000 65536"/>
                <a:gd name="T12" fmla="*/ 0 60000 65536"/>
                <a:gd name="T13" fmla="*/ 0 60000 65536"/>
                <a:gd name="T14" fmla="*/ 0 60000 65536"/>
                <a:gd name="T15" fmla="*/ 0 w 107"/>
                <a:gd name="T16" fmla="*/ 0 h 38"/>
                <a:gd name="T17" fmla="*/ 107 w 107"/>
                <a:gd name="T18" fmla="*/ 38 h 38"/>
              </a:gdLst>
              <a:ahLst/>
              <a:cxnLst>
                <a:cxn ang="T10">
                  <a:pos x="T0" y="T1"/>
                </a:cxn>
                <a:cxn ang="T11">
                  <a:pos x="T2" y="T3"/>
                </a:cxn>
                <a:cxn ang="T12">
                  <a:pos x="T4" y="T5"/>
                </a:cxn>
                <a:cxn ang="T13">
                  <a:pos x="T6" y="T7"/>
                </a:cxn>
                <a:cxn ang="T14">
                  <a:pos x="T8" y="T9"/>
                </a:cxn>
              </a:cxnLst>
              <a:rect l="T15" t="T16" r="T17" b="T18"/>
              <a:pathLst>
                <a:path w="107" h="38">
                  <a:moveTo>
                    <a:pt x="103" y="0"/>
                  </a:moveTo>
                  <a:lnTo>
                    <a:pt x="0" y="23"/>
                  </a:lnTo>
                  <a:lnTo>
                    <a:pt x="107" y="38"/>
                  </a:lnTo>
                  <a:lnTo>
                    <a:pt x="103"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3" name="Freeform 705">
              <a:extLst>
                <a:ext uri="{FF2B5EF4-FFF2-40B4-BE49-F238E27FC236}">
                  <a16:creationId xmlns:a16="http://schemas.microsoft.com/office/drawing/2014/main" id="{63CA83FB-DD6A-F945-A8E1-6EE91E042EB2}"/>
                </a:ext>
              </a:extLst>
            </p:cNvPr>
            <p:cNvSpPr>
              <a:spLocks/>
            </p:cNvSpPr>
            <p:nvPr/>
          </p:nvSpPr>
          <p:spPr bwMode="auto">
            <a:xfrm>
              <a:off x="2783" y="3016"/>
              <a:ext cx="42" cy="9"/>
            </a:xfrm>
            <a:custGeom>
              <a:avLst/>
              <a:gdLst>
                <a:gd name="T0" fmla="*/ 41 w 123"/>
                <a:gd name="T1" fmla="*/ 0 h 28"/>
                <a:gd name="T2" fmla="*/ 0 w 123"/>
                <a:gd name="T3" fmla="*/ 9 h 28"/>
                <a:gd name="T4" fmla="*/ 42 w 123"/>
                <a:gd name="T5" fmla="*/ 9 h 28"/>
                <a:gd name="T6" fmla="*/ 41 w 123"/>
                <a:gd name="T7" fmla="*/ 0 h 28"/>
                <a:gd name="T8" fmla="*/ 41 w 123"/>
                <a:gd name="T9" fmla="*/ 0 h 28"/>
                <a:gd name="T10" fmla="*/ 0 60000 65536"/>
                <a:gd name="T11" fmla="*/ 0 60000 65536"/>
                <a:gd name="T12" fmla="*/ 0 60000 65536"/>
                <a:gd name="T13" fmla="*/ 0 60000 65536"/>
                <a:gd name="T14" fmla="*/ 0 60000 65536"/>
                <a:gd name="T15" fmla="*/ 0 w 123"/>
                <a:gd name="T16" fmla="*/ 0 h 28"/>
                <a:gd name="T17" fmla="*/ 123 w 123"/>
                <a:gd name="T18" fmla="*/ 28 h 28"/>
              </a:gdLst>
              <a:ahLst/>
              <a:cxnLst>
                <a:cxn ang="T10">
                  <a:pos x="T0" y="T1"/>
                </a:cxn>
                <a:cxn ang="T11">
                  <a:pos x="T2" y="T3"/>
                </a:cxn>
                <a:cxn ang="T12">
                  <a:pos x="T4" y="T5"/>
                </a:cxn>
                <a:cxn ang="T13">
                  <a:pos x="T6" y="T7"/>
                </a:cxn>
                <a:cxn ang="T14">
                  <a:pos x="T8" y="T9"/>
                </a:cxn>
              </a:cxnLst>
              <a:rect l="T15" t="T16" r="T17" b="T18"/>
              <a:pathLst>
                <a:path w="123" h="28">
                  <a:moveTo>
                    <a:pt x="120" y="0"/>
                  </a:moveTo>
                  <a:lnTo>
                    <a:pt x="0" y="28"/>
                  </a:lnTo>
                  <a:lnTo>
                    <a:pt x="123" y="28"/>
                  </a:lnTo>
                  <a:lnTo>
                    <a:pt x="12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4" name="Freeform 706">
              <a:extLst>
                <a:ext uri="{FF2B5EF4-FFF2-40B4-BE49-F238E27FC236}">
                  <a16:creationId xmlns:a16="http://schemas.microsoft.com/office/drawing/2014/main" id="{7FB2C80C-CD5D-5441-94E9-726D999076F4}"/>
                </a:ext>
              </a:extLst>
            </p:cNvPr>
            <p:cNvSpPr>
              <a:spLocks/>
            </p:cNvSpPr>
            <p:nvPr/>
          </p:nvSpPr>
          <p:spPr bwMode="auto">
            <a:xfrm>
              <a:off x="3073" y="2961"/>
              <a:ext cx="31" cy="13"/>
            </a:xfrm>
            <a:custGeom>
              <a:avLst/>
              <a:gdLst>
                <a:gd name="T0" fmla="*/ 29 w 91"/>
                <a:gd name="T1" fmla="*/ 0 h 40"/>
                <a:gd name="T2" fmla="*/ 0 w 91"/>
                <a:gd name="T3" fmla="*/ 10 h 40"/>
                <a:gd name="T4" fmla="*/ 31 w 91"/>
                <a:gd name="T5" fmla="*/ 13 h 40"/>
                <a:gd name="T6" fmla="*/ 29 w 91"/>
                <a:gd name="T7" fmla="*/ 0 h 40"/>
                <a:gd name="T8" fmla="*/ 29 w 91"/>
                <a:gd name="T9" fmla="*/ 0 h 40"/>
                <a:gd name="T10" fmla="*/ 0 60000 65536"/>
                <a:gd name="T11" fmla="*/ 0 60000 65536"/>
                <a:gd name="T12" fmla="*/ 0 60000 65536"/>
                <a:gd name="T13" fmla="*/ 0 60000 65536"/>
                <a:gd name="T14" fmla="*/ 0 60000 65536"/>
                <a:gd name="T15" fmla="*/ 0 w 91"/>
                <a:gd name="T16" fmla="*/ 0 h 40"/>
                <a:gd name="T17" fmla="*/ 91 w 91"/>
                <a:gd name="T18" fmla="*/ 40 h 40"/>
              </a:gdLst>
              <a:ahLst/>
              <a:cxnLst>
                <a:cxn ang="T10">
                  <a:pos x="T0" y="T1"/>
                </a:cxn>
                <a:cxn ang="T11">
                  <a:pos x="T2" y="T3"/>
                </a:cxn>
                <a:cxn ang="T12">
                  <a:pos x="T4" y="T5"/>
                </a:cxn>
                <a:cxn ang="T13">
                  <a:pos x="T6" y="T7"/>
                </a:cxn>
                <a:cxn ang="T14">
                  <a:pos x="T8" y="T9"/>
                </a:cxn>
              </a:cxnLst>
              <a:rect l="T15" t="T16" r="T17" b="T18"/>
              <a:pathLst>
                <a:path w="91" h="40">
                  <a:moveTo>
                    <a:pt x="84" y="0"/>
                  </a:moveTo>
                  <a:lnTo>
                    <a:pt x="0" y="32"/>
                  </a:lnTo>
                  <a:lnTo>
                    <a:pt x="91" y="40"/>
                  </a:lnTo>
                  <a:lnTo>
                    <a:pt x="84"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5" name="Freeform 707">
              <a:extLst>
                <a:ext uri="{FF2B5EF4-FFF2-40B4-BE49-F238E27FC236}">
                  <a16:creationId xmlns:a16="http://schemas.microsoft.com/office/drawing/2014/main" id="{9B03AD14-B254-FE40-A62B-0313F9DE8E32}"/>
                </a:ext>
              </a:extLst>
            </p:cNvPr>
            <p:cNvSpPr>
              <a:spLocks/>
            </p:cNvSpPr>
            <p:nvPr/>
          </p:nvSpPr>
          <p:spPr bwMode="auto">
            <a:xfrm>
              <a:off x="3077" y="2978"/>
              <a:ext cx="31" cy="11"/>
            </a:xfrm>
            <a:custGeom>
              <a:avLst/>
              <a:gdLst>
                <a:gd name="T0" fmla="*/ 30 w 90"/>
                <a:gd name="T1" fmla="*/ 0 h 34"/>
                <a:gd name="T2" fmla="*/ 0 w 90"/>
                <a:gd name="T3" fmla="*/ 9 h 34"/>
                <a:gd name="T4" fmla="*/ 31 w 90"/>
                <a:gd name="T5" fmla="*/ 11 h 34"/>
                <a:gd name="T6" fmla="*/ 30 w 90"/>
                <a:gd name="T7" fmla="*/ 0 h 34"/>
                <a:gd name="T8" fmla="*/ 30 w 90"/>
                <a:gd name="T9" fmla="*/ 0 h 34"/>
                <a:gd name="T10" fmla="*/ 0 60000 65536"/>
                <a:gd name="T11" fmla="*/ 0 60000 65536"/>
                <a:gd name="T12" fmla="*/ 0 60000 65536"/>
                <a:gd name="T13" fmla="*/ 0 60000 65536"/>
                <a:gd name="T14" fmla="*/ 0 60000 65536"/>
                <a:gd name="T15" fmla="*/ 0 w 90"/>
                <a:gd name="T16" fmla="*/ 0 h 34"/>
                <a:gd name="T17" fmla="*/ 90 w 90"/>
                <a:gd name="T18" fmla="*/ 34 h 34"/>
              </a:gdLst>
              <a:ahLst/>
              <a:cxnLst>
                <a:cxn ang="T10">
                  <a:pos x="T0" y="T1"/>
                </a:cxn>
                <a:cxn ang="T11">
                  <a:pos x="T2" y="T3"/>
                </a:cxn>
                <a:cxn ang="T12">
                  <a:pos x="T4" y="T5"/>
                </a:cxn>
                <a:cxn ang="T13">
                  <a:pos x="T6" y="T7"/>
                </a:cxn>
                <a:cxn ang="T14">
                  <a:pos x="T8" y="T9"/>
                </a:cxn>
              </a:cxnLst>
              <a:rect l="T15" t="T16" r="T17" b="T18"/>
              <a:pathLst>
                <a:path w="90" h="34">
                  <a:moveTo>
                    <a:pt x="88" y="0"/>
                  </a:moveTo>
                  <a:lnTo>
                    <a:pt x="0" y="29"/>
                  </a:lnTo>
                  <a:lnTo>
                    <a:pt x="90" y="34"/>
                  </a:lnTo>
                  <a:lnTo>
                    <a:pt x="88"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6" name="Freeform 708">
              <a:extLst>
                <a:ext uri="{FF2B5EF4-FFF2-40B4-BE49-F238E27FC236}">
                  <a16:creationId xmlns:a16="http://schemas.microsoft.com/office/drawing/2014/main" id="{026707D2-2EF0-BE4F-8B0B-DEF623BFE634}"/>
                </a:ext>
              </a:extLst>
            </p:cNvPr>
            <p:cNvSpPr>
              <a:spLocks/>
            </p:cNvSpPr>
            <p:nvPr/>
          </p:nvSpPr>
          <p:spPr bwMode="auto">
            <a:xfrm>
              <a:off x="3077" y="2991"/>
              <a:ext cx="33" cy="14"/>
            </a:xfrm>
            <a:custGeom>
              <a:avLst/>
              <a:gdLst>
                <a:gd name="T0" fmla="*/ 32 w 95"/>
                <a:gd name="T1" fmla="*/ 0 h 44"/>
                <a:gd name="T2" fmla="*/ 0 w 95"/>
                <a:gd name="T3" fmla="*/ 10 h 44"/>
                <a:gd name="T4" fmla="*/ 33 w 95"/>
                <a:gd name="T5" fmla="*/ 14 h 44"/>
                <a:gd name="T6" fmla="*/ 32 w 95"/>
                <a:gd name="T7" fmla="*/ 0 h 44"/>
                <a:gd name="T8" fmla="*/ 32 w 95"/>
                <a:gd name="T9" fmla="*/ 0 h 44"/>
                <a:gd name="T10" fmla="*/ 0 60000 65536"/>
                <a:gd name="T11" fmla="*/ 0 60000 65536"/>
                <a:gd name="T12" fmla="*/ 0 60000 65536"/>
                <a:gd name="T13" fmla="*/ 0 60000 65536"/>
                <a:gd name="T14" fmla="*/ 0 60000 65536"/>
                <a:gd name="T15" fmla="*/ 0 w 95"/>
                <a:gd name="T16" fmla="*/ 0 h 44"/>
                <a:gd name="T17" fmla="*/ 95 w 95"/>
                <a:gd name="T18" fmla="*/ 44 h 44"/>
              </a:gdLst>
              <a:ahLst/>
              <a:cxnLst>
                <a:cxn ang="T10">
                  <a:pos x="T0" y="T1"/>
                </a:cxn>
                <a:cxn ang="T11">
                  <a:pos x="T2" y="T3"/>
                </a:cxn>
                <a:cxn ang="T12">
                  <a:pos x="T4" y="T5"/>
                </a:cxn>
                <a:cxn ang="T13">
                  <a:pos x="T6" y="T7"/>
                </a:cxn>
                <a:cxn ang="T14">
                  <a:pos x="T8" y="T9"/>
                </a:cxn>
              </a:cxnLst>
              <a:rect l="T15" t="T16" r="T17" b="T18"/>
              <a:pathLst>
                <a:path w="95" h="44">
                  <a:moveTo>
                    <a:pt x="92" y="0"/>
                  </a:moveTo>
                  <a:lnTo>
                    <a:pt x="0" y="32"/>
                  </a:lnTo>
                  <a:lnTo>
                    <a:pt x="95" y="44"/>
                  </a:lnTo>
                  <a:lnTo>
                    <a:pt x="92"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7" name="Freeform 709">
              <a:extLst>
                <a:ext uri="{FF2B5EF4-FFF2-40B4-BE49-F238E27FC236}">
                  <a16:creationId xmlns:a16="http://schemas.microsoft.com/office/drawing/2014/main" id="{6259A43C-DB0E-1040-B903-9AE389E2994B}"/>
                </a:ext>
              </a:extLst>
            </p:cNvPr>
            <p:cNvSpPr>
              <a:spLocks/>
            </p:cNvSpPr>
            <p:nvPr/>
          </p:nvSpPr>
          <p:spPr bwMode="auto">
            <a:xfrm>
              <a:off x="3008" y="3033"/>
              <a:ext cx="29" cy="11"/>
            </a:xfrm>
            <a:custGeom>
              <a:avLst/>
              <a:gdLst>
                <a:gd name="T0" fmla="*/ 28 w 84"/>
                <a:gd name="T1" fmla="*/ 0 h 34"/>
                <a:gd name="T2" fmla="*/ 0 w 84"/>
                <a:gd name="T3" fmla="*/ 6 h 34"/>
                <a:gd name="T4" fmla="*/ 29 w 84"/>
                <a:gd name="T5" fmla="*/ 11 h 34"/>
                <a:gd name="T6" fmla="*/ 28 w 84"/>
                <a:gd name="T7" fmla="*/ 0 h 34"/>
                <a:gd name="T8" fmla="*/ 28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80" y="0"/>
                  </a:moveTo>
                  <a:lnTo>
                    <a:pt x="0" y="17"/>
                  </a:lnTo>
                  <a:lnTo>
                    <a:pt x="84" y="34"/>
                  </a:lnTo>
                  <a:lnTo>
                    <a:pt x="80" y="0"/>
                  </a:lnTo>
                  <a:close/>
                </a:path>
              </a:pathLst>
            </a:custGeom>
            <a:solidFill>
              <a:srgbClr val="FFA64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8" name="Freeform 710">
              <a:extLst>
                <a:ext uri="{FF2B5EF4-FFF2-40B4-BE49-F238E27FC236}">
                  <a16:creationId xmlns:a16="http://schemas.microsoft.com/office/drawing/2014/main" id="{8E36598A-59C6-5C4D-96DB-7D68D734A0CC}"/>
                </a:ext>
              </a:extLst>
            </p:cNvPr>
            <p:cNvSpPr>
              <a:spLocks/>
            </p:cNvSpPr>
            <p:nvPr/>
          </p:nvSpPr>
          <p:spPr bwMode="auto">
            <a:xfrm>
              <a:off x="2770" y="2908"/>
              <a:ext cx="84" cy="35"/>
            </a:xfrm>
            <a:custGeom>
              <a:avLst/>
              <a:gdLst>
                <a:gd name="T0" fmla="*/ 2 w 249"/>
                <a:gd name="T1" fmla="*/ 5 h 114"/>
                <a:gd name="T2" fmla="*/ 65 w 249"/>
                <a:gd name="T3" fmla="*/ 0 h 114"/>
                <a:gd name="T4" fmla="*/ 41 w 249"/>
                <a:gd name="T5" fmla="*/ 8 h 114"/>
                <a:gd name="T6" fmla="*/ 84 w 249"/>
                <a:gd name="T7" fmla="*/ 13 h 114"/>
                <a:gd name="T8" fmla="*/ 44 w 249"/>
                <a:gd name="T9" fmla="*/ 20 h 114"/>
                <a:gd name="T10" fmla="*/ 80 w 249"/>
                <a:gd name="T11" fmla="*/ 28 h 114"/>
                <a:gd name="T12" fmla="*/ 42 w 249"/>
                <a:gd name="T13" fmla="*/ 34 h 114"/>
                <a:gd name="T14" fmla="*/ 0 w 249"/>
                <a:gd name="T15" fmla="*/ 35 h 114"/>
                <a:gd name="T16" fmla="*/ 2 w 249"/>
                <a:gd name="T17" fmla="*/ 5 h 114"/>
                <a:gd name="T18" fmla="*/ 2 w 249"/>
                <a:gd name="T19" fmla="*/ 5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9"/>
                <a:gd name="T31" fmla="*/ 0 h 114"/>
                <a:gd name="T32" fmla="*/ 249 w 249"/>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9" h="114">
                  <a:moveTo>
                    <a:pt x="7" y="17"/>
                  </a:moveTo>
                  <a:lnTo>
                    <a:pt x="194" y="0"/>
                  </a:lnTo>
                  <a:lnTo>
                    <a:pt x="123" y="25"/>
                  </a:lnTo>
                  <a:lnTo>
                    <a:pt x="249" y="42"/>
                  </a:lnTo>
                  <a:lnTo>
                    <a:pt x="131" y="65"/>
                  </a:lnTo>
                  <a:lnTo>
                    <a:pt x="237" y="91"/>
                  </a:lnTo>
                  <a:lnTo>
                    <a:pt x="125" y="110"/>
                  </a:lnTo>
                  <a:lnTo>
                    <a:pt x="0" y="114"/>
                  </a:lnTo>
                  <a:lnTo>
                    <a:pt x="7" y="17"/>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59" name="Freeform 711">
              <a:extLst>
                <a:ext uri="{FF2B5EF4-FFF2-40B4-BE49-F238E27FC236}">
                  <a16:creationId xmlns:a16="http://schemas.microsoft.com/office/drawing/2014/main" id="{797C862D-4758-B34A-964B-534F709563C8}"/>
                </a:ext>
              </a:extLst>
            </p:cNvPr>
            <p:cNvSpPr>
              <a:spLocks/>
            </p:cNvSpPr>
            <p:nvPr/>
          </p:nvSpPr>
          <p:spPr bwMode="auto">
            <a:xfrm>
              <a:off x="2704" y="2976"/>
              <a:ext cx="82" cy="45"/>
            </a:xfrm>
            <a:custGeom>
              <a:avLst/>
              <a:gdLst>
                <a:gd name="T0" fmla="*/ 5 w 241"/>
                <a:gd name="T1" fmla="*/ 6 h 142"/>
                <a:gd name="T2" fmla="*/ 63 w 241"/>
                <a:gd name="T3" fmla="*/ 0 h 142"/>
                <a:gd name="T4" fmla="*/ 52 w 241"/>
                <a:gd name="T5" fmla="*/ 6 h 142"/>
                <a:gd name="T6" fmla="*/ 73 w 241"/>
                <a:gd name="T7" fmla="*/ 10 h 142"/>
                <a:gd name="T8" fmla="*/ 52 w 241"/>
                <a:gd name="T9" fmla="*/ 18 h 142"/>
                <a:gd name="T10" fmla="*/ 53 w 241"/>
                <a:gd name="T11" fmla="*/ 22 h 142"/>
                <a:gd name="T12" fmla="*/ 82 w 241"/>
                <a:gd name="T13" fmla="*/ 27 h 142"/>
                <a:gd name="T14" fmla="*/ 53 w 241"/>
                <a:gd name="T15" fmla="*/ 35 h 142"/>
                <a:gd name="T16" fmla="*/ 80 w 241"/>
                <a:gd name="T17" fmla="*/ 42 h 142"/>
                <a:gd name="T18" fmla="*/ 52 w 241"/>
                <a:gd name="T19" fmla="*/ 45 h 142"/>
                <a:gd name="T20" fmla="*/ 0 w 241"/>
                <a:gd name="T21" fmla="*/ 45 h 142"/>
                <a:gd name="T22" fmla="*/ 5 w 241"/>
                <a:gd name="T23" fmla="*/ 6 h 142"/>
                <a:gd name="T24" fmla="*/ 5 w 241"/>
                <a:gd name="T25" fmla="*/ 6 h 1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1"/>
                <a:gd name="T40" fmla="*/ 0 h 142"/>
                <a:gd name="T41" fmla="*/ 241 w 241"/>
                <a:gd name="T42" fmla="*/ 142 h 1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1" h="142">
                  <a:moveTo>
                    <a:pt x="15" y="19"/>
                  </a:moveTo>
                  <a:lnTo>
                    <a:pt x="186" y="0"/>
                  </a:lnTo>
                  <a:lnTo>
                    <a:pt x="152" y="20"/>
                  </a:lnTo>
                  <a:lnTo>
                    <a:pt x="215" y="32"/>
                  </a:lnTo>
                  <a:lnTo>
                    <a:pt x="154" y="57"/>
                  </a:lnTo>
                  <a:lnTo>
                    <a:pt x="156" y="70"/>
                  </a:lnTo>
                  <a:lnTo>
                    <a:pt x="241" y="85"/>
                  </a:lnTo>
                  <a:lnTo>
                    <a:pt x="156" y="112"/>
                  </a:lnTo>
                  <a:lnTo>
                    <a:pt x="234" y="133"/>
                  </a:lnTo>
                  <a:lnTo>
                    <a:pt x="154" y="142"/>
                  </a:lnTo>
                  <a:lnTo>
                    <a:pt x="0" y="142"/>
                  </a:lnTo>
                  <a:lnTo>
                    <a:pt x="15" y="19"/>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0" name="Freeform 712">
              <a:extLst>
                <a:ext uri="{FF2B5EF4-FFF2-40B4-BE49-F238E27FC236}">
                  <a16:creationId xmlns:a16="http://schemas.microsoft.com/office/drawing/2014/main" id="{4972818D-C52C-3D49-912C-DE8EA09A658C}"/>
                </a:ext>
              </a:extLst>
            </p:cNvPr>
            <p:cNvSpPr>
              <a:spLocks/>
            </p:cNvSpPr>
            <p:nvPr/>
          </p:nvSpPr>
          <p:spPr bwMode="auto">
            <a:xfrm>
              <a:off x="2995" y="2965"/>
              <a:ext cx="82" cy="50"/>
            </a:xfrm>
            <a:custGeom>
              <a:avLst/>
              <a:gdLst>
                <a:gd name="T0" fmla="*/ 4 w 243"/>
                <a:gd name="T1" fmla="*/ 9 h 161"/>
                <a:gd name="T2" fmla="*/ 73 w 243"/>
                <a:gd name="T3" fmla="*/ 0 h 161"/>
                <a:gd name="T4" fmla="*/ 50 w 243"/>
                <a:gd name="T5" fmla="*/ 11 h 161"/>
                <a:gd name="T6" fmla="*/ 82 w 243"/>
                <a:gd name="T7" fmla="*/ 15 h 161"/>
                <a:gd name="T8" fmla="*/ 53 w 243"/>
                <a:gd name="T9" fmla="*/ 24 h 161"/>
                <a:gd name="T10" fmla="*/ 82 w 243"/>
                <a:gd name="T11" fmla="*/ 30 h 161"/>
                <a:gd name="T12" fmla="*/ 60 w 243"/>
                <a:gd name="T13" fmla="*/ 38 h 161"/>
                <a:gd name="T14" fmla="*/ 75 w 243"/>
                <a:gd name="T15" fmla="*/ 42 h 161"/>
                <a:gd name="T16" fmla="*/ 0 w 243"/>
                <a:gd name="T17" fmla="*/ 50 h 161"/>
                <a:gd name="T18" fmla="*/ 4 w 243"/>
                <a:gd name="T19" fmla="*/ 9 h 161"/>
                <a:gd name="T20" fmla="*/ 4 w 243"/>
                <a:gd name="T21" fmla="*/ 9 h 1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43"/>
                <a:gd name="T34" fmla="*/ 0 h 161"/>
                <a:gd name="T35" fmla="*/ 243 w 243"/>
                <a:gd name="T36" fmla="*/ 161 h 1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43" h="161">
                  <a:moveTo>
                    <a:pt x="13" y="30"/>
                  </a:moveTo>
                  <a:lnTo>
                    <a:pt x="217" y="0"/>
                  </a:lnTo>
                  <a:lnTo>
                    <a:pt x="148" y="36"/>
                  </a:lnTo>
                  <a:lnTo>
                    <a:pt x="242" y="47"/>
                  </a:lnTo>
                  <a:lnTo>
                    <a:pt x="158" y="77"/>
                  </a:lnTo>
                  <a:lnTo>
                    <a:pt x="243" y="95"/>
                  </a:lnTo>
                  <a:lnTo>
                    <a:pt x="177" y="121"/>
                  </a:lnTo>
                  <a:lnTo>
                    <a:pt x="221" y="136"/>
                  </a:lnTo>
                  <a:lnTo>
                    <a:pt x="0" y="161"/>
                  </a:lnTo>
                  <a:lnTo>
                    <a:pt x="13" y="30"/>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1" name="Freeform 713">
              <a:extLst>
                <a:ext uri="{FF2B5EF4-FFF2-40B4-BE49-F238E27FC236}">
                  <a16:creationId xmlns:a16="http://schemas.microsoft.com/office/drawing/2014/main" id="{98D7C3E0-6632-B84E-9982-185DE60ED18B}"/>
                </a:ext>
              </a:extLst>
            </p:cNvPr>
            <p:cNvSpPr>
              <a:spLocks/>
            </p:cNvSpPr>
            <p:nvPr/>
          </p:nvSpPr>
          <p:spPr bwMode="auto">
            <a:xfrm>
              <a:off x="2838" y="2964"/>
              <a:ext cx="133" cy="61"/>
            </a:xfrm>
            <a:custGeom>
              <a:avLst/>
              <a:gdLst>
                <a:gd name="T0" fmla="*/ 7 w 394"/>
                <a:gd name="T1" fmla="*/ 14 h 195"/>
                <a:gd name="T2" fmla="*/ 0 w 394"/>
                <a:gd name="T3" fmla="*/ 61 h 195"/>
                <a:gd name="T4" fmla="*/ 133 w 394"/>
                <a:gd name="T5" fmla="*/ 56 h 195"/>
                <a:gd name="T6" fmla="*/ 89 w 394"/>
                <a:gd name="T7" fmla="*/ 48 h 195"/>
                <a:gd name="T8" fmla="*/ 131 w 394"/>
                <a:gd name="T9" fmla="*/ 37 h 195"/>
                <a:gd name="T10" fmla="*/ 83 w 394"/>
                <a:gd name="T11" fmla="*/ 30 h 195"/>
                <a:gd name="T12" fmla="*/ 130 w 394"/>
                <a:gd name="T13" fmla="*/ 19 h 195"/>
                <a:gd name="T14" fmla="*/ 82 w 394"/>
                <a:gd name="T15" fmla="*/ 15 h 195"/>
                <a:gd name="T16" fmla="*/ 127 w 394"/>
                <a:gd name="T17" fmla="*/ 0 h 195"/>
                <a:gd name="T18" fmla="*/ 68 w 394"/>
                <a:gd name="T19" fmla="*/ 5 h 195"/>
                <a:gd name="T20" fmla="*/ 7 w 394"/>
                <a:gd name="T21" fmla="*/ 14 h 195"/>
                <a:gd name="T22" fmla="*/ 7 w 394"/>
                <a:gd name="T23" fmla="*/ 14 h 1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4"/>
                <a:gd name="T37" fmla="*/ 0 h 195"/>
                <a:gd name="T38" fmla="*/ 394 w 394"/>
                <a:gd name="T39" fmla="*/ 195 h 1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4" h="195">
                  <a:moveTo>
                    <a:pt x="21" y="45"/>
                  </a:moveTo>
                  <a:lnTo>
                    <a:pt x="0" y="195"/>
                  </a:lnTo>
                  <a:lnTo>
                    <a:pt x="394" y="180"/>
                  </a:lnTo>
                  <a:lnTo>
                    <a:pt x="263" y="152"/>
                  </a:lnTo>
                  <a:lnTo>
                    <a:pt x="388" y="119"/>
                  </a:lnTo>
                  <a:lnTo>
                    <a:pt x="246" y="97"/>
                  </a:lnTo>
                  <a:lnTo>
                    <a:pt x="386" y="62"/>
                  </a:lnTo>
                  <a:lnTo>
                    <a:pt x="242" y="47"/>
                  </a:lnTo>
                  <a:lnTo>
                    <a:pt x="377" y="0"/>
                  </a:lnTo>
                  <a:lnTo>
                    <a:pt x="200" y="17"/>
                  </a:lnTo>
                  <a:lnTo>
                    <a:pt x="21" y="45"/>
                  </a:lnTo>
                  <a:close/>
                </a:path>
              </a:pathLst>
            </a:custGeom>
            <a:solidFill>
              <a:srgbClr val="F2CC9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2" name="Freeform 714">
              <a:extLst>
                <a:ext uri="{FF2B5EF4-FFF2-40B4-BE49-F238E27FC236}">
                  <a16:creationId xmlns:a16="http://schemas.microsoft.com/office/drawing/2014/main" id="{379FD165-BA5A-1B42-9E01-C9AD90EFF6FA}"/>
                </a:ext>
              </a:extLst>
            </p:cNvPr>
            <p:cNvSpPr>
              <a:spLocks/>
            </p:cNvSpPr>
            <p:nvPr/>
          </p:nvSpPr>
          <p:spPr bwMode="auto">
            <a:xfrm>
              <a:off x="2844" y="2973"/>
              <a:ext cx="89" cy="47"/>
            </a:xfrm>
            <a:custGeom>
              <a:avLst/>
              <a:gdLst>
                <a:gd name="T0" fmla="*/ 5 w 267"/>
                <a:gd name="T1" fmla="*/ 10 h 150"/>
                <a:gd name="T2" fmla="*/ 74 w 267"/>
                <a:gd name="T3" fmla="*/ 0 h 150"/>
                <a:gd name="T4" fmla="*/ 60 w 267"/>
                <a:gd name="T5" fmla="*/ 9 h 150"/>
                <a:gd name="T6" fmla="*/ 87 w 267"/>
                <a:gd name="T7" fmla="*/ 12 h 150"/>
                <a:gd name="T8" fmla="*/ 59 w 267"/>
                <a:gd name="T9" fmla="*/ 21 h 150"/>
                <a:gd name="T10" fmla="*/ 89 w 267"/>
                <a:gd name="T11" fmla="*/ 29 h 150"/>
                <a:gd name="T12" fmla="*/ 61 w 267"/>
                <a:gd name="T13" fmla="*/ 34 h 150"/>
                <a:gd name="T14" fmla="*/ 87 w 267"/>
                <a:gd name="T15" fmla="*/ 45 h 150"/>
                <a:gd name="T16" fmla="*/ 0 w 267"/>
                <a:gd name="T17" fmla="*/ 47 h 150"/>
                <a:gd name="T18" fmla="*/ 5 w 267"/>
                <a:gd name="T19" fmla="*/ 10 h 150"/>
                <a:gd name="T20" fmla="*/ 5 w 267"/>
                <a:gd name="T21" fmla="*/ 10 h 1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7"/>
                <a:gd name="T34" fmla="*/ 0 h 150"/>
                <a:gd name="T35" fmla="*/ 267 w 267"/>
                <a:gd name="T36" fmla="*/ 150 h 1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7" h="150">
                  <a:moveTo>
                    <a:pt x="14" y="32"/>
                  </a:moveTo>
                  <a:lnTo>
                    <a:pt x="221" y="0"/>
                  </a:lnTo>
                  <a:lnTo>
                    <a:pt x="179" y="30"/>
                  </a:lnTo>
                  <a:lnTo>
                    <a:pt x="261" y="38"/>
                  </a:lnTo>
                  <a:lnTo>
                    <a:pt x="177" y="68"/>
                  </a:lnTo>
                  <a:lnTo>
                    <a:pt x="267" y="93"/>
                  </a:lnTo>
                  <a:lnTo>
                    <a:pt x="183" y="108"/>
                  </a:lnTo>
                  <a:lnTo>
                    <a:pt x="261" y="143"/>
                  </a:lnTo>
                  <a:lnTo>
                    <a:pt x="0" y="150"/>
                  </a:lnTo>
                  <a:lnTo>
                    <a:pt x="14" y="32"/>
                  </a:lnTo>
                  <a:close/>
                </a:path>
              </a:pathLst>
            </a:custGeom>
            <a:solidFill>
              <a:srgbClr val="FFE5B2"/>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3" name="Freeform 715">
              <a:extLst>
                <a:ext uri="{FF2B5EF4-FFF2-40B4-BE49-F238E27FC236}">
                  <a16:creationId xmlns:a16="http://schemas.microsoft.com/office/drawing/2014/main" id="{FA0AD540-F4A2-A04D-A590-80430A0690C7}"/>
                </a:ext>
              </a:extLst>
            </p:cNvPr>
            <p:cNvSpPr>
              <a:spLocks/>
            </p:cNvSpPr>
            <p:nvPr/>
          </p:nvSpPr>
          <p:spPr bwMode="auto">
            <a:xfrm>
              <a:off x="2935" y="2967"/>
              <a:ext cx="36" cy="13"/>
            </a:xfrm>
            <a:custGeom>
              <a:avLst/>
              <a:gdLst>
                <a:gd name="T0" fmla="*/ 34 w 105"/>
                <a:gd name="T1" fmla="*/ 0 h 42"/>
                <a:gd name="T2" fmla="*/ 0 w 105"/>
                <a:gd name="T3" fmla="*/ 10 h 42"/>
                <a:gd name="T4" fmla="*/ 36 w 105"/>
                <a:gd name="T5" fmla="*/ 13 h 42"/>
                <a:gd name="T6" fmla="*/ 34 w 105"/>
                <a:gd name="T7" fmla="*/ 0 h 42"/>
                <a:gd name="T8" fmla="*/ 34 w 105"/>
                <a:gd name="T9" fmla="*/ 0 h 42"/>
                <a:gd name="T10" fmla="*/ 0 60000 65536"/>
                <a:gd name="T11" fmla="*/ 0 60000 65536"/>
                <a:gd name="T12" fmla="*/ 0 60000 65536"/>
                <a:gd name="T13" fmla="*/ 0 60000 65536"/>
                <a:gd name="T14" fmla="*/ 0 60000 65536"/>
                <a:gd name="T15" fmla="*/ 0 w 105"/>
                <a:gd name="T16" fmla="*/ 0 h 42"/>
                <a:gd name="T17" fmla="*/ 105 w 105"/>
                <a:gd name="T18" fmla="*/ 42 h 42"/>
              </a:gdLst>
              <a:ahLst/>
              <a:cxnLst>
                <a:cxn ang="T10">
                  <a:pos x="T0" y="T1"/>
                </a:cxn>
                <a:cxn ang="T11">
                  <a:pos x="T2" y="T3"/>
                </a:cxn>
                <a:cxn ang="T12">
                  <a:pos x="T4" y="T5"/>
                </a:cxn>
                <a:cxn ang="T13">
                  <a:pos x="T6" y="T7"/>
                </a:cxn>
                <a:cxn ang="T14">
                  <a:pos x="T8" y="T9"/>
                </a:cxn>
              </a:cxnLst>
              <a:rect l="T15" t="T16" r="T17" b="T18"/>
              <a:pathLst>
                <a:path w="105" h="42">
                  <a:moveTo>
                    <a:pt x="99" y="0"/>
                  </a:moveTo>
                  <a:lnTo>
                    <a:pt x="0" y="31"/>
                  </a:lnTo>
                  <a:lnTo>
                    <a:pt x="105" y="42"/>
                  </a:lnTo>
                  <a:lnTo>
                    <a:pt x="99"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4" name="Freeform 716">
              <a:extLst>
                <a:ext uri="{FF2B5EF4-FFF2-40B4-BE49-F238E27FC236}">
                  <a16:creationId xmlns:a16="http://schemas.microsoft.com/office/drawing/2014/main" id="{4905DC31-580E-CD41-A35E-DDF7F8F3BFEB}"/>
                </a:ext>
              </a:extLst>
            </p:cNvPr>
            <p:cNvSpPr>
              <a:spLocks/>
            </p:cNvSpPr>
            <p:nvPr/>
          </p:nvSpPr>
          <p:spPr bwMode="auto">
            <a:xfrm>
              <a:off x="2944" y="2988"/>
              <a:ext cx="27" cy="10"/>
            </a:xfrm>
            <a:custGeom>
              <a:avLst/>
              <a:gdLst>
                <a:gd name="T0" fmla="*/ 25 w 84"/>
                <a:gd name="T1" fmla="*/ 0 h 34"/>
                <a:gd name="T2" fmla="*/ 0 w 84"/>
                <a:gd name="T3" fmla="*/ 4 h 34"/>
                <a:gd name="T4" fmla="*/ 27 w 84"/>
                <a:gd name="T5" fmla="*/ 10 h 34"/>
                <a:gd name="T6" fmla="*/ 25 w 84"/>
                <a:gd name="T7" fmla="*/ 0 h 34"/>
                <a:gd name="T8" fmla="*/ 25 w 84"/>
                <a:gd name="T9" fmla="*/ 0 h 34"/>
                <a:gd name="T10" fmla="*/ 0 60000 65536"/>
                <a:gd name="T11" fmla="*/ 0 60000 65536"/>
                <a:gd name="T12" fmla="*/ 0 60000 65536"/>
                <a:gd name="T13" fmla="*/ 0 60000 65536"/>
                <a:gd name="T14" fmla="*/ 0 60000 65536"/>
                <a:gd name="T15" fmla="*/ 0 w 84"/>
                <a:gd name="T16" fmla="*/ 0 h 34"/>
                <a:gd name="T17" fmla="*/ 84 w 84"/>
                <a:gd name="T18" fmla="*/ 34 h 34"/>
              </a:gdLst>
              <a:ahLst/>
              <a:cxnLst>
                <a:cxn ang="T10">
                  <a:pos x="T0" y="T1"/>
                </a:cxn>
                <a:cxn ang="T11">
                  <a:pos x="T2" y="T3"/>
                </a:cxn>
                <a:cxn ang="T12">
                  <a:pos x="T4" y="T5"/>
                </a:cxn>
                <a:cxn ang="T13">
                  <a:pos x="T6" y="T7"/>
                </a:cxn>
                <a:cxn ang="T14">
                  <a:pos x="T8" y="T9"/>
                </a:cxn>
              </a:cxnLst>
              <a:rect l="T15" t="T16" r="T17" b="T18"/>
              <a:pathLst>
                <a:path w="84" h="34">
                  <a:moveTo>
                    <a:pt x="78" y="0"/>
                  </a:moveTo>
                  <a:lnTo>
                    <a:pt x="0" y="15"/>
                  </a:lnTo>
                  <a:lnTo>
                    <a:pt x="84" y="34"/>
                  </a:lnTo>
                  <a:lnTo>
                    <a:pt x="7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5" name="Freeform 717">
              <a:extLst>
                <a:ext uri="{FF2B5EF4-FFF2-40B4-BE49-F238E27FC236}">
                  <a16:creationId xmlns:a16="http://schemas.microsoft.com/office/drawing/2014/main" id="{BC090344-9F25-1343-8D29-8D992B309DF7}"/>
                </a:ext>
              </a:extLst>
            </p:cNvPr>
            <p:cNvSpPr>
              <a:spLocks/>
            </p:cNvSpPr>
            <p:nvPr/>
          </p:nvSpPr>
          <p:spPr bwMode="auto">
            <a:xfrm>
              <a:off x="2946" y="3004"/>
              <a:ext cx="29" cy="12"/>
            </a:xfrm>
            <a:custGeom>
              <a:avLst/>
              <a:gdLst>
                <a:gd name="T0" fmla="*/ 27 w 83"/>
                <a:gd name="T1" fmla="*/ 0 h 38"/>
                <a:gd name="T2" fmla="*/ 0 w 83"/>
                <a:gd name="T3" fmla="*/ 7 h 38"/>
                <a:gd name="T4" fmla="*/ 29 w 83"/>
                <a:gd name="T5" fmla="*/ 12 h 38"/>
                <a:gd name="T6" fmla="*/ 27 w 83"/>
                <a:gd name="T7" fmla="*/ 0 h 38"/>
                <a:gd name="T8" fmla="*/ 27 w 83"/>
                <a:gd name="T9" fmla="*/ 0 h 38"/>
                <a:gd name="T10" fmla="*/ 0 60000 65536"/>
                <a:gd name="T11" fmla="*/ 0 60000 65536"/>
                <a:gd name="T12" fmla="*/ 0 60000 65536"/>
                <a:gd name="T13" fmla="*/ 0 60000 65536"/>
                <a:gd name="T14" fmla="*/ 0 60000 65536"/>
                <a:gd name="T15" fmla="*/ 0 w 83"/>
                <a:gd name="T16" fmla="*/ 0 h 38"/>
                <a:gd name="T17" fmla="*/ 83 w 83"/>
                <a:gd name="T18" fmla="*/ 38 h 38"/>
              </a:gdLst>
              <a:ahLst/>
              <a:cxnLst>
                <a:cxn ang="T10">
                  <a:pos x="T0" y="T1"/>
                </a:cxn>
                <a:cxn ang="T11">
                  <a:pos x="T2" y="T3"/>
                </a:cxn>
                <a:cxn ang="T12">
                  <a:pos x="T4" y="T5"/>
                </a:cxn>
                <a:cxn ang="T13">
                  <a:pos x="T6" y="T7"/>
                </a:cxn>
                <a:cxn ang="T14">
                  <a:pos x="T8" y="T9"/>
                </a:cxn>
              </a:cxnLst>
              <a:rect l="T15" t="T16" r="T17" b="T18"/>
              <a:pathLst>
                <a:path w="83" h="38">
                  <a:moveTo>
                    <a:pt x="76" y="0"/>
                  </a:moveTo>
                  <a:lnTo>
                    <a:pt x="0" y="23"/>
                  </a:lnTo>
                  <a:lnTo>
                    <a:pt x="83" y="38"/>
                  </a:lnTo>
                  <a:lnTo>
                    <a:pt x="76"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6" name="Freeform 718">
              <a:extLst>
                <a:ext uri="{FF2B5EF4-FFF2-40B4-BE49-F238E27FC236}">
                  <a16:creationId xmlns:a16="http://schemas.microsoft.com/office/drawing/2014/main" id="{14CEFC04-CE59-A048-8F9E-A8079FE525D3}"/>
                </a:ext>
              </a:extLst>
            </p:cNvPr>
            <p:cNvSpPr>
              <a:spLocks/>
            </p:cNvSpPr>
            <p:nvPr/>
          </p:nvSpPr>
          <p:spPr bwMode="auto">
            <a:xfrm>
              <a:off x="3149" y="3031"/>
              <a:ext cx="31" cy="12"/>
            </a:xfrm>
            <a:custGeom>
              <a:avLst/>
              <a:gdLst>
                <a:gd name="T0" fmla="*/ 29 w 95"/>
                <a:gd name="T1" fmla="*/ 0 h 38"/>
                <a:gd name="T2" fmla="*/ 0 w 95"/>
                <a:gd name="T3" fmla="*/ 8 h 38"/>
                <a:gd name="T4" fmla="*/ 31 w 95"/>
                <a:gd name="T5" fmla="*/ 12 h 38"/>
                <a:gd name="T6" fmla="*/ 29 w 95"/>
                <a:gd name="T7" fmla="*/ 0 h 38"/>
                <a:gd name="T8" fmla="*/ 29 w 95"/>
                <a:gd name="T9" fmla="*/ 0 h 38"/>
                <a:gd name="T10" fmla="*/ 0 60000 65536"/>
                <a:gd name="T11" fmla="*/ 0 60000 65536"/>
                <a:gd name="T12" fmla="*/ 0 60000 65536"/>
                <a:gd name="T13" fmla="*/ 0 60000 65536"/>
                <a:gd name="T14" fmla="*/ 0 60000 65536"/>
                <a:gd name="T15" fmla="*/ 0 w 95"/>
                <a:gd name="T16" fmla="*/ 0 h 38"/>
                <a:gd name="T17" fmla="*/ 95 w 95"/>
                <a:gd name="T18" fmla="*/ 38 h 38"/>
              </a:gdLst>
              <a:ahLst/>
              <a:cxnLst>
                <a:cxn ang="T10">
                  <a:pos x="T0" y="T1"/>
                </a:cxn>
                <a:cxn ang="T11">
                  <a:pos x="T2" y="T3"/>
                </a:cxn>
                <a:cxn ang="T12">
                  <a:pos x="T4" y="T5"/>
                </a:cxn>
                <a:cxn ang="T13">
                  <a:pos x="T6" y="T7"/>
                </a:cxn>
                <a:cxn ang="T14">
                  <a:pos x="T8" y="T9"/>
                </a:cxn>
              </a:cxnLst>
              <a:rect l="T15" t="T16" r="T17" b="T18"/>
              <a:pathLst>
                <a:path w="95" h="38">
                  <a:moveTo>
                    <a:pt x="88" y="0"/>
                  </a:moveTo>
                  <a:lnTo>
                    <a:pt x="0" y="25"/>
                  </a:lnTo>
                  <a:lnTo>
                    <a:pt x="95" y="38"/>
                  </a:lnTo>
                  <a:lnTo>
                    <a:pt x="88" y="0"/>
                  </a:lnTo>
                  <a:close/>
                </a:path>
              </a:pathLst>
            </a:custGeom>
            <a:solidFill>
              <a:srgbClr val="FFCC7F"/>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7" name="Freeform 719">
              <a:extLst>
                <a:ext uri="{FF2B5EF4-FFF2-40B4-BE49-F238E27FC236}">
                  <a16:creationId xmlns:a16="http://schemas.microsoft.com/office/drawing/2014/main" id="{03BC357A-CC19-A441-B601-7409BE839DBB}"/>
                </a:ext>
              </a:extLst>
            </p:cNvPr>
            <p:cNvSpPr>
              <a:spLocks/>
            </p:cNvSpPr>
            <p:nvPr/>
          </p:nvSpPr>
          <p:spPr bwMode="auto">
            <a:xfrm>
              <a:off x="2763" y="2875"/>
              <a:ext cx="149" cy="12"/>
            </a:xfrm>
            <a:custGeom>
              <a:avLst/>
              <a:gdLst>
                <a:gd name="T0" fmla="*/ 0 w 441"/>
                <a:gd name="T1" fmla="*/ 12 h 39"/>
                <a:gd name="T2" fmla="*/ 1 w 441"/>
                <a:gd name="T3" fmla="*/ 3 h 39"/>
                <a:gd name="T4" fmla="*/ 9 w 441"/>
                <a:gd name="T5" fmla="*/ 0 h 39"/>
                <a:gd name="T6" fmla="*/ 21 w 441"/>
                <a:gd name="T7" fmla="*/ 0 h 39"/>
                <a:gd name="T8" fmla="*/ 36 w 441"/>
                <a:gd name="T9" fmla="*/ 3 h 39"/>
                <a:gd name="T10" fmla="*/ 53 w 441"/>
                <a:gd name="T11" fmla="*/ 7 h 39"/>
                <a:gd name="T12" fmla="*/ 67 w 441"/>
                <a:gd name="T13" fmla="*/ 5 h 39"/>
                <a:gd name="T14" fmla="*/ 77 w 441"/>
                <a:gd name="T15" fmla="*/ 5 h 39"/>
                <a:gd name="T16" fmla="*/ 90 w 441"/>
                <a:gd name="T17" fmla="*/ 7 h 39"/>
                <a:gd name="T18" fmla="*/ 101 w 441"/>
                <a:gd name="T19" fmla="*/ 8 h 39"/>
                <a:gd name="T20" fmla="*/ 113 w 441"/>
                <a:gd name="T21" fmla="*/ 8 h 39"/>
                <a:gd name="T22" fmla="*/ 123 w 441"/>
                <a:gd name="T23" fmla="*/ 5 h 39"/>
                <a:gd name="T24" fmla="*/ 137 w 441"/>
                <a:gd name="T25" fmla="*/ 0 h 39"/>
                <a:gd name="T26" fmla="*/ 146 w 441"/>
                <a:gd name="T27" fmla="*/ 0 h 39"/>
                <a:gd name="T28" fmla="*/ 149 w 441"/>
                <a:gd name="T29" fmla="*/ 5 h 39"/>
                <a:gd name="T30" fmla="*/ 148 w 441"/>
                <a:gd name="T31" fmla="*/ 10 h 39"/>
                <a:gd name="T32" fmla="*/ 138 w 441"/>
                <a:gd name="T33" fmla="*/ 12 h 39"/>
                <a:gd name="T34" fmla="*/ 117 w 441"/>
                <a:gd name="T35" fmla="*/ 12 h 39"/>
                <a:gd name="T36" fmla="*/ 62 w 441"/>
                <a:gd name="T37" fmla="*/ 12 h 39"/>
                <a:gd name="T38" fmla="*/ 20 w 441"/>
                <a:gd name="T39" fmla="*/ 12 h 39"/>
                <a:gd name="T40" fmla="*/ 0 w 441"/>
                <a:gd name="T41" fmla="*/ 12 h 39"/>
                <a:gd name="T42" fmla="*/ 0 w 441"/>
                <a:gd name="T43" fmla="*/ 12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1"/>
                <a:gd name="T67" fmla="*/ 0 h 39"/>
                <a:gd name="T68" fmla="*/ 441 w 44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1" h="39">
                  <a:moveTo>
                    <a:pt x="0" y="39"/>
                  </a:moveTo>
                  <a:lnTo>
                    <a:pt x="2" y="9"/>
                  </a:lnTo>
                  <a:lnTo>
                    <a:pt x="28" y="1"/>
                  </a:lnTo>
                  <a:lnTo>
                    <a:pt x="63" y="0"/>
                  </a:lnTo>
                  <a:lnTo>
                    <a:pt x="108" y="9"/>
                  </a:lnTo>
                  <a:lnTo>
                    <a:pt x="158" y="22"/>
                  </a:lnTo>
                  <a:lnTo>
                    <a:pt x="198" y="17"/>
                  </a:lnTo>
                  <a:lnTo>
                    <a:pt x="228" y="17"/>
                  </a:lnTo>
                  <a:lnTo>
                    <a:pt x="266" y="24"/>
                  </a:lnTo>
                  <a:lnTo>
                    <a:pt x="300" y="26"/>
                  </a:lnTo>
                  <a:lnTo>
                    <a:pt x="333" y="26"/>
                  </a:lnTo>
                  <a:lnTo>
                    <a:pt x="363" y="17"/>
                  </a:lnTo>
                  <a:lnTo>
                    <a:pt x="405" y="0"/>
                  </a:lnTo>
                  <a:lnTo>
                    <a:pt x="431" y="0"/>
                  </a:lnTo>
                  <a:lnTo>
                    <a:pt x="441" y="15"/>
                  </a:lnTo>
                  <a:lnTo>
                    <a:pt x="437" y="32"/>
                  </a:lnTo>
                  <a:lnTo>
                    <a:pt x="407" y="39"/>
                  </a:lnTo>
                  <a:lnTo>
                    <a:pt x="346" y="38"/>
                  </a:lnTo>
                  <a:lnTo>
                    <a:pt x="184" y="39"/>
                  </a:lnTo>
                  <a:lnTo>
                    <a:pt x="59" y="39"/>
                  </a:lnTo>
                  <a:lnTo>
                    <a:pt x="0" y="39"/>
                  </a:lnTo>
                  <a:close/>
                </a:path>
              </a:pathLst>
            </a:custGeom>
            <a:solidFill>
              <a:srgbClr val="E8D9D9"/>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sp>
          <p:nvSpPr>
            <p:cNvPr id="468" name="Freeform 720">
              <a:extLst>
                <a:ext uri="{FF2B5EF4-FFF2-40B4-BE49-F238E27FC236}">
                  <a16:creationId xmlns:a16="http://schemas.microsoft.com/office/drawing/2014/main" id="{901B935E-26FA-EB41-9D0A-9D1047EBC166}"/>
                </a:ext>
              </a:extLst>
            </p:cNvPr>
            <p:cNvSpPr>
              <a:spLocks/>
            </p:cNvSpPr>
            <p:nvPr/>
          </p:nvSpPr>
          <p:spPr bwMode="auto">
            <a:xfrm>
              <a:off x="2765" y="2878"/>
              <a:ext cx="85" cy="7"/>
            </a:xfrm>
            <a:custGeom>
              <a:avLst/>
              <a:gdLst>
                <a:gd name="T0" fmla="*/ 85 w 249"/>
                <a:gd name="T1" fmla="*/ 6 h 25"/>
                <a:gd name="T2" fmla="*/ 77 w 249"/>
                <a:gd name="T3" fmla="*/ 5 h 25"/>
                <a:gd name="T4" fmla="*/ 69 w 249"/>
                <a:gd name="T5" fmla="*/ 3 h 25"/>
                <a:gd name="T6" fmla="*/ 59 w 249"/>
                <a:gd name="T7" fmla="*/ 4 h 25"/>
                <a:gd name="T8" fmla="*/ 54 w 249"/>
                <a:gd name="T9" fmla="*/ 6 h 25"/>
                <a:gd name="T10" fmla="*/ 47 w 249"/>
                <a:gd name="T11" fmla="*/ 5 h 25"/>
                <a:gd name="T12" fmla="*/ 39 w 249"/>
                <a:gd name="T13" fmla="*/ 3 h 25"/>
                <a:gd name="T14" fmla="*/ 26 w 249"/>
                <a:gd name="T15" fmla="*/ 1 h 25"/>
                <a:gd name="T16" fmla="*/ 17 w 249"/>
                <a:gd name="T17" fmla="*/ 0 h 25"/>
                <a:gd name="T18" fmla="*/ 8 w 249"/>
                <a:gd name="T19" fmla="*/ 0 h 25"/>
                <a:gd name="T20" fmla="*/ 0 w 249"/>
                <a:gd name="T21" fmla="*/ 2 h 25"/>
                <a:gd name="T22" fmla="*/ 0 w 249"/>
                <a:gd name="T23" fmla="*/ 5 h 25"/>
                <a:gd name="T24" fmla="*/ 2 w 249"/>
                <a:gd name="T25" fmla="*/ 6 h 25"/>
                <a:gd name="T26" fmla="*/ 13 w 249"/>
                <a:gd name="T27" fmla="*/ 6 h 25"/>
                <a:gd name="T28" fmla="*/ 23 w 249"/>
                <a:gd name="T29" fmla="*/ 5 h 25"/>
                <a:gd name="T30" fmla="*/ 32 w 249"/>
                <a:gd name="T31" fmla="*/ 5 h 25"/>
                <a:gd name="T32" fmla="*/ 38 w 249"/>
                <a:gd name="T33" fmla="*/ 6 h 25"/>
                <a:gd name="T34" fmla="*/ 43 w 249"/>
                <a:gd name="T35" fmla="*/ 7 h 25"/>
                <a:gd name="T36" fmla="*/ 53 w 249"/>
                <a:gd name="T37" fmla="*/ 7 h 25"/>
                <a:gd name="T38" fmla="*/ 60 w 249"/>
                <a:gd name="T39" fmla="*/ 6 h 25"/>
                <a:gd name="T40" fmla="*/ 67 w 249"/>
                <a:gd name="T41" fmla="*/ 5 h 25"/>
                <a:gd name="T42" fmla="*/ 73 w 249"/>
                <a:gd name="T43" fmla="*/ 6 h 25"/>
                <a:gd name="T44" fmla="*/ 79 w 249"/>
                <a:gd name="T45" fmla="*/ 7 h 25"/>
                <a:gd name="T46" fmla="*/ 85 w 249"/>
                <a:gd name="T47" fmla="*/ 6 h 25"/>
                <a:gd name="T48" fmla="*/ 85 w 249"/>
                <a:gd name="T49" fmla="*/ 6 h 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49"/>
                <a:gd name="T76" fmla="*/ 0 h 25"/>
                <a:gd name="T77" fmla="*/ 249 w 249"/>
                <a:gd name="T78" fmla="*/ 25 h 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49" h="25">
                  <a:moveTo>
                    <a:pt x="249" y="21"/>
                  </a:moveTo>
                  <a:lnTo>
                    <a:pt x="226" y="17"/>
                  </a:lnTo>
                  <a:lnTo>
                    <a:pt x="203" y="11"/>
                  </a:lnTo>
                  <a:lnTo>
                    <a:pt x="174" y="15"/>
                  </a:lnTo>
                  <a:lnTo>
                    <a:pt x="157" y="21"/>
                  </a:lnTo>
                  <a:lnTo>
                    <a:pt x="138" y="19"/>
                  </a:lnTo>
                  <a:lnTo>
                    <a:pt x="115" y="11"/>
                  </a:lnTo>
                  <a:lnTo>
                    <a:pt x="77" y="4"/>
                  </a:lnTo>
                  <a:lnTo>
                    <a:pt x="51" y="0"/>
                  </a:lnTo>
                  <a:lnTo>
                    <a:pt x="24" y="0"/>
                  </a:lnTo>
                  <a:lnTo>
                    <a:pt x="1" y="8"/>
                  </a:lnTo>
                  <a:lnTo>
                    <a:pt x="0" y="17"/>
                  </a:lnTo>
                  <a:lnTo>
                    <a:pt x="7" y="23"/>
                  </a:lnTo>
                  <a:lnTo>
                    <a:pt x="38" y="23"/>
                  </a:lnTo>
                  <a:lnTo>
                    <a:pt x="66" y="17"/>
                  </a:lnTo>
                  <a:lnTo>
                    <a:pt x="93" y="17"/>
                  </a:lnTo>
                  <a:lnTo>
                    <a:pt x="110" y="21"/>
                  </a:lnTo>
                  <a:lnTo>
                    <a:pt x="125" y="25"/>
                  </a:lnTo>
                  <a:lnTo>
                    <a:pt x="154" y="25"/>
                  </a:lnTo>
                  <a:lnTo>
                    <a:pt x="176" y="21"/>
                  </a:lnTo>
                  <a:lnTo>
                    <a:pt x="195" y="19"/>
                  </a:lnTo>
                  <a:lnTo>
                    <a:pt x="214" y="23"/>
                  </a:lnTo>
                  <a:lnTo>
                    <a:pt x="231" y="25"/>
                  </a:lnTo>
                  <a:lnTo>
                    <a:pt x="249" y="21"/>
                  </a:lnTo>
                  <a:close/>
                </a:path>
              </a:pathLst>
            </a:custGeom>
            <a:solidFill>
              <a:srgbClr val="FFEDED"/>
            </a:solidFill>
            <a:ln w="9525">
              <a:noFill/>
              <a:round/>
              <a:headEnd/>
              <a:tailEnd/>
            </a:ln>
          </p:spPr>
          <p:txBody>
            <a:bodyPr/>
            <a:lstStyle/>
            <a:p>
              <a:pPr algn="r" eaLnBrk="0" hangingPunct="0"/>
              <a:endParaRPr kumimoji="1" lang="en-US" sz="1600" dirty="0">
                <a:solidFill>
                  <a:srgbClr val="000000"/>
                </a:solidFill>
                <a:latin typeface="Comic Sans MS" pitchFamily="66" charset="0"/>
                <a:ea typeface="ＭＳ Ｐゴシック" pitchFamily="34" charset="-128"/>
                <a:cs typeface="Arial"/>
              </a:endParaRPr>
            </a:p>
          </p:txBody>
        </p:sp>
      </p:grpSp>
    </p:spTree>
    <p:extLst>
      <p:ext uri="{BB962C8B-B14F-4D97-AF65-F5344CB8AC3E}">
        <p14:creationId xmlns:p14="http://schemas.microsoft.com/office/powerpoint/2010/main" val="3035903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2733-C22A-5540-9CDA-E5A69030FDA6}"/>
              </a:ext>
            </a:extLst>
          </p:cNvPr>
          <p:cNvSpPr>
            <a:spLocks noGrp="1"/>
          </p:cNvSpPr>
          <p:nvPr>
            <p:ph type="title"/>
          </p:nvPr>
        </p:nvSpPr>
        <p:spPr/>
        <p:txBody>
          <a:bodyPr/>
          <a:lstStyle/>
          <a:p>
            <a:r>
              <a:rPr lang="en-US" dirty="0"/>
              <a:t>The famous </a:t>
            </a:r>
            <a:r>
              <a:rPr lang="en-US" dirty="0">
                <a:solidFill>
                  <a:srgbClr val="FF0000"/>
                </a:solidFill>
              </a:rPr>
              <a:t>knapsack</a:t>
            </a:r>
            <a:r>
              <a:rPr lang="en-US" dirty="0"/>
              <a:t> </a:t>
            </a:r>
            <a:r>
              <a:rPr lang="en-US" dirty="0">
                <a:solidFill>
                  <a:srgbClr val="FF0000"/>
                </a:solidFill>
              </a:rPr>
              <a:t>problem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CDDB15-E65B-1B47-9C9A-1D5DF1113EF0}"/>
                  </a:ext>
                </a:extLst>
              </p:cNvPr>
              <p:cNvSpPr>
                <a:spLocks noGrp="1"/>
              </p:cNvSpPr>
              <p:nvPr>
                <p:ph idx="1"/>
              </p:nvPr>
            </p:nvSpPr>
            <p:spPr/>
            <p:txBody>
              <a:bodyPr/>
              <a:lstStyle/>
              <a:p>
                <a:r>
                  <a:rPr lang="en-US" dirty="0">
                    <a:latin typeface="Times" pitchFamily="2" charset="0"/>
                  </a:rPr>
                  <a:t>More formally, the </a:t>
                </a:r>
                <a:r>
                  <a:rPr lang="en-US" i="1" dirty="0">
                    <a:solidFill>
                      <a:srgbClr val="16129E"/>
                    </a:solidFill>
                    <a:latin typeface="Times" pitchFamily="2" charset="0"/>
                  </a:rPr>
                  <a:t>0-1 knapsack problem</a:t>
                </a:r>
                <a:r>
                  <a:rPr lang="en-US" dirty="0">
                    <a:latin typeface="Times" pitchFamily="2" charset="0"/>
                  </a:rPr>
                  <a:t>:</a:t>
                </a:r>
              </a:p>
              <a:p>
                <a:pPr marL="0" indent="0">
                  <a:buNone/>
                </a:pPr>
                <a:endParaRPr lang="en-US" sz="800" dirty="0">
                  <a:latin typeface="Times" pitchFamily="2" charset="0"/>
                </a:endParaRPr>
              </a:p>
              <a:p>
                <a:pPr lvl="1"/>
                <a:r>
                  <a:rPr lang="en-US" dirty="0">
                    <a:latin typeface="Times" pitchFamily="2" charset="0"/>
                  </a:rPr>
                  <a:t>The thief must choose among </a:t>
                </a:r>
                <a14:m>
                  <m:oMath xmlns:m="http://schemas.openxmlformats.org/officeDocument/2006/math">
                    <m:r>
                      <a:rPr lang="en-US" i="1" dirty="0" smtClean="0">
                        <a:latin typeface="Cambria Math" panose="02040503050406030204" pitchFamily="18" charset="0"/>
                      </a:rPr>
                      <m:t>𝑛</m:t>
                    </m:r>
                  </m:oMath>
                </a14:m>
                <a:r>
                  <a:rPr lang="en-US" dirty="0">
                    <a:latin typeface="Times" pitchFamily="2" charset="0"/>
                  </a:rPr>
                  <a:t> items, where the item </a:t>
                </a:r>
                <a14:m>
                  <m:oMath xmlns:m="http://schemas.openxmlformats.org/officeDocument/2006/math">
                    <m:r>
                      <a:rPr lang="en-US" b="0" i="1" smtClean="0">
                        <a:latin typeface="Cambria Math" panose="02040503050406030204" pitchFamily="18" charset="0"/>
                      </a:rPr>
                      <m:t>𝑖</m:t>
                    </m:r>
                  </m:oMath>
                </a14:m>
                <a:r>
                  <a:rPr lang="en-US" dirty="0">
                    <a:latin typeface="Times" pitchFamily="2" charset="0"/>
                  </a:rPr>
                  <a:t> worth </a:t>
                </a:r>
                <a:r>
                  <a:rPr lang="en-US" i="1" dirty="0">
                    <a:latin typeface="Times" pitchFamily="2" charset="0"/>
                  </a:rPr>
                  <a:t>v</a:t>
                </a:r>
                <a:r>
                  <a:rPr lang="en-US" i="1" baseline="-25000" dirty="0">
                    <a:latin typeface="Times" pitchFamily="2" charset="0"/>
                  </a:rPr>
                  <a:t>i</a:t>
                </a:r>
                <a:r>
                  <a:rPr lang="en-US" i="1" dirty="0">
                    <a:latin typeface="Times" pitchFamily="2" charset="0"/>
                  </a:rPr>
                  <a:t> </a:t>
                </a:r>
                <a:r>
                  <a:rPr lang="en-US" dirty="0">
                    <a:latin typeface="Times" pitchFamily="2" charset="0"/>
                  </a:rPr>
                  <a:t>dollars and weighs </a:t>
                </a:r>
                <a:r>
                  <a:rPr lang="en-US" i="1" dirty="0" err="1">
                    <a:latin typeface="Times" pitchFamily="2" charset="0"/>
                  </a:rPr>
                  <a:t>w</a:t>
                </a:r>
                <a:r>
                  <a:rPr lang="en-US" i="1" baseline="-25000" dirty="0" err="1">
                    <a:latin typeface="Times" pitchFamily="2" charset="0"/>
                  </a:rPr>
                  <a:t>i</a:t>
                </a:r>
                <a:r>
                  <a:rPr lang="en-US" dirty="0">
                    <a:latin typeface="Times" pitchFamily="2" charset="0"/>
                  </a:rPr>
                  <a:t> pounds</a:t>
                </a:r>
              </a:p>
              <a:p>
                <a:pPr lvl="1"/>
                <a:r>
                  <a:rPr lang="en-US" dirty="0">
                    <a:latin typeface="Times" pitchFamily="2" charset="0"/>
                  </a:rPr>
                  <a:t>Carrying at most </a:t>
                </a:r>
                <a14:m>
                  <m:oMath xmlns:m="http://schemas.openxmlformats.org/officeDocument/2006/math">
                    <m:r>
                      <a:rPr lang="en-US" i="1" dirty="0" smtClean="0">
                        <a:latin typeface="Cambria Math" panose="02040503050406030204" pitchFamily="18" charset="0"/>
                      </a:rPr>
                      <m:t>𝑊</m:t>
                    </m:r>
                  </m:oMath>
                </a14:m>
                <a:r>
                  <a:rPr lang="en-US" dirty="0">
                    <a:latin typeface="Times" pitchFamily="2" charset="0"/>
                  </a:rPr>
                  <a:t> pounds, maximize value</a:t>
                </a:r>
              </a:p>
              <a:p>
                <a:pPr lvl="2"/>
                <a:r>
                  <a:rPr lang="en-US" sz="1700" dirty="0">
                    <a:latin typeface="Times" pitchFamily="2" charset="0"/>
                  </a:rPr>
                  <a:t>Note: assume </a:t>
                </a:r>
                <a:r>
                  <a:rPr lang="en-US" sz="1700" i="1" dirty="0">
                    <a:latin typeface="Times" pitchFamily="2" charset="0"/>
                  </a:rPr>
                  <a:t>v</a:t>
                </a:r>
                <a:r>
                  <a:rPr lang="en-US" sz="1700" i="1" baseline="-25000" dirty="0">
                    <a:latin typeface="Times" pitchFamily="2" charset="0"/>
                  </a:rPr>
                  <a:t>i</a:t>
                </a:r>
                <a:r>
                  <a:rPr lang="en-US" sz="1700" i="1" dirty="0">
                    <a:latin typeface="Times" pitchFamily="2" charset="0"/>
                  </a:rPr>
                  <a:t>, </a:t>
                </a:r>
                <a:r>
                  <a:rPr lang="en-US" sz="1700" i="1" dirty="0" err="1">
                    <a:latin typeface="Times" pitchFamily="2" charset="0"/>
                  </a:rPr>
                  <a:t>w</a:t>
                </a:r>
                <a:r>
                  <a:rPr lang="en-US" sz="1700" i="1" baseline="-25000" dirty="0" err="1">
                    <a:latin typeface="Times" pitchFamily="2" charset="0"/>
                  </a:rPr>
                  <a:t>i</a:t>
                </a:r>
                <a:r>
                  <a:rPr lang="en-US" sz="1700" i="1" dirty="0">
                    <a:latin typeface="Times" pitchFamily="2" charset="0"/>
                  </a:rPr>
                  <a:t>, </a:t>
                </a:r>
                <a:r>
                  <a:rPr lang="en-US" sz="1700" dirty="0">
                    <a:latin typeface="Times" pitchFamily="2" charset="0"/>
                  </a:rPr>
                  <a:t>and </a:t>
                </a:r>
                <a:r>
                  <a:rPr lang="en-US" sz="1700" i="1" dirty="0">
                    <a:latin typeface="Times" pitchFamily="2" charset="0"/>
                  </a:rPr>
                  <a:t>W </a:t>
                </a:r>
                <a:r>
                  <a:rPr lang="en-US" sz="1700" dirty="0">
                    <a:latin typeface="Times" pitchFamily="2" charset="0"/>
                  </a:rPr>
                  <a:t>are all integers</a:t>
                </a:r>
              </a:p>
              <a:p>
                <a:pPr lvl="2"/>
                <a:r>
                  <a:rPr lang="en-US" sz="1700" dirty="0">
                    <a:latin typeface="Times" pitchFamily="2" charset="0"/>
                  </a:rPr>
                  <a:t>“0-1” because each item must be taken or left in entirety</a:t>
                </a:r>
              </a:p>
              <a:p>
                <a:endParaRPr lang="en-US" dirty="0">
                  <a:latin typeface="Times" pitchFamily="2" charset="0"/>
                </a:endParaRPr>
              </a:p>
              <a:p>
                <a:r>
                  <a:rPr lang="en-US" dirty="0">
                    <a:latin typeface="Times" pitchFamily="2" charset="0"/>
                  </a:rPr>
                  <a:t>A variation, the </a:t>
                </a:r>
                <a:r>
                  <a:rPr lang="en-US" i="1" dirty="0">
                    <a:solidFill>
                      <a:srgbClr val="16129E"/>
                    </a:solidFill>
                    <a:latin typeface="Times" pitchFamily="2" charset="0"/>
                  </a:rPr>
                  <a:t>fractional knapsack problem</a:t>
                </a:r>
                <a:r>
                  <a:rPr lang="en-US" dirty="0">
                    <a:latin typeface="Times" pitchFamily="2" charset="0"/>
                  </a:rPr>
                  <a:t>:</a:t>
                </a:r>
              </a:p>
              <a:p>
                <a:pPr lvl="1"/>
                <a:r>
                  <a:rPr lang="en-US" dirty="0">
                    <a:latin typeface="Times" pitchFamily="2" charset="0"/>
                  </a:rPr>
                  <a:t>Thief can take fractions of items</a:t>
                </a:r>
              </a:p>
              <a:p>
                <a:r>
                  <a:rPr lang="en-US" dirty="0">
                    <a:latin typeface="Times" pitchFamily="2" charset="0"/>
                  </a:rPr>
                  <a:t>Think of items in 0-1 problem as gold ingots, in fractional problem as buckets of gold dust.</a:t>
                </a:r>
              </a:p>
            </p:txBody>
          </p:sp>
        </mc:Choice>
        <mc:Fallback xmlns="">
          <p:sp>
            <p:nvSpPr>
              <p:cNvPr id="3" name="Content Placeholder 2">
                <a:extLst>
                  <a:ext uri="{FF2B5EF4-FFF2-40B4-BE49-F238E27FC236}">
                    <a16:creationId xmlns:a16="http://schemas.microsoft.com/office/drawing/2014/main" id="{E5CDDB15-E65B-1B47-9C9A-1D5DF1113EF0}"/>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spTree>
    <p:extLst>
      <p:ext uri="{BB962C8B-B14F-4D97-AF65-F5344CB8AC3E}">
        <p14:creationId xmlns:p14="http://schemas.microsoft.com/office/powerpoint/2010/main" val="429314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2733-C22A-5540-9CDA-E5A69030FDA6}"/>
              </a:ext>
            </a:extLst>
          </p:cNvPr>
          <p:cNvSpPr>
            <a:spLocks noGrp="1"/>
          </p:cNvSpPr>
          <p:nvPr>
            <p:ph type="title"/>
          </p:nvPr>
        </p:nvSpPr>
        <p:spPr/>
        <p:txBody>
          <a:bodyPr/>
          <a:lstStyle/>
          <a:p>
            <a:r>
              <a:rPr lang="en-US" dirty="0"/>
              <a:t>Fractional Knapsack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CDDB15-E65B-1B47-9C9A-1D5DF1113EF0}"/>
                  </a:ext>
                </a:extLst>
              </p:cNvPr>
              <p:cNvSpPr>
                <a:spLocks noGrp="1"/>
              </p:cNvSpPr>
              <p:nvPr>
                <p:ph idx="1"/>
              </p:nvPr>
            </p:nvSpPr>
            <p:spPr/>
            <p:txBody>
              <a:bodyPr/>
              <a:lstStyle/>
              <a:p>
                <a:pPr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Knapsack capacity: </a:t>
                </a:r>
                <a14:m>
                  <m:oMath xmlns:m="http://schemas.openxmlformats.org/officeDocument/2006/math">
                    <m:r>
                      <a:rPr lang="en-US" i="1" dirty="0" smtClean="0">
                        <a:solidFill>
                          <a:srgbClr val="000000"/>
                        </a:solidFill>
                        <a:latin typeface="Cambria Math" panose="02040503050406030204" pitchFamily="18" charset="0"/>
                        <a:ea typeface="ＭＳ Ｐゴシック" pitchFamily="34" charset="-128"/>
                        <a:cs typeface="Arial"/>
                      </a:rPr>
                      <m:t>𝑊</m:t>
                    </m:r>
                  </m:oMath>
                </a14:m>
                <a:endParaRPr lang="en-US" dirty="0">
                  <a:solidFill>
                    <a:srgbClr val="000000"/>
                  </a:solidFill>
                  <a:latin typeface="Times New Roman" pitchFamily="18" charset="0"/>
                  <a:ea typeface="ＭＳ Ｐゴシック" pitchFamily="34" charset="-128"/>
                  <a:cs typeface="Arial"/>
                </a:endParaRPr>
              </a:p>
              <a:p>
                <a:pPr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There are </a:t>
                </a:r>
                <a14:m>
                  <m:oMath xmlns:m="http://schemas.openxmlformats.org/officeDocument/2006/math">
                    <m:r>
                      <a:rPr lang="en-US" i="1" dirty="0" smtClean="0">
                        <a:solidFill>
                          <a:srgbClr val="000000"/>
                        </a:solidFill>
                        <a:latin typeface="Cambria Math" panose="02040503050406030204" pitchFamily="18" charset="0"/>
                        <a:ea typeface="ＭＳ Ｐゴシック" pitchFamily="34" charset="-128"/>
                        <a:cs typeface="Arial"/>
                      </a:rPr>
                      <m:t>𝑛</m:t>
                    </m:r>
                  </m:oMath>
                </a14:m>
                <a:r>
                  <a:rPr lang="en-US" dirty="0">
                    <a:solidFill>
                      <a:srgbClr val="000000"/>
                    </a:solidFill>
                    <a:latin typeface="Times New Roman" pitchFamily="18" charset="0"/>
                    <a:ea typeface="ＭＳ Ｐゴシック" pitchFamily="34" charset="-128"/>
                    <a:cs typeface="Arial"/>
                  </a:rPr>
                  <a:t> items: item </a:t>
                </a:r>
                <a14:m>
                  <m:oMath xmlns:m="http://schemas.openxmlformats.org/officeDocument/2006/math">
                    <m:r>
                      <a:rPr lang="en-US" i="1" dirty="0" smtClean="0">
                        <a:solidFill>
                          <a:srgbClr val="000000"/>
                        </a:solidFill>
                        <a:latin typeface="Cambria Math" panose="02040503050406030204" pitchFamily="18" charset="0"/>
                        <a:ea typeface="ＭＳ Ｐゴシック" pitchFamily="34" charset="-128"/>
                        <a:cs typeface="Arial"/>
                      </a:rPr>
                      <m:t>𝑖</m:t>
                    </m:r>
                  </m:oMath>
                </a14:m>
                <a:r>
                  <a:rPr lang="en-US" dirty="0">
                    <a:solidFill>
                      <a:srgbClr val="000000"/>
                    </a:solidFill>
                    <a:latin typeface="Times New Roman" pitchFamily="18" charset="0"/>
                    <a:ea typeface="ＭＳ Ｐゴシック" pitchFamily="34" charset="-128"/>
                    <a:cs typeface="Arial"/>
                  </a:rPr>
                  <a:t> has a value of </a:t>
                </a:r>
                <a14:m>
                  <m:oMath xmlns:m="http://schemas.openxmlformats.org/officeDocument/2006/math">
                    <m:sSub>
                      <m:sSubPr>
                        <m:ctrlPr>
                          <a:rPr lang="en-US" i="1" dirty="0" smtClean="0">
                            <a:solidFill>
                              <a:srgbClr val="000000"/>
                            </a:solidFill>
                            <a:latin typeface="Cambria Math" panose="02040503050406030204" pitchFamily="18" charset="0"/>
                            <a:ea typeface="ＭＳ Ｐゴシック" pitchFamily="34" charset="-128"/>
                            <a:cs typeface="Arial"/>
                          </a:rPr>
                        </m:ctrlPr>
                      </m:sSubPr>
                      <m:e>
                        <m:r>
                          <a:rPr lang="en-US" i="1" dirty="0" smtClean="0">
                            <a:solidFill>
                              <a:srgbClr val="000000"/>
                            </a:solidFill>
                            <a:latin typeface="Cambria Math" panose="02040503050406030204" pitchFamily="18" charset="0"/>
                            <a:ea typeface="ＭＳ Ｐゴシック" pitchFamily="34" charset="-128"/>
                            <a:cs typeface="Arial"/>
                          </a:rPr>
                          <m:t>𝑣</m:t>
                        </m:r>
                      </m:e>
                      <m:sub>
                        <m:r>
                          <a:rPr lang="en-US" i="1" dirty="0" smtClean="0">
                            <a:solidFill>
                              <a:srgbClr val="000000"/>
                            </a:solidFill>
                            <a:latin typeface="Cambria Math" panose="02040503050406030204" pitchFamily="18" charset="0"/>
                            <a:ea typeface="ＭＳ Ｐゴシック" pitchFamily="34" charset="-128"/>
                            <a:cs typeface="Arial"/>
                          </a:rPr>
                          <m:t>𝑖</m:t>
                        </m:r>
                      </m:sub>
                    </m:sSub>
                  </m:oMath>
                </a14:m>
                <a:r>
                  <a:rPr lang="en-US" dirty="0">
                    <a:solidFill>
                      <a:srgbClr val="000000"/>
                    </a:solidFill>
                    <a:latin typeface="Times New Roman" pitchFamily="18" charset="0"/>
                    <a:ea typeface="ＭＳ Ｐゴシック" pitchFamily="34" charset="-128"/>
                    <a:cs typeface="Arial"/>
                  </a:rPr>
                  <a:t> and wight </a:t>
                </a:r>
                <a14:m>
                  <m:oMath xmlns:m="http://schemas.openxmlformats.org/officeDocument/2006/math">
                    <m:sSub>
                      <m:sSubPr>
                        <m:ctrlPr>
                          <a:rPr lang="en-US" b="0" i="1" dirty="0" smtClean="0">
                            <a:solidFill>
                              <a:srgbClr val="000000"/>
                            </a:solidFill>
                            <a:latin typeface="Cambria Math" panose="02040503050406030204" pitchFamily="18" charset="0"/>
                            <a:ea typeface="ＭＳ Ｐゴシック" pitchFamily="34" charset="-128"/>
                            <a:cs typeface="Arial"/>
                          </a:rPr>
                        </m:ctrlPr>
                      </m:sSubPr>
                      <m:e>
                        <m:r>
                          <a:rPr lang="en-US" i="1" dirty="0" smtClean="0">
                            <a:solidFill>
                              <a:srgbClr val="000000"/>
                            </a:solidFill>
                            <a:latin typeface="Cambria Math" panose="02040503050406030204" pitchFamily="18" charset="0"/>
                            <a:ea typeface="ＭＳ Ｐゴシック" pitchFamily="34" charset="-128"/>
                            <a:cs typeface="Arial"/>
                          </a:rPr>
                          <m:t>𝑤</m:t>
                        </m:r>
                      </m:e>
                      <m:sub>
                        <m:r>
                          <a:rPr lang="en-US" b="0" i="1" dirty="0" smtClean="0">
                            <a:solidFill>
                              <a:srgbClr val="000000"/>
                            </a:solidFill>
                            <a:latin typeface="Cambria Math" panose="02040503050406030204" pitchFamily="18" charset="0"/>
                            <a:ea typeface="ＭＳ Ｐゴシック" pitchFamily="34" charset="-128"/>
                            <a:cs typeface="Arial"/>
                          </a:rPr>
                          <m:t>𝑖</m:t>
                        </m:r>
                      </m:sub>
                    </m:sSub>
                  </m:oMath>
                </a14:m>
                <a:endParaRPr lang="en-US" dirty="0">
                  <a:solidFill>
                    <a:srgbClr val="000000"/>
                  </a:solidFill>
                  <a:latin typeface="Times New Roman" pitchFamily="18" charset="0"/>
                  <a:ea typeface="ＭＳ Ｐゴシック" pitchFamily="34" charset="-128"/>
                  <a:cs typeface="Arial"/>
                </a:endParaRPr>
              </a:p>
              <a:p>
                <a:pPr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Goal:</a:t>
                </a:r>
              </a:p>
              <a:p>
                <a:pPr lvl="1" defTabSz="913741">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rPr>
                  <a:t>Find </a:t>
                </a:r>
                <a14:m>
                  <m:oMath xmlns:m="http://schemas.openxmlformats.org/officeDocument/2006/math">
                    <m:sSub>
                      <m:sSubPr>
                        <m:ctrlPr>
                          <a:rPr lang="en-US" b="0" i="1" smtClean="0">
                            <a:solidFill>
                              <a:srgbClr val="000000"/>
                            </a:solidFill>
                            <a:latin typeface="Cambria Math" panose="02040503050406030204" pitchFamily="18" charset="0"/>
                            <a:ea typeface="ＭＳ Ｐゴシック" pitchFamily="34" charset="-128"/>
                            <a:cs typeface="Arial"/>
                          </a:rPr>
                        </m:ctrlPr>
                      </m:sSubPr>
                      <m:e>
                        <m:r>
                          <a:rPr lang="en-US" b="0" i="1" smtClean="0">
                            <a:solidFill>
                              <a:srgbClr val="000000"/>
                            </a:solidFill>
                            <a:latin typeface="Cambria Math" panose="02040503050406030204" pitchFamily="18" charset="0"/>
                            <a:ea typeface="ＭＳ Ｐゴシック" pitchFamily="34" charset="-128"/>
                            <a:cs typeface="Arial"/>
                          </a:rPr>
                          <m:t>𝑥</m:t>
                        </m:r>
                      </m:e>
                      <m:sub>
                        <m:r>
                          <a:rPr lang="en-US" b="0" i="1" smtClean="0">
                            <a:solidFill>
                              <a:srgbClr val="000000"/>
                            </a:solidFill>
                            <a:latin typeface="Cambria Math" panose="02040503050406030204" pitchFamily="18" charset="0"/>
                            <a:ea typeface="ＭＳ Ｐゴシック" pitchFamily="34" charset="-128"/>
                            <a:cs typeface="Arial"/>
                          </a:rPr>
                          <m:t>𝑖</m:t>
                        </m:r>
                      </m:sub>
                    </m:sSub>
                  </m:oMath>
                </a14:m>
                <a:r>
                  <a:rPr lang="en-US" dirty="0">
                    <a:solidFill>
                      <a:srgbClr val="000000"/>
                    </a:solidFill>
                    <a:latin typeface="Times New Roman" pitchFamily="18" charset="0"/>
                    <a:ea typeface="ＭＳ Ｐゴシック" pitchFamily="34" charset="-128"/>
                    <a:cs typeface="Arial"/>
                  </a:rPr>
                  <a:t> such that for all </a:t>
                </a:r>
                <a14:m>
                  <m:oMath xmlns:m="http://schemas.openxmlformats.org/officeDocument/2006/math">
                    <m:r>
                      <a:rPr lang="en-US" b="0" i="0" smtClean="0">
                        <a:solidFill>
                          <a:srgbClr val="000000"/>
                        </a:solidFill>
                        <a:latin typeface="Cambria Math" panose="02040503050406030204" pitchFamily="18" charset="0"/>
                        <a:ea typeface="ＭＳ Ｐゴシック" pitchFamily="34" charset="-128"/>
                        <a:cs typeface="Arial"/>
                      </a:rPr>
                      <m:t>0</m:t>
                    </m:r>
                    <m:r>
                      <a:rPr lang="en-US" b="0" i="1" smtClean="0">
                        <a:solidFill>
                          <a:srgbClr val="000000"/>
                        </a:solidFill>
                        <a:latin typeface="Cambria Math" panose="02040503050406030204" pitchFamily="18" charset="0"/>
                        <a:ea typeface="ＭＳ Ｐゴシック" pitchFamily="34" charset="-128"/>
                        <a:cs typeface="Arial"/>
                      </a:rPr>
                      <m:t>≤</m:t>
                    </m:r>
                    <m:sSub>
                      <m:sSubPr>
                        <m:ctrlPr>
                          <a:rPr lang="en-US" b="0" i="1" smtClean="0">
                            <a:solidFill>
                              <a:srgbClr val="000000"/>
                            </a:solidFill>
                            <a:latin typeface="Cambria Math" panose="02040503050406030204" pitchFamily="18" charset="0"/>
                            <a:ea typeface="ＭＳ Ｐゴシック" pitchFamily="34" charset="-128"/>
                            <a:cs typeface="Arial"/>
                          </a:rPr>
                        </m:ctrlPr>
                      </m:sSubPr>
                      <m:e>
                        <m:r>
                          <a:rPr lang="en-US" b="0" i="1" smtClean="0">
                            <a:solidFill>
                              <a:srgbClr val="000000"/>
                            </a:solidFill>
                            <a:latin typeface="Cambria Math" panose="02040503050406030204" pitchFamily="18" charset="0"/>
                            <a:ea typeface="ＭＳ Ｐゴシック" pitchFamily="34" charset="-128"/>
                            <a:cs typeface="Arial"/>
                          </a:rPr>
                          <m:t>𝑥</m:t>
                        </m:r>
                      </m:e>
                      <m:sub>
                        <m:r>
                          <a:rPr lang="en-US" b="0" i="1" smtClean="0">
                            <a:solidFill>
                              <a:srgbClr val="000000"/>
                            </a:solidFill>
                            <a:latin typeface="Cambria Math" panose="02040503050406030204" pitchFamily="18" charset="0"/>
                            <a:ea typeface="ＭＳ Ｐゴシック" pitchFamily="34" charset="-128"/>
                            <a:cs typeface="Arial"/>
                          </a:rPr>
                          <m:t>𝑖</m:t>
                        </m:r>
                      </m:sub>
                    </m:sSub>
                    <m:r>
                      <a:rPr lang="en-US" b="0" i="1" smtClean="0">
                        <a:solidFill>
                          <a:srgbClr val="000000"/>
                        </a:solidFill>
                        <a:latin typeface="Cambria Math" panose="02040503050406030204" pitchFamily="18" charset="0"/>
                        <a:ea typeface="ＭＳ Ｐゴシック" pitchFamily="34" charset="-128"/>
                        <a:cs typeface="Arial"/>
                      </a:rPr>
                      <m:t>≤1,   </m:t>
                    </m:r>
                    <m:r>
                      <a:rPr lang="en-US" b="0" i="1" smtClean="0">
                        <a:solidFill>
                          <a:srgbClr val="000000"/>
                        </a:solidFill>
                        <a:latin typeface="Cambria Math" panose="02040503050406030204" pitchFamily="18" charset="0"/>
                        <a:ea typeface="ＭＳ Ｐゴシック" pitchFamily="34" charset="-128"/>
                        <a:cs typeface="Arial"/>
                      </a:rPr>
                      <m:t>𝑖</m:t>
                    </m:r>
                    <m:r>
                      <a:rPr lang="en-US" b="0" i="1" smtClean="0">
                        <a:solidFill>
                          <a:srgbClr val="000000"/>
                        </a:solidFill>
                        <a:latin typeface="Cambria Math" panose="02040503050406030204" pitchFamily="18" charset="0"/>
                        <a:ea typeface="ＭＳ Ｐゴシック" pitchFamily="34" charset="-128"/>
                        <a:cs typeface="Arial"/>
                      </a:rPr>
                      <m:t>=1, 2, …, </m:t>
                    </m:r>
                    <m:r>
                      <a:rPr lang="en-US" b="0" i="1" smtClean="0">
                        <a:solidFill>
                          <a:srgbClr val="000000"/>
                        </a:solidFill>
                        <a:latin typeface="Cambria Math" panose="02040503050406030204" pitchFamily="18" charset="0"/>
                        <a:ea typeface="ＭＳ Ｐゴシック" pitchFamily="34" charset="-128"/>
                        <a:cs typeface="Arial"/>
                      </a:rPr>
                      <m:t>𝑛</m:t>
                    </m:r>
                  </m:oMath>
                </a14:m>
                <a:endParaRPr lang="en-US" dirty="0">
                  <a:solidFill>
                    <a:srgbClr val="000000"/>
                  </a:solidFill>
                  <a:latin typeface="Times New Roman" pitchFamily="18" charset="0"/>
                  <a:ea typeface="ＭＳ Ｐゴシック" pitchFamily="34" charset="-128"/>
                  <a:cs typeface="Arial"/>
                </a:endParaRPr>
              </a:p>
              <a:p>
                <a:pPr lvl="2" defTabSz="913741">
                  <a:spcBef>
                    <a:spcPct val="20000"/>
                  </a:spcBef>
                  <a:buClr>
                    <a:srgbClr val="0033CC"/>
                  </a:buClr>
                  <a:buSzPct val="75000"/>
                  <a:buFont typeface="Courier New" panose="02070309020205020404" pitchFamily="49" charset="0"/>
                  <a:buChar char="o"/>
                </a:pPr>
                <a14:m>
                  <m:oMath xmlns:m="http://schemas.openxmlformats.org/officeDocument/2006/math">
                    <m:r>
                      <m:rPr>
                        <m:sty m:val="p"/>
                      </m:rPr>
                      <a:rPr lang="el-GR" sz="2000" i="1">
                        <a:solidFill>
                          <a:srgbClr val="000000"/>
                        </a:solidFill>
                        <a:latin typeface="Cambria Math" panose="02040503050406030204" pitchFamily="18" charset="0"/>
                        <a:ea typeface="Cambria Math" panose="02040503050406030204" pitchFamily="18" charset="0"/>
                        <a:cs typeface="Arial"/>
                      </a:rPr>
                      <m:t>Σ</m:t>
                    </m:r>
                  </m:oMath>
                </a14:m>
                <a:r>
                  <a:rPr lang="en-US" dirty="0">
                    <a:solidFill>
                      <a:srgbClr val="000000"/>
                    </a:solidFill>
                    <a:ea typeface="Cambria Math" panose="02040503050406030204" pitchFamily="18" charset="0"/>
                    <a:cs typeface="Arial"/>
                  </a:rPr>
                  <a:t> </a:t>
                </a:r>
                <a14:m>
                  <m:oMath xmlns:m="http://schemas.openxmlformats.org/officeDocument/2006/math">
                    <m:sSub>
                      <m:sSubPr>
                        <m:ctrlPr>
                          <a:rPr lang="en-US" b="0" i="1" smtClean="0">
                            <a:solidFill>
                              <a:srgbClr val="000000"/>
                            </a:solidFill>
                            <a:latin typeface="Cambria Math" panose="02040503050406030204" pitchFamily="18" charset="0"/>
                            <a:ea typeface="Cambria Math" panose="02040503050406030204" pitchFamily="18" charset="0"/>
                            <a:cs typeface="Arial"/>
                          </a:rPr>
                        </m:ctrlPr>
                      </m:sSubPr>
                      <m:e>
                        <m:r>
                          <a:rPr lang="en-US" b="0" i="1" smtClean="0">
                            <a:solidFill>
                              <a:srgbClr val="000000"/>
                            </a:solidFill>
                            <a:latin typeface="Cambria Math" panose="02040503050406030204" pitchFamily="18" charset="0"/>
                            <a:ea typeface="Cambria Math" panose="02040503050406030204" pitchFamily="18" charset="0"/>
                            <a:cs typeface="Arial"/>
                          </a:rPr>
                          <m:t>𝑤</m:t>
                        </m:r>
                      </m:e>
                      <m:sub>
                        <m:r>
                          <a:rPr lang="en-US" b="0" i="1" smtClean="0">
                            <a:solidFill>
                              <a:srgbClr val="000000"/>
                            </a:solidFill>
                            <a:latin typeface="Cambria Math" panose="02040503050406030204" pitchFamily="18" charset="0"/>
                            <a:ea typeface="Cambria Math" panose="02040503050406030204" pitchFamily="18" charset="0"/>
                            <a:cs typeface="Arial"/>
                          </a:rPr>
                          <m:t>𝑖</m:t>
                        </m:r>
                      </m:sub>
                    </m:sSub>
                    <m:sSub>
                      <m:sSubPr>
                        <m:ctrlPr>
                          <a:rPr lang="en-US" b="0" i="1" smtClean="0">
                            <a:solidFill>
                              <a:srgbClr val="000000"/>
                            </a:solidFill>
                            <a:latin typeface="Cambria Math" panose="02040503050406030204" pitchFamily="18" charset="0"/>
                            <a:ea typeface="Cambria Math" panose="02040503050406030204" pitchFamily="18" charset="0"/>
                            <a:cs typeface="Arial"/>
                          </a:rPr>
                        </m:ctrlPr>
                      </m:sSubPr>
                      <m:e>
                        <m:r>
                          <a:rPr lang="en-US" b="0" i="1" smtClean="0">
                            <a:solidFill>
                              <a:srgbClr val="000000"/>
                            </a:solidFill>
                            <a:latin typeface="Cambria Math" panose="02040503050406030204" pitchFamily="18" charset="0"/>
                            <a:ea typeface="Cambria Math" panose="02040503050406030204" pitchFamily="18" charset="0"/>
                            <a:cs typeface="Arial"/>
                          </a:rPr>
                          <m:t>𝑥</m:t>
                        </m:r>
                      </m:e>
                      <m:sub>
                        <m:r>
                          <a:rPr lang="en-US" b="0" i="1" smtClean="0">
                            <a:solidFill>
                              <a:srgbClr val="000000"/>
                            </a:solidFill>
                            <a:latin typeface="Cambria Math" panose="02040503050406030204" pitchFamily="18" charset="0"/>
                            <a:ea typeface="Cambria Math" panose="02040503050406030204" pitchFamily="18" charset="0"/>
                            <a:cs typeface="Arial"/>
                          </a:rPr>
                          <m:t>𝑖</m:t>
                        </m:r>
                      </m:sub>
                    </m:sSub>
                    <m:r>
                      <a:rPr lang="en-US" b="0" i="1" smtClean="0">
                        <a:solidFill>
                          <a:srgbClr val="000000"/>
                        </a:solidFill>
                        <a:latin typeface="Cambria Math" panose="02040503050406030204" pitchFamily="18" charset="0"/>
                        <a:ea typeface="Cambria Math" panose="02040503050406030204" pitchFamily="18" charset="0"/>
                        <a:cs typeface="Arial"/>
                      </a:rPr>
                      <m:t>≤</m:t>
                    </m:r>
                    <m:r>
                      <a:rPr lang="en-US" b="0" i="1" smtClean="0">
                        <a:solidFill>
                          <a:srgbClr val="000000"/>
                        </a:solidFill>
                        <a:latin typeface="Cambria Math" panose="02040503050406030204" pitchFamily="18" charset="0"/>
                        <a:ea typeface="Cambria Math" panose="02040503050406030204" pitchFamily="18" charset="0"/>
                        <a:cs typeface="Arial"/>
                      </a:rPr>
                      <m:t>𝑊</m:t>
                    </m:r>
                  </m:oMath>
                </a14:m>
                <a:endParaRPr lang="en-US" b="0" dirty="0">
                  <a:solidFill>
                    <a:srgbClr val="000000"/>
                  </a:solidFill>
                  <a:latin typeface="Times New Roman" pitchFamily="18" charset="0"/>
                  <a:ea typeface="Cambria Math" panose="02040503050406030204" pitchFamily="18" charset="0"/>
                  <a:cs typeface="Arial"/>
                </a:endParaRPr>
              </a:p>
              <a:p>
                <a:pPr lvl="2" defTabSz="913741">
                  <a:spcBef>
                    <a:spcPct val="20000"/>
                  </a:spcBef>
                  <a:buClr>
                    <a:srgbClr val="0033CC"/>
                  </a:buClr>
                  <a:buSzPct val="75000"/>
                  <a:buFont typeface="Courier New" panose="02070309020205020404" pitchFamily="49" charset="0"/>
                  <a:buChar char="o"/>
                </a:pPr>
                <a14:m>
                  <m:oMath xmlns:m="http://schemas.openxmlformats.org/officeDocument/2006/math">
                    <m:r>
                      <m:rPr>
                        <m:sty m:val="p"/>
                      </m:rPr>
                      <a:rPr lang="el-GR" sz="2000" i="1" smtClean="0">
                        <a:solidFill>
                          <a:srgbClr val="000000"/>
                        </a:solidFill>
                        <a:latin typeface="Cambria Math" panose="02040503050406030204" pitchFamily="18" charset="0"/>
                        <a:ea typeface="Cambria Math" panose="02040503050406030204" pitchFamily="18" charset="0"/>
                        <a:cs typeface="Arial"/>
                      </a:rPr>
                      <m:t>Σ</m:t>
                    </m:r>
                  </m:oMath>
                </a14:m>
                <a:r>
                  <a:rPr lang="en-US" sz="1400" dirty="0">
                    <a:solidFill>
                      <a:srgbClr val="000000"/>
                    </a:solidFill>
                    <a:ea typeface="Cambria Math" panose="02040503050406030204" pitchFamily="18" charset="0"/>
                    <a:cs typeface="Arial"/>
                  </a:rPr>
                  <a:t> </a:t>
                </a:r>
                <a14:m>
                  <m:oMath xmlns:m="http://schemas.openxmlformats.org/officeDocument/2006/math">
                    <m:sSub>
                      <m:sSubPr>
                        <m:ctrlPr>
                          <a:rPr lang="en-US" sz="1400" i="1">
                            <a:solidFill>
                              <a:srgbClr val="000000"/>
                            </a:solidFill>
                            <a:latin typeface="Cambria Math" panose="02040503050406030204" pitchFamily="18" charset="0"/>
                            <a:ea typeface="Cambria Math" panose="02040503050406030204" pitchFamily="18" charset="0"/>
                            <a:cs typeface="Arial"/>
                          </a:rPr>
                        </m:ctrlPr>
                      </m:sSubPr>
                      <m:e>
                        <m:r>
                          <a:rPr lang="en-US" sz="1400" b="0" i="1" smtClean="0">
                            <a:solidFill>
                              <a:srgbClr val="000000"/>
                            </a:solidFill>
                            <a:latin typeface="Cambria Math" panose="02040503050406030204" pitchFamily="18" charset="0"/>
                            <a:ea typeface="Cambria Math" panose="02040503050406030204" pitchFamily="18" charset="0"/>
                            <a:cs typeface="Arial"/>
                          </a:rPr>
                          <m:t>𝑥</m:t>
                        </m:r>
                      </m:e>
                      <m:sub>
                        <m:r>
                          <a:rPr lang="en-US" sz="1400" i="1">
                            <a:solidFill>
                              <a:srgbClr val="000000"/>
                            </a:solidFill>
                            <a:latin typeface="Cambria Math" panose="02040503050406030204" pitchFamily="18" charset="0"/>
                            <a:ea typeface="Cambria Math" panose="02040503050406030204" pitchFamily="18" charset="0"/>
                            <a:cs typeface="Arial"/>
                          </a:rPr>
                          <m:t>𝑖</m:t>
                        </m:r>
                      </m:sub>
                    </m:sSub>
                    <m:sSub>
                      <m:sSubPr>
                        <m:ctrlPr>
                          <a:rPr lang="en-US" sz="1400" i="1">
                            <a:solidFill>
                              <a:srgbClr val="000000"/>
                            </a:solidFill>
                            <a:latin typeface="Cambria Math" panose="02040503050406030204" pitchFamily="18" charset="0"/>
                            <a:ea typeface="Cambria Math" panose="02040503050406030204" pitchFamily="18" charset="0"/>
                            <a:cs typeface="Arial"/>
                          </a:rPr>
                        </m:ctrlPr>
                      </m:sSubPr>
                      <m:e>
                        <m:r>
                          <a:rPr lang="en-US" sz="1400" b="0" i="1" smtClean="0">
                            <a:solidFill>
                              <a:srgbClr val="000000"/>
                            </a:solidFill>
                            <a:latin typeface="Cambria Math" panose="02040503050406030204" pitchFamily="18" charset="0"/>
                            <a:ea typeface="Cambria Math" panose="02040503050406030204" pitchFamily="18" charset="0"/>
                            <a:cs typeface="Arial"/>
                          </a:rPr>
                          <m:t>𝑣</m:t>
                        </m:r>
                      </m:e>
                      <m:sub>
                        <m:r>
                          <a:rPr lang="en-US" sz="1400" i="1">
                            <a:solidFill>
                              <a:srgbClr val="000000"/>
                            </a:solidFill>
                            <a:latin typeface="Cambria Math" panose="02040503050406030204" pitchFamily="18" charset="0"/>
                            <a:ea typeface="Cambria Math" panose="02040503050406030204" pitchFamily="18" charset="0"/>
                            <a:cs typeface="Arial"/>
                          </a:rPr>
                          <m:t>𝑖</m:t>
                        </m:r>
                      </m:sub>
                    </m:sSub>
                  </m:oMath>
                </a14:m>
                <a:r>
                  <a:rPr lang="en-US" dirty="0">
                    <a:solidFill>
                      <a:srgbClr val="000000"/>
                    </a:solidFill>
                    <a:latin typeface="Times New Roman" pitchFamily="18" charset="0"/>
                    <a:ea typeface="ＭＳ Ｐゴシック" pitchFamily="34" charset="-128"/>
                    <a:cs typeface="Arial"/>
                  </a:rPr>
                  <a:t> is maximum</a:t>
                </a:r>
              </a:p>
              <a:p>
                <a:pPr marL="0" indent="0" defTabSz="913741">
                  <a:spcBef>
                    <a:spcPct val="20000"/>
                  </a:spcBef>
                  <a:buClr>
                    <a:srgbClr val="0033CC"/>
                  </a:buClr>
                  <a:buSzPct val="75000"/>
                  <a:buNone/>
                </a:pPr>
                <a:endParaRPr lang="en-US" dirty="0"/>
              </a:p>
            </p:txBody>
          </p:sp>
        </mc:Choice>
        <mc:Fallback xmlns="">
          <p:sp>
            <p:nvSpPr>
              <p:cNvPr id="3" name="Content Placeholder 2">
                <a:extLst>
                  <a:ext uri="{FF2B5EF4-FFF2-40B4-BE49-F238E27FC236}">
                    <a16:creationId xmlns:a16="http://schemas.microsoft.com/office/drawing/2014/main" id="{E5CDDB15-E65B-1B47-9C9A-1D5DF1113EF0}"/>
                  </a:ext>
                </a:extLst>
              </p:cNvPr>
              <p:cNvSpPr>
                <a:spLocks noGrp="1" noRot="1" noChangeAspect="1" noMove="1" noResize="1" noEditPoints="1" noAdjustHandles="1" noChangeArrowheads="1" noChangeShapeType="1" noTextEdit="1"/>
              </p:cNvSpPr>
              <p:nvPr>
                <p:ph idx="1"/>
              </p:nvPr>
            </p:nvSpPr>
            <p:spPr>
              <a:blipFill>
                <a:blip r:embed="rId2"/>
                <a:stretch>
                  <a:fillRect l="-252" t="-1563"/>
                </a:stretch>
              </a:blipFill>
            </p:spPr>
            <p:txBody>
              <a:bodyPr/>
              <a:lstStyle/>
              <a:p>
                <a:r>
                  <a:rPr lang="en-US">
                    <a:noFill/>
                  </a:rPr>
                  <a:t> </a:t>
                </a:r>
              </a:p>
            </p:txBody>
          </p:sp>
        </mc:Fallback>
      </mc:AlternateContent>
    </p:spTree>
    <p:extLst>
      <p:ext uri="{BB962C8B-B14F-4D97-AF65-F5344CB8AC3E}">
        <p14:creationId xmlns:p14="http://schemas.microsoft.com/office/powerpoint/2010/main" val="3770996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2ED56-7044-A845-B246-14721E1F5472}"/>
              </a:ext>
            </a:extLst>
          </p:cNvPr>
          <p:cNvSpPr>
            <a:spLocks noGrp="1"/>
          </p:cNvSpPr>
          <p:nvPr>
            <p:ph type="title"/>
          </p:nvPr>
        </p:nvSpPr>
        <p:spPr/>
        <p:txBody>
          <a:bodyPr/>
          <a:lstStyle/>
          <a:p>
            <a:r>
              <a:rPr lang="en-US" dirty="0"/>
              <a:t>Fractional Knapsack problem</a:t>
            </a:r>
          </a:p>
        </p:txBody>
      </p:sp>
      <p:sp>
        <p:nvSpPr>
          <p:cNvPr id="3" name="Content Placeholder 2">
            <a:extLst>
              <a:ext uri="{FF2B5EF4-FFF2-40B4-BE49-F238E27FC236}">
                <a16:creationId xmlns:a16="http://schemas.microsoft.com/office/drawing/2014/main" id="{B93810FC-7E13-534E-8175-8BA8BA35F2D7}"/>
              </a:ext>
            </a:extLst>
          </p:cNvPr>
          <p:cNvSpPr>
            <a:spLocks noGrp="1"/>
          </p:cNvSpPr>
          <p:nvPr>
            <p:ph idx="1"/>
          </p:nvPr>
        </p:nvSpPr>
        <p:spPr/>
        <p:txBody>
          <a:bodyPr/>
          <a:lstStyle/>
          <a:p>
            <a:pPr marL="0" indent="0" defTabSz="840642">
              <a:lnSpc>
                <a:spcPct val="150000"/>
              </a:lnSpc>
              <a:spcBef>
                <a:spcPct val="20000"/>
              </a:spcBef>
              <a:buClr>
                <a:srgbClr val="0033CC"/>
              </a:buClr>
              <a:buSzPct val="75000"/>
              <a:buNone/>
            </a:pPr>
            <a:r>
              <a:rPr lang="en-US" sz="2400" u="sng" dirty="0">
                <a:solidFill>
                  <a:srgbClr val="0000CC"/>
                </a:solidFill>
                <a:latin typeface="Times New Roman" pitchFamily="18" charset="0"/>
                <a:ea typeface="ＭＳ Ｐゴシック" pitchFamily="34" charset="-128"/>
                <a:cs typeface="Arial"/>
                <a:sym typeface="Symbol" pitchFamily="18" charset="2"/>
              </a:rPr>
              <a:t>Greedy strategy:</a:t>
            </a:r>
          </a:p>
          <a:p>
            <a:pPr defTabSz="840642">
              <a:lnSpc>
                <a:spcPct val="150000"/>
              </a:lnSpc>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sym typeface="Symbol" pitchFamily="18" charset="2"/>
              </a:rPr>
              <a:t>Pick the item with the maximum value per pound </a:t>
            </a:r>
            <a:r>
              <a:rPr lang="en-US" dirty="0">
                <a:solidFill>
                  <a:srgbClr val="000000"/>
                </a:solidFill>
                <a:latin typeface="Comic Sans MS" pitchFamily="66" charset="0"/>
                <a:ea typeface="ＭＳ Ｐゴシック" pitchFamily="34" charset="-128"/>
                <a:cs typeface="Arial"/>
                <a:sym typeface="Symbol" pitchFamily="18" charset="2"/>
              </a:rPr>
              <a:t>v</a:t>
            </a:r>
            <a:r>
              <a:rPr lang="en-US" baseline="-25000" dirty="0">
                <a:solidFill>
                  <a:srgbClr val="000000"/>
                </a:solidFill>
                <a:latin typeface="Comic Sans MS" pitchFamily="66" charset="0"/>
                <a:ea typeface="ＭＳ Ｐゴシック" pitchFamily="34" charset="-128"/>
                <a:cs typeface="Arial"/>
                <a:sym typeface="Symbol" pitchFamily="18" charset="2"/>
              </a:rPr>
              <a:t>i</a:t>
            </a:r>
            <a:r>
              <a:rPr lang="en-US" dirty="0">
                <a:solidFill>
                  <a:srgbClr val="000000"/>
                </a:solidFill>
                <a:latin typeface="Comic Sans MS" pitchFamily="66" charset="0"/>
                <a:ea typeface="ＭＳ Ｐゴシック" pitchFamily="34" charset="-128"/>
                <a:cs typeface="Arial"/>
                <a:sym typeface="Symbol" pitchFamily="18" charset="2"/>
              </a:rPr>
              <a:t>/</a:t>
            </a:r>
            <a:r>
              <a:rPr lang="en-US" dirty="0" err="1">
                <a:solidFill>
                  <a:srgbClr val="000000"/>
                </a:solidFill>
                <a:latin typeface="Comic Sans MS" pitchFamily="66" charset="0"/>
                <a:ea typeface="ＭＳ Ｐゴシック" pitchFamily="34" charset="-128"/>
                <a:cs typeface="Arial"/>
                <a:sym typeface="Symbol" pitchFamily="18" charset="2"/>
              </a:rPr>
              <a:t>w</a:t>
            </a:r>
            <a:r>
              <a:rPr lang="en-US" baseline="-25000" dirty="0" err="1">
                <a:solidFill>
                  <a:srgbClr val="000000"/>
                </a:solidFill>
                <a:latin typeface="Comic Sans MS" pitchFamily="66" charset="0"/>
                <a:ea typeface="ＭＳ Ｐゴシック" pitchFamily="34" charset="-128"/>
                <a:cs typeface="Arial"/>
                <a:sym typeface="Symbol" pitchFamily="18" charset="2"/>
              </a:rPr>
              <a:t>i</a:t>
            </a:r>
            <a:endParaRPr lang="en-US" baseline="-25000" dirty="0">
              <a:solidFill>
                <a:srgbClr val="000000"/>
              </a:solidFill>
              <a:latin typeface="Comic Sans MS" pitchFamily="66" charset="0"/>
              <a:ea typeface="ＭＳ Ｐゴシック" pitchFamily="34" charset="-128"/>
              <a:cs typeface="Arial"/>
              <a:sym typeface="Symbol" pitchFamily="18" charset="2"/>
            </a:endParaRPr>
          </a:p>
          <a:p>
            <a:pPr defTabSz="840642">
              <a:lnSpc>
                <a:spcPct val="150000"/>
              </a:lnSpc>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sym typeface="Symbol" pitchFamily="18" charset="2"/>
              </a:rPr>
              <a:t>If the supply of that element is exhausted and the thief can carry more: </a:t>
            </a:r>
            <a:r>
              <a:rPr lang="en-US" dirty="0">
                <a:solidFill>
                  <a:srgbClr val="FF0000"/>
                </a:solidFill>
                <a:latin typeface="Times New Roman" pitchFamily="18" charset="0"/>
                <a:ea typeface="ＭＳ Ｐゴシック" pitchFamily="34" charset="-128"/>
                <a:cs typeface="Arial"/>
                <a:sym typeface="Symbol" pitchFamily="18" charset="2"/>
              </a:rPr>
              <a:t>take as much as possible from the item </a:t>
            </a:r>
            <a:r>
              <a:rPr lang="en-US" dirty="0">
                <a:solidFill>
                  <a:srgbClr val="000000"/>
                </a:solidFill>
                <a:latin typeface="Times New Roman" pitchFamily="18" charset="0"/>
                <a:ea typeface="ＭＳ Ｐゴシック" pitchFamily="34" charset="-128"/>
                <a:cs typeface="Arial"/>
                <a:sym typeface="Symbol" pitchFamily="18" charset="2"/>
              </a:rPr>
              <a:t>with the next greatest value per pound</a:t>
            </a:r>
          </a:p>
          <a:p>
            <a:pPr defTabSz="840642">
              <a:lnSpc>
                <a:spcPct val="150000"/>
              </a:lnSpc>
              <a:spcBef>
                <a:spcPct val="20000"/>
              </a:spcBef>
              <a:buClr>
                <a:srgbClr val="0033CC"/>
              </a:buClr>
              <a:buSzPct val="75000"/>
            </a:pPr>
            <a:r>
              <a:rPr lang="en-US" dirty="0">
                <a:solidFill>
                  <a:srgbClr val="000000"/>
                </a:solidFill>
                <a:latin typeface="Times New Roman" pitchFamily="18" charset="0"/>
                <a:ea typeface="ＭＳ Ｐゴシック" pitchFamily="34" charset="-128"/>
                <a:cs typeface="Arial"/>
                <a:sym typeface="Symbol" pitchFamily="18" charset="2"/>
              </a:rPr>
              <a:t>It is good to order items based on their value per pound</a:t>
            </a:r>
          </a:p>
          <a:p>
            <a:endParaRPr lang="en-US" dirty="0"/>
          </a:p>
        </p:txBody>
      </p:sp>
    </p:spTree>
    <p:extLst>
      <p:ext uri="{BB962C8B-B14F-4D97-AF65-F5344CB8AC3E}">
        <p14:creationId xmlns:p14="http://schemas.microsoft.com/office/powerpoint/2010/main" val="3262324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1" name="AutoShape 6">
            <a:extLst>
              <a:ext uri="{FF2B5EF4-FFF2-40B4-BE49-F238E27FC236}">
                <a16:creationId xmlns:a16="http://schemas.microsoft.com/office/drawing/2014/main" id="{CC15FB80-9252-E34A-99C1-E3B88A3CC954}"/>
              </a:ext>
            </a:extLst>
          </p:cNvPr>
          <p:cNvSpPr>
            <a:spLocks noChangeArrowheads="1"/>
          </p:cNvSpPr>
          <p:nvPr/>
        </p:nvSpPr>
        <p:spPr bwMode="auto">
          <a:xfrm>
            <a:off x="1016394"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5" name="Text Box 10">
            <a:extLst>
              <a:ext uri="{FF2B5EF4-FFF2-40B4-BE49-F238E27FC236}">
                <a16:creationId xmlns:a16="http://schemas.microsoft.com/office/drawing/2014/main" id="{98745B6F-A856-9D42-A3C2-AFAF5911C212}"/>
              </a:ext>
            </a:extLst>
          </p:cNvPr>
          <p:cNvSpPr txBox="1">
            <a:spLocks noChangeArrowheads="1"/>
          </p:cNvSpPr>
          <p:nvPr/>
        </p:nvSpPr>
        <p:spPr bwMode="auto">
          <a:xfrm>
            <a:off x="791257" y="4010955"/>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1</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8" name="Text Box 13">
            <a:extLst>
              <a:ext uri="{FF2B5EF4-FFF2-40B4-BE49-F238E27FC236}">
                <a16:creationId xmlns:a16="http://schemas.microsoft.com/office/drawing/2014/main" id="{A7E92A14-C10B-6449-8A61-09B924BF27A2}"/>
              </a:ext>
            </a:extLst>
          </p:cNvPr>
          <p:cNvSpPr txBox="1">
            <a:spLocks noChangeArrowheads="1"/>
          </p:cNvSpPr>
          <p:nvPr/>
        </p:nvSpPr>
        <p:spPr bwMode="auto">
          <a:xfrm>
            <a:off x="873520" y="4825045"/>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7" name="Text Box 22">
            <a:extLst>
              <a:ext uri="{FF2B5EF4-FFF2-40B4-BE49-F238E27FC236}">
                <a16:creationId xmlns:a16="http://schemas.microsoft.com/office/drawing/2014/main" id="{BFD2F373-C7AF-1944-9693-E6EAB43F5F99}"/>
              </a:ext>
            </a:extLst>
          </p:cNvPr>
          <p:cNvSpPr txBox="1">
            <a:spLocks noChangeArrowheads="1"/>
          </p:cNvSpPr>
          <p:nvPr/>
        </p:nvSpPr>
        <p:spPr bwMode="auto">
          <a:xfrm>
            <a:off x="649825"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$6/pound</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2312887173"/>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9746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1" name="AutoShape 6">
            <a:extLst>
              <a:ext uri="{FF2B5EF4-FFF2-40B4-BE49-F238E27FC236}">
                <a16:creationId xmlns:a16="http://schemas.microsoft.com/office/drawing/2014/main" id="{CC15FB80-9252-E34A-99C1-E3B88A3CC954}"/>
              </a:ext>
            </a:extLst>
          </p:cNvPr>
          <p:cNvSpPr>
            <a:spLocks noChangeArrowheads="1"/>
          </p:cNvSpPr>
          <p:nvPr/>
        </p:nvSpPr>
        <p:spPr bwMode="auto">
          <a:xfrm>
            <a:off x="1016394"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5" name="Text Box 10">
            <a:extLst>
              <a:ext uri="{FF2B5EF4-FFF2-40B4-BE49-F238E27FC236}">
                <a16:creationId xmlns:a16="http://schemas.microsoft.com/office/drawing/2014/main" id="{98745B6F-A856-9D42-A3C2-AFAF5911C212}"/>
              </a:ext>
            </a:extLst>
          </p:cNvPr>
          <p:cNvSpPr txBox="1">
            <a:spLocks noChangeArrowheads="1"/>
          </p:cNvSpPr>
          <p:nvPr/>
        </p:nvSpPr>
        <p:spPr bwMode="auto">
          <a:xfrm>
            <a:off x="791257" y="4010955"/>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1</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8" name="Text Box 13">
            <a:extLst>
              <a:ext uri="{FF2B5EF4-FFF2-40B4-BE49-F238E27FC236}">
                <a16:creationId xmlns:a16="http://schemas.microsoft.com/office/drawing/2014/main" id="{A7E92A14-C10B-6449-8A61-09B924BF27A2}"/>
              </a:ext>
            </a:extLst>
          </p:cNvPr>
          <p:cNvSpPr txBox="1">
            <a:spLocks noChangeArrowheads="1"/>
          </p:cNvSpPr>
          <p:nvPr/>
        </p:nvSpPr>
        <p:spPr bwMode="auto">
          <a:xfrm>
            <a:off x="873520" y="4825045"/>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7" name="Text Box 22">
            <a:extLst>
              <a:ext uri="{FF2B5EF4-FFF2-40B4-BE49-F238E27FC236}">
                <a16:creationId xmlns:a16="http://schemas.microsoft.com/office/drawing/2014/main" id="{BFD2F373-C7AF-1944-9693-E6EAB43F5F99}"/>
              </a:ext>
            </a:extLst>
          </p:cNvPr>
          <p:cNvSpPr txBox="1">
            <a:spLocks noChangeArrowheads="1"/>
          </p:cNvSpPr>
          <p:nvPr/>
        </p:nvSpPr>
        <p:spPr bwMode="auto">
          <a:xfrm>
            <a:off x="649825"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$6/pound</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4036733"/>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87339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40</a:t>
            </a:r>
          </a:p>
        </p:txBody>
      </p:sp>
      <p:sp>
        <p:nvSpPr>
          <p:cNvPr id="51" name="AutoShape 6">
            <a:extLst>
              <a:ext uri="{FF2B5EF4-FFF2-40B4-BE49-F238E27FC236}">
                <a16:creationId xmlns:a16="http://schemas.microsoft.com/office/drawing/2014/main" id="{CC15FB80-9252-E34A-99C1-E3B88A3CC954}"/>
              </a:ext>
            </a:extLst>
          </p:cNvPr>
          <p:cNvSpPr>
            <a:spLocks noChangeArrowheads="1"/>
          </p:cNvSpPr>
          <p:nvPr/>
        </p:nvSpPr>
        <p:spPr bwMode="auto">
          <a:xfrm>
            <a:off x="1016394"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5" name="Text Box 10">
            <a:extLst>
              <a:ext uri="{FF2B5EF4-FFF2-40B4-BE49-F238E27FC236}">
                <a16:creationId xmlns:a16="http://schemas.microsoft.com/office/drawing/2014/main" id="{98745B6F-A856-9D42-A3C2-AFAF5911C212}"/>
              </a:ext>
            </a:extLst>
          </p:cNvPr>
          <p:cNvSpPr txBox="1">
            <a:spLocks noChangeArrowheads="1"/>
          </p:cNvSpPr>
          <p:nvPr/>
        </p:nvSpPr>
        <p:spPr bwMode="auto">
          <a:xfrm>
            <a:off x="791257" y="4010955"/>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1</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8" name="Text Box 13">
            <a:extLst>
              <a:ext uri="{FF2B5EF4-FFF2-40B4-BE49-F238E27FC236}">
                <a16:creationId xmlns:a16="http://schemas.microsoft.com/office/drawing/2014/main" id="{A7E92A14-C10B-6449-8A61-09B924BF27A2}"/>
              </a:ext>
            </a:extLst>
          </p:cNvPr>
          <p:cNvSpPr txBox="1">
            <a:spLocks noChangeArrowheads="1"/>
          </p:cNvSpPr>
          <p:nvPr/>
        </p:nvSpPr>
        <p:spPr bwMode="auto">
          <a:xfrm>
            <a:off x="873520" y="4825045"/>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4922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7" name="Text Box 22">
            <a:extLst>
              <a:ext uri="{FF2B5EF4-FFF2-40B4-BE49-F238E27FC236}">
                <a16:creationId xmlns:a16="http://schemas.microsoft.com/office/drawing/2014/main" id="{BFD2F373-C7AF-1944-9693-E6EAB43F5F99}"/>
              </a:ext>
            </a:extLst>
          </p:cNvPr>
          <p:cNvSpPr txBox="1">
            <a:spLocks noChangeArrowheads="1"/>
          </p:cNvSpPr>
          <p:nvPr/>
        </p:nvSpPr>
        <p:spPr bwMode="auto">
          <a:xfrm>
            <a:off x="649825"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$6/pound</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49254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40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4922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40200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2" name="AutoShape 7">
            <a:extLst>
              <a:ext uri="{FF2B5EF4-FFF2-40B4-BE49-F238E27FC236}">
                <a16:creationId xmlns:a16="http://schemas.microsoft.com/office/drawing/2014/main" id="{D28D2B77-3E9D-7346-AAFE-5482065DD853}"/>
              </a:ext>
            </a:extLst>
          </p:cNvPr>
          <p:cNvSpPr>
            <a:spLocks noChangeArrowheads="1"/>
          </p:cNvSpPr>
          <p:nvPr/>
        </p:nvSpPr>
        <p:spPr bwMode="auto">
          <a:xfrm>
            <a:off x="2013632" y="3906774"/>
            <a:ext cx="252556"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6" name="Text Box 11">
            <a:extLst>
              <a:ext uri="{FF2B5EF4-FFF2-40B4-BE49-F238E27FC236}">
                <a16:creationId xmlns:a16="http://schemas.microsoft.com/office/drawing/2014/main" id="{9F076344-54D1-B244-836F-3788BF22BB95}"/>
              </a:ext>
            </a:extLst>
          </p:cNvPr>
          <p:cNvSpPr txBox="1">
            <a:spLocks noChangeArrowheads="1"/>
          </p:cNvSpPr>
          <p:nvPr/>
        </p:nvSpPr>
        <p:spPr bwMode="auto">
          <a:xfrm>
            <a:off x="1761075" y="3558517"/>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2</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59" name="Text Box 14">
            <a:extLst>
              <a:ext uri="{FF2B5EF4-FFF2-40B4-BE49-F238E27FC236}">
                <a16:creationId xmlns:a16="http://schemas.microsoft.com/office/drawing/2014/main" id="{0FD2FC13-D728-474A-99E3-E322E74921B2}"/>
              </a:ext>
            </a:extLst>
          </p:cNvPr>
          <p:cNvSpPr txBox="1">
            <a:spLocks noChangeArrowheads="1"/>
          </p:cNvSpPr>
          <p:nvPr/>
        </p:nvSpPr>
        <p:spPr bwMode="auto">
          <a:xfrm>
            <a:off x="1807257"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$160</a:t>
            </a:r>
          </a:p>
        </p:txBody>
      </p:sp>
      <p:sp>
        <p:nvSpPr>
          <p:cNvPr id="68" name="Text Box 23">
            <a:extLst>
              <a:ext uri="{FF2B5EF4-FFF2-40B4-BE49-F238E27FC236}">
                <a16:creationId xmlns:a16="http://schemas.microsoft.com/office/drawing/2014/main" id="{BE907EC8-D8DA-8140-ADA3-237CFE0D832F}"/>
              </a:ext>
            </a:extLst>
          </p:cNvPr>
          <p:cNvSpPr txBox="1">
            <a:spLocks noChangeArrowheads="1"/>
          </p:cNvSpPr>
          <p:nvPr/>
        </p:nvSpPr>
        <p:spPr bwMode="auto">
          <a:xfrm>
            <a:off x="1743756"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$5/pound</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120364082"/>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p:spTree>
    <p:extLst>
      <p:ext uri="{BB962C8B-B14F-4D97-AF65-F5344CB8AC3E}">
        <p14:creationId xmlns:p14="http://schemas.microsoft.com/office/powerpoint/2010/main" val="3838684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$160</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endParaRPr lang="en-US" sz="2200" dirty="0">
                        <a:solidFill>
                          <a:srgbClr val="0000CC"/>
                        </a:solidFill>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p:spTree>
    <p:extLst>
      <p:ext uri="{BB962C8B-B14F-4D97-AF65-F5344CB8AC3E}">
        <p14:creationId xmlns:p14="http://schemas.microsoft.com/office/powerpoint/2010/main" val="2939751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$160</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extLst>
              <p:ext uri="{D42A27DB-BD31-4B8C-83A1-F6EECF244321}">
                <p14:modId xmlns:p14="http://schemas.microsoft.com/office/powerpoint/2010/main" val="2605735490"/>
              </p:ext>
            </p:extLst>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2/3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p:spTree>
    <p:extLst>
      <p:ext uri="{BB962C8B-B14F-4D97-AF65-F5344CB8AC3E}">
        <p14:creationId xmlns:p14="http://schemas.microsoft.com/office/powerpoint/2010/main" val="183104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59A93-3B95-ED4C-9B82-480B7628213F}"/>
              </a:ext>
            </a:extLst>
          </p:cNvPr>
          <p:cNvSpPr>
            <a:spLocks noGrp="1"/>
          </p:cNvSpPr>
          <p:nvPr>
            <p:ph type="title"/>
          </p:nvPr>
        </p:nvSpPr>
        <p:spPr/>
        <p:txBody>
          <a:bodyPr/>
          <a:lstStyle/>
          <a:p>
            <a:r>
              <a:rPr lang="en-US" dirty="0"/>
              <a:t>Fractional Knapsack problem</a:t>
            </a:r>
          </a:p>
        </p:txBody>
      </p:sp>
      <p:sp>
        <p:nvSpPr>
          <p:cNvPr id="50" name="AutoShape 2">
            <a:extLst>
              <a:ext uri="{FF2B5EF4-FFF2-40B4-BE49-F238E27FC236}">
                <a16:creationId xmlns:a16="http://schemas.microsoft.com/office/drawing/2014/main" id="{1240B657-BEBB-5047-A87F-C6F715713DE9}"/>
              </a:ext>
            </a:extLst>
          </p:cNvPr>
          <p:cNvSpPr>
            <a:spLocks noChangeArrowheads="1"/>
          </p:cNvSpPr>
          <p:nvPr/>
        </p:nvSpPr>
        <p:spPr bwMode="auto">
          <a:xfrm>
            <a:off x="5604268" y="2623876"/>
            <a:ext cx="252556"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3" name="AutoShape 8">
            <a:extLst>
              <a:ext uri="{FF2B5EF4-FFF2-40B4-BE49-F238E27FC236}">
                <a16:creationId xmlns:a16="http://schemas.microsoft.com/office/drawing/2014/main" id="{9D2E40E9-DF56-5E4F-9500-304B9EC02A8A}"/>
              </a:ext>
            </a:extLst>
          </p:cNvPr>
          <p:cNvSpPr>
            <a:spLocks noChangeArrowheads="1"/>
          </p:cNvSpPr>
          <p:nvPr/>
        </p:nvSpPr>
        <p:spPr bwMode="auto">
          <a:xfrm>
            <a:off x="3207144" y="3478150"/>
            <a:ext cx="252557" cy="1285875"/>
          </a:xfrm>
          <a:prstGeom prst="roundRect">
            <a:avLst>
              <a:gd name="adj" fmla="val 16667"/>
            </a:avLst>
          </a:prstGeom>
          <a:solidFill>
            <a:schemeClr val="accent1">
              <a:lumMod val="60000"/>
              <a:lumOff val="40000"/>
            </a:schemeClr>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endParaRPr lang="en-US" sz="1500" b="1" dirty="0">
              <a:solidFill>
                <a:srgbClr val="000000"/>
              </a:solidFill>
              <a:latin typeface="Arial" charset="0"/>
              <a:ea typeface="ＭＳ Ｐゴシック" pitchFamily="34" charset="-128"/>
              <a:cs typeface="Arial"/>
            </a:endParaRPr>
          </a:p>
        </p:txBody>
      </p:sp>
      <p:sp>
        <p:nvSpPr>
          <p:cNvPr id="54" name="AutoShape 9">
            <a:extLst>
              <a:ext uri="{FF2B5EF4-FFF2-40B4-BE49-F238E27FC236}">
                <a16:creationId xmlns:a16="http://schemas.microsoft.com/office/drawing/2014/main" id="{0D7B0A4B-760A-094E-9607-5CBCECA9CACB}"/>
              </a:ext>
            </a:extLst>
          </p:cNvPr>
          <p:cNvSpPr>
            <a:spLocks noChangeArrowheads="1"/>
          </p:cNvSpPr>
          <p:nvPr/>
        </p:nvSpPr>
        <p:spPr bwMode="auto">
          <a:xfrm>
            <a:off x="4090371" y="2620900"/>
            <a:ext cx="252557" cy="2143125"/>
          </a:xfrm>
          <a:prstGeom prst="roundRect">
            <a:avLst>
              <a:gd name="adj" fmla="val 16667"/>
            </a:avLst>
          </a:prstGeom>
          <a:solidFill>
            <a:srgbClr val="CC9900"/>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700" b="1" dirty="0">
                <a:solidFill>
                  <a:srgbClr val="000000"/>
                </a:solidFill>
                <a:latin typeface="Arial" charset="0"/>
                <a:ea typeface="ＭＳ Ｐゴシック" pitchFamily="34" charset="-128"/>
                <a:cs typeface="Arial"/>
              </a:rPr>
              <a:t>50</a:t>
            </a:r>
          </a:p>
        </p:txBody>
      </p:sp>
      <p:sp>
        <p:nvSpPr>
          <p:cNvPr id="57" name="Text Box 12">
            <a:extLst>
              <a:ext uri="{FF2B5EF4-FFF2-40B4-BE49-F238E27FC236}">
                <a16:creationId xmlns:a16="http://schemas.microsoft.com/office/drawing/2014/main" id="{CCC11F69-594F-044A-B9AA-9F583A1B4A0D}"/>
              </a:ext>
            </a:extLst>
          </p:cNvPr>
          <p:cNvSpPr txBox="1">
            <a:spLocks noChangeArrowheads="1"/>
          </p:cNvSpPr>
          <p:nvPr/>
        </p:nvSpPr>
        <p:spPr bwMode="auto">
          <a:xfrm>
            <a:off x="3007985" y="3128404"/>
            <a:ext cx="726307"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i="1" dirty="0">
                <a:solidFill>
                  <a:srgbClr val="000000"/>
                </a:solidFill>
                <a:latin typeface="Arial" charset="0"/>
                <a:ea typeface="ＭＳ Ｐゴシック" pitchFamily="34" charset="-128"/>
                <a:cs typeface="Arial"/>
              </a:rPr>
              <a:t>Item 3</a:t>
            </a:r>
          </a:p>
        </p:txBody>
      </p:sp>
      <p:sp>
        <p:nvSpPr>
          <p:cNvPr id="60" name="Text Box 15">
            <a:extLst>
              <a:ext uri="{FF2B5EF4-FFF2-40B4-BE49-F238E27FC236}">
                <a16:creationId xmlns:a16="http://schemas.microsoft.com/office/drawing/2014/main" id="{0CA76D00-1F55-F349-A363-0F1C8129E5A0}"/>
              </a:ext>
            </a:extLst>
          </p:cNvPr>
          <p:cNvSpPr txBox="1">
            <a:spLocks noChangeArrowheads="1"/>
          </p:cNvSpPr>
          <p:nvPr/>
        </p:nvSpPr>
        <p:spPr bwMode="auto">
          <a:xfrm>
            <a:off x="3007984" y="4825045"/>
            <a:ext cx="599670"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$120</a:t>
            </a:r>
          </a:p>
        </p:txBody>
      </p:sp>
      <p:sp>
        <p:nvSpPr>
          <p:cNvPr id="61" name="AutoShape 16">
            <a:extLst>
              <a:ext uri="{FF2B5EF4-FFF2-40B4-BE49-F238E27FC236}">
                <a16:creationId xmlns:a16="http://schemas.microsoft.com/office/drawing/2014/main" id="{D483D6B9-DDCA-0549-B8B6-7DB8B51E335E}"/>
              </a:ext>
            </a:extLst>
          </p:cNvPr>
          <p:cNvSpPr>
            <a:spLocks noChangeArrowheads="1"/>
          </p:cNvSpPr>
          <p:nvPr/>
        </p:nvSpPr>
        <p:spPr bwMode="auto">
          <a:xfrm>
            <a:off x="5604268" y="4335400"/>
            <a:ext cx="252556"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
        <p:nvSpPr>
          <p:cNvPr id="62" name="AutoShape 17">
            <a:extLst>
              <a:ext uri="{FF2B5EF4-FFF2-40B4-BE49-F238E27FC236}">
                <a16:creationId xmlns:a16="http://schemas.microsoft.com/office/drawing/2014/main" id="{B000BA36-70C2-AB45-A5E2-FEC35AB59B58}"/>
              </a:ext>
            </a:extLst>
          </p:cNvPr>
          <p:cNvSpPr>
            <a:spLocks noChangeArrowheads="1"/>
          </p:cNvSpPr>
          <p:nvPr/>
        </p:nvSpPr>
        <p:spPr bwMode="auto">
          <a:xfrm>
            <a:off x="5602826" y="3481126"/>
            <a:ext cx="252557" cy="85725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p:txBody>
      </p:sp>
      <p:sp>
        <p:nvSpPr>
          <p:cNvPr id="63" name="Text Box 18">
            <a:extLst>
              <a:ext uri="{FF2B5EF4-FFF2-40B4-BE49-F238E27FC236}">
                <a16:creationId xmlns:a16="http://schemas.microsoft.com/office/drawing/2014/main" id="{699094A2-9766-9E45-B648-A0C9A204DC23}"/>
              </a:ext>
            </a:extLst>
          </p:cNvPr>
          <p:cNvSpPr txBox="1">
            <a:spLocks noChangeArrowheads="1"/>
          </p:cNvSpPr>
          <p:nvPr/>
        </p:nvSpPr>
        <p:spPr bwMode="auto">
          <a:xfrm>
            <a:off x="5954962" y="4409814"/>
            <a:ext cx="492269"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$60</a:t>
            </a:r>
          </a:p>
        </p:txBody>
      </p:sp>
      <p:sp>
        <p:nvSpPr>
          <p:cNvPr id="64" name="Text Box 19">
            <a:extLst>
              <a:ext uri="{FF2B5EF4-FFF2-40B4-BE49-F238E27FC236}">
                <a16:creationId xmlns:a16="http://schemas.microsoft.com/office/drawing/2014/main" id="{A0CB5F19-41CE-384C-89A7-F398BA0A56D3}"/>
              </a:ext>
            </a:extLst>
          </p:cNvPr>
          <p:cNvSpPr txBox="1">
            <a:spLocks noChangeArrowheads="1"/>
          </p:cNvSpPr>
          <p:nvPr/>
        </p:nvSpPr>
        <p:spPr bwMode="auto">
          <a:xfrm>
            <a:off x="5928984" y="3760923"/>
            <a:ext cx="5996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65" name="Line 20">
            <a:extLst>
              <a:ext uri="{FF2B5EF4-FFF2-40B4-BE49-F238E27FC236}">
                <a16:creationId xmlns:a16="http://schemas.microsoft.com/office/drawing/2014/main" id="{B2EB3AE5-E74C-D540-9DFE-25DFA4319414}"/>
              </a:ext>
            </a:extLst>
          </p:cNvPr>
          <p:cNvSpPr>
            <a:spLocks noChangeShapeType="1"/>
          </p:cNvSpPr>
          <p:nvPr/>
        </p:nvSpPr>
        <p:spPr bwMode="auto">
          <a:xfrm>
            <a:off x="5472938" y="4854810"/>
            <a:ext cx="1130012" cy="0"/>
          </a:xfrm>
          <a:prstGeom prst="line">
            <a:avLst/>
          </a:prstGeom>
          <a:noFill/>
          <a:ln w="9525">
            <a:solidFill>
              <a:srgbClr val="000000"/>
            </a:solidFill>
            <a:round/>
            <a:headEnd/>
            <a:tailEnd/>
          </a:ln>
        </p:spPr>
        <p:txBody>
          <a:bodyPr lIns="84210" tIns="42105" rIns="84210" bIns="42105"/>
          <a:lstStyle/>
          <a:p>
            <a:pPr algn="r" eaLnBrk="0" fontAlgn="base" hangingPunct="0">
              <a:spcBef>
                <a:spcPct val="0"/>
              </a:spcBef>
              <a:spcAft>
                <a:spcPct val="0"/>
              </a:spcAft>
            </a:pPr>
            <a:endParaRPr kumimoji="1" lang="en-US" sz="1600" dirty="0">
              <a:solidFill>
                <a:srgbClr val="000000"/>
              </a:solidFill>
              <a:latin typeface="Comic Sans MS" pitchFamily="66" charset="0"/>
              <a:ea typeface="ＭＳ Ｐゴシック" pitchFamily="34" charset="-128"/>
              <a:cs typeface="Arial"/>
            </a:endParaRPr>
          </a:p>
        </p:txBody>
      </p:sp>
      <p:sp>
        <p:nvSpPr>
          <p:cNvPr id="66" name="Text Box 21">
            <a:extLst>
              <a:ext uri="{FF2B5EF4-FFF2-40B4-BE49-F238E27FC236}">
                <a16:creationId xmlns:a16="http://schemas.microsoft.com/office/drawing/2014/main" id="{8403B982-CDCB-DA45-8AD3-090549F049CB}"/>
              </a:ext>
            </a:extLst>
          </p:cNvPr>
          <p:cNvSpPr txBox="1">
            <a:spLocks noChangeArrowheads="1"/>
          </p:cNvSpPr>
          <p:nvPr/>
        </p:nvSpPr>
        <p:spPr bwMode="auto">
          <a:xfrm>
            <a:off x="5864041" y="4881599"/>
            <a:ext cx="599657" cy="315859"/>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$240</a:t>
            </a:r>
          </a:p>
        </p:txBody>
      </p:sp>
      <p:sp>
        <p:nvSpPr>
          <p:cNvPr id="69" name="Text Box 24">
            <a:extLst>
              <a:ext uri="{FF2B5EF4-FFF2-40B4-BE49-F238E27FC236}">
                <a16:creationId xmlns:a16="http://schemas.microsoft.com/office/drawing/2014/main" id="{7ED75C12-2E49-914F-8D34-7F4DF660A419}"/>
              </a:ext>
            </a:extLst>
          </p:cNvPr>
          <p:cNvSpPr txBox="1">
            <a:spLocks noChangeArrowheads="1"/>
          </p:cNvSpPr>
          <p:nvPr/>
        </p:nvSpPr>
        <p:spPr bwMode="auto">
          <a:xfrm>
            <a:off x="2873768" y="5275994"/>
            <a:ext cx="1022862" cy="315865"/>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$4/pound</a:t>
            </a:r>
          </a:p>
        </p:txBody>
      </p:sp>
      <p:graphicFrame>
        <p:nvGraphicFramePr>
          <p:cNvPr id="72" name="Table 71">
            <a:extLst>
              <a:ext uri="{FF2B5EF4-FFF2-40B4-BE49-F238E27FC236}">
                <a16:creationId xmlns:a16="http://schemas.microsoft.com/office/drawing/2014/main" id="{C171CC85-52F9-4F46-A188-3C0478AA7D83}"/>
              </a:ext>
            </a:extLst>
          </p:cNvPr>
          <p:cNvGraphicFramePr>
            <a:graphicFrameLocks noGrp="1"/>
          </p:cNvGraphicFramePr>
          <p:nvPr/>
        </p:nvGraphicFramePr>
        <p:xfrm>
          <a:off x="7172708" y="3093103"/>
          <a:ext cx="4680519" cy="2050415"/>
        </p:xfrm>
        <a:graphic>
          <a:graphicData uri="http://schemas.openxmlformats.org/drawingml/2006/table">
            <a:tbl>
              <a:tblPr/>
              <a:tblGrid>
                <a:gridCol w="780087">
                  <a:extLst>
                    <a:ext uri="{9D8B030D-6E8A-4147-A177-3AD203B41FA5}">
                      <a16:colId xmlns:a16="http://schemas.microsoft.com/office/drawing/2014/main" val="20000"/>
                    </a:ext>
                  </a:extLst>
                </a:gridCol>
                <a:gridCol w="975108">
                  <a:extLst>
                    <a:ext uri="{9D8B030D-6E8A-4147-A177-3AD203B41FA5}">
                      <a16:colId xmlns:a16="http://schemas.microsoft.com/office/drawing/2014/main" val="20001"/>
                    </a:ext>
                  </a:extLst>
                </a:gridCol>
                <a:gridCol w="975108">
                  <a:extLst>
                    <a:ext uri="{9D8B030D-6E8A-4147-A177-3AD203B41FA5}">
                      <a16:colId xmlns:a16="http://schemas.microsoft.com/office/drawing/2014/main" val="20002"/>
                    </a:ext>
                  </a:extLst>
                </a:gridCol>
                <a:gridCol w="975108">
                  <a:extLst>
                    <a:ext uri="{9D8B030D-6E8A-4147-A177-3AD203B41FA5}">
                      <a16:colId xmlns:a16="http://schemas.microsoft.com/office/drawing/2014/main" val="20003"/>
                    </a:ext>
                  </a:extLst>
                </a:gridCol>
                <a:gridCol w="975108">
                  <a:extLst>
                    <a:ext uri="{9D8B030D-6E8A-4147-A177-3AD203B41FA5}">
                      <a16:colId xmlns:a16="http://schemas.microsoft.com/office/drawing/2014/main" val="20004"/>
                    </a:ext>
                  </a:extLst>
                </a:gridCol>
              </a:tblGrid>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Item  </a:t>
                      </a:r>
                      <a:r>
                        <a:rPr lang="en-US" sz="2200" b="1" i="1" dirty="0" err="1">
                          <a:latin typeface="Times New Roman"/>
                          <a:ea typeface="Times New Roman"/>
                          <a:cs typeface="Vrinda"/>
                        </a:rPr>
                        <a:t>i</a:t>
                      </a:r>
                      <a:endParaRPr lang="en-US" sz="2200" i="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Weight (</a:t>
                      </a:r>
                      <a:r>
                        <a:rPr lang="en-US" sz="2000" b="1" i="1" dirty="0" err="1">
                          <a:latin typeface="+mn-lt"/>
                          <a:ea typeface="Times New Roman"/>
                          <a:cs typeface="Vrinda"/>
                        </a:rPr>
                        <a:t>w</a:t>
                      </a:r>
                      <a:r>
                        <a:rPr lang="en-US" sz="2000" b="1" i="1" baseline="-20000" dirty="0" err="1">
                          <a:latin typeface="+mn-lt"/>
                          <a:ea typeface="Times New Roman"/>
                          <a:cs typeface="Vrinda"/>
                        </a:rPr>
                        <a:t>i</a:t>
                      </a:r>
                      <a:r>
                        <a:rPr lang="en-US" sz="2000" b="1" i="0" baseline="0" dirty="0">
                          <a:latin typeface="+mn-lt"/>
                          <a:ea typeface="Times New Roman"/>
                          <a:cs typeface="Vrinda"/>
                        </a:rPr>
                        <a:t>)</a:t>
                      </a:r>
                      <a:endParaRPr lang="en-US" sz="2200" i="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b="1" dirty="0">
                          <a:latin typeface="Times New Roman"/>
                          <a:ea typeface="Times New Roman"/>
                          <a:cs typeface="Vrinda"/>
                        </a:rPr>
                        <a:t>Value </a:t>
                      </a:r>
                      <a:r>
                        <a:rPr lang="en-US" sz="2000" b="1" dirty="0">
                          <a:latin typeface="+mn-lt"/>
                          <a:ea typeface="Times New Roman"/>
                          <a:cs typeface="Vrinda"/>
                        </a:rPr>
                        <a:t>(</a:t>
                      </a:r>
                      <a:r>
                        <a:rPr lang="en-US" sz="2000" b="1" i="1" dirty="0">
                          <a:latin typeface="+mn-lt"/>
                          <a:ea typeface="Times New Roman"/>
                          <a:cs typeface="Vrinda"/>
                        </a:rPr>
                        <a:t>v</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400" b="1" i="1" dirty="0">
                          <a:latin typeface="Times New Roman"/>
                          <a:ea typeface="Times New Roman"/>
                          <a:cs typeface="Vrinda"/>
                        </a:rPr>
                        <a:t>v</a:t>
                      </a:r>
                      <a:r>
                        <a:rPr lang="en-US" sz="2400" b="1" i="1" baseline="-20000" dirty="0">
                          <a:latin typeface="Times New Roman"/>
                          <a:ea typeface="Times New Roman"/>
                          <a:cs typeface="Vrinda"/>
                        </a:rPr>
                        <a:t>i</a:t>
                      </a:r>
                      <a:r>
                        <a:rPr lang="en-US" sz="2400" b="1" dirty="0">
                          <a:latin typeface="Times New Roman"/>
                          <a:ea typeface="Times New Roman"/>
                          <a:cs typeface="Vrinda"/>
                        </a:rPr>
                        <a:t>/</a:t>
                      </a:r>
                      <a:r>
                        <a:rPr lang="en-US" sz="2400" b="1" i="1" dirty="0" err="1">
                          <a:latin typeface="Times New Roman"/>
                          <a:ea typeface="Times New Roman"/>
                          <a:cs typeface="Vrinda"/>
                        </a:rPr>
                        <a:t>w</a:t>
                      </a:r>
                      <a:r>
                        <a:rPr lang="en-US" sz="2400" b="1" i="1" baseline="-20000" dirty="0" err="1">
                          <a:latin typeface="Times New Roman"/>
                          <a:ea typeface="Times New Roman"/>
                          <a:cs typeface="Vrinda"/>
                        </a:rPr>
                        <a:t>i</a:t>
                      </a:r>
                      <a:endParaRPr lang="en-US" sz="2400" b="1" i="1" baseline="-20000" dirty="0">
                        <a:latin typeface="Times New Roman"/>
                        <a:ea typeface="Times New Roman"/>
                        <a:cs typeface="Vrinda"/>
                      </a:endParaRP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000" b="1" dirty="0">
                          <a:latin typeface="Times New Roman"/>
                          <a:ea typeface="Times New Roman"/>
                          <a:cs typeface="Vrinda"/>
                        </a:rPr>
                        <a:t>Fraction </a:t>
                      </a:r>
                      <a:r>
                        <a:rPr lang="en-US" sz="2200" b="1" dirty="0">
                          <a:latin typeface="+mn-lt"/>
                          <a:ea typeface="Times New Roman"/>
                          <a:cs typeface="Vrinda"/>
                        </a:rPr>
                        <a:t>(</a:t>
                      </a:r>
                      <a:r>
                        <a:rPr lang="en-US" sz="2000" b="1" i="1" dirty="0">
                          <a:latin typeface="+mn-lt"/>
                          <a:ea typeface="Times New Roman"/>
                          <a:cs typeface="Vrinda"/>
                        </a:rPr>
                        <a:t>x</a:t>
                      </a:r>
                      <a:r>
                        <a:rPr lang="en-US" sz="2000" b="1" i="1" baseline="-20000" dirty="0">
                          <a:latin typeface="+mn-lt"/>
                          <a:ea typeface="Times New Roman"/>
                          <a:cs typeface="Vrinda"/>
                        </a:rPr>
                        <a:t>i</a:t>
                      </a:r>
                      <a:r>
                        <a:rPr lang="en-US" sz="2000" b="1" i="0" baseline="0" dirty="0">
                          <a:latin typeface="+mn-lt"/>
                          <a:ea typeface="Times New Roman"/>
                          <a:cs typeface="Vrinda"/>
                        </a:rPr>
                        <a:t>)</a:t>
                      </a:r>
                      <a:endParaRPr lang="en-US" sz="2000" b="1" dirty="0">
                        <a:latin typeface="Times New Roman"/>
                        <a:ea typeface="Times New Roman"/>
                        <a:cs typeface="Vrinda"/>
                      </a:endParaRPr>
                    </a:p>
                  </a:txBody>
                  <a:tcPr marL="8255" marR="8255" marT="8255"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6</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2</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100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5</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1</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a:latin typeface="Times New Roman"/>
                          <a:ea typeface="Times New Roman"/>
                          <a:cs typeface="Vrinda"/>
                        </a:rPr>
                        <a:t>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30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120</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latin typeface="Times New Roman"/>
                          <a:ea typeface="Times New Roman"/>
                          <a:cs typeface="Vrinda"/>
                        </a:rPr>
                        <a:t>4</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cs typeface="Arial"/>
                        </a:defRPr>
                      </a:lvl1pPr>
                      <a:lvl2pPr marL="457200" algn="l" defTabSz="914400" rtl="0" eaLnBrk="1" latinLnBrk="0" hangingPunct="1">
                        <a:defRPr sz="1800" kern="1200">
                          <a:solidFill>
                            <a:schemeClr val="tx1"/>
                          </a:solidFill>
                          <a:latin typeface="Times New Roman"/>
                          <a:cs typeface="Arial"/>
                        </a:defRPr>
                      </a:lvl2pPr>
                      <a:lvl3pPr marL="914400" algn="l" defTabSz="914400" rtl="0" eaLnBrk="1" latinLnBrk="0" hangingPunct="1">
                        <a:defRPr sz="1800" kern="1200">
                          <a:solidFill>
                            <a:schemeClr val="tx1"/>
                          </a:solidFill>
                          <a:latin typeface="Times New Roman"/>
                          <a:cs typeface="Arial"/>
                        </a:defRPr>
                      </a:lvl3pPr>
                      <a:lvl4pPr marL="1371600" algn="l" defTabSz="914400" rtl="0" eaLnBrk="1" latinLnBrk="0" hangingPunct="1">
                        <a:defRPr sz="1800" kern="1200">
                          <a:solidFill>
                            <a:schemeClr val="tx1"/>
                          </a:solidFill>
                          <a:latin typeface="Times New Roman"/>
                          <a:cs typeface="Arial"/>
                        </a:defRPr>
                      </a:lvl4pPr>
                      <a:lvl5pPr marL="1828800" algn="l" defTabSz="914400" rtl="0" eaLnBrk="1" latinLnBrk="0" hangingPunct="1">
                        <a:defRPr sz="1800" kern="1200">
                          <a:solidFill>
                            <a:schemeClr val="tx1"/>
                          </a:solidFill>
                          <a:latin typeface="Times New Roman"/>
                          <a:cs typeface="Arial"/>
                        </a:defRPr>
                      </a:lvl5pPr>
                      <a:lvl6pPr marL="2286000" algn="l" defTabSz="914400" rtl="0" eaLnBrk="1" latinLnBrk="0" hangingPunct="1">
                        <a:defRPr sz="1800" kern="1200">
                          <a:solidFill>
                            <a:schemeClr val="tx1"/>
                          </a:solidFill>
                          <a:latin typeface="Times New Roman"/>
                          <a:cs typeface="Arial"/>
                        </a:defRPr>
                      </a:lvl6pPr>
                      <a:lvl7pPr marL="2743200" algn="l" defTabSz="914400" rtl="0" eaLnBrk="1" latinLnBrk="0" hangingPunct="1">
                        <a:defRPr sz="1800" kern="1200">
                          <a:solidFill>
                            <a:schemeClr val="tx1"/>
                          </a:solidFill>
                          <a:latin typeface="Times New Roman"/>
                          <a:cs typeface="Arial"/>
                        </a:defRPr>
                      </a:lvl7pPr>
                      <a:lvl8pPr marL="3200400" algn="l" defTabSz="914400" rtl="0" eaLnBrk="1" latinLnBrk="0" hangingPunct="1">
                        <a:defRPr sz="1800" kern="1200">
                          <a:solidFill>
                            <a:schemeClr val="tx1"/>
                          </a:solidFill>
                          <a:latin typeface="Times New Roman"/>
                          <a:cs typeface="Arial"/>
                        </a:defRPr>
                      </a:lvl8pPr>
                      <a:lvl9pPr marL="3657600" algn="l" defTabSz="914400" rtl="0" eaLnBrk="1" latinLnBrk="0" hangingPunct="1">
                        <a:defRPr sz="1800" kern="1200">
                          <a:solidFill>
                            <a:schemeClr val="tx1"/>
                          </a:solidFill>
                          <a:latin typeface="Times New Roman"/>
                          <a:cs typeface="Arial"/>
                        </a:defRPr>
                      </a:lvl9pPr>
                    </a:lstStyle>
                    <a:p>
                      <a:pPr marL="0" marR="0" algn="ctr">
                        <a:spcBef>
                          <a:spcPts val="200"/>
                        </a:spcBef>
                        <a:spcAft>
                          <a:spcPts val="200"/>
                        </a:spcAft>
                      </a:pPr>
                      <a:r>
                        <a:rPr lang="en-US" sz="2200" dirty="0">
                          <a:solidFill>
                            <a:srgbClr val="0000CC"/>
                          </a:solidFill>
                          <a:latin typeface="Times New Roman"/>
                          <a:ea typeface="Times New Roman"/>
                          <a:cs typeface="Vrinda"/>
                        </a:rPr>
                        <a:t>2/3</a:t>
                      </a:r>
                    </a:p>
                  </a:txBody>
                  <a:tcPr marL="8255" marR="8255" marT="825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TextBox 2">
            <a:extLst>
              <a:ext uri="{FF2B5EF4-FFF2-40B4-BE49-F238E27FC236}">
                <a16:creationId xmlns:a16="http://schemas.microsoft.com/office/drawing/2014/main" id="{309C63DC-3AAB-724D-8699-60D54F567FB4}"/>
              </a:ext>
            </a:extLst>
          </p:cNvPr>
          <p:cNvSpPr txBox="1"/>
          <p:nvPr/>
        </p:nvSpPr>
        <p:spPr>
          <a:xfrm>
            <a:off x="5544770" y="2955464"/>
            <a:ext cx="493174" cy="338554"/>
          </a:xfrm>
          <a:prstGeom prst="rect">
            <a:avLst/>
          </a:prstGeom>
          <a:noFill/>
        </p:spPr>
        <p:txBody>
          <a:bodyPr wrap="square" rtlCol="0">
            <a:spAutoFit/>
          </a:bodyPr>
          <a:lstStyle/>
          <a:p>
            <a:r>
              <a:rPr lang="en-US" sz="1600" b="1" dirty="0">
                <a:latin typeface="Times" pitchFamily="2" charset="0"/>
              </a:rPr>
              <a:t>20</a:t>
            </a:r>
          </a:p>
        </p:txBody>
      </p:sp>
      <p:sp>
        <p:nvSpPr>
          <p:cNvPr id="25" name="AutoShape 17">
            <a:extLst>
              <a:ext uri="{FF2B5EF4-FFF2-40B4-BE49-F238E27FC236}">
                <a16:creationId xmlns:a16="http://schemas.microsoft.com/office/drawing/2014/main" id="{DD73E74B-9055-7D45-BBFF-288EE78082C4}"/>
              </a:ext>
            </a:extLst>
          </p:cNvPr>
          <p:cNvSpPr>
            <a:spLocks noChangeArrowheads="1"/>
          </p:cNvSpPr>
          <p:nvPr/>
        </p:nvSpPr>
        <p:spPr bwMode="auto">
          <a:xfrm>
            <a:off x="5601385" y="2622608"/>
            <a:ext cx="252557" cy="855540"/>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20</a:t>
            </a:r>
          </a:p>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30</a:t>
            </a:r>
          </a:p>
        </p:txBody>
      </p:sp>
      <p:cxnSp>
        <p:nvCxnSpPr>
          <p:cNvPr id="5" name="Straight Connector 4">
            <a:extLst>
              <a:ext uri="{FF2B5EF4-FFF2-40B4-BE49-F238E27FC236}">
                <a16:creationId xmlns:a16="http://schemas.microsoft.com/office/drawing/2014/main" id="{9A518A46-CA82-9240-9A80-7868E684636A}"/>
              </a:ext>
            </a:extLst>
          </p:cNvPr>
          <p:cNvCxnSpPr>
            <a:stCxn id="25" idx="1"/>
            <a:endCxn id="25" idx="3"/>
          </p:cNvCxnSpPr>
          <p:nvPr/>
        </p:nvCxnSpPr>
        <p:spPr>
          <a:xfrm>
            <a:off x="5601385" y="3050378"/>
            <a:ext cx="252557" cy="0"/>
          </a:xfrm>
          <a:prstGeom prst="line">
            <a:avLst/>
          </a:prstGeom>
          <a:ln w="19050">
            <a:solidFill>
              <a:schemeClr val="tx1">
                <a:lumMod val="95000"/>
                <a:lumOff val="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Text Box 19">
            <a:extLst>
              <a:ext uri="{FF2B5EF4-FFF2-40B4-BE49-F238E27FC236}">
                <a16:creationId xmlns:a16="http://schemas.microsoft.com/office/drawing/2014/main" id="{990D09A1-642F-6044-9BAB-052A208E5D01}"/>
              </a:ext>
            </a:extLst>
          </p:cNvPr>
          <p:cNvSpPr txBox="1">
            <a:spLocks noChangeArrowheads="1"/>
          </p:cNvSpPr>
          <p:nvPr/>
        </p:nvSpPr>
        <p:spPr bwMode="auto">
          <a:xfrm>
            <a:off x="5928984" y="2873057"/>
            <a:ext cx="492257" cy="654413"/>
          </a:xfrm>
          <a:prstGeom prst="rect">
            <a:avLst/>
          </a:prstGeom>
          <a:noFill/>
          <a:ln w="9525">
            <a:noFill/>
            <a:miter lim="800000"/>
            <a:headEnd/>
            <a:tailEnd/>
          </a:ln>
        </p:spPr>
        <p:txBody>
          <a:bodyPr wrap="none" lIns="84204" tIns="42102" rIns="84204" bIns="42102">
            <a:spAutoFit/>
          </a:bodyPr>
          <a:lstStyle/>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$80</a:t>
            </a:r>
          </a:p>
          <a:p>
            <a:pPr defTabSz="840642" fontAlgn="base">
              <a:spcBef>
                <a:spcPct val="0"/>
              </a:spcBef>
              <a:spcAft>
                <a:spcPct val="0"/>
              </a:spcAft>
            </a:pPr>
            <a:endParaRPr lang="en-US" sz="700" b="1" dirty="0">
              <a:solidFill>
                <a:srgbClr val="000000"/>
              </a:solidFill>
              <a:latin typeface="Arial" charset="0"/>
              <a:ea typeface="ＭＳ Ｐゴシック" pitchFamily="34" charset="-128"/>
              <a:cs typeface="Arial"/>
            </a:endParaRPr>
          </a:p>
          <a:p>
            <a:pP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  +</a:t>
            </a:r>
          </a:p>
        </p:txBody>
      </p:sp>
      <p:sp>
        <p:nvSpPr>
          <p:cNvPr id="29" name="AutoShape 6">
            <a:extLst>
              <a:ext uri="{FF2B5EF4-FFF2-40B4-BE49-F238E27FC236}">
                <a16:creationId xmlns:a16="http://schemas.microsoft.com/office/drawing/2014/main" id="{3D68A6A8-B610-824E-A89E-048F0462484E}"/>
              </a:ext>
            </a:extLst>
          </p:cNvPr>
          <p:cNvSpPr>
            <a:spLocks noChangeArrowheads="1"/>
          </p:cNvSpPr>
          <p:nvPr/>
        </p:nvSpPr>
        <p:spPr bwMode="auto">
          <a:xfrm>
            <a:off x="3205703" y="4335400"/>
            <a:ext cx="252557" cy="428625"/>
          </a:xfrm>
          <a:prstGeom prst="roundRect">
            <a:avLst>
              <a:gd name="adj" fmla="val 16667"/>
            </a:avLst>
          </a:prstGeom>
          <a:solidFill>
            <a:srgbClr val="FFFFFF"/>
          </a:solidFill>
          <a:ln w="25400">
            <a:solidFill>
              <a:srgbClr val="000000"/>
            </a:solidFill>
            <a:round/>
            <a:headEnd/>
            <a:tailEnd/>
          </a:ln>
        </p:spPr>
        <p:txBody>
          <a:bodyPr wrap="none" lIns="84204" tIns="42102" rIns="84204" bIns="42102" anchor="ctr"/>
          <a:lstStyle/>
          <a:p>
            <a:pPr algn="ctr" defTabSz="840642" fontAlgn="base">
              <a:spcBef>
                <a:spcPct val="0"/>
              </a:spcBef>
              <a:spcAft>
                <a:spcPct val="0"/>
              </a:spcAft>
            </a:pPr>
            <a:r>
              <a:rPr lang="en-US" sz="1500" b="1" dirty="0">
                <a:solidFill>
                  <a:srgbClr val="000000"/>
                </a:solidFill>
                <a:latin typeface="Arial" charset="0"/>
                <a:ea typeface="ＭＳ Ｐゴシック" pitchFamily="34" charset="-128"/>
                <a:cs typeface="Arial"/>
              </a:rPr>
              <a:t>10</a:t>
            </a:r>
          </a:p>
        </p:txBody>
      </p:sp>
    </p:spTree>
    <p:extLst>
      <p:ext uri="{BB962C8B-B14F-4D97-AF65-F5344CB8AC3E}">
        <p14:creationId xmlns:p14="http://schemas.microsoft.com/office/powerpoint/2010/main" val="1161391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8C3E9-CC98-9A40-8B07-0B09E6E84E26}"/>
              </a:ext>
            </a:extLst>
          </p:cNvPr>
          <p:cNvSpPr>
            <a:spLocks noGrp="1"/>
          </p:cNvSpPr>
          <p:nvPr>
            <p:ph type="title"/>
          </p:nvPr>
        </p:nvSpPr>
        <p:spPr/>
        <p:txBody>
          <a:bodyPr/>
          <a:lstStyle/>
          <a:p>
            <a:r>
              <a:rPr lang="en-US" dirty="0"/>
              <a:t>Fractional Knapsack problem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09458A-F3D5-C542-A466-B071D894DFE2}"/>
                  </a:ext>
                </a:extLst>
              </p:cNvPr>
              <p:cNvSpPr txBox="1"/>
              <p:nvPr/>
            </p:nvSpPr>
            <p:spPr>
              <a:xfrm>
                <a:off x="1576346" y="1900166"/>
                <a:ext cx="6607534" cy="4375813"/>
              </a:xfrm>
              <a:prstGeom prst="rect">
                <a:avLst/>
              </a:prstGeom>
              <a:solidFill>
                <a:srgbClr val="ECECEC"/>
              </a:solidFill>
            </p:spPr>
            <p:txBody>
              <a:bodyPr wrap="square" rtlCol="0">
                <a:spAutoFit/>
              </a:bodyPr>
              <a:lstStyle/>
              <a:p>
                <a:r>
                  <a:rPr lang="en-US" sz="2000" dirty="0">
                    <a:latin typeface="Times" pitchFamily="2" charset="0"/>
                  </a:rPr>
                  <a:t>Greedy-Fractional-Knapsack (</a:t>
                </a:r>
                <a14:m>
                  <m:oMath xmlns:m="http://schemas.openxmlformats.org/officeDocument/2006/math">
                    <m:r>
                      <a:rPr lang="en-US" sz="2000" b="0" i="1" dirty="0" smtClean="0">
                        <a:latin typeface="Cambria Math" panose="02040503050406030204" pitchFamily="18" charset="0"/>
                      </a:rPr>
                      <m:t>𝑊</m:t>
                    </m:r>
                    <m:d>
                      <m:dPr>
                        <m:begChr m:val="["/>
                        <m:endChr m:val="]"/>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𝑤</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𝑤</m:t>
                            </m:r>
                          </m:e>
                          <m:sub>
                            <m:r>
                              <a:rPr lang="en-US" sz="2000" b="0" i="1" dirty="0" smtClean="0">
                                <a:latin typeface="Cambria Math" panose="02040503050406030204" pitchFamily="18" charset="0"/>
                              </a:rPr>
                              <m:t>𝑛</m:t>
                            </m:r>
                          </m:sub>
                        </m:sSub>
                      </m:e>
                    </m:d>
                    <m:r>
                      <a:rPr lang="en-US" sz="2000" i="1" dirty="0" smtClean="0">
                        <a:latin typeface="Cambria Math" panose="02040503050406030204" pitchFamily="18" charset="0"/>
                      </a:rPr>
                      <m:t>, </m:t>
                    </m:r>
                    <m:r>
                      <a:rPr lang="en-US" sz="2000" b="0" i="1" dirty="0" smtClean="0">
                        <a:latin typeface="Cambria Math" panose="02040503050406030204" pitchFamily="18" charset="0"/>
                      </a:rPr>
                      <m:t>𝑉</m:t>
                    </m:r>
                    <m:d>
                      <m:dPr>
                        <m:begChr m:val="["/>
                        <m:endChr m:val="]"/>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𝑛</m:t>
                            </m:r>
                          </m:sub>
                        </m:sSub>
                      </m:e>
                    </m:d>
                    <m:r>
                      <a:rPr lang="en-US" sz="2000" b="0" i="1" dirty="0" smtClean="0">
                        <a:latin typeface="Cambria Math" panose="02040503050406030204" pitchFamily="18" charset="0"/>
                      </a:rPr>
                      <m:t>, </m:t>
                    </m:r>
                    <m:r>
                      <a:rPr lang="en-US" sz="2000" b="0" i="1" dirty="0" smtClean="0">
                        <a:latin typeface="Cambria Math" panose="02040503050406030204" pitchFamily="18" charset="0"/>
                      </a:rPr>
                      <m:t>𝐶</m:t>
                    </m:r>
                  </m:oMath>
                </a14:m>
                <a:r>
                  <a:rPr lang="en-US" sz="2000" dirty="0">
                    <a:latin typeface="Times" pitchFamily="2" charset="0"/>
                  </a:rPr>
                  <a:t>)</a:t>
                </a:r>
              </a:p>
              <a:p>
                <a:endParaRPr lang="en-US" sz="1000" i="1" dirty="0">
                  <a:latin typeface="Times" pitchFamily="2" charset="0"/>
                </a:endParaRPr>
              </a:p>
              <a:p>
                <a:pPr marL="457200" indent="-457200">
                  <a:buAutoNum type="arabicPlain"/>
                </a:pPr>
                <a:r>
                  <a:rPr lang="en-US" dirty="0">
                    <a:latin typeface="Times" pitchFamily="2" charset="0"/>
                  </a:rPr>
                  <a:t>sort arrays </a:t>
                </a:r>
                <a14:m>
                  <m:oMath xmlns:m="http://schemas.openxmlformats.org/officeDocument/2006/math">
                    <m:r>
                      <a:rPr lang="en-US" b="0" i="1" dirty="0" smtClean="0">
                        <a:latin typeface="Cambria Math" panose="02040503050406030204" pitchFamily="18" charset="0"/>
                      </a:rPr>
                      <m:t>𝑊</m:t>
                    </m:r>
                    <m:r>
                      <a:rPr lang="en-US" b="0" i="1" dirty="0" smtClean="0">
                        <a:latin typeface="Cambria Math" panose="02040503050406030204" pitchFamily="18" charset="0"/>
                      </a:rPr>
                      <m:t> </m:t>
                    </m:r>
                  </m:oMath>
                </a14:m>
                <a:r>
                  <a:rPr lang="en-US" dirty="0">
                    <a:latin typeface="Times" pitchFamily="2" charset="0"/>
                  </a:rPr>
                  <a:t>and </a:t>
                </a:r>
                <a14:m>
                  <m:oMath xmlns:m="http://schemas.openxmlformats.org/officeDocument/2006/math">
                    <m:r>
                      <a:rPr lang="en-US" b="0" i="1" dirty="0" smtClean="0">
                        <a:latin typeface="Cambria Math" panose="02040503050406030204" pitchFamily="18" charset="0"/>
                      </a:rPr>
                      <m:t>𝑉</m:t>
                    </m:r>
                  </m:oMath>
                </a14:m>
                <a:r>
                  <a:rPr lang="en-US" dirty="0">
                    <a:latin typeface="Times" pitchFamily="2" charset="0"/>
                  </a:rPr>
                  <a:t> based on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𝑤</m:t>
                        </m:r>
                      </m:e>
                      <m:sub>
                        <m:r>
                          <a:rPr lang="en-US" b="0" i="1" dirty="0" smtClean="0">
                            <a:latin typeface="Cambria Math" panose="02040503050406030204" pitchFamily="18" charset="0"/>
                          </a:rPr>
                          <m:t>𝑖</m:t>
                        </m:r>
                      </m:sub>
                    </m:sSub>
                  </m:oMath>
                </a14:m>
                <a:r>
                  <a:rPr lang="en-US" dirty="0">
                    <a:latin typeface="Times" pitchFamily="2" charset="0"/>
                  </a:rPr>
                  <a:t> for each item </a:t>
                </a:r>
                <a14:m>
                  <m:oMath xmlns:m="http://schemas.openxmlformats.org/officeDocument/2006/math">
                    <m:r>
                      <a:rPr lang="en-US" i="1">
                        <a:latin typeface="Cambria Math" panose="02040503050406030204" pitchFamily="18" charset="0"/>
                      </a:rPr>
                      <m:t>𝑖</m:t>
                    </m:r>
                  </m:oMath>
                </a14:m>
                <a:endParaRPr lang="en-US" dirty="0">
                  <a:latin typeface="Times" pitchFamily="2" charset="0"/>
                </a:endParaRPr>
              </a:p>
              <a:p>
                <a:pPr marL="457200" indent="-457200">
                  <a:buFontTx/>
                  <a:buAutoNum type="arabicPlain"/>
                </a:pPr>
                <a:r>
                  <a:rPr lang="en-US" dirty="0">
                    <a:latin typeface="Times" pitchFamily="2" charset="0"/>
                  </a:rPr>
                  <a:t>for  </a:t>
                </a:r>
                <a14:m>
                  <m:oMath xmlns:m="http://schemas.openxmlformats.org/officeDocument/2006/math">
                    <m:r>
                      <a:rPr lang="en-US" b="0" i="1" smtClean="0">
                        <a:latin typeface="Cambria Math" panose="02040503050406030204" pitchFamily="18" charset="0"/>
                      </a:rPr>
                      <m:t>𝑖</m:t>
                    </m:r>
                    <m:r>
                      <a:rPr lang="en-US" i="1">
                        <a:latin typeface="Cambria Math" panose="02040503050406030204" pitchFamily="18" charset="0"/>
                      </a:rPr>
                      <m:t>        </m:t>
                    </m:r>
                    <m:r>
                      <a:rPr lang="en-US" b="0" i="1" smtClean="0">
                        <a:latin typeface="Cambria Math" panose="02040503050406030204" pitchFamily="18" charset="0"/>
                      </a:rPr>
                      <m:t>1</m:t>
                    </m:r>
                  </m:oMath>
                </a14:m>
                <a:r>
                  <a:rPr lang="en-US" dirty="0">
                    <a:latin typeface="Times" pitchFamily="2" charset="0"/>
                  </a:rPr>
                  <a:t> to </a:t>
                </a:r>
                <a14:m>
                  <m:oMath xmlns:m="http://schemas.openxmlformats.org/officeDocument/2006/math">
                    <m:r>
                      <a:rPr lang="en-US" i="1">
                        <a:latin typeface="Cambria Math" panose="02040503050406030204" pitchFamily="18" charset="0"/>
                      </a:rPr>
                      <m:t>𝑛</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0</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        1</m:t>
                    </m:r>
                  </m:oMath>
                </a14:m>
                <a:endParaRPr lang="en-US" dirty="0">
                  <a:latin typeface="Times" pitchFamily="2" charset="0"/>
                </a:endParaRPr>
              </a:p>
              <a:p>
                <a:pPr marL="457200" indent="-457200">
                  <a:buFontTx/>
                  <a:buAutoNum type="arabicPlain"/>
                </a:pPr>
                <a:r>
                  <a:rPr lang="en-US" dirty="0">
                    <a:latin typeface="Times" pitchFamily="2" charset="0"/>
                  </a:rPr>
                  <a:t>while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&gt;0 </m:t>
                    </m:r>
                    <m:r>
                      <a:rPr lang="en-US" b="0" i="1" smtClean="0">
                        <a:latin typeface="Cambria Math" panose="02040503050406030204" pitchFamily="18" charset="0"/>
                      </a:rPr>
                      <m:t>𝑎𝑛𝑑</m:t>
                    </m:r>
                    <m:r>
                      <a:rPr lang="en-US" i="1">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latin typeface="Times" pitchFamily="2" charset="0"/>
                </a:endParaRPr>
              </a:p>
              <a:p>
                <a:pPr marL="457200" indent="-457200">
                  <a:buFontTx/>
                  <a:buAutoNum type="arabicPlain"/>
                </a:pPr>
                <a:r>
                  <a:rPr lang="en-US" dirty="0">
                    <a:latin typeface="Times" pitchFamily="2" charset="0"/>
                  </a:rPr>
                  <a:t>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𝐶</m:t>
                    </m:r>
                    <m:r>
                      <a:rPr lang="en-US" i="1">
                        <a:latin typeface="Cambria Math" panose="02040503050406030204" pitchFamily="18" charset="0"/>
                      </a:rPr>
                      <m:t> </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1</m:t>
                    </m:r>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oMath>
                </a14:m>
                <a:endParaRPr lang="en-US" dirty="0">
                  <a:latin typeface="Times" pitchFamily="2" charset="0"/>
                </a:endParaRPr>
              </a:p>
              <a:p>
                <a:pPr marL="457200" indent="-457200">
                  <a:buFontTx/>
                  <a:buAutoNum type="arabicPlain"/>
                </a:pPr>
                <a:r>
                  <a:rPr lang="en-US" dirty="0">
                    <a:latin typeface="Times" pitchFamily="2" charset="0"/>
                  </a:rPr>
                  <a:t> 	   else</a:t>
                </a: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oMath>
                </a14:m>
                <a:endParaRPr lang="en-US"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b="0" i="1" smtClean="0">
                        <a:latin typeface="Cambria Math" panose="02040503050406030204" pitchFamily="18" charset="0"/>
                      </a:rPr>
                      <m:t>𝐶</m:t>
                    </m:r>
                    <m:r>
                      <a:rPr lang="en-US" i="1">
                        <a:latin typeface="Cambria Math" panose="02040503050406030204" pitchFamily="18" charset="0"/>
                      </a:rPr>
                      <m:t>        </m:t>
                    </m:r>
                    <m:r>
                      <a:rPr lang="en-US" b="0" i="1" smtClean="0">
                        <a:latin typeface="Cambria Math" panose="02040503050406030204" pitchFamily="18" charset="0"/>
                      </a:rPr>
                      <m:t>0</m:t>
                    </m:r>
                  </m:oMath>
                </a14:m>
                <a:endParaRPr lang="en-US" b="0" dirty="0">
                  <a:latin typeface="Times" pitchFamily="2" charset="0"/>
                </a:endParaRPr>
              </a:p>
              <a:p>
                <a:pPr marL="457200" indent="-457200">
                  <a:buFontTx/>
                  <a:buAutoNum type="arabicPlain"/>
                </a:pPr>
                <a:r>
                  <a:rPr lang="en-US" dirty="0">
                    <a:latin typeface="Times" pitchFamily="2" charset="0"/>
                  </a:rPr>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+1</m:t>
                    </m:r>
                  </m:oMath>
                </a14:m>
                <a:endParaRPr lang="en-US" dirty="0">
                  <a:latin typeface="Times" pitchFamily="2" charset="0"/>
                </a:endParaRPr>
              </a:p>
              <a:p>
                <a:pPr marL="457200" indent="-457200">
                  <a:buFontTx/>
                  <a:buAutoNum type="arabicPlain"/>
                </a:pPr>
                <a:r>
                  <a:rPr lang="en-US" dirty="0">
                    <a:latin typeface="Times" pitchFamily="2" charset="0"/>
                  </a:rPr>
                  <a:t>return </a:t>
                </a:r>
                <a14:m>
                  <m:oMath xmlns:m="http://schemas.openxmlformats.org/officeDocument/2006/math">
                    <m:r>
                      <a:rPr lang="en-US" i="1">
                        <a:latin typeface="Cambria Math" panose="02040503050406030204" pitchFamily="18" charset="0"/>
                      </a:rPr>
                      <m:t>𝐴</m:t>
                    </m:r>
                  </m:oMath>
                </a14:m>
                <a:endParaRPr lang="en-US" dirty="0">
                  <a:latin typeface="Times" pitchFamily="2" charset="0"/>
                </a:endParaRPr>
              </a:p>
            </p:txBody>
          </p:sp>
        </mc:Choice>
        <mc:Fallback xmlns="">
          <p:sp>
            <p:nvSpPr>
              <p:cNvPr id="4" name="TextBox 3">
                <a:extLst>
                  <a:ext uri="{FF2B5EF4-FFF2-40B4-BE49-F238E27FC236}">
                    <a16:creationId xmlns:a16="http://schemas.microsoft.com/office/drawing/2014/main" id="{BE09458A-F3D5-C542-A466-B071D894DFE2}"/>
                  </a:ext>
                </a:extLst>
              </p:cNvPr>
              <p:cNvSpPr txBox="1">
                <a:spLocks noRot="1" noChangeAspect="1" noMove="1" noResize="1" noEditPoints="1" noAdjustHandles="1" noChangeArrowheads="1" noChangeShapeType="1" noTextEdit="1"/>
              </p:cNvSpPr>
              <p:nvPr/>
            </p:nvSpPr>
            <p:spPr>
              <a:xfrm>
                <a:off x="1576346" y="1900166"/>
                <a:ext cx="6607534" cy="4375813"/>
              </a:xfrm>
              <a:prstGeom prst="rect">
                <a:avLst/>
              </a:prstGeom>
              <a:blipFill>
                <a:blip r:embed="rId2"/>
                <a:stretch>
                  <a:fillRect l="-960" t="-8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B836E60-D32F-FB4A-92B8-4A6A3285B711}"/>
                  </a:ext>
                </a:extLst>
              </p:cNvPr>
              <p:cNvSpPr txBox="1"/>
              <p:nvPr/>
            </p:nvSpPr>
            <p:spPr>
              <a:xfrm>
                <a:off x="1481726" y="6373368"/>
                <a:ext cx="6202017" cy="369332"/>
              </a:xfrm>
              <a:prstGeom prst="rect">
                <a:avLst/>
              </a:prstGeom>
              <a:noFill/>
            </p:spPr>
            <p:txBody>
              <a:bodyPr wrap="square" rtlCol="0">
                <a:spAutoFit/>
              </a:bodyPr>
              <a:lstStyle/>
              <a:p>
                <a:r>
                  <a:rPr lang="en-US" dirty="0">
                    <a:latin typeface="Times" pitchFamily="2" charset="0"/>
                  </a:rPr>
                  <a:t>Running time is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err="1" smtClean="0">
                        <a:latin typeface="Cambria Math" panose="02040503050406030204" pitchFamily="18" charset="0"/>
                      </a:rPr>
                      <m:t>𝑛𝑙𝑜𝑔𝑛</m:t>
                    </m:r>
                    <m:r>
                      <a:rPr lang="en-US" i="1" dirty="0" smtClean="0">
                        <a:latin typeface="Cambria Math" panose="02040503050406030204" pitchFamily="18" charset="0"/>
                      </a:rPr>
                      <m:t>)</m:t>
                    </m:r>
                  </m:oMath>
                </a14:m>
                <a:r>
                  <a:rPr lang="en-US" dirty="0"/>
                  <a:t> </a:t>
                </a:r>
                <a:r>
                  <a:rPr lang="en-US" dirty="0">
                    <a:sym typeface="Wingdings" pitchFamily="2" charset="2"/>
                  </a:rPr>
                  <a:t> </a:t>
                </a:r>
                <a:r>
                  <a:rPr lang="en-US" i="0" dirty="0">
                    <a:latin typeface="Times" pitchFamily="2" charset="0"/>
                    <a:sym typeface="Wingdings" pitchFamily="2" charset="2"/>
                  </a:rPr>
                  <a:t>from sorting operation</a:t>
                </a:r>
                <a:endParaRPr lang="en-US" dirty="0">
                  <a:latin typeface="Times" pitchFamily="2" charset="0"/>
                </a:endParaRPr>
              </a:p>
            </p:txBody>
          </p:sp>
        </mc:Choice>
        <mc:Fallback xmlns="">
          <p:sp>
            <p:nvSpPr>
              <p:cNvPr id="5" name="TextBox 4">
                <a:extLst>
                  <a:ext uri="{FF2B5EF4-FFF2-40B4-BE49-F238E27FC236}">
                    <a16:creationId xmlns:a16="http://schemas.microsoft.com/office/drawing/2014/main" id="{BB836E60-D32F-FB4A-92B8-4A6A3285B711}"/>
                  </a:ext>
                </a:extLst>
              </p:cNvPr>
              <p:cNvSpPr txBox="1">
                <a:spLocks noRot="1" noChangeAspect="1" noMove="1" noResize="1" noEditPoints="1" noAdjustHandles="1" noChangeArrowheads="1" noChangeShapeType="1" noTextEdit="1"/>
              </p:cNvSpPr>
              <p:nvPr/>
            </p:nvSpPr>
            <p:spPr>
              <a:xfrm>
                <a:off x="1481726" y="6373368"/>
                <a:ext cx="6202017" cy="369332"/>
              </a:xfrm>
              <a:prstGeom prst="rect">
                <a:avLst/>
              </a:prstGeom>
              <a:blipFill>
                <a:blip r:embed="rId3"/>
                <a:stretch>
                  <a:fillRect l="-818" t="-10345" b="-27586"/>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6721CC53-AA60-6E4F-9184-7B07B3ABD758}"/>
              </a:ext>
            </a:extLst>
          </p:cNvPr>
          <p:cNvCxnSpPr>
            <a:cxnSpLocks/>
          </p:cNvCxnSpPr>
          <p:nvPr/>
        </p:nvCxnSpPr>
        <p:spPr>
          <a:xfrm flipH="1">
            <a:off x="2608026" y="283225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E4B7239F-2604-0A45-B19A-9C614A868D43}"/>
              </a:ext>
            </a:extLst>
          </p:cNvPr>
          <p:cNvCxnSpPr>
            <a:cxnSpLocks/>
          </p:cNvCxnSpPr>
          <p:nvPr/>
        </p:nvCxnSpPr>
        <p:spPr>
          <a:xfrm flipH="1">
            <a:off x="3074370" y="310657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D9808739-6647-D540-837D-70B4827A63FF}"/>
              </a:ext>
            </a:extLst>
          </p:cNvPr>
          <p:cNvCxnSpPr>
            <a:cxnSpLocks/>
          </p:cNvCxnSpPr>
          <p:nvPr/>
        </p:nvCxnSpPr>
        <p:spPr>
          <a:xfrm flipH="1">
            <a:off x="2278842" y="3380895"/>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91ED2E66-526B-794B-A529-04DDDEC9E7EC}"/>
              </a:ext>
            </a:extLst>
          </p:cNvPr>
          <p:cNvCxnSpPr>
            <a:cxnSpLocks/>
          </p:cNvCxnSpPr>
          <p:nvPr/>
        </p:nvCxnSpPr>
        <p:spPr>
          <a:xfrm flipH="1">
            <a:off x="3668730" y="421299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A9FF0D6B-9A2D-5546-9CAC-A7EAC345E891}"/>
              </a:ext>
            </a:extLst>
          </p:cNvPr>
          <p:cNvCxnSpPr>
            <a:cxnSpLocks/>
          </p:cNvCxnSpPr>
          <p:nvPr/>
        </p:nvCxnSpPr>
        <p:spPr>
          <a:xfrm flipH="1">
            <a:off x="3449274" y="4496463"/>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40E2FD4-F8CA-4F4B-BCE7-9E7AB94D8ADB}"/>
              </a:ext>
            </a:extLst>
          </p:cNvPr>
          <p:cNvCxnSpPr>
            <a:cxnSpLocks/>
          </p:cNvCxnSpPr>
          <p:nvPr/>
        </p:nvCxnSpPr>
        <p:spPr>
          <a:xfrm flipH="1">
            <a:off x="3716436" y="508167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0812588E-CEA5-D24B-8491-E6E0ED684328}"/>
              </a:ext>
            </a:extLst>
          </p:cNvPr>
          <p:cNvCxnSpPr>
            <a:cxnSpLocks/>
          </p:cNvCxnSpPr>
          <p:nvPr/>
        </p:nvCxnSpPr>
        <p:spPr>
          <a:xfrm flipH="1">
            <a:off x="3487836" y="5355999"/>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3F24639A-15AE-1F40-B6F2-5335BA807812}"/>
              </a:ext>
            </a:extLst>
          </p:cNvPr>
          <p:cNvCxnSpPr>
            <a:cxnSpLocks/>
          </p:cNvCxnSpPr>
          <p:nvPr/>
        </p:nvCxnSpPr>
        <p:spPr>
          <a:xfrm flipH="1">
            <a:off x="2856900" y="5648607"/>
            <a:ext cx="365760"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82502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6E154F-BFD4-2349-94EE-A34790ABA0DA}"/>
              </a:ext>
            </a:extLst>
          </p:cNvPr>
          <p:cNvSpPr>
            <a:spLocks noGrp="1"/>
          </p:cNvSpPr>
          <p:nvPr>
            <p:ph idx="1"/>
          </p:nvPr>
        </p:nvSpPr>
        <p:spPr/>
        <p:txBody>
          <a:bodyPr/>
          <a:lstStyle/>
          <a:p>
            <a:pPr marL="0" indent="0" algn="ctr">
              <a:buNone/>
            </a:pPr>
            <a:r>
              <a:rPr lang="en-US" dirty="0">
                <a:latin typeface="Times" pitchFamily="2" charset="0"/>
              </a:rPr>
              <a:t>Let’s get back a bit to </a:t>
            </a:r>
            <a:r>
              <a:rPr lang="en-US" i="1" dirty="0">
                <a:latin typeface="Times" pitchFamily="2" charset="0"/>
              </a:rPr>
              <a:t>Graph Theory</a:t>
            </a:r>
          </a:p>
        </p:txBody>
      </p:sp>
    </p:spTree>
    <p:extLst>
      <p:ext uri="{BB962C8B-B14F-4D97-AF65-F5344CB8AC3E}">
        <p14:creationId xmlns:p14="http://schemas.microsoft.com/office/powerpoint/2010/main" val="6574400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Trees and Forests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r>
                  <a:rPr lang="en-US" dirty="0"/>
                  <a:t>Tree </a:t>
                </a:r>
              </a:p>
              <a:p>
                <a:pPr lvl="1"/>
                <a:r>
                  <a:rPr lang="en-US" b="1" dirty="0"/>
                  <a:t>undirected, connected </a:t>
                </a:r>
                <a:r>
                  <a:rPr lang="en-US" dirty="0"/>
                  <a:t>and</a:t>
                </a:r>
                <a:r>
                  <a:rPr lang="en-US" b="1" dirty="0"/>
                  <a:t> acyclic graph</a:t>
                </a:r>
              </a:p>
              <a:p>
                <a:pPr lvl="1"/>
                <a:r>
                  <a:rPr lang="en-US" dirty="0"/>
                  <a:t>a connected graph that does not contain any single cycle is called a tree</a:t>
                </a:r>
              </a:p>
              <a:p>
                <a:pPr lvl="1"/>
                <a:r>
                  <a:rPr lang="en-US" dirty="0"/>
                  <a:t>vertices of trees are called their nodes and the edges of the tree are called branches</a:t>
                </a:r>
              </a:p>
              <a:p>
                <a:pPr lvl="1"/>
                <a:r>
                  <a:rPr lang="en-US" dirty="0"/>
                  <a:t>a tree with </a:t>
                </a:r>
                <a14:m>
                  <m:oMath xmlns:m="http://schemas.openxmlformats.org/officeDocument/2006/math">
                    <m:r>
                      <a:rPr lang="en-US" i="1" dirty="0" smtClean="0">
                        <a:latin typeface="Cambria Math" panose="02040503050406030204" pitchFamily="18" charset="0"/>
                      </a:rPr>
                      <m:t>𝑛</m:t>
                    </m:r>
                  </m:oMath>
                </a14:m>
                <a:r>
                  <a:rPr lang="en-US" dirty="0"/>
                  <a:t> vertices has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r>
                  <a:rPr lang="en-US" dirty="0"/>
                  <a:t>) edges</a:t>
                </a:r>
              </a:p>
              <a:p>
                <a:pPr lvl="1"/>
                <a:r>
                  <a:rPr lang="en-US" b="1" dirty="0"/>
                  <a:t>leaf</a:t>
                </a:r>
                <a:r>
                  <a:rPr lang="en-US" dirty="0"/>
                  <a:t> in a tree is a vertex of degree </a:t>
                </a:r>
                <a14:m>
                  <m:oMath xmlns:m="http://schemas.openxmlformats.org/officeDocument/2006/math">
                    <m:r>
                      <a:rPr lang="en-US" i="1" dirty="0" smtClean="0">
                        <a:latin typeface="Cambria Math" panose="02040503050406030204" pitchFamily="18" charset="0"/>
                      </a:rPr>
                      <m:t>1</m:t>
                    </m:r>
                  </m:oMath>
                </a14:m>
                <a:endParaRPr lang="en-US" dirty="0"/>
              </a:p>
            </p:txBody>
          </p:sp>
        </mc:Choice>
        <mc:Fallback xmlns="">
          <p:sp>
            <p:nvSpPr>
              <p:cNvPr id="3" name="Content Placeholder 2">
                <a:extLst>
                  <a:ext uri="{FF2B5EF4-FFF2-40B4-BE49-F238E27FC236}">
                    <a16:creationId xmlns:a16="http://schemas.microsoft.com/office/drawing/2014/main" id="{C799AA95-83C7-D942-BB42-15ECFF1A8D03}"/>
                  </a:ext>
                </a:extLst>
              </p:cNvPr>
              <p:cNvSpPr>
                <a:spLocks noGrp="1" noRot="1" noChangeAspect="1" noMove="1" noResize="1" noEditPoints="1" noAdjustHandles="1" noChangeArrowheads="1" noChangeShapeType="1" noTextEdit="1"/>
              </p:cNvSpPr>
              <p:nvPr>
                <p:ph idx="1"/>
              </p:nvPr>
            </p:nvSpPr>
            <p:spPr>
              <a:blipFill>
                <a:blip r:embed="rId2"/>
                <a:stretch>
                  <a:fillRect l="-378" t="-1563"/>
                </a:stretch>
              </a:blipFill>
            </p:spPr>
            <p:txBody>
              <a:bodyPr/>
              <a:lstStyle/>
              <a:p>
                <a:r>
                  <a:rPr lang="en-US">
                    <a:noFill/>
                  </a:rPr>
                  <a:t> </a:t>
                </a:r>
              </a:p>
            </p:txBody>
          </p:sp>
        </mc:Fallback>
      </mc:AlternateContent>
      <p:pic>
        <p:nvPicPr>
          <p:cNvPr id="5" name="Picture 4" descr="A picture containing text, watch, clock&#10;&#10;Description automatically generated">
            <a:extLst>
              <a:ext uri="{FF2B5EF4-FFF2-40B4-BE49-F238E27FC236}">
                <a16:creationId xmlns:a16="http://schemas.microsoft.com/office/drawing/2014/main" id="{1547AD99-1B35-8949-BA8F-4DB22773D2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1304" y="3849624"/>
            <a:ext cx="2092670" cy="2441448"/>
          </a:xfrm>
          <a:prstGeom prst="rect">
            <a:avLst/>
          </a:prstGeom>
        </p:spPr>
      </p:pic>
    </p:spTree>
    <p:extLst>
      <p:ext uri="{BB962C8B-B14F-4D97-AF65-F5344CB8AC3E}">
        <p14:creationId xmlns:p14="http://schemas.microsoft.com/office/powerpoint/2010/main" val="22269896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Trees and Forests</a:t>
            </a:r>
          </a:p>
        </p:txBody>
      </p:sp>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r>
              <a:rPr lang="en-US" dirty="0"/>
              <a:t>Forest </a:t>
            </a:r>
          </a:p>
          <a:p>
            <a:pPr lvl="1"/>
            <a:r>
              <a:rPr lang="en-US" b="1" dirty="0"/>
              <a:t>undirected, disconnected </a:t>
            </a:r>
            <a:r>
              <a:rPr lang="en-US" dirty="0"/>
              <a:t>and</a:t>
            </a:r>
            <a:r>
              <a:rPr lang="en-US" b="1" dirty="0"/>
              <a:t> acyclic graph</a:t>
            </a:r>
          </a:p>
          <a:p>
            <a:pPr lvl="1"/>
            <a:r>
              <a:rPr lang="en-US" dirty="0"/>
              <a:t>collection of disjoint trees</a:t>
            </a:r>
          </a:p>
        </p:txBody>
      </p:sp>
      <p:pic>
        <p:nvPicPr>
          <p:cNvPr id="6" name="Picture 5" descr="Chart&#10;&#10;Description automatically generated">
            <a:extLst>
              <a:ext uri="{FF2B5EF4-FFF2-40B4-BE49-F238E27FC236}">
                <a16:creationId xmlns:a16="http://schemas.microsoft.com/office/drawing/2014/main" id="{7171E0CC-ECAA-2C48-9893-B02770223F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503" y="3845258"/>
            <a:ext cx="3928873" cy="1994201"/>
          </a:xfrm>
          <a:prstGeom prst="rect">
            <a:avLst/>
          </a:prstGeom>
        </p:spPr>
      </p:pic>
    </p:spTree>
    <p:extLst>
      <p:ext uri="{BB962C8B-B14F-4D97-AF65-F5344CB8AC3E}">
        <p14:creationId xmlns:p14="http://schemas.microsoft.com/office/powerpoint/2010/main" val="2266711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Spanning Tree</a:t>
            </a:r>
          </a:p>
        </p:txBody>
      </p:sp>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pPr marL="0" indent="0">
              <a:buNone/>
            </a:pPr>
            <a:r>
              <a:rPr lang="en-US" dirty="0"/>
              <a:t>Given an undirected and connected graph G = (V, E). A spanning tree of the graph G is a tree that spans G (includes every vertex of G) and is a subgraph of G (every edge in the tree belongs to G)</a:t>
            </a:r>
            <a:br>
              <a:rPr lang="en-US" dirty="0"/>
            </a:br>
            <a:endParaRPr lang="en-US" dirty="0"/>
          </a:p>
        </p:txBody>
      </p:sp>
      <p:pic>
        <p:nvPicPr>
          <p:cNvPr id="5" name="Picture 4" descr="Shape&#10;&#10;Description automatically generated">
            <a:extLst>
              <a:ext uri="{FF2B5EF4-FFF2-40B4-BE49-F238E27FC236}">
                <a16:creationId xmlns:a16="http://schemas.microsoft.com/office/drawing/2014/main" id="{285045A3-5E5D-9C4E-8CE9-F9CCFFF272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62507">
            <a:off x="3094710" y="3085197"/>
            <a:ext cx="4203903" cy="3384142"/>
          </a:xfrm>
          <a:prstGeom prst="rect">
            <a:avLst/>
          </a:prstGeom>
        </p:spPr>
      </p:pic>
    </p:spTree>
    <p:extLst>
      <p:ext uri="{BB962C8B-B14F-4D97-AF65-F5344CB8AC3E}">
        <p14:creationId xmlns:p14="http://schemas.microsoft.com/office/powerpoint/2010/main" val="1996497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264B-A809-F349-ABB5-A0E5255E26AB}"/>
              </a:ext>
            </a:extLst>
          </p:cNvPr>
          <p:cNvSpPr>
            <a:spLocks noGrp="1"/>
          </p:cNvSpPr>
          <p:nvPr>
            <p:ph type="title"/>
          </p:nvPr>
        </p:nvSpPr>
        <p:spPr/>
        <p:txBody>
          <a:bodyPr/>
          <a:lstStyle/>
          <a:p>
            <a:r>
              <a:rPr lang="en-US" dirty="0"/>
              <a:t>Minimum Spanning Tree</a:t>
            </a:r>
          </a:p>
        </p:txBody>
      </p:sp>
      <p:sp>
        <p:nvSpPr>
          <p:cNvPr id="3" name="Content Placeholder 2">
            <a:extLst>
              <a:ext uri="{FF2B5EF4-FFF2-40B4-BE49-F238E27FC236}">
                <a16:creationId xmlns:a16="http://schemas.microsoft.com/office/drawing/2014/main" id="{C799AA95-83C7-D942-BB42-15ECFF1A8D03}"/>
              </a:ext>
            </a:extLst>
          </p:cNvPr>
          <p:cNvSpPr>
            <a:spLocks noGrp="1"/>
          </p:cNvSpPr>
          <p:nvPr>
            <p:ph idx="1"/>
          </p:nvPr>
        </p:nvSpPr>
        <p:spPr/>
        <p:txBody>
          <a:bodyPr/>
          <a:lstStyle/>
          <a:p>
            <a:r>
              <a:rPr lang="en-US" dirty="0"/>
              <a:t>A graph can have multiple spanning trees</a:t>
            </a:r>
          </a:p>
          <a:p>
            <a:r>
              <a:rPr lang="en-US" dirty="0"/>
              <a:t>The cost of the spanning tree is the sum of the weights of all the edges in the tree</a:t>
            </a:r>
          </a:p>
          <a:p>
            <a:r>
              <a:rPr lang="en-US" dirty="0"/>
              <a:t>Minimum spanning tree is the spanning tree where the cost is minimum among all the spanning trees</a:t>
            </a:r>
          </a:p>
          <a:p>
            <a:r>
              <a:rPr lang="en-US" dirty="0"/>
              <a:t>There also can be many minimum spanning trees</a:t>
            </a:r>
          </a:p>
        </p:txBody>
      </p:sp>
      <p:pic>
        <p:nvPicPr>
          <p:cNvPr id="6" name="Picture 5" descr="Chart&#10;&#10;Description automatically generated">
            <a:extLst>
              <a:ext uri="{FF2B5EF4-FFF2-40B4-BE49-F238E27FC236}">
                <a16:creationId xmlns:a16="http://schemas.microsoft.com/office/drawing/2014/main" id="{BCB5D1D0-5D6D-6946-A380-D8E9B51F4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1675" y="4005072"/>
            <a:ext cx="5714737" cy="2549652"/>
          </a:xfrm>
          <a:prstGeom prst="rect">
            <a:avLst/>
          </a:prstGeom>
        </p:spPr>
      </p:pic>
    </p:spTree>
    <p:extLst>
      <p:ext uri="{BB962C8B-B14F-4D97-AF65-F5344CB8AC3E}">
        <p14:creationId xmlns:p14="http://schemas.microsoft.com/office/powerpoint/2010/main" val="584635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p:txBody>
          <a:bodyPr/>
          <a:lstStyle/>
          <a:p>
            <a:r>
              <a:rPr lang="en-US" dirty="0"/>
              <a:t>FINDING MINIMUM spanning tree</a:t>
            </a:r>
          </a:p>
        </p:txBody>
      </p:sp>
      <p:sp>
        <p:nvSpPr>
          <p:cNvPr id="3" name="Content Placeholder 2">
            <a:extLst>
              <a:ext uri="{FF2B5EF4-FFF2-40B4-BE49-F238E27FC236}">
                <a16:creationId xmlns:a16="http://schemas.microsoft.com/office/drawing/2014/main" id="{0E782AD3-A0DF-CE4B-A5AC-19C92A931FCF}"/>
              </a:ext>
            </a:extLst>
          </p:cNvPr>
          <p:cNvSpPr>
            <a:spLocks noGrp="1"/>
          </p:cNvSpPr>
          <p:nvPr>
            <p:ph idx="1"/>
          </p:nvPr>
        </p:nvSpPr>
        <p:spPr/>
        <p:txBody>
          <a:bodyPr/>
          <a:lstStyle/>
          <a:p>
            <a:r>
              <a:rPr lang="en-US" dirty="0"/>
              <a:t>Use greedy techniques</a:t>
            </a:r>
          </a:p>
          <a:p>
            <a:r>
              <a:rPr lang="en-US" dirty="0"/>
              <a:t>Food for thought</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824869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t>10</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3822045107"/>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Tree>
    <p:extLst>
      <p:ext uri="{BB962C8B-B14F-4D97-AF65-F5344CB8AC3E}">
        <p14:creationId xmlns:p14="http://schemas.microsoft.com/office/powerpoint/2010/main" val="36941816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2745350986"/>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Tree>
    <p:extLst>
      <p:ext uri="{BB962C8B-B14F-4D97-AF65-F5344CB8AC3E}">
        <p14:creationId xmlns:p14="http://schemas.microsoft.com/office/powerpoint/2010/main" val="30985725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665204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3753288983"/>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14849535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4209356418"/>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651512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654792618"/>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1645620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211926773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553792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230487523"/>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D4B4708-5E33-F643-A96C-D6AFE4F925F7}"/>
              </a:ext>
            </a:extLst>
          </p:cNvPr>
          <p:cNvCxnSpPr>
            <a:cxnSpLocks/>
            <a:stCxn id="48" idx="0"/>
            <a:endCxn id="52" idx="4"/>
          </p:cNvCxnSpPr>
          <p:nvPr/>
        </p:nvCxnSpPr>
        <p:spPr>
          <a:xfrm flipV="1">
            <a:off x="8429244" y="3777997"/>
            <a:ext cx="4572" cy="60350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74" name="TextBox 73">
            <a:extLst>
              <a:ext uri="{FF2B5EF4-FFF2-40B4-BE49-F238E27FC236}">
                <a16:creationId xmlns:a16="http://schemas.microsoft.com/office/drawing/2014/main" id="{D7251DD3-4ECC-CE41-A210-A79365BD6F9D}"/>
              </a:ext>
            </a:extLst>
          </p:cNvPr>
          <p:cNvSpPr txBox="1"/>
          <p:nvPr/>
        </p:nvSpPr>
        <p:spPr>
          <a:xfrm>
            <a:off x="8445351" y="3895082"/>
            <a:ext cx="309700" cy="369332"/>
          </a:xfrm>
          <a:prstGeom prst="rect">
            <a:avLst/>
          </a:prstGeom>
          <a:noFill/>
        </p:spPr>
        <p:txBody>
          <a:bodyPr wrap="none" rtlCol="0">
            <a:spAutoFit/>
          </a:bodyPr>
          <a:lstStyle/>
          <a:p>
            <a:r>
              <a:rPr lang="en-US" dirty="0">
                <a:solidFill>
                  <a:schemeClr val="accent1">
                    <a:lumMod val="60000"/>
                    <a:lumOff val="40000"/>
                  </a:schemeClr>
                </a:solidFill>
              </a:rPr>
              <a:t>6</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890202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187158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98583477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1" name="Oval 40">
            <a:extLst>
              <a:ext uri="{FF2B5EF4-FFF2-40B4-BE49-F238E27FC236}">
                <a16:creationId xmlns:a16="http://schemas.microsoft.com/office/drawing/2014/main" id="{50D97669-4246-D74C-8E22-B71547CF5138}"/>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3" name="Oval 42">
            <a:extLst>
              <a:ext uri="{FF2B5EF4-FFF2-40B4-BE49-F238E27FC236}">
                <a16:creationId xmlns:a16="http://schemas.microsoft.com/office/drawing/2014/main" id="{113419CC-7669-A44C-9970-FCFA0B0CF1E0}"/>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20587C34-F9AB-A242-94A3-DC5447FFB49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6" name="Oval 45">
            <a:extLst>
              <a:ext uri="{FF2B5EF4-FFF2-40B4-BE49-F238E27FC236}">
                <a16:creationId xmlns:a16="http://schemas.microsoft.com/office/drawing/2014/main" id="{7E4E97CB-3592-0A45-B06E-2DCCEC061AB4}"/>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7" name="Oval 46">
            <a:extLst>
              <a:ext uri="{FF2B5EF4-FFF2-40B4-BE49-F238E27FC236}">
                <a16:creationId xmlns:a16="http://schemas.microsoft.com/office/drawing/2014/main" id="{C2A09E1E-1FE5-E24C-B9C2-AB45FBCC5B36}"/>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8" name="Oval 47">
            <a:extLst>
              <a:ext uri="{FF2B5EF4-FFF2-40B4-BE49-F238E27FC236}">
                <a16:creationId xmlns:a16="http://schemas.microsoft.com/office/drawing/2014/main" id="{AC25985C-240B-9E44-9F59-D6D1D46B56A8}"/>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9" name="Oval 48">
            <a:extLst>
              <a:ext uri="{FF2B5EF4-FFF2-40B4-BE49-F238E27FC236}">
                <a16:creationId xmlns:a16="http://schemas.microsoft.com/office/drawing/2014/main" id="{968B74D5-44E3-FD40-B99A-A5EE7FE0FE80}"/>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 name="Oval 50">
            <a:extLst>
              <a:ext uri="{FF2B5EF4-FFF2-40B4-BE49-F238E27FC236}">
                <a16:creationId xmlns:a16="http://schemas.microsoft.com/office/drawing/2014/main" id="{5DEB2892-9CCC-9B42-9BD1-2EEB1F3174B4}"/>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52" name="Oval 51">
            <a:extLst>
              <a:ext uri="{FF2B5EF4-FFF2-40B4-BE49-F238E27FC236}">
                <a16:creationId xmlns:a16="http://schemas.microsoft.com/office/drawing/2014/main" id="{53C9362A-BB7E-6D4C-A6CD-85DC9048B0CE}"/>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3" name="Straight Connector 52">
            <a:extLst>
              <a:ext uri="{FF2B5EF4-FFF2-40B4-BE49-F238E27FC236}">
                <a16:creationId xmlns:a16="http://schemas.microsoft.com/office/drawing/2014/main" id="{B51A3FA5-8409-4245-91B7-D83FD483DADE}"/>
              </a:ext>
            </a:extLst>
          </p:cNvPr>
          <p:cNvCxnSpPr>
            <a:cxnSpLocks/>
            <a:stCxn id="41" idx="7"/>
            <a:endCxn id="43"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990A5DF-E5AA-CE43-98AF-F099FC80EBBB}"/>
              </a:ext>
            </a:extLst>
          </p:cNvPr>
          <p:cNvCxnSpPr>
            <a:cxnSpLocks/>
            <a:stCxn id="44" idx="7"/>
            <a:endCxn id="5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F525A40-0461-8B49-B312-423F1A9DD164}"/>
              </a:ext>
            </a:extLst>
          </p:cNvPr>
          <p:cNvCxnSpPr>
            <a:cxnSpLocks/>
            <a:stCxn id="44" idx="0"/>
            <a:endCxn id="43"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1DF453A-4CA5-BB4D-9B50-4256286F2BCF}"/>
              </a:ext>
            </a:extLst>
          </p:cNvPr>
          <p:cNvCxnSpPr>
            <a:cxnSpLocks/>
            <a:stCxn id="43" idx="6"/>
            <a:endCxn id="46"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C2C8D8-8722-DF46-BE81-CA77DC5B40BC}"/>
              </a:ext>
            </a:extLst>
          </p:cNvPr>
          <p:cNvCxnSpPr>
            <a:cxnSpLocks/>
            <a:stCxn id="47" idx="2"/>
            <a:endCxn id="46"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BC79FD-9F48-A849-A3F6-81062412519E}"/>
              </a:ext>
            </a:extLst>
          </p:cNvPr>
          <p:cNvCxnSpPr>
            <a:cxnSpLocks/>
            <a:stCxn id="44" idx="6"/>
            <a:endCxn id="48"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4F6BEAE-6DF3-8A4A-A6B2-A556434EA04A}"/>
              </a:ext>
            </a:extLst>
          </p:cNvPr>
          <p:cNvCxnSpPr>
            <a:cxnSpLocks/>
            <a:stCxn id="48" idx="6"/>
            <a:endCxn id="49"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520A5ED-A72A-914B-A101-00CDCE31F0B4}"/>
              </a:ext>
            </a:extLst>
          </p:cNvPr>
          <p:cNvCxnSpPr>
            <a:cxnSpLocks/>
            <a:stCxn id="49" idx="6"/>
            <a:endCxn id="5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E3D87CA-AC02-1549-BB5E-281B6E5AEC14}"/>
              </a:ext>
            </a:extLst>
          </p:cNvPr>
          <p:cNvCxnSpPr>
            <a:cxnSpLocks/>
            <a:stCxn id="47" idx="6"/>
            <a:endCxn id="5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E581C6-2B78-B449-BA74-329C698D46DD}"/>
              </a:ext>
            </a:extLst>
          </p:cNvPr>
          <p:cNvCxnSpPr>
            <a:cxnSpLocks/>
            <a:stCxn id="47" idx="4"/>
            <a:endCxn id="49"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ACCFD8-AA1C-3D44-B8BF-7FF8DBD5855D}"/>
              </a:ext>
            </a:extLst>
          </p:cNvPr>
          <p:cNvCxnSpPr>
            <a:cxnSpLocks/>
            <a:stCxn id="52" idx="0"/>
            <a:endCxn id="46"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B8760E8-F5CC-E747-AC8D-709D850B385E}"/>
              </a:ext>
            </a:extLst>
          </p:cNvPr>
          <p:cNvCxnSpPr>
            <a:cxnSpLocks/>
            <a:stCxn id="46" idx="5"/>
            <a:endCxn id="49"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9632E00-D078-4F4A-ABDF-F8A71BD906AF}"/>
              </a:ext>
            </a:extLst>
          </p:cNvPr>
          <p:cNvCxnSpPr>
            <a:cxnSpLocks/>
            <a:stCxn id="41" idx="5"/>
            <a:endCxn id="44"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9E0064-3A03-304F-9848-4EEDF1554306}"/>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70" name="TextBox 69">
            <a:extLst>
              <a:ext uri="{FF2B5EF4-FFF2-40B4-BE49-F238E27FC236}">
                <a16:creationId xmlns:a16="http://schemas.microsoft.com/office/drawing/2014/main" id="{4DDECAA9-1880-ED45-8A86-B4036B2EE598}"/>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71" name="TextBox 70">
            <a:extLst>
              <a:ext uri="{FF2B5EF4-FFF2-40B4-BE49-F238E27FC236}">
                <a16:creationId xmlns:a16="http://schemas.microsoft.com/office/drawing/2014/main" id="{77E7E7ED-F08A-5A4D-B86D-294CB135E85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72" name="TextBox 71">
            <a:extLst>
              <a:ext uri="{FF2B5EF4-FFF2-40B4-BE49-F238E27FC236}">
                <a16:creationId xmlns:a16="http://schemas.microsoft.com/office/drawing/2014/main" id="{3AF456C6-B734-AB4E-855F-664E465E502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73" name="TextBox 72">
            <a:extLst>
              <a:ext uri="{FF2B5EF4-FFF2-40B4-BE49-F238E27FC236}">
                <a16:creationId xmlns:a16="http://schemas.microsoft.com/office/drawing/2014/main" id="{8421E47D-AD1D-874D-B03E-E88621E5087E}"/>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75" name="TextBox 74">
            <a:extLst>
              <a:ext uri="{FF2B5EF4-FFF2-40B4-BE49-F238E27FC236}">
                <a16:creationId xmlns:a16="http://schemas.microsoft.com/office/drawing/2014/main" id="{9110F7CC-066F-A247-AEBF-08C6C571F7B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76" name="TextBox 75">
            <a:extLst>
              <a:ext uri="{FF2B5EF4-FFF2-40B4-BE49-F238E27FC236}">
                <a16:creationId xmlns:a16="http://schemas.microsoft.com/office/drawing/2014/main" id="{6460E596-4D7B-7344-A246-42038AE0092F}"/>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77" name="TextBox 76">
            <a:extLst>
              <a:ext uri="{FF2B5EF4-FFF2-40B4-BE49-F238E27FC236}">
                <a16:creationId xmlns:a16="http://schemas.microsoft.com/office/drawing/2014/main" id="{A05BA306-9A80-2B4E-9097-D178FECCE1E8}"/>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78" name="TextBox 77">
            <a:extLst>
              <a:ext uri="{FF2B5EF4-FFF2-40B4-BE49-F238E27FC236}">
                <a16:creationId xmlns:a16="http://schemas.microsoft.com/office/drawing/2014/main" id="{E73107BA-AF15-5845-8767-015F85AF7A98}"/>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79" name="TextBox 78">
            <a:extLst>
              <a:ext uri="{FF2B5EF4-FFF2-40B4-BE49-F238E27FC236}">
                <a16:creationId xmlns:a16="http://schemas.microsoft.com/office/drawing/2014/main" id="{8A0E3EAA-E7AC-4E4C-B48F-BD7D64FC1C6C}"/>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80" name="TextBox 79">
            <a:extLst>
              <a:ext uri="{FF2B5EF4-FFF2-40B4-BE49-F238E27FC236}">
                <a16:creationId xmlns:a16="http://schemas.microsoft.com/office/drawing/2014/main" id="{997A6EC4-D3D3-8144-ACCA-39AE4FD8797D}"/>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81" name="TextBox 80">
            <a:extLst>
              <a:ext uri="{FF2B5EF4-FFF2-40B4-BE49-F238E27FC236}">
                <a16:creationId xmlns:a16="http://schemas.microsoft.com/office/drawing/2014/main" id="{DA01D41F-F8C5-4D42-B5A1-7BE56754A8D4}"/>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82" name="TextBox 81">
            <a:extLst>
              <a:ext uri="{FF2B5EF4-FFF2-40B4-BE49-F238E27FC236}">
                <a16:creationId xmlns:a16="http://schemas.microsoft.com/office/drawing/2014/main" id="{CCF7DCA3-140D-BE46-A5B9-AE24675BD850}"/>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893174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391849260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B09985D-484E-BB4C-A86D-5AF64C4F425E}"/>
              </a:ext>
            </a:extLst>
          </p:cNvPr>
          <p:cNvCxnSpPr>
            <a:cxnSpLocks/>
            <a:stCxn id="50" idx="7"/>
            <a:endCxn id="86" idx="3"/>
          </p:cNvCxnSpPr>
          <p:nvPr/>
        </p:nvCxnSpPr>
        <p:spPr>
          <a:xfrm flipV="1">
            <a:off x="7056081" y="3723094"/>
            <a:ext cx="1245186" cy="714833"/>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9FCE430-27A1-FE41-8F84-3AE68032620C}"/>
              </a:ext>
            </a:extLst>
          </p:cNvPr>
          <p:cNvCxnSpPr>
            <a:cxnSpLocks/>
            <a:stCxn id="45" idx="6"/>
            <a:endCxn id="62"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8" name="TextBox 107">
            <a:extLst>
              <a:ext uri="{FF2B5EF4-FFF2-40B4-BE49-F238E27FC236}">
                <a16:creationId xmlns:a16="http://schemas.microsoft.com/office/drawing/2014/main" id="{348974BC-C564-1D4E-B743-F665CE2AD4ED}"/>
              </a:ext>
            </a:extLst>
          </p:cNvPr>
          <p:cNvSpPr txBox="1"/>
          <p:nvPr/>
        </p:nvSpPr>
        <p:spPr>
          <a:xfrm>
            <a:off x="7482512" y="3757782"/>
            <a:ext cx="309700" cy="369332"/>
          </a:xfrm>
          <a:prstGeom prst="rect">
            <a:avLst/>
          </a:prstGeom>
          <a:noFill/>
        </p:spPr>
        <p:txBody>
          <a:bodyPr wrap="none" rtlCol="0">
            <a:spAutoFit/>
          </a:bodyPr>
          <a:lstStyle/>
          <a:p>
            <a:r>
              <a:rPr lang="en-US" dirty="0">
                <a:solidFill>
                  <a:schemeClr val="accent1">
                    <a:lumMod val="60000"/>
                    <a:lumOff val="40000"/>
                  </a:schemeClr>
                </a:solidFill>
              </a:rPr>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3" name="TextBox 112">
            <a:extLst>
              <a:ext uri="{FF2B5EF4-FFF2-40B4-BE49-F238E27FC236}">
                <a16:creationId xmlns:a16="http://schemas.microsoft.com/office/drawing/2014/main" id="{E8F8D414-0D4D-494D-AE52-70AB2689D647}"/>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2273722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9FCE430-27A1-FE41-8F84-3AE68032620C}"/>
              </a:ext>
            </a:extLst>
          </p:cNvPr>
          <p:cNvCxnSpPr>
            <a:cxnSpLocks/>
            <a:stCxn id="45" idx="6"/>
            <a:endCxn id="62"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3" name="TextBox 112">
            <a:extLst>
              <a:ext uri="{FF2B5EF4-FFF2-40B4-BE49-F238E27FC236}">
                <a16:creationId xmlns:a16="http://schemas.microsoft.com/office/drawing/2014/main" id="{E8F8D414-0D4D-494D-AE52-70AB2689D647}"/>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22025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1881713339"/>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A9FCE430-27A1-FE41-8F84-3AE68032620C}"/>
              </a:ext>
            </a:extLst>
          </p:cNvPr>
          <p:cNvCxnSpPr>
            <a:cxnSpLocks/>
            <a:stCxn id="45" idx="6"/>
            <a:endCxn id="62"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3" name="TextBox 112">
            <a:extLst>
              <a:ext uri="{FF2B5EF4-FFF2-40B4-BE49-F238E27FC236}">
                <a16:creationId xmlns:a16="http://schemas.microsoft.com/office/drawing/2014/main" id="{E8F8D414-0D4D-494D-AE52-70AB2689D647}"/>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3322667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4228211680"/>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2153647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extLst>
              <p:ext uri="{D42A27DB-BD31-4B8C-83A1-F6EECF244321}">
                <p14:modId xmlns:p14="http://schemas.microsoft.com/office/powerpoint/2010/main" val="877748142"/>
              </p:ext>
            </p:extLst>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30E850F3-2FA1-C24C-9FC4-A8D20DF47E46}"/>
              </a:ext>
            </a:extLst>
          </p:cNvPr>
          <p:cNvCxnSpPr>
            <a:cxnSpLocks/>
            <a:stCxn id="50" idx="0"/>
            <a:endCxn id="4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045CBB8-CD36-E245-988A-D3574B0AE0B2}"/>
              </a:ext>
            </a:extLst>
          </p:cNvPr>
          <p:cNvCxnSpPr>
            <a:cxnSpLocks/>
            <a:stCxn id="84" idx="6"/>
            <a:endCxn id="85"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904057-773B-074C-BEB4-AF4DD803486D}"/>
              </a:ext>
            </a:extLst>
          </p:cNvPr>
          <p:cNvCxnSpPr>
            <a:cxnSpLocks/>
            <a:stCxn id="65" idx="4"/>
            <a:endCxn id="84"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111" name="TextBox 110">
            <a:extLst>
              <a:ext uri="{FF2B5EF4-FFF2-40B4-BE49-F238E27FC236}">
                <a16:creationId xmlns:a16="http://schemas.microsoft.com/office/drawing/2014/main" id="{5D5E9785-245E-244A-AA52-E3E9C1CA7A67}"/>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112" name="TextBox 111">
            <a:extLst>
              <a:ext uri="{FF2B5EF4-FFF2-40B4-BE49-F238E27FC236}">
                <a16:creationId xmlns:a16="http://schemas.microsoft.com/office/drawing/2014/main" id="{E0C4A54E-C9DD-0B49-97D2-E6AF676B83D8}"/>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114" name="TextBox 113">
            <a:extLst>
              <a:ext uri="{FF2B5EF4-FFF2-40B4-BE49-F238E27FC236}">
                <a16:creationId xmlns:a16="http://schemas.microsoft.com/office/drawing/2014/main" id="{4AB9C2CB-57BD-2B42-AFB0-C11F5C15F6C6}"/>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Tree>
    <p:extLst>
      <p:ext uri="{BB962C8B-B14F-4D97-AF65-F5344CB8AC3E}">
        <p14:creationId xmlns:p14="http://schemas.microsoft.com/office/powerpoint/2010/main" val="32299463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graphicFrame>
        <p:nvGraphicFramePr>
          <p:cNvPr id="13" name="Table 15">
            <a:extLst>
              <a:ext uri="{FF2B5EF4-FFF2-40B4-BE49-F238E27FC236}">
                <a16:creationId xmlns:a16="http://schemas.microsoft.com/office/drawing/2014/main" id="{6D68354A-B5C6-5242-9D93-5AB5220D33EC}"/>
              </a:ext>
            </a:extLst>
          </p:cNvPr>
          <p:cNvGraphicFramePr>
            <a:graphicFrameLocks noGrp="1"/>
          </p:cNvGraphicFramePr>
          <p:nvPr/>
        </p:nvGraphicFramePr>
        <p:xfrm>
          <a:off x="1204468" y="921512"/>
          <a:ext cx="2105151" cy="5562600"/>
        </p:xfrm>
        <a:graphic>
          <a:graphicData uri="http://schemas.openxmlformats.org/drawingml/2006/table">
            <a:tbl>
              <a:tblPr firstRow="1" bandRow="1">
                <a:tableStyleId>{5C22544A-7EE6-4342-B048-85BDC9FD1C3A}</a:tableStyleId>
              </a:tblPr>
              <a:tblGrid>
                <a:gridCol w="788415">
                  <a:extLst>
                    <a:ext uri="{9D8B030D-6E8A-4147-A177-3AD203B41FA5}">
                      <a16:colId xmlns:a16="http://schemas.microsoft.com/office/drawing/2014/main" val="217921470"/>
                    </a:ext>
                  </a:extLst>
                </a:gridCol>
                <a:gridCol w="758952">
                  <a:extLst>
                    <a:ext uri="{9D8B030D-6E8A-4147-A177-3AD203B41FA5}">
                      <a16:colId xmlns:a16="http://schemas.microsoft.com/office/drawing/2014/main" val="2900534092"/>
                    </a:ext>
                  </a:extLst>
                </a:gridCol>
                <a:gridCol w="557784">
                  <a:extLst>
                    <a:ext uri="{9D8B030D-6E8A-4147-A177-3AD203B41FA5}">
                      <a16:colId xmlns:a16="http://schemas.microsoft.com/office/drawing/2014/main" val="714051762"/>
                    </a:ext>
                  </a:extLst>
                </a:gridCol>
              </a:tblGrid>
              <a:tr h="370840">
                <a:tc>
                  <a:txBody>
                    <a:bodyPr/>
                    <a:lstStyle/>
                    <a:p>
                      <a:r>
                        <a:rPr lang="en-US" sz="1600" dirty="0">
                          <a:solidFill>
                            <a:schemeClr val="tx1"/>
                          </a:solidFill>
                          <a:latin typeface="Times" pitchFamily="2" charset="0"/>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err="1">
                          <a:solidFill>
                            <a:schemeClr val="tx1"/>
                          </a:solidFill>
                          <a:latin typeface="Times" pitchFamily="2" charset="0"/>
                        </a:rPr>
                        <a:t>dest</a:t>
                      </a:r>
                      <a:endParaRPr lang="en-US" sz="1600" dirty="0">
                        <a:solidFill>
                          <a:schemeClr val="tx1"/>
                        </a:solidFill>
                        <a:latin typeface="Time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06170"/>
                  </a:ext>
                </a:extLst>
              </a:tr>
              <a:tr h="370840">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24965378"/>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16931279"/>
                  </a:ext>
                </a:extLst>
              </a:tr>
              <a:tr h="370840">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294403474"/>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97302911"/>
                  </a:ext>
                </a:extLst>
              </a:tr>
              <a:tr h="370840">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752707653"/>
                  </a:ext>
                </a:extLst>
              </a:tr>
              <a:tr h="370840">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06390122"/>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56409898"/>
                  </a:ext>
                </a:extLst>
              </a:tr>
              <a:tr h="370840">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227658748"/>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48945892"/>
                  </a:ext>
                </a:extLst>
              </a:tr>
              <a:tr h="370840">
                <a:tc>
                  <a:txBody>
                    <a:bodyPr/>
                    <a:lstStyle/>
                    <a:p>
                      <a:r>
                        <a:rPr lang="en-US" sz="1600" dirty="0">
                          <a:solidFill>
                            <a:schemeClr val="tx1"/>
                          </a:solidFill>
                          <a:latin typeface="Times" pitchFamily="2"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US" sz="1600" dirty="0">
                          <a:solidFill>
                            <a:schemeClr val="tx1"/>
                          </a:solidFill>
                          <a:latin typeface="Times" pitchFamily="2"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07857646"/>
                  </a:ext>
                </a:extLst>
              </a:tr>
              <a:tr h="370840">
                <a:tc>
                  <a:txBody>
                    <a:bodyPr/>
                    <a:lstStyle/>
                    <a:p>
                      <a:r>
                        <a:rPr lang="en-US" sz="1600" dirty="0">
                          <a:solidFill>
                            <a:schemeClr val="tx1"/>
                          </a:solidFill>
                          <a:latin typeface="Times" pitchFamily="2"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3263429551"/>
                  </a:ext>
                </a:extLst>
              </a:tr>
              <a:tr h="370840">
                <a:tc>
                  <a:txBody>
                    <a:bodyPr/>
                    <a:lstStyle/>
                    <a:p>
                      <a:r>
                        <a:rPr lang="en-US" sz="1600" dirty="0">
                          <a:solidFill>
                            <a:schemeClr val="tx1"/>
                          </a:solidFill>
                          <a:latin typeface="Times" pitchFamily="2"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100940"/>
                  </a:ext>
                </a:extLst>
              </a:tr>
              <a:tr h="370840">
                <a:tc>
                  <a:txBody>
                    <a:bodyPr/>
                    <a:lstStyle/>
                    <a:p>
                      <a:r>
                        <a:rPr lang="en-US" sz="1600" dirty="0">
                          <a:solidFill>
                            <a:schemeClr val="tx1"/>
                          </a:solidFill>
                          <a:latin typeface="Times" pitchFamily="2"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0853724"/>
                  </a:ext>
                </a:extLst>
              </a:tr>
              <a:tr h="370840">
                <a:tc>
                  <a:txBody>
                    <a:bodyPr/>
                    <a:lstStyle/>
                    <a:p>
                      <a:r>
                        <a:rPr lang="en-US" sz="1600" dirty="0">
                          <a:solidFill>
                            <a:schemeClr val="tx1"/>
                          </a:solidFill>
                          <a:latin typeface="Times" pitchFamily="2"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chemeClr val="tx1"/>
                          </a:solidFill>
                          <a:latin typeface="Times" pitchFamily="2"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71131"/>
                  </a:ext>
                </a:extLst>
              </a:tr>
            </a:tbl>
          </a:graphicData>
        </a:graphic>
      </p:graphicFrame>
      <p:sp>
        <p:nvSpPr>
          <p:cNvPr id="42" name="Oval 41">
            <a:extLst>
              <a:ext uri="{FF2B5EF4-FFF2-40B4-BE49-F238E27FC236}">
                <a16:creationId xmlns:a16="http://schemas.microsoft.com/office/drawing/2014/main" id="{25687C1E-D7E3-3040-A262-42FC5A169C9F}"/>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2B9046FE-3BDC-DF4A-AE6C-235A1A775EF3}"/>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Oval 49">
            <a:extLst>
              <a:ext uri="{FF2B5EF4-FFF2-40B4-BE49-F238E27FC236}">
                <a16:creationId xmlns:a16="http://schemas.microsoft.com/office/drawing/2014/main" id="{D49B2840-562D-C24A-B172-6D8649D4288E}"/>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Oval 61">
            <a:extLst>
              <a:ext uri="{FF2B5EF4-FFF2-40B4-BE49-F238E27FC236}">
                <a16:creationId xmlns:a16="http://schemas.microsoft.com/office/drawing/2014/main" id="{09387791-A17A-9E45-B8C5-F2B4933A98A7}"/>
              </a:ext>
            </a:extLst>
          </p:cNvPr>
          <p:cNvSpPr/>
          <p:nvPr/>
        </p:nvSpPr>
        <p:spPr>
          <a:xfrm>
            <a:off x="8244078" y="243004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45C17600-B81E-E84D-91B0-E4427430CB7B}"/>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Oval 82">
            <a:extLst>
              <a:ext uri="{FF2B5EF4-FFF2-40B4-BE49-F238E27FC236}">
                <a16:creationId xmlns:a16="http://schemas.microsoft.com/office/drawing/2014/main" id="{6930BA87-1B48-5840-AE00-BF153852DBDD}"/>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4" name="Oval 83">
            <a:extLst>
              <a:ext uri="{FF2B5EF4-FFF2-40B4-BE49-F238E27FC236}">
                <a16:creationId xmlns:a16="http://schemas.microsoft.com/office/drawing/2014/main" id="{8EC4EBE1-655D-6645-81FE-98CDFA40C235}"/>
              </a:ext>
            </a:extLst>
          </p:cNvPr>
          <p:cNvSpPr/>
          <p:nvPr/>
        </p:nvSpPr>
        <p:spPr>
          <a:xfrm>
            <a:off x="9747504" y="4381500"/>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5" name="Oval 84">
            <a:extLst>
              <a:ext uri="{FF2B5EF4-FFF2-40B4-BE49-F238E27FC236}">
                <a16:creationId xmlns:a16="http://schemas.microsoft.com/office/drawing/2014/main" id="{A96A4A31-00E4-C346-BD0A-2AD9C4714799}"/>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6" name="Oval 85">
            <a:extLst>
              <a:ext uri="{FF2B5EF4-FFF2-40B4-BE49-F238E27FC236}">
                <a16:creationId xmlns:a16="http://schemas.microsoft.com/office/drawing/2014/main" id="{99C69447-4060-CE48-AB38-F383F271D850}"/>
              </a:ext>
            </a:extLst>
          </p:cNvPr>
          <p:cNvSpPr/>
          <p:nvPr/>
        </p:nvSpPr>
        <p:spPr>
          <a:xfrm>
            <a:off x="8246364" y="3403093"/>
            <a:ext cx="374904" cy="37490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87" name="Straight Connector 86">
            <a:extLst>
              <a:ext uri="{FF2B5EF4-FFF2-40B4-BE49-F238E27FC236}">
                <a16:creationId xmlns:a16="http://schemas.microsoft.com/office/drawing/2014/main" id="{B63EF403-A751-064C-B95F-EEBF483D6E44}"/>
              </a:ext>
            </a:extLst>
          </p:cNvPr>
          <p:cNvCxnSpPr>
            <a:cxnSpLocks/>
            <a:stCxn id="42" idx="7"/>
            <a:endCxn id="4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CD5A963-A246-DC48-B282-74E7CD76B9CF}"/>
              </a:ext>
            </a:extLst>
          </p:cNvPr>
          <p:cNvCxnSpPr>
            <a:cxnSpLocks/>
            <a:stCxn id="65" idx="2"/>
            <a:endCxn id="62"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164FD8D-05AA-184D-A5FA-6378C6CEA217}"/>
              </a:ext>
            </a:extLst>
          </p:cNvPr>
          <p:cNvCxnSpPr>
            <a:cxnSpLocks/>
            <a:stCxn id="50" idx="6"/>
            <a:endCxn id="83"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C5A71A-A62B-E14B-BA17-A6977C8A7C57}"/>
              </a:ext>
            </a:extLst>
          </p:cNvPr>
          <p:cNvCxnSpPr>
            <a:cxnSpLocks/>
            <a:stCxn id="83" idx="6"/>
            <a:endCxn id="84"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5CDA59C-EC43-1D49-BE98-22010D35F5E9}"/>
              </a:ext>
            </a:extLst>
          </p:cNvPr>
          <p:cNvCxnSpPr>
            <a:cxnSpLocks/>
            <a:stCxn id="65" idx="6"/>
            <a:endCxn id="85"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B577AFB-6E9F-734D-AD05-E5C419C6E8DE}"/>
              </a:ext>
            </a:extLst>
          </p:cNvPr>
          <p:cNvCxnSpPr>
            <a:cxnSpLocks/>
            <a:stCxn id="86" idx="0"/>
            <a:endCxn id="62"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22F9B7C-0857-4F4B-9014-5C6CDB7CABEE}"/>
              </a:ext>
            </a:extLst>
          </p:cNvPr>
          <p:cNvCxnSpPr>
            <a:cxnSpLocks/>
            <a:stCxn id="62" idx="5"/>
            <a:endCxn id="84"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CA66C1E-3586-AE4F-B421-7632AF126419}"/>
              </a:ext>
            </a:extLst>
          </p:cNvPr>
          <p:cNvCxnSpPr>
            <a:cxnSpLocks/>
            <a:stCxn id="42" idx="5"/>
            <a:endCxn id="50" idx="2"/>
          </p:cNvCxnSpPr>
          <p:nvPr/>
        </p:nvCxnSpPr>
        <p:spPr>
          <a:xfrm>
            <a:off x="5759157" y="3723094"/>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D52CB53-2BB6-2D4A-BF55-2BC7BB7F3AA3}"/>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102" name="TextBox 101">
            <a:extLst>
              <a:ext uri="{FF2B5EF4-FFF2-40B4-BE49-F238E27FC236}">
                <a16:creationId xmlns:a16="http://schemas.microsoft.com/office/drawing/2014/main" id="{0D3BDB32-4461-9A43-AE42-2844F01E88E5}"/>
              </a:ext>
            </a:extLst>
          </p:cNvPr>
          <p:cNvSpPr txBox="1"/>
          <p:nvPr/>
        </p:nvSpPr>
        <p:spPr>
          <a:xfrm>
            <a:off x="8134436" y="2949481"/>
            <a:ext cx="309700" cy="369332"/>
          </a:xfrm>
          <a:prstGeom prst="rect">
            <a:avLst/>
          </a:prstGeom>
          <a:noFill/>
          <a:ln>
            <a:noFill/>
          </a:ln>
        </p:spPr>
        <p:txBody>
          <a:bodyPr wrap="none" rtlCol="0">
            <a:spAutoFit/>
          </a:bodyPr>
          <a:lstStyle/>
          <a:p>
            <a:r>
              <a:rPr lang="en-US" dirty="0"/>
              <a:t>2</a:t>
            </a:r>
          </a:p>
        </p:txBody>
      </p:sp>
      <p:sp>
        <p:nvSpPr>
          <p:cNvPr id="103" name="TextBox 102">
            <a:extLst>
              <a:ext uri="{FF2B5EF4-FFF2-40B4-BE49-F238E27FC236}">
                <a16:creationId xmlns:a16="http://schemas.microsoft.com/office/drawing/2014/main" id="{DB7250CC-8FF4-AA44-80C6-8FCF8934B210}"/>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104" name="TextBox 103">
            <a:extLst>
              <a:ext uri="{FF2B5EF4-FFF2-40B4-BE49-F238E27FC236}">
                <a16:creationId xmlns:a16="http://schemas.microsoft.com/office/drawing/2014/main" id="{15638E21-2906-E149-BD11-23204DE00AD2}"/>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105" name="TextBox 104">
            <a:extLst>
              <a:ext uri="{FF2B5EF4-FFF2-40B4-BE49-F238E27FC236}">
                <a16:creationId xmlns:a16="http://schemas.microsoft.com/office/drawing/2014/main" id="{35917F0C-E5BC-994D-A364-8DDCBDB8224F}"/>
              </a:ext>
            </a:extLst>
          </p:cNvPr>
          <p:cNvSpPr txBox="1"/>
          <p:nvPr/>
        </p:nvSpPr>
        <p:spPr>
          <a:xfrm>
            <a:off x="9145215" y="3273330"/>
            <a:ext cx="309700" cy="369332"/>
          </a:xfrm>
          <a:prstGeom prst="rect">
            <a:avLst/>
          </a:prstGeom>
          <a:noFill/>
        </p:spPr>
        <p:txBody>
          <a:bodyPr wrap="none" rtlCol="0">
            <a:spAutoFit/>
          </a:bodyPr>
          <a:lstStyle/>
          <a:p>
            <a:r>
              <a:rPr lang="en-US" dirty="0">
                <a:solidFill>
                  <a:sysClr val="windowText" lastClr="000000"/>
                </a:solidFill>
              </a:rPr>
              <a:t>4</a:t>
            </a:r>
          </a:p>
        </p:txBody>
      </p:sp>
      <p:sp>
        <p:nvSpPr>
          <p:cNvPr id="107" name="TextBox 106">
            <a:extLst>
              <a:ext uri="{FF2B5EF4-FFF2-40B4-BE49-F238E27FC236}">
                <a16:creationId xmlns:a16="http://schemas.microsoft.com/office/drawing/2014/main" id="{3ECB4112-D0F1-784F-BD7C-920F3EC86BC8}"/>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109" name="TextBox 108">
            <a:extLst>
              <a:ext uri="{FF2B5EF4-FFF2-40B4-BE49-F238E27FC236}">
                <a16:creationId xmlns:a16="http://schemas.microsoft.com/office/drawing/2014/main" id="{73782642-CD60-D04B-AE1C-5BA6F67A0E4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110" name="TextBox 109">
            <a:extLst>
              <a:ext uri="{FF2B5EF4-FFF2-40B4-BE49-F238E27FC236}">
                <a16:creationId xmlns:a16="http://schemas.microsoft.com/office/drawing/2014/main" id="{9B5BE570-F269-834F-A9A7-F3B3E7A3AF51}"/>
              </a:ext>
            </a:extLst>
          </p:cNvPr>
          <p:cNvSpPr txBox="1"/>
          <p:nvPr/>
        </p:nvSpPr>
        <p:spPr>
          <a:xfrm>
            <a:off x="5972228" y="4054664"/>
            <a:ext cx="309700" cy="369332"/>
          </a:xfrm>
          <a:prstGeom prst="rect">
            <a:avLst/>
          </a:prstGeom>
          <a:noFill/>
        </p:spPr>
        <p:txBody>
          <a:bodyPr wrap="none" rtlCol="0">
            <a:spAutoFit/>
          </a:bodyPr>
          <a:lstStyle/>
          <a:p>
            <a:r>
              <a:rPr lang="en-US" dirty="0"/>
              <a:t>8</a:t>
            </a:r>
          </a:p>
        </p:txBody>
      </p:sp>
      <p:sp>
        <p:nvSpPr>
          <p:cNvPr id="3" name="TextBox 2">
            <a:extLst>
              <a:ext uri="{FF2B5EF4-FFF2-40B4-BE49-F238E27FC236}">
                <a16:creationId xmlns:a16="http://schemas.microsoft.com/office/drawing/2014/main" id="{7279D383-DE37-514F-98A9-C849563FEE4E}"/>
              </a:ext>
            </a:extLst>
          </p:cNvPr>
          <p:cNvSpPr txBox="1"/>
          <p:nvPr/>
        </p:nvSpPr>
        <p:spPr>
          <a:xfrm>
            <a:off x="7363364" y="5314424"/>
            <a:ext cx="2161543" cy="369332"/>
          </a:xfrm>
          <a:prstGeom prst="rect">
            <a:avLst/>
          </a:prstGeom>
          <a:noFill/>
        </p:spPr>
        <p:txBody>
          <a:bodyPr wrap="square" rtlCol="0">
            <a:spAutoFit/>
          </a:bodyPr>
          <a:lstStyle/>
          <a:p>
            <a:r>
              <a:rPr lang="en-US" dirty="0"/>
              <a:t>MST with cost = 37</a:t>
            </a:r>
          </a:p>
        </p:txBody>
      </p:sp>
    </p:spTree>
    <p:extLst>
      <p:ext uri="{BB962C8B-B14F-4D97-AF65-F5344CB8AC3E}">
        <p14:creationId xmlns:p14="http://schemas.microsoft.com/office/powerpoint/2010/main" val="9955039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pic>
        <p:nvPicPr>
          <p:cNvPr id="43" name="Picture 42" descr="Text, letter&#10;&#10;Description automatically generated">
            <a:extLst>
              <a:ext uri="{FF2B5EF4-FFF2-40B4-BE49-F238E27FC236}">
                <a16:creationId xmlns:a16="http://schemas.microsoft.com/office/drawing/2014/main" id="{5CDCC832-3793-BF4A-8A19-26A1D1382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623" y="1220152"/>
            <a:ext cx="7552993" cy="3302031"/>
          </a:xfrm>
          <a:prstGeom prst="rect">
            <a:avLst/>
          </a:prstGeom>
        </p:spPr>
      </p:pic>
      <p:sp>
        <p:nvSpPr>
          <p:cNvPr id="44" name="Oval 43">
            <a:extLst>
              <a:ext uri="{FF2B5EF4-FFF2-40B4-BE49-F238E27FC236}">
                <a16:creationId xmlns:a16="http://schemas.microsoft.com/office/drawing/2014/main" id="{6FD10682-36F3-554A-8F00-5A1A63BF6AD4}"/>
              </a:ext>
            </a:extLst>
          </p:cNvPr>
          <p:cNvSpPr/>
          <p:nvPr/>
        </p:nvSpPr>
        <p:spPr>
          <a:xfrm>
            <a:off x="5826781"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6" name="Oval 45">
            <a:extLst>
              <a:ext uri="{FF2B5EF4-FFF2-40B4-BE49-F238E27FC236}">
                <a16:creationId xmlns:a16="http://schemas.microsoft.com/office/drawing/2014/main" id="{B6E3D542-1ED4-C244-ADE7-490AAB315768}"/>
              </a:ext>
            </a:extLst>
          </p:cNvPr>
          <p:cNvSpPr/>
          <p:nvPr/>
        </p:nvSpPr>
        <p:spPr>
          <a:xfrm>
            <a:off x="7128277" y="413957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7" name="Oval 46">
            <a:extLst>
              <a:ext uri="{FF2B5EF4-FFF2-40B4-BE49-F238E27FC236}">
                <a16:creationId xmlns:a16="http://schemas.microsoft.com/office/drawing/2014/main" id="{D6F621E4-B364-924A-8F0A-1F8BD153B4CE}"/>
              </a:ext>
            </a:extLst>
          </p:cNvPr>
          <p:cNvSpPr/>
          <p:nvPr/>
        </p:nvSpPr>
        <p:spPr>
          <a:xfrm>
            <a:off x="7123705" y="6092555"/>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8928BEE3-8254-3E40-9E58-C7835A76D7AB}"/>
              </a:ext>
            </a:extLst>
          </p:cNvPr>
          <p:cNvSpPr/>
          <p:nvPr/>
        </p:nvSpPr>
        <p:spPr>
          <a:xfrm>
            <a:off x="8631703" y="413957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9D5AE0CA-0274-9D43-8F2A-1DC317776EC3}"/>
              </a:ext>
            </a:extLst>
          </p:cNvPr>
          <p:cNvSpPr/>
          <p:nvPr/>
        </p:nvSpPr>
        <p:spPr>
          <a:xfrm>
            <a:off x="10113793" y="41373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1" name="Oval 50">
            <a:extLst>
              <a:ext uri="{FF2B5EF4-FFF2-40B4-BE49-F238E27FC236}">
                <a16:creationId xmlns:a16="http://schemas.microsoft.com/office/drawing/2014/main" id="{1B1652FF-34AD-714E-8206-3E685FDE384B}"/>
              </a:ext>
            </a:extLst>
          </p:cNvPr>
          <p:cNvSpPr/>
          <p:nvPr/>
        </p:nvSpPr>
        <p:spPr>
          <a:xfrm>
            <a:off x="8629417" y="609103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2" name="Oval 51">
            <a:extLst>
              <a:ext uri="{FF2B5EF4-FFF2-40B4-BE49-F238E27FC236}">
                <a16:creationId xmlns:a16="http://schemas.microsoft.com/office/drawing/2014/main" id="{3B77F58B-438F-2248-B8A8-FEAFD995CA6A}"/>
              </a:ext>
            </a:extLst>
          </p:cNvPr>
          <p:cNvSpPr/>
          <p:nvPr/>
        </p:nvSpPr>
        <p:spPr>
          <a:xfrm>
            <a:off x="10135129" y="609103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3" name="Oval 52">
            <a:extLst>
              <a:ext uri="{FF2B5EF4-FFF2-40B4-BE49-F238E27FC236}">
                <a16:creationId xmlns:a16="http://schemas.microsoft.com/office/drawing/2014/main" id="{66FB2C50-7882-4C48-941E-C8BE5CE05C97}"/>
              </a:ext>
            </a:extLst>
          </p:cNvPr>
          <p:cNvSpPr/>
          <p:nvPr/>
        </p:nvSpPr>
        <p:spPr>
          <a:xfrm>
            <a:off x="11378713"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4" name="Oval 53">
            <a:extLst>
              <a:ext uri="{FF2B5EF4-FFF2-40B4-BE49-F238E27FC236}">
                <a16:creationId xmlns:a16="http://schemas.microsoft.com/office/drawing/2014/main" id="{A2EC4C9F-0F90-AA42-9871-E297D66E9329}"/>
              </a:ext>
            </a:extLst>
          </p:cNvPr>
          <p:cNvSpPr/>
          <p:nvPr/>
        </p:nvSpPr>
        <p:spPr>
          <a:xfrm>
            <a:off x="8633989"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5" name="Straight Connector 54">
            <a:extLst>
              <a:ext uri="{FF2B5EF4-FFF2-40B4-BE49-F238E27FC236}">
                <a16:creationId xmlns:a16="http://schemas.microsoft.com/office/drawing/2014/main" id="{BC684393-79EC-DE4F-B9B2-E263FE2AEA5C}"/>
              </a:ext>
            </a:extLst>
          </p:cNvPr>
          <p:cNvCxnSpPr>
            <a:cxnSpLocks/>
            <a:stCxn id="44" idx="7"/>
            <a:endCxn id="46" idx="2"/>
          </p:cNvCxnSpPr>
          <p:nvPr/>
        </p:nvCxnSpPr>
        <p:spPr>
          <a:xfrm flipV="1">
            <a:off x="6146782" y="4327023"/>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8BD3AEE-E31A-6B4D-95D3-C4079368D2BB}"/>
              </a:ext>
            </a:extLst>
          </p:cNvPr>
          <p:cNvCxnSpPr>
            <a:cxnSpLocks/>
            <a:stCxn id="47" idx="7"/>
            <a:endCxn id="54" idx="3"/>
          </p:cNvCxnSpPr>
          <p:nvPr/>
        </p:nvCxnSpPr>
        <p:spPr>
          <a:xfrm flipV="1">
            <a:off x="7443706" y="5432625"/>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11CB91E-A54E-CA41-BD7F-D020B0707E1D}"/>
              </a:ext>
            </a:extLst>
          </p:cNvPr>
          <p:cNvCxnSpPr>
            <a:cxnSpLocks/>
            <a:stCxn id="47" idx="0"/>
            <a:endCxn id="46" idx="4"/>
          </p:cNvCxnSpPr>
          <p:nvPr/>
        </p:nvCxnSpPr>
        <p:spPr>
          <a:xfrm flipV="1">
            <a:off x="7311157" y="4514475"/>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B55DDDC-7585-6549-AF6F-99900BFE4E9E}"/>
              </a:ext>
            </a:extLst>
          </p:cNvPr>
          <p:cNvCxnSpPr>
            <a:cxnSpLocks/>
            <a:stCxn id="46" idx="6"/>
            <a:endCxn id="48" idx="2"/>
          </p:cNvCxnSpPr>
          <p:nvPr/>
        </p:nvCxnSpPr>
        <p:spPr>
          <a:xfrm>
            <a:off x="7503181" y="4327023"/>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897B85-4AE7-2146-87E7-EBC6745AFEE7}"/>
              </a:ext>
            </a:extLst>
          </p:cNvPr>
          <p:cNvCxnSpPr>
            <a:cxnSpLocks/>
            <a:stCxn id="49" idx="2"/>
            <a:endCxn id="48" idx="6"/>
          </p:cNvCxnSpPr>
          <p:nvPr/>
        </p:nvCxnSpPr>
        <p:spPr>
          <a:xfrm flipH="1">
            <a:off x="9006607" y="4324776"/>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6CD1DF2-16DF-1E47-9299-3662D5754BBC}"/>
              </a:ext>
            </a:extLst>
          </p:cNvPr>
          <p:cNvCxnSpPr>
            <a:cxnSpLocks/>
            <a:stCxn id="47" idx="6"/>
            <a:endCxn id="51" idx="2"/>
          </p:cNvCxnSpPr>
          <p:nvPr/>
        </p:nvCxnSpPr>
        <p:spPr>
          <a:xfrm flipV="1">
            <a:off x="7498609" y="6278483"/>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9721F4B-7AD8-CA4E-82FE-2409245E48EB}"/>
              </a:ext>
            </a:extLst>
          </p:cNvPr>
          <p:cNvCxnSpPr>
            <a:cxnSpLocks/>
            <a:stCxn id="51" idx="6"/>
            <a:endCxn id="52" idx="2"/>
          </p:cNvCxnSpPr>
          <p:nvPr/>
        </p:nvCxnSpPr>
        <p:spPr>
          <a:xfrm>
            <a:off x="9004321" y="6278483"/>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874570A-17F1-0240-90F2-082FBE777C21}"/>
              </a:ext>
            </a:extLst>
          </p:cNvPr>
          <p:cNvCxnSpPr>
            <a:cxnSpLocks/>
            <a:stCxn id="52" idx="6"/>
            <a:endCxn id="53" idx="3"/>
          </p:cNvCxnSpPr>
          <p:nvPr/>
        </p:nvCxnSpPr>
        <p:spPr>
          <a:xfrm flipV="1">
            <a:off x="10510033" y="5432625"/>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6EF050A-2183-E74A-A834-B232BE44DD6D}"/>
              </a:ext>
            </a:extLst>
          </p:cNvPr>
          <p:cNvCxnSpPr>
            <a:cxnSpLocks/>
            <a:stCxn id="49" idx="6"/>
            <a:endCxn id="53" idx="1"/>
          </p:cNvCxnSpPr>
          <p:nvPr/>
        </p:nvCxnSpPr>
        <p:spPr>
          <a:xfrm>
            <a:off x="10488697" y="4324776"/>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E836C85-1534-DD41-B71B-BCA8558CC362}"/>
              </a:ext>
            </a:extLst>
          </p:cNvPr>
          <p:cNvCxnSpPr>
            <a:cxnSpLocks/>
            <a:stCxn id="49" idx="4"/>
            <a:endCxn id="52" idx="0"/>
          </p:cNvCxnSpPr>
          <p:nvPr/>
        </p:nvCxnSpPr>
        <p:spPr>
          <a:xfrm>
            <a:off x="10301245" y="4512228"/>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A273DBA-E058-8D4B-97B6-5F77F7BC9ECF}"/>
              </a:ext>
            </a:extLst>
          </p:cNvPr>
          <p:cNvCxnSpPr>
            <a:cxnSpLocks/>
            <a:stCxn id="51" idx="0"/>
            <a:endCxn id="54" idx="4"/>
          </p:cNvCxnSpPr>
          <p:nvPr/>
        </p:nvCxnSpPr>
        <p:spPr>
          <a:xfrm flipV="1">
            <a:off x="8816869" y="5487528"/>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5E84F3E-CC6A-0D48-842C-076406D7999C}"/>
              </a:ext>
            </a:extLst>
          </p:cNvPr>
          <p:cNvCxnSpPr>
            <a:cxnSpLocks/>
            <a:stCxn id="54" idx="0"/>
            <a:endCxn id="48" idx="4"/>
          </p:cNvCxnSpPr>
          <p:nvPr/>
        </p:nvCxnSpPr>
        <p:spPr>
          <a:xfrm flipH="1" flipV="1">
            <a:off x="8819155" y="4514475"/>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F1530F2-7932-0844-896B-C77572BFB266}"/>
              </a:ext>
            </a:extLst>
          </p:cNvPr>
          <p:cNvCxnSpPr>
            <a:cxnSpLocks/>
            <a:stCxn id="48" idx="5"/>
            <a:endCxn id="52" idx="1"/>
          </p:cNvCxnSpPr>
          <p:nvPr/>
        </p:nvCxnSpPr>
        <p:spPr>
          <a:xfrm>
            <a:off x="8951704" y="4459572"/>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15C91A9-55F7-1B4B-954B-F160997B5999}"/>
              </a:ext>
            </a:extLst>
          </p:cNvPr>
          <p:cNvCxnSpPr>
            <a:cxnSpLocks/>
            <a:stCxn id="44" idx="5"/>
            <a:endCxn id="47" idx="2"/>
          </p:cNvCxnSpPr>
          <p:nvPr/>
        </p:nvCxnSpPr>
        <p:spPr>
          <a:xfrm>
            <a:off x="6146782" y="5432625"/>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A7900B7F-7949-D24A-BB43-3A5D9525C931}"/>
              </a:ext>
            </a:extLst>
          </p:cNvPr>
          <p:cNvSpPr txBox="1"/>
          <p:nvPr/>
        </p:nvSpPr>
        <p:spPr>
          <a:xfrm>
            <a:off x="7907080" y="6278483"/>
            <a:ext cx="309700" cy="369332"/>
          </a:xfrm>
          <a:prstGeom prst="rect">
            <a:avLst/>
          </a:prstGeom>
          <a:noFill/>
        </p:spPr>
        <p:txBody>
          <a:bodyPr wrap="none" rtlCol="0">
            <a:spAutoFit/>
          </a:bodyPr>
          <a:lstStyle/>
          <a:p>
            <a:r>
              <a:rPr lang="en-US" dirty="0"/>
              <a:t>1</a:t>
            </a:r>
          </a:p>
        </p:txBody>
      </p:sp>
      <p:sp>
        <p:nvSpPr>
          <p:cNvPr id="72" name="TextBox 71">
            <a:extLst>
              <a:ext uri="{FF2B5EF4-FFF2-40B4-BE49-F238E27FC236}">
                <a16:creationId xmlns:a16="http://schemas.microsoft.com/office/drawing/2014/main" id="{C281384E-876A-0E46-BDD1-9A2BB5495803}"/>
              </a:ext>
            </a:extLst>
          </p:cNvPr>
          <p:cNvSpPr txBox="1"/>
          <p:nvPr/>
        </p:nvSpPr>
        <p:spPr>
          <a:xfrm>
            <a:off x="8522061" y="4659012"/>
            <a:ext cx="309700" cy="369332"/>
          </a:xfrm>
          <a:prstGeom prst="rect">
            <a:avLst/>
          </a:prstGeom>
          <a:noFill/>
        </p:spPr>
        <p:txBody>
          <a:bodyPr wrap="none" rtlCol="0">
            <a:spAutoFit/>
          </a:bodyPr>
          <a:lstStyle/>
          <a:p>
            <a:r>
              <a:rPr lang="en-US" dirty="0"/>
              <a:t>2</a:t>
            </a:r>
          </a:p>
        </p:txBody>
      </p:sp>
      <p:sp>
        <p:nvSpPr>
          <p:cNvPr id="73" name="TextBox 72">
            <a:extLst>
              <a:ext uri="{FF2B5EF4-FFF2-40B4-BE49-F238E27FC236}">
                <a16:creationId xmlns:a16="http://schemas.microsoft.com/office/drawing/2014/main" id="{0AC014C5-A207-F44B-A1F0-1628DB050D4C}"/>
              </a:ext>
            </a:extLst>
          </p:cNvPr>
          <p:cNvSpPr txBox="1"/>
          <p:nvPr/>
        </p:nvSpPr>
        <p:spPr>
          <a:xfrm>
            <a:off x="9379225" y="6278164"/>
            <a:ext cx="309700" cy="369332"/>
          </a:xfrm>
          <a:prstGeom prst="rect">
            <a:avLst/>
          </a:prstGeom>
          <a:noFill/>
        </p:spPr>
        <p:txBody>
          <a:bodyPr wrap="none" rtlCol="0">
            <a:spAutoFit/>
          </a:bodyPr>
          <a:lstStyle/>
          <a:p>
            <a:r>
              <a:rPr lang="en-US" dirty="0"/>
              <a:t>2</a:t>
            </a:r>
          </a:p>
        </p:txBody>
      </p:sp>
      <p:sp>
        <p:nvSpPr>
          <p:cNvPr id="74" name="TextBox 73">
            <a:extLst>
              <a:ext uri="{FF2B5EF4-FFF2-40B4-BE49-F238E27FC236}">
                <a16:creationId xmlns:a16="http://schemas.microsoft.com/office/drawing/2014/main" id="{923EDB58-E7A0-0241-9EB7-0055C85D2FF4}"/>
              </a:ext>
            </a:extLst>
          </p:cNvPr>
          <p:cNvSpPr txBox="1"/>
          <p:nvPr/>
        </p:nvSpPr>
        <p:spPr>
          <a:xfrm>
            <a:off x="6366238" y="4474346"/>
            <a:ext cx="309700"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AB38FE90-9239-DA47-80F1-BD2E9E71329B}"/>
              </a:ext>
            </a:extLst>
          </p:cNvPr>
          <p:cNvSpPr txBox="1"/>
          <p:nvPr/>
        </p:nvSpPr>
        <p:spPr>
          <a:xfrm>
            <a:off x="9532840" y="4982861"/>
            <a:ext cx="309700" cy="369332"/>
          </a:xfrm>
          <a:prstGeom prst="rect">
            <a:avLst/>
          </a:prstGeom>
          <a:noFill/>
        </p:spPr>
        <p:txBody>
          <a:bodyPr wrap="none" rtlCol="0">
            <a:spAutoFit/>
          </a:bodyPr>
          <a:lstStyle/>
          <a:p>
            <a:r>
              <a:rPr lang="en-US" dirty="0"/>
              <a:t>4</a:t>
            </a:r>
          </a:p>
        </p:txBody>
      </p:sp>
      <p:sp>
        <p:nvSpPr>
          <p:cNvPr id="76" name="TextBox 75">
            <a:extLst>
              <a:ext uri="{FF2B5EF4-FFF2-40B4-BE49-F238E27FC236}">
                <a16:creationId xmlns:a16="http://schemas.microsoft.com/office/drawing/2014/main" id="{165558D3-6C2B-ED49-8590-0061A69E2F66}"/>
              </a:ext>
            </a:extLst>
          </p:cNvPr>
          <p:cNvSpPr txBox="1"/>
          <p:nvPr/>
        </p:nvSpPr>
        <p:spPr>
          <a:xfrm>
            <a:off x="8832976" y="5604613"/>
            <a:ext cx="309700" cy="369332"/>
          </a:xfrm>
          <a:prstGeom prst="rect">
            <a:avLst/>
          </a:prstGeom>
          <a:noFill/>
        </p:spPr>
        <p:txBody>
          <a:bodyPr wrap="none" rtlCol="0">
            <a:spAutoFit/>
          </a:bodyPr>
          <a:lstStyle/>
          <a:p>
            <a:r>
              <a:rPr lang="en-US" dirty="0"/>
              <a:t>6</a:t>
            </a:r>
          </a:p>
        </p:txBody>
      </p:sp>
      <p:sp>
        <p:nvSpPr>
          <p:cNvPr id="77" name="TextBox 76">
            <a:extLst>
              <a:ext uri="{FF2B5EF4-FFF2-40B4-BE49-F238E27FC236}">
                <a16:creationId xmlns:a16="http://schemas.microsoft.com/office/drawing/2014/main" id="{802102B8-C1ED-7547-9A8E-9094A5332AF7}"/>
              </a:ext>
            </a:extLst>
          </p:cNvPr>
          <p:cNvSpPr txBox="1"/>
          <p:nvPr/>
        </p:nvSpPr>
        <p:spPr>
          <a:xfrm>
            <a:off x="9405350" y="3974441"/>
            <a:ext cx="309700" cy="369332"/>
          </a:xfrm>
          <a:prstGeom prst="rect">
            <a:avLst/>
          </a:prstGeom>
          <a:noFill/>
        </p:spPr>
        <p:txBody>
          <a:bodyPr wrap="none" rtlCol="0">
            <a:spAutoFit/>
          </a:bodyPr>
          <a:lstStyle/>
          <a:p>
            <a:r>
              <a:rPr lang="en-US" dirty="0"/>
              <a:t>7</a:t>
            </a:r>
          </a:p>
        </p:txBody>
      </p:sp>
      <p:sp>
        <p:nvSpPr>
          <p:cNvPr id="78" name="TextBox 77">
            <a:extLst>
              <a:ext uri="{FF2B5EF4-FFF2-40B4-BE49-F238E27FC236}">
                <a16:creationId xmlns:a16="http://schemas.microsoft.com/office/drawing/2014/main" id="{8BD90109-0DC4-FB4A-AFC9-DAACA53AD670}"/>
              </a:ext>
            </a:extLst>
          </p:cNvPr>
          <p:cNvSpPr txBox="1"/>
          <p:nvPr/>
        </p:nvSpPr>
        <p:spPr>
          <a:xfrm>
            <a:off x="7870137" y="5467313"/>
            <a:ext cx="309700" cy="369332"/>
          </a:xfrm>
          <a:prstGeom prst="rect">
            <a:avLst/>
          </a:prstGeom>
          <a:noFill/>
        </p:spPr>
        <p:txBody>
          <a:bodyPr wrap="none" rtlCol="0">
            <a:spAutoFit/>
          </a:bodyPr>
          <a:lstStyle/>
          <a:p>
            <a:r>
              <a:rPr lang="en-US" dirty="0"/>
              <a:t>7</a:t>
            </a:r>
          </a:p>
        </p:txBody>
      </p:sp>
      <p:sp>
        <p:nvSpPr>
          <p:cNvPr id="79" name="TextBox 78">
            <a:extLst>
              <a:ext uri="{FF2B5EF4-FFF2-40B4-BE49-F238E27FC236}">
                <a16:creationId xmlns:a16="http://schemas.microsoft.com/office/drawing/2014/main" id="{AED8525D-E19F-D140-BB91-655FAAB859F3}"/>
              </a:ext>
            </a:extLst>
          </p:cNvPr>
          <p:cNvSpPr txBox="1"/>
          <p:nvPr/>
        </p:nvSpPr>
        <p:spPr>
          <a:xfrm>
            <a:off x="10973946" y="4474346"/>
            <a:ext cx="309700" cy="369332"/>
          </a:xfrm>
          <a:prstGeom prst="rect">
            <a:avLst/>
          </a:prstGeom>
          <a:noFill/>
        </p:spPr>
        <p:txBody>
          <a:bodyPr wrap="none" rtlCol="0">
            <a:spAutoFit/>
          </a:bodyPr>
          <a:lstStyle/>
          <a:p>
            <a:r>
              <a:rPr lang="en-US" dirty="0"/>
              <a:t>9</a:t>
            </a:r>
          </a:p>
        </p:txBody>
      </p:sp>
      <p:sp>
        <p:nvSpPr>
          <p:cNvPr id="80" name="TextBox 79">
            <a:extLst>
              <a:ext uri="{FF2B5EF4-FFF2-40B4-BE49-F238E27FC236}">
                <a16:creationId xmlns:a16="http://schemas.microsoft.com/office/drawing/2014/main" id="{8FE17F7D-A36E-DF40-862E-0DC77598FF4A}"/>
              </a:ext>
            </a:extLst>
          </p:cNvPr>
          <p:cNvSpPr txBox="1"/>
          <p:nvPr/>
        </p:nvSpPr>
        <p:spPr>
          <a:xfrm>
            <a:off x="6359853" y="5764195"/>
            <a:ext cx="309700" cy="369332"/>
          </a:xfrm>
          <a:prstGeom prst="rect">
            <a:avLst/>
          </a:prstGeom>
          <a:noFill/>
        </p:spPr>
        <p:txBody>
          <a:bodyPr wrap="none" rtlCol="0">
            <a:spAutoFit/>
          </a:bodyPr>
          <a:lstStyle/>
          <a:p>
            <a:r>
              <a:rPr lang="en-US" dirty="0"/>
              <a:t>8</a:t>
            </a:r>
          </a:p>
        </p:txBody>
      </p:sp>
      <p:sp>
        <p:nvSpPr>
          <p:cNvPr id="81" name="TextBox 80">
            <a:extLst>
              <a:ext uri="{FF2B5EF4-FFF2-40B4-BE49-F238E27FC236}">
                <a16:creationId xmlns:a16="http://schemas.microsoft.com/office/drawing/2014/main" id="{A2F4CCCE-47CF-C741-84AB-4BBC6CEB44D5}"/>
              </a:ext>
            </a:extLst>
          </p:cNvPr>
          <p:cNvSpPr txBox="1"/>
          <p:nvPr/>
        </p:nvSpPr>
        <p:spPr>
          <a:xfrm>
            <a:off x="7284303" y="5080379"/>
            <a:ext cx="434734" cy="369332"/>
          </a:xfrm>
          <a:prstGeom prst="rect">
            <a:avLst/>
          </a:prstGeom>
          <a:noFill/>
        </p:spPr>
        <p:txBody>
          <a:bodyPr wrap="none" rtlCol="0">
            <a:spAutoFit/>
          </a:bodyPr>
          <a:lstStyle/>
          <a:p>
            <a:r>
              <a:rPr lang="en-US" dirty="0"/>
              <a:t>11</a:t>
            </a:r>
          </a:p>
        </p:txBody>
      </p:sp>
      <p:sp>
        <p:nvSpPr>
          <p:cNvPr id="82" name="TextBox 81">
            <a:extLst>
              <a:ext uri="{FF2B5EF4-FFF2-40B4-BE49-F238E27FC236}">
                <a16:creationId xmlns:a16="http://schemas.microsoft.com/office/drawing/2014/main" id="{CBD16230-BFAD-FC4C-9341-BADA2110A79B}"/>
              </a:ext>
            </a:extLst>
          </p:cNvPr>
          <p:cNvSpPr txBox="1"/>
          <p:nvPr/>
        </p:nvSpPr>
        <p:spPr>
          <a:xfrm>
            <a:off x="10327153" y="5118196"/>
            <a:ext cx="434734" cy="369332"/>
          </a:xfrm>
          <a:prstGeom prst="rect">
            <a:avLst/>
          </a:prstGeom>
          <a:noFill/>
        </p:spPr>
        <p:txBody>
          <a:bodyPr wrap="none" rtlCol="0">
            <a:spAutoFit/>
          </a:bodyPr>
          <a:lstStyle/>
          <a:p>
            <a:r>
              <a:rPr lang="en-US" dirty="0"/>
              <a:t>14</a:t>
            </a:r>
          </a:p>
        </p:txBody>
      </p:sp>
      <p:sp>
        <p:nvSpPr>
          <p:cNvPr id="84" name="TextBox 83">
            <a:extLst>
              <a:ext uri="{FF2B5EF4-FFF2-40B4-BE49-F238E27FC236}">
                <a16:creationId xmlns:a16="http://schemas.microsoft.com/office/drawing/2014/main" id="{A2503BCC-9F01-C34B-8099-1699F109444E}"/>
              </a:ext>
            </a:extLst>
          </p:cNvPr>
          <p:cNvSpPr txBox="1"/>
          <p:nvPr/>
        </p:nvSpPr>
        <p:spPr>
          <a:xfrm>
            <a:off x="7947099" y="3995492"/>
            <a:ext cx="309700" cy="369332"/>
          </a:xfrm>
          <a:prstGeom prst="rect">
            <a:avLst/>
          </a:prstGeom>
          <a:noFill/>
        </p:spPr>
        <p:txBody>
          <a:bodyPr wrap="none" rtlCol="0">
            <a:spAutoFit/>
          </a:bodyPr>
          <a:lstStyle/>
          <a:p>
            <a:r>
              <a:rPr lang="en-US" dirty="0"/>
              <a:t>8</a:t>
            </a:r>
          </a:p>
        </p:txBody>
      </p:sp>
      <p:sp>
        <p:nvSpPr>
          <p:cNvPr id="98" name="TextBox 97">
            <a:extLst>
              <a:ext uri="{FF2B5EF4-FFF2-40B4-BE49-F238E27FC236}">
                <a16:creationId xmlns:a16="http://schemas.microsoft.com/office/drawing/2014/main" id="{DF9919F6-D5DB-5D41-8D2C-B2FF8EC9C4D9}"/>
              </a:ext>
            </a:extLst>
          </p:cNvPr>
          <p:cNvSpPr txBox="1"/>
          <p:nvPr/>
        </p:nvSpPr>
        <p:spPr>
          <a:xfrm>
            <a:off x="10882861" y="5808966"/>
            <a:ext cx="434734" cy="369332"/>
          </a:xfrm>
          <a:prstGeom prst="rect">
            <a:avLst/>
          </a:prstGeom>
          <a:noFill/>
        </p:spPr>
        <p:txBody>
          <a:bodyPr wrap="none" rtlCol="0">
            <a:spAutoFit/>
          </a:bodyPr>
          <a:lstStyle/>
          <a:p>
            <a:r>
              <a:rPr lang="en-US" dirty="0"/>
              <a:t>10</a:t>
            </a:r>
          </a:p>
        </p:txBody>
      </p:sp>
    </p:spTree>
    <p:extLst>
      <p:ext uri="{BB962C8B-B14F-4D97-AF65-F5344CB8AC3E}">
        <p14:creationId xmlns:p14="http://schemas.microsoft.com/office/powerpoint/2010/main" val="2544744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Kruskal’s algorithm</a:t>
            </a:r>
          </a:p>
        </p:txBody>
      </p:sp>
      <p:pic>
        <p:nvPicPr>
          <p:cNvPr id="43" name="Picture 42" descr="Text, letter&#10;&#10;Description automatically generated">
            <a:extLst>
              <a:ext uri="{FF2B5EF4-FFF2-40B4-BE49-F238E27FC236}">
                <a16:creationId xmlns:a16="http://schemas.microsoft.com/office/drawing/2014/main" id="{5CDCC832-3793-BF4A-8A19-26A1D1382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623" y="1220152"/>
            <a:ext cx="7552993" cy="3302031"/>
          </a:xfrm>
          <a:prstGeom prst="rect">
            <a:avLst/>
          </a:prstGeom>
        </p:spPr>
      </p:pic>
      <p:sp>
        <p:nvSpPr>
          <p:cNvPr id="4" name="Oval 3">
            <a:extLst>
              <a:ext uri="{FF2B5EF4-FFF2-40B4-BE49-F238E27FC236}">
                <a16:creationId xmlns:a16="http://schemas.microsoft.com/office/drawing/2014/main" id="{0E5F6362-28F4-A74E-A269-218DC1DA6A6C}"/>
              </a:ext>
            </a:extLst>
          </p:cNvPr>
          <p:cNvSpPr/>
          <p:nvPr/>
        </p:nvSpPr>
        <p:spPr>
          <a:xfrm>
            <a:off x="5826781"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7128277" y="413957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7123705" y="6092555"/>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631703" y="413957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10113793" y="41373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629417" y="609103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10135129" y="609103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1378713"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633989"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6146782" y="4327023"/>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443706" y="5432625"/>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7311157" y="4514475"/>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503181" y="4327023"/>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9006607" y="4324776"/>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498609" y="6278483"/>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9004321" y="6278483"/>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510033" y="5432625"/>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488697" y="4324776"/>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10301245" y="4512228"/>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816869" y="5487528"/>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819155" y="4514475"/>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951704" y="4459572"/>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6146782" y="5432625"/>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907080" y="6278483"/>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522061" y="4659012"/>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9379225" y="6278164"/>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6366238" y="4474346"/>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532840" y="4982861"/>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832976" y="5604613"/>
            <a:ext cx="309700" cy="369332"/>
          </a:xfrm>
          <a:prstGeom prst="rect">
            <a:avLst/>
          </a:prstGeom>
          <a:noFill/>
        </p:spPr>
        <p:txBody>
          <a:bodyPr wrap="none" rtlCol="0">
            <a:spAutoFit/>
          </a:bodyPr>
          <a:lstStyle/>
          <a:p>
            <a:r>
              <a:rPr lang="en-US" dirty="0"/>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405350" y="3974441"/>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870137" y="5467313"/>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973946" y="4474346"/>
            <a:ext cx="309700" cy="369332"/>
          </a:xfrm>
          <a:prstGeom prst="rect">
            <a:avLst/>
          </a:prstGeom>
          <a:noFill/>
        </p:spPr>
        <p:txBody>
          <a:bodyPr wrap="none" rtlCol="0">
            <a:spAutoFit/>
          </a:bodyPr>
          <a:lstStyle/>
          <a:p>
            <a:r>
              <a:rPr lang="en-US" dirty="0"/>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6359853" y="5764195"/>
            <a:ext cx="309700" cy="369332"/>
          </a:xfrm>
          <a:prstGeom prst="rect">
            <a:avLst/>
          </a:prstGeom>
          <a:noFill/>
        </p:spPr>
        <p:txBody>
          <a:bodyPr wrap="none" rtlCol="0">
            <a:spAutoFit/>
          </a:bodyPr>
          <a:lstStyle/>
          <a:p>
            <a:r>
              <a:rPr lang="en-US" dirty="0"/>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7284303" y="5080379"/>
            <a:ext cx="434734" cy="369332"/>
          </a:xfrm>
          <a:prstGeom prst="rect">
            <a:avLst/>
          </a:prstGeom>
          <a:noFill/>
        </p:spPr>
        <p:txBody>
          <a:bodyPr wrap="none" rtlCol="0">
            <a:spAutoFit/>
          </a:bodyPr>
          <a:lstStyle/>
          <a:p>
            <a:r>
              <a:rPr lang="en-US" dirty="0"/>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10327153" y="5118196"/>
            <a:ext cx="434734" cy="369332"/>
          </a:xfrm>
          <a:prstGeom prst="rect">
            <a:avLst/>
          </a:prstGeom>
          <a:noFill/>
        </p:spPr>
        <p:txBody>
          <a:bodyPr wrap="none" rtlCol="0">
            <a:spAutoFit/>
          </a:bodyPr>
          <a:lstStyle/>
          <a:p>
            <a:r>
              <a:rPr lang="en-US" dirty="0"/>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947099" y="3995492"/>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882861" y="5808966"/>
            <a:ext cx="434734" cy="369332"/>
          </a:xfrm>
          <a:prstGeom prst="rect">
            <a:avLst/>
          </a:prstGeom>
          <a:noFill/>
        </p:spPr>
        <p:txBody>
          <a:bodyPr wrap="none" rtlCol="0">
            <a:spAutoFit/>
          </a:bodyPr>
          <a:lstStyle/>
          <a:p>
            <a:r>
              <a:rPr lang="en-US" dirty="0"/>
              <a:t>10</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E6157AC-EF31-CB49-B451-DBD41A048681}"/>
                  </a:ext>
                </a:extLst>
              </p:cNvPr>
              <p:cNvSpPr txBox="1"/>
              <p:nvPr/>
            </p:nvSpPr>
            <p:spPr>
              <a:xfrm>
                <a:off x="79513" y="4843678"/>
                <a:ext cx="5951909" cy="923330"/>
              </a:xfrm>
              <a:prstGeom prst="rect">
                <a:avLst/>
              </a:prstGeom>
              <a:noFill/>
            </p:spPr>
            <p:txBody>
              <a:bodyPr wrap="square" rtlCol="0">
                <a:spAutoFit/>
              </a:bodyPr>
              <a:lstStyle/>
              <a:p>
                <a:r>
                  <a:rPr lang="en-US" dirty="0"/>
                  <a:t>Line 4 sorts the edges in </a:t>
                </a:r>
                <a14:m>
                  <m:oMath xmlns:m="http://schemas.openxmlformats.org/officeDocument/2006/math">
                    <m:r>
                      <m:rPr>
                        <m:sty m:val="p"/>
                      </m:rPr>
                      <a:rPr lang="en-US" b="0" i="0" dirty="0" smtClean="0">
                        <a:latin typeface="Cambria Math" panose="02040503050406030204" pitchFamily="18" charset="0"/>
                      </a:rPr>
                      <m:t>O</m:t>
                    </m:r>
                    <m:d>
                      <m:dPr>
                        <m:ctrlPr>
                          <a:rPr lang="en-US" b="0" i="1" dirty="0" smtClean="0">
                            <a:latin typeface="Cambria Math" panose="02040503050406030204" pitchFamily="18" charset="0"/>
                          </a:rPr>
                        </m:ctrlPr>
                      </m:dPr>
                      <m:e>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𝐸</m:t>
                            </m:r>
                          </m:e>
                        </m:d>
                        <m:func>
                          <m:funcPr>
                            <m:ctrlPr>
                              <a:rPr lang="en-US" i="1" dirty="0" smtClean="0">
                                <a:latin typeface="Cambria Math" panose="02040503050406030204" pitchFamily="18" charset="0"/>
                              </a:rPr>
                            </m:ctrlPr>
                          </m:funcPr>
                          <m:fName>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log</m:t>
                                </m:r>
                              </m:e>
                              <m:sub>
                                <m:r>
                                  <a:rPr lang="en-US" i="1" dirty="0" smtClean="0">
                                    <a:latin typeface="Cambria Math" panose="02040503050406030204" pitchFamily="18" charset="0"/>
                                  </a:rPr>
                                  <m:t>2</m:t>
                                </m:r>
                              </m:sub>
                            </m:sSub>
                          </m:fName>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func>
                      </m:e>
                    </m:d>
                  </m:oMath>
                </a14:m>
                <a:r>
                  <a:rPr lang="en-US" dirty="0"/>
                  <a:t> time</a:t>
                </a:r>
              </a:p>
              <a:p>
                <a:pPr/>
                <a14:m>
                  <m:oMathPara xmlns:m="http://schemas.openxmlformats.org/officeDocument/2006/math">
                    <m:oMathParaPr>
                      <m:jc m:val="left"/>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&lt;|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0" smtClean="0">
                              <a:latin typeface="Cambria Math" panose="02040503050406030204" pitchFamily="18" charset="0"/>
                            </a:rPr>
                            <m:t>2</m:t>
                          </m:r>
                        </m:sub>
                      </m:sSub>
                      <m:d>
                        <m:dPr>
                          <m:begChr m:val="|"/>
                          <m:endChr m:val="|"/>
                          <m:ctrlPr>
                            <a:rPr lang="en-US" i="1">
                              <a:latin typeface="Cambria Math" panose="02040503050406030204" pitchFamily="18" charset="0"/>
                            </a:rPr>
                          </m:ctrlPr>
                        </m:dPr>
                        <m:e>
                          <m:r>
                            <a:rPr lang="en-US" i="1">
                              <a:latin typeface="Cambria Math" panose="02040503050406030204" pitchFamily="18" charset="0"/>
                            </a:rPr>
                            <m:t>𝐸</m:t>
                          </m:r>
                        </m:e>
                      </m:d>
                      <m:r>
                        <a:rPr lang="en-US" i="1">
                          <a:latin typeface="Cambria Math" panose="02040503050406030204" pitchFamily="18" charset="0"/>
                        </a:rPr>
                        <m:t>&lt;</m:t>
                      </m:r>
                      <m:r>
                        <a:rPr lang="en-US" b="0" i="1" smtClean="0">
                          <a:latin typeface="Cambria Math" panose="02040503050406030204" pitchFamily="18" charset="0"/>
                        </a:rPr>
                        <m:t>2</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r>
                            <a:rPr lang="en-US" b="0" i="1" smtClean="0">
                              <a:latin typeface="Cambria Math" panose="02040503050406030204" pitchFamily="18" charset="0"/>
                            </a:rPr>
                            <m:t>=</m:t>
                          </m:r>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e>
                      </m:func>
                    </m:oMath>
                  </m:oMathPara>
                </a14:m>
                <a:endParaRPr lang="en-US" dirty="0"/>
              </a:p>
              <a:p>
                <a:r>
                  <a:rPr lang="en-US" dirty="0"/>
                  <a:t>Running time can be written as </a:t>
                </a:r>
                <a14:m>
                  <m:oMath xmlns:m="http://schemas.openxmlformats.org/officeDocument/2006/math">
                    <m:r>
                      <m:rPr>
                        <m:sty m:val="p"/>
                      </m:rPr>
                      <a:rPr lang="en-US" dirty="0">
                        <a:latin typeface="Cambria Math" panose="02040503050406030204" pitchFamily="18" charset="0"/>
                      </a:rPr>
                      <m:t>O</m:t>
                    </m:r>
                    <m:d>
                      <m:dPr>
                        <m:ctrlPr>
                          <a:rPr lang="en-US" i="1" dirty="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i="1" dirty="0">
                                    <a:latin typeface="Cambria Math" panose="02040503050406030204" pitchFamily="18" charset="0"/>
                                  </a:rPr>
                                </m:ctrlPr>
                              </m:dPr>
                              <m:e>
                                <m:r>
                                  <a:rPr lang="en-US" b="0" i="1" dirty="0" smtClean="0">
                                    <a:latin typeface="Cambria Math" panose="02040503050406030204" pitchFamily="18" charset="0"/>
                                  </a:rPr>
                                  <m:t>𝑉</m:t>
                                </m:r>
                              </m:e>
                            </m:d>
                          </m:e>
                        </m:func>
                      </m:e>
                    </m:d>
                  </m:oMath>
                </a14:m>
                <a:endParaRPr lang="en-US" dirty="0"/>
              </a:p>
            </p:txBody>
          </p:sp>
        </mc:Choice>
        <mc:Fallback xmlns="">
          <p:sp>
            <p:nvSpPr>
              <p:cNvPr id="3" name="TextBox 2">
                <a:extLst>
                  <a:ext uri="{FF2B5EF4-FFF2-40B4-BE49-F238E27FC236}">
                    <a16:creationId xmlns:a16="http://schemas.microsoft.com/office/drawing/2014/main" id="{EE6157AC-EF31-CB49-B451-DBD41A048681}"/>
                  </a:ext>
                </a:extLst>
              </p:cNvPr>
              <p:cNvSpPr txBox="1">
                <a:spLocks noRot="1" noChangeAspect="1" noMove="1" noResize="1" noEditPoints="1" noAdjustHandles="1" noChangeArrowheads="1" noChangeShapeType="1" noTextEdit="1"/>
              </p:cNvSpPr>
              <p:nvPr/>
            </p:nvSpPr>
            <p:spPr>
              <a:xfrm>
                <a:off x="79513" y="4843678"/>
                <a:ext cx="5951909" cy="923330"/>
              </a:xfrm>
              <a:prstGeom prst="rect">
                <a:avLst/>
              </a:prstGeom>
              <a:blipFill>
                <a:blip r:embed="rId3"/>
                <a:stretch>
                  <a:fillRect l="-853" t="-2703" b="-9459"/>
                </a:stretch>
              </a:blipFill>
            </p:spPr>
            <p:txBody>
              <a:bodyPr/>
              <a:lstStyle/>
              <a:p>
                <a:r>
                  <a:rPr lang="en-US">
                    <a:noFill/>
                  </a:rPr>
                  <a:t> </a:t>
                </a:r>
              </a:p>
            </p:txBody>
          </p:sp>
        </mc:Fallback>
      </mc:AlternateContent>
    </p:spTree>
    <p:extLst>
      <p:ext uri="{BB962C8B-B14F-4D97-AF65-F5344CB8AC3E}">
        <p14:creationId xmlns:p14="http://schemas.microsoft.com/office/powerpoint/2010/main" val="3905251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0,1,2,3,4,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42681590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81271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0618158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5,6,7,8</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4475300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solidFill>
                  <a:schemeClr val="bg1">
                    <a:lumMod val="85000"/>
                  </a:schemeClr>
                </a:solidFill>
              </a:rPr>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5,6,7</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37598941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solidFill>
                  <a:schemeClr val="bg1">
                    <a:lumMod val="85000"/>
                  </a:schemeClr>
                </a:solidFill>
              </a:rPr>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6,7</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477059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solidFill>
                  <a:schemeClr val="bg1">
                    <a:lumMod val="85000"/>
                  </a:schemeClr>
                </a:solidFill>
              </a:rPr>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a:p>
            <a:pPr algn="ctr"/>
            <a:r>
              <a:rPr lang="en-US" dirty="0"/>
              <a:t>7</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6369595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B51D8-86C4-9842-BB05-5D23EB62AB30}"/>
              </a:ext>
            </a:extLst>
          </p:cNvPr>
          <p:cNvCxnSpPr>
            <a:cxnSpLocks/>
            <a:stCxn id="9" idx="0"/>
            <a:endCxn id="12" idx="4"/>
          </p:cNvCxnSpPr>
          <p:nvPr/>
        </p:nvCxnSpPr>
        <p:spPr>
          <a:xfrm flipV="1">
            <a:off x="8429244" y="3777997"/>
            <a:ext cx="4572" cy="6035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89" name="TextBox 88">
            <a:extLst>
              <a:ext uri="{FF2B5EF4-FFF2-40B4-BE49-F238E27FC236}">
                <a16:creationId xmlns:a16="http://schemas.microsoft.com/office/drawing/2014/main" id="{AEB64718-13F7-5941-A31F-0822CBD14ACE}"/>
              </a:ext>
            </a:extLst>
          </p:cNvPr>
          <p:cNvSpPr txBox="1"/>
          <p:nvPr/>
        </p:nvSpPr>
        <p:spPr>
          <a:xfrm>
            <a:off x="8445351" y="3895082"/>
            <a:ext cx="309700" cy="369332"/>
          </a:xfrm>
          <a:prstGeom prst="rect">
            <a:avLst/>
          </a:prstGeom>
          <a:noFill/>
        </p:spPr>
        <p:txBody>
          <a:bodyPr wrap="none" rtlCol="0">
            <a:spAutoFit/>
          </a:bodyPr>
          <a:lstStyle/>
          <a:p>
            <a:r>
              <a:rPr lang="en-US" dirty="0">
                <a:solidFill>
                  <a:schemeClr val="bg1">
                    <a:lumMod val="85000"/>
                  </a:schemeClr>
                </a:solidFill>
              </a:rPr>
              <a:t>6</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3124856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5096190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3427EAD-040D-514D-835B-AD764E531441}"/>
              </a:ext>
            </a:extLst>
          </p:cNvPr>
          <p:cNvCxnSpPr>
            <a:cxnSpLocks/>
            <a:stCxn id="6" idx="7"/>
            <a:endCxn id="12" idx="3"/>
          </p:cNvCxnSpPr>
          <p:nvPr/>
        </p:nvCxnSpPr>
        <p:spPr>
          <a:xfrm flipV="1">
            <a:off x="7056081" y="3723094"/>
            <a:ext cx="1245186" cy="71483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1" name="TextBox 90">
            <a:extLst>
              <a:ext uri="{FF2B5EF4-FFF2-40B4-BE49-F238E27FC236}">
                <a16:creationId xmlns:a16="http://schemas.microsoft.com/office/drawing/2014/main" id="{C9EEF619-3E48-B045-86E1-AA137A3DD21A}"/>
              </a:ext>
            </a:extLst>
          </p:cNvPr>
          <p:cNvSpPr txBox="1"/>
          <p:nvPr/>
        </p:nvSpPr>
        <p:spPr>
          <a:xfrm>
            <a:off x="7482512" y="3757782"/>
            <a:ext cx="309700" cy="369332"/>
          </a:xfrm>
          <a:prstGeom prst="rect">
            <a:avLst/>
          </a:prstGeom>
          <a:noFill/>
        </p:spPr>
        <p:txBody>
          <a:bodyPr wrap="none" rtlCol="0">
            <a:spAutoFit/>
          </a:bodyPr>
          <a:lstStyle/>
          <a:p>
            <a:r>
              <a:rPr lang="en-US" dirty="0">
                <a:solidFill>
                  <a:schemeClr val="bg1">
                    <a:lumMod val="85000"/>
                  </a:schemeClr>
                </a:solidFill>
              </a:rPr>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2363290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AF9D235-71AC-844F-A8FA-BAA150E6A71B}"/>
              </a:ext>
            </a:extLst>
          </p:cNvPr>
          <p:cNvCxnSpPr>
            <a:cxnSpLocks/>
            <a:stCxn id="4" idx="5"/>
            <a:endCxn id="6" idx="2"/>
          </p:cNvCxnSpPr>
          <p:nvPr/>
        </p:nvCxnSpPr>
        <p:spPr>
          <a:xfrm>
            <a:off x="5759157" y="3723094"/>
            <a:ext cx="976923" cy="84738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3" name="TextBox 92">
            <a:extLst>
              <a:ext uri="{FF2B5EF4-FFF2-40B4-BE49-F238E27FC236}">
                <a16:creationId xmlns:a16="http://schemas.microsoft.com/office/drawing/2014/main" id="{9836AE27-EC8E-414B-969E-106E5E45D58F}"/>
              </a:ext>
            </a:extLst>
          </p:cNvPr>
          <p:cNvSpPr txBox="1"/>
          <p:nvPr/>
        </p:nvSpPr>
        <p:spPr>
          <a:xfrm>
            <a:off x="5972228" y="4054664"/>
            <a:ext cx="309700" cy="369332"/>
          </a:xfrm>
          <a:prstGeom prst="rect">
            <a:avLst/>
          </a:prstGeom>
          <a:noFill/>
        </p:spPr>
        <p:txBody>
          <a:bodyPr wrap="none" rtlCol="0">
            <a:spAutoFit/>
          </a:bodyPr>
          <a:lstStyle/>
          <a:p>
            <a:r>
              <a:rPr lang="en-US" dirty="0">
                <a:solidFill>
                  <a:schemeClr val="bg1">
                    <a:lumMod val="85000"/>
                  </a:schemeClr>
                </a:solidFill>
              </a:rPr>
              <a:t>8</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6815113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85000"/>
                  </a:schemeClr>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solidFill>
                  <a:schemeClr val="bg1">
                    <a:lumMod val="85000"/>
                  </a:schemeClr>
                </a:solidFill>
              </a:rPr>
              <a:t>9</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36941174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140D19C-774C-E144-836F-D4C66109CAC0}"/>
              </a:ext>
            </a:extLst>
          </p:cNvPr>
          <p:cNvCxnSpPr>
            <a:cxnSpLocks/>
            <a:stCxn id="6" idx="0"/>
            <a:endCxn id="5" idx="4"/>
          </p:cNvCxnSpPr>
          <p:nvPr/>
        </p:nvCxnSpPr>
        <p:spPr>
          <a:xfrm flipV="1">
            <a:off x="6923532" y="2804944"/>
            <a:ext cx="4572" cy="157808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60D8FE6-0AD8-5541-B49E-B2BE6B69C66A}"/>
              </a:ext>
            </a:extLst>
          </p:cNvPr>
          <p:cNvCxnSpPr>
            <a:cxnSpLocks/>
            <a:stCxn id="10" idx="6"/>
            <a:endCxn id="11" idx="3"/>
          </p:cNvCxnSpPr>
          <p:nvPr/>
        </p:nvCxnSpPr>
        <p:spPr>
          <a:xfrm flipV="1">
            <a:off x="10122408" y="3723094"/>
            <a:ext cx="923583" cy="84585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9D8C22-E7FF-7645-AF1C-436CE073FBB3}"/>
              </a:ext>
            </a:extLst>
          </p:cNvPr>
          <p:cNvCxnSpPr>
            <a:cxnSpLocks/>
            <a:stCxn id="8" idx="4"/>
            <a:endCxn id="10" idx="0"/>
          </p:cNvCxnSpPr>
          <p:nvPr/>
        </p:nvCxnSpPr>
        <p:spPr>
          <a:xfrm>
            <a:off x="9913620" y="2802697"/>
            <a:ext cx="21336" cy="157880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4" name="TextBox 93">
            <a:extLst>
              <a:ext uri="{FF2B5EF4-FFF2-40B4-BE49-F238E27FC236}">
                <a16:creationId xmlns:a16="http://schemas.microsoft.com/office/drawing/2014/main" id="{B2481038-D600-AB43-96B0-A7E823745ABD}"/>
              </a:ext>
            </a:extLst>
          </p:cNvPr>
          <p:cNvSpPr txBox="1"/>
          <p:nvPr/>
        </p:nvSpPr>
        <p:spPr>
          <a:xfrm>
            <a:off x="6896678" y="3370848"/>
            <a:ext cx="434734" cy="369332"/>
          </a:xfrm>
          <a:prstGeom prst="rect">
            <a:avLst/>
          </a:prstGeom>
          <a:noFill/>
        </p:spPr>
        <p:txBody>
          <a:bodyPr wrap="none" rtlCol="0">
            <a:spAutoFit/>
          </a:bodyPr>
          <a:lstStyle/>
          <a:p>
            <a:r>
              <a:rPr lang="en-US" dirty="0">
                <a:solidFill>
                  <a:schemeClr val="bg1">
                    <a:lumMod val="85000"/>
                  </a:schemeClr>
                </a:solidFill>
              </a:rPr>
              <a:t>11</a:t>
            </a:r>
          </a:p>
        </p:txBody>
      </p:sp>
      <p:sp>
        <p:nvSpPr>
          <p:cNvPr id="95" name="TextBox 94">
            <a:extLst>
              <a:ext uri="{FF2B5EF4-FFF2-40B4-BE49-F238E27FC236}">
                <a16:creationId xmlns:a16="http://schemas.microsoft.com/office/drawing/2014/main" id="{BE0B0872-81D8-8A43-8E14-3D2559EE109E}"/>
              </a:ext>
            </a:extLst>
          </p:cNvPr>
          <p:cNvSpPr txBox="1"/>
          <p:nvPr/>
        </p:nvSpPr>
        <p:spPr>
          <a:xfrm>
            <a:off x="9939528" y="3408665"/>
            <a:ext cx="434734" cy="369332"/>
          </a:xfrm>
          <a:prstGeom prst="rect">
            <a:avLst/>
          </a:prstGeom>
          <a:noFill/>
        </p:spPr>
        <p:txBody>
          <a:bodyPr wrap="none" rtlCol="0">
            <a:spAutoFit/>
          </a:bodyPr>
          <a:lstStyle/>
          <a:p>
            <a:r>
              <a:rPr lang="en-US" dirty="0">
                <a:solidFill>
                  <a:schemeClr val="bg1">
                    <a:lumMod val="85000"/>
                  </a:schemeClr>
                </a:solidFill>
              </a:rPr>
              <a:t>14</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97" name="TextBox 96">
            <a:extLst>
              <a:ext uri="{FF2B5EF4-FFF2-40B4-BE49-F238E27FC236}">
                <a16:creationId xmlns:a16="http://schemas.microsoft.com/office/drawing/2014/main" id="{0B848BE3-9F61-5546-8D4A-044C713D1B15}"/>
              </a:ext>
            </a:extLst>
          </p:cNvPr>
          <p:cNvSpPr txBox="1"/>
          <p:nvPr/>
        </p:nvSpPr>
        <p:spPr>
          <a:xfrm>
            <a:off x="10495236" y="4099435"/>
            <a:ext cx="434734" cy="369332"/>
          </a:xfrm>
          <a:prstGeom prst="rect">
            <a:avLst/>
          </a:prstGeom>
          <a:noFill/>
        </p:spPr>
        <p:txBody>
          <a:bodyPr wrap="none" rtlCol="0">
            <a:spAutoFit/>
          </a:bodyPr>
          <a:lstStyle/>
          <a:p>
            <a:r>
              <a:rPr lang="en-US" dirty="0">
                <a:solidFill>
                  <a:schemeClr val="bg1">
                    <a:lumMod val="85000"/>
                  </a:schemeClr>
                </a:solidFill>
              </a:rPr>
              <a:t>10</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6,7, 3,4</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Tree>
    <p:extLst>
      <p:ext uri="{BB962C8B-B14F-4D97-AF65-F5344CB8AC3E}">
        <p14:creationId xmlns:p14="http://schemas.microsoft.com/office/powerpoint/2010/main" val="13052194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 name="Oval 3">
            <a:extLst>
              <a:ext uri="{FF2B5EF4-FFF2-40B4-BE49-F238E27FC236}">
                <a16:creationId xmlns:a16="http://schemas.microsoft.com/office/drawing/2014/main" id="{0E5F6362-28F4-A74E-A269-218DC1DA6A6C}"/>
              </a:ext>
            </a:extLst>
          </p:cNvPr>
          <p:cNvSpPr/>
          <p:nvPr/>
        </p:nvSpPr>
        <p:spPr>
          <a:xfrm>
            <a:off x="5439156"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 name="Oval 4">
            <a:extLst>
              <a:ext uri="{FF2B5EF4-FFF2-40B4-BE49-F238E27FC236}">
                <a16:creationId xmlns:a16="http://schemas.microsoft.com/office/drawing/2014/main" id="{A170E19E-6D4E-D847-A4D9-8F63323147F9}"/>
              </a:ext>
            </a:extLst>
          </p:cNvPr>
          <p:cNvSpPr/>
          <p:nvPr/>
        </p:nvSpPr>
        <p:spPr>
          <a:xfrm>
            <a:off x="6740652"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000E9C93-5A43-394C-ABB9-9B4289FEACA8}"/>
              </a:ext>
            </a:extLst>
          </p:cNvPr>
          <p:cNvSpPr/>
          <p:nvPr/>
        </p:nvSpPr>
        <p:spPr>
          <a:xfrm>
            <a:off x="6736080" y="4383024"/>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 name="Oval 6">
            <a:extLst>
              <a:ext uri="{FF2B5EF4-FFF2-40B4-BE49-F238E27FC236}">
                <a16:creationId xmlns:a16="http://schemas.microsoft.com/office/drawing/2014/main" id="{A09F57F5-5148-7741-9A37-1BFBCE2CCDD5}"/>
              </a:ext>
            </a:extLst>
          </p:cNvPr>
          <p:cNvSpPr/>
          <p:nvPr/>
        </p:nvSpPr>
        <p:spPr>
          <a:xfrm>
            <a:off x="8244078" y="243004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4BA83A7C-386D-D943-AA9F-09322A04F37C}"/>
              </a:ext>
            </a:extLst>
          </p:cNvPr>
          <p:cNvSpPr/>
          <p:nvPr/>
        </p:nvSpPr>
        <p:spPr>
          <a:xfrm>
            <a:off x="9726168" y="24277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Oval 8">
            <a:extLst>
              <a:ext uri="{FF2B5EF4-FFF2-40B4-BE49-F238E27FC236}">
                <a16:creationId xmlns:a16="http://schemas.microsoft.com/office/drawing/2014/main" id="{0B406BBC-D1EE-634C-BA97-6DB2B50D882F}"/>
              </a:ext>
            </a:extLst>
          </p:cNvPr>
          <p:cNvSpPr/>
          <p:nvPr/>
        </p:nvSpPr>
        <p:spPr>
          <a:xfrm>
            <a:off x="8241792"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 name="Oval 9">
            <a:extLst>
              <a:ext uri="{FF2B5EF4-FFF2-40B4-BE49-F238E27FC236}">
                <a16:creationId xmlns:a16="http://schemas.microsoft.com/office/drawing/2014/main" id="{9D2B41A6-A92E-0A4B-A95A-EF5D925257D7}"/>
              </a:ext>
            </a:extLst>
          </p:cNvPr>
          <p:cNvSpPr/>
          <p:nvPr/>
        </p:nvSpPr>
        <p:spPr>
          <a:xfrm>
            <a:off x="9747504" y="4381500"/>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70B0645C-90E1-8F4B-ACB0-C7DEF6CC704F}"/>
              </a:ext>
            </a:extLst>
          </p:cNvPr>
          <p:cNvSpPr/>
          <p:nvPr/>
        </p:nvSpPr>
        <p:spPr>
          <a:xfrm>
            <a:off x="10991088"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Oval 11">
            <a:extLst>
              <a:ext uri="{FF2B5EF4-FFF2-40B4-BE49-F238E27FC236}">
                <a16:creationId xmlns:a16="http://schemas.microsoft.com/office/drawing/2014/main" id="{D8D7DC45-F166-364A-90AF-D26BBF1EA68B}"/>
              </a:ext>
            </a:extLst>
          </p:cNvPr>
          <p:cNvSpPr/>
          <p:nvPr/>
        </p:nvSpPr>
        <p:spPr>
          <a:xfrm>
            <a:off x="8246364" y="3403093"/>
            <a:ext cx="374904" cy="3749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14" name="Straight Connector 13">
            <a:extLst>
              <a:ext uri="{FF2B5EF4-FFF2-40B4-BE49-F238E27FC236}">
                <a16:creationId xmlns:a16="http://schemas.microsoft.com/office/drawing/2014/main" id="{39ABE53E-59B5-A64E-88D4-46B8D326ACF7}"/>
              </a:ext>
            </a:extLst>
          </p:cNvPr>
          <p:cNvCxnSpPr>
            <a:cxnSpLocks/>
            <a:stCxn id="4" idx="7"/>
            <a:endCxn id="5" idx="2"/>
          </p:cNvCxnSpPr>
          <p:nvPr/>
        </p:nvCxnSpPr>
        <p:spPr>
          <a:xfrm flipV="1">
            <a:off x="5759157" y="2617492"/>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5EE0E26-B883-1841-82B5-361EBB35236E}"/>
              </a:ext>
            </a:extLst>
          </p:cNvPr>
          <p:cNvCxnSpPr>
            <a:cxnSpLocks/>
            <a:stCxn id="5" idx="6"/>
            <a:endCxn id="7" idx="2"/>
          </p:cNvCxnSpPr>
          <p:nvPr/>
        </p:nvCxnSpPr>
        <p:spPr>
          <a:xfrm>
            <a:off x="7115556" y="2617492"/>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9B39F1-9E12-AD4A-85EA-98E80D6AC931}"/>
              </a:ext>
            </a:extLst>
          </p:cNvPr>
          <p:cNvCxnSpPr>
            <a:cxnSpLocks/>
            <a:stCxn id="8" idx="2"/>
            <a:endCxn id="7" idx="6"/>
          </p:cNvCxnSpPr>
          <p:nvPr/>
        </p:nvCxnSpPr>
        <p:spPr>
          <a:xfrm flipH="1">
            <a:off x="8618982" y="2615245"/>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C157FD-E5CF-A44F-A6AC-0D27B6C59A21}"/>
              </a:ext>
            </a:extLst>
          </p:cNvPr>
          <p:cNvCxnSpPr>
            <a:cxnSpLocks/>
            <a:stCxn id="6" idx="6"/>
            <a:endCxn id="9" idx="2"/>
          </p:cNvCxnSpPr>
          <p:nvPr/>
        </p:nvCxnSpPr>
        <p:spPr>
          <a:xfrm flipV="1">
            <a:off x="7110984" y="4568952"/>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3BB3620-D533-134C-B7DA-6996D22BC46A}"/>
              </a:ext>
            </a:extLst>
          </p:cNvPr>
          <p:cNvCxnSpPr>
            <a:cxnSpLocks/>
            <a:stCxn id="9" idx="6"/>
            <a:endCxn id="10" idx="2"/>
          </p:cNvCxnSpPr>
          <p:nvPr/>
        </p:nvCxnSpPr>
        <p:spPr>
          <a:xfrm>
            <a:off x="8616696" y="4568952"/>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23C7A3-DE2D-5944-904A-9990BCDF2FD6}"/>
              </a:ext>
            </a:extLst>
          </p:cNvPr>
          <p:cNvCxnSpPr>
            <a:cxnSpLocks/>
            <a:stCxn id="8" idx="6"/>
            <a:endCxn id="11" idx="1"/>
          </p:cNvCxnSpPr>
          <p:nvPr/>
        </p:nvCxnSpPr>
        <p:spPr>
          <a:xfrm>
            <a:off x="10101072" y="2615245"/>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64CDC19-EA3A-6642-BDA4-8922E0F88AA1}"/>
              </a:ext>
            </a:extLst>
          </p:cNvPr>
          <p:cNvCxnSpPr>
            <a:cxnSpLocks/>
            <a:stCxn id="12" idx="0"/>
            <a:endCxn id="7" idx="4"/>
          </p:cNvCxnSpPr>
          <p:nvPr/>
        </p:nvCxnSpPr>
        <p:spPr>
          <a:xfrm flipH="1" flipV="1">
            <a:off x="8431530" y="2804944"/>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0439E5B-EA19-B245-B74D-A720B5E88507}"/>
              </a:ext>
            </a:extLst>
          </p:cNvPr>
          <p:cNvCxnSpPr>
            <a:cxnSpLocks/>
            <a:stCxn id="7" idx="5"/>
            <a:endCxn id="10" idx="1"/>
          </p:cNvCxnSpPr>
          <p:nvPr/>
        </p:nvCxnSpPr>
        <p:spPr>
          <a:xfrm>
            <a:off x="8564079" y="2750041"/>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5587BF52-3727-DD4F-9234-B5E0049B654F}"/>
              </a:ext>
            </a:extLst>
          </p:cNvPr>
          <p:cNvSpPr txBox="1"/>
          <p:nvPr/>
        </p:nvSpPr>
        <p:spPr>
          <a:xfrm>
            <a:off x="7519455" y="4568952"/>
            <a:ext cx="309700" cy="369332"/>
          </a:xfrm>
          <a:prstGeom prst="rect">
            <a:avLst/>
          </a:prstGeom>
          <a:noFill/>
        </p:spPr>
        <p:txBody>
          <a:bodyPr wrap="none" rtlCol="0">
            <a:spAutoFit/>
          </a:bodyPr>
          <a:lstStyle/>
          <a:p>
            <a:r>
              <a:rPr lang="en-US" dirty="0"/>
              <a:t>1</a:t>
            </a:r>
          </a:p>
        </p:txBody>
      </p:sp>
      <p:sp>
        <p:nvSpPr>
          <p:cNvPr id="85" name="TextBox 84">
            <a:extLst>
              <a:ext uri="{FF2B5EF4-FFF2-40B4-BE49-F238E27FC236}">
                <a16:creationId xmlns:a16="http://schemas.microsoft.com/office/drawing/2014/main" id="{73D13F46-9984-F047-9348-C605CDAD009D}"/>
              </a:ext>
            </a:extLst>
          </p:cNvPr>
          <p:cNvSpPr txBox="1"/>
          <p:nvPr/>
        </p:nvSpPr>
        <p:spPr>
          <a:xfrm>
            <a:off x="8134436" y="2949481"/>
            <a:ext cx="309700" cy="369332"/>
          </a:xfrm>
          <a:prstGeom prst="rect">
            <a:avLst/>
          </a:prstGeom>
          <a:noFill/>
        </p:spPr>
        <p:txBody>
          <a:bodyPr wrap="none" rtlCol="0">
            <a:spAutoFit/>
          </a:bodyPr>
          <a:lstStyle/>
          <a:p>
            <a:r>
              <a:rPr lang="en-US" dirty="0"/>
              <a:t>2</a:t>
            </a:r>
          </a:p>
        </p:txBody>
      </p:sp>
      <p:sp>
        <p:nvSpPr>
          <p:cNvPr id="86" name="TextBox 85">
            <a:extLst>
              <a:ext uri="{FF2B5EF4-FFF2-40B4-BE49-F238E27FC236}">
                <a16:creationId xmlns:a16="http://schemas.microsoft.com/office/drawing/2014/main" id="{48ADFCCC-590D-C446-818B-2DE443E0FDFC}"/>
              </a:ext>
            </a:extLst>
          </p:cNvPr>
          <p:cNvSpPr txBox="1"/>
          <p:nvPr/>
        </p:nvSpPr>
        <p:spPr>
          <a:xfrm>
            <a:off x="8991600" y="4568633"/>
            <a:ext cx="309700" cy="369332"/>
          </a:xfrm>
          <a:prstGeom prst="rect">
            <a:avLst/>
          </a:prstGeom>
          <a:noFill/>
        </p:spPr>
        <p:txBody>
          <a:bodyPr wrap="none" rtlCol="0">
            <a:spAutoFit/>
          </a:bodyPr>
          <a:lstStyle/>
          <a:p>
            <a:r>
              <a:rPr lang="en-US" dirty="0"/>
              <a:t>2</a:t>
            </a:r>
          </a:p>
        </p:txBody>
      </p:sp>
      <p:sp>
        <p:nvSpPr>
          <p:cNvPr id="87" name="TextBox 86">
            <a:extLst>
              <a:ext uri="{FF2B5EF4-FFF2-40B4-BE49-F238E27FC236}">
                <a16:creationId xmlns:a16="http://schemas.microsoft.com/office/drawing/2014/main" id="{664F4CAE-D3A9-C142-835B-E8E05BE4F483}"/>
              </a:ext>
            </a:extLst>
          </p:cNvPr>
          <p:cNvSpPr txBox="1"/>
          <p:nvPr/>
        </p:nvSpPr>
        <p:spPr>
          <a:xfrm>
            <a:off x="5978613" y="2764815"/>
            <a:ext cx="309700" cy="369332"/>
          </a:xfrm>
          <a:prstGeom prst="rect">
            <a:avLst/>
          </a:prstGeom>
          <a:noFill/>
        </p:spPr>
        <p:txBody>
          <a:bodyPr wrap="none" rtlCol="0">
            <a:spAutoFit/>
          </a:bodyPr>
          <a:lstStyle/>
          <a:p>
            <a:r>
              <a:rPr lang="en-US" dirty="0"/>
              <a:t>4</a:t>
            </a:r>
          </a:p>
        </p:txBody>
      </p:sp>
      <p:sp>
        <p:nvSpPr>
          <p:cNvPr id="88" name="TextBox 87">
            <a:extLst>
              <a:ext uri="{FF2B5EF4-FFF2-40B4-BE49-F238E27FC236}">
                <a16:creationId xmlns:a16="http://schemas.microsoft.com/office/drawing/2014/main" id="{7B996CF3-AFB6-1944-88F9-E61ACCF9B58F}"/>
              </a:ext>
            </a:extLst>
          </p:cNvPr>
          <p:cNvSpPr txBox="1"/>
          <p:nvPr/>
        </p:nvSpPr>
        <p:spPr>
          <a:xfrm>
            <a:off x="9145215" y="3273330"/>
            <a:ext cx="309700" cy="369332"/>
          </a:xfrm>
          <a:prstGeom prst="rect">
            <a:avLst/>
          </a:prstGeom>
          <a:noFill/>
        </p:spPr>
        <p:txBody>
          <a:bodyPr wrap="none" rtlCol="0">
            <a:spAutoFit/>
          </a:bodyPr>
          <a:lstStyle/>
          <a:p>
            <a:r>
              <a:rPr lang="en-US" dirty="0"/>
              <a:t>4</a:t>
            </a:r>
          </a:p>
        </p:txBody>
      </p:sp>
      <p:sp>
        <p:nvSpPr>
          <p:cNvPr id="90" name="TextBox 89">
            <a:extLst>
              <a:ext uri="{FF2B5EF4-FFF2-40B4-BE49-F238E27FC236}">
                <a16:creationId xmlns:a16="http://schemas.microsoft.com/office/drawing/2014/main" id="{83AD8F84-1546-1440-BABD-68ECCA168DEF}"/>
              </a:ext>
            </a:extLst>
          </p:cNvPr>
          <p:cNvSpPr txBox="1"/>
          <p:nvPr/>
        </p:nvSpPr>
        <p:spPr>
          <a:xfrm>
            <a:off x="9017725" y="2264910"/>
            <a:ext cx="309700" cy="369332"/>
          </a:xfrm>
          <a:prstGeom prst="rect">
            <a:avLst/>
          </a:prstGeom>
          <a:noFill/>
        </p:spPr>
        <p:txBody>
          <a:bodyPr wrap="none" rtlCol="0">
            <a:spAutoFit/>
          </a:bodyPr>
          <a:lstStyle/>
          <a:p>
            <a:r>
              <a:rPr lang="en-US" dirty="0"/>
              <a:t>7</a:t>
            </a:r>
          </a:p>
        </p:txBody>
      </p:sp>
      <p:sp>
        <p:nvSpPr>
          <p:cNvPr id="92" name="TextBox 91">
            <a:extLst>
              <a:ext uri="{FF2B5EF4-FFF2-40B4-BE49-F238E27FC236}">
                <a16:creationId xmlns:a16="http://schemas.microsoft.com/office/drawing/2014/main" id="{657DC173-36A6-AC4E-A7D6-E3F62ADCE7B9}"/>
              </a:ext>
            </a:extLst>
          </p:cNvPr>
          <p:cNvSpPr txBox="1"/>
          <p:nvPr/>
        </p:nvSpPr>
        <p:spPr>
          <a:xfrm>
            <a:off x="10586321" y="2764815"/>
            <a:ext cx="309700" cy="369332"/>
          </a:xfrm>
          <a:prstGeom prst="rect">
            <a:avLst/>
          </a:prstGeom>
          <a:noFill/>
        </p:spPr>
        <p:txBody>
          <a:bodyPr wrap="none" rtlCol="0">
            <a:spAutoFit/>
          </a:bodyPr>
          <a:lstStyle/>
          <a:p>
            <a:r>
              <a:rPr lang="en-US" dirty="0"/>
              <a:t>9</a:t>
            </a:r>
          </a:p>
        </p:txBody>
      </p:sp>
      <p:sp>
        <p:nvSpPr>
          <p:cNvPr id="96" name="TextBox 95">
            <a:extLst>
              <a:ext uri="{FF2B5EF4-FFF2-40B4-BE49-F238E27FC236}">
                <a16:creationId xmlns:a16="http://schemas.microsoft.com/office/drawing/2014/main" id="{4967EE5B-3BF5-1A4F-AF5A-55DF0FFCCE58}"/>
              </a:ext>
            </a:extLst>
          </p:cNvPr>
          <p:cNvSpPr txBox="1"/>
          <p:nvPr/>
        </p:nvSpPr>
        <p:spPr>
          <a:xfrm>
            <a:off x="7559474" y="2285961"/>
            <a:ext cx="309700" cy="369332"/>
          </a:xfrm>
          <a:prstGeom prst="rect">
            <a:avLst/>
          </a:prstGeom>
          <a:noFill/>
        </p:spPr>
        <p:txBody>
          <a:bodyPr wrap="none" rtlCol="0">
            <a:spAutoFit/>
          </a:bodyPr>
          <a:lstStyle/>
          <a:p>
            <a:r>
              <a:rPr lang="en-US" dirty="0"/>
              <a:t>8</a:t>
            </a:r>
          </a:p>
        </p:txBody>
      </p:sp>
      <p:sp>
        <p:nvSpPr>
          <p:cNvPr id="3" name="Can 2">
            <a:extLst>
              <a:ext uri="{FF2B5EF4-FFF2-40B4-BE49-F238E27FC236}">
                <a16:creationId xmlns:a16="http://schemas.microsoft.com/office/drawing/2014/main" id="{256213F8-B839-E24E-9243-9120A41076E4}"/>
              </a:ext>
            </a:extLst>
          </p:cNvPr>
          <p:cNvSpPr/>
          <p:nvPr/>
        </p:nvSpPr>
        <p:spPr>
          <a:xfrm>
            <a:off x="978408" y="1847088"/>
            <a:ext cx="1435608" cy="2721545"/>
          </a:xfrm>
          <a:prstGeom prst="can">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an 42">
            <a:extLst>
              <a:ext uri="{FF2B5EF4-FFF2-40B4-BE49-F238E27FC236}">
                <a16:creationId xmlns:a16="http://schemas.microsoft.com/office/drawing/2014/main" id="{8B149C4C-FAB1-F846-B6F8-3C82C9FB393A}"/>
              </a:ext>
            </a:extLst>
          </p:cNvPr>
          <p:cNvSpPr/>
          <p:nvPr/>
        </p:nvSpPr>
        <p:spPr>
          <a:xfrm>
            <a:off x="3148269" y="1847087"/>
            <a:ext cx="1435608" cy="2721545"/>
          </a:xfrm>
          <a:prstGeom prst="ca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0,1,2,8,5,</a:t>
            </a:r>
          </a:p>
          <a:p>
            <a:pPr algn="ctr"/>
            <a:r>
              <a:rPr lang="en-US" dirty="0">
                <a:solidFill>
                  <a:schemeClr val="tx1"/>
                </a:solidFill>
              </a:rPr>
              <a:t>6,7, 3,4</a:t>
            </a:r>
          </a:p>
        </p:txBody>
      </p:sp>
      <p:sp>
        <p:nvSpPr>
          <p:cNvPr id="16" name="TextBox 15">
            <a:extLst>
              <a:ext uri="{FF2B5EF4-FFF2-40B4-BE49-F238E27FC236}">
                <a16:creationId xmlns:a16="http://schemas.microsoft.com/office/drawing/2014/main" id="{A8122D54-BC22-3849-8B63-F1C1495AB6E4}"/>
              </a:ext>
            </a:extLst>
          </p:cNvPr>
          <p:cNvSpPr txBox="1"/>
          <p:nvPr/>
        </p:nvSpPr>
        <p:spPr>
          <a:xfrm>
            <a:off x="978408" y="4937965"/>
            <a:ext cx="1435608" cy="369332"/>
          </a:xfrm>
          <a:prstGeom prst="rect">
            <a:avLst/>
          </a:prstGeom>
          <a:noFill/>
        </p:spPr>
        <p:txBody>
          <a:bodyPr wrap="square" rtlCol="0">
            <a:spAutoFit/>
          </a:bodyPr>
          <a:lstStyle/>
          <a:p>
            <a:pPr algn="ctr"/>
            <a:r>
              <a:rPr lang="en-US" dirty="0"/>
              <a:t>unexplored</a:t>
            </a:r>
          </a:p>
        </p:txBody>
      </p:sp>
      <p:sp>
        <p:nvSpPr>
          <p:cNvPr id="46" name="TextBox 45">
            <a:extLst>
              <a:ext uri="{FF2B5EF4-FFF2-40B4-BE49-F238E27FC236}">
                <a16:creationId xmlns:a16="http://schemas.microsoft.com/office/drawing/2014/main" id="{C0F606C3-E41A-9C4B-BBD8-990D8F29993B}"/>
              </a:ext>
            </a:extLst>
          </p:cNvPr>
          <p:cNvSpPr txBox="1"/>
          <p:nvPr/>
        </p:nvSpPr>
        <p:spPr>
          <a:xfrm>
            <a:off x="3148269" y="4937965"/>
            <a:ext cx="1435608" cy="369332"/>
          </a:xfrm>
          <a:prstGeom prst="rect">
            <a:avLst/>
          </a:prstGeom>
          <a:noFill/>
        </p:spPr>
        <p:txBody>
          <a:bodyPr wrap="square" rtlCol="0">
            <a:spAutoFit/>
          </a:bodyPr>
          <a:lstStyle/>
          <a:p>
            <a:pPr algn="ctr"/>
            <a:r>
              <a:rPr lang="en-US" dirty="0"/>
              <a:t>explored</a:t>
            </a:r>
          </a:p>
        </p:txBody>
      </p:sp>
      <p:sp>
        <p:nvSpPr>
          <p:cNvPr id="38" name="TextBox 37">
            <a:extLst>
              <a:ext uri="{FF2B5EF4-FFF2-40B4-BE49-F238E27FC236}">
                <a16:creationId xmlns:a16="http://schemas.microsoft.com/office/drawing/2014/main" id="{E19FFE87-7684-EB4E-8B99-A46F650FD96B}"/>
              </a:ext>
            </a:extLst>
          </p:cNvPr>
          <p:cNvSpPr txBox="1"/>
          <p:nvPr/>
        </p:nvSpPr>
        <p:spPr>
          <a:xfrm>
            <a:off x="7363364" y="5314424"/>
            <a:ext cx="2161543" cy="369332"/>
          </a:xfrm>
          <a:prstGeom prst="rect">
            <a:avLst/>
          </a:prstGeom>
          <a:noFill/>
        </p:spPr>
        <p:txBody>
          <a:bodyPr wrap="square" rtlCol="0">
            <a:spAutoFit/>
          </a:bodyPr>
          <a:lstStyle/>
          <a:p>
            <a:r>
              <a:rPr lang="en-US" dirty="0"/>
              <a:t>MST with cost = 37</a:t>
            </a:r>
          </a:p>
        </p:txBody>
      </p:sp>
    </p:spTree>
    <p:extLst>
      <p:ext uri="{BB962C8B-B14F-4D97-AF65-F5344CB8AC3E}">
        <p14:creationId xmlns:p14="http://schemas.microsoft.com/office/powerpoint/2010/main" val="33940407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sp>
        <p:nvSpPr>
          <p:cNvPr id="44" name="Oval 43">
            <a:extLst>
              <a:ext uri="{FF2B5EF4-FFF2-40B4-BE49-F238E27FC236}">
                <a16:creationId xmlns:a16="http://schemas.microsoft.com/office/drawing/2014/main" id="{6FD10682-36F3-554A-8F00-5A1A63BF6AD4}"/>
              </a:ext>
            </a:extLst>
          </p:cNvPr>
          <p:cNvSpPr/>
          <p:nvPr/>
        </p:nvSpPr>
        <p:spPr>
          <a:xfrm>
            <a:off x="5826781"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6" name="Oval 45">
            <a:extLst>
              <a:ext uri="{FF2B5EF4-FFF2-40B4-BE49-F238E27FC236}">
                <a16:creationId xmlns:a16="http://schemas.microsoft.com/office/drawing/2014/main" id="{B6E3D542-1ED4-C244-ADE7-490AAB315768}"/>
              </a:ext>
            </a:extLst>
          </p:cNvPr>
          <p:cNvSpPr/>
          <p:nvPr/>
        </p:nvSpPr>
        <p:spPr>
          <a:xfrm>
            <a:off x="7128277" y="413957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7" name="Oval 46">
            <a:extLst>
              <a:ext uri="{FF2B5EF4-FFF2-40B4-BE49-F238E27FC236}">
                <a16:creationId xmlns:a16="http://schemas.microsoft.com/office/drawing/2014/main" id="{D6F621E4-B364-924A-8F0A-1F8BD153B4CE}"/>
              </a:ext>
            </a:extLst>
          </p:cNvPr>
          <p:cNvSpPr/>
          <p:nvPr/>
        </p:nvSpPr>
        <p:spPr>
          <a:xfrm>
            <a:off x="7123705" y="6092555"/>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8" name="Oval 47">
            <a:extLst>
              <a:ext uri="{FF2B5EF4-FFF2-40B4-BE49-F238E27FC236}">
                <a16:creationId xmlns:a16="http://schemas.microsoft.com/office/drawing/2014/main" id="{8928BEE3-8254-3E40-9E58-C7835A76D7AB}"/>
              </a:ext>
            </a:extLst>
          </p:cNvPr>
          <p:cNvSpPr/>
          <p:nvPr/>
        </p:nvSpPr>
        <p:spPr>
          <a:xfrm>
            <a:off x="8631703" y="413957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Oval 48">
            <a:extLst>
              <a:ext uri="{FF2B5EF4-FFF2-40B4-BE49-F238E27FC236}">
                <a16:creationId xmlns:a16="http://schemas.microsoft.com/office/drawing/2014/main" id="{9D5AE0CA-0274-9D43-8F2A-1DC317776EC3}"/>
              </a:ext>
            </a:extLst>
          </p:cNvPr>
          <p:cNvSpPr/>
          <p:nvPr/>
        </p:nvSpPr>
        <p:spPr>
          <a:xfrm>
            <a:off x="10113793" y="41373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1" name="Oval 50">
            <a:extLst>
              <a:ext uri="{FF2B5EF4-FFF2-40B4-BE49-F238E27FC236}">
                <a16:creationId xmlns:a16="http://schemas.microsoft.com/office/drawing/2014/main" id="{1B1652FF-34AD-714E-8206-3E685FDE384B}"/>
              </a:ext>
            </a:extLst>
          </p:cNvPr>
          <p:cNvSpPr/>
          <p:nvPr/>
        </p:nvSpPr>
        <p:spPr>
          <a:xfrm>
            <a:off x="8629417" y="609103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2" name="Oval 51">
            <a:extLst>
              <a:ext uri="{FF2B5EF4-FFF2-40B4-BE49-F238E27FC236}">
                <a16:creationId xmlns:a16="http://schemas.microsoft.com/office/drawing/2014/main" id="{3B77F58B-438F-2248-B8A8-FEAFD995CA6A}"/>
              </a:ext>
            </a:extLst>
          </p:cNvPr>
          <p:cNvSpPr/>
          <p:nvPr/>
        </p:nvSpPr>
        <p:spPr>
          <a:xfrm>
            <a:off x="10135129" y="6091031"/>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3" name="Oval 52">
            <a:extLst>
              <a:ext uri="{FF2B5EF4-FFF2-40B4-BE49-F238E27FC236}">
                <a16:creationId xmlns:a16="http://schemas.microsoft.com/office/drawing/2014/main" id="{66FB2C50-7882-4C48-941E-C8BE5CE05C97}"/>
              </a:ext>
            </a:extLst>
          </p:cNvPr>
          <p:cNvSpPr/>
          <p:nvPr/>
        </p:nvSpPr>
        <p:spPr>
          <a:xfrm>
            <a:off x="11378713"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4" name="Oval 53">
            <a:extLst>
              <a:ext uri="{FF2B5EF4-FFF2-40B4-BE49-F238E27FC236}">
                <a16:creationId xmlns:a16="http://schemas.microsoft.com/office/drawing/2014/main" id="{A2EC4C9F-0F90-AA42-9871-E297D66E9329}"/>
              </a:ext>
            </a:extLst>
          </p:cNvPr>
          <p:cNvSpPr/>
          <p:nvPr/>
        </p:nvSpPr>
        <p:spPr>
          <a:xfrm>
            <a:off x="8633989" y="5112624"/>
            <a:ext cx="374904" cy="374904"/>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cxnSp>
        <p:nvCxnSpPr>
          <p:cNvPr id="55" name="Straight Connector 54">
            <a:extLst>
              <a:ext uri="{FF2B5EF4-FFF2-40B4-BE49-F238E27FC236}">
                <a16:creationId xmlns:a16="http://schemas.microsoft.com/office/drawing/2014/main" id="{BC684393-79EC-DE4F-B9B2-E263FE2AEA5C}"/>
              </a:ext>
            </a:extLst>
          </p:cNvPr>
          <p:cNvCxnSpPr>
            <a:cxnSpLocks/>
            <a:stCxn id="44" idx="7"/>
            <a:endCxn id="46" idx="2"/>
          </p:cNvCxnSpPr>
          <p:nvPr/>
        </p:nvCxnSpPr>
        <p:spPr>
          <a:xfrm flipV="1">
            <a:off x="6146782" y="4327023"/>
            <a:ext cx="981495" cy="84050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8BD3AEE-E31A-6B4D-95D3-C4079368D2BB}"/>
              </a:ext>
            </a:extLst>
          </p:cNvPr>
          <p:cNvCxnSpPr>
            <a:cxnSpLocks/>
            <a:stCxn id="47" idx="7"/>
            <a:endCxn id="54" idx="3"/>
          </p:cNvCxnSpPr>
          <p:nvPr/>
        </p:nvCxnSpPr>
        <p:spPr>
          <a:xfrm flipV="1">
            <a:off x="7443706" y="5432625"/>
            <a:ext cx="1245186" cy="714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11CB91E-A54E-CA41-BD7F-D020B0707E1D}"/>
              </a:ext>
            </a:extLst>
          </p:cNvPr>
          <p:cNvCxnSpPr>
            <a:cxnSpLocks/>
            <a:stCxn id="47" idx="0"/>
            <a:endCxn id="46" idx="4"/>
          </p:cNvCxnSpPr>
          <p:nvPr/>
        </p:nvCxnSpPr>
        <p:spPr>
          <a:xfrm flipV="1">
            <a:off x="7311157" y="4514475"/>
            <a:ext cx="4572" cy="157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B55DDDC-7585-6549-AF6F-99900BFE4E9E}"/>
              </a:ext>
            </a:extLst>
          </p:cNvPr>
          <p:cNvCxnSpPr>
            <a:cxnSpLocks/>
            <a:stCxn id="46" idx="6"/>
            <a:endCxn id="48" idx="2"/>
          </p:cNvCxnSpPr>
          <p:nvPr/>
        </p:nvCxnSpPr>
        <p:spPr>
          <a:xfrm>
            <a:off x="7503181" y="4327023"/>
            <a:ext cx="1128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897B85-4AE7-2146-87E7-EBC6745AFEE7}"/>
              </a:ext>
            </a:extLst>
          </p:cNvPr>
          <p:cNvCxnSpPr>
            <a:cxnSpLocks/>
            <a:stCxn id="49" idx="2"/>
            <a:endCxn id="48" idx="6"/>
          </p:cNvCxnSpPr>
          <p:nvPr/>
        </p:nvCxnSpPr>
        <p:spPr>
          <a:xfrm flipH="1">
            <a:off x="9006607" y="4324776"/>
            <a:ext cx="1107186" cy="22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6CD1DF2-16DF-1E47-9299-3662D5754BBC}"/>
              </a:ext>
            </a:extLst>
          </p:cNvPr>
          <p:cNvCxnSpPr>
            <a:cxnSpLocks/>
            <a:stCxn id="47" idx="6"/>
            <a:endCxn id="51" idx="2"/>
          </p:cNvCxnSpPr>
          <p:nvPr/>
        </p:nvCxnSpPr>
        <p:spPr>
          <a:xfrm flipV="1">
            <a:off x="7498609" y="6278483"/>
            <a:ext cx="1130808" cy="1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9721F4B-7AD8-CA4E-82FE-2409245E48EB}"/>
              </a:ext>
            </a:extLst>
          </p:cNvPr>
          <p:cNvCxnSpPr>
            <a:cxnSpLocks/>
            <a:stCxn id="51" idx="6"/>
            <a:endCxn id="52" idx="2"/>
          </p:cNvCxnSpPr>
          <p:nvPr/>
        </p:nvCxnSpPr>
        <p:spPr>
          <a:xfrm>
            <a:off x="9004321" y="6278483"/>
            <a:ext cx="11308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874570A-17F1-0240-90F2-082FBE777C21}"/>
              </a:ext>
            </a:extLst>
          </p:cNvPr>
          <p:cNvCxnSpPr>
            <a:cxnSpLocks/>
            <a:stCxn id="52" idx="6"/>
            <a:endCxn id="53" idx="3"/>
          </p:cNvCxnSpPr>
          <p:nvPr/>
        </p:nvCxnSpPr>
        <p:spPr>
          <a:xfrm flipV="1">
            <a:off x="10510033" y="5432625"/>
            <a:ext cx="923583" cy="8458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6EF050A-2183-E74A-A834-B232BE44DD6D}"/>
              </a:ext>
            </a:extLst>
          </p:cNvPr>
          <p:cNvCxnSpPr>
            <a:cxnSpLocks/>
            <a:stCxn id="49" idx="6"/>
            <a:endCxn id="53" idx="1"/>
          </p:cNvCxnSpPr>
          <p:nvPr/>
        </p:nvCxnSpPr>
        <p:spPr>
          <a:xfrm>
            <a:off x="10488697" y="4324776"/>
            <a:ext cx="944919" cy="8427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E836C85-1534-DD41-B71B-BCA8558CC362}"/>
              </a:ext>
            </a:extLst>
          </p:cNvPr>
          <p:cNvCxnSpPr>
            <a:cxnSpLocks/>
            <a:stCxn id="49" idx="4"/>
            <a:endCxn id="52" idx="0"/>
          </p:cNvCxnSpPr>
          <p:nvPr/>
        </p:nvCxnSpPr>
        <p:spPr>
          <a:xfrm>
            <a:off x="10301245" y="4512228"/>
            <a:ext cx="21336" cy="15788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A273DBA-E058-8D4B-97B6-5F77F7BC9ECF}"/>
              </a:ext>
            </a:extLst>
          </p:cNvPr>
          <p:cNvCxnSpPr>
            <a:cxnSpLocks/>
            <a:stCxn id="51" idx="0"/>
            <a:endCxn id="54" idx="4"/>
          </p:cNvCxnSpPr>
          <p:nvPr/>
        </p:nvCxnSpPr>
        <p:spPr>
          <a:xfrm flipV="1">
            <a:off x="8816869" y="5487528"/>
            <a:ext cx="4572" cy="6035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5E84F3E-CC6A-0D48-842C-076406D7999C}"/>
              </a:ext>
            </a:extLst>
          </p:cNvPr>
          <p:cNvCxnSpPr>
            <a:cxnSpLocks/>
            <a:stCxn id="54" idx="0"/>
            <a:endCxn id="48" idx="4"/>
          </p:cNvCxnSpPr>
          <p:nvPr/>
        </p:nvCxnSpPr>
        <p:spPr>
          <a:xfrm flipH="1" flipV="1">
            <a:off x="8819155" y="4514475"/>
            <a:ext cx="2286" cy="59814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F1530F2-7932-0844-896B-C77572BFB266}"/>
              </a:ext>
            </a:extLst>
          </p:cNvPr>
          <p:cNvCxnSpPr>
            <a:cxnSpLocks/>
            <a:stCxn id="48" idx="5"/>
            <a:endCxn id="52" idx="1"/>
          </p:cNvCxnSpPr>
          <p:nvPr/>
        </p:nvCxnSpPr>
        <p:spPr>
          <a:xfrm>
            <a:off x="8951704" y="4459572"/>
            <a:ext cx="1238328" cy="168636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15C91A9-55F7-1B4B-954B-F160997B5999}"/>
              </a:ext>
            </a:extLst>
          </p:cNvPr>
          <p:cNvCxnSpPr>
            <a:cxnSpLocks/>
            <a:stCxn id="44" idx="5"/>
            <a:endCxn id="47" idx="2"/>
          </p:cNvCxnSpPr>
          <p:nvPr/>
        </p:nvCxnSpPr>
        <p:spPr>
          <a:xfrm>
            <a:off x="6146782" y="5432625"/>
            <a:ext cx="976923" cy="847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A7900B7F-7949-D24A-BB43-3A5D9525C931}"/>
              </a:ext>
            </a:extLst>
          </p:cNvPr>
          <p:cNvSpPr txBox="1"/>
          <p:nvPr/>
        </p:nvSpPr>
        <p:spPr>
          <a:xfrm>
            <a:off x="7907080" y="6278483"/>
            <a:ext cx="309700" cy="369332"/>
          </a:xfrm>
          <a:prstGeom prst="rect">
            <a:avLst/>
          </a:prstGeom>
          <a:noFill/>
        </p:spPr>
        <p:txBody>
          <a:bodyPr wrap="none" rtlCol="0">
            <a:spAutoFit/>
          </a:bodyPr>
          <a:lstStyle/>
          <a:p>
            <a:r>
              <a:rPr lang="en-US" dirty="0"/>
              <a:t>1</a:t>
            </a:r>
          </a:p>
        </p:txBody>
      </p:sp>
      <p:sp>
        <p:nvSpPr>
          <p:cNvPr id="72" name="TextBox 71">
            <a:extLst>
              <a:ext uri="{FF2B5EF4-FFF2-40B4-BE49-F238E27FC236}">
                <a16:creationId xmlns:a16="http://schemas.microsoft.com/office/drawing/2014/main" id="{C281384E-876A-0E46-BDD1-9A2BB5495803}"/>
              </a:ext>
            </a:extLst>
          </p:cNvPr>
          <p:cNvSpPr txBox="1"/>
          <p:nvPr/>
        </p:nvSpPr>
        <p:spPr>
          <a:xfrm>
            <a:off x="8522061" y="4659012"/>
            <a:ext cx="309700" cy="369332"/>
          </a:xfrm>
          <a:prstGeom prst="rect">
            <a:avLst/>
          </a:prstGeom>
          <a:noFill/>
        </p:spPr>
        <p:txBody>
          <a:bodyPr wrap="none" rtlCol="0">
            <a:spAutoFit/>
          </a:bodyPr>
          <a:lstStyle/>
          <a:p>
            <a:r>
              <a:rPr lang="en-US" dirty="0"/>
              <a:t>2</a:t>
            </a:r>
          </a:p>
        </p:txBody>
      </p:sp>
      <p:sp>
        <p:nvSpPr>
          <p:cNvPr id="73" name="TextBox 72">
            <a:extLst>
              <a:ext uri="{FF2B5EF4-FFF2-40B4-BE49-F238E27FC236}">
                <a16:creationId xmlns:a16="http://schemas.microsoft.com/office/drawing/2014/main" id="{0AC014C5-A207-F44B-A1F0-1628DB050D4C}"/>
              </a:ext>
            </a:extLst>
          </p:cNvPr>
          <p:cNvSpPr txBox="1"/>
          <p:nvPr/>
        </p:nvSpPr>
        <p:spPr>
          <a:xfrm>
            <a:off x="9379225" y="6278164"/>
            <a:ext cx="309700" cy="369332"/>
          </a:xfrm>
          <a:prstGeom prst="rect">
            <a:avLst/>
          </a:prstGeom>
          <a:noFill/>
        </p:spPr>
        <p:txBody>
          <a:bodyPr wrap="none" rtlCol="0">
            <a:spAutoFit/>
          </a:bodyPr>
          <a:lstStyle/>
          <a:p>
            <a:r>
              <a:rPr lang="en-US" dirty="0"/>
              <a:t>2</a:t>
            </a:r>
          </a:p>
        </p:txBody>
      </p:sp>
      <p:sp>
        <p:nvSpPr>
          <p:cNvPr id="74" name="TextBox 73">
            <a:extLst>
              <a:ext uri="{FF2B5EF4-FFF2-40B4-BE49-F238E27FC236}">
                <a16:creationId xmlns:a16="http://schemas.microsoft.com/office/drawing/2014/main" id="{923EDB58-E7A0-0241-9EB7-0055C85D2FF4}"/>
              </a:ext>
            </a:extLst>
          </p:cNvPr>
          <p:cNvSpPr txBox="1"/>
          <p:nvPr/>
        </p:nvSpPr>
        <p:spPr>
          <a:xfrm>
            <a:off x="6366238" y="4474346"/>
            <a:ext cx="309700" cy="369332"/>
          </a:xfrm>
          <a:prstGeom prst="rect">
            <a:avLst/>
          </a:prstGeom>
          <a:noFill/>
        </p:spPr>
        <p:txBody>
          <a:bodyPr wrap="none" rtlCol="0">
            <a:spAutoFit/>
          </a:bodyPr>
          <a:lstStyle/>
          <a:p>
            <a:r>
              <a:rPr lang="en-US" dirty="0"/>
              <a:t>4</a:t>
            </a:r>
          </a:p>
        </p:txBody>
      </p:sp>
      <p:sp>
        <p:nvSpPr>
          <p:cNvPr id="75" name="TextBox 74">
            <a:extLst>
              <a:ext uri="{FF2B5EF4-FFF2-40B4-BE49-F238E27FC236}">
                <a16:creationId xmlns:a16="http://schemas.microsoft.com/office/drawing/2014/main" id="{AB38FE90-9239-DA47-80F1-BD2E9E71329B}"/>
              </a:ext>
            </a:extLst>
          </p:cNvPr>
          <p:cNvSpPr txBox="1"/>
          <p:nvPr/>
        </p:nvSpPr>
        <p:spPr>
          <a:xfrm>
            <a:off x="9532840" y="4982861"/>
            <a:ext cx="309700" cy="369332"/>
          </a:xfrm>
          <a:prstGeom prst="rect">
            <a:avLst/>
          </a:prstGeom>
          <a:noFill/>
        </p:spPr>
        <p:txBody>
          <a:bodyPr wrap="none" rtlCol="0">
            <a:spAutoFit/>
          </a:bodyPr>
          <a:lstStyle/>
          <a:p>
            <a:r>
              <a:rPr lang="en-US" dirty="0"/>
              <a:t>4</a:t>
            </a:r>
          </a:p>
        </p:txBody>
      </p:sp>
      <p:sp>
        <p:nvSpPr>
          <p:cNvPr id="76" name="TextBox 75">
            <a:extLst>
              <a:ext uri="{FF2B5EF4-FFF2-40B4-BE49-F238E27FC236}">
                <a16:creationId xmlns:a16="http://schemas.microsoft.com/office/drawing/2014/main" id="{165558D3-6C2B-ED49-8590-0061A69E2F66}"/>
              </a:ext>
            </a:extLst>
          </p:cNvPr>
          <p:cNvSpPr txBox="1"/>
          <p:nvPr/>
        </p:nvSpPr>
        <p:spPr>
          <a:xfrm>
            <a:off x="8832976" y="5604613"/>
            <a:ext cx="309700" cy="369332"/>
          </a:xfrm>
          <a:prstGeom prst="rect">
            <a:avLst/>
          </a:prstGeom>
          <a:noFill/>
        </p:spPr>
        <p:txBody>
          <a:bodyPr wrap="none" rtlCol="0">
            <a:spAutoFit/>
          </a:bodyPr>
          <a:lstStyle/>
          <a:p>
            <a:r>
              <a:rPr lang="en-US" dirty="0"/>
              <a:t>6</a:t>
            </a:r>
          </a:p>
        </p:txBody>
      </p:sp>
      <p:sp>
        <p:nvSpPr>
          <p:cNvPr id="77" name="TextBox 76">
            <a:extLst>
              <a:ext uri="{FF2B5EF4-FFF2-40B4-BE49-F238E27FC236}">
                <a16:creationId xmlns:a16="http://schemas.microsoft.com/office/drawing/2014/main" id="{802102B8-C1ED-7547-9A8E-9094A5332AF7}"/>
              </a:ext>
            </a:extLst>
          </p:cNvPr>
          <p:cNvSpPr txBox="1"/>
          <p:nvPr/>
        </p:nvSpPr>
        <p:spPr>
          <a:xfrm>
            <a:off x="9405350" y="3974441"/>
            <a:ext cx="309700" cy="369332"/>
          </a:xfrm>
          <a:prstGeom prst="rect">
            <a:avLst/>
          </a:prstGeom>
          <a:noFill/>
        </p:spPr>
        <p:txBody>
          <a:bodyPr wrap="none" rtlCol="0">
            <a:spAutoFit/>
          </a:bodyPr>
          <a:lstStyle/>
          <a:p>
            <a:r>
              <a:rPr lang="en-US" dirty="0"/>
              <a:t>7</a:t>
            </a:r>
          </a:p>
        </p:txBody>
      </p:sp>
      <p:sp>
        <p:nvSpPr>
          <p:cNvPr id="78" name="TextBox 77">
            <a:extLst>
              <a:ext uri="{FF2B5EF4-FFF2-40B4-BE49-F238E27FC236}">
                <a16:creationId xmlns:a16="http://schemas.microsoft.com/office/drawing/2014/main" id="{8BD90109-0DC4-FB4A-AFC9-DAACA53AD670}"/>
              </a:ext>
            </a:extLst>
          </p:cNvPr>
          <p:cNvSpPr txBox="1"/>
          <p:nvPr/>
        </p:nvSpPr>
        <p:spPr>
          <a:xfrm>
            <a:off x="7870137" y="5467313"/>
            <a:ext cx="309700" cy="369332"/>
          </a:xfrm>
          <a:prstGeom prst="rect">
            <a:avLst/>
          </a:prstGeom>
          <a:noFill/>
        </p:spPr>
        <p:txBody>
          <a:bodyPr wrap="none" rtlCol="0">
            <a:spAutoFit/>
          </a:bodyPr>
          <a:lstStyle/>
          <a:p>
            <a:r>
              <a:rPr lang="en-US" dirty="0"/>
              <a:t>7</a:t>
            </a:r>
          </a:p>
        </p:txBody>
      </p:sp>
      <p:sp>
        <p:nvSpPr>
          <p:cNvPr id="79" name="TextBox 78">
            <a:extLst>
              <a:ext uri="{FF2B5EF4-FFF2-40B4-BE49-F238E27FC236}">
                <a16:creationId xmlns:a16="http://schemas.microsoft.com/office/drawing/2014/main" id="{AED8525D-E19F-D140-BB91-655FAAB859F3}"/>
              </a:ext>
            </a:extLst>
          </p:cNvPr>
          <p:cNvSpPr txBox="1"/>
          <p:nvPr/>
        </p:nvSpPr>
        <p:spPr>
          <a:xfrm>
            <a:off x="10973946" y="4474346"/>
            <a:ext cx="309700" cy="369332"/>
          </a:xfrm>
          <a:prstGeom prst="rect">
            <a:avLst/>
          </a:prstGeom>
          <a:noFill/>
        </p:spPr>
        <p:txBody>
          <a:bodyPr wrap="none" rtlCol="0">
            <a:spAutoFit/>
          </a:bodyPr>
          <a:lstStyle/>
          <a:p>
            <a:r>
              <a:rPr lang="en-US" dirty="0"/>
              <a:t>9</a:t>
            </a:r>
          </a:p>
        </p:txBody>
      </p:sp>
      <p:sp>
        <p:nvSpPr>
          <p:cNvPr id="80" name="TextBox 79">
            <a:extLst>
              <a:ext uri="{FF2B5EF4-FFF2-40B4-BE49-F238E27FC236}">
                <a16:creationId xmlns:a16="http://schemas.microsoft.com/office/drawing/2014/main" id="{8FE17F7D-A36E-DF40-862E-0DC77598FF4A}"/>
              </a:ext>
            </a:extLst>
          </p:cNvPr>
          <p:cNvSpPr txBox="1"/>
          <p:nvPr/>
        </p:nvSpPr>
        <p:spPr>
          <a:xfrm>
            <a:off x="6359853" y="5764195"/>
            <a:ext cx="309700" cy="369332"/>
          </a:xfrm>
          <a:prstGeom prst="rect">
            <a:avLst/>
          </a:prstGeom>
          <a:noFill/>
        </p:spPr>
        <p:txBody>
          <a:bodyPr wrap="none" rtlCol="0">
            <a:spAutoFit/>
          </a:bodyPr>
          <a:lstStyle/>
          <a:p>
            <a:r>
              <a:rPr lang="en-US" dirty="0"/>
              <a:t>8</a:t>
            </a:r>
          </a:p>
        </p:txBody>
      </p:sp>
      <p:sp>
        <p:nvSpPr>
          <p:cNvPr id="81" name="TextBox 80">
            <a:extLst>
              <a:ext uri="{FF2B5EF4-FFF2-40B4-BE49-F238E27FC236}">
                <a16:creationId xmlns:a16="http://schemas.microsoft.com/office/drawing/2014/main" id="{A2F4CCCE-47CF-C741-84AB-4BBC6CEB44D5}"/>
              </a:ext>
            </a:extLst>
          </p:cNvPr>
          <p:cNvSpPr txBox="1"/>
          <p:nvPr/>
        </p:nvSpPr>
        <p:spPr>
          <a:xfrm>
            <a:off x="7284303" y="5080379"/>
            <a:ext cx="434734" cy="369332"/>
          </a:xfrm>
          <a:prstGeom prst="rect">
            <a:avLst/>
          </a:prstGeom>
          <a:noFill/>
        </p:spPr>
        <p:txBody>
          <a:bodyPr wrap="none" rtlCol="0">
            <a:spAutoFit/>
          </a:bodyPr>
          <a:lstStyle/>
          <a:p>
            <a:r>
              <a:rPr lang="en-US" dirty="0"/>
              <a:t>11</a:t>
            </a:r>
          </a:p>
        </p:txBody>
      </p:sp>
      <p:sp>
        <p:nvSpPr>
          <p:cNvPr id="82" name="TextBox 81">
            <a:extLst>
              <a:ext uri="{FF2B5EF4-FFF2-40B4-BE49-F238E27FC236}">
                <a16:creationId xmlns:a16="http://schemas.microsoft.com/office/drawing/2014/main" id="{CBD16230-BFAD-FC4C-9341-BADA2110A79B}"/>
              </a:ext>
            </a:extLst>
          </p:cNvPr>
          <p:cNvSpPr txBox="1"/>
          <p:nvPr/>
        </p:nvSpPr>
        <p:spPr>
          <a:xfrm>
            <a:off x="10327153" y="5118196"/>
            <a:ext cx="434734" cy="369332"/>
          </a:xfrm>
          <a:prstGeom prst="rect">
            <a:avLst/>
          </a:prstGeom>
          <a:noFill/>
        </p:spPr>
        <p:txBody>
          <a:bodyPr wrap="none" rtlCol="0">
            <a:spAutoFit/>
          </a:bodyPr>
          <a:lstStyle/>
          <a:p>
            <a:r>
              <a:rPr lang="en-US" dirty="0"/>
              <a:t>14</a:t>
            </a:r>
          </a:p>
        </p:txBody>
      </p:sp>
      <p:sp>
        <p:nvSpPr>
          <p:cNvPr id="84" name="TextBox 83">
            <a:extLst>
              <a:ext uri="{FF2B5EF4-FFF2-40B4-BE49-F238E27FC236}">
                <a16:creationId xmlns:a16="http://schemas.microsoft.com/office/drawing/2014/main" id="{A2503BCC-9F01-C34B-8099-1699F109444E}"/>
              </a:ext>
            </a:extLst>
          </p:cNvPr>
          <p:cNvSpPr txBox="1"/>
          <p:nvPr/>
        </p:nvSpPr>
        <p:spPr>
          <a:xfrm>
            <a:off x="7947099" y="3995492"/>
            <a:ext cx="309700" cy="369332"/>
          </a:xfrm>
          <a:prstGeom prst="rect">
            <a:avLst/>
          </a:prstGeom>
          <a:noFill/>
        </p:spPr>
        <p:txBody>
          <a:bodyPr wrap="none" rtlCol="0">
            <a:spAutoFit/>
          </a:bodyPr>
          <a:lstStyle/>
          <a:p>
            <a:r>
              <a:rPr lang="en-US" dirty="0"/>
              <a:t>8</a:t>
            </a:r>
          </a:p>
        </p:txBody>
      </p:sp>
      <p:sp>
        <p:nvSpPr>
          <p:cNvPr id="98" name="TextBox 97">
            <a:extLst>
              <a:ext uri="{FF2B5EF4-FFF2-40B4-BE49-F238E27FC236}">
                <a16:creationId xmlns:a16="http://schemas.microsoft.com/office/drawing/2014/main" id="{DF9919F6-D5DB-5D41-8D2C-B2FF8EC9C4D9}"/>
              </a:ext>
            </a:extLst>
          </p:cNvPr>
          <p:cNvSpPr txBox="1"/>
          <p:nvPr/>
        </p:nvSpPr>
        <p:spPr>
          <a:xfrm>
            <a:off x="10882861" y="5808966"/>
            <a:ext cx="434734" cy="369332"/>
          </a:xfrm>
          <a:prstGeom prst="rect">
            <a:avLst/>
          </a:prstGeom>
          <a:noFill/>
        </p:spPr>
        <p:txBody>
          <a:bodyPr wrap="none" rtlCol="0">
            <a:spAutoFit/>
          </a:bodyPr>
          <a:lstStyle/>
          <a:p>
            <a:r>
              <a:rPr lang="en-US" dirty="0"/>
              <a:t>10</a:t>
            </a:r>
          </a:p>
        </p:txBody>
      </p:sp>
      <p:pic>
        <p:nvPicPr>
          <p:cNvPr id="4" name="Picture 3" descr="Text, letter&#10;&#10;Description automatically generated">
            <a:extLst>
              <a:ext uri="{FF2B5EF4-FFF2-40B4-BE49-F238E27FC236}">
                <a16:creationId xmlns:a16="http://schemas.microsoft.com/office/drawing/2014/main" id="{68A56B99-7737-154D-A94D-66A01D3C43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p:spTree>
    <p:extLst>
      <p:ext uri="{BB962C8B-B14F-4D97-AF65-F5344CB8AC3E}">
        <p14:creationId xmlns:p14="http://schemas.microsoft.com/office/powerpoint/2010/main" val="15479330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p:cxnSp>
        <p:nvCxnSpPr>
          <p:cNvPr id="22" name="Straight Arrow Connector 21">
            <a:extLst>
              <a:ext uri="{FF2B5EF4-FFF2-40B4-BE49-F238E27FC236}">
                <a16:creationId xmlns:a16="http://schemas.microsoft.com/office/drawing/2014/main" id="{ACD13E4D-8493-3E49-AE7E-C5561F5695F9}"/>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ight Brace 22">
            <a:extLst>
              <a:ext uri="{FF2B5EF4-FFF2-40B4-BE49-F238E27FC236}">
                <a16:creationId xmlns:a16="http://schemas.microsoft.com/office/drawing/2014/main" id="{D4CB8C27-3044-A646-BB49-A85451B69608}"/>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36B3DDEF-24A2-A946-A98D-0C4D1D6FB32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52" name="Rectangle 51">
                <a:extLst>
                  <a:ext uri="{FF2B5EF4-FFF2-40B4-BE49-F238E27FC236}">
                    <a16:creationId xmlns:a16="http://schemas.microsoft.com/office/drawing/2014/main" id="{36B3DDEF-24A2-A946-A98D-0C4D1D6FB32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3"/>
                <a:stretch>
                  <a:fillRect l="-19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38555699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49CC7B9-E3F0-6643-8C7E-485011194154}"/>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13" name="Rectangle 12">
                <a:extLst>
                  <a:ext uri="{FF2B5EF4-FFF2-40B4-BE49-F238E27FC236}">
                    <a16:creationId xmlns:a16="http://schemas.microsoft.com/office/drawing/2014/main" id="{C49CC7B9-E3F0-6643-8C7E-485011194154}"/>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4"/>
                <a:stretch>
                  <a:fillRect l="-19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146640781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53701F84-A45D-DD4C-8DBC-5B53F832CEA5}"/>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37" name="Rectangle 36">
                <a:extLst>
                  <a:ext uri="{FF2B5EF4-FFF2-40B4-BE49-F238E27FC236}">
                    <a16:creationId xmlns:a16="http://schemas.microsoft.com/office/drawing/2014/main" id="{53701F84-A45D-DD4C-8DBC-5B53F832CEA5}"/>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5"/>
                <a:stretch>
                  <a:fillRect l="-19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7728025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CFF5EE1F-76C5-F44B-AF22-E49E217EC5D4}"/>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13" name="Rectangle 12">
                <a:extLst>
                  <a:ext uri="{FF2B5EF4-FFF2-40B4-BE49-F238E27FC236}">
                    <a16:creationId xmlns:a16="http://schemas.microsoft.com/office/drawing/2014/main" id="{CFF5EE1F-76C5-F44B-AF22-E49E217EC5D4}"/>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6"/>
                <a:stretch>
                  <a:fillRect l="-19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30872398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C435A351-9BBF-2A43-8226-C6EBAC9E0D8E}"/>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C435A351-9BBF-2A43-8226-C6EBAC9E0D8E}"/>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7"/>
                <a:stretch>
                  <a:fillRect l="-19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12459752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766060CF-F7C9-C843-8247-888D7D30F892}"/>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9" name="Rectangle 8">
                <a:extLst>
                  <a:ext uri="{FF2B5EF4-FFF2-40B4-BE49-F238E27FC236}">
                    <a16:creationId xmlns:a16="http://schemas.microsoft.com/office/drawing/2014/main" id="{766060CF-F7C9-C843-8247-888D7D30F892}"/>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5"/>
                <a:stretch>
                  <a:fillRect l="-1905" t="-6667" b="-23333"/>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a:stCxn id="9" idx="1"/>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6"/>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7"/>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8"/>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4231736" cy="369332"/>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r>
                      <a:rPr lang="en-US" b="0" i="1" dirty="0" smtClean="0">
                        <a:latin typeface="Cambria Math" panose="02040503050406030204" pitchFamily="18" charset="0"/>
                      </a:rPr>
                      <m:t>𝑙𝑜</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4231736" cy="369332"/>
              </a:xfrm>
              <a:prstGeom prst="rect">
                <a:avLst/>
              </a:prstGeom>
              <a:blipFill>
                <a:blip r:embed="rId9"/>
                <a:stretch>
                  <a:fillRect t="-13333" r="-299"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34241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4231736" cy="369332"/>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r>
                      <a:rPr lang="en-US" b="0" i="1" dirty="0" smtClean="0">
                        <a:latin typeface="Cambria Math" panose="02040503050406030204" pitchFamily="18" charset="0"/>
                      </a:rPr>
                      <m:t>𝑙𝑜</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4231736" cy="369332"/>
              </a:xfrm>
              <a:prstGeom prst="rect">
                <a:avLst/>
              </a:prstGeom>
              <a:blipFill>
                <a:blip r:embed="rId8"/>
                <a:stretch>
                  <a:fillRect t="-13333" r="-299"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ight Brace 34">
            <a:extLst>
              <a:ext uri="{FF2B5EF4-FFF2-40B4-BE49-F238E27FC236}">
                <a16:creationId xmlns:a16="http://schemas.microsoft.com/office/drawing/2014/main" id="{011FE9D5-0E51-9E43-86E8-5E814E7902C8}"/>
              </a:ext>
            </a:extLst>
          </p:cNvPr>
          <p:cNvSpPr/>
          <p:nvPr/>
        </p:nvSpPr>
        <p:spPr>
          <a:xfrm>
            <a:off x="10057815" y="4076929"/>
            <a:ext cx="327992" cy="1966063"/>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521B10F-7013-0D4C-91DC-878429ECC16C}"/>
                  </a:ext>
                </a:extLst>
              </p:cNvPr>
              <p:cNvSpPr/>
              <p:nvPr/>
            </p:nvSpPr>
            <p:spPr>
              <a:xfrm>
                <a:off x="10472266" y="4853453"/>
                <a:ext cx="16850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e>
                      </m:d>
                    </m:oMath>
                  </m:oMathPara>
                </a14:m>
                <a:endParaRPr lang="en-US" dirty="0"/>
              </a:p>
            </p:txBody>
          </p:sp>
        </mc:Choice>
        <mc:Fallback xmlns="">
          <p:sp>
            <p:nvSpPr>
              <p:cNvPr id="36" name="Rectangle 35">
                <a:extLst>
                  <a:ext uri="{FF2B5EF4-FFF2-40B4-BE49-F238E27FC236}">
                    <a16:creationId xmlns:a16="http://schemas.microsoft.com/office/drawing/2014/main" id="{4521B10F-7013-0D4C-91DC-878429ECC16C}"/>
                  </a:ext>
                </a:extLst>
              </p:cNvPr>
              <p:cNvSpPr>
                <a:spLocks noRot="1" noChangeAspect="1" noMove="1" noResize="1" noEditPoints="1" noAdjustHandles="1" noChangeArrowheads="1" noChangeShapeType="1" noTextEdit="1"/>
              </p:cNvSpPr>
              <p:nvPr/>
            </p:nvSpPr>
            <p:spPr>
              <a:xfrm>
                <a:off x="10472266" y="4853453"/>
                <a:ext cx="1685013"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10"/>
                <a:stretch>
                  <a:fillRect l="-1905" t="-6667" b="-23333"/>
                </a:stretch>
              </a:blipFill>
            </p:spPr>
            <p:txBody>
              <a:bodyPr/>
              <a:lstStyle/>
              <a:p>
                <a:r>
                  <a:rPr lang="en-US">
                    <a:noFill/>
                  </a:rPr>
                  <a:t> </a:t>
                </a:r>
              </a:p>
            </p:txBody>
          </p:sp>
        </mc:Fallback>
      </mc:AlternateContent>
    </p:spTree>
    <p:extLst>
      <p:ext uri="{BB962C8B-B14F-4D97-AF65-F5344CB8AC3E}">
        <p14:creationId xmlns:p14="http://schemas.microsoft.com/office/powerpoint/2010/main" val="5140404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4231736" cy="369332"/>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r>
                      <a:rPr lang="en-US" b="0" i="1" dirty="0" smtClean="0">
                        <a:latin typeface="Cambria Math" panose="02040503050406030204" pitchFamily="18" charset="0"/>
                      </a:rPr>
                      <m:t>𝑙𝑜</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4231736" cy="369332"/>
              </a:xfrm>
              <a:prstGeom prst="rect">
                <a:avLst/>
              </a:prstGeom>
              <a:blipFill>
                <a:blip r:embed="rId8"/>
                <a:stretch>
                  <a:fillRect t="-13333" r="-299"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ight Brace 34">
            <a:extLst>
              <a:ext uri="{FF2B5EF4-FFF2-40B4-BE49-F238E27FC236}">
                <a16:creationId xmlns:a16="http://schemas.microsoft.com/office/drawing/2014/main" id="{011FE9D5-0E51-9E43-86E8-5E814E7902C8}"/>
              </a:ext>
            </a:extLst>
          </p:cNvPr>
          <p:cNvSpPr/>
          <p:nvPr/>
        </p:nvSpPr>
        <p:spPr>
          <a:xfrm>
            <a:off x="10057815" y="4076929"/>
            <a:ext cx="327992" cy="1966063"/>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521B10F-7013-0D4C-91DC-878429ECC16C}"/>
                  </a:ext>
                </a:extLst>
              </p:cNvPr>
              <p:cNvSpPr/>
              <p:nvPr/>
            </p:nvSpPr>
            <p:spPr>
              <a:xfrm>
                <a:off x="10472266" y="4853453"/>
                <a:ext cx="16850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e>
                      </m:d>
                    </m:oMath>
                  </m:oMathPara>
                </a14:m>
                <a:endParaRPr lang="en-US" dirty="0"/>
              </a:p>
            </p:txBody>
          </p:sp>
        </mc:Choice>
        <mc:Fallback xmlns="">
          <p:sp>
            <p:nvSpPr>
              <p:cNvPr id="36" name="Rectangle 35">
                <a:extLst>
                  <a:ext uri="{FF2B5EF4-FFF2-40B4-BE49-F238E27FC236}">
                    <a16:creationId xmlns:a16="http://schemas.microsoft.com/office/drawing/2014/main" id="{4521B10F-7013-0D4C-91DC-878429ECC16C}"/>
                  </a:ext>
                </a:extLst>
              </p:cNvPr>
              <p:cNvSpPr>
                <a:spLocks noRot="1" noChangeAspect="1" noMove="1" noResize="1" noEditPoints="1" noAdjustHandles="1" noChangeArrowheads="1" noChangeShapeType="1" noTextEdit="1"/>
              </p:cNvSpPr>
              <p:nvPr/>
            </p:nvSpPr>
            <p:spPr>
              <a:xfrm>
                <a:off x="10472266" y="4853453"/>
                <a:ext cx="1685013"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10"/>
                <a:stretch>
                  <a:fillRect l="-1905"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8694942-ADE1-4D46-BEAF-E87BAB603687}"/>
                  </a:ext>
                </a:extLst>
              </p:cNvPr>
              <p:cNvSpPr/>
              <p:nvPr/>
            </p:nvSpPr>
            <p:spPr>
              <a:xfrm>
                <a:off x="487017" y="6132443"/>
                <a:ext cx="8726557" cy="369332"/>
              </a:xfrm>
              <a:prstGeom prst="rect">
                <a:avLst/>
              </a:prstGeom>
            </p:spPr>
            <p:txBody>
              <a:bodyPr wrap="square">
                <a:spAutoFit/>
              </a:bodyPr>
              <a:lstStyle/>
              <a:p>
                <a:r>
                  <a:rPr lang="en-US" dirty="0">
                    <a:latin typeface="Times" pitchFamily="2" charset="0"/>
                  </a:rPr>
                  <a:t>Overall running time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𝑂</m:t>
                    </m:r>
                    <m:d>
                      <m:dPr>
                        <m:ctrlPr>
                          <a:rPr lang="en-US" i="1" dirty="0"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𝑉</m:t>
                                </m:r>
                              </m:e>
                            </m:d>
                          </m:e>
                        </m:func>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e>
                        </m:func>
                      </m:e>
                    </m:d>
                  </m:oMath>
                </a14:m>
                <a:endParaRPr lang="en-US" dirty="0"/>
              </a:p>
            </p:txBody>
          </p:sp>
        </mc:Choice>
        <mc:Fallback xmlns="">
          <p:sp>
            <p:nvSpPr>
              <p:cNvPr id="30" name="Rectangle 29">
                <a:extLst>
                  <a:ext uri="{FF2B5EF4-FFF2-40B4-BE49-F238E27FC236}">
                    <a16:creationId xmlns:a16="http://schemas.microsoft.com/office/drawing/2014/main" id="{18694942-ADE1-4D46-BEAF-E87BAB603687}"/>
                  </a:ext>
                </a:extLst>
              </p:cNvPr>
              <p:cNvSpPr>
                <a:spLocks noRot="1" noChangeAspect="1" noMove="1" noResize="1" noEditPoints="1" noAdjustHandles="1" noChangeArrowheads="1" noChangeShapeType="1" noTextEdit="1"/>
              </p:cNvSpPr>
              <p:nvPr/>
            </p:nvSpPr>
            <p:spPr>
              <a:xfrm>
                <a:off x="487017" y="6132443"/>
                <a:ext cx="8726557" cy="369332"/>
              </a:xfrm>
              <a:prstGeom prst="rect">
                <a:avLst/>
              </a:prstGeom>
              <a:blipFill>
                <a:blip r:embed="rId11"/>
                <a:stretch>
                  <a:fillRect l="-581" t="-6452" b="-19355"/>
                </a:stretch>
              </a:blipFill>
            </p:spPr>
            <p:txBody>
              <a:bodyPr/>
              <a:lstStyle/>
              <a:p>
                <a:r>
                  <a:rPr lang="en-US">
                    <a:noFill/>
                  </a:rPr>
                  <a:t> </a:t>
                </a:r>
              </a:p>
            </p:txBody>
          </p:sp>
        </mc:Fallback>
      </mc:AlternateContent>
    </p:spTree>
    <p:extLst>
      <p:ext uri="{BB962C8B-B14F-4D97-AF65-F5344CB8AC3E}">
        <p14:creationId xmlns:p14="http://schemas.microsoft.com/office/powerpoint/2010/main" val="24775111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4231736" cy="369332"/>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r>
                      <a:rPr lang="en-US" b="0" i="1" dirty="0" smtClean="0">
                        <a:latin typeface="Cambria Math" panose="02040503050406030204" pitchFamily="18" charset="0"/>
                      </a:rPr>
                      <m:t>𝑙𝑜</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4231736" cy="369332"/>
              </a:xfrm>
              <a:prstGeom prst="rect">
                <a:avLst/>
              </a:prstGeom>
              <a:blipFill>
                <a:blip r:embed="rId8"/>
                <a:stretch>
                  <a:fillRect t="-13333" r="-299"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ight Brace 34">
            <a:extLst>
              <a:ext uri="{FF2B5EF4-FFF2-40B4-BE49-F238E27FC236}">
                <a16:creationId xmlns:a16="http://schemas.microsoft.com/office/drawing/2014/main" id="{011FE9D5-0E51-9E43-86E8-5E814E7902C8}"/>
              </a:ext>
            </a:extLst>
          </p:cNvPr>
          <p:cNvSpPr/>
          <p:nvPr/>
        </p:nvSpPr>
        <p:spPr>
          <a:xfrm>
            <a:off x="10057815" y="4076929"/>
            <a:ext cx="327992" cy="1966063"/>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521B10F-7013-0D4C-91DC-878429ECC16C}"/>
                  </a:ext>
                </a:extLst>
              </p:cNvPr>
              <p:cNvSpPr/>
              <p:nvPr/>
            </p:nvSpPr>
            <p:spPr>
              <a:xfrm>
                <a:off x="10472266" y="4853453"/>
                <a:ext cx="16850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e>
                      </m:d>
                    </m:oMath>
                  </m:oMathPara>
                </a14:m>
                <a:endParaRPr lang="en-US" dirty="0"/>
              </a:p>
            </p:txBody>
          </p:sp>
        </mc:Choice>
        <mc:Fallback xmlns="">
          <p:sp>
            <p:nvSpPr>
              <p:cNvPr id="36" name="Rectangle 35">
                <a:extLst>
                  <a:ext uri="{FF2B5EF4-FFF2-40B4-BE49-F238E27FC236}">
                    <a16:creationId xmlns:a16="http://schemas.microsoft.com/office/drawing/2014/main" id="{4521B10F-7013-0D4C-91DC-878429ECC16C}"/>
                  </a:ext>
                </a:extLst>
              </p:cNvPr>
              <p:cNvSpPr>
                <a:spLocks noRot="1" noChangeAspect="1" noMove="1" noResize="1" noEditPoints="1" noAdjustHandles="1" noChangeArrowheads="1" noChangeShapeType="1" noTextEdit="1"/>
              </p:cNvSpPr>
              <p:nvPr/>
            </p:nvSpPr>
            <p:spPr>
              <a:xfrm>
                <a:off x="10472266" y="4853453"/>
                <a:ext cx="1685013"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10"/>
                <a:stretch>
                  <a:fillRect l="-1905"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8694942-ADE1-4D46-BEAF-E87BAB603687}"/>
                  </a:ext>
                </a:extLst>
              </p:cNvPr>
              <p:cNvSpPr/>
              <p:nvPr/>
            </p:nvSpPr>
            <p:spPr>
              <a:xfrm>
                <a:off x="487017" y="6132443"/>
                <a:ext cx="8726557" cy="369332"/>
              </a:xfrm>
              <a:prstGeom prst="rect">
                <a:avLst/>
              </a:prstGeom>
            </p:spPr>
            <p:txBody>
              <a:bodyPr wrap="square">
                <a:spAutoFit/>
              </a:bodyPr>
              <a:lstStyle/>
              <a:p>
                <a:r>
                  <a:rPr lang="en-US" dirty="0">
                    <a:latin typeface="Times" pitchFamily="2" charset="0"/>
                  </a:rPr>
                  <a:t>Overall running time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𝑂</m:t>
                    </m:r>
                    <m:d>
                      <m:dPr>
                        <m:ctrlPr>
                          <a:rPr lang="en-US" i="1" dirty="0"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𝑉</m:t>
                                </m:r>
                              </m:e>
                            </m:d>
                          </m:e>
                        </m:func>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e>
                        </m:func>
                      </m:e>
                    </m:d>
                    <m:r>
                      <a:rPr lang="en-US" b="0" i="1" dirty="0" smtClean="0">
                        <a:latin typeface="Cambria Math" panose="02040503050406030204" pitchFamily="18" charset="0"/>
                      </a:rPr>
                      <m:t>=</m:t>
                    </m:r>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e>
                    </m:func>
                  </m:oMath>
                </a14:m>
                <a:endParaRPr lang="en-US" dirty="0"/>
              </a:p>
            </p:txBody>
          </p:sp>
        </mc:Choice>
        <mc:Fallback xmlns="">
          <p:sp>
            <p:nvSpPr>
              <p:cNvPr id="30" name="Rectangle 29">
                <a:extLst>
                  <a:ext uri="{FF2B5EF4-FFF2-40B4-BE49-F238E27FC236}">
                    <a16:creationId xmlns:a16="http://schemas.microsoft.com/office/drawing/2014/main" id="{18694942-ADE1-4D46-BEAF-E87BAB603687}"/>
                  </a:ext>
                </a:extLst>
              </p:cNvPr>
              <p:cNvSpPr>
                <a:spLocks noRot="1" noChangeAspect="1" noMove="1" noResize="1" noEditPoints="1" noAdjustHandles="1" noChangeArrowheads="1" noChangeShapeType="1" noTextEdit="1"/>
              </p:cNvSpPr>
              <p:nvPr/>
            </p:nvSpPr>
            <p:spPr>
              <a:xfrm>
                <a:off x="487017" y="6132443"/>
                <a:ext cx="8726557" cy="369332"/>
              </a:xfrm>
              <a:prstGeom prst="rect">
                <a:avLst/>
              </a:prstGeom>
              <a:blipFill>
                <a:blip r:embed="rId11"/>
                <a:stretch>
                  <a:fillRect l="-581" t="-6452" b="-19355"/>
                </a:stretch>
              </a:blipFill>
            </p:spPr>
            <p:txBody>
              <a:bodyPr/>
              <a:lstStyle/>
              <a:p>
                <a:r>
                  <a:rPr lang="en-US">
                    <a:noFill/>
                  </a:rPr>
                  <a:t> </a:t>
                </a:r>
              </a:p>
            </p:txBody>
          </p:sp>
        </mc:Fallback>
      </mc:AlternateContent>
    </p:spTree>
    <p:extLst>
      <p:ext uri="{BB962C8B-B14F-4D97-AF65-F5344CB8AC3E}">
        <p14:creationId xmlns:p14="http://schemas.microsoft.com/office/powerpoint/2010/main" val="25310280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4231736" cy="369332"/>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r>
                      <a:rPr lang="en-US" b="0" i="1" dirty="0" smtClean="0">
                        <a:latin typeface="Cambria Math" panose="02040503050406030204" pitchFamily="18" charset="0"/>
                      </a:rPr>
                      <m:t>𝑙𝑜</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𝑔</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4231736" cy="369332"/>
              </a:xfrm>
              <a:prstGeom prst="rect">
                <a:avLst/>
              </a:prstGeom>
              <a:blipFill>
                <a:blip r:embed="rId8"/>
                <a:stretch>
                  <a:fillRect t="-13333" r="-299"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Right Brace 34">
            <a:extLst>
              <a:ext uri="{FF2B5EF4-FFF2-40B4-BE49-F238E27FC236}">
                <a16:creationId xmlns:a16="http://schemas.microsoft.com/office/drawing/2014/main" id="{011FE9D5-0E51-9E43-86E8-5E814E7902C8}"/>
              </a:ext>
            </a:extLst>
          </p:cNvPr>
          <p:cNvSpPr/>
          <p:nvPr/>
        </p:nvSpPr>
        <p:spPr>
          <a:xfrm>
            <a:off x="10057815" y="4076929"/>
            <a:ext cx="327992" cy="1966063"/>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4521B10F-7013-0D4C-91DC-878429ECC16C}"/>
                  </a:ext>
                </a:extLst>
              </p:cNvPr>
              <p:cNvSpPr/>
              <p:nvPr/>
            </p:nvSpPr>
            <p:spPr>
              <a:xfrm>
                <a:off x="10472266" y="4853453"/>
                <a:ext cx="16850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e>
                      </m:d>
                    </m:oMath>
                  </m:oMathPara>
                </a14:m>
                <a:endParaRPr lang="en-US" dirty="0"/>
              </a:p>
            </p:txBody>
          </p:sp>
        </mc:Choice>
        <mc:Fallback xmlns="">
          <p:sp>
            <p:nvSpPr>
              <p:cNvPr id="36" name="Rectangle 35">
                <a:extLst>
                  <a:ext uri="{FF2B5EF4-FFF2-40B4-BE49-F238E27FC236}">
                    <a16:creationId xmlns:a16="http://schemas.microsoft.com/office/drawing/2014/main" id="{4521B10F-7013-0D4C-91DC-878429ECC16C}"/>
                  </a:ext>
                </a:extLst>
              </p:cNvPr>
              <p:cNvSpPr>
                <a:spLocks noRot="1" noChangeAspect="1" noMove="1" noResize="1" noEditPoints="1" noAdjustHandles="1" noChangeArrowheads="1" noChangeShapeType="1" noTextEdit="1"/>
              </p:cNvSpPr>
              <p:nvPr/>
            </p:nvSpPr>
            <p:spPr>
              <a:xfrm>
                <a:off x="10472266" y="4853453"/>
                <a:ext cx="1685013" cy="369332"/>
              </a:xfrm>
              <a:prstGeom prst="rect">
                <a:avLst/>
              </a:prstGeom>
              <a:blipFill>
                <a:blip r:embed="rId9"/>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10"/>
                <a:stretch>
                  <a:fillRect l="-1905"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8694942-ADE1-4D46-BEAF-E87BAB603687}"/>
                  </a:ext>
                </a:extLst>
              </p:cNvPr>
              <p:cNvSpPr/>
              <p:nvPr/>
            </p:nvSpPr>
            <p:spPr>
              <a:xfrm>
                <a:off x="487017" y="6132443"/>
                <a:ext cx="8726557" cy="369332"/>
              </a:xfrm>
              <a:prstGeom prst="rect">
                <a:avLst/>
              </a:prstGeom>
            </p:spPr>
            <p:txBody>
              <a:bodyPr wrap="square">
                <a:spAutoFit/>
              </a:bodyPr>
              <a:lstStyle/>
              <a:p>
                <a:r>
                  <a:rPr lang="en-US" dirty="0">
                    <a:latin typeface="Times" pitchFamily="2" charset="0"/>
                  </a:rPr>
                  <a:t>Overall running time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𝑂</m:t>
                    </m:r>
                    <m:d>
                      <m:dPr>
                        <m:ctrlPr>
                          <a:rPr lang="en-US" i="1" dirty="0"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𝑉</m:t>
                                </m:r>
                              </m:e>
                            </m:d>
                          </m:e>
                        </m:func>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e>
                        </m:func>
                      </m:e>
                    </m:d>
                    <m:r>
                      <a:rPr lang="en-US" b="0" i="1" dirty="0" smtClean="0">
                        <a:latin typeface="Cambria Math" panose="02040503050406030204" pitchFamily="18" charset="0"/>
                      </a:rPr>
                      <m:t>=</m:t>
                    </m:r>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e>
                    </m:func>
                  </m:oMath>
                </a14:m>
                <a:endParaRPr lang="en-US" dirty="0"/>
              </a:p>
            </p:txBody>
          </p:sp>
        </mc:Choice>
        <mc:Fallback xmlns="">
          <p:sp>
            <p:nvSpPr>
              <p:cNvPr id="30" name="Rectangle 29">
                <a:extLst>
                  <a:ext uri="{FF2B5EF4-FFF2-40B4-BE49-F238E27FC236}">
                    <a16:creationId xmlns:a16="http://schemas.microsoft.com/office/drawing/2014/main" id="{18694942-ADE1-4D46-BEAF-E87BAB603687}"/>
                  </a:ext>
                </a:extLst>
              </p:cNvPr>
              <p:cNvSpPr>
                <a:spLocks noRot="1" noChangeAspect="1" noMove="1" noResize="1" noEditPoints="1" noAdjustHandles="1" noChangeArrowheads="1" noChangeShapeType="1" noTextEdit="1"/>
              </p:cNvSpPr>
              <p:nvPr/>
            </p:nvSpPr>
            <p:spPr>
              <a:xfrm>
                <a:off x="487017" y="6132443"/>
                <a:ext cx="8726557" cy="369332"/>
              </a:xfrm>
              <a:prstGeom prst="rect">
                <a:avLst/>
              </a:prstGeom>
              <a:blipFill>
                <a:blip r:embed="rId11"/>
                <a:stretch>
                  <a:fillRect l="-581" t="-6452" b="-19355"/>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47ED483B-A5EA-9043-BEE0-0B0EF4ECD7CC}"/>
              </a:ext>
            </a:extLst>
          </p:cNvPr>
          <p:cNvCxnSpPr>
            <a:cxnSpLocks/>
          </p:cNvCxnSpPr>
          <p:nvPr/>
        </p:nvCxnSpPr>
        <p:spPr>
          <a:xfrm flipH="1">
            <a:off x="7378144" y="6317109"/>
            <a:ext cx="78346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BFA0433D-B25C-CB42-BEB9-880D51DD14F0}"/>
              </a:ext>
            </a:extLst>
          </p:cNvPr>
          <p:cNvSpPr/>
          <p:nvPr/>
        </p:nvSpPr>
        <p:spPr>
          <a:xfrm>
            <a:off x="8302796" y="6132443"/>
            <a:ext cx="2044342" cy="369332"/>
          </a:xfrm>
          <a:prstGeom prst="rect">
            <a:avLst/>
          </a:prstGeom>
        </p:spPr>
        <p:txBody>
          <a:bodyPr wrap="none">
            <a:spAutoFit/>
          </a:bodyPr>
          <a:lstStyle/>
          <a:p>
            <a:r>
              <a:rPr lang="en-US" dirty="0">
                <a:latin typeface="Times" pitchFamily="2" charset="0"/>
              </a:rPr>
              <a:t>Similar to Kruskal’s</a:t>
            </a:r>
            <a:endParaRPr lang="en-US" dirty="0"/>
          </a:p>
        </p:txBody>
      </p:sp>
    </p:spTree>
    <p:extLst>
      <p:ext uri="{BB962C8B-B14F-4D97-AF65-F5344CB8AC3E}">
        <p14:creationId xmlns:p14="http://schemas.microsoft.com/office/powerpoint/2010/main" val="34163536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5081456" cy="369332"/>
              </a:xfrm>
              <a:prstGeom prst="rect">
                <a:avLst/>
              </a:prstGeom>
              <a:solidFill>
                <a:srgbClr val="92D050"/>
              </a:solidFill>
            </p:spPr>
            <p:txBody>
              <a:bodyPr wrap="squar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e>
                    </m:d>
                    <m:r>
                      <a:rPr lang="en-US" b="0" i="1" dirty="0" smtClean="0">
                        <a:latin typeface="Cambria Math" panose="02040503050406030204" pitchFamily="18" charset="0"/>
                      </a:rPr>
                      <m:t> </m:t>
                    </m:r>
                    <m:r>
                      <m:rPr>
                        <m:sty m:val="p"/>
                      </m:rPr>
                      <a:rPr lang="en-US" b="0" i="0" dirty="0" smtClean="0">
                        <a:latin typeface="Cambria Math" panose="02040503050406030204" pitchFamily="18" charset="0"/>
                      </a:rPr>
                      <m:t>amortized</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5081456" cy="369332"/>
              </a:xfrm>
              <a:prstGeom prst="rect">
                <a:avLst/>
              </a:prstGeom>
              <a:blipFill>
                <a:blip r:embed="rId8"/>
                <a:stretch>
                  <a:fillRect t="-13333" r="-1746"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9"/>
                <a:stretch>
                  <a:fillRect l="-1905" t="-6667" b="-2333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62D9245-39D8-6446-97BA-A821DA9F993A}"/>
              </a:ext>
            </a:extLst>
          </p:cNvPr>
          <p:cNvSpPr txBox="1"/>
          <p:nvPr/>
        </p:nvSpPr>
        <p:spPr>
          <a:xfrm>
            <a:off x="8388626" y="1302026"/>
            <a:ext cx="1739348" cy="369332"/>
          </a:xfrm>
          <a:prstGeom prst="rect">
            <a:avLst/>
          </a:prstGeom>
          <a:solidFill>
            <a:srgbClr val="92D050"/>
          </a:solidFill>
        </p:spPr>
        <p:txBody>
          <a:bodyPr wrap="square" rtlCol="0">
            <a:spAutoFit/>
          </a:bodyPr>
          <a:lstStyle/>
          <a:p>
            <a:pPr algn="ctr"/>
            <a:r>
              <a:rPr lang="en-US" dirty="0">
                <a:latin typeface="Times" pitchFamily="2" charset="0"/>
              </a:rPr>
              <a:t>Fibonacci-Heap</a:t>
            </a:r>
          </a:p>
        </p:txBody>
      </p:sp>
    </p:spTree>
    <p:extLst>
      <p:ext uri="{BB962C8B-B14F-4D97-AF65-F5344CB8AC3E}">
        <p14:creationId xmlns:p14="http://schemas.microsoft.com/office/powerpoint/2010/main" val="25462578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5081456" cy="369332"/>
              </a:xfrm>
              <a:prstGeom prst="rect">
                <a:avLst/>
              </a:prstGeom>
              <a:solidFill>
                <a:srgbClr val="92D050"/>
              </a:solidFill>
            </p:spPr>
            <p:txBody>
              <a:bodyPr wrap="squar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e>
                    </m:d>
                    <m:r>
                      <a:rPr lang="en-US" b="0" i="1" dirty="0" smtClean="0">
                        <a:latin typeface="Cambria Math" panose="02040503050406030204" pitchFamily="18" charset="0"/>
                      </a:rPr>
                      <m:t> </m:t>
                    </m:r>
                    <m:r>
                      <m:rPr>
                        <m:sty m:val="p"/>
                      </m:rPr>
                      <a:rPr lang="en-US" b="0" i="0" dirty="0" smtClean="0">
                        <a:latin typeface="Cambria Math" panose="02040503050406030204" pitchFamily="18" charset="0"/>
                      </a:rPr>
                      <m:t>amortized</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5081456" cy="369332"/>
              </a:xfrm>
              <a:prstGeom prst="rect">
                <a:avLst/>
              </a:prstGeom>
              <a:blipFill>
                <a:blip r:embed="rId8"/>
                <a:stretch>
                  <a:fillRect t="-13333" r="-1746"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9"/>
                <a:stretch>
                  <a:fillRect l="-1905" t="-6667" b="-23333"/>
                </a:stretch>
              </a:blipFill>
            </p:spPr>
            <p:txBody>
              <a:bodyPr/>
              <a:lstStyle/>
              <a:p>
                <a:r>
                  <a:rPr lang="en-US">
                    <a:noFill/>
                  </a:rPr>
                  <a:t> </a:t>
                </a:r>
              </a:p>
            </p:txBody>
          </p:sp>
        </mc:Fallback>
      </mc:AlternateContent>
      <p:sp>
        <p:nvSpPr>
          <p:cNvPr id="35" name="Right Brace 34">
            <a:extLst>
              <a:ext uri="{FF2B5EF4-FFF2-40B4-BE49-F238E27FC236}">
                <a16:creationId xmlns:a16="http://schemas.microsoft.com/office/drawing/2014/main" id="{23BCB0C7-9301-4F44-9F55-AD01555B21DA}"/>
              </a:ext>
            </a:extLst>
          </p:cNvPr>
          <p:cNvSpPr/>
          <p:nvPr/>
        </p:nvSpPr>
        <p:spPr>
          <a:xfrm>
            <a:off x="10226778" y="4076929"/>
            <a:ext cx="327992" cy="1966063"/>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F8673B8D-6056-5A4B-9043-CBC81991BC85}"/>
                  </a:ext>
                </a:extLst>
              </p:cNvPr>
              <p:cNvSpPr/>
              <p:nvPr/>
            </p:nvSpPr>
            <p:spPr>
              <a:xfrm>
                <a:off x="10641229" y="4853453"/>
                <a:ext cx="894476" cy="369332"/>
              </a:xfrm>
              <a:prstGeom prst="rect">
                <a:avLst/>
              </a:prstGeom>
              <a:solidFill>
                <a:srgbClr val="92D050"/>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oMath>
                  </m:oMathPara>
                </a14:m>
                <a:endParaRPr lang="en-US" dirty="0"/>
              </a:p>
            </p:txBody>
          </p:sp>
        </mc:Choice>
        <mc:Fallback xmlns="">
          <p:sp>
            <p:nvSpPr>
              <p:cNvPr id="36" name="Rectangle 35">
                <a:extLst>
                  <a:ext uri="{FF2B5EF4-FFF2-40B4-BE49-F238E27FC236}">
                    <a16:creationId xmlns:a16="http://schemas.microsoft.com/office/drawing/2014/main" id="{F8673B8D-6056-5A4B-9043-CBC81991BC85}"/>
                  </a:ext>
                </a:extLst>
              </p:cNvPr>
              <p:cNvSpPr>
                <a:spLocks noRot="1" noChangeAspect="1" noMove="1" noResize="1" noEditPoints="1" noAdjustHandles="1" noChangeArrowheads="1" noChangeShapeType="1" noTextEdit="1"/>
              </p:cNvSpPr>
              <p:nvPr/>
            </p:nvSpPr>
            <p:spPr>
              <a:xfrm>
                <a:off x="10641229" y="4853453"/>
                <a:ext cx="894476" cy="369332"/>
              </a:xfrm>
              <a:prstGeom prst="rect">
                <a:avLst/>
              </a:prstGeom>
              <a:blipFill>
                <a:blip r:embed="rId10"/>
                <a:stretch>
                  <a:fillRect/>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66B96D08-8249-E84C-B37A-888A9BB88E78}"/>
              </a:ext>
            </a:extLst>
          </p:cNvPr>
          <p:cNvSpPr txBox="1"/>
          <p:nvPr/>
        </p:nvSpPr>
        <p:spPr>
          <a:xfrm>
            <a:off x="8388626" y="1302026"/>
            <a:ext cx="1739348" cy="369332"/>
          </a:xfrm>
          <a:prstGeom prst="rect">
            <a:avLst/>
          </a:prstGeom>
          <a:solidFill>
            <a:srgbClr val="92D050"/>
          </a:solidFill>
        </p:spPr>
        <p:txBody>
          <a:bodyPr wrap="square" rtlCol="0">
            <a:spAutoFit/>
          </a:bodyPr>
          <a:lstStyle/>
          <a:p>
            <a:pPr algn="ctr"/>
            <a:r>
              <a:rPr lang="en-US" dirty="0">
                <a:latin typeface="Times" pitchFamily="2" charset="0"/>
              </a:rPr>
              <a:t>Fibonacci-Heap</a:t>
            </a:r>
          </a:p>
        </p:txBody>
      </p:sp>
    </p:spTree>
    <p:extLst>
      <p:ext uri="{BB962C8B-B14F-4D97-AF65-F5344CB8AC3E}">
        <p14:creationId xmlns:p14="http://schemas.microsoft.com/office/powerpoint/2010/main" val="38912909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12C88-C85E-3742-AE2A-62DD45A58D11}"/>
              </a:ext>
            </a:extLst>
          </p:cNvPr>
          <p:cNvSpPr>
            <a:spLocks noGrp="1"/>
          </p:cNvSpPr>
          <p:nvPr>
            <p:ph type="title"/>
          </p:nvPr>
        </p:nvSpPr>
        <p:spPr>
          <a:xfrm>
            <a:off x="1069848" y="-192024"/>
            <a:ext cx="10058400" cy="1609344"/>
          </a:xfrm>
        </p:spPr>
        <p:txBody>
          <a:bodyPr/>
          <a:lstStyle/>
          <a:p>
            <a:r>
              <a:rPr lang="en-US" dirty="0"/>
              <a:t>FINDING </a:t>
            </a:r>
            <a:r>
              <a:rPr lang="en-US" dirty="0" err="1"/>
              <a:t>mst</a:t>
            </a:r>
            <a:r>
              <a:rPr lang="en-US" dirty="0"/>
              <a:t>: PRIME’s algorithm</a:t>
            </a:r>
          </a:p>
        </p:txBody>
      </p:sp>
      <p:pic>
        <p:nvPicPr>
          <p:cNvPr id="44" name="Picture 43" descr="Text, letter&#10;&#10;Description automatically generated">
            <a:extLst>
              <a:ext uri="{FF2B5EF4-FFF2-40B4-BE49-F238E27FC236}">
                <a16:creationId xmlns:a16="http://schemas.microsoft.com/office/drawing/2014/main" id="{E1DB6560-73A1-074F-A35B-D2B9518FF7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599" y="884626"/>
            <a:ext cx="4943047" cy="4098235"/>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3AC667B-A1B8-0944-A15C-53CE65211010}"/>
                  </a:ext>
                </a:extLst>
              </p:cNvPr>
              <p:cNvSpPr/>
              <p:nvPr/>
            </p:nvSpPr>
            <p:spPr>
              <a:xfrm>
                <a:off x="5208415" y="2897849"/>
                <a:ext cx="1116909" cy="369332"/>
              </a:xfrm>
              <a:prstGeom prst="rect">
                <a:avLst/>
              </a:prstGeom>
            </p:spPr>
            <p:txBody>
              <a:bodyPr wrap="none">
                <a:spAutoFit/>
              </a:bodyPr>
              <a:lstStyle/>
              <a:p>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oMath>
                </a14:m>
                <a:r>
                  <a:rPr lang="en-US" dirty="0"/>
                  <a:t> times</a:t>
                </a:r>
              </a:p>
            </p:txBody>
          </p:sp>
        </mc:Choice>
        <mc:Fallback xmlns="">
          <p:sp>
            <p:nvSpPr>
              <p:cNvPr id="17" name="Rectangle 16">
                <a:extLst>
                  <a:ext uri="{FF2B5EF4-FFF2-40B4-BE49-F238E27FC236}">
                    <a16:creationId xmlns:a16="http://schemas.microsoft.com/office/drawing/2014/main" id="{03AC667B-A1B8-0944-A15C-53CE65211010}"/>
                  </a:ext>
                </a:extLst>
              </p:cNvPr>
              <p:cNvSpPr>
                <a:spLocks noRot="1" noChangeAspect="1" noMove="1" noResize="1" noEditPoints="1" noAdjustHandles="1" noChangeArrowheads="1" noChangeShapeType="1" noTextEdit="1"/>
              </p:cNvSpPr>
              <p:nvPr/>
            </p:nvSpPr>
            <p:spPr>
              <a:xfrm>
                <a:off x="5208415" y="2897849"/>
                <a:ext cx="1116909" cy="369332"/>
              </a:xfrm>
              <a:prstGeom prst="rect">
                <a:avLst/>
              </a:prstGeom>
              <a:blipFill>
                <a:blip r:embed="rId3"/>
                <a:stretch>
                  <a:fillRect l="-1111" t="-6667" r="-33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8C46ADF-7378-D140-A516-E35DEE4CB5E0}"/>
                  </a:ext>
                </a:extLst>
              </p:cNvPr>
              <p:cNvSpPr txBox="1"/>
              <p:nvPr/>
            </p:nvSpPr>
            <p:spPr>
              <a:xfrm>
                <a:off x="5208415" y="3207365"/>
                <a:ext cx="5287307" cy="646331"/>
              </a:xfrm>
              <a:prstGeom prst="rect">
                <a:avLst/>
              </a:prstGeom>
              <a:noFill/>
            </p:spPr>
            <p:txBody>
              <a:bodyPr wrap="square" rtlCol="0">
                <a:spAutoFit/>
              </a:bodyPr>
              <a:lstStyle/>
              <a:p>
                <a:r>
                  <a:rPr lang="en-US" dirty="0"/>
                  <a:t>each </a:t>
                </a:r>
                <a:r>
                  <a:rPr lang="en-US" dirty="0">
                    <a:latin typeface="Times" pitchFamily="2" charset="0"/>
                  </a:rPr>
                  <a:t>E</a:t>
                </a:r>
                <a:r>
                  <a:rPr lang="en-US" sz="1400" dirty="0">
                    <a:latin typeface="Times" pitchFamily="2" charset="0"/>
                  </a:rPr>
                  <a:t>XTRACT</a:t>
                </a:r>
                <a:r>
                  <a:rPr lang="en-US" dirty="0">
                    <a:latin typeface="Times" pitchFamily="2" charset="0"/>
                  </a:rPr>
                  <a:t>-M</a:t>
                </a:r>
                <a:r>
                  <a:rPr lang="en-US" sz="1400" dirty="0">
                    <a:latin typeface="Times" pitchFamily="2" charset="0"/>
                  </a:rPr>
                  <a:t>IN</a:t>
                </a:r>
                <a:r>
                  <a:rPr lang="en-US" dirty="0"/>
                  <a:t> will take </a:t>
                </a: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e>
                    </m:func>
                    <m:r>
                      <a:rPr lang="en-US" b="0" i="1" smtClean="0">
                        <a:latin typeface="Cambria Math" panose="02040503050406030204" pitchFamily="18" charset="0"/>
                      </a:rPr>
                      <m:t>)</m:t>
                    </m:r>
                  </m:oMath>
                </a14:m>
                <a:r>
                  <a:rPr lang="en-US" dirty="0"/>
                  <a:t> time</a:t>
                </a:r>
              </a:p>
              <a:p>
                <a:endParaRPr lang="en-US" dirty="0"/>
              </a:p>
            </p:txBody>
          </p:sp>
        </mc:Choice>
        <mc:Fallback xmlns="">
          <p:sp>
            <p:nvSpPr>
              <p:cNvPr id="20" name="TextBox 19">
                <a:extLst>
                  <a:ext uri="{FF2B5EF4-FFF2-40B4-BE49-F238E27FC236}">
                    <a16:creationId xmlns:a16="http://schemas.microsoft.com/office/drawing/2014/main" id="{08C46ADF-7378-D140-A516-E35DEE4CB5E0}"/>
                  </a:ext>
                </a:extLst>
              </p:cNvPr>
              <p:cNvSpPr txBox="1">
                <a:spLocks noRot="1" noChangeAspect="1" noMove="1" noResize="1" noEditPoints="1" noAdjustHandles="1" noChangeArrowheads="1" noChangeShapeType="1" noTextEdit="1"/>
              </p:cNvSpPr>
              <p:nvPr/>
            </p:nvSpPr>
            <p:spPr>
              <a:xfrm>
                <a:off x="5208415" y="3207365"/>
                <a:ext cx="5287307" cy="646331"/>
              </a:xfrm>
              <a:prstGeom prst="rect">
                <a:avLst/>
              </a:prstGeom>
              <a:blipFill>
                <a:blip r:embed="rId4"/>
                <a:stretch>
                  <a:fillRect l="-718" t="-5769"/>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0EC723-A37A-0148-B55E-882B95B5D875}"/>
              </a:ext>
            </a:extLst>
          </p:cNvPr>
          <p:cNvCxnSpPr>
            <a:cxnSpLocks/>
          </p:cNvCxnSpPr>
          <p:nvPr/>
        </p:nvCxnSpPr>
        <p:spPr>
          <a:xfrm flipH="1">
            <a:off x="3786807" y="2165645"/>
            <a:ext cx="149118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CCAD827F-707A-CC48-BD27-CE22A2CF5E14}"/>
              </a:ext>
            </a:extLst>
          </p:cNvPr>
          <p:cNvSpPr/>
          <p:nvPr/>
        </p:nvSpPr>
        <p:spPr>
          <a:xfrm>
            <a:off x="3389242" y="1490870"/>
            <a:ext cx="327992" cy="1351721"/>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0A906B33-4BEC-5D49-8612-3FB6729E471F}"/>
              </a:ext>
            </a:extLst>
          </p:cNvPr>
          <p:cNvCxnSpPr>
            <a:cxnSpLocks/>
          </p:cNvCxnSpPr>
          <p:nvPr/>
        </p:nvCxnSpPr>
        <p:spPr>
          <a:xfrm flipH="1">
            <a:off x="2385391" y="3082515"/>
            <a:ext cx="282302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13378EA-4E0D-8E40-8FFF-CAB22804744E}"/>
              </a:ext>
            </a:extLst>
          </p:cNvPr>
          <p:cNvCxnSpPr>
            <a:cxnSpLocks/>
          </p:cNvCxnSpPr>
          <p:nvPr/>
        </p:nvCxnSpPr>
        <p:spPr>
          <a:xfrm flipH="1">
            <a:off x="3869633" y="3409122"/>
            <a:ext cx="133878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ight Brace 21">
            <a:extLst>
              <a:ext uri="{FF2B5EF4-FFF2-40B4-BE49-F238E27FC236}">
                <a16:creationId xmlns:a16="http://schemas.microsoft.com/office/drawing/2014/main" id="{78C58516-89FE-9D4B-9E68-15755499DD7B}"/>
              </a:ext>
            </a:extLst>
          </p:cNvPr>
          <p:cNvSpPr/>
          <p:nvPr/>
        </p:nvSpPr>
        <p:spPr>
          <a:xfrm>
            <a:off x="9873786" y="2933743"/>
            <a:ext cx="327992" cy="646330"/>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AF5DE875-AA5A-6F46-99F2-DD68064D1146}"/>
                  </a:ext>
                </a:extLst>
              </p:cNvPr>
              <p:cNvSpPr/>
              <p:nvPr/>
            </p:nvSpPr>
            <p:spPr>
              <a:xfrm>
                <a:off x="10201778" y="3068543"/>
                <a:ext cx="16840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a:rPr lang="en-US" i="1" dirty="0">
                              <a:latin typeface="Cambria Math" panose="02040503050406030204" pitchFamily="18" charset="0"/>
                            </a:rPr>
                            <m:t>𝑉</m:t>
                          </m:r>
                        </m:e>
                      </m:d>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e>
                      </m:func>
                    </m:oMath>
                  </m:oMathPara>
                </a14:m>
                <a:endParaRPr lang="en-US" dirty="0"/>
              </a:p>
            </p:txBody>
          </p:sp>
        </mc:Choice>
        <mc:Fallback xmlns="">
          <p:sp>
            <p:nvSpPr>
              <p:cNvPr id="23" name="Rectangle 22">
                <a:extLst>
                  <a:ext uri="{FF2B5EF4-FFF2-40B4-BE49-F238E27FC236}">
                    <a16:creationId xmlns:a16="http://schemas.microsoft.com/office/drawing/2014/main" id="{AF5DE875-AA5A-6F46-99F2-DD68064D1146}"/>
                  </a:ext>
                </a:extLst>
              </p:cNvPr>
              <p:cNvSpPr>
                <a:spLocks noRot="1" noChangeAspect="1" noMove="1" noResize="1" noEditPoints="1" noAdjustHandles="1" noChangeArrowheads="1" noChangeShapeType="1" noTextEdit="1"/>
              </p:cNvSpPr>
              <p:nvPr/>
            </p:nvSpPr>
            <p:spPr>
              <a:xfrm>
                <a:off x="10201778" y="3068543"/>
                <a:ext cx="1684051" cy="369332"/>
              </a:xfrm>
              <a:prstGeom prst="rect">
                <a:avLst/>
              </a:prstGeom>
              <a:blipFill>
                <a:blip r:embed="rId5"/>
                <a:stretch>
                  <a:fillRect b="-16667"/>
                </a:stretch>
              </a:blipFill>
            </p:spPr>
            <p:txBody>
              <a:bodyPr/>
              <a:lstStyle/>
              <a:p>
                <a:r>
                  <a:rPr lang="en-US">
                    <a:noFill/>
                  </a:rPr>
                  <a:t> </a:t>
                </a:r>
              </a:p>
            </p:txBody>
          </p:sp>
        </mc:Fallback>
      </mc:AlternateContent>
      <p:sp>
        <p:nvSpPr>
          <p:cNvPr id="24" name="Right Brace 23">
            <a:extLst>
              <a:ext uri="{FF2B5EF4-FFF2-40B4-BE49-F238E27FC236}">
                <a16:creationId xmlns:a16="http://schemas.microsoft.com/office/drawing/2014/main" id="{2061E85A-4525-1346-93A1-4D2FF59CEA18}"/>
              </a:ext>
            </a:extLst>
          </p:cNvPr>
          <p:cNvSpPr/>
          <p:nvPr/>
        </p:nvSpPr>
        <p:spPr>
          <a:xfrm>
            <a:off x="4770507" y="3619806"/>
            <a:ext cx="327992" cy="1127906"/>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BE98444-CB43-EC48-8FE3-864316C8FF0E}"/>
                  </a:ext>
                </a:extLst>
              </p:cNvPr>
              <p:cNvSpPr/>
              <p:nvPr/>
            </p:nvSpPr>
            <p:spPr>
              <a:xfrm>
                <a:off x="5208414" y="3995636"/>
                <a:ext cx="3875997" cy="646331"/>
              </a:xfrm>
              <a:prstGeom prst="rect">
                <a:avLst/>
              </a:prstGeom>
            </p:spPr>
            <p:txBody>
              <a:bodyPr wrap="non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r>
                      <a:rPr lang="en-US" b="0" i="0" dirty="0" smtClean="0">
                        <a:latin typeface="Cambria Math" panose="02040503050406030204" pitchFamily="18" charset="0"/>
                      </a:rPr>
                      <m:t>→ </m:t>
                    </m:r>
                  </m:oMath>
                </a14:m>
                <a:r>
                  <a:rPr lang="en-US" dirty="0"/>
                  <a:t>sum of the lengths of </a:t>
                </a:r>
              </a:p>
              <a:p>
                <a:r>
                  <a:rPr lang="en-US" dirty="0"/>
                  <a:t>                 all adjacency lists is </a:t>
                </a:r>
                <a14:m>
                  <m:oMath xmlns:m="http://schemas.openxmlformats.org/officeDocument/2006/math">
                    <m:r>
                      <a:rPr lang="en-US" b="0" i="0" dirty="0" smtClean="0">
                        <a:latin typeface="Cambria Math" panose="02040503050406030204" pitchFamily="18" charset="0"/>
                      </a:rPr>
                      <m:t>2</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oMath>
                </a14:m>
                <a:r>
                  <a:rPr lang="en-US" dirty="0"/>
                  <a:t>  </a:t>
                </a:r>
              </a:p>
            </p:txBody>
          </p:sp>
        </mc:Choice>
        <mc:Fallback xmlns="">
          <p:sp>
            <p:nvSpPr>
              <p:cNvPr id="25" name="Rectangle 24">
                <a:extLst>
                  <a:ext uri="{FF2B5EF4-FFF2-40B4-BE49-F238E27FC236}">
                    <a16:creationId xmlns:a16="http://schemas.microsoft.com/office/drawing/2014/main" id="{6BE98444-CB43-EC48-8FE3-864316C8FF0E}"/>
                  </a:ext>
                </a:extLst>
              </p:cNvPr>
              <p:cNvSpPr>
                <a:spLocks noRot="1" noChangeAspect="1" noMove="1" noResize="1" noEditPoints="1" noAdjustHandles="1" noChangeArrowheads="1" noChangeShapeType="1" noTextEdit="1"/>
              </p:cNvSpPr>
              <p:nvPr/>
            </p:nvSpPr>
            <p:spPr>
              <a:xfrm>
                <a:off x="5208414" y="3995636"/>
                <a:ext cx="3875997" cy="646331"/>
              </a:xfrm>
              <a:prstGeom prst="rect">
                <a:avLst/>
              </a:prstGeom>
              <a:blipFill>
                <a:blip r:embed="rId6"/>
                <a:stretch>
                  <a:fillRect t="-3846"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BBC2EED-6452-FA4B-9561-7E2A5C7A508F}"/>
                  </a:ext>
                </a:extLst>
              </p:cNvPr>
              <p:cNvSpPr/>
              <p:nvPr/>
            </p:nvSpPr>
            <p:spPr>
              <a:xfrm>
                <a:off x="5196845" y="4879386"/>
                <a:ext cx="5081456" cy="923330"/>
              </a:xfrm>
              <a:prstGeom prst="rect">
                <a:avLst/>
              </a:prstGeom>
            </p:spPr>
            <p:txBody>
              <a:bodyPr wrap="none">
                <a:spAutoFit/>
              </a:bodyPr>
              <a:lstStyle/>
              <a:p>
                <a:r>
                  <a:rPr lang="en-US" dirty="0"/>
                  <a:t>constant time </a:t>
                </a:r>
                <a:r>
                  <a:rPr lang="en-US" dirty="0">
                    <a:sym typeface="Wingdings" pitchFamily="2" charset="2"/>
                  </a:rPr>
                  <a:t> keep a set bit for each vertex </a:t>
                </a:r>
              </a:p>
              <a:p>
                <a:r>
                  <a:rPr lang="en-US" dirty="0"/>
                  <a:t>that tells whether or not it is in </a:t>
                </a:r>
                <a14:m>
                  <m:oMath xmlns:m="http://schemas.openxmlformats.org/officeDocument/2006/math">
                    <m:r>
                      <a:rPr lang="en-US" i="1" dirty="0" smtClean="0">
                        <a:latin typeface="Cambria Math" panose="02040503050406030204" pitchFamily="18" charset="0"/>
                      </a:rPr>
                      <m:t>𝑄</m:t>
                    </m:r>
                  </m:oMath>
                </a14:m>
                <a:r>
                  <a:rPr lang="en-US" dirty="0"/>
                  <a:t> </a:t>
                </a:r>
              </a:p>
              <a:p>
                <a:endParaRPr lang="en-US" dirty="0"/>
              </a:p>
            </p:txBody>
          </p:sp>
        </mc:Choice>
        <mc:Fallback xmlns="">
          <p:sp>
            <p:nvSpPr>
              <p:cNvPr id="26" name="Rectangle 25">
                <a:extLst>
                  <a:ext uri="{FF2B5EF4-FFF2-40B4-BE49-F238E27FC236}">
                    <a16:creationId xmlns:a16="http://schemas.microsoft.com/office/drawing/2014/main" id="{4BBC2EED-6452-FA4B-9561-7E2A5C7A508F}"/>
                  </a:ext>
                </a:extLst>
              </p:cNvPr>
              <p:cNvSpPr>
                <a:spLocks noRot="1" noChangeAspect="1" noMove="1" noResize="1" noEditPoints="1" noAdjustHandles="1" noChangeArrowheads="1" noChangeShapeType="1" noTextEdit="1"/>
              </p:cNvSpPr>
              <p:nvPr/>
            </p:nvSpPr>
            <p:spPr>
              <a:xfrm>
                <a:off x="5196845" y="4879386"/>
                <a:ext cx="5081456" cy="923330"/>
              </a:xfrm>
              <a:prstGeom prst="rect">
                <a:avLst/>
              </a:prstGeom>
              <a:blipFill>
                <a:blip r:embed="rId7"/>
                <a:stretch>
                  <a:fillRect l="-998" t="-274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67092799-D502-7740-B742-7712BA357286}"/>
              </a:ext>
            </a:extLst>
          </p:cNvPr>
          <p:cNvCxnSpPr>
            <a:cxnSpLocks/>
          </p:cNvCxnSpPr>
          <p:nvPr/>
        </p:nvCxnSpPr>
        <p:spPr>
          <a:xfrm flipH="1" flipV="1">
            <a:off x="2379449" y="4126185"/>
            <a:ext cx="1407358" cy="1096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7E77D3-0C03-D143-A13A-0C85A54CF568}"/>
              </a:ext>
            </a:extLst>
          </p:cNvPr>
          <p:cNvCxnSpPr/>
          <p:nvPr/>
        </p:nvCxnSpPr>
        <p:spPr>
          <a:xfrm>
            <a:off x="3786807" y="522278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4D870E0F-CE20-AD42-AEDA-D841461B5830}"/>
                  </a:ext>
                </a:extLst>
              </p:cNvPr>
              <p:cNvSpPr/>
              <p:nvPr/>
            </p:nvSpPr>
            <p:spPr>
              <a:xfrm>
                <a:off x="5196845" y="5638284"/>
                <a:ext cx="5081456" cy="369332"/>
              </a:xfrm>
              <a:prstGeom prst="rect">
                <a:avLst/>
              </a:prstGeom>
              <a:solidFill>
                <a:srgbClr val="92D050"/>
              </a:solidFill>
            </p:spPr>
            <p:txBody>
              <a:bodyPr wrap="square">
                <a:spAutoFit/>
              </a:bodyPr>
              <a:lstStyle/>
              <a:p>
                <a14:m>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e>
                    </m:d>
                    <m:r>
                      <a:rPr lang="en-US" b="0" i="1" dirty="0" smtClean="0">
                        <a:latin typeface="Cambria Math" panose="02040503050406030204" pitchFamily="18" charset="0"/>
                      </a:rPr>
                      <m:t> </m:t>
                    </m:r>
                    <m:r>
                      <m:rPr>
                        <m:sty m:val="p"/>
                      </m:rPr>
                      <a:rPr lang="en-US" b="0" i="0" dirty="0" smtClean="0">
                        <a:latin typeface="Cambria Math" panose="02040503050406030204" pitchFamily="18" charset="0"/>
                      </a:rPr>
                      <m:t>amortized</m:t>
                    </m:r>
                    <m:r>
                      <a:rPr lang="en-US" b="0" i="0" dirty="0" smtClean="0">
                        <a:latin typeface="Cambria Math" panose="02040503050406030204" pitchFamily="18" charset="0"/>
                      </a:rPr>
                      <m:t> </m:t>
                    </m:r>
                    <m:r>
                      <m:rPr>
                        <m:sty m:val="p"/>
                      </m:rPr>
                      <a:rPr lang="en-US" b="0" i="0" dirty="0" smtClean="0">
                        <a:latin typeface="Cambria Math" panose="02040503050406030204" pitchFamily="18" charset="0"/>
                      </a:rPr>
                      <m:t>time</m:t>
                    </m:r>
                    <m:r>
                      <a:rPr lang="en-US" b="0" i="0" dirty="0" smtClean="0">
                        <a:latin typeface="Cambria Math" panose="02040503050406030204" pitchFamily="18" charset="0"/>
                      </a:rPr>
                      <m:t>→ </m:t>
                    </m:r>
                  </m:oMath>
                </a14:m>
                <a:r>
                  <a:rPr lang="en-US" dirty="0">
                    <a:latin typeface="Times" pitchFamily="2" charset="0"/>
                  </a:rPr>
                  <a:t>D</a:t>
                </a:r>
                <a:r>
                  <a:rPr lang="en-US" sz="1400" dirty="0">
                    <a:latin typeface="Times" pitchFamily="2" charset="0"/>
                  </a:rPr>
                  <a:t>ECREASE</a:t>
                </a:r>
                <a:r>
                  <a:rPr lang="en-US" dirty="0">
                    <a:latin typeface="Times" pitchFamily="2" charset="0"/>
                  </a:rPr>
                  <a:t>-K</a:t>
                </a:r>
                <a:r>
                  <a:rPr lang="en-US" sz="1400" dirty="0">
                    <a:latin typeface="Times" pitchFamily="2" charset="0"/>
                  </a:rPr>
                  <a:t>EY</a:t>
                </a:r>
                <a:r>
                  <a:rPr lang="en-US" dirty="0"/>
                  <a:t> operation  </a:t>
                </a:r>
              </a:p>
            </p:txBody>
          </p:sp>
        </mc:Choice>
        <mc:Fallback xmlns="">
          <p:sp>
            <p:nvSpPr>
              <p:cNvPr id="31" name="Rectangle 30">
                <a:extLst>
                  <a:ext uri="{FF2B5EF4-FFF2-40B4-BE49-F238E27FC236}">
                    <a16:creationId xmlns:a16="http://schemas.microsoft.com/office/drawing/2014/main" id="{4D870E0F-CE20-AD42-AEDA-D841461B5830}"/>
                  </a:ext>
                </a:extLst>
              </p:cNvPr>
              <p:cNvSpPr>
                <a:spLocks noRot="1" noChangeAspect="1" noMove="1" noResize="1" noEditPoints="1" noAdjustHandles="1" noChangeArrowheads="1" noChangeShapeType="1" noTextEdit="1"/>
              </p:cNvSpPr>
              <p:nvPr/>
            </p:nvSpPr>
            <p:spPr>
              <a:xfrm>
                <a:off x="5196845" y="5638284"/>
                <a:ext cx="5081456" cy="369332"/>
              </a:xfrm>
              <a:prstGeom prst="rect">
                <a:avLst/>
              </a:prstGeom>
              <a:blipFill>
                <a:blip r:embed="rId8"/>
                <a:stretch>
                  <a:fillRect t="-13333" r="-1746" b="-23333"/>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6864DA6A-D4BF-5C4B-A175-5E3E4EC6A6A2}"/>
              </a:ext>
            </a:extLst>
          </p:cNvPr>
          <p:cNvCxnSpPr>
            <a:cxnSpLocks/>
          </p:cNvCxnSpPr>
          <p:nvPr/>
        </p:nvCxnSpPr>
        <p:spPr>
          <a:xfrm flipH="1" flipV="1">
            <a:off x="2604052" y="4747711"/>
            <a:ext cx="1191306" cy="10943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F55365B-BC43-1048-B3C4-B95C5FB93AEB}"/>
              </a:ext>
            </a:extLst>
          </p:cNvPr>
          <p:cNvCxnSpPr/>
          <p:nvPr/>
        </p:nvCxnSpPr>
        <p:spPr>
          <a:xfrm>
            <a:off x="3795358" y="5842035"/>
            <a:ext cx="1308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45762C8-F374-A04E-8EB2-2D7577B24487}"/>
                  </a:ext>
                </a:extLst>
              </p:cNvPr>
              <p:cNvSpPr/>
              <p:nvPr/>
            </p:nvSpPr>
            <p:spPr>
              <a:xfrm>
                <a:off x="5277988" y="1980979"/>
                <a:ext cx="2655022" cy="369332"/>
              </a:xfrm>
              <a:prstGeom prst="rect">
                <a:avLst/>
              </a:prstGeom>
            </p:spPr>
            <p:txBody>
              <a:bodyPr wrap="none">
                <a:spAutoFit/>
              </a:bodyPr>
              <a:lstStyle/>
              <a:p>
                <a:r>
                  <a:rPr lang="en-US" dirty="0">
                    <a:latin typeface="Times" pitchFamily="2" charset="0"/>
                  </a:rPr>
                  <a:t>B</a:t>
                </a:r>
                <a:r>
                  <a:rPr lang="en-US" sz="1400" dirty="0">
                    <a:latin typeface="Times" pitchFamily="2" charset="0"/>
                  </a:rPr>
                  <a:t>UILD</a:t>
                </a:r>
                <a:r>
                  <a:rPr lang="en-US" dirty="0">
                    <a:latin typeface="Times" pitchFamily="2" charset="0"/>
                  </a:rPr>
                  <a:t>-M</a:t>
                </a:r>
                <a:r>
                  <a:rPr lang="en-US" sz="1400" dirty="0">
                    <a:latin typeface="Times" pitchFamily="2" charset="0"/>
                  </a:rPr>
                  <a:t>IN</a:t>
                </a:r>
                <a:r>
                  <a:rPr lang="en-US" dirty="0">
                    <a:latin typeface="Times" pitchFamily="2" charset="0"/>
                  </a:rPr>
                  <a:t>-H</a:t>
                </a:r>
                <a:r>
                  <a:rPr lang="en-US" sz="1400" dirty="0">
                    <a:latin typeface="Times" pitchFamily="2" charset="0"/>
                  </a:rPr>
                  <a:t>EAP</a:t>
                </a:r>
                <a:r>
                  <a:rPr lang="en-US" dirty="0">
                    <a:latin typeface="Times" pitchFamily="2" charset="0"/>
                  </a:rPr>
                  <a:t> </a:t>
                </a:r>
                <a:r>
                  <a:rPr lang="en-US" dirty="0">
                    <a:latin typeface="Times" pitchFamily="2" charset="0"/>
                    <a:sym typeface="Wingdings" pitchFamily="2" charset="2"/>
                  </a:rPr>
                  <a:t> </a:t>
                </a:r>
                <a14:m>
                  <m:oMath xmlns:m="http://schemas.openxmlformats.org/officeDocument/2006/math">
                    <m:r>
                      <m:rPr>
                        <m:sty m:val="p"/>
                      </m:rPr>
                      <a:rPr lang="en-US" dirty="0">
                        <a:latin typeface="Cambria Math" panose="02040503050406030204" pitchFamily="18" charset="0"/>
                        <a:sym typeface="Wingdings" pitchFamily="2" charset="2"/>
                      </a:rPr>
                      <m:t>O</m:t>
                    </m:r>
                    <m:d>
                      <m:dPr>
                        <m:ctrlPr>
                          <a:rPr lang="en-US" i="1" dirty="0">
                            <a:latin typeface="Cambria Math" panose="02040503050406030204" pitchFamily="18" charset="0"/>
                          </a:rPr>
                        </m:ctrlPr>
                      </m:dPr>
                      <m:e>
                        <m:r>
                          <a:rPr lang="en-US" i="1" dirty="0">
                            <a:latin typeface="Cambria Math" panose="02040503050406030204" pitchFamily="18" charset="0"/>
                          </a:rPr>
                          <m:t>𝑉</m:t>
                        </m:r>
                      </m:e>
                    </m:d>
                  </m:oMath>
                </a14:m>
                <a:endParaRPr lang="en-US" dirty="0"/>
              </a:p>
            </p:txBody>
          </p:sp>
        </mc:Choice>
        <mc:Fallback xmlns="">
          <p:sp>
            <p:nvSpPr>
              <p:cNvPr id="28" name="Rectangle 27">
                <a:extLst>
                  <a:ext uri="{FF2B5EF4-FFF2-40B4-BE49-F238E27FC236}">
                    <a16:creationId xmlns:a16="http://schemas.microsoft.com/office/drawing/2014/main" id="{045762C8-F374-A04E-8EB2-2D7577B24487}"/>
                  </a:ext>
                </a:extLst>
              </p:cNvPr>
              <p:cNvSpPr>
                <a:spLocks noRot="1" noChangeAspect="1" noMove="1" noResize="1" noEditPoints="1" noAdjustHandles="1" noChangeArrowheads="1" noChangeShapeType="1" noTextEdit="1"/>
              </p:cNvSpPr>
              <p:nvPr/>
            </p:nvSpPr>
            <p:spPr>
              <a:xfrm>
                <a:off x="5277988" y="1980979"/>
                <a:ext cx="2655022" cy="369332"/>
              </a:xfrm>
              <a:prstGeom prst="rect">
                <a:avLst/>
              </a:prstGeom>
              <a:blipFill>
                <a:blip r:embed="rId9"/>
                <a:stretch>
                  <a:fillRect l="-1905" t="-6667" b="-23333"/>
                </a:stretch>
              </a:blipFill>
            </p:spPr>
            <p:txBody>
              <a:bodyPr/>
              <a:lstStyle/>
              <a:p>
                <a:r>
                  <a:rPr lang="en-US">
                    <a:noFill/>
                  </a:rPr>
                  <a:t> </a:t>
                </a:r>
              </a:p>
            </p:txBody>
          </p:sp>
        </mc:Fallback>
      </mc:AlternateContent>
      <p:sp>
        <p:nvSpPr>
          <p:cNvPr id="35" name="Right Brace 34">
            <a:extLst>
              <a:ext uri="{FF2B5EF4-FFF2-40B4-BE49-F238E27FC236}">
                <a16:creationId xmlns:a16="http://schemas.microsoft.com/office/drawing/2014/main" id="{23BCB0C7-9301-4F44-9F55-AD01555B21DA}"/>
              </a:ext>
            </a:extLst>
          </p:cNvPr>
          <p:cNvSpPr/>
          <p:nvPr/>
        </p:nvSpPr>
        <p:spPr>
          <a:xfrm>
            <a:off x="10226778" y="4076929"/>
            <a:ext cx="327992" cy="1966063"/>
          </a:xfrm>
          <a:prstGeom prst="rightBrace">
            <a:avLst/>
          </a:prstGeom>
          <a:ln w="12700">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F8673B8D-6056-5A4B-9043-CBC81991BC85}"/>
                  </a:ext>
                </a:extLst>
              </p:cNvPr>
              <p:cNvSpPr/>
              <p:nvPr/>
            </p:nvSpPr>
            <p:spPr>
              <a:xfrm>
                <a:off x="10641229" y="4853453"/>
                <a:ext cx="894476" cy="369332"/>
              </a:xfrm>
              <a:prstGeom prst="rect">
                <a:avLst/>
              </a:prstGeom>
              <a:solidFill>
                <a:srgbClr val="92D050"/>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𝑂</m:t>
                      </m:r>
                      <m:d>
                        <m:dPr>
                          <m:ctrlPr>
                            <a:rPr lang="en-US" b="0" i="1" dirty="0" smtClean="0">
                              <a:latin typeface="Cambria Math" panose="02040503050406030204" pitchFamily="18" charset="0"/>
                            </a:rPr>
                          </m:ctrlPr>
                        </m:d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𝐸</m:t>
                              </m:r>
                            </m:e>
                          </m:d>
                        </m:e>
                      </m:d>
                    </m:oMath>
                  </m:oMathPara>
                </a14:m>
                <a:endParaRPr lang="en-US" dirty="0"/>
              </a:p>
            </p:txBody>
          </p:sp>
        </mc:Choice>
        <mc:Fallback xmlns="">
          <p:sp>
            <p:nvSpPr>
              <p:cNvPr id="36" name="Rectangle 35">
                <a:extLst>
                  <a:ext uri="{FF2B5EF4-FFF2-40B4-BE49-F238E27FC236}">
                    <a16:creationId xmlns:a16="http://schemas.microsoft.com/office/drawing/2014/main" id="{F8673B8D-6056-5A4B-9043-CBC81991BC85}"/>
                  </a:ext>
                </a:extLst>
              </p:cNvPr>
              <p:cNvSpPr>
                <a:spLocks noRot="1" noChangeAspect="1" noMove="1" noResize="1" noEditPoints="1" noAdjustHandles="1" noChangeArrowheads="1" noChangeShapeType="1" noTextEdit="1"/>
              </p:cNvSpPr>
              <p:nvPr/>
            </p:nvSpPr>
            <p:spPr>
              <a:xfrm>
                <a:off x="10641229" y="4853453"/>
                <a:ext cx="89447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B3DC9753-E4FA-EB40-A26C-626EC2E8E91F}"/>
                  </a:ext>
                </a:extLst>
              </p:cNvPr>
              <p:cNvSpPr/>
              <p:nvPr/>
            </p:nvSpPr>
            <p:spPr>
              <a:xfrm>
                <a:off x="487017" y="6132443"/>
                <a:ext cx="8726557" cy="369332"/>
              </a:xfrm>
              <a:prstGeom prst="rect">
                <a:avLst/>
              </a:prstGeom>
              <a:solidFill>
                <a:srgbClr val="92D050"/>
              </a:solidFill>
            </p:spPr>
            <p:txBody>
              <a:bodyPr wrap="square">
                <a:spAutoFit/>
              </a:bodyPr>
              <a:lstStyle/>
              <a:p>
                <a:r>
                  <a:rPr lang="en-US" dirty="0">
                    <a:latin typeface="Times" pitchFamily="2" charset="0"/>
                  </a:rPr>
                  <a:t>Overall running time </a:t>
                </a:r>
                <a14:m>
                  <m:oMath xmlns:m="http://schemas.openxmlformats.org/officeDocument/2006/math">
                    <m:r>
                      <a:rPr lang="en-US" b="0" i="0" dirty="0" smtClean="0">
                        <a:latin typeface="Cambria Math" panose="02040503050406030204" pitchFamily="18" charset="0"/>
                      </a:rPr>
                      <m:t>→</m:t>
                    </m:r>
                    <m:r>
                      <a:rPr lang="en-US" i="1" dirty="0" smtClean="0">
                        <a:latin typeface="Cambria Math" panose="02040503050406030204" pitchFamily="18" charset="0"/>
                      </a:rPr>
                      <m:t>𝑂</m:t>
                    </m:r>
                    <m:d>
                      <m:dPr>
                        <m:ctrlPr>
                          <a:rPr lang="en-US" i="1" dirty="0" smtClean="0">
                            <a:latin typeface="Cambria Math" panose="02040503050406030204" pitchFamily="18" charset="0"/>
                          </a:rPr>
                        </m:ctrlPr>
                      </m:dPr>
                      <m:e>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𝑉</m:t>
                            </m:r>
                          </m:e>
                        </m:d>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𝑉</m:t>
                                </m:r>
                              </m:e>
                            </m:d>
                          </m:e>
                        </m:func>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e>
                    </m:d>
                    <m:r>
                      <a:rPr lang="en-US" b="0" i="1" dirty="0" smtClean="0">
                        <a:latin typeface="Cambria Math" panose="02040503050406030204" pitchFamily="18" charset="0"/>
                      </a:rPr>
                      <m:t>=</m:t>
                    </m:r>
                    <m:r>
                      <a:rPr lang="en-US" b="0" i="1" dirty="0" smtClean="0">
                        <a:latin typeface="Cambria Math" panose="02040503050406030204" pitchFamily="18" charset="0"/>
                      </a:rPr>
                      <m:t>𝑂</m:t>
                    </m:r>
                    <m:r>
                      <a:rPr lang="en-US" b="0" i="1" dirty="0" smtClean="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𝐸</m:t>
                        </m:r>
                      </m:e>
                    </m:d>
                    <m:r>
                      <a:rPr lang="en-US" b="0" i="1" dirty="0" smtClean="0">
                        <a:latin typeface="Cambria Math" panose="02040503050406030204" pitchFamily="18" charset="0"/>
                      </a:rPr>
                      <m:t>+|</m:t>
                    </m:r>
                    <m:r>
                      <a:rPr lang="en-US" b="0" i="1" dirty="0" smtClean="0">
                        <a:latin typeface="Cambria Math" panose="02040503050406030204" pitchFamily="18" charset="0"/>
                      </a:rPr>
                      <m:t>𝑉</m:t>
                    </m:r>
                    <m:r>
                      <a:rPr lang="en-US" b="0" i="1" dirty="0" smtClean="0">
                        <a:latin typeface="Cambria Math" panose="02040503050406030204" pitchFamily="18" charset="0"/>
                      </a:rPr>
                      <m:t>|</m:t>
                    </m:r>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i="1" dirty="0">
                                <a:latin typeface="Cambria Math" panose="02040503050406030204" pitchFamily="18" charset="0"/>
                              </a:rPr>
                              <m:t>2</m:t>
                            </m:r>
                          </m:sub>
                        </m:sSub>
                      </m:fName>
                      <m:e>
                        <m:r>
                          <a:rPr lang="en-US" i="1" dirty="0">
                            <a:latin typeface="Cambria Math" panose="02040503050406030204" pitchFamily="18" charset="0"/>
                          </a:rPr>
                          <m:t>|</m:t>
                        </m:r>
                        <m:r>
                          <a:rPr lang="en-US" i="1" dirty="0">
                            <a:latin typeface="Cambria Math" panose="02040503050406030204" pitchFamily="18" charset="0"/>
                          </a:rPr>
                          <m:t>𝑉</m:t>
                        </m:r>
                        <m:r>
                          <a:rPr lang="en-US" i="1" dirty="0">
                            <a:latin typeface="Cambria Math" panose="02040503050406030204" pitchFamily="18" charset="0"/>
                          </a:rPr>
                          <m:t>|)</m:t>
                        </m:r>
                      </m:e>
                    </m:func>
                  </m:oMath>
                </a14:m>
                <a:endParaRPr lang="en-US" dirty="0"/>
              </a:p>
            </p:txBody>
          </p:sp>
        </mc:Choice>
        <mc:Fallback xmlns="">
          <p:sp>
            <p:nvSpPr>
              <p:cNvPr id="30" name="Rectangle 29">
                <a:extLst>
                  <a:ext uri="{FF2B5EF4-FFF2-40B4-BE49-F238E27FC236}">
                    <a16:creationId xmlns:a16="http://schemas.microsoft.com/office/drawing/2014/main" id="{B3DC9753-E4FA-EB40-A26C-626EC2E8E91F}"/>
                  </a:ext>
                </a:extLst>
              </p:cNvPr>
              <p:cNvSpPr>
                <a:spLocks noRot="1" noChangeAspect="1" noMove="1" noResize="1" noEditPoints="1" noAdjustHandles="1" noChangeArrowheads="1" noChangeShapeType="1" noTextEdit="1"/>
              </p:cNvSpPr>
              <p:nvPr/>
            </p:nvSpPr>
            <p:spPr>
              <a:xfrm>
                <a:off x="487017" y="6132443"/>
                <a:ext cx="8726557" cy="369332"/>
              </a:xfrm>
              <a:prstGeom prst="rect">
                <a:avLst/>
              </a:prstGeom>
              <a:blipFill>
                <a:blip r:embed="rId11"/>
                <a:stretch>
                  <a:fillRect l="-581" t="-6452" b="-19355"/>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C4DA48F4-2743-4747-AAF7-585F30FA3B44}"/>
              </a:ext>
            </a:extLst>
          </p:cNvPr>
          <p:cNvCxnSpPr>
            <a:cxnSpLocks/>
          </p:cNvCxnSpPr>
          <p:nvPr/>
        </p:nvCxnSpPr>
        <p:spPr>
          <a:xfrm flipH="1">
            <a:off x="7378144" y="6317109"/>
            <a:ext cx="78346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BD34E6D-1B7C-6747-ADDC-B023E70A1048}"/>
              </a:ext>
            </a:extLst>
          </p:cNvPr>
          <p:cNvSpPr/>
          <p:nvPr/>
        </p:nvSpPr>
        <p:spPr>
          <a:xfrm>
            <a:off x="8302796" y="6132443"/>
            <a:ext cx="2326278" cy="369332"/>
          </a:xfrm>
          <a:prstGeom prst="rect">
            <a:avLst/>
          </a:prstGeom>
          <a:solidFill>
            <a:srgbClr val="92D050"/>
          </a:solidFill>
        </p:spPr>
        <p:txBody>
          <a:bodyPr wrap="none">
            <a:spAutoFit/>
          </a:bodyPr>
          <a:lstStyle/>
          <a:p>
            <a:r>
              <a:rPr lang="en-US" dirty="0">
                <a:latin typeface="Times" pitchFamily="2" charset="0"/>
              </a:rPr>
              <a:t>Improved running time</a:t>
            </a:r>
            <a:endParaRPr lang="en-US" dirty="0"/>
          </a:p>
        </p:txBody>
      </p:sp>
      <p:sp>
        <p:nvSpPr>
          <p:cNvPr id="38" name="TextBox 37">
            <a:extLst>
              <a:ext uri="{FF2B5EF4-FFF2-40B4-BE49-F238E27FC236}">
                <a16:creationId xmlns:a16="http://schemas.microsoft.com/office/drawing/2014/main" id="{704BB8D5-9BA1-BF48-8BD2-2030D3F56314}"/>
              </a:ext>
            </a:extLst>
          </p:cNvPr>
          <p:cNvSpPr txBox="1"/>
          <p:nvPr/>
        </p:nvSpPr>
        <p:spPr>
          <a:xfrm>
            <a:off x="8388626" y="1302026"/>
            <a:ext cx="1739348" cy="369332"/>
          </a:xfrm>
          <a:prstGeom prst="rect">
            <a:avLst/>
          </a:prstGeom>
          <a:solidFill>
            <a:srgbClr val="92D050"/>
          </a:solidFill>
        </p:spPr>
        <p:txBody>
          <a:bodyPr wrap="square" rtlCol="0">
            <a:spAutoFit/>
          </a:bodyPr>
          <a:lstStyle/>
          <a:p>
            <a:pPr algn="ctr"/>
            <a:r>
              <a:rPr lang="en-US" dirty="0">
                <a:latin typeface="Times" pitchFamily="2" charset="0"/>
              </a:rPr>
              <a:t>Fibonacci-Heap</a:t>
            </a:r>
          </a:p>
        </p:txBody>
      </p:sp>
    </p:spTree>
    <p:extLst>
      <p:ext uri="{BB962C8B-B14F-4D97-AF65-F5344CB8AC3E}">
        <p14:creationId xmlns:p14="http://schemas.microsoft.com/office/powerpoint/2010/main" val="39105237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D9A0D-9D99-994D-800A-6954271B496D}"/>
              </a:ext>
            </a:extLst>
          </p:cNvPr>
          <p:cNvSpPr>
            <a:spLocks noGrp="1"/>
          </p:cNvSpPr>
          <p:nvPr>
            <p:ph type="title"/>
          </p:nvPr>
        </p:nvSpPr>
        <p:spPr/>
        <p:txBody>
          <a:bodyPr/>
          <a:lstStyle/>
          <a:p>
            <a:r>
              <a:rPr lang="en-US" dirty="0"/>
              <a:t>Content Courtesy</a:t>
            </a:r>
          </a:p>
        </p:txBody>
      </p:sp>
      <p:sp>
        <p:nvSpPr>
          <p:cNvPr id="3" name="Content Placeholder 2">
            <a:extLst>
              <a:ext uri="{FF2B5EF4-FFF2-40B4-BE49-F238E27FC236}">
                <a16:creationId xmlns:a16="http://schemas.microsoft.com/office/drawing/2014/main" id="{280B3B19-E083-D341-903B-A1024A9DC968}"/>
              </a:ext>
            </a:extLst>
          </p:cNvPr>
          <p:cNvSpPr>
            <a:spLocks noGrp="1"/>
          </p:cNvSpPr>
          <p:nvPr>
            <p:ph idx="1"/>
          </p:nvPr>
        </p:nvSpPr>
        <p:spPr/>
        <p:txBody>
          <a:bodyPr/>
          <a:lstStyle/>
          <a:p>
            <a:r>
              <a:rPr lang="en-US" dirty="0"/>
              <a:t>Dr. Abul </a:t>
            </a:r>
            <a:r>
              <a:rPr lang="en-US" dirty="0" err="1"/>
              <a:t>Kashem</a:t>
            </a:r>
            <a:r>
              <a:rPr lang="en-US" dirty="0"/>
              <a:t> Mia, Professor, CSE, BUET</a:t>
            </a:r>
          </a:p>
          <a:p>
            <a:r>
              <a:rPr lang="en-US" dirty="0" err="1"/>
              <a:t>Sukarna</a:t>
            </a:r>
            <a:r>
              <a:rPr lang="en-US" dirty="0"/>
              <a:t> </a:t>
            </a:r>
            <a:r>
              <a:rPr lang="en-US" dirty="0" err="1"/>
              <a:t>Barua</a:t>
            </a:r>
            <a:r>
              <a:rPr lang="en-US" dirty="0"/>
              <a:t>, Assistant Professor, CSE, BUET</a:t>
            </a:r>
          </a:p>
        </p:txBody>
      </p:sp>
    </p:spTree>
    <p:extLst>
      <p:ext uri="{BB962C8B-B14F-4D97-AF65-F5344CB8AC3E}">
        <p14:creationId xmlns:p14="http://schemas.microsoft.com/office/powerpoint/2010/main" val="33619246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9340</TotalTime>
  <Words>4512</Words>
  <Application>Microsoft Macintosh PowerPoint</Application>
  <PresentationFormat>Widescreen</PresentationFormat>
  <Paragraphs>2201</Paragraphs>
  <Slides>78</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78</vt:i4>
      </vt:variant>
    </vt:vector>
  </HeadingPairs>
  <TitlesOfParts>
    <vt:vector size="94" baseType="lpstr">
      <vt:lpstr>Angsana New</vt:lpstr>
      <vt:lpstr>Arial</vt:lpstr>
      <vt:lpstr>Calibri</vt:lpstr>
      <vt:lpstr>Cambria</vt:lpstr>
      <vt:lpstr>Cambria Math</vt:lpstr>
      <vt:lpstr>Comic Sans MS</vt:lpstr>
      <vt:lpstr>Courier New</vt:lpstr>
      <vt:lpstr>Rockwell</vt:lpstr>
      <vt:lpstr>Rockwell Condensed</vt:lpstr>
      <vt:lpstr>Rockwell Extra Bold</vt:lpstr>
      <vt:lpstr>Tahoma</vt:lpstr>
      <vt:lpstr>Times</vt:lpstr>
      <vt:lpstr>Times New Roman</vt:lpstr>
      <vt:lpstr>Times New Roman Bold Italic</vt:lpstr>
      <vt:lpstr>Wingdings</vt:lpstr>
      <vt:lpstr>Wood Type</vt:lpstr>
      <vt:lpstr>Greedy Algorithms</vt:lpstr>
      <vt:lpstr>Greedy</vt:lpstr>
      <vt:lpstr>Greedy Algorithm: Principles</vt:lpstr>
      <vt:lpstr>Activity Scheduling Problem</vt:lpstr>
      <vt:lpstr>Activity Scheduling Problem</vt:lpstr>
      <vt:lpstr>Activity Scheduling: Early Finish Time</vt:lpstr>
      <vt:lpstr>PowerPoint Presentation</vt:lpstr>
      <vt:lpstr>PowerPoint Presentation</vt:lpstr>
      <vt:lpstr>Activity Scheduling: Early Finish Time</vt:lpstr>
      <vt:lpstr>Activity Scheduling: Early Finish Time</vt:lpstr>
      <vt:lpstr>Activity Scheduling: Early Finish Time</vt:lpstr>
      <vt:lpstr>The famous knapsack problem</vt:lpstr>
      <vt:lpstr>The famous knapsack problem</vt:lpstr>
      <vt:lpstr>The famous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Fractional Knapsack problem</vt:lpstr>
      <vt:lpstr>PowerPoint Presentation</vt:lpstr>
      <vt:lpstr>Trees and Forests</vt:lpstr>
      <vt:lpstr>Trees and Forests</vt:lpstr>
      <vt:lpstr>Spanning Tree</vt:lpstr>
      <vt:lpstr>Minimum Spanning Tree</vt:lpstr>
      <vt:lpstr>FINDING MINIMUM spanning tree</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Kruskal’s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FINDING mst: PRIME’s algorithm</vt:lpstr>
      <vt:lpstr>Content Courtesy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Divide and Conquer</dc:title>
  <dc:creator>T.M. Tariq  Adnan</dc:creator>
  <cp:lastModifiedBy>T.M. Tariq  Adnan</cp:lastModifiedBy>
  <cp:revision>16</cp:revision>
  <dcterms:created xsi:type="dcterms:W3CDTF">2022-01-16T09:32:07Z</dcterms:created>
  <dcterms:modified xsi:type="dcterms:W3CDTF">2022-01-29T19:19:16Z</dcterms:modified>
</cp:coreProperties>
</file>