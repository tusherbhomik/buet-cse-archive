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18" r:id="rId3"/>
    <p:sldId id="339" r:id="rId4"/>
    <p:sldId id="330" r:id="rId5"/>
    <p:sldId id="257" r:id="rId6"/>
    <p:sldId id="331" r:id="rId7"/>
    <p:sldId id="332" r:id="rId8"/>
    <p:sldId id="258" r:id="rId9"/>
    <p:sldId id="259" r:id="rId10"/>
    <p:sldId id="260" r:id="rId11"/>
    <p:sldId id="335" r:id="rId12"/>
    <p:sldId id="336" r:id="rId13"/>
    <p:sldId id="337" r:id="rId14"/>
    <p:sldId id="261" r:id="rId15"/>
    <p:sldId id="262" r:id="rId16"/>
    <p:sldId id="263" r:id="rId17"/>
    <p:sldId id="264" r:id="rId18"/>
    <p:sldId id="340" r:id="rId19"/>
    <p:sldId id="343" r:id="rId20"/>
    <p:sldId id="344" r:id="rId21"/>
    <p:sldId id="341" r:id="rId22"/>
    <p:sldId id="342" r:id="rId23"/>
    <p:sldId id="345" r:id="rId24"/>
    <p:sldId id="346" r:id="rId25"/>
    <p:sldId id="333" r:id="rId26"/>
    <p:sldId id="334" r:id="rId27"/>
    <p:sldId id="338" r:id="rId28"/>
    <p:sldId id="266" r:id="rId29"/>
    <p:sldId id="267" r:id="rId30"/>
    <p:sldId id="269" r:id="rId31"/>
    <p:sldId id="27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1" autoAdjust="0"/>
  </p:normalViewPr>
  <p:slideViewPr>
    <p:cSldViewPr>
      <p:cViewPr varScale="1">
        <p:scale>
          <a:sx n="105" d="100"/>
          <a:sy n="105" d="100"/>
        </p:scale>
        <p:origin x="12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29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D5FCE-5CD6-4EC0-907C-132E2C0FCFA9}" type="datetimeFigureOut">
              <a:rPr lang="en-US" smtClean="0"/>
              <a:pPr/>
              <a:t>11/25/2022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0100F-3381-41C7-9B6D-B30E012C79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B9BDFA-6F39-49B5-B5D7-A2B29256E78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The first goal is a worldview to adopt</a:t>
            </a:r>
          </a:p>
          <a:p>
            <a:pPr eaLnBrk="1" hangingPunct="1"/>
            <a:endParaRPr lang="en-US">
              <a:latin typeface="Helvetica" pitchFamily="26" charset="0"/>
            </a:endParaRPr>
          </a:p>
          <a:p>
            <a:pPr eaLnBrk="1" hangingPunct="1"/>
            <a:r>
              <a:rPr lang="en-US">
                <a:latin typeface="Helvetica" pitchFamily="26" charset="0"/>
              </a:rPr>
              <a:t>The second goal is the “nuts and bolts” of the course.</a:t>
            </a:r>
          </a:p>
          <a:p>
            <a:pPr eaLnBrk="1" hangingPunct="1"/>
            <a:endParaRPr lang="en-US">
              <a:latin typeface="Helvetica" pitchFamily="26" charset="0"/>
            </a:endParaRPr>
          </a:p>
          <a:p>
            <a:pPr eaLnBrk="1" hangingPunct="1"/>
            <a:r>
              <a:rPr lang="en-US">
                <a:latin typeface="Helvetica" pitchFamily="26" charset="0"/>
              </a:rPr>
              <a:t>The third goal prepares a student for the future.</a:t>
            </a:r>
          </a:p>
          <a:p>
            <a:pPr eaLnBrk="1" hangingPunct="1"/>
            <a:endParaRPr lang="en-US">
              <a:latin typeface="Helvetica" pitchFamily="2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317B2E-3DCA-4FD9-8297-D090B77E749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60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 primary concern for this course is efficiency.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You might believe that faster computers make it unnecessary to be concerned with efficiency.  However…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So we need special training.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42B4C9-A070-4ED5-86F1-D9134360123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61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If you are willing to pay enough in time delay.  Example: Simple unordered array of records.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042FD1-76C1-4AF8-8264-BE2AAFE3EAF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Alternate definition: Better than known alternatives (“relatively efficient”).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Space and time are typical constraints for programs.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>
                <a:latin typeface="Courier New" pitchFamily="26" charset="0"/>
              </a:rPr>
              <a:t>This does not mean always strive for the most efficient program.  If the program operates well within resource constraints, there is no benefit to making it faster or smaller.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FAF5EB-14E8-49D1-9C80-ACE7ABE6BFF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Typically want the “simplest” data structure that will meet the requirements.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00850-BB11-4FB5-8DA1-ADEC2B3FAEA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64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These questions often  help to narrow the possibilities.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If data can be deleted, a more complex representation is typically required.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3598BD-A645-4D27-BD9A-017C496E978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The space required includes data and overhead.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Some data structures/algorithms are more complicated than others.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DD83D8-923E-4CA7-A099-B893084EF6E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66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6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58807E-CBA4-456D-AEC3-9E1AD6D9DD6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68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DB16A2-8BDF-459B-AB3F-F4A6F0DB77E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69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038797-3BB0-4215-912B-67C5A0FB72E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71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7FE683-B9E7-4753-AC0C-6E3AE5A0251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72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Courier New" pitchFamily="26" charset="0"/>
              </a:rPr>
              <a:t>In this class, we frequently move above and below “the line” separating logical and physical forms.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2/27/2016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Sohel Rahman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2/27/2016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Teacher: Prof. Sohel Rahman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203: Data Structures and Algorithms 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dirty="0"/>
              <a:t>Algorithms and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772400" cy="5045075"/>
          </a:xfrm>
        </p:spPr>
        <p:txBody>
          <a:bodyPr>
            <a:normAutofit/>
          </a:bodyPr>
          <a:lstStyle/>
          <a:p>
            <a:r>
              <a:rPr lang="en-US" sz="2800" dirty="0"/>
              <a:t>An </a:t>
            </a:r>
            <a:r>
              <a:rPr lang="en-US" sz="2800" b="1" dirty="0">
                <a:solidFill>
                  <a:srgbClr val="FF0000"/>
                </a:solidFill>
              </a:rPr>
              <a:t>algorithm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a step-by-step procedure for performing some task in a finite amount of time.</a:t>
            </a:r>
          </a:p>
          <a:p>
            <a:pPr lvl="1"/>
            <a:r>
              <a:rPr lang="en-US" sz="2400" dirty="0"/>
              <a:t>Typically, an algorithm takes input data and produces an output based upon it.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data structure </a:t>
            </a:r>
            <a:r>
              <a:rPr lang="en-US" sz="2800" dirty="0"/>
              <a:t>is a systematic way of organizing and accessing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45C1F5-68C4-3D40-BD9B-61378355F3B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4271963" y="4887913"/>
            <a:ext cx="1366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Algorithm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809875" y="4886325"/>
            <a:ext cx="73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Input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9" name="Rectangle 76"/>
          <p:cNvSpPr>
            <a:spLocks noChangeArrowheads="1"/>
          </p:cNvSpPr>
          <p:nvPr/>
        </p:nvSpPr>
        <p:spPr bwMode="auto">
          <a:xfrm>
            <a:off x="6276975" y="4887913"/>
            <a:ext cx="96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Output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10" name="AutoShape 154"/>
          <p:cNvSpPr>
            <a:spLocks noChangeArrowheads="1"/>
          </p:cNvSpPr>
          <p:nvPr/>
        </p:nvSpPr>
        <p:spPr bwMode="auto">
          <a:xfrm>
            <a:off x="3870325" y="418782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55"/>
          <p:cNvSpPr>
            <a:spLocks noChangeArrowheads="1"/>
          </p:cNvSpPr>
          <p:nvPr/>
        </p:nvSpPr>
        <p:spPr bwMode="auto">
          <a:xfrm>
            <a:off x="5611813" y="4189413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rgbClr val="E4BB0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2" name="Picture 11" descr="BU005259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75" y="3971925"/>
            <a:ext cx="989322" cy="884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9" descr="skd188086sdc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775" y="3743325"/>
            <a:ext cx="838200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" descr="AA026348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175" y="4030663"/>
            <a:ext cx="1268413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52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DSA working together…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Data Structure:</a:t>
            </a:r>
          </a:p>
          <a:p>
            <a:pPr lvl="1"/>
            <a:r>
              <a:rPr lang="en-US" dirty="0"/>
              <a:t>A way of organizing, storing, accessing, and updating data</a:t>
            </a:r>
          </a:p>
          <a:p>
            <a:pPr lvl="1"/>
            <a:r>
              <a:rPr lang="en-US" b="1" dirty="0"/>
              <a:t>Examples</a:t>
            </a:r>
            <a:r>
              <a:rPr lang="en-US" dirty="0"/>
              <a:t>: Arrays, Linked Lists, Stacks, Queues, Trees</a:t>
            </a:r>
          </a:p>
          <a:p>
            <a:r>
              <a:rPr lang="en-US" dirty="0"/>
              <a:t>Algorithm:</a:t>
            </a:r>
          </a:p>
          <a:p>
            <a:pPr lvl="1"/>
            <a:r>
              <a:rPr lang="en-US" dirty="0"/>
              <a:t>A series of precise instructions to produce a specific</a:t>
            </a:r>
            <a:br>
              <a:rPr lang="en-US" dirty="0"/>
            </a:br>
            <a:r>
              <a:rPr lang="en-US" dirty="0"/>
              <a:t>outcome</a:t>
            </a:r>
          </a:p>
          <a:p>
            <a:pPr lvl="1"/>
            <a:r>
              <a:rPr lang="en-US" b="1" dirty="0"/>
              <a:t>Examples</a:t>
            </a:r>
            <a:r>
              <a:rPr lang="en-US" dirty="0"/>
              <a:t>: Binary Search, Merge Sort, Recursive Backtracking</a:t>
            </a:r>
          </a:p>
          <a:p>
            <a:r>
              <a:rPr lang="en-US" dirty="0"/>
              <a:t>DSA in a Program:</a:t>
            </a:r>
          </a:p>
          <a:p>
            <a:pPr lvl="1"/>
            <a:r>
              <a:rPr lang="en-US" dirty="0"/>
              <a:t>A program is the expression of an algorithm in a</a:t>
            </a:r>
            <a:br>
              <a:rPr lang="en-US" dirty="0"/>
            </a:br>
            <a:r>
              <a:rPr lang="en-US" dirty="0"/>
              <a:t>programming language </a:t>
            </a:r>
          </a:p>
          <a:p>
            <a:pPr lvl="1"/>
            <a:r>
              <a:rPr lang="en-US" b="1" dirty="0"/>
              <a:t>Data Structure + Algorithms</a:t>
            </a:r>
          </a:p>
          <a:p>
            <a:pPr marL="457200" lvl="1" indent="0">
              <a:buNone/>
            </a:pPr>
            <a:r>
              <a:rPr lang="en-US" dirty="0"/>
              <a:t>    Binary Search Tree + Tree Traversal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8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6" charset="0"/>
              </a:rPr>
              <a:t>Goals of this 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In this course, we will look at:</a:t>
            </a:r>
          </a:p>
          <a:p>
            <a:pPr lvl="1"/>
            <a:r>
              <a:rPr lang="en-US" i="1" dirty="0">
                <a:latin typeface="Arial" charset="0"/>
                <a:cs typeface="Arial" charset="0"/>
              </a:rPr>
              <a:t>Algorithms</a:t>
            </a:r>
            <a:r>
              <a:rPr lang="en-US" dirty="0">
                <a:latin typeface="Arial" charset="0"/>
                <a:cs typeface="Arial" charset="0"/>
              </a:rPr>
              <a:t> for solving problems efficiently</a:t>
            </a:r>
          </a:p>
          <a:p>
            <a:pPr lvl="1"/>
            <a:r>
              <a:rPr lang="en-US" i="1" dirty="0">
                <a:latin typeface="Arial" charset="0"/>
                <a:cs typeface="Arial" charset="0"/>
              </a:rPr>
              <a:t>Data structures</a:t>
            </a:r>
            <a:r>
              <a:rPr lang="en-US" dirty="0">
                <a:latin typeface="Arial" charset="0"/>
                <a:cs typeface="Arial" charset="0"/>
              </a:rPr>
              <a:t> for efficiently storing, accessing, and modifying data</a:t>
            </a: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We will see that all data structures have trade-offs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 is no </a:t>
            </a:r>
            <a:r>
              <a:rPr lang="en-US" i="1" dirty="0">
                <a:latin typeface="Arial" charset="0"/>
                <a:cs typeface="Arial" charset="0"/>
              </a:rPr>
              <a:t>ultimate</a:t>
            </a:r>
            <a:r>
              <a:rPr lang="en-US" dirty="0">
                <a:latin typeface="Arial" charset="0"/>
                <a:cs typeface="Arial" charset="0"/>
              </a:rPr>
              <a:t> data structure...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choice depends on our requirements</a:t>
            </a:r>
          </a:p>
          <a:p>
            <a:pPr>
              <a:buNone/>
            </a:pPr>
            <a:endParaRPr lang="en-CA" dirty="0">
              <a:latin typeface="Arial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4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Goals of this Course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>
            <a:normAutofit fontScale="77500" lnSpcReduction="20000"/>
          </a:bodyPr>
          <a:lstStyle/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Reinforce the concept that costs and benefits exist for every data structure/algorithm.</a:t>
            </a:r>
          </a:p>
          <a:p>
            <a:pPr marL="914400" lvl="1" indent="-457200" eaLnBrk="1" hangingPunct="1">
              <a:lnSpc>
                <a:spcPct val="110000"/>
              </a:lnSpc>
              <a:buFontTx/>
              <a:buNone/>
            </a:pPr>
            <a:endParaRPr lang="en-US" sz="2400" dirty="0">
              <a:latin typeface="Helvetica" pitchFamily="26" charset="0"/>
            </a:endParaRP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Learn the commonly used/important data structures/algorithmic techniques.</a:t>
            </a: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en-US" dirty="0">
                <a:latin typeface="Helvetica" pitchFamily="26" charset="0"/>
              </a:rPr>
              <a:t>These form a programmer's basic data structure “toolkit”.‘</a:t>
            </a:r>
          </a:p>
          <a:p>
            <a:pPr marL="914400" lvl="1" indent="-457200" eaLnBrk="1" hangingPunct="1">
              <a:lnSpc>
                <a:spcPct val="110000"/>
              </a:lnSpc>
            </a:pPr>
            <a:endParaRPr lang="en-US" dirty="0">
              <a:latin typeface="Helvetica" pitchFamily="26" charset="0"/>
            </a:endParaRP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Understand how to measure the cost of a data structure or algorithm.</a:t>
            </a: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en-US" dirty="0">
                <a:latin typeface="Helvetica" pitchFamily="26" charset="0"/>
              </a:rPr>
              <a:t>These techniques also allow you to judge the merits of new data structures/algorithms that you or others might invent.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648200"/>
            <a:ext cx="1180147" cy="983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686800" cy="5410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Arial" charset="0"/>
              <a:buChar char="‫"/>
            </a:pPr>
            <a:r>
              <a:rPr lang="en-US" sz="2400" dirty="0">
                <a:latin typeface="Arial" charset="0"/>
                <a:cs typeface="Arial" charset="0"/>
              </a:rPr>
              <a:t>Consider accessing the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latin typeface="Arial" charset="0"/>
                <a:cs typeface="Arial" charset="0"/>
              </a:rPr>
              <a:t>th entry in an array or linked list (!)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In an array, we can access it using an index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array[k]</a:t>
            </a: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Arial" charset="0"/>
                <a:cs typeface="Arial" charset="0"/>
              </a:rPr>
              <a:t>You will learn later that there is a single machine instruction for this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We must step through the first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1 </a:t>
            </a:r>
            <a:r>
              <a:rPr lang="en-US" sz="2400" dirty="0">
                <a:latin typeface="Arial" charset="0"/>
                <a:cs typeface="Arial" charset="0"/>
              </a:rPr>
              <a:t>nodes in a linked list</a:t>
            </a: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Arial" charset="0"/>
                <a:cs typeface="Arial" charset="0"/>
              </a:rPr>
              <a:t>We will learn this in this course</a:t>
            </a:r>
          </a:p>
          <a:p>
            <a:pPr>
              <a:lnSpc>
                <a:spcPct val="120000"/>
              </a:lnSpc>
              <a:buFont typeface="Arial" charset="0"/>
              <a:buChar char="‫"/>
            </a:pPr>
            <a:r>
              <a:rPr lang="en-US" sz="2400" dirty="0">
                <a:latin typeface="Arial" charset="0"/>
                <a:cs typeface="Arial" charset="0"/>
              </a:rPr>
              <a:t>Consider searching for an entry in a sorted array or linked list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In a sorted array, we use a fast binary search (!)</a:t>
            </a: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Arial" charset="0"/>
                <a:cs typeface="Arial" charset="0"/>
              </a:rPr>
              <a:t>Very fast: O(log n)!!!!!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In a linked list we must step through all entries less than the entry we’re looking for</a:t>
            </a: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Arial" charset="0"/>
                <a:cs typeface="Arial" charset="0"/>
              </a:rPr>
              <a:t>Slow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273652"/>
            <a:ext cx="8229600" cy="468630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  <a:buFont typeface="Arial" charset="0"/>
              <a:buChar char="‫"/>
            </a:pPr>
            <a:r>
              <a:rPr lang="en-US" sz="2800" dirty="0">
                <a:latin typeface="Arial" charset="0"/>
                <a:cs typeface="Arial" charset="0"/>
              </a:rPr>
              <a:t>However, consider inserting a new entry to the start of an array or a linked list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>
                <a:latin typeface="Arial" charset="0"/>
                <a:cs typeface="Arial" charset="0"/>
              </a:rPr>
              <a:t>An array requires that you copy all the elements in the array over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>
                <a:latin typeface="Arial" charset="0"/>
                <a:cs typeface="Arial" charset="0"/>
              </a:rPr>
              <a:t>Slow for large arrays</a:t>
            </a:r>
          </a:p>
          <a:p>
            <a:pPr lvl="1" eaLnBrk="1" hangingPunct="1">
              <a:lnSpc>
                <a:spcPct val="11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sz="2400" dirty="0">
                <a:latin typeface="Arial" charset="0"/>
                <a:cs typeface="Arial" charset="0"/>
              </a:rPr>
              <a:t>A linked list allows you to make the insertion very quickly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>
                <a:latin typeface="Arial" charset="0"/>
                <a:cs typeface="Arial" charset="0"/>
              </a:rPr>
              <a:t>Very fast regardless of size</a:t>
            </a:r>
          </a:p>
          <a:p>
            <a:pPr eaLnBrk="1" hangingPunct="1">
              <a:lnSpc>
                <a:spcPct val="110000"/>
              </a:lnSpc>
              <a:buFont typeface="Arial" charset="0"/>
              <a:buChar char="‫"/>
            </a:pPr>
            <a:endParaRPr lang="en-CA" sz="2800" dirty="0">
              <a:latin typeface="Arial" charset="0"/>
              <a:cs typeface="Arial" charset="0"/>
            </a:endParaRPr>
          </a:p>
        </p:txBody>
      </p:sp>
      <p:pic>
        <p:nvPicPr>
          <p:cNvPr id="6" name="Picture 5" descr="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16802"/>
            <a:ext cx="8407086" cy="668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130" y="5822950"/>
            <a:ext cx="60928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00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The Need for Data Structures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Data structures organize data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  <a:sym typeface="Symbol" pitchFamily="26" charset="2"/>
              </a:rPr>
              <a:t>		 </a:t>
            </a:r>
            <a:r>
              <a:rPr lang="en-US" dirty="0">
                <a:latin typeface="Helvetica" pitchFamily="26" charset="0"/>
              </a:rPr>
              <a:t>more efficient programs.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More powerful computers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		</a:t>
            </a:r>
            <a:r>
              <a:rPr lang="en-US" dirty="0">
                <a:latin typeface="Helvetica" pitchFamily="26" charset="0"/>
                <a:sym typeface="Symbol" pitchFamily="26" charset="2"/>
              </a:rPr>
              <a:t> </a:t>
            </a:r>
            <a:r>
              <a:rPr lang="en-US" dirty="0">
                <a:latin typeface="Helvetica" pitchFamily="26" charset="0"/>
              </a:rPr>
              <a:t>more complex applications.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More complex applications demand more calculations.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Complex computing tasks are unlike our everyday experience.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635116" y="16002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important is it?</a:t>
            </a:r>
          </a:p>
          <a:p>
            <a:r>
              <a:rPr lang="en-US" dirty="0">
                <a:solidFill>
                  <a:srgbClr val="FF0000"/>
                </a:solidFill>
              </a:rPr>
              <a:t>Can we just think of more powerful computers instead?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Need for DS: Organizing Data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>
                <a:latin typeface="Helvetica" pitchFamily="26" charset="0"/>
              </a:rPr>
              <a:t>Any organization for a collection of records can be searched, processed in any order, or modified.</a:t>
            </a:r>
          </a:p>
          <a:p>
            <a:pPr eaLnBrk="1" hangingPunct="1">
              <a:buFontTx/>
              <a:buNone/>
            </a:pPr>
            <a:r>
              <a:rPr lang="en-US">
                <a:latin typeface="Helvetica" pitchFamily="26" charset="0"/>
              </a:rPr>
              <a:t>The choice of data structure and algorithm can make the difference between a program running in a few seconds or many days.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Need for DS: Efficiency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A solution is said to be </a:t>
            </a:r>
            <a:r>
              <a:rPr lang="en-US" u="sng" dirty="0">
                <a:latin typeface="Helvetica" pitchFamily="26" charset="0"/>
              </a:rPr>
              <a:t>efficient</a:t>
            </a:r>
            <a:r>
              <a:rPr lang="en-US" dirty="0">
                <a:latin typeface="Helvetica" pitchFamily="26" charset="0"/>
              </a:rPr>
              <a:t> if it solves the problem within its </a:t>
            </a:r>
            <a:r>
              <a:rPr lang="en-US" u="sng" dirty="0">
                <a:latin typeface="Helvetica" pitchFamily="26" charset="0"/>
              </a:rPr>
              <a:t>resource constraints</a:t>
            </a:r>
            <a:r>
              <a:rPr lang="en-US" dirty="0">
                <a:latin typeface="Helvetica" pitchFamily="26" charset="0"/>
              </a:rPr>
              <a:t>.</a:t>
            </a:r>
          </a:p>
          <a:p>
            <a:pPr lvl="1" eaLnBrk="1" hangingPunct="1"/>
            <a:r>
              <a:rPr lang="en-US" dirty="0">
                <a:latin typeface="Helvetica" pitchFamily="26" charset="0"/>
              </a:rPr>
              <a:t>Space</a:t>
            </a:r>
          </a:p>
          <a:p>
            <a:pPr lvl="1" eaLnBrk="1" hangingPunct="1"/>
            <a:r>
              <a:rPr lang="en-US" dirty="0">
                <a:latin typeface="Helvetica" pitchFamily="26" charset="0"/>
              </a:rPr>
              <a:t>Time</a:t>
            </a:r>
          </a:p>
          <a:p>
            <a:pPr eaLnBrk="1" hangingPunct="1"/>
            <a:r>
              <a:rPr lang="en-US" dirty="0">
                <a:latin typeface="Helvetica" pitchFamily="26" charset="0"/>
              </a:rPr>
              <a:t>The </a:t>
            </a:r>
            <a:r>
              <a:rPr lang="en-US" u="sng" dirty="0">
                <a:latin typeface="Helvetica" pitchFamily="26" charset="0"/>
              </a:rPr>
              <a:t>cost</a:t>
            </a:r>
            <a:r>
              <a:rPr lang="en-US" dirty="0">
                <a:latin typeface="Helvetica" pitchFamily="26" charset="0"/>
              </a:rPr>
              <a:t> of a solution is the amount of resources that the solution consumes.</a:t>
            </a:r>
          </a:p>
          <a:p>
            <a:pPr eaLnBrk="1" hangingPunct="1"/>
            <a:r>
              <a:rPr lang="en-US" dirty="0">
                <a:latin typeface="Helvetica" pitchFamily="26" charset="0"/>
              </a:rPr>
              <a:t>BTW, when we talk about the ‘time’ efficiency, we actually refer to algorithm related to that DS.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926" y="5738019"/>
            <a:ext cx="1180147" cy="983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scenario…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10^6 items, i.e., 3M.</a:t>
            </a:r>
          </a:p>
          <a:p>
            <a:r>
              <a:rPr lang="en-US" dirty="0"/>
              <a:t>User wants to look up each item at least once</a:t>
            </a:r>
          </a:p>
          <a:p>
            <a:pPr marL="0" indent="0">
              <a:buNone/>
            </a:pPr>
            <a:r>
              <a:rPr lang="en-US" dirty="0"/>
              <a:t>=&gt; 3M searches at least in this application</a:t>
            </a:r>
          </a:p>
          <a:p>
            <a:r>
              <a:rPr lang="en-US" dirty="0"/>
              <a:t>If each search inspects each item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10^6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3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/>
              <a:t>10^6 = 9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10^12 inspections at least.</a:t>
            </a:r>
          </a:p>
          <a:p>
            <a:r>
              <a:rPr lang="en-US" dirty="0"/>
              <a:t>My PC is 3GHz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 * 10^9 operations/sec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3000 s (50 m) required for this application</a:t>
            </a:r>
          </a:p>
          <a:p>
            <a:r>
              <a:rPr lang="en-US" b="1" dirty="0"/>
              <a:t>How to improve?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04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scenario…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10^6 items, i.e., 3M.</a:t>
            </a:r>
          </a:p>
          <a:p>
            <a:r>
              <a:rPr lang="en-US" dirty="0"/>
              <a:t>User wants to look up each item at least once</a:t>
            </a:r>
          </a:p>
          <a:p>
            <a:pPr marL="0" indent="0">
              <a:buNone/>
            </a:pPr>
            <a:r>
              <a:rPr lang="en-US" dirty="0"/>
              <a:t>=&gt; 3M searches at least in this application</a:t>
            </a:r>
          </a:p>
          <a:p>
            <a:r>
              <a:rPr lang="en-US" dirty="0"/>
              <a:t>If each search inspects each item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10^6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3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/>
              <a:t>10^6 = 9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10^12 inspections at least.</a:t>
            </a:r>
          </a:p>
          <a:p>
            <a:r>
              <a:rPr lang="en-US" dirty="0"/>
              <a:t>My PC is 3GHz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 * 10^9 operations/sec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3000 s (50 m) required for this application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3352801" y="44958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0" y="4419600"/>
            <a:ext cx="327660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 GHz =&gt; 25 m</a:t>
            </a:r>
          </a:p>
          <a:p>
            <a:r>
              <a:rPr lang="en-US" dirty="0"/>
              <a:t>Increased to 4M items =&gt;~53 m</a:t>
            </a:r>
          </a:p>
        </p:txBody>
      </p:sp>
    </p:spTree>
    <p:extLst>
      <p:ext uri="{BB962C8B-B14F-4D97-AF65-F5344CB8AC3E}">
        <p14:creationId xmlns:p14="http://schemas.microsoft.com/office/powerpoint/2010/main" val="343981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scenario…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10^6 items, i.e., 3M.</a:t>
            </a:r>
          </a:p>
          <a:p>
            <a:r>
              <a:rPr lang="en-US" dirty="0"/>
              <a:t>User wants to look up each item at least once</a:t>
            </a:r>
          </a:p>
          <a:p>
            <a:pPr marL="0" indent="0">
              <a:buNone/>
            </a:pPr>
            <a:r>
              <a:rPr lang="en-US" dirty="0"/>
              <a:t>=&gt; 3M searches at least in this application</a:t>
            </a:r>
          </a:p>
          <a:p>
            <a:r>
              <a:rPr lang="en-US" dirty="0"/>
              <a:t>If each search inspects each item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10^6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3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/>
              <a:t>10^6 = 9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/>
              <a:t>10^12 inspections at least.</a:t>
            </a:r>
          </a:p>
          <a:p>
            <a:r>
              <a:rPr lang="en-US" dirty="0"/>
              <a:t>My PC is 3GHz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 * 10^9 operations/sec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3000 s (50 m) required for this application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6324600" y="31242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62800" y="2514600"/>
            <a:ext cx="18288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check half of the items =&gt; 25 m</a:t>
            </a:r>
          </a:p>
          <a:p>
            <a:r>
              <a:rPr lang="en-US" dirty="0"/>
              <a:t>Now, 4M items =&gt; ~45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343400"/>
            <a:ext cx="327660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 GHz =&gt; 25 m</a:t>
            </a:r>
          </a:p>
          <a:p>
            <a:r>
              <a:rPr lang="en-US" dirty="0"/>
              <a:t>Increased to 4M items =&gt;~53 m</a:t>
            </a:r>
          </a:p>
        </p:txBody>
      </p:sp>
    </p:spTree>
    <p:extLst>
      <p:ext uri="{BB962C8B-B14F-4D97-AF65-F5344CB8AC3E}">
        <p14:creationId xmlns:p14="http://schemas.microsoft.com/office/powerpoint/2010/main" val="2343741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Selecting a Data Structure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7133907" cy="4570412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dirty="0">
                <a:latin typeface="Helvetica" pitchFamily="26" charset="0"/>
              </a:rPr>
              <a:t>Select a data structure as follows: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Analyze the problem to determine the basic operations that must be supported.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Quantify the resource constraints for each operation.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Select the data structure that best meets these requirements.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589520" y="2514600"/>
            <a:ext cx="137351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0652" y="3934340"/>
            <a:ext cx="107125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Efficiency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Some Questions to Ask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Are all data inserted into the data structure at the beginning, or are insertions interspersed with other operations?</a:t>
            </a:r>
          </a:p>
          <a:p>
            <a:pPr eaLnBrk="1" hangingPunct="1"/>
            <a:r>
              <a:rPr lang="en-US">
                <a:latin typeface="Helvetica" pitchFamily="26" charset="0"/>
              </a:rPr>
              <a:t>Can data be deleted?</a:t>
            </a:r>
          </a:p>
          <a:p>
            <a:pPr eaLnBrk="1" hangingPunct="1"/>
            <a:r>
              <a:rPr lang="en-US">
                <a:latin typeface="Helvetica" pitchFamily="26" charset="0"/>
              </a:rPr>
              <a:t>Are all data processed in some well-defined order, or is random access allowed?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Costs and Benefits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>
                <a:latin typeface="Helvetica" pitchFamily="26" charset="0"/>
              </a:rPr>
              <a:t>Each data structure has costs and benefits.</a:t>
            </a:r>
          </a:p>
          <a:p>
            <a:pPr eaLnBrk="1" hangingPunct="1">
              <a:buFontTx/>
              <a:buNone/>
            </a:pPr>
            <a:r>
              <a:rPr lang="en-US">
                <a:latin typeface="Helvetica" pitchFamily="26" charset="0"/>
              </a:rPr>
              <a:t>Rarely is one data structure better than another in all situations.</a:t>
            </a:r>
          </a:p>
          <a:p>
            <a:pPr eaLnBrk="1" hangingPunct="1">
              <a:buFontTx/>
              <a:buNone/>
            </a:pPr>
            <a:r>
              <a:rPr lang="en-US">
                <a:latin typeface="Helvetica" pitchFamily="26" charset="0"/>
              </a:rPr>
              <a:t>Any data structure requires:</a:t>
            </a:r>
          </a:p>
          <a:p>
            <a:pPr lvl="1" eaLnBrk="1" hangingPunct="1"/>
            <a:r>
              <a:rPr lang="en-US">
                <a:latin typeface="Helvetica" pitchFamily="26" charset="0"/>
              </a:rPr>
              <a:t>space for each data item it stores,</a:t>
            </a:r>
          </a:p>
          <a:p>
            <a:pPr lvl="1" eaLnBrk="1" hangingPunct="1"/>
            <a:r>
              <a:rPr lang="en-US">
                <a:latin typeface="Helvetica" pitchFamily="26" charset="0"/>
              </a:rPr>
              <a:t>time to perform each basic operation,</a:t>
            </a:r>
          </a:p>
          <a:p>
            <a:pPr lvl="1" eaLnBrk="1" hangingPunct="1"/>
            <a:r>
              <a:rPr lang="en-US">
                <a:latin typeface="Helvetica" pitchFamily="26" charset="0"/>
              </a:rPr>
              <a:t>programming effort.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65125"/>
            <a:ext cx="8382000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Costs and Benefits (cont)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Helvetica" pitchFamily="26" charset="0"/>
              </a:rPr>
              <a:t>Each problem has constraints on available space and time.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Helvetica" pitchFamily="26" charset="0"/>
              </a:rPr>
              <a:t>Only after a careful analysis of problem characteristics can we know the best data structure for the task.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(returning to)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A computational problem is a mathematical problem,</a:t>
            </a:r>
            <a:br>
              <a:rPr lang="en-US" sz="2400" dirty="0"/>
            </a:br>
            <a:r>
              <a:rPr lang="en-US" sz="2400" dirty="0"/>
              <a:t>specified by an input/output relation.</a:t>
            </a:r>
          </a:p>
          <a:p>
            <a:r>
              <a:rPr lang="en-US" sz="2400" dirty="0"/>
              <a:t>An algorithm is a computational procedure for solving</a:t>
            </a:r>
            <a:br>
              <a:rPr lang="en-US" sz="2400" dirty="0"/>
            </a:br>
            <a:r>
              <a:rPr lang="en-US" sz="2400" dirty="0"/>
              <a:t>a computational problem.</a:t>
            </a:r>
          </a:p>
          <a:p>
            <a:r>
              <a:rPr lang="en-US" sz="2400" dirty="0"/>
              <a:t>Example Problem: </a:t>
            </a:r>
            <a:r>
              <a:rPr lang="en-US" sz="2400" dirty="0" err="1"/>
              <a:t>FindMax</a:t>
            </a:r>
            <a:r>
              <a:rPr lang="en-US" sz="2400" dirty="0"/>
              <a:t>- Find the maximum element of a sequence of numbers</a:t>
            </a:r>
          </a:p>
          <a:p>
            <a:pPr lvl="1"/>
            <a:r>
              <a:rPr lang="en-US" sz="2400" b="1" dirty="0"/>
              <a:t>Input</a:t>
            </a:r>
            <a:r>
              <a:rPr lang="en-US" sz="2400" dirty="0"/>
              <a:t>: A sequence of n numbers a_1…</a:t>
            </a:r>
            <a:r>
              <a:rPr lang="en-US" sz="2400" dirty="0" err="1"/>
              <a:t>a_n</a:t>
            </a:r>
            <a:endParaRPr lang="en-US" sz="2400" dirty="0"/>
          </a:p>
          <a:p>
            <a:pPr lvl="1"/>
            <a:r>
              <a:rPr lang="en-US" sz="2400" b="1" dirty="0"/>
              <a:t>Output</a:t>
            </a:r>
            <a:r>
              <a:rPr lang="en-US" sz="2400" dirty="0"/>
              <a:t>: The number </a:t>
            </a:r>
            <a:r>
              <a:rPr lang="en-US" sz="2400" dirty="0" err="1"/>
              <a:t>a_k</a:t>
            </a:r>
            <a:r>
              <a:rPr lang="en-US" sz="2400" dirty="0"/>
              <a:t> (k </a:t>
            </a:r>
            <a:r>
              <a:rPr lang="en-US" sz="2400" dirty="0">
                <a:sym typeface="Symbol" panose="05050102010706020507" pitchFamily="18" charset="2"/>
              </a:rPr>
              <a:t></a:t>
            </a:r>
            <a:r>
              <a:rPr lang="en-US" sz="2400" dirty="0"/>
              <a:t> {1..n}) such that </a:t>
            </a:r>
            <a:r>
              <a:rPr lang="en-US" sz="2400" dirty="0" err="1"/>
              <a:t>a_k</a:t>
            </a:r>
            <a:r>
              <a:rPr lang="en-US" sz="2400" dirty="0"/>
              <a:t> &gt;= </a:t>
            </a:r>
            <a:r>
              <a:rPr lang="en-US" sz="2400" dirty="0" err="1"/>
              <a:t>a_i</a:t>
            </a:r>
            <a:r>
              <a:rPr lang="en-US" sz="2400" dirty="0"/>
              <a:t> for </a:t>
            </a:r>
            <a:r>
              <a:rPr lang="en-US" sz="2400" dirty="0">
                <a:sym typeface="Symbol" panose="05050102010706020507" pitchFamily="18" charset="2"/>
              </a:rPr>
              <a:t>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</a:t>
            </a:r>
            <a:r>
              <a:rPr lang="en-US" sz="2400" dirty="0"/>
              <a:t> {1..n}</a:t>
            </a:r>
          </a:p>
          <a:p>
            <a:pPr lvl="1"/>
            <a:r>
              <a:rPr lang="en-US" sz="2400" i="1" dirty="0"/>
              <a:t>Example:</a:t>
            </a:r>
          </a:p>
          <a:p>
            <a:pPr marL="457200" lvl="1" indent="0">
              <a:buNone/>
            </a:pPr>
            <a:r>
              <a:rPr lang="en-US" sz="2400" i="1" dirty="0"/>
              <a:t>	Input: 31, 41, 59, 26, 41, 58</a:t>
            </a:r>
          </a:p>
          <a:p>
            <a:pPr marL="457200" lvl="1" indent="0">
              <a:buNone/>
            </a:pPr>
            <a:r>
              <a:rPr lang="en-US" sz="2400" i="1" dirty="0"/>
              <a:t>	Output: 59</a:t>
            </a:r>
            <a:r>
              <a:rPr lang="en-US" sz="24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9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(returning to)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Example Problem: Sorting</a:t>
            </a:r>
          </a:p>
          <a:p>
            <a:pPr lvl="1"/>
            <a:r>
              <a:rPr lang="en-US" b="1" dirty="0"/>
              <a:t>Input</a:t>
            </a:r>
            <a:r>
              <a:rPr lang="en-US" dirty="0"/>
              <a:t>: A sequence of n numbers a_1…</a:t>
            </a:r>
            <a:r>
              <a:rPr lang="en-US" dirty="0" err="1"/>
              <a:t>a_n</a:t>
            </a:r>
            <a:endParaRPr lang="en-US" dirty="0"/>
          </a:p>
          <a:p>
            <a:pPr lvl="1"/>
            <a:r>
              <a:rPr lang="en-US" b="1" dirty="0"/>
              <a:t>Output</a:t>
            </a:r>
            <a:r>
              <a:rPr lang="en-US" dirty="0"/>
              <a:t>: the permutation (reordering) of the input sequence such that a_1 ≤ a_2 ≤ … ≤ </a:t>
            </a:r>
            <a:r>
              <a:rPr lang="en-US" dirty="0" err="1"/>
              <a:t>a_n</a:t>
            </a:r>
            <a:endParaRPr lang="en-US" dirty="0"/>
          </a:p>
          <a:p>
            <a:pPr lvl="1"/>
            <a:r>
              <a:rPr lang="en-US" i="1" dirty="0"/>
              <a:t>Example:</a:t>
            </a:r>
          </a:p>
          <a:p>
            <a:pPr marL="457200" lvl="1" indent="0">
              <a:buNone/>
            </a:pPr>
            <a:r>
              <a:rPr lang="en-US" i="1" dirty="0"/>
              <a:t>	Input: sequence 31, 41, 59, 26, 41, 58</a:t>
            </a:r>
          </a:p>
          <a:p>
            <a:pPr marL="457200" lvl="1" indent="0">
              <a:buNone/>
            </a:pPr>
            <a:r>
              <a:rPr lang="en-US" i="1" dirty="0"/>
              <a:t>	Output: sequence 26, 31, 41, 41, 58, 59</a:t>
            </a:r>
            <a:r>
              <a:rPr lang="en-US" dirty="0"/>
              <a:t> </a:t>
            </a:r>
          </a:p>
          <a:p>
            <a:r>
              <a:rPr lang="en-US" dirty="0"/>
              <a:t>Can we use:</a:t>
            </a:r>
          </a:p>
          <a:p>
            <a:pPr lvl="1"/>
            <a:r>
              <a:rPr lang="en-US" dirty="0"/>
              <a:t>Sorting to solve </a:t>
            </a:r>
            <a:r>
              <a:rPr lang="en-US" dirty="0" err="1"/>
              <a:t>FindMax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FindMax</a:t>
            </a:r>
            <a:r>
              <a:rPr lang="en-US" dirty="0"/>
              <a:t> to solve Sorting?</a:t>
            </a:r>
          </a:p>
          <a:p>
            <a:r>
              <a:rPr lang="en-US" dirty="0"/>
              <a:t>(celebrated) Algorithms for sorting: quick sort, merge sort, bubble sort…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953000" y="4495800"/>
            <a:ext cx="243879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will return to these questions soon</a:t>
            </a:r>
          </a:p>
        </p:txBody>
      </p:sp>
    </p:spTree>
    <p:extLst>
      <p:ext uri="{BB962C8B-B14F-4D97-AF65-F5344CB8AC3E}">
        <p14:creationId xmlns:p14="http://schemas.microsoft.com/office/powerpoint/2010/main" val="60975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(returning to)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concepts</a:t>
            </a:r>
          </a:p>
          <a:p>
            <a:pPr lvl="1"/>
            <a:r>
              <a:rPr lang="en-US" dirty="0"/>
              <a:t>Expressing an algorithm</a:t>
            </a:r>
          </a:p>
          <a:p>
            <a:pPr lvl="1"/>
            <a:r>
              <a:rPr lang="en-US" dirty="0"/>
              <a:t>Correctness of an algorithm</a:t>
            </a:r>
          </a:p>
          <a:p>
            <a:pPr lvl="1"/>
            <a:r>
              <a:rPr lang="en-US" dirty="0"/>
              <a:t>Efficiency of an algorithm </a:t>
            </a:r>
          </a:p>
          <a:p>
            <a:pPr lvl="2"/>
            <a:r>
              <a:rPr lang="en-US" dirty="0"/>
              <a:t>Similar to DS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87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express an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7825"/>
            <a:ext cx="83534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79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High level description of an algorithm</a:t>
            </a:r>
          </a:p>
          <a:p>
            <a:r>
              <a:rPr lang="en-US" dirty="0"/>
              <a:t>More structured than English prose</a:t>
            </a:r>
          </a:p>
          <a:p>
            <a:r>
              <a:rPr lang="en-US" dirty="0"/>
              <a:t>Less detailed than a program (code)</a:t>
            </a:r>
          </a:p>
          <a:p>
            <a:r>
              <a:rPr lang="en-US" dirty="0"/>
              <a:t>Hides programming language specific details and design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133600"/>
            <a:ext cx="4139750" cy="28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53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How do you know an algorithm is correct?</a:t>
            </a:r>
          </a:p>
          <a:p>
            <a:pPr lvl="1"/>
            <a:r>
              <a:rPr lang="en-US" sz="2800" dirty="0"/>
              <a:t>For every input instance, it halts with the correct output</a:t>
            </a:r>
          </a:p>
          <a:p>
            <a:pPr lvl="1"/>
            <a:r>
              <a:rPr lang="en-US" sz="2800" dirty="0"/>
              <a:t>Since there are usually infinitely many inputs, it is not</a:t>
            </a:r>
            <a:br>
              <a:rPr lang="en-US" sz="2800" dirty="0"/>
            </a:br>
            <a:r>
              <a:rPr lang="en-US" sz="2800" dirty="0"/>
              <a:t>trivial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Incorrect algorithms</a:t>
            </a:r>
          </a:p>
          <a:p>
            <a:pPr lvl="1"/>
            <a:r>
              <a:rPr lang="en-US" sz="2800" dirty="0"/>
              <a:t>Might not halt at all on some input instances</a:t>
            </a:r>
          </a:p>
          <a:p>
            <a:pPr lvl="1"/>
            <a:r>
              <a:rPr lang="en-US" sz="2800" dirty="0"/>
              <a:t>Might halt with other than the desired answer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55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sort n numbers: </a:t>
            </a:r>
          </a:p>
          <a:p>
            <a:pPr lvl="1"/>
            <a:r>
              <a:rPr lang="en-US" dirty="0"/>
              <a:t>we can enumerate all permutations of these numbers and test which permutation has the correct order</a:t>
            </a:r>
          </a:p>
          <a:p>
            <a:pPr lvl="1"/>
            <a:r>
              <a:rPr lang="en-US" dirty="0"/>
              <a:t>We can use </a:t>
            </a:r>
            <a:r>
              <a:rPr lang="en-US" dirty="0" err="1"/>
              <a:t>FindMax</a:t>
            </a:r>
            <a:r>
              <a:rPr lang="en-US" dirty="0"/>
              <a:t> n times…</a:t>
            </a:r>
          </a:p>
          <a:p>
            <a:r>
              <a:rPr lang="en-US" dirty="0"/>
              <a:t>To find the maximum</a:t>
            </a:r>
          </a:p>
          <a:p>
            <a:pPr lvl="1"/>
            <a:r>
              <a:rPr lang="en-US" dirty="0"/>
              <a:t>We can sort the sequence and return the last number</a:t>
            </a:r>
          </a:p>
          <a:p>
            <a:r>
              <a:rPr lang="en-US" dirty="0"/>
              <a:t>How good are these algorithms?</a:t>
            </a:r>
          </a:p>
          <a:p>
            <a:r>
              <a:rPr lang="en-US" dirty="0"/>
              <a:t>How to measure how good they are?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1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DSAs in everyday life…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‘Handling’ a file in your computer systems</a:t>
            </a:r>
          </a:p>
          <a:p>
            <a:pPr lvl="1"/>
            <a:r>
              <a:rPr lang="en-US" dirty="0"/>
              <a:t>(Hard)Disks contain millions of blocks</a:t>
            </a:r>
          </a:p>
          <a:p>
            <a:r>
              <a:rPr lang="en-US" dirty="0"/>
              <a:t>Calling your friend in your cell phone</a:t>
            </a:r>
          </a:p>
          <a:p>
            <a:pPr lvl="1"/>
            <a:r>
              <a:rPr lang="en-US" dirty="0"/>
              <a:t>You need to put the name and the number comes up</a:t>
            </a:r>
          </a:p>
          <a:p>
            <a:pPr lvl="1"/>
            <a:r>
              <a:rPr lang="en-US" dirty="0"/>
              <a:t>Do you need to type the full name?</a:t>
            </a:r>
          </a:p>
          <a:p>
            <a:r>
              <a:rPr lang="en-US" dirty="0"/>
              <a:t>Log in to </a:t>
            </a:r>
            <a:r>
              <a:rPr lang="en-US" dirty="0" err="1"/>
              <a:t>gmail</a:t>
            </a:r>
            <a:r>
              <a:rPr lang="en-US" dirty="0"/>
              <a:t>/</a:t>
            </a:r>
            <a:r>
              <a:rPr lang="en-US" dirty="0" err="1"/>
              <a:t>facebook</a:t>
            </a:r>
            <a:r>
              <a:rPr lang="en-US" dirty="0"/>
              <a:t> etc.</a:t>
            </a:r>
          </a:p>
          <a:p>
            <a:pPr lvl="1"/>
            <a:r>
              <a:rPr lang="en-US" dirty="0"/>
              <a:t>Somehow your credentials are looked up and matched</a:t>
            </a:r>
          </a:p>
          <a:p>
            <a:pPr lvl="1"/>
            <a:r>
              <a:rPr lang="en-US" dirty="0"/>
              <a:t>1.7 Billion FB users (2020)!</a:t>
            </a:r>
          </a:p>
          <a:p>
            <a:pPr lvl="1"/>
            <a:r>
              <a:rPr lang="en-US" dirty="0"/>
              <a:t>1.8 Billion active </a:t>
            </a:r>
            <a:r>
              <a:rPr lang="en-US" dirty="0" err="1"/>
              <a:t>gmail</a:t>
            </a:r>
            <a:r>
              <a:rPr lang="en-US" dirty="0"/>
              <a:t> users (2020)!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15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DSAs in everyday life…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Google search</a:t>
            </a:r>
          </a:p>
          <a:p>
            <a:pPr lvl="1"/>
            <a:r>
              <a:rPr lang="en-US" dirty="0"/>
              <a:t>Handling over 3.5 billion searches per day</a:t>
            </a:r>
          </a:p>
          <a:p>
            <a:pPr lvl="1"/>
            <a:r>
              <a:rPr lang="en-US" dirty="0"/>
              <a:t>30 to 50 billion of pages is the size of Google index.</a:t>
            </a:r>
          </a:p>
          <a:p>
            <a:pPr lvl="1"/>
            <a:r>
              <a:rPr lang="en-US" dirty="0"/>
              <a:t>Google Search Index contains more than 100,000,000 GB</a:t>
            </a:r>
          </a:p>
          <a:p>
            <a:pPr lvl="2"/>
            <a:r>
              <a:rPr lang="en-US" dirty="0"/>
              <a:t>Search engine indexing is the collecting, parsing, and storing of data to facilitate fast and accurate information retrieval.</a:t>
            </a:r>
          </a:p>
          <a:p>
            <a:pPr lvl="1"/>
            <a:r>
              <a:rPr lang="en-US" dirty="0"/>
              <a:t>Priority ranking algorithm called PageRank Algorithm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6245201"/>
            <a:ext cx="457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https://firstsiteguide.com/google-search-stats/</a:t>
            </a:r>
          </a:p>
        </p:txBody>
      </p:sp>
    </p:spTree>
    <p:extLst>
      <p:ext uri="{BB962C8B-B14F-4D97-AF65-F5344CB8AC3E}">
        <p14:creationId xmlns:p14="http://schemas.microsoft.com/office/powerpoint/2010/main" val="243077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4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Abstract Data Types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5122862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u="sng" dirty="0">
                <a:latin typeface="Helvetica" pitchFamily="26" charset="0"/>
              </a:rPr>
              <a:t>Abstract Data Type</a:t>
            </a:r>
            <a:r>
              <a:rPr lang="en-US" dirty="0">
                <a:latin typeface="Helvetica" pitchFamily="26" charset="0"/>
              </a:rPr>
              <a:t>  (ADT): a definition for a data type solely in terms of a set of values and a set of operations on that data type.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dirty="0">
              <a:latin typeface="Helvetica" pitchFamily="26" charset="0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dirty="0">
                <a:latin typeface="Helvetica" pitchFamily="26" charset="0"/>
              </a:rPr>
              <a:t>Each ADT operation is defined by its inputs and outputs.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dirty="0">
                <a:latin typeface="Helvetica" pitchFamily="26" charset="0"/>
              </a:rPr>
              <a:t>Hide implementation details.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Helvetica" pitchFamily="26" charset="0"/>
              </a:rPr>
              <a:t>In a program, we implement an ADT, then think only about the ADT, not its implementation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Data Structure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A </a:t>
            </a:r>
            <a:r>
              <a:rPr lang="en-US" u="sng" dirty="0">
                <a:latin typeface="Helvetica" pitchFamily="26" charset="0"/>
              </a:rPr>
              <a:t>data structure</a:t>
            </a:r>
            <a:r>
              <a:rPr lang="en-US" dirty="0">
                <a:latin typeface="Helvetica" pitchFamily="26" charset="0"/>
              </a:rPr>
              <a:t> is the physical implementation of an ADT.</a:t>
            </a:r>
          </a:p>
          <a:p>
            <a:pPr lvl="1" eaLnBrk="1" hangingPunct="1"/>
            <a:r>
              <a:rPr lang="en-US" dirty="0">
                <a:latin typeface="Helvetica" pitchFamily="26" charset="0"/>
              </a:rPr>
              <a:t>Each operation associated with the ADT is implemented by one or more subroutines in the implementation.</a:t>
            </a:r>
          </a:p>
          <a:p>
            <a:pPr eaLnBrk="1" hangingPunct="1"/>
            <a:endParaRPr lang="en-US" sz="2800" dirty="0">
              <a:latin typeface="Helvetica" pitchFamily="26" charset="0"/>
            </a:endParaRPr>
          </a:p>
          <a:p>
            <a:pPr eaLnBrk="1" hangingPunct="1"/>
            <a:r>
              <a:rPr lang="en-US" u="sng" dirty="0">
                <a:latin typeface="Helvetica" pitchFamily="26" charset="0"/>
              </a:rPr>
              <a:t>Data structure</a:t>
            </a:r>
            <a:r>
              <a:rPr lang="en-US" dirty="0">
                <a:latin typeface="Helvetica" pitchFamily="26" charset="0"/>
              </a:rPr>
              <a:t> usually refers to an organization for data in main memory.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Logical vs. Physical Form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>
                <a:latin typeface="Helvetica" pitchFamily="26" charset="0"/>
              </a:rPr>
              <a:t>Data items have both a </a:t>
            </a:r>
            <a:r>
              <a:rPr lang="en-US" u="sng">
                <a:latin typeface="Helvetica" pitchFamily="26" charset="0"/>
              </a:rPr>
              <a:t>logical </a:t>
            </a:r>
            <a:r>
              <a:rPr lang="en-US">
                <a:latin typeface="Helvetica" pitchFamily="26" charset="0"/>
              </a:rPr>
              <a:t>and a </a:t>
            </a:r>
            <a:r>
              <a:rPr lang="en-US" u="sng">
                <a:latin typeface="Helvetica" pitchFamily="26" charset="0"/>
              </a:rPr>
              <a:t>physical</a:t>
            </a:r>
            <a:r>
              <a:rPr lang="en-US">
                <a:latin typeface="Helvetica" pitchFamily="26" charset="0"/>
              </a:rPr>
              <a:t> form.</a:t>
            </a:r>
          </a:p>
          <a:p>
            <a:pPr eaLnBrk="1" hangingPunct="1">
              <a:lnSpc>
                <a:spcPct val="30000"/>
              </a:lnSpc>
            </a:pPr>
            <a:endParaRPr lang="en-US">
              <a:latin typeface="Helvetica" pitchFamily="2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u="sng">
                <a:latin typeface="Helvetica" pitchFamily="26" charset="0"/>
              </a:rPr>
              <a:t>Logical form</a:t>
            </a:r>
            <a:r>
              <a:rPr lang="en-US">
                <a:latin typeface="Helvetica" pitchFamily="26" charset="0"/>
              </a:rPr>
              <a:t>: definition of the data item within an ADT.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Helvetica" pitchFamily="26" charset="0"/>
              </a:rPr>
              <a:t>Ex: Integers in mathematical sense: +, -</a:t>
            </a:r>
          </a:p>
          <a:p>
            <a:pPr eaLnBrk="1" hangingPunct="1">
              <a:lnSpc>
                <a:spcPct val="40000"/>
              </a:lnSpc>
            </a:pPr>
            <a:endParaRPr lang="en-US" sz="2800">
              <a:latin typeface="Helvetica" pitchFamily="26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u="sng">
                <a:latin typeface="Helvetica" pitchFamily="26" charset="0"/>
              </a:rPr>
              <a:t>Physical form</a:t>
            </a:r>
            <a:r>
              <a:rPr lang="en-US">
                <a:latin typeface="Helvetica" pitchFamily="26" charset="0"/>
              </a:rPr>
              <a:t>: implementation of the data item within a data structure.</a:t>
            </a:r>
          </a:p>
          <a:p>
            <a:pPr lvl="1" eaLnBrk="1" hangingPunct="1">
              <a:lnSpc>
                <a:spcPct val="80000"/>
              </a:lnSpc>
            </a:pPr>
            <a:r>
              <a:rPr lang="en-US">
                <a:latin typeface="Helvetica" pitchFamily="26" charset="0"/>
              </a:rPr>
              <a:t>Ex: 16/32 bit integers, overflow.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/>
          <p:cNvSpPr>
            <a:spLocks noChangeArrowheads="1"/>
          </p:cNvSpPr>
          <p:nvPr/>
        </p:nvSpPr>
        <p:spPr bwMode="auto">
          <a:xfrm>
            <a:off x="990600" y="990600"/>
            <a:ext cx="72390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10"/>
          <p:cNvSpPr txBox="1">
            <a:spLocks noChangeArrowheads="1"/>
          </p:cNvSpPr>
          <p:nvPr/>
        </p:nvSpPr>
        <p:spPr bwMode="auto">
          <a:xfrm>
            <a:off x="2590800" y="1295400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Data Type</a:t>
            </a:r>
          </a:p>
        </p:txBody>
      </p:sp>
      <p:sp>
        <p:nvSpPr>
          <p:cNvPr id="28676" name="Rectangle 11"/>
          <p:cNvSpPr>
            <a:spLocks noChangeArrowheads="1"/>
          </p:cNvSpPr>
          <p:nvPr/>
        </p:nvSpPr>
        <p:spPr bwMode="auto">
          <a:xfrm>
            <a:off x="1600200" y="2057400"/>
            <a:ext cx="62484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12"/>
          <p:cNvSpPr>
            <a:spLocks noChangeArrowheads="1"/>
          </p:cNvSpPr>
          <p:nvPr/>
        </p:nvSpPr>
        <p:spPr bwMode="auto">
          <a:xfrm>
            <a:off x="1600200" y="4191000"/>
            <a:ext cx="62484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Line 14"/>
          <p:cNvSpPr>
            <a:spLocks noChangeShapeType="1"/>
          </p:cNvSpPr>
          <p:nvPr/>
        </p:nvSpPr>
        <p:spPr bwMode="auto">
          <a:xfrm>
            <a:off x="4724400" y="3429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Text Box 15"/>
          <p:cNvSpPr txBox="1">
            <a:spLocks noChangeArrowheads="1"/>
          </p:cNvSpPr>
          <p:nvPr/>
        </p:nvSpPr>
        <p:spPr bwMode="auto">
          <a:xfrm>
            <a:off x="1736725" y="2251075"/>
            <a:ext cx="1920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sp>
        <p:nvSpPr>
          <p:cNvPr id="28680" name="Text Box 16"/>
          <p:cNvSpPr txBox="1">
            <a:spLocks noChangeArrowheads="1"/>
          </p:cNvSpPr>
          <p:nvPr/>
        </p:nvSpPr>
        <p:spPr bwMode="auto">
          <a:xfrm>
            <a:off x="1828800" y="2286000"/>
            <a:ext cx="25146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ADT:</a:t>
            </a:r>
          </a:p>
          <a:p>
            <a:pPr lvl="1"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Type</a:t>
            </a:r>
          </a:p>
          <a:p>
            <a:pPr lvl="1"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Operations</a:t>
            </a:r>
          </a:p>
        </p:txBody>
      </p:sp>
      <p:sp>
        <p:nvSpPr>
          <p:cNvPr id="28681" name="Text Box 17"/>
          <p:cNvSpPr txBox="1">
            <a:spLocks noChangeArrowheads="1"/>
          </p:cNvSpPr>
          <p:nvPr/>
        </p:nvSpPr>
        <p:spPr bwMode="auto">
          <a:xfrm>
            <a:off x="5118100" y="2466975"/>
            <a:ext cx="25019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Data Items:  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  Logical Form</a:t>
            </a:r>
          </a:p>
        </p:txBody>
      </p:sp>
      <p:sp>
        <p:nvSpPr>
          <p:cNvPr id="28682" name="Rectangle 18"/>
          <p:cNvSpPr>
            <a:spLocks noChangeArrowheads="1"/>
          </p:cNvSpPr>
          <p:nvPr/>
        </p:nvSpPr>
        <p:spPr bwMode="auto">
          <a:xfrm>
            <a:off x="5027613" y="2286000"/>
            <a:ext cx="2514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9"/>
          <p:cNvSpPr>
            <a:spLocks noChangeArrowheads="1"/>
          </p:cNvSpPr>
          <p:nvPr/>
        </p:nvSpPr>
        <p:spPr bwMode="auto">
          <a:xfrm>
            <a:off x="5029200" y="4419600"/>
            <a:ext cx="2514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Text Box 20"/>
          <p:cNvSpPr txBox="1">
            <a:spLocks noChangeArrowheads="1"/>
          </p:cNvSpPr>
          <p:nvPr/>
        </p:nvSpPr>
        <p:spPr bwMode="auto">
          <a:xfrm>
            <a:off x="5181600" y="4572000"/>
            <a:ext cx="25146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Data Items: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  Physical Form</a:t>
            </a:r>
          </a:p>
        </p:txBody>
      </p:sp>
      <p:sp>
        <p:nvSpPr>
          <p:cNvPr id="28685" name="Text Box 21"/>
          <p:cNvSpPr txBox="1">
            <a:spLocks noChangeArrowheads="1"/>
          </p:cNvSpPr>
          <p:nvPr/>
        </p:nvSpPr>
        <p:spPr bwMode="auto">
          <a:xfrm>
            <a:off x="1828800" y="4343400"/>
            <a:ext cx="265906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>
                <a:latin typeface="Helvetica" pitchFamily="26" charset="0"/>
              </a:rPr>
              <a:t>Data Structure:</a:t>
            </a:r>
          </a:p>
          <a:p>
            <a:pPr lvl="1" algn="l"/>
            <a:r>
              <a:rPr lang="en-US">
                <a:latin typeface="Helvetica" pitchFamily="26" charset="0"/>
              </a:rPr>
              <a:t>Storage Space</a:t>
            </a:r>
          </a:p>
          <a:p>
            <a:pPr lvl="1" algn="l"/>
            <a:r>
              <a:rPr lang="en-US">
                <a:latin typeface="Helvetica" pitchFamily="26" charset="0"/>
              </a:rPr>
              <a:t>Subroutines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2039</Words>
  <Application>Microsoft Office PowerPoint</Application>
  <PresentationFormat>On-screen Show (4:3)</PresentationFormat>
  <Paragraphs>299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Consolas</vt:lpstr>
      <vt:lpstr>Courier New</vt:lpstr>
      <vt:lpstr>Helvetica</vt:lpstr>
      <vt:lpstr>Symbol</vt:lpstr>
      <vt:lpstr>Times</vt:lpstr>
      <vt:lpstr>Times New Roman</vt:lpstr>
      <vt:lpstr>Office Theme</vt:lpstr>
      <vt:lpstr>CSE 203: Data Structures and Algorithms I</vt:lpstr>
      <vt:lpstr>Algorithms and Data Structures</vt:lpstr>
      <vt:lpstr>DSA working together…</vt:lpstr>
      <vt:lpstr>Goals of this Course</vt:lpstr>
      <vt:lpstr>Goals of this Course</vt:lpstr>
      <vt:lpstr>Tradeoff Examples </vt:lpstr>
      <vt:lpstr>Tradeoff Examples</vt:lpstr>
      <vt:lpstr>The Need for Data Structures</vt:lpstr>
      <vt:lpstr>Need for DS: Organizing Data</vt:lpstr>
      <vt:lpstr>Need for DS: Efficiency</vt:lpstr>
      <vt:lpstr>An example scenario…</vt:lpstr>
      <vt:lpstr>An example scenario…</vt:lpstr>
      <vt:lpstr>An example scenario…</vt:lpstr>
      <vt:lpstr>Selecting a Data Structure</vt:lpstr>
      <vt:lpstr>Some Questions to Ask</vt:lpstr>
      <vt:lpstr>Costs and Benefits</vt:lpstr>
      <vt:lpstr>Costs and Benefits (cont)</vt:lpstr>
      <vt:lpstr>(returning to) Algorithms</vt:lpstr>
      <vt:lpstr>(returning to) Algorithms</vt:lpstr>
      <vt:lpstr>(returning to) Algorithms</vt:lpstr>
      <vt:lpstr>How to express an algorithm</vt:lpstr>
      <vt:lpstr>pseudocode</vt:lpstr>
      <vt:lpstr>Correctness</vt:lpstr>
      <vt:lpstr>Efficiency</vt:lpstr>
      <vt:lpstr>DSAs in everyday life…</vt:lpstr>
      <vt:lpstr>DSAs in everyday life…</vt:lpstr>
      <vt:lpstr>Abstract Data Types</vt:lpstr>
      <vt:lpstr>Abstract Data Types</vt:lpstr>
      <vt:lpstr>Data Structure</vt:lpstr>
      <vt:lpstr>Logical vs. Physical Form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203: Data Structures</dc:title>
  <dc:creator>User</dc:creator>
  <cp:lastModifiedBy>2005045 - Prithu Anan</cp:lastModifiedBy>
  <cp:revision>67</cp:revision>
  <dcterms:created xsi:type="dcterms:W3CDTF">2016-02-26T11:45:32Z</dcterms:created>
  <dcterms:modified xsi:type="dcterms:W3CDTF">2022-11-25T14:54:21Z</dcterms:modified>
</cp:coreProperties>
</file>