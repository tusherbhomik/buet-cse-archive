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87" r:id="rId3"/>
    <p:sldId id="258" r:id="rId4"/>
    <p:sldId id="259" r:id="rId5"/>
    <p:sldId id="260" r:id="rId6"/>
    <p:sldId id="273" r:id="rId7"/>
    <p:sldId id="278" r:id="rId8"/>
    <p:sldId id="277" r:id="rId9"/>
    <p:sldId id="272" r:id="rId10"/>
    <p:sldId id="261" r:id="rId11"/>
    <p:sldId id="275" r:id="rId12"/>
    <p:sldId id="276" r:id="rId13"/>
    <p:sldId id="279" r:id="rId14"/>
    <p:sldId id="281" r:id="rId15"/>
    <p:sldId id="288" r:id="rId16"/>
    <p:sldId id="282" r:id="rId17"/>
    <p:sldId id="283" r:id="rId18"/>
    <p:sldId id="28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6" d="100"/>
          <a:sy n="46" d="100"/>
        </p:scale>
        <p:origin x="131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59351F-BB58-45EF-A121-9ACD16557087}" type="datetimeFigureOut">
              <a:rPr lang="en-US" smtClean="0"/>
              <a:pPr/>
              <a:t>11/21/2021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2C56E8-80DC-4965-BD79-EE4E3975DE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C793A0-7E22-4966-A622-3041F6409E45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454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466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1EAEF3-19C1-4C35-842A-E87266385A21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455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56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81EF87-3D5C-422D-837B-480194E6D993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456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6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81EF87-3D5C-422D-837B-480194E6D993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456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6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81EF87-3D5C-422D-837B-480194E6D993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456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6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81EF87-3D5C-422D-837B-480194E6D993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456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6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41B296-9333-4A52-8702-7FFB5459A189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457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7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believe Figure 4.21</a:t>
            </a:r>
            <a:r>
              <a:rPr lang="en-US" baseline="0" dirty="0" smtClean="0"/>
              <a:t> is wrong and hence I am not discussing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56E8-80DC-4965-BD79-EE4E3975DE5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944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believe Figure 4.21</a:t>
            </a:r>
            <a:r>
              <a:rPr lang="en-US" baseline="0" dirty="0" smtClean="0"/>
              <a:t> is wrong and hence I am not discussing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56E8-80DC-4965-BD79-EE4E3975DE5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36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Started on 05 March 2016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Course Teacher: Prof. Sohel Rahman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DCCC3-2428-4135-B20A-30389A6BDF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8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png"/><Relationship Id="rId4" Type="http://schemas.openxmlformats.org/officeDocument/2006/relationships/image" Target="../media/image9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CSE 203: Data Structures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Elementary Data Structures- Stacks</a:t>
            </a:r>
          </a:p>
          <a:p>
            <a:r>
              <a:rPr lang="en-US" dirty="0" smtClean="0"/>
              <a:t>Part-I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3D3EC-A54F-4015-B37A-DAFE3575B37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Stacks</a:t>
            </a:r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	Also called a </a:t>
            </a: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last-in–first-out </a:t>
            </a: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(LIFO) </a:t>
            </a:r>
            <a:r>
              <a:rPr kumimoji="0" lang="en-US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behaviour</a:t>
            </a: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Graphically, we may view these operations as follows: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	There are two exceptions associated with abstract stacks: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It is an undefined operation to call either pop or top on an empty stack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pic>
        <p:nvPicPr>
          <p:cNvPr id="5" name="Picture 4" descr="C:\Users\dwharder\Desktop\s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63" y="2349500"/>
            <a:ext cx="2447925" cy="191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C:\Users\dwharder\Desktop\s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1575" y="2466975"/>
            <a:ext cx="1614488" cy="175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C:\Users\dwharder\Desktop\s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57888" y="2352675"/>
            <a:ext cx="1757362" cy="190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CF31F24-E7E8-45B7-B132-82A9F18AFD8B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Stacks</a:t>
            </a:r>
          </a:p>
        </p:txBody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mtClean="0">
                <a:latin typeface="Helvetica" pitchFamily="26" charset="0"/>
              </a:rPr>
              <a:t>LIFO: Last In, First Out.</a:t>
            </a:r>
          </a:p>
          <a:p>
            <a:pPr>
              <a:lnSpc>
                <a:spcPct val="50000"/>
              </a:lnSpc>
              <a:buFontTx/>
              <a:buNone/>
            </a:pPr>
            <a:endParaRPr lang="en-US" smtClean="0">
              <a:latin typeface="Helvetica" pitchFamily="26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mtClean="0">
                <a:latin typeface="Helvetica" pitchFamily="26" charset="0"/>
              </a:rPr>
              <a:t>Restricted form of list: Insert and remove only at front of list.</a:t>
            </a:r>
          </a:p>
          <a:p>
            <a:pPr>
              <a:lnSpc>
                <a:spcPct val="50000"/>
              </a:lnSpc>
              <a:buFontTx/>
              <a:buNone/>
            </a:pPr>
            <a:endParaRPr lang="en-US" smtClean="0">
              <a:latin typeface="Helvetica" pitchFamily="26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mtClean="0">
                <a:latin typeface="Helvetica" pitchFamily="26" charset="0"/>
              </a:rPr>
              <a:t>Notation:</a:t>
            </a:r>
          </a:p>
          <a:p>
            <a:pPr>
              <a:lnSpc>
                <a:spcPct val="70000"/>
              </a:lnSpc>
            </a:pPr>
            <a:r>
              <a:rPr lang="en-US" smtClean="0">
                <a:latin typeface="Helvetica" pitchFamily="26" charset="0"/>
              </a:rPr>
              <a:t>Insert: PUSH</a:t>
            </a:r>
          </a:p>
          <a:p>
            <a:pPr>
              <a:lnSpc>
                <a:spcPct val="70000"/>
              </a:lnSpc>
            </a:pPr>
            <a:r>
              <a:rPr lang="en-US" smtClean="0">
                <a:latin typeface="Helvetica" pitchFamily="26" charset="0"/>
              </a:rPr>
              <a:t>Remove: POP</a:t>
            </a:r>
          </a:p>
          <a:p>
            <a:pPr>
              <a:lnSpc>
                <a:spcPct val="70000"/>
              </a:lnSpc>
            </a:pPr>
            <a:r>
              <a:rPr lang="en-US" smtClean="0">
                <a:latin typeface="Helvetica" pitchFamily="26" charset="0"/>
              </a:rPr>
              <a:t>The accessible element is called TOP.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5C65156-6C07-499D-B882-62865E99856F}" type="slidenum">
              <a:rPr lang="en-US" smtClean="0"/>
              <a:pPr/>
              <a:t>4</a:t>
            </a:fld>
            <a:endParaRPr lang="en-US" smtClean="0"/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Stack ADT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270346"/>
              </p:ext>
            </p:extLst>
          </p:nvPr>
        </p:nvGraphicFramePr>
        <p:xfrm>
          <a:off x="3629025" y="3062288"/>
          <a:ext cx="1885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Packager Shell Object" showAsIcon="1" r:id="rId4" imgW="1886400" imgH="732960" progId="Package">
                  <p:embed/>
                </p:oleObj>
              </mc:Choice>
              <mc:Fallback>
                <p:oleObj name="Packager Shell Object" showAsIcon="1" r:id="rId4" imgW="1886400" imgH="732960" progId="Packag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025" y="3062288"/>
                        <a:ext cx="18859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2D0621-78F8-4AA3-9B12-C181CB94926B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11878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Array-Based Stack</a:t>
            </a:r>
          </a:p>
        </p:txBody>
      </p:sp>
      <p:sp>
        <p:nvSpPr>
          <p:cNvPr id="11878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sz="2400" b="1" dirty="0" smtClean="0">
                <a:latin typeface="Courier New" pitchFamily="26" charset="0"/>
              </a:rPr>
              <a:t>// Array-based stack implementation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400" b="1" dirty="0" smtClean="0">
                <a:latin typeface="Courier New" pitchFamily="26" charset="0"/>
              </a:rPr>
              <a:t>private </a:t>
            </a:r>
            <a:r>
              <a:rPr lang="en-US" sz="2400" b="1" dirty="0" err="1" smtClean="0">
                <a:latin typeface="Courier New" pitchFamily="26" charset="0"/>
              </a:rPr>
              <a:t>int</a:t>
            </a:r>
            <a:r>
              <a:rPr lang="en-US" sz="2400" b="1" dirty="0" smtClean="0">
                <a:latin typeface="Courier New" pitchFamily="26" charset="0"/>
              </a:rPr>
              <a:t> </a:t>
            </a:r>
            <a:r>
              <a:rPr lang="en-US" sz="2400" b="1" dirty="0" err="1" smtClean="0">
                <a:latin typeface="Courier New" pitchFamily="26" charset="0"/>
              </a:rPr>
              <a:t>maxSize</a:t>
            </a:r>
            <a:r>
              <a:rPr lang="en-US" sz="2400" b="1" dirty="0" smtClean="0">
                <a:latin typeface="Courier New" pitchFamily="26" charset="0"/>
              </a:rPr>
              <a:t>;  // Max size of stack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400" b="1" dirty="0" smtClean="0">
                <a:latin typeface="Courier New" pitchFamily="26" charset="0"/>
              </a:rPr>
              <a:t>private </a:t>
            </a:r>
            <a:r>
              <a:rPr lang="en-US" sz="2400" b="1" dirty="0" err="1" smtClean="0">
                <a:latin typeface="Courier New" pitchFamily="26" charset="0"/>
              </a:rPr>
              <a:t>int</a:t>
            </a:r>
            <a:r>
              <a:rPr lang="en-US" sz="2400" b="1" dirty="0" smtClean="0">
                <a:latin typeface="Courier New" pitchFamily="26" charset="0"/>
              </a:rPr>
              <a:t> top;      // Index for top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400" b="1" dirty="0" smtClean="0">
                <a:latin typeface="Courier New" pitchFamily="26" charset="0"/>
              </a:rPr>
              <a:t>private E [] </a:t>
            </a:r>
            <a:r>
              <a:rPr lang="en-US" sz="2400" b="1" dirty="0" err="1" smtClean="0">
                <a:latin typeface="Courier New" pitchFamily="26" charset="0"/>
              </a:rPr>
              <a:t>listArray</a:t>
            </a:r>
            <a:r>
              <a:rPr lang="en-US" sz="2400" b="1" dirty="0" smtClean="0">
                <a:latin typeface="Courier New" pitchFamily="26" charset="0"/>
              </a:rPr>
              <a:t>;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sz="2400" dirty="0" smtClean="0">
              <a:latin typeface="Helvetica" pitchFamily="26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Issues: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Which end is the top?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Where does “top” point to?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What are the costs of the operations?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486400" y="1295400"/>
            <a:ext cx="56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  <p:sp>
        <p:nvSpPr>
          <p:cNvPr id="1187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2D0621-78F8-4AA3-9B12-C181CB94926B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11878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Array-Based Stack</a:t>
            </a:r>
          </a:p>
        </p:txBody>
      </p:sp>
      <p:sp>
        <p:nvSpPr>
          <p:cNvPr id="11878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1" y="1447800"/>
            <a:ext cx="5486399" cy="5189538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Issues: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Which end is the top?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1: At the beginning.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2: At the tail.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What are the costs of the operations?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1 is inefficient (why?)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2 is efficient (Why?)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Helvetica" pitchFamily="26" charset="0"/>
              </a:rPr>
              <a:t>Where does “top” point to?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Helvetica" pitchFamily="26" charset="0"/>
              </a:rPr>
              <a:t>The first available position in the </a:t>
            </a:r>
            <a:r>
              <a:rPr lang="en-US" dirty="0" smtClean="0">
                <a:latin typeface="Helvetica" pitchFamily="26" charset="0"/>
              </a:rPr>
              <a:t>stack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dirty="0" smtClean="0">
              <a:latin typeface="Helvetica" pitchFamily="2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7713"/>
            <a:ext cx="646735" cy="2091563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5545975" y="1683325"/>
            <a:ext cx="4572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ight Arrow 15"/>
          <p:cNvSpPr/>
          <p:nvPr/>
        </p:nvSpPr>
        <p:spPr>
          <a:xfrm>
            <a:off x="7010400" y="2209800"/>
            <a:ext cx="762000" cy="383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010400" y="1840468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Push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778" y="1553255"/>
            <a:ext cx="646735" cy="209156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15200" y="1364675"/>
            <a:ext cx="56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374775" y="1752600"/>
            <a:ext cx="4572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8534400" y="1731818"/>
            <a:ext cx="182880" cy="249382"/>
          </a:xfrm>
          <a:custGeom>
            <a:avLst/>
            <a:gdLst>
              <a:gd name="connsiteX0" fmla="*/ 0 w 182880"/>
              <a:gd name="connsiteY0" fmla="*/ 0 h 249382"/>
              <a:gd name="connsiteX1" fmla="*/ 182880 w 182880"/>
              <a:gd name="connsiteY1" fmla="*/ 116379 h 249382"/>
              <a:gd name="connsiteX2" fmla="*/ 0 w 182880"/>
              <a:gd name="connsiteY2" fmla="*/ 249382 h 249382"/>
              <a:gd name="connsiteX3" fmla="*/ 0 w 182880"/>
              <a:gd name="connsiteY3" fmla="*/ 249382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" h="249382">
                <a:moveTo>
                  <a:pt x="0" y="0"/>
                </a:moveTo>
                <a:cubicBezTo>
                  <a:pt x="91440" y="37407"/>
                  <a:pt x="182880" y="74815"/>
                  <a:pt x="182880" y="116379"/>
                </a:cubicBezTo>
                <a:cubicBezTo>
                  <a:pt x="182880" y="157943"/>
                  <a:pt x="0" y="249382"/>
                  <a:pt x="0" y="249382"/>
                </a:cubicBezTo>
                <a:lnTo>
                  <a:pt x="0" y="249382"/>
                </a:ln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8534400" y="2798618"/>
            <a:ext cx="182880" cy="249382"/>
          </a:xfrm>
          <a:custGeom>
            <a:avLst/>
            <a:gdLst>
              <a:gd name="connsiteX0" fmla="*/ 0 w 182880"/>
              <a:gd name="connsiteY0" fmla="*/ 0 h 249382"/>
              <a:gd name="connsiteX1" fmla="*/ 182880 w 182880"/>
              <a:gd name="connsiteY1" fmla="*/ 116379 h 249382"/>
              <a:gd name="connsiteX2" fmla="*/ 0 w 182880"/>
              <a:gd name="connsiteY2" fmla="*/ 249382 h 249382"/>
              <a:gd name="connsiteX3" fmla="*/ 0 w 182880"/>
              <a:gd name="connsiteY3" fmla="*/ 249382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" h="249382">
                <a:moveTo>
                  <a:pt x="0" y="0"/>
                </a:moveTo>
                <a:cubicBezTo>
                  <a:pt x="91440" y="37407"/>
                  <a:pt x="182880" y="74815"/>
                  <a:pt x="182880" y="116379"/>
                </a:cubicBezTo>
                <a:cubicBezTo>
                  <a:pt x="182880" y="157943"/>
                  <a:pt x="0" y="249382"/>
                  <a:pt x="0" y="249382"/>
                </a:cubicBezTo>
                <a:lnTo>
                  <a:pt x="0" y="249382"/>
                </a:ln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8534400" y="2493818"/>
            <a:ext cx="182880" cy="249382"/>
          </a:xfrm>
          <a:custGeom>
            <a:avLst/>
            <a:gdLst>
              <a:gd name="connsiteX0" fmla="*/ 0 w 182880"/>
              <a:gd name="connsiteY0" fmla="*/ 0 h 249382"/>
              <a:gd name="connsiteX1" fmla="*/ 182880 w 182880"/>
              <a:gd name="connsiteY1" fmla="*/ 116379 h 249382"/>
              <a:gd name="connsiteX2" fmla="*/ 0 w 182880"/>
              <a:gd name="connsiteY2" fmla="*/ 249382 h 249382"/>
              <a:gd name="connsiteX3" fmla="*/ 0 w 182880"/>
              <a:gd name="connsiteY3" fmla="*/ 249382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" h="249382">
                <a:moveTo>
                  <a:pt x="0" y="0"/>
                </a:moveTo>
                <a:cubicBezTo>
                  <a:pt x="91440" y="37407"/>
                  <a:pt x="182880" y="74815"/>
                  <a:pt x="182880" y="116379"/>
                </a:cubicBezTo>
                <a:cubicBezTo>
                  <a:pt x="182880" y="157943"/>
                  <a:pt x="0" y="249382"/>
                  <a:pt x="0" y="249382"/>
                </a:cubicBezTo>
                <a:lnTo>
                  <a:pt x="0" y="249382"/>
                </a:ln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29"/>
          <p:cNvSpPr/>
          <p:nvPr/>
        </p:nvSpPr>
        <p:spPr>
          <a:xfrm>
            <a:off x="8534400" y="2189018"/>
            <a:ext cx="182880" cy="249382"/>
          </a:xfrm>
          <a:custGeom>
            <a:avLst/>
            <a:gdLst>
              <a:gd name="connsiteX0" fmla="*/ 0 w 182880"/>
              <a:gd name="connsiteY0" fmla="*/ 0 h 249382"/>
              <a:gd name="connsiteX1" fmla="*/ 182880 w 182880"/>
              <a:gd name="connsiteY1" fmla="*/ 116379 h 249382"/>
              <a:gd name="connsiteX2" fmla="*/ 0 w 182880"/>
              <a:gd name="connsiteY2" fmla="*/ 249382 h 249382"/>
              <a:gd name="connsiteX3" fmla="*/ 0 w 182880"/>
              <a:gd name="connsiteY3" fmla="*/ 249382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" h="249382">
                <a:moveTo>
                  <a:pt x="0" y="0"/>
                </a:moveTo>
                <a:cubicBezTo>
                  <a:pt x="91440" y="37407"/>
                  <a:pt x="182880" y="74815"/>
                  <a:pt x="182880" y="116379"/>
                </a:cubicBezTo>
                <a:cubicBezTo>
                  <a:pt x="182880" y="157943"/>
                  <a:pt x="0" y="249382"/>
                  <a:pt x="0" y="249382"/>
                </a:cubicBezTo>
                <a:lnTo>
                  <a:pt x="0" y="249382"/>
                </a:ln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 30"/>
          <p:cNvSpPr/>
          <p:nvPr/>
        </p:nvSpPr>
        <p:spPr>
          <a:xfrm>
            <a:off x="8534400" y="1960418"/>
            <a:ext cx="182880" cy="249382"/>
          </a:xfrm>
          <a:custGeom>
            <a:avLst/>
            <a:gdLst>
              <a:gd name="connsiteX0" fmla="*/ 0 w 182880"/>
              <a:gd name="connsiteY0" fmla="*/ 0 h 249382"/>
              <a:gd name="connsiteX1" fmla="*/ 182880 w 182880"/>
              <a:gd name="connsiteY1" fmla="*/ 116379 h 249382"/>
              <a:gd name="connsiteX2" fmla="*/ 0 w 182880"/>
              <a:gd name="connsiteY2" fmla="*/ 249382 h 249382"/>
              <a:gd name="connsiteX3" fmla="*/ 0 w 182880"/>
              <a:gd name="connsiteY3" fmla="*/ 249382 h 249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880" h="249382">
                <a:moveTo>
                  <a:pt x="0" y="0"/>
                </a:moveTo>
                <a:cubicBezTo>
                  <a:pt x="91440" y="37407"/>
                  <a:pt x="182880" y="74815"/>
                  <a:pt x="182880" y="116379"/>
                </a:cubicBezTo>
                <a:cubicBezTo>
                  <a:pt x="182880" y="157943"/>
                  <a:pt x="0" y="249382"/>
                  <a:pt x="0" y="249382"/>
                </a:cubicBezTo>
                <a:lnTo>
                  <a:pt x="0" y="249382"/>
                </a:ln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720" y="4075095"/>
            <a:ext cx="646735" cy="2091563"/>
          </a:xfrm>
          <a:prstGeom prst="rect">
            <a:avLst/>
          </a:prstGeom>
        </p:spPr>
      </p:pic>
      <p:cxnSp>
        <p:nvCxnSpPr>
          <p:cNvPr id="33" name="Straight Arrow Connector 32"/>
          <p:cNvCxnSpPr/>
          <p:nvPr/>
        </p:nvCxnSpPr>
        <p:spPr>
          <a:xfrm>
            <a:off x="5591695" y="5253933"/>
            <a:ext cx="4572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Arrow 33"/>
          <p:cNvSpPr/>
          <p:nvPr/>
        </p:nvSpPr>
        <p:spPr>
          <a:xfrm>
            <a:off x="7056120" y="4737182"/>
            <a:ext cx="762000" cy="3836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7056120" y="4367850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Push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360920" y="5181600"/>
            <a:ext cx="56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7420495" y="5569525"/>
            <a:ext cx="4572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505" y="4109693"/>
            <a:ext cx="646735" cy="209156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481988" y="4800600"/>
            <a:ext cx="561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TOP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7" grpId="0"/>
      <p:bldP spid="23" grpId="0"/>
      <p:bldP spid="22" grpId="0" animBg="1"/>
      <p:bldP spid="28" grpId="0" animBg="1"/>
      <p:bldP spid="29" grpId="0" animBg="1"/>
      <p:bldP spid="30" grpId="0" animBg="1"/>
      <p:bldP spid="31" grpId="0" animBg="1"/>
      <p:bldP spid="34" grpId="0" animBg="1"/>
      <p:bldP spid="35" grpId="0"/>
      <p:bldP spid="37" grpId="0"/>
      <p:bldP spid="4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2D0621-78F8-4AA3-9B12-C181CB94926B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11878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Array-Based Stack</a:t>
            </a:r>
          </a:p>
        </p:txBody>
      </p:sp>
      <p:sp>
        <p:nvSpPr>
          <p:cNvPr id="11878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Issues: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Which end is the top?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1: At the beginning.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2: At the tail.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Where does “top” point to?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The first available position in the stack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What are the costs of the operations?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1 is inefficient (why?)</a:t>
            </a:r>
          </a:p>
          <a:p>
            <a:pPr lvl="2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The last element must be at the beginning. So, every time you push, you would need to shift the items back.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2 is efficient (Why?). 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dirty="0" smtClean="0">
              <a:latin typeface="Helvetica" pitchFamily="2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32D0621-78F8-4AA3-9B12-C181CB94926B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118787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smtClean="0">
                <a:latin typeface="Helvetica" pitchFamily="26" charset="0"/>
              </a:rPr>
              <a:t>Array-Based Stack</a:t>
            </a:r>
          </a:p>
        </p:txBody>
      </p:sp>
      <p:sp>
        <p:nvSpPr>
          <p:cNvPr id="11878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5613" y="1600200"/>
            <a:ext cx="8226425" cy="4572000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 smtClean="0">
                <a:latin typeface="Helvetica" pitchFamily="26" charset="0"/>
              </a:rPr>
              <a:t>Issues: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Which end is the top?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1: At the beginning.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2: At the tail.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Where does “top” point to?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The first available position in the stack</a:t>
            </a:r>
          </a:p>
          <a:p>
            <a:pPr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What are the costs of the operations?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1 is inefficient (why?)</a:t>
            </a:r>
          </a:p>
          <a:p>
            <a:pPr lvl="1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Option 2 is efficient (Why?). </a:t>
            </a:r>
          </a:p>
          <a:p>
            <a:pPr lvl="2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Here, as the elements are pushed in, they are appended at the tail.</a:t>
            </a:r>
          </a:p>
          <a:p>
            <a:pPr lvl="2">
              <a:lnSpc>
                <a:spcPct val="70000"/>
              </a:lnSpc>
            </a:pPr>
            <a:r>
              <a:rPr lang="en-US" dirty="0" smtClean="0">
                <a:latin typeface="Helvetica" pitchFamily="26" charset="0"/>
              </a:rPr>
              <a:t>Method pop removes the tail element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dirty="0" smtClean="0">
              <a:latin typeface="Helvetica" pitchFamily="2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Array Based Stack Implementation in C++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831768"/>
              </p:ext>
            </p:extLst>
          </p:nvPr>
        </p:nvGraphicFramePr>
        <p:xfrm>
          <a:off x="3629025" y="3152775"/>
          <a:ext cx="1885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8" name="Packager Shell Object" showAsIcon="1" r:id="rId3" imgW="1886400" imgH="732960" progId="Package">
                  <p:embed/>
                </p:oleObj>
              </mc:Choice>
              <mc:Fallback>
                <p:oleObj name="Packager Shell Object" showAsIcon="1" r:id="rId3" imgW="1886400" imgH="732960" progId="Packag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025" y="3152775"/>
                        <a:ext cx="18859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B113C59-E27A-4F1D-9FBD-8D15FF094730}" type="slidenum">
              <a:rPr lang="en-US" smtClean="0"/>
              <a:pPr/>
              <a:t>10</a:t>
            </a:fld>
            <a:endParaRPr lang="en-US" smtClean="0"/>
          </a:p>
        </p:txBody>
      </p:sp>
      <p:sp>
        <p:nvSpPr>
          <p:cNvPr id="119811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dirty="0" smtClean="0">
                <a:latin typeface="Helvetica" pitchFamily="26" charset="0"/>
              </a:rPr>
              <a:t>Linked List Based Stack</a:t>
            </a:r>
          </a:p>
        </p:txBody>
      </p:sp>
      <p:sp>
        <p:nvSpPr>
          <p:cNvPr id="119812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455613" y="1219200"/>
            <a:ext cx="8226425" cy="54102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Elements are inserted and removed only from the head of the list.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A header node is not used because no special-case code is required for lists of zero or one elements.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200" dirty="0" smtClean="0">
                <a:latin typeface="Arial" pitchFamily="34" charset="0"/>
                <a:cs typeface="Arial" pitchFamily="34" charset="0"/>
              </a:rPr>
              <a:t>The only data member is </a:t>
            </a:r>
            <a:r>
              <a:rPr lang="en-US" sz="2200" b="1" dirty="0" smtClean="0">
                <a:latin typeface="Arial" pitchFamily="34" charset="0"/>
                <a:cs typeface="Arial" pitchFamily="34" charset="0"/>
              </a:rPr>
              <a:t>top, a pointer to the first (top) link node 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of the stack. </a:t>
            </a:r>
            <a:r>
              <a:rPr lang="en-US" sz="2200" b="1" dirty="0" smtClean="0">
                <a:latin typeface="Arial" pitchFamily="34" charset="0"/>
                <a:cs typeface="Arial" pitchFamily="34" charset="0"/>
              </a:rPr>
              <a:t>Top is Null</a:t>
            </a:r>
            <a:r>
              <a:rPr lang="en-US" sz="2200" dirty="0" smtClean="0">
                <a:latin typeface="Arial" pitchFamily="34" charset="0"/>
                <a:cs typeface="Arial" pitchFamily="34" charset="0"/>
              </a:rPr>
              <a:t> for empty stack.</a:t>
            </a:r>
            <a:endParaRPr lang="en-US" sz="2200" b="1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Link Based Stack Implementation in C++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3805831"/>
              </p:ext>
            </p:extLst>
          </p:nvPr>
        </p:nvGraphicFramePr>
        <p:xfrm>
          <a:off x="3629025" y="5622925"/>
          <a:ext cx="1885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2" name="Packager Shell Object" showAsIcon="1" r:id="rId3" imgW="1886400" imgH="732960" progId="Package">
                  <p:embed/>
                </p:oleObj>
              </mc:Choice>
              <mc:Fallback>
                <p:oleObj name="Packager Shell Object" showAsIcon="1" r:id="rId3" imgW="1886400" imgH="732960" progId="Packag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025" y="5622925"/>
                        <a:ext cx="18859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9643" y="1517883"/>
            <a:ext cx="7664714" cy="336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Stack: Array-Based </a:t>
            </a:r>
            <a:r>
              <a:rPr lang="en-US" dirty="0" err="1" smtClean="0"/>
              <a:t>vs</a:t>
            </a:r>
            <a:r>
              <a:rPr lang="en-US" dirty="0" smtClean="0"/>
              <a:t> Linked Based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All operations in both implementations take constant time</a:t>
            </a:r>
          </a:p>
          <a:p>
            <a:r>
              <a:rPr lang="en-US" dirty="0" smtClean="0"/>
              <a:t>The space analysis is similar to that done for list implementations. </a:t>
            </a:r>
          </a:p>
          <a:p>
            <a:pPr lvl="1"/>
            <a:r>
              <a:rPr lang="en-US" dirty="0" smtClean="0"/>
              <a:t>The array-based stack must declare a fixed-size array initially, and some of that space is wasted whenever the stack is not full. </a:t>
            </a:r>
          </a:p>
          <a:p>
            <a:pPr lvl="1"/>
            <a:r>
              <a:rPr lang="en-US" dirty="0" smtClean="0"/>
              <a:t>The linked stack can shrink and grow but requires the overhead of a link field for every element.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One Array Two Stacks…</a:t>
            </a: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5486400"/>
            <a:ext cx="54768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Array based stack has a one-way growth. So, we can implement two stacks in one</a:t>
            </a:r>
          </a:p>
          <a:p>
            <a:pPr lvl="1"/>
            <a:r>
              <a:rPr lang="en-US" dirty="0" smtClean="0"/>
              <a:t>Each grows inward from each end</a:t>
            </a:r>
          </a:p>
          <a:p>
            <a:r>
              <a:rPr lang="en-US" dirty="0" smtClean="0"/>
              <a:t>This may lead to less wasted space. </a:t>
            </a:r>
          </a:p>
          <a:p>
            <a:r>
              <a:rPr lang="en-US" dirty="0" smtClean="0"/>
              <a:t>However, this only works well</a:t>
            </a:r>
          </a:p>
          <a:p>
            <a:pPr lvl="1"/>
            <a:r>
              <a:rPr lang="en-US" dirty="0" smtClean="0"/>
              <a:t>when the space requirements of the two stacks are inversely correlated: ideally when one stack grows, the other will shrink.</a:t>
            </a:r>
          </a:p>
          <a:p>
            <a:r>
              <a:rPr lang="en-US" dirty="0" smtClean="0"/>
              <a:t>This is particularly effective when elements are taken from one stack and given to the other. </a:t>
            </a:r>
          </a:p>
          <a:p>
            <a:r>
              <a:rPr lang="en-US" dirty="0" smtClean="0"/>
              <a:t>If instead both stacks grow at the same time, then the free space in the middle of the array will be exhausted quickly.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Replacing recursion with a stack</a:t>
            </a:r>
            <a:endParaRPr 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4835" y="2780348"/>
            <a:ext cx="7454329" cy="406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99" y="1279095"/>
            <a:ext cx="7848600" cy="14929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Replacing recursion with a stack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30480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could have simply written an iterative version of fact()!!!</a:t>
            </a:r>
          </a:p>
          <a:p>
            <a:r>
              <a:rPr lang="en-US" dirty="0"/>
              <a:t>But stack based implementation like this is useful as it is not always possible to replace </a:t>
            </a:r>
            <a:r>
              <a:rPr lang="en-US" dirty="0" smtClean="0"/>
              <a:t>recursion with </a:t>
            </a:r>
            <a:r>
              <a:rPr lang="en-US" dirty="0"/>
              <a:t>iteration. </a:t>
            </a:r>
            <a:endParaRPr lang="en-US" dirty="0" smtClean="0"/>
          </a:p>
          <a:p>
            <a:r>
              <a:rPr lang="en-US" dirty="0" smtClean="0"/>
              <a:t>Fortunately</a:t>
            </a:r>
            <a:r>
              <a:rPr lang="en-US" dirty="0"/>
              <a:t>, it is always possible to imitate recursion with a stack.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47800" y="1143000"/>
            <a:ext cx="5105400" cy="2782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280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Towers of Hanoi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135393"/>
            <a:ext cx="6705600" cy="322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09600" y="4419600"/>
            <a:ext cx="79705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The problem is to move the rings from the leftmost pole to the rightmost pole (labeled Pole 3) in a series of steps.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At each step the top ring on some pole is moved to another pole.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There is one limitation on where rings may be moved: A ring can never be moved on top of a smaller ring.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Towers of Hanoi</a:t>
            </a:r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135393"/>
            <a:ext cx="6705600" cy="322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343400"/>
            <a:ext cx="8367889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Based </a:t>
            </a:r>
            <a:r>
              <a:rPr lang="en-US" dirty="0" err="1" smtClean="0"/>
              <a:t>ToH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225253"/>
              </p:ext>
            </p:extLst>
          </p:nvPr>
        </p:nvGraphicFramePr>
        <p:xfrm>
          <a:off x="3629025" y="2971800"/>
          <a:ext cx="188595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3" name="Packager Shell Object" showAsIcon="1" r:id="rId3" imgW="1886400" imgH="732960" progId="Package">
                  <p:embed/>
                </p:oleObj>
              </mc:Choice>
              <mc:Fallback>
                <p:oleObj name="Packager Shell Object" showAsIcon="1" r:id="rId3" imgW="1886400" imgH="732960" progId="Package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9025" y="2971800"/>
                        <a:ext cx="1885950" cy="733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DCCC3-2428-4135-B20A-30389A6BDFA2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</TotalTime>
  <Words>777</Words>
  <Application>Microsoft Office PowerPoint</Application>
  <PresentationFormat>On-screen Show (4:3)</PresentationFormat>
  <Paragraphs>133</Paragraphs>
  <Slides>18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Courier New</vt:lpstr>
      <vt:lpstr>Helvetica</vt:lpstr>
      <vt:lpstr>Office Theme</vt:lpstr>
      <vt:lpstr>Packager Shell Object</vt:lpstr>
      <vt:lpstr>Package</vt:lpstr>
      <vt:lpstr>CSE 203: Data Structures</vt:lpstr>
      <vt:lpstr>Stacks</vt:lpstr>
      <vt:lpstr>Stacks</vt:lpstr>
      <vt:lpstr>Stack ADT</vt:lpstr>
      <vt:lpstr>Array-Based Stack</vt:lpstr>
      <vt:lpstr>Array-Based Stack</vt:lpstr>
      <vt:lpstr>Array-Based Stack</vt:lpstr>
      <vt:lpstr>Array-Based Stack</vt:lpstr>
      <vt:lpstr>Array Based Stack Implementation in C++</vt:lpstr>
      <vt:lpstr>Linked List Based Stack</vt:lpstr>
      <vt:lpstr>Link Based Stack Implementation in C++</vt:lpstr>
      <vt:lpstr>Stack: Array-Based vs Linked Based</vt:lpstr>
      <vt:lpstr>One Array Two Stacks…</vt:lpstr>
      <vt:lpstr>Replacing recursion with a stack</vt:lpstr>
      <vt:lpstr>Replacing recursion with a stack</vt:lpstr>
      <vt:lpstr>Towers of Hanoi</vt:lpstr>
      <vt:lpstr>Towers of Hanoi</vt:lpstr>
      <vt:lpstr>Stack Based ToH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203: Data Structures</dc:title>
  <dc:creator>User</dc:creator>
  <cp:lastModifiedBy>user</cp:lastModifiedBy>
  <cp:revision>103</cp:revision>
  <dcterms:created xsi:type="dcterms:W3CDTF">2016-02-28T13:24:45Z</dcterms:created>
  <dcterms:modified xsi:type="dcterms:W3CDTF">2021-11-21T17:26:03Z</dcterms:modified>
</cp:coreProperties>
</file>