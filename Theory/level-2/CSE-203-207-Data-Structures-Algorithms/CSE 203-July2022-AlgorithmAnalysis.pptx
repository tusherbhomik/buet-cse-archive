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B6F00-94A0-46EE-BFBF-91BA7FE2B725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CF84F-CD20-45ED-856F-C87E00425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72D69A-C11C-4D96-99AF-E6F7FDBA72D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84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9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290B43-2454-47B9-8E52-59C67E38B59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85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B92BF-9761-415B-B689-9449E3D695F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86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Empirical comparison is difficult to do “fairly” and is time consuming.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Critical resources: Time.  Space (disk, RAM). Programmers effort.  Ease of use (user’s effort).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Factors affecting running time: Machine load.  OS.  Compiler.  Problem size.  Specific input values for given problem size.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06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B92BF-9761-415B-B689-9449E3D695F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86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Empirical comparison is difficult to do “fairly” and is time consuming.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Critical resources: Time.  Space (disk, RAM). Programmers effort.  Ease of use (user’s effort).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Factors affecting running time: Machine load.  OS.  Compiler.  Problem size.  Specific input values for given problem size.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9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B92BF-9761-415B-B689-9449E3D695F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86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Empirical comparison is difficult to do “fairly” and is time consuming.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Critical resources: Time.  Space (disk, RAM). Programmers effort.  Ease of use (user’s effort).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Factors affecting running time: Machine load.  OS.  Compiler.  Problem size.  Specific input values for given problem size.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33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B92BF-9761-415B-B689-9449E3D695F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86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Empirical comparison is difficult to do “fairly” and is time consuming.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Critical resources: Time.  Space (disk, RAM). Programmers effort.  Ease of use (user’s effort).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Factors affecting running time: Machine load.  OS.  Compiler.  Problem size.  Specific input values for given problem size.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22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ECE390-C6EA-4474-8775-2769EB297B6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87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As </a:t>
            </a:r>
            <a:r>
              <a:rPr lang="en-US" i="1"/>
              <a:t>n</a:t>
            </a:r>
            <a:r>
              <a:rPr lang="en-US"/>
              <a:t> grows, how does </a:t>
            </a:r>
            <a:r>
              <a:rPr lang="en-US" b="1"/>
              <a:t>T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grow?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Cost: </a:t>
            </a:r>
            <a:r>
              <a:rPr lang="en-US" b="1"/>
              <a:t>T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= </a:t>
            </a:r>
            <a:r>
              <a:rPr lang="en-US" i="1"/>
              <a:t>c</a:t>
            </a:r>
            <a:r>
              <a:rPr lang="en-US" baseline="-25000"/>
              <a:t>1</a:t>
            </a:r>
            <a:r>
              <a:rPr lang="en-US" i="1"/>
              <a:t>n</a:t>
            </a:r>
            <a:r>
              <a:rPr lang="en-US"/>
              <a:t> + </a:t>
            </a:r>
            <a:r>
              <a:rPr lang="en-US" i="1"/>
              <a:t>c</a:t>
            </a:r>
            <a:r>
              <a:rPr lang="en-US" baseline="-25000"/>
              <a:t>2</a:t>
            </a:r>
            <a:r>
              <a:rPr lang="en-US"/>
              <a:t> steps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71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ECE390-C6EA-4474-8775-2769EB297B6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87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As </a:t>
            </a:r>
            <a:r>
              <a:rPr lang="en-US" i="1"/>
              <a:t>n</a:t>
            </a:r>
            <a:r>
              <a:rPr lang="en-US"/>
              <a:t> grows, how does </a:t>
            </a:r>
            <a:r>
              <a:rPr lang="en-US" b="1"/>
              <a:t>T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grow?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Cost: </a:t>
            </a:r>
            <a:r>
              <a:rPr lang="en-US" b="1"/>
              <a:t>T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= </a:t>
            </a:r>
            <a:r>
              <a:rPr lang="en-US" i="1"/>
              <a:t>c</a:t>
            </a:r>
            <a:r>
              <a:rPr lang="en-US" baseline="-25000"/>
              <a:t>1</a:t>
            </a:r>
            <a:r>
              <a:rPr lang="en-US" i="1"/>
              <a:t>n</a:t>
            </a:r>
            <a:r>
              <a:rPr lang="en-US"/>
              <a:t> + </a:t>
            </a:r>
            <a:r>
              <a:rPr lang="en-US" i="1"/>
              <a:t>c</a:t>
            </a:r>
            <a:r>
              <a:rPr lang="en-US" baseline="-25000"/>
              <a:t>2</a:t>
            </a:r>
            <a:r>
              <a:rPr lang="en-US"/>
              <a:t> steps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8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078618-442C-46D4-8FA4-35EC45F47F2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88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Example 2: Constant cost.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Example 3: Cost: </a:t>
            </a:r>
            <a:r>
              <a:rPr lang="en-US" b="1"/>
              <a:t>T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= </a:t>
            </a:r>
            <a:r>
              <a:rPr lang="en-US" i="1"/>
              <a:t>c</a:t>
            </a:r>
            <a:r>
              <a:rPr lang="en-US" baseline="-25000"/>
              <a:t>1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 + </a:t>
            </a:r>
            <a:r>
              <a:rPr lang="en-US" i="1"/>
              <a:t>c</a:t>
            </a:r>
            <a:r>
              <a:rPr lang="en-US" baseline="30000"/>
              <a:t>2</a:t>
            </a:r>
            <a:r>
              <a:rPr lang="en-US"/>
              <a:t>.  Roughly 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 steps, with sum being 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 at the end.  Ignore various overhead such as loop counter increments.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35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B10C5-BCB8-495E-9432-9A9587D176F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89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9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B10C5-BCB8-495E-9432-9A9587D176F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89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0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E5D9C5-CE8E-4866-BE37-F06E05CAC1D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90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Best: Find at first position.  Cost is 1 compare.</a:t>
            </a:r>
          </a:p>
          <a:p>
            <a:pPr eaLnBrk="1" hangingPunct="1"/>
            <a:r>
              <a:rPr lang="en-US"/>
              <a:t>Worst: Find at last position.  Cost is </a:t>
            </a:r>
            <a:r>
              <a:rPr lang="en-US" i="1"/>
              <a:t>n</a:t>
            </a:r>
            <a:r>
              <a:rPr lang="en-US"/>
              <a:t> compares.</a:t>
            </a:r>
          </a:p>
          <a:p>
            <a:pPr eaLnBrk="1" hangingPunct="1"/>
            <a:r>
              <a:rPr lang="en-US"/>
              <a:t>Average: (</a:t>
            </a:r>
            <a:r>
              <a:rPr lang="en-US" i="1"/>
              <a:t>n</a:t>
            </a:r>
            <a:r>
              <a:rPr lang="en-US"/>
              <a:t>+1)/2 compares IF we assume the element with value </a:t>
            </a:r>
            <a:r>
              <a:rPr lang="en-US" i="1"/>
              <a:t>K</a:t>
            </a:r>
            <a:r>
              <a:rPr lang="en-US"/>
              <a:t> is equally likely to be in any position in the array.</a:t>
            </a:r>
          </a:p>
        </p:txBody>
      </p:sp>
    </p:spTree>
    <p:extLst>
      <p:ext uri="{BB962C8B-B14F-4D97-AF65-F5344CB8AC3E}">
        <p14:creationId xmlns:p14="http://schemas.microsoft.com/office/powerpoint/2010/main" val="1599783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E5D9C5-CE8E-4866-BE37-F06E05CAC1D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90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Best: Find at first position.  Cost is 1 compare.</a:t>
            </a:r>
          </a:p>
          <a:p>
            <a:pPr eaLnBrk="1" hangingPunct="1"/>
            <a:r>
              <a:rPr lang="en-US"/>
              <a:t>Worst: Find at last position.  Cost is </a:t>
            </a:r>
            <a:r>
              <a:rPr lang="en-US" i="1"/>
              <a:t>n</a:t>
            </a:r>
            <a:r>
              <a:rPr lang="en-US"/>
              <a:t> compares.</a:t>
            </a:r>
          </a:p>
          <a:p>
            <a:pPr eaLnBrk="1" hangingPunct="1"/>
            <a:r>
              <a:rPr lang="en-US"/>
              <a:t>Average: (</a:t>
            </a:r>
            <a:r>
              <a:rPr lang="en-US" i="1"/>
              <a:t>n</a:t>
            </a:r>
            <a:r>
              <a:rPr lang="en-US"/>
              <a:t>+1)/2 compares IF we assume the element with value </a:t>
            </a:r>
            <a:r>
              <a:rPr lang="en-US" i="1"/>
              <a:t>K</a:t>
            </a:r>
            <a:r>
              <a:rPr lang="en-US"/>
              <a:t> is equally likely to be in any position in the array.</a:t>
            </a:r>
          </a:p>
        </p:txBody>
      </p:sp>
    </p:spTree>
    <p:extLst>
      <p:ext uri="{BB962C8B-B14F-4D97-AF65-F5344CB8AC3E}">
        <p14:creationId xmlns:p14="http://schemas.microsoft.com/office/powerpoint/2010/main" val="3650246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E5D9C5-CE8E-4866-BE37-F06E05CAC1D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90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Best: Find at first position.  Cost is 1 compare.</a:t>
            </a:r>
          </a:p>
          <a:p>
            <a:pPr eaLnBrk="1" hangingPunct="1"/>
            <a:r>
              <a:rPr lang="en-US"/>
              <a:t>Worst: Find at last position.  Cost is </a:t>
            </a:r>
            <a:r>
              <a:rPr lang="en-US" i="1"/>
              <a:t>n</a:t>
            </a:r>
            <a:r>
              <a:rPr lang="en-US"/>
              <a:t> compares.</a:t>
            </a:r>
          </a:p>
          <a:p>
            <a:pPr eaLnBrk="1" hangingPunct="1"/>
            <a:r>
              <a:rPr lang="en-US"/>
              <a:t>Average: (</a:t>
            </a:r>
            <a:r>
              <a:rPr lang="en-US" i="1"/>
              <a:t>n</a:t>
            </a:r>
            <a:r>
              <a:rPr lang="en-US"/>
              <a:t>+1)/2 compares IF we assume the element with value </a:t>
            </a:r>
            <a:r>
              <a:rPr lang="en-US" i="1"/>
              <a:t>K</a:t>
            </a:r>
            <a:r>
              <a:rPr lang="en-US"/>
              <a:t> is equally likely to be in any position in the array.</a:t>
            </a:r>
          </a:p>
        </p:txBody>
      </p:sp>
    </p:spTree>
    <p:extLst>
      <p:ext uri="{BB962C8B-B14F-4D97-AF65-F5344CB8AC3E}">
        <p14:creationId xmlns:p14="http://schemas.microsoft.com/office/powerpoint/2010/main" val="2261287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36B4EF-B10D-4AC6-AED1-D76B144565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91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Average time analysis requires knowledge of distributions.  For example, the assumption of distribution used for average case in the last example.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Worst-case time is important for real-time algorithms.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7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0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7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7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9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5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7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3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7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47E3F-7CBF-463B-BE14-F57E81378C9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055AB-13D0-44DF-9DFF-61ED2233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2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(Algorithm) Analysis</a:t>
            </a:r>
          </a:p>
        </p:txBody>
      </p:sp>
    </p:spTree>
    <p:extLst>
      <p:ext uri="{BB962C8B-B14F-4D97-AF65-F5344CB8AC3E}">
        <p14:creationId xmlns:p14="http://schemas.microsoft.com/office/powerpoint/2010/main" val="317077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8758B1-8272-4BF2-B712-61B40EFD2AE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Algorithm Efficiency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>
                <a:latin typeface="Helvetica" pitchFamily="26" charset="0"/>
              </a:rPr>
              <a:t>There are often many approaches (algorithms) to solve a problem.  How do we choose between them?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>
              <a:latin typeface="Helvetica" pitchFamily="26" charset="0"/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US">
                <a:latin typeface="Helvetica" pitchFamily="26" charset="0"/>
              </a:rPr>
              <a:t>At the heart of computer program design are two (sometimes conflicting) goals.</a:t>
            </a:r>
          </a:p>
          <a:p>
            <a:pPr marL="990600" lvl="1" indent="-533400">
              <a:buFontTx/>
              <a:buAutoNum type="arabicPeriod"/>
            </a:pPr>
            <a:r>
              <a:rPr lang="en-US">
                <a:latin typeface="Helvetica" pitchFamily="26" charset="0"/>
              </a:rPr>
              <a:t>To design an algorithm that is easy to understand, code, debug.</a:t>
            </a:r>
          </a:p>
          <a:p>
            <a:pPr marL="990600" lvl="1" indent="-533400">
              <a:buFontTx/>
              <a:buAutoNum type="arabicPeriod"/>
            </a:pPr>
            <a:r>
              <a:rPr lang="en-US">
                <a:latin typeface="Helvetica" pitchFamily="26" charset="0"/>
              </a:rPr>
              <a:t>To design an algorithm that makes efficient use of the computer’s resources.</a:t>
            </a:r>
          </a:p>
        </p:txBody>
      </p:sp>
    </p:spTree>
    <p:extLst>
      <p:ext uri="{BB962C8B-B14F-4D97-AF65-F5344CB8AC3E}">
        <p14:creationId xmlns:p14="http://schemas.microsoft.com/office/powerpoint/2010/main" val="1447555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98EAD2-81D2-4990-8F2B-1E5DA4CA74C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Algorithm Efficiency (cont)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>
                <a:latin typeface="Helvetica" pitchFamily="26" charset="0"/>
              </a:rPr>
              <a:t>Goal (1) is the concern of Software Engineering.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>
              <a:latin typeface="Helvetica" pitchFamily="26" charset="0"/>
            </a:endParaRPr>
          </a:p>
          <a:p>
            <a:pPr marL="609600" indent="-609600">
              <a:buNone/>
            </a:pPr>
            <a:r>
              <a:rPr lang="en-US">
                <a:latin typeface="Helvetica" pitchFamily="26" charset="0"/>
              </a:rPr>
              <a:t>Goal (2) is the concern of data structures and algorithm analysis.</a:t>
            </a:r>
          </a:p>
          <a:p>
            <a:pPr marL="609600" indent="-609600">
              <a:lnSpc>
                <a:spcPct val="40000"/>
              </a:lnSpc>
              <a:buNone/>
            </a:pPr>
            <a:endParaRPr lang="en-US">
              <a:latin typeface="Helvetica" pitchFamily="26" charset="0"/>
            </a:endParaRPr>
          </a:p>
          <a:p>
            <a:pPr marL="609600" indent="-609600">
              <a:buNone/>
            </a:pPr>
            <a:r>
              <a:rPr lang="en-US">
                <a:latin typeface="Helvetica" pitchFamily="26" charset="0"/>
              </a:rPr>
              <a:t>When goal (2) is important, how do we measure an algorithm’s cost?</a:t>
            </a:r>
          </a:p>
        </p:txBody>
      </p:sp>
    </p:spTree>
    <p:extLst>
      <p:ext uri="{BB962C8B-B14F-4D97-AF65-F5344CB8AC3E}">
        <p14:creationId xmlns:p14="http://schemas.microsoft.com/office/powerpoint/2010/main" val="370444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0B10B-63CA-401A-8AA8-E77C617F85E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How to Measure Efficiency?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/>
          </a:bodyPr>
          <a:lstStyle/>
          <a:p>
            <a:pPr marL="609600" indent="-609600">
              <a:lnSpc>
                <a:spcPct val="7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Empirical comparison (run programs)</a:t>
            </a:r>
          </a:p>
          <a:p>
            <a:pPr marL="609600" indent="-609600">
              <a:lnSpc>
                <a:spcPct val="7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Asymptotic Algorithm Analysis</a:t>
            </a:r>
          </a:p>
          <a:p>
            <a:pPr marL="609600" indent="-609600">
              <a:lnSpc>
                <a:spcPct val="10000"/>
              </a:lnSpc>
              <a:buNone/>
            </a:pPr>
            <a:endParaRPr lang="en-US" dirty="0">
              <a:latin typeface="Helvetica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09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0B10B-63CA-401A-8AA8-E77C617F85E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How to Measure Efficiency?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6" charset="0"/>
              </a:rPr>
              <a:t>Empirical comparison (run programs)</a:t>
            </a:r>
            <a:r>
              <a:rPr lang="en-US" dirty="0"/>
              <a:t> is not satisfactory. Why?</a:t>
            </a:r>
          </a:p>
          <a:p>
            <a:pPr lvl="1"/>
            <a:r>
              <a:rPr lang="en-US" dirty="0"/>
              <a:t>First, there is the effort involved in programming and testing two algorithms when at best you want to keep only one. </a:t>
            </a:r>
          </a:p>
          <a:p>
            <a:pPr lvl="1"/>
            <a:r>
              <a:rPr lang="en-US" dirty="0"/>
              <a:t>Second, when empirically comparing two algorithms there is always the chance that one of the programs was “better written”.</a:t>
            </a:r>
          </a:p>
          <a:p>
            <a:pPr lvl="1"/>
            <a:r>
              <a:rPr lang="en-US" dirty="0"/>
              <a:t>Third, the choice of empirical test cases might unfairly favor one algorithm.</a:t>
            </a:r>
          </a:p>
          <a:p>
            <a:pPr lvl="1"/>
            <a:r>
              <a:rPr lang="en-US" dirty="0"/>
              <a:t>Fourth, you could find that even the better of the two algorithms does not fall within your resource budget. </a:t>
            </a:r>
            <a:endParaRPr lang="en-US" dirty="0">
              <a:latin typeface="Helvetica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43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0B10B-63CA-401A-8AA8-E77C617F85E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How to Measure Efficiency?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/>
          </a:bodyPr>
          <a:lstStyle/>
          <a:p>
            <a:pPr marL="609600" indent="-609600">
              <a:lnSpc>
                <a:spcPct val="7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Empirical comparison (run programs)</a:t>
            </a:r>
          </a:p>
          <a:p>
            <a:pPr marL="609600" indent="-609600">
              <a:lnSpc>
                <a:spcPct val="70000"/>
              </a:lnSpc>
              <a:buFontTx/>
              <a:buAutoNum type="arabicPeriod"/>
            </a:pPr>
            <a:r>
              <a:rPr lang="en-US" dirty="0">
                <a:latin typeface="Helvetica" pitchFamily="26" charset="0"/>
              </a:rPr>
              <a:t>Asymptotic Algorithm Analysis</a:t>
            </a:r>
          </a:p>
          <a:p>
            <a:pPr marL="609600" indent="-609600">
              <a:lnSpc>
                <a:spcPct val="70000"/>
              </a:lnSpc>
              <a:buFontTx/>
              <a:buAutoNum type="arabicPeriod"/>
            </a:pPr>
            <a:endParaRPr lang="en-US" dirty="0">
              <a:latin typeface="Helvetica" pitchFamily="26" charset="0"/>
            </a:endParaRPr>
          </a:p>
          <a:p>
            <a:pPr marL="1009650" lvl="1" indent="-609600">
              <a:lnSpc>
                <a:spcPct val="70000"/>
              </a:lnSpc>
              <a:buNone/>
            </a:pPr>
            <a:r>
              <a:rPr lang="en-US" dirty="0">
                <a:latin typeface="Helvetica" pitchFamily="26" charset="0"/>
              </a:rPr>
              <a:t>So we need to consider the second option.</a:t>
            </a:r>
          </a:p>
          <a:p>
            <a:pPr marL="609600" indent="-609600">
              <a:lnSpc>
                <a:spcPct val="10000"/>
              </a:lnSpc>
              <a:buNone/>
            </a:pPr>
            <a:endParaRPr lang="en-US" dirty="0">
              <a:latin typeface="Helvetica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0B10B-63CA-401A-8AA8-E77C617F85E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Helvetica" pitchFamily="26" charset="0"/>
              </a:rPr>
              <a:t>How to Measure Efficiency?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24000"/>
            <a:ext cx="8226425" cy="457041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latin typeface="Helvetica" pitchFamily="26" charset="0"/>
              </a:rPr>
              <a:t>Asymptotic Algorithm Analysis</a:t>
            </a:r>
          </a:p>
          <a:p>
            <a:pPr marL="609600" indent="-609600">
              <a:lnSpc>
                <a:spcPct val="120000"/>
              </a:lnSpc>
              <a:buFontTx/>
              <a:buAutoNum type="arabicPeriod"/>
            </a:pPr>
            <a:endParaRPr lang="en-US" sz="1800" b="1" dirty="0">
              <a:latin typeface="Helvetica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sz="1800" b="1" dirty="0">
                <a:latin typeface="Helvetica" pitchFamily="26" charset="0"/>
              </a:rPr>
              <a:t>Critical resources: Running time and Space</a:t>
            </a:r>
          </a:p>
          <a:p>
            <a:pPr marL="609600" indent="-609600">
              <a:lnSpc>
                <a:spcPct val="120000"/>
              </a:lnSpc>
              <a:buNone/>
            </a:pPr>
            <a:endParaRPr lang="en-US" sz="1800" b="1" dirty="0">
              <a:latin typeface="Helvetica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sz="1800" b="1" dirty="0">
                <a:latin typeface="Helvetica" pitchFamily="26" charset="0"/>
              </a:rPr>
              <a:t>For most algorithms, running time depends on “size” of the input.</a:t>
            </a:r>
          </a:p>
          <a:p>
            <a:pPr marL="609600" indent="-609600">
              <a:lnSpc>
                <a:spcPct val="120000"/>
              </a:lnSpc>
              <a:buNone/>
            </a:pPr>
            <a:endParaRPr lang="en-US" sz="1800" b="1" dirty="0">
              <a:latin typeface="Helvetica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sz="1800" b="1" dirty="0">
                <a:latin typeface="Helvetica" pitchFamily="26" charset="0"/>
              </a:rPr>
              <a:t>We estimate the number of “basic operations” required by the algorithm to process an input of a certain “size”. </a:t>
            </a:r>
          </a:p>
          <a:p>
            <a:pPr marL="609600" indent="-609600">
              <a:lnSpc>
                <a:spcPct val="120000"/>
              </a:lnSpc>
              <a:buNone/>
            </a:pPr>
            <a:endParaRPr lang="en-US" sz="1800" b="1" dirty="0">
              <a:latin typeface="Helvetica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sz="1800" b="1" dirty="0">
                <a:latin typeface="Helvetica" pitchFamily="26" charset="0"/>
              </a:rPr>
              <a:t>Running time is expressed as T(</a:t>
            </a:r>
            <a:r>
              <a:rPr lang="en-US" sz="1800" b="1" i="1" dirty="0">
                <a:latin typeface="Helvetica" pitchFamily="26" charset="0"/>
              </a:rPr>
              <a:t>n</a:t>
            </a:r>
            <a:r>
              <a:rPr lang="en-US" sz="1800" b="1" dirty="0">
                <a:latin typeface="Helvetica" pitchFamily="26" charset="0"/>
              </a:rPr>
              <a:t>) for some function T on input size </a:t>
            </a:r>
            <a:r>
              <a:rPr lang="en-US" sz="1800" b="1" i="1" dirty="0">
                <a:latin typeface="Helvetica" pitchFamily="26" charset="0"/>
              </a:rPr>
              <a:t>n</a:t>
            </a:r>
            <a:r>
              <a:rPr lang="en-US" sz="1800" b="1" dirty="0">
                <a:latin typeface="Helvetica" pitchFamily="2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76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F0CA81-A9B3-4B82-8062-06C4D692FD8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Examples of Growth Rate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600201"/>
            <a:ext cx="8915400" cy="4568825"/>
          </a:xfrm>
        </p:spPr>
        <p:txBody>
          <a:bodyPr/>
          <a:lstStyle/>
          <a:p>
            <a:pPr marL="609600" indent="-609600">
              <a:lnSpc>
                <a:spcPct val="70000"/>
              </a:lnSpc>
              <a:buNone/>
            </a:pPr>
            <a:r>
              <a:rPr lang="en-US">
                <a:latin typeface="Helvetica" pitchFamily="26" charset="0"/>
              </a:rPr>
              <a:t>Example 1.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>
              <a:latin typeface="Helvetica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/** @return Position of largest value in "A“ */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static int largest(int[] A) {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  int currlarge = 0;  // Position of largest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  for (int i=1; i&lt;A.length; i++)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    if (A[currlarge] &lt; A[i])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       currlarge = i; // Remember pos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  return currlarge;   // Return largest pos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>
                <a:latin typeface="Courier New" pitchFamily="26" charset="0"/>
              </a:rPr>
              <a:t>}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sz="2400">
              <a:latin typeface="Helvetica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6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F0CA81-A9B3-4B82-8062-06C4D692FD8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Examples of Growth Rate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600201"/>
            <a:ext cx="8915400" cy="4568825"/>
          </a:xfrm>
        </p:spPr>
        <p:txBody>
          <a:bodyPr/>
          <a:lstStyle/>
          <a:p>
            <a:pPr marL="609600" indent="-609600">
              <a:lnSpc>
                <a:spcPct val="70000"/>
              </a:lnSpc>
              <a:buNone/>
            </a:pPr>
            <a:r>
              <a:rPr lang="en-US" dirty="0">
                <a:latin typeface="Helvetica" pitchFamily="26" charset="0"/>
              </a:rPr>
              <a:t>Example 1.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 dirty="0">
              <a:latin typeface="Helvetica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/** @return Position of largest value in "A“ */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static </a:t>
            </a:r>
            <a:r>
              <a:rPr lang="en-US" sz="2400" b="1" dirty="0" err="1">
                <a:latin typeface="Courier New" pitchFamily="26" charset="0"/>
              </a:rPr>
              <a:t>int</a:t>
            </a:r>
            <a:r>
              <a:rPr lang="en-US" sz="2400" b="1" dirty="0">
                <a:latin typeface="Courier New" pitchFamily="26" charset="0"/>
              </a:rPr>
              <a:t> largest(</a:t>
            </a:r>
            <a:r>
              <a:rPr lang="en-US" sz="2400" b="1" dirty="0" err="1">
                <a:latin typeface="Courier New" pitchFamily="26" charset="0"/>
              </a:rPr>
              <a:t>int</a:t>
            </a:r>
            <a:r>
              <a:rPr lang="en-US" sz="2400" b="1" dirty="0">
                <a:latin typeface="Courier New" pitchFamily="26" charset="0"/>
              </a:rPr>
              <a:t>[] A) {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</a:t>
            </a:r>
            <a:r>
              <a:rPr lang="en-US" sz="2400" b="1" dirty="0" err="1">
                <a:latin typeface="Courier New" pitchFamily="26" charset="0"/>
              </a:rPr>
              <a:t>int</a:t>
            </a:r>
            <a:r>
              <a:rPr lang="en-US" sz="2400" b="1" dirty="0">
                <a:latin typeface="Courier New" pitchFamily="26" charset="0"/>
              </a:rPr>
              <a:t> </a:t>
            </a:r>
            <a:r>
              <a:rPr lang="en-US" sz="2400" b="1" dirty="0" err="1">
                <a:latin typeface="Courier New" pitchFamily="26" charset="0"/>
              </a:rPr>
              <a:t>currlarge</a:t>
            </a:r>
            <a:r>
              <a:rPr lang="en-US" sz="2400" b="1" dirty="0">
                <a:latin typeface="Courier New" pitchFamily="26" charset="0"/>
              </a:rPr>
              <a:t> = 0;  // Position of largest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for (</a:t>
            </a:r>
            <a:r>
              <a:rPr lang="en-US" sz="2400" b="1" dirty="0" err="1">
                <a:latin typeface="Courier New" pitchFamily="26" charset="0"/>
              </a:rPr>
              <a:t>int</a:t>
            </a:r>
            <a:r>
              <a:rPr lang="en-US" sz="2400" b="1" dirty="0">
                <a:latin typeface="Courier New" pitchFamily="26" charset="0"/>
              </a:rPr>
              <a:t>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=1;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&lt;</a:t>
            </a:r>
            <a:r>
              <a:rPr lang="en-US" sz="2400" b="1" dirty="0" err="1">
                <a:latin typeface="Courier New" pitchFamily="26" charset="0"/>
              </a:rPr>
              <a:t>A.length</a:t>
            </a:r>
            <a:r>
              <a:rPr lang="en-US" sz="2400" b="1" dirty="0">
                <a:latin typeface="Courier New" pitchFamily="26" charset="0"/>
              </a:rPr>
              <a:t>;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++)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  if (A[</a:t>
            </a:r>
            <a:r>
              <a:rPr lang="en-US" sz="2400" b="1" dirty="0" err="1">
                <a:latin typeface="Courier New" pitchFamily="26" charset="0"/>
              </a:rPr>
              <a:t>currlarge</a:t>
            </a:r>
            <a:r>
              <a:rPr lang="en-US" sz="2400" b="1" dirty="0">
                <a:latin typeface="Courier New" pitchFamily="26" charset="0"/>
              </a:rPr>
              <a:t>] &lt; A[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])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     </a:t>
            </a:r>
            <a:r>
              <a:rPr lang="en-US" sz="2400" b="1" dirty="0" err="1">
                <a:latin typeface="Courier New" pitchFamily="26" charset="0"/>
              </a:rPr>
              <a:t>currlarge</a:t>
            </a:r>
            <a:r>
              <a:rPr lang="en-US" sz="2400" b="1" dirty="0">
                <a:latin typeface="Courier New" pitchFamily="26" charset="0"/>
              </a:rPr>
              <a:t> =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; // Remember pos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return </a:t>
            </a:r>
            <a:r>
              <a:rPr lang="en-US" sz="2400" b="1" dirty="0" err="1">
                <a:latin typeface="Courier New" pitchFamily="26" charset="0"/>
              </a:rPr>
              <a:t>currlarge</a:t>
            </a:r>
            <a:r>
              <a:rPr lang="en-US" sz="2400" b="1" dirty="0">
                <a:latin typeface="Courier New" pitchFamily="26" charset="0"/>
              </a:rPr>
              <a:t>;   // Return largest pos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}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sz="2400" dirty="0">
              <a:latin typeface="Helvetica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dirty="0">
                <a:latin typeface="Helvetica" pitchFamily="26" charset="0"/>
              </a:rPr>
              <a:t>We can deduce: T(n) = </a:t>
            </a:r>
            <a:r>
              <a:rPr lang="en-US" sz="2400" dirty="0" err="1">
                <a:latin typeface="Helvetica" pitchFamily="26" charset="0"/>
              </a:rPr>
              <a:t>cn</a:t>
            </a:r>
            <a:endParaRPr lang="en-US" sz="2400" dirty="0">
              <a:latin typeface="Helvetica" pitchFamily="26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181600" y="5486400"/>
            <a:ext cx="11430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77001" y="6019801"/>
            <a:ext cx="3047999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 is a constant in the sense that it is not dependent on n</a:t>
            </a:r>
          </a:p>
        </p:txBody>
      </p:sp>
    </p:spTree>
    <p:extLst>
      <p:ext uri="{BB962C8B-B14F-4D97-AF65-F5344CB8AC3E}">
        <p14:creationId xmlns:p14="http://schemas.microsoft.com/office/powerpoint/2010/main" val="2462546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3AB3A5-E6D3-48A7-9212-02465F29A8F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Examples (cont)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70000"/>
              </a:lnSpc>
              <a:buNone/>
            </a:pPr>
            <a:r>
              <a:rPr lang="en-US" dirty="0">
                <a:latin typeface="Helvetica" pitchFamily="26" charset="0"/>
              </a:rPr>
              <a:t>Example 2: Assignment statement.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dirty="0">
              <a:latin typeface="Helvetica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dirty="0">
                <a:latin typeface="Helvetica" pitchFamily="26" charset="0"/>
              </a:rPr>
              <a:t>We can say: T(n) = c_1</a:t>
            </a:r>
          </a:p>
          <a:p>
            <a:pPr marL="609600" indent="-609600">
              <a:lnSpc>
                <a:spcPct val="70000"/>
              </a:lnSpc>
              <a:buNone/>
            </a:pPr>
            <a:endParaRPr lang="en-US" dirty="0">
              <a:latin typeface="Helvetica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dirty="0">
                <a:latin typeface="Helvetica" pitchFamily="26" charset="0"/>
              </a:rPr>
              <a:t>Example 3:</a:t>
            </a:r>
          </a:p>
          <a:p>
            <a:pPr marL="609600" indent="-609600">
              <a:lnSpc>
                <a:spcPct val="30000"/>
              </a:lnSpc>
              <a:buNone/>
            </a:pPr>
            <a:endParaRPr lang="en-US" dirty="0">
              <a:latin typeface="Courier New" pitchFamily="26" charset="0"/>
            </a:endParaRP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sum = 0;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for (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=1;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&lt;=n; </a:t>
            </a:r>
            <a:r>
              <a:rPr lang="en-US" sz="2400" b="1" dirty="0" err="1">
                <a:latin typeface="Courier New" pitchFamily="26" charset="0"/>
              </a:rPr>
              <a:t>i</a:t>
            </a:r>
            <a:r>
              <a:rPr lang="en-US" sz="2400" b="1" dirty="0">
                <a:latin typeface="Courier New" pitchFamily="26" charset="0"/>
              </a:rPr>
              <a:t>++)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for (j=1; j&lt;n; j++)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    sum++;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}</a:t>
            </a:r>
          </a:p>
          <a:p>
            <a:pPr marL="609600" indent="-609600">
              <a:lnSpc>
                <a:spcPct val="70000"/>
              </a:lnSpc>
              <a:buNone/>
            </a:pPr>
            <a:r>
              <a:rPr lang="en-US" sz="2400" b="1" dirty="0">
                <a:latin typeface="Courier New" pitchFamily="26" charset="0"/>
              </a:rPr>
              <a:t>We can deduce: T(n) = c_2 n^2.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5708" y="3191470"/>
            <a:ext cx="4110038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ignore initializations or can assume these to be included within c_2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Increment/comparison of loop counters can be assumed to be included in c_2</a:t>
            </a:r>
          </a:p>
        </p:txBody>
      </p:sp>
    </p:spTree>
    <p:extLst>
      <p:ext uri="{BB962C8B-B14F-4D97-AF65-F5344CB8AC3E}">
        <p14:creationId xmlns:p14="http://schemas.microsoft.com/office/powerpoint/2010/main" val="16872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essence we are interested in the growth rate of a algorithm</a:t>
            </a:r>
          </a:p>
          <a:p>
            <a:r>
              <a:rPr lang="en-US" dirty="0"/>
              <a:t>Growth rate for an algorithm is the rate at which the cost of the algorithm grows as the size of its input grows.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2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3B133B-9BEC-47B2-8913-69F20A6A076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Growth Rate Graph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480156"/>
            <a:ext cx="7620000" cy="470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3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3B133B-9BEC-47B2-8913-69F20A6A076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Growth Rate Graph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480156"/>
            <a:ext cx="7620000" cy="4706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667" y="1495396"/>
            <a:ext cx="7143866" cy="471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3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400301"/>
            <a:ext cx="8860014" cy="305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3564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Best, Worst, Average Cases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37160" y="1347789"/>
            <a:ext cx="4617720" cy="5121275"/>
          </a:xfrm>
        </p:spPr>
        <p:txBody>
          <a:bodyPr>
            <a:noAutofit/>
          </a:bodyPr>
          <a:lstStyle/>
          <a:p>
            <a:r>
              <a:rPr lang="en-US" sz="3200" b="1" dirty="0"/>
              <a:t>largest()</a:t>
            </a:r>
            <a:r>
              <a:rPr lang="en-US" sz="3200" dirty="0"/>
              <a:t> always examines every array value. </a:t>
            </a:r>
          </a:p>
          <a:p>
            <a:pPr lvl="1"/>
            <a:r>
              <a:rPr lang="en-US" sz="2800" dirty="0"/>
              <a:t>This algorithm works on many inputs of a given size n. </a:t>
            </a:r>
          </a:p>
          <a:p>
            <a:pPr lvl="1"/>
            <a:r>
              <a:rPr lang="en-US" sz="2800" dirty="0"/>
              <a:t>no matter what array of size n that the algorithm looks at, its cost will always be the same</a:t>
            </a:r>
            <a:endParaRPr lang="en-US" sz="2800" dirty="0">
              <a:latin typeface="Helvetica" pitchFamily="26" charset="0"/>
            </a:endParaRPr>
          </a:p>
          <a:p>
            <a:pPr marL="609600" indent="-609600">
              <a:lnSpc>
                <a:spcPct val="20000"/>
              </a:lnSpc>
              <a:buNone/>
            </a:pPr>
            <a:endParaRPr lang="en-US" sz="3200" dirty="0">
              <a:latin typeface="Helvetica" pitchFamily="26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983480" y="1600201"/>
            <a:ext cx="7071360" cy="4525963"/>
          </a:xfrm>
        </p:spPr>
        <p:txBody>
          <a:bodyPr>
            <a:normAutofit fontScale="70000" lnSpcReduction="20000"/>
          </a:bodyPr>
          <a:lstStyle/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/** @return Position of largest value in "A“ */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static </a:t>
            </a:r>
            <a:r>
              <a:rPr lang="en-US" b="1" dirty="0" err="1">
                <a:latin typeface="Courier New" pitchFamily="26" charset="0"/>
              </a:rPr>
              <a:t>int</a:t>
            </a:r>
            <a:r>
              <a:rPr lang="en-US" b="1" dirty="0">
                <a:latin typeface="Courier New" pitchFamily="26" charset="0"/>
              </a:rPr>
              <a:t> largest(</a:t>
            </a:r>
            <a:r>
              <a:rPr lang="en-US" b="1" dirty="0" err="1">
                <a:latin typeface="Courier New" pitchFamily="26" charset="0"/>
              </a:rPr>
              <a:t>int</a:t>
            </a:r>
            <a:r>
              <a:rPr lang="en-US" b="1" dirty="0">
                <a:latin typeface="Courier New" pitchFamily="26" charset="0"/>
              </a:rPr>
              <a:t>[] A) {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  </a:t>
            </a:r>
            <a:r>
              <a:rPr lang="en-US" b="1" dirty="0" err="1">
                <a:latin typeface="Courier New" pitchFamily="26" charset="0"/>
              </a:rPr>
              <a:t>int</a:t>
            </a:r>
            <a:r>
              <a:rPr lang="en-US" b="1" dirty="0">
                <a:latin typeface="Courier New" pitchFamily="26" charset="0"/>
              </a:rPr>
              <a:t> </a:t>
            </a:r>
            <a:r>
              <a:rPr lang="en-US" b="1" dirty="0" err="1">
                <a:latin typeface="Courier New" pitchFamily="26" charset="0"/>
              </a:rPr>
              <a:t>currlarge</a:t>
            </a:r>
            <a:r>
              <a:rPr lang="en-US" b="1" dirty="0">
                <a:latin typeface="Courier New" pitchFamily="26" charset="0"/>
              </a:rPr>
              <a:t> = 0;  // Position of largest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  for (</a:t>
            </a:r>
            <a:r>
              <a:rPr lang="en-US" b="1" dirty="0" err="1">
                <a:latin typeface="Courier New" pitchFamily="26" charset="0"/>
              </a:rPr>
              <a:t>int</a:t>
            </a:r>
            <a:r>
              <a:rPr lang="en-US" b="1" dirty="0">
                <a:latin typeface="Courier New" pitchFamily="26" charset="0"/>
              </a:rPr>
              <a:t> </a:t>
            </a:r>
            <a:r>
              <a:rPr lang="en-US" b="1" dirty="0" err="1">
                <a:latin typeface="Courier New" pitchFamily="26" charset="0"/>
              </a:rPr>
              <a:t>i</a:t>
            </a:r>
            <a:r>
              <a:rPr lang="en-US" b="1" dirty="0">
                <a:latin typeface="Courier New" pitchFamily="26" charset="0"/>
              </a:rPr>
              <a:t>=1; </a:t>
            </a:r>
            <a:r>
              <a:rPr lang="en-US" b="1" dirty="0" err="1">
                <a:latin typeface="Courier New" pitchFamily="26" charset="0"/>
              </a:rPr>
              <a:t>i</a:t>
            </a:r>
            <a:r>
              <a:rPr lang="en-US" b="1" dirty="0">
                <a:latin typeface="Courier New" pitchFamily="26" charset="0"/>
              </a:rPr>
              <a:t>&lt;</a:t>
            </a:r>
            <a:r>
              <a:rPr lang="en-US" b="1" dirty="0" err="1">
                <a:latin typeface="Courier New" pitchFamily="26" charset="0"/>
              </a:rPr>
              <a:t>A.length</a:t>
            </a:r>
            <a:r>
              <a:rPr lang="en-US" b="1" dirty="0">
                <a:latin typeface="Courier New" pitchFamily="26" charset="0"/>
              </a:rPr>
              <a:t>; </a:t>
            </a:r>
            <a:r>
              <a:rPr lang="en-US" b="1" dirty="0" err="1">
                <a:latin typeface="Courier New" pitchFamily="26" charset="0"/>
              </a:rPr>
              <a:t>i</a:t>
            </a:r>
            <a:r>
              <a:rPr lang="en-US" b="1" dirty="0">
                <a:latin typeface="Courier New" pitchFamily="26" charset="0"/>
              </a:rPr>
              <a:t>++)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    if (A[</a:t>
            </a:r>
            <a:r>
              <a:rPr lang="en-US" b="1" dirty="0" err="1">
                <a:latin typeface="Courier New" pitchFamily="26" charset="0"/>
              </a:rPr>
              <a:t>currlarge</a:t>
            </a:r>
            <a:r>
              <a:rPr lang="en-US" b="1" dirty="0">
                <a:latin typeface="Courier New" pitchFamily="26" charset="0"/>
              </a:rPr>
              <a:t>] &lt; A[</a:t>
            </a:r>
            <a:r>
              <a:rPr lang="en-US" b="1" dirty="0" err="1">
                <a:latin typeface="Courier New" pitchFamily="26" charset="0"/>
              </a:rPr>
              <a:t>i</a:t>
            </a:r>
            <a:r>
              <a:rPr lang="en-US" b="1" dirty="0">
                <a:latin typeface="Courier New" pitchFamily="26" charset="0"/>
              </a:rPr>
              <a:t>])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       </a:t>
            </a:r>
            <a:r>
              <a:rPr lang="en-US" b="1" dirty="0" err="1">
                <a:latin typeface="Courier New" pitchFamily="26" charset="0"/>
              </a:rPr>
              <a:t>currlarge</a:t>
            </a:r>
            <a:r>
              <a:rPr lang="en-US" b="1" dirty="0">
                <a:latin typeface="Courier New" pitchFamily="26" charset="0"/>
              </a:rPr>
              <a:t> = </a:t>
            </a:r>
            <a:r>
              <a:rPr lang="en-US" b="1" dirty="0" err="1">
                <a:latin typeface="Courier New" pitchFamily="26" charset="0"/>
              </a:rPr>
              <a:t>i</a:t>
            </a:r>
            <a:r>
              <a:rPr lang="en-US" b="1" dirty="0">
                <a:latin typeface="Courier New" pitchFamily="26" charset="0"/>
              </a:rPr>
              <a:t>; // Remember </a:t>
            </a:r>
            <a:r>
              <a:rPr lang="en-US" b="1" dirty="0" err="1">
                <a:latin typeface="Courier New" pitchFamily="26" charset="0"/>
              </a:rPr>
              <a:t>pos</a:t>
            </a:r>
            <a:endParaRPr lang="en-US" b="1" dirty="0">
              <a:latin typeface="Courier New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  return </a:t>
            </a:r>
            <a:r>
              <a:rPr lang="en-US" b="1" dirty="0" err="1">
                <a:latin typeface="Courier New" pitchFamily="26" charset="0"/>
              </a:rPr>
              <a:t>currlarge</a:t>
            </a:r>
            <a:r>
              <a:rPr lang="en-US" b="1" dirty="0">
                <a:latin typeface="Courier New" pitchFamily="26" charset="0"/>
              </a:rPr>
              <a:t>;   // Return largest </a:t>
            </a:r>
            <a:r>
              <a:rPr lang="en-US" b="1" dirty="0" err="1">
                <a:latin typeface="Courier New" pitchFamily="26" charset="0"/>
              </a:rPr>
              <a:t>pos</a:t>
            </a:r>
            <a:endParaRPr lang="en-US" b="1" dirty="0">
              <a:latin typeface="Courier New" pitchFamily="26" charset="0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en-US" b="1" dirty="0">
                <a:latin typeface="Courier New" pitchFamily="26" charset="0"/>
              </a:rPr>
              <a:t>}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9C8EB2-29AA-4B26-B554-1FD5023DD2B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51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Best, Worst, Average Cases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9120" y="1570990"/>
            <a:ext cx="11155680" cy="50431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Consider a slightly different problem but a similar algorithm:</a:t>
            </a:r>
          </a:p>
          <a:p>
            <a:r>
              <a:rPr lang="en-US" sz="3200" dirty="0"/>
              <a:t>Search for K in an array of n integers:</a:t>
            </a:r>
          </a:p>
          <a:p>
            <a:r>
              <a:rPr lang="en-US" sz="3200" dirty="0"/>
              <a:t>Sequential Search Algorithm: Begin at first element in array and look at each element in turn until K is found (assume K appears only once for now)</a:t>
            </a:r>
          </a:p>
          <a:p>
            <a:r>
              <a:rPr lang="en-US" sz="3200" dirty="0"/>
              <a:t>Not all inputs of a given size will take the same time to run now.</a:t>
            </a:r>
          </a:p>
          <a:p>
            <a:pPr lvl="1"/>
            <a:r>
              <a:rPr lang="en-US" sz="2800" dirty="0"/>
              <a:t>Unlike large()</a:t>
            </a:r>
          </a:p>
          <a:p>
            <a:r>
              <a:rPr lang="en-US" sz="3200" dirty="0"/>
              <a:t>Now the question comes, what are the Best, Worst and Average cases?</a:t>
            </a:r>
          </a:p>
          <a:p>
            <a:endParaRPr lang="en-US" sz="3200" dirty="0"/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9C8EB2-29AA-4B26-B554-1FD5023DD2B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1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48494" y="0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pitchFamily="26" charset="0"/>
              </a:rPr>
              <a:t>Best, Worst, Average Cases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62200" y="1219200"/>
            <a:ext cx="7543800" cy="5638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Sequential Search Algorithm: Begin at first element in array and look at each element in turn until K is found (assume K appears only once for now)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Best case: T(n) = 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Worst case: T(n) = </a:t>
            </a:r>
            <a:r>
              <a:rPr lang="en-US" dirty="0" err="1"/>
              <a:t>cn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Average case: T(n) = c n/2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9C8EB2-29AA-4B26-B554-1FD5023DD2B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615894" y="2959457"/>
            <a:ext cx="336630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When the first element is in fact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5894" y="3513455"/>
            <a:ext cx="407521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When the last element is K or it is absent.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252" y="4380904"/>
            <a:ext cx="602932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run it many times on many different arrays of size </a:t>
            </a:r>
            <a:r>
              <a:rPr lang="en-US" i="1" dirty="0"/>
              <a:t>n</a:t>
            </a:r>
            <a:r>
              <a:rPr lang="en-US" dirty="0"/>
              <a:t>, </a:t>
            </a:r>
          </a:p>
          <a:p>
            <a:r>
              <a:rPr lang="en-US" dirty="0"/>
              <a:t>or search for many different values of </a:t>
            </a:r>
            <a:r>
              <a:rPr lang="en-US" i="1" dirty="0"/>
              <a:t>K </a:t>
            </a:r>
            <a:r>
              <a:rPr lang="en-US" dirty="0"/>
              <a:t>within the same array, </a:t>
            </a:r>
          </a:p>
          <a:p>
            <a:r>
              <a:rPr lang="en-US" dirty="0"/>
              <a:t>=&gt; On average, the algorithm examines about </a:t>
            </a:r>
            <a:r>
              <a:rPr lang="en-US" i="1" dirty="0"/>
              <a:t>n/</a:t>
            </a:r>
            <a:r>
              <a:rPr lang="en-US" dirty="0"/>
              <a:t>2 values. </a:t>
            </a:r>
          </a:p>
        </p:txBody>
      </p:sp>
    </p:spTree>
    <p:extLst>
      <p:ext uri="{BB962C8B-B14F-4D97-AF65-F5344CB8AC3E}">
        <p14:creationId xmlns:p14="http://schemas.microsoft.com/office/powerpoint/2010/main" val="226121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92ADEA-59B0-4ACD-89CC-8E8BE751452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4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26" charset="0"/>
              </a:rPr>
              <a:t>Which Analysis to Use?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4" y="1598613"/>
            <a:ext cx="8226425" cy="4570412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>
                <a:latin typeface="Helvetica" pitchFamily="26" charset="0"/>
              </a:rPr>
              <a:t>While average time appears to be the fairest measure, it may be difficult to determine.</a:t>
            </a:r>
          </a:p>
          <a:p>
            <a:pPr marL="609600" indent="-609600">
              <a:buNone/>
            </a:pPr>
            <a:endParaRPr lang="en-US" dirty="0">
              <a:latin typeface="Helvetica" pitchFamily="26" charset="0"/>
            </a:endParaRPr>
          </a:p>
          <a:p>
            <a:pPr marL="609600" indent="-609600">
              <a:buNone/>
            </a:pPr>
            <a:r>
              <a:rPr lang="en-US" dirty="0">
                <a:latin typeface="Helvetica" pitchFamily="26" charset="0"/>
              </a:rPr>
              <a:t>For real-time application, the worst case time is the most important.</a:t>
            </a:r>
          </a:p>
          <a:p>
            <a:pPr marL="609600" indent="-609600">
              <a:buNone/>
            </a:pPr>
            <a:endParaRPr lang="en-US" dirty="0">
              <a:latin typeface="Helvetica" pitchFamily="2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227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36" y="-25293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Faster Computer or Faster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45136" y="6356350"/>
            <a:ext cx="2743200" cy="365125"/>
          </a:xfrm>
        </p:spPr>
        <p:txBody>
          <a:bodyPr/>
          <a:lstStyle/>
          <a:p>
            <a:fld id="{5993D3EC-A54F-4015-B37A-DAFE3575B37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-51774" y="812787"/>
            <a:ext cx="8229600" cy="182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Old PC can do 10K basic operations/s</a:t>
            </a:r>
          </a:p>
          <a:p>
            <a:r>
              <a:rPr lang="en-US" dirty="0"/>
              <a:t>New PC is 10x faster (i.e., 100K basic ops/s)</a:t>
            </a:r>
          </a:p>
          <a:p>
            <a:r>
              <a:rPr lang="en-US" dirty="0"/>
              <a:t>N (N’)=max input size can be handled in a sec in old (new) PC</a:t>
            </a:r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39511"/>
              </p:ext>
            </p:extLst>
          </p:nvPr>
        </p:nvGraphicFramePr>
        <p:xfrm>
          <a:off x="29918" y="2460178"/>
          <a:ext cx="7742482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128">
                  <a:extLst>
                    <a:ext uri="{9D8B030D-6E8A-4147-A177-3AD203B41FA5}">
                      <a16:colId xmlns:a16="http://schemas.microsoft.com/office/drawing/2014/main" val="4165829701"/>
                    </a:ext>
                  </a:extLst>
                </a:gridCol>
                <a:gridCol w="1663065">
                  <a:extLst>
                    <a:ext uri="{9D8B030D-6E8A-4147-A177-3AD203B41FA5}">
                      <a16:colId xmlns:a16="http://schemas.microsoft.com/office/drawing/2014/main" val="1735630481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1999292609"/>
                    </a:ext>
                  </a:extLst>
                </a:gridCol>
                <a:gridCol w="1905952">
                  <a:extLst>
                    <a:ext uri="{9D8B030D-6E8A-4147-A177-3AD203B41FA5}">
                      <a16:colId xmlns:a16="http://schemas.microsoft.com/office/drawing/2014/main" val="3078710263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2948917634"/>
                    </a:ext>
                  </a:extLst>
                </a:gridCol>
                <a:gridCol w="1208333">
                  <a:extLst>
                    <a:ext uri="{9D8B030D-6E8A-4147-A177-3AD203B41FA5}">
                      <a16:colId xmlns:a16="http://schemas.microsoft.com/office/drawing/2014/main" val="62545708"/>
                    </a:ext>
                  </a:extLst>
                </a:gridCol>
              </a:tblGrid>
              <a:tr h="3095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Calculate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Calculate 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N’/N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77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10n = 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7513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20n=10000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5447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5n log 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5n log n=10000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5n log 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7.368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43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2n^2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2n^2=10000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70.71068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2n^2 =100000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223.6068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3.162278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7363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3n^2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3n^2=10000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57.73503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3n^2 =100000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182.5742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3.162278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06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4n^2=10000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4n^2 =100000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158.1139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3.162278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453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4n^3=10000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13.57209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4n^3 =100000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29.24018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2.154435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8097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2^n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2^n=10000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13.28771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2^n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16.60964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612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3^n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3^n=10000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8.383613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3^n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10.47952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719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4^n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4^n=10000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6.643856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4^n = 100000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8.30482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428628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45621" y="635387"/>
            <a:ext cx="3607529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the algorithm’s growth rate is greater than </a:t>
            </a:r>
            <a:r>
              <a:rPr lang="en-US" dirty="0" err="1"/>
              <a:t>cn</a:t>
            </a:r>
            <a:r>
              <a:rPr lang="en-US" dirty="0"/>
              <a:t>, such as c1n^2, then you will not be able to do a problem ten times the size in the same amount of time on a machine that is ten times faster.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7771" y="5449681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N + log_2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0452" y="3244073"/>
            <a:ext cx="341179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Constant factors never affect the relative improvement gained by a faster computer; it only affect the absolute size.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7729195" y="2872244"/>
            <a:ext cx="214424" cy="69317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7739149" y="3982513"/>
            <a:ext cx="204470" cy="109568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824419" y="460050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10</a:t>
            </a:r>
            <a:r>
              <a:rPr lang="en-US" dirty="0"/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5210" y="2829472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10</a:t>
            </a:r>
            <a:r>
              <a:rPr lang="en-US" dirty="0"/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1826" y="507527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10^{1/3}</a:t>
            </a:r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940" y="5830915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N + log_3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6492" y="6153122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N’ 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N + log_4 10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9445575" y="5044544"/>
            <a:ext cx="2650085" cy="1474453"/>
            <a:chOff x="9445575" y="5044544"/>
            <a:chExt cx="2650085" cy="1474453"/>
          </a:xfrm>
        </p:grpSpPr>
        <p:grpSp>
          <p:nvGrpSpPr>
            <p:cNvPr id="31" name="Group 30"/>
            <p:cNvGrpSpPr/>
            <p:nvPr/>
          </p:nvGrpSpPr>
          <p:grpSpPr>
            <a:xfrm>
              <a:off x="9445575" y="5444602"/>
              <a:ext cx="2650085" cy="1074395"/>
              <a:chOff x="9445575" y="5444602"/>
              <a:chExt cx="2650085" cy="1074395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9445575" y="5444602"/>
                <a:ext cx="2650084" cy="382856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N’ </a:t>
                </a:r>
                <a:r>
                  <a:rPr lang="en-US" dirty="0">
                    <a:solidFill>
                      <a:schemeClr val="bg2"/>
                    </a:solidFill>
                    <a:sym typeface="Symbol" panose="05050102010706020507" pitchFamily="18" charset="2"/>
                  </a:rPr>
                  <a:t></a:t>
                </a:r>
                <a:r>
                  <a:rPr lang="en-US" dirty="0">
                    <a:solidFill>
                      <a:schemeClr val="bg2"/>
                    </a:solidFill>
                  </a:rPr>
                  <a:t> N + log_2 100 = 19.93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9445576" y="5792450"/>
                <a:ext cx="2650084" cy="369332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N’ </a:t>
                </a:r>
                <a:r>
                  <a:rPr lang="en-US" dirty="0">
                    <a:solidFill>
                      <a:schemeClr val="bg2"/>
                    </a:solidFill>
                    <a:sym typeface="Symbol" panose="05050102010706020507" pitchFamily="18" charset="2"/>
                  </a:rPr>
                  <a:t></a:t>
                </a:r>
                <a:r>
                  <a:rPr lang="en-US" dirty="0">
                    <a:solidFill>
                      <a:schemeClr val="bg2"/>
                    </a:solidFill>
                  </a:rPr>
                  <a:t> N + log_3 100 = 12.58 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9445575" y="6149665"/>
                <a:ext cx="2650084" cy="369332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N’ </a:t>
                </a:r>
                <a:r>
                  <a:rPr lang="en-US" dirty="0">
                    <a:solidFill>
                      <a:schemeClr val="bg2"/>
                    </a:solidFill>
                    <a:sym typeface="Symbol" panose="05050102010706020507" pitchFamily="18" charset="2"/>
                  </a:rPr>
                  <a:t></a:t>
                </a:r>
                <a:r>
                  <a:rPr lang="en-US" dirty="0">
                    <a:solidFill>
                      <a:schemeClr val="bg2"/>
                    </a:solidFill>
                  </a:rPr>
                  <a:t> N + log_4 100 = 9.97  </a:t>
                </a: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445575" y="5044544"/>
              <a:ext cx="2600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a machine 100x faster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4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20" grpId="0"/>
      <p:bldP spid="21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1926</Words>
  <Application>Microsoft Office PowerPoint</Application>
  <PresentationFormat>Widescreen</PresentationFormat>
  <Paragraphs>273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Helvetica</vt:lpstr>
      <vt:lpstr>Office Theme</vt:lpstr>
      <vt:lpstr>(Algorithm) Analysis</vt:lpstr>
      <vt:lpstr>Algorithm Efficiency</vt:lpstr>
      <vt:lpstr>Algorithm Efficiency (cont)</vt:lpstr>
      <vt:lpstr>How to Measure Efficiency?</vt:lpstr>
      <vt:lpstr>How to Measure Efficiency?</vt:lpstr>
      <vt:lpstr>How to Measure Efficiency?</vt:lpstr>
      <vt:lpstr>How to Measure Efficiency?</vt:lpstr>
      <vt:lpstr>Examples of Growth Rate</vt:lpstr>
      <vt:lpstr>Examples of Growth Rate</vt:lpstr>
      <vt:lpstr>Examples (cont)</vt:lpstr>
      <vt:lpstr>Growth Rate</vt:lpstr>
      <vt:lpstr>Growth Rate Graph</vt:lpstr>
      <vt:lpstr>Growth Rate Graph</vt:lpstr>
      <vt:lpstr>Growth Rate Table</vt:lpstr>
      <vt:lpstr>Best, Worst, Average Cases</vt:lpstr>
      <vt:lpstr>Best, Worst, Average Cases</vt:lpstr>
      <vt:lpstr>Best, Worst, Average Cases</vt:lpstr>
      <vt:lpstr>Which Analysis to Use?</vt:lpstr>
      <vt:lpstr>Faster Computer or Faster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Efficiency</dc:title>
  <dc:creator>Sara Nowreen</dc:creator>
  <cp:lastModifiedBy>2005045 - Prithu Anan</cp:lastModifiedBy>
  <cp:revision>66</cp:revision>
  <dcterms:created xsi:type="dcterms:W3CDTF">2021-11-14T16:43:55Z</dcterms:created>
  <dcterms:modified xsi:type="dcterms:W3CDTF">2022-11-25T13:18:18Z</dcterms:modified>
</cp:coreProperties>
</file>