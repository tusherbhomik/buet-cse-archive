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57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96" r:id="rId11"/>
    <p:sldId id="289" r:id="rId12"/>
    <p:sldId id="290" r:id="rId13"/>
    <p:sldId id="291" r:id="rId14"/>
    <p:sldId id="292" r:id="rId15"/>
    <p:sldId id="293" r:id="rId16"/>
    <p:sldId id="29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131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C709E-49C7-471B-8690-233A750113D0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300921-1AEB-4668-A863-59A9421F452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4E9CAB-3968-405E-AD92-B23B21BB9513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458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8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CA" dirty="0" smtClean="0"/>
              <a:t>These are </a:t>
            </a:r>
            <a:r>
              <a:rPr lang="en-CA" smtClean="0"/>
              <a:t>not from the 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03D88B-E664-4431-A5A3-3F091FE8B1C4}" type="slidenum">
              <a:rPr lang="en-CA" smtClean="0"/>
              <a:pPr>
                <a:defRPr/>
              </a:pPr>
              <a:t>3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A6F80C6A-2D28-456C-87F1-7B0D48A49EE7}" type="slidenum">
              <a:rPr lang="en-CA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4</a:t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FD2E647-2F9B-43A7-90CA-74DABFB5D837}" type="slidenum">
              <a:rPr lang="en-CA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5854A6-9E1A-421E-BBEE-0A60C8491AF1}" type="slidenum">
              <a:rPr lang="en-CA" smtClean="0"/>
              <a:pPr>
                <a:defRPr/>
              </a:pPr>
              <a:t>6</a:t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4DBF39-AA02-468F-90EE-8E85906D718A}" type="slidenum">
              <a:rPr lang="en-CA" smtClean="0"/>
              <a:pPr>
                <a:defRPr/>
              </a:pPr>
              <a:t>7</a:t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25CEC1-F60E-487C-ADE1-7603EFFF5AF8}" type="slidenum">
              <a:rPr lang="en-CA" smtClean="0"/>
              <a:pPr>
                <a:defRPr/>
              </a:pPr>
              <a:t>8</a:t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897BABD-FA2E-491B-88DE-C05E5A4286B5}" type="slidenum">
              <a:rPr lang="en-CA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lang="en-CA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06" tIns="48254" rIns="96506" bIns="48254" anchor="b"/>
          <a:lstStyle>
            <a:lvl1pPr defTabSz="965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25DD4525-4025-430D-98BC-117A28AE1ADA}" type="slidenum">
              <a:rPr lang="en-US" altLang="en-US" sz="1300">
                <a:latin typeface="Arial" panose="020B0604020202020204" pitchFamily="34" charset="0"/>
                <a:ea typeface="ＭＳ Ｐゴシック" panose="020B0600070205080204" pitchFamily="34" charset="-128"/>
              </a:rPr>
              <a:pPr algn="r" eaLnBrk="1" hangingPunct="1"/>
              <a:t>10</a:t>
            </a:fld>
            <a:endParaRPr lang="en-US" altLang="en-US" sz="13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0250" y="4554538"/>
            <a:ext cx="5842000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06" rIns="96506"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471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Started on 14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7E917-6D97-4FA4-9E27-606C7A8A36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CSE 203: Data Structures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4: Elementary Data Structures- Queue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elephone que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829" y="2286000"/>
            <a:ext cx="2409825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452519E-B9EB-427C-83A4-66E1765B440A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Queues</a:t>
            </a:r>
          </a:p>
        </p:txBody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279525"/>
            <a:ext cx="8226425" cy="45720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FIFO: First in, First Out</a:t>
            </a:r>
          </a:p>
          <a:p>
            <a:pPr>
              <a:lnSpc>
                <a:spcPct val="50000"/>
              </a:lnSpc>
              <a:buFontTx/>
              <a:buNone/>
            </a:pPr>
            <a:endParaRPr lang="en-US" dirty="0" smtClean="0">
              <a:latin typeface="Helvetica" pitchFamily="26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Restricted form of list: Insert at one end, remove from the other.</a:t>
            </a:r>
          </a:p>
          <a:p>
            <a:pPr>
              <a:lnSpc>
                <a:spcPct val="50000"/>
              </a:lnSpc>
              <a:buFontTx/>
              <a:buNone/>
            </a:pPr>
            <a:endParaRPr lang="en-US" dirty="0" smtClean="0">
              <a:latin typeface="Helvetica" pitchFamily="26" charset="0"/>
            </a:endParaRPr>
          </a:p>
          <a:p>
            <a:pPr>
              <a:lnSpc>
                <a:spcPct val="6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Notation:</a:t>
            </a:r>
          </a:p>
          <a:p>
            <a:pPr>
              <a:lnSpc>
                <a:spcPct val="60000"/>
              </a:lnSpc>
            </a:pPr>
            <a:r>
              <a:rPr lang="en-US" sz="2800" dirty="0" smtClean="0">
                <a:latin typeface="Helvetica" pitchFamily="26" charset="0"/>
              </a:rPr>
              <a:t>Insert: </a:t>
            </a:r>
            <a:r>
              <a:rPr lang="en-US" sz="2800" dirty="0" err="1" smtClean="0">
                <a:latin typeface="Helvetica" pitchFamily="26" charset="0"/>
              </a:rPr>
              <a:t>Enqueue</a:t>
            </a:r>
            <a:endParaRPr lang="en-US" sz="2800" dirty="0" smtClean="0">
              <a:latin typeface="Helvetica" pitchFamily="26" charset="0"/>
            </a:endParaRPr>
          </a:p>
          <a:p>
            <a:pPr>
              <a:lnSpc>
                <a:spcPct val="60000"/>
              </a:lnSpc>
            </a:pPr>
            <a:r>
              <a:rPr lang="en-US" sz="2800" dirty="0" smtClean="0">
                <a:latin typeface="Helvetica" pitchFamily="26" charset="0"/>
              </a:rPr>
              <a:t>Delete: </a:t>
            </a:r>
            <a:r>
              <a:rPr lang="en-US" sz="2800" dirty="0" err="1" smtClean="0">
                <a:latin typeface="Helvetica" pitchFamily="26" charset="0"/>
              </a:rPr>
              <a:t>Dequeue</a:t>
            </a:r>
            <a:endParaRPr lang="en-US" sz="2800" dirty="0" smtClean="0">
              <a:latin typeface="Helvetica" pitchFamily="26" charset="0"/>
            </a:endParaRPr>
          </a:p>
          <a:p>
            <a:pPr>
              <a:lnSpc>
                <a:spcPct val="60000"/>
              </a:lnSpc>
            </a:pPr>
            <a:r>
              <a:rPr lang="en-US" sz="2800" dirty="0" smtClean="0">
                <a:latin typeface="Helvetica" pitchFamily="26" charset="0"/>
              </a:rPr>
              <a:t>First element: Front</a:t>
            </a:r>
          </a:p>
          <a:p>
            <a:pPr>
              <a:lnSpc>
                <a:spcPct val="60000"/>
              </a:lnSpc>
            </a:pPr>
            <a:r>
              <a:rPr lang="en-US" sz="2800" dirty="0" smtClean="0">
                <a:latin typeface="Helvetica" pitchFamily="26" charset="0"/>
              </a:rPr>
              <a:t>Last element: Rear</a:t>
            </a:r>
          </a:p>
        </p:txBody>
      </p:sp>
      <p:pic>
        <p:nvPicPr>
          <p:cNvPr id="7" name="Picture 6" descr="http://qph.is.quoracdn.net/main-qimg-43f1780537b6f653cc76a29de268365c?convert_to_webp=tru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382" y="4552950"/>
            <a:ext cx="2586038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7" descr="dub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2250" y="2925763"/>
            <a:ext cx="6392863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Increasing Capacity</a:t>
            </a:r>
          </a:p>
        </p:txBody>
      </p:sp>
      <p:sp>
        <p:nvSpPr>
          <p:cNvPr id="32772" name="Rectangle 3"/>
          <p:cNvSpPr>
            <a:spLocks noGrp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400" dirty="0" smtClean="0">
                <a:latin typeface="Arial" charset="0"/>
                <a:cs typeface="Arial" charset="0"/>
              </a:rPr>
              <a:t>	Unfortunately, if we choose to increase the capacity, this becomes slightly more complex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A direct copy does not work: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6" descr="dub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2250" y="2925763"/>
            <a:ext cx="6389688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Increasing Capacity</a:t>
            </a:r>
          </a:p>
        </p:txBody>
      </p:sp>
      <p:sp>
        <p:nvSpPr>
          <p:cNvPr id="33796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566863"/>
            <a:ext cx="8229600" cy="4525962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1800" dirty="0" smtClean="0">
                <a:latin typeface="Arial" charset="0"/>
                <a:cs typeface="Arial" charset="0"/>
              </a:rPr>
              <a:t>	</a:t>
            </a:r>
            <a:r>
              <a:rPr lang="en-US" sz="2400" dirty="0" smtClean="0">
                <a:latin typeface="Arial" charset="0"/>
                <a:cs typeface="Arial" charset="0"/>
              </a:rPr>
              <a:t>There are two solutions: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Move those beyond the front to the end of the array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The next push would then occur in position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mtClean="0">
                <a:latin typeface="Arial" charset="0"/>
                <a:cs typeface="Arial" charset="0"/>
              </a:rPr>
              <a:t>Increasing Capacity</a:t>
            </a:r>
          </a:p>
        </p:txBody>
      </p:sp>
      <p:sp>
        <p:nvSpPr>
          <p:cNvPr id="34819" name="Rectangle 3"/>
          <p:cNvSpPr>
            <a:spLocks noGrp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400" dirty="0" smtClean="0">
                <a:latin typeface="Arial" charset="0"/>
                <a:cs typeface="Arial" charset="0"/>
              </a:rPr>
              <a:t>	An alternate solution is normalization: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Map the front back at position 0</a:t>
            </a:r>
          </a:p>
          <a:p>
            <a:pPr lvl="1"/>
            <a:r>
              <a:rPr lang="en-US" sz="2000" dirty="0" smtClean="0">
                <a:latin typeface="Arial" charset="0"/>
                <a:cs typeface="Arial" charset="0"/>
              </a:rPr>
              <a:t>The next push would then occur in position 16</a:t>
            </a:r>
          </a:p>
        </p:txBody>
      </p:sp>
      <p:pic>
        <p:nvPicPr>
          <p:cNvPr id="34820" name="Picture 5" descr="dub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2250" y="2925763"/>
            <a:ext cx="6392863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charset="0"/>
                <a:cs typeface="Arial" charset="0"/>
              </a:rPr>
              <a:t>Abstract </a:t>
            </a:r>
            <a:r>
              <a:rPr lang="en-US" altLang="en-US" dirty="0" err="1" smtClean="0">
                <a:latin typeface="Arial" charset="0"/>
                <a:cs typeface="Arial" charset="0"/>
              </a:rPr>
              <a:t>Deque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en-US" sz="2800" dirty="0" smtClean="0">
                <a:latin typeface="Arial" charset="0"/>
                <a:cs typeface="Arial" charset="0"/>
              </a:rPr>
              <a:t>	An Abstract </a:t>
            </a:r>
            <a:r>
              <a:rPr lang="en-US" altLang="en-US" sz="2800" dirty="0" err="1" smtClean="0">
                <a:latin typeface="Arial" charset="0"/>
                <a:cs typeface="Arial" charset="0"/>
              </a:rPr>
              <a:t>Deque</a:t>
            </a:r>
            <a:r>
              <a:rPr lang="en-US" altLang="en-US" sz="2800" dirty="0" smtClean="0">
                <a:latin typeface="Arial" charset="0"/>
                <a:cs typeface="Arial" charset="0"/>
              </a:rPr>
              <a:t> (</a:t>
            </a:r>
            <a:r>
              <a:rPr lang="en-US" altLang="en-US" sz="2800" dirty="0" err="1" smtClean="0">
                <a:latin typeface="Arial" charset="0"/>
                <a:cs typeface="Arial" charset="0"/>
              </a:rPr>
              <a:t>Deque</a:t>
            </a:r>
            <a:r>
              <a:rPr lang="en-US" altLang="en-US" sz="2800" dirty="0" smtClean="0">
                <a:latin typeface="Arial" charset="0"/>
                <a:cs typeface="Arial" charset="0"/>
              </a:rPr>
              <a:t> ADT) is an abstract data structure that Allows insertions at and removal from both the front and back of the </a:t>
            </a:r>
            <a:r>
              <a:rPr lang="en-US" altLang="en-US" sz="2800" dirty="0" err="1" smtClean="0">
                <a:latin typeface="Arial" charset="0"/>
                <a:cs typeface="Arial" charset="0"/>
              </a:rPr>
              <a:t>deque</a:t>
            </a:r>
            <a:endParaRPr lang="en-US" altLang="en-US" sz="2400" dirty="0" smtClean="0">
              <a:latin typeface="Arial" charset="0"/>
              <a:cs typeface="Arial" charset="0"/>
            </a:endParaRPr>
          </a:p>
        </p:txBody>
      </p:sp>
      <p:pic>
        <p:nvPicPr>
          <p:cNvPr id="6148" name="Picture 5" descr="C:\Users\dwharder\Desktop\deq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3929063"/>
            <a:ext cx="5572125" cy="108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charset="0"/>
                <a:cs typeface="Arial" charset="0"/>
              </a:rPr>
              <a:t>Abstract </a:t>
            </a:r>
            <a:r>
              <a:rPr lang="en-US" altLang="en-US" dirty="0" err="1" smtClean="0">
                <a:latin typeface="Arial" charset="0"/>
                <a:cs typeface="Arial" charset="0"/>
              </a:rPr>
              <a:t>Deque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The operations will be called</a:t>
            </a:r>
          </a:p>
          <a:p>
            <a:pPr algn="ctr">
              <a:buFont typeface="Arial" charset="0"/>
              <a:buNone/>
            </a:pPr>
            <a:r>
              <a:rPr lang="en-US" altLang="en-US" dirty="0" smtClean="0">
                <a:latin typeface="Consolas" pitchFamily="49" charset="0"/>
                <a:cs typeface="Arial" charset="0"/>
              </a:rPr>
              <a:t>front     back</a:t>
            </a:r>
          </a:p>
          <a:p>
            <a:pPr algn="ctr">
              <a:buFont typeface="Arial" charset="0"/>
              <a:buNone/>
            </a:pPr>
            <a:r>
              <a:rPr lang="en-US" altLang="en-US" dirty="0" err="1" smtClean="0">
                <a:latin typeface="Consolas" pitchFamily="49" charset="0"/>
                <a:cs typeface="Arial" charset="0"/>
              </a:rPr>
              <a:t>push_front</a:t>
            </a:r>
            <a:r>
              <a:rPr lang="en-US" altLang="en-US" dirty="0" smtClean="0">
                <a:latin typeface="Consolas" pitchFamily="49" charset="0"/>
                <a:cs typeface="Arial" charset="0"/>
              </a:rPr>
              <a:t>     </a:t>
            </a:r>
            <a:r>
              <a:rPr lang="en-US" altLang="en-US" dirty="0" err="1" smtClean="0">
                <a:latin typeface="Consolas" pitchFamily="49" charset="0"/>
                <a:cs typeface="Arial" charset="0"/>
              </a:rPr>
              <a:t>push_back</a:t>
            </a:r>
            <a:endParaRPr lang="en-US" altLang="en-US" dirty="0" smtClean="0">
              <a:latin typeface="Consolas" pitchFamily="49" charset="0"/>
              <a:cs typeface="Arial" charset="0"/>
            </a:endParaRPr>
          </a:p>
          <a:p>
            <a:pPr algn="ctr">
              <a:buFont typeface="Arial" charset="0"/>
              <a:buNone/>
            </a:pPr>
            <a:r>
              <a:rPr lang="en-US" altLang="en-US" dirty="0" err="1" smtClean="0">
                <a:latin typeface="Consolas" pitchFamily="49" charset="0"/>
                <a:cs typeface="Arial" charset="0"/>
              </a:rPr>
              <a:t>pop_front</a:t>
            </a:r>
            <a:r>
              <a:rPr lang="en-US" altLang="en-US" dirty="0" smtClean="0">
                <a:latin typeface="Consolas" pitchFamily="49" charset="0"/>
                <a:cs typeface="Arial" charset="0"/>
              </a:rPr>
              <a:t>     </a:t>
            </a:r>
            <a:r>
              <a:rPr lang="en-US" altLang="en-US" dirty="0" err="1" smtClean="0">
                <a:latin typeface="Consolas" pitchFamily="49" charset="0"/>
                <a:cs typeface="Arial" charset="0"/>
              </a:rPr>
              <a:t>pop_back</a:t>
            </a:r>
            <a:endParaRPr lang="en-US" altLang="en-US" dirty="0" smtClean="0">
              <a:latin typeface="Consolas" pitchFamily="49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There are four errors associated with this abstract data type: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It is an undefined operation to access or pop from an empty </a:t>
            </a:r>
            <a:r>
              <a:rPr lang="en-US" altLang="en-US" dirty="0" err="1" smtClean="0">
                <a:latin typeface="Arial" charset="0"/>
                <a:cs typeface="Arial" charset="0"/>
              </a:rPr>
              <a:t>deque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Applications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Useful as a general-purpose tool: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Can be used as either a queue or a stack</a:t>
            </a:r>
          </a:p>
          <a:p>
            <a:pPr>
              <a:buFont typeface="Arial" charset="0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0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Implementations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implementations are clear: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We must use either a doubly linked list or a circular array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E917-6D97-4FA4-9E27-606C7A8A367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3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Priority Queues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600200"/>
            <a:ext cx="8435975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 smtClean="0"/>
              <a:t>A queue that is ordered according to some priority value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 smtClean="0">
                <a:solidFill>
                  <a:schemeClr val="folHlink"/>
                </a:solidFill>
              </a:rPr>
              <a:t>    </a:t>
            </a:r>
            <a:r>
              <a:rPr lang="en-US" altLang="en-US" sz="2800" u="sng" dirty="0" smtClean="0">
                <a:solidFill>
                  <a:schemeClr val="folHlink"/>
                </a:solidFill>
              </a:rPr>
              <a:t>Standard Queue</a:t>
            </a:r>
            <a:r>
              <a:rPr lang="en-US" altLang="en-US" sz="2800" dirty="0" smtClean="0"/>
              <a:t>		    </a:t>
            </a:r>
            <a:r>
              <a:rPr lang="en-US" altLang="en-US" sz="2800" u="sng" dirty="0" smtClean="0">
                <a:solidFill>
                  <a:schemeClr val="folHlink"/>
                </a:solidFill>
              </a:rPr>
              <a:t>Priority Queue</a:t>
            </a:r>
            <a:r>
              <a:rPr lang="en-US" altLang="en-US" sz="2800" dirty="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 err="1" smtClean="0">
                <a:solidFill>
                  <a:schemeClr val="tx1"/>
                </a:solidFill>
              </a:rPr>
              <a:t>enqueue</a:t>
            </a:r>
            <a:r>
              <a:rPr lang="en-US" altLang="en-US" sz="1800" b="1" dirty="0" smtClean="0"/>
              <a:t>	                    </a:t>
            </a:r>
            <a:r>
              <a:rPr lang="en-US" altLang="en-US" sz="1800" b="1" dirty="0" err="1" smtClean="0">
                <a:solidFill>
                  <a:schemeClr val="tx1"/>
                </a:solidFill>
              </a:rPr>
              <a:t>dequeue</a:t>
            </a:r>
            <a:r>
              <a:rPr lang="en-US" altLang="en-US" sz="1800" b="1" dirty="0" smtClean="0"/>
              <a:t>		</a:t>
            </a:r>
            <a:r>
              <a:rPr lang="en-US" altLang="en-US" sz="1800" b="1" dirty="0" err="1" smtClean="0">
                <a:solidFill>
                  <a:schemeClr val="tx1"/>
                </a:solidFill>
              </a:rPr>
              <a:t>enqueue</a:t>
            </a:r>
            <a:r>
              <a:rPr lang="en-US" altLang="en-US" sz="1800" b="1" dirty="0" smtClean="0"/>
              <a:t>	                         </a:t>
            </a:r>
            <a:r>
              <a:rPr lang="en-US" altLang="en-US" sz="1800" b="1" dirty="0" err="1" smtClean="0">
                <a:solidFill>
                  <a:schemeClr val="tx1"/>
                </a:solidFill>
              </a:rPr>
              <a:t>dequeue</a:t>
            </a:r>
            <a:endParaRPr lang="en-US" altLang="en-US" sz="1800" b="1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 smtClean="0"/>
              <a:t>Add at		    Remove		Add 		        Remove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 smtClean="0"/>
              <a:t>rear end		    from front		according	                         from front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 smtClean="0"/>
              <a:t>						to priority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 smtClean="0"/>
              <a:t>						value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 b="1" dirty="0" smtClean="0"/>
          </a:p>
        </p:txBody>
      </p:sp>
      <p:grpSp>
        <p:nvGrpSpPr>
          <p:cNvPr id="5125" name="Group 4"/>
          <p:cNvGrpSpPr>
            <a:grpSpLocks/>
          </p:cNvGrpSpPr>
          <p:nvPr/>
        </p:nvGrpSpPr>
        <p:grpSpPr bwMode="auto">
          <a:xfrm>
            <a:off x="250825" y="4149725"/>
            <a:ext cx="3314700" cy="1079500"/>
            <a:chOff x="158" y="2614"/>
            <a:chExt cx="2088" cy="680"/>
          </a:xfrm>
        </p:grpSpPr>
        <p:sp>
          <p:nvSpPr>
            <p:cNvPr id="160773" name="Rectangle 5"/>
            <p:cNvSpPr>
              <a:spLocks noChangeArrowheads="1"/>
            </p:cNvSpPr>
            <p:nvPr/>
          </p:nvSpPr>
          <p:spPr bwMode="auto">
            <a:xfrm>
              <a:off x="930" y="2614"/>
              <a:ext cx="544" cy="6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l">
                <a:defRPr/>
              </a:pPr>
              <a:endParaRPr lang="en-US" sz="1800">
                <a:latin typeface="Arial" charset="0"/>
                <a:cs typeface="+mn-cs"/>
              </a:endParaRPr>
            </a:p>
          </p:txBody>
        </p:sp>
        <p:sp>
          <p:nvSpPr>
            <p:cNvPr id="5132" name="Line 6"/>
            <p:cNvSpPr>
              <a:spLocks noChangeShapeType="1"/>
            </p:cNvSpPr>
            <p:nvPr/>
          </p:nvSpPr>
          <p:spPr bwMode="auto">
            <a:xfrm>
              <a:off x="158" y="2795"/>
              <a:ext cx="7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3" name="Line 7"/>
            <p:cNvSpPr>
              <a:spLocks noChangeShapeType="1"/>
            </p:cNvSpPr>
            <p:nvPr/>
          </p:nvSpPr>
          <p:spPr bwMode="auto">
            <a:xfrm>
              <a:off x="1474" y="2795"/>
              <a:ext cx="7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WordArt 8"/>
            <p:cNvSpPr>
              <a:spLocks noChangeArrowheads="1" noChangeShapeType="1" noTextEdit="1"/>
            </p:cNvSpPr>
            <p:nvPr/>
          </p:nvSpPr>
          <p:spPr bwMode="auto">
            <a:xfrm>
              <a:off x="1066" y="2750"/>
              <a:ext cx="222" cy="3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effectLst>
                    <a:outerShdw dist="35921" dir="2700000" algn="ctr" rotWithShape="0">
                      <a:srgbClr val="808080">
                        <a:alpha val="79999"/>
                      </a:srgbClr>
                    </a:outerShdw>
                  </a:effectLst>
                  <a:latin typeface="Arial" panose="020B0604020202020204" pitchFamily="34" charset="0"/>
                </a:rPr>
                <a:t>Q</a:t>
              </a:r>
            </a:p>
          </p:txBody>
        </p:sp>
      </p:grpSp>
      <p:grpSp>
        <p:nvGrpSpPr>
          <p:cNvPr id="5126" name="Group 9"/>
          <p:cNvGrpSpPr>
            <a:grpSpLocks/>
          </p:cNvGrpSpPr>
          <p:nvPr/>
        </p:nvGrpSpPr>
        <p:grpSpPr bwMode="auto">
          <a:xfrm>
            <a:off x="4859338" y="4149725"/>
            <a:ext cx="3600450" cy="1079500"/>
            <a:chOff x="3061" y="2614"/>
            <a:chExt cx="2268" cy="680"/>
          </a:xfrm>
        </p:grpSpPr>
        <p:sp>
          <p:nvSpPr>
            <p:cNvPr id="160778" name="Rectangle 10"/>
            <p:cNvSpPr>
              <a:spLocks noChangeArrowheads="1"/>
            </p:cNvSpPr>
            <p:nvPr/>
          </p:nvSpPr>
          <p:spPr bwMode="auto">
            <a:xfrm>
              <a:off x="3923" y="2614"/>
              <a:ext cx="545" cy="6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l">
                <a:defRPr/>
              </a:pPr>
              <a:endParaRPr lang="en-US" sz="1800">
                <a:latin typeface="Arial" charset="0"/>
                <a:cs typeface="+mn-cs"/>
              </a:endParaRPr>
            </a:p>
          </p:txBody>
        </p:sp>
        <p:sp>
          <p:nvSpPr>
            <p:cNvPr id="5128" name="Line 11"/>
            <p:cNvSpPr>
              <a:spLocks noChangeShapeType="1"/>
            </p:cNvSpPr>
            <p:nvPr/>
          </p:nvSpPr>
          <p:spPr bwMode="auto">
            <a:xfrm>
              <a:off x="3061" y="2795"/>
              <a:ext cx="86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Line 12"/>
            <p:cNvSpPr>
              <a:spLocks noChangeShapeType="1"/>
            </p:cNvSpPr>
            <p:nvPr/>
          </p:nvSpPr>
          <p:spPr bwMode="auto">
            <a:xfrm>
              <a:off x="4468" y="2795"/>
              <a:ext cx="86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WordArt 13"/>
            <p:cNvSpPr>
              <a:spLocks noChangeArrowheads="1" noChangeShapeType="1" noTextEdit="1"/>
            </p:cNvSpPr>
            <p:nvPr/>
          </p:nvSpPr>
          <p:spPr bwMode="auto">
            <a:xfrm>
              <a:off x="4060" y="2750"/>
              <a:ext cx="222" cy="3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effectLst>
                    <a:outerShdw dist="35921" dir="2700000" algn="ctr" rotWithShape="0">
                      <a:srgbClr val="808080">
                        <a:alpha val="79999"/>
                      </a:srgbClr>
                    </a:outerShdw>
                  </a:effectLst>
                  <a:latin typeface="Arial" panose="020B0604020202020204" pitchFamily="34" charset="0"/>
                </a:rPr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5324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(MAX/MIN)-Priority Queues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 smtClean="0"/>
              <a:t>The heap data structure is incredibly useful for implementing </a:t>
            </a:r>
            <a:r>
              <a:rPr lang="en-US" altLang="en-US" i="1" dirty="0" smtClean="0">
                <a:solidFill>
                  <a:schemeClr val="tx2"/>
                </a:solidFill>
              </a:rPr>
              <a:t>priority queues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A data structure for maintaining a set </a:t>
            </a:r>
            <a:r>
              <a:rPr lang="en-US" altLang="en-US" i="1" dirty="0" smtClean="0"/>
              <a:t>S</a:t>
            </a:r>
            <a:r>
              <a:rPr lang="en-US" altLang="en-US" dirty="0" smtClean="0"/>
              <a:t> of elements, each with an associated value or </a:t>
            </a:r>
            <a:r>
              <a:rPr lang="en-US" altLang="en-US" i="1" dirty="0" smtClean="0">
                <a:solidFill>
                  <a:schemeClr val="tx2"/>
                </a:solidFill>
              </a:rPr>
              <a:t>key</a:t>
            </a:r>
            <a:endParaRPr lang="en-US" altLang="en-US" dirty="0"/>
          </a:p>
          <a:p>
            <a:r>
              <a:rPr lang="en-US" altLang="en-US" dirty="0" smtClean="0"/>
              <a:t>Applications:</a:t>
            </a:r>
          </a:p>
          <a:p>
            <a:pPr lvl="1"/>
            <a:r>
              <a:rPr lang="en-US" altLang="en-US" dirty="0" smtClean="0"/>
              <a:t>we </a:t>
            </a:r>
            <a:r>
              <a:rPr lang="en-US" altLang="en-US" dirty="0"/>
              <a:t>can use max-priority queues to </a:t>
            </a:r>
            <a:r>
              <a:rPr lang="en-US" altLang="en-US" dirty="0" smtClean="0"/>
              <a:t>schedule jobs </a:t>
            </a:r>
            <a:r>
              <a:rPr lang="en-US" altLang="en-US" dirty="0"/>
              <a:t>on a shared computer. 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The </a:t>
            </a:r>
            <a:r>
              <a:rPr lang="en-US" altLang="en-US" dirty="0"/>
              <a:t>max-priority queue keeps track of the jobs </a:t>
            </a:r>
            <a:r>
              <a:rPr lang="en-US" altLang="en-US" dirty="0" smtClean="0"/>
              <a:t>to be </a:t>
            </a:r>
            <a:r>
              <a:rPr lang="en-US" altLang="en-US" dirty="0"/>
              <a:t>performed and their relative priorities. 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When </a:t>
            </a:r>
            <a:r>
              <a:rPr lang="en-US" altLang="en-US" dirty="0"/>
              <a:t>a job is finished or interrupted</a:t>
            </a:r>
            <a:r>
              <a:rPr lang="en-US" altLang="en-US" dirty="0" smtClean="0"/>
              <a:t>, the </a:t>
            </a:r>
            <a:r>
              <a:rPr lang="en-US" altLang="en-US" dirty="0"/>
              <a:t>scheduler selects the highest-priority job from among those </a:t>
            </a:r>
            <a:r>
              <a:rPr lang="en-US" altLang="en-US" dirty="0" smtClean="0"/>
              <a:t>pending.</a:t>
            </a:r>
          </a:p>
          <a:p>
            <a:pPr lvl="2"/>
            <a:r>
              <a:rPr lang="en-US" altLang="en-US" dirty="0" smtClean="0"/>
              <a:t>The </a:t>
            </a:r>
            <a:r>
              <a:rPr lang="en-US" altLang="en-US" dirty="0"/>
              <a:t>scheduler can add a new job to the queue at any </a:t>
            </a:r>
            <a:r>
              <a:rPr lang="en-US" altLang="en-US" dirty="0" smtClean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99078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Priority Queue Operations</a:t>
            </a:r>
          </a:p>
        </p:txBody>
      </p:sp>
      <p:sp>
        <p:nvSpPr>
          <p:cNvPr id="41991" name="Rectangle 3"/>
          <p:cNvSpPr>
            <a:spLocks noChangeArrowheads="1"/>
          </p:cNvSpPr>
          <p:nvPr/>
        </p:nvSpPr>
        <p:spPr bwMode="auto">
          <a:xfrm>
            <a:off x="457200" y="1268413"/>
            <a:ext cx="8435975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>
                <a:solidFill>
                  <a:schemeClr val="accent1"/>
                </a:solidFill>
              </a:rPr>
              <a:t>Insert( </a:t>
            </a:r>
            <a:r>
              <a:rPr lang="en-US" altLang="en-US" sz="2400" i="1">
                <a:solidFill>
                  <a:schemeClr val="accent1"/>
                </a:solidFill>
              </a:rPr>
              <a:t>S, x</a:t>
            </a:r>
            <a:r>
              <a:rPr lang="en-US" altLang="en-US" sz="2400">
                <a:solidFill>
                  <a:schemeClr val="accent1"/>
                </a:solidFill>
              </a:rPr>
              <a:t> )</a:t>
            </a:r>
            <a:r>
              <a:rPr lang="en-US" altLang="en-US" sz="2400"/>
              <a:t> – Inserts element </a:t>
            </a:r>
            <a:r>
              <a:rPr lang="en-US" altLang="en-US" sz="2400" i="1"/>
              <a:t>x</a:t>
            </a:r>
            <a:r>
              <a:rPr lang="en-US" altLang="en-US" sz="2400"/>
              <a:t> into set </a:t>
            </a:r>
            <a:r>
              <a:rPr lang="en-US" altLang="en-US" sz="2400" i="1"/>
              <a:t>S</a:t>
            </a:r>
            <a:r>
              <a:rPr lang="en-US" altLang="en-US" sz="2400"/>
              <a:t>, according to its priority</a:t>
            </a:r>
          </a:p>
          <a:p>
            <a:pPr eaLnBrk="1" hangingPunct="1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>
                <a:solidFill>
                  <a:schemeClr val="accent1"/>
                </a:solidFill>
              </a:rPr>
              <a:t>Maximum( </a:t>
            </a:r>
            <a:r>
              <a:rPr lang="en-US" altLang="en-US" sz="2400" i="1">
                <a:solidFill>
                  <a:schemeClr val="accent1"/>
                </a:solidFill>
              </a:rPr>
              <a:t>S</a:t>
            </a:r>
            <a:r>
              <a:rPr lang="en-US" altLang="en-US" sz="2400">
                <a:solidFill>
                  <a:schemeClr val="accent1"/>
                </a:solidFill>
              </a:rPr>
              <a:t> )</a:t>
            </a:r>
            <a:r>
              <a:rPr lang="en-US" altLang="en-US" sz="2400"/>
              <a:t> – Returns, but does not remove, the element of </a:t>
            </a:r>
            <a:r>
              <a:rPr lang="en-US" altLang="en-US" sz="2400" i="1"/>
              <a:t>S</a:t>
            </a:r>
            <a:r>
              <a:rPr lang="en-US" altLang="en-US" sz="2400"/>
              <a:t> with the largest key</a:t>
            </a:r>
          </a:p>
          <a:p>
            <a:pPr eaLnBrk="1" hangingPunct="1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>
                <a:solidFill>
                  <a:schemeClr val="accent1"/>
                </a:solidFill>
              </a:rPr>
              <a:t>Extract-Max( </a:t>
            </a:r>
            <a:r>
              <a:rPr lang="en-US" altLang="en-US" sz="2400" i="1">
                <a:solidFill>
                  <a:schemeClr val="accent1"/>
                </a:solidFill>
              </a:rPr>
              <a:t>S</a:t>
            </a:r>
            <a:r>
              <a:rPr lang="en-US" altLang="en-US" sz="2400">
                <a:solidFill>
                  <a:schemeClr val="accent1"/>
                </a:solidFill>
              </a:rPr>
              <a:t> )</a:t>
            </a:r>
            <a:r>
              <a:rPr lang="en-US" altLang="en-US" sz="2400"/>
              <a:t> – Removes and returns the element of </a:t>
            </a:r>
            <a:r>
              <a:rPr lang="en-US" altLang="en-US" sz="2400" i="1"/>
              <a:t>S</a:t>
            </a:r>
            <a:r>
              <a:rPr lang="en-US" altLang="en-US" sz="2400"/>
              <a:t> with the largest key</a:t>
            </a:r>
          </a:p>
          <a:p>
            <a:pPr eaLnBrk="1" hangingPunct="1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2400">
                <a:solidFill>
                  <a:schemeClr val="accent1"/>
                </a:solidFill>
              </a:rPr>
              <a:t>Increase-Key( </a:t>
            </a:r>
            <a:r>
              <a:rPr lang="en-US" altLang="en-US" sz="2400" i="1">
                <a:solidFill>
                  <a:schemeClr val="accent1"/>
                </a:solidFill>
              </a:rPr>
              <a:t>S, x, k</a:t>
            </a:r>
            <a:r>
              <a:rPr lang="en-US" altLang="en-US" sz="2400">
                <a:solidFill>
                  <a:schemeClr val="accent1"/>
                </a:solidFill>
              </a:rPr>
              <a:t> )</a:t>
            </a:r>
            <a:r>
              <a:rPr lang="en-US" altLang="en-US" sz="2400"/>
              <a:t> – Increases the value of element </a:t>
            </a:r>
            <a:r>
              <a:rPr lang="en-US" altLang="en-US" sz="2400" i="1"/>
              <a:t>x</a:t>
            </a:r>
            <a:r>
              <a:rPr lang="en-US" altLang="en-US" sz="2400"/>
              <a:t>’s key to the new value </a:t>
            </a:r>
            <a:r>
              <a:rPr lang="en-US" altLang="en-US" sz="2400" i="1"/>
              <a:t>k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i="1">
              <a:solidFill>
                <a:schemeClr val="accent1"/>
              </a:solidFill>
            </a:endParaRPr>
          </a:p>
          <a:p>
            <a:pPr eaLnBrk="1" hangingPunct="1"/>
            <a:r>
              <a:rPr lang="en-US" altLang="en-US" i="1">
                <a:solidFill>
                  <a:schemeClr val="accent1"/>
                </a:solidFill>
              </a:rPr>
              <a:t>How could we implement these operations using a heap?</a:t>
            </a:r>
            <a:endParaRPr lang="en-US" altLang="en-US" sz="2400" i="1"/>
          </a:p>
        </p:txBody>
      </p:sp>
    </p:spTree>
    <p:extLst>
      <p:ext uri="{BB962C8B-B14F-4D97-AF65-F5344CB8AC3E}">
        <p14:creationId xmlns:p14="http://schemas.microsoft.com/office/powerpoint/2010/main" val="413070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Priority Queue Operations</a:t>
            </a:r>
          </a:p>
        </p:txBody>
      </p:sp>
      <p:pic>
        <p:nvPicPr>
          <p:cNvPr id="81924" name="Picture 4" descr="heap_maxim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1093788"/>
            <a:ext cx="382270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5" name="Picture 7" descr="heap_extract_ma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681288"/>
            <a:ext cx="5767387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034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Priority Queue Operations</a:t>
            </a:r>
          </a:p>
        </p:txBody>
      </p:sp>
      <p:pic>
        <p:nvPicPr>
          <p:cNvPr id="82948" name="Picture 4" descr="heap_increase_ke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88" y="1866900"/>
            <a:ext cx="751522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7438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Priority Queue Operations</a:t>
            </a:r>
          </a:p>
        </p:txBody>
      </p:sp>
      <p:pic>
        <p:nvPicPr>
          <p:cNvPr id="83972" name="Picture 4" descr="fig6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81075"/>
            <a:ext cx="6161088" cy="566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669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Priority Queue Operations</a:t>
            </a:r>
          </a:p>
        </p:txBody>
      </p:sp>
      <p:pic>
        <p:nvPicPr>
          <p:cNvPr id="84996" name="Picture 4" descr="max_heap_inse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773238"/>
            <a:ext cx="7343775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947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301</Words>
  <Application>Microsoft Office PowerPoint</Application>
  <PresentationFormat>On-screen Show (4:3)</PresentationFormat>
  <Paragraphs>91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ＭＳ Ｐゴシック</vt:lpstr>
      <vt:lpstr>Arial</vt:lpstr>
      <vt:lpstr>Calibri</vt:lpstr>
      <vt:lpstr>Consolas</vt:lpstr>
      <vt:lpstr>Helvetica</vt:lpstr>
      <vt:lpstr>Monotype Sorts</vt:lpstr>
      <vt:lpstr>Times New Roman</vt:lpstr>
      <vt:lpstr>Office Theme</vt:lpstr>
      <vt:lpstr>CSE 203: Data Structures</vt:lpstr>
      <vt:lpstr>Queues</vt:lpstr>
      <vt:lpstr>Increasing Capacity</vt:lpstr>
      <vt:lpstr>Increasing Capacity</vt:lpstr>
      <vt:lpstr>Increasing Capacity</vt:lpstr>
      <vt:lpstr>Abstract Deque</vt:lpstr>
      <vt:lpstr>Abstract Deque</vt:lpstr>
      <vt:lpstr>Applications</vt:lpstr>
      <vt:lpstr>Implementations</vt:lpstr>
      <vt:lpstr>Priority Queues</vt:lpstr>
      <vt:lpstr>(MAX/MIN)-Priority Queues</vt:lpstr>
      <vt:lpstr>Priority Queue Operations</vt:lpstr>
      <vt:lpstr>Priority Queue Operations</vt:lpstr>
      <vt:lpstr>Priority Queue Operations</vt:lpstr>
      <vt:lpstr>Priority Queue Operations</vt:lpstr>
      <vt:lpstr>Priority Queue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203: Data Structures</dc:title>
  <dc:creator>User</dc:creator>
  <cp:lastModifiedBy>user</cp:lastModifiedBy>
  <cp:revision>67</cp:revision>
  <dcterms:created xsi:type="dcterms:W3CDTF">2016-03-11T11:41:07Z</dcterms:created>
  <dcterms:modified xsi:type="dcterms:W3CDTF">2021-12-15T04:57:46Z</dcterms:modified>
</cp:coreProperties>
</file>