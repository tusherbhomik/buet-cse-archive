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56" r:id="rId2"/>
    <p:sldId id="353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1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024C9-18AD-495D-A54A-6FFA96519E06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18759-DABD-4892-B834-CDF2E12FF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4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D387C6-55C9-44A2-907F-C0D0596E9BF9}" type="slidenum">
              <a:rPr lang="en-CA" smtClean="0"/>
              <a:pPr>
                <a:defRPr/>
              </a:pPr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4132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0AD39C-2D47-4FC4-9991-10E39F62C6BD}" type="slidenum">
              <a:rPr lang="en-CA" smtClean="0"/>
              <a:pPr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928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A83E80-A1E0-4A93-994A-F18894F5C562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338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F9EABF-1E24-43D0-980C-7185E6FB5E56}" type="slidenum">
              <a:rPr lang="en-CA" smtClean="0"/>
              <a:pPr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882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AE6D1B4-0612-4F65-93D9-F0C991C2B078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en-CA" sz="120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69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6A88F0-6E27-4B4A-BF32-F331BE5BE1E7}" type="slidenum">
              <a:rPr lang="en-CA" smtClean="0"/>
              <a:pPr>
                <a:defRPr/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7639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A423C88-99F4-4981-82D1-4F87B744F710}" type="slidenum">
              <a:rPr lang="en-CA" smtClean="0"/>
              <a:pPr>
                <a:defRPr/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492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CDED3E-5B90-4220-B1B2-7FFCF1328A5B}" type="slidenum">
              <a:rPr lang="en-CA" smtClean="0"/>
              <a:pPr>
                <a:defRPr/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9707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EE787C-BDA8-46D9-BA3A-8A6EBA15361A}" type="slidenum">
              <a:rPr lang="en-CA" smtClean="0"/>
              <a:pPr>
                <a:defRPr/>
              </a:pPr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3270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8ADE93-FFB5-46A4-A60D-9BDDE648467C}" type="slidenum">
              <a:rPr lang="en-CA" smtClean="0"/>
              <a:pPr>
                <a:defRPr/>
              </a:pPr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3915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C19B52-F0CE-4C6C-95B0-54A969990787}" type="slidenum">
              <a:rPr lang="en-CA" smtClean="0"/>
              <a:pPr>
                <a:defRPr/>
              </a:pPr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6812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AE2BA2-AF54-4F94-BC11-4B4EA5F6AAC2}" type="slidenum">
              <a:rPr lang="en-CA" smtClean="0"/>
              <a:pPr>
                <a:defRPr/>
              </a:pPr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29679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02E0D0-BDBF-4320-9A5A-76BA33E07F1D}" type="slidenum">
              <a:rPr lang="en-CA" smtClean="0"/>
              <a:pPr>
                <a:defRPr/>
              </a:pPr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3105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83C022-05DB-4F7B-AE15-C7177CC27DE7}" type="slidenum">
              <a:rPr lang="en-CA" smtClean="0"/>
              <a:pPr>
                <a:defRPr/>
              </a:pPr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914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9EF69A-21C8-43B5-9B80-D0B21B49F47F}" type="slidenum">
              <a:rPr lang="en-CA" smtClean="0"/>
              <a:pPr>
                <a:defRPr/>
              </a:pPr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357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ADCEE1-83F6-446C-9414-9B49753F5045}" type="slidenum">
              <a:rPr lang="en-CA" smtClean="0"/>
              <a:pPr>
                <a:defRPr/>
              </a:pPr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1795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982590-36F0-491E-80B5-03EAADB98C83}" type="slidenum">
              <a:rPr lang="en-CA" smtClean="0"/>
              <a:pPr>
                <a:defRPr/>
              </a:pPr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177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64BF0C-554B-4780-AB4C-DC7B56AEFD60}" type="slidenum">
              <a:rPr lang="en-CA" smtClean="0"/>
              <a:pPr>
                <a:defRPr/>
              </a:pPr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1619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40DFD9-B60A-4563-B180-157C9C6C9EE5}" type="slidenum">
              <a:rPr lang="en-CA" smtClean="0"/>
              <a:pPr>
                <a:defRPr/>
              </a:pPr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5166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0A2C2BC-7180-41EB-A879-B7F1014ECB22}" type="slidenum">
              <a:rPr lang="en-CA" smtClean="0"/>
              <a:pPr>
                <a:defRPr/>
              </a:pPr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9069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40F9C2B-3C94-4D9C-A37C-179D87EB478A}" type="slidenum">
              <a:rPr lang="en-CA" smtClean="0"/>
              <a:pPr>
                <a:defRPr/>
              </a:pPr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84494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06BFFF-FE3A-4B69-B727-345D5BFBAAF5}" type="slidenum">
              <a:rPr lang="en-CA" smtClean="0"/>
              <a:pPr>
                <a:defRPr/>
              </a:pPr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38740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37E2455-0CE5-44EB-A2F1-EC9C17DD2E3E}" type="slidenum">
              <a:rPr lang="en-CA" smtClean="0"/>
              <a:pPr>
                <a:defRPr/>
              </a:pPr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59666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313E92-5F16-4A09-8835-521647B645D4}" type="slidenum">
              <a:rPr lang="en-CA" smtClean="0"/>
              <a:pPr>
                <a:defRPr/>
              </a:pPr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42778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7824B5-F1F3-45CC-A96F-672DDE2A78F3}" type="slidenum">
              <a:rPr lang="en-CA" smtClean="0"/>
              <a:pPr>
                <a:defRPr/>
              </a:pPr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16541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E8551D8-3BE3-4BD4-B7B8-153A42AFDB2A}" type="slidenum">
              <a:rPr lang="en-CA" smtClean="0"/>
              <a:pPr>
                <a:defRPr/>
              </a:pPr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86185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64042B-A499-4D73-AFA6-59CC3DBBC05F}" type="slidenum">
              <a:rPr lang="en-CA" smtClean="0"/>
              <a:pPr>
                <a:defRPr/>
              </a:pPr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0262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ACE78B-131D-4890-AFF6-404123B7BB5D}" type="slidenum">
              <a:rPr lang="en-CA" smtClean="0"/>
              <a:pPr>
                <a:defRPr/>
              </a:pPr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307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2E4CF5-6E27-4098-B59C-7C5F6C9C289D}" type="slidenum">
              <a:rPr lang="en-CA" smtClean="0"/>
              <a:pPr>
                <a:defRPr/>
              </a:pPr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1595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26AC1A-C82B-4768-BB42-C44CBC429816}" type="slidenum">
              <a:rPr lang="en-CA" smtClean="0"/>
              <a:pPr>
                <a:defRPr/>
              </a:pPr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29690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FB5451-84FC-4009-B264-3310911DF778}" type="slidenum">
              <a:rPr lang="en-CA" smtClean="0"/>
              <a:pPr>
                <a:defRPr/>
              </a:pPr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5075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7EE225-5DA4-49D6-BD5B-6E7EE4987E4E}" type="slidenum">
              <a:rPr lang="en-CA" smtClean="0"/>
              <a:pPr>
                <a:defRPr/>
              </a:pPr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63749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F79F90-386F-4DCD-8AD5-98CED1B34380}" type="slidenum">
              <a:rPr lang="en-CA" smtClean="0"/>
              <a:pPr>
                <a:defRPr/>
              </a:pPr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39881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96C395-04C5-4EB1-A496-EE94F3F1A316}" type="slidenum">
              <a:rPr lang="en-CA" smtClean="0"/>
              <a:pPr>
                <a:defRPr/>
              </a:pPr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4046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CDC2F3-465C-418E-9D85-53E716952258}" type="slidenum">
              <a:rPr lang="en-CA" smtClean="0"/>
              <a:pPr>
                <a:defRPr/>
              </a:pPr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19290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0634FF-50BD-4CB9-8B99-7F8D368EF808}" type="slidenum">
              <a:rPr lang="en-CA" smtClean="0"/>
              <a:pPr>
                <a:defRPr/>
              </a:pPr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57252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EE56D2-FB29-49B2-98C9-7C7CB367B35D}" type="slidenum">
              <a:rPr lang="en-CA" smtClean="0"/>
              <a:pPr>
                <a:defRPr/>
              </a:pPr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77082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1F9D00-6359-4D0B-AE41-2BCFDB0C4EDE}" type="slidenum">
              <a:rPr lang="en-CA" smtClean="0"/>
              <a:pPr>
                <a:defRPr/>
              </a:pPr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29765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3983FF-A1E9-4507-A100-C820B92A0813}" type="slidenum">
              <a:rPr lang="en-CA" smtClean="0"/>
              <a:pPr>
                <a:defRPr/>
              </a:pPr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0819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8E5A60-84F0-4A66-8166-6A6EFE5A3010}" type="slidenum">
              <a:rPr lang="en-CA" smtClean="0"/>
              <a:pPr>
                <a:defRPr/>
              </a:pPr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80355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29F3D4-C397-43C5-97BE-4B1FE2765C8A}" type="slidenum">
              <a:rPr lang="en-CA" smtClean="0"/>
              <a:pPr>
                <a:defRPr/>
              </a:pPr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95681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96B0F7-07CD-49A0-85C3-6CC27A306FE6}" type="slidenum">
              <a:rPr lang="en-CA" smtClean="0"/>
              <a:pPr>
                <a:defRPr/>
              </a:pPr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81917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017148-C2DD-4C09-96A7-85064F70C24C}" type="slidenum">
              <a:rPr lang="en-CA" smtClean="0"/>
              <a:pPr>
                <a:defRPr/>
              </a:pPr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33950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31E94EA-B32F-4F55-87F7-42B2729A8790}" type="slidenum">
              <a:rPr lang="en-CA" smtClean="0"/>
              <a:pPr>
                <a:defRPr/>
              </a:pPr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54035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FA9B16-B667-4135-A25D-D1B69580E5DB}" type="slidenum">
              <a:rPr lang="en-CA" smtClean="0"/>
              <a:pPr>
                <a:defRPr/>
              </a:pPr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97143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6597E6-FC72-43C2-AF0C-6189400206B5}" type="slidenum">
              <a:rPr lang="en-CA" smtClean="0"/>
              <a:pPr>
                <a:defRPr/>
              </a:pPr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4227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35BD08-624B-4839-944E-1E52A875B189}" type="slidenum">
              <a:rPr lang="en-CA" smtClean="0"/>
              <a:pPr>
                <a:defRPr/>
              </a:pPr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58359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0AE4B6-8191-4F2E-AB95-1244C645C417}" type="slidenum">
              <a:rPr lang="en-CA" smtClean="0"/>
              <a:pPr>
                <a:defRPr/>
              </a:pPr>
              <a:t>56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62345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2EA191-D674-4F1B-AB13-E61F414A3E80}" type="slidenum">
              <a:rPr lang="en-CA" smtClean="0"/>
              <a:pPr>
                <a:defRPr/>
              </a:pPr>
              <a:t>57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65476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CB7993-210F-4AD1-A36B-B411A84F6EE6}" type="slidenum">
              <a:rPr lang="en-CA" smtClean="0"/>
              <a:pPr>
                <a:defRPr/>
              </a:pPr>
              <a:t>58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69233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3B1FD7-67DB-4C1B-8D69-2ED83348950E}" type="slidenum">
              <a:rPr lang="en-CA" smtClean="0"/>
              <a:pPr>
                <a:defRPr/>
              </a:pPr>
              <a:t>59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10485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4B3A40-868E-41B9-BB35-EB827415D609}" type="slidenum">
              <a:rPr lang="en-CA" smtClean="0"/>
              <a:pPr>
                <a:defRPr/>
              </a:pPr>
              <a:t>60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17243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A3F2AE-8AB4-44EE-AFEE-3AAC7FED371B}" type="slidenum">
              <a:rPr lang="en-CA" smtClean="0"/>
              <a:pPr>
                <a:defRPr/>
              </a:pPr>
              <a:t>61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52454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0C3CE8-AA9A-4EE4-8A55-8CADF4997119}" type="slidenum">
              <a:rPr lang="en-CA" smtClean="0"/>
              <a:pPr>
                <a:defRPr/>
              </a:pPr>
              <a:t>62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03358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1DBB22-8539-4CBF-84CC-16B3C4657364}" type="slidenum">
              <a:rPr lang="en-CA" smtClean="0"/>
              <a:pPr>
                <a:defRPr/>
              </a:pPr>
              <a:t>63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45124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FE24F3C-0561-4F8A-B970-2F90965E116B}" type="slidenum">
              <a:rPr lang="en-CA" smtClean="0"/>
              <a:pPr>
                <a:defRPr/>
              </a:pPr>
              <a:t>64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08196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291F6B-4093-436F-9E20-B13F75CFB807}" type="slidenum">
              <a:rPr lang="en-CA" smtClean="0"/>
              <a:pPr>
                <a:defRPr/>
              </a:pPr>
              <a:t>65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756270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ED10C1-2118-4CD9-BF71-F9CDEBB65992}" type="slidenum">
              <a:rPr lang="en-CA" smtClean="0"/>
              <a:pPr>
                <a:defRPr/>
              </a:pPr>
              <a:t>66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803779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1FAB24-D1FA-41BF-9321-04E944280472}" type="slidenum">
              <a:rPr lang="en-CA" smtClean="0"/>
              <a:pPr>
                <a:defRPr/>
              </a:pPr>
              <a:t>67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995306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7195EE-199E-46BB-83F8-D28B90254081}" type="slidenum">
              <a:rPr lang="en-CA" smtClean="0"/>
              <a:pPr>
                <a:defRPr/>
              </a:pPr>
              <a:t>68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9344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2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0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3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3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0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9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6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7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EA405-C945-40C5-A026-D7A5AF97B225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F4FA-4A84-4E0C-BA8C-9D9CFCC09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0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Heaps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78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Conceptual View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4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Definition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25880"/>
            <a:ext cx="11704320" cy="527304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A non-empty binary tree is a min-heap if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The key associated with the root is less than or equal to the </a:t>
            </a:r>
            <a:r>
              <a:rPr lang="en-US" altLang="en-US" dirty="0" smtClean="0">
                <a:latin typeface="Arial" charset="0"/>
                <a:cs typeface="Arial" charset="0"/>
              </a:rPr>
              <a:t>keys associated </a:t>
            </a:r>
            <a:r>
              <a:rPr lang="en-US" altLang="en-US" dirty="0" smtClean="0">
                <a:latin typeface="Arial" charset="0"/>
                <a:cs typeface="Arial" charset="0"/>
              </a:rPr>
              <a:t>with either of the sub-trees (if any)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Both of the sub-trees (if any) are also binary min-heaps</a:t>
            </a:r>
          </a:p>
          <a:p>
            <a:pPr lvl="1"/>
            <a:endParaRPr lang="en-US" altLang="en-US" dirty="0" smtClean="0">
              <a:latin typeface="Arial" charset="0"/>
              <a:cs typeface="Arial" charset="0"/>
            </a:endParaRPr>
          </a:p>
          <a:p>
            <a:pPr lvl="1"/>
            <a:endParaRPr lang="en-US" altLang="en-US" dirty="0" smtClean="0">
              <a:latin typeface="Arial" charset="0"/>
              <a:cs typeface="Arial" charset="0"/>
            </a:endParaRPr>
          </a:p>
          <a:p>
            <a:pPr lvl="1"/>
            <a:endParaRPr lang="en-US" altLang="en-US" dirty="0" smtClean="0">
              <a:latin typeface="Arial" charset="0"/>
              <a:cs typeface="Arial" charset="0"/>
            </a:endParaRPr>
          </a:p>
          <a:p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From this definition: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A single node is a min-heap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All keys in either sub-tree are greater than the root key</a:t>
            </a:r>
          </a:p>
        </p:txBody>
      </p:sp>
      <p:pic>
        <p:nvPicPr>
          <p:cNvPr id="6148" name="Picture 6" descr="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910" y="3094877"/>
            <a:ext cx="6232050" cy="204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22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Definition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Important:</a:t>
            </a:r>
          </a:p>
          <a:p>
            <a:pPr algn="ctr">
              <a:buFontTx/>
              <a:buNone/>
            </a:pPr>
            <a:r>
              <a:rPr lang="en-US" altLang="en-US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THERE IS NO OTHER RELATIONSHIP BETWEEN</a:t>
            </a:r>
          </a:p>
          <a:p>
            <a:pPr algn="ctr">
              <a:buFontTx/>
              <a:buNone/>
            </a:pPr>
            <a:r>
              <a:rPr lang="en-US" altLang="en-US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THE ELEMENTS IN THE TWO </a:t>
            </a:r>
            <a:r>
              <a:rPr lang="en-US" altLang="en-US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SUBTREES</a:t>
            </a:r>
          </a:p>
          <a:p>
            <a:pPr algn="ctr">
              <a:buFontTx/>
              <a:buNone/>
            </a:pPr>
            <a:r>
              <a:rPr lang="en-US" altLang="en-US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[unlike the BST]</a:t>
            </a:r>
            <a:endParaRPr lang="en-US" altLang="en-US" b="1" dirty="0" smtClean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Failing to understand this is the greatest mistake a student makes</a:t>
            </a:r>
          </a:p>
        </p:txBody>
      </p:sp>
    </p:spTree>
    <p:extLst>
      <p:ext uri="{BB962C8B-B14F-4D97-AF65-F5344CB8AC3E}">
        <p14:creationId xmlns:p14="http://schemas.microsoft.com/office/powerpoint/2010/main" val="254300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Example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This is a binary min-heap:</a:t>
            </a:r>
          </a:p>
        </p:txBody>
      </p:sp>
      <p:pic>
        <p:nvPicPr>
          <p:cNvPr id="8196" name="Picture 4" descr="heap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49" y="2475757"/>
            <a:ext cx="5627051" cy="3986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63000" y="2286000"/>
            <a:ext cx="2941320" cy="92333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Note: Later, we will implement heap only with complete binary tree…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4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Example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" y="1825624"/>
            <a:ext cx="5196840" cy="44989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Adding </a:t>
            </a:r>
            <a:r>
              <a:rPr lang="en-US" altLang="en-US" dirty="0" err="1" smtClean="0">
                <a:latin typeface="Arial" charset="0"/>
                <a:cs typeface="Arial" charset="0"/>
              </a:rPr>
              <a:t>colour</a:t>
            </a:r>
            <a:r>
              <a:rPr lang="en-US" altLang="en-US" dirty="0" smtClean="0">
                <a:latin typeface="Arial" charset="0"/>
                <a:cs typeface="Arial" charset="0"/>
              </a:rPr>
              <a:t>, we observe 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The left subtree has the smallest (</a:t>
            </a:r>
            <a:r>
              <a:rPr lang="en-US" altLang="en-US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7</a:t>
            </a:r>
            <a:r>
              <a:rPr lang="en-US" altLang="en-US" dirty="0" smtClean="0">
                <a:latin typeface="Arial" charset="0"/>
                <a:cs typeface="Arial" charset="0"/>
              </a:rPr>
              <a:t>) and the largest (</a:t>
            </a:r>
            <a:r>
              <a:rPr lang="en-US" altLang="en-US" dirty="0" smtClean="0">
                <a:solidFill>
                  <a:srgbClr val="800080"/>
                </a:solidFill>
                <a:latin typeface="Arial" charset="0"/>
                <a:cs typeface="Arial" charset="0"/>
              </a:rPr>
              <a:t>89</a:t>
            </a:r>
            <a:r>
              <a:rPr lang="en-US" altLang="en-US" dirty="0" smtClean="0">
                <a:latin typeface="Arial" charset="0"/>
                <a:cs typeface="Arial" charset="0"/>
              </a:rPr>
              <a:t>) objects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No relationship between items with similar </a:t>
            </a:r>
            <a:r>
              <a:rPr lang="en-US" altLang="en-US" dirty="0" smtClean="0">
                <a:latin typeface="Arial" charset="0"/>
                <a:cs typeface="Arial" charset="0"/>
              </a:rPr>
              <a:t>priority </a:t>
            </a:r>
          </a:p>
          <a:p>
            <a:pPr lvl="2"/>
            <a:r>
              <a:rPr lang="en-US" altLang="en-US" dirty="0" smtClean="0">
                <a:latin typeface="Arial" charset="0"/>
                <a:cs typeface="Arial" charset="0"/>
              </a:rPr>
              <a:t>(just assume for now that the keys are priority values)</a:t>
            </a:r>
            <a:endParaRPr lang="en-US" altLang="en-US" b="1" dirty="0" smtClean="0">
              <a:latin typeface="Courier New" pitchFamily="49" charset="0"/>
              <a:cs typeface="Arial" charset="0"/>
            </a:endParaRPr>
          </a:p>
          <a:p>
            <a:pPr lvl="1"/>
            <a:endParaRPr lang="en-US" altLang="en-US" dirty="0" smtClean="0">
              <a:latin typeface="Arial" charset="0"/>
              <a:cs typeface="Arial" charset="0"/>
            </a:endParaRPr>
          </a:p>
        </p:txBody>
      </p:sp>
      <p:pic>
        <p:nvPicPr>
          <p:cNvPr id="9220" name="Picture 4" descr="heap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454" y="2041372"/>
            <a:ext cx="5066346" cy="35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839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Operations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810385"/>
            <a:ext cx="10515600" cy="4351338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	</a:t>
            </a:r>
            <a:r>
              <a:rPr lang="en-US" altLang="en-US" dirty="0" smtClean="0">
                <a:latin typeface="Arial" charset="0"/>
                <a:cs typeface="Arial" charset="0"/>
              </a:rPr>
              <a:t>We will consider three operations: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Top [actually, </a:t>
            </a:r>
            <a:r>
              <a:rPr lang="en-US" altLang="en-US" dirty="0" err="1" smtClean="0">
                <a:latin typeface="Arial" charset="0"/>
                <a:cs typeface="Arial" charset="0"/>
              </a:rPr>
              <a:t>getMinimum</a:t>
            </a:r>
            <a:r>
              <a:rPr lang="en-US" altLang="en-US" dirty="0" smtClean="0">
                <a:latin typeface="Arial" charset="0"/>
                <a:cs typeface="Arial" charset="0"/>
              </a:rPr>
              <a:t> in this case]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Pop [remove]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Push [insert]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92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Example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We can find the top object in </a:t>
            </a:r>
            <a:r>
              <a:rPr lang="en-US" altLang="en-US" b="1" smtClean="0">
                <a:latin typeface="Symbol" pitchFamily="18" charset="2"/>
                <a:cs typeface="Arial" charset="0"/>
              </a:rPr>
              <a:t>Q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(1)</a:t>
            </a:r>
            <a:r>
              <a:rPr lang="en-US" altLang="en-US" smtClean="0">
                <a:latin typeface="Arial" charset="0"/>
                <a:cs typeface="Arial" charset="0"/>
              </a:rPr>
              <a:t> time:  3</a:t>
            </a:r>
          </a:p>
        </p:txBody>
      </p:sp>
      <p:pic>
        <p:nvPicPr>
          <p:cNvPr id="11268" name="Picture 4" descr="heap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389" y="2636838"/>
            <a:ext cx="3451225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73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Pop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To remove the minimum object: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Promote the node of the sub-tree which has the least value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Recurs down the sub-tree from which we promoted the least value</a:t>
            </a:r>
          </a:p>
        </p:txBody>
      </p:sp>
    </p:spTree>
    <p:extLst>
      <p:ext uri="{BB962C8B-B14F-4D97-AF65-F5344CB8AC3E}">
        <p14:creationId xmlns:p14="http://schemas.microsoft.com/office/powerpoint/2010/main" val="425815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Pop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Using our example, we remove 3:</a:t>
            </a:r>
          </a:p>
        </p:txBody>
      </p:sp>
      <p:pic>
        <p:nvPicPr>
          <p:cNvPr id="13316" name="Picture 4" descr="heap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14" y="2420938"/>
            <a:ext cx="3451225" cy="262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350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5" descr="heap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14" y="2420938"/>
            <a:ext cx="3451225" cy="262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Pop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We promote 7 (the minimum of 7 and 12) to the root:</a:t>
            </a:r>
          </a:p>
        </p:txBody>
      </p:sp>
    </p:spTree>
    <p:extLst>
      <p:ext uri="{BB962C8B-B14F-4D97-AF65-F5344CB8AC3E}">
        <p14:creationId xmlns:p14="http://schemas.microsoft.com/office/powerpoint/2010/main" val="348052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6" descr="heap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14" y="2420938"/>
            <a:ext cx="3451225" cy="262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Pop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In the left sub-tree, we promote 9:</a:t>
            </a:r>
          </a:p>
        </p:txBody>
      </p:sp>
    </p:spTree>
    <p:extLst>
      <p:ext uri="{BB962C8B-B14F-4D97-AF65-F5344CB8AC3E}">
        <p14:creationId xmlns:p14="http://schemas.microsoft.com/office/powerpoint/2010/main" val="36139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 descr="heap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14" y="2420938"/>
            <a:ext cx="3451225" cy="262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Pop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Recursively, we promote 19:</a:t>
            </a:r>
          </a:p>
        </p:txBody>
      </p:sp>
    </p:spTree>
    <p:extLst>
      <p:ext uri="{BB962C8B-B14F-4D97-AF65-F5344CB8AC3E}">
        <p14:creationId xmlns:p14="http://schemas.microsoft.com/office/powerpoint/2010/main" val="130199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8" descr="heap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14" y="2420938"/>
            <a:ext cx="3451225" cy="262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Pop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Finally, 55 is a leaf node, so we promote it and delete the leaf</a:t>
            </a:r>
          </a:p>
        </p:txBody>
      </p:sp>
    </p:spTree>
    <p:extLst>
      <p:ext uri="{BB962C8B-B14F-4D97-AF65-F5344CB8AC3E}">
        <p14:creationId xmlns:p14="http://schemas.microsoft.com/office/powerpoint/2010/main" val="233833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Pop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Repeating this operation again, we can remove 7:</a:t>
            </a:r>
          </a:p>
        </p:txBody>
      </p:sp>
      <p:pic>
        <p:nvPicPr>
          <p:cNvPr id="18436" name="Picture 9" descr="heap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754" y="2548163"/>
            <a:ext cx="4184966" cy="31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950" y="2393268"/>
            <a:ext cx="45910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Pop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If we remove 9, we must now promote from the right sub-tree:</a:t>
            </a:r>
          </a:p>
        </p:txBody>
      </p:sp>
      <p:pic>
        <p:nvPicPr>
          <p:cNvPr id="19460" name="Picture 5" descr="heap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189" y="3063252"/>
            <a:ext cx="4052411" cy="3084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720" y="2692559"/>
            <a:ext cx="41910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1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Push</a:t>
            </a: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Inserting into a heap may be done either: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At a leaf (move it up if it is smaller than the parent)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At the root (insert the larger object into one of the </a:t>
            </a:r>
            <a:r>
              <a:rPr lang="en-US" altLang="en-US" dirty="0" err="1" smtClean="0">
                <a:latin typeface="Arial" charset="0"/>
                <a:cs typeface="Arial" charset="0"/>
              </a:rPr>
              <a:t>subtrees</a:t>
            </a:r>
            <a:r>
              <a:rPr lang="en-US" altLang="en-US" dirty="0" smtClean="0">
                <a:latin typeface="Arial" charset="0"/>
                <a:cs typeface="Arial" charset="0"/>
              </a:rPr>
              <a:t>)</a:t>
            </a: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We will use the first approach with binary heaps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Other heaps use the second</a:t>
            </a:r>
          </a:p>
          <a:p>
            <a:pPr lvl="1"/>
            <a:endParaRPr lang="en-US" altLang="en-US" dirty="0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02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Push</a:t>
            </a: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Inserting 17 into the last heap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Select an arbitrary node to insert a new leaf node:</a:t>
            </a:r>
          </a:p>
        </p:txBody>
      </p:sp>
      <p:pic>
        <p:nvPicPr>
          <p:cNvPr id="21508" name="Picture 8" descr="heap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3176233"/>
            <a:ext cx="4426585" cy="3135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360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9" descr="heap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829" y="2614295"/>
            <a:ext cx="4819331" cy="3413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Push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node 17 is less than the node 32, so we swap them</a:t>
            </a:r>
          </a:p>
        </p:txBody>
      </p:sp>
    </p:spTree>
    <p:extLst>
      <p:ext uri="{BB962C8B-B14F-4D97-AF65-F5344CB8AC3E}">
        <p14:creationId xmlns:p14="http://schemas.microsoft.com/office/powerpoint/2010/main" val="226460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0" descr="heap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019" y="2492374"/>
            <a:ext cx="4936596" cy="349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Push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node 17 is less than the node 31; swap them</a:t>
            </a:r>
          </a:p>
        </p:txBody>
      </p:sp>
    </p:spTree>
    <p:extLst>
      <p:ext uri="{BB962C8B-B14F-4D97-AF65-F5344CB8AC3E}">
        <p14:creationId xmlns:p14="http://schemas.microsoft.com/office/powerpoint/2010/main" val="244245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1" descr="heap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125" y="2492375"/>
            <a:ext cx="5201490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Push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node 17 is less than the node 19; swap them</a:t>
            </a:r>
          </a:p>
        </p:txBody>
      </p:sp>
    </p:spTree>
    <p:extLst>
      <p:ext uri="{BB962C8B-B14F-4D97-AF65-F5344CB8AC3E}">
        <p14:creationId xmlns:p14="http://schemas.microsoft.com/office/powerpoint/2010/main" val="108705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Push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node 17 is greater than 12 so we are finished</a:t>
            </a:r>
          </a:p>
          <a:p>
            <a:pPr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pic>
        <p:nvPicPr>
          <p:cNvPr id="25604" name="Picture 4" descr="heap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475" y="2492374"/>
            <a:ext cx="5001139" cy="354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702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Push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Observation:  both the left and right subtrees of 19 were greater than 19, thus we are guaranteed that we don’t have to send the new node down</a:t>
            </a:r>
          </a:p>
          <a:p>
            <a:pPr>
              <a:buFont typeface="Arial" charset="0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This process is called </a:t>
            </a:r>
            <a:r>
              <a:rPr lang="en-US" altLang="en-US" i="1" smtClean="0">
                <a:latin typeface="Arial" charset="0"/>
                <a:cs typeface="Arial" charset="0"/>
              </a:rPr>
              <a:t>percolation</a:t>
            </a:r>
            <a:r>
              <a:rPr lang="en-US" altLang="en-US" smtClean="0">
                <a:latin typeface="Arial" charset="0"/>
                <a:cs typeface="Arial" charset="0"/>
              </a:rPr>
              <a:t>, that is, the lighter (smaller) objects move up from the bottom of the min-heap</a:t>
            </a:r>
          </a:p>
          <a:p>
            <a:pPr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56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Implementing Heap as a Complete Binary Tree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For example, the previous heap may be represented as the following (non-unique!) complete </a:t>
            </a:r>
            <a:r>
              <a:rPr lang="en-US" altLang="en-US" dirty="0" smtClean="0">
                <a:latin typeface="Arial" charset="0"/>
                <a:cs typeface="Arial" charset="0"/>
              </a:rPr>
              <a:t>binary tree</a:t>
            </a:r>
            <a:r>
              <a:rPr lang="en-US" altLang="en-US" dirty="0" smtClean="0">
                <a:latin typeface="Arial" charset="0"/>
                <a:cs typeface="Arial" charset="0"/>
              </a:rPr>
              <a:t>:</a:t>
            </a:r>
          </a:p>
        </p:txBody>
      </p:sp>
      <p:pic>
        <p:nvPicPr>
          <p:cNvPr id="30724" name="Picture 4" descr="heap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538" y="3245325"/>
            <a:ext cx="5625022" cy="3081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heap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40" y="2784316"/>
            <a:ext cx="5001139" cy="354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61440" y="2784316"/>
            <a:ext cx="5367338" cy="3906044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4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Complete </a:t>
            </a:r>
            <a:r>
              <a:rPr lang="en-US" altLang="en-US" dirty="0" smtClean="0">
                <a:latin typeface="Arial" charset="0"/>
                <a:cs typeface="Arial" charset="0"/>
              </a:rPr>
              <a:t>Binary Trees</a:t>
            </a:r>
            <a:r>
              <a:rPr lang="en-US" altLang="en-US" dirty="0" smtClean="0">
                <a:latin typeface="Arial" charset="0"/>
                <a:cs typeface="Arial" charset="0"/>
              </a:rPr>
              <a:t>:  Push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If we insert into a complete </a:t>
            </a:r>
            <a:r>
              <a:rPr lang="en-US" altLang="en-US" dirty="0" smtClean="0">
                <a:latin typeface="Arial" charset="0"/>
                <a:cs typeface="Arial" charset="0"/>
              </a:rPr>
              <a:t>Binary tree</a:t>
            </a:r>
            <a:r>
              <a:rPr lang="en-US" altLang="en-US" dirty="0" smtClean="0">
                <a:latin typeface="Arial" charset="0"/>
                <a:cs typeface="Arial" charset="0"/>
              </a:rPr>
              <a:t>, we need only place the new node as a leaf node in the appropriate location and percolate up</a:t>
            </a:r>
          </a:p>
        </p:txBody>
      </p:sp>
      <p:pic>
        <p:nvPicPr>
          <p:cNvPr id="31748" name="Picture 4" descr="heap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718" y="2992120"/>
            <a:ext cx="5752521" cy="315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Oval 7"/>
          <p:cNvSpPr>
            <a:spLocks noChangeArrowheads="1"/>
          </p:cNvSpPr>
          <p:nvPr/>
        </p:nvSpPr>
        <p:spPr bwMode="auto">
          <a:xfrm>
            <a:off x="4016319" y="5824540"/>
            <a:ext cx="287337" cy="2889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1800"/>
          </a:p>
        </p:txBody>
      </p:sp>
    </p:spTree>
    <p:extLst>
      <p:ext uri="{BB962C8B-B14F-4D97-AF65-F5344CB8AC3E}">
        <p14:creationId xmlns:p14="http://schemas.microsoft.com/office/powerpoint/2010/main" val="79059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Complete </a:t>
            </a:r>
            <a:r>
              <a:rPr lang="en-US" altLang="en-US" dirty="0" smtClean="0">
                <a:latin typeface="Arial" charset="0"/>
                <a:cs typeface="Arial" charset="0"/>
              </a:rPr>
              <a:t>Binary Trees</a:t>
            </a:r>
            <a:r>
              <a:rPr lang="en-US" altLang="en-US" dirty="0" smtClean="0">
                <a:latin typeface="Arial" charset="0"/>
                <a:cs typeface="Arial" charset="0"/>
              </a:rPr>
              <a:t>:  Push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For example, push 25:</a:t>
            </a:r>
          </a:p>
        </p:txBody>
      </p:sp>
      <p:pic>
        <p:nvPicPr>
          <p:cNvPr id="32772" name="Picture 4" descr="heap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563" y="2565400"/>
            <a:ext cx="4462462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5" descr="heap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240" y="2565400"/>
            <a:ext cx="6392545" cy="35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093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8" descr="C:\Users\dwharder\Desktop\a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2" y="3144521"/>
            <a:ext cx="6064567" cy="332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Push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We have to percolate 25 up into its appropriate location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The resulting heap is still a complete tree</a:t>
            </a:r>
          </a:p>
        </p:txBody>
      </p:sp>
    </p:spTree>
    <p:extLst>
      <p:ext uri="{BB962C8B-B14F-4D97-AF65-F5344CB8AC3E}">
        <p14:creationId xmlns:p14="http://schemas.microsoft.com/office/powerpoint/2010/main" val="247652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>
                <a:latin typeface="Arial" charset="0"/>
                <a:cs typeface="Arial" charset="0"/>
              </a:rPr>
              <a:t>Complete Trees:  Pop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Suppose we want to pop the top entry:  12</a:t>
            </a:r>
          </a:p>
        </p:txBody>
      </p:sp>
      <p:pic>
        <p:nvPicPr>
          <p:cNvPr id="34820" name="Picture 10" descr="C:\Users\dwharder\Desktop\x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2" y="2580641"/>
            <a:ext cx="5683567" cy="311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84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Percolating up creates a hole leading to a non-complete tree</a:t>
            </a:r>
          </a:p>
        </p:txBody>
      </p:sp>
      <p:pic>
        <p:nvPicPr>
          <p:cNvPr id="35844" name="Picture 9" descr="C:\Users\dwharder\Desktop\az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69528"/>
            <a:ext cx="5945822" cy="3642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0" descr="C:\Users\dwharder\Desktop\xx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" y="2931827"/>
            <a:ext cx="5683567" cy="311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79" y="2493677"/>
            <a:ext cx="2400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6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  <a:endParaRPr lang="en-CA" altLang="en-US" smtClean="0">
              <a:latin typeface="Arial" charset="0"/>
              <a:cs typeface="Arial" charset="0"/>
            </a:endParaRP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Alternatively, copy the last entry in the heap to the root</a:t>
            </a:r>
          </a:p>
        </p:txBody>
      </p:sp>
      <p:pic>
        <p:nvPicPr>
          <p:cNvPr id="36868" name="Picture 7" descr="C:\Users\dwharder\Desktop\aa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2" y="2508251"/>
            <a:ext cx="6415087" cy="3929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919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8" descr="C:\Users\dwharder\Desktop\aa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956" y="2837045"/>
            <a:ext cx="6338887" cy="3883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  <a:endParaRPr lang="en-CA" altLang="en-US" smtClean="0">
              <a:latin typeface="Arial" charset="0"/>
              <a:cs typeface="Arial" charset="0"/>
            </a:endParaRPr>
          </a:p>
        </p:txBody>
      </p:sp>
      <p:sp>
        <p:nvSpPr>
          <p:cNvPr id="378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Now, percolate 36 down swapping it with the smallest of its children</a:t>
            </a:r>
          </a:p>
          <a:p>
            <a:pPr lvl="1"/>
            <a:r>
              <a:rPr lang="en-CA" altLang="en-US" smtClean="0">
                <a:latin typeface="Arial" charset="0"/>
                <a:cs typeface="Arial" charset="0"/>
              </a:rPr>
              <a:t>We halt when both children are larger</a:t>
            </a:r>
          </a:p>
        </p:txBody>
      </p:sp>
      <p:pic>
        <p:nvPicPr>
          <p:cNvPr id="6" name="Picture 7" descr="C:\Users\dwharder\Desktop\aa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3" y="3445262"/>
            <a:ext cx="4956797" cy="3036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187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resulting tree is now still a complete tree:</a:t>
            </a:r>
          </a:p>
        </p:txBody>
      </p:sp>
      <p:pic>
        <p:nvPicPr>
          <p:cNvPr id="38916" name="Picture 11" descr="C:\Users\dwharder\Desktop\aa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2" y="2445067"/>
            <a:ext cx="6689407" cy="409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558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  <a:endParaRPr lang="en-CA" altLang="en-US" smtClean="0">
              <a:latin typeface="Arial" charset="0"/>
              <a:cs typeface="Arial" charset="0"/>
            </a:endParaRP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Again, popping 15, copy up the last entry:  88</a:t>
            </a:r>
          </a:p>
        </p:txBody>
      </p:sp>
      <p:pic>
        <p:nvPicPr>
          <p:cNvPr id="39940" name="Picture 9" descr="C:\Users\dwharder\Desktop\aa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472" y="2432051"/>
            <a:ext cx="5820728" cy="356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618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  <a:endParaRPr lang="en-CA" altLang="en-US" smtClean="0">
              <a:latin typeface="Arial" charset="0"/>
              <a:cs typeface="Arial" charset="0"/>
            </a:endParaRP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This time, it gets percolated down to the point where it has no children</a:t>
            </a:r>
          </a:p>
        </p:txBody>
      </p:sp>
      <p:pic>
        <p:nvPicPr>
          <p:cNvPr id="40964" name="Picture 10" descr="C:\Users\dwharder\Desktop\aa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538" y="2653931"/>
            <a:ext cx="6290548" cy="385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 descr="C:\Users\dwharder\Desktop\aa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15" y="3066042"/>
            <a:ext cx="4697337" cy="287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373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In popping 17, 53 is moved to the top</a:t>
            </a:r>
          </a:p>
        </p:txBody>
      </p:sp>
      <p:pic>
        <p:nvPicPr>
          <p:cNvPr id="41988" name="Picture 12" descr="C:\Users\dwharder\Desktop\aa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968" y="2471043"/>
            <a:ext cx="6269831" cy="3840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44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40865"/>
            <a:ext cx="10515600" cy="4351338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And percolated down, again to the deepest level</a:t>
            </a:r>
          </a:p>
        </p:txBody>
      </p:sp>
      <p:pic>
        <p:nvPicPr>
          <p:cNvPr id="43012" name="Picture 13" descr="C:\Users\dwharder\Desktop\aa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872" y="2548254"/>
            <a:ext cx="6143791" cy="3763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C:\Users\dwharder\Desktop\aa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69" y="3059558"/>
            <a:ext cx="4474480" cy="274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089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Popping 19 copies up 39</a:t>
            </a:r>
          </a:p>
        </p:txBody>
      </p:sp>
      <p:pic>
        <p:nvPicPr>
          <p:cNvPr id="44036" name="Picture 14" descr="C:\Users\dwharder\Desktop\aa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553" y="2215039"/>
            <a:ext cx="5831778" cy="3572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75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Complete Trees:  Pop</a:t>
            </a:r>
            <a:endParaRPr lang="en-CA" altLang="en-US" smtClean="0">
              <a:latin typeface="Arial" charset="0"/>
              <a:cs typeface="Arial" charset="0"/>
            </a:endParaRP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Which is then percolated down to the second deepest level</a:t>
            </a:r>
          </a:p>
        </p:txBody>
      </p:sp>
      <p:pic>
        <p:nvPicPr>
          <p:cNvPr id="45060" name="Picture 6" descr="C:\Users\dwharder\Desktop\aa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392" y="2621281"/>
            <a:ext cx="6367691" cy="3900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4" descr="C:\Users\dwharder\Desktop\aa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51" y="3129439"/>
            <a:ext cx="4245558" cy="2600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763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4" descr="heap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1773238"/>
            <a:ext cx="4462462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For the heap</a:t>
            </a:r>
          </a:p>
          <a:p>
            <a:endParaRPr lang="en-US" altLang="en-US" dirty="0" smtClean="0">
              <a:latin typeface="Arial" charset="0"/>
              <a:cs typeface="Arial" charset="0"/>
            </a:endParaRPr>
          </a:p>
          <a:p>
            <a:endParaRPr lang="en-US" altLang="en-US" dirty="0" smtClean="0">
              <a:latin typeface="Arial" charset="0"/>
              <a:cs typeface="Arial" charset="0"/>
            </a:endParaRPr>
          </a:p>
          <a:p>
            <a:endParaRPr lang="en-US" altLang="en-US" dirty="0" smtClean="0">
              <a:latin typeface="Arial" charset="0"/>
              <a:cs typeface="Arial" charset="0"/>
            </a:endParaRPr>
          </a:p>
          <a:p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</a:p>
          <a:p>
            <a:pPr>
              <a:buFontTx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</a:p>
          <a:p>
            <a:pPr>
              <a:buFontTx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a </a:t>
            </a:r>
            <a:r>
              <a:rPr lang="en-US" altLang="en-US" dirty="0" smtClean="0">
                <a:latin typeface="Arial" charset="0"/>
                <a:cs typeface="Arial" charset="0"/>
              </a:rPr>
              <a:t>level order </a:t>
            </a:r>
            <a:r>
              <a:rPr lang="en-US" altLang="en-US" dirty="0" smtClean="0">
                <a:latin typeface="Arial" charset="0"/>
                <a:cs typeface="Arial" charset="0"/>
              </a:rPr>
              <a:t>traversal yields:</a:t>
            </a:r>
          </a:p>
        </p:txBody>
      </p:sp>
      <p:pic>
        <p:nvPicPr>
          <p:cNvPr id="47109" name="Picture 45" descr="hash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314" y="5547360"/>
            <a:ext cx="4746352" cy="384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Rectangle 5"/>
          <p:cNvSpPr>
            <a:spLocks noChangeArrowheads="1"/>
          </p:cNvSpPr>
          <p:nvPr/>
        </p:nvSpPr>
        <p:spPr bwMode="auto">
          <a:xfrm>
            <a:off x="5950744" y="5596153"/>
            <a:ext cx="222083" cy="286905"/>
          </a:xfrm>
          <a:prstGeom prst="rect">
            <a:avLst/>
          </a:prstGeom>
          <a:noFill/>
          <a:ln w="22225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00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Recall that If we associate an index–starting at 1–with each entry in the breadth-first traversal, we get:</a:t>
            </a:r>
          </a:p>
          <a:p>
            <a:endParaRPr lang="en-US" altLang="en-US" dirty="0" smtClean="0">
              <a:latin typeface="Arial" charset="0"/>
              <a:cs typeface="Arial" charset="0"/>
            </a:endParaRPr>
          </a:p>
          <a:p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Given the entry at index k, it follows that: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The </a:t>
            </a:r>
            <a:r>
              <a:rPr lang="en-US" altLang="en-US" dirty="0">
                <a:latin typeface="Arial" charset="0"/>
                <a:cs typeface="Arial" charset="0"/>
              </a:rPr>
              <a:t>parent of node </a:t>
            </a:r>
            <a:r>
              <a:rPr lang="en-US" altLang="en-US" dirty="0" smtClean="0">
                <a:latin typeface="Arial" charset="0"/>
                <a:cs typeface="Arial" charset="0"/>
              </a:rPr>
              <a:t>is a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/2		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parent = k &gt;&gt; 1;</a:t>
            </a:r>
            <a:endParaRPr lang="en-US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the children are at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dirty="0" smtClean="0"/>
              <a:t> and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1	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	</a:t>
            </a:r>
            <a:r>
              <a:rPr lang="en-US" altLang="en-US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left_child</a:t>
            </a:r>
            <a:r>
              <a:rPr lang="en-US" alt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k 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				</a:t>
            </a:r>
            <a:r>
              <a:rPr lang="en-US" alt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right_child</a:t>
            </a:r>
            <a:r>
              <a:rPr lang="en-US" alt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left_child</a:t>
            </a: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| 1;</a:t>
            </a:r>
            <a:endParaRPr lang="en-US" altLang="en-US" sz="1600" dirty="0">
              <a:latin typeface="Times New Roman" pitchFamily="18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Cost (trivial): start array at position 1 instead of position 0</a:t>
            </a:r>
          </a:p>
        </p:txBody>
      </p:sp>
      <p:pic>
        <p:nvPicPr>
          <p:cNvPr id="48132" name="Picture 4" descr="heap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378" y="2960687"/>
            <a:ext cx="35242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3581718" y="3239769"/>
            <a:ext cx="215900" cy="215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1800"/>
          </a:p>
        </p:txBody>
      </p:sp>
      <p:sp>
        <p:nvSpPr>
          <p:cNvPr id="48134" name="TextBox 6"/>
          <p:cNvSpPr txBox="1">
            <a:spLocks noChangeArrowheads="1"/>
          </p:cNvSpPr>
          <p:nvPr/>
        </p:nvSpPr>
        <p:spPr bwMode="auto">
          <a:xfrm>
            <a:off x="1703389" y="682850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 smtClean="0"/>
              <a:t>.</a:t>
            </a:r>
            <a:endParaRPr lang="en-CA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0744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42" descr="heap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135" y="2477294"/>
            <a:ext cx="5818724" cy="3425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children of 15 are 17 and 32:</a:t>
            </a:r>
          </a:p>
        </p:txBody>
      </p:sp>
      <p:sp>
        <p:nvSpPr>
          <p:cNvPr id="49157" name="Rectangle 45"/>
          <p:cNvSpPr>
            <a:spLocks noChangeArrowheads="1"/>
          </p:cNvSpPr>
          <p:nvPr/>
        </p:nvSpPr>
        <p:spPr bwMode="auto">
          <a:xfrm>
            <a:off x="3272155" y="5595303"/>
            <a:ext cx="215900" cy="215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1800"/>
          </a:p>
        </p:txBody>
      </p:sp>
      <p:sp>
        <p:nvSpPr>
          <p:cNvPr id="49158" name="TextBox 6"/>
          <p:cNvSpPr txBox="1">
            <a:spLocks noChangeArrowheads="1"/>
          </p:cNvSpPr>
          <p:nvPr/>
        </p:nvSpPr>
        <p:spPr bwMode="auto">
          <a:xfrm>
            <a:off x="1703389" y="682850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 dirty="0" smtClean="0"/>
              <a:t>.</a:t>
            </a:r>
            <a:endParaRPr lang="en-CA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6150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6" descr="hash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753" y="2071370"/>
            <a:ext cx="4462462" cy="262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69907"/>
            <a:ext cx="10515600" cy="4351338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The children of 17 are 25 and 19:</a:t>
            </a:r>
          </a:p>
        </p:txBody>
      </p:sp>
      <p:sp>
        <p:nvSpPr>
          <p:cNvPr id="50182" name="TextBox 6"/>
          <p:cNvSpPr txBox="1">
            <a:spLocks noChangeArrowheads="1"/>
          </p:cNvSpPr>
          <p:nvPr/>
        </p:nvSpPr>
        <p:spPr bwMode="auto">
          <a:xfrm>
            <a:off x="1703389" y="682850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 dirty="0" smtClean="0"/>
              <a:t>.</a:t>
            </a:r>
            <a:endParaRPr lang="en-CA" altLang="en-US" sz="1800" dirty="0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079875" y="4437063"/>
            <a:ext cx="215900" cy="215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1800"/>
          </a:p>
        </p:txBody>
      </p:sp>
    </p:spTree>
    <p:extLst>
      <p:ext uri="{BB962C8B-B14F-4D97-AF65-F5344CB8AC3E}">
        <p14:creationId xmlns:p14="http://schemas.microsoft.com/office/powerpoint/2010/main" val="66803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69907"/>
            <a:ext cx="10515600" cy="4807056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The children of 32 are 41 and 36:</a:t>
            </a:r>
          </a:p>
        </p:txBody>
      </p:sp>
      <p:pic>
        <p:nvPicPr>
          <p:cNvPr id="51203" name="Picture 7" descr="heap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2060576"/>
            <a:ext cx="4462462" cy="262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</a:t>
            </a:r>
          </a:p>
        </p:txBody>
      </p:sp>
      <p:sp>
        <p:nvSpPr>
          <p:cNvPr id="51205" name="Rectangle 8"/>
          <p:cNvSpPr>
            <a:spLocks noChangeArrowheads="1"/>
          </p:cNvSpPr>
          <p:nvPr/>
        </p:nvSpPr>
        <p:spPr bwMode="auto">
          <a:xfrm>
            <a:off x="4079875" y="4437063"/>
            <a:ext cx="215900" cy="215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1800"/>
          </a:p>
        </p:txBody>
      </p:sp>
      <p:sp>
        <p:nvSpPr>
          <p:cNvPr id="51206" name="TextBox 6"/>
          <p:cNvSpPr txBox="1">
            <a:spLocks noChangeArrowheads="1"/>
          </p:cNvSpPr>
          <p:nvPr/>
        </p:nvSpPr>
        <p:spPr bwMode="auto">
          <a:xfrm>
            <a:off x="1703389" y="682850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 dirty="0" smtClean="0"/>
              <a:t>.</a:t>
            </a:r>
            <a:endParaRPr lang="en-CA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1501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36551"/>
            <a:ext cx="10515600" cy="1325563"/>
          </a:xfrm>
        </p:spPr>
        <p:txBody>
          <a:bodyPr/>
          <a:lstStyle/>
          <a:p>
            <a:r>
              <a:rPr lang="en-US" altLang="en-US" dirty="0" smtClean="0">
                <a:latin typeface="Arial" charset="0"/>
                <a:cs typeface="Arial" charset="0"/>
              </a:rPr>
              <a:t>Array Implementation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02080"/>
            <a:ext cx="10515600" cy="477488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children of 25 are 33 and 55:</a:t>
            </a:r>
          </a:p>
        </p:txBody>
      </p:sp>
      <p:pic>
        <p:nvPicPr>
          <p:cNvPr id="52228" name="Picture 4" descr="heap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2060576"/>
            <a:ext cx="4462462" cy="262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Rectangle 8"/>
          <p:cNvSpPr>
            <a:spLocks noChangeArrowheads="1"/>
          </p:cNvSpPr>
          <p:nvPr/>
        </p:nvSpPr>
        <p:spPr bwMode="auto">
          <a:xfrm>
            <a:off x="4079875" y="4437063"/>
            <a:ext cx="215900" cy="215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1800"/>
          </a:p>
        </p:txBody>
      </p:sp>
    </p:spTree>
    <p:extLst>
      <p:ext uri="{BB962C8B-B14F-4D97-AF65-F5344CB8AC3E}">
        <p14:creationId xmlns:p14="http://schemas.microsoft.com/office/powerpoint/2010/main" val="277674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If the heap-as-array has </a:t>
            </a:r>
            <a:r>
              <a:rPr lang="en-US" altLang="en-US" b="1" smtClean="0">
                <a:latin typeface="Consolas" pitchFamily="49" charset="0"/>
                <a:cs typeface="Consolas" pitchFamily="49" charset="0"/>
              </a:rPr>
              <a:t>count</a:t>
            </a:r>
            <a:r>
              <a:rPr lang="en-US" altLang="en-US" smtClean="0">
                <a:latin typeface="Arial" charset="0"/>
                <a:cs typeface="Arial" charset="0"/>
              </a:rPr>
              <a:t> entries, then the next empty node in the corresponding complete tree is at location </a:t>
            </a:r>
            <a:r>
              <a:rPr lang="en-US" altLang="en-US" b="1" smtClean="0">
                <a:latin typeface="Consolas" pitchFamily="49" charset="0"/>
                <a:cs typeface="Consolas" pitchFamily="49" charset="0"/>
              </a:rPr>
              <a:t>posn = count + 1</a:t>
            </a:r>
            <a:endParaRPr lang="en-US" altLang="en-US" smtClean="0">
              <a:latin typeface="Consolas" pitchFamily="49" charset="0"/>
              <a:cs typeface="Consolas" pitchFamily="49" charset="0"/>
            </a:endParaRP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We compare the item at location </a:t>
            </a:r>
            <a:r>
              <a:rPr lang="en-US" altLang="en-US" b="1" dirty="0" err="1" smtClean="0">
                <a:latin typeface="Consolas" pitchFamily="49" charset="0"/>
                <a:cs typeface="Consolas" pitchFamily="49" charset="0"/>
              </a:rPr>
              <a:t>posn</a:t>
            </a:r>
            <a:r>
              <a:rPr lang="en-US" altLang="en-US" dirty="0" smtClean="0">
                <a:latin typeface="Arial" charset="0"/>
                <a:cs typeface="Arial" charset="0"/>
              </a:rPr>
              <a:t> with the item at </a:t>
            </a:r>
            <a:r>
              <a:rPr lang="en-US" altLang="en-US" b="1" dirty="0" err="1" smtClean="0">
                <a:latin typeface="Consolas" pitchFamily="49" charset="0"/>
                <a:cs typeface="Consolas" pitchFamily="49" charset="0"/>
              </a:rPr>
              <a:t>posn</a:t>
            </a:r>
            <a:r>
              <a:rPr lang="en-US" altLang="en-US" b="1" dirty="0" smtClean="0">
                <a:latin typeface="Consolas" pitchFamily="49" charset="0"/>
                <a:cs typeface="Consolas" pitchFamily="49" charset="0"/>
              </a:rPr>
              <a:t>/2</a:t>
            </a:r>
          </a:p>
          <a:p>
            <a:pPr>
              <a:buFont typeface="Arial" charset="0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If they are out of order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Swap them, set </a:t>
            </a:r>
            <a:r>
              <a:rPr lang="en-US" altLang="en-US" b="1" dirty="0" err="1" smtClean="0">
                <a:latin typeface="Courier New" pitchFamily="49" charset="0"/>
                <a:cs typeface="Arial" charset="0"/>
              </a:rPr>
              <a:t>posn</a:t>
            </a:r>
            <a:r>
              <a:rPr lang="en-US" altLang="en-US" b="1" dirty="0" smtClean="0">
                <a:latin typeface="Courier New" pitchFamily="49" charset="0"/>
                <a:cs typeface="Arial" charset="0"/>
              </a:rPr>
              <a:t> /= 2</a:t>
            </a:r>
            <a:r>
              <a:rPr lang="en-US" altLang="en-US" dirty="0" smtClean="0">
                <a:latin typeface="Arial" charset="0"/>
                <a:cs typeface="Arial" charset="0"/>
              </a:rPr>
              <a:t> and repeat</a:t>
            </a:r>
          </a:p>
        </p:txBody>
      </p:sp>
      <p:sp>
        <p:nvSpPr>
          <p:cNvPr id="53252" name="TextBox 4"/>
          <p:cNvSpPr txBox="1">
            <a:spLocks noChangeArrowheads="1"/>
          </p:cNvSpPr>
          <p:nvPr/>
        </p:nvSpPr>
        <p:spPr bwMode="auto">
          <a:xfrm>
            <a:off x="1703389" y="682850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 dirty="0" smtClean="0"/>
              <a:t>.</a:t>
            </a:r>
            <a:endParaRPr lang="en-CA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5277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Consider the following heap, both as a tree and in its array representation</a:t>
            </a:r>
          </a:p>
        </p:txBody>
      </p:sp>
      <p:pic>
        <p:nvPicPr>
          <p:cNvPr id="54275" name="Picture 11" descr="heap7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2791461"/>
            <a:ext cx="5931978" cy="3385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</a:t>
            </a:r>
          </a:p>
        </p:txBody>
      </p:sp>
      <p:sp>
        <p:nvSpPr>
          <p:cNvPr id="54277" name="TextBox 4"/>
          <p:cNvSpPr txBox="1">
            <a:spLocks noChangeArrowheads="1"/>
          </p:cNvSpPr>
          <p:nvPr/>
        </p:nvSpPr>
        <p:spPr bwMode="auto">
          <a:xfrm>
            <a:off x="1703389" y="682850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 dirty="0" smtClean="0"/>
              <a:t>.</a:t>
            </a:r>
            <a:endParaRPr lang="en-CA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94856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Push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Inserting 26 requires no changes</a:t>
            </a:r>
          </a:p>
        </p:txBody>
      </p:sp>
      <p:pic>
        <p:nvPicPr>
          <p:cNvPr id="55300" name="Picture 9" descr="heap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715" y="2451418"/>
            <a:ext cx="6279118" cy="3583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955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 descr="heap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234" y="2902906"/>
            <a:ext cx="5556886" cy="3171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Push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Inserting 8 requires a few percolations:</a:t>
            </a:r>
          </a:p>
          <a:p>
            <a:pPr lvl="1"/>
            <a:r>
              <a:rPr lang="en-US" altLang="en-US" dirty="0" smtClean="0">
                <a:latin typeface="Arial" charset="0"/>
                <a:cs typeface="Arial" charset="0"/>
              </a:rPr>
              <a:t>Swap 8 and 23</a:t>
            </a:r>
          </a:p>
        </p:txBody>
      </p:sp>
      <p:sp>
        <p:nvSpPr>
          <p:cNvPr id="56324" name="Picture 8" descr="heap72"/>
          <p:cNvSpPr>
            <a:spLocks noChangeAspect="1" noChangeArrowheads="1"/>
          </p:cNvSpPr>
          <p:nvPr/>
        </p:nvSpPr>
        <p:spPr bwMode="auto">
          <a:xfrm>
            <a:off x="4333875" y="2420938"/>
            <a:ext cx="3524250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CA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556439" y="5674279"/>
            <a:ext cx="301686" cy="3693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294120" y="4646613"/>
            <a:ext cx="335280" cy="381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68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Push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Swap 8 and 12</a:t>
            </a:r>
          </a:p>
        </p:txBody>
      </p:sp>
      <p:pic>
        <p:nvPicPr>
          <p:cNvPr id="57348" name="Picture 9" descr="heap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08" y="2375218"/>
            <a:ext cx="6466040" cy="3690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11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Push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At this point, it is greater than its parent, so we are finished</a:t>
            </a:r>
          </a:p>
        </p:txBody>
      </p:sp>
      <p:pic>
        <p:nvPicPr>
          <p:cNvPr id="58372" name="Picture 9" descr="heap7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550" y="2819718"/>
            <a:ext cx="6118900" cy="3492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7839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As before, popping the top has us copy the last entry to the top</a:t>
            </a:r>
          </a:p>
        </p:txBody>
      </p:sp>
      <p:pic>
        <p:nvPicPr>
          <p:cNvPr id="59395" name="Picture 8" descr="x2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419" y="2682558"/>
            <a:ext cx="6645253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</p:spTree>
    <p:extLst>
      <p:ext uri="{BB962C8B-B14F-4D97-AF65-F5344CB8AC3E}">
        <p14:creationId xmlns:p14="http://schemas.microsoft.com/office/powerpoint/2010/main" val="219077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Instead, consider this strategy: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Copy the last object, 23, to the root</a:t>
            </a:r>
          </a:p>
        </p:txBody>
      </p:sp>
      <p:pic>
        <p:nvPicPr>
          <p:cNvPr id="60420" name="Picture 5" descr="x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219" y="2940844"/>
            <a:ext cx="5604127" cy="3371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85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Now percolate down</a:t>
            </a:r>
          </a:p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Compare Node 1 with its children:  Nodes 2 and 3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Swap 23 and 6</a:t>
            </a:r>
          </a:p>
        </p:txBody>
      </p:sp>
      <p:pic>
        <p:nvPicPr>
          <p:cNvPr id="61444" name="Picture 4" descr="x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563" y="2954654"/>
            <a:ext cx="5781357" cy="3477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608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Compare Node 2 with its children:  Nodes 4 and 5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Swap 23 and 9</a:t>
            </a:r>
          </a:p>
        </p:txBody>
      </p:sp>
      <p:pic>
        <p:nvPicPr>
          <p:cNvPr id="62468" name="Picture 4" descr="x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739" y="2985135"/>
            <a:ext cx="5701981" cy="3429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02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Compare Node 4 with its children:  Nodes 8 and 9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Swap 23 and 10</a:t>
            </a:r>
          </a:p>
        </p:txBody>
      </p:sp>
      <p:pic>
        <p:nvPicPr>
          <p:cNvPr id="63492" name="Picture 9" descr="x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979" y="2940843"/>
            <a:ext cx="5580061" cy="3356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10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children of Node 8 are beyond the end of the array: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Stop</a:t>
            </a:r>
          </a:p>
        </p:txBody>
      </p:sp>
      <p:pic>
        <p:nvPicPr>
          <p:cNvPr id="64516" name="Picture 4" descr="x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636463"/>
            <a:ext cx="5885816" cy="35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61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result is a binary min-heap</a:t>
            </a:r>
          </a:p>
        </p:txBody>
      </p:sp>
      <p:pic>
        <p:nvPicPr>
          <p:cNvPr id="65540" name="Picture 4" descr="x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699" y="2940844"/>
            <a:ext cx="6113461" cy="367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800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Dequeuing the minimum again: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Copy 26 to the root</a:t>
            </a:r>
          </a:p>
        </p:txBody>
      </p:sp>
      <p:pic>
        <p:nvPicPr>
          <p:cNvPr id="66564" name="Picture 5" descr="x2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739" y="2792882"/>
            <a:ext cx="5625781" cy="3384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973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Compare Node 1 with its children:  Nodes 2 and 3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Swap 26 and 8</a:t>
            </a:r>
          </a:p>
        </p:txBody>
      </p:sp>
      <p:pic>
        <p:nvPicPr>
          <p:cNvPr id="67588" name="Picture 5" descr="x2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459" y="2817494"/>
            <a:ext cx="5686741" cy="342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619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Compare Node 3 with its children:  Nodes 6 and 7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Swap 26 and 12</a:t>
            </a:r>
          </a:p>
        </p:txBody>
      </p:sp>
      <p:pic>
        <p:nvPicPr>
          <p:cNvPr id="68612" name="Picture 6" descr="x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459" y="2771775"/>
            <a:ext cx="5660869" cy="340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57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children of Node 6, Nodes 12 and 13 are unoccupied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Currently, </a:t>
            </a:r>
            <a:r>
              <a:rPr lang="en-US" altLang="en-US" smtClean="0">
                <a:latin typeface="Consolas" pitchFamily="49" charset="0"/>
                <a:cs typeface="Arial" charset="0"/>
              </a:rPr>
              <a:t>count == 11</a:t>
            </a:r>
          </a:p>
        </p:txBody>
      </p:sp>
      <p:pic>
        <p:nvPicPr>
          <p:cNvPr id="69636" name="Picture 4" descr="x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019" y="3183254"/>
            <a:ext cx="5201137" cy="3128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961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result is a min-heap</a:t>
            </a:r>
          </a:p>
        </p:txBody>
      </p:sp>
      <p:pic>
        <p:nvPicPr>
          <p:cNvPr id="70660" name="Picture 4" descr="x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619" y="3094355"/>
            <a:ext cx="5348927" cy="321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28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Dequeuing the minimum a third time: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Copy 15 to the root</a:t>
            </a:r>
          </a:p>
        </p:txBody>
      </p:sp>
      <p:pic>
        <p:nvPicPr>
          <p:cNvPr id="71684" name="Picture 6" descr="x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39" y="2832735"/>
            <a:ext cx="5381941" cy="323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02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Compare Node 1 with its children:  Nodes 2 and 3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Swap 15 and 9</a:t>
            </a:r>
          </a:p>
        </p:txBody>
      </p:sp>
      <p:pic>
        <p:nvPicPr>
          <p:cNvPr id="72708" name="Picture 6" descr="x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259" y="2969894"/>
            <a:ext cx="5823901" cy="3503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487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Compare Node 2 with its children:  Nodes 4 and 5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Swap 15 and 10</a:t>
            </a:r>
          </a:p>
        </p:txBody>
      </p:sp>
      <p:pic>
        <p:nvPicPr>
          <p:cNvPr id="73732" name="Picture 4" descr="x1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299" y="2805907"/>
            <a:ext cx="5604127" cy="3371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07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Compare Node 4 with its children:  Nodes 8 and 9</a:t>
            </a:r>
          </a:p>
          <a:p>
            <a:pPr lvl="1"/>
            <a:r>
              <a:rPr lang="en-US" altLang="en-US" smtClean="0">
                <a:latin typeface="Arial" charset="0"/>
                <a:cs typeface="Arial" charset="0"/>
              </a:rPr>
              <a:t>15 &lt; 23 and 15 &lt; 25 so stop</a:t>
            </a:r>
          </a:p>
        </p:txBody>
      </p:sp>
      <p:pic>
        <p:nvPicPr>
          <p:cNvPr id="74756" name="Picture 5" descr="x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979" y="3066098"/>
            <a:ext cx="5171579" cy="311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717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The result is a properly formed binary min-heap</a:t>
            </a:r>
          </a:p>
        </p:txBody>
      </p:sp>
      <p:pic>
        <p:nvPicPr>
          <p:cNvPr id="75780" name="Picture 7" descr="x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419" y="2512694"/>
            <a:ext cx="5500939" cy="330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547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latin typeface="Arial" charset="0"/>
                <a:cs typeface="Arial" charset="0"/>
              </a:rPr>
              <a:t>Array Implementation:  Pop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After all our modifications, the final heap is</a:t>
            </a:r>
          </a:p>
        </p:txBody>
      </p:sp>
      <p:pic>
        <p:nvPicPr>
          <p:cNvPr id="76804" name="Picture 4" descr="heap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563" y="3056256"/>
            <a:ext cx="4607878" cy="262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Picture 5" descr="heap7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56256"/>
            <a:ext cx="4607878" cy="262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5301615" y="3776980"/>
            <a:ext cx="1009650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35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276</Words>
  <Application>Microsoft Office PowerPoint</Application>
  <PresentationFormat>Widescreen</PresentationFormat>
  <Paragraphs>273</Paragraphs>
  <Slides>68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Arial</vt:lpstr>
      <vt:lpstr>Calibri</vt:lpstr>
      <vt:lpstr>Calibri Light</vt:lpstr>
      <vt:lpstr>Consolas</vt:lpstr>
      <vt:lpstr>Courier New</vt:lpstr>
      <vt:lpstr>Symbol</vt:lpstr>
      <vt:lpstr>Times New Roman</vt:lpstr>
      <vt:lpstr>Office Theme</vt:lpstr>
      <vt:lpstr>Heaps</vt:lpstr>
      <vt:lpstr>A Conceptual View</vt:lpstr>
      <vt:lpstr>Definition</vt:lpstr>
      <vt:lpstr>Definition</vt:lpstr>
      <vt:lpstr>Example</vt:lpstr>
      <vt:lpstr>Example</vt:lpstr>
      <vt:lpstr>Operations</vt:lpstr>
      <vt:lpstr>Example</vt:lpstr>
      <vt:lpstr>Pop</vt:lpstr>
      <vt:lpstr>Pop</vt:lpstr>
      <vt:lpstr>Pop</vt:lpstr>
      <vt:lpstr>Pop</vt:lpstr>
      <vt:lpstr>Pop</vt:lpstr>
      <vt:lpstr>Pop</vt:lpstr>
      <vt:lpstr>Pop</vt:lpstr>
      <vt:lpstr>Pop</vt:lpstr>
      <vt:lpstr>Push</vt:lpstr>
      <vt:lpstr>Push</vt:lpstr>
      <vt:lpstr>Push</vt:lpstr>
      <vt:lpstr>Push</vt:lpstr>
      <vt:lpstr>Push</vt:lpstr>
      <vt:lpstr>Push</vt:lpstr>
      <vt:lpstr>Push</vt:lpstr>
      <vt:lpstr>Implementing Heap as a Complete Binary Tree</vt:lpstr>
      <vt:lpstr>Complete Binary Trees:  Push</vt:lpstr>
      <vt:lpstr>Complete Binary Trees:  Push</vt:lpstr>
      <vt:lpstr>Complete Trees:  Push</vt:lpstr>
      <vt:lpstr>Complete Trees:  Pop</vt:lpstr>
      <vt:lpstr>Complete Trees:  Pop</vt:lpstr>
      <vt:lpstr>Complete Trees:  Pop</vt:lpstr>
      <vt:lpstr>Complete Trees:  Pop</vt:lpstr>
      <vt:lpstr>Complete Trees:  Pop</vt:lpstr>
      <vt:lpstr>Complete Trees:  Pop</vt:lpstr>
      <vt:lpstr>Complete Trees:  Pop</vt:lpstr>
      <vt:lpstr>Complete Trees:  Pop</vt:lpstr>
      <vt:lpstr>Complete Trees:  Pop</vt:lpstr>
      <vt:lpstr>Complete Trees:  Pop</vt:lpstr>
      <vt:lpstr>Complete Trees:  Pop</vt:lpstr>
      <vt:lpstr>Array Implementation</vt:lpstr>
      <vt:lpstr>Array Implementation</vt:lpstr>
      <vt:lpstr>Array Implementation</vt:lpstr>
      <vt:lpstr>Array Implementation</vt:lpstr>
      <vt:lpstr>Array Implementation</vt:lpstr>
      <vt:lpstr>Array Implementation</vt:lpstr>
      <vt:lpstr>Array Implementation</vt:lpstr>
      <vt:lpstr>Array Implementation</vt:lpstr>
      <vt:lpstr>Array Implementation:  Push</vt:lpstr>
      <vt:lpstr>Array Implementation:  Push</vt:lpstr>
      <vt:lpstr>Array Implementation:  Push</vt:lpstr>
      <vt:lpstr>Array Implementation:  Push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  <vt:lpstr>Array Implementation:  Pop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</dc:title>
  <dc:creator>user</dc:creator>
  <cp:lastModifiedBy>user</cp:lastModifiedBy>
  <cp:revision>13</cp:revision>
  <dcterms:created xsi:type="dcterms:W3CDTF">2021-12-07T16:05:05Z</dcterms:created>
  <dcterms:modified xsi:type="dcterms:W3CDTF">2021-12-08T03:12:54Z</dcterms:modified>
</cp:coreProperties>
</file>