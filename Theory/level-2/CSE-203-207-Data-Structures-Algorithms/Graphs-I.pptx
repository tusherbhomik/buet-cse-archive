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1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2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5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5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4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35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0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1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9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7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959A2-4047-4DF6-A2CD-42996DAE03A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A3079-CD3B-4254-8CE5-F23025A9C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9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8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What is a Graph?</a:t>
            </a:r>
          </a:p>
        </p:txBody>
      </p:sp>
      <p:sp>
        <p:nvSpPr>
          <p:cNvPr id="1024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0772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16E0FA-1DED-482E-9599-B478AAB2922C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2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102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2228850" y="1600200"/>
            <a:ext cx="8439150" cy="21161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A graph is a pair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V, E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, where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is a set of nodes, called </a:t>
            </a:r>
            <a:r>
              <a:rPr lang="en-US" altLang="en-US" sz="2000">
                <a:solidFill>
                  <a:schemeClr val="tx2"/>
                </a:solidFill>
              </a:rPr>
              <a:t>vertices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  <a:r>
              <a:rPr lang="en-US" altLang="en-US" sz="2000"/>
              <a:t> is a collection of pairs of vertices, called </a:t>
            </a:r>
            <a:r>
              <a:rPr lang="en-US" altLang="en-US" sz="2000">
                <a:solidFill>
                  <a:schemeClr val="tx2"/>
                </a:solidFill>
              </a:rPr>
              <a:t>edges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V(G) and E(G) represent the sets of vertices and edges of G, respectively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Example:</a:t>
            </a:r>
          </a:p>
        </p:txBody>
      </p:sp>
      <p:sp>
        <p:nvSpPr>
          <p:cNvPr id="10245" name="Rectangle 37"/>
          <p:cNvSpPr>
            <a:spLocks noChangeArrowheads="1"/>
          </p:cNvSpPr>
          <p:nvPr/>
        </p:nvSpPr>
        <p:spPr bwMode="auto">
          <a:xfrm>
            <a:off x="2198688" y="5805489"/>
            <a:ext cx="77835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000" b="1"/>
              <a:t>  </a:t>
            </a:r>
            <a:r>
              <a:rPr lang="en-US" altLang="en-US" sz="2000"/>
              <a:t>A tree is a special type of graph!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zh-TW" sz="2000"/>
              <a:t>  A </a:t>
            </a:r>
            <a:r>
              <a:rPr lang="en-US" altLang="zh-TW" sz="2000">
                <a:solidFill>
                  <a:schemeClr val="tx2"/>
                </a:solidFill>
              </a:rPr>
              <a:t>tree</a:t>
            </a:r>
            <a:r>
              <a:rPr lang="en-US" altLang="zh-TW" sz="2000"/>
              <a:t> is a graph that is connected and acyclic.</a:t>
            </a:r>
            <a:endParaRPr lang="en-US" altLang="en-US" sz="2000"/>
          </a:p>
        </p:txBody>
      </p:sp>
      <p:sp>
        <p:nvSpPr>
          <p:cNvPr id="10246" name="Rectangle 39"/>
          <p:cNvSpPr>
            <a:spLocks noChangeArrowheads="1"/>
          </p:cNvSpPr>
          <p:nvPr/>
        </p:nvSpPr>
        <p:spPr bwMode="auto">
          <a:xfrm>
            <a:off x="6477001" y="36655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7" name="Rectangle 40"/>
          <p:cNvSpPr>
            <a:spLocks noChangeArrowheads="1"/>
          </p:cNvSpPr>
          <p:nvPr/>
        </p:nvSpPr>
        <p:spPr bwMode="auto">
          <a:xfrm>
            <a:off x="6477001" y="5511801"/>
            <a:ext cx="47625" cy="23813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8" name="Rectangle 41"/>
          <p:cNvSpPr>
            <a:spLocks noChangeArrowheads="1"/>
          </p:cNvSpPr>
          <p:nvPr/>
        </p:nvSpPr>
        <p:spPr bwMode="auto">
          <a:xfrm>
            <a:off x="6477001" y="3690938"/>
            <a:ext cx="47625" cy="182086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9" name="Freeform 42"/>
          <p:cNvSpPr>
            <a:spLocks/>
          </p:cNvSpPr>
          <p:nvPr/>
        </p:nvSpPr>
        <p:spPr bwMode="auto">
          <a:xfrm>
            <a:off x="6489700" y="5500689"/>
            <a:ext cx="46038" cy="47625"/>
          </a:xfrm>
          <a:custGeom>
            <a:avLst/>
            <a:gdLst>
              <a:gd name="T0" fmla="*/ 0 w 34"/>
              <a:gd name="T1" fmla="*/ 27 h 37"/>
              <a:gd name="T2" fmla="*/ 17 w 34"/>
              <a:gd name="T3" fmla="*/ 37 h 37"/>
              <a:gd name="T4" fmla="*/ 34 w 34"/>
              <a:gd name="T5" fmla="*/ 9 h 37"/>
              <a:gd name="T6" fmla="*/ 17 w 34"/>
              <a:gd name="T7" fmla="*/ 0 h 37"/>
              <a:gd name="T8" fmla="*/ 0 w 34"/>
              <a:gd name="T9" fmla="*/ 27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0" y="27"/>
                </a:moveTo>
                <a:lnTo>
                  <a:pt x="17" y="37"/>
                </a:lnTo>
                <a:lnTo>
                  <a:pt x="34" y="9"/>
                </a:lnTo>
                <a:lnTo>
                  <a:pt x="17" y="0"/>
                </a:lnTo>
                <a:lnTo>
                  <a:pt x="0" y="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Freeform 43"/>
          <p:cNvSpPr>
            <a:spLocks/>
          </p:cNvSpPr>
          <p:nvPr/>
        </p:nvSpPr>
        <p:spPr bwMode="auto">
          <a:xfrm>
            <a:off x="5322889" y="4619625"/>
            <a:ext cx="46037" cy="58738"/>
          </a:xfrm>
          <a:custGeom>
            <a:avLst/>
            <a:gdLst>
              <a:gd name="T0" fmla="*/ 17 w 34"/>
              <a:gd name="T1" fmla="*/ 46 h 46"/>
              <a:gd name="T2" fmla="*/ 0 w 34"/>
              <a:gd name="T3" fmla="*/ 37 h 46"/>
              <a:gd name="T4" fmla="*/ 25 w 34"/>
              <a:gd name="T5" fmla="*/ 0 h 46"/>
              <a:gd name="T6" fmla="*/ 34 w 34"/>
              <a:gd name="T7" fmla="*/ 18 h 46"/>
              <a:gd name="T8" fmla="*/ 17 w 34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46"/>
              <a:gd name="T17" fmla="*/ 34 w 34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34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1" name="Freeform 44"/>
          <p:cNvSpPr>
            <a:spLocks/>
          </p:cNvSpPr>
          <p:nvPr/>
        </p:nvSpPr>
        <p:spPr bwMode="auto">
          <a:xfrm>
            <a:off x="5345113" y="4641851"/>
            <a:ext cx="1166812" cy="893763"/>
          </a:xfrm>
          <a:custGeom>
            <a:avLst/>
            <a:gdLst>
              <a:gd name="T0" fmla="*/ 852 w 869"/>
              <a:gd name="T1" fmla="*/ 693 h 693"/>
              <a:gd name="T2" fmla="*/ 869 w 869"/>
              <a:gd name="T3" fmla="*/ 666 h 693"/>
              <a:gd name="T4" fmla="*/ 17 w 869"/>
              <a:gd name="T5" fmla="*/ 0 h 693"/>
              <a:gd name="T6" fmla="*/ 0 w 869"/>
              <a:gd name="T7" fmla="*/ 28 h 693"/>
              <a:gd name="T8" fmla="*/ 852 w 869"/>
              <a:gd name="T9" fmla="*/ 693 h 6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9"/>
              <a:gd name="T16" fmla="*/ 0 h 693"/>
              <a:gd name="T17" fmla="*/ 869 w 869"/>
              <a:gd name="T18" fmla="*/ 693 h 6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9" h="693">
                <a:moveTo>
                  <a:pt x="852" y="693"/>
                </a:moveTo>
                <a:lnTo>
                  <a:pt x="869" y="666"/>
                </a:lnTo>
                <a:lnTo>
                  <a:pt x="17" y="0"/>
                </a:lnTo>
                <a:lnTo>
                  <a:pt x="0" y="28"/>
                </a:lnTo>
                <a:lnTo>
                  <a:pt x="852" y="693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Freeform 45"/>
          <p:cNvSpPr>
            <a:spLocks/>
          </p:cNvSpPr>
          <p:nvPr/>
        </p:nvSpPr>
        <p:spPr bwMode="auto">
          <a:xfrm>
            <a:off x="5345114" y="4641851"/>
            <a:ext cx="46037" cy="49213"/>
          </a:xfrm>
          <a:custGeom>
            <a:avLst/>
            <a:gdLst>
              <a:gd name="T0" fmla="*/ 0 w 34"/>
              <a:gd name="T1" fmla="*/ 28 h 37"/>
              <a:gd name="T2" fmla="*/ 17 w 34"/>
              <a:gd name="T3" fmla="*/ 37 h 37"/>
              <a:gd name="T4" fmla="*/ 34 w 34"/>
              <a:gd name="T5" fmla="*/ 9 h 37"/>
              <a:gd name="T6" fmla="*/ 26 w 34"/>
              <a:gd name="T7" fmla="*/ 0 h 37"/>
              <a:gd name="T8" fmla="*/ 0 w 34"/>
              <a:gd name="T9" fmla="*/ 28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0" y="28"/>
                </a:moveTo>
                <a:lnTo>
                  <a:pt x="17" y="37"/>
                </a:lnTo>
                <a:lnTo>
                  <a:pt x="34" y="9"/>
                </a:lnTo>
                <a:lnTo>
                  <a:pt x="26" y="0"/>
                </a:lnTo>
                <a:lnTo>
                  <a:pt x="0" y="28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Freeform 46"/>
          <p:cNvSpPr>
            <a:spLocks/>
          </p:cNvSpPr>
          <p:nvPr/>
        </p:nvSpPr>
        <p:spPr bwMode="auto">
          <a:xfrm>
            <a:off x="4178300" y="3654425"/>
            <a:ext cx="58738" cy="58738"/>
          </a:xfrm>
          <a:custGeom>
            <a:avLst/>
            <a:gdLst>
              <a:gd name="T0" fmla="*/ 17 w 43"/>
              <a:gd name="T1" fmla="*/ 46 h 46"/>
              <a:gd name="T2" fmla="*/ 0 w 43"/>
              <a:gd name="T3" fmla="*/ 37 h 46"/>
              <a:gd name="T4" fmla="*/ 25 w 43"/>
              <a:gd name="T5" fmla="*/ 0 h 46"/>
              <a:gd name="T6" fmla="*/ 43 w 43"/>
              <a:gd name="T7" fmla="*/ 18 h 46"/>
              <a:gd name="T8" fmla="*/ 17 w 43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6"/>
              <a:gd name="T17" fmla="*/ 43 w 43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Freeform 47"/>
          <p:cNvSpPr>
            <a:spLocks/>
          </p:cNvSpPr>
          <p:nvPr/>
        </p:nvSpPr>
        <p:spPr bwMode="auto">
          <a:xfrm>
            <a:off x="4202114" y="3676651"/>
            <a:ext cx="1177925" cy="1001713"/>
          </a:xfrm>
          <a:custGeom>
            <a:avLst/>
            <a:gdLst>
              <a:gd name="T0" fmla="*/ 852 w 878"/>
              <a:gd name="T1" fmla="*/ 777 h 777"/>
              <a:gd name="T2" fmla="*/ 878 w 878"/>
              <a:gd name="T3" fmla="*/ 749 h 777"/>
              <a:gd name="T4" fmla="*/ 26 w 878"/>
              <a:gd name="T5" fmla="*/ 0 h 777"/>
              <a:gd name="T6" fmla="*/ 0 w 878"/>
              <a:gd name="T7" fmla="*/ 28 h 777"/>
              <a:gd name="T8" fmla="*/ 852 w 878"/>
              <a:gd name="T9" fmla="*/ 777 h 7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8"/>
              <a:gd name="T16" fmla="*/ 0 h 777"/>
              <a:gd name="T17" fmla="*/ 878 w 878"/>
              <a:gd name="T18" fmla="*/ 777 h 7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8" h="777">
                <a:moveTo>
                  <a:pt x="852" y="777"/>
                </a:moveTo>
                <a:lnTo>
                  <a:pt x="878" y="749"/>
                </a:lnTo>
                <a:lnTo>
                  <a:pt x="26" y="0"/>
                </a:lnTo>
                <a:lnTo>
                  <a:pt x="0" y="28"/>
                </a:lnTo>
                <a:lnTo>
                  <a:pt x="852" y="77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5" name="Freeform 48"/>
          <p:cNvSpPr>
            <a:spLocks/>
          </p:cNvSpPr>
          <p:nvPr/>
        </p:nvSpPr>
        <p:spPr bwMode="auto">
          <a:xfrm>
            <a:off x="5345114" y="4619625"/>
            <a:ext cx="46037" cy="58738"/>
          </a:xfrm>
          <a:custGeom>
            <a:avLst/>
            <a:gdLst>
              <a:gd name="T0" fmla="*/ 17 w 34"/>
              <a:gd name="T1" fmla="*/ 46 h 46"/>
              <a:gd name="T2" fmla="*/ 34 w 34"/>
              <a:gd name="T3" fmla="*/ 37 h 46"/>
              <a:gd name="T4" fmla="*/ 17 w 34"/>
              <a:gd name="T5" fmla="*/ 0 h 46"/>
              <a:gd name="T6" fmla="*/ 0 w 34"/>
              <a:gd name="T7" fmla="*/ 18 h 46"/>
              <a:gd name="T8" fmla="*/ 17 w 34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46"/>
              <a:gd name="T17" fmla="*/ 34 w 34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46">
                <a:moveTo>
                  <a:pt x="17" y="46"/>
                </a:moveTo>
                <a:lnTo>
                  <a:pt x="34" y="37"/>
                </a:lnTo>
                <a:lnTo>
                  <a:pt x="17" y="0"/>
                </a:lnTo>
                <a:lnTo>
                  <a:pt x="0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Freeform 49"/>
          <p:cNvSpPr>
            <a:spLocks/>
          </p:cNvSpPr>
          <p:nvPr/>
        </p:nvSpPr>
        <p:spPr bwMode="auto">
          <a:xfrm>
            <a:off x="4178300" y="5500689"/>
            <a:ext cx="46038" cy="47625"/>
          </a:xfrm>
          <a:custGeom>
            <a:avLst/>
            <a:gdLst>
              <a:gd name="T0" fmla="*/ 34 w 34"/>
              <a:gd name="T1" fmla="*/ 27 h 37"/>
              <a:gd name="T2" fmla="*/ 25 w 34"/>
              <a:gd name="T3" fmla="*/ 37 h 37"/>
              <a:gd name="T4" fmla="*/ 0 w 34"/>
              <a:gd name="T5" fmla="*/ 9 h 37"/>
              <a:gd name="T6" fmla="*/ 17 w 34"/>
              <a:gd name="T7" fmla="*/ 0 h 37"/>
              <a:gd name="T8" fmla="*/ 34 w 34"/>
              <a:gd name="T9" fmla="*/ 27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34" y="27"/>
                </a:moveTo>
                <a:lnTo>
                  <a:pt x="25" y="37"/>
                </a:lnTo>
                <a:lnTo>
                  <a:pt x="0" y="9"/>
                </a:lnTo>
                <a:lnTo>
                  <a:pt x="17" y="0"/>
                </a:lnTo>
                <a:lnTo>
                  <a:pt x="34" y="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7" name="Freeform 50"/>
          <p:cNvSpPr>
            <a:spLocks/>
          </p:cNvSpPr>
          <p:nvPr/>
        </p:nvSpPr>
        <p:spPr bwMode="auto">
          <a:xfrm>
            <a:off x="4202113" y="4641851"/>
            <a:ext cx="1166812" cy="893763"/>
          </a:xfrm>
          <a:custGeom>
            <a:avLst/>
            <a:gdLst>
              <a:gd name="T0" fmla="*/ 869 w 869"/>
              <a:gd name="T1" fmla="*/ 28 h 693"/>
              <a:gd name="T2" fmla="*/ 852 w 869"/>
              <a:gd name="T3" fmla="*/ 0 h 693"/>
              <a:gd name="T4" fmla="*/ 0 w 869"/>
              <a:gd name="T5" fmla="*/ 666 h 693"/>
              <a:gd name="T6" fmla="*/ 17 w 869"/>
              <a:gd name="T7" fmla="*/ 693 h 693"/>
              <a:gd name="T8" fmla="*/ 869 w 869"/>
              <a:gd name="T9" fmla="*/ 28 h 6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9"/>
              <a:gd name="T16" fmla="*/ 0 h 693"/>
              <a:gd name="T17" fmla="*/ 869 w 869"/>
              <a:gd name="T18" fmla="*/ 693 h 6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9" h="693">
                <a:moveTo>
                  <a:pt x="869" y="28"/>
                </a:moveTo>
                <a:lnTo>
                  <a:pt x="852" y="0"/>
                </a:lnTo>
                <a:lnTo>
                  <a:pt x="0" y="666"/>
                </a:lnTo>
                <a:lnTo>
                  <a:pt x="17" y="693"/>
                </a:lnTo>
                <a:lnTo>
                  <a:pt x="869" y="28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8" name="Rectangle 51"/>
          <p:cNvSpPr>
            <a:spLocks noChangeArrowheads="1"/>
          </p:cNvSpPr>
          <p:nvPr/>
        </p:nvSpPr>
        <p:spPr bwMode="auto">
          <a:xfrm>
            <a:off x="4189414" y="36655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9" name="Rectangle 52"/>
          <p:cNvSpPr>
            <a:spLocks noChangeArrowheads="1"/>
          </p:cNvSpPr>
          <p:nvPr/>
        </p:nvSpPr>
        <p:spPr bwMode="auto">
          <a:xfrm>
            <a:off x="4189414" y="5511801"/>
            <a:ext cx="47625" cy="23813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0" name="Rectangle 53"/>
          <p:cNvSpPr>
            <a:spLocks noChangeArrowheads="1"/>
          </p:cNvSpPr>
          <p:nvPr/>
        </p:nvSpPr>
        <p:spPr bwMode="auto">
          <a:xfrm>
            <a:off x="4189414" y="3690938"/>
            <a:ext cx="47625" cy="182086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1" name="Rectangle 54"/>
          <p:cNvSpPr>
            <a:spLocks noChangeArrowheads="1"/>
          </p:cNvSpPr>
          <p:nvPr/>
        </p:nvSpPr>
        <p:spPr bwMode="auto">
          <a:xfrm>
            <a:off x="4189414" y="3665539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2" name="Rectangle 55"/>
          <p:cNvSpPr>
            <a:spLocks noChangeArrowheads="1"/>
          </p:cNvSpPr>
          <p:nvPr/>
        </p:nvSpPr>
        <p:spPr bwMode="auto">
          <a:xfrm>
            <a:off x="6500813" y="3665539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3" name="Rectangle 56"/>
          <p:cNvSpPr>
            <a:spLocks noChangeArrowheads="1"/>
          </p:cNvSpPr>
          <p:nvPr/>
        </p:nvSpPr>
        <p:spPr bwMode="auto">
          <a:xfrm>
            <a:off x="4211639" y="3665539"/>
            <a:ext cx="228917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4" name="Rectangle 57"/>
          <p:cNvSpPr>
            <a:spLocks noChangeArrowheads="1"/>
          </p:cNvSpPr>
          <p:nvPr/>
        </p:nvSpPr>
        <p:spPr bwMode="auto">
          <a:xfrm>
            <a:off x="4189414" y="5487989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5" name="Rectangle 58"/>
          <p:cNvSpPr>
            <a:spLocks noChangeArrowheads="1"/>
          </p:cNvSpPr>
          <p:nvPr/>
        </p:nvSpPr>
        <p:spPr bwMode="auto">
          <a:xfrm>
            <a:off x="6500813" y="5487989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6" name="Rectangle 59"/>
          <p:cNvSpPr>
            <a:spLocks noChangeArrowheads="1"/>
          </p:cNvSpPr>
          <p:nvPr/>
        </p:nvSpPr>
        <p:spPr bwMode="auto">
          <a:xfrm>
            <a:off x="4211639" y="5487989"/>
            <a:ext cx="228917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7" name="Oval 60"/>
          <p:cNvSpPr>
            <a:spLocks noChangeArrowheads="1"/>
          </p:cNvSpPr>
          <p:nvPr/>
        </p:nvSpPr>
        <p:spPr bwMode="auto">
          <a:xfrm>
            <a:off x="4005264" y="3475039"/>
            <a:ext cx="414337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8" name="Oval 61"/>
          <p:cNvSpPr>
            <a:spLocks noChangeArrowheads="1"/>
          </p:cNvSpPr>
          <p:nvPr/>
        </p:nvSpPr>
        <p:spPr bwMode="auto">
          <a:xfrm>
            <a:off x="4010026" y="3479800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9" name="Oval 62"/>
          <p:cNvSpPr>
            <a:spLocks noChangeArrowheads="1"/>
          </p:cNvSpPr>
          <p:nvPr/>
        </p:nvSpPr>
        <p:spPr bwMode="auto">
          <a:xfrm>
            <a:off x="6292851" y="5299075"/>
            <a:ext cx="415925" cy="4270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0" name="Oval 63"/>
          <p:cNvSpPr>
            <a:spLocks noChangeArrowheads="1"/>
          </p:cNvSpPr>
          <p:nvPr/>
        </p:nvSpPr>
        <p:spPr bwMode="auto">
          <a:xfrm>
            <a:off x="6299201" y="5302250"/>
            <a:ext cx="404813" cy="420688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1" name="Oval 64"/>
          <p:cNvSpPr>
            <a:spLocks noChangeArrowheads="1"/>
          </p:cNvSpPr>
          <p:nvPr/>
        </p:nvSpPr>
        <p:spPr bwMode="auto">
          <a:xfrm>
            <a:off x="5149850" y="4440239"/>
            <a:ext cx="414338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2" name="Oval 65"/>
          <p:cNvSpPr>
            <a:spLocks noChangeArrowheads="1"/>
          </p:cNvSpPr>
          <p:nvPr/>
        </p:nvSpPr>
        <p:spPr bwMode="auto">
          <a:xfrm>
            <a:off x="5154613" y="4445000"/>
            <a:ext cx="404812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3" name="Oval 66"/>
          <p:cNvSpPr>
            <a:spLocks noChangeArrowheads="1"/>
          </p:cNvSpPr>
          <p:nvPr/>
        </p:nvSpPr>
        <p:spPr bwMode="auto">
          <a:xfrm>
            <a:off x="6292851" y="3475039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4" name="Oval 67"/>
          <p:cNvSpPr>
            <a:spLocks noChangeArrowheads="1"/>
          </p:cNvSpPr>
          <p:nvPr/>
        </p:nvSpPr>
        <p:spPr bwMode="auto">
          <a:xfrm>
            <a:off x="6299201" y="3479800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5" name="Oval 68"/>
          <p:cNvSpPr>
            <a:spLocks noChangeArrowheads="1"/>
          </p:cNvSpPr>
          <p:nvPr/>
        </p:nvSpPr>
        <p:spPr bwMode="auto">
          <a:xfrm>
            <a:off x="4005264" y="5299075"/>
            <a:ext cx="414337" cy="4270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6" name="Oval 69"/>
          <p:cNvSpPr>
            <a:spLocks noChangeArrowheads="1"/>
          </p:cNvSpPr>
          <p:nvPr/>
        </p:nvSpPr>
        <p:spPr bwMode="auto">
          <a:xfrm>
            <a:off x="4010026" y="5302250"/>
            <a:ext cx="404813" cy="420688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7" name="Rectangle 70"/>
          <p:cNvSpPr>
            <a:spLocks noChangeArrowheads="1"/>
          </p:cNvSpPr>
          <p:nvPr/>
        </p:nvSpPr>
        <p:spPr bwMode="auto">
          <a:xfrm>
            <a:off x="4106863" y="342900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0278" name="Rectangle 71"/>
          <p:cNvSpPr>
            <a:spLocks noChangeArrowheads="1"/>
          </p:cNvSpPr>
          <p:nvPr/>
        </p:nvSpPr>
        <p:spPr bwMode="auto">
          <a:xfrm>
            <a:off x="6419850" y="3454400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0279" name="Rectangle 72"/>
          <p:cNvSpPr>
            <a:spLocks noChangeArrowheads="1"/>
          </p:cNvSpPr>
          <p:nvPr/>
        </p:nvSpPr>
        <p:spPr bwMode="auto">
          <a:xfrm>
            <a:off x="5262563" y="4411664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0280" name="Rectangle 73"/>
          <p:cNvSpPr>
            <a:spLocks noChangeArrowheads="1"/>
          </p:cNvSpPr>
          <p:nvPr/>
        </p:nvSpPr>
        <p:spPr bwMode="auto">
          <a:xfrm>
            <a:off x="4106863" y="5287964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0281" name="Rectangle 74"/>
          <p:cNvSpPr>
            <a:spLocks noChangeArrowheads="1"/>
          </p:cNvSpPr>
          <p:nvPr/>
        </p:nvSpPr>
        <p:spPr bwMode="auto">
          <a:xfrm>
            <a:off x="6408738" y="525462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0282" name="Rectangle 75"/>
          <p:cNvSpPr>
            <a:spLocks noChangeArrowheads="1"/>
          </p:cNvSpPr>
          <p:nvPr/>
        </p:nvSpPr>
        <p:spPr bwMode="auto">
          <a:xfrm>
            <a:off x="7248526" y="3455989"/>
            <a:ext cx="309562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FA2C25"/>
                </a:solidFill>
                <a:latin typeface="Times" panose="02020603050405020304" pitchFamily="18" charset="0"/>
              </a:rPr>
              <a:t>V</a:t>
            </a:r>
            <a:r>
              <a:rPr lang="en-US" altLang="en-US">
                <a:latin typeface="Times" panose="02020603050405020304" pitchFamily="18" charset="0"/>
              </a:rPr>
              <a:t>= {a, b, c, d, e}</a:t>
            </a:r>
          </a:p>
          <a:p>
            <a:pPr algn="l"/>
            <a:endParaRPr lang="en-US" altLang="en-US" sz="1000">
              <a:latin typeface="Times" panose="02020603050405020304" pitchFamily="18" charset="0"/>
            </a:endParaRPr>
          </a:p>
          <a:p>
            <a:pPr algn="l"/>
            <a:r>
              <a:rPr lang="en-US" altLang="en-US">
                <a:solidFill>
                  <a:srgbClr val="008000"/>
                </a:solidFill>
                <a:latin typeface="Times" panose="02020603050405020304" pitchFamily="18" charset="0"/>
              </a:rPr>
              <a:t>E</a:t>
            </a:r>
            <a:r>
              <a:rPr lang="en-US" altLang="en-US">
                <a:latin typeface="Times" panose="02020603050405020304" pitchFamily="18" charset="0"/>
              </a:rPr>
              <a:t>= {(a,b), (a,c), (a,d),</a:t>
            </a:r>
          </a:p>
          <a:p>
            <a:pPr algn="l"/>
            <a:r>
              <a:rPr lang="en-US" altLang="en-US">
                <a:latin typeface="Times" panose="02020603050405020304" pitchFamily="18" charset="0"/>
              </a:rPr>
              <a:t>(b,e), (c,d), (c,e), (d,e)}</a:t>
            </a:r>
          </a:p>
        </p:txBody>
      </p:sp>
    </p:spTree>
    <p:extLst>
      <p:ext uri="{BB962C8B-B14F-4D97-AF65-F5344CB8AC3E}">
        <p14:creationId xmlns:p14="http://schemas.microsoft.com/office/powerpoint/2010/main" val="338166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75E523D4-682A-4094-98C6-660764623FEE}" type="slidenum">
              <a:rPr lang="en-US" altLang="en-US" sz="1400"/>
              <a:pPr algn="r" eaLnBrk="1" hangingPunct="1"/>
              <a:t>3</a:t>
            </a:fld>
            <a:endParaRPr lang="en-US" altLang="en-US" sz="1400"/>
          </a:p>
        </p:txBody>
      </p:sp>
      <p:graphicFrame>
        <p:nvGraphicFramePr>
          <p:cNvPr id="1026" name="Object 2052"/>
          <p:cNvGraphicFramePr>
            <a:graphicFrameLocks noChangeAspect="1"/>
          </p:cNvGraphicFramePr>
          <p:nvPr/>
        </p:nvGraphicFramePr>
        <p:xfrm>
          <a:off x="2133600" y="1314450"/>
          <a:ext cx="8077200" cy="508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3" imgW="10087200" imgH="7006320" progId="Visio.Drawing.6">
                  <p:embed/>
                </p:oleObj>
              </mc:Choice>
              <mc:Fallback>
                <p:oleObj name="VISIO" r:id="rId3" imgW="10087200" imgH="7006320" progId="Visio.Drawing.6">
                  <p:embed/>
                  <p:pic>
                    <p:nvPicPr>
                      <p:cNvPr id="1026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314450"/>
                        <a:ext cx="8077200" cy="508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048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Applications</a:t>
            </a:r>
          </a:p>
        </p:txBody>
      </p:sp>
      <p:sp>
        <p:nvSpPr>
          <p:cNvPr id="32774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600200"/>
            <a:ext cx="4114800" cy="4724400"/>
          </a:xfrm>
        </p:spPr>
        <p:txBody>
          <a:bodyPr>
            <a:normAutofit/>
          </a:bodyPr>
          <a:lstStyle/>
          <a:p>
            <a:pPr marL="274320" indent="-274320">
              <a:buFont typeface="Wingdings"/>
              <a:buChar char=""/>
              <a:defRPr/>
            </a:pPr>
            <a:r>
              <a:rPr lang="en-US" smtClean="0"/>
              <a:t>Electronic circuits</a:t>
            </a:r>
          </a:p>
          <a:p>
            <a:pPr marL="640080" lvl="1" indent="-274320">
              <a:buFont typeface="Wingdings 2"/>
              <a:buChar char=""/>
              <a:defRPr/>
            </a:pPr>
            <a:r>
              <a:rPr lang="en-US" sz="2000"/>
              <a:t>Printed circuit board</a:t>
            </a:r>
          </a:p>
          <a:p>
            <a:pPr marL="640080" lvl="1" indent="-274320">
              <a:buFont typeface="Wingdings 2"/>
              <a:buChar char=""/>
              <a:defRPr/>
            </a:pPr>
            <a:r>
              <a:rPr lang="en-US" sz="2000"/>
              <a:t>Integrated circuit</a:t>
            </a:r>
          </a:p>
          <a:p>
            <a:pPr marL="274320" indent="-274320">
              <a:buFont typeface="Wingdings"/>
              <a:buChar char=""/>
              <a:defRPr/>
            </a:pPr>
            <a:r>
              <a:rPr lang="en-US" smtClean="0"/>
              <a:t>Transportation networks</a:t>
            </a:r>
          </a:p>
          <a:p>
            <a:pPr marL="640080" lvl="1" indent="-274320">
              <a:buFont typeface="Wingdings 2"/>
              <a:buChar char=""/>
              <a:defRPr/>
            </a:pPr>
            <a:r>
              <a:rPr lang="en-US" sz="2000"/>
              <a:t>Highway network</a:t>
            </a:r>
          </a:p>
          <a:p>
            <a:pPr marL="640080" lvl="1" indent="-274320">
              <a:buFont typeface="Wingdings 2"/>
              <a:buChar char=""/>
              <a:defRPr/>
            </a:pPr>
            <a:r>
              <a:rPr lang="en-US" sz="2000"/>
              <a:t>Flight network</a:t>
            </a:r>
          </a:p>
          <a:p>
            <a:pPr marL="274320" indent="-274320">
              <a:buFont typeface="Wingdings"/>
              <a:buChar char=""/>
              <a:defRPr/>
            </a:pPr>
            <a:r>
              <a:rPr lang="en-US" smtClean="0"/>
              <a:t>Computer networks</a:t>
            </a:r>
          </a:p>
          <a:p>
            <a:pPr marL="640080" lvl="1" indent="-274320">
              <a:buFont typeface="Wingdings 2"/>
              <a:buChar char=""/>
              <a:defRPr/>
            </a:pPr>
            <a:r>
              <a:rPr lang="en-US" sz="2000"/>
              <a:t>Local area network</a:t>
            </a:r>
          </a:p>
          <a:p>
            <a:pPr marL="640080" lvl="1" indent="-274320">
              <a:buFont typeface="Wingdings 2"/>
              <a:buChar char=""/>
              <a:defRPr/>
            </a:pPr>
            <a:r>
              <a:rPr lang="en-US" sz="2000"/>
              <a:t>Internet</a:t>
            </a:r>
          </a:p>
          <a:p>
            <a:pPr marL="640080" lvl="1" indent="-274320">
              <a:buFont typeface="Wingdings 2"/>
              <a:buChar char=""/>
              <a:defRPr/>
            </a:pPr>
            <a:r>
              <a:rPr lang="en-US" sz="2000"/>
              <a:t>Web</a:t>
            </a:r>
          </a:p>
          <a:p>
            <a:pPr marL="274320" indent="-274320">
              <a:buFont typeface="Wingdings"/>
              <a:buChar char=""/>
              <a:defRPr/>
            </a:pPr>
            <a:r>
              <a:rPr lang="en-US" smtClean="0"/>
              <a:t>Databases</a:t>
            </a:r>
          </a:p>
          <a:p>
            <a:pPr marL="640080" lvl="1" indent="-274320">
              <a:buFont typeface="Wingdings 2"/>
              <a:buChar char=""/>
              <a:defRPr/>
            </a:pPr>
            <a:r>
              <a:rPr lang="en-US" sz="2000"/>
              <a:t>Entity-relationship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257983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22A40E38-5DC2-42BA-81A7-2CA32D7F941E}" type="slidenum">
              <a:rPr lang="en-US" altLang="en-US" sz="1400"/>
              <a:pPr algn="r" eaLnBrk="1" hangingPunct="1"/>
              <a:t>4</a:t>
            </a:fld>
            <a:endParaRPr lang="en-US" altLang="en-US" sz="1400"/>
          </a:p>
        </p:txBody>
      </p:sp>
      <p:sp>
        <p:nvSpPr>
          <p:cNvPr id="33797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048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What can we do with graphs?</a:t>
            </a:r>
          </a:p>
        </p:txBody>
      </p:sp>
      <p:sp>
        <p:nvSpPr>
          <p:cNvPr id="11268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600200"/>
            <a:ext cx="7772400" cy="4724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mtClean="0"/>
              <a:t>Find a </a:t>
            </a:r>
            <a:r>
              <a:rPr lang="en-US" altLang="en-US" i="1" smtClean="0"/>
              <a:t>path </a:t>
            </a:r>
            <a:r>
              <a:rPr lang="en-US" altLang="en-US" smtClean="0"/>
              <a:t>from one place to another</a:t>
            </a:r>
          </a:p>
          <a:p>
            <a:pPr>
              <a:lnSpc>
                <a:spcPct val="120000"/>
              </a:lnSpc>
            </a:pPr>
            <a:r>
              <a:rPr lang="en-US" altLang="en-US" smtClean="0"/>
              <a:t>Find the </a:t>
            </a:r>
            <a:r>
              <a:rPr lang="en-US" altLang="en-US" i="1" smtClean="0"/>
              <a:t>shortest path </a:t>
            </a:r>
            <a:r>
              <a:rPr lang="en-US" altLang="en-US" smtClean="0"/>
              <a:t>from one place to another</a:t>
            </a:r>
          </a:p>
          <a:p>
            <a:pPr>
              <a:lnSpc>
                <a:spcPct val="120000"/>
              </a:lnSpc>
            </a:pPr>
            <a:r>
              <a:rPr lang="en-US" altLang="en-US" smtClean="0"/>
              <a:t>Determine connectivity</a:t>
            </a:r>
          </a:p>
          <a:p>
            <a:pPr>
              <a:lnSpc>
                <a:spcPct val="120000"/>
              </a:lnSpc>
            </a:pPr>
            <a:r>
              <a:rPr lang="en-US" altLang="en-US" smtClean="0"/>
              <a:t>Find the “weakest link” (min cut)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mtClean="0"/>
              <a:t>		• check amount of redundancy in case of failures</a:t>
            </a:r>
          </a:p>
          <a:p>
            <a:pPr>
              <a:lnSpc>
                <a:spcPct val="120000"/>
              </a:lnSpc>
            </a:pPr>
            <a:r>
              <a:rPr lang="en-US" altLang="en-US" smtClean="0"/>
              <a:t>Find the amount of flow that will go through them</a:t>
            </a:r>
          </a:p>
        </p:txBody>
      </p:sp>
    </p:spTree>
    <p:extLst>
      <p:ext uri="{BB962C8B-B14F-4D97-AF65-F5344CB8AC3E}">
        <p14:creationId xmlns:p14="http://schemas.microsoft.com/office/powerpoint/2010/main" val="244849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772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Edge and Graph Types</a:t>
            </a:r>
          </a:p>
        </p:txBody>
      </p:sp>
      <p:sp>
        <p:nvSpPr>
          <p:cNvPr id="717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152399" y="1447800"/>
            <a:ext cx="4921251" cy="5257800"/>
          </a:xfrm>
        </p:spPr>
        <p:txBody>
          <a:bodyPr>
            <a:noAutofit/>
          </a:bodyPr>
          <a:lstStyle/>
          <a:p>
            <a:pPr marL="274320" indent="-274320">
              <a:lnSpc>
                <a:spcPct val="80000"/>
              </a:lnSpc>
              <a:buFont typeface="Wingdings"/>
              <a:buChar char=""/>
              <a:defRPr/>
            </a:pPr>
            <a:r>
              <a:rPr lang="en-US" dirty="0"/>
              <a:t>Directed edge</a:t>
            </a:r>
          </a:p>
          <a:p>
            <a:pPr marL="640080" lvl="1" indent="-274320">
              <a:lnSpc>
                <a:spcPct val="80000"/>
              </a:lnSpc>
              <a:buFont typeface="Wingdings 2"/>
              <a:buChar char=""/>
              <a:defRPr/>
            </a:pPr>
            <a:r>
              <a:rPr lang="en-US" dirty="0"/>
              <a:t>ordered pair of vertices</a:t>
            </a:r>
            <a:r>
              <a:rPr lang="en-US" dirty="0">
                <a:latin typeface="Times New Roman" pitchFamily="18" charset="0"/>
              </a:rPr>
              <a:t> (</a:t>
            </a:r>
            <a:r>
              <a:rPr lang="en-US" b="1" i="1" dirty="0">
                <a:latin typeface="Times New Roman" pitchFamily="18" charset="0"/>
              </a:rPr>
              <a:t>u</a:t>
            </a:r>
            <a:r>
              <a:rPr lang="en-US" dirty="0">
                <a:latin typeface="Times New Roman" pitchFamily="18" charset="0"/>
              </a:rPr>
              <a:t>, </a:t>
            </a:r>
            <a:r>
              <a:rPr lang="en-US" b="1" i="1" dirty="0">
                <a:latin typeface="Times New Roman" pitchFamily="18" charset="0"/>
              </a:rPr>
              <a:t>v</a:t>
            </a:r>
            <a:r>
              <a:rPr lang="en-US" dirty="0">
                <a:latin typeface="Times New Roman" pitchFamily="18" charset="0"/>
              </a:rPr>
              <a:t>)</a:t>
            </a:r>
          </a:p>
          <a:p>
            <a:pPr marL="640080" lvl="1" indent="-274320">
              <a:lnSpc>
                <a:spcPct val="80000"/>
              </a:lnSpc>
              <a:buFont typeface="Wingdings 2"/>
              <a:buChar char=""/>
              <a:defRPr/>
            </a:pPr>
            <a:r>
              <a:rPr lang="en-US" dirty="0"/>
              <a:t>first vertex </a:t>
            </a:r>
            <a:r>
              <a:rPr lang="en-US" b="1" i="1" dirty="0">
                <a:latin typeface="Times New Roman" pitchFamily="18" charset="0"/>
              </a:rPr>
              <a:t>u</a:t>
            </a:r>
            <a:r>
              <a:rPr lang="en-US" dirty="0"/>
              <a:t> is the origin</a:t>
            </a:r>
          </a:p>
          <a:p>
            <a:pPr marL="640080" lvl="1" indent="-274320">
              <a:lnSpc>
                <a:spcPct val="80000"/>
              </a:lnSpc>
              <a:buFont typeface="Wingdings 2"/>
              <a:buChar char=""/>
              <a:defRPr/>
            </a:pPr>
            <a:r>
              <a:rPr lang="en-US" dirty="0"/>
              <a:t>second vertex </a:t>
            </a:r>
            <a:r>
              <a:rPr lang="en-US" b="1" i="1" dirty="0">
                <a:latin typeface="Times New Roman" pitchFamily="18" charset="0"/>
              </a:rPr>
              <a:t>v</a:t>
            </a:r>
            <a:r>
              <a:rPr lang="en-US" dirty="0"/>
              <a:t> is the destination</a:t>
            </a:r>
          </a:p>
          <a:p>
            <a:pPr marL="274320" indent="-274320">
              <a:lnSpc>
                <a:spcPct val="80000"/>
              </a:lnSpc>
              <a:buFont typeface="Wingdings"/>
              <a:buChar char=""/>
              <a:defRPr/>
            </a:pPr>
            <a:r>
              <a:rPr lang="en-US" dirty="0"/>
              <a:t>Undirected edge</a:t>
            </a:r>
          </a:p>
          <a:p>
            <a:pPr marL="640080" lvl="1" indent="-274320">
              <a:lnSpc>
                <a:spcPct val="80000"/>
              </a:lnSpc>
              <a:buFont typeface="Wingdings 2"/>
              <a:buChar char=""/>
              <a:defRPr/>
            </a:pPr>
            <a:r>
              <a:rPr lang="en-US" dirty="0"/>
              <a:t>unordered pair of vertices</a:t>
            </a:r>
            <a:r>
              <a:rPr lang="en-US" dirty="0">
                <a:latin typeface="Times New Roman" pitchFamily="18" charset="0"/>
              </a:rPr>
              <a:t> (</a:t>
            </a:r>
            <a:r>
              <a:rPr lang="en-US" b="1" i="1" dirty="0">
                <a:latin typeface="Times New Roman" pitchFamily="18" charset="0"/>
              </a:rPr>
              <a:t>u</a:t>
            </a:r>
            <a:r>
              <a:rPr lang="en-US" dirty="0">
                <a:latin typeface="Times New Roman" pitchFamily="18" charset="0"/>
              </a:rPr>
              <a:t>, </a:t>
            </a:r>
            <a:r>
              <a:rPr lang="en-US" b="1" i="1" dirty="0">
                <a:latin typeface="Times New Roman" pitchFamily="18" charset="0"/>
              </a:rPr>
              <a:t>v</a:t>
            </a:r>
            <a:r>
              <a:rPr lang="en-US" dirty="0">
                <a:latin typeface="Times New Roman" pitchFamily="18" charset="0"/>
              </a:rPr>
              <a:t>)</a:t>
            </a:r>
          </a:p>
          <a:p>
            <a:pPr marL="274320" indent="-274320">
              <a:lnSpc>
                <a:spcPct val="80000"/>
              </a:lnSpc>
              <a:buFont typeface="Wingdings"/>
              <a:buChar char=""/>
              <a:defRPr/>
            </a:pPr>
            <a:r>
              <a:rPr lang="en-US" dirty="0"/>
              <a:t>Directed graph (Digraph)</a:t>
            </a:r>
          </a:p>
          <a:p>
            <a:pPr marL="640080" lvl="1" indent="-274320">
              <a:lnSpc>
                <a:spcPct val="80000"/>
              </a:lnSpc>
              <a:buFont typeface="Wingdings 2"/>
              <a:buChar char=""/>
              <a:defRPr/>
            </a:pPr>
            <a:r>
              <a:rPr lang="en-US" dirty="0"/>
              <a:t>all the edges are directed</a:t>
            </a:r>
          </a:p>
          <a:p>
            <a:pPr marL="274320" indent="-274320">
              <a:lnSpc>
                <a:spcPct val="80000"/>
              </a:lnSpc>
              <a:buFont typeface="Wingdings"/>
              <a:buChar char=""/>
              <a:defRPr/>
            </a:pPr>
            <a:r>
              <a:rPr lang="en-US" dirty="0" smtClean="0"/>
              <a:t>Undirected </a:t>
            </a:r>
            <a:r>
              <a:rPr lang="en-US" dirty="0"/>
              <a:t>graph</a:t>
            </a:r>
          </a:p>
          <a:p>
            <a:pPr marL="640080" lvl="1" indent="-274320">
              <a:lnSpc>
                <a:spcPct val="80000"/>
              </a:lnSpc>
              <a:buFont typeface="Wingdings 2"/>
              <a:buChar char=""/>
              <a:defRPr/>
            </a:pPr>
            <a:r>
              <a:rPr lang="en-US" dirty="0"/>
              <a:t>all the edges are undirected</a:t>
            </a:r>
          </a:p>
          <a:p>
            <a:pPr marL="274320" indent="-274320">
              <a:lnSpc>
                <a:spcPct val="80000"/>
              </a:lnSpc>
              <a:buFont typeface="Wingdings"/>
              <a:buChar char=""/>
              <a:defRPr/>
            </a:pPr>
            <a:r>
              <a:rPr lang="en-US" dirty="0" smtClean="0"/>
              <a:t>Mixed </a:t>
            </a:r>
            <a:r>
              <a:rPr lang="en-US" dirty="0"/>
              <a:t>graph</a:t>
            </a:r>
          </a:p>
          <a:p>
            <a:pPr marL="640080" lvl="1" indent="-274320">
              <a:lnSpc>
                <a:spcPct val="80000"/>
              </a:lnSpc>
              <a:buFont typeface="Wingdings 2"/>
              <a:buChar char=""/>
              <a:defRPr/>
            </a:pPr>
            <a:r>
              <a:rPr lang="en-US" dirty="0"/>
              <a:t>some edges are undirected and some edges are </a:t>
            </a:r>
            <a:r>
              <a:rPr lang="en-US" dirty="0" smtClean="0"/>
              <a:t>directed</a:t>
            </a:r>
            <a:endParaRPr lang="en-US" dirty="0"/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1"/>
          </p:nvPr>
        </p:nvSpPr>
        <p:spPr bwMode="auto">
          <a:xfrm>
            <a:off x="80772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08830E3-689A-47FC-ADDE-824FE399FA48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5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12293" name="Rectangle 15"/>
          <p:cNvSpPr>
            <a:spLocks noChangeArrowheads="1"/>
          </p:cNvSpPr>
          <p:nvPr/>
        </p:nvSpPr>
        <p:spPr bwMode="auto">
          <a:xfrm>
            <a:off x="7694614" y="29035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4" name="Freeform 16"/>
          <p:cNvSpPr>
            <a:spLocks/>
          </p:cNvSpPr>
          <p:nvPr/>
        </p:nvSpPr>
        <p:spPr bwMode="auto">
          <a:xfrm>
            <a:off x="5395914" y="2892425"/>
            <a:ext cx="58737" cy="58738"/>
          </a:xfrm>
          <a:custGeom>
            <a:avLst/>
            <a:gdLst>
              <a:gd name="T0" fmla="*/ 17 w 43"/>
              <a:gd name="T1" fmla="*/ 46 h 46"/>
              <a:gd name="T2" fmla="*/ 0 w 43"/>
              <a:gd name="T3" fmla="*/ 37 h 46"/>
              <a:gd name="T4" fmla="*/ 25 w 43"/>
              <a:gd name="T5" fmla="*/ 0 h 46"/>
              <a:gd name="T6" fmla="*/ 43 w 43"/>
              <a:gd name="T7" fmla="*/ 18 h 46"/>
              <a:gd name="T8" fmla="*/ 17 w 43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6"/>
              <a:gd name="T17" fmla="*/ 43 w 43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Rectangle 17"/>
          <p:cNvSpPr>
            <a:spLocks noChangeArrowheads="1"/>
          </p:cNvSpPr>
          <p:nvPr/>
        </p:nvSpPr>
        <p:spPr bwMode="auto">
          <a:xfrm>
            <a:off x="5407026" y="29035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6" name="Rectangle 18"/>
          <p:cNvSpPr>
            <a:spLocks noChangeArrowheads="1"/>
          </p:cNvSpPr>
          <p:nvPr/>
        </p:nvSpPr>
        <p:spPr bwMode="auto">
          <a:xfrm>
            <a:off x="5407026" y="2903539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7" name="Rectangle 19"/>
          <p:cNvSpPr>
            <a:spLocks noChangeArrowheads="1"/>
          </p:cNvSpPr>
          <p:nvPr/>
        </p:nvSpPr>
        <p:spPr bwMode="auto">
          <a:xfrm>
            <a:off x="7718426" y="2903539"/>
            <a:ext cx="23813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8" name="Rectangle 20"/>
          <p:cNvSpPr>
            <a:spLocks noChangeArrowheads="1"/>
          </p:cNvSpPr>
          <p:nvPr/>
        </p:nvSpPr>
        <p:spPr bwMode="auto">
          <a:xfrm>
            <a:off x="5429251" y="2903539"/>
            <a:ext cx="228917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9" name="Oval 21"/>
          <p:cNvSpPr>
            <a:spLocks noChangeArrowheads="1"/>
          </p:cNvSpPr>
          <p:nvPr/>
        </p:nvSpPr>
        <p:spPr bwMode="auto">
          <a:xfrm>
            <a:off x="5222875" y="2713039"/>
            <a:ext cx="414338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0" name="Oval 22"/>
          <p:cNvSpPr>
            <a:spLocks noChangeArrowheads="1"/>
          </p:cNvSpPr>
          <p:nvPr/>
        </p:nvSpPr>
        <p:spPr bwMode="auto">
          <a:xfrm>
            <a:off x="5227638" y="2717800"/>
            <a:ext cx="404812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1" name="Oval 23"/>
          <p:cNvSpPr>
            <a:spLocks noChangeArrowheads="1"/>
          </p:cNvSpPr>
          <p:nvPr/>
        </p:nvSpPr>
        <p:spPr bwMode="auto">
          <a:xfrm>
            <a:off x="7510464" y="2713039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2" name="Oval 24"/>
          <p:cNvSpPr>
            <a:spLocks noChangeArrowheads="1"/>
          </p:cNvSpPr>
          <p:nvPr/>
        </p:nvSpPr>
        <p:spPr bwMode="auto">
          <a:xfrm>
            <a:off x="7516813" y="2717800"/>
            <a:ext cx="404812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3" name="Rectangle 25"/>
          <p:cNvSpPr>
            <a:spLocks noChangeArrowheads="1"/>
          </p:cNvSpPr>
          <p:nvPr/>
        </p:nvSpPr>
        <p:spPr bwMode="auto">
          <a:xfrm>
            <a:off x="5324475" y="2667000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04" name="Rectangle 26"/>
          <p:cNvSpPr>
            <a:spLocks noChangeArrowheads="1"/>
          </p:cNvSpPr>
          <p:nvPr/>
        </p:nvSpPr>
        <p:spPr bwMode="auto">
          <a:xfrm>
            <a:off x="7637463" y="269240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05" name="Rectangle 27"/>
          <p:cNvSpPr>
            <a:spLocks noChangeArrowheads="1"/>
          </p:cNvSpPr>
          <p:nvPr/>
        </p:nvSpPr>
        <p:spPr bwMode="auto">
          <a:xfrm>
            <a:off x="7693026" y="18367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6" name="Freeform 28"/>
          <p:cNvSpPr>
            <a:spLocks/>
          </p:cNvSpPr>
          <p:nvPr/>
        </p:nvSpPr>
        <p:spPr bwMode="auto">
          <a:xfrm>
            <a:off x="5394325" y="1825625"/>
            <a:ext cx="58738" cy="58738"/>
          </a:xfrm>
          <a:custGeom>
            <a:avLst/>
            <a:gdLst>
              <a:gd name="T0" fmla="*/ 17 w 43"/>
              <a:gd name="T1" fmla="*/ 46 h 46"/>
              <a:gd name="T2" fmla="*/ 0 w 43"/>
              <a:gd name="T3" fmla="*/ 37 h 46"/>
              <a:gd name="T4" fmla="*/ 25 w 43"/>
              <a:gd name="T5" fmla="*/ 0 h 46"/>
              <a:gd name="T6" fmla="*/ 43 w 43"/>
              <a:gd name="T7" fmla="*/ 18 h 46"/>
              <a:gd name="T8" fmla="*/ 17 w 43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6"/>
              <a:gd name="T17" fmla="*/ 43 w 43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7" name="Rectangle 29"/>
          <p:cNvSpPr>
            <a:spLocks noChangeArrowheads="1"/>
          </p:cNvSpPr>
          <p:nvPr/>
        </p:nvSpPr>
        <p:spPr bwMode="auto">
          <a:xfrm>
            <a:off x="5405439" y="18367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8" name="Rectangle 30"/>
          <p:cNvSpPr>
            <a:spLocks noChangeArrowheads="1"/>
          </p:cNvSpPr>
          <p:nvPr/>
        </p:nvSpPr>
        <p:spPr bwMode="auto">
          <a:xfrm>
            <a:off x="5405439" y="1836739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9" name="Rectangle 31"/>
          <p:cNvSpPr>
            <a:spLocks noChangeArrowheads="1"/>
          </p:cNvSpPr>
          <p:nvPr/>
        </p:nvSpPr>
        <p:spPr bwMode="auto">
          <a:xfrm>
            <a:off x="7716838" y="1836739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10" name="Oval 33"/>
          <p:cNvSpPr>
            <a:spLocks noChangeArrowheads="1"/>
          </p:cNvSpPr>
          <p:nvPr/>
        </p:nvSpPr>
        <p:spPr bwMode="auto">
          <a:xfrm>
            <a:off x="5221289" y="1646239"/>
            <a:ext cx="414337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11" name="Oval 34"/>
          <p:cNvSpPr>
            <a:spLocks noChangeArrowheads="1"/>
          </p:cNvSpPr>
          <p:nvPr/>
        </p:nvSpPr>
        <p:spPr bwMode="auto">
          <a:xfrm>
            <a:off x="5226051" y="1651000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12" name="Oval 35"/>
          <p:cNvSpPr>
            <a:spLocks noChangeArrowheads="1"/>
          </p:cNvSpPr>
          <p:nvPr/>
        </p:nvSpPr>
        <p:spPr bwMode="auto">
          <a:xfrm>
            <a:off x="7508876" y="1646239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13" name="Oval 36"/>
          <p:cNvSpPr>
            <a:spLocks noChangeArrowheads="1"/>
          </p:cNvSpPr>
          <p:nvPr/>
        </p:nvSpPr>
        <p:spPr bwMode="auto">
          <a:xfrm>
            <a:off x="7515226" y="1651000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14" name="Rectangle 37"/>
          <p:cNvSpPr>
            <a:spLocks noChangeArrowheads="1"/>
          </p:cNvSpPr>
          <p:nvPr/>
        </p:nvSpPr>
        <p:spPr bwMode="auto">
          <a:xfrm>
            <a:off x="5322888" y="160020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15" name="Rectangle 38"/>
          <p:cNvSpPr>
            <a:spLocks noChangeArrowheads="1"/>
          </p:cNvSpPr>
          <p:nvPr/>
        </p:nvSpPr>
        <p:spPr bwMode="auto">
          <a:xfrm>
            <a:off x="7635875" y="1625600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16" name="Line 39"/>
          <p:cNvSpPr>
            <a:spLocks noChangeShapeType="1"/>
          </p:cNvSpPr>
          <p:nvPr/>
        </p:nvSpPr>
        <p:spPr bwMode="auto">
          <a:xfrm>
            <a:off x="5630863" y="1862138"/>
            <a:ext cx="187801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7" name="Rectangle 40"/>
          <p:cNvSpPr>
            <a:spLocks noChangeArrowheads="1"/>
          </p:cNvSpPr>
          <p:nvPr/>
        </p:nvSpPr>
        <p:spPr bwMode="auto">
          <a:xfrm>
            <a:off x="7718426" y="3949700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18" name="Rectangle 41"/>
          <p:cNvSpPr>
            <a:spLocks noChangeArrowheads="1"/>
          </p:cNvSpPr>
          <p:nvPr/>
        </p:nvSpPr>
        <p:spPr bwMode="auto">
          <a:xfrm>
            <a:off x="7718426" y="5795963"/>
            <a:ext cx="47625" cy="2381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19" name="Rectangle 42"/>
          <p:cNvSpPr>
            <a:spLocks noChangeArrowheads="1"/>
          </p:cNvSpPr>
          <p:nvPr/>
        </p:nvSpPr>
        <p:spPr bwMode="auto">
          <a:xfrm>
            <a:off x="7718426" y="3975101"/>
            <a:ext cx="47625" cy="1820863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20" name="Freeform 43"/>
          <p:cNvSpPr>
            <a:spLocks/>
          </p:cNvSpPr>
          <p:nvPr/>
        </p:nvSpPr>
        <p:spPr bwMode="auto">
          <a:xfrm>
            <a:off x="7731125" y="5784851"/>
            <a:ext cx="46038" cy="47625"/>
          </a:xfrm>
          <a:custGeom>
            <a:avLst/>
            <a:gdLst>
              <a:gd name="T0" fmla="*/ 0 w 34"/>
              <a:gd name="T1" fmla="*/ 27 h 37"/>
              <a:gd name="T2" fmla="*/ 17 w 34"/>
              <a:gd name="T3" fmla="*/ 37 h 37"/>
              <a:gd name="T4" fmla="*/ 34 w 34"/>
              <a:gd name="T5" fmla="*/ 9 h 37"/>
              <a:gd name="T6" fmla="*/ 17 w 34"/>
              <a:gd name="T7" fmla="*/ 0 h 37"/>
              <a:gd name="T8" fmla="*/ 0 w 34"/>
              <a:gd name="T9" fmla="*/ 27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0" y="27"/>
                </a:moveTo>
                <a:lnTo>
                  <a:pt x="17" y="37"/>
                </a:lnTo>
                <a:lnTo>
                  <a:pt x="34" y="9"/>
                </a:lnTo>
                <a:lnTo>
                  <a:pt x="17" y="0"/>
                </a:lnTo>
                <a:lnTo>
                  <a:pt x="0" y="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1" name="Freeform 44"/>
          <p:cNvSpPr>
            <a:spLocks/>
          </p:cNvSpPr>
          <p:nvPr/>
        </p:nvSpPr>
        <p:spPr bwMode="auto">
          <a:xfrm>
            <a:off x="6564314" y="4903789"/>
            <a:ext cx="46037" cy="58737"/>
          </a:xfrm>
          <a:custGeom>
            <a:avLst/>
            <a:gdLst>
              <a:gd name="T0" fmla="*/ 17 w 34"/>
              <a:gd name="T1" fmla="*/ 46 h 46"/>
              <a:gd name="T2" fmla="*/ 0 w 34"/>
              <a:gd name="T3" fmla="*/ 37 h 46"/>
              <a:gd name="T4" fmla="*/ 25 w 34"/>
              <a:gd name="T5" fmla="*/ 0 h 46"/>
              <a:gd name="T6" fmla="*/ 34 w 34"/>
              <a:gd name="T7" fmla="*/ 18 h 46"/>
              <a:gd name="T8" fmla="*/ 17 w 34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46"/>
              <a:gd name="T17" fmla="*/ 34 w 34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34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2" name="Freeform 45"/>
          <p:cNvSpPr>
            <a:spLocks/>
          </p:cNvSpPr>
          <p:nvPr/>
        </p:nvSpPr>
        <p:spPr bwMode="auto">
          <a:xfrm>
            <a:off x="6586538" y="4926013"/>
            <a:ext cx="1166812" cy="893762"/>
          </a:xfrm>
          <a:custGeom>
            <a:avLst/>
            <a:gdLst>
              <a:gd name="T0" fmla="*/ 852 w 869"/>
              <a:gd name="T1" fmla="*/ 693 h 693"/>
              <a:gd name="T2" fmla="*/ 869 w 869"/>
              <a:gd name="T3" fmla="*/ 666 h 693"/>
              <a:gd name="T4" fmla="*/ 17 w 869"/>
              <a:gd name="T5" fmla="*/ 0 h 693"/>
              <a:gd name="T6" fmla="*/ 0 w 869"/>
              <a:gd name="T7" fmla="*/ 28 h 693"/>
              <a:gd name="T8" fmla="*/ 852 w 869"/>
              <a:gd name="T9" fmla="*/ 693 h 6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9"/>
              <a:gd name="T16" fmla="*/ 0 h 693"/>
              <a:gd name="T17" fmla="*/ 869 w 869"/>
              <a:gd name="T18" fmla="*/ 693 h 6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9" h="693">
                <a:moveTo>
                  <a:pt x="852" y="693"/>
                </a:moveTo>
                <a:lnTo>
                  <a:pt x="869" y="666"/>
                </a:lnTo>
                <a:lnTo>
                  <a:pt x="17" y="0"/>
                </a:lnTo>
                <a:lnTo>
                  <a:pt x="0" y="28"/>
                </a:lnTo>
                <a:lnTo>
                  <a:pt x="852" y="693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3" name="Freeform 46"/>
          <p:cNvSpPr>
            <a:spLocks/>
          </p:cNvSpPr>
          <p:nvPr/>
        </p:nvSpPr>
        <p:spPr bwMode="auto">
          <a:xfrm>
            <a:off x="6586539" y="4926013"/>
            <a:ext cx="46037" cy="49212"/>
          </a:xfrm>
          <a:custGeom>
            <a:avLst/>
            <a:gdLst>
              <a:gd name="T0" fmla="*/ 0 w 34"/>
              <a:gd name="T1" fmla="*/ 28 h 37"/>
              <a:gd name="T2" fmla="*/ 17 w 34"/>
              <a:gd name="T3" fmla="*/ 37 h 37"/>
              <a:gd name="T4" fmla="*/ 34 w 34"/>
              <a:gd name="T5" fmla="*/ 9 h 37"/>
              <a:gd name="T6" fmla="*/ 26 w 34"/>
              <a:gd name="T7" fmla="*/ 0 h 37"/>
              <a:gd name="T8" fmla="*/ 0 w 34"/>
              <a:gd name="T9" fmla="*/ 28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0" y="28"/>
                </a:moveTo>
                <a:lnTo>
                  <a:pt x="17" y="37"/>
                </a:lnTo>
                <a:lnTo>
                  <a:pt x="34" y="9"/>
                </a:lnTo>
                <a:lnTo>
                  <a:pt x="26" y="0"/>
                </a:lnTo>
                <a:lnTo>
                  <a:pt x="0" y="28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4" name="Freeform 47"/>
          <p:cNvSpPr>
            <a:spLocks/>
          </p:cNvSpPr>
          <p:nvPr/>
        </p:nvSpPr>
        <p:spPr bwMode="auto">
          <a:xfrm>
            <a:off x="5419725" y="3938589"/>
            <a:ext cx="58738" cy="58737"/>
          </a:xfrm>
          <a:custGeom>
            <a:avLst/>
            <a:gdLst>
              <a:gd name="T0" fmla="*/ 17 w 43"/>
              <a:gd name="T1" fmla="*/ 46 h 46"/>
              <a:gd name="T2" fmla="*/ 0 w 43"/>
              <a:gd name="T3" fmla="*/ 37 h 46"/>
              <a:gd name="T4" fmla="*/ 25 w 43"/>
              <a:gd name="T5" fmla="*/ 0 h 46"/>
              <a:gd name="T6" fmla="*/ 43 w 43"/>
              <a:gd name="T7" fmla="*/ 18 h 46"/>
              <a:gd name="T8" fmla="*/ 17 w 43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6"/>
              <a:gd name="T17" fmla="*/ 43 w 43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5" name="Freeform 48"/>
          <p:cNvSpPr>
            <a:spLocks/>
          </p:cNvSpPr>
          <p:nvPr/>
        </p:nvSpPr>
        <p:spPr bwMode="auto">
          <a:xfrm>
            <a:off x="5443539" y="3960813"/>
            <a:ext cx="1177925" cy="1001712"/>
          </a:xfrm>
          <a:custGeom>
            <a:avLst/>
            <a:gdLst>
              <a:gd name="T0" fmla="*/ 852 w 878"/>
              <a:gd name="T1" fmla="*/ 777 h 777"/>
              <a:gd name="T2" fmla="*/ 878 w 878"/>
              <a:gd name="T3" fmla="*/ 749 h 777"/>
              <a:gd name="T4" fmla="*/ 26 w 878"/>
              <a:gd name="T5" fmla="*/ 0 h 777"/>
              <a:gd name="T6" fmla="*/ 0 w 878"/>
              <a:gd name="T7" fmla="*/ 28 h 777"/>
              <a:gd name="T8" fmla="*/ 852 w 878"/>
              <a:gd name="T9" fmla="*/ 777 h 7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8"/>
              <a:gd name="T16" fmla="*/ 0 h 777"/>
              <a:gd name="T17" fmla="*/ 878 w 878"/>
              <a:gd name="T18" fmla="*/ 777 h 7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8" h="777">
                <a:moveTo>
                  <a:pt x="852" y="777"/>
                </a:moveTo>
                <a:lnTo>
                  <a:pt x="878" y="749"/>
                </a:lnTo>
                <a:lnTo>
                  <a:pt x="26" y="0"/>
                </a:lnTo>
                <a:lnTo>
                  <a:pt x="0" y="28"/>
                </a:lnTo>
                <a:lnTo>
                  <a:pt x="852" y="77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6" name="Freeform 49"/>
          <p:cNvSpPr>
            <a:spLocks/>
          </p:cNvSpPr>
          <p:nvPr/>
        </p:nvSpPr>
        <p:spPr bwMode="auto">
          <a:xfrm>
            <a:off x="6586539" y="4903789"/>
            <a:ext cx="46037" cy="58737"/>
          </a:xfrm>
          <a:custGeom>
            <a:avLst/>
            <a:gdLst>
              <a:gd name="T0" fmla="*/ 17 w 34"/>
              <a:gd name="T1" fmla="*/ 46 h 46"/>
              <a:gd name="T2" fmla="*/ 34 w 34"/>
              <a:gd name="T3" fmla="*/ 37 h 46"/>
              <a:gd name="T4" fmla="*/ 17 w 34"/>
              <a:gd name="T5" fmla="*/ 0 h 46"/>
              <a:gd name="T6" fmla="*/ 0 w 34"/>
              <a:gd name="T7" fmla="*/ 18 h 46"/>
              <a:gd name="T8" fmla="*/ 17 w 34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46"/>
              <a:gd name="T17" fmla="*/ 34 w 34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46">
                <a:moveTo>
                  <a:pt x="17" y="46"/>
                </a:moveTo>
                <a:lnTo>
                  <a:pt x="34" y="37"/>
                </a:lnTo>
                <a:lnTo>
                  <a:pt x="17" y="0"/>
                </a:lnTo>
                <a:lnTo>
                  <a:pt x="0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7" name="Freeform 50"/>
          <p:cNvSpPr>
            <a:spLocks/>
          </p:cNvSpPr>
          <p:nvPr/>
        </p:nvSpPr>
        <p:spPr bwMode="auto">
          <a:xfrm>
            <a:off x="5419725" y="5784851"/>
            <a:ext cx="46038" cy="47625"/>
          </a:xfrm>
          <a:custGeom>
            <a:avLst/>
            <a:gdLst>
              <a:gd name="T0" fmla="*/ 34 w 34"/>
              <a:gd name="T1" fmla="*/ 27 h 37"/>
              <a:gd name="T2" fmla="*/ 25 w 34"/>
              <a:gd name="T3" fmla="*/ 37 h 37"/>
              <a:gd name="T4" fmla="*/ 0 w 34"/>
              <a:gd name="T5" fmla="*/ 9 h 37"/>
              <a:gd name="T6" fmla="*/ 17 w 34"/>
              <a:gd name="T7" fmla="*/ 0 h 37"/>
              <a:gd name="T8" fmla="*/ 34 w 34"/>
              <a:gd name="T9" fmla="*/ 27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34" y="27"/>
                </a:moveTo>
                <a:lnTo>
                  <a:pt x="25" y="37"/>
                </a:lnTo>
                <a:lnTo>
                  <a:pt x="0" y="9"/>
                </a:lnTo>
                <a:lnTo>
                  <a:pt x="17" y="0"/>
                </a:lnTo>
                <a:lnTo>
                  <a:pt x="34" y="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8" name="Freeform 51"/>
          <p:cNvSpPr>
            <a:spLocks/>
          </p:cNvSpPr>
          <p:nvPr/>
        </p:nvSpPr>
        <p:spPr bwMode="auto">
          <a:xfrm>
            <a:off x="5443538" y="4926013"/>
            <a:ext cx="1166812" cy="893762"/>
          </a:xfrm>
          <a:custGeom>
            <a:avLst/>
            <a:gdLst>
              <a:gd name="T0" fmla="*/ 869 w 869"/>
              <a:gd name="T1" fmla="*/ 28 h 693"/>
              <a:gd name="T2" fmla="*/ 852 w 869"/>
              <a:gd name="T3" fmla="*/ 0 h 693"/>
              <a:gd name="T4" fmla="*/ 0 w 869"/>
              <a:gd name="T5" fmla="*/ 666 h 693"/>
              <a:gd name="T6" fmla="*/ 17 w 869"/>
              <a:gd name="T7" fmla="*/ 693 h 693"/>
              <a:gd name="T8" fmla="*/ 869 w 869"/>
              <a:gd name="T9" fmla="*/ 28 h 6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9"/>
              <a:gd name="T16" fmla="*/ 0 h 693"/>
              <a:gd name="T17" fmla="*/ 869 w 869"/>
              <a:gd name="T18" fmla="*/ 693 h 6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9" h="693">
                <a:moveTo>
                  <a:pt x="869" y="28"/>
                </a:moveTo>
                <a:lnTo>
                  <a:pt x="852" y="0"/>
                </a:lnTo>
                <a:lnTo>
                  <a:pt x="0" y="666"/>
                </a:lnTo>
                <a:lnTo>
                  <a:pt x="17" y="693"/>
                </a:lnTo>
                <a:lnTo>
                  <a:pt x="869" y="28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9" name="Rectangle 52"/>
          <p:cNvSpPr>
            <a:spLocks noChangeArrowheads="1"/>
          </p:cNvSpPr>
          <p:nvPr/>
        </p:nvSpPr>
        <p:spPr bwMode="auto">
          <a:xfrm>
            <a:off x="5430839" y="3949700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0" name="Rectangle 53"/>
          <p:cNvSpPr>
            <a:spLocks noChangeArrowheads="1"/>
          </p:cNvSpPr>
          <p:nvPr/>
        </p:nvSpPr>
        <p:spPr bwMode="auto">
          <a:xfrm>
            <a:off x="5430839" y="5795963"/>
            <a:ext cx="47625" cy="2381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1" name="Rectangle 54"/>
          <p:cNvSpPr>
            <a:spLocks noChangeArrowheads="1"/>
          </p:cNvSpPr>
          <p:nvPr/>
        </p:nvSpPr>
        <p:spPr bwMode="auto">
          <a:xfrm>
            <a:off x="5430839" y="3975101"/>
            <a:ext cx="47625" cy="1820863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2" name="Rectangle 55"/>
          <p:cNvSpPr>
            <a:spLocks noChangeArrowheads="1"/>
          </p:cNvSpPr>
          <p:nvPr/>
        </p:nvSpPr>
        <p:spPr bwMode="auto">
          <a:xfrm>
            <a:off x="5430839" y="3949701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3" name="Rectangle 56"/>
          <p:cNvSpPr>
            <a:spLocks noChangeArrowheads="1"/>
          </p:cNvSpPr>
          <p:nvPr/>
        </p:nvSpPr>
        <p:spPr bwMode="auto">
          <a:xfrm>
            <a:off x="7742238" y="3949701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4" name="Rectangle 58"/>
          <p:cNvSpPr>
            <a:spLocks noChangeArrowheads="1"/>
          </p:cNvSpPr>
          <p:nvPr/>
        </p:nvSpPr>
        <p:spPr bwMode="auto">
          <a:xfrm>
            <a:off x="5430839" y="5772151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5" name="Rectangle 59"/>
          <p:cNvSpPr>
            <a:spLocks noChangeArrowheads="1"/>
          </p:cNvSpPr>
          <p:nvPr/>
        </p:nvSpPr>
        <p:spPr bwMode="auto">
          <a:xfrm>
            <a:off x="7742238" y="5772151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6" name="Rectangle 60"/>
          <p:cNvSpPr>
            <a:spLocks noChangeArrowheads="1"/>
          </p:cNvSpPr>
          <p:nvPr/>
        </p:nvSpPr>
        <p:spPr bwMode="auto">
          <a:xfrm>
            <a:off x="5453064" y="5772151"/>
            <a:ext cx="228917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7" name="Oval 61"/>
          <p:cNvSpPr>
            <a:spLocks noChangeArrowheads="1"/>
          </p:cNvSpPr>
          <p:nvPr/>
        </p:nvSpPr>
        <p:spPr bwMode="auto">
          <a:xfrm>
            <a:off x="5246689" y="3759201"/>
            <a:ext cx="414337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8" name="Oval 62"/>
          <p:cNvSpPr>
            <a:spLocks noChangeArrowheads="1"/>
          </p:cNvSpPr>
          <p:nvPr/>
        </p:nvSpPr>
        <p:spPr bwMode="auto">
          <a:xfrm>
            <a:off x="5251451" y="3763963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39" name="Oval 63"/>
          <p:cNvSpPr>
            <a:spLocks noChangeArrowheads="1"/>
          </p:cNvSpPr>
          <p:nvPr/>
        </p:nvSpPr>
        <p:spPr bwMode="auto">
          <a:xfrm>
            <a:off x="7534276" y="5583239"/>
            <a:ext cx="415925" cy="4270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0" name="Oval 64"/>
          <p:cNvSpPr>
            <a:spLocks noChangeArrowheads="1"/>
          </p:cNvSpPr>
          <p:nvPr/>
        </p:nvSpPr>
        <p:spPr bwMode="auto">
          <a:xfrm>
            <a:off x="7540626" y="5586414"/>
            <a:ext cx="404813" cy="420687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1" name="Oval 65"/>
          <p:cNvSpPr>
            <a:spLocks noChangeArrowheads="1"/>
          </p:cNvSpPr>
          <p:nvPr/>
        </p:nvSpPr>
        <p:spPr bwMode="auto">
          <a:xfrm>
            <a:off x="6391275" y="4724401"/>
            <a:ext cx="414338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2" name="Oval 66"/>
          <p:cNvSpPr>
            <a:spLocks noChangeArrowheads="1"/>
          </p:cNvSpPr>
          <p:nvPr/>
        </p:nvSpPr>
        <p:spPr bwMode="auto">
          <a:xfrm>
            <a:off x="6396038" y="4729163"/>
            <a:ext cx="404812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3" name="Oval 67"/>
          <p:cNvSpPr>
            <a:spLocks noChangeArrowheads="1"/>
          </p:cNvSpPr>
          <p:nvPr/>
        </p:nvSpPr>
        <p:spPr bwMode="auto">
          <a:xfrm>
            <a:off x="7534276" y="3759201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4" name="Oval 68"/>
          <p:cNvSpPr>
            <a:spLocks noChangeArrowheads="1"/>
          </p:cNvSpPr>
          <p:nvPr/>
        </p:nvSpPr>
        <p:spPr bwMode="auto">
          <a:xfrm>
            <a:off x="7540626" y="3763963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5" name="Oval 69"/>
          <p:cNvSpPr>
            <a:spLocks noChangeArrowheads="1"/>
          </p:cNvSpPr>
          <p:nvPr/>
        </p:nvSpPr>
        <p:spPr bwMode="auto">
          <a:xfrm>
            <a:off x="5246689" y="5583239"/>
            <a:ext cx="414337" cy="4270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6" name="Oval 70"/>
          <p:cNvSpPr>
            <a:spLocks noChangeArrowheads="1"/>
          </p:cNvSpPr>
          <p:nvPr/>
        </p:nvSpPr>
        <p:spPr bwMode="auto">
          <a:xfrm>
            <a:off x="5251451" y="5586414"/>
            <a:ext cx="404813" cy="420687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7" name="Rectangle 71"/>
          <p:cNvSpPr>
            <a:spLocks noChangeArrowheads="1"/>
          </p:cNvSpPr>
          <p:nvPr/>
        </p:nvSpPr>
        <p:spPr bwMode="auto">
          <a:xfrm>
            <a:off x="5348288" y="3713164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48" name="Rectangle 72"/>
          <p:cNvSpPr>
            <a:spLocks noChangeArrowheads="1"/>
          </p:cNvSpPr>
          <p:nvPr/>
        </p:nvSpPr>
        <p:spPr bwMode="auto">
          <a:xfrm>
            <a:off x="7661275" y="3738564"/>
            <a:ext cx="198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49" name="Rectangle 73"/>
          <p:cNvSpPr>
            <a:spLocks noChangeArrowheads="1"/>
          </p:cNvSpPr>
          <p:nvPr/>
        </p:nvSpPr>
        <p:spPr bwMode="auto">
          <a:xfrm>
            <a:off x="6503988" y="46958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50" name="Rectangle 74"/>
          <p:cNvSpPr>
            <a:spLocks noChangeArrowheads="1"/>
          </p:cNvSpPr>
          <p:nvPr/>
        </p:nvSpPr>
        <p:spPr bwMode="auto">
          <a:xfrm>
            <a:off x="5348288" y="557212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51" name="Rectangle 75"/>
          <p:cNvSpPr>
            <a:spLocks noChangeArrowheads="1"/>
          </p:cNvSpPr>
          <p:nvPr/>
        </p:nvSpPr>
        <p:spPr bwMode="auto">
          <a:xfrm>
            <a:off x="7650163" y="553878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12352" name="Line 76"/>
          <p:cNvSpPr>
            <a:spLocks noChangeShapeType="1"/>
          </p:cNvSpPr>
          <p:nvPr/>
        </p:nvSpPr>
        <p:spPr bwMode="auto">
          <a:xfrm>
            <a:off x="5661026" y="3935413"/>
            <a:ext cx="187801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53" name="Text Box 77"/>
          <p:cNvSpPr txBox="1">
            <a:spLocks noChangeArrowheads="1"/>
          </p:cNvSpPr>
          <p:nvPr/>
        </p:nvSpPr>
        <p:spPr bwMode="auto">
          <a:xfrm>
            <a:off x="5767388" y="1989138"/>
            <a:ext cx="167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Directed edge</a:t>
            </a:r>
          </a:p>
        </p:txBody>
      </p:sp>
      <p:sp>
        <p:nvSpPr>
          <p:cNvPr id="12354" name="Text Box 78"/>
          <p:cNvSpPr txBox="1">
            <a:spLocks noChangeArrowheads="1"/>
          </p:cNvSpPr>
          <p:nvPr/>
        </p:nvSpPr>
        <p:spPr bwMode="auto">
          <a:xfrm>
            <a:off x="5668963" y="2997201"/>
            <a:ext cx="189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Undirected edge</a:t>
            </a:r>
          </a:p>
        </p:txBody>
      </p:sp>
      <p:sp>
        <p:nvSpPr>
          <p:cNvPr id="12355" name="Text Box 79"/>
          <p:cNvSpPr txBox="1">
            <a:spLocks noChangeArrowheads="1"/>
          </p:cNvSpPr>
          <p:nvPr/>
        </p:nvSpPr>
        <p:spPr bwMode="auto">
          <a:xfrm>
            <a:off x="5641975" y="5964238"/>
            <a:ext cx="189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Mixed graph</a:t>
            </a:r>
          </a:p>
        </p:txBody>
      </p:sp>
      <p:sp>
        <p:nvSpPr>
          <p:cNvPr id="68" name="Rectangle 27"/>
          <p:cNvSpPr>
            <a:spLocks noChangeArrowheads="1"/>
          </p:cNvSpPr>
          <p:nvPr/>
        </p:nvSpPr>
        <p:spPr bwMode="auto">
          <a:xfrm>
            <a:off x="10923906" y="261397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9" name="Freeform 28"/>
          <p:cNvSpPr>
            <a:spLocks/>
          </p:cNvSpPr>
          <p:nvPr/>
        </p:nvSpPr>
        <p:spPr bwMode="auto">
          <a:xfrm>
            <a:off x="8625205" y="2602865"/>
            <a:ext cx="58738" cy="58738"/>
          </a:xfrm>
          <a:custGeom>
            <a:avLst/>
            <a:gdLst>
              <a:gd name="T0" fmla="*/ 17 w 43"/>
              <a:gd name="T1" fmla="*/ 46 h 46"/>
              <a:gd name="T2" fmla="*/ 0 w 43"/>
              <a:gd name="T3" fmla="*/ 37 h 46"/>
              <a:gd name="T4" fmla="*/ 25 w 43"/>
              <a:gd name="T5" fmla="*/ 0 h 46"/>
              <a:gd name="T6" fmla="*/ 43 w 43"/>
              <a:gd name="T7" fmla="*/ 18 h 46"/>
              <a:gd name="T8" fmla="*/ 17 w 43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6"/>
              <a:gd name="T17" fmla="*/ 43 w 43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Rectangle 29"/>
          <p:cNvSpPr>
            <a:spLocks noChangeArrowheads="1"/>
          </p:cNvSpPr>
          <p:nvPr/>
        </p:nvSpPr>
        <p:spPr bwMode="auto">
          <a:xfrm>
            <a:off x="8636319" y="261397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" name="Rectangle 30"/>
          <p:cNvSpPr>
            <a:spLocks noChangeArrowheads="1"/>
          </p:cNvSpPr>
          <p:nvPr/>
        </p:nvSpPr>
        <p:spPr bwMode="auto">
          <a:xfrm>
            <a:off x="8636319" y="2613979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2" name="Rectangle 31"/>
          <p:cNvSpPr>
            <a:spLocks noChangeArrowheads="1"/>
          </p:cNvSpPr>
          <p:nvPr/>
        </p:nvSpPr>
        <p:spPr bwMode="auto">
          <a:xfrm>
            <a:off x="10947718" y="2613979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3" name="Oval 33"/>
          <p:cNvSpPr>
            <a:spLocks noChangeArrowheads="1"/>
          </p:cNvSpPr>
          <p:nvPr/>
        </p:nvSpPr>
        <p:spPr bwMode="auto">
          <a:xfrm>
            <a:off x="8452169" y="2423479"/>
            <a:ext cx="414337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4" name="Oval 34"/>
          <p:cNvSpPr>
            <a:spLocks noChangeArrowheads="1"/>
          </p:cNvSpPr>
          <p:nvPr/>
        </p:nvSpPr>
        <p:spPr bwMode="auto">
          <a:xfrm>
            <a:off x="8456931" y="2428240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" name="Oval 35"/>
          <p:cNvSpPr>
            <a:spLocks noChangeArrowheads="1"/>
          </p:cNvSpPr>
          <p:nvPr/>
        </p:nvSpPr>
        <p:spPr bwMode="auto">
          <a:xfrm>
            <a:off x="10739756" y="2423479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" name="Oval 36"/>
          <p:cNvSpPr>
            <a:spLocks noChangeArrowheads="1"/>
          </p:cNvSpPr>
          <p:nvPr/>
        </p:nvSpPr>
        <p:spPr bwMode="auto">
          <a:xfrm>
            <a:off x="10746106" y="2428240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7" name="Rectangle 37"/>
          <p:cNvSpPr>
            <a:spLocks noChangeArrowheads="1"/>
          </p:cNvSpPr>
          <p:nvPr/>
        </p:nvSpPr>
        <p:spPr bwMode="auto">
          <a:xfrm>
            <a:off x="8553768" y="237744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78" name="Rectangle 38"/>
          <p:cNvSpPr>
            <a:spLocks noChangeArrowheads="1"/>
          </p:cNvSpPr>
          <p:nvPr/>
        </p:nvSpPr>
        <p:spPr bwMode="auto">
          <a:xfrm>
            <a:off x="10866755" y="2402840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79" name="Line 39"/>
          <p:cNvSpPr>
            <a:spLocks noChangeShapeType="1"/>
          </p:cNvSpPr>
          <p:nvPr/>
        </p:nvSpPr>
        <p:spPr bwMode="auto">
          <a:xfrm>
            <a:off x="8861743" y="2639378"/>
            <a:ext cx="187801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Rectangle 27"/>
          <p:cNvSpPr>
            <a:spLocks noChangeArrowheads="1"/>
          </p:cNvSpPr>
          <p:nvPr/>
        </p:nvSpPr>
        <p:spPr bwMode="auto">
          <a:xfrm>
            <a:off x="10939146" y="317785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" name="Freeform 28"/>
          <p:cNvSpPr>
            <a:spLocks/>
          </p:cNvSpPr>
          <p:nvPr/>
        </p:nvSpPr>
        <p:spPr bwMode="auto">
          <a:xfrm>
            <a:off x="8640445" y="3166745"/>
            <a:ext cx="58738" cy="58738"/>
          </a:xfrm>
          <a:custGeom>
            <a:avLst/>
            <a:gdLst>
              <a:gd name="T0" fmla="*/ 17 w 43"/>
              <a:gd name="T1" fmla="*/ 46 h 46"/>
              <a:gd name="T2" fmla="*/ 0 w 43"/>
              <a:gd name="T3" fmla="*/ 37 h 46"/>
              <a:gd name="T4" fmla="*/ 25 w 43"/>
              <a:gd name="T5" fmla="*/ 0 h 46"/>
              <a:gd name="T6" fmla="*/ 43 w 43"/>
              <a:gd name="T7" fmla="*/ 18 h 46"/>
              <a:gd name="T8" fmla="*/ 17 w 43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6"/>
              <a:gd name="T17" fmla="*/ 43 w 43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Rectangle 29"/>
          <p:cNvSpPr>
            <a:spLocks noChangeArrowheads="1"/>
          </p:cNvSpPr>
          <p:nvPr/>
        </p:nvSpPr>
        <p:spPr bwMode="auto">
          <a:xfrm>
            <a:off x="8651559" y="317785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3" name="Rectangle 30"/>
          <p:cNvSpPr>
            <a:spLocks noChangeArrowheads="1"/>
          </p:cNvSpPr>
          <p:nvPr/>
        </p:nvSpPr>
        <p:spPr bwMode="auto">
          <a:xfrm>
            <a:off x="8651559" y="3177859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4" name="Rectangle 31"/>
          <p:cNvSpPr>
            <a:spLocks noChangeArrowheads="1"/>
          </p:cNvSpPr>
          <p:nvPr/>
        </p:nvSpPr>
        <p:spPr bwMode="auto">
          <a:xfrm>
            <a:off x="10962958" y="3177859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" name="Oval 33"/>
          <p:cNvSpPr>
            <a:spLocks noChangeArrowheads="1"/>
          </p:cNvSpPr>
          <p:nvPr/>
        </p:nvSpPr>
        <p:spPr bwMode="auto">
          <a:xfrm>
            <a:off x="8467409" y="2987359"/>
            <a:ext cx="414337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" name="Oval 34"/>
          <p:cNvSpPr>
            <a:spLocks noChangeArrowheads="1"/>
          </p:cNvSpPr>
          <p:nvPr/>
        </p:nvSpPr>
        <p:spPr bwMode="auto">
          <a:xfrm>
            <a:off x="8472171" y="2992120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" name="Oval 35"/>
          <p:cNvSpPr>
            <a:spLocks noChangeArrowheads="1"/>
          </p:cNvSpPr>
          <p:nvPr/>
        </p:nvSpPr>
        <p:spPr bwMode="auto">
          <a:xfrm>
            <a:off x="10754996" y="2987359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" name="Oval 36"/>
          <p:cNvSpPr>
            <a:spLocks noChangeArrowheads="1"/>
          </p:cNvSpPr>
          <p:nvPr/>
        </p:nvSpPr>
        <p:spPr bwMode="auto">
          <a:xfrm>
            <a:off x="10761346" y="2992120"/>
            <a:ext cx="404813" cy="4191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9" name="Rectangle 37"/>
          <p:cNvSpPr>
            <a:spLocks noChangeArrowheads="1"/>
          </p:cNvSpPr>
          <p:nvPr/>
        </p:nvSpPr>
        <p:spPr bwMode="auto">
          <a:xfrm>
            <a:off x="8569008" y="294132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90" name="Rectangle 38"/>
          <p:cNvSpPr>
            <a:spLocks noChangeArrowheads="1"/>
          </p:cNvSpPr>
          <p:nvPr/>
        </p:nvSpPr>
        <p:spPr bwMode="auto">
          <a:xfrm>
            <a:off x="10881995" y="2966720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91" name="Line 39"/>
          <p:cNvSpPr>
            <a:spLocks noChangeShapeType="1"/>
          </p:cNvSpPr>
          <p:nvPr/>
        </p:nvSpPr>
        <p:spPr bwMode="auto">
          <a:xfrm flipH="1">
            <a:off x="8754144" y="3217864"/>
            <a:ext cx="1984693" cy="7619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Left Brace 1"/>
          <p:cNvSpPr/>
          <p:nvPr/>
        </p:nvSpPr>
        <p:spPr>
          <a:xfrm>
            <a:off x="8168640" y="2377441"/>
            <a:ext cx="283529" cy="11541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8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/>
      <p:bldP spid="78" grpId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/>
      <p:bldP spid="90" grpId="0"/>
      <p:bldP spid="91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Terminology</a:t>
            </a:r>
          </a:p>
        </p:txBody>
      </p:sp>
      <p:sp>
        <p:nvSpPr>
          <p:cNvPr id="13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2133601" y="1676400"/>
            <a:ext cx="4048125" cy="4495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End vertices (or endpoints) of an edge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u and v are the </a:t>
            </a:r>
            <a:r>
              <a:rPr lang="en-US" altLang="en-US" sz="1800" i="1"/>
              <a:t>endpoints</a:t>
            </a:r>
            <a:r>
              <a:rPr lang="en-US" altLang="en-US" sz="1800"/>
              <a:t> of </a:t>
            </a:r>
            <a:r>
              <a:rPr lang="en-US" altLang="en-US" sz="1800">
                <a:cs typeface="Tahoma" panose="020B0604030504040204" pitchFamily="34" charset="0"/>
              </a:rPr>
              <a:t>a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Edges incident to a vertex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a, d, and b are </a:t>
            </a:r>
            <a:r>
              <a:rPr lang="en-US" altLang="en-US" sz="1800" i="1"/>
              <a:t>incident</a:t>
            </a:r>
            <a:r>
              <a:rPr lang="en-US" altLang="en-US" sz="1800"/>
              <a:t> to v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Adjacent vertices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u and v are </a:t>
            </a:r>
            <a:r>
              <a:rPr lang="en-US" altLang="en-US" sz="1800" i="1"/>
              <a:t>adjacent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Degree of a vertex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x has </a:t>
            </a:r>
            <a:r>
              <a:rPr lang="en-US" altLang="en-US" sz="1800" i="1"/>
              <a:t>degree</a:t>
            </a:r>
            <a:r>
              <a:rPr lang="en-US" altLang="en-US" sz="1800"/>
              <a:t> 5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Parallel edges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h and i are </a:t>
            </a:r>
            <a:r>
              <a:rPr lang="en-US" altLang="en-US" sz="1800" i="1"/>
              <a:t>parallel edges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Self-loop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j is a </a:t>
            </a:r>
            <a:r>
              <a:rPr lang="en-US" altLang="en-US" sz="1800" i="1"/>
              <a:t>self-loop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1"/>
          </p:nvPr>
        </p:nvSpPr>
        <p:spPr bwMode="auto">
          <a:xfrm>
            <a:off x="80772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B9EF979-2498-4197-96D8-6551EFB80240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6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grpSp>
        <p:nvGrpSpPr>
          <p:cNvPr id="13317" name="Group 32"/>
          <p:cNvGrpSpPr>
            <a:grpSpLocks/>
          </p:cNvGrpSpPr>
          <p:nvPr/>
        </p:nvGrpSpPr>
        <p:grpSpPr bwMode="auto">
          <a:xfrm>
            <a:off x="6100763" y="2208213"/>
            <a:ext cx="4197350" cy="3200400"/>
            <a:chOff x="2808" y="1104"/>
            <a:chExt cx="2644" cy="2016"/>
          </a:xfrm>
        </p:grpSpPr>
        <p:sp>
          <p:nvSpPr>
            <p:cNvPr id="13318" name="Oval 4"/>
            <p:cNvSpPr>
              <a:spLocks noChangeArrowheads="1"/>
            </p:cNvSpPr>
            <p:nvPr/>
          </p:nvSpPr>
          <p:spPr bwMode="auto">
            <a:xfrm>
              <a:off x="3960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</a:t>
              </a:r>
            </a:p>
          </p:txBody>
        </p:sp>
        <p:sp>
          <p:nvSpPr>
            <p:cNvPr id="13319" name="Oval 5"/>
            <p:cNvSpPr>
              <a:spLocks noChangeArrowheads="1"/>
            </p:cNvSpPr>
            <p:nvPr/>
          </p:nvSpPr>
          <p:spPr bwMode="auto">
            <a:xfrm>
              <a:off x="28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u</a:t>
              </a:r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384" y="1104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v</a:t>
              </a:r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3384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w</a:t>
              </a:r>
            </a:p>
          </p:txBody>
        </p:sp>
        <p:sp>
          <p:nvSpPr>
            <p:cNvPr id="13322" name="Oval 8"/>
            <p:cNvSpPr>
              <a:spLocks noChangeArrowheads="1"/>
            </p:cNvSpPr>
            <p:nvPr/>
          </p:nvSpPr>
          <p:spPr bwMode="auto">
            <a:xfrm>
              <a:off x="472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z</a:t>
              </a:r>
            </a:p>
          </p:txBody>
        </p:sp>
        <p:cxnSp>
          <p:nvCxnSpPr>
            <p:cNvPr id="13323" name="AutoShape 9"/>
            <p:cNvCxnSpPr>
              <a:cxnSpLocks noChangeShapeType="1"/>
              <a:stCxn id="13320" idx="3"/>
              <a:endCxn id="13319" idx="7"/>
            </p:cNvCxnSpPr>
            <p:nvPr/>
          </p:nvCxnSpPr>
          <p:spPr bwMode="auto">
            <a:xfrm flipH="1">
              <a:off x="3054" y="1356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4" name="AutoShape 10"/>
            <p:cNvCxnSpPr>
              <a:cxnSpLocks noChangeShapeType="1"/>
              <a:stCxn id="13321" idx="1"/>
              <a:endCxn id="13319" idx="5"/>
            </p:cNvCxnSpPr>
            <p:nvPr/>
          </p:nvCxnSpPr>
          <p:spPr bwMode="auto">
            <a:xfrm flipH="1" flipV="1">
              <a:off x="3054" y="1932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5" name="AutoShape 11"/>
            <p:cNvCxnSpPr>
              <a:cxnSpLocks noChangeShapeType="1"/>
              <a:stCxn id="13321" idx="7"/>
              <a:endCxn id="13318" idx="3"/>
            </p:cNvCxnSpPr>
            <p:nvPr/>
          </p:nvCxnSpPr>
          <p:spPr bwMode="auto">
            <a:xfrm flipV="1">
              <a:off x="3630" y="1932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6" name="AutoShape 13"/>
            <p:cNvCxnSpPr>
              <a:cxnSpLocks noChangeShapeType="1"/>
              <a:stCxn id="13320" idx="5"/>
              <a:endCxn id="13318" idx="1"/>
            </p:cNvCxnSpPr>
            <p:nvPr/>
          </p:nvCxnSpPr>
          <p:spPr bwMode="auto">
            <a:xfrm>
              <a:off x="3630" y="1356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7" name="AutoShape 14"/>
            <p:cNvCxnSpPr>
              <a:cxnSpLocks noChangeShapeType="1"/>
              <a:stCxn id="13320" idx="4"/>
              <a:endCxn id="13321" idx="0"/>
            </p:cNvCxnSpPr>
            <p:nvPr/>
          </p:nvCxnSpPr>
          <p:spPr bwMode="auto">
            <a:xfrm>
              <a:off x="3528" y="1398"/>
              <a:ext cx="0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28" name="Oval 15"/>
            <p:cNvSpPr>
              <a:spLocks noChangeArrowheads="1"/>
            </p:cNvSpPr>
            <p:nvPr/>
          </p:nvSpPr>
          <p:spPr bwMode="auto">
            <a:xfrm>
              <a:off x="3966" y="2832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y</a:t>
              </a:r>
            </a:p>
          </p:txBody>
        </p:sp>
        <p:cxnSp>
          <p:nvCxnSpPr>
            <p:cNvPr id="13329" name="AutoShape 16"/>
            <p:cNvCxnSpPr>
              <a:cxnSpLocks noChangeShapeType="1"/>
              <a:stCxn id="13321" idx="5"/>
              <a:endCxn id="13328" idx="1"/>
            </p:cNvCxnSpPr>
            <p:nvPr/>
          </p:nvCxnSpPr>
          <p:spPr bwMode="auto">
            <a:xfrm>
              <a:off x="3630" y="2508"/>
              <a:ext cx="378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0" name="AutoShape 17"/>
            <p:cNvCxnSpPr>
              <a:cxnSpLocks noChangeShapeType="1"/>
              <a:stCxn id="13318" idx="4"/>
              <a:endCxn id="13328" idx="0"/>
            </p:cNvCxnSpPr>
            <p:nvPr/>
          </p:nvCxnSpPr>
          <p:spPr bwMode="auto">
            <a:xfrm>
              <a:off x="4104" y="1974"/>
              <a:ext cx="6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1" name="Text Box 18"/>
            <p:cNvSpPr txBox="1">
              <a:spLocks noChangeArrowheads="1"/>
            </p:cNvSpPr>
            <p:nvPr/>
          </p:nvSpPr>
          <p:spPr bwMode="auto">
            <a:xfrm>
              <a:off x="3054" y="1254"/>
              <a:ext cx="2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</a:t>
              </a:r>
            </a:p>
          </p:txBody>
        </p:sp>
        <p:sp>
          <p:nvSpPr>
            <p:cNvPr id="13332" name="Text Box 19"/>
            <p:cNvSpPr txBox="1">
              <a:spLocks noChangeArrowheads="1"/>
            </p:cNvSpPr>
            <p:nvPr/>
          </p:nvSpPr>
          <p:spPr bwMode="auto">
            <a:xfrm>
              <a:off x="3046" y="1974"/>
              <a:ext cx="2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</a:t>
              </a:r>
            </a:p>
          </p:txBody>
        </p:sp>
        <p:sp>
          <p:nvSpPr>
            <p:cNvPr id="13333" name="Text Box 20"/>
            <p:cNvSpPr txBox="1">
              <a:spLocks noChangeArrowheads="1"/>
            </p:cNvSpPr>
            <p:nvPr/>
          </p:nvSpPr>
          <p:spPr bwMode="auto">
            <a:xfrm>
              <a:off x="3786" y="1254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b</a:t>
              </a:r>
            </a:p>
          </p:txBody>
        </p:sp>
        <p:sp>
          <p:nvSpPr>
            <p:cNvPr id="13334" name="Text Box 21"/>
            <p:cNvSpPr txBox="1">
              <a:spLocks noChangeArrowheads="1"/>
            </p:cNvSpPr>
            <p:nvPr/>
          </p:nvSpPr>
          <p:spPr bwMode="auto">
            <a:xfrm>
              <a:off x="3789" y="2004"/>
              <a:ext cx="2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e</a:t>
              </a:r>
            </a:p>
          </p:txBody>
        </p:sp>
        <p:sp>
          <p:nvSpPr>
            <p:cNvPr id="13335" name="Text Box 22"/>
            <p:cNvSpPr txBox="1">
              <a:spLocks noChangeArrowheads="1"/>
            </p:cNvSpPr>
            <p:nvPr/>
          </p:nvSpPr>
          <p:spPr bwMode="auto">
            <a:xfrm>
              <a:off x="3504" y="1680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</a:t>
              </a:r>
            </a:p>
          </p:txBody>
        </p:sp>
        <p:sp>
          <p:nvSpPr>
            <p:cNvPr id="13336" name="Text Box 23"/>
            <p:cNvSpPr txBox="1">
              <a:spLocks noChangeArrowheads="1"/>
            </p:cNvSpPr>
            <p:nvPr/>
          </p:nvSpPr>
          <p:spPr bwMode="auto">
            <a:xfrm>
              <a:off x="3676" y="2646"/>
              <a:ext cx="1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f</a:t>
              </a:r>
            </a:p>
          </p:txBody>
        </p:sp>
        <p:sp>
          <p:nvSpPr>
            <p:cNvPr id="13337" name="Text Box 24"/>
            <p:cNvSpPr txBox="1">
              <a:spLocks noChangeArrowheads="1"/>
            </p:cNvSpPr>
            <p:nvPr/>
          </p:nvSpPr>
          <p:spPr bwMode="auto">
            <a:xfrm>
              <a:off x="4080" y="2292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g</a:t>
              </a:r>
            </a:p>
          </p:txBody>
        </p:sp>
        <p:sp>
          <p:nvSpPr>
            <p:cNvPr id="13338" name="Text Box 25"/>
            <p:cNvSpPr txBox="1">
              <a:spLocks noChangeArrowheads="1"/>
            </p:cNvSpPr>
            <p:nvPr/>
          </p:nvSpPr>
          <p:spPr bwMode="auto">
            <a:xfrm>
              <a:off x="4398" y="1392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h</a:t>
              </a:r>
            </a:p>
          </p:txBody>
        </p:sp>
        <p:sp>
          <p:nvSpPr>
            <p:cNvPr id="13339" name="Text Box 26"/>
            <p:cNvSpPr txBox="1">
              <a:spLocks noChangeArrowheads="1"/>
            </p:cNvSpPr>
            <p:nvPr/>
          </p:nvSpPr>
          <p:spPr bwMode="auto">
            <a:xfrm>
              <a:off x="4429" y="2016"/>
              <a:ext cx="1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i</a:t>
              </a:r>
            </a:p>
          </p:txBody>
        </p:sp>
        <p:sp>
          <p:nvSpPr>
            <p:cNvPr id="13340" name="Text Box 27"/>
            <p:cNvSpPr txBox="1">
              <a:spLocks noChangeArrowheads="1"/>
            </p:cNvSpPr>
            <p:nvPr/>
          </p:nvSpPr>
          <p:spPr bwMode="auto">
            <a:xfrm>
              <a:off x="5282" y="1392"/>
              <a:ext cx="1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j</a:t>
              </a:r>
            </a:p>
          </p:txBody>
        </p:sp>
        <p:cxnSp>
          <p:nvCxnSpPr>
            <p:cNvPr id="13341" name="AutoShape 29"/>
            <p:cNvCxnSpPr>
              <a:cxnSpLocks noChangeShapeType="1"/>
              <a:stCxn id="13318" idx="5"/>
              <a:endCxn id="13322" idx="3"/>
            </p:cNvCxnSpPr>
            <p:nvPr/>
          </p:nvCxnSpPr>
          <p:spPr bwMode="auto">
            <a:xfrm rot="16200000" flipH="1">
              <a:off x="4487" y="1651"/>
              <a:ext cx="1" cy="564"/>
            </a:xfrm>
            <a:prstGeom prst="curvedConnector3">
              <a:avLst>
                <a:gd name="adj1" fmla="val 7699995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2" name="AutoShape 30"/>
            <p:cNvCxnSpPr>
              <a:cxnSpLocks noChangeShapeType="1"/>
              <a:stCxn id="13318" idx="7"/>
              <a:endCxn id="13322" idx="1"/>
            </p:cNvCxnSpPr>
            <p:nvPr/>
          </p:nvCxnSpPr>
          <p:spPr bwMode="auto">
            <a:xfrm rot="5400000" flipV="1">
              <a:off x="4487" y="1435"/>
              <a:ext cx="1" cy="564"/>
            </a:xfrm>
            <a:prstGeom prst="curvedConnector3">
              <a:avLst>
                <a:gd name="adj1" fmla="val -6100005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3" name="AutoShape 31"/>
            <p:cNvCxnSpPr>
              <a:cxnSpLocks noChangeShapeType="1"/>
              <a:stCxn id="13322" idx="5"/>
              <a:endCxn id="13322" idx="7"/>
            </p:cNvCxnSpPr>
            <p:nvPr/>
          </p:nvCxnSpPr>
          <p:spPr bwMode="auto">
            <a:xfrm rot="5400000" flipH="1" flipV="1">
              <a:off x="4867" y="1823"/>
              <a:ext cx="216" cy="1"/>
            </a:xfrm>
            <a:prstGeom prst="curvedConnector5">
              <a:avLst>
                <a:gd name="adj1" fmla="val -44444"/>
                <a:gd name="adj2" fmla="val 40099986"/>
                <a:gd name="adj3" fmla="val 146759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8809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5D545254-D3A7-48B4-A3AB-34AEDA73BD8F}" type="slidenum">
              <a:rPr lang="en-US" altLang="en-US" sz="1400"/>
              <a:pPr algn="r" eaLnBrk="1" hangingPunct="1"/>
              <a:t>7</a:t>
            </a:fld>
            <a:endParaRPr lang="en-US" altLang="en-US" sz="1400"/>
          </a:p>
        </p:txBody>
      </p:sp>
      <p:sp>
        <p:nvSpPr>
          <p:cNvPr id="358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048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Terminology (cont.)</a:t>
            </a:r>
          </a:p>
        </p:txBody>
      </p:sp>
      <p:sp>
        <p:nvSpPr>
          <p:cNvPr id="1434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524001" y="1752600"/>
            <a:ext cx="4670425" cy="4267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mtClean="0"/>
              <a:t>Outgoing edges of a vertex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(a, b) and (a, c) are outgoing edges of vertex a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Incoming edges of a vertex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(b, c), (d, c) and (a, c) are incoming edges of vertex c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In-degree of a vertex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 has </a:t>
            </a:r>
            <a:r>
              <a:rPr lang="en-US" altLang="en-US" sz="2000" i="1"/>
              <a:t>in</a:t>
            </a:r>
            <a:r>
              <a:rPr lang="en-US" altLang="en-US" sz="2000"/>
              <a:t>-</a:t>
            </a:r>
            <a:r>
              <a:rPr lang="en-US" altLang="en-US" sz="2000" i="1"/>
              <a:t>degree</a:t>
            </a:r>
            <a:r>
              <a:rPr lang="en-US" altLang="en-US" sz="2000"/>
              <a:t> 3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b has </a:t>
            </a:r>
            <a:r>
              <a:rPr lang="en-US" altLang="en-US" sz="2000" i="1"/>
              <a:t>in</a:t>
            </a:r>
            <a:r>
              <a:rPr lang="en-US" altLang="en-US" sz="2000"/>
              <a:t>-</a:t>
            </a:r>
            <a:r>
              <a:rPr lang="en-US" altLang="en-US" sz="2000" i="1"/>
              <a:t>degree</a:t>
            </a:r>
            <a:r>
              <a:rPr lang="en-US" altLang="en-US" sz="2000"/>
              <a:t> 1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Out-degree of a vertex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 has </a:t>
            </a:r>
            <a:r>
              <a:rPr lang="en-US" altLang="en-US" sz="2000" i="1"/>
              <a:t>out</a:t>
            </a:r>
            <a:r>
              <a:rPr lang="en-US" altLang="en-US" sz="2000"/>
              <a:t>-</a:t>
            </a:r>
            <a:r>
              <a:rPr lang="en-US" altLang="en-US" sz="2000" i="1"/>
              <a:t>degree</a:t>
            </a:r>
            <a:r>
              <a:rPr lang="en-US" altLang="en-US" sz="2000"/>
              <a:t> 2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b has </a:t>
            </a:r>
            <a:r>
              <a:rPr lang="en-US" altLang="en-US" sz="2000" i="1"/>
              <a:t>out</a:t>
            </a:r>
            <a:r>
              <a:rPr lang="en-US" altLang="en-US" sz="2000"/>
              <a:t>-</a:t>
            </a:r>
            <a:r>
              <a:rPr lang="en-US" altLang="en-US" sz="2000" i="1"/>
              <a:t>degree</a:t>
            </a:r>
            <a:r>
              <a:rPr lang="en-US" altLang="en-US" sz="2000"/>
              <a:t> 1</a:t>
            </a:r>
          </a:p>
        </p:txBody>
      </p:sp>
      <p:sp>
        <p:nvSpPr>
          <p:cNvPr id="14341" name="Oval 32"/>
          <p:cNvSpPr>
            <a:spLocks noChangeArrowheads="1"/>
          </p:cNvSpPr>
          <p:nvPr/>
        </p:nvSpPr>
        <p:spPr bwMode="auto">
          <a:xfrm>
            <a:off x="8102600" y="19161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4342" name="Oval 33"/>
          <p:cNvSpPr>
            <a:spLocks noChangeArrowheads="1"/>
          </p:cNvSpPr>
          <p:nvPr/>
        </p:nvSpPr>
        <p:spPr bwMode="auto">
          <a:xfrm>
            <a:off x="6959600" y="3127375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4343" name="Oval 34"/>
          <p:cNvSpPr>
            <a:spLocks noChangeArrowheads="1"/>
          </p:cNvSpPr>
          <p:nvPr/>
        </p:nvSpPr>
        <p:spPr bwMode="auto">
          <a:xfrm>
            <a:off x="9245600" y="3127375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4344" name="Oval 35"/>
          <p:cNvSpPr>
            <a:spLocks noChangeArrowheads="1"/>
          </p:cNvSpPr>
          <p:nvPr/>
        </p:nvSpPr>
        <p:spPr bwMode="auto">
          <a:xfrm>
            <a:off x="8102600" y="4194175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14345" name="AutoShape 36"/>
          <p:cNvCxnSpPr>
            <a:cxnSpLocks noChangeShapeType="1"/>
            <a:stCxn id="14341" idx="3"/>
            <a:endCxn id="14342" idx="7"/>
          </p:cNvCxnSpPr>
          <p:nvPr/>
        </p:nvCxnSpPr>
        <p:spPr bwMode="auto">
          <a:xfrm flipH="1">
            <a:off x="7480300" y="2451100"/>
            <a:ext cx="711200" cy="7508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6" name="AutoShape 37"/>
          <p:cNvCxnSpPr>
            <a:cxnSpLocks noChangeShapeType="1"/>
            <a:stCxn id="14342" idx="5"/>
            <a:endCxn id="14344" idx="1"/>
          </p:cNvCxnSpPr>
          <p:nvPr/>
        </p:nvCxnSpPr>
        <p:spPr bwMode="auto">
          <a:xfrm>
            <a:off x="7480300" y="3662364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7" name="AutoShape 38"/>
          <p:cNvCxnSpPr>
            <a:cxnSpLocks noChangeShapeType="1"/>
            <a:stCxn id="14343" idx="3"/>
            <a:endCxn id="14344" idx="7"/>
          </p:cNvCxnSpPr>
          <p:nvPr/>
        </p:nvCxnSpPr>
        <p:spPr bwMode="auto">
          <a:xfrm flipH="1">
            <a:off x="8623300" y="3662364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8" name="AutoShape 39"/>
          <p:cNvCxnSpPr>
            <a:cxnSpLocks noChangeShapeType="1"/>
            <a:stCxn id="14341" idx="4"/>
            <a:endCxn id="14344" idx="0"/>
          </p:cNvCxnSpPr>
          <p:nvPr/>
        </p:nvCxnSpPr>
        <p:spPr bwMode="auto">
          <a:xfrm>
            <a:off x="8407400" y="2540000"/>
            <a:ext cx="0" cy="16398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11943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Terminology (cont.)</a:t>
            </a:r>
          </a:p>
        </p:txBody>
      </p:sp>
      <p:sp>
        <p:nvSpPr>
          <p:cNvPr id="15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2362201" y="1752600"/>
            <a:ext cx="4549775" cy="4267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Path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sequence of alternating vertices and edges 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begins with a vertex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ends with a vertex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each edge is preceded and followed by its endpoints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Simple path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path such that all its vertices and edges are distinct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Examples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chemeClr val="tx2"/>
                </a:solidFill>
              </a:rPr>
              <a:t>P</a:t>
            </a:r>
            <a:r>
              <a:rPr lang="en-US" altLang="en-US" sz="1800" baseline="-25000">
                <a:solidFill>
                  <a:schemeClr val="tx2"/>
                </a:solidFill>
              </a:rPr>
              <a:t>1</a:t>
            </a:r>
            <a:r>
              <a:rPr lang="en-US" altLang="en-US" sz="1800">
                <a:solidFill>
                  <a:schemeClr val="tx2"/>
                </a:solidFill>
              </a:rPr>
              <a:t>=(V, b, X, h, Z)</a:t>
            </a:r>
            <a:r>
              <a:rPr lang="en-US" altLang="en-US" sz="1800"/>
              <a:t> is a simple path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chemeClr val="accent2"/>
                </a:solidFill>
              </a:rPr>
              <a:t>P</a:t>
            </a:r>
            <a:r>
              <a:rPr lang="en-US" altLang="en-US" sz="1800" baseline="-25000">
                <a:solidFill>
                  <a:schemeClr val="accent2"/>
                </a:solidFill>
              </a:rPr>
              <a:t>2</a:t>
            </a:r>
            <a:r>
              <a:rPr lang="en-US" altLang="en-US" sz="1800">
                <a:solidFill>
                  <a:schemeClr val="accent2"/>
                </a:solidFill>
              </a:rPr>
              <a:t>=(U, c, W, e, X, g, Y, f, W, d, V)</a:t>
            </a:r>
            <a:r>
              <a:rPr lang="en-US" altLang="en-US" sz="1800"/>
              <a:t> is a path that is not simple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1"/>
          </p:nvPr>
        </p:nvSpPr>
        <p:spPr bwMode="auto">
          <a:xfrm>
            <a:off x="80772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1FC9BF0-2A45-4C66-9A7B-844F0C654ACB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8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9220" name="Freeform 30"/>
          <p:cNvSpPr>
            <a:spLocks/>
          </p:cNvSpPr>
          <p:nvPr/>
        </p:nvSpPr>
        <p:spPr bwMode="auto">
          <a:xfrm>
            <a:off x="7378700" y="2905126"/>
            <a:ext cx="1570038" cy="2149475"/>
          </a:xfrm>
          <a:custGeom>
            <a:avLst/>
            <a:gdLst>
              <a:gd name="T0" fmla="*/ 742950 w 989"/>
              <a:gd name="T1" fmla="*/ 0 h 1354"/>
              <a:gd name="T2" fmla="*/ 819150 w 989"/>
              <a:gd name="T3" fmla="*/ 1352550 h 1354"/>
              <a:gd name="T4" fmla="*/ 1476375 w 989"/>
              <a:gd name="T5" fmla="*/ 2057400 h 1354"/>
              <a:gd name="T6" fmla="*/ 1381125 w 989"/>
              <a:gd name="T7" fmla="*/ 800100 h 1354"/>
              <a:gd name="T8" fmla="*/ 695325 w 989"/>
              <a:gd name="T9" fmla="*/ 1276350 h 1354"/>
              <a:gd name="T10" fmla="*/ 0 w 989"/>
              <a:gd name="T11" fmla="*/ 762000 h 13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9"/>
              <a:gd name="T19" fmla="*/ 0 h 1354"/>
              <a:gd name="T20" fmla="*/ 989 w 989"/>
              <a:gd name="T21" fmla="*/ 1354 h 135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9" h="1354">
                <a:moveTo>
                  <a:pt x="468" y="0"/>
                </a:moveTo>
                <a:cubicBezTo>
                  <a:pt x="475" y="142"/>
                  <a:pt x="439" y="636"/>
                  <a:pt x="516" y="852"/>
                </a:cubicBezTo>
                <a:cubicBezTo>
                  <a:pt x="593" y="1068"/>
                  <a:pt x="871" y="1354"/>
                  <a:pt x="930" y="1296"/>
                </a:cubicBezTo>
                <a:cubicBezTo>
                  <a:pt x="989" y="1238"/>
                  <a:pt x="952" y="586"/>
                  <a:pt x="870" y="504"/>
                </a:cubicBezTo>
                <a:cubicBezTo>
                  <a:pt x="788" y="422"/>
                  <a:pt x="583" y="808"/>
                  <a:pt x="438" y="804"/>
                </a:cubicBezTo>
                <a:cubicBezTo>
                  <a:pt x="293" y="800"/>
                  <a:pt x="91" y="547"/>
                  <a:pt x="0" y="480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Text Box 29"/>
          <p:cNvSpPr txBox="1">
            <a:spLocks noChangeArrowheads="1"/>
          </p:cNvSpPr>
          <p:nvPr/>
        </p:nvSpPr>
        <p:spPr bwMode="auto">
          <a:xfrm>
            <a:off x="8816975" y="28194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P</a:t>
            </a:r>
            <a:r>
              <a:rPr lang="en-US" altLang="en-US" baseline="-25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9222" name="Freeform 28"/>
          <p:cNvSpPr>
            <a:spLocks/>
          </p:cNvSpPr>
          <p:nvPr/>
        </p:nvSpPr>
        <p:spPr bwMode="auto">
          <a:xfrm>
            <a:off x="8312150" y="2724150"/>
            <a:ext cx="1638300" cy="736600"/>
          </a:xfrm>
          <a:custGeom>
            <a:avLst/>
            <a:gdLst>
              <a:gd name="T0" fmla="*/ 0 w 1032"/>
              <a:gd name="T1" fmla="*/ 0 h 464"/>
              <a:gd name="T2" fmla="*/ 733425 w 1032"/>
              <a:gd name="T3" fmla="*/ 628650 h 464"/>
              <a:gd name="T4" fmla="*/ 1638300 w 1032"/>
              <a:gd name="T5" fmla="*/ 647700 h 464"/>
              <a:gd name="T6" fmla="*/ 0 60000 65536"/>
              <a:gd name="T7" fmla="*/ 0 60000 65536"/>
              <a:gd name="T8" fmla="*/ 0 60000 65536"/>
              <a:gd name="T9" fmla="*/ 0 w 1032"/>
              <a:gd name="T10" fmla="*/ 0 h 464"/>
              <a:gd name="T11" fmla="*/ 1032 w 1032"/>
              <a:gd name="T12" fmla="*/ 464 h 4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32" h="464">
                <a:moveTo>
                  <a:pt x="0" y="0"/>
                </a:moveTo>
                <a:cubicBezTo>
                  <a:pt x="77" y="66"/>
                  <a:pt x="290" y="328"/>
                  <a:pt x="462" y="396"/>
                </a:cubicBezTo>
                <a:cubicBezTo>
                  <a:pt x="634" y="464"/>
                  <a:pt x="913" y="406"/>
                  <a:pt x="1032" y="408"/>
                </a:cubicBezTo>
              </a:path>
            </a:pathLst>
          </a:custGeom>
          <a:noFill/>
          <a:ln w="5715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Oval 4"/>
          <p:cNvSpPr>
            <a:spLocks noChangeArrowheads="1"/>
          </p:cNvSpPr>
          <p:nvPr/>
        </p:nvSpPr>
        <p:spPr bwMode="auto">
          <a:xfrm>
            <a:off x="8740775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X</a:t>
            </a:r>
          </a:p>
        </p:txBody>
      </p:sp>
      <p:sp>
        <p:nvSpPr>
          <p:cNvPr id="15369" name="Oval 5"/>
          <p:cNvSpPr>
            <a:spLocks noChangeArrowheads="1"/>
          </p:cNvSpPr>
          <p:nvPr/>
        </p:nvSpPr>
        <p:spPr bwMode="auto">
          <a:xfrm>
            <a:off x="6911975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U</a:t>
            </a:r>
          </a:p>
        </p:txBody>
      </p:sp>
      <p:sp>
        <p:nvSpPr>
          <p:cNvPr id="15370" name="Oval 6"/>
          <p:cNvSpPr>
            <a:spLocks noChangeArrowheads="1"/>
          </p:cNvSpPr>
          <p:nvPr/>
        </p:nvSpPr>
        <p:spPr bwMode="auto">
          <a:xfrm>
            <a:off x="7826375" y="2362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V</a:t>
            </a:r>
          </a:p>
        </p:txBody>
      </p:sp>
      <p:sp>
        <p:nvSpPr>
          <p:cNvPr id="15371" name="Oval 7"/>
          <p:cNvSpPr>
            <a:spLocks noChangeArrowheads="1"/>
          </p:cNvSpPr>
          <p:nvPr/>
        </p:nvSpPr>
        <p:spPr bwMode="auto">
          <a:xfrm>
            <a:off x="7826375" y="41910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W</a:t>
            </a:r>
          </a:p>
        </p:txBody>
      </p:sp>
      <p:sp>
        <p:nvSpPr>
          <p:cNvPr id="15372" name="Oval 8"/>
          <p:cNvSpPr>
            <a:spLocks noChangeArrowheads="1"/>
          </p:cNvSpPr>
          <p:nvPr/>
        </p:nvSpPr>
        <p:spPr bwMode="auto">
          <a:xfrm>
            <a:off x="9959975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Z</a:t>
            </a:r>
          </a:p>
        </p:txBody>
      </p:sp>
      <p:cxnSp>
        <p:nvCxnSpPr>
          <p:cNvPr id="15373" name="AutoShape 9"/>
          <p:cNvCxnSpPr>
            <a:cxnSpLocks noChangeShapeType="1"/>
            <a:stCxn id="15370" idx="3"/>
            <a:endCxn id="15369" idx="7"/>
          </p:cNvCxnSpPr>
          <p:nvPr/>
        </p:nvCxnSpPr>
        <p:spPr bwMode="auto">
          <a:xfrm flipH="1">
            <a:off x="7302500" y="2762250"/>
            <a:ext cx="59055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4" name="AutoShape 10"/>
          <p:cNvCxnSpPr>
            <a:cxnSpLocks noChangeShapeType="1"/>
            <a:stCxn id="15371" idx="1"/>
            <a:endCxn id="15369" idx="5"/>
          </p:cNvCxnSpPr>
          <p:nvPr/>
        </p:nvCxnSpPr>
        <p:spPr bwMode="auto">
          <a:xfrm flipH="1" flipV="1">
            <a:off x="7302500" y="3676650"/>
            <a:ext cx="59055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5" name="AutoShape 11"/>
          <p:cNvCxnSpPr>
            <a:cxnSpLocks noChangeShapeType="1"/>
            <a:stCxn id="15371" idx="7"/>
            <a:endCxn id="15368" idx="3"/>
          </p:cNvCxnSpPr>
          <p:nvPr/>
        </p:nvCxnSpPr>
        <p:spPr bwMode="auto">
          <a:xfrm flipV="1">
            <a:off x="8216900" y="3676650"/>
            <a:ext cx="59055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6" name="AutoShape 12"/>
          <p:cNvCxnSpPr>
            <a:cxnSpLocks noChangeShapeType="1"/>
            <a:stCxn id="15368" idx="6"/>
            <a:endCxn id="15372" idx="2"/>
          </p:cNvCxnSpPr>
          <p:nvPr/>
        </p:nvCxnSpPr>
        <p:spPr bwMode="auto">
          <a:xfrm>
            <a:off x="9207500" y="3505200"/>
            <a:ext cx="742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7" name="AutoShape 13"/>
          <p:cNvCxnSpPr>
            <a:cxnSpLocks noChangeShapeType="1"/>
            <a:stCxn id="15370" idx="5"/>
            <a:endCxn id="15368" idx="1"/>
          </p:cNvCxnSpPr>
          <p:nvPr/>
        </p:nvCxnSpPr>
        <p:spPr bwMode="auto">
          <a:xfrm>
            <a:off x="8216900" y="2762250"/>
            <a:ext cx="59055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8" name="AutoShape 14"/>
          <p:cNvCxnSpPr>
            <a:cxnSpLocks noChangeShapeType="1"/>
            <a:stCxn id="15370" idx="4"/>
            <a:endCxn id="15371" idx="0"/>
          </p:cNvCxnSpPr>
          <p:nvPr/>
        </p:nvCxnSpPr>
        <p:spPr bwMode="auto">
          <a:xfrm>
            <a:off x="8054975" y="2828925"/>
            <a:ext cx="0" cy="1352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9" name="Oval 15"/>
          <p:cNvSpPr>
            <a:spLocks noChangeArrowheads="1"/>
          </p:cNvSpPr>
          <p:nvPr/>
        </p:nvSpPr>
        <p:spPr bwMode="auto">
          <a:xfrm>
            <a:off x="8750300" y="51054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Y</a:t>
            </a:r>
          </a:p>
        </p:txBody>
      </p:sp>
      <p:cxnSp>
        <p:nvCxnSpPr>
          <p:cNvPr id="15380" name="AutoShape 16"/>
          <p:cNvCxnSpPr>
            <a:cxnSpLocks noChangeShapeType="1"/>
            <a:stCxn id="15371" idx="5"/>
            <a:endCxn id="15379" idx="1"/>
          </p:cNvCxnSpPr>
          <p:nvPr/>
        </p:nvCxnSpPr>
        <p:spPr bwMode="auto">
          <a:xfrm>
            <a:off x="8216901" y="4591050"/>
            <a:ext cx="600075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1" name="AutoShape 17"/>
          <p:cNvCxnSpPr>
            <a:cxnSpLocks noChangeShapeType="1"/>
            <a:stCxn id="15368" idx="4"/>
            <a:endCxn id="15379" idx="0"/>
          </p:cNvCxnSpPr>
          <p:nvPr/>
        </p:nvCxnSpPr>
        <p:spPr bwMode="auto">
          <a:xfrm>
            <a:off x="8969376" y="3743325"/>
            <a:ext cx="9525" cy="1352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2" name="Text Box 18"/>
          <p:cNvSpPr txBox="1">
            <a:spLocks noChangeArrowheads="1"/>
          </p:cNvSpPr>
          <p:nvPr/>
        </p:nvSpPr>
        <p:spPr bwMode="auto">
          <a:xfrm>
            <a:off x="7302500" y="2600325"/>
            <a:ext cx="34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15383" name="Text Box 19"/>
          <p:cNvSpPr txBox="1">
            <a:spLocks noChangeArrowheads="1"/>
          </p:cNvSpPr>
          <p:nvPr/>
        </p:nvSpPr>
        <p:spPr bwMode="auto">
          <a:xfrm>
            <a:off x="7289800" y="3743325"/>
            <a:ext cx="32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15384" name="Text Box 20"/>
          <p:cNvSpPr txBox="1">
            <a:spLocks noChangeArrowheads="1"/>
          </p:cNvSpPr>
          <p:nvPr/>
        </p:nvSpPr>
        <p:spPr bwMode="auto">
          <a:xfrm>
            <a:off x="8512176" y="259080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15385" name="Text Box 21"/>
          <p:cNvSpPr txBox="1">
            <a:spLocks noChangeArrowheads="1"/>
          </p:cNvSpPr>
          <p:nvPr/>
        </p:nvSpPr>
        <p:spPr bwMode="auto">
          <a:xfrm>
            <a:off x="8435975" y="3810000"/>
            <a:ext cx="34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e</a:t>
            </a:r>
          </a:p>
        </p:txBody>
      </p:sp>
      <p:sp>
        <p:nvSpPr>
          <p:cNvPr id="15386" name="Text Box 22"/>
          <p:cNvSpPr txBox="1">
            <a:spLocks noChangeArrowheads="1"/>
          </p:cNvSpPr>
          <p:nvPr/>
        </p:nvSpPr>
        <p:spPr bwMode="auto">
          <a:xfrm>
            <a:off x="7750176" y="312420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15387" name="Text Box 23"/>
          <p:cNvSpPr txBox="1">
            <a:spLocks noChangeArrowheads="1"/>
          </p:cNvSpPr>
          <p:nvPr/>
        </p:nvSpPr>
        <p:spPr bwMode="auto">
          <a:xfrm>
            <a:off x="8289925" y="4810125"/>
            <a:ext cx="280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f</a:t>
            </a:r>
          </a:p>
        </p:txBody>
      </p:sp>
      <p:sp>
        <p:nvSpPr>
          <p:cNvPr id="15388" name="Text Box 24"/>
          <p:cNvSpPr txBox="1">
            <a:spLocks noChangeArrowheads="1"/>
          </p:cNvSpPr>
          <p:nvPr/>
        </p:nvSpPr>
        <p:spPr bwMode="auto">
          <a:xfrm>
            <a:off x="8931276" y="424815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g</a:t>
            </a:r>
          </a:p>
        </p:txBody>
      </p:sp>
      <p:sp>
        <p:nvSpPr>
          <p:cNvPr id="15389" name="Text Box 25"/>
          <p:cNvSpPr txBox="1">
            <a:spLocks noChangeArrowheads="1"/>
          </p:cNvSpPr>
          <p:nvPr/>
        </p:nvSpPr>
        <p:spPr bwMode="auto">
          <a:xfrm>
            <a:off x="9436100" y="350520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h</a:t>
            </a: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7597775" y="35052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P</a:t>
            </a:r>
            <a:r>
              <a:rPr lang="en-US" altLang="en-US" baseline="-2500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62201" y="6019800"/>
            <a:ext cx="662162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Note the change in definition of path from what we learned earlier. </a:t>
            </a:r>
          </a:p>
          <a:p>
            <a:r>
              <a:rPr lang="en-US" dirty="0" smtClean="0"/>
              <a:t>This could be more appropriate in some cases. But we may use both.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96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/>
      <p:bldP spid="92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3390C25B-FE6E-4971-A8FE-C9E0D1D1D2C2}" type="slidenum">
              <a:rPr lang="en-US" altLang="en-US" sz="1400"/>
              <a:pPr algn="r" eaLnBrk="1" hangingPunct="1"/>
              <a:t>9</a:t>
            </a:fld>
            <a:endParaRPr lang="en-US" altLang="en-US" sz="140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048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Terminology (cont.)</a:t>
            </a:r>
          </a:p>
        </p:txBody>
      </p:sp>
      <p:sp>
        <p:nvSpPr>
          <p:cNvPr id="1638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600201"/>
            <a:ext cx="7696200" cy="4648199"/>
          </a:xfrm>
        </p:spPr>
        <p:txBody>
          <a:bodyPr>
            <a:normAutofit/>
          </a:bodyPr>
          <a:lstStyle/>
          <a:p>
            <a:r>
              <a:rPr lang="en-US" altLang="en-US" i="1" dirty="0">
                <a:solidFill>
                  <a:schemeClr val="tx2"/>
                </a:solidFill>
              </a:rPr>
              <a:t>Dense</a:t>
            </a:r>
            <a:r>
              <a:rPr lang="en-US" altLang="en-US" i="1" dirty="0"/>
              <a:t> </a:t>
            </a:r>
            <a:r>
              <a:rPr lang="en-US" altLang="en-US" dirty="0"/>
              <a:t>graph: |E| </a:t>
            </a:r>
            <a:r>
              <a:rPr lang="en-US" altLang="en-US" dirty="0">
                <a:sym typeface="Symbol" panose="05050102010706020507" pitchFamily="18" charset="2"/>
              </a:rPr>
              <a:t> |V|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; </a:t>
            </a:r>
            <a:r>
              <a:rPr lang="en-US" altLang="en-US" i="1" dirty="0">
                <a:solidFill>
                  <a:schemeClr val="tx2"/>
                </a:solidFill>
                <a:sym typeface="Symbol" panose="05050102010706020507" pitchFamily="18" charset="2"/>
              </a:rPr>
              <a:t>Sparse</a:t>
            </a:r>
            <a:r>
              <a:rPr lang="en-US" altLang="en-US" dirty="0">
                <a:sym typeface="Symbol" panose="05050102010706020507" pitchFamily="18" charset="2"/>
              </a:rPr>
              <a:t> graph: </a:t>
            </a:r>
            <a:r>
              <a:rPr lang="en-US" altLang="en-US" dirty="0"/>
              <a:t>|E| </a:t>
            </a:r>
            <a:r>
              <a:rPr lang="en-US" altLang="en-US" dirty="0">
                <a:sym typeface="Symbol" panose="05050102010706020507" pitchFamily="18" charset="2"/>
              </a:rPr>
              <a:t> |V</a:t>
            </a:r>
            <a:r>
              <a:rPr lang="en-US" altLang="en-US" dirty="0" smtClean="0">
                <a:sym typeface="Symbol" panose="05050102010706020507" pitchFamily="18" charset="2"/>
              </a:rPr>
              <a:t>| or </a:t>
            </a:r>
            <a:r>
              <a:rPr lang="en-US" altLang="en-US" dirty="0" smtClean="0"/>
              <a:t>|E| </a:t>
            </a:r>
            <a:r>
              <a:rPr lang="en-US" altLang="en-US" dirty="0" smtClean="0">
                <a:sym typeface="Symbol" panose="05050102010706020507" pitchFamily="18" charset="2"/>
              </a:rPr>
              <a:t>&lt;&lt; |V|</a:t>
            </a:r>
            <a:endParaRPr lang="en-US" altLang="en-US" dirty="0"/>
          </a:p>
          <a:p>
            <a:r>
              <a:rPr lang="en-US" altLang="en-US" dirty="0"/>
              <a:t>A </a:t>
            </a:r>
            <a:r>
              <a:rPr lang="en-US" altLang="en-US" i="1" dirty="0">
                <a:solidFill>
                  <a:schemeClr val="tx2"/>
                </a:solidFill>
              </a:rPr>
              <a:t>weighted graph</a:t>
            </a:r>
            <a:r>
              <a:rPr lang="en-US" altLang="en-US" dirty="0"/>
              <a:t> associates weights with either the edges or the vertices</a:t>
            </a:r>
          </a:p>
          <a:p>
            <a:r>
              <a:rPr lang="en-US" altLang="zh-TW" dirty="0"/>
              <a:t>A </a:t>
            </a:r>
            <a:r>
              <a:rPr lang="en-US" altLang="zh-TW" dirty="0">
                <a:solidFill>
                  <a:schemeClr val="tx2"/>
                </a:solidFill>
              </a:rPr>
              <a:t>complete graph</a:t>
            </a:r>
            <a:r>
              <a:rPr lang="en-US" altLang="zh-TW" dirty="0"/>
              <a:t> is a graph that has the maximum number of edges</a:t>
            </a:r>
            <a:endParaRPr lang="en-US" altLang="en-US" dirty="0"/>
          </a:p>
          <a:p>
            <a:pPr lvl="1"/>
            <a:r>
              <a:rPr lang="en-US" altLang="zh-TW" sz="2800" dirty="0"/>
              <a:t>for </a:t>
            </a:r>
            <a:r>
              <a:rPr lang="en-US" altLang="zh-TW" sz="2800" dirty="0">
                <a:solidFill>
                  <a:srgbClr val="CC3300"/>
                </a:solidFill>
              </a:rPr>
              <a:t>undirected graph</a:t>
            </a:r>
            <a:r>
              <a:rPr lang="en-US" altLang="zh-TW" sz="2800" dirty="0"/>
              <a:t> with n vertices, the maximum number of edges is </a:t>
            </a:r>
            <a:r>
              <a:rPr lang="en-US" altLang="zh-TW" sz="2800" dirty="0">
                <a:solidFill>
                  <a:srgbClr val="008000"/>
                </a:solidFill>
              </a:rPr>
              <a:t>n(n-1)/2</a:t>
            </a:r>
            <a:endParaRPr lang="en-US" altLang="en-US" sz="2800" dirty="0"/>
          </a:p>
          <a:p>
            <a:pPr lvl="1"/>
            <a:r>
              <a:rPr lang="en-US" altLang="zh-TW" sz="2800" dirty="0"/>
              <a:t>for </a:t>
            </a:r>
            <a:r>
              <a:rPr lang="en-US" altLang="zh-TW" sz="2800" dirty="0">
                <a:solidFill>
                  <a:srgbClr val="CC3300"/>
                </a:solidFill>
              </a:rPr>
              <a:t>directed graph</a:t>
            </a:r>
            <a:r>
              <a:rPr lang="en-US" altLang="zh-TW" sz="2800" dirty="0"/>
              <a:t> with n vertices, the maximum number of edges is </a:t>
            </a:r>
            <a:r>
              <a:rPr lang="en-US" altLang="zh-TW" sz="2800" dirty="0">
                <a:solidFill>
                  <a:srgbClr val="008000"/>
                </a:solidFill>
              </a:rPr>
              <a:t>n(n-1)</a:t>
            </a:r>
            <a:endParaRPr lang="en-US" altLang="en-US" sz="2800" dirty="0">
              <a:solidFill>
                <a:srgbClr val="008000"/>
              </a:solidFill>
            </a:endParaRPr>
          </a:p>
        </p:txBody>
      </p:sp>
      <p:grpSp>
        <p:nvGrpSpPr>
          <p:cNvPr id="16389" name="Group 42"/>
          <p:cNvGrpSpPr>
            <a:grpSpLocks/>
          </p:cNvGrpSpPr>
          <p:nvPr/>
        </p:nvGrpSpPr>
        <p:grpSpPr bwMode="auto">
          <a:xfrm rot="18903490">
            <a:off x="9250363" y="1878551"/>
            <a:ext cx="2133600" cy="2209800"/>
            <a:chOff x="3515" y="2900"/>
            <a:chExt cx="1344" cy="1392"/>
          </a:xfrm>
        </p:grpSpPr>
        <p:sp>
          <p:nvSpPr>
            <p:cNvPr id="16390" name="Oval 5"/>
            <p:cNvSpPr>
              <a:spLocks noChangeArrowheads="1"/>
            </p:cNvSpPr>
            <p:nvPr/>
          </p:nvSpPr>
          <p:spPr bwMode="auto">
            <a:xfrm>
              <a:off x="3515" y="3476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1" name="Oval 6"/>
            <p:cNvSpPr>
              <a:spLocks noChangeArrowheads="1"/>
            </p:cNvSpPr>
            <p:nvPr/>
          </p:nvSpPr>
          <p:spPr bwMode="auto">
            <a:xfrm>
              <a:off x="4091" y="290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2" name="Oval 7"/>
            <p:cNvSpPr>
              <a:spLocks noChangeArrowheads="1"/>
            </p:cNvSpPr>
            <p:nvPr/>
          </p:nvSpPr>
          <p:spPr bwMode="auto">
            <a:xfrm>
              <a:off x="4091" y="410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3" name="Oval 8"/>
            <p:cNvSpPr>
              <a:spLocks noChangeArrowheads="1"/>
            </p:cNvSpPr>
            <p:nvPr/>
          </p:nvSpPr>
          <p:spPr bwMode="auto">
            <a:xfrm>
              <a:off x="4667" y="3476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6394" name="AutoShape 9"/>
            <p:cNvCxnSpPr>
              <a:cxnSpLocks noChangeShapeType="1"/>
              <a:stCxn id="16391" idx="5"/>
              <a:endCxn id="16393" idx="1"/>
            </p:cNvCxnSpPr>
            <p:nvPr/>
          </p:nvCxnSpPr>
          <p:spPr bwMode="auto">
            <a:xfrm>
              <a:off x="4255" y="3070"/>
              <a:ext cx="440" cy="4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5" name="AutoShape 10"/>
            <p:cNvCxnSpPr>
              <a:cxnSpLocks noChangeShapeType="1"/>
              <a:stCxn id="16391" idx="3"/>
              <a:endCxn id="16390" idx="7"/>
            </p:cNvCxnSpPr>
            <p:nvPr/>
          </p:nvCxnSpPr>
          <p:spPr bwMode="auto">
            <a:xfrm flipH="1">
              <a:off x="3679" y="3070"/>
              <a:ext cx="440" cy="4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6" name="AutoShape 11"/>
            <p:cNvCxnSpPr>
              <a:cxnSpLocks noChangeShapeType="1"/>
              <a:stCxn id="16392" idx="1"/>
              <a:endCxn id="16390" idx="5"/>
            </p:cNvCxnSpPr>
            <p:nvPr/>
          </p:nvCxnSpPr>
          <p:spPr bwMode="auto">
            <a:xfrm flipH="1" flipV="1">
              <a:off x="3679" y="3646"/>
              <a:ext cx="440" cy="4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7" name="AutoShape 12"/>
            <p:cNvCxnSpPr>
              <a:cxnSpLocks noChangeShapeType="1"/>
              <a:stCxn id="16393" idx="3"/>
              <a:endCxn id="16392" idx="7"/>
            </p:cNvCxnSpPr>
            <p:nvPr/>
          </p:nvCxnSpPr>
          <p:spPr bwMode="auto">
            <a:xfrm flipH="1">
              <a:off x="4255" y="3646"/>
              <a:ext cx="440" cy="4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8" name="AutoShape 13"/>
            <p:cNvCxnSpPr>
              <a:cxnSpLocks noChangeShapeType="1"/>
              <a:stCxn id="16393" idx="2"/>
              <a:endCxn id="16390" idx="6"/>
            </p:cNvCxnSpPr>
            <p:nvPr/>
          </p:nvCxnSpPr>
          <p:spPr bwMode="auto">
            <a:xfrm flipH="1">
              <a:off x="3713" y="3572"/>
              <a:ext cx="94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9" name="AutoShape 14"/>
            <p:cNvCxnSpPr>
              <a:cxnSpLocks noChangeShapeType="1"/>
              <a:stCxn id="16392" idx="0"/>
              <a:endCxn id="16391" idx="4"/>
            </p:cNvCxnSpPr>
            <p:nvPr/>
          </p:nvCxnSpPr>
          <p:spPr bwMode="auto">
            <a:xfrm flipV="1">
              <a:off x="4187" y="3098"/>
              <a:ext cx="0" cy="99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9291619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Terminology (cont.)</a:t>
            </a:r>
          </a:p>
        </p:txBody>
      </p:sp>
      <p:sp>
        <p:nvSpPr>
          <p:cNvPr id="174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2209801" y="1600200"/>
            <a:ext cx="4964113" cy="48529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Cycle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 cycle is a path whose start and end vertices are the same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each edge is preceded and followed by its endpoints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Simple cycle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 cycle is simple if each edge is distinct and each vertex is distinct, except for the first and the last one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Examples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C</a:t>
            </a:r>
            <a:r>
              <a:rPr lang="en-US" altLang="en-US" sz="2000" baseline="-25000">
                <a:solidFill>
                  <a:schemeClr val="tx2"/>
                </a:solidFill>
              </a:rPr>
              <a:t>1</a:t>
            </a:r>
            <a:r>
              <a:rPr lang="en-US" altLang="en-US" sz="2000">
                <a:solidFill>
                  <a:schemeClr val="tx2"/>
                </a:solidFill>
              </a:rPr>
              <a:t>=(V, b, X, g, Y, f, W, c, U, a,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>
                <a:solidFill>
                  <a:schemeClr val="tx2"/>
                </a:solidFill>
              </a:rPr>
              <a:t>)</a:t>
            </a:r>
            <a:r>
              <a:rPr lang="en-US" altLang="en-US" sz="2000"/>
              <a:t> is a simple cycle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chemeClr val="accent2"/>
                </a:solidFill>
              </a:rPr>
              <a:t>C</a:t>
            </a:r>
            <a:r>
              <a:rPr lang="en-US" altLang="en-US" sz="2000" baseline="-25000">
                <a:solidFill>
                  <a:schemeClr val="accent2"/>
                </a:solidFill>
              </a:rPr>
              <a:t>2</a:t>
            </a:r>
            <a:r>
              <a:rPr lang="en-US" altLang="en-US" sz="2000">
                <a:solidFill>
                  <a:schemeClr val="accent2"/>
                </a:solidFill>
              </a:rPr>
              <a:t>=(U,c,W,e,X,g,Y,f,W,d,V,a,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U</a:t>
            </a:r>
            <a:r>
              <a:rPr lang="en-US" altLang="en-US" sz="2000">
                <a:solidFill>
                  <a:schemeClr val="accent2"/>
                </a:solidFill>
              </a:rPr>
              <a:t>)</a:t>
            </a:r>
            <a:r>
              <a:rPr lang="en-US" altLang="en-US" sz="2000"/>
              <a:t> is a cycle that is not simple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1"/>
          </p:nvPr>
        </p:nvSpPr>
        <p:spPr bwMode="auto">
          <a:xfrm>
            <a:off x="80772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2140CC9-6DA7-4C8B-B07B-8E67BC6F189F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10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10244" name="Freeform 6"/>
          <p:cNvSpPr>
            <a:spLocks/>
          </p:cNvSpPr>
          <p:nvPr/>
        </p:nvSpPr>
        <p:spPr bwMode="auto">
          <a:xfrm>
            <a:off x="7173913" y="2667001"/>
            <a:ext cx="2182812" cy="2652713"/>
          </a:xfrm>
          <a:custGeom>
            <a:avLst/>
            <a:gdLst>
              <a:gd name="T0" fmla="*/ 1209675 w 1375"/>
              <a:gd name="T1" fmla="*/ 57150 h 1671"/>
              <a:gd name="T2" fmla="*/ 1933575 w 1375"/>
              <a:gd name="T3" fmla="*/ 828675 h 1671"/>
              <a:gd name="T4" fmla="*/ 1866900 w 1375"/>
              <a:gd name="T5" fmla="*/ 2647951 h 1671"/>
              <a:gd name="T6" fmla="*/ 38100 w 1375"/>
              <a:gd name="T7" fmla="*/ 800100 h 1671"/>
              <a:gd name="T8" fmla="*/ 723900 w 1375"/>
              <a:gd name="T9" fmla="*/ 0 h 16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75"/>
              <a:gd name="T16" fmla="*/ 0 h 1671"/>
              <a:gd name="T17" fmla="*/ 1375 w 1375"/>
              <a:gd name="T18" fmla="*/ 1671 h 16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75" h="1671">
                <a:moveTo>
                  <a:pt x="762" y="36"/>
                </a:moveTo>
                <a:cubicBezTo>
                  <a:pt x="838" y="117"/>
                  <a:pt x="1149" y="250"/>
                  <a:pt x="1218" y="522"/>
                </a:cubicBezTo>
                <a:cubicBezTo>
                  <a:pt x="1287" y="794"/>
                  <a:pt x="1375" y="1671"/>
                  <a:pt x="1176" y="1668"/>
                </a:cubicBezTo>
                <a:cubicBezTo>
                  <a:pt x="977" y="1665"/>
                  <a:pt x="0" y="798"/>
                  <a:pt x="24" y="504"/>
                </a:cubicBezTo>
                <a:cubicBezTo>
                  <a:pt x="48" y="210"/>
                  <a:pt x="366" y="105"/>
                  <a:pt x="456" y="0"/>
                </a:cubicBezTo>
              </a:path>
            </a:pathLst>
          </a:custGeom>
          <a:noFill/>
          <a:ln w="5715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Freeform 4"/>
          <p:cNvSpPr>
            <a:spLocks/>
          </p:cNvSpPr>
          <p:nvPr/>
        </p:nvSpPr>
        <p:spPr bwMode="auto">
          <a:xfrm>
            <a:off x="7450139" y="2735264"/>
            <a:ext cx="1570037" cy="2319337"/>
          </a:xfrm>
          <a:custGeom>
            <a:avLst/>
            <a:gdLst>
              <a:gd name="T0" fmla="*/ 9525 w 989"/>
              <a:gd name="T1" fmla="*/ 617537 h 1461"/>
              <a:gd name="T2" fmla="*/ 704850 w 989"/>
              <a:gd name="T3" fmla="*/ 150812 h 1461"/>
              <a:gd name="T4" fmla="*/ 819150 w 989"/>
              <a:gd name="T5" fmla="*/ 1522412 h 1461"/>
              <a:gd name="T6" fmla="*/ 1476375 w 989"/>
              <a:gd name="T7" fmla="*/ 2227262 h 1461"/>
              <a:gd name="T8" fmla="*/ 1381125 w 989"/>
              <a:gd name="T9" fmla="*/ 969962 h 1461"/>
              <a:gd name="T10" fmla="*/ 695325 w 989"/>
              <a:gd name="T11" fmla="*/ 1446212 h 1461"/>
              <a:gd name="T12" fmla="*/ 0 w 989"/>
              <a:gd name="T13" fmla="*/ 931862 h 14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89"/>
              <a:gd name="T22" fmla="*/ 0 h 1461"/>
              <a:gd name="T23" fmla="*/ 989 w 989"/>
              <a:gd name="T24" fmla="*/ 1461 h 14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89" h="1461">
                <a:moveTo>
                  <a:pt x="6" y="389"/>
                </a:moveTo>
                <a:cubicBezTo>
                  <a:pt x="79" y="341"/>
                  <a:pt x="359" y="0"/>
                  <a:pt x="444" y="95"/>
                </a:cubicBezTo>
                <a:cubicBezTo>
                  <a:pt x="529" y="190"/>
                  <a:pt x="435" y="741"/>
                  <a:pt x="516" y="959"/>
                </a:cubicBezTo>
                <a:cubicBezTo>
                  <a:pt x="597" y="1177"/>
                  <a:pt x="871" y="1461"/>
                  <a:pt x="930" y="1403"/>
                </a:cubicBezTo>
                <a:cubicBezTo>
                  <a:pt x="989" y="1345"/>
                  <a:pt x="952" y="693"/>
                  <a:pt x="870" y="611"/>
                </a:cubicBezTo>
                <a:cubicBezTo>
                  <a:pt x="788" y="529"/>
                  <a:pt x="583" y="915"/>
                  <a:pt x="438" y="911"/>
                </a:cubicBezTo>
                <a:cubicBezTo>
                  <a:pt x="293" y="907"/>
                  <a:pt x="91" y="654"/>
                  <a:pt x="0" y="587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Text Box 5"/>
          <p:cNvSpPr txBox="1">
            <a:spLocks noChangeArrowheads="1"/>
          </p:cNvSpPr>
          <p:nvPr/>
        </p:nvSpPr>
        <p:spPr bwMode="auto">
          <a:xfrm>
            <a:off x="9248775" y="3886200"/>
            <a:ext cx="477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C</a:t>
            </a:r>
            <a:r>
              <a:rPr lang="en-US" altLang="en-US" baseline="-25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7416" name="Oval 7"/>
          <p:cNvSpPr>
            <a:spLocks noChangeArrowheads="1"/>
          </p:cNvSpPr>
          <p:nvPr/>
        </p:nvSpPr>
        <p:spPr bwMode="auto">
          <a:xfrm>
            <a:off x="8812213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X</a:t>
            </a:r>
          </a:p>
        </p:txBody>
      </p:sp>
      <p:sp>
        <p:nvSpPr>
          <p:cNvPr id="17417" name="Oval 8"/>
          <p:cNvSpPr>
            <a:spLocks noChangeArrowheads="1"/>
          </p:cNvSpPr>
          <p:nvPr/>
        </p:nvSpPr>
        <p:spPr bwMode="auto">
          <a:xfrm>
            <a:off x="6983413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U</a:t>
            </a:r>
          </a:p>
        </p:txBody>
      </p:sp>
      <p:sp>
        <p:nvSpPr>
          <p:cNvPr id="17418" name="Oval 9"/>
          <p:cNvSpPr>
            <a:spLocks noChangeArrowheads="1"/>
          </p:cNvSpPr>
          <p:nvPr/>
        </p:nvSpPr>
        <p:spPr bwMode="auto">
          <a:xfrm>
            <a:off x="7897813" y="2362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V</a:t>
            </a:r>
          </a:p>
        </p:txBody>
      </p:sp>
      <p:sp>
        <p:nvSpPr>
          <p:cNvPr id="17419" name="Oval 10"/>
          <p:cNvSpPr>
            <a:spLocks noChangeArrowheads="1"/>
          </p:cNvSpPr>
          <p:nvPr/>
        </p:nvSpPr>
        <p:spPr bwMode="auto">
          <a:xfrm>
            <a:off x="7897813" y="41910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W</a:t>
            </a:r>
          </a:p>
        </p:txBody>
      </p:sp>
      <p:sp>
        <p:nvSpPr>
          <p:cNvPr id="17420" name="Oval 11"/>
          <p:cNvSpPr>
            <a:spLocks noChangeArrowheads="1"/>
          </p:cNvSpPr>
          <p:nvPr/>
        </p:nvSpPr>
        <p:spPr bwMode="auto">
          <a:xfrm>
            <a:off x="10031413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Z</a:t>
            </a:r>
          </a:p>
        </p:txBody>
      </p:sp>
      <p:cxnSp>
        <p:nvCxnSpPr>
          <p:cNvPr id="17421" name="AutoShape 12"/>
          <p:cNvCxnSpPr>
            <a:cxnSpLocks noChangeShapeType="1"/>
            <a:stCxn id="17418" idx="3"/>
            <a:endCxn id="17417" idx="7"/>
          </p:cNvCxnSpPr>
          <p:nvPr/>
        </p:nvCxnSpPr>
        <p:spPr bwMode="auto">
          <a:xfrm flipH="1">
            <a:off x="7373938" y="2762250"/>
            <a:ext cx="59055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2" name="AutoShape 13"/>
          <p:cNvCxnSpPr>
            <a:cxnSpLocks noChangeShapeType="1"/>
            <a:stCxn id="17419" idx="1"/>
            <a:endCxn id="17417" idx="5"/>
          </p:cNvCxnSpPr>
          <p:nvPr/>
        </p:nvCxnSpPr>
        <p:spPr bwMode="auto">
          <a:xfrm flipH="1" flipV="1">
            <a:off x="7373938" y="3676650"/>
            <a:ext cx="59055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3" name="AutoShape 14"/>
          <p:cNvCxnSpPr>
            <a:cxnSpLocks noChangeShapeType="1"/>
            <a:stCxn id="17419" idx="7"/>
            <a:endCxn id="17416" idx="3"/>
          </p:cNvCxnSpPr>
          <p:nvPr/>
        </p:nvCxnSpPr>
        <p:spPr bwMode="auto">
          <a:xfrm flipV="1">
            <a:off x="8288338" y="3676650"/>
            <a:ext cx="59055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4" name="AutoShape 15"/>
          <p:cNvCxnSpPr>
            <a:cxnSpLocks noChangeShapeType="1"/>
            <a:stCxn id="17416" idx="6"/>
            <a:endCxn id="17420" idx="2"/>
          </p:cNvCxnSpPr>
          <p:nvPr/>
        </p:nvCxnSpPr>
        <p:spPr bwMode="auto">
          <a:xfrm>
            <a:off x="9278938" y="3505200"/>
            <a:ext cx="742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5" name="AutoShape 16"/>
          <p:cNvCxnSpPr>
            <a:cxnSpLocks noChangeShapeType="1"/>
            <a:stCxn id="17418" idx="5"/>
            <a:endCxn id="17416" idx="1"/>
          </p:cNvCxnSpPr>
          <p:nvPr/>
        </p:nvCxnSpPr>
        <p:spPr bwMode="auto">
          <a:xfrm>
            <a:off x="8288338" y="2762250"/>
            <a:ext cx="59055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6" name="AutoShape 17"/>
          <p:cNvCxnSpPr>
            <a:cxnSpLocks noChangeShapeType="1"/>
            <a:stCxn id="17418" idx="4"/>
            <a:endCxn id="17419" idx="0"/>
          </p:cNvCxnSpPr>
          <p:nvPr/>
        </p:nvCxnSpPr>
        <p:spPr bwMode="auto">
          <a:xfrm>
            <a:off x="8126413" y="2828925"/>
            <a:ext cx="0" cy="1352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7" name="Oval 18"/>
          <p:cNvSpPr>
            <a:spLocks noChangeArrowheads="1"/>
          </p:cNvSpPr>
          <p:nvPr/>
        </p:nvSpPr>
        <p:spPr bwMode="auto">
          <a:xfrm>
            <a:off x="8821738" y="51054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Y</a:t>
            </a:r>
          </a:p>
        </p:txBody>
      </p:sp>
      <p:cxnSp>
        <p:nvCxnSpPr>
          <p:cNvPr id="17428" name="AutoShape 19"/>
          <p:cNvCxnSpPr>
            <a:cxnSpLocks noChangeShapeType="1"/>
            <a:stCxn id="17419" idx="5"/>
            <a:endCxn id="17427" idx="1"/>
          </p:cNvCxnSpPr>
          <p:nvPr/>
        </p:nvCxnSpPr>
        <p:spPr bwMode="auto">
          <a:xfrm>
            <a:off x="8288339" y="4591050"/>
            <a:ext cx="600075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9" name="AutoShape 20"/>
          <p:cNvCxnSpPr>
            <a:cxnSpLocks noChangeShapeType="1"/>
            <a:stCxn id="17416" idx="4"/>
            <a:endCxn id="17427" idx="0"/>
          </p:cNvCxnSpPr>
          <p:nvPr/>
        </p:nvCxnSpPr>
        <p:spPr bwMode="auto">
          <a:xfrm>
            <a:off x="9040814" y="3743325"/>
            <a:ext cx="9525" cy="1352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0" name="Text Box 21"/>
          <p:cNvSpPr txBox="1">
            <a:spLocks noChangeArrowheads="1"/>
          </p:cNvSpPr>
          <p:nvPr/>
        </p:nvSpPr>
        <p:spPr bwMode="auto">
          <a:xfrm>
            <a:off x="7212014" y="2590800"/>
            <a:ext cx="34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17431" name="Text Box 22"/>
          <p:cNvSpPr txBox="1">
            <a:spLocks noChangeArrowheads="1"/>
          </p:cNvSpPr>
          <p:nvPr/>
        </p:nvSpPr>
        <p:spPr bwMode="auto">
          <a:xfrm>
            <a:off x="7212014" y="3962400"/>
            <a:ext cx="325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17432" name="Text Box 23"/>
          <p:cNvSpPr txBox="1">
            <a:spLocks noChangeArrowheads="1"/>
          </p:cNvSpPr>
          <p:nvPr/>
        </p:nvSpPr>
        <p:spPr bwMode="auto">
          <a:xfrm>
            <a:off x="8659814" y="259080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17433" name="Text Box 24"/>
          <p:cNvSpPr txBox="1">
            <a:spLocks noChangeArrowheads="1"/>
          </p:cNvSpPr>
          <p:nvPr/>
        </p:nvSpPr>
        <p:spPr bwMode="auto">
          <a:xfrm>
            <a:off x="8507414" y="3810000"/>
            <a:ext cx="34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e</a:t>
            </a:r>
          </a:p>
        </p:txBody>
      </p:sp>
      <p:sp>
        <p:nvSpPr>
          <p:cNvPr id="17434" name="Text Box 25"/>
          <p:cNvSpPr txBox="1">
            <a:spLocks noChangeArrowheads="1"/>
          </p:cNvSpPr>
          <p:nvPr/>
        </p:nvSpPr>
        <p:spPr bwMode="auto">
          <a:xfrm>
            <a:off x="7821614" y="312420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17435" name="Text Box 26"/>
          <p:cNvSpPr txBox="1">
            <a:spLocks noChangeArrowheads="1"/>
          </p:cNvSpPr>
          <p:nvPr/>
        </p:nvSpPr>
        <p:spPr bwMode="auto">
          <a:xfrm>
            <a:off x="8193089" y="4895850"/>
            <a:ext cx="280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f</a:t>
            </a:r>
          </a:p>
        </p:txBody>
      </p:sp>
      <p:sp>
        <p:nvSpPr>
          <p:cNvPr id="17436" name="Text Box 27"/>
          <p:cNvSpPr txBox="1">
            <a:spLocks noChangeArrowheads="1"/>
          </p:cNvSpPr>
          <p:nvPr/>
        </p:nvSpPr>
        <p:spPr bwMode="auto">
          <a:xfrm>
            <a:off x="9193214" y="426720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g</a:t>
            </a:r>
          </a:p>
        </p:txBody>
      </p:sp>
      <p:sp>
        <p:nvSpPr>
          <p:cNvPr id="17437" name="Text Box 28"/>
          <p:cNvSpPr txBox="1">
            <a:spLocks noChangeArrowheads="1"/>
          </p:cNvSpPr>
          <p:nvPr/>
        </p:nvSpPr>
        <p:spPr bwMode="auto">
          <a:xfrm>
            <a:off x="9507538" y="350520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h</a:t>
            </a:r>
          </a:p>
        </p:txBody>
      </p:sp>
      <p:sp>
        <p:nvSpPr>
          <p:cNvPr id="10271" name="Text Box 29"/>
          <p:cNvSpPr txBox="1">
            <a:spLocks noChangeArrowheads="1"/>
          </p:cNvSpPr>
          <p:nvPr/>
        </p:nvSpPr>
        <p:spPr bwMode="auto">
          <a:xfrm>
            <a:off x="7662864" y="3505200"/>
            <a:ext cx="477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C</a:t>
            </a:r>
            <a:r>
              <a:rPr lang="en-US" altLang="en-US" baseline="-2500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9474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/>
      <p:bldP spid="102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0BB70D84-D5C3-4E90-AF82-5519D05A6791}" type="slidenum">
              <a:rPr lang="en-US" altLang="en-US" sz="1400"/>
              <a:pPr algn="r" eaLnBrk="1" hangingPunct="1"/>
              <a:t>11</a:t>
            </a:fld>
            <a:endParaRPr lang="en-US" altLang="en-US" sz="140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048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Terminology (cont.)</a:t>
            </a:r>
          </a:p>
        </p:txBody>
      </p:sp>
      <p:sp>
        <p:nvSpPr>
          <p:cNvPr id="184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600200"/>
            <a:ext cx="6046788" cy="4852988"/>
          </a:xfrm>
        </p:spPr>
        <p:txBody>
          <a:bodyPr/>
          <a:lstStyle/>
          <a:p>
            <a:r>
              <a:rPr lang="en-US" altLang="zh-TW" sz="2000"/>
              <a:t>A </a:t>
            </a:r>
            <a:r>
              <a:rPr lang="en-US" altLang="zh-TW" sz="2000">
                <a:solidFill>
                  <a:srgbClr val="CC3300"/>
                </a:solidFill>
              </a:rPr>
              <a:t>subgraph</a:t>
            </a:r>
            <a:r>
              <a:rPr lang="en-US" altLang="zh-TW" sz="2000"/>
              <a:t> of G is a graph G’ such that </a:t>
            </a:r>
          </a:p>
          <a:p>
            <a:pPr lvl="1"/>
            <a:r>
              <a:rPr lang="en-US" altLang="zh-TW" sz="2000"/>
              <a:t>V(G’) is a subset of V(G) [V(G’) </a:t>
            </a:r>
            <a:r>
              <a:rPr lang="en-US" altLang="zh-TW" sz="2000">
                <a:sym typeface="Symbol" panose="05050102010706020507" pitchFamily="18" charset="2"/>
              </a:rPr>
              <a:t></a:t>
            </a:r>
            <a:r>
              <a:rPr lang="en-US" altLang="zh-TW" sz="2000"/>
              <a:t> V(G)] and </a:t>
            </a:r>
          </a:p>
          <a:p>
            <a:pPr lvl="1"/>
            <a:r>
              <a:rPr lang="en-US" altLang="zh-TW" sz="2000"/>
              <a:t>E(G’) is a subset of E(G) [E(G’) </a:t>
            </a:r>
            <a:r>
              <a:rPr lang="en-US" altLang="zh-TW" sz="2000">
                <a:sym typeface="Symbol" panose="05050102010706020507" pitchFamily="18" charset="2"/>
              </a:rPr>
              <a:t></a:t>
            </a:r>
            <a:r>
              <a:rPr lang="en-US" altLang="zh-TW" sz="2000"/>
              <a:t> E(G)] </a:t>
            </a:r>
          </a:p>
          <a:p>
            <a:r>
              <a:rPr lang="en-US" altLang="zh-TW" sz="2000"/>
              <a:t>A </a:t>
            </a:r>
            <a:r>
              <a:rPr lang="en-US" altLang="zh-TW" sz="2000">
                <a:solidFill>
                  <a:schemeClr val="tx2"/>
                </a:solidFill>
              </a:rPr>
              <a:t>spanning </a:t>
            </a:r>
            <a:r>
              <a:rPr lang="en-US" altLang="zh-TW" sz="2000">
                <a:solidFill>
                  <a:srgbClr val="CC3300"/>
                </a:solidFill>
              </a:rPr>
              <a:t>subgraph</a:t>
            </a:r>
            <a:r>
              <a:rPr lang="en-US" altLang="zh-TW" sz="2000"/>
              <a:t> G’ of G is a subgraph of G that contains all the vertices of G, that is</a:t>
            </a:r>
          </a:p>
          <a:p>
            <a:pPr lvl="1"/>
            <a:r>
              <a:rPr lang="en-US" altLang="zh-TW" sz="2000"/>
              <a:t>V(G’) is equal to V(G) [V(G’) </a:t>
            </a:r>
            <a:r>
              <a:rPr lang="en-US" altLang="zh-TW" sz="2000">
                <a:sym typeface="Symbol" panose="05050102010706020507" pitchFamily="18" charset="2"/>
              </a:rPr>
              <a:t>=</a:t>
            </a:r>
            <a:r>
              <a:rPr lang="en-US" altLang="zh-TW" sz="2000"/>
              <a:t> V(G)] and </a:t>
            </a:r>
          </a:p>
          <a:p>
            <a:pPr lvl="1"/>
            <a:r>
              <a:rPr lang="en-US" altLang="zh-TW" sz="2000"/>
              <a:t>E(G’) is a subset of E(G) [E(G’) </a:t>
            </a:r>
            <a:r>
              <a:rPr lang="en-US" altLang="zh-TW" sz="2000">
                <a:sym typeface="Symbol" panose="05050102010706020507" pitchFamily="18" charset="2"/>
              </a:rPr>
              <a:t></a:t>
            </a:r>
            <a:r>
              <a:rPr lang="en-US" altLang="zh-TW" sz="2000"/>
              <a:t> E(G)] </a:t>
            </a:r>
          </a:p>
          <a:p>
            <a:r>
              <a:rPr lang="en-US" altLang="zh-TW" sz="2000"/>
              <a:t>A </a:t>
            </a:r>
            <a:r>
              <a:rPr lang="en-US" altLang="zh-TW" sz="2000">
                <a:solidFill>
                  <a:srgbClr val="CC3300"/>
                </a:solidFill>
              </a:rPr>
              <a:t>forest</a:t>
            </a:r>
            <a:r>
              <a:rPr lang="en-US" altLang="zh-TW" sz="2000"/>
              <a:t> is a graph without cycles.</a:t>
            </a:r>
          </a:p>
          <a:p>
            <a:r>
              <a:rPr lang="en-US" altLang="zh-TW" sz="2000"/>
              <a:t>A </a:t>
            </a:r>
            <a:r>
              <a:rPr lang="en-US" altLang="zh-TW" sz="2000">
                <a:solidFill>
                  <a:schemeClr val="tx2"/>
                </a:solidFill>
              </a:rPr>
              <a:t>(free) </a:t>
            </a:r>
            <a:r>
              <a:rPr lang="en-US" altLang="zh-TW" sz="2000">
                <a:solidFill>
                  <a:srgbClr val="CC3300"/>
                </a:solidFill>
              </a:rPr>
              <a:t>tree</a:t>
            </a:r>
            <a:r>
              <a:rPr lang="en-US" altLang="zh-TW" sz="2000"/>
              <a:t> is a connected forest, that is, a connected graph without cycles.</a:t>
            </a:r>
          </a:p>
          <a:p>
            <a:r>
              <a:rPr lang="en-US" altLang="zh-TW" sz="2000"/>
              <a:t>A </a:t>
            </a:r>
            <a:r>
              <a:rPr lang="en-US" altLang="zh-TW" sz="2000">
                <a:solidFill>
                  <a:schemeClr val="tx2"/>
                </a:solidFill>
              </a:rPr>
              <a:t>spanning tree</a:t>
            </a:r>
            <a:r>
              <a:rPr lang="en-US" altLang="zh-TW" sz="2000"/>
              <a:t> of a graph G is a spanning subgraph that is a (free) tree.</a:t>
            </a:r>
            <a:endParaRPr lang="en-US" altLang="en-US" sz="2000"/>
          </a:p>
        </p:txBody>
      </p:sp>
      <p:grpSp>
        <p:nvGrpSpPr>
          <p:cNvPr id="18437" name="Group 29"/>
          <p:cNvGrpSpPr>
            <a:grpSpLocks/>
          </p:cNvGrpSpPr>
          <p:nvPr/>
        </p:nvGrpSpPr>
        <p:grpSpPr bwMode="auto">
          <a:xfrm>
            <a:off x="8472488" y="244475"/>
            <a:ext cx="1816100" cy="1816100"/>
            <a:chOff x="4377" y="528"/>
            <a:chExt cx="1144" cy="1144"/>
          </a:xfrm>
        </p:grpSpPr>
        <p:sp>
          <p:nvSpPr>
            <p:cNvPr id="18454" name="Oval 6"/>
            <p:cNvSpPr>
              <a:spLocks noChangeArrowheads="1"/>
            </p:cNvSpPr>
            <p:nvPr/>
          </p:nvSpPr>
          <p:spPr bwMode="auto">
            <a:xfrm>
              <a:off x="4809" y="52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kumimoji="1" lang="en-US" altLang="zh-TW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55" name="Oval 7"/>
            <p:cNvSpPr>
              <a:spLocks noChangeArrowheads="1"/>
            </p:cNvSpPr>
            <p:nvPr/>
          </p:nvSpPr>
          <p:spPr bwMode="auto">
            <a:xfrm>
              <a:off x="4377" y="100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kumimoji="1" lang="en-US" altLang="zh-TW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56" name="Oval 8"/>
            <p:cNvSpPr>
              <a:spLocks noChangeArrowheads="1"/>
            </p:cNvSpPr>
            <p:nvPr/>
          </p:nvSpPr>
          <p:spPr bwMode="auto">
            <a:xfrm>
              <a:off x="5241" y="100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kumimoji="1" lang="en-US" altLang="zh-TW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57" name="Oval 9"/>
            <p:cNvSpPr>
              <a:spLocks noChangeArrowheads="1"/>
            </p:cNvSpPr>
            <p:nvPr/>
          </p:nvSpPr>
          <p:spPr bwMode="auto">
            <a:xfrm>
              <a:off x="4809" y="139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kumimoji="1" lang="en-US" altLang="zh-TW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58" name="Line 10"/>
            <p:cNvSpPr>
              <a:spLocks noChangeShapeType="1"/>
            </p:cNvSpPr>
            <p:nvPr/>
          </p:nvSpPr>
          <p:spPr bwMode="auto">
            <a:xfrm>
              <a:off x="4949" y="812"/>
              <a:ext cx="0" cy="57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11"/>
            <p:cNvSpPr>
              <a:spLocks noChangeShapeType="1"/>
            </p:cNvSpPr>
            <p:nvPr/>
          </p:nvSpPr>
          <p:spPr bwMode="auto">
            <a:xfrm>
              <a:off x="4661" y="1148"/>
              <a:ext cx="57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12"/>
            <p:cNvSpPr>
              <a:spLocks noChangeShapeType="1"/>
            </p:cNvSpPr>
            <p:nvPr/>
          </p:nvSpPr>
          <p:spPr bwMode="auto">
            <a:xfrm flipH="1">
              <a:off x="4591" y="764"/>
              <a:ext cx="257" cy="27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Line 13"/>
            <p:cNvSpPr>
              <a:spLocks noChangeShapeType="1"/>
            </p:cNvSpPr>
            <p:nvPr/>
          </p:nvSpPr>
          <p:spPr bwMode="auto">
            <a:xfrm>
              <a:off x="5045" y="764"/>
              <a:ext cx="266" cy="27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Line 14"/>
            <p:cNvSpPr>
              <a:spLocks noChangeShapeType="1"/>
            </p:cNvSpPr>
            <p:nvPr/>
          </p:nvSpPr>
          <p:spPr bwMode="auto">
            <a:xfrm>
              <a:off x="4582" y="1278"/>
              <a:ext cx="223" cy="197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Line 15"/>
            <p:cNvSpPr>
              <a:spLocks noChangeShapeType="1"/>
            </p:cNvSpPr>
            <p:nvPr/>
          </p:nvSpPr>
          <p:spPr bwMode="auto">
            <a:xfrm flipH="1">
              <a:off x="5079" y="1261"/>
              <a:ext cx="206" cy="21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8632825" y="2205038"/>
            <a:ext cx="1493838" cy="1295400"/>
            <a:chOff x="1008" y="720"/>
            <a:chExt cx="912" cy="816"/>
          </a:xfrm>
        </p:grpSpPr>
        <p:sp>
          <p:nvSpPr>
            <p:cNvPr id="18449" name="Oval 17"/>
            <p:cNvSpPr>
              <a:spLocks noChangeArrowheads="1"/>
            </p:cNvSpPr>
            <p:nvPr/>
          </p:nvSpPr>
          <p:spPr bwMode="auto">
            <a:xfrm>
              <a:off x="1296" y="72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1" lang="en-US" altLang="zh-TW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50" name="Oval 18"/>
            <p:cNvSpPr>
              <a:spLocks noChangeArrowheads="1"/>
            </p:cNvSpPr>
            <p:nvPr/>
          </p:nvSpPr>
          <p:spPr bwMode="auto">
            <a:xfrm>
              <a:off x="1008" y="120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1" lang="en-US" altLang="zh-TW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51" name="Oval 19"/>
            <p:cNvSpPr>
              <a:spLocks noChangeArrowheads="1"/>
            </p:cNvSpPr>
            <p:nvPr/>
          </p:nvSpPr>
          <p:spPr bwMode="auto">
            <a:xfrm>
              <a:off x="1584" y="120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1" lang="en-US" altLang="zh-TW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 flipH="1">
              <a:off x="1200" y="1008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>
              <a:off x="1584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8712200" y="3933825"/>
            <a:ext cx="1492250" cy="1981200"/>
            <a:chOff x="4528" y="2817"/>
            <a:chExt cx="940" cy="1248"/>
          </a:xfrm>
        </p:grpSpPr>
        <p:sp>
          <p:nvSpPr>
            <p:cNvPr id="18442" name="Oval 22"/>
            <p:cNvSpPr>
              <a:spLocks noChangeArrowheads="1"/>
            </p:cNvSpPr>
            <p:nvPr/>
          </p:nvSpPr>
          <p:spPr bwMode="auto">
            <a:xfrm>
              <a:off x="4825" y="2817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1" lang="en-US" altLang="zh-TW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43" name="Oval 23"/>
            <p:cNvSpPr>
              <a:spLocks noChangeArrowheads="1"/>
            </p:cNvSpPr>
            <p:nvPr/>
          </p:nvSpPr>
          <p:spPr bwMode="auto">
            <a:xfrm>
              <a:off x="4528" y="3297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1" lang="en-US" altLang="zh-TW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44" name="Oval 24"/>
            <p:cNvSpPr>
              <a:spLocks noChangeArrowheads="1"/>
            </p:cNvSpPr>
            <p:nvPr/>
          </p:nvSpPr>
          <p:spPr bwMode="auto">
            <a:xfrm>
              <a:off x="5122" y="3297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1" lang="en-US" altLang="zh-TW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45" name="Oval 25"/>
            <p:cNvSpPr>
              <a:spLocks noChangeArrowheads="1"/>
            </p:cNvSpPr>
            <p:nvPr/>
          </p:nvSpPr>
          <p:spPr bwMode="auto">
            <a:xfrm>
              <a:off x="4825" y="3729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1" lang="en-US" altLang="zh-TW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46" name="Line 26"/>
            <p:cNvSpPr>
              <a:spLocks noChangeShapeType="1"/>
            </p:cNvSpPr>
            <p:nvPr/>
          </p:nvSpPr>
          <p:spPr bwMode="auto">
            <a:xfrm>
              <a:off x="4874" y="3441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Line 27"/>
            <p:cNvSpPr>
              <a:spLocks noChangeShapeType="1"/>
            </p:cNvSpPr>
            <p:nvPr/>
          </p:nvSpPr>
          <p:spPr bwMode="auto">
            <a:xfrm>
              <a:off x="4985" y="3153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Line 28"/>
            <p:cNvSpPr>
              <a:spLocks noChangeShapeType="1"/>
            </p:cNvSpPr>
            <p:nvPr/>
          </p:nvSpPr>
          <p:spPr bwMode="auto">
            <a:xfrm flipH="1">
              <a:off x="5134" y="3621"/>
              <a:ext cx="99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67" name="Text Box 31"/>
          <p:cNvSpPr txBox="1">
            <a:spLocks noChangeArrowheads="1"/>
          </p:cNvSpPr>
          <p:nvPr/>
        </p:nvSpPr>
        <p:spPr bwMode="auto">
          <a:xfrm>
            <a:off x="8543925" y="3494088"/>
            <a:ext cx="169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A subgraph</a:t>
            </a:r>
          </a:p>
        </p:txBody>
      </p:sp>
      <p:sp>
        <p:nvSpPr>
          <p:cNvPr id="39968" name="Text Box 32"/>
          <p:cNvSpPr txBox="1">
            <a:spLocks noChangeArrowheads="1"/>
          </p:cNvSpPr>
          <p:nvPr/>
        </p:nvSpPr>
        <p:spPr bwMode="auto">
          <a:xfrm>
            <a:off x="7591426" y="5876926"/>
            <a:ext cx="2968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A spanning subgraph (tree)</a:t>
            </a:r>
          </a:p>
        </p:txBody>
      </p:sp>
    </p:spTree>
    <p:extLst>
      <p:ext uri="{BB962C8B-B14F-4D97-AF65-F5344CB8AC3E}">
        <p14:creationId xmlns:p14="http://schemas.microsoft.com/office/powerpoint/2010/main" val="313850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7" grpId="0"/>
      <p:bldP spid="399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Properties</a:t>
            </a:r>
          </a:p>
        </p:txBody>
      </p:sp>
      <p:sp>
        <p:nvSpPr>
          <p:cNvPr id="1945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0772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0B4C2C9-19DB-4CCF-A73B-1359E99B0252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12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1946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7059613" y="1600200"/>
            <a:ext cx="3429000" cy="1600200"/>
          </a:xfrm>
        </p:spPr>
        <p:txBody>
          <a:bodyPr>
            <a:normAutofit lnSpcReduction="10000"/>
          </a:bodyPr>
          <a:lstStyle/>
          <a:p>
            <a:pPr marL="114300" indent="-114300">
              <a:buNone/>
            </a:pPr>
            <a:r>
              <a:rPr lang="en-US" altLang="en-US" smtClean="0"/>
              <a:t>Notation</a:t>
            </a:r>
          </a:p>
          <a:p>
            <a:pPr marL="974725" lvl="1" indent="-746125"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n	</a:t>
            </a:r>
            <a:r>
              <a:rPr lang="en-US" altLang="en-US" sz="2000"/>
              <a:t>number of vertices</a:t>
            </a:r>
          </a:p>
          <a:p>
            <a:pPr marL="974725" lvl="1" indent="-746125"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m	</a:t>
            </a:r>
            <a:r>
              <a:rPr lang="en-US" altLang="en-US" sz="2000"/>
              <a:t>number of edges</a:t>
            </a:r>
          </a:p>
          <a:p>
            <a:pPr marL="974725" lvl="1" indent="-746125"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	</a:t>
            </a:r>
            <a:r>
              <a:rPr lang="en-US" altLang="en-US" sz="2000"/>
              <a:t>degree of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endParaRPr lang="en-US" altLang="en-US" sz="2000"/>
          </a:p>
        </p:txBody>
      </p:sp>
      <p:sp>
        <p:nvSpPr>
          <p:cNvPr id="19461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2"/>
          </p:nvPr>
        </p:nvSpPr>
        <p:spPr>
          <a:xfrm>
            <a:off x="2133600" y="1600200"/>
            <a:ext cx="626745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</a:rPr>
              <a:t>Property 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For an undirected graph</a:t>
            </a:r>
            <a:endParaRPr lang="en-US" altLang="en-US" sz="1800" b="1">
              <a:latin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Symbol" panose="05050102010706020507" pitchFamily="18" charset="2"/>
              </a:rPr>
              <a:t>	</a:t>
            </a:r>
            <a:r>
              <a:rPr lang="en-US" altLang="en-US" sz="2000" b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2000">
                <a:latin typeface="Times New Roman" panose="02020603050405020304" pitchFamily="18" charset="0"/>
              </a:rPr>
              <a:t>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anose="05050102010706020507" pitchFamily="18" charset="2"/>
              </a:rPr>
              <a:t>=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000000"/>
                </a:solidFill>
              </a:rPr>
              <a:t>Proof:</a:t>
            </a:r>
            <a:r>
              <a:rPr lang="en-US" altLang="en-US" sz="1800"/>
              <a:t> each edge is counted twice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</a:rPr>
              <a:t>Property 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For a directed graph</a:t>
            </a:r>
            <a:endParaRPr lang="en-US" altLang="en-US" sz="1800" b="1">
              <a:latin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Symbol" panose="05050102010706020507" pitchFamily="18" charset="2"/>
              </a:rPr>
              <a:t>	</a:t>
            </a:r>
            <a:r>
              <a:rPr lang="en-US" altLang="en-US" sz="2000" b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2000">
                <a:latin typeface="Times New Roman" panose="02020603050405020304" pitchFamily="18" charset="0"/>
              </a:rPr>
              <a:t>indeg(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anose="05050102010706020507" pitchFamily="18" charset="2"/>
              </a:rPr>
              <a:t>= </a:t>
            </a:r>
            <a:r>
              <a:rPr lang="en-US" altLang="en-US" sz="2000" b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2000">
                <a:latin typeface="Times New Roman" panose="02020603050405020304" pitchFamily="18" charset="0"/>
              </a:rPr>
              <a:t>outdeg(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anose="05050102010706020507" pitchFamily="18" charset="2"/>
              </a:rPr>
              <a:t>= 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000000"/>
                </a:solidFill>
              </a:rPr>
              <a:t>Proof:</a:t>
            </a:r>
            <a:r>
              <a:rPr lang="en-US" altLang="en-US" sz="1800"/>
              <a:t> each edge is counted once for in-degree and once for out-degree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</a:rPr>
              <a:t>Property 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G is a simple undirected graph, then </a:t>
            </a:r>
            <a:r>
              <a:rPr lang="en-US" altLang="en-US" sz="1800" b="1" i="1">
                <a:latin typeface="Times New Roman" panose="02020603050405020304" pitchFamily="18" charset="0"/>
              </a:rPr>
              <a:t>m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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  <a:r>
              <a:rPr lang="en-US" altLang="en-US" sz="1800" b="1">
                <a:latin typeface="Symbol" panose="05050102010706020507" pitchFamily="18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2,</a:t>
            </a:r>
            <a:r>
              <a:rPr lang="en-US" altLang="en-US" sz="1800">
                <a:cs typeface="Tahoma" panose="020B0604030504040204" pitchFamily="34" charset="0"/>
              </a:rPr>
              <a:t>and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cs typeface="Tahoma" panose="020B0604030504040204" pitchFamily="34" charset="0"/>
              </a:rPr>
              <a:t>if</a:t>
            </a:r>
            <a:r>
              <a:rPr lang="en-US" altLang="en-US" sz="1800"/>
              <a:t> G is a simple directed graph, then </a:t>
            </a:r>
            <a:r>
              <a:rPr lang="en-US" altLang="en-US" sz="1800" b="1" i="1">
                <a:latin typeface="Times New Roman" panose="02020603050405020304" pitchFamily="18" charset="0"/>
              </a:rPr>
              <a:t>m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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1).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000000"/>
                </a:solidFill>
              </a:rPr>
              <a:t>Proof:</a:t>
            </a:r>
            <a:r>
              <a:rPr lang="en-US" altLang="en-US" sz="1800"/>
              <a:t> each vertex has degree at most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1). Then u</a:t>
            </a:r>
            <a:r>
              <a:rPr lang="en-US" altLang="en-US" sz="1800">
                <a:cs typeface="Tahoma" panose="020B0604030504040204" pitchFamily="34" charset="0"/>
              </a:rPr>
              <a:t>se Property 1 and Property 2.</a:t>
            </a:r>
          </a:p>
        </p:txBody>
      </p:sp>
      <p:sp>
        <p:nvSpPr>
          <p:cNvPr id="19462" name="Oval 5"/>
          <p:cNvSpPr>
            <a:spLocks noChangeArrowheads="1"/>
          </p:cNvSpPr>
          <p:nvPr/>
        </p:nvSpPr>
        <p:spPr bwMode="auto">
          <a:xfrm>
            <a:off x="8210550" y="465455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3" name="Oval 6"/>
          <p:cNvSpPr>
            <a:spLocks noChangeArrowheads="1"/>
          </p:cNvSpPr>
          <p:nvPr/>
        </p:nvSpPr>
        <p:spPr bwMode="auto">
          <a:xfrm>
            <a:off x="9124950" y="374015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4" name="Oval 7"/>
          <p:cNvSpPr>
            <a:spLocks noChangeArrowheads="1"/>
          </p:cNvSpPr>
          <p:nvPr/>
        </p:nvSpPr>
        <p:spPr bwMode="auto">
          <a:xfrm>
            <a:off x="9124950" y="564515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5" name="Oval 8"/>
          <p:cNvSpPr>
            <a:spLocks noChangeArrowheads="1"/>
          </p:cNvSpPr>
          <p:nvPr/>
        </p:nvSpPr>
        <p:spPr bwMode="auto">
          <a:xfrm>
            <a:off x="10039350" y="465455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9466" name="AutoShape 9"/>
          <p:cNvCxnSpPr>
            <a:cxnSpLocks noChangeShapeType="1"/>
            <a:stCxn id="19463" idx="5"/>
            <a:endCxn id="19465" idx="1"/>
          </p:cNvCxnSpPr>
          <p:nvPr/>
        </p:nvCxnSpPr>
        <p:spPr bwMode="auto">
          <a:xfrm>
            <a:off x="9385300" y="4010025"/>
            <a:ext cx="698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7" name="AutoShape 10"/>
          <p:cNvCxnSpPr>
            <a:cxnSpLocks noChangeShapeType="1"/>
            <a:stCxn id="19463" idx="3"/>
            <a:endCxn id="19462" idx="7"/>
          </p:cNvCxnSpPr>
          <p:nvPr/>
        </p:nvCxnSpPr>
        <p:spPr bwMode="auto">
          <a:xfrm flipH="1">
            <a:off x="8470900" y="4010025"/>
            <a:ext cx="698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8" name="AutoShape 11"/>
          <p:cNvCxnSpPr>
            <a:cxnSpLocks noChangeShapeType="1"/>
            <a:stCxn id="19464" idx="1"/>
            <a:endCxn id="19462" idx="5"/>
          </p:cNvCxnSpPr>
          <p:nvPr/>
        </p:nvCxnSpPr>
        <p:spPr bwMode="auto">
          <a:xfrm flipH="1" flipV="1">
            <a:off x="8470900" y="4924425"/>
            <a:ext cx="698500" cy="755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9" name="AutoShape 12"/>
          <p:cNvCxnSpPr>
            <a:cxnSpLocks noChangeShapeType="1"/>
            <a:stCxn id="19465" idx="3"/>
            <a:endCxn id="19464" idx="7"/>
          </p:cNvCxnSpPr>
          <p:nvPr/>
        </p:nvCxnSpPr>
        <p:spPr bwMode="auto">
          <a:xfrm flipH="1">
            <a:off x="9385300" y="4924425"/>
            <a:ext cx="698500" cy="755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0" name="AutoShape 13"/>
          <p:cNvCxnSpPr>
            <a:cxnSpLocks noChangeShapeType="1"/>
            <a:stCxn id="19465" idx="2"/>
            <a:endCxn id="19462" idx="6"/>
          </p:cNvCxnSpPr>
          <p:nvPr/>
        </p:nvCxnSpPr>
        <p:spPr bwMode="auto">
          <a:xfrm flipH="1">
            <a:off x="8524875" y="4806950"/>
            <a:ext cx="1504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14"/>
          <p:cNvCxnSpPr>
            <a:cxnSpLocks noChangeShapeType="1"/>
            <a:stCxn id="19464" idx="0"/>
            <a:endCxn id="19463" idx="4"/>
          </p:cNvCxnSpPr>
          <p:nvPr/>
        </p:nvCxnSpPr>
        <p:spPr bwMode="auto">
          <a:xfrm flipV="1">
            <a:off x="9277350" y="4054475"/>
            <a:ext cx="0" cy="1581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59749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1534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Graph Representation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1"/>
          </p:nvPr>
        </p:nvSpPr>
        <p:spPr bwMode="auto">
          <a:xfrm>
            <a:off x="80772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E8EB9EB-516B-4E57-BE42-371DAAAD9ACC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13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0484" name="Rectangle 78"/>
          <p:cNvSpPr>
            <a:spLocks noChangeArrowheads="1"/>
          </p:cNvSpPr>
          <p:nvPr/>
        </p:nvSpPr>
        <p:spPr bwMode="auto">
          <a:xfrm>
            <a:off x="2209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6360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/>
              <a:t>For graphs to be computationally useful, they have to be conveniently represented in programs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/>
              <a:t>There are two computer representations of graphs: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b="1"/>
              <a:t>Adjacency matrix representation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b="1"/>
              <a:t>Adjacency lists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5818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B0173077-797F-4FC5-B98F-90F43039F57A}" type="slidenum">
              <a:rPr lang="en-US" altLang="en-US" sz="1400"/>
              <a:pPr algn="r" eaLnBrk="1" hangingPunct="1"/>
              <a:t>14</a:t>
            </a:fld>
            <a:endParaRPr lang="en-US" altLang="en-US" sz="1400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4000"/>
              <a:t>Adjacency Matrix Representation</a:t>
            </a:r>
          </a:p>
        </p:txBody>
      </p:sp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676400"/>
            <a:ext cx="7848600" cy="2039938"/>
          </a:xfrm>
        </p:spPr>
        <p:txBody>
          <a:bodyPr/>
          <a:lstStyle/>
          <a:p>
            <a:r>
              <a:rPr lang="en-US" altLang="en-US" smtClean="0"/>
              <a:t>Assume V = {1, 2, …, </a:t>
            </a:r>
            <a:r>
              <a:rPr lang="en-US" altLang="en-US" i="1" smtClean="0"/>
              <a:t>n</a:t>
            </a:r>
            <a:r>
              <a:rPr lang="en-US" altLang="en-US" smtClean="0"/>
              <a:t>}</a:t>
            </a:r>
          </a:p>
          <a:p>
            <a:r>
              <a:rPr lang="en-US" altLang="en-US" smtClean="0"/>
              <a:t>An </a:t>
            </a:r>
            <a:r>
              <a:rPr lang="en-US" altLang="en-US" i="1" smtClean="0">
                <a:solidFill>
                  <a:schemeClr val="tx2"/>
                </a:solidFill>
              </a:rPr>
              <a:t>adjacency matrix</a:t>
            </a:r>
            <a:r>
              <a:rPr lang="en-US" altLang="en-US" i="1" smtClean="0"/>
              <a:t> </a:t>
            </a:r>
            <a:r>
              <a:rPr lang="en-US" altLang="en-US" smtClean="0"/>
              <a:t>represents the graph as a </a:t>
            </a:r>
            <a:r>
              <a:rPr lang="en-US" altLang="en-US" i="1" smtClean="0"/>
              <a:t>n </a:t>
            </a:r>
            <a:r>
              <a:rPr lang="en-US" altLang="en-US" smtClean="0"/>
              <a:t>x </a:t>
            </a:r>
            <a:r>
              <a:rPr lang="en-US" altLang="en-US" i="1" smtClean="0"/>
              <a:t>n</a:t>
            </a:r>
            <a:r>
              <a:rPr lang="en-US" altLang="en-US" smtClean="0"/>
              <a:t> matrix A:</a:t>
            </a:r>
          </a:p>
          <a:p>
            <a:pPr marL="968375" lvl="1"/>
            <a:r>
              <a:rPr lang="en-US" altLang="en-US" sz="2200"/>
              <a:t>A[</a:t>
            </a:r>
            <a:r>
              <a:rPr lang="en-US" altLang="en-US" sz="2200" i="1"/>
              <a:t>i</a:t>
            </a:r>
            <a:r>
              <a:rPr lang="en-US" altLang="en-US" sz="2200"/>
              <a:t>, </a:t>
            </a:r>
            <a:r>
              <a:rPr lang="en-US" altLang="en-US" sz="2200" i="1"/>
              <a:t>j</a:t>
            </a:r>
            <a:r>
              <a:rPr lang="en-US" altLang="en-US" sz="2200"/>
              <a:t>] 	= 1 if edge (</a:t>
            </a:r>
            <a:r>
              <a:rPr lang="en-US" altLang="en-US" sz="2200" i="1"/>
              <a:t>i</a:t>
            </a:r>
            <a:r>
              <a:rPr lang="en-US" altLang="en-US" sz="2200"/>
              <a:t>, </a:t>
            </a:r>
            <a:r>
              <a:rPr lang="en-US" altLang="en-US" sz="2200" i="1"/>
              <a:t>j</a:t>
            </a:r>
            <a:r>
              <a:rPr lang="en-US" altLang="en-US" sz="2200"/>
              <a:t>) </a:t>
            </a:r>
            <a:r>
              <a:rPr lang="en-US" altLang="en-US" sz="2200">
                <a:sym typeface="Symbol" panose="05050102010706020507" pitchFamily="18" charset="2"/>
              </a:rPr>
              <a:t> </a:t>
            </a:r>
            <a:r>
              <a:rPr lang="en-US" altLang="en-US" sz="2200"/>
              <a:t>E   (or weight of edge)</a:t>
            </a:r>
            <a:br>
              <a:rPr lang="en-US" altLang="en-US" sz="2200"/>
            </a:br>
            <a:r>
              <a:rPr lang="en-US" altLang="en-US" sz="2200"/>
              <a:t>	= 0 if edge (</a:t>
            </a:r>
            <a:r>
              <a:rPr lang="en-US" altLang="en-US" sz="2200" i="1"/>
              <a:t>i</a:t>
            </a:r>
            <a:r>
              <a:rPr lang="en-US" altLang="en-US" sz="2200"/>
              <a:t>, </a:t>
            </a:r>
            <a:r>
              <a:rPr lang="en-US" altLang="en-US" sz="2200" i="1"/>
              <a:t>j</a:t>
            </a:r>
            <a:r>
              <a:rPr lang="en-US" altLang="en-US" sz="2200"/>
              <a:t>) </a:t>
            </a:r>
            <a:r>
              <a:rPr lang="en-US" altLang="en-US" sz="2200">
                <a:sym typeface="Symbol" panose="05050102010706020507" pitchFamily="18" charset="2"/>
              </a:rPr>
              <a:t> E</a:t>
            </a:r>
            <a:endParaRPr lang="en-US" altLang="en-US" sz="2000"/>
          </a:p>
        </p:txBody>
      </p:sp>
      <p:grpSp>
        <p:nvGrpSpPr>
          <p:cNvPr id="2" name="Group 93"/>
          <p:cNvGrpSpPr>
            <a:grpSpLocks/>
          </p:cNvGrpSpPr>
          <p:nvPr/>
        </p:nvGrpSpPr>
        <p:grpSpPr bwMode="auto">
          <a:xfrm>
            <a:off x="2870200" y="4029076"/>
            <a:ext cx="2362200" cy="2208213"/>
            <a:chOff x="576" y="1584"/>
            <a:chExt cx="1824" cy="1728"/>
          </a:xfrm>
        </p:grpSpPr>
        <p:sp>
          <p:nvSpPr>
            <p:cNvPr id="21540" name="Oval 81"/>
            <p:cNvSpPr>
              <a:spLocks noChangeArrowheads="1"/>
            </p:cNvSpPr>
            <p:nvPr/>
          </p:nvSpPr>
          <p:spPr bwMode="auto">
            <a:xfrm>
              <a:off x="1296" y="1584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3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41" name="Oval 82"/>
            <p:cNvSpPr>
              <a:spLocks noChangeArrowheads="1"/>
            </p:cNvSpPr>
            <p:nvPr/>
          </p:nvSpPr>
          <p:spPr bwMode="auto">
            <a:xfrm>
              <a:off x="576" y="2256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32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1542" name="Oval 83"/>
            <p:cNvSpPr>
              <a:spLocks noChangeArrowheads="1"/>
            </p:cNvSpPr>
            <p:nvPr/>
          </p:nvSpPr>
          <p:spPr bwMode="auto">
            <a:xfrm>
              <a:off x="2016" y="2256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32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1543" name="Oval 84"/>
            <p:cNvSpPr>
              <a:spLocks noChangeArrowheads="1"/>
            </p:cNvSpPr>
            <p:nvPr/>
          </p:nvSpPr>
          <p:spPr bwMode="auto">
            <a:xfrm>
              <a:off x="1296" y="2928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3200" b="1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21544" name="AutoShape 85"/>
            <p:cNvCxnSpPr>
              <a:cxnSpLocks noChangeShapeType="1"/>
              <a:stCxn id="21540" idx="3"/>
              <a:endCxn id="21541" idx="7"/>
            </p:cNvCxnSpPr>
            <p:nvPr/>
          </p:nvCxnSpPr>
          <p:spPr bwMode="auto">
            <a:xfrm flipH="1">
              <a:off x="904" y="1921"/>
              <a:ext cx="448" cy="382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5" name="AutoShape 86"/>
            <p:cNvCxnSpPr>
              <a:cxnSpLocks noChangeShapeType="1"/>
              <a:stCxn id="21541" idx="5"/>
              <a:endCxn id="21543" idx="1"/>
            </p:cNvCxnSpPr>
            <p:nvPr/>
          </p:nvCxnSpPr>
          <p:spPr bwMode="auto">
            <a:xfrm>
              <a:off x="904" y="2593"/>
              <a:ext cx="448" cy="382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6" name="AutoShape 87"/>
            <p:cNvCxnSpPr>
              <a:cxnSpLocks noChangeShapeType="1"/>
              <a:stCxn id="21542" idx="3"/>
              <a:endCxn id="21543" idx="7"/>
            </p:cNvCxnSpPr>
            <p:nvPr/>
          </p:nvCxnSpPr>
          <p:spPr bwMode="auto">
            <a:xfrm flipH="1">
              <a:off x="1624" y="2593"/>
              <a:ext cx="448" cy="382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7" name="AutoShape 88"/>
            <p:cNvCxnSpPr>
              <a:cxnSpLocks noChangeShapeType="1"/>
              <a:stCxn id="21540" idx="4"/>
              <a:endCxn id="21543" idx="0"/>
            </p:cNvCxnSpPr>
            <p:nvPr/>
          </p:nvCxnSpPr>
          <p:spPr bwMode="auto">
            <a:xfrm>
              <a:off x="1488" y="1977"/>
              <a:ext cx="0" cy="942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48" name="Text Box 89"/>
            <p:cNvSpPr txBox="1">
              <a:spLocks noChangeArrowheads="1"/>
            </p:cNvSpPr>
            <p:nvPr/>
          </p:nvSpPr>
          <p:spPr bwMode="auto">
            <a:xfrm>
              <a:off x="938" y="1909"/>
              <a:ext cx="24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1549" name="Text Box 90"/>
            <p:cNvSpPr txBox="1">
              <a:spLocks noChangeArrowheads="1"/>
            </p:cNvSpPr>
            <p:nvPr/>
          </p:nvSpPr>
          <p:spPr bwMode="auto">
            <a:xfrm>
              <a:off x="1462" y="2246"/>
              <a:ext cx="24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1550" name="Text Box 91"/>
            <p:cNvSpPr txBox="1">
              <a:spLocks noChangeArrowheads="1"/>
            </p:cNvSpPr>
            <p:nvPr/>
          </p:nvSpPr>
          <p:spPr bwMode="auto">
            <a:xfrm>
              <a:off x="890" y="2688"/>
              <a:ext cx="24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1551" name="Text Box 92"/>
            <p:cNvSpPr txBox="1">
              <a:spLocks noChangeArrowheads="1"/>
            </p:cNvSpPr>
            <p:nvPr/>
          </p:nvSpPr>
          <p:spPr bwMode="auto">
            <a:xfrm>
              <a:off x="1856" y="2688"/>
              <a:ext cx="229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aphicFrame>
        <p:nvGraphicFramePr>
          <p:cNvPr id="42123" name="Group 139"/>
          <p:cNvGraphicFramePr>
            <a:graphicFrameLocks noGrp="1"/>
          </p:cNvGraphicFramePr>
          <p:nvPr/>
        </p:nvGraphicFramePr>
        <p:xfrm>
          <a:off x="6516689" y="3941763"/>
          <a:ext cx="2028825" cy="2133600"/>
        </p:xfrm>
        <a:graphic>
          <a:graphicData uri="http://schemas.openxmlformats.org/drawingml/2006/table">
            <a:tbl>
              <a:tblPr/>
              <a:tblGrid>
                <a:gridCol w="404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61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7F83B76F-0B08-4C2F-AC6A-6AD395E83BB4}" type="slidenum">
              <a:rPr lang="en-US" altLang="en-US" sz="1400"/>
              <a:pPr algn="r" eaLnBrk="1" hangingPunct="1"/>
              <a:t>15</a:t>
            </a:fld>
            <a:endParaRPr lang="en-US" altLang="en-US" sz="140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4000"/>
              <a:t>Adjacency Matrix Representation</a:t>
            </a:r>
          </a:p>
        </p:txBody>
      </p:sp>
      <p:pic>
        <p:nvPicPr>
          <p:cNvPr id="2253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1484314"/>
            <a:ext cx="2495550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341439"/>
            <a:ext cx="2008188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3827464"/>
            <a:ext cx="2881312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1" y="3309939"/>
            <a:ext cx="2162175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Rectangle 11"/>
          <p:cNvSpPr>
            <a:spLocks noChangeArrowheads="1"/>
          </p:cNvSpPr>
          <p:nvPr/>
        </p:nvSpPr>
        <p:spPr bwMode="auto">
          <a:xfrm>
            <a:off x="5100639" y="2276476"/>
            <a:ext cx="2147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accent2"/>
                </a:solidFill>
              </a:rPr>
              <a:t>Undirected Graph</a:t>
            </a:r>
          </a:p>
        </p:txBody>
      </p:sp>
      <p:sp>
        <p:nvSpPr>
          <p:cNvPr id="22537" name="Rectangle 12"/>
          <p:cNvSpPr>
            <a:spLocks noChangeArrowheads="1"/>
          </p:cNvSpPr>
          <p:nvPr/>
        </p:nvSpPr>
        <p:spPr bwMode="auto">
          <a:xfrm>
            <a:off x="5448300" y="4400551"/>
            <a:ext cx="187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accent2"/>
                </a:solidFill>
              </a:rPr>
              <a:t>Directed Graph</a:t>
            </a:r>
          </a:p>
        </p:txBody>
      </p:sp>
      <p:sp>
        <p:nvSpPr>
          <p:cNvPr id="43021" name="Rectangle 13"/>
          <p:cNvSpPr>
            <a:spLocks noChangeArrowheads="1"/>
          </p:cNvSpPr>
          <p:nvPr/>
        </p:nvSpPr>
        <p:spPr bwMode="auto">
          <a:xfrm>
            <a:off x="2493964" y="5589588"/>
            <a:ext cx="76342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200">
                <a:solidFill>
                  <a:srgbClr val="009900"/>
                </a:solidFill>
              </a:rPr>
              <a:t>The adjacency matrix for an undirected graph is symmetric; the adjacency matrix for a digraph need not be symmetric</a:t>
            </a:r>
            <a:endParaRPr lang="en-US" altLang="en-US" sz="220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4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84A42A36-6E6C-48C1-90DD-23E5E88ED368}" type="slidenum">
              <a:rPr lang="en-US" altLang="en-US" sz="1400"/>
              <a:pPr algn="r" eaLnBrk="1" hangingPunct="1"/>
              <a:t>16</a:t>
            </a:fld>
            <a:endParaRPr lang="en-US" altLang="en-US" sz="1400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4000"/>
              <a:t>Adjacency Matrix Representation</a:t>
            </a:r>
          </a:p>
        </p:txBody>
      </p:sp>
      <p:sp>
        <p:nvSpPr>
          <p:cNvPr id="23556" name="Rectangle 11"/>
          <p:cNvSpPr>
            <a:spLocks noChangeArrowheads="1"/>
          </p:cNvSpPr>
          <p:nvPr/>
        </p:nvSpPr>
        <p:spPr bwMode="auto">
          <a:xfrm>
            <a:off x="579120" y="196596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dirty="0">
                <a:solidFill>
                  <a:schemeClr val="tx2"/>
                </a:solidFill>
              </a:rPr>
              <a:t>Pros: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/>
              <a:t>Simple to implement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/>
              <a:t>Easy and fast to tell if a pair (</a:t>
            </a:r>
            <a:r>
              <a:rPr lang="en-US" altLang="en-US" dirty="0" err="1"/>
              <a:t>i</a:t>
            </a:r>
            <a:r>
              <a:rPr lang="en-US" altLang="en-US" dirty="0"/>
              <a:t>, j) is an edge: simply check if A[</a:t>
            </a:r>
            <a:r>
              <a:rPr lang="en-US" altLang="en-US" dirty="0" err="1"/>
              <a:t>i</a:t>
            </a:r>
            <a:r>
              <a:rPr lang="en-US" altLang="en-US" dirty="0"/>
              <a:t>, j] is 1 or 0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>
                <a:sym typeface="Symbol" panose="05050102010706020507" pitchFamily="18" charset="2"/>
              </a:rPr>
              <a:t>Can be very efficient for small </a:t>
            </a:r>
            <a:r>
              <a:rPr lang="en-US" altLang="en-US" dirty="0" smtClean="0">
                <a:sym typeface="Symbol" panose="05050102010706020507" pitchFamily="18" charset="2"/>
              </a:rPr>
              <a:t>graphs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 smtClean="0">
                <a:sym typeface="Symbol" panose="05050102010706020507" pitchFamily="18" charset="2"/>
              </a:rPr>
              <a:t>Good for dense graphs (why?)</a:t>
            </a:r>
            <a:endParaRPr lang="en-US" altLang="en-US" dirty="0"/>
          </a:p>
          <a:p>
            <a:pPr algn="l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endParaRPr lang="en-US" altLang="en-US" dirty="0">
              <a:solidFill>
                <a:schemeClr val="tx2"/>
              </a:solidFill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dirty="0">
                <a:solidFill>
                  <a:schemeClr val="tx2"/>
                </a:solidFill>
              </a:rPr>
              <a:t>Cons: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/>
              <a:t>No matter how few edges the graph has, the matrix takes O(n</a:t>
            </a:r>
            <a:r>
              <a:rPr lang="en-US" altLang="en-US" baseline="30000" dirty="0"/>
              <a:t>2</a:t>
            </a:r>
            <a:r>
              <a:rPr lang="en-US" altLang="en-US" dirty="0" smtClean="0"/>
              <a:t>), i.e., O(|V|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) </a:t>
            </a:r>
            <a:r>
              <a:rPr lang="en-US" altLang="en-US" dirty="0"/>
              <a:t>in memory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8823960" y="1600200"/>
            <a:ext cx="16764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226784" y="1161137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|V| = 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 rot="5400000">
            <a:off x="7838360" y="2743154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|V| = 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972800" y="2804160"/>
            <a:ext cx="786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 n</a:t>
            </a:r>
          </a:p>
          <a:p>
            <a:r>
              <a:rPr lang="en-US" dirty="0" smtClean="0">
                <a:sym typeface="Symbol" panose="05050102010706020507" pitchFamily="18" charset="2"/>
              </a:rPr>
              <a:t>matrix</a:t>
            </a:r>
            <a:endParaRPr lang="en-US" dirty="0"/>
          </a:p>
        </p:txBody>
      </p:sp>
      <p:grpSp>
        <p:nvGrpSpPr>
          <p:cNvPr id="23561" name="Group 23560"/>
          <p:cNvGrpSpPr/>
          <p:nvPr/>
        </p:nvGrpSpPr>
        <p:grpSpPr>
          <a:xfrm>
            <a:off x="8351520" y="4328160"/>
            <a:ext cx="2944812" cy="1630680"/>
            <a:chOff x="8351520" y="4297680"/>
            <a:chExt cx="2944812" cy="1630680"/>
          </a:xfrm>
        </p:grpSpPr>
        <p:sp>
          <p:nvSpPr>
            <p:cNvPr id="10" name="Oval 9"/>
            <p:cNvSpPr/>
            <p:nvPr/>
          </p:nvSpPr>
          <p:spPr>
            <a:xfrm>
              <a:off x="8351520" y="431292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9110028" y="429768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9789243" y="429768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0481952" y="429768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10142856" y="489966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763000" y="493014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9482772" y="493776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10988040" y="489204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8</a:t>
              </a:r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9226784" y="5577840"/>
              <a:ext cx="308292" cy="350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</a:t>
              </a:r>
              <a:endParaRPr lang="en-US" dirty="0"/>
            </a:p>
          </p:txBody>
        </p:sp>
        <p:cxnSp>
          <p:nvCxnSpPr>
            <p:cNvPr id="13" name="Straight Connector 12"/>
            <p:cNvCxnSpPr>
              <a:stCxn id="10" idx="5"/>
              <a:endCxn id="19" idx="1"/>
            </p:cNvCxnSpPr>
            <p:nvPr/>
          </p:nvCxnSpPr>
          <p:spPr>
            <a:xfrm>
              <a:off x="8614664" y="4612108"/>
              <a:ext cx="193484" cy="369364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20" idx="7"/>
              <a:endCxn id="17" idx="3"/>
            </p:cNvCxnSpPr>
            <p:nvPr/>
          </p:nvCxnSpPr>
          <p:spPr>
            <a:xfrm flipV="1">
              <a:off x="9745916" y="4596868"/>
              <a:ext cx="781184" cy="392224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23" idx="6"/>
              <a:endCxn id="21" idx="3"/>
            </p:cNvCxnSpPr>
            <p:nvPr/>
          </p:nvCxnSpPr>
          <p:spPr>
            <a:xfrm flipV="1">
              <a:off x="9535076" y="5191228"/>
              <a:ext cx="1498112" cy="56187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5" idx="4"/>
              <a:endCxn id="23" idx="1"/>
            </p:cNvCxnSpPr>
            <p:nvPr/>
          </p:nvCxnSpPr>
          <p:spPr>
            <a:xfrm>
              <a:off x="9264174" y="4648200"/>
              <a:ext cx="7758" cy="98097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8" idx="6"/>
              <a:endCxn id="21" idx="2"/>
            </p:cNvCxnSpPr>
            <p:nvPr/>
          </p:nvCxnSpPr>
          <p:spPr>
            <a:xfrm flipV="1">
              <a:off x="10451148" y="5067300"/>
              <a:ext cx="536892" cy="762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53" name="Straight Connector 23552"/>
            <p:cNvCxnSpPr>
              <a:stCxn id="16" idx="6"/>
              <a:endCxn id="17" idx="2"/>
            </p:cNvCxnSpPr>
            <p:nvPr/>
          </p:nvCxnSpPr>
          <p:spPr>
            <a:xfrm>
              <a:off x="10097535" y="4472940"/>
              <a:ext cx="384417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557" name="Object 235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682783"/>
              </p:ext>
            </p:extLst>
          </p:nvPr>
        </p:nvGraphicFramePr>
        <p:xfrm>
          <a:off x="8763695" y="1783937"/>
          <a:ext cx="1763405" cy="237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Worksheet" r:id="rId4" imgW="1379118" imgH="1859206" progId="Excel.Sheet.12">
                  <p:embed/>
                </p:oleObj>
              </mc:Choice>
              <mc:Fallback>
                <p:oleObj name="Worksheet" r:id="rId4" imgW="1379118" imgH="185920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63695" y="1783937"/>
                        <a:ext cx="1763405" cy="237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560" name="Straight Arrow Connector 23559"/>
          <p:cNvCxnSpPr/>
          <p:nvPr/>
        </p:nvCxnSpPr>
        <p:spPr>
          <a:xfrm>
            <a:off x="8614664" y="1783937"/>
            <a:ext cx="0" cy="223942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86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EB1092D4-59D4-4C8E-9826-14533A25D8A3}" type="slidenum">
              <a:rPr lang="en-US" altLang="en-US" sz="1400"/>
              <a:pPr algn="r" eaLnBrk="1" hangingPunct="1"/>
              <a:t>17</a:t>
            </a:fld>
            <a:endParaRPr lang="en-US" altLang="en-US" sz="14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Adjacency Lists Representation</a:t>
            </a:r>
          </a:p>
        </p:txBody>
      </p:sp>
      <p:sp>
        <p:nvSpPr>
          <p:cNvPr id="24580" name="Rectangle 9"/>
          <p:cNvSpPr>
            <a:spLocks noChangeArrowheads="1"/>
          </p:cNvSpPr>
          <p:nvPr/>
        </p:nvSpPr>
        <p:spPr bwMode="auto">
          <a:xfrm>
            <a:off x="2259014" y="1606551"/>
            <a:ext cx="7723187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200"/>
              <a:t>A graph is represented by a one-dimensional array L of linked lists, where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200"/>
              <a:t>L[i] is the linked list containing all the nodes adjacent to node i. 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200"/>
              <a:t>The nodes in the list L[i] are in no particular order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200" i="1">
              <a:sym typeface="Symbol" panose="05050102010706020507" pitchFamily="18" charset="2"/>
            </a:endParaRPr>
          </a:p>
        </p:txBody>
      </p:sp>
      <p:grpSp>
        <p:nvGrpSpPr>
          <p:cNvPr id="24581" name="Group 20"/>
          <p:cNvGrpSpPr>
            <a:grpSpLocks/>
          </p:cNvGrpSpPr>
          <p:nvPr/>
        </p:nvGrpSpPr>
        <p:grpSpPr bwMode="auto">
          <a:xfrm>
            <a:off x="6167438" y="3781425"/>
            <a:ext cx="2895600" cy="2743200"/>
            <a:chOff x="3408" y="1389"/>
            <a:chExt cx="1824" cy="1728"/>
          </a:xfrm>
        </p:grpSpPr>
        <p:sp>
          <p:nvSpPr>
            <p:cNvPr id="24582" name="Oval 12"/>
            <p:cNvSpPr>
              <a:spLocks noChangeArrowheads="1"/>
            </p:cNvSpPr>
            <p:nvPr/>
          </p:nvSpPr>
          <p:spPr bwMode="auto">
            <a:xfrm>
              <a:off x="4128" y="1389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3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583" name="Oval 13"/>
            <p:cNvSpPr>
              <a:spLocks noChangeArrowheads="1"/>
            </p:cNvSpPr>
            <p:nvPr/>
          </p:nvSpPr>
          <p:spPr bwMode="auto">
            <a:xfrm>
              <a:off x="3408" y="2061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32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584" name="Oval 14"/>
            <p:cNvSpPr>
              <a:spLocks noChangeArrowheads="1"/>
            </p:cNvSpPr>
            <p:nvPr/>
          </p:nvSpPr>
          <p:spPr bwMode="auto">
            <a:xfrm>
              <a:off x="4848" y="2061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32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585" name="Oval 15"/>
            <p:cNvSpPr>
              <a:spLocks noChangeArrowheads="1"/>
            </p:cNvSpPr>
            <p:nvPr/>
          </p:nvSpPr>
          <p:spPr bwMode="auto">
            <a:xfrm>
              <a:off x="4128" y="2733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3200" b="1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24586" name="AutoShape 16"/>
            <p:cNvCxnSpPr>
              <a:cxnSpLocks noChangeShapeType="1"/>
              <a:stCxn id="24582" idx="3"/>
              <a:endCxn id="24583" idx="7"/>
            </p:cNvCxnSpPr>
            <p:nvPr/>
          </p:nvCxnSpPr>
          <p:spPr bwMode="auto">
            <a:xfrm flipH="1">
              <a:off x="3736" y="1726"/>
              <a:ext cx="448" cy="382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7" name="AutoShape 17"/>
            <p:cNvCxnSpPr>
              <a:cxnSpLocks noChangeShapeType="1"/>
              <a:stCxn id="24583" idx="5"/>
              <a:endCxn id="24585" idx="1"/>
            </p:cNvCxnSpPr>
            <p:nvPr/>
          </p:nvCxnSpPr>
          <p:spPr bwMode="auto">
            <a:xfrm>
              <a:off x="3736" y="2398"/>
              <a:ext cx="448" cy="382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8" name="AutoShape 18"/>
            <p:cNvCxnSpPr>
              <a:cxnSpLocks noChangeShapeType="1"/>
              <a:stCxn id="24584" idx="3"/>
              <a:endCxn id="24585" idx="7"/>
            </p:cNvCxnSpPr>
            <p:nvPr/>
          </p:nvCxnSpPr>
          <p:spPr bwMode="auto">
            <a:xfrm flipH="1">
              <a:off x="4456" y="2398"/>
              <a:ext cx="448" cy="382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9" name="AutoShape 19"/>
            <p:cNvCxnSpPr>
              <a:cxnSpLocks noChangeShapeType="1"/>
              <a:stCxn id="24582" idx="4"/>
              <a:endCxn id="24585" idx="0"/>
            </p:cNvCxnSpPr>
            <p:nvPr/>
          </p:nvCxnSpPr>
          <p:spPr bwMode="auto">
            <a:xfrm>
              <a:off x="4320" y="1782"/>
              <a:ext cx="0" cy="942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01562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0BEF4C9D-075D-49BF-97F9-EC18679172F8}" type="slidenum">
              <a:rPr lang="en-US" altLang="en-US" sz="1400"/>
              <a:pPr algn="r" eaLnBrk="1" hangingPunct="1"/>
              <a:t>18</a:t>
            </a:fld>
            <a:endParaRPr lang="en-US" altLang="en-US" sz="14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Adjacency Lists Representation</a:t>
            </a: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1628775"/>
            <a:ext cx="2533650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514" y="1773239"/>
            <a:ext cx="3703637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3933825"/>
            <a:ext cx="2881312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13" y="3573464"/>
            <a:ext cx="2362200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Rectangle 10"/>
          <p:cNvSpPr>
            <a:spLocks noChangeArrowheads="1"/>
          </p:cNvSpPr>
          <p:nvPr/>
        </p:nvSpPr>
        <p:spPr bwMode="auto">
          <a:xfrm>
            <a:off x="4583114" y="2276476"/>
            <a:ext cx="2147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accent2"/>
                </a:solidFill>
              </a:rPr>
              <a:t>Undirected Graph</a:t>
            </a:r>
          </a:p>
        </p:txBody>
      </p:sp>
      <p:sp>
        <p:nvSpPr>
          <p:cNvPr id="44043" name="Rectangle 11"/>
          <p:cNvSpPr>
            <a:spLocks noChangeArrowheads="1"/>
          </p:cNvSpPr>
          <p:nvPr/>
        </p:nvSpPr>
        <p:spPr bwMode="auto">
          <a:xfrm>
            <a:off x="5087938" y="4327526"/>
            <a:ext cx="187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accent2"/>
                </a:solidFill>
              </a:rPr>
              <a:t>Directed Graph</a:t>
            </a:r>
          </a:p>
        </p:txBody>
      </p:sp>
    </p:spTree>
    <p:extLst>
      <p:ext uri="{BB962C8B-B14F-4D97-AF65-F5344CB8AC3E}">
        <p14:creationId xmlns:p14="http://schemas.microsoft.com/office/powerpoint/2010/main" val="366256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DF7FAE1D-AAB8-49C0-881F-779CF51541AA}" type="slidenum">
              <a:rPr lang="en-US" altLang="en-US" sz="1400"/>
              <a:pPr algn="r" eaLnBrk="1" hangingPunct="1"/>
              <a:t>19</a:t>
            </a:fld>
            <a:endParaRPr lang="en-US" altLang="en-US" sz="1400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mtClean="0"/>
              <a:t>Adjacency Lists Representation</a:t>
            </a:r>
          </a:p>
        </p:txBody>
      </p:sp>
      <p:sp>
        <p:nvSpPr>
          <p:cNvPr id="26628" name="Rectangle 9"/>
          <p:cNvSpPr>
            <a:spLocks noChangeArrowheads="1"/>
          </p:cNvSpPr>
          <p:nvPr/>
        </p:nvSpPr>
        <p:spPr bwMode="auto">
          <a:xfrm>
            <a:off x="13716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dirty="0">
                <a:solidFill>
                  <a:schemeClr val="tx2"/>
                </a:solidFill>
              </a:rPr>
              <a:t>Pros: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/>
              <a:t>Saves on space (memory): the representation takes O(|V|+|E|) memory.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/>
              <a:t>Good for large, sparse graphs (e.g., planar maps)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endParaRPr lang="en-US" altLang="en-US" dirty="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dirty="0">
                <a:solidFill>
                  <a:schemeClr val="tx2"/>
                </a:solidFill>
              </a:rPr>
              <a:t>Cons: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/>
              <a:t>It can take up to O(n) time to determine if a pair of nodes (</a:t>
            </a:r>
            <a:r>
              <a:rPr lang="en-US" altLang="en-US" dirty="0" err="1"/>
              <a:t>i</a:t>
            </a:r>
            <a:r>
              <a:rPr lang="en-US" altLang="en-US" dirty="0"/>
              <a:t>, j) is an edge: one would have to search the linked list L[</a:t>
            </a:r>
            <a:r>
              <a:rPr lang="en-US" altLang="en-US" dirty="0" err="1"/>
              <a:t>i</a:t>
            </a:r>
            <a:r>
              <a:rPr lang="en-US" altLang="en-US" dirty="0"/>
              <a:t>], which takes time proportional to the length of L[</a:t>
            </a:r>
            <a:r>
              <a:rPr lang="en-US" altLang="en-US" dirty="0" err="1"/>
              <a:t>i</a:t>
            </a:r>
            <a:r>
              <a:rPr lang="en-US" altLang="en-US" dirty="0"/>
              <a:t>].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021" y="1743395"/>
            <a:ext cx="2533650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034" y="4150679"/>
            <a:ext cx="3703637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810500" y="2060575"/>
            <a:ext cx="1226821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How to find whether there is an edge (4,1)?</a:t>
            </a:r>
            <a:endParaRPr lang="en-US" dirty="0"/>
          </a:p>
        </p:txBody>
      </p:sp>
      <p:sp>
        <p:nvSpPr>
          <p:cNvPr id="3" name="Right Arrow 2"/>
          <p:cNvSpPr/>
          <p:nvPr/>
        </p:nvSpPr>
        <p:spPr>
          <a:xfrm>
            <a:off x="7806690" y="5179377"/>
            <a:ext cx="323534" cy="243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7860030" y="4297680"/>
            <a:ext cx="323534" cy="243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6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1301</Words>
  <Application>Microsoft Office PowerPoint</Application>
  <PresentationFormat>Widescreen</PresentationFormat>
  <Paragraphs>317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新細明體</vt:lpstr>
      <vt:lpstr>Arial</vt:lpstr>
      <vt:lpstr>Calibri</vt:lpstr>
      <vt:lpstr>Calibri Light</vt:lpstr>
      <vt:lpstr>Symbol</vt:lpstr>
      <vt:lpstr>Tahoma</vt:lpstr>
      <vt:lpstr>Times</vt:lpstr>
      <vt:lpstr>Times New Roman</vt:lpstr>
      <vt:lpstr>Wingdings</vt:lpstr>
      <vt:lpstr>Wingdings 2</vt:lpstr>
      <vt:lpstr>Office Theme</vt:lpstr>
      <vt:lpstr>Microsoft Visio Drawing</vt:lpstr>
      <vt:lpstr>Microsoft Excel Worksheet</vt:lpstr>
      <vt:lpstr>Graphs</vt:lpstr>
      <vt:lpstr>What is a Graph?</vt:lpstr>
      <vt:lpstr>Applications</vt:lpstr>
      <vt:lpstr>What can we do with graphs?</vt:lpstr>
      <vt:lpstr>Edge and Graph Types</vt:lpstr>
      <vt:lpstr>Terminology</vt:lpstr>
      <vt:lpstr>Terminology (cont.)</vt:lpstr>
      <vt:lpstr>Terminology (cont.)</vt:lpstr>
      <vt:lpstr>Terminology (cont.)</vt:lpstr>
      <vt:lpstr>Terminology (cont.)</vt:lpstr>
      <vt:lpstr>Terminology (cont.)</vt:lpstr>
      <vt:lpstr>Properties</vt:lpstr>
      <vt:lpstr>Graph Representation</vt:lpstr>
      <vt:lpstr>Adjacency Matrix Representation</vt:lpstr>
      <vt:lpstr>Adjacency Matrix Representation</vt:lpstr>
      <vt:lpstr>Adjacency Matrix Representation</vt:lpstr>
      <vt:lpstr>Adjacency Lists Representation</vt:lpstr>
      <vt:lpstr>Adjacency Lists Representation</vt:lpstr>
      <vt:lpstr>Adjacency Lists Representation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</dc:title>
  <dc:creator>user</dc:creator>
  <cp:lastModifiedBy>user</cp:lastModifiedBy>
  <cp:revision>6</cp:revision>
  <dcterms:created xsi:type="dcterms:W3CDTF">2021-12-14T12:42:10Z</dcterms:created>
  <dcterms:modified xsi:type="dcterms:W3CDTF">2021-12-14T15:44:35Z</dcterms:modified>
</cp:coreProperties>
</file>