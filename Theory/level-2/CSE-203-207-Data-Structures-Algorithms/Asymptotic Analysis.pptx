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27" r:id="rId2"/>
    <p:sldId id="328" r:id="rId3"/>
    <p:sldId id="329" r:id="rId4"/>
    <p:sldId id="330" r:id="rId5"/>
    <p:sldId id="301" r:id="rId6"/>
    <p:sldId id="302" r:id="rId7"/>
    <p:sldId id="303" r:id="rId8"/>
    <p:sldId id="304" r:id="rId9"/>
    <p:sldId id="331" r:id="rId10"/>
    <p:sldId id="306" r:id="rId11"/>
    <p:sldId id="307" r:id="rId12"/>
    <p:sldId id="332" r:id="rId13"/>
    <p:sldId id="308" r:id="rId14"/>
    <p:sldId id="310" r:id="rId15"/>
    <p:sldId id="311" r:id="rId16"/>
    <p:sldId id="312" r:id="rId17"/>
    <p:sldId id="333" r:id="rId18"/>
    <p:sldId id="334" r:id="rId19"/>
    <p:sldId id="313" r:id="rId20"/>
    <p:sldId id="314" r:id="rId21"/>
    <p:sldId id="335" r:id="rId22"/>
    <p:sldId id="336" r:id="rId23"/>
    <p:sldId id="337" r:id="rId24"/>
    <p:sldId id="338" r:id="rId25"/>
    <p:sldId id="315" r:id="rId26"/>
    <p:sldId id="316" r:id="rId27"/>
    <p:sldId id="339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40" r:id="rId38"/>
    <p:sldId id="341" r:id="rId39"/>
    <p:sldId id="34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7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B6F00-94A0-46EE-BFBF-91BA7FE2B725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CF84F-CD20-45ED-856F-C87E00425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C5B2D20-03AA-42FA-880E-3C5F06FF9933}" type="slidenum">
              <a:rPr lang="en-US" altLang="en-US" sz="1300"/>
              <a:pPr eaLnBrk="1" hangingPunct="1"/>
              <a:t>5</a:t>
            </a:fld>
            <a:endParaRPr lang="en-US" altLang="en-US" sz="1300"/>
          </a:p>
        </p:txBody>
      </p:sp>
      <p:sp>
        <p:nvSpPr>
          <p:cNvPr id="389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Must pick one of [best, average, worst] to complete the statement.  Big-oh notation applies to some set of bounds.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732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27FC09B-EF20-43DE-8778-FD08061AB42C}" type="slidenum">
              <a:rPr lang="en-US" altLang="en-US" sz="1300"/>
              <a:pPr eaLnBrk="1" hangingPunct="1"/>
              <a:t>6</a:t>
            </a:fld>
            <a:endParaRPr lang="en-US" altLang="en-US" sz="1300"/>
          </a:p>
        </p:txBody>
      </p:sp>
      <p:sp>
        <p:nvSpPr>
          <p:cNvPr id="390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It provides more information in this example to say O(</a:t>
            </a:r>
            <a:r>
              <a:rPr lang="en-US" altLang="en-US" i="1" smtClean="0"/>
              <a:t>n</a:t>
            </a:r>
            <a:r>
              <a:rPr lang="en-US" altLang="en-US" baseline="30000" smtClean="0"/>
              <a:t>2</a:t>
            </a:r>
            <a:r>
              <a:rPr lang="en-US" altLang="en-US" smtClean="0"/>
              <a:t>) than O(</a:t>
            </a:r>
            <a:r>
              <a:rPr lang="en-US" altLang="en-US" i="1" smtClean="0"/>
              <a:t>n</a:t>
            </a:r>
            <a:r>
              <a:rPr lang="en-US" altLang="en-US" baseline="30000" smtClean="0"/>
              <a:t>3</a:t>
            </a:r>
            <a:r>
              <a:rPr lang="en-US" altLang="en-US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90101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DAD1B85-66B5-4106-9F43-FE5908966BBD}" type="slidenum">
              <a:rPr lang="en-US" altLang="en-US" sz="1300"/>
              <a:pPr eaLnBrk="1" hangingPunct="1"/>
              <a:t>7</a:t>
            </a:fld>
            <a:endParaRPr lang="en-US" altLang="en-US" sz="1300"/>
          </a:p>
        </p:txBody>
      </p:sp>
      <p:sp>
        <p:nvSpPr>
          <p:cNvPr id="391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We are doing average case.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i="1" smtClean="0"/>
              <a:t>c</a:t>
            </a:r>
            <a:r>
              <a:rPr lang="en-US" altLang="en-US" baseline="-25000" smtClean="0"/>
              <a:t>s</a:t>
            </a:r>
            <a:r>
              <a:rPr lang="en-US" altLang="en-US" smtClean="0"/>
              <a:t> is a constant.  The actual value is irrelevant.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95317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1382039-2904-42CB-B109-C6046670DF40}" type="slidenum">
              <a:rPr lang="en-US" altLang="en-US" sz="1300"/>
              <a:pPr eaLnBrk="1" hangingPunct="1"/>
              <a:t>8</a:t>
            </a:fld>
            <a:endParaRPr lang="en-US" altLang="en-US" sz="1300"/>
          </a:p>
        </p:txBody>
      </p:sp>
      <p:sp>
        <p:nvSpPr>
          <p:cNvPr id="392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27438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1382039-2904-42CB-B109-C6046670DF40}" type="slidenum">
              <a:rPr lang="en-US" altLang="en-US" sz="1300"/>
              <a:pPr eaLnBrk="1" hangingPunct="1"/>
              <a:t>9</a:t>
            </a:fld>
            <a:endParaRPr lang="en-US" altLang="en-US" sz="1300"/>
          </a:p>
        </p:txBody>
      </p:sp>
      <p:sp>
        <p:nvSpPr>
          <p:cNvPr id="392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9238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CCCB9F7-D73A-4A93-9EC2-3508D26DE202}" type="slidenum">
              <a:rPr lang="en-US" altLang="en-US" sz="1300"/>
              <a:pPr eaLnBrk="1" hangingPunct="1"/>
              <a:t>10</a:t>
            </a:fld>
            <a:endParaRPr lang="en-US" altLang="en-US" sz="1300"/>
          </a:p>
        </p:txBody>
      </p:sp>
      <p:sp>
        <p:nvSpPr>
          <p:cNvPr id="394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82147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4B5B79E-9D67-4D62-8724-2D3707F11AEB}" type="slidenum">
              <a:rPr lang="en-US" altLang="en-US" sz="1300"/>
              <a:pPr eaLnBrk="1" hangingPunct="1"/>
              <a:t>11</a:t>
            </a:fld>
            <a:endParaRPr lang="en-US" altLang="en-US" sz="1300"/>
          </a:p>
        </p:txBody>
      </p:sp>
      <p:sp>
        <p:nvSpPr>
          <p:cNvPr id="395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05129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DAD1B85-66B5-4106-9F43-FE5908966BBD}" type="slidenum">
              <a:rPr lang="en-US" altLang="en-US" sz="1300"/>
              <a:pPr eaLnBrk="1" hangingPunct="1"/>
              <a:t>12</a:t>
            </a:fld>
            <a:endParaRPr lang="en-US" altLang="en-US" sz="1300"/>
          </a:p>
        </p:txBody>
      </p:sp>
      <p:sp>
        <p:nvSpPr>
          <p:cNvPr id="391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We are doing average case.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i="1" smtClean="0"/>
              <a:t>c</a:t>
            </a:r>
            <a:r>
              <a:rPr lang="en-US" altLang="en-US" baseline="-25000" smtClean="0"/>
              <a:t>s</a:t>
            </a:r>
            <a:r>
              <a:rPr lang="en-US" altLang="en-US" smtClean="0"/>
              <a:t> is a constant.  The actual value is irrelevant.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3848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FEFF6AD-252C-4540-9248-05B1558E9EEB}" type="slidenum">
              <a:rPr lang="en-US" altLang="en-US" sz="1300"/>
              <a:pPr eaLnBrk="1" hangingPunct="1"/>
              <a:t>13</a:t>
            </a:fld>
            <a:endParaRPr lang="en-US" altLang="en-US" sz="1300"/>
          </a:p>
        </p:txBody>
      </p:sp>
      <p:sp>
        <p:nvSpPr>
          <p:cNvPr id="396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For polynomial equations on T(n), we always have </a:t>
            </a:r>
            <a:r>
              <a:rPr lang="en-US" altLang="en-US" smtClean="0">
                <a:sym typeface="Symbol" panose="05050102010706020507" pitchFamily="18" charset="2"/>
              </a:rPr>
              <a:t>.  There is no uncertainty, since once we have the equation, we have a “complete” analysis.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67658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04A9F6-8290-43AE-9B29-ACF863ECE84E}" type="slidenum">
              <a:rPr lang="en-US" altLang="en-US" sz="1300"/>
              <a:pPr eaLnBrk="1" hangingPunct="1"/>
              <a:t>14</a:t>
            </a:fld>
            <a:endParaRPr lang="en-US" altLang="en-US" sz="1300"/>
          </a:p>
        </p:txBody>
      </p:sp>
      <p:sp>
        <p:nvSpPr>
          <p:cNvPr id="398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2. Ignore constants.</a:t>
            </a:r>
          </a:p>
          <a:p>
            <a:pPr eaLnBrk="1" hangingPunct="1"/>
            <a:r>
              <a:rPr lang="en-US" altLang="en-US" smtClean="0"/>
              <a:t>3. Drop low order terms.</a:t>
            </a:r>
          </a:p>
          <a:p>
            <a:pPr eaLnBrk="1" hangingPunct="1"/>
            <a:r>
              <a:rPr lang="en-US" altLang="en-US" smtClean="0"/>
              <a:t>4. Useful for analyzing loops.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72236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607FD98-D672-415E-910D-56E79DDC1434}" type="slidenum">
              <a:rPr lang="en-US" altLang="en-US" sz="1300"/>
              <a:pPr eaLnBrk="1" hangingPunct="1"/>
              <a:t>15</a:t>
            </a:fld>
            <a:endParaRPr lang="en-US" altLang="en-US" sz="1300"/>
          </a:p>
        </p:txBody>
      </p:sp>
      <p:sp>
        <p:nvSpPr>
          <p:cNvPr id="399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/>
              <a:t>Asymptotic analysis is defined for equations.  We need to convert programs to equations to analyze them.</a:t>
            </a:r>
          </a:p>
          <a:p>
            <a:pPr marL="228600" indent="-228600" eaLnBrk="1" hangingPunct="1"/>
            <a:endParaRPr lang="en-US" altLang="en-US" smtClean="0"/>
          </a:p>
          <a:p>
            <a:pPr marL="228600" indent="-228600" eaLnBrk="1" hangingPunct="1">
              <a:buFontTx/>
              <a:buAutoNum type="arabicPeriod"/>
            </a:pPr>
            <a:r>
              <a:rPr lang="en-US" altLang="en-US" smtClean="0"/>
              <a:t>The traditional notation is </a:t>
            </a:r>
            <a:r>
              <a:rPr lang="en-US" altLang="en-US" smtClean="0">
                <a:sym typeface="Symbol" panose="05050102010706020507" pitchFamily="18" charset="2"/>
              </a:rPr>
              <a:t>(1), not (</a:t>
            </a:r>
            <a:r>
              <a:rPr lang="en-US" altLang="en-US" i="1" smtClean="0">
                <a:sym typeface="Symbol" panose="05050102010706020507" pitchFamily="18" charset="2"/>
              </a:rPr>
              <a:t>c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en-US" smtClean="0">
                <a:sym typeface="Symbol" panose="05050102010706020507" pitchFamily="18" charset="2"/>
              </a:rPr>
              <a:t>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 even though the value of sum is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1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09D90F-EBD9-4A93-A23C-4536FCB2282B}" type="slidenum">
              <a:rPr lang="en-US" altLang="en-US" sz="1300"/>
              <a:pPr eaLnBrk="1" hangingPunct="1"/>
              <a:t>16</a:t>
            </a:fld>
            <a:endParaRPr lang="en-US" altLang="en-US" sz="1300"/>
          </a:p>
        </p:txBody>
      </p:sp>
      <p:sp>
        <p:nvSpPr>
          <p:cNvPr id="400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statement is (1).  Double for loop is </a:t>
            </a:r>
            <a:r>
              <a:rPr lang="en-US" altLang="en-US" i="1" smtClean="0">
                <a:sym typeface="Symbol" panose="05050102010706020507" pitchFamily="18" charset="2"/>
              </a:rPr>
              <a:t>i</a:t>
            </a:r>
            <a:r>
              <a:rPr lang="en-US" altLang="en-US" smtClean="0">
                <a:sym typeface="Symbol" panose="05050102010706020507" pitchFamily="18" charset="2"/>
              </a:rPr>
              <a:t> =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  Final for loop is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  Result: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9790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09D90F-EBD9-4A93-A23C-4536FCB2282B}" type="slidenum">
              <a:rPr lang="en-US" altLang="en-US" sz="1300"/>
              <a:pPr eaLnBrk="1" hangingPunct="1"/>
              <a:t>17</a:t>
            </a:fld>
            <a:endParaRPr lang="en-US" altLang="en-US" sz="1300"/>
          </a:p>
        </p:txBody>
      </p:sp>
      <p:sp>
        <p:nvSpPr>
          <p:cNvPr id="400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statement is (1).  Double for loop is </a:t>
            </a:r>
            <a:r>
              <a:rPr lang="en-US" altLang="en-US" i="1" smtClean="0">
                <a:sym typeface="Symbol" panose="05050102010706020507" pitchFamily="18" charset="2"/>
              </a:rPr>
              <a:t>i</a:t>
            </a:r>
            <a:r>
              <a:rPr lang="en-US" altLang="en-US" smtClean="0">
                <a:sym typeface="Symbol" panose="05050102010706020507" pitchFamily="18" charset="2"/>
              </a:rPr>
              <a:t> =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  Final for loop is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  Result: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14239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09D90F-EBD9-4A93-A23C-4536FCB2282B}" type="slidenum">
              <a:rPr lang="en-US" altLang="en-US" sz="1300"/>
              <a:pPr eaLnBrk="1" hangingPunct="1"/>
              <a:t>18</a:t>
            </a:fld>
            <a:endParaRPr lang="en-US" altLang="en-US" sz="1300"/>
          </a:p>
        </p:txBody>
      </p:sp>
      <p:sp>
        <p:nvSpPr>
          <p:cNvPr id="400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statement is (1).  Double for loop is </a:t>
            </a:r>
            <a:r>
              <a:rPr lang="en-US" altLang="en-US" i="1" smtClean="0">
                <a:sym typeface="Symbol" panose="05050102010706020507" pitchFamily="18" charset="2"/>
              </a:rPr>
              <a:t>i</a:t>
            </a:r>
            <a:r>
              <a:rPr lang="en-US" altLang="en-US" smtClean="0">
                <a:sym typeface="Symbol" panose="05050102010706020507" pitchFamily="18" charset="2"/>
              </a:rPr>
              <a:t> =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  Final for loop is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  Result: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24445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F6B0AA-7AE7-41FC-8BC1-6EEC65C50071}" type="slidenum">
              <a:rPr lang="en-US" altLang="en-US" sz="1300"/>
              <a:pPr eaLnBrk="1" hangingPunct="1"/>
              <a:t>19</a:t>
            </a:fld>
            <a:endParaRPr lang="en-US" altLang="en-US" sz="1300"/>
          </a:p>
        </p:txBody>
      </p:sp>
      <p:sp>
        <p:nvSpPr>
          <p:cNvPr id="401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The only difference is j&lt;=n vs. j&lt;= i. First loop, sum is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.  Second loop, sum is 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+1)(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)/2.  Both are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baseline="30000" smtClean="0">
                <a:sym typeface="Symbol" panose="05050102010706020507" pitchFamily="18" charset="2"/>
              </a:rPr>
              <a:t>2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08281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42CF9F5-4478-4107-AA64-A3BED6049A9F}" type="slidenum">
              <a:rPr lang="en-US" altLang="en-US" sz="1300"/>
              <a:pPr eaLnBrk="1" hangingPunct="1"/>
              <a:t>20</a:t>
            </a:fld>
            <a:endParaRPr lang="en-US" altLang="en-US" sz="1300"/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loop is 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1 to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Second loop is 2</a:t>
            </a:r>
            <a:r>
              <a:rPr lang="en-US" altLang="en-US" baseline="30000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0 to log</a:t>
            </a:r>
            <a:r>
              <a:rPr lang="en-US" altLang="en-US" i="1" smtClean="0">
                <a:sym typeface="Symbol" panose="05050102010706020507" pitchFamily="18" charset="2"/>
              </a:rPr>
              <a:t> n</a:t>
            </a:r>
            <a:r>
              <a:rPr lang="en-US" altLang="en-US" smtClean="0">
                <a:sym typeface="Symbol" panose="05050102010706020507" pitchFamily="18" charset="2"/>
              </a:rPr>
              <a:t> - 1,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2559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42CF9F5-4478-4107-AA64-A3BED6049A9F}" type="slidenum">
              <a:rPr lang="en-US" altLang="en-US" sz="1300"/>
              <a:pPr eaLnBrk="1" hangingPunct="1"/>
              <a:t>21</a:t>
            </a:fld>
            <a:endParaRPr lang="en-US" altLang="en-US" sz="1300"/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loop is 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1 to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Second loop is 2</a:t>
            </a:r>
            <a:r>
              <a:rPr lang="en-US" altLang="en-US" baseline="30000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0 to log</a:t>
            </a:r>
            <a:r>
              <a:rPr lang="en-US" altLang="en-US" i="1" smtClean="0">
                <a:sym typeface="Symbol" panose="05050102010706020507" pitchFamily="18" charset="2"/>
              </a:rPr>
              <a:t> n</a:t>
            </a:r>
            <a:r>
              <a:rPr lang="en-US" altLang="en-US" smtClean="0">
                <a:sym typeface="Symbol" panose="05050102010706020507" pitchFamily="18" charset="2"/>
              </a:rPr>
              <a:t> - 1,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795872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42CF9F5-4478-4107-AA64-A3BED6049A9F}" type="slidenum">
              <a:rPr lang="en-US" altLang="en-US" sz="1300"/>
              <a:pPr eaLnBrk="1" hangingPunct="1"/>
              <a:t>22</a:t>
            </a:fld>
            <a:endParaRPr lang="en-US" altLang="en-US" sz="1300"/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loop is 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1 to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Second loop is 2</a:t>
            </a:r>
            <a:r>
              <a:rPr lang="en-US" altLang="en-US" baseline="30000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0 to log</a:t>
            </a:r>
            <a:r>
              <a:rPr lang="en-US" altLang="en-US" i="1" smtClean="0">
                <a:sym typeface="Symbol" panose="05050102010706020507" pitchFamily="18" charset="2"/>
              </a:rPr>
              <a:t> n</a:t>
            </a:r>
            <a:r>
              <a:rPr lang="en-US" altLang="en-US" smtClean="0">
                <a:sym typeface="Symbol" panose="05050102010706020507" pitchFamily="18" charset="2"/>
              </a:rPr>
              <a:t> - 1,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91605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42CF9F5-4478-4107-AA64-A3BED6049A9F}" type="slidenum">
              <a:rPr lang="en-US" altLang="en-US" sz="1300"/>
              <a:pPr eaLnBrk="1" hangingPunct="1"/>
              <a:t>24</a:t>
            </a:fld>
            <a:endParaRPr lang="en-US" altLang="en-US" sz="1300"/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First loop is 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1 to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 log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Second loop is 2</a:t>
            </a:r>
            <a:r>
              <a:rPr lang="en-US" altLang="en-US" baseline="30000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for </a:t>
            </a:r>
            <a:r>
              <a:rPr lang="en-US" altLang="en-US" i="1" smtClean="0">
                <a:sym typeface="Symbol" panose="05050102010706020507" pitchFamily="18" charset="2"/>
              </a:rPr>
              <a:t>k</a:t>
            </a:r>
            <a:r>
              <a:rPr lang="en-US" altLang="en-US" smtClean="0">
                <a:sym typeface="Symbol" panose="05050102010706020507" pitchFamily="18" charset="2"/>
              </a:rPr>
              <a:t> = 0 to log</a:t>
            </a:r>
            <a:r>
              <a:rPr lang="en-US" altLang="en-US" i="1" smtClean="0">
                <a:sym typeface="Symbol" panose="05050102010706020507" pitchFamily="18" charset="2"/>
              </a:rPr>
              <a:t> n</a:t>
            </a:r>
            <a:r>
              <a:rPr lang="en-US" altLang="en-US" smtClean="0">
                <a:sym typeface="Symbol" panose="05050102010706020507" pitchFamily="18" charset="2"/>
              </a:rPr>
              <a:t> - 1, or (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34925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ADD8AFC-8BEF-4BBC-B791-A075241F8BB3}" type="slidenum">
              <a:rPr lang="en-US" altLang="en-US" sz="1300"/>
              <a:pPr eaLnBrk="1" hangingPunct="1"/>
              <a:t>25</a:t>
            </a:fld>
            <a:endParaRPr lang="en-US" altLang="en-US" sz="1300"/>
          </a:p>
        </p:txBody>
      </p:sp>
      <p:sp>
        <p:nvSpPr>
          <p:cNvPr id="403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3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67522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E6B357C-14AF-43F0-ADD4-C2AD43B1CB89}" type="slidenum">
              <a:rPr lang="en-US" altLang="en-US" sz="1300"/>
              <a:pPr eaLnBrk="1" hangingPunct="1"/>
              <a:t>26</a:t>
            </a:fld>
            <a:endParaRPr lang="en-US" altLang="en-US" sz="1300"/>
          </a:p>
        </p:txBody>
      </p:sp>
      <p:sp>
        <p:nvSpPr>
          <p:cNvPr id="404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4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81484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2879337-0939-4DD9-ABCF-A417F540D273}" type="slidenum">
              <a:rPr lang="en-US" altLang="en-US" sz="1300"/>
              <a:pPr eaLnBrk="1" hangingPunct="1"/>
              <a:t>28</a:t>
            </a:fld>
            <a:endParaRPr lang="en-US" altLang="en-US" sz="1300"/>
          </a:p>
        </p:txBody>
      </p:sp>
      <p:sp>
        <p:nvSpPr>
          <p:cNvPr id="405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5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altLang="en-US" smtClean="0">
                <a:sym typeface="Symbol" panose="05050102010706020507" pitchFamily="18" charset="2"/>
              </a:rPr>
              <a:t> statement: The probabilities for the then/else clauses being executed must be independent of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.</a:t>
            </a:r>
          </a:p>
          <a:p>
            <a:pPr marL="228600" indent="-228600" eaLnBrk="1" hangingPunct="1"/>
            <a:endParaRPr lang="en-US" altLang="en-US" smtClean="0">
              <a:sym typeface="Symbol" panose="05050102010706020507" pitchFamily="18" charset="2"/>
            </a:endParaRPr>
          </a:p>
          <a:p>
            <a:pPr marL="228600" indent="-228600" eaLnBrk="1" hangingPunct="1"/>
            <a:r>
              <a:rPr lang="en-US" altLang="en-US" smtClean="0">
                <a:latin typeface="Courier New" panose="02070309020205020404" pitchFamily="49" charset="0"/>
                <a:sym typeface="Symbol" panose="05050102010706020507" pitchFamily="18" charset="2"/>
              </a:rPr>
              <a:t>switch</a:t>
            </a:r>
            <a:r>
              <a:rPr lang="en-US" altLang="en-US" smtClean="0">
                <a:sym typeface="Symbol" panose="05050102010706020507" pitchFamily="18" charset="2"/>
              </a:rPr>
              <a:t> statement: The probabilities of the various clauses being executed must be independent of </a:t>
            </a:r>
            <a:r>
              <a:rPr lang="en-US" altLang="en-US" i="1" smtClean="0">
                <a:sym typeface="Symbol" panose="05050102010706020507" pitchFamily="18" charset="2"/>
              </a:rPr>
              <a:t>n</a:t>
            </a:r>
            <a:r>
              <a:rPr lang="en-US" altLang="en-US" smtClean="0"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3874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F8183EC-0F0B-4DD7-9398-1F3B4D54B2FA}" type="slidenum">
              <a:rPr lang="en-US" altLang="en-US" sz="1300"/>
              <a:pPr eaLnBrk="1" hangingPunct="1"/>
              <a:t>29</a:t>
            </a:fld>
            <a:endParaRPr lang="en-US" altLang="en-US" sz="1300"/>
          </a:p>
        </p:txBody>
      </p:sp>
      <p:sp>
        <p:nvSpPr>
          <p:cNvPr id="406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But NO constraints on HOW the problem is solved</a:t>
            </a:r>
          </a:p>
        </p:txBody>
      </p:sp>
    </p:spTree>
    <p:extLst>
      <p:ext uri="{BB962C8B-B14F-4D97-AF65-F5344CB8AC3E}">
        <p14:creationId xmlns:p14="http://schemas.microsoft.com/office/powerpoint/2010/main" val="905946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7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07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CE3BE0E-AD9C-43C1-84D1-8788C7559379}" type="slidenum">
              <a:rPr lang="en-US" altLang="en-US" sz="1300"/>
              <a:pPr eaLnBrk="1" hangingPunct="1"/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63121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8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08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650495C-B1EA-42E8-873A-776C9AAF84B1}" type="slidenum">
              <a:rPr lang="en-US" altLang="en-US" sz="1300"/>
              <a:pPr eaLnBrk="1" hangingPunct="1"/>
              <a:t>31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171931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862CD22-305B-4957-BB50-593B29569B51}" type="slidenum">
              <a:rPr lang="en-US" altLang="en-US" sz="1300"/>
              <a:pPr eaLnBrk="1" hangingPunct="1"/>
              <a:t>32</a:t>
            </a:fld>
            <a:endParaRPr lang="en-US" altLang="en-US" sz="1300"/>
          </a:p>
        </p:txBody>
      </p:sp>
      <p:sp>
        <p:nvSpPr>
          <p:cNvPr id="409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Analyzing problems is done a lot in a senior algorithms class.</a:t>
            </a:r>
          </a:p>
        </p:txBody>
      </p:sp>
    </p:spTree>
    <p:extLst>
      <p:ext uri="{BB962C8B-B14F-4D97-AF65-F5344CB8AC3E}">
        <p14:creationId xmlns:p14="http://schemas.microsoft.com/office/powerpoint/2010/main" val="1563494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39FEB39-CC95-4654-84A1-F449702ECC58}" type="slidenum">
              <a:rPr lang="en-US" altLang="en-US" sz="1300"/>
              <a:pPr eaLnBrk="1" hangingPunct="1"/>
              <a:t>33</a:t>
            </a:fld>
            <a:endParaRPr lang="en-US" altLang="en-US" sz="1300"/>
          </a:p>
        </p:txBody>
      </p:sp>
      <p:sp>
        <p:nvSpPr>
          <p:cNvPr id="410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The examples so far have been easy in that exact equations always yield 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.  Thus, it is hard to distinguish  and O.  This example should help to explain the difference.  Bounds are used to describe our level of uncertainty about an algorithm.</a:t>
            </a:r>
          </a:p>
        </p:txBody>
      </p:sp>
    </p:spTree>
    <p:extLst>
      <p:ext uri="{BB962C8B-B14F-4D97-AF65-F5344CB8AC3E}">
        <p14:creationId xmlns:p14="http://schemas.microsoft.com/office/powerpoint/2010/main" val="19845958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9169214-9D67-4A55-A0DB-2059E0581F4E}" type="slidenum">
              <a:rPr lang="en-US" altLang="en-US" sz="1300"/>
              <a:pPr eaLnBrk="1" hangingPunct="1"/>
              <a:t>34</a:t>
            </a:fld>
            <a:endParaRPr lang="en-US" altLang="en-US" sz="1300"/>
          </a:p>
        </p:txBody>
      </p:sp>
      <p:sp>
        <p:nvSpPr>
          <p:cNvPr id="411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12567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CD92A2B-33C3-49D8-80E0-6CB35F88089A}" type="slidenum">
              <a:rPr lang="en-US" altLang="en-US" sz="1300"/>
              <a:pPr eaLnBrk="1" hangingPunct="1"/>
              <a:t>35</a:t>
            </a:fld>
            <a:endParaRPr lang="en-US" altLang="en-US" sz="1300"/>
          </a:p>
        </p:txBody>
      </p:sp>
      <p:sp>
        <p:nvSpPr>
          <p:cNvPr id="412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 smtClean="0">
                <a:sym typeface="Symbol" panose="05050102010706020507" pitchFamily="18" charset="2"/>
              </a:rPr>
              <a:t>Example picture size: 256 colors (8 bits), 1000 by 1000 pixels.</a:t>
            </a: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81013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E33CDD9-2ED8-405A-8E88-4E239A7404EE}" type="slidenum">
              <a:rPr lang="en-US" altLang="en-US" sz="1300"/>
              <a:pPr eaLnBrk="1" hangingPunct="1"/>
              <a:t>36</a:t>
            </a:fld>
            <a:endParaRPr lang="en-US" altLang="en-US" sz="1300"/>
          </a:p>
        </p:txBody>
      </p:sp>
      <p:sp>
        <p:nvSpPr>
          <p:cNvPr id="413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616848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A8AFA6E-BE4C-4695-9A6C-BE9810798F1C}" type="slidenum">
              <a:rPr lang="en-US" altLang="en-US" sz="1300"/>
              <a:pPr eaLnBrk="1" hangingPunct="1"/>
              <a:t>37</a:t>
            </a:fld>
            <a:endParaRPr lang="en-US" altLang="en-US" sz="1300"/>
          </a:p>
        </p:txBody>
      </p:sp>
      <p:sp>
        <p:nvSpPr>
          <p:cNvPr id="393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We are doing average case.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i="1" smtClean="0"/>
              <a:t>c</a:t>
            </a:r>
            <a:r>
              <a:rPr lang="en-US" altLang="en-US" baseline="-25000" smtClean="0"/>
              <a:t>s</a:t>
            </a:r>
            <a:r>
              <a:rPr lang="en-US" altLang="en-US" smtClean="0"/>
              <a:t> is a constant.  The actual value is irrelevant.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657137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7CDE1A6-F770-4E06-8A3B-BC42FBFE2E74}" type="slidenum">
              <a:rPr lang="en-US" altLang="en-US" sz="1300"/>
              <a:pPr eaLnBrk="1" hangingPunct="1"/>
              <a:t>38</a:t>
            </a:fld>
            <a:endParaRPr lang="en-US" altLang="en-US" sz="1300"/>
          </a:p>
        </p:txBody>
      </p:sp>
      <p:sp>
        <p:nvSpPr>
          <p:cNvPr id="397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18276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8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0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7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2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7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9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0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5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7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3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7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47E3F-7CBF-463B-BE14-F57E81378C9D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2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Helvetica" panose="020B0604020202020204" pitchFamily="34" charset="0"/>
              </a:rPr>
              <a:t>Asymptotic Analysis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1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Helvetica" panose="020B0604020202020204" pitchFamily="34" charset="0"/>
              </a:rPr>
              <a:t>Asymptotic </a:t>
            </a:r>
            <a:r>
              <a:rPr lang="en-US" altLang="en-US" dirty="0" smtClean="0">
                <a:latin typeface="Helvetica" panose="020B0604020202020204" pitchFamily="34" charset="0"/>
              </a:rPr>
              <a:t>Analysis: </a:t>
            </a:r>
            <a:r>
              <a:rPr lang="en-US" altLang="en-US" dirty="0">
                <a:latin typeface="Helvetica" panose="020B0604020202020204" pitchFamily="34" charset="0"/>
              </a:rPr>
              <a:t>Ignore the </a:t>
            </a:r>
            <a:r>
              <a:rPr lang="en-US" dirty="0">
                <a:latin typeface="Helvetica" panose="020B0604020202020204" pitchFamily="34" charset="0"/>
              </a:rPr>
              <a:t>constants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19087" y="1484298"/>
            <a:ext cx="6082915" cy="525940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Compare quadratic curve with he two linear curves</a:t>
            </a:r>
          </a:p>
          <a:p>
            <a:pPr lvl="1"/>
            <a:r>
              <a:rPr lang="en-US" dirty="0" smtClean="0"/>
              <a:t>2n^2 crosses 10n at n =5</a:t>
            </a:r>
          </a:p>
          <a:p>
            <a:pPr lvl="1"/>
            <a:r>
              <a:rPr lang="en-US" dirty="0" smtClean="0"/>
              <a:t>2n^2 </a:t>
            </a:r>
            <a:r>
              <a:rPr lang="en-US" dirty="0"/>
              <a:t>crosses </a:t>
            </a:r>
            <a:r>
              <a:rPr lang="en-US" dirty="0" smtClean="0"/>
              <a:t>20n </a:t>
            </a:r>
            <a:r>
              <a:rPr lang="en-US" dirty="0"/>
              <a:t>at n 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Changes </a:t>
            </a:r>
            <a:r>
              <a:rPr lang="en-US" dirty="0"/>
              <a:t>to a constant factor in either equation only </a:t>
            </a:r>
            <a:r>
              <a:rPr lang="en-US" dirty="0" smtClean="0"/>
              <a:t> shift </a:t>
            </a:r>
            <a:r>
              <a:rPr lang="en-US" i="1" u="sng" dirty="0"/>
              <a:t>where </a:t>
            </a:r>
            <a:r>
              <a:rPr lang="en-US" dirty="0"/>
              <a:t>the </a:t>
            </a:r>
            <a:r>
              <a:rPr lang="en-US" dirty="0" smtClean="0"/>
              <a:t>two curves </a:t>
            </a:r>
            <a:r>
              <a:rPr lang="en-US" dirty="0"/>
              <a:t>cross, not </a:t>
            </a:r>
            <a:r>
              <a:rPr lang="en-US" i="1" u="sng" dirty="0"/>
              <a:t>whether</a:t>
            </a:r>
            <a:r>
              <a:rPr lang="en-US" i="1" dirty="0"/>
              <a:t> </a:t>
            </a:r>
            <a:r>
              <a:rPr lang="en-US" dirty="0"/>
              <a:t>the two curves cross. </a:t>
            </a:r>
            <a:endParaRPr lang="en-US" dirty="0" smtClean="0"/>
          </a:p>
          <a:p>
            <a:r>
              <a:rPr lang="en-US" dirty="0" smtClean="0"/>
              <a:t>So. we </a:t>
            </a:r>
            <a:r>
              <a:rPr lang="en-US" dirty="0"/>
              <a:t>usually ignore the constants when we want an estimate of the growth rate for the running </a:t>
            </a:r>
            <a:r>
              <a:rPr lang="en-US" dirty="0" smtClean="0"/>
              <a:t>time. </a:t>
            </a:r>
          </a:p>
          <a:p>
            <a:pPr lvl="1"/>
            <a:r>
              <a:rPr lang="en-US" dirty="0" smtClean="0"/>
              <a:t>simplifies </a:t>
            </a:r>
            <a:r>
              <a:rPr lang="en-US" dirty="0"/>
              <a:t>the analysis </a:t>
            </a:r>
            <a:endParaRPr lang="en-US" dirty="0" smtClean="0"/>
          </a:p>
          <a:p>
            <a:pPr lvl="1"/>
            <a:r>
              <a:rPr lang="en-US" dirty="0" smtClean="0"/>
              <a:t>keeps us focused on the </a:t>
            </a:r>
            <a:r>
              <a:rPr lang="en-US" dirty="0"/>
              <a:t>most important aspect: the growth rate.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called </a:t>
            </a:r>
            <a:r>
              <a:rPr lang="en-US" b="1" dirty="0"/>
              <a:t>asymptotic algorithm analysis</a:t>
            </a:r>
            <a:r>
              <a:rPr lang="en-US" dirty="0"/>
              <a:t>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85959"/>
            <a:ext cx="5504249" cy="362905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H="1" flipV="1">
            <a:off x="8301038" y="5086350"/>
            <a:ext cx="14287" cy="3571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9886951" y="4143374"/>
            <a:ext cx="42862" cy="1300164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48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</a:rPr>
              <a:t>Upper bound, Lower Bound and… 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9775" y="1690688"/>
            <a:ext cx="9883877" cy="50323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may want to measure the </a:t>
            </a:r>
            <a:r>
              <a:rPr lang="en-US" b="1" dirty="0" smtClean="0"/>
              <a:t>upper bound</a:t>
            </a:r>
            <a:r>
              <a:rPr lang="en-US" dirty="0" smtClean="0"/>
              <a:t> </a:t>
            </a:r>
            <a:r>
              <a:rPr lang="en-US" dirty="0"/>
              <a:t>for the </a:t>
            </a:r>
            <a:r>
              <a:rPr lang="en-US" dirty="0" smtClean="0"/>
              <a:t>growth of </a:t>
            </a:r>
            <a:r>
              <a:rPr lang="en-US" dirty="0"/>
              <a:t>the algorithm’s running </a:t>
            </a:r>
            <a:r>
              <a:rPr lang="en-US" dirty="0" smtClean="0"/>
              <a:t>time 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indicates the upper or highest growth rate </a:t>
            </a:r>
            <a:r>
              <a:rPr lang="en-US" dirty="0" smtClean="0"/>
              <a:t>that the </a:t>
            </a:r>
            <a:r>
              <a:rPr lang="en-US" dirty="0"/>
              <a:t>algorithm can </a:t>
            </a:r>
            <a:r>
              <a:rPr lang="en-US" dirty="0" smtClean="0"/>
              <a:t>have</a:t>
            </a:r>
          </a:p>
          <a:p>
            <a:pPr lvl="1"/>
            <a:r>
              <a:rPr lang="en-US" dirty="0" smtClean="0"/>
              <a:t>Indicated by big-Oh notation (e.g., O(f(n)).</a:t>
            </a:r>
          </a:p>
          <a:p>
            <a:pPr lvl="1"/>
            <a:r>
              <a:rPr lang="en-US" dirty="0" smtClean="0"/>
              <a:t>It states a </a:t>
            </a:r>
            <a:r>
              <a:rPr lang="en-US" dirty="0"/>
              <a:t>claim about the greatest amount of some resource </a:t>
            </a:r>
            <a:r>
              <a:rPr lang="en-US" dirty="0" smtClean="0"/>
              <a:t>that </a:t>
            </a:r>
            <a:r>
              <a:rPr lang="en-US" dirty="0"/>
              <a:t>is </a:t>
            </a:r>
            <a:r>
              <a:rPr lang="en-US" dirty="0" smtClean="0"/>
              <a:t>required by </a:t>
            </a:r>
            <a:r>
              <a:rPr lang="en-US" dirty="0"/>
              <a:t>an algorithm for some class of inputs of size n </a:t>
            </a:r>
            <a:endParaRPr lang="en-US" dirty="0" smtClean="0"/>
          </a:p>
          <a:p>
            <a:pPr lvl="2"/>
            <a:r>
              <a:rPr lang="en-US" dirty="0" smtClean="0"/>
              <a:t>Could be for worst case/average case or best case inputs</a:t>
            </a:r>
          </a:p>
          <a:p>
            <a:r>
              <a:rPr lang="en-US" dirty="0"/>
              <a:t>We may want to measure the </a:t>
            </a:r>
            <a:r>
              <a:rPr lang="en-US" dirty="0" smtClean="0"/>
              <a:t> </a:t>
            </a:r>
            <a:r>
              <a:rPr lang="en-US" b="1" dirty="0" smtClean="0"/>
              <a:t>lower bound</a:t>
            </a:r>
            <a:r>
              <a:rPr lang="en-US" dirty="0" smtClean="0"/>
              <a:t> </a:t>
            </a:r>
            <a:r>
              <a:rPr lang="en-US" dirty="0"/>
              <a:t>for the growth of the algorithm’s running time </a:t>
            </a:r>
          </a:p>
          <a:p>
            <a:pPr lvl="1"/>
            <a:r>
              <a:rPr lang="en-US" dirty="0" smtClean="0"/>
              <a:t>Indicated </a:t>
            </a:r>
            <a:r>
              <a:rPr lang="en-US" dirty="0"/>
              <a:t>by </a:t>
            </a:r>
            <a:r>
              <a:rPr lang="en-US" dirty="0" smtClean="0"/>
              <a:t>big-Omega or just Omega </a:t>
            </a:r>
            <a:r>
              <a:rPr lang="en-US" dirty="0"/>
              <a:t>notation (e.g., </a:t>
            </a:r>
            <a:r>
              <a:rPr lang="en-US" dirty="0" smtClean="0">
                <a:sym typeface="Symbol" panose="05050102010706020507" pitchFamily="18" charset="2"/>
              </a:rPr>
              <a:t></a:t>
            </a:r>
            <a:r>
              <a:rPr lang="en-US" dirty="0" smtClean="0"/>
              <a:t>(</a:t>
            </a:r>
            <a:r>
              <a:rPr lang="en-US" dirty="0"/>
              <a:t>f(n)).</a:t>
            </a:r>
          </a:p>
          <a:p>
            <a:pPr lvl="1"/>
            <a:r>
              <a:rPr lang="en-US" dirty="0"/>
              <a:t>It states a claim about the </a:t>
            </a:r>
            <a:r>
              <a:rPr lang="en-US" dirty="0" smtClean="0"/>
              <a:t>least </a:t>
            </a:r>
            <a:r>
              <a:rPr lang="en-US" dirty="0"/>
              <a:t>amount of some resource that is required by an algorithm for some class of inputs of size n </a:t>
            </a:r>
          </a:p>
          <a:p>
            <a:pPr lvl="1"/>
            <a:r>
              <a:rPr lang="en-US" dirty="0"/>
              <a:t>Could be for worst case/average case or best case inputs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026446" y="150743"/>
            <a:ext cx="2148348" cy="19389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There is another bound denoted by big-Theta notation (e.g., </a:t>
            </a:r>
            <a:r>
              <a:rPr lang="en-US" sz="2000" dirty="0" smtClean="0">
                <a:sym typeface="Symbol" panose="05050102010706020507" pitchFamily="18" charset="2"/>
              </a:rPr>
              <a:t></a:t>
            </a:r>
            <a:r>
              <a:rPr lang="en-US" sz="2000" dirty="0" smtClean="0"/>
              <a:t>(f(n))). We will talk about that later.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4006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</a:rPr>
              <a:t>Upper bound- bog-Oh notation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/>
              <a:t>the upper bound for an algorithm’s growth rate (for, say, the </a:t>
            </a:r>
            <a:r>
              <a:rPr lang="en-US" dirty="0" smtClean="0"/>
              <a:t>worst case</a:t>
            </a:r>
            <a:r>
              <a:rPr lang="en-US" dirty="0"/>
              <a:t>) is </a:t>
            </a:r>
            <a:r>
              <a:rPr lang="en-US" dirty="0" smtClean="0"/>
              <a:t>f(n) we </a:t>
            </a:r>
            <a:r>
              <a:rPr lang="en-US" dirty="0"/>
              <a:t>say, this algorithm is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in the set O(f(n</a:t>
            </a:r>
            <a:r>
              <a:rPr lang="en-US" dirty="0" smtClean="0"/>
              <a:t>)) in the worst </a:t>
            </a:r>
            <a:r>
              <a:rPr lang="en-US" dirty="0"/>
              <a:t>case”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in O(f(n))in the worst case</a:t>
            </a:r>
            <a:r>
              <a:rPr lang="en-US" dirty="0" smtClean="0"/>
              <a:t>”)</a:t>
            </a:r>
          </a:p>
          <a:p>
            <a:r>
              <a:rPr lang="en-US" dirty="0" smtClean="0"/>
              <a:t>For </a:t>
            </a:r>
            <a:r>
              <a:rPr lang="en-US" dirty="0"/>
              <a:t>example, if </a:t>
            </a:r>
            <a:r>
              <a:rPr lang="en-US" dirty="0" smtClean="0"/>
              <a:t>n^2 </a:t>
            </a:r>
            <a:r>
              <a:rPr lang="en-US" dirty="0"/>
              <a:t>grows </a:t>
            </a:r>
            <a:r>
              <a:rPr lang="en-US" dirty="0" smtClean="0"/>
              <a:t>as fast </a:t>
            </a:r>
            <a:r>
              <a:rPr lang="en-US" dirty="0"/>
              <a:t>as T(n) (the running time of our algorithm) for the worst-case input, we </a:t>
            </a:r>
            <a:r>
              <a:rPr lang="en-US" dirty="0" smtClean="0"/>
              <a:t>would say: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algorithm is “in </a:t>
            </a:r>
            <a:r>
              <a:rPr lang="en-US" dirty="0" smtClean="0"/>
              <a:t>O(n^2</a:t>
            </a:r>
            <a:r>
              <a:rPr lang="en-US" dirty="0"/>
              <a:t>) in the worst </a:t>
            </a:r>
            <a:r>
              <a:rPr lang="en-US" dirty="0" smtClean="0"/>
              <a:t>case”.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9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B822FFA-9C3C-4F09-BB83-34B4DB0B0206}" type="slidenum">
              <a:rPr lang="en-US" altLang="en-US" sz="1400"/>
              <a:pPr eaLnBrk="1" hangingPunct="1"/>
              <a:t>5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Helvetica" panose="020B0604020202020204" pitchFamily="34" charset="0"/>
              </a:rPr>
              <a:t>Big-oh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Definition: For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the set O(</a:t>
            </a:r>
            <a:r>
              <a:rPr lang="en-US" altLang="en-US" i="1" dirty="0" smtClean="0">
                <a:latin typeface="Helvetica" panose="020B0604020202020204" pitchFamily="34" charset="0"/>
              </a:rPr>
              <a:t>f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)) if there exist two positive constants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dirty="0" smtClean="0">
                <a:latin typeface="Helvetica" panose="020B0604020202020204" pitchFamily="34" charset="0"/>
              </a:rPr>
              <a:t> and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 such that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&lt;=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cf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for all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</a:p>
          <a:p>
            <a:pPr marL="609600" indent="-609600">
              <a:lnSpc>
                <a:spcPct val="30000"/>
              </a:lnSpc>
              <a:buNone/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Example Use</a:t>
            </a:r>
            <a:r>
              <a:rPr lang="en-US" altLang="en-US" dirty="0">
                <a:latin typeface="Helvetica" panose="020B0604020202020204" pitchFamily="34" charset="0"/>
              </a:rPr>
              <a:t>: </a:t>
            </a:r>
            <a:r>
              <a:rPr lang="en-US" altLang="en-US" dirty="0" smtClean="0">
                <a:latin typeface="Helvetica" panose="020B0604020202020204" pitchFamily="34" charset="0"/>
              </a:rPr>
              <a:t>We say, the </a:t>
            </a:r>
            <a:r>
              <a:rPr lang="en-US" altLang="en-US" dirty="0">
                <a:latin typeface="Helvetica" panose="020B0604020202020204" pitchFamily="34" charset="0"/>
              </a:rPr>
              <a:t>algorithm is in O(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) in [best, average, worst] case.</a:t>
            </a:r>
          </a:p>
          <a:p>
            <a:pPr marL="609600" indent="-609600">
              <a:lnSpc>
                <a:spcPct val="20000"/>
              </a:lnSpc>
              <a:buNone/>
            </a:pPr>
            <a:endParaRPr lang="en-US" altLang="en-US" dirty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</a:rPr>
              <a:t>Meaning: For all data sets big enough (i.e.,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&gt;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>
                <a:latin typeface="Helvetica" panose="020B0604020202020204" pitchFamily="34" charset="0"/>
              </a:rPr>
              <a:t>), the algorithm always executes in less than </a:t>
            </a:r>
            <a:r>
              <a:rPr lang="en-US" altLang="en-US" i="1" dirty="0" err="1">
                <a:latin typeface="Helvetica" panose="020B0604020202020204" pitchFamily="34" charset="0"/>
              </a:rPr>
              <a:t>cf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steps in [best, average, worst] case.</a:t>
            </a:r>
          </a:p>
        </p:txBody>
      </p:sp>
    </p:spTree>
    <p:extLst>
      <p:ext uri="{BB962C8B-B14F-4D97-AF65-F5344CB8AC3E}">
        <p14:creationId xmlns:p14="http://schemas.microsoft.com/office/powerpoint/2010/main" val="45525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09051A8-0B5D-43A9-BAC7-213416E5CDF5}" type="slidenum">
              <a:rPr lang="en-US" altLang="en-US" sz="1400"/>
              <a:pPr eaLnBrk="1" hangingPunct="1"/>
              <a:t>6</a:t>
            </a:fld>
            <a:endParaRPr lang="en-US" altLang="en-US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Big-oh Notation (cont)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Big-oh notation indicates an upper bound.</a:t>
            </a: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Example: If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3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 then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).</a:t>
            </a: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Look for the tightest (i.e., lowest) upper bound:</a:t>
            </a: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If 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3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, we can also say that T(n) is in O(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3</a:t>
            </a:r>
            <a:r>
              <a:rPr lang="en-US" altLang="en-US" dirty="0" smtClean="0">
                <a:latin typeface="Helvetica" panose="020B0604020202020204" pitchFamily="34" charset="0"/>
              </a:rPr>
              <a:t>)</a:t>
            </a: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But we will always say that </a:t>
            </a:r>
            <a:r>
              <a:rPr lang="en-US" altLang="en-US" dirty="0">
                <a:latin typeface="Helvetica" panose="020B0604020202020204" pitchFamily="34" charset="0"/>
              </a:rPr>
              <a:t>T(n) is in </a:t>
            </a:r>
            <a:r>
              <a:rPr lang="en-US" altLang="en-US" dirty="0" smtClean="0">
                <a:latin typeface="Helvetica" panose="020B0604020202020204" pitchFamily="34" charset="0"/>
              </a:rPr>
              <a:t>O(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).</a:t>
            </a:r>
            <a:endParaRPr lang="en-US" altLang="en-US" dirty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807" y="3198495"/>
            <a:ext cx="2198753" cy="102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3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105FEDF-8472-4727-B33E-C67443CE976F}" type="slidenum">
              <a:rPr lang="en-US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Big-Oh Examples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6" y="1532731"/>
            <a:ext cx="8226425" cy="4570412"/>
          </a:xfrm>
        </p:spPr>
        <p:txBody>
          <a:bodyPr>
            <a:normAutofit fontScale="92500" lnSpcReduction="10000"/>
          </a:bodyPr>
          <a:lstStyle/>
          <a:p>
            <a:pPr marL="609600" indent="-609600">
              <a:spcAft>
                <a:spcPct val="500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Example 1: [Sequential Search] Finding value </a:t>
            </a:r>
            <a:r>
              <a:rPr lang="en-US" altLang="en-US" i="1" dirty="0" smtClean="0">
                <a:latin typeface="Helvetica" panose="020B0604020202020204" pitchFamily="34" charset="0"/>
              </a:rPr>
              <a:t>X</a:t>
            </a:r>
            <a:r>
              <a:rPr lang="en-US" altLang="en-US" dirty="0" smtClean="0">
                <a:latin typeface="Helvetica" panose="020B0604020202020204" pitchFamily="34" charset="0"/>
              </a:rPr>
              <a:t> in an array (average cost).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Then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For all values of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 1,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 &lt;=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Therefore, the definition is satisfied for: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f(n)=n</a:t>
            </a:r>
            <a:r>
              <a:rPr lang="en-US" altLang="en-US" dirty="0" smtClean="0">
                <a:latin typeface="Helvetica" panose="020B0604020202020204" pitchFamily="34" charset="0"/>
              </a:rPr>
              <a:t>, 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 = 1, and 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dirty="0" smtClean="0">
                <a:latin typeface="Helvetica" panose="020B0604020202020204" pitchFamily="34" charset="0"/>
              </a:rPr>
              <a:t> =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smtClean="0">
                <a:latin typeface="Helvetica" panose="020B0604020202020204" pitchFamily="34" charset="0"/>
              </a:rPr>
              <a:t>s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Hence,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10600" y="1786612"/>
            <a:ext cx="3581400" cy="21250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 smtClean="0">
                <a:latin typeface="Helvetica" panose="020B0604020202020204" pitchFamily="34" charset="0"/>
              </a:rPr>
              <a:t>For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is in the set O(</a:t>
            </a:r>
            <a:r>
              <a:rPr lang="en-US" altLang="en-US" i="1" dirty="0">
                <a:latin typeface="Helvetica" panose="020B0604020202020204" pitchFamily="34" charset="0"/>
              </a:rPr>
              <a:t>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)) if there exist two positive constants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dirty="0">
                <a:latin typeface="Helvetica" panose="020B0604020202020204" pitchFamily="34" charset="0"/>
              </a:rPr>
              <a:t> and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>
                <a:latin typeface="Helvetica" panose="020B0604020202020204" pitchFamily="34" charset="0"/>
              </a:rPr>
              <a:t> such that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&lt;= </a:t>
            </a:r>
            <a:r>
              <a:rPr lang="en-US" altLang="en-US" i="1" dirty="0" err="1">
                <a:latin typeface="Helvetica" panose="020B0604020202020204" pitchFamily="34" charset="0"/>
              </a:rPr>
              <a:t>cf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for all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&gt;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44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32D32F-035A-4ED0-ABA3-B95C13C05904}" type="slidenum">
              <a:rPr lang="en-US" altLang="en-US" sz="1400"/>
              <a:pPr eaLnBrk="1" hangingPunct="1"/>
              <a:t>8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0"/>
            <a:ext cx="8226425" cy="76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Big-Oh Examples (2)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9" y="1502568"/>
            <a:ext cx="8226425" cy="4570413"/>
          </a:xfrm>
        </p:spPr>
        <p:txBody>
          <a:bodyPr/>
          <a:lstStyle/>
          <a:p>
            <a:pPr marL="609600" indent="-609600">
              <a:spcAft>
                <a:spcPct val="50000"/>
              </a:spcAft>
              <a:buNone/>
            </a:pPr>
            <a:r>
              <a:rPr lang="en-US" altLang="en-US" dirty="0">
                <a:latin typeface="Helvetica" panose="020B0604020202020204" pitchFamily="34" charset="0"/>
              </a:rPr>
              <a:t>Example 2: Suppose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=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1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+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2</a:t>
            </a:r>
            <a:r>
              <a:rPr lang="en-US" altLang="en-US" i="1" dirty="0">
                <a:latin typeface="Helvetica" panose="020B0604020202020204" pitchFamily="34" charset="0"/>
              </a:rPr>
              <a:t>n, where c</a:t>
            </a:r>
            <a:r>
              <a:rPr lang="en-US" altLang="en-US" baseline="-25000" dirty="0">
                <a:latin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</a:rPr>
              <a:t> and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2 </a:t>
            </a:r>
            <a:r>
              <a:rPr lang="en-US" altLang="en-US" dirty="0">
                <a:latin typeface="Helvetica" panose="020B0604020202020204" pitchFamily="34" charset="0"/>
              </a:rPr>
              <a:t>are positive.</a:t>
            </a:r>
          </a:p>
          <a:p>
            <a:pPr marL="609600" indent="-609600">
              <a:spcAft>
                <a:spcPct val="50000"/>
              </a:spcAft>
              <a:buNone/>
            </a:pP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1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+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2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&lt;=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1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+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2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&lt;= (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</a:rPr>
              <a:t> +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)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for all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&gt; 1.</a:t>
            </a:r>
          </a:p>
          <a:p>
            <a:pPr marL="609600" indent="-609600">
              <a:buNone/>
            </a:pPr>
            <a:r>
              <a:rPr lang="en-US" altLang="en-US" b="1" dirty="0">
                <a:latin typeface="Helvetica" panose="020B0604020202020204" pitchFamily="34" charset="0"/>
              </a:rPr>
              <a:t>Then 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&lt;= </a:t>
            </a:r>
            <a:r>
              <a:rPr lang="en-US" altLang="en-US" i="1" dirty="0">
                <a:latin typeface="Helvetica" panose="020B0604020202020204" pitchFamily="34" charset="0"/>
              </a:rPr>
              <a:t>cn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whenever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&gt;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>
                <a:latin typeface="Helvetica" panose="020B0604020202020204" pitchFamily="34" charset="0"/>
              </a:rPr>
              <a:t>, for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dirty="0">
                <a:latin typeface="Helvetica" panose="020B0604020202020204" pitchFamily="34" charset="0"/>
              </a:rPr>
              <a:t> =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</a:rPr>
              <a:t> +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baseline="-25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 and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>
                <a:latin typeface="Helvetica" panose="020B0604020202020204" pitchFamily="34" charset="0"/>
              </a:rPr>
              <a:t> = 1.</a:t>
            </a:r>
          </a:p>
          <a:p>
            <a:pPr marL="609600" indent="-609600">
              <a:lnSpc>
                <a:spcPct val="20000"/>
              </a:lnSpc>
              <a:buNone/>
            </a:pPr>
            <a:endParaRPr lang="en-US" altLang="en-US" dirty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</a:rPr>
              <a:t>Therefore,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is in O(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) by definition.</a:t>
            </a:r>
          </a:p>
          <a:p>
            <a:pPr marL="609600" indent="-609600">
              <a:lnSpc>
                <a:spcPct val="70000"/>
              </a:lnSpc>
              <a:buNone/>
            </a:pPr>
            <a:endParaRPr lang="en-US" altLang="en-US" dirty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</a:rPr>
              <a:t>Example 3: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=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dirty="0">
                <a:latin typeface="Helvetica" panose="020B0604020202020204" pitchFamily="34" charset="0"/>
              </a:rPr>
              <a:t>.  Then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is in O(1).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9160" y="1658020"/>
            <a:ext cx="3581400" cy="21250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 smtClean="0">
                <a:latin typeface="Helvetica" panose="020B0604020202020204" pitchFamily="34" charset="0"/>
              </a:rPr>
              <a:t>For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is in the set O(</a:t>
            </a:r>
            <a:r>
              <a:rPr lang="en-US" altLang="en-US" i="1" dirty="0">
                <a:latin typeface="Helvetica" panose="020B0604020202020204" pitchFamily="34" charset="0"/>
              </a:rPr>
              <a:t>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)) if there exist two positive constants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dirty="0">
                <a:latin typeface="Helvetica" panose="020B0604020202020204" pitchFamily="34" charset="0"/>
              </a:rPr>
              <a:t> and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>
                <a:latin typeface="Helvetica" panose="020B0604020202020204" pitchFamily="34" charset="0"/>
              </a:rPr>
              <a:t> such that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&lt;= </a:t>
            </a:r>
            <a:r>
              <a:rPr lang="en-US" altLang="en-US" i="1" dirty="0" err="1">
                <a:latin typeface="Helvetica" panose="020B0604020202020204" pitchFamily="34" charset="0"/>
              </a:rPr>
              <a:t>cf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for all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&gt;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2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32D32F-035A-4ED0-ABA3-B95C13C05904}" type="slidenum">
              <a:rPr lang="en-US" altLang="en-US" sz="1400"/>
              <a:pPr eaLnBrk="1" hangingPunct="1"/>
              <a:t>9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0"/>
            <a:ext cx="8226425" cy="76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Big-Oh Examples (2)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9" y="1502568"/>
            <a:ext cx="8226425" cy="4570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Example </a:t>
            </a:r>
            <a:r>
              <a:rPr lang="en-US" altLang="en-US" dirty="0">
                <a:latin typeface="Helvetica" panose="020B0604020202020204" pitchFamily="34" charset="0"/>
              </a:rPr>
              <a:t>3: </a:t>
            </a:r>
            <a:r>
              <a:rPr lang="en-US" dirty="0" smtClean="0"/>
              <a:t>Assigning </a:t>
            </a:r>
            <a:r>
              <a:rPr lang="en-US" dirty="0"/>
              <a:t>the value from the first position </a:t>
            </a:r>
            <a:r>
              <a:rPr lang="en-US" dirty="0" smtClean="0"/>
              <a:t>of an </a:t>
            </a:r>
            <a:r>
              <a:rPr lang="en-US" dirty="0"/>
              <a:t>array </a:t>
            </a:r>
            <a:r>
              <a:rPr lang="en-US" dirty="0" smtClean="0"/>
              <a:t>to a </a:t>
            </a:r>
            <a:r>
              <a:rPr lang="en-US" dirty="0"/>
              <a:t>variable takes constant time regardless of the size of the array. </a:t>
            </a:r>
            <a:endParaRPr lang="en-US" dirty="0" smtClean="0"/>
          </a:p>
          <a:p>
            <a:r>
              <a:rPr lang="en-US" dirty="0" smtClean="0"/>
              <a:t>Thus, </a:t>
            </a:r>
            <a:r>
              <a:rPr lang="en-US" b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/>
              <a:t>) = </a:t>
            </a:r>
            <a:r>
              <a:rPr lang="en-US" i="1" dirty="0"/>
              <a:t>c </a:t>
            </a:r>
            <a:r>
              <a:rPr lang="en-US" dirty="0"/>
              <a:t>(for the best, worst, and average cases).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could say in </a:t>
            </a:r>
            <a:r>
              <a:rPr lang="en-US" dirty="0" smtClean="0"/>
              <a:t>this case </a:t>
            </a:r>
            <a:r>
              <a:rPr lang="en-US" dirty="0"/>
              <a:t>that </a:t>
            </a:r>
            <a:r>
              <a:rPr lang="en-US" b="1" dirty="0"/>
              <a:t>T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is in O(</a:t>
            </a:r>
            <a:r>
              <a:rPr lang="en-US" i="1" dirty="0"/>
              <a:t>c</a:t>
            </a:r>
            <a:r>
              <a:rPr lang="en-US" dirty="0"/>
              <a:t>).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it is traditional to say that an </a:t>
            </a:r>
            <a:r>
              <a:rPr lang="en-US" dirty="0" smtClean="0"/>
              <a:t>algorithm whose </a:t>
            </a:r>
            <a:r>
              <a:rPr lang="en-US" dirty="0"/>
              <a:t>running time has a constant upper bound is in O(1). </a:t>
            </a:r>
            <a:br>
              <a:rPr lang="en-US" dirty="0"/>
            </a:br>
            <a:endParaRPr lang="en-US" altLang="en-US" dirty="0" smtClean="0">
              <a:latin typeface="Helvetica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39160" y="1658020"/>
            <a:ext cx="3581400" cy="21250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 smtClean="0">
                <a:latin typeface="Helvetica" panose="020B0604020202020204" pitchFamily="34" charset="0"/>
              </a:rPr>
              <a:t>For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is in the set O(</a:t>
            </a:r>
            <a:r>
              <a:rPr lang="en-US" altLang="en-US" i="1" dirty="0">
                <a:latin typeface="Helvetica" panose="020B0604020202020204" pitchFamily="34" charset="0"/>
              </a:rPr>
              <a:t>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)) if there exist two positive constants </a:t>
            </a:r>
            <a:r>
              <a:rPr lang="en-US" altLang="en-US" i="1" dirty="0">
                <a:latin typeface="Helvetica" panose="020B0604020202020204" pitchFamily="34" charset="0"/>
              </a:rPr>
              <a:t>c</a:t>
            </a:r>
            <a:r>
              <a:rPr lang="en-US" altLang="en-US" dirty="0">
                <a:latin typeface="Helvetica" panose="020B0604020202020204" pitchFamily="34" charset="0"/>
              </a:rPr>
              <a:t> and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>
                <a:latin typeface="Helvetica" panose="020B0604020202020204" pitchFamily="34" charset="0"/>
              </a:rPr>
              <a:t> such that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&lt;= </a:t>
            </a:r>
            <a:r>
              <a:rPr lang="en-US" altLang="en-US" i="1" dirty="0" err="1">
                <a:latin typeface="Helvetica" panose="020B0604020202020204" pitchFamily="34" charset="0"/>
              </a:rPr>
              <a:t>cf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for all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&gt;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27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C47039-3815-48F9-BA2E-39CEC1329A21}" type="slidenum">
              <a:rPr lang="en-US" altLang="en-US" sz="1400"/>
              <a:pPr eaLnBrk="1" hangingPunct="1"/>
              <a:t>10</a:t>
            </a:fld>
            <a:endParaRPr lang="en-US" altLang="en-US" sz="14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Big-Omega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Definition: For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the set 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(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if there exist two positive constants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 such that </a:t>
            </a:r>
            <a:r>
              <a:rPr lang="en-US" altLang="en-US" b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&gt;=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cg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for all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 &gt;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609600" indent="-609600">
              <a:lnSpc>
                <a:spcPct val="6000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Meaning: For all data sets big enough (i.e., 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 &gt;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), the algorithm always requires more than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cg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steps.</a:t>
            </a:r>
          </a:p>
          <a:p>
            <a:pPr marL="609600" indent="-609600">
              <a:lnSpc>
                <a:spcPct val="60000"/>
              </a:lnSpc>
              <a:buNone/>
            </a:pPr>
            <a:endParaRPr lang="en-US" altLang="en-US" dirty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Lower bound.</a:t>
            </a:r>
          </a:p>
        </p:txBody>
      </p:sp>
    </p:spTree>
    <p:extLst>
      <p:ext uri="{BB962C8B-B14F-4D97-AF65-F5344CB8AC3E}">
        <p14:creationId xmlns:p14="http://schemas.microsoft.com/office/powerpoint/2010/main" val="42863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C743D61-9295-4207-9522-668C4F6552BC}" type="slidenum">
              <a:rPr lang="en-US" altLang="en-US" sz="1400"/>
              <a:pPr eaLnBrk="1" hangingPunct="1"/>
              <a:t>11</a:t>
            </a:fld>
            <a:endParaRPr lang="en-US" altLang="en-US" sz="140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0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Big-Omega Example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1" y="1539874"/>
            <a:ext cx="9418319" cy="5318125"/>
          </a:xfrm>
        </p:spPr>
        <p:txBody>
          <a:bodyPr>
            <a:normAutofit/>
          </a:bodyPr>
          <a:lstStyle/>
          <a:p>
            <a:pPr marL="609600" indent="-609600">
              <a:spcBef>
                <a:spcPct val="0"/>
              </a:spcBef>
              <a:spcAft>
                <a:spcPts val="2400"/>
              </a:spcAft>
              <a:buNone/>
            </a:pP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1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 +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2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  <a:endParaRPr lang="en-US" altLang="en-US" i="1" dirty="0" smtClean="0">
              <a:latin typeface="Helvetica" panose="020B0604020202020204" pitchFamily="34" charset="0"/>
            </a:endParaRPr>
          </a:p>
          <a:p>
            <a:pPr marL="609600" indent="-60960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1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 +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2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&gt;=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1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 for all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 1.</a:t>
            </a:r>
          </a:p>
          <a:p>
            <a:pPr marL="609600" indent="-60960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&gt;= </a:t>
            </a:r>
            <a:r>
              <a:rPr lang="en-US" altLang="en-US" i="1" dirty="0" smtClean="0">
                <a:latin typeface="Helvetica" panose="020B0604020202020204" pitchFamily="34" charset="0"/>
              </a:rPr>
              <a:t>cn</a:t>
            </a:r>
            <a:r>
              <a:rPr lang="en-US" altLang="en-US" baseline="30000" dirty="0" smtClean="0">
                <a:latin typeface="Helvetica" panose="020B0604020202020204" pitchFamily="34" charset="0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</a:rPr>
              <a:t> for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dirty="0" smtClean="0">
                <a:latin typeface="Helvetica" panose="020B0604020202020204" pitchFamily="34" charset="0"/>
              </a:rPr>
              <a:t> = </a:t>
            </a: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</a:rPr>
              <a:t> and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 = 1.</a:t>
            </a:r>
          </a:p>
          <a:p>
            <a:pPr marL="609600" indent="-60960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Therefore,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(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30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by the definition.</a:t>
            </a:r>
          </a:p>
          <a:p>
            <a:pPr marL="609600" indent="-609600">
              <a:spcBef>
                <a:spcPts val="1600"/>
              </a:spcBef>
              <a:spcAft>
                <a:spcPts val="1200"/>
              </a:spcAft>
              <a:buNone/>
            </a:pPr>
            <a:endParaRPr lang="en-US" altLang="en-US" dirty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Look </a:t>
            </a:r>
            <a:r>
              <a:rPr lang="en-US" altLang="en-US" dirty="0">
                <a:latin typeface="Helvetica" panose="020B0604020202020204" pitchFamily="34" charset="0"/>
              </a:rPr>
              <a:t>for the tightest (i.e., </a:t>
            </a:r>
            <a:r>
              <a:rPr lang="en-US" altLang="en-US" dirty="0" smtClean="0">
                <a:latin typeface="Helvetica" panose="020B0604020202020204" pitchFamily="34" charset="0"/>
              </a:rPr>
              <a:t>greatest) lower </a:t>
            </a:r>
            <a:r>
              <a:rPr lang="en-US" altLang="en-US" dirty="0">
                <a:latin typeface="Helvetica" panose="020B0604020202020204" pitchFamily="34" charset="0"/>
              </a:rPr>
              <a:t>bound:</a:t>
            </a: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</a:rPr>
              <a:t>If  </a:t>
            </a:r>
            <a:r>
              <a:rPr lang="en-US" altLang="en-US" b="1" dirty="0">
                <a:latin typeface="Helvetica" panose="020B0604020202020204" pitchFamily="34" charset="0"/>
              </a:rPr>
              <a:t>T</a:t>
            </a:r>
            <a:r>
              <a:rPr lang="en-US" altLang="en-US" dirty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) = 3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, we can also say that T(n) is in 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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</a:t>
            </a:r>
            <a:endParaRPr lang="en-US" altLang="en-US" dirty="0">
              <a:latin typeface="Helvetica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</a:rPr>
              <a:t>But we will always say that </a:t>
            </a:r>
            <a:r>
              <a:rPr lang="en-US" altLang="en-US" dirty="0" smtClean="0">
                <a:latin typeface="Helvetica" panose="020B0604020202020204" pitchFamily="34" charset="0"/>
              </a:rPr>
              <a:t>T(n</a:t>
            </a:r>
            <a:r>
              <a:rPr lang="en-US" altLang="en-US" dirty="0">
                <a:latin typeface="Helvetica" panose="020B0604020202020204" pitchFamily="34" charset="0"/>
              </a:rPr>
              <a:t>) is in 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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</a:rPr>
              <a:t>).</a:t>
            </a: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41920" y="891003"/>
            <a:ext cx="4145280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</a:rPr>
              <a:t>For </a:t>
            </a:r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is in the set 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(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)) if there exist two positive constants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 such that </a:t>
            </a:r>
            <a:r>
              <a:rPr lang="en-US" altLang="en-US" sz="2400" b="1" dirty="0">
                <a:latin typeface="Helvetica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) &gt;=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cg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) for all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 &gt;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.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267" y="4686935"/>
            <a:ext cx="2198753" cy="102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7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105FEDF-8472-4727-B33E-C67443CE976F}" type="slidenum">
              <a:rPr lang="en-US" altLang="en-US" sz="1400"/>
              <a:pPr eaLnBrk="1" hangingPunct="1"/>
              <a:t>12</a:t>
            </a:fld>
            <a:endParaRPr lang="en-US" alt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Helvetica" panose="020B0604020202020204" pitchFamily="34" charset="0"/>
              </a:rPr>
              <a:t>Big-Omega Examples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1532731"/>
            <a:ext cx="7811134" cy="4570412"/>
          </a:xfrm>
        </p:spPr>
        <p:txBody>
          <a:bodyPr>
            <a:normAutofit fontScale="92500" lnSpcReduction="10000"/>
          </a:bodyPr>
          <a:lstStyle/>
          <a:p>
            <a:pPr marL="609600" indent="-609600">
              <a:spcAft>
                <a:spcPct val="50000"/>
              </a:spcAft>
              <a:buNone/>
            </a:pPr>
            <a:r>
              <a:rPr lang="en-US" altLang="en-US" dirty="0">
                <a:latin typeface="Helvetica" panose="020B0604020202020204" pitchFamily="34" charset="0"/>
              </a:rPr>
              <a:t>[Sequential Search] </a:t>
            </a:r>
            <a:r>
              <a:rPr lang="en-US" altLang="en-US" dirty="0" smtClean="0">
                <a:latin typeface="Helvetica" panose="020B0604020202020204" pitchFamily="34" charset="0"/>
              </a:rPr>
              <a:t>Finding value </a:t>
            </a:r>
            <a:r>
              <a:rPr lang="en-US" altLang="en-US" i="1" dirty="0" smtClean="0">
                <a:latin typeface="Helvetica" panose="020B0604020202020204" pitchFamily="34" charset="0"/>
              </a:rPr>
              <a:t>X</a:t>
            </a:r>
            <a:r>
              <a:rPr lang="en-US" altLang="en-US" dirty="0" smtClean="0">
                <a:latin typeface="Helvetica" panose="020B0604020202020204" pitchFamily="34" charset="0"/>
              </a:rPr>
              <a:t> in an array (average cost).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Then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For all values of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 1,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 &gt;=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cn</a:t>
            </a:r>
            <a:r>
              <a:rPr lang="en-US" altLang="en-US" dirty="0" smtClean="0">
                <a:latin typeface="Helvetica" panose="020B0604020202020204" pitchFamily="34" charset="0"/>
              </a:rPr>
              <a:t>, where c &lt;= </a:t>
            </a:r>
            <a:r>
              <a:rPr lang="en-US" altLang="en-US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>
                <a:latin typeface="Helvetica" panose="020B0604020202020204" pitchFamily="34" charset="0"/>
              </a:rPr>
              <a:t>s</a:t>
            </a:r>
            <a:r>
              <a:rPr lang="en-US" altLang="en-US" dirty="0" smtClean="0">
                <a:latin typeface="Helvetica" panose="020B0604020202020204" pitchFamily="34" charset="0"/>
              </a:rPr>
              <a:t>/2  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Therefore, the definition is satisfied for: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f(n)=n</a:t>
            </a:r>
            <a:r>
              <a:rPr lang="en-US" altLang="en-US" dirty="0" smtClean="0">
                <a:latin typeface="Helvetica" panose="020B0604020202020204" pitchFamily="34" charset="0"/>
              </a:rPr>
              <a:t>, 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baseline="-25000" dirty="0" smtClean="0">
                <a:latin typeface="Helvetica" panose="020B0604020202020204" pitchFamily="34" charset="0"/>
              </a:rPr>
              <a:t>0</a:t>
            </a:r>
            <a:r>
              <a:rPr lang="en-US" altLang="en-US" dirty="0" smtClean="0">
                <a:latin typeface="Helvetica" panose="020B0604020202020204" pitchFamily="34" charset="0"/>
              </a:rPr>
              <a:t> = 1, and 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i="1" dirty="0" smtClean="0">
                <a:latin typeface="Helvetica" panose="020B0604020202020204" pitchFamily="34" charset="0"/>
              </a:rPr>
              <a:t>c</a:t>
            </a:r>
            <a:r>
              <a:rPr lang="en-US" altLang="en-US" dirty="0" smtClean="0">
                <a:latin typeface="Helvetica" panose="020B0604020202020204" pitchFamily="34" charset="0"/>
              </a:rPr>
              <a:t> 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dirty="0" smtClean="0">
                <a:latin typeface="Helvetica" panose="020B0604020202020204" pitchFamily="34" charset="0"/>
              </a:rPr>
              <a:t>/2.</a:t>
            </a:r>
          </a:p>
          <a:p>
            <a:pPr marL="609600" indent="-609600">
              <a:spcAft>
                <a:spcPts val="600"/>
              </a:spcAft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Hence,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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1451" y="355452"/>
            <a:ext cx="4145280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</a:rPr>
              <a:t>For </a:t>
            </a:r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a non-negatively valued function, </a:t>
            </a:r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is in the set 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(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)) if there exist two positive constants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 such that </a:t>
            </a:r>
            <a:r>
              <a:rPr lang="en-US" altLang="en-US" sz="2400" b="1" dirty="0">
                <a:latin typeface="Helvetica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) &gt;=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cg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) for all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 &gt; </a:t>
            </a:r>
            <a:r>
              <a:rPr lang="en-US" altLang="en-US" sz="2400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400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04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92387" y="3456780"/>
            <a:ext cx="5640386" cy="3264695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4134" y="3456780"/>
            <a:ext cx="5640386" cy="3264695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40650B1-8855-47B3-B823-3D25E27C1DC6}" type="slidenum">
              <a:rPr lang="en-US" altLang="en-US" sz="1400"/>
              <a:pPr eaLnBrk="1" hangingPunct="1"/>
              <a:t>13</a:t>
            </a:fld>
            <a:endParaRPr lang="en-US" altLang="en-US" sz="14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4" y="117633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Helvetica" panose="020B0604020202020204" pitchFamily="34" charset="0"/>
              </a:rPr>
              <a:t>Theta Notation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334" y="1032033"/>
            <a:ext cx="8226425" cy="2424747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When big-Oh and  coincide, we indicate this by using  (big-Theta) notation.</a:t>
            </a: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Definition: An algorithm is said to be in (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if it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and it is in (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537960" y="3714273"/>
            <a:ext cx="5349240" cy="2749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spcAft>
                <a:spcPct val="500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[Sequential Search] Finding value </a:t>
            </a:r>
            <a:r>
              <a:rPr lang="en-US" altLang="en-US" i="1" dirty="0" smtClean="0">
                <a:latin typeface="Helvetica" panose="020B0604020202020204" pitchFamily="34" charset="0"/>
              </a:rPr>
              <a:t>X</a:t>
            </a:r>
            <a:r>
              <a:rPr lang="en-US" altLang="en-US" dirty="0" smtClean="0">
                <a:latin typeface="Helvetica" panose="020B0604020202020204" pitchFamily="34" charset="0"/>
              </a:rPr>
              <a:t> in an array (average cost).</a:t>
            </a:r>
          </a:p>
          <a:p>
            <a:pPr marL="609600" indent="-60960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Then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/2.</a:t>
            </a:r>
          </a:p>
          <a:p>
            <a:pPr marL="609600" indent="-60960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For all values of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 1,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 &gt;=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cn</a:t>
            </a:r>
            <a:r>
              <a:rPr lang="en-US" altLang="en-US" dirty="0" smtClean="0">
                <a:latin typeface="Helvetica" panose="020B0604020202020204" pitchFamily="34" charset="0"/>
              </a:rPr>
              <a:t>, where c &lt;= </a:t>
            </a:r>
            <a:r>
              <a:rPr lang="en-US" altLang="en-US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dirty="0" smtClean="0">
                <a:latin typeface="Helvetica" panose="020B0604020202020204" pitchFamily="34" charset="0"/>
              </a:rPr>
              <a:t>/2  </a:t>
            </a:r>
          </a:p>
          <a:p>
            <a:pPr marL="609600" indent="-60960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Hence,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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3630452"/>
            <a:ext cx="6187440" cy="29173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spcAft>
                <a:spcPct val="500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Example 1: [Sequential Search] Finding value </a:t>
            </a:r>
            <a:r>
              <a:rPr lang="en-US" altLang="en-US" i="1" dirty="0" smtClean="0">
                <a:latin typeface="Helvetica" panose="020B0604020202020204" pitchFamily="34" charset="0"/>
              </a:rPr>
              <a:t>X</a:t>
            </a:r>
            <a:r>
              <a:rPr lang="en-US" altLang="en-US" dirty="0" smtClean="0">
                <a:latin typeface="Helvetica" panose="020B0604020202020204" pitchFamily="34" charset="0"/>
              </a:rPr>
              <a:t> in an array (average cost).</a:t>
            </a:r>
          </a:p>
          <a:p>
            <a:pPr marL="609600" indent="-60960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Then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/2.</a:t>
            </a:r>
          </a:p>
          <a:p>
            <a:pPr marL="609600" indent="-60960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For all values of 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 &gt; 1,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/2 &lt;= 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c</a:t>
            </a:r>
            <a:r>
              <a:rPr lang="en-US" altLang="en-US" i="1" baseline="-25000" dirty="0" err="1" smtClean="0">
                <a:latin typeface="Helvetica" panose="020B0604020202020204" pitchFamily="34" charset="0"/>
              </a:rPr>
              <a:t>s</a:t>
            </a:r>
            <a:r>
              <a:rPr lang="en-US" altLang="en-US" i="1" dirty="0" err="1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.</a:t>
            </a:r>
          </a:p>
          <a:p>
            <a:pPr marL="609600" indent="-60960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Hence, </a:t>
            </a:r>
            <a:r>
              <a:rPr lang="en-US" altLang="en-US" b="1" dirty="0" smtClean="0">
                <a:latin typeface="Helvetica" panose="020B0604020202020204" pitchFamily="34" charset="0"/>
              </a:rPr>
              <a:t>T</a:t>
            </a:r>
            <a:r>
              <a:rPr lang="en-US" altLang="en-US" dirty="0" smtClean="0">
                <a:latin typeface="Helvetica" panose="020B0604020202020204" pitchFamily="34" charset="0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507504"/>
            <a:ext cx="4027064" cy="2677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From previous analysis:</a:t>
            </a:r>
          </a:p>
          <a:p>
            <a:r>
              <a:rPr lang="en-US" sz="2400" dirty="0" smtClean="0"/>
              <a:t>For sequential search, we have</a:t>
            </a:r>
          </a:p>
          <a:p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is in O(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 smtClean="0">
                <a:latin typeface="Helvetica" panose="020B0604020202020204" pitchFamily="34" charset="0"/>
              </a:rPr>
              <a:t>)</a:t>
            </a:r>
          </a:p>
          <a:p>
            <a:r>
              <a:rPr lang="en-US" altLang="en-US" sz="2400" dirty="0">
                <a:latin typeface="Helvetica" panose="020B0604020202020204" pitchFamily="34" charset="0"/>
              </a:rPr>
              <a:t>&amp;</a:t>
            </a:r>
            <a:endParaRPr lang="en-US" altLang="en-US" sz="2400" dirty="0" smtClean="0">
              <a:latin typeface="Helvetica" panose="020B0604020202020204" pitchFamily="34" charset="0"/>
            </a:endParaRPr>
          </a:p>
          <a:p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is in 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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 smtClean="0">
                <a:latin typeface="Helvetica" panose="020B0604020202020204" pitchFamily="34" charset="0"/>
              </a:rPr>
              <a:t>).</a:t>
            </a:r>
          </a:p>
          <a:p>
            <a:endParaRPr lang="en-US" altLang="en-US" sz="2400" dirty="0">
              <a:latin typeface="Helvetica" panose="020B0604020202020204" pitchFamily="34" charset="0"/>
            </a:endParaRPr>
          </a:p>
          <a:p>
            <a:r>
              <a:rPr lang="en-US" altLang="en-US" sz="2400" dirty="0" smtClean="0">
                <a:latin typeface="Helvetica" panose="020B0604020202020204" pitchFamily="34" charset="0"/>
              </a:rPr>
              <a:t>So, </a:t>
            </a:r>
            <a:r>
              <a:rPr lang="en-US" altLang="en-US" sz="2400" b="1" dirty="0">
                <a:latin typeface="Helvetica" panose="020B0604020202020204" pitchFamily="34" charset="0"/>
              </a:rPr>
              <a:t>T</a:t>
            </a:r>
            <a:r>
              <a:rPr lang="en-US" altLang="en-US" sz="2400" dirty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>
                <a:latin typeface="Helvetica" panose="020B0604020202020204" pitchFamily="34" charset="0"/>
              </a:rPr>
              <a:t>) is in 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</a:rPr>
              <a:t>(</a:t>
            </a:r>
            <a:r>
              <a:rPr lang="en-US" altLang="en-US" sz="2400" i="1" dirty="0">
                <a:latin typeface="Helvetica" panose="020B0604020202020204" pitchFamily="34" charset="0"/>
              </a:rPr>
              <a:t>n</a:t>
            </a:r>
            <a:r>
              <a:rPr lang="en-US" altLang="en-US" sz="2400" dirty="0" smtClean="0">
                <a:latin typeface="Helvetica" panose="020B0604020202020204" pitchFamily="34" charset="0"/>
              </a:rPr>
              <a:t>).</a:t>
            </a:r>
            <a:endParaRPr lang="en-US" sz="2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077200" y="507504"/>
            <a:ext cx="0" cy="269178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35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5" grpId="0"/>
      <p:bldP spid="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8754F4C-FBA6-4F97-83A2-52E80F790705}" type="slidenum">
              <a:rPr lang="en-US" altLang="en-US" sz="1400"/>
              <a:pPr eaLnBrk="1" hangingPunct="1"/>
              <a:t>14</a:t>
            </a:fld>
            <a:endParaRPr lang="en-US" altLang="en-US" sz="14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152400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Simplifying Rules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6" y="1196975"/>
            <a:ext cx="8226425" cy="5029200"/>
          </a:xfrm>
        </p:spPr>
        <p:txBody>
          <a:bodyPr/>
          <a:lstStyle/>
          <a:p>
            <a:pPr marL="609600" indent="-609600">
              <a:spcBef>
                <a:spcPct val="0"/>
              </a:spcBef>
              <a:spcAft>
                <a:spcPts val="1600"/>
              </a:spcAft>
              <a:buFontTx/>
              <a:buAutoNum type="arabicPeriod"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and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)), then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)).</a:t>
            </a:r>
          </a:p>
          <a:p>
            <a:pPr marL="609600" indent="-609600">
              <a:spcBef>
                <a:spcPct val="0"/>
              </a:spcBef>
              <a:spcAft>
                <a:spcPts val="1600"/>
              </a:spcAft>
              <a:buFontTx/>
              <a:buAutoNum type="arabicPeriod"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kg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for some constant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 &gt; 0, then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)).</a:t>
            </a:r>
          </a:p>
          <a:p>
            <a:pPr marL="609600" indent="-609600">
              <a:spcBef>
                <a:spcPct val="0"/>
              </a:spcBef>
              <a:spcAft>
                <a:spcPts val="1600"/>
              </a:spcAft>
              <a:buFontTx/>
              <a:buAutoNum type="arabicPeriod"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and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)), then 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O(max(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),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))).</a:t>
            </a:r>
          </a:p>
          <a:p>
            <a:pPr marL="609600" indent="-609600">
              <a:spcBef>
                <a:spcPct val="0"/>
              </a:spcBef>
              <a:spcAft>
                <a:spcPts val="1600"/>
              </a:spcAft>
              <a:buFontTx/>
              <a:buAutoNum type="arabicPeriod"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and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 then 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 is in O(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 dirty="0" smtClean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53731" y="2011680"/>
            <a:ext cx="330464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ignore any multiplicative constants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3731" y="3164939"/>
            <a:ext cx="3304640" cy="67710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</a:t>
            </a:r>
            <a:r>
              <a:rPr lang="en-US" sz="2000" dirty="0"/>
              <a:t>ignore</a:t>
            </a:r>
            <a:r>
              <a:rPr lang="en-US" dirty="0"/>
              <a:t> </a:t>
            </a:r>
            <a:r>
              <a:rPr lang="en-US" dirty="0" smtClean="0"/>
              <a:t>lower order terms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4840" y="5608320"/>
            <a:ext cx="604248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Similar or identical relation exists for big Omega and big Theta.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3731" y="4480560"/>
            <a:ext cx="3304640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If </a:t>
            </a:r>
            <a:r>
              <a:rPr lang="en-US" sz="2400" b="1" dirty="0"/>
              <a:t>T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= </a:t>
            </a:r>
            <a:r>
              <a:rPr lang="en-US" sz="2400" dirty="0" smtClean="0"/>
              <a:t>3</a:t>
            </a:r>
            <a:r>
              <a:rPr lang="en-US" sz="2400" i="1" dirty="0" smtClean="0"/>
              <a:t>n^</a:t>
            </a:r>
            <a:r>
              <a:rPr lang="en-US" sz="2400" dirty="0" smtClean="0"/>
              <a:t>4 </a:t>
            </a:r>
            <a:r>
              <a:rPr lang="en-US" sz="2400" dirty="0"/>
              <a:t>+ </a:t>
            </a:r>
            <a:r>
              <a:rPr lang="en-US" sz="2400" dirty="0" smtClean="0"/>
              <a:t>5</a:t>
            </a:r>
            <a:r>
              <a:rPr lang="en-US" sz="2400" i="1" dirty="0" smtClean="0"/>
              <a:t>n^</a:t>
            </a:r>
            <a:r>
              <a:rPr lang="en-US" sz="2400" dirty="0" smtClean="0"/>
              <a:t>2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then </a:t>
            </a:r>
            <a:r>
              <a:rPr lang="en-US" sz="2400" b="1" dirty="0"/>
              <a:t>T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is in </a:t>
            </a:r>
            <a:r>
              <a:rPr lang="en-US" sz="2400" dirty="0" smtClean="0"/>
              <a:t>O(</a:t>
            </a:r>
            <a:r>
              <a:rPr lang="en-US" sz="2400" i="1" dirty="0" smtClean="0"/>
              <a:t>n^</a:t>
            </a:r>
            <a:r>
              <a:rPr lang="en-US" sz="2400" dirty="0" smtClean="0"/>
              <a:t>4</a:t>
            </a:r>
            <a:r>
              <a:rPr lang="en-US" sz="2400" dirty="0"/>
              <a:t>). </a:t>
            </a:r>
            <a:endParaRPr lang="en-US" sz="2400" dirty="0" smtClean="0"/>
          </a:p>
          <a:p>
            <a:r>
              <a:rPr lang="en-US" sz="2000" i="1" dirty="0" smtClean="0"/>
              <a:t>The n^2 </a:t>
            </a:r>
            <a:r>
              <a:rPr lang="en-US" sz="2000" i="1" dirty="0"/>
              <a:t>term </a:t>
            </a:r>
            <a:r>
              <a:rPr lang="en-US" sz="2000" i="1" dirty="0" smtClean="0"/>
              <a:t>contributes relatively </a:t>
            </a:r>
            <a:r>
              <a:rPr lang="en-US" sz="2000" i="1" dirty="0"/>
              <a:t>little to the total cost </a:t>
            </a:r>
            <a:r>
              <a:rPr lang="en-US" sz="2000" i="1" dirty="0" smtClean="0"/>
              <a:t>for large </a:t>
            </a:r>
            <a:r>
              <a:rPr lang="en-US" sz="2000" i="1" dirty="0"/>
              <a:t>n. </a:t>
            </a: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9860280" y="3977640"/>
            <a:ext cx="347346" cy="3962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4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220584F-6D3C-4ECA-91BA-4BCA8ABB98E5}" type="slidenum">
              <a:rPr lang="en-US" altLang="en-US" sz="1400"/>
              <a:pPr eaLnBrk="1" hangingPunct="1"/>
              <a:t>15</a:t>
            </a:fld>
            <a:endParaRPr lang="en-US" altLang="en-US" sz="1400" dirty="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(1)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3.9: 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a = b</a:t>
            </a:r>
            <a:r>
              <a:rPr lang="en-US" altLang="en-US" dirty="0" smtClean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This assignment takes constant time, so it is (1).</a:t>
            </a:r>
          </a:p>
          <a:p>
            <a:pPr marL="609600" indent="-609600">
              <a:lnSpc>
                <a:spcPct val="7000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3.10:</a:t>
            </a: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 = 0;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 smtClean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for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=1;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++)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 smtClean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 += n;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6797040" y="3352800"/>
            <a:ext cx="30480" cy="248412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947160" y="3916680"/>
            <a:ext cx="284988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56120" y="3672840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465320" y="5288280"/>
            <a:ext cx="2362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56119" y="5057447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446520" y="4594860"/>
            <a:ext cx="35052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26023" y="4410194"/>
            <a:ext cx="1590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 n times</a:t>
            </a:r>
          </a:p>
        </p:txBody>
      </p:sp>
      <p:sp>
        <p:nvSpPr>
          <p:cNvPr id="19" name="Freeform 18"/>
          <p:cNvSpPr/>
          <p:nvPr/>
        </p:nvSpPr>
        <p:spPr>
          <a:xfrm>
            <a:off x="8001000" y="4663440"/>
            <a:ext cx="746760" cy="610348"/>
          </a:xfrm>
          <a:custGeom>
            <a:avLst/>
            <a:gdLst>
              <a:gd name="connsiteX0" fmla="*/ 472440 w 746760"/>
              <a:gd name="connsiteY0" fmla="*/ 0 h 610348"/>
              <a:gd name="connsiteX1" fmla="*/ 624840 w 746760"/>
              <a:gd name="connsiteY1" fmla="*/ 45720 h 610348"/>
              <a:gd name="connsiteX2" fmla="*/ 640080 w 746760"/>
              <a:gd name="connsiteY2" fmla="*/ 91440 h 610348"/>
              <a:gd name="connsiteX3" fmla="*/ 685800 w 746760"/>
              <a:gd name="connsiteY3" fmla="*/ 121920 h 610348"/>
              <a:gd name="connsiteX4" fmla="*/ 716280 w 746760"/>
              <a:gd name="connsiteY4" fmla="*/ 182880 h 610348"/>
              <a:gd name="connsiteX5" fmla="*/ 731520 w 746760"/>
              <a:gd name="connsiteY5" fmla="*/ 243840 h 610348"/>
              <a:gd name="connsiteX6" fmla="*/ 746760 w 746760"/>
              <a:gd name="connsiteY6" fmla="*/ 289560 h 610348"/>
              <a:gd name="connsiteX7" fmla="*/ 731520 w 746760"/>
              <a:gd name="connsiteY7" fmla="*/ 365760 h 610348"/>
              <a:gd name="connsiteX8" fmla="*/ 716280 w 746760"/>
              <a:gd name="connsiteY8" fmla="*/ 411480 h 610348"/>
              <a:gd name="connsiteX9" fmla="*/ 670560 w 746760"/>
              <a:gd name="connsiteY9" fmla="*/ 426720 h 610348"/>
              <a:gd name="connsiteX10" fmla="*/ 624840 w 746760"/>
              <a:gd name="connsiteY10" fmla="*/ 457200 h 610348"/>
              <a:gd name="connsiteX11" fmla="*/ 441960 w 746760"/>
              <a:gd name="connsiteY11" fmla="*/ 502920 h 610348"/>
              <a:gd name="connsiteX12" fmla="*/ 396240 w 746760"/>
              <a:gd name="connsiteY12" fmla="*/ 533400 h 610348"/>
              <a:gd name="connsiteX13" fmla="*/ 228600 w 746760"/>
              <a:gd name="connsiteY13" fmla="*/ 563880 h 610348"/>
              <a:gd name="connsiteX14" fmla="*/ 45720 w 746760"/>
              <a:gd name="connsiteY14" fmla="*/ 609600 h 610348"/>
              <a:gd name="connsiteX15" fmla="*/ 0 w 746760"/>
              <a:gd name="connsiteY15" fmla="*/ 609600 h 61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6760" h="610348">
                <a:moveTo>
                  <a:pt x="472440" y="0"/>
                </a:moveTo>
                <a:cubicBezTo>
                  <a:pt x="510518" y="7616"/>
                  <a:pt x="593182" y="19338"/>
                  <a:pt x="624840" y="45720"/>
                </a:cubicBezTo>
                <a:cubicBezTo>
                  <a:pt x="637181" y="56004"/>
                  <a:pt x="630045" y="78896"/>
                  <a:pt x="640080" y="91440"/>
                </a:cubicBezTo>
                <a:cubicBezTo>
                  <a:pt x="651522" y="105743"/>
                  <a:pt x="670560" y="111760"/>
                  <a:pt x="685800" y="121920"/>
                </a:cubicBezTo>
                <a:cubicBezTo>
                  <a:pt x="695960" y="142240"/>
                  <a:pt x="708303" y="161608"/>
                  <a:pt x="716280" y="182880"/>
                </a:cubicBezTo>
                <a:cubicBezTo>
                  <a:pt x="723634" y="202492"/>
                  <a:pt x="725766" y="223701"/>
                  <a:pt x="731520" y="243840"/>
                </a:cubicBezTo>
                <a:cubicBezTo>
                  <a:pt x="735933" y="259286"/>
                  <a:pt x="741680" y="274320"/>
                  <a:pt x="746760" y="289560"/>
                </a:cubicBezTo>
                <a:cubicBezTo>
                  <a:pt x="741680" y="314960"/>
                  <a:pt x="737802" y="340630"/>
                  <a:pt x="731520" y="365760"/>
                </a:cubicBezTo>
                <a:cubicBezTo>
                  <a:pt x="727624" y="381345"/>
                  <a:pt x="727639" y="400121"/>
                  <a:pt x="716280" y="411480"/>
                </a:cubicBezTo>
                <a:cubicBezTo>
                  <a:pt x="704921" y="422839"/>
                  <a:pt x="684928" y="419536"/>
                  <a:pt x="670560" y="426720"/>
                </a:cubicBezTo>
                <a:cubicBezTo>
                  <a:pt x="654177" y="434911"/>
                  <a:pt x="641578" y="449761"/>
                  <a:pt x="624840" y="457200"/>
                </a:cubicBezTo>
                <a:cubicBezTo>
                  <a:pt x="552387" y="489401"/>
                  <a:pt x="518636" y="490141"/>
                  <a:pt x="441960" y="502920"/>
                </a:cubicBezTo>
                <a:cubicBezTo>
                  <a:pt x="426720" y="513080"/>
                  <a:pt x="413075" y="526185"/>
                  <a:pt x="396240" y="533400"/>
                </a:cubicBezTo>
                <a:cubicBezTo>
                  <a:pt x="360312" y="548798"/>
                  <a:pt x="253321" y="560348"/>
                  <a:pt x="228600" y="563880"/>
                </a:cubicBezTo>
                <a:cubicBezTo>
                  <a:pt x="139852" y="593463"/>
                  <a:pt x="138069" y="599339"/>
                  <a:pt x="45720" y="609600"/>
                </a:cubicBezTo>
                <a:cubicBezTo>
                  <a:pt x="30573" y="611283"/>
                  <a:pt x="15240" y="609600"/>
                  <a:pt x="0" y="609600"/>
                </a:cubicBezTo>
              </a:path>
            </a:pathLst>
          </a:custGeom>
          <a:noFill/>
          <a:ln w="635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8979858" y="3352800"/>
            <a:ext cx="30480" cy="248412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8023860" y="3903672"/>
            <a:ext cx="955998" cy="1300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659818" y="4968614"/>
            <a:ext cx="35052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28760" y="3672840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9128759" y="5057447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(n)</a:t>
            </a:r>
            <a:endParaRPr lang="en-US" sz="24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867400" y="4663440"/>
            <a:ext cx="929640" cy="61034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693920" y="4737679"/>
            <a:ext cx="2073918" cy="53610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434871" y="3984886"/>
            <a:ext cx="3332967" cy="41751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10353659" y="3352800"/>
            <a:ext cx="30480" cy="248412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/>
          <p:cNvSpPr/>
          <p:nvPr/>
        </p:nvSpPr>
        <p:spPr>
          <a:xfrm>
            <a:off x="9882499" y="4410194"/>
            <a:ext cx="452440" cy="3274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0590520" y="4402398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047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5" grpId="0"/>
      <p:bldP spid="19" grpId="0" animBg="1"/>
      <p:bldP spid="29" grpId="0" animBg="1"/>
      <p:bldP spid="30" grpId="0" animBg="1"/>
      <p:bldP spid="32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112BBC5-2BA2-4F7C-8F32-CBF2E742AC76}" type="slidenum">
              <a:rPr lang="en-US" altLang="en-US" sz="1400"/>
              <a:pPr eaLnBrk="1" hangingPunct="1"/>
              <a:t>16</a:t>
            </a:fld>
            <a:endParaRPr lang="en-US" altLang="en-US" sz="14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(2)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5" y="1598613"/>
            <a:ext cx="4924106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3.11: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 = 0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(j=1; j&lt;=n;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++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=1;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&lt;=j;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++)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(k=0; k&lt;n; k++)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A[k] = k;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285486" y="2015412"/>
            <a:ext cx="30480" cy="3821508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79614" y="2315074"/>
            <a:ext cx="3336352" cy="5490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23313" y="2245350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23286" y="5057447"/>
            <a:ext cx="2362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07384" y="4864063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292760" y="4737679"/>
            <a:ext cx="992726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24756" y="4563816"/>
            <a:ext cx="1590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 n times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00544" y="4663440"/>
            <a:ext cx="746760" cy="610348"/>
          </a:xfrm>
          <a:custGeom>
            <a:avLst/>
            <a:gdLst>
              <a:gd name="connsiteX0" fmla="*/ 472440 w 746760"/>
              <a:gd name="connsiteY0" fmla="*/ 0 h 610348"/>
              <a:gd name="connsiteX1" fmla="*/ 624840 w 746760"/>
              <a:gd name="connsiteY1" fmla="*/ 45720 h 610348"/>
              <a:gd name="connsiteX2" fmla="*/ 640080 w 746760"/>
              <a:gd name="connsiteY2" fmla="*/ 91440 h 610348"/>
              <a:gd name="connsiteX3" fmla="*/ 685800 w 746760"/>
              <a:gd name="connsiteY3" fmla="*/ 121920 h 610348"/>
              <a:gd name="connsiteX4" fmla="*/ 716280 w 746760"/>
              <a:gd name="connsiteY4" fmla="*/ 182880 h 610348"/>
              <a:gd name="connsiteX5" fmla="*/ 731520 w 746760"/>
              <a:gd name="connsiteY5" fmla="*/ 243840 h 610348"/>
              <a:gd name="connsiteX6" fmla="*/ 746760 w 746760"/>
              <a:gd name="connsiteY6" fmla="*/ 289560 h 610348"/>
              <a:gd name="connsiteX7" fmla="*/ 731520 w 746760"/>
              <a:gd name="connsiteY7" fmla="*/ 365760 h 610348"/>
              <a:gd name="connsiteX8" fmla="*/ 716280 w 746760"/>
              <a:gd name="connsiteY8" fmla="*/ 411480 h 610348"/>
              <a:gd name="connsiteX9" fmla="*/ 670560 w 746760"/>
              <a:gd name="connsiteY9" fmla="*/ 426720 h 610348"/>
              <a:gd name="connsiteX10" fmla="*/ 624840 w 746760"/>
              <a:gd name="connsiteY10" fmla="*/ 457200 h 610348"/>
              <a:gd name="connsiteX11" fmla="*/ 441960 w 746760"/>
              <a:gd name="connsiteY11" fmla="*/ 502920 h 610348"/>
              <a:gd name="connsiteX12" fmla="*/ 396240 w 746760"/>
              <a:gd name="connsiteY12" fmla="*/ 533400 h 610348"/>
              <a:gd name="connsiteX13" fmla="*/ 228600 w 746760"/>
              <a:gd name="connsiteY13" fmla="*/ 563880 h 610348"/>
              <a:gd name="connsiteX14" fmla="*/ 45720 w 746760"/>
              <a:gd name="connsiteY14" fmla="*/ 609600 h 610348"/>
              <a:gd name="connsiteX15" fmla="*/ 0 w 746760"/>
              <a:gd name="connsiteY15" fmla="*/ 609600 h 61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6760" h="610348">
                <a:moveTo>
                  <a:pt x="472440" y="0"/>
                </a:moveTo>
                <a:cubicBezTo>
                  <a:pt x="510518" y="7616"/>
                  <a:pt x="593182" y="19338"/>
                  <a:pt x="624840" y="45720"/>
                </a:cubicBezTo>
                <a:cubicBezTo>
                  <a:pt x="637181" y="56004"/>
                  <a:pt x="630045" y="78896"/>
                  <a:pt x="640080" y="91440"/>
                </a:cubicBezTo>
                <a:cubicBezTo>
                  <a:pt x="651522" y="105743"/>
                  <a:pt x="670560" y="111760"/>
                  <a:pt x="685800" y="121920"/>
                </a:cubicBezTo>
                <a:cubicBezTo>
                  <a:pt x="695960" y="142240"/>
                  <a:pt x="708303" y="161608"/>
                  <a:pt x="716280" y="182880"/>
                </a:cubicBezTo>
                <a:cubicBezTo>
                  <a:pt x="723634" y="202492"/>
                  <a:pt x="725766" y="223701"/>
                  <a:pt x="731520" y="243840"/>
                </a:cubicBezTo>
                <a:cubicBezTo>
                  <a:pt x="735933" y="259286"/>
                  <a:pt x="741680" y="274320"/>
                  <a:pt x="746760" y="289560"/>
                </a:cubicBezTo>
                <a:cubicBezTo>
                  <a:pt x="741680" y="314960"/>
                  <a:pt x="737802" y="340630"/>
                  <a:pt x="731520" y="365760"/>
                </a:cubicBezTo>
                <a:cubicBezTo>
                  <a:pt x="727624" y="381345"/>
                  <a:pt x="727639" y="400121"/>
                  <a:pt x="716280" y="411480"/>
                </a:cubicBezTo>
                <a:cubicBezTo>
                  <a:pt x="704921" y="422839"/>
                  <a:pt x="684928" y="419536"/>
                  <a:pt x="670560" y="426720"/>
                </a:cubicBezTo>
                <a:cubicBezTo>
                  <a:pt x="654177" y="434911"/>
                  <a:pt x="641578" y="449761"/>
                  <a:pt x="624840" y="457200"/>
                </a:cubicBezTo>
                <a:cubicBezTo>
                  <a:pt x="552387" y="489401"/>
                  <a:pt x="518636" y="490141"/>
                  <a:pt x="441960" y="502920"/>
                </a:cubicBezTo>
                <a:cubicBezTo>
                  <a:pt x="426720" y="513080"/>
                  <a:pt x="413075" y="526185"/>
                  <a:pt x="396240" y="533400"/>
                </a:cubicBezTo>
                <a:cubicBezTo>
                  <a:pt x="360312" y="548798"/>
                  <a:pt x="253321" y="560348"/>
                  <a:pt x="228600" y="563880"/>
                </a:cubicBezTo>
                <a:cubicBezTo>
                  <a:pt x="139852" y="593463"/>
                  <a:pt x="138069" y="599339"/>
                  <a:pt x="45720" y="609600"/>
                </a:cubicBezTo>
                <a:cubicBezTo>
                  <a:pt x="30573" y="611283"/>
                  <a:pt x="15240" y="609600"/>
                  <a:pt x="0" y="609600"/>
                </a:cubicBezTo>
              </a:path>
            </a:pathLst>
          </a:custGeom>
          <a:noFill/>
          <a:ln w="635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7468304" y="2245350"/>
            <a:ext cx="53227" cy="359157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148264" y="4968614"/>
            <a:ext cx="35052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17205" y="4854517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(n)</a:t>
            </a:r>
            <a:endParaRPr lang="en-US" sz="24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765268" y="4026276"/>
            <a:ext cx="2536147" cy="3825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23313" y="3871144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014" y="2907638"/>
            <a:ext cx="516984" cy="748470"/>
          </a:xfrm>
          <a:prstGeom prst="rect">
            <a:avLst/>
          </a:prstGeom>
        </p:spPr>
      </p:pic>
      <p:sp>
        <p:nvSpPr>
          <p:cNvPr id="30" name="Right Brace 29"/>
          <p:cNvSpPr/>
          <p:nvPr/>
        </p:nvSpPr>
        <p:spPr>
          <a:xfrm>
            <a:off x="5078139" y="2845533"/>
            <a:ext cx="149182" cy="8273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19" name="Oval 64518"/>
          <p:cNvSpPr/>
          <p:nvPr/>
        </p:nvSpPr>
        <p:spPr>
          <a:xfrm>
            <a:off x="2425959" y="2707015"/>
            <a:ext cx="357970" cy="574858"/>
          </a:xfrm>
          <a:prstGeom prst="ellipse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546450" y="3134795"/>
            <a:ext cx="357970" cy="574858"/>
          </a:xfrm>
          <a:prstGeom prst="ellipse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1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  <p:bldP spid="12" grpId="0" animBg="1"/>
      <p:bldP spid="17" grpId="0" animBg="1"/>
      <p:bldP spid="28" grpId="0" animBg="1"/>
      <p:bldP spid="30" grpId="0" animBg="1"/>
      <p:bldP spid="64519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112BBC5-2BA2-4F7C-8F32-CBF2E742AC76}" type="slidenum">
              <a:rPr lang="en-US" altLang="en-US" sz="1400"/>
              <a:pPr eaLnBrk="1" hangingPunct="1"/>
              <a:t>17</a:t>
            </a:fld>
            <a:endParaRPr lang="en-US" altLang="en-US" sz="14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(2)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881713" y="1660184"/>
            <a:ext cx="5407120" cy="4570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for (j=1; j&lt;=n; 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</a:p>
          <a:p>
            <a:pPr marL="609600" indent="-60960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	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for (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=1; 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&lt;=j; 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++)</a:t>
            </a:r>
          </a:p>
          <a:p>
            <a:pPr marL="609600" indent="-609600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 b="1" dirty="0" smtClean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    		sum++;</a:t>
            </a:r>
          </a:p>
          <a:p>
            <a:pPr marL="609600" indent="-609600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 b="1" dirty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0742" y="2863440"/>
            <a:ext cx="429209" cy="5225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3091" y="1467986"/>
            <a:ext cx="540711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Outer loop (1) Executes n times</a:t>
            </a:r>
            <a:endParaRPr lang="en-US" sz="2800" dirty="0"/>
          </a:p>
        </p:txBody>
      </p:sp>
      <p:sp>
        <p:nvSpPr>
          <p:cNvPr id="34" name="TextBox 33"/>
          <p:cNvSpPr txBox="1"/>
          <p:nvPr/>
        </p:nvSpPr>
        <p:spPr>
          <a:xfrm>
            <a:off x="5393091" y="2121833"/>
            <a:ext cx="6798909" cy="31085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Inner loop (2) Executes j times depending on outer loop counter, j.</a:t>
            </a:r>
          </a:p>
          <a:p>
            <a:r>
              <a:rPr lang="en-US" sz="2800" dirty="0" smtClean="0"/>
              <a:t>j changes (increases) at each iteration</a:t>
            </a:r>
          </a:p>
          <a:p>
            <a:r>
              <a:rPr lang="en-US" sz="2800" dirty="0" smtClean="0"/>
              <a:t>Initially j is 1</a:t>
            </a:r>
          </a:p>
          <a:p>
            <a:r>
              <a:rPr lang="en-US" sz="2800" dirty="0" smtClean="0"/>
              <a:t>Then j is 2</a:t>
            </a:r>
          </a:p>
          <a:p>
            <a:r>
              <a:rPr lang="en-US" sz="2800" dirty="0" smtClean="0"/>
              <a:t>…</a:t>
            </a:r>
          </a:p>
          <a:p>
            <a:r>
              <a:rPr lang="en-US" sz="2800" dirty="0" smtClean="0"/>
              <a:t>Finally,  j is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" y="1441225"/>
            <a:ext cx="36740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1</a:t>
            </a:r>
            <a:endParaRPr lang="en-US" sz="2800" dirty="0"/>
          </a:p>
        </p:txBody>
      </p:sp>
      <p:sp>
        <p:nvSpPr>
          <p:cNvPr id="36" name="TextBox 35"/>
          <p:cNvSpPr txBox="1"/>
          <p:nvPr/>
        </p:nvSpPr>
        <p:spPr>
          <a:xfrm>
            <a:off x="303215" y="2172270"/>
            <a:ext cx="36740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2</a:t>
            </a:r>
            <a:endParaRPr lang="en-US" sz="2800" dirty="0"/>
          </a:p>
        </p:txBody>
      </p:sp>
      <p:sp>
        <p:nvSpPr>
          <p:cNvPr id="39" name="TextBox 38"/>
          <p:cNvSpPr txBox="1"/>
          <p:nvPr/>
        </p:nvSpPr>
        <p:spPr>
          <a:xfrm>
            <a:off x="303215" y="2863440"/>
            <a:ext cx="36740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215" y="3695563"/>
            <a:ext cx="469166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How many times Line 3 is executed?</a:t>
            </a:r>
            <a:endParaRPr lang="en-US" sz="2400" dirty="0"/>
          </a:p>
        </p:txBody>
      </p:sp>
      <p:sp>
        <p:nvSpPr>
          <p:cNvPr id="64512" name="TextBox 64511"/>
          <p:cNvSpPr txBox="1"/>
          <p:nvPr/>
        </p:nvSpPr>
        <p:spPr>
          <a:xfrm>
            <a:off x="303215" y="4702629"/>
            <a:ext cx="4691669" cy="18158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1+2+ … + n = n(n+1)/2.</a:t>
            </a:r>
          </a:p>
          <a:p>
            <a:r>
              <a:rPr lang="en-US" sz="2800" dirty="0" smtClean="0"/>
              <a:t>So, cost for Line 3 is c</a:t>
            </a:r>
            <a:r>
              <a:rPr lang="en-US" sz="2800" dirty="0"/>
              <a:t> n(n+1)/2</a:t>
            </a:r>
            <a:endParaRPr lang="en-US" sz="2800" dirty="0" smtClean="0"/>
          </a:p>
          <a:p>
            <a:r>
              <a:rPr lang="en-US" sz="2800" dirty="0" smtClean="0"/>
              <a:t>= cn^2/2 </a:t>
            </a:r>
            <a:r>
              <a:rPr lang="en-US" sz="2800" dirty="0"/>
              <a:t>+ </a:t>
            </a:r>
            <a:r>
              <a:rPr lang="en-US" sz="2800" dirty="0" err="1" smtClean="0"/>
              <a:t>cn</a:t>
            </a:r>
            <a:r>
              <a:rPr lang="en-US" sz="2800" dirty="0" smtClean="0"/>
              <a:t>/2, </a:t>
            </a:r>
          </a:p>
          <a:p>
            <a:r>
              <a:rPr lang="en-US" sz="2800" dirty="0" smtClean="0"/>
              <a:t>which is in </a:t>
            </a:r>
            <a:r>
              <a:rPr lang="en-US" altLang="en-US" sz="2800" dirty="0" smtClean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800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 smtClean="0">
                <a:latin typeface="Helvetica" panose="020B0604020202020204" pitchFamily="34" charset="0"/>
                <a:sym typeface="Symbol" panose="05050102010706020507" pitchFamily="18" charset="2"/>
              </a:rPr>
              <a:t>n^2).</a:t>
            </a:r>
            <a:r>
              <a:rPr lang="en-US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57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112BBC5-2BA2-4F7C-8F32-CBF2E742AC76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(2)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5" y="1598613"/>
            <a:ext cx="4924106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3.11: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 = 0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(j=1; j&lt;=n;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++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=1;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&lt;=j;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++)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(k=0; k&lt;n; k++)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A[k] = k;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285486" y="2015412"/>
            <a:ext cx="30480" cy="3821508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79614" y="2315074"/>
            <a:ext cx="3336352" cy="5490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23313" y="2245350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23286" y="5057447"/>
            <a:ext cx="2362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07384" y="4864063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292760" y="4737679"/>
            <a:ext cx="992726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24756" y="4563816"/>
            <a:ext cx="1590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 n times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00544" y="4663440"/>
            <a:ext cx="746760" cy="610348"/>
          </a:xfrm>
          <a:custGeom>
            <a:avLst/>
            <a:gdLst>
              <a:gd name="connsiteX0" fmla="*/ 472440 w 746760"/>
              <a:gd name="connsiteY0" fmla="*/ 0 h 610348"/>
              <a:gd name="connsiteX1" fmla="*/ 624840 w 746760"/>
              <a:gd name="connsiteY1" fmla="*/ 45720 h 610348"/>
              <a:gd name="connsiteX2" fmla="*/ 640080 w 746760"/>
              <a:gd name="connsiteY2" fmla="*/ 91440 h 610348"/>
              <a:gd name="connsiteX3" fmla="*/ 685800 w 746760"/>
              <a:gd name="connsiteY3" fmla="*/ 121920 h 610348"/>
              <a:gd name="connsiteX4" fmla="*/ 716280 w 746760"/>
              <a:gd name="connsiteY4" fmla="*/ 182880 h 610348"/>
              <a:gd name="connsiteX5" fmla="*/ 731520 w 746760"/>
              <a:gd name="connsiteY5" fmla="*/ 243840 h 610348"/>
              <a:gd name="connsiteX6" fmla="*/ 746760 w 746760"/>
              <a:gd name="connsiteY6" fmla="*/ 289560 h 610348"/>
              <a:gd name="connsiteX7" fmla="*/ 731520 w 746760"/>
              <a:gd name="connsiteY7" fmla="*/ 365760 h 610348"/>
              <a:gd name="connsiteX8" fmla="*/ 716280 w 746760"/>
              <a:gd name="connsiteY8" fmla="*/ 411480 h 610348"/>
              <a:gd name="connsiteX9" fmla="*/ 670560 w 746760"/>
              <a:gd name="connsiteY9" fmla="*/ 426720 h 610348"/>
              <a:gd name="connsiteX10" fmla="*/ 624840 w 746760"/>
              <a:gd name="connsiteY10" fmla="*/ 457200 h 610348"/>
              <a:gd name="connsiteX11" fmla="*/ 441960 w 746760"/>
              <a:gd name="connsiteY11" fmla="*/ 502920 h 610348"/>
              <a:gd name="connsiteX12" fmla="*/ 396240 w 746760"/>
              <a:gd name="connsiteY12" fmla="*/ 533400 h 610348"/>
              <a:gd name="connsiteX13" fmla="*/ 228600 w 746760"/>
              <a:gd name="connsiteY13" fmla="*/ 563880 h 610348"/>
              <a:gd name="connsiteX14" fmla="*/ 45720 w 746760"/>
              <a:gd name="connsiteY14" fmla="*/ 609600 h 610348"/>
              <a:gd name="connsiteX15" fmla="*/ 0 w 746760"/>
              <a:gd name="connsiteY15" fmla="*/ 609600 h 61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6760" h="610348">
                <a:moveTo>
                  <a:pt x="472440" y="0"/>
                </a:moveTo>
                <a:cubicBezTo>
                  <a:pt x="510518" y="7616"/>
                  <a:pt x="593182" y="19338"/>
                  <a:pt x="624840" y="45720"/>
                </a:cubicBezTo>
                <a:cubicBezTo>
                  <a:pt x="637181" y="56004"/>
                  <a:pt x="630045" y="78896"/>
                  <a:pt x="640080" y="91440"/>
                </a:cubicBezTo>
                <a:cubicBezTo>
                  <a:pt x="651522" y="105743"/>
                  <a:pt x="670560" y="111760"/>
                  <a:pt x="685800" y="121920"/>
                </a:cubicBezTo>
                <a:cubicBezTo>
                  <a:pt x="695960" y="142240"/>
                  <a:pt x="708303" y="161608"/>
                  <a:pt x="716280" y="182880"/>
                </a:cubicBezTo>
                <a:cubicBezTo>
                  <a:pt x="723634" y="202492"/>
                  <a:pt x="725766" y="223701"/>
                  <a:pt x="731520" y="243840"/>
                </a:cubicBezTo>
                <a:cubicBezTo>
                  <a:pt x="735933" y="259286"/>
                  <a:pt x="741680" y="274320"/>
                  <a:pt x="746760" y="289560"/>
                </a:cubicBezTo>
                <a:cubicBezTo>
                  <a:pt x="741680" y="314960"/>
                  <a:pt x="737802" y="340630"/>
                  <a:pt x="731520" y="365760"/>
                </a:cubicBezTo>
                <a:cubicBezTo>
                  <a:pt x="727624" y="381345"/>
                  <a:pt x="727639" y="400121"/>
                  <a:pt x="716280" y="411480"/>
                </a:cubicBezTo>
                <a:cubicBezTo>
                  <a:pt x="704921" y="422839"/>
                  <a:pt x="684928" y="419536"/>
                  <a:pt x="670560" y="426720"/>
                </a:cubicBezTo>
                <a:cubicBezTo>
                  <a:pt x="654177" y="434911"/>
                  <a:pt x="641578" y="449761"/>
                  <a:pt x="624840" y="457200"/>
                </a:cubicBezTo>
                <a:cubicBezTo>
                  <a:pt x="552387" y="489401"/>
                  <a:pt x="518636" y="490141"/>
                  <a:pt x="441960" y="502920"/>
                </a:cubicBezTo>
                <a:cubicBezTo>
                  <a:pt x="426720" y="513080"/>
                  <a:pt x="413075" y="526185"/>
                  <a:pt x="396240" y="533400"/>
                </a:cubicBezTo>
                <a:cubicBezTo>
                  <a:pt x="360312" y="548798"/>
                  <a:pt x="253321" y="560348"/>
                  <a:pt x="228600" y="563880"/>
                </a:cubicBezTo>
                <a:cubicBezTo>
                  <a:pt x="139852" y="593463"/>
                  <a:pt x="138069" y="599339"/>
                  <a:pt x="45720" y="609600"/>
                </a:cubicBezTo>
                <a:cubicBezTo>
                  <a:pt x="30573" y="611283"/>
                  <a:pt x="15240" y="609600"/>
                  <a:pt x="0" y="609600"/>
                </a:cubicBezTo>
              </a:path>
            </a:pathLst>
          </a:custGeom>
          <a:noFill/>
          <a:ln w="635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7500421" y="2245350"/>
            <a:ext cx="21111" cy="359157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148264" y="4968614"/>
            <a:ext cx="35052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17206" y="3504891"/>
            <a:ext cx="110479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(n^2)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7617205" y="4854517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(n)</a:t>
            </a:r>
            <a:endParaRPr lang="en-US" sz="24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765268" y="4026276"/>
            <a:ext cx="2536147" cy="3825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23313" y="3871144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sp>
        <p:nvSpPr>
          <p:cNvPr id="30" name="Right Brace 29"/>
          <p:cNvSpPr/>
          <p:nvPr/>
        </p:nvSpPr>
        <p:spPr>
          <a:xfrm>
            <a:off x="5078139" y="2845533"/>
            <a:ext cx="149182" cy="8273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/>
          <p:cNvSpPr/>
          <p:nvPr/>
        </p:nvSpPr>
        <p:spPr>
          <a:xfrm>
            <a:off x="5542384" y="3247053"/>
            <a:ext cx="653143" cy="541176"/>
          </a:xfrm>
          <a:custGeom>
            <a:avLst/>
            <a:gdLst>
              <a:gd name="connsiteX0" fmla="*/ 0 w 653143"/>
              <a:gd name="connsiteY0" fmla="*/ 0 h 541176"/>
              <a:gd name="connsiteX1" fmla="*/ 447869 w 653143"/>
              <a:gd name="connsiteY1" fmla="*/ 18661 h 541176"/>
              <a:gd name="connsiteX2" fmla="*/ 503853 w 653143"/>
              <a:gd name="connsiteY2" fmla="*/ 37323 h 541176"/>
              <a:gd name="connsiteX3" fmla="*/ 615820 w 653143"/>
              <a:gd name="connsiteY3" fmla="*/ 186612 h 541176"/>
              <a:gd name="connsiteX4" fmla="*/ 634481 w 653143"/>
              <a:gd name="connsiteY4" fmla="*/ 242596 h 541176"/>
              <a:gd name="connsiteX5" fmla="*/ 653143 w 653143"/>
              <a:gd name="connsiteY5" fmla="*/ 541176 h 54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143" h="541176">
                <a:moveTo>
                  <a:pt x="0" y="0"/>
                </a:moveTo>
                <a:cubicBezTo>
                  <a:pt x="149290" y="6220"/>
                  <a:pt x="298858" y="7623"/>
                  <a:pt x="447869" y="18661"/>
                </a:cubicBezTo>
                <a:cubicBezTo>
                  <a:pt x="467486" y="20114"/>
                  <a:pt x="489944" y="23414"/>
                  <a:pt x="503853" y="37323"/>
                </a:cubicBezTo>
                <a:cubicBezTo>
                  <a:pt x="547838" y="81308"/>
                  <a:pt x="615820" y="186612"/>
                  <a:pt x="615820" y="186612"/>
                </a:cubicBezTo>
                <a:cubicBezTo>
                  <a:pt x="622040" y="205273"/>
                  <a:pt x="632422" y="223033"/>
                  <a:pt x="634481" y="242596"/>
                </a:cubicBezTo>
                <a:cubicBezTo>
                  <a:pt x="644920" y="341769"/>
                  <a:pt x="653143" y="541176"/>
                  <a:pt x="653143" y="541176"/>
                </a:cubicBezTo>
              </a:path>
            </a:pathLst>
          </a:custGeom>
          <a:noFill/>
          <a:ln w="63500"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6531429" y="3517641"/>
            <a:ext cx="936875" cy="3661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6519659" y="2545298"/>
            <a:ext cx="992726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612" y="2358770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sp>
        <p:nvSpPr>
          <p:cNvPr id="18" name="Right Brace 17"/>
          <p:cNvSpPr/>
          <p:nvPr/>
        </p:nvSpPr>
        <p:spPr>
          <a:xfrm>
            <a:off x="8561611" y="2015412"/>
            <a:ext cx="545067" cy="37065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429805" y="3602863"/>
            <a:ext cx="110479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(n^2)</a:t>
            </a:r>
            <a:endParaRPr lang="en-US" sz="2400" dirty="0"/>
          </a:p>
        </p:txBody>
      </p:sp>
      <p:sp>
        <p:nvSpPr>
          <p:cNvPr id="4" name="Right Brace 3"/>
          <p:cNvSpPr/>
          <p:nvPr/>
        </p:nvSpPr>
        <p:spPr>
          <a:xfrm>
            <a:off x="6312312" y="3247053"/>
            <a:ext cx="219117" cy="10857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4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D2A3DDE-478F-4FC8-B412-8EC82696F9A2}" type="slidenum">
              <a:rPr lang="en-US" altLang="en-US" sz="1400"/>
              <a:pPr eaLnBrk="1" hangingPunct="1"/>
              <a:t>19</a:t>
            </a:fld>
            <a:endParaRPr lang="en-US" altLang="en-US" sz="140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(3)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765" y="1279525"/>
            <a:ext cx="5260941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3.12: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sum1 = 0;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=1;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++)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for (j=1; j&lt;=n;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sum1++;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sum2 = 0;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=1;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++)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for (j=1; j&lt;=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sum2++;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549226" y="1653977"/>
            <a:ext cx="30480" cy="3821508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Brace 5"/>
          <p:cNvSpPr/>
          <p:nvPr/>
        </p:nvSpPr>
        <p:spPr>
          <a:xfrm>
            <a:off x="5192589" y="2193925"/>
            <a:ext cx="149182" cy="8273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5124894" y="3693473"/>
            <a:ext cx="149182" cy="8273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4534676" y="30212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4519127" y="453590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720539" y="3032715"/>
            <a:ext cx="110479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(n^2)</a:t>
            </a:r>
            <a:endParaRPr 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5704990" y="4520780"/>
            <a:ext cx="110479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(n^2)</a:t>
            </a:r>
            <a:endParaRPr lang="en-US" sz="24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966162" y="3322415"/>
            <a:ext cx="1151471" cy="78471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966162" y="4107126"/>
            <a:ext cx="1114148" cy="67109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36692" y="3876293"/>
            <a:ext cx="110479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(n^2)</a:t>
            </a:r>
            <a:endParaRPr lang="en-US" sz="2400" dirty="0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8049830" y="1782719"/>
            <a:ext cx="30480" cy="3821508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80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D8B264B-C438-4D1A-AAE8-796F26035AC2}" type="slidenum">
              <a:rPr lang="en-US" altLang="en-US" sz="1400"/>
              <a:pPr eaLnBrk="1" hangingPunct="1"/>
              <a:t>20</a:t>
            </a:fld>
            <a:endParaRPr lang="en-US" altLang="en-US" sz="14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(4)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3" y="1598613"/>
            <a:ext cx="4906378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3.13: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sum1 = 0;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for (j=1; j&lt;=n;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sum1++;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sum2 = 0;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for (j=1; j&lt;=k;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sum2++;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5001211" y="2666669"/>
            <a:ext cx="668545" cy="52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001211" y="4316013"/>
            <a:ext cx="668545" cy="52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49" y="3648285"/>
            <a:ext cx="922427" cy="133545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335260" y="4088970"/>
            <a:ext cx="1106111" cy="520351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638111" y="4508520"/>
            <a:ext cx="1106111" cy="520351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48" y="2209955"/>
            <a:ext cx="922427" cy="1335455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414091" y="2373841"/>
            <a:ext cx="1106111" cy="520351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0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D8B264B-C438-4D1A-AAE8-796F26035AC2}" type="slidenum">
              <a:rPr lang="en-US" altLang="en-US" sz="1400"/>
              <a:pPr eaLnBrk="1" hangingPunct="1"/>
              <a:t>21</a:t>
            </a:fld>
            <a:endParaRPr lang="en-US" altLang="en-US" sz="14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(4)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3" y="1598613"/>
            <a:ext cx="4906378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Example 3.13: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sum1 = 0;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for (j=1; j&lt;=n;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sum1++;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 smtClean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sum2 = 0;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for (j=1; j&lt;=k;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sum2++;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709160" y="1950720"/>
            <a:ext cx="929640" cy="71628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38800" y="1598613"/>
            <a:ext cx="348903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How many times this loop iterates?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181" y="2092543"/>
            <a:ext cx="4582858" cy="2031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Assume n is a power of 2.</a:t>
            </a:r>
          </a:p>
          <a:p>
            <a:r>
              <a:rPr lang="en-US" dirty="0"/>
              <a:t>Suppose we reach n at the </a:t>
            </a:r>
            <a:r>
              <a:rPr lang="en-US" dirty="0" err="1"/>
              <a:t>mth</a:t>
            </a:r>
            <a:r>
              <a:rPr lang="en-US" dirty="0"/>
              <a:t> iteration </a:t>
            </a:r>
          </a:p>
          <a:p>
            <a:r>
              <a:rPr lang="en-US" dirty="0"/>
              <a:t>n = 2^m</a:t>
            </a:r>
          </a:p>
          <a:p>
            <a:r>
              <a:rPr lang="en-US" dirty="0"/>
              <a:t>log_2 n = m.</a:t>
            </a:r>
          </a:p>
          <a:p>
            <a:r>
              <a:rPr lang="en-US" dirty="0"/>
              <a:t>Since we start at 1 = 2^0. total iteration is</a:t>
            </a:r>
          </a:p>
          <a:p>
            <a:r>
              <a:rPr lang="en-US" dirty="0"/>
              <a:t>log n + </a:t>
            </a:r>
            <a:r>
              <a:rPr lang="en-US" dirty="0" smtClean="0"/>
              <a:t>1 </a:t>
            </a:r>
            <a:r>
              <a:rPr lang="en-US" dirty="0"/>
              <a:t>[we will usually assume the base is 2</a:t>
            </a:r>
            <a:r>
              <a:rPr lang="en-US" dirty="0" smtClean="0"/>
              <a:t>],</a:t>
            </a:r>
          </a:p>
          <a:p>
            <a:r>
              <a:rPr lang="en-US" dirty="0" smtClean="0"/>
              <a:t>which is in: 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(log n)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709160" y="1967945"/>
            <a:ext cx="929640" cy="274687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72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D8B264B-C438-4D1A-AAE8-796F26035AC2}" type="slidenum">
              <a:rPr lang="en-US" altLang="en-US" sz="1400"/>
              <a:pPr eaLnBrk="1" hangingPunct="1"/>
              <a:t>22</a:t>
            </a:fld>
            <a:endParaRPr lang="en-US" altLang="en-US" sz="14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(4)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2" y="1214278"/>
            <a:ext cx="5406807" cy="5293201"/>
          </a:xfrm>
        </p:spPr>
        <p:txBody>
          <a:bodyPr>
            <a:normAutofit fontScale="25000" lnSpcReduction="20000"/>
          </a:bodyPr>
          <a:lstStyle/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sum1 = 0;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for 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(j=1; j&lt;=n; </a:t>
            </a:r>
            <a:r>
              <a:rPr lang="en-US" altLang="en-US" sz="9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   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	sum1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sum2 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= 0;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	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for 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(j=1; j&lt;=k; </a:t>
            </a:r>
            <a:r>
              <a:rPr lang="en-US" altLang="en-US" sz="9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   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	sum2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5285486" y="1680977"/>
            <a:ext cx="2794" cy="427786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949134" y="1680977"/>
            <a:ext cx="3336352" cy="5490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01639" y="1468583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992880" y="2316480"/>
            <a:ext cx="1292606" cy="152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419600" y="2897081"/>
            <a:ext cx="865886" cy="152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636520" y="3505200"/>
            <a:ext cx="2648966" cy="3548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01638" y="3337308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580095" y="5856756"/>
            <a:ext cx="2648966" cy="3548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45213" y="5688864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5384253" y="2194540"/>
            <a:ext cx="2355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Repeats log n + 1 times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384253" y="2712690"/>
            <a:ext cx="1733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Repeats n  times</a:t>
            </a:r>
            <a:endParaRPr lang="en-US" dirty="0"/>
          </a:p>
        </p:txBody>
      </p:sp>
      <p:sp>
        <p:nvSpPr>
          <p:cNvPr id="26" name="Freeform 25"/>
          <p:cNvSpPr/>
          <p:nvPr/>
        </p:nvSpPr>
        <p:spPr>
          <a:xfrm>
            <a:off x="6400800" y="2743200"/>
            <a:ext cx="1813560" cy="975360"/>
          </a:xfrm>
          <a:custGeom>
            <a:avLst/>
            <a:gdLst>
              <a:gd name="connsiteX0" fmla="*/ 1402080 w 1813560"/>
              <a:gd name="connsiteY0" fmla="*/ 0 h 975360"/>
              <a:gd name="connsiteX1" fmla="*/ 1524000 w 1813560"/>
              <a:gd name="connsiteY1" fmla="*/ 15240 h 975360"/>
              <a:gd name="connsiteX2" fmla="*/ 1661160 w 1813560"/>
              <a:gd name="connsiteY2" fmla="*/ 121920 h 975360"/>
              <a:gd name="connsiteX3" fmla="*/ 1737360 w 1813560"/>
              <a:gd name="connsiteY3" fmla="*/ 182880 h 975360"/>
              <a:gd name="connsiteX4" fmla="*/ 1798320 w 1813560"/>
              <a:gd name="connsiteY4" fmla="*/ 274320 h 975360"/>
              <a:gd name="connsiteX5" fmla="*/ 1813560 w 1813560"/>
              <a:gd name="connsiteY5" fmla="*/ 320040 h 975360"/>
              <a:gd name="connsiteX6" fmla="*/ 1798320 w 1813560"/>
              <a:gd name="connsiteY6" fmla="*/ 533400 h 975360"/>
              <a:gd name="connsiteX7" fmla="*/ 1737360 w 1813560"/>
              <a:gd name="connsiteY7" fmla="*/ 594360 h 975360"/>
              <a:gd name="connsiteX8" fmla="*/ 1661160 w 1813560"/>
              <a:gd name="connsiteY8" fmla="*/ 685800 h 975360"/>
              <a:gd name="connsiteX9" fmla="*/ 1645920 w 1813560"/>
              <a:gd name="connsiteY9" fmla="*/ 731520 h 975360"/>
              <a:gd name="connsiteX10" fmla="*/ 1600200 w 1813560"/>
              <a:gd name="connsiteY10" fmla="*/ 746760 h 975360"/>
              <a:gd name="connsiteX11" fmla="*/ 1539240 w 1813560"/>
              <a:gd name="connsiteY11" fmla="*/ 792480 h 975360"/>
              <a:gd name="connsiteX12" fmla="*/ 1447800 w 1813560"/>
              <a:gd name="connsiteY12" fmla="*/ 822960 h 975360"/>
              <a:gd name="connsiteX13" fmla="*/ 1341120 w 1813560"/>
              <a:gd name="connsiteY13" fmla="*/ 914400 h 975360"/>
              <a:gd name="connsiteX14" fmla="*/ 1280160 w 1813560"/>
              <a:gd name="connsiteY14" fmla="*/ 929640 h 975360"/>
              <a:gd name="connsiteX15" fmla="*/ 1234440 w 1813560"/>
              <a:gd name="connsiteY15" fmla="*/ 944880 h 975360"/>
              <a:gd name="connsiteX16" fmla="*/ 1127760 w 1813560"/>
              <a:gd name="connsiteY16" fmla="*/ 975360 h 975360"/>
              <a:gd name="connsiteX17" fmla="*/ 822960 w 1813560"/>
              <a:gd name="connsiteY17" fmla="*/ 960120 h 975360"/>
              <a:gd name="connsiteX18" fmla="*/ 762000 w 1813560"/>
              <a:gd name="connsiteY18" fmla="*/ 944880 h 975360"/>
              <a:gd name="connsiteX19" fmla="*/ 0 w 1813560"/>
              <a:gd name="connsiteY19" fmla="*/ 92964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13560" h="975360">
                <a:moveTo>
                  <a:pt x="1402080" y="0"/>
                </a:moveTo>
                <a:cubicBezTo>
                  <a:pt x="1442720" y="5080"/>
                  <a:pt x="1486942" y="-2199"/>
                  <a:pt x="1524000" y="15240"/>
                </a:cubicBezTo>
                <a:cubicBezTo>
                  <a:pt x="1576408" y="39903"/>
                  <a:pt x="1629031" y="73727"/>
                  <a:pt x="1661160" y="121920"/>
                </a:cubicBezTo>
                <a:cubicBezTo>
                  <a:pt x="1700551" y="181006"/>
                  <a:pt x="1674264" y="161848"/>
                  <a:pt x="1737360" y="182880"/>
                </a:cubicBezTo>
                <a:cubicBezTo>
                  <a:pt x="1773597" y="291591"/>
                  <a:pt x="1722214" y="160162"/>
                  <a:pt x="1798320" y="274320"/>
                </a:cubicBezTo>
                <a:cubicBezTo>
                  <a:pt x="1807231" y="287686"/>
                  <a:pt x="1808480" y="304800"/>
                  <a:pt x="1813560" y="320040"/>
                </a:cubicBezTo>
                <a:cubicBezTo>
                  <a:pt x="1808480" y="391160"/>
                  <a:pt x="1817403" y="464700"/>
                  <a:pt x="1798320" y="533400"/>
                </a:cubicBezTo>
                <a:cubicBezTo>
                  <a:pt x="1790629" y="561088"/>
                  <a:pt x="1756062" y="572541"/>
                  <a:pt x="1737360" y="594360"/>
                </a:cubicBezTo>
                <a:cubicBezTo>
                  <a:pt x="1610054" y="742883"/>
                  <a:pt x="1819698" y="527262"/>
                  <a:pt x="1661160" y="685800"/>
                </a:cubicBezTo>
                <a:cubicBezTo>
                  <a:pt x="1656080" y="701040"/>
                  <a:pt x="1657279" y="720161"/>
                  <a:pt x="1645920" y="731520"/>
                </a:cubicBezTo>
                <a:cubicBezTo>
                  <a:pt x="1634561" y="742879"/>
                  <a:pt x="1614148" y="738790"/>
                  <a:pt x="1600200" y="746760"/>
                </a:cubicBezTo>
                <a:cubicBezTo>
                  <a:pt x="1578147" y="759362"/>
                  <a:pt x="1561958" y="781121"/>
                  <a:pt x="1539240" y="792480"/>
                </a:cubicBezTo>
                <a:cubicBezTo>
                  <a:pt x="1510503" y="806848"/>
                  <a:pt x="1447800" y="822960"/>
                  <a:pt x="1447800" y="822960"/>
                </a:cubicBezTo>
                <a:cubicBezTo>
                  <a:pt x="1417298" y="853462"/>
                  <a:pt x="1380221" y="894849"/>
                  <a:pt x="1341120" y="914400"/>
                </a:cubicBezTo>
                <a:cubicBezTo>
                  <a:pt x="1322386" y="923767"/>
                  <a:pt x="1300299" y="923886"/>
                  <a:pt x="1280160" y="929640"/>
                </a:cubicBezTo>
                <a:cubicBezTo>
                  <a:pt x="1264714" y="934053"/>
                  <a:pt x="1249886" y="940467"/>
                  <a:pt x="1234440" y="944880"/>
                </a:cubicBezTo>
                <a:cubicBezTo>
                  <a:pt x="1100487" y="983152"/>
                  <a:pt x="1237381" y="938820"/>
                  <a:pt x="1127760" y="975360"/>
                </a:cubicBezTo>
                <a:cubicBezTo>
                  <a:pt x="1026160" y="970280"/>
                  <a:pt x="924336" y="968568"/>
                  <a:pt x="822960" y="960120"/>
                </a:cubicBezTo>
                <a:cubicBezTo>
                  <a:pt x="802087" y="958381"/>
                  <a:pt x="782879" y="946550"/>
                  <a:pt x="762000" y="944880"/>
                </a:cubicBezTo>
                <a:cubicBezTo>
                  <a:pt x="483909" y="922633"/>
                  <a:pt x="287916" y="929640"/>
                  <a:pt x="0" y="92964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 rot="18709215">
            <a:off x="7463543" y="3192667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n(log n + 1) times</a:t>
            </a:r>
            <a:endParaRPr lang="en-US" dirty="0"/>
          </a:p>
        </p:txBody>
      </p:sp>
      <p:sp>
        <p:nvSpPr>
          <p:cNvPr id="31" name="Right Brace 30"/>
          <p:cNvSpPr/>
          <p:nvPr/>
        </p:nvSpPr>
        <p:spPr>
          <a:xfrm>
            <a:off x="7567598" y="2301260"/>
            <a:ext cx="172043" cy="866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/>
          <p:cNvSpPr/>
          <p:nvPr/>
        </p:nvSpPr>
        <p:spPr>
          <a:xfrm>
            <a:off x="5447467" y="4529480"/>
            <a:ext cx="172043" cy="866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09" y="4151205"/>
            <a:ext cx="922427" cy="1335455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2500951" y="4996200"/>
            <a:ext cx="1106111" cy="520351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7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444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444" y="1825625"/>
            <a:ext cx="5257800" cy="4351338"/>
          </a:xfrm>
        </p:spPr>
        <p:txBody>
          <a:bodyPr/>
          <a:lstStyle/>
          <a:p>
            <a:pPr marL="609600" indent="-609600">
              <a:lnSpc>
                <a:spcPct val="15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for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(j=1; j&lt;=k;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</a:t>
            </a:r>
            <a:r>
              <a:rPr lang="en-US" altLang="en-US" b="1" dirty="0" err="1" smtClean="0">
                <a:latin typeface="Courier New" panose="02070309020205020404" pitchFamily="49" charset="0"/>
                <a:sym typeface="Symbol" panose="05050102010706020507" pitchFamily="18" charset="2"/>
              </a:rPr>
              <a:t>++</a:t>
            </a: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	sum2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5465548" y="2849880"/>
            <a:ext cx="487680" cy="426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21144" y="1724412"/>
            <a:ext cx="6225872" cy="246221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200" dirty="0" smtClean="0"/>
              <a:t>Inner loop (2)</a:t>
            </a:r>
          </a:p>
          <a:p>
            <a:r>
              <a:rPr lang="en-US" sz="2200" dirty="0" smtClean="0"/>
              <a:t>Iteration 1: k = 1; executes 1 = 2^0 times</a:t>
            </a:r>
          </a:p>
          <a:p>
            <a:r>
              <a:rPr lang="en-US" sz="2200" dirty="0"/>
              <a:t>Iteration </a:t>
            </a:r>
            <a:r>
              <a:rPr lang="en-US" sz="2200" dirty="0" smtClean="0"/>
              <a:t>2: </a:t>
            </a:r>
            <a:r>
              <a:rPr lang="en-US" sz="2200" dirty="0"/>
              <a:t>k = </a:t>
            </a:r>
            <a:r>
              <a:rPr lang="en-US" sz="2200" dirty="0" smtClean="0"/>
              <a:t>2; executes 2 </a:t>
            </a:r>
            <a:r>
              <a:rPr lang="en-US" sz="2200" dirty="0"/>
              <a:t>= </a:t>
            </a:r>
            <a:r>
              <a:rPr lang="en-US" sz="2200" dirty="0" smtClean="0"/>
              <a:t>2^1 </a:t>
            </a:r>
            <a:r>
              <a:rPr lang="en-US" sz="2200" dirty="0"/>
              <a:t>times</a:t>
            </a:r>
          </a:p>
          <a:p>
            <a:r>
              <a:rPr lang="en-US" sz="2200" dirty="0"/>
              <a:t>Iteration </a:t>
            </a:r>
            <a:r>
              <a:rPr lang="en-US" sz="2200" dirty="0" smtClean="0"/>
              <a:t>3: k </a:t>
            </a:r>
            <a:r>
              <a:rPr lang="en-US" sz="2200" dirty="0"/>
              <a:t>= </a:t>
            </a:r>
            <a:r>
              <a:rPr lang="en-US" sz="2200" dirty="0" smtClean="0"/>
              <a:t>4: executes 4 </a:t>
            </a:r>
            <a:r>
              <a:rPr lang="en-US" sz="2200" dirty="0"/>
              <a:t>= </a:t>
            </a:r>
            <a:r>
              <a:rPr lang="en-US" sz="2200" dirty="0" smtClean="0"/>
              <a:t>2^2 times</a:t>
            </a:r>
          </a:p>
          <a:p>
            <a:r>
              <a:rPr lang="en-US" sz="2200" dirty="0"/>
              <a:t>Iteration </a:t>
            </a:r>
            <a:r>
              <a:rPr lang="en-US" sz="2200" dirty="0" smtClean="0"/>
              <a:t>4: k </a:t>
            </a:r>
            <a:r>
              <a:rPr lang="en-US" sz="2200" dirty="0"/>
              <a:t>= </a:t>
            </a:r>
            <a:r>
              <a:rPr lang="en-US" sz="2200" dirty="0" smtClean="0"/>
              <a:t>8: executes 8 </a:t>
            </a:r>
            <a:r>
              <a:rPr lang="en-US" sz="2200" dirty="0"/>
              <a:t>= </a:t>
            </a:r>
            <a:r>
              <a:rPr lang="en-US" sz="2200" dirty="0" smtClean="0"/>
              <a:t>2^3 </a:t>
            </a:r>
            <a:r>
              <a:rPr lang="en-US" sz="2200" dirty="0"/>
              <a:t>times</a:t>
            </a:r>
          </a:p>
          <a:p>
            <a:r>
              <a:rPr lang="en-US" sz="2200" dirty="0" smtClean="0"/>
              <a:t>…</a:t>
            </a:r>
          </a:p>
          <a:p>
            <a:r>
              <a:rPr lang="en-US" sz="2200" dirty="0"/>
              <a:t>Iteration </a:t>
            </a:r>
            <a:r>
              <a:rPr lang="en-US" sz="2200" dirty="0" smtClean="0"/>
              <a:t>log n + 1: k </a:t>
            </a:r>
            <a:r>
              <a:rPr lang="en-US" sz="2200" dirty="0"/>
              <a:t>= </a:t>
            </a:r>
            <a:r>
              <a:rPr lang="en-US" sz="2200" dirty="0" smtClean="0"/>
              <a:t>n; executes n </a:t>
            </a:r>
            <a:r>
              <a:rPr lang="en-US" sz="2200" dirty="0"/>
              <a:t>= </a:t>
            </a:r>
            <a:r>
              <a:rPr lang="en-US" sz="2200" dirty="0" smtClean="0"/>
              <a:t>2^{log n}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59" y="1959385"/>
            <a:ext cx="36740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1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14459" y="2690430"/>
            <a:ext cx="36740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2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3307884" y="3642360"/>
            <a:ext cx="34341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c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4459" y="3472656"/>
            <a:ext cx="36740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398190" y="4435792"/>
                <a:ext cx="6725534" cy="2267095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3600" dirty="0" smtClean="0"/>
                  <a:t>Total cost of Line 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(2.2</m:t>
                          </m:r>
                        </m:e>
                        <m:sup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−1)=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×(2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  <a:p>
                <a:r>
                  <a:rPr lang="en-GB"/>
                  <a:t> </a:t>
                </a:r>
                <a:endParaRPr lang="en-US"/>
              </a:p>
              <a:p>
                <a:r>
                  <a:rPr lang="en-GB"/>
                  <a:t> </a:t>
                </a:r>
                <a:r>
                  <a:rPr lang="en-US" sz="3600" smtClean="0"/>
                  <a:t>which is </a:t>
                </a:r>
                <a:r>
                  <a:rPr lang="en-US" altLang="en-US" sz="3600">
                    <a:latin typeface="Helvetica" panose="020B0604020202020204" pitchFamily="34" charset="0"/>
                    <a:sym typeface="Symbol" panose="05050102010706020507" pitchFamily="18" charset="2"/>
                  </a:rPr>
                  <a:t>(n</a:t>
                </a:r>
                <a:r>
                  <a:rPr lang="en-US" altLang="en-US" sz="3600" smtClean="0">
                    <a:latin typeface="Helvetica" panose="020B0604020202020204" pitchFamily="34" charset="0"/>
                    <a:sym typeface="Symbol" panose="05050102010706020507" pitchFamily="18" charset="2"/>
                  </a:rPr>
                  <a:t>)</a:t>
                </a:r>
                <a:r>
                  <a:rPr lang="en-US" altLang="en-US" sz="3600" smtClean="0">
                    <a:sym typeface="Symbol" panose="05050102010706020507" pitchFamily="18" charset="2"/>
                  </a:rPr>
                  <a:t>.</a:t>
                </a:r>
                <a:r>
                  <a:rPr lang="en-US" sz="3600" smtClean="0"/>
                  <a:t> </a:t>
                </a:r>
                <a:endParaRPr lang="en-US" sz="3600" dirty="0" smtClean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190" y="4435792"/>
                <a:ext cx="6725534" cy="2267095"/>
              </a:xfrm>
              <a:prstGeom prst="rect">
                <a:avLst/>
              </a:prstGeom>
              <a:blipFill>
                <a:blip r:embed="rId2"/>
                <a:stretch>
                  <a:fillRect l="-2622" t="-401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65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D8B264B-C438-4D1A-AAE8-796F26035AC2}" type="slidenum">
              <a:rPr lang="en-US" altLang="en-US" sz="1400"/>
              <a:pPr eaLnBrk="1" hangingPunct="1"/>
              <a:t>24</a:t>
            </a:fld>
            <a:endParaRPr lang="en-US" altLang="en-US" sz="14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Time Complexity Examples (4)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2" y="1214278"/>
            <a:ext cx="5406807" cy="5293201"/>
          </a:xfrm>
        </p:spPr>
        <p:txBody>
          <a:bodyPr>
            <a:normAutofit fontScale="25000" lnSpcReduction="20000"/>
          </a:bodyPr>
          <a:lstStyle/>
          <a:p>
            <a:pPr marL="609600" indent="-609600">
              <a:lnSpc>
                <a:spcPct val="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sum1 = 0;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for 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(j=1; j&lt;=n; </a:t>
            </a:r>
            <a:r>
              <a:rPr lang="en-US" altLang="en-US" sz="9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   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	sum1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sum2 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= 0;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for (k=1; k&lt;=n; k*=2)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	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for 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(j=1; j&lt;=k; </a:t>
            </a:r>
            <a:r>
              <a:rPr lang="en-US" altLang="en-US" sz="9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j++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   </a:t>
            </a:r>
            <a:r>
              <a:rPr lang="en-US" altLang="en-US" sz="9600" b="1" dirty="0" smtClean="0">
                <a:latin typeface="Courier New" panose="02070309020205020404" pitchFamily="49" charset="0"/>
                <a:sym typeface="Symbol" panose="05050102010706020507" pitchFamily="18" charset="2"/>
              </a:rPr>
              <a:t>		sum2</a:t>
            </a:r>
            <a:r>
              <a:rPr lang="en-US" altLang="en-US" sz="9600" b="1" dirty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5285486" y="1680977"/>
            <a:ext cx="2794" cy="427786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949134" y="1680977"/>
            <a:ext cx="3336352" cy="5490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01639" y="1468583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992880" y="2316480"/>
            <a:ext cx="1292606" cy="152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419600" y="2897081"/>
            <a:ext cx="865886" cy="152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636520" y="3505200"/>
            <a:ext cx="2648966" cy="3548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01638" y="3337308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580095" y="5856756"/>
            <a:ext cx="2648966" cy="3548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45213" y="5688864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(1)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5384253" y="2194540"/>
            <a:ext cx="2355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Repeats log n + 1 times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384253" y="2712690"/>
            <a:ext cx="1733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Repeats n  times</a:t>
            </a:r>
            <a:endParaRPr lang="en-US" dirty="0"/>
          </a:p>
        </p:txBody>
      </p:sp>
      <p:sp>
        <p:nvSpPr>
          <p:cNvPr id="26" name="Freeform 25"/>
          <p:cNvSpPr/>
          <p:nvPr/>
        </p:nvSpPr>
        <p:spPr>
          <a:xfrm>
            <a:off x="6400800" y="2743200"/>
            <a:ext cx="1813560" cy="975360"/>
          </a:xfrm>
          <a:custGeom>
            <a:avLst/>
            <a:gdLst>
              <a:gd name="connsiteX0" fmla="*/ 1402080 w 1813560"/>
              <a:gd name="connsiteY0" fmla="*/ 0 h 975360"/>
              <a:gd name="connsiteX1" fmla="*/ 1524000 w 1813560"/>
              <a:gd name="connsiteY1" fmla="*/ 15240 h 975360"/>
              <a:gd name="connsiteX2" fmla="*/ 1661160 w 1813560"/>
              <a:gd name="connsiteY2" fmla="*/ 121920 h 975360"/>
              <a:gd name="connsiteX3" fmla="*/ 1737360 w 1813560"/>
              <a:gd name="connsiteY3" fmla="*/ 182880 h 975360"/>
              <a:gd name="connsiteX4" fmla="*/ 1798320 w 1813560"/>
              <a:gd name="connsiteY4" fmla="*/ 274320 h 975360"/>
              <a:gd name="connsiteX5" fmla="*/ 1813560 w 1813560"/>
              <a:gd name="connsiteY5" fmla="*/ 320040 h 975360"/>
              <a:gd name="connsiteX6" fmla="*/ 1798320 w 1813560"/>
              <a:gd name="connsiteY6" fmla="*/ 533400 h 975360"/>
              <a:gd name="connsiteX7" fmla="*/ 1737360 w 1813560"/>
              <a:gd name="connsiteY7" fmla="*/ 594360 h 975360"/>
              <a:gd name="connsiteX8" fmla="*/ 1661160 w 1813560"/>
              <a:gd name="connsiteY8" fmla="*/ 685800 h 975360"/>
              <a:gd name="connsiteX9" fmla="*/ 1645920 w 1813560"/>
              <a:gd name="connsiteY9" fmla="*/ 731520 h 975360"/>
              <a:gd name="connsiteX10" fmla="*/ 1600200 w 1813560"/>
              <a:gd name="connsiteY10" fmla="*/ 746760 h 975360"/>
              <a:gd name="connsiteX11" fmla="*/ 1539240 w 1813560"/>
              <a:gd name="connsiteY11" fmla="*/ 792480 h 975360"/>
              <a:gd name="connsiteX12" fmla="*/ 1447800 w 1813560"/>
              <a:gd name="connsiteY12" fmla="*/ 822960 h 975360"/>
              <a:gd name="connsiteX13" fmla="*/ 1341120 w 1813560"/>
              <a:gd name="connsiteY13" fmla="*/ 914400 h 975360"/>
              <a:gd name="connsiteX14" fmla="*/ 1280160 w 1813560"/>
              <a:gd name="connsiteY14" fmla="*/ 929640 h 975360"/>
              <a:gd name="connsiteX15" fmla="*/ 1234440 w 1813560"/>
              <a:gd name="connsiteY15" fmla="*/ 944880 h 975360"/>
              <a:gd name="connsiteX16" fmla="*/ 1127760 w 1813560"/>
              <a:gd name="connsiteY16" fmla="*/ 975360 h 975360"/>
              <a:gd name="connsiteX17" fmla="*/ 822960 w 1813560"/>
              <a:gd name="connsiteY17" fmla="*/ 960120 h 975360"/>
              <a:gd name="connsiteX18" fmla="*/ 762000 w 1813560"/>
              <a:gd name="connsiteY18" fmla="*/ 944880 h 975360"/>
              <a:gd name="connsiteX19" fmla="*/ 0 w 1813560"/>
              <a:gd name="connsiteY19" fmla="*/ 92964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13560" h="975360">
                <a:moveTo>
                  <a:pt x="1402080" y="0"/>
                </a:moveTo>
                <a:cubicBezTo>
                  <a:pt x="1442720" y="5080"/>
                  <a:pt x="1486942" y="-2199"/>
                  <a:pt x="1524000" y="15240"/>
                </a:cubicBezTo>
                <a:cubicBezTo>
                  <a:pt x="1576408" y="39903"/>
                  <a:pt x="1629031" y="73727"/>
                  <a:pt x="1661160" y="121920"/>
                </a:cubicBezTo>
                <a:cubicBezTo>
                  <a:pt x="1700551" y="181006"/>
                  <a:pt x="1674264" y="161848"/>
                  <a:pt x="1737360" y="182880"/>
                </a:cubicBezTo>
                <a:cubicBezTo>
                  <a:pt x="1773597" y="291591"/>
                  <a:pt x="1722214" y="160162"/>
                  <a:pt x="1798320" y="274320"/>
                </a:cubicBezTo>
                <a:cubicBezTo>
                  <a:pt x="1807231" y="287686"/>
                  <a:pt x="1808480" y="304800"/>
                  <a:pt x="1813560" y="320040"/>
                </a:cubicBezTo>
                <a:cubicBezTo>
                  <a:pt x="1808480" y="391160"/>
                  <a:pt x="1817403" y="464700"/>
                  <a:pt x="1798320" y="533400"/>
                </a:cubicBezTo>
                <a:cubicBezTo>
                  <a:pt x="1790629" y="561088"/>
                  <a:pt x="1756062" y="572541"/>
                  <a:pt x="1737360" y="594360"/>
                </a:cubicBezTo>
                <a:cubicBezTo>
                  <a:pt x="1610054" y="742883"/>
                  <a:pt x="1819698" y="527262"/>
                  <a:pt x="1661160" y="685800"/>
                </a:cubicBezTo>
                <a:cubicBezTo>
                  <a:pt x="1656080" y="701040"/>
                  <a:pt x="1657279" y="720161"/>
                  <a:pt x="1645920" y="731520"/>
                </a:cubicBezTo>
                <a:cubicBezTo>
                  <a:pt x="1634561" y="742879"/>
                  <a:pt x="1614148" y="738790"/>
                  <a:pt x="1600200" y="746760"/>
                </a:cubicBezTo>
                <a:cubicBezTo>
                  <a:pt x="1578147" y="759362"/>
                  <a:pt x="1561958" y="781121"/>
                  <a:pt x="1539240" y="792480"/>
                </a:cubicBezTo>
                <a:cubicBezTo>
                  <a:pt x="1510503" y="806848"/>
                  <a:pt x="1447800" y="822960"/>
                  <a:pt x="1447800" y="822960"/>
                </a:cubicBezTo>
                <a:cubicBezTo>
                  <a:pt x="1417298" y="853462"/>
                  <a:pt x="1380221" y="894849"/>
                  <a:pt x="1341120" y="914400"/>
                </a:cubicBezTo>
                <a:cubicBezTo>
                  <a:pt x="1322386" y="923767"/>
                  <a:pt x="1300299" y="923886"/>
                  <a:pt x="1280160" y="929640"/>
                </a:cubicBezTo>
                <a:cubicBezTo>
                  <a:pt x="1264714" y="934053"/>
                  <a:pt x="1249886" y="940467"/>
                  <a:pt x="1234440" y="944880"/>
                </a:cubicBezTo>
                <a:cubicBezTo>
                  <a:pt x="1100487" y="983152"/>
                  <a:pt x="1237381" y="938820"/>
                  <a:pt x="1127760" y="975360"/>
                </a:cubicBezTo>
                <a:cubicBezTo>
                  <a:pt x="1026160" y="970280"/>
                  <a:pt x="924336" y="968568"/>
                  <a:pt x="822960" y="960120"/>
                </a:cubicBezTo>
                <a:cubicBezTo>
                  <a:pt x="802087" y="958381"/>
                  <a:pt x="782879" y="946550"/>
                  <a:pt x="762000" y="944880"/>
                </a:cubicBezTo>
                <a:cubicBezTo>
                  <a:pt x="483909" y="922633"/>
                  <a:pt x="287916" y="929640"/>
                  <a:pt x="0" y="92964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 rot="18709215">
            <a:off x="7463543" y="3192667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n(log n + 1) times</a:t>
            </a:r>
            <a:endParaRPr lang="en-US" dirty="0"/>
          </a:p>
        </p:txBody>
      </p:sp>
      <p:sp>
        <p:nvSpPr>
          <p:cNvPr id="31" name="Right Brace 30"/>
          <p:cNvSpPr/>
          <p:nvPr/>
        </p:nvSpPr>
        <p:spPr>
          <a:xfrm>
            <a:off x="7567598" y="2301260"/>
            <a:ext cx="172043" cy="866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/>
          <p:cNvSpPr/>
          <p:nvPr/>
        </p:nvSpPr>
        <p:spPr>
          <a:xfrm>
            <a:off x="4975027" y="4529480"/>
            <a:ext cx="172043" cy="866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500951" y="4996200"/>
            <a:ext cx="1106111" cy="520351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/>
          <p:cNvSpPr/>
          <p:nvPr/>
        </p:nvSpPr>
        <p:spPr>
          <a:xfrm>
            <a:off x="5577840" y="4846320"/>
            <a:ext cx="502920" cy="822960"/>
          </a:xfrm>
          <a:custGeom>
            <a:avLst/>
            <a:gdLst>
              <a:gd name="connsiteX0" fmla="*/ 0 w 502920"/>
              <a:gd name="connsiteY0" fmla="*/ 0 h 822960"/>
              <a:gd name="connsiteX1" fmla="*/ 381000 w 502920"/>
              <a:gd name="connsiteY1" fmla="*/ 213360 h 822960"/>
              <a:gd name="connsiteX2" fmla="*/ 426720 w 502920"/>
              <a:gd name="connsiteY2" fmla="*/ 259080 h 822960"/>
              <a:gd name="connsiteX3" fmla="*/ 487680 w 502920"/>
              <a:gd name="connsiteY3" fmla="*/ 396240 h 822960"/>
              <a:gd name="connsiteX4" fmla="*/ 502920 w 502920"/>
              <a:gd name="connsiteY4" fmla="*/ 441960 h 822960"/>
              <a:gd name="connsiteX5" fmla="*/ 487680 w 502920"/>
              <a:gd name="connsiteY5" fmla="*/ 822960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920" h="822960">
                <a:moveTo>
                  <a:pt x="0" y="0"/>
                </a:moveTo>
                <a:cubicBezTo>
                  <a:pt x="127000" y="71120"/>
                  <a:pt x="256579" y="137819"/>
                  <a:pt x="381000" y="213360"/>
                </a:cubicBezTo>
                <a:cubicBezTo>
                  <a:pt x="399423" y="224545"/>
                  <a:pt x="412922" y="242523"/>
                  <a:pt x="426720" y="259080"/>
                </a:cubicBezTo>
                <a:cubicBezTo>
                  <a:pt x="466972" y="307382"/>
                  <a:pt x="465529" y="329787"/>
                  <a:pt x="487680" y="396240"/>
                </a:cubicBezTo>
                <a:lnTo>
                  <a:pt x="502920" y="441960"/>
                </a:lnTo>
                <a:cubicBezTo>
                  <a:pt x="486078" y="761958"/>
                  <a:pt x="487680" y="634866"/>
                  <a:pt x="487680" y="82296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156960" y="5071709"/>
            <a:ext cx="219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Repeats 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(n) </a:t>
            </a:r>
            <a:r>
              <a:rPr lang="en-US" dirty="0" smtClean="0"/>
              <a:t>times</a:t>
            </a:r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9308846" y="1757177"/>
            <a:ext cx="2794" cy="427786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>
            <a:off x="8906439" y="2331700"/>
            <a:ext cx="338156" cy="565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8906439" y="5059660"/>
            <a:ext cx="338156" cy="565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472060" y="2383557"/>
            <a:ext cx="154241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 log n)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9472060" y="5111517"/>
            <a:ext cx="788999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(n)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0569422" y="3798973"/>
            <a:ext cx="154241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en-US" sz="2400" dirty="0" smtClean="0">
                <a:latin typeface="Helvetica" panose="020B0604020202020204" pitchFamily="34" charset="0"/>
                <a:sym typeface="Symbol" panose="05050102010706020507" pitchFamily="18" charset="2"/>
              </a:rPr>
              <a:t>(n log n)</a:t>
            </a:r>
            <a:endParaRPr lang="en-US" sz="240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0206039" y="4177341"/>
            <a:ext cx="272895" cy="894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37" idx="1"/>
          </p:cNvCxnSpPr>
          <p:nvPr/>
        </p:nvCxnSpPr>
        <p:spPr>
          <a:xfrm>
            <a:off x="9920724" y="2874913"/>
            <a:ext cx="648698" cy="1154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06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A6083F-A479-477C-A0A9-A812E1F995BC}" type="slidenum">
              <a:rPr lang="en-US" altLang="en-US" sz="1400"/>
              <a:pPr eaLnBrk="1" hangingPunct="1"/>
              <a:t>25</a:t>
            </a:fld>
            <a:endParaRPr lang="en-US" altLang="en-US" sz="14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Binary Search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>
            <a:normAutofit lnSpcReduction="10000"/>
          </a:bodyPr>
          <a:lstStyle/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Figure shows how binary search proceeds for searching the (index for the) value 45 in a sorted array of integers. Returns 8.]</a:t>
            </a:r>
          </a:p>
          <a:p>
            <a:pPr marL="609600" indent="-609600">
              <a:buNone/>
            </a:pPr>
            <a:r>
              <a:rPr lang="en-US" altLang="en-US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[Same sequence of steps would follow had we searched for 44 (not in the array). Returns 16.]</a:t>
            </a:r>
          </a:p>
          <a:p>
            <a:pPr marL="609600" indent="-609600">
              <a:buNone/>
            </a:pPr>
            <a:endParaRPr lang="en-US" altLang="en-US" dirty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How many elements are examined in worst case?</a:t>
            </a:r>
            <a:endParaRPr lang="en-US" altLang="en-US" dirty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pic>
        <p:nvPicPr>
          <p:cNvPr id="67589" name="Picture 4" descr="BinS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" r="4459" b="8466"/>
          <a:stretch>
            <a:fillRect/>
          </a:stretch>
        </p:blipFill>
        <p:spPr bwMode="auto">
          <a:xfrm>
            <a:off x="2143126" y="1158240"/>
            <a:ext cx="7629525" cy="17478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3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D06C2A-9788-491E-AD31-7D19D29DE4C6}" type="slidenum">
              <a:rPr lang="en-US" altLang="en-US" sz="1400"/>
              <a:pPr eaLnBrk="1" hangingPunct="1"/>
              <a:t>26</a:t>
            </a:fld>
            <a:endParaRPr lang="en-US" altLang="en-US" sz="140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Binary Search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" y="1598613"/>
            <a:ext cx="8610600" cy="4570412"/>
          </a:xfrm>
        </p:spPr>
        <p:txBody>
          <a:bodyPr/>
          <a:lstStyle/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/** @return The position of an element in        sorted array A with value k.  If k is not in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A,return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A.length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. */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static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binary(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[] A,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k) {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l = -1;        // Set l and r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r =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A.length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;  // beyond array bounds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while (l+1 != r) { // Stop when l, r meet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 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= (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l+r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)/2; // Check middle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  if (k &lt; A[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]) r =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;     // In left half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  if (k == A[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]) return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; // Found it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  if (k &gt; A[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]) l =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;     // In right half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}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  return </a:t>
            </a:r>
            <a:r>
              <a:rPr lang="en-US" altLang="en-US" sz="2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A.length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; // Search value not in A</a:t>
            </a:r>
          </a:p>
          <a:p>
            <a:pPr marL="609600" indent="-609600">
              <a:lnSpc>
                <a:spcPct val="6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0600" y="1880936"/>
            <a:ext cx="3492366" cy="41549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At every iteration you find the mid point and focus on a segment that has size half the previous segment.</a:t>
            </a:r>
          </a:p>
          <a:p>
            <a:endParaRPr lang="en-US" sz="2400" dirty="0" smtClean="0"/>
          </a:p>
          <a:p>
            <a:r>
              <a:rPr lang="en-US" sz="2400" dirty="0" smtClean="0"/>
              <a:t>T(n) = T(n/2) + 1, for n&gt;1</a:t>
            </a:r>
          </a:p>
          <a:p>
            <a:r>
              <a:rPr lang="en-US" sz="2400" dirty="0" smtClean="0"/>
              <a:t>T(1) = 1</a:t>
            </a:r>
          </a:p>
          <a:p>
            <a:endParaRPr lang="en-US" sz="2400" dirty="0" smtClean="0"/>
          </a:p>
          <a:p>
            <a:r>
              <a:rPr lang="en-US" sz="2400" dirty="0" smtClean="0"/>
              <a:t>Closed form of this recurrence is: </a:t>
            </a:r>
          </a:p>
          <a:p>
            <a:r>
              <a:rPr lang="en-US" sz="2400" dirty="0" smtClean="0"/>
              <a:t>T(n) = log n.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70358" y="6267999"/>
            <a:ext cx="549317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We will learn this sort of techniques later in this course…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Sequential Search of Binary Search?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Sequential Search Running time: </a:t>
            </a:r>
            <a:r>
              <a:rPr lang="en-US" dirty="0" smtClean="0">
                <a:sym typeface="Symbol" panose="05050102010706020507" pitchFamily="18" charset="2"/>
              </a:rPr>
              <a:t>(n)</a:t>
            </a:r>
            <a:r>
              <a:rPr lang="en-US" dirty="0" smtClean="0"/>
              <a:t> </a:t>
            </a:r>
          </a:p>
          <a:p>
            <a:r>
              <a:rPr lang="en-US" dirty="0" smtClean="0"/>
              <a:t>Binary Search Running Time: </a:t>
            </a:r>
            <a:r>
              <a:rPr lang="en-US" dirty="0">
                <a:sym typeface="Symbol" panose="05050102010706020507" pitchFamily="18" charset="2"/>
              </a:rPr>
              <a:t></a:t>
            </a:r>
            <a:r>
              <a:rPr lang="en-US" dirty="0" smtClean="0">
                <a:sym typeface="Symbol" panose="05050102010706020507" pitchFamily="18" charset="2"/>
              </a:rPr>
              <a:t>(log n)</a:t>
            </a:r>
          </a:p>
          <a:p>
            <a:r>
              <a:rPr lang="en-US" dirty="0" smtClean="0">
                <a:sym typeface="Symbol" panose="05050102010706020507" pitchFamily="18" charset="2"/>
              </a:rPr>
              <a:t>Any assumptions?</a:t>
            </a:r>
          </a:p>
          <a:p>
            <a:r>
              <a:rPr lang="en-US" dirty="0" smtClean="0">
                <a:sym typeface="Symbol" panose="05050102010706020507" pitchFamily="18" charset="2"/>
              </a:rPr>
              <a:t>What happens if millions of searches are done?</a:t>
            </a:r>
          </a:p>
          <a:p>
            <a:r>
              <a:rPr lang="en-US" dirty="0" smtClean="0">
                <a:sym typeface="Symbol" panose="05050102010706020507" pitchFamily="18" charset="2"/>
              </a:rPr>
              <a:t>What happens if new data needs to be inserted?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4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ED2F10E-2B5F-416C-A445-15890241A30F}" type="slidenum">
              <a:rPr lang="en-US" altLang="en-US" sz="1400"/>
              <a:pPr eaLnBrk="1" hangingPunct="1"/>
              <a:t>28</a:t>
            </a:fld>
            <a:endParaRPr lang="en-US" altLang="en-US" sz="140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Other Control Statements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 altLang="en-US" b="1" smtClean="0">
                <a:latin typeface="Courier New" panose="02070309020205020404" pitchFamily="49" charset="0"/>
                <a:sym typeface="Symbol" panose="05050102010706020507" pitchFamily="18" charset="2"/>
              </a:rPr>
              <a:t>while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loop: Analyze like a </a:t>
            </a:r>
            <a:r>
              <a:rPr lang="en-US" altLang="en-US" b="1" smtClean="0">
                <a:latin typeface="Courier New" panose="02070309020205020404" pitchFamily="49" charset="0"/>
                <a:sym typeface="Symbol" panose="05050102010706020507" pitchFamily="18" charset="2"/>
              </a:rPr>
              <a:t>for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loop.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b="1" smtClean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statement: Take greater complexity of </a:t>
            </a:r>
            <a:r>
              <a:rPr lang="en-US" altLang="en-US" b="1" smtClean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altLang="en-US" b="1" smtClean="0">
                <a:latin typeface="Helvetica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b="1" smtClean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clauses.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b="1" smtClean="0">
                <a:latin typeface="Courier New" panose="02070309020205020404" pitchFamily="49" charset="0"/>
                <a:sym typeface="Symbol" panose="05050102010706020507" pitchFamily="18" charset="2"/>
              </a:rPr>
              <a:t>switch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statement: Take complexity of most expensive case.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Subroutine call: Complexity of the subroutine.</a:t>
            </a:r>
          </a:p>
        </p:txBody>
      </p:sp>
    </p:spTree>
    <p:extLst>
      <p:ext uri="{BB962C8B-B14F-4D97-AF65-F5344CB8AC3E}">
        <p14:creationId xmlns:p14="http://schemas.microsoft.com/office/powerpoint/2010/main" val="18352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90CF461-D3BC-42A6-8B58-46C0A271916E}" type="slidenum">
              <a:rPr lang="en-US" altLang="en-US" sz="1400"/>
              <a:pPr eaLnBrk="1" hangingPunct="1"/>
              <a:t>29</a:t>
            </a:fld>
            <a:endParaRPr lang="en-US" altLang="en-US" sz="140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Problems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eaLnBrk="1" hangingPunct="1"/>
            <a:r>
              <a:rPr lang="en-US" altLang="en-US" u="sng" smtClean="0">
                <a:latin typeface="Helvetica" panose="020B0604020202020204" pitchFamily="34" charset="0"/>
              </a:rPr>
              <a:t>Problem</a:t>
            </a:r>
            <a:r>
              <a:rPr lang="en-US" altLang="en-US" smtClean="0">
                <a:latin typeface="Helvetica" panose="020B0604020202020204" pitchFamily="34" charset="0"/>
              </a:rPr>
              <a:t>: a task to be performed.</a:t>
            </a:r>
          </a:p>
          <a:p>
            <a:pPr lvl="1" eaLnBrk="1" hangingPunct="1"/>
            <a:r>
              <a:rPr lang="en-US" altLang="en-US" smtClean="0">
                <a:latin typeface="Helvetica" panose="020B0604020202020204" pitchFamily="34" charset="0"/>
              </a:rPr>
              <a:t>Best thought of as inputs and matching outputs.</a:t>
            </a:r>
          </a:p>
          <a:p>
            <a:pPr lvl="1" eaLnBrk="1" hangingPunct="1"/>
            <a:r>
              <a:rPr lang="en-US" altLang="en-US" smtClean="0">
                <a:latin typeface="Helvetica" panose="020B0604020202020204" pitchFamily="34" charset="0"/>
              </a:rPr>
              <a:t>Problem definition should include constraints on the resources that may be consumed by any acceptable solution.</a:t>
            </a:r>
          </a:p>
          <a:p>
            <a:pPr eaLnBrk="1" hangingPunct="1"/>
            <a:endParaRPr lang="en-US" altLang="en-US" smtClean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47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5817580-F40F-4F53-BA1E-134C52299C30}" type="slidenum">
              <a:rPr lang="en-US" altLang="en-US" sz="1400"/>
              <a:pPr eaLnBrk="1" hangingPunct="1"/>
              <a:t>30</a:t>
            </a:fld>
            <a:endParaRPr lang="en-US" altLang="en-US" sz="140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Problems (cont)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Problems 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 </a:t>
            </a:r>
            <a:r>
              <a:rPr lang="en-US" altLang="en-US" smtClean="0">
                <a:latin typeface="Helvetica" panose="020B0604020202020204" pitchFamily="34" charset="0"/>
              </a:rPr>
              <a:t>mathematical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A </a:t>
            </a:r>
            <a:r>
              <a:rPr lang="en-US" altLang="en-US" u="sng" smtClean="0">
                <a:latin typeface="Helvetica" panose="020B0604020202020204" pitchFamily="34" charset="0"/>
              </a:rPr>
              <a:t>function</a:t>
            </a:r>
            <a:r>
              <a:rPr lang="en-US" altLang="en-US" smtClean="0">
                <a:latin typeface="Helvetica" panose="020B0604020202020204" pitchFamily="34" charset="0"/>
              </a:rPr>
              <a:t> is a matching between inputs (the </a:t>
            </a:r>
            <a:r>
              <a:rPr lang="en-US" altLang="en-US" u="sng" smtClean="0">
                <a:latin typeface="Helvetica" panose="020B0604020202020204" pitchFamily="34" charset="0"/>
              </a:rPr>
              <a:t>domain</a:t>
            </a:r>
            <a:r>
              <a:rPr lang="en-US" altLang="en-US" smtClean="0">
                <a:latin typeface="Helvetica" panose="020B0604020202020204" pitchFamily="34" charset="0"/>
              </a:rPr>
              <a:t>) and outputs (the </a:t>
            </a:r>
            <a:r>
              <a:rPr lang="en-US" altLang="en-US" u="sng" smtClean="0">
                <a:latin typeface="Helvetica" panose="020B0604020202020204" pitchFamily="34" charset="0"/>
              </a:rPr>
              <a:t>range</a:t>
            </a:r>
            <a:r>
              <a:rPr lang="en-US" altLang="en-US" smtClean="0">
                <a:latin typeface="Helvetica" panose="020B0604020202020204" pitchFamily="34" charset="0"/>
              </a:rPr>
              <a:t>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An </a:t>
            </a:r>
            <a:r>
              <a:rPr lang="en-US" altLang="en-US" u="sng" smtClean="0">
                <a:latin typeface="Helvetica" panose="020B0604020202020204" pitchFamily="34" charset="0"/>
              </a:rPr>
              <a:t>input</a:t>
            </a:r>
            <a:r>
              <a:rPr lang="en-US" altLang="en-US" smtClean="0">
                <a:latin typeface="Helvetica" panose="020B0604020202020204" pitchFamily="34" charset="0"/>
              </a:rPr>
              <a:t> to a function may be single number, or a collection of information.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The values making up an input are called the </a:t>
            </a:r>
            <a:r>
              <a:rPr lang="en-US" altLang="en-US" u="sng" smtClean="0">
                <a:latin typeface="Helvetica" panose="020B0604020202020204" pitchFamily="34" charset="0"/>
              </a:rPr>
              <a:t>parameters</a:t>
            </a:r>
            <a:r>
              <a:rPr lang="en-US" altLang="en-US" smtClean="0">
                <a:latin typeface="Helvetica" panose="020B0604020202020204" pitchFamily="34" charset="0"/>
              </a:rPr>
              <a:t> of the function.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A particular input must always result in the same output every time the function is computed.</a:t>
            </a:r>
          </a:p>
        </p:txBody>
      </p:sp>
    </p:spTree>
    <p:extLst>
      <p:ext uri="{BB962C8B-B14F-4D97-AF65-F5344CB8AC3E}">
        <p14:creationId xmlns:p14="http://schemas.microsoft.com/office/powerpoint/2010/main" val="92732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DFFB08E-C69D-454A-A18C-C03AA30B2C94}" type="slidenum">
              <a:rPr lang="en-US" altLang="en-US" sz="1400"/>
              <a:pPr eaLnBrk="1" hangingPunct="1"/>
              <a:t>31</a:t>
            </a:fld>
            <a:endParaRPr lang="en-US" altLang="en-US" sz="140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Algorithms and Programs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u="sng" smtClean="0">
                <a:latin typeface="Helvetica" panose="020B0604020202020204" pitchFamily="34" charset="0"/>
              </a:rPr>
              <a:t>Algorithm</a:t>
            </a:r>
            <a:r>
              <a:rPr lang="en-US" altLang="en-US" smtClean="0">
                <a:latin typeface="Helvetica" panose="020B0604020202020204" pitchFamily="34" charset="0"/>
              </a:rPr>
              <a:t>: a method or a process followed to solve a problem.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A recipe.</a:t>
            </a:r>
          </a:p>
          <a:p>
            <a:pPr eaLnBrk="1" hangingPunct="1">
              <a:lnSpc>
                <a:spcPct val="50000"/>
              </a:lnSpc>
            </a:pPr>
            <a:endParaRPr lang="en-US" altLang="en-US" smtClean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mtClean="0">
                <a:latin typeface="Helvetica" panose="020B0604020202020204" pitchFamily="34" charset="0"/>
              </a:rPr>
              <a:t>An algorithm takes the input to a problem (function) and transforms it to the output.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A mapping of input to output.</a:t>
            </a:r>
          </a:p>
          <a:p>
            <a:pPr eaLnBrk="1" hangingPunct="1">
              <a:lnSpc>
                <a:spcPct val="50000"/>
              </a:lnSpc>
            </a:pPr>
            <a:endParaRPr lang="en-US" altLang="en-US" smtClean="0">
              <a:latin typeface="Helvetica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mtClean="0">
                <a:latin typeface="Helvetica" panose="020B0604020202020204" pitchFamily="34" charset="0"/>
              </a:rPr>
              <a:t>A problem can have many algorithms.</a:t>
            </a:r>
          </a:p>
        </p:txBody>
      </p:sp>
    </p:spTree>
    <p:extLst>
      <p:ext uri="{BB962C8B-B14F-4D97-AF65-F5344CB8AC3E}">
        <p14:creationId xmlns:p14="http://schemas.microsoft.com/office/powerpoint/2010/main" val="147434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7D7BDC0-7D86-4CA6-B6C4-D83EC8675816}" type="slidenum">
              <a:rPr lang="en-US" altLang="en-US" sz="1400"/>
              <a:pPr eaLnBrk="1" hangingPunct="1"/>
              <a:t>32</a:t>
            </a:fld>
            <a:endParaRPr lang="en-US" altLang="en-US" sz="14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Analyzing Problems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9618026" cy="4570412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Upper bound: Upper bound of best known algorithm.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Lower bound: Lower bound for every possible algorithm.</a:t>
            </a:r>
          </a:p>
          <a:p>
            <a:pPr lvl="1"/>
            <a:r>
              <a:rPr lang="en-US" sz="2800" dirty="0" smtClean="0"/>
              <a:t>It </a:t>
            </a:r>
            <a:r>
              <a:rPr lang="en-US" sz="2800" dirty="0"/>
              <a:t>is much easier to show that an algorithm (or program) is in Ω(f(n)) than </a:t>
            </a:r>
            <a:r>
              <a:rPr lang="en-US" sz="2800" dirty="0" smtClean="0"/>
              <a:t>it is </a:t>
            </a:r>
            <a:r>
              <a:rPr lang="en-US" sz="2800" dirty="0"/>
              <a:t>to show that a problem is in Ω(f(n)). </a:t>
            </a:r>
            <a:endParaRPr lang="en-US" sz="2800" dirty="0" smtClean="0"/>
          </a:p>
          <a:p>
            <a:pPr lvl="1"/>
            <a:r>
              <a:rPr lang="en-US" sz="2800" dirty="0" smtClean="0"/>
              <a:t>For </a:t>
            </a:r>
            <a:r>
              <a:rPr lang="en-US" sz="2800" dirty="0"/>
              <a:t>a problem to be in Ω(f(n)) </a:t>
            </a:r>
            <a:r>
              <a:rPr lang="en-US" sz="2800" dirty="0" smtClean="0"/>
              <a:t>means that </a:t>
            </a:r>
            <a:r>
              <a:rPr lang="en-US" sz="2800" dirty="0"/>
              <a:t>every algorithm that solves the problem is in Ω(f(n)), even algorithms that </a:t>
            </a:r>
            <a:r>
              <a:rPr lang="en-US" sz="2800" dirty="0" smtClean="0"/>
              <a:t>we have </a:t>
            </a:r>
            <a:r>
              <a:rPr lang="en-US" sz="2800" dirty="0"/>
              <a:t>not </a:t>
            </a:r>
            <a:r>
              <a:rPr lang="en-US" sz="2800" dirty="0" smtClean="0"/>
              <a:t>thought of yet.</a:t>
            </a:r>
            <a:endParaRPr lang="en-US" sz="2800" dirty="0"/>
          </a:p>
          <a:p>
            <a:pPr marL="609600" indent="-609600">
              <a:lnSpc>
                <a:spcPct val="8000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9766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F2BC57D-A27F-472F-B245-D9D9A3D5A440}" type="slidenum">
              <a:rPr lang="en-US" altLang="en-US" sz="1400"/>
              <a:pPr eaLnBrk="1" hangingPunct="1"/>
              <a:t>33</a:t>
            </a:fld>
            <a:endParaRPr lang="en-US" altLang="en-US" sz="140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Analyzing Problems: Example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May or may not be able to obtain matching upper and lower bounds.</a:t>
            </a:r>
          </a:p>
          <a:p>
            <a:pPr marL="609600" indent="-609600">
              <a:buNone/>
            </a:pPr>
            <a:endParaRPr lang="en-US" altLang="en-US" dirty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Consider Sorting:</a:t>
            </a:r>
            <a:endParaRPr lang="en-US" altLang="en-US" dirty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20000"/>
              </a:lnSpc>
              <a:buNone/>
            </a:pPr>
            <a:endParaRPr lang="en-US" altLang="en-US" dirty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1. Cost of I/O: (</a:t>
            </a:r>
            <a:r>
              <a:rPr lang="en-US" altLang="en-US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).</a:t>
            </a: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2. Bubble or insertion sort: O(</a:t>
            </a:r>
            <a:r>
              <a:rPr lang="en-US" altLang="en-US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30000" dirty="0"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).</a:t>
            </a: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3. A better sort (Quicksort, </a:t>
            </a:r>
            <a:r>
              <a:rPr lang="en-US" altLang="en-US" dirty="0" err="1">
                <a:latin typeface="Helvetica" panose="020B0604020202020204" pitchFamily="34" charset="0"/>
                <a:sym typeface="Symbol" panose="05050102010706020507" pitchFamily="18" charset="2"/>
              </a:rPr>
              <a:t>Mergesort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, Heapsort, etc.): O(</a:t>
            </a:r>
            <a:r>
              <a:rPr lang="en-US" altLang="en-US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 log </a:t>
            </a:r>
            <a:r>
              <a:rPr lang="en-US" altLang="en-US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).</a:t>
            </a:r>
          </a:p>
          <a:p>
            <a:pPr marL="609600" indent="-609600">
              <a:buNone/>
            </a:pP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4. We prove later that sorting is in (</a:t>
            </a:r>
            <a:r>
              <a:rPr lang="en-US" altLang="en-US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 log </a:t>
            </a:r>
            <a:r>
              <a:rPr lang="en-US" altLang="en-US" i="1" dirty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7292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93FF686-B279-4790-8805-1E1ED997EA81}" type="slidenum">
              <a:rPr lang="en-US" altLang="en-US" sz="1400"/>
              <a:pPr eaLnBrk="1" hangingPunct="1"/>
              <a:t>34</a:t>
            </a:fld>
            <a:endParaRPr lang="en-US" altLang="en-US" sz="14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Space/Time Tradeoff Principle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One can often reduce time if one is willing to sacrifice space, or vice versa.</a:t>
            </a:r>
          </a:p>
          <a:p>
            <a:pPr marL="990600" lvl="1" indent="-533400">
              <a:lnSpc>
                <a:spcPct val="80000"/>
              </a:lnSpc>
              <a:buFontTx/>
              <a:buChar char="•"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Encoding or packing information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	Boolean flags</a:t>
            </a:r>
          </a:p>
          <a:p>
            <a:pPr marL="990600" lvl="1" indent="-533400">
              <a:lnSpc>
                <a:spcPct val="80000"/>
              </a:lnSpc>
              <a:buFontTx/>
              <a:buChar char="•"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Table lookup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	Factorials</a:t>
            </a:r>
          </a:p>
          <a:p>
            <a:pPr marL="1371600" lvl="2" indent="-457200">
              <a:lnSpc>
                <a:spcPct val="80000"/>
              </a:lnSpc>
              <a:buNone/>
            </a:pPr>
            <a:endParaRPr lang="en-US" altLang="en-US" sz="280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Disk-based Space/Time Tradeoff Principle: The smaller you make the disk storage requirements, the faster your program will run.</a:t>
            </a:r>
          </a:p>
        </p:txBody>
      </p:sp>
    </p:spTree>
    <p:extLst>
      <p:ext uri="{BB962C8B-B14F-4D97-AF65-F5344CB8AC3E}">
        <p14:creationId xmlns:p14="http://schemas.microsoft.com/office/powerpoint/2010/main" val="336587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F88F0F-4F83-4AB3-8CBF-372D008D9495}" type="slidenum">
              <a:rPr lang="en-US" altLang="en-US" sz="1400"/>
              <a:pPr eaLnBrk="1" hangingPunct="1"/>
              <a:t>35</a:t>
            </a:fld>
            <a:endParaRPr lang="en-US" altLang="en-US" sz="14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Multiple Parameters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Compute the rank ordering for all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pixel values in a picture of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pixels.</a:t>
            </a:r>
          </a:p>
          <a:p>
            <a:pPr marL="609600" indent="-609600">
              <a:lnSpc>
                <a:spcPct val="2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z="2400" b="1">
                <a:latin typeface="Courier New" panose="02070309020205020404" pitchFamily="49" charset="0"/>
                <a:sym typeface="Symbol" panose="05050102010706020507" pitchFamily="18" charset="2"/>
              </a:rPr>
              <a:t>for (i=0; i&lt;C; i++)  // Initialize count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z="2400" b="1">
                <a:latin typeface="Courier New" panose="02070309020205020404" pitchFamily="49" charset="0"/>
                <a:sym typeface="Symbol" panose="05050102010706020507" pitchFamily="18" charset="2"/>
              </a:rPr>
              <a:t>  count[i] = 0;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z="2400" b="1">
                <a:latin typeface="Courier New" panose="02070309020205020404" pitchFamily="49" charset="0"/>
                <a:sym typeface="Symbol" panose="05050102010706020507" pitchFamily="18" charset="2"/>
              </a:rPr>
              <a:t>for (i=0; i&lt;P; i++)  // Look at all pixels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z="2400" b="1">
                <a:latin typeface="Courier New" panose="02070309020205020404" pitchFamily="49" charset="0"/>
                <a:sym typeface="Symbol" panose="05050102010706020507" pitchFamily="18" charset="2"/>
              </a:rPr>
              <a:t>  count[value(i)]++; // Increment count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z="2400" b="1">
                <a:latin typeface="Courier New" panose="02070309020205020404" pitchFamily="49" charset="0"/>
                <a:sym typeface="Symbol" panose="05050102010706020507" pitchFamily="18" charset="2"/>
              </a:rPr>
              <a:t>sort(count);         // Sort pixel counts</a:t>
            </a:r>
          </a:p>
          <a:p>
            <a:pPr marL="609600" indent="-609600">
              <a:lnSpc>
                <a:spcPct val="1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If we use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as the measure, then time is  (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log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).</a:t>
            </a:r>
          </a:p>
          <a:p>
            <a:pPr marL="609600" indent="-609600">
              <a:lnSpc>
                <a:spcPct val="1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More accurate is (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log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).</a:t>
            </a:r>
            <a:endParaRPr lang="en-US" altLang="en-US" sz="240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8629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93F957-372C-41FF-91A4-05D9A077CBD2}" type="slidenum">
              <a:rPr lang="en-US" altLang="en-US" sz="1400"/>
              <a:pPr eaLnBrk="1" hangingPunct="1"/>
              <a:t>36</a:t>
            </a:fld>
            <a:endParaRPr lang="en-US" altLang="en-US" sz="14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Helvetica" panose="020B0604020202020204" pitchFamily="34" charset="0"/>
              </a:rPr>
              <a:t>Space Complexity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Space complexity can also be analyzed with asymptotic complexity analysis.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Time: Algorithm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Space: Data Structure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US" altLang="en-US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686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E7B90AB-D4D4-49A7-82F5-FC08FC610855}" type="slidenum">
              <a:rPr lang="en-US" altLang="en-US" sz="1400"/>
              <a:pPr eaLnBrk="1" hangingPunct="1"/>
              <a:t>37</a:t>
            </a:fld>
            <a:endParaRPr lang="en-US" alt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latin typeface="Helvetica" panose="020B0604020202020204" pitchFamily="34" charset="0"/>
              </a:rPr>
              <a:t>Common Misunderstandings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mtClean="0">
                <a:latin typeface="Helvetica" panose="020B0604020202020204" pitchFamily="34" charset="0"/>
              </a:rPr>
              <a:t>“The best case for my algorithm is </a:t>
            </a:r>
            <a:r>
              <a:rPr lang="en-US" altLang="en-US" i="1" smtClean="0">
                <a:latin typeface="Helvetica" panose="020B0604020202020204" pitchFamily="34" charset="0"/>
              </a:rPr>
              <a:t>n</a:t>
            </a:r>
            <a:r>
              <a:rPr lang="en-US" altLang="en-US" smtClean="0">
                <a:latin typeface="Helvetica" panose="020B0604020202020204" pitchFamily="34" charset="0"/>
              </a:rPr>
              <a:t>=1 because that is the fastest.”  WRONG!</a:t>
            </a:r>
          </a:p>
          <a:p>
            <a:pPr marL="609600" indent="-609600"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mtClean="0">
                <a:latin typeface="Helvetica" panose="020B0604020202020204" pitchFamily="34" charset="0"/>
              </a:rPr>
              <a:t>Big-oh refers to a </a:t>
            </a:r>
            <a:r>
              <a:rPr lang="en-US" altLang="en-US" u="sng" smtClean="0">
                <a:latin typeface="Helvetica" panose="020B0604020202020204" pitchFamily="34" charset="0"/>
              </a:rPr>
              <a:t>growth rate</a:t>
            </a:r>
            <a:r>
              <a:rPr lang="en-US" altLang="en-US" smtClean="0">
                <a:latin typeface="Helvetica" panose="020B0604020202020204" pitchFamily="34" charset="0"/>
              </a:rPr>
              <a:t> as </a:t>
            </a:r>
            <a:r>
              <a:rPr lang="en-US" altLang="en-US" i="1" smtClean="0">
                <a:latin typeface="Helvetica" panose="020B0604020202020204" pitchFamily="34" charset="0"/>
              </a:rPr>
              <a:t>n</a:t>
            </a:r>
            <a:r>
              <a:rPr lang="en-US" altLang="en-US" smtClean="0">
                <a:latin typeface="Helvetica" panose="020B0604020202020204" pitchFamily="34" charset="0"/>
              </a:rPr>
              <a:t> grows to 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.</a:t>
            </a:r>
          </a:p>
          <a:p>
            <a:pPr marL="609600" indent="-609600"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Best case is defined for the input of size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 that is cheapest among all inputs of size </a:t>
            </a:r>
            <a:r>
              <a:rPr lang="en-US" altLang="en-US" i="1" smtClean="0">
                <a:latin typeface="Helvetica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mtClean="0">
                <a:latin typeface="Helvetica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smtClean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72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39A02E-77D7-4B75-9F95-96FF5024660D}" type="slidenum">
              <a:rPr lang="en-US" altLang="en-US" sz="1400"/>
              <a:pPr eaLnBrk="1" hangingPunct="1"/>
              <a:t>38</a:t>
            </a:fld>
            <a:endParaRPr lang="en-US" altLang="en-US" sz="14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latin typeface="Helvetica" panose="020B0604020202020204" pitchFamily="34" charset="0"/>
              </a:rPr>
              <a:t>Common Misunderstandings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Confusing worst case with upper bound.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Upper bound refers to a growth rate.</a:t>
            </a:r>
          </a:p>
          <a:p>
            <a:pPr marL="609600" indent="-609600">
              <a:lnSpc>
                <a:spcPct val="50000"/>
              </a:lnSpc>
              <a:buNone/>
            </a:pPr>
            <a:endParaRPr lang="en-US" altLang="en-US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buNone/>
            </a:pPr>
            <a:r>
              <a:rPr lang="en-US" altLang="en-US" dirty="0" smtClean="0">
                <a:latin typeface="Helvetica" panose="020B0604020202020204" pitchFamily="34" charset="0"/>
                <a:sym typeface="Symbol" panose="05050102010706020507" pitchFamily="18" charset="2"/>
              </a:rPr>
              <a:t>Worst case refers to the worst input from among the choices for possible inputs of a given size.</a:t>
            </a:r>
          </a:p>
        </p:txBody>
      </p:sp>
    </p:spTree>
    <p:extLst>
      <p:ext uri="{BB962C8B-B14F-4D97-AF65-F5344CB8AC3E}">
        <p14:creationId xmlns:p14="http://schemas.microsoft.com/office/powerpoint/2010/main" val="400618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BFE46C5-1096-DD4C-A5C9-6C89F96C4DC3}" type="slidenum">
              <a:rPr lang="en-US" sz="1400"/>
              <a:pPr eaLnBrk="1" hangingPunct="1"/>
              <a:t>39</a:t>
            </a:fld>
            <a:endParaRPr 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" y="-214946"/>
            <a:ext cx="8473440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ahoma" charset="0"/>
              </a:rPr>
              <a:t>Intuition for Asymptotic Notation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-289560" y="590157"/>
            <a:ext cx="1110996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tx2"/>
                </a:solidFill>
              </a:rPr>
              <a:t>big-Oh</a:t>
            </a:r>
            <a:endParaRPr lang="en-US" sz="28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sz="2800" dirty="0"/>
              <a:t>f(n) is </a:t>
            </a:r>
            <a:r>
              <a:rPr lang="en-US" sz="2800" dirty="0" smtClean="0"/>
              <a:t>in </a:t>
            </a:r>
            <a:r>
              <a:rPr lang="en-US" sz="2800" dirty="0" smtClean="0">
                <a:sym typeface="Symbol" charset="0"/>
              </a:rPr>
              <a:t>O(g(n</a:t>
            </a:r>
            <a:r>
              <a:rPr lang="en-US" sz="2800" dirty="0">
                <a:sym typeface="Symbol" charset="0"/>
              </a:rPr>
              <a:t>)) if f(n) is asymptotically </a:t>
            </a:r>
            <a:r>
              <a:rPr lang="en-US" sz="2800" dirty="0">
                <a:solidFill>
                  <a:srgbClr val="BE2D00"/>
                </a:solidFill>
                <a:sym typeface="Symbol" charset="0"/>
              </a:rPr>
              <a:t>less than or equal to</a:t>
            </a:r>
            <a:r>
              <a:rPr lang="en-US" sz="2800" dirty="0">
                <a:sym typeface="Symbol" charset="0"/>
              </a:rPr>
              <a:t> g(n)</a:t>
            </a:r>
            <a:endParaRPr lang="en-US" sz="32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tx2"/>
                </a:solidFill>
              </a:rPr>
              <a:t>big-Omega</a:t>
            </a:r>
            <a:endParaRPr lang="en-US" sz="28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sz="2800" dirty="0"/>
              <a:t>f(n) is </a:t>
            </a:r>
            <a:r>
              <a:rPr lang="en-US" sz="2800" dirty="0" smtClean="0"/>
              <a:t>in </a:t>
            </a:r>
            <a:r>
              <a:rPr lang="en-US" sz="2800" dirty="0" smtClean="0">
                <a:sym typeface="Symbol" charset="0"/>
              </a:rPr>
              <a:t></a:t>
            </a:r>
            <a:r>
              <a:rPr lang="en-US" sz="2800" dirty="0">
                <a:sym typeface="Symbol" charset="0"/>
              </a:rPr>
              <a:t>(g(n)) if f(n) is asymptotically </a:t>
            </a:r>
            <a:r>
              <a:rPr lang="en-US" sz="2800" dirty="0">
                <a:solidFill>
                  <a:srgbClr val="BE2D00"/>
                </a:solidFill>
                <a:sym typeface="Symbol" charset="0"/>
              </a:rPr>
              <a:t>greater than or equal to </a:t>
            </a:r>
            <a:r>
              <a:rPr lang="en-US" sz="2800" dirty="0">
                <a:sym typeface="Symbol" charset="0"/>
              </a:rPr>
              <a:t>g(n)</a:t>
            </a:r>
            <a:endParaRPr lang="en-US" sz="2800" baseline="-25000" dirty="0">
              <a:sym typeface="Symbo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tx2"/>
                </a:solidFill>
              </a:rPr>
              <a:t>big-Theta</a:t>
            </a:r>
            <a:endParaRPr lang="en-US" sz="28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sz="2800" dirty="0"/>
              <a:t>f(n) is </a:t>
            </a:r>
            <a:r>
              <a:rPr lang="en-US" sz="2800" dirty="0" smtClean="0"/>
              <a:t>in </a:t>
            </a:r>
            <a:r>
              <a:rPr lang="en-US" sz="2800" dirty="0" smtClean="0">
                <a:sym typeface="Symbol" charset="0"/>
              </a:rPr>
              <a:t></a:t>
            </a:r>
            <a:r>
              <a:rPr lang="en-US" sz="2800" dirty="0">
                <a:sym typeface="Symbol" charset="0"/>
              </a:rPr>
              <a:t>(g(n)) if f(n) is asymptotically </a:t>
            </a:r>
            <a:r>
              <a:rPr lang="en-US" sz="2800" dirty="0">
                <a:solidFill>
                  <a:srgbClr val="BE2D00"/>
                </a:solidFill>
                <a:sym typeface="Symbol" charset="0"/>
              </a:rPr>
              <a:t>equal to </a:t>
            </a:r>
            <a:r>
              <a:rPr lang="en-US" sz="2800" dirty="0">
                <a:sym typeface="Symbol" charset="0"/>
              </a:rPr>
              <a:t>g(n)</a:t>
            </a:r>
            <a:endParaRPr lang="en-US" sz="28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4000" dirty="0">
              <a:sym typeface="Symbol" charset="0"/>
            </a:endParaRPr>
          </a:p>
        </p:txBody>
      </p:sp>
      <p:graphicFrame>
        <p:nvGraphicFramePr>
          <p:cNvPr id="430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237770"/>
              </p:ext>
            </p:extLst>
          </p:nvPr>
        </p:nvGraphicFramePr>
        <p:xfrm>
          <a:off x="10279380" y="83820"/>
          <a:ext cx="17526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Clip" r:id="rId3" imgW="879443" imgH="875763" progId="MS_ClipArt_Gallery.2">
                  <p:embed/>
                </p:oleObj>
              </mc:Choice>
              <mc:Fallback>
                <p:oleObj name="Clip" r:id="rId3" imgW="879443" imgH="875763" progId="MS_ClipArt_Gallery.2">
                  <p:embed/>
                  <p:pic>
                    <p:nvPicPr>
                      <p:cNvPr id="430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9380" y="83820"/>
                        <a:ext cx="17526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06" y="3635376"/>
            <a:ext cx="2514600" cy="247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4868" y="6121278"/>
            <a:ext cx="262128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g(n) </a:t>
            </a:r>
            <a:r>
              <a:rPr lang="en-US" dirty="0"/>
              <a:t>is an </a:t>
            </a:r>
            <a:r>
              <a:rPr lang="en-US" b="1" i="1" dirty="0"/>
              <a:t>asymptotic upper bound </a:t>
            </a:r>
            <a:r>
              <a:rPr lang="en-US" dirty="0"/>
              <a:t>for </a:t>
            </a:r>
            <a:r>
              <a:rPr lang="en-US" dirty="0" smtClean="0"/>
              <a:t>f(n).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782" y="3649663"/>
            <a:ext cx="2505075" cy="2486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8679" y="6121279"/>
            <a:ext cx="262128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g(n) </a:t>
            </a:r>
            <a:r>
              <a:rPr lang="en-US" dirty="0"/>
              <a:t>is an </a:t>
            </a:r>
            <a:r>
              <a:rPr lang="en-US" b="1" i="1" dirty="0"/>
              <a:t>asymptotic </a:t>
            </a:r>
            <a:r>
              <a:rPr lang="en-US" b="1" i="1" dirty="0" smtClean="0"/>
              <a:t>lower </a:t>
            </a:r>
            <a:r>
              <a:rPr lang="en-US" b="1" i="1" dirty="0"/>
              <a:t>bound </a:t>
            </a:r>
            <a:r>
              <a:rPr lang="en-US" dirty="0"/>
              <a:t>for </a:t>
            </a:r>
            <a:r>
              <a:rPr lang="en-US" dirty="0" smtClean="0"/>
              <a:t>f(n).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002" y="3635376"/>
            <a:ext cx="2476500" cy="2495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02002" y="6121280"/>
            <a:ext cx="262128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g(n) </a:t>
            </a:r>
            <a:r>
              <a:rPr lang="en-US" dirty="0"/>
              <a:t>is an </a:t>
            </a:r>
            <a:r>
              <a:rPr lang="en-US" b="1" i="1" dirty="0"/>
              <a:t>asymptotic </a:t>
            </a:r>
            <a:r>
              <a:rPr lang="en-US" b="1" i="1" dirty="0" smtClean="0"/>
              <a:t>tight </a:t>
            </a:r>
            <a:r>
              <a:rPr lang="en-US" b="1" i="1" dirty="0"/>
              <a:t>bound </a:t>
            </a:r>
            <a:r>
              <a:rPr lang="en-US" dirty="0"/>
              <a:t>for </a:t>
            </a:r>
            <a:r>
              <a:rPr lang="en-US" dirty="0" smtClean="0"/>
              <a:t>f(n).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49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2503</TotalTime>
  <Words>3881</Words>
  <Application>Microsoft Office PowerPoint</Application>
  <PresentationFormat>Widescreen</PresentationFormat>
  <Paragraphs>529</Paragraphs>
  <Slides>39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ＭＳ Ｐゴシック</vt:lpstr>
      <vt:lpstr>Arial</vt:lpstr>
      <vt:lpstr>Calibri</vt:lpstr>
      <vt:lpstr>Calibri Light</vt:lpstr>
      <vt:lpstr>Cambria Math</vt:lpstr>
      <vt:lpstr>Courier New</vt:lpstr>
      <vt:lpstr>Helvetica</vt:lpstr>
      <vt:lpstr>Symbol</vt:lpstr>
      <vt:lpstr>Tahoma</vt:lpstr>
      <vt:lpstr>Times New Roman</vt:lpstr>
      <vt:lpstr>Wingdings</vt:lpstr>
      <vt:lpstr>Office Theme</vt:lpstr>
      <vt:lpstr>Clip</vt:lpstr>
      <vt:lpstr>Asymptotic Analysis</vt:lpstr>
      <vt:lpstr>Asymptotic Analysis: Ignore the constants</vt:lpstr>
      <vt:lpstr>Upper bound, Lower Bound and… </vt:lpstr>
      <vt:lpstr>Upper bound- bog-Oh notation</vt:lpstr>
      <vt:lpstr>Big-oh</vt:lpstr>
      <vt:lpstr>Big-oh Notation (cont)</vt:lpstr>
      <vt:lpstr>Big-Oh Examples</vt:lpstr>
      <vt:lpstr>Big-Oh Examples (2)</vt:lpstr>
      <vt:lpstr>Big-Oh Examples (2)</vt:lpstr>
      <vt:lpstr>Big-Omega</vt:lpstr>
      <vt:lpstr>Big-Omega Example</vt:lpstr>
      <vt:lpstr>Big-Omega Examples</vt:lpstr>
      <vt:lpstr>Theta Notation</vt:lpstr>
      <vt:lpstr>Simplifying Rules</vt:lpstr>
      <vt:lpstr>Time Complexity Examples (1)</vt:lpstr>
      <vt:lpstr>Time Complexity Examples (2)</vt:lpstr>
      <vt:lpstr>Time Complexity Examples (2)</vt:lpstr>
      <vt:lpstr>Time Complexity Examples (2)</vt:lpstr>
      <vt:lpstr>Time Complexity Examples (3)</vt:lpstr>
      <vt:lpstr>Time Complexity Examples (4)</vt:lpstr>
      <vt:lpstr>Time Complexity Examples (4)</vt:lpstr>
      <vt:lpstr>Time Complexity Examples (4)</vt:lpstr>
      <vt:lpstr>PowerPoint Presentation</vt:lpstr>
      <vt:lpstr>Time Complexity Examples (4)</vt:lpstr>
      <vt:lpstr>Binary Search</vt:lpstr>
      <vt:lpstr>Binary Search</vt:lpstr>
      <vt:lpstr>Sequential Search of Binary Search?</vt:lpstr>
      <vt:lpstr>Other Control Statements</vt:lpstr>
      <vt:lpstr>Problems</vt:lpstr>
      <vt:lpstr>Problems (cont)</vt:lpstr>
      <vt:lpstr>Algorithms and Programs</vt:lpstr>
      <vt:lpstr>Analyzing Problems</vt:lpstr>
      <vt:lpstr>Analyzing Problems: Example</vt:lpstr>
      <vt:lpstr>Space/Time Tradeoff Principle</vt:lpstr>
      <vt:lpstr>Multiple Parameters</vt:lpstr>
      <vt:lpstr>Space Complexity</vt:lpstr>
      <vt:lpstr>Common Misunderstandings</vt:lpstr>
      <vt:lpstr>Common Misunderstandings</vt:lpstr>
      <vt:lpstr>Intuition for Asymptotic Notation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Efficiency</dc:title>
  <dc:creator>Sara Nowreen</dc:creator>
  <cp:lastModifiedBy>user</cp:lastModifiedBy>
  <cp:revision>65</cp:revision>
  <dcterms:created xsi:type="dcterms:W3CDTF">2021-11-14T16:43:55Z</dcterms:created>
  <dcterms:modified xsi:type="dcterms:W3CDTF">2021-11-24T06:27:21Z</dcterms:modified>
</cp:coreProperties>
</file>