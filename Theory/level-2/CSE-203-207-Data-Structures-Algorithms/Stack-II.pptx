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7" r:id="rId2"/>
    <p:sldId id="307" r:id="rId3"/>
    <p:sldId id="288" r:id="rId4"/>
    <p:sldId id="289" r:id="rId5"/>
    <p:sldId id="290" r:id="rId6"/>
    <p:sldId id="291" r:id="rId7"/>
    <p:sldId id="292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9" r:id="rId18"/>
    <p:sldId id="310" r:id="rId19"/>
    <p:sldId id="311" r:id="rId20"/>
    <p:sldId id="312" r:id="rId21"/>
    <p:sldId id="313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61" r:id="rId49"/>
    <p:sldId id="342" r:id="rId50"/>
    <p:sldId id="343" r:id="rId51"/>
    <p:sldId id="344" r:id="rId52"/>
    <p:sldId id="345" r:id="rId53"/>
    <p:sldId id="346" r:id="rId54"/>
    <p:sldId id="347" r:id="rId55"/>
    <p:sldId id="348" r:id="rId56"/>
    <p:sldId id="349" r:id="rId57"/>
    <p:sldId id="350" r:id="rId58"/>
    <p:sldId id="351" r:id="rId59"/>
    <p:sldId id="352" r:id="rId60"/>
    <p:sldId id="353" r:id="rId61"/>
    <p:sldId id="354" r:id="rId62"/>
    <p:sldId id="355" r:id="rId63"/>
    <p:sldId id="356" r:id="rId64"/>
    <p:sldId id="362" r:id="rId65"/>
    <p:sldId id="363" r:id="rId66"/>
    <p:sldId id="366" r:id="rId67"/>
    <p:sldId id="364" r:id="rId68"/>
    <p:sldId id="365" r:id="rId69"/>
    <p:sldId id="367" r:id="rId70"/>
    <p:sldId id="368" r:id="rId71"/>
    <p:sldId id="369" r:id="rId72"/>
    <p:sldId id="370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131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9351F-BB58-45EF-A121-9ACD16557087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C56E8-80DC-4965-BD79-EE4E3975DE5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3C6F18-4249-426F-88F9-41ECE684A5E4}" type="slidenum">
              <a:rPr lang="en-CA" smtClean="0"/>
              <a:pPr>
                <a:defRPr/>
              </a:pPr>
              <a:t>3</a:t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953FA9-7B17-45C7-AD1B-45EDB1CBC22F}" type="slidenum">
              <a:rPr lang="en-CA" smtClean="0"/>
              <a:pPr>
                <a:defRPr/>
              </a:pPr>
              <a:t>4</a:t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C171B8-F4A2-45ED-9C38-C2DF123E25F5}" type="slidenum">
              <a:rPr lang="en-CA" smtClean="0"/>
              <a:pPr>
                <a:defRPr/>
              </a:pPr>
              <a:t>5</a:t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ED9950-C9EB-4140-A289-092CF9EB9759}" type="slidenum">
              <a:rPr lang="en-CA" smtClean="0"/>
              <a:pPr>
                <a:defRPr/>
              </a:pPr>
              <a:t>6</a:t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630227-D459-4635-8D04-643A40784481}" type="slidenum">
              <a:rPr lang="en-CA" smtClean="0"/>
              <a:pPr>
                <a:defRPr/>
              </a:pPr>
              <a:t>7</a:t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62A7C9-D08A-46A1-8315-4EA23FE68CA1}" type="slidenum">
              <a:rPr lang="en-CA" smtClean="0"/>
              <a:pPr>
                <a:defRPr/>
              </a:pPr>
              <a:t>8</a:t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8F4580-6ACF-4DD3-B93E-4946E5584675}" type="slidenum">
              <a:rPr lang="en-CA" smtClean="0"/>
              <a:pPr>
                <a:defRPr/>
              </a:pPr>
              <a:t>9</a:t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CA" dirty="0" smtClean="0"/>
              <a:t>Red</a:t>
            </a:r>
            <a:r>
              <a:rPr lang="en-CA" baseline="0" dirty="0" smtClean="0"/>
              <a:t> indicates the last inserted position. Ash indicates occupied.</a:t>
            </a:r>
            <a:endParaRPr lang="en-CA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6A77CE-5F5E-4AFA-B848-E0D499D786C8}" type="slidenum">
              <a:rPr lang="en-CA" smtClean="0"/>
              <a:pPr>
                <a:defRPr/>
              </a:pPr>
              <a:t>10</a:t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 smtClean="0"/>
              <a:t>Red</a:t>
            </a:r>
            <a:r>
              <a:rPr lang="en-CA" baseline="0" dirty="0" smtClean="0"/>
              <a:t> indicates the last inserted position. Ash indicates occupied. While indicates unoccupied.</a:t>
            </a:r>
            <a:endParaRPr lang="en-CA" dirty="0" smtClean="0"/>
          </a:p>
          <a:p>
            <a:endParaRPr lang="en-CA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FCF647-DE08-4DB3-B323-173465F25FA1}" type="slidenum">
              <a:rPr lang="en-CA" smtClean="0"/>
              <a:pPr>
                <a:defRPr/>
              </a:pPr>
              <a:t>11</a:t>
            </a:fld>
            <a:endParaRPr lang="en-C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6FF73E-63B1-4DEB-9B47-8611CA351B47}" type="slidenum">
              <a:rPr lang="en-CA" smtClean="0"/>
              <a:pPr>
                <a:defRPr/>
              </a:pPr>
              <a:t>12</a:t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B305B9-5426-4F26-A8DA-F26467CD1C5D}" type="slidenum">
              <a:rPr lang="en-CA" smtClean="0"/>
              <a:pPr>
                <a:defRPr/>
              </a:pPr>
              <a:t>13</a:t>
            </a:fld>
            <a:endParaRPr lang="en-C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2008A1-B274-4730-8940-067D07E22F5F}" type="slidenum">
              <a:rPr lang="en-CA" smtClean="0"/>
              <a:pPr>
                <a:defRPr/>
              </a:pPr>
              <a:t>14</a:t>
            </a:fld>
            <a:endParaRPr lang="en-C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DB8A77-B2F7-475B-8C76-17AF847DCFE5}" type="slidenum">
              <a:rPr lang="en-CA" smtClean="0"/>
              <a:pPr>
                <a:defRPr/>
              </a:pPr>
              <a:t>15</a:t>
            </a:fld>
            <a:endParaRPr lang="en-C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82180-21D5-4E68-A0B9-99BF0F16C399}" type="slidenum">
              <a:rPr lang="en-CA" smtClean="0"/>
              <a:pPr>
                <a:defRPr/>
              </a:pPr>
              <a:t>16</a:t>
            </a:fld>
            <a:endParaRPr lang="en-CA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3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0B00DE-08A7-4721-8958-8A13C60079DF}" type="slidenum">
              <a:rPr lang="en-CA" smtClean="0"/>
              <a:pPr>
                <a:defRPr/>
              </a:pPr>
              <a:t>17</a:t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DC54B5-4605-45BE-A8D9-AD6232ECA496}" type="slidenum">
              <a:rPr lang="en-CA" smtClean="0"/>
              <a:pPr>
                <a:defRPr/>
              </a:pPr>
              <a:t>18</a:t>
            </a:fld>
            <a:endParaRPr lang="en-C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5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09FC4E-89D2-43E2-869C-9CFDEC1B95AC}" type="slidenum">
              <a:rPr lang="en-CA" smtClean="0"/>
              <a:pPr>
                <a:defRPr/>
              </a:pPr>
              <a:t>19</a:t>
            </a:fld>
            <a:endParaRPr lang="en-CA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6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C16B33-F695-4876-844A-5494CBE42AA5}" type="slidenum">
              <a:rPr lang="en-CA" smtClean="0"/>
              <a:pPr>
                <a:defRPr/>
              </a:pPr>
              <a:t>20</a:t>
            </a:fld>
            <a:endParaRPr lang="en-CA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7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34241E-EB96-4DA6-B0B4-5A96A15253E9}" type="slidenum">
              <a:rPr lang="en-CA" smtClean="0"/>
              <a:pPr>
                <a:defRPr/>
              </a:pPr>
              <a:t>21</a:t>
            </a:fld>
            <a:endParaRPr lang="en-C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9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606CEF-3120-414B-B6F6-7B2EDAB404B9}" type="slidenum">
              <a:rPr lang="en-CA" smtClean="0"/>
              <a:pPr>
                <a:defRPr/>
              </a:pPr>
              <a:t>22</a:t>
            </a:fld>
            <a:endParaRPr lang="en-C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0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5653CD-89AF-48E3-9050-8F03B0EB14F2}" type="slidenum">
              <a:rPr lang="en-CA" smtClean="0"/>
              <a:pPr>
                <a:defRPr/>
              </a:pPr>
              <a:t>23</a:t>
            </a:fld>
            <a:endParaRPr lang="en-CA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6063E4-CE3E-47AD-A669-BCFC945C2837}" type="slidenum">
              <a:rPr lang="en-CA" smtClean="0"/>
              <a:pPr>
                <a:defRPr/>
              </a:pPr>
              <a:t>24</a:t>
            </a:fld>
            <a:endParaRPr lang="en-CA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2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CFBD26-5D1C-4D5E-988E-28BE6192967B}" type="slidenum">
              <a:rPr lang="en-CA" smtClean="0"/>
              <a:pPr>
                <a:defRPr/>
              </a:pPr>
              <a:t>25</a:t>
            </a:fld>
            <a:endParaRPr lang="en-C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2AC8-5898-462F-A43A-C7ADBFEE3F6F}" type="slidenum">
              <a:rPr lang="en-CA" smtClean="0"/>
              <a:pPr>
                <a:defRPr/>
              </a:pPr>
              <a:t>26</a:t>
            </a:fld>
            <a:endParaRPr lang="en-CA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59312-4D02-4966-B5BD-1F685C89AA4F}" type="slidenum">
              <a:rPr lang="en-CA" smtClean="0"/>
              <a:pPr>
                <a:defRPr/>
              </a:pPr>
              <a:t>27</a:t>
            </a:fld>
            <a:endParaRPr lang="en-CA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C9FD29-08E6-490E-A511-786C29675127}" type="slidenum">
              <a:rPr lang="en-CA" smtClean="0"/>
              <a:pPr>
                <a:defRPr/>
              </a:pPr>
              <a:t>28</a:t>
            </a:fld>
            <a:endParaRPr lang="en-CA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0B5F9FC-81AA-4E91-A4C7-218072555BAD}" type="slidenum">
              <a:rPr lang="en-CA" smtClean="0"/>
              <a:pPr>
                <a:defRPr/>
              </a:pPr>
              <a:t>29</a:t>
            </a:fld>
            <a:endParaRPr lang="en-CA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7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073BA8-59E5-4A62-B242-57623F28987C}" type="slidenum">
              <a:rPr lang="en-CA" smtClean="0"/>
              <a:pPr>
                <a:defRPr/>
              </a:pPr>
              <a:t>30</a:t>
            </a:fld>
            <a:endParaRPr lang="en-CA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8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D85F10-D732-4236-A702-C10016A90584}" type="slidenum">
              <a:rPr lang="en-CA" smtClean="0"/>
              <a:pPr>
                <a:defRPr/>
              </a:pPr>
              <a:t>31</a:t>
            </a:fld>
            <a:endParaRPr lang="en-CA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9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C60F92-C5F5-47BA-B7E3-5B818509B25E}" type="slidenum">
              <a:rPr lang="en-CA" smtClean="0"/>
              <a:pPr>
                <a:defRPr/>
              </a:pPr>
              <a:t>32</a:t>
            </a:fld>
            <a:endParaRPr lang="en-CA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0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F98DE7-45E1-48F7-8D3A-55B922887FF8}" type="slidenum">
              <a:rPr lang="en-CA" smtClean="0"/>
              <a:pPr>
                <a:defRPr/>
              </a:pPr>
              <a:t>33</a:t>
            </a:fld>
            <a:endParaRPr lang="en-CA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706072-BF6E-41C9-A5F3-6727CA06236B}" type="slidenum">
              <a:rPr lang="en-CA" smtClean="0"/>
              <a:pPr>
                <a:defRPr/>
              </a:pPr>
              <a:t>34</a:t>
            </a:fld>
            <a:endParaRPr lang="en-CA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27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EA2DFD-E9D1-4F49-B5CC-B8BF1F0F26FE}" type="slidenum">
              <a:rPr lang="en-CA" smtClean="0"/>
              <a:pPr>
                <a:defRPr/>
              </a:pPr>
              <a:t>35</a:t>
            </a:fld>
            <a:endParaRPr lang="en-CA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37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0FE31D-8E8E-415C-BEB5-6FDC14539CBF}" type="slidenum">
              <a:rPr lang="en-CA" smtClean="0"/>
              <a:pPr>
                <a:defRPr/>
              </a:pPr>
              <a:t>36</a:t>
            </a:fld>
            <a:endParaRPr lang="en-CA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614605-87DD-4D4B-B624-60672CAFE622}" type="slidenum">
              <a:rPr lang="en-CA" smtClean="0"/>
              <a:pPr>
                <a:defRPr/>
              </a:pPr>
              <a:t>37</a:t>
            </a:fld>
            <a:endParaRPr lang="en-CA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7F9FC9-9914-4E3B-B0A7-9CACCE82DBB8}" type="slidenum">
              <a:rPr lang="en-CA" smtClean="0"/>
              <a:pPr>
                <a:defRPr/>
              </a:pPr>
              <a:t>38</a:t>
            </a:fld>
            <a:endParaRPr lang="en-CA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6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A165F2-5283-4F68-9932-33B5291A5F3C}" type="slidenum">
              <a:rPr lang="en-CA" smtClean="0"/>
              <a:pPr>
                <a:defRPr/>
              </a:pPr>
              <a:t>39</a:t>
            </a:fld>
            <a:endParaRPr lang="en-CA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78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620376-44C5-480B-809B-00D5E0D8456D}" type="slidenum">
              <a:rPr lang="en-CA" smtClean="0"/>
              <a:pPr>
                <a:defRPr/>
              </a:pPr>
              <a:t>40</a:t>
            </a:fld>
            <a:endParaRPr lang="en-CA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8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6927CA-FA1D-4252-82BB-575DA06597EF}" type="slidenum">
              <a:rPr lang="en-CA" smtClean="0"/>
              <a:pPr>
                <a:defRPr/>
              </a:pPr>
              <a:t>41</a:t>
            </a:fld>
            <a:endParaRPr lang="en-CA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9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94E11A-5CD5-4C66-BDA4-03AFB9561860}" type="slidenum">
              <a:rPr lang="en-CA" smtClean="0"/>
              <a:pPr>
                <a:defRPr/>
              </a:pPr>
              <a:t>42</a:t>
            </a:fld>
            <a:endParaRPr lang="en-CA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71FCA5-346C-4E04-9D08-B4E0FF85BE26}" type="slidenum">
              <a:rPr lang="en-CA" smtClean="0"/>
              <a:pPr>
                <a:defRPr/>
              </a:pPr>
              <a:t>43</a:t>
            </a:fld>
            <a:endParaRPr lang="en-CA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7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6C4A0D-0851-460F-8851-C71DE37BEB9D}" type="slidenum">
              <a:rPr lang="en-CA" smtClean="0"/>
              <a:pPr>
                <a:defRPr/>
              </a:pPr>
              <a:t>44</a:t>
            </a:fld>
            <a:endParaRPr lang="en-CA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AC256D-7267-4506-8089-8DC80110EEC0}" type="slidenum">
              <a:rPr lang="en-CA" smtClean="0"/>
              <a:pPr>
                <a:defRPr/>
              </a:pPr>
              <a:t>45</a:t>
            </a:fld>
            <a:endParaRPr lang="en-CA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9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FEB880-F38F-41AC-9F75-2ADC10646BA9}" type="slidenum">
              <a:rPr lang="en-CA" smtClean="0"/>
              <a:pPr>
                <a:defRPr/>
              </a:pPr>
              <a:t>46</a:t>
            </a:fld>
            <a:endParaRPr lang="en-CA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8BDAB3-8093-4457-A9B7-4EB4E4410EA1}" type="slidenum">
              <a:rPr lang="en-CA" smtClean="0"/>
              <a:pPr>
                <a:defRPr/>
              </a:pPr>
              <a:t>47</a:t>
            </a:fld>
            <a:endParaRPr lang="en-CA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1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BE0E6-2E3B-4A11-BCB7-67DCADAAB645}" type="slidenum">
              <a:rPr lang="en-CA" smtClean="0"/>
              <a:pPr>
                <a:defRPr/>
              </a:pPr>
              <a:t>49</a:t>
            </a:fld>
            <a:endParaRPr lang="en-CA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D9C555-BCB5-4B0E-8698-A408E1D648CA}" type="slidenum">
              <a:rPr lang="en-CA" smtClean="0"/>
              <a:pPr>
                <a:defRPr/>
              </a:pPr>
              <a:t>50</a:t>
            </a:fld>
            <a:endParaRPr lang="en-CA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E27AC6-07D0-4372-9150-86EF4850C042}" type="slidenum">
              <a:rPr lang="en-CA" smtClean="0"/>
              <a:pPr>
                <a:defRPr/>
              </a:pPr>
              <a:t>51</a:t>
            </a:fld>
            <a:endParaRPr lang="en-CA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113BAE-5640-470F-964D-5ECE0592F869}" type="slidenum">
              <a:rPr lang="en-CA" smtClean="0"/>
              <a:pPr>
                <a:defRPr/>
              </a:pPr>
              <a:t>52</a:t>
            </a:fld>
            <a:endParaRPr lang="en-CA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2E3224-89AA-40D8-ADF0-7A314EC112B9}" type="slidenum">
              <a:rPr lang="en-CA" smtClean="0"/>
              <a:pPr>
                <a:defRPr/>
              </a:pPr>
              <a:t>53</a:t>
            </a:fld>
            <a:endParaRPr lang="en-CA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6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F2161A-F4EE-439B-91B2-B42D1A61805E}" type="slidenum">
              <a:rPr lang="en-CA" smtClean="0"/>
              <a:pPr>
                <a:defRPr/>
              </a:pPr>
              <a:t>54</a:t>
            </a:fld>
            <a:endParaRPr lang="en-CA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A04776-848E-45D8-863B-4AF41D83B834}" type="slidenum">
              <a:rPr lang="en-CA" smtClean="0"/>
              <a:pPr>
                <a:defRPr/>
              </a:pPr>
              <a:t>55</a:t>
            </a:fld>
            <a:endParaRPr lang="en-CA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9E7085-DD3D-4CEE-931C-0C0196C96E60}" type="slidenum">
              <a:rPr lang="en-CA" smtClean="0"/>
              <a:pPr>
                <a:defRPr/>
              </a:pPr>
              <a:t>56</a:t>
            </a:fld>
            <a:endParaRPr lang="en-CA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1F4931-05F3-4A7C-992A-065641E1B274}" type="slidenum">
              <a:rPr lang="en-CA" smtClean="0"/>
              <a:pPr>
                <a:defRPr/>
              </a:pPr>
              <a:t>57</a:t>
            </a:fld>
            <a:endParaRPr lang="en-CA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1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7F89D6-7EE4-48FE-8C89-E3FB5A0419F4}" type="slidenum">
              <a:rPr lang="en-CA" smtClean="0"/>
              <a:pPr>
                <a:defRPr/>
              </a:pPr>
              <a:t>58</a:t>
            </a:fld>
            <a:endParaRPr lang="en-CA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2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85BC42-4450-4192-89E2-0ED186877014}" type="slidenum">
              <a:rPr lang="en-CA" smtClean="0"/>
              <a:pPr>
                <a:defRPr/>
              </a:pPr>
              <a:t>59</a:t>
            </a:fld>
            <a:endParaRPr lang="en-CA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45AFF7-ECF2-4166-9786-C19E53960243}" type="slidenum">
              <a:rPr lang="en-CA" smtClean="0"/>
              <a:pPr>
                <a:defRPr/>
              </a:pPr>
              <a:t>60</a:t>
            </a:fld>
            <a:endParaRPr lang="en-CA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DE0200-01FD-4C03-9A88-DFA3A17BCE9B}" type="slidenum">
              <a:rPr lang="en-CA" smtClean="0"/>
              <a:pPr>
                <a:defRPr/>
              </a:pPr>
              <a:t>61</a:t>
            </a:fld>
            <a:endParaRPr lang="en-CA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5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C6BBCA-E3F7-4185-8E09-B8330E74A206}" type="slidenum">
              <a:rPr lang="en-CA" smtClean="0"/>
              <a:pPr>
                <a:defRPr/>
              </a:pPr>
              <a:t>62</a:t>
            </a:fld>
            <a:endParaRPr lang="en-CA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6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E7743B-84E7-4792-B2A5-D83D498D0FB6}" type="slidenum">
              <a:rPr lang="en-CA" smtClean="0"/>
              <a:pPr>
                <a:defRPr/>
              </a:pPr>
              <a:t>63</a:t>
            </a:fld>
            <a:endParaRPr lang="en-CA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 counts</a:t>
            </a:r>
            <a:r>
              <a:rPr lang="en-US" baseline="0" dirty="0" smtClean="0"/>
              <a:t> itself; so minimum value of S is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56E8-80DC-4965-BD79-EE4E3975DE5F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39074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56E8-80DC-4965-BD79-EE4E3975DE5F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62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8.wmf"/><Relationship Id="rId4" Type="http://schemas.openxmlformats.org/officeDocument/2006/relationships/image" Target="../media/image9.png"/><Relationship Id="rId9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1.wmf"/><Relationship Id="rId4" Type="http://schemas.openxmlformats.org/officeDocument/2006/relationships/image" Target="../media/image12.png"/><Relationship Id="rId9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3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9.e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3600"/>
            <a:ext cx="7772400" cy="1470025"/>
          </a:xfrm>
        </p:spPr>
        <p:txBody>
          <a:bodyPr/>
          <a:lstStyle/>
          <a:p>
            <a:r>
              <a:rPr lang="en-US" dirty="0" smtClean="0"/>
              <a:t>CSE 203: Data Structures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Elementary Data Structures- Stacks</a:t>
            </a:r>
          </a:p>
          <a:p>
            <a:r>
              <a:rPr lang="en-US" dirty="0" smtClean="0"/>
              <a:t>Part II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happens if our guess of </a:t>
            </a:r>
            <a:r>
              <a:rPr lang="en-US" dirty="0" err="1" smtClean="0"/>
              <a:t>maxSize</a:t>
            </a:r>
            <a:r>
              <a:rPr lang="en-US" dirty="0" smtClean="0"/>
              <a:t> (in the array based stack) is wrong?</a:t>
            </a:r>
          </a:p>
          <a:p>
            <a:pPr lvl="1"/>
            <a:r>
              <a:rPr lang="en-US" dirty="0" smtClean="0"/>
              <a:t>Throw an exception (What is this?)</a:t>
            </a:r>
          </a:p>
          <a:p>
            <a:pPr lvl="1"/>
            <a:r>
              <a:rPr lang="en-US" dirty="0" smtClean="0"/>
              <a:t>Ignore the object being pushed onto the stack (Being an Ostrich?)</a:t>
            </a:r>
          </a:p>
          <a:p>
            <a:pPr lvl="1"/>
            <a:r>
              <a:rPr lang="en-US" dirty="0" smtClean="0"/>
              <a:t>Put the process pushing the object onto the stack to sleep until another process removes the top of the stack (Some advanced topic)</a:t>
            </a:r>
          </a:p>
          <a:p>
            <a:pPr lvl="1"/>
            <a:r>
              <a:rPr lang="en-US" dirty="0" smtClean="0"/>
              <a:t>We could increase the size of the array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36868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First, let us visualize what must occur to allocate new memory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91200" y="2096984"/>
            <a:ext cx="18857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count = 8</a:t>
            </a:r>
          </a:p>
          <a:p>
            <a:r>
              <a:rPr lang="en-GB" dirty="0" err="1"/>
              <a:t>a</a:t>
            </a:r>
            <a:r>
              <a:rPr lang="en-GB" dirty="0" err="1" smtClean="0"/>
              <a:t>rray_capacity</a:t>
            </a:r>
            <a:r>
              <a:rPr lang="en-GB" dirty="0" smtClean="0"/>
              <a:t> = 8</a:t>
            </a:r>
          </a:p>
          <a:p>
            <a:r>
              <a:rPr lang="en-GB" dirty="0" smtClean="0"/>
              <a:t>array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111" y="1403527"/>
            <a:ext cx="247915" cy="416156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542" y="3020314"/>
            <a:ext cx="247915" cy="2091563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6477000" y="2819400"/>
            <a:ext cx="762000" cy="200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3789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143000"/>
            <a:ext cx="8229600" cy="45259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First, this requires a call to </a:t>
            </a:r>
            <a:r>
              <a:rPr lang="en-US" dirty="0" smtClean="0">
                <a:latin typeface="Consolas" pitchFamily="49" charset="0"/>
                <a:cs typeface="Arial" charset="0"/>
              </a:rPr>
              <a:t>new Type[</a:t>
            </a:r>
            <a:r>
              <a:rPr lang="en-US" i="1" dirty="0" smtClean="0">
                <a:latin typeface="Consolas" pitchFamily="49" charset="0"/>
                <a:cs typeface="Arial" charset="0"/>
              </a:rPr>
              <a:t>N</a:t>
            </a:r>
            <a:r>
              <a:rPr lang="en-US" dirty="0" smtClean="0">
                <a:latin typeface="Consolas" pitchFamily="49" charset="0"/>
                <a:cs typeface="Arial" charset="0"/>
              </a:rPr>
              <a:t>]</a:t>
            </a:r>
            <a:r>
              <a:rPr lang="en-US" dirty="0" smtClean="0">
                <a:latin typeface="Arial" charset="0"/>
                <a:cs typeface="Arial" charset="0"/>
              </a:rPr>
              <a:t> where </a:t>
            </a:r>
            <a:r>
              <a:rPr lang="en-US" i="1" dirty="0" smtClean="0">
                <a:latin typeface="Consolas" pitchFamily="49" charset="0"/>
                <a:cs typeface="Arial" charset="0"/>
              </a:rPr>
              <a:t>N</a:t>
            </a:r>
            <a:r>
              <a:rPr lang="en-US" dirty="0" smtClean="0">
                <a:latin typeface="Arial" charset="0"/>
                <a:cs typeface="Arial" charset="0"/>
              </a:rPr>
              <a:t> is the new capacity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We must have access to this so we must</a:t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store the address returned by new in a</a:t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local variable, say </a:t>
            </a:r>
            <a:r>
              <a:rPr lang="en-US" dirty="0" err="1" smtClean="0">
                <a:latin typeface="Consolas" pitchFamily="49" charset="0"/>
                <a:cs typeface="Arial" charset="0"/>
              </a:rPr>
              <a:t>tmp</a:t>
            </a:r>
            <a:endParaRPr lang="en-US" dirty="0" smtClean="0">
              <a:latin typeface="Consolas" pitchFamily="49" charset="0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661375" y="3260072"/>
            <a:ext cx="1885709" cy="3014893"/>
            <a:chOff x="5791200" y="2096984"/>
            <a:chExt cx="1885709" cy="3014893"/>
          </a:xfrm>
        </p:grpSpPr>
        <p:sp>
          <p:nvSpPr>
            <p:cNvPr id="6" name="TextBox 5"/>
            <p:cNvSpPr txBox="1"/>
            <p:nvPr/>
          </p:nvSpPr>
          <p:spPr>
            <a:xfrm>
              <a:off x="5791200" y="2096984"/>
              <a:ext cx="188570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count = 8</a:t>
              </a:r>
            </a:p>
            <a:p>
              <a:r>
                <a:rPr lang="en-GB" dirty="0" err="1"/>
                <a:t>a</a:t>
              </a:r>
              <a:r>
                <a:rPr lang="en-GB" dirty="0" err="1" smtClean="0"/>
                <a:t>rray_capacity</a:t>
              </a:r>
              <a:r>
                <a:rPr lang="en-GB" dirty="0" smtClean="0"/>
                <a:t> = 8</a:t>
              </a:r>
            </a:p>
            <a:p>
              <a:r>
                <a:rPr lang="en-GB" dirty="0" smtClean="0"/>
                <a:t>array</a:t>
              </a:r>
              <a:endParaRPr lang="en-US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5542" y="3020314"/>
              <a:ext cx="247915" cy="2091563"/>
            </a:xfrm>
            <a:prstGeom prst="rect">
              <a:avLst/>
            </a:prstGeom>
          </p:spPr>
        </p:pic>
        <p:cxnSp>
          <p:nvCxnSpPr>
            <p:cNvPr id="10" name="Straight Arrow Connector 9"/>
            <p:cNvCxnSpPr/>
            <p:nvPr/>
          </p:nvCxnSpPr>
          <p:spPr>
            <a:xfrm>
              <a:off x="6477000" y="2819400"/>
              <a:ext cx="762000" cy="2009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926" y="2150091"/>
            <a:ext cx="247915" cy="41615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29169" y="1417638"/>
            <a:ext cx="680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temp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8232883" y="1752600"/>
            <a:ext cx="30151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38916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472440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Next, the values must be copied over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543790" y="1138535"/>
            <a:ext cx="18857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count = 8</a:t>
            </a:r>
          </a:p>
          <a:p>
            <a:r>
              <a:rPr lang="en-GB" dirty="0" err="1"/>
              <a:t>a</a:t>
            </a:r>
            <a:r>
              <a:rPr lang="en-GB" dirty="0" err="1" smtClean="0"/>
              <a:t>rray_capacity</a:t>
            </a:r>
            <a:r>
              <a:rPr lang="en-GB" dirty="0" smtClean="0"/>
              <a:t> = 8</a:t>
            </a:r>
          </a:p>
          <a:p>
            <a:r>
              <a:rPr lang="en-GB" dirty="0" smtClean="0"/>
              <a:t>array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670" y="2128326"/>
            <a:ext cx="247915" cy="41615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898" y="2095732"/>
            <a:ext cx="247915" cy="2091563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>
          <a:xfrm>
            <a:off x="6172200" y="1981200"/>
            <a:ext cx="53340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68686" y="1417638"/>
            <a:ext cx="680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temp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772400" y="1752600"/>
            <a:ext cx="30151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7039813" y="2209800"/>
            <a:ext cx="593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010400" y="2438400"/>
            <a:ext cx="593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010400" y="2743200"/>
            <a:ext cx="593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037432" y="3014133"/>
            <a:ext cx="593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010400" y="3276600"/>
            <a:ext cx="593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021689" y="3505200"/>
            <a:ext cx="593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010400" y="3787422"/>
            <a:ext cx="593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7032978" y="4038600"/>
            <a:ext cx="593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125867"/>
            <a:ext cx="8229600" cy="1143000"/>
          </a:xfrm>
        </p:spPr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39939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4535948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The memory for the original array must be deallocated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587005" y="1066800"/>
            <a:ext cx="18857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count = 8</a:t>
            </a:r>
          </a:p>
          <a:p>
            <a:r>
              <a:rPr lang="en-GB" dirty="0" err="1"/>
              <a:t>a</a:t>
            </a:r>
            <a:r>
              <a:rPr lang="en-GB" dirty="0" err="1" smtClean="0"/>
              <a:t>rray_capacity</a:t>
            </a:r>
            <a:r>
              <a:rPr lang="en-GB" dirty="0" smtClean="0"/>
              <a:t> = 8</a:t>
            </a:r>
          </a:p>
          <a:p>
            <a:r>
              <a:rPr lang="en-GB" dirty="0" smtClean="0"/>
              <a:t>array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885" y="2056591"/>
            <a:ext cx="247915" cy="41615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13" y="2023997"/>
            <a:ext cx="247915" cy="2091563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6215415" y="1909465"/>
            <a:ext cx="53340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68686" y="1417638"/>
            <a:ext cx="680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temp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7772400" y="1752600"/>
            <a:ext cx="30151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6748550" y="1984905"/>
            <a:ext cx="403887" cy="2206095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24472"/>
            <a:ext cx="8229600" cy="1143000"/>
          </a:xfrm>
        </p:spPr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40964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480060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Finally, the appropriate member variables must be reassigned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587005" y="1066800"/>
            <a:ext cx="18857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count = 8</a:t>
            </a:r>
          </a:p>
          <a:p>
            <a:r>
              <a:rPr lang="en-GB" dirty="0" err="1"/>
              <a:t>a</a:t>
            </a:r>
            <a:r>
              <a:rPr lang="en-GB" dirty="0" err="1" smtClean="0"/>
              <a:t>rray_capacity</a:t>
            </a:r>
            <a:r>
              <a:rPr lang="en-GB" dirty="0" smtClean="0"/>
              <a:t> = 8</a:t>
            </a:r>
          </a:p>
          <a:p>
            <a:r>
              <a:rPr lang="en-GB" dirty="0" smtClean="0"/>
              <a:t>array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885" y="2056591"/>
            <a:ext cx="247915" cy="4161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68686" y="1417638"/>
            <a:ext cx="680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temp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772400" y="1752600"/>
            <a:ext cx="30151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endCxn id="8" idx="0"/>
          </p:cNvCxnSpPr>
          <p:nvPr/>
        </p:nvCxnSpPr>
        <p:spPr>
          <a:xfrm>
            <a:off x="6324600" y="1786970"/>
            <a:ext cx="1476243" cy="269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47107" name="Rectangle 4"/>
          <p:cNvSpPr>
            <a:spLocks noGrp="1"/>
          </p:cNvSpPr>
          <p:nvPr>
            <p:ph type="body" idx="4294967295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Back to the original question:</a:t>
            </a:r>
          </a:p>
          <a:p>
            <a:pPr lvl="1"/>
            <a:r>
              <a:rPr lang="en-US" smtClean="0">
                <a:latin typeface="Arial" charset="0"/>
                <a:cs typeface="Arial" charset="0"/>
              </a:rPr>
              <a:t>How much do we change the capacity?</a:t>
            </a:r>
          </a:p>
          <a:p>
            <a:pPr lvl="1"/>
            <a:r>
              <a:rPr lang="en-US" smtClean="0">
                <a:latin typeface="Arial" charset="0"/>
                <a:cs typeface="Arial" charset="0"/>
              </a:rPr>
              <a:t>Add a constant?</a:t>
            </a:r>
          </a:p>
          <a:p>
            <a:pPr lvl="1"/>
            <a:r>
              <a:rPr lang="en-US" smtClean="0">
                <a:latin typeface="Arial" charset="0"/>
                <a:cs typeface="Arial" charset="0"/>
              </a:rPr>
              <a:t>Multiply by a constant?</a:t>
            </a:r>
          </a:p>
          <a:p>
            <a:pPr>
              <a:buFont typeface="Arial" charset="0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First, we recognize that any time that we </a:t>
            </a:r>
            <a:r>
              <a:rPr lang="en-US" smtClean="0">
                <a:latin typeface="Consolas" pitchFamily="49" charset="0"/>
                <a:cs typeface="Arial" charset="0"/>
              </a:rPr>
              <a:t>push</a:t>
            </a:r>
            <a:r>
              <a:rPr lang="en-US" smtClean="0">
                <a:latin typeface="Arial" charset="0"/>
                <a:cs typeface="Arial" charset="0"/>
              </a:rPr>
              <a:t> onto a full stack, this requires </a:t>
            </a:r>
            <a:r>
              <a:rPr 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US" smtClean="0">
                <a:latin typeface="Arial" charset="0"/>
                <a:cs typeface="Arial" charset="0"/>
              </a:rPr>
              <a:t> copies and the run time is </a:t>
            </a:r>
            <a:r>
              <a:rPr lang="en-CA" b="1" smtClean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CA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Arial" charset="0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Therefore, </a:t>
            </a:r>
            <a:r>
              <a:rPr lang="en-US" smtClean="0">
                <a:latin typeface="Consolas" pitchFamily="49" charset="0"/>
                <a:cs typeface="Arial" charset="0"/>
              </a:rPr>
              <a:t>push</a:t>
            </a:r>
            <a:r>
              <a:rPr lang="en-US" smtClean="0">
                <a:latin typeface="Arial" charset="0"/>
                <a:cs typeface="Arial" charset="0"/>
              </a:rPr>
              <a:t> is usually </a:t>
            </a:r>
            <a:r>
              <a:rPr lang="en-CA" b="1" smtClean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CA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smtClean="0">
                <a:latin typeface="Arial" charset="0"/>
                <a:cs typeface="Arial" charset="0"/>
              </a:rPr>
              <a:t> except when new memory is required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1028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We will introduce the concept of amortized time: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If </a:t>
            </a:r>
            <a:r>
              <a:rPr lang="en-C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 smtClean="0">
                <a:latin typeface="Arial" charset="0"/>
                <a:cs typeface="Arial" charset="0"/>
              </a:rPr>
              <a:t> operations requires </a:t>
            </a:r>
            <a:r>
              <a:rPr lang="en-CA" b="1" dirty="0" smtClean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(f(</a:t>
            </a:r>
            <a:r>
              <a:rPr lang="en-C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en-US" dirty="0" smtClean="0">
                <a:latin typeface="Arial" charset="0"/>
                <a:cs typeface="Arial" charset="0"/>
              </a:rPr>
              <a:t>, we will say that an individual operation has an amortized run time of </a:t>
            </a:r>
            <a:r>
              <a:rPr lang="en-CA" b="1" dirty="0" smtClean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(f(</a:t>
            </a:r>
            <a:r>
              <a:rPr lang="en-C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)/</a:t>
            </a:r>
            <a:r>
              <a:rPr lang="en-C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Therefore, if inserting </a:t>
            </a:r>
            <a:r>
              <a:rPr lang="en-C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 smtClean="0">
                <a:latin typeface="Arial" charset="0"/>
                <a:cs typeface="Arial" charset="0"/>
              </a:rPr>
              <a:t> objects requires:</a:t>
            </a:r>
          </a:p>
          <a:p>
            <a:pPr lvl="2"/>
            <a:r>
              <a:rPr lang="en-CA" b="1" dirty="0" smtClean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smtClean="0">
                <a:latin typeface="Arial" charset="0"/>
                <a:cs typeface="Arial" charset="0"/>
              </a:rPr>
              <a:t>copies, the amortized time is </a:t>
            </a:r>
            <a:r>
              <a:rPr lang="en-CA" b="1" dirty="0" smtClean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lvl="2"/>
            <a:r>
              <a:rPr lang="en-CA" b="1" dirty="0" smtClean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smtClean="0">
                <a:latin typeface="Arial" charset="0"/>
                <a:cs typeface="Arial" charset="0"/>
              </a:rPr>
              <a:t>copies, the amortized time is </a:t>
            </a:r>
            <a:r>
              <a:rPr lang="en-CA" b="1" dirty="0" smtClean="0">
                <a:solidFill>
                  <a:srgbClr val="00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C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(1) </a:t>
            </a: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 charset="0"/>
              <a:buNone/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6" name="Equation" r:id="rId4" imgW="114151" imgH="215619" progId="Equation.3">
                  <p:embed/>
                </p:oleObj>
              </mc:Choice>
              <mc:Fallback>
                <p:oleObj name="Equation" r:id="rId4" imgW="114151" imgH="215619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9" descr="d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1625" y="863600"/>
            <a:ext cx="5907088" cy="556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205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Let us consider the case of increasing the capacity by 1 each time the array is full</a:t>
            </a:r>
          </a:p>
          <a:p>
            <a:pPr lvl="1"/>
            <a:r>
              <a:rPr lang="en-US" smtClean="0">
                <a:latin typeface="Arial" charset="0"/>
                <a:cs typeface="Arial" charset="0"/>
              </a:rPr>
              <a:t>With each insertion when the array is full, this requires all entries to be copied</a:t>
            </a:r>
          </a:p>
          <a:p>
            <a:endParaRPr lang="en-US" sz="240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6372225" y="4103688"/>
          <a:ext cx="14763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0" name="Equation" r:id="rId5" imgW="114151" imgH="215619" progId="Equation.3">
                  <p:embed/>
                </p:oleObj>
              </mc:Choice>
              <mc:Fallback>
                <p:oleObj name="Equation" r:id="rId5" imgW="114151" imgH="215619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103688"/>
                        <a:ext cx="147638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8" descr="d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1625" y="863600"/>
            <a:ext cx="5907088" cy="556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3077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502920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Suppose we double the number of entries each time the array is full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Now the number of copies appears to be significantly</a:t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fewer</a:t>
            </a: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5" name="Equation" r:id="rId5" imgW="114151" imgH="215619" progId="Equation.3">
                  <p:embed/>
                </p:oleObj>
              </mc:Choice>
              <mc:Fallback>
                <p:oleObj name="Equation" r:id="rId5" imgW="114151" imgH="215619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 descr="d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3213" y="712788"/>
            <a:ext cx="5905500" cy="581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2" name="Rectangle 2"/>
          <p:cNvSpPr>
            <a:spLocks noGrp="1"/>
          </p:cNvSpPr>
          <p:nvPr>
            <p:ph type="title" idx="4294967295"/>
          </p:nvPr>
        </p:nvSpPr>
        <p:spPr>
          <a:xfrm>
            <a:off x="276225" y="-103981"/>
            <a:ext cx="8229600" cy="1143000"/>
          </a:xfrm>
        </p:spPr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4103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039020"/>
            <a:ext cx="8229600" cy="5087144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400" dirty="0" smtClean="0">
                <a:latin typeface="Arial" charset="0"/>
                <a:cs typeface="Arial" charset="0"/>
              </a:rPr>
              <a:t>Suppose </a:t>
            </a:r>
            <a:r>
              <a:rPr lang="en-US" sz="2400" dirty="0">
                <a:latin typeface="Arial" charset="0"/>
                <a:cs typeface="Arial" charset="0"/>
              </a:rPr>
              <a:t>we </a:t>
            </a:r>
            <a:r>
              <a:rPr lang="en-US" sz="2400" dirty="0" smtClean="0">
                <a:latin typeface="Arial" charset="0"/>
                <a:cs typeface="Arial" charset="0"/>
              </a:rPr>
              <a:t>increase the </a:t>
            </a:r>
            <a:r>
              <a:rPr lang="en-US" sz="2400" dirty="0">
                <a:latin typeface="Arial" charset="0"/>
                <a:cs typeface="Arial" charset="0"/>
              </a:rPr>
              <a:t>array size </a:t>
            </a:r>
            <a:r>
              <a:rPr lang="en-US" sz="2400" dirty="0" smtClean="0">
                <a:latin typeface="Arial" charset="0"/>
                <a:cs typeface="Arial" charset="0"/>
              </a:rPr>
              <a:t>by 1 each </a:t>
            </a:r>
            <a:r>
              <a:rPr lang="en-US" sz="2400" dirty="0">
                <a:latin typeface="Arial" charset="0"/>
                <a:cs typeface="Arial" charset="0"/>
              </a:rPr>
              <a:t>time it is full</a:t>
            </a:r>
            <a:r>
              <a:rPr lang="en-US" sz="2400" dirty="0" smtClean="0">
                <a:latin typeface="Arial" charset="0"/>
                <a:cs typeface="Arial" charset="0"/>
              </a:rPr>
              <a:t>:</a:t>
            </a:r>
            <a:endParaRPr lang="en-US" sz="2400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2400" dirty="0" smtClean="0">
                <a:latin typeface="Arial" charset="0"/>
                <a:cs typeface="Arial" charset="0"/>
              </a:rPr>
              <a:t>Suppose </a:t>
            </a:r>
            <a:r>
              <a:rPr lang="en-US" sz="2400" dirty="0" smtClean="0">
                <a:latin typeface="Arial" charset="0"/>
                <a:cs typeface="Arial" charset="0"/>
              </a:rPr>
              <a:t>we insert 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sz="2400" dirty="0" smtClean="0">
                <a:latin typeface="Arial" charset="0"/>
                <a:cs typeface="Arial" charset="0"/>
              </a:rPr>
              <a:t> objects</a:t>
            </a: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The pushing of the </a:t>
            </a:r>
            <a:r>
              <a:rPr lang="en-US" sz="2000" i="1" dirty="0" err="1" smtClean="0">
                <a:latin typeface="Times New Roman" pitchFamily="18" charset="0"/>
                <a:cs typeface="Arial" charset="0"/>
              </a:rPr>
              <a:t>k</a:t>
            </a:r>
            <a:r>
              <a:rPr lang="en-US" sz="2000" baseline="30000" dirty="0" err="1" smtClean="0">
                <a:latin typeface="Arial" charset="0"/>
                <a:cs typeface="Arial" charset="0"/>
              </a:rPr>
              <a:t>th</a:t>
            </a:r>
            <a:r>
              <a:rPr lang="en-US" sz="2000" dirty="0" smtClean="0">
                <a:latin typeface="Arial" charset="0"/>
                <a:cs typeface="Arial" charset="0"/>
              </a:rPr>
              <a:t> object on the stack requires </a:t>
            </a:r>
            <a:r>
              <a:rPr lang="en-US" sz="2000" i="1" dirty="0" smtClean="0">
                <a:latin typeface="Times New Roman" pitchFamily="18" charset="0"/>
                <a:cs typeface="Arial" charset="0"/>
              </a:rPr>
              <a:t>k-1</a:t>
            </a:r>
            <a:r>
              <a:rPr lang="en-US" sz="2000" dirty="0" smtClean="0">
                <a:latin typeface="Arial" charset="0"/>
                <a:cs typeface="Arial" charset="0"/>
              </a:rPr>
              <a:t> copies</a:t>
            </a: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The total number of copies is now given by:</a:t>
            </a:r>
          </a:p>
          <a:p>
            <a:pPr lvl="1"/>
            <a:endParaRPr lang="en-US" sz="2000" dirty="0" smtClean="0">
              <a:latin typeface="Arial" charset="0"/>
              <a:cs typeface="Arial" charset="0"/>
            </a:endParaRPr>
          </a:p>
          <a:p>
            <a:pPr lvl="1"/>
            <a:endParaRPr lang="en-US" sz="2000" dirty="0" smtClean="0">
              <a:latin typeface="Arial" charset="0"/>
              <a:cs typeface="Arial" charset="0"/>
            </a:endParaRP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Therefore, the amortized number of copies</a:t>
            </a:r>
            <a:br>
              <a:rPr lang="en-US" sz="2000" dirty="0" smtClean="0">
                <a:latin typeface="Arial" charset="0"/>
                <a:cs typeface="Arial" charset="0"/>
              </a:rPr>
            </a:br>
            <a:r>
              <a:rPr lang="en-US" sz="2000" dirty="0" smtClean="0">
                <a:latin typeface="Arial" charset="0"/>
                <a:cs typeface="Arial" charset="0"/>
              </a:rPr>
              <a:t>is given by</a:t>
            </a:r>
          </a:p>
          <a:p>
            <a:pPr lvl="1"/>
            <a:endParaRPr lang="en-US" sz="2000" dirty="0" smtClean="0">
              <a:latin typeface="Arial" charset="0"/>
              <a:cs typeface="Arial" charset="0"/>
            </a:endParaRP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Therefore each push must run in</a:t>
            </a:r>
            <a:br>
              <a:rPr lang="en-US" sz="2000" dirty="0" smtClean="0">
                <a:latin typeface="Arial" charset="0"/>
                <a:cs typeface="Arial" charset="0"/>
              </a:rPr>
            </a:br>
            <a:r>
              <a:rPr lang="en-US" sz="2000" b="1" dirty="0" smtClean="0">
                <a:latin typeface="Symbol" pitchFamily="18" charset="2"/>
                <a:cs typeface="Arial" charset="0"/>
              </a:rPr>
              <a:t>Q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sz="20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sz="2000" dirty="0" smtClean="0">
                <a:latin typeface="Arial" charset="0"/>
                <a:cs typeface="Arial" charset="0"/>
              </a:rPr>
              <a:t> time</a:t>
            </a: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No wasted space.</a:t>
            </a:r>
            <a:endParaRPr lang="en-US" sz="2000" dirty="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2" name="Equation" r:id="rId5" imgW="114151" imgH="215619" progId="Equation.3">
                  <p:embed/>
                </p:oleObj>
              </mc:Choice>
              <mc:Fallback>
                <p:oleObj name="Equation" r:id="rId5" imgW="114151" imgH="215619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ChangeAspect="1"/>
          </p:cNvGraphicFramePr>
          <p:nvPr/>
        </p:nvGraphicFramePr>
        <p:xfrm>
          <a:off x="2051050" y="2722563"/>
          <a:ext cx="467995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3" name="Equation" r:id="rId7" imgW="3365500" imgH="508000" progId="Equation.3">
                  <p:embed/>
                </p:oleObj>
              </mc:Choice>
              <mc:Fallback>
                <p:oleObj name="Equation" r:id="rId7" imgW="3365500" imgH="508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722563"/>
                        <a:ext cx="4679950" cy="706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7"/>
          <p:cNvGraphicFramePr>
            <a:graphicFrameLocks noChangeAspect="1"/>
          </p:cNvGraphicFramePr>
          <p:nvPr/>
        </p:nvGraphicFramePr>
        <p:xfrm>
          <a:off x="2755900" y="3795161"/>
          <a:ext cx="15113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4" name="Equation" r:id="rId9" imgW="914400" imgH="508000" progId="Equation.3">
                  <p:embed/>
                </p:oleObj>
              </mc:Choice>
              <mc:Fallback>
                <p:oleObj name="Equation" r:id="rId9" imgW="914400" imgH="5080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3795161"/>
                        <a:ext cx="1511300" cy="839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7" descr="d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3213" y="712788"/>
            <a:ext cx="5905500" cy="581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5127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400" dirty="0" smtClean="0">
                <a:latin typeface="Arial" charset="0"/>
                <a:cs typeface="Arial" charset="0"/>
              </a:rPr>
              <a:t>	Suppose we double the array size each time it is full:</a:t>
            </a: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We must make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sz="2000" dirty="0" smtClean="0">
                <a:latin typeface="Arial" charset="0"/>
                <a:cs typeface="Arial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sz="2000" dirty="0" smtClean="0">
                <a:latin typeface="Arial" charset="0"/>
                <a:cs typeface="Arial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4</a:t>
            </a:r>
            <a:r>
              <a:rPr lang="en-US" sz="2000" dirty="0" smtClean="0">
                <a:latin typeface="Arial" charset="0"/>
                <a:cs typeface="Arial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8</a:t>
            </a:r>
            <a:r>
              <a:rPr lang="en-US" sz="2000" dirty="0" smtClean="0">
                <a:latin typeface="Arial" charset="0"/>
                <a:cs typeface="Arial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16</a:t>
            </a:r>
            <a:r>
              <a:rPr lang="en-US" sz="2000" dirty="0" smtClean="0">
                <a:latin typeface="Arial" charset="0"/>
                <a:cs typeface="Arial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32</a:t>
            </a:r>
            <a:r>
              <a:rPr lang="en-US" sz="2000" dirty="0" smtClean="0">
                <a:latin typeface="Arial" charset="0"/>
                <a:cs typeface="Arial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64</a:t>
            </a:r>
            <a:r>
              <a:rPr lang="en-US" sz="2000" dirty="0" smtClean="0">
                <a:latin typeface="Arial" charset="0"/>
                <a:cs typeface="Arial" charset="0"/>
              </a:rPr>
              <a:t>,... Copies at the 2</a:t>
            </a:r>
            <a:r>
              <a:rPr lang="en-US" sz="2000" baseline="30000" dirty="0" smtClean="0">
                <a:latin typeface="Arial" charset="0"/>
                <a:cs typeface="Arial" charset="0"/>
              </a:rPr>
              <a:t>nd</a:t>
            </a:r>
            <a:r>
              <a:rPr lang="en-US" sz="2000" dirty="0" smtClean="0">
                <a:latin typeface="Arial" charset="0"/>
                <a:cs typeface="Arial" charset="0"/>
              </a:rPr>
              <a:t>, 3</a:t>
            </a:r>
            <a:r>
              <a:rPr lang="en-US" sz="2000" baseline="30000" dirty="0" smtClean="0">
                <a:latin typeface="Arial" charset="0"/>
                <a:cs typeface="Arial" charset="0"/>
              </a:rPr>
              <a:t>rd</a:t>
            </a:r>
            <a:r>
              <a:rPr lang="en-US" sz="2000" dirty="0" smtClean="0">
                <a:latin typeface="Arial" charset="0"/>
                <a:cs typeface="Arial" charset="0"/>
              </a:rPr>
              <a:t>, 5</a:t>
            </a:r>
            <a:r>
              <a:rPr lang="en-US" sz="2000" baseline="30000" dirty="0" smtClean="0">
                <a:latin typeface="Arial" charset="0"/>
                <a:cs typeface="Arial" charset="0"/>
              </a:rPr>
              <a:t>th</a:t>
            </a:r>
            <a:r>
              <a:rPr lang="en-US" sz="2000" dirty="0" smtClean="0">
                <a:latin typeface="Arial" charset="0"/>
                <a:cs typeface="Arial" charset="0"/>
              </a:rPr>
              <a:t>, 9</a:t>
            </a:r>
            <a:r>
              <a:rPr lang="en-US" sz="2000" baseline="30000" dirty="0" smtClean="0">
                <a:latin typeface="Arial" charset="0"/>
                <a:cs typeface="Arial" charset="0"/>
              </a:rPr>
              <a:t>th</a:t>
            </a:r>
            <a:r>
              <a:rPr lang="en-US" sz="2000" dirty="0" smtClean="0">
                <a:latin typeface="Arial" charset="0"/>
                <a:cs typeface="Arial" charset="0"/>
              </a:rPr>
              <a:t>, 17</a:t>
            </a:r>
            <a:r>
              <a:rPr lang="en-US" sz="2000" baseline="30000" dirty="0" smtClean="0">
                <a:latin typeface="Arial" charset="0"/>
                <a:cs typeface="Arial" charset="0"/>
              </a:rPr>
              <a:t>th</a:t>
            </a:r>
            <a:r>
              <a:rPr lang="en-US" sz="2000" dirty="0" smtClean="0">
                <a:latin typeface="Arial" charset="0"/>
                <a:cs typeface="Arial" charset="0"/>
              </a:rPr>
              <a:t>, 33</a:t>
            </a:r>
            <a:r>
              <a:rPr lang="en-US" sz="2000" baseline="30000" dirty="0" smtClean="0">
                <a:latin typeface="Arial" charset="0"/>
                <a:cs typeface="Arial" charset="0"/>
              </a:rPr>
              <a:t>rd</a:t>
            </a:r>
            <a:r>
              <a:rPr lang="en-US" sz="2000" dirty="0" smtClean="0">
                <a:latin typeface="Arial" charset="0"/>
                <a:cs typeface="Arial" charset="0"/>
              </a:rPr>
              <a:t>, 65</a:t>
            </a:r>
            <a:r>
              <a:rPr lang="en-US" sz="2000" baseline="30000" dirty="0" smtClean="0">
                <a:latin typeface="Arial" charset="0"/>
                <a:cs typeface="Arial" charset="0"/>
              </a:rPr>
              <a:t>th</a:t>
            </a:r>
            <a:r>
              <a:rPr lang="en-US" sz="2000" dirty="0" smtClean="0">
                <a:latin typeface="Arial" charset="0"/>
                <a:cs typeface="Arial" charset="0"/>
              </a:rPr>
              <a:t>, … insertions </a:t>
            </a: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Inserting </a:t>
            </a:r>
            <a:r>
              <a:rPr lang="en-US" sz="20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 smtClean="0">
                <a:latin typeface="Arial" charset="0"/>
                <a:cs typeface="Arial" charset="0"/>
              </a:rPr>
              <a:t> objects would therefore require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sz="2000" dirty="0" smtClean="0">
                <a:latin typeface="Arial" charset="0"/>
                <a:cs typeface="Arial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sz="2000" dirty="0" smtClean="0">
                <a:latin typeface="Arial" charset="0"/>
                <a:cs typeface="Arial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4</a:t>
            </a:r>
            <a:r>
              <a:rPr lang="en-US" sz="2000" dirty="0" smtClean="0">
                <a:latin typeface="Arial" charset="0"/>
                <a:cs typeface="Arial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8</a:t>
            </a:r>
            <a:r>
              <a:rPr lang="en-US" sz="2000" dirty="0" smtClean="0">
                <a:latin typeface="Arial" charset="0"/>
                <a:cs typeface="Arial" charset="0"/>
              </a:rPr>
              <a:t>, ..., all the</a:t>
            </a:r>
            <a:br>
              <a:rPr lang="en-US" sz="2000" dirty="0" smtClean="0">
                <a:latin typeface="Arial" charset="0"/>
                <a:cs typeface="Arial" charset="0"/>
              </a:rPr>
            </a:br>
            <a:r>
              <a:rPr lang="en-US" sz="2000" dirty="0" smtClean="0">
                <a:latin typeface="Arial" charset="0"/>
                <a:cs typeface="Arial" charset="0"/>
              </a:rPr>
              <a:t>way up to the largest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sz="2000" i="1" baseline="30000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 &lt; </a:t>
            </a:r>
            <a:r>
              <a:rPr lang="en-US" sz="20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 smtClean="0">
                <a:latin typeface="Arial" charset="0"/>
                <a:cs typeface="Arial" charset="0"/>
              </a:rPr>
              <a:t> </a:t>
            </a:r>
            <a:r>
              <a:rPr lang="en-US" sz="2000" dirty="0" smtClean="0">
                <a:latin typeface="Arial" charset="0"/>
                <a:cs typeface="Arial" charset="0"/>
              </a:rPr>
              <a:t>copies or </a:t>
            </a:r>
            <a:endParaRPr lang="en-US" sz="2000" dirty="0" smtClean="0">
              <a:latin typeface="Arial" charset="0"/>
              <a:cs typeface="Arial" charset="0"/>
            </a:endParaRPr>
          </a:p>
          <a:p>
            <a:pPr lvl="1"/>
            <a:endParaRPr lang="en-US" sz="2000" dirty="0" smtClean="0">
              <a:latin typeface="Arial" charset="0"/>
              <a:cs typeface="Arial" charset="0"/>
            </a:endParaRPr>
          </a:p>
          <a:p>
            <a:pPr lvl="1"/>
            <a:endParaRPr lang="en-US" sz="2000" dirty="0" smtClean="0">
              <a:latin typeface="Arial" charset="0"/>
              <a:cs typeface="Arial" charset="0"/>
            </a:endParaRPr>
          </a:p>
          <a:p>
            <a:pPr lvl="1"/>
            <a:endParaRPr lang="en-US" sz="2000" dirty="0" smtClean="0">
              <a:latin typeface="Arial" charset="0"/>
              <a:cs typeface="Arial" charset="0"/>
            </a:endParaRPr>
          </a:p>
          <a:p>
            <a:pPr lvl="1"/>
            <a:endParaRPr lang="en-US" sz="2000" dirty="0" smtClean="0">
              <a:latin typeface="Arial" charset="0"/>
              <a:cs typeface="Arial" charset="0"/>
            </a:endParaRP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Therefore the amortized number of</a:t>
            </a:r>
            <a:br>
              <a:rPr lang="en-US" sz="2000" dirty="0" smtClean="0">
                <a:latin typeface="Arial" charset="0"/>
                <a:cs typeface="Arial" charset="0"/>
              </a:rPr>
            </a:br>
            <a:r>
              <a:rPr lang="en-US" sz="2000" dirty="0" smtClean="0">
                <a:latin typeface="Arial" charset="0"/>
                <a:cs typeface="Arial" charset="0"/>
              </a:rPr>
              <a:t>copies per insertion is </a:t>
            </a:r>
            <a:r>
              <a:rPr lang="en-US" sz="2000" b="1" dirty="0" smtClean="0">
                <a:latin typeface="Symbol" pitchFamily="18" charset="2"/>
                <a:cs typeface="Arial" charset="0"/>
              </a:rPr>
              <a:t>Q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(1)</a:t>
            </a: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The wasted space,</a:t>
            </a:r>
            <a:br>
              <a:rPr lang="en-US" sz="2000" dirty="0" smtClean="0">
                <a:latin typeface="Arial" charset="0"/>
                <a:cs typeface="Arial" charset="0"/>
              </a:rPr>
            </a:br>
            <a:r>
              <a:rPr lang="en-US" sz="2000" dirty="0" smtClean="0">
                <a:latin typeface="Arial" charset="0"/>
                <a:cs typeface="Arial" charset="0"/>
              </a:rPr>
              <a:t>however is </a:t>
            </a:r>
            <a:r>
              <a:rPr lang="en-US" sz="2000" b="1" dirty="0" smtClean="0">
                <a:latin typeface="Times New Roman" pitchFamily="18" charset="0"/>
                <a:cs typeface="Arial" charset="0"/>
              </a:rPr>
              <a:t>O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sz="20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)</a:t>
            </a:r>
          </a:p>
          <a:p>
            <a:pPr lvl="1"/>
            <a:endParaRPr lang="en-US" sz="2000" dirty="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6" name="Equation" r:id="rId5" imgW="114151" imgH="215619" progId="Equation.3">
                  <p:embed/>
                </p:oleObj>
              </mc:Choice>
              <mc:Fallback>
                <p:oleObj name="Equation" r:id="rId5" imgW="114151" imgH="215619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8"/>
          <p:cNvGraphicFramePr>
            <a:graphicFrameLocks noChangeAspect="1"/>
          </p:cNvGraphicFramePr>
          <p:nvPr/>
        </p:nvGraphicFramePr>
        <p:xfrm>
          <a:off x="1276350" y="3081338"/>
          <a:ext cx="443230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7" name="Equation" r:id="rId7" imgW="2870200" imgH="711200" progId="">
                  <p:embed/>
                </p:oleObj>
              </mc:Choice>
              <mc:Fallback>
                <p:oleObj name="Equation" r:id="rId7" imgW="2870200" imgH="7112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3081338"/>
                        <a:ext cx="4432300" cy="110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266719"/>
              </p:ext>
            </p:extLst>
          </p:nvPr>
        </p:nvGraphicFramePr>
        <p:xfrm>
          <a:off x="5562600" y="2570957"/>
          <a:ext cx="11874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8" name="Equation" r:id="rId9" imgW="685800" imgH="228600" progId="">
                  <p:embed/>
                </p:oleObj>
              </mc:Choice>
              <mc:Fallback>
                <p:oleObj name="Equation" r:id="rId9" imgW="685800" imgH="2286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570957"/>
                        <a:ext cx="1187450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5" descr="d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1625" y="863600"/>
            <a:ext cx="5907088" cy="556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614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What if we increase the array size by a larger constant?</a:t>
            </a:r>
          </a:p>
          <a:p>
            <a:pPr lvl="1"/>
            <a:r>
              <a:rPr lang="en-US" smtClean="0">
                <a:latin typeface="Arial" charset="0"/>
                <a:cs typeface="Arial" charset="0"/>
              </a:rPr>
              <a:t>For example, increase the array size by 4, 8, 100?</a:t>
            </a:r>
            <a:endParaRPr lang="en-US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6" name="Equation" r:id="rId5" imgW="114151" imgH="215619" progId="Equation.3">
                  <p:embed/>
                </p:oleObj>
              </mc:Choice>
              <mc:Fallback>
                <p:oleObj name="Equation" r:id="rId5" imgW="114151" imgH="215619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7" descr="d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3213" y="712788"/>
            <a:ext cx="5905500" cy="581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7174" name="Rectangle 3"/>
          <p:cNvSpPr>
            <a:spLocks noGrp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 smtClean="0">
                <a:latin typeface="Arial" charset="0"/>
                <a:cs typeface="Arial" charset="0"/>
              </a:rPr>
              <a:t>Here we view the number of copies required when increasing the array size by 4; however, in general, suppose we increase it by a </a:t>
            </a:r>
            <a:r>
              <a:rPr lang="en-US" sz="2800" b="1" dirty="0" smtClean="0">
                <a:latin typeface="Arial" charset="0"/>
                <a:cs typeface="Arial" charset="0"/>
              </a:rPr>
              <a:t>constant</a:t>
            </a:r>
            <a:r>
              <a:rPr lang="en-US" sz="2800" dirty="0" smtClean="0">
                <a:latin typeface="Arial" charset="0"/>
                <a:cs typeface="Arial" charset="0"/>
              </a:rPr>
              <a:t> value </a:t>
            </a:r>
            <a:r>
              <a:rPr lang="en-US" sz="2800" i="1" dirty="0" smtClean="0">
                <a:latin typeface="Times New Roman" pitchFamily="18" charset="0"/>
                <a:cs typeface="Arial" charset="0"/>
              </a:rPr>
              <a:t>m</a:t>
            </a:r>
          </a:p>
          <a:p>
            <a:pPr lvl="1"/>
            <a:r>
              <a:rPr lang="en-US" sz="2100" i="1" dirty="0" smtClean="0">
                <a:latin typeface="Times New Roman" pitchFamily="18" charset="0"/>
                <a:cs typeface="Arial" charset="0"/>
              </a:rPr>
              <a:t>At first instance, number of copies = 4 (i.e., m)</a:t>
            </a:r>
          </a:p>
          <a:p>
            <a:pPr lvl="1"/>
            <a:r>
              <a:rPr lang="en-US" sz="2100" i="1" dirty="0" smtClean="0">
                <a:latin typeface="Times New Roman" pitchFamily="18" charset="0"/>
                <a:cs typeface="Arial" charset="0"/>
              </a:rPr>
              <a:t>At second instance, number of copies = 4 x 2 = 8 (2m)</a:t>
            </a:r>
          </a:p>
          <a:p>
            <a:pPr lvl="1"/>
            <a:r>
              <a:rPr lang="en-US" sz="2100" i="1" dirty="0" smtClean="0">
                <a:latin typeface="Times New Roman" pitchFamily="18" charset="0"/>
                <a:cs typeface="Arial" charset="0"/>
              </a:rPr>
              <a:t>At third instance, number of copies = 4 x 3 = 12 (3m)</a:t>
            </a:r>
          </a:p>
          <a:p>
            <a:pPr lvl="1"/>
            <a:r>
              <a:rPr lang="en-US" sz="2100" i="1" dirty="0" smtClean="0">
                <a:latin typeface="Times New Roman" pitchFamily="18" charset="0"/>
                <a:cs typeface="Arial" charset="0"/>
              </a:rPr>
              <a:t>…</a:t>
            </a:r>
          </a:p>
          <a:p>
            <a:pPr lvl="1"/>
            <a:endParaRPr lang="en-US" sz="2000" i="1" dirty="0" smtClean="0">
              <a:latin typeface="Times New Roman" pitchFamily="18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2400" b="1" i="1" dirty="0" smtClean="0">
                <a:latin typeface="Times New Roman" pitchFamily="18" charset="0"/>
                <a:cs typeface="Arial" charset="0"/>
              </a:rPr>
              <a:t>	</a:t>
            </a:r>
            <a:endParaRPr lang="en-US" sz="2400" b="1" dirty="0" smtClean="0">
              <a:latin typeface="Arial" charset="0"/>
              <a:cs typeface="Arial" charset="0"/>
            </a:endParaRPr>
          </a:p>
          <a:p>
            <a:endParaRPr lang="en-US" b="1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</a:t>
            </a:r>
            <a:r>
              <a:rPr lang="en-US" sz="2000" dirty="0" smtClean="0">
                <a:latin typeface="Arial" charset="0"/>
                <a:cs typeface="Arial" charset="0"/>
              </a:rPr>
              <a:t>Therefore, the amortized 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Arial" charset="0"/>
                <a:cs typeface="Arial" charset="0"/>
              </a:rPr>
              <a:t>      run time per</a:t>
            </a:r>
            <a:br>
              <a:rPr lang="en-US" sz="2000" dirty="0" smtClean="0">
                <a:latin typeface="Arial" charset="0"/>
                <a:cs typeface="Arial" charset="0"/>
              </a:rPr>
            </a:br>
            <a:r>
              <a:rPr lang="en-US" sz="2000" dirty="0" smtClean="0">
                <a:latin typeface="Arial" charset="0"/>
                <a:cs typeface="Arial" charset="0"/>
              </a:rPr>
              <a:t> insertion is </a:t>
            </a:r>
            <a:r>
              <a:rPr lang="en-US" sz="2000" b="1" dirty="0" smtClean="0">
                <a:latin typeface="Symbol" pitchFamily="18" charset="2"/>
                <a:cs typeface="Arial" charset="0"/>
              </a:rPr>
              <a:t>Q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sz="20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sz="2000" dirty="0" smtClean="0">
                <a:latin typeface="Arial" charset="0"/>
                <a:cs typeface="Arial" charset="0"/>
              </a:rPr>
              <a:t> </a:t>
            </a: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2" name="Equation" r:id="rId5" imgW="114151" imgH="215619" progId="Equation.3">
                  <p:embed/>
                </p:oleObj>
              </mc:Choice>
              <mc:Fallback>
                <p:oleObj name="Equation" r:id="rId5" imgW="114151" imgH="215619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8"/>
          <p:cNvGraphicFramePr>
            <a:graphicFrameLocks noChangeAspect="1"/>
          </p:cNvGraphicFramePr>
          <p:nvPr/>
        </p:nvGraphicFramePr>
        <p:xfrm>
          <a:off x="949325" y="3810000"/>
          <a:ext cx="4537075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3" name="Equation" r:id="rId7" imgW="2895600" imgH="660400" progId="Equation.3">
                  <p:embed/>
                </p:oleObj>
              </mc:Choice>
              <mc:Fallback>
                <p:oleObj name="Equation" r:id="rId7" imgW="2895600" imgH="660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3810000"/>
                        <a:ext cx="4537075" cy="1033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Array Capacity</a:t>
            </a:r>
          </a:p>
        </p:txBody>
      </p:sp>
      <p:sp>
        <p:nvSpPr>
          <p:cNvPr id="48131" name="Rectangle 4"/>
          <p:cNvSpPr>
            <a:spLocks noGrp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Note the difference in worst-case amortized scenarios:</a:t>
            </a:r>
          </a:p>
          <a:p>
            <a:endParaRPr lang="en-US" dirty="0" smtClean="0">
              <a:latin typeface="Arial" charset="0"/>
              <a:cs typeface="Arial" charset="0"/>
            </a:endParaRPr>
          </a:p>
          <a:p>
            <a:endParaRPr lang="en-US" dirty="0" smtClean="0">
              <a:latin typeface="Arial" charset="0"/>
              <a:cs typeface="Arial" charset="0"/>
            </a:endParaRPr>
          </a:p>
          <a:p>
            <a:endParaRPr lang="en-US" dirty="0" smtClean="0">
              <a:latin typeface="Arial" charset="0"/>
              <a:cs typeface="Arial" charset="0"/>
            </a:endParaRPr>
          </a:p>
          <a:p>
            <a:endParaRPr lang="en-US" dirty="0" smtClean="0">
              <a:latin typeface="Arial" charset="0"/>
              <a:cs typeface="Arial" charset="0"/>
            </a:endParaRPr>
          </a:p>
          <a:p>
            <a:endParaRPr lang="en-US" dirty="0" smtClean="0">
              <a:latin typeface="Arial" charset="0"/>
              <a:cs typeface="Arial" charset="0"/>
            </a:endParaRPr>
          </a:p>
          <a:p>
            <a:endParaRPr 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</a:t>
            </a:r>
          </a:p>
        </p:txBody>
      </p:sp>
      <p:graphicFrame>
        <p:nvGraphicFramePr>
          <p:cNvPr id="248885" name="Group 53"/>
          <p:cNvGraphicFramePr>
            <a:graphicFrameLocks noGrp="1"/>
          </p:cNvGraphicFramePr>
          <p:nvPr/>
        </p:nvGraphicFramePr>
        <p:xfrm>
          <a:off x="1403350" y="2676207"/>
          <a:ext cx="5112569" cy="2398713"/>
        </p:xfrm>
        <a:graphic>
          <a:graphicData uri="http://schemas.openxmlformats.org/drawingml/2006/table">
            <a:tbl>
              <a:tblPr/>
              <a:tblGrid>
                <a:gridCol w="2808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Copies per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Insertion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(amortized)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Unused Memory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Increase by </a:t>
                      </a:r>
                      <a:r>
                        <a:rPr kumimoji="0" lang="en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1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0</a:t>
                      </a:r>
                      <a:endParaRPr kumimoji="0" lang="en-CA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Increase by </a:t>
                      </a:r>
                      <a:r>
                        <a:rPr kumimoji="0" lang="en-CA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n/m</a:t>
                      </a:r>
                      <a:endParaRPr kumimoji="0" lang="en-CA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1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Increase by a factor of </a:t>
                      </a:r>
                      <a:r>
                        <a:rPr kumimoji="0" lang="en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1</a:t>
                      </a:r>
                      <a:endParaRPr kumimoji="0" lang="en-CA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kumimoji="0" lang="en-CA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Increase by a factor of </a:t>
                      </a:r>
                      <a:r>
                        <a:rPr kumimoji="0" lang="en-CA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r</a:t>
                      </a:r>
                      <a:r>
                        <a:rPr kumimoji="0" lang="en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&gt; 1</a:t>
                      </a:r>
                      <a:endParaRPr kumimoji="0" lang="en-CA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1/(</a:t>
                      </a:r>
                      <a:r>
                        <a:rPr kumimoji="0" lang="en-CA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</a:t>
                      </a:r>
                      <a:r>
                        <a:rPr kumimoji="0" lang="en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1) 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CA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</a:t>
                      </a:r>
                      <a:r>
                        <a:rPr kumimoji="0" lang="en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– 1)</a:t>
                      </a:r>
                      <a:r>
                        <a:rPr kumimoji="0" lang="en-CA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kumimoji="0" lang="en-CA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cs typeface="Arial" charset="0"/>
              </a:rPr>
              <a:t>Stack Application: Reverse-Polish Notation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Normally, mathematics is written using what we call </a:t>
            </a:r>
            <a:r>
              <a:rPr lang="en-US" i="1" dirty="0" smtClean="0">
                <a:latin typeface="Arial" charset="0"/>
                <a:cs typeface="Arial" charset="0"/>
              </a:rPr>
              <a:t>in-fix</a:t>
            </a:r>
            <a:r>
              <a:rPr lang="en-US" dirty="0" smtClean="0">
                <a:latin typeface="Arial" charset="0"/>
                <a:cs typeface="Arial" charset="0"/>
              </a:rPr>
              <a:t> notation:</a:t>
            </a:r>
          </a:p>
          <a:p>
            <a:pPr lvl="1">
              <a:buFontTx/>
              <a:buNone/>
            </a:pPr>
            <a:r>
              <a:rPr lang="en-US" dirty="0" smtClean="0">
                <a:latin typeface="Arial" charset="0"/>
                <a:cs typeface="Arial" charset="0"/>
              </a:rPr>
              <a:t>				</a:t>
            </a:r>
            <a:r>
              <a:rPr lang="en-US" dirty="0" smtClean="0">
                <a:latin typeface="Times New Roman" pitchFamily="18" charset="0"/>
                <a:cs typeface="Arial" charset="0"/>
              </a:rPr>
              <a:t>(3 + 4) × 5 – 6</a:t>
            </a:r>
          </a:p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The operator is placed between to operands</a:t>
            </a:r>
          </a:p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One weakness:  parentheses are required</a:t>
            </a:r>
          </a:p>
          <a:p>
            <a:pPr lvl="1">
              <a:buFontTx/>
              <a:buNone/>
            </a:pPr>
            <a:r>
              <a:rPr lang="en-US" sz="2400" dirty="0" smtClean="0">
                <a:latin typeface="Arial" charset="0"/>
                <a:cs typeface="Arial" charset="0"/>
              </a:rPr>
              <a:t>			       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(3 + 4) ×  5 – 6	=  29</a:t>
            </a:r>
          </a:p>
          <a:p>
            <a:pPr lvl="1">
              <a:buFontTx/>
              <a:buNone/>
            </a:pPr>
            <a:r>
              <a:rPr lang="en-US" sz="2400" dirty="0" smtClean="0">
                <a:latin typeface="Arial" charset="0"/>
                <a:cs typeface="Arial" charset="0"/>
              </a:rPr>
              <a:t>			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         3 + 4   ×  5 – 6	=  17</a:t>
            </a:r>
          </a:p>
          <a:p>
            <a:pPr lvl="1">
              <a:buFontTx/>
              <a:buNone/>
            </a:pPr>
            <a:r>
              <a:rPr lang="en-US" sz="2400" dirty="0" smtClean="0">
                <a:latin typeface="Arial" charset="0"/>
                <a:cs typeface="Arial" charset="0"/>
              </a:rPr>
              <a:t>			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         3 + 4   × (5 – 6)	=  –1</a:t>
            </a:r>
          </a:p>
          <a:p>
            <a:pPr lvl="1">
              <a:buFontTx/>
              <a:buNone/>
            </a:pPr>
            <a:r>
              <a:rPr lang="en-US" sz="2400" dirty="0" smtClean="0">
                <a:latin typeface="Times New Roman" pitchFamily="18" charset="0"/>
                <a:cs typeface="Arial" charset="0"/>
              </a:rPr>
              <a:t>			        (3 + 4) × (5 – 6)	=  –7</a:t>
            </a:r>
            <a:endParaRPr lang="en-US" sz="2400" dirty="0" smtClean="0"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Alternatively, we can place the operands first, followed by the operator:</a:t>
            </a:r>
          </a:p>
          <a:p>
            <a:pPr lvl="1">
              <a:buFontTx/>
              <a:buNone/>
            </a:pPr>
            <a:r>
              <a:rPr lang="en-US" sz="2400" dirty="0" smtClean="0">
                <a:latin typeface="Arial" charset="0"/>
                <a:cs typeface="Arial" charset="0"/>
              </a:rPr>
              <a:t>			       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(3 + 4) ×  5 – 6</a:t>
            </a:r>
          </a:p>
          <a:p>
            <a:pPr lvl="1">
              <a:buFontTx/>
              <a:buNone/>
            </a:pPr>
            <a:r>
              <a:rPr lang="en-US" dirty="0" smtClean="0">
                <a:latin typeface="Times New Roman" pitchFamily="18" charset="0"/>
                <a:cs typeface="Arial" charset="0"/>
              </a:rPr>
              <a:t>			       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3  4  +  5  ×  6  –</a:t>
            </a:r>
          </a:p>
          <a:p>
            <a:pPr>
              <a:buFont typeface="Arial" charset="0"/>
              <a:buNone/>
            </a:pPr>
            <a:endParaRPr 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Parsing reads left-to-right and performs any operation on the</a:t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last two operands:</a:t>
            </a:r>
          </a:p>
          <a:p>
            <a:pPr>
              <a:buFontTx/>
              <a:buNone/>
            </a:pPr>
            <a:r>
              <a:rPr lang="en-US" dirty="0" smtClean="0">
                <a:latin typeface="Times New Roman" pitchFamily="18" charset="0"/>
                <a:cs typeface="Arial" charset="0"/>
              </a:rPr>
              <a:t>			        </a:t>
            </a:r>
            <a:r>
              <a:rPr lang="en-US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3  4  +</a:t>
            </a:r>
            <a:r>
              <a:rPr lang="en-US" dirty="0" smtClean="0">
                <a:latin typeface="Times New Roman" pitchFamily="18" charset="0"/>
                <a:cs typeface="Arial" charset="0"/>
              </a:rPr>
              <a:t>  5  ×  6  –</a:t>
            </a:r>
          </a:p>
          <a:p>
            <a:pPr>
              <a:buFontTx/>
              <a:buNone/>
            </a:pPr>
            <a:r>
              <a:rPr lang="en-US" dirty="0" smtClean="0">
                <a:latin typeface="Times New Roman" pitchFamily="18" charset="0"/>
                <a:cs typeface="Arial" charset="0"/>
              </a:rPr>
              <a:t>			            </a:t>
            </a:r>
            <a:r>
              <a:rPr lang="en-US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7      5  ×</a:t>
            </a:r>
            <a:r>
              <a:rPr lang="en-US" dirty="0" smtClean="0">
                <a:latin typeface="Times New Roman" pitchFamily="18" charset="0"/>
                <a:cs typeface="Arial" charset="0"/>
              </a:rPr>
              <a:t>  6  –</a:t>
            </a:r>
          </a:p>
          <a:p>
            <a:pPr>
              <a:buFontTx/>
              <a:buNone/>
            </a:pPr>
            <a:r>
              <a:rPr lang="en-US" dirty="0" smtClean="0">
                <a:latin typeface="Times New Roman" pitchFamily="18" charset="0"/>
                <a:cs typeface="Arial" charset="0"/>
              </a:rPr>
              <a:t>			                  </a:t>
            </a:r>
            <a:r>
              <a:rPr lang="en-US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35      6  –</a:t>
            </a:r>
          </a:p>
          <a:p>
            <a:pPr>
              <a:buFontTx/>
              <a:buNone/>
            </a:pPr>
            <a:r>
              <a:rPr lang="en-US" dirty="0" smtClean="0">
                <a:latin typeface="Times New Roman" pitchFamily="18" charset="0"/>
                <a:cs typeface="Arial" charset="0"/>
              </a:rPr>
              <a:t>			                          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77001" y="4800600"/>
            <a:ext cx="2209799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(</a:t>
            </a:r>
            <a:r>
              <a:rPr lang="en-US" dirty="0"/>
              <a:t>3 + 4) ×  5 – </a:t>
            </a:r>
            <a:r>
              <a:rPr lang="en-US" dirty="0" smtClean="0"/>
              <a:t>6 =  29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This is called </a:t>
            </a:r>
            <a:r>
              <a:rPr lang="en-US" i="1" dirty="0" smtClean="0">
                <a:latin typeface="Arial" charset="0"/>
                <a:cs typeface="Arial" charset="0"/>
              </a:rPr>
              <a:t>reverse-Polish</a:t>
            </a:r>
            <a:r>
              <a:rPr lang="en-US" dirty="0" smtClean="0">
                <a:latin typeface="Arial" charset="0"/>
                <a:cs typeface="Arial" charset="0"/>
              </a:rPr>
              <a:t> notation after the mathematician Jan </a:t>
            </a:r>
            <a:r>
              <a:rPr lang="en-US" dirty="0" err="1" smtClean="0">
                <a:latin typeface="Arial" charset="0"/>
                <a:cs typeface="Arial" charset="0"/>
              </a:rPr>
              <a:t>Łukasiewicz</a:t>
            </a:r>
            <a:endParaRPr 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</a:t>
            </a:r>
          </a:p>
        </p:txBody>
      </p:sp>
      <p:pic>
        <p:nvPicPr>
          <p:cNvPr id="7782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90825" y="2819400"/>
            <a:ext cx="1780950" cy="2557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409825" y="5254625"/>
            <a:ext cx="2619375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CA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http://www.audiovis.nac.gov.pl/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Other examples:</a:t>
            </a:r>
          </a:p>
          <a:p>
            <a:pPr>
              <a:buFontTx/>
              <a:buNone/>
            </a:pPr>
            <a:r>
              <a:rPr lang="en-US" sz="2800" dirty="0" smtClean="0">
                <a:latin typeface="Times New Roman" pitchFamily="18" charset="0"/>
                <a:cs typeface="Arial" charset="0"/>
              </a:rPr>
              <a:t>			        3</a:t>
            </a:r>
            <a:r>
              <a:rPr lang="en-US" sz="2800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  4  5  ×</a:t>
            </a:r>
            <a:r>
              <a:rPr lang="en-US" sz="2800" dirty="0" smtClean="0">
                <a:latin typeface="Times New Roman" pitchFamily="18" charset="0"/>
                <a:cs typeface="Arial" charset="0"/>
              </a:rPr>
              <a:t>  +  6  –</a:t>
            </a:r>
          </a:p>
          <a:p>
            <a:pPr>
              <a:buFontTx/>
              <a:buNone/>
            </a:pPr>
            <a:r>
              <a:rPr lang="en-US" sz="2800" dirty="0" smtClean="0">
                <a:latin typeface="Times New Roman" pitchFamily="18" charset="0"/>
                <a:cs typeface="Arial" charset="0"/>
              </a:rPr>
              <a:t>			        </a:t>
            </a:r>
            <a:r>
              <a:rPr lang="en-US" sz="2800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3    20      +</a:t>
            </a:r>
            <a:r>
              <a:rPr lang="en-US" sz="2800" dirty="0" smtClean="0">
                <a:latin typeface="Times New Roman" pitchFamily="18" charset="0"/>
                <a:cs typeface="Arial" charset="0"/>
              </a:rPr>
              <a:t>  6  –</a:t>
            </a:r>
          </a:p>
          <a:p>
            <a:pPr>
              <a:buFontTx/>
              <a:buNone/>
            </a:pPr>
            <a:r>
              <a:rPr lang="en-US" sz="2800" dirty="0" smtClean="0">
                <a:latin typeface="Times New Roman" pitchFamily="18" charset="0"/>
                <a:cs typeface="Arial" charset="0"/>
              </a:rPr>
              <a:t>			              </a:t>
            </a:r>
            <a:r>
              <a:rPr lang="en-US" sz="2800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23          6  –</a:t>
            </a:r>
          </a:p>
          <a:p>
            <a:pPr>
              <a:buFontTx/>
              <a:buNone/>
            </a:pPr>
            <a:r>
              <a:rPr lang="en-US" sz="2800" dirty="0" smtClean="0">
                <a:latin typeface="Times New Roman" pitchFamily="18" charset="0"/>
                <a:cs typeface="Arial" charset="0"/>
              </a:rPr>
              <a:t>			                          17</a:t>
            </a:r>
          </a:p>
          <a:p>
            <a:pPr>
              <a:buFontTx/>
              <a:buNone/>
            </a:pPr>
            <a:r>
              <a:rPr lang="en-US" sz="2800" dirty="0" smtClean="0">
                <a:latin typeface="Times New Roman" pitchFamily="18" charset="0"/>
                <a:cs typeface="Arial" charset="0"/>
              </a:rPr>
              <a:t>			        3</a:t>
            </a:r>
            <a:r>
              <a:rPr lang="en-US" sz="2800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  </a:t>
            </a:r>
            <a:r>
              <a:rPr lang="en-US" sz="2800" dirty="0" smtClean="0">
                <a:latin typeface="Times New Roman" pitchFamily="18" charset="0"/>
                <a:cs typeface="Arial" charset="0"/>
              </a:rPr>
              <a:t>4  </a:t>
            </a:r>
            <a:r>
              <a:rPr lang="en-US" sz="2800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5  6  –  </a:t>
            </a:r>
            <a:r>
              <a:rPr lang="en-US" sz="2800" dirty="0" smtClean="0">
                <a:latin typeface="Times New Roman" pitchFamily="18" charset="0"/>
                <a:cs typeface="Arial" charset="0"/>
              </a:rPr>
              <a:t>×  +</a:t>
            </a:r>
          </a:p>
          <a:p>
            <a:pPr>
              <a:buFontTx/>
              <a:buNone/>
            </a:pPr>
            <a:r>
              <a:rPr lang="en-US" sz="2800" dirty="0" smtClean="0">
                <a:latin typeface="Times New Roman" pitchFamily="18" charset="0"/>
                <a:cs typeface="Arial" charset="0"/>
              </a:rPr>
              <a:t>			        3  4    </a:t>
            </a:r>
            <a:r>
              <a:rPr lang="en-US" sz="2800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–1</a:t>
            </a:r>
            <a:r>
              <a:rPr lang="en-US" sz="28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sz="2800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     </a:t>
            </a:r>
            <a:r>
              <a:rPr lang="en-US" sz="2800" dirty="0" smtClean="0">
                <a:latin typeface="Times New Roman" pitchFamily="18" charset="0"/>
                <a:cs typeface="Arial" charset="0"/>
              </a:rPr>
              <a:t>×  +</a:t>
            </a:r>
          </a:p>
          <a:p>
            <a:pPr>
              <a:buFontTx/>
              <a:buNone/>
            </a:pPr>
            <a:r>
              <a:rPr lang="en-US" sz="2800" dirty="0" smtClean="0">
                <a:latin typeface="Times New Roman" pitchFamily="18" charset="0"/>
                <a:cs typeface="Arial" charset="0"/>
              </a:rPr>
              <a:t>			        </a:t>
            </a:r>
            <a:r>
              <a:rPr lang="en-US" sz="2800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3</a:t>
            </a:r>
            <a:r>
              <a:rPr lang="en-US" sz="2800" dirty="0" smtClean="0">
                <a:latin typeface="Times New Roman" pitchFamily="18" charset="0"/>
                <a:cs typeface="Arial" charset="0"/>
              </a:rPr>
              <a:t>    </a:t>
            </a:r>
            <a:r>
              <a:rPr lang="en-US" sz="2800" dirty="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    –4          + </a:t>
            </a:r>
          </a:p>
          <a:p>
            <a:pPr>
              <a:buFontTx/>
              <a:buNone/>
            </a:pPr>
            <a:r>
              <a:rPr lang="en-US" sz="2800" dirty="0" smtClean="0">
                <a:latin typeface="Times New Roman" pitchFamily="18" charset="0"/>
                <a:cs typeface="Arial" charset="0"/>
              </a:rPr>
              <a:t>			                  –1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24600" y="2590800"/>
            <a:ext cx="2666114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lvl="1"/>
            <a:r>
              <a:rPr lang="en-US" sz="2400" dirty="0">
                <a:latin typeface="Times New Roman" pitchFamily="18" charset="0"/>
                <a:cs typeface="Arial" charset="0"/>
              </a:rPr>
              <a:t>3 + 4   ×  5 – 6	= 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17</a:t>
            </a: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72200" y="4800600"/>
            <a:ext cx="283923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lvl="1"/>
            <a:r>
              <a:rPr lang="en-US" sz="2400" dirty="0">
                <a:latin typeface="Times New Roman" pitchFamily="18" charset="0"/>
                <a:cs typeface="Arial" charset="0"/>
              </a:rPr>
              <a:t>3 + 4   × (5 – 6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) =  </a:t>
            </a:r>
            <a:r>
              <a:rPr lang="en-US" sz="2400" dirty="0">
                <a:latin typeface="Times New Roman" pitchFamily="18" charset="0"/>
                <a:cs typeface="Arial" charset="0"/>
              </a:rPr>
              <a:t>–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1</a:t>
            </a:r>
            <a:endParaRPr lang="en-US" sz="2400" dirty="0">
              <a:latin typeface="Times New Roman" pitchFamily="18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Benefits: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No ambiguity and no brackets are required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It is the same process used by a computer to perform computations:</a:t>
            </a:r>
          </a:p>
          <a:p>
            <a:pPr lvl="2"/>
            <a:r>
              <a:rPr lang="en-US" dirty="0" smtClean="0">
                <a:latin typeface="Arial" charset="0"/>
                <a:cs typeface="Arial" charset="0"/>
              </a:rPr>
              <a:t>operands must be loaded into registers before operations can be performed on them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Reverse-Polish can be processed using stacks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The easiest way to parse reverse-Polish notation is to use an operand stack: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operands are processed by pushing them onto the stack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when processing an operator:</a:t>
            </a:r>
          </a:p>
          <a:p>
            <a:pPr lvl="2"/>
            <a:r>
              <a:rPr lang="en-US" dirty="0" smtClean="0">
                <a:latin typeface="Arial" charset="0"/>
                <a:cs typeface="Arial" charset="0"/>
              </a:rPr>
              <a:t>pop the last two items off the operand stack,</a:t>
            </a:r>
          </a:p>
          <a:p>
            <a:pPr lvl="2"/>
            <a:r>
              <a:rPr lang="en-US" dirty="0" smtClean="0">
                <a:latin typeface="Arial" charset="0"/>
                <a:cs typeface="Arial" charset="0"/>
              </a:rPr>
              <a:t>perform the operation, and</a:t>
            </a:r>
          </a:p>
          <a:p>
            <a:pPr lvl="2"/>
            <a:r>
              <a:rPr lang="en-US" dirty="0" smtClean="0">
                <a:latin typeface="Arial" charset="0"/>
                <a:cs typeface="Arial" charset="0"/>
              </a:rPr>
              <a:t>push the result back onto the stack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Evaluate the following reverse-Polish expression using a stack: 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6  ×  –  7  ×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78887" name="Group 39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Push </a:t>
            </a:r>
            <a:r>
              <a:rPr lang="en-US" smtClean="0">
                <a:latin typeface="Times New Roman" pitchFamily="18" charset="0"/>
                <a:cs typeface="Arial" charset="0"/>
              </a:rPr>
              <a:t>1</a:t>
            </a:r>
            <a:r>
              <a:rPr lang="en-US" smtClean="0">
                <a:latin typeface="Arial" charset="0"/>
                <a:cs typeface="Arial" charset="0"/>
              </a:rPr>
              <a:t> onto the stack 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1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2  3  +  4  5  6  ×  –  7  ×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0900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Push </a:t>
            </a:r>
            <a:r>
              <a:rPr lang="en-US" smtClean="0">
                <a:latin typeface="Times New Roman" pitchFamily="18" charset="0"/>
                <a:cs typeface="Arial" charset="0"/>
              </a:rPr>
              <a:t>1</a:t>
            </a:r>
            <a:r>
              <a:rPr lang="en-US" smtClean="0">
                <a:latin typeface="Arial" charset="0"/>
                <a:cs typeface="Arial" charset="0"/>
              </a:rPr>
              <a:t> onto the stack 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2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3  +  4  5  6  ×  –  7  ×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1924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Push </a:t>
            </a:r>
            <a:r>
              <a:rPr lang="en-US" smtClean="0">
                <a:latin typeface="Times New Roman" pitchFamily="18" charset="0"/>
                <a:cs typeface="Arial" charset="0"/>
              </a:rPr>
              <a:t>3</a:t>
            </a:r>
            <a:r>
              <a:rPr lang="en-US" smtClean="0">
                <a:latin typeface="Arial" charset="0"/>
                <a:cs typeface="Arial" charset="0"/>
              </a:rPr>
              <a:t> onto the stack 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3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+  4  5  6  ×  –  7  ×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2948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Pop </a:t>
            </a:r>
            <a:r>
              <a:rPr lang="en-US" smtClean="0">
                <a:latin typeface="Times New Roman" pitchFamily="18" charset="0"/>
                <a:cs typeface="Arial" charset="0"/>
              </a:rPr>
              <a:t>3</a:t>
            </a:r>
            <a:r>
              <a:rPr lang="en-US" smtClean="0">
                <a:latin typeface="Arial" charset="0"/>
                <a:cs typeface="Arial" charset="0"/>
              </a:rPr>
              <a:t> and </a:t>
            </a:r>
            <a:r>
              <a:rPr lang="en-US" smtClean="0">
                <a:latin typeface="Times New Roman" pitchFamily="18" charset="0"/>
                <a:cs typeface="Arial" charset="0"/>
              </a:rPr>
              <a:t>2</a:t>
            </a:r>
            <a:r>
              <a:rPr lang="en-US" smtClean="0">
                <a:latin typeface="Arial" charset="0"/>
                <a:cs typeface="Arial" charset="0"/>
              </a:rPr>
              <a:t> and push </a:t>
            </a:r>
            <a:r>
              <a:rPr lang="en-US" smtClean="0">
                <a:latin typeface="Times New Roman" pitchFamily="18" charset="0"/>
                <a:cs typeface="Arial" charset="0"/>
              </a:rPr>
              <a:t>2 </a:t>
            </a:r>
            <a:r>
              <a:rPr lang="en-US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+</a:t>
            </a:r>
            <a:r>
              <a:rPr lang="en-US" smtClean="0">
                <a:latin typeface="Times New Roman" pitchFamily="18" charset="0"/>
                <a:cs typeface="Arial" charset="0"/>
              </a:rPr>
              <a:t> 3 = 5</a:t>
            </a:r>
            <a:endParaRPr lang="en-US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+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4  5  6  ×  –  7  ×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3972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Push </a:t>
            </a:r>
            <a:r>
              <a:rPr lang="en-US" smtClean="0">
                <a:latin typeface="Times New Roman" pitchFamily="18" charset="0"/>
                <a:cs typeface="Arial" charset="0"/>
              </a:rPr>
              <a:t>4</a:t>
            </a:r>
            <a:r>
              <a:rPr lang="en-US" smtClean="0">
                <a:latin typeface="Arial" charset="0"/>
                <a:cs typeface="Arial" charset="0"/>
              </a:rPr>
              <a:t> onto the stack 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4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5  6  ×  –  7  ×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4996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Push </a:t>
            </a:r>
            <a:r>
              <a:rPr lang="en-US" smtClean="0">
                <a:latin typeface="Times New Roman" pitchFamily="18" charset="0"/>
                <a:cs typeface="Arial" charset="0"/>
              </a:rPr>
              <a:t>5</a:t>
            </a:r>
            <a:r>
              <a:rPr lang="en-US" smtClean="0">
                <a:latin typeface="Arial" charset="0"/>
                <a:cs typeface="Arial" charset="0"/>
              </a:rPr>
              <a:t> onto the stack 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5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6  ×  –  7  ×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6036" name="Group 20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Push </a:t>
            </a:r>
            <a:r>
              <a:rPr lang="en-US" smtClean="0">
                <a:latin typeface="Times New Roman" pitchFamily="18" charset="0"/>
                <a:cs typeface="Arial" charset="0"/>
              </a:rPr>
              <a:t>6</a:t>
            </a:r>
            <a:r>
              <a:rPr lang="en-US" smtClean="0">
                <a:latin typeface="Arial" charset="0"/>
                <a:cs typeface="Arial" charset="0"/>
              </a:rPr>
              <a:t> onto the stack 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6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×  –  7  ×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7044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8613"/>
            <a:ext cx="8229600" cy="45259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Pop </a:t>
            </a:r>
            <a:r>
              <a:rPr lang="en-US" smtClean="0">
                <a:latin typeface="Times New Roman" pitchFamily="18" charset="0"/>
                <a:cs typeface="Arial" charset="0"/>
              </a:rPr>
              <a:t>6</a:t>
            </a:r>
            <a:r>
              <a:rPr lang="en-US" smtClean="0">
                <a:latin typeface="Arial" charset="0"/>
                <a:cs typeface="Arial" charset="0"/>
              </a:rPr>
              <a:t> and </a:t>
            </a:r>
            <a:r>
              <a:rPr lang="en-US" smtClean="0">
                <a:latin typeface="Times New Roman" pitchFamily="18" charset="0"/>
                <a:cs typeface="Arial" charset="0"/>
              </a:rPr>
              <a:t>5</a:t>
            </a:r>
            <a:r>
              <a:rPr lang="en-US" smtClean="0">
                <a:latin typeface="Arial" charset="0"/>
                <a:cs typeface="Arial" charset="0"/>
              </a:rPr>
              <a:t> and push </a:t>
            </a:r>
            <a:r>
              <a:rPr lang="en-US" smtClean="0">
                <a:latin typeface="Times New Roman" pitchFamily="18" charset="0"/>
                <a:cs typeface="Arial" charset="0"/>
              </a:rPr>
              <a:t>5 </a:t>
            </a:r>
            <a:r>
              <a:rPr lang="en-US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×</a:t>
            </a:r>
            <a:r>
              <a:rPr lang="en-US" smtClean="0">
                <a:latin typeface="Times New Roman" pitchFamily="18" charset="0"/>
                <a:cs typeface="Arial" charset="0"/>
              </a:rPr>
              <a:t> 6 = 30</a:t>
            </a:r>
            <a:endParaRPr lang="en-US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6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×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–  7  ×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8068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5613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Pop </a:t>
            </a:r>
            <a:r>
              <a:rPr lang="en-US" smtClean="0">
                <a:latin typeface="Times New Roman" pitchFamily="18" charset="0"/>
                <a:cs typeface="Arial" charset="0"/>
              </a:rPr>
              <a:t>30</a:t>
            </a:r>
            <a:r>
              <a:rPr lang="en-US" smtClean="0">
                <a:latin typeface="Arial" charset="0"/>
                <a:cs typeface="Arial" charset="0"/>
              </a:rPr>
              <a:t> and </a:t>
            </a:r>
            <a:r>
              <a:rPr lang="en-US" smtClean="0">
                <a:latin typeface="Times New Roman" pitchFamily="18" charset="0"/>
                <a:cs typeface="Arial" charset="0"/>
              </a:rPr>
              <a:t>4</a:t>
            </a:r>
            <a:r>
              <a:rPr lang="en-US" smtClean="0">
                <a:latin typeface="Arial" charset="0"/>
                <a:cs typeface="Arial" charset="0"/>
              </a:rPr>
              <a:t> and push </a:t>
            </a:r>
            <a:r>
              <a:rPr lang="en-US" smtClean="0">
                <a:latin typeface="Times New Roman" pitchFamily="18" charset="0"/>
                <a:cs typeface="Arial" charset="0"/>
              </a:rPr>
              <a:t>4 </a:t>
            </a:r>
            <a:r>
              <a:rPr lang="en-US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–</a:t>
            </a:r>
            <a:r>
              <a:rPr lang="en-US" smtClean="0">
                <a:latin typeface="Times New Roman" pitchFamily="18" charset="0"/>
                <a:cs typeface="Arial" charset="0"/>
              </a:rPr>
              <a:t> 30 = –26</a:t>
            </a:r>
            <a:endParaRPr lang="en-US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6  ×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–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7  ×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9109" name="Group 21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 –26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Push </a:t>
            </a:r>
            <a:r>
              <a:rPr lang="en-US" smtClean="0">
                <a:latin typeface="Times New Roman" pitchFamily="18" charset="0"/>
                <a:cs typeface="Arial" charset="0"/>
              </a:rPr>
              <a:t>7</a:t>
            </a:r>
            <a:r>
              <a:rPr lang="en-US" smtClean="0">
                <a:latin typeface="Arial" charset="0"/>
                <a:cs typeface="Arial" charset="0"/>
              </a:rPr>
              <a:t> onto the stack 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6  ×  –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7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×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90116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–26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8613"/>
            <a:ext cx="8229600" cy="45259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Pop </a:t>
            </a:r>
            <a:r>
              <a:rPr lang="en-US" smtClean="0">
                <a:latin typeface="Times New Roman" pitchFamily="18" charset="0"/>
                <a:cs typeface="Arial" charset="0"/>
              </a:rPr>
              <a:t>7</a:t>
            </a:r>
            <a:r>
              <a:rPr lang="en-US" smtClean="0">
                <a:latin typeface="Arial" charset="0"/>
                <a:cs typeface="Arial" charset="0"/>
              </a:rPr>
              <a:t> and </a:t>
            </a:r>
            <a:r>
              <a:rPr lang="en-US" smtClean="0">
                <a:latin typeface="Times New Roman" pitchFamily="18" charset="0"/>
                <a:cs typeface="Arial" charset="0"/>
              </a:rPr>
              <a:t>–26</a:t>
            </a:r>
            <a:r>
              <a:rPr lang="en-US" smtClean="0">
                <a:latin typeface="Arial" charset="0"/>
                <a:cs typeface="Arial" charset="0"/>
              </a:rPr>
              <a:t> and push </a:t>
            </a:r>
            <a:r>
              <a:rPr lang="en-US" smtClean="0">
                <a:latin typeface="Times New Roman" pitchFamily="18" charset="0"/>
                <a:cs typeface="Arial" charset="0"/>
              </a:rPr>
              <a:t>–26 </a:t>
            </a:r>
            <a:r>
              <a:rPr lang="en-US" smtClean="0">
                <a:solidFill>
                  <a:srgbClr val="D20000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smtClean="0">
                <a:latin typeface="Times New Roman" pitchFamily="18" charset="0"/>
                <a:cs typeface="Arial" charset="0"/>
              </a:rPr>
              <a:t> 7 = –182</a:t>
            </a:r>
            <a:endParaRPr lang="en-US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6  ×  –  7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×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+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91140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 –182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5438"/>
            <a:ext cx="8229600" cy="45259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Pop </a:t>
            </a:r>
            <a:r>
              <a:rPr lang="en-US" smtClean="0">
                <a:latin typeface="Times New Roman" pitchFamily="18" charset="0"/>
                <a:cs typeface="Arial" charset="0"/>
              </a:rPr>
              <a:t>–182</a:t>
            </a:r>
            <a:r>
              <a:rPr lang="en-US" smtClean="0">
                <a:latin typeface="Arial" charset="0"/>
                <a:cs typeface="Arial" charset="0"/>
              </a:rPr>
              <a:t> and </a:t>
            </a:r>
            <a:r>
              <a:rPr lang="en-US" smtClean="0">
                <a:latin typeface="Times New Roman" pitchFamily="18" charset="0"/>
                <a:cs typeface="Arial" charset="0"/>
              </a:rPr>
              <a:t>5</a:t>
            </a:r>
            <a:r>
              <a:rPr lang="en-US" smtClean="0">
                <a:latin typeface="Arial" charset="0"/>
                <a:cs typeface="Arial" charset="0"/>
              </a:rPr>
              <a:t> and push </a:t>
            </a:r>
            <a:r>
              <a:rPr lang="en-US" smtClean="0">
                <a:latin typeface="Times New Roman" pitchFamily="18" charset="0"/>
                <a:cs typeface="Arial" charset="0"/>
              </a:rPr>
              <a:t>–182 </a:t>
            </a:r>
            <a:r>
              <a:rPr lang="en-US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+</a:t>
            </a:r>
            <a:r>
              <a:rPr lang="en-US" smtClean="0">
                <a:latin typeface="Times New Roman" pitchFamily="18" charset="0"/>
                <a:cs typeface="Arial" charset="0"/>
              </a:rPr>
              <a:t> 5 = –177</a:t>
            </a:r>
            <a:endParaRPr lang="en-US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6  ×  –  7  ×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+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–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92164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–177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Pop </a:t>
            </a:r>
            <a:r>
              <a:rPr lang="en-US" smtClean="0">
                <a:latin typeface="Times New Roman" pitchFamily="18" charset="0"/>
                <a:cs typeface="Arial" charset="0"/>
              </a:rPr>
              <a:t>–177</a:t>
            </a:r>
            <a:r>
              <a:rPr lang="en-US" smtClean="0">
                <a:latin typeface="Arial" charset="0"/>
                <a:cs typeface="Arial" charset="0"/>
              </a:rPr>
              <a:t> and </a:t>
            </a:r>
            <a:r>
              <a:rPr lang="en-US" smtClean="0">
                <a:latin typeface="Times New Roman" pitchFamily="18" charset="0"/>
                <a:cs typeface="Arial" charset="0"/>
              </a:rPr>
              <a:t>1</a:t>
            </a:r>
            <a:r>
              <a:rPr lang="en-US" smtClean="0">
                <a:latin typeface="Arial" charset="0"/>
                <a:cs typeface="Arial" charset="0"/>
              </a:rPr>
              <a:t> and push 1 </a:t>
            </a:r>
            <a:r>
              <a:rPr lang="en-US" smtClean="0">
                <a:solidFill>
                  <a:srgbClr val="FF0066"/>
                </a:solidFill>
                <a:latin typeface="Times New Roman" pitchFamily="18" charset="0"/>
                <a:cs typeface="Arial" charset="0"/>
              </a:rPr>
              <a:t>–</a:t>
            </a:r>
            <a:r>
              <a:rPr lang="en-US" smtClean="0">
                <a:latin typeface="Times New Roman" pitchFamily="18" charset="0"/>
                <a:cs typeface="Arial" charset="0"/>
              </a:rPr>
              <a:t>  (–177) = 178</a:t>
            </a:r>
            <a:endParaRPr lang="en-US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6  ×  –  7  ×  +  </a:t>
            </a:r>
            <a:r>
              <a:rPr lang="en-US" sz="2800" smtClean="0">
                <a:solidFill>
                  <a:srgbClr val="FF0066"/>
                </a:solidFill>
                <a:latin typeface="Times New Roman" pitchFamily="18" charset="0"/>
                <a:cs typeface="Arial" charset="0"/>
              </a:rPr>
              <a:t>–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8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94212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Push </a:t>
            </a:r>
            <a:r>
              <a:rPr lang="en-US" smtClean="0">
                <a:latin typeface="Times New Roman" pitchFamily="18" charset="0"/>
                <a:cs typeface="Arial" charset="0"/>
              </a:rPr>
              <a:t>8</a:t>
            </a:r>
            <a:r>
              <a:rPr lang="en-US" smtClean="0">
                <a:latin typeface="Arial" charset="0"/>
                <a:cs typeface="Arial" charset="0"/>
              </a:rPr>
              <a:t> onto the stack 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6  ×  –  7  ×  +  –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8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9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95236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Push </a:t>
            </a:r>
            <a:r>
              <a:rPr lang="en-US" smtClean="0">
                <a:latin typeface="Times New Roman" pitchFamily="18" charset="0"/>
                <a:cs typeface="Arial" charset="0"/>
              </a:rPr>
              <a:t>1</a:t>
            </a:r>
            <a:r>
              <a:rPr lang="en-US" smtClean="0">
                <a:latin typeface="Arial" charset="0"/>
                <a:cs typeface="Arial" charset="0"/>
              </a:rPr>
              <a:t> onto the stack 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6  ×  –  7  ×  +  –  8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9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×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96260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8613"/>
            <a:ext cx="8229600" cy="45259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Pop </a:t>
            </a:r>
            <a:r>
              <a:rPr lang="en-US" smtClean="0">
                <a:latin typeface="Times New Roman" pitchFamily="18" charset="0"/>
                <a:cs typeface="Arial" charset="0"/>
              </a:rPr>
              <a:t>9</a:t>
            </a:r>
            <a:r>
              <a:rPr lang="en-US" smtClean="0">
                <a:latin typeface="Arial" charset="0"/>
                <a:cs typeface="Arial" charset="0"/>
              </a:rPr>
              <a:t> and </a:t>
            </a:r>
            <a:r>
              <a:rPr lang="en-US" smtClean="0">
                <a:latin typeface="Times New Roman" pitchFamily="18" charset="0"/>
                <a:cs typeface="Arial" charset="0"/>
              </a:rPr>
              <a:t>8</a:t>
            </a:r>
            <a:r>
              <a:rPr lang="en-US" smtClean="0">
                <a:latin typeface="Arial" charset="0"/>
                <a:cs typeface="Arial" charset="0"/>
              </a:rPr>
              <a:t> and push </a:t>
            </a:r>
            <a:r>
              <a:rPr lang="en-US" smtClean="0">
                <a:latin typeface="Times New Roman" pitchFamily="18" charset="0"/>
                <a:cs typeface="Arial" charset="0"/>
              </a:rPr>
              <a:t>8 </a:t>
            </a:r>
            <a:r>
              <a:rPr lang="en-US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×</a:t>
            </a:r>
            <a:r>
              <a:rPr lang="en-US" smtClean="0">
                <a:latin typeface="Times New Roman" pitchFamily="18" charset="0"/>
                <a:cs typeface="Arial" charset="0"/>
              </a:rPr>
              <a:t> 9 = 72</a:t>
            </a:r>
            <a:endParaRPr lang="en-US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6  ×  –  7  ×  +  –  8  9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×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  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93188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72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5438"/>
            <a:ext cx="8229600" cy="45259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Pop </a:t>
            </a:r>
            <a:r>
              <a:rPr lang="en-US" smtClean="0">
                <a:latin typeface="Times New Roman" pitchFamily="18" charset="0"/>
                <a:cs typeface="Arial" charset="0"/>
              </a:rPr>
              <a:t>72</a:t>
            </a:r>
            <a:r>
              <a:rPr lang="en-US" smtClean="0">
                <a:latin typeface="Arial" charset="0"/>
                <a:cs typeface="Arial" charset="0"/>
              </a:rPr>
              <a:t> and </a:t>
            </a:r>
            <a:r>
              <a:rPr lang="en-US" smtClean="0">
                <a:latin typeface="Times New Roman" pitchFamily="18" charset="0"/>
                <a:cs typeface="Arial" charset="0"/>
              </a:rPr>
              <a:t>178</a:t>
            </a:r>
            <a:r>
              <a:rPr lang="en-US" smtClean="0">
                <a:latin typeface="Arial" charset="0"/>
                <a:cs typeface="Arial" charset="0"/>
              </a:rPr>
              <a:t> and push </a:t>
            </a:r>
            <a:r>
              <a:rPr lang="en-US" smtClean="0">
                <a:latin typeface="Times New Roman" pitchFamily="18" charset="0"/>
                <a:cs typeface="Arial" charset="0"/>
              </a:rPr>
              <a:t>178 </a:t>
            </a:r>
            <a:r>
              <a:rPr lang="en-US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+</a:t>
            </a:r>
            <a:r>
              <a:rPr lang="en-US" smtClean="0">
                <a:latin typeface="Times New Roman" pitchFamily="18" charset="0"/>
                <a:cs typeface="Arial" charset="0"/>
              </a:rPr>
              <a:t> 72 = 250</a:t>
            </a:r>
            <a:endParaRPr lang="en-US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</a:t>
            </a:r>
            <a:r>
              <a:rPr lang="en-US" sz="2800" smtClean="0">
                <a:latin typeface="Times New Roman" pitchFamily="18" charset="0"/>
                <a:cs typeface="Arial" charset="0"/>
              </a:rPr>
              <a:t>1  2  3  +  4  5  6  ×  –  7  ×  +  –  8  9  ×  </a:t>
            </a: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+</a:t>
            </a: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97284" name="Group 4"/>
          <p:cNvGraphicFramePr>
            <a:graphicFrameLocks noGrp="1"/>
          </p:cNvGraphicFramePr>
          <p:nvPr/>
        </p:nvGraphicFramePr>
        <p:xfrm>
          <a:off x="6804025" y="3429000"/>
          <a:ext cx="1319213" cy="3108960"/>
        </p:xfrm>
        <a:graphic>
          <a:graphicData uri="http://schemas.openxmlformats.org/drawingml/2006/table">
            <a:tbl>
              <a:tblPr/>
              <a:tblGrid>
                <a:gridCol w="131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D2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D20000"/>
                          </a:solidFill>
                          <a:effectLst/>
                          <a:latin typeface="Times New Roman" pitchFamily="18" charset="0"/>
                        </a:rPr>
                        <a:t>250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Thus</a:t>
            </a:r>
          </a:p>
          <a:p>
            <a:pPr algn="ctr">
              <a:buFontTx/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1  2  3  +  4  5  6  ×  –  7  ×  +  –  8  9  ×  +</a:t>
            </a:r>
            <a:endParaRPr lang="en-US" sz="280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None/>
            </a:pPr>
            <a:r>
              <a:rPr lang="en-US" sz="2800" smtClean="0">
                <a:solidFill>
                  <a:srgbClr val="D20000"/>
                </a:solidFill>
                <a:latin typeface="Times New Roman" pitchFamily="18" charset="0"/>
                <a:cs typeface="Arial" charset="0"/>
              </a:rPr>
              <a:t>	</a:t>
            </a:r>
            <a:r>
              <a:rPr lang="en-US" smtClean="0">
                <a:latin typeface="Arial" charset="0"/>
                <a:cs typeface="Arial" charset="0"/>
              </a:rPr>
              <a:t>evaluates to the value on the top: </a:t>
            </a:r>
            <a:r>
              <a:rPr lang="en-US" smtClean="0">
                <a:latin typeface="Times New Roman" pitchFamily="18" charset="0"/>
                <a:cs typeface="Arial" charset="0"/>
              </a:rPr>
              <a:t>250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The equivalent in-fix notation is</a:t>
            </a:r>
          </a:p>
          <a:p>
            <a:pPr algn="ctr">
              <a:buFontTx/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((1 – ((2 + 3) + ((4 – (5 × 6)) × 7))) + (8 × 9))</a:t>
            </a:r>
          </a:p>
          <a:p>
            <a:pPr>
              <a:buFont typeface="Arial" charset="0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We reduce the parentheses using order-of-operations:</a:t>
            </a:r>
            <a:endParaRPr lang="en-US" sz="2800" smtClean="0">
              <a:latin typeface="Times New Roman" pitchFamily="18" charset="0"/>
              <a:cs typeface="Arial" charset="0"/>
            </a:endParaRPr>
          </a:p>
          <a:p>
            <a:pPr algn="ctr">
              <a:buFontTx/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1 – (2 + 3 + (4 – 5 × 6) × 7) + 8 ×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Reverse-Polish Notation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Incidentally,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1 – 2 + 3 + 4 – 5 × 6 × 7 + 8 × 9 = – 132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which has the reverse-Polish notation of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	  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1  2  –  3  +  4  +  5  6  7  ×  ×  –  8  9  ×  +</a:t>
            </a:r>
          </a:p>
          <a:p>
            <a:pPr>
              <a:buFont typeface="Arial" charset="0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For comparison, the calculated expression was</a:t>
            </a:r>
          </a:p>
          <a:p>
            <a:pPr>
              <a:buFontTx/>
              <a:buNone/>
            </a:pPr>
            <a:r>
              <a:rPr lang="en-US" smtClean="0">
                <a:latin typeface="Arial" charset="0"/>
                <a:cs typeface="Arial" charset="0"/>
              </a:rPr>
              <a:t>	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1  2  3  +  4  5  6  ×  –  7  ×  +  –  8  9  ×  +</a:t>
            </a:r>
            <a:endParaRPr lang="en-US" smtClean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None/>
            </a:pPr>
            <a:endParaRPr lang="en-US" sz="280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Application: Parsing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Most parsing uses stacks</a:t>
            </a:r>
          </a:p>
          <a:p>
            <a:pPr>
              <a:buFont typeface="Arial" charset="0"/>
              <a:buNone/>
            </a:pPr>
            <a:endParaRPr 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Examples includes: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Matching tags in XHTML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In C++, matching</a:t>
            </a:r>
          </a:p>
          <a:p>
            <a:pPr lvl="2"/>
            <a:r>
              <a:rPr lang="en-US" dirty="0" smtClean="0">
                <a:latin typeface="Arial" charset="0"/>
                <a:cs typeface="Arial" charset="0"/>
              </a:rPr>
              <a:t>parentheses	 </a:t>
            </a:r>
            <a:r>
              <a:rPr lang="en-US" b="1" dirty="0" smtClean="0">
                <a:latin typeface="Courier New" pitchFamily="49" charset="0"/>
                <a:cs typeface="Arial" charset="0"/>
              </a:rPr>
              <a:t>( ... )</a:t>
            </a:r>
          </a:p>
          <a:p>
            <a:pPr lvl="2"/>
            <a:r>
              <a:rPr lang="en-US" dirty="0" smtClean="0">
                <a:latin typeface="Arial" charset="0"/>
                <a:cs typeface="Arial" charset="0"/>
              </a:rPr>
              <a:t>brackets, and	 </a:t>
            </a:r>
            <a:r>
              <a:rPr lang="en-US" b="1" dirty="0" smtClean="0">
                <a:latin typeface="Courier New" pitchFamily="49" charset="0"/>
                <a:cs typeface="Arial" charset="0"/>
              </a:rPr>
              <a:t>[ ... ]</a:t>
            </a:r>
            <a:endParaRPr lang="en-US" dirty="0" smtClean="0">
              <a:latin typeface="Arial" charset="0"/>
              <a:cs typeface="Arial" charset="0"/>
            </a:endParaRPr>
          </a:p>
          <a:p>
            <a:pPr lvl="2"/>
            <a:r>
              <a:rPr lang="en-US" dirty="0" smtClean="0">
                <a:latin typeface="Arial" charset="0"/>
                <a:cs typeface="Arial" charset="0"/>
              </a:rPr>
              <a:t>braces	 </a:t>
            </a:r>
            <a:r>
              <a:rPr lang="en-US" b="1" dirty="0" smtClean="0">
                <a:latin typeface="Courier New" pitchFamily="49" charset="0"/>
                <a:cs typeface="Arial" charset="0"/>
              </a:rPr>
              <a:t>{ ... }</a:t>
            </a:r>
            <a:endParaRPr lang="en-US" dirty="0" smtClean="0">
              <a:latin typeface="Arial" charset="0"/>
              <a:cs typeface="Arial" charset="0"/>
            </a:endParaRPr>
          </a:p>
          <a:p>
            <a:pPr lvl="1">
              <a:buFontTx/>
              <a:buNone/>
            </a:pPr>
            <a:r>
              <a:rPr lang="en-US" dirty="0" smtClean="0">
                <a:latin typeface="Arial" charset="0"/>
                <a:cs typeface="Arial" charset="0"/>
              </a:rPr>
              <a:t>	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We will show how stacks may be used to parse an XHTML document</a:t>
            </a:r>
          </a:p>
          <a:p>
            <a:pPr>
              <a:buFont typeface="Arial" charset="0"/>
              <a:buNone/>
            </a:pPr>
            <a:endParaRPr 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You will use XHTML (and more generally XML and other markup languages) in different context.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A </a:t>
            </a:r>
            <a:r>
              <a:rPr lang="en-US" i="1" dirty="0" smtClean="0">
                <a:latin typeface="Arial" charset="0"/>
                <a:cs typeface="Arial" charset="0"/>
              </a:rPr>
              <a:t>markup language</a:t>
            </a:r>
            <a:r>
              <a:rPr lang="en-US" dirty="0" smtClean="0">
                <a:latin typeface="Arial" charset="0"/>
                <a:cs typeface="Arial" charset="0"/>
              </a:rPr>
              <a:t> is a means of annotating a document to give context to the text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The annotations give information about the structure or presentation of the text</a:t>
            </a:r>
          </a:p>
          <a:p>
            <a:endParaRPr 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The best known example is HTML, or </a:t>
            </a:r>
            <a:r>
              <a:rPr lang="en-US" dirty="0" err="1" smtClean="0">
                <a:latin typeface="Arial" charset="0"/>
                <a:cs typeface="Arial" charset="0"/>
              </a:rPr>
              <a:t>HyperText</a:t>
            </a:r>
            <a:r>
              <a:rPr lang="en-US" dirty="0" smtClean="0">
                <a:latin typeface="Arial" charset="0"/>
                <a:cs typeface="Arial" charset="0"/>
              </a:rPr>
              <a:t> Markup Language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We will look at XHTML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XHTML is made of nested</a:t>
            </a:r>
          </a:p>
          <a:p>
            <a:pPr lvl="1"/>
            <a:r>
              <a:rPr lang="en-US" i="1" dirty="0" smtClean="0">
                <a:latin typeface="Arial" charset="0"/>
                <a:cs typeface="Arial" charset="0"/>
              </a:rPr>
              <a:t>opening tags</a:t>
            </a:r>
            <a:r>
              <a:rPr lang="en-US" dirty="0" smtClean="0">
                <a:latin typeface="Arial" charset="0"/>
                <a:cs typeface="Arial" charset="0"/>
              </a:rPr>
              <a:t>, e.g., </a:t>
            </a:r>
            <a:r>
              <a:rPr lang="en-US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dirty="0" err="1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some_identifier</a:t>
            </a:r>
            <a:r>
              <a:rPr lang="en-US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 smtClean="0">
                <a:latin typeface="Arial" charset="0"/>
                <a:cs typeface="Arial" charset="0"/>
              </a:rPr>
              <a:t>, and</a:t>
            </a:r>
            <a:endParaRPr lang="en-US" sz="2400" b="1" dirty="0" smtClean="0">
              <a:latin typeface="Courier New" pitchFamily="49" charset="0"/>
              <a:cs typeface="Arial" charset="0"/>
            </a:endParaRP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matching </a:t>
            </a:r>
            <a:r>
              <a:rPr lang="en-US" i="1" dirty="0" smtClean="0">
                <a:latin typeface="Arial" charset="0"/>
                <a:cs typeface="Arial" charset="0"/>
              </a:rPr>
              <a:t>closing tags</a:t>
            </a:r>
            <a:r>
              <a:rPr lang="en-US" dirty="0" smtClean="0">
                <a:latin typeface="Arial" charset="0"/>
                <a:cs typeface="Arial" charset="0"/>
              </a:rPr>
              <a:t>, e.g., </a:t>
            </a:r>
            <a:r>
              <a:rPr lang="en-US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some_identifier</a:t>
            </a:r>
            <a:r>
              <a:rPr lang="en-US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pPr lvl="2">
              <a:buFontTx/>
              <a:buNone/>
            </a:pPr>
            <a:endParaRPr lang="en-US" dirty="0" smtClean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  <a:p>
            <a:pPr lvl="2">
              <a:buFontTx/>
              <a:buNone/>
            </a:pPr>
            <a:r>
              <a:rPr lang="en-US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lvl="2">
              <a:buFontTx/>
              <a:buNone/>
            </a:pPr>
            <a:r>
              <a:rPr lang="en-US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	&lt;head&gt;&lt;title&gt;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Hello</a:t>
            </a:r>
            <a:r>
              <a:rPr lang="en-US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&lt;/title&gt;&lt;/head&gt;</a:t>
            </a:r>
          </a:p>
          <a:p>
            <a:pPr lvl="2">
              <a:buFontTx/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&lt;body&gt;&lt;p&gt;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This appears in the </a:t>
            </a:r>
            <a:r>
              <a:rPr lang="en-US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dirty="0" err="1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browser</a:t>
            </a:r>
            <a:r>
              <a:rPr lang="en-US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.</a:t>
            </a:r>
            <a:r>
              <a:rPr lang="en-US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&lt;/p&gt;&lt;/body&gt;</a:t>
            </a:r>
          </a:p>
          <a:p>
            <a:pPr lvl="2">
              <a:buFontTx/>
              <a:buNone/>
            </a:pPr>
            <a:r>
              <a:rPr lang="en-US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i="1" dirty="0" smtClean="0">
                <a:latin typeface="Arial" charset="0"/>
                <a:cs typeface="Arial" charset="0"/>
              </a:rPr>
              <a:t>	Nesting</a:t>
            </a:r>
            <a:r>
              <a:rPr lang="en-US" dirty="0" smtClean="0">
                <a:latin typeface="Arial" charset="0"/>
                <a:cs typeface="Arial" charset="0"/>
              </a:rPr>
              <a:t> indicates that any closing tag must match the most </a:t>
            </a:r>
            <a:r>
              <a:rPr lang="en-US" u="sng" dirty="0" smtClean="0">
                <a:latin typeface="Arial" charset="0"/>
                <a:cs typeface="Arial" charset="0"/>
              </a:rPr>
              <a:t>recent</a:t>
            </a:r>
            <a:r>
              <a:rPr lang="en-US" dirty="0" smtClean="0">
                <a:latin typeface="Arial" charset="0"/>
                <a:cs typeface="Arial" charset="0"/>
              </a:rPr>
              <a:t> opening tag</a:t>
            </a:r>
          </a:p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Strategy for parsing XHTML: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read though the XHTML linearly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place the opening tags in a stack</a:t>
            </a: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when a closing tag is encountered, check that it matches what is on top of the stack </a:t>
            </a:r>
          </a:p>
          <a:p>
            <a:pPr lvl="2"/>
            <a:r>
              <a:rPr lang="en-US" dirty="0" smtClean="0">
                <a:latin typeface="Arial" charset="0"/>
                <a:cs typeface="Arial" charset="0"/>
              </a:rPr>
              <a:t>If it matches, the top of the stack is popped.</a:t>
            </a:r>
          </a:p>
          <a:p>
            <a:pPr lvl="2"/>
            <a:r>
              <a:rPr lang="en-US" dirty="0" smtClean="0">
                <a:latin typeface="Arial" charset="0"/>
                <a:cs typeface="Arial" charset="0"/>
              </a:rPr>
              <a:t>If it does not, the XHTML is invalid.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Parsing XHTML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the code for </a:t>
            </a:r>
            <a:r>
              <a:rPr lang="en-US" i="1" dirty="0" smtClean="0"/>
              <a:t>How </a:t>
            </a:r>
            <a:r>
              <a:rPr lang="en-US" i="1" u="sng" dirty="0" smtClean="0"/>
              <a:t>are</a:t>
            </a:r>
            <a:r>
              <a:rPr lang="en-US" u="sng" dirty="0" smtClean="0"/>
              <a:t> you?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&gt;How &lt;u&gt;are&lt;/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&gt; you&lt;/u&gt;? **INVALID**</a:t>
            </a:r>
          </a:p>
          <a:p>
            <a:r>
              <a:rPr lang="en-US" dirty="0" smtClean="0"/>
              <a:t>The proper way to code this would be </a:t>
            </a:r>
          </a:p>
          <a:p>
            <a:pPr lvl="1"/>
            <a:r>
              <a:rPr lang="en-US" dirty="0" smtClean="0"/>
              <a:t>&lt;</a:t>
            </a:r>
            <a:r>
              <a:rPr lang="en-US" dirty="0" err="1" smtClean="0"/>
              <a:t>i</a:t>
            </a:r>
            <a:r>
              <a:rPr lang="en-US" dirty="0" smtClean="0"/>
              <a:t>&gt;How &lt;u&gt;are&lt;/u&gt;&lt;/</a:t>
            </a:r>
            <a:r>
              <a:rPr lang="en-US" dirty="0" err="1" smtClean="0"/>
              <a:t>i</a:t>
            </a:r>
            <a:r>
              <a:rPr lang="en-US" dirty="0" smtClean="0"/>
              <a:t>&gt;&lt;u&gt; you&lt;/u&gt;?</a:t>
            </a:r>
          </a:p>
          <a:p>
            <a:r>
              <a:rPr lang="en-US" dirty="0" smtClean="0"/>
              <a:t>The justification for this is that now a stack may be used to parse XML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&lt;head&gt;&lt;title&gt;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&lt;/title&gt;&lt;/head&gt;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&lt;body&gt;&lt;p&gt;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&lt;/p&gt;&lt;/body&gt;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pPr>
              <a:buFontTx/>
              <a:buNone/>
            </a:pPr>
            <a:endParaRPr lang="en-US" sz="14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45087" name="Group 31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&lt;head&gt;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&lt;/title&gt;&lt;/head&gt;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&lt;body&gt;&lt;p&gt;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&lt;/p&gt;&lt;/body&gt;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endParaRPr lang="en-US" sz="28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46108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&lt;head&gt;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	&lt;head&gt;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&lt;/title&gt;&lt;/head&gt;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&lt;body&gt;&lt;p&gt;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&lt;/p&gt;&lt;/body&gt;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endParaRPr lang="en-US" sz="28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47132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&lt;head&gt;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&lt;title&gt;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	&lt;head&gt;&lt;title&gt;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&lt;/title&gt;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&lt;body&gt;&lt;p&gt;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&lt;/p&gt;&lt;/body&gt;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endParaRPr lang="en-US" sz="28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48156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&lt;head&gt;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itchFamily="49" charset="0"/>
                        </a:rPr>
                        <a:t>&lt;title&gt;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	&lt;head&gt;&lt;title&gt;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&lt;/title&gt;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&lt;body&gt;&lt;p&gt;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&lt;/p&gt;&lt;/body&gt;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endParaRPr lang="en-US" sz="28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49181" name="Group 29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itchFamily="49" charset="0"/>
                        </a:rPr>
                        <a:t>&lt;head&gt;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	&lt;head&gt;&lt;title&gt;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&lt;/title&gt;&lt;/head&gt;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&lt;body&gt;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&lt;/p&gt;&lt;/body&gt;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endParaRPr lang="en-US" sz="14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50204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	&lt;head&gt;&lt;title&gt;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&lt;/title&gt;&lt;/head&gt;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&lt;body&gt;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&lt;/p&gt;&lt;/body&gt;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endParaRPr lang="en-US" sz="28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51252" name="Group 52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&lt;p&gt;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	&lt;head&gt;&lt;title&gt;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&lt;/title&gt;&lt;/head&gt;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&lt;body&gt;&lt;p&gt;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&lt;/p&gt;&lt;/body&gt;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endParaRPr lang="en-US" sz="28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52240" name="Group 16"/>
          <p:cNvGraphicFramePr>
            <a:graphicFrameLocks noGrp="1"/>
          </p:cNvGraphicFramePr>
          <p:nvPr/>
        </p:nvGraphicFramePr>
        <p:xfrm>
          <a:off x="539750" y="4581525"/>
          <a:ext cx="7704138" cy="503238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&lt;p&gt;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</a:t>
                      </a:r>
                      <a:r>
                        <a:rPr kumimoji="0" lang="en-U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&gt;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	&lt;head&gt;&lt;title&gt;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&lt;/title&gt;&lt;/head&gt;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&lt;body&gt;&lt;p&gt;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&lt;/p&gt;&lt;/body&gt;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endParaRPr lang="en-US" sz="28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53264" name="Group 16"/>
          <p:cNvGraphicFramePr>
            <a:graphicFrameLocks noGrp="1"/>
          </p:cNvGraphicFramePr>
          <p:nvPr/>
        </p:nvGraphicFramePr>
        <p:xfrm>
          <a:off x="539750" y="4581525"/>
          <a:ext cx="7704138" cy="503238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&lt;p&gt;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itchFamily="49" charset="0"/>
                        </a:rPr>
                        <a:t>&lt;i&gt;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	&lt;head&gt;&lt;title&gt;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&lt;/title&gt;&lt;/head&gt;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&lt;body&gt;&lt;p&gt;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&lt;/p&gt;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endParaRPr lang="en-US" sz="14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54300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itchFamily="49" charset="0"/>
                        </a:rPr>
                        <a:t>&lt;p&gt;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58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	&lt;head&gt;&lt;title&gt;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&lt;/title&gt;&lt;/head&gt;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&lt;body&gt;&lt;p&gt;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&lt;/p&gt;</a:t>
            </a: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endParaRPr lang="en-US" sz="14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55324" name="Group 28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itchFamily="49" charset="0"/>
                        </a:rPr>
                        <a:t>&lt;body&gt;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	&lt;head&gt;&lt;title&gt;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Hello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&lt;/title&gt;&lt;/head&gt;</a:t>
            </a:r>
          </a:p>
          <a:p>
            <a:pPr>
              <a:buFontTx/>
              <a:buNone/>
            </a:pPr>
            <a:r>
              <a:rPr lang="en-US" sz="2800" b="1" dirty="0" smtClean="0">
                <a:latin typeface="Courier New" pitchFamily="49" charset="0"/>
                <a:cs typeface="Arial" charset="0"/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&lt;body&gt;&lt;p&gt;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This appears in the 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&lt;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browser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</a:t>
            </a:r>
            <a:r>
              <a:rPr lang="en-US" sz="2800" b="1" dirty="0" err="1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&gt;</a:t>
            </a:r>
            <a:r>
              <a:rPr lang="en-US" sz="2800" b="1" dirty="0" smtClean="0">
                <a:latin typeface="Courier New" pitchFamily="49" charset="0"/>
                <a:cs typeface="Arial" charset="0"/>
              </a:rPr>
              <a:t>.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&lt;/p&gt;&lt;/body&gt;</a:t>
            </a:r>
          </a:p>
          <a:p>
            <a:pPr>
              <a:buFontTx/>
              <a:buNone/>
            </a:pPr>
            <a:r>
              <a:rPr lang="en-US" sz="2800" b="1" dirty="0" smtClean="0">
                <a:solidFill>
                  <a:srgbClr val="FF9900"/>
                </a:solidFill>
                <a:latin typeface="Courier New" pitchFamily="49" charset="0"/>
                <a:cs typeface="Arial" charset="0"/>
              </a:rPr>
              <a:t>&lt;/html&gt;</a:t>
            </a:r>
          </a:p>
          <a:p>
            <a:endParaRPr lang="en-US" sz="1400" dirty="0" smtClean="0">
              <a:solidFill>
                <a:srgbClr val="FF9900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56360" name="Group 40"/>
          <p:cNvGraphicFramePr>
            <a:graphicFrameLocks noGrp="1"/>
          </p:cNvGraphicFramePr>
          <p:nvPr/>
        </p:nvGraphicFramePr>
        <p:xfrm>
          <a:off x="539750" y="4581525"/>
          <a:ext cx="7704138" cy="518160"/>
        </p:xfrm>
        <a:graphic>
          <a:graphicData uri="http://schemas.openxmlformats.org/drawingml/2006/table">
            <a:tbl>
              <a:tblPr/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Courier New" pitchFamily="49" charset="0"/>
                        </a:rPr>
                        <a:t>&lt;html&gt;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B2B2B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Parsing XHTML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We are finished parsing, and the stack is empty</a:t>
            </a:r>
          </a:p>
          <a:p>
            <a:endParaRPr lang="en-US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Possible errors:</a:t>
            </a:r>
          </a:p>
          <a:p>
            <a:pPr lvl="1"/>
            <a:r>
              <a:rPr lang="en-US" smtClean="0">
                <a:latin typeface="Arial" charset="0"/>
                <a:cs typeface="Arial" charset="0"/>
              </a:rPr>
              <a:t>a closing tag which does not match the opening tag on top of the stack</a:t>
            </a:r>
          </a:p>
          <a:p>
            <a:pPr lvl="1"/>
            <a:r>
              <a:rPr lang="en-US" smtClean="0">
                <a:latin typeface="Arial" charset="0"/>
                <a:cs typeface="Arial" charset="0"/>
              </a:rPr>
              <a:t>a closing tag when the stack is empty</a:t>
            </a:r>
          </a:p>
          <a:p>
            <a:pPr lvl="1"/>
            <a:r>
              <a:rPr lang="en-US" smtClean="0">
                <a:latin typeface="Arial" charset="0"/>
                <a:cs typeface="Arial" charset="0"/>
              </a:rPr>
              <a:t>the stack is not empty at the end of the document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61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HTML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Old HTML required neither closing tags nor nesting</a:t>
            </a:r>
          </a:p>
          <a:p>
            <a:pPr>
              <a:buFontTx/>
              <a:buNone/>
            </a:pPr>
            <a:endParaRPr lang="en-US" sz="1600" b="1" smtClean="0">
              <a:latin typeface="Courier New" pitchFamily="49" charset="0"/>
              <a:cs typeface="Arial" charset="0"/>
            </a:endParaRPr>
          </a:p>
          <a:p>
            <a:pPr>
              <a:buFontTx/>
              <a:buNone/>
            </a:pPr>
            <a:r>
              <a:rPr lang="en-US" sz="1600" smtClean="0"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>
              <a:buFontTx/>
              <a:buNone/>
            </a:pPr>
            <a:r>
              <a:rPr lang="en-US" sz="1600" smtClean="0">
                <a:latin typeface="Consolas" pitchFamily="49" charset="0"/>
                <a:cs typeface="Consolas" pitchFamily="49" charset="0"/>
              </a:rPr>
              <a:t>  &lt;head&gt;&lt;title&gt;Hello&lt;/title&gt;&lt;/head&gt;</a:t>
            </a:r>
          </a:p>
          <a:p>
            <a:pPr>
              <a:buFontTx/>
              <a:buNone/>
            </a:pPr>
            <a:r>
              <a:rPr lang="en-US" sz="1600" smtClean="0">
                <a:latin typeface="Consolas" pitchFamily="49" charset="0"/>
                <a:cs typeface="Consolas" pitchFamily="49" charset="0"/>
              </a:rPr>
              <a:t>  &lt;body&gt;&lt;p&gt;This is a list of topics:</a:t>
            </a:r>
          </a:p>
          <a:p>
            <a:pPr>
              <a:buFontTx/>
              <a:buNone/>
            </a:pPr>
            <a:r>
              <a:rPr lang="en-US" sz="1600" smtClean="0">
                <a:latin typeface="Consolas" pitchFamily="49" charset="0"/>
                <a:cs typeface="Consolas" pitchFamily="49" charset="0"/>
              </a:rPr>
              <a:t>  &lt;ol&gt;                      </a:t>
            </a:r>
            <a:r>
              <a:rPr lang="en-US" sz="1600" smtClean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&lt;!-- para ends with start of list --&gt;</a:t>
            </a:r>
          </a:p>
          <a:p>
            <a:pPr>
              <a:buFontTx/>
              <a:buNone/>
            </a:pPr>
            <a:r>
              <a:rPr lang="en-US" sz="1600" smtClean="0">
                <a:latin typeface="Consolas" pitchFamily="49" charset="0"/>
                <a:cs typeface="Consolas" pitchFamily="49" charset="0"/>
              </a:rPr>
              <a:t>    &lt;li&gt;&lt;i&gt;</a:t>
            </a:r>
            <a:r>
              <a:rPr lang="en-US" sz="1600" i="1" smtClean="0">
                <a:latin typeface="Consolas" pitchFamily="49" charset="0"/>
                <a:cs typeface="Consolas" pitchFamily="49" charset="0"/>
              </a:rPr>
              <a:t>veni                            </a:t>
            </a:r>
            <a:r>
              <a:rPr lang="en-US" sz="1600" smtClean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&lt;!-- implied &lt;/li&gt; --&gt;</a:t>
            </a:r>
          </a:p>
          <a:p>
            <a:pPr>
              <a:buFontTx/>
              <a:buNone/>
            </a:pPr>
            <a:r>
              <a:rPr lang="en-US" sz="1600" smtClean="0">
                <a:latin typeface="Consolas" pitchFamily="49" charset="0"/>
                <a:cs typeface="Consolas" pitchFamily="49" charset="0"/>
              </a:rPr>
              <a:t>    &lt;li&gt;</a:t>
            </a:r>
            <a:r>
              <a:rPr lang="en-US" sz="1600" i="1" smtClean="0">
                <a:latin typeface="Consolas" pitchFamily="49" charset="0"/>
                <a:cs typeface="Consolas" pitchFamily="49" charset="0"/>
              </a:rPr>
              <a:t>vidi</a:t>
            </a:r>
            <a:r>
              <a:rPr lang="en-US" sz="1600" smtClean="0">
                <a:latin typeface="Consolas" pitchFamily="49" charset="0"/>
                <a:cs typeface="Consolas" pitchFamily="49" charset="0"/>
              </a:rPr>
              <a:t>                           </a:t>
            </a:r>
            <a:r>
              <a:rPr lang="en-US" sz="1600" smtClean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&lt;!-- italics continues --&gt;</a:t>
            </a:r>
            <a:endParaRPr lang="en-US" sz="1600" i="1" smtClean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pPr>
              <a:buFontTx/>
              <a:buNone/>
            </a:pPr>
            <a:r>
              <a:rPr lang="en-US" sz="1600" smtClean="0">
                <a:latin typeface="Consolas" pitchFamily="49" charset="0"/>
                <a:cs typeface="Consolas" pitchFamily="49" charset="0"/>
              </a:rPr>
              <a:t>    &lt;li&gt;</a:t>
            </a:r>
            <a:r>
              <a:rPr lang="en-US" sz="1600" i="1" smtClean="0">
                <a:latin typeface="Consolas" pitchFamily="49" charset="0"/>
                <a:cs typeface="Consolas" pitchFamily="49" charset="0"/>
              </a:rPr>
              <a:t>vici</a:t>
            </a:r>
            <a:r>
              <a:rPr lang="en-US" sz="1600" smtClean="0">
                <a:latin typeface="Consolas" pitchFamily="49" charset="0"/>
                <a:cs typeface="Consolas" pitchFamily="49" charset="0"/>
              </a:rPr>
              <a:t>&lt;/i&gt;</a:t>
            </a:r>
          </a:p>
          <a:p>
            <a:pPr>
              <a:buFontTx/>
              <a:buNone/>
            </a:pPr>
            <a:r>
              <a:rPr lang="en-US" sz="1600" smtClean="0">
                <a:latin typeface="Consolas" pitchFamily="49" charset="0"/>
                <a:cs typeface="Consolas" pitchFamily="49" charset="0"/>
              </a:rPr>
              <a:t>  &lt;/ol&gt;               </a:t>
            </a:r>
            <a:r>
              <a:rPr lang="en-US" sz="1600" smtClean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&lt;!-- end-of-file implies &lt;/body&gt;&lt;/html&gt; --&gt;</a:t>
            </a:r>
          </a:p>
          <a:p>
            <a:pPr>
              <a:buFont typeface="Arial" charset="0"/>
              <a:buNone/>
            </a:pPr>
            <a:endParaRPr lang="en-US" smtClean="0">
              <a:latin typeface="Consolas" pitchFamily="49" charset="0"/>
              <a:cs typeface="Consolas" pitchFamily="49" charset="0"/>
            </a:endParaRPr>
          </a:p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Parsers were therefore specific to HTML</a:t>
            </a:r>
          </a:p>
          <a:p>
            <a:pPr lvl="1"/>
            <a:r>
              <a:rPr lang="en-US" smtClean="0">
                <a:latin typeface="Arial" charset="0"/>
                <a:cs typeface="Arial" charset="0"/>
              </a:rPr>
              <a:t>Results: ambiguities and inconsistencies</a:t>
            </a:r>
            <a:endParaRPr lang="en-US" sz="1400" smtClean="0">
              <a:solidFill>
                <a:schemeClr val="accent2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XML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XHTML is an implementation of XML</a:t>
            </a:r>
          </a:p>
          <a:p>
            <a:pPr>
              <a:buFont typeface="Arial" charset="0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XML defines a class of general-purpose </a:t>
            </a:r>
            <a:r>
              <a:rPr lang="en-US" i="1" smtClean="0">
                <a:latin typeface="Arial" charset="0"/>
                <a:cs typeface="Arial" charset="0"/>
              </a:rPr>
              <a:t>eXtensible Markup Languages</a:t>
            </a:r>
            <a:r>
              <a:rPr lang="en-US" smtClean="0">
                <a:latin typeface="Arial" charset="0"/>
                <a:cs typeface="Arial" charset="0"/>
              </a:rPr>
              <a:t> designed for sharing information between systems</a:t>
            </a:r>
          </a:p>
          <a:p>
            <a:pPr>
              <a:buFont typeface="Arial" charset="0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mtClean="0">
                <a:latin typeface="Arial" charset="0"/>
                <a:cs typeface="Arial" charset="0"/>
              </a:rPr>
              <a:t>	The same rules apply for any flavour of XML:</a:t>
            </a:r>
          </a:p>
          <a:p>
            <a:pPr lvl="1"/>
            <a:r>
              <a:rPr lang="en-US" smtClean="0">
                <a:latin typeface="Arial" charset="0"/>
                <a:cs typeface="Arial" charset="0"/>
              </a:rPr>
              <a:t>opening and closing tags must match and be nested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63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1833-B7C5-4A86-B518-FC48CD3BDA8B}" type="slidenum">
              <a:rPr lang="en-US"/>
              <a:pPr/>
              <a:t>64</a:t>
            </a:fld>
            <a:endParaRPr 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Spans</a:t>
            </a:r>
          </a:p>
        </p:txBody>
      </p:sp>
      <p:sp>
        <p:nvSpPr>
          <p:cNvPr id="44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45720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We show how to use a stack as an auxiliary data structure in an algorithm</a:t>
            </a:r>
          </a:p>
          <a:p>
            <a:pPr>
              <a:lnSpc>
                <a:spcPct val="90000"/>
              </a:lnSpc>
            </a:pPr>
            <a:r>
              <a:rPr lang="en-US" sz="2400"/>
              <a:t>Given an an array </a:t>
            </a:r>
            <a:r>
              <a:rPr lang="en-US" sz="2400" b="1" i="1">
                <a:latin typeface="Times New Roman" pitchFamily="18" charset="0"/>
              </a:rPr>
              <a:t>X</a:t>
            </a:r>
            <a:r>
              <a:rPr lang="en-US" sz="2400"/>
              <a:t>, the span 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400"/>
              <a:t> of 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400"/>
              <a:t> is the maximum number of consecutive elements 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] </a:t>
            </a:r>
            <a:r>
              <a:rPr lang="en-US" sz="2400"/>
              <a:t>immediately preceding 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] </a:t>
            </a:r>
            <a:r>
              <a:rPr lang="en-US" sz="2400"/>
              <a:t>and such that 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] </a:t>
            </a:r>
            <a:r>
              <a:rPr lang="en-US" sz="2400">
                <a:latin typeface="Symbol" pitchFamily="18" charset="2"/>
                <a:sym typeface="Symbol" pitchFamily="18" charset="2"/>
              </a:rPr>
              <a:t>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 X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400" b="1" i="1"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400"/>
              <a:t> </a:t>
            </a:r>
          </a:p>
          <a:p>
            <a:pPr>
              <a:lnSpc>
                <a:spcPct val="90000"/>
              </a:lnSpc>
            </a:pPr>
            <a:r>
              <a:rPr lang="en-US" sz="2400"/>
              <a:t>Spans have applications to financial analysis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E.g., stock at 52-week high</a:t>
            </a:r>
          </a:p>
          <a:p>
            <a:pPr>
              <a:lnSpc>
                <a:spcPct val="90000"/>
              </a:lnSpc>
            </a:pPr>
            <a:endParaRPr lang="en-US" sz="2400"/>
          </a:p>
        </p:txBody>
      </p:sp>
      <p:graphicFrame>
        <p:nvGraphicFramePr>
          <p:cNvPr id="44061" name="Group 29"/>
          <p:cNvGraphicFramePr>
            <a:graphicFrameLocks noGrp="1"/>
          </p:cNvGraphicFramePr>
          <p:nvPr/>
        </p:nvGraphicFramePr>
        <p:xfrm>
          <a:off x="5937250" y="5334000"/>
          <a:ext cx="2520950" cy="914400"/>
        </p:xfrm>
        <a:graphic>
          <a:graphicData uri="http://schemas.openxmlformats.org/drawingml/2006/table">
            <a:tbl>
              <a:tblPr/>
              <a:tblGrid>
                <a:gridCol w="506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062" name="Text Box 30"/>
          <p:cNvSpPr txBox="1">
            <a:spLocks noChangeArrowheads="1"/>
          </p:cNvSpPr>
          <p:nvPr/>
        </p:nvSpPr>
        <p:spPr bwMode="auto">
          <a:xfrm>
            <a:off x="5397500" y="53340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chemeClr val="tx2"/>
                </a:solidFill>
                <a:latin typeface="Times New Roman" pitchFamily="18" charset="0"/>
              </a:rPr>
              <a:t>X</a:t>
            </a:r>
          </a:p>
        </p:txBody>
      </p:sp>
      <p:sp>
        <p:nvSpPr>
          <p:cNvPr id="44063" name="Text Box 31"/>
          <p:cNvSpPr txBox="1">
            <a:spLocks noChangeArrowheads="1"/>
          </p:cNvSpPr>
          <p:nvPr/>
        </p:nvSpPr>
        <p:spPr bwMode="auto">
          <a:xfrm>
            <a:off x="5403850" y="57912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chemeClr val="accent2"/>
                </a:solidFill>
                <a:latin typeface="Times New Roman" pitchFamily="18" charset="0"/>
              </a:rPr>
              <a:t>S</a:t>
            </a:r>
          </a:p>
        </p:txBody>
      </p:sp>
      <p:graphicFrame>
        <p:nvGraphicFramePr>
          <p:cNvPr id="62464" name="Object 1024"/>
          <p:cNvGraphicFramePr>
            <a:graphicFrameLocks noChangeAspect="1"/>
          </p:cNvGraphicFramePr>
          <p:nvPr/>
        </p:nvGraphicFramePr>
        <p:xfrm>
          <a:off x="5130800" y="1219200"/>
          <a:ext cx="36957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51" name="Chart" r:id="rId4" imgW="3695633" imgH="4067243" progId="MSGraph.Chart.8">
                  <p:embed followColorScheme="full"/>
                </p:oleObj>
              </mc:Choice>
              <mc:Fallback>
                <p:oleObj name="Chart" r:id="rId4" imgW="3695633" imgH="4067243" progId="MSGraph.Chart.8">
                  <p:embed followColorScheme="full"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1219200"/>
                        <a:ext cx="36957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75" name="Line 43"/>
          <p:cNvSpPr>
            <a:spLocks noChangeShapeType="1"/>
          </p:cNvSpPr>
          <p:nvPr/>
        </p:nvSpPr>
        <p:spPr bwMode="auto">
          <a:xfrm>
            <a:off x="8140700" y="35052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4076" name="Line 44"/>
          <p:cNvSpPr>
            <a:spLocks noChangeShapeType="1"/>
          </p:cNvSpPr>
          <p:nvPr/>
        </p:nvSpPr>
        <p:spPr bwMode="auto">
          <a:xfrm>
            <a:off x="6324600" y="30988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4077" name="Line 45"/>
          <p:cNvSpPr>
            <a:spLocks noChangeShapeType="1"/>
          </p:cNvSpPr>
          <p:nvPr/>
        </p:nvSpPr>
        <p:spPr bwMode="auto">
          <a:xfrm>
            <a:off x="5740400" y="19050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4078" name="Line 46"/>
          <p:cNvSpPr>
            <a:spLocks noChangeShapeType="1"/>
          </p:cNvSpPr>
          <p:nvPr/>
        </p:nvSpPr>
        <p:spPr bwMode="auto">
          <a:xfrm>
            <a:off x="6324600" y="2667000"/>
            <a:ext cx="1066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4079" name="Line 47"/>
          <p:cNvSpPr>
            <a:spLocks noChangeShapeType="1"/>
          </p:cNvSpPr>
          <p:nvPr/>
        </p:nvSpPr>
        <p:spPr bwMode="auto">
          <a:xfrm>
            <a:off x="6324600" y="2209800"/>
            <a:ext cx="1676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87C9-0E6A-424D-A416-E63067F5E0E4}" type="slidenum">
              <a:rPr lang="en-US"/>
              <a:pPr/>
              <a:t>65</a:t>
            </a:fld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292100" algn="l"/>
              </a:tabLst>
            </a:pPr>
            <a:r>
              <a:rPr lang="en-US" dirty="0" smtClean="0"/>
              <a:t>Algorithm I</a:t>
            </a:r>
            <a:endParaRPr lang="en-US" dirty="0"/>
          </a:p>
        </p:txBody>
      </p:sp>
      <p:sp>
        <p:nvSpPr>
          <p:cNvPr id="45061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38200" y="1676400"/>
            <a:ext cx="7772400" cy="426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</a:rPr>
              <a:t>Algorithm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b="1" i="1" dirty="0">
                <a:solidFill>
                  <a:schemeClr val="tx2"/>
                </a:solidFill>
                <a:latin typeface="Times New Roman" pitchFamily="18" charset="0"/>
              </a:rPr>
              <a:t>spans1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lang="en-US" sz="2800" b="1" i="1" dirty="0">
                <a:solidFill>
                  <a:schemeClr val="tx2"/>
                </a:solidFill>
                <a:latin typeface="Times New Roman" pitchFamily="18" charset="0"/>
              </a:rPr>
              <a:t>X, n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</a:rPr>
              <a:t>)</a:t>
            </a: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</a:rPr>
              <a:t>	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</a:rPr>
              <a:t>Input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</a:rPr>
              <a:t>array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</a:rPr>
              <a:t>X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</a:rPr>
              <a:t> of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</a:rPr>
              <a:t>n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</a:rPr>
              <a:t> integers</a:t>
            </a: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</a:rPr>
              <a:t>	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</a:rPr>
              <a:t>Output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</a:rPr>
              <a:t>array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</a:rPr>
              <a:t>S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</a:rPr>
              <a:t> of spans of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X	    	</a:t>
            </a:r>
            <a:endParaRPr lang="en-US" sz="2800" b="1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	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</a:rPr>
              <a:t>S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 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</a:rPr>
              <a:t>new array of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</a:rPr>
              <a:t>n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</a:rPr>
              <a:t> integers	  	</a:t>
            </a:r>
            <a:endParaRPr lang="en-US" sz="2800" b="1" i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sz="2800" dirty="0">
                <a:latin typeface="Times New Roman" pitchFamily="18" charset="0"/>
              </a:rPr>
              <a:t>	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</a:rPr>
              <a:t>for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b="1" i="1" dirty="0" err="1">
                <a:solidFill>
                  <a:schemeClr val="accent2"/>
                </a:solidFill>
                <a:latin typeface="Times New Roman" pitchFamily="18" charset="0"/>
              </a:rPr>
              <a:t>i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0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to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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1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do			</a:t>
            </a:r>
            <a:endParaRPr lang="en-US" sz="2800" b="1" i="1" dirty="0"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sz="2800" b="1" i="1" dirty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1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				</a:t>
            </a:r>
            <a:endParaRPr lang="en-US" sz="2800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sz="2800" dirty="0">
                <a:latin typeface="Times New Roman" pitchFamily="18" charset="0"/>
              </a:rPr>
              <a:t>		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</a:rPr>
              <a:t>while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 </a:t>
            </a:r>
            <a:r>
              <a:rPr lang="en-US" sz="2800" dirty="0">
                <a:latin typeface="Symbol" pitchFamily="18" charset="2"/>
                <a:sym typeface="Symbol" pitchFamily="18" charset="2"/>
              </a:rPr>
              <a:t>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i="1" dirty="0" err="1" smtClean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800" dirty="0" smtClean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8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-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latin typeface="Symbol" pitchFamily="18" charset="2"/>
                <a:sym typeface="Symbol" pitchFamily="18" charset="2"/>
              </a:rPr>
              <a:t>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8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	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sz="2800" dirty="0">
                <a:latin typeface="Times New Roman" pitchFamily="18" charset="0"/>
                <a:sym typeface="Symbol" pitchFamily="18" charset="2"/>
              </a:rPr>
              <a:t>			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+</a:t>
            </a:r>
            <a:r>
              <a:rPr lang="en-US" sz="28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1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		</a:t>
            </a:r>
            <a:endParaRPr lang="en-US" sz="2800" dirty="0" smtClean="0"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800" b="1" i="1" dirty="0" smtClean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800" dirty="0" smtClean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800" b="1" i="1" dirty="0" err="1" smtClean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800" dirty="0" smtClean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8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800" dirty="0" smtClean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i="1" dirty="0" smtClean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800" dirty="0" smtClean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	</a:t>
            </a:r>
            <a:r>
              <a:rPr lang="en-US" sz="2800" dirty="0" smtClean="0">
                <a:solidFill>
                  <a:schemeClr val="accent2"/>
                </a:solidFill>
                <a:latin typeface="Times New Roman" pitchFamily="18" charset="0"/>
              </a:rPr>
              <a:t>	    		 	</a:t>
            </a:r>
            <a:endParaRPr lang="en-US" sz="2800" dirty="0" smtClean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return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 			      		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87C9-0E6A-424D-A416-E63067F5E0E4}" type="slidenum">
              <a:rPr lang="en-US"/>
              <a:pPr/>
              <a:t>66</a:t>
            </a:fld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292100" algn="l"/>
              </a:tabLst>
            </a:pPr>
            <a:r>
              <a:rPr lang="en-US" dirty="0" smtClean="0"/>
              <a:t>Algorithm I: Analysis</a:t>
            </a:r>
            <a:endParaRPr lang="en-US" dirty="0"/>
          </a:p>
        </p:txBody>
      </p:sp>
      <p:sp>
        <p:nvSpPr>
          <p:cNvPr id="45061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38200" y="1676400"/>
            <a:ext cx="7772400" cy="396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Algorithm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pitchFamily="18" charset="0"/>
              </a:rPr>
              <a:t>spans1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lang="en-US" b="1" i="1" dirty="0">
                <a:solidFill>
                  <a:schemeClr val="tx2"/>
                </a:solidFill>
                <a:latin typeface="Times New Roman" pitchFamily="18" charset="0"/>
              </a:rPr>
              <a:t>X, n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)</a:t>
            </a: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Input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array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</a:rPr>
              <a:t>X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 of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</a:rPr>
              <a:t>n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 integers</a:t>
            </a: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Output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array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</a:rPr>
              <a:t>S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 of spans of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X	    	</a:t>
            </a:r>
            <a:r>
              <a:rPr lang="en-US" sz="2000" b="1" dirty="0">
                <a:sym typeface="Symbol" pitchFamily="18" charset="2"/>
              </a:rPr>
              <a:t>#</a:t>
            </a:r>
            <a:endParaRPr lang="en-US" b="1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	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</a:rPr>
              <a:t>S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 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new array of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</a:rPr>
              <a:t>n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 integers	  	</a:t>
            </a:r>
            <a:r>
              <a:rPr lang="en-US" b="1" i="1" dirty="0">
                <a:latin typeface="Times New Roman" pitchFamily="18" charset="0"/>
                <a:sym typeface="Symbol" pitchFamily="18" charset="2"/>
              </a:rPr>
              <a:t>n</a:t>
            </a:r>
            <a:endParaRPr lang="en-US" b="1" i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dirty="0">
                <a:latin typeface="Times New Roman" pitchFamily="18" charset="0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for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b="1" i="1" dirty="0" err="1">
                <a:solidFill>
                  <a:schemeClr val="accent2"/>
                </a:solidFill>
                <a:latin typeface="Times New Roman" pitchFamily="18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0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to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n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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1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do			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loops </a:t>
            </a:r>
            <a:r>
              <a:rPr lang="en-US" b="1" i="1" dirty="0" smtClean="0">
                <a:latin typeface="Times New Roman" pitchFamily="18" charset="0"/>
                <a:sym typeface="Symbol" pitchFamily="18" charset="2"/>
              </a:rPr>
              <a:t>n times</a:t>
            </a:r>
            <a:endParaRPr lang="en-US" b="1" i="1" dirty="0"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b="1" i="1" dirty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1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			</a:t>
            </a:r>
            <a:r>
              <a:rPr lang="en-US" b="1" i="1" dirty="0" smtClean="0">
                <a:latin typeface="Times New Roman" pitchFamily="18" charset="0"/>
                <a:sym typeface="Symbol" pitchFamily="18" charset="2"/>
              </a:rPr>
              <a:t>n</a:t>
            </a:r>
            <a:endParaRPr lang="en-US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while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 </a:t>
            </a:r>
            <a:r>
              <a:rPr lang="en-US" dirty="0">
                <a:latin typeface="Symbol" pitchFamily="18" charset="2"/>
                <a:sym typeface="Symbol" pitchFamily="18" charset="2"/>
              </a:rPr>
              <a:t>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i="1" dirty="0" err="1" smtClean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dirty="0" smtClean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X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-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latin typeface="Symbol" pitchFamily="18" charset="2"/>
                <a:sym typeface="Symbol" pitchFamily="18" charset="2"/>
              </a:rPr>
              <a:t>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X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	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1 </a:t>
            </a:r>
            <a:r>
              <a:rPr lang="en-US" dirty="0">
                <a:latin typeface="Symbol" pitchFamily="18" charset="2"/>
                <a:sym typeface="Symbol" pitchFamily="18" charset="2"/>
              </a:rPr>
              <a:t>+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2 </a:t>
            </a:r>
            <a:r>
              <a:rPr lang="en-US" dirty="0">
                <a:latin typeface="Symbol" pitchFamily="18" charset="2"/>
                <a:sym typeface="Symbol" pitchFamily="18" charset="2"/>
              </a:rPr>
              <a:t>+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…</a:t>
            </a:r>
            <a:r>
              <a:rPr lang="en-US" dirty="0">
                <a:latin typeface="Symbol" pitchFamily="18" charset="2"/>
                <a:sym typeface="Symbol" pitchFamily="18" charset="2"/>
              </a:rPr>
              <a:t>+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(</a:t>
            </a:r>
            <a:r>
              <a:rPr lang="en-US" b="1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latin typeface="Symbol" pitchFamily="18" charset="2"/>
                <a:sym typeface="Symbol" pitchFamily="18" charset="2"/>
              </a:rPr>
              <a:t>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1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) (in total)</a:t>
            </a:r>
            <a:endParaRPr lang="en-US" dirty="0"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dirty="0">
                <a:latin typeface="Times New Roman" pitchFamily="18" charset="0"/>
                <a:sym typeface="Symbol" pitchFamily="18" charset="2"/>
              </a:rPr>
              <a:t>			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+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1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	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1 </a:t>
            </a:r>
            <a:r>
              <a:rPr lang="en-US" dirty="0">
                <a:latin typeface="Symbol" pitchFamily="18" charset="2"/>
                <a:sym typeface="Symbol" pitchFamily="18" charset="2"/>
              </a:rPr>
              <a:t>+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2 </a:t>
            </a:r>
            <a:r>
              <a:rPr lang="en-US" dirty="0">
                <a:latin typeface="Symbol" pitchFamily="18" charset="2"/>
                <a:sym typeface="Symbol" pitchFamily="18" charset="2"/>
              </a:rPr>
              <a:t>+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…</a:t>
            </a:r>
            <a:r>
              <a:rPr lang="en-US" dirty="0">
                <a:latin typeface="Symbol" pitchFamily="18" charset="2"/>
                <a:sym typeface="Symbol" pitchFamily="18" charset="2"/>
              </a:rPr>
              <a:t>+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(</a:t>
            </a:r>
            <a:r>
              <a:rPr lang="en-US" b="1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latin typeface="Symbol" pitchFamily="18" charset="2"/>
                <a:sym typeface="Symbol" pitchFamily="18" charset="2"/>
              </a:rPr>
              <a:t>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1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) (in total)</a:t>
            </a:r>
            <a:endParaRPr lang="en-US" dirty="0"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dirty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	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	    		</a:t>
            </a:r>
            <a:r>
              <a:rPr lang="en-US" b="1" i="1" dirty="0" smtClean="0">
                <a:latin typeface="Times New Roman" pitchFamily="18" charset="0"/>
                <a:sym typeface="Symbol" pitchFamily="18" charset="2"/>
              </a:rPr>
              <a:t>n</a:t>
            </a:r>
            <a:endParaRPr lang="en-US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tabLst>
                <a:tab pos="635000" algn="l"/>
                <a:tab pos="914400" algn="l"/>
              </a:tabLst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return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 			      	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1</a:t>
            </a:r>
            <a:endParaRPr lang="en-US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45062" name="Rectangle 6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5867400"/>
            <a:ext cx="7848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/>
              <a:t>Algorithm </a:t>
            </a:r>
            <a:r>
              <a:rPr lang="en-US" b="1" i="1">
                <a:latin typeface="Times New Roman" pitchFamily="18" charset="0"/>
                <a:sym typeface="Symbol" pitchFamily="18" charset="2"/>
              </a:rPr>
              <a:t>spans1 </a:t>
            </a:r>
            <a:r>
              <a:rPr lang="en-US"/>
              <a:t>runs in </a:t>
            </a:r>
            <a:r>
              <a:rPr lang="en-US" b="1" i="1">
                <a:latin typeface="Times New Roman" pitchFamily="18" charset="0"/>
                <a:sym typeface="Symbol" pitchFamily="18" charset="2"/>
              </a:rPr>
              <a:t>O</a:t>
            </a:r>
            <a:r>
              <a:rPr lang="en-US">
                <a:latin typeface="Times New Roman" pitchFamily="18" charset="0"/>
                <a:sym typeface="Symbol" pitchFamily="18" charset="2"/>
              </a:rPr>
              <a:t>(</a:t>
            </a:r>
            <a:r>
              <a:rPr lang="en-US" b="1" i="1">
                <a:latin typeface="Times New Roman" pitchFamily="18" charset="0"/>
                <a:sym typeface="Symbol" pitchFamily="18" charset="2"/>
              </a:rPr>
              <a:t>n</a:t>
            </a:r>
            <a:r>
              <a:rPr lang="en-US" baseline="30000">
                <a:latin typeface="Times New Roman" pitchFamily="18" charset="0"/>
                <a:sym typeface="Symbol" pitchFamily="18" charset="2"/>
              </a:rPr>
              <a:t>2</a:t>
            </a:r>
            <a:r>
              <a:rPr lang="en-US">
                <a:latin typeface="Times New Roman" pitchFamily="18" charset="0"/>
                <a:sym typeface="Symbol" pitchFamily="18" charset="2"/>
              </a:rPr>
              <a:t>) </a:t>
            </a:r>
            <a:r>
              <a:rPr lang="en-US"/>
              <a:t>time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35E9-7956-404B-AEE5-DDE77EBD44E8}" type="slidenum">
              <a:rPr lang="en-US"/>
              <a:pPr/>
              <a:t>67</a:t>
            </a:fld>
            <a:endParaRPr lang="en-US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Computing Spans with a Stack</a:t>
            </a:r>
          </a:p>
        </p:txBody>
      </p:sp>
      <p:sp>
        <p:nvSpPr>
          <p:cNvPr id="47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4038600" cy="4572000"/>
          </a:xfrm>
        </p:spPr>
        <p:txBody>
          <a:bodyPr/>
          <a:lstStyle/>
          <a:p>
            <a:r>
              <a:rPr lang="en-US" sz="2400" dirty="0"/>
              <a:t>We keep in a stack the indices of the elements visible when “looking back”</a:t>
            </a:r>
          </a:p>
          <a:p>
            <a:r>
              <a:rPr lang="en-US" sz="2400" dirty="0"/>
              <a:t>We scan the array from left to right</a:t>
            </a:r>
          </a:p>
          <a:p>
            <a:pPr lvl="1"/>
            <a:r>
              <a:rPr lang="en-US" sz="2000" dirty="0"/>
              <a:t>Let </a:t>
            </a:r>
            <a:r>
              <a:rPr lang="en-US" sz="2000" b="1" i="1" dirty="0" err="1">
                <a:latin typeface="Times New Roman" pitchFamily="18" charset="0"/>
              </a:rPr>
              <a:t>i</a:t>
            </a:r>
            <a:r>
              <a:rPr lang="en-US" sz="2000" b="1" i="1" dirty="0">
                <a:latin typeface="Times New Roman" pitchFamily="18" charset="0"/>
              </a:rPr>
              <a:t> </a:t>
            </a:r>
            <a:r>
              <a:rPr lang="en-US" sz="2000" dirty="0"/>
              <a:t>be the current index</a:t>
            </a:r>
            <a:endParaRPr lang="en-US" sz="2000" b="1" i="1" dirty="0">
              <a:latin typeface="Times New Roman" pitchFamily="18" charset="0"/>
            </a:endParaRPr>
          </a:p>
          <a:p>
            <a:pPr lvl="1"/>
            <a:r>
              <a:rPr lang="en-US" sz="2000" dirty="0"/>
              <a:t>We pop indices from the stack until we find index </a:t>
            </a:r>
            <a:r>
              <a:rPr lang="en-US" sz="2000" b="1" i="1" dirty="0"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2000" dirty="0"/>
              <a:t> such that </a:t>
            </a:r>
            <a:r>
              <a:rPr lang="en-US" sz="2000" b="1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000" dirty="0"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000" b="1" i="1" dirty="0" err="1"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000" dirty="0"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000" dirty="0"/>
              <a:t> </a:t>
            </a:r>
            <a:r>
              <a:rPr lang="en-US" sz="2000" dirty="0">
                <a:latin typeface="Symbol" pitchFamily="18" charset="2"/>
                <a:sym typeface="Symbol" pitchFamily="18" charset="2"/>
              </a:rPr>
              <a:t></a:t>
            </a:r>
            <a:r>
              <a:rPr lang="en-US" sz="2000" b="1" i="1" dirty="0">
                <a:latin typeface="Times New Roman" pitchFamily="18" charset="0"/>
                <a:sym typeface="Symbol" pitchFamily="18" charset="2"/>
              </a:rPr>
              <a:t> X</a:t>
            </a:r>
            <a:r>
              <a:rPr lang="en-US" sz="2000" dirty="0"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000" b="1" i="1" dirty="0"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2000" dirty="0">
                <a:latin typeface="Times New Roman" pitchFamily="18" charset="0"/>
                <a:sym typeface="Symbol" pitchFamily="18" charset="2"/>
              </a:rPr>
              <a:t>]</a:t>
            </a:r>
          </a:p>
          <a:p>
            <a:pPr lvl="1"/>
            <a:r>
              <a:rPr lang="en-US" sz="2000" dirty="0"/>
              <a:t>We set </a:t>
            </a:r>
            <a:r>
              <a:rPr lang="en-US" sz="20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0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0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0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0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0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0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-</a:t>
            </a:r>
            <a:r>
              <a:rPr lang="en-US" sz="20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j</a:t>
            </a:r>
            <a:endParaRPr lang="en-US" sz="2000" dirty="0"/>
          </a:p>
          <a:p>
            <a:pPr lvl="1"/>
            <a:r>
              <a:rPr lang="en-US" sz="2000" dirty="0"/>
              <a:t>We push </a:t>
            </a:r>
            <a:r>
              <a:rPr lang="en-US" sz="2000" b="1" i="1" dirty="0" err="1" smtClean="0">
                <a:latin typeface="Times New Roman" pitchFamily="18" charset="0"/>
              </a:rPr>
              <a:t>i</a:t>
            </a:r>
            <a:r>
              <a:rPr lang="en-US" sz="2000" dirty="0" smtClean="0"/>
              <a:t> </a:t>
            </a:r>
            <a:r>
              <a:rPr lang="en-US" sz="2000" dirty="0"/>
              <a:t>onto the stack</a:t>
            </a:r>
          </a:p>
        </p:txBody>
      </p:sp>
      <p:graphicFrame>
        <p:nvGraphicFramePr>
          <p:cNvPr id="63488" name="Object 0"/>
          <p:cNvGraphicFramePr>
            <a:graphicFrameLocks noChangeAspect="1"/>
          </p:cNvGraphicFramePr>
          <p:nvPr/>
        </p:nvGraphicFramePr>
        <p:xfrm>
          <a:off x="4953000" y="1676400"/>
          <a:ext cx="36957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4" name="Chart" r:id="rId3" imgW="3695633" imgH="4067243" progId="MSGraph.Chart.8">
                  <p:embed followColorScheme="full"/>
                </p:oleObj>
              </mc:Choice>
              <mc:Fallback>
                <p:oleObj name="Chart" r:id="rId3" imgW="3695633" imgH="4067243" progId="MSGraph.Chart.8">
                  <p:embed followColorScheme="full"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676400"/>
                        <a:ext cx="36957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67698-396D-4B2D-8233-9223DD63A3AB}" type="slidenum">
              <a:rPr lang="en-US"/>
              <a:pPr/>
              <a:t>68</a:t>
            </a:fld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II</a:t>
            </a:r>
            <a:endParaRPr lang="en-US" dirty="0"/>
          </a:p>
        </p:txBody>
      </p:sp>
      <p:sp>
        <p:nvSpPr>
          <p:cNvPr id="46085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524000" y="1295400"/>
            <a:ext cx="5943600" cy="518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defTabSz="228600"/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Algorithm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b="1" i="1" dirty="0">
                <a:solidFill>
                  <a:schemeClr val="tx2"/>
                </a:solidFill>
                <a:latin typeface="Times New Roman" pitchFamily="18" charset="0"/>
              </a:rPr>
              <a:t>spans2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lang="en-US" sz="2400" b="1" i="1" dirty="0">
                <a:solidFill>
                  <a:schemeClr val="tx2"/>
                </a:solidFill>
                <a:latin typeface="Times New Roman" pitchFamily="18" charset="0"/>
              </a:rPr>
              <a:t>X, n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)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					</a:t>
            </a:r>
            <a:endParaRPr lang="en-US" sz="2400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	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new array of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</a:rPr>
              <a:t>n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 integers	  	</a:t>
            </a:r>
            <a:endParaRPr lang="en-US" sz="2400" b="1" i="1" dirty="0"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400" b="1" i="1" dirty="0">
                <a:latin typeface="Times New Roman" pitchFamily="18" charset="0"/>
                <a:sym typeface="Symbol" pitchFamily="18" charset="2"/>
              </a:rPr>
              <a:t>	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new empty stack				 	</a:t>
            </a:r>
            <a:endParaRPr lang="en-US" sz="2400" b="1" i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 defTabSz="228600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for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</a:rPr>
              <a:t>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0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to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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1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do					</a:t>
            </a:r>
            <a:endParaRPr lang="en-US" sz="2400" b="1" i="1" dirty="0"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			while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</a:rPr>
              <a:t>.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</a:rPr>
              <a:t>isEmpty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()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 </a:t>
            </a:r>
          </a:p>
          <a:p>
            <a:pPr marL="342900" indent="-342900" defTabSz="228600"/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					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</a:rPr>
              <a:t>top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()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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)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do		</a:t>
            </a:r>
            <a:endParaRPr lang="en-US" sz="2400" b="1" i="1" dirty="0"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400" b="1" i="1" dirty="0">
                <a:latin typeface="Times New Roman" pitchFamily="18" charset="0"/>
                <a:sym typeface="Symbol" pitchFamily="18" charset="2"/>
              </a:rPr>
              <a:t>				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A.pop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()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							</a:t>
            </a:r>
            <a:endParaRPr lang="en-US" sz="2400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400" dirty="0">
                <a:latin typeface="Times New Roman" pitchFamily="18" charset="0"/>
              </a:rPr>
              <a:t>			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if 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</a:rPr>
              <a:t>.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</a:rPr>
              <a:t>isEmpty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()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then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		 		</a:t>
            </a:r>
            <a:endParaRPr lang="en-US" sz="2400" dirty="0"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400" dirty="0">
                <a:latin typeface="Times New Roman" pitchFamily="18" charset="0"/>
                <a:sym typeface="Symbol" pitchFamily="18" charset="2"/>
              </a:rPr>
              <a:t>				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 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+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1								</a:t>
            </a:r>
            <a:endParaRPr lang="en-US" sz="2400" dirty="0"/>
          </a:p>
          <a:p>
            <a:pPr marL="342900" indent="-342900" defTabSz="228600"/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			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else</a:t>
            </a:r>
            <a:endParaRPr lang="en-US" sz="2400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 defTabSz="228600"/>
            <a:r>
              <a:rPr lang="en-US" sz="2400" b="1" i="1" dirty="0">
                <a:latin typeface="Times New Roman" pitchFamily="18" charset="0"/>
                <a:sym typeface="Symbol" pitchFamily="18" charset="2"/>
              </a:rPr>
              <a:t>		 		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-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j								</a:t>
            </a:r>
          </a:p>
          <a:p>
            <a:pPr marL="342900" indent="-342900" defTabSz="228600"/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</a:rPr>
              <a:t>.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</a:rPr>
              <a:t>push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)										</a:t>
            </a:r>
            <a:endParaRPr lang="en-US" sz="2400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return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 			      							</a:t>
            </a:r>
            <a:endParaRPr lang="en-US" sz="2400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67698-396D-4B2D-8233-9223DD63A3AB}" type="slidenum">
              <a:rPr lang="en-US"/>
              <a:pPr/>
              <a:t>69</a:t>
            </a:fld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II: Analysis</a:t>
            </a:r>
            <a:endParaRPr lang="en-US" dirty="0"/>
          </a:p>
        </p:txBody>
      </p:sp>
      <p:sp>
        <p:nvSpPr>
          <p:cNvPr id="46085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114800" y="1676400"/>
            <a:ext cx="4572000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defTabSz="228600"/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</a:rPr>
              <a:t>Algorithm</a:t>
            </a:r>
            <a:r>
              <a:rPr lang="en-US" sz="2200" dirty="0">
                <a:latin typeface="Times New Roman" pitchFamily="18" charset="0"/>
              </a:rPr>
              <a:t> </a:t>
            </a:r>
            <a:r>
              <a:rPr lang="en-US" sz="2200" b="1" i="1" dirty="0">
                <a:solidFill>
                  <a:schemeClr val="tx2"/>
                </a:solidFill>
                <a:latin typeface="Times New Roman" pitchFamily="18" charset="0"/>
              </a:rPr>
              <a:t>spans2</a:t>
            </a:r>
            <a:r>
              <a:rPr lang="en-US" sz="2200" dirty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lang="en-US" sz="2200" b="1" i="1" dirty="0">
                <a:solidFill>
                  <a:schemeClr val="tx2"/>
                </a:solidFill>
                <a:latin typeface="Times New Roman" pitchFamily="18" charset="0"/>
              </a:rPr>
              <a:t>X, n</a:t>
            </a:r>
            <a:r>
              <a:rPr lang="en-US" sz="2200" dirty="0">
                <a:solidFill>
                  <a:schemeClr val="tx2"/>
                </a:solidFill>
                <a:latin typeface="Times New Roman" pitchFamily="18" charset="0"/>
              </a:rPr>
              <a:t>)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</a:rPr>
              <a:t>					</a:t>
            </a:r>
            <a:endParaRPr lang="en-US" sz="2200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	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</a:rPr>
              <a:t>S</a:t>
            </a:r>
            <a:r>
              <a:rPr lang="en-US" sz="22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 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</a:rPr>
              <a:t>new array of 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</a:rPr>
              <a:t>n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</a:rPr>
              <a:t> integers	  	</a:t>
            </a:r>
            <a:endParaRPr lang="en-US" sz="2200" b="1" i="1" dirty="0"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200" b="1" i="1" dirty="0">
                <a:latin typeface="Times New Roman" pitchFamily="18" charset="0"/>
                <a:sym typeface="Symbol" pitchFamily="18" charset="2"/>
              </a:rPr>
              <a:t>	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sz="22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 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</a:rPr>
              <a:t>new empty stack				 	</a:t>
            </a:r>
            <a:endParaRPr lang="en-US" sz="2200" b="1" i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 defTabSz="228600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</a:rPr>
              <a:t>for</a:t>
            </a:r>
            <a:r>
              <a:rPr lang="en-US" sz="2200" dirty="0">
                <a:latin typeface="Times New Roman" pitchFamily="18" charset="0"/>
              </a:rPr>
              <a:t> 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</a:rPr>
              <a:t>i</a:t>
            </a:r>
            <a:r>
              <a:rPr lang="en-US" sz="22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2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0</a:t>
            </a:r>
            <a:r>
              <a:rPr lang="en-US" sz="22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to</a:t>
            </a:r>
            <a:r>
              <a:rPr lang="en-US" sz="22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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1</a:t>
            </a:r>
            <a:r>
              <a:rPr lang="en-US" sz="22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do					</a:t>
            </a:r>
            <a:endParaRPr lang="en-US" sz="2200" b="1" i="1" dirty="0"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</a:rPr>
              <a:t>			while</a:t>
            </a:r>
            <a:r>
              <a:rPr lang="en-US" sz="2200" dirty="0">
                <a:latin typeface="Times New Roman" pitchFamily="18" charset="0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sz="2200" dirty="0" err="1">
                <a:latin typeface="Times New Roman" pitchFamily="18" charset="0"/>
              </a:rPr>
              <a:t>.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</a:rPr>
              <a:t>isEmpty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</a:rPr>
              <a:t>() 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 </a:t>
            </a:r>
          </a:p>
          <a:p>
            <a:pPr marL="342900" indent="-342900" defTabSz="228600"/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					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</a:rPr>
              <a:t>top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</a:rPr>
              <a:t>()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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X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 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</a:rPr>
              <a:t>)</a:t>
            </a:r>
            <a:r>
              <a:rPr lang="en-US" sz="2200" dirty="0">
                <a:latin typeface="Times New Roman" pitchFamily="18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do		</a:t>
            </a:r>
            <a:endParaRPr lang="en-US" sz="2200" b="1" i="1" dirty="0"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200" b="1" i="1" dirty="0">
                <a:latin typeface="Times New Roman" pitchFamily="18" charset="0"/>
                <a:sym typeface="Symbol" pitchFamily="18" charset="2"/>
              </a:rPr>
              <a:t>				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j</a:t>
            </a:r>
            <a:r>
              <a:rPr lang="en-US" sz="22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A.pop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()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							</a:t>
            </a:r>
            <a:endParaRPr lang="en-US" sz="2200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200" dirty="0">
                <a:latin typeface="Times New Roman" pitchFamily="18" charset="0"/>
              </a:rPr>
              <a:t>			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</a:rPr>
              <a:t>if 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sz="2200" dirty="0" err="1">
                <a:latin typeface="Times New Roman" pitchFamily="18" charset="0"/>
              </a:rPr>
              <a:t>.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</a:rPr>
              <a:t>isEmpty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</a:rPr>
              <a:t>()</a:t>
            </a:r>
            <a:r>
              <a:rPr lang="en-US" sz="2200" dirty="0">
                <a:latin typeface="Times New Roman" pitchFamily="18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</a:rPr>
              <a:t>then</a:t>
            </a:r>
            <a:r>
              <a:rPr lang="en-US" sz="2200" dirty="0">
                <a:latin typeface="Times New Roman" pitchFamily="18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		 		</a:t>
            </a:r>
            <a:endParaRPr lang="en-US" sz="2200" dirty="0"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200" dirty="0">
                <a:latin typeface="Times New Roman" pitchFamily="18" charset="0"/>
                <a:sym typeface="Symbol" pitchFamily="18" charset="2"/>
              </a:rPr>
              <a:t>				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2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 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+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1								</a:t>
            </a:r>
            <a:endParaRPr lang="en-US" sz="2200" dirty="0"/>
          </a:p>
          <a:p>
            <a:pPr marL="342900" indent="-342900" defTabSz="228600"/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</a:rPr>
              <a:t>			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</a:rPr>
              <a:t>else</a:t>
            </a:r>
            <a:endParaRPr lang="en-US" sz="2200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 defTabSz="228600"/>
            <a:r>
              <a:rPr lang="en-US" sz="2200" b="1" i="1" dirty="0">
                <a:latin typeface="Times New Roman" pitchFamily="18" charset="0"/>
                <a:sym typeface="Symbol" pitchFamily="18" charset="2"/>
              </a:rPr>
              <a:t>		 		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]</a:t>
            </a:r>
            <a:r>
              <a:rPr lang="en-US" sz="22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-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j								</a:t>
            </a:r>
          </a:p>
          <a:p>
            <a:pPr marL="342900" indent="-342900" defTabSz="228600"/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sz="2200" dirty="0" err="1">
                <a:latin typeface="Times New Roman" pitchFamily="18" charset="0"/>
              </a:rPr>
              <a:t>.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</a:rPr>
              <a:t>push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sz="2200" b="1" i="1" dirty="0" err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sz="2200" dirty="0">
                <a:solidFill>
                  <a:schemeClr val="accent2"/>
                </a:solidFill>
                <a:latin typeface="Times New Roman" pitchFamily="18" charset="0"/>
              </a:rPr>
              <a:t>)										</a:t>
            </a:r>
            <a:endParaRPr lang="en-US" sz="2200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  <a:p>
            <a:pPr marL="342900" indent="-342900" defTabSz="228600"/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	return</a:t>
            </a:r>
            <a:r>
              <a:rPr lang="en-US" sz="22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200" b="1" i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S 			      							</a:t>
            </a:r>
            <a:endParaRPr lang="en-US" sz="2200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46087" name="Rectangle 7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38200" y="1676400"/>
            <a:ext cx="2971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/>
              <a:t>Each index of the array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/>
              <a:t>Is pushed into the stack exactly one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/>
              <a:t>Is popped from the stack at most once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/>
              <a:t>The statements in the while-loop are executed at most </a:t>
            </a:r>
            <a:r>
              <a:rPr lang="en-US" b="1" i="1">
                <a:latin typeface="Times New Roman" pitchFamily="18" charset="0"/>
                <a:sym typeface="Symbol" pitchFamily="18" charset="2"/>
              </a:rPr>
              <a:t>n</a:t>
            </a:r>
            <a:r>
              <a:rPr lang="en-US"/>
              <a:t> times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/>
              <a:t>Algorithm </a:t>
            </a:r>
            <a:r>
              <a:rPr lang="en-US" b="1" i="1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spans2 </a:t>
            </a:r>
            <a:r>
              <a:rPr lang="en-US"/>
              <a:t>runs in </a:t>
            </a:r>
            <a:r>
              <a:rPr lang="en-US" b="1" i="1">
                <a:latin typeface="Times New Roman" pitchFamily="18" charset="0"/>
                <a:sym typeface="Symbol" pitchFamily="18" charset="2"/>
              </a:rPr>
              <a:t>O</a:t>
            </a:r>
            <a:r>
              <a:rPr lang="en-US">
                <a:latin typeface="Times New Roman" pitchFamily="18" charset="0"/>
                <a:sym typeface="Symbol" pitchFamily="18" charset="2"/>
              </a:rPr>
              <a:t>(</a:t>
            </a:r>
            <a:r>
              <a:rPr lang="en-US" b="1" i="1">
                <a:latin typeface="Times New Roman" pitchFamily="18" charset="0"/>
                <a:sym typeface="Symbol" pitchFamily="18" charset="2"/>
              </a:rPr>
              <a:t>n</a:t>
            </a:r>
            <a:r>
              <a:rPr lang="en-US">
                <a:latin typeface="Times New Roman" pitchFamily="18" charset="0"/>
                <a:sym typeface="Symbol" pitchFamily="18" charset="2"/>
              </a:rPr>
              <a:t>) </a:t>
            </a:r>
            <a:r>
              <a:rPr lang="en-US"/>
              <a:t>time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90800"/>
          </a:xfrm>
        </p:spPr>
        <p:txBody>
          <a:bodyPr/>
          <a:lstStyle/>
          <a:p>
            <a:r>
              <a:rPr lang="en-US" dirty="0" smtClean="0"/>
              <a:t>Suppose you have a linked list L</a:t>
            </a:r>
          </a:p>
          <a:p>
            <a:r>
              <a:rPr lang="en-US" dirty="0" smtClean="0"/>
              <a:t>Problem: Find the 3</a:t>
            </a:r>
            <a:r>
              <a:rPr lang="en-US" baseline="30000" dirty="0" smtClean="0"/>
              <a:t>rd</a:t>
            </a:r>
            <a:r>
              <a:rPr lang="en-US" dirty="0" smtClean="0"/>
              <a:t> node before the one containing </a:t>
            </a:r>
            <a:r>
              <a:rPr lang="en-US" i="1" dirty="0" smtClean="0"/>
              <a:t>G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Can you propose a solution?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70</a:t>
            </a:fld>
            <a:endParaRPr lang="en-US"/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960" y="4162425"/>
            <a:ext cx="887264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1: Link Inversion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600200"/>
          </a:xfrm>
        </p:spPr>
        <p:txBody>
          <a:bodyPr/>
          <a:lstStyle/>
          <a:p>
            <a:r>
              <a:rPr lang="en-US" dirty="0" smtClean="0"/>
              <a:t>As we walk down the list with two pointers P, Q, we reverse the NEXT pointers to point to the previous node: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71</a:t>
            </a:fld>
            <a:endParaRPr lang="en-US"/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632710"/>
            <a:ext cx="6553200" cy="3768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2: Use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Walk down the list, pushing node addresses onto a stack.</a:t>
            </a:r>
          </a:p>
          <a:p>
            <a:r>
              <a:rPr lang="en-US" dirty="0" smtClean="0"/>
              <a:t>When you find “G”, pop 3 addresses off the stack.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72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2515</TotalTime>
  <Words>1170</Words>
  <Application>Microsoft Office PowerPoint</Application>
  <PresentationFormat>On-screen Show (4:3)</PresentationFormat>
  <Paragraphs>673</Paragraphs>
  <Slides>72</Slides>
  <Notes>62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72</vt:i4>
      </vt:variant>
    </vt:vector>
  </HeadingPairs>
  <TitlesOfParts>
    <vt:vector size="82" baseType="lpstr">
      <vt:lpstr>Arial</vt:lpstr>
      <vt:lpstr>Calibri</vt:lpstr>
      <vt:lpstr>Consolas</vt:lpstr>
      <vt:lpstr>Courier New</vt:lpstr>
      <vt:lpstr>Symbol</vt:lpstr>
      <vt:lpstr>Times New Roman</vt:lpstr>
      <vt:lpstr>Wingdings</vt:lpstr>
      <vt:lpstr>Office Theme</vt:lpstr>
      <vt:lpstr>Equation</vt:lpstr>
      <vt:lpstr>Chart</vt:lpstr>
      <vt:lpstr>CSE 203: Data Structures</vt:lpstr>
      <vt:lpstr>Question…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Array Capacity</vt:lpstr>
      <vt:lpstr>Stack Application: 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Reverse-Polish Notation</vt:lpstr>
      <vt:lpstr>Application: Parsing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Parsing XHTML</vt:lpstr>
      <vt:lpstr>HTML</vt:lpstr>
      <vt:lpstr>XML</vt:lpstr>
      <vt:lpstr>Computing Spans</vt:lpstr>
      <vt:lpstr>Algorithm I</vt:lpstr>
      <vt:lpstr>Algorithm I: Analysis</vt:lpstr>
      <vt:lpstr>Computing Spans with a Stack</vt:lpstr>
      <vt:lpstr>Algorithm II</vt:lpstr>
      <vt:lpstr>Algorithm II: Analysis</vt:lpstr>
      <vt:lpstr>A Problem</vt:lpstr>
      <vt:lpstr>Solution 1: Link Inversion</vt:lpstr>
      <vt:lpstr>Solution 2: Use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203: Data Structures</dc:title>
  <dc:creator>User</dc:creator>
  <cp:lastModifiedBy>user</cp:lastModifiedBy>
  <cp:revision>98</cp:revision>
  <dcterms:created xsi:type="dcterms:W3CDTF">2016-02-28T13:24:45Z</dcterms:created>
  <dcterms:modified xsi:type="dcterms:W3CDTF">2021-12-12T17:18:31Z</dcterms:modified>
</cp:coreProperties>
</file>