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8" r:id="rId20"/>
    <p:sldId id="280" r:id="rId21"/>
    <p:sldId id="282" r:id="rId22"/>
    <p:sldId id="284" r:id="rId23"/>
    <p:sldId id="285" r:id="rId24"/>
    <p:sldId id="28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82829-1249-4103-AFF7-B534445C9F33}" type="datetimeFigureOut">
              <a:rPr lang="en-US" smtClean="0"/>
              <a:t>1/9/2022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530C1-2F3A-48CD-A3E6-C2383A64D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336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9DE35-5FB9-454E-A1D8-6B42DCBDF7EA}" type="datetime1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8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E168B-0A58-445E-AFC0-4F7453823108}" type="datetime1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9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42C2-DABE-4E7E-9A3B-48F8800B86B5}" type="datetime1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21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FFC63-09C7-4DE5-8AC8-DA17804A3F8B}" type="datetime1">
              <a:rPr lang="en-US" smtClean="0"/>
              <a:t>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2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AC6A-C363-4CEF-9C67-53F6CC484976}" type="datetime1">
              <a:rPr lang="en-US" smtClean="0"/>
              <a:t>1/9/2022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327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31F92-34C6-403C-896A-1C068054C511}" type="datetime1">
              <a:rPr lang="en-US" smtClean="0"/>
              <a:t>1/9/2022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1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75629-C4DE-4659-911F-5B7C0C775577}" type="datetime1">
              <a:rPr lang="en-US" smtClean="0"/>
              <a:t>1/9/2022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13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3BF7F-0CFC-462B-8C5C-2CDC8EE79969}" type="datetime1">
              <a:rPr lang="en-US" smtClean="0"/>
              <a:t>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33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7A93-D045-40A6-9E1E-8FDFFD80FC08}" type="datetime1">
              <a:rPr lang="en-US" smtClean="0"/>
              <a:t>1/9/2022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60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8613A-19C1-4FC8-911A-46D46D073A29}" type="datetime1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74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D4F7D-8CFB-465A-B20B-268AB361B92C}" type="datetime1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67B60C-9657-4143-AE5E-689D6E56CD05}" type="datetime1">
              <a:rPr lang="en-US" smtClean="0"/>
              <a:t>1/9/2022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5BFDB-AD7B-436C-9D03-D9A8740DC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37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8.w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0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Recurrence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6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 recurrence?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9342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i="1" dirty="0"/>
              <a:t>recurrence </a:t>
            </a:r>
            <a:r>
              <a:rPr lang="en-US" dirty="0"/>
              <a:t>is an equation or inequality that describes a function in terms</a:t>
            </a:r>
            <a:r>
              <a:rPr lang="en-US" dirty="0" smtClean="0"/>
              <a:t> </a:t>
            </a:r>
            <a:r>
              <a:rPr lang="en-US" dirty="0"/>
              <a:t>of its value on smaller inputs.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181" y="2759825"/>
            <a:ext cx="5797175" cy="135466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559" y="4575291"/>
            <a:ext cx="5680797" cy="473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181" y="5509491"/>
            <a:ext cx="4555772" cy="62530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27671" y="2571596"/>
            <a:ext cx="2360814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Recurrence can take many forms.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5336771" y="3956858"/>
            <a:ext cx="3258589" cy="33250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27671" y="4104701"/>
            <a:ext cx="1147878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Equal split</a:t>
            </a:r>
          </a:p>
        </p:txBody>
      </p:sp>
      <p:sp>
        <p:nvSpPr>
          <p:cNvPr id="18" name="Left Brace 17"/>
          <p:cNvSpPr/>
          <p:nvPr/>
        </p:nvSpPr>
        <p:spPr>
          <a:xfrm rot="16200000">
            <a:off x="5354101" y="3767893"/>
            <a:ext cx="571662" cy="2865350"/>
          </a:xfrm>
          <a:prstGeom prst="lef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7098376" y="5145269"/>
            <a:ext cx="1496984" cy="14784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96442" y="5145269"/>
            <a:ext cx="2968441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unequal split: 2/3 to 1/3 split.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696442" y="5738110"/>
            <a:ext cx="251088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Not a constant fraction…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4225918" y="5505060"/>
            <a:ext cx="1432675" cy="648394"/>
          </a:xfrm>
          <a:prstGeom prst="rect">
            <a:avLst/>
          </a:prstGeom>
          <a:solidFill>
            <a:schemeClr val="accent1">
              <a:alpha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5691281" y="6070202"/>
            <a:ext cx="2904079" cy="137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02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Substitution Methods for Solving Recurrence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43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5531" y="65905"/>
            <a:ext cx="5384244" cy="1325563"/>
          </a:xfrm>
        </p:spPr>
        <p:txBody>
          <a:bodyPr/>
          <a:lstStyle/>
          <a:p>
            <a:r>
              <a:rPr lang="en-US" altLang="en-US" dirty="0"/>
              <a:t>Substitution method</a:t>
            </a:r>
          </a:p>
        </p:txBody>
      </p:sp>
      <p:sp>
        <p:nvSpPr>
          <p:cNvPr id="63492" name="Text Box 4"/>
          <p:cNvSpPr txBox="1">
            <a:spLocks noChangeArrowheads="1"/>
          </p:cNvSpPr>
          <p:nvPr/>
        </p:nvSpPr>
        <p:spPr bwMode="auto">
          <a:xfrm>
            <a:off x="160953" y="1744105"/>
            <a:ext cx="57912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2438" indent="-45243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084263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655763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227263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798763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255963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713163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4170363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627563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Clr>
                <a:schemeClr val="accent2"/>
              </a:buClr>
              <a:buFontTx/>
              <a:buAutoNum type="arabicPeriod"/>
            </a:pPr>
            <a:r>
              <a:rPr lang="en-US" altLang="en-US" sz="3200" b="1" i="1" dirty="0">
                <a:solidFill>
                  <a:schemeClr val="accent2"/>
                </a:solidFill>
              </a:rPr>
              <a:t>Guess</a:t>
            </a:r>
            <a:r>
              <a:rPr lang="en-US" altLang="en-US" sz="3200" dirty="0"/>
              <a:t> the form of the solution.</a:t>
            </a:r>
          </a:p>
          <a:p>
            <a:pPr>
              <a:buClr>
                <a:schemeClr val="accent2"/>
              </a:buClr>
              <a:buFontTx/>
              <a:buAutoNum type="arabicPeriod"/>
            </a:pPr>
            <a:r>
              <a:rPr lang="en-US" altLang="en-US" sz="3200" b="1" i="1" dirty="0">
                <a:solidFill>
                  <a:schemeClr val="hlink"/>
                </a:solidFill>
              </a:rPr>
              <a:t>Verify</a:t>
            </a:r>
            <a:r>
              <a:rPr lang="en-US" altLang="en-US" sz="3200" dirty="0"/>
              <a:t> by induction.</a:t>
            </a:r>
          </a:p>
          <a:p>
            <a:pPr>
              <a:buClr>
                <a:schemeClr val="accent2"/>
              </a:buClr>
              <a:buFontTx/>
              <a:buAutoNum type="arabicPeriod"/>
            </a:pPr>
            <a:r>
              <a:rPr lang="en-US" altLang="en-US" sz="3200" b="1" i="1" dirty="0">
                <a:solidFill>
                  <a:schemeClr val="hlink"/>
                </a:solidFill>
              </a:rPr>
              <a:t>Solve</a:t>
            </a:r>
            <a:r>
              <a:rPr lang="en-US" altLang="en-US" sz="3200" dirty="0"/>
              <a:t> for constants.</a:t>
            </a:r>
          </a:p>
        </p:txBody>
      </p:sp>
      <p:sp>
        <p:nvSpPr>
          <p:cNvPr id="63494" name="Text Box 6"/>
          <p:cNvSpPr txBox="1">
            <a:spLocks noChangeArrowheads="1"/>
          </p:cNvSpPr>
          <p:nvPr/>
        </p:nvSpPr>
        <p:spPr bwMode="auto">
          <a:xfrm>
            <a:off x="160953" y="1340548"/>
            <a:ext cx="264630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 dirty="0"/>
              <a:t>The most general method:</a:t>
            </a:r>
          </a:p>
        </p:txBody>
      </p:sp>
      <p:sp>
        <p:nvSpPr>
          <p:cNvPr id="63497" name="Text Box 9"/>
          <p:cNvSpPr txBox="1">
            <a:spLocks noChangeArrowheads="1"/>
          </p:cNvSpPr>
          <p:nvPr/>
        </p:nvSpPr>
        <p:spPr bwMode="auto">
          <a:xfrm>
            <a:off x="85531" y="3458482"/>
            <a:ext cx="594204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27013" indent="-227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indent="0">
              <a:buClr>
                <a:schemeClr val="accent2"/>
              </a:buClr>
            </a:pPr>
            <a:r>
              <a:rPr lang="en-US" altLang="en-US" sz="3200" i="1" dirty="0" smtClean="0">
                <a:solidFill>
                  <a:srgbClr val="009999"/>
                </a:solidFill>
              </a:rPr>
              <a:t>T</a:t>
            </a:r>
            <a:r>
              <a:rPr lang="en-US" altLang="en-US" sz="3200" dirty="0" smtClean="0">
                <a:solidFill>
                  <a:srgbClr val="009999"/>
                </a:solidFill>
              </a:rPr>
              <a:t>(</a:t>
            </a:r>
            <a:r>
              <a:rPr lang="en-US" altLang="en-US" sz="3200" i="1" dirty="0" smtClean="0">
                <a:solidFill>
                  <a:srgbClr val="009999"/>
                </a:solidFill>
              </a:rPr>
              <a:t>n</a:t>
            </a:r>
            <a:r>
              <a:rPr lang="en-US" altLang="en-US" sz="3200" dirty="0" smtClean="0">
                <a:solidFill>
                  <a:srgbClr val="009999"/>
                </a:solidFill>
              </a:rPr>
              <a:t>) = 4</a:t>
            </a:r>
            <a:r>
              <a:rPr lang="en-US" altLang="en-US" sz="3200" i="1" dirty="0" smtClean="0">
                <a:solidFill>
                  <a:srgbClr val="009999"/>
                </a:solidFill>
              </a:rPr>
              <a:t>T</a:t>
            </a:r>
            <a:r>
              <a:rPr lang="en-US" altLang="en-US" sz="3200" dirty="0" smtClean="0">
                <a:solidFill>
                  <a:srgbClr val="009999"/>
                </a:solidFill>
              </a:rPr>
              <a:t>(</a:t>
            </a:r>
            <a:r>
              <a:rPr lang="en-US" altLang="en-US" sz="3200" i="1" dirty="0" smtClean="0">
                <a:solidFill>
                  <a:srgbClr val="009999"/>
                </a:solidFill>
              </a:rPr>
              <a:t>n</a:t>
            </a:r>
            <a:r>
              <a:rPr lang="en-US" altLang="en-US" sz="3200" dirty="0" smtClean="0">
                <a:solidFill>
                  <a:srgbClr val="009999"/>
                </a:solidFill>
              </a:rPr>
              <a:t>/2) + 100</a:t>
            </a:r>
            <a:r>
              <a:rPr lang="en-US" altLang="en-US" sz="3200" i="1" dirty="0" smtClean="0">
                <a:solidFill>
                  <a:srgbClr val="009999"/>
                </a:solidFill>
              </a:rPr>
              <a:t>n</a:t>
            </a:r>
            <a:endParaRPr lang="en-US" altLang="en-US" sz="3200" dirty="0" smtClean="0">
              <a:solidFill>
                <a:srgbClr val="009999"/>
              </a:solidFill>
            </a:endParaRPr>
          </a:p>
          <a:p>
            <a:pPr>
              <a:buClr>
                <a:schemeClr val="accent2"/>
              </a:buClr>
              <a:buFontTx/>
              <a:buChar char="•"/>
            </a:pPr>
            <a:r>
              <a:rPr lang="en-US" altLang="en-US" sz="3200" dirty="0" smtClean="0"/>
              <a:t>[</a:t>
            </a:r>
            <a:r>
              <a:rPr lang="en-US" altLang="en-US" sz="3200" dirty="0"/>
              <a:t>Assume that </a:t>
            </a:r>
            <a:r>
              <a:rPr lang="en-US" altLang="en-US" sz="3200" i="1" dirty="0">
                <a:solidFill>
                  <a:srgbClr val="009999"/>
                </a:solidFill>
              </a:rPr>
              <a:t>T</a:t>
            </a:r>
            <a:r>
              <a:rPr lang="en-US" altLang="en-US" sz="3200" dirty="0">
                <a:solidFill>
                  <a:srgbClr val="009999"/>
                </a:solidFill>
              </a:rPr>
              <a:t>(1) =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 dirty="0">
                <a:solidFill>
                  <a:srgbClr val="009999"/>
                </a:solidFill>
              </a:rPr>
              <a:t>(1)</a:t>
            </a:r>
            <a:r>
              <a:rPr lang="en-US" altLang="en-US" sz="3200" dirty="0"/>
              <a:t>.]</a:t>
            </a:r>
          </a:p>
          <a:p>
            <a:pPr>
              <a:buClr>
                <a:schemeClr val="accent2"/>
              </a:buClr>
              <a:buFontTx/>
              <a:buChar char="•"/>
            </a:pPr>
            <a:r>
              <a:rPr lang="en-US" altLang="en-US" sz="3200" dirty="0"/>
              <a:t>Guess </a:t>
            </a:r>
            <a:r>
              <a:rPr lang="en-US" altLang="en-US" sz="3200" i="1" dirty="0">
                <a:solidFill>
                  <a:srgbClr val="009999"/>
                </a:solidFill>
              </a:rPr>
              <a:t>O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3</a:t>
            </a:r>
            <a:r>
              <a:rPr lang="en-US" altLang="en-US" sz="3200" dirty="0">
                <a:solidFill>
                  <a:srgbClr val="009999"/>
                </a:solidFill>
              </a:rPr>
              <a:t>)</a:t>
            </a:r>
            <a:r>
              <a:rPr lang="en-US" altLang="en-US" sz="3200" dirty="0"/>
              <a:t> </a:t>
            </a:r>
            <a:r>
              <a:rPr lang="en-US" altLang="en-US" sz="3200" dirty="0" smtClean="0"/>
              <a:t>.</a:t>
            </a:r>
            <a:endParaRPr lang="en-US" altLang="en-US" sz="3200" dirty="0"/>
          </a:p>
          <a:p>
            <a:pPr>
              <a:buClr>
                <a:schemeClr val="accent2"/>
              </a:buClr>
              <a:buFontTx/>
              <a:buChar char="•"/>
            </a:pPr>
            <a:r>
              <a:rPr lang="en-US" altLang="en-US" sz="3200" dirty="0"/>
              <a:t>Assume that </a:t>
            </a:r>
            <a:r>
              <a:rPr lang="en-US" altLang="en-US" sz="3200" i="1" dirty="0">
                <a:solidFill>
                  <a:srgbClr val="009999"/>
                </a:solidFill>
              </a:rPr>
              <a:t>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k</a:t>
            </a:r>
            <a:r>
              <a:rPr lang="en-US" altLang="en-US" sz="3200" dirty="0">
                <a:solidFill>
                  <a:srgbClr val="009999"/>
                </a:solidFill>
              </a:rPr>
              <a:t>)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3200" dirty="0">
                <a:solidFill>
                  <a:srgbClr val="009999"/>
                </a:solidFill>
              </a:rPr>
              <a:t> </a:t>
            </a:r>
            <a:r>
              <a:rPr lang="en-US" altLang="en-US" sz="3200" i="1" dirty="0">
                <a:solidFill>
                  <a:srgbClr val="009999"/>
                </a:solidFill>
              </a:rPr>
              <a:t>ck</a:t>
            </a:r>
            <a:r>
              <a:rPr lang="en-US" altLang="en-US" sz="3200" baseline="30000" dirty="0">
                <a:solidFill>
                  <a:srgbClr val="009999"/>
                </a:solidFill>
              </a:rPr>
              <a:t>3</a:t>
            </a:r>
            <a:r>
              <a:rPr lang="en-US" altLang="en-US" sz="3200" dirty="0"/>
              <a:t> for </a:t>
            </a:r>
            <a:r>
              <a:rPr lang="en-US" altLang="en-US" sz="3200" i="1" dirty="0">
                <a:solidFill>
                  <a:srgbClr val="009999"/>
                </a:solidFill>
              </a:rPr>
              <a:t>k</a:t>
            </a:r>
            <a:r>
              <a:rPr lang="en-US" altLang="en-US" sz="3200" dirty="0">
                <a:solidFill>
                  <a:srgbClr val="009999"/>
                </a:solidFill>
              </a:rPr>
              <a:t> &lt; </a:t>
            </a:r>
            <a:r>
              <a:rPr lang="en-US" altLang="en-US" sz="3200" i="1" dirty="0">
                <a:solidFill>
                  <a:srgbClr val="009999"/>
                </a:solidFill>
              </a:rPr>
              <a:t>n </a:t>
            </a:r>
            <a:r>
              <a:rPr lang="en-US" altLang="en-US" sz="3200" dirty="0"/>
              <a:t>.</a:t>
            </a:r>
          </a:p>
          <a:p>
            <a:pPr>
              <a:buClr>
                <a:schemeClr val="accent2"/>
              </a:buClr>
              <a:buFontTx/>
              <a:buChar char="•"/>
            </a:pPr>
            <a:r>
              <a:rPr lang="en-US" altLang="en-US" sz="3200" dirty="0"/>
              <a:t>Prove </a:t>
            </a:r>
            <a:r>
              <a:rPr lang="en-US" altLang="en-US" sz="3200" i="1" dirty="0">
                <a:solidFill>
                  <a:srgbClr val="009999"/>
                </a:solidFill>
              </a:rPr>
              <a:t>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3200" dirty="0">
                <a:solidFill>
                  <a:srgbClr val="009999"/>
                </a:solidFill>
              </a:rPr>
              <a:t> </a:t>
            </a:r>
            <a:r>
              <a:rPr lang="en-US" altLang="en-US" sz="3200" i="1" dirty="0">
                <a:solidFill>
                  <a:srgbClr val="009999"/>
                </a:solidFill>
              </a:rPr>
              <a:t>cn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3</a:t>
            </a:r>
            <a:r>
              <a:rPr lang="en-US" altLang="en-US" sz="3200" dirty="0"/>
              <a:t> by induction.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/>
              <p:cNvSpPr txBox="1">
                <a:spLocks/>
              </p:cNvSpPr>
              <p:nvPr/>
            </p:nvSpPr>
            <p:spPr>
              <a:xfrm>
                <a:off x="5896947" y="1853796"/>
                <a:ext cx="6164424" cy="4796386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+100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≤4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+100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+100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−100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altLang="en-US" dirty="0" smtClean="0"/>
                  <a:t>whenever  </a:t>
                </a:r>
                <a:r>
                  <a:rPr lang="en-US" altLang="en-US" dirty="0" smtClean="0">
                    <a:solidFill>
                      <a:srgbClr val="009999"/>
                    </a:solidFill>
                  </a:rPr>
                  <a:t>(</a:t>
                </a:r>
                <a:r>
                  <a:rPr lang="en-US" altLang="en-US" i="1" dirty="0" smtClean="0">
                    <a:solidFill>
                      <a:srgbClr val="009999"/>
                    </a:solidFill>
                  </a:rPr>
                  <a:t>c</a:t>
                </a:r>
                <a:r>
                  <a:rPr lang="en-US" altLang="en-US" dirty="0" smtClean="0">
                    <a:solidFill>
                      <a:srgbClr val="009999"/>
                    </a:solidFill>
                  </a:rPr>
                  <a:t>/2)</a:t>
                </a:r>
                <a:r>
                  <a:rPr lang="en-US" altLang="en-US" i="1" dirty="0" smtClean="0">
                    <a:solidFill>
                      <a:srgbClr val="009999"/>
                    </a:solidFill>
                  </a:rPr>
                  <a:t>n</a:t>
                </a:r>
                <a:r>
                  <a:rPr lang="en-US" altLang="en-US" baseline="30000" dirty="0" smtClean="0">
                    <a:solidFill>
                      <a:srgbClr val="009999"/>
                    </a:solidFill>
                  </a:rPr>
                  <a:t>3</a:t>
                </a:r>
                <a:r>
                  <a:rPr lang="en-US" altLang="en-US" dirty="0" smtClean="0">
                    <a:solidFill>
                      <a:srgbClr val="009999"/>
                    </a:solidFill>
                  </a:rPr>
                  <a:t> – 100</a:t>
                </a:r>
                <a:r>
                  <a:rPr lang="en-US" altLang="en-US" i="1" dirty="0" smtClean="0">
                    <a:solidFill>
                      <a:srgbClr val="009999"/>
                    </a:solidFill>
                  </a:rPr>
                  <a:t>n</a:t>
                </a:r>
                <a:r>
                  <a:rPr lang="en-US" altLang="en-US" dirty="0" smtClean="0">
                    <a:solidFill>
                      <a:srgbClr val="009999"/>
                    </a:solidFill>
                  </a:rPr>
                  <a:t> </a:t>
                </a:r>
                <a:r>
                  <a:rPr lang="en-US" altLang="en-US" dirty="0" smtClean="0">
                    <a:solidFill>
                      <a:srgbClr val="009999"/>
                    </a:solidFill>
                    <a:latin typeface="Symbol" panose="05050102010706020507" pitchFamily="18" charset="2"/>
                  </a:rPr>
                  <a:t>³</a:t>
                </a:r>
                <a:r>
                  <a:rPr lang="en-US" altLang="en-US" dirty="0" smtClean="0">
                    <a:solidFill>
                      <a:srgbClr val="009999"/>
                    </a:solidFill>
                  </a:rPr>
                  <a:t> 0</a:t>
                </a:r>
                <a:r>
                  <a:rPr lang="en-US" altLang="en-US" dirty="0" smtClean="0"/>
                  <a:t>, for example, if </a:t>
                </a:r>
                <a:r>
                  <a:rPr lang="en-US" altLang="en-US" i="1" dirty="0" smtClean="0">
                    <a:solidFill>
                      <a:srgbClr val="009999"/>
                    </a:solidFill>
                  </a:rPr>
                  <a:t>c </a:t>
                </a:r>
                <a:r>
                  <a:rPr lang="en-US" altLang="en-US" dirty="0" smtClean="0">
                    <a:solidFill>
                      <a:srgbClr val="009999"/>
                    </a:solidFill>
                    <a:latin typeface="Symbol" panose="05050102010706020507" pitchFamily="18" charset="2"/>
                  </a:rPr>
                  <a:t>³</a:t>
                </a:r>
                <a:r>
                  <a:rPr lang="en-US" altLang="en-US" dirty="0" smtClean="0">
                    <a:solidFill>
                      <a:srgbClr val="009999"/>
                    </a:solidFill>
                  </a:rPr>
                  <a:t> 200</a:t>
                </a:r>
                <a:r>
                  <a:rPr lang="en-US" altLang="en-US" dirty="0" smtClean="0"/>
                  <a:t> and </a:t>
                </a:r>
                <a:r>
                  <a:rPr lang="en-US" altLang="en-US" i="1" dirty="0" smtClean="0">
                    <a:solidFill>
                      <a:srgbClr val="009999"/>
                    </a:solidFill>
                  </a:rPr>
                  <a:t>n </a:t>
                </a:r>
                <a:r>
                  <a:rPr lang="en-US" altLang="en-US" dirty="0" smtClean="0">
                    <a:solidFill>
                      <a:srgbClr val="009999"/>
                    </a:solidFill>
                    <a:latin typeface="Symbol" panose="05050102010706020507" pitchFamily="18" charset="2"/>
                  </a:rPr>
                  <a:t>³</a:t>
                </a:r>
                <a:r>
                  <a:rPr lang="en-US" altLang="en-US" dirty="0" smtClean="0">
                    <a:solidFill>
                      <a:srgbClr val="009999"/>
                    </a:solidFill>
                  </a:rPr>
                  <a:t> 1</a:t>
                </a:r>
                <a:r>
                  <a:rPr lang="en-US" altLang="en-US" dirty="0" smtClean="0"/>
                  <a:t>.</a:t>
                </a:r>
                <a:endParaRPr lang="en-US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1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6947" y="1853796"/>
                <a:ext cx="6164424" cy="4796386"/>
              </a:xfrm>
              <a:prstGeom prst="rect">
                <a:avLst/>
              </a:prstGeom>
              <a:blipFill>
                <a:blip r:embed="rId2"/>
                <a:stretch>
                  <a:fillRect l="-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7520960" y="3986805"/>
            <a:ext cx="671804" cy="522514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546648" y="3957873"/>
            <a:ext cx="2183364" cy="858416"/>
          </a:xfrm>
          <a:prstGeom prst="rect">
            <a:avLst/>
          </a:prstGeom>
          <a:solidFill>
            <a:schemeClr val="accent2">
              <a:alpha val="2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10812432" y="3792138"/>
            <a:ext cx="391886" cy="354563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 flipH="1">
            <a:off x="6968900" y="3910962"/>
            <a:ext cx="469640" cy="3371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027576" y="3910962"/>
            <a:ext cx="87895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desired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1216742" y="3792138"/>
            <a:ext cx="927049" cy="36933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residual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86515" y="974664"/>
            <a:ext cx="22728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Example: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162498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(continued)</a:t>
            </a:r>
          </a:p>
        </p:txBody>
      </p:sp>
      <p:sp>
        <p:nvSpPr>
          <p:cNvPr id="65539" name="Text Box 2051"/>
          <p:cNvSpPr txBox="1">
            <a:spLocks noChangeArrowheads="1"/>
          </p:cNvSpPr>
          <p:nvPr/>
        </p:nvSpPr>
        <p:spPr bwMode="auto">
          <a:xfrm>
            <a:off x="2346326" y="1524000"/>
            <a:ext cx="7483475" cy="344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3200"/>
              <a:t>We must also handle the initial conditions, that is, ground the induction with base cases.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3200" b="1" i="1"/>
              <a:t>Base: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(1)</a:t>
            </a:r>
            <a:r>
              <a:rPr lang="en-US" altLang="en-US" sz="3200"/>
              <a:t> for all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 &lt;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-25000">
                <a:solidFill>
                  <a:srgbClr val="009999"/>
                </a:solidFill>
              </a:rPr>
              <a:t>0</a:t>
            </a:r>
            <a:r>
              <a:rPr lang="en-US" altLang="en-US" sz="3200"/>
              <a:t>, where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-25000">
                <a:solidFill>
                  <a:srgbClr val="009999"/>
                </a:solidFill>
              </a:rPr>
              <a:t>0</a:t>
            </a:r>
            <a:r>
              <a:rPr lang="en-US" altLang="en-US" sz="3200"/>
              <a:t> is a suitable constant.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3200"/>
              <a:t>For </a:t>
            </a:r>
            <a:r>
              <a:rPr lang="en-US" altLang="en-US" sz="3200">
                <a:solidFill>
                  <a:srgbClr val="009999"/>
                </a:solidFill>
              </a:rPr>
              <a:t>1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 &lt;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-25000">
                <a:solidFill>
                  <a:srgbClr val="009999"/>
                </a:solidFill>
              </a:rPr>
              <a:t>0</a:t>
            </a:r>
            <a:r>
              <a:rPr lang="en-US" altLang="en-US" sz="3200"/>
              <a:t>, we have “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(1)</a:t>
            </a:r>
            <a:r>
              <a:rPr lang="en-US" altLang="en-US" sz="3200"/>
              <a:t>”</a:t>
            </a: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cn</a:t>
            </a:r>
            <a:r>
              <a:rPr lang="en-US" altLang="en-US" sz="3200" baseline="30000">
                <a:solidFill>
                  <a:srgbClr val="009999"/>
                </a:solidFill>
              </a:rPr>
              <a:t>3</a:t>
            </a:r>
            <a:r>
              <a:rPr lang="en-US" altLang="en-US" sz="3200"/>
              <a:t>, if we pick </a:t>
            </a:r>
            <a:r>
              <a:rPr lang="en-US" altLang="en-US" sz="3200" i="1">
                <a:solidFill>
                  <a:srgbClr val="009999"/>
                </a:solidFill>
              </a:rPr>
              <a:t>c</a:t>
            </a:r>
            <a:r>
              <a:rPr lang="en-US" altLang="en-US" sz="3200"/>
              <a:t> big enough.</a:t>
            </a:r>
          </a:p>
        </p:txBody>
      </p:sp>
      <p:grpSp>
        <p:nvGrpSpPr>
          <p:cNvPr id="65543" name="Group 2055"/>
          <p:cNvGrpSpPr>
            <a:grpSpLocks/>
          </p:cNvGrpSpPr>
          <p:nvPr/>
        </p:nvGrpSpPr>
        <p:grpSpPr bwMode="auto">
          <a:xfrm>
            <a:off x="2506663" y="5245101"/>
            <a:ext cx="7162800" cy="687388"/>
            <a:chOff x="619" y="3304"/>
            <a:chExt cx="4512" cy="433"/>
          </a:xfrm>
        </p:grpSpPr>
        <p:sp>
          <p:nvSpPr>
            <p:cNvPr id="65541" name="Text Box 2053"/>
            <p:cNvSpPr txBox="1">
              <a:spLocks noChangeArrowheads="1"/>
            </p:cNvSpPr>
            <p:nvPr/>
          </p:nvSpPr>
          <p:spPr bwMode="auto">
            <a:xfrm>
              <a:off x="1760" y="3504"/>
              <a:ext cx="2229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b="1" i="1" dirty="0"/>
                <a:t>This </a:t>
              </a:r>
              <a:r>
                <a:rPr lang="en-US" altLang="en-US" b="1" i="1" dirty="0" smtClean="0"/>
                <a:t>bound, </a:t>
              </a:r>
              <a:r>
                <a:rPr lang="en-US" altLang="en-US" i="1" dirty="0" smtClean="0">
                  <a:solidFill>
                    <a:srgbClr val="009999"/>
                  </a:solidFill>
                </a:rPr>
                <a:t>T</a:t>
              </a:r>
              <a:r>
                <a:rPr lang="en-US" altLang="en-US" dirty="0" smtClean="0">
                  <a:solidFill>
                    <a:srgbClr val="009999"/>
                  </a:solidFill>
                </a:rPr>
                <a:t>(</a:t>
              </a:r>
              <a:r>
                <a:rPr lang="en-US" altLang="en-US" i="1" dirty="0" smtClean="0">
                  <a:solidFill>
                    <a:srgbClr val="009999"/>
                  </a:solidFill>
                </a:rPr>
                <a:t>n</a:t>
              </a:r>
              <a:r>
                <a:rPr lang="en-US" altLang="en-US" dirty="0">
                  <a:solidFill>
                    <a:srgbClr val="009999"/>
                  </a:solidFill>
                </a:rPr>
                <a:t>) </a:t>
              </a:r>
              <a:r>
                <a:rPr lang="en-US" altLang="en-US" dirty="0">
                  <a:solidFill>
                    <a:srgbClr val="009999"/>
                  </a:solidFill>
                  <a:latin typeface="Symbol" panose="05050102010706020507" pitchFamily="18" charset="2"/>
                </a:rPr>
                <a:t>£</a:t>
              </a:r>
              <a:r>
                <a:rPr lang="en-US" altLang="en-US" dirty="0">
                  <a:solidFill>
                    <a:srgbClr val="009999"/>
                  </a:solidFill>
                </a:rPr>
                <a:t> </a:t>
              </a:r>
              <a:r>
                <a:rPr lang="en-US" altLang="en-US" i="1" dirty="0" smtClean="0">
                  <a:solidFill>
                    <a:srgbClr val="009999"/>
                  </a:solidFill>
                </a:rPr>
                <a:t>cn</a:t>
              </a:r>
              <a:r>
                <a:rPr lang="en-US" altLang="en-US" baseline="30000" dirty="0" smtClean="0">
                  <a:solidFill>
                    <a:srgbClr val="009999"/>
                  </a:solidFill>
                </a:rPr>
                <a:t>3</a:t>
              </a:r>
              <a:r>
                <a:rPr lang="en-US" altLang="en-US" dirty="0" smtClean="0"/>
                <a:t>, </a:t>
              </a:r>
              <a:r>
                <a:rPr lang="en-US" altLang="en-US" b="1" i="1" dirty="0" smtClean="0"/>
                <a:t>is </a:t>
              </a:r>
              <a:r>
                <a:rPr lang="en-US" altLang="en-US" b="1" i="1" dirty="0"/>
                <a:t>not tight!</a:t>
              </a:r>
              <a:endParaRPr lang="en-US" altLang="en-US" b="1" dirty="0"/>
            </a:p>
          </p:txBody>
        </p:sp>
        <p:sp>
          <p:nvSpPr>
            <p:cNvPr id="65542" name="Line 2054"/>
            <p:cNvSpPr>
              <a:spLocks noChangeShapeType="1"/>
            </p:cNvSpPr>
            <p:nvPr/>
          </p:nvSpPr>
          <p:spPr bwMode="auto">
            <a:xfrm>
              <a:off x="619" y="3304"/>
              <a:ext cx="4512" cy="0"/>
            </a:xfrm>
            <a:prstGeom prst="line">
              <a:avLst/>
            </a:prstGeom>
            <a:noFill/>
            <a:ln w="76200" cmpd="tri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3978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tighter upper bound?</a:t>
            </a:r>
          </a:p>
        </p:txBody>
      </p:sp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838200" y="1599872"/>
            <a:ext cx="65011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dirty="0"/>
              <a:t>We shall prove that </a:t>
            </a:r>
            <a:r>
              <a:rPr lang="en-US" altLang="en-US" sz="2800" i="1" dirty="0">
                <a:solidFill>
                  <a:srgbClr val="009999"/>
                </a:solidFill>
              </a:rPr>
              <a:t>T</a:t>
            </a:r>
            <a:r>
              <a:rPr lang="en-US" altLang="en-US" sz="2800" dirty="0">
                <a:solidFill>
                  <a:srgbClr val="009999"/>
                </a:solidFill>
              </a:rPr>
              <a:t>(</a:t>
            </a:r>
            <a:r>
              <a:rPr lang="en-US" altLang="en-US" sz="2800" i="1" dirty="0">
                <a:solidFill>
                  <a:srgbClr val="009999"/>
                </a:solidFill>
              </a:rPr>
              <a:t>n</a:t>
            </a:r>
            <a:r>
              <a:rPr lang="en-US" altLang="en-US" sz="2800" dirty="0">
                <a:solidFill>
                  <a:srgbClr val="009999"/>
                </a:solidFill>
              </a:rPr>
              <a:t>) = </a:t>
            </a:r>
            <a:r>
              <a:rPr lang="en-US" altLang="en-US" sz="2800" i="1" dirty="0">
                <a:solidFill>
                  <a:srgbClr val="009999"/>
                </a:solidFill>
              </a:rPr>
              <a:t>O</a:t>
            </a:r>
            <a:r>
              <a:rPr lang="en-US" altLang="en-US" sz="2800" dirty="0">
                <a:solidFill>
                  <a:srgbClr val="009999"/>
                </a:solidFill>
              </a:rPr>
              <a:t>(</a:t>
            </a:r>
            <a:r>
              <a:rPr lang="en-US" altLang="en-US" sz="2800" i="1" dirty="0">
                <a:solidFill>
                  <a:srgbClr val="009999"/>
                </a:solidFill>
              </a:rPr>
              <a:t>n</a:t>
            </a:r>
            <a:r>
              <a:rPr lang="en-US" altLang="en-US" sz="2800" baseline="30000" dirty="0">
                <a:solidFill>
                  <a:srgbClr val="009999"/>
                </a:solidFill>
              </a:rPr>
              <a:t>2</a:t>
            </a:r>
            <a:r>
              <a:rPr lang="en-US" altLang="en-US" sz="2800" dirty="0">
                <a:solidFill>
                  <a:srgbClr val="009999"/>
                </a:solidFill>
              </a:rPr>
              <a:t>)</a:t>
            </a:r>
            <a:r>
              <a:rPr lang="en-US" altLang="en-US" sz="2800" dirty="0"/>
              <a:t>.</a:t>
            </a:r>
          </a:p>
        </p:txBody>
      </p:sp>
      <p:sp>
        <p:nvSpPr>
          <p:cNvPr id="66565" name="Text Box 5"/>
          <p:cNvSpPr txBox="1">
            <a:spLocks noChangeArrowheads="1"/>
          </p:cNvSpPr>
          <p:nvPr/>
        </p:nvSpPr>
        <p:spPr bwMode="auto">
          <a:xfrm>
            <a:off x="821905" y="2235389"/>
            <a:ext cx="48080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Assume that </a:t>
            </a:r>
            <a:r>
              <a:rPr lang="en-US" altLang="en-US" sz="2800" i="1" dirty="0">
                <a:solidFill>
                  <a:srgbClr val="009999"/>
                </a:solidFill>
              </a:rPr>
              <a:t>T</a:t>
            </a:r>
            <a:r>
              <a:rPr lang="en-US" altLang="en-US" sz="2800" dirty="0">
                <a:solidFill>
                  <a:srgbClr val="009999"/>
                </a:solidFill>
              </a:rPr>
              <a:t>(</a:t>
            </a:r>
            <a:r>
              <a:rPr lang="en-US" altLang="en-US" sz="2800" i="1" dirty="0">
                <a:solidFill>
                  <a:srgbClr val="009999"/>
                </a:solidFill>
              </a:rPr>
              <a:t>k</a:t>
            </a:r>
            <a:r>
              <a:rPr lang="en-US" altLang="en-US" sz="2800" dirty="0">
                <a:solidFill>
                  <a:srgbClr val="009999"/>
                </a:solidFill>
              </a:rPr>
              <a:t>) </a:t>
            </a:r>
            <a:r>
              <a:rPr lang="en-US" altLang="en-US" sz="2800" dirty="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2800" dirty="0">
                <a:solidFill>
                  <a:srgbClr val="009999"/>
                </a:solidFill>
              </a:rPr>
              <a:t> </a:t>
            </a:r>
            <a:r>
              <a:rPr lang="en-US" altLang="en-US" sz="2800" i="1" dirty="0">
                <a:solidFill>
                  <a:srgbClr val="009999"/>
                </a:solidFill>
              </a:rPr>
              <a:t>ck</a:t>
            </a:r>
            <a:r>
              <a:rPr lang="en-US" altLang="en-US" sz="2800" baseline="30000" dirty="0">
                <a:solidFill>
                  <a:srgbClr val="009999"/>
                </a:solidFill>
              </a:rPr>
              <a:t>2</a:t>
            </a:r>
            <a:r>
              <a:rPr lang="en-US" altLang="en-US" sz="2800" dirty="0"/>
              <a:t> for </a:t>
            </a:r>
            <a:r>
              <a:rPr lang="en-US" altLang="en-US" sz="2800" i="1" dirty="0">
                <a:solidFill>
                  <a:srgbClr val="009999"/>
                </a:solidFill>
              </a:rPr>
              <a:t>k</a:t>
            </a:r>
            <a:r>
              <a:rPr lang="en-US" altLang="en-US" sz="2800" dirty="0">
                <a:solidFill>
                  <a:srgbClr val="009999"/>
                </a:solidFill>
              </a:rPr>
              <a:t> &lt; </a:t>
            </a:r>
            <a:r>
              <a:rPr lang="en-US" altLang="en-US" sz="2800" i="1" dirty="0">
                <a:solidFill>
                  <a:srgbClr val="009999"/>
                </a:solidFill>
              </a:rPr>
              <a:t>n</a:t>
            </a:r>
            <a:r>
              <a:rPr lang="en-US" altLang="en-US" sz="28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73" name="Text Box 13"/>
              <p:cNvSpPr txBox="1">
                <a:spLocks noChangeArrowheads="1"/>
              </p:cNvSpPr>
              <p:nvPr/>
            </p:nvSpPr>
            <p:spPr bwMode="auto">
              <a:xfrm>
                <a:off x="838200" y="4274071"/>
                <a:ext cx="5759141" cy="1077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en-US" sz="3200" dirty="0" smtClean="0"/>
                  <a:t>for </a:t>
                </a:r>
                <a:r>
                  <a:rPr lang="en-US" altLang="en-US" sz="3200" b="1" i="1" dirty="0"/>
                  <a:t>no</a:t>
                </a:r>
                <a:r>
                  <a:rPr lang="en-US" altLang="en-US" sz="3200" dirty="0"/>
                  <a:t> choice of </a:t>
                </a:r>
                <a:r>
                  <a:rPr lang="en-US" altLang="en-US" sz="3200" i="1" dirty="0">
                    <a:solidFill>
                      <a:srgbClr val="009999"/>
                    </a:solidFill>
                  </a:rPr>
                  <a:t>c</a:t>
                </a:r>
                <a:r>
                  <a:rPr lang="en-US" altLang="en-US" sz="3200" dirty="0">
                    <a:solidFill>
                      <a:srgbClr val="009999"/>
                    </a:solidFill>
                  </a:rPr>
                  <a:t> &gt; </a:t>
                </a:r>
                <a:r>
                  <a:rPr lang="en-US" altLang="en-US" sz="3200" dirty="0" smtClean="0">
                    <a:solidFill>
                      <a:srgbClr val="009999"/>
                    </a:solidFill>
                  </a:rPr>
                  <a:t>0</a:t>
                </a:r>
                <a:r>
                  <a:rPr lang="en-US" altLang="en-US" sz="3200" dirty="0" smtClean="0"/>
                  <a:t>, we can say:</a:t>
                </a:r>
              </a:p>
              <a:p>
                <a:r>
                  <a:rPr lang="en-US" altLang="en-US" sz="3200" dirty="0"/>
                  <a:t>	</a:t>
                </a:r>
                <a:r>
                  <a:rPr lang="en-US" altLang="en-US" sz="32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en-US" sz="3200" b="0" i="1" dirty="0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altLang="en-US" sz="3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en-US" sz="32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3200" b="0" i="1" dirty="0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altLang="en-US" sz="32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sz="3200" b="0" i="1" dirty="0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 altLang="en-US" sz="3200" i="1" dirty="0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altLang="en-US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32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en-US" sz="3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en-US" sz="3200" dirty="0" smtClean="0"/>
                  <a:t>!!</a:t>
                </a:r>
                <a:endParaRPr lang="en-US" altLang="en-US" sz="3200" dirty="0"/>
              </a:p>
            </p:txBody>
          </p:sp>
        </mc:Choice>
        <mc:Fallback xmlns="">
          <p:sp>
            <p:nvSpPr>
              <p:cNvPr id="6657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4274071"/>
                <a:ext cx="5759141" cy="1077218"/>
              </a:xfrm>
              <a:prstGeom prst="rect">
                <a:avLst/>
              </a:prstGeom>
              <a:blipFill>
                <a:blip r:embed="rId2"/>
                <a:stretch>
                  <a:fillRect l="-2754" t="-7345" r="-1801" b="-1807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614" name="Rectangle 54"/>
          <p:cNvSpPr>
            <a:spLocks noChangeArrowheads="1"/>
          </p:cNvSpPr>
          <p:nvPr/>
        </p:nvSpPr>
        <p:spPr bwMode="auto">
          <a:xfrm>
            <a:off x="5245100" y="3962401"/>
            <a:ext cx="5770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Symbol" panose="05050102010706020507" pitchFamily="18" charset="2"/>
              </a:rPr>
              <a:t> </a:t>
            </a:r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255" y="3000205"/>
            <a:ext cx="4267570" cy="1652159"/>
          </a:xfrm>
          <a:prstGeom prst="rect">
            <a:avLst/>
          </a:prstGeom>
        </p:spPr>
      </p:pic>
      <p:pic>
        <p:nvPicPr>
          <p:cNvPr id="25602" name="Picture 2" descr="Scratching Head Graphic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201" y="4100900"/>
            <a:ext cx="1996061" cy="1647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090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65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6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7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tighter upper bound!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897064" y="1447800"/>
            <a:ext cx="7242175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27013" indent="-22701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3200" b="1" dirty="0"/>
              <a:t>I</a:t>
            </a:r>
            <a:r>
              <a:rPr lang="en-US" altLang="en-US" b="1" dirty="0"/>
              <a:t>DEA</a:t>
            </a:r>
            <a:r>
              <a:rPr lang="en-US" altLang="en-US" sz="3200" b="1" dirty="0"/>
              <a:t>:  </a:t>
            </a:r>
            <a:r>
              <a:rPr lang="en-US" altLang="en-US" sz="3200" dirty="0"/>
              <a:t>Strengthen the inductive hypothesis.</a:t>
            </a:r>
          </a:p>
          <a:p>
            <a:pPr>
              <a:buClr>
                <a:schemeClr val="accent2"/>
              </a:buClr>
              <a:buFontTx/>
              <a:buChar char="•"/>
            </a:pPr>
            <a:r>
              <a:rPr lang="en-US" altLang="en-US" sz="3200" b="1" i="1" dirty="0"/>
              <a:t>Subtract</a:t>
            </a:r>
            <a:r>
              <a:rPr lang="en-US" altLang="en-US" sz="3200" b="1" dirty="0"/>
              <a:t> </a:t>
            </a:r>
            <a:r>
              <a:rPr lang="en-US" altLang="en-US" sz="3200" dirty="0"/>
              <a:t>a low-order term.</a:t>
            </a:r>
            <a:endParaRPr lang="en-US" altLang="en-US" sz="3200" b="1" dirty="0"/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2262823" y="2545420"/>
            <a:ext cx="7899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i="1" dirty="0"/>
              <a:t>Inductive hypothesis</a:t>
            </a:r>
            <a:r>
              <a:rPr lang="en-US" altLang="en-US" sz="3200" dirty="0"/>
              <a:t>: </a:t>
            </a:r>
            <a:r>
              <a:rPr lang="en-US" altLang="en-US" sz="3200" i="1" dirty="0">
                <a:solidFill>
                  <a:srgbClr val="009999"/>
                </a:solidFill>
              </a:rPr>
              <a:t>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k</a:t>
            </a:r>
            <a:r>
              <a:rPr lang="en-US" altLang="en-US" sz="3200" dirty="0">
                <a:solidFill>
                  <a:srgbClr val="009999"/>
                </a:solidFill>
              </a:rPr>
              <a:t>)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3200" dirty="0">
                <a:solidFill>
                  <a:srgbClr val="009999"/>
                </a:solidFill>
              </a:rPr>
              <a:t> </a:t>
            </a:r>
            <a:r>
              <a:rPr lang="en-US" altLang="en-US" sz="3200" i="1" dirty="0">
                <a:solidFill>
                  <a:srgbClr val="009999"/>
                </a:solidFill>
              </a:rPr>
              <a:t>c</a:t>
            </a:r>
            <a:r>
              <a:rPr lang="en-US" altLang="en-US" sz="3200" baseline="-25000" dirty="0">
                <a:solidFill>
                  <a:srgbClr val="009999"/>
                </a:solidFill>
              </a:rPr>
              <a:t>1</a:t>
            </a:r>
            <a:r>
              <a:rPr lang="en-US" altLang="en-US" sz="3200" i="1" dirty="0">
                <a:solidFill>
                  <a:srgbClr val="009999"/>
                </a:solidFill>
              </a:rPr>
              <a:t>k</a:t>
            </a:r>
            <a:r>
              <a:rPr lang="en-US" altLang="en-US" sz="3200" baseline="30000" dirty="0">
                <a:solidFill>
                  <a:srgbClr val="009999"/>
                </a:solidFill>
              </a:rPr>
              <a:t>2</a:t>
            </a:r>
            <a:r>
              <a:rPr lang="en-US" altLang="en-US" sz="3200" dirty="0">
                <a:solidFill>
                  <a:srgbClr val="009999"/>
                </a:solidFill>
              </a:rPr>
              <a:t> – </a:t>
            </a:r>
            <a:r>
              <a:rPr lang="en-US" altLang="en-US" sz="3200" i="1" dirty="0">
                <a:solidFill>
                  <a:srgbClr val="009999"/>
                </a:solidFill>
              </a:rPr>
              <a:t>c</a:t>
            </a:r>
            <a:r>
              <a:rPr lang="en-US" altLang="en-US" sz="3200" baseline="-25000" dirty="0">
                <a:solidFill>
                  <a:srgbClr val="009999"/>
                </a:solidFill>
              </a:rPr>
              <a:t>2</a:t>
            </a:r>
            <a:r>
              <a:rPr lang="en-US" altLang="en-US" sz="3200" i="1" dirty="0">
                <a:solidFill>
                  <a:srgbClr val="009999"/>
                </a:solidFill>
              </a:rPr>
              <a:t>k</a:t>
            </a:r>
            <a:r>
              <a:rPr lang="en-US" altLang="en-US" sz="3200" dirty="0"/>
              <a:t> for </a:t>
            </a:r>
            <a:r>
              <a:rPr lang="en-US" altLang="en-US" sz="3200" i="1" dirty="0">
                <a:solidFill>
                  <a:srgbClr val="009999"/>
                </a:solidFill>
              </a:rPr>
              <a:t>k</a:t>
            </a:r>
            <a:r>
              <a:rPr lang="en-US" altLang="en-US" sz="3200" dirty="0">
                <a:solidFill>
                  <a:srgbClr val="009999"/>
                </a:solidFill>
              </a:rPr>
              <a:t> &lt; 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/>
              <a:t>.</a:t>
            </a: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1726311" y="6219824"/>
            <a:ext cx="63987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 dirty="0"/>
              <a:t>Pick </a:t>
            </a:r>
            <a:r>
              <a:rPr lang="en-US" altLang="en-US" sz="2400" i="1" dirty="0">
                <a:solidFill>
                  <a:srgbClr val="009999"/>
                </a:solidFill>
              </a:rPr>
              <a:t>c</a:t>
            </a:r>
            <a:r>
              <a:rPr lang="en-US" altLang="en-US" sz="2400" baseline="-25000" dirty="0">
                <a:solidFill>
                  <a:srgbClr val="009999"/>
                </a:solidFill>
              </a:rPr>
              <a:t>1</a:t>
            </a:r>
            <a:r>
              <a:rPr lang="en-US" altLang="en-US" sz="2400" dirty="0"/>
              <a:t> big enough to handle the initial conditions.</a:t>
            </a:r>
          </a:p>
        </p:txBody>
      </p:sp>
      <p:pic>
        <p:nvPicPr>
          <p:cNvPr id="24578" name="Picture 2" descr="https://lh5.googleusercontent.com/YVljhK2kWUvoWuMeAZh5nvQurlIP2zicht_nOPeUm0dZPdCObORguzJ6i_P9uc3Tkq4GAGciFSCDAf6Ol-lnSOmWQTBUw--J2jiLQXH6VMkkdij0yBVR7ztneOCyQm8KnQITc11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823" y="3251021"/>
            <a:ext cx="5943600" cy="284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336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4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/>
      <p:bldP spid="6759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Recursion-tree method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2057400" y="1674814"/>
            <a:ext cx="8077200" cy="198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31775" indent="-2317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3200" dirty="0"/>
              <a:t>A recursion tree models the costs (time) of a recursive execution of an algorithm.</a:t>
            </a:r>
          </a:p>
          <a:p>
            <a:pPr>
              <a:lnSpc>
                <a:spcPct val="90000"/>
              </a:lnSpc>
              <a:spcBef>
                <a:spcPct val="25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3200" dirty="0"/>
              <a:t>The recursion tree method is good for generating guesses for the substitution method</a:t>
            </a:r>
            <a:r>
              <a:rPr lang="en-US" altLang="en-US" sz="3200" dirty="0" smtClean="0"/>
              <a:t>.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1912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1683" name="Text Box 3"/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0768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5116044" y="2209800"/>
            <a:ext cx="5565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</a:t>
            </a:r>
          </a:p>
        </p:txBody>
      </p: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66689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3733" name="Line 5"/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4" name="Line 6"/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3735" name="Group 7"/>
          <p:cNvGrpSpPr>
            <a:grpSpLocks/>
          </p:cNvGrpSpPr>
          <p:nvPr/>
        </p:nvGrpSpPr>
        <p:grpSpPr bwMode="auto">
          <a:xfrm>
            <a:off x="3341689" y="2895602"/>
            <a:ext cx="3984625" cy="385763"/>
            <a:chOff x="1625" y="1968"/>
            <a:chExt cx="2510" cy="243"/>
          </a:xfrm>
        </p:grpSpPr>
        <p:sp>
          <p:nvSpPr>
            <p:cNvPr id="73736" name="Rectangle 8"/>
            <p:cNvSpPr>
              <a:spLocks noChangeArrowheads="1"/>
            </p:cNvSpPr>
            <p:nvPr/>
          </p:nvSpPr>
          <p:spPr bwMode="auto">
            <a:xfrm>
              <a:off x="1625" y="1978"/>
              <a:ext cx="481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i="1">
                  <a:solidFill>
                    <a:srgbClr val="009999"/>
                  </a:solidFill>
                </a:rPr>
                <a:t>T</a:t>
              </a:r>
              <a:r>
                <a:rPr lang="en-US" altLang="en-US">
                  <a:solidFill>
                    <a:srgbClr val="009999"/>
                  </a:solidFill>
                </a:rPr>
                <a:t>(</a:t>
              </a:r>
              <a:r>
                <a:rPr lang="en-US" altLang="en-US" i="1">
                  <a:solidFill>
                    <a:srgbClr val="009999"/>
                  </a:solidFill>
                </a:rPr>
                <a:t>n</a:t>
              </a:r>
              <a:r>
                <a:rPr lang="en-US" altLang="en-US">
                  <a:solidFill>
                    <a:srgbClr val="009999"/>
                  </a:solidFill>
                </a:rPr>
                <a:t>/4)</a:t>
              </a:r>
            </a:p>
          </p:txBody>
        </p:sp>
        <p:sp>
          <p:nvSpPr>
            <p:cNvPr id="73737" name="Rectangle 9"/>
            <p:cNvSpPr>
              <a:spLocks noChangeArrowheads="1"/>
            </p:cNvSpPr>
            <p:nvPr/>
          </p:nvSpPr>
          <p:spPr bwMode="auto">
            <a:xfrm>
              <a:off x="3654" y="1968"/>
              <a:ext cx="481" cy="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en-US" i="1">
                  <a:solidFill>
                    <a:srgbClr val="009999"/>
                  </a:solidFill>
                </a:rPr>
                <a:t>T</a:t>
              </a:r>
              <a:r>
                <a:rPr lang="en-US" altLang="en-US">
                  <a:solidFill>
                    <a:srgbClr val="009999"/>
                  </a:solidFill>
                </a:rPr>
                <a:t>(</a:t>
              </a:r>
              <a:r>
                <a:rPr lang="en-US" altLang="en-US" i="1">
                  <a:solidFill>
                    <a:srgbClr val="009999"/>
                  </a:solidFill>
                </a:rPr>
                <a:t>n</a:t>
              </a:r>
              <a:r>
                <a:rPr lang="en-US" altLang="en-US">
                  <a:solidFill>
                    <a:srgbClr val="009999"/>
                  </a:solidFill>
                </a:rPr>
                <a:t>/2)</a:t>
              </a:r>
            </a:p>
          </p:txBody>
        </p:sp>
      </p:grpSp>
      <p:sp>
        <p:nvSpPr>
          <p:cNvPr id="73738" name="Rectangle 10"/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3739" name="Text Box 11"/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58223920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71" name="Line 19"/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2" name="Line 20"/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4770" name="Text Box 18"/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4773" name="Rectangle 21"/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4774" name="Line 22"/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5" name="Line 23"/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6" name="Line 24"/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7" name="Line 25"/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4778" name="Rectangle 26"/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4779" name="Rectangle 27"/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4764" name="Rectangle 12"/>
          <p:cNvSpPr>
            <a:spLocks noChangeArrowheads="1"/>
          </p:cNvSpPr>
          <p:nvPr/>
        </p:nvSpPr>
        <p:spPr bwMode="auto">
          <a:xfrm>
            <a:off x="2470498" y="3733800"/>
            <a:ext cx="88036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</a:p>
        </p:txBody>
      </p:sp>
      <p:sp>
        <p:nvSpPr>
          <p:cNvPr id="74765" name="Rectangle 13"/>
          <p:cNvSpPr>
            <a:spLocks noChangeArrowheads="1"/>
          </p:cNvSpPr>
          <p:nvPr/>
        </p:nvSpPr>
        <p:spPr bwMode="auto">
          <a:xfrm>
            <a:off x="4180008" y="3733800"/>
            <a:ext cx="76334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</a:p>
        </p:txBody>
      </p:sp>
      <p:sp>
        <p:nvSpPr>
          <p:cNvPr id="74766" name="Rectangle 14"/>
          <p:cNvSpPr>
            <a:spLocks noChangeArrowheads="1"/>
          </p:cNvSpPr>
          <p:nvPr/>
        </p:nvSpPr>
        <p:spPr bwMode="auto">
          <a:xfrm>
            <a:off x="5729408" y="3732213"/>
            <a:ext cx="76334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</a:p>
        </p:txBody>
      </p:sp>
      <p:sp>
        <p:nvSpPr>
          <p:cNvPr id="74767" name="Rectangle 15"/>
          <p:cNvSpPr>
            <a:spLocks noChangeArrowheads="1"/>
          </p:cNvSpPr>
          <p:nvPr/>
        </p:nvSpPr>
        <p:spPr bwMode="auto">
          <a:xfrm>
            <a:off x="7380408" y="3732213"/>
            <a:ext cx="763349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</a:p>
        </p:txBody>
      </p:sp>
    </p:spTree>
    <p:extLst>
      <p:ext uri="{BB962C8B-B14F-4D97-AF65-F5344CB8AC3E}">
        <p14:creationId xmlns:p14="http://schemas.microsoft.com/office/powerpoint/2010/main" val="116287349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97" name="Line 21"/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8" name="Line 22"/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5780" name="Line 4"/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4" name="Line 8"/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5" name="Line 9"/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6" name="Line 10"/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7" name="Line 11"/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8" name="Rectangle 12"/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89" name="Rectangle 13"/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0" name="Rectangle 14"/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1" name="Rectangle 15"/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2" name="Rectangle 16"/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3" name="Rectangle 17"/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5794" name="Rectangle 18"/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5795" name="Text Box 19"/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sp>
        <p:nvSpPr>
          <p:cNvPr id="75796" name="Text Box 20"/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5799" name="Rectangle 23"/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5039394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68" name="Line 44"/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9" name="Line 45"/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65" name="Line 41"/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7848" name="Text Box 24"/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7849" name="Line 25"/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3" name="Line 29"/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4" name="Line 30"/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5" name="Line 31"/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6" name="Line 32"/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857" name="Rectangle 33"/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58" name="Rectangle 34"/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59" name="Rectangle 35"/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0" name="Rectangle 36"/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1" name="Rectangle 37"/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2" name="Rectangle 38"/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7863" name="Rectangle 39"/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7864" name="Text Box 40"/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graphicFrame>
        <p:nvGraphicFramePr>
          <p:cNvPr id="77867" name="Object 43"/>
          <p:cNvGraphicFramePr>
            <a:graphicFrameLocks noChangeAspect="1"/>
          </p:cNvGraphicFramePr>
          <p:nvPr/>
        </p:nvGraphicFramePr>
        <p:xfrm>
          <a:off x="9728200" y="2216150"/>
          <a:ext cx="40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3" imgW="406080" imgH="406080" progId="Equation.3">
                  <p:embed/>
                </p:oleObj>
              </mc:Choice>
              <mc:Fallback>
                <p:oleObj name="Equation" r:id="rId3" imgW="406080" imgH="406080" progId="Equation.3">
                  <p:embed/>
                  <p:pic>
                    <p:nvPicPr>
                      <p:cNvPr id="77867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406400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70" name="Rectangle 46"/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58639561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3" name="Line 5"/>
          <p:cNvSpPr>
            <a:spLocks noChangeShapeType="1"/>
          </p:cNvSpPr>
          <p:nvPr/>
        </p:nvSpPr>
        <p:spPr bwMode="auto">
          <a:xfrm>
            <a:off x="7467600" y="3200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6" name="Line 48"/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3" name="Line 45"/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94" name="Line 46"/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8874" name="Text Box 26"/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8875" name="Line 27"/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79" name="Line 31"/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0" name="Line 32"/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1" name="Line 33"/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2" name="Line 34"/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8883" name="Rectangle 35"/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4" name="Rectangle 36"/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5" name="Rectangle 37"/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6" name="Rectangle 38"/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7" name="Rectangle 39"/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8" name="Rectangle 40"/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8889" name="Rectangle 41"/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8890" name="Text Box 42"/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graphicFrame>
        <p:nvGraphicFramePr>
          <p:cNvPr id="78891" name="Object 43"/>
          <p:cNvGraphicFramePr>
            <a:graphicFrameLocks noChangeAspect="1"/>
          </p:cNvGraphicFramePr>
          <p:nvPr/>
        </p:nvGraphicFramePr>
        <p:xfrm>
          <a:off x="9296400" y="2781300"/>
          <a:ext cx="83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3" imgW="838080" imgH="799920" progId="Equation.3">
                  <p:embed/>
                </p:oleObj>
              </mc:Choice>
              <mc:Fallback>
                <p:oleObj name="Equation" r:id="rId3" imgW="838080" imgH="799920" progId="Equation.3">
                  <p:embed/>
                  <p:pic>
                    <p:nvPicPr>
                      <p:cNvPr id="7889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2781300"/>
                        <a:ext cx="838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92" name="Object 44"/>
          <p:cNvGraphicFramePr>
            <a:graphicFrameLocks noChangeAspect="1"/>
          </p:cNvGraphicFramePr>
          <p:nvPr/>
        </p:nvGraphicFramePr>
        <p:xfrm>
          <a:off x="9728200" y="2216150"/>
          <a:ext cx="40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5" imgW="406080" imgH="406080" progId="Equation.3">
                  <p:embed/>
                </p:oleObj>
              </mc:Choice>
              <mc:Fallback>
                <p:oleObj name="Equation" r:id="rId5" imgW="406080" imgH="406080" progId="Equation.3">
                  <p:embed/>
                  <p:pic>
                    <p:nvPicPr>
                      <p:cNvPr id="78892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406400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95" name="Rectangle 47"/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4309727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22" name="Line 50"/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23" name="Line 51"/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79877" name="Line 5"/>
          <p:cNvSpPr>
            <a:spLocks noChangeShapeType="1"/>
          </p:cNvSpPr>
          <p:nvPr/>
        </p:nvSpPr>
        <p:spPr bwMode="auto">
          <a:xfrm>
            <a:off x="8305800" y="4038600"/>
            <a:ext cx="6096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896" name="Line 24"/>
          <p:cNvSpPr>
            <a:spLocks noChangeShapeType="1"/>
          </p:cNvSpPr>
          <p:nvPr/>
        </p:nvSpPr>
        <p:spPr bwMode="auto">
          <a:xfrm>
            <a:off x="6553200" y="2438400"/>
            <a:ext cx="2971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1" name="Text Box 29"/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79902" name="Line 30"/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6" name="Line 34"/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7" name="Line 35"/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8" name="Line 36"/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09" name="Line 37"/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0" name="Rectangle 38"/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1" name="Rectangle 39"/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2" name="Rectangle 40"/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3" name="Rectangle 41"/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4" name="Rectangle 42"/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16" name="Rectangle 44"/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79917" name="Text Box 45"/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sp>
        <p:nvSpPr>
          <p:cNvPr id="79926" name="Line 54"/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79927" name="Object 55"/>
          <p:cNvGraphicFramePr>
            <a:graphicFrameLocks noChangeAspect="1"/>
          </p:cNvGraphicFramePr>
          <p:nvPr/>
        </p:nvGraphicFramePr>
        <p:xfrm>
          <a:off x="9296400" y="2781300"/>
          <a:ext cx="83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Equation" r:id="rId3" imgW="838080" imgH="799920" progId="Equation.3">
                  <p:embed/>
                </p:oleObj>
              </mc:Choice>
              <mc:Fallback>
                <p:oleObj name="Equation" r:id="rId3" imgW="838080" imgH="799920" progId="Equation.3">
                  <p:embed/>
                  <p:pic>
                    <p:nvPicPr>
                      <p:cNvPr id="79927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2781300"/>
                        <a:ext cx="838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28" name="Object 56"/>
          <p:cNvGraphicFramePr>
            <a:graphicFrameLocks noChangeAspect="1"/>
          </p:cNvGraphicFramePr>
          <p:nvPr/>
        </p:nvGraphicFramePr>
        <p:xfrm>
          <a:off x="9728200" y="2216150"/>
          <a:ext cx="40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Equation" r:id="rId5" imgW="406080" imgH="406080" progId="Equation.3">
                  <p:embed/>
                </p:oleObj>
              </mc:Choice>
              <mc:Fallback>
                <p:oleObj name="Equation" r:id="rId5" imgW="406080" imgH="406080" progId="Equation.3">
                  <p:embed/>
                  <p:pic>
                    <p:nvPicPr>
                      <p:cNvPr id="79928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406400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33" name="Object 61"/>
          <p:cNvGraphicFramePr>
            <a:graphicFrameLocks noChangeAspect="1"/>
          </p:cNvGraphicFramePr>
          <p:nvPr/>
        </p:nvGraphicFramePr>
        <p:xfrm>
          <a:off x="9042400" y="3619500"/>
          <a:ext cx="1092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Equation" r:id="rId7" imgW="1091880" imgH="799920" progId="Equation.3">
                  <p:embed/>
                </p:oleObj>
              </mc:Choice>
              <mc:Fallback>
                <p:oleObj name="Equation" r:id="rId7" imgW="1091880" imgH="799920" progId="Equation.3">
                  <p:embed/>
                  <p:pic>
                    <p:nvPicPr>
                      <p:cNvPr id="79933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2400" y="3619500"/>
                        <a:ext cx="1092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24" name="Rectangle 52"/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35" name="Line 63"/>
          <p:cNvSpPr>
            <a:spLocks noChangeShapeType="1"/>
          </p:cNvSpPr>
          <p:nvPr/>
        </p:nvSpPr>
        <p:spPr bwMode="auto">
          <a:xfrm>
            <a:off x="7467600" y="3200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9915" name="Rectangle 43"/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79936" name="Text Box 64"/>
          <p:cNvSpPr txBox="1">
            <a:spLocks noChangeArrowheads="1"/>
          </p:cNvSpPr>
          <p:nvPr/>
        </p:nvSpPr>
        <p:spPr bwMode="auto">
          <a:xfrm rot="16200000">
            <a:off x="9490637" y="4549259"/>
            <a:ext cx="343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244827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Line 2"/>
          <p:cNvSpPr>
            <a:spLocks noChangeShapeType="1"/>
          </p:cNvSpPr>
          <p:nvPr/>
        </p:nvSpPr>
        <p:spPr bwMode="auto">
          <a:xfrm flipH="1">
            <a:off x="3810000" y="2514600"/>
            <a:ext cx="15240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47" name="Line 3"/>
          <p:cNvSpPr>
            <a:spLocks noChangeShapeType="1"/>
          </p:cNvSpPr>
          <p:nvPr/>
        </p:nvSpPr>
        <p:spPr bwMode="auto">
          <a:xfrm>
            <a:off x="5334000" y="2514600"/>
            <a:ext cx="167640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recursion tree</a:t>
            </a:r>
          </a:p>
        </p:txBody>
      </p:sp>
      <p:sp>
        <p:nvSpPr>
          <p:cNvPr id="82949" name="Line 5"/>
          <p:cNvSpPr>
            <a:spLocks noChangeShapeType="1"/>
          </p:cNvSpPr>
          <p:nvPr/>
        </p:nvSpPr>
        <p:spPr bwMode="auto">
          <a:xfrm>
            <a:off x="8305800" y="4038600"/>
            <a:ext cx="6096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0" name="Line 6"/>
          <p:cNvSpPr>
            <a:spLocks noChangeShapeType="1"/>
          </p:cNvSpPr>
          <p:nvPr/>
        </p:nvSpPr>
        <p:spPr bwMode="auto">
          <a:xfrm>
            <a:off x="6553200" y="2438400"/>
            <a:ext cx="29718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1884363" y="1543050"/>
            <a:ext cx="31880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Solve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) =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 + </a:t>
            </a:r>
            <a:r>
              <a:rPr lang="en-US" altLang="en-US" i="1">
                <a:solidFill>
                  <a:srgbClr val="009999"/>
                </a:solidFill>
              </a:rPr>
              <a:t>T</a:t>
            </a:r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n/</a:t>
            </a:r>
            <a:r>
              <a:rPr lang="en-US" altLang="en-US">
                <a:solidFill>
                  <a:srgbClr val="009999"/>
                </a:solidFill>
              </a:rPr>
              <a:t>2)</a:t>
            </a:r>
            <a:r>
              <a:rPr lang="en-US" altLang="en-US" i="1">
                <a:solidFill>
                  <a:srgbClr val="009999"/>
                </a:solidFill>
              </a:rPr>
              <a:t> + 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  <a:r>
              <a:rPr lang="en-US" altLang="en-US"/>
              <a:t>:</a:t>
            </a:r>
          </a:p>
        </p:txBody>
      </p:sp>
      <p:sp>
        <p:nvSpPr>
          <p:cNvPr id="82952" name="Line 8"/>
          <p:cNvSpPr>
            <a:spLocks noChangeShapeType="1"/>
          </p:cNvSpPr>
          <p:nvPr/>
        </p:nvSpPr>
        <p:spPr bwMode="auto">
          <a:xfrm flipH="1">
            <a:off x="2482850" y="4038600"/>
            <a:ext cx="533400" cy="1447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3" name="Line 9"/>
          <p:cNvSpPr>
            <a:spLocks noChangeShapeType="1"/>
          </p:cNvSpPr>
          <p:nvPr/>
        </p:nvSpPr>
        <p:spPr bwMode="auto">
          <a:xfrm flipH="1">
            <a:off x="30162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4" name="Line 10"/>
          <p:cNvSpPr>
            <a:spLocks noChangeShapeType="1"/>
          </p:cNvSpPr>
          <p:nvPr/>
        </p:nvSpPr>
        <p:spPr bwMode="auto">
          <a:xfrm flipH="1">
            <a:off x="6140450" y="3200400"/>
            <a:ext cx="8382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5" name="Line 11"/>
          <p:cNvSpPr>
            <a:spLocks noChangeShapeType="1"/>
          </p:cNvSpPr>
          <p:nvPr/>
        </p:nvSpPr>
        <p:spPr bwMode="auto">
          <a:xfrm>
            <a:off x="69786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6" name="Line 12"/>
          <p:cNvSpPr>
            <a:spLocks noChangeShapeType="1"/>
          </p:cNvSpPr>
          <p:nvPr/>
        </p:nvSpPr>
        <p:spPr bwMode="auto">
          <a:xfrm>
            <a:off x="3854450" y="3200400"/>
            <a:ext cx="9144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57" name="Rectangle 13"/>
          <p:cNvSpPr>
            <a:spLocks noChangeArrowheads="1"/>
          </p:cNvSpPr>
          <p:nvPr/>
        </p:nvSpPr>
        <p:spPr bwMode="auto">
          <a:xfrm>
            <a:off x="2507966" y="3733800"/>
            <a:ext cx="84670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/16)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58" name="Rectangle 14"/>
          <p:cNvSpPr>
            <a:spLocks noChangeArrowheads="1"/>
          </p:cNvSpPr>
          <p:nvPr/>
        </p:nvSpPr>
        <p:spPr bwMode="auto">
          <a:xfrm>
            <a:off x="4214301" y="37338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59" name="Rectangle 15"/>
          <p:cNvSpPr>
            <a:spLocks noChangeArrowheads="1"/>
          </p:cNvSpPr>
          <p:nvPr/>
        </p:nvSpPr>
        <p:spPr bwMode="auto">
          <a:xfrm>
            <a:off x="5765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/8)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0" name="Rectangle 16"/>
          <p:cNvSpPr>
            <a:spLocks noChangeArrowheads="1"/>
          </p:cNvSpPr>
          <p:nvPr/>
        </p:nvSpPr>
        <p:spPr bwMode="auto">
          <a:xfrm>
            <a:off x="7416289" y="3732213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1" name="Rectangle 17"/>
          <p:cNvSpPr>
            <a:spLocks noChangeArrowheads="1"/>
          </p:cNvSpPr>
          <p:nvPr/>
        </p:nvSpPr>
        <p:spPr bwMode="auto">
          <a:xfrm>
            <a:off x="3404676" y="2911475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/4)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3" name="Rectangle 19"/>
          <p:cNvSpPr>
            <a:spLocks noChangeArrowheads="1"/>
          </p:cNvSpPr>
          <p:nvPr/>
        </p:nvSpPr>
        <p:spPr bwMode="auto">
          <a:xfrm>
            <a:off x="2305890" y="5181600"/>
            <a:ext cx="61427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>
                <a:solidFill>
                  <a:srgbClr val="009999"/>
                </a:solidFill>
              </a:rPr>
              <a:t>(1)</a:t>
            </a:r>
          </a:p>
        </p:txBody>
      </p:sp>
      <p:sp>
        <p:nvSpPr>
          <p:cNvPr id="82964" name="Text Box 20"/>
          <p:cNvSpPr txBox="1">
            <a:spLocks noChangeArrowheads="1"/>
          </p:cNvSpPr>
          <p:nvPr/>
        </p:nvSpPr>
        <p:spPr bwMode="auto">
          <a:xfrm rot="17366799">
            <a:off x="2478650" y="4530208"/>
            <a:ext cx="343364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/>
              <a:t>…</a:t>
            </a:r>
          </a:p>
        </p:txBody>
      </p:sp>
      <p:sp>
        <p:nvSpPr>
          <p:cNvPr id="82966" name="Line 22"/>
          <p:cNvSpPr>
            <a:spLocks noChangeShapeType="1"/>
          </p:cNvSpPr>
          <p:nvPr/>
        </p:nvSpPr>
        <p:spPr bwMode="auto">
          <a:xfrm>
            <a:off x="7467600" y="3200400"/>
            <a:ext cx="16764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967" name="Line 23"/>
          <p:cNvSpPr>
            <a:spLocks noChangeShapeType="1"/>
          </p:cNvSpPr>
          <p:nvPr/>
        </p:nvSpPr>
        <p:spPr bwMode="auto">
          <a:xfrm>
            <a:off x="5334000" y="2438400"/>
            <a:ext cx="4267200" cy="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968" name="Object 24"/>
          <p:cNvGraphicFramePr>
            <a:graphicFrameLocks noChangeAspect="1"/>
          </p:cNvGraphicFramePr>
          <p:nvPr/>
        </p:nvGraphicFramePr>
        <p:xfrm>
          <a:off x="9296400" y="2781300"/>
          <a:ext cx="838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Equation" r:id="rId3" imgW="838080" imgH="799920" progId="Equation.3">
                  <p:embed/>
                </p:oleObj>
              </mc:Choice>
              <mc:Fallback>
                <p:oleObj name="Equation" r:id="rId3" imgW="838080" imgH="799920" progId="Equation.3">
                  <p:embed/>
                  <p:pic>
                    <p:nvPicPr>
                      <p:cNvPr id="8296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2781300"/>
                        <a:ext cx="838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69" name="Object 25"/>
          <p:cNvGraphicFramePr>
            <a:graphicFrameLocks noChangeAspect="1"/>
          </p:cNvGraphicFramePr>
          <p:nvPr/>
        </p:nvGraphicFramePr>
        <p:xfrm>
          <a:off x="9728200" y="2216150"/>
          <a:ext cx="406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7" name="Equation" r:id="rId5" imgW="406080" imgH="406080" progId="Equation.3">
                  <p:embed/>
                </p:oleObj>
              </mc:Choice>
              <mc:Fallback>
                <p:oleObj name="Equation" r:id="rId5" imgW="406080" imgH="406080" progId="Equation.3">
                  <p:embed/>
                  <p:pic>
                    <p:nvPicPr>
                      <p:cNvPr id="8296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8200" y="2216150"/>
                        <a:ext cx="406400" cy="4064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70" name="Object 26"/>
          <p:cNvGraphicFramePr>
            <a:graphicFrameLocks noChangeAspect="1"/>
          </p:cNvGraphicFramePr>
          <p:nvPr/>
        </p:nvGraphicFramePr>
        <p:xfrm>
          <a:off x="9042400" y="3619500"/>
          <a:ext cx="1092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8" name="Equation" r:id="rId7" imgW="1091880" imgH="799920" progId="Equation.3">
                  <p:embed/>
                </p:oleObj>
              </mc:Choice>
              <mc:Fallback>
                <p:oleObj name="Equation" r:id="rId7" imgW="1091880" imgH="799920" progId="Equation.3">
                  <p:embed/>
                  <p:pic>
                    <p:nvPicPr>
                      <p:cNvPr id="8297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2400" y="3619500"/>
                        <a:ext cx="1092200" cy="8001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1" name="Line 27"/>
          <p:cNvSpPr>
            <a:spLocks noChangeShapeType="1"/>
          </p:cNvSpPr>
          <p:nvPr/>
        </p:nvSpPr>
        <p:spPr bwMode="auto">
          <a:xfrm>
            <a:off x="5943600" y="5181600"/>
            <a:ext cx="4572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8297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515677"/>
              </p:ext>
            </p:extLst>
          </p:nvPr>
        </p:nvGraphicFramePr>
        <p:xfrm>
          <a:off x="6235000" y="5246246"/>
          <a:ext cx="4141599" cy="652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9" name="Equation" r:id="rId9" imgW="1612800" imgH="253800" progId="Equation.3">
                  <p:embed/>
                </p:oleObj>
              </mc:Choice>
              <mc:Fallback>
                <p:oleObj name="Equation" r:id="rId9" imgW="1612800" imgH="253800" progId="Equation.3">
                  <p:embed/>
                  <p:pic>
                    <p:nvPicPr>
                      <p:cNvPr id="8297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5000" y="5246246"/>
                        <a:ext cx="4141599" cy="65222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73" name="Text Box 29"/>
          <p:cNvSpPr txBox="1">
            <a:spLocks noChangeArrowheads="1"/>
          </p:cNvSpPr>
          <p:nvPr/>
        </p:nvSpPr>
        <p:spPr bwMode="auto">
          <a:xfrm rot="16200000">
            <a:off x="9490637" y="4549259"/>
            <a:ext cx="343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99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…</a:t>
            </a:r>
          </a:p>
        </p:txBody>
      </p:sp>
      <p:sp>
        <p:nvSpPr>
          <p:cNvPr id="82974" name="Text Box 30"/>
          <p:cNvSpPr txBox="1">
            <a:spLocks noChangeArrowheads="1"/>
          </p:cNvSpPr>
          <p:nvPr/>
        </p:nvSpPr>
        <p:spPr bwMode="auto">
          <a:xfrm>
            <a:off x="5188172" y="5364163"/>
            <a:ext cx="8570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/>
            <a:r>
              <a:rPr lang="en-US" altLang="en-US"/>
              <a:t>Total  </a:t>
            </a:r>
            <a:r>
              <a:rPr lang="en-US" altLang="en-US">
                <a:solidFill>
                  <a:srgbClr val="009999"/>
                </a:solidFill>
              </a:rPr>
              <a:t>=</a:t>
            </a:r>
          </a:p>
        </p:txBody>
      </p:sp>
      <p:sp>
        <p:nvSpPr>
          <p:cNvPr id="82975" name="Text Box 31"/>
          <p:cNvSpPr txBox="1">
            <a:spLocks noChangeArrowheads="1"/>
          </p:cNvSpPr>
          <p:nvPr/>
        </p:nvSpPr>
        <p:spPr bwMode="auto">
          <a:xfrm>
            <a:off x="5606301" y="5897563"/>
            <a:ext cx="12811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 smtClean="0">
                <a:solidFill>
                  <a:srgbClr val="009999"/>
                </a:solidFill>
              </a:rPr>
              <a:t>  =       </a:t>
            </a:r>
            <a:r>
              <a:rPr lang="en-US" altLang="en-US" dirty="0" smtClean="0">
                <a:solidFill>
                  <a:srgbClr val="009999"/>
                </a:solidFill>
                <a:latin typeface="Symbol" panose="05050102010706020507" pitchFamily="18" charset="2"/>
              </a:rPr>
              <a:t>O</a:t>
            </a:r>
            <a:r>
              <a:rPr lang="en-US" altLang="en-US" dirty="0" smtClean="0">
                <a:solidFill>
                  <a:srgbClr val="009999"/>
                </a:solidFill>
              </a:rPr>
              <a:t>(</a:t>
            </a:r>
            <a:r>
              <a:rPr lang="en-US" altLang="en-US" i="1" dirty="0" smtClean="0">
                <a:solidFill>
                  <a:srgbClr val="009999"/>
                </a:solidFill>
              </a:rPr>
              <a:t>n</a:t>
            </a:r>
            <a:r>
              <a:rPr lang="en-US" altLang="en-US" baseline="30000" dirty="0" smtClean="0">
                <a:solidFill>
                  <a:srgbClr val="009999"/>
                </a:solidFill>
              </a:rPr>
              <a:t>2</a:t>
            </a:r>
            <a:r>
              <a:rPr lang="en-US" altLang="en-US" dirty="0">
                <a:solidFill>
                  <a:srgbClr val="009999"/>
                </a:solidFill>
              </a:rPr>
              <a:t>)</a:t>
            </a:r>
          </a:p>
        </p:txBody>
      </p:sp>
      <p:sp>
        <p:nvSpPr>
          <p:cNvPr id="82965" name="Rectangle 21"/>
          <p:cNvSpPr>
            <a:spLocks noChangeArrowheads="1"/>
          </p:cNvSpPr>
          <p:nvPr/>
        </p:nvSpPr>
        <p:spPr bwMode="auto">
          <a:xfrm>
            <a:off x="5141495" y="2133600"/>
            <a:ext cx="381836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62" name="Rectangle 18"/>
          <p:cNvSpPr>
            <a:spLocks noChangeArrowheads="1"/>
          </p:cNvSpPr>
          <p:nvPr/>
        </p:nvSpPr>
        <p:spPr bwMode="auto">
          <a:xfrm>
            <a:off x="6625714" y="2895600"/>
            <a:ext cx="729687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US">
                <a:solidFill>
                  <a:srgbClr val="009999"/>
                </a:solidFill>
              </a:rPr>
              <a:t>(</a:t>
            </a:r>
            <a:r>
              <a:rPr lang="en-US" altLang="en-US" i="1">
                <a:solidFill>
                  <a:srgbClr val="009999"/>
                </a:solidFill>
              </a:rPr>
              <a:t>n</a:t>
            </a:r>
            <a:r>
              <a:rPr lang="en-US" altLang="en-US">
                <a:solidFill>
                  <a:srgbClr val="009999"/>
                </a:solidFill>
              </a:rPr>
              <a:t>/2)</a:t>
            </a:r>
            <a:r>
              <a:rPr lang="en-US" altLang="en-US" baseline="30000">
                <a:solidFill>
                  <a:srgbClr val="009999"/>
                </a:solidFill>
              </a:rPr>
              <a:t>2</a:t>
            </a:r>
          </a:p>
        </p:txBody>
      </p:sp>
      <p:sp>
        <p:nvSpPr>
          <p:cNvPr id="82976" name="Text Box 32"/>
          <p:cNvSpPr txBox="1">
            <a:spLocks noChangeArrowheads="1"/>
          </p:cNvSpPr>
          <p:nvPr/>
        </p:nvSpPr>
        <p:spPr bwMode="auto">
          <a:xfrm>
            <a:off x="8731342" y="5892324"/>
            <a:ext cx="171431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 dirty="0">
                <a:solidFill>
                  <a:schemeClr val="accent2"/>
                </a:solidFill>
              </a:rPr>
              <a:t>geometric series</a:t>
            </a:r>
          </a:p>
        </p:txBody>
      </p:sp>
      <p:grpSp>
        <p:nvGrpSpPr>
          <p:cNvPr id="35" name="Group 9"/>
          <p:cNvGrpSpPr>
            <a:grpSpLocks/>
          </p:cNvGrpSpPr>
          <p:nvPr/>
        </p:nvGrpSpPr>
        <p:grpSpPr bwMode="auto">
          <a:xfrm>
            <a:off x="7490619" y="853811"/>
            <a:ext cx="3697288" cy="773113"/>
            <a:chOff x="1748" y="3005"/>
            <a:chExt cx="2329" cy="487"/>
          </a:xfrm>
        </p:grpSpPr>
        <p:graphicFrame>
          <p:nvGraphicFramePr>
            <p:cNvPr id="3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5971715"/>
                </p:ext>
              </p:extLst>
            </p:nvPr>
          </p:nvGraphicFramePr>
          <p:xfrm>
            <a:off x="1748" y="3005"/>
            <a:ext cx="1602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0" name="Equation" r:id="rId11" imgW="1295280" imgH="393480" progId="Equation.3">
                    <p:embed/>
                  </p:oleObj>
                </mc:Choice>
                <mc:Fallback>
                  <p:oleObj name="Equation" r:id="rId11" imgW="1295280" imgH="393480" progId="Equation.3">
                    <p:embed/>
                    <p:pic>
                      <p:nvPicPr>
                        <p:cNvPr id="8397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8" y="3005"/>
                          <a:ext cx="1602" cy="4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Text Box 4"/>
            <p:cNvSpPr txBox="1">
              <a:spLocks noChangeArrowheads="1"/>
            </p:cNvSpPr>
            <p:nvPr/>
          </p:nvSpPr>
          <p:spPr bwMode="auto">
            <a:xfrm>
              <a:off x="3350" y="3185"/>
              <a:ext cx="72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for </a:t>
              </a:r>
              <a:r>
                <a:rPr lang="en-US" altLang="en-US" dirty="0">
                  <a:solidFill>
                    <a:srgbClr val="009999"/>
                  </a:solidFill>
                </a:rPr>
                <a:t>|</a:t>
              </a:r>
              <a:r>
                <a:rPr lang="en-US" altLang="en-US" i="1" dirty="0">
                  <a:solidFill>
                    <a:srgbClr val="009999"/>
                  </a:solidFill>
                </a:rPr>
                <a:t>x</a:t>
              </a:r>
              <a:r>
                <a:rPr lang="en-US" altLang="en-US" dirty="0">
                  <a:solidFill>
                    <a:srgbClr val="009999"/>
                  </a:solidFill>
                </a:rPr>
                <a:t>| &lt; 1</a:t>
              </a:r>
            </a:p>
          </p:txBody>
        </p:sp>
      </p:grpSp>
      <p:grpSp>
        <p:nvGrpSpPr>
          <p:cNvPr id="38" name="Group 8"/>
          <p:cNvGrpSpPr>
            <a:grpSpLocks/>
          </p:cNvGrpSpPr>
          <p:nvPr/>
        </p:nvGrpSpPr>
        <p:grpSpPr bwMode="auto">
          <a:xfrm>
            <a:off x="7467600" y="51610"/>
            <a:ext cx="4197350" cy="784225"/>
            <a:chOff x="1653" y="1145"/>
            <a:chExt cx="2644" cy="494"/>
          </a:xfrm>
        </p:grpSpPr>
        <p:graphicFrame>
          <p:nvGraphicFramePr>
            <p:cNvPr id="39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0575767"/>
                </p:ext>
              </p:extLst>
            </p:nvPr>
          </p:nvGraphicFramePr>
          <p:xfrm>
            <a:off x="1653" y="1145"/>
            <a:ext cx="2051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71" name="Equation" r:id="rId13" imgW="1739880" imgH="419040" progId="Equation.3">
                    <p:embed/>
                  </p:oleObj>
                </mc:Choice>
                <mc:Fallback>
                  <p:oleObj name="Equation" r:id="rId13" imgW="1739880" imgH="419040" progId="Equation.3">
                    <p:embed/>
                    <p:pic>
                      <p:nvPicPr>
                        <p:cNvPr id="8397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3" y="1145"/>
                          <a:ext cx="2051" cy="4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" name="Text Box 7"/>
            <p:cNvSpPr txBox="1">
              <a:spLocks noChangeArrowheads="1"/>
            </p:cNvSpPr>
            <p:nvPr/>
          </p:nvSpPr>
          <p:spPr bwMode="auto">
            <a:xfrm>
              <a:off x="3696" y="1298"/>
              <a:ext cx="60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for </a:t>
              </a:r>
              <a:r>
                <a:rPr lang="en-US" altLang="en-US" i="1">
                  <a:solidFill>
                    <a:srgbClr val="009999"/>
                  </a:solidFill>
                </a:rPr>
                <a:t>x</a:t>
              </a:r>
              <a:r>
                <a:rPr lang="en-US" altLang="en-US">
                  <a:solidFill>
                    <a:srgbClr val="009999"/>
                  </a:solidFill>
                </a:rPr>
                <a:t> </a:t>
              </a:r>
              <a:r>
                <a:rPr lang="en-US" altLang="en-US">
                  <a:solidFill>
                    <a:srgbClr val="009999"/>
                  </a:solidFill>
                  <a:latin typeface="Symbol" panose="05050102010706020507" pitchFamily="18" charset="2"/>
                </a:rPr>
                <a:t>¹</a:t>
              </a:r>
              <a:r>
                <a:rPr lang="en-US" altLang="en-US">
                  <a:solidFill>
                    <a:srgbClr val="009999"/>
                  </a:solidFill>
                </a:rPr>
                <a:t>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69614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master method</a:t>
            </a: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1704111" y="2335445"/>
            <a:ext cx="9451570" cy="1840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  <a:spcBef>
                <a:spcPct val="35000"/>
              </a:spcBef>
            </a:pPr>
            <a:r>
              <a:rPr lang="en-US" altLang="en-US" sz="3200"/>
              <a:t>The master method applies to recurrences of the form</a:t>
            </a:r>
          </a:p>
          <a:p>
            <a:pPr algn="ctr">
              <a:lnSpc>
                <a:spcPct val="95000"/>
              </a:lnSpc>
              <a:spcBef>
                <a:spcPct val="35000"/>
              </a:spcBef>
            </a:pP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 i="1">
                <a:solidFill>
                  <a:srgbClr val="009999"/>
                </a:solidFill>
              </a:rPr>
              <a:t>a 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/</a:t>
            </a:r>
            <a:r>
              <a:rPr lang="en-US" altLang="en-US" sz="3200" i="1">
                <a:solidFill>
                  <a:srgbClr val="009999"/>
                </a:solidFill>
              </a:rPr>
              <a:t>b</a:t>
            </a:r>
            <a:r>
              <a:rPr lang="en-US" altLang="en-US" sz="3200">
                <a:solidFill>
                  <a:srgbClr val="009999"/>
                </a:solidFill>
              </a:rPr>
              <a:t>) + </a:t>
            </a:r>
            <a:r>
              <a:rPr lang="en-US" altLang="en-US" sz="3200" i="1">
                <a:solidFill>
                  <a:srgbClr val="009999"/>
                </a:solidFill>
              </a:rPr>
              <a:t>f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</a:t>
            </a:r>
            <a:r>
              <a:rPr lang="en-US" altLang="en-US" sz="3200"/>
              <a:t>, </a:t>
            </a:r>
          </a:p>
          <a:p>
            <a:pPr>
              <a:lnSpc>
                <a:spcPct val="95000"/>
              </a:lnSpc>
              <a:spcBef>
                <a:spcPct val="35000"/>
              </a:spcBef>
            </a:pPr>
            <a:r>
              <a:rPr lang="en-US" altLang="en-US" sz="3200"/>
              <a:t>where </a:t>
            </a:r>
            <a:r>
              <a:rPr lang="en-US" altLang="en-US" sz="3200" i="1">
                <a:solidFill>
                  <a:srgbClr val="009999"/>
                </a:solidFill>
              </a:rPr>
              <a:t>a</a:t>
            </a: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³</a:t>
            </a:r>
            <a:r>
              <a:rPr lang="en-US" altLang="en-US" sz="3200">
                <a:solidFill>
                  <a:srgbClr val="009999"/>
                </a:solidFill>
              </a:rPr>
              <a:t> 1</a:t>
            </a:r>
            <a:r>
              <a:rPr lang="en-US" altLang="en-US" sz="3200"/>
              <a:t>, </a:t>
            </a:r>
            <a:r>
              <a:rPr lang="en-US" altLang="en-US" sz="3200" i="1">
                <a:solidFill>
                  <a:srgbClr val="009999"/>
                </a:solidFill>
              </a:rPr>
              <a:t>b</a:t>
            </a:r>
            <a:r>
              <a:rPr lang="en-US" altLang="en-US" sz="3200">
                <a:solidFill>
                  <a:srgbClr val="009999"/>
                </a:solidFill>
              </a:rPr>
              <a:t> &gt; 1</a:t>
            </a:r>
            <a:r>
              <a:rPr lang="en-US" altLang="en-US" sz="3200"/>
              <a:t>, and 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3200"/>
              <a:t>  is asymptotically positive.</a:t>
            </a:r>
          </a:p>
        </p:txBody>
      </p:sp>
    </p:spTree>
    <p:extLst>
      <p:ext uri="{BB962C8B-B14F-4D97-AF65-F5344CB8AC3E}">
        <p14:creationId xmlns:p14="http://schemas.microsoft.com/office/powerpoint/2010/main" val="405454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Three common cases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1965326" y="1543050"/>
            <a:ext cx="391171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Compare </a:t>
            </a:r>
            <a:r>
              <a:rPr lang="en-US" altLang="en-US" sz="2800" i="1" dirty="0">
                <a:solidFill>
                  <a:srgbClr val="009999"/>
                </a:solidFill>
              </a:rPr>
              <a:t>f</a:t>
            </a:r>
            <a:r>
              <a:rPr lang="en-US" altLang="en-US" sz="2800" dirty="0">
                <a:solidFill>
                  <a:srgbClr val="009999"/>
                </a:solidFill>
              </a:rPr>
              <a:t> (</a:t>
            </a:r>
            <a:r>
              <a:rPr lang="en-US" altLang="en-US" sz="2800" i="1" dirty="0">
                <a:solidFill>
                  <a:srgbClr val="009999"/>
                </a:solidFill>
              </a:rPr>
              <a:t>n</a:t>
            </a:r>
            <a:r>
              <a:rPr lang="en-US" altLang="en-US" sz="2800" dirty="0">
                <a:solidFill>
                  <a:srgbClr val="009999"/>
                </a:solidFill>
              </a:rPr>
              <a:t>)</a:t>
            </a:r>
            <a:r>
              <a:rPr lang="en-US" altLang="en-US" sz="2800" dirty="0"/>
              <a:t> </a:t>
            </a:r>
            <a:r>
              <a:rPr lang="en-US" altLang="en-US" sz="3200" dirty="0"/>
              <a:t>with</a:t>
            </a:r>
            <a:r>
              <a:rPr lang="en-US" altLang="en-US" sz="2800" dirty="0"/>
              <a:t> </a:t>
            </a:r>
            <a:r>
              <a:rPr lang="en-US" altLang="en-US" sz="2800" i="1" dirty="0" err="1">
                <a:solidFill>
                  <a:srgbClr val="009999"/>
                </a:solidFill>
              </a:rPr>
              <a:t>n</a:t>
            </a:r>
            <a:r>
              <a:rPr lang="en-US" altLang="en-US" sz="2800" baseline="30000" dirty="0" err="1">
                <a:solidFill>
                  <a:srgbClr val="009999"/>
                </a:solidFill>
              </a:rPr>
              <a:t>log</a:t>
            </a:r>
            <a:r>
              <a:rPr lang="en-US" altLang="en-US" sz="2800" i="1" baseline="16000" dirty="0" err="1">
                <a:solidFill>
                  <a:srgbClr val="009999"/>
                </a:solidFill>
              </a:rPr>
              <a:t>b</a:t>
            </a:r>
            <a:r>
              <a:rPr lang="en-US" altLang="en-US" sz="2800" i="1" baseline="30000" dirty="0" err="1">
                <a:solidFill>
                  <a:srgbClr val="009999"/>
                </a:solidFill>
              </a:rPr>
              <a:t>a</a:t>
            </a:r>
            <a:r>
              <a:rPr lang="en-US" altLang="en-US" sz="2800" dirty="0"/>
              <a:t>:</a:t>
            </a:r>
          </a:p>
        </p:txBody>
      </p:sp>
      <p:sp>
        <p:nvSpPr>
          <p:cNvPr id="86020" name="Text Box 4"/>
          <p:cNvSpPr txBox="1">
            <a:spLocks noChangeArrowheads="1"/>
          </p:cNvSpPr>
          <p:nvPr/>
        </p:nvSpPr>
        <p:spPr bwMode="auto">
          <a:xfrm>
            <a:off x="1981200" y="2580750"/>
            <a:ext cx="8016875" cy="2160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8975" indent="-2317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42875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00025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57175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02895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48615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94335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40055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Tx/>
              <a:buAutoNum type="arabicPeriod"/>
            </a:pPr>
            <a:r>
              <a:rPr lang="en-US" altLang="en-US" sz="3200" dirty="0">
                <a:solidFill>
                  <a:srgbClr val="009999"/>
                </a:solidFill>
              </a:rPr>
              <a:t> </a:t>
            </a:r>
            <a:r>
              <a:rPr lang="en-US" altLang="en-US" sz="3200" i="1" dirty="0">
                <a:solidFill>
                  <a:srgbClr val="009999"/>
                </a:solidFill>
              </a:rPr>
              <a:t>f</a:t>
            </a:r>
            <a:r>
              <a:rPr lang="en-US" altLang="en-US" sz="1600" dirty="0">
                <a:solidFill>
                  <a:srgbClr val="009999"/>
                </a:solidFill>
              </a:rPr>
              <a:t> 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</a:t>
            </a:r>
            <a:r>
              <a:rPr lang="en-US" altLang="en-US" sz="3200" i="1" dirty="0">
                <a:solidFill>
                  <a:srgbClr val="009999"/>
                </a:solidFill>
              </a:rPr>
              <a:t>O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 err="1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 err="1">
                <a:solidFill>
                  <a:srgbClr val="009999"/>
                </a:solidFill>
              </a:rPr>
              <a:t>log</a:t>
            </a:r>
            <a:r>
              <a:rPr lang="en-US" altLang="en-US" sz="3200" i="1" baseline="16000" dirty="0" err="1">
                <a:solidFill>
                  <a:srgbClr val="009999"/>
                </a:solidFill>
              </a:rPr>
              <a:t>b</a:t>
            </a:r>
            <a:r>
              <a:rPr lang="en-US" altLang="en-US" sz="3200" i="1" baseline="30000" dirty="0" err="1">
                <a:solidFill>
                  <a:srgbClr val="009999"/>
                </a:solidFill>
              </a:rPr>
              <a:t>a</a:t>
            </a:r>
            <a:r>
              <a:rPr lang="en-US" altLang="en-US" sz="3200" i="1" baseline="30000" dirty="0">
                <a:solidFill>
                  <a:srgbClr val="009999"/>
                </a:solidFill>
              </a:rPr>
              <a:t> </a:t>
            </a:r>
            <a:r>
              <a:rPr lang="en-US" altLang="en-US" sz="3200" baseline="30000" dirty="0">
                <a:solidFill>
                  <a:srgbClr val="009999"/>
                </a:solidFill>
              </a:rPr>
              <a:t>– </a:t>
            </a:r>
            <a:r>
              <a:rPr lang="en-US" altLang="en-US" sz="3200" baseline="30000" dirty="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 dirty="0">
                <a:solidFill>
                  <a:srgbClr val="009999"/>
                </a:solidFill>
              </a:rPr>
              <a:t>)</a:t>
            </a:r>
            <a:r>
              <a:rPr lang="en-US" altLang="en-US" sz="3200" dirty="0"/>
              <a:t> for some constant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 dirty="0">
                <a:solidFill>
                  <a:srgbClr val="009999"/>
                </a:solidFill>
              </a:rPr>
              <a:t> &gt; 0</a:t>
            </a:r>
            <a:r>
              <a:rPr lang="en-US" altLang="en-US" sz="3200" dirty="0"/>
              <a:t>.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3200" i="1" dirty="0">
                <a:solidFill>
                  <a:srgbClr val="009999"/>
                </a:solidFill>
              </a:rPr>
              <a:t>f</a:t>
            </a:r>
            <a:r>
              <a:rPr lang="en-US" altLang="en-US" sz="1800" dirty="0">
                <a:solidFill>
                  <a:srgbClr val="009999"/>
                </a:solidFill>
              </a:rPr>
              <a:t> 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</a:t>
            </a:r>
            <a:r>
              <a:rPr lang="en-US" altLang="en-US" sz="3200" dirty="0"/>
              <a:t>grows </a:t>
            </a:r>
            <a:r>
              <a:rPr lang="en-US" altLang="en-US" sz="3200" dirty="0" err="1"/>
              <a:t>polynomially</a:t>
            </a:r>
            <a:r>
              <a:rPr lang="en-US" altLang="en-US" sz="3200" dirty="0"/>
              <a:t> slower than </a:t>
            </a:r>
            <a:r>
              <a:rPr lang="en-US" altLang="en-US" sz="3200" i="1" dirty="0" err="1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 err="1">
                <a:solidFill>
                  <a:srgbClr val="009999"/>
                </a:solidFill>
              </a:rPr>
              <a:t>log</a:t>
            </a:r>
            <a:r>
              <a:rPr lang="en-US" altLang="en-US" sz="3200" i="1" baseline="16000" dirty="0" err="1">
                <a:solidFill>
                  <a:srgbClr val="009999"/>
                </a:solidFill>
              </a:rPr>
              <a:t>b</a:t>
            </a:r>
            <a:r>
              <a:rPr lang="en-US" altLang="en-US" sz="3200" i="1" baseline="30000" dirty="0" err="1">
                <a:solidFill>
                  <a:srgbClr val="009999"/>
                </a:solidFill>
              </a:rPr>
              <a:t>a</a:t>
            </a:r>
            <a:r>
              <a:rPr lang="en-US" altLang="en-US" sz="3200" dirty="0"/>
              <a:t> (by an 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 dirty="0"/>
              <a:t> factor).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</a:pPr>
            <a:r>
              <a:rPr lang="en-US" altLang="en-US" sz="3200" dirty="0"/>
              <a:t>	</a:t>
            </a:r>
            <a:r>
              <a:rPr lang="en-US" altLang="en-US" sz="3200" b="1" i="1" dirty="0">
                <a:solidFill>
                  <a:schemeClr val="accent2"/>
                </a:solidFill>
              </a:rPr>
              <a:t>Solution: </a:t>
            </a:r>
            <a:r>
              <a:rPr lang="en-US" altLang="en-US" sz="3200" i="1" dirty="0">
                <a:solidFill>
                  <a:srgbClr val="009999"/>
                </a:solidFill>
              </a:rPr>
              <a:t>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 err="1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 err="1">
                <a:solidFill>
                  <a:srgbClr val="009999"/>
                </a:solidFill>
              </a:rPr>
              <a:t>log</a:t>
            </a:r>
            <a:r>
              <a:rPr lang="en-US" altLang="en-US" sz="3200" i="1" baseline="16000" dirty="0" err="1">
                <a:solidFill>
                  <a:srgbClr val="009999"/>
                </a:solidFill>
              </a:rPr>
              <a:t>b</a:t>
            </a:r>
            <a:r>
              <a:rPr lang="en-US" altLang="en-US" sz="3200" i="1" baseline="30000" dirty="0" err="1">
                <a:solidFill>
                  <a:srgbClr val="009999"/>
                </a:solidFill>
              </a:rPr>
              <a:t>a</a:t>
            </a:r>
            <a:r>
              <a:rPr lang="en-US" altLang="en-US" sz="3200" dirty="0">
                <a:solidFill>
                  <a:srgbClr val="009999"/>
                </a:solidFill>
              </a:rPr>
              <a:t>)</a:t>
            </a:r>
            <a:r>
              <a:rPr lang="en-US" altLang="en-US" sz="3200" dirty="0"/>
              <a:t> .</a:t>
            </a:r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1981200" y="4473576"/>
            <a:ext cx="8077200" cy="53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8975" indent="-2317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425575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997075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568575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025775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482975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940175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397375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</a:pPr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376269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48500"/>
            <a:ext cx="10515600" cy="1325563"/>
          </a:xfrm>
        </p:spPr>
        <p:txBody>
          <a:bodyPr/>
          <a:lstStyle/>
          <a:p>
            <a:r>
              <a:rPr lang="en-US" altLang="en-US"/>
              <a:t>Three common cases</a:t>
            </a: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1965326" y="1543050"/>
            <a:ext cx="43438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 dirty="0"/>
              <a:t>Compare </a:t>
            </a:r>
            <a:r>
              <a:rPr lang="en-US" altLang="en-US" sz="3200" i="1" dirty="0">
                <a:solidFill>
                  <a:srgbClr val="009999"/>
                </a:solidFill>
              </a:rPr>
              <a:t>f</a:t>
            </a:r>
            <a:r>
              <a:rPr lang="en-US" altLang="en-US" sz="3200" dirty="0">
                <a:solidFill>
                  <a:srgbClr val="009999"/>
                </a:solidFill>
              </a:rPr>
              <a:t> 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</a:t>
            </a:r>
            <a:r>
              <a:rPr lang="en-US" altLang="en-US" sz="3200" dirty="0"/>
              <a:t> with </a:t>
            </a:r>
            <a:r>
              <a:rPr lang="en-US" altLang="en-US" sz="3200" i="1" dirty="0" err="1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 err="1">
                <a:solidFill>
                  <a:srgbClr val="009999"/>
                </a:solidFill>
              </a:rPr>
              <a:t>log</a:t>
            </a:r>
            <a:r>
              <a:rPr lang="en-US" altLang="en-US" sz="3200" i="1" baseline="16000" dirty="0" err="1">
                <a:solidFill>
                  <a:srgbClr val="009999"/>
                </a:solidFill>
              </a:rPr>
              <a:t>b</a:t>
            </a:r>
            <a:r>
              <a:rPr lang="en-US" altLang="en-US" sz="3200" i="1" baseline="30000" dirty="0" err="1">
                <a:solidFill>
                  <a:srgbClr val="009999"/>
                </a:solidFill>
              </a:rPr>
              <a:t>a</a:t>
            </a:r>
            <a:r>
              <a:rPr lang="en-US" altLang="en-US" sz="3200" dirty="0"/>
              <a:t>:</a:t>
            </a:r>
          </a:p>
        </p:txBody>
      </p:sp>
      <p:sp>
        <p:nvSpPr>
          <p:cNvPr id="154629" name="Rectangle 5"/>
          <p:cNvSpPr>
            <a:spLocks noChangeArrowheads="1"/>
          </p:cNvSpPr>
          <p:nvPr/>
        </p:nvSpPr>
        <p:spPr bwMode="auto">
          <a:xfrm>
            <a:off x="1981200" y="2667001"/>
            <a:ext cx="807720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8975" indent="-2317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425575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997075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568575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025775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482975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940175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397375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Tx/>
              <a:buAutoNum type="arabicPeriod" startAt="2"/>
            </a:pP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 </a:t>
            </a:r>
            <a:r>
              <a:rPr lang="en-US" altLang="en-US" sz="3200">
                <a:solidFill>
                  <a:srgbClr val="009999"/>
                </a:solidFill>
              </a:rPr>
              <a:t>lg</a:t>
            </a:r>
            <a:r>
              <a:rPr lang="en-US" altLang="en-US" sz="3200" i="1" baseline="30000">
                <a:solidFill>
                  <a:srgbClr val="009999"/>
                </a:solidFill>
              </a:rPr>
              <a:t>k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 for some constant </a:t>
            </a:r>
            <a:r>
              <a:rPr lang="en-US" altLang="en-US" sz="3200" i="1">
                <a:solidFill>
                  <a:srgbClr val="009999"/>
                </a:solidFill>
              </a:rPr>
              <a:t>k</a:t>
            </a: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³</a:t>
            </a:r>
            <a:r>
              <a:rPr lang="en-US" altLang="en-US" sz="3200">
                <a:solidFill>
                  <a:srgbClr val="009999"/>
                </a:solidFill>
              </a:rPr>
              <a:t> 0</a:t>
            </a:r>
            <a:r>
              <a:rPr lang="en-US" altLang="en-US" sz="3200"/>
              <a:t>.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</a:t>
            </a:r>
            <a:r>
              <a:rPr lang="en-US" altLang="en-US" sz="3200"/>
              <a:t>and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</a:t>
            </a:r>
            <a:r>
              <a:rPr lang="en-US" altLang="en-US" sz="3200"/>
              <a:t> grow at similar rates.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</a:pPr>
            <a:r>
              <a:rPr lang="en-US" altLang="en-US" sz="3200" b="1" i="1">
                <a:solidFill>
                  <a:schemeClr val="accent2"/>
                </a:solidFill>
              </a:rPr>
              <a:t>Solution: 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</a:t>
            </a:r>
            <a:r>
              <a:rPr lang="en-US" altLang="en-US" sz="3200">
                <a:solidFill>
                  <a:srgbClr val="009999"/>
                </a:solidFill>
              </a:rPr>
              <a:t> lg</a:t>
            </a:r>
            <a:r>
              <a:rPr lang="en-US" altLang="en-US" sz="3200" i="1" baseline="30000">
                <a:solidFill>
                  <a:srgbClr val="009999"/>
                </a:solidFill>
              </a:rPr>
              <a:t>k</a:t>
            </a:r>
            <a:r>
              <a:rPr lang="en-US" altLang="en-US" sz="3200" baseline="30000">
                <a:solidFill>
                  <a:srgbClr val="009999"/>
                </a:solidFill>
              </a:rPr>
              <a:t>+1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3988635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Three common cases (cont.)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965326" y="1543050"/>
            <a:ext cx="43438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3200"/>
              <a:t>Compare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3200">
                <a:solidFill>
                  <a:srgbClr val="009999"/>
                </a:solidFill>
              </a:rPr>
              <a:t> 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 with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</a:t>
            </a:r>
            <a:r>
              <a:rPr lang="en-US" altLang="en-US" sz="3200"/>
              <a:t>:</a:t>
            </a: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2087564" y="2251076"/>
            <a:ext cx="8275637" cy="3194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6858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42875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200025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57175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302895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48615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94335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40055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Tx/>
              <a:buAutoNum type="arabicPeriod" startAt="3"/>
            </a:pP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 </a:t>
            </a:r>
            <a:r>
              <a:rPr lang="en-US" altLang="en-US" sz="3200" baseline="30000">
                <a:solidFill>
                  <a:srgbClr val="009999"/>
                </a:solidFill>
              </a:rPr>
              <a:t>+ </a:t>
            </a:r>
            <a:r>
              <a:rPr lang="en-US" altLang="en-US" sz="3200" baseline="3000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 for some constant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>
                <a:solidFill>
                  <a:srgbClr val="009999"/>
                </a:solidFill>
              </a:rPr>
              <a:t> &gt; 0</a:t>
            </a:r>
            <a:r>
              <a:rPr lang="en-US" altLang="en-US" sz="3200"/>
              <a:t>.</a:t>
            </a:r>
          </a:p>
          <a:p>
            <a:pPr lvl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Tx/>
              <a:buChar char="•"/>
            </a:pP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</a:t>
            </a:r>
            <a:r>
              <a:rPr lang="en-US" altLang="en-US" sz="3200"/>
              <a:t>grows polynomially faster than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</a:t>
            </a:r>
            <a:r>
              <a:rPr lang="en-US" altLang="en-US" sz="3200"/>
              <a:t> (by an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/>
              <a:t> factor),</a:t>
            </a:r>
          </a:p>
          <a:p>
            <a:pPr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</a:pPr>
            <a:r>
              <a:rPr lang="en-US" altLang="en-US" sz="3200" b="1" i="1"/>
              <a:t>	and</a:t>
            </a:r>
            <a:r>
              <a:rPr lang="en-US" altLang="en-US" i="1"/>
              <a:t> </a:t>
            </a:r>
            <a:r>
              <a:rPr lang="en-US" altLang="en-US" sz="1800" i="1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</a:t>
            </a:r>
            <a:r>
              <a:rPr lang="en-US" altLang="en-US" sz="3200"/>
              <a:t>satisfies the </a:t>
            </a:r>
            <a:r>
              <a:rPr lang="en-US" altLang="en-US" sz="3200" b="1" i="1">
                <a:solidFill>
                  <a:schemeClr val="accent2"/>
                </a:solidFill>
              </a:rPr>
              <a:t>regularity condition</a:t>
            </a: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/>
              <a:t>that </a:t>
            </a:r>
            <a:r>
              <a:rPr lang="en-US" altLang="en-US" sz="3200" i="1">
                <a:solidFill>
                  <a:srgbClr val="009999"/>
                </a:solidFill>
              </a:rPr>
              <a:t>a</a:t>
            </a:r>
            <a:r>
              <a:rPr lang="en-US" altLang="en-US" sz="1800" i="1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n/b</a:t>
            </a:r>
            <a:r>
              <a:rPr lang="en-US" altLang="en-US" sz="3200">
                <a:solidFill>
                  <a:srgbClr val="009999"/>
                </a:solidFill>
              </a:rPr>
              <a:t>)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32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c</a:t>
            </a:r>
            <a:r>
              <a:rPr lang="en-US" altLang="en-US" sz="2000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</a:t>
            </a:r>
            <a:r>
              <a:rPr lang="en-US" altLang="en-US" sz="3200"/>
              <a:t>for some constant </a:t>
            </a:r>
            <a:r>
              <a:rPr lang="en-US" altLang="en-US" sz="3200" i="1">
                <a:solidFill>
                  <a:srgbClr val="009999"/>
                </a:solidFill>
              </a:rPr>
              <a:t>c</a:t>
            </a:r>
            <a:r>
              <a:rPr lang="en-US" altLang="en-US" sz="3200"/>
              <a:t> </a:t>
            </a:r>
            <a:r>
              <a:rPr lang="en-US" altLang="en-US" sz="3200">
                <a:solidFill>
                  <a:srgbClr val="009999"/>
                </a:solidFill>
              </a:rPr>
              <a:t>&lt; 1</a:t>
            </a:r>
            <a:r>
              <a:rPr lang="en-US" altLang="en-US" sz="3200"/>
              <a:t>.</a:t>
            </a:r>
            <a:endParaRPr lang="en-US" altLang="en-US" sz="3200" b="1" i="1"/>
          </a:p>
          <a:p>
            <a:pPr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</a:pPr>
            <a:r>
              <a:rPr lang="en-US" altLang="en-US" sz="3200"/>
              <a:t>	</a:t>
            </a:r>
            <a:r>
              <a:rPr lang="en-US" altLang="en-US" sz="3200" b="1" i="1">
                <a:solidFill>
                  <a:schemeClr val="accent2"/>
                </a:solidFill>
              </a:rPr>
              <a:t>Solution: 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>
                <a:solidFill>
                  <a:srgbClr val="009999"/>
                </a:solidFill>
              </a:rPr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12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2264719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88067" name="Text Box 3"/>
          <p:cNvSpPr txBox="1">
            <a:spLocks noChangeArrowheads="1"/>
          </p:cNvSpPr>
          <p:nvPr/>
        </p:nvSpPr>
        <p:spPr bwMode="auto">
          <a:xfrm>
            <a:off x="1905000" y="1828800"/>
            <a:ext cx="876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endParaRPr lang="en-US" altLang="en-US"/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1905000" y="1828800"/>
            <a:ext cx="8153400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90563" indent="-690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48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b="1" i="1">
                <a:solidFill>
                  <a:schemeClr val="accent2"/>
                </a:solidFill>
              </a:rPr>
              <a:t>Ex.</a:t>
            </a:r>
            <a:r>
              <a:rPr lang="en-US" altLang="en-US" sz="3200" i="1">
                <a:solidFill>
                  <a:srgbClr val="009999"/>
                </a:solidFill>
              </a:rPr>
              <a:t> 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4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/2) +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endParaRPr lang="en-US" altLang="en-US" sz="3200" i="1"/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>
                <a:solidFill>
                  <a:srgbClr val="009999"/>
                </a:solidFill>
              </a:rPr>
              <a:t>	a =</a:t>
            </a:r>
            <a:r>
              <a:rPr lang="en-US" altLang="en-US" sz="3200">
                <a:solidFill>
                  <a:srgbClr val="009999"/>
                </a:solidFill>
              </a:rPr>
              <a:t> 4</a:t>
            </a:r>
            <a:r>
              <a:rPr lang="en-US" altLang="en-US" sz="3200"/>
              <a:t>, </a:t>
            </a:r>
            <a:r>
              <a:rPr lang="en-US" altLang="en-US" sz="3200" i="1">
                <a:solidFill>
                  <a:srgbClr val="009999"/>
                </a:solidFill>
              </a:rPr>
              <a:t>b</a:t>
            </a:r>
            <a:r>
              <a:rPr lang="en-US" altLang="en-US" sz="3200">
                <a:solidFill>
                  <a:srgbClr val="009999"/>
                </a:solidFill>
              </a:rPr>
              <a:t> = 2 </a:t>
            </a:r>
            <a:r>
              <a:rPr lang="en-US" altLang="en-US" sz="3200">
                <a:sym typeface="Symbol" panose="05050102010706020507" pitchFamily="18" charset="2"/>
              </a:rPr>
              <a:t>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log</a:t>
            </a:r>
            <a:r>
              <a:rPr lang="en-US" altLang="en-US" sz="3200" i="1" baseline="16000">
                <a:solidFill>
                  <a:srgbClr val="009999"/>
                </a:solidFill>
              </a:rPr>
              <a:t>b</a:t>
            </a:r>
            <a:r>
              <a:rPr lang="en-US" altLang="en-US" sz="3200" i="1" baseline="30000">
                <a:solidFill>
                  <a:srgbClr val="009999"/>
                </a:solidFill>
              </a:rPr>
              <a:t>a </a:t>
            </a:r>
            <a:r>
              <a:rPr lang="en-US" altLang="en-US" sz="3200">
                <a:solidFill>
                  <a:srgbClr val="009999"/>
                </a:solidFill>
              </a:rPr>
              <a:t>=</a:t>
            </a:r>
            <a:r>
              <a:rPr lang="en-US" altLang="en-US" sz="3200"/>
              <a:t>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/>
              <a:t>;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8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i="1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/>
              <a:t>	</a:t>
            </a:r>
            <a:r>
              <a:rPr lang="en-US" altLang="en-US" sz="3200" b="1"/>
              <a:t>C</a:t>
            </a:r>
            <a:r>
              <a:rPr lang="en-US" altLang="en-US" b="1"/>
              <a:t>ASE</a:t>
            </a:r>
            <a:r>
              <a:rPr lang="en-US" altLang="en-US" sz="3200" b="1"/>
              <a:t> 1</a:t>
            </a:r>
            <a:r>
              <a:rPr lang="en-US" altLang="en-US" sz="3200"/>
              <a:t>: </a:t>
            </a:r>
            <a:r>
              <a:rPr lang="en-US" altLang="en-US" sz="3200" i="1">
                <a:solidFill>
                  <a:srgbClr val="009999"/>
                </a:solidFill>
              </a:rPr>
              <a:t>f</a:t>
            </a:r>
            <a:r>
              <a:rPr lang="en-US" altLang="en-US" sz="1600">
                <a:solidFill>
                  <a:srgbClr val="009999"/>
                </a:solidFill>
              </a:rPr>
              <a:t> 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 i="1">
                <a:solidFill>
                  <a:srgbClr val="009999"/>
                </a:solidFill>
              </a:rPr>
              <a:t>O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 i="1" baseline="30000">
                <a:solidFill>
                  <a:srgbClr val="009999"/>
                </a:solidFill>
              </a:rPr>
              <a:t> </a:t>
            </a:r>
            <a:r>
              <a:rPr lang="en-US" altLang="en-US" sz="3200" baseline="30000">
                <a:solidFill>
                  <a:srgbClr val="009999"/>
                </a:solidFill>
              </a:rPr>
              <a:t>– </a:t>
            </a:r>
            <a:r>
              <a:rPr lang="en-US" altLang="en-US" sz="3200" baseline="3000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 for </a:t>
            </a:r>
            <a:r>
              <a:rPr lang="en-US" altLang="en-US" sz="3200">
                <a:latin typeface="Symbol" panose="05050102010706020507" pitchFamily="18" charset="2"/>
              </a:rPr>
              <a:t>e</a:t>
            </a:r>
            <a:r>
              <a:rPr lang="en-US" altLang="en-US" sz="3200">
                <a:solidFill>
                  <a:srgbClr val="009999"/>
                </a:solidFill>
              </a:rPr>
              <a:t> = 1</a:t>
            </a:r>
            <a:r>
              <a:rPr lang="en-US" altLang="en-US" sz="3200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/>
              <a:t>	</a:t>
            </a:r>
            <a:r>
              <a:rPr lang="en-US" altLang="en-US" sz="3200">
                <a:sym typeface="Symbol" panose="05050102010706020507" pitchFamily="18" charset="2"/>
              </a:rPr>
              <a:t> </a:t>
            </a:r>
            <a:r>
              <a:rPr lang="en-US" altLang="en-US" sz="3200" i="1">
                <a:solidFill>
                  <a:srgbClr val="009999"/>
                </a:solidFill>
              </a:rPr>
              <a:t>T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>
                <a:solidFill>
                  <a:srgbClr val="009999"/>
                </a:solidFill>
              </a:rPr>
              <a:t>) = </a:t>
            </a:r>
            <a:r>
              <a:rPr lang="en-US" altLang="en-US" sz="320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>
                <a:solidFill>
                  <a:srgbClr val="009999"/>
                </a:solidFill>
              </a:rPr>
              <a:t>(</a:t>
            </a:r>
            <a:r>
              <a:rPr lang="en-US" altLang="en-US" sz="3200" i="1">
                <a:solidFill>
                  <a:srgbClr val="009999"/>
                </a:solidFill>
              </a:rPr>
              <a:t>n</a:t>
            </a:r>
            <a:r>
              <a:rPr lang="en-US" altLang="en-US" sz="3200" baseline="30000">
                <a:solidFill>
                  <a:srgbClr val="009999"/>
                </a:solidFill>
              </a:rPr>
              <a:t>2</a:t>
            </a:r>
            <a:r>
              <a:rPr lang="en-US" altLang="en-US" sz="3200">
                <a:solidFill>
                  <a:srgbClr val="009999"/>
                </a:solidFill>
              </a:rPr>
              <a:t>)</a:t>
            </a:r>
            <a:r>
              <a:rPr lang="en-US" altLang="en-US" sz="3200"/>
              <a:t>.</a:t>
            </a:r>
          </a:p>
        </p:txBody>
      </p:sp>
      <p:sp>
        <p:nvSpPr>
          <p:cNvPr id="88069" name="Text Box 5"/>
          <p:cNvSpPr txBox="1">
            <a:spLocks noChangeArrowheads="1"/>
          </p:cNvSpPr>
          <p:nvPr/>
        </p:nvSpPr>
        <p:spPr bwMode="auto">
          <a:xfrm>
            <a:off x="1905000" y="4114800"/>
            <a:ext cx="8153400" cy="1865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90563" indent="-690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48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b="1" i="1" dirty="0">
                <a:solidFill>
                  <a:schemeClr val="accent2"/>
                </a:solidFill>
              </a:rPr>
              <a:t>Ex.</a:t>
            </a:r>
            <a:r>
              <a:rPr lang="en-US" altLang="en-US" sz="3200" i="1" dirty="0">
                <a:solidFill>
                  <a:srgbClr val="009999"/>
                </a:solidFill>
              </a:rPr>
              <a:t> 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4</a:t>
            </a:r>
            <a:r>
              <a:rPr lang="en-US" altLang="en-US" sz="3200" i="1" dirty="0">
                <a:solidFill>
                  <a:srgbClr val="009999"/>
                </a:solidFill>
              </a:rPr>
              <a:t>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/2) + </a:t>
            </a:r>
            <a:r>
              <a:rPr lang="en-US" altLang="en-US" sz="3200" i="1" dirty="0" smtClean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 smtClean="0">
                <a:solidFill>
                  <a:srgbClr val="009999"/>
                </a:solidFill>
              </a:rPr>
              <a:t>2</a:t>
            </a:r>
            <a:r>
              <a:rPr lang="en-US" altLang="en-US" sz="3200" i="1" dirty="0">
                <a:solidFill>
                  <a:srgbClr val="009999"/>
                </a:solidFill>
              </a:rPr>
              <a:t>	a =</a:t>
            </a:r>
            <a:r>
              <a:rPr lang="en-US" altLang="en-US" sz="3200" dirty="0">
                <a:solidFill>
                  <a:srgbClr val="009999"/>
                </a:solidFill>
              </a:rPr>
              <a:t> 4</a:t>
            </a:r>
            <a:r>
              <a:rPr lang="en-US" altLang="en-US" sz="3200" dirty="0"/>
              <a:t>, </a:t>
            </a:r>
            <a:r>
              <a:rPr lang="en-US" altLang="en-US" sz="3200" i="1" dirty="0">
                <a:solidFill>
                  <a:srgbClr val="009999"/>
                </a:solidFill>
              </a:rPr>
              <a:t>b</a:t>
            </a:r>
            <a:r>
              <a:rPr lang="en-US" altLang="en-US" sz="3200" dirty="0">
                <a:solidFill>
                  <a:srgbClr val="009999"/>
                </a:solidFill>
              </a:rPr>
              <a:t> = 2 </a:t>
            </a:r>
            <a:r>
              <a:rPr lang="en-US" altLang="en-US" sz="3200" dirty="0">
                <a:sym typeface="Symbol" panose="05050102010706020507" pitchFamily="18" charset="2"/>
              </a:rPr>
              <a:t></a:t>
            </a:r>
            <a:r>
              <a:rPr lang="en-US" altLang="en-US" sz="3200" dirty="0"/>
              <a:t> </a:t>
            </a:r>
            <a:r>
              <a:rPr lang="en-US" altLang="en-US" sz="3200" i="1" dirty="0" err="1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 err="1">
                <a:solidFill>
                  <a:srgbClr val="009999"/>
                </a:solidFill>
              </a:rPr>
              <a:t>log</a:t>
            </a:r>
            <a:r>
              <a:rPr lang="en-US" altLang="en-US" sz="3200" i="1" baseline="16000" dirty="0" err="1">
                <a:solidFill>
                  <a:srgbClr val="009999"/>
                </a:solidFill>
              </a:rPr>
              <a:t>b</a:t>
            </a:r>
            <a:r>
              <a:rPr lang="en-US" altLang="en-US" sz="3200" i="1" baseline="30000" dirty="0" err="1">
                <a:solidFill>
                  <a:srgbClr val="009999"/>
                </a:solidFill>
              </a:rPr>
              <a:t>a</a:t>
            </a:r>
            <a:r>
              <a:rPr lang="en-US" altLang="en-US" sz="3200" i="1" baseline="30000" dirty="0">
                <a:solidFill>
                  <a:srgbClr val="009999"/>
                </a:solidFill>
              </a:rPr>
              <a:t> </a:t>
            </a:r>
            <a:r>
              <a:rPr lang="en-US" altLang="en-US" sz="3200" dirty="0">
                <a:solidFill>
                  <a:srgbClr val="009999"/>
                </a:solidFill>
              </a:rPr>
              <a:t>=</a:t>
            </a:r>
            <a:r>
              <a:rPr lang="en-US" altLang="en-US" sz="3200" dirty="0"/>
              <a:t> 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2</a:t>
            </a:r>
            <a:r>
              <a:rPr lang="en-US" altLang="en-US" sz="3200" dirty="0"/>
              <a:t>; </a:t>
            </a:r>
            <a:r>
              <a:rPr lang="en-US" altLang="en-US" sz="3200" i="1" dirty="0">
                <a:solidFill>
                  <a:srgbClr val="009999"/>
                </a:solidFill>
              </a:rPr>
              <a:t>f</a:t>
            </a:r>
            <a:r>
              <a:rPr lang="en-US" altLang="en-US" sz="1800" dirty="0">
                <a:solidFill>
                  <a:srgbClr val="009999"/>
                </a:solidFill>
              </a:rPr>
              <a:t> 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2</a:t>
            </a:r>
            <a:r>
              <a:rPr lang="en-US" altLang="en-US" sz="3200" i="1" dirty="0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 dirty="0"/>
              <a:t>	 </a:t>
            </a:r>
            <a:r>
              <a:rPr lang="en-US" altLang="en-US" sz="3200" b="1" dirty="0"/>
              <a:t>C</a:t>
            </a:r>
            <a:r>
              <a:rPr lang="en-US" altLang="en-US" b="1" dirty="0"/>
              <a:t>ASE</a:t>
            </a:r>
            <a:r>
              <a:rPr lang="en-US" altLang="en-US" sz="3200" b="1" dirty="0"/>
              <a:t> 2</a:t>
            </a:r>
            <a:r>
              <a:rPr lang="en-US" altLang="en-US" sz="3200" dirty="0"/>
              <a:t>: </a:t>
            </a:r>
            <a:r>
              <a:rPr lang="en-US" altLang="en-US" sz="3200" i="1" dirty="0">
                <a:solidFill>
                  <a:srgbClr val="009999"/>
                </a:solidFill>
              </a:rPr>
              <a:t>f</a:t>
            </a:r>
            <a:r>
              <a:rPr lang="en-US" altLang="en-US" sz="1600" dirty="0">
                <a:solidFill>
                  <a:srgbClr val="009999"/>
                </a:solidFill>
              </a:rPr>
              <a:t> 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2</a:t>
            </a:r>
            <a:r>
              <a:rPr lang="en-US" altLang="en-US" sz="3200" dirty="0">
                <a:solidFill>
                  <a:srgbClr val="009999"/>
                </a:solidFill>
              </a:rPr>
              <a:t>lg</a:t>
            </a:r>
            <a:r>
              <a:rPr lang="en-US" altLang="en-US" sz="3200" baseline="30000" dirty="0">
                <a:solidFill>
                  <a:srgbClr val="009999"/>
                </a:solidFill>
              </a:rPr>
              <a:t>0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</a:t>
            </a:r>
            <a:r>
              <a:rPr lang="en-US" altLang="en-US" sz="3200" dirty="0"/>
              <a:t>, that is, </a:t>
            </a:r>
            <a:r>
              <a:rPr lang="en-US" altLang="en-US" sz="3200" i="1" dirty="0">
                <a:solidFill>
                  <a:srgbClr val="009999"/>
                </a:solidFill>
              </a:rPr>
              <a:t>k </a:t>
            </a:r>
            <a:r>
              <a:rPr lang="en-US" altLang="en-US" sz="3200" dirty="0">
                <a:solidFill>
                  <a:srgbClr val="009999"/>
                </a:solidFill>
              </a:rPr>
              <a:t>= 0</a:t>
            </a:r>
            <a:r>
              <a:rPr lang="en-US" altLang="en-US" sz="3200" dirty="0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dirty="0"/>
              <a:t>	</a:t>
            </a:r>
            <a:r>
              <a:rPr lang="en-US" altLang="en-US" sz="3200" dirty="0">
                <a:sym typeface="Symbol" panose="05050102010706020507" pitchFamily="18" charset="2"/>
              </a:rPr>
              <a:t> </a:t>
            </a:r>
            <a:r>
              <a:rPr lang="en-US" altLang="en-US" sz="3200" i="1" dirty="0">
                <a:solidFill>
                  <a:srgbClr val="009999"/>
                </a:solidFill>
              </a:rPr>
              <a:t>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2</a:t>
            </a:r>
            <a:r>
              <a:rPr lang="en-US" altLang="en-US" sz="3200" dirty="0">
                <a:solidFill>
                  <a:srgbClr val="009999"/>
                </a:solidFill>
              </a:rPr>
              <a:t>lg</a:t>
            </a:r>
            <a:r>
              <a:rPr lang="en-US" altLang="en-US" sz="1800" dirty="0">
                <a:solidFill>
                  <a:srgbClr val="009999"/>
                </a:solidFill>
              </a:rPr>
              <a:t> 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</a:t>
            </a:r>
            <a:r>
              <a:rPr lang="en-US" alt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540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Examples</a:t>
            </a:r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1905000" y="1828800"/>
            <a:ext cx="8763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endParaRPr lang="en-US" altLang="en-US"/>
          </a:p>
        </p:txBody>
      </p:sp>
      <p:sp>
        <p:nvSpPr>
          <p:cNvPr id="89092" name="Text Box 4"/>
          <p:cNvSpPr txBox="1">
            <a:spLocks noChangeArrowheads="1"/>
          </p:cNvSpPr>
          <p:nvPr/>
        </p:nvSpPr>
        <p:spPr bwMode="auto">
          <a:xfrm>
            <a:off x="1905000" y="1600200"/>
            <a:ext cx="8153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90563" indent="-6905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8048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91916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b="1" i="1" dirty="0">
                <a:solidFill>
                  <a:schemeClr val="accent2"/>
                </a:solidFill>
              </a:rPr>
              <a:t>Ex.</a:t>
            </a:r>
            <a:r>
              <a:rPr lang="en-US" altLang="en-US" sz="3200" i="1" dirty="0">
                <a:solidFill>
                  <a:srgbClr val="009999"/>
                </a:solidFill>
              </a:rPr>
              <a:t> 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4</a:t>
            </a:r>
            <a:r>
              <a:rPr lang="en-US" altLang="en-US" sz="3200" i="1" dirty="0">
                <a:solidFill>
                  <a:srgbClr val="009999"/>
                </a:solidFill>
              </a:rPr>
              <a:t>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/2) + 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3</a:t>
            </a:r>
            <a:endParaRPr lang="en-US" altLang="en-US" sz="3200" i="1" dirty="0"/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 dirty="0">
                <a:solidFill>
                  <a:srgbClr val="009999"/>
                </a:solidFill>
              </a:rPr>
              <a:t>	a =</a:t>
            </a:r>
            <a:r>
              <a:rPr lang="en-US" altLang="en-US" sz="3200" dirty="0">
                <a:solidFill>
                  <a:srgbClr val="009999"/>
                </a:solidFill>
              </a:rPr>
              <a:t> 4</a:t>
            </a:r>
            <a:r>
              <a:rPr lang="en-US" altLang="en-US" sz="3200" dirty="0"/>
              <a:t>, </a:t>
            </a:r>
            <a:r>
              <a:rPr lang="en-US" altLang="en-US" sz="3200" i="1" dirty="0">
                <a:solidFill>
                  <a:srgbClr val="009999"/>
                </a:solidFill>
              </a:rPr>
              <a:t>b</a:t>
            </a:r>
            <a:r>
              <a:rPr lang="en-US" altLang="en-US" sz="3200" dirty="0">
                <a:solidFill>
                  <a:srgbClr val="009999"/>
                </a:solidFill>
              </a:rPr>
              <a:t> = 2 </a:t>
            </a:r>
            <a:r>
              <a:rPr lang="en-US" altLang="en-US" sz="3200" dirty="0">
                <a:sym typeface="Symbol" panose="05050102010706020507" pitchFamily="18" charset="2"/>
              </a:rPr>
              <a:t></a:t>
            </a:r>
            <a:r>
              <a:rPr lang="en-US" altLang="en-US" sz="3200" dirty="0"/>
              <a:t> </a:t>
            </a:r>
            <a:r>
              <a:rPr lang="en-US" altLang="en-US" sz="3200" i="1" dirty="0" err="1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 err="1">
                <a:solidFill>
                  <a:srgbClr val="009999"/>
                </a:solidFill>
              </a:rPr>
              <a:t>log</a:t>
            </a:r>
            <a:r>
              <a:rPr lang="en-US" altLang="en-US" sz="3200" i="1" baseline="16000" dirty="0" err="1">
                <a:solidFill>
                  <a:srgbClr val="009999"/>
                </a:solidFill>
              </a:rPr>
              <a:t>b</a:t>
            </a:r>
            <a:r>
              <a:rPr lang="en-US" altLang="en-US" sz="3200" i="1" baseline="30000" dirty="0" err="1">
                <a:solidFill>
                  <a:srgbClr val="009999"/>
                </a:solidFill>
              </a:rPr>
              <a:t>a</a:t>
            </a:r>
            <a:r>
              <a:rPr lang="en-US" altLang="en-US" sz="3200" i="1" baseline="30000" dirty="0">
                <a:solidFill>
                  <a:srgbClr val="009999"/>
                </a:solidFill>
              </a:rPr>
              <a:t> </a:t>
            </a:r>
            <a:r>
              <a:rPr lang="en-US" altLang="en-US" sz="3200" dirty="0">
                <a:solidFill>
                  <a:srgbClr val="009999"/>
                </a:solidFill>
              </a:rPr>
              <a:t>=</a:t>
            </a:r>
            <a:r>
              <a:rPr lang="en-US" altLang="en-US" sz="3200" dirty="0"/>
              <a:t> 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2</a:t>
            </a:r>
            <a:r>
              <a:rPr lang="en-US" altLang="en-US" sz="3200" dirty="0"/>
              <a:t>; </a:t>
            </a:r>
            <a:r>
              <a:rPr lang="en-US" altLang="en-US" sz="3200" i="1" dirty="0">
                <a:solidFill>
                  <a:srgbClr val="009999"/>
                </a:solidFill>
              </a:rPr>
              <a:t>f</a:t>
            </a:r>
            <a:r>
              <a:rPr lang="en-US" altLang="en-US" sz="1800" dirty="0">
                <a:solidFill>
                  <a:srgbClr val="009999"/>
                </a:solidFill>
              </a:rPr>
              <a:t> 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3</a:t>
            </a:r>
            <a:r>
              <a:rPr lang="en-US" altLang="en-US" sz="3200" i="1" dirty="0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i="1" dirty="0"/>
              <a:t>	 </a:t>
            </a:r>
            <a:r>
              <a:rPr lang="en-US" altLang="en-US" sz="3200" b="1" dirty="0"/>
              <a:t>C</a:t>
            </a:r>
            <a:r>
              <a:rPr lang="en-US" altLang="en-US" b="1" dirty="0"/>
              <a:t>ASE</a:t>
            </a:r>
            <a:r>
              <a:rPr lang="en-US" altLang="en-US" sz="3200" b="1" dirty="0"/>
              <a:t> 3</a:t>
            </a:r>
            <a:r>
              <a:rPr lang="en-US" altLang="en-US" sz="3200" dirty="0"/>
              <a:t>: </a:t>
            </a:r>
            <a:r>
              <a:rPr lang="en-US" altLang="en-US" sz="3200" i="1" dirty="0">
                <a:solidFill>
                  <a:srgbClr val="009999"/>
                </a:solidFill>
              </a:rPr>
              <a:t>f</a:t>
            </a:r>
            <a:r>
              <a:rPr lang="en-US" altLang="en-US" sz="1600" dirty="0">
                <a:solidFill>
                  <a:srgbClr val="009999"/>
                </a:solidFill>
              </a:rPr>
              <a:t> 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W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2</a:t>
            </a:r>
            <a:r>
              <a:rPr lang="en-US" altLang="en-US" sz="3200" i="1" baseline="30000" dirty="0">
                <a:solidFill>
                  <a:srgbClr val="009999"/>
                </a:solidFill>
              </a:rPr>
              <a:t> </a:t>
            </a:r>
            <a:r>
              <a:rPr lang="en-US" altLang="en-US" sz="3200" baseline="30000" dirty="0">
                <a:solidFill>
                  <a:srgbClr val="009999"/>
                </a:solidFill>
              </a:rPr>
              <a:t>+ </a:t>
            </a:r>
            <a:r>
              <a:rPr lang="en-US" altLang="en-US" sz="3200" baseline="30000" dirty="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 dirty="0">
                <a:solidFill>
                  <a:srgbClr val="009999"/>
                </a:solidFill>
              </a:rPr>
              <a:t>)</a:t>
            </a:r>
            <a:r>
              <a:rPr lang="en-US" altLang="en-US" sz="3200" dirty="0"/>
              <a:t> for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e</a:t>
            </a:r>
            <a:r>
              <a:rPr lang="en-US" altLang="en-US" sz="3200" dirty="0">
                <a:solidFill>
                  <a:srgbClr val="009999"/>
                </a:solidFill>
              </a:rPr>
              <a:t> = 1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dirty="0">
                <a:solidFill>
                  <a:srgbClr val="009999"/>
                </a:solidFill>
              </a:rPr>
              <a:t>	</a:t>
            </a:r>
            <a:r>
              <a:rPr lang="en-US" altLang="en-US" sz="3200" b="1" i="1" dirty="0"/>
              <a:t>and</a:t>
            </a:r>
            <a:r>
              <a:rPr lang="en-US" altLang="en-US" sz="3200" dirty="0"/>
              <a:t> </a:t>
            </a:r>
            <a:r>
              <a:rPr lang="en-US" altLang="en-US" sz="3200" dirty="0" smtClean="0">
                <a:solidFill>
                  <a:srgbClr val="009999"/>
                </a:solidFill>
              </a:rPr>
              <a:t>4(</a:t>
            </a:r>
            <a:r>
              <a:rPr lang="en-US" altLang="en-US" sz="3200" i="1" dirty="0" smtClean="0">
                <a:solidFill>
                  <a:srgbClr val="009999"/>
                </a:solidFill>
              </a:rPr>
              <a:t>n</a:t>
            </a:r>
            <a:r>
              <a:rPr lang="en-US" altLang="en-US" sz="3200" dirty="0" smtClean="0">
                <a:solidFill>
                  <a:srgbClr val="009999"/>
                </a:solidFill>
              </a:rPr>
              <a:t>/2)</a:t>
            </a:r>
            <a:r>
              <a:rPr lang="en-US" altLang="en-US" sz="3200" baseline="30000" dirty="0" smtClean="0">
                <a:solidFill>
                  <a:srgbClr val="009999"/>
                </a:solidFill>
              </a:rPr>
              <a:t>3</a:t>
            </a:r>
            <a:r>
              <a:rPr lang="en-US" altLang="en-US" sz="3200" dirty="0" smtClean="0">
                <a:solidFill>
                  <a:srgbClr val="009999"/>
                </a:solidFill>
              </a:rPr>
              <a:t>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£</a:t>
            </a:r>
            <a:r>
              <a:rPr lang="en-US" altLang="en-US" sz="3200" dirty="0">
                <a:solidFill>
                  <a:srgbClr val="009999"/>
                </a:solidFill>
              </a:rPr>
              <a:t> </a:t>
            </a:r>
            <a:r>
              <a:rPr lang="en-US" altLang="en-US" sz="3200" i="1" dirty="0">
                <a:solidFill>
                  <a:srgbClr val="009999"/>
                </a:solidFill>
              </a:rPr>
              <a:t>cn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3 </a:t>
            </a:r>
            <a:r>
              <a:rPr lang="en-US" altLang="en-US" sz="3200" dirty="0"/>
              <a:t>(reg. cond.) for </a:t>
            </a:r>
            <a:r>
              <a:rPr lang="en-US" altLang="en-US" sz="3200" i="1" dirty="0">
                <a:solidFill>
                  <a:srgbClr val="009999"/>
                </a:solidFill>
              </a:rPr>
              <a:t>c</a:t>
            </a:r>
            <a:r>
              <a:rPr lang="en-US" altLang="en-US" sz="3200" dirty="0">
                <a:solidFill>
                  <a:srgbClr val="009999"/>
                </a:solidFill>
              </a:rPr>
              <a:t> = 1/2</a:t>
            </a:r>
            <a:r>
              <a:rPr lang="en-US" altLang="en-US" sz="3200" dirty="0"/>
              <a:t>.</a:t>
            </a:r>
          </a:p>
          <a:p>
            <a:pPr>
              <a:lnSpc>
                <a:spcPct val="90000"/>
              </a:lnSpc>
              <a:buClr>
                <a:schemeClr val="accent2"/>
              </a:buClr>
            </a:pPr>
            <a:r>
              <a:rPr lang="en-US" altLang="en-US" sz="3200" dirty="0"/>
              <a:t>	</a:t>
            </a:r>
            <a:r>
              <a:rPr lang="en-US" altLang="en-US" sz="3200" dirty="0">
                <a:sym typeface="Symbol" panose="05050102010706020507" pitchFamily="18" charset="2"/>
              </a:rPr>
              <a:t> </a:t>
            </a:r>
            <a:r>
              <a:rPr lang="en-US" altLang="en-US" sz="3200" i="1" dirty="0">
                <a:solidFill>
                  <a:srgbClr val="009999"/>
                </a:solidFill>
              </a:rPr>
              <a:t>T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dirty="0">
                <a:solidFill>
                  <a:srgbClr val="009999"/>
                </a:solidFill>
              </a:rPr>
              <a:t>) = </a:t>
            </a:r>
            <a:r>
              <a:rPr lang="en-US" altLang="en-US" sz="3200" dirty="0">
                <a:solidFill>
                  <a:srgbClr val="009999"/>
                </a:solidFill>
                <a:latin typeface="Symbol" panose="05050102010706020507" pitchFamily="18" charset="2"/>
              </a:rPr>
              <a:t>Q</a:t>
            </a:r>
            <a:r>
              <a:rPr lang="en-US" altLang="en-US" sz="3200" dirty="0">
                <a:solidFill>
                  <a:srgbClr val="009999"/>
                </a:solidFill>
              </a:rPr>
              <a:t>(</a:t>
            </a:r>
            <a:r>
              <a:rPr lang="en-US" altLang="en-US" sz="3200" i="1" dirty="0">
                <a:solidFill>
                  <a:srgbClr val="009999"/>
                </a:solidFill>
              </a:rPr>
              <a:t>n</a:t>
            </a:r>
            <a:r>
              <a:rPr lang="en-US" altLang="en-US" sz="3200" baseline="30000" dirty="0">
                <a:solidFill>
                  <a:srgbClr val="009999"/>
                </a:solidFill>
              </a:rPr>
              <a:t>3</a:t>
            </a:r>
            <a:r>
              <a:rPr lang="en-US" altLang="en-US" sz="3200" dirty="0">
                <a:solidFill>
                  <a:srgbClr val="009999"/>
                </a:solidFill>
              </a:rPr>
              <a:t>)</a:t>
            </a:r>
            <a:r>
              <a:rPr lang="en-US" alt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572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Consider the recurrence: T(n) = 2T(n/2) + n </a:t>
                </a:r>
                <a:r>
                  <a:rPr lang="en-US" dirty="0" err="1" smtClean="0"/>
                  <a:t>lg</a:t>
                </a:r>
                <a:r>
                  <a:rPr lang="en-US" dirty="0" smtClean="0"/>
                  <a:t> n</a:t>
                </a:r>
              </a:p>
              <a:p>
                <a:r>
                  <a:rPr lang="en-US" dirty="0" smtClean="0"/>
                  <a:t>a = 2, b = 2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⇒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 smtClean="0"/>
              </a:p>
              <a:p>
                <a:r>
                  <a:rPr lang="en-US" dirty="0" smtClean="0"/>
                  <a:t>So one might think that f(n) (= n </a:t>
                </a:r>
                <a:r>
                  <a:rPr lang="en-US" dirty="0" err="1" smtClean="0"/>
                  <a:t>lg</a:t>
                </a:r>
                <a:r>
                  <a:rPr lang="en-US" dirty="0" smtClean="0"/>
                  <a:t> n) is larger than n and hence case 3 applies here.</a:t>
                </a:r>
              </a:p>
              <a:p>
                <a:r>
                  <a:rPr lang="en-US" dirty="0" smtClean="0"/>
                  <a:t>But actually f(n) needs to be </a:t>
                </a:r>
                <a:r>
                  <a:rPr lang="en-US" dirty="0" err="1" smtClean="0"/>
                  <a:t>polynomially</a:t>
                </a:r>
                <a:r>
                  <a:rPr lang="en-US" dirty="0" smtClean="0"/>
                  <a:t> larger than n for case 3 to be applied: </a:t>
                </a:r>
                <a:r>
                  <a:rPr lang="en-US" dirty="0" smtClean="0">
                    <a:sym typeface="Symbol" panose="05050102010706020507" pitchFamily="18" charset="2"/>
                  </a:rPr>
                  <a:t> &gt; 0.</a:t>
                </a:r>
              </a:p>
              <a:p>
                <a:r>
                  <a:rPr lang="en-US" dirty="0" smtClean="0">
                    <a:sym typeface="Symbol" panose="05050102010706020507" pitchFamily="18" charset="2"/>
                  </a:rPr>
                  <a:t>SO, Master Theorem does not apply here.</a:t>
                </a:r>
                <a:endParaRPr lang="en-US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6040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796</Words>
  <Application>Microsoft Office PowerPoint</Application>
  <PresentationFormat>Widescreen</PresentationFormat>
  <Paragraphs>168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Cambria Math</vt:lpstr>
      <vt:lpstr>Symbol</vt:lpstr>
      <vt:lpstr>Times New Roman</vt:lpstr>
      <vt:lpstr>Office Theme</vt:lpstr>
      <vt:lpstr>Equation</vt:lpstr>
      <vt:lpstr>Recurrence Analysis</vt:lpstr>
      <vt:lpstr>What is a recurrence?</vt:lpstr>
      <vt:lpstr>Substitution Methods for Solving Recurrence</vt:lpstr>
      <vt:lpstr>Substitution method</vt:lpstr>
      <vt:lpstr>Example (continued)</vt:lpstr>
      <vt:lpstr>A tighter upper bound?</vt:lpstr>
      <vt:lpstr>A tighter upper bound!</vt:lpstr>
      <vt:lpstr>Recursion-tree method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Example of recursion tree</vt:lpstr>
      <vt:lpstr>The master method</vt:lpstr>
      <vt:lpstr>Three common cases</vt:lpstr>
      <vt:lpstr>Three common cases</vt:lpstr>
      <vt:lpstr>Three common cases (cont.)</vt:lpstr>
      <vt:lpstr>Examples</vt:lpstr>
      <vt:lpstr>Examples</vt:lpstr>
      <vt:lpstr>Non-Example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Recurrence Analysis</dc:title>
  <dc:creator>user</dc:creator>
  <cp:lastModifiedBy>user</cp:lastModifiedBy>
  <cp:revision>16</cp:revision>
  <dcterms:created xsi:type="dcterms:W3CDTF">2022-01-08T10:39:11Z</dcterms:created>
  <dcterms:modified xsi:type="dcterms:W3CDTF">2022-01-09T08:29:43Z</dcterms:modified>
</cp:coreProperties>
</file>