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60" r:id="rId2"/>
    <p:sldId id="257" r:id="rId3"/>
    <p:sldId id="263" r:id="rId4"/>
    <p:sldId id="265" r:id="rId5"/>
    <p:sldId id="261" r:id="rId6"/>
    <p:sldId id="262" r:id="rId7"/>
    <p:sldId id="266" r:id="rId8"/>
    <p:sldId id="292" r:id="rId9"/>
    <p:sldId id="295" r:id="rId10"/>
    <p:sldId id="293" r:id="rId11"/>
    <p:sldId id="294" r:id="rId12"/>
    <p:sldId id="258" r:id="rId13"/>
    <p:sldId id="267" r:id="rId14"/>
    <p:sldId id="268" r:id="rId15"/>
    <p:sldId id="269" r:id="rId16"/>
    <p:sldId id="270" r:id="rId17"/>
    <p:sldId id="271" r:id="rId18"/>
    <p:sldId id="272" r:id="rId19"/>
    <p:sldId id="274" r:id="rId20"/>
    <p:sldId id="275" r:id="rId21"/>
    <p:sldId id="277" r:id="rId22"/>
    <p:sldId id="276" r:id="rId23"/>
    <p:sldId id="278" r:id="rId24"/>
    <p:sldId id="279"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46" d="100"/>
          <a:sy n="46" d="100"/>
        </p:scale>
        <p:origin x="131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0C709E-49C7-471B-8690-233A750113D0}" type="datetimeFigureOut">
              <a:rPr lang="en-US" smtClean="0"/>
              <a:pPr/>
              <a:t>11/28/2021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300921-1AEB-4668-A863-59A9421F452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7"/>
          <p:cNvSpPr>
            <a:spLocks noGrp="1" noChangeArrowheads="1"/>
          </p:cNvSpPr>
          <p:nvPr>
            <p:ph type="sldNum" sz="quarter" idx="5"/>
          </p:nvPr>
        </p:nvSpPr>
        <p:spPr>
          <a:noFill/>
        </p:spPr>
        <p:txBody>
          <a:bodyPr/>
          <a:lstStyle/>
          <a:p>
            <a:fld id="{C44E9CAB-3968-405E-AD92-B23B21BB9513}" type="slidenum">
              <a:rPr lang="en-US" smtClean="0"/>
              <a:pPr/>
              <a:t>2</a:t>
            </a:fld>
            <a:endParaRPr lang="en-US" smtClean="0"/>
          </a:p>
        </p:txBody>
      </p:sp>
      <p:sp>
        <p:nvSpPr>
          <p:cNvPr id="458755" name="Rectangle 2"/>
          <p:cNvSpPr>
            <a:spLocks noGrp="1" noRot="1" noChangeAspect="1" noChangeArrowheads="1" noTextEdit="1"/>
          </p:cNvSpPr>
          <p:nvPr>
            <p:ph type="sldImg"/>
          </p:nvPr>
        </p:nvSpPr>
        <p:spPr>
          <a:solidFill>
            <a:srgbClr val="FFFFFF"/>
          </a:solidFill>
          <a:ln/>
        </p:spPr>
      </p:sp>
      <p:sp>
        <p:nvSpPr>
          <p:cNvPr id="458756" name="Rectangle 3"/>
          <p:cNvSpPr>
            <a:spLocks noGrp="1" noChangeArrowheads="1"/>
          </p:cNvSpPr>
          <p:nvPr>
            <p:ph type="body" idx="1"/>
          </p:nvPr>
        </p:nvSpPr>
        <p:spPr>
          <a:solidFill>
            <a:srgbClr val="FFFFFF"/>
          </a:solidFill>
          <a:ln>
            <a:solidFill>
              <a:srgbClr val="000000"/>
            </a:solidFill>
          </a:ln>
        </p:spPr>
        <p:txBody>
          <a:bodyPr/>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headEnd/>
            <a:tailEnd/>
          </a:ln>
        </p:spPr>
      </p:sp>
      <p:sp>
        <p:nvSpPr>
          <p:cNvPr id="60419" name="Notes Placeholder 2"/>
          <p:cNvSpPr>
            <a:spLocks noGrp="1"/>
          </p:cNvSpPr>
          <p:nvPr>
            <p:ph type="body" idx="1"/>
          </p:nvPr>
        </p:nvSpPr>
        <p:spPr bwMode="auto">
          <a:noFill/>
        </p:spPr>
        <p:txBody>
          <a:bodyPr wrap="square" numCol="1" anchor="t" anchorCtr="0" compatLnSpc="1">
            <a:prstTxWarp prst="textNoShape">
              <a:avLst/>
            </a:prstTxWarp>
          </a:bodyPr>
          <a:lstStyle/>
          <a:p>
            <a:r>
              <a:rPr lang="en-CA" dirty="0" smtClean="0"/>
              <a:t>Alternative terms are also shown here: front – head; back = tail. </a:t>
            </a:r>
          </a:p>
        </p:txBody>
      </p:sp>
      <p:sp>
        <p:nvSpPr>
          <p:cNvPr id="4" name="Slide Number Placeholder 3"/>
          <p:cNvSpPr>
            <a:spLocks noGrp="1"/>
          </p:cNvSpPr>
          <p:nvPr>
            <p:ph type="sldNum" sz="quarter" idx="5"/>
          </p:nvPr>
        </p:nvSpPr>
        <p:spPr/>
        <p:txBody>
          <a:bodyPr/>
          <a:lstStyle/>
          <a:p>
            <a:pPr>
              <a:defRPr/>
            </a:pPr>
            <a:fld id="{83B92F02-4D47-43FE-9B63-7C0A7BFACBA0}" type="slidenum">
              <a:rPr lang="en-CA" smtClean="0"/>
              <a:pPr>
                <a:defRPr/>
              </a:pPr>
              <a:t>3</a:t>
            </a:fld>
            <a:endParaRPr lang="en-CA"/>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p:spPr>
      </p:sp>
      <p:sp>
        <p:nvSpPr>
          <p:cNvPr id="6349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CA" smtClean="0"/>
          </a:p>
        </p:txBody>
      </p:sp>
      <p:sp>
        <p:nvSpPr>
          <p:cNvPr id="4" name="Slide Number Placeholder 3"/>
          <p:cNvSpPr>
            <a:spLocks noGrp="1"/>
          </p:cNvSpPr>
          <p:nvPr>
            <p:ph type="sldNum" sz="quarter" idx="5"/>
          </p:nvPr>
        </p:nvSpPr>
        <p:spPr/>
        <p:txBody>
          <a:bodyPr/>
          <a:lstStyle/>
          <a:p>
            <a:pPr>
              <a:defRPr/>
            </a:pPr>
            <a:fld id="{8607079B-8668-4B40-AF04-6FBA8CE0DECF}" type="slidenum">
              <a:rPr lang="en-CA" smtClean="0"/>
              <a:pPr>
                <a:defRPr/>
              </a:pPr>
              <a:t>4</a:t>
            </a:fld>
            <a:endParaRPr lang="en-CA"/>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Red one is going out.</a:t>
            </a:r>
            <a:endParaRPr lang="en-US" dirty="0"/>
          </a:p>
        </p:txBody>
      </p:sp>
      <p:sp>
        <p:nvSpPr>
          <p:cNvPr id="4" name="Slide Number Placeholder 3"/>
          <p:cNvSpPr>
            <a:spLocks noGrp="1"/>
          </p:cNvSpPr>
          <p:nvPr>
            <p:ph type="sldNum" sz="quarter" idx="10"/>
          </p:nvPr>
        </p:nvSpPr>
        <p:spPr/>
        <p:txBody>
          <a:bodyPr/>
          <a:lstStyle/>
          <a:p>
            <a:fld id="{95300921-1AEB-4668-A863-59A9421F4520}" type="slidenum">
              <a:rPr lang="en-US" smtClean="0"/>
              <a:pPr/>
              <a:t>7</a:t>
            </a:fld>
            <a:endParaRPr lang="en-US"/>
          </a:p>
        </p:txBody>
      </p:sp>
    </p:spTree>
    <p:extLst>
      <p:ext uri="{BB962C8B-B14F-4D97-AF65-F5344CB8AC3E}">
        <p14:creationId xmlns:p14="http://schemas.microsoft.com/office/powerpoint/2010/main" val="37567223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Green</a:t>
            </a:r>
            <a:r>
              <a:rPr lang="en-US" baseline="0" dirty="0" smtClean="0"/>
              <a:t> one needs to go in…</a:t>
            </a:r>
            <a:endParaRPr lang="en-US" dirty="0"/>
          </a:p>
        </p:txBody>
      </p:sp>
      <p:sp>
        <p:nvSpPr>
          <p:cNvPr id="4" name="Slide Number Placeholder 3"/>
          <p:cNvSpPr>
            <a:spLocks noGrp="1"/>
          </p:cNvSpPr>
          <p:nvPr>
            <p:ph type="sldNum" sz="quarter" idx="10"/>
          </p:nvPr>
        </p:nvSpPr>
        <p:spPr/>
        <p:txBody>
          <a:bodyPr/>
          <a:lstStyle/>
          <a:p>
            <a:fld id="{95300921-1AEB-4668-A863-59A9421F4520}" type="slidenum">
              <a:rPr lang="en-US" smtClean="0"/>
              <a:pPr/>
              <a:t>8</a:t>
            </a:fld>
            <a:endParaRPr lang="en-US"/>
          </a:p>
        </p:txBody>
      </p:sp>
    </p:spTree>
    <p:extLst>
      <p:ext uri="{BB962C8B-B14F-4D97-AF65-F5344CB8AC3E}">
        <p14:creationId xmlns:p14="http://schemas.microsoft.com/office/powerpoint/2010/main" val="32636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Red one is going out.</a:t>
            </a:r>
            <a:endParaRPr lang="en-US" dirty="0"/>
          </a:p>
        </p:txBody>
      </p:sp>
      <p:sp>
        <p:nvSpPr>
          <p:cNvPr id="4" name="Slide Number Placeholder 3"/>
          <p:cNvSpPr>
            <a:spLocks noGrp="1"/>
          </p:cNvSpPr>
          <p:nvPr>
            <p:ph type="sldNum" sz="quarter" idx="10"/>
          </p:nvPr>
        </p:nvSpPr>
        <p:spPr/>
        <p:txBody>
          <a:bodyPr/>
          <a:lstStyle/>
          <a:p>
            <a:fld id="{95300921-1AEB-4668-A863-59A9421F4520}" type="slidenum">
              <a:rPr lang="en-US" smtClean="0"/>
              <a:pPr/>
              <a:t>10</a:t>
            </a:fld>
            <a:endParaRPr lang="en-US"/>
          </a:p>
        </p:txBody>
      </p:sp>
    </p:spTree>
    <p:extLst>
      <p:ext uri="{BB962C8B-B14F-4D97-AF65-F5344CB8AC3E}">
        <p14:creationId xmlns:p14="http://schemas.microsoft.com/office/powerpoint/2010/main" val="4040997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Green</a:t>
            </a:r>
            <a:r>
              <a:rPr lang="en-US" baseline="0" dirty="0" smtClean="0"/>
              <a:t> one needs to go in…</a:t>
            </a:r>
            <a:endParaRPr lang="en-US" dirty="0"/>
          </a:p>
        </p:txBody>
      </p:sp>
      <p:sp>
        <p:nvSpPr>
          <p:cNvPr id="4" name="Slide Number Placeholder 3"/>
          <p:cNvSpPr>
            <a:spLocks noGrp="1"/>
          </p:cNvSpPr>
          <p:nvPr>
            <p:ph type="sldNum" sz="quarter" idx="10"/>
          </p:nvPr>
        </p:nvSpPr>
        <p:spPr/>
        <p:txBody>
          <a:bodyPr/>
          <a:lstStyle/>
          <a:p>
            <a:fld id="{95300921-1AEB-4668-A863-59A9421F4520}" type="slidenum">
              <a:rPr lang="en-US" smtClean="0"/>
              <a:pPr/>
              <a:t>11</a:t>
            </a:fld>
            <a:endParaRPr lang="en-US"/>
          </a:p>
        </p:txBody>
      </p:sp>
    </p:spTree>
    <p:extLst>
      <p:ext uri="{BB962C8B-B14F-4D97-AF65-F5344CB8AC3E}">
        <p14:creationId xmlns:p14="http://schemas.microsoft.com/office/powerpoint/2010/main" val="1154466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7"/>
          <p:cNvSpPr>
            <a:spLocks noGrp="1" noChangeArrowheads="1"/>
          </p:cNvSpPr>
          <p:nvPr>
            <p:ph type="sldNum" sz="quarter" idx="5"/>
          </p:nvPr>
        </p:nvSpPr>
        <p:spPr>
          <a:noFill/>
        </p:spPr>
        <p:txBody>
          <a:bodyPr/>
          <a:lstStyle/>
          <a:p>
            <a:fld id="{8F66C3AA-861D-476C-B151-EEDF07E1B93C}" type="slidenum">
              <a:rPr lang="en-US" smtClean="0"/>
              <a:pPr/>
              <a:t>12</a:t>
            </a:fld>
            <a:endParaRPr lang="en-US" smtClean="0"/>
          </a:p>
        </p:txBody>
      </p:sp>
      <p:sp>
        <p:nvSpPr>
          <p:cNvPr id="459779" name="Rectangle 2"/>
          <p:cNvSpPr>
            <a:spLocks noGrp="1" noRot="1" noChangeAspect="1" noChangeArrowheads="1" noTextEdit="1"/>
          </p:cNvSpPr>
          <p:nvPr>
            <p:ph type="sldImg"/>
          </p:nvPr>
        </p:nvSpPr>
        <p:spPr>
          <a:solidFill>
            <a:srgbClr val="FFFFFF"/>
          </a:solidFill>
          <a:ln/>
        </p:spPr>
      </p:sp>
      <p:sp>
        <p:nvSpPr>
          <p:cNvPr id="459780" name="Rectangle 3"/>
          <p:cNvSpPr>
            <a:spLocks noGrp="1" noChangeArrowheads="1"/>
          </p:cNvSpPr>
          <p:nvPr>
            <p:ph type="body" idx="1"/>
          </p:nvPr>
        </p:nvSpPr>
        <p:spPr>
          <a:solidFill>
            <a:srgbClr val="FFFFFF"/>
          </a:solidFill>
          <a:ln>
            <a:solidFill>
              <a:srgbClr val="000000"/>
            </a:solidFill>
          </a:ln>
        </p:spPr>
        <p:txBody>
          <a:bodyPr/>
          <a:lstStyle/>
          <a:p>
            <a:r>
              <a:rPr lang="en-US" smtClean="0"/>
              <a:t>If we stick to the requirement that the queue elements be at the beginning </a:t>
            </a:r>
            <a:r>
              <a:rPr lang="en-US" i="1" smtClean="0"/>
              <a:t>n</a:t>
            </a:r>
            <a:r>
              <a:rPr lang="en-US" smtClean="0"/>
              <a:t> elements of the array, then either enqueue or dequeue must be </a:t>
            </a:r>
            <a:r>
              <a:rPr lang="en-US" smtClean="0">
                <a:sym typeface="Symbol" pitchFamily="26" charset="2"/>
              </a:rPr>
              <a:t></a:t>
            </a:r>
            <a:r>
              <a:rPr lang="en-US" smtClean="0"/>
              <a:t>(</a:t>
            </a:r>
            <a:r>
              <a:rPr lang="en-US" i="1" smtClean="0"/>
              <a:t>n</a:t>
            </a:r>
            <a:r>
              <a:rPr lang="en-US" smtClean="0"/>
              <a:t>).</a:t>
            </a:r>
          </a:p>
          <a:p>
            <a:endParaRPr lang="en-US" smtClean="0"/>
          </a:p>
          <a:p>
            <a:r>
              <a:rPr lang="en-US" smtClean="0"/>
              <a:t>Better is to let  the elements “drift” within the array.</a:t>
            </a:r>
          </a:p>
          <a:p>
            <a:endParaRPr lang="en-US" smtClean="0"/>
          </a:p>
          <a:p>
            <a:r>
              <a:rPr lang="en-US" smtClean="0"/>
              <a:t>Unfortunately, as items are added and removed, the queue “drifts” toward the end.  Eventually, there will be no space to the right of the queue, even though there is space in the array.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p:spPr>
      </p:sp>
      <p:sp>
        <p:nvSpPr>
          <p:cNvPr id="8192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CA" smtClean="0"/>
          </a:p>
        </p:txBody>
      </p:sp>
      <p:sp>
        <p:nvSpPr>
          <p:cNvPr id="4" name="Slide Number Placeholder 3"/>
          <p:cNvSpPr txBox="1">
            <a:spLocks noGrp="1"/>
          </p:cNvSpPr>
          <p:nvPr/>
        </p:nvSpPr>
        <p:spPr>
          <a:xfrm>
            <a:off x="3884613" y="8685213"/>
            <a:ext cx="2971800" cy="457200"/>
          </a:xfrm>
          <a:prstGeom prst="rect">
            <a:avLst/>
          </a:prstGeom>
          <a:noFill/>
        </p:spPr>
        <p:txBody>
          <a:bodyPr anchor="b"/>
          <a:lstStyle/>
          <a:p>
            <a:pPr algn="r" fontAlgn="auto">
              <a:spcBef>
                <a:spcPts val="0"/>
              </a:spcBef>
              <a:spcAft>
                <a:spcPts val="0"/>
              </a:spcAft>
              <a:defRPr/>
            </a:pPr>
            <a:fld id="{7A01797A-F08B-4EF6-93B7-D0F4141126BA}" type="slidenum">
              <a:rPr lang="en-CA" sz="1200">
                <a:latin typeface="+mn-lt"/>
                <a:cs typeface="+mn-cs"/>
              </a:rPr>
              <a:pPr algn="r" fontAlgn="auto">
                <a:spcBef>
                  <a:spcPts val="0"/>
                </a:spcBef>
                <a:spcAft>
                  <a:spcPts val="0"/>
                </a:spcAft>
                <a:defRPr/>
              </a:pPr>
              <a:t>14</a:t>
            </a:fld>
            <a:endParaRPr lang="en-CA" sz="1200">
              <a:latin typeface="+mn-lt"/>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p:spPr>
      </p:sp>
      <p:sp>
        <p:nvSpPr>
          <p:cNvPr id="8294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CA" smtClean="0"/>
          </a:p>
        </p:txBody>
      </p:sp>
      <p:sp>
        <p:nvSpPr>
          <p:cNvPr id="4" name="Slide Number Placeholder 3"/>
          <p:cNvSpPr txBox="1">
            <a:spLocks noGrp="1"/>
          </p:cNvSpPr>
          <p:nvPr/>
        </p:nvSpPr>
        <p:spPr>
          <a:xfrm>
            <a:off x="3884613" y="8685213"/>
            <a:ext cx="2971800" cy="457200"/>
          </a:xfrm>
          <a:prstGeom prst="rect">
            <a:avLst/>
          </a:prstGeom>
          <a:noFill/>
        </p:spPr>
        <p:txBody>
          <a:bodyPr anchor="b"/>
          <a:lstStyle/>
          <a:p>
            <a:pPr algn="r" fontAlgn="auto">
              <a:spcBef>
                <a:spcPts val="0"/>
              </a:spcBef>
              <a:spcAft>
                <a:spcPts val="0"/>
              </a:spcAft>
              <a:defRPr/>
            </a:pPr>
            <a:fld id="{85EEDA86-0996-4C1A-8A62-F222566B9E21}" type="slidenum">
              <a:rPr lang="en-CA" sz="1200">
                <a:latin typeface="+mn-lt"/>
                <a:cs typeface="+mn-cs"/>
              </a:rPr>
              <a:pPr algn="r" fontAlgn="auto">
                <a:spcBef>
                  <a:spcPts val="0"/>
                </a:spcBef>
                <a:spcAft>
                  <a:spcPts val="0"/>
                </a:spcAft>
                <a:defRPr/>
              </a:pPr>
              <a:t>15</a:t>
            </a:fld>
            <a:endParaRPr lang="en-CA" sz="1200">
              <a:latin typeface="+mn-lt"/>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bwMode="auto">
          <a:noFill/>
          <a:ln>
            <a:solidFill>
              <a:srgbClr val="000000"/>
            </a:solidFill>
            <a:miter lim="800000"/>
            <a:headEnd/>
            <a:tailEnd/>
          </a:ln>
        </p:spPr>
      </p:sp>
      <p:sp>
        <p:nvSpPr>
          <p:cNvPr id="8397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CA" smtClean="0"/>
          </a:p>
        </p:txBody>
      </p:sp>
      <p:sp>
        <p:nvSpPr>
          <p:cNvPr id="4" name="Slide Number Placeholder 3"/>
          <p:cNvSpPr txBox="1">
            <a:spLocks noGrp="1"/>
          </p:cNvSpPr>
          <p:nvPr/>
        </p:nvSpPr>
        <p:spPr>
          <a:xfrm>
            <a:off x="3884613" y="8685213"/>
            <a:ext cx="2971800" cy="457200"/>
          </a:xfrm>
          <a:prstGeom prst="rect">
            <a:avLst/>
          </a:prstGeom>
          <a:noFill/>
        </p:spPr>
        <p:txBody>
          <a:bodyPr anchor="b"/>
          <a:lstStyle/>
          <a:p>
            <a:pPr algn="r" fontAlgn="auto">
              <a:spcBef>
                <a:spcPts val="0"/>
              </a:spcBef>
              <a:spcAft>
                <a:spcPts val="0"/>
              </a:spcAft>
              <a:defRPr/>
            </a:pPr>
            <a:fld id="{59214868-7AC5-433A-933B-FDFC2667BCB7}" type="slidenum">
              <a:rPr lang="en-CA" sz="1200">
                <a:latin typeface="+mn-lt"/>
                <a:cs typeface="+mn-cs"/>
              </a:rPr>
              <a:pPr algn="r" fontAlgn="auto">
                <a:spcBef>
                  <a:spcPts val="0"/>
                </a:spcBef>
                <a:spcAft>
                  <a:spcPts val="0"/>
                </a:spcAft>
                <a:defRPr/>
              </a:pPr>
              <a:t>16</a:t>
            </a:fld>
            <a:endParaRPr lang="en-CA" sz="1200">
              <a:latin typeface="+mn-lt"/>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r>
              <a:rPr lang="en-US" smtClean="0"/>
              <a:t>Started on 14 March 2016</a:t>
            </a:r>
            <a:endParaRPr lang="en-US"/>
          </a:p>
        </p:txBody>
      </p:sp>
      <p:sp>
        <p:nvSpPr>
          <p:cNvPr id="5" name="Footer Placeholder 4"/>
          <p:cNvSpPr>
            <a:spLocks noGrp="1"/>
          </p:cNvSpPr>
          <p:nvPr>
            <p:ph type="ftr" sz="quarter" idx="11"/>
          </p:nvPr>
        </p:nvSpPr>
        <p:spPr/>
        <p:txBody>
          <a:bodyPr/>
          <a:lstStyle/>
          <a:p>
            <a:r>
              <a:rPr lang="en-US" smtClean="0"/>
              <a:t>Course Teacher: Prof. Sohel Rahman</a:t>
            </a:r>
            <a:endParaRPr lang="en-US"/>
          </a:p>
        </p:txBody>
      </p:sp>
      <p:sp>
        <p:nvSpPr>
          <p:cNvPr id="6" name="Slide Number Placeholder 5"/>
          <p:cNvSpPr>
            <a:spLocks noGrp="1"/>
          </p:cNvSpPr>
          <p:nvPr>
            <p:ph type="sldNum" sz="quarter" idx="12"/>
          </p:nvPr>
        </p:nvSpPr>
        <p:spPr/>
        <p:txBody>
          <a:bodyPr/>
          <a:lstStyle/>
          <a:p>
            <a:fld id="{5657E917-6D97-4FA4-9E27-606C7A8A367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Started on 14 March 2016</a:t>
            </a:r>
            <a:endParaRPr lang="en-US"/>
          </a:p>
        </p:txBody>
      </p:sp>
      <p:sp>
        <p:nvSpPr>
          <p:cNvPr id="5" name="Footer Placeholder 4"/>
          <p:cNvSpPr>
            <a:spLocks noGrp="1"/>
          </p:cNvSpPr>
          <p:nvPr>
            <p:ph type="ftr" sz="quarter" idx="11"/>
          </p:nvPr>
        </p:nvSpPr>
        <p:spPr/>
        <p:txBody>
          <a:bodyPr/>
          <a:lstStyle/>
          <a:p>
            <a:r>
              <a:rPr lang="en-US" smtClean="0"/>
              <a:t>Course Teacher: Prof. Sohel Rahman</a:t>
            </a:r>
            <a:endParaRPr lang="en-US"/>
          </a:p>
        </p:txBody>
      </p:sp>
      <p:sp>
        <p:nvSpPr>
          <p:cNvPr id="6" name="Slide Number Placeholder 5"/>
          <p:cNvSpPr>
            <a:spLocks noGrp="1"/>
          </p:cNvSpPr>
          <p:nvPr>
            <p:ph type="sldNum" sz="quarter" idx="12"/>
          </p:nvPr>
        </p:nvSpPr>
        <p:spPr/>
        <p:txBody>
          <a:bodyPr/>
          <a:lstStyle/>
          <a:p>
            <a:fld id="{5657E917-6D97-4FA4-9E27-606C7A8A367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en-US" smtClean="0"/>
              <a:t>Started on 14 March 2016</a:t>
            </a:r>
            <a:endParaRPr lang="en-US"/>
          </a:p>
        </p:txBody>
      </p:sp>
      <p:sp>
        <p:nvSpPr>
          <p:cNvPr id="5" name="Footer Placeholder 4"/>
          <p:cNvSpPr>
            <a:spLocks noGrp="1"/>
          </p:cNvSpPr>
          <p:nvPr>
            <p:ph type="ftr" sz="quarter" idx="11"/>
          </p:nvPr>
        </p:nvSpPr>
        <p:spPr/>
        <p:txBody>
          <a:bodyPr/>
          <a:lstStyle/>
          <a:p>
            <a:r>
              <a:rPr lang="en-US" smtClean="0"/>
              <a:t>Course Teacher: Prof. Sohel Rahman</a:t>
            </a:r>
            <a:endParaRPr lang="en-US"/>
          </a:p>
        </p:txBody>
      </p:sp>
      <p:sp>
        <p:nvSpPr>
          <p:cNvPr id="6" name="Slide Number Placeholder 5"/>
          <p:cNvSpPr>
            <a:spLocks noGrp="1"/>
          </p:cNvSpPr>
          <p:nvPr>
            <p:ph type="sldNum" sz="quarter" idx="12"/>
          </p:nvPr>
        </p:nvSpPr>
        <p:spPr/>
        <p:txBody>
          <a:bodyPr/>
          <a:lstStyle/>
          <a:p>
            <a:fld id="{5657E917-6D97-4FA4-9E27-606C7A8A367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r>
              <a:rPr lang="en-US" smtClean="0"/>
              <a:t>Started on 14 March 2016</a:t>
            </a:r>
            <a:endParaRPr lang="en-US"/>
          </a:p>
        </p:txBody>
      </p:sp>
      <p:sp>
        <p:nvSpPr>
          <p:cNvPr id="6" name="Footer Placeholder 5"/>
          <p:cNvSpPr>
            <a:spLocks noGrp="1"/>
          </p:cNvSpPr>
          <p:nvPr>
            <p:ph type="ftr" sz="quarter" idx="11"/>
          </p:nvPr>
        </p:nvSpPr>
        <p:spPr/>
        <p:txBody>
          <a:bodyPr/>
          <a:lstStyle/>
          <a:p>
            <a:r>
              <a:rPr lang="en-US" smtClean="0"/>
              <a:t>Course Teacher: Prof. Sohel Rahman</a:t>
            </a:r>
            <a:endParaRPr lang="en-US"/>
          </a:p>
        </p:txBody>
      </p:sp>
      <p:sp>
        <p:nvSpPr>
          <p:cNvPr id="7" name="Slide Number Placeholder 6"/>
          <p:cNvSpPr>
            <a:spLocks noGrp="1"/>
          </p:cNvSpPr>
          <p:nvPr>
            <p:ph type="sldNum" sz="quarter" idx="12"/>
          </p:nvPr>
        </p:nvSpPr>
        <p:spPr/>
        <p:txBody>
          <a:bodyPr/>
          <a:lstStyle/>
          <a:p>
            <a:fld id="{5657E917-6D97-4FA4-9E27-606C7A8A367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r>
              <a:rPr lang="en-US" smtClean="0"/>
              <a:t>Started on 14 March 2016</a:t>
            </a:r>
            <a:endParaRPr lang="en-US"/>
          </a:p>
        </p:txBody>
      </p:sp>
      <p:sp>
        <p:nvSpPr>
          <p:cNvPr id="8" name="Footer Placeholder 7"/>
          <p:cNvSpPr>
            <a:spLocks noGrp="1"/>
          </p:cNvSpPr>
          <p:nvPr>
            <p:ph type="ftr" sz="quarter" idx="11"/>
          </p:nvPr>
        </p:nvSpPr>
        <p:spPr/>
        <p:txBody>
          <a:bodyPr/>
          <a:lstStyle/>
          <a:p>
            <a:r>
              <a:rPr lang="en-US" smtClean="0"/>
              <a:t>Course Teacher: Prof. Sohel Rahman</a:t>
            </a:r>
            <a:endParaRPr lang="en-US"/>
          </a:p>
        </p:txBody>
      </p:sp>
      <p:sp>
        <p:nvSpPr>
          <p:cNvPr id="9" name="Slide Number Placeholder 8"/>
          <p:cNvSpPr>
            <a:spLocks noGrp="1"/>
          </p:cNvSpPr>
          <p:nvPr>
            <p:ph type="sldNum" sz="quarter" idx="12"/>
          </p:nvPr>
        </p:nvSpPr>
        <p:spPr/>
        <p:txBody>
          <a:bodyPr/>
          <a:lstStyle/>
          <a:p>
            <a:fld id="{5657E917-6D97-4FA4-9E27-606C7A8A367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r>
              <a:rPr lang="en-US" smtClean="0"/>
              <a:t>Started on 14 March 2016</a:t>
            </a:r>
            <a:endParaRPr lang="en-US"/>
          </a:p>
        </p:txBody>
      </p:sp>
      <p:sp>
        <p:nvSpPr>
          <p:cNvPr id="4" name="Footer Placeholder 3"/>
          <p:cNvSpPr>
            <a:spLocks noGrp="1"/>
          </p:cNvSpPr>
          <p:nvPr>
            <p:ph type="ftr" sz="quarter" idx="11"/>
          </p:nvPr>
        </p:nvSpPr>
        <p:spPr/>
        <p:txBody>
          <a:bodyPr/>
          <a:lstStyle/>
          <a:p>
            <a:r>
              <a:rPr lang="en-US" smtClean="0"/>
              <a:t>Course Teacher: Prof. Sohel Rahman</a:t>
            </a:r>
            <a:endParaRPr lang="en-US"/>
          </a:p>
        </p:txBody>
      </p:sp>
      <p:sp>
        <p:nvSpPr>
          <p:cNvPr id="5" name="Slide Number Placeholder 4"/>
          <p:cNvSpPr>
            <a:spLocks noGrp="1"/>
          </p:cNvSpPr>
          <p:nvPr>
            <p:ph type="sldNum" sz="quarter" idx="12"/>
          </p:nvPr>
        </p:nvSpPr>
        <p:spPr/>
        <p:txBody>
          <a:bodyPr/>
          <a:lstStyle/>
          <a:p>
            <a:fld id="{5657E917-6D97-4FA4-9E27-606C7A8A367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Started on 14 March 2016</a:t>
            </a:r>
            <a:endParaRPr lang="en-US"/>
          </a:p>
        </p:txBody>
      </p:sp>
      <p:sp>
        <p:nvSpPr>
          <p:cNvPr id="3" name="Footer Placeholder 2"/>
          <p:cNvSpPr>
            <a:spLocks noGrp="1"/>
          </p:cNvSpPr>
          <p:nvPr>
            <p:ph type="ftr" sz="quarter" idx="11"/>
          </p:nvPr>
        </p:nvSpPr>
        <p:spPr/>
        <p:txBody>
          <a:bodyPr/>
          <a:lstStyle/>
          <a:p>
            <a:r>
              <a:rPr lang="en-US" smtClean="0"/>
              <a:t>Course Teacher: Prof. Sohel Rahman</a:t>
            </a:r>
            <a:endParaRPr lang="en-US"/>
          </a:p>
        </p:txBody>
      </p:sp>
      <p:sp>
        <p:nvSpPr>
          <p:cNvPr id="4" name="Slide Number Placeholder 3"/>
          <p:cNvSpPr>
            <a:spLocks noGrp="1"/>
          </p:cNvSpPr>
          <p:nvPr>
            <p:ph type="sldNum" sz="quarter" idx="12"/>
          </p:nvPr>
        </p:nvSpPr>
        <p:spPr/>
        <p:txBody>
          <a:bodyPr/>
          <a:lstStyle/>
          <a:p>
            <a:fld id="{5657E917-6D97-4FA4-9E27-606C7A8A367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Started on 14 March 2016</a:t>
            </a:r>
            <a:endParaRPr lang="en-US"/>
          </a:p>
        </p:txBody>
      </p:sp>
      <p:sp>
        <p:nvSpPr>
          <p:cNvPr id="6" name="Footer Placeholder 5"/>
          <p:cNvSpPr>
            <a:spLocks noGrp="1"/>
          </p:cNvSpPr>
          <p:nvPr>
            <p:ph type="ftr" sz="quarter" idx="11"/>
          </p:nvPr>
        </p:nvSpPr>
        <p:spPr/>
        <p:txBody>
          <a:bodyPr/>
          <a:lstStyle/>
          <a:p>
            <a:r>
              <a:rPr lang="en-US" smtClean="0"/>
              <a:t>Course Teacher: Prof. Sohel Rahman</a:t>
            </a:r>
            <a:endParaRPr lang="en-US"/>
          </a:p>
        </p:txBody>
      </p:sp>
      <p:sp>
        <p:nvSpPr>
          <p:cNvPr id="7" name="Slide Number Placeholder 6"/>
          <p:cNvSpPr>
            <a:spLocks noGrp="1"/>
          </p:cNvSpPr>
          <p:nvPr>
            <p:ph type="sldNum" sz="quarter" idx="12"/>
          </p:nvPr>
        </p:nvSpPr>
        <p:spPr/>
        <p:txBody>
          <a:bodyPr/>
          <a:lstStyle/>
          <a:p>
            <a:fld id="{5657E917-6D97-4FA4-9E27-606C7A8A367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Started on 14 March 2016</a:t>
            </a:r>
            <a:endParaRPr lang="en-US"/>
          </a:p>
        </p:txBody>
      </p:sp>
      <p:sp>
        <p:nvSpPr>
          <p:cNvPr id="6" name="Footer Placeholder 5"/>
          <p:cNvSpPr>
            <a:spLocks noGrp="1"/>
          </p:cNvSpPr>
          <p:nvPr>
            <p:ph type="ftr" sz="quarter" idx="11"/>
          </p:nvPr>
        </p:nvSpPr>
        <p:spPr/>
        <p:txBody>
          <a:bodyPr/>
          <a:lstStyle/>
          <a:p>
            <a:r>
              <a:rPr lang="en-US" smtClean="0"/>
              <a:t>Course Teacher: Prof. Sohel Rahman</a:t>
            </a:r>
            <a:endParaRPr lang="en-US"/>
          </a:p>
        </p:txBody>
      </p:sp>
      <p:sp>
        <p:nvSpPr>
          <p:cNvPr id="7" name="Slide Number Placeholder 6"/>
          <p:cNvSpPr>
            <a:spLocks noGrp="1"/>
          </p:cNvSpPr>
          <p:nvPr>
            <p:ph type="sldNum" sz="quarter" idx="12"/>
          </p:nvPr>
        </p:nvSpPr>
        <p:spPr/>
        <p:txBody>
          <a:bodyPr/>
          <a:lstStyle/>
          <a:p>
            <a:fld id="{5657E917-6D97-4FA4-9E27-606C7A8A367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Started on 14 March 2016</a:t>
            </a:r>
            <a:endParaRPr lang="en-US"/>
          </a:p>
        </p:txBody>
      </p:sp>
      <p:sp>
        <p:nvSpPr>
          <p:cNvPr id="5" name="Footer Placeholder 4"/>
          <p:cNvSpPr>
            <a:spLocks noGrp="1"/>
          </p:cNvSpPr>
          <p:nvPr>
            <p:ph type="ftr" sz="quarter" idx="11"/>
          </p:nvPr>
        </p:nvSpPr>
        <p:spPr/>
        <p:txBody>
          <a:bodyPr/>
          <a:lstStyle/>
          <a:p>
            <a:r>
              <a:rPr lang="en-US" smtClean="0"/>
              <a:t>Course Teacher: Prof. Sohel Rahman</a:t>
            </a:r>
            <a:endParaRPr lang="en-US"/>
          </a:p>
        </p:txBody>
      </p:sp>
      <p:sp>
        <p:nvSpPr>
          <p:cNvPr id="6" name="Slide Number Placeholder 5"/>
          <p:cNvSpPr>
            <a:spLocks noGrp="1"/>
          </p:cNvSpPr>
          <p:nvPr>
            <p:ph type="sldNum" sz="quarter" idx="12"/>
          </p:nvPr>
        </p:nvSpPr>
        <p:spPr/>
        <p:txBody>
          <a:bodyPr/>
          <a:lstStyle/>
          <a:p>
            <a:fld id="{5657E917-6D97-4FA4-9E27-606C7A8A367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Started on 14 March 2016</a:t>
            </a:r>
            <a:endParaRPr lang="en-US"/>
          </a:p>
        </p:txBody>
      </p:sp>
      <p:sp>
        <p:nvSpPr>
          <p:cNvPr id="5" name="Footer Placeholder 4"/>
          <p:cNvSpPr>
            <a:spLocks noGrp="1"/>
          </p:cNvSpPr>
          <p:nvPr>
            <p:ph type="ftr" sz="quarter" idx="11"/>
          </p:nvPr>
        </p:nvSpPr>
        <p:spPr/>
        <p:txBody>
          <a:bodyPr/>
          <a:lstStyle/>
          <a:p>
            <a:r>
              <a:rPr lang="en-US" smtClean="0"/>
              <a:t>Course Teacher: Prof. Sohel Rahman</a:t>
            </a:r>
            <a:endParaRPr lang="en-US"/>
          </a:p>
        </p:txBody>
      </p:sp>
      <p:sp>
        <p:nvSpPr>
          <p:cNvPr id="6" name="Slide Number Placeholder 5"/>
          <p:cNvSpPr>
            <a:spLocks noGrp="1"/>
          </p:cNvSpPr>
          <p:nvPr>
            <p:ph type="sldNum" sz="quarter" idx="12"/>
          </p:nvPr>
        </p:nvSpPr>
        <p:spPr/>
        <p:txBody>
          <a:bodyPr/>
          <a:lstStyle/>
          <a:p>
            <a:fld id="{5657E917-6D97-4FA4-9E27-606C7A8A367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smtClean="0"/>
              <a:t>Started on 14 March 2016</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Course Teacher: Prof. Sohel Rahman</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7E917-6D97-4FA4-9E27-606C7A8A367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6.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1.emf"/><Relationship Id="rId4" Type="http://schemas.openxmlformats.org/officeDocument/2006/relationships/image" Target="../media/image10.emf"/></Relationships>
</file>

<file path=ppt/slides/_rels/slide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6.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7.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CSE 203: Data Structures</a:t>
            </a:r>
            <a:endParaRPr lang="en-US" dirty="0"/>
          </a:p>
        </p:txBody>
      </p:sp>
      <p:sp>
        <p:nvSpPr>
          <p:cNvPr id="3" name="Subtitle 2"/>
          <p:cNvSpPr>
            <a:spLocks noGrp="1"/>
          </p:cNvSpPr>
          <p:nvPr>
            <p:ph type="subTitle" idx="1"/>
          </p:nvPr>
        </p:nvSpPr>
        <p:spPr/>
        <p:txBody>
          <a:bodyPr/>
          <a:lstStyle/>
          <a:p>
            <a:r>
              <a:rPr lang="en-US" dirty="0" smtClean="0"/>
              <a:t>Lecture 4: Elementary Data Structures- Queue</a:t>
            </a:r>
            <a:endParaRPr lang="en-US" dirty="0"/>
          </a:p>
        </p:txBody>
      </p:sp>
      <p:sp>
        <p:nvSpPr>
          <p:cNvPr id="5" name="Slide Number Placeholder 4"/>
          <p:cNvSpPr>
            <a:spLocks noGrp="1"/>
          </p:cNvSpPr>
          <p:nvPr>
            <p:ph type="sldNum" sz="quarter" idx="12"/>
          </p:nvPr>
        </p:nvSpPr>
        <p:spPr/>
        <p:txBody>
          <a:bodyPr/>
          <a:lstStyle/>
          <a:p>
            <a:fld id="{5993D3EC-A54F-4015-B37A-DAFE3575B373}"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Telephone queu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6829" y="2286000"/>
            <a:ext cx="2409825" cy="240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834" name="Slide Number Placeholder 5"/>
          <p:cNvSpPr>
            <a:spLocks noGrp="1"/>
          </p:cNvSpPr>
          <p:nvPr>
            <p:ph type="sldNum" sz="quarter" idx="12"/>
          </p:nvPr>
        </p:nvSpPr>
        <p:spPr>
          <a:noFill/>
        </p:spPr>
        <p:txBody>
          <a:bodyPr/>
          <a:lstStyle/>
          <a:p>
            <a:fld id="{A452519E-B9EB-427C-83A4-66E1765B440A}" type="slidenum">
              <a:rPr lang="en-US" smtClean="0"/>
              <a:pPr/>
              <a:t>2</a:t>
            </a:fld>
            <a:endParaRPr lang="en-US" smtClean="0"/>
          </a:p>
        </p:txBody>
      </p:sp>
      <p:sp>
        <p:nvSpPr>
          <p:cNvPr id="120835" name="Rectangle 2"/>
          <p:cNvSpPr>
            <a:spLocks noGrp="1" noChangeArrowheads="1"/>
          </p:cNvSpPr>
          <p:nvPr>
            <p:ph type="title"/>
          </p:nvPr>
        </p:nvSpPr>
        <p:spPr>
          <a:xfrm>
            <a:off x="455613" y="365125"/>
            <a:ext cx="8226425" cy="914400"/>
          </a:xfrm>
        </p:spPr>
        <p:txBody>
          <a:bodyPr/>
          <a:lstStyle/>
          <a:p>
            <a:r>
              <a:rPr lang="en-US" smtClean="0">
                <a:latin typeface="Helvetica" pitchFamily="26" charset="0"/>
              </a:rPr>
              <a:t>Queues</a:t>
            </a:r>
          </a:p>
        </p:txBody>
      </p:sp>
      <p:sp>
        <p:nvSpPr>
          <p:cNvPr id="120836" name="Rectangle 3"/>
          <p:cNvSpPr>
            <a:spLocks noGrp="1" noChangeArrowheads="1"/>
          </p:cNvSpPr>
          <p:nvPr>
            <p:ph type="body" idx="1"/>
          </p:nvPr>
        </p:nvSpPr>
        <p:spPr>
          <a:xfrm>
            <a:off x="455613" y="1279525"/>
            <a:ext cx="8226425" cy="4572000"/>
          </a:xfrm>
        </p:spPr>
        <p:txBody>
          <a:bodyPr/>
          <a:lstStyle/>
          <a:p>
            <a:pPr>
              <a:lnSpc>
                <a:spcPct val="80000"/>
              </a:lnSpc>
              <a:buFontTx/>
              <a:buNone/>
            </a:pPr>
            <a:r>
              <a:rPr lang="en-US" dirty="0" smtClean="0">
                <a:latin typeface="Helvetica" pitchFamily="26" charset="0"/>
              </a:rPr>
              <a:t>FIFO: First in, First Out</a:t>
            </a:r>
          </a:p>
          <a:p>
            <a:pPr>
              <a:lnSpc>
                <a:spcPct val="50000"/>
              </a:lnSpc>
              <a:buFontTx/>
              <a:buNone/>
            </a:pPr>
            <a:endParaRPr lang="en-US" dirty="0" smtClean="0">
              <a:latin typeface="Helvetica" pitchFamily="26" charset="0"/>
            </a:endParaRPr>
          </a:p>
          <a:p>
            <a:pPr>
              <a:lnSpc>
                <a:spcPct val="80000"/>
              </a:lnSpc>
              <a:buFontTx/>
              <a:buNone/>
            </a:pPr>
            <a:r>
              <a:rPr lang="en-US" dirty="0" smtClean="0">
                <a:latin typeface="Helvetica" pitchFamily="26" charset="0"/>
              </a:rPr>
              <a:t>Restricted form of list: Insert at one end, remove from the other.</a:t>
            </a:r>
          </a:p>
          <a:p>
            <a:pPr>
              <a:lnSpc>
                <a:spcPct val="50000"/>
              </a:lnSpc>
              <a:buFontTx/>
              <a:buNone/>
            </a:pPr>
            <a:endParaRPr lang="en-US" dirty="0" smtClean="0">
              <a:latin typeface="Helvetica" pitchFamily="26" charset="0"/>
            </a:endParaRPr>
          </a:p>
          <a:p>
            <a:pPr>
              <a:lnSpc>
                <a:spcPct val="60000"/>
              </a:lnSpc>
              <a:buFontTx/>
              <a:buNone/>
            </a:pPr>
            <a:r>
              <a:rPr lang="en-US" dirty="0" smtClean="0">
                <a:latin typeface="Helvetica" pitchFamily="26" charset="0"/>
              </a:rPr>
              <a:t>Notation:</a:t>
            </a:r>
          </a:p>
          <a:p>
            <a:pPr>
              <a:lnSpc>
                <a:spcPct val="60000"/>
              </a:lnSpc>
            </a:pPr>
            <a:r>
              <a:rPr lang="en-US" sz="2800" dirty="0" smtClean="0">
                <a:latin typeface="Helvetica" pitchFamily="26" charset="0"/>
              </a:rPr>
              <a:t>Insert: </a:t>
            </a:r>
            <a:r>
              <a:rPr lang="en-US" sz="2800" dirty="0" err="1" smtClean="0">
                <a:latin typeface="Helvetica" pitchFamily="26" charset="0"/>
              </a:rPr>
              <a:t>Enqueue</a:t>
            </a:r>
            <a:endParaRPr lang="en-US" sz="2800" dirty="0" smtClean="0">
              <a:latin typeface="Helvetica" pitchFamily="26" charset="0"/>
            </a:endParaRPr>
          </a:p>
          <a:p>
            <a:pPr>
              <a:lnSpc>
                <a:spcPct val="60000"/>
              </a:lnSpc>
            </a:pPr>
            <a:r>
              <a:rPr lang="en-US" sz="2800" dirty="0" smtClean="0">
                <a:latin typeface="Helvetica" pitchFamily="26" charset="0"/>
              </a:rPr>
              <a:t>Delete: </a:t>
            </a:r>
            <a:r>
              <a:rPr lang="en-US" sz="2800" dirty="0" err="1" smtClean="0">
                <a:latin typeface="Helvetica" pitchFamily="26" charset="0"/>
              </a:rPr>
              <a:t>Dequeue</a:t>
            </a:r>
            <a:endParaRPr lang="en-US" sz="2800" dirty="0" smtClean="0">
              <a:latin typeface="Helvetica" pitchFamily="26" charset="0"/>
            </a:endParaRPr>
          </a:p>
          <a:p>
            <a:pPr>
              <a:lnSpc>
                <a:spcPct val="60000"/>
              </a:lnSpc>
            </a:pPr>
            <a:r>
              <a:rPr lang="en-US" sz="2800" dirty="0" smtClean="0">
                <a:latin typeface="Helvetica" pitchFamily="26" charset="0"/>
              </a:rPr>
              <a:t>First element: Front</a:t>
            </a:r>
          </a:p>
          <a:p>
            <a:pPr>
              <a:lnSpc>
                <a:spcPct val="60000"/>
              </a:lnSpc>
            </a:pPr>
            <a:r>
              <a:rPr lang="en-US" sz="2800" dirty="0" smtClean="0">
                <a:latin typeface="Helvetica" pitchFamily="26" charset="0"/>
              </a:rPr>
              <a:t>Last element: Rear</a:t>
            </a:r>
          </a:p>
        </p:txBody>
      </p:sp>
      <p:pic>
        <p:nvPicPr>
          <p:cNvPr id="7" name="Picture 6" descr="http://qph.is.quoracdn.net/main-qimg-43f1780537b6f653cc76a29de268365c?convert_to_webp=tru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0382" y="4552950"/>
            <a:ext cx="2586038"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smtClean="0">
                <a:latin typeface="Arial" charset="0"/>
                <a:cs typeface="Arial" charset="0"/>
              </a:rPr>
              <a:t>Abstract Queue</a:t>
            </a:r>
          </a:p>
        </p:txBody>
      </p:sp>
      <p:sp>
        <p:nvSpPr>
          <p:cNvPr id="7171" name="Rectangle 3"/>
          <p:cNvSpPr>
            <a:spLocks noGrp="1" noChangeArrowheads="1"/>
          </p:cNvSpPr>
          <p:nvPr>
            <p:ph type="body" idx="1"/>
          </p:nvPr>
        </p:nvSpPr>
        <p:spPr/>
        <p:txBody>
          <a:bodyPr>
            <a:normAutofit/>
          </a:bodyPr>
          <a:lstStyle/>
          <a:p>
            <a:pPr>
              <a:buFont typeface="Arial" charset="0"/>
              <a:buNone/>
            </a:pPr>
            <a:r>
              <a:rPr lang="en-US" sz="2400" dirty="0" smtClean="0">
                <a:latin typeface="Arial" charset="0"/>
                <a:cs typeface="Arial" charset="0"/>
              </a:rPr>
              <a:t>	Also called a </a:t>
            </a:r>
            <a:r>
              <a:rPr lang="en-US" sz="2400" i="1" dirty="0" smtClean="0">
                <a:latin typeface="Arial" charset="0"/>
                <a:cs typeface="Arial" charset="0"/>
              </a:rPr>
              <a:t>first-in–first-out </a:t>
            </a:r>
            <a:r>
              <a:rPr lang="en-US" sz="2400" dirty="0" smtClean="0">
                <a:latin typeface="Arial" charset="0"/>
                <a:cs typeface="Arial" charset="0"/>
              </a:rPr>
              <a:t>(FIFO) data structure</a:t>
            </a:r>
          </a:p>
          <a:p>
            <a:pPr lvl="1"/>
            <a:r>
              <a:rPr lang="en-US" sz="2000" dirty="0" smtClean="0">
                <a:latin typeface="Arial" charset="0"/>
                <a:cs typeface="Arial" charset="0"/>
              </a:rPr>
              <a:t>Graphically, we may view these operations as follows:</a:t>
            </a:r>
          </a:p>
        </p:txBody>
      </p:sp>
      <p:pic>
        <p:nvPicPr>
          <p:cNvPr id="7172" name="Picture 8" descr="C:\Users\dwharder\Desktop\q1.png"/>
          <p:cNvPicPr>
            <a:picLocks noChangeAspect="1" noChangeArrowheads="1"/>
          </p:cNvPicPr>
          <p:nvPr/>
        </p:nvPicPr>
        <p:blipFill>
          <a:blip r:embed="rId3" cstate="print"/>
          <a:srcRect/>
          <a:stretch>
            <a:fillRect/>
          </a:stretch>
        </p:blipFill>
        <p:spPr bwMode="auto">
          <a:xfrm>
            <a:off x="2393950" y="2349500"/>
            <a:ext cx="4448175" cy="914400"/>
          </a:xfrm>
          <a:prstGeom prst="rect">
            <a:avLst/>
          </a:prstGeom>
          <a:noFill/>
          <a:ln w="9525">
            <a:noFill/>
            <a:miter lim="800000"/>
            <a:headEnd/>
            <a:tailEnd/>
          </a:ln>
        </p:spPr>
      </p:pic>
      <p:pic>
        <p:nvPicPr>
          <p:cNvPr id="7173" name="Picture 9" descr="C:\Users\dwharder\Desktop\q2.png"/>
          <p:cNvPicPr>
            <a:picLocks noChangeAspect="1" noChangeArrowheads="1"/>
          </p:cNvPicPr>
          <p:nvPr/>
        </p:nvPicPr>
        <p:blipFill>
          <a:blip r:embed="rId4" cstate="print"/>
          <a:srcRect/>
          <a:stretch>
            <a:fillRect/>
          </a:stretch>
        </p:blipFill>
        <p:spPr bwMode="auto">
          <a:xfrm>
            <a:off x="2393950" y="4437063"/>
            <a:ext cx="4448175" cy="914400"/>
          </a:xfrm>
          <a:prstGeom prst="rect">
            <a:avLst/>
          </a:prstGeom>
          <a:noFill/>
          <a:ln w="9525">
            <a:noFill/>
            <a:miter lim="800000"/>
            <a:headEnd/>
            <a:tailEnd/>
          </a:ln>
        </p:spPr>
      </p:pic>
      <p:pic>
        <p:nvPicPr>
          <p:cNvPr id="7174" name="Picture 10" descr="C:\Users\dwharder\Desktop\q3.png"/>
          <p:cNvPicPr>
            <a:picLocks noChangeAspect="1" noChangeArrowheads="1"/>
          </p:cNvPicPr>
          <p:nvPr/>
        </p:nvPicPr>
        <p:blipFill>
          <a:blip r:embed="rId5" cstate="print"/>
          <a:srcRect/>
          <a:stretch>
            <a:fillRect/>
          </a:stretch>
        </p:blipFill>
        <p:spPr bwMode="auto">
          <a:xfrm>
            <a:off x="2393950" y="3357563"/>
            <a:ext cx="4448175" cy="914400"/>
          </a:xfrm>
          <a:prstGeom prst="rect">
            <a:avLst/>
          </a:prstGeom>
          <a:noFill/>
          <a:ln w="9525">
            <a:noFill/>
            <a:miter lim="800000"/>
            <a:headEnd/>
            <a:tailEnd/>
          </a:ln>
        </p:spPr>
      </p:pic>
      <p:sp>
        <p:nvSpPr>
          <p:cNvPr id="8" name="Slide Number Placeholder 7"/>
          <p:cNvSpPr>
            <a:spLocks noGrp="1"/>
          </p:cNvSpPr>
          <p:nvPr>
            <p:ph type="sldNum" sz="quarter" idx="12"/>
          </p:nvPr>
        </p:nvSpPr>
        <p:spPr/>
        <p:txBody>
          <a:bodyPr/>
          <a:lstStyle/>
          <a:p>
            <a:fld id="{5657E917-6D97-4FA4-9E27-606C7A8A3676}" type="slidenum">
              <a:rPr lang="en-US" smtClean="0"/>
              <a:pPr/>
              <a:t>3</a:t>
            </a:fld>
            <a:endParaRPr lang="en-US" dirty="0"/>
          </a:p>
        </p:txBody>
      </p:sp>
      <p:sp>
        <p:nvSpPr>
          <p:cNvPr id="2" name="TextBox 1"/>
          <p:cNvSpPr txBox="1"/>
          <p:nvPr/>
        </p:nvSpPr>
        <p:spPr>
          <a:xfrm>
            <a:off x="7595579" y="3559572"/>
            <a:ext cx="1015021"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err="1" smtClean="0"/>
              <a:t>Enqueue</a:t>
            </a:r>
            <a:endParaRPr lang="en-US" dirty="0"/>
          </a:p>
        </p:txBody>
      </p:sp>
      <p:sp>
        <p:nvSpPr>
          <p:cNvPr id="3" name="Right Arrow 2"/>
          <p:cNvSpPr/>
          <p:nvPr/>
        </p:nvSpPr>
        <p:spPr>
          <a:xfrm flipH="1">
            <a:off x="6990252" y="3564529"/>
            <a:ext cx="4572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457200" y="4648200"/>
            <a:ext cx="1039067"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err="1" smtClean="0"/>
              <a:t>Dequeue</a:t>
            </a:r>
            <a:endParaRPr lang="en-US" dirty="0"/>
          </a:p>
        </p:txBody>
      </p:sp>
      <p:sp>
        <p:nvSpPr>
          <p:cNvPr id="13" name="Right Arrow 12"/>
          <p:cNvSpPr/>
          <p:nvPr/>
        </p:nvSpPr>
        <p:spPr>
          <a:xfrm>
            <a:off x="1674006" y="4644845"/>
            <a:ext cx="452927" cy="3643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5919179" y="2961640"/>
            <a:ext cx="475195" cy="36933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spAutoFit/>
          </a:bodyPr>
          <a:lstStyle/>
          <a:p>
            <a:r>
              <a:rPr lang="en-US" dirty="0" smtClean="0"/>
              <a:t>tail</a:t>
            </a:r>
            <a:endParaRPr lang="en-US" dirty="0"/>
          </a:p>
        </p:txBody>
      </p:sp>
      <p:sp>
        <p:nvSpPr>
          <p:cNvPr id="15" name="TextBox 14"/>
          <p:cNvSpPr txBox="1"/>
          <p:nvPr/>
        </p:nvSpPr>
        <p:spPr>
          <a:xfrm>
            <a:off x="2436604" y="2950218"/>
            <a:ext cx="654346" cy="36933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spAutoFit/>
          </a:bodyPr>
          <a:lstStyle/>
          <a:p>
            <a:r>
              <a:rPr lang="en-US" dirty="0" smtClean="0"/>
              <a:t>head</a:t>
            </a:r>
            <a:endParaRPr lang="en-US" dirty="0"/>
          </a:p>
        </p:txBody>
      </p:sp>
      <p:sp>
        <p:nvSpPr>
          <p:cNvPr id="16" name="TextBox 15"/>
          <p:cNvSpPr txBox="1"/>
          <p:nvPr/>
        </p:nvSpPr>
        <p:spPr>
          <a:xfrm>
            <a:off x="6590805" y="2950218"/>
            <a:ext cx="567976" cy="36933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spAutoFit/>
          </a:bodyPr>
          <a:lstStyle/>
          <a:p>
            <a:r>
              <a:rPr lang="en-US" dirty="0" smtClean="0"/>
              <a:t>rear</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grpId="0" nodeType="afterEffect">
                                  <p:stCondLst>
                                    <p:cond delay="0"/>
                                  </p:stCondLst>
                                  <p:childTnLst>
                                    <p:set>
                                      <p:cBhvr>
                                        <p:cTn id="35"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12" grpId="0" animBg="1"/>
      <p:bldP spid="13" grpId="0" animBg="1"/>
      <p:bldP spid="14" grpId="0" animBg="1"/>
      <p:bldP spid="15" grpId="0" animBg="1"/>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smtClean="0">
                <a:latin typeface="Arial" charset="0"/>
                <a:cs typeface="Arial" charset="0"/>
              </a:rPr>
              <a:t>Abstract Queue</a:t>
            </a:r>
          </a:p>
        </p:txBody>
      </p:sp>
      <p:sp>
        <p:nvSpPr>
          <p:cNvPr id="10243" name="Rectangle 3"/>
          <p:cNvSpPr>
            <a:spLocks noGrp="1" noChangeArrowheads="1"/>
          </p:cNvSpPr>
          <p:nvPr>
            <p:ph type="body" idx="1"/>
          </p:nvPr>
        </p:nvSpPr>
        <p:spPr/>
        <p:txBody>
          <a:bodyPr/>
          <a:lstStyle/>
          <a:p>
            <a:pPr>
              <a:buFont typeface="Arial" charset="0"/>
              <a:buNone/>
            </a:pPr>
            <a:r>
              <a:rPr lang="en-US" dirty="0" smtClean="0">
                <a:latin typeface="Arial" charset="0"/>
                <a:cs typeface="Arial" charset="0"/>
              </a:rPr>
              <a:t>	There are two exceptions associated with abstract Queue data structure:</a:t>
            </a:r>
          </a:p>
          <a:p>
            <a:pPr lvl="1"/>
            <a:r>
              <a:rPr lang="en-US" dirty="0" smtClean="0">
                <a:latin typeface="Arial" charset="0"/>
                <a:cs typeface="Arial" charset="0"/>
              </a:rPr>
              <a:t>It is an undefined operation to call either pop or front on an empty queue</a:t>
            </a:r>
          </a:p>
        </p:txBody>
      </p:sp>
      <p:sp>
        <p:nvSpPr>
          <p:cNvPr id="5" name="Slide Number Placeholder 4"/>
          <p:cNvSpPr>
            <a:spLocks noGrp="1"/>
          </p:cNvSpPr>
          <p:nvPr>
            <p:ph type="sldNum" sz="quarter" idx="12"/>
          </p:nvPr>
        </p:nvSpPr>
        <p:spPr/>
        <p:txBody>
          <a:bodyPr/>
          <a:lstStyle/>
          <a:p>
            <a:fld id="{5657E917-6D97-4FA4-9E27-606C7A8A3676}"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Queue ADT in C++</a:t>
            </a: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3401038137"/>
              </p:ext>
            </p:extLst>
          </p:nvPr>
        </p:nvGraphicFramePr>
        <p:xfrm>
          <a:off x="3629025" y="3152775"/>
          <a:ext cx="1885950" cy="733425"/>
        </p:xfrm>
        <a:graphic>
          <a:graphicData uri="http://schemas.openxmlformats.org/presentationml/2006/ole">
            <mc:AlternateContent xmlns:mc="http://schemas.openxmlformats.org/markup-compatibility/2006">
              <mc:Choice xmlns:v="urn:schemas-microsoft-com:vml" Requires="v">
                <p:oleObj spid="_x0000_s1041" name="Packager Shell Object" showAsIcon="1" r:id="rId3" imgW="1886400" imgH="732960" progId="Package">
                  <p:embed/>
                </p:oleObj>
              </mc:Choice>
              <mc:Fallback>
                <p:oleObj name="Packager Shell Object" showAsIcon="1" r:id="rId3" imgW="1886400" imgH="732960" progId="Package">
                  <p:embed/>
                  <p:pic>
                    <p:nvPicPr>
                      <p:cNvPr id="0" name="Picture 2"/>
                      <p:cNvPicPr>
                        <a:picLocks noChangeAspect="1" noChangeArrowheads="1"/>
                      </p:cNvPicPr>
                      <p:nvPr/>
                    </p:nvPicPr>
                    <p:blipFill>
                      <a:blip r:embed="rId4"/>
                      <a:srcRect/>
                      <a:stretch>
                        <a:fillRect/>
                      </a:stretch>
                    </p:blipFill>
                    <p:spPr bwMode="auto">
                      <a:xfrm>
                        <a:off x="3629025" y="3152775"/>
                        <a:ext cx="1885950" cy="733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Slide Number Placeholder 5"/>
          <p:cNvSpPr>
            <a:spLocks noGrp="1"/>
          </p:cNvSpPr>
          <p:nvPr>
            <p:ph type="sldNum" sz="quarter" idx="12"/>
          </p:nvPr>
        </p:nvSpPr>
        <p:spPr/>
        <p:txBody>
          <a:bodyPr/>
          <a:lstStyle/>
          <a:p>
            <a:fld id="{5657E917-6D97-4FA4-9E27-606C7A8A3676}"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Array Based Implementation</a:t>
            </a:r>
            <a:endParaRPr lang="en-US" dirty="0"/>
          </a:p>
        </p:txBody>
      </p:sp>
      <p:sp>
        <p:nvSpPr>
          <p:cNvPr id="3" name="Content Placeholder 2"/>
          <p:cNvSpPr>
            <a:spLocks noGrp="1"/>
          </p:cNvSpPr>
          <p:nvPr>
            <p:ph idx="1"/>
          </p:nvPr>
        </p:nvSpPr>
        <p:spPr/>
        <p:txBody>
          <a:bodyPr>
            <a:normAutofit/>
          </a:bodyPr>
          <a:lstStyle/>
          <a:p>
            <a:r>
              <a:rPr lang="en-US" dirty="0"/>
              <a:t>The array-based queue is somewhat tricky to implement effectively. </a:t>
            </a:r>
            <a:endParaRPr lang="en-US" dirty="0" smtClean="0"/>
          </a:p>
          <a:p>
            <a:r>
              <a:rPr lang="en-US" dirty="0" smtClean="0"/>
              <a:t>A </a:t>
            </a:r>
            <a:r>
              <a:rPr lang="en-US" dirty="0"/>
              <a:t>simple </a:t>
            </a:r>
            <a:r>
              <a:rPr lang="en-US" dirty="0" smtClean="0"/>
              <a:t>conversion of </a:t>
            </a:r>
            <a:r>
              <a:rPr lang="en-US" dirty="0"/>
              <a:t>the array-based list implementation is not efficient</a:t>
            </a:r>
            <a:r>
              <a:rPr lang="en-US" dirty="0" smtClean="0"/>
              <a:t>.</a:t>
            </a:r>
          </a:p>
          <a:p>
            <a:r>
              <a:rPr lang="en-US" dirty="0" smtClean="0"/>
              <a:t>Why?</a:t>
            </a:r>
          </a:p>
        </p:txBody>
      </p:sp>
      <p:sp>
        <p:nvSpPr>
          <p:cNvPr id="5" name="Slide Number Placeholder 4"/>
          <p:cNvSpPr>
            <a:spLocks noGrp="1"/>
          </p:cNvSpPr>
          <p:nvPr>
            <p:ph type="sldNum" sz="quarter" idx="12"/>
          </p:nvPr>
        </p:nvSpPr>
        <p:spPr/>
        <p:txBody>
          <a:bodyPr/>
          <a:lstStyle/>
          <a:p>
            <a:fld id="{5657E917-6D97-4FA4-9E27-606C7A8A3676}" type="slidenum">
              <a:rPr lang="en-US" smtClean="0"/>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943600"/>
          </a:xfrm>
        </p:spPr>
        <p:txBody>
          <a:bodyPr>
            <a:noAutofit/>
          </a:bodyPr>
          <a:lstStyle/>
          <a:p>
            <a:r>
              <a:rPr lang="en-US" sz="2400" dirty="0" smtClean="0"/>
              <a:t>Assume that there are n elements in the queue and </a:t>
            </a:r>
            <a:r>
              <a:rPr lang="en-US" sz="2000" dirty="0" smtClean="0"/>
              <a:t>Like our list implementation, we require that all elements of the queue be stored in the first n positions of the array. </a:t>
            </a:r>
          </a:p>
          <a:p>
            <a:endParaRPr lang="en-US" sz="2000" dirty="0"/>
          </a:p>
          <a:p>
            <a:endParaRPr lang="en-US" sz="2400" dirty="0" smtClean="0"/>
          </a:p>
          <a:p>
            <a:pPr marL="0" indent="0">
              <a:buNone/>
            </a:pPr>
            <a:r>
              <a:rPr lang="en-US" sz="2800" dirty="0" err="1" smtClean="0"/>
              <a:t>Impl</a:t>
            </a:r>
            <a:r>
              <a:rPr lang="en-US" sz="2800" dirty="0" smtClean="0"/>
              <a:t>. 1:</a:t>
            </a:r>
          </a:p>
          <a:p>
            <a:r>
              <a:rPr lang="en-US" sz="2800" dirty="0" smtClean="0"/>
              <a:t>The rear element of the queue is at position </a:t>
            </a:r>
            <a:r>
              <a:rPr lang="en-US" sz="2800" dirty="0"/>
              <a:t>0, </a:t>
            </a:r>
            <a:endParaRPr lang="en-US" sz="2800" dirty="0" smtClean="0"/>
          </a:p>
          <a:p>
            <a:pPr lvl="1"/>
            <a:endParaRPr lang="en-US" sz="2400" b="1" dirty="0" smtClean="0"/>
          </a:p>
          <a:p>
            <a:pPr lvl="1"/>
            <a:endParaRPr lang="en-US" sz="2400" b="1" dirty="0"/>
          </a:p>
          <a:p>
            <a:pPr lvl="1"/>
            <a:endParaRPr lang="en-US" sz="2400" b="1" dirty="0" smtClean="0"/>
          </a:p>
          <a:p>
            <a:pPr lvl="1"/>
            <a:endParaRPr lang="en-US" sz="2400" b="1" dirty="0"/>
          </a:p>
          <a:p>
            <a:pPr lvl="1"/>
            <a:endParaRPr lang="en-US" sz="2400" b="1" dirty="0" smtClean="0"/>
          </a:p>
          <a:p>
            <a:pPr lvl="1"/>
            <a:r>
              <a:rPr lang="en-US" sz="2400" b="1" dirty="0" err="1"/>
              <a:t>dequeue</a:t>
            </a:r>
            <a:r>
              <a:rPr lang="en-US" sz="2400" b="1" dirty="0"/>
              <a:t> operations require only O(1) time because the front element </a:t>
            </a:r>
            <a:r>
              <a:rPr lang="en-US" sz="2400" dirty="0"/>
              <a:t>of the queue is the last element in the array. </a:t>
            </a:r>
          </a:p>
          <a:p>
            <a:pPr lvl="1"/>
            <a:endParaRPr lang="en-US" sz="2400" b="1" dirty="0" smtClean="0"/>
          </a:p>
        </p:txBody>
      </p:sp>
      <p:cxnSp>
        <p:nvCxnSpPr>
          <p:cNvPr id="22" name="Straight Arrow Connector 21"/>
          <p:cNvCxnSpPr/>
          <p:nvPr/>
        </p:nvCxnSpPr>
        <p:spPr>
          <a:xfrm flipH="1">
            <a:off x="5114322" y="3779653"/>
            <a:ext cx="492886" cy="335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a:off x="4828732" y="3694438"/>
            <a:ext cx="778476" cy="403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0"/>
            <a:ext cx="8229600" cy="762000"/>
          </a:xfrm>
        </p:spPr>
        <p:txBody>
          <a:bodyPr/>
          <a:lstStyle/>
          <a:p>
            <a:r>
              <a:rPr lang="en-US" dirty="0" smtClean="0"/>
              <a:t>Array Based Implementation</a:t>
            </a:r>
            <a:endParaRPr lang="en-US" dirty="0"/>
          </a:p>
        </p:txBody>
      </p:sp>
      <p:sp>
        <p:nvSpPr>
          <p:cNvPr id="5" name="Slide Number Placeholder 4"/>
          <p:cNvSpPr>
            <a:spLocks noGrp="1"/>
          </p:cNvSpPr>
          <p:nvPr>
            <p:ph type="sldNum" sz="quarter" idx="12"/>
          </p:nvPr>
        </p:nvSpPr>
        <p:spPr/>
        <p:txBody>
          <a:bodyPr/>
          <a:lstStyle/>
          <a:p>
            <a:fld id="{5657E917-6D97-4FA4-9E27-606C7A8A3676}" type="slidenum">
              <a:rPr lang="en-US" smtClean="0"/>
              <a:pPr/>
              <a:t>7</a:t>
            </a:fld>
            <a:endParaRPr lang="en-US"/>
          </a:p>
        </p:txBody>
      </p:sp>
      <p:sp>
        <p:nvSpPr>
          <p:cNvPr id="8" name="TextBox 7"/>
          <p:cNvSpPr txBox="1"/>
          <p:nvPr/>
        </p:nvSpPr>
        <p:spPr>
          <a:xfrm>
            <a:off x="5105400" y="1425063"/>
            <a:ext cx="650114"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front</a:t>
            </a:r>
            <a:endParaRPr lang="en-US" dirty="0"/>
          </a:p>
        </p:txBody>
      </p:sp>
      <p:cxnSp>
        <p:nvCxnSpPr>
          <p:cNvPr id="10" name="Straight Arrow Connector 9"/>
          <p:cNvCxnSpPr/>
          <p:nvPr/>
        </p:nvCxnSpPr>
        <p:spPr>
          <a:xfrm>
            <a:off x="1412352" y="2078486"/>
            <a:ext cx="381000" cy="1401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762000" y="1913665"/>
            <a:ext cx="572228"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dirty="0" smtClean="0"/>
              <a:t>rear</a:t>
            </a:r>
            <a:endParaRPr lang="en-US" dirty="0"/>
          </a:p>
        </p:txBody>
      </p:sp>
      <p:cxnSp>
        <p:nvCxnSpPr>
          <p:cNvPr id="15" name="Straight Arrow Connector 14"/>
          <p:cNvCxnSpPr/>
          <p:nvPr/>
        </p:nvCxnSpPr>
        <p:spPr>
          <a:xfrm flipH="1">
            <a:off x="4612514" y="1510278"/>
            <a:ext cx="492886" cy="335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7" name="Picture 16"/>
          <p:cNvPicPr>
            <a:picLocks noChangeAspect="1"/>
          </p:cNvPicPr>
          <p:nvPr/>
        </p:nvPicPr>
        <p:blipFill>
          <a:blip r:embed="rId3"/>
          <a:stretch>
            <a:fillRect/>
          </a:stretch>
        </p:blipFill>
        <p:spPr>
          <a:xfrm>
            <a:off x="1906742" y="1828800"/>
            <a:ext cx="4678050" cy="539063"/>
          </a:xfrm>
          <a:prstGeom prst="rect">
            <a:avLst/>
          </a:prstGeom>
        </p:spPr>
      </p:pic>
      <p:sp>
        <p:nvSpPr>
          <p:cNvPr id="18" name="Left Brace 17"/>
          <p:cNvSpPr/>
          <p:nvPr/>
        </p:nvSpPr>
        <p:spPr>
          <a:xfrm rot="16200000">
            <a:off x="3142658" y="1073751"/>
            <a:ext cx="405466" cy="2966681"/>
          </a:xfrm>
          <a:prstGeom prst="leftBrace">
            <a:avLst>
              <a:gd name="adj1" fmla="val 8333"/>
              <a:gd name="adj2" fmla="val 4938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p:cNvSpPr txBox="1"/>
          <p:nvPr/>
        </p:nvSpPr>
        <p:spPr>
          <a:xfrm>
            <a:off x="5607208" y="3694438"/>
            <a:ext cx="650114"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front</a:t>
            </a:r>
            <a:endParaRPr lang="en-US" dirty="0"/>
          </a:p>
        </p:txBody>
      </p:sp>
      <p:cxnSp>
        <p:nvCxnSpPr>
          <p:cNvPr id="20" name="Straight Arrow Connector 19"/>
          <p:cNvCxnSpPr/>
          <p:nvPr/>
        </p:nvCxnSpPr>
        <p:spPr>
          <a:xfrm>
            <a:off x="1914160" y="4347861"/>
            <a:ext cx="381000" cy="1401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263808" y="4183040"/>
            <a:ext cx="572228"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dirty="0" smtClean="0"/>
              <a:t>rear</a:t>
            </a:r>
            <a:endParaRPr lang="en-US" dirty="0"/>
          </a:p>
        </p:txBody>
      </p:sp>
      <p:pic>
        <p:nvPicPr>
          <p:cNvPr id="23" name="Picture 22"/>
          <p:cNvPicPr>
            <a:picLocks noChangeAspect="1"/>
          </p:cNvPicPr>
          <p:nvPr/>
        </p:nvPicPr>
        <p:blipFill>
          <a:blip r:embed="rId3"/>
          <a:stretch>
            <a:fillRect/>
          </a:stretch>
        </p:blipFill>
        <p:spPr>
          <a:xfrm>
            <a:off x="2408550" y="4098175"/>
            <a:ext cx="4678050" cy="539063"/>
          </a:xfrm>
          <a:prstGeom prst="rect">
            <a:avLst/>
          </a:prstGeom>
        </p:spPr>
      </p:pic>
      <p:sp>
        <p:nvSpPr>
          <p:cNvPr id="33" name="Rectangle 32"/>
          <p:cNvSpPr/>
          <p:nvPr/>
        </p:nvSpPr>
        <p:spPr>
          <a:xfrm>
            <a:off x="5025740" y="4367706"/>
            <a:ext cx="349492" cy="2695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Picture 42"/>
          <p:cNvPicPr>
            <a:picLocks noChangeAspect="1"/>
          </p:cNvPicPr>
          <p:nvPr/>
        </p:nvPicPr>
        <p:blipFill>
          <a:blip r:embed="rId4"/>
          <a:stretch>
            <a:fillRect/>
          </a:stretch>
        </p:blipFill>
        <p:spPr>
          <a:xfrm>
            <a:off x="2408550" y="5155218"/>
            <a:ext cx="4678050" cy="539063"/>
          </a:xfrm>
          <a:prstGeom prst="rect">
            <a:avLst/>
          </a:prstGeom>
        </p:spPr>
      </p:pic>
      <p:sp>
        <p:nvSpPr>
          <p:cNvPr id="44" name="TextBox 43"/>
          <p:cNvSpPr txBox="1"/>
          <p:nvPr/>
        </p:nvSpPr>
        <p:spPr>
          <a:xfrm>
            <a:off x="5217286" y="4704666"/>
            <a:ext cx="650114"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front</a:t>
            </a:r>
            <a:endParaRPr lang="en-US" dirty="0"/>
          </a:p>
        </p:txBody>
      </p:sp>
      <p:sp>
        <p:nvSpPr>
          <p:cNvPr id="45" name="TextBox 44"/>
          <p:cNvSpPr txBox="1"/>
          <p:nvPr/>
        </p:nvSpPr>
        <p:spPr>
          <a:xfrm>
            <a:off x="1277557" y="4970552"/>
            <a:ext cx="572228"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dirty="0" smtClean="0"/>
              <a:t>rear</a:t>
            </a:r>
            <a:endParaRPr lang="en-US" dirty="0"/>
          </a:p>
        </p:txBody>
      </p:sp>
      <p:cxnSp>
        <p:nvCxnSpPr>
          <p:cNvPr id="47" name="Straight Arrow Connector 46"/>
          <p:cNvCxnSpPr/>
          <p:nvPr/>
        </p:nvCxnSpPr>
        <p:spPr>
          <a:xfrm flipH="1">
            <a:off x="4858957" y="4889332"/>
            <a:ext cx="246443" cy="265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a:off x="1914160" y="5155218"/>
            <a:ext cx="457805" cy="269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Down Arrow 49"/>
          <p:cNvSpPr/>
          <p:nvPr/>
        </p:nvSpPr>
        <p:spPr>
          <a:xfrm>
            <a:off x="4245767" y="4704666"/>
            <a:ext cx="326233" cy="3693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500"/>
                                        <p:tgtEl>
                                          <p:spTgt spid="19"/>
                                        </p:tgtEl>
                                      </p:cBhvr>
                                    </p:animEffect>
                                  </p:childTnLst>
                                </p:cTn>
                              </p:par>
                              <p:par>
                                <p:cTn id="8" presetID="22" presetClass="entr" presetSubtype="4"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down)">
                                      <p:cBhvr>
                                        <p:cTn id="10" dur="500"/>
                                        <p:tgtEl>
                                          <p:spTgt spid="20"/>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wipe(down)">
                                      <p:cBhvr>
                                        <p:cTn id="13" dur="500"/>
                                        <p:tgtEl>
                                          <p:spTgt spid="21"/>
                                        </p:tgtEl>
                                      </p:cBhvr>
                                    </p:animEffect>
                                  </p:childTnLst>
                                </p:cTn>
                              </p:par>
                              <p:par>
                                <p:cTn id="14" presetID="22" presetClass="entr" presetSubtype="4"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down)">
                                      <p:cBhvr>
                                        <p:cTn id="16" dur="500"/>
                                        <p:tgtEl>
                                          <p:spTgt spid="22"/>
                                        </p:tgtEl>
                                      </p:cBhvr>
                                    </p:animEffect>
                                  </p:childTnLst>
                                </p:cTn>
                              </p:par>
                              <p:par>
                                <p:cTn id="17" presetID="22" presetClass="entr" presetSubtype="4"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ipe(down)">
                                      <p:cBhvr>
                                        <p:cTn id="19" dur="500"/>
                                        <p:tgtEl>
                                          <p:spTgt spid="23"/>
                                        </p:tgtEl>
                                      </p:cBhvr>
                                    </p:animEffect>
                                  </p:childTnLst>
                                </p:cTn>
                              </p:par>
                            </p:childTnLst>
                          </p:cTn>
                        </p:par>
                        <p:par>
                          <p:cTn id="20" fill="hold">
                            <p:stCondLst>
                              <p:cond delay="500"/>
                            </p:stCondLst>
                            <p:childTnLst>
                              <p:par>
                                <p:cTn id="21" presetID="2" presetClass="exit" presetSubtype="4" fill="hold" nodeType="afterEffect">
                                  <p:stCondLst>
                                    <p:cond delay="0"/>
                                  </p:stCondLst>
                                  <p:childTnLst>
                                    <p:anim calcmode="lin" valueType="num">
                                      <p:cBhvr additive="base">
                                        <p:cTn id="22" dur="500"/>
                                        <p:tgtEl>
                                          <p:spTgt spid="22"/>
                                        </p:tgtEl>
                                        <p:attrNameLst>
                                          <p:attrName>ppt_x</p:attrName>
                                        </p:attrNameLst>
                                      </p:cBhvr>
                                      <p:tavLst>
                                        <p:tav tm="0">
                                          <p:val>
                                            <p:strVal val="ppt_x"/>
                                          </p:val>
                                        </p:tav>
                                        <p:tav tm="100000">
                                          <p:val>
                                            <p:strVal val="ppt_x"/>
                                          </p:val>
                                        </p:tav>
                                      </p:tavLst>
                                    </p:anim>
                                    <p:anim calcmode="lin" valueType="num">
                                      <p:cBhvr additive="base">
                                        <p:cTn id="23" dur="500"/>
                                        <p:tgtEl>
                                          <p:spTgt spid="22"/>
                                        </p:tgtEl>
                                        <p:attrNameLst>
                                          <p:attrName>ppt_y</p:attrName>
                                        </p:attrNameLst>
                                      </p:cBhvr>
                                      <p:tavLst>
                                        <p:tav tm="0">
                                          <p:val>
                                            <p:strVal val="ppt_y"/>
                                          </p:val>
                                        </p:tav>
                                        <p:tav tm="100000">
                                          <p:val>
                                            <p:strVal val="1+ppt_h/2"/>
                                          </p:val>
                                        </p:tav>
                                      </p:tavLst>
                                    </p:anim>
                                    <p:set>
                                      <p:cBhvr>
                                        <p:cTn id="24" dur="1" fill="hold">
                                          <p:stCondLst>
                                            <p:cond delay="499"/>
                                          </p:stCondLst>
                                        </p:cTn>
                                        <p:tgtEl>
                                          <p:spTgt spid="22"/>
                                        </p:tgtEl>
                                        <p:attrNameLst>
                                          <p:attrName>style.visibility</p:attrName>
                                        </p:attrNameLst>
                                      </p:cBhvr>
                                      <p:to>
                                        <p:strVal val="hidden"/>
                                      </p:to>
                                    </p:set>
                                  </p:childTnLst>
                                </p:cTn>
                              </p:par>
                            </p:childTnLst>
                          </p:cTn>
                        </p:par>
                        <p:par>
                          <p:cTn id="25" fill="hold">
                            <p:stCondLst>
                              <p:cond delay="1000"/>
                            </p:stCondLst>
                            <p:childTnLst>
                              <p:par>
                                <p:cTn id="26" presetID="42" presetClass="entr" presetSubtype="0" fill="hold" nodeType="after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1000"/>
                                        <p:tgtEl>
                                          <p:spTgt spid="30"/>
                                        </p:tgtEl>
                                      </p:cBhvr>
                                    </p:animEffect>
                                    <p:anim calcmode="lin" valueType="num">
                                      <p:cBhvr>
                                        <p:cTn id="29" dur="1000" fill="hold"/>
                                        <p:tgtEl>
                                          <p:spTgt spid="30"/>
                                        </p:tgtEl>
                                        <p:attrNameLst>
                                          <p:attrName>ppt_x</p:attrName>
                                        </p:attrNameLst>
                                      </p:cBhvr>
                                      <p:tavLst>
                                        <p:tav tm="0">
                                          <p:val>
                                            <p:strVal val="#ppt_x"/>
                                          </p:val>
                                        </p:tav>
                                        <p:tav tm="100000">
                                          <p:val>
                                            <p:strVal val="#ppt_x"/>
                                          </p:val>
                                        </p:tav>
                                      </p:tavLst>
                                    </p:anim>
                                    <p:anim calcmode="lin" valueType="num">
                                      <p:cBhvr>
                                        <p:cTn id="30" dur="1000" fill="hold"/>
                                        <p:tgtEl>
                                          <p:spTgt spid="30"/>
                                        </p:tgtEl>
                                        <p:attrNameLst>
                                          <p:attrName>ppt_y</p:attrName>
                                        </p:attrNameLst>
                                      </p:cBhvr>
                                      <p:tavLst>
                                        <p:tav tm="0">
                                          <p:val>
                                            <p:strVal val="#ppt_y+.1"/>
                                          </p:val>
                                        </p:tav>
                                        <p:tav tm="100000">
                                          <p:val>
                                            <p:strVal val="#ppt_y"/>
                                          </p:val>
                                        </p:tav>
                                      </p:tavLst>
                                    </p:anim>
                                  </p:childTnLst>
                                </p:cTn>
                              </p:par>
                            </p:childTnLst>
                          </p:cTn>
                        </p:par>
                        <p:par>
                          <p:cTn id="31" fill="hold">
                            <p:stCondLst>
                              <p:cond delay="2000"/>
                            </p:stCondLst>
                            <p:childTnLst>
                              <p:par>
                                <p:cTn id="32" presetID="22" presetClass="entr" presetSubtype="4" fill="hold" grpId="0" nodeType="after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wipe(down)">
                                      <p:cBhvr>
                                        <p:cTn id="34" dur="500"/>
                                        <p:tgtEl>
                                          <p:spTgt spid="3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43"/>
                                        </p:tgtEl>
                                        <p:attrNameLst>
                                          <p:attrName>style.visibility</p:attrName>
                                        </p:attrNameLst>
                                      </p:cBhvr>
                                      <p:to>
                                        <p:strVal val="visible"/>
                                      </p:to>
                                    </p:set>
                                    <p:animEffect transition="in" filter="wipe(left)">
                                      <p:cBhvr>
                                        <p:cTn id="39" dur="500"/>
                                        <p:tgtEl>
                                          <p:spTgt spid="43"/>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wipe(left)">
                                      <p:cBhvr>
                                        <p:cTn id="42" dur="500"/>
                                        <p:tgtEl>
                                          <p:spTgt spid="44"/>
                                        </p:tgtEl>
                                      </p:cBhvr>
                                    </p:animEffect>
                                  </p:childTnLst>
                                </p:cTn>
                              </p:par>
                              <p:par>
                                <p:cTn id="43" presetID="22" presetClass="entr" presetSubtype="8" fill="hold" nodeType="withEffect">
                                  <p:stCondLst>
                                    <p:cond delay="0"/>
                                  </p:stCondLst>
                                  <p:childTnLst>
                                    <p:set>
                                      <p:cBhvr>
                                        <p:cTn id="44" dur="1" fill="hold">
                                          <p:stCondLst>
                                            <p:cond delay="0"/>
                                          </p:stCondLst>
                                        </p:cTn>
                                        <p:tgtEl>
                                          <p:spTgt spid="47"/>
                                        </p:tgtEl>
                                        <p:attrNameLst>
                                          <p:attrName>style.visibility</p:attrName>
                                        </p:attrNameLst>
                                      </p:cBhvr>
                                      <p:to>
                                        <p:strVal val="visible"/>
                                      </p:to>
                                    </p:set>
                                    <p:animEffect transition="in" filter="wipe(left)">
                                      <p:cBhvr>
                                        <p:cTn id="45" dur="500"/>
                                        <p:tgtEl>
                                          <p:spTgt spid="47"/>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50"/>
                                        </p:tgtEl>
                                        <p:attrNameLst>
                                          <p:attrName>style.visibility</p:attrName>
                                        </p:attrNameLst>
                                      </p:cBhvr>
                                      <p:to>
                                        <p:strVal val="visible"/>
                                      </p:to>
                                    </p:set>
                                    <p:animEffect transition="in" filter="wipe(left)">
                                      <p:cBhvr>
                                        <p:cTn id="48" dur="500"/>
                                        <p:tgtEl>
                                          <p:spTgt spid="50"/>
                                        </p:tgtEl>
                                      </p:cBhvr>
                                    </p:animEffect>
                                  </p:childTnLst>
                                </p:cTn>
                              </p:par>
                              <p:par>
                                <p:cTn id="49" presetID="22" presetClass="entr" presetSubtype="8" fill="hold" nodeType="withEffect">
                                  <p:stCondLst>
                                    <p:cond delay="0"/>
                                  </p:stCondLst>
                                  <p:childTnLst>
                                    <p:set>
                                      <p:cBhvr>
                                        <p:cTn id="50" dur="1" fill="hold">
                                          <p:stCondLst>
                                            <p:cond delay="0"/>
                                          </p:stCondLst>
                                        </p:cTn>
                                        <p:tgtEl>
                                          <p:spTgt spid="49"/>
                                        </p:tgtEl>
                                        <p:attrNameLst>
                                          <p:attrName>style.visibility</p:attrName>
                                        </p:attrNameLst>
                                      </p:cBhvr>
                                      <p:to>
                                        <p:strVal val="visible"/>
                                      </p:to>
                                    </p:set>
                                    <p:animEffect transition="in" filter="wipe(left)">
                                      <p:cBhvr>
                                        <p:cTn id="51" dur="500"/>
                                        <p:tgtEl>
                                          <p:spTgt spid="49"/>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45"/>
                                        </p:tgtEl>
                                        <p:attrNameLst>
                                          <p:attrName>style.visibility</p:attrName>
                                        </p:attrNameLst>
                                      </p:cBhvr>
                                      <p:to>
                                        <p:strVal val="visible"/>
                                      </p:to>
                                    </p:set>
                                    <p:animEffect transition="in" filter="wipe(left)">
                                      <p:cBhvr>
                                        <p:cTn id="54"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33" grpId="0" animBg="1"/>
      <p:bldP spid="44" grpId="0" animBg="1"/>
      <p:bldP spid="45" grpId="0" animBg="1"/>
      <p:bldP spid="5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943600"/>
          </a:xfrm>
        </p:spPr>
        <p:txBody>
          <a:bodyPr>
            <a:noAutofit/>
          </a:bodyPr>
          <a:lstStyle/>
          <a:p>
            <a:r>
              <a:rPr lang="en-US" sz="2400" dirty="0" smtClean="0"/>
              <a:t>Assume that there are n elements in the queue and </a:t>
            </a:r>
            <a:r>
              <a:rPr lang="en-US" sz="2000" dirty="0" smtClean="0"/>
              <a:t>Like our list implementation, we require that all elements of the queue be stored in the first n positions of the array. </a:t>
            </a:r>
          </a:p>
          <a:p>
            <a:endParaRPr lang="en-US" sz="2000" dirty="0"/>
          </a:p>
          <a:p>
            <a:endParaRPr lang="en-US" sz="2400" dirty="0" smtClean="0"/>
          </a:p>
          <a:p>
            <a:pPr marL="0" indent="0">
              <a:buNone/>
            </a:pPr>
            <a:r>
              <a:rPr lang="en-US" sz="2800" dirty="0" err="1" smtClean="0"/>
              <a:t>Impl</a:t>
            </a:r>
            <a:r>
              <a:rPr lang="en-US" sz="2800" dirty="0" smtClean="0"/>
              <a:t>. 1:</a:t>
            </a:r>
          </a:p>
          <a:p>
            <a:r>
              <a:rPr lang="en-US" sz="2800" dirty="0" smtClean="0"/>
              <a:t>The rear element of the queue is at position </a:t>
            </a:r>
            <a:r>
              <a:rPr lang="en-US" sz="2800" dirty="0"/>
              <a:t>0, </a:t>
            </a:r>
            <a:endParaRPr lang="en-US" sz="2800" dirty="0" smtClean="0"/>
          </a:p>
          <a:p>
            <a:pPr lvl="1"/>
            <a:endParaRPr lang="en-US" sz="2400" b="1" dirty="0" smtClean="0"/>
          </a:p>
          <a:p>
            <a:pPr lvl="1"/>
            <a:endParaRPr lang="en-US" sz="2400" b="1" dirty="0"/>
          </a:p>
          <a:p>
            <a:pPr lvl="1"/>
            <a:endParaRPr lang="en-US" sz="2400" b="1" dirty="0" smtClean="0"/>
          </a:p>
          <a:p>
            <a:pPr lvl="1"/>
            <a:endParaRPr lang="en-US" sz="2400" b="1" dirty="0"/>
          </a:p>
          <a:p>
            <a:pPr lvl="1"/>
            <a:endParaRPr lang="en-US" sz="2400" b="1" dirty="0" smtClean="0"/>
          </a:p>
          <a:p>
            <a:pPr lvl="1"/>
            <a:r>
              <a:rPr lang="en-US" sz="2400" dirty="0"/>
              <a:t>However, </a:t>
            </a:r>
            <a:r>
              <a:rPr lang="en-US" sz="2400" b="1" dirty="0" err="1"/>
              <a:t>enqueue</a:t>
            </a:r>
            <a:r>
              <a:rPr lang="en-US" sz="2400" b="1" dirty="0"/>
              <a:t> operations will require O(n) time, because the n elements currently in </a:t>
            </a:r>
            <a:r>
              <a:rPr lang="en-US" sz="2400" dirty="0"/>
              <a:t>the queue must each be shifted back. </a:t>
            </a:r>
          </a:p>
          <a:p>
            <a:pPr lvl="1"/>
            <a:endParaRPr lang="en-US" sz="2400" b="1" dirty="0" smtClean="0"/>
          </a:p>
        </p:txBody>
      </p:sp>
      <p:cxnSp>
        <p:nvCxnSpPr>
          <p:cNvPr id="22" name="Straight Arrow Connector 21"/>
          <p:cNvCxnSpPr/>
          <p:nvPr/>
        </p:nvCxnSpPr>
        <p:spPr>
          <a:xfrm flipH="1">
            <a:off x="5114322" y="3779653"/>
            <a:ext cx="492886" cy="335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0"/>
            <a:ext cx="8229600" cy="762000"/>
          </a:xfrm>
        </p:spPr>
        <p:txBody>
          <a:bodyPr/>
          <a:lstStyle/>
          <a:p>
            <a:r>
              <a:rPr lang="en-US" dirty="0" smtClean="0"/>
              <a:t>Array Based Implementation</a:t>
            </a:r>
            <a:endParaRPr lang="en-US" dirty="0"/>
          </a:p>
        </p:txBody>
      </p:sp>
      <p:sp>
        <p:nvSpPr>
          <p:cNvPr id="5" name="Slide Number Placeholder 4"/>
          <p:cNvSpPr>
            <a:spLocks noGrp="1"/>
          </p:cNvSpPr>
          <p:nvPr>
            <p:ph type="sldNum" sz="quarter" idx="12"/>
          </p:nvPr>
        </p:nvSpPr>
        <p:spPr/>
        <p:txBody>
          <a:bodyPr/>
          <a:lstStyle/>
          <a:p>
            <a:fld id="{5657E917-6D97-4FA4-9E27-606C7A8A3676}" type="slidenum">
              <a:rPr lang="en-US" smtClean="0"/>
              <a:pPr/>
              <a:t>8</a:t>
            </a:fld>
            <a:endParaRPr lang="en-US"/>
          </a:p>
        </p:txBody>
      </p:sp>
      <p:sp>
        <p:nvSpPr>
          <p:cNvPr id="8" name="TextBox 7"/>
          <p:cNvSpPr txBox="1"/>
          <p:nvPr/>
        </p:nvSpPr>
        <p:spPr>
          <a:xfrm>
            <a:off x="5105400" y="1425063"/>
            <a:ext cx="650114"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front</a:t>
            </a:r>
            <a:endParaRPr lang="en-US" dirty="0"/>
          </a:p>
        </p:txBody>
      </p:sp>
      <p:cxnSp>
        <p:nvCxnSpPr>
          <p:cNvPr id="10" name="Straight Arrow Connector 9"/>
          <p:cNvCxnSpPr/>
          <p:nvPr/>
        </p:nvCxnSpPr>
        <p:spPr>
          <a:xfrm>
            <a:off x="1412352" y="2078486"/>
            <a:ext cx="381000" cy="1401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762000" y="1913665"/>
            <a:ext cx="572228"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dirty="0" smtClean="0"/>
              <a:t>rear</a:t>
            </a:r>
            <a:endParaRPr lang="en-US" dirty="0"/>
          </a:p>
        </p:txBody>
      </p:sp>
      <p:cxnSp>
        <p:nvCxnSpPr>
          <p:cNvPr id="15" name="Straight Arrow Connector 14"/>
          <p:cNvCxnSpPr/>
          <p:nvPr/>
        </p:nvCxnSpPr>
        <p:spPr>
          <a:xfrm flipH="1">
            <a:off x="4612514" y="1510278"/>
            <a:ext cx="492886" cy="335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7" name="Picture 16"/>
          <p:cNvPicPr>
            <a:picLocks noChangeAspect="1"/>
          </p:cNvPicPr>
          <p:nvPr/>
        </p:nvPicPr>
        <p:blipFill>
          <a:blip r:embed="rId3"/>
          <a:stretch>
            <a:fillRect/>
          </a:stretch>
        </p:blipFill>
        <p:spPr>
          <a:xfrm>
            <a:off x="1906742" y="1828800"/>
            <a:ext cx="4678050" cy="539063"/>
          </a:xfrm>
          <a:prstGeom prst="rect">
            <a:avLst/>
          </a:prstGeom>
        </p:spPr>
      </p:pic>
      <p:sp>
        <p:nvSpPr>
          <p:cNvPr id="18" name="Left Brace 17"/>
          <p:cNvSpPr/>
          <p:nvPr/>
        </p:nvSpPr>
        <p:spPr>
          <a:xfrm rot="16200000">
            <a:off x="3142658" y="1073751"/>
            <a:ext cx="405466" cy="2966681"/>
          </a:xfrm>
          <a:prstGeom prst="leftBrace">
            <a:avLst>
              <a:gd name="adj1" fmla="val 8333"/>
              <a:gd name="adj2" fmla="val 4938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p:cNvSpPr txBox="1"/>
          <p:nvPr/>
        </p:nvSpPr>
        <p:spPr>
          <a:xfrm>
            <a:off x="5607208" y="3694438"/>
            <a:ext cx="650114"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front</a:t>
            </a:r>
            <a:endParaRPr lang="en-US" dirty="0"/>
          </a:p>
        </p:txBody>
      </p:sp>
      <p:cxnSp>
        <p:nvCxnSpPr>
          <p:cNvPr id="20" name="Straight Arrow Connector 19"/>
          <p:cNvCxnSpPr/>
          <p:nvPr/>
        </p:nvCxnSpPr>
        <p:spPr>
          <a:xfrm>
            <a:off x="1914160" y="4347861"/>
            <a:ext cx="381000" cy="1401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263808" y="4183040"/>
            <a:ext cx="572228"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dirty="0" smtClean="0"/>
              <a:t>rear</a:t>
            </a:r>
            <a:endParaRPr lang="en-US" dirty="0"/>
          </a:p>
        </p:txBody>
      </p:sp>
      <p:pic>
        <p:nvPicPr>
          <p:cNvPr id="23" name="Picture 22"/>
          <p:cNvPicPr>
            <a:picLocks noChangeAspect="1"/>
          </p:cNvPicPr>
          <p:nvPr/>
        </p:nvPicPr>
        <p:blipFill>
          <a:blip r:embed="rId3"/>
          <a:stretch>
            <a:fillRect/>
          </a:stretch>
        </p:blipFill>
        <p:spPr>
          <a:xfrm>
            <a:off x="2408550" y="4098175"/>
            <a:ext cx="4678050" cy="539063"/>
          </a:xfrm>
          <a:prstGeom prst="rect">
            <a:avLst/>
          </a:prstGeom>
        </p:spPr>
      </p:pic>
      <p:sp>
        <p:nvSpPr>
          <p:cNvPr id="33" name="Rectangle 32"/>
          <p:cNvSpPr/>
          <p:nvPr/>
        </p:nvSpPr>
        <p:spPr>
          <a:xfrm>
            <a:off x="2371965" y="3669382"/>
            <a:ext cx="349492" cy="26953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p:cNvSpPr txBox="1"/>
          <p:nvPr/>
        </p:nvSpPr>
        <p:spPr>
          <a:xfrm>
            <a:off x="5674486" y="4704666"/>
            <a:ext cx="650114"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front</a:t>
            </a:r>
            <a:endParaRPr lang="en-US" dirty="0"/>
          </a:p>
        </p:txBody>
      </p:sp>
      <p:sp>
        <p:nvSpPr>
          <p:cNvPr id="45" name="TextBox 44"/>
          <p:cNvSpPr txBox="1"/>
          <p:nvPr/>
        </p:nvSpPr>
        <p:spPr>
          <a:xfrm>
            <a:off x="1277557" y="4970552"/>
            <a:ext cx="572228"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dirty="0" smtClean="0"/>
              <a:t>rear</a:t>
            </a:r>
            <a:endParaRPr lang="en-US" dirty="0"/>
          </a:p>
        </p:txBody>
      </p:sp>
      <p:cxnSp>
        <p:nvCxnSpPr>
          <p:cNvPr id="47" name="Straight Arrow Connector 46"/>
          <p:cNvCxnSpPr/>
          <p:nvPr/>
        </p:nvCxnSpPr>
        <p:spPr>
          <a:xfrm flipH="1">
            <a:off x="5468557" y="4889332"/>
            <a:ext cx="246443" cy="265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a:off x="1914160" y="5155218"/>
            <a:ext cx="457805" cy="269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Down Arrow 49"/>
          <p:cNvSpPr/>
          <p:nvPr/>
        </p:nvSpPr>
        <p:spPr>
          <a:xfrm>
            <a:off x="4245767" y="4704666"/>
            <a:ext cx="326233" cy="3693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p:nvPr/>
        </p:nvCxnSpPr>
        <p:spPr>
          <a:xfrm>
            <a:off x="5217286" y="4488017"/>
            <a:ext cx="325057" cy="0"/>
          </a:xfrm>
          <a:prstGeom prst="straightConnector1">
            <a:avLst/>
          </a:prstGeom>
          <a:ln w="508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2438400" y="4495800"/>
            <a:ext cx="325057" cy="0"/>
          </a:xfrm>
          <a:prstGeom prst="straightConnector1">
            <a:avLst/>
          </a:prstGeom>
          <a:ln w="508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2759825" y="4495800"/>
            <a:ext cx="325057" cy="0"/>
          </a:xfrm>
          <a:prstGeom prst="straightConnector1">
            <a:avLst/>
          </a:prstGeom>
          <a:ln w="508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3064625" y="4495800"/>
            <a:ext cx="325057" cy="0"/>
          </a:xfrm>
          <a:prstGeom prst="straightConnector1">
            <a:avLst/>
          </a:prstGeom>
          <a:ln w="508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3369425" y="4495800"/>
            <a:ext cx="325057" cy="0"/>
          </a:xfrm>
          <a:prstGeom prst="straightConnector1">
            <a:avLst/>
          </a:prstGeom>
          <a:ln w="508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3674225" y="4495800"/>
            <a:ext cx="325057" cy="0"/>
          </a:xfrm>
          <a:prstGeom prst="straightConnector1">
            <a:avLst/>
          </a:prstGeom>
          <a:ln w="508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3962400" y="4495800"/>
            <a:ext cx="325057" cy="0"/>
          </a:xfrm>
          <a:prstGeom prst="straightConnector1">
            <a:avLst/>
          </a:prstGeom>
          <a:ln w="508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4588625" y="4495800"/>
            <a:ext cx="325057" cy="0"/>
          </a:xfrm>
          <a:prstGeom prst="straightConnector1">
            <a:avLst/>
          </a:prstGeom>
          <a:ln w="508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4283825" y="4495800"/>
            <a:ext cx="325057" cy="0"/>
          </a:xfrm>
          <a:prstGeom prst="straightConnector1">
            <a:avLst/>
          </a:prstGeom>
          <a:ln w="508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4876800" y="4495800"/>
            <a:ext cx="325057" cy="0"/>
          </a:xfrm>
          <a:prstGeom prst="straightConnector1">
            <a:avLst/>
          </a:prstGeom>
          <a:ln w="508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2546711" y="3938914"/>
            <a:ext cx="0" cy="244126"/>
          </a:xfrm>
          <a:prstGeom prst="straightConnector1">
            <a:avLst/>
          </a:prstGeom>
          <a:ln w="508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pic>
        <p:nvPicPr>
          <p:cNvPr id="26" name="Picture 25"/>
          <p:cNvPicPr>
            <a:picLocks noChangeAspect="1"/>
          </p:cNvPicPr>
          <p:nvPr/>
        </p:nvPicPr>
        <p:blipFill>
          <a:blip r:embed="rId4"/>
          <a:stretch>
            <a:fillRect/>
          </a:stretch>
        </p:blipFill>
        <p:spPr>
          <a:xfrm>
            <a:off x="2408550" y="5136583"/>
            <a:ext cx="4678050" cy="539063"/>
          </a:xfrm>
          <a:prstGeom prst="rect">
            <a:avLst/>
          </a:prstGeom>
        </p:spPr>
      </p:pic>
      <p:cxnSp>
        <p:nvCxnSpPr>
          <p:cNvPr id="46" name="Straight Arrow Connector 45"/>
          <p:cNvCxnSpPr/>
          <p:nvPr/>
        </p:nvCxnSpPr>
        <p:spPr>
          <a:xfrm flipH="1">
            <a:off x="5410200" y="3810000"/>
            <a:ext cx="246443" cy="265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5720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500"/>
                                        <p:tgtEl>
                                          <p:spTgt spid="19"/>
                                        </p:tgtEl>
                                      </p:cBhvr>
                                    </p:animEffect>
                                  </p:childTnLst>
                                </p:cTn>
                              </p:par>
                              <p:par>
                                <p:cTn id="8" presetID="22" presetClass="entr" presetSubtype="4"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down)">
                                      <p:cBhvr>
                                        <p:cTn id="10" dur="500"/>
                                        <p:tgtEl>
                                          <p:spTgt spid="20"/>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wipe(down)">
                                      <p:cBhvr>
                                        <p:cTn id="13" dur="500"/>
                                        <p:tgtEl>
                                          <p:spTgt spid="21"/>
                                        </p:tgtEl>
                                      </p:cBhvr>
                                    </p:animEffect>
                                  </p:childTnLst>
                                </p:cTn>
                              </p:par>
                              <p:par>
                                <p:cTn id="14" presetID="22" presetClass="entr" presetSubtype="4"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down)">
                                      <p:cBhvr>
                                        <p:cTn id="16" dur="500"/>
                                        <p:tgtEl>
                                          <p:spTgt spid="22"/>
                                        </p:tgtEl>
                                      </p:cBhvr>
                                    </p:animEffect>
                                  </p:childTnLst>
                                </p:cTn>
                              </p:par>
                              <p:par>
                                <p:cTn id="17" presetID="22" presetClass="entr" presetSubtype="4"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ipe(down)">
                                      <p:cBhvr>
                                        <p:cTn id="19" dur="500"/>
                                        <p:tgtEl>
                                          <p:spTgt spid="23"/>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down)">
                                      <p:cBhvr>
                                        <p:cTn id="22" dur="500"/>
                                        <p:tgtEl>
                                          <p:spTgt spid="33"/>
                                        </p:tgtEl>
                                      </p:cBhvr>
                                    </p:animEffect>
                                  </p:childTnLst>
                                </p:cTn>
                              </p:par>
                            </p:childTnLst>
                          </p:cTn>
                        </p:par>
                        <p:par>
                          <p:cTn id="23" fill="hold">
                            <p:stCondLst>
                              <p:cond delay="500"/>
                            </p:stCondLst>
                            <p:childTnLst>
                              <p:par>
                                <p:cTn id="24" presetID="2" presetClass="exit" presetSubtype="4" fill="hold" nodeType="afterEffect">
                                  <p:stCondLst>
                                    <p:cond delay="0"/>
                                  </p:stCondLst>
                                  <p:childTnLst>
                                    <p:anim calcmode="lin" valueType="num">
                                      <p:cBhvr additive="base">
                                        <p:cTn id="25" dur="500"/>
                                        <p:tgtEl>
                                          <p:spTgt spid="22"/>
                                        </p:tgtEl>
                                        <p:attrNameLst>
                                          <p:attrName>ppt_x</p:attrName>
                                        </p:attrNameLst>
                                      </p:cBhvr>
                                      <p:tavLst>
                                        <p:tav tm="0">
                                          <p:val>
                                            <p:strVal val="ppt_x"/>
                                          </p:val>
                                        </p:tav>
                                        <p:tav tm="100000">
                                          <p:val>
                                            <p:strVal val="ppt_x"/>
                                          </p:val>
                                        </p:tav>
                                      </p:tavLst>
                                    </p:anim>
                                    <p:anim calcmode="lin" valueType="num">
                                      <p:cBhvr additive="base">
                                        <p:cTn id="26" dur="500"/>
                                        <p:tgtEl>
                                          <p:spTgt spid="22"/>
                                        </p:tgtEl>
                                        <p:attrNameLst>
                                          <p:attrName>ppt_y</p:attrName>
                                        </p:attrNameLst>
                                      </p:cBhvr>
                                      <p:tavLst>
                                        <p:tav tm="0">
                                          <p:val>
                                            <p:strVal val="ppt_y"/>
                                          </p:val>
                                        </p:tav>
                                        <p:tav tm="100000">
                                          <p:val>
                                            <p:strVal val="1+ppt_h/2"/>
                                          </p:val>
                                        </p:tav>
                                      </p:tavLst>
                                    </p:anim>
                                    <p:set>
                                      <p:cBhvr>
                                        <p:cTn id="27" dur="1" fill="hold">
                                          <p:stCondLst>
                                            <p:cond delay="499"/>
                                          </p:stCondLst>
                                        </p:cTn>
                                        <p:tgtEl>
                                          <p:spTgt spid="22"/>
                                        </p:tgtEl>
                                        <p:attrNameLst>
                                          <p:attrName>style.visibility</p:attrName>
                                        </p:attrNameLst>
                                      </p:cBhvr>
                                      <p:to>
                                        <p:strVal val="hidden"/>
                                      </p:to>
                                    </p:set>
                                  </p:childTnLst>
                                </p:cTn>
                              </p:par>
                            </p:childTnLst>
                          </p:cTn>
                        </p:par>
                        <p:par>
                          <p:cTn id="28" fill="hold">
                            <p:stCondLst>
                              <p:cond delay="1000"/>
                            </p:stCondLst>
                            <p:childTnLst>
                              <p:par>
                                <p:cTn id="29" presetID="22" presetClass="entr" presetSubtype="8" fill="hold"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left)">
                                      <p:cBhvr>
                                        <p:cTn id="31" dur="500"/>
                                        <p:tgtEl>
                                          <p:spTgt spid="6"/>
                                        </p:tgtEl>
                                      </p:cBhvr>
                                    </p:animEffect>
                                  </p:childTnLst>
                                </p:cTn>
                              </p:par>
                            </p:childTnLst>
                          </p:cTn>
                        </p:par>
                        <p:par>
                          <p:cTn id="32" fill="hold">
                            <p:stCondLst>
                              <p:cond delay="1500"/>
                            </p:stCondLst>
                            <p:childTnLst>
                              <p:par>
                                <p:cTn id="33" presetID="22" presetClass="entr" presetSubtype="8" fill="hold" nodeType="after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wipe(left)">
                                      <p:cBhvr>
                                        <p:cTn id="35" dur="500"/>
                                        <p:tgtEl>
                                          <p:spTgt spid="37"/>
                                        </p:tgtEl>
                                      </p:cBhvr>
                                    </p:animEffect>
                                  </p:childTnLst>
                                </p:cTn>
                              </p:par>
                            </p:childTnLst>
                          </p:cTn>
                        </p:par>
                        <p:par>
                          <p:cTn id="36" fill="hold">
                            <p:stCondLst>
                              <p:cond delay="2000"/>
                            </p:stCondLst>
                            <p:childTnLst>
                              <p:par>
                                <p:cTn id="37" presetID="22" presetClass="entr" presetSubtype="8" fill="hold" nodeType="afterEffect">
                                  <p:stCondLst>
                                    <p:cond delay="0"/>
                                  </p:stCondLst>
                                  <p:childTnLst>
                                    <p:set>
                                      <p:cBhvr>
                                        <p:cTn id="38" dur="1" fill="hold">
                                          <p:stCondLst>
                                            <p:cond delay="0"/>
                                          </p:stCondLst>
                                        </p:cTn>
                                        <p:tgtEl>
                                          <p:spTgt spid="35"/>
                                        </p:tgtEl>
                                        <p:attrNameLst>
                                          <p:attrName>style.visibility</p:attrName>
                                        </p:attrNameLst>
                                      </p:cBhvr>
                                      <p:to>
                                        <p:strVal val="visible"/>
                                      </p:to>
                                    </p:set>
                                    <p:animEffect transition="in" filter="wipe(left)">
                                      <p:cBhvr>
                                        <p:cTn id="39" dur="500"/>
                                        <p:tgtEl>
                                          <p:spTgt spid="35"/>
                                        </p:tgtEl>
                                      </p:cBhvr>
                                    </p:animEffect>
                                  </p:childTnLst>
                                </p:cTn>
                              </p:par>
                            </p:childTnLst>
                          </p:cTn>
                        </p:par>
                        <p:par>
                          <p:cTn id="40" fill="hold">
                            <p:stCondLst>
                              <p:cond delay="2500"/>
                            </p:stCondLst>
                            <p:childTnLst>
                              <p:par>
                                <p:cTn id="41" presetID="22" presetClass="entr" presetSubtype="8" fill="hold" nodeType="after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wipe(left)">
                                      <p:cBhvr>
                                        <p:cTn id="43" dur="500"/>
                                        <p:tgtEl>
                                          <p:spTgt spid="36"/>
                                        </p:tgtEl>
                                      </p:cBhvr>
                                    </p:animEffect>
                                  </p:childTnLst>
                                </p:cTn>
                              </p:par>
                            </p:childTnLst>
                          </p:cTn>
                        </p:par>
                        <p:par>
                          <p:cTn id="44" fill="hold">
                            <p:stCondLst>
                              <p:cond delay="3000"/>
                            </p:stCondLst>
                            <p:childTnLst>
                              <p:par>
                                <p:cTn id="45" presetID="22" presetClass="entr" presetSubtype="8" fill="hold" nodeType="after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wipe(left)">
                                      <p:cBhvr>
                                        <p:cTn id="47" dur="500"/>
                                        <p:tgtEl>
                                          <p:spTgt spid="34"/>
                                        </p:tgtEl>
                                      </p:cBhvr>
                                    </p:animEffect>
                                  </p:childTnLst>
                                </p:cTn>
                              </p:par>
                            </p:childTnLst>
                          </p:cTn>
                        </p:par>
                        <p:par>
                          <p:cTn id="48" fill="hold">
                            <p:stCondLst>
                              <p:cond delay="3500"/>
                            </p:stCondLst>
                            <p:childTnLst>
                              <p:par>
                                <p:cTn id="49" presetID="22" presetClass="entr" presetSubtype="8" fill="hold" nodeType="after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wipe(left)">
                                      <p:cBhvr>
                                        <p:cTn id="51" dur="500"/>
                                        <p:tgtEl>
                                          <p:spTgt spid="32"/>
                                        </p:tgtEl>
                                      </p:cBhvr>
                                    </p:animEffect>
                                  </p:childTnLst>
                                </p:cTn>
                              </p:par>
                            </p:childTnLst>
                          </p:cTn>
                        </p:par>
                        <p:par>
                          <p:cTn id="52" fill="hold">
                            <p:stCondLst>
                              <p:cond delay="4000"/>
                            </p:stCondLst>
                            <p:childTnLst>
                              <p:par>
                                <p:cTn id="53" presetID="22" presetClass="entr" presetSubtype="8" fill="hold" nodeType="after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wipe(left)">
                                      <p:cBhvr>
                                        <p:cTn id="55" dur="500"/>
                                        <p:tgtEl>
                                          <p:spTgt spid="31"/>
                                        </p:tgtEl>
                                      </p:cBhvr>
                                    </p:animEffect>
                                  </p:childTnLst>
                                </p:cTn>
                              </p:par>
                            </p:childTnLst>
                          </p:cTn>
                        </p:par>
                        <p:par>
                          <p:cTn id="56" fill="hold">
                            <p:stCondLst>
                              <p:cond delay="4500"/>
                            </p:stCondLst>
                            <p:childTnLst>
                              <p:par>
                                <p:cTn id="57" presetID="22" presetClass="entr" presetSubtype="8" fill="hold" nodeType="after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wipe(left)">
                                      <p:cBhvr>
                                        <p:cTn id="59" dur="500"/>
                                        <p:tgtEl>
                                          <p:spTgt spid="29"/>
                                        </p:tgtEl>
                                      </p:cBhvr>
                                    </p:animEffect>
                                  </p:childTnLst>
                                </p:cTn>
                              </p:par>
                            </p:childTnLst>
                          </p:cTn>
                        </p:par>
                        <p:par>
                          <p:cTn id="60" fill="hold">
                            <p:stCondLst>
                              <p:cond delay="5000"/>
                            </p:stCondLst>
                            <p:childTnLst>
                              <p:par>
                                <p:cTn id="61" presetID="22" presetClass="entr" presetSubtype="8" fill="hold" nodeType="after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wipe(left)">
                                      <p:cBhvr>
                                        <p:cTn id="63" dur="500"/>
                                        <p:tgtEl>
                                          <p:spTgt spid="28"/>
                                        </p:tgtEl>
                                      </p:cBhvr>
                                    </p:animEffect>
                                  </p:childTnLst>
                                </p:cTn>
                              </p:par>
                            </p:childTnLst>
                          </p:cTn>
                        </p:par>
                        <p:par>
                          <p:cTn id="64" fill="hold">
                            <p:stCondLst>
                              <p:cond delay="5500"/>
                            </p:stCondLst>
                            <p:childTnLst>
                              <p:par>
                                <p:cTn id="65" presetID="22" presetClass="entr" presetSubtype="8" fill="hold" nodeType="after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wipe(left)">
                                      <p:cBhvr>
                                        <p:cTn id="67" dur="500"/>
                                        <p:tgtEl>
                                          <p:spTgt spid="27"/>
                                        </p:tgtEl>
                                      </p:cBhvr>
                                    </p:animEffect>
                                  </p:childTnLst>
                                </p:cTn>
                              </p:par>
                            </p:childTnLst>
                          </p:cTn>
                        </p:par>
                        <p:par>
                          <p:cTn id="68" fill="hold">
                            <p:stCondLst>
                              <p:cond delay="6000"/>
                            </p:stCondLst>
                            <p:childTnLst>
                              <p:par>
                                <p:cTn id="69" presetID="22" presetClass="entr" presetSubtype="1" fill="hold" nodeType="after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wipe(up)">
                                      <p:cBhvr>
                                        <p:cTn id="71" dur="500"/>
                                        <p:tgtEl>
                                          <p:spTgt spid="14"/>
                                        </p:tgtEl>
                                      </p:cBhvr>
                                    </p:animEffect>
                                  </p:childTnLst>
                                </p:cTn>
                              </p:par>
                              <p:par>
                                <p:cTn id="72" presetID="22" presetClass="entr" presetSubtype="8" fill="hold" nodeType="withEffect">
                                  <p:stCondLst>
                                    <p:cond delay="0"/>
                                  </p:stCondLst>
                                  <p:childTnLst>
                                    <p:set>
                                      <p:cBhvr>
                                        <p:cTn id="73" dur="1" fill="hold">
                                          <p:stCondLst>
                                            <p:cond delay="0"/>
                                          </p:stCondLst>
                                        </p:cTn>
                                        <p:tgtEl>
                                          <p:spTgt spid="46"/>
                                        </p:tgtEl>
                                        <p:attrNameLst>
                                          <p:attrName>style.visibility</p:attrName>
                                        </p:attrNameLst>
                                      </p:cBhvr>
                                      <p:to>
                                        <p:strVal val="visible"/>
                                      </p:to>
                                    </p:set>
                                    <p:animEffect transition="in" filter="wipe(left)">
                                      <p:cBhvr>
                                        <p:cTn id="74" dur="500"/>
                                        <p:tgtEl>
                                          <p:spTgt spid="46"/>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49"/>
                                        </p:tgtEl>
                                        <p:attrNameLst>
                                          <p:attrName>style.visibility</p:attrName>
                                        </p:attrNameLst>
                                      </p:cBhvr>
                                      <p:to>
                                        <p:strVal val="visible"/>
                                      </p:to>
                                    </p:set>
                                    <p:animEffect transition="in" filter="wipe(left)">
                                      <p:cBhvr>
                                        <p:cTn id="79" dur="500"/>
                                        <p:tgtEl>
                                          <p:spTgt spid="49"/>
                                        </p:tgtEl>
                                      </p:cBhvr>
                                    </p:animEffect>
                                  </p:childTnLst>
                                </p:cTn>
                              </p:par>
                              <p:par>
                                <p:cTn id="80" presetID="22" presetClass="entr" presetSubtype="8" fill="hold" nodeType="withEffect">
                                  <p:stCondLst>
                                    <p:cond delay="0"/>
                                  </p:stCondLst>
                                  <p:childTnLst>
                                    <p:set>
                                      <p:cBhvr>
                                        <p:cTn id="81" dur="1" fill="hold">
                                          <p:stCondLst>
                                            <p:cond delay="0"/>
                                          </p:stCondLst>
                                        </p:cTn>
                                        <p:tgtEl>
                                          <p:spTgt spid="47"/>
                                        </p:tgtEl>
                                        <p:attrNameLst>
                                          <p:attrName>style.visibility</p:attrName>
                                        </p:attrNameLst>
                                      </p:cBhvr>
                                      <p:to>
                                        <p:strVal val="visible"/>
                                      </p:to>
                                    </p:set>
                                    <p:animEffect transition="in" filter="wipe(left)">
                                      <p:cBhvr>
                                        <p:cTn id="82" dur="500"/>
                                        <p:tgtEl>
                                          <p:spTgt spid="47"/>
                                        </p:tgtEl>
                                      </p:cBhvr>
                                    </p:animEffect>
                                  </p:childTnLst>
                                </p:cTn>
                              </p:par>
                              <p:par>
                                <p:cTn id="83" presetID="22" presetClass="entr" presetSubtype="8" fill="hold" grpId="0" nodeType="withEffect">
                                  <p:stCondLst>
                                    <p:cond delay="0"/>
                                  </p:stCondLst>
                                  <p:childTnLst>
                                    <p:set>
                                      <p:cBhvr>
                                        <p:cTn id="84" dur="1" fill="hold">
                                          <p:stCondLst>
                                            <p:cond delay="0"/>
                                          </p:stCondLst>
                                        </p:cTn>
                                        <p:tgtEl>
                                          <p:spTgt spid="44"/>
                                        </p:tgtEl>
                                        <p:attrNameLst>
                                          <p:attrName>style.visibility</p:attrName>
                                        </p:attrNameLst>
                                      </p:cBhvr>
                                      <p:to>
                                        <p:strVal val="visible"/>
                                      </p:to>
                                    </p:set>
                                    <p:animEffect transition="in" filter="wipe(left)">
                                      <p:cBhvr>
                                        <p:cTn id="85" dur="500"/>
                                        <p:tgtEl>
                                          <p:spTgt spid="44"/>
                                        </p:tgtEl>
                                      </p:cBhvr>
                                    </p:animEffect>
                                  </p:childTnLst>
                                </p:cTn>
                              </p:par>
                              <p:par>
                                <p:cTn id="86" presetID="22" presetClass="entr" presetSubtype="8" fill="hold" grpId="0" nodeType="withEffect">
                                  <p:stCondLst>
                                    <p:cond delay="0"/>
                                  </p:stCondLst>
                                  <p:childTnLst>
                                    <p:set>
                                      <p:cBhvr>
                                        <p:cTn id="87" dur="1" fill="hold">
                                          <p:stCondLst>
                                            <p:cond delay="0"/>
                                          </p:stCondLst>
                                        </p:cTn>
                                        <p:tgtEl>
                                          <p:spTgt spid="50"/>
                                        </p:tgtEl>
                                        <p:attrNameLst>
                                          <p:attrName>style.visibility</p:attrName>
                                        </p:attrNameLst>
                                      </p:cBhvr>
                                      <p:to>
                                        <p:strVal val="visible"/>
                                      </p:to>
                                    </p:set>
                                    <p:animEffect transition="in" filter="wipe(left)">
                                      <p:cBhvr>
                                        <p:cTn id="88" dur="500"/>
                                        <p:tgtEl>
                                          <p:spTgt spid="50"/>
                                        </p:tgtEl>
                                      </p:cBhvr>
                                    </p:animEffect>
                                  </p:childTnLst>
                                </p:cTn>
                              </p:par>
                              <p:par>
                                <p:cTn id="89" presetID="22" presetClass="entr" presetSubtype="8" fill="hold" grpId="0" nodeType="withEffect">
                                  <p:stCondLst>
                                    <p:cond delay="0"/>
                                  </p:stCondLst>
                                  <p:childTnLst>
                                    <p:set>
                                      <p:cBhvr>
                                        <p:cTn id="90" dur="1" fill="hold">
                                          <p:stCondLst>
                                            <p:cond delay="0"/>
                                          </p:stCondLst>
                                        </p:cTn>
                                        <p:tgtEl>
                                          <p:spTgt spid="45"/>
                                        </p:tgtEl>
                                        <p:attrNameLst>
                                          <p:attrName>style.visibility</p:attrName>
                                        </p:attrNameLst>
                                      </p:cBhvr>
                                      <p:to>
                                        <p:strVal val="visible"/>
                                      </p:to>
                                    </p:set>
                                    <p:animEffect transition="in" filter="wipe(left)">
                                      <p:cBhvr>
                                        <p:cTn id="91" dur="500"/>
                                        <p:tgtEl>
                                          <p:spTgt spid="45"/>
                                        </p:tgtEl>
                                      </p:cBhvr>
                                    </p:animEffect>
                                  </p:childTnLst>
                                </p:cTn>
                              </p:par>
                              <p:par>
                                <p:cTn id="92" presetID="22" presetClass="entr" presetSubtype="4" fill="hold" nodeType="withEffect">
                                  <p:stCondLst>
                                    <p:cond delay="0"/>
                                  </p:stCondLst>
                                  <p:childTnLst>
                                    <p:set>
                                      <p:cBhvr>
                                        <p:cTn id="93" dur="1" fill="hold">
                                          <p:stCondLst>
                                            <p:cond delay="0"/>
                                          </p:stCondLst>
                                        </p:cTn>
                                        <p:tgtEl>
                                          <p:spTgt spid="26"/>
                                        </p:tgtEl>
                                        <p:attrNameLst>
                                          <p:attrName>style.visibility</p:attrName>
                                        </p:attrNameLst>
                                      </p:cBhvr>
                                      <p:to>
                                        <p:strVal val="visible"/>
                                      </p:to>
                                    </p:set>
                                    <p:animEffect transition="in" filter="wipe(down)">
                                      <p:cBhvr>
                                        <p:cTn id="9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33" grpId="0" animBg="1"/>
      <p:bldP spid="44" grpId="0" animBg="1"/>
      <p:bldP spid="45" grpId="0" animBg="1"/>
      <p:bldP spid="5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5657E917-6D97-4FA4-9E27-606C7A8A3676}" type="slidenum">
              <a:rPr lang="en-US" smtClean="0"/>
              <a:pPr/>
              <a:t>9</a:t>
            </a:fld>
            <a:endParaRPr lang="en-US"/>
          </a:p>
        </p:txBody>
      </p:sp>
    </p:spTree>
    <p:extLst>
      <p:ext uri="{BB962C8B-B14F-4D97-AF65-F5344CB8AC3E}">
        <p14:creationId xmlns:p14="http://schemas.microsoft.com/office/powerpoint/2010/main" val="3246043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943600"/>
          </a:xfrm>
        </p:spPr>
        <p:txBody>
          <a:bodyPr>
            <a:noAutofit/>
          </a:bodyPr>
          <a:lstStyle/>
          <a:p>
            <a:r>
              <a:rPr lang="en-US" sz="2400" dirty="0" smtClean="0"/>
              <a:t>Assume that there are n elements in the queue and </a:t>
            </a:r>
            <a:r>
              <a:rPr lang="en-US" sz="2000" dirty="0" smtClean="0"/>
              <a:t>Like our list implementation, we require that all elements of the queue be stored in the first n positions of the array. </a:t>
            </a:r>
          </a:p>
          <a:p>
            <a:endParaRPr lang="en-US" sz="2000" dirty="0"/>
          </a:p>
          <a:p>
            <a:endParaRPr lang="en-US" sz="2400" dirty="0" smtClean="0"/>
          </a:p>
          <a:p>
            <a:pPr marL="0" indent="0">
              <a:buNone/>
            </a:pPr>
            <a:r>
              <a:rPr lang="en-US" sz="2800" dirty="0" err="1" smtClean="0"/>
              <a:t>Impl</a:t>
            </a:r>
            <a:r>
              <a:rPr lang="en-US" sz="2800" dirty="0" smtClean="0"/>
              <a:t>. 2:</a:t>
            </a:r>
          </a:p>
          <a:p>
            <a:r>
              <a:rPr lang="en-US" sz="2800" dirty="0" smtClean="0"/>
              <a:t>The rear element of the queue is at position n-1, </a:t>
            </a:r>
          </a:p>
          <a:p>
            <a:pPr lvl="1"/>
            <a:endParaRPr lang="en-US" sz="2400" b="1" dirty="0" smtClean="0"/>
          </a:p>
          <a:p>
            <a:pPr lvl="1"/>
            <a:endParaRPr lang="en-US" sz="2400" b="1" dirty="0"/>
          </a:p>
          <a:p>
            <a:pPr lvl="1"/>
            <a:endParaRPr lang="en-US" sz="2400" b="1" dirty="0" smtClean="0"/>
          </a:p>
          <a:p>
            <a:pPr lvl="1"/>
            <a:endParaRPr lang="en-US" sz="2400" b="1" dirty="0"/>
          </a:p>
          <a:p>
            <a:pPr lvl="1"/>
            <a:endParaRPr lang="en-US" sz="2400" b="1" dirty="0" smtClean="0"/>
          </a:p>
          <a:p>
            <a:pPr lvl="1"/>
            <a:r>
              <a:rPr lang="en-US" sz="2400" dirty="0"/>
              <a:t>then an </a:t>
            </a:r>
            <a:r>
              <a:rPr lang="en-US" sz="2400" b="1" dirty="0" err="1"/>
              <a:t>enqueue</a:t>
            </a:r>
            <a:r>
              <a:rPr lang="en-US" sz="2400" b="1" dirty="0"/>
              <a:t> operation is </a:t>
            </a:r>
            <a:r>
              <a:rPr lang="en-US" sz="2400" dirty="0"/>
              <a:t>equivalent to an </a:t>
            </a:r>
            <a:r>
              <a:rPr lang="en-US" sz="2400" b="1" dirty="0"/>
              <a:t>append operation on a list. This requires only O(1) time. </a:t>
            </a:r>
          </a:p>
        </p:txBody>
      </p:sp>
      <p:cxnSp>
        <p:nvCxnSpPr>
          <p:cNvPr id="30" name="Straight Arrow Connector 29"/>
          <p:cNvCxnSpPr/>
          <p:nvPr/>
        </p:nvCxnSpPr>
        <p:spPr>
          <a:xfrm flipH="1">
            <a:off x="5105400" y="3694438"/>
            <a:ext cx="501808" cy="369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0"/>
            <a:ext cx="8229600" cy="762000"/>
          </a:xfrm>
        </p:spPr>
        <p:txBody>
          <a:bodyPr/>
          <a:lstStyle/>
          <a:p>
            <a:r>
              <a:rPr lang="en-US" dirty="0" smtClean="0"/>
              <a:t>Array Based Implementation</a:t>
            </a:r>
            <a:endParaRPr lang="en-US" dirty="0"/>
          </a:p>
        </p:txBody>
      </p:sp>
      <p:sp>
        <p:nvSpPr>
          <p:cNvPr id="5" name="Slide Number Placeholder 4"/>
          <p:cNvSpPr>
            <a:spLocks noGrp="1"/>
          </p:cNvSpPr>
          <p:nvPr>
            <p:ph type="sldNum" sz="quarter" idx="12"/>
          </p:nvPr>
        </p:nvSpPr>
        <p:spPr/>
        <p:txBody>
          <a:bodyPr/>
          <a:lstStyle/>
          <a:p>
            <a:fld id="{5657E917-6D97-4FA4-9E27-606C7A8A3676}" type="slidenum">
              <a:rPr lang="en-US" smtClean="0"/>
              <a:pPr/>
              <a:t>10</a:t>
            </a:fld>
            <a:endParaRPr lang="en-US"/>
          </a:p>
        </p:txBody>
      </p:sp>
      <p:sp>
        <p:nvSpPr>
          <p:cNvPr id="8" name="TextBox 7"/>
          <p:cNvSpPr txBox="1"/>
          <p:nvPr/>
        </p:nvSpPr>
        <p:spPr>
          <a:xfrm>
            <a:off x="5105400" y="1425063"/>
            <a:ext cx="567976"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rear</a:t>
            </a:r>
            <a:endParaRPr lang="en-US" dirty="0"/>
          </a:p>
        </p:txBody>
      </p:sp>
      <p:cxnSp>
        <p:nvCxnSpPr>
          <p:cNvPr id="10" name="Straight Arrow Connector 9"/>
          <p:cNvCxnSpPr/>
          <p:nvPr/>
        </p:nvCxnSpPr>
        <p:spPr>
          <a:xfrm>
            <a:off x="1412352" y="2078486"/>
            <a:ext cx="381000" cy="1401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762000" y="1913665"/>
            <a:ext cx="650352"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dirty="0" smtClean="0"/>
              <a:t>front</a:t>
            </a:r>
            <a:endParaRPr lang="en-US" dirty="0"/>
          </a:p>
        </p:txBody>
      </p:sp>
      <p:cxnSp>
        <p:nvCxnSpPr>
          <p:cNvPr id="15" name="Straight Arrow Connector 14"/>
          <p:cNvCxnSpPr/>
          <p:nvPr/>
        </p:nvCxnSpPr>
        <p:spPr>
          <a:xfrm flipH="1">
            <a:off x="4612514" y="1510278"/>
            <a:ext cx="492886" cy="335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7" name="Picture 16"/>
          <p:cNvPicPr>
            <a:picLocks noChangeAspect="1"/>
          </p:cNvPicPr>
          <p:nvPr/>
        </p:nvPicPr>
        <p:blipFill>
          <a:blip r:embed="rId3"/>
          <a:stretch>
            <a:fillRect/>
          </a:stretch>
        </p:blipFill>
        <p:spPr>
          <a:xfrm>
            <a:off x="1906742" y="1828800"/>
            <a:ext cx="4678050" cy="539063"/>
          </a:xfrm>
          <a:prstGeom prst="rect">
            <a:avLst/>
          </a:prstGeom>
        </p:spPr>
      </p:pic>
      <p:sp>
        <p:nvSpPr>
          <p:cNvPr id="18" name="Left Brace 17"/>
          <p:cNvSpPr/>
          <p:nvPr/>
        </p:nvSpPr>
        <p:spPr>
          <a:xfrm rot="16200000">
            <a:off x="3142658" y="1073751"/>
            <a:ext cx="405466" cy="2966681"/>
          </a:xfrm>
          <a:prstGeom prst="leftBrace">
            <a:avLst>
              <a:gd name="adj1" fmla="val 8333"/>
              <a:gd name="adj2" fmla="val 4938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p:cNvSpPr txBox="1"/>
          <p:nvPr/>
        </p:nvSpPr>
        <p:spPr>
          <a:xfrm>
            <a:off x="5607208" y="3694438"/>
            <a:ext cx="567976"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rear</a:t>
            </a:r>
            <a:endParaRPr lang="en-US" dirty="0"/>
          </a:p>
        </p:txBody>
      </p:sp>
      <p:cxnSp>
        <p:nvCxnSpPr>
          <p:cNvPr id="20" name="Straight Arrow Connector 19"/>
          <p:cNvCxnSpPr/>
          <p:nvPr/>
        </p:nvCxnSpPr>
        <p:spPr>
          <a:xfrm>
            <a:off x="1914160" y="4347861"/>
            <a:ext cx="381000" cy="1401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263808" y="4183040"/>
            <a:ext cx="650352"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dirty="0" smtClean="0"/>
              <a:t>front</a:t>
            </a:r>
            <a:endParaRPr lang="en-US" dirty="0"/>
          </a:p>
        </p:txBody>
      </p:sp>
      <p:sp>
        <p:nvSpPr>
          <p:cNvPr id="44" name="TextBox 43"/>
          <p:cNvSpPr txBox="1"/>
          <p:nvPr/>
        </p:nvSpPr>
        <p:spPr>
          <a:xfrm>
            <a:off x="5638800" y="4659868"/>
            <a:ext cx="567976"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rear</a:t>
            </a:r>
            <a:endParaRPr lang="en-US" dirty="0"/>
          </a:p>
        </p:txBody>
      </p:sp>
      <p:sp>
        <p:nvSpPr>
          <p:cNvPr id="45" name="TextBox 44"/>
          <p:cNvSpPr txBox="1"/>
          <p:nvPr/>
        </p:nvSpPr>
        <p:spPr>
          <a:xfrm>
            <a:off x="1143000" y="4970552"/>
            <a:ext cx="650351"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dirty="0" smtClean="0"/>
              <a:t>front</a:t>
            </a:r>
            <a:endParaRPr lang="en-US" dirty="0"/>
          </a:p>
        </p:txBody>
      </p:sp>
      <p:cxnSp>
        <p:nvCxnSpPr>
          <p:cNvPr id="47" name="Straight Arrow Connector 46"/>
          <p:cNvCxnSpPr/>
          <p:nvPr/>
        </p:nvCxnSpPr>
        <p:spPr>
          <a:xfrm flipH="1">
            <a:off x="5334000" y="4800600"/>
            <a:ext cx="246443" cy="265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a:off x="1793352" y="5155218"/>
            <a:ext cx="457805" cy="269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Down Arrow 49"/>
          <p:cNvSpPr/>
          <p:nvPr/>
        </p:nvSpPr>
        <p:spPr>
          <a:xfrm>
            <a:off x="4245767" y="4704666"/>
            <a:ext cx="326233" cy="3693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4"/>
          <a:stretch>
            <a:fillRect/>
          </a:stretch>
        </p:blipFill>
        <p:spPr>
          <a:xfrm>
            <a:off x="2295160" y="4073270"/>
            <a:ext cx="4678050" cy="539063"/>
          </a:xfrm>
          <a:prstGeom prst="rect">
            <a:avLst/>
          </a:prstGeom>
        </p:spPr>
      </p:pic>
      <p:pic>
        <p:nvPicPr>
          <p:cNvPr id="13" name="Picture 12"/>
          <p:cNvPicPr>
            <a:picLocks noChangeAspect="1"/>
          </p:cNvPicPr>
          <p:nvPr/>
        </p:nvPicPr>
        <p:blipFill>
          <a:blip r:embed="rId5"/>
          <a:stretch>
            <a:fillRect/>
          </a:stretch>
        </p:blipFill>
        <p:spPr>
          <a:xfrm>
            <a:off x="2273489" y="5022172"/>
            <a:ext cx="4678050" cy="539063"/>
          </a:xfrm>
          <a:prstGeom prst="rect">
            <a:avLst/>
          </a:prstGeom>
        </p:spPr>
      </p:pic>
      <p:sp>
        <p:nvSpPr>
          <p:cNvPr id="14" name="Rectangle 13"/>
          <p:cNvSpPr/>
          <p:nvPr/>
        </p:nvSpPr>
        <p:spPr>
          <a:xfrm>
            <a:off x="4706557" y="3554195"/>
            <a:ext cx="304800" cy="36933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p:cNvSpPr/>
          <p:nvPr/>
        </p:nvSpPr>
        <p:spPr>
          <a:xfrm>
            <a:off x="5054138" y="3757353"/>
            <a:ext cx="350349" cy="299258"/>
          </a:xfrm>
          <a:custGeom>
            <a:avLst/>
            <a:gdLst>
              <a:gd name="connsiteX0" fmla="*/ 0 w 350349"/>
              <a:gd name="connsiteY0" fmla="*/ 0 h 299258"/>
              <a:gd name="connsiteX1" fmla="*/ 249382 w 350349"/>
              <a:gd name="connsiteY1" fmla="*/ 99752 h 299258"/>
              <a:gd name="connsiteX2" fmla="*/ 299258 w 350349"/>
              <a:gd name="connsiteY2" fmla="*/ 149629 h 299258"/>
              <a:gd name="connsiteX3" fmla="*/ 349135 w 350349"/>
              <a:gd name="connsiteY3" fmla="*/ 249382 h 299258"/>
              <a:gd name="connsiteX4" fmla="*/ 349135 w 350349"/>
              <a:gd name="connsiteY4" fmla="*/ 299258 h 2992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349" h="299258">
                <a:moveTo>
                  <a:pt x="0" y="0"/>
                </a:moveTo>
                <a:cubicBezTo>
                  <a:pt x="83127" y="33251"/>
                  <a:pt x="169303" y="59713"/>
                  <a:pt x="249382" y="99752"/>
                </a:cubicBezTo>
                <a:cubicBezTo>
                  <a:pt x="270412" y="110267"/>
                  <a:pt x="284206" y="131567"/>
                  <a:pt x="299258" y="149629"/>
                </a:cubicBezTo>
                <a:cubicBezTo>
                  <a:pt x="323194" y="178353"/>
                  <a:pt x="342886" y="211891"/>
                  <a:pt x="349135" y="249382"/>
                </a:cubicBezTo>
                <a:cubicBezTo>
                  <a:pt x="351868" y="265781"/>
                  <a:pt x="349135" y="282633"/>
                  <a:pt x="349135" y="299258"/>
                </a:cubicBezTo>
              </a:path>
            </a:pathLst>
          </a:custGeom>
          <a:noFill/>
          <a:ln w="50800">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28448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943600"/>
          </a:xfrm>
        </p:spPr>
        <p:txBody>
          <a:bodyPr>
            <a:noAutofit/>
          </a:bodyPr>
          <a:lstStyle/>
          <a:p>
            <a:r>
              <a:rPr lang="en-US" sz="2400" dirty="0" smtClean="0"/>
              <a:t>Assume that there are n elements in the queue and </a:t>
            </a:r>
            <a:r>
              <a:rPr lang="en-US" sz="2000" dirty="0" smtClean="0"/>
              <a:t>Like our list implementation, we require that all elements of the queue be stored in the first n positions of the array. </a:t>
            </a:r>
          </a:p>
          <a:p>
            <a:endParaRPr lang="en-US" sz="2000" dirty="0"/>
          </a:p>
          <a:p>
            <a:endParaRPr lang="en-US" sz="2400" dirty="0" smtClean="0"/>
          </a:p>
          <a:p>
            <a:pPr marL="0" indent="0">
              <a:buNone/>
            </a:pPr>
            <a:r>
              <a:rPr lang="en-US" sz="2800" dirty="0" err="1" smtClean="0"/>
              <a:t>Impl</a:t>
            </a:r>
            <a:r>
              <a:rPr lang="en-US" sz="2800" dirty="0" smtClean="0"/>
              <a:t>. 1:</a:t>
            </a:r>
          </a:p>
          <a:p>
            <a:r>
              <a:rPr lang="en-US" sz="2800" dirty="0" smtClean="0"/>
              <a:t>The rear element of the queue is at position </a:t>
            </a:r>
            <a:r>
              <a:rPr lang="en-US" sz="2800" dirty="0"/>
              <a:t>0, </a:t>
            </a:r>
            <a:endParaRPr lang="en-US" sz="2800" dirty="0" smtClean="0"/>
          </a:p>
          <a:p>
            <a:pPr lvl="1"/>
            <a:endParaRPr lang="en-US" sz="2400" b="1" dirty="0" smtClean="0"/>
          </a:p>
          <a:p>
            <a:pPr lvl="1"/>
            <a:endParaRPr lang="en-US" sz="2400" b="1" dirty="0"/>
          </a:p>
          <a:p>
            <a:pPr lvl="1"/>
            <a:endParaRPr lang="en-US" sz="2400" b="1" dirty="0" smtClean="0"/>
          </a:p>
          <a:p>
            <a:pPr lvl="1"/>
            <a:endParaRPr lang="en-US" sz="2400" b="1" dirty="0"/>
          </a:p>
          <a:p>
            <a:pPr lvl="1"/>
            <a:endParaRPr lang="en-US" sz="2400" b="1" dirty="0" smtClean="0"/>
          </a:p>
          <a:p>
            <a:pPr lvl="1"/>
            <a:r>
              <a:rPr lang="en-US" sz="2400" b="1" dirty="0"/>
              <a:t>But </a:t>
            </a:r>
            <a:r>
              <a:rPr lang="en-US" sz="2400" dirty="0"/>
              <a:t>now, a </a:t>
            </a:r>
            <a:r>
              <a:rPr lang="en-US" sz="2400" b="1" dirty="0" err="1"/>
              <a:t>dequeue</a:t>
            </a:r>
            <a:r>
              <a:rPr lang="en-US" sz="2400" b="1" dirty="0"/>
              <a:t> operation requires O(n) time, because all of the elements must </a:t>
            </a:r>
            <a:r>
              <a:rPr lang="en-US" sz="2400" dirty="0"/>
              <a:t>be shifted down by one position</a:t>
            </a:r>
            <a:r>
              <a:rPr lang="en-US" sz="2400" dirty="0" smtClean="0"/>
              <a:t>.</a:t>
            </a:r>
          </a:p>
          <a:p>
            <a:pPr lvl="1"/>
            <a:endParaRPr lang="en-US" sz="2400" b="1" dirty="0" smtClean="0"/>
          </a:p>
        </p:txBody>
      </p:sp>
      <p:cxnSp>
        <p:nvCxnSpPr>
          <p:cNvPr id="22" name="Straight Arrow Connector 21"/>
          <p:cNvCxnSpPr/>
          <p:nvPr/>
        </p:nvCxnSpPr>
        <p:spPr>
          <a:xfrm flipH="1">
            <a:off x="5114322" y="3779653"/>
            <a:ext cx="492886" cy="335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0"/>
            <a:ext cx="8229600" cy="762000"/>
          </a:xfrm>
        </p:spPr>
        <p:txBody>
          <a:bodyPr/>
          <a:lstStyle/>
          <a:p>
            <a:r>
              <a:rPr lang="en-US" dirty="0" smtClean="0"/>
              <a:t>Array Based Implementation</a:t>
            </a:r>
            <a:endParaRPr lang="en-US" dirty="0"/>
          </a:p>
        </p:txBody>
      </p:sp>
      <p:sp>
        <p:nvSpPr>
          <p:cNvPr id="5" name="Slide Number Placeholder 4"/>
          <p:cNvSpPr>
            <a:spLocks noGrp="1"/>
          </p:cNvSpPr>
          <p:nvPr>
            <p:ph type="sldNum" sz="quarter" idx="12"/>
          </p:nvPr>
        </p:nvSpPr>
        <p:spPr/>
        <p:txBody>
          <a:bodyPr/>
          <a:lstStyle/>
          <a:p>
            <a:fld id="{5657E917-6D97-4FA4-9E27-606C7A8A3676}" type="slidenum">
              <a:rPr lang="en-US" smtClean="0"/>
              <a:pPr/>
              <a:t>11</a:t>
            </a:fld>
            <a:endParaRPr lang="en-US"/>
          </a:p>
        </p:txBody>
      </p:sp>
      <p:cxnSp>
        <p:nvCxnSpPr>
          <p:cNvPr id="10" name="Straight Arrow Connector 9"/>
          <p:cNvCxnSpPr/>
          <p:nvPr/>
        </p:nvCxnSpPr>
        <p:spPr>
          <a:xfrm>
            <a:off x="1412352" y="2078486"/>
            <a:ext cx="381000" cy="1401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4612514" y="1510278"/>
            <a:ext cx="492886" cy="335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7" name="Picture 16"/>
          <p:cNvPicPr>
            <a:picLocks noChangeAspect="1"/>
          </p:cNvPicPr>
          <p:nvPr/>
        </p:nvPicPr>
        <p:blipFill>
          <a:blip r:embed="rId3"/>
          <a:stretch>
            <a:fillRect/>
          </a:stretch>
        </p:blipFill>
        <p:spPr>
          <a:xfrm>
            <a:off x="1906742" y="1828800"/>
            <a:ext cx="4678050" cy="539063"/>
          </a:xfrm>
          <a:prstGeom prst="rect">
            <a:avLst/>
          </a:prstGeom>
        </p:spPr>
      </p:pic>
      <p:sp>
        <p:nvSpPr>
          <p:cNvPr id="18" name="Left Brace 17"/>
          <p:cNvSpPr/>
          <p:nvPr/>
        </p:nvSpPr>
        <p:spPr>
          <a:xfrm rot="16200000">
            <a:off x="3142658" y="1073751"/>
            <a:ext cx="405466" cy="2966681"/>
          </a:xfrm>
          <a:prstGeom prst="leftBrace">
            <a:avLst>
              <a:gd name="adj1" fmla="val 8333"/>
              <a:gd name="adj2" fmla="val 4938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0" name="Straight Arrow Connector 19"/>
          <p:cNvCxnSpPr/>
          <p:nvPr/>
        </p:nvCxnSpPr>
        <p:spPr>
          <a:xfrm>
            <a:off x="1914160" y="4347861"/>
            <a:ext cx="381000" cy="1401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3" name="Picture 22"/>
          <p:cNvPicPr>
            <a:picLocks noChangeAspect="1"/>
          </p:cNvPicPr>
          <p:nvPr/>
        </p:nvPicPr>
        <p:blipFill>
          <a:blip r:embed="rId3"/>
          <a:stretch>
            <a:fillRect/>
          </a:stretch>
        </p:blipFill>
        <p:spPr>
          <a:xfrm>
            <a:off x="2408550" y="4098175"/>
            <a:ext cx="4678050" cy="539063"/>
          </a:xfrm>
          <a:prstGeom prst="rect">
            <a:avLst/>
          </a:prstGeom>
        </p:spPr>
      </p:pic>
      <p:cxnSp>
        <p:nvCxnSpPr>
          <p:cNvPr id="47" name="Straight Arrow Connector 46"/>
          <p:cNvCxnSpPr/>
          <p:nvPr/>
        </p:nvCxnSpPr>
        <p:spPr>
          <a:xfrm flipH="1">
            <a:off x="4800600" y="4889332"/>
            <a:ext cx="246443" cy="265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a:off x="1914160" y="5155218"/>
            <a:ext cx="457805" cy="269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Down Arrow 49"/>
          <p:cNvSpPr/>
          <p:nvPr/>
        </p:nvSpPr>
        <p:spPr>
          <a:xfrm>
            <a:off x="4245767" y="4704666"/>
            <a:ext cx="326233" cy="3693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p:cNvSpPr txBox="1"/>
          <p:nvPr/>
        </p:nvSpPr>
        <p:spPr>
          <a:xfrm>
            <a:off x="5105400" y="1425063"/>
            <a:ext cx="567976"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rear</a:t>
            </a:r>
            <a:endParaRPr lang="en-US" dirty="0"/>
          </a:p>
        </p:txBody>
      </p:sp>
      <p:sp>
        <p:nvSpPr>
          <p:cNvPr id="39" name="TextBox 38"/>
          <p:cNvSpPr txBox="1"/>
          <p:nvPr/>
        </p:nvSpPr>
        <p:spPr>
          <a:xfrm>
            <a:off x="762000" y="1913665"/>
            <a:ext cx="650352"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dirty="0" smtClean="0"/>
              <a:t>front</a:t>
            </a:r>
            <a:endParaRPr lang="en-US" dirty="0"/>
          </a:p>
        </p:txBody>
      </p:sp>
      <p:sp>
        <p:nvSpPr>
          <p:cNvPr id="40" name="TextBox 39"/>
          <p:cNvSpPr txBox="1"/>
          <p:nvPr/>
        </p:nvSpPr>
        <p:spPr>
          <a:xfrm>
            <a:off x="5607208" y="3694438"/>
            <a:ext cx="567976"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rear</a:t>
            </a:r>
            <a:endParaRPr lang="en-US" dirty="0"/>
          </a:p>
        </p:txBody>
      </p:sp>
      <p:sp>
        <p:nvSpPr>
          <p:cNvPr id="41" name="TextBox 40"/>
          <p:cNvSpPr txBox="1"/>
          <p:nvPr/>
        </p:nvSpPr>
        <p:spPr>
          <a:xfrm>
            <a:off x="1263808" y="4183040"/>
            <a:ext cx="650352"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dirty="0" smtClean="0"/>
              <a:t>front</a:t>
            </a:r>
            <a:endParaRPr lang="en-US" dirty="0"/>
          </a:p>
        </p:txBody>
      </p:sp>
      <p:sp>
        <p:nvSpPr>
          <p:cNvPr id="42" name="TextBox 41"/>
          <p:cNvSpPr txBox="1"/>
          <p:nvPr/>
        </p:nvSpPr>
        <p:spPr>
          <a:xfrm>
            <a:off x="5105400" y="4659868"/>
            <a:ext cx="567976"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smtClean="0"/>
              <a:t>rear</a:t>
            </a:r>
            <a:endParaRPr lang="en-US" dirty="0"/>
          </a:p>
        </p:txBody>
      </p:sp>
      <p:sp>
        <p:nvSpPr>
          <p:cNvPr id="43" name="TextBox 42"/>
          <p:cNvSpPr txBox="1"/>
          <p:nvPr/>
        </p:nvSpPr>
        <p:spPr>
          <a:xfrm>
            <a:off x="1143000" y="4970552"/>
            <a:ext cx="650351"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dirty="0" smtClean="0"/>
              <a:t>front</a:t>
            </a:r>
            <a:endParaRPr lang="en-US" dirty="0"/>
          </a:p>
        </p:txBody>
      </p:sp>
      <p:cxnSp>
        <p:nvCxnSpPr>
          <p:cNvPr id="54" name="Straight Arrow Connector 53"/>
          <p:cNvCxnSpPr/>
          <p:nvPr/>
        </p:nvCxnSpPr>
        <p:spPr>
          <a:xfrm flipH="1" flipV="1">
            <a:off x="1981200" y="4038600"/>
            <a:ext cx="533400" cy="424247"/>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flipH="1">
            <a:off x="2789550" y="4495800"/>
            <a:ext cx="334650" cy="0"/>
          </a:xfrm>
          <a:prstGeom prst="straightConnector1">
            <a:avLst/>
          </a:prstGeom>
          <a:ln w="508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H="1">
            <a:off x="3090950" y="4495800"/>
            <a:ext cx="334650" cy="0"/>
          </a:xfrm>
          <a:prstGeom prst="straightConnector1">
            <a:avLst/>
          </a:prstGeom>
          <a:ln w="508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flipH="1">
            <a:off x="3352800" y="4495800"/>
            <a:ext cx="334650" cy="0"/>
          </a:xfrm>
          <a:prstGeom prst="straightConnector1">
            <a:avLst/>
          </a:prstGeom>
          <a:ln w="508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flipH="1">
            <a:off x="3640975" y="4495800"/>
            <a:ext cx="334650" cy="0"/>
          </a:xfrm>
          <a:prstGeom prst="straightConnector1">
            <a:avLst/>
          </a:prstGeom>
          <a:ln w="508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flipH="1">
            <a:off x="3932550" y="4495800"/>
            <a:ext cx="334650" cy="0"/>
          </a:xfrm>
          <a:prstGeom prst="straightConnector1">
            <a:avLst/>
          </a:prstGeom>
          <a:ln w="508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flipH="1">
            <a:off x="4250575" y="4495800"/>
            <a:ext cx="334650" cy="0"/>
          </a:xfrm>
          <a:prstGeom prst="straightConnector1">
            <a:avLst/>
          </a:prstGeom>
          <a:ln w="508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flipH="1">
            <a:off x="4542150" y="4495800"/>
            <a:ext cx="334650" cy="0"/>
          </a:xfrm>
          <a:prstGeom prst="straightConnector1">
            <a:avLst/>
          </a:prstGeom>
          <a:ln w="508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flipH="1">
            <a:off x="4846950" y="4495800"/>
            <a:ext cx="334650" cy="0"/>
          </a:xfrm>
          <a:prstGeom prst="straightConnector1">
            <a:avLst/>
          </a:prstGeom>
          <a:ln w="508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66" name="Rectangle 65"/>
          <p:cNvSpPr/>
          <p:nvPr/>
        </p:nvSpPr>
        <p:spPr>
          <a:xfrm>
            <a:off x="2419000" y="4376650"/>
            <a:ext cx="271550" cy="228600"/>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8" name="Picture 67"/>
          <p:cNvPicPr>
            <a:picLocks noChangeAspect="1"/>
          </p:cNvPicPr>
          <p:nvPr/>
        </p:nvPicPr>
        <p:blipFill>
          <a:blip r:embed="rId4"/>
          <a:stretch>
            <a:fillRect/>
          </a:stretch>
        </p:blipFill>
        <p:spPr>
          <a:xfrm>
            <a:off x="2408550" y="5124400"/>
            <a:ext cx="4678050" cy="539063"/>
          </a:xfrm>
          <a:prstGeom prst="rect">
            <a:avLst/>
          </a:prstGeom>
        </p:spPr>
      </p:pic>
      <p:cxnSp>
        <p:nvCxnSpPr>
          <p:cNvPr id="56" name="Straight Arrow Connector 55"/>
          <p:cNvCxnSpPr/>
          <p:nvPr/>
        </p:nvCxnSpPr>
        <p:spPr>
          <a:xfrm flipH="1">
            <a:off x="2501375" y="4488017"/>
            <a:ext cx="334650" cy="0"/>
          </a:xfrm>
          <a:prstGeom prst="straightConnector1">
            <a:avLst/>
          </a:prstGeom>
          <a:ln w="508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3972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right)">
                                      <p:cBhvr>
                                        <p:cTn id="7" dur="500"/>
                                        <p:tgtEl>
                                          <p:spTgt spid="54"/>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56"/>
                                        </p:tgtEl>
                                        <p:attrNameLst>
                                          <p:attrName>style.visibility</p:attrName>
                                        </p:attrNameLst>
                                      </p:cBhvr>
                                      <p:to>
                                        <p:strVal val="visible"/>
                                      </p:to>
                                    </p:set>
                                    <p:animEffect transition="in" filter="wipe(right)">
                                      <p:cBhvr>
                                        <p:cTn id="11" dur="500"/>
                                        <p:tgtEl>
                                          <p:spTgt spid="56"/>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wipe(right)">
                                      <p:cBhvr>
                                        <p:cTn id="15" dur="500"/>
                                        <p:tgtEl>
                                          <p:spTgt spid="57"/>
                                        </p:tgtEl>
                                      </p:cBhvr>
                                    </p:animEffect>
                                  </p:childTnLst>
                                </p:cTn>
                              </p:par>
                            </p:childTnLst>
                          </p:cTn>
                        </p:par>
                        <p:par>
                          <p:cTn id="16" fill="hold">
                            <p:stCondLst>
                              <p:cond delay="1500"/>
                            </p:stCondLst>
                            <p:childTnLst>
                              <p:par>
                                <p:cTn id="17" presetID="22" presetClass="entr" presetSubtype="2" fill="hold" nodeType="afterEffect">
                                  <p:stCondLst>
                                    <p:cond delay="0"/>
                                  </p:stCondLst>
                                  <p:childTnLst>
                                    <p:set>
                                      <p:cBhvr>
                                        <p:cTn id="18" dur="1" fill="hold">
                                          <p:stCondLst>
                                            <p:cond delay="0"/>
                                          </p:stCondLst>
                                        </p:cTn>
                                        <p:tgtEl>
                                          <p:spTgt spid="58"/>
                                        </p:tgtEl>
                                        <p:attrNameLst>
                                          <p:attrName>style.visibility</p:attrName>
                                        </p:attrNameLst>
                                      </p:cBhvr>
                                      <p:to>
                                        <p:strVal val="visible"/>
                                      </p:to>
                                    </p:set>
                                    <p:animEffect transition="in" filter="wipe(right)">
                                      <p:cBhvr>
                                        <p:cTn id="19" dur="500"/>
                                        <p:tgtEl>
                                          <p:spTgt spid="58"/>
                                        </p:tgtEl>
                                      </p:cBhvr>
                                    </p:animEffect>
                                  </p:childTnLst>
                                </p:cTn>
                              </p:par>
                            </p:childTnLst>
                          </p:cTn>
                        </p:par>
                        <p:par>
                          <p:cTn id="20" fill="hold">
                            <p:stCondLst>
                              <p:cond delay="2000"/>
                            </p:stCondLst>
                            <p:childTnLst>
                              <p:par>
                                <p:cTn id="21" presetID="22" presetClass="entr" presetSubtype="2" fill="hold" nodeType="afterEffect">
                                  <p:stCondLst>
                                    <p:cond delay="0"/>
                                  </p:stCondLst>
                                  <p:childTnLst>
                                    <p:set>
                                      <p:cBhvr>
                                        <p:cTn id="22" dur="1" fill="hold">
                                          <p:stCondLst>
                                            <p:cond delay="0"/>
                                          </p:stCondLst>
                                        </p:cTn>
                                        <p:tgtEl>
                                          <p:spTgt spid="59"/>
                                        </p:tgtEl>
                                        <p:attrNameLst>
                                          <p:attrName>style.visibility</p:attrName>
                                        </p:attrNameLst>
                                      </p:cBhvr>
                                      <p:to>
                                        <p:strVal val="visible"/>
                                      </p:to>
                                    </p:set>
                                    <p:animEffect transition="in" filter="wipe(right)">
                                      <p:cBhvr>
                                        <p:cTn id="23" dur="500"/>
                                        <p:tgtEl>
                                          <p:spTgt spid="59"/>
                                        </p:tgtEl>
                                      </p:cBhvr>
                                    </p:animEffect>
                                  </p:childTnLst>
                                </p:cTn>
                              </p:par>
                            </p:childTnLst>
                          </p:cTn>
                        </p:par>
                        <p:par>
                          <p:cTn id="24" fill="hold">
                            <p:stCondLst>
                              <p:cond delay="2500"/>
                            </p:stCondLst>
                            <p:childTnLst>
                              <p:par>
                                <p:cTn id="25" presetID="22" presetClass="entr" presetSubtype="2" fill="hold" nodeType="after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wipe(right)">
                                      <p:cBhvr>
                                        <p:cTn id="27" dur="500"/>
                                        <p:tgtEl>
                                          <p:spTgt spid="60"/>
                                        </p:tgtEl>
                                      </p:cBhvr>
                                    </p:animEffect>
                                  </p:childTnLst>
                                </p:cTn>
                              </p:par>
                            </p:childTnLst>
                          </p:cTn>
                        </p:par>
                        <p:par>
                          <p:cTn id="28" fill="hold">
                            <p:stCondLst>
                              <p:cond delay="3000"/>
                            </p:stCondLst>
                            <p:childTnLst>
                              <p:par>
                                <p:cTn id="29" presetID="22" presetClass="entr" presetSubtype="2" fill="hold" nodeType="afterEffect">
                                  <p:stCondLst>
                                    <p:cond delay="0"/>
                                  </p:stCondLst>
                                  <p:childTnLst>
                                    <p:set>
                                      <p:cBhvr>
                                        <p:cTn id="30" dur="1" fill="hold">
                                          <p:stCondLst>
                                            <p:cond delay="0"/>
                                          </p:stCondLst>
                                        </p:cTn>
                                        <p:tgtEl>
                                          <p:spTgt spid="61"/>
                                        </p:tgtEl>
                                        <p:attrNameLst>
                                          <p:attrName>style.visibility</p:attrName>
                                        </p:attrNameLst>
                                      </p:cBhvr>
                                      <p:to>
                                        <p:strVal val="visible"/>
                                      </p:to>
                                    </p:set>
                                    <p:animEffect transition="in" filter="wipe(right)">
                                      <p:cBhvr>
                                        <p:cTn id="31" dur="500"/>
                                        <p:tgtEl>
                                          <p:spTgt spid="61"/>
                                        </p:tgtEl>
                                      </p:cBhvr>
                                    </p:animEffect>
                                  </p:childTnLst>
                                </p:cTn>
                              </p:par>
                            </p:childTnLst>
                          </p:cTn>
                        </p:par>
                        <p:par>
                          <p:cTn id="32" fill="hold">
                            <p:stCondLst>
                              <p:cond delay="3500"/>
                            </p:stCondLst>
                            <p:childTnLst>
                              <p:par>
                                <p:cTn id="33" presetID="22" presetClass="entr" presetSubtype="2" fill="hold" nodeType="afterEffect">
                                  <p:stCondLst>
                                    <p:cond delay="0"/>
                                  </p:stCondLst>
                                  <p:childTnLst>
                                    <p:set>
                                      <p:cBhvr>
                                        <p:cTn id="34" dur="1" fill="hold">
                                          <p:stCondLst>
                                            <p:cond delay="0"/>
                                          </p:stCondLst>
                                        </p:cTn>
                                        <p:tgtEl>
                                          <p:spTgt spid="62"/>
                                        </p:tgtEl>
                                        <p:attrNameLst>
                                          <p:attrName>style.visibility</p:attrName>
                                        </p:attrNameLst>
                                      </p:cBhvr>
                                      <p:to>
                                        <p:strVal val="visible"/>
                                      </p:to>
                                    </p:set>
                                    <p:animEffect transition="in" filter="wipe(right)">
                                      <p:cBhvr>
                                        <p:cTn id="35" dur="500"/>
                                        <p:tgtEl>
                                          <p:spTgt spid="62"/>
                                        </p:tgtEl>
                                      </p:cBhvr>
                                    </p:animEffect>
                                  </p:childTnLst>
                                </p:cTn>
                              </p:par>
                            </p:childTnLst>
                          </p:cTn>
                        </p:par>
                        <p:par>
                          <p:cTn id="36" fill="hold">
                            <p:stCondLst>
                              <p:cond delay="4000"/>
                            </p:stCondLst>
                            <p:childTnLst>
                              <p:par>
                                <p:cTn id="37" presetID="22" presetClass="entr" presetSubtype="2" fill="hold" nodeType="afterEffect">
                                  <p:stCondLst>
                                    <p:cond delay="0"/>
                                  </p:stCondLst>
                                  <p:childTnLst>
                                    <p:set>
                                      <p:cBhvr>
                                        <p:cTn id="38" dur="1" fill="hold">
                                          <p:stCondLst>
                                            <p:cond delay="0"/>
                                          </p:stCondLst>
                                        </p:cTn>
                                        <p:tgtEl>
                                          <p:spTgt spid="63"/>
                                        </p:tgtEl>
                                        <p:attrNameLst>
                                          <p:attrName>style.visibility</p:attrName>
                                        </p:attrNameLst>
                                      </p:cBhvr>
                                      <p:to>
                                        <p:strVal val="visible"/>
                                      </p:to>
                                    </p:set>
                                    <p:animEffect transition="in" filter="wipe(right)">
                                      <p:cBhvr>
                                        <p:cTn id="39" dur="500"/>
                                        <p:tgtEl>
                                          <p:spTgt spid="63"/>
                                        </p:tgtEl>
                                      </p:cBhvr>
                                    </p:animEffect>
                                  </p:childTnLst>
                                </p:cTn>
                              </p:par>
                            </p:childTnLst>
                          </p:cTn>
                        </p:par>
                        <p:par>
                          <p:cTn id="40" fill="hold">
                            <p:stCondLst>
                              <p:cond delay="4500"/>
                            </p:stCondLst>
                            <p:childTnLst>
                              <p:par>
                                <p:cTn id="41" presetID="22" presetClass="entr" presetSubtype="2" fill="hold" nodeType="afterEffect">
                                  <p:stCondLst>
                                    <p:cond delay="0"/>
                                  </p:stCondLst>
                                  <p:childTnLst>
                                    <p:set>
                                      <p:cBhvr>
                                        <p:cTn id="42" dur="1" fill="hold">
                                          <p:stCondLst>
                                            <p:cond delay="0"/>
                                          </p:stCondLst>
                                        </p:cTn>
                                        <p:tgtEl>
                                          <p:spTgt spid="64"/>
                                        </p:tgtEl>
                                        <p:attrNameLst>
                                          <p:attrName>style.visibility</p:attrName>
                                        </p:attrNameLst>
                                      </p:cBhvr>
                                      <p:to>
                                        <p:strVal val="visible"/>
                                      </p:to>
                                    </p:set>
                                    <p:animEffect transition="in" filter="wipe(right)">
                                      <p:cBhvr>
                                        <p:cTn id="4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Number Placeholder 5"/>
          <p:cNvSpPr>
            <a:spLocks noGrp="1"/>
          </p:cNvSpPr>
          <p:nvPr>
            <p:ph type="sldNum" sz="quarter" idx="12"/>
          </p:nvPr>
        </p:nvSpPr>
        <p:spPr>
          <a:noFill/>
        </p:spPr>
        <p:txBody>
          <a:bodyPr/>
          <a:lstStyle/>
          <a:p>
            <a:fld id="{B01F73BD-3ED6-417B-8C70-B55310B56432}" type="slidenum">
              <a:rPr lang="en-US" smtClean="0"/>
              <a:pPr/>
              <a:t>12</a:t>
            </a:fld>
            <a:endParaRPr lang="en-US" smtClean="0"/>
          </a:p>
        </p:txBody>
      </p:sp>
      <p:sp>
        <p:nvSpPr>
          <p:cNvPr id="121859" name="Rectangle 2"/>
          <p:cNvSpPr>
            <a:spLocks noGrp="1" noChangeArrowheads="1"/>
          </p:cNvSpPr>
          <p:nvPr>
            <p:ph type="title"/>
          </p:nvPr>
        </p:nvSpPr>
        <p:spPr>
          <a:xfrm>
            <a:off x="455613" y="365125"/>
            <a:ext cx="8226425" cy="914400"/>
          </a:xfrm>
        </p:spPr>
        <p:txBody>
          <a:bodyPr>
            <a:normAutofit fontScale="90000"/>
          </a:bodyPr>
          <a:lstStyle/>
          <a:p>
            <a:r>
              <a:rPr lang="en-US" dirty="0" smtClean="0">
                <a:latin typeface="Helvetica" pitchFamily="26" charset="0"/>
              </a:rPr>
              <a:t>Solution: Queue Implementation (1)</a:t>
            </a:r>
          </a:p>
        </p:txBody>
      </p:sp>
      <p:sp>
        <p:nvSpPr>
          <p:cNvPr id="121860" name="Rectangle 3"/>
          <p:cNvSpPr>
            <a:spLocks noGrp="1" noChangeArrowheads="1"/>
          </p:cNvSpPr>
          <p:nvPr>
            <p:ph type="body" idx="1"/>
          </p:nvPr>
        </p:nvSpPr>
        <p:spPr>
          <a:xfrm>
            <a:off x="455613" y="5181600"/>
            <a:ext cx="8226425" cy="1219200"/>
          </a:xfrm>
        </p:spPr>
        <p:txBody>
          <a:bodyPr/>
          <a:lstStyle/>
          <a:p>
            <a:pPr>
              <a:lnSpc>
                <a:spcPct val="80000"/>
              </a:lnSpc>
              <a:buFontTx/>
              <a:buNone/>
            </a:pPr>
            <a:r>
              <a:rPr lang="en-US" sz="2800" dirty="0" smtClean="0">
                <a:latin typeface="Helvetica" pitchFamily="26" charset="0"/>
              </a:rPr>
              <a:t>(a) Gives the Queue after 20, 5, 12, 17 are </a:t>
            </a:r>
            <a:r>
              <a:rPr lang="en-US" sz="2800" dirty="0" err="1" smtClean="0">
                <a:latin typeface="Helvetica" pitchFamily="26" charset="0"/>
              </a:rPr>
              <a:t>enqueued</a:t>
            </a:r>
            <a:r>
              <a:rPr lang="en-US" sz="2800" dirty="0" smtClean="0">
                <a:latin typeface="Helvetica" pitchFamily="26" charset="0"/>
              </a:rPr>
              <a:t> initially. (b) Gives Queue after 20 and 5 are </a:t>
            </a:r>
            <a:r>
              <a:rPr lang="en-US" sz="2800" dirty="0" err="1" smtClean="0">
                <a:latin typeface="Helvetica" pitchFamily="26" charset="0"/>
              </a:rPr>
              <a:t>dequeued</a:t>
            </a:r>
            <a:r>
              <a:rPr lang="en-US" sz="2800" dirty="0" smtClean="0">
                <a:latin typeface="Helvetica" pitchFamily="26" charset="0"/>
              </a:rPr>
              <a:t> and 3, 30, 4 are </a:t>
            </a:r>
            <a:r>
              <a:rPr lang="en-US" sz="2800" dirty="0" err="1" smtClean="0">
                <a:latin typeface="Helvetica" pitchFamily="26" charset="0"/>
              </a:rPr>
              <a:t>enqueued</a:t>
            </a:r>
            <a:r>
              <a:rPr lang="en-US" sz="2800" dirty="0" smtClean="0">
                <a:latin typeface="Helvetica" pitchFamily="26" charset="0"/>
              </a:rPr>
              <a:t>.</a:t>
            </a:r>
          </a:p>
        </p:txBody>
      </p:sp>
      <p:pic>
        <p:nvPicPr>
          <p:cNvPr id="121861" name="Picture 4" descr="BadQueue"/>
          <p:cNvPicPr>
            <a:picLocks noChangeAspect="1" noChangeArrowheads="1"/>
          </p:cNvPicPr>
          <p:nvPr/>
        </p:nvPicPr>
        <p:blipFill>
          <a:blip r:embed="rId3" cstate="print"/>
          <a:srcRect l="3568" t="2628" r="4282" b="3941"/>
          <a:stretch>
            <a:fillRect/>
          </a:stretch>
        </p:blipFill>
        <p:spPr bwMode="auto">
          <a:xfrm>
            <a:off x="457200" y="1143000"/>
            <a:ext cx="8229600" cy="3962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Performance</a:t>
            </a:r>
            <a:endParaRPr lang="en-US" dirty="0"/>
          </a:p>
        </p:txBody>
      </p:sp>
      <p:sp>
        <p:nvSpPr>
          <p:cNvPr id="3" name="Content Placeholder 2"/>
          <p:cNvSpPr>
            <a:spLocks noGrp="1"/>
          </p:cNvSpPr>
          <p:nvPr>
            <p:ph idx="1"/>
          </p:nvPr>
        </p:nvSpPr>
        <p:spPr/>
        <p:txBody>
          <a:bodyPr>
            <a:normAutofit fontScale="85000" lnSpcReduction="10000"/>
          </a:bodyPr>
          <a:lstStyle/>
          <a:p>
            <a:r>
              <a:rPr lang="en-US" dirty="0" err="1" smtClean="0"/>
              <a:t>Enqueue</a:t>
            </a:r>
            <a:r>
              <a:rPr lang="en-US" dirty="0" smtClean="0"/>
              <a:t>: O(1)</a:t>
            </a:r>
          </a:p>
          <a:p>
            <a:r>
              <a:rPr lang="en-US" dirty="0" err="1" smtClean="0"/>
              <a:t>Dequeue</a:t>
            </a:r>
            <a:r>
              <a:rPr lang="en-US" dirty="0" smtClean="0"/>
              <a:t>: O(1)</a:t>
            </a:r>
          </a:p>
          <a:p>
            <a:r>
              <a:rPr lang="en-US" dirty="0" smtClean="0"/>
              <a:t>Drifting Queue problem:</a:t>
            </a:r>
          </a:p>
          <a:p>
            <a:pPr lvl="1"/>
            <a:r>
              <a:rPr lang="en-US" dirty="0" err="1" smtClean="0"/>
              <a:t>Dequeue</a:t>
            </a:r>
            <a:r>
              <a:rPr lang="en-US" dirty="0" smtClean="0"/>
              <a:t> =&gt; the </a:t>
            </a:r>
            <a:r>
              <a:rPr lang="en-US" dirty="0"/>
              <a:t>front index increases. </a:t>
            </a:r>
            <a:endParaRPr lang="en-US" dirty="0" smtClean="0"/>
          </a:p>
          <a:p>
            <a:pPr lvl="1"/>
            <a:r>
              <a:rPr lang="en-US" dirty="0" smtClean="0"/>
              <a:t>Over </a:t>
            </a:r>
            <a:r>
              <a:rPr lang="en-US" dirty="0"/>
              <a:t>time, the entire queue will drift </a:t>
            </a:r>
            <a:r>
              <a:rPr lang="en-US" dirty="0" smtClean="0"/>
              <a:t>toward the </a:t>
            </a:r>
            <a:r>
              <a:rPr lang="en-US" dirty="0"/>
              <a:t>higher-numbered positions in the array. </a:t>
            </a:r>
            <a:endParaRPr lang="en-US" dirty="0" smtClean="0"/>
          </a:p>
          <a:p>
            <a:pPr lvl="1"/>
            <a:r>
              <a:rPr lang="en-US" dirty="0" smtClean="0"/>
              <a:t>Once </a:t>
            </a:r>
            <a:r>
              <a:rPr lang="en-US" dirty="0"/>
              <a:t>an element is inserted into </a:t>
            </a:r>
            <a:r>
              <a:rPr lang="en-US" dirty="0" smtClean="0"/>
              <a:t>the highest-numbered </a:t>
            </a:r>
            <a:r>
              <a:rPr lang="en-US" dirty="0"/>
              <a:t>position in the array, the queue has run out of space. </a:t>
            </a:r>
            <a:endParaRPr lang="en-US" dirty="0" smtClean="0"/>
          </a:p>
          <a:p>
            <a:pPr lvl="1"/>
            <a:r>
              <a:rPr lang="en-US" dirty="0" smtClean="0"/>
              <a:t>This happens despite </a:t>
            </a:r>
            <a:r>
              <a:rPr lang="en-US" dirty="0"/>
              <a:t>the fact that there might be free positions at the low end of the </a:t>
            </a:r>
            <a:r>
              <a:rPr lang="en-US" dirty="0" smtClean="0"/>
              <a:t>array where </a:t>
            </a:r>
            <a:r>
              <a:rPr lang="en-US" dirty="0"/>
              <a:t>elements have previously been removed from the queue.</a:t>
            </a:r>
          </a:p>
        </p:txBody>
      </p:sp>
      <p:sp>
        <p:nvSpPr>
          <p:cNvPr id="5" name="Slide Number Placeholder 4"/>
          <p:cNvSpPr>
            <a:spLocks noGrp="1"/>
          </p:cNvSpPr>
          <p:nvPr>
            <p:ph type="sldNum" sz="quarter" idx="12"/>
          </p:nvPr>
        </p:nvSpPr>
        <p:spPr/>
        <p:txBody>
          <a:bodyPr/>
          <a:lstStyle/>
          <a:p>
            <a:fld id="{5657E917-6D97-4FA4-9E27-606C7A8A3676}"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5" descr="C:\Users\dwharder\Desktop\q5.png"/>
          <p:cNvPicPr>
            <a:picLocks noChangeAspect="1" noChangeArrowheads="1"/>
          </p:cNvPicPr>
          <p:nvPr/>
        </p:nvPicPr>
        <p:blipFill>
          <a:blip r:embed="rId3" cstate="print"/>
          <a:srcRect/>
          <a:stretch>
            <a:fillRect/>
          </a:stretch>
        </p:blipFill>
        <p:spPr bwMode="auto">
          <a:xfrm>
            <a:off x="2571750" y="3284538"/>
            <a:ext cx="3940175" cy="3008312"/>
          </a:xfrm>
          <a:prstGeom prst="rect">
            <a:avLst/>
          </a:prstGeom>
          <a:noFill/>
          <a:ln w="9525">
            <a:noFill/>
            <a:miter lim="800000"/>
            <a:headEnd/>
            <a:tailEnd/>
          </a:ln>
        </p:spPr>
      </p:pic>
      <p:sp>
        <p:nvSpPr>
          <p:cNvPr id="28675" name="Rectangle 2"/>
          <p:cNvSpPr>
            <a:spLocks noGrp="1" noChangeArrowheads="1"/>
          </p:cNvSpPr>
          <p:nvPr>
            <p:ph type="title" idx="4294967295"/>
          </p:nvPr>
        </p:nvSpPr>
        <p:spPr/>
        <p:txBody>
          <a:bodyPr/>
          <a:lstStyle/>
          <a:p>
            <a:r>
              <a:rPr lang="en-US" dirty="0" smtClean="0">
                <a:latin typeface="Arial" charset="0"/>
                <a:cs typeface="Arial" charset="0"/>
              </a:rPr>
              <a:t>Drifting Queue Problem</a:t>
            </a:r>
          </a:p>
        </p:txBody>
      </p:sp>
      <p:sp>
        <p:nvSpPr>
          <p:cNvPr id="28676" name="Rectangle 3"/>
          <p:cNvSpPr>
            <a:spLocks noGrp="1" noChangeArrowheads="1"/>
          </p:cNvSpPr>
          <p:nvPr>
            <p:ph type="body" idx="4294967295"/>
          </p:nvPr>
        </p:nvSpPr>
        <p:spPr/>
        <p:txBody>
          <a:bodyPr>
            <a:noAutofit/>
          </a:bodyPr>
          <a:lstStyle/>
          <a:p>
            <a:pPr>
              <a:buFont typeface="Arial" charset="0"/>
              <a:buNone/>
            </a:pPr>
            <a:r>
              <a:rPr lang="en-US" sz="2400" dirty="0" smtClean="0">
                <a:latin typeface="Arial" charset="0"/>
                <a:cs typeface="Arial" charset="0"/>
              </a:rPr>
              <a:t>	Suppose that:</a:t>
            </a:r>
          </a:p>
          <a:p>
            <a:pPr lvl="1"/>
            <a:r>
              <a:rPr lang="en-US" sz="2000" dirty="0" smtClean="0">
                <a:latin typeface="Arial" charset="0"/>
                <a:cs typeface="Arial" charset="0"/>
              </a:rPr>
              <a:t>The array capacity is 16</a:t>
            </a:r>
          </a:p>
          <a:p>
            <a:pPr lvl="1"/>
            <a:r>
              <a:rPr lang="en-US" sz="2000" dirty="0" smtClean="0">
                <a:latin typeface="Arial" charset="0"/>
                <a:cs typeface="Arial" charset="0"/>
              </a:rPr>
              <a:t>We have performed 16 pushes</a:t>
            </a:r>
          </a:p>
          <a:p>
            <a:pPr lvl="1"/>
            <a:r>
              <a:rPr lang="en-US" sz="2000" dirty="0" smtClean="0">
                <a:latin typeface="Arial" charset="0"/>
                <a:cs typeface="Arial" charset="0"/>
              </a:rPr>
              <a:t>We have performed 5 pops</a:t>
            </a:r>
          </a:p>
          <a:p>
            <a:pPr lvl="2"/>
            <a:r>
              <a:rPr lang="en-US" sz="1800" dirty="0" smtClean="0">
                <a:latin typeface="Arial" charset="0"/>
                <a:cs typeface="Arial" charset="0"/>
              </a:rPr>
              <a:t>The queue size is now 11</a:t>
            </a:r>
          </a:p>
          <a:p>
            <a:pPr lvl="1"/>
            <a:endParaRPr lang="en-US" sz="2000" dirty="0" smtClean="0">
              <a:latin typeface="Arial" charset="0"/>
              <a:cs typeface="Arial" charset="0"/>
            </a:endParaRPr>
          </a:p>
          <a:p>
            <a:pPr lvl="1"/>
            <a:endParaRPr lang="en-US" sz="2000" dirty="0" smtClean="0">
              <a:latin typeface="Arial" charset="0"/>
              <a:cs typeface="Arial" charset="0"/>
            </a:endParaRPr>
          </a:p>
          <a:p>
            <a:pPr lvl="1"/>
            <a:endParaRPr lang="en-US" sz="2000" dirty="0" smtClean="0">
              <a:latin typeface="Arial" charset="0"/>
              <a:cs typeface="Arial" charset="0"/>
            </a:endParaRPr>
          </a:p>
          <a:p>
            <a:pPr lvl="1"/>
            <a:r>
              <a:rPr lang="en-US" sz="2000" dirty="0" smtClean="0">
                <a:latin typeface="Arial" charset="0"/>
                <a:cs typeface="Arial" charset="0"/>
              </a:rPr>
              <a:t>We perform one further push</a:t>
            </a:r>
          </a:p>
          <a:p>
            <a:pPr>
              <a:buFont typeface="Arial" charset="0"/>
              <a:buNone/>
            </a:pPr>
            <a:endParaRPr lang="en-US" sz="2400" dirty="0" smtClean="0">
              <a:latin typeface="Arial" charset="0"/>
              <a:cs typeface="Arial" charset="0"/>
            </a:endParaRPr>
          </a:p>
          <a:p>
            <a:pPr>
              <a:buFont typeface="Arial" charset="0"/>
              <a:buNone/>
            </a:pPr>
            <a:r>
              <a:rPr lang="en-US" sz="2400" dirty="0" smtClean="0">
                <a:latin typeface="Arial" charset="0"/>
                <a:cs typeface="Arial" charset="0"/>
              </a:rPr>
              <a:t>	In this case, the array is not full and yet we cannot place any more objects in to the array</a:t>
            </a:r>
          </a:p>
        </p:txBody>
      </p:sp>
      <p:sp>
        <p:nvSpPr>
          <p:cNvPr id="6" name="Slide Number Placeholder 5"/>
          <p:cNvSpPr>
            <a:spLocks noGrp="1"/>
          </p:cNvSpPr>
          <p:nvPr>
            <p:ph type="sldNum" sz="quarter" idx="12"/>
          </p:nvPr>
        </p:nvSpPr>
        <p:spPr/>
        <p:txBody>
          <a:bodyPr/>
          <a:lstStyle/>
          <a:p>
            <a:fld id="{5657E917-6D97-4FA4-9E27-606C7A8A3676}"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p:txBody>
          <a:bodyPr>
            <a:normAutofit fontScale="90000"/>
          </a:bodyPr>
          <a:lstStyle/>
          <a:p>
            <a:r>
              <a:rPr lang="en-US" dirty="0" smtClean="0">
                <a:latin typeface="Helvetica" pitchFamily="26" charset="0"/>
              </a:rPr>
              <a:t>Solution to Drifting Queue Problem: Implementation (2)</a:t>
            </a:r>
            <a:endParaRPr lang="en-US" dirty="0" smtClean="0">
              <a:latin typeface="Arial" charset="0"/>
              <a:cs typeface="Arial" charset="0"/>
            </a:endParaRPr>
          </a:p>
        </p:txBody>
      </p:sp>
      <p:sp>
        <p:nvSpPr>
          <p:cNvPr id="29699" name="Rectangle 3"/>
          <p:cNvSpPr>
            <a:spLocks noGrp="1" noChangeArrowheads="1"/>
          </p:cNvSpPr>
          <p:nvPr>
            <p:ph type="body" idx="4294967295"/>
          </p:nvPr>
        </p:nvSpPr>
        <p:spPr/>
        <p:txBody>
          <a:bodyPr>
            <a:normAutofit/>
          </a:bodyPr>
          <a:lstStyle/>
          <a:p>
            <a:pPr>
              <a:buFont typeface="Arial" charset="0"/>
              <a:buNone/>
            </a:pPr>
            <a:r>
              <a:rPr lang="en-US" sz="1800" dirty="0" smtClean="0">
                <a:latin typeface="Arial" charset="0"/>
                <a:cs typeface="Arial" charset="0"/>
              </a:rPr>
              <a:t>	</a:t>
            </a:r>
            <a:r>
              <a:rPr lang="en-US" sz="2400" dirty="0" smtClean="0">
                <a:latin typeface="Arial" charset="0"/>
                <a:cs typeface="Arial" charset="0"/>
              </a:rPr>
              <a:t>Instead of viewing the array on the range </a:t>
            </a:r>
            <a:r>
              <a:rPr lang="en-US" sz="2400" dirty="0" smtClean="0">
                <a:latin typeface="Times New Roman" pitchFamily="18" charset="0"/>
                <a:cs typeface="Times New Roman" pitchFamily="18" charset="0"/>
              </a:rPr>
              <a:t>0, …, 15</a:t>
            </a:r>
            <a:r>
              <a:rPr lang="en-US" sz="2400" dirty="0" smtClean="0">
                <a:latin typeface="Arial" charset="0"/>
                <a:cs typeface="Arial" charset="0"/>
              </a:rPr>
              <a:t>, consider the indices being cyclic:</a:t>
            </a:r>
          </a:p>
          <a:p>
            <a:pPr algn="ctr">
              <a:buFont typeface="Arial" charset="0"/>
              <a:buNone/>
            </a:pPr>
            <a:r>
              <a:rPr lang="en-US" sz="2400" dirty="0" smtClean="0">
                <a:latin typeface="Times New Roman" pitchFamily="18" charset="0"/>
                <a:cs typeface="Times New Roman" pitchFamily="18" charset="0"/>
              </a:rPr>
              <a:t>…, 15, 0, 1, …, 15, 0, 1, …, 15, 0, 1, …</a:t>
            </a:r>
          </a:p>
          <a:p>
            <a:pPr>
              <a:buFont typeface="Arial" charset="0"/>
              <a:buNone/>
            </a:pPr>
            <a:r>
              <a:rPr lang="en-US" sz="2400" dirty="0" smtClean="0">
                <a:latin typeface="Arial" charset="0"/>
                <a:cs typeface="Arial" charset="0"/>
              </a:rPr>
              <a:t>	This is referred to as a </a:t>
            </a:r>
            <a:r>
              <a:rPr lang="en-US" sz="2400" i="1" dirty="0" smtClean="0">
                <a:latin typeface="Arial" charset="0"/>
                <a:cs typeface="Arial" charset="0"/>
              </a:rPr>
              <a:t>circular array</a:t>
            </a:r>
            <a:endParaRPr lang="en-US" sz="1200" i="1" dirty="0" smtClean="0">
              <a:latin typeface="Times New Roman" pitchFamily="18" charset="0"/>
              <a:cs typeface="Times New Roman" pitchFamily="18" charset="0"/>
            </a:endParaRPr>
          </a:p>
        </p:txBody>
      </p:sp>
      <p:pic>
        <p:nvPicPr>
          <p:cNvPr id="29700" name="Picture 6" descr="C:\Users\dwharder\Desktop\q6.png"/>
          <p:cNvPicPr>
            <a:picLocks noChangeAspect="1" noChangeArrowheads="1"/>
          </p:cNvPicPr>
          <p:nvPr/>
        </p:nvPicPr>
        <p:blipFill>
          <a:blip r:embed="rId3" cstate="print"/>
          <a:srcRect/>
          <a:stretch>
            <a:fillRect/>
          </a:stretch>
        </p:blipFill>
        <p:spPr bwMode="auto">
          <a:xfrm>
            <a:off x="2571750" y="3284538"/>
            <a:ext cx="3940175" cy="3008312"/>
          </a:xfrm>
          <a:prstGeom prst="rect">
            <a:avLst/>
          </a:prstGeom>
          <a:noFill/>
          <a:ln w="9525">
            <a:noFill/>
            <a:miter lim="800000"/>
            <a:headEnd/>
            <a:tailEnd/>
          </a:ln>
        </p:spPr>
      </p:pic>
      <p:sp>
        <p:nvSpPr>
          <p:cNvPr id="6" name="Slide Number Placeholder 5"/>
          <p:cNvSpPr>
            <a:spLocks noGrp="1"/>
          </p:cNvSpPr>
          <p:nvPr>
            <p:ph type="sldNum" sz="quarter" idx="12"/>
          </p:nvPr>
        </p:nvSpPr>
        <p:spPr/>
        <p:txBody>
          <a:bodyPr/>
          <a:lstStyle/>
          <a:p>
            <a:fld id="{5657E917-6D97-4FA4-9E27-606C7A8A3676}" type="slidenum">
              <a:rPr lang="en-US" smtClean="0"/>
              <a:pPr/>
              <a:t>15</a:t>
            </a:fld>
            <a:endParaRPr lang="en-US"/>
          </a:p>
        </p:txBody>
      </p:sp>
      <p:sp>
        <p:nvSpPr>
          <p:cNvPr id="3" name="Arc 2"/>
          <p:cNvSpPr/>
          <p:nvPr/>
        </p:nvSpPr>
        <p:spPr>
          <a:xfrm rot="11883130">
            <a:off x="2999083" y="4806181"/>
            <a:ext cx="2231432" cy="1436636"/>
          </a:xfrm>
          <a:prstGeom prst="arc">
            <a:avLst/>
          </a:prstGeom>
          <a:ln w="508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7" descr="C:\Users\dwharder\Desktop\q8.png"/>
          <p:cNvPicPr>
            <a:picLocks noChangeAspect="1" noChangeArrowheads="1"/>
          </p:cNvPicPr>
          <p:nvPr/>
        </p:nvPicPr>
        <p:blipFill>
          <a:blip r:embed="rId3" cstate="print"/>
          <a:srcRect/>
          <a:stretch>
            <a:fillRect/>
          </a:stretch>
        </p:blipFill>
        <p:spPr bwMode="auto">
          <a:xfrm>
            <a:off x="2571750" y="3284538"/>
            <a:ext cx="3940175" cy="3008312"/>
          </a:xfrm>
          <a:prstGeom prst="rect">
            <a:avLst/>
          </a:prstGeom>
          <a:noFill/>
          <a:ln w="9525">
            <a:noFill/>
            <a:miter lim="800000"/>
            <a:headEnd/>
            <a:tailEnd/>
          </a:ln>
        </p:spPr>
      </p:pic>
      <p:sp>
        <p:nvSpPr>
          <p:cNvPr id="30724" name="Rectangle 3"/>
          <p:cNvSpPr>
            <a:spLocks noGrp="1" noChangeArrowheads="1"/>
          </p:cNvSpPr>
          <p:nvPr>
            <p:ph type="body" idx="4294967295"/>
          </p:nvPr>
        </p:nvSpPr>
        <p:spPr/>
        <p:txBody>
          <a:bodyPr>
            <a:normAutofit/>
          </a:bodyPr>
          <a:lstStyle/>
          <a:p>
            <a:pPr>
              <a:buFont typeface="Arial" charset="0"/>
              <a:buNone/>
            </a:pPr>
            <a:r>
              <a:rPr lang="en-US" sz="2000" dirty="0" smtClean="0">
                <a:latin typeface="Arial" charset="0"/>
                <a:cs typeface="Arial" charset="0"/>
              </a:rPr>
              <a:t>	</a:t>
            </a:r>
            <a:r>
              <a:rPr lang="en-US" sz="2800" dirty="0" smtClean="0">
                <a:latin typeface="Arial" charset="0"/>
                <a:cs typeface="Arial" charset="0"/>
              </a:rPr>
              <a:t>Now, the next push may be performed in the next available location of the circular array:</a:t>
            </a:r>
          </a:p>
          <a:p>
            <a:pPr lvl="1">
              <a:buFont typeface="Arial" charset="0"/>
              <a:buNone/>
            </a:pPr>
            <a:r>
              <a:rPr lang="en-US" sz="1800" dirty="0" smtClean="0">
                <a:latin typeface="Consolas" pitchFamily="49" charset="0"/>
                <a:cs typeface="Arial" charset="0"/>
              </a:rPr>
              <a:t>	</a:t>
            </a:r>
          </a:p>
        </p:txBody>
      </p:sp>
      <p:sp>
        <p:nvSpPr>
          <p:cNvPr id="6" name="Rectangle 2"/>
          <p:cNvSpPr>
            <a:spLocks noGrp="1" noChangeArrowheads="1"/>
          </p:cNvSpPr>
          <p:nvPr>
            <p:ph type="title" idx="4294967295"/>
          </p:nvPr>
        </p:nvSpPr>
        <p:spPr>
          <a:xfrm>
            <a:off x="457200" y="274638"/>
            <a:ext cx="8229600" cy="1143000"/>
          </a:xfrm>
        </p:spPr>
        <p:txBody>
          <a:bodyPr>
            <a:normAutofit fontScale="90000"/>
          </a:bodyPr>
          <a:lstStyle/>
          <a:p>
            <a:r>
              <a:rPr lang="en-US" dirty="0" smtClean="0">
                <a:latin typeface="Helvetica" pitchFamily="26" charset="0"/>
              </a:rPr>
              <a:t>Solution to Drifting Queue Problem: Implementation (2)</a:t>
            </a:r>
            <a:endParaRPr lang="en-US" dirty="0" smtClean="0">
              <a:latin typeface="Arial" charset="0"/>
              <a:cs typeface="Arial" charset="0"/>
            </a:endParaRPr>
          </a:p>
        </p:txBody>
      </p:sp>
      <p:sp>
        <p:nvSpPr>
          <p:cNvPr id="7" name="Slide Number Placeholder 6"/>
          <p:cNvSpPr>
            <a:spLocks noGrp="1"/>
          </p:cNvSpPr>
          <p:nvPr>
            <p:ph type="sldNum" sz="quarter" idx="12"/>
          </p:nvPr>
        </p:nvSpPr>
        <p:spPr/>
        <p:txBody>
          <a:bodyPr/>
          <a:lstStyle/>
          <a:p>
            <a:fld id="{5657E917-6D97-4FA4-9E27-606C7A8A3676}" type="slidenum">
              <a:rPr lang="en-US" smtClean="0"/>
              <a:pPr/>
              <a:t>16</a:t>
            </a:fld>
            <a:endParaRPr lang="en-US"/>
          </a:p>
        </p:txBody>
      </p:sp>
      <p:sp>
        <p:nvSpPr>
          <p:cNvPr id="2" name="TextBox 1"/>
          <p:cNvSpPr txBox="1"/>
          <p:nvPr/>
        </p:nvSpPr>
        <p:spPr>
          <a:xfrm>
            <a:off x="518311" y="3284538"/>
            <a:ext cx="1694695"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a:t>p</a:t>
            </a:r>
            <a:r>
              <a:rPr lang="en-US" dirty="0" smtClean="0"/>
              <a:t>ush =&gt; </a:t>
            </a:r>
            <a:r>
              <a:rPr lang="en-US" dirty="0" err="1" smtClean="0"/>
              <a:t>enqueu</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Implementation</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We allow </a:t>
            </a:r>
            <a:r>
              <a:rPr lang="en-US" dirty="0"/>
              <a:t>the queue to continue directly from the </a:t>
            </a:r>
            <a:r>
              <a:rPr lang="en-US" dirty="0" smtClean="0"/>
              <a:t>highest-numbered position </a:t>
            </a:r>
            <a:r>
              <a:rPr lang="en-US" dirty="0"/>
              <a:t>in the array to the lowest-numbered position. </a:t>
            </a:r>
            <a:endParaRPr lang="en-US" dirty="0" smtClean="0"/>
          </a:p>
          <a:p>
            <a:r>
              <a:rPr lang="en-US" dirty="0" smtClean="0"/>
              <a:t>This </a:t>
            </a:r>
            <a:r>
              <a:rPr lang="en-US" dirty="0"/>
              <a:t>is easily </a:t>
            </a:r>
            <a:r>
              <a:rPr lang="en-US" dirty="0" smtClean="0"/>
              <a:t>implemented through </a:t>
            </a:r>
            <a:r>
              <a:rPr lang="en-US" dirty="0"/>
              <a:t>use of the modulus operator (denoted by </a:t>
            </a:r>
            <a:r>
              <a:rPr lang="en-US" b="1" dirty="0"/>
              <a:t>% in C++). </a:t>
            </a:r>
            <a:endParaRPr lang="en-US" b="1" dirty="0" smtClean="0"/>
          </a:p>
          <a:p>
            <a:pPr lvl="1"/>
            <a:r>
              <a:rPr lang="en-US" b="1" dirty="0" smtClean="0"/>
              <a:t>positions </a:t>
            </a:r>
            <a:r>
              <a:rPr lang="en-US" dirty="0" smtClean="0"/>
              <a:t>in </a:t>
            </a:r>
            <a:r>
              <a:rPr lang="en-US" dirty="0"/>
              <a:t>the array are numbered from 0 through </a:t>
            </a:r>
            <a:r>
              <a:rPr lang="en-US" b="1" dirty="0" smtClean="0"/>
              <a:t>size-1</a:t>
            </a:r>
            <a:r>
              <a:rPr lang="en-US" b="1" dirty="0"/>
              <a:t>, </a:t>
            </a:r>
            <a:endParaRPr lang="en-US" b="1" dirty="0" smtClean="0"/>
          </a:p>
          <a:p>
            <a:pPr lvl="1"/>
            <a:r>
              <a:rPr lang="en-US" b="1" dirty="0" smtClean="0"/>
              <a:t>and </a:t>
            </a:r>
            <a:r>
              <a:rPr lang="en-US" b="1" dirty="0"/>
              <a:t>position </a:t>
            </a:r>
            <a:r>
              <a:rPr lang="en-US" b="1" dirty="0" smtClean="0"/>
              <a:t>size-1 </a:t>
            </a:r>
            <a:r>
              <a:rPr lang="en-US" b="1" dirty="0"/>
              <a:t>is </a:t>
            </a:r>
            <a:r>
              <a:rPr lang="en-US" b="1" dirty="0" smtClean="0"/>
              <a:t>defined </a:t>
            </a:r>
            <a:r>
              <a:rPr lang="en-US" dirty="0" smtClean="0"/>
              <a:t>to </a:t>
            </a:r>
            <a:r>
              <a:rPr lang="en-US" dirty="0"/>
              <a:t>immediately precede position 0 </a:t>
            </a:r>
            <a:endParaRPr lang="en-US" dirty="0" smtClean="0"/>
          </a:p>
          <a:p>
            <a:pPr lvl="2"/>
            <a:r>
              <a:rPr lang="en-US" dirty="0" smtClean="0"/>
              <a:t>(</a:t>
            </a:r>
            <a:r>
              <a:rPr lang="en-US" dirty="0"/>
              <a:t>which is equivalent to position </a:t>
            </a:r>
            <a:r>
              <a:rPr lang="en-US" b="1" dirty="0"/>
              <a:t>size </a:t>
            </a:r>
            <a:r>
              <a:rPr lang="en-US" b="1" dirty="0" smtClean="0"/>
              <a:t>% size</a:t>
            </a:r>
            <a:r>
              <a:rPr lang="en-US" b="1" dirty="0"/>
              <a:t>).</a:t>
            </a:r>
            <a:endParaRPr lang="en-US" dirty="0"/>
          </a:p>
        </p:txBody>
      </p:sp>
      <p:sp>
        <p:nvSpPr>
          <p:cNvPr id="5" name="Slide Number Placeholder 4"/>
          <p:cNvSpPr>
            <a:spLocks noGrp="1"/>
          </p:cNvSpPr>
          <p:nvPr>
            <p:ph type="sldNum" sz="quarter" idx="12"/>
          </p:nvPr>
        </p:nvSpPr>
        <p:spPr/>
        <p:txBody>
          <a:bodyPr/>
          <a:lstStyle/>
          <a:p>
            <a:fld id="{5657E917-6D97-4FA4-9E27-606C7A8A3676}"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968" y="-232330"/>
            <a:ext cx="4592290" cy="1143000"/>
          </a:xfrm>
        </p:spPr>
        <p:txBody>
          <a:bodyPr/>
          <a:lstStyle/>
          <a:p>
            <a:r>
              <a:rPr lang="en-US" dirty="0" smtClean="0"/>
              <a:t>One Subtle Issue</a:t>
            </a:r>
            <a:endParaRPr lang="en-US" dirty="0"/>
          </a:p>
        </p:txBody>
      </p:sp>
      <p:sp>
        <p:nvSpPr>
          <p:cNvPr id="3" name="Content Placeholder 2"/>
          <p:cNvSpPr>
            <a:spLocks noGrp="1"/>
          </p:cNvSpPr>
          <p:nvPr>
            <p:ph idx="1"/>
          </p:nvPr>
        </p:nvSpPr>
        <p:spPr>
          <a:xfrm>
            <a:off x="38968" y="682684"/>
            <a:ext cx="5079583" cy="4113571"/>
          </a:xfrm>
        </p:spPr>
        <p:txBody>
          <a:bodyPr>
            <a:normAutofit fontScale="92500"/>
          </a:bodyPr>
          <a:lstStyle/>
          <a:p>
            <a:r>
              <a:rPr lang="en-US" dirty="0"/>
              <a:t>How can we recognize when the queue is empty or </a:t>
            </a:r>
            <a:r>
              <a:rPr lang="en-US" dirty="0" smtClean="0"/>
              <a:t>full?</a:t>
            </a:r>
          </a:p>
          <a:p>
            <a:pPr lvl="1"/>
            <a:r>
              <a:rPr lang="en-US" dirty="0" smtClean="0"/>
              <a:t>front = rear?</a:t>
            </a:r>
          </a:p>
          <a:p>
            <a:pPr lvl="2"/>
            <a:r>
              <a:rPr lang="en-US" dirty="0" smtClean="0"/>
              <a:t>This means one element is there.</a:t>
            </a:r>
          </a:p>
          <a:p>
            <a:pPr lvl="1"/>
            <a:r>
              <a:rPr lang="en-US" dirty="0" smtClean="0"/>
              <a:t>rear = front -1?</a:t>
            </a:r>
          </a:p>
          <a:p>
            <a:pPr lvl="2"/>
            <a:r>
              <a:rPr lang="en-US" dirty="0" smtClean="0"/>
              <a:t>Seems a solution.</a:t>
            </a:r>
          </a:p>
          <a:p>
            <a:pPr lvl="2"/>
            <a:r>
              <a:rPr lang="en-US" dirty="0" smtClean="0"/>
              <a:t>What happens when the queue is full?</a:t>
            </a:r>
            <a:endParaRPr lang="en-US" dirty="0"/>
          </a:p>
        </p:txBody>
      </p:sp>
      <p:sp>
        <p:nvSpPr>
          <p:cNvPr id="5" name="Slide Number Placeholder 4"/>
          <p:cNvSpPr>
            <a:spLocks noGrp="1"/>
          </p:cNvSpPr>
          <p:nvPr>
            <p:ph type="sldNum" sz="quarter" idx="12"/>
          </p:nvPr>
        </p:nvSpPr>
        <p:spPr/>
        <p:txBody>
          <a:bodyPr/>
          <a:lstStyle/>
          <a:p>
            <a:fld id="{5657E917-6D97-4FA4-9E27-606C7A8A3676}" type="slidenum">
              <a:rPr lang="en-US" smtClean="0"/>
              <a:pPr/>
              <a:t>18</a:t>
            </a:fld>
            <a:endParaRPr lang="en-US"/>
          </a:p>
        </p:txBody>
      </p:sp>
      <p:grpSp>
        <p:nvGrpSpPr>
          <p:cNvPr id="7" name="Group 6"/>
          <p:cNvGrpSpPr/>
          <p:nvPr/>
        </p:nvGrpSpPr>
        <p:grpSpPr>
          <a:xfrm>
            <a:off x="5203858" y="280472"/>
            <a:ext cx="3615976" cy="2274332"/>
            <a:chOff x="4842224" y="533400"/>
            <a:chExt cx="3615976" cy="2274332"/>
          </a:xfrm>
        </p:grpSpPr>
        <p:sp>
          <p:nvSpPr>
            <p:cNvPr id="8" name="Rectangle 7"/>
            <p:cNvSpPr/>
            <p:nvPr/>
          </p:nvSpPr>
          <p:spPr>
            <a:xfrm>
              <a:off x="5867400" y="1359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324600" y="1359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781800" y="1359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239000" y="1359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696200" y="1359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5400000">
              <a:off x="7772400" y="1740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7706140" y="2121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5867400" y="2121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6324600" y="2121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6781800" y="2121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239000" y="2121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rot="5400000">
              <a:off x="5791200" y="1727680"/>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5920210" y="978932"/>
              <a:ext cx="301686" cy="369332"/>
            </a:xfrm>
            <a:prstGeom prst="rect">
              <a:avLst/>
            </a:prstGeom>
            <a:noFill/>
          </p:spPr>
          <p:txBody>
            <a:bodyPr wrap="none" rtlCol="0">
              <a:spAutoFit/>
            </a:bodyPr>
            <a:lstStyle/>
            <a:p>
              <a:r>
                <a:rPr lang="en-US" dirty="0" smtClean="0"/>
                <a:t>0</a:t>
              </a:r>
              <a:endParaRPr lang="en-US" dirty="0"/>
            </a:p>
          </p:txBody>
        </p:sp>
        <p:sp>
          <p:nvSpPr>
            <p:cNvPr id="21" name="TextBox 20"/>
            <p:cNvSpPr txBox="1"/>
            <p:nvPr/>
          </p:nvSpPr>
          <p:spPr>
            <a:xfrm>
              <a:off x="6327714" y="978932"/>
              <a:ext cx="301686" cy="369332"/>
            </a:xfrm>
            <a:prstGeom prst="rect">
              <a:avLst/>
            </a:prstGeom>
            <a:noFill/>
          </p:spPr>
          <p:txBody>
            <a:bodyPr wrap="none" rtlCol="0">
              <a:spAutoFit/>
            </a:bodyPr>
            <a:lstStyle/>
            <a:p>
              <a:r>
                <a:rPr lang="en-US" dirty="0"/>
                <a:t>1</a:t>
              </a:r>
            </a:p>
          </p:txBody>
        </p:sp>
        <p:sp>
          <p:nvSpPr>
            <p:cNvPr id="22" name="TextBox 21"/>
            <p:cNvSpPr txBox="1"/>
            <p:nvPr/>
          </p:nvSpPr>
          <p:spPr>
            <a:xfrm>
              <a:off x="6861114" y="978932"/>
              <a:ext cx="301686" cy="369332"/>
            </a:xfrm>
            <a:prstGeom prst="rect">
              <a:avLst/>
            </a:prstGeom>
            <a:noFill/>
          </p:spPr>
          <p:txBody>
            <a:bodyPr wrap="none" rtlCol="0">
              <a:spAutoFit/>
            </a:bodyPr>
            <a:lstStyle/>
            <a:p>
              <a:r>
                <a:rPr lang="en-US" dirty="0"/>
                <a:t>2</a:t>
              </a:r>
            </a:p>
          </p:txBody>
        </p:sp>
        <p:sp>
          <p:nvSpPr>
            <p:cNvPr id="23" name="TextBox 22"/>
            <p:cNvSpPr txBox="1"/>
            <p:nvPr/>
          </p:nvSpPr>
          <p:spPr>
            <a:xfrm>
              <a:off x="7318314" y="978932"/>
              <a:ext cx="301686" cy="369332"/>
            </a:xfrm>
            <a:prstGeom prst="rect">
              <a:avLst/>
            </a:prstGeom>
            <a:noFill/>
          </p:spPr>
          <p:txBody>
            <a:bodyPr wrap="none" rtlCol="0">
              <a:spAutoFit/>
            </a:bodyPr>
            <a:lstStyle/>
            <a:p>
              <a:r>
                <a:rPr lang="en-US" dirty="0"/>
                <a:t>3</a:t>
              </a:r>
            </a:p>
          </p:txBody>
        </p:sp>
        <p:sp>
          <p:nvSpPr>
            <p:cNvPr id="24" name="TextBox 23"/>
            <p:cNvSpPr txBox="1"/>
            <p:nvPr/>
          </p:nvSpPr>
          <p:spPr>
            <a:xfrm>
              <a:off x="7775514" y="978932"/>
              <a:ext cx="301686" cy="369332"/>
            </a:xfrm>
            <a:prstGeom prst="rect">
              <a:avLst/>
            </a:prstGeom>
            <a:noFill/>
          </p:spPr>
          <p:txBody>
            <a:bodyPr wrap="none" rtlCol="0">
              <a:spAutoFit/>
            </a:bodyPr>
            <a:lstStyle/>
            <a:p>
              <a:r>
                <a:rPr lang="en-US" dirty="0"/>
                <a:t>4</a:t>
              </a:r>
            </a:p>
          </p:txBody>
        </p:sp>
        <p:sp>
          <p:nvSpPr>
            <p:cNvPr id="25" name="TextBox 24"/>
            <p:cNvSpPr txBox="1"/>
            <p:nvPr/>
          </p:nvSpPr>
          <p:spPr>
            <a:xfrm>
              <a:off x="8156514" y="1676400"/>
              <a:ext cx="301686" cy="369332"/>
            </a:xfrm>
            <a:prstGeom prst="rect">
              <a:avLst/>
            </a:prstGeom>
            <a:noFill/>
          </p:spPr>
          <p:txBody>
            <a:bodyPr wrap="none" rtlCol="0">
              <a:spAutoFit/>
            </a:bodyPr>
            <a:lstStyle/>
            <a:p>
              <a:r>
                <a:rPr lang="en-US" dirty="0"/>
                <a:t>5</a:t>
              </a:r>
            </a:p>
          </p:txBody>
        </p:sp>
        <p:sp>
          <p:nvSpPr>
            <p:cNvPr id="26" name="TextBox 25"/>
            <p:cNvSpPr txBox="1"/>
            <p:nvPr/>
          </p:nvSpPr>
          <p:spPr>
            <a:xfrm>
              <a:off x="7851714" y="2438400"/>
              <a:ext cx="301686" cy="369332"/>
            </a:xfrm>
            <a:prstGeom prst="rect">
              <a:avLst/>
            </a:prstGeom>
            <a:noFill/>
          </p:spPr>
          <p:txBody>
            <a:bodyPr wrap="none" rtlCol="0">
              <a:spAutoFit/>
            </a:bodyPr>
            <a:lstStyle/>
            <a:p>
              <a:r>
                <a:rPr lang="en-US" dirty="0"/>
                <a:t>6</a:t>
              </a:r>
            </a:p>
          </p:txBody>
        </p:sp>
        <p:sp>
          <p:nvSpPr>
            <p:cNvPr id="27" name="TextBox 26"/>
            <p:cNvSpPr txBox="1"/>
            <p:nvPr/>
          </p:nvSpPr>
          <p:spPr>
            <a:xfrm>
              <a:off x="7315200" y="2438400"/>
              <a:ext cx="301686" cy="369332"/>
            </a:xfrm>
            <a:prstGeom prst="rect">
              <a:avLst/>
            </a:prstGeom>
            <a:noFill/>
          </p:spPr>
          <p:txBody>
            <a:bodyPr wrap="none" rtlCol="0">
              <a:spAutoFit/>
            </a:bodyPr>
            <a:lstStyle/>
            <a:p>
              <a:r>
                <a:rPr lang="en-US" dirty="0"/>
                <a:t>7</a:t>
              </a:r>
            </a:p>
          </p:txBody>
        </p:sp>
        <p:sp>
          <p:nvSpPr>
            <p:cNvPr id="28" name="TextBox 27"/>
            <p:cNvSpPr txBox="1"/>
            <p:nvPr/>
          </p:nvSpPr>
          <p:spPr>
            <a:xfrm>
              <a:off x="6861114" y="2438400"/>
              <a:ext cx="301686" cy="369332"/>
            </a:xfrm>
            <a:prstGeom prst="rect">
              <a:avLst/>
            </a:prstGeom>
            <a:noFill/>
          </p:spPr>
          <p:txBody>
            <a:bodyPr wrap="none" rtlCol="0">
              <a:spAutoFit/>
            </a:bodyPr>
            <a:lstStyle/>
            <a:p>
              <a:r>
                <a:rPr lang="en-US" dirty="0"/>
                <a:t>8</a:t>
              </a:r>
            </a:p>
          </p:txBody>
        </p:sp>
        <p:sp>
          <p:nvSpPr>
            <p:cNvPr id="29" name="TextBox 28"/>
            <p:cNvSpPr txBox="1"/>
            <p:nvPr/>
          </p:nvSpPr>
          <p:spPr>
            <a:xfrm>
              <a:off x="6403914" y="2438400"/>
              <a:ext cx="301686" cy="369332"/>
            </a:xfrm>
            <a:prstGeom prst="rect">
              <a:avLst/>
            </a:prstGeom>
            <a:noFill/>
          </p:spPr>
          <p:txBody>
            <a:bodyPr wrap="none" rtlCol="0">
              <a:spAutoFit/>
            </a:bodyPr>
            <a:lstStyle/>
            <a:p>
              <a:r>
                <a:rPr lang="en-US" dirty="0"/>
                <a:t>9</a:t>
              </a:r>
            </a:p>
          </p:txBody>
        </p:sp>
        <p:sp>
          <p:nvSpPr>
            <p:cNvPr id="30" name="TextBox 29"/>
            <p:cNvSpPr txBox="1"/>
            <p:nvPr/>
          </p:nvSpPr>
          <p:spPr>
            <a:xfrm>
              <a:off x="5946714" y="2438400"/>
              <a:ext cx="418704" cy="369332"/>
            </a:xfrm>
            <a:prstGeom prst="rect">
              <a:avLst/>
            </a:prstGeom>
            <a:noFill/>
          </p:spPr>
          <p:txBody>
            <a:bodyPr wrap="none" rtlCol="0">
              <a:spAutoFit/>
            </a:bodyPr>
            <a:lstStyle/>
            <a:p>
              <a:r>
                <a:rPr lang="en-US" dirty="0" smtClean="0"/>
                <a:t>11</a:t>
              </a:r>
              <a:endParaRPr lang="en-US" dirty="0"/>
            </a:p>
          </p:txBody>
        </p:sp>
        <p:sp>
          <p:nvSpPr>
            <p:cNvPr id="31" name="TextBox 30"/>
            <p:cNvSpPr txBox="1"/>
            <p:nvPr/>
          </p:nvSpPr>
          <p:spPr>
            <a:xfrm>
              <a:off x="5410200" y="1676400"/>
              <a:ext cx="418704" cy="369332"/>
            </a:xfrm>
            <a:prstGeom prst="rect">
              <a:avLst/>
            </a:prstGeom>
            <a:noFill/>
          </p:spPr>
          <p:txBody>
            <a:bodyPr wrap="none" rtlCol="0">
              <a:spAutoFit/>
            </a:bodyPr>
            <a:lstStyle/>
            <a:p>
              <a:r>
                <a:rPr lang="en-US" dirty="0" smtClean="0"/>
                <a:t>12</a:t>
              </a:r>
              <a:endParaRPr lang="en-US" dirty="0"/>
            </a:p>
          </p:txBody>
        </p:sp>
        <p:cxnSp>
          <p:nvCxnSpPr>
            <p:cNvPr id="32" name="Straight Arrow Connector 31"/>
            <p:cNvCxnSpPr/>
            <p:nvPr/>
          </p:nvCxnSpPr>
          <p:spPr>
            <a:xfrm>
              <a:off x="5562600" y="902732"/>
              <a:ext cx="304800" cy="3810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5257800" y="533400"/>
              <a:ext cx="650114" cy="369332"/>
            </a:xfrm>
            <a:prstGeom prst="rect">
              <a:avLst/>
            </a:prstGeom>
            <a:noFill/>
          </p:spPr>
          <p:txBody>
            <a:bodyPr wrap="none" rtlCol="0">
              <a:spAutoFit/>
            </a:bodyPr>
            <a:lstStyle/>
            <a:p>
              <a:r>
                <a:rPr lang="en-US" dirty="0" smtClean="0"/>
                <a:t>front</a:t>
              </a:r>
              <a:endParaRPr lang="en-US" dirty="0"/>
            </a:p>
          </p:txBody>
        </p:sp>
        <p:cxnSp>
          <p:nvCxnSpPr>
            <p:cNvPr id="34" name="Straight Arrow Connector 33"/>
            <p:cNvCxnSpPr/>
            <p:nvPr/>
          </p:nvCxnSpPr>
          <p:spPr>
            <a:xfrm flipV="1">
              <a:off x="5277048" y="1524000"/>
              <a:ext cx="514152" cy="3048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5867400" y="13716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p:nvPr/>
          </p:nvSpPr>
          <p:spPr>
            <a:xfrm>
              <a:off x="4842224" y="1764268"/>
              <a:ext cx="567976" cy="369332"/>
            </a:xfrm>
            <a:prstGeom prst="rect">
              <a:avLst/>
            </a:prstGeom>
            <a:noFill/>
          </p:spPr>
          <p:txBody>
            <a:bodyPr wrap="none" rtlCol="0">
              <a:spAutoFit/>
            </a:bodyPr>
            <a:lstStyle/>
            <a:p>
              <a:r>
                <a:rPr lang="en-US" dirty="0" smtClean="0"/>
                <a:t>rear</a:t>
              </a:r>
              <a:endParaRPr lang="en-US" dirty="0"/>
            </a:p>
          </p:txBody>
        </p:sp>
      </p:grpSp>
      <p:grpSp>
        <p:nvGrpSpPr>
          <p:cNvPr id="37" name="Group 36"/>
          <p:cNvGrpSpPr/>
          <p:nvPr/>
        </p:nvGrpSpPr>
        <p:grpSpPr>
          <a:xfrm>
            <a:off x="5115810" y="2109272"/>
            <a:ext cx="3692176" cy="2274332"/>
            <a:chOff x="117824" y="533400"/>
            <a:chExt cx="3692176" cy="2274332"/>
          </a:xfrm>
        </p:grpSpPr>
        <p:sp>
          <p:nvSpPr>
            <p:cNvPr id="38" name="Rectangle 37"/>
            <p:cNvSpPr/>
            <p:nvPr/>
          </p:nvSpPr>
          <p:spPr>
            <a:xfrm>
              <a:off x="1219200" y="1359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1676400" y="1359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2133600" y="1359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p:cNvSpPr/>
            <p:nvPr/>
          </p:nvSpPr>
          <p:spPr>
            <a:xfrm>
              <a:off x="2590800" y="1359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3048000" y="1359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rot="5400000">
              <a:off x="3124200" y="1740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3057940" y="2121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p:cNvSpPr/>
            <p:nvPr/>
          </p:nvSpPr>
          <p:spPr>
            <a:xfrm>
              <a:off x="1219200" y="2121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1676400" y="2121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2133600" y="2121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2590800" y="2121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rot="5400000">
              <a:off x="1143000" y="1727680"/>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p:cNvSpPr txBox="1"/>
            <p:nvPr/>
          </p:nvSpPr>
          <p:spPr>
            <a:xfrm>
              <a:off x="1272010" y="978932"/>
              <a:ext cx="301686" cy="369332"/>
            </a:xfrm>
            <a:prstGeom prst="rect">
              <a:avLst/>
            </a:prstGeom>
            <a:noFill/>
          </p:spPr>
          <p:txBody>
            <a:bodyPr wrap="none" rtlCol="0">
              <a:spAutoFit/>
            </a:bodyPr>
            <a:lstStyle/>
            <a:p>
              <a:r>
                <a:rPr lang="en-US" dirty="0" smtClean="0"/>
                <a:t>0</a:t>
              </a:r>
              <a:endParaRPr lang="en-US" dirty="0"/>
            </a:p>
          </p:txBody>
        </p:sp>
        <p:sp>
          <p:nvSpPr>
            <p:cNvPr id="51" name="TextBox 50"/>
            <p:cNvSpPr txBox="1"/>
            <p:nvPr/>
          </p:nvSpPr>
          <p:spPr>
            <a:xfrm>
              <a:off x="1679514" y="978932"/>
              <a:ext cx="301686" cy="369332"/>
            </a:xfrm>
            <a:prstGeom prst="rect">
              <a:avLst/>
            </a:prstGeom>
            <a:noFill/>
          </p:spPr>
          <p:txBody>
            <a:bodyPr wrap="none" rtlCol="0">
              <a:spAutoFit/>
            </a:bodyPr>
            <a:lstStyle/>
            <a:p>
              <a:r>
                <a:rPr lang="en-US" dirty="0"/>
                <a:t>1</a:t>
              </a:r>
            </a:p>
          </p:txBody>
        </p:sp>
        <p:sp>
          <p:nvSpPr>
            <p:cNvPr id="52" name="TextBox 51"/>
            <p:cNvSpPr txBox="1"/>
            <p:nvPr/>
          </p:nvSpPr>
          <p:spPr>
            <a:xfrm>
              <a:off x="2212914" y="978932"/>
              <a:ext cx="301686" cy="369332"/>
            </a:xfrm>
            <a:prstGeom prst="rect">
              <a:avLst/>
            </a:prstGeom>
            <a:noFill/>
          </p:spPr>
          <p:txBody>
            <a:bodyPr wrap="none" rtlCol="0">
              <a:spAutoFit/>
            </a:bodyPr>
            <a:lstStyle/>
            <a:p>
              <a:r>
                <a:rPr lang="en-US" dirty="0"/>
                <a:t>2</a:t>
              </a:r>
            </a:p>
          </p:txBody>
        </p:sp>
        <p:sp>
          <p:nvSpPr>
            <p:cNvPr id="53" name="TextBox 52"/>
            <p:cNvSpPr txBox="1"/>
            <p:nvPr/>
          </p:nvSpPr>
          <p:spPr>
            <a:xfrm>
              <a:off x="2670114" y="978932"/>
              <a:ext cx="301686" cy="369332"/>
            </a:xfrm>
            <a:prstGeom prst="rect">
              <a:avLst/>
            </a:prstGeom>
            <a:noFill/>
          </p:spPr>
          <p:txBody>
            <a:bodyPr wrap="none" rtlCol="0">
              <a:spAutoFit/>
            </a:bodyPr>
            <a:lstStyle/>
            <a:p>
              <a:r>
                <a:rPr lang="en-US" dirty="0"/>
                <a:t>3</a:t>
              </a:r>
            </a:p>
          </p:txBody>
        </p:sp>
        <p:sp>
          <p:nvSpPr>
            <p:cNvPr id="54" name="TextBox 53"/>
            <p:cNvSpPr txBox="1"/>
            <p:nvPr/>
          </p:nvSpPr>
          <p:spPr>
            <a:xfrm>
              <a:off x="3127314" y="978932"/>
              <a:ext cx="301686" cy="369332"/>
            </a:xfrm>
            <a:prstGeom prst="rect">
              <a:avLst/>
            </a:prstGeom>
            <a:noFill/>
          </p:spPr>
          <p:txBody>
            <a:bodyPr wrap="none" rtlCol="0">
              <a:spAutoFit/>
            </a:bodyPr>
            <a:lstStyle/>
            <a:p>
              <a:r>
                <a:rPr lang="en-US" dirty="0"/>
                <a:t>4</a:t>
              </a:r>
            </a:p>
          </p:txBody>
        </p:sp>
        <p:sp>
          <p:nvSpPr>
            <p:cNvPr id="55" name="TextBox 54"/>
            <p:cNvSpPr txBox="1"/>
            <p:nvPr/>
          </p:nvSpPr>
          <p:spPr>
            <a:xfrm>
              <a:off x="3508314" y="1676400"/>
              <a:ext cx="301686" cy="369332"/>
            </a:xfrm>
            <a:prstGeom prst="rect">
              <a:avLst/>
            </a:prstGeom>
            <a:noFill/>
          </p:spPr>
          <p:txBody>
            <a:bodyPr wrap="none" rtlCol="0">
              <a:spAutoFit/>
            </a:bodyPr>
            <a:lstStyle/>
            <a:p>
              <a:r>
                <a:rPr lang="en-US" dirty="0"/>
                <a:t>5</a:t>
              </a:r>
            </a:p>
          </p:txBody>
        </p:sp>
        <p:sp>
          <p:nvSpPr>
            <p:cNvPr id="56" name="TextBox 55"/>
            <p:cNvSpPr txBox="1"/>
            <p:nvPr/>
          </p:nvSpPr>
          <p:spPr>
            <a:xfrm>
              <a:off x="3203514" y="2438400"/>
              <a:ext cx="301686" cy="369332"/>
            </a:xfrm>
            <a:prstGeom prst="rect">
              <a:avLst/>
            </a:prstGeom>
            <a:noFill/>
          </p:spPr>
          <p:txBody>
            <a:bodyPr wrap="none" rtlCol="0">
              <a:spAutoFit/>
            </a:bodyPr>
            <a:lstStyle/>
            <a:p>
              <a:r>
                <a:rPr lang="en-US" dirty="0"/>
                <a:t>6</a:t>
              </a:r>
            </a:p>
          </p:txBody>
        </p:sp>
        <p:sp>
          <p:nvSpPr>
            <p:cNvPr id="57" name="TextBox 56"/>
            <p:cNvSpPr txBox="1"/>
            <p:nvPr/>
          </p:nvSpPr>
          <p:spPr>
            <a:xfrm>
              <a:off x="2667000" y="2438400"/>
              <a:ext cx="301686" cy="369332"/>
            </a:xfrm>
            <a:prstGeom prst="rect">
              <a:avLst/>
            </a:prstGeom>
            <a:noFill/>
          </p:spPr>
          <p:txBody>
            <a:bodyPr wrap="none" rtlCol="0">
              <a:spAutoFit/>
            </a:bodyPr>
            <a:lstStyle/>
            <a:p>
              <a:r>
                <a:rPr lang="en-US" dirty="0"/>
                <a:t>7</a:t>
              </a:r>
            </a:p>
          </p:txBody>
        </p:sp>
        <p:sp>
          <p:nvSpPr>
            <p:cNvPr id="58" name="TextBox 57"/>
            <p:cNvSpPr txBox="1"/>
            <p:nvPr/>
          </p:nvSpPr>
          <p:spPr>
            <a:xfrm>
              <a:off x="2212914" y="2438400"/>
              <a:ext cx="301686" cy="369332"/>
            </a:xfrm>
            <a:prstGeom prst="rect">
              <a:avLst/>
            </a:prstGeom>
            <a:noFill/>
          </p:spPr>
          <p:txBody>
            <a:bodyPr wrap="none" rtlCol="0">
              <a:spAutoFit/>
            </a:bodyPr>
            <a:lstStyle/>
            <a:p>
              <a:r>
                <a:rPr lang="en-US" dirty="0"/>
                <a:t>8</a:t>
              </a:r>
            </a:p>
          </p:txBody>
        </p:sp>
        <p:sp>
          <p:nvSpPr>
            <p:cNvPr id="59" name="TextBox 58"/>
            <p:cNvSpPr txBox="1"/>
            <p:nvPr/>
          </p:nvSpPr>
          <p:spPr>
            <a:xfrm>
              <a:off x="1755714" y="2438400"/>
              <a:ext cx="301686" cy="369332"/>
            </a:xfrm>
            <a:prstGeom prst="rect">
              <a:avLst/>
            </a:prstGeom>
            <a:noFill/>
          </p:spPr>
          <p:txBody>
            <a:bodyPr wrap="none" rtlCol="0">
              <a:spAutoFit/>
            </a:bodyPr>
            <a:lstStyle/>
            <a:p>
              <a:r>
                <a:rPr lang="en-US" dirty="0"/>
                <a:t>9</a:t>
              </a:r>
            </a:p>
          </p:txBody>
        </p:sp>
        <p:sp>
          <p:nvSpPr>
            <p:cNvPr id="60" name="TextBox 59"/>
            <p:cNvSpPr txBox="1"/>
            <p:nvPr/>
          </p:nvSpPr>
          <p:spPr>
            <a:xfrm>
              <a:off x="1298514" y="2438400"/>
              <a:ext cx="418704" cy="369332"/>
            </a:xfrm>
            <a:prstGeom prst="rect">
              <a:avLst/>
            </a:prstGeom>
            <a:noFill/>
          </p:spPr>
          <p:txBody>
            <a:bodyPr wrap="none" rtlCol="0">
              <a:spAutoFit/>
            </a:bodyPr>
            <a:lstStyle/>
            <a:p>
              <a:r>
                <a:rPr lang="en-US" dirty="0" smtClean="0"/>
                <a:t>11</a:t>
              </a:r>
              <a:endParaRPr lang="en-US" dirty="0"/>
            </a:p>
          </p:txBody>
        </p:sp>
        <p:sp>
          <p:nvSpPr>
            <p:cNvPr id="61" name="TextBox 60"/>
            <p:cNvSpPr txBox="1"/>
            <p:nvPr/>
          </p:nvSpPr>
          <p:spPr>
            <a:xfrm>
              <a:off x="762000" y="1676400"/>
              <a:ext cx="418704" cy="369332"/>
            </a:xfrm>
            <a:prstGeom prst="rect">
              <a:avLst/>
            </a:prstGeom>
            <a:noFill/>
          </p:spPr>
          <p:txBody>
            <a:bodyPr wrap="none" rtlCol="0">
              <a:spAutoFit/>
            </a:bodyPr>
            <a:lstStyle/>
            <a:p>
              <a:r>
                <a:rPr lang="en-US" dirty="0" smtClean="0"/>
                <a:t>12</a:t>
              </a:r>
              <a:endParaRPr lang="en-US" dirty="0"/>
            </a:p>
          </p:txBody>
        </p:sp>
        <p:cxnSp>
          <p:nvCxnSpPr>
            <p:cNvPr id="62" name="Straight Arrow Connector 61"/>
            <p:cNvCxnSpPr/>
            <p:nvPr/>
          </p:nvCxnSpPr>
          <p:spPr>
            <a:xfrm>
              <a:off x="914400" y="902732"/>
              <a:ext cx="304800" cy="3810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609600" y="533400"/>
              <a:ext cx="650114" cy="369332"/>
            </a:xfrm>
            <a:prstGeom prst="rect">
              <a:avLst/>
            </a:prstGeom>
            <a:noFill/>
          </p:spPr>
          <p:txBody>
            <a:bodyPr wrap="none" rtlCol="0">
              <a:spAutoFit/>
            </a:bodyPr>
            <a:lstStyle/>
            <a:p>
              <a:r>
                <a:rPr lang="en-US" dirty="0" smtClean="0"/>
                <a:t>front</a:t>
              </a:r>
              <a:endParaRPr lang="en-US" dirty="0"/>
            </a:p>
          </p:txBody>
        </p:sp>
        <p:cxnSp>
          <p:nvCxnSpPr>
            <p:cNvPr id="64" name="Straight Arrow Connector 63"/>
            <p:cNvCxnSpPr/>
            <p:nvPr/>
          </p:nvCxnSpPr>
          <p:spPr>
            <a:xfrm flipV="1">
              <a:off x="628848" y="1969532"/>
              <a:ext cx="514152" cy="3048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117824" y="2133600"/>
              <a:ext cx="567976" cy="369332"/>
            </a:xfrm>
            <a:prstGeom prst="rect">
              <a:avLst/>
            </a:prstGeom>
            <a:noFill/>
          </p:spPr>
          <p:txBody>
            <a:bodyPr wrap="none" rtlCol="0">
              <a:spAutoFit/>
            </a:bodyPr>
            <a:lstStyle/>
            <a:p>
              <a:r>
                <a:rPr lang="en-US" dirty="0" smtClean="0"/>
                <a:t>rear</a:t>
              </a:r>
              <a:endParaRPr lang="en-US" dirty="0"/>
            </a:p>
          </p:txBody>
        </p:sp>
      </p:grpSp>
      <p:grpSp>
        <p:nvGrpSpPr>
          <p:cNvPr id="66" name="Group 65"/>
          <p:cNvGrpSpPr/>
          <p:nvPr/>
        </p:nvGrpSpPr>
        <p:grpSpPr>
          <a:xfrm>
            <a:off x="1468597" y="4401668"/>
            <a:ext cx="3657600" cy="2286000"/>
            <a:chOff x="4876800" y="3429000"/>
            <a:chExt cx="3657600" cy="2286000"/>
          </a:xfrm>
        </p:grpSpPr>
        <p:sp>
          <p:nvSpPr>
            <p:cNvPr id="67" name="Rectangle 66"/>
            <p:cNvSpPr/>
            <p:nvPr/>
          </p:nvSpPr>
          <p:spPr>
            <a:xfrm>
              <a:off x="5943600" y="4267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p:cNvSpPr/>
            <p:nvPr/>
          </p:nvSpPr>
          <p:spPr>
            <a:xfrm>
              <a:off x="6400800" y="4267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p:cNvSpPr/>
            <p:nvPr/>
          </p:nvSpPr>
          <p:spPr>
            <a:xfrm>
              <a:off x="6858000" y="4267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7315200" y="4267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7772400" y="4267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p:cNvSpPr/>
            <p:nvPr/>
          </p:nvSpPr>
          <p:spPr>
            <a:xfrm rot="5400000">
              <a:off x="7848600" y="4648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p:cNvSpPr/>
            <p:nvPr/>
          </p:nvSpPr>
          <p:spPr>
            <a:xfrm>
              <a:off x="7782340" y="5029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p:cNvSpPr/>
            <p:nvPr/>
          </p:nvSpPr>
          <p:spPr>
            <a:xfrm>
              <a:off x="5943600" y="5029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p:cNvSpPr/>
            <p:nvPr/>
          </p:nvSpPr>
          <p:spPr>
            <a:xfrm>
              <a:off x="6400800" y="5029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6858000" y="5029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7315200" y="5029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p:cNvSpPr/>
            <p:nvPr/>
          </p:nvSpPr>
          <p:spPr>
            <a:xfrm rot="5400000">
              <a:off x="5867400" y="4634948"/>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p:cNvSpPr txBox="1"/>
            <p:nvPr/>
          </p:nvSpPr>
          <p:spPr>
            <a:xfrm>
              <a:off x="5996410" y="3886200"/>
              <a:ext cx="301686" cy="369332"/>
            </a:xfrm>
            <a:prstGeom prst="rect">
              <a:avLst/>
            </a:prstGeom>
            <a:noFill/>
          </p:spPr>
          <p:txBody>
            <a:bodyPr wrap="none" rtlCol="0">
              <a:spAutoFit/>
            </a:bodyPr>
            <a:lstStyle/>
            <a:p>
              <a:r>
                <a:rPr lang="en-US" dirty="0" smtClean="0"/>
                <a:t>0</a:t>
              </a:r>
              <a:endParaRPr lang="en-US" dirty="0"/>
            </a:p>
          </p:txBody>
        </p:sp>
        <p:sp>
          <p:nvSpPr>
            <p:cNvPr id="80" name="TextBox 79"/>
            <p:cNvSpPr txBox="1"/>
            <p:nvPr/>
          </p:nvSpPr>
          <p:spPr>
            <a:xfrm>
              <a:off x="6403914" y="3886200"/>
              <a:ext cx="301686" cy="369332"/>
            </a:xfrm>
            <a:prstGeom prst="rect">
              <a:avLst/>
            </a:prstGeom>
            <a:noFill/>
          </p:spPr>
          <p:txBody>
            <a:bodyPr wrap="none" rtlCol="0">
              <a:spAutoFit/>
            </a:bodyPr>
            <a:lstStyle/>
            <a:p>
              <a:r>
                <a:rPr lang="en-US" dirty="0"/>
                <a:t>1</a:t>
              </a:r>
            </a:p>
          </p:txBody>
        </p:sp>
        <p:sp>
          <p:nvSpPr>
            <p:cNvPr id="81" name="TextBox 80"/>
            <p:cNvSpPr txBox="1"/>
            <p:nvPr/>
          </p:nvSpPr>
          <p:spPr>
            <a:xfrm>
              <a:off x="6937314" y="3886200"/>
              <a:ext cx="301686" cy="369332"/>
            </a:xfrm>
            <a:prstGeom prst="rect">
              <a:avLst/>
            </a:prstGeom>
            <a:noFill/>
          </p:spPr>
          <p:txBody>
            <a:bodyPr wrap="none" rtlCol="0">
              <a:spAutoFit/>
            </a:bodyPr>
            <a:lstStyle/>
            <a:p>
              <a:r>
                <a:rPr lang="en-US" dirty="0"/>
                <a:t>2</a:t>
              </a:r>
            </a:p>
          </p:txBody>
        </p:sp>
        <p:sp>
          <p:nvSpPr>
            <p:cNvPr id="82" name="TextBox 81"/>
            <p:cNvSpPr txBox="1"/>
            <p:nvPr/>
          </p:nvSpPr>
          <p:spPr>
            <a:xfrm>
              <a:off x="7394514" y="3886200"/>
              <a:ext cx="301686" cy="369332"/>
            </a:xfrm>
            <a:prstGeom prst="rect">
              <a:avLst/>
            </a:prstGeom>
            <a:noFill/>
          </p:spPr>
          <p:txBody>
            <a:bodyPr wrap="none" rtlCol="0">
              <a:spAutoFit/>
            </a:bodyPr>
            <a:lstStyle/>
            <a:p>
              <a:r>
                <a:rPr lang="en-US" dirty="0"/>
                <a:t>3</a:t>
              </a:r>
            </a:p>
          </p:txBody>
        </p:sp>
        <p:sp>
          <p:nvSpPr>
            <p:cNvPr id="83" name="TextBox 82"/>
            <p:cNvSpPr txBox="1"/>
            <p:nvPr/>
          </p:nvSpPr>
          <p:spPr>
            <a:xfrm>
              <a:off x="7851714" y="3886200"/>
              <a:ext cx="301686" cy="369332"/>
            </a:xfrm>
            <a:prstGeom prst="rect">
              <a:avLst/>
            </a:prstGeom>
            <a:noFill/>
          </p:spPr>
          <p:txBody>
            <a:bodyPr wrap="none" rtlCol="0">
              <a:spAutoFit/>
            </a:bodyPr>
            <a:lstStyle/>
            <a:p>
              <a:r>
                <a:rPr lang="en-US" dirty="0"/>
                <a:t>4</a:t>
              </a:r>
            </a:p>
          </p:txBody>
        </p:sp>
        <p:sp>
          <p:nvSpPr>
            <p:cNvPr id="84" name="TextBox 83"/>
            <p:cNvSpPr txBox="1"/>
            <p:nvPr/>
          </p:nvSpPr>
          <p:spPr>
            <a:xfrm>
              <a:off x="8232714" y="4583668"/>
              <a:ext cx="301686" cy="369332"/>
            </a:xfrm>
            <a:prstGeom prst="rect">
              <a:avLst/>
            </a:prstGeom>
            <a:noFill/>
          </p:spPr>
          <p:txBody>
            <a:bodyPr wrap="none" rtlCol="0">
              <a:spAutoFit/>
            </a:bodyPr>
            <a:lstStyle/>
            <a:p>
              <a:r>
                <a:rPr lang="en-US" dirty="0"/>
                <a:t>5</a:t>
              </a:r>
            </a:p>
          </p:txBody>
        </p:sp>
        <p:sp>
          <p:nvSpPr>
            <p:cNvPr id="85" name="TextBox 84"/>
            <p:cNvSpPr txBox="1"/>
            <p:nvPr/>
          </p:nvSpPr>
          <p:spPr>
            <a:xfrm>
              <a:off x="7927914" y="5345668"/>
              <a:ext cx="301686" cy="369332"/>
            </a:xfrm>
            <a:prstGeom prst="rect">
              <a:avLst/>
            </a:prstGeom>
            <a:noFill/>
          </p:spPr>
          <p:txBody>
            <a:bodyPr wrap="none" rtlCol="0">
              <a:spAutoFit/>
            </a:bodyPr>
            <a:lstStyle/>
            <a:p>
              <a:r>
                <a:rPr lang="en-US" dirty="0"/>
                <a:t>6</a:t>
              </a:r>
            </a:p>
          </p:txBody>
        </p:sp>
        <p:sp>
          <p:nvSpPr>
            <p:cNvPr id="86" name="TextBox 85"/>
            <p:cNvSpPr txBox="1"/>
            <p:nvPr/>
          </p:nvSpPr>
          <p:spPr>
            <a:xfrm>
              <a:off x="7391400" y="5345668"/>
              <a:ext cx="301686" cy="369332"/>
            </a:xfrm>
            <a:prstGeom prst="rect">
              <a:avLst/>
            </a:prstGeom>
            <a:noFill/>
          </p:spPr>
          <p:txBody>
            <a:bodyPr wrap="none" rtlCol="0">
              <a:spAutoFit/>
            </a:bodyPr>
            <a:lstStyle/>
            <a:p>
              <a:r>
                <a:rPr lang="en-US" dirty="0"/>
                <a:t>7</a:t>
              </a:r>
            </a:p>
          </p:txBody>
        </p:sp>
        <p:sp>
          <p:nvSpPr>
            <p:cNvPr id="87" name="TextBox 86"/>
            <p:cNvSpPr txBox="1"/>
            <p:nvPr/>
          </p:nvSpPr>
          <p:spPr>
            <a:xfrm>
              <a:off x="6937314" y="5345668"/>
              <a:ext cx="301686" cy="369332"/>
            </a:xfrm>
            <a:prstGeom prst="rect">
              <a:avLst/>
            </a:prstGeom>
            <a:noFill/>
          </p:spPr>
          <p:txBody>
            <a:bodyPr wrap="none" rtlCol="0">
              <a:spAutoFit/>
            </a:bodyPr>
            <a:lstStyle/>
            <a:p>
              <a:r>
                <a:rPr lang="en-US" dirty="0"/>
                <a:t>8</a:t>
              </a:r>
            </a:p>
          </p:txBody>
        </p:sp>
        <p:sp>
          <p:nvSpPr>
            <p:cNvPr id="88" name="TextBox 87"/>
            <p:cNvSpPr txBox="1"/>
            <p:nvPr/>
          </p:nvSpPr>
          <p:spPr>
            <a:xfrm>
              <a:off x="6480114" y="5345668"/>
              <a:ext cx="301686" cy="369332"/>
            </a:xfrm>
            <a:prstGeom prst="rect">
              <a:avLst/>
            </a:prstGeom>
            <a:noFill/>
          </p:spPr>
          <p:txBody>
            <a:bodyPr wrap="none" rtlCol="0">
              <a:spAutoFit/>
            </a:bodyPr>
            <a:lstStyle/>
            <a:p>
              <a:r>
                <a:rPr lang="en-US" dirty="0"/>
                <a:t>9</a:t>
              </a:r>
            </a:p>
          </p:txBody>
        </p:sp>
        <p:sp>
          <p:nvSpPr>
            <p:cNvPr id="89" name="TextBox 88"/>
            <p:cNvSpPr txBox="1"/>
            <p:nvPr/>
          </p:nvSpPr>
          <p:spPr>
            <a:xfrm>
              <a:off x="6022914" y="5345668"/>
              <a:ext cx="418704" cy="369332"/>
            </a:xfrm>
            <a:prstGeom prst="rect">
              <a:avLst/>
            </a:prstGeom>
            <a:noFill/>
          </p:spPr>
          <p:txBody>
            <a:bodyPr wrap="none" rtlCol="0">
              <a:spAutoFit/>
            </a:bodyPr>
            <a:lstStyle/>
            <a:p>
              <a:r>
                <a:rPr lang="en-US" dirty="0" smtClean="0"/>
                <a:t>11</a:t>
              </a:r>
              <a:endParaRPr lang="en-US" dirty="0"/>
            </a:p>
          </p:txBody>
        </p:sp>
        <p:sp>
          <p:nvSpPr>
            <p:cNvPr id="90" name="TextBox 89"/>
            <p:cNvSpPr txBox="1"/>
            <p:nvPr/>
          </p:nvSpPr>
          <p:spPr>
            <a:xfrm>
              <a:off x="5486400" y="4583668"/>
              <a:ext cx="418704" cy="369332"/>
            </a:xfrm>
            <a:prstGeom prst="rect">
              <a:avLst/>
            </a:prstGeom>
            <a:noFill/>
          </p:spPr>
          <p:txBody>
            <a:bodyPr wrap="none" rtlCol="0">
              <a:spAutoFit/>
            </a:bodyPr>
            <a:lstStyle/>
            <a:p>
              <a:r>
                <a:rPr lang="en-US" dirty="0" smtClean="0"/>
                <a:t>12</a:t>
              </a:r>
              <a:endParaRPr lang="en-US" dirty="0"/>
            </a:p>
          </p:txBody>
        </p:sp>
        <p:cxnSp>
          <p:nvCxnSpPr>
            <p:cNvPr id="91" name="Straight Arrow Connector 90"/>
            <p:cNvCxnSpPr/>
            <p:nvPr/>
          </p:nvCxnSpPr>
          <p:spPr>
            <a:xfrm>
              <a:off x="5673376" y="3798332"/>
              <a:ext cx="304800" cy="3810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92" name="TextBox 91"/>
            <p:cNvSpPr txBox="1"/>
            <p:nvPr/>
          </p:nvSpPr>
          <p:spPr>
            <a:xfrm>
              <a:off x="5368576" y="3429000"/>
              <a:ext cx="650114" cy="369332"/>
            </a:xfrm>
            <a:prstGeom prst="rect">
              <a:avLst/>
            </a:prstGeom>
            <a:noFill/>
          </p:spPr>
          <p:txBody>
            <a:bodyPr wrap="none" rtlCol="0">
              <a:spAutoFit/>
            </a:bodyPr>
            <a:lstStyle/>
            <a:p>
              <a:r>
                <a:rPr lang="en-US" dirty="0" smtClean="0"/>
                <a:t>front</a:t>
              </a:r>
              <a:endParaRPr lang="en-US" dirty="0"/>
            </a:p>
          </p:txBody>
        </p:sp>
        <p:cxnSp>
          <p:nvCxnSpPr>
            <p:cNvPr id="93" name="Straight Arrow Connector 92"/>
            <p:cNvCxnSpPr/>
            <p:nvPr/>
          </p:nvCxnSpPr>
          <p:spPr>
            <a:xfrm flipV="1">
              <a:off x="5387824" y="4865132"/>
              <a:ext cx="514152" cy="3048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4876800" y="5029200"/>
              <a:ext cx="567976" cy="369332"/>
            </a:xfrm>
            <a:prstGeom prst="rect">
              <a:avLst/>
            </a:prstGeom>
            <a:noFill/>
          </p:spPr>
          <p:txBody>
            <a:bodyPr wrap="none" rtlCol="0">
              <a:spAutoFit/>
            </a:bodyPr>
            <a:lstStyle/>
            <a:p>
              <a:r>
                <a:rPr lang="en-US" dirty="0" smtClean="0"/>
                <a:t>rear</a:t>
              </a:r>
              <a:endParaRPr lang="en-US" dirty="0"/>
            </a:p>
          </p:txBody>
        </p:sp>
      </p:grpSp>
      <p:grpSp>
        <p:nvGrpSpPr>
          <p:cNvPr id="95" name="Group 94"/>
          <p:cNvGrpSpPr/>
          <p:nvPr/>
        </p:nvGrpSpPr>
        <p:grpSpPr>
          <a:xfrm>
            <a:off x="5637950" y="3944468"/>
            <a:ext cx="3276600" cy="2895600"/>
            <a:chOff x="609600" y="3429000"/>
            <a:chExt cx="3276600" cy="2895600"/>
          </a:xfrm>
        </p:grpSpPr>
        <p:sp>
          <p:nvSpPr>
            <p:cNvPr id="96" name="Rectangle 95"/>
            <p:cNvSpPr/>
            <p:nvPr/>
          </p:nvSpPr>
          <p:spPr>
            <a:xfrm>
              <a:off x="1295400" y="4267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p:cNvSpPr/>
            <p:nvPr/>
          </p:nvSpPr>
          <p:spPr>
            <a:xfrm>
              <a:off x="1752600" y="4267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p:cNvSpPr/>
            <p:nvPr/>
          </p:nvSpPr>
          <p:spPr>
            <a:xfrm>
              <a:off x="2209800" y="4267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p:cNvSpPr/>
            <p:nvPr/>
          </p:nvSpPr>
          <p:spPr>
            <a:xfrm>
              <a:off x="2667000" y="4267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p:cNvSpPr/>
            <p:nvPr/>
          </p:nvSpPr>
          <p:spPr>
            <a:xfrm>
              <a:off x="3124200" y="4267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rot="5400000">
              <a:off x="3200400" y="4648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3134140" y="5029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p:cNvSpPr/>
            <p:nvPr/>
          </p:nvSpPr>
          <p:spPr>
            <a:xfrm>
              <a:off x="1295400" y="5029200"/>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p:cNvSpPr/>
            <p:nvPr/>
          </p:nvSpPr>
          <p:spPr>
            <a:xfrm>
              <a:off x="1752600" y="5029200"/>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209800" y="5029200"/>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2667000" y="5029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p:cNvSpPr/>
            <p:nvPr/>
          </p:nvSpPr>
          <p:spPr>
            <a:xfrm rot="5400000">
              <a:off x="1219200" y="4634948"/>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TextBox 107"/>
            <p:cNvSpPr txBox="1"/>
            <p:nvPr/>
          </p:nvSpPr>
          <p:spPr>
            <a:xfrm>
              <a:off x="1348210" y="3886200"/>
              <a:ext cx="301686" cy="369332"/>
            </a:xfrm>
            <a:prstGeom prst="rect">
              <a:avLst/>
            </a:prstGeom>
            <a:noFill/>
          </p:spPr>
          <p:txBody>
            <a:bodyPr wrap="none" rtlCol="0">
              <a:spAutoFit/>
            </a:bodyPr>
            <a:lstStyle/>
            <a:p>
              <a:r>
                <a:rPr lang="en-US" dirty="0" smtClean="0"/>
                <a:t>0</a:t>
              </a:r>
              <a:endParaRPr lang="en-US" dirty="0"/>
            </a:p>
          </p:txBody>
        </p:sp>
        <p:sp>
          <p:nvSpPr>
            <p:cNvPr id="109" name="TextBox 108"/>
            <p:cNvSpPr txBox="1"/>
            <p:nvPr/>
          </p:nvSpPr>
          <p:spPr>
            <a:xfrm>
              <a:off x="1755714" y="3886200"/>
              <a:ext cx="301686" cy="369332"/>
            </a:xfrm>
            <a:prstGeom prst="rect">
              <a:avLst/>
            </a:prstGeom>
            <a:noFill/>
          </p:spPr>
          <p:txBody>
            <a:bodyPr wrap="none" rtlCol="0">
              <a:spAutoFit/>
            </a:bodyPr>
            <a:lstStyle/>
            <a:p>
              <a:r>
                <a:rPr lang="en-US" dirty="0"/>
                <a:t>1</a:t>
              </a:r>
            </a:p>
          </p:txBody>
        </p:sp>
        <p:sp>
          <p:nvSpPr>
            <p:cNvPr id="110" name="TextBox 109"/>
            <p:cNvSpPr txBox="1"/>
            <p:nvPr/>
          </p:nvSpPr>
          <p:spPr>
            <a:xfrm>
              <a:off x="2289114" y="3886200"/>
              <a:ext cx="301686" cy="369332"/>
            </a:xfrm>
            <a:prstGeom prst="rect">
              <a:avLst/>
            </a:prstGeom>
            <a:noFill/>
          </p:spPr>
          <p:txBody>
            <a:bodyPr wrap="none" rtlCol="0">
              <a:spAutoFit/>
            </a:bodyPr>
            <a:lstStyle/>
            <a:p>
              <a:r>
                <a:rPr lang="en-US" dirty="0"/>
                <a:t>2</a:t>
              </a:r>
            </a:p>
          </p:txBody>
        </p:sp>
        <p:sp>
          <p:nvSpPr>
            <p:cNvPr id="111" name="TextBox 110"/>
            <p:cNvSpPr txBox="1"/>
            <p:nvPr/>
          </p:nvSpPr>
          <p:spPr>
            <a:xfrm>
              <a:off x="2746314" y="3886200"/>
              <a:ext cx="301686" cy="369332"/>
            </a:xfrm>
            <a:prstGeom prst="rect">
              <a:avLst/>
            </a:prstGeom>
            <a:noFill/>
          </p:spPr>
          <p:txBody>
            <a:bodyPr wrap="none" rtlCol="0">
              <a:spAutoFit/>
            </a:bodyPr>
            <a:lstStyle/>
            <a:p>
              <a:r>
                <a:rPr lang="en-US" dirty="0"/>
                <a:t>3</a:t>
              </a:r>
            </a:p>
          </p:txBody>
        </p:sp>
        <p:sp>
          <p:nvSpPr>
            <p:cNvPr id="112" name="TextBox 111"/>
            <p:cNvSpPr txBox="1"/>
            <p:nvPr/>
          </p:nvSpPr>
          <p:spPr>
            <a:xfrm>
              <a:off x="3203514" y="3886200"/>
              <a:ext cx="301686" cy="369332"/>
            </a:xfrm>
            <a:prstGeom prst="rect">
              <a:avLst/>
            </a:prstGeom>
            <a:noFill/>
          </p:spPr>
          <p:txBody>
            <a:bodyPr wrap="none" rtlCol="0">
              <a:spAutoFit/>
            </a:bodyPr>
            <a:lstStyle/>
            <a:p>
              <a:r>
                <a:rPr lang="en-US" dirty="0"/>
                <a:t>4</a:t>
              </a:r>
            </a:p>
          </p:txBody>
        </p:sp>
        <p:sp>
          <p:nvSpPr>
            <p:cNvPr id="113" name="TextBox 112"/>
            <p:cNvSpPr txBox="1"/>
            <p:nvPr/>
          </p:nvSpPr>
          <p:spPr>
            <a:xfrm>
              <a:off x="3584514" y="4583668"/>
              <a:ext cx="301686" cy="369332"/>
            </a:xfrm>
            <a:prstGeom prst="rect">
              <a:avLst/>
            </a:prstGeom>
            <a:noFill/>
          </p:spPr>
          <p:txBody>
            <a:bodyPr wrap="none" rtlCol="0">
              <a:spAutoFit/>
            </a:bodyPr>
            <a:lstStyle/>
            <a:p>
              <a:r>
                <a:rPr lang="en-US" dirty="0"/>
                <a:t>5</a:t>
              </a:r>
            </a:p>
          </p:txBody>
        </p:sp>
        <p:sp>
          <p:nvSpPr>
            <p:cNvPr id="114" name="TextBox 113"/>
            <p:cNvSpPr txBox="1"/>
            <p:nvPr/>
          </p:nvSpPr>
          <p:spPr>
            <a:xfrm>
              <a:off x="3279714" y="5345668"/>
              <a:ext cx="301686" cy="369332"/>
            </a:xfrm>
            <a:prstGeom prst="rect">
              <a:avLst/>
            </a:prstGeom>
            <a:noFill/>
          </p:spPr>
          <p:txBody>
            <a:bodyPr wrap="none" rtlCol="0">
              <a:spAutoFit/>
            </a:bodyPr>
            <a:lstStyle/>
            <a:p>
              <a:r>
                <a:rPr lang="en-US" dirty="0"/>
                <a:t>6</a:t>
              </a:r>
            </a:p>
          </p:txBody>
        </p:sp>
        <p:sp>
          <p:nvSpPr>
            <p:cNvPr id="115" name="TextBox 114"/>
            <p:cNvSpPr txBox="1"/>
            <p:nvPr/>
          </p:nvSpPr>
          <p:spPr>
            <a:xfrm>
              <a:off x="2743200" y="5345668"/>
              <a:ext cx="301686" cy="369332"/>
            </a:xfrm>
            <a:prstGeom prst="rect">
              <a:avLst/>
            </a:prstGeom>
            <a:noFill/>
          </p:spPr>
          <p:txBody>
            <a:bodyPr wrap="none" rtlCol="0">
              <a:spAutoFit/>
            </a:bodyPr>
            <a:lstStyle/>
            <a:p>
              <a:r>
                <a:rPr lang="en-US" dirty="0"/>
                <a:t>7</a:t>
              </a:r>
            </a:p>
          </p:txBody>
        </p:sp>
        <p:sp>
          <p:nvSpPr>
            <p:cNvPr id="116" name="TextBox 115"/>
            <p:cNvSpPr txBox="1"/>
            <p:nvPr/>
          </p:nvSpPr>
          <p:spPr>
            <a:xfrm>
              <a:off x="2289114" y="5345668"/>
              <a:ext cx="301686" cy="369332"/>
            </a:xfrm>
            <a:prstGeom prst="rect">
              <a:avLst/>
            </a:prstGeom>
            <a:noFill/>
          </p:spPr>
          <p:txBody>
            <a:bodyPr wrap="none" rtlCol="0">
              <a:spAutoFit/>
            </a:bodyPr>
            <a:lstStyle/>
            <a:p>
              <a:r>
                <a:rPr lang="en-US" dirty="0"/>
                <a:t>8</a:t>
              </a:r>
            </a:p>
          </p:txBody>
        </p:sp>
        <p:sp>
          <p:nvSpPr>
            <p:cNvPr id="117" name="TextBox 116"/>
            <p:cNvSpPr txBox="1"/>
            <p:nvPr/>
          </p:nvSpPr>
          <p:spPr>
            <a:xfrm>
              <a:off x="1831914" y="5345668"/>
              <a:ext cx="301686" cy="369332"/>
            </a:xfrm>
            <a:prstGeom prst="rect">
              <a:avLst/>
            </a:prstGeom>
            <a:noFill/>
          </p:spPr>
          <p:txBody>
            <a:bodyPr wrap="none" rtlCol="0">
              <a:spAutoFit/>
            </a:bodyPr>
            <a:lstStyle/>
            <a:p>
              <a:r>
                <a:rPr lang="en-US" dirty="0"/>
                <a:t>9</a:t>
              </a:r>
            </a:p>
          </p:txBody>
        </p:sp>
        <p:sp>
          <p:nvSpPr>
            <p:cNvPr id="118" name="TextBox 117"/>
            <p:cNvSpPr txBox="1"/>
            <p:nvPr/>
          </p:nvSpPr>
          <p:spPr>
            <a:xfrm>
              <a:off x="1374714" y="5345668"/>
              <a:ext cx="418704" cy="369332"/>
            </a:xfrm>
            <a:prstGeom prst="rect">
              <a:avLst/>
            </a:prstGeom>
            <a:noFill/>
          </p:spPr>
          <p:txBody>
            <a:bodyPr wrap="none" rtlCol="0">
              <a:spAutoFit/>
            </a:bodyPr>
            <a:lstStyle/>
            <a:p>
              <a:r>
                <a:rPr lang="en-US" dirty="0" smtClean="0"/>
                <a:t>11</a:t>
              </a:r>
              <a:endParaRPr lang="en-US" dirty="0"/>
            </a:p>
          </p:txBody>
        </p:sp>
        <p:sp>
          <p:nvSpPr>
            <p:cNvPr id="119" name="TextBox 118"/>
            <p:cNvSpPr txBox="1"/>
            <p:nvPr/>
          </p:nvSpPr>
          <p:spPr>
            <a:xfrm>
              <a:off x="838200" y="4583668"/>
              <a:ext cx="418704" cy="369332"/>
            </a:xfrm>
            <a:prstGeom prst="rect">
              <a:avLst/>
            </a:prstGeom>
            <a:noFill/>
          </p:spPr>
          <p:txBody>
            <a:bodyPr wrap="none" rtlCol="0">
              <a:spAutoFit/>
            </a:bodyPr>
            <a:lstStyle/>
            <a:p>
              <a:r>
                <a:rPr lang="en-US" dirty="0" smtClean="0"/>
                <a:t>12</a:t>
              </a:r>
              <a:endParaRPr lang="en-US" dirty="0"/>
            </a:p>
          </p:txBody>
        </p:sp>
        <p:cxnSp>
          <p:nvCxnSpPr>
            <p:cNvPr id="120" name="Straight Arrow Connector 119"/>
            <p:cNvCxnSpPr/>
            <p:nvPr/>
          </p:nvCxnSpPr>
          <p:spPr>
            <a:xfrm>
              <a:off x="914400" y="3798332"/>
              <a:ext cx="304800" cy="3810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21" name="TextBox 120"/>
            <p:cNvSpPr txBox="1"/>
            <p:nvPr/>
          </p:nvSpPr>
          <p:spPr>
            <a:xfrm>
              <a:off x="609600" y="3429000"/>
              <a:ext cx="650114" cy="369332"/>
            </a:xfrm>
            <a:prstGeom prst="rect">
              <a:avLst/>
            </a:prstGeom>
            <a:noFill/>
          </p:spPr>
          <p:txBody>
            <a:bodyPr wrap="none" rtlCol="0">
              <a:spAutoFit/>
            </a:bodyPr>
            <a:lstStyle/>
            <a:p>
              <a:r>
                <a:rPr lang="en-US" dirty="0" smtClean="0"/>
                <a:t>front</a:t>
              </a:r>
              <a:endParaRPr lang="en-US" dirty="0"/>
            </a:p>
          </p:txBody>
        </p:sp>
        <p:cxnSp>
          <p:nvCxnSpPr>
            <p:cNvPr id="122" name="Straight Arrow Connector 121"/>
            <p:cNvCxnSpPr/>
            <p:nvPr/>
          </p:nvCxnSpPr>
          <p:spPr>
            <a:xfrm flipV="1">
              <a:off x="3006376" y="5562600"/>
              <a:ext cx="0" cy="4572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23" name="TextBox 122"/>
            <p:cNvSpPr txBox="1"/>
            <p:nvPr/>
          </p:nvSpPr>
          <p:spPr>
            <a:xfrm>
              <a:off x="2590800" y="5955268"/>
              <a:ext cx="567976" cy="369332"/>
            </a:xfrm>
            <a:prstGeom prst="rect">
              <a:avLst/>
            </a:prstGeom>
            <a:noFill/>
          </p:spPr>
          <p:txBody>
            <a:bodyPr wrap="none" rtlCol="0">
              <a:spAutoFit/>
            </a:bodyPr>
            <a:lstStyle/>
            <a:p>
              <a:r>
                <a:rPr lang="en-US" dirty="0" smtClean="0"/>
                <a:t>rear</a:t>
              </a:r>
              <a:endParaRPr lang="en-US" dirty="0"/>
            </a:p>
          </p:txBody>
        </p:sp>
        <p:sp>
          <p:nvSpPr>
            <p:cNvPr id="124" name="Rectangle 123"/>
            <p:cNvSpPr/>
            <p:nvPr/>
          </p:nvSpPr>
          <p:spPr>
            <a:xfrm>
              <a:off x="1295400" y="5029200"/>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p:cNvSpPr/>
            <p:nvPr/>
          </p:nvSpPr>
          <p:spPr>
            <a:xfrm>
              <a:off x="1752600" y="5029200"/>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p:cNvSpPr/>
            <p:nvPr/>
          </p:nvSpPr>
          <p:spPr>
            <a:xfrm>
              <a:off x="2209800" y="5029200"/>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p:cNvSpPr/>
            <p:nvPr/>
          </p:nvSpPr>
          <p:spPr>
            <a:xfrm>
              <a:off x="2667000" y="5029200"/>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p:cNvSpPr/>
            <p:nvPr/>
          </p:nvSpPr>
          <p:spPr>
            <a:xfrm rot="5400000">
              <a:off x="1219200" y="4634948"/>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par>
                          <p:cTn id="13" fill="hold">
                            <p:stCondLst>
                              <p:cond delay="500"/>
                            </p:stCondLst>
                            <p:childTnLst>
                              <p:par>
                                <p:cTn id="14" presetID="2" presetClass="entr" presetSubtype="4" fill="hold"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 calcmode="lin" valueType="num">
                                      <p:cBhvr additive="base">
                                        <p:cTn id="1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par>
                          <p:cTn id="23" fill="hold">
                            <p:stCondLst>
                              <p:cond delay="500"/>
                            </p:stCondLst>
                            <p:childTnLst>
                              <p:par>
                                <p:cTn id="24" presetID="2" presetClass="entr" presetSubtype="4" fill="hold" nodeType="after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 calcmode="lin" valueType="num">
                                      <p:cBhvr additive="base">
                                        <p:cTn id="2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wipe(down)">
                                      <p:cBhvr>
                                        <p:cTn id="32" dur="5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95"/>
                                        </p:tgtEl>
                                        <p:attrNameLst>
                                          <p:attrName>style.visibility</p:attrName>
                                        </p:attrNameLst>
                                      </p:cBhvr>
                                      <p:to>
                                        <p:strVal val="visible"/>
                                      </p:to>
                                    </p:set>
                                    <p:animEffect transition="in" filter="wipe(down)">
                                      <p:cBhvr>
                                        <p:cTn id="37" dur="500"/>
                                        <p:tgtEl>
                                          <p:spTgt spid="95"/>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66"/>
                                        </p:tgtEl>
                                        <p:attrNameLst>
                                          <p:attrName>style.visibility</p:attrName>
                                        </p:attrNameLst>
                                      </p:cBhvr>
                                      <p:to>
                                        <p:strVal val="visible"/>
                                      </p:to>
                                    </p:set>
                                    <p:animEffect transition="in" filter="wipe(down)">
                                      <p:cBhvr>
                                        <p:cTn id="48"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36" y="-24938"/>
            <a:ext cx="8229600" cy="1143000"/>
          </a:xfrm>
        </p:spPr>
        <p:txBody>
          <a:bodyPr/>
          <a:lstStyle/>
          <a:p>
            <a:r>
              <a:rPr lang="en-US" dirty="0" smtClean="0"/>
              <a:t>A strange proof</a:t>
            </a:r>
            <a:endParaRPr lang="en-US" dirty="0"/>
          </a:p>
        </p:txBody>
      </p:sp>
      <p:sp>
        <p:nvSpPr>
          <p:cNvPr id="3" name="Content Placeholder 2"/>
          <p:cNvSpPr>
            <a:spLocks noGrp="1"/>
          </p:cNvSpPr>
          <p:nvPr>
            <p:ph idx="1"/>
          </p:nvPr>
        </p:nvSpPr>
        <p:spPr>
          <a:xfrm>
            <a:off x="457200" y="1600200"/>
            <a:ext cx="4495800" cy="5121275"/>
          </a:xfrm>
        </p:spPr>
        <p:txBody>
          <a:bodyPr>
            <a:normAutofit fontScale="85000" lnSpcReduction="20000"/>
          </a:bodyPr>
          <a:lstStyle/>
          <a:p>
            <a:r>
              <a:rPr lang="en-US" dirty="0" smtClean="0"/>
              <a:t>We can in fact prove that we cannot solve the above issue by changing the definition of front and rear</a:t>
            </a:r>
          </a:p>
          <a:p>
            <a:r>
              <a:rPr lang="en-US" dirty="0" smtClean="0"/>
              <a:t>Assume front is fixed.</a:t>
            </a:r>
          </a:p>
          <a:p>
            <a:r>
              <a:rPr lang="en-US" dirty="0" smtClean="0"/>
              <a:t>We can have n values of rear</a:t>
            </a:r>
          </a:p>
          <a:p>
            <a:r>
              <a:rPr lang="en-US" dirty="0" smtClean="0"/>
              <a:t>But we can have n+1 possible states of the queue</a:t>
            </a:r>
          </a:p>
          <a:p>
            <a:r>
              <a:rPr lang="en-US" dirty="0" smtClean="0"/>
              <a:t>Pigeon hole principle=&gt; one value of rear must be mapped to 2 different states!!!</a:t>
            </a:r>
            <a:endParaRPr lang="en-US" dirty="0"/>
          </a:p>
        </p:txBody>
      </p:sp>
      <p:sp>
        <p:nvSpPr>
          <p:cNvPr id="5" name="Slide Number Placeholder 4"/>
          <p:cNvSpPr>
            <a:spLocks noGrp="1"/>
          </p:cNvSpPr>
          <p:nvPr>
            <p:ph type="sldNum" sz="quarter" idx="12"/>
          </p:nvPr>
        </p:nvSpPr>
        <p:spPr/>
        <p:txBody>
          <a:bodyPr/>
          <a:lstStyle/>
          <a:p>
            <a:fld id="{5657E917-6D97-4FA4-9E27-606C7A8A3676}" type="slidenum">
              <a:rPr lang="en-US" smtClean="0"/>
              <a:pPr/>
              <a:t>19</a:t>
            </a:fld>
            <a:endParaRPr lang="en-US"/>
          </a:p>
        </p:txBody>
      </p:sp>
      <p:grpSp>
        <p:nvGrpSpPr>
          <p:cNvPr id="7" name="Group 6"/>
          <p:cNvGrpSpPr/>
          <p:nvPr/>
        </p:nvGrpSpPr>
        <p:grpSpPr>
          <a:xfrm>
            <a:off x="5257800" y="1181536"/>
            <a:ext cx="3692176" cy="2274332"/>
            <a:chOff x="117824" y="533400"/>
            <a:chExt cx="3692176" cy="2274332"/>
          </a:xfrm>
        </p:grpSpPr>
        <p:sp>
          <p:nvSpPr>
            <p:cNvPr id="8" name="Rectangle 7"/>
            <p:cNvSpPr/>
            <p:nvPr/>
          </p:nvSpPr>
          <p:spPr>
            <a:xfrm>
              <a:off x="1219200" y="1359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676400" y="1359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133600" y="1359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2590800" y="1359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048000" y="1359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5400000">
              <a:off x="3124200" y="1740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3057940" y="2121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1219200" y="2121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1676400" y="2121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2133600" y="2121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2590800" y="2121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rot="5400000">
              <a:off x="1143000" y="1727680"/>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1272010" y="978932"/>
              <a:ext cx="301686" cy="369332"/>
            </a:xfrm>
            <a:prstGeom prst="rect">
              <a:avLst/>
            </a:prstGeom>
            <a:noFill/>
          </p:spPr>
          <p:txBody>
            <a:bodyPr wrap="none" rtlCol="0">
              <a:spAutoFit/>
            </a:bodyPr>
            <a:lstStyle/>
            <a:p>
              <a:r>
                <a:rPr lang="en-US" dirty="0" smtClean="0"/>
                <a:t>0</a:t>
              </a:r>
              <a:endParaRPr lang="en-US" dirty="0"/>
            </a:p>
          </p:txBody>
        </p:sp>
        <p:sp>
          <p:nvSpPr>
            <p:cNvPr id="21" name="TextBox 20"/>
            <p:cNvSpPr txBox="1"/>
            <p:nvPr/>
          </p:nvSpPr>
          <p:spPr>
            <a:xfrm>
              <a:off x="1679514" y="978932"/>
              <a:ext cx="301686" cy="369332"/>
            </a:xfrm>
            <a:prstGeom prst="rect">
              <a:avLst/>
            </a:prstGeom>
            <a:noFill/>
          </p:spPr>
          <p:txBody>
            <a:bodyPr wrap="none" rtlCol="0">
              <a:spAutoFit/>
            </a:bodyPr>
            <a:lstStyle/>
            <a:p>
              <a:r>
                <a:rPr lang="en-US" dirty="0"/>
                <a:t>1</a:t>
              </a:r>
            </a:p>
          </p:txBody>
        </p:sp>
        <p:sp>
          <p:nvSpPr>
            <p:cNvPr id="22" name="TextBox 21"/>
            <p:cNvSpPr txBox="1"/>
            <p:nvPr/>
          </p:nvSpPr>
          <p:spPr>
            <a:xfrm>
              <a:off x="2212914" y="978932"/>
              <a:ext cx="301686" cy="369332"/>
            </a:xfrm>
            <a:prstGeom prst="rect">
              <a:avLst/>
            </a:prstGeom>
            <a:noFill/>
          </p:spPr>
          <p:txBody>
            <a:bodyPr wrap="none" rtlCol="0">
              <a:spAutoFit/>
            </a:bodyPr>
            <a:lstStyle/>
            <a:p>
              <a:r>
                <a:rPr lang="en-US" dirty="0"/>
                <a:t>2</a:t>
              </a:r>
            </a:p>
          </p:txBody>
        </p:sp>
        <p:sp>
          <p:nvSpPr>
            <p:cNvPr id="23" name="TextBox 22"/>
            <p:cNvSpPr txBox="1"/>
            <p:nvPr/>
          </p:nvSpPr>
          <p:spPr>
            <a:xfrm>
              <a:off x="2670114" y="978932"/>
              <a:ext cx="301686" cy="369332"/>
            </a:xfrm>
            <a:prstGeom prst="rect">
              <a:avLst/>
            </a:prstGeom>
            <a:noFill/>
          </p:spPr>
          <p:txBody>
            <a:bodyPr wrap="none" rtlCol="0">
              <a:spAutoFit/>
            </a:bodyPr>
            <a:lstStyle/>
            <a:p>
              <a:r>
                <a:rPr lang="en-US" dirty="0"/>
                <a:t>3</a:t>
              </a:r>
            </a:p>
          </p:txBody>
        </p:sp>
        <p:sp>
          <p:nvSpPr>
            <p:cNvPr id="24" name="TextBox 23"/>
            <p:cNvSpPr txBox="1"/>
            <p:nvPr/>
          </p:nvSpPr>
          <p:spPr>
            <a:xfrm>
              <a:off x="3127314" y="978932"/>
              <a:ext cx="301686" cy="369332"/>
            </a:xfrm>
            <a:prstGeom prst="rect">
              <a:avLst/>
            </a:prstGeom>
            <a:noFill/>
          </p:spPr>
          <p:txBody>
            <a:bodyPr wrap="none" rtlCol="0">
              <a:spAutoFit/>
            </a:bodyPr>
            <a:lstStyle/>
            <a:p>
              <a:r>
                <a:rPr lang="en-US" dirty="0"/>
                <a:t>4</a:t>
              </a:r>
            </a:p>
          </p:txBody>
        </p:sp>
        <p:sp>
          <p:nvSpPr>
            <p:cNvPr id="25" name="TextBox 24"/>
            <p:cNvSpPr txBox="1"/>
            <p:nvPr/>
          </p:nvSpPr>
          <p:spPr>
            <a:xfrm>
              <a:off x="3508314" y="1676400"/>
              <a:ext cx="301686" cy="369332"/>
            </a:xfrm>
            <a:prstGeom prst="rect">
              <a:avLst/>
            </a:prstGeom>
            <a:noFill/>
          </p:spPr>
          <p:txBody>
            <a:bodyPr wrap="none" rtlCol="0">
              <a:spAutoFit/>
            </a:bodyPr>
            <a:lstStyle/>
            <a:p>
              <a:r>
                <a:rPr lang="en-US" dirty="0"/>
                <a:t>5</a:t>
              </a:r>
            </a:p>
          </p:txBody>
        </p:sp>
        <p:sp>
          <p:nvSpPr>
            <p:cNvPr id="26" name="TextBox 25"/>
            <p:cNvSpPr txBox="1"/>
            <p:nvPr/>
          </p:nvSpPr>
          <p:spPr>
            <a:xfrm>
              <a:off x="3203514" y="2438400"/>
              <a:ext cx="301686" cy="369332"/>
            </a:xfrm>
            <a:prstGeom prst="rect">
              <a:avLst/>
            </a:prstGeom>
            <a:noFill/>
          </p:spPr>
          <p:txBody>
            <a:bodyPr wrap="none" rtlCol="0">
              <a:spAutoFit/>
            </a:bodyPr>
            <a:lstStyle/>
            <a:p>
              <a:r>
                <a:rPr lang="en-US" dirty="0"/>
                <a:t>6</a:t>
              </a:r>
            </a:p>
          </p:txBody>
        </p:sp>
        <p:sp>
          <p:nvSpPr>
            <p:cNvPr id="27" name="TextBox 26"/>
            <p:cNvSpPr txBox="1"/>
            <p:nvPr/>
          </p:nvSpPr>
          <p:spPr>
            <a:xfrm>
              <a:off x="2667000" y="2438400"/>
              <a:ext cx="301686" cy="369332"/>
            </a:xfrm>
            <a:prstGeom prst="rect">
              <a:avLst/>
            </a:prstGeom>
            <a:noFill/>
          </p:spPr>
          <p:txBody>
            <a:bodyPr wrap="none" rtlCol="0">
              <a:spAutoFit/>
            </a:bodyPr>
            <a:lstStyle/>
            <a:p>
              <a:r>
                <a:rPr lang="en-US" dirty="0"/>
                <a:t>7</a:t>
              </a:r>
            </a:p>
          </p:txBody>
        </p:sp>
        <p:sp>
          <p:nvSpPr>
            <p:cNvPr id="28" name="TextBox 27"/>
            <p:cNvSpPr txBox="1"/>
            <p:nvPr/>
          </p:nvSpPr>
          <p:spPr>
            <a:xfrm>
              <a:off x="2212914" y="2438400"/>
              <a:ext cx="301686" cy="369332"/>
            </a:xfrm>
            <a:prstGeom prst="rect">
              <a:avLst/>
            </a:prstGeom>
            <a:noFill/>
          </p:spPr>
          <p:txBody>
            <a:bodyPr wrap="none" rtlCol="0">
              <a:spAutoFit/>
            </a:bodyPr>
            <a:lstStyle/>
            <a:p>
              <a:r>
                <a:rPr lang="en-US" dirty="0"/>
                <a:t>8</a:t>
              </a:r>
            </a:p>
          </p:txBody>
        </p:sp>
        <p:sp>
          <p:nvSpPr>
            <p:cNvPr id="29" name="TextBox 28"/>
            <p:cNvSpPr txBox="1"/>
            <p:nvPr/>
          </p:nvSpPr>
          <p:spPr>
            <a:xfrm>
              <a:off x="1755714" y="2438400"/>
              <a:ext cx="301686" cy="369332"/>
            </a:xfrm>
            <a:prstGeom prst="rect">
              <a:avLst/>
            </a:prstGeom>
            <a:noFill/>
          </p:spPr>
          <p:txBody>
            <a:bodyPr wrap="none" rtlCol="0">
              <a:spAutoFit/>
            </a:bodyPr>
            <a:lstStyle/>
            <a:p>
              <a:r>
                <a:rPr lang="en-US" dirty="0"/>
                <a:t>9</a:t>
              </a:r>
            </a:p>
          </p:txBody>
        </p:sp>
        <p:sp>
          <p:nvSpPr>
            <p:cNvPr id="30" name="TextBox 29"/>
            <p:cNvSpPr txBox="1"/>
            <p:nvPr/>
          </p:nvSpPr>
          <p:spPr>
            <a:xfrm>
              <a:off x="1298514" y="2438400"/>
              <a:ext cx="418704" cy="369332"/>
            </a:xfrm>
            <a:prstGeom prst="rect">
              <a:avLst/>
            </a:prstGeom>
            <a:noFill/>
          </p:spPr>
          <p:txBody>
            <a:bodyPr wrap="none" rtlCol="0">
              <a:spAutoFit/>
            </a:bodyPr>
            <a:lstStyle/>
            <a:p>
              <a:r>
                <a:rPr lang="en-US" dirty="0" smtClean="0"/>
                <a:t>11</a:t>
              </a:r>
              <a:endParaRPr lang="en-US" dirty="0"/>
            </a:p>
          </p:txBody>
        </p:sp>
        <p:sp>
          <p:nvSpPr>
            <p:cNvPr id="31" name="TextBox 30"/>
            <p:cNvSpPr txBox="1"/>
            <p:nvPr/>
          </p:nvSpPr>
          <p:spPr>
            <a:xfrm>
              <a:off x="762000" y="1676400"/>
              <a:ext cx="418704" cy="369332"/>
            </a:xfrm>
            <a:prstGeom prst="rect">
              <a:avLst/>
            </a:prstGeom>
            <a:noFill/>
          </p:spPr>
          <p:txBody>
            <a:bodyPr wrap="none" rtlCol="0">
              <a:spAutoFit/>
            </a:bodyPr>
            <a:lstStyle/>
            <a:p>
              <a:r>
                <a:rPr lang="en-US" dirty="0" smtClean="0"/>
                <a:t>12</a:t>
              </a:r>
              <a:endParaRPr lang="en-US" dirty="0"/>
            </a:p>
          </p:txBody>
        </p:sp>
        <p:cxnSp>
          <p:nvCxnSpPr>
            <p:cNvPr id="32" name="Straight Arrow Connector 31"/>
            <p:cNvCxnSpPr/>
            <p:nvPr/>
          </p:nvCxnSpPr>
          <p:spPr>
            <a:xfrm>
              <a:off x="914400" y="902732"/>
              <a:ext cx="304800" cy="3810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609600" y="533400"/>
              <a:ext cx="650114" cy="369332"/>
            </a:xfrm>
            <a:prstGeom prst="rect">
              <a:avLst/>
            </a:prstGeom>
            <a:noFill/>
          </p:spPr>
          <p:txBody>
            <a:bodyPr wrap="none" rtlCol="0">
              <a:spAutoFit/>
            </a:bodyPr>
            <a:lstStyle/>
            <a:p>
              <a:r>
                <a:rPr lang="en-US" dirty="0" smtClean="0"/>
                <a:t>front</a:t>
              </a:r>
              <a:endParaRPr lang="en-US" dirty="0"/>
            </a:p>
          </p:txBody>
        </p:sp>
        <p:cxnSp>
          <p:nvCxnSpPr>
            <p:cNvPr id="34" name="Straight Arrow Connector 33"/>
            <p:cNvCxnSpPr/>
            <p:nvPr/>
          </p:nvCxnSpPr>
          <p:spPr>
            <a:xfrm flipV="1">
              <a:off x="628848" y="1969532"/>
              <a:ext cx="514152" cy="3048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117824" y="2133600"/>
              <a:ext cx="567976" cy="369332"/>
            </a:xfrm>
            <a:prstGeom prst="rect">
              <a:avLst/>
            </a:prstGeom>
            <a:noFill/>
          </p:spPr>
          <p:txBody>
            <a:bodyPr wrap="none" rtlCol="0">
              <a:spAutoFit/>
            </a:bodyPr>
            <a:lstStyle/>
            <a:p>
              <a:r>
                <a:rPr lang="en-US" dirty="0" smtClean="0"/>
                <a:t>rear</a:t>
              </a:r>
              <a:endParaRPr lang="en-US" dirty="0"/>
            </a:p>
          </p:txBody>
        </p:sp>
      </p:grpSp>
      <p:grpSp>
        <p:nvGrpSpPr>
          <p:cNvPr id="36" name="Group 35"/>
          <p:cNvGrpSpPr/>
          <p:nvPr/>
        </p:nvGrpSpPr>
        <p:grpSpPr>
          <a:xfrm>
            <a:off x="5292376" y="3315136"/>
            <a:ext cx="3657600" cy="2286000"/>
            <a:chOff x="4876800" y="3429000"/>
            <a:chExt cx="3657600" cy="2286000"/>
          </a:xfrm>
        </p:grpSpPr>
        <p:sp>
          <p:nvSpPr>
            <p:cNvPr id="37" name="Rectangle 36"/>
            <p:cNvSpPr/>
            <p:nvPr/>
          </p:nvSpPr>
          <p:spPr>
            <a:xfrm>
              <a:off x="5943600" y="4267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p:nvSpPr>
          <p:spPr>
            <a:xfrm>
              <a:off x="6400800" y="4267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6858000" y="4267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7315200" y="4267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p:cNvSpPr/>
            <p:nvPr/>
          </p:nvSpPr>
          <p:spPr>
            <a:xfrm>
              <a:off x="7772400" y="4267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rot="5400000">
              <a:off x="7848600" y="4648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7782340" y="5029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5943600" y="5029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p:cNvSpPr/>
            <p:nvPr/>
          </p:nvSpPr>
          <p:spPr>
            <a:xfrm>
              <a:off x="6400800" y="5029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6858000" y="5029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7315200" y="5029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rot="5400000">
              <a:off x="5867400" y="4634948"/>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p:cNvSpPr txBox="1"/>
            <p:nvPr/>
          </p:nvSpPr>
          <p:spPr>
            <a:xfrm>
              <a:off x="5996410" y="3886200"/>
              <a:ext cx="301686" cy="369332"/>
            </a:xfrm>
            <a:prstGeom prst="rect">
              <a:avLst/>
            </a:prstGeom>
            <a:noFill/>
          </p:spPr>
          <p:txBody>
            <a:bodyPr wrap="none" rtlCol="0">
              <a:spAutoFit/>
            </a:bodyPr>
            <a:lstStyle/>
            <a:p>
              <a:r>
                <a:rPr lang="en-US" dirty="0" smtClean="0"/>
                <a:t>0</a:t>
              </a:r>
              <a:endParaRPr lang="en-US" dirty="0"/>
            </a:p>
          </p:txBody>
        </p:sp>
        <p:sp>
          <p:nvSpPr>
            <p:cNvPr id="50" name="TextBox 49"/>
            <p:cNvSpPr txBox="1"/>
            <p:nvPr/>
          </p:nvSpPr>
          <p:spPr>
            <a:xfrm>
              <a:off x="6403914" y="3886200"/>
              <a:ext cx="301686" cy="369332"/>
            </a:xfrm>
            <a:prstGeom prst="rect">
              <a:avLst/>
            </a:prstGeom>
            <a:noFill/>
          </p:spPr>
          <p:txBody>
            <a:bodyPr wrap="none" rtlCol="0">
              <a:spAutoFit/>
            </a:bodyPr>
            <a:lstStyle/>
            <a:p>
              <a:r>
                <a:rPr lang="en-US" dirty="0"/>
                <a:t>1</a:t>
              </a:r>
            </a:p>
          </p:txBody>
        </p:sp>
        <p:sp>
          <p:nvSpPr>
            <p:cNvPr id="51" name="TextBox 50"/>
            <p:cNvSpPr txBox="1"/>
            <p:nvPr/>
          </p:nvSpPr>
          <p:spPr>
            <a:xfrm>
              <a:off x="6937314" y="3886200"/>
              <a:ext cx="301686" cy="369332"/>
            </a:xfrm>
            <a:prstGeom prst="rect">
              <a:avLst/>
            </a:prstGeom>
            <a:noFill/>
          </p:spPr>
          <p:txBody>
            <a:bodyPr wrap="none" rtlCol="0">
              <a:spAutoFit/>
            </a:bodyPr>
            <a:lstStyle/>
            <a:p>
              <a:r>
                <a:rPr lang="en-US" dirty="0"/>
                <a:t>2</a:t>
              </a:r>
            </a:p>
          </p:txBody>
        </p:sp>
        <p:sp>
          <p:nvSpPr>
            <p:cNvPr id="52" name="TextBox 51"/>
            <p:cNvSpPr txBox="1"/>
            <p:nvPr/>
          </p:nvSpPr>
          <p:spPr>
            <a:xfrm>
              <a:off x="7394514" y="3886200"/>
              <a:ext cx="301686" cy="369332"/>
            </a:xfrm>
            <a:prstGeom prst="rect">
              <a:avLst/>
            </a:prstGeom>
            <a:noFill/>
          </p:spPr>
          <p:txBody>
            <a:bodyPr wrap="none" rtlCol="0">
              <a:spAutoFit/>
            </a:bodyPr>
            <a:lstStyle/>
            <a:p>
              <a:r>
                <a:rPr lang="en-US" dirty="0"/>
                <a:t>3</a:t>
              </a:r>
            </a:p>
          </p:txBody>
        </p:sp>
        <p:sp>
          <p:nvSpPr>
            <p:cNvPr id="53" name="TextBox 52"/>
            <p:cNvSpPr txBox="1"/>
            <p:nvPr/>
          </p:nvSpPr>
          <p:spPr>
            <a:xfrm>
              <a:off x="7851714" y="3886200"/>
              <a:ext cx="301686" cy="369332"/>
            </a:xfrm>
            <a:prstGeom prst="rect">
              <a:avLst/>
            </a:prstGeom>
            <a:noFill/>
          </p:spPr>
          <p:txBody>
            <a:bodyPr wrap="none" rtlCol="0">
              <a:spAutoFit/>
            </a:bodyPr>
            <a:lstStyle/>
            <a:p>
              <a:r>
                <a:rPr lang="en-US" dirty="0"/>
                <a:t>4</a:t>
              </a:r>
            </a:p>
          </p:txBody>
        </p:sp>
        <p:sp>
          <p:nvSpPr>
            <p:cNvPr id="54" name="TextBox 53"/>
            <p:cNvSpPr txBox="1"/>
            <p:nvPr/>
          </p:nvSpPr>
          <p:spPr>
            <a:xfrm>
              <a:off x="8232714" y="4583668"/>
              <a:ext cx="301686" cy="369332"/>
            </a:xfrm>
            <a:prstGeom prst="rect">
              <a:avLst/>
            </a:prstGeom>
            <a:noFill/>
          </p:spPr>
          <p:txBody>
            <a:bodyPr wrap="none" rtlCol="0">
              <a:spAutoFit/>
            </a:bodyPr>
            <a:lstStyle/>
            <a:p>
              <a:r>
                <a:rPr lang="en-US" dirty="0"/>
                <a:t>5</a:t>
              </a:r>
            </a:p>
          </p:txBody>
        </p:sp>
        <p:sp>
          <p:nvSpPr>
            <p:cNvPr id="55" name="TextBox 54"/>
            <p:cNvSpPr txBox="1"/>
            <p:nvPr/>
          </p:nvSpPr>
          <p:spPr>
            <a:xfrm>
              <a:off x="7927914" y="5345668"/>
              <a:ext cx="301686" cy="369332"/>
            </a:xfrm>
            <a:prstGeom prst="rect">
              <a:avLst/>
            </a:prstGeom>
            <a:noFill/>
          </p:spPr>
          <p:txBody>
            <a:bodyPr wrap="none" rtlCol="0">
              <a:spAutoFit/>
            </a:bodyPr>
            <a:lstStyle/>
            <a:p>
              <a:r>
                <a:rPr lang="en-US" dirty="0"/>
                <a:t>6</a:t>
              </a:r>
            </a:p>
          </p:txBody>
        </p:sp>
        <p:sp>
          <p:nvSpPr>
            <p:cNvPr id="56" name="TextBox 55"/>
            <p:cNvSpPr txBox="1"/>
            <p:nvPr/>
          </p:nvSpPr>
          <p:spPr>
            <a:xfrm>
              <a:off x="7391400" y="5345668"/>
              <a:ext cx="301686" cy="369332"/>
            </a:xfrm>
            <a:prstGeom prst="rect">
              <a:avLst/>
            </a:prstGeom>
            <a:noFill/>
          </p:spPr>
          <p:txBody>
            <a:bodyPr wrap="none" rtlCol="0">
              <a:spAutoFit/>
            </a:bodyPr>
            <a:lstStyle/>
            <a:p>
              <a:r>
                <a:rPr lang="en-US" dirty="0"/>
                <a:t>7</a:t>
              </a:r>
            </a:p>
          </p:txBody>
        </p:sp>
        <p:sp>
          <p:nvSpPr>
            <p:cNvPr id="57" name="TextBox 56"/>
            <p:cNvSpPr txBox="1"/>
            <p:nvPr/>
          </p:nvSpPr>
          <p:spPr>
            <a:xfrm>
              <a:off x="6937314" y="5345668"/>
              <a:ext cx="301686" cy="369332"/>
            </a:xfrm>
            <a:prstGeom prst="rect">
              <a:avLst/>
            </a:prstGeom>
            <a:noFill/>
          </p:spPr>
          <p:txBody>
            <a:bodyPr wrap="none" rtlCol="0">
              <a:spAutoFit/>
            </a:bodyPr>
            <a:lstStyle/>
            <a:p>
              <a:r>
                <a:rPr lang="en-US" dirty="0"/>
                <a:t>8</a:t>
              </a:r>
            </a:p>
          </p:txBody>
        </p:sp>
        <p:sp>
          <p:nvSpPr>
            <p:cNvPr id="58" name="TextBox 57"/>
            <p:cNvSpPr txBox="1"/>
            <p:nvPr/>
          </p:nvSpPr>
          <p:spPr>
            <a:xfrm>
              <a:off x="6480114" y="5345668"/>
              <a:ext cx="301686" cy="369332"/>
            </a:xfrm>
            <a:prstGeom prst="rect">
              <a:avLst/>
            </a:prstGeom>
            <a:noFill/>
          </p:spPr>
          <p:txBody>
            <a:bodyPr wrap="none" rtlCol="0">
              <a:spAutoFit/>
            </a:bodyPr>
            <a:lstStyle/>
            <a:p>
              <a:r>
                <a:rPr lang="en-US" dirty="0"/>
                <a:t>9</a:t>
              </a:r>
            </a:p>
          </p:txBody>
        </p:sp>
        <p:sp>
          <p:nvSpPr>
            <p:cNvPr id="59" name="TextBox 58"/>
            <p:cNvSpPr txBox="1"/>
            <p:nvPr/>
          </p:nvSpPr>
          <p:spPr>
            <a:xfrm>
              <a:off x="6022914" y="5345668"/>
              <a:ext cx="418704" cy="369332"/>
            </a:xfrm>
            <a:prstGeom prst="rect">
              <a:avLst/>
            </a:prstGeom>
            <a:noFill/>
          </p:spPr>
          <p:txBody>
            <a:bodyPr wrap="none" rtlCol="0">
              <a:spAutoFit/>
            </a:bodyPr>
            <a:lstStyle/>
            <a:p>
              <a:r>
                <a:rPr lang="en-US" dirty="0" smtClean="0"/>
                <a:t>11</a:t>
              </a:r>
              <a:endParaRPr lang="en-US" dirty="0"/>
            </a:p>
          </p:txBody>
        </p:sp>
        <p:sp>
          <p:nvSpPr>
            <p:cNvPr id="60" name="TextBox 59"/>
            <p:cNvSpPr txBox="1"/>
            <p:nvPr/>
          </p:nvSpPr>
          <p:spPr>
            <a:xfrm>
              <a:off x="5486400" y="4583668"/>
              <a:ext cx="418704" cy="369332"/>
            </a:xfrm>
            <a:prstGeom prst="rect">
              <a:avLst/>
            </a:prstGeom>
            <a:noFill/>
          </p:spPr>
          <p:txBody>
            <a:bodyPr wrap="none" rtlCol="0">
              <a:spAutoFit/>
            </a:bodyPr>
            <a:lstStyle/>
            <a:p>
              <a:r>
                <a:rPr lang="en-US" dirty="0" smtClean="0"/>
                <a:t>12</a:t>
              </a:r>
              <a:endParaRPr lang="en-US" dirty="0"/>
            </a:p>
          </p:txBody>
        </p:sp>
        <p:cxnSp>
          <p:nvCxnSpPr>
            <p:cNvPr id="61" name="Straight Arrow Connector 60"/>
            <p:cNvCxnSpPr/>
            <p:nvPr/>
          </p:nvCxnSpPr>
          <p:spPr>
            <a:xfrm>
              <a:off x="5673376" y="3798332"/>
              <a:ext cx="304800" cy="3810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5368576" y="3429000"/>
              <a:ext cx="650114" cy="369332"/>
            </a:xfrm>
            <a:prstGeom prst="rect">
              <a:avLst/>
            </a:prstGeom>
            <a:noFill/>
          </p:spPr>
          <p:txBody>
            <a:bodyPr wrap="none" rtlCol="0">
              <a:spAutoFit/>
            </a:bodyPr>
            <a:lstStyle/>
            <a:p>
              <a:r>
                <a:rPr lang="en-US" dirty="0" smtClean="0"/>
                <a:t>front</a:t>
              </a:r>
              <a:endParaRPr lang="en-US" dirty="0"/>
            </a:p>
          </p:txBody>
        </p:sp>
        <p:cxnSp>
          <p:nvCxnSpPr>
            <p:cNvPr id="63" name="Straight Arrow Connector 62"/>
            <p:cNvCxnSpPr/>
            <p:nvPr/>
          </p:nvCxnSpPr>
          <p:spPr>
            <a:xfrm flipV="1">
              <a:off x="5387824" y="4865132"/>
              <a:ext cx="514152" cy="3048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4876800" y="5029200"/>
              <a:ext cx="567976" cy="369332"/>
            </a:xfrm>
            <a:prstGeom prst="rect">
              <a:avLst/>
            </a:prstGeom>
            <a:noFill/>
          </p:spPr>
          <p:txBody>
            <a:bodyPr wrap="none" rtlCol="0">
              <a:spAutoFit/>
            </a:bodyPr>
            <a:lstStyle/>
            <a:p>
              <a:r>
                <a:rPr lang="en-US" dirty="0" smtClean="0"/>
                <a:t>rear</a:t>
              </a:r>
              <a:endParaRPr lang="en-US" dirty="0"/>
            </a:p>
          </p:txBody>
        </p:sp>
      </p:grpSp>
      <p:sp>
        <p:nvSpPr>
          <p:cNvPr id="65" name="TextBox 64"/>
          <p:cNvSpPr txBox="1"/>
          <p:nvPr/>
        </p:nvSpPr>
        <p:spPr>
          <a:xfrm>
            <a:off x="6255753" y="5691742"/>
            <a:ext cx="2431047" cy="6463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dirty="0" smtClean="0"/>
              <a:t>2 different states for the same value of rear</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down)">
                                      <p:cBhvr>
                                        <p:cTn id="1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Two Solutions</a:t>
            </a:r>
            <a:endParaRPr lang="en-US" dirty="0"/>
          </a:p>
        </p:txBody>
      </p:sp>
      <p:sp>
        <p:nvSpPr>
          <p:cNvPr id="3" name="Content Placeholder 2"/>
          <p:cNvSpPr>
            <a:spLocks noGrp="1"/>
          </p:cNvSpPr>
          <p:nvPr>
            <p:ph idx="1"/>
          </p:nvPr>
        </p:nvSpPr>
        <p:spPr/>
        <p:txBody>
          <a:bodyPr/>
          <a:lstStyle/>
          <a:p>
            <a:r>
              <a:rPr lang="en-US" dirty="0"/>
              <a:t>keep an explicit count of the number of elements </a:t>
            </a:r>
            <a:r>
              <a:rPr lang="en-US" dirty="0" smtClean="0"/>
              <a:t>in the </a:t>
            </a:r>
            <a:r>
              <a:rPr lang="en-US" dirty="0"/>
              <a:t>queue, </a:t>
            </a:r>
            <a:r>
              <a:rPr lang="en-US" dirty="0" smtClean="0"/>
              <a:t>or </a:t>
            </a:r>
            <a:r>
              <a:rPr lang="en-US" dirty="0"/>
              <a:t>at least a Boolean variable that indicates whether the queue is </a:t>
            </a:r>
            <a:r>
              <a:rPr lang="en-US" dirty="0" smtClean="0"/>
              <a:t>empty or </a:t>
            </a:r>
            <a:r>
              <a:rPr lang="en-US" dirty="0"/>
              <a:t>not. </a:t>
            </a:r>
            <a:endParaRPr lang="en-US" dirty="0" smtClean="0"/>
          </a:p>
          <a:p>
            <a:r>
              <a:rPr lang="en-US" dirty="0" smtClean="0"/>
              <a:t>Another </a:t>
            </a:r>
            <a:r>
              <a:rPr lang="en-US" dirty="0"/>
              <a:t>solution is to make the array be of size n + 1, and only </a:t>
            </a:r>
            <a:r>
              <a:rPr lang="en-US" dirty="0" smtClean="0"/>
              <a:t>allow n </a:t>
            </a:r>
            <a:r>
              <a:rPr lang="en-US" dirty="0"/>
              <a:t>elements to be stored</a:t>
            </a:r>
            <a:r>
              <a:rPr lang="en-US" dirty="0" smtClean="0"/>
              <a:t>.</a:t>
            </a:r>
          </a:p>
          <a:p>
            <a:r>
              <a:rPr lang="en-US" dirty="0" smtClean="0"/>
              <a:t>We use the second one…</a:t>
            </a:r>
            <a:endParaRPr lang="en-US" dirty="0"/>
          </a:p>
        </p:txBody>
      </p:sp>
      <p:sp>
        <p:nvSpPr>
          <p:cNvPr id="5" name="Slide Number Placeholder 4"/>
          <p:cNvSpPr>
            <a:spLocks noGrp="1"/>
          </p:cNvSpPr>
          <p:nvPr>
            <p:ph type="sldNum" sz="quarter" idx="12"/>
          </p:nvPr>
        </p:nvSpPr>
        <p:spPr/>
        <p:txBody>
          <a:bodyPr/>
          <a:lstStyle/>
          <a:p>
            <a:fld id="{5657E917-6D97-4FA4-9E27-606C7A8A3676}" type="slidenum">
              <a:rPr lang="en-US" smtClean="0"/>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extBox 86"/>
          <p:cNvSpPr txBox="1"/>
          <p:nvPr/>
        </p:nvSpPr>
        <p:spPr>
          <a:xfrm>
            <a:off x="152400" y="1230868"/>
            <a:ext cx="567976" cy="369332"/>
          </a:xfrm>
          <a:prstGeom prst="rect">
            <a:avLst/>
          </a:prstGeom>
          <a:noFill/>
        </p:spPr>
        <p:txBody>
          <a:bodyPr wrap="none" rtlCol="0">
            <a:spAutoFit/>
          </a:bodyPr>
          <a:lstStyle/>
          <a:p>
            <a:r>
              <a:rPr lang="en-US" dirty="0" smtClean="0"/>
              <a:t>rear</a:t>
            </a:r>
            <a:endParaRPr lang="en-US" dirty="0"/>
          </a:p>
        </p:txBody>
      </p:sp>
      <p:sp>
        <p:nvSpPr>
          <p:cNvPr id="123" name="Slide Number Placeholder 122"/>
          <p:cNvSpPr>
            <a:spLocks noGrp="1"/>
          </p:cNvSpPr>
          <p:nvPr>
            <p:ph type="sldNum" sz="quarter" idx="12"/>
          </p:nvPr>
        </p:nvSpPr>
        <p:spPr/>
        <p:txBody>
          <a:bodyPr/>
          <a:lstStyle/>
          <a:p>
            <a:fld id="{5657E917-6D97-4FA4-9E27-606C7A8A3676}" type="slidenum">
              <a:rPr lang="en-US" smtClean="0"/>
              <a:pPr/>
              <a:t>21</a:t>
            </a:fld>
            <a:endParaRPr lang="en-US"/>
          </a:p>
        </p:txBody>
      </p:sp>
      <p:grpSp>
        <p:nvGrpSpPr>
          <p:cNvPr id="113" name="Group 112"/>
          <p:cNvGrpSpPr/>
          <p:nvPr/>
        </p:nvGrpSpPr>
        <p:grpSpPr>
          <a:xfrm>
            <a:off x="685800" y="457200"/>
            <a:ext cx="3124200" cy="2350532"/>
            <a:chOff x="685800" y="457200"/>
            <a:chExt cx="3124200" cy="2350532"/>
          </a:xfrm>
        </p:grpSpPr>
        <p:grpSp>
          <p:nvGrpSpPr>
            <p:cNvPr id="2" name="Group 1"/>
            <p:cNvGrpSpPr/>
            <p:nvPr/>
          </p:nvGrpSpPr>
          <p:grpSpPr>
            <a:xfrm>
              <a:off x="685800" y="457200"/>
              <a:ext cx="3124200" cy="2350532"/>
              <a:chOff x="685800" y="457200"/>
              <a:chExt cx="3124200" cy="2350532"/>
            </a:xfrm>
          </p:grpSpPr>
          <p:sp>
            <p:nvSpPr>
              <p:cNvPr id="60" name="Rectangle 59"/>
              <p:cNvSpPr/>
              <p:nvPr/>
            </p:nvSpPr>
            <p:spPr>
              <a:xfrm>
                <a:off x="1219200" y="1359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p:nvSpPr>
            <p:spPr>
              <a:xfrm>
                <a:off x="1676400" y="1359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a:off x="2133600" y="1359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p:nvPr/>
            </p:nvSpPr>
            <p:spPr>
              <a:xfrm>
                <a:off x="2590800" y="1359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p:cNvSpPr/>
              <p:nvPr/>
            </p:nvSpPr>
            <p:spPr>
              <a:xfrm>
                <a:off x="3048000" y="1359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p:cNvSpPr/>
              <p:nvPr/>
            </p:nvSpPr>
            <p:spPr>
              <a:xfrm rot="5400000">
                <a:off x="3124200" y="1740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p:cNvSpPr/>
              <p:nvPr/>
            </p:nvSpPr>
            <p:spPr>
              <a:xfrm>
                <a:off x="3057940" y="2121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p:cNvSpPr/>
              <p:nvPr/>
            </p:nvSpPr>
            <p:spPr>
              <a:xfrm>
                <a:off x="1219200" y="2121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p:cNvSpPr/>
              <p:nvPr/>
            </p:nvSpPr>
            <p:spPr>
              <a:xfrm>
                <a:off x="1676400" y="2121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Rectangle 68"/>
              <p:cNvSpPr/>
              <p:nvPr/>
            </p:nvSpPr>
            <p:spPr>
              <a:xfrm>
                <a:off x="2133600" y="2121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2590800" y="2121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rot="5400000">
                <a:off x="1143000" y="1727680"/>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p:cNvSpPr txBox="1"/>
              <p:nvPr/>
            </p:nvSpPr>
            <p:spPr>
              <a:xfrm>
                <a:off x="1272010" y="978932"/>
                <a:ext cx="301686" cy="369332"/>
              </a:xfrm>
              <a:prstGeom prst="rect">
                <a:avLst/>
              </a:prstGeom>
              <a:noFill/>
            </p:spPr>
            <p:txBody>
              <a:bodyPr wrap="none" rtlCol="0">
                <a:spAutoFit/>
              </a:bodyPr>
              <a:lstStyle/>
              <a:p>
                <a:r>
                  <a:rPr lang="en-US" dirty="0" smtClean="0"/>
                  <a:t>0</a:t>
                </a:r>
                <a:endParaRPr lang="en-US" dirty="0"/>
              </a:p>
            </p:txBody>
          </p:sp>
          <p:sp>
            <p:nvSpPr>
              <p:cNvPr id="73" name="TextBox 72"/>
              <p:cNvSpPr txBox="1"/>
              <p:nvPr/>
            </p:nvSpPr>
            <p:spPr>
              <a:xfrm>
                <a:off x="1679514" y="978932"/>
                <a:ext cx="301686" cy="369332"/>
              </a:xfrm>
              <a:prstGeom prst="rect">
                <a:avLst/>
              </a:prstGeom>
              <a:noFill/>
            </p:spPr>
            <p:txBody>
              <a:bodyPr wrap="none" rtlCol="0">
                <a:spAutoFit/>
              </a:bodyPr>
              <a:lstStyle/>
              <a:p>
                <a:r>
                  <a:rPr lang="en-US" dirty="0"/>
                  <a:t>1</a:t>
                </a:r>
              </a:p>
            </p:txBody>
          </p:sp>
          <p:sp>
            <p:nvSpPr>
              <p:cNvPr id="74" name="TextBox 73"/>
              <p:cNvSpPr txBox="1"/>
              <p:nvPr/>
            </p:nvSpPr>
            <p:spPr>
              <a:xfrm>
                <a:off x="2212914" y="978932"/>
                <a:ext cx="301686" cy="369332"/>
              </a:xfrm>
              <a:prstGeom prst="rect">
                <a:avLst/>
              </a:prstGeom>
              <a:noFill/>
            </p:spPr>
            <p:txBody>
              <a:bodyPr wrap="none" rtlCol="0">
                <a:spAutoFit/>
              </a:bodyPr>
              <a:lstStyle/>
              <a:p>
                <a:r>
                  <a:rPr lang="en-US" dirty="0"/>
                  <a:t>2</a:t>
                </a:r>
              </a:p>
            </p:txBody>
          </p:sp>
          <p:sp>
            <p:nvSpPr>
              <p:cNvPr id="75" name="TextBox 74"/>
              <p:cNvSpPr txBox="1"/>
              <p:nvPr/>
            </p:nvSpPr>
            <p:spPr>
              <a:xfrm>
                <a:off x="2670114" y="978932"/>
                <a:ext cx="301686" cy="369332"/>
              </a:xfrm>
              <a:prstGeom prst="rect">
                <a:avLst/>
              </a:prstGeom>
              <a:noFill/>
            </p:spPr>
            <p:txBody>
              <a:bodyPr wrap="none" rtlCol="0">
                <a:spAutoFit/>
              </a:bodyPr>
              <a:lstStyle/>
              <a:p>
                <a:r>
                  <a:rPr lang="en-US" dirty="0"/>
                  <a:t>3</a:t>
                </a:r>
              </a:p>
            </p:txBody>
          </p:sp>
          <p:sp>
            <p:nvSpPr>
              <p:cNvPr id="76" name="TextBox 75"/>
              <p:cNvSpPr txBox="1"/>
              <p:nvPr/>
            </p:nvSpPr>
            <p:spPr>
              <a:xfrm>
                <a:off x="3127314" y="978932"/>
                <a:ext cx="301686" cy="369332"/>
              </a:xfrm>
              <a:prstGeom prst="rect">
                <a:avLst/>
              </a:prstGeom>
              <a:noFill/>
            </p:spPr>
            <p:txBody>
              <a:bodyPr wrap="none" rtlCol="0">
                <a:spAutoFit/>
              </a:bodyPr>
              <a:lstStyle/>
              <a:p>
                <a:r>
                  <a:rPr lang="en-US" dirty="0"/>
                  <a:t>4</a:t>
                </a:r>
              </a:p>
            </p:txBody>
          </p:sp>
          <p:sp>
            <p:nvSpPr>
              <p:cNvPr id="77" name="TextBox 76"/>
              <p:cNvSpPr txBox="1"/>
              <p:nvPr/>
            </p:nvSpPr>
            <p:spPr>
              <a:xfrm>
                <a:off x="3508314" y="1676400"/>
                <a:ext cx="301686" cy="369332"/>
              </a:xfrm>
              <a:prstGeom prst="rect">
                <a:avLst/>
              </a:prstGeom>
              <a:noFill/>
            </p:spPr>
            <p:txBody>
              <a:bodyPr wrap="none" rtlCol="0">
                <a:spAutoFit/>
              </a:bodyPr>
              <a:lstStyle/>
              <a:p>
                <a:r>
                  <a:rPr lang="en-US" dirty="0"/>
                  <a:t>5</a:t>
                </a:r>
              </a:p>
            </p:txBody>
          </p:sp>
          <p:sp>
            <p:nvSpPr>
              <p:cNvPr id="78" name="TextBox 77"/>
              <p:cNvSpPr txBox="1"/>
              <p:nvPr/>
            </p:nvSpPr>
            <p:spPr>
              <a:xfrm>
                <a:off x="3203514" y="2438400"/>
                <a:ext cx="301686" cy="369332"/>
              </a:xfrm>
              <a:prstGeom prst="rect">
                <a:avLst/>
              </a:prstGeom>
              <a:noFill/>
            </p:spPr>
            <p:txBody>
              <a:bodyPr wrap="none" rtlCol="0">
                <a:spAutoFit/>
              </a:bodyPr>
              <a:lstStyle/>
              <a:p>
                <a:r>
                  <a:rPr lang="en-US" dirty="0"/>
                  <a:t>6</a:t>
                </a:r>
              </a:p>
            </p:txBody>
          </p:sp>
          <p:sp>
            <p:nvSpPr>
              <p:cNvPr id="79" name="TextBox 78"/>
              <p:cNvSpPr txBox="1"/>
              <p:nvPr/>
            </p:nvSpPr>
            <p:spPr>
              <a:xfrm>
                <a:off x="2667000" y="2438400"/>
                <a:ext cx="301686" cy="369332"/>
              </a:xfrm>
              <a:prstGeom prst="rect">
                <a:avLst/>
              </a:prstGeom>
              <a:noFill/>
            </p:spPr>
            <p:txBody>
              <a:bodyPr wrap="none" rtlCol="0">
                <a:spAutoFit/>
              </a:bodyPr>
              <a:lstStyle/>
              <a:p>
                <a:r>
                  <a:rPr lang="en-US" dirty="0"/>
                  <a:t>7</a:t>
                </a:r>
              </a:p>
            </p:txBody>
          </p:sp>
          <p:sp>
            <p:nvSpPr>
              <p:cNvPr id="80" name="TextBox 79"/>
              <p:cNvSpPr txBox="1"/>
              <p:nvPr/>
            </p:nvSpPr>
            <p:spPr>
              <a:xfrm>
                <a:off x="2212914" y="2438400"/>
                <a:ext cx="301686" cy="369332"/>
              </a:xfrm>
              <a:prstGeom prst="rect">
                <a:avLst/>
              </a:prstGeom>
              <a:noFill/>
            </p:spPr>
            <p:txBody>
              <a:bodyPr wrap="none" rtlCol="0">
                <a:spAutoFit/>
              </a:bodyPr>
              <a:lstStyle/>
              <a:p>
                <a:r>
                  <a:rPr lang="en-US" dirty="0"/>
                  <a:t>8</a:t>
                </a:r>
              </a:p>
            </p:txBody>
          </p:sp>
          <p:sp>
            <p:nvSpPr>
              <p:cNvPr id="81" name="TextBox 80"/>
              <p:cNvSpPr txBox="1"/>
              <p:nvPr/>
            </p:nvSpPr>
            <p:spPr>
              <a:xfrm>
                <a:off x="1755714" y="2438400"/>
                <a:ext cx="301686" cy="369332"/>
              </a:xfrm>
              <a:prstGeom prst="rect">
                <a:avLst/>
              </a:prstGeom>
              <a:noFill/>
            </p:spPr>
            <p:txBody>
              <a:bodyPr wrap="none" rtlCol="0">
                <a:spAutoFit/>
              </a:bodyPr>
              <a:lstStyle/>
              <a:p>
                <a:r>
                  <a:rPr lang="en-US" dirty="0"/>
                  <a:t>9</a:t>
                </a:r>
              </a:p>
            </p:txBody>
          </p:sp>
          <p:sp>
            <p:nvSpPr>
              <p:cNvPr id="82" name="TextBox 81"/>
              <p:cNvSpPr txBox="1"/>
              <p:nvPr/>
            </p:nvSpPr>
            <p:spPr>
              <a:xfrm>
                <a:off x="1298514" y="2438400"/>
                <a:ext cx="418704" cy="369332"/>
              </a:xfrm>
              <a:prstGeom prst="rect">
                <a:avLst/>
              </a:prstGeom>
              <a:noFill/>
            </p:spPr>
            <p:txBody>
              <a:bodyPr wrap="none" rtlCol="0">
                <a:spAutoFit/>
              </a:bodyPr>
              <a:lstStyle/>
              <a:p>
                <a:r>
                  <a:rPr lang="en-US" dirty="0" smtClean="0"/>
                  <a:t>11</a:t>
                </a:r>
                <a:endParaRPr lang="en-US" dirty="0"/>
              </a:p>
            </p:txBody>
          </p:sp>
          <p:sp>
            <p:nvSpPr>
              <p:cNvPr id="83" name="TextBox 82"/>
              <p:cNvSpPr txBox="1"/>
              <p:nvPr/>
            </p:nvSpPr>
            <p:spPr>
              <a:xfrm>
                <a:off x="762000" y="1676400"/>
                <a:ext cx="418704" cy="369332"/>
              </a:xfrm>
              <a:prstGeom prst="rect">
                <a:avLst/>
              </a:prstGeom>
              <a:noFill/>
            </p:spPr>
            <p:txBody>
              <a:bodyPr wrap="none" rtlCol="0">
                <a:spAutoFit/>
              </a:bodyPr>
              <a:lstStyle/>
              <a:p>
                <a:r>
                  <a:rPr lang="en-US" dirty="0" smtClean="0"/>
                  <a:t>12</a:t>
                </a:r>
                <a:endParaRPr lang="en-US" dirty="0"/>
              </a:p>
            </p:txBody>
          </p:sp>
          <p:cxnSp>
            <p:nvCxnSpPr>
              <p:cNvPr id="84" name="Straight Arrow Connector 83"/>
              <p:cNvCxnSpPr/>
              <p:nvPr/>
            </p:nvCxnSpPr>
            <p:spPr>
              <a:xfrm>
                <a:off x="2021714" y="838200"/>
                <a:ext cx="0" cy="4572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85" name="TextBox 84"/>
              <p:cNvSpPr txBox="1"/>
              <p:nvPr/>
            </p:nvSpPr>
            <p:spPr>
              <a:xfrm>
                <a:off x="1600200" y="457200"/>
                <a:ext cx="650114" cy="369332"/>
              </a:xfrm>
              <a:prstGeom prst="rect">
                <a:avLst/>
              </a:prstGeom>
              <a:noFill/>
            </p:spPr>
            <p:txBody>
              <a:bodyPr wrap="none" rtlCol="0">
                <a:spAutoFit/>
              </a:bodyPr>
              <a:lstStyle/>
              <a:p>
                <a:r>
                  <a:rPr lang="en-US" dirty="0" smtClean="0"/>
                  <a:t>front</a:t>
                </a:r>
                <a:endParaRPr lang="en-US" dirty="0"/>
              </a:p>
            </p:txBody>
          </p:sp>
          <p:cxnSp>
            <p:nvCxnSpPr>
              <p:cNvPr id="86" name="Straight Arrow Connector 85"/>
              <p:cNvCxnSpPr/>
              <p:nvPr/>
            </p:nvCxnSpPr>
            <p:spPr>
              <a:xfrm>
                <a:off x="685800" y="1524000"/>
                <a:ext cx="533400" cy="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43" name="TextBox 42"/>
            <p:cNvSpPr txBox="1"/>
            <p:nvPr/>
          </p:nvSpPr>
          <p:spPr>
            <a:xfrm>
              <a:off x="1886198" y="1691239"/>
              <a:ext cx="786369" cy="369332"/>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US" dirty="0" smtClean="0"/>
                <a:t>empty</a:t>
              </a:r>
              <a:endParaRPr lang="en-US" dirty="0"/>
            </a:p>
          </p:txBody>
        </p:sp>
      </p:grpSp>
      <p:grpSp>
        <p:nvGrpSpPr>
          <p:cNvPr id="127" name="Group 126"/>
          <p:cNvGrpSpPr/>
          <p:nvPr/>
        </p:nvGrpSpPr>
        <p:grpSpPr>
          <a:xfrm>
            <a:off x="5410200" y="457200"/>
            <a:ext cx="3048000" cy="2350532"/>
            <a:chOff x="5410200" y="457200"/>
            <a:chExt cx="3048000" cy="2350532"/>
          </a:xfrm>
        </p:grpSpPr>
        <p:grpSp>
          <p:nvGrpSpPr>
            <p:cNvPr id="3" name="Group 2"/>
            <p:cNvGrpSpPr/>
            <p:nvPr/>
          </p:nvGrpSpPr>
          <p:grpSpPr>
            <a:xfrm>
              <a:off x="5410200" y="457200"/>
              <a:ext cx="3048000" cy="2350532"/>
              <a:chOff x="5410200" y="457200"/>
              <a:chExt cx="3048000" cy="2350532"/>
            </a:xfrm>
          </p:grpSpPr>
          <p:sp>
            <p:nvSpPr>
              <p:cNvPr id="88" name="Rectangle 87"/>
              <p:cNvSpPr/>
              <p:nvPr/>
            </p:nvSpPr>
            <p:spPr>
              <a:xfrm>
                <a:off x="5867400" y="1359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p:cNvSpPr/>
              <p:nvPr/>
            </p:nvSpPr>
            <p:spPr>
              <a:xfrm>
                <a:off x="6324600" y="1359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p:cNvSpPr/>
              <p:nvPr/>
            </p:nvSpPr>
            <p:spPr>
              <a:xfrm>
                <a:off x="6781800" y="1359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p:cNvSpPr/>
              <p:nvPr/>
            </p:nvSpPr>
            <p:spPr>
              <a:xfrm>
                <a:off x="7239000" y="1359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p:cNvSpPr/>
              <p:nvPr/>
            </p:nvSpPr>
            <p:spPr>
              <a:xfrm>
                <a:off x="7696200" y="1359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p:cNvSpPr/>
              <p:nvPr/>
            </p:nvSpPr>
            <p:spPr>
              <a:xfrm rot="5400000">
                <a:off x="7772400" y="1740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p:cNvSpPr/>
              <p:nvPr/>
            </p:nvSpPr>
            <p:spPr>
              <a:xfrm>
                <a:off x="7706140" y="2121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p:cNvSpPr/>
              <p:nvPr/>
            </p:nvSpPr>
            <p:spPr>
              <a:xfrm>
                <a:off x="5867400" y="2121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p:cNvSpPr/>
              <p:nvPr/>
            </p:nvSpPr>
            <p:spPr>
              <a:xfrm>
                <a:off x="6324600" y="2121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p:cNvSpPr/>
              <p:nvPr/>
            </p:nvSpPr>
            <p:spPr>
              <a:xfrm>
                <a:off x="6781800" y="2121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p:cNvSpPr/>
              <p:nvPr/>
            </p:nvSpPr>
            <p:spPr>
              <a:xfrm>
                <a:off x="7239000" y="2121932"/>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p:cNvSpPr/>
              <p:nvPr/>
            </p:nvSpPr>
            <p:spPr>
              <a:xfrm rot="5400000">
                <a:off x="5791200" y="1727680"/>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TextBox 99"/>
              <p:cNvSpPr txBox="1"/>
              <p:nvPr/>
            </p:nvSpPr>
            <p:spPr>
              <a:xfrm>
                <a:off x="5920210" y="978932"/>
                <a:ext cx="301686" cy="369332"/>
              </a:xfrm>
              <a:prstGeom prst="rect">
                <a:avLst/>
              </a:prstGeom>
              <a:noFill/>
            </p:spPr>
            <p:txBody>
              <a:bodyPr wrap="none" rtlCol="0">
                <a:spAutoFit/>
              </a:bodyPr>
              <a:lstStyle/>
              <a:p>
                <a:r>
                  <a:rPr lang="en-US" dirty="0" smtClean="0"/>
                  <a:t>0</a:t>
                </a:r>
                <a:endParaRPr lang="en-US" dirty="0"/>
              </a:p>
            </p:txBody>
          </p:sp>
          <p:sp>
            <p:nvSpPr>
              <p:cNvPr id="101" name="TextBox 100"/>
              <p:cNvSpPr txBox="1"/>
              <p:nvPr/>
            </p:nvSpPr>
            <p:spPr>
              <a:xfrm>
                <a:off x="6327714" y="978932"/>
                <a:ext cx="301686" cy="369332"/>
              </a:xfrm>
              <a:prstGeom prst="rect">
                <a:avLst/>
              </a:prstGeom>
              <a:noFill/>
            </p:spPr>
            <p:txBody>
              <a:bodyPr wrap="none" rtlCol="0">
                <a:spAutoFit/>
              </a:bodyPr>
              <a:lstStyle/>
              <a:p>
                <a:r>
                  <a:rPr lang="en-US" dirty="0"/>
                  <a:t>1</a:t>
                </a:r>
              </a:p>
            </p:txBody>
          </p:sp>
          <p:sp>
            <p:nvSpPr>
              <p:cNvPr id="102" name="TextBox 101"/>
              <p:cNvSpPr txBox="1"/>
              <p:nvPr/>
            </p:nvSpPr>
            <p:spPr>
              <a:xfrm>
                <a:off x="6861114" y="978932"/>
                <a:ext cx="301686" cy="369332"/>
              </a:xfrm>
              <a:prstGeom prst="rect">
                <a:avLst/>
              </a:prstGeom>
              <a:noFill/>
            </p:spPr>
            <p:txBody>
              <a:bodyPr wrap="none" rtlCol="0">
                <a:spAutoFit/>
              </a:bodyPr>
              <a:lstStyle/>
              <a:p>
                <a:r>
                  <a:rPr lang="en-US" dirty="0"/>
                  <a:t>2</a:t>
                </a:r>
              </a:p>
            </p:txBody>
          </p:sp>
          <p:sp>
            <p:nvSpPr>
              <p:cNvPr id="103" name="TextBox 102"/>
              <p:cNvSpPr txBox="1"/>
              <p:nvPr/>
            </p:nvSpPr>
            <p:spPr>
              <a:xfrm>
                <a:off x="7318314" y="978932"/>
                <a:ext cx="301686" cy="369332"/>
              </a:xfrm>
              <a:prstGeom prst="rect">
                <a:avLst/>
              </a:prstGeom>
              <a:noFill/>
            </p:spPr>
            <p:txBody>
              <a:bodyPr wrap="none" rtlCol="0">
                <a:spAutoFit/>
              </a:bodyPr>
              <a:lstStyle/>
              <a:p>
                <a:r>
                  <a:rPr lang="en-US" dirty="0"/>
                  <a:t>3</a:t>
                </a:r>
              </a:p>
            </p:txBody>
          </p:sp>
          <p:sp>
            <p:nvSpPr>
              <p:cNvPr id="104" name="TextBox 103"/>
              <p:cNvSpPr txBox="1"/>
              <p:nvPr/>
            </p:nvSpPr>
            <p:spPr>
              <a:xfrm>
                <a:off x="7775514" y="978932"/>
                <a:ext cx="301686" cy="369332"/>
              </a:xfrm>
              <a:prstGeom prst="rect">
                <a:avLst/>
              </a:prstGeom>
              <a:noFill/>
            </p:spPr>
            <p:txBody>
              <a:bodyPr wrap="none" rtlCol="0">
                <a:spAutoFit/>
              </a:bodyPr>
              <a:lstStyle/>
              <a:p>
                <a:r>
                  <a:rPr lang="en-US" dirty="0"/>
                  <a:t>4</a:t>
                </a:r>
              </a:p>
            </p:txBody>
          </p:sp>
          <p:sp>
            <p:nvSpPr>
              <p:cNvPr id="105" name="TextBox 104"/>
              <p:cNvSpPr txBox="1"/>
              <p:nvPr/>
            </p:nvSpPr>
            <p:spPr>
              <a:xfrm>
                <a:off x="8156514" y="1676400"/>
                <a:ext cx="301686" cy="369332"/>
              </a:xfrm>
              <a:prstGeom prst="rect">
                <a:avLst/>
              </a:prstGeom>
              <a:noFill/>
            </p:spPr>
            <p:txBody>
              <a:bodyPr wrap="none" rtlCol="0">
                <a:spAutoFit/>
              </a:bodyPr>
              <a:lstStyle/>
              <a:p>
                <a:r>
                  <a:rPr lang="en-US" dirty="0"/>
                  <a:t>5</a:t>
                </a:r>
              </a:p>
            </p:txBody>
          </p:sp>
          <p:sp>
            <p:nvSpPr>
              <p:cNvPr id="106" name="TextBox 105"/>
              <p:cNvSpPr txBox="1"/>
              <p:nvPr/>
            </p:nvSpPr>
            <p:spPr>
              <a:xfrm>
                <a:off x="7851714" y="2438400"/>
                <a:ext cx="301686" cy="369332"/>
              </a:xfrm>
              <a:prstGeom prst="rect">
                <a:avLst/>
              </a:prstGeom>
              <a:noFill/>
            </p:spPr>
            <p:txBody>
              <a:bodyPr wrap="none" rtlCol="0">
                <a:spAutoFit/>
              </a:bodyPr>
              <a:lstStyle/>
              <a:p>
                <a:r>
                  <a:rPr lang="en-US" dirty="0"/>
                  <a:t>6</a:t>
                </a:r>
              </a:p>
            </p:txBody>
          </p:sp>
          <p:sp>
            <p:nvSpPr>
              <p:cNvPr id="107" name="TextBox 106"/>
              <p:cNvSpPr txBox="1"/>
              <p:nvPr/>
            </p:nvSpPr>
            <p:spPr>
              <a:xfrm>
                <a:off x="7315200" y="2438400"/>
                <a:ext cx="301686" cy="369332"/>
              </a:xfrm>
              <a:prstGeom prst="rect">
                <a:avLst/>
              </a:prstGeom>
              <a:noFill/>
            </p:spPr>
            <p:txBody>
              <a:bodyPr wrap="none" rtlCol="0">
                <a:spAutoFit/>
              </a:bodyPr>
              <a:lstStyle/>
              <a:p>
                <a:r>
                  <a:rPr lang="en-US" dirty="0"/>
                  <a:t>7</a:t>
                </a:r>
              </a:p>
            </p:txBody>
          </p:sp>
          <p:sp>
            <p:nvSpPr>
              <p:cNvPr id="108" name="TextBox 107"/>
              <p:cNvSpPr txBox="1"/>
              <p:nvPr/>
            </p:nvSpPr>
            <p:spPr>
              <a:xfrm>
                <a:off x="6861114" y="2438400"/>
                <a:ext cx="301686" cy="369332"/>
              </a:xfrm>
              <a:prstGeom prst="rect">
                <a:avLst/>
              </a:prstGeom>
              <a:noFill/>
            </p:spPr>
            <p:txBody>
              <a:bodyPr wrap="none" rtlCol="0">
                <a:spAutoFit/>
              </a:bodyPr>
              <a:lstStyle/>
              <a:p>
                <a:r>
                  <a:rPr lang="en-US" dirty="0"/>
                  <a:t>8</a:t>
                </a:r>
              </a:p>
            </p:txBody>
          </p:sp>
          <p:sp>
            <p:nvSpPr>
              <p:cNvPr id="109" name="TextBox 108"/>
              <p:cNvSpPr txBox="1"/>
              <p:nvPr/>
            </p:nvSpPr>
            <p:spPr>
              <a:xfrm>
                <a:off x="6403914" y="2438400"/>
                <a:ext cx="301686" cy="369332"/>
              </a:xfrm>
              <a:prstGeom prst="rect">
                <a:avLst/>
              </a:prstGeom>
              <a:noFill/>
            </p:spPr>
            <p:txBody>
              <a:bodyPr wrap="none" rtlCol="0">
                <a:spAutoFit/>
              </a:bodyPr>
              <a:lstStyle/>
              <a:p>
                <a:r>
                  <a:rPr lang="en-US" dirty="0"/>
                  <a:t>9</a:t>
                </a:r>
              </a:p>
            </p:txBody>
          </p:sp>
          <p:sp>
            <p:nvSpPr>
              <p:cNvPr id="110" name="TextBox 109"/>
              <p:cNvSpPr txBox="1"/>
              <p:nvPr/>
            </p:nvSpPr>
            <p:spPr>
              <a:xfrm>
                <a:off x="5946714" y="2438400"/>
                <a:ext cx="418704" cy="369332"/>
              </a:xfrm>
              <a:prstGeom prst="rect">
                <a:avLst/>
              </a:prstGeom>
              <a:noFill/>
            </p:spPr>
            <p:txBody>
              <a:bodyPr wrap="none" rtlCol="0">
                <a:spAutoFit/>
              </a:bodyPr>
              <a:lstStyle/>
              <a:p>
                <a:r>
                  <a:rPr lang="en-US" dirty="0" smtClean="0"/>
                  <a:t>11</a:t>
                </a:r>
                <a:endParaRPr lang="en-US" dirty="0"/>
              </a:p>
            </p:txBody>
          </p:sp>
          <p:sp>
            <p:nvSpPr>
              <p:cNvPr id="111" name="TextBox 110"/>
              <p:cNvSpPr txBox="1"/>
              <p:nvPr/>
            </p:nvSpPr>
            <p:spPr>
              <a:xfrm>
                <a:off x="5410200" y="1676400"/>
                <a:ext cx="418704" cy="369332"/>
              </a:xfrm>
              <a:prstGeom prst="rect">
                <a:avLst/>
              </a:prstGeom>
              <a:noFill/>
            </p:spPr>
            <p:txBody>
              <a:bodyPr wrap="none" rtlCol="0">
                <a:spAutoFit/>
              </a:bodyPr>
              <a:lstStyle/>
              <a:p>
                <a:r>
                  <a:rPr lang="en-US" dirty="0" smtClean="0"/>
                  <a:t>12</a:t>
                </a:r>
                <a:endParaRPr lang="en-US" dirty="0"/>
              </a:p>
            </p:txBody>
          </p:sp>
          <p:cxnSp>
            <p:nvCxnSpPr>
              <p:cNvPr id="114" name="Straight Arrow Connector 113"/>
              <p:cNvCxnSpPr/>
              <p:nvPr/>
            </p:nvCxnSpPr>
            <p:spPr>
              <a:xfrm>
                <a:off x="6096000" y="914400"/>
                <a:ext cx="304800" cy="3810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15" name="Rectangle 114"/>
              <p:cNvSpPr/>
              <p:nvPr/>
            </p:nvSpPr>
            <p:spPr>
              <a:xfrm>
                <a:off x="6324600" y="13716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TextBox 115"/>
              <p:cNvSpPr txBox="1"/>
              <p:nvPr/>
            </p:nvSpPr>
            <p:spPr>
              <a:xfrm>
                <a:off x="5728252" y="621268"/>
                <a:ext cx="567976" cy="369332"/>
              </a:xfrm>
              <a:prstGeom prst="rect">
                <a:avLst/>
              </a:prstGeom>
              <a:noFill/>
            </p:spPr>
            <p:txBody>
              <a:bodyPr wrap="none" rtlCol="0">
                <a:spAutoFit/>
              </a:bodyPr>
              <a:lstStyle/>
              <a:p>
                <a:r>
                  <a:rPr lang="en-US" dirty="0" smtClean="0"/>
                  <a:t>rear</a:t>
                </a:r>
                <a:endParaRPr lang="en-US" dirty="0"/>
              </a:p>
            </p:txBody>
          </p:sp>
          <p:cxnSp>
            <p:nvCxnSpPr>
              <p:cNvPr id="125" name="Straight Arrow Connector 124"/>
              <p:cNvCxnSpPr/>
              <p:nvPr/>
            </p:nvCxnSpPr>
            <p:spPr>
              <a:xfrm>
                <a:off x="6669914" y="838200"/>
                <a:ext cx="0" cy="4572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26" name="TextBox 125"/>
              <p:cNvSpPr txBox="1"/>
              <p:nvPr/>
            </p:nvSpPr>
            <p:spPr>
              <a:xfrm>
                <a:off x="6248400" y="457200"/>
                <a:ext cx="650114" cy="369332"/>
              </a:xfrm>
              <a:prstGeom prst="rect">
                <a:avLst/>
              </a:prstGeom>
              <a:noFill/>
            </p:spPr>
            <p:txBody>
              <a:bodyPr wrap="none" rtlCol="0">
                <a:spAutoFit/>
              </a:bodyPr>
              <a:lstStyle/>
              <a:p>
                <a:r>
                  <a:rPr lang="en-US" dirty="0" smtClean="0"/>
                  <a:t>front</a:t>
                </a:r>
                <a:endParaRPr lang="en-US" dirty="0"/>
              </a:p>
            </p:txBody>
          </p:sp>
        </p:grpSp>
        <p:sp>
          <p:nvSpPr>
            <p:cNvPr id="128" name="TextBox 127"/>
            <p:cNvSpPr txBox="1"/>
            <p:nvPr/>
          </p:nvSpPr>
          <p:spPr>
            <a:xfrm>
              <a:off x="6400800" y="1676400"/>
              <a:ext cx="1470146" cy="369332"/>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US" dirty="0" smtClean="0"/>
                <a:t>First </a:t>
              </a:r>
              <a:r>
                <a:rPr lang="en-US" dirty="0" err="1" smtClean="0"/>
                <a:t>enqueue</a:t>
              </a:r>
              <a:endParaRPr lang="en-US" dirty="0"/>
            </a:p>
          </p:txBody>
        </p:sp>
      </p:grpSp>
      <p:grpSp>
        <p:nvGrpSpPr>
          <p:cNvPr id="112" name="Group 111"/>
          <p:cNvGrpSpPr/>
          <p:nvPr/>
        </p:nvGrpSpPr>
        <p:grpSpPr>
          <a:xfrm>
            <a:off x="5414704" y="3564341"/>
            <a:ext cx="3048000" cy="2971800"/>
            <a:chOff x="838200" y="3352800"/>
            <a:chExt cx="3048000" cy="2971800"/>
          </a:xfrm>
        </p:grpSpPr>
        <p:grpSp>
          <p:nvGrpSpPr>
            <p:cNvPr id="29" name="Group 28"/>
            <p:cNvGrpSpPr/>
            <p:nvPr/>
          </p:nvGrpSpPr>
          <p:grpSpPr>
            <a:xfrm>
              <a:off x="838200" y="3352800"/>
              <a:ext cx="3048000" cy="2971800"/>
              <a:chOff x="838200" y="3352800"/>
              <a:chExt cx="3048000" cy="2971800"/>
            </a:xfrm>
          </p:grpSpPr>
          <p:sp>
            <p:nvSpPr>
              <p:cNvPr id="4" name="Rectangle 3"/>
              <p:cNvSpPr/>
              <p:nvPr/>
            </p:nvSpPr>
            <p:spPr>
              <a:xfrm>
                <a:off x="1295400" y="4267200"/>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1752600" y="4267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2209800" y="4267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667000" y="4267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124200" y="4267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rot="5400000">
                <a:off x="3200400" y="4648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134140" y="5029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295400" y="5029200"/>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752600" y="5029200"/>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2209800" y="5029200"/>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2667000" y="5029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rot="5400000">
                <a:off x="1219200" y="4634948"/>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1348210" y="3886200"/>
                <a:ext cx="301686" cy="369332"/>
              </a:xfrm>
              <a:prstGeom prst="rect">
                <a:avLst/>
              </a:prstGeom>
              <a:noFill/>
            </p:spPr>
            <p:txBody>
              <a:bodyPr wrap="none" rtlCol="0">
                <a:spAutoFit/>
              </a:bodyPr>
              <a:lstStyle/>
              <a:p>
                <a:r>
                  <a:rPr lang="en-US" dirty="0" smtClean="0"/>
                  <a:t>0</a:t>
                </a:r>
                <a:endParaRPr lang="en-US" dirty="0"/>
              </a:p>
            </p:txBody>
          </p:sp>
          <p:sp>
            <p:nvSpPr>
              <p:cNvPr id="17" name="TextBox 16"/>
              <p:cNvSpPr txBox="1"/>
              <p:nvPr/>
            </p:nvSpPr>
            <p:spPr>
              <a:xfrm>
                <a:off x="1755714" y="3886200"/>
                <a:ext cx="301686" cy="369332"/>
              </a:xfrm>
              <a:prstGeom prst="rect">
                <a:avLst/>
              </a:prstGeom>
              <a:noFill/>
            </p:spPr>
            <p:txBody>
              <a:bodyPr wrap="none" rtlCol="0">
                <a:spAutoFit/>
              </a:bodyPr>
              <a:lstStyle/>
              <a:p>
                <a:r>
                  <a:rPr lang="en-US" dirty="0"/>
                  <a:t>1</a:t>
                </a:r>
              </a:p>
            </p:txBody>
          </p:sp>
          <p:sp>
            <p:nvSpPr>
              <p:cNvPr id="18" name="TextBox 17"/>
              <p:cNvSpPr txBox="1"/>
              <p:nvPr/>
            </p:nvSpPr>
            <p:spPr>
              <a:xfrm>
                <a:off x="2289114" y="3886200"/>
                <a:ext cx="301686" cy="369332"/>
              </a:xfrm>
              <a:prstGeom prst="rect">
                <a:avLst/>
              </a:prstGeom>
              <a:noFill/>
            </p:spPr>
            <p:txBody>
              <a:bodyPr wrap="none" rtlCol="0">
                <a:spAutoFit/>
              </a:bodyPr>
              <a:lstStyle/>
              <a:p>
                <a:r>
                  <a:rPr lang="en-US" dirty="0"/>
                  <a:t>2</a:t>
                </a:r>
              </a:p>
            </p:txBody>
          </p:sp>
          <p:sp>
            <p:nvSpPr>
              <p:cNvPr id="19" name="TextBox 18"/>
              <p:cNvSpPr txBox="1"/>
              <p:nvPr/>
            </p:nvSpPr>
            <p:spPr>
              <a:xfrm>
                <a:off x="2746314" y="3886200"/>
                <a:ext cx="301686" cy="369332"/>
              </a:xfrm>
              <a:prstGeom prst="rect">
                <a:avLst/>
              </a:prstGeom>
              <a:noFill/>
            </p:spPr>
            <p:txBody>
              <a:bodyPr wrap="none" rtlCol="0">
                <a:spAutoFit/>
              </a:bodyPr>
              <a:lstStyle/>
              <a:p>
                <a:r>
                  <a:rPr lang="en-US" dirty="0"/>
                  <a:t>3</a:t>
                </a:r>
              </a:p>
            </p:txBody>
          </p:sp>
          <p:sp>
            <p:nvSpPr>
              <p:cNvPr id="20" name="TextBox 19"/>
              <p:cNvSpPr txBox="1"/>
              <p:nvPr/>
            </p:nvSpPr>
            <p:spPr>
              <a:xfrm>
                <a:off x="3203514" y="3886200"/>
                <a:ext cx="301686" cy="369332"/>
              </a:xfrm>
              <a:prstGeom prst="rect">
                <a:avLst/>
              </a:prstGeom>
              <a:noFill/>
            </p:spPr>
            <p:txBody>
              <a:bodyPr wrap="none" rtlCol="0">
                <a:spAutoFit/>
              </a:bodyPr>
              <a:lstStyle/>
              <a:p>
                <a:r>
                  <a:rPr lang="en-US" dirty="0"/>
                  <a:t>4</a:t>
                </a:r>
              </a:p>
            </p:txBody>
          </p:sp>
          <p:sp>
            <p:nvSpPr>
              <p:cNvPr id="21" name="TextBox 20"/>
              <p:cNvSpPr txBox="1"/>
              <p:nvPr/>
            </p:nvSpPr>
            <p:spPr>
              <a:xfrm>
                <a:off x="3584514" y="4583668"/>
                <a:ext cx="301686" cy="369332"/>
              </a:xfrm>
              <a:prstGeom prst="rect">
                <a:avLst/>
              </a:prstGeom>
              <a:noFill/>
            </p:spPr>
            <p:txBody>
              <a:bodyPr wrap="none" rtlCol="0">
                <a:spAutoFit/>
              </a:bodyPr>
              <a:lstStyle/>
              <a:p>
                <a:r>
                  <a:rPr lang="en-US" dirty="0"/>
                  <a:t>5</a:t>
                </a:r>
              </a:p>
            </p:txBody>
          </p:sp>
          <p:sp>
            <p:nvSpPr>
              <p:cNvPr id="22" name="TextBox 21"/>
              <p:cNvSpPr txBox="1"/>
              <p:nvPr/>
            </p:nvSpPr>
            <p:spPr>
              <a:xfrm>
                <a:off x="3279714" y="5345668"/>
                <a:ext cx="301686" cy="369332"/>
              </a:xfrm>
              <a:prstGeom prst="rect">
                <a:avLst/>
              </a:prstGeom>
              <a:noFill/>
            </p:spPr>
            <p:txBody>
              <a:bodyPr wrap="none" rtlCol="0">
                <a:spAutoFit/>
              </a:bodyPr>
              <a:lstStyle/>
              <a:p>
                <a:r>
                  <a:rPr lang="en-US" dirty="0"/>
                  <a:t>6</a:t>
                </a:r>
              </a:p>
            </p:txBody>
          </p:sp>
          <p:sp>
            <p:nvSpPr>
              <p:cNvPr id="23" name="TextBox 22"/>
              <p:cNvSpPr txBox="1"/>
              <p:nvPr/>
            </p:nvSpPr>
            <p:spPr>
              <a:xfrm>
                <a:off x="2743200" y="5345668"/>
                <a:ext cx="301686" cy="369332"/>
              </a:xfrm>
              <a:prstGeom prst="rect">
                <a:avLst/>
              </a:prstGeom>
              <a:noFill/>
            </p:spPr>
            <p:txBody>
              <a:bodyPr wrap="none" rtlCol="0">
                <a:spAutoFit/>
              </a:bodyPr>
              <a:lstStyle/>
              <a:p>
                <a:r>
                  <a:rPr lang="en-US" dirty="0"/>
                  <a:t>7</a:t>
                </a:r>
              </a:p>
            </p:txBody>
          </p:sp>
          <p:sp>
            <p:nvSpPr>
              <p:cNvPr id="24" name="TextBox 23"/>
              <p:cNvSpPr txBox="1"/>
              <p:nvPr/>
            </p:nvSpPr>
            <p:spPr>
              <a:xfrm>
                <a:off x="2289114" y="5345668"/>
                <a:ext cx="301686" cy="369332"/>
              </a:xfrm>
              <a:prstGeom prst="rect">
                <a:avLst/>
              </a:prstGeom>
              <a:noFill/>
            </p:spPr>
            <p:txBody>
              <a:bodyPr wrap="none" rtlCol="0">
                <a:spAutoFit/>
              </a:bodyPr>
              <a:lstStyle/>
              <a:p>
                <a:r>
                  <a:rPr lang="en-US" dirty="0"/>
                  <a:t>8</a:t>
                </a:r>
              </a:p>
            </p:txBody>
          </p:sp>
          <p:sp>
            <p:nvSpPr>
              <p:cNvPr id="25" name="TextBox 24"/>
              <p:cNvSpPr txBox="1"/>
              <p:nvPr/>
            </p:nvSpPr>
            <p:spPr>
              <a:xfrm>
                <a:off x="1831914" y="5345668"/>
                <a:ext cx="301686" cy="369332"/>
              </a:xfrm>
              <a:prstGeom prst="rect">
                <a:avLst/>
              </a:prstGeom>
              <a:noFill/>
            </p:spPr>
            <p:txBody>
              <a:bodyPr wrap="none" rtlCol="0">
                <a:spAutoFit/>
              </a:bodyPr>
              <a:lstStyle/>
              <a:p>
                <a:r>
                  <a:rPr lang="en-US" dirty="0"/>
                  <a:t>9</a:t>
                </a:r>
              </a:p>
            </p:txBody>
          </p:sp>
          <p:sp>
            <p:nvSpPr>
              <p:cNvPr id="26" name="TextBox 25"/>
              <p:cNvSpPr txBox="1"/>
              <p:nvPr/>
            </p:nvSpPr>
            <p:spPr>
              <a:xfrm>
                <a:off x="1374714" y="5345668"/>
                <a:ext cx="418704" cy="369332"/>
              </a:xfrm>
              <a:prstGeom prst="rect">
                <a:avLst/>
              </a:prstGeom>
              <a:noFill/>
            </p:spPr>
            <p:txBody>
              <a:bodyPr wrap="none" rtlCol="0">
                <a:spAutoFit/>
              </a:bodyPr>
              <a:lstStyle/>
              <a:p>
                <a:r>
                  <a:rPr lang="en-US" dirty="0" smtClean="0"/>
                  <a:t>11</a:t>
                </a:r>
                <a:endParaRPr lang="en-US" dirty="0"/>
              </a:p>
            </p:txBody>
          </p:sp>
          <p:sp>
            <p:nvSpPr>
              <p:cNvPr id="27" name="TextBox 26"/>
              <p:cNvSpPr txBox="1"/>
              <p:nvPr/>
            </p:nvSpPr>
            <p:spPr>
              <a:xfrm>
                <a:off x="838200" y="4583668"/>
                <a:ext cx="418704" cy="369332"/>
              </a:xfrm>
              <a:prstGeom prst="rect">
                <a:avLst/>
              </a:prstGeom>
              <a:noFill/>
            </p:spPr>
            <p:txBody>
              <a:bodyPr wrap="none" rtlCol="0">
                <a:spAutoFit/>
              </a:bodyPr>
              <a:lstStyle/>
              <a:p>
                <a:r>
                  <a:rPr lang="en-US" dirty="0" smtClean="0"/>
                  <a:t>12</a:t>
                </a:r>
                <a:endParaRPr lang="en-US" dirty="0"/>
              </a:p>
            </p:txBody>
          </p:sp>
          <p:cxnSp>
            <p:nvCxnSpPr>
              <p:cNvPr id="30" name="Straight Arrow Connector 29"/>
              <p:cNvCxnSpPr/>
              <p:nvPr/>
            </p:nvCxnSpPr>
            <p:spPr>
              <a:xfrm flipV="1">
                <a:off x="3006376" y="5562600"/>
                <a:ext cx="0" cy="4572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2590800" y="5955268"/>
                <a:ext cx="567976" cy="369332"/>
              </a:xfrm>
              <a:prstGeom prst="rect">
                <a:avLst/>
              </a:prstGeom>
              <a:noFill/>
            </p:spPr>
            <p:txBody>
              <a:bodyPr wrap="none" rtlCol="0">
                <a:spAutoFit/>
              </a:bodyPr>
              <a:lstStyle/>
              <a:p>
                <a:r>
                  <a:rPr lang="en-US" dirty="0" smtClean="0"/>
                  <a:t>rear</a:t>
                </a:r>
                <a:endParaRPr lang="en-US" dirty="0"/>
              </a:p>
            </p:txBody>
          </p:sp>
          <p:sp>
            <p:nvSpPr>
              <p:cNvPr id="117" name="Rectangle 116"/>
              <p:cNvSpPr/>
              <p:nvPr/>
            </p:nvSpPr>
            <p:spPr>
              <a:xfrm>
                <a:off x="1295400" y="5029200"/>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p:cNvSpPr/>
              <p:nvPr/>
            </p:nvSpPr>
            <p:spPr>
              <a:xfrm>
                <a:off x="1752600" y="5029200"/>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p:cNvSpPr/>
              <p:nvPr/>
            </p:nvSpPr>
            <p:spPr>
              <a:xfrm>
                <a:off x="2209800" y="5029200"/>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p:cNvSpPr/>
              <p:nvPr/>
            </p:nvSpPr>
            <p:spPr>
              <a:xfrm>
                <a:off x="2667000" y="5029200"/>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p:cNvSpPr/>
              <p:nvPr/>
            </p:nvSpPr>
            <p:spPr>
              <a:xfrm rot="5400000">
                <a:off x="1219200" y="4634948"/>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9" name="Straight Arrow Connector 128"/>
              <p:cNvCxnSpPr/>
              <p:nvPr/>
            </p:nvCxnSpPr>
            <p:spPr>
              <a:xfrm>
                <a:off x="2097914" y="3733800"/>
                <a:ext cx="0" cy="4572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30" name="TextBox 129"/>
              <p:cNvSpPr txBox="1"/>
              <p:nvPr/>
            </p:nvSpPr>
            <p:spPr>
              <a:xfrm>
                <a:off x="1676400" y="3352800"/>
                <a:ext cx="650114" cy="369332"/>
              </a:xfrm>
              <a:prstGeom prst="rect">
                <a:avLst/>
              </a:prstGeom>
              <a:noFill/>
            </p:spPr>
            <p:txBody>
              <a:bodyPr wrap="none" rtlCol="0">
                <a:spAutoFit/>
              </a:bodyPr>
              <a:lstStyle/>
              <a:p>
                <a:r>
                  <a:rPr lang="en-US" dirty="0" smtClean="0"/>
                  <a:t>front</a:t>
                </a:r>
                <a:endParaRPr lang="en-US" dirty="0"/>
              </a:p>
            </p:txBody>
          </p:sp>
        </p:grpSp>
        <p:sp>
          <p:nvSpPr>
            <p:cNvPr id="131" name="TextBox 130"/>
            <p:cNvSpPr txBox="1"/>
            <p:nvPr/>
          </p:nvSpPr>
          <p:spPr>
            <a:xfrm>
              <a:off x="1696381" y="4645223"/>
              <a:ext cx="1447832" cy="307777"/>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US" sz="1400" dirty="0" smtClean="0"/>
                <a:t>7 </a:t>
              </a:r>
              <a:r>
                <a:rPr lang="en-US" sz="1400" dirty="0" err="1" smtClean="0"/>
                <a:t>enqueues</a:t>
              </a:r>
              <a:r>
                <a:rPr lang="en-US" sz="1400" dirty="0" smtClean="0"/>
                <a:t> done</a:t>
              </a:r>
              <a:endParaRPr lang="en-US" sz="1400" dirty="0"/>
            </a:p>
          </p:txBody>
        </p:sp>
      </p:grpSp>
      <p:grpSp>
        <p:nvGrpSpPr>
          <p:cNvPr id="133" name="Group 132"/>
          <p:cNvGrpSpPr/>
          <p:nvPr/>
        </p:nvGrpSpPr>
        <p:grpSpPr>
          <a:xfrm>
            <a:off x="-28747" y="3582319"/>
            <a:ext cx="3755124" cy="2286000"/>
            <a:chOff x="4779276" y="3429000"/>
            <a:chExt cx="3755124" cy="2286000"/>
          </a:xfrm>
        </p:grpSpPr>
        <p:grpSp>
          <p:nvGrpSpPr>
            <p:cNvPr id="28" name="Group 27"/>
            <p:cNvGrpSpPr/>
            <p:nvPr/>
          </p:nvGrpSpPr>
          <p:grpSpPr>
            <a:xfrm>
              <a:off x="4779276" y="3429000"/>
              <a:ext cx="3755124" cy="2286000"/>
              <a:chOff x="4779276" y="3429000"/>
              <a:chExt cx="3755124" cy="2286000"/>
            </a:xfrm>
          </p:grpSpPr>
          <p:sp>
            <p:nvSpPr>
              <p:cNvPr id="32" name="Rectangle 31"/>
              <p:cNvSpPr/>
              <p:nvPr/>
            </p:nvSpPr>
            <p:spPr>
              <a:xfrm>
                <a:off x="5943600" y="4267200"/>
                <a:ext cx="457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6400800" y="4267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6858000" y="4267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7315200" y="4267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p:cNvSpPr/>
              <p:nvPr/>
            </p:nvSpPr>
            <p:spPr>
              <a:xfrm>
                <a:off x="7772400" y="4267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p:cNvSpPr/>
              <p:nvPr/>
            </p:nvSpPr>
            <p:spPr>
              <a:xfrm rot="5400000">
                <a:off x="7848600" y="4648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p:nvSpPr>
            <p:spPr>
              <a:xfrm>
                <a:off x="7782340" y="5029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5943600" y="5029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6400800" y="5029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p:cNvSpPr/>
              <p:nvPr/>
            </p:nvSpPr>
            <p:spPr>
              <a:xfrm>
                <a:off x="6858000" y="5029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7315200" y="5029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p:cNvSpPr txBox="1"/>
              <p:nvPr/>
            </p:nvSpPr>
            <p:spPr>
              <a:xfrm>
                <a:off x="5996410" y="3886200"/>
                <a:ext cx="301686" cy="369332"/>
              </a:xfrm>
              <a:prstGeom prst="rect">
                <a:avLst/>
              </a:prstGeom>
              <a:noFill/>
            </p:spPr>
            <p:txBody>
              <a:bodyPr wrap="none" rtlCol="0">
                <a:spAutoFit/>
              </a:bodyPr>
              <a:lstStyle/>
              <a:p>
                <a:r>
                  <a:rPr lang="en-US" dirty="0" smtClean="0"/>
                  <a:t>0</a:t>
                </a:r>
                <a:endParaRPr lang="en-US" dirty="0"/>
              </a:p>
            </p:txBody>
          </p:sp>
          <p:sp>
            <p:nvSpPr>
              <p:cNvPr id="45" name="TextBox 44"/>
              <p:cNvSpPr txBox="1"/>
              <p:nvPr/>
            </p:nvSpPr>
            <p:spPr>
              <a:xfrm>
                <a:off x="6403914" y="3886200"/>
                <a:ext cx="301686" cy="369332"/>
              </a:xfrm>
              <a:prstGeom prst="rect">
                <a:avLst/>
              </a:prstGeom>
              <a:noFill/>
            </p:spPr>
            <p:txBody>
              <a:bodyPr wrap="none" rtlCol="0">
                <a:spAutoFit/>
              </a:bodyPr>
              <a:lstStyle/>
              <a:p>
                <a:r>
                  <a:rPr lang="en-US" dirty="0"/>
                  <a:t>1</a:t>
                </a:r>
              </a:p>
            </p:txBody>
          </p:sp>
          <p:sp>
            <p:nvSpPr>
              <p:cNvPr id="46" name="TextBox 45"/>
              <p:cNvSpPr txBox="1"/>
              <p:nvPr/>
            </p:nvSpPr>
            <p:spPr>
              <a:xfrm>
                <a:off x="6937314" y="3886200"/>
                <a:ext cx="301686" cy="369332"/>
              </a:xfrm>
              <a:prstGeom prst="rect">
                <a:avLst/>
              </a:prstGeom>
              <a:noFill/>
            </p:spPr>
            <p:txBody>
              <a:bodyPr wrap="none" rtlCol="0">
                <a:spAutoFit/>
              </a:bodyPr>
              <a:lstStyle/>
              <a:p>
                <a:r>
                  <a:rPr lang="en-US" dirty="0"/>
                  <a:t>2</a:t>
                </a:r>
              </a:p>
            </p:txBody>
          </p:sp>
          <p:sp>
            <p:nvSpPr>
              <p:cNvPr id="47" name="TextBox 46"/>
              <p:cNvSpPr txBox="1"/>
              <p:nvPr/>
            </p:nvSpPr>
            <p:spPr>
              <a:xfrm>
                <a:off x="7394514" y="3886200"/>
                <a:ext cx="301686" cy="369332"/>
              </a:xfrm>
              <a:prstGeom prst="rect">
                <a:avLst/>
              </a:prstGeom>
              <a:noFill/>
            </p:spPr>
            <p:txBody>
              <a:bodyPr wrap="none" rtlCol="0">
                <a:spAutoFit/>
              </a:bodyPr>
              <a:lstStyle/>
              <a:p>
                <a:r>
                  <a:rPr lang="en-US" dirty="0"/>
                  <a:t>3</a:t>
                </a:r>
              </a:p>
            </p:txBody>
          </p:sp>
          <p:sp>
            <p:nvSpPr>
              <p:cNvPr id="48" name="TextBox 47"/>
              <p:cNvSpPr txBox="1"/>
              <p:nvPr/>
            </p:nvSpPr>
            <p:spPr>
              <a:xfrm>
                <a:off x="7851714" y="3886200"/>
                <a:ext cx="301686" cy="369332"/>
              </a:xfrm>
              <a:prstGeom prst="rect">
                <a:avLst/>
              </a:prstGeom>
              <a:noFill/>
            </p:spPr>
            <p:txBody>
              <a:bodyPr wrap="none" rtlCol="0">
                <a:spAutoFit/>
              </a:bodyPr>
              <a:lstStyle/>
              <a:p>
                <a:r>
                  <a:rPr lang="en-US" dirty="0"/>
                  <a:t>4</a:t>
                </a:r>
              </a:p>
            </p:txBody>
          </p:sp>
          <p:sp>
            <p:nvSpPr>
              <p:cNvPr id="49" name="TextBox 48"/>
              <p:cNvSpPr txBox="1"/>
              <p:nvPr/>
            </p:nvSpPr>
            <p:spPr>
              <a:xfrm>
                <a:off x="8232714" y="4583668"/>
                <a:ext cx="301686" cy="369332"/>
              </a:xfrm>
              <a:prstGeom prst="rect">
                <a:avLst/>
              </a:prstGeom>
              <a:noFill/>
            </p:spPr>
            <p:txBody>
              <a:bodyPr wrap="none" rtlCol="0">
                <a:spAutoFit/>
              </a:bodyPr>
              <a:lstStyle/>
              <a:p>
                <a:r>
                  <a:rPr lang="en-US" dirty="0"/>
                  <a:t>5</a:t>
                </a:r>
              </a:p>
            </p:txBody>
          </p:sp>
          <p:sp>
            <p:nvSpPr>
              <p:cNvPr id="50" name="TextBox 49"/>
              <p:cNvSpPr txBox="1"/>
              <p:nvPr/>
            </p:nvSpPr>
            <p:spPr>
              <a:xfrm>
                <a:off x="7927914" y="5345668"/>
                <a:ext cx="301686" cy="369332"/>
              </a:xfrm>
              <a:prstGeom prst="rect">
                <a:avLst/>
              </a:prstGeom>
              <a:noFill/>
            </p:spPr>
            <p:txBody>
              <a:bodyPr wrap="none" rtlCol="0">
                <a:spAutoFit/>
              </a:bodyPr>
              <a:lstStyle/>
              <a:p>
                <a:r>
                  <a:rPr lang="en-US" dirty="0"/>
                  <a:t>6</a:t>
                </a:r>
              </a:p>
            </p:txBody>
          </p:sp>
          <p:sp>
            <p:nvSpPr>
              <p:cNvPr id="51" name="TextBox 50"/>
              <p:cNvSpPr txBox="1"/>
              <p:nvPr/>
            </p:nvSpPr>
            <p:spPr>
              <a:xfrm>
                <a:off x="7391400" y="5345668"/>
                <a:ext cx="301686" cy="369332"/>
              </a:xfrm>
              <a:prstGeom prst="rect">
                <a:avLst/>
              </a:prstGeom>
              <a:noFill/>
            </p:spPr>
            <p:txBody>
              <a:bodyPr wrap="none" rtlCol="0">
                <a:spAutoFit/>
              </a:bodyPr>
              <a:lstStyle/>
              <a:p>
                <a:r>
                  <a:rPr lang="en-US" dirty="0"/>
                  <a:t>7</a:t>
                </a:r>
              </a:p>
            </p:txBody>
          </p:sp>
          <p:sp>
            <p:nvSpPr>
              <p:cNvPr id="52" name="TextBox 51"/>
              <p:cNvSpPr txBox="1"/>
              <p:nvPr/>
            </p:nvSpPr>
            <p:spPr>
              <a:xfrm>
                <a:off x="6937314" y="5345668"/>
                <a:ext cx="301686" cy="369332"/>
              </a:xfrm>
              <a:prstGeom prst="rect">
                <a:avLst/>
              </a:prstGeom>
              <a:noFill/>
            </p:spPr>
            <p:txBody>
              <a:bodyPr wrap="none" rtlCol="0">
                <a:spAutoFit/>
              </a:bodyPr>
              <a:lstStyle/>
              <a:p>
                <a:r>
                  <a:rPr lang="en-US" dirty="0"/>
                  <a:t>8</a:t>
                </a:r>
              </a:p>
            </p:txBody>
          </p:sp>
          <p:sp>
            <p:nvSpPr>
              <p:cNvPr id="53" name="TextBox 52"/>
              <p:cNvSpPr txBox="1"/>
              <p:nvPr/>
            </p:nvSpPr>
            <p:spPr>
              <a:xfrm>
                <a:off x="6480114" y="5345668"/>
                <a:ext cx="301686" cy="369332"/>
              </a:xfrm>
              <a:prstGeom prst="rect">
                <a:avLst/>
              </a:prstGeom>
              <a:noFill/>
            </p:spPr>
            <p:txBody>
              <a:bodyPr wrap="none" rtlCol="0">
                <a:spAutoFit/>
              </a:bodyPr>
              <a:lstStyle/>
              <a:p>
                <a:r>
                  <a:rPr lang="en-US" dirty="0"/>
                  <a:t>9</a:t>
                </a:r>
              </a:p>
            </p:txBody>
          </p:sp>
          <p:sp>
            <p:nvSpPr>
              <p:cNvPr id="54" name="TextBox 53"/>
              <p:cNvSpPr txBox="1"/>
              <p:nvPr/>
            </p:nvSpPr>
            <p:spPr>
              <a:xfrm>
                <a:off x="6022914" y="5345668"/>
                <a:ext cx="418704" cy="369332"/>
              </a:xfrm>
              <a:prstGeom prst="rect">
                <a:avLst/>
              </a:prstGeom>
              <a:noFill/>
            </p:spPr>
            <p:txBody>
              <a:bodyPr wrap="none" rtlCol="0">
                <a:spAutoFit/>
              </a:bodyPr>
              <a:lstStyle/>
              <a:p>
                <a:r>
                  <a:rPr lang="en-US" dirty="0" smtClean="0"/>
                  <a:t>11</a:t>
                </a:r>
                <a:endParaRPr lang="en-US" dirty="0"/>
              </a:p>
            </p:txBody>
          </p:sp>
          <p:sp>
            <p:nvSpPr>
              <p:cNvPr id="55" name="TextBox 54"/>
              <p:cNvSpPr txBox="1"/>
              <p:nvPr/>
            </p:nvSpPr>
            <p:spPr>
              <a:xfrm>
                <a:off x="5486400" y="4583668"/>
                <a:ext cx="418704" cy="369332"/>
              </a:xfrm>
              <a:prstGeom prst="rect">
                <a:avLst/>
              </a:prstGeom>
              <a:noFill/>
            </p:spPr>
            <p:txBody>
              <a:bodyPr wrap="none" rtlCol="0">
                <a:spAutoFit/>
              </a:bodyPr>
              <a:lstStyle/>
              <a:p>
                <a:r>
                  <a:rPr lang="en-US" dirty="0" smtClean="0"/>
                  <a:t>12</a:t>
                </a:r>
                <a:endParaRPr lang="en-US" dirty="0"/>
              </a:p>
            </p:txBody>
          </p:sp>
          <p:sp>
            <p:nvSpPr>
              <p:cNvPr id="57" name="TextBox 56"/>
              <p:cNvSpPr txBox="1"/>
              <p:nvPr/>
            </p:nvSpPr>
            <p:spPr>
              <a:xfrm>
                <a:off x="6360286" y="3429000"/>
                <a:ext cx="650114" cy="369332"/>
              </a:xfrm>
              <a:prstGeom prst="rect">
                <a:avLst/>
              </a:prstGeom>
              <a:noFill/>
            </p:spPr>
            <p:txBody>
              <a:bodyPr wrap="none" rtlCol="0">
                <a:spAutoFit/>
              </a:bodyPr>
              <a:lstStyle/>
              <a:p>
                <a:r>
                  <a:rPr lang="en-US" dirty="0" smtClean="0"/>
                  <a:t>front</a:t>
                </a:r>
                <a:endParaRPr lang="en-US" dirty="0"/>
              </a:p>
            </p:txBody>
          </p:sp>
          <p:cxnSp>
            <p:nvCxnSpPr>
              <p:cNvPr id="58" name="Straight Arrow Connector 57"/>
              <p:cNvCxnSpPr/>
              <p:nvPr/>
            </p:nvCxnSpPr>
            <p:spPr>
              <a:xfrm>
                <a:off x="5347252" y="4890052"/>
                <a:ext cx="567976" cy="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4779276" y="4674704"/>
                <a:ext cx="567976" cy="369332"/>
              </a:xfrm>
              <a:prstGeom prst="rect">
                <a:avLst/>
              </a:prstGeom>
              <a:noFill/>
            </p:spPr>
            <p:txBody>
              <a:bodyPr wrap="none" rtlCol="0">
                <a:spAutoFit/>
              </a:bodyPr>
              <a:lstStyle/>
              <a:p>
                <a:r>
                  <a:rPr lang="en-US" dirty="0" smtClean="0"/>
                  <a:t>rear</a:t>
                </a:r>
                <a:endParaRPr lang="en-US" dirty="0"/>
              </a:p>
            </p:txBody>
          </p:sp>
          <p:sp>
            <p:nvSpPr>
              <p:cNvPr id="132" name="Rectangle 131"/>
              <p:cNvSpPr/>
              <p:nvPr/>
            </p:nvSpPr>
            <p:spPr>
              <a:xfrm rot="5400000">
                <a:off x="5867400" y="4648200"/>
                <a:ext cx="457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4" name="Straight Arrow Connector 133"/>
              <p:cNvCxnSpPr/>
              <p:nvPr/>
            </p:nvCxnSpPr>
            <p:spPr>
              <a:xfrm>
                <a:off x="6705600" y="3760304"/>
                <a:ext cx="0" cy="457200"/>
              </a:xfrm>
              <a:prstGeom prst="straightConnector1">
                <a:avLst/>
              </a:prstGeom>
              <a:ln w="5080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56" name="TextBox 55"/>
            <p:cNvSpPr txBox="1"/>
            <p:nvPr/>
          </p:nvSpPr>
          <p:spPr>
            <a:xfrm>
              <a:off x="6832376" y="4626618"/>
              <a:ext cx="482824" cy="369332"/>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US" dirty="0" smtClean="0"/>
                <a:t>full</a:t>
              </a:r>
              <a:endParaRPr lang="en-US" dirty="0"/>
            </a:p>
          </p:txBody>
        </p:sp>
      </p:gr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Array implementation of Queue</a:t>
            </a: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3013066795"/>
              </p:ext>
            </p:extLst>
          </p:nvPr>
        </p:nvGraphicFramePr>
        <p:xfrm>
          <a:off x="3629025" y="3062288"/>
          <a:ext cx="1885950" cy="733425"/>
        </p:xfrm>
        <a:graphic>
          <a:graphicData uri="http://schemas.openxmlformats.org/presentationml/2006/ole">
            <mc:AlternateContent xmlns:mc="http://schemas.openxmlformats.org/markup-compatibility/2006">
              <mc:Choice xmlns:v="urn:schemas-microsoft-com:vml" Requires="v">
                <p:oleObj spid="_x0000_s2065" name="Packager Shell Object" showAsIcon="1" r:id="rId3" imgW="1886400" imgH="732960" progId="Package">
                  <p:embed/>
                </p:oleObj>
              </mc:Choice>
              <mc:Fallback>
                <p:oleObj name="Packager Shell Object" showAsIcon="1" r:id="rId3" imgW="1886400" imgH="732960" progId="Package">
                  <p:embed/>
                  <p:pic>
                    <p:nvPicPr>
                      <p:cNvPr id="0" name="Picture 2"/>
                      <p:cNvPicPr>
                        <a:picLocks noChangeAspect="1" noChangeArrowheads="1"/>
                      </p:cNvPicPr>
                      <p:nvPr/>
                    </p:nvPicPr>
                    <p:blipFill>
                      <a:blip r:embed="rId4"/>
                      <a:srcRect/>
                      <a:stretch>
                        <a:fillRect/>
                      </a:stretch>
                    </p:blipFill>
                    <p:spPr bwMode="auto">
                      <a:xfrm>
                        <a:off x="3629025" y="3062288"/>
                        <a:ext cx="1885950" cy="733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Slide Number Placeholder 5"/>
          <p:cNvSpPr>
            <a:spLocks noGrp="1"/>
          </p:cNvSpPr>
          <p:nvPr>
            <p:ph type="sldNum" sz="quarter" idx="12"/>
          </p:nvPr>
        </p:nvSpPr>
        <p:spPr/>
        <p:txBody>
          <a:bodyPr/>
          <a:lstStyle/>
          <a:p>
            <a:fld id="{5657E917-6D97-4FA4-9E27-606C7A8A3676}" type="slidenum">
              <a:rPr lang="en-US" smtClean="0"/>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Linked List Implementation of Queue</a:t>
            </a:r>
            <a:endParaRPr lang="en-US" dirty="0"/>
          </a:p>
        </p:txBody>
      </p:sp>
      <p:sp>
        <p:nvSpPr>
          <p:cNvPr id="3" name="Content Placeholder 2"/>
          <p:cNvSpPr>
            <a:spLocks noGrp="1"/>
          </p:cNvSpPr>
          <p:nvPr>
            <p:ph idx="1"/>
          </p:nvPr>
        </p:nvSpPr>
        <p:spPr/>
        <p:txBody>
          <a:bodyPr>
            <a:normAutofit fontScale="77500" lnSpcReduction="20000"/>
          </a:bodyPr>
          <a:lstStyle/>
          <a:p>
            <a:r>
              <a:rPr lang="en-US" dirty="0"/>
              <a:t>We will use a </a:t>
            </a:r>
            <a:r>
              <a:rPr lang="en-US" dirty="0" smtClean="0"/>
              <a:t>header link </a:t>
            </a:r>
            <a:r>
              <a:rPr lang="en-US" dirty="0"/>
              <a:t>node, which allows for a simpler implementation of the </a:t>
            </a:r>
            <a:r>
              <a:rPr lang="en-US" dirty="0" err="1"/>
              <a:t>enqueue</a:t>
            </a:r>
            <a:r>
              <a:rPr lang="en-US" dirty="0"/>
              <a:t> operation </a:t>
            </a:r>
            <a:r>
              <a:rPr lang="en-US" dirty="0" smtClean="0"/>
              <a:t>by avoiding </a:t>
            </a:r>
            <a:r>
              <a:rPr lang="en-US" dirty="0"/>
              <a:t>any special cases when the queue is empty. </a:t>
            </a:r>
            <a:endParaRPr lang="en-US" dirty="0" smtClean="0"/>
          </a:p>
          <a:p>
            <a:r>
              <a:rPr lang="en-US" dirty="0" smtClean="0"/>
              <a:t>On </a:t>
            </a:r>
            <a:r>
              <a:rPr lang="en-US" dirty="0"/>
              <a:t>initialization, the </a:t>
            </a:r>
            <a:r>
              <a:rPr lang="en-US" b="1" dirty="0" smtClean="0"/>
              <a:t>front </a:t>
            </a:r>
            <a:r>
              <a:rPr lang="en-US" dirty="0" smtClean="0"/>
              <a:t>and </a:t>
            </a:r>
            <a:r>
              <a:rPr lang="en-US" b="1" dirty="0"/>
              <a:t>rear pointers will point to the header node, and front will always point </a:t>
            </a:r>
            <a:r>
              <a:rPr lang="en-US" b="1" dirty="0" smtClean="0"/>
              <a:t>to </a:t>
            </a:r>
            <a:r>
              <a:rPr lang="en-US" dirty="0" smtClean="0"/>
              <a:t>the </a:t>
            </a:r>
            <a:r>
              <a:rPr lang="en-US" dirty="0"/>
              <a:t>header node while rear points to the true last link node in the queue. </a:t>
            </a:r>
            <a:endParaRPr lang="en-US" dirty="0" smtClean="0"/>
          </a:p>
          <a:p>
            <a:r>
              <a:rPr lang="en-US" dirty="0" smtClean="0"/>
              <a:t>Method </a:t>
            </a:r>
            <a:r>
              <a:rPr lang="en-US" b="1" dirty="0" err="1" smtClean="0"/>
              <a:t>enqueue</a:t>
            </a:r>
            <a:r>
              <a:rPr lang="en-US" b="1" dirty="0" smtClean="0"/>
              <a:t> </a:t>
            </a:r>
            <a:r>
              <a:rPr lang="en-US" b="1" dirty="0"/>
              <a:t>places the new element in a link node at the end of the linked list (i.e</a:t>
            </a:r>
            <a:r>
              <a:rPr lang="en-US" b="1" dirty="0" smtClean="0"/>
              <a:t>., </a:t>
            </a:r>
            <a:r>
              <a:rPr lang="en-US" dirty="0" smtClean="0"/>
              <a:t>the </a:t>
            </a:r>
            <a:r>
              <a:rPr lang="en-US" dirty="0"/>
              <a:t>node that </a:t>
            </a:r>
            <a:r>
              <a:rPr lang="en-US" b="1" dirty="0"/>
              <a:t>rear points to) and then advances rear to point to the new </a:t>
            </a:r>
            <a:r>
              <a:rPr lang="en-US" b="1" dirty="0" smtClean="0"/>
              <a:t>link </a:t>
            </a:r>
            <a:r>
              <a:rPr lang="en-US" dirty="0" smtClean="0"/>
              <a:t>node</a:t>
            </a:r>
            <a:r>
              <a:rPr lang="en-US" dirty="0"/>
              <a:t>. </a:t>
            </a:r>
            <a:endParaRPr lang="en-US" dirty="0" smtClean="0"/>
          </a:p>
          <a:p>
            <a:r>
              <a:rPr lang="en-US" dirty="0" smtClean="0"/>
              <a:t>Method </a:t>
            </a:r>
            <a:r>
              <a:rPr lang="en-US" b="1" dirty="0" err="1"/>
              <a:t>dequeue</a:t>
            </a:r>
            <a:r>
              <a:rPr lang="en-US" b="1" dirty="0"/>
              <a:t> removes and returns the first element of the list.</a:t>
            </a:r>
            <a:endParaRPr lang="en-US" dirty="0"/>
          </a:p>
        </p:txBody>
      </p:sp>
      <p:sp>
        <p:nvSpPr>
          <p:cNvPr id="5" name="Slide Number Placeholder 4"/>
          <p:cNvSpPr>
            <a:spLocks noGrp="1"/>
          </p:cNvSpPr>
          <p:nvPr>
            <p:ph type="sldNum" sz="quarter" idx="12"/>
          </p:nvPr>
        </p:nvSpPr>
        <p:spPr/>
        <p:txBody>
          <a:bodyPr/>
          <a:lstStyle/>
          <a:p>
            <a:fld id="{5657E917-6D97-4FA4-9E27-606C7A8A3676}" type="slidenum">
              <a:rPr lang="en-US" smtClean="0"/>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Linked List Implementation of Queue </a:t>
            </a:r>
            <a:endParaRPr lang="en-US" dirty="0"/>
          </a:p>
        </p:txBody>
      </p:sp>
      <p:sp>
        <p:nvSpPr>
          <p:cNvPr id="3" name="Content Placeholder 2"/>
          <p:cNvSpPr>
            <a:spLocks noGrp="1"/>
          </p:cNvSpPr>
          <p:nvPr>
            <p:ph idx="1"/>
          </p:nvPr>
        </p:nvSpPr>
        <p:spPr>
          <a:xfrm>
            <a:off x="457200" y="1600200"/>
            <a:ext cx="8229600" cy="1371599"/>
          </a:xfrm>
        </p:spPr>
        <p:txBody>
          <a:bodyPr>
            <a:normAutofit/>
          </a:bodyPr>
          <a:lstStyle/>
          <a:p>
            <a:r>
              <a:rPr lang="en-US" dirty="0" smtClean="0"/>
              <a:t>There is a small mistake in clear()</a:t>
            </a:r>
          </a:p>
          <a:p>
            <a:r>
              <a:rPr lang="en-US" dirty="0" smtClean="0"/>
              <a:t>rear = front =&gt; rear = front-next</a:t>
            </a: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691093610"/>
              </p:ext>
            </p:extLst>
          </p:nvPr>
        </p:nvGraphicFramePr>
        <p:xfrm>
          <a:off x="3629025" y="3062288"/>
          <a:ext cx="1885950" cy="733425"/>
        </p:xfrm>
        <a:graphic>
          <a:graphicData uri="http://schemas.openxmlformats.org/presentationml/2006/ole">
            <mc:AlternateContent xmlns:mc="http://schemas.openxmlformats.org/markup-compatibility/2006">
              <mc:Choice xmlns:v="urn:schemas-microsoft-com:vml" Requires="v">
                <p:oleObj spid="_x0000_s3089" name="Packager Shell Object" showAsIcon="1" r:id="rId3" imgW="1886400" imgH="732960" progId="Package">
                  <p:embed/>
                </p:oleObj>
              </mc:Choice>
              <mc:Fallback>
                <p:oleObj name="Packager Shell Object" showAsIcon="1" r:id="rId3" imgW="1886400" imgH="732960" progId="Package">
                  <p:embed/>
                  <p:pic>
                    <p:nvPicPr>
                      <p:cNvPr id="0" name="Picture 2"/>
                      <p:cNvPicPr>
                        <a:picLocks noChangeAspect="1" noChangeArrowheads="1"/>
                      </p:cNvPicPr>
                      <p:nvPr/>
                    </p:nvPicPr>
                    <p:blipFill>
                      <a:blip r:embed="rId4"/>
                      <a:srcRect/>
                      <a:stretch>
                        <a:fillRect/>
                      </a:stretch>
                    </p:blipFill>
                    <p:spPr bwMode="auto">
                      <a:xfrm>
                        <a:off x="3629025" y="3062288"/>
                        <a:ext cx="1885950" cy="733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Slide Number Placeholder 5"/>
          <p:cNvSpPr>
            <a:spLocks noGrp="1"/>
          </p:cNvSpPr>
          <p:nvPr>
            <p:ph type="sldNum" sz="quarter" idx="12"/>
          </p:nvPr>
        </p:nvSpPr>
        <p:spPr/>
        <p:txBody>
          <a:bodyPr/>
          <a:lstStyle/>
          <a:p>
            <a:fld id="{5657E917-6D97-4FA4-9E27-606C7A8A3676}" type="slidenum">
              <a:rPr lang="en-US" smtClean="0"/>
              <a:pPr/>
              <a:t>24</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926</TotalTime>
  <Words>1267</Words>
  <Application>Microsoft Office PowerPoint</Application>
  <PresentationFormat>On-screen Show (4:3)</PresentationFormat>
  <Paragraphs>352</Paragraphs>
  <Slides>24</Slides>
  <Notes>11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32" baseType="lpstr">
      <vt:lpstr>Arial</vt:lpstr>
      <vt:lpstr>Calibri</vt:lpstr>
      <vt:lpstr>Consolas</vt:lpstr>
      <vt:lpstr>Helvetica</vt:lpstr>
      <vt:lpstr>Symbol</vt:lpstr>
      <vt:lpstr>Times New Roman</vt:lpstr>
      <vt:lpstr>Office Theme</vt:lpstr>
      <vt:lpstr>Packager Shell Object</vt:lpstr>
      <vt:lpstr>CSE 203: Data Structures</vt:lpstr>
      <vt:lpstr>Queues</vt:lpstr>
      <vt:lpstr>Abstract Queue</vt:lpstr>
      <vt:lpstr>Abstract Queue</vt:lpstr>
      <vt:lpstr>Queue ADT in C++</vt:lpstr>
      <vt:lpstr>Array Based Implementation</vt:lpstr>
      <vt:lpstr>Array Based Implementation</vt:lpstr>
      <vt:lpstr>Array Based Implementation</vt:lpstr>
      <vt:lpstr>PowerPoint Presentation</vt:lpstr>
      <vt:lpstr>Array Based Implementation</vt:lpstr>
      <vt:lpstr>Array Based Implementation</vt:lpstr>
      <vt:lpstr>Solution: Queue Implementation (1)</vt:lpstr>
      <vt:lpstr>Performance</vt:lpstr>
      <vt:lpstr>Drifting Queue Problem</vt:lpstr>
      <vt:lpstr>Solution to Drifting Queue Problem: Implementation (2)</vt:lpstr>
      <vt:lpstr>Solution to Drifting Queue Problem: Implementation (2)</vt:lpstr>
      <vt:lpstr>Implementation</vt:lpstr>
      <vt:lpstr>One Subtle Issue</vt:lpstr>
      <vt:lpstr>A strange proof</vt:lpstr>
      <vt:lpstr>Two Solutions</vt:lpstr>
      <vt:lpstr>PowerPoint Presentation</vt:lpstr>
      <vt:lpstr>Array implementation of Queue</vt:lpstr>
      <vt:lpstr>Linked List Implementation of Queue</vt:lpstr>
      <vt:lpstr>Linked List Implementation of Queue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203: Data Structures</dc:title>
  <dc:creator>User</dc:creator>
  <cp:lastModifiedBy>user</cp:lastModifiedBy>
  <cp:revision>61</cp:revision>
  <dcterms:created xsi:type="dcterms:W3CDTF">2016-03-11T11:41:07Z</dcterms:created>
  <dcterms:modified xsi:type="dcterms:W3CDTF">2021-11-28T09:34:15Z</dcterms:modified>
</cp:coreProperties>
</file>