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audio1.bin" ContentType="audio/unknown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audio2.bin" ContentType="audio/unknown"/>
  <Override PartName="/ppt/media/audio3.bin" ContentType="audio/unknown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audio4.bin" ContentType="audio/unknown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43"/>
  </p:notesMasterIdLst>
  <p:handoutMasterIdLst>
    <p:handoutMasterId r:id="rId44"/>
  </p:handout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5" r:id="rId39"/>
    <p:sldId id="444" r:id="rId40"/>
    <p:sldId id="446" r:id="rId41"/>
    <p:sldId id="394" r:id="rId4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76514" autoAdjust="0"/>
  </p:normalViewPr>
  <p:slideViewPr>
    <p:cSldViewPr snapToGrid="0">
      <p:cViewPr varScale="1">
        <p:scale>
          <a:sx n="48" d="100"/>
          <a:sy n="48" d="100"/>
        </p:scale>
        <p:origin x="10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11/29/2022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43900" cy="7508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416050"/>
            <a:ext cx="4095750" cy="1736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29150" y="1416050"/>
            <a:ext cx="4095750" cy="792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29150" y="2360613"/>
            <a:ext cx="4095750" cy="792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553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Binary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239000" y="6553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91288A9-10A2-4603-BFB5-D95911B5EE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11/29/2022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/>
              <a:t>CSE 205: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/>
              <a:t>Dr. </a:t>
            </a:r>
            <a:r>
              <a:rPr lang="en-US" sz="2400" dirty="0" err="1"/>
              <a:t>Tanzima</a:t>
            </a:r>
            <a:r>
              <a:rPr lang="en-US" sz="2400" dirty="0"/>
              <a:t> </a:t>
            </a:r>
            <a:r>
              <a:rPr lang="en-US" sz="2400" dirty="0" err="1"/>
              <a:t>Hashem</a:t>
            </a:r>
            <a:endParaRPr lang="en-US" sz="2400" dirty="0"/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CSE, BUET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Consists of </a:t>
            </a:r>
            <a:r>
              <a:rPr lang="en-AU" b="1" dirty="0"/>
              <a:t>TWO Things:</a:t>
            </a:r>
          </a:p>
          <a:p>
            <a:pPr lvl="1"/>
            <a:r>
              <a:rPr lang="en-AU" dirty="0"/>
              <a:t>A </a:t>
            </a:r>
            <a:r>
              <a:rPr lang="en-AU" b="1" dirty="0"/>
              <a:t>BASE or RADIX Value</a:t>
            </a:r>
          </a:p>
          <a:p>
            <a:pPr lvl="1"/>
            <a:r>
              <a:rPr lang="en-AU" dirty="0"/>
              <a:t>A </a:t>
            </a:r>
            <a:r>
              <a:rPr lang="en-AU" b="1" dirty="0"/>
              <a:t>SET of DIGITS</a:t>
            </a:r>
          </a:p>
          <a:p>
            <a:pPr lvl="2"/>
            <a:r>
              <a:rPr lang="en-AU" i="1" dirty="0"/>
              <a:t> Digits are symbols representing all values </a:t>
            </a:r>
            <a:r>
              <a:rPr lang="en-AU" b="1" i="1" dirty="0"/>
              <a:t>less  than the radix value.</a:t>
            </a:r>
          </a:p>
          <a:p>
            <a:r>
              <a:rPr lang="en-AU" dirty="0"/>
              <a:t>Example is the Common Decimal System:</a:t>
            </a:r>
          </a:p>
          <a:p>
            <a:pPr lvl="1"/>
            <a:r>
              <a:rPr lang="en-AU" dirty="0"/>
              <a:t>RADIX (BASE) = 10</a:t>
            </a:r>
          </a:p>
          <a:p>
            <a:pPr lvl="1"/>
            <a:r>
              <a:rPr lang="nn-NO" dirty="0"/>
              <a:t>Digit Set = {0, 1, 2, 3, 4, 5, 6, 7, 8, 9}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Consider: 5032.21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Other Notation: (5032.21)</a:t>
            </a:r>
            <a:r>
              <a:rPr lang="en-AU" baseline="-25000" dirty="0"/>
              <a:t>10</a:t>
            </a:r>
          </a:p>
          <a:p>
            <a:endParaRPr lang="en-AU" baseline="-25000" dirty="0"/>
          </a:p>
          <a:p>
            <a:r>
              <a:rPr lang="de-DE" dirty="0">
                <a:solidFill>
                  <a:srgbClr val="000000"/>
                </a:solidFill>
              </a:rPr>
              <a:t>In gene</a:t>
            </a:r>
            <a:r>
              <a:rPr lang="de-DE" dirty="0">
                <a:solidFill>
                  <a:srgbClr val="000000"/>
                </a:solidFill>
                <a:latin typeface="Arial" charset="0"/>
                <a:sym typeface="Arial" charset="0"/>
              </a:rPr>
              <a:t>r</a:t>
            </a:r>
            <a:r>
              <a:rPr lang="de-DE" dirty="0">
                <a:solidFill>
                  <a:srgbClr val="000000"/>
                </a:solidFill>
              </a:rPr>
              <a:t>al, a number expressed in a base-</a:t>
            </a:r>
            <a:r>
              <a:rPr lang="de-DE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 </a:t>
            </a:r>
            <a:r>
              <a:rPr lang="de-DE" dirty="0">
                <a:solidFill>
                  <a:srgbClr val="000000"/>
                </a:solidFill>
              </a:rPr>
              <a:t>system has coefficien</a:t>
            </a:r>
            <a:r>
              <a:rPr lang="de-DE" dirty="0">
                <a:solidFill>
                  <a:srgbClr val="000000"/>
                </a:solidFill>
                <a:latin typeface="Arial" charset="0"/>
                <a:sym typeface="Arial" charset="0"/>
              </a:rPr>
              <a:t>t</a:t>
            </a:r>
            <a:r>
              <a:rPr lang="de-DE" dirty="0">
                <a:solidFill>
                  <a:srgbClr val="000000"/>
                </a:solidFill>
              </a:rPr>
              <a:t>s multiplied by powers of</a:t>
            </a:r>
            <a:r>
              <a:rPr lang="de-DE" i="1" dirty="0">
                <a:solidFill>
                  <a:srgbClr val="000000"/>
                </a:solidFill>
                <a:sym typeface="TimesNewRomanPS-ItalicMT" pitchFamily="39" charset="-78"/>
              </a:rPr>
              <a:t> </a:t>
            </a:r>
            <a:r>
              <a:rPr lang="de-DE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dirty="0">
                <a:solidFill>
                  <a:srgbClr val="000000"/>
                </a:solidFill>
              </a:rPr>
              <a:t>:</a:t>
            </a:r>
          </a:p>
          <a:p>
            <a:endParaRPr lang="en-AU" baseline="-25000" dirty="0"/>
          </a:p>
          <a:p>
            <a:endParaRPr lang="en-US" baseline="-25000" dirty="0"/>
          </a:p>
        </p:txBody>
      </p:sp>
      <p:sp>
        <p:nvSpPr>
          <p:cNvPr id="7" name="Text Box 115"/>
          <p:cNvSpPr txBox="1">
            <a:spLocks/>
          </p:cNvSpPr>
          <p:nvPr/>
        </p:nvSpPr>
        <p:spPr bwMode="auto">
          <a:xfrm>
            <a:off x="838200" y="5030787"/>
            <a:ext cx="2000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8" name="Text Box 116"/>
          <p:cNvSpPr txBox="1">
            <a:spLocks/>
          </p:cNvSpPr>
          <p:nvPr/>
        </p:nvSpPr>
        <p:spPr bwMode="auto">
          <a:xfrm>
            <a:off x="1016000" y="5233987"/>
            <a:ext cx="69596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tabLst>
                <a:tab pos="844550" algn="l"/>
                <a:tab pos="2649538" algn="l"/>
                <a:tab pos="3495675" algn="l"/>
                <a:tab pos="3995738" algn="l"/>
                <a:tab pos="5003800" algn="l"/>
                <a:tab pos="6627813" algn="l"/>
              </a:tabLst>
            </a:pPr>
            <a:r>
              <a:rPr lang="de-DE" sz="19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n	n</a:t>
            </a:r>
            <a:r>
              <a:rPr lang="de-DE" sz="1900" dirty="0">
                <a:solidFill>
                  <a:srgbClr val="000000"/>
                </a:solidFill>
              </a:rPr>
              <a:t>-1	1	0	-1	-2	-</a:t>
            </a:r>
            <a:r>
              <a:rPr lang="de-DE" sz="19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m</a:t>
            </a:r>
          </a:p>
        </p:txBody>
      </p:sp>
      <p:sp>
        <p:nvSpPr>
          <p:cNvPr id="9" name="Text Box 117"/>
          <p:cNvSpPr txBox="1">
            <a:spLocks/>
          </p:cNvSpPr>
          <p:nvPr/>
        </p:nvSpPr>
        <p:spPr bwMode="auto">
          <a:xfrm>
            <a:off x="1136650" y="5024437"/>
            <a:ext cx="7508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tabLst>
                <a:tab pos="346075" algn="l"/>
              </a:tabLst>
            </a:pPr>
            <a:r>
              <a:rPr lang="de-DE" sz="28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</a:t>
            </a:r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sz="2800" dirty="0">
                <a:solidFill>
                  <a:srgbClr val="000000"/>
                </a:solidFill>
              </a:rPr>
              <a:t>	+</a:t>
            </a:r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10" name="Text Box 118"/>
          <p:cNvSpPr txBox="1">
            <a:spLocks/>
          </p:cNvSpPr>
          <p:nvPr/>
        </p:nvSpPr>
        <p:spPr bwMode="auto">
          <a:xfrm>
            <a:off x="1363662" y="5043487"/>
            <a:ext cx="136525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19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n</a:t>
            </a:r>
          </a:p>
        </p:txBody>
      </p:sp>
      <p:sp>
        <p:nvSpPr>
          <p:cNvPr id="11" name="Text Box 119"/>
          <p:cNvSpPr txBox="1">
            <a:spLocks/>
          </p:cNvSpPr>
          <p:nvPr/>
        </p:nvSpPr>
        <p:spPr bwMode="auto">
          <a:xfrm>
            <a:off x="2184400" y="5024437"/>
            <a:ext cx="151447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tabLst>
                <a:tab pos="547688" algn="l"/>
              </a:tabLst>
            </a:pPr>
            <a:r>
              <a:rPr lang="de-DE" sz="28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</a:t>
            </a:r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sz="2800" dirty="0">
                <a:solidFill>
                  <a:srgbClr val="000000"/>
                </a:solidFill>
              </a:rPr>
              <a:t>	+…+</a:t>
            </a:r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12" name="Text Box 120"/>
          <p:cNvSpPr txBox="1">
            <a:spLocks/>
          </p:cNvSpPr>
          <p:nvPr/>
        </p:nvSpPr>
        <p:spPr bwMode="auto">
          <a:xfrm>
            <a:off x="2411412" y="5043487"/>
            <a:ext cx="33813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19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n</a:t>
            </a:r>
            <a:r>
              <a:rPr lang="de-DE" sz="1900" dirty="0">
                <a:solidFill>
                  <a:srgbClr val="000000"/>
                </a:solidFill>
              </a:rPr>
              <a:t>-1</a:t>
            </a:r>
          </a:p>
        </p:txBody>
      </p:sp>
      <p:sp>
        <p:nvSpPr>
          <p:cNvPr id="13" name="Text Box 121"/>
          <p:cNvSpPr txBox="1">
            <a:spLocks/>
          </p:cNvSpPr>
          <p:nvPr/>
        </p:nvSpPr>
        <p:spPr bwMode="auto">
          <a:xfrm>
            <a:off x="3787775" y="5024437"/>
            <a:ext cx="75088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tabLst>
                <a:tab pos="346075" algn="l"/>
              </a:tabLst>
            </a:pPr>
            <a:r>
              <a:rPr lang="de-DE" sz="2800" dirty="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</a:t>
            </a:r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sz="2800" dirty="0">
                <a:solidFill>
                  <a:srgbClr val="000000"/>
                </a:solidFill>
              </a:rPr>
              <a:t>	+</a:t>
            </a:r>
            <a:r>
              <a:rPr lang="de-DE" sz="2800" i="1" dirty="0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14" name="Text Box 122"/>
          <p:cNvSpPr txBox="1">
            <a:spLocks/>
          </p:cNvSpPr>
          <p:nvPr/>
        </p:nvSpPr>
        <p:spPr bwMode="auto">
          <a:xfrm>
            <a:off x="4014787" y="5043487"/>
            <a:ext cx="122238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19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5" name="Text Box 123"/>
          <p:cNvSpPr txBox="1">
            <a:spLocks/>
          </p:cNvSpPr>
          <p:nvPr/>
        </p:nvSpPr>
        <p:spPr bwMode="auto">
          <a:xfrm>
            <a:off x="4635500" y="5030787"/>
            <a:ext cx="4016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2800">
                <a:solidFill>
                  <a:srgbClr val="000000"/>
                </a:solidFill>
              </a:rPr>
              <a:t>+</a:t>
            </a:r>
            <a:r>
              <a:rPr lang="de-DE" sz="28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16" name="Text Box 124"/>
          <p:cNvSpPr txBox="1">
            <a:spLocks/>
          </p:cNvSpPr>
          <p:nvPr/>
        </p:nvSpPr>
        <p:spPr bwMode="auto">
          <a:xfrm>
            <a:off x="5214937" y="5024437"/>
            <a:ext cx="833438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tabLst>
                <a:tab pos="427038" algn="l"/>
              </a:tabLst>
            </a:pPr>
            <a:r>
              <a:rPr lang="de-DE" sz="280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</a:t>
            </a:r>
            <a:r>
              <a:rPr lang="de-DE" sz="28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sz="2800">
                <a:solidFill>
                  <a:srgbClr val="000000"/>
                </a:solidFill>
              </a:rPr>
              <a:t>	+</a:t>
            </a:r>
            <a:r>
              <a:rPr lang="de-DE" sz="28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17" name="Text Box 125"/>
          <p:cNvSpPr txBox="1">
            <a:spLocks/>
          </p:cNvSpPr>
          <p:nvPr/>
        </p:nvSpPr>
        <p:spPr bwMode="auto">
          <a:xfrm>
            <a:off x="5441950" y="5043487"/>
            <a:ext cx="2032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19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-</a:t>
            </a:r>
            <a:r>
              <a:rPr lang="de-DE" sz="19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8" name="Text Box 126"/>
          <p:cNvSpPr txBox="1">
            <a:spLocks/>
          </p:cNvSpPr>
          <p:nvPr/>
        </p:nvSpPr>
        <p:spPr bwMode="auto">
          <a:xfrm>
            <a:off x="6221412" y="5024437"/>
            <a:ext cx="14525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tabLst>
                <a:tab pos="487363" algn="l"/>
              </a:tabLst>
            </a:pPr>
            <a:r>
              <a:rPr lang="de-DE" sz="280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</a:t>
            </a:r>
            <a:r>
              <a:rPr lang="de-DE" sz="28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  <a:r>
              <a:rPr lang="de-DE" sz="2800">
                <a:solidFill>
                  <a:srgbClr val="000000"/>
                </a:solidFill>
              </a:rPr>
              <a:t>	+…+</a:t>
            </a:r>
            <a:r>
              <a:rPr lang="de-DE" sz="28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a</a:t>
            </a:r>
          </a:p>
        </p:txBody>
      </p:sp>
      <p:sp>
        <p:nvSpPr>
          <p:cNvPr id="19" name="Text Box 127"/>
          <p:cNvSpPr txBox="1">
            <a:spLocks/>
          </p:cNvSpPr>
          <p:nvPr/>
        </p:nvSpPr>
        <p:spPr bwMode="auto">
          <a:xfrm>
            <a:off x="6450012" y="5043487"/>
            <a:ext cx="2032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1900">
                <a:solidFill>
                  <a:srgbClr val="000000"/>
                </a:solidFill>
              </a:rPr>
              <a:t>-2</a:t>
            </a:r>
          </a:p>
        </p:txBody>
      </p:sp>
      <p:sp>
        <p:nvSpPr>
          <p:cNvPr id="20" name="Text Box 128"/>
          <p:cNvSpPr txBox="1">
            <a:spLocks/>
          </p:cNvSpPr>
          <p:nvPr/>
        </p:nvSpPr>
        <p:spPr bwMode="auto">
          <a:xfrm>
            <a:off x="7899400" y="5024437"/>
            <a:ext cx="20955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2800">
                <a:solidFill>
                  <a:srgbClr val="000000"/>
                </a:solidFill>
                <a:latin typeface="Symbol" pitchFamily="18" charset="2"/>
                <a:sym typeface="Symbol" pitchFamily="18" charset="2"/>
              </a:rPr>
              <a:t></a:t>
            </a:r>
            <a:r>
              <a:rPr lang="de-DE" sz="28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r</a:t>
            </a:r>
          </a:p>
        </p:txBody>
      </p:sp>
      <p:sp>
        <p:nvSpPr>
          <p:cNvPr id="21" name="Text Box 129"/>
          <p:cNvSpPr txBox="1">
            <a:spLocks/>
          </p:cNvSpPr>
          <p:nvPr/>
        </p:nvSpPr>
        <p:spPr bwMode="auto">
          <a:xfrm>
            <a:off x="8128000" y="5043487"/>
            <a:ext cx="284162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de-DE" sz="1900">
                <a:solidFill>
                  <a:srgbClr val="000000"/>
                </a:solidFill>
              </a:rPr>
              <a:t>-</a:t>
            </a:r>
            <a:r>
              <a:rPr lang="de-DE" sz="1900" i="1">
                <a:solidFill>
                  <a:srgbClr val="000000"/>
                </a:solidFill>
                <a:latin typeface="TimesNewRomanPS-ItalicMT" pitchFamily="39" charset="-78"/>
                <a:sym typeface="TimesNewRomanPS-ItalicMT" pitchFamily="39" charset="-78"/>
              </a:rPr>
              <a:t>m</a:t>
            </a:r>
          </a:p>
        </p:txBody>
      </p:sp>
      <p:sp>
        <p:nvSpPr>
          <p:cNvPr id="23" name="Line 134"/>
          <p:cNvSpPr>
            <a:spLocks noChangeShapeType="1"/>
          </p:cNvSpPr>
          <p:nvPr/>
        </p:nvSpPr>
        <p:spPr bwMode="auto">
          <a:xfrm>
            <a:off x="9302750" y="3436937"/>
            <a:ext cx="0" cy="4092575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wrap="none" lIns="91430" tIns="45715" rIns="91430" bIns="45715"/>
          <a:lstStyle/>
          <a:p>
            <a:endParaRPr lang="en-AU"/>
          </a:p>
        </p:txBody>
      </p:sp>
      <p:sp>
        <p:nvSpPr>
          <p:cNvPr id="24" name="Slide Number Placeholder 3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024937" y="7864475"/>
            <a:ext cx="365125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E808127-5DE8-4315-AF3F-5FCAFEA9BFC4}" type="slidenum">
              <a:rPr lang="de-DE" smtClean="0"/>
              <a:pPr/>
              <a:t>3</a:t>
            </a:fld>
            <a:endParaRPr lang="de-DE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617439" y="2133600"/>
          <a:ext cx="7916961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0" imgH="431640" progId="Equation.3">
                  <p:embed/>
                </p:oleObj>
              </mc:Choice>
              <mc:Fallback>
                <p:oleObj name="Equation" r:id="rId3" imgW="45720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39" y="2133600"/>
                        <a:ext cx="7916961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Binary</a:t>
            </a:r>
          </a:p>
          <a:p>
            <a:pPr lvl="1"/>
            <a:r>
              <a:rPr lang="en-AU" dirty="0"/>
              <a:t>Radix = (2)</a:t>
            </a:r>
            <a:r>
              <a:rPr lang="en-AU" baseline="-25000" dirty="0"/>
              <a:t>10</a:t>
            </a:r>
          </a:p>
          <a:p>
            <a:pPr lvl="1"/>
            <a:r>
              <a:rPr lang="en-AU" dirty="0"/>
              <a:t>Digit Set = {0,1}</a:t>
            </a:r>
          </a:p>
          <a:p>
            <a:r>
              <a:rPr lang="en-AU" dirty="0"/>
              <a:t>Octal</a:t>
            </a:r>
          </a:p>
          <a:p>
            <a:pPr lvl="1"/>
            <a:r>
              <a:rPr lang="en-AU" dirty="0"/>
              <a:t>Radix = (8)</a:t>
            </a:r>
            <a:r>
              <a:rPr lang="en-AU" baseline="-25000" dirty="0"/>
              <a:t>10</a:t>
            </a:r>
          </a:p>
          <a:p>
            <a:pPr lvl="1"/>
            <a:r>
              <a:rPr lang="en-AU" dirty="0"/>
              <a:t>Digit Set = {0,1,2,3,4,5,6,7}</a:t>
            </a:r>
          </a:p>
          <a:p>
            <a:r>
              <a:rPr lang="en-AU" dirty="0"/>
              <a:t>Hexadecimal</a:t>
            </a:r>
          </a:p>
          <a:p>
            <a:pPr lvl="1"/>
            <a:r>
              <a:rPr lang="en-AU" dirty="0"/>
              <a:t>Radix = (16)</a:t>
            </a:r>
            <a:r>
              <a:rPr lang="en-AU" baseline="-25000" dirty="0"/>
              <a:t>10</a:t>
            </a:r>
          </a:p>
          <a:p>
            <a:pPr lvl="1"/>
            <a:r>
              <a:rPr lang="en-AU" dirty="0"/>
              <a:t>Digit Set = {0,1,2,3,4,5,6,7,8,9,</a:t>
            </a:r>
            <a:r>
              <a:rPr lang="en-AU" i="1" dirty="0"/>
              <a:t>A,B,C,D,E,F}</a:t>
            </a:r>
            <a:endParaRPr lang="en-US" baseline="-2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Binary</a:t>
            </a:r>
          </a:p>
          <a:p>
            <a:pPr lvl="1"/>
            <a:r>
              <a:rPr lang="en-AU" dirty="0"/>
              <a:t>Radix = (2)</a:t>
            </a:r>
            <a:r>
              <a:rPr lang="en-AU" baseline="-25000" dirty="0"/>
              <a:t>10</a:t>
            </a:r>
          </a:p>
          <a:p>
            <a:pPr lvl="1"/>
            <a:r>
              <a:rPr lang="en-AU" dirty="0"/>
              <a:t>Digit Set = {0,1}</a:t>
            </a:r>
          </a:p>
          <a:p>
            <a:pPr lvl="1"/>
            <a:endParaRPr lang="en-AU" dirty="0"/>
          </a:p>
          <a:p>
            <a:r>
              <a:rPr lang="en-AU" dirty="0"/>
              <a:t>Binary to Decimal: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62000" y="4004268"/>
          <a:ext cx="7772400" cy="1024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66800" imgH="457200" progId="Equation.3">
                  <p:embed/>
                </p:oleObj>
              </mc:Choice>
              <mc:Fallback>
                <p:oleObj name="Equation" r:id="rId3" imgW="34668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004268"/>
                        <a:ext cx="7772400" cy="10249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Decimal: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0110 </a:t>
            </a:r>
            <a:r>
              <a:rPr lang="en-US" baseline="-25000" dirty="0"/>
              <a:t>2</a:t>
            </a:r>
            <a:r>
              <a:rPr lang="en-US" dirty="0"/>
              <a:t> = ? </a:t>
            </a:r>
            <a:endParaRPr lang="en-US" baseline="-25000" dirty="0"/>
          </a:p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11010</a:t>
            </a:r>
            <a:r>
              <a:rPr lang="en-US" baseline="-25000" dirty="0"/>
              <a:t> 2</a:t>
            </a:r>
            <a:r>
              <a:rPr lang="en-US" dirty="0"/>
              <a:t> = ?  </a:t>
            </a:r>
          </a:p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0110101</a:t>
            </a:r>
            <a:r>
              <a:rPr lang="en-US" baseline="-25000" dirty="0"/>
              <a:t> 2</a:t>
            </a:r>
            <a:r>
              <a:rPr lang="en-US" dirty="0"/>
              <a:t> = ?  </a:t>
            </a:r>
          </a:p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11010011</a:t>
            </a:r>
            <a:r>
              <a:rPr lang="en-US" baseline="-25000" dirty="0"/>
              <a:t> 2</a:t>
            </a:r>
            <a:r>
              <a:rPr lang="en-US" dirty="0"/>
              <a:t> = ? 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417887" y="2622550"/>
            <a:ext cx="10583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26 </a:t>
            </a:r>
            <a:r>
              <a:rPr lang="en-US" sz="3200" baseline="-25000" dirty="0">
                <a:solidFill>
                  <a:srgbClr val="FF0000"/>
                </a:solidFill>
              </a:rPr>
              <a:t>10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405187" y="3606800"/>
            <a:ext cx="15478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53 </a:t>
            </a:r>
            <a:r>
              <a:rPr lang="en-US" sz="3200" baseline="-25000" dirty="0">
                <a:solidFill>
                  <a:srgbClr val="FF0000"/>
                </a:solidFill>
              </a:rPr>
              <a:t>10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29000" y="4673600"/>
            <a:ext cx="1828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211 </a:t>
            </a:r>
            <a:r>
              <a:rPr lang="en-US" sz="3200" baseline="-25000" dirty="0">
                <a:solidFill>
                  <a:srgbClr val="FF0000"/>
                </a:solidFill>
              </a:rPr>
              <a:t>10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405187" y="1524000"/>
            <a:ext cx="83067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6 </a:t>
            </a:r>
            <a:r>
              <a:rPr lang="en-US" sz="3200" baseline="-25000" dirty="0">
                <a:solidFill>
                  <a:srgbClr val="FF0000"/>
                </a:solidFill>
              </a:rPr>
              <a:t>10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Octal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Octal</a:t>
            </a:r>
          </a:p>
          <a:p>
            <a:pPr lvl="1"/>
            <a:r>
              <a:rPr lang="en-AU" dirty="0"/>
              <a:t>Radix = (8)</a:t>
            </a:r>
            <a:r>
              <a:rPr lang="en-AU" baseline="-25000" dirty="0"/>
              <a:t>10</a:t>
            </a:r>
          </a:p>
          <a:p>
            <a:pPr lvl="1"/>
            <a:r>
              <a:rPr lang="en-AU" dirty="0"/>
              <a:t>Digit Set = {0,1,2,3,4,5,6,7}</a:t>
            </a:r>
          </a:p>
          <a:p>
            <a:pPr lvl="1"/>
            <a:endParaRPr lang="en-AU" dirty="0"/>
          </a:p>
          <a:p>
            <a:r>
              <a:rPr lang="en-AU" dirty="0"/>
              <a:t>Octal to Decimal: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98738" y="4003675"/>
          <a:ext cx="40989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457200" progId="Equation.3">
                  <p:embed/>
                </p:oleObj>
              </mc:Choice>
              <mc:Fallback>
                <p:oleObj name="Equation" r:id="rId3" imgW="18288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003675"/>
                        <a:ext cx="4098925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Hexadecimal</a:t>
            </a:r>
          </a:p>
          <a:p>
            <a:pPr lvl="1"/>
            <a:r>
              <a:rPr lang="en-AU" dirty="0"/>
              <a:t>Radix = (16)</a:t>
            </a:r>
            <a:r>
              <a:rPr lang="en-AU" baseline="-25000" dirty="0"/>
              <a:t>10</a:t>
            </a:r>
          </a:p>
          <a:p>
            <a:pPr lvl="1"/>
            <a:r>
              <a:rPr lang="en-AU" dirty="0"/>
              <a:t>Digit Set = {0,1,2,3,4,5,6,7,8,9,</a:t>
            </a:r>
            <a:r>
              <a:rPr lang="en-AU" i="1" dirty="0"/>
              <a:t>A,B,C,D,E,F</a:t>
            </a:r>
            <a:r>
              <a:rPr lang="en-AU" dirty="0"/>
              <a:t>}</a:t>
            </a:r>
            <a:endParaRPr lang="en-US" baseline="-25000" dirty="0"/>
          </a:p>
          <a:p>
            <a:pPr lvl="1"/>
            <a:endParaRPr lang="en-AU" dirty="0"/>
          </a:p>
          <a:p>
            <a:r>
              <a:rPr lang="en-AU" dirty="0"/>
              <a:t>Hexadecimal to Decimal: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98738" y="4003675"/>
          <a:ext cx="40989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457200" progId="Equation.3">
                  <p:embed/>
                </p:oleObj>
              </mc:Choice>
              <mc:Fallback>
                <p:oleObj name="Equation" r:id="rId3" imgW="18288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4003675"/>
                        <a:ext cx="4098925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(</a:t>
            </a:r>
            <a:r>
              <a:rPr lang="en-US" i="1" dirty="0"/>
              <a:t>Integer</a:t>
            </a:r>
            <a:r>
              <a:rPr lang="en-US" dirty="0"/>
              <a:t>) to Binary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568450"/>
            <a:ext cx="8570913" cy="2927350"/>
          </a:xfrm>
        </p:spPr>
        <p:txBody>
          <a:bodyPr/>
          <a:lstStyle/>
          <a:p>
            <a:r>
              <a:rPr lang="en-US" dirty="0"/>
              <a:t>Divide the number by the ‘Base’ (=2)</a:t>
            </a:r>
          </a:p>
          <a:p>
            <a:r>
              <a:rPr lang="en-US" dirty="0"/>
              <a:t>Take the remainder (either 0 or 1) as a coefficient</a:t>
            </a:r>
          </a:p>
          <a:p>
            <a:r>
              <a:rPr lang="en-US" dirty="0"/>
              <a:t>Take the quotient and repeat the division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92163" y="3070225"/>
            <a:ext cx="22590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Example: (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13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sz="2400" b="1" i="0" u="none" baseline="-25000">
                <a:solidFill>
                  <a:srgbClr val="FF6600"/>
                </a:solidFill>
                <a:cs typeface="Times New Roman" pitchFamily="18" charset="0"/>
              </a:rPr>
              <a:t>10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3311525" y="3608388"/>
            <a:ext cx="9540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Quotient</a:t>
            </a:r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4392613" y="3608388"/>
            <a:ext cx="11557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Remainder</a:t>
            </a: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5821363" y="3603625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1631950" y="5443538"/>
            <a:ext cx="595130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13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3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2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1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1101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0601" name="Line 9"/>
          <p:cNvSpPr>
            <a:spLocks noChangeShapeType="1"/>
          </p:cNvSpPr>
          <p:nvPr/>
        </p:nvSpPr>
        <p:spPr bwMode="auto">
          <a:xfrm flipH="1" flipV="1">
            <a:off x="5718175" y="5878513"/>
            <a:ext cx="144463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0602" name="Line 10"/>
          <p:cNvSpPr>
            <a:spLocks noChangeShapeType="1"/>
          </p:cNvSpPr>
          <p:nvPr/>
        </p:nvSpPr>
        <p:spPr bwMode="auto">
          <a:xfrm flipV="1">
            <a:off x="4646613" y="5878513"/>
            <a:ext cx="136525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0603" name="Text Box 11"/>
          <p:cNvSpPr txBox="1">
            <a:spLocks noChangeArrowheads="1"/>
          </p:cNvSpPr>
          <p:nvPr/>
        </p:nvSpPr>
        <p:spPr bwMode="auto">
          <a:xfrm>
            <a:off x="4349750" y="6167438"/>
            <a:ext cx="1944688" cy="331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  <a:defRPr/>
            </a:pPr>
            <a:r>
              <a:rPr lang="en-US" sz="1800" b="1" i="0" u="none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MSB           LSB</a:t>
            </a:r>
          </a:p>
        </p:txBody>
      </p:sp>
      <p:sp>
        <p:nvSpPr>
          <p:cNvPr id="110604" name="Text Box 12"/>
          <p:cNvSpPr txBox="1">
            <a:spLocks noChangeArrowheads="1"/>
          </p:cNvSpPr>
          <p:nvPr/>
        </p:nvSpPr>
        <p:spPr bwMode="auto">
          <a:xfrm>
            <a:off x="2232025" y="3894138"/>
            <a:ext cx="523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13</a:t>
            </a:r>
          </a:p>
        </p:txBody>
      </p:sp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2592388" y="3897313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6</a:t>
            </a:r>
          </a:p>
        </p:txBody>
      </p:sp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4751388" y="3897313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0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2232025" y="4254500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6</a:t>
            </a:r>
          </a:p>
        </p:txBody>
      </p:sp>
      <p:sp>
        <p:nvSpPr>
          <p:cNvPr id="110608" name="Text Box 16"/>
          <p:cNvSpPr txBox="1">
            <a:spLocks noChangeArrowheads="1"/>
          </p:cNvSpPr>
          <p:nvPr/>
        </p:nvSpPr>
        <p:spPr bwMode="auto">
          <a:xfrm>
            <a:off x="2592388" y="4257675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3</a:t>
            </a:r>
          </a:p>
        </p:txBody>
      </p:sp>
      <p:sp>
        <p:nvSpPr>
          <p:cNvPr id="110609" name="Text Box 17"/>
          <p:cNvSpPr txBox="1">
            <a:spLocks noChangeArrowheads="1"/>
          </p:cNvSpPr>
          <p:nvPr/>
        </p:nvSpPr>
        <p:spPr bwMode="auto">
          <a:xfrm>
            <a:off x="4751388" y="4257675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1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0610" name="Text Box 18"/>
          <p:cNvSpPr txBox="1">
            <a:spLocks noChangeArrowheads="1"/>
          </p:cNvSpPr>
          <p:nvPr/>
        </p:nvSpPr>
        <p:spPr bwMode="auto">
          <a:xfrm>
            <a:off x="2232025" y="4614863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3</a:t>
            </a:r>
          </a:p>
        </p:txBody>
      </p:sp>
      <p:sp>
        <p:nvSpPr>
          <p:cNvPr id="110611" name="Text Box 19"/>
          <p:cNvSpPr txBox="1">
            <a:spLocks noChangeArrowheads="1"/>
          </p:cNvSpPr>
          <p:nvPr/>
        </p:nvSpPr>
        <p:spPr bwMode="auto">
          <a:xfrm>
            <a:off x="2592388" y="4618038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2" name="Text Box 20"/>
          <p:cNvSpPr txBox="1">
            <a:spLocks noChangeArrowheads="1"/>
          </p:cNvSpPr>
          <p:nvPr/>
        </p:nvSpPr>
        <p:spPr bwMode="auto">
          <a:xfrm>
            <a:off x="4751388" y="4618038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3" name="Text Box 21"/>
          <p:cNvSpPr txBox="1">
            <a:spLocks noChangeArrowheads="1"/>
          </p:cNvSpPr>
          <p:nvPr/>
        </p:nvSpPr>
        <p:spPr bwMode="auto">
          <a:xfrm>
            <a:off x="2232025" y="4967288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1</a:t>
            </a:r>
          </a:p>
        </p:txBody>
      </p:sp>
      <p:sp>
        <p:nvSpPr>
          <p:cNvPr id="110614" name="Text Box 22"/>
          <p:cNvSpPr txBox="1">
            <a:spLocks noChangeArrowheads="1"/>
          </p:cNvSpPr>
          <p:nvPr/>
        </p:nvSpPr>
        <p:spPr bwMode="auto">
          <a:xfrm>
            <a:off x="2592388" y="4970463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/ 2 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0615" name="Text Box 23"/>
          <p:cNvSpPr txBox="1">
            <a:spLocks noChangeArrowheads="1"/>
          </p:cNvSpPr>
          <p:nvPr/>
        </p:nvSpPr>
        <p:spPr bwMode="auto">
          <a:xfrm>
            <a:off x="4751388" y="4970463"/>
            <a:ext cx="20685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21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81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0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81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0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792 L 3.33333E-6 -3.7037E-7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0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7" grpId="0"/>
      <p:bldP spid="110598" grpId="0"/>
      <p:bldP spid="110599" grpId="0"/>
      <p:bldP spid="110600" grpId="0"/>
      <p:bldP spid="110601" grpId="0" animBg="1"/>
      <p:bldP spid="110602" grpId="0" animBg="1"/>
      <p:bldP spid="110603" grpId="0"/>
      <p:bldP spid="110604" grpId="0"/>
      <p:bldP spid="110604" grpId="1"/>
      <p:bldP spid="110605" grpId="0"/>
      <p:bldP spid="110606" grpId="0"/>
      <p:bldP spid="110607" grpId="0"/>
      <p:bldP spid="110607" grpId="1"/>
      <p:bldP spid="110608" grpId="0"/>
      <p:bldP spid="110609" grpId="0"/>
      <p:bldP spid="110610" grpId="0"/>
      <p:bldP spid="110610" grpId="1"/>
      <p:bldP spid="110611" grpId="0"/>
      <p:bldP spid="110612" grpId="0"/>
      <p:bldP spid="110613" grpId="0"/>
      <p:bldP spid="110613" grpId="1"/>
      <p:bldP spid="110614" grpId="0"/>
      <p:bldP spid="110615" grpId="0"/>
      <p:bldP spid="1106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binary: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13</a:t>
            </a:r>
            <a:r>
              <a:rPr lang="en-US" baseline="-25000" dirty="0"/>
              <a:t>10</a:t>
            </a:r>
            <a:r>
              <a:rPr lang="en-US" dirty="0"/>
              <a:t> = ? </a:t>
            </a:r>
            <a:endParaRPr lang="en-US" baseline="-25000" dirty="0"/>
          </a:p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22</a:t>
            </a:r>
            <a:r>
              <a:rPr lang="en-US" baseline="-25000" dirty="0"/>
              <a:t>10</a:t>
            </a:r>
            <a:r>
              <a:rPr lang="en-US" dirty="0"/>
              <a:t> = ?  </a:t>
            </a:r>
          </a:p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43</a:t>
            </a:r>
            <a:r>
              <a:rPr lang="en-US" baseline="-25000" dirty="0"/>
              <a:t>10</a:t>
            </a:r>
            <a:r>
              <a:rPr lang="en-US" dirty="0"/>
              <a:t> = ?  </a:t>
            </a:r>
          </a:p>
          <a:p>
            <a:pPr marL="514350" indent="-514350">
              <a:spcAft>
                <a:spcPts val="4800"/>
              </a:spcAft>
              <a:buFont typeface="Arial" charset="0"/>
              <a:buAutoNum type="alphaLcParenR"/>
            </a:pPr>
            <a:r>
              <a:rPr lang="en-US" dirty="0"/>
              <a:t>158</a:t>
            </a:r>
            <a:r>
              <a:rPr lang="en-US" baseline="-25000" dirty="0"/>
              <a:t>10</a:t>
            </a:r>
            <a:r>
              <a:rPr lang="en-US" dirty="0"/>
              <a:t> = ?</a:t>
            </a:r>
            <a:endParaRPr lang="en-US" baseline="-250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503487" y="2622550"/>
            <a:ext cx="20447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1 0 1 1 0 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490787" y="3606800"/>
            <a:ext cx="23860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1 0 1 0 1 1 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514600" y="4673600"/>
            <a:ext cx="30686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1 0 0 1 1 1 1 0 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490787" y="1524000"/>
            <a:ext cx="17033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1 1 0 1 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(</a:t>
            </a:r>
            <a:r>
              <a:rPr lang="en-US" i="1" dirty="0"/>
              <a:t>Fraction</a:t>
            </a:r>
            <a:r>
              <a:rPr lang="en-US" dirty="0"/>
              <a:t>) to Binary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568450"/>
            <a:ext cx="8570913" cy="2927350"/>
          </a:xfrm>
        </p:spPr>
        <p:txBody>
          <a:bodyPr/>
          <a:lstStyle/>
          <a:p>
            <a:r>
              <a:rPr lang="en-US" dirty="0"/>
              <a:t>Multiply the number by the ‘Base’ (=2)</a:t>
            </a:r>
          </a:p>
          <a:p>
            <a:r>
              <a:rPr lang="en-US" dirty="0"/>
              <a:t>Take the integer (either 0 or 1) as a coefficient</a:t>
            </a:r>
          </a:p>
          <a:p>
            <a:r>
              <a:rPr lang="en-US" dirty="0"/>
              <a:t>Take the resultant fraction and repeat the division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792163" y="3070225"/>
            <a:ext cx="2682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Example: (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0.625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sz="2400" b="1" i="0" u="none" baseline="-25000">
                <a:solidFill>
                  <a:srgbClr val="FF6600"/>
                </a:solidFill>
                <a:cs typeface="Times New Roman" pitchFamily="18" charset="0"/>
              </a:rPr>
              <a:t>10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3851275" y="3608388"/>
            <a:ext cx="8175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Integer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4751388" y="3608388"/>
            <a:ext cx="9302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Fraction</a:t>
            </a:r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5821363" y="3603625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1520825" y="5229225"/>
            <a:ext cx="660148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0.625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= (0.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-1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-2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-3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  <a:r>
              <a:rPr lang="en-US" sz="2400" b="1" i="0" u="none" baseline="-25000" dirty="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0.101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1625" name="Line 9"/>
          <p:cNvSpPr>
            <a:spLocks noChangeShapeType="1"/>
          </p:cNvSpPr>
          <p:nvPr/>
        </p:nvSpPr>
        <p:spPr bwMode="auto">
          <a:xfrm flipH="1" flipV="1">
            <a:off x="6075363" y="5661025"/>
            <a:ext cx="144462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1626" name="Line 10"/>
          <p:cNvSpPr>
            <a:spLocks noChangeShapeType="1"/>
          </p:cNvSpPr>
          <p:nvPr/>
        </p:nvSpPr>
        <p:spPr bwMode="auto">
          <a:xfrm flipV="1">
            <a:off x="5207000" y="5648325"/>
            <a:ext cx="73025" cy="2889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</p:spPr>
        <p:txBody>
          <a:bodyPr anchorCtr="1">
            <a:spAutoFit/>
          </a:bodyPr>
          <a:lstStyle/>
          <a:p>
            <a:endParaRPr lang="en-US"/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4706938" y="5949950"/>
            <a:ext cx="1944687" cy="3317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  <a:defRPr/>
            </a:pPr>
            <a:r>
              <a:rPr lang="en-US" sz="1800" b="1" i="0" u="none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MSB           LSB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2232025" y="3894138"/>
            <a:ext cx="9477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0.625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3132138" y="3897313"/>
            <a:ext cx="23860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* 2 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   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.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  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25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2232025" y="4254500"/>
            <a:ext cx="777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0.25</a:t>
            </a:r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3132138" y="4257675"/>
            <a:ext cx="3770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2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5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2232025" y="4614863"/>
            <a:ext cx="6080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0.5</a:t>
            </a: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3132138" y="4618038"/>
            <a:ext cx="3770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* 2 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   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.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  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 dirty="0">
                <a:solidFill>
                  <a:schemeClr val="accent2"/>
                </a:solidFill>
                <a:cs typeface="Times New Roman" pitchFamily="18" charset="0"/>
              </a:rPr>
              <a:t> 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  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-3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111634" name="Line 18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6105525" y="3878263"/>
            <a:ext cx="9763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-1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1</a:t>
            </a:r>
            <a:endParaRPr lang="en-US" sz="2400" b="1" i="0" u="none" dirty="0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12" dur="500" fill="hold"/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81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61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78 -0.04861 L -1.94444E-6 -3.7037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61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15 -0.04884 L 3.05556E-6 0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0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2" grpId="0"/>
      <p:bldP spid="111623" grpId="0"/>
      <p:bldP spid="111624" grpId="0"/>
      <p:bldP spid="111625" grpId="0" animBg="1"/>
      <p:bldP spid="111626" grpId="0" animBg="1"/>
      <p:bldP spid="111627" grpId="0"/>
      <p:bldP spid="111628" grpId="0"/>
      <p:bldP spid="111628" grpId="1"/>
      <p:bldP spid="111629" grpId="0"/>
      <p:bldP spid="111630" grpId="0"/>
      <p:bldP spid="111630" grpId="1"/>
      <p:bldP spid="111631" grpId="0"/>
      <p:bldP spid="111632" grpId="0"/>
      <p:bldP spid="111632" grpId="1"/>
      <p:bldP spid="111633" grpId="0"/>
      <p:bldP spid="111634" grpId="0" animBg="1"/>
      <p:bldP spid="1116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Decimal to Octal Conversion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792163" y="1509712"/>
            <a:ext cx="24288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Example: (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175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sz="2400" b="1" i="0" u="none" baseline="-25000" dirty="0">
                <a:solidFill>
                  <a:srgbClr val="FF6600"/>
                </a:solidFill>
                <a:cs typeface="Times New Roman" pitchFamily="18" charset="0"/>
              </a:rPr>
              <a:t>10</a:t>
            </a: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3492500" y="2047875"/>
            <a:ext cx="9540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Quotient</a:t>
            </a: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4573588" y="2047875"/>
            <a:ext cx="11557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Remainder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6002338" y="2043112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951163" y="3632200"/>
            <a:ext cx="46450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175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2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1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257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2232025" y="2333625"/>
            <a:ext cx="6937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175</a:t>
            </a: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2838450" y="2336800"/>
            <a:ext cx="1543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21</a:t>
            </a:r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4975225" y="2336800"/>
            <a:ext cx="20685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0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7</a:t>
            </a:r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2232025" y="2693987"/>
            <a:ext cx="6080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21</a:t>
            </a: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2838450" y="2697162"/>
            <a:ext cx="1373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4975225" y="2697162"/>
            <a:ext cx="20685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1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232025" y="3054350"/>
            <a:ext cx="438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 2</a:t>
            </a:r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2838450" y="3057525"/>
            <a:ext cx="13731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/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112656" name="Text Box 16"/>
          <p:cNvSpPr txBox="1">
            <a:spLocks noChangeArrowheads="1"/>
          </p:cNvSpPr>
          <p:nvPr/>
        </p:nvSpPr>
        <p:spPr bwMode="auto">
          <a:xfrm>
            <a:off x="4975225" y="3057525"/>
            <a:ext cx="20685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        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2657" name="Line 17"/>
          <p:cNvSpPr>
            <a:spLocks noChangeShapeType="1"/>
          </p:cNvSpPr>
          <p:nvPr/>
        </p:nvSpPr>
        <p:spPr bwMode="auto">
          <a:xfrm>
            <a:off x="8532813" y="7162800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658" name="Text Box 18"/>
          <p:cNvSpPr txBox="1">
            <a:spLocks noChangeArrowheads="1"/>
          </p:cNvSpPr>
          <p:nvPr/>
        </p:nvSpPr>
        <p:spPr bwMode="auto">
          <a:xfrm>
            <a:off x="792163" y="4173537"/>
            <a:ext cx="28527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Example: (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0.3125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sz="2400" b="1" i="0" u="none" baseline="-25000">
                <a:solidFill>
                  <a:srgbClr val="FF6600"/>
                </a:solidFill>
                <a:cs typeface="Times New Roman" pitchFamily="18" charset="0"/>
              </a:rPr>
              <a:t>10</a:t>
            </a:r>
          </a:p>
        </p:txBody>
      </p:sp>
      <p:sp>
        <p:nvSpPr>
          <p:cNvPr id="112659" name="Text Box 19"/>
          <p:cNvSpPr txBox="1">
            <a:spLocks noChangeArrowheads="1"/>
          </p:cNvSpPr>
          <p:nvPr/>
        </p:nvSpPr>
        <p:spPr bwMode="auto">
          <a:xfrm>
            <a:off x="3987800" y="4711700"/>
            <a:ext cx="8175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Integer</a:t>
            </a:r>
          </a:p>
        </p:txBody>
      </p:sp>
      <p:sp>
        <p:nvSpPr>
          <p:cNvPr id="112660" name="Text Box 20"/>
          <p:cNvSpPr txBox="1">
            <a:spLocks noChangeArrowheads="1"/>
          </p:cNvSpPr>
          <p:nvPr/>
        </p:nvSpPr>
        <p:spPr bwMode="auto">
          <a:xfrm>
            <a:off x="4887913" y="4711700"/>
            <a:ext cx="93027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Fraction</a:t>
            </a:r>
          </a:p>
        </p:txBody>
      </p:sp>
      <p:sp>
        <p:nvSpPr>
          <p:cNvPr id="112661" name="Text Box 21"/>
          <p:cNvSpPr txBox="1">
            <a:spLocks noChangeArrowheads="1"/>
          </p:cNvSpPr>
          <p:nvPr/>
        </p:nvSpPr>
        <p:spPr bwMode="auto">
          <a:xfrm>
            <a:off x="5957888" y="4706937"/>
            <a:ext cx="11350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b="1" i="0" u="none">
                <a:solidFill>
                  <a:schemeClr val="tx1"/>
                </a:solidFill>
                <a:cs typeface="Times New Roman" pitchFamily="18" charset="0"/>
              </a:rPr>
              <a:t>Coefficient</a:t>
            </a:r>
          </a:p>
        </p:txBody>
      </p:sp>
      <p:sp>
        <p:nvSpPr>
          <p:cNvPr id="112662" name="Text Box 22"/>
          <p:cNvSpPr txBox="1">
            <a:spLocks noChangeArrowheads="1"/>
          </p:cNvSpPr>
          <p:nvPr/>
        </p:nvSpPr>
        <p:spPr bwMode="auto">
          <a:xfrm>
            <a:off x="2187575" y="6010275"/>
            <a:ext cx="54451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Answer:      (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0.3125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10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(0.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-1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-2 </a:t>
            </a:r>
            <a:r>
              <a:rPr lang="en-US" sz="20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a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-3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  <a:r>
              <a:rPr lang="en-US" sz="2000" b="1" i="0" u="none" baseline="-25000">
                <a:solidFill>
                  <a:schemeClr val="accent2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= (</a:t>
            </a:r>
            <a:r>
              <a:rPr lang="en-US" sz="20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0.24</a:t>
            </a:r>
            <a:r>
              <a:rPr lang="en-US" sz="20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0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sp>
        <p:nvSpPr>
          <p:cNvPr id="112663" name="Text Box 23"/>
          <p:cNvSpPr txBox="1">
            <a:spLocks noChangeArrowheads="1"/>
          </p:cNvSpPr>
          <p:nvPr/>
        </p:nvSpPr>
        <p:spPr bwMode="auto">
          <a:xfrm>
            <a:off x="2232025" y="4997450"/>
            <a:ext cx="1117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0.3125</a:t>
            </a:r>
          </a:p>
        </p:txBody>
      </p:sp>
      <p:sp>
        <p:nvSpPr>
          <p:cNvPr id="112664" name="Text Box 24"/>
          <p:cNvSpPr txBox="1">
            <a:spLocks noChangeArrowheads="1"/>
          </p:cNvSpPr>
          <p:nvPr/>
        </p:nvSpPr>
        <p:spPr bwMode="auto">
          <a:xfrm>
            <a:off x="3265488" y="5000625"/>
            <a:ext cx="2216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* 8 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    </a:t>
            </a:r>
            <a:r>
              <a:rPr lang="en-US" sz="24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.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   </a:t>
            </a:r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5</a:t>
            </a:r>
          </a:p>
        </p:txBody>
      </p:sp>
      <p:sp>
        <p:nvSpPr>
          <p:cNvPr id="112665" name="Text Box 25"/>
          <p:cNvSpPr txBox="1">
            <a:spLocks noChangeArrowheads="1"/>
          </p:cNvSpPr>
          <p:nvPr/>
        </p:nvSpPr>
        <p:spPr bwMode="auto">
          <a:xfrm>
            <a:off x="2232025" y="5357812"/>
            <a:ext cx="6080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0.5</a:t>
            </a:r>
          </a:p>
        </p:txBody>
      </p:sp>
      <p:sp>
        <p:nvSpPr>
          <p:cNvPr id="112666" name="Text Box 26"/>
          <p:cNvSpPr txBox="1">
            <a:spLocks noChangeArrowheads="1"/>
          </p:cNvSpPr>
          <p:nvPr/>
        </p:nvSpPr>
        <p:spPr bwMode="auto">
          <a:xfrm>
            <a:off x="3246438" y="5360987"/>
            <a:ext cx="401103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* 8 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4    </a:t>
            </a:r>
            <a:r>
              <a:rPr lang="en-US" sz="24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.    </a:t>
            </a:r>
            <a:r>
              <a:rPr lang="en-US" sz="24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      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-2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 dirty="0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 dirty="0">
                <a:solidFill>
                  <a:schemeClr val="accent1"/>
                </a:solidFill>
                <a:latin typeface="Arial" charset="0"/>
                <a:cs typeface="Arial" charset="0"/>
              </a:rPr>
              <a:t>4</a:t>
            </a:r>
          </a:p>
        </p:txBody>
      </p:sp>
      <p:sp>
        <p:nvSpPr>
          <p:cNvPr id="112667" name="Text Box 27"/>
          <p:cNvSpPr txBox="1">
            <a:spLocks noChangeArrowheads="1"/>
          </p:cNvSpPr>
          <p:nvPr/>
        </p:nvSpPr>
        <p:spPr bwMode="auto">
          <a:xfrm>
            <a:off x="6037263" y="4994275"/>
            <a:ext cx="9763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sz="2400" b="1" i="0" u="none" baseline="-25000">
                <a:solidFill>
                  <a:schemeClr val="tx1"/>
                </a:solidFill>
                <a:cs typeface="Times New Roman" pitchFamily="18" charset="0"/>
              </a:rPr>
              <a:t>-1 </a:t>
            </a: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sz="2400" b="1" i="0" u="none">
                <a:solidFill>
                  <a:schemeClr val="accent1"/>
                </a:solidFill>
                <a:cs typeface="Times New Roman" pitchFamily="18" charset="0"/>
              </a:rPr>
              <a:t> </a:t>
            </a:r>
            <a:r>
              <a:rPr lang="en-US" sz="2400" b="1" i="0" u="none">
                <a:solidFill>
                  <a:schemeClr val="accent1"/>
                </a:solidFill>
                <a:latin typeface="Arial" charset="0"/>
                <a:cs typeface="Arial" charset="0"/>
              </a:rPr>
              <a:t>2</a:t>
            </a:r>
            <a:endParaRPr lang="en-US" sz="2400" b="1" i="0" u="none">
              <a:solidFill>
                <a:schemeClr val="accent2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885 L 3.33333E-6 4.81481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0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-0.04907 L 3.33333E-6 -1.48148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0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0.10509 L 8.05556E-6 -3.7037E-6 " pathEditMode="relative" ptsTypes="AA">
                                      <p:cBhvr>
                                        <p:cTn id="58" dur="500" fill="hold"/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78 -0.04861 L -1.94444E-6 -3.7037E-6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46" grpId="0"/>
      <p:bldP spid="112647" grpId="0"/>
      <p:bldP spid="112648" grpId="0"/>
      <p:bldP spid="112648" grpId="1"/>
      <p:bldP spid="112649" grpId="0"/>
      <p:bldP spid="112650" grpId="0"/>
      <p:bldP spid="112651" grpId="0"/>
      <p:bldP spid="112651" grpId="1"/>
      <p:bldP spid="112652" grpId="0"/>
      <p:bldP spid="112653" grpId="0"/>
      <p:bldP spid="112654" grpId="0"/>
      <p:bldP spid="112654" grpId="1"/>
      <p:bldP spid="112655" grpId="0"/>
      <p:bldP spid="112656" grpId="0"/>
      <p:bldP spid="112657" grpId="0" animBg="1"/>
      <p:bldP spid="112658" grpId="0"/>
      <p:bldP spid="112659" grpId="0"/>
      <p:bldP spid="112660" grpId="0"/>
      <p:bldP spid="112661" grpId="0"/>
      <p:bldP spid="112662" grpId="0"/>
      <p:bldP spid="112663" grpId="0"/>
      <p:bldP spid="112663" grpId="1"/>
      <p:bldP spid="112664" grpId="0"/>
      <p:bldP spid="112665" grpId="0"/>
      <p:bldP spid="112665" grpId="1"/>
      <p:bldP spid="112666" grpId="0"/>
      <p:bldP spid="1126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</a:t>
            </a:r>
            <a:r>
              <a:rPr lang="en-US">
                <a:latin typeface="Arial" charset="0"/>
                <a:cs typeface="Arial" charset="0"/>
              </a:rPr>
              <a:t>−</a:t>
            </a:r>
            <a:r>
              <a:rPr lang="en-US"/>
              <a:t> Octal Conversion</a:t>
            </a:r>
          </a:p>
        </p:txBody>
      </p:sp>
      <p:sp>
        <p:nvSpPr>
          <p:cNvPr id="113667" name="Line 3"/>
          <p:cNvSpPr>
            <a:spLocks noChangeShapeType="1"/>
          </p:cNvSpPr>
          <p:nvPr/>
        </p:nvSpPr>
        <p:spPr bwMode="auto">
          <a:xfrm>
            <a:off x="8532813" y="6416675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7975" y="1411287"/>
            <a:ext cx="5407025" cy="1236236"/>
          </a:xfrm>
          <a:noFill/>
        </p:spPr>
        <p:txBody>
          <a:bodyPr wrap="square" lIns="63500" tIns="25400" rIns="63500" bIns="25400">
            <a:spAutoFit/>
          </a:bodyPr>
          <a:lstStyle/>
          <a:p>
            <a:r>
              <a:rPr lang="en-US" dirty="0"/>
              <a:t>8 = 2</a:t>
            </a:r>
            <a:r>
              <a:rPr lang="en-US" baseline="30000" dirty="0"/>
              <a:t>3</a:t>
            </a:r>
          </a:p>
          <a:p>
            <a:r>
              <a:rPr lang="en-US" dirty="0"/>
              <a:t>Each group of 3 bits represents an octal digit</a:t>
            </a:r>
          </a:p>
        </p:txBody>
      </p:sp>
      <p:graphicFrame>
        <p:nvGraphicFramePr>
          <p:cNvPr id="113669" name="Group 5"/>
          <p:cNvGraphicFramePr>
            <a:graphicFrameLocks noGrp="1"/>
          </p:cNvGraphicFramePr>
          <p:nvPr/>
        </p:nvGraphicFramePr>
        <p:xfrm>
          <a:off x="5791200" y="1524000"/>
          <a:ext cx="2328863" cy="4572000"/>
        </p:xfrm>
        <a:graphic>
          <a:graphicData uri="http://schemas.openxmlformats.org/drawingml/2006/table">
            <a:tbl>
              <a:tblPr/>
              <a:tblGrid>
                <a:gridCol w="116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Octal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3701" name="Text Box 37"/>
          <p:cNvSpPr txBox="1">
            <a:spLocks noChangeArrowheads="1"/>
          </p:cNvSpPr>
          <p:nvPr/>
        </p:nvSpPr>
        <p:spPr bwMode="auto">
          <a:xfrm>
            <a:off x="611188" y="2743200"/>
            <a:ext cx="14366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Example:</a:t>
            </a:r>
            <a:endParaRPr lang="en-US" sz="2400" b="1" i="0" u="none" baseline="-25000" dirty="0">
              <a:solidFill>
                <a:srgbClr val="FF6600"/>
              </a:solidFill>
              <a:cs typeface="Times New Roman" pitchFamily="18" charset="0"/>
            </a:endParaRPr>
          </a:p>
        </p:txBody>
      </p:sp>
      <p:sp>
        <p:nvSpPr>
          <p:cNvPr id="113702" name="Text Box 38"/>
          <p:cNvSpPr txBox="1">
            <a:spLocks noChangeArrowheads="1"/>
          </p:cNvSpPr>
          <p:nvPr/>
        </p:nvSpPr>
        <p:spPr bwMode="auto">
          <a:xfrm>
            <a:off x="2232025" y="3282950"/>
            <a:ext cx="312737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(  </a:t>
            </a:r>
            <a:r>
              <a:rPr lang="en-US" sz="28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1 0 1 1 0 . 0 1  </a:t>
            </a:r>
            <a:r>
              <a:rPr lang="en-US" sz="28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3703" name="Text Box 39"/>
          <p:cNvSpPr txBox="1">
            <a:spLocks noChangeArrowheads="1"/>
          </p:cNvSpPr>
          <p:nvPr/>
        </p:nvSpPr>
        <p:spPr bwMode="auto">
          <a:xfrm>
            <a:off x="2232025" y="4724400"/>
            <a:ext cx="312102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(  </a:t>
            </a:r>
            <a:r>
              <a:rPr lang="en-US" sz="28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2       6    .   2   </a:t>
            </a:r>
            <a:r>
              <a:rPr lang="en-US" sz="28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287838" y="3824287"/>
            <a:ext cx="719137" cy="898525"/>
            <a:chOff x="2572" y="2614"/>
            <a:chExt cx="453" cy="566"/>
          </a:xfrm>
        </p:grpSpPr>
        <p:sp>
          <p:nvSpPr>
            <p:cNvPr id="23605" name="AutoShape 41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3606" name="AutoShape 42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3607" name="AutoShape 43"/>
            <p:cNvCxnSpPr>
              <a:cxnSpLocks noChangeShapeType="1"/>
              <a:stCxn id="23605" idx="1"/>
              <a:endCxn id="23606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3313113" y="3824287"/>
            <a:ext cx="719137" cy="898525"/>
            <a:chOff x="2572" y="2614"/>
            <a:chExt cx="453" cy="566"/>
          </a:xfrm>
        </p:grpSpPr>
        <p:sp>
          <p:nvSpPr>
            <p:cNvPr id="23602" name="AutoShape 45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3603" name="AutoShape 46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3604" name="AutoShape 47"/>
            <p:cNvCxnSpPr>
              <a:cxnSpLocks noChangeShapeType="1"/>
              <a:stCxn id="23602" idx="1"/>
              <a:endCxn id="23603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413000" y="3825875"/>
            <a:ext cx="719138" cy="898525"/>
            <a:chOff x="2572" y="2614"/>
            <a:chExt cx="453" cy="566"/>
          </a:xfrm>
        </p:grpSpPr>
        <p:sp>
          <p:nvSpPr>
            <p:cNvPr id="23599" name="AutoShape 49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3600" name="AutoShape 50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3601" name="AutoShape 51"/>
            <p:cNvCxnSpPr>
              <a:cxnSpLocks noChangeShapeType="1"/>
              <a:stCxn id="23599" idx="1"/>
              <a:endCxn id="23600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3716" name="Line 52"/>
          <p:cNvSpPr>
            <a:spLocks noChangeShapeType="1"/>
          </p:cNvSpPr>
          <p:nvPr/>
        </p:nvSpPr>
        <p:spPr bwMode="auto">
          <a:xfrm flipH="1">
            <a:off x="2540000" y="3051175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3717" name="Line 53"/>
          <p:cNvSpPr>
            <a:spLocks noChangeShapeType="1"/>
          </p:cNvSpPr>
          <p:nvPr/>
        </p:nvSpPr>
        <p:spPr bwMode="auto">
          <a:xfrm>
            <a:off x="4546600" y="3000375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3718" name="Text Box 54"/>
          <p:cNvSpPr txBox="1">
            <a:spLocks noChangeArrowheads="1"/>
          </p:cNvSpPr>
          <p:nvPr/>
        </p:nvSpPr>
        <p:spPr bwMode="auto">
          <a:xfrm>
            <a:off x="2951163" y="2743200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3719" name="Text Box 55"/>
          <p:cNvSpPr txBox="1">
            <a:spLocks noChangeArrowheads="1"/>
          </p:cNvSpPr>
          <p:nvPr/>
        </p:nvSpPr>
        <p:spPr bwMode="auto">
          <a:xfrm>
            <a:off x="611188" y="5526087"/>
            <a:ext cx="518001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Works </a:t>
            </a:r>
            <a:r>
              <a:rPr lang="en-US" sz="2400" b="1" i="0" u="none" dirty="0">
                <a:solidFill>
                  <a:srgbClr val="FF9900"/>
                </a:solidFill>
                <a:cs typeface="Times New Roman" pitchFamily="18" charset="0"/>
              </a:rPr>
              <a:t>both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ways (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Binary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Octal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&amp;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Octal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Binary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sz="2400" b="1" i="0" u="none" baseline="-250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nimBg="1"/>
      <p:bldP spid="113701" grpId="0"/>
      <p:bldP spid="113702" grpId="0"/>
      <p:bldP spid="113703" grpId="0"/>
      <p:bldP spid="113716" grpId="0" animBg="1"/>
      <p:bldP spid="113717" grpId="0" animBg="1"/>
      <p:bldP spid="113718" grpId="0"/>
      <p:bldP spid="1137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</a:t>
            </a:r>
            <a:r>
              <a:rPr lang="en-US">
                <a:latin typeface="Arial" charset="0"/>
                <a:cs typeface="Arial" charset="0"/>
              </a:rPr>
              <a:t>−</a:t>
            </a:r>
            <a:r>
              <a:rPr lang="en-US"/>
              <a:t> Hexadecimal Conversion</a:t>
            </a:r>
          </a:p>
        </p:txBody>
      </p:sp>
      <p:sp>
        <p:nvSpPr>
          <p:cNvPr id="114691" name="Line 3"/>
          <p:cNvSpPr>
            <a:spLocks noChangeShapeType="1"/>
          </p:cNvSpPr>
          <p:nvPr/>
        </p:nvSpPr>
        <p:spPr bwMode="auto">
          <a:xfrm>
            <a:off x="8532813" y="6645275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7975" y="1468437"/>
            <a:ext cx="5402263" cy="2570163"/>
          </a:xfrm>
          <a:noFill/>
        </p:spPr>
        <p:txBody>
          <a:bodyPr lIns="63500" tIns="25400" rIns="63500" bIns="25400">
            <a:spAutoFit/>
          </a:bodyPr>
          <a:lstStyle/>
          <a:p>
            <a:r>
              <a:rPr lang="en-US" dirty="0"/>
              <a:t>16 = 2</a:t>
            </a:r>
            <a:r>
              <a:rPr lang="en-US" baseline="30000" dirty="0"/>
              <a:t>4</a:t>
            </a:r>
          </a:p>
          <a:p>
            <a:r>
              <a:rPr lang="en-US" dirty="0"/>
              <a:t>Each group of 4 bits represents a hexadecimal digit</a:t>
            </a:r>
          </a:p>
        </p:txBody>
      </p:sp>
      <p:graphicFrame>
        <p:nvGraphicFramePr>
          <p:cNvPr id="114693" name="Group 5"/>
          <p:cNvGraphicFramePr>
            <a:graphicFrameLocks noGrp="1"/>
          </p:cNvGraphicFramePr>
          <p:nvPr/>
        </p:nvGraphicFramePr>
        <p:xfrm>
          <a:off x="5791200" y="1600200"/>
          <a:ext cx="2328863" cy="4710117"/>
        </p:xfrm>
        <a:graphic>
          <a:graphicData uri="http://schemas.openxmlformats.org/drawingml/2006/table">
            <a:tbl>
              <a:tblPr/>
              <a:tblGrid>
                <a:gridCol w="116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Hex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Binary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0 1 1 1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1 0 0 0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1 0 0 1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1 0 1 0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1 0 1 1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1 1 0 0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1 1 0 1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1 1 1 0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FF"/>
                        </a:buClr>
                        <a:buSzPct val="9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1 1 1 1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14749" name="Text Box 61"/>
          <p:cNvSpPr txBox="1">
            <a:spLocks noChangeArrowheads="1"/>
          </p:cNvSpPr>
          <p:nvPr/>
        </p:nvSpPr>
        <p:spPr bwMode="auto">
          <a:xfrm>
            <a:off x="611188" y="2971800"/>
            <a:ext cx="14366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Example:</a:t>
            </a:r>
            <a:endParaRPr lang="en-US" sz="2400" b="1" i="0" u="none" baseline="-25000" dirty="0">
              <a:solidFill>
                <a:srgbClr val="FF6600"/>
              </a:solidFill>
              <a:cs typeface="Times New Roman" pitchFamily="18" charset="0"/>
            </a:endParaRPr>
          </a:p>
        </p:txBody>
      </p:sp>
      <p:sp>
        <p:nvSpPr>
          <p:cNvPr id="114750" name="Text Box 62"/>
          <p:cNvSpPr txBox="1">
            <a:spLocks noChangeArrowheads="1"/>
          </p:cNvSpPr>
          <p:nvPr/>
        </p:nvSpPr>
        <p:spPr bwMode="auto">
          <a:xfrm>
            <a:off x="2232025" y="3511550"/>
            <a:ext cx="312737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1 0 1 1 0 . 0 1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4751" name="Text Box 63"/>
          <p:cNvSpPr txBox="1">
            <a:spLocks noChangeArrowheads="1"/>
          </p:cNvSpPr>
          <p:nvPr/>
        </p:nvSpPr>
        <p:spPr bwMode="auto">
          <a:xfrm>
            <a:off x="2232025" y="4953000"/>
            <a:ext cx="3255963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1      6      .   4 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16</a:t>
            </a: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4287838" y="4052887"/>
            <a:ext cx="719137" cy="898525"/>
            <a:chOff x="2572" y="2614"/>
            <a:chExt cx="453" cy="566"/>
          </a:xfrm>
        </p:grpSpPr>
        <p:sp>
          <p:nvSpPr>
            <p:cNvPr id="24653" name="AutoShape 65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4654" name="AutoShape 66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4655" name="AutoShape 67"/>
            <p:cNvCxnSpPr>
              <a:cxnSpLocks noChangeShapeType="1"/>
              <a:stCxn id="24653" idx="1"/>
              <a:endCxn id="24654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2951163" y="4052887"/>
            <a:ext cx="1081087" cy="898525"/>
            <a:chOff x="2572" y="2614"/>
            <a:chExt cx="453" cy="566"/>
          </a:xfrm>
        </p:grpSpPr>
        <p:sp>
          <p:nvSpPr>
            <p:cNvPr id="24650" name="AutoShape 69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4651" name="AutoShape 70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4652" name="AutoShape 71"/>
            <p:cNvCxnSpPr>
              <a:cxnSpLocks noChangeShapeType="1"/>
              <a:stCxn id="24650" idx="1"/>
              <a:endCxn id="24651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2411413" y="4052887"/>
            <a:ext cx="430212" cy="898525"/>
            <a:chOff x="2572" y="2614"/>
            <a:chExt cx="453" cy="566"/>
          </a:xfrm>
        </p:grpSpPr>
        <p:sp>
          <p:nvSpPr>
            <p:cNvPr id="24647" name="AutoShape 73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4648" name="AutoShape 74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4649" name="AutoShape 75"/>
            <p:cNvCxnSpPr>
              <a:cxnSpLocks noChangeShapeType="1"/>
              <a:stCxn id="24647" idx="1"/>
              <a:endCxn id="24648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4764" name="Line 76"/>
          <p:cNvSpPr>
            <a:spLocks noChangeShapeType="1"/>
          </p:cNvSpPr>
          <p:nvPr/>
        </p:nvSpPr>
        <p:spPr bwMode="auto">
          <a:xfrm flipH="1">
            <a:off x="2540000" y="3279775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4765" name="Line 77"/>
          <p:cNvSpPr>
            <a:spLocks noChangeShapeType="1"/>
          </p:cNvSpPr>
          <p:nvPr/>
        </p:nvSpPr>
        <p:spPr bwMode="auto">
          <a:xfrm>
            <a:off x="4546600" y="3228975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4766" name="Text Box 78"/>
          <p:cNvSpPr txBox="1">
            <a:spLocks noChangeArrowheads="1"/>
          </p:cNvSpPr>
          <p:nvPr/>
        </p:nvSpPr>
        <p:spPr bwMode="auto">
          <a:xfrm>
            <a:off x="2951163" y="2971800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 dirty="0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4767" name="Text Box 79"/>
          <p:cNvSpPr txBox="1">
            <a:spLocks noChangeArrowheads="1"/>
          </p:cNvSpPr>
          <p:nvPr/>
        </p:nvSpPr>
        <p:spPr bwMode="auto">
          <a:xfrm>
            <a:off x="611188" y="5754687"/>
            <a:ext cx="5180012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Works </a:t>
            </a:r>
            <a:r>
              <a:rPr lang="en-US" sz="2400" b="1" i="0" u="none" dirty="0">
                <a:solidFill>
                  <a:srgbClr val="FF9900"/>
                </a:solidFill>
                <a:cs typeface="Times New Roman" pitchFamily="18" charset="0"/>
              </a:rPr>
              <a:t>both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ways (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Binary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Hex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&amp;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Hex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Binary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sz="2400" b="1" i="0" u="none" baseline="-25000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nimBg="1"/>
      <p:bldP spid="114749" grpId="0"/>
      <p:bldP spid="114750" grpId="0"/>
      <p:bldP spid="114751" grpId="0"/>
      <p:bldP spid="114764" grpId="0" animBg="1"/>
      <p:bldP spid="114765" grpId="0" animBg="1"/>
      <p:bldP spid="114766" grpId="0"/>
      <p:bldP spid="1147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Octal </a:t>
            </a:r>
            <a:r>
              <a:rPr lang="en-US">
                <a:latin typeface="Arial" charset="0"/>
                <a:cs typeface="Arial" charset="0"/>
              </a:rPr>
              <a:t>−</a:t>
            </a:r>
            <a:r>
              <a:rPr lang="en-US"/>
              <a:t> Hexadecimal Conversion</a:t>
            </a:r>
          </a:p>
        </p:txBody>
      </p:sp>
      <p:sp>
        <p:nvSpPr>
          <p:cNvPr id="115715" name="Line 3"/>
          <p:cNvSpPr>
            <a:spLocks noChangeShapeType="1"/>
          </p:cNvSpPr>
          <p:nvPr/>
        </p:nvSpPr>
        <p:spPr bwMode="auto">
          <a:xfrm>
            <a:off x="8532813" y="6705600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31800" y="1433512"/>
            <a:ext cx="8461375" cy="477838"/>
          </a:xfrm>
          <a:noFill/>
        </p:spPr>
        <p:txBody>
          <a:bodyPr lIns="63500" tIns="25400" rIns="63500" bIns="25400">
            <a:spAutoFit/>
          </a:bodyPr>
          <a:lstStyle/>
          <a:p>
            <a:r>
              <a:rPr lang="en-US" dirty="0"/>
              <a:t>Convert to </a:t>
            </a:r>
            <a:r>
              <a:rPr lang="en-US" dirty="0">
                <a:solidFill>
                  <a:srgbClr val="FF9900"/>
                </a:solidFill>
              </a:rPr>
              <a:t>Binary</a:t>
            </a:r>
            <a:r>
              <a:rPr lang="en-US" dirty="0"/>
              <a:t> as an intermediate step</a:t>
            </a:r>
            <a:endParaRPr lang="en-US" baseline="30000" dirty="0"/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611188" y="1973262"/>
            <a:ext cx="14366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Example:</a:t>
            </a:r>
            <a:endParaRPr lang="en-US" sz="2400" b="1" i="0" u="none" baseline="-25000">
              <a:solidFill>
                <a:srgbClr val="FF6600"/>
              </a:solidFill>
              <a:cs typeface="Times New Roman" pitchFamily="18" charset="0"/>
            </a:endParaRP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2590800" y="3571875"/>
            <a:ext cx="3524250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0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1 0 1 1 0 . 0 1 0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2</a:t>
            </a:r>
          </a:p>
        </p:txBody>
      </p:sp>
      <p:sp>
        <p:nvSpPr>
          <p:cNvPr id="115719" name="Text Box 7"/>
          <p:cNvSpPr txBox="1">
            <a:spLocks noChangeArrowheads="1"/>
          </p:cNvSpPr>
          <p:nvPr/>
        </p:nvSpPr>
        <p:spPr bwMode="auto">
          <a:xfrm>
            <a:off x="2771775" y="5013325"/>
            <a:ext cx="3354388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( </a:t>
            </a:r>
            <a:r>
              <a:rPr lang="en-US" sz="2800" b="1" i="0" u="none" dirty="0">
                <a:solidFill>
                  <a:schemeClr val="accent2"/>
                </a:solidFill>
                <a:latin typeface="Arial" charset="0"/>
                <a:cs typeface="Arial" charset="0"/>
              </a:rPr>
              <a:t>1       6     .    4   </a:t>
            </a:r>
            <a:r>
              <a:rPr lang="en-US" sz="2800" b="1" i="0" u="none" dirty="0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 dirty="0">
                <a:solidFill>
                  <a:srgbClr val="FF6600"/>
                </a:solidFill>
                <a:latin typeface="Arial" charset="0"/>
                <a:cs typeface="Arial" charset="0"/>
              </a:rPr>
              <a:t>16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932363" y="4113212"/>
            <a:ext cx="719137" cy="898525"/>
            <a:chOff x="2572" y="2614"/>
            <a:chExt cx="453" cy="566"/>
          </a:xfrm>
        </p:grpSpPr>
        <p:sp>
          <p:nvSpPr>
            <p:cNvPr id="25635" name="AutoShape 9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5636" name="AutoShape 10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5637" name="AutoShape 11"/>
            <p:cNvCxnSpPr>
              <a:cxnSpLocks noChangeShapeType="1"/>
              <a:stCxn id="25635" idx="1"/>
              <a:endCxn id="25636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490913" y="4113212"/>
            <a:ext cx="1081087" cy="898525"/>
            <a:chOff x="2572" y="2614"/>
            <a:chExt cx="453" cy="566"/>
          </a:xfrm>
        </p:grpSpPr>
        <p:sp>
          <p:nvSpPr>
            <p:cNvPr id="25632" name="AutoShape 13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5633" name="AutoShape 14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5634" name="AutoShape 15"/>
            <p:cNvCxnSpPr>
              <a:cxnSpLocks noChangeShapeType="1"/>
              <a:stCxn id="25632" idx="1"/>
              <a:endCxn id="25633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951163" y="4113212"/>
            <a:ext cx="430212" cy="898525"/>
            <a:chOff x="2572" y="2614"/>
            <a:chExt cx="453" cy="566"/>
          </a:xfrm>
        </p:grpSpPr>
        <p:sp>
          <p:nvSpPr>
            <p:cNvPr id="25629" name="AutoShape 17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5630" name="AutoShape 18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5631" name="AutoShape 19"/>
            <p:cNvCxnSpPr>
              <a:cxnSpLocks noChangeShapeType="1"/>
              <a:stCxn id="25629" idx="1"/>
              <a:endCxn id="25630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5732" name="Line 20"/>
          <p:cNvSpPr>
            <a:spLocks noChangeShapeType="1"/>
          </p:cNvSpPr>
          <p:nvPr/>
        </p:nvSpPr>
        <p:spPr bwMode="auto">
          <a:xfrm flipH="1">
            <a:off x="5718175" y="3321050"/>
            <a:ext cx="360363" cy="360362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5733" name="Line 21"/>
          <p:cNvSpPr>
            <a:spLocks noChangeShapeType="1"/>
          </p:cNvSpPr>
          <p:nvPr/>
        </p:nvSpPr>
        <p:spPr bwMode="auto">
          <a:xfrm>
            <a:off x="2476500" y="3335337"/>
            <a:ext cx="360363" cy="360363"/>
          </a:xfrm>
          <a:prstGeom prst="line">
            <a:avLst/>
          </a:prstGeom>
          <a:noFill/>
          <a:ln w="28575">
            <a:solidFill>
              <a:srgbClr val="0099CC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6191250" y="3213100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 dirty="0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  <p:sp>
        <p:nvSpPr>
          <p:cNvPr id="115735" name="Text Box 23"/>
          <p:cNvSpPr txBox="1">
            <a:spLocks noChangeArrowheads="1"/>
          </p:cNvSpPr>
          <p:nvPr/>
        </p:nvSpPr>
        <p:spPr bwMode="auto">
          <a:xfrm>
            <a:off x="685800" y="5815012"/>
            <a:ext cx="80772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Works </a:t>
            </a:r>
            <a:r>
              <a:rPr lang="en-US" sz="2400" b="1" i="0" u="none" dirty="0">
                <a:solidFill>
                  <a:srgbClr val="FF9900"/>
                </a:solidFill>
                <a:cs typeface="Times New Roman" pitchFamily="18" charset="0"/>
              </a:rPr>
              <a:t>both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ways (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Octal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Hex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 &amp;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Hex 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to </a:t>
            </a:r>
            <a:r>
              <a:rPr lang="en-US" sz="2400" b="1" u="none" dirty="0">
                <a:solidFill>
                  <a:schemeClr val="tx1"/>
                </a:solidFill>
                <a:cs typeface="Times New Roman" pitchFamily="18" charset="0"/>
              </a:rPr>
              <a:t>Octal</a:t>
            </a:r>
            <a:r>
              <a:rPr lang="en-US" sz="2400" b="1" i="0" u="none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sz="2400" b="1" i="0" u="none" baseline="-250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2771775" y="2132012"/>
            <a:ext cx="321945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(   </a:t>
            </a:r>
            <a:r>
              <a:rPr lang="en-US" sz="2800" b="1" i="0" u="none">
                <a:solidFill>
                  <a:schemeClr val="accent2"/>
                </a:solidFill>
                <a:latin typeface="Arial" charset="0"/>
                <a:cs typeface="Arial" charset="0"/>
              </a:rPr>
              <a:t>2      6    .    2   </a:t>
            </a: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)</a:t>
            </a:r>
            <a:r>
              <a:rPr lang="en-US" sz="2800" b="1" i="0" u="none" baseline="-25000">
                <a:solidFill>
                  <a:srgbClr val="FF6600"/>
                </a:solidFill>
                <a:latin typeface="Arial" charset="0"/>
                <a:cs typeface="Arial" charset="0"/>
              </a:rPr>
              <a:t>8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941888" y="2671762"/>
            <a:ext cx="719137" cy="898525"/>
            <a:chOff x="2572" y="2614"/>
            <a:chExt cx="453" cy="566"/>
          </a:xfrm>
        </p:grpSpPr>
        <p:sp>
          <p:nvSpPr>
            <p:cNvPr id="25626" name="AutoShape 26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5627" name="AutoShape 27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5628" name="AutoShape 28"/>
            <p:cNvCxnSpPr>
              <a:cxnSpLocks noChangeShapeType="1"/>
              <a:stCxn id="25626" idx="1"/>
              <a:endCxn id="25627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</p:cxn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3852863" y="2671762"/>
            <a:ext cx="719137" cy="898525"/>
            <a:chOff x="2572" y="2614"/>
            <a:chExt cx="453" cy="566"/>
          </a:xfrm>
        </p:grpSpPr>
        <p:sp>
          <p:nvSpPr>
            <p:cNvPr id="25623" name="AutoShape 30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5624" name="AutoShape 31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5625" name="AutoShape 32"/>
            <p:cNvCxnSpPr>
              <a:cxnSpLocks noChangeShapeType="1"/>
              <a:stCxn id="25623" idx="1"/>
              <a:endCxn id="25624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rgbClr val="0066CC"/>
              </a:solidFill>
              <a:round/>
              <a:headEnd/>
              <a:tailEnd/>
            </a:ln>
          </p:spPr>
        </p:cxn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2995613" y="2673350"/>
            <a:ext cx="719137" cy="898525"/>
            <a:chOff x="2572" y="2614"/>
            <a:chExt cx="453" cy="566"/>
          </a:xfrm>
        </p:grpSpPr>
        <p:sp>
          <p:nvSpPr>
            <p:cNvPr id="25620" name="AutoShape 34"/>
            <p:cNvSpPr>
              <a:spLocks/>
            </p:cNvSpPr>
            <p:nvPr/>
          </p:nvSpPr>
          <p:spPr bwMode="auto">
            <a:xfrm rot="-5400000">
              <a:off x="2742" y="2444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sp>
          <p:nvSpPr>
            <p:cNvPr id="25621" name="AutoShape 35"/>
            <p:cNvSpPr>
              <a:spLocks/>
            </p:cNvSpPr>
            <p:nvPr/>
          </p:nvSpPr>
          <p:spPr bwMode="auto">
            <a:xfrm rot="5400000" flipV="1">
              <a:off x="2742" y="2897"/>
              <a:ext cx="113" cy="453"/>
            </a:xfrm>
            <a:prstGeom prst="leftBrace">
              <a:avLst>
                <a:gd name="adj1" fmla="val 33407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AU"/>
            </a:p>
          </p:txBody>
        </p:sp>
        <p:cxnSp>
          <p:nvCxnSpPr>
            <p:cNvPr id="25622" name="AutoShape 36"/>
            <p:cNvCxnSpPr>
              <a:cxnSpLocks noChangeShapeType="1"/>
              <a:stCxn id="25620" idx="1"/>
              <a:endCxn id="25621" idx="1"/>
            </p:cNvCxnSpPr>
            <p:nvPr/>
          </p:nvCxnSpPr>
          <p:spPr bwMode="auto">
            <a:xfrm>
              <a:off x="2799" y="2738"/>
              <a:ext cx="0" cy="321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</p:cxnSp>
      </p:grpSp>
      <p:sp>
        <p:nvSpPr>
          <p:cNvPr id="115749" name="Text Box 37"/>
          <p:cNvSpPr txBox="1">
            <a:spLocks noChangeArrowheads="1"/>
          </p:cNvSpPr>
          <p:nvPr/>
        </p:nvSpPr>
        <p:spPr bwMode="auto">
          <a:xfrm>
            <a:off x="790575" y="3213100"/>
            <a:ext cx="1800225" cy="2476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1800" b="1" i="0" u="none" dirty="0">
                <a:solidFill>
                  <a:srgbClr val="FF6600"/>
                </a:solidFill>
                <a:latin typeface="Arial" charset="0"/>
                <a:cs typeface="Arial" charset="0"/>
              </a:rPr>
              <a:t>Assume Zeros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animBg="1"/>
      <p:bldP spid="115717" grpId="0"/>
      <p:bldP spid="115718" grpId="0"/>
      <p:bldP spid="115719" grpId="0"/>
      <p:bldP spid="115732" grpId="0" animBg="1"/>
      <p:bldP spid="115733" grpId="0" animBg="1"/>
      <p:bldP spid="115734" grpId="0"/>
      <p:bldP spid="115735" grpId="0"/>
      <p:bldP spid="115736" grpId="0"/>
      <p:bldP spid="1157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baseline="-25000" dirty="0"/>
          </a:p>
        </p:txBody>
      </p:sp>
      <p:sp>
        <p:nvSpPr>
          <p:cNvPr id="23" name="Line 134"/>
          <p:cNvSpPr>
            <a:spLocks noChangeShapeType="1"/>
          </p:cNvSpPr>
          <p:nvPr/>
        </p:nvSpPr>
        <p:spPr bwMode="auto">
          <a:xfrm>
            <a:off x="9302750" y="3436937"/>
            <a:ext cx="0" cy="4092575"/>
          </a:xfrm>
          <a:prstGeom prst="line">
            <a:avLst/>
          </a:prstGeom>
          <a:noFill/>
          <a:ln w="28575" cap="sq">
            <a:solidFill>
              <a:srgbClr val="000000"/>
            </a:solidFill>
            <a:round/>
            <a:headEnd/>
            <a:tailEnd/>
          </a:ln>
        </p:spPr>
        <p:txBody>
          <a:bodyPr wrap="none" lIns="91430" tIns="45715" rIns="91430" bIns="45715"/>
          <a:lstStyle/>
          <a:p>
            <a:endParaRPr lang="en-AU"/>
          </a:p>
        </p:txBody>
      </p:sp>
      <p:sp>
        <p:nvSpPr>
          <p:cNvPr id="24" name="Slide Number Placeholder 3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024937" y="7864475"/>
            <a:ext cx="365125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E808127-5DE8-4315-AF3F-5FCAFEA9BFC4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385127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5472113" y="28908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6011863" y="28908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493077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439102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3311525" y="28908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011863" y="3430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auto">
          <a:xfrm>
            <a:off x="5472113" y="3430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4932363" y="34305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3851275" y="3430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4391025" y="3430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flipH="1">
            <a:off x="2411413" y="3970338"/>
            <a:ext cx="41402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2590800" y="34305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6011863" y="41497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5472113" y="41497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39" name="Text Box 20"/>
          <p:cNvSpPr txBox="1">
            <a:spLocks noChangeArrowheads="1"/>
          </p:cNvSpPr>
          <p:nvPr/>
        </p:nvSpPr>
        <p:spPr bwMode="auto">
          <a:xfrm>
            <a:off x="439102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331152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41" name="Text Box 22"/>
          <p:cNvSpPr txBox="1">
            <a:spLocks noChangeArrowheads="1"/>
          </p:cNvSpPr>
          <p:nvPr/>
        </p:nvSpPr>
        <p:spPr bwMode="auto">
          <a:xfrm>
            <a:off x="385127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42" name="Text Box 23"/>
          <p:cNvSpPr txBox="1">
            <a:spLocks noChangeArrowheads="1"/>
          </p:cNvSpPr>
          <p:nvPr/>
        </p:nvSpPr>
        <p:spPr bwMode="auto">
          <a:xfrm>
            <a:off x="4932363" y="41497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43" name="Text Box 24"/>
          <p:cNvSpPr txBox="1">
            <a:spLocks noChangeArrowheads="1"/>
          </p:cNvSpPr>
          <p:nvPr/>
        </p:nvSpPr>
        <p:spPr bwMode="auto">
          <a:xfrm>
            <a:off x="2771775" y="41497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44" name="Line 25"/>
          <p:cNvSpPr>
            <a:spLocks noChangeShapeType="1"/>
          </p:cNvSpPr>
          <p:nvPr/>
        </p:nvSpPr>
        <p:spPr bwMode="auto">
          <a:xfrm>
            <a:off x="6372225" y="4510088"/>
            <a:ext cx="539750" cy="53975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5" name="Text Box 26"/>
          <p:cNvSpPr txBox="1">
            <a:spLocks noChangeArrowheads="1"/>
          </p:cNvSpPr>
          <p:nvPr/>
        </p:nvSpPr>
        <p:spPr bwMode="auto">
          <a:xfrm>
            <a:off x="6911975" y="5024438"/>
            <a:ext cx="1260475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tx1"/>
                </a:solidFill>
                <a:cs typeface="Times New Roman" pitchFamily="18" charset="0"/>
              </a:rPr>
              <a:t>≥ (2)</a:t>
            </a:r>
            <a:r>
              <a:rPr lang="en-US" sz="2800" b="1" i="0" u="none" baseline="-25000" dirty="0">
                <a:solidFill>
                  <a:schemeClr val="tx1"/>
                </a:solidFill>
                <a:cs typeface="Times New Roman" pitchFamily="18" charset="0"/>
              </a:rPr>
              <a:t>10</a:t>
            </a:r>
          </a:p>
        </p:txBody>
      </p:sp>
      <p:sp>
        <p:nvSpPr>
          <p:cNvPr id="46" name="Text Box 27"/>
          <p:cNvSpPr txBox="1">
            <a:spLocks noChangeArrowheads="1"/>
          </p:cNvSpPr>
          <p:nvPr/>
        </p:nvSpPr>
        <p:spPr bwMode="auto">
          <a:xfrm>
            <a:off x="5472113" y="2349500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47" name="Text Box 28"/>
          <p:cNvSpPr txBox="1">
            <a:spLocks noChangeArrowheads="1"/>
          </p:cNvSpPr>
          <p:nvPr/>
        </p:nvSpPr>
        <p:spPr bwMode="auto">
          <a:xfrm>
            <a:off x="493077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48" name="Text Box 29"/>
          <p:cNvSpPr txBox="1">
            <a:spLocks noChangeArrowheads="1"/>
          </p:cNvSpPr>
          <p:nvPr/>
        </p:nvSpPr>
        <p:spPr bwMode="auto">
          <a:xfrm>
            <a:off x="439102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49" name="Text Box 30"/>
          <p:cNvSpPr txBox="1">
            <a:spLocks noChangeArrowheads="1"/>
          </p:cNvSpPr>
          <p:nvPr/>
        </p:nvSpPr>
        <p:spPr bwMode="auto">
          <a:xfrm>
            <a:off x="385127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50" name="Text Box 31"/>
          <p:cNvSpPr txBox="1">
            <a:spLocks noChangeArrowheads="1"/>
          </p:cNvSpPr>
          <p:nvPr/>
        </p:nvSpPr>
        <p:spPr bwMode="auto">
          <a:xfrm>
            <a:off x="331152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51" name="Text Box 32"/>
          <p:cNvSpPr txBox="1">
            <a:spLocks noChangeArrowheads="1"/>
          </p:cNvSpPr>
          <p:nvPr/>
        </p:nvSpPr>
        <p:spPr bwMode="auto">
          <a:xfrm>
            <a:off x="2771775" y="2349500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rgbClr val="FF6600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52" name="Text Box 33"/>
          <p:cNvSpPr txBox="1">
            <a:spLocks noChangeArrowheads="1"/>
          </p:cNvSpPr>
          <p:nvPr/>
        </p:nvSpPr>
        <p:spPr bwMode="auto">
          <a:xfrm>
            <a:off x="6732588" y="2889250"/>
            <a:ext cx="863600" cy="946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61</a:t>
            </a: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endParaRPr lang="en-US" sz="800" b="1" i="0" u="none">
              <a:solidFill>
                <a:schemeClr val="tx1"/>
              </a:solidFill>
              <a:cs typeface="Times New Roman" pitchFamily="18" charset="0"/>
            </a:endParaRP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23</a:t>
            </a: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6732588" y="4098925"/>
            <a:ext cx="863600" cy="40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84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03 0.2625 L 2.5E-6 -2.59259E-6 " pathEditMode="relative" rAng="0" ptsTypes="AA">
                                      <p:cBhvr>
                                        <p:cTn id="1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 animBg="1"/>
      <p:bldP spid="45" grpId="0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Subtraction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295400"/>
            <a:ext cx="8570913" cy="7937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385127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5472113" y="30702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6011863" y="307022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493077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439102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3311525" y="307022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6011863" y="360997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5472113" y="360997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4932363" y="3609975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3851275" y="36099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4391025" y="36099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2232025" y="4149725"/>
            <a:ext cx="4319588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2232025" y="36083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latin typeface="Arial" charset="0"/>
                <a:cs typeface="Arial" charset="0"/>
              </a:rPr>
              <a:t>−</a:t>
            </a:r>
          </a:p>
        </p:txBody>
      </p:sp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6011863" y="43291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38" name="Text Box 18"/>
          <p:cNvSpPr txBox="1">
            <a:spLocks noChangeArrowheads="1"/>
          </p:cNvSpPr>
          <p:nvPr/>
        </p:nvSpPr>
        <p:spPr bwMode="auto">
          <a:xfrm>
            <a:off x="5472113" y="43291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439102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331152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385127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4932363" y="4329113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43" name="Text Box 23"/>
          <p:cNvSpPr txBox="1">
            <a:spLocks noChangeArrowheads="1"/>
          </p:cNvSpPr>
          <p:nvPr/>
        </p:nvSpPr>
        <p:spPr bwMode="auto">
          <a:xfrm>
            <a:off x="2771775" y="4329113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44" name="Line 24"/>
          <p:cNvSpPr>
            <a:spLocks noChangeShapeType="1"/>
          </p:cNvSpPr>
          <p:nvPr/>
        </p:nvSpPr>
        <p:spPr bwMode="auto">
          <a:xfrm flipH="1">
            <a:off x="5832475" y="2168525"/>
            <a:ext cx="719138" cy="360363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lg" len="lg"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6732588" y="1989138"/>
            <a:ext cx="1260475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= (10)</a:t>
            </a:r>
            <a:r>
              <a:rPr lang="en-US" sz="2800" b="1" i="0" u="none" baseline="-25000">
                <a:solidFill>
                  <a:schemeClr val="tx1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5472113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4932363" y="198913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3311525" y="2505075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49" name="Text Box 29"/>
          <p:cNvSpPr txBox="1">
            <a:spLocks noChangeArrowheads="1"/>
          </p:cNvSpPr>
          <p:nvPr/>
        </p:nvSpPr>
        <p:spPr bwMode="auto">
          <a:xfrm>
            <a:off x="3851275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rgbClr val="FF6600"/>
                </a:solidFill>
                <a:cs typeface="Times New Roman" pitchFamily="18" charset="0"/>
              </a:rPr>
              <a:t>2</a:t>
            </a:r>
          </a:p>
        </p:txBody>
      </p:sp>
      <p:sp>
        <p:nvSpPr>
          <p:cNvPr id="107550" name="Text Box 30"/>
          <p:cNvSpPr txBox="1">
            <a:spLocks noChangeArrowheads="1"/>
          </p:cNvSpPr>
          <p:nvPr/>
        </p:nvSpPr>
        <p:spPr bwMode="auto">
          <a:xfrm>
            <a:off x="2771775" y="30686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51" name="Line 31"/>
          <p:cNvSpPr>
            <a:spLocks noChangeShapeType="1"/>
          </p:cNvSpPr>
          <p:nvPr/>
        </p:nvSpPr>
        <p:spPr bwMode="auto">
          <a:xfrm flipV="1">
            <a:off x="4932363" y="3159125"/>
            <a:ext cx="360362" cy="1809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2" name="Line 32"/>
          <p:cNvSpPr>
            <a:spLocks noChangeShapeType="1"/>
          </p:cNvSpPr>
          <p:nvPr/>
        </p:nvSpPr>
        <p:spPr bwMode="auto">
          <a:xfrm flipV="1">
            <a:off x="4392613" y="3157538"/>
            <a:ext cx="360362" cy="1809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3" name="Text Box 33"/>
          <p:cNvSpPr txBox="1">
            <a:spLocks noChangeArrowheads="1"/>
          </p:cNvSpPr>
          <p:nvPr/>
        </p:nvSpPr>
        <p:spPr bwMode="auto">
          <a:xfrm>
            <a:off x="4932363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54" name="Text Box 34"/>
          <p:cNvSpPr txBox="1">
            <a:spLocks noChangeArrowheads="1"/>
          </p:cNvSpPr>
          <p:nvPr/>
        </p:nvSpPr>
        <p:spPr bwMode="auto">
          <a:xfrm>
            <a:off x="4392613" y="2528888"/>
            <a:ext cx="360362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 flipV="1">
            <a:off x="2771775" y="3151188"/>
            <a:ext cx="360363" cy="1809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2771775" y="252888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 flipV="1">
            <a:off x="3235325" y="2605088"/>
            <a:ext cx="539750" cy="179387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107558" name="Text Box 38"/>
          <p:cNvSpPr txBox="1">
            <a:spLocks noChangeArrowheads="1"/>
          </p:cNvSpPr>
          <p:nvPr/>
        </p:nvSpPr>
        <p:spPr bwMode="auto">
          <a:xfrm>
            <a:off x="3311525" y="1989138"/>
            <a:ext cx="36036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bg2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>
            <a:off x="8532813" y="674211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7560" name="Text Box 40"/>
          <p:cNvSpPr txBox="1">
            <a:spLocks noChangeArrowheads="1"/>
          </p:cNvSpPr>
          <p:nvPr/>
        </p:nvSpPr>
        <p:spPr bwMode="auto">
          <a:xfrm>
            <a:off x="6732588" y="3068638"/>
            <a:ext cx="863600" cy="979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77</a:t>
            </a:r>
          </a:p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endParaRPr lang="en-US" sz="800" i="0" u="none">
              <a:solidFill>
                <a:schemeClr val="tx1"/>
              </a:solidFill>
              <a:cs typeface="Times New Roman" pitchFamily="18" charset="0"/>
            </a:endParaRPr>
          </a:p>
          <a:p>
            <a:pPr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23</a:t>
            </a:r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6732588" y="4329113"/>
            <a:ext cx="863600" cy="40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eaLnBrk="0" hangingPunct="0">
              <a:lnSpc>
                <a:spcPct val="87000"/>
              </a:lnSpc>
              <a:spcBef>
                <a:spcPct val="50000"/>
              </a:spcBef>
            </a:pPr>
            <a:r>
              <a:rPr lang="en-US" sz="2400" b="1" i="0" u="none">
                <a:solidFill>
                  <a:schemeClr val="tx1"/>
                </a:solidFill>
                <a:cs typeface="Times New Roman" pitchFamily="18" charset="0"/>
              </a:rPr>
              <a:t>= 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07708 L 4.44444E-6 7.40741E-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0" y="-3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15578 L 2.22222E-6 4.44444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0" y="-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500" fill="hold"/>
                                        <p:tgtEl>
                                          <p:spTgt spid="107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0.08055 L -8.33333E-7 2.96296E-6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1075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0" y="-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03 -0.00347 L -0.00017 -0.00162 " pathEditMode="relative" rAng="0" ptsTypes="AA">
                                      <p:cBhvr>
                                        <p:cTn id="105" dur="500" fill="hold"/>
                                        <p:tgtEl>
                                          <p:spTgt spid="1075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500" fill="hold"/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500" fill="hold"/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500" fill="hold"/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500" fill="hold"/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500" fill="hold"/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/>
      <p:bldP spid="107524" grpId="1"/>
      <p:bldP spid="107525" grpId="0"/>
      <p:bldP spid="107525" grpId="1"/>
      <p:bldP spid="107526" grpId="0"/>
      <p:bldP spid="107526" grpId="1"/>
      <p:bldP spid="107529" grpId="0"/>
      <p:bldP spid="107529" grpId="1"/>
      <p:bldP spid="107530" grpId="0"/>
      <p:bldP spid="107530" grpId="1"/>
      <p:bldP spid="107531" grpId="0"/>
      <p:bldP spid="107531" grpId="1"/>
      <p:bldP spid="107532" grpId="0"/>
      <p:bldP spid="107532" grpId="1"/>
      <p:bldP spid="107533" grpId="0"/>
      <p:bldP spid="107533" grpId="1"/>
      <p:bldP spid="107534" grpId="0"/>
      <p:bldP spid="107534" grpId="1"/>
      <p:bldP spid="107537" grpId="0"/>
      <p:bldP spid="107538" grpId="0"/>
      <p:bldP spid="107539" grpId="0"/>
      <p:bldP spid="107540" grpId="0"/>
      <p:bldP spid="107541" grpId="0"/>
      <p:bldP spid="107542" grpId="0"/>
      <p:bldP spid="107543" grpId="0"/>
      <p:bldP spid="107544" grpId="0" animBg="1"/>
      <p:bldP spid="107545" grpId="0"/>
      <p:bldP spid="107546" grpId="0"/>
      <p:bldP spid="107546" grpId="1"/>
      <p:bldP spid="107547" grpId="0"/>
      <p:bldP spid="107547" grpId="1"/>
      <p:bldP spid="107548" grpId="0"/>
      <p:bldP spid="107548" grpId="1"/>
      <p:bldP spid="107549" grpId="0"/>
      <p:bldP spid="107549" grpId="1"/>
      <p:bldP spid="107550" grpId="0"/>
      <p:bldP spid="107550" grpId="1"/>
      <p:bldP spid="107551" grpId="0" animBg="1"/>
      <p:bldP spid="107552" grpId="0" animBg="1"/>
      <p:bldP spid="107553" grpId="0"/>
      <p:bldP spid="107553" grpId="1"/>
      <p:bldP spid="107553" grpId="2"/>
      <p:bldP spid="107554" grpId="0"/>
      <p:bldP spid="107554" grpId="1"/>
      <p:bldP spid="107554" grpId="2"/>
      <p:bldP spid="107555" grpId="0" animBg="1"/>
      <p:bldP spid="107556" grpId="0"/>
      <p:bldP spid="107557" grpId="0" animBg="1"/>
      <p:bldP spid="107558" grpId="0"/>
      <p:bldP spid="107558" grpId="1"/>
      <p:bldP spid="107558" grpId="2"/>
      <p:bldP spid="107559" grpId="0" animBg="1"/>
      <p:bldP spid="107560" grpId="0"/>
      <p:bldP spid="10756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239000" y="6477000"/>
            <a:ext cx="1905000" cy="457200"/>
          </a:xfrm>
        </p:spPr>
        <p:txBody>
          <a:bodyPr/>
          <a:lstStyle/>
          <a:p>
            <a:fld id="{74DD14CF-DC13-4345-A2B1-5E182DAFDC88}" type="slidenum">
              <a:rPr lang="en-US"/>
              <a:pPr/>
              <a:t>18</a:t>
            </a:fld>
            <a:endParaRPr lang="en-US"/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Complements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16050"/>
            <a:ext cx="8229600" cy="2473325"/>
          </a:xfrm>
        </p:spPr>
        <p:txBody>
          <a:bodyPr/>
          <a:lstStyle/>
          <a:p>
            <a:r>
              <a:rPr lang="en-US" dirty="0"/>
              <a:t>They are used to simplify the subtraction operation</a:t>
            </a:r>
          </a:p>
          <a:p>
            <a:r>
              <a:rPr lang="en-US" dirty="0"/>
              <a:t>Two types (for each </a:t>
            </a:r>
            <a:r>
              <a:rPr lang="en-US" i="1" dirty="0"/>
              <a:t>base-r</a:t>
            </a:r>
            <a:r>
              <a:rPr lang="en-US" dirty="0"/>
              <a:t> system)</a:t>
            </a:r>
          </a:p>
          <a:p>
            <a:pPr lvl="1"/>
            <a:r>
              <a:rPr lang="en-US" sz="2400" dirty="0"/>
              <a:t>Diminishing radix complement (r-1’s complement)</a:t>
            </a:r>
          </a:p>
          <a:p>
            <a:pPr lvl="1"/>
            <a:r>
              <a:rPr lang="en-US" sz="2400" dirty="0"/>
              <a:t>Radix complement (</a:t>
            </a:r>
            <a:r>
              <a:rPr lang="en-US" sz="2400" dirty="0" err="1"/>
              <a:t>r’s</a:t>
            </a:r>
            <a:r>
              <a:rPr lang="en-US" sz="2400" dirty="0"/>
              <a:t> complement)</a:t>
            </a:r>
          </a:p>
          <a:p>
            <a:pPr lvl="1"/>
            <a:endParaRPr lang="en-US" sz="2000" dirty="0"/>
          </a:p>
        </p:txBody>
      </p:sp>
      <p:graphicFrame>
        <p:nvGraphicFramePr>
          <p:cNvPr id="2887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28800" y="4062412"/>
          <a:ext cx="21336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28600" progId="Equation.3">
                  <p:embed/>
                </p:oleObj>
              </mc:Choice>
              <mc:Fallback>
                <p:oleObj name="Equation" r:id="rId2" imgW="73656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062412"/>
                        <a:ext cx="2133600" cy="66198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990600" y="3376612"/>
            <a:ext cx="525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For </a:t>
            </a:r>
            <a:r>
              <a:rPr lang="en-US" sz="2400" i="1" dirty="0"/>
              <a:t>n</a:t>
            </a:r>
            <a:r>
              <a:rPr lang="en-US" sz="2400" dirty="0"/>
              <a:t>-digit number </a:t>
            </a:r>
            <a:r>
              <a:rPr lang="en-US" sz="2400" i="1" dirty="0"/>
              <a:t>N</a:t>
            </a:r>
          </a:p>
        </p:txBody>
      </p:sp>
      <p:graphicFrame>
        <p:nvGraphicFramePr>
          <p:cNvPr id="288775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71700" y="4976812"/>
          <a:ext cx="14478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240" imgH="203040" progId="Equation.3">
                  <p:embed/>
                </p:oleObj>
              </mc:Choice>
              <mc:Fallback>
                <p:oleObj name="Equation" r:id="rId4" imgW="4442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976812"/>
                        <a:ext cx="1447800" cy="66198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7" name="Line 9"/>
          <p:cNvSpPr>
            <a:spLocks noChangeShapeType="1"/>
          </p:cNvSpPr>
          <p:nvPr/>
        </p:nvSpPr>
        <p:spPr bwMode="auto">
          <a:xfrm>
            <a:off x="3962400" y="4367212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8778" name="Text Box 10"/>
          <p:cNvSpPr txBox="1">
            <a:spLocks noChangeArrowheads="1"/>
          </p:cNvSpPr>
          <p:nvPr/>
        </p:nvSpPr>
        <p:spPr bwMode="auto">
          <a:xfrm>
            <a:off x="5295900" y="4138612"/>
            <a:ext cx="266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/>
              <a:t>r</a:t>
            </a:r>
            <a:r>
              <a:rPr lang="en-US" sz="2400" dirty="0"/>
              <a:t>-1’s complement</a:t>
            </a:r>
          </a:p>
        </p:txBody>
      </p:sp>
      <p:sp>
        <p:nvSpPr>
          <p:cNvPr id="288779" name="Line 11"/>
          <p:cNvSpPr>
            <a:spLocks noChangeShapeType="1"/>
          </p:cNvSpPr>
          <p:nvPr/>
        </p:nvSpPr>
        <p:spPr bwMode="auto">
          <a:xfrm>
            <a:off x="3657600" y="5281612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8780" name="Text Box 12"/>
          <p:cNvSpPr txBox="1">
            <a:spLocks noChangeArrowheads="1"/>
          </p:cNvSpPr>
          <p:nvPr/>
        </p:nvSpPr>
        <p:spPr bwMode="auto">
          <a:xfrm>
            <a:off x="4991100" y="5053012"/>
            <a:ext cx="266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 err="1"/>
              <a:t>r</a:t>
            </a:r>
            <a:r>
              <a:rPr lang="en-US" sz="2400" dirty="0" err="1"/>
              <a:t>’s</a:t>
            </a:r>
            <a:r>
              <a:rPr lang="en-US" sz="2400" dirty="0"/>
              <a:t> complement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/>
              <a:t>Diminished Radix 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 for 6-digit </a:t>
            </a:r>
            <a:r>
              <a:rPr lang="en-US" b="1" u="sng" dirty="0"/>
              <a:t>decimal</a:t>
            </a:r>
            <a:r>
              <a:rPr lang="en-US" b="1" dirty="0"/>
              <a:t> numbers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9’s complement is </a:t>
            </a:r>
            <a:r>
              <a:rPr lang="en-US" i="1" dirty="0"/>
              <a:t>(</a:t>
            </a:r>
            <a:r>
              <a:rPr lang="en-US" i="1" dirty="0" err="1"/>
              <a:t>r</a:t>
            </a:r>
            <a:r>
              <a:rPr lang="en-US" i="1" baseline="30000" dirty="0" err="1"/>
              <a:t>n</a:t>
            </a:r>
            <a:r>
              <a:rPr lang="tr-TR" i="1" baseline="30000" dirty="0"/>
              <a:t> </a:t>
            </a:r>
            <a:r>
              <a:rPr lang="en-US" i="1" dirty="0"/>
              <a:t>–</a:t>
            </a:r>
            <a:r>
              <a:rPr lang="tr-TR" i="1" dirty="0"/>
              <a:t> </a:t>
            </a:r>
            <a:r>
              <a:rPr lang="en-US" dirty="0"/>
              <a:t>1</a:t>
            </a:r>
            <a:r>
              <a:rPr lang="en-US" i="1" dirty="0"/>
              <a:t>)–N</a:t>
            </a:r>
            <a:r>
              <a:rPr lang="en-US" dirty="0"/>
              <a:t> = (10</a:t>
            </a:r>
            <a:r>
              <a:rPr lang="en-US" baseline="30000" dirty="0"/>
              <a:t>6</a:t>
            </a:r>
            <a:r>
              <a:rPr lang="en-US" dirty="0"/>
              <a:t>–1)–</a:t>
            </a:r>
            <a:r>
              <a:rPr lang="en-US" i="1" dirty="0"/>
              <a:t>N</a:t>
            </a:r>
            <a:r>
              <a:rPr lang="en-US" dirty="0"/>
              <a:t> = 999999–</a:t>
            </a:r>
            <a:r>
              <a:rPr lang="en-US" i="1" dirty="0"/>
              <a:t>N</a:t>
            </a:r>
          </a:p>
          <a:p>
            <a:pPr lvl="1"/>
            <a:r>
              <a:rPr lang="en-US" dirty="0"/>
              <a:t>9’s complement of 546700:</a:t>
            </a:r>
          </a:p>
          <a:p>
            <a:pPr lvl="1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999999–546700 = 453299</a:t>
            </a:r>
          </a:p>
          <a:p>
            <a:r>
              <a:rPr lang="en-US" b="1" dirty="0"/>
              <a:t>Example for 7-digit </a:t>
            </a:r>
            <a:r>
              <a:rPr lang="en-US" b="1" u="sng" dirty="0"/>
              <a:t>binary</a:t>
            </a:r>
            <a:r>
              <a:rPr lang="en-US" b="1" dirty="0"/>
              <a:t> numbers:</a:t>
            </a:r>
          </a:p>
          <a:p>
            <a:pPr lvl="1"/>
            <a:r>
              <a:rPr lang="en-US" dirty="0"/>
              <a:t>1’s complement is </a:t>
            </a:r>
            <a:r>
              <a:rPr lang="en-US" i="1" dirty="0"/>
              <a:t>(</a:t>
            </a:r>
            <a:r>
              <a:rPr lang="en-US" i="1" dirty="0" err="1"/>
              <a:t>r</a:t>
            </a:r>
            <a:r>
              <a:rPr lang="en-US" i="1" baseline="30000" dirty="0" err="1"/>
              <a:t>n</a:t>
            </a:r>
            <a:r>
              <a:rPr lang="tr-TR" i="1" baseline="30000" dirty="0"/>
              <a:t> </a:t>
            </a:r>
            <a:r>
              <a:rPr lang="en-US" i="1" baseline="30000" dirty="0"/>
              <a:t> </a:t>
            </a:r>
            <a:r>
              <a:rPr lang="en-US" i="1" dirty="0"/>
              <a:t>–</a:t>
            </a:r>
            <a:r>
              <a:rPr lang="tr-TR" i="1" dirty="0"/>
              <a:t> </a:t>
            </a:r>
            <a:r>
              <a:rPr lang="en-US" dirty="0"/>
              <a:t>1</a:t>
            </a:r>
            <a:r>
              <a:rPr lang="en-US" i="1" dirty="0"/>
              <a:t>) – N</a:t>
            </a:r>
            <a:r>
              <a:rPr lang="en-US" dirty="0"/>
              <a:t> = (2</a:t>
            </a:r>
            <a:r>
              <a:rPr lang="en-US" baseline="30000" dirty="0"/>
              <a:t>7</a:t>
            </a:r>
            <a:r>
              <a:rPr lang="en-US" dirty="0"/>
              <a:t>–1)–</a:t>
            </a:r>
            <a:r>
              <a:rPr lang="en-US" i="1" dirty="0"/>
              <a:t>N</a:t>
            </a:r>
            <a:r>
              <a:rPr lang="en-US" dirty="0"/>
              <a:t> = 1111111–</a:t>
            </a:r>
            <a:r>
              <a:rPr lang="en-US" i="1" dirty="0"/>
              <a:t>N</a:t>
            </a:r>
          </a:p>
          <a:p>
            <a:pPr lvl="1"/>
            <a:r>
              <a:rPr lang="en-US" dirty="0"/>
              <a:t>1’s complement of 1011000: </a:t>
            </a:r>
          </a:p>
          <a:p>
            <a:pPr lvl="1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1111111–1011000 = 0100111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/>
              <a:t>Radix 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i="1" dirty="0" err="1"/>
              <a:t>r</a:t>
            </a:r>
            <a:r>
              <a:rPr lang="en-US" altLang="zh-TW" dirty="0" err="1"/>
              <a:t>'s</a:t>
            </a:r>
            <a:r>
              <a:rPr lang="en-US" altLang="zh-TW" dirty="0"/>
              <a:t> complement of an </a:t>
            </a:r>
            <a:r>
              <a:rPr lang="en-US" altLang="zh-TW" i="1" dirty="0"/>
              <a:t>n</a:t>
            </a:r>
            <a:r>
              <a:rPr lang="en-US" altLang="zh-TW" dirty="0"/>
              <a:t>-digit number </a:t>
            </a:r>
            <a:r>
              <a:rPr lang="en-US" altLang="zh-TW" i="1" dirty="0"/>
              <a:t>N</a:t>
            </a:r>
            <a:r>
              <a:rPr lang="en-US" altLang="zh-TW" dirty="0"/>
              <a:t> in base r is defined as </a:t>
            </a:r>
            <a:r>
              <a:rPr lang="en-US" altLang="zh-TW" i="1" dirty="0" err="1"/>
              <a:t>r</a:t>
            </a:r>
            <a:r>
              <a:rPr lang="en-US" altLang="zh-TW" i="1" baseline="30000" dirty="0" err="1"/>
              <a:t>n</a:t>
            </a:r>
            <a:r>
              <a:rPr lang="en-US" altLang="zh-TW" dirty="0"/>
              <a:t> – </a:t>
            </a:r>
            <a:r>
              <a:rPr lang="en-US" altLang="zh-TW" i="1" dirty="0"/>
              <a:t>N</a:t>
            </a:r>
            <a:r>
              <a:rPr lang="en-US" altLang="zh-TW" dirty="0"/>
              <a:t> for </a:t>
            </a:r>
            <a:r>
              <a:rPr lang="en-US" altLang="zh-TW" i="1" dirty="0"/>
              <a:t>N</a:t>
            </a:r>
            <a:r>
              <a:rPr lang="en-US" altLang="zh-TW" dirty="0"/>
              <a:t> ≠ 0 and as 0 for </a:t>
            </a:r>
            <a:r>
              <a:rPr lang="en-US" altLang="zh-TW" i="1" dirty="0"/>
              <a:t>N</a:t>
            </a:r>
            <a:r>
              <a:rPr lang="en-US" altLang="zh-TW" dirty="0"/>
              <a:t> = 0.</a:t>
            </a:r>
          </a:p>
          <a:p>
            <a:pPr>
              <a:buNone/>
            </a:pPr>
            <a:endParaRPr lang="en-US" altLang="zh-TW" dirty="0"/>
          </a:p>
          <a:p>
            <a:r>
              <a:rPr lang="en-US" altLang="zh-TW" dirty="0"/>
              <a:t>The </a:t>
            </a:r>
            <a:r>
              <a:rPr lang="en-US" altLang="zh-TW" i="1" dirty="0" err="1"/>
              <a:t>r</a:t>
            </a:r>
            <a:r>
              <a:rPr lang="en-US" altLang="zh-TW" dirty="0" err="1"/>
              <a:t>'s</a:t>
            </a:r>
            <a:r>
              <a:rPr lang="en-US" altLang="zh-TW" dirty="0"/>
              <a:t> complement can also be obtained by adding 1 to the (</a:t>
            </a:r>
            <a:r>
              <a:rPr lang="en-US" altLang="zh-TW" i="1" dirty="0"/>
              <a:t>r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dirty="0"/>
              <a:t> 1) 's complement, since </a:t>
            </a:r>
          </a:p>
          <a:p>
            <a:pPr>
              <a:buNone/>
            </a:pPr>
            <a:r>
              <a:rPr lang="en-US" altLang="zh-TW" dirty="0"/>
              <a:t>			</a:t>
            </a:r>
            <a:r>
              <a:rPr lang="en-US" altLang="zh-TW" i="1" dirty="0" err="1"/>
              <a:t>r</a:t>
            </a:r>
            <a:r>
              <a:rPr lang="en-US" altLang="zh-TW" i="1" baseline="30000" dirty="0" err="1"/>
              <a:t>n</a:t>
            </a:r>
            <a:r>
              <a:rPr lang="en-US" altLang="zh-TW" dirty="0"/>
              <a:t> – </a:t>
            </a:r>
            <a:r>
              <a:rPr lang="en-US" altLang="zh-TW" i="1" dirty="0"/>
              <a:t>N</a:t>
            </a:r>
            <a:r>
              <a:rPr lang="en-US" altLang="zh-TW" dirty="0"/>
              <a:t> = [(</a:t>
            </a:r>
            <a:r>
              <a:rPr lang="en-US" altLang="zh-TW" i="1" dirty="0" err="1"/>
              <a:t>r</a:t>
            </a:r>
            <a:r>
              <a:rPr lang="en-US" altLang="zh-TW" i="1" baseline="30000" dirty="0" err="1"/>
              <a:t>n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dirty="0"/>
              <a:t> 1) – </a:t>
            </a:r>
            <a:r>
              <a:rPr lang="en-US" altLang="zh-TW" i="1" dirty="0"/>
              <a:t>N</a:t>
            </a:r>
            <a:r>
              <a:rPr lang="en-US" altLang="zh-TW" dirty="0"/>
              <a:t>] + 1.</a:t>
            </a:r>
          </a:p>
          <a:p>
            <a:pPr>
              <a:buNone/>
            </a:pPr>
            <a:endParaRPr lang="en-US" altLang="zh-TW" dirty="0"/>
          </a:p>
          <a:p>
            <a:r>
              <a:rPr lang="en-US" altLang="zh-TW" dirty="0"/>
              <a:t>Decimal Number: 10</a:t>
            </a:r>
            <a:r>
              <a:rPr lang="en-US" altLang="zh-TW" i="1" baseline="30000" dirty="0"/>
              <a:t>n</a:t>
            </a:r>
            <a:r>
              <a:rPr lang="en-US" altLang="zh-TW" dirty="0"/>
              <a:t> - </a:t>
            </a:r>
            <a:r>
              <a:rPr lang="en-US" altLang="zh-TW" i="1" dirty="0"/>
              <a:t>N</a:t>
            </a:r>
            <a:endParaRPr lang="en-US" altLang="zh-TW" dirty="0"/>
          </a:p>
          <a:p>
            <a:pPr lvl="1"/>
            <a:r>
              <a:rPr lang="en-US" altLang="zh-TW" dirty="0"/>
              <a:t>Example: 10’s complement of 246700 is 753300</a:t>
            </a:r>
          </a:p>
          <a:p>
            <a:pPr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/>
              <a:t>Radix Complement (Binary Number)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1’s complement then add 1</a:t>
            </a:r>
          </a:p>
          <a:p>
            <a:pPr>
              <a:buNone/>
            </a:pPr>
            <a:r>
              <a:rPr lang="en-US" dirty="0"/>
              <a:t>				OR</a:t>
            </a:r>
          </a:p>
          <a:p>
            <a:r>
              <a:rPr lang="en-US" dirty="0"/>
              <a:t>Toggle all bits to the left of the first ‘1’ from the right</a:t>
            </a:r>
          </a:p>
          <a:p>
            <a:r>
              <a:rPr lang="en-US" b="1" dirty="0"/>
              <a:t>Example:</a:t>
            </a: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 flipH="1">
            <a:off x="1274762" y="5653088"/>
            <a:ext cx="27003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185862" y="5832475"/>
            <a:ext cx="2609850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 0 0 0 0</a:t>
            </a:r>
            <a:endParaRPr lang="en-US" sz="2800" b="1" i="0" u="none">
              <a:solidFill>
                <a:schemeClr val="tx1"/>
              </a:solidFill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914400" y="3962400"/>
            <a:ext cx="2881312" cy="15811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</a:rPr>
              <a:t>1 </a:t>
            </a: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</a:rPr>
              <a:t>0 </a:t>
            </a: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</a:rPr>
              <a:t>1 1 </a:t>
            </a: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</a:rPr>
              <a:t>0 0 0 0</a:t>
            </a:r>
          </a:p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  <a:sym typeface="Wingdings" pitchFamily="2" charset="2"/>
              </a:rPr>
              <a:t>0 </a:t>
            </a: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1 </a:t>
            </a: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  <a:sym typeface="Wingdings" pitchFamily="2" charset="2"/>
              </a:rPr>
              <a:t>0 0 </a:t>
            </a: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1 1 1 1</a:t>
            </a:r>
          </a:p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  <a:sym typeface="Wingdings" pitchFamily="2" charset="2"/>
              </a:rPr>
              <a:t>+                        1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335462" y="3965575"/>
            <a:ext cx="2881313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</a:rPr>
              <a:t>1 </a:t>
            </a: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</a:rPr>
              <a:t>0 </a:t>
            </a: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</a:rPr>
              <a:t>1 1 </a:t>
            </a: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</a:rPr>
              <a:t>0 0 0 0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7035800" y="5832475"/>
            <a:ext cx="179387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676116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49446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622141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tx1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595471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569436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>
                <a:solidFill>
                  <a:schemeClr val="accent2"/>
                </a:solidFill>
                <a:cs typeface="Times New Roman" pitchFamily="18" charset="0"/>
              </a:rPr>
              <a:t>0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541496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accent1"/>
                </a:solidFill>
                <a:cs typeface="Times New Roman" pitchFamily="18" charset="0"/>
              </a:rPr>
              <a:t>1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154612" y="5832475"/>
            <a:ext cx="179388" cy="384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 typeface="Arial" charset="0"/>
              <a:buNone/>
            </a:pPr>
            <a:r>
              <a:rPr lang="en-US" sz="2800" b="1" i="0" u="none" dirty="0">
                <a:solidFill>
                  <a:schemeClr val="accent2"/>
                </a:solidFill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3 -0.23774 L 0.00053 -0.00185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 build="allAtOnce"/>
      <p:bldP spid="9" grpId="0" build="allAtOnce"/>
      <p:bldP spid="10" grpId="0" build="allAtOnce"/>
      <p:bldP spid="11" grpId="0" build="allAtOnce"/>
      <p:bldP spid="12" grpId="0" build="allAtOnce"/>
      <p:bldP spid="13" grpId="0" build="allAtOnce"/>
      <p:bldP spid="14" grpId="0" build="allAtOnce"/>
      <p:bldP spid="15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/>
              <a:t>Subtraction with Complements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M</a:t>
            </a:r>
            <a:r>
              <a:rPr lang="en-US" dirty="0"/>
              <a:t> – </a:t>
            </a:r>
            <a:r>
              <a:rPr lang="en-US" i="1" dirty="0"/>
              <a:t>N</a:t>
            </a:r>
          </a:p>
          <a:p>
            <a:pPr lvl="1"/>
            <a:r>
              <a:rPr lang="en-US" dirty="0"/>
              <a:t>Add </a:t>
            </a:r>
            <a:r>
              <a:rPr lang="en-US" i="1" dirty="0"/>
              <a:t>M</a:t>
            </a:r>
            <a:r>
              <a:rPr lang="en-US" dirty="0"/>
              <a:t> to </a:t>
            </a:r>
            <a:r>
              <a:rPr lang="en-US" i="1" dirty="0" err="1"/>
              <a:t>r</a:t>
            </a:r>
            <a:r>
              <a:rPr lang="en-US" dirty="0" err="1"/>
              <a:t>’s</a:t>
            </a:r>
            <a:r>
              <a:rPr lang="en-US" dirty="0"/>
              <a:t> complement of </a:t>
            </a:r>
            <a:r>
              <a:rPr lang="en-US" i="1" dirty="0"/>
              <a:t>N</a:t>
            </a:r>
            <a:r>
              <a:rPr lang="en-US" dirty="0"/>
              <a:t>  </a:t>
            </a:r>
          </a:p>
          <a:p>
            <a:pPr lvl="2"/>
            <a:r>
              <a:rPr lang="en-US" i="1" dirty="0"/>
              <a:t>Sum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dirty="0"/>
              <a:t>+(</a:t>
            </a:r>
            <a:r>
              <a:rPr lang="en-US" i="1" dirty="0" err="1"/>
              <a:t>r</a:t>
            </a:r>
            <a:r>
              <a:rPr lang="en-US" i="1" baseline="30000" dirty="0" err="1"/>
              <a:t>n</a:t>
            </a:r>
            <a:r>
              <a:rPr lang="en-US" dirty="0"/>
              <a:t> – </a:t>
            </a:r>
            <a:r>
              <a:rPr lang="en-US" i="1" dirty="0"/>
              <a:t>N</a:t>
            </a:r>
            <a:r>
              <a:rPr lang="en-US" dirty="0"/>
              <a:t>) = </a:t>
            </a:r>
            <a:r>
              <a:rPr lang="en-US" i="1" dirty="0"/>
              <a:t>M</a:t>
            </a:r>
            <a:r>
              <a:rPr lang="en-US" dirty="0"/>
              <a:t> – </a:t>
            </a:r>
            <a:r>
              <a:rPr lang="en-US" i="1" dirty="0"/>
              <a:t>N</a:t>
            </a:r>
            <a:r>
              <a:rPr lang="en-US" dirty="0"/>
              <a:t>+ </a:t>
            </a:r>
            <a:r>
              <a:rPr lang="en-US" i="1" dirty="0" err="1"/>
              <a:t>r</a:t>
            </a:r>
            <a:r>
              <a:rPr lang="en-US" i="1" baseline="30000" dirty="0" err="1"/>
              <a:t>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M</a:t>
            </a:r>
            <a:r>
              <a:rPr lang="en-US" dirty="0"/>
              <a:t> &gt; 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Sum</a:t>
            </a:r>
            <a:r>
              <a:rPr lang="en-US" dirty="0"/>
              <a:t> will have an end carry </a:t>
            </a:r>
            <a:r>
              <a:rPr lang="en-US" i="1" dirty="0" err="1"/>
              <a:t>r</a:t>
            </a:r>
            <a:r>
              <a:rPr lang="en-US" i="1" baseline="30000" dirty="0" err="1"/>
              <a:t>n</a:t>
            </a:r>
            <a:r>
              <a:rPr lang="en-US" dirty="0"/>
              <a:t> , discard it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M</a:t>
            </a:r>
            <a:r>
              <a:rPr lang="en-US" dirty="0"/>
              <a:t>&lt;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Sum</a:t>
            </a:r>
            <a:r>
              <a:rPr lang="en-US" dirty="0"/>
              <a:t> will not have an end carry and</a:t>
            </a:r>
          </a:p>
          <a:p>
            <a:pPr lvl="2"/>
            <a:r>
              <a:rPr lang="en-US" i="1" dirty="0"/>
              <a:t>Sum </a:t>
            </a:r>
            <a:r>
              <a:rPr lang="en-US" dirty="0"/>
              <a:t>= </a:t>
            </a:r>
            <a:r>
              <a:rPr lang="en-US" i="1" dirty="0" err="1"/>
              <a:t>r</a:t>
            </a:r>
            <a:r>
              <a:rPr lang="en-US" i="1" baseline="30000" dirty="0" err="1"/>
              <a:t>n</a:t>
            </a:r>
            <a:r>
              <a:rPr lang="en-US" dirty="0"/>
              <a:t> – (</a:t>
            </a:r>
            <a:r>
              <a:rPr lang="en-US" i="1" dirty="0"/>
              <a:t>N</a:t>
            </a:r>
            <a:r>
              <a:rPr lang="en-US" dirty="0"/>
              <a:t> – </a:t>
            </a:r>
            <a:r>
              <a:rPr lang="en-US" i="1" dirty="0"/>
              <a:t>M</a:t>
            </a:r>
            <a:r>
              <a:rPr lang="en-US" dirty="0"/>
              <a:t>) (</a:t>
            </a:r>
            <a:r>
              <a:rPr lang="en-US" i="1" dirty="0" err="1"/>
              <a:t>r</a:t>
            </a:r>
            <a:r>
              <a:rPr lang="en-US" dirty="0" err="1"/>
              <a:t>’s</a:t>
            </a:r>
            <a:r>
              <a:rPr lang="en-US" dirty="0"/>
              <a:t> complement of </a:t>
            </a:r>
            <a:r>
              <a:rPr lang="en-US" i="1" dirty="0"/>
              <a:t>N</a:t>
            </a:r>
            <a:r>
              <a:rPr lang="en-US" dirty="0"/>
              <a:t> – </a:t>
            </a:r>
            <a:r>
              <a:rPr lang="en-US" i="1" dirty="0"/>
              <a:t>M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So </a:t>
            </a:r>
            <a:r>
              <a:rPr lang="en-US" i="1" dirty="0"/>
              <a:t>M</a:t>
            </a:r>
            <a:r>
              <a:rPr lang="en-US" dirty="0"/>
              <a:t> – </a:t>
            </a:r>
            <a:r>
              <a:rPr lang="en-US" i="1" dirty="0"/>
              <a:t>N</a:t>
            </a:r>
            <a:r>
              <a:rPr lang="en-US" dirty="0"/>
              <a:t> = – (</a:t>
            </a:r>
            <a:r>
              <a:rPr lang="en-US" i="1" dirty="0" err="1"/>
              <a:t>r</a:t>
            </a:r>
            <a:r>
              <a:rPr lang="en-US" dirty="0" err="1"/>
              <a:t>’s</a:t>
            </a:r>
            <a:r>
              <a:rPr lang="en-US" dirty="0"/>
              <a:t> complement of Sum)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343900" cy="530225"/>
          </a:xfrm>
        </p:spPr>
        <p:txBody>
          <a:bodyPr/>
          <a:lstStyle/>
          <a:p>
            <a:r>
              <a:rPr lang="en-US" dirty="0"/>
              <a:t>65438 - 5623</a:t>
            </a: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838200" y="2286000"/>
            <a:ext cx="7620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65438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10’s complement of 05623        </a:t>
            </a:r>
            <a:r>
              <a:rPr lang="en-US" sz="2400" u="sng" dirty="0"/>
              <a:t>+94377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159815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Discard end carry 10</a:t>
            </a:r>
            <a:r>
              <a:rPr lang="en-US" sz="2400" baseline="30000" dirty="0"/>
              <a:t>5</a:t>
            </a:r>
            <a:r>
              <a:rPr lang="en-US" sz="2400" dirty="0"/>
              <a:t>              </a:t>
            </a:r>
            <a:r>
              <a:rPr lang="en-US" sz="2400" u="sng" dirty="0"/>
              <a:t>-100000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Answer                                         59815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962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Subtraction with Complements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457200"/>
          </a:xfrm>
          <a:prstGeom prst="rect">
            <a:avLst/>
          </a:prstGeom>
        </p:spPr>
        <p:txBody>
          <a:bodyPr/>
          <a:lstStyle/>
          <a:p>
            <a:fld id="{46FFBD17-8481-4F79-B329-4C26F3E084C0}" type="slidenum">
              <a:rPr lang="en-US"/>
              <a:pPr/>
              <a:t>24</a:t>
            </a:fld>
            <a:endParaRPr lang="en-US"/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343900" cy="530225"/>
          </a:xfrm>
        </p:spPr>
        <p:txBody>
          <a:bodyPr/>
          <a:lstStyle/>
          <a:p>
            <a:r>
              <a:rPr lang="en-US" dirty="0"/>
              <a:t>5623 - 65438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962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Subtraction with Complements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38200" y="2286000"/>
            <a:ext cx="76200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05623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10’s complement of 65438        </a:t>
            </a:r>
            <a:r>
              <a:rPr lang="en-US" sz="2400" u="sng" dirty="0"/>
              <a:t>+34562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40185</a:t>
            </a:r>
          </a:p>
          <a:p>
            <a:pPr>
              <a:spcBef>
                <a:spcPct val="50000"/>
              </a:spcBef>
            </a:pPr>
            <a:endParaRPr lang="en-US" sz="2400" dirty="0"/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4114800" y="3505200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6423024" y="3178314"/>
            <a:ext cx="2035176" cy="830997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2400" i="0" u="none" dirty="0">
                <a:solidFill>
                  <a:schemeClr val="tx1"/>
                </a:solidFill>
              </a:rPr>
              <a:t>There is no end carry. 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85800" y="4572000"/>
            <a:ext cx="7391400" cy="830997"/>
          </a:xfrm>
          <a:prstGeom prst="rect">
            <a:avLst/>
          </a:prstGeom>
          <a:solidFill>
            <a:srgbClr val="FFFF00">
              <a:alpha val="74117"/>
            </a:srgbClr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2400" i="0" u="none" dirty="0">
                <a:solidFill>
                  <a:schemeClr val="tx1"/>
                </a:solidFill>
              </a:rPr>
              <a:t>Therefore, the answer is:</a:t>
            </a:r>
          </a:p>
          <a:p>
            <a:r>
              <a:rPr lang="en-US" altLang="zh-TW" sz="2400" dirty="0"/>
              <a:t>	</a:t>
            </a:r>
            <a:r>
              <a:rPr lang="en-US" altLang="zh-TW" sz="2400" i="0" u="none" dirty="0">
                <a:solidFill>
                  <a:schemeClr val="tx1"/>
                </a:solidFill>
              </a:rPr>
              <a:t> – (10's complement of 40185) = 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400" i="0" u="none" dirty="0">
                <a:solidFill>
                  <a:schemeClr val="tx1"/>
                </a:solidFill>
              </a:rPr>
              <a:t> 59815.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553200"/>
            <a:ext cx="28956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Binary Systems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457200"/>
          </a:xfrm>
          <a:prstGeom prst="rect">
            <a:avLst/>
          </a:prstGeom>
        </p:spPr>
        <p:txBody>
          <a:bodyPr/>
          <a:lstStyle/>
          <a:p>
            <a:fld id="{46FFBD17-8481-4F79-B329-4C26F3E084C0}" type="slidenum">
              <a:rPr lang="en-US"/>
              <a:pPr/>
              <a:t>25</a:t>
            </a:fld>
            <a:endParaRPr lang="en-US"/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343900" cy="530225"/>
          </a:xfrm>
        </p:spPr>
        <p:txBody>
          <a:bodyPr/>
          <a:lstStyle/>
          <a:p>
            <a:r>
              <a:rPr lang="en-US" dirty="0"/>
              <a:t>10110010 - 10011111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962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Subtraction with Complements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38200" y="2286000"/>
            <a:ext cx="7620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	  10110010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2’s complement of 10011111     	</a:t>
            </a:r>
            <a:r>
              <a:rPr lang="en-US" sz="2400" u="sng" dirty="0"/>
              <a:t>+01100001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100010011</a:t>
            </a:r>
          </a:p>
          <a:p>
            <a:r>
              <a:rPr lang="en-US" sz="2400" dirty="0"/>
              <a:t>Discard end carry 2^8               </a:t>
            </a:r>
            <a:r>
              <a:rPr lang="en-US" sz="2400" u="sng" dirty="0"/>
              <a:t>- 100000000</a:t>
            </a:r>
          </a:p>
          <a:p>
            <a:r>
              <a:rPr lang="en-US" sz="2400" dirty="0"/>
              <a:t>Answer                                            00010011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553200"/>
            <a:ext cx="28956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Binary Systems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457200"/>
          </a:xfrm>
          <a:prstGeom prst="rect">
            <a:avLst/>
          </a:prstGeom>
        </p:spPr>
        <p:txBody>
          <a:bodyPr/>
          <a:lstStyle/>
          <a:p>
            <a:fld id="{46FFBD17-8481-4F79-B329-4C26F3E084C0}" type="slidenum">
              <a:rPr lang="en-US"/>
              <a:pPr/>
              <a:t>26</a:t>
            </a:fld>
            <a:endParaRPr lang="en-US"/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343900" cy="530225"/>
          </a:xfrm>
        </p:spPr>
        <p:txBody>
          <a:bodyPr/>
          <a:lstStyle/>
          <a:p>
            <a:r>
              <a:rPr lang="en-US" dirty="0"/>
              <a:t>10011111 -10110010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962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Subtraction with Complements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838200" y="2286000"/>
            <a:ext cx="7620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10011111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2’s complement of 10110010     </a:t>
            </a:r>
            <a:r>
              <a:rPr lang="en-US" sz="2400" u="sng" dirty="0"/>
              <a:t>+01001110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11101101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8200" y="4724400"/>
            <a:ext cx="7696200" cy="830997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2400" i="0" u="none" dirty="0">
                <a:solidFill>
                  <a:schemeClr val="tx1"/>
                </a:solidFill>
              </a:rPr>
              <a:t>Therefore, the answer is </a:t>
            </a:r>
          </a:p>
          <a:p>
            <a:r>
              <a:rPr lang="en-US" altLang="zh-TW" sz="2400" i="0" u="none" dirty="0">
                <a:solidFill>
                  <a:schemeClr val="tx1"/>
                </a:solidFill>
              </a:rPr>
              <a:t>Y – X = 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400" i="0" u="none" dirty="0">
                <a:solidFill>
                  <a:schemeClr val="tx1"/>
                </a:solidFill>
              </a:rPr>
              <a:t> (2's complement of </a:t>
            </a:r>
            <a:r>
              <a:rPr lang="en-US" sz="2400" dirty="0"/>
              <a:t>11101101</a:t>
            </a:r>
            <a:r>
              <a:rPr lang="en-US" altLang="zh-TW" sz="2400" i="0" u="none" dirty="0">
                <a:solidFill>
                  <a:schemeClr val="tx1"/>
                </a:solidFill>
              </a:rPr>
              <a:t>) = 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400" i="0" u="none" dirty="0">
                <a:solidFill>
                  <a:schemeClr val="tx1"/>
                </a:solidFill>
              </a:rPr>
              <a:t> 00010011.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4495800" y="3505200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956424" y="3178314"/>
            <a:ext cx="2035176" cy="830997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2400" i="0" u="none" dirty="0">
                <a:solidFill>
                  <a:schemeClr val="tx1"/>
                </a:solidFill>
              </a:rPr>
              <a:t>There is no end carry. 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Subtraction with Complements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altLang="zh-TW" dirty="0"/>
              <a:t>Subtraction of unsigned numbers can also be done by means of the (</a:t>
            </a:r>
            <a:r>
              <a:rPr lang="en-US" altLang="zh-TW" i="1" dirty="0"/>
              <a:t>r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</a:t>
            </a:r>
            <a:r>
              <a:rPr lang="en-US" altLang="zh-TW" dirty="0"/>
              <a:t> 1)'s complement. </a:t>
            </a:r>
          </a:p>
          <a:p>
            <a:r>
              <a:rPr lang="en-US" altLang="zh-TW" dirty="0"/>
              <a:t>Remember that the (</a:t>
            </a:r>
            <a:r>
              <a:rPr lang="en-US" altLang="zh-TW" i="1" dirty="0">
                <a:sym typeface="Symbol" pitchFamily="18" charset="2"/>
              </a:rPr>
              <a:t>r</a:t>
            </a:r>
            <a:r>
              <a:rPr lang="en-US" altLang="zh-TW" dirty="0">
                <a:sym typeface="Symbol" pitchFamily="18" charset="2"/>
              </a:rPr>
              <a:t> </a:t>
            </a:r>
            <a:r>
              <a:rPr lang="en-US" altLang="zh-TW" dirty="0"/>
              <a:t> 1) 's complement is one less then the </a:t>
            </a:r>
            <a:r>
              <a:rPr lang="en-US" altLang="zh-TW" i="1" dirty="0" err="1">
                <a:sym typeface="Symbol" pitchFamily="18" charset="2"/>
              </a:rPr>
              <a:t>r</a:t>
            </a:r>
            <a:r>
              <a:rPr lang="en-US" altLang="zh-TW" dirty="0" err="1">
                <a:sym typeface="Symbol" pitchFamily="18" charset="2"/>
              </a:rPr>
              <a:t>'s</a:t>
            </a:r>
            <a:r>
              <a:rPr lang="en-US" altLang="zh-TW" dirty="0">
                <a:sym typeface="Symbol" pitchFamily="18" charset="2"/>
              </a:rPr>
              <a:t> complement.</a:t>
            </a:r>
          </a:p>
          <a:p>
            <a:r>
              <a:rPr lang="en-US" dirty="0"/>
              <a:t>10110010 - 10011111</a:t>
            </a:r>
          </a:p>
          <a:p>
            <a:pPr>
              <a:buNone/>
            </a:pPr>
            <a:endParaRPr lang="en-US" altLang="zh-TW" dirty="0">
              <a:sym typeface="Symbol" pitchFamily="18" charset="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62000" y="3482876"/>
            <a:ext cx="7620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	  10110010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1’s complement of 10011111     	</a:t>
            </a:r>
            <a:r>
              <a:rPr lang="en-US" sz="2400" u="sng" dirty="0"/>
              <a:t>+01100000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100010010</a:t>
            </a:r>
          </a:p>
          <a:p>
            <a:r>
              <a:rPr lang="en-US" sz="2400" dirty="0"/>
              <a:t>End-around carry                       +               1      </a:t>
            </a:r>
          </a:p>
          <a:p>
            <a:r>
              <a:rPr lang="en-US" sz="2400" dirty="0"/>
              <a:t>Answer                                            00010011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334000" y="5334000"/>
            <a:ext cx="1752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553200"/>
            <a:ext cx="28956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Binary Systems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457200"/>
          </a:xfrm>
          <a:prstGeom prst="rect">
            <a:avLst/>
          </a:prstGeom>
        </p:spPr>
        <p:txBody>
          <a:bodyPr/>
          <a:lstStyle/>
          <a:p>
            <a:fld id="{46FFBD17-8481-4F79-B329-4C26F3E084C0}" type="slidenum">
              <a:rPr lang="en-US"/>
              <a:pPr/>
              <a:t>28</a:t>
            </a:fld>
            <a:endParaRPr lang="en-US"/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49425"/>
            <a:ext cx="8343900" cy="530225"/>
          </a:xfrm>
        </p:spPr>
        <p:txBody>
          <a:bodyPr/>
          <a:lstStyle/>
          <a:p>
            <a:r>
              <a:rPr lang="en-US" dirty="0"/>
              <a:t>10011111 -10110010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74638"/>
            <a:ext cx="76962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Subtraction with Complements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838200" y="2286000"/>
            <a:ext cx="7620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10011111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1’s complement of 10110010     </a:t>
            </a:r>
            <a:r>
              <a:rPr lang="en-US" sz="2400" u="sng" dirty="0"/>
              <a:t>+01001101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                                                      11101100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8200" y="4724400"/>
            <a:ext cx="7772400" cy="830997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2400" i="0" u="none" dirty="0">
                <a:solidFill>
                  <a:schemeClr val="tx1"/>
                </a:solidFill>
              </a:rPr>
              <a:t>Therefore, the answer is </a:t>
            </a:r>
          </a:p>
          <a:p>
            <a:r>
              <a:rPr lang="en-US" altLang="zh-TW" sz="2400" i="0" u="none" dirty="0">
                <a:solidFill>
                  <a:schemeClr val="tx1"/>
                </a:solidFill>
              </a:rPr>
              <a:t>Y – X = 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400" i="0" u="none" dirty="0">
                <a:solidFill>
                  <a:schemeClr val="tx1"/>
                </a:solidFill>
              </a:rPr>
              <a:t> (1's complement of </a:t>
            </a:r>
            <a:r>
              <a:rPr lang="en-US" sz="2400" dirty="0"/>
              <a:t>11101100</a:t>
            </a:r>
            <a:r>
              <a:rPr lang="en-US" altLang="zh-TW" sz="2400" i="0" u="none" dirty="0">
                <a:solidFill>
                  <a:schemeClr val="tx1"/>
                </a:solidFill>
              </a:rPr>
              <a:t>) = 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TW" sz="2400" i="0" u="none" dirty="0">
                <a:solidFill>
                  <a:schemeClr val="tx1"/>
                </a:solidFill>
              </a:rPr>
              <a:t> 00010011.</a:t>
            </a:r>
            <a:r>
              <a:rPr lang="en-US" altLang="zh-TW" sz="2400" i="0" u="none" dirty="0">
                <a:solidFill>
                  <a:schemeClr val="tx1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4495800" y="3505200"/>
            <a:ext cx="830262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956424" y="3178314"/>
            <a:ext cx="2035176" cy="830997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2400" i="0" u="none" dirty="0">
                <a:solidFill>
                  <a:schemeClr val="tx1"/>
                </a:solidFill>
              </a:rPr>
              <a:t>There is no end carry. 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Signed Binary Numbers</a:t>
            </a:r>
            <a:endParaRPr lang="zh-TW" altLang="en-US" sz="2000" dirty="0"/>
          </a:p>
        </p:txBody>
      </p:sp>
      <p:sp>
        <p:nvSpPr>
          <p:cNvPr id="2765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3525" indent="-263525" eaLnBrk="1" hangingPunct="1"/>
            <a:r>
              <a:rPr lang="en-US" altLang="zh-TW" dirty="0"/>
              <a:t>To represent negative integers, we need a notation for negative values</a:t>
            </a:r>
          </a:p>
          <a:p>
            <a:pPr marL="263525" indent="-263525" eaLnBrk="1" hangingPunct="1"/>
            <a:r>
              <a:rPr lang="en-US" altLang="zh-TW" dirty="0"/>
              <a:t>It is customary to represent the sign with a bit placed in the leftmost position of the number</a:t>
            </a:r>
          </a:p>
          <a:p>
            <a:pPr marL="263525" indent="-263525" eaLnBrk="1" hangingPunct="1"/>
            <a:r>
              <a:rPr lang="en-US" altLang="zh-TW" dirty="0"/>
              <a:t>The convention is to make the </a:t>
            </a:r>
            <a:r>
              <a:rPr lang="en-US" altLang="zh-TW" dirty="0">
                <a:solidFill>
                  <a:srgbClr val="00B050"/>
                </a:solidFill>
              </a:rPr>
              <a:t>sign bit 0 for positive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00B050"/>
                </a:solidFill>
              </a:rPr>
              <a:t>1 for negative</a:t>
            </a:r>
            <a:endParaRPr lang="en-US" altLang="zh-TW" dirty="0"/>
          </a:p>
          <a:p>
            <a:pPr marL="263525" indent="-263525" eaLnBrk="1" hangingPunct="1"/>
            <a:r>
              <a:rPr lang="en-US" altLang="zh-TW" dirty="0"/>
              <a:t>Example:</a:t>
            </a:r>
          </a:p>
          <a:p>
            <a:pPr marL="263525" indent="-263525" eaLnBrk="1" hangingPunct="1"/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2000" dirty="0">
              <a:solidFill>
                <a:srgbClr val="0000FF"/>
              </a:solidFill>
              <a:sym typeface="Symbol" pitchFamily="18" charset="2"/>
            </a:endParaRPr>
          </a:p>
          <a:p>
            <a:pPr marL="263525" indent="-263525" eaLnBrk="1" hangingPunct="1"/>
            <a:endParaRPr lang="en-US" altLang="zh-TW" sz="1400" dirty="0">
              <a:sym typeface="Symbol" pitchFamily="18" charset="2"/>
            </a:endParaRP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18000"/>
          </a:blip>
          <a:srcRect/>
          <a:stretch>
            <a:fillRect/>
          </a:stretch>
        </p:blipFill>
        <p:spPr bwMode="auto">
          <a:xfrm>
            <a:off x="838200" y="4929188"/>
            <a:ext cx="6248400" cy="1319212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6" name="Text Box 4"/>
          <p:cNvSpPr txBox="1">
            <a:spLocks noChangeArrowheads="1"/>
          </p:cNvSpPr>
          <p:nvPr/>
        </p:nvSpPr>
        <p:spPr bwMode="auto">
          <a:xfrm>
            <a:off x="838200" y="2057400"/>
            <a:ext cx="2590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+ 5     00000101</a:t>
            </a:r>
          </a:p>
          <a:p>
            <a:pPr>
              <a:spcBef>
                <a:spcPct val="50000"/>
              </a:spcBef>
            </a:pPr>
            <a:r>
              <a:rPr lang="en-US" sz="2400" u="sng" dirty="0"/>
              <a:t>+11</a:t>
            </a:r>
            <a:r>
              <a:rPr lang="en-US" sz="2400" dirty="0"/>
              <a:t>    </a:t>
            </a:r>
            <a:r>
              <a:rPr lang="en-US" sz="2400" u="sng" dirty="0"/>
              <a:t>00001011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+16    00010000</a:t>
            </a:r>
          </a:p>
        </p:txBody>
      </p:sp>
      <p:sp>
        <p:nvSpPr>
          <p:cNvPr id="300037" name="Text Box 5"/>
          <p:cNvSpPr txBox="1">
            <a:spLocks noChangeArrowheads="1"/>
          </p:cNvSpPr>
          <p:nvPr/>
        </p:nvSpPr>
        <p:spPr bwMode="auto">
          <a:xfrm>
            <a:off x="4819650" y="2011740"/>
            <a:ext cx="2590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- 5      11111011</a:t>
            </a:r>
          </a:p>
          <a:p>
            <a:pPr>
              <a:spcBef>
                <a:spcPct val="50000"/>
              </a:spcBef>
            </a:pPr>
            <a:r>
              <a:rPr lang="en-US" sz="2400" u="sng" dirty="0"/>
              <a:t>+11</a:t>
            </a:r>
            <a:r>
              <a:rPr lang="en-US" sz="2400" dirty="0"/>
              <a:t>    </a:t>
            </a:r>
            <a:r>
              <a:rPr lang="en-US" sz="2400" u="sng" dirty="0"/>
              <a:t>00001011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+6   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00000110</a:t>
            </a:r>
          </a:p>
        </p:txBody>
      </p:sp>
      <p:sp>
        <p:nvSpPr>
          <p:cNvPr id="300038" name="Line 6"/>
          <p:cNvSpPr>
            <a:spLocks noChangeShapeType="1"/>
          </p:cNvSpPr>
          <p:nvPr/>
        </p:nvSpPr>
        <p:spPr bwMode="auto">
          <a:xfrm flipV="1">
            <a:off x="5657850" y="17526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5429250" y="132594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Discard</a:t>
            </a:r>
          </a:p>
        </p:txBody>
      </p:sp>
      <p:sp>
        <p:nvSpPr>
          <p:cNvPr id="300040" name="Text Box 8"/>
          <p:cNvSpPr txBox="1">
            <a:spLocks noChangeArrowheads="1"/>
          </p:cNvSpPr>
          <p:nvPr/>
        </p:nvSpPr>
        <p:spPr bwMode="auto">
          <a:xfrm>
            <a:off x="838200" y="4191000"/>
            <a:ext cx="2590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+ 5     00000101</a:t>
            </a:r>
          </a:p>
          <a:p>
            <a:pPr>
              <a:spcBef>
                <a:spcPct val="50000"/>
              </a:spcBef>
            </a:pPr>
            <a:r>
              <a:rPr lang="en-US" sz="2400" u="sng" dirty="0"/>
              <a:t>-11</a:t>
            </a:r>
            <a:r>
              <a:rPr lang="en-US" sz="2400" dirty="0"/>
              <a:t>     </a:t>
            </a:r>
            <a:r>
              <a:rPr lang="en-US" sz="2400" u="sng" dirty="0"/>
              <a:t>11110101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-6       11111010 </a:t>
            </a:r>
          </a:p>
        </p:txBody>
      </p:sp>
      <p:sp>
        <p:nvSpPr>
          <p:cNvPr id="300041" name="Text Box 9"/>
          <p:cNvSpPr txBox="1">
            <a:spLocks noChangeArrowheads="1"/>
          </p:cNvSpPr>
          <p:nvPr/>
        </p:nvSpPr>
        <p:spPr bwMode="auto">
          <a:xfrm>
            <a:off x="4819650" y="4221540"/>
            <a:ext cx="2590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- 5      11111011</a:t>
            </a:r>
          </a:p>
          <a:p>
            <a:pPr>
              <a:spcBef>
                <a:spcPct val="50000"/>
              </a:spcBef>
            </a:pPr>
            <a:r>
              <a:rPr lang="en-US" sz="2400" u="sng" dirty="0"/>
              <a:t>-11</a:t>
            </a:r>
            <a:r>
              <a:rPr lang="en-US" sz="2400" dirty="0"/>
              <a:t>     </a:t>
            </a:r>
            <a:r>
              <a:rPr lang="en-US" sz="2400" u="sng" dirty="0"/>
              <a:t>11110101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-16  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11110000 </a:t>
            </a:r>
          </a:p>
        </p:txBody>
      </p:sp>
      <p:sp>
        <p:nvSpPr>
          <p:cNvPr id="300042" name="Line 10"/>
          <p:cNvSpPr>
            <a:spLocks noChangeShapeType="1"/>
          </p:cNvSpPr>
          <p:nvPr/>
        </p:nvSpPr>
        <p:spPr bwMode="auto">
          <a:xfrm>
            <a:off x="5695950" y="5740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300043" name="Line 11"/>
          <p:cNvSpPr>
            <a:spLocks noChangeShapeType="1"/>
          </p:cNvSpPr>
          <p:nvPr/>
        </p:nvSpPr>
        <p:spPr bwMode="auto">
          <a:xfrm>
            <a:off x="5695950" y="6045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 sz="2400"/>
          </a:p>
        </p:txBody>
      </p:sp>
      <p:sp>
        <p:nvSpPr>
          <p:cNvPr id="300044" name="Text Box 12"/>
          <p:cNvSpPr txBox="1">
            <a:spLocks noChangeArrowheads="1"/>
          </p:cNvSpPr>
          <p:nvPr/>
        </p:nvSpPr>
        <p:spPr bwMode="auto">
          <a:xfrm>
            <a:off x="6648450" y="57912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Discard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Signed Binary Numbers</a:t>
            </a:r>
            <a:br>
              <a:rPr lang="en-US" altLang="zh-TW" dirty="0"/>
            </a:br>
            <a:r>
              <a:rPr lang="en-US" dirty="0"/>
              <a:t>Arithmetic Addition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40" grpId="0"/>
      <p:bldP spid="300041" grpId="0"/>
      <p:bldP spid="300042" grpId="0" animBg="1"/>
      <p:bldP spid="3000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Signed Binary Numbers</a:t>
            </a:r>
            <a:br>
              <a:rPr lang="en-US" altLang="zh-TW" dirty="0"/>
            </a:br>
            <a:r>
              <a:rPr lang="en-US" altLang="zh-TW" dirty="0"/>
              <a:t>Arithmetic Subtraction</a:t>
            </a:r>
            <a:endParaRPr lang="zh-TW" altLang="en-US" sz="2000" dirty="0"/>
          </a:p>
        </p:txBody>
      </p:sp>
      <p:sp>
        <p:nvSpPr>
          <p:cNvPr id="1028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Symbol" pitchFamily="18" charset="2"/>
              </a:rPr>
              <a:t>In 2’s-complement form:</a:t>
            </a:r>
          </a:p>
          <a:p>
            <a:pPr lvl="1" eaLnBrk="1" hangingPunct="1"/>
            <a:endParaRPr lang="en-US" altLang="zh-TW" dirty="0">
              <a:sym typeface="Symbol" pitchFamily="18" charset="2"/>
            </a:endParaRPr>
          </a:p>
          <a:p>
            <a:pPr lvl="1" eaLnBrk="1" hangingPunct="1"/>
            <a:endParaRPr lang="en-US" altLang="zh-TW" dirty="0">
              <a:sym typeface="Symbol" pitchFamily="18" charset="2"/>
            </a:endParaRPr>
          </a:p>
          <a:p>
            <a:pPr lvl="1" eaLnBrk="1" hangingPunct="1"/>
            <a:endParaRPr lang="en-US" altLang="zh-TW" dirty="0">
              <a:sym typeface="Symbol" pitchFamily="18" charset="2"/>
            </a:endParaRPr>
          </a:p>
          <a:p>
            <a:pPr lvl="1" eaLnBrk="1" hangingPunct="1"/>
            <a:endParaRPr lang="en-US" altLang="zh-TW" dirty="0">
              <a:sym typeface="Symbol" pitchFamily="18" charset="2"/>
            </a:endParaRPr>
          </a:p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Example: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1158875" y="2208213"/>
            <a:ext cx="7454900" cy="1154112"/>
          </a:xfrm>
          <a:prstGeom prst="rect">
            <a:avLst/>
          </a:prstGeom>
          <a:solidFill>
            <a:srgbClr val="CCFFCC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15000"/>
              </a:lnSpc>
              <a:buFontTx/>
              <a:buAutoNum type="arabicPeriod"/>
            </a:pPr>
            <a:r>
              <a:rPr lang="en-US" altLang="zh-TW" sz="2000" i="0" u="none" dirty="0">
                <a:solidFill>
                  <a:schemeClr val="tx1"/>
                </a:solidFill>
              </a:rPr>
              <a:t>Take the 2’s complement of the subtrahend (including the sign bit) and add it to the minuend (including sign bit). </a:t>
            </a:r>
          </a:p>
          <a:p>
            <a:pPr marL="457200" indent="-457200">
              <a:lnSpc>
                <a:spcPct val="115000"/>
              </a:lnSpc>
              <a:buFontTx/>
              <a:buAutoNum type="arabicPeriod"/>
            </a:pPr>
            <a:r>
              <a:rPr lang="en-US" altLang="zh-TW" sz="2000" i="0" u="none" dirty="0">
                <a:solidFill>
                  <a:schemeClr val="tx1"/>
                </a:solidFill>
              </a:rPr>
              <a:t>A carry out of sign-bit position is discarded.</a:t>
            </a: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>
            <a:off x="1168400" y="3868738"/>
            <a:ext cx="830263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189163" y="3546475"/>
          <a:ext cx="3024187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367" imgH="431613" progId="">
                  <p:embed/>
                </p:oleObj>
              </mc:Choice>
              <mc:Fallback>
                <p:oleObj name="Equation" r:id="rId2" imgW="1688367" imgH="431613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3546475"/>
                        <a:ext cx="3024187" cy="842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Text Box 10"/>
          <p:cNvSpPr txBox="1">
            <a:spLocks noChangeArrowheads="1"/>
          </p:cNvSpPr>
          <p:nvPr/>
        </p:nvSpPr>
        <p:spPr bwMode="auto">
          <a:xfrm>
            <a:off x="641350" y="5067300"/>
            <a:ext cx="1589088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( 6)  ( 13)</a:t>
            </a:r>
          </a:p>
        </p:txBody>
      </p:sp>
      <p:sp>
        <p:nvSpPr>
          <p:cNvPr id="1032" name="AutoShape 11"/>
          <p:cNvSpPr>
            <a:spLocks noChangeArrowheads="1"/>
          </p:cNvSpPr>
          <p:nvPr/>
        </p:nvSpPr>
        <p:spPr bwMode="auto">
          <a:xfrm>
            <a:off x="2400300" y="5168900"/>
            <a:ext cx="831850" cy="215900"/>
          </a:xfrm>
          <a:prstGeom prst="notchedRightArrow">
            <a:avLst>
              <a:gd name="adj1" fmla="val 50000"/>
              <a:gd name="adj2" fmla="val 104350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1033" name="Text Box 12"/>
          <p:cNvSpPr txBox="1">
            <a:spLocks noChangeArrowheads="1"/>
          </p:cNvSpPr>
          <p:nvPr/>
        </p:nvSpPr>
        <p:spPr bwMode="auto">
          <a:xfrm>
            <a:off x="3467100" y="5067300"/>
            <a:ext cx="2598738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(11111010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 11110011</a:t>
            </a:r>
            <a:r>
              <a:rPr lang="en-US" altLang="zh-TW" sz="2000" i="0" u="none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34" name="Text Box 13"/>
          <p:cNvSpPr txBox="1">
            <a:spLocks noChangeArrowheads="1"/>
          </p:cNvSpPr>
          <p:nvPr/>
        </p:nvSpPr>
        <p:spPr bwMode="auto">
          <a:xfrm>
            <a:off x="3467100" y="5534025"/>
            <a:ext cx="2611438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(11111010 </a:t>
            </a:r>
            <a:r>
              <a:rPr lang="en-US" altLang="zh-TW" sz="2000" i="0" u="none">
                <a:solidFill>
                  <a:schemeClr val="tx1"/>
                </a:solidFill>
                <a:sym typeface="Symbol" pitchFamily="18" charset="2"/>
              </a:rPr>
              <a:t>+</a:t>
            </a:r>
            <a:r>
              <a:rPr lang="en-US" altLang="zh-TW" sz="2000" i="0" u="none">
                <a:solidFill>
                  <a:schemeClr val="tx1"/>
                </a:solidFill>
              </a:rPr>
              <a:t> 00001101)</a:t>
            </a:r>
          </a:p>
        </p:txBody>
      </p:sp>
      <p:sp>
        <p:nvSpPr>
          <p:cNvPr id="1035" name="AutoShape 14"/>
          <p:cNvSpPr>
            <a:spLocks noChangeArrowheads="1"/>
          </p:cNvSpPr>
          <p:nvPr/>
        </p:nvSpPr>
        <p:spPr bwMode="auto">
          <a:xfrm>
            <a:off x="2403475" y="5654675"/>
            <a:ext cx="830263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2000" i="0" u="none">
              <a:solidFill>
                <a:schemeClr val="tx1"/>
              </a:solidFill>
            </a:endParaRPr>
          </a:p>
        </p:txBody>
      </p:sp>
      <p:sp>
        <p:nvSpPr>
          <p:cNvPr id="1036" name="Text Box 15"/>
          <p:cNvSpPr txBox="1">
            <a:spLocks noChangeArrowheads="1"/>
          </p:cNvSpPr>
          <p:nvPr/>
        </p:nvSpPr>
        <p:spPr bwMode="auto">
          <a:xfrm>
            <a:off x="3467100" y="6037263"/>
            <a:ext cx="17716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chemeClr val="tx1"/>
                </a:solidFill>
              </a:rPr>
              <a:t>00000111 (+ 7)</a:t>
            </a:r>
          </a:p>
        </p:txBody>
      </p:sp>
      <p:sp>
        <p:nvSpPr>
          <p:cNvPr id="1037" name="AutoShape 16"/>
          <p:cNvSpPr>
            <a:spLocks noChangeArrowheads="1"/>
          </p:cNvSpPr>
          <p:nvPr/>
        </p:nvSpPr>
        <p:spPr bwMode="auto">
          <a:xfrm>
            <a:off x="2403475" y="6157913"/>
            <a:ext cx="830263" cy="215900"/>
          </a:xfrm>
          <a:prstGeom prst="notchedRightArrow">
            <a:avLst>
              <a:gd name="adj1" fmla="val 50000"/>
              <a:gd name="adj2" fmla="val 104151"/>
            </a:avLst>
          </a:prstGeom>
          <a:solidFill>
            <a:srgbClr val="FFC000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sz="2000" i="0" u="none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Code: BCD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191000" cy="4873752"/>
          </a:xfrm>
        </p:spPr>
        <p:txBody>
          <a:bodyPr>
            <a:noAutofit/>
          </a:bodyPr>
          <a:lstStyle/>
          <a:p>
            <a:r>
              <a:rPr lang="en-US" altLang="zh-TW" dirty="0"/>
              <a:t>A number with k decimal digits will require 4k bits in BCD</a:t>
            </a:r>
          </a:p>
          <a:p>
            <a:pPr>
              <a:buNone/>
            </a:pPr>
            <a:endParaRPr lang="en-US" altLang="zh-TW" dirty="0"/>
          </a:p>
          <a:p>
            <a:r>
              <a:rPr lang="en-US" altLang="zh-TW" dirty="0"/>
              <a:t>A decimal number in BCD is the same as its equivalent binary number only when the number is between 0 and 9</a:t>
            </a:r>
          </a:p>
          <a:p>
            <a:pPr>
              <a:buNone/>
            </a:pPr>
            <a:endParaRPr lang="en-US" altLang="zh-TW" dirty="0">
              <a:sym typeface="Symbol" pitchFamily="18" charset="2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4724400" y="1480649"/>
            <a:ext cx="3422650" cy="46058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Binary Code: BCD Code</a:t>
            </a:r>
            <a:endParaRPr lang="zh-TW" altLang="en-US" sz="2000" dirty="0"/>
          </a:p>
        </p:txBody>
      </p:sp>
      <p:sp>
        <p:nvSpPr>
          <p:cNvPr id="3993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 typeface="Wingdings" pitchFamily="2" charset="2"/>
              <a:buNone/>
            </a:pPr>
            <a:endParaRPr lang="en-US" altLang="zh-TW" dirty="0"/>
          </a:p>
          <a:p>
            <a:pPr eaLnBrk="1" hangingPunct="1"/>
            <a:r>
              <a:rPr lang="en-US" altLang="zh-TW" dirty="0"/>
              <a:t> BCD Addition </a:t>
            </a:r>
          </a:p>
          <a:p>
            <a:pPr lvl="1" eaLnBrk="1" hangingPunct="1"/>
            <a:endParaRPr lang="en-US" altLang="zh-TW" dirty="0"/>
          </a:p>
          <a:p>
            <a:pPr eaLnBrk="1" hangingPunct="1"/>
            <a:endParaRPr lang="en-US" altLang="zh-TW" i="1" dirty="0">
              <a:solidFill>
                <a:srgbClr val="FF0000"/>
              </a:solidFill>
            </a:endParaRPr>
          </a:p>
          <a:p>
            <a:pPr eaLnBrk="1" hangingPunct="1"/>
            <a:endParaRPr lang="zh-TW" altLang="en-US" dirty="0"/>
          </a:p>
        </p:txBody>
      </p:sp>
      <p:pic>
        <p:nvPicPr>
          <p:cNvPr id="35846" name="Picture 8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1809750" y="2803525"/>
            <a:ext cx="5568950" cy="2650485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Binary Code: BCD Code</a:t>
            </a:r>
            <a:endParaRPr lang="zh-TW" altLang="en-US" dirty="0"/>
          </a:p>
        </p:txBody>
      </p:sp>
      <p:sp>
        <p:nvSpPr>
          <p:cNvPr id="409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Example:</a:t>
            </a:r>
          </a:p>
          <a:p>
            <a:pPr lvl="1" eaLnBrk="1" hangingPunct="1"/>
            <a:r>
              <a:rPr lang="en-US" altLang="zh-TW" dirty="0"/>
              <a:t>Addition of 184 + 576 = 760 in BCD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eaLnBrk="1" hangingPunct="1"/>
            <a:endParaRPr lang="en-US" altLang="zh-TW" i="1" dirty="0">
              <a:solidFill>
                <a:srgbClr val="FF0000"/>
              </a:solidFill>
            </a:endParaRP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903945" y="2724149"/>
            <a:ext cx="7178451" cy="2971801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Binary Code: BCD Code</a:t>
            </a:r>
            <a:endParaRPr lang="zh-TW" altLang="en-US" dirty="0"/>
          </a:p>
        </p:txBody>
      </p:sp>
      <p:sp>
        <p:nvSpPr>
          <p:cNvPr id="409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None/>
            </a:pPr>
            <a:endParaRPr lang="en-US" altLang="zh-TW" dirty="0"/>
          </a:p>
          <a:p>
            <a:pPr eaLnBrk="1" hangingPunct="1"/>
            <a:r>
              <a:rPr lang="en-US" altLang="zh-TW" dirty="0"/>
              <a:t>Decimal Arithmetic: (+375) + (-240) = +135</a:t>
            </a:r>
          </a:p>
          <a:p>
            <a:pPr lvl="1" eaLnBrk="1" hangingPunct="1"/>
            <a:endParaRPr lang="en-US" altLang="zh-TW" dirty="0"/>
          </a:p>
          <a:p>
            <a:pPr eaLnBrk="1" hangingPunct="1"/>
            <a:endParaRPr lang="en-US" altLang="zh-TW" i="1" dirty="0">
              <a:solidFill>
                <a:srgbClr val="FF0000"/>
              </a:solidFill>
            </a:endParaRPr>
          </a:p>
        </p:txBody>
      </p:sp>
      <p:pic>
        <p:nvPicPr>
          <p:cNvPr id="36869" name="Picture 7"/>
          <p:cNvPicPr>
            <a:picLocks noChangeAspect="1" noChangeArrowheads="1"/>
          </p:cNvPicPr>
          <p:nvPr/>
        </p:nvPicPr>
        <p:blipFill>
          <a:blip r:embed="rId2" cstate="print">
            <a:lum bright="-6000" contrast="18000"/>
          </a:blip>
          <a:srcRect/>
          <a:stretch>
            <a:fillRect/>
          </a:stretch>
        </p:blipFill>
        <p:spPr bwMode="auto">
          <a:xfrm>
            <a:off x="1228656" y="2819401"/>
            <a:ext cx="1816169" cy="187483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Binary Codes</a:t>
            </a:r>
            <a:br>
              <a:rPr lang="en-US" altLang="zh-TW" dirty="0"/>
            </a:br>
            <a:r>
              <a:rPr lang="en-US" altLang="zh-TW" dirty="0"/>
              <a:t>Other decimal codes</a:t>
            </a:r>
            <a:endParaRPr lang="zh-TW" altLang="en-US" sz="2000" dirty="0"/>
          </a:p>
        </p:txBody>
      </p:sp>
      <p:pic>
        <p:nvPicPr>
          <p:cNvPr id="41988" name="Picture 8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1708150" y="1581150"/>
            <a:ext cx="5335588" cy="4932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Code: Gray Code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952750" y="1445509"/>
            <a:ext cx="2986088" cy="50616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724400" cy="4873752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Codes: ASCII Character Code</a:t>
            </a:r>
            <a:endParaRPr lang="zh-TW" altLang="en-US" dirty="0"/>
          </a:p>
        </p:txBody>
      </p:sp>
      <p:sp>
        <p:nvSpPr>
          <p:cNvPr id="4608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/>
              <a:t>American Standard Code for Information Interchange (Refer to Table 1.7)</a:t>
            </a:r>
          </a:p>
          <a:p>
            <a:pPr eaLnBrk="1" hangingPunct="1"/>
            <a:r>
              <a:rPr lang="en-US" altLang="zh-TW" dirty="0"/>
              <a:t>A popular code used to represent information sent as character-based data.</a:t>
            </a:r>
          </a:p>
          <a:p>
            <a:pPr eaLnBrk="1" hangingPunct="1"/>
            <a:r>
              <a:rPr lang="en-US" altLang="zh-TW" dirty="0"/>
              <a:t>It uses 7-bits to represent:</a:t>
            </a:r>
          </a:p>
          <a:p>
            <a:pPr lvl="1" eaLnBrk="1" hangingPunct="1"/>
            <a:r>
              <a:rPr lang="en-US" altLang="zh-TW" dirty="0"/>
              <a:t>94 Graphic printing characters.</a:t>
            </a:r>
          </a:p>
          <a:p>
            <a:pPr lvl="1" eaLnBrk="1" hangingPunct="1"/>
            <a:r>
              <a:rPr lang="en-US" altLang="zh-TW" dirty="0"/>
              <a:t>34 Non-printing characters.</a:t>
            </a:r>
          </a:p>
          <a:p>
            <a:pPr eaLnBrk="1" hangingPunct="1"/>
            <a:r>
              <a:rPr lang="en-US" altLang="zh-TW" dirty="0"/>
              <a:t>Some non-printing characters are used for text format (e.g. BS = Backspace, CR = carriage return).</a:t>
            </a:r>
          </a:p>
          <a:p>
            <a:pPr eaLnBrk="1" hangingPunct="1"/>
            <a:r>
              <a:rPr lang="en-US" altLang="zh-TW" dirty="0"/>
              <a:t>Other non-printing characters are used for record marking and flow control (e.g. STX and ETX start and end text areas).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Binary Codes: ASCII Character Code</a:t>
            </a:r>
            <a:endParaRPr lang="zh-TW" altLang="en-US" sz="20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1031875" y="1597025"/>
            <a:ext cx="6292850" cy="4970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Binary Codes: Error-Detecting Code</a:t>
            </a:r>
            <a:endParaRPr lang="zh-TW" altLang="en-US" sz="2000" dirty="0"/>
          </a:p>
        </p:txBody>
      </p:sp>
      <p:sp>
        <p:nvSpPr>
          <p:cNvPr id="4813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detect errors in data communication and processing, an </a:t>
            </a:r>
            <a:r>
              <a:rPr lang="en-US" altLang="zh-TW" u="sng" dirty="0"/>
              <a:t>eighth bit</a:t>
            </a:r>
            <a:r>
              <a:rPr lang="en-US" altLang="zh-TW" dirty="0"/>
              <a:t> is sometimes added to the ASCII character to indicate its parity. </a:t>
            </a:r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33CC"/>
                </a:solidFill>
              </a:rPr>
              <a:t>parity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33CC"/>
                </a:solidFill>
              </a:rPr>
              <a:t>bit</a:t>
            </a:r>
            <a:r>
              <a:rPr lang="en-US" altLang="zh-TW" dirty="0"/>
              <a:t> is an extra bit included with a message to make the total number of 1's either even or odd.</a:t>
            </a:r>
          </a:p>
          <a:p>
            <a:r>
              <a:rPr lang="en-US" altLang="zh-TW" dirty="0"/>
              <a:t>Example:</a:t>
            </a:r>
          </a:p>
          <a:p>
            <a:pPr lvl="1"/>
            <a:r>
              <a:rPr lang="en-US" altLang="zh-TW" dirty="0"/>
              <a:t>Consider the following two characters and their even and odd parity: </a:t>
            </a:r>
          </a:p>
          <a:p>
            <a:endParaRPr lang="en-US" altLang="zh-TW" dirty="0"/>
          </a:p>
          <a:p>
            <a:pPr eaLnBrk="1" hangingPunct="1"/>
            <a:endParaRPr lang="en-US" altLang="zh-TW" i="1" dirty="0">
              <a:solidFill>
                <a:srgbClr val="FF0000"/>
              </a:solidFill>
            </a:endParaRPr>
          </a:p>
          <a:p>
            <a:pPr lvl="1" eaLnBrk="1" hangingPunct="1"/>
            <a:endParaRPr lang="zh-TW" altLang="en-US" dirty="0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774700" y="5161756"/>
            <a:ext cx="7345363" cy="114458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Chapter 1 (Excluding Section 1.8)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3381</TotalTime>
  <Words>2027</Words>
  <Application>Microsoft Office PowerPoint</Application>
  <PresentationFormat>On-screen Show (4:3)</PresentationFormat>
  <Paragraphs>485</Paragraphs>
  <Slides>41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Century Schoolbook</vt:lpstr>
      <vt:lpstr>Symbol</vt:lpstr>
      <vt:lpstr>Times New Roman</vt:lpstr>
      <vt:lpstr>TimesNewRomanPS-ItalicMT</vt:lpstr>
      <vt:lpstr>Wingdings</vt:lpstr>
      <vt:lpstr>Wingdings 2</vt:lpstr>
      <vt:lpstr>Oriel</vt:lpstr>
      <vt:lpstr>Equation</vt:lpstr>
      <vt:lpstr>CSE 205: Digital Logic Design</vt:lpstr>
      <vt:lpstr>Number Systems</vt:lpstr>
      <vt:lpstr>Decimal Number Systems</vt:lpstr>
      <vt:lpstr>Other Number Systems</vt:lpstr>
      <vt:lpstr>Binary Number Systems</vt:lpstr>
      <vt:lpstr>Binary to Decimal: practice</vt:lpstr>
      <vt:lpstr>Octal Number Systems</vt:lpstr>
      <vt:lpstr>Hexadecimal Number Systems</vt:lpstr>
      <vt:lpstr>Decimal (Integer) to Binary</vt:lpstr>
      <vt:lpstr>Decimal to binary: practice</vt:lpstr>
      <vt:lpstr>Decimal (Fraction) to Binary</vt:lpstr>
      <vt:lpstr>Decimal to Octal Conversion</vt:lpstr>
      <vt:lpstr>Binary − Octal Conversion</vt:lpstr>
      <vt:lpstr>Binary − Hexadecimal Conversion</vt:lpstr>
      <vt:lpstr>Octal − Hexadecimal Conversion</vt:lpstr>
      <vt:lpstr>Binary Addition</vt:lpstr>
      <vt:lpstr>Binary Subtraction</vt:lpstr>
      <vt:lpstr>Complements</vt:lpstr>
      <vt:lpstr>Diminished Radix Complement</vt:lpstr>
      <vt:lpstr>Radix Complement</vt:lpstr>
      <vt:lpstr>Radix Complement (Binary Number)</vt:lpstr>
      <vt:lpstr>Subtraction with Complements</vt:lpstr>
      <vt:lpstr>PowerPoint Presentation</vt:lpstr>
      <vt:lpstr>PowerPoint Presentation</vt:lpstr>
      <vt:lpstr>PowerPoint Presentation</vt:lpstr>
      <vt:lpstr>PowerPoint Presentation</vt:lpstr>
      <vt:lpstr>Subtraction with Complements</vt:lpstr>
      <vt:lpstr>PowerPoint Presentation</vt:lpstr>
      <vt:lpstr>Signed Binary Numbers</vt:lpstr>
      <vt:lpstr>Signed Binary Numbers Arithmetic Addition</vt:lpstr>
      <vt:lpstr>Signed Binary Numbers Arithmetic Subtraction</vt:lpstr>
      <vt:lpstr>Binary Code: BCD Code</vt:lpstr>
      <vt:lpstr>Binary Code: BCD Code</vt:lpstr>
      <vt:lpstr>Binary Code: BCD Code</vt:lpstr>
      <vt:lpstr>Binary Code: BCD Code</vt:lpstr>
      <vt:lpstr>Binary Codes Other decimal codes</vt:lpstr>
      <vt:lpstr>Binary Code: Gray Code</vt:lpstr>
      <vt:lpstr>Binary Codes: ASCII Character Code</vt:lpstr>
      <vt:lpstr>Binary Codes: ASCII Character Code</vt:lpstr>
      <vt:lpstr>Binary Codes: Error-Detecting Code</vt:lpstr>
      <vt:lpstr>Syllabus</vt:lpstr>
    </vt:vector>
  </TitlesOfParts>
  <Company>BUET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Dr. Tanzima Hashem</cp:lastModifiedBy>
  <cp:revision>437</cp:revision>
  <dcterms:created xsi:type="dcterms:W3CDTF">2012-03-31T05:29:50Z</dcterms:created>
  <dcterms:modified xsi:type="dcterms:W3CDTF">2022-11-29T04:53:15Z</dcterms:modified>
</cp:coreProperties>
</file>