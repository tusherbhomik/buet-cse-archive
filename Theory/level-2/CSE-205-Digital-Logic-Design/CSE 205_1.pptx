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473" r:id="rId4"/>
    <p:sldId id="389" r:id="rId5"/>
    <p:sldId id="393" r:id="rId6"/>
    <p:sldId id="384" r:id="rId7"/>
    <p:sldId id="395" r:id="rId8"/>
    <p:sldId id="396" r:id="rId9"/>
    <p:sldId id="400" r:id="rId10"/>
    <p:sldId id="475" r:id="rId11"/>
    <p:sldId id="417" r:id="rId12"/>
    <p:sldId id="425" r:id="rId13"/>
    <p:sldId id="418" r:id="rId14"/>
    <p:sldId id="424" r:id="rId15"/>
    <p:sldId id="428" r:id="rId16"/>
    <p:sldId id="459" r:id="rId17"/>
    <p:sldId id="458" r:id="rId18"/>
    <p:sldId id="419" r:id="rId19"/>
    <p:sldId id="438" r:id="rId20"/>
    <p:sldId id="436" r:id="rId21"/>
    <p:sldId id="439" r:id="rId22"/>
    <p:sldId id="440" r:id="rId23"/>
    <p:sldId id="441" r:id="rId24"/>
    <p:sldId id="442" r:id="rId25"/>
    <p:sldId id="443" r:id="rId26"/>
    <p:sldId id="474" r:id="rId27"/>
    <p:sldId id="401" r:id="rId28"/>
    <p:sldId id="466" r:id="rId29"/>
    <p:sldId id="467" r:id="rId30"/>
    <p:sldId id="397" r:id="rId31"/>
    <p:sldId id="468" r:id="rId32"/>
    <p:sldId id="469" r:id="rId33"/>
    <p:sldId id="476" r:id="rId34"/>
    <p:sldId id="402" r:id="rId35"/>
    <p:sldId id="403" r:id="rId36"/>
    <p:sldId id="404" r:id="rId37"/>
    <p:sldId id="405" r:id="rId38"/>
    <p:sldId id="407" r:id="rId39"/>
    <p:sldId id="408" r:id="rId40"/>
    <p:sldId id="409" r:id="rId41"/>
    <p:sldId id="410" r:id="rId42"/>
    <p:sldId id="411" r:id="rId43"/>
    <p:sldId id="412" r:id="rId44"/>
    <p:sldId id="413" r:id="rId45"/>
    <p:sldId id="470" r:id="rId46"/>
    <p:sldId id="414" r:id="rId47"/>
    <p:sldId id="415" r:id="rId48"/>
    <p:sldId id="471" r:id="rId49"/>
    <p:sldId id="416" r:id="rId50"/>
    <p:sldId id="445" r:id="rId51"/>
    <p:sldId id="446" r:id="rId52"/>
    <p:sldId id="447" r:id="rId53"/>
    <p:sldId id="449" r:id="rId54"/>
    <p:sldId id="450" r:id="rId55"/>
    <p:sldId id="451" r:id="rId56"/>
    <p:sldId id="452" r:id="rId57"/>
    <p:sldId id="453" r:id="rId58"/>
    <p:sldId id="454" r:id="rId59"/>
    <p:sldId id="457" r:id="rId60"/>
    <p:sldId id="472" r:id="rId6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128" autoAdjust="0"/>
  </p:normalViewPr>
  <p:slideViewPr>
    <p:cSldViewPr snapToGrid="0">
      <p:cViewPr varScale="1">
        <p:scale>
          <a:sx n="65" d="100"/>
          <a:sy n="65" d="100"/>
        </p:scale>
        <p:origin x="-1028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9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400" baseline="0"/>
            </a:lvl2pPr>
            <a:lvl3pPr>
              <a:defRPr sz="24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/>
              <a:t>CSE 205: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/>
              <a:t>Dr. Tanzima Hashem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CSE, BUET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Design (5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  <a:p>
            <a:pPr lvl="1"/>
            <a:r>
              <a:rPr lang="en-US" dirty="0"/>
              <a:t>M. Morris </a:t>
            </a:r>
            <a:r>
              <a:rPr lang="en-US" dirty="0" err="1"/>
              <a:t>Mano</a:t>
            </a:r>
            <a:endParaRPr lang="en-US" dirty="0"/>
          </a:p>
          <a:p>
            <a:pPr lvl="1"/>
            <a:r>
              <a:rPr lang="en-US" dirty="0"/>
              <a:t>Michael D. </a:t>
            </a:r>
            <a:r>
              <a:rPr lang="en-US" dirty="0" err="1"/>
              <a:t>Ciletti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65760" lvl="1" indent="0">
              <a:buNone/>
            </a:pPr>
            <a:endParaRPr lang="en-US" dirty="0"/>
          </a:p>
          <a:p>
            <a:r>
              <a:rPr lang="en-US" dirty="0"/>
              <a:t>Digital Systems</a:t>
            </a:r>
          </a:p>
          <a:p>
            <a:pPr lvl="1"/>
            <a:r>
              <a:rPr lang="en-US" dirty="0"/>
              <a:t>Example: digital cameras, digital telephones, digital television, digital computers…</a:t>
            </a:r>
          </a:p>
          <a:p>
            <a:pPr lvl="1"/>
            <a:r>
              <a:rPr lang="en-US" dirty="0"/>
              <a:t>Used in communication, business transactions, traffic control,  space guidance, medical treatment, weather monitoring, the Internet …</a:t>
            </a:r>
          </a:p>
          <a:p>
            <a:endParaRPr lang="en-US" dirty="0"/>
          </a:p>
          <a:p>
            <a:r>
              <a:rPr lang="en-US" dirty="0"/>
              <a:t>Why study digital logic design </a:t>
            </a:r>
          </a:p>
          <a:p>
            <a:pPr lvl="1"/>
            <a:r>
              <a:rPr lang="en-US" dirty="0"/>
              <a:t>To design and build a digital system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(Binary)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Deals with binary variables and binary logic functions</a:t>
            </a:r>
          </a:p>
          <a:p>
            <a:r>
              <a:rPr lang="en-AU" dirty="0"/>
              <a:t>Binary variables has two discrete values</a:t>
            </a:r>
          </a:p>
          <a:p>
            <a:pPr lvl="1"/>
            <a:r>
              <a:rPr lang="en-AU" dirty="0"/>
              <a:t>0, False, Open</a:t>
            </a:r>
          </a:p>
          <a:p>
            <a:pPr lvl="1"/>
            <a:r>
              <a:rPr lang="en-AU" dirty="0"/>
              <a:t>1, True, Close</a:t>
            </a:r>
          </a:p>
          <a:p>
            <a:r>
              <a:rPr lang="en-AU" dirty="0"/>
              <a:t>Three basic logical operations</a:t>
            </a:r>
          </a:p>
          <a:p>
            <a:pPr lvl="1"/>
            <a:r>
              <a:rPr lang="en-AU" dirty="0"/>
              <a:t>AND (.); OR (+); NOT (‘)</a:t>
            </a:r>
          </a:p>
          <a:p>
            <a:pPr lvl="1"/>
            <a:endParaRPr lang="en-AU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Specifies results for all possible input combinations</a:t>
            </a:r>
            <a:endParaRPr lang="en-US" sz="3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111" y="2952750"/>
            <a:ext cx="6573789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Logic gates are electronic circuits that operate on one or more input signals to produce an output signal</a:t>
            </a:r>
          </a:p>
          <a:p>
            <a:endParaRPr lang="en-US" dirty="0"/>
          </a:p>
        </p:txBody>
      </p:sp>
      <p:pic>
        <p:nvPicPr>
          <p:cNvPr id="5" name="Picture 2" descr="C:\jobs\Marries\CH01\Tiff\AACFLML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238501"/>
            <a:ext cx="8458200" cy="17982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An algebraic expression </a:t>
            </a:r>
          </a:p>
          <a:p>
            <a:pPr lvl="1"/>
            <a:r>
              <a:rPr lang="en-AU" dirty="0"/>
              <a:t>Binary variables</a:t>
            </a:r>
          </a:p>
          <a:p>
            <a:pPr lvl="1"/>
            <a:r>
              <a:rPr lang="en-AU" dirty="0"/>
              <a:t>Constants 0 and 1</a:t>
            </a:r>
          </a:p>
          <a:p>
            <a:pPr lvl="1"/>
            <a:r>
              <a:rPr lang="en-AU" dirty="0"/>
              <a:t>Logic operation symbols</a:t>
            </a:r>
          </a:p>
          <a:p>
            <a:pPr lvl="1"/>
            <a:endParaRPr lang="en-AU" dirty="0"/>
          </a:p>
          <a:p>
            <a:pPr algn="ctr">
              <a:buNone/>
            </a:pPr>
            <a:r>
              <a:rPr lang="en-US" sz="3300" i="1" dirty="0">
                <a:solidFill>
                  <a:srgbClr val="3333FF"/>
                </a:solidFill>
              </a:rPr>
              <a:t>f</a:t>
            </a:r>
            <a:r>
              <a:rPr lang="en-US" sz="3300" dirty="0">
                <a:solidFill>
                  <a:srgbClr val="3333FF"/>
                </a:solidFill>
              </a:rPr>
              <a:t>(</a:t>
            </a:r>
            <a:r>
              <a:rPr lang="en-US" sz="3300" i="1" dirty="0" err="1">
                <a:solidFill>
                  <a:srgbClr val="3333FF"/>
                </a:solidFill>
              </a:rPr>
              <a:t>x</a:t>
            </a:r>
            <a:r>
              <a:rPr lang="en-US" sz="3300" dirty="0" err="1">
                <a:solidFill>
                  <a:srgbClr val="3333FF"/>
                </a:solidFill>
              </a:rPr>
              <a:t>,</a:t>
            </a:r>
            <a:r>
              <a:rPr lang="en-US" sz="3300" i="1" dirty="0" err="1">
                <a:solidFill>
                  <a:srgbClr val="3333FF"/>
                </a:solidFill>
              </a:rPr>
              <a:t>y</a:t>
            </a:r>
            <a:r>
              <a:rPr lang="en-US" sz="3300" dirty="0" err="1">
                <a:solidFill>
                  <a:srgbClr val="3333FF"/>
                </a:solidFill>
              </a:rPr>
              <a:t>,</a:t>
            </a:r>
            <a:r>
              <a:rPr lang="en-US" sz="3300" i="1" dirty="0" err="1">
                <a:solidFill>
                  <a:srgbClr val="3333FF"/>
                </a:solidFill>
              </a:rPr>
              <a:t>z</a:t>
            </a:r>
            <a:r>
              <a:rPr lang="en-US" sz="3300" dirty="0">
                <a:solidFill>
                  <a:srgbClr val="3333FF"/>
                </a:solidFill>
              </a:rPr>
              <a:t>) = (</a:t>
            </a:r>
            <a:r>
              <a:rPr lang="en-US" sz="3300" i="1" dirty="0">
                <a:solidFill>
                  <a:srgbClr val="3333FF"/>
                </a:solidFill>
              </a:rPr>
              <a:t>x</a:t>
            </a:r>
            <a:r>
              <a:rPr lang="en-US" sz="3300" dirty="0">
                <a:solidFill>
                  <a:srgbClr val="3333FF"/>
                </a:solidFill>
              </a:rPr>
              <a:t> + </a:t>
            </a:r>
            <a:r>
              <a:rPr lang="en-US" sz="3300" i="1" dirty="0">
                <a:solidFill>
                  <a:srgbClr val="3333FF"/>
                </a:solidFill>
              </a:rPr>
              <a:t>y’</a:t>
            </a:r>
            <a:r>
              <a:rPr lang="en-US" sz="3300" dirty="0">
                <a:solidFill>
                  <a:srgbClr val="3333FF"/>
                </a:solidFill>
              </a:rPr>
              <a:t>)</a:t>
            </a:r>
            <a:r>
              <a:rPr lang="en-US" sz="3300" i="1" dirty="0">
                <a:solidFill>
                  <a:srgbClr val="3333FF"/>
                </a:solidFill>
              </a:rPr>
              <a:t>z</a:t>
            </a:r>
            <a:r>
              <a:rPr lang="en-US" sz="3300" dirty="0">
                <a:solidFill>
                  <a:srgbClr val="3333FF"/>
                </a:solidFill>
              </a:rPr>
              <a:t> + </a:t>
            </a:r>
            <a:r>
              <a:rPr lang="en-US" sz="3300" i="1" dirty="0">
                <a:solidFill>
                  <a:srgbClr val="3333FF"/>
                </a:solidFill>
              </a:rPr>
              <a:t>x’</a:t>
            </a:r>
          </a:p>
          <a:p>
            <a:endParaRPr lang="en-US" dirty="0"/>
          </a:p>
          <a:p>
            <a:r>
              <a:rPr lang="en-US" dirty="0"/>
              <a:t>Some terminology, notation and precedence:</a:t>
            </a:r>
          </a:p>
          <a:p>
            <a:pPr lvl="1">
              <a:buClr>
                <a:schemeClr val="tx1"/>
              </a:buClr>
            </a:pPr>
            <a:r>
              <a:rPr lang="en-US" i="1" dirty="0">
                <a:solidFill>
                  <a:srgbClr val="3333FF"/>
                </a:solidFill>
              </a:rPr>
              <a:t>f</a:t>
            </a:r>
            <a:r>
              <a:rPr lang="en-US" dirty="0"/>
              <a:t> is the name of the function.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rgbClr val="3333FF"/>
                </a:solidFill>
              </a:rPr>
              <a:t>(</a:t>
            </a:r>
            <a:r>
              <a:rPr lang="en-US" i="1" dirty="0" err="1">
                <a:solidFill>
                  <a:srgbClr val="3333FF"/>
                </a:solidFill>
              </a:rPr>
              <a:t>x</a:t>
            </a:r>
            <a:r>
              <a:rPr lang="en-US" dirty="0" err="1">
                <a:solidFill>
                  <a:srgbClr val="3333FF"/>
                </a:solidFill>
              </a:rPr>
              <a:t>,</a:t>
            </a:r>
            <a:r>
              <a:rPr lang="en-US" i="1" dirty="0" err="1">
                <a:solidFill>
                  <a:srgbClr val="3333FF"/>
                </a:solidFill>
              </a:rPr>
              <a:t>y</a:t>
            </a:r>
            <a:r>
              <a:rPr lang="en-US" dirty="0" err="1">
                <a:solidFill>
                  <a:srgbClr val="3333FF"/>
                </a:solidFill>
              </a:rPr>
              <a:t>,</a:t>
            </a:r>
            <a:r>
              <a:rPr lang="en-US" i="1" dirty="0" err="1">
                <a:solidFill>
                  <a:srgbClr val="3333FF"/>
                </a:solidFill>
              </a:rPr>
              <a:t>z</a:t>
            </a:r>
            <a:r>
              <a:rPr lang="en-US" dirty="0">
                <a:solidFill>
                  <a:srgbClr val="3333FF"/>
                </a:solidFill>
              </a:rPr>
              <a:t>)</a:t>
            </a:r>
            <a:r>
              <a:rPr lang="en-US" dirty="0"/>
              <a:t> are the input variables, each representing 1 or 0. 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A literal is a single variable within a term, in complemented or </a:t>
            </a:r>
            <a:r>
              <a:rPr lang="en-US" dirty="0" err="1"/>
              <a:t>uncomplemented</a:t>
            </a:r>
            <a:r>
              <a:rPr lang="en-US" dirty="0"/>
              <a:t> form. The function above has four literals: </a:t>
            </a:r>
            <a:r>
              <a:rPr lang="en-US" i="1" dirty="0">
                <a:solidFill>
                  <a:srgbClr val="3333FF"/>
                </a:solidFill>
              </a:rPr>
              <a:t>x</a:t>
            </a:r>
            <a:r>
              <a:rPr lang="en-US" dirty="0"/>
              <a:t>, </a:t>
            </a:r>
            <a:r>
              <a:rPr lang="en-US" i="1" dirty="0">
                <a:solidFill>
                  <a:srgbClr val="3333FF"/>
                </a:solidFill>
              </a:rPr>
              <a:t>y’</a:t>
            </a:r>
            <a:r>
              <a:rPr lang="en-US" dirty="0"/>
              <a:t>, </a:t>
            </a:r>
            <a:r>
              <a:rPr lang="en-US" i="1" dirty="0">
                <a:solidFill>
                  <a:srgbClr val="3333FF"/>
                </a:solidFill>
              </a:rPr>
              <a:t>z</a:t>
            </a:r>
            <a:r>
              <a:rPr lang="en-US" dirty="0"/>
              <a:t>, and </a:t>
            </a:r>
            <a:r>
              <a:rPr lang="en-US" i="1" dirty="0">
                <a:solidFill>
                  <a:srgbClr val="3333FF"/>
                </a:solidFill>
              </a:rPr>
              <a:t>x’</a:t>
            </a:r>
            <a:r>
              <a:rPr lang="en-US" dirty="0"/>
              <a:t>.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Parenthesis has the highest precedence, followed by NOT, AND, and then 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 Boolean function can be represented in a truth table.</a:t>
            </a:r>
          </a:p>
          <a:p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791200" y="2746375"/>
          <a:ext cx="2830513" cy="373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2880466" imgH="3770999" progId="Word.Document.8">
                  <p:embed/>
                </p:oleObj>
              </mc:Choice>
              <mc:Fallback>
                <p:oleObj name="Document" r:id="rId3" imgW="2880466" imgH="3770999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746375"/>
                        <a:ext cx="2830513" cy="373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052513" y="2324099"/>
            <a:ext cx="3384551" cy="3543300"/>
            <a:chOff x="663" y="1873"/>
            <a:chExt cx="2132" cy="2232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35" y="2496"/>
              <a:ext cx="2060" cy="1609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f(0,0,0)	= (0 + 1)0 + 1	= 1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f(0,0,1)	= (0 + 1)1 + 1	= 1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f(0,1,0)	= (0 + 0)0 + 1	= 1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f(0,1,1)	= (0 + 0)1 + 1	= 1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f(1,0,0)	= (1 + 1)0 + 0	= 0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f(1,0,1)	= (1 + 1)1 + 0	= 1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f(1,1,0)	= (1 + 0)0 + 0	= 0</a:t>
              </a:r>
            </a:p>
            <a:p>
              <a:pPr>
                <a:tabLst>
                  <a:tab pos="855663" algn="l"/>
                  <a:tab pos="2176463" algn="l"/>
                </a:tabLst>
              </a:pPr>
              <a:r>
                <a:rPr lang="en-US" sz="2000" dirty="0"/>
                <a:t>f(1,1,1)	= (1 + 0)1 + 0	= 1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63" y="1873"/>
              <a:ext cx="2013" cy="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2075" tIns="46038" rIns="92075" bIns="46038">
              <a:spAutoFit/>
            </a:bodyPr>
            <a:lstStyle/>
            <a:p>
              <a:pPr algn="ctr">
                <a:buNone/>
              </a:pPr>
              <a:r>
                <a:rPr lang="en-US" sz="2400" i="1" dirty="0">
                  <a:solidFill>
                    <a:srgbClr val="3333FF"/>
                  </a:solidFill>
                </a:rPr>
                <a:t>f</a:t>
              </a:r>
              <a:r>
                <a:rPr lang="en-US" sz="2400" dirty="0">
                  <a:solidFill>
                    <a:srgbClr val="3333FF"/>
                  </a:solidFill>
                </a:rPr>
                <a:t>(</a:t>
              </a:r>
              <a:r>
                <a:rPr lang="en-US" sz="2400" i="1" dirty="0" err="1">
                  <a:solidFill>
                    <a:srgbClr val="3333FF"/>
                  </a:solidFill>
                </a:rPr>
                <a:t>x</a:t>
              </a:r>
              <a:r>
                <a:rPr lang="en-US" sz="2400" dirty="0" err="1">
                  <a:solidFill>
                    <a:srgbClr val="3333FF"/>
                  </a:solidFill>
                </a:rPr>
                <a:t>,</a:t>
              </a:r>
              <a:r>
                <a:rPr lang="en-US" sz="2400" i="1" dirty="0" err="1">
                  <a:solidFill>
                    <a:srgbClr val="3333FF"/>
                  </a:solidFill>
                </a:rPr>
                <a:t>y</a:t>
              </a:r>
              <a:r>
                <a:rPr lang="en-US" sz="2400" dirty="0" err="1">
                  <a:solidFill>
                    <a:srgbClr val="3333FF"/>
                  </a:solidFill>
                </a:rPr>
                <a:t>,</a:t>
              </a:r>
              <a:r>
                <a:rPr lang="en-US" sz="2400" i="1" dirty="0" err="1">
                  <a:solidFill>
                    <a:srgbClr val="3333FF"/>
                  </a:solidFill>
                </a:rPr>
                <a:t>z</a:t>
              </a:r>
              <a:r>
                <a:rPr lang="en-US" sz="2400" dirty="0">
                  <a:solidFill>
                    <a:srgbClr val="3333FF"/>
                  </a:solidFill>
                </a:rPr>
                <a:t>) = (</a:t>
              </a:r>
              <a:r>
                <a:rPr lang="en-US" sz="2400" i="1" dirty="0">
                  <a:solidFill>
                    <a:srgbClr val="3333FF"/>
                  </a:solidFill>
                </a:rPr>
                <a:t>x</a:t>
              </a:r>
              <a:r>
                <a:rPr lang="en-US" sz="2400" dirty="0">
                  <a:solidFill>
                    <a:srgbClr val="3333FF"/>
                  </a:solidFill>
                </a:rPr>
                <a:t> + </a:t>
              </a:r>
              <a:r>
                <a:rPr lang="en-US" sz="2400" i="1" dirty="0">
                  <a:solidFill>
                    <a:srgbClr val="3333FF"/>
                  </a:solidFill>
                </a:rPr>
                <a:t>y’</a:t>
              </a:r>
              <a:r>
                <a:rPr lang="en-US" sz="2400" dirty="0">
                  <a:solidFill>
                    <a:srgbClr val="3333FF"/>
                  </a:solidFill>
                </a:rPr>
                <a:t>)</a:t>
              </a:r>
              <a:r>
                <a:rPr lang="en-US" sz="2400" i="1" dirty="0">
                  <a:solidFill>
                    <a:srgbClr val="3333FF"/>
                  </a:solidFill>
                </a:rPr>
                <a:t>z</a:t>
              </a:r>
              <a:r>
                <a:rPr lang="en-US" sz="2400" dirty="0">
                  <a:solidFill>
                    <a:srgbClr val="3333FF"/>
                  </a:solidFill>
                </a:rPr>
                <a:t> + </a:t>
              </a:r>
              <a:r>
                <a:rPr lang="en-US" sz="2400" i="1" dirty="0">
                  <a:solidFill>
                    <a:srgbClr val="3333FF"/>
                  </a:solidFill>
                </a:rPr>
                <a:t>x’</a:t>
              </a:r>
            </a:p>
          </p:txBody>
        </p:sp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1632" y="2156"/>
              <a:ext cx="192" cy="336"/>
            </a:xfrm>
            <a:prstGeom prst="downArrow">
              <a:avLst>
                <a:gd name="adj1" fmla="val 53704"/>
                <a:gd name="adj2" fmla="val 79212"/>
              </a:avLst>
            </a:prstGeom>
            <a:gradFill rotWithShape="0">
              <a:gsLst>
                <a:gs pos="0">
                  <a:schemeClr val="accent2">
                    <a:gamma/>
                    <a:tint val="73725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5400">
              <a:noFill/>
              <a:miter lim="800000"/>
              <a:headEnd type="none" w="sm" len="sm"/>
              <a:tailEnd type="none" w="sm" len="sm"/>
            </a:ln>
            <a:effectLst>
              <a:outerShdw dist="56796" dir="6993903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419600" y="4144962"/>
            <a:ext cx="1295400" cy="533400"/>
          </a:xfrm>
          <a:prstGeom prst="rightArrow">
            <a:avLst>
              <a:gd name="adj1" fmla="val 45833"/>
              <a:gd name="adj2" fmla="val 91341"/>
            </a:avLst>
          </a:prstGeom>
          <a:gradFill rotWithShape="0">
            <a:gsLst>
              <a:gs pos="0">
                <a:schemeClr val="accent2">
                  <a:gamma/>
                  <a:tint val="7372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25400">
            <a:noFill/>
            <a:miter lim="800000"/>
            <a:headEnd type="none" w="sm" len="sm"/>
            <a:tailEnd type="none" w="sm" len="sm"/>
          </a:ln>
          <a:effectLst>
            <a:outerShdw dist="63500" dir="3187806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32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Implementation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endParaRPr lang="en-US" sz="1800" dirty="0"/>
          </a:p>
        </p:txBody>
      </p:sp>
      <p:pic>
        <p:nvPicPr>
          <p:cNvPr id="4" name="Picture 2" descr="C:\jobs\Marries\ch02\tiff\AACFLMO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09800"/>
            <a:ext cx="7289263" cy="259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000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Implementation of a Function</a:t>
            </a:r>
          </a:p>
        </p:txBody>
      </p:sp>
      <p:pic>
        <p:nvPicPr>
          <p:cNvPr id="5" name="Picture 2" descr="C:\jobs\Marries\ch02\tiff\AACFLMP0.t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16625" y="1600200"/>
            <a:ext cx="5348749" cy="48736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18269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Algebra for binary values</a:t>
            </a:r>
          </a:p>
          <a:p>
            <a:pPr lvl="1"/>
            <a:r>
              <a:rPr lang="en-US" b="1" dirty="0"/>
              <a:t>Boolean Algebra:</a:t>
            </a:r>
            <a:r>
              <a:rPr lang="en-US" dirty="0"/>
              <a:t> Developed by George Boole in 1854</a:t>
            </a:r>
          </a:p>
          <a:p>
            <a:pPr marL="365760" lvl="1" indent="0">
              <a:buNone/>
            </a:pPr>
            <a:endParaRPr lang="en-US" dirty="0"/>
          </a:p>
          <a:p>
            <a:r>
              <a:rPr lang="en-US" dirty="0"/>
              <a:t>Why study Boolean Algebra?</a:t>
            </a:r>
          </a:p>
          <a:p>
            <a:pPr lvl="1"/>
            <a:r>
              <a:rPr lang="en-US" dirty="0"/>
              <a:t>To find the simplest circuit implementation with the smallest number of gates or wires</a:t>
            </a:r>
          </a:p>
          <a:p>
            <a:pPr lvl="1"/>
            <a:r>
              <a:rPr lang="en-US" dirty="0"/>
              <a:t>Simpler circuits are cheaper to build, consume less power, and run faster than complex circuits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What is an algebra?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Mathematical system consisting of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Set of elements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Set of operators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Axioms or postulates: </a:t>
            </a:r>
            <a:r>
              <a:rPr lang="en-AU" dirty="0"/>
              <a:t>facts that can be taken as true; they do not require proof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304800" y="3886200"/>
          <a:ext cx="836295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r:id="rId3" imgW="8046953" imgH="3759462" progId="Word.Document.8">
                  <p:embed/>
                </p:oleObj>
              </mc:Choice>
              <mc:Fallback>
                <p:oleObj name="Document" r:id="rId3" imgW="8046953" imgH="375946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86200"/>
                        <a:ext cx="8362950" cy="388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itchFamily="18" charset="0"/>
              </a:rPr>
              <a:t>Axiomatic definition of Boolean Algebra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Boolean algebra requires</a:t>
            </a:r>
          </a:p>
          <a:p>
            <a:pPr lvl="1"/>
            <a:r>
              <a:rPr lang="en-US" dirty="0"/>
              <a:t>A set of elements </a:t>
            </a:r>
            <a:r>
              <a:rPr lang="en-US" b="1" i="1" dirty="0"/>
              <a:t>B</a:t>
            </a:r>
            <a:r>
              <a:rPr lang="en-US" dirty="0"/>
              <a:t>, consisting of two elements (0 and 1)</a:t>
            </a:r>
          </a:p>
          <a:p>
            <a:pPr lvl="1"/>
            <a:r>
              <a:rPr lang="en-US" dirty="0"/>
              <a:t>Two binary operations OR and </a:t>
            </a:r>
            <a:r>
              <a:rPr lang="en-US" dirty="0" err="1"/>
              <a:t>AND</a:t>
            </a:r>
            <a:endParaRPr lang="en-US" dirty="0"/>
          </a:p>
          <a:p>
            <a:pPr lvl="1"/>
            <a:r>
              <a:rPr lang="en-US" dirty="0"/>
              <a:t>The axioms below must always be true</a:t>
            </a:r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4675C7B2-F07D-4AE4-8E55-CF82D1F9DFE2}" type="slidenum">
              <a:rPr lang="en-US"/>
              <a:pPr/>
              <a:t>14</a:t>
            </a:fld>
            <a:endParaRPr lang="en-US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itchFamily="18" charset="0"/>
              </a:rPr>
              <a:t>Axiomatic definition of Boolean Algebra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1">
              <a:buFontTx/>
              <a:buNone/>
            </a:pPr>
            <a:endParaRPr lang="en-US" dirty="0"/>
          </a:p>
          <a:p>
            <a:r>
              <a:rPr lang="en-US" dirty="0"/>
              <a:t>Based on axiom #5, we can develop a unary (one-argument) operation NOT</a:t>
            </a:r>
          </a:p>
        </p:txBody>
      </p:sp>
      <p:graphicFrame>
        <p:nvGraphicFramePr>
          <p:cNvPr id="25607" name="Object 7"/>
          <p:cNvGraphicFramePr>
            <a:graphicFrameLocks/>
          </p:cNvGraphicFramePr>
          <p:nvPr/>
        </p:nvGraphicFramePr>
        <p:xfrm>
          <a:off x="3333750" y="3448050"/>
          <a:ext cx="14859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3" imgW="1018772" imgH="1242104" progId="Word.Document.8">
                  <p:embed/>
                </p:oleObj>
              </mc:Choice>
              <mc:Fallback>
                <p:oleObj name="Document" r:id="rId3" imgW="1018772" imgH="1242104" progId="Word.Document.8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3448050"/>
                        <a:ext cx="14859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4675C7B2-F07D-4AE4-8E55-CF82D1F9DFE2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itchFamily="18" charset="0"/>
              </a:rPr>
              <a:t>Axiomatic definition of Boolean Algebra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>
                <a:ea typeface="新細明體" pitchFamily="18" charset="-120"/>
              </a:rPr>
              <a:t>The distributive laws</a:t>
            </a:r>
          </a:p>
          <a:p>
            <a:pPr lvl="1">
              <a:buFontTx/>
              <a:buNone/>
            </a:pPr>
            <a:endParaRPr lang="en-US" dirty="0"/>
          </a:p>
        </p:txBody>
      </p:sp>
      <p:graphicFrame>
        <p:nvGraphicFramePr>
          <p:cNvPr id="6" name="Group 105"/>
          <p:cNvGraphicFramePr>
            <a:graphicFrameLocks noGrp="1"/>
          </p:cNvGraphicFramePr>
          <p:nvPr/>
        </p:nvGraphicFramePr>
        <p:xfrm>
          <a:off x="895350" y="2328863"/>
          <a:ext cx="7219950" cy="3337560"/>
        </p:xfrm>
        <a:graphic>
          <a:graphicData uri="http://schemas.openxmlformats.org/drawingml/2006/table">
            <a:tbl>
              <a:tblPr/>
              <a:tblGrid>
                <a:gridCol w="4566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13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07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5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426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972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407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97322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endParaRPr kumimoji="0" lang="zh-TW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</a:t>
                      </a:r>
                      <a:endParaRPr kumimoji="0" lang="zh-TW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z</a:t>
                      </a:r>
                      <a:endParaRPr kumimoji="0" lang="zh-TW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</a:t>
                      </a:r>
                      <a:r>
                        <a:rPr kumimoji="0" lang="en-US" altLang="zh-TW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+z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r>
                        <a:rPr kumimoji="0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．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(</a:t>
                      </a:r>
                      <a:r>
                        <a:rPr kumimoji="0" lang="en-US" altLang="zh-TW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y+z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)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r>
                        <a:rPr kumimoji="0" lang="zh-TW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．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</a:t>
                      </a:r>
                      <a:endParaRPr kumimoji="0" lang="zh-TW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r>
                        <a:rPr kumimoji="0" lang="zh-TW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．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z</a:t>
                      </a:r>
                      <a:endParaRPr kumimoji="0" lang="zh-TW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(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r>
                        <a:rPr kumimoji="0" lang="zh-TW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．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y)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+(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r>
                        <a:rPr kumimoji="0" lang="zh-TW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．</a:t>
                      </a:r>
                      <a:r>
                        <a:rPr kumimoji="0" lang="en-US" altLang="zh-TW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z</a:t>
                      </a: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)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57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an expression is valid in Boolean algebra, the dual of that expression is also valid</a:t>
            </a:r>
          </a:p>
          <a:p>
            <a:endParaRPr lang="en-US" dirty="0"/>
          </a:p>
          <a:p>
            <a:r>
              <a:rPr lang="en-US" dirty="0"/>
              <a:t>To form the dual of an expression, replace </a:t>
            </a:r>
          </a:p>
          <a:p>
            <a:pPr lvl="1"/>
            <a:r>
              <a:rPr lang="en-US" dirty="0"/>
              <a:t>all + operators with . operators, </a:t>
            </a:r>
          </a:p>
          <a:p>
            <a:pPr lvl="1"/>
            <a:r>
              <a:rPr lang="en-US" dirty="0"/>
              <a:t>all . operators with + operators, </a:t>
            </a:r>
          </a:p>
          <a:p>
            <a:pPr lvl="1"/>
            <a:r>
              <a:rPr lang="en-US" dirty="0"/>
              <a:t>all ones with zeros, and </a:t>
            </a:r>
          </a:p>
          <a:p>
            <a:pPr lvl="1"/>
            <a:r>
              <a:rPr lang="en-US" dirty="0"/>
              <a:t>all zeros with ones</a:t>
            </a:r>
          </a:p>
          <a:p>
            <a:r>
              <a:rPr lang="en-US" dirty="0"/>
              <a:t>Form the dual of the expression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a</a:t>
            </a:r>
            <a:r>
              <a:rPr lang="en-US" dirty="0"/>
              <a:t> + (</a:t>
            </a:r>
            <a:r>
              <a:rPr lang="en-US" i="1" dirty="0" err="1"/>
              <a:t>bc</a:t>
            </a:r>
            <a:r>
              <a:rPr lang="en-US" dirty="0"/>
              <a:t>) = (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)(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c</a:t>
            </a:r>
            <a:r>
              <a:rPr lang="en-US" dirty="0"/>
              <a:t>)</a:t>
            </a:r>
          </a:p>
          <a:p>
            <a:r>
              <a:rPr lang="en-US" dirty="0"/>
              <a:t>Following the replacement rules…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 + </a:t>
            </a:r>
            <a:r>
              <a:rPr lang="en-US" i="1" dirty="0"/>
              <a:t>c</a:t>
            </a:r>
            <a:r>
              <a:rPr lang="en-US" dirty="0"/>
              <a:t>) = </a:t>
            </a:r>
            <a:r>
              <a:rPr lang="en-US" i="1" dirty="0" err="1"/>
              <a:t>ab</a:t>
            </a:r>
            <a:r>
              <a:rPr lang="en-US" dirty="0"/>
              <a:t> + </a:t>
            </a:r>
            <a:r>
              <a:rPr lang="en-US" i="1" dirty="0"/>
              <a:t>ac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B0BBF25A-AFB7-44EE-9321-F45BE4AC70B7}" type="slidenum">
              <a:rPr lang="en-US"/>
              <a:pPr/>
              <a:t>17</a:t>
            </a:fld>
            <a:endParaRPr 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Duality principle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and right columns of axioms are </a:t>
            </a:r>
            <a:r>
              <a:rPr lang="en-US" dirty="0">
                <a:solidFill>
                  <a:srgbClr val="FF0033"/>
                </a:solidFill>
              </a:rPr>
              <a:t>duals</a:t>
            </a:r>
            <a:endParaRPr lang="en-US" dirty="0"/>
          </a:p>
          <a:p>
            <a:pPr lvl="1"/>
            <a:r>
              <a:rPr lang="en-US" dirty="0"/>
              <a:t>exchange all ANDs with ORs, and 0s with 1s</a:t>
            </a:r>
          </a:p>
          <a:p>
            <a:pPr lvl="1">
              <a:buFontTx/>
              <a:buNone/>
            </a:pPr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  <a:p>
            <a:pPr lvl="1">
              <a:buFontTx/>
              <a:buNone/>
            </a:pPr>
            <a:endParaRPr lang="en-US" sz="1800" dirty="0"/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28600" y="2971800"/>
          <a:ext cx="836295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Document" r:id="rId3" imgW="8046953" imgH="3759462" progId="Word.Document.8">
                  <p:embed/>
                </p:oleObj>
              </mc:Choice>
              <mc:Fallback>
                <p:oleObj name="Document" r:id="rId3" imgW="8046953" imgH="375946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971800"/>
                        <a:ext cx="8362950" cy="388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aramond" pitchFamily="18" charset="0"/>
              </a:rPr>
              <a:t>Basic theorems of Boolean Algebra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In addition to the axioms, additional laws can be derived; they are called theorems of Boolean Algebra</a:t>
            </a:r>
          </a:p>
          <a:p>
            <a:r>
              <a:rPr lang="en-US" sz="1800"/>
              <a:t>These theorems are useful in performing algebraic manipulations of Boolean expressions</a:t>
            </a: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590550" y="3143250"/>
          <a:ext cx="73533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3" imgW="8184049" imgH="3309899" progId="Word.Document.8">
                  <p:embed/>
                </p:oleObj>
              </mc:Choice>
              <mc:Fallback>
                <p:oleObj name="Document" r:id="rId3" imgW="8184049" imgH="3309899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143250"/>
                        <a:ext cx="7353300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Proof of </a:t>
            </a:r>
            <a:r>
              <a:rPr lang="en-US" sz="3200" i="1" dirty="0" err="1"/>
              <a:t>x+x</a:t>
            </a:r>
            <a:r>
              <a:rPr lang="en-US" sz="3200" i="1" dirty="0"/>
              <a:t>=x</a:t>
            </a:r>
            <a:endParaRPr lang="en-US" dirty="0">
              <a:latin typeface="Garamond" pitchFamily="18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only use</a:t>
            </a:r>
            <a:br>
              <a:rPr lang="en-US" dirty="0"/>
            </a:br>
            <a:r>
              <a:rPr lang="en-US" dirty="0"/>
              <a:t>Huntington postulates: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 that </a:t>
            </a:r>
            <a:r>
              <a:rPr lang="en-US" i="1" dirty="0" err="1"/>
              <a:t>x+x</a:t>
            </a:r>
            <a:r>
              <a:rPr lang="en-US" i="1" dirty="0"/>
              <a:t>=x</a:t>
            </a:r>
            <a:r>
              <a:rPr lang="en-US" dirty="0"/>
              <a:t>.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 </a:t>
            </a:r>
            <a:r>
              <a:rPr lang="en-US" i="1" dirty="0" err="1"/>
              <a:t>x+x</a:t>
            </a:r>
            <a:r>
              <a:rPr lang="en-US" i="1" dirty="0"/>
              <a:t> 	= </a:t>
            </a:r>
            <a:r>
              <a:rPr lang="en-US" dirty="0"/>
              <a:t>(</a:t>
            </a:r>
            <a:r>
              <a:rPr lang="en-US" i="1" dirty="0" err="1"/>
              <a:t>x+x</a:t>
            </a:r>
            <a:r>
              <a:rPr lang="en-US" dirty="0"/>
              <a:t>)</a:t>
            </a:r>
            <a:r>
              <a:rPr lang="en-US" i="1" dirty="0"/>
              <a:t>·</a:t>
            </a:r>
            <a:r>
              <a:rPr lang="en-US" dirty="0"/>
              <a:t>1 	by 2(b)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(</a:t>
            </a:r>
            <a:r>
              <a:rPr lang="en-US" i="1" dirty="0" err="1"/>
              <a:t>x+x</a:t>
            </a:r>
            <a:r>
              <a:rPr lang="en-US" dirty="0"/>
              <a:t>)(</a:t>
            </a:r>
            <a:r>
              <a:rPr lang="en-US" i="1" dirty="0" err="1"/>
              <a:t>x+x</a:t>
            </a:r>
            <a:r>
              <a:rPr lang="en-US" i="1" dirty="0"/>
              <a:t>’</a:t>
            </a:r>
            <a:r>
              <a:rPr lang="en-US" dirty="0"/>
              <a:t>)	by 5(a)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 err="1"/>
              <a:t>x+xx</a:t>
            </a:r>
            <a:r>
              <a:rPr lang="en-US" i="1" dirty="0"/>
              <a:t>’</a:t>
            </a:r>
            <a:r>
              <a:rPr lang="en-US" dirty="0"/>
              <a:t>	by 4(b)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/>
              <a:t>x+</a:t>
            </a:r>
            <a:r>
              <a:rPr lang="en-US" dirty="0"/>
              <a:t>0		by 5(b)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/>
              <a:t>x</a:t>
            </a:r>
            <a:r>
              <a:rPr lang="en-US" dirty="0"/>
              <a:t>		by 2(a)</a:t>
            </a:r>
          </a:p>
          <a:p>
            <a:r>
              <a:rPr lang="en-US" dirty="0"/>
              <a:t>We can now use Theorem 1(a) in future proofs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71950" y="1733550"/>
            <a:ext cx="4495800" cy="147732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Verdana" pitchFamily="34" charset="0"/>
              </a:rPr>
              <a:t>Post. 2</a:t>
            </a:r>
            <a:r>
              <a:rPr lang="en-US" dirty="0">
                <a:latin typeface="Verdana" pitchFamily="34" charset="0"/>
              </a:rPr>
              <a:t>:  (a) </a:t>
            </a:r>
            <a:r>
              <a:rPr lang="en-US" i="1" dirty="0">
                <a:latin typeface="Verdana" pitchFamily="34" charset="0"/>
              </a:rPr>
              <a:t>x+0=x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>
                <a:latin typeface="Verdana" pitchFamily="34" charset="0"/>
              </a:rPr>
              <a:t>x·1=x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3</a:t>
            </a:r>
            <a:r>
              <a:rPr lang="en-US" dirty="0">
                <a:latin typeface="Verdana" pitchFamily="34" charset="0"/>
              </a:rPr>
              <a:t>:  (a) 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y+x</a:t>
            </a:r>
            <a:r>
              <a:rPr lang="en-US" dirty="0">
                <a:latin typeface="Verdana" pitchFamily="34" charset="0"/>
              </a:rPr>
              <a:t>, (b) </a:t>
            </a:r>
            <a:r>
              <a:rPr lang="en-US" i="1" dirty="0" err="1">
                <a:latin typeface="Verdana" pitchFamily="34" charset="0"/>
              </a:rPr>
              <a:t>x·y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y·x</a:t>
            </a:r>
            <a:endParaRPr lang="en-US" i="1" dirty="0">
              <a:latin typeface="Verdana" pitchFamily="34" charset="0"/>
            </a:endParaRPr>
          </a:p>
          <a:p>
            <a:pPr eaLnBrk="0" hangingPunct="0"/>
            <a:r>
              <a:rPr lang="en-US" b="1" dirty="0">
                <a:latin typeface="Verdana" pitchFamily="34" charset="0"/>
              </a:rPr>
              <a:t>Post. 4</a:t>
            </a:r>
            <a:r>
              <a:rPr lang="en-US" dirty="0">
                <a:latin typeface="Verdana" pitchFamily="34" charset="0"/>
              </a:rPr>
              <a:t>:  (a) </a:t>
            </a:r>
            <a:r>
              <a:rPr lang="en-US" i="1" dirty="0">
                <a:latin typeface="Verdana" pitchFamily="34" charset="0"/>
              </a:rPr>
              <a:t>x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y+z</a:t>
            </a:r>
            <a:r>
              <a:rPr lang="en-US" dirty="0">
                <a:latin typeface="Verdana" pitchFamily="34" charset="0"/>
              </a:rPr>
              <a:t>)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i="1" dirty="0" err="1">
                <a:latin typeface="Verdana" pitchFamily="34" charset="0"/>
              </a:rPr>
              <a:t>xy+xz</a:t>
            </a:r>
            <a:r>
              <a:rPr lang="en-US" dirty="0">
                <a:latin typeface="Verdana" pitchFamily="34" charset="0"/>
              </a:rPr>
              <a:t>, </a:t>
            </a:r>
            <a:br>
              <a:rPr lang="en-US" dirty="0">
                <a:latin typeface="Verdana" pitchFamily="34" charset="0"/>
              </a:rPr>
            </a:br>
            <a:r>
              <a:rPr lang="en-US" dirty="0">
                <a:latin typeface="Verdana" pitchFamily="34" charset="0"/>
              </a:rPr>
              <a:t>	   (b) </a:t>
            </a:r>
            <a:r>
              <a:rPr lang="en-US" i="1" dirty="0" err="1">
                <a:latin typeface="Verdana" pitchFamily="34" charset="0"/>
              </a:rPr>
              <a:t>x+yz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dirty="0">
                <a:latin typeface="Verdana" pitchFamily="34" charset="0"/>
              </a:rPr>
              <a:t>)(</a:t>
            </a:r>
            <a:r>
              <a:rPr lang="en-US" i="1" dirty="0" err="1">
                <a:latin typeface="Verdana" pitchFamily="34" charset="0"/>
              </a:rPr>
              <a:t>x+z</a:t>
            </a:r>
            <a:r>
              <a:rPr lang="en-US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5</a:t>
            </a:r>
            <a:r>
              <a:rPr lang="en-US" dirty="0">
                <a:latin typeface="Verdana" pitchFamily="34" charset="0"/>
              </a:rPr>
              <a:t>: 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’=1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 err="1">
                <a:latin typeface="Verdana" pitchFamily="34" charset="0"/>
              </a:rPr>
              <a:t>x·x</a:t>
            </a:r>
            <a:r>
              <a:rPr lang="en-US" i="1" dirty="0">
                <a:latin typeface="Verdana" pitchFamily="34" charset="0"/>
              </a:rPr>
              <a:t>’=0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z="3800" dirty="0"/>
              <a:t>Proof of </a:t>
            </a:r>
            <a:r>
              <a:rPr lang="en-US" sz="3800" i="1" dirty="0" err="1"/>
              <a:t>x·x</a:t>
            </a:r>
            <a:r>
              <a:rPr lang="en-US" sz="3800" i="1" dirty="0"/>
              <a:t>=x</a:t>
            </a:r>
          </a:p>
        </p:txBody>
      </p:sp>
      <p:sp>
        <p:nvSpPr>
          <p:cNvPr id="50278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r>
              <a:rPr lang="en-US" dirty="0"/>
              <a:t>Similar to previous </a:t>
            </a:r>
            <a:br>
              <a:rPr lang="en-US" dirty="0"/>
            </a:br>
            <a:r>
              <a:rPr lang="en-US" dirty="0"/>
              <a:t>proof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Show that </a:t>
            </a:r>
            <a:r>
              <a:rPr lang="en-US" i="1" dirty="0" err="1"/>
              <a:t>x·x</a:t>
            </a:r>
            <a:r>
              <a:rPr lang="en-US" i="1" dirty="0"/>
              <a:t> = x</a:t>
            </a:r>
            <a:r>
              <a:rPr lang="en-US" dirty="0"/>
              <a:t>.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   </a:t>
            </a:r>
            <a:r>
              <a:rPr lang="en-US" i="1" dirty="0" err="1"/>
              <a:t>x·x</a:t>
            </a:r>
            <a:r>
              <a:rPr lang="en-US" i="1" dirty="0"/>
              <a:t> 	= xx+</a:t>
            </a:r>
            <a:r>
              <a:rPr lang="en-US" dirty="0"/>
              <a:t>0 	by 2(a)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 err="1"/>
              <a:t>xx+xx</a:t>
            </a:r>
            <a:r>
              <a:rPr lang="en-US" i="1" dirty="0"/>
              <a:t>’</a:t>
            </a:r>
            <a:r>
              <a:rPr lang="en-US" dirty="0"/>
              <a:t>	by 5(b)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 err="1"/>
              <a:t>x+x</a:t>
            </a:r>
            <a:r>
              <a:rPr lang="en-US" i="1" dirty="0"/>
              <a:t>’</a:t>
            </a:r>
            <a:r>
              <a:rPr lang="en-US" dirty="0"/>
              <a:t>)	by 4(a)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/>
              <a:t>x·</a:t>
            </a:r>
            <a:r>
              <a:rPr lang="en-US" dirty="0"/>
              <a:t>1		by 5(a)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= </a:t>
            </a:r>
            <a:r>
              <a:rPr lang="en-US" i="1" dirty="0"/>
              <a:t>x</a:t>
            </a:r>
            <a:r>
              <a:rPr lang="en-US" dirty="0"/>
              <a:t>		by 2(b)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			</a:t>
            </a:r>
          </a:p>
        </p:txBody>
      </p:sp>
      <p:sp>
        <p:nvSpPr>
          <p:cNvPr id="502788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86299" y="1744933"/>
            <a:ext cx="4876800" cy="175432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Verdana" pitchFamily="34" charset="0"/>
              </a:rPr>
              <a:t>Post. 2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x+0=x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>
                <a:latin typeface="Verdana" pitchFamily="34" charset="0"/>
              </a:rPr>
              <a:t>x·1=x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3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y+x</a:t>
            </a:r>
            <a:r>
              <a:rPr lang="en-US" dirty="0">
                <a:latin typeface="Verdana" pitchFamily="34" charset="0"/>
              </a:rPr>
              <a:t>, (b) </a:t>
            </a:r>
            <a:r>
              <a:rPr lang="en-US" i="1" dirty="0" err="1">
                <a:latin typeface="Verdana" pitchFamily="34" charset="0"/>
              </a:rPr>
              <a:t>x·y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y·x</a:t>
            </a:r>
            <a:endParaRPr lang="en-US" i="1" dirty="0">
              <a:latin typeface="Verdana" pitchFamily="34" charset="0"/>
            </a:endParaRPr>
          </a:p>
          <a:p>
            <a:pPr eaLnBrk="0" hangingPunct="0"/>
            <a:r>
              <a:rPr lang="en-US" b="1" dirty="0">
                <a:latin typeface="Verdana" pitchFamily="34" charset="0"/>
              </a:rPr>
              <a:t>Post. 4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y+z</a:t>
            </a:r>
            <a:r>
              <a:rPr lang="en-US" dirty="0">
                <a:latin typeface="Verdana" pitchFamily="34" charset="0"/>
              </a:rPr>
              <a:t>)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i="1" dirty="0" err="1">
                <a:latin typeface="Verdana" pitchFamily="34" charset="0"/>
              </a:rPr>
              <a:t>xy+xz</a:t>
            </a:r>
            <a:r>
              <a:rPr lang="en-US" dirty="0">
                <a:latin typeface="Verdana" pitchFamily="34" charset="0"/>
              </a:rPr>
              <a:t>, </a:t>
            </a:r>
            <a:br>
              <a:rPr lang="en-US" dirty="0">
                <a:latin typeface="Verdana" pitchFamily="34" charset="0"/>
              </a:rPr>
            </a:br>
            <a:r>
              <a:rPr lang="en-US" dirty="0">
                <a:latin typeface="Verdana" pitchFamily="34" charset="0"/>
              </a:rPr>
              <a:t>	  (b) </a:t>
            </a:r>
            <a:r>
              <a:rPr lang="en-US" i="1" dirty="0" err="1">
                <a:latin typeface="Verdana" pitchFamily="34" charset="0"/>
              </a:rPr>
              <a:t>x+yz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dirty="0">
                <a:latin typeface="Verdana" pitchFamily="34" charset="0"/>
              </a:rPr>
              <a:t>)(</a:t>
            </a:r>
            <a:r>
              <a:rPr lang="en-US" i="1" dirty="0" err="1">
                <a:latin typeface="Verdana" pitchFamily="34" charset="0"/>
              </a:rPr>
              <a:t>x+z</a:t>
            </a:r>
            <a:r>
              <a:rPr lang="en-US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5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’=1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 err="1">
                <a:latin typeface="Verdana" pitchFamily="34" charset="0"/>
              </a:rPr>
              <a:t>x·x</a:t>
            </a:r>
            <a:r>
              <a:rPr lang="en-US" i="1" dirty="0">
                <a:latin typeface="Verdana" pitchFamily="34" charset="0"/>
              </a:rPr>
              <a:t>’=0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Th. 1</a:t>
            </a:r>
            <a:r>
              <a:rPr lang="en-US" dirty="0">
                <a:latin typeface="Verdana" pitchFamily="34" charset="0"/>
              </a:rPr>
              <a:t>:	 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=x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Proof of </a:t>
            </a:r>
            <a:r>
              <a:rPr lang="en-US" sz="3200" i="1" dirty="0"/>
              <a:t>x</a:t>
            </a:r>
            <a:r>
              <a:rPr lang="tr-TR" sz="3200" i="1" dirty="0"/>
              <a:t>+</a:t>
            </a:r>
            <a:r>
              <a:rPr lang="tr-TR" sz="3200" dirty="0"/>
              <a:t>1</a:t>
            </a:r>
            <a:r>
              <a:rPr lang="en-US" sz="3200" i="1" dirty="0"/>
              <a:t>=</a:t>
            </a:r>
            <a:r>
              <a:rPr lang="tr-TR" sz="3200" dirty="0"/>
              <a:t>1</a:t>
            </a:r>
            <a:endParaRPr lang="en-US" dirty="0">
              <a:latin typeface="Garamond" pitchFamily="18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81150"/>
            <a:ext cx="7696200" cy="4873752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Theorem 2(a): </a:t>
            </a:r>
            <a:r>
              <a:rPr lang="en-US" altLang="zh-TW" i="1" dirty="0">
                <a:ea typeface="新細明體" pitchFamily="18" charset="-120"/>
              </a:rPr>
              <a:t>x + </a:t>
            </a:r>
            <a:r>
              <a:rPr lang="en-US" altLang="zh-TW" dirty="0">
                <a:ea typeface="新細明體" pitchFamily="18" charset="-120"/>
              </a:rPr>
              <a:t>1 = 1</a:t>
            </a:r>
          </a:p>
          <a:p>
            <a:pPr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</a:t>
            </a:r>
            <a:r>
              <a:rPr lang="en-US" altLang="zh-TW" i="1" dirty="0">
                <a:ea typeface="新細明體" pitchFamily="18" charset="-120"/>
              </a:rPr>
              <a:t>x + </a:t>
            </a:r>
            <a:r>
              <a:rPr lang="en-US" altLang="zh-TW" dirty="0">
                <a:ea typeface="新細明體" pitchFamily="18" charset="-120"/>
              </a:rPr>
              <a:t>1 = 1</a:t>
            </a:r>
            <a:r>
              <a:rPr lang="zh-TW" altLang="en-US" dirty="0">
                <a:ea typeface="新細明體" pitchFamily="18" charset="-120"/>
              </a:rPr>
              <a:t>．</a:t>
            </a:r>
            <a:r>
              <a:rPr lang="en-US" altLang="zh-TW" dirty="0">
                <a:ea typeface="新細明體" pitchFamily="18" charset="-120"/>
              </a:rPr>
              <a:t>(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+ 1)</a:t>
            </a:r>
            <a:r>
              <a:rPr lang="tr-TR" altLang="zh-TW" dirty="0"/>
              <a:t>    by </a:t>
            </a:r>
            <a:r>
              <a:rPr lang="en-US" altLang="zh-TW" dirty="0">
                <a:ea typeface="新細明體" pitchFamily="18" charset="-120"/>
              </a:rPr>
              <a:t>2(b)</a:t>
            </a:r>
          </a:p>
          <a:p>
            <a:pPr lvl="1"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	 =(</a:t>
            </a:r>
            <a:r>
              <a:rPr lang="en-US" altLang="zh-TW" i="1" dirty="0">
                <a:ea typeface="新細明體" pitchFamily="18" charset="-120"/>
              </a:rPr>
              <a:t>x + x'</a:t>
            </a:r>
            <a:r>
              <a:rPr lang="en-US" altLang="zh-TW" dirty="0">
                <a:ea typeface="新細明體" pitchFamily="18" charset="-120"/>
              </a:rPr>
              <a:t>)(</a:t>
            </a:r>
            <a:r>
              <a:rPr lang="en-US" altLang="zh-TW" i="1" dirty="0">
                <a:ea typeface="新細明體" pitchFamily="18" charset="-120"/>
              </a:rPr>
              <a:t>x +</a:t>
            </a:r>
            <a:r>
              <a:rPr lang="en-US" altLang="zh-TW" dirty="0">
                <a:ea typeface="新細明體" pitchFamily="18" charset="-120"/>
              </a:rPr>
              <a:t> 1)    5(a)</a:t>
            </a:r>
          </a:p>
          <a:p>
            <a:pPr lvl="1"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	 = </a:t>
            </a:r>
            <a:r>
              <a:rPr lang="en-US" altLang="zh-TW" i="1" dirty="0">
                <a:ea typeface="新細明體" pitchFamily="18" charset="-120"/>
              </a:rPr>
              <a:t>x + x'</a:t>
            </a:r>
            <a:r>
              <a:rPr lang="en-US" altLang="zh-TW" dirty="0">
                <a:ea typeface="新細明體" pitchFamily="18" charset="-120"/>
              </a:rPr>
              <a:t> 1	       4(b)</a:t>
            </a:r>
          </a:p>
          <a:p>
            <a:pPr lvl="1">
              <a:buFont typeface="Wingdings" pitchFamily="2" charset="2"/>
              <a:buNone/>
            </a:pPr>
            <a:r>
              <a:rPr lang="en-US" altLang="zh-TW" i="1" dirty="0">
                <a:ea typeface="新細明體" pitchFamily="18" charset="-120"/>
              </a:rPr>
              <a:t>		 = x + x' 	       </a:t>
            </a:r>
            <a:r>
              <a:rPr lang="en-US" altLang="zh-TW" dirty="0">
                <a:ea typeface="新細明體" pitchFamily="18" charset="-120"/>
              </a:rPr>
              <a:t>2(b)</a:t>
            </a:r>
          </a:p>
          <a:p>
            <a:pPr lvl="1">
              <a:buFont typeface="Wingdings" pitchFamily="2" charset="2"/>
              <a:buNone/>
            </a:pPr>
            <a:r>
              <a:rPr lang="en-US" altLang="zh-TW" i="1" dirty="0">
                <a:ea typeface="新細明體" pitchFamily="18" charset="-120"/>
              </a:rPr>
              <a:t>  		 </a:t>
            </a:r>
            <a:r>
              <a:rPr lang="en-US" altLang="zh-TW" dirty="0">
                <a:ea typeface="新細明體" pitchFamily="18" charset="-120"/>
              </a:rPr>
              <a:t>= 1</a:t>
            </a:r>
          </a:p>
          <a:p>
            <a:r>
              <a:rPr lang="en-US" altLang="zh-TW" dirty="0">
                <a:ea typeface="新細明體" pitchFamily="18" charset="-120"/>
              </a:rPr>
              <a:t>Theorem 2(b):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zh-TW" altLang="en-US" dirty="0">
                <a:ea typeface="新細明體" pitchFamily="18" charset="-120"/>
              </a:rPr>
              <a:t>．</a:t>
            </a:r>
            <a:r>
              <a:rPr lang="en-US" altLang="zh-TW" dirty="0">
                <a:ea typeface="新細明體" pitchFamily="18" charset="-120"/>
              </a:rPr>
              <a:t>0 = 0	by duality</a:t>
            </a:r>
          </a:p>
          <a:p>
            <a:r>
              <a:rPr lang="en-US" altLang="zh-TW" dirty="0">
                <a:ea typeface="新細明體" pitchFamily="18" charset="-120"/>
              </a:rPr>
              <a:t>Theorem 4: (</a:t>
            </a:r>
            <a:r>
              <a:rPr lang="en-US" altLang="zh-TW" i="1" dirty="0">
                <a:ea typeface="新細明體" pitchFamily="18" charset="-120"/>
              </a:rPr>
              <a:t>x'</a:t>
            </a:r>
            <a:r>
              <a:rPr lang="en-US" altLang="zh-TW" dirty="0">
                <a:ea typeface="新細明體" pitchFamily="18" charset="-120"/>
              </a:rPr>
              <a:t>)</a:t>
            </a:r>
            <a:r>
              <a:rPr lang="en-US" altLang="zh-TW" i="1" dirty="0">
                <a:ea typeface="新細明體" pitchFamily="18" charset="-120"/>
              </a:rPr>
              <a:t>'</a:t>
            </a:r>
            <a:r>
              <a:rPr lang="en-US" altLang="zh-TW" dirty="0">
                <a:ea typeface="新細明體" pitchFamily="18" charset="-120"/>
              </a:rPr>
              <a:t> = </a:t>
            </a:r>
            <a:r>
              <a:rPr lang="en-US" altLang="zh-TW" i="1" dirty="0">
                <a:ea typeface="新細明體" pitchFamily="18" charset="-120"/>
              </a:rPr>
              <a:t>x</a:t>
            </a: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Postulate 5 defines the complement of </a:t>
            </a:r>
            <a:r>
              <a:rPr lang="en-US" altLang="zh-TW" i="1" dirty="0">
                <a:ea typeface="新細明體" pitchFamily="18" charset="-120"/>
              </a:rPr>
              <a:t>x, x + x' = </a:t>
            </a:r>
            <a:r>
              <a:rPr lang="en-US" altLang="zh-TW" dirty="0">
                <a:ea typeface="新細明體" pitchFamily="18" charset="-120"/>
              </a:rPr>
              <a:t>1 and </a:t>
            </a:r>
            <a:r>
              <a:rPr lang="en-US" altLang="zh-TW" i="1" dirty="0">
                <a:ea typeface="新細明體" pitchFamily="18" charset="-120"/>
              </a:rPr>
              <a:t>x </a:t>
            </a:r>
            <a:r>
              <a:rPr lang="en-US" altLang="zh-TW" i="1" dirty="0" err="1">
                <a:ea typeface="新細明體" pitchFamily="18" charset="-120"/>
              </a:rPr>
              <a:t>x</a:t>
            </a:r>
            <a:r>
              <a:rPr lang="en-US" altLang="zh-TW" i="1" dirty="0">
                <a:ea typeface="新細明體" pitchFamily="18" charset="-120"/>
              </a:rPr>
              <a:t>' = </a:t>
            </a:r>
            <a:r>
              <a:rPr lang="en-US" altLang="zh-TW" dirty="0">
                <a:ea typeface="新細明體" pitchFamily="18" charset="-120"/>
              </a:rPr>
              <a:t>0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The complement of </a:t>
            </a:r>
            <a:r>
              <a:rPr lang="en-US" altLang="zh-TW" i="1" dirty="0">
                <a:ea typeface="新細明體" pitchFamily="18" charset="-120"/>
              </a:rPr>
              <a:t>x' </a:t>
            </a:r>
            <a:r>
              <a:rPr lang="en-US" altLang="zh-TW" dirty="0">
                <a:ea typeface="新細明體" pitchFamily="18" charset="-120"/>
              </a:rPr>
              <a:t>is </a:t>
            </a:r>
            <a:r>
              <a:rPr lang="en-US" altLang="zh-TW" i="1" dirty="0">
                <a:ea typeface="新細明體" pitchFamily="18" charset="-120"/>
              </a:rPr>
              <a:t>x </a:t>
            </a:r>
            <a:r>
              <a:rPr lang="en-US" altLang="zh-TW" dirty="0">
                <a:ea typeface="新細明體" pitchFamily="18" charset="-120"/>
              </a:rPr>
              <a:t>is also (</a:t>
            </a:r>
            <a:r>
              <a:rPr lang="en-US" altLang="zh-TW" i="1" dirty="0">
                <a:ea typeface="新細明體" pitchFamily="18" charset="-120"/>
              </a:rPr>
              <a:t>x'</a:t>
            </a:r>
            <a:r>
              <a:rPr lang="en-US" altLang="zh-TW" dirty="0">
                <a:ea typeface="新細明體" pitchFamily="18" charset="-120"/>
              </a:rPr>
              <a:t>)</a:t>
            </a:r>
            <a:r>
              <a:rPr lang="en-US" altLang="zh-TW" i="1" dirty="0">
                <a:ea typeface="新細明體" pitchFamily="18" charset="-120"/>
              </a:rPr>
              <a:t>'</a:t>
            </a:r>
          </a:p>
          <a:p>
            <a:pPr lvl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52950" y="1657350"/>
            <a:ext cx="4419600" cy="175432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Verdana" pitchFamily="34" charset="0"/>
              </a:rPr>
              <a:t>Post. 2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x+0=x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>
                <a:latin typeface="Verdana" pitchFamily="34" charset="0"/>
              </a:rPr>
              <a:t>x·1=x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3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y+x</a:t>
            </a:r>
            <a:r>
              <a:rPr lang="en-US" dirty="0">
                <a:latin typeface="Verdana" pitchFamily="34" charset="0"/>
              </a:rPr>
              <a:t>, (b) </a:t>
            </a:r>
            <a:r>
              <a:rPr lang="en-US" i="1" dirty="0" err="1">
                <a:latin typeface="Verdana" pitchFamily="34" charset="0"/>
              </a:rPr>
              <a:t>x·y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y·x</a:t>
            </a:r>
            <a:endParaRPr lang="en-US" i="1" dirty="0">
              <a:latin typeface="Verdana" pitchFamily="34" charset="0"/>
            </a:endParaRPr>
          </a:p>
          <a:p>
            <a:pPr eaLnBrk="0" hangingPunct="0"/>
            <a:r>
              <a:rPr lang="en-US" b="1" dirty="0">
                <a:latin typeface="Verdana" pitchFamily="34" charset="0"/>
              </a:rPr>
              <a:t>Post. 4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y+z</a:t>
            </a:r>
            <a:r>
              <a:rPr lang="en-US" dirty="0">
                <a:latin typeface="Verdana" pitchFamily="34" charset="0"/>
              </a:rPr>
              <a:t>)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i="1" dirty="0" err="1">
                <a:latin typeface="Verdana" pitchFamily="34" charset="0"/>
              </a:rPr>
              <a:t>xy+xz</a:t>
            </a:r>
            <a:r>
              <a:rPr lang="en-US" dirty="0">
                <a:latin typeface="Verdana" pitchFamily="34" charset="0"/>
              </a:rPr>
              <a:t>, </a:t>
            </a:r>
            <a:br>
              <a:rPr lang="en-US" dirty="0">
                <a:latin typeface="Verdana" pitchFamily="34" charset="0"/>
              </a:rPr>
            </a:br>
            <a:r>
              <a:rPr lang="en-US" dirty="0">
                <a:latin typeface="Verdana" pitchFamily="34" charset="0"/>
              </a:rPr>
              <a:t>	  (b) </a:t>
            </a:r>
            <a:r>
              <a:rPr lang="en-US" i="1" dirty="0" err="1">
                <a:latin typeface="Verdana" pitchFamily="34" charset="0"/>
              </a:rPr>
              <a:t>x+yz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dirty="0">
                <a:latin typeface="Verdana" pitchFamily="34" charset="0"/>
              </a:rPr>
              <a:t>)(</a:t>
            </a:r>
            <a:r>
              <a:rPr lang="en-US" i="1" dirty="0" err="1">
                <a:latin typeface="Verdana" pitchFamily="34" charset="0"/>
              </a:rPr>
              <a:t>x+z</a:t>
            </a:r>
            <a:r>
              <a:rPr lang="en-US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5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’=1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 err="1">
                <a:latin typeface="Verdana" pitchFamily="34" charset="0"/>
              </a:rPr>
              <a:t>x·x</a:t>
            </a:r>
            <a:r>
              <a:rPr lang="en-US" i="1" dirty="0">
                <a:latin typeface="Verdana" pitchFamily="34" charset="0"/>
              </a:rPr>
              <a:t>’=0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Th. 1</a:t>
            </a:r>
            <a:r>
              <a:rPr lang="en-US" dirty="0">
                <a:latin typeface="Verdana" pitchFamily="34" charset="0"/>
              </a:rPr>
              <a:t>:	 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=x,	</a:t>
            </a:r>
            <a:r>
              <a:rPr lang="en-US" dirty="0">
                <a:latin typeface="Verdana" pitchFamily="34" charset="0"/>
              </a:rPr>
              <a:t>(b) </a:t>
            </a:r>
            <a:r>
              <a:rPr lang="en-US" i="1" dirty="0" err="1">
                <a:latin typeface="Verdana" pitchFamily="34" charset="0"/>
              </a:rPr>
              <a:t>x.x</a:t>
            </a:r>
            <a:r>
              <a:rPr lang="en-US" dirty="0">
                <a:latin typeface="Verdana" pitchFamily="34" charset="0"/>
              </a:rPr>
              <a:t> =</a:t>
            </a:r>
            <a:r>
              <a:rPr lang="en-US" i="1" dirty="0">
                <a:latin typeface="Verdana" pitchFamily="34" charset="0"/>
              </a:rPr>
              <a:t>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Absorption Property (Covering)</a:t>
            </a:r>
            <a:endParaRPr lang="en-US" dirty="0">
              <a:latin typeface="Garamond" pitchFamily="18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81150"/>
            <a:ext cx="7696200" cy="4873752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zh-TW" dirty="0">
                <a:ea typeface="新細明體" pitchFamily="18" charset="-120"/>
              </a:rPr>
              <a:t>Theorem 6(a):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+ </a:t>
            </a:r>
            <a:r>
              <a:rPr lang="en-US" altLang="zh-TW" i="1" dirty="0" err="1">
                <a:ea typeface="新細明體" pitchFamily="18" charset="-120"/>
              </a:rPr>
              <a:t>xy</a:t>
            </a:r>
            <a:r>
              <a:rPr lang="en-US" altLang="zh-TW" dirty="0">
                <a:ea typeface="新細明體" pitchFamily="18" charset="-120"/>
              </a:rPr>
              <a:t> = </a:t>
            </a:r>
            <a:r>
              <a:rPr lang="en-US" altLang="zh-TW" i="1" dirty="0">
                <a:ea typeface="新細明體" pitchFamily="18" charset="-120"/>
              </a:rPr>
              <a:t>x</a:t>
            </a:r>
            <a:endParaRPr lang="en-US" altLang="zh-TW" dirty="0">
              <a:ea typeface="新細明體" pitchFamily="18" charset="-120"/>
            </a:endParaRPr>
          </a:p>
          <a:p>
            <a:pPr marL="624840" indent="-533400">
              <a:lnSpc>
                <a:spcPct val="90000"/>
              </a:lnSpc>
              <a:buNone/>
            </a:pPr>
            <a:r>
              <a:rPr lang="en-US" altLang="zh-TW" i="1" dirty="0">
                <a:ea typeface="新細明體" pitchFamily="18" charset="-120"/>
              </a:rPr>
              <a:t>  x + </a:t>
            </a:r>
            <a:r>
              <a:rPr lang="en-US" altLang="zh-TW" i="1" dirty="0" err="1">
                <a:ea typeface="新細明體" pitchFamily="18" charset="-120"/>
              </a:rPr>
              <a:t>xy</a:t>
            </a:r>
            <a:r>
              <a:rPr lang="en-US" altLang="zh-TW" i="1" dirty="0">
                <a:ea typeface="新細明體" pitchFamily="18" charset="-120"/>
              </a:rPr>
              <a:t> = x</a:t>
            </a:r>
            <a:r>
              <a:rPr lang="zh-TW" altLang="en-US" dirty="0">
                <a:ea typeface="新細明體" pitchFamily="18" charset="-120"/>
              </a:rPr>
              <a:t>．</a:t>
            </a:r>
            <a:r>
              <a:rPr lang="en-US" altLang="zh-TW" dirty="0">
                <a:ea typeface="新細明體" pitchFamily="18" charset="-120"/>
              </a:rPr>
              <a:t>1 + </a:t>
            </a:r>
            <a:r>
              <a:rPr lang="en-US" altLang="zh-TW" i="1" dirty="0" err="1">
                <a:ea typeface="新細明體" pitchFamily="18" charset="-120"/>
              </a:rPr>
              <a:t>xy</a:t>
            </a:r>
            <a:r>
              <a:rPr lang="en-AU" altLang="zh-TW" i="1" dirty="0"/>
              <a:t> </a:t>
            </a:r>
            <a:r>
              <a:rPr lang="tr-TR" altLang="zh-TW" i="1" dirty="0"/>
              <a:t>by </a:t>
            </a:r>
            <a:r>
              <a:rPr lang="en-AU" altLang="zh-TW" i="1" dirty="0"/>
              <a:t> </a:t>
            </a:r>
            <a:r>
              <a:rPr lang="en-US" altLang="zh-TW" dirty="0">
                <a:ea typeface="新細明體" pitchFamily="18" charset="-120"/>
              </a:rPr>
              <a:t>2(b)</a:t>
            </a:r>
          </a:p>
          <a:p>
            <a:pPr marL="62484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i="1" dirty="0">
                <a:ea typeface="新細明體" pitchFamily="18" charset="-120"/>
              </a:rPr>
              <a:t>	= x </a:t>
            </a:r>
            <a:r>
              <a:rPr lang="en-US" altLang="zh-TW" dirty="0">
                <a:ea typeface="新細明體" pitchFamily="18" charset="-120"/>
              </a:rPr>
              <a:t>(1 + </a:t>
            </a:r>
            <a:r>
              <a:rPr lang="en-US" altLang="zh-TW" i="1" dirty="0"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) 	</a:t>
            </a:r>
            <a:r>
              <a:rPr lang="tr-TR" altLang="zh-TW" dirty="0"/>
              <a:t>     </a:t>
            </a:r>
            <a:r>
              <a:rPr lang="en-AU" altLang="zh-TW" dirty="0"/>
              <a:t> </a:t>
            </a:r>
            <a:r>
              <a:rPr lang="en-US" altLang="zh-TW" dirty="0">
                <a:ea typeface="新細明體" pitchFamily="18" charset="-120"/>
              </a:rPr>
              <a:t>4(a)</a:t>
            </a:r>
          </a:p>
          <a:p>
            <a:pPr marL="62484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= </a:t>
            </a:r>
            <a:r>
              <a:rPr lang="en-US" altLang="zh-TW" i="1" dirty="0">
                <a:ea typeface="新細明體" pitchFamily="18" charset="-120"/>
              </a:rPr>
              <a:t>x </a:t>
            </a:r>
            <a:r>
              <a:rPr lang="en-US" altLang="zh-TW" dirty="0">
                <a:ea typeface="新細明體" pitchFamily="18" charset="-120"/>
              </a:rPr>
              <a:t>(</a:t>
            </a:r>
            <a:r>
              <a:rPr lang="en-US" altLang="zh-TW" i="1" dirty="0"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 + 1)	</a:t>
            </a:r>
            <a:r>
              <a:rPr lang="tr-TR" altLang="zh-TW" dirty="0"/>
              <a:t>     </a:t>
            </a:r>
            <a:r>
              <a:rPr lang="en-AU" altLang="zh-TW" dirty="0"/>
              <a:t> </a:t>
            </a:r>
            <a:r>
              <a:rPr lang="en-US" altLang="zh-TW" dirty="0">
                <a:ea typeface="新細明體" pitchFamily="18" charset="-120"/>
              </a:rPr>
              <a:t>3(a)</a:t>
            </a:r>
          </a:p>
          <a:p>
            <a:pPr marL="62484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=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zh-TW" altLang="en-US" dirty="0">
                <a:ea typeface="新細明體" pitchFamily="18" charset="-120"/>
              </a:rPr>
              <a:t>．</a:t>
            </a:r>
            <a:r>
              <a:rPr lang="en-US" altLang="zh-TW" dirty="0">
                <a:ea typeface="新細明體" pitchFamily="18" charset="-120"/>
              </a:rPr>
              <a:t>1		</a:t>
            </a:r>
            <a:r>
              <a:rPr lang="tr-TR" altLang="zh-TW" dirty="0"/>
              <a:t>Th </a:t>
            </a:r>
            <a:r>
              <a:rPr lang="en-US" altLang="zh-TW" dirty="0">
                <a:ea typeface="新細明體" pitchFamily="18" charset="-120"/>
              </a:rPr>
              <a:t>2(a)</a:t>
            </a:r>
          </a:p>
          <a:p>
            <a:pPr marL="624840" indent="-533400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= </a:t>
            </a:r>
            <a:r>
              <a:rPr lang="en-US" altLang="zh-TW" i="1" dirty="0">
                <a:ea typeface="新細明體" pitchFamily="18" charset="-120"/>
              </a:rPr>
              <a:t>x		</a:t>
            </a:r>
            <a:r>
              <a:rPr lang="tr-TR" altLang="zh-TW" i="1" dirty="0"/>
              <a:t>     </a:t>
            </a:r>
            <a:r>
              <a:rPr lang="en-AU" altLang="zh-TW" i="1" dirty="0"/>
              <a:t> </a:t>
            </a:r>
            <a:r>
              <a:rPr lang="en-US" altLang="zh-TW" dirty="0">
                <a:ea typeface="新細明體" pitchFamily="18" charset="-120"/>
              </a:rPr>
              <a:t>2(b)</a:t>
            </a:r>
          </a:p>
          <a:p>
            <a:pPr marL="624840" indent="-533400">
              <a:lnSpc>
                <a:spcPct val="90000"/>
              </a:lnSpc>
              <a:buNone/>
            </a:pPr>
            <a:endParaRPr lang="tr-TR" altLang="zh-TW" dirty="0"/>
          </a:p>
          <a:p>
            <a:pPr marL="609600" indent="-609600"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Theorem 6(b): </a:t>
            </a:r>
            <a:r>
              <a:rPr lang="en-US" altLang="zh-TW" i="1" dirty="0">
                <a:ea typeface="新細明體" pitchFamily="18" charset="-120"/>
              </a:rPr>
              <a:t>x </a:t>
            </a:r>
            <a:r>
              <a:rPr lang="en-US" altLang="zh-TW" dirty="0">
                <a:ea typeface="新細明體" pitchFamily="18" charset="-120"/>
              </a:rPr>
              <a:t>(</a:t>
            </a:r>
            <a:r>
              <a:rPr lang="en-US" altLang="zh-TW" i="1" dirty="0">
                <a:ea typeface="新細明體" pitchFamily="18" charset="-120"/>
              </a:rPr>
              <a:t>x + y</a:t>
            </a:r>
            <a:r>
              <a:rPr lang="en-US" altLang="zh-TW" dirty="0">
                <a:ea typeface="新細明體" pitchFamily="18" charset="-120"/>
              </a:rPr>
              <a:t>) = </a:t>
            </a:r>
            <a:r>
              <a:rPr lang="en-US" altLang="zh-TW" i="1" dirty="0">
                <a:ea typeface="新細明體" pitchFamily="18" charset="-120"/>
              </a:rPr>
              <a:t>x	</a:t>
            </a:r>
            <a:r>
              <a:rPr lang="en-US" altLang="zh-TW" dirty="0">
                <a:ea typeface="新細明體" pitchFamily="18" charset="-120"/>
              </a:rPr>
              <a:t>by duality</a:t>
            </a:r>
          </a:p>
          <a:p>
            <a:pPr marL="609600" indent="-609600">
              <a:lnSpc>
                <a:spcPct val="90000"/>
              </a:lnSpc>
            </a:pPr>
            <a:r>
              <a:rPr lang="en-US" altLang="zh-TW" dirty="0">
                <a:ea typeface="新細明體" pitchFamily="18" charset="-120"/>
              </a:rPr>
              <a:t>By means of truth table (another way to proof )</a:t>
            </a: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52950" y="1740475"/>
            <a:ext cx="4419600" cy="2031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latin typeface="Verdana" pitchFamily="34" charset="0"/>
              </a:rPr>
              <a:t>Post. 2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x+0=x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>
                <a:latin typeface="Verdana" pitchFamily="34" charset="0"/>
              </a:rPr>
              <a:t>x·1=x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3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y+x</a:t>
            </a:r>
            <a:r>
              <a:rPr lang="en-US" dirty="0">
                <a:latin typeface="Verdana" pitchFamily="34" charset="0"/>
              </a:rPr>
              <a:t>, (b) </a:t>
            </a:r>
            <a:r>
              <a:rPr lang="en-US" i="1" dirty="0" err="1">
                <a:latin typeface="Verdana" pitchFamily="34" charset="0"/>
              </a:rPr>
              <a:t>x·y</a:t>
            </a:r>
            <a:r>
              <a:rPr lang="en-US" i="1" dirty="0">
                <a:latin typeface="Verdana" pitchFamily="34" charset="0"/>
              </a:rPr>
              <a:t>=</a:t>
            </a:r>
            <a:r>
              <a:rPr lang="en-US" i="1" dirty="0" err="1">
                <a:latin typeface="Verdana" pitchFamily="34" charset="0"/>
              </a:rPr>
              <a:t>y·x</a:t>
            </a:r>
            <a:endParaRPr lang="en-US" i="1" dirty="0">
              <a:latin typeface="Verdana" pitchFamily="34" charset="0"/>
            </a:endParaRPr>
          </a:p>
          <a:p>
            <a:pPr eaLnBrk="0" hangingPunct="0"/>
            <a:r>
              <a:rPr lang="en-US" b="1" dirty="0">
                <a:latin typeface="Verdana" pitchFamily="34" charset="0"/>
              </a:rPr>
              <a:t>Post. 4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>
                <a:latin typeface="Verdana" pitchFamily="34" charset="0"/>
              </a:rPr>
              <a:t>x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y+z</a:t>
            </a:r>
            <a:r>
              <a:rPr lang="en-US" dirty="0">
                <a:latin typeface="Verdana" pitchFamily="34" charset="0"/>
              </a:rPr>
              <a:t>)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i="1" dirty="0" err="1">
                <a:latin typeface="Verdana" pitchFamily="34" charset="0"/>
              </a:rPr>
              <a:t>xy+xz</a:t>
            </a:r>
            <a:r>
              <a:rPr lang="en-US" dirty="0">
                <a:latin typeface="Verdana" pitchFamily="34" charset="0"/>
              </a:rPr>
              <a:t>, </a:t>
            </a:r>
            <a:br>
              <a:rPr lang="en-US" dirty="0">
                <a:latin typeface="Verdana" pitchFamily="34" charset="0"/>
              </a:rPr>
            </a:br>
            <a:r>
              <a:rPr lang="en-US" dirty="0">
                <a:latin typeface="Verdana" pitchFamily="34" charset="0"/>
              </a:rPr>
              <a:t>	  (b) </a:t>
            </a:r>
            <a:r>
              <a:rPr lang="en-US" i="1" dirty="0" err="1">
                <a:latin typeface="Verdana" pitchFamily="34" charset="0"/>
              </a:rPr>
              <a:t>x+yz</a:t>
            </a:r>
            <a:r>
              <a:rPr lang="en-US" i="1" dirty="0">
                <a:latin typeface="Verdana" pitchFamily="34" charset="0"/>
              </a:rPr>
              <a:t> = </a:t>
            </a:r>
            <a:r>
              <a:rPr lang="en-US" dirty="0">
                <a:latin typeface="Verdana" pitchFamily="34" charset="0"/>
              </a:rPr>
              <a:t>(</a:t>
            </a:r>
            <a:r>
              <a:rPr lang="en-US" i="1" dirty="0" err="1">
                <a:latin typeface="Verdana" pitchFamily="34" charset="0"/>
              </a:rPr>
              <a:t>x+y</a:t>
            </a:r>
            <a:r>
              <a:rPr lang="en-US" dirty="0">
                <a:latin typeface="Verdana" pitchFamily="34" charset="0"/>
              </a:rPr>
              <a:t>)(</a:t>
            </a:r>
            <a:r>
              <a:rPr lang="en-US" i="1" dirty="0" err="1">
                <a:latin typeface="Verdana" pitchFamily="34" charset="0"/>
              </a:rPr>
              <a:t>x+z</a:t>
            </a:r>
            <a:r>
              <a:rPr lang="en-US" dirty="0">
                <a:latin typeface="Verdana" pitchFamily="34" charset="0"/>
              </a:rPr>
              <a:t>)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Post. 5</a:t>
            </a:r>
            <a:r>
              <a:rPr lang="en-US" dirty="0">
                <a:latin typeface="Verdana" pitchFamily="34" charset="0"/>
              </a:rPr>
              <a:t>: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’=1</a:t>
            </a:r>
            <a:r>
              <a:rPr lang="en-US" dirty="0">
                <a:latin typeface="Verdana" pitchFamily="34" charset="0"/>
              </a:rPr>
              <a:t>, 	(b) </a:t>
            </a:r>
            <a:r>
              <a:rPr lang="en-US" i="1" dirty="0" err="1">
                <a:latin typeface="Verdana" pitchFamily="34" charset="0"/>
              </a:rPr>
              <a:t>x·x</a:t>
            </a:r>
            <a:r>
              <a:rPr lang="en-US" i="1" dirty="0">
                <a:latin typeface="Verdana" pitchFamily="34" charset="0"/>
              </a:rPr>
              <a:t>’=0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Th. 1</a:t>
            </a:r>
            <a:r>
              <a:rPr lang="en-US" dirty="0">
                <a:latin typeface="Verdana" pitchFamily="34" charset="0"/>
              </a:rPr>
              <a:t>:	  (a) </a:t>
            </a:r>
            <a:r>
              <a:rPr lang="en-US" i="1" dirty="0" err="1">
                <a:latin typeface="Verdana" pitchFamily="34" charset="0"/>
              </a:rPr>
              <a:t>x+x</a:t>
            </a:r>
            <a:r>
              <a:rPr lang="en-US" i="1" dirty="0">
                <a:latin typeface="Verdana" pitchFamily="34" charset="0"/>
              </a:rPr>
              <a:t>=x,	</a:t>
            </a:r>
            <a:r>
              <a:rPr lang="en-US" dirty="0">
                <a:latin typeface="Verdana" pitchFamily="34" charset="0"/>
              </a:rPr>
              <a:t>(b) </a:t>
            </a:r>
            <a:r>
              <a:rPr lang="en-US" i="1" dirty="0" err="1">
                <a:latin typeface="Verdana" pitchFamily="34" charset="0"/>
              </a:rPr>
              <a:t>x.x</a:t>
            </a:r>
            <a:r>
              <a:rPr lang="en-US" dirty="0">
                <a:latin typeface="Verdana" pitchFamily="34" charset="0"/>
              </a:rPr>
              <a:t> =</a:t>
            </a:r>
            <a:r>
              <a:rPr lang="en-US" i="1" dirty="0">
                <a:latin typeface="Verdana" pitchFamily="34" charset="0"/>
              </a:rPr>
              <a:t>x</a:t>
            </a:r>
          </a:p>
          <a:p>
            <a:pPr eaLnBrk="0" hangingPunct="0"/>
            <a:r>
              <a:rPr lang="en-US" b="1" dirty="0">
                <a:latin typeface="Verdana" pitchFamily="34" charset="0"/>
              </a:rPr>
              <a:t>Th. 2</a:t>
            </a:r>
            <a:r>
              <a:rPr lang="en-US" dirty="0">
                <a:latin typeface="Verdana" pitchFamily="34" charset="0"/>
              </a:rPr>
              <a:t>:	  (a) </a:t>
            </a:r>
            <a:r>
              <a:rPr lang="en-US" altLang="zh-TW" i="1" dirty="0">
                <a:latin typeface="Verdana" pitchFamily="34" charset="0"/>
                <a:ea typeface="新細明體" pitchFamily="18" charset="-120"/>
              </a:rPr>
              <a:t>x + </a:t>
            </a:r>
            <a:r>
              <a:rPr lang="en-US" altLang="zh-TW" dirty="0">
                <a:latin typeface="Verdana" pitchFamily="34" charset="0"/>
                <a:ea typeface="新細明體" pitchFamily="18" charset="-120"/>
              </a:rPr>
              <a:t>1 = 1</a:t>
            </a:r>
            <a:r>
              <a:rPr lang="en-US" i="1" dirty="0">
                <a:latin typeface="Verdana" pitchFamily="34" charset="0"/>
              </a:rPr>
              <a:t>,	</a:t>
            </a:r>
            <a:r>
              <a:rPr lang="en-US" dirty="0">
                <a:latin typeface="Verdana" pitchFamily="34" charset="0"/>
              </a:rPr>
              <a:t>(b) </a:t>
            </a:r>
            <a:r>
              <a:rPr lang="en-US" i="1" dirty="0">
                <a:latin typeface="Verdana" pitchFamily="34" charset="0"/>
              </a:rPr>
              <a:t>x.</a:t>
            </a:r>
            <a:r>
              <a:rPr lang="en-US" dirty="0">
                <a:latin typeface="Verdana" pitchFamily="34" charset="0"/>
              </a:rPr>
              <a:t>0 =0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Absorption Property (Covering)</a:t>
            </a:r>
            <a:endParaRPr lang="en-US" dirty="0">
              <a:latin typeface="Garamond" pitchFamily="18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81150"/>
            <a:ext cx="7696200" cy="4873752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None/>
            </a:pPr>
            <a:r>
              <a:rPr lang="en-US" altLang="zh-TW" dirty="0">
                <a:ea typeface="新細明體" pitchFamily="18" charset="-120"/>
              </a:rPr>
              <a:t>Theorem 6(a):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+ </a:t>
            </a:r>
            <a:r>
              <a:rPr lang="en-US" altLang="zh-TW" i="1" dirty="0" err="1">
                <a:ea typeface="新細明體" pitchFamily="18" charset="-120"/>
              </a:rPr>
              <a:t>xy</a:t>
            </a:r>
            <a:r>
              <a:rPr lang="en-US" altLang="zh-TW" dirty="0">
                <a:ea typeface="新細明體" pitchFamily="18" charset="-120"/>
              </a:rPr>
              <a:t> = </a:t>
            </a:r>
            <a:r>
              <a:rPr lang="en-US" altLang="zh-TW" i="1" dirty="0">
                <a:ea typeface="新細明體" pitchFamily="18" charset="-120"/>
              </a:rPr>
              <a:t>x</a:t>
            </a:r>
            <a:endParaRPr lang="en-US" altLang="zh-TW" dirty="0">
              <a:ea typeface="新細明體" pitchFamily="18" charset="-120"/>
            </a:endParaRPr>
          </a:p>
        </p:txBody>
      </p:sp>
      <p:graphicFrame>
        <p:nvGraphicFramePr>
          <p:cNvPr id="5" name="Group 43"/>
          <p:cNvGraphicFramePr>
            <a:graphicFrameLocks/>
          </p:cNvGraphicFramePr>
          <p:nvPr/>
        </p:nvGraphicFramePr>
        <p:xfrm>
          <a:off x="2597150" y="2384425"/>
          <a:ext cx="3670300" cy="2036764"/>
        </p:xfrm>
        <a:graphic>
          <a:graphicData uri="http://schemas.openxmlformats.org/drawingml/2006/table">
            <a:tbl>
              <a:tblPr/>
              <a:tblGrid>
                <a:gridCol w="9161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199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80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161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</a:t>
                      </a:r>
                      <a:endParaRPr kumimoji="0" lang="zh-TW" altLang="en-US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y</a:t>
                      </a:r>
                      <a:endParaRPr kumimoji="0" lang="zh-TW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xy</a:t>
                      </a:r>
                      <a:endParaRPr kumimoji="0" lang="zh-TW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x+xy</a:t>
                      </a:r>
                      <a:endParaRPr kumimoji="0" lang="zh-TW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mic Sans MS" pitchFamily="66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/>
              <a:t>DeMorgan’s Theorem</a:t>
            </a:r>
            <a:endParaRPr lang="en-US" dirty="0">
              <a:latin typeface="Garamond" pitchFamily="18" charset="0"/>
            </a:endParaRP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81150"/>
            <a:ext cx="7696200" cy="4873752"/>
          </a:xfrm>
        </p:spPr>
        <p:txBody>
          <a:bodyPr>
            <a:normAutofit/>
          </a:bodyPr>
          <a:lstStyle/>
          <a:p>
            <a:pPr marL="609600" indent="-609600"/>
            <a:r>
              <a:rPr lang="en-US" altLang="zh-TW" dirty="0">
                <a:ea typeface="新細明體" pitchFamily="18" charset="-120"/>
              </a:rPr>
              <a:t>Theorem </a:t>
            </a:r>
            <a:r>
              <a:rPr lang="tr-TR" altLang="zh-TW" dirty="0"/>
              <a:t>5</a:t>
            </a:r>
            <a:r>
              <a:rPr lang="en-US" altLang="zh-TW" dirty="0">
                <a:ea typeface="新細明體" pitchFamily="18" charset="-120"/>
              </a:rPr>
              <a:t>(a): </a:t>
            </a:r>
            <a:r>
              <a:rPr lang="tr-TR" altLang="zh-TW" dirty="0"/>
              <a:t>(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+ </a:t>
            </a:r>
            <a:r>
              <a:rPr lang="en-US" altLang="zh-TW" i="1" dirty="0">
                <a:ea typeface="新細明體" pitchFamily="18" charset="-120"/>
              </a:rPr>
              <a:t>y</a:t>
            </a:r>
            <a:r>
              <a:rPr lang="tr-TR" altLang="zh-TW" i="1" dirty="0"/>
              <a:t>)’</a:t>
            </a:r>
            <a:r>
              <a:rPr lang="en-US" altLang="zh-TW" dirty="0">
                <a:ea typeface="新細明體" pitchFamily="18" charset="-120"/>
              </a:rPr>
              <a:t> =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tr-TR" altLang="zh-TW" i="1" dirty="0"/>
              <a:t>’y’</a:t>
            </a:r>
            <a:endParaRPr lang="en-US" altLang="zh-TW" dirty="0">
              <a:ea typeface="新細明體" pitchFamily="18" charset="-120"/>
            </a:endParaRPr>
          </a:p>
          <a:p>
            <a:pPr marL="609600" indent="-609600"/>
            <a:r>
              <a:rPr lang="en-US" altLang="zh-TW" dirty="0">
                <a:ea typeface="新細明體" pitchFamily="18" charset="-120"/>
              </a:rPr>
              <a:t>Theorem </a:t>
            </a:r>
            <a:r>
              <a:rPr lang="tr-TR" altLang="zh-TW" dirty="0"/>
              <a:t>5</a:t>
            </a:r>
            <a:r>
              <a:rPr lang="en-US" altLang="zh-TW" dirty="0">
                <a:ea typeface="新細明體" pitchFamily="18" charset="-120"/>
              </a:rPr>
              <a:t>(b): </a:t>
            </a:r>
            <a:r>
              <a:rPr lang="tr-TR" altLang="zh-TW" dirty="0"/>
              <a:t>(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tr-TR" altLang="zh-TW" i="1" dirty="0"/>
              <a:t>y)’</a:t>
            </a:r>
            <a:r>
              <a:rPr lang="en-US" altLang="zh-TW" i="1" dirty="0">
                <a:ea typeface="新細明體" pitchFamily="18" charset="-120"/>
              </a:rPr>
              <a:t> </a:t>
            </a:r>
            <a:r>
              <a:rPr lang="tr-TR" altLang="zh-TW" i="1" dirty="0"/>
              <a:t>= </a:t>
            </a:r>
            <a:r>
              <a:rPr lang="en-US" altLang="zh-TW" i="1" dirty="0">
                <a:ea typeface="新細明體" pitchFamily="18" charset="-120"/>
              </a:rPr>
              <a:t>x</a:t>
            </a:r>
            <a:r>
              <a:rPr lang="tr-TR" altLang="zh-TW" i="1" dirty="0"/>
              <a:t>’</a:t>
            </a:r>
            <a:r>
              <a:rPr lang="en-US" altLang="zh-TW" i="1" dirty="0">
                <a:ea typeface="新細明體" pitchFamily="18" charset="-120"/>
              </a:rPr>
              <a:t> + y</a:t>
            </a:r>
            <a:r>
              <a:rPr lang="tr-TR" altLang="zh-TW" i="1" dirty="0"/>
              <a:t>’</a:t>
            </a:r>
            <a:endParaRPr lang="en-US" altLang="zh-TW" dirty="0">
              <a:ea typeface="新細明體" pitchFamily="18" charset="-120"/>
            </a:endParaRPr>
          </a:p>
          <a:p>
            <a:pPr marL="609600" indent="-609600"/>
            <a:r>
              <a:rPr lang="en-US" altLang="zh-TW" dirty="0">
                <a:ea typeface="新細明體" pitchFamily="18" charset="-120"/>
              </a:rPr>
              <a:t>By means of truth table</a:t>
            </a:r>
            <a:endParaRPr lang="zh-TW" altLang="en-US" dirty="0">
              <a:ea typeface="新細明體" pitchFamily="18" charset="-120"/>
            </a:endParaRPr>
          </a:p>
        </p:txBody>
      </p:sp>
      <p:graphicFrame>
        <p:nvGraphicFramePr>
          <p:cNvPr id="6" name="Group 95"/>
          <p:cNvGraphicFramePr>
            <a:graphicFrameLocks/>
          </p:cNvGraphicFramePr>
          <p:nvPr/>
        </p:nvGraphicFramePr>
        <p:xfrm>
          <a:off x="419100" y="3200400"/>
          <a:ext cx="7924800" cy="2430463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  <a:endParaRPr kumimoji="0" lang="zh-TW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y</a:t>
                      </a:r>
                      <a:endParaRPr kumimoji="0" lang="zh-TW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x’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y’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x</a:t>
                      </a: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+</a:t>
                      </a:r>
                      <a:r>
                        <a:rPr kumimoji="0" lang="en-US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  <a:cs typeface="Times New Roman" pitchFamily="18" charset="0"/>
                        </a:rPr>
                        <a:t>y</a:t>
                      </a:r>
                      <a:endParaRPr kumimoji="0" lang="zh-TW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(x+y)’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x’y’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xy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x’+y'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(xy)’</a:t>
                      </a:r>
                      <a:endParaRPr kumimoji="0" lang="en-US" altLang="zh-TW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0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  <a:cs typeface="Arial" charset="0"/>
                        </a:rPr>
                        <a:t>1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pitchFamily="18" charset="-12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C1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 Consensus Theorem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dirty="0"/>
              <a:t> + </a:t>
            </a:r>
            <a:r>
              <a:rPr lang="en-US" i="1" dirty="0" err="1">
                <a:solidFill>
                  <a:srgbClr val="FF0000"/>
                </a:solidFill>
              </a:rPr>
              <a:t>yz</a:t>
            </a:r>
            <a:r>
              <a:rPr lang="en-US" dirty="0"/>
              <a:t>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endParaRPr lang="en-US" i="1" dirty="0"/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/>
              <a:t>)•(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)•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y</a:t>
            </a:r>
            <a:r>
              <a:rPr lang="en-US" dirty="0" err="1">
                <a:solidFill>
                  <a:srgbClr val="FF0000"/>
                </a:solidFill>
              </a:rPr>
              <a:t>+</a:t>
            </a:r>
            <a:r>
              <a:rPr lang="en-US" i="1" dirty="0" err="1">
                <a:solidFill>
                  <a:srgbClr val="FF0000"/>
                </a:solidFill>
              </a:rPr>
              <a:t>z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/>
              <a:t>= 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/>
              <a:t>)•(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  -- (dual)</a:t>
            </a:r>
          </a:p>
          <a:p>
            <a:pPr marL="609600" indent="-609600"/>
            <a:r>
              <a:rPr lang="en-US" b="1" dirty="0"/>
              <a:t>Proof:</a:t>
            </a:r>
            <a:br>
              <a:rPr lang="en-US" b="1" dirty="0"/>
            </a:b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dirty="0"/>
              <a:t> + </a:t>
            </a:r>
            <a:r>
              <a:rPr lang="en-US" i="1" dirty="0" err="1"/>
              <a:t>yz</a:t>
            </a:r>
            <a:r>
              <a:rPr lang="en-US" dirty="0"/>
              <a:t> 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dirty="0"/>
              <a:t> + 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x</a:t>
            </a:r>
            <a:r>
              <a:rPr lang="en-US" i="1" dirty="0"/>
              <a:t>’</a:t>
            </a:r>
            <a:r>
              <a:rPr lang="en-US" dirty="0"/>
              <a:t>)</a:t>
            </a:r>
            <a:r>
              <a:rPr lang="en-US" i="1" dirty="0" err="1"/>
              <a:t>yz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      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dirty="0"/>
              <a:t> + </a:t>
            </a:r>
            <a:r>
              <a:rPr lang="en-US" i="1" dirty="0"/>
              <a:t>xyz</a:t>
            </a:r>
            <a:r>
              <a:rPr lang="en-US" dirty="0"/>
              <a:t> + </a:t>
            </a:r>
            <a:r>
              <a:rPr lang="en-US" i="1" dirty="0" err="1"/>
              <a:t>x’yz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       = (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/>
              <a:t>xyz</a:t>
            </a:r>
            <a:r>
              <a:rPr lang="en-US" dirty="0"/>
              <a:t>) + (</a:t>
            </a:r>
            <a:r>
              <a:rPr lang="en-US" i="1" dirty="0" err="1"/>
              <a:t>x’z</a:t>
            </a:r>
            <a:r>
              <a:rPr lang="en-US" dirty="0"/>
              <a:t> + </a:t>
            </a:r>
            <a:r>
              <a:rPr lang="en-US" i="1" dirty="0" err="1"/>
              <a:t>x’zy</a:t>
            </a:r>
            <a:r>
              <a:rPr lang="en-US" dirty="0"/>
              <a:t>) </a:t>
            </a:r>
          </a:p>
          <a:p>
            <a:pPr marL="609600" indent="-609600">
              <a:buNone/>
            </a:pPr>
            <a:r>
              <a:rPr lang="en-US" dirty="0"/>
              <a:t>			       = </a:t>
            </a:r>
            <a:r>
              <a:rPr lang="en-US" i="1" dirty="0" err="1"/>
              <a:t>xy</a:t>
            </a:r>
            <a:r>
              <a:rPr lang="en-US" dirty="0"/>
              <a:t>(1+</a:t>
            </a:r>
            <a:r>
              <a:rPr lang="en-US" i="1" dirty="0"/>
              <a:t>z</a:t>
            </a:r>
            <a:r>
              <a:rPr lang="en-US" dirty="0"/>
              <a:t>) + </a:t>
            </a:r>
            <a:r>
              <a:rPr lang="en-US" i="1" dirty="0" err="1"/>
              <a:t>x’z</a:t>
            </a:r>
            <a:r>
              <a:rPr lang="en-US" dirty="0"/>
              <a:t> (1+</a:t>
            </a:r>
            <a:r>
              <a:rPr lang="en-US" i="1" dirty="0"/>
              <a:t>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	      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Gate Implementation of a Function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F</a:t>
            </a:r>
            <a:r>
              <a:rPr lang="en-US" i="1" baseline="-25000" dirty="0"/>
              <a:t>2</a:t>
            </a:r>
            <a:r>
              <a:rPr lang="en-US" i="1" dirty="0"/>
              <a:t>=</a:t>
            </a:r>
            <a:r>
              <a:rPr lang="en-US" i="1" dirty="0" err="1"/>
              <a:t>x’y’z</a:t>
            </a:r>
            <a:r>
              <a:rPr lang="en-US" dirty="0"/>
              <a:t> + </a:t>
            </a:r>
            <a:r>
              <a:rPr lang="en-US" i="1" dirty="0" err="1"/>
              <a:t>x’yz</a:t>
            </a:r>
            <a:r>
              <a:rPr lang="en-US" dirty="0"/>
              <a:t> + </a:t>
            </a:r>
            <a:r>
              <a:rPr lang="en-US" i="1" dirty="0" err="1"/>
              <a:t>xy</a:t>
            </a:r>
            <a:r>
              <a:rPr lang="en-US" i="1" dirty="0"/>
              <a:t>’</a:t>
            </a:r>
            <a:r>
              <a:rPr lang="en-US" dirty="0"/>
              <a:t>  = </a:t>
            </a:r>
            <a:r>
              <a:rPr lang="en-US" i="1" dirty="0" err="1"/>
              <a:t>x’z</a:t>
            </a:r>
            <a:r>
              <a:rPr lang="en-US" i="1" dirty="0"/>
              <a:t>(</a:t>
            </a:r>
            <a:r>
              <a:rPr lang="en-US" i="1" dirty="0" err="1"/>
              <a:t>y’+y</a:t>
            </a:r>
            <a:r>
              <a:rPr lang="en-US" i="1" dirty="0"/>
              <a:t>) </a:t>
            </a:r>
            <a:r>
              <a:rPr lang="en-US" dirty="0"/>
              <a:t>+ </a:t>
            </a:r>
            <a:r>
              <a:rPr lang="en-US" dirty="0" err="1"/>
              <a:t>x</a:t>
            </a:r>
            <a:r>
              <a:rPr lang="en-US" i="1" dirty="0" err="1"/>
              <a:t>y</a:t>
            </a:r>
            <a:r>
              <a:rPr lang="en-US" i="1" dirty="0"/>
              <a:t>’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            = </a:t>
            </a:r>
            <a:r>
              <a:rPr lang="en-US" i="1" dirty="0" err="1"/>
              <a:t>x’z</a:t>
            </a:r>
            <a:r>
              <a:rPr lang="en-US" i="1" dirty="0"/>
              <a:t> +</a:t>
            </a:r>
            <a:r>
              <a:rPr lang="en-US" i="1" dirty="0" err="1"/>
              <a:t>xy</a:t>
            </a:r>
            <a:r>
              <a:rPr lang="en-US" i="1" dirty="0"/>
              <a:t>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79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 Implementation of a Function</a:t>
            </a:r>
          </a:p>
        </p:txBody>
      </p:sp>
      <p:pic>
        <p:nvPicPr>
          <p:cNvPr id="5" name="Picture 2" descr="C:\jobs\Marries\ch02\tiff\AACFLMP0.t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516625" y="1600200"/>
            <a:ext cx="5348749" cy="4873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Practice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Simplify the following Boolean expressions to a minimum number of literals:</a:t>
            </a:r>
          </a:p>
          <a:p>
            <a:pPr lvl="1"/>
            <a:r>
              <a:rPr lang="en-US" sz="2400" i="1" dirty="0"/>
              <a:t>xyz + </a:t>
            </a:r>
            <a:r>
              <a:rPr lang="en-US" sz="2400" i="1" dirty="0" err="1"/>
              <a:t>x'y</a:t>
            </a:r>
            <a:r>
              <a:rPr lang="en-US" sz="2400" i="1" dirty="0"/>
              <a:t> + xyz’</a:t>
            </a:r>
          </a:p>
          <a:p>
            <a:pPr lvl="1"/>
            <a:r>
              <a:rPr lang="en-US" sz="2400" dirty="0"/>
              <a:t>(</a:t>
            </a:r>
            <a:r>
              <a:rPr lang="en-US" sz="2400" i="1" dirty="0"/>
              <a:t>A + B</a:t>
            </a:r>
            <a:r>
              <a:rPr lang="en-US" sz="2400" dirty="0"/>
              <a:t>)</a:t>
            </a:r>
            <a:r>
              <a:rPr lang="en-US" sz="2400" i="1" dirty="0"/>
              <a:t>'</a:t>
            </a:r>
            <a:r>
              <a:rPr lang="en-US" sz="2400" dirty="0"/>
              <a:t>(</a:t>
            </a:r>
            <a:r>
              <a:rPr lang="en-US" sz="2400" i="1" dirty="0"/>
              <a:t>A' + B'</a:t>
            </a:r>
            <a:r>
              <a:rPr lang="en-US" sz="2400" dirty="0"/>
              <a:t>)</a:t>
            </a:r>
            <a:r>
              <a:rPr lang="en-US" sz="2400" i="1" dirty="0"/>
              <a:t> ' 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i="1" dirty="0"/>
              <a:t>xyz + </a:t>
            </a:r>
            <a:r>
              <a:rPr lang="en-US" i="1" dirty="0" err="1"/>
              <a:t>x'y</a:t>
            </a:r>
            <a:r>
              <a:rPr lang="en-US" i="1" dirty="0"/>
              <a:t> + xyz' = </a:t>
            </a:r>
            <a:r>
              <a:rPr lang="en-US" i="1" dirty="0" err="1"/>
              <a:t>xy</a:t>
            </a:r>
            <a:r>
              <a:rPr lang="en-US" dirty="0"/>
              <a:t>(</a:t>
            </a:r>
            <a:r>
              <a:rPr lang="en-US" i="1" dirty="0"/>
              <a:t>z + z'</a:t>
            </a:r>
            <a:r>
              <a:rPr lang="en-US" dirty="0"/>
              <a:t>)</a:t>
            </a:r>
            <a:r>
              <a:rPr lang="en-US" i="1" dirty="0"/>
              <a:t> + </a:t>
            </a:r>
            <a:r>
              <a:rPr lang="en-US" i="1" dirty="0" err="1"/>
              <a:t>x'y</a:t>
            </a:r>
            <a:r>
              <a:rPr lang="en-US" i="1" dirty="0"/>
              <a:t> = </a:t>
            </a:r>
            <a:r>
              <a:rPr lang="en-US" i="1" dirty="0" err="1"/>
              <a:t>xy</a:t>
            </a:r>
            <a:r>
              <a:rPr lang="en-US" i="1" dirty="0"/>
              <a:t> + </a:t>
            </a:r>
            <a:r>
              <a:rPr lang="en-US" i="1" dirty="0" err="1"/>
              <a:t>x'y</a:t>
            </a:r>
            <a:r>
              <a:rPr lang="en-US" i="1" dirty="0"/>
              <a:t> = y</a:t>
            </a:r>
          </a:p>
          <a:p>
            <a:pPr>
              <a:buNone/>
            </a:pPr>
            <a:endParaRPr lang="en-US" i="1" dirty="0"/>
          </a:p>
          <a:p>
            <a:r>
              <a:rPr lang="en-US" dirty="0"/>
              <a:t>(</a:t>
            </a:r>
            <a:r>
              <a:rPr lang="en-US" i="1" dirty="0"/>
              <a:t>A + B</a:t>
            </a:r>
            <a:r>
              <a:rPr lang="en-US" dirty="0"/>
              <a:t>)</a:t>
            </a:r>
            <a:r>
              <a:rPr lang="en-US" i="1" dirty="0"/>
              <a:t>'</a:t>
            </a:r>
            <a:r>
              <a:rPr lang="en-US" dirty="0"/>
              <a:t>(</a:t>
            </a:r>
            <a:r>
              <a:rPr lang="en-US" i="1" dirty="0"/>
              <a:t>A' + B'</a:t>
            </a:r>
            <a:r>
              <a:rPr lang="en-US" dirty="0"/>
              <a:t>)</a:t>
            </a:r>
            <a:r>
              <a:rPr lang="en-US" i="1" dirty="0"/>
              <a:t>' = </a:t>
            </a:r>
            <a:r>
              <a:rPr lang="en-US" dirty="0"/>
              <a:t>(</a:t>
            </a:r>
            <a:r>
              <a:rPr lang="en-US" i="1" dirty="0"/>
              <a:t>A'B'</a:t>
            </a:r>
            <a:r>
              <a:rPr lang="en-US" dirty="0"/>
              <a:t>)(</a:t>
            </a:r>
            <a:r>
              <a:rPr lang="en-US" i="1" dirty="0"/>
              <a:t>A B</a:t>
            </a:r>
            <a:r>
              <a:rPr lang="en-US" dirty="0"/>
              <a:t>)</a:t>
            </a:r>
            <a:r>
              <a:rPr lang="en-US" i="1" dirty="0"/>
              <a:t> = </a:t>
            </a:r>
            <a:r>
              <a:rPr lang="en-US" dirty="0"/>
              <a:t>0</a:t>
            </a:r>
          </a:p>
          <a:p>
            <a:endParaRPr lang="en-US" sz="27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 </a:t>
            </a:r>
            <a:r>
              <a:rPr lang="en-US" dirty="0" err="1"/>
              <a:t>DeMorgan’s</a:t>
            </a:r>
            <a:r>
              <a:rPr lang="en-US" dirty="0"/>
              <a:t> theorems: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95564" y="2590800"/>
            <a:ext cx="8005718" cy="2123658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tabLst>
                <a:tab pos="912813" algn="l"/>
                <a:tab pos="3197225" algn="l"/>
              </a:tabLst>
            </a:pP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 err="1"/>
              <a:t>x</a:t>
            </a:r>
            <a:r>
              <a:rPr lang="en-US" sz="2400" dirty="0" err="1"/>
              <a:t>,</a:t>
            </a:r>
            <a:r>
              <a:rPr lang="en-US" sz="2400" i="1" dirty="0" err="1"/>
              <a:t>y</a:t>
            </a:r>
            <a:r>
              <a:rPr lang="en-US" sz="2400" dirty="0" err="1"/>
              <a:t>,</a:t>
            </a:r>
            <a:r>
              <a:rPr lang="en-US" sz="2400" i="1" dirty="0" err="1"/>
              <a:t>z</a:t>
            </a:r>
            <a:r>
              <a:rPr lang="en-US" sz="2400" dirty="0"/>
              <a:t>) = </a:t>
            </a:r>
            <a:r>
              <a:rPr lang="en-US" sz="2400" i="1" dirty="0"/>
              <a:t>x</a:t>
            </a:r>
            <a:r>
              <a:rPr lang="en-US" sz="2400" dirty="0"/>
              <a:t>(</a:t>
            </a:r>
            <a:r>
              <a:rPr lang="en-US" sz="2400" i="1" dirty="0" err="1"/>
              <a:t>y’z</a:t>
            </a:r>
            <a:r>
              <a:rPr lang="en-US" sz="2400" i="1" dirty="0"/>
              <a:t>’</a:t>
            </a:r>
            <a:r>
              <a:rPr lang="en-US" sz="2400" dirty="0"/>
              <a:t> + </a:t>
            </a:r>
            <a:r>
              <a:rPr lang="en-US" sz="2400" i="1" dirty="0" err="1"/>
              <a:t>yz</a:t>
            </a:r>
            <a:r>
              <a:rPr lang="en-US" sz="2400" dirty="0"/>
              <a:t>)</a:t>
            </a:r>
          </a:p>
          <a:p>
            <a:pPr>
              <a:tabLst>
                <a:tab pos="912813" algn="l"/>
                <a:tab pos="3197225" algn="l"/>
              </a:tabLst>
            </a:pPr>
            <a:endParaRPr lang="en-US" sz="2400" dirty="0"/>
          </a:p>
          <a:p>
            <a:pPr>
              <a:lnSpc>
                <a:spcPct val="50000"/>
              </a:lnSpc>
              <a:tabLst>
                <a:tab pos="912813" algn="l"/>
                <a:tab pos="3197225" algn="l"/>
              </a:tabLst>
            </a:pPr>
            <a:r>
              <a:rPr lang="en-US" sz="2400" i="1" dirty="0"/>
              <a:t>f </a:t>
            </a:r>
            <a:r>
              <a:rPr lang="en-US" sz="2400" dirty="0"/>
              <a:t>’(</a:t>
            </a:r>
            <a:r>
              <a:rPr lang="en-US" sz="2400" i="1" dirty="0" err="1"/>
              <a:t>x</a:t>
            </a:r>
            <a:r>
              <a:rPr lang="en-US" sz="2400" dirty="0" err="1"/>
              <a:t>,</a:t>
            </a:r>
            <a:r>
              <a:rPr lang="en-US" sz="2400" i="1" dirty="0" err="1"/>
              <a:t>y</a:t>
            </a:r>
            <a:r>
              <a:rPr lang="en-US" sz="2400" dirty="0" err="1"/>
              <a:t>,</a:t>
            </a:r>
            <a:r>
              <a:rPr lang="en-US" sz="2400" i="1" dirty="0" err="1"/>
              <a:t>z</a:t>
            </a:r>
            <a:r>
              <a:rPr lang="en-US" sz="2400" dirty="0"/>
              <a:t>) = (</a:t>
            </a:r>
            <a:r>
              <a:rPr lang="en-US" sz="2400" i="1" dirty="0"/>
              <a:t>x</a:t>
            </a:r>
            <a:r>
              <a:rPr lang="en-US" sz="2400" dirty="0"/>
              <a:t>(</a:t>
            </a:r>
            <a:r>
              <a:rPr lang="en-US" sz="2400" i="1" dirty="0" err="1"/>
              <a:t>y’z</a:t>
            </a:r>
            <a:r>
              <a:rPr lang="en-US" sz="2400" dirty="0"/>
              <a:t>’ + </a:t>
            </a:r>
            <a:r>
              <a:rPr lang="en-US" sz="2400" i="1" dirty="0" err="1"/>
              <a:t>yz</a:t>
            </a:r>
            <a:r>
              <a:rPr lang="en-US" sz="2400" dirty="0"/>
              <a:t>))</a:t>
            </a:r>
            <a:r>
              <a:rPr lang="en-US" sz="2400" i="1" dirty="0"/>
              <a:t>’</a:t>
            </a:r>
            <a:r>
              <a:rPr lang="en-US" sz="2400" dirty="0"/>
              <a:t>	[ complement both sides ]</a:t>
            </a:r>
          </a:p>
          <a:p>
            <a:pPr>
              <a:tabLst>
                <a:tab pos="912813" algn="l"/>
                <a:tab pos="3197225" algn="l"/>
              </a:tabLst>
            </a:pPr>
            <a:r>
              <a:rPr lang="en-US" sz="2400" dirty="0"/>
              <a:t>	= </a:t>
            </a:r>
            <a:r>
              <a:rPr lang="en-US" sz="2400" i="1" dirty="0"/>
              <a:t>x’</a:t>
            </a:r>
            <a:r>
              <a:rPr lang="en-US" sz="2400" dirty="0"/>
              <a:t> + (</a:t>
            </a:r>
            <a:r>
              <a:rPr lang="en-US" sz="2400" i="1" dirty="0" err="1"/>
              <a:t>y’z</a:t>
            </a:r>
            <a:r>
              <a:rPr lang="en-US" sz="2400" i="1" dirty="0"/>
              <a:t>’</a:t>
            </a:r>
            <a:r>
              <a:rPr lang="en-US" sz="2400" dirty="0"/>
              <a:t> + </a:t>
            </a:r>
            <a:r>
              <a:rPr lang="en-US" sz="2400" i="1" dirty="0" err="1"/>
              <a:t>yz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	[ because (</a:t>
            </a:r>
            <a:r>
              <a:rPr lang="en-US" sz="2400" i="1" dirty="0" err="1"/>
              <a:t>xy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 = </a:t>
            </a:r>
            <a:r>
              <a:rPr lang="en-US" sz="2400" i="1" dirty="0"/>
              <a:t>x’</a:t>
            </a:r>
            <a:r>
              <a:rPr lang="en-US" sz="2400" dirty="0"/>
              <a:t> + </a:t>
            </a:r>
            <a:r>
              <a:rPr lang="en-US" sz="2400" i="1" dirty="0"/>
              <a:t>y’</a:t>
            </a:r>
            <a:r>
              <a:rPr lang="en-US" sz="2400" dirty="0"/>
              <a:t> ]</a:t>
            </a:r>
          </a:p>
          <a:p>
            <a:pPr>
              <a:tabLst>
                <a:tab pos="912813" algn="l"/>
                <a:tab pos="3197225" algn="l"/>
              </a:tabLst>
            </a:pPr>
            <a:r>
              <a:rPr lang="en-US" sz="2400" dirty="0"/>
              <a:t>	= </a:t>
            </a:r>
            <a:r>
              <a:rPr lang="en-US" sz="2400" i="1" dirty="0"/>
              <a:t>x’</a:t>
            </a:r>
            <a:r>
              <a:rPr lang="en-US" sz="2400" dirty="0"/>
              <a:t> + (</a:t>
            </a:r>
            <a:r>
              <a:rPr lang="en-US" sz="2400" i="1" dirty="0" err="1"/>
              <a:t>y’z</a:t>
            </a:r>
            <a:r>
              <a:rPr lang="en-US" sz="2400" i="1" dirty="0"/>
              <a:t>’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 (</a:t>
            </a:r>
            <a:r>
              <a:rPr lang="en-US" sz="2400" i="1" dirty="0" err="1"/>
              <a:t>yz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	[ because (</a:t>
            </a:r>
            <a:r>
              <a:rPr lang="en-US" sz="2400" i="1" dirty="0"/>
              <a:t>x</a:t>
            </a:r>
            <a:r>
              <a:rPr lang="en-US" sz="2400" dirty="0"/>
              <a:t> + </a:t>
            </a:r>
            <a:r>
              <a:rPr lang="en-US" sz="2400" i="1" dirty="0"/>
              <a:t>y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 = </a:t>
            </a:r>
            <a:r>
              <a:rPr lang="en-US" sz="2400" i="1" dirty="0"/>
              <a:t>x’ y’</a:t>
            </a:r>
            <a:r>
              <a:rPr lang="en-US" sz="2400" dirty="0"/>
              <a:t> ]</a:t>
            </a:r>
          </a:p>
          <a:p>
            <a:pPr>
              <a:tabLst>
                <a:tab pos="912813" algn="l"/>
                <a:tab pos="3197225" algn="l"/>
              </a:tabLst>
            </a:pPr>
            <a:r>
              <a:rPr lang="en-US" sz="2400" dirty="0"/>
              <a:t>	= </a:t>
            </a:r>
            <a:r>
              <a:rPr lang="en-US" sz="2400" i="1" dirty="0"/>
              <a:t>x’</a:t>
            </a:r>
            <a:r>
              <a:rPr lang="en-US" sz="2400" dirty="0"/>
              <a:t> + (</a:t>
            </a:r>
            <a:r>
              <a:rPr lang="en-US" sz="2400" i="1" dirty="0"/>
              <a:t>y</a:t>
            </a:r>
            <a:r>
              <a:rPr lang="en-US" sz="2400" dirty="0"/>
              <a:t> + </a:t>
            </a:r>
            <a:r>
              <a:rPr lang="en-US" sz="2400" i="1" dirty="0"/>
              <a:t>z</a:t>
            </a:r>
            <a:r>
              <a:rPr lang="en-US" sz="2400" dirty="0"/>
              <a:t>)(</a:t>
            </a:r>
            <a:r>
              <a:rPr lang="en-US" sz="2400" i="1" dirty="0"/>
              <a:t>y’</a:t>
            </a:r>
            <a:r>
              <a:rPr lang="en-US" sz="2400" dirty="0"/>
              <a:t> + </a:t>
            </a:r>
            <a:r>
              <a:rPr lang="en-US" sz="2400" i="1" dirty="0"/>
              <a:t>z’</a:t>
            </a:r>
            <a:r>
              <a:rPr lang="en-US" sz="2400" dirty="0"/>
              <a:t>)	[ because (</a:t>
            </a:r>
            <a:r>
              <a:rPr lang="en-US" sz="2400" i="1" dirty="0" err="1"/>
              <a:t>xy</a:t>
            </a:r>
            <a:r>
              <a:rPr lang="en-US" sz="2400" dirty="0"/>
              <a:t>)</a:t>
            </a:r>
            <a:r>
              <a:rPr lang="en-US" sz="2400" i="1" dirty="0"/>
              <a:t>’</a:t>
            </a:r>
            <a:r>
              <a:rPr lang="en-US" sz="2400" dirty="0"/>
              <a:t> = </a:t>
            </a:r>
            <a:r>
              <a:rPr lang="en-US" sz="2400" i="1" dirty="0"/>
              <a:t>x’</a:t>
            </a:r>
            <a:r>
              <a:rPr lang="en-US" sz="2400" dirty="0"/>
              <a:t> + </a:t>
            </a:r>
            <a:r>
              <a:rPr lang="en-US" sz="2400" i="1" dirty="0"/>
              <a:t>y’</a:t>
            </a:r>
            <a:r>
              <a:rPr lang="en-US" sz="2400" dirty="0"/>
              <a:t>, twice]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complement of a function always outputs 0 where the original function outputted 1, and 1 where the original produced 0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219200" y="3279775"/>
          <a:ext cx="2395538" cy="348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Document" r:id="rId3" imgW="2456222" imgH="3586414" progId="Word.Document.8">
                  <p:embed/>
                </p:oleObj>
              </mc:Choice>
              <mc:Fallback>
                <p:oleObj name="Document" r:id="rId3" imgW="2456222" imgH="3586414" progId="Word.Document.8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79775"/>
                        <a:ext cx="2395538" cy="348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413375" y="3279775"/>
          <a:ext cx="2395538" cy="348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Document" r:id="rId5" imgW="2456222" imgH="3586414" progId="Word.Document.8">
                  <p:embed/>
                </p:oleObj>
              </mc:Choice>
              <mc:Fallback>
                <p:oleObj name="Document" r:id="rId5" imgW="2456222" imgH="3586414" progId="Word.Document.8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3279775"/>
                        <a:ext cx="2395538" cy="3482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3730625" y="4545012"/>
            <a:ext cx="1447800" cy="609600"/>
          </a:xfrm>
          <a:prstGeom prst="rightArrow">
            <a:avLst>
              <a:gd name="adj1" fmla="val 45833"/>
              <a:gd name="adj2" fmla="val 89326"/>
            </a:avLst>
          </a:prstGeom>
          <a:gradFill rotWithShape="0">
            <a:gsLst>
              <a:gs pos="0">
                <a:schemeClr val="accent2">
                  <a:gamma/>
                  <a:tint val="7372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25400">
            <a:noFill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728912" y="2762250"/>
            <a:ext cx="3233738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buNone/>
            </a:pPr>
            <a:r>
              <a:rPr lang="en-US" sz="2400" i="1" dirty="0">
                <a:solidFill>
                  <a:srgbClr val="3333FF"/>
                </a:solidFill>
              </a:rPr>
              <a:t>f</a:t>
            </a:r>
            <a:r>
              <a:rPr lang="en-US" sz="2400" dirty="0">
                <a:solidFill>
                  <a:srgbClr val="3333FF"/>
                </a:solidFill>
              </a:rPr>
              <a:t>(</a:t>
            </a:r>
            <a:r>
              <a:rPr lang="en-US" sz="2400" i="1" dirty="0" err="1">
                <a:solidFill>
                  <a:srgbClr val="3333FF"/>
                </a:solidFill>
              </a:rPr>
              <a:t>x</a:t>
            </a:r>
            <a:r>
              <a:rPr lang="en-US" sz="2400" dirty="0" err="1">
                <a:solidFill>
                  <a:srgbClr val="3333FF"/>
                </a:solidFill>
              </a:rPr>
              <a:t>,</a:t>
            </a:r>
            <a:r>
              <a:rPr lang="en-US" sz="2400" i="1" dirty="0" err="1">
                <a:solidFill>
                  <a:srgbClr val="3333FF"/>
                </a:solidFill>
              </a:rPr>
              <a:t>y</a:t>
            </a:r>
            <a:r>
              <a:rPr lang="en-US" sz="2400" dirty="0" err="1">
                <a:solidFill>
                  <a:srgbClr val="3333FF"/>
                </a:solidFill>
              </a:rPr>
              <a:t>,</a:t>
            </a:r>
            <a:r>
              <a:rPr lang="en-US" sz="2400" i="1" dirty="0" err="1">
                <a:solidFill>
                  <a:srgbClr val="3333FF"/>
                </a:solidFill>
              </a:rPr>
              <a:t>z</a:t>
            </a:r>
            <a:r>
              <a:rPr lang="en-US" sz="2400" dirty="0">
                <a:solidFill>
                  <a:srgbClr val="3333FF"/>
                </a:solidFill>
              </a:rPr>
              <a:t>) = (</a:t>
            </a:r>
            <a:r>
              <a:rPr lang="en-US" sz="2400" i="1" dirty="0">
                <a:solidFill>
                  <a:srgbClr val="3333FF"/>
                </a:solidFill>
              </a:rPr>
              <a:t>x</a:t>
            </a:r>
            <a:r>
              <a:rPr lang="en-US" sz="2400" dirty="0">
                <a:solidFill>
                  <a:srgbClr val="3333FF"/>
                </a:solidFill>
              </a:rPr>
              <a:t> + </a:t>
            </a:r>
            <a:r>
              <a:rPr lang="en-US" sz="2400" i="1" dirty="0">
                <a:solidFill>
                  <a:srgbClr val="3333FF"/>
                </a:solidFill>
              </a:rPr>
              <a:t>y’</a:t>
            </a:r>
            <a:r>
              <a:rPr lang="en-US" sz="2400" dirty="0">
                <a:solidFill>
                  <a:srgbClr val="3333FF"/>
                </a:solidFill>
              </a:rPr>
              <a:t>)</a:t>
            </a:r>
            <a:r>
              <a:rPr lang="en-US" sz="2400" i="1" dirty="0">
                <a:solidFill>
                  <a:srgbClr val="3333FF"/>
                </a:solidFill>
              </a:rPr>
              <a:t>z</a:t>
            </a:r>
            <a:r>
              <a:rPr lang="en-US" sz="2400" dirty="0">
                <a:solidFill>
                  <a:srgbClr val="3333FF"/>
                </a:solidFill>
              </a:rPr>
              <a:t> + </a:t>
            </a:r>
            <a:r>
              <a:rPr lang="en-US" sz="2400" i="1" dirty="0">
                <a:solidFill>
                  <a:srgbClr val="3333FF"/>
                </a:solidFill>
              </a:rPr>
              <a:t>x’</a:t>
            </a:r>
          </a:p>
        </p:txBody>
      </p:sp>
    </p:spTree>
    <p:extLst>
      <p:ext uri="{BB962C8B-B14F-4D97-AF65-F5344CB8AC3E}">
        <p14:creationId xmlns:p14="http://schemas.microsoft.com/office/powerpoint/2010/main" val="95883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taking the dual of </a:t>
            </a:r>
            <a:r>
              <a:rPr lang="en-US" i="1" dirty="0"/>
              <a:t>f</a:t>
            </a:r>
            <a:r>
              <a:rPr lang="en-US" dirty="0"/>
              <a:t> and complementing each literal:</a:t>
            </a:r>
          </a:p>
          <a:p>
            <a:pPr lvl="1">
              <a:buNone/>
            </a:pP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 err="1"/>
              <a:t>,</a:t>
            </a:r>
            <a:r>
              <a:rPr lang="en-US" i="1" dirty="0" err="1"/>
              <a:t>z</a:t>
            </a:r>
            <a:r>
              <a:rPr lang="en-US" dirty="0"/>
              <a:t>) = </a:t>
            </a:r>
            <a:r>
              <a:rPr lang="en-US" i="1" dirty="0">
                <a:solidFill>
                  <a:schemeClr val="accent2"/>
                </a:solidFill>
              </a:rPr>
              <a:t>x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i="1" dirty="0" err="1">
                <a:solidFill>
                  <a:schemeClr val="accent2"/>
                </a:solidFill>
              </a:rPr>
              <a:t>y’z</a:t>
            </a:r>
            <a:r>
              <a:rPr lang="en-US" i="1" dirty="0">
                <a:solidFill>
                  <a:schemeClr val="accent2"/>
                </a:solidFill>
              </a:rPr>
              <a:t>’</a:t>
            </a:r>
            <a:r>
              <a:rPr lang="en-US" dirty="0">
                <a:solidFill>
                  <a:schemeClr val="accent2"/>
                </a:solidFill>
              </a:rPr>
              <a:t> + </a:t>
            </a:r>
            <a:r>
              <a:rPr lang="en-US" i="1" dirty="0" err="1">
                <a:solidFill>
                  <a:schemeClr val="accent2"/>
                </a:solidFill>
              </a:rPr>
              <a:t>yz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…the dual of f is </a:t>
            </a:r>
            <a:r>
              <a:rPr lang="en-US" i="1" dirty="0">
                <a:solidFill>
                  <a:schemeClr val="accent2"/>
                </a:solidFill>
              </a:rPr>
              <a:t>x</a:t>
            </a:r>
            <a:r>
              <a:rPr lang="en-US" dirty="0">
                <a:solidFill>
                  <a:schemeClr val="accent2"/>
                </a:solidFill>
              </a:rPr>
              <a:t> + (</a:t>
            </a:r>
            <a:r>
              <a:rPr lang="en-US" i="1" dirty="0">
                <a:solidFill>
                  <a:schemeClr val="accent2"/>
                </a:solidFill>
              </a:rPr>
              <a:t>y’</a:t>
            </a:r>
            <a:r>
              <a:rPr lang="en-US" dirty="0">
                <a:solidFill>
                  <a:schemeClr val="accent2"/>
                </a:solidFill>
              </a:rPr>
              <a:t> + </a:t>
            </a:r>
            <a:r>
              <a:rPr lang="en-US" i="1" dirty="0">
                <a:solidFill>
                  <a:schemeClr val="accent2"/>
                </a:solidFill>
              </a:rPr>
              <a:t>z’</a:t>
            </a:r>
            <a:r>
              <a:rPr lang="en-US" dirty="0">
                <a:solidFill>
                  <a:schemeClr val="accent2"/>
                </a:solidFill>
              </a:rPr>
              <a:t>)(</a:t>
            </a:r>
            <a:r>
              <a:rPr lang="en-US" i="1" dirty="0">
                <a:solidFill>
                  <a:schemeClr val="accent2"/>
                </a:solidFill>
              </a:rPr>
              <a:t>y</a:t>
            </a:r>
            <a:r>
              <a:rPr lang="en-US" dirty="0">
                <a:solidFill>
                  <a:schemeClr val="accent2"/>
                </a:solidFill>
              </a:rPr>
              <a:t> + </a:t>
            </a:r>
            <a:r>
              <a:rPr lang="en-US" i="1" dirty="0">
                <a:solidFill>
                  <a:schemeClr val="accent2"/>
                </a:solidFill>
              </a:rPr>
              <a:t>z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…then complementing each literal gives</a:t>
            </a:r>
          </a:p>
          <a:p>
            <a:pPr lvl="1">
              <a:buNone/>
            </a:pPr>
            <a:r>
              <a:rPr lang="en-US" dirty="0"/>
              <a:t>		 </a:t>
            </a:r>
            <a:r>
              <a:rPr lang="en-US" i="1" dirty="0">
                <a:solidFill>
                  <a:schemeClr val="accent2"/>
                </a:solidFill>
              </a:rPr>
              <a:t>x’</a:t>
            </a:r>
            <a:r>
              <a:rPr lang="en-US" dirty="0">
                <a:solidFill>
                  <a:schemeClr val="accent2"/>
                </a:solidFill>
              </a:rPr>
              <a:t> + (</a:t>
            </a:r>
            <a:r>
              <a:rPr lang="en-US" i="1" dirty="0">
                <a:solidFill>
                  <a:schemeClr val="accent2"/>
                </a:solidFill>
              </a:rPr>
              <a:t>y</a:t>
            </a:r>
            <a:r>
              <a:rPr lang="en-US" dirty="0">
                <a:solidFill>
                  <a:schemeClr val="accent2"/>
                </a:solidFill>
              </a:rPr>
              <a:t> + </a:t>
            </a:r>
            <a:r>
              <a:rPr lang="en-US" i="1" dirty="0">
                <a:solidFill>
                  <a:schemeClr val="accent2"/>
                </a:solidFill>
              </a:rPr>
              <a:t>z</a:t>
            </a:r>
            <a:r>
              <a:rPr lang="en-US" dirty="0">
                <a:solidFill>
                  <a:schemeClr val="accent2"/>
                </a:solidFill>
              </a:rPr>
              <a:t>)(</a:t>
            </a:r>
            <a:r>
              <a:rPr lang="en-US" i="1" dirty="0">
                <a:solidFill>
                  <a:schemeClr val="accent2"/>
                </a:solidFill>
              </a:rPr>
              <a:t>y’</a:t>
            </a:r>
            <a:r>
              <a:rPr lang="en-US" dirty="0">
                <a:solidFill>
                  <a:schemeClr val="accent2"/>
                </a:solidFill>
              </a:rPr>
              <a:t> + </a:t>
            </a:r>
            <a:r>
              <a:rPr lang="en-US" i="1" dirty="0">
                <a:solidFill>
                  <a:schemeClr val="accent2"/>
                </a:solidFill>
              </a:rPr>
              <a:t>z’</a:t>
            </a:r>
            <a:r>
              <a:rPr lang="en-US" dirty="0">
                <a:solidFill>
                  <a:schemeClr val="accent2"/>
                </a:solidFill>
              </a:rPr>
              <a:t>)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…so </a:t>
            </a:r>
            <a:r>
              <a:rPr lang="en-US" i="1" dirty="0"/>
              <a:t>f’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 err="1"/>
              <a:t>,</a:t>
            </a:r>
            <a:r>
              <a:rPr lang="en-US" i="1" dirty="0" err="1"/>
              <a:t>z</a:t>
            </a:r>
            <a:r>
              <a:rPr lang="en-US" dirty="0"/>
              <a:t>) = </a:t>
            </a:r>
            <a:r>
              <a:rPr lang="en-US" i="1" dirty="0"/>
              <a:t>x’</a:t>
            </a:r>
            <a:r>
              <a:rPr lang="en-US" dirty="0"/>
              <a:t> + (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</a:t>
            </a:r>
            <a:r>
              <a:rPr lang="en-US" dirty="0"/>
              <a:t>)(</a:t>
            </a:r>
            <a:r>
              <a:rPr lang="en-US" i="1" dirty="0"/>
              <a:t>y’</a:t>
            </a:r>
            <a:r>
              <a:rPr lang="en-US" dirty="0"/>
              <a:t> + </a:t>
            </a:r>
            <a:r>
              <a:rPr lang="en-US" i="1" dirty="0"/>
              <a:t>z’</a:t>
            </a:r>
            <a:r>
              <a:rPr lang="en-US" dirty="0"/>
              <a:t>)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Practice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Find the complement of the following expressions:</a:t>
            </a:r>
          </a:p>
          <a:p>
            <a:pPr lvl="1"/>
            <a:r>
              <a:rPr lang="en-US" sz="2400" i="1" dirty="0" err="1"/>
              <a:t>xy</a:t>
            </a:r>
            <a:r>
              <a:rPr lang="en-US" sz="2400" i="1" dirty="0"/>
              <a:t>' + </a:t>
            </a:r>
            <a:r>
              <a:rPr lang="en-US" sz="2400" i="1" dirty="0" err="1"/>
              <a:t>x'y</a:t>
            </a:r>
            <a:endParaRPr lang="en-US" sz="2400" i="1" dirty="0"/>
          </a:p>
          <a:p>
            <a:pPr lvl="1"/>
            <a:r>
              <a:rPr lang="es-ES" sz="2400" dirty="0"/>
              <a:t>[(</a:t>
            </a:r>
            <a:r>
              <a:rPr lang="es-ES" sz="2400" i="1" dirty="0"/>
              <a:t>x' + y + z'</a:t>
            </a:r>
            <a:r>
              <a:rPr lang="es-ES" sz="2400" dirty="0"/>
              <a:t>)(</a:t>
            </a:r>
            <a:r>
              <a:rPr lang="es-ES" sz="2400" i="1" dirty="0"/>
              <a:t>x + y'</a:t>
            </a:r>
            <a:r>
              <a:rPr lang="es-ES" sz="2400" dirty="0"/>
              <a:t>)(</a:t>
            </a:r>
            <a:r>
              <a:rPr lang="es-ES" sz="2400" i="1" dirty="0"/>
              <a:t>x + </a:t>
            </a:r>
            <a:r>
              <a:rPr lang="es-ES" sz="2400" i="1"/>
              <a:t>z</a:t>
            </a:r>
            <a:r>
              <a:rPr lang="es-ES" sz="2400"/>
              <a:t>)]</a:t>
            </a:r>
            <a:endParaRPr lang="en-US" sz="2400" dirty="0"/>
          </a:p>
          <a:p>
            <a:r>
              <a:rPr lang="en-US" i="1" dirty="0"/>
              <a:t>F' = </a:t>
            </a:r>
            <a:r>
              <a:rPr lang="en-US" dirty="0"/>
              <a:t>(</a:t>
            </a:r>
            <a:r>
              <a:rPr lang="en-US" i="1" dirty="0" err="1"/>
              <a:t>xy</a:t>
            </a:r>
            <a:r>
              <a:rPr lang="en-US" i="1" dirty="0"/>
              <a:t>' + </a:t>
            </a:r>
            <a:r>
              <a:rPr lang="en-US" i="1" dirty="0" err="1"/>
              <a:t>x'y</a:t>
            </a:r>
            <a:r>
              <a:rPr lang="en-US" dirty="0"/>
              <a:t>)</a:t>
            </a:r>
            <a:r>
              <a:rPr lang="en-US" i="1" dirty="0"/>
              <a:t>' </a:t>
            </a:r>
          </a:p>
          <a:p>
            <a:pPr>
              <a:buNone/>
            </a:pPr>
            <a:r>
              <a:rPr lang="en-US" i="1" dirty="0"/>
              <a:t>	    = </a:t>
            </a:r>
            <a:r>
              <a:rPr lang="en-US" dirty="0"/>
              <a:t>(</a:t>
            </a:r>
            <a:r>
              <a:rPr lang="en-US" i="1" dirty="0" err="1"/>
              <a:t>xy</a:t>
            </a:r>
            <a:r>
              <a:rPr lang="en-US" i="1" dirty="0"/>
              <a:t>'</a:t>
            </a:r>
            <a:r>
              <a:rPr lang="en-US" dirty="0"/>
              <a:t>)</a:t>
            </a:r>
            <a:r>
              <a:rPr lang="en-US" i="1" dirty="0"/>
              <a:t>'</a:t>
            </a:r>
            <a:r>
              <a:rPr lang="en-US" dirty="0"/>
              <a:t>(</a:t>
            </a:r>
            <a:r>
              <a:rPr lang="en-US" i="1" dirty="0" err="1"/>
              <a:t>x'y</a:t>
            </a:r>
            <a:r>
              <a:rPr lang="en-US" dirty="0"/>
              <a:t>)</a:t>
            </a:r>
            <a:r>
              <a:rPr lang="en-US" i="1" dirty="0"/>
              <a:t>' </a:t>
            </a:r>
          </a:p>
          <a:p>
            <a:pPr>
              <a:buNone/>
            </a:pPr>
            <a:r>
              <a:rPr lang="en-US" i="1" dirty="0"/>
              <a:t>       = </a:t>
            </a:r>
            <a:r>
              <a:rPr lang="en-US" dirty="0"/>
              <a:t>(</a:t>
            </a:r>
            <a:r>
              <a:rPr lang="en-US" i="1" dirty="0"/>
              <a:t>x' + y</a:t>
            </a:r>
            <a:r>
              <a:rPr lang="en-US" dirty="0"/>
              <a:t>)(</a:t>
            </a:r>
            <a:r>
              <a:rPr lang="en-US" i="1" dirty="0"/>
              <a:t>x + y'</a:t>
            </a:r>
            <a:r>
              <a:rPr lang="en-US" dirty="0"/>
              <a:t>)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       = </a:t>
            </a:r>
            <a:r>
              <a:rPr lang="en-US" i="1" dirty="0" err="1"/>
              <a:t>xy</a:t>
            </a:r>
            <a:r>
              <a:rPr lang="en-US" i="1" dirty="0"/>
              <a:t> + </a:t>
            </a:r>
            <a:r>
              <a:rPr lang="en-US" i="1" dirty="0" err="1"/>
              <a:t>x'y</a:t>
            </a:r>
            <a:r>
              <a:rPr lang="en-US" i="1" dirty="0"/>
              <a:t>‘</a:t>
            </a:r>
          </a:p>
          <a:p>
            <a:r>
              <a:rPr lang="es-ES" i="1" dirty="0"/>
              <a:t>F' = </a:t>
            </a:r>
            <a:r>
              <a:rPr lang="es-ES" dirty="0"/>
              <a:t>[(</a:t>
            </a:r>
            <a:r>
              <a:rPr lang="es-ES" i="1" dirty="0"/>
              <a:t>x' + y + z'</a:t>
            </a:r>
            <a:r>
              <a:rPr lang="es-ES" dirty="0"/>
              <a:t>)(</a:t>
            </a:r>
            <a:r>
              <a:rPr lang="es-ES" i="1" dirty="0"/>
              <a:t>x + y'</a:t>
            </a:r>
            <a:r>
              <a:rPr lang="es-ES" dirty="0"/>
              <a:t>)(</a:t>
            </a:r>
            <a:r>
              <a:rPr lang="es-ES" i="1" dirty="0"/>
              <a:t>x + z</a:t>
            </a:r>
            <a:r>
              <a:rPr lang="es-ES" dirty="0"/>
              <a:t>)]</a:t>
            </a:r>
            <a:r>
              <a:rPr lang="es-ES" i="1" dirty="0"/>
              <a:t>' </a:t>
            </a:r>
          </a:p>
          <a:p>
            <a:pPr>
              <a:buNone/>
            </a:pPr>
            <a:r>
              <a:rPr lang="es-ES" i="1" dirty="0"/>
              <a:t>	    = </a:t>
            </a:r>
            <a:r>
              <a:rPr lang="es-ES" dirty="0"/>
              <a:t>(</a:t>
            </a:r>
            <a:r>
              <a:rPr lang="es-ES" i="1" dirty="0"/>
              <a:t>x' + y + z'</a:t>
            </a:r>
            <a:r>
              <a:rPr lang="es-ES" dirty="0"/>
              <a:t>)</a:t>
            </a:r>
            <a:r>
              <a:rPr lang="es-ES" i="1" dirty="0"/>
              <a:t>' + </a:t>
            </a:r>
            <a:r>
              <a:rPr lang="es-ES" dirty="0"/>
              <a:t>(</a:t>
            </a:r>
            <a:r>
              <a:rPr lang="es-ES" i="1" dirty="0"/>
              <a:t>x + y'</a:t>
            </a:r>
            <a:r>
              <a:rPr lang="es-ES" dirty="0"/>
              <a:t>)</a:t>
            </a:r>
            <a:r>
              <a:rPr lang="es-ES" i="1" dirty="0"/>
              <a:t>' + </a:t>
            </a:r>
            <a:r>
              <a:rPr lang="es-ES" dirty="0"/>
              <a:t>(</a:t>
            </a:r>
            <a:r>
              <a:rPr lang="es-ES" i="1" dirty="0"/>
              <a:t>x + z</a:t>
            </a:r>
            <a:r>
              <a:rPr lang="es-ES" dirty="0"/>
              <a:t>)</a:t>
            </a:r>
            <a:r>
              <a:rPr lang="es-ES" i="1" dirty="0"/>
              <a:t>' </a:t>
            </a:r>
          </a:p>
          <a:p>
            <a:pPr>
              <a:buNone/>
            </a:pPr>
            <a:r>
              <a:rPr lang="es-ES" i="1" dirty="0"/>
              <a:t>	    </a:t>
            </a:r>
            <a:r>
              <a:rPr lang="en-US" i="1" dirty="0"/>
              <a:t>= </a:t>
            </a:r>
            <a:r>
              <a:rPr lang="en-US" i="1" dirty="0" err="1"/>
              <a:t>xy'z</a:t>
            </a:r>
            <a:r>
              <a:rPr lang="en-US" i="1" dirty="0"/>
              <a:t> + </a:t>
            </a:r>
            <a:r>
              <a:rPr lang="en-US" i="1" dirty="0" err="1"/>
              <a:t>x'y</a:t>
            </a:r>
            <a:r>
              <a:rPr lang="en-US" i="1" dirty="0"/>
              <a:t> + </a:t>
            </a:r>
            <a:r>
              <a:rPr lang="en-US" i="1" dirty="0" err="1"/>
              <a:t>x'z</a:t>
            </a:r>
            <a:r>
              <a:rPr lang="en-US" i="1" dirty="0"/>
              <a:t>'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Generalized </a:t>
            </a:r>
            <a:r>
              <a:rPr lang="en-US" altLang="zh-TW" dirty="0" err="1">
                <a:ea typeface="新細明體" pitchFamily="18" charset="-120"/>
              </a:rPr>
              <a:t>DeMorgan’s</a:t>
            </a:r>
            <a:r>
              <a:rPr lang="en-US" altLang="zh-TW" dirty="0">
                <a:ea typeface="新細明體" pitchFamily="18" charset="-120"/>
              </a:rPr>
              <a:t> Theorem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 (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 </a:t>
            </a:r>
            <a:r>
              <a:rPr lang="en-US" dirty="0"/>
              <a:t>+ </a:t>
            </a:r>
            <a:r>
              <a:rPr lang="en-US" i="1" dirty="0"/>
              <a:t>C</a:t>
            </a:r>
            <a:r>
              <a:rPr lang="en-US" dirty="0"/>
              <a:t>)’ 	= (</a:t>
            </a:r>
            <a:r>
              <a:rPr lang="en-US" i="1" dirty="0"/>
              <a:t>A </a:t>
            </a:r>
            <a:r>
              <a:rPr lang="en-US" dirty="0"/>
              <a:t>+ </a:t>
            </a:r>
            <a:r>
              <a:rPr lang="en-US" i="1" dirty="0"/>
              <a:t>x</a:t>
            </a:r>
            <a:r>
              <a:rPr lang="en-US" dirty="0"/>
              <a:t>)’	let </a:t>
            </a:r>
            <a:r>
              <a:rPr lang="en-US" i="1" dirty="0"/>
              <a:t>B </a:t>
            </a:r>
            <a:r>
              <a:rPr lang="en-US" dirty="0"/>
              <a:t>+ </a:t>
            </a:r>
            <a:r>
              <a:rPr lang="en-US" i="1" dirty="0"/>
              <a:t>C = x</a:t>
            </a:r>
          </a:p>
          <a:p>
            <a:pPr marL="0" indent="0">
              <a:buNone/>
            </a:pPr>
            <a:r>
              <a:rPr lang="en-US" i="1" dirty="0"/>
              <a:t>		  	= </a:t>
            </a:r>
            <a:r>
              <a:rPr lang="en-US" i="1" dirty="0" err="1"/>
              <a:t>A’x</a:t>
            </a:r>
            <a:r>
              <a:rPr lang="en-US" i="1" dirty="0"/>
              <a:t>’</a:t>
            </a:r>
          </a:p>
          <a:p>
            <a:pPr marL="0" indent="0">
              <a:buNone/>
            </a:pPr>
            <a:r>
              <a:rPr lang="en-US" i="1" dirty="0"/>
              <a:t>			= A’ </a:t>
            </a:r>
            <a:r>
              <a:rPr lang="en-US" dirty="0"/>
              <a:t>(</a:t>
            </a:r>
            <a:r>
              <a:rPr lang="en-US" i="1" dirty="0"/>
              <a:t>B </a:t>
            </a:r>
            <a:r>
              <a:rPr lang="en-US" dirty="0"/>
              <a:t>+ </a:t>
            </a:r>
            <a:r>
              <a:rPr lang="en-US" i="1" dirty="0"/>
              <a:t>C</a:t>
            </a:r>
            <a:r>
              <a:rPr lang="en-US" dirty="0"/>
              <a:t>)</a:t>
            </a:r>
            <a:r>
              <a:rPr lang="en-US" i="1" dirty="0"/>
              <a:t>’</a:t>
            </a:r>
          </a:p>
          <a:p>
            <a:pPr marL="0" indent="0">
              <a:buNone/>
            </a:pPr>
            <a:r>
              <a:rPr lang="en-US" i="1" dirty="0"/>
              <a:t>			= A’ </a:t>
            </a:r>
            <a:r>
              <a:rPr lang="en-US" dirty="0"/>
              <a:t>(</a:t>
            </a:r>
            <a:r>
              <a:rPr lang="en-US" i="1" dirty="0"/>
              <a:t>B’C’</a:t>
            </a:r>
            <a:r>
              <a:rPr lang="en-US" dirty="0"/>
              <a:t>)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			= A’B’C’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Complement of  a function is obtained</a:t>
            </a:r>
          </a:p>
          <a:p>
            <a:pPr lvl="1"/>
            <a:r>
              <a:rPr lang="en-US" dirty="0"/>
              <a:t>Interchanging AND </a:t>
            </a:r>
            <a:r>
              <a:rPr lang="en-US" dirty="0" err="1"/>
              <a:t>and</a:t>
            </a:r>
            <a:r>
              <a:rPr lang="en-US" dirty="0"/>
              <a:t> OR operators</a:t>
            </a:r>
          </a:p>
          <a:p>
            <a:pPr lvl="1"/>
            <a:r>
              <a:rPr lang="en-US" dirty="0"/>
              <a:t>Complementing each literal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9418244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minterm</a:t>
            </a:r>
            <a:r>
              <a:rPr lang="en-US" dirty="0"/>
              <a:t> is an AND term in which every variable or its complement occurs once </a:t>
            </a:r>
          </a:p>
          <a:p>
            <a:pPr lvl="1"/>
            <a:r>
              <a:rPr lang="en-US" dirty="0"/>
              <a:t>F(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has 4 </a:t>
            </a:r>
            <a:r>
              <a:rPr lang="en-US" dirty="0" err="1"/>
              <a:t>minterms</a:t>
            </a:r>
            <a:r>
              <a:rPr lang="en-US" dirty="0"/>
              <a:t> 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/>
              <a:t>’,</a:t>
            </a:r>
            <a:r>
              <a:rPr lang="en-US" i="1" dirty="0"/>
              <a:t> </a:t>
            </a:r>
            <a:r>
              <a:rPr lang="en-US" i="1" dirty="0" err="1"/>
              <a:t>x</a:t>
            </a:r>
            <a:r>
              <a:rPr lang="en-US" dirty="0" err="1"/>
              <a:t>’</a:t>
            </a:r>
            <a:r>
              <a:rPr lang="en-US" i="1" dirty="0" err="1"/>
              <a:t>y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i="1" dirty="0" err="1"/>
              <a:t>xy</a:t>
            </a:r>
            <a:r>
              <a:rPr lang="en-US" dirty="0"/>
              <a:t>’,</a:t>
            </a:r>
            <a:r>
              <a:rPr lang="en-US" i="1" dirty="0"/>
              <a:t> </a:t>
            </a:r>
            <a:r>
              <a:rPr lang="en-US" i="1" dirty="0" err="1"/>
              <a:t>xy</a:t>
            </a:r>
            <a:endParaRPr lang="en-US" i="1" dirty="0"/>
          </a:p>
          <a:p>
            <a:pPr lvl="1">
              <a:buNone/>
            </a:pPr>
            <a:endParaRPr lang="en-US" i="1" dirty="0"/>
          </a:p>
          <a:p>
            <a:r>
              <a:rPr lang="en-AU" dirty="0"/>
              <a:t>An </a:t>
            </a:r>
            <a:r>
              <a:rPr lang="en-AU" i="1" dirty="0"/>
              <a:t>n variable function has 2</a:t>
            </a:r>
            <a:r>
              <a:rPr lang="en-AU" i="1" baseline="30000" dirty="0"/>
              <a:t>n</a:t>
            </a:r>
            <a:r>
              <a:rPr lang="en-AU" i="1" dirty="0"/>
              <a:t> valid </a:t>
            </a:r>
            <a:r>
              <a:rPr lang="en-AU" i="1" dirty="0" err="1"/>
              <a:t>minterms</a:t>
            </a:r>
            <a:endParaRPr lang="en-AU" i="1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minterm</a:t>
            </a:r>
            <a:r>
              <a:rPr lang="en-US" dirty="0"/>
              <a:t> equals 1 at exactly one input combination and is equal to 0 otherwise </a:t>
            </a:r>
          </a:p>
          <a:p>
            <a:pPr lvl="1"/>
            <a:r>
              <a:rPr lang="en-US" dirty="0"/>
              <a:t>Example: </a:t>
            </a:r>
            <a:r>
              <a:rPr lang="en-US" i="1" dirty="0" err="1"/>
              <a:t>x’y’z</a:t>
            </a:r>
            <a:r>
              <a:rPr lang="en-US" i="1" dirty="0"/>
              <a:t>’</a:t>
            </a:r>
            <a:r>
              <a:rPr lang="en-US" dirty="0"/>
              <a:t> = 1 only when </a:t>
            </a:r>
            <a:r>
              <a:rPr lang="en-US" i="1" dirty="0"/>
              <a:t>x</a:t>
            </a:r>
            <a:r>
              <a:rPr lang="en-US" dirty="0"/>
              <a:t>=0, </a:t>
            </a:r>
            <a:r>
              <a:rPr lang="en-US" i="1" dirty="0"/>
              <a:t>y</a:t>
            </a:r>
            <a:r>
              <a:rPr lang="en-US" dirty="0"/>
              <a:t>=0, </a:t>
            </a:r>
            <a:r>
              <a:rPr lang="en-US" i="1" dirty="0"/>
              <a:t>z</a:t>
            </a:r>
            <a:r>
              <a:rPr lang="en-US" dirty="0"/>
              <a:t>=0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Maxterms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maxterm is an OR term in which every variable or its complement occurs once </a:t>
            </a:r>
          </a:p>
          <a:p>
            <a:pPr lvl="1"/>
            <a:r>
              <a:rPr lang="en-US" dirty="0"/>
              <a:t>F(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/>
              <a:t>) has 4 </a:t>
            </a:r>
            <a:r>
              <a:rPr lang="en-US" dirty="0" err="1"/>
              <a:t>maxterms</a:t>
            </a:r>
            <a:r>
              <a:rPr lang="en-US" dirty="0"/>
              <a:t>  </a:t>
            </a:r>
            <a:r>
              <a:rPr lang="en-US" i="1" dirty="0" err="1"/>
              <a:t>x</a:t>
            </a:r>
            <a:r>
              <a:rPr lang="en-US" dirty="0" err="1"/>
              <a:t>’+</a:t>
            </a:r>
            <a:r>
              <a:rPr lang="en-US" i="1" dirty="0" err="1"/>
              <a:t>y</a:t>
            </a:r>
            <a:r>
              <a:rPr lang="en-US" dirty="0"/>
              <a:t>’,</a:t>
            </a:r>
            <a:r>
              <a:rPr lang="en-US" i="1" dirty="0"/>
              <a:t> </a:t>
            </a:r>
            <a:r>
              <a:rPr lang="en-US" i="1" dirty="0" err="1"/>
              <a:t>x</a:t>
            </a:r>
            <a:r>
              <a:rPr lang="en-US" dirty="0" err="1"/>
              <a:t>’+</a:t>
            </a:r>
            <a:r>
              <a:rPr lang="en-US" i="1" dirty="0" err="1"/>
              <a:t>y</a:t>
            </a:r>
            <a:r>
              <a:rPr lang="en-US" dirty="0"/>
              <a:t>,</a:t>
            </a:r>
            <a:r>
              <a:rPr lang="en-US" i="1" dirty="0"/>
              <a:t> </a:t>
            </a:r>
            <a:r>
              <a:rPr lang="en-US" i="1" dirty="0" err="1"/>
              <a:t>x+y</a:t>
            </a:r>
            <a:r>
              <a:rPr lang="en-US" dirty="0"/>
              <a:t>’,</a:t>
            </a:r>
            <a:r>
              <a:rPr lang="en-US" i="1" dirty="0"/>
              <a:t> </a:t>
            </a:r>
            <a:r>
              <a:rPr lang="en-US" i="1" dirty="0" err="1"/>
              <a:t>x+y</a:t>
            </a:r>
            <a:endParaRPr lang="en-US" i="1" dirty="0"/>
          </a:p>
          <a:p>
            <a:pPr lvl="1"/>
            <a:endParaRPr lang="en-US" dirty="0"/>
          </a:p>
          <a:p>
            <a:r>
              <a:rPr lang="en-AU" dirty="0"/>
              <a:t>An </a:t>
            </a:r>
            <a:r>
              <a:rPr lang="en-AU" i="1" dirty="0"/>
              <a:t>n</a:t>
            </a:r>
            <a:r>
              <a:rPr lang="en-AU" dirty="0"/>
              <a:t> variable function has 2</a:t>
            </a:r>
            <a:r>
              <a:rPr lang="en-AU" i="1" baseline="30000" dirty="0"/>
              <a:t>n</a:t>
            </a:r>
            <a:r>
              <a:rPr lang="en-AU" dirty="0"/>
              <a:t> valid </a:t>
            </a:r>
            <a:r>
              <a:rPr lang="en-AU" dirty="0" err="1"/>
              <a:t>maxterms</a:t>
            </a:r>
            <a:endParaRPr lang="en-AU" dirty="0"/>
          </a:p>
          <a:p>
            <a:pPr>
              <a:buNone/>
            </a:pPr>
            <a:endParaRPr lang="en-AU" dirty="0"/>
          </a:p>
          <a:p>
            <a:r>
              <a:rPr lang="en-US" dirty="0"/>
              <a:t>A </a:t>
            </a:r>
            <a:r>
              <a:rPr lang="en-US" dirty="0" err="1"/>
              <a:t>maxterm</a:t>
            </a:r>
            <a:r>
              <a:rPr lang="en-US" dirty="0"/>
              <a:t> equals 0 at exactly one input combination and is equal to 1 otherwise</a:t>
            </a:r>
          </a:p>
          <a:p>
            <a:pPr lvl="1"/>
            <a:r>
              <a:rPr lang="en-US" dirty="0"/>
              <a:t>Example: (</a:t>
            </a:r>
            <a:r>
              <a:rPr lang="en-US" dirty="0" err="1"/>
              <a:t>x+y+z</a:t>
            </a:r>
            <a:r>
              <a:rPr lang="en-US" dirty="0"/>
              <a:t>) = 0 only when x=0, y=0, z=0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Three Binary Variables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661987" y="2151062"/>
            <a:ext cx="7058025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Any </a:t>
            </a:r>
            <a:r>
              <a:rPr lang="en-US" dirty="0" err="1"/>
              <a:t>boolean</a:t>
            </a:r>
            <a:r>
              <a:rPr lang="en-US" dirty="0"/>
              <a:t> function that is expressed as a </a:t>
            </a:r>
            <a:r>
              <a:rPr lang="en-US" b="1" dirty="0"/>
              <a:t>sum of </a:t>
            </a:r>
            <a:r>
              <a:rPr lang="en-US" b="1" dirty="0" err="1"/>
              <a:t>minterms</a:t>
            </a:r>
            <a:r>
              <a:rPr lang="en-US" dirty="0"/>
              <a:t> or as a </a:t>
            </a:r>
            <a:r>
              <a:rPr lang="en-US" b="1" dirty="0"/>
              <a:t>product of </a:t>
            </a:r>
            <a:r>
              <a:rPr lang="en-US" b="1" dirty="0" err="1"/>
              <a:t>maxterms</a:t>
            </a:r>
            <a:r>
              <a:rPr lang="en-US" dirty="0"/>
              <a:t> is said to be in its canonical form.</a:t>
            </a:r>
            <a:endParaRPr lang="id-ID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dirty="0" err="1"/>
              <a:t>Minterms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r>
              <a:rPr lang="pl-PL" i="1" dirty="0"/>
              <a:t>F</a:t>
            </a:r>
            <a:r>
              <a:rPr lang="pl-PL" i="1" baseline="-25000" dirty="0"/>
              <a:t>1</a:t>
            </a:r>
            <a:r>
              <a:rPr lang="pl-PL" dirty="0"/>
              <a:t>(</a:t>
            </a:r>
            <a:r>
              <a:rPr lang="pl-PL" i="1" dirty="0"/>
              <a:t>x, y, z</a:t>
            </a:r>
            <a:r>
              <a:rPr lang="pl-PL" dirty="0"/>
              <a:t>)</a:t>
            </a:r>
            <a:r>
              <a:rPr lang="pl-PL" i="1" dirty="0"/>
              <a:t> = </a:t>
            </a:r>
            <a:r>
              <a:rPr lang="pl-PL" dirty="0"/>
              <a:t>∑(1,4,5,6,7)</a:t>
            </a:r>
            <a:r>
              <a:rPr lang="pl-PL" i="1" dirty="0"/>
              <a:t> = m</a:t>
            </a:r>
            <a:r>
              <a:rPr lang="pl-PL" baseline="-25000" dirty="0"/>
              <a:t>1</a:t>
            </a:r>
            <a:r>
              <a:rPr lang="pl-PL" i="1" dirty="0"/>
              <a:t> + m</a:t>
            </a:r>
            <a:r>
              <a:rPr lang="pl-PL" baseline="-25000" dirty="0"/>
              <a:t>4</a:t>
            </a:r>
            <a:r>
              <a:rPr lang="pl-PL" i="1" dirty="0"/>
              <a:t> + m</a:t>
            </a:r>
            <a:r>
              <a:rPr lang="pl-PL" i="1" baseline="-25000" dirty="0"/>
              <a:t>5</a:t>
            </a:r>
            <a:r>
              <a:rPr lang="pl-PL" i="1" dirty="0"/>
              <a:t> + m</a:t>
            </a:r>
            <a:r>
              <a:rPr lang="pl-PL" baseline="-25000" dirty="0"/>
              <a:t>6</a:t>
            </a:r>
            <a:r>
              <a:rPr lang="pl-PL" i="1" dirty="0"/>
              <a:t> + m</a:t>
            </a:r>
            <a:r>
              <a:rPr lang="pl-PL" baseline="-25000" dirty="0"/>
              <a:t>7</a:t>
            </a:r>
          </a:p>
          <a:p>
            <a:pPr lvl="3">
              <a:buNone/>
            </a:pPr>
            <a:r>
              <a:rPr lang="en-US" dirty="0"/>
              <a:t>    </a:t>
            </a:r>
            <a:r>
              <a:rPr lang="pl-PL" dirty="0"/>
              <a:t>=</a:t>
            </a:r>
            <a:r>
              <a:rPr lang="pl-PL" i="1" dirty="0"/>
              <a:t>x' y' z + xy' z’ + xy' z + xyz’ + xyz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1777" y="1562100"/>
            <a:ext cx="4866223" cy="313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dirty="0" err="1"/>
              <a:t>Minterms</a:t>
            </a:r>
            <a:r>
              <a:rPr lang="en-US" dirty="0"/>
              <a:t>: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 err="1"/>
              <a:t>yz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	   =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y’</a:t>
            </a:r>
            <a:r>
              <a:rPr lang="en-US" dirty="0"/>
              <a:t>)(</a:t>
            </a:r>
            <a:r>
              <a:rPr lang="en-US" i="1" dirty="0"/>
              <a:t>z</a:t>
            </a:r>
            <a:r>
              <a:rPr lang="en-US" dirty="0"/>
              <a:t> + </a:t>
            </a:r>
            <a:r>
              <a:rPr lang="en-US" i="1" dirty="0"/>
              <a:t>z’</a:t>
            </a:r>
            <a:r>
              <a:rPr lang="en-US" dirty="0"/>
              <a:t>) + 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x’</a:t>
            </a:r>
            <a:r>
              <a:rPr lang="en-US" dirty="0"/>
              <a:t>)</a:t>
            </a:r>
            <a:r>
              <a:rPr lang="en-US" i="1" dirty="0" err="1"/>
              <a:t>yz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= </a:t>
            </a:r>
            <a:r>
              <a:rPr lang="en-US" i="1" dirty="0"/>
              <a:t>xyz </a:t>
            </a:r>
            <a:r>
              <a:rPr lang="en-US" dirty="0"/>
              <a:t>+</a:t>
            </a:r>
            <a:r>
              <a:rPr lang="en-US" i="1" dirty="0"/>
              <a:t> xyz’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i="1" dirty="0" err="1"/>
              <a:t>xy’z</a:t>
            </a:r>
            <a:r>
              <a:rPr lang="en-US" i="1" dirty="0"/>
              <a:t>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i="1" dirty="0" err="1"/>
              <a:t>xy’z</a:t>
            </a:r>
            <a:r>
              <a:rPr lang="en-US" i="1" dirty="0"/>
              <a:t>’ </a:t>
            </a:r>
            <a:r>
              <a:rPr lang="en-US" dirty="0"/>
              <a:t>+</a:t>
            </a:r>
            <a:r>
              <a:rPr lang="en-US" i="1" dirty="0"/>
              <a:t> xyz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i="1" dirty="0" err="1"/>
              <a:t>x’yz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= </a:t>
            </a:r>
            <a:r>
              <a:rPr lang="en-US" i="1" dirty="0" err="1"/>
              <a:t>x’yz</a:t>
            </a:r>
            <a:r>
              <a:rPr lang="en-US" i="1" dirty="0"/>
              <a:t>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i="1" dirty="0" err="1"/>
              <a:t>xy’z</a:t>
            </a:r>
            <a:r>
              <a:rPr lang="en-US" i="1" dirty="0"/>
              <a:t>’ </a:t>
            </a:r>
            <a:r>
              <a:rPr lang="en-US" dirty="0"/>
              <a:t>+</a:t>
            </a:r>
            <a:r>
              <a:rPr lang="en-US" i="1" dirty="0"/>
              <a:t> </a:t>
            </a:r>
            <a:r>
              <a:rPr lang="en-US" i="1" dirty="0" err="1"/>
              <a:t>xy’z</a:t>
            </a:r>
            <a:r>
              <a:rPr lang="en-US" i="1" dirty="0"/>
              <a:t> </a:t>
            </a:r>
            <a:r>
              <a:rPr lang="en-US" dirty="0"/>
              <a:t>+</a:t>
            </a:r>
            <a:r>
              <a:rPr lang="en-US" i="1" dirty="0"/>
              <a:t> xyz’ </a:t>
            </a:r>
            <a:r>
              <a:rPr lang="en-US" dirty="0"/>
              <a:t>+</a:t>
            </a:r>
            <a:r>
              <a:rPr lang="en-US" i="1" dirty="0"/>
              <a:t> xyz</a:t>
            </a:r>
            <a:br>
              <a:rPr lang="en-US" i="1" dirty="0"/>
            </a:br>
            <a:r>
              <a:rPr lang="en-US" dirty="0"/>
              <a:t>   = </a:t>
            </a:r>
            <a:r>
              <a:rPr lang="en-US" dirty="0">
                <a:sym typeface="Symbol" pitchFamily="18" charset="2"/>
              </a:rPr>
              <a:t>(3,4,5,6,7)</a:t>
            </a:r>
          </a:p>
          <a:p>
            <a:pPr>
              <a:buFontTx/>
              <a:buNone/>
            </a:pPr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Or convert the expression into truth-table and then read the </a:t>
            </a:r>
            <a:r>
              <a:rPr lang="en-US" dirty="0" err="1">
                <a:sym typeface="Symbol" pitchFamily="18" charset="2"/>
              </a:rPr>
              <a:t>minterms</a:t>
            </a:r>
            <a:r>
              <a:rPr lang="en-US" dirty="0">
                <a:sym typeface="Symbol" pitchFamily="18" charset="2"/>
              </a:rPr>
              <a:t> from the table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of </a:t>
            </a:r>
            <a:r>
              <a:rPr lang="en-US" dirty="0" err="1"/>
              <a:t>Maxterms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>
              <a:solidFill>
                <a:srgbClr val="FF0033"/>
              </a:solidFill>
            </a:endParaRPr>
          </a:p>
          <a:p>
            <a:r>
              <a:rPr lang="en-US" dirty="0"/>
              <a:t>A Boolean function can be expressed algebraically from a given truth table </a:t>
            </a:r>
          </a:p>
          <a:p>
            <a:pPr lvl="1"/>
            <a:r>
              <a:rPr lang="en-US" dirty="0"/>
              <a:t>by forming a </a:t>
            </a:r>
            <a:r>
              <a:rPr lang="en-US" dirty="0" err="1"/>
              <a:t>maxterm</a:t>
            </a:r>
            <a:r>
              <a:rPr lang="en-US" dirty="0"/>
              <a:t> for each combination of the variables that produces a 0 in the function, and</a:t>
            </a:r>
          </a:p>
          <a:p>
            <a:pPr lvl="1"/>
            <a:r>
              <a:rPr lang="en-US" dirty="0"/>
              <a:t>then taking the AND of all those </a:t>
            </a:r>
            <a:r>
              <a:rPr lang="en-US" dirty="0" err="1"/>
              <a:t>maxterms</a:t>
            </a:r>
            <a:r>
              <a:rPr lang="en-US" dirty="0"/>
              <a:t>.</a:t>
            </a:r>
            <a:endParaRPr lang="en-US" dirty="0">
              <a:solidFill>
                <a:srgbClr val="FF0033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of </a:t>
            </a:r>
            <a:r>
              <a:rPr lang="en-US" dirty="0" err="1"/>
              <a:t>Maxterms</a:t>
            </a: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l-PL" i="1" dirty="0"/>
              <a:t>F</a:t>
            </a:r>
            <a:r>
              <a:rPr lang="pl-PL" baseline="-25000" dirty="0"/>
              <a:t>1</a:t>
            </a:r>
            <a:r>
              <a:rPr lang="pl-PL" dirty="0"/>
              <a:t>(</a:t>
            </a:r>
            <a:r>
              <a:rPr lang="pl-PL" i="1" dirty="0"/>
              <a:t>x</a:t>
            </a:r>
            <a:r>
              <a:rPr lang="pl-PL" dirty="0"/>
              <a:t>,</a:t>
            </a:r>
            <a:r>
              <a:rPr lang="pl-PL" i="1" dirty="0"/>
              <a:t> y</a:t>
            </a:r>
            <a:r>
              <a:rPr lang="pl-PL" dirty="0"/>
              <a:t>,</a:t>
            </a:r>
            <a:r>
              <a:rPr lang="pl-PL" i="1" dirty="0"/>
              <a:t> z</a:t>
            </a:r>
            <a:r>
              <a:rPr lang="pl-PL" dirty="0"/>
              <a:t>)</a:t>
            </a:r>
            <a:r>
              <a:rPr lang="pl-PL" i="1" dirty="0"/>
              <a:t> </a:t>
            </a:r>
            <a:r>
              <a:rPr lang="pl-PL" dirty="0"/>
              <a:t>=</a:t>
            </a:r>
            <a:r>
              <a:rPr lang="pl-PL" i="1" dirty="0"/>
              <a:t> </a:t>
            </a:r>
            <a:r>
              <a:rPr lang="en-US" dirty="0">
                <a:sym typeface="WP Greek Century" pitchFamily="2" charset="2"/>
              </a:rPr>
              <a:t>∏</a:t>
            </a:r>
            <a:r>
              <a:rPr lang="pl-PL" dirty="0"/>
              <a:t>(0,2,3)</a:t>
            </a:r>
            <a:r>
              <a:rPr lang="pl-PL" i="1" dirty="0"/>
              <a:t> = M</a:t>
            </a:r>
            <a:r>
              <a:rPr lang="pl-PL" baseline="-25000" dirty="0"/>
              <a:t>0</a:t>
            </a:r>
            <a:r>
              <a:rPr lang="pl-PL" i="1" dirty="0"/>
              <a:t> ×M</a:t>
            </a:r>
            <a:r>
              <a:rPr lang="pl-PL" baseline="-25000" dirty="0"/>
              <a:t>2</a:t>
            </a:r>
            <a:r>
              <a:rPr lang="pl-PL" i="1" dirty="0"/>
              <a:t> ×M</a:t>
            </a:r>
            <a:r>
              <a:rPr lang="pl-PL" baseline="-25000" dirty="0"/>
              <a:t>3</a:t>
            </a:r>
            <a:endParaRPr lang="en-US" baseline="-25000" dirty="0"/>
          </a:p>
          <a:p>
            <a:pPr>
              <a:buNone/>
            </a:pPr>
            <a:r>
              <a:rPr lang="en-US" i="1" dirty="0"/>
              <a:t>		         </a:t>
            </a:r>
            <a:r>
              <a:rPr lang="pl-PL" dirty="0"/>
              <a:t>= (</a:t>
            </a:r>
            <a:r>
              <a:rPr lang="pl-PL" i="1" dirty="0"/>
              <a:t>x </a:t>
            </a:r>
            <a:r>
              <a:rPr lang="pl-PL" dirty="0"/>
              <a:t>+</a:t>
            </a:r>
            <a:r>
              <a:rPr lang="pl-PL" i="1" dirty="0"/>
              <a:t> y </a:t>
            </a:r>
            <a:r>
              <a:rPr lang="pl-PL" dirty="0"/>
              <a:t>+</a:t>
            </a:r>
            <a:r>
              <a:rPr lang="pl-PL" i="1" dirty="0"/>
              <a:t> z</a:t>
            </a:r>
            <a:r>
              <a:rPr lang="pl-PL" dirty="0"/>
              <a:t>)(</a:t>
            </a:r>
            <a:r>
              <a:rPr lang="pl-PL" i="1" dirty="0"/>
              <a:t>x </a:t>
            </a:r>
            <a:r>
              <a:rPr lang="pl-PL" dirty="0"/>
              <a:t>+</a:t>
            </a:r>
            <a:r>
              <a:rPr lang="pl-PL" i="1" dirty="0"/>
              <a:t> y'</a:t>
            </a:r>
            <a:r>
              <a:rPr lang="pl-PL" dirty="0"/>
              <a:t>+</a:t>
            </a:r>
            <a:r>
              <a:rPr lang="pl-PL" i="1" dirty="0"/>
              <a:t>z</a:t>
            </a:r>
            <a:r>
              <a:rPr lang="pl-PL" dirty="0"/>
              <a:t>)(</a:t>
            </a:r>
            <a:r>
              <a:rPr lang="pl-PL" i="1" dirty="0"/>
              <a:t>x </a:t>
            </a:r>
            <a:r>
              <a:rPr lang="pl-PL" dirty="0"/>
              <a:t>+</a:t>
            </a:r>
            <a:r>
              <a:rPr lang="pl-PL" i="1" dirty="0"/>
              <a:t> y'</a:t>
            </a:r>
            <a:r>
              <a:rPr lang="pl-PL" dirty="0"/>
              <a:t>+</a:t>
            </a:r>
            <a:r>
              <a:rPr lang="pl-PL" i="1" dirty="0"/>
              <a:t>z'</a:t>
            </a:r>
            <a:r>
              <a:rPr lang="pl-PL" dirty="0"/>
              <a:t>)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510098"/>
            <a:ext cx="4953000" cy="3214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of </a:t>
            </a:r>
            <a:r>
              <a:rPr lang="en-US" dirty="0" err="1"/>
              <a:t>Maxterms</a:t>
            </a:r>
            <a:r>
              <a:rPr lang="en-US" dirty="0"/>
              <a:t>: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x’z</a:t>
            </a:r>
            <a:r>
              <a:rPr lang="en-US" i="1" dirty="0"/>
              <a:t>  </a:t>
            </a:r>
            <a:r>
              <a:rPr lang="en-US" dirty="0"/>
              <a:t>= (</a:t>
            </a:r>
            <a:r>
              <a:rPr lang="en-US" i="1" dirty="0" err="1"/>
              <a:t>xy</a:t>
            </a:r>
            <a:r>
              <a:rPr lang="en-US" dirty="0" err="1"/>
              <a:t>+</a:t>
            </a:r>
            <a:r>
              <a:rPr lang="en-US" i="1" dirty="0" err="1"/>
              <a:t>x</a:t>
            </a:r>
            <a:r>
              <a:rPr lang="en-US" i="1" dirty="0"/>
              <a:t>’</a:t>
            </a:r>
            <a:r>
              <a:rPr lang="en-US" dirty="0"/>
              <a:t>)(</a:t>
            </a:r>
            <a:r>
              <a:rPr lang="en-US" i="1" dirty="0" err="1"/>
              <a:t>xy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 </a:t>
            </a:r>
          </a:p>
          <a:p>
            <a:pPr lvl="1">
              <a:buNone/>
            </a:pPr>
            <a:r>
              <a:rPr lang="en-US" dirty="0"/>
              <a:t>  = 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x</a:t>
            </a:r>
            <a:r>
              <a:rPr lang="en-US" i="1" dirty="0"/>
              <a:t>’</a:t>
            </a:r>
            <a:r>
              <a:rPr lang="en-US" dirty="0"/>
              <a:t>)(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x</a:t>
            </a:r>
            <a:r>
              <a:rPr lang="en-US" i="1" dirty="0"/>
              <a:t>’</a:t>
            </a:r>
            <a:r>
              <a:rPr lang="en-US" dirty="0"/>
              <a:t>)(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 = 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/>
              <a:t>)(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</a:t>
            </a:r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zz</a:t>
            </a:r>
            <a:r>
              <a:rPr lang="en-US" i="1" dirty="0"/>
              <a:t>’ </a:t>
            </a:r>
            <a:r>
              <a:rPr lang="en-US" dirty="0"/>
              <a:t>=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i="1" dirty="0"/>
              <a:t>’</a:t>
            </a:r>
            <a:r>
              <a:rPr lang="en-US" dirty="0"/>
              <a:t>)</a:t>
            </a:r>
          </a:p>
          <a:p>
            <a:pPr lvl="1">
              <a:buNone/>
            </a:pP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i="1" dirty="0"/>
              <a:t>  </a:t>
            </a:r>
            <a:r>
              <a:rPr lang="en-US" dirty="0"/>
              <a:t>=</a:t>
            </a:r>
            <a:r>
              <a:rPr lang="en-US" i="1" dirty="0"/>
              <a:t> 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z+yy</a:t>
            </a:r>
            <a:r>
              <a:rPr lang="en-US" i="1" dirty="0"/>
              <a:t>’  </a:t>
            </a:r>
            <a:r>
              <a:rPr lang="en-US" dirty="0"/>
              <a:t>= 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y’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</a:t>
            </a:r>
          </a:p>
          <a:p>
            <a:pPr lvl="1">
              <a:buNone/>
            </a:pP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i="1" dirty="0"/>
              <a:t>  = 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 err="1"/>
              <a:t>+</a:t>
            </a:r>
            <a:r>
              <a:rPr lang="en-US" i="1" dirty="0" err="1"/>
              <a:t>xx</a:t>
            </a:r>
            <a:r>
              <a:rPr lang="en-US" i="1" dirty="0"/>
              <a:t> ’ </a:t>
            </a:r>
            <a:r>
              <a:rPr lang="en-US" dirty="0"/>
              <a:t>= (</a:t>
            </a:r>
            <a:r>
              <a:rPr lang="en-US" dirty="0" err="1"/>
              <a:t>x+y+z</a:t>
            </a:r>
            <a:r>
              <a:rPr lang="en-US" dirty="0"/>
              <a:t>)(</a:t>
            </a:r>
            <a:r>
              <a:rPr lang="en-US" i="1" dirty="0"/>
              <a:t>x ’</a:t>
            </a:r>
            <a:r>
              <a:rPr lang="en-US" dirty="0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</a:t>
            </a:r>
          </a:p>
          <a:p>
            <a:pPr lvl="1">
              <a:buNone/>
            </a:pPr>
            <a:endParaRPr lang="en-US" i="1" dirty="0"/>
          </a:p>
          <a:p>
            <a:pPr lvl="1">
              <a:buNone/>
            </a:pPr>
            <a:r>
              <a:rPr lang="en-US" i="1" dirty="0"/>
              <a:t>F</a:t>
            </a:r>
            <a:r>
              <a:rPr lang="en-US" dirty="0"/>
              <a:t> =(</a:t>
            </a:r>
            <a:r>
              <a:rPr lang="en-US" dirty="0" err="1"/>
              <a:t>x+y+z</a:t>
            </a:r>
            <a:r>
              <a:rPr lang="en-US" dirty="0"/>
              <a:t>)(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y’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)(</a:t>
            </a:r>
            <a:r>
              <a:rPr lang="en-US" i="1" dirty="0" err="1"/>
              <a:t>x’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i="1" dirty="0"/>
              <a:t>’</a:t>
            </a:r>
            <a:r>
              <a:rPr lang="en-US" dirty="0"/>
              <a:t>) </a:t>
            </a:r>
          </a:p>
          <a:p>
            <a:pPr lvl="2">
              <a:buNone/>
            </a:pPr>
            <a:r>
              <a:rPr lang="en-US" dirty="0"/>
              <a:t> =</a:t>
            </a:r>
            <a:r>
              <a:rPr lang="en-US" i="1" dirty="0"/>
              <a:t>M</a:t>
            </a:r>
            <a:r>
              <a:rPr lang="en-US" baseline="-25000" dirty="0"/>
              <a:t>0</a:t>
            </a:r>
            <a:r>
              <a:rPr lang="en-US" i="1" dirty="0"/>
              <a:t>M</a:t>
            </a:r>
            <a:r>
              <a:rPr lang="en-US" baseline="-25000" dirty="0"/>
              <a:t>2</a:t>
            </a:r>
            <a:r>
              <a:rPr lang="en-US" i="1" dirty="0"/>
              <a:t>M</a:t>
            </a:r>
            <a:r>
              <a:rPr lang="en-US" baseline="-25000" dirty="0"/>
              <a:t>4</a:t>
            </a:r>
            <a:r>
              <a:rPr lang="en-US" i="1" dirty="0"/>
              <a:t>M</a:t>
            </a:r>
            <a:r>
              <a:rPr lang="en-US" baseline="-25000" dirty="0"/>
              <a:t>5</a:t>
            </a:r>
            <a:r>
              <a:rPr lang="en-US" dirty="0"/>
              <a:t>= </a:t>
            </a:r>
            <a:r>
              <a:rPr lang="en-US" dirty="0">
                <a:sym typeface="WP Greek Century" pitchFamily="2" charset="2"/>
              </a:rPr>
              <a:t>∏(0, 2, 4,5)</a:t>
            </a:r>
          </a:p>
          <a:p>
            <a:pPr lvl="2">
              <a:buNone/>
            </a:pPr>
            <a:endParaRPr lang="en-US" dirty="0"/>
          </a:p>
          <a:p>
            <a:r>
              <a:rPr lang="en-US" dirty="0">
                <a:sym typeface="Symbol" pitchFamily="18" charset="2"/>
              </a:rPr>
              <a:t>Or convert the expression into truth-table and then read the </a:t>
            </a:r>
            <a:r>
              <a:rPr lang="en-US" dirty="0" err="1">
                <a:sym typeface="Symbol" pitchFamily="18" charset="2"/>
              </a:rPr>
              <a:t>maxterms</a:t>
            </a:r>
            <a:r>
              <a:rPr lang="en-US" dirty="0">
                <a:sym typeface="Symbol" pitchFamily="18" charset="2"/>
              </a:rPr>
              <a:t> from the table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aseline="30000" dirty="0"/>
          </a:p>
          <a:p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Conversion between Canonical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Conversion between </a:t>
            </a:r>
            <a:r>
              <a:rPr lang="en-US" dirty="0" err="1"/>
              <a:t>minterms</a:t>
            </a:r>
            <a:r>
              <a:rPr lang="en-US" dirty="0"/>
              <a:t> and </a:t>
            </a:r>
            <a:r>
              <a:rPr lang="en-US" dirty="0" err="1"/>
              <a:t>maxterms</a:t>
            </a:r>
            <a:endParaRPr lang="en-US" dirty="0"/>
          </a:p>
          <a:p>
            <a:pPr>
              <a:buNone/>
            </a:pPr>
            <a:r>
              <a:rPr lang="en-US" dirty="0"/>
              <a:t>	     </a:t>
            </a:r>
            <a:r>
              <a:rPr lang="en-US" i="1" dirty="0"/>
              <a:t>m</a:t>
            </a:r>
            <a:r>
              <a:rPr lang="en-US" baseline="-25000" dirty="0"/>
              <a:t>0</a:t>
            </a:r>
            <a:r>
              <a:rPr lang="en-US" dirty="0"/>
              <a:t> = </a:t>
            </a:r>
            <a:r>
              <a:rPr lang="en-US" i="1" dirty="0" err="1"/>
              <a:t>x’y’z</a:t>
            </a:r>
            <a:r>
              <a:rPr lang="en-US" i="1" dirty="0"/>
              <a:t>’</a:t>
            </a:r>
            <a:r>
              <a:rPr lang="en-US" dirty="0"/>
              <a:t> = (</a:t>
            </a:r>
            <a:r>
              <a:rPr lang="en-US" i="1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z</a:t>
            </a:r>
            <a:r>
              <a:rPr lang="en-US" dirty="0"/>
              <a:t>)</a:t>
            </a:r>
            <a:r>
              <a:rPr lang="en-US" i="1" dirty="0"/>
              <a:t>’</a:t>
            </a:r>
            <a:r>
              <a:rPr lang="en-US" dirty="0"/>
              <a:t> = (</a:t>
            </a:r>
            <a:r>
              <a:rPr lang="en-US" i="1" dirty="0"/>
              <a:t>M</a:t>
            </a:r>
            <a:r>
              <a:rPr lang="en-US" baseline="-25000" dirty="0"/>
              <a:t>0</a:t>
            </a:r>
            <a:r>
              <a:rPr lang="en-US" dirty="0"/>
              <a:t>)</a:t>
            </a:r>
            <a:r>
              <a:rPr lang="en-US" i="1" dirty="0"/>
              <a:t>’</a:t>
            </a:r>
          </a:p>
          <a:p>
            <a:pPr lvl="1"/>
            <a:r>
              <a:rPr lang="en-US" dirty="0"/>
              <a:t>In general, 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/>
              <a:t> = (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/>
              <a:t>)</a:t>
            </a:r>
            <a:r>
              <a:rPr lang="en-US" i="1" dirty="0"/>
              <a:t>’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Sum of </a:t>
            </a:r>
            <a:r>
              <a:rPr lang="en-US" dirty="0" err="1"/>
              <a:t>minterms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Product of </a:t>
            </a:r>
            <a:r>
              <a:rPr lang="en-US" dirty="0" err="1"/>
              <a:t>maxterms</a:t>
            </a:r>
            <a:r>
              <a:rPr lang="en-US" dirty="0"/>
              <a:t>:</a:t>
            </a:r>
          </a:p>
          <a:p>
            <a:pPr lvl="1"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dirty="0"/>
              <a:t>	</a:t>
            </a:r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dirty="0"/>
              <a:t>(0,1,2,3,6)</a:t>
            </a:r>
            <a:endParaRPr lang="en-US" baseline="-25000" dirty="0"/>
          </a:p>
          <a:p>
            <a:pPr lvl="1"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dirty="0"/>
              <a:t>	</a:t>
            </a:r>
            <a:r>
              <a:rPr lang="en-US" i="1" dirty="0"/>
              <a:t>f’</a:t>
            </a:r>
            <a:r>
              <a:rPr lang="en-US" dirty="0"/>
              <a:t>= </a:t>
            </a:r>
            <a:r>
              <a:rPr lang="en-US" dirty="0">
                <a:sym typeface="Symbol" pitchFamily="18" charset="2"/>
              </a:rPr>
              <a:t>(4,5,7) </a:t>
            </a:r>
            <a:r>
              <a:rPr lang="en-US" dirty="0"/>
              <a:t>= </a:t>
            </a:r>
            <a:r>
              <a:rPr lang="en-US" i="1" dirty="0"/>
              <a:t>m</a:t>
            </a:r>
            <a:r>
              <a:rPr lang="en-US" baseline="-25000" dirty="0"/>
              <a:t>4</a:t>
            </a:r>
            <a:r>
              <a:rPr lang="en-US" dirty="0"/>
              <a:t> + </a:t>
            </a:r>
            <a:r>
              <a:rPr lang="en-US" i="1" dirty="0"/>
              <a:t>m</a:t>
            </a:r>
            <a:r>
              <a:rPr lang="en-US" baseline="-25000" dirty="0"/>
              <a:t>5</a:t>
            </a:r>
            <a:r>
              <a:rPr lang="en-US" dirty="0"/>
              <a:t> + </a:t>
            </a:r>
            <a:r>
              <a:rPr lang="en-US" i="1" dirty="0"/>
              <a:t>m</a:t>
            </a:r>
            <a:r>
              <a:rPr lang="en-US" baseline="-25000" dirty="0"/>
              <a:t>7</a:t>
            </a:r>
          </a:p>
          <a:p>
            <a:pPr lvl="1"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dirty="0"/>
              <a:t>(</a:t>
            </a:r>
            <a:r>
              <a:rPr lang="en-US" i="1" dirty="0"/>
              <a:t>f’</a:t>
            </a:r>
            <a:r>
              <a:rPr lang="en-US" dirty="0"/>
              <a:t>)</a:t>
            </a:r>
            <a:r>
              <a:rPr lang="en-US" i="1" dirty="0"/>
              <a:t>’</a:t>
            </a:r>
            <a:r>
              <a:rPr lang="en-US" dirty="0"/>
              <a:t>= (</a:t>
            </a:r>
            <a:r>
              <a:rPr lang="en-US" i="1" dirty="0"/>
              <a:t>m</a:t>
            </a:r>
            <a:r>
              <a:rPr lang="en-US" baseline="-25000" dirty="0"/>
              <a:t>4</a:t>
            </a:r>
            <a:r>
              <a:rPr lang="en-US" dirty="0"/>
              <a:t> + </a:t>
            </a:r>
            <a:r>
              <a:rPr lang="en-US" i="1" dirty="0"/>
              <a:t>m</a:t>
            </a:r>
            <a:r>
              <a:rPr lang="en-US" baseline="-25000" dirty="0"/>
              <a:t>5</a:t>
            </a:r>
            <a:r>
              <a:rPr lang="en-US" dirty="0"/>
              <a:t> + </a:t>
            </a:r>
            <a:r>
              <a:rPr lang="en-US" i="1" dirty="0"/>
              <a:t>m</a:t>
            </a:r>
            <a:r>
              <a:rPr lang="en-US" baseline="-25000" dirty="0"/>
              <a:t>7</a:t>
            </a:r>
            <a:r>
              <a:rPr lang="en-US" dirty="0"/>
              <a:t>)’</a:t>
            </a:r>
          </a:p>
          <a:p>
            <a:pPr lvl="1"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i="1" dirty="0"/>
              <a:t>   f</a:t>
            </a:r>
            <a:r>
              <a:rPr lang="en-US" dirty="0"/>
              <a:t> = </a:t>
            </a:r>
            <a:r>
              <a:rPr lang="en-US" i="1" dirty="0"/>
              <a:t>m</a:t>
            </a:r>
            <a:r>
              <a:rPr lang="en-US" baseline="-25000" dirty="0"/>
              <a:t>4</a:t>
            </a:r>
            <a:r>
              <a:rPr lang="en-US" dirty="0"/>
              <a:t>’ </a:t>
            </a:r>
            <a:r>
              <a:rPr lang="en-US" i="1" dirty="0"/>
              <a:t>m</a:t>
            </a:r>
            <a:r>
              <a:rPr lang="en-US" baseline="-25000" dirty="0"/>
              <a:t>5</a:t>
            </a:r>
            <a:r>
              <a:rPr lang="en-US" dirty="0"/>
              <a:t>’ </a:t>
            </a:r>
            <a:r>
              <a:rPr lang="en-US" i="1" dirty="0"/>
              <a:t>m</a:t>
            </a:r>
            <a:r>
              <a:rPr lang="en-US" baseline="-25000" dirty="0"/>
              <a:t>7</a:t>
            </a:r>
            <a:r>
              <a:rPr lang="en-US" dirty="0"/>
              <a:t>’ [</a:t>
            </a:r>
            <a:r>
              <a:rPr lang="en-US" dirty="0" err="1"/>
              <a:t>DeMorgan’s</a:t>
            </a:r>
            <a:r>
              <a:rPr lang="en-US" dirty="0"/>
              <a:t> law]</a:t>
            </a:r>
          </a:p>
          <a:p>
            <a:pPr lvl="1"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dirty="0"/>
              <a:t>     = </a:t>
            </a:r>
            <a:r>
              <a:rPr lang="en-US" i="1" dirty="0"/>
              <a:t>M</a:t>
            </a:r>
            <a:r>
              <a:rPr lang="en-US" baseline="-25000" dirty="0"/>
              <a:t>4</a:t>
            </a:r>
            <a:r>
              <a:rPr lang="en-US" dirty="0"/>
              <a:t> </a:t>
            </a:r>
            <a:r>
              <a:rPr lang="en-US" i="1" dirty="0"/>
              <a:t>M</a:t>
            </a:r>
            <a:r>
              <a:rPr lang="en-US" baseline="-25000" dirty="0"/>
              <a:t>5</a:t>
            </a:r>
            <a:r>
              <a:rPr lang="en-US" dirty="0"/>
              <a:t> </a:t>
            </a:r>
            <a:r>
              <a:rPr lang="en-US" i="1" dirty="0"/>
              <a:t>M</a:t>
            </a:r>
            <a:r>
              <a:rPr lang="en-US" baseline="-25000" dirty="0"/>
              <a:t>7 </a:t>
            </a:r>
            <a:r>
              <a:rPr lang="en-US" dirty="0">
                <a:sym typeface="WP Greek Century" pitchFamily="2" charset="2"/>
              </a:rPr>
              <a:t>= ∏</a:t>
            </a:r>
            <a:r>
              <a:rPr lang="en-US" dirty="0">
                <a:sym typeface="Symbol" pitchFamily="18" charset="2"/>
              </a:rPr>
              <a:t>(4,5,7)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Conversion between Canonical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to convert from one canonical form to another, interchange the symbols </a:t>
            </a:r>
            <a:r>
              <a:rPr lang="en-US" dirty="0">
                <a:sym typeface="Symbol" pitchFamily="18" charset="2"/>
              </a:rPr>
              <a:t> </a:t>
            </a:r>
            <a:r>
              <a:rPr lang="en-US" dirty="0"/>
              <a:t>and </a:t>
            </a:r>
            <a:r>
              <a:rPr lang="en-US" dirty="0">
                <a:sym typeface="WP Greek Century" pitchFamily="2" charset="2"/>
              </a:rPr>
              <a:t>∏</a:t>
            </a:r>
            <a:r>
              <a:rPr lang="en-US" dirty="0"/>
              <a:t> and list those numbers missing from the original form.</a:t>
            </a:r>
          </a:p>
          <a:p>
            <a:endParaRPr lang="en-US" dirty="0"/>
          </a:p>
          <a:p>
            <a:pPr lvl="1"/>
            <a:r>
              <a:rPr lang="en-US" i="1" dirty="0"/>
              <a:t>Example: f</a:t>
            </a:r>
            <a:r>
              <a:rPr lang="en-US" dirty="0"/>
              <a:t> = </a:t>
            </a:r>
            <a:r>
              <a:rPr lang="en-US" dirty="0">
                <a:sym typeface="Symbol" pitchFamily="18" charset="2"/>
              </a:rPr>
              <a:t></a:t>
            </a:r>
            <a:r>
              <a:rPr lang="en-US" dirty="0"/>
              <a:t>(0,1,2,3,6) =</a:t>
            </a:r>
            <a:r>
              <a:rPr lang="en-US" dirty="0">
                <a:sym typeface="WP Greek Century" pitchFamily="2" charset="2"/>
              </a:rPr>
              <a:t> ∏</a:t>
            </a:r>
            <a:r>
              <a:rPr lang="en-US" dirty="0">
                <a:sym typeface="Symbol" pitchFamily="18" charset="2"/>
              </a:rPr>
              <a:t>(4,5,7)</a:t>
            </a:r>
            <a:endParaRPr lang="en-US" dirty="0"/>
          </a:p>
          <a:p>
            <a:endParaRPr lang="en-US" dirty="0"/>
          </a:p>
          <a:p>
            <a:pPr>
              <a:buNone/>
              <a:tabLst>
                <a:tab pos="1827213" algn="l"/>
                <a:tab pos="2282825" algn="l"/>
                <a:tab pos="4175125" algn="l"/>
              </a:tabLst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Practice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Express the following function (four variables: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</a:t>
            </a:r>
            <a:r>
              <a:rPr lang="en-US" i="1" dirty="0"/>
              <a:t> C</a:t>
            </a:r>
            <a:r>
              <a:rPr lang="en-US" dirty="0"/>
              <a:t>,</a:t>
            </a:r>
            <a:r>
              <a:rPr lang="en-US" i="1" dirty="0"/>
              <a:t> D</a:t>
            </a:r>
            <a:r>
              <a:rPr lang="en-US" dirty="0"/>
              <a:t>) as a sum of </a:t>
            </a:r>
            <a:r>
              <a:rPr lang="en-US" dirty="0" err="1"/>
              <a:t>minterms</a:t>
            </a:r>
            <a:r>
              <a:rPr lang="en-US" dirty="0"/>
              <a:t> and as a product of </a:t>
            </a:r>
            <a:r>
              <a:rPr lang="en-US" dirty="0" err="1"/>
              <a:t>maxterms</a:t>
            </a:r>
            <a:r>
              <a:rPr lang="en-US" dirty="0"/>
              <a:t>: </a:t>
            </a:r>
          </a:p>
          <a:p>
            <a:pPr lvl="1"/>
            <a:r>
              <a:rPr lang="en-US" sz="2400" i="1" dirty="0"/>
              <a:t>F = B'D + A'D + BD</a:t>
            </a:r>
          </a:p>
          <a:p>
            <a:pPr lvl="1"/>
            <a:endParaRPr lang="en-US" sz="2400" i="1" dirty="0"/>
          </a:p>
          <a:p>
            <a:r>
              <a:rPr lang="en-US" i="1" dirty="0"/>
              <a:t>F  = </a:t>
            </a:r>
            <a:r>
              <a:rPr lang="pl-PL" dirty="0"/>
              <a:t>∑</a:t>
            </a:r>
            <a:r>
              <a:rPr lang="en-US" dirty="0"/>
              <a:t>(1, 3, 5, 7, 9, 11,13, 15) </a:t>
            </a:r>
          </a:p>
          <a:p>
            <a:pPr>
              <a:buNone/>
            </a:pPr>
            <a:r>
              <a:rPr lang="en-US" i="1" dirty="0"/>
              <a:t>	    = </a:t>
            </a:r>
            <a:r>
              <a:rPr lang="en-US" dirty="0">
                <a:sym typeface="WP Greek Century" pitchFamily="2" charset="2"/>
              </a:rPr>
              <a:t>∏</a:t>
            </a:r>
            <a:r>
              <a:rPr lang="en-US" dirty="0"/>
              <a:t>(0, 2, 4, 6, 8, 10, 12, 14)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Any </a:t>
            </a:r>
            <a:r>
              <a:rPr lang="en-US" dirty="0" err="1"/>
              <a:t>boolean</a:t>
            </a:r>
            <a:r>
              <a:rPr lang="en-US" dirty="0"/>
              <a:t> function that is expressed as a </a:t>
            </a:r>
            <a:r>
              <a:rPr lang="en-US" b="1" dirty="0"/>
              <a:t>sum of products (SOP)</a:t>
            </a:r>
            <a:r>
              <a:rPr lang="en-US" dirty="0"/>
              <a:t> or as a</a:t>
            </a:r>
            <a:r>
              <a:rPr lang="en-US" b="1" dirty="0"/>
              <a:t> product of sums (POS)</a:t>
            </a:r>
            <a:r>
              <a:rPr lang="en-US" dirty="0"/>
              <a:t>, where each product-term or sum-term may contain one, two, or any number of variables, is said to be in its </a:t>
            </a:r>
            <a:r>
              <a:rPr lang="en-US" b="1" dirty="0"/>
              <a:t>standard form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SOP: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 err="1"/>
              <a:t>,</a:t>
            </a:r>
            <a:r>
              <a:rPr lang="en-US" i="1" dirty="0" err="1"/>
              <a:t>z</a:t>
            </a:r>
            <a:r>
              <a:rPr lang="en-US" dirty="0"/>
              <a:t>) = </a:t>
            </a:r>
            <a:r>
              <a:rPr lang="en-US" i="1" dirty="0" err="1"/>
              <a:t>xy</a:t>
            </a:r>
            <a:r>
              <a:rPr lang="en-US" dirty="0"/>
              <a:t> + </a:t>
            </a:r>
            <a:r>
              <a:rPr lang="en-US" i="1" dirty="0" err="1"/>
              <a:t>x’yz</a:t>
            </a:r>
            <a:r>
              <a:rPr lang="en-US" dirty="0"/>
              <a:t> + </a:t>
            </a:r>
            <a:r>
              <a:rPr lang="en-US" i="1" dirty="0" err="1"/>
              <a:t>xy’z</a:t>
            </a:r>
            <a:endParaRPr lang="en-US" i="1" dirty="0"/>
          </a:p>
          <a:p>
            <a:r>
              <a:rPr lang="en-US" dirty="0"/>
              <a:t>POS: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 err="1"/>
              <a:t>x</a:t>
            </a:r>
            <a:r>
              <a:rPr lang="en-US" dirty="0" err="1"/>
              <a:t>,</a:t>
            </a:r>
            <a:r>
              <a:rPr lang="en-US" i="1" dirty="0" err="1"/>
              <a:t>y</a:t>
            </a:r>
            <a:r>
              <a:rPr lang="en-US" dirty="0" err="1"/>
              <a:t>,</a:t>
            </a:r>
            <a:r>
              <a:rPr lang="en-US" i="1" dirty="0" err="1"/>
              <a:t>z</a:t>
            </a:r>
            <a:r>
              <a:rPr lang="en-US" dirty="0"/>
              <a:t>) = (</a:t>
            </a:r>
            <a:r>
              <a:rPr lang="en-US" i="1" dirty="0"/>
              <a:t>x’</a:t>
            </a:r>
            <a:r>
              <a:rPr lang="en-US" dirty="0"/>
              <a:t> + </a:t>
            </a:r>
            <a:r>
              <a:rPr lang="en-US" i="1" dirty="0"/>
              <a:t>y’</a:t>
            </a:r>
            <a:r>
              <a:rPr lang="en-US" dirty="0"/>
              <a:t>)(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y’</a:t>
            </a:r>
            <a:r>
              <a:rPr lang="en-US" dirty="0"/>
              <a:t> + </a:t>
            </a:r>
            <a:r>
              <a:rPr lang="en-US" i="1" dirty="0"/>
              <a:t>z’</a:t>
            </a:r>
            <a:r>
              <a:rPr lang="en-US" dirty="0"/>
              <a:t>)(</a:t>
            </a:r>
            <a:r>
              <a:rPr lang="en-US" i="1" dirty="0"/>
              <a:t>x’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 + </a:t>
            </a:r>
            <a:r>
              <a:rPr lang="en-US" i="1" dirty="0"/>
              <a:t>z’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Non-Standard and Standard Forms</a:t>
            </a:r>
          </a:p>
        </p:txBody>
      </p:sp>
      <p:pic>
        <p:nvPicPr>
          <p:cNvPr id="5" name="Picture 2" descr="C:\jobs\Marries\ch02\tiff\AACFLMR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14625"/>
            <a:ext cx="8226425" cy="2543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Practice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dirty="0"/>
              <a:t>Convert the following expression into sum of products and product of sums:</a:t>
            </a:r>
          </a:p>
          <a:p>
            <a:pPr lvl="1"/>
            <a:r>
              <a:rPr lang="de-DE" sz="2400" dirty="0"/>
              <a:t>(</a:t>
            </a:r>
            <a:r>
              <a:rPr lang="de-DE" sz="2400" i="1" dirty="0"/>
              <a:t>AB + C</a:t>
            </a:r>
            <a:r>
              <a:rPr lang="de-DE" sz="2400" dirty="0"/>
              <a:t>)(</a:t>
            </a:r>
            <a:r>
              <a:rPr lang="de-DE" sz="2400" i="1" dirty="0"/>
              <a:t>B + C'D</a:t>
            </a:r>
            <a:r>
              <a:rPr lang="de-DE" sz="2400" dirty="0"/>
              <a:t>)</a:t>
            </a:r>
            <a:r>
              <a:rPr lang="de-DE" sz="2400" i="1" dirty="0"/>
              <a:t> </a:t>
            </a:r>
          </a:p>
          <a:p>
            <a:endParaRPr lang="en-US" dirty="0"/>
          </a:p>
          <a:p>
            <a:r>
              <a:rPr lang="de-DE" dirty="0"/>
              <a:t>(</a:t>
            </a:r>
            <a:r>
              <a:rPr lang="de-DE" i="1" dirty="0"/>
              <a:t>AB + C</a:t>
            </a:r>
            <a:r>
              <a:rPr lang="de-DE" dirty="0"/>
              <a:t>)(</a:t>
            </a:r>
            <a:r>
              <a:rPr lang="de-DE" i="1" dirty="0"/>
              <a:t>B + C'D</a:t>
            </a:r>
            <a:r>
              <a:rPr lang="de-DE" dirty="0"/>
              <a:t>)</a:t>
            </a:r>
            <a:r>
              <a:rPr lang="de-DE" i="1" dirty="0"/>
              <a:t> </a:t>
            </a:r>
          </a:p>
          <a:p>
            <a:pPr>
              <a:buNone/>
            </a:pPr>
            <a:r>
              <a:rPr lang="de-DE" i="1" dirty="0"/>
              <a:t>	= AB + BC + ABC'D + CC'D </a:t>
            </a:r>
          </a:p>
          <a:p>
            <a:pPr>
              <a:buNone/>
            </a:pPr>
            <a:r>
              <a:rPr lang="de-DE" i="1" dirty="0"/>
              <a:t>	= AB</a:t>
            </a:r>
            <a:r>
              <a:rPr lang="de-DE" dirty="0"/>
              <a:t>(</a:t>
            </a:r>
            <a:r>
              <a:rPr lang="de-DE" i="1" dirty="0"/>
              <a:t>1 + C'D</a:t>
            </a:r>
            <a:r>
              <a:rPr lang="de-DE" dirty="0"/>
              <a:t>)</a:t>
            </a:r>
            <a:r>
              <a:rPr lang="de-DE" i="1" dirty="0"/>
              <a:t> + BC</a:t>
            </a:r>
          </a:p>
          <a:p>
            <a:pPr>
              <a:buNone/>
            </a:pPr>
            <a:r>
              <a:rPr lang="en-US" i="1" dirty="0"/>
              <a:t>	= AB + BC </a:t>
            </a:r>
            <a:r>
              <a:rPr lang="en-US" dirty="0"/>
              <a:t>(</a:t>
            </a:r>
            <a:r>
              <a:rPr lang="en-US" i="1" dirty="0"/>
              <a:t>SOP form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i="1" dirty="0"/>
              <a:t>	= B</a:t>
            </a:r>
            <a:r>
              <a:rPr lang="en-US" dirty="0"/>
              <a:t>(</a:t>
            </a:r>
            <a:r>
              <a:rPr lang="en-US" i="1" dirty="0"/>
              <a:t>A + C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POS form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and Standard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Canonical forms</a:t>
            </a:r>
          </a:p>
          <a:p>
            <a:pPr lvl="1"/>
            <a:r>
              <a:rPr lang="en-US" dirty="0"/>
              <a:t>Sum of </a:t>
            </a:r>
            <a:r>
              <a:rPr lang="en-US" dirty="0" err="1"/>
              <a:t>minterms</a:t>
            </a:r>
            <a:r>
              <a:rPr lang="en-US" dirty="0"/>
              <a:t> (SOM)</a:t>
            </a:r>
          </a:p>
          <a:p>
            <a:pPr lvl="1"/>
            <a:r>
              <a:rPr lang="en-US" dirty="0"/>
              <a:t>Product of </a:t>
            </a:r>
            <a:r>
              <a:rPr lang="en-US" dirty="0" err="1"/>
              <a:t>maxterms</a:t>
            </a:r>
            <a:r>
              <a:rPr lang="en-US" dirty="0"/>
              <a:t> (POM)</a:t>
            </a:r>
          </a:p>
          <a:p>
            <a:r>
              <a:rPr lang="en-US" dirty="0"/>
              <a:t>Standard forms (may use less gates)</a:t>
            </a:r>
          </a:p>
          <a:p>
            <a:pPr lvl="1"/>
            <a:r>
              <a:rPr lang="en-US" dirty="0"/>
              <a:t>Sum of products (SOP)</a:t>
            </a:r>
          </a:p>
          <a:p>
            <a:pPr lvl="1"/>
            <a:r>
              <a:rPr lang="en-US" dirty="0"/>
              <a:t>Product of sums (POS)</a:t>
            </a:r>
          </a:p>
          <a:p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i="1" dirty="0" err="1"/>
              <a:t>ab</a:t>
            </a:r>
            <a:r>
              <a:rPr lang="en-US" dirty="0" err="1"/>
              <a:t>+</a:t>
            </a:r>
            <a:r>
              <a:rPr lang="en-US" i="1" dirty="0" err="1"/>
              <a:t>a</a:t>
            </a:r>
            <a:r>
              <a:rPr lang="en-US" dirty="0"/>
              <a:t>’ (already </a:t>
            </a:r>
            <a:r>
              <a:rPr lang="en-US" b="1" dirty="0"/>
              <a:t>sum of </a:t>
            </a:r>
            <a:r>
              <a:rPr lang="en-US" b="1" dirty="0" err="1"/>
              <a:t>products:SOP</a:t>
            </a:r>
            <a:r>
              <a:rPr lang="en-US" b="1" dirty="0"/>
              <a:t>)</a:t>
            </a:r>
          </a:p>
          <a:p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i="1" dirty="0" err="1"/>
              <a:t>ab</a:t>
            </a:r>
            <a:r>
              <a:rPr lang="en-US" dirty="0"/>
              <a:t> + </a:t>
            </a:r>
            <a:r>
              <a:rPr lang="en-US" i="1" dirty="0"/>
              <a:t>a’</a:t>
            </a:r>
            <a:r>
              <a:rPr lang="en-US" dirty="0"/>
              <a:t>(</a:t>
            </a:r>
            <a:r>
              <a:rPr lang="en-US" i="1" dirty="0" err="1"/>
              <a:t>b</a:t>
            </a:r>
            <a:r>
              <a:rPr lang="en-US" dirty="0" err="1"/>
              <a:t>+b</a:t>
            </a:r>
            <a:r>
              <a:rPr lang="en-US" dirty="0"/>
              <a:t>’) (expanding term)</a:t>
            </a:r>
          </a:p>
          <a:p>
            <a:r>
              <a:rPr lang="en-US" i="1" dirty="0"/>
              <a:t>F</a:t>
            </a:r>
            <a:r>
              <a:rPr lang="en-US" dirty="0"/>
              <a:t> = </a:t>
            </a:r>
            <a:r>
              <a:rPr lang="en-US" i="1" dirty="0" err="1"/>
              <a:t>ab</a:t>
            </a:r>
            <a:r>
              <a:rPr lang="en-US" dirty="0"/>
              <a:t> + </a:t>
            </a:r>
            <a:r>
              <a:rPr lang="en-US" dirty="0" err="1"/>
              <a:t>a’b</a:t>
            </a:r>
            <a:r>
              <a:rPr lang="en-US" dirty="0"/>
              <a:t> + </a:t>
            </a:r>
            <a:r>
              <a:rPr lang="en-US" dirty="0" err="1"/>
              <a:t>a’b</a:t>
            </a:r>
            <a:r>
              <a:rPr lang="en-US" dirty="0"/>
              <a:t>’ (it is </a:t>
            </a:r>
            <a:r>
              <a:rPr lang="en-US" b="1" dirty="0"/>
              <a:t>canonical </a:t>
            </a:r>
            <a:r>
              <a:rPr lang="en-US" b="1" dirty="0" err="1"/>
              <a:t>form:SOM</a:t>
            </a:r>
            <a:r>
              <a:rPr lang="en-US" b="1" dirty="0"/>
              <a:t>)</a:t>
            </a:r>
            <a:endParaRPr lang="id-ID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Other Logic Operations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3203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zh-TW" altLang="en-US" dirty="0">
                <a:ea typeface="新細明體" pitchFamily="18" charset="-120"/>
              </a:rPr>
              <a:t>2</a:t>
            </a:r>
            <a:r>
              <a:rPr lang="en-US" altLang="zh-TW" i="1" baseline="40000" dirty="0">
                <a:ea typeface="新細明體" pitchFamily="18" charset="-120"/>
              </a:rPr>
              <a:t>n</a:t>
            </a:r>
            <a:r>
              <a:rPr lang="en-US" altLang="zh-TW" dirty="0">
                <a:ea typeface="新細明體" pitchFamily="18" charset="-120"/>
              </a:rPr>
              <a:t> rows in the truth table of </a:t>
            </a:r>
            <a:r>
              <a:rPr lang="en-US" altLang="zh-TW" i="1" dirty="0">
                <a:ea typeface="新細明體" pitchFamily="18" charset="-120"/>
              </a:rPr>
              <a:t>n</a:t>
            </a:r>
            <a:r>
              <a:rPr lang="en-US" altLang="zh-TW" dirty="0">
                <a:ea typeface="新細明體" pitchFamily="18" charset="-120"/>
              </a:rPr>
              <a:t> binary variables.</a:t>
            </a:r>
          </a:p>
          <a:p>
            <a:r>
              <a:rPr lang="zh-TW" altLang="en-US" dirty="0" smtClean="0">
                <a:solidFill>
                  <a:srgbClr val="FF0000"/>
                </a:solidFill>
                <a:ea typeface="新細明體" pitchFamily="18" charset="-120"/>
              </a:rPr>
              <a:t>2</a:t>
            </a:r>
            <a:r>
              <a:rPr lang="zh-TW" altLang="en-US" baseline="30000" dirty="0" smtClean="0">
                <a:solidFill>
                  <a:srgbClr val="FF0000"/>
                </a:solidFill>
                <a:ea typeface="新細明體" pitchFamily="18" charset="-120"/>
              </a:rPr>
              <a:t>2</a:t>
            </a:r>
            <a:r>
              <a:rPr lang="en-US" altLang="zh-TW" baseline="30000" dirty="0" smtClean="0">
                <a:solidFill>
                  <a:srgbClr val="FF0000"/>
                </a:solidFill>
                <a:ea typeface="新細明體" pitchFamily="18" charset="-120"/>
              </a:rPr>
              <a:t>^</a:t>
            </a:r>
            <a:r>
              <a:rPr lang="en-US" altLang="zh-TW" i="1" baseline="30000" dirty="0" smtClean="0">
                <a:solidFill>
                  <a:srgbClr val="FF0000"/>
                </a:solidFill>
                <a:ea typeface="新細明體" pitchFamily="18" charset="-120"/>
              </a:rPr>
              <a:t>n</a:t>
            </a:r>
            <a:r>
              <a:rPr lang="en-US" altLang="zh-TW" dirty="0" smtClean="0"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functions for </a:t>
            </a:r>
            <a:r>
              <a:rPr lang="en-US" altLang="zh-TW" i="1" dirty="0">
                <a:ea typeface="新細明體" pitchFamily="18" charset="-120"/>
              </a:rPr>
              <a:t>n</a:t>
            </a:r>
            <a:r>
              <a:rPr lang="en-US" altLang="zh-TW" dirty="0">
                <a:ea typeface="新細明體" pitchFamily="18" charset="-120"/>
              </a:rPr>
              <a:t> binary variables.</a:t>
            </a:r>
          </a:p>
          <a:p>
            <a:r>
              <a:rPr lang="zh-TW" altLang="en-US" dirty="0">
                <a:ea typeface="新細明體" pitchFamily="18" charset="-120"/>
              </a:rPr>
              <a:t>16 </a:t>
            </a:r>
            <a:r>
              <a:rPr lang="en-US" altLang="zh-TW" dirty="0">
                <a:ea typeface="新細明體" pitchFamily="18" charset="-120"/>
              </a:rPr>
              <a:t>functions of two binary variables.</a:t>
            </a: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563204" name="Picture 5"/>
          <p:cNvPicPr>
            <a:picLocks noChangeAspect="1" noChangeArrowheads="1"/>
          </p:cNvPicPr>
          <p:nvPr/>
        </p:nvPicPr>
        <p:blipFill>
          <a:blip r:embed="rId2" cstate="print">
            <a:lum bright="-26000" contrast="56000"/>
          </a:blip>
          <a:srcRect/>
          <a:stretch>
            <a:fillRect/>
          </a:stretch>
        </p:blipFill>
        <p:spPr bwMode="auto">
          <a:xfrm>
            <a:off x="244475" y="3244850"/>
            <a:ext cx="8497888" cy="25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>
                <a:ea typeface="新細明體" pitchFamily="18" charset="-120"/>
              </a:rPr>
              <a:t>Boolean Expressions</a:t>
            </a:r>
            <a:endParaRPr lang="zh-TW" altLang="en-US" sz="2500">
              <a:ea typeface="新細明體" pitchFamily="18" charset="-120"/>
            </a:endParaRPr>
          </a:p>
        </p:txBody>
      </p:sp>
      <p:sp>
        <p:nvSpPr>
          <p:cNvPr id="564227" name="內容版面配置區 2"/>
          <p:cNvSpPr>
            <a:spLocks noGrp="1"/>
          </p:cNvSpPr>
          <p:nvPr>
            <p:ph idx="4294967295"/>
          </p:nvPr>
        </p:nvSpPr>
        <p:spPr/>
        <p:txBody>
          <a:bodyPr lIns="90488" tIns="44450" rIns="90488" bIns="44450"/>
          <a:lstStyle/>
          <a:p>
            <a:endParaRPr lang="zh-TW" altLang="en-US">
              <a:ea typeface="新細明體" pitchFamily="18" charset="-120"/>
            </a:endParaRPr>
          </a:p>
        </p:txBody>
      </p:sp>
      <p:pic>
        <p:nvPicPr>
          <p:cNvPr id="564228" name="Picture 5"/>
          <p:cNvPicPr>
            <a:picLocks noChangeAspect="1" noChangeArrowheads="1"/>
          </p:cNvPicPr>
          <p:nvPr/>
        </p:nvPicPr>
        <p:blipFill>
          <a:blip r:embed="rId2" cstate="print">
            <a:lum bright="-28000" contrast="54000"/>
          </a:blip>
          <a:srcRect/>
          <a:stretch>
            <a:fillRect/>
          </a:stretch>
        </p:blipFill>
        <p:spPr bwMode="auto">
          <a:xfrm>
            <a:off x="496888" y="1517318"/>
            <a:ext cx="7595056" cy="49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Digital Logic Gates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5251" name="內容版面配置區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7689273" cy="4873752"/>
          </a:xfrm>
        </p:spPr>
        <p:txBody>
          <a:bodyPr lIns="90488" tIns="44450" rIns="90488" bIns="44450"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Boolean expression: AND, OR and NOT operations</a:t>
            </a:r>
          </a:p>
          <a:p>
            <a:r>
              <a:rPr lang="en-US" altLang="zh-TW" dirty="0">
                <a:ea typeface="新細明體" pitchFamily="18" charset="-120"/>
              </a:rPr>
              <a:t>Constructing gates of other logic operations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feasibility and economy;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possibility of extending gate's inputs;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basic properties of the binary operations (commutative and associative);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ability of the gate to implement Boolean functions.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298" name="Picture 3"/>
          <p:cNvPicPr>
            <a:picLocks noChangeAspect="1" noChangeArrowheads="1"/>
          </p:cNvPicPr>
          <p:nvPr/>
        </p:nvPicPr>
        <p:blipFill>
          <a:blip r:embed="rId2" cstate="print">
            <a:lum bright="-6000" contrast="18000"/>
          </a:blip>
          <a:srcRect/>
          <a:stretch>
            <a:fillRect/>
          </a:stretch>
        </p:blipFill>
        <p:spPr bwMode="auto">
          <a:xfrm>
            <a:off x="1227638" y="1478475"/>
            <a:ext cx="624205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7299" name="Text Box 4"/>
          <p:cNvSpPr txBox="1">
            <a:spLocks noChangeArrowheads="1"/>
          </p:cNvSpPr>
          <p:nvPr/>
        </p:nvSpPr>
        <p:spPr bwMode="auto">
          <a:xfrm>
            <a:off x="3046413" y="6319838"/>
            <a:ext cx="28844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Times New Roman" pitchFamily="18" charset="0"/>
                <a:ea typeface="新細明體" pitchFamily="18" charset="-120"/>
                <a:cs typeface="Angsana New" pitchFamily="18" charset="-34"/>
              </a:rPr>
              <a:t>Figure 2.5 Digital logic gates</a:t>
            </a:r>
          </a:p>
        </p:txBody>
      </p:sp>
      <p:sp>
        <p:nvSpPr>
          <p:cNvPr id="567300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Summary of Logic Gates</a:t>
            </a:r>
            <a:endParaRPr lang="zh-TW" altLang="en-US" sz="2500" dirty="0">
              <a:ea typeface="新細明體" pitchFamily="18" charset="-12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322" name="Picture 3"/>
          <p:cNvPicPr>
            <a:picLocks noChangeAspect="1" noChangeArrowheads="1"/>
          </p:cNvPicPr>
          <p:nvPr/>
        </p:nvPicPr>
        <p:blipFill>
          <a:blip r:embed="rId3" cstate="print">
            <a:lum bright="-6000" contrast="20000"/>
          </a:blip>
          <a:srcRect/>
          <a:stretch>
            <a:fillRect/>
          </a:stretch>
        </p:blipFill>
        <p:spPr bwMode="auto">
          <a:xfrm>
            <a:off x="1225296" y="1481328"/>
            <a:ext cx="5951859" cy="4864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8323" name="Text Box 4"/>
          <p:cNvSpPr txBox="1">
            <a:spLocks noChangeArrowheads="1"/>
          </p:cNvSpPr>
          <p:nvPr/>
        </p:nvSpPr>
        <p:spPr bwMode="auto">
          <a:xfrm>
            <a:off x="3046413" y="6269038"/>
            <a:ext cx="288448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>
                <a:latin typeface="Times New Roman" pitchFamily="18" charset="0"/>
                <a:ea typeface="新細明體" pitchFamily="18" charset="-120"/>
                <a:cs typeface="Angsana New" pitchFamily="18" charset="-34"/>
              </a:rPr>
              <a:t>Figure 2.5 Digital logic gates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新細明體" pitchFamily="18" charset="-120"/>
                <a:cs typeface="+mj-cs"/>
              </a:rPr>
              <a:t>Summary of Logic Gates</a:t>
            </a:r>
            <a:endParaRPr kumimoji="0" lang="zh-TW" altLang="en-US" sz="25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新細明體" pitchFamily="18" charset="-120"/>
              <a:cs typeface="+mj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Multiple Inputs</a:t>
            </a:r>
            <a:endParaRPr lang="zh-TW" altLang="en-US" sz="2500" dirty="0">
              <a:ea typeface="新細明體" pitchFamily="18" charset="-120"/>
            </a:endParaRPr>
          </a:p>
        </p:txBody>
      </p:sp>
      <p:sp>
        <p:nvSpPr>
          <p:cNvPr id="569347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/>
          <a:lstStyle/>
          <a:p>
            <a:r>
              <a:rPr lang="en-US" altLang="zh-TW" dirty="0">
                <a:ea typeface="新細明體" pitchFamily="18" charset="-120"/>
              </a:rPr>
              <a:t>Extension to multiple inputs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A gate can be extended to multiple inputs.</a:t>
            </a:r>
          </a:p>
          <a:p>
            <a:pPr lvl="2"/>
            <a:r>
              <a:rPr lang="en-US" altLang="zh-TW" sz="2400" dirty="0">
                <a:ea typeface="新細明體" pitchFamily="18" charset="-120"/>
              </a:rPr>
              <a:t>If its binary operation is commutative and associative.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AND </a:t>
            </a:r>
            <a:r>
              <a:rPr lang="en-US" altLang="zh-TW" sz="2400" dirty="0" err="1">
                <a:ea typeface="新細明體" pitchFamily="18" charset="-120"/>
              </a:rPr>
              <a:t>and</a:t>
            </a:r>
            <a:r>
              <a:rPr lang="en-US" altLang="zh-TW" sz="2400" dirty="0">
                <a:ea typeface="新細明體" pitchFamily="18" charset="-120"/>
              </a:rPr>
              <a:t> OR are commutative and associative.</a:t>
            </a:r>
          </a:p>
          <a:p>
            <a:pPr lvl="2"/>
            <a:r>
              <a:rPr lang="en-US" altLang="zh-TW" sz="2400" dirty="0">
                <a:ea typeface="新細明體" pitchFamily="18" charset="-120"/>
              </a:rPr>
              <a:t>OR</a:t>
            </a:r>
          </a:p>
          <a:p>
            <a:pPr lvl="3"/>
            <a:r>
              <a:rPr lang="en-US" altLang="zh-TW" sz="2400" i="1" dirty="0" err="1">
                <a:ea typeface="新細明體" pitchFamily="18" charset="-120"/>
              </a:rPr>
              <a:t>x+y</a:t>
            </a:r>
            <a:r>
              <a:rPr lang="en-US" altLang="zh-TW" sz="2400" i="1" dirty="0">
                <a:ea typeface="新細明體" pitchFamily="18" charset="-120"/>
              </a:rPr>
              <a:t> = </a:t>
            </a:r>
            <a:r>
              <a:rPr lang="en-US" altLang="zh-TW" sz="2400" i="1" dirty="0" err="1">
                <a:ea typeface="新細明體" pitchFamily="18" charset="-120"/>
              </a:rPr>
              <a:t>y+x</a:t>
            </a:r>
            <a:endParaRPr lang="en-US" altLang="zh-TW" sz="2400" i="1" dirty="0">
              <a:ea typeface="新細明體" pitchFamily="18" charset="-120"/>
            </a:endParaRPr>
          </a:p>
          <a:p>
            <a:pPr lvl="3"/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i="1" dirty="0" err="1">
                <a:ea typeface="新細明體" pitchFamily="18" charset="-120"/>
              </a:rPr>
              <a:t>x+y</a:t>
            </a:r>
            <a:r>
              <a:rPr lang="en-US" altLang="zh-TW" sz="2400" dirty="0">
                <a:ea typeface="新細明體" pitchFamily="18" charset="-120"/>
              </a:rPr>
              <a:t>)</a:t>
            </a:r>
            <a:r>
              <a:rPr lang="en-US" altLang="zh-TW" sz="2400" i="1" dirty="0">
                <a:ea typeface="新細明體" pitchFamily="18" charset="-120"/>
              </a:rPr>
              <a:t>+z = x+</a:t>
            </a:r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i="1" dirty="0" err="1">
                <a:ea typeface="新細明體" pitchFamily="18" charset="-120"/>
              </a:rPr>
              <a:t>y+z</a:t>
            </a:r>
            <a:r>
              <a:rPr lang="en-US" altLang="zh-TW" sz="2400" dirty="0">
                <a:ea typeface="新細明體" pitchFamily="18" charset="-120"/>
              </a:rPr>
              <a:t>)</a:t>
            </a:r>
            <a:r>
              <a:rPr lang="en-US" altLang="zh-TW" sz="2400" i="1" dirty="0">
                <a:ea typeface="新細明體" pitchFamily="18" charset="-120"/>
              </a:rPr>
              <a:t> = </a:t>
            </a:r>
            <a:r>
              <a:rPr lang="en-US" altLang="zh-TW" sz="2400" i="1" dirty="0" err="1">
                <a:ea typeface="新細明體" pitchFamily="18" charset="-120"/>
              </a:rPr>
              <a:t>x+y+z</a:t>
            </a:r>
            <a:endParaRPr lang="en-US" altLang="zh-TW" sz="2400" i="1" dirty="0">
              <a:ea typeface="新細明體" pitchFamily="18" charset="-120"/>
            </a:endParaRPr>
          </a:p>
          <a:p>
            <a:pPr lvl="2"/>
            <a:r>
              <a:rPr lang="en-US" altLang="zh-TW" sz="2400" dirty="0">
                <a:ea typeface="新細明體" pitchFamily="18" charset="-120"/>
              </a:rPr>
              <a:t>AND</a:t>
            </a:r>
          </a:p>
          <a:p>
            <a:pPr lvl="3"/>
            <a:r>
              <a:rPr lang="en-US" altLang="zh-TW" sz="2400" i="1" dirty="0" err="1">
                <a:ea typeface="新細明體" pitchFamily="18" charset="-120"/>
              </a:rPr>
              <a:t>xy</a:t>
            </a:r>
            <a:r>
              <a:rPr lang="en-US" altLang="zh-TW" sz="2400" i="1" dirty="0">
                <a:ea typeface="新細明體" pitchFamily="18" charset="-120"/>
              </a:rPr>
              <a:t> = </a:t>
            </a:r>
            <a:r>
              <a:rPr lang="en-US" altLang="zh-TW" sz="2400" i="1" dirty="0" err="1">
                <a:ea typeface="新細明體" pitchFamily="18" charset="-120"/>
              </a:rPr>
              <a:t>yx</a:t>
            </a:r>
            <a:endParaRPr lang="en-US" altLang="zh-TW" sz="2400" i="1" dirty="0">
              <a:ea typeface="新細明體" pitchFamily="18" charset="-120"/>
            </a:endParaRPr>
          </a:p>
          <a:p>
            <a:pPr lvl="3"/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i="1" dirty="0">
                <a:ea typeface="新細明體" pitchFamily="18" charset="-120"/>
              </a:rPr>
              <a:t>x y</a:t>
            </a:r>
            <a:r>
              <a:rPr lang="en-US" altLang="zh-TW" sz="2400" dirty="0">
                <a:ea typeface="新細明體" pitchFamily="18" charset="-120"/>
              </a:rPr>
              <a:t>)</a:t>
            </a:r>
            <a:r>
              <a:rPr lang="en-US" altLang="zh-TW" sz="2400" i="1" dirty="0">
                <a:ea typeface="新細明體" pitchFamily="18" charset="-120"/>
              </a:rPr>
              <a:t>z = x</a:t>
            </a:r>
            <a:r>
              <a:rPr lang="en-US" altLang="zh-TW" sz="2400" dirty="0">
                <a:ea typeface="新細明體" pitchFamily="18" charset="-120"/>
              </a:rPr>
              <a:t>(</a:t>
            </a:r>
            <a:r>
              <a:rPr lang="en-US" altLang="zh-TW" sz="2400" i="1" dirty="0">
                <a:ea typeface="新細明體" pitchFamily="18" charset="-120"/>
              </a:rPr>
              <a:t>y z</a:t>
            </a:r>
            <a:r>
              <a:rPr lang="en-US" altLang="zh-TW" sz="2400" dirty="0">
                <a:ea typeface="新細明體" pitchFamily="18" charset="-120"/>
              </a:rPr>
              <a:t>)</a:t>
            </a:r>
            <a:r>
              <a:rPr lang="en-US" altLang="zh-TW" sz="2400" i="1" dirty="0">
                <a:ea typeface="新細明體" pitchFamily="18" charset="-120"/>
              </a:rPr>
              <a:t> = x y z</a:t>
            </a:r>
          </a:p>
          <a:p>
            <a:endParaRPr lang="zh-TW" altLang="en-US" dirty="0">
              <a:ea typeface="新細明體" pitchFamily="18" charset="-12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>
                <a:ea typeface="新細明體" pitchFamily="18" charset="-120"/>
              </a:rPr>
              <a:t>Multiple Inputs</a:t>
            </a:r>
            <a:endParaRPr lang="zh-TW" altLang="en-US">
              <a:ea typeface="新細明體" pitchFamily="18" charset="-120"/>
            </a:endParaRPr>
          </a:p>
        </p:txBody>
      </p:sp>
      <p:sp>
        <p:nvSpPr>
          <p:cNvPr id="5703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/>
          <a:lstStyle/>
          <a:p>
            <a:r>
              <a:rPr lang="en-US" altLang="zh-TW" dirty="0">
                <a:ea typeface="新細明體" pitchFamily="18" charset="-120"/>
              </a:rPr>
              <a:t>NAND and NOR are commutative but not associative → they are not extendable.</a:t>
            </a:r>
          </a:p>
          <a:p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570372" name="Picture 6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106439" y="2467510"/>
            <a:ext cx="6165416" cy="1489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0373" name="Picture 7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003251" y="4404846"/>
            <a:ext cx="6347576" cy="151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Multiple Inputs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571395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689273" cy="4873752"/>
          </a:xfrm>
        </p:spPr>
        <p:txBody>
          <a:bodyPr lIns="90488" tIns="44450" rIns="90488" bIns="44450"/>
          <a:lstStyle/>
          <a:p>
            <a:r>
              <a:rPr lang="en-US" altLang="zh-TW" dirty="0">
                <a:ea typeface="新細明體" pitchFamily="18" charset="-120"/>
              </a:rPr>
              <a:t>Multiple NOR = a complement of OR gate, Multiple NAND = a complement of AND.</a:t>
            </a:r>
          </a:p>
          <a:p>
            <a:r>
              <a:rPr lang="en-US" altLang="zh-TW" dirty="0">
                <a:ea typeface="新細明體" pitchFamily="18" charset="-120"/>
              </a:rPr>
              <a:t>The cascaded NAND operations = sum of products.</a:t>
            </a:r>
          </a:p>
          <a:p>
            <a:r>
              <a:rPr lang="en-US" altLang="zh-TW" dirty="0">
                <a:ea typeface="新細明體" pitchFamily="18" charset="-120"/>
              </a:rPr>
              <a:t>The cascaded NOR operations = product of sums.</a:t>
            </a:r>
          </a:p>
          <a:p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571396" name="Picture 8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268495" y="3525364"/>
            <a:ext cx="5495385" cy="830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1397" name="Picture 9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193883" y="4715990"/>
            <a:ext cx="5693806" cy="1524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>
                <a:ea typeface="新細明體" pitchFamily="18" charset="-120"/>
              </a:rPr>
              <a:t>Multiple Inputs</a:t>
            </a:r>
            <a:endParaRPr lang="zh-TW" altLang="en-US">
              <a:ea typeface="新細明體" pitchFamily="18" charset="-120"/>
            </a:endParaRPr>
          </a:p>
        </p:txBody>
      </p:sp>
      <p:sp>
        <p:nvSpPr>
          <p:cNvPr id="572419" name="內容版面配置區 2"/>
          <p:cNvSpPr>
            <a:spLocks noGrp="1"/>
          </p:cNvSpPr>
          <p:nvPr>
            <p:ph idx="4294967295"/>
          </p:nvPr>
        </p:nvSpPr>
        <p:spPr>
          <a:xfrm>
            <a:off x="457199" y="1600200"/>
            <a:ext cx="7748649" cy="4873752"/>
          </a:xfrm>
        </p:spPr>
        <p:txBody>
          <a:bodyPr lIns="90488" tIns="44450" rIns="90488" bIns="44450"/>
          <a:lstStyle/>
          <a:p>
            <a:r>
              <a:rPr lang="en-US" altLang="zh-TW" dirty="0">
                <a:ea typeface="新細明體" pitchFamily="18" charset="-120"/>
              </a:rPr>
              <a:t>The XOR and XNOR gates are commutative and associative.</a:t>
            </a:r>
          </a:p>
          <a:p>
            <a:r>
              <a:rPr lang="en-US" altLang="zh-TW" dirty="0">
                <a:ea typeface="新細明體" pitchFamily="18" charset="-120"/>
              </a:rPr>
              <a:t>Multiple-input XOR gates </a:t>
            </a:r>
            <a:r>
              <a:rPr lang="en-US" altLang="zh-TW">
                <a:ea typeface="新細明體" pitchFamily="18" charset="-120"/>
              </a:rPr>
              <a:t>are uncommon</a:t>
            </a:r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>
                <a:ea typeface="新細明體" pitchFamily="18" charset="-120"/>
              </a:rPr>
              <a:t>XOR is an odd function: it is equal to 1 if the inputs variables have an odd number of 1's.</a:t>
            </a:r>
            <a:endParaRPr lang="zh-TW" altLang="en-US" dirty="0"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pic>
        <p:nvPicPr>
          <p:cNvPr id="572420" name="Picture 6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092539" y="3778448"/>
            <a:ext cx="6519545" cy="2605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標題 1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/>
          <a:lstStyle/>
          <a:p>
            <a:r>
              <a:rPr lang="en-US" altLang="zh-TW" dirty="0">
                <a:ea typeface="新細明體" pitchFamily="18" charset="-120"/>
              </a:rPr>
              <a:t>Positive and Negative Logic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572419" name="內容版面配置區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4423558" cy="4873752"/>
          </a:xfrm>
        </p:spPr>
        <p:txBody>
          <a:bodyPr lIns="90488" tIns="44450" rIns="90488" bIns="44450">
            <a:noAutofit/>
          </a:bodyPr>
          <a:lstStyle/>
          <a:p>
            <a:r>
              <a:rPr lang="en-US" altLang="zh-TW" dirty="0">
                <a:ea typeface="新細明體" pitchFamily="18" charset="-120"/>
              </a:rPr>
              <a:t>Positive and Negative Logic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Two signal values &lt;=&gt; two logic values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Positive logic: H=1; L=0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Negative logic: H=0; L=1</a:t>
            </a:r>
          </a:p>
        </p:txBody>
      </p:sp>
      <p:pic>
        <p:nvPicPr>
          <p:cNvPr id="6" name="Picture 4" descr="AACFLMW0"/>
          <p:cNvPicPr>
            <a:picLocks noChangeAspect="1" noChangeArrowheads="1"/>
          </p:cNvPicPr>
          <p:nvPr/>
        </p:nvPicPr>
        <p:blipFill>
          <a:blip r:embed="rId2" cstate="print">
            <a:lum bright="-8000" contrast="26000"/>
          </a:blip>
          <a:srcRect r="58424" b="18289"/>
          <a:stretch>
            <a:fillRect/>
          </a:stretch>
        </p:blipFill>
        <p:spPr bwMode="auto">
          <a:xfrm>
            <a:off x="5225143" y="1682299"/>
            <a:ext cx="2238952" cy="1706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AACFLMW0"/>
          <p:cNvPicPr>
            <a:picLocks noChangeAspect="1" noChangeArrowheads="1"/>
          </p:cNvPicPr>
          <p:nvPr/>
        </p:nvPicPr>
        <p:blipFill>
          <a:blip r:embed="rId3" cstate="print">
            <a:lum bright="-8000" contrast="26000"/>
          </a:blip>
          <a:srcRect l="60381" b="19472"/>
          <a:stretch>
            <a:fillRect/>
          </a:stretch>
        </p:blipFill>
        <p:spPr bwMode="auto">
          <a:xfrm>
            <a:off x="5137244" y="4102518"/>
            <a:ext cx="2133175" cy="1681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r>
              <a:rPr lang="en-AU" dirty="0"/>
              <a:t>Chapter 2 (Excluding Section 2.9)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4543</TotalTime>
  <Words>2185</Words>
  <Application>Microsoft Office PowerPoint</Application>
  <PresentationFormat>On-screen Show (4:3)</PresentationFormat>
  <Paragraphs>543</Paragraphs>
  <Slides>60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2" baseType="lpstr">
      <vt:lpstr>Oriel</vt:lpstr>
      <vt:lpstr>Document</vt:lpstr>
      <vt:lpstr>CSE 205: Digital Logic Design</vt:lpstr>
      <vt:lpstr>Textbook</vt:lpstr>
      <vt:lpstr>Digital Systems</vt:lpstr>
      <vt:lpstr>Boolean (Binary) Logic</vt:lpstr>
      <vt:lpstr>Truth Table</vt:lpstr>
      <vt:lpstr>Logic Gates</vt:lpstr>
      <vt:lpstr>Boolean Function</vt:lpstr>
      <vt:lpstr>Boolean Function</vt:lpstr>
      <vt:lpstr>Gate Implementation of a Function</vt:lpstr>
      <vt:lpstr>Gate Implementation of a Function</vt:lpstr>
      <vt:lpstr>Boolean Algebra</vt:lpstr>
      <vt:lpstr>Algebra</vt:lpstr>
      <vt:lpstr>Axiomatic definition of Boolean Algebra</vt:lpstr>
      <vt:lpstr>Axiomatic definition of Boolean Algebra</vt:lpstr>
      <vt:lpstr>Axiomatic definition of Boolean Algebra</vt:lpstr>
      <vt:lpstr>Duality principle</vt:lpstr>
      <vt:lpstr>Duality principle</vt:lpstr>
      <vt:lpstr>Basic theorems of Boolean Algebra</vt:lpstr>
      <vt:lpstr>Proof of x+x=x</vt:lpstr>
      <vt:lpstr>Proof of x·x=x</vt:lpstr>
      <vt:lpstr>Proof of x+1=1</vt:lpstr>
      <vt:lpstr>Absorption Property (Covering)</vt:lpstr>
      <vt:lpstr>Absorption Property (Covering)</vt:lpstr>
      <vt:lpstr>DeMorgan’s Theorem</vt:lpstr>
      <vt:lpstr> Consensus Theorem</vt:lpstr>
      <vt:lpstr>Gate Implementation of a Function</vt:lpstr>
      <vt:lpstr>Gate Implementation of a Function</vt:lpstr>
      <vt:lpstr>Practice</vt:lpstr>
      <vt:lpstr>Complement of a Function</vt:lpstr>
      <vt:lpstr>Complement of a Function</vt:lpstr>
      <vt:lpstr>Complement of a Function</vt:lpstr>
      <vt:lpstr>Practice</vt:lpstr>
      <vt:lpstr>Generalized DeMorgan’s Theorem</vt:lpstr>
      <vt:lpstr>Minterms</vt:lpstr>
      <vt:lpstr>Maxterms</vt:lpstr>
      <vt:lpstr>Example: Three Binary Variables </vt:lpstr>
      <vt:lpstr>Canonical Form</vt:lpstr>
      <vt:lpstr>Sum of Minterms</vt:lpstr>
      <vt:lpstr>Sum of Minterms: Example</vt:lpstr>
      <vt:lpstr>Product of Maxterms </vt:lpstr>
      <vt:lpstr>Product of Maxterms </vt:lpstr>
      <vt:lpstr>Product of Maxterms: Example</vt:lpstr>
      <vt:lpstr>Conversion between Canonical Forms</vt:lpstr>
      <vt:lpstr>Conversion between Canonical Forms</vt:lpstr>
      <vt:lpstr>Practice</vt:lpstr>
      <vt:lpstr>Standard Form</vt:lpstr>
      <vt:lpstr>Non-Standard and Standard Forms</vt:lpstr>
      <vt:lpstr>Practice</vt:lpstr>
      <vt:lpstr>Canonical and Standard Forms</vt:lpstr>
      <vt:lpstr>Other Logic Operations</vt:lpstr>
      <vt:lpstr>Boolean Expressions</vt:lpstr>
      <vt:lpstr>Digital Logic Gates</vt:lpstr>
      <vt:lpstr>Summary of Logic Gates</vt:lpstr>
      <vt:lpstr>PowerPoint Presentation</vt:lpstr>
      <vt:lpstr>Multiple Inputs</vt:lpstr>
      <vt:lpstr>Multiple Inputs</vt:lpstr>
      <vt:lpstr>Multiple Inputs</vt:lpstr>
      <vt:lpstr>Multiple Inputs</vt:lpstr>
      <vt:lpstr>Positive and Negative Logic</vt:lpstr>
      <vt:lpstr>Syllabus</vt:lpstr>
    </vt:vector>
  </TitlesOfParts>
  <Company>BUET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lenovo</cp:lastModifiedBy>
  <cp:revision>573</cp:revision>
  <dcterms:created xsi:type="dcterms:W3CDTF">2012-03-31T05:29:50Z</dcterms:created>
  <dcterms:modified xsi:type="dcterms:W3CDTF">2023-01-28T03:45:53Z</dcterms:modified>
</cp:coreProperties>
</file>