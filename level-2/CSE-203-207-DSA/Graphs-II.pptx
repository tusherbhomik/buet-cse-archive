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13" r:id="rId17"/>
    <p:sldId id="276" r:id="rId18"/>
    <p:sldId id="314" r:id="rId19"/>
    <p:sldId id="315" r:id="rId20"/>
    <p:sldId id="318" r:id="rId21"/>
    <p:sldId id="324" r:id="rId22"/>
    <p:sldId id="319" r:id="rId23"/>
    <p:sldId id="320" r:id="rId24"/>
    <p:sldId id="321" r:id="rId25"/>
    <p:sldId id="325" r:id="rId26"/>
    <p:sldId id="316" r:id="rId27"/>
    <p:sldId id="32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1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010A9-2330-4278-B64F-B79E05EED05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1BDC0-257E-447E-A760-893DCE1CC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7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0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3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8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96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6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0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05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6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4BD87-4264-48C2-B7EC-56814647C46B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12141-B850-4BBC-952D-96BB1870C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5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Graphs-II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4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87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ym typeface="Symbol" pitchFamily="18" charset="2"/>
              </a:rPr>
              <a:t>Graph Searching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81200" y="1052513"/>
            <a:ext cx="8229600" cy="2768600"/>
          </a:xfrm>
        </p:spPr>
        <p:txBody>
          <a:bodyPr/>
          <a:lstStyle/>
          <a:p>
            <a:r>
              <a:rPr lang="en-US" altLang="en-US" sz="2200"/>
              <a:t>Given: a graph G = (V, E), directed or undirected</a:t>
            </a:r>
          </a:p>
          <a:p>
            <a:r>
              <a:rPr lang="en-US" altLang="en-US" sz="2200"/>
              <a:t>Goal: methodically explore every vertex and every edge</a:t>
            </a:r>
          </a:p>
          <a:p>
            <a:r>
              <a:rPr lang="en-US" altLang="en-US" sz="2200"/>
              <a:t>Ultimately: build a tree on the graph</a:t>
            </a:r>
          </a:p>
          <a:p>
            <a:pPr lvl="1"/>
            <a:r>
              <a:rPr lang="en-US" altLang="en-US" sz="2200"/>
              <a:t>Pick a vertex as the root</a:t>
            </a:r>
          </a:p>
          <a:p>
            <a:pPr lvl="1"/>
            <a:r>
              <a:rPr lang="en-US" altLang="en-US" sz="2200"/>
              <a:t>Choose certain edges to produce a tree</a:t>
            </a:r>
          </a:p>
          <a:p>
            <a:pPr lvl="1"/>
            <a:r>
              <a:rPr lang="en-US" altLang="en-US" sz="2200"/>
              <a:t>Note: might also build a </a:t>
            </a:r>
            <a:r>
              <a:rPr lang="en-US" altLang="en-US" sz="2200" i="1">
                <a:solidFill>
                  <a:schemeClr val="tx2"/>
                </a:solidFill>
              </a:rPr>
              <a:t>forest</a:t>
            </a:r>
            <a:r>
              <a:rPr lang="en-US" altLang="en-US" sz="2200"/>
              <a:t> if graph is not connected</a:t>
            </a:r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2063750" y="4365626"/>
            <a:ext cx="7543800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 There are two standard graph traversal techniques:</a:t>
            </a:r>
          </a:p>
          <a:p>
            <a:pPr lvl="1" algn="l"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i="1">
                <a:solidFill>
                  <a:srgbClr val="CC0000"/>
                </a:solidFill>
              </a:rPr>
              <a:t> </a:t>
            </a:r>
            <a:r>
              <a:rPr lang="en-US" altLang="en-US">
                <a:solidFill>
                  <a:schemeClr val="tx2"/>
                </a:solidFill>
              </a:rPr>
              <a:t>Breadth-First Search (BFS)</a:t>
            </a:r>
          </a:p>
          <a:p>
            <a:pPr lvl="1" algn="l"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tx2"/>
                </a:solidFill>
              </a:rPr>
              <a:t> Depth-First Search (DFS)</a:t>
            </a:r>
          </a:p>
        </p:txBody>
      </p:sp>
    </p:spTree>
    <p:extLst>
      <p:ext uri="{BB962C8B-B14F-4D97-AF65-F5344CB8AC3E}">
        <p14:creationId xmlns:p14="http://schemas.microsoft.com/office/powerpoint/2010/main" val="9541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r>
              <a:rPr lang="en-US" altLang="en-US" smtClean="0"/>
              <a:t>“Explore” a graph, turning it into a tree</a:t>
            </a:r>
          </a:p>
          <a:p>
            <a:pPr lvl="1"/>
            <a:r>
              <a:rPr lang="en-US" altLang="en-US" smtClean="0"/>
              <a:t>One vertex at a time</a:t>
            </a:r>
          </a:p>
          <a:p>
            <a:pPr lvl="1"/>
            <a:r>
              <a:rPr lang="en-US" altLang="en-US" smtClean="0"/>
              <a:t>Expand frontier of explored vertices across the </a:t>
            </a:r>
            <a:r>
              <a:rPr lang="en-US" altLang="en-US" i="1" smtClean="0"/>
              <a:t>breadth</a:t>
            </a:r>
            <a:r>
              <a:rPr lang="en-US" altLang="en-US" smtClean="0"/>
              <a:t> of the frontier</a:t>
            </a:r>
          </a:p>
          <a:p>
            <a:pPr lvl="1"/>
            <a:endParaRPr lang="en-US" altLang="en-US" smtClean="0"/>
          </a:p>
          <a:p>
            <a:r>
              <a:rPr lang="en-US" altLang="en-US" smtClean="0"/>
              <a:t>Builds a tree over the graph</a:t>
            </a:r>
          </a:p>
          <a:p>
            <a:pPr lvl="1"/>
            <a:r>
              <a:rPr lang="en-US" altLang="en-US" smtClean="0"/>
              <a:t>Pick a </a:t>
            </a:r>
            <a:r>
              <a:rPr lang="en-US" altLang="en-US" i="1" smtClean="0"/>
              <a:t>source vertex</a:t>
            </a:r>
            <a:r>
              <a:rPr lang="en-US" altLang="en-US" smtClean="0"/>
              <a:t> to be the root</a:t>
            </a:r>
          </a:p>
          <a:p>
            <a:pPr lvl="1"/>
            <a:r>
              <a:rPr lang="en-US" altLang="en-US" smtClean="0"/>
              <a:t>Find (“discover”) its children, then their children, etc.</a:t>
            </a:r>
          </a:p>
        </p:txBody>
      </p:sp>
    </p:spTree>
    <p:extLst>
      <p:ext uri="{BB962C8B-B14F-4D97-AF65-F5344CB8AC3E}">
        <p14:creationId xmlns:p14="http://schemas.microsoft.com/office/powerpoint/2010/main" val="428157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81200" y="1555434"/>
            <a:ext cx="8229600" cy="5000625"/>
          </a:xfrm>
        </p:spPr>
        <p:txBody>
          <a:bodyPr/>
          <a:lstStyle/>
          <a:p>
            <a:r>
              <a:rPr lang="en-US" altLang="en-US" dirty="0" smtClean="0"/>
              <a:t>It associates vertex “colors” to guide the algorithm</a:t>
            </a:r>
          </a:p>
          <a:p>
            <a:pPr lvl="1"/>
            <a:r>
              <a:rPr lang="en-US" altLang="en-US" dirty="0" smtClean="0">
                <a:solidFill>
                  <a:schemeClr val="tx2"/>
                </a:solidFill>
              </a:rPr>
              <a:t>White vertices</a:t>
            </a:r>
            <a:r>
              <a:rPr lang="en-US" altLang="en-US" dirty="0" smtClean="0"/>
              <a:t> have not been discovered</a:t>
            </a:r>
          </a:p>
          <a:p>
            <a:pPr lvl="2"/>
            <a:r>
              <a:rPr lang="en-US" altLang="en-US" dirty="0" smtClean="0"/>
              <a:t>All vertices start out white</a:t>
            </a:r>
          </a:p>
          <a:p>
            <a:pPr lvl="1"/>
            <a:r>
              <a:rPr lang="en-US" altLang="en-US" dirty="0" smtClean="0">
                <a:solidFill>
                  <a:schemeClr val="tx2"/>
                </a:solidFill>
              </a:rPr>
              <a:t>Grey vertices</a:t>
            </a:r>
            <a:r>
              <a:rPr lang="en-US" altLang="en-US" dirty="0" smtClean="0"/>
              <a:t> are discovered but not fully explored</a:t>
            </a:r>
          </a:p>
          <a:p>
            <a:pPr lvl="2"/>
            <a:r>
              <a:rPr lang="en-US" altLang="en-US" dirty="0" smtClean="0"/>
              <a:t>They may be adjacent to white vertices</a:t>
            </a:r>
          </a:p>
          <a:p>
            <a:pPr lvl="1"/>
            <a:r>
              <a:rPr lang="en-US" altLang="en-US" dirty="0" smtClean="0">
                <a:solidFill>
                  <a:schemeClr val="tx2"/>
                </a:solidFill>
              </a:rPr>
              <a:t>Black vertices</a:t>
            </a:r>
            <a:r>
              <a:rPr lang="en-US" altLang="en-US" dirty="0" smtClean="0"/>
              <a:t> are discovered and fully explored</a:t>
            </a:r>
          </a:p>
          <a:p>
            <a:pPr lvl="2"/>
            <a:r>
              <a:rPr lang="en-US" altLang="en-US" dirty="0" smtClean="0"/>
              <a:t>They are adjacent only to black and grey vertices</a:t>
            </a:r>
          </a:p>
          <a:p>
            <a:r>
              <a:rPr lang="en-US" altLang="en-US" dirty="0" smtClean="0"/>
              <a:t>Explore vertices by scanning </a:t>
            </a:r>
            <a:r>
              <a:rPr lang="en-US" altLang="en-US" dirty="0" smtClean="0">
                <a:solidFill>
                  <a:srgbClr val="FF0066"/>
                </a:solidFill>
              </a:rPr>
              <a:t>adjacency list</a:t>
            </a:r>
            <a:r>
              <a:rPr lang="en-US" altLang="en-US" dirty="0" smtClean="0"/>
              <a:t> of grey vertices</a:t>
            </a:r>
          </a:p>
        </p:txBody>
      </p:sp>
    </p:spTree>
    <p:extLst>
      <p:ext uri="{BB962C8B-B14F-4D97-AF65-F5344CB8AC3E}">
        <p14:creationId xmlns:p14="http://schemas.microsoft.com/office/powerpoint/2010/main" val="113462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0520" y="517525"/>
            <a:ext cx="3444240" cy="1325563"/>
          </a:xfrm>
        </p:spPr>
        <p:txBody>
          <a:bodyPr/>
          <a:lstStyle/>
          <a:p>
            <a:pPr>
              <a:defRPr/>
            </a:pPr>
            <a:r>
              <a:rPr lang="en-US" dirty="0"/>
              <a:t>Breadth-First Search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60031"/>
            <a:ext cx="4206240" cy="647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5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8451" name="AutoShape 19"/>
          <p:cNvCxnSpPr>
            <a:cxnSpLocks noChangeShapeType="1"/>
            <a:stCxn id="18436" idx="0"/>
            <a:endCxn id="18435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2" name="AutoShape 20"/>
          <p:cNvCxnSpPr>
            <a:cxnSpLocks noChangeShapeType="1"/>
            <a:stCxn id="18435" idx="6"/>
            <a:endCxn id="18437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3" name="AutoShape 21"/>
          <p:cNvCxnSpPr>
            <a:cxnSpLocks noChangeShapeType="1"/>
            <a:stCxn id="18437" idx="4"/>
            <a:endCxn id="18438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4" name="AutoShape 22"/>
          <p:cNvCxnSpPr>
            <a:cxnSpLocks noChangeShapeType="1"/>
            <a:stCxn id="18438" idx="7"/>
            <a:endCxn id="18439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5" name="AutoShape 23"/>
          <p:cNvCxnSpPr>
            <a:cxnSpLocks noChangeShapeType="1"/>
            <a:stCxn id="18438" idx="6"/>
            <a:endCxn id="18440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6" name="AutoShape 24"/>
          <p:cNvCxnSpPr>
            <a:cxnSpLocks noChangeShapeType="1"/>
            <a:stCxn id="18440" idx="0"/>
            <a:endCxn id="18439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7" name="AutoShape 25"/>
          <p:cNvCxnSpPr>
            <a:cxnSpLocks noChangeShapeType="1"/>
            <a:stCxn id="18439" idx="6"/>
            <a:endCxn id="18441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8" name="AutoShape 26"/>
          <p:cNvCxnSpPr>
            <a:cxnSpLocks noChangeShapeType="1"/>
            <a:stCxn id="18440" idx="6"/>
            <a:endCxn id="18442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9" name="AutoShape 27"/>
          <p:cNvCxnSpPr>
            <a:cxnSpLocks noChangeShapeType="1"/>
            <a:stCxn id="18442" idx="0"/>
            <a:endCxn id="18441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5775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9462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4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5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474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9475" name="AutoShape 19"/>
          <p:cNvCxnSpPr>
            <a:cxnSpLocks noChangeShapeType="1"/>
            <a:stCxn id="19460" idx="0"/>
            <a:endCxn id="19459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6" name="AutoShape 20"/>
          <p:cNvCxnSpPr>
            <a:cxnSpLocks noChangeShapeType="1"/>
            <a:stCxn id="19459" idx="6"/>
            <a:endCxn id="19461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1"/>
          <p:cNvCxnSpPr>
            <a:cxnSpLocks noChangeShapeType="1"/>
            <a:stCxn id="19461" idx="4"/>
            <a:endCxn id="19462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8" name="AutoShape 22"/>
          <p:cNvCxnSpPr>
            <a:cxnSpLocks noChangeShapeType="1"/>
            <a:stCxn id="19462" idx="7"/>
            <a:endCxn id="19463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9" name="AutoShape 23"/>
          <p:cNvCxnSpPr>
            <a:cxnSpLocks noChangeShapeType="1"/>
            <a:stCxn id="19462" idx="6"/>
            <a:endCxn id="19464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0" name="AutoShape 24"/>
          <p:cNvCxnSpPr>
            <a:cxnSpLocks noChangeShapeType="1"/>
            <a:stCxn id="19464" idx="0"/>
            <a:endCxn id="19463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1" name="AutoShape 25"/>
          <p:cNvCxnSpPr>
            <a:cxnSpLocks noChangeShapeType="1"/>
            <a:stCxn id="19463" idx="6"/>
            <a:endCxn id="19465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2" name="AutoShape 26"/>
          <p:cNvCxnSpPr>
            <a:cxnSpLocks noChangeShapeType="1"/>
            <a:stCxn id="19464" idx="6"/>
            <a:endCxn id="19466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3" name="AutoShape 27"/>
          <p:cNvCxnSpPr>
            <a:cxnSpLocks noChangeShapeType="1"/>
            <a:stCxn id="19466" idx="0"/>
            <a:endCxn id="19465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4" name="Rectangle 28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9485" name="Rectangle 29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0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2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7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0499" name="AutoShape 19"/>
          <p:cNvCxnSpPr>
            <a:cxnSpLocks noChangeShapeType="1"/>
            <a:stCxn id="20484" idx="0"/>
            <a:endCxn id="20483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0" name="AutoShape 20"/>
          <p:cNvCxnSpPr>
            <a:cxnSpLocks noChangeShapeType="1"/>
            <a:stCxn id="20483" idx="6"/>
            <a:endCxn id="20485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1" name="AutoShape 21"/>
          <p:cNvCxnSpPr>
            <a:cxnSpLocks noChangeShapeType="1"/>
            <a:stCxn id="20485" idx="4"/>
            <a:endCxn id="20486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2" name="AutoShape 22"/>
          <p:cNvCxnSpPr>
            <a:cxnSpLocks noChangeShapeType="1"/>
            <a:stCxn id="20486" idx="7"/>
            <a:endCxn id="20487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3" name="AutoShape 23"/>
          <p:cNvCxnSpPr>
            <a:cxnSpLocks noChangeShapeType="1"/>
            <a:stCxn id="20486" idx="6"/>
            <a:endCxn id="20488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4" name="AutoShape 24"/>
          <p:cNvCxnSpPr>
            <a:cxnSpLocks noChangeShapeType="1"/>
            <a:stCxn id="20488" idx="0"/>
            <a:endCxn id="20487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5" name="AutoShape 25"/>
          <p:cNvCxnSpPr>
            <a:cxnSpLocks noChangeShapeType="1"/>
            <a:stCxn id="20487" idx="6"/>
            <a:endCxn id="20489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6" name="AutoShape 26"/>
          <p:cNvCxnSpPr>
            <a:cxnSpLocks noChangeShapeType="1"/>
            <a:stCxn id="20488" idx="6"/>
            <a:endCxn id="20490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7" name="AutoShape 27"/>
          <p:cNvCxnSpPr>
            <a:cxnSpLocks noChangeShapeType="1"/>
            <a:stCxn id="20490" idx="0"/>
            <a:endCxn id="20489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8" name="Rectangle 28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0510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r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2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8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21507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1509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1511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12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13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1523" name="AutoShape 19"/>
          <p:cNvCxnSpPr>
            <a:cxnSpLocks noChangeShapeType="1"/>
            <a:stCxn id="21508" idx="0"/>
            <a:endCxn id="21507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4" name="AutoShape 20"/>
          <p:cNvCxnSpPr>
            <a:cxnSpLocks noChangeShapeType="1"/>
            <a:stCxn id="21507" idx="6"/>
            <a:endCxn id="21509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5" name="AutoShape 21"/>
          <p:cNvCxnSpPr>
            <a:cxnSpLocks noChangeShapeType="1"/>
            <a:stCxn id="21509" idx="4"/>
            <a:endCxn id="21510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6" name="AutoShape 22"/>
          <p:cNvCxnSpPr>
            <a:cxnSpLocks noChangeShapeType="1"/>
            <a:stCxn id="21510" idx="7"/>
            <a:endCxn id="21511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7" name="AutoShape 23"/>
          <p:cNvCxnSpPr>
            <a:cxnSpLocks noChangeShapeType="1"/>
            <a:stCxn id="21510" idx="6"/>
            <a:endCxn id="21512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8" name="AutoShape 24"/>
          <p:cNvCxnSpPr>
            <a:cxnSpLocks noChangeShapeType="1"/>
            <a:stCxn id="21512" idx="0"/>
            <a:endCxn id="21511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9" name="AutoShape 25"/>
          <p:cNvCxnSpPr>
            <a:cxnSpLocks noChangeShapeType="1"/>
            <a:stCxn id="21511" idx="6"/>
            <a:endCxn id="21513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AutoShape 26"/>
          <p:cNvCxnSpPr>
            <a:cxnSpLocks noChangeShapeType="1"/>
            <a:stCxn id="21512" idx="6"/>
            <a:endCxn id="21514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7"/>
          <p:cNvCxnSpPr>
            <a:cxnSpLocks noChangeShapeType="1"/>
            <a:stCxn id="21514" idx="0"/>
            <a:endCxn id="21513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2" name="Rectangle 28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1533" name="Rectangle 29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35" name="Rectangle 31"/>
          <p:cNvSpPr>
            <a:spLocks noChangeArrowheads="1"/>
          </p:cNvSpPr>
          <p:nvPr/>
        </p:nvSpPr>
        <p:spPr bwMode="auto">
          <a:xfrm>
            <a:off x="5410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x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3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3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2538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2547" name="AutoShape 19"/>
          <p:cNvCxnSpPr>
            <a:cxnSpLocks noChangeShapeType="1"/>
            <a:stCxn id="22532" idx="0"/>
            <a:endCxn id="22531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8" name="AutoShape 20"/>
          <p:cNvCxnSpPr>
            <a:cxnSpLocks noChangeShapeType="1"/>
            <a:stCxn id="22531" idx="6"/>
            <a:endCxn id="22533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9" name="AutoShape 21"/>
          <p:cNvCxnSpPr>
            <a:cxnSpLocks noChangeShapeType="1"/>
            <a:stCxn id="22533" idx="4"/>
            <a:endCxn id="22534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0" name="AutoShape 22"/>
          <p:cNvCxnSpPr>
            <a:cxnSpLocks noChangeShapeType="1"/>
            <a:stCxn id="22534" idx="7"/>
            <a:endCxn id="22535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1" name="AutoShape 23"/>
          <p:cNvCxnSpPr>
            <a:cxnSpLocks noChangeShapeType="1"/>
            <a:stCxn id="22534" idx="6"/>
            <a:endCxn id="22536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2" name="AutoShape 24"/>
          <p:cNvCxnSpPr>
            <a:cxnSpLocks noChangeShapeType="1"/>
            <a:stCxn id="22536" idx="0"/>
            <a:endCxn id="22535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3" name="AutoShape 25"/>
          <p:cNvCxnSpPr>
            <a:cxnSpLocks noChangeShapeType="1"/>
            <a:stCxn id="22535" idx="6"/>
            <a:endCxn id="22537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4" name="AutoShape 26"/>
          <p:cNvCxnSpPr>
            <a:cxnSpLocks noChangeShapeType="1"/>
            <a:stCxn id="22536" idx="6"/>
            <a:endCxn id="22538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AutoShape 27"/>
          <p:cNvCxnSpPr>
            <a:cxnSpLocks noChangeShapeType="1"/>
            <a:stCxn id="22538" idx="0"/>
            <a:endCxn id="22537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6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2557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2558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5410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v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3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6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60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3562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3571" name="AutoShape 19"/>
          <p:cNvCxnSpPr>
            <a:cxnSpLocks noChangeShapeType="1"/>
            <a:stCxn id="23556" idx="0"/>
            <a:endCxn id="23555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2" name="AutoShape 20"/>
          <p:cNvCxnSpPr>
            <a:cxnSpLocks noChangeShapeType="1"/>
            <a:stCxn id="23555" idx="6"/>
            <a:endCxn id="23557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3" name="AutoShape 21"/>
          <p:cNvCxnSpPr>
            <a:cxnSpLocks noChangeShapeType="1"/>
            <a:stCxn id="23557" idx="4"/>
            <a:endCxn id="23558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4" name="AutoShape 22"/>
          <p:cNvCxnSpPr>
            <a:cxnSpLocks noChangeShapeType="1"/>
            <a:stCxn id="23558" idx="7"/>
            <a:endCxn id="23559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5" name="AutoShape 23"/>
          <p:cNvCxnSpPr>
            <a:cxnSpLocks noChangeShapeType="1"/>
            <a:stCxn id="23558" idx="6"/>
            <a:endCxn id="23560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6" name="AutoShape 24"/>
          <p:cNvCxnSpPr>
            <a:cxnSpLocks noChangeShapeType="1"/>
            <a:stCxn id="23560" idx="0"/>
            <a:endCxn id="23559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7" name="AutoShape 25"/>
          <p:cNvCxnSpPr>
            <a:cxnSpLocks noChangeShapeType="1"/>
            <a:stCxn id="23559" idx="6"/>
            <a:endCxn id="23561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8" name="AutoShape 26"/>
          <p:cNvCxnSpPr>
            <a:cxnSpLocks noChangeShapeType="1"/>
            <a:stCxn id="23560" idx="6"/>
            <a:endCxn id="23562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9" name="AutoShape 27"/>
          <p:cNvCxnSpPr>
            <a:cxnSpLocks noChangeShapeType="1"/>
            <a:stCxn id="23562" idx="0"/>
            <a:endCxn id="23561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82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3583" name="Rectangle 31"/>
          <p:cNvSpPr>
            <a:spLocks noChangeArrowheads="1"/>
          </p:cNvSpPr>
          <p:nvPr/>
        </p:nvSpPr>
        <p:spPr bwMode="auto">
          <a:xfrm>
            <a:off x="5410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u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3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0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Breadth-First Search: Example</a:t>
            </a:r>
          </a:p>
        </p:txBody>
      </p:sp>
      <p:sp>
        <p:nvSpPr>
          <p:cNvPr id="24579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4581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4582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4583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4585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4586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4595" name="AutoShape 19"/>
          <p:cNvCxnSpPr>
            <a:cxnSpLocks noChangeShapeType="1"/>
            <a:stCxn id="24580" idx="0"/>
            <a:endCxn id="24579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AutoShape 20"/>
          <p:cNvCxnSpPr>
            <a:cxnSpLocks noChangeShapeType="1"/>
            <a:stCxn id="24579" idx="6"/>
            <a:endCxn id="24581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7" name="AutoShape 21"/>
          <p:cNvCxnSpPr>
            <a:cxnSpLocks noChangeShapeType="1"/>
            <a:stCxn id="24581" idx="4"/>
            <a:endCxn id="24582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8" name="AutoShape 22"/>
          <p:cNvCxnSpPr>
            <a:cxnSpLocks noChangeShapeType="1"/>
            <a:stCxn id="24582" idx="7"/>
            <a:endCxn id="24583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9" name="AutoShape 23"/>
          <p:cNvCxnSpPr>
            <a:cxnSpLocks noChangeShapeType="1"/>
            <a:stCxn id="24582" idx="6"/>
            <a:endCxn id="24584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0" name="AutoShape 24"/>
          <p:cNvCxnSpPr>
            <a:cxnSpLocks noChangeShapeType="1"/>
            <a:stCxn id="24584" idx="0"/>
            <a:endCxn id="24583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1" name="AutoShape 25"/>
          <p:cNvCxnSpPr>
            <a:cxnSpLocks noChangeShapeType="1"/>
            <a:stCxn id="24583" idx="6"/>
            <a:endCxn id="24585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AutoShape 26"/>
          <p:cNvCxnSpPr>
            <a:cxnSpLocks noChangeShapeType="1"/>
            <a:stCxn id="24584" idx="6"/>
            <a:endCxn id="24586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3" name="AutoShape 27"/>
          <p:cNvCxnSpPr>
            <a:cxnSpLocks noChangeShapeType="1"/>
            <a:stCxn id="24586" idx="0"/>
            <a:endCxn id="24585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4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4605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4606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4607" name="Rectangle 31"/>
          <p:cNvSpPr>
            <a:spLocks noChangeArrowheads="1"/>
          </p:cNvSpPr>
          <p:nvPr/>
        </p:nvSpPr>
        <p:spPr bwMode="auto">
          <a:xfrm>
            <a:off x="5410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y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3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3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25603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5610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5616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5619" name="AutoShape 19"/>
          <p:cNvCxnSpPr>
            <a:cxnSpLocks noChangeShapeType="1"/>
            <a:stCxn id="25604" idx="0"/>
            <a:endCxn id="25603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20"/>
          <p:cNvCxnSpPr>
            <a:cxnSpLocks noChangeShapeType="1"/>
            <a:stCxn id="25603" idx="6"/>
            <a:endCxn id="25605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21"/>
          <p:cNvCxnSpPr>
            <a:cxnSpLocks noChangeShapeType="1"/>
            <a:stCxn id="25605" idx="4"/>
            <a:endCxn id="25606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2" name="AutoShape 22"/>
          <p:cNvCxnSpPr>
            <a:cxnSpLocks noChangeShapeType="1"/>
            <a:stCxn id="25606" idx="7"/>
            <a:endCxn id="25607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3" name="AutoShape 23"/>
          <p:cNvCxnSpPr>
            <a:cxnSpLocks noChangeShapeType="1"/>
            <a:stCxn id="25606" idx="6"/>
            <a:endCxn id="25608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4" name="AutoShape 24"/>
          <p:cNvCxnSpPr>
            <a:cxnSpLocks noChangeShapeType="1"/>
            <a:stCxn id="25608" idx="0"/>
            <a:endCxn id="25607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5" name="AutoShape 25"/>
          <p:cNvCxnSpPr>
            <a:cxnSpLocks noChangeShapeType="1"/>
            <a:stCxn id="25607" idx="6"/>
            <a:endCxn id="25609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6" name="AutoShape 26"/>
          <p:cNvCxnSpPr>
            <a:cxnSpLocks noChangeShapeType="1"/>
            <a:stCxn id="25608" idx="6"/>
            <a:endCxn id="25610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7" name="AutoShape 27"/>
          <p:cNvCxnSpPr>
            <a:cxnSpLocks noChangeShapeType="1"/>
            <a:stCxn id="25610" idx="0"/>
            <a:endCxn id="25609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5629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5630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y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2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3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26627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8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6630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6631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6632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6633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6634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6640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6641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6642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6643" name="AutoShape 19"/>
          <p:cNvCxnSpPr>
            <a:cxnSpLocks noChangeShapeType="1"/>
            <a:stCxn id="26628" idx="0"/>
            <a:endCxn id="26627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20"/>
          <p:cNvCxnSpPr>
            <a:cxnSpLocks noChangeShapeType="1"/>
            <a:stCxn id="26627" idx="6"/>
            <a:endCxn id="26629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5" name="AutoShape 21"/>
          <p:cNvCxnSpPr>
            <a:cxnSpLocks noChangeShapeType="1"/>
            <a:stCxn id="26629" idx="4"/>
            <a:endCxn id="26630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6" name="AutoShape 22"/>
          <p:cNvCxnSpPr>
            <a:cxnSpLocks noChangeShapeType="1"/>
            <a:stCxn id="26630" idx="7"/>
            <a:endCxn id="26631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7" name="AutoShape 23"/>
          <p:cNvCxnSpPr>
            <a:cxnSpLocks noChangeShapeType="1"/>
            <a:stCxn id="26630" idx="6"/>
            <a:endCxn id="26632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8" name="AutoShape 24"/>
          <p:cNvCxnSpPr>
            <a:cxnSpLocks noChangeShapeType="1"/>
            <a:stCxn id="26632" idx="0"/>
            <a:endCxn id="26631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9" name="AutoShape 25"/>
          <p:cNvCxnSpPr>
            <a:cxnSpLocks noChangeShapeType="1"/>
            <a:stCxn id="26631" idx="6"/>
            <a:endCxn id="26633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0" name="AutoShape 26"/>
          <p:cNvCxnSpPr>
            <a:cxnSpLocks noChangeShapeType="1"/>
            <a:stCxn id="26632" idx="6"/>
            <a:endCxn id="26634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1" name="AutoShape 27"/>
          <p:cNvCxnSpPr>
            <a:cxnSpLocks noChangeShapeType="1"/>
            <a:stCxn id="26634" idx="0"/>
            <a:endCxn id="26633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52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6653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 i="1">
                <a:latin typeface="Times New Roman" panose="02020603050405020304" pitchFamily="18" charset="0"/>
              </a:rPr>
              <a:t>y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1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6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Example</a:t>
            </a: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7667" name="AutoShape 19"/>
          <p:cNvCxnSpPr>
            <a:cxnSpLocks noChangeShapeType="1"/>
            <a:stCxn id="27652" idx="0"/>
            <a:endCxn id="27651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8" name="AutoShape 20"/>
          <p:cNvCxnSpPr>
            <a:cxnSpLocks noChangeShapeType="1"/>
            <a:stCxn id="27651" idx="6"/>
            <a:endCxn id="27653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9" name="AutoShape 21"/>
          <p:cNvCxnSpPr>
            <a:cxnSpLocks noChangeShapeType="1"/>
            <a:stCxn id="27653" idx="4"/>
            <a:endCxn id="27654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0" name="AutoShape 22"/>
          <p:cNvCxnSpPr>
            <a:cxnSpLocks noChangeShapeType="1"/>
            <a:stCxn id="27654" idx="7"/>
            <a:endCxn id="27655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1" name="AutoShape 23"/>
          <p:cNvCxnSpPr>
            <a:cxnSpLocks noChangeShapeType="1"/>
            <a:stCxn id="27654" idx="6"/>
            <a:endCxn id="27656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2" name="AutoShape 24"/>
          <p:cNvCxnSpPr>
            <a:cxnSpLocks noChangeShapeType="1"/>
            <a:stCxn id="27656" idx="0"/>
            <a:endCxn id="27655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3" name="AutoShape 25"/>
          <p:cNvCxnSpPr>
            <a:cxnSpLocks noChangeShapeType="1"/>
            <a:stCxn id="27655" idx="6"/>
            <a:endCxn id="27657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4" name="AutoShape 26"/>
          <p:cNvCxnSpPr>
            <a:cxnSpLocks noChangeShapeType="1"/>
            <a:stCxn id="27656" idx="6"/>
            <a:endCxn id="27658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5" name="AutoShape 27"/>
          <p:cNvCxnSpPr>
            <a:cxnSpLocks noChangeShapeType="1"/>
            <a:stCxn id="27658" idx="0"/>
            <a:endCxn id="27657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b="1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7677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endParaRPr lang="en-US" altLang="en-US" sz="2800" b="1">
              <a:latin typeface="Times New Roman" panose="02020603050405020304" pitchFamily="18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52400" y="1676401"/>
            <a:ext cx="1918323" cy="3140075"/>
            <a:chOff x="152400" y="1676401"/>
            <a:chExt cx="1918323" cy="3140075"/>
          </a:xfrm>
        </p:grpSpPr>
        <p:sp>
          <p:nvSpPr>
            <p:cNvPr id="31" name="Oval 3"/>
            <p:cNvSpPr>
              <a:spLocks noChangeArrowheads="1"/>
            </p:cNvSpPr>
            <p:nvPr/>
          </p:nvSpPr>
          <p:spPr bwMode="auto">
            <a:xfrm>
              <a:off x="366715" y="1752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70000"/>
                </a:lnSpc>
              </a:pPr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Oval 5"/>
            <p:cNvSpPr>
              <a:spLocks noChangeArrowheads="1"/>
            </p:cNvSpPr>
            <p:nvPr/>
          </p:nvSpPr>
          <p:spPr bwMode="auto">
            <a:xfrm>
              <a:off x="366715" y="2850518"/>
              <a:ext cx="762000" cy="76200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350520" y="4023360"/>
              <a:ext cx="762000" cy="7620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 sz="40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6360" y="2133600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white</a:t>
              </a:r>
              <a:endParaRPr 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56360" y="3091935"/>
              <a:ext cx="588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grey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0965" y="423493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black</a:t>
              </a:r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52400" y="1676401"/>
              <a:ext cx="1918323" cy="3140075"/>
            </a:xfrm>
            <a:prstGeom prst="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676" y="3231518"/>
            <a:ext cx="2172088" cy="33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6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Brace 4"/>
          <p:cNvSpPr/>
          <p:nvPr/>
        </p:nvSpPr>
        <p:spPr>
          <a:xfrm>
            <a:off x="4803342" y="632460"/>
            <a:ext cx="256338" cy="12115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58996" y="1004054"/>
            <a:ext cx="74892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O(V)</a:t>
            </a:r>
            <a:endParaRPr lang="en-US" sz="2400" dirty="0"/>
          </a:p>
        </p:txBody>
      </p:sp>
      <p:sp>
        <p:nvSpPr>
          <p:cNvPr id="8" name="Right Brace 7"/>
          <p:cNvSpPr/>
          <p:nvPr/>
        </p:nvSpPr>
        <p:spPr>
          <a:xfrm>
            <a:off x="4754880" y="1958340"/>
            <a:ext cx="289560" cy="15468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358996" y="2562344"/>
            <a:ext cx="729687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O(1)</a:t>
            </a:r>
            <a:endParaRPr lang="en-US" sz="2400" dirty="0"/>
          </a:p>
        </p:txBody>
      </p:sp>
      <p:sp>
        <p:nvSpPr>
          <p:cNvPr id="10" name="Right Brace 9"/>
          <p:cNvSpPr/>
          <p:nvPr/>
        </p:nvSpPr>
        <p:spPr>
          <a:xfrm>
            <a:off x="4754880" y="3596640"/>
            <a:ext cx="259080" cy="29870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58996" y="3521452"/>
            <a:ext cx="3685641" cy="3046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Each vertex is </a:t>
            </a:r>
            <a:r>
              <a:rPr lang="en-US" sz="2400" dirty="0" err="1" smtClean="0"/>
              <a:t>enqueued</a:t>
            </a:r>
            <a:r>
              <a:rPr lang="en-US" sz="2400" dirty="0" smtClean="0"/>
              <a:t>/</a:t>
            </a:r>
            <a:r>
              <a:rPr lang="en-US" sz="2400" dirty="0" err="1" smtClean="0"/>
              <a:t>dequeued</a:t>
            </a:r>
            <a:r>
              <a:rPr lang="en-US" sz="2400" dirty="0" smtClean="0"/>
              <a:t> once: </a:t>
            </a:r>
          </a:p>
          <a:p>
            <a:r>
              <a:rPr lang="en-US" sz="2400" dirty="0" smtClean="0"/>
              <a:t>O(V) in total</a:t>
            </a:r>
          </a:p>
          <a:p>
            <a:endParaRPr lang="en-US" sz="2400" dirty="0"/>
          </a:p>
          <a:p>
            <a:r>
              <a:rPr lang="en-US" sz="2400" dirty="0" smtClean="0"/>
              <a:t>Once </a:t>
            </a:r>
            <a:r>
              <a:rPr lang="en-US" sz="2400" dirty="0" err="1" smtClean="0"/>
              <a:t>dequeued</a:t>
            </a:r>
            <a:r>
              <a:rPr lang="en-US" sz="2400" dirty="0" smtClean="0"/>
              <a:t>, the adjacency list of a vertex is explored: </a:t>
            </a:r>
          </a:p>
          <a:p>
            <a:r>
              <a:rPr lang="en-US" sz="2400" dirty="0" smtClean="0"/>
              <a:t>O(E) in total</a:t>
            </a:r>
            <a:endParaRPr lang="en-US" sz="2400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178457" y="276999"/>
            <a:ext cx="2971144" cy="1325563"/>
          </a:xfrm>
        </p:spPr>
        <p:txBody>
          <a:bodyPr/>
          <a:lstStyle/>
          <a:p>
            <a:r>
              <a:rPr lang="en-US" dirty="0" smtClean="0"/>
              <a:t>BFS: Analysis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156"/>
            <a:ext cx="4287924" cy="66052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058400" y="3128010"/>
            <a:ext cx="1486304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 smtClean="0"/>
              <a:t>O(V+E)</a:t>
            </a:r>
            <a:endParaRPr lang="en-US" sz="3600" dirty="0"/>
          </a:p>
        </p:txBody>
      </p:sp>
      <p:sp>
        <p:nvSpPr>
          <p:cNvPr id="3" name="Right Brace 2"/>
          <p:cNvSpPr/>
          <p:nvPr/>
        </p:nvSpPr>
        <p:spPr>
          <a:xfrm>
            <a:off x="8503920" y="289560"/>
            <a:ext cx="1249680" cy="65684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31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Breadth-First Search: Properties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54480" y="1690688"/>
            <a:ext cx="8229600" cy="5040312"/>
          </a:xfrm>
        </p:spPr>
        <p:txBody>
          <a:bodyPr/>
          <a:lstStyle/>
          <a:p>
            <a:r>
              <a:rPr lang="en-US" altLang="en-US" dirty="0" smtClean="0"/>
              <a:t>BFS calculates the </a:t>
            </a:r>
            <a:r>
              <a:rPr lang="en-US" altLang="en-US" i="1" dirty="0" smtClean="0">
                <a:solidFill>
                  <a:schemeClr val="tx2"/>
                </a:solidFill>
              </a:rPr>
              <a:t>shortest-path distance</a:t>
            </a:r>
            <a:r>
              <a:rPr lang="en-US" altLang="en-US" dirty="0" smtClean="0"/>
              <a:t> to the source node</a:t>
            </a:r>
          </a:p>
          <a:p>
            <a:pPr lvl="1"/>
            <a:r>
              <a:rPr lang="en-US" altLang="en-US" dirty="0" smtClean="0"/>
              <a:t>Shortest-path distance </a:t>
            </a:r>
            <a:r>
              <a:rPr lang="en-US" altLang="en-US" dirty="0" smtClean="0">
                <a:sym typeface="Symbol" panose="05050102010706020507" pitchFamily="18" charset="2"/>
              </a:rPr>
              <a:t>(</a:t>
            </a:r>
            <a:r>
              <a:rPr lang="en-US" altLang="en-US" dirty="0" err="1" smtClean="0">
                <a:sym typeface="Symbol" panose="05050102010706020507" pitchFamily="18" charset="2"/>
              </a:rPr>
              <a:t>s,v</a:t>
            </a:r>
            <a:r>
              <a:rPr lang="en-US" altLang="en-US" dirty="0" smtClean="0">
                <a:sym typeface="Symbol" panose="05050102010706020507" pitchFamily="18" charset="2"/>
              </a:rPr>
              <a:t>) </a:t>
            </a:r>
            <a:r>
              <a:rPr lang="en-US" altLang="en-US" dirty="0" smtClean="0"/>
              <a:t>= minimum number of edges from s to v, or </a:t>
            </a:r>
            <a:r>
              <a:rPr lang="en-US" altLang="en-US" dirty="0" smtClean="0">
                <a:sym typeface="Symbol" panose="05050102010706020507" pitchFamily="18" charset="2"/>
              </a:rPr>
              <a:t> if v not reachable from s</a:t>
            </a:r>
            <a:endParaRPr lang="en-US" altLang="en-US" dirty="0" smtClean="0"/>
          </a:p>
          <a:p>
            <a:r>
              <a:rPr lang="en-US" altLang="en-US" dirty="0" smtClean="0">
                <a:sym typeface="Symbol" panose="05050102010706020507" pitchFamily="18" charset="2"/>
              </a:rPr>
              <a:t>BFS builds </a:t>
            </a:r>
            <a:r>
              <a:rPr lang="en-US" altLang="en-US" i="1" dirty="0" smtClean="0">
                <a:solidFill>
                  <a:schemeClr val="tx2"/>
                </a:solidFill>
                <a:sym typeface="Symbol" panose="05050102010706020507" pitchFamily="18" charset="2"/>
              </a:rPr>
              <a:t>breadth-first tree</a:t>
            </a:r>
            <a:r>
              <a:rPr lang="en-US" altLang="en-US" dirty="0" smtClean="0">
                <a:sym typeface="Symbol" panose="05050102010706020507" pitchFamily="18" charset="2"/>
              </a:rPr>
              <a:t>, in which paths to root represent shortest paths in G</a:t>
            </a: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Thus can use BFS to calculate shortest path from one vertex to another in O(V+E) time in an unweighted graph</a:t>
            </a:r>
          </a:p>
        </p:txBody>
      </p:sp>
    </p:spTree>
    <p:extLst>
      <p:ext uri="{BB962C8B-B14F-4D97-AF65-F5344CB8AC3E}">
        <p14:creationId xmlns:p14="http://schemas.microsoft.com/office/powerpoint/2010/main" val="332053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72" y="1739264"/>
            <a:ext cx="9913860" cy="37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84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812" y="326707"/>
            <a:ext cx="8449628" cy="63477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7" y="170637"/>
            <a:ext cx="3084755" cy="47518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117532" y="326707"/>
            <a:ext cx="0" cy="608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own Arrow 1"/>
          <p:cNvSpPr/>
          <p:nvPr/>
        </p:nvSpPr>
        <p:spPr>
          <a:xfrm>
            <a:off x="8961120" y="4236720"/>
            <a:ext cx="27432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902" y="4541520"/>
            <a:ext cx="2505075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57412" y="2223413"/>
            <a:ext cx="82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First </a:t>
            </a:r>
          </a:p>
          <a:p>
            <a:pPr algn="ctr"/>
            <a:r>
              <a:rPr lang="en-US" b="1" dirty="0" err="1" smtClean="0"/>
              <a:t>EnQ</a:t>
            </a:r>
            <a:endParaRPr lang="en-US" b="1" dirty="0"/>
          </a:p>
        </p:txBody>
      </p:sp>
      <p:sp>
        <p:nvSpPr>
          <p:cNvPr id="8" name="Right Arrow 7"/>
          <p:cNvSpPr/>
          <p:nvPr/>
        </p:nvSpPr>
        <p:spPr>
          <a:xfrm rot="10800000">
            <a:off x="1984870" y="2423160"/>
            <a:ext cx="301130" cy="306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0800000">
            <a:off x="3126104" y="2455140"/>
            <a:ext cx="627837" cy="2743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238296" y="2729459"/>
            <a:ext cx="1084507" cy="36426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1257300" y="1812814"/>
            <a:ext cx="7840980" cy="105693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69016" y="3006840"/>
            <a:ext cx="1084507" cy="36426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1722120" y="1158496"/>
            <a:ext cx="1846896" cy="197826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77790" y="1812814"/>
            <a:ext cx="5145013" cy="410599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1260548" y="4297680"/>
            <a:ext cx="289560" cy="259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82832" y="4021573"/>
            <a:ext cx="82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Next</a:t>
            </a:r>
          </a:p>
          <a:p>
            <a:pPr algn="ctr"/>
            <a:r>
              <a:rPr lang="en-US" b="1" dirty="0" err="1" smtClean="0"/>
              <a:t>EnQs</a:t>
            </a:r>
            <a:endParaRPr lang="en-US" b="1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32777" y="5017770"/>
            <a:ext cx="30933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47" y="5258549"/>
            <a:ext cx="31745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Assume, before an </a:t>
            </a:r>
            <a:r>
              <a:rPr lang="en-US" dirty="0" err="1" smtClean="0"/>
              <a:t>EnQ</a:t>
            </a:r>
            <a:r>
              <a:rPr lang="en-US" dirty="0" smtClean="0"/>
              <a:t>, P holds</a:t>
            </a:r>
          </a:p>
          <a:p>
            <a:endParaRPr lang="en-US" dirty="0"/>
          </a:p>
          <a:p>
            <a:r>
              <a:rPr lang="en-US" dirty="0" smtClean="0"/>
              <a:t>Then show, after the next </a:t>
            </a:r>
            <a:r>
              <a:rPr lang="en-US" dirty="0" err="1" smtClean="0"/>
              <a:t>EnQ</a:t>
            </a:r>
            <a:r>
              <a:rPr lang="en-US" dirty="0" smtClean="0"/>
              <a:t>, </a:t>
            </a:r>
          </a:p>
          <a:p>
            <a:r>
              <a:rPr lang="en-US" dirty="0" smtClean="0"/>
              <a:t>P still holds 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10427017" y="998476"/>
            <a:ext cx="1414463" cy="381000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582352" y="1295155"/>
            <a:ext cx="6740451" cy="377375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0787623" y="1443482"/>
            <a:ext cx="30328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9703116" y="3599702"/>
            <a:ext cx="1387795" cy="390935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3126103" y="3990637"/>
            <a:ext cx="6577013" cy="1434803"/>
          </a:xfrm>
          <a:prstGeom prst="straightConnector1">
            <a:avLst/>
          </a:prstGeom>
          <a:ln w="635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eft Brace 34"/>
          <p:cNvSpPr/>
          <p:nvPr/>
        </p:nvSpPr>
        <p:spPr>
          <a:xfrm>
            <a:off x="3452812" y="5623560"/>
            <a:ext cx="129540" cy="83531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>
            <a:off x="3108962" y="5910379"/>
            <a:ext cx="331060" cy="3689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5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4" grpId="0" animBg="1"/>
      <p:bldP spid="18" grpId="0" animBg="1"/>
      <p:bldP spid="19" grpId="0" animBg="1"/>
      <p:bldP spid="20" grpId="0"/>
      <p:bldP spid="23" grpId="0"/>
      <p:bldP spid="26" grpId="0" animBg="1"/>
      <p:bldP spid="27" grpId="0" animBg="1"/>
      <p:bldP spid="28" grpId="0" animBg="1"/>
      <p:bldP spid="29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707"/>
            <a:ext cx="3084755" cy="47518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117532" y="326707"/>
            <a:ext cx="0" cy="608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052" y="326707"/>
            <a:ext cx="8129588" cy="61881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28360" y="1844040"/>
            <a:ext cx="4587240" cy="30480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157412" y="2223413"/>
            <a:ext cx="82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First Q</a:t>
            </a:r>
          </a:p>
          <a:p>
            <a:pPr algn="ctr"/>
            <a:r>
              <a:rPr lang="en-US" b="1" dirty="0" smtClean="0"/>
              <a:t>Ops.</a:t>
            </a:r>
            <a:endParaRPr lang="en-US" b="1" dirty="0"/>
          </a:p>
        </p:txBody>
      </p:sp>
      <p:sp>
        <p:nvSpPr>
          <p:cNvPr id="8" name="Right Arrow 7"/>
          <p:cNvSpPr/>
          <p:nvPr/>
        </p:nvSpPr>
        <p:spPr>
          <a:xfrm rot="10800000">
            <a:off x="1984870" y="2423160"/>
            <a:ext cx="301130" cy="306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021080" y="3185160"/>
            <a:ext cx="289560" cy="111252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1097280" y="4251960"/>
            <a:ext cx="441960" cy="3200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4320" y="3928794"/>
            <a:ext cx="82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Next Q Ops.</a:t>
            </a:r>
            <a:endParaRPr lang="en-US" b="1" dirty="0"/>
          </a:p>
        </p:txBody>
      </p:sp>
      <p:sp>
        <p:nvSpPr>
          <p:cNvPr id="14" name="Right Brace 13"/>
          <p:cNvSpPr/>
          <p:nvPr/>
        </p:nvSpPr>
        <p:spPr>
          <a:xfrm>
            <a:off x="11338560" y="2775179"/>
            <a:ext cx="259080" cy="10119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1597640" y="309649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dQ</a:t>
            </a:r>
            <a:endParaRPr lang="en-US" dirty="0"/>
          </a:p>
        </p:txBody>
      </p:sp>
      <p:sp>
        <p:nvSpPr>
          <p:cNvPr id="16" name="Right Brace 15"/>
          <p:cNvSpPr/>
          <p:nvPr/>
        </p:nvSpPr>
        <p:spPr>
          <a:xfrm>
            <a:off x="11490960" y="4238219"/>
            <a:ext cx="182880" cy="17206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1582400" y="468145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enQ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01663" y="4999265"/>
            <a:ext cx="31315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Before </a:t>
            </a:r>
            <a:r>
              <a:rPr lang="en-US" dirty="0" err="1" smtClean="0"/>
              <a:t>dQ</a:t>
            </a:r>
            <a:r>
              <a:rPr lang="en-US" dirty="0"/>
              <a:t>,</a:t>
            </a:r>
            <a:r>
              <a:rPr lang="en-US" dirty="0" smtClean="0"/>
              <a:t> IH holds:</a:t>
            </a:r>
          </a:p>
          <a:p>
            <a:r>
              <a:rPr lang="en-US" dirty="0" smtClean="0"/>
              <a:t>v1.d &lt;= v2.d &lt;= v3.d…&lt;= </a:t>
            </a:r>
            <a:r>
              <a:rPr lang="en-US" dirty="0" err="1" smtClean="0"/>
              <a:t>v_r.d</a:t>
            </a:r>
            <a:endParaRPr lang="en-US" dirty="0" smtClean="0"/>
          </a:p>
          <a:p>
            <a:r>
              <a:rPr lang="en-US" dirty="0" err="1" smtClean="0"/>
              <a:t>v_r.d</a:t>
            </a:r>
            <a:r>
              <a:rPr lang="en-US" dirty="0" smtClean="0"/>
              <a:t>&lt;= v1.d+1</a:t>
            </a:r>
          </a:p>
          <a:p>
            <a:r>
              <a:rPr lang="en-US" dirty="0" smtClean="0"/>
              <a:t>After </a:t>
            </a:r>
            <a:r>
              <a:rPr lang="en-US" dirty="0" err="1" smtClean="0"/>
              <a:t>dQ</a:t>
            </a:r>
            <a:r>
              <a:rPr lang="en-US" dirty="0"/>
              <a:t> </a:t>
            </a:r>
            <a:r>
              <a:rPr lang="en-US" dirty="0" smtClean="0"/>
              <a:t>(of v1):</a:t>
            </a:r>
          </a:p>
          <a:p>
            <a:r>
              <a:rPr lang="en-US" dirty="0" smtClean="0"/>
              <a:t>v2.d </a:t>
            </a:r>
            <a:r>
              <a:rPr lang="en-US" dirty="0"/>
              <a:t>&lt;= v3.d…&lt;= </a:t>
            </a:r>
            <a:r>
              <a:rPr lang="en-US" dirty="0" err="1" smtClean="0"/>
              <a:t>v_r.d</a:t>
            </a:r>
            <a:r>
              <a:rPr lang="en-US" dirty="0" smtClean="0"/>
              <a:t> (Okay)</a:t>
            </a:r>
          </a:p>
          <a:p>
            <a:r>
              <a:rPr lang="en-US" dirty="0" err="1"/>
              <a:t>v_r.d</a:t>
            </a:r>
            <a:r>
              <a:rPr lang="en-US" dirty="0"/>
              <a:t>&lt;= </a:t>
            </a:r>
            <a:r>
              <a:rPr lang="en-US" dirty="0" smtClean="0"/>
              <a:t>v1.d+1 &lt;=v2.d+1 (Okay)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38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7"/>
            <a:ext cx="3084755" cy="47518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117532" y="326707"/>
            <a:ext cx="0" cy="608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052" y="326707"/>
            <a:ext cx="8129588" cy="61881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28360" y="1844040"/>
            <a:ext cx="4587240" cy="30480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157412" y="1933853"/>
            <a:ext cx="82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First Q</a:t>
            </a:r>
          </a:p>
          <a:p>
            <a:pPr algn="ctr"/>
            <a:r>
              <a:rPr lang="en-US" b="1" dirty="0" smtClean="0"/>
              <a:t>Ops.</a:t>
            </a:r>
            <a:endParaRPr lang="en-US" b="1" dirty="0"/>
          </a:p>
        </p:txBody>
      </p:sp>
      <p:sp>
        <p:nvSpPr>
          <p:cNvPr id="8" name="Right Arrow 7"/>
          <p:cNvSpPr/>
          <p:nvPr/>
        </p:nvSpPr>
        <p:spPr>
          <a:xfrm rot="10800000">
            <a:off x="1984870" y="2133600"/>
            <a:ext cx="301130" cy="306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021080" y="2895600"/>
            <a:ext cx="289560" cy="111252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1097280" y="3962400"/>
            <a:ext cx="441960" cy="3200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4320" y="3639234"/>
            <a:ext cx="82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Next Q Ops.</a:t>
            </a:r>
            <a:endParaRPr lang="en-US" b="1" dirty="0"/>
          </a:p>
        </p:txBody>
      </p:sp>
      <p:sp>
        <p:nvSpPr>
          <p:cNvPr id="14" name="Right Brace 13"/>
          <p:cNvSpPr/>
          <p:nvPr/>
        </p:nvSpPr>
        <p:spPr>
          <a:xfrm>
            <a:off x="11338560" y="2775179"/>
            <a:ext cx="259080" cy="10119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1597640" y="309649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dQ</a:t>
            </a:r>
            <a:endParaRPr lang="en-US" dirty="0"/>
          </a:p>
        </p:txBody>
      </p:sp>
      <p:sp>
        <p:nvSpPr>
          <p:cNvPr id="16" name="Right Brace 15"/>
          <p:cNvSpPr/>
          <p:nvPr/>
        </p:nvSpPr>
        <p:spPr>
          <a:xfrm>
            <a:off x="11490960" y="4238219"/>
            <a:ext cx="182880" cy="17206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1582400" y="468145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enQ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01662" y="4618265"/>
            <a:ext cx="29044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Before </a:t>
            </a:r>
            <a:r>
              <a:rPr lang="en-US" dirty="0" err="1" smtClean="0"/>
              <a:t>enQ</a:t>
            </a:r>
            <a:r>
              <a:rPr lang="en-US" dirty="0"/>
              <a:t>,</a:t>
            </a:r>
            <a:r>
              <a:rPr lang="en-US" dirty="0" smtClean="0"/>
              <a:t> IH holds:</a:t>
            </a:r>
          </a:p>
          <a:p>
            <a:r>
              <a:rPr lang="en-US" dirty="0" smtClean="0"/>
              <a:t>u is just out. </a:t>
            </a:r>
            <a:r>
              <a:rPr lang="en-US" dirty="0" err="1" smtClean="0"/>
              <a:t>u.d</a:t>
            </a:r>
            <a:r>
              <a:rPr lang="en-US" dirty="0" smtClean="0"/>
              <a:t> &lt;= v1.d.</a:t>
            </a:r>
          </a:p>
          <a:p>
            <a:r>
              <a:rPr lang="en-US" dirty="0" err="1" smtClean="0"/>
              <a:t>v_r.d</a:t>
            </a:r>
            <a:r>
              <a:rPr lang="en-US" dirty="0" smtClean="0"/>
              <a:t> &lt;= </a:t>
            </a:r>
            <a:r>
              <a:rPr lang="en-US" dirty="0" err="1" smtClean="0"/>
              <a:t>u.d</a:t>
            </a:r>
            <a:r>
              <a:rPr lang="en-US" dirty="0" smtClean="0"/>
              <a:t> +1</a:t>
            </a:r>
          </a:p>
          <a:p>
            <a:r>
              <a:rPr lang="en-US" dirty="0" smtClean="0"/>
              <a:t>After </a:t>
            </a:r>
            <a:r>
              <a:rPr lang="en-US" dirty="0" err="1" smtClean="0"/>
              <a:t>enQ</a:t>
            </a:r>
            <a:r>
              <a:rPr lang="en-US" dirty="0" smtClean="0"/>
              <a:t>: v</a:t>
            </a:r>
            <a:r>
              <a:rPr lang="en-US" dirty="0"/>
              <a:t>_{r+1</a:t>
            </a:r>
            <a:r>
              <a:rPr lang="en-US" dirty="0" smtClean="0"/>
              <a:t>} = v </a:t>
            </a:r>
            <a:r>
              <a:rPr lang="en-US" dirty="0"/>
              <a:t>is </a:t>
            </a:r>
            <a:r>
              <a:rPr lang="en-US" dirty="0" smtClean="0"/>
              <a:t>in.</a:t>
            </a:r>
            <a:endParaRPr lang="en-US" dirty="0"/>
          </a:p>
          <a:p>
            <a:r>
              <a:rPr lang="en-US" dirty="0"/>
              <a:t>v_{r+1</a:t>
            </a:r>
            <a:r>
              <a:rPr lang="en-US" dirty="0" smtClean="0"/>
              <a:t>}.d </a:t>
            </a:r>
            <a:r>
              <a:rPr lang="en-US" dirty="0"/>
              <a:t>= </a:t>
            </a:r>
            <a:r>
              <a:rPr lang="en-US" dirty="0" err="1" smtClean="0"/>
              <a:t>v.d</a:t>
            </a:r>
            <a:r>
              <a:rPr lang="en-US" dirty="0" smtClean="0"/>
              <a:t> = </a:t>
            </a:r>
            <a:r>
              <a:rPr lang="en-US" dirty="0" err="1" smtClean="0"/>
              <a:t>u.d</a:t>
            </a:r>
            <a:r>
              <a:rPr lang="en-US" dirty="0" smtClean="0"/>
              <a:t> + 1 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&lt;= v1.d + 1 (Okay)</a:t>
            </a:r>
          </a:p>
          <a:p>
            <a:r>
              <a:rPr lang="en-US" dirty="0" smtClean="0"/>
              <a:t>Also, </a:t>
            </a:r>
            <a:r>
              <a:rPr lang="en-US" dirty="0" err="1"/>
              <a:t>v_r.d</a:t>
            </a:r>
            <a:r>
              <a:rPr lang="en-US" dirty="0"/>
              <a:t> &lt;= </a:t>
            </a:r>
            <a:r>
              <a:rPr lang="en-US" dirty="0" err="1"/>
              <a:t>u.d</a:t>
            </a:r>
            <a:r>
              <a:rPr lang="en-US" dirty="0"/>
              <a:t> +</a:t>
            </a:r>
            <a:r>
              <a:rPr lang="en-US" dirty="0" smtClean="0"/>
              <a:t>1 </a:t>
            </a:r>
            <a:r>
              <a:rPr lang="en-US" dirty="0"/>
              <a:t>= </a:t>
            </a:r>
            <a:r>
              <a:rPr lang="en-US" dirty="0" err="1"/>
              <a:t>v.d</a:t>
            </a:r>
            <a:r>
              <a:rPr lang="en-US" dirty="0"/>
              <a:t> </a:t>
            </a:r>
            <a:r>
              <a:rPr lang="en-US" dirty="0" smtClean="0"/>
              <a:t>= </a:t>
            </a:r>
          </a:p>
          <a:p>
            <a:r>
              <a:rPr lang="en-US" dirty="0" smtClean="0"/>
              <a:t>v</a:t>
            </a:r>
            <a:r>
              <a:rPr lang="en-US" dirty="0"/>
              <a:t>_{r+1}.</a:t>
            </a:r>
            <a:r>
              <a:rPr lang="en-US" dirty="0" smtClean="0"/>
              <a:t>d.</a:t>
            </a:r>
          </a:p>
        </p:txBody>
      </p:sp>
    </p:spTree>
    <p:extLst>
      <p:ext uri="{BB962C8B-B14F-4D97-AF65-F5344CB8AC3E}">
        <p14:creationId xmlns:p14="http://schemas.microsoft.com/office/powerpoint/2010/main" val="356296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9277"/>
            <a:ext cx="3084755" cy="47518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117532" y="326707"/>
            <a:ext cx="0" cy="608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532" y="326707"/>
            <a:ext cx="4155646" cy="31632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232" y="3911917"/>
            <a:ext cx="7964245" cy="189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2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9277"/>
            <a:ext cx="3084755" cy="47518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117532" y="326707"/>
            <a:ext cx="0" cy="608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502" y="208597"/>
            <a:ext cx="8537258" cy="23138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881" y="2573375"/>
            <a:ext cx="4430079" cy="384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0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870" y="325933"/>
            <a:ext cx="7548170" cy="65473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" y="310693"/>
            <a:ext cx="3084755" cy="47518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595812" y="344893"/>
            <a:ext cx="0" cy="608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2577"/>
            <a:ext cx="4600200" cy="159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3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10693"/>
            <a:ext cx="3084755" cy="47518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595812" y="344893"/>
            <a:ext cx="0" cy="608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62577"/>
            <a:ext cx="4600200" cy="15973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562" y="66675"/>
            <a:ext cx="3800475" cy="476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037" y="560634"/>
            <a:ext cx="685800" cy="352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562" y="579685"/>
            <a:ext cx="6994692" cy="837636"/>
          </a:xfrm>
          <a:prstGeom prst="rect">
            <a:avLst/>
          </a:prstGeom>
        </p:spPr>
      </p:pic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>
          <a:xfrm>
            <a:off x="4881562" y="1454081"/>
            <a:ext cx="6472238" cy="52057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When u is </a:t>
            </a:r>
            <a:r>
              <a:rPr lang="en-US" dirty="0" err="1" smtClean="0"/>
              <a:t>dequeued</a:t>
            </a:r>
            <a:r>
              <a:rPr lang="en-US" dirty="0" smtClean="0"/>
              <a:t> from Q: </a:t>
            </a:r>
          </a:p>
          <a:p>
            <a:pPr marL="0" indent="0">
              <a:buNone/>
            </a:pPr>
            <a:r>
              <a:rPr lang="en-US" dirty="0" smtClean="0"/>
              <a:t>Case 1: v is white</a:t>
            </a:r>
          </a:p>
          <a:p>
            <a:r>
              <a:rPr lang="en-US" dirty="0" err="1" smtClean="0"/>
              <a:t>v.d</a:t>
            </a:r>
            <a:r>
              <a:rPr lang="en-US" dirty="0" smtClean="0"/>
              <a:t> = </a:t>
            </a:r>
            <a:r>
              <a:rPr lang="en-US" dirty="0" err="1" smtClean="0"/>
              <a:t>u.d</a:t>
            </a:r>
            <a:r>
              <a:rPr lang="en-US" dirty="0" smtClean="0"/>
              <a:t> + 1 [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Contradicts 22.1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/>
              <a:t>Case </a:t>
            </a:r>
            <a:r>
              <a:rPr lang="en-US" dirty="0" smtClean="0"/>
              <a:t>2: </a:t>
            </a:r>
            <a:r>
              <a:rPr lang="en-US" dirty="0"/>
              <a:t>v is </a:t>
            </a:r>
            <a:r>
              <a:rPr lang="en-US" dirty="0" smtClean="0"/>
              <a:t>black</a:t>
            </a:r>
          </a:p>
          <a:p>
            <a:r>
              <a:rPr lang="en-US" dirty="0" smtClean="0"/>
              <a:t>v has been handled before u.</a:t>
            </a:r>
          </a:p>
          <a:p>
            <a:r>
              <a:rPr lang="en-US" dirty="0" smtClean="0"/>
              <a:t>Cor. 22.4=&gt; </a:t>
            </a:r>
            <a:r>
              <a:rPr lang="en-US" dirty="0" err="1" smtClean="0"/>
              <a:t>v.d</a:t>
            </a:r>
            <a:r>
              <a:rPr lang="en-US" dirty="0" smtClean="0"/>
              <a:t> &lt;= </a:t>
            </a:r>
            <a:r>
              <a:rPr lang="en-US" dirty="0" err="1" smtClean="0"/>
              <a:t>u.d</a:t>
            </a:r>
            <a:r>
              <a:rPr lang="en-US" dirty="0" smtClean="0"/>
              <a:t> </a:t>
            </a:r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Contradicts 22.1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/>
              <a:t>Case </a:t>
            </a:r>
            <a:r>
              <a:rPr lang="en-US" dirty="0" smtClean="0"/>
              <a:t>3: </a:t>
            </a:r>
            <a:r>
              <a:rPr lang="en-US" dirty="0"/>
              <a:t>v is </a:t>
            </a:r>
            <a:r>
              <a:rPr lang="en-US" dirty="0" smtClean="0"/>
              <a:t>gray</a:t>
            </a:r>
            <a:endParaRPr lang="en-US" dirty="0"/>
          </a:p>
          <a:p>
            <a:r>
              <a:rPr lang="en-US" dirty="0" smtClean="0"/>
              <a:t>someone else (not u) ‘painted’ it gray (say w)</a:t>
            </a:r>
          </a:p>
          <a:p>
            <a:r>
              <a:rPr lang="en-US" dirty="0" err="1" smtClean="0"/>
              <a:t>v.d</a:t>
            </a:r>
            <a:r>
              <a:rPr lang="en-US" dirty="0" smtClean="0"/>
              <a:t> = </a:t>
            </a:r>
            <a:r>
              <a:rPr lang="en-US" dirty="0" err="1" smtClean="0"/>
              <a:t>w.d</a:t>
            </a:r>
            <a:r>
              <a:rPr lang="en-US" dirty="0" smtClean="0"/>
              <a:t> +1 (A)</a:t>
            </a:r>
          </a:p>
          <a:p>
            <a:r>
              <a:rPr lang="en-US" dirty="0" smtClean="0"/>
              <a:t>w </a:t>
            </a:r>
            <a:r>
              <a:rPr lang="en-US" dirty="0"/>
              <a:t>has been handled before u</a:t>
            </a:r>
            <a:r>
              <a:rPr lang="en-US" dirty="0" smtClean="0"/>
              <a:t>.</a:t>
            </a:r>
          </a:p>
          <a:p>
            <a:r>
              <a:rPr lang="en-US" dirty="0"/>
              <a:t>Cor. 22.4=&gt; </a:t>
            </a:r>
            <a:r>
              <a:rPr lang="en-US" dirty="0" err="1" smtClean="0"/>
              <a:t>w.d</a:t>
            </a:r>
            <a:r>
              <a:rPr lang="en-US" dirty="0" smtClean="0"/>
              <a:t> </a:t>
            </a:r>
            <a:r>
              <a:rPr lang="en-US" dirty="0"/>
              <a:t>&lt;= </a:t>
            </a:r>
            <a:r>
              <a:rPr lang="en-US" dirty="0" err="1" smtClean="0"/>
              <a:t>u.d</a:t>
            </a:r>
            <a:r>
              <a:rPr lang="en-US" dirty="0" smtClean="0"/>
              <a:t> (B)</a:t>
            </a:r>
          </a:p>
          <a:p>
            <a:r>
              <a:rPr lang="en-US" dirty="0" smtClean="0"/>
              <a:t>(A) and (B) =&gt; </a:t>
            </a:r>
            <a:r>
              <a:rPr lang="en-US" dirty="0" err="1"/>
              <a:t>v.d</a:t>
            </a:r>
            <a:r>
              <a:rPr lang="en-US" dirty="0"/>
              <a:t> &lt;= </a:t>
            </a:r>
            <a:r>
              <a:rPr lang="en-US" dirty="0" err="1"/>
              <a:t>u.d</a:t>
            </a:r>
            <a:r>
              <a:rPr lang="en-US" dirty="0"/>
              <a:t> [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Contradicts 22.1</a:t>
            </a:r>
            <a:r>
              <a:rPr lang="en-US" dirty="0" smtClean="0"/>
              <a:t>]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2667000" y="1585950"/>
            <a:ext cx="2214562" cy="155920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063240" y="2460347"/>
            <a:ext cx="1818322" cy="163921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3058853" y="4099561"/>
            <a:ext cx="1822709" cy="65531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95812" y="1417321"/>
            <a:ext cx="7596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Trees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4840" y="1537334"/>
                <a:ext cx="11430000" cy="5032376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The procedure BFS builds a breadth-first tree as it searches the graph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The </a:t>
                </a:r>
                <a:r>
                  <a:rPr lang="en-US" dirty="0"/>
                  <a:t>tree corresponds to the </a:t>
                </a:r>
                <a:r>
                  <a:rPr lang="en-US" dirty="0" smtClean="0">
                    <a:sym typeface="Symbol" panose="05050102010706020507" pitchFamily="18" charset="2"/>
                  </a:rPr>
                  <a:t></a:t>
                </a:r>
                <a:r>
                  <a:rPr lang="en-US" dirty="0" smtClean="0"/>
                  <a:t> </a:t>
                </a:r>
                <a:r>
                  <a:rPr lang="en-US" dirty="0"/>
                  <a:t>attributes. </a:t>
                </a:r>
                <a:endParaRPr lang="en-US" dirty="0" smtClean="0"/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More </a:t>
                </a:r>
                <a:r>
                  <a:rPr lang="en-US" dirty="0"/>
                  <a:t>formally, </a:t>
                </a:r>
                <a:r>
                  <a:rPr lang="en-US" dirty="0" smtClean="0"/>
                  <a:t>for a </a:t>
                </a:r>
                <a:r>
                  <a:rPr lang="en-US" dirty="0"/>
                  <a:t>graph </a:t>
                </a:r>
                <a:r>
                  <a:rPr lang="en-US" dirty="0" smtClean="0"/>
                  <a:t>G = (V, E) </a:t>
                </a:r>
                <a:r>
                  <a:rPr lang="en-US" dirty="0"/>
                  <a:t>with source s, we define </a:t>
                </a:r>
                <a:r>
                  <a:rPr lang="en-US" dirty="0" smtClean="0"/>
                  <a:t>the </a:t>
                </a:r>
                <a:r>
                  <a:rPr lang="en-US" b="1" i="1" dirty="0" smtClean="0"/>
                  <a:t>predecessor </a:t>
                </a:r>
                <a:r>
                  <a:rPr lang="en-US" b="1" i="1" dirty="0"/>
                  <a:t>subgraph </a:t>
                </a:r>
                <a:r>
                  <a:rPr lang="en-US" dirty="0"/>
                  <a:t>of G </a:t>
                </a:r>
                <a:r>
                  <a:rPr lang="en-US" dirty="0" smtClean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l-GR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where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NIL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/>
                        <m:t>= {(</m:t>
                      </m:r>
                      <m:r>
                        <m:rPr>
                          <m:nor/>
                        </m:rPr>
                        <a:rPr lang="en-US" dirty="0"/>
                        <m:t>v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m:rPr>
                          <m:nor/>
                        </m:rPr>
                        <a:rPr lang="en-US" b="0" i="0" dirty="0" smtClean="0"/>
                        <m:t>, </m:t>
                      </m:r>
                      <m:r>
                        <m:rPr>
                          <m:nor/>
                        </m:rPr>
                        <a:rPr lang="en-US" b="0" i="0" dirty="0" smtClean="0"/>
                        <m:t>v</m:t>
                      </m:r>
                      <m:r>
                        <m:rPr>
                          <m:nor/>
                        </m:rPr>
                        <a:rPr lang="en-US" dirty="0"/>
                        <m:t>)</m:t>
                      </m:r>
                      <m:r>
                        <m:rPr>
                          <m:nor/>
                        </m:rPr>
                        <a:rPr lang="en-US" b="0" i="0" dirty="0" smtClean="0"/>
                        <m:t> : </m:t>
                      </m:r>
                      <m:r>
                        <m:rPr>
                          <m:nor/>
                        </m:rPr>
                        <a:rPr lang="en-US" b="0" i="0" dirty="0" smtClean="0"/>
                        <m:t>v</m:t>
                      </m:r>
                      <m:r>
                        <m:rPr>
                          <m:nor/>
                        </m:rPr>
                        <a:rPr lang="en-US" b="0" i="0" dirty="0" smtClean="0"/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− 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}}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 smtClean="0"/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The </a:t>
                </a:r>
                <a:r>
                  <a:rPr lang="en-US" dirty="0"/>
                  <a:t>predecessor subgraph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:r>
                  <a:rPr lang="en-US" b="1" i="1" dirty="0"/>
                  <a:t>breadth-first tree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consists of the vertices</a:t>
                </a:r>
                <a:br>
                  <a:rPr lang="en-US" dirty="0"/>
                </a:br>
                <a:r>
                  <a:rPr lang="en-US" dirty="0"/>
                  <a:t>reachable from s and,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, the subgraph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contains a unique simple path from s to </a:t>
                </a:r>
                <a:r>
                  <a:rPr lang="en-US" dirty="0" smtClean="0"/>
                  <a:t>v </a:t>
                </a:r>
                <a:r>
                  <a:rPr lang="en-US" dirty="0"/>
                  <a:t>that is also a shortest path from s to </a:t>
                </a:r>
                <a:r>
                  <a:rPr lang="en-US" dirty="0" smtClean="0"/>
                  <a:t>v </a:t>
                </a:r>
                <a:r>
                  <a:rPr lang="en-US" dirty="0"/>
                  <a:t>in </a:t>
                </a:r>
                <a:r>
                  <a:rPr lang="en-US" dirty="0" smtClean="0"/>
                  <a:t>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840" y="1537334"/>
                <a:ext cx="11430000" cy="5032376"/>
              </a:xfrm>
              <a:blipFill>
                <a:blip r:embed="rId2"/>
                <a:stretch>
                  <a:fillRect l="-853" b="-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66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9277"/>
            <a:ext cx="3084755" cy="47518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117532" y="326707"/>
            <a:ext cx="0" cy="608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746" y="3310414"/>
            <a:ext cx="8761516" cy="30446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746" y="566877"/>
            <a:ext cx="8268934" cy="224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6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876</Words>
  <Application>Microsoft Office PowerPoint</Application>
  <PresentationFormat>Widescreen</PresentationFormat>
  <Paragraphs>319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Symbol</vt:lpstr>
      <vt:lpstr>Tahoma</vt:lpstr>
      <vt:lpstr>Times New Roman</vt:lpstr>
      <vt:lpstr>Wingdings</vt:lpstr>
      <vt:lpstr>Office Theme</vt:lpstr>
      <vt:lpstr>Graphs-II</vt:lpstr>
      <vt:lpstr>Graph Searching</vt:lpstr>
      <vt:lpstr>Breadth-First Search</vt:lpstr>
      <vt:lpstr>Breadth-First Search</vt:lpstr>
      <vt:lpstr>Breadth-First Search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BFS: Analysis</vt:lpstr>
      <vt:lpstr>Breadth-First Search: Properties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Breadth-first Trees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Graphs-II</dc:title>
  <dc:creator>user</dc:creator>
  <cp:lastModifiedBy>user</cp:lastModifiedBy>
  <cp:revision>28</cp:revision>
  <dcterms:created xsi:type="dcterms:W3CDTF">2021-12-17T12:16:58Z</dcterms:created>
  <dcterms:modified xsi:type="dcterms:W3CDTF">2021-12-20T04:45:02Z</dcterms:modified>
</cp:coreProperties>
</file>