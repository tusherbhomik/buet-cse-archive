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353" r:id="rId3"/>
    <p:sldId id="355" r:id="rId4"/>
    <p:sldId id="356" r:id="rId5"/>
    <p:sldId id="354" r:id="rId6"/>
    <p:sldId id="357" r:id="rId7"/>
    <p:sldId id="358" r:id="rId8"/>
    <p:sldId id="359" r:id="rId9"/>
    <p:sldId id="360" r:id="rId10"/>
    <p:sldId id="361" r:id="rId11"/>
    <p:sldId id="362" r:id="rId12"/>
    <p:sldId id="363" r:id="rId13"/>
    <p:sldId id="364" r:id="rId14"/>
    <p:sldId id="365" r:id="rId15"/>
    <p:sldId id="366" r:id="rId16"/>
    <p:sldId id="367" r:id="rId17"/>
    <p:sldId id="3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7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024C9-18AD-495D-A54A-6FFA96519E06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18759-DABD-4892-B834-CDF2E12FF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141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26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0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30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3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5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1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0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9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67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7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EA405-C945-40C5-A026-D7A5AF97B225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03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5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Heaps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67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Algorithms and Analysis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46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61160" y="6356350"/>
            <a:ext cx="41148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ea typeface="新細明體" pitchFamily="18" charset="-120"/>
              </a:rPr>
              <a:t>Heaps</a:t>
            </a:r>
          </a:p>
        </p:txBody>
      </p:sp>
      <p:sp>
        <p:nvSpPr>
          <p:cNvPr id="163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0DCB8F-1844-4838-ABCE-F3B042C21763}" type="slidenum">
              <a:rPr lang="en-US" altLang="zh-TW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TW" sz="1400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081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zh-TW" dirty="0" smtClean="0">
                <a:ea typeface="新細明體" pitchFamily="18" charset="-120"/>
              </a:rPr>
              <a:t>Height of a Heap</a:t>
            </a:r>
          </a:p>
        </p:txBody>
      </p:sp>
      <p:sp>
        <p:nvSpPr>
          <p:cNvPr id="1638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0683" y="1106489"/>
            <a:ext cx="10957560" cy="1470023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dirty="0">
                <a:solidFill>
                  <a:schemeClr val="tx2"/>
                </a:solidFill>
                <a:ea typeface="新細明體" pitchFamily="18" charset="-120"/>
              </a:rPr>
              <a:t>Theorem:</a:t>
            </a:r>
            <a:r>
              <a:rPr lang="en-US" altLang="zh-TW" dirty="0">
                <a:ea typeface="新細明體" pitchFamily="18" charset="-120"/>
              </a:rPr>
              <a:t> A heap storing </a:t>
            </a:r>
            <a:r>
              <a:rPr lang="en-US" altLang="zh-TW" b="1" i="1" dirty="0">
                <a:latin typeface="Times New Roman" panose="02020603050405020304" pitchFamily="18" charset="0"/>
                <a:ea typeface="新細明體" pitchFamily="18" charset="-12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</a:rPr>
              <a:t> </a:t>
            </a:r>
            <a:r>
              <a:rPr lang="en-US" altLang="zh-TW" dirty="0">
                <a:ea typeface="新細明體" pitchFamily="18" charset="-120"/>
              </a:rPr>
              <a:t>keys has height </a:t>
            </a:r>
            <a:r>
              <a:rPr lang="en-US" altLang="zh-TW" b="1" i="1" dirty="0">
                <a:latin typeface="Times New Roman" panose="02020603050405020304" pitchFamily="18" charset="0"/>
                <a:ea typeface="新細明體" pitchFamily="18" charset="-120"/>
              </a:rPr>
              <a:t>O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</a:rPr>
              <a:t>(log </a:t>
            </a:r>
            <a:r>
              <a:rPr lang="en-US" altLang="zh-TW" b="1" i="1" dirty="0">
                <a:latin typeface="Times New Roman" panose="02020603050405020304" pitchFamily="18" charset="0"/>
                <a:ea typeface="新細明體" pitchFamily="18" charset="-12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ea typeface="新細明體" pitchFamily="18" charset="-120"/>
              </a:rPr>
              <a:t>	Proof: (we apply the complete binary tree property)</a:t>
            </a:r>
          </a:p>
          <a:p>
            <a:pPr lvl="1" eaLnBrk="1" hangingPunct="1"/>
            <a:r>
              <a:rPr lang="en-US" altLang="zh-TW" dirty="0">
                <a:ea typeface="新細明體" pitchFamily="18" charset="-120"/>
              </a:rPr>
              <a:t>Let </a:t>
            </a:r>
            <a:r>
              <a:rPr lang="en-US" altLang="zh-TW" b="1" i="1" dirty="0">
                <a:latin typeface="Times New Roman" panose="02020603050405020304" pitchFamily="18" charset="0"/>
                <a:ea typeface="新細明體" pitchFamily="18" charset="-120"/>
              </a:rPr>
              <a:t>h</a:t>
            </a:r>
            <a:r>
              <a:rPr lang="en-US" altLang="zh-TW" dirty="0">
                <a:ea typeface="新細明體" pitchFamily="18" charset="-120"/>
              </a:rPr>
              <a:t> be the height of a heap storing </a:t>
            </a:r>
            <a:r>
              <a:rPr lang="en-US" altLang="zh-TW" b="1" i="1" dirty="0">
                <a:latin typeface="Times New Roman" panose="02020603050405020304" pitchFamily="18" charset="0"/>
                <a:ea typeface="新細明體" pitchFamily="18" charset="-120"/>
              </a:rPr>
              <a:t>n </a:t>
            </a:r>
            <a:r>
              <a:rPr lang="en-US" altLang="zh-TW" dirty="0" smtClean="0">
                <a:ea typeface="新細明體" pitchFamily="18" charset="-120"/>
              </a:rPr>
              <a:t>keys</a:t>
            </a: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16390" name="Line 71"/>
          <p:cNvSpPr>
            <a:spLocks noChangeShapeType="1"/>
          </p:cNvSpPr>
          <p:nvPr/>
        </p:nvSpPr>
        <p:spPr bwMode="auto">
          <a:xfrm flipH="1">
            <a:off x="1540510" y="6054725"/>
            <a:ext cx="58737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Line 72"/>
          <p:cNvSpPr>
            <a:spLocks noChangeShapeType="1"/>
          </p:cNvSpPr>
          <p:nvPr/>
        </p:nvSpPr>
        <p:spPr bwMode="auto">
          <a:xfrm flipH="1">
            <a:off x="1540510" y="5599113"/>
            <a:ext cx="58737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Line 73"/>
          <p:cNvSpPr>
            <a:spLocks noChangeShapeType="1"/>
          </p:cNvSpPr>
          <p:nvPr/>
        </p:nvSpPr>
        <p:spPr bwMode="auto">
          <a:xfrm flipH="1">
            <a:off x="1540510" y="5141913"/>
            <a:ext cx="58737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Line 74"/>
          <p:cNvSpPr>
            <a:spLocks noChangeShapeType="1"/>
          </p:cNvSpPr>
          <p:nvPr/>
        </p:nvSpPr>
        <p:spPr bwMode="auto">
          <a:xfrm flipH="1">
            <a:off x="1540510" y="4686300"/>
            <a:ext cx="58737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4" name="Oval 4"/>
          <p:cNvSpPr>
            <a:spLocks noChangeArrowheads="1"/>
          </p:cNvSpPr>
          <p:nvPr/>
        </p:nvSpPr>
        <p:spPr bwMode="auto">
          <a:xfrm>
            <a:off x="4790124" y="4483100"/>
            <a:ext cx="338137" cy="3381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zh-TW" sz="2000">
              <a:latin typeface="Times New Roman" panose="02020603050405020304" pitchFamily="18" charset="0"/>
              <a:ea typeface="新細明體" pitchFamily="18" charset="-120"/>
              <a:sym typeface="Symbol" panose="05050102010706020507" pitchFamily="18" charset="2"/>
            </a:endParaRPr>
          </a:p>
        </p:txBody>
      </p:sp>
      <p:grpSp>
        <p:nvGrpSpPr>
          <p:cNvPr id="16395" name="Group 66"/>
          <p:cNvGrpSpPr>
            <a:grpSpLocks/>
          </p:cNvGrpSpPr>
          <p:nvPr/>
        </p:nvGrpSpPr>
        <p:grpSpPr bwMode="auto">
          <a:xfrm>
            <a:off x="3613785" y="4956175"/>
            <a:ext cx="2743200" cy="338138"/>
            <a:chOff x="2139" y="2808"/>
            <a:chExt cx="1950" cy="240"/>
          </a:xfrm>
        </p:grpSpPr>
        <p:sp>
          <p:nvSpPr>
            <p:cNvPr id="16423" name="Oval 5"/>
            <p:cNvSpPr>
              <a:spLocks noChangeArrowheads="1"/>
            </p:cNvSpPr>
            <p:nvPr/>
          </p:nvSpPr>
          <p:spPr bwMode="auto">
            <a:xfrm>
              <a:off x="3849" y="280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000">
                <a:latin typeface="Times New Roman" panose="02020603050405020304" pitchFamily="18" charset="0"/>
                <a:ea typeface="新細明體" pitchFamily="18" charset="-120"/>
                <a:sym typeface="Symbol" panose="05050102010706020507" pitchFamily="18" charset="2"/>
              </a:endParaRPr>
            </a:p>
          </p:txBody>
        </p:sp>
        <p:sp>
          <p:nvSpPr>
            <p:cNvPr id="16424" name="Oval 6"/>
            <p:cNvSpPr>
              <a:spLocks noChangeArrowheads="1"/>
            </p:cNvSpPr>
            <p:nvPr/>
          </p:nvSpPr>
          <p:spPr bwMode="auto">
            <a:xfrm>
              <a:off x="2139" y="280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000">
                <a:latin typeface="Times New Roman" panose="02020603050405020304" pitchFamily="18" charset="0"/>
                <a:ea typeface="新細明體" pitchFamily="18" charset="-120"/>
                <a:sym typeface="Symbol" panose="05050102010706020507" pitchFamily="18" charset="2"/>
              </a:endParaRPr>
            </a:p>
          </p:txBody>
        </p:sp>
      </p:grpSp>
      <p:cxnSp>
        <p:nvCxnSpPr>
          <p:cNvPr id="16396" name="AutoShape 12"/>
          <p:cNvCxnSpPr>
            <a:cxnSpLocks noChangeShapeType="1"/>
            <a:stCxn id="16394" idx="3"/>
            <a:endCxn id="16424" idx="7"/>
          </p:cNvCxnSpPr>
          <p:nvPr/>
        </p:nvCxnSpPr>
        <p:spPr bwMode="auto">
          <a:xfrm flipH="1">
            <a:off x="3902711" y="4781551"/>
            <a:ext cx="936625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7" name="AutoShape 13"/>
          <p:cNvCxnSpPr>
            <a:cxnSpLocks noChangeShapeType="1"/>
            <a:stCxn id="16423" idx="1"/>
            <a:endCxn id="16394" idx="5"/>
          </p:cNvCxnSpPr>
          <p:nvPr/>
        </p:nvCxnSpPr>
        <p:spPr bwMode="auto">
          <a:xfrm flipH="1" flipV="1">
            <a:off x="5079048" y="4781551"/>
            <a:ext cx="989012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8" name="AutoShape 14"/>
          <p:cNvCxnSpPr>
            <a:cxnSpLocks noChangeShapeType="1"/>
            <a:stCxn id="16422" idx="1"/>
            <a:endCxn id="16423" idx="5"/>
          </p:cNvCxnSpPr>
          <p:nvPr/>
        </p:nvCxnSpPr>
        <p:spPr bwMode="auto">
          <a:xfrm flipH="1" flipV="1">
            <a:off x="6307773" y="5254626"/>
            <a:ext cx="360362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9" name="AutoShape 15"/>
          <p:cNvCxnSpPr>
            <a:cxnSpLocks noChangeShapeType="1"/>
            <a:stCxn id="16421" idx="7"/>
            <a:endCxn id="16423" idx="3"/>
          </p:cNvCxnSpPr>
          <p:nvPr/>
        </p:nvCxnSpPr>
        <p:spPr bwMode="auto">
          <a:xfrm flipV="1">
            <a:off x="5706110" y="5254626"/>
            <a:ext cx="361950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0" name="AutoShape 18"/>
          <p:cNvCxnSpPr>
            <a:cxnSpLocks noChangeShapeType="1"/>
            <a:stCxn id="16420" idx="7"/>
            <a:endCxn id="16424" idx="3"/>
          </p:cNvCxnSpPr>
          <p:nvPr/>
        </p:nvCxnSpPr>
        <p:spPr bwMode="auto">
          <a:xfrm flipV="1">
            <a:off x="3301048" y="5254626"/>
            <a:ext cx="361950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1" name="AutoShape 19"/>
          <p:cNvCxnSpPr>
            <a:cxnSpLocks noChangeShapeType="1"/>
            <a:stCxn id="16419" idx="1"/>
            <a:endCxn id="16424" idx="5"/>
          </p:cNvCxnSpPr>
          <p:nvPr/>
        </p:nvCxnSpPr>
        <p:spPr bwMode="auto">
          <a:xfrm flipH="1" flipV="1">
            <a:off x="3902711" y="5254626"/>
            <a:ext cx="360363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2" name="AutoShape 24"/>
          <p:cNvCxnSpPr>
            <a:cxnSpLocks noChangeShapeType="1"/>
            <a:stCxn id="16404" idx="7"/>
            <a:endCxn id="16420" idx="3"/>
          </p:cNvCxnSpPr>
          <p:nvPr/>
        </p:nvCxnSpPr>
        <p:spPr bwMode="auto">
          <a:xfrm flipV="1">
            <a:off x="2699385" y="5727701"/>
            <a:ext cx="361950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6403" name="Group 67"/>
          <p:cNvGrpSpPr>
            <a:grpSpLocks/>
          </p:cNvGrpSpPr>
          <p:nvPr/>
        </p:nvGrpSpPr>
        <p:grpSpPr bwMode="auto">
          <a:xfrm>
            <a:off x="3012124" y="5429250"/>
            <a:ext cx="3944937" cy="338138"/>
            <a:chOff x="1711" y="3144"/>
            <a:chExt cx="2805" cy="240"/>
          </a:xfrm>
        </p:grpSpPr>
        <p:sp>
          <p:nvSpPr>
            <p:cNvPr id="16419" name="Oval 7"/>
            <p:cNvSpPr>
              <a:spLocks noChangeArrowheads="1"/>
            </p:cNvSpPr>
            <p:nvPr/>
          </p:nvSpPr>
          <p:spPr bwMode="auto">
            <a:xfrm>
              <a:off x="2566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000">
                <a:latin typeface="Times New Roman" panose="02020603050405020304" pitchFamily="18" charset="0"/>
                <a:ea typeface="新細明體" pitchFamily="18" charset="-120"/>
                <a:sym typeface="Symbol" panose="05050102010706020507" pitchFamily="18" charset="2"/>
              </a:endParaRPr>
            </a:p>
          </p:txBody>
        </p:sp>
        <p:sp>
          <p:nvSpPr>
            <p:cNvPr id="16420" name="Oval 20"/>
            <p:cNvSpPr>
              <a:spLocks noChangeArrowheads="1"/>
            </p:cNvSpPr>
            <p:nvPr/>
          </p:nvSpPr>
          <p:spPr bwMode="auto">
            <a:xfrm>
              <a:off x="1711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000">
                <a:latin typeface="Times New Roman" panose="02020603050405020304" pitchFamily="18" charset="0"/>
                <a:ea typeface="新細明體" pitchFamily="18" charset="-120"/>
                <a:sym typeface="Symbol" panose="05050102010706020507" pitchFamily="18" charset="2"/>
              </a:endParaRPr>
            </a:p>
          </p:txBody>
        </p:sp>
        <p:sp>
          <p:nvSpPr>
            <p:cNvPr id="16421" name="Oval 27"/>
            <p:cNvSpPr>
              <a:spLocks noChangeArrowheads="1"/>
            </p:cNvSpPr>
            <p:nvPr/>
          </p:nvSpPr>
          <p:spPr bwMode="auto">
            <a:xfrm>
              <a:off x="3421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000">
                <a:latin typeface="Times New Roman" panose="02020603050405020304" pitchFamily="18" charset="0"/>
                <a:ea typeface="新細明體" pitchFamily="18" charset="-120"/>
                <a:sym typeface="Symbol" panose="05050102010706020507" pitchFamily="18" charset="2"/>
              </a:endParaRPr>
            </a:p>
          </p:txBody>
        </p:sp>
        <p:sp>
          <p:nvSpPr>
            <p:cNvPr id="16422" name="Oval 32"/>
            <p:cNvSpPr>
              <a:spLocks noChangeArrowheads="1"/>
            </p:cNvSpPr>
            <p:nvPr/>
          </p:nvSpPr>
          <p:spPr bwMode="auto">
            <a:xfrm>
              <a:off x="4276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000">
                <a:latin typeface="Times New Roman" panose="02020603050405020304" pitchFamily="18" charset="0"/>
                <a:ea typeface="新細明體" pitchFamily="18" charset="-120"/>
                <a:sym typeface="Symbol" panose="05050102010706020507" pitchFamily="18" charset="2"/>
              </a:endParaRPr>
            </a:p>
          </p:txBody>
        </p:sp>
      </p:grpSp>
      <p:sp>
        <p:nvSpPr>
          <p:cNvPr id="16404" name="Oval 60"/>
          <p:cNvSpPr>
            <a:spLocks noChangeArrowheads="1"/>
          </p:cNvSpPr>
          <p:nvPr/>
        </p:nvSpPr>
        <p:spPr bwMode="auto">
          <a:xfrm>
            <a:off x="2410460" y="5902325"/>
            <a:ext cx="338138" cy="3365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zh-TW" sz="2000">
              <a:latin typeface="Times New Roman" panose="02020603050405020304" pitchFamily="18" charset="0"/>
              <a:ea typeface="新細明體" pitchFamily="18" charset="-120"/>
              <a:sym typeface="Symbol" panose="05050102010706020507" pitchFamily="18" charset="2"/>
            </a:endParaRPr>
          </a:p>
        </p:txBody>
      </p:sp>
      <p:sp>
        <p:nvSpPr>
          <p:cNvPr id="16405" name="Text Box 77"/>
          <p:cNvSpPr txBox="1">
            <a:spLocks noChangeArrowheads="1"/>
          </p:cNvSpPr>
          <p:nvPr/>
        </p:nvSpPr>
        <p:spPr bwMode="auto">
          <a:xfrm>
            <a:off x="1173798" y="45005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itchFamily="18" charset="-120"/>
              </a:rPr>
              <a:t>1</a:t>
            </a:r>
          </a:p>
        </p:txBody>
      </p:sp>
      <p:sp>
        <p:nvSpPr>
          <p:cNvPr id="16406" name="Text Box 78"/>
          <p:cNvSpPr txBox="1">
            <a:spLocks noChangeArrowheads="1"/>
          </p:cNvSpPr>
          <p:nvPr/>
        </p:nvSpPr>
        <p:spPr bwMode="auto">
          <a:xfrm>
            <a:off x="1173798" y="49609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itchFamily="18" charset="-120"/>
              </a:rPr>
              <a:t>2</a:t>
            </a:r>
          </a:p>
        </p:txBody>
      </p:sp>
      <p:sp>
        <p:nvSpPr>
          <p:cNvPr id="16407" name="Text Box 79"/>
          <p:cNvSpPr txBox="1">
            <a:spLocks noChangeArrowheads="1"/>
          </p:cNvSpPr>
          <p:nvPr/>
        </p:nvSpPr>
        <p:spPr bwMode="auto">
          <a:xfrm>
            <a:off x="1051561" y="5421313"/>
            <a:ext cx="542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itchFamily="18" charset="-120"/>
              </a:rPr>
              <a:t>2</a:t>
            </a:r>
            <a:r>
              <a:rPr lang="en-US" altLang="zh-TW" sz="1800" b="1" i="1" baseline="30000">
                <a:latin typeface="Times New Roman" panose="02020603050405020304" pitchFamily="18" charset="0"/>
                <a:ea typeface="新細明體" pitchFamily="18" charset="-120"/>
              </a:rPr>
              <a:t>h</a:t>
            </a:r>
            <a:r>
              <a:rPr lang="en-US" altLang="zh-TW" sz="1800" baseline="30000">
                <a:latin typeface="Symbol" panose="05050102010706020507" pitchFamily="18" charset="2"/>
                <a:ea typeface="新細明體" pitchFamily="18" charset="-120"/>
              </a:rPr>
              <a:t>-</a:t>
            </a:r>
            <a:r>
              <a:rPr lang="en-US" altLang="zh-TW" sz="1800" baseline="30000">
                <a:latin typeface="Times New Roman" panose="02020603050405020304" pitchFamily="18" charset="0"/>
                <a:ea typeface="新細明體" pitchFamily="18" charset="-120"/>
              </a:rPr>
              <a:t>1</a:t>
            </a:r>
          </a:p>
        </p:txBody>
      </p:sp>
      <p:sp>
        <p:nvSpPr>
          <p:cNvPr id="16408" name="Text Box 80"/>
          <p:cNvSpPr txBox="1">
            <a:spLocks noChangeArrowheads="1"/>
          </p:cNvSpPr>
          <p:nvPr/>
        </p:nvSpPr>
        <p:spPr bwMode="auto">
          <a:xfrm>
            <a:off x="1173798" y="58816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itchFamily="18" charset="-120"/>
              </a:rPr>
              <a:t>1</a:t>
            </a:r>
          </a:p>
        </p:txBody>
      </p:sp>
      <p:sp>
        <p:nvSpPr>
          <p:cNvPr id="16409" name="Text Box 84"/>
          <p:cNvSpPr txBox="1">
            <a:spLocks noChangeArrowheads="1"/>
          </p:cNvSpPr>
          <p:nvPr/>
        </p:nvSpPr>
        <p:spPr bwMode="auto">
          <a:xfrm>
            <a:off x="1007110" y="4152901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ea typeface="新細明體" pitchFamily="18" charset="-120"/>
              </a:rPr>
              <a:t>keys</a:t>
            </a:r>
          </a:p>
        </p:txBody>
      </p:sp>
      <p:sp>
        <p:nvSpPr>
          <p:cNvPr id="16410" name="Text Box 87"/>
          <p:cNvSpPr txBox="1">
            <a:spLocks noChangeArrowheads="1"/>
          </p:cNvSpPr>
          <p:nvPr/>
        </p:nvSpPr>
        <p:spPr bwMode="auto">
          <a:xfrm>
            <a:off x="445135" y="45005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itchFamily="18" charset="-120"/>
              </a:rPr>
              <a:t>0</a:t>
            </a:r>
          </a:p>
        </p:txBody>
      </p:sp>
      <p:sp>
        <p:nvSpPr>
          <p:cNvPr id="16411" name="Text Box 88"/>
          <p:cNvSpPr txBox="1">
            <a:spLocks noChangeArrowheads="1"/>
          </p:cNvSpPr>
          <p:nvPr/>
        </p:nvSpPr>
        <p:spPr bwMode="auto">
          <a:xfrm>
            <a:off x="445135" y="49609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ea typeface="新細明體" pitchFamily="18" charset="-120"/>
              </a:rPr>
              <a:t>1</a:t>
            </a:r>
          </a:p>
        </p:txBody>
      </p:sp>
      <p:sp>
        <p:nvSpPr>
          <p:cNvPr id="16412" name="Text Box 89"/>
          <p:cNvSpPr txBox="1">
            <a:spLocks noChangeArrowheads="1"/>
          </p:cNvSpPr>
          <p:nvPr/>
        </p:nvSpPr>
        <p:spPr bwMode="auto">
          <a:xfrm>
            <a:off x="319723" y="5416551"/>
            <a:ext cx="550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 i="1">
                <a:latin typeface="Times New Roman" panose="02020603050405020304" pitchFamily="18" charset="0"/>
                <a:ea typeface="新細明體" pitchFamily="18" charset="-120"/>
              </a:rPr>
              <a:t>h</a:t>
            </a:r>
            <a:r>
              <a:rPr lang="en-US" altLang="zh-TW" sz="1800">
                <a:latin typeface="Symbol" panose="05050102010706020507" pitchFamily="18" charset="2"/>
                <a:ea typeface="新細明體" pitchFamily="18" charset="-120"/>
              </a:rPr>
              <a:t>-</a:t>
            </a:r>
            <a:r>
              <a:rPr lang="en-US" altLang="zh-TW" sz="1800">
                <a:latin typeface="Times New Roman" panose="02020603050405020304" pitchFamily="18" charset="0"/>
                <a:ea typeface="新細明體" pitchFamily="18" charset="-120"/>
              </a:rPr>
              <a:t>1</a:t>
            </a:r>
          </a:p>
        </p:txBody>
      </p:sp>
      <p:sp>
        <p:nvSpPr>
          <p:cNvPr id="16413" name="Text Box 90"/>
          <p:cNvSpPr txBox="1">
            <a:spLocks noChangeArrowheads="1"/>
          </p:cNvSpPr>
          <p:nvPr/>
        </p:nvSpPr>
        <p:spPr bwMode="auto">
          <a:xfrm>
            <a:off x="438785" y="5881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 i="1">
                <a:latin typeface="Times New Roman" panose="02020603050405020304" pitchFamily="18" charset="0"/>
                <a:ea typeface="新細明體" pitchFamily="18" charset="-120"/>
              </a:rPr>
              <a:t>h</a:t>
            </a:r>
            <a:endParaRPr lang="en-US" altLang="zh-TW" sz="1800">
              <a:latin typeface="Times New Roman" panose="02020603050405020304" pitchFamily="18" charset="0"/>
              <a:ea typeface="新細明體" pitchFamily="18" charset="-120"/>
            </a:endParaRPr>
          </a:p>
        </p:txBody>
      </p:sp>
      <p:sp>
        <p:nvSpPr>
          <p:cNvPr id="16414" name="Text Box 91"/>
          <p:cNvSpPr txBox="1">
            <a:spLocks noChangeArrowheads="1"/>
          </p:cNvSpPr>
          <p:nvPr/>
        </p:nvSpPr>
        <p:spPr bwMode="auto">
          <a:xfrm>
            <a:off x="213360" y="41529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ea typeface="新細明體" pitchFamily="18" charset="-120"/>
              </a:rPr>
              <a:t>depth</a:t>
            </a:r>
          </a:p>
        </p:txBody>
      </p:sp>
      <p:graphicFrame>
        <p:nvGraphicFramePr>
          <p:cNvPr id="16415" name="Object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1072146"/>
              </p:ext>
            </p:extLst>
          </p:nvPr>
        </p:nvGraphicFramePr>
        <p:xfrm>
          <a:off x="8983822" y="487155"/>
          <a:ext cx="1295400" cy="200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Clip" r:id="rId3" imgW="1296619" imgH="2000707" progId="MS_ClipArt_Gallery.2">
                  <p:embed/>
                </p:oleObj>
              </mc:Choice>
              <mc:Fallback>
                <p:oleObj name="Clip" r:id="rId3" imgW="1296619" imgH="2000707" progId="MS_ClipArt_Gallery.2">
                  <p:embed/>
                  <p:pic>
                    <p:nvPicPr>
                      <p:cNvPr id="16415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3822" y="487155"/>
                        <a:ext cx="1295400" cy="200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8" name="物件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5050338"/>
              </p:ext>
            </p:extLst>
          </p:nvPr>
        </p:nvGraphicFramePr>
        <p:xfrm>
          <a:off x="1918486" y="2674203"/>
          <a:ext cx="6046025" cy="1399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Equation" r:id="rId5" imgW="3073320" imgH="711000" progId="Equation.3">
                  <p:embed/>
                </p:oleObj>
              </mc:Choice>
              <mc:Fallback>
                <p:oleObj name="Equation" r:id="rId5" imgW="3073320" imgH="711000" progId="Equation.3">
                  <p:embed/>
                  <p:pic>
                    <p:nvPicPr>
                      <p:cNvPr id="16418" name="物件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8486" y="2674203"/>
                        <a:ext cx="6046025" cy="1399223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000"/>
                        </a:schemeClr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ight Arrow 2"/>
          <p:cNvSpPr/>
          <p:nvPr/>
        </p:nvSpPr>
        <p:spPr>
          <a:xfrm rot="10800000">
            <a:off x="7431111" y="5847557"/>
            <a:ext cx="594360" cy="4143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249128" y="5710019"/>
            <a:ext cx="1059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Max: 2^h</a:t>
            </a:r>
          </a:p>
          <a:p>
            <a:r>
              <a:rPr lang="en-US" dirty="0" smtClean="0"/>
              <a:t>Min: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668270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(MAX/MIN)-HEAPIFY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720840" y="1539240"/>
            <a:ext cx="5349240" cy="51511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Its inputs are an array A and an index </a:t>
            </a:r>
            <a:r>
              <a:rPr lang="en-US" dirty="0" err="1"/>
              <a:t>i</a:t>
            </a:r>
            <a:r>
              <a:rPr lang="en-US" dirty="0"/>
              <a:t> into the array.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it is called, </a:t>
            </a:r>
            <a:r>
              <a:rPr lang="en-US" dirty="0" smtClean="0"/>
              <a:t>MAX-HEAPIFY assumes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binary trees rooted at </a:t>
            </a:r>
            <a:r>
              <a:rPr lang="en-US" dirty="0" smtClean="0"/>
              <a:t>LEFT(</a:t>
            </a:r>
            <a:r>
              <a:rPr lang="en-US" dirty="0" err="1" smtClean="0"/>
              <a:t>i</a:t>
            </a:r>
            <a:r>
              <a:rPr lang="en-US" dirty="0" smtClean="0"/>
              <a:t>) </a:t>
            </a:r>
            <a:r>
              <a:rPr lang="en-US" dirty="0"/>
              <a:t>and </a:t>
            </a:r>
            <a:r>
              <a:rPr lang="en-US" dirty="0" smtClean="0"/>
              <a:t>RIGHT(</a:t>
            </a:r>
            <a:r>
              <a:rPr lang="en-US" dirty="0" err="1" smtClean="0"/>
              <a:t>i</a:t>
            </a:r>
            <a:r>
              <a:rPr lang="en-US" dirty="0" smtClean="0"/>
              <a:t>) </a:t>
            </a:r>
            <a:r>
              <a:rPr lang="en-US" dirty="0"/>
              <a:t>are </a:t>
            </a:r>
            <a:r>
              <a:rPr lang="en-US" dirty="0" err="1"/>
              <a:t>maxheaps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smtClean="0"/>
              <a:t>but </a:t>
            </a:r>
            <a:r>
              <a:rPr lang="en-US" dirty="0"/>
              <a:t>that </a:t>
            </a:r>
            <a:r>
              <a:rPr lang="en-US" dirty="0" smtClean="0"/>
              <a:t>A[</a:t>
            </a:r>
            <a:r>
              <a:rPr lang="en-US" dirty="0" err="1" smtClean="0"/>
              <a:t>i</a:t>
            </a:r>
            <a:r>
              <a:rPr lang="en-US" dirty="0" smtClean="0"/>
              <a:t>] </a:t>
            </a:r>
            <a:r>
              <a:rPr lang="en-US" dirty="0"/>
              <a:t>might be smaller than its </a:t>
            </a:r>
            <a:r>
              <a:rPr lang="en-US" dirty="0" smtClean="0"/>
              <a:t>children</a:t>
            </a:r>
          </a:p>
          <a:p>
            <a:pPr lvl="2"/>
            <a:r>
              <a:rPr lang="en-US" dirty="0" smtClean="0"/>
              <a:t>thus </a:t>
            </a:r>
            <a:r>
              <a:rPr lang="en-US" dirty="0"/>
              <a:t>violating the </a:t>
            </a:r>
            <a:r>
              <a:rPr lang="en-US" dirty="0" smtClean="0"/>
              <a:t>max-heap property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MAX-HEAPIFY </a:t>
            </a:r>
            <a:r>
              <a:rPr lang="en-US" dirty="0"/>
              <a:t>lets the value at </a:t>
            </a:r>
            <a:r>
              <a:rPr lang="en-US" dirty="0" smtClean="0"/>
              <a:t>A[</a:t>
            </a:r>
            <a:r>
              <a:rPr lang="en-US" dirty="0" err="1" smtClean="0"/>
              <a:t>i</a:t>
            </a:r>
            <a:r>
              <a:rPr lang="en-US" dirty="0" smtClean="0"/>
              <a:t>] </a:t>
            </a:r>
            <a:r>
              <a:rPr lang="en-US" dirty="0"/>
              <a:t>“float down” in the max-heap </a:t>
            </a:r>
            <a:r>
              <a:rPr lang="en-US" dirty="0" smtClean="0"/>
              <a:t>so that </a:t>
            </a:r>
            <a:r>
              <a:rPr lang="en-US" dirty="0"/>
              <a:t>the subtree rooted at index </a:t>
            </a:r>
            <a:r>
              <a:rPr lang="en-US" dirty="0" err="1"/>
              <a:t>i</a:t>
            </a:r>
            <a:r>
              <a:rPr lang="en-US" dirty="0"/>
              <a:t> obeys the max-heap property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6516992" cy="47958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964" y="1539240"/>
            <a:ext cx="1524000" cy="1352550"/>
          </a:xfrm>
          <a:prstGeom prst="rect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  <p:sp>
        <p:nvSpPr>
          <p:cNvPr id="8" name="Right Arrow 7"/>
          <p:cNvSpPr/>
          <p:nvPr/>
        </p:nvSpPr>
        <p:spPr>
          <a:xfrm>
            <a:off x="3017520" y="2362200"/>
            <a:ext cx="629596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/>
          <p:cNvSpPr/>
          <p:nvPr/>
        </p:nvSpPr>
        <p:spPr>
          <a:xfrm>
            <a:off x="2708936" y="2346960"/>
            <a:ext cx="247624" cy="8229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59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230" y="3865697"/>
            <a:ext cx="4469130" cy="28276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057" y="1438569"/>
            <a:ext cx="4465108" cy="296757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1123221"/>
            <a:ext cx="4206240" cy="3057825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5821680" y="1996440"/>
            <a:ext cx="701040" cy="5791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8149592">
            <a:off x="8473440" y="4538045"/>
            <a:ext cx="701040" cy="5791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MAX-HEAPIFY(A,2)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900" y="4234413"/>
            <a:ext cx="3384110" cy="249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45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(MAX/MIN)-HEAPIFY: Running time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6516992" cy="4795838"/>
          </a:xfrm>
          <a:prstGeom prst="rect">
            <a:avLst/>
          </a:prstGeom>
        </p:spPr>
      </p:pic>
      <p:sp>
        <p:nvSpPr>
          <p:cNvPr id="10" name="Right Brace 9"/>
          <p:cNvSpPr/>
          <p:nvPr/>
        </p:nvSpPr>
        <p:spPr>
          <a:xfrm>
            <a:off x="5475916" y="2206467"/>
            <a:ext cx="2083124" cy="375237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797040" y="3474720"/>
            <a:ext cx="830677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sym typeface="Symbol" panose="05050102010706020507" pitchFamily="18" charset="2"/>
              </a:rPr>
              <a:t></a:t>
            </a:r>
            <a:r>
              <a:rPr lang="en-US" sz="2400" dirty="0" smtClean="0"/>
              <a:t>(1)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1264920" y="5874242"/>
            <a:ext cx="3977640" cy="50292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880" y="5437283"/>
            <a:ext cx="872843" cy="125545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5575" y="4889242"/>
            <a:ext cx="5080297" cy="15696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If MAX-HEAPIFY is called on an array/tree of n nodes how many nodes are there in the sub- tree/array on which the recursive call is made?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294" y="1409079"/>
            <a:ext cx="3900324" cy="25922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46018" y="4181981"/>
            <a:ext cx="4266489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What is the worst case scenario?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2037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78" y="1050665"/>
            <a:ext cx="5343525" cy="3562350"/>
          </a:xfrm>
          <a:prstGeom prst="rect">
            <a:avLst/>
          </a:prstGeom>
        </p:spPr>
      </p:pic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7221894" y="1143972"/>
            <a:ext cx="3945294" cy="5312812"/>
          </a:xfrm>
        </p:spPr>
        <p:txBody>
          <a:bodyPr>
            <a:normAutofit/>
          </a:bodyPr>
          <a:lstStyle/>
          <a:p>
            <a:r>
              <a:rPr lang="en-US" dirty="0"/>
              <a:t>The children’s subtrees each have size at most </a:t>
            </a:r>
            <a:r>
              <a:rPr lang="en-US" dirty="0" smtClean="0"/>
              <a:t>2n/3</a:t>
            </a:r>
          </a:p>
          <a:p>
            <a:pPr lvl="1"/>
            <a:r>
              <a:rPr lang="en-US" dirty="0" smtClean="0"/>
              <a:t>A + B = n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dirty="0" smtClean="0"/>
              <a:t>B </a:t>
            </a:r>
            <a:r>
              <a:rPr lang="en-US" dirty="0" smtClean="0">
                <a:sym typeface="Symbol" panose="05050102010706020507" pitchFamily="18" charset="2"/>
              </a:rPr>
              <a:t> 2A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dirty="0" smtClean="0">
                <a:sym typeface="Symbol" panose="05050102010706020507" pitchFamily="18" charset="2"/>
              </a:rPr>
              <a:t>A </a:t>
            </a:r>
            <a:r>
              <a:rPr lang="en-US" dirty="0">
                <a:sym typeface="Symbol" panose="05050102010706020507" pitchFamily="18" charset="2"/>
              </a:rPr>
              <a:t></a:t>
            </a:r>
            <a:r>
              <a:rPr lang="en-US" dirty="0" smtClean="0">
                <a:sym typeface="Symbol" panose="05050102010706020507" pitchFamily="18" charset="2"/>
              </a:rPr>
              <a:t> n/3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dirty="0" smtClean="0">
                <a:sym typeface="Symbol" panose="05050102010706020507" pitchFamily="18" charset="2"/>
              </a:rPr>
              <a:t>B </a:t>
            </a:r>
            <a:r>
              <a:rPr lang="en-US" dirty="0">
                <a:sym typeface="Symbol" panose="05050102010706020507" pitchFamily="18" charset="2"/>
              </a:rPr>
              <a:t> </a:t>
            </a:r>
            <a:r>
              <a:rPr lang="en-US" dirty="0" smtClean="0">
                <a:sym typeface="Symbol" panose="05050102010706020507" pitchFamily="18" charset="2"/>
              </a:rPr>
              <a:t>2n/3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worst case occurs </a:t>
            </a:r>
            <a:r>
              <a:rPr lang="en-US" dirty="0" smtClean="0"/>
              <a:t>when the </a:t>
            </a:r>
            <a:r>
              <a:rPr lang="en-US" dirty="0"/>
              <a:t>bottom level of the tree is exactly half </a:t>
            </a:r>
            <a:r>
              <a:rPr lang="en-US" dirty="0" smtClean="0"/>
              <a:t>full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12" name="Freeform 11"/>
          <p:cNvSpPr/>
          <p:nvPr/>
        </p:nvSpPr>
        <p:spPr>
          <a:xfrm>
            <a:off x="3209347" y="858416"/>
            <a:ext cx="3422232" cy="3117401"/>
          </a:xfrm>
          <a:custGeom>
            <a:avLst/>
            <a:gdLst>
              <a:gd name="connsiteX0" fmla="*/ 75029 w 3422232"/>
              <a:gd name="connsiteY0" fmla="*/ 298580 h 3117401"/>
              <a:gd name="connsiteX1" fmla="*/ 93690 w 3422232"/>
              <a:gd name="connsiteY1" fmla="*/ 1156996 h 3117401"/>
              <a:gd name="connsiteX2" fmla="*/ 168335 w 3422232"/>
              <a:gd name="connsiteY2" fmla="*/ 1231641 h 3117401"/>
              <a:gd name="connsiteX3" fmla="*/ 280302 w 3422232"/>
              <a:gd name="connsiteY3" fmla="*/ 1380931 h 3117401"/>
              <a:gd name="connsiteX4" fmla="*/ 373608 w 3422232"/>
              <a:gd name="connsiteY4" fmla="*/ 1492898 h 3117401"/>
              <a:gd name="connsiteX5" fmla="*/ 410931 w 3422232"/>
              <a:gd name="connsiteY5" fmla="*/ 1548882 h 3117401"/>
              <a:gd name="connsiteX6" fmla="*/ 522898 w 3422232"/>
              <a:gd name="connsiteY6" fmla="*/ 1660849 h 3117401"/>
              <a:gd name="connsiteX7" fmla="*/ 541559 w 3422232"/>
              <a:gd name="connsiteY7" fmla="*/ 1716833 h 3117401"/>
              <a:gd name="connsiteX8" fmla="*/ 578882 w 3422232"/>
              <a:gd name="connsiteY8" fmla="*/ 1772817 h 3117401"/>
              <a:gd name="connsiteX9" fmla="*/ 634865 w 3422232"/>
              <a:gd name="connsiteY9" fmla="*/ 1903445 h 3117401"/>
              <a:gd name="connsiteX10" fmla="*/ 690849 w 3422232"/>
              <a:gd name="connsiteY10" fmla="*/ 2108719 h 3117401"/>
              <a:gd name="connsiteX11" fmla="*/ 728171 w 3422232"/>
              <a:gd name="connsiteY11" fmla="*/ 2463282 h 3117401"/>
              <a:gd name="connsiteX12" fmla="*/ 765494 w 3422232"/>
              <a:gd name="connsiteY12" fmla="*/ 2575249 h 3117401"/>
              <a:gd name="connsiteX13" fmla="*/ 877461 w 3422232"/>
              <a:gd name="connsiteY13" fmla="*/ 2687217 h 3117401"/>
              <a:gd name="connsiteX14" fmla="*/ 914784 w 3422232"/>
              <a:gd name="connsiteY14" fmla="*/ 2724539 h 3117401"/>
              <a:gd name="connsiteX15" fmla="*/ 1026751 w 3422232"/>
              <a:gd name="connsiteY15" fmla="*/ 2761862 h 3117401"/>
              <a:gd name="connsiteX16" fmla="*/ 1101396 w 3422232"/>
              <a:gd name="connsiteY16" fmla="*/ 2799184 h 3117401"/>
              <a:gd name="connsiteX17" fmla="*/ 1213363 w 3422232"/>
              <a:gd name="connsiteY17" fmla="*/ 2817845 h 3117401"/>
              <a:gd name="connsiteX18" fmla="*/ 1288008 w 3422232"/>
              <a:gd name="connsiteY18" fmla="*/ 2836506 h 3117401"/>
              <a:gd name="connsiteX19" fmla="*/ 1847845 w 3422232"/>
              <a:gd name="connsiteY19" fmla="*/ 2892490 h 3117401"/>
              <a:gd name="connsiteX20" fmla="*/ 2071780 w 3422232"/>
              <a:gd name="connsiteY20" fmla="*/ 2929813 h 3117401"/>
              <a:gd name="connsiteX21" fmla="*/ 2258392 w 3422232"/>
              <a:gd name="connsiteY21" fmla="*/ 2985796 h 3117401"/>
              <a:gd name="connsiteX22" fmla="*/ 2370359 w 3422232"/>
              <a:gd name="connsiteY22" fmla="*/ 3023119 h 3117401"/>
              <a:gd name="connsiteX23" fmla="*/ 2556971 w 3422232"/>
              <a:gd name="connsiteY23" fmla="*/ 3060441 h 3117401"/>
              <a:gd name="connsiteX24" fmla="*/ 2650277 w 3422232"/>
              <a:gd name="connsiteY24" fmla="*/ 3097764 h 3117401"/>
              <a:gd name="connsiteX25" fmla="*/ 3116808 w 3422232"/>
              <a:gd name="connsiteY25" fmla="*/ 3097764 h 3117401"/>
              <a:gd name="connsiteX26" fmla="*/ 3210114 w 3422232"/>
              <a:gd name="connsiteY26" fmla="*/ 3060441 h 3117401"/>
              <a:gd name="connsiteX27" fmla="*/ 3284759 w 3422232"/>
              <a:gd name="connsiteY27" fmla="*/ 2967135 h 3117401"/>
              <a:gd name="connsiteX28" fmla="*/ 3303420 w 3422232"/>
              <a:gd name="connsiteY28" fmla="*/ 2911151 h 3117401"/>
              <a:gd name="connsiteX29" fmla="*/ 3378065 w 3422232"/>
              <a:gd name="connsiteY29" fmla="*/ 2799184 h 3117401"/>
              <a:gd name="connsiteX30" fmla="*/ 3415388 w 3422232"/>
              <a:gd name="connsiteY30" fmla="*/ 2649894 h 3117401"/>
              <a:gd name="connsiteX31" fmla="*/ 3378065 w 3422232"/>
              <a:gd name="connsiteY31" fmla="*/ 2127380 h 3117401"/>
              <a:gd name="connsiteX32" fmla="*/ 3340743 w 3422232"/>
              <a:gd name="connsiteY32" fmla="*/ 2052735 h 3117401"/>
              <a:gd name="connsiteX33" fmla="*/ 3322082 w 3422232"/>
              <a:gd name="connsiteY33" fmla="*/ 1940768 h 3117401"/>
              <a:gd name="connsiteX34" fmla="*/ 3284759 w 3422232"/>
              <a:gd name="connsiteY34" fmla="*/ 1903445 h 3117401"/>
              <a:gd name="connsiteX35" fmla="*/ 3247437 w 3422232"/>
              <a:gd name="connsiteY35" fmla="*/ 1810139 h 3117401"/>
              <a:gd name="connsiteX36" fmla="*/ 3191453 w 3422232"/>
              <a:gd name="connsiteY36" fmla="*/ 1754155 h 3117401"/>
              <a:gd name="connsiteX37" fmla="*/ 3154131 w 3422232"/>
              <a:gd name="connsiteY37" fmla="*/ 1698172 h 3117401"/>
              <a:gd name="connsiteX38" fmla="*/ 3079486 w 3422232"/>
              <a:gd name="connsiteY38" fmla="*/ 1642188 h 3117401"/>
              <a:gd name="connsiteX39" fmla="*/ 3004841 w 3422232"/>
              <a:gd name="connsiteY39" fmla="*/ 1567543 h 3117401"/>
              <a:gd name="connsiteX40" fmla="*/ 2930196 w 3422232"/>
              <a:gd name="connsiteY40" fmla="*/ 1511560 h 3117401"/>
              <a:gd name="connsiteX41" fmla="*/ 2892873 w 3422232"/>
              <a:gd name="connsiteY41" fmla="*/ 1474237 h 3117401"/>
              <a:gd name="connsiteX42" fmla="*/ 2836890 w 3422232"/>
              <a:gd name="connsiteY42" fmla="*/ 1436915 h 3117401"/>
              <a:gd name="connsiteX43" fmla="*/ 2780906 w 3422232"/>
              <a:gd name="connsiteY43" fmla="*/ 1362270 h 3117401"/>
              <a:gd name="connsiteX44" fmla="*/ 2631616 w 3422232"/>
              <a:gd name="connsiteY44" fmla="*/ 1212980 h 3117401"/>
              <a:gd name="connsiteX45" fmla="*/ 2519649 w 3422232"/>
              <a:gd name="connsiteY45" fmla="*/ 1101013 h 3117401"/>
              <a:gd name="connsiteX46" fmla="*/ 2426343 w 3422232"/>
              <a:gd name="connsiteY46" fmla="*/ 1063690 h 3117401"/>
              <a:gd name="connsiteX47" fmla="*/ 2351698 w 3422232"/>
              <a:gd name="connsiteY47" fmla="*/ 989045 h 3117401"/>
              <a:gd name="connsiteX48" fmla="*/ 2314375 w 3422232"/>
              <a:gd name="connsiteY48" fmla="*/ 951723 h 3117401"/>
              <a:gd name="connsiteX49" fmla="*/ 2258392 w 3422232"/>
              <a:gd name="connsiteY49" fmla="*/ 914400 h 3117401"/>
              <a:gd name="connsiteX50" fmla="*/ 2221069 w 3422232"/>
              <a:gd name="connsiteY50" fmla="*/ 858417 h 3117401"/>
              <a:gd name="connsiteX51" fmla="*/ 2165086 w 3422232"/>
              <a:gd name="connsiteY51" fmla="*/ 839755 h 3117401"/>
              <a:gd name="connsiteX52" fmla="*/ 2127763 w 3422232"/>
              <a:gd name="connsiteY52" fmla="*/ 802433 h 3117401"/>
              <a:gd name="connsiteX53" fmla="*/ 2071780 w 3422232"/>
              <a:gd name="connsiteY53" fmla="*/ 765111 h 3117401"/>
              <a:gd name="connsiteX54" fmla="*/ 2034457 w 3422232"/>
              <a:gd name="connsiteY54" fmla="*/ 727788 h 3117401"/>
              <a:gd name="connsiteX55" fmla="*/ 1922490 w 3422232"/>
              <a:gd name="connsiteY55" fmla="*/ 653143 h 3117401"/>
              <a:gd name="connsiteX56" fmla="*/ 1791861 w 3422232"/>
              <a:gd name="connsiteY56" fmla="*/ 541176 h 3117401"/>
              <a:gd name="connsiteX57" fmla="*/ 1717216 w 3422232"/>
              <a:gd name="connsiteY57" fmla="*/ 522515 h 3117401"/>
              <a:gd name="connsiteX58" fmla="*/ 1623910 w 3422232"/>
              <a:gd name="connsiteY58" fmla="*/ 447870 h 3117401"/>
              <a:gd name="connsiteX59" fmla="*/ 1586588 w 3422232"/>
              <a:gd name="connsiteY59" fmla="*/ 410547 h 3117401"/>
              <a:gd name="connsiteX60" fmla="*/ 1530604 w 3422232"/>
              <a:gd name="connsiteY60" fmla="*/ 391886 h 3117401"/>
              <a:gd name="connsiteX61" fmla="*/ 1474620 w 3422232"/>
              <a:gd name="connsiteY61" fmla="*/ 354564 h 3117401"/>
              <a:gd name="connsiteX62" fmla="*/ 1399975 w 3422232"/>
              <a:gd name="connsiteY62" fmla="*/ 317241 h 3117401"/>
              <a:gd name="connsiteX63" fmla="*/ 1343992 w 3422232"/>
              <a:gd name="connsiteY63" fmla="*/ 261257 h 3117401"/>
              <a:gd name="connsiteX64" fmla="*/ 1288008 w 3422232"/>
              <a:gd name="connsiteY64" fmla="*/ 242596 h 3117401"/>
              <a:gd name="connsiteX65" fmla="*/ 1157380 w 3422232"/>
              <a:gd name="connsiteY65" fmla="*/ 186613 h 3117401"/>
              <a:gd name="connsiteX66" fmla="*/ 1064073 w 3422232"/>
              <a:gd name="connsiteY66" fmla="*/ 130629 h 3117401"/>
              <a:gd name="connsiteX67" fmla="*/ 896122 w 3422232"/>
              <a:gd name="connsiteY67" fmla="*/ 55984 h 3117401"/>
              <a:gd name="connsiteX68" fmla="*/ 802816 w 3422232"/>
              <a:gd name="connsiteY68" fmla="*/ 37323 h 3117401"/>
              <a:gd name="connsiteX69" fmla="*/ 690849 w 3422232"/>
              <a:gd name="connsiteY69" fmla="*/ 0 h 3117401"/>
              <a:gd name="connsiteX70" fmla="*/ 317624 w 3422232"/>
              <a:gd name="connsiteY70" fmla="*/ 18662 h 3117401"/>
              <a:gd name="connsiteX71" fmla="*/ 224318 w 3422232"/>
              <a:gd name="connsiteY71" fmla="*/ 93306 h 3117401"/>
              <a:gd name="connsiteX72" fmla="*/ 56367 w 3422232"/>
              <a:gd name="connsiteY72" fmla="*/ 186613 h 3117401"/>
              <a:gd name="connsiteX73" fmla="*/ 384 w 3422232"/>
              <a:gd name="connsiteY73" fmla="*/ 298580 h 3117401"/>
              <a:gd name="connsiteX74" fmla="*/ 37706 w 3422232"/>
              <a:gd name="connsiteY74" fmla="*/ 354564 h 3117401"/>
              <a:gd name="connsiteX75" fmla="*/ 93690 w 3422232"/>
              <a:gd name="connsiteY75" fmla="*/ 373225 h 3117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422232" h="3117401">
                <a:moveTo>
                  <a:pt x="75029" y="298580"/>
                </a:moveTo>
                <a:cubicBezTo>
                  <a:pt x="81249" y="584719"/>
                  <a:pt x="65211" y="872210"/>
                  <a:pt x="93690" y="1156996"/>
                </a:cubicBezTo>
                <a:cubicBezTo>
                  <a:pt x="97191" y="1192009"/>
                  <a:pt x="168335" y="1231641"/>
                  <a:pt x="168335" y="1231641"/>
                </a:cubicBezTo>
                <a:cubicBezTo>
                  <a:pt x="216888" y="1377304"/>
                  <a:pt x="137347" y="1166495"/>
                  <a:pt x="280302" y="1380931"/>
                </a:cubicBezTo>
                <a:cubicBezTo>
                  <a:pt x="372961" y="1519922"/>
                  <a:pt x="253875" y="1349221"/>
                  <a:pt x="373608" y="1492898"/>
                </a:cubicBezTo>
                <a:cubicBezTo>
                  <a:pt x="387966" y="1510128"/>
                  <a:pt x="396031" y="1532119"/>
                  <a:pt x="410931" y="1548882"/>
                </a:cubicBezTo>
                <a:cubicBezTo>
                  <a:pt x="445997" y="1588332"/>
                  <a:pt x="522898" y="1660849"/>
                  <a:pt x="522898" y="1660849"/>
                </a:cubicBezTo>
                <a:cubicBezTo>
                  <a:pt x="529118" y="1679510"/>
                  <a:pt x="532762" y="1699239"/>
                  <a:pt x="541559" y="1716833"/>
                </a:cubicBezTo>
                <a:cubicBezTo>
                  <a:pt x="551589" y="1736893"/>
                  <a:pt x="570047" y="1752202"/>
                  <a:pt x="578882" y="1772817"/>
                </a:cubicBezTo>
                <a:cubicBezTo>
                  <a:pt x="651185" y="1941525"/>
                  <a:pt x="541165" y="1762894"/>
                  <a:pt x="634865" y="1903445"/>
                </a:cubicBezTo>
                <a:cubicBezTo>
                  <a:pt x="662589" y="1986615"/>
                  <a:pt x="680298" y="2024312"/>
                  <a:pt x="690849" y="2108719"/>
                </a:cubicBezTo>
                <a:cubicBezTo>
                  <a:pt x="705589" y="2226642"/>
                  <a:pt x="709395" y="2345934"/>
                  <a:pt x="728171" y="2463282"/>
                </a:cubicBezTo>
                <a:cubicBezTo>
                  <a:pt x="734387" y="2502129"/>
                  <a:pt x="737676" y="2547431"/>
                  <a:pt x="765494" y="2575249"/>
                </a:cubicBezTo>
                <a:lnTo>
                  <a:pt x="877461" y="2687217"/>
                </a:lnTo>
                <a:cubicBezTo>
                  <a:pt x="889902" y="2699658"/>
                  <a:pt x="898093" y="2718975"/>
                  <a:pt x="914784" y="2724539"/>
                </a:cubicBezTo>
                <a:cubicBezTo>
                  <a:pt x="952106" y="2736980"/>
                  <a:pt x="991563" y="2744268"/>
                  <a:pt x="1026751" y="2761862"/>
                </a:cubicBezTo>
                <a:cubicBezTo>
                  <a:pt x="1051633" y="2774303"/>
                  <a:pt x="1074751" y="2791190"/>
                  <a:pt x="1101396" y="2799184"/>
                </a:cubicBezTo>
                <a:cubicBezTo>
                  <a:pt x="1137637" y="2810056"/>
                  <a:pt x="1176261" y="2810425"/>
                  <a:pt x="1213363" y="2817845"/>
                </a:cubicBezTo>
                <a:cubicBezTo>
                  <a:pt x="1238512" y="2822875"/>
                  <a:pt x="1262543" y="2833450"/>
                  <a:pt x="1288008" y="2836506"/>
                </a:cubicBezTo>
                <a:cubicBezTo>
                  <a:pt x="2023731" y="2924793"/>
                  <a:pt x="1425950" y="2839754"/>
                  <a:pt x="1847845" y="2892490"/>
                </a:cubicBezTo>
                <a:cubicBezTo>
                  <a:pt x="1936875" y="2903619"/>
                  <a:pt x="1987982" y="2911191"/>
                  <a:pt x="2071780" y="2929813"/>
                </a:cubicBezTo>
                <a:cubicBezTo>
                  <a:pt x="2156386" y="2948615"/>
                  <a:pt x="2165358" y="2954785"/>
                  <a:pt x="2258392" y="2985796"/>
                </a:cubicBezTo>
                <a:cubicBezTo>
                  <a:pt x="2295714" y="2998237"/>
                  <a:pt x="2331782" y="3015404"/>
                  <a:pt x="2370359" y="3023119"/>
                </a:cubicBezTo>
                <a:lnTo>
                  <a:pt x="2556971" y="3060441"/>
                </a:lnTo>
                <a:cubicBezTo>
                  <a:pt x="2588073" y="3072882"/>
                  <a:pt x="2617779" y="3089640"/>
                  <a:pt x="2650277" y="3097764"/>
                </a:cubicBezTo>
                <a:cubicBezTo>
                  <a:pt x="2807185" y="3136991"/>
                  <a:pt x="2953018" y="3106863"/>
                  <a:pt x="3116808" y="3097764"/>
                </a:cubicBezTo>
                <a:cubicBezTo>
                  <a:pt x="3147910" y="3085323"/>
                  <a:pt x="3181030" y="3077061"/>
                  <a:pt x="3210114" y="3060441"/>
                </a:cubicBezTo>
                <a:cubicBezTo>
                  <a:pt x="3234416" y="3046554"/>
                  <a:pt x="3274493" y="2987668"/>
                  <a:pt x="3284759" y="2967135"/>
                </a:cubicBezTo>
                <a:cubicBezTo>
                  <a:pt x="3293556" y="2949541"/>
                  <a:pt x="3293867" y="2928346"/>
                  <a:pt x="3303420" y="2911151"/>
                </a:cubicBezTo>
                <a:cubicBezTo>
                  <a:pt x="3325204" y="2871940"/>
                  <a:pt x="3378065" y="2799184"/>
                  <a:pt x="3378065" y="2799184"/>
                </a:cubicBezTo>
                <a:cubicBezTo>
                  <a:pt x="3390506" y="2749421"/>
                  <a:pt x="3413834" y="2701165"/>
                  <a:pt x="3415388" y="2649894"/>
                </a:cubicBezTo>
                <a:cubicBezTo>
                  <a:pt x="3417731" y="2572587"/>
                  <a:pt x="3443187" y="2279334"/>
                  <a:pt x="3378065" y="2127380"/>
                </a:cubicBezTo>
                <a:cubicBezTo>
                  <a:pt x="3367107" y="2101811"/>
                  <a:pt x="3353184" y="2077617"/>
                  <a:pt x="3340743" y="2052735"/>
                </a:cubicBezTo>
                <a:cubicBezTo>
                  <a:pt x="3334523" y="2015413"/>
                  <a:pt x="3335368" y="1976196"/>
                  <a:pt x="3322082" y="1940768"/>
                </a:cubicBezTo>
                <a:cubicBezTo>
                  <a:pt x="3315904" y="1924294"/>
                  <a:pt x="3293488" y="1918721"/>
                  <a:pt x="3284759" y="1903445"/>
                </a:cubicBezTo>
                <a:cubicBezTo>
                  <a:pt x="3268139" y="1874361"/>
                  <a:pt x="3265191" y="1838545"/>
                  <a:pt x="3247437" y="1810139"/>
                </a:cubicBezTo>
                <a:cubicBezTo>
                  <a:pt x="3233450" y="1787759"/>
                  <a:pt x="3208348" y="1774429"/>
                  <a:pt x="3191453" y="1754155"/>
                </a:cubicBezTo>
                <a:cubicBezTo>
                  <a:pt x="3177095" y="1736926"/>
                  <a:pt x="3169990" y="1714031"/>
                  <a:pt x="3154131" y="1698172"/>
                </a:cubicBezTo>
                <a:cubicBezTo>
                  <a:pt x="3132138" y="1676179"/>
                  <a:pt x="3102893" y="1662669"/>
                  <a:pt x="3079486" y="1642188"/>
                </a:cubicBezTo>
                <a:cubicBezTo>
                  <a:pt x="3053004" y="1619017"/>
                  <a:pt x="3032992" y="1588656"/>
                  <a:pt x="3004841" y="1567543"/>
                </a:cubicBezTo>
                <a:cubicBezTo>
                  <a:pt x="2979959" y="1548882"/>
                  <a:pt x="2954089" y="1531471"/>
                  <a:pt x="2930196" y="1511560"/>
                </a:cubicBezTo>
                <a:cubicBezTo>
                  <a:pt x="2916680" y="1500296"/>
                  <a:pt x="2906612" y="1485228"/>
                  <a:pt x="2892873" y="1474237"/>
                </a:cubicBezTo>
                <a:cubicBezTo>
                  <a:pt x="2875360" y="1460226"/>
                  <a:pt x="2852749" y="1452774"/>
                  <a:pt x="2836890" y="1436915"/>
                </a:cubicBezTo>
                <a:cubicBezTo>
                  <a:pt x="2814897" y="1414922"/>
                  <a:pt x="2801712" y="1385388"/>
                  <a:pt x="2780906" y="1362270"/>
                </a:cubicBezTo>
                <a:cubicBezTo>
                  <a:pt x="2780842" y="1362199"/>
                  <a:pt x="2664814" y="1246178"/>
                  <a:pt x="2631616" y="1212980"/>
                </a:cubicBezTo>
                <a:lnTo>
                  <a:pt x="2519649" y="1101013"/>
                </a:lnTo>
                <a:lnTo>
                  <a:pt x="2426343" y="1063690"/>
                </a:lnTo>
                <a:lnTo>
                  <a:pt x="2351698" y="989045"/>
                </a:lnTo>
                <a:cubicBezTo>
                  <a:pt x="2339257" y="976604"/>
                  <a:pt x="2329014" y="961483"/>
                  <a:pt x="2314375" y="951723"/>
                </a:cubicBezTo>
                <a:lnTo>
                  <a:pt x="2258392" y="914400"/>
                </a:lnTo>
                <a:cubicBezTo>
                  <a:pt x="2245951" y="895739"/>
                  <a:pt x="2238582" y="872428"/>
                  <a:pt x="2221069" y="858417"/>
                </a:cubicBezTo>
                <a:cubicBezTo>
                  <a:pt x="2205709" y="846129"/>
                  <a:pt x="2181953" y="849875"/>
                  <a:pt x="2165086" y="839755"/>
                </a:cubicBezTo>
                <a:cubicBezTo>
                  <a:pt x="2149999" y="830703"/>
                  <a:pt x="2141502" y="813424"/>
                  <a:pt x="2127763" y="802433"/>
                </a:cubicBezTo>
                <a:cubicBezTo>
                  <a:pt x="2110250" y="788423"/>
                  <a:pt x="2089293" y="779122"/>
                  <a:pt x="2071780" y="765111"/>
                </a:cubicBezTo>
                <a:cubicBezTo>
                  <a:pt x="2058041" y="754120"/>
                  <a:pt x="2048532" y="738345"/>
                  <a:pt x="2034457" y="727788"/>
                </a:cubicBezTo>
                <a:cubicBezTo>
                  <a:pt x="1998572" y="700874"/>
                  <a:pt x="1954208" y="684861"/>
                  <a:pt x="1922490" y="653143"/>
                </a:cubicBezTo>
                <a:cubicBezTo>
                  <a:pt x="1887722" y="618375"/>
                  <a:pt x="1841599" y="562492"/>
                  <a:pt x="1791861" y="541176"/>
                </a:cubicBezTo>
                <a:cubicBezTo>
                  <a:pt x="1768287" y="531073"/>
                  <a:pt x="1742098" y="528735"/>
                  <a:pt x="1717216" y="522515"/>
                </a:cubicBezTo>
                <a:cubicBezTo>
                  <a:pt x="1627102" y="432398"/>
                  <a:pt x="1741614" y="542034"/>
                  <a:pt x="1623910" y="447870"/>
                </a:cubicBezTo>
                <a:cubicBezTo>
                  <a:pt x="1610171" y="436879"/>
                  <a:pt x="1601675" y="419599"/>
                  <a:pt x="1586588" y="410547"/>
                </a:cubicBezTo>
                <a:cubicBezTo>
                  <a:pt x="1569721" y="400426"/>
                  <a:pt x="1548198" y="400683"/>
                  <a:pt x="1530604" y="391886"/>
                </a:cubicBezTo>
                <a:cubicBezTo>
                  <a:pt x="1510544" y="381856"/>
                  <a:pt x="1494093" y="365691"/>
                  <a:pt x="1474620" y="354564"/>
                </a:cubicBezTo>
                <a:cubicBezTo>
                  <a:pt x="1450467" y="340762"/>
                  <a:pt x="1424857" y="329682"/>
                  <a:pt x="1399975" y="317241"/>
                </a:cubicBezTo>
                <a:cubicBezTo>
                  <a:pt x="1381314" y="298580"/>
                  <a:pt x="1365951" y="275896"/>
                  <a:pt x="1343992" y="261257"/>
                </a:cubicBezTo>
                <a:cubicBezTo>
                  <a:pt x="1327625" y="250346"/>
                  <a:pt x="1306088" y="250345"/>
                  <a:pt x="1288008" y="242596"/>
                </a:cubicBezTo>
                <a:cubicBezTo>
                  <a:pt x="1126585" y="173416"/>
                  <a:pt x="1288674" y="230378"/>
                  <a:pt x="1157380" y="186613"/>
                </a:cubicBezTo>
                <a:cubicBezTo>
                  <a:pt x="1084478" y="113711"/>
                  <a:pt x="1160975" y="179081"/>
                  <a:pt x="1064073" y="130629"/>
                </a:cubicBezTo>
                <a:cubicBezTo>
                  <a:pt x="959825" y="78504"/>
                  <a:pt x="1056611" y="88081"/>
                  <a:pt x="896122" y="55984"/>
                </a:cubicBezTo>
                <a:cubicBezTo>
                  <a:pt x="865020" y="49764"/>
                  <a:pt x="833416" y="45669"/>
                  <a:pt x="802816" y="37323"/>
                </a:cubicBezTo>
                <a:cubicBezTo>
                  <a:pt x="764861" y="26972"/>
                  <a:pt x="690849" y="0"/>
                  <a:pt x="690849" y="0"/>
                </a:cubicBezTo>
                <a:cubicBezTo>
                  <a:pt x="566441" y="6221"/>
                  <a:pt x="441141" y="2551"/>
                  <a:pt x="317624" y="18662"/>
                </a:cubicBezTo>
                <a:cubicBezTo>
                  <a:pt x="280773" y="23469"/>
                  <a:pt x="251008" y="73289"/>
                  <a:pt x="224318" y="93306"/>
                </a:cubicBezTo>
                <a:cubicBezTo>
                  <a:pt x="121650" y="170307"/>
                  <a:pt x="143650" y="157518"/>
                  <a:pt x="56367" y="186613"/>
                </a:cubicBezTo>
                <a:cubicBezTo>
                  <a:pt x="43369" y="206110"/>
                  <a:pt x="-4767" y="267675"/>
                  <a:pt x="384" y="298580"/>
                </a:cubicBezTo>
                <a:cubicBezTo>
                  <a:pt x="4071" y="320703"/>
                  <a:pt x="20193" y="340553"/>
                  <a:pt x="37706" y="354564"/>
                </a:cubicBezTo>
                <a:cubicBezTo>
                  <a:pt x="53066" y="366852"/>
                  <a:pt x="93690" y="373225"/>
                  <a:pt x="93690" y="373225"/>
                </a:cubicBezTo>
              </a:path>
            </a:pathLst>
          </a:custGeom>
          <a:noFill/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408184" y="1492898"/>
            <a:ext cx="4238461" cy="3191069"/>
          </a:xfrm>
          <a:custGeom>
            <a:avLst/>
            <a:gdLst>
              <a:gd name="connsiteX0" fmla="*/ 2092420 w 4238461"/>
              <a:gd name="connsiteY0" fmla="*/ 0 h 3191069"/>
              <a:gd name="connsiteX1" fmla="*/ 2223049 w 4238461"/>
              <a:gd name="connsiteY1" fmla="*/ 167951 h 3191069"/>
              <a:gd name="connsiteX2" fmla="*/ 2260371 w 4238461"/>
              <a:gd name="connsiteY2" fmla="*/ 223935 h 3191069"/>
              <a:gd name="connsiteX3" fmla="*/ 2316355 w 4238461"/>
              <a:gd name="connsiteY3" fmla="*/ 242596 h 3191069"/>
              <a:gd name="connsiteX4" fmla="*/ 2428322 w 4238461"/>
              <a:gd name="connsiteY4" fmla="*/ 335902 h 3191069"/>
              <a:gd name="connsiteX5" fmla="*/ 2502967 w 4238461"/>
              <a:gd name="connsiteY5" fmla="*/ 410547 h 3191069"/>
              <a:gd name="connsiteX6" fmla="*/ 2558951 w 4238461"/>
              <a:gd name="connsiteY6" fmla="*/ 466531 h 3191069"/>
              <a:gd name="connsiteX7" fmla="*/ 2633596 w 4238461"/>
              <a:gd name="connsiteY7" fmla="*/ 522514 h 3191069"/>
              <a:gd name="connsiteX8" fmla="*/ 2708240 w 4238461"/>
              <a:gd name="connsiteY8" fmla="*/ 615820 h 3191069"/>
              <a:gd name="connsiteX9" fmla="*/ 2857530 w 4238461"/>
              <a:gd name="connsiteY9" fmla="*/ 746449 h 3191069"/>
              <a:gd name="connsiteX10" fmla="*/ 2876192 w 4238461"/>
              <a:gd name="connsiteY10" fmla="*/ 802433 h 3191069"/>
              <a:gd name="connsiteX11" fmla="*/ 2932175 w 4238461"/>
              <a:gd name="connsiteY11" fmla="*/ 858416 h 3191069"/>
              <a:gd name="connsiteX12" fmla="*/ 2969498 w 4238461"/>
              <a:gd name="connsiteY12" fmla="*/ 914400 h 3191069"/>
              <a:gd name="connsiteX13" fmla="*/ 2988159 w 4238461"/>
              <a:gd name="connsiteY13" fmla="*/ 970384 h 3191069"/>
              <a:gd name="connsiteX14" fmla="*/ 3100126 w 4238461"/>
              <a:gd name="connsiteY14" fmla="*/ 1101012 h 3191069"/>
              <a:gd name="connsiteX15" fmla="*/ 3137449 w 4238461"/>
              <a:gd name="connsiteY15" fmla="*/ 1156996 h 3191069"/>
              <a:gd name="connsiteX16" fmla="*/ 3156110 w 4238461"/>
              <a:gd name="connsiteY16" fmla="*/ 1231641 h 3191069"/>
              <a:gd name="connsiteX17" fmla="*/ 3230755 w 4238461"/>
              <a:gd name="connsiteY17" fmla="*/ 1324947 h 3191069"/>
              <a:gd name="connsiteX18" fmla="*/ 3286738 w 4238461"/>
              <a:gd name="connsiteY18" fmla="*/ 1455575 h 3191069"/>
              <a:gd name="connsiteX19" fmla="*/ 3342722 w 4238461"/>
              <a:gd name="connsiteY19" fmla="*/ 1548882 h 3191069"/>
              <a:gd name="connsiteX20" fmla="*/ 3361383 w 4238461"/>
              <a:gd name="connsiteY20" fmla="*/ 1604865 h 3191069"/>
              <a:gd name="connsiteX21" fmla="*/ 3398706 w 4238461"/>
              <a:gd name="connsiteY21" fmla="*/ 1642188 h 3191069"/>
              <a:gd name="connsiteX22" fmla="*/ 3417367 w 4238461"/>
              <a:gd name="connsiteY22" fmla="*/ 1735494 h 3191069"/>
              <a:gd name="connsiteX23" fmla="*/ 3436028 w 4238461"/>
              <a:gd name="connsiteY23" fmla="*/ 1791478 h 3191069"/>
              <a:gd name="connsiteX24" fmla="*/ 3454689 w 4238461"/>
              <a:gd name="connsiteY24" fmla="*/ 1866122 h 3191069"/>
              <a:gd name="connsiteX25" fmla="*/ 3473351 w 4238461"/>
              <a:gd name="connsiteY25" fmla="*/ 1922106 h 3191069"/>
              <a:gd name="connsiteX26" fmla="*/ 3510673 w 4238461"/>
              <a:gd name="connsiteY26" fmla="*/ 2071396 h 3191069"/>
              <a:gd name="connsiteX27" fmla="*/ 3641302 w 4238461"/>
              <a:gd name="connsiteY27" fmla="*/ 2164702 h 3191069"/>
              <a:gd name="connsiteX28" fmla="*/ 3753269 w 4238461"/>
              <a:gd name="connsiteY28" fmla="*/ 2239347 h 3191069"/>
              <a:gd name="connsiteX29" fmla="*/ 3790592 w 4238461"/>
              <a:gd name="connsiteY29" fmla="*/ 2276669 h 3191069"/>
              <a:gd name="connsiteX30" fmla="*/ 3865236 w 4238461"/>
              <a:gd name="connsiteY30" fmla="*/ 2332653 h 3191069"/>
              <a:gd name="connsiteX31" fmla="*/ 3977204 w 4238461"/>
              <a:gd name="connsiteY31" fmla="*/ 2407298 h 3191069"/>
              <a:gd name="connsiteX32" fmla="*/ 4033187 w 4238461"/>
              <a:gd name="connsiteY32" fmla="*/ 2463282 h 3191069"/>
              <a:gd name="connsiteX33" fmla="*/ 4126494 w 4238461"/>
              <a:gd name="connsiteY33" fmla="*/ 2593910 h 3191069"/>
              <a:gd name="connsiteX34" fmla="*/ 4163816 w 4238461"/>
              <a:gd name="connsiteY34" fmla="*/ 2668555 h 3191069"/>
              <a:gd name="connsiteX35" fmla="*/ 4201138 w 4238461"/>
              <a:gd name="connsiteY35" fmla="*/ 2705878 h 3191069"/>
              <a:gd name="connsiteX36" fmla="*/ 4219800 w 4238461"/>
              <a:gd name="connsiteY36" fmla="*/ 2799184 h 3191069"/>
              <a:gd name="connsiteX37" fmla="*/ 4238461 w 4238461"/>
              <a:gd name="connsiteY37" fmla="*/ 2855167 h 3191069"/>
              <a:gd name="connsiteX38" fmla="*/ 4219800 w 4238461"/>
              <a:gd name="connsiteY38" fmla="*/ 3079102 h 3191069"/>
              <a:gd name="connsiteX39" fmla="*/ 4201138 w 4238461"/>
              <a:gd name="connsiteY39" fmla="*/ 3135086 h 3191069"/>
              <a:gd name="connsiteX40" fmla="*/ 4051849 w 4238461"/>
              <a:gd name="connsiteY40" fmla="*/ 3191069 h 3191069"/>
              <a:gd name="connsiteX41" fmla="*/ 3641302 w 4238461"/>
              <a:gd name="connsiteY41" fmla="*/ 3172408 h 3191069"/>
              <a:gd name="connsiteX42" fmla="*/ 3510673 w 4238461"/>
              <a:gd name="connsiteY42" fmla="*/ 3116424 h 3191069"/>
              <a:gd name="connsiteX43" fmla="*/ 3249416 w 4238461"/>
              <a:gd name="connsiteY43" fmla="*/ 3097763 h 3191069"/>
              <a:gd name="connsiteX44" fmla="*/ 3137449 w 4238461"/>
              <a:gd name="connsiteY44" fmla="*/ 3060441 h 3191069"/>
              <a:gd name="connsiteX45" fmla="*/ 2932175 w 4238461"/>
              <a:gd name="connsiteY45" fmla="*/ 3004457 h 3191069"/>
              <a:gd name="connsiteX46" fmla="*/ 2689579 w 4238461"/>
              <a:gd name="connsiteY46" fmla="*/ 2985796 h 3191069"/>
              <a:gd name="connsiteX47" fmla="*/ 1924469 w 4238461"/>
              <a:gd name="connsiteY47" fmla="*/ 3041780 h 3191069"/>
              <a:gd name="connsiteX48" fmla="*/ 1812502 w 4238461"/>
              <a:gd name="connsiteY48" fmla="*/ 3060441 h 3191069"/>
              <a:gd name="connsiteX49" fmla="*/ 1681873 w 4238461"/>
              <a:gd name="connsiteY49" fmla="*/ 3097763 h 3191069"/>
              <a:gd name="connsiteX50" fmla="*/ 1345971 w 4238461"/>
              <a:gd name="connsiteY50" fmla="*/ 3116424 h 3191069"/>
              <a:gd name="connsiteX51" fmla="*/ 524877 w 4238461"/>
              <a:gd name="connsiteY51" fmla="*/ 3097763 h 3191069"/>
              <a:gd name="connsiteX52" fmla="*/ 468894 w 4238461"/>
              <a:gd name="connsiteY52" fmla="*/ 3079102 h 3191069"/>
              <a:gd name="connsiteX53" fmla="*/ 375587 w 4238461"/>
              <a:gd name="connsiteY53" fmla="*/ 3023118 h 3191069"/>
              <a:gd name="connsiteX54" fmla="*/ 244959 w 4238461"/>
              <a:gd name="connsiteY54" fmla="*/ 2967135 h 3191069"/>
              <a:gd name="connsiteX55" fmla="*/ 207636 w 4238461"/>
              <a:gd name="connsiteY55" fmla="*/ 2929812 h 3191069"/>
              <a:gd name="connsiteX56" fmla="*/ 114330 w 4238461"/>
              <a:gd name="connsiteY56" fmla="*/ 2855167 h 3191069"/>
              <a:gd name="connsiteX57" fmla="*/ 77008 w 4238461"/>
              <a:gd name="connsiteY57" fmla="*/ 2761861 h 3191069"/>
              <a:gd name="connsiteX58" fmla="*/ 21024 w 4238461"/>
              <a:gd name="connsiteY58" fmla="*/ 2668555 h 3191069"/>
              <a:gd name="connsiteX59" fmla="*/ 21024 w 4238461"/>
              <a:gd name="connsiteY59" fmla="*/ 2108718 h 3191069"/>
              <a:gd name="connsiteX60" fmla="*/ 114330 w 4238461"/>
              <a:gd name="connsiteY60" fmla="*/ 1978090 h 3191069"/>
              <a:gd name="connsiteX61" fmla="*/ 170314 w 4238461"/>
              <a:gd name="connsiteY61" fmla="*/ 1903445 h 3191069"/>
              <a:gd name="connsiteX62" fmla="*/ 338265 w 4238461"/>
              <a:gd name="connsiteY62" fmla="*/ 1772816 h 3191069"/>
              <a:gd name="connsiteX63" fmla="*/ 468894 w 4238461"/>
              <a:gd name="connsiteY63" fmla="*/ 1679510 h 3191069"/>
              <a:gd name="connsiteX64" fmla="*/ 543538 w 4238461"/>
              <a:gd name="connsiteY64" fmla="*/ 1623526 h 3191069"/>
              <a:gd name="connsiteX65" fmla="*/ 692828 w 4238461"/>
              <a:gd name="connsiteY65" fmla="*/ 1530220 h 3191069"/>
              <a:gd name="connsiteX66" fmla="*/ 730151 w 4238461"/>
              <a:gd name="connsiteY66" fmla="*/ 1492898 h 3191069"/>
              <a:gd name="connsiteX67" fmla="*/ 823457 w 4238461"/>
              <a:gd name="connsiteY67" fmla="*/ 1455575 h 3191069"/>
              <a:gd name="connsiteX68" fmla="*/ 972747 w 4238461"/>
              <a:gd name="connsiteY68" fmla="*/ 1343608 h 3191069"/>
              <a:gd name="connsiteX69" fmla="*/ 1047392 w 4238461"/>
              <a:gd name="connsiteY69" fmla="*/ 1268963 h 3191069"/>
              <a:gd name="connsiteX70" fmla="*/ 1159359 w 4238461"/>
              <a:gd name="connsiteY70" fmla="*/ 1194318 h 3191069"/>
              <a:gd name="connsiteX71" fmla="*/ 1271326 w 4238461"/>
              <a:gd name="connsiteY71" fmla="*/ 1082351 h 3191069"/>
              <a:gd name="connsiteX72" fmla="*/ 1308649 w 4238461"/>
              <a:gd name="connsiteY72" fmla="*/ 989045 h 3191069"/>
              <a:gd name="connsiteX73" fmla="*/ 1345971 w 4238461"/>
              <a:gd name="connsiteY73" fmla="*/ 933061 h 3191069"/>
              <a:gd name="connsiteX74" fmla="*/ 1383294 w 4238461"/>
              <a:gd name="connsiteY74" fmla="*/ 839755 h 3191069"/>
              <a:gd name="connsiteX75" fmla="*/ 1420616 w 4238461"/>
              <a:gd name="connsiteY75" fmla="*/ 765110 h 3191069"/>
              <a:gd name="connsiteX76" fmla="*/ 1439277 w 4238461"/>
              <a:gd name="connsiteY76" fmla="*/ 709126 h 3191069"/>
              <a:gd name="connsiteX77" fmla="*/ 1513922 w 4238461"/>
              <a:gd name="connsiteY77" fmla="*/ 597159 h 3191069"/>
              <a:gd name="connsiteX78" fmla="*/ 1588567 w 4238461"/>
              <a:gd name="connsiteY78" fmla="*/ 410547 h 3191069"/>
              <a:gd name="connsiteX79" fmla="*/ 1607228 w 4238461"/>
              <a:gd name="connsiteY79" fmla="*/ 354563 h 3191069"/>
              <a:gd name="connsiteX80" fmla="*/ 1644551 w 4238461"/>
              <a:gd name="connsiteY80" fmla="*/ 317241 h 3191069"/>
              <a:gd name="connsiteX81" fmla="*/ 1681873 w 4238461"/>
              <a:gd name="connsiteY81" fmla="*/ 261257 h 3191069"/>
              <a:gd name="connsiteX82" fmla="*/ 1756518 w 4238461"/>
              <a:gd name="connsiteY82" fmla="*/ 186612 h 3191069"/>
              <a:gd name="connsiteX83" fmla="*/ 1812502 w 4238461"/>
              <a:gd name="connsiteY83" fmla="*/ 167951 h 3191069"/>
              <a:gd name="connsiteX84" fmla="*/ 1887147 w 4238461"/>
              <a:gd name="connsiteY84" fmla="*/ 130629 h 3191069"/>
              <a:gd name="connsiteX85" fmla="*/ 2129743 w 4238461"/>
              <a:gd name="connsiteY85" fmla="*/ 55984 h 3191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4238461" h="3191069">
                <a:moveTo>
                  <a:pt x="2092420" y="0"/>
                </a:moveTo>
                <a:cubicBezTo>
                  <a:pt x="2281089" y="283003"/>
                  <a:pt x="2076874" y="-7461"/>
                  <a:pt x="2223049" y="167951"/>
                </a:cubicBezTo>
                <a:cubicBezTo>
                  <a:pt x="2237407" y="185181"/>
                  <a:pt x="2242858" y="209924"/>
                  <a:pt x="2260371" y="223935"/>
                </a:cubicBezTo>
                <a:cubicBezTo>
                  <a:pt x="2275731" y="236223"/>
                  <a:pt x="2297694" y="236376"/>
                  <a:pt x="2316355" y="242596"/>
                </a:cubicBezTo>
                <a:cubicBezTo>
                  <a:pt x="2510467" y="436712"/>
                  <a:pt x="2246469" y="180029"/>
                  <a:pt x="2428322" y="335902"/>
                </a:cubicBezTo>
                <a:cubicBezTo>
                  <a:pt x="2455039" y="358802"/>
                  <a:pt x="2478085" y="385665"/>
                  <a:pt x="2502967" y="410547"/>
                </a:cubicBezTo>
                <a:cubicBezTo>
                  <a:pt x="2521628" y="429208"/>
                  <a:pt x="2537838" y="450696"/>
                  <a:pt x="2558951" y="466531"/>
                </a:cubicBezTo>
                <a:cubicBezTo>
                  <a:pt x="2583833" y="485192"/>
                  <a:pt x="2609703" y="502603"/>
                  <a:pt x="2633596" y="522514"/>
                </a:cubicBezTo>
                <a:cubicBezTo>
                  <a:pt x="2700755" y="578480"/>
                  <a:pt x="2643340" y="541650"/>
                  <a:pt x="2708240" y="615820"/>
                </a:cubicBezTo>
                <a:cubicBezTo>
                  <a:pt x="2784654" y="703150"/>
                  <a:pt x="2781650" y="695861"/>
                  <a:pt x="2857530" y="746449"/>
                </a:cubicBezTo>
                <a:cubicBezTo>
                  <a:pt x="2863751" y="765110"/>
                  <a:pt x="2865281" y="786066"/>
                  <a:pt x="2876192" y="802433"/>
                </a:cubicBezTo>
                <a:cubicBezTo>
                  <a:pt x="2890831" y="824391"/>
                  <a:pt x="2915280" y="838142"/>
                  <a:pt x="2932175" y="858416"/>
                </a:cubicBezTo>
                <a:cubicBezTo>
                  <a:pt x="2946533" y="875646"/>
                  <a:pt x="2957057" y="895739"/>
                  <a:pt x="2969498" y="914400"/>
                </a:cubicBezTo>
                <a:cubicBezTo>
                  <a:pt x="2975718" y="933061"/>
                  <a:pt x="2978400" y="953305"/>
                  <a:pt x="2988159" y="970384"/>
                </a:cubicBezTo>
                <a:cubicBezTo>
                  <a:pt x="3038985" y="1059330"/>
                  <a:pt x="3039963" y="1028816"/>
                  <a:pt x="3100126" y="1101012"/>
                </a:cubicBezTo>
                <a:cubicBezTo>
                  <a:pt x="3114484" y="1118242"/>
                  <a:pt x="3125008" y="1138335"/>
                  <a:pt x="3137449" y="1156996"/>
                </a:cubicBezTo>
                <a:cubicBezTo>
                  <a:pt x="3143669" y="1181878"/>
                  <a:pt x="3146007" y="1208067"/>
                  <a:pt x="3156110" y="1231641"/>
                </a:cubicBezTo>
                <a:cubicBezTo>
                  <a:pt x="3173765" y="1272837"/>
                  <a:pt x="3200658" y="1294850"/>
                  <a:pt x="3230755" y="1324947"/>
                </a:cubicBezTo>
                <a:cubicBezTo>
                  <a:pt x="3274515" y="1456231"/>
                  <a:pt x="3217564" y="1294170"/>
                  <a:pt x="3286738" y="1455575"/>
                </a:cubicBezTo>
                <a:cubicBezTo>
                  <a:pt x="3323076" y="1540362"/>
                  <a:pt x="3280658" y="1486816"/>
                  <a:pt x="3342722" y="1548882"/>
                </a:cubicBezTo>
                <a:cubicBezTo>
                  <a:pt x="3348942" y="1567543"/>
                  <a:pt x="3351263" y="1587998"/>
                  <a:pt x="3361383" y="1604865"/>
                </a:cubicBezTo>
                <a:cubicBezTo>
                  <a:pt x="3370435" y="1619952"/>
                  <a:pt x="3391775" y="1626016"/>
                  <a:pt x="3398706" y="1642188"/>
                </a:cubicBezTo>
                <a:cubicBezTo>
                  <a:pt x="3411200" y="1671341"/>
                  <a:pt x="3409674" y="1704723"/>
                  <a:pt x="3417367" y="1735494"/>
                </a:cubicBezTo>
                <a:cubicBezTo>
                  <a:pt x="3422138" y="1754577"/>
                  <a:pt x="3430624" y="1772564"/>
                  <a:pt x="3436028" y="1791478"/>
                </a:cubicBezTo>
                <a:cubicBezTo>
                  <a:pt x="3443074" y="1816138"/>
                  <a:pt x="3447643" y="1841462"/>
                  <a:pt x="3454689" y="1866122"/>
                </a:cubicBezTo>
                <a:cubicBezTo>
                  <a:pt x="3460093" y="1885036"/>
                  <a:pt x="3468580" y="1903022"/>
                  <a:pt x="3473351" y="1922106"/>
                </a:cubicBezTo>
                <a:cubicBezTo>
                  <a:pt x="3476061" y="1932947"/>
                  <a:pt x="3494267" y="2048427"/>
                  <a:pt x="3510673" y="2071396"/>
                </a:cubicBezTo>
                <a:cubicBezTo>
                  <a:pt x="3566019" y="2148881"/>
                  <a:pt x="3570500" y="2141102"/>
                  <a:pt x="3641302" y="2164702"/>
                </a:cubicBezTo>
                <a:cubicBezTo>
                  <a:pt x="3783653" y="2307056"/>
                  <a:pt x="3618240" y="2158331"/>
                  <a:pt x="3753269" y="2239347"/>
                </a:cubicBezTo>
                <a:cubicBezTo>
                  <a:pt x="3768356" y="2248399"/>
                  <a:pt x="3777076" y="2265406"/>
                  <a:pt x="3790592" y="2276669"/>
                </a:cubicBezTo>
                <a:cubicBezTo>
                  <a:pt x="3814485" y="2296580"/>
                  <a:pt x="3839756" y="2314817"/>
                  <a:pt x="3865236" y="2332653"/>
                </a:cubicBezTo>
                <a:cubicBezTo>
                  <a:pt x="3901984" y="2358376"/>
                  <a:pt x="3945486" y="2375580"/>
                  <a:pt x="3977204" y="2407298"/>
                </a:cubicBezTo>
                <a:cubicBezTo>
                  <a:pt x="3995865" y="2425959"/>
                  <a:pt x="4017353" y="2442169"/>
                  <a:pt x="4033187" y="2463282"/>
                </a:cubicBezTo>
                <a:cubicBezTo>
                  <a:pt x="4163249" y="2636699"/>
                  <a:pt x="4031981" y="2499399"/>
                  <a:pt x="4126494" y="2593910"/>
                </a:cubicBezTo>
                <a:cubicBezTo>
                  <a:pt x="4138935" y="2618792"/>
                  <a:pt x="4148385" y="2645409"/>
                  <a:pt x="4163816" y="2668555"/>
                </a:cubicBezTo>
                <a:cubicBezTo>
                  <a:pt x="4173575" y="2683194"/>
                  <a:pt x="4194207" y="2689707"/>
                  <a:pt x="4201138" y="2705878"/>
                </a:cubicBezTo>
                <a:cubicBezTo>
                  <a:pt x="4213632" y="2735031"/>
                  <a:pt x="4212107" y="2768413"/>
                  <a:pt x="4219800" y="2799184"/>
                </a:cubicBezTo>
                <a:cubicBezTo>
                  <a:pt x="4224571" y="2818267"/>
                  <a:pt x="4232241" y="2836506"/>
                  <a:pt x="4238461" y="2855167"/>
                </a:cubicBezTo>
                <a:cubicBezTo>
                  <a:pt x="4232241" y="2929812"/>
                  <a:pt x="4229700" y="3004855"/>
                  <a:pt x="4219800" y="3079102"/>
                </a:cubicBezTo>
                <a:cubicBezTo>
                  <a:pt x="4217200" y="3098600"/>
                  <a:pt x="4216250" y="3122493"/>
                  <a:pt x="4201138" y="3135086"/>
                </a:cubicBezTo>
                <a:cubicBezTo>
                  <a:pt x="4186263" y="3147482"/>
                  <a:pt x="4082830" y="3180742"/>
                  <a:pt x="4051849" y="3191069"/>
                </a:cubicBezTo>
                <a:cubicBezTo>
                  <a:pt x="3915000" y="3184849"/>
                  <a:pt x="3777889" y="3182915"/>
                  <a:pt x="3641302" y="3172408"/>
                </a:cubicBezTo>
                <a:cubicBezTo>
                  <a:pt x="3277093" y="3144392"/>
                  <a:pt x="3822187" y="3171397"/>
                  <a:pt x="3510673" y="3116424"/>
                </a:cubicBezTo>
                <a:cubicBezTo>
                  <a:pt x="3424694" y="3101251"/>
                  <a:pt x="3336502" y="3103983"/>
                  <a:pt x="3249416" y="3097763"/>
                </a:cubicBezTo>
                <a:lnTo>
                  <a:pt x="3137449" y="3060441"/>
                </a:lnTo>
                <a:cubicBezTo>
                  <a:pt x="3060821" y="3034898"/>
                  <a:pt x="3011308" y="3013249"/>
                  <a:pt x="2932175" y="3004457"/>
                </a:cubicBezTo>
                <a:cubicBezTo>
                  <a:pt x="2851567" y="2995501"/>
                  <a:pt x="2770444" y="2992016"/>
                  <a:pt x="2689579" y="2985796"/>
                </a:cubicBezTo>
                <a:cubicBezTo>
                  <a:pt x="2434542" y="3004457"/>
                  <a:pt x="2176708" y="2999741"/>
                  <a:pt x="1924469" y="3041780"/>
                </a:cubicBezTo>
                <a:cubicBezTo>
                  <a:pt x="1887147" y="3048000"/>
                  <a:pt x="1849370" y="3051933"/>
                  <a:pt x="1812502" y="3060441"/>
                </a:cubicBezTo>
                <a:cubicBezTo>
                  <a:pt x="1768376" y="3070624"/>
                  <a:pt x="1726836" y="3092368"/>
                  <a:pt x="1681873" y="3097763"/>
                </a:cubicBezTo>
                <a:cubicBezTo>
                  <a:pt x="1570532" y="3111124"/>
                  <a:pt x="1457938" y="3110204"/>
                  <a:pt x="1345971" y="3116424"/>
                </a:cubicBezTo>
                <a:lnTo>
                  <a:pt x="524877" y="3097763"/>
                </a:lnTo>
                <a:cubicBezTo>
                  <a:pt x="505224" y="3096927"/>
                  <a:pt x="486488" y="3087899"/>
                  <a:pt x="468894" y="3079102"/>
                </a:cubicBezTo>
                <a:cubicBezTo>
                  <a:pt x="436452" y="3062881"/>
                  <a:pt x="408029" y="3039339"/>
                  <a:pt x="375587" y="3023118"/>
                </a:cubicBezTo>
                <a:cubicBezTo>
                  <a:pt x="333215" y="3001932"/>
                  <a:pt x="288502" y="2985796"/>
                  <a:pt x="244959" y="2967135"/>
                </a:cubicBezTo>
                <a:cubicBezTo>
                  <a:pt x="232518" y="2954694"/>
                  <a:pt x="221375" y="2940803"/>
                  <a:pt x="207636" y="2929812"/>
                </a:cubicBezTo>
                <a:cubicBezTo>
                  <a:pt x="89931" y="2835648"/>
                  <a:pt x="204448" y="2945285"/>
                  <a:pt x="114330" y="2855167"/>
                </a:cubicBezTo>
                <a:cubicBezTo>
                  <a:pt x="101889" y="2824065"/>
                  <a:pt x="93628" y="2790945"/>
                  <a:pt x="77008" y="2761861"/>
                </a:cubicBezTo>
                <a:cubicBezTo>
                  <a:pt x="-4963" y="2618412"/>
                  <a:pt x="79616" y="2844333"/>
                  <a:pt x="21024" y="2668555"/>
                </a:cubicBezTo>
                <a:cubicBezTo>
                  <a:pt x="1459" y="2433769"/>
                  <a:pt x="-14380" y="2368347"/>
                  <a:pt x="21024" y="2108718"/>
                </a:cubicBezTo>
                <a:cubicBezTo>
                  <a:pt x="29818" y="2044231"/>
                  <a:pt x="76938" y="2021714"/>
                  <a:pt x="114330" y="1978090"/>
                </a:cubicBezTo>
                <a:cubicBezTo>
                  <a:pt x="134571" y="1954476"/>
                  <a:pt x="149508" y="1926563"/>
                  <a:pt x="170314" y="1903445"/>
                </a:cubicBezTo>
                <a:cubicBezTo>
                  <a:pt x="278208" y="1783563"/>
                  <a:pt x="238910" y="1805936"/>
                  <a:pt x="338265" y="1772816"/>
                </a:cubicBezTo>
                <a:cubicBezTo>
                  <a:pt x="406754" y="1670082"/>
                  <a:pt x="335965" y="1753360"/>
                  <a:pt x="468894" y="1679510"/>
                </a:cubicBezTo>
                <a:cubicBezTo>
                  <a:pt x="496082" y="1664405"/>
                  <a:pt x="517164" y="1640010"/>
                  <a:pt x="543538" y="1623526"/>
                </a:cubicBezTo>
                <a:cubicBezTo>
                  <a:pt x="672822" y="1542723"/>
                  <a:pt x="565943" y="1635957"/>
                  <a:pt x="692828" y="1530220"/>
                </a:cubicBezTo>
                <a:cubicBezTo>
                  <a:pt x="706344" y="1518957"/>
                  <a:pt x="714875" y="1501627"/>
                  <a:pt x="730151" y="1492898"/>
                </a:cubicBezTo>
                <a:cubicBezTo>
                  <a:pt x="759235" y="1476278"/>
                  <a:pt x="792355" y="1468016"/>
                  <a:pt x="823457" y="1455575"/>
                </a:cubicBezTo>
                <a:cubicBezTo>
                  <a:pt x="901666" y="1338262"/>
                  <a:pt x="807712" y="1459132"/>
                  <a:pt x="972747" y="1343608"/>
                </a:cubicBezTo>
                <a:cubicBezTo>
                  <a:pt x="1001574" y="1323429"/>
                  <a:pt x="1019915" y="1290945"/>
                  <a:pt x="1047392" y="1268963"/>
                </a:cubicBezTo>
                <a:cubicBezTo>
                  <a:pt x="1082419" y="1240942"/>
                  <a:pt x="1132445" y="1230203"/>
                  <a:pt x="1159359" y="1194318"/>
                </a:cubicBezTo>
                <a:cubicBezTo>
                  <a:pt x="1228800" y="1101731"/>
                  <a:pt x="1189464" y="1136925"/>
                  <a:pt x="1271326" y="1082351"/>
                </a:cubicBezTo>
                <a:cubicBezTo>
                  <a:pt x="1283767" y="1051249"/>
                  <a:pt x="1293668" y="1019006"/>
                  <a:pt x="1308649" y="989045"/>
                </a:cubicBezTo>
                <a:cubicBezTo>
                  <a:pt x="1318679" y="968985"/>
                  <a:pt x="1335941" y="953121"/>
                  <a:pt x="1345971" y="933061"/>
                </a:cubicBezTo>
                <a:cubicBezTo>
                  <a:pt x="1360952" y="903100"/>
                  <a:pt x="1369689" y="870366"/>
                  <a:pt x="1383294" y="839755"/>
                </a:cubicBezTo>
                <a:cubicBezTo>
                  <a:pt x="1394592" y="814334"/>
                  <a:pt x="1409658" y="790679"/>
                  <a:pt x="1420616" y="765110"/>
                </a:cubicBezTo>
                <a:cubicBezTo>
                  <a:pt x="1428365" y="747030"/>
                  <a:pt x="1429724" y="726321"/>
                  <a:pt x="1439277" y="709126"/>
                </a:cubicBezTo>
                <a:cubicBezTo>
                  <a:pt x="1461061" y="669915"/>
                  <a:pt x="1499737" y="639713"/>
                  <a:pt x="1513922" y="597159"/>
                </a:cubicBezTo>
                <a:cubicBezTo>
                  <a:pt x="1598880" y="342291"/>
                  <a:pt x="1506189" y="602765"/>
                  <a:pt x="1588567" y="410547"/>
                </a:cubicBezTo>
                <a:cubicBezTo>
                  <a:pt x="1596316" y="392467"/>
                  <a:pt x="1597107" y="371430"/>
                  <a:pt x="1607228" y="354563"/>
                </a:cubicBezTo>
                <a:cubicBezTo>
                  <a:pt x="1616280" y="339476"/>
                  <a:pt x="1633560" y="330980"/>
                  <a:pt x="1644551" y="317241"/>
                </a:cubicBezTo>
                <a:cubicBezTo>
                  <a:pt x="1658562" y="299728"/>
                  <a:pt x="1667277" y="278286"/>
                  <a:pt x="1681873" y="261257"/>
                </a:cubicBezTo>
                <a:cubicBezTo>
                  <a:pt x="1704773" y="234540"/>
                  <a:pt x="1723136" y="197739"/>
                  <a:pt x="1756518" y="186612"/>
                </a:cubicBezTo>
                <a:cubicBezTo>
                  <a:pt x="1775179" y="180392"/>
                  <a:pt x="1794422" y="175700"/>
                  <a:pt x="1812502" y="167951"/>
                </a:cubicBezTo>
                <a:cubicBezTo>
                  <a:pt x="1838071" y="156993"/>
                  <a:pt x="1859752" y="135463"/>
                  <a:pt x="1887147" y="130629"/>
                </a:cubicBezTo>
                <a:cubicBezTo>
                  <a:pt x="2148349" y="84534"/>
                  <a:pt x="2129743" y="199054"/>
                  <a:pt x="2129743" y="55984"/>
                </a:cubicBezTo>
              </a:path>
            </a:pathLst>
          </a:cu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05061" y="4348065"/>
            <a:ext cx="393056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/>
              <a:t>A</a:t>
            </a:r>
            <a:endParaRPr lang="en-US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2551241" y="4756868"/>
            <a:ext cx="380232" cy="52322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/>
              <a:t>B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15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(MAX/MIN)-HEAPIFY: Running time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6516992" cy="4795838"/>
          </a:xfrm>
          <a:prstGeom prst="rect">
            <a:avLst/>
          </a:prstGeom>
        </p:spPr>
      </p:pic>
      <p:sp>
        <p:nvSpPr>
          <p:cNvPr id="10" name="Right Brace 9"/>
          <p:cNvSpPr/>
          <p:nvPr/>
        </p:nvSpPr>
        <p:spPr>
          <a:xfrm>
            <a:off x="5475916" y="2206467"/>
            <a:ext cx="2083124" cy="375237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797040" y="3474720"/>
            <a:ext cx="830677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sym typeface="Symbol" panose="05050102010706020507" pitchFamily="18" charset="2"/>
              </a:rPr>
              <a:t></a:t>
            </a:r>
            <a:r>
              <a:rPr lang="en-US" sz="2400" dirty="0" smtClean="0"/>
              <a:t>(1)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1264920" y="5874242"/>
            <a:ext cx="3977640" cy="50292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880" y="5437283"/>
            <a:ext cx="872843" cy="12554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205202" y="4562103"/>
                <a:ext cx="4573175" cy="16912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b="0" dirty="0" smtClean="0"/>
              </a:p>
              <a:p>
                <a:r>
                  <a:rPr lang="en-US" sz="3200" dirty="0">
                    <a:sym typeface="Symbol" panose="05050102010706020507" pitchFamily="18" charset="2"/>
                  </a:rPr>
                  <a:t></a:t>
                </a:r>
                <a:r>
                  <a:rPr lang="en-US" sz="3200" dirty="0" smtClean="0"/>
                  <a:t> T(n) = O(log n)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5202" y="4562103"/>
                <a:ext cx="4573175" cy="1691297"/>
              </a:xfrm>
              <a:prstGeom prst="rect">
                <a:avLst/>
              </a:prstGeom>
              <a:blipFill>
                <a:blip r:embed="rId4"/>
                <a:stretch>
                  <a:fillRect l="-3467" b="-11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8072504" y="6301860"/>
            <a:ext cx="2618217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/>
              <a:t>Master Theorem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9443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BUILD-(MAX/MIN)-HEAP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838200" y="1489723"/>
            <a:ext cx="5181600" cy="291432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smtClean="0"/>
              <a:t>BUILD-MAX-HEAP(A)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1 </a:t>
            </a:r>
            <a:r>
              <a:rPr lang="en-US" dirty="0" smtClean="0"/>
              <a:t> </a:t>
            </a:r>
            <a:r>
              <a:rPr lang="en-US" dirty="0" err="1" smtClean="0"/>
              <a:t>A.</a:t>
            </a:r>
            <a:r>
              <a:rPr lang="en-US" i="1" dirty="0" err="1" smtClean="0"/>
              <a:t>heap</a:t>
            </a:r>
            <a:r>
              <a:rPr lang="en-US" dirty="0" smtClean="0"/>
              <a:t>-</a:t>
            </a:r>
            <a:r>
              <a:rPr lang="en-US" i="1" dirty="0" smtClean="0"/>
              <a:t>size </a:t>
            </a:r>
            <a:r>
              <a:rPr lang="en-US" dirty="0" smtClean="0"/>
              <a:t>= </a:t>
            </a:r>
            <a:r>
              <a:rPr lang="en-US" dirty="0" err="1" smtClean="0"/>
              <a:t>A.</a:t>
            </a:r>
            <a:r>
              <a:rPr lang="en-US" i="1" dirty="0" err="1" smtClean="0"/>
              <a:t>length</a:t>
            </a:r>
            <a:r>
              <a:rPr lang="en-US" i="1" dirty="0"/>
              <a:t/>
            </a:r>
            <a:br>
              <a:rPr lang="en-US" i="1" dirty="0"/>
            </a:br>
            <a:r>
              <a:rPr lang="en-US" dirty="0"/>
              <a:t>2 </a:t>
            </a:r>
            <a:r>
              <a:rPr lang="en-US" dirty="0" smtClean="0"/>
              <a:t> </a:t>
            </a:r>
            <a:r>
              <a:rPr lang="en-US" b="1" dirty="0" smtClean="0"/>
              <a:t>for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smtClean="0"/>
              <a:t>= </a:t>
            </a:r>
            <a:r>
              <a:rPr lang="en-US" dirty="0" smtClean="0">
                <a:sym typeface="Symbol" panose="05050102010706020507" pitchFamily="18" charset="2"/>
              </a:rPr>
              <a:t></a:t>
            </a:r>
            <a:r>
              <a:rPr lang="en-US" dirty="0" err="1" smtClean="0"/>
              <a:t>A.</a:t>
            </a:r>
            <a:r>
              <a:rPr lang="en-US" i="1" dirty="0" err="1" smtClean="0"/>
              <a:t>length</a:t>
            </a:r>
            <a:r>
              <a:rPr lang="en-US" dirty="0" smtClean="0"/>
              <a:t>/2</a:t>
            </a:r>
            <a:r>
              <a:rPr lang="en-US" dirty="0">
                <a:sym typeface="Symbol" panose="05050102010706020507" pitchFamily="18" charset="2"/>
              </a:rPr>
              <a:t></a:t>
            </a:r>
            <a:r>
              <a:rPr lang="en-US" dirty="0" smtClean="0"/>
              <a:t> </a:t>
            </a:r>
            <a:r>
              <a:rPr lang="en-US" b="1" dirty="0" err="1"/>
              <a:t>downto</a:t>
            </a:r>
            <a:r>
              <a:rPr lang="en-US" b="1" dirty="0"/>
              <a:t> </a:t>
            </a:r>
            <a:r>
              <a:rPr lang="en-US" dirty="0"/>
              <a:t>1</a:t>
            </a:r>
            <a:br>
              <a:rPr lang="en-US" dirty="0"/>
            </a:br>
            <a:r>
              <a:rPr lang="en-US" dirty="0"/>
              <a:t>3 </a:t>
            </a:r>
            <a:r>
              <a:rPr lang="en-US" dirty="0" smtClean="0"/>
              <a:t>	MAX-HEAPIFY(A, </a:t>
            </a:r>
            <a:r>
              <a:rPr lang="en-US" dirty="0" err="1" smtClean="0"/>
              <a:t>i</a:t>
            </a:r>
            <a:r>
              <a:rPr lang="en-US" dirty="0" smtClean="0"/>
              <a:t>)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6657392" y="1253429"/>
            <a:ext cx="5181600" cy="5495730"/>
          </a:xfrm>
        </p:spPr>
        <p:txBody>
          <a:bodyPr>
            <a:noAutofit/>
          </a:bodyPr>
          <a:lstStyle/>
          <a:p>
            <a:r>
              <a:rPr lang="en-US" sz="3200" dirty="0"/>
              <a:t>We can use the procedure MAX-HEAPIFY in a bottom-up manner to convert </a:t>
            </a:r>
            <a:r>
              <a:rPr lang="en-US" sz="3200" dirty="0" smtClean="0"/>
              <a:t>an array into a max-heap.</a:t>
            </a:r>
          </a:p>
          <a:p>
            <a:r>
              <a:rPr lang="en-US" sz="3200" dirty="0" smtClean="0"/>
              <a:t>The elements in the subarray A[</a:t>
            </a:r>
            <a:r>
              <a:rPr lang="en-US" sz="3200" dirty="0" smtClean="0">
                <a:sym typeface="Symbol" panose="05050102010706020507" pitchFamily="18" charset="2"/>
              </a:rPr>
              <a:t>n/2 + 1..n</a:t>
            </a:r>
            <a:r>
              <a:rPr lang="en-US" sz="3200" dirty="0" smtClean="0"/>
              <a:t>] are all leaves.</a:t>
            </a:r>
          </a:p>
          <a:p>
            <a:pPr lvl="1"/>
            <a:r>
              <a:rPr lang="en-US" sz="2800" dirty="0" smtClean="0"/>
              <a:t>Each is a 1-element heap.</a:t>
            </a:r>
          </a:p>
          <a:p>
            <a:r>
              <a:rPr lang="en-US" sz="3200" dirty="0" smtClean="0"/>
              <a:t>BUILD-MAX-HEAP goes through the remaining nodes and call MAX-HEAPIFY on each one.</a:t>
            </a: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547" y="4262551"/>
            <a:ext cx="3360576" cy="2240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4550" y="4921078"/>
            <a:ext cx="2580771" cy="923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n = 11</a:t>
            </a:r>
          </a:p>
          <a:p>
            <a:r>
              <a:rPr lang="en-US" dirty="0" smtClean="0"/>
              <a:t>n/2 + 1 = 6</a:t>
            </a:r>
          </a:p>
          <a:p>
            <a:r>
              <a:rPr lang="en-US" dirty="0" smtClean="0">
                <a:sym typeface="Symbol" panose="05050102010706020507" pitchFamily="18" charset="2"/>
              </a:rPr>
              <a:t> 6 onward all are leaves</a:t>
            </a:r>
            <a:endParaRPr lang="en-US" dirty="0"/>
          </a:p>
        </p:txBody>
      </p:sp>
      <p:sp>
        <p:nvSpPr>
          <p:cNvPr id="13" name="Left Brace 12"/>
          <p:cNvSpPr/>
          <p:nvPr/>
        </p:nvSpPr>
        <p:spPr>
          <a:xfrm rot="16200000">
            <a:off x="5407314" y="5293149"/>
            <a:ext cx="251592" cy="1354110"/>
          </a:xfrm>
          <a:prstGeom prst="leftBrace">
            <a:avLst/>
          </a:prstGeom>
          <a:ln w="635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3"/>
          <p:cNvSpPr/>
          <p:nvPr/>
        </p:nvSpPr>
        <p:spPr>
          <a:xfrm rot="16200000">
            <a:off x="3800207" y="5573550"/>
            <a:ext cx="166190" cy="1945510"/>
          </a:xfrm>
          <a:prstGeom prst="leftBrace">
            <a:avLst/>
          </a:prstGeom>
          <a:ln w="635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1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9273" y="197175"/>
            <a:ext cx="2657669" cy="2713977"/>
          </a:xfrm>
        </p:spPr>
        <p:txBody>
          <a:bodyPr>
            <a:normAutofit fontScale="90000"/>
          </a:bodyPr>
          <a:lstStyle/>
          <a:p>
            <a:r>
              <a:rPr lang="en-US" dirty="0"/>
              <a:t>BUILD-(MAX/MIN)-</a:t>
            </a:r>
            <a:r>
              <a:rPr lang="en-US" dirty="0" smtClean="0"/>
              <a:t>HEAP: Correctness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75"/>
            <a:ext cx="9121658" cy="64705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273" y="3831210"/>
            <a:ext cx="2904966" cy="159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004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BUILD-(MAX/MIN)-</a:t>
            </a:r>
            <a:r>
              <a:rPr lang="en-US" dirty="0" smtClean="0"/>
              <a:t>HEAP: Running Time (Simple)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6334"/>
            <a:ext cx="5233189" cy="2871946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5821680" y="3947160"/>
            <a:ext cx="472440" cy="3352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629400" y="3898027"/>
            <a:ext cx="813043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sym typeface="Symbol" panose="05050102010706020507" pitchFamily="18" charset="2"/>
              </a:rPr>
              <a:t>O</a:t>
            </a:r>
            <a:r>
              <a:rPr lang="en-US" sz="2400" dirty="0" smtClean="0"/>
              <a:t>(n)</a:t>
            </a:r>
            <a:endParaRPr lang="en-US" sz="2400" dirty="0"/>
          </a:p>
        </p:txBody>
      </p:sp>
      <p:sp>
        <p:nvSpPr>
          <p:cNvPr id="9" name="Right Arrow 8"/>
          <p:cNvSpPr/>
          <p:nvPr/>
        </p:nvSpPr>
        <p:spPr>
          <a:xfrm>
            <a:off x="5836920" y="3368040"/>
            <a:ext cx="472440" cy="3352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644640" y="3318907"/>
            <a:ext cx="806631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sym typeface="Symbol" panose="05050102010706020507" pitchFamily="18" charset="2"/>
              </a:rPr>
              <a:t>O</a:t>
            </a:r>
            <a:r>
              <a:rPr lang="en-US" sz="2400" dirty="0" smtClean="0"/>
              <a:t>(1)</a:t>
            </a:r>
            <a:endParaRPr lang="en-US" sz="2400" dirty="0"/>
          </a:p>
        </p:txBody>
      </p:sp>
      <p:sp>
        <p:nvSpPr>
          <p:cNvPr id="11" name="Right Arrow 10"/>
          <p:cNvSpPr/>
          <p:nvPr/>
        </p:nvSpPr>
        <p:spPr>
          <a:xfrm>
            <a:off x="5821680" y="4617720"/>
            <a:ext cx="472440" cy="3352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629399" y="4554527"/>
            <a:ext cx="1258678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sym typeface="Symbol" panose="05050102010706020507" pitchFamily="18" charset="2"/>
              </a:rPr>
              <a:t>O</a:t>
            </a:r>
            <a:r>
              <a:rPr lang="en-US" sz="2400" dirty="0" smtClean="0"/>
              <a:t>(log n)</a:t>
            </a:r>
            <a:endParaRPr lang="en-US" sz="2400" dirty="0"/>
          </a:p>
        </p:txBody>
      </p:sp>
      <p:sp>
        <p:nvSpPr>
          <p:cNvPr id="5" name="Freeform 4"/>
          <p:cNvSpPr/>
          <p:nvPr/>
        </p:nvSpPr>
        <p:spPr>
          <a:xfrm>
            <a:off x="7620000" y="4145280"/>
            <a:ext cx="1097660" cy="671945"/>
          </a:xfrm>
          <a:custGeom>
            <a:avLst/>
            <a:gdLst>
              <a:gd name="connsiteX0" fmla="*/ 0 w 1097660"/>
              <a:gd name="connsiteY0" fmla="*/ 0 h 671945"/>
              <a:gd name="connsiteX1" fmla="*/ 1082040 w 1097660"/>
              <a:gd name="connsiteY1" fmla="*/ 335280 h 671945"/>
              <a:gd name="connsiteX2" fmla="*/ 1097280 w 1097660"/>
              <a:gd name="connsiteY2" fmla="*/ 381000 h 671945"/>
              <a:gd name="connsiteX3" fmla="*/ 1036320 w 1097660"/>
              <a:gd name="connsiteY3" fmla="*/ 563880 h 671945"/>
              <a:gd name="connsiteX4" fmla="*/ 883920 w 1097660"/>
              <a:gd name="connsiteY4" fmla="*/ 594360 h 671945"/>
              <a:gd name="connsiteX5" fmla="*/ 777240 w 1097660"/>
              <a:gd name="connsiteY5" fmla="*/ 624840 h 671945"/>
              <a:gd name="connsiteX6" fmla="*/ 655320 w 1097660"/>
              <a:gd name="connsiteY6" fmla="*/ 640080 h 671945"/>
              <a:gd name="connsiteX7" fmla="*/ 518160 w 1097660"/>
              <a:gd name="connsiteY7" fmla="*/ 670560 h 671945"/>
              <a:gd name="connsiteX8" fmla="*/ 396240 w 1097660"/>
              <a:gd name="connsiteY8" fmla="*/ 670560 h 671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7660" h="671945">
                <a:moveTo>
                  <a:pt x="0" y="0"/>
                </a:moveTo>
                <a:cubicBezTo>
                  <a:pt x="360680" y="111760"/>
                  <a:pt x="725333" y="211423"/>
                  <a:pt x="1082040" y="335280"/>
                </a:cubicBezTo>
                <a:cubicBezTo>
                  <a:pt x="1097216" y="340549"/>
                  <a:pt x="1097280" y="364936"/>
                  <a:pt x="1097280" y="381000"/>
                </a:cubicBezTo>
                <a:cubicBezTo>
                  <a:pt x="1097280" y="430028"/>
                  <a:pt x="1106312" y="536960"/>
                  <a:pt x="1036320" y="563880"/>
                </a:cubicBezTo>
                <a:cubicBezTo>
                  <a:pt x="987967" y="582477"/>
                  <a:pt x="933068" y="577977"/>
                  <a:pt x="883920" y="594360"/>
                </a:cubicBezTo>
                <a:cubicBezTo>
                  <a:pt x="847683" y="606439"/>
                  <a:pt x="815512" y="618461"/>
                  <a:pt x="777240" y="624840"/>
                </a:cubicBezTo>
                <a:cubicBezTo>
                  <a:pt x="736841" y="631573"/>
                  <a:pt x="695719" y="633347"/>
                  <a:pt x="655320" y="640080"/>
                </a:cubicBezTo>
                <a:cubicBezTo>
                  <a:pt x="596568" y="649872"/>
                  <a:pt x="581090" y="665719"/>
                  <a:pt x="518160" y="670560"/>
                </a:cubicBezTo>
                <a:cubicBezTo>
                  <a:pt x="477640" y="673677"/>
                  <a:pt x="436880" y="670560"/>
                  <a:pt x="396240" y="670560"/>
                </a:cubicBezTo>
              </a:path>
            </a:pathLst>
          </a:custGeom>
          <a:noFill/>
          <a:ln w="635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9006840" y="2880360"/>
            <a:ext cx="15240" cy="2407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ight Arrow 14"/>
          <p:cNvSpPr/>
          <p:nvPr/>
        </p:nvSpPr>
        <p:spPr>
          <a:xfrm>
            <a:off x="9229571" y="3898027"/>
            <a:ext cx="472440" cy="3352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9909502" y="3834834"/>
            <a:ext cx="148951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sym typeface="Symbol" panose="05050102010706020507" pitchFamily="18" charset="2"/>
              </a:rPr>
              <a:t>O</a:t>
            </a:r>
            <a:r>
              <a:rPr lang="en-US" sz="2400" dirty="0" smtClean="0"/>
              <a:t>(n log n)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7389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481"/>
            <a:ext cx="10515600" cy="1053255"/>
          </a:xfrm>
        </p:spPr>
        <p:txBody>
          <a:bodyPr>
            <a:normAutofit fontScale="90000"/>
          </a:bodyPr>
          <a:lstStyle/>
          <a:p>
            <a:r>
              <a:rPr lang="en-US" dirty="0"/>
              <a:t>BUILD-(MAX/MIN)-</a:t>
            </a:r>
            <a:r>
              <a:rPr lang="en-US" dirty="0" smtClean="0"/>
              <a:t>HEAP: Running Time (Tighter)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815841" y="786291"/>
                <a:ext cx="7305330" cy="182469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an n-element </a:t>
                </a:r>
                <a:r>
                  <a:rPr lang="en-US" dirty="0" smtClean="0"/>
                  <a:t>heap has </a:t>
                </a:r>
                <a:r>
                  <a:rPr lang="en-US" dirty="0"/>
                  <a:t>height </a:t>
                </a:r>
                <a:r>
                  <a:rPr lang="en-US" dirty="0" smtClean="0">
                    <a:sym typeface="Symbol" panose="05050102010706020507" pitchFamily="18" charset="2"/>
                  </a:rPr>
                  <a:t>log n</a:t>
                </a:r>
                <a:endParaRPr lang="en-US" dirty="0"/>
              </a:p>
              <a:p>
                <a:r>
                  <a:rPr lang="en-US" dirty="0" smtClean="0"/>
                  <a:t>There are at most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 smtClean="0"/>
                  <a:t> nodes of any height h.</a:t>
                </a:r>
              </a:p>
              <a:p>
                <a:r>
                  <a:rPr lang="en-US" dirty="0" smtClean="0"/>
                  <a:t>Here height is the longest distance from a leaf</a:t>
                </a:r>
              </a:p>
              <a:p>
                <a:pPr lvl="1"/>
                <a:r>
                  <a:rPr lang="en-US" dirty="0" smtClean="0"/>
                  <a:t>Somewhat opposite to depth</a:t>
                </a: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815841" y="786291"/>
                <a:ext cx="7305330" cy="1824690"/>
              </a:xfrm>
              <a:blipFill>
                <a:blip r:embed="rId2"/>
                <a:stretch>
                  <a:fillRect l="-1252" t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795" y="741908"/>
            <a:ext cx="5233189" cy="2871946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3777" y="2655218"/>
            <a:ext cx="7131977" cy="40336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60" y="4347291"/>
            <a:ext cx="3360576" cy="2240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5214" y="3989862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h=3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4225371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h=2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748923" y="4642580"/>
            <a:ext cx="343410" cy="3251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2971801" y="4456039"/>
            <a:ext cx="515427" cy="5763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77824" y="6126667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h=0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79709" y="6468962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h=0</a:t>
            </a:r>
            <a:endParaRPr lang="en-US" dirty="0"/>
          </a:p>
        </p:txBody>
      </p:sp>
      <p:sp>
        <p:nvSpPr>
          <p:cNvPr id="25" name="Left Brace 24"/>
          <p:cNvSpPr/>
          <p:nvPr/>
        </p:nvSpPr>
        <p:spPr>
          <a:xfrm rot="16200000">
            <a:off x="1120573" y="5448733"/>
            <a:ext cx="288693" cy="21031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3272604" y="4101665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h=1</a:t>
            </a:r>
            <a:endParaRPr lang="en-US" dirty="0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3573936" y="5730240"/>
            <a:ext cx="306059" cy="40848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2547708" y="5765784"/>
            <a:ext cx="1019731" cy="40848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 flipV="1">
            <a:off x="213359" y="5032347"/>
            <a:ext cx="289561" cy="43513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 flipV="1">
            <a:off x="319526" y="5002030"/>
            <a:ext cx="1194970" cy="62047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-6762" y="4623579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h=1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141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Heapsort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97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Heapsort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8382000" cy="4343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mtClean="0"/>
              <a:t>Given </a:t>
            </a:r>
            <a:r>
              <a:rPr lang="en-US" altLang="en-US" b="1" smtClean="0">
                <a:latin typeface="Courier New" panose="02070309020205020404" pitchFamily="49" charset="0"/>
              </a:rPr>
              <a:t>BuildHeap()</a:t>
            </a:r>
            <a:r>
              <a:rPr lang="en-US" altLang="en-US" smtClean="0"/>
              <a:t>,  a sorting algorithm can easily be constructed:</a:t>
            </a:r>
          </a:p>
          <a:p>
            <a:pPr lvl="1" eaLnBrk="1" hangingPunct="1"/>
            <a:r>
              <a:rPr lang="en-US" altLang="en-US" smtClean="0"/>
              <a:t>Maximum element is at A[1]</a:t>
            </a:r>
          </a:p>
          <a:p>
            <a:pPr lvl="1" eaLnBrk="1" hangingPunct="1"/>
            <a:r>
              <a:rPr lang="en-US" altLang="en-US" smtClean="0"/>
              <a:t>Discard by swapping with element at A[n]</a:t>
            </a:r>
          </a:p>
          <a:p>
            <a:pPr lvl="2" eaLnBrk="1" hangingPunct="1"/>
            <a:r>
              <a:rPr lang="en-US" altLang="en-US" smtClean="0"/>
              <a:t>Decrement heap_size[A]</a:t>
            </a:r>
          </a:p>
          <a:p>
            <a:pPr lvl="2" eaLnBrk="1" hangingPunct="1"/>
            <a:r>
              <a:rPr lang="en-US" altLang="en-US" smtClean="0"/>
              <a:t>A[n] now contains correct value</a:t>
            </a:r>
          </a:p>
          <a:p>
            <a:pPr lvl="1" eaLnBrk="1" hangingPunct="1"/>
            <a:r>
              <a:rPr lang="en-US" altLang="en-US" smtClean="0"/>
              <a:t>Restore heap property at A[1] by calling </a:t>
            </a:r>
            <a:r>
              <a:rPr lang="en-US" altLang="en-US" b="1" smtClean="0">
                <a:latin typeface="Courier New" panose="02070309020205020404" pitchFamily="49" charset="0"/>
              </a:rPr>
              <a:t>Heapify()</a:t>
            </a:r>
            <a:endParaRPr lang="en-US" altLang="en-US" smtClean="0"/>
          </a:p>
          <a:p>
            <a:pPr lvl="1" eaLnBrk="1" hangingPunct="1"/>
            <a:r>
              <a:rPr lang="en-US" altLang="en-US" smtClean="0"/>
              <a:t>Repeat, always swapping A[1] for A[heap_size(A)]</a:t>
            </a:r>
          </a:p>
        </p:txBody>
      </p:sp>
    </p:spTree>
    <p:extLst>
      <p:ext uri="{BB962C8B-B14F-4D97-AF65-F5344CB8AC3E}">
        <p14:creationId xmlns:p14="http://schemas.microsoft.com/office/powerpoint/2010/main" val="21909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Heapsort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2400" dirty="0"/>
              <a:t>Heapsort(A) {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dirty="0"/>
              <a:t>	</a:t>
            </a:r>
            <a:r>
              <a:rPr lang="en-US" altLang="en-US" sz="2400" dirty="0" err="1"/>
              <a:t>BuildHeap</a:t>
            </a:r>
            <a:r>
              <a:rPr lang="en-US" altLang="en-US" sz="2400" dirty="0"/>
              <a:t>(A);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dirty="0"/>
              <a:t>	for (</a:t>
            </a:r>
            <a:r>
              <a:rPr lang="en-US" altLang="en-US" sz="2400" dirty="0" err="1"/>
              <a:t>i</a:t>
            </a:r>
            <a:r>
              <a:rPr lang="en-US" altLang="en-US" sz="2400" dirty="0"/>
              <a:t> = length(A) </a:t>
            </a:r>
            <a:r>
              <a:rPr lang="en-US" altLang="en-US" sz="2400" dirty="0" err="1"/>
              <a:t>downto</a:t>
            </a:r>
            <a:r>
              <a:rPr lang="en-US" altLang="en-US" sz="2400" dirty="0"/>
              <a:t> 2) {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dirty="0"/>
              <a:t>		Swap(A[1], A[</a:t>
            </a:r>
            <a:r>
              <a:rPr lang="en-US" altLang="en-US" sz="2400" dirty="0" err="1"/>
              <a:t>i</a:t>
            </a:r>
            <a:r>
              <a:rPr lang="en-US" altLang="en-US" sz="2400" dirty="0"/>
              <a:t>]);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dirty="0"/>
              <a:t>		</a:t>
            </a:r>
            <a:r>
              <a:rPr lang="en-US" altLang="en-US" sz="2400" dirty="0" err="1"/>
              <a:t>heap_size</a:t>
            </a:r>
            <a:r>
              <a:rPr lang="en-US" altLang="en-US" sz="2400" dirty="0"/>
              <a:t>(A)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/>
              <a:t>= </a:t>
            </a:r>
            <a:r>
              <a:rPr lang="en-US" altLang="en-US" sz="2400" dirty="0" err="1"/>
              <a:t>heap_size</a:t>
            </a:r>
            <a:r>
              <a:rPr lang="en-US" altLang="en-US" sz="2400" dirty="0"/>
              <a:t>(A) </a:t>
            </a:r>
            <a:r>
              <a:rPr lang="en-US" altLang="en-US" sz="2400" dirty="0">
                <a:sym typeface="Symbol" panose="05050102010706020507" pitchFamily="18" charset="2"/>
              </a:rPr>
              <a:t></a:t>
            </a:r>
            <a:r>
              <a:rPr lang="en-US" altLang="en-US" sz="2400" dirty="0"/>
              <a:t> 1;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dirty="0"/>
              <a:t>		</a:t>
            </a:r>
            <a:r>
              <a:rPr lang="en-US" altLang="en-US" sz="2400" dirty="0" err="1"/>
              <a:t>Heapify</a:t>
            </a:r>
            <a:r>
              <a:rPr lang="en-US" altLang="en-US" sz="2400" dirty="0"/>
              <a:t>(A, 1);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dirty="0"/>
              <a:t>	}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60772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Heapsort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4187825" y="1276350"/>
          <a:ext cx="3816350" cy="5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PDF" r:id="rId3" imgW="0" imgH="360" progId="FoxitReader.Document">
                  <p:embed/>
                </p:oleObj>
              </mc:Choice>
              <mc:Fallback>
                <p:oleObj name="PDF" r:id="rId3" imgW="0" imgH="360" progId="FoxitReader.Document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87825" y="1276350"/>
                        <a:ext cx="3816350" cy="50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4266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1676400" y="1600201"/>
            <a:ext cx="4724400" cy="4525963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altLang="en-US" sz="2400" dirty="0"/>
              <a:t>Heapsort(A) {</a:t>
            </a:r>
          </a:p>
          <a:p>
            <a:pPr>
              <a:buNone/>
            </a:pPr>
            <a:r>
              <a:rPr lang="en-US" altLang="en-US" sz="2400" dirty="0"/>
              <a:t>	</a:t>
            </a:r>
            <a:r>
              <a:rPr lang="en-US" altLang="en-US" sz="2400" dirty="0"/>
              <a:t>1. </a:t>
            </a:r>
            <a:r>
              <a:rPr lang="en-US" altLang="en-US" sz="2400" dirty="0" err="1"/>
              <a:t>BuildHeap</a:t>
            </a:r>
            <a:r>
              <a:rPr lang="en-US" altLang="en-US" sz="2400" dirty="0"/>
              <a:t>(A</a:t>
            </a:r>
            <a:r>
              <a:rPr lang="en-US" altLang="en-US" sz="2400" dirty="0"/>
              <a:t>);</a:t>
            </a:r>
          </a:p>
          <a:p>
            <a:pPr>
              <a:buNone/>
            </a:pPr>
            <a:r>
              <a:rPr lang="en-US" altLang="en-US" sz="2400" dirty="0"/>
              <a:t>	</a:t>
            </a:r>
            <a:r>
              <a:rPr lang="en-US" altLang="en-US" sz="2400" dirty="0"/>
              <a:t>2. for </a:t>
            </a:r>
            <a:r>
              <a:rPr lang="en-US" altLang="en-US" sz="2400" dirty="0"/>
              <a:t>(</a:t>
            </a:r>
            <a:r>
              <a:rPr lang="en-US" altLang="en-US" sz="2400" dirty="0" err="1"/>
              <a:t>i</a:t>
            </a:r>
            <a:r>
              <a:rPr lang="en-US" altLang="en-US" sz="2400" dirty="0"/>
              <a:t> = length(A) </a:t>
            </a:r>
            <a:r>
              <a:rPr lang="en-US" altLang="en-US" sz="2400" dirty="0" err="1"/>
              <a:t>downto</a:t>
            </a:r>
            <a:r>
              <a:rPr lang="en-US" altLang="en-US" sz="2400" dirty="0"/>
              <a:t> 2) </a:t>
            </a:r>
            <a:r>
              <a:rPr lang="en-US" altLang="en-US" sz="2400" dirty="0"/>
              <a:t>{</a:t>
            </a:r>
            <a:endParaRPr lang="en-US" altLang="en-US" sz="2400" dirty="0"/>
          </a:p>
          <a:p>
            <a:pPr>
              <a:buNone/>
            </a:pPr>
            <a:r>
              <a:rPr lang="en-US" altLang="en-US" sz="2400" dirty="0"/>
              <a:t>	</a:t>
            </a:r>
            <a:r>
              <a:rPr lang="en-US" altLang="en-US" sz="2400" dirty="0"/>
              <a:t>3. </a:t>
            </a:r>
            <a:r>
              <a:rPr lang="en-US" altLang="en-US" sz="2400" dirty="0"/>
              <a:t>	Swap(A[1], A[</a:t>
            </a:r>
            <a:r>
              <a:rPr lang="en-US" altLang="en-US" sz="2400" dirty="0" err="1"/>
              <a:t>i</a:t>
            </a:r>
            <a:r>
              <a:rPr lang="en-US" altLang="en-US" sz="2400" dirty="0"/>
              <a:t>]);</a:t>
            </a:r>
          </a:p>
          <a:p>
            <a:pPr>
              <a:buNone/>
            </a:pPr>
            <a:r>
              <a:rPr lang="en-US" altLang="en-US" sz="2400" dirty="0"/>
              <a:t>	</a:t>
            </a:r>
            <a:r>
              <a:rPr lang="en-US" altLang="en-US" sz="2400" dirty="0"/>
              <a:t>4.</a:t>
            </a:r>
            <a:r>
              <a:rPr lang="en-US" altLang="en-US" sz="2400" dirty="0"/>
              <a:t>	</a:t>
            </a:r>
            <a:r>
              <a:rPr lang="en-US" altLang="en-US" sz="2400" dirty="0" err="1"/>
              <a:t>heap_size</a:t>
            </a:r>
            <a:r>
              <a:rPr lang="en-US" altLang="en-US" sz="2400" dirty="0"/>
              <a:t>(A)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/>
              <a:t>= </a:t>
            </a:r>
            <a:r>
              <a:rPr lang="en-US" altLang="en-US" sz="2400" dirty="0"/>
              <a:t>  </a:t>
            </a:r>
            <a:r>
              <a:rPr lang="en-US" altLang="en-US" sz="2400" dirty="0" err="1"/>
              <a:t>heap_size</a:t>
            </a:r>
            <a:r>
              <a:rPr lang="en-US" altLang="en-US" sz="2400" dirty="0"/>
              <a:t>(A</a:t>
            </a:r>
            <a:r>
              <a:rPr lang="en-US" altLang="en-US" sz="2400" dirty="0"/>
              <a:t>) </a:t>
            </a:r>
            <a:r>
              <a:rPr lang="en-US" altLang="en-US" sz="2400" dirty="0">
                <a:sym typeface="Symbol" panose="05050102010706020507" pitchFamily="18" charset="2"/>
              </a:rPr>
              <a:t></a:t>
            </a:r>
            <a:r>
              <a:rPr lang="en-US" altLang="en-US" sz="2400" dirty="0"/>
              <a:t> 1;</a:t>
            </a:r>
          </a:p>
          <a:p>
            <a:pPr>
              <a:buNone/>
            </a:pPr>
            <a:r>
              <a:rPr lang="en-US" altLang="en-US" sz="2400" dirty="0"/>
              <a:t>	</a:t>
            </a:r>
            <a:r>
              <a:rPr lang="en-US" altLang="en-US" sz="2400" dirty="0"/>
              <a:t>5.</a:t>
            </a:r>
            <a:r>
              <a:rPr lang="en-US" altLang="en-US" sz="2400" dirty="0"/>
              <a:t>	</a:t>
            </a:r>
            <a:r>
              <a:rPr lang="en-US" altLang="en-US" sz="2400" dirty="0" err="1"/>
              <a:t>Heapify</a:t>
            </a:r>
            <a:r>
              <a:rPr lang="en-US" altLang="en-US" sz="2400" dirty="0"/>
              <a:t>(A, 1);</a:t>
            </a:r>
          </a:p>
          <a:p>
            <a:pPr>
              <a:buNone/>
            </a:pPr>
            <a:r>
              <a:rPr lang="en-US" altLang="en-US" sz="2400" dirty="0"/>
              <a:t>	}</a:t>
            </a:r>
          </a:p>
          <a:p>
            <a:pPr>
              <a:buNone/>
            </a:pPr>
            <a:r>
              <a:rPr lang="en-US" altLang="en-US" sz="2400" dirty="0"/>
              <a:t>}</a:t>
            </a:r>
          </a:p>
          <a:p>
            <a:r>
              <a:rPr lang="en-US" dirty="0" smtClean="0"/>
              <a:t>Line #2 loops for n – 1 time</a:t>
            </a:r>
          </a:p>
          <a:p>
            <a:r>
              <a:rPr lang="en-US" dirty="0" smtClean="0"/>
              <a:t>So, </a:t>
            </a:r>
            <a:r>
              <a:rPr lang="en-US" dirty="0" err="1" smtClean="0"/>
              <a:t>Heapify</a:t>
            </a:r>
            <a:r>
              <a:rPr lang="en-US" dirty="0" smtClean="0"/>
              <a:t>() at Line #5 is called (from this procedure) n – 1 times.</a:t>
            </a:r>
            <a:endParaRPr lang="en-US" dirty="0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Analyzing Heapsort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438900" y="1600201"/>
            <a:ext cx="4038600" cy="4525963"/>
          </a:xfrm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n-US" altLang="en-US" dirty="0" smtClean="0"/>
              <a:t>The call to </a:t>
            </a:r>
            <a:r>
              <a:rPr lang="en-US" altLang="en-US" b="1" dirty="0" err="1" smtClean="0">
                <a:latin typeface="Courier New" panose="02070309020205020404" pitchFamily="49" charset="0"/>
              </a:rPr>
              <a:t>BuildHeap</a:t>
            </a:r>
            <a:r>
              <a:rPr lang="en-US" altLang="en-US" b="1" dirty="0" smtClean="0">
                <a:latin typeface="Courier New" panose="02070309020205020404" pitchFamily="49" charset="0"/>
              </a:rPr>
              <a:t>()</a:t>
            </a:r>
            <a:r>
              <a:rPr lang="en-US" altLang="en-US" dirty="0" smtClean="0"/>
              <a:t> takes O(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) time  (Line #1)</a:t>
            </a:r>
          </a:p>
          <a:p>
            <a:pPr eaLnBrk="1" hangingPunct="1"/>
            <a:r>
              <a:rPr lang="en-US" altLang="en-US" dirty="0" smtClean="0"/>
              <a:t>Each of the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 - 1 calls to </a:t>
            </a:r>
            <a:r>
              <a:rPr lang="en-US" altLang="en-US" b="1" dirty="0" err="1" smtClean="0">
                <a:latin typeface="Courier New" panose="02070309020205020404" pitchFamily="49" charset="0"/>
              </a:rPr>
              <a:t>Heapify</a:t>
            </a:r>
            <a:r>
              <a:rPr lang="en-US" altLang="en-US" b="1" dirty="0" smtClean="0">
                <a:latin typeface="Courier New" panose="02070309020205020404" pitchFamily="49" charset="0"/>
              </a:rPr>
              <a:t>()</a:t>
            </a:r>
            <a:r>
              <a:rPr lang="en-US" altLang="en-US" dirty="0" smtClean="0"/>
              <a:t> takes O(</a:t>
            </a:r>
            <a:r>
              <a:rPr lang="en-US" altLang="en-US" dirty="0" err="1" smtClean="0"/>
              <a:t>lg</a:t>
            </a:r>
            <a:r>
              <a:rPr lang="en-US" altLang="en-US" dirty="0" smtClean="0"/>
              <a:t>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) time</a:t>
            </a:r>
          </a:p>
          <a:p>
            <a:pPr eaLnBrk="1" hangingPunct="1"/>
            <a:r>
              <a:rPr lang="en-US" altLang="en-US" dirty="0" smtClean="0"/>
              <a:t>Thus the total time taken by </a:t>
            </a:r>
            <a:r>
              <a:rPr lang="en-US" altLang="en-US" b="1" dirty="0" err="1" smtClean="0">
                <a:latin typeface="Courier New" panose="02070309020205020404" pitchFamily="49" charset="0"/>
              </a:rPr>
              <a:t>HeapSort</a:t>
            </a:r>
            <a:r>
              <a:rPr lang="en-US" altLang="en-US" b="1" dirty="0" smtClean="0">
                <a:latin typeface="Courier New" panose="02070309020205020404" pitchFamily="49" charset="0"/>
              </a:rPr>
              <a:t>()</a:t>
            </a:r>
            <a:r>
              <a:rPr lang="en-US" altLang="en-US" dirty="0" smtClean="0"/>
              <a:t> </a:t>
            </a:r>
            <a:br>
              <a:rPr lang="en-US" altLang="en-US" dirty="0" smtClean="0"/>
            </a:br>
            <a:r>
              <a:rPr lang="en-US" altLang="en-US" dirty="0" smtClean="0"/>
              <a:t>    = O(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) + (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 - 1) O(</a:t>
            </a:r>
            <a:r>
              <a:rPr lang="en-US" altLang="en-US" dirty="0" err="1" smtClean="0"/>
              <a:t>lg</a:t>
            </a:r>
            <a:r>
              <a:rPr lang="en-US" altLang="en-US" dirty="0" smtClean="0"/>
              <a:t>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)</a:t>
            </a:r>
            <a:br>
              <a:rPr lang="en-US" altLang="en-US" dirty="0" smtClean="0"/>
            </a:br>
            <a:r>
              <a:rPr lang="en-US" altLang="en-US" dirty="0" smtClean="0"/>
              <a:t>    = O(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) + O(</a:t>
            </a:r>
            <a:r>
              <a:rPr lang="en-US" altLang="en-US" i="1" dirty="0" smtClean="0"/>
              <a:t>n </a:t>
            </a:r>
            <a:r>
              <a:rPr lang="en-US" altLang="en-US" dirty="0" err="1" smtClean="0"/>
              <a:t>lg</a:t>
            </a:r>
            <a:r>
              <a:rPr lang="en-US" altLang="en-US" dirty="0" smtClean="0"/>
              <a:t>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)</a:t>
            </a:r>
            <a:br>
              <a:rPr lang="en-US" altLang="en-US" dirty="0" smtClean="0"/>
            </a:br>
            <a:r>
              <a:rPr lang="en-US" altLang="en-US" dirty="0" smtClean="0"/>
              <a:t>    = O(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lg</a:t>
            </a:r>
            <a:r>
              <a:rPr lang="en-US" altLang="en-US" dirty="0" smtClean="0"/>
              <a:t>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)</a:t>
            </a:r>
          </a:p>
          <a:p>
            <a:r>
              <a:rPr lang="en-US" altLang="en-US" dirty="0"/>
              <a:t>Heapsort is a nice algorithm, but in practice Quicksort (coming up) usually wins</a:t>
            </a:r>
          </a:p>
          <a:p>
            <a:pPr eaLnBrk="1" hangingPunct="1"/>
            <a:endParaRPr lang="en-US" altLang="en-US" dirty="0" smtClean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4038600" y="1981200"/>
            <a:ext cx="2590800" cy="7620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533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1615</TotalTime>
  <Words>465</Words>
  <Application>Microsoft Office PowerPoint</Application>
  <PresentationFormat>Widescreen</PresentationFormat>
  <Paragraphs>107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Courier New</vt:lpstr>
      <vt:lpstr>Monotype Sorts</vt:lpstr>
      <vt:lpstr>新細明體</vt:lpstr>
      <vt:lpstr>Symbol</vt:lpstr>
      <vt:lpstr>Tahoma</vt:lpstr>
      <vt:lpstr>Times New Roman</vt:lpstr>
      <vt:lpstr>Wingdings</vt:lpstr>
      <vt:lpstr>Office Theme</vt:lpstr>
      <vt:lpstr>Clip</vt:lpstr>
      <vt:lpstr>Equation</vt:lpstr>
      <vt:lpstr>PDF</vt:lpstr>
      <vt:lpstr>Heaps</vt:lpstr>
      <vt:lpstr>Algorithms and Analysis</vt:lpstr>
      <vt:lpstr>Height of a Heap</vt:lpstr>
      <vt:lpstr>(MAX/MIN)-HEAPIFY</vt:lpstr>
      <vt:lpstr>MAX-HEAPIFY(A,2)</vt:lpstr>
      <vt:lpstr>(MAX/MIN)-HEAPIFY: Running time</vt:lpstr>
      <vt:lpstr>PowerPoint Presentation</vt:lpstr>
      <vt:lpstr>(MAX/MIN)-HEAPIFY: Running time</vt:lpstr>
      <vt:lpstr>BUILD-(MAX/MIN)-HEAP</vt:lpstr>
      <vt:lpstr>BUILD-(MAX/MIN)-HEAP: Correctness</vt:lpstr>
      <vt:lpstr>BUILD-(MAX/MIN)-HEAP: Running Time (Simple)</vt:lpstr>
      <vt:lpstr>BUILD-(MAX/MIN)-HEAP: Running Time (Tighter)</vt:lpstr>
      <vt:lpstr>Heapsort</vt:lpstr>
      <vt:lpstr>Heapsort</vt:lpstr>
      <vt:lpstr>Heapsort</vt:lpstr>
      <vt:lpstr>Heapsort Example</vt:lpstr>
      <vt:lpstr>Analyzing Heapsort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Heaps</dc:title>
  <dc:creator>user</dc:creator>
  <cp:lastModifiedBy>user</cp:lastModifiedBy>
  <cp:revision>31</cp:revision>
  <dcterms:created xsi:type="dcterms:W3CDTF">2021-12-07T16:05:05Z</dcterms:created>
  <dcterms:modified xsi:type="dcterms:W3CDTF">2021-12-15T04:57:39Z</dcterms:modified>
</cp:coreProperties>
</file>