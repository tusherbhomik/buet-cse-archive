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8" r:id="rId3"/>
    <p:sldId id="277" r:id="rId4"/>
    <p:sldId id="313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14" r:id="rId23"/>
    <p:sldId id="315" r:id="rId24"/>
    <p:sldId id="316" r:id="rId25"/>
    <p:sldId id="321" r:id="rId26"/>
    <p:sldId id="318" r:id="rId27"/>
    <p:sldId id="319" r:id="rId28"/>
    <p:sldId id="322" r:id="rId29"/>
    <p:sldId id="323" r:id="rId30"/>
    <p:sldId id="324" r:id="rId31"/>
    <p:sldId id="325" r:id="rId32"/>
    <p:sldId id="326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46" d="100"/>
          <a:sy n="46" d="100"/>
        </p:scale>
        <p:origin x="3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38" d="100"/>
          <a:sy n="38" d="100"/>
        </p:scale>
        <p:origin x="2342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010A9-2330-4278-B64F-B79E05EED05B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E1BDC0-257E-447E-A760-893DCE1CC5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979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may seem arbitrary that breadth-first search (the way we taught) is limited to only one source whereas depth-first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 may search from multiple sources. Although conceptually, breadth-first search could proceed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multiple sources and depth-first search could be limited to one source, our approach reflects how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results of these searches are typically used. Breadth-first search usually serves to find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shortestpath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distances (and the associated predecessor subgraph) from a given source. Depth-first search is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often a subroutine in another algorithm, as we shall see later in this chapter.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E1BDC0-257E-447E-A760-893DCE1CC51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760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BD87-4264-48C2-B7EC-56814647C46B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12141-B850-4BBC-952D-96BB1870C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809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BD87-4264-48C2-B7EC-56814647C46B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12141-B850-4BBC-952D-96BB1870C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035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BD87-4264-48C2-B7EC-56814647C46B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12141-B850-4BBC-952D-96BB1870C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436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BD87-4264-48C2-B7EC-56814647C46B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12141-B850-4BBC-952D-96BB1870C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486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BD87-4264-48C2-B7EC-56814647C46B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12141-B850-4BBC-952D-96BB1870C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596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BD87-4264-48C2-B7EC-56814647C46B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12141-B850-4BBC-952D-96BB1870C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663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BD87-4264-48C2-B7EC-56814647C46B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12141-B850-4BBC-952D-96BB1870C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305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BD87-4264-48C2-B7EC-56814647C46B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12141-B850-4BBC-952D-96BB1870C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05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BD87-4264-48C2-B7EC-56814647C46B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12141-B850-4BBC-952D-96BB1870C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9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BD87-4264-48C2-B7EC-56814647C46B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12141-B850-4BBC-952D-96BB1870C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344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BD87-4264-48C2-B7EC-56814647C46B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12141-B850-4BBC-952D-96BB1870C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661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4BD87-4264-48C2-B7EC-56814647C46B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912141-B850-4BBC-952D-96BB1870C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55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13.png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6.png"/><Relationship Id="rId4" Type="http://schemas.openxmlformats.org/officeDocument/2006/relationships/image" Target="../media/image1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Graphs-III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84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68738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sym typeface="Symbol" pitchFamily="18" charset="2"/>
              </a:rPr>
              <a:t>Graph Searching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981200" y="1052513"/>
            <a:ext cx="8229600" cy="2768600"/>
          </a:xfrm>
        </p:spPr>
        <p:txBody>
          <a:bodyPr/>
          <a:lstStyle/>
          <a:p>
            <a:r>
              <a:rPr lang="en-US" altLang="en-US" sz="2200"/>
              <a:t>Given: a graph G = (V, E), directed or undirected</a:t>
            </a:r>
          </a:p>
          <a:p>
            <a:r>
              <a:rPr lang="en-US" altLang="en-US" sz="2200"/>
              <a:t>Goal: methodically explore every vertex and every edge</a:t>
            </a:r>
          </a:p>
          <a:p>
            <a:r>
              <a:rPr lang="en-US" altLang="en-US" sz="2200"/>
              <a:t>Ultimately: build a tree on the graph</a:t>
            </a:r>
          </a:p>
          <a:p>
            <a:pPr lvl="1"/>
            <a:r>
              <a:rPr lang="en-US" altLang="en-US" sz="2200"/>
              <a:t>Pick a vertex as the root</a:t>
            </a:r>
          </a:p>
          <a:p>
            <a:pPr lvl="1"/>
            <a:r>
              <a:rPr lang="en-US" altLang="en-US" sz="2200"/>
              <a:t>Choose certain edges to produce a tree</a:t>
            </a:r>
          </a:p>
          <a:p>
            <a:pPr lvl="1"/>
            <a:r>
              <a:rPr lang="en-US" altLang="en-US" sz="2200"/>
              <a:t>Note: might also build a </a:t>
            </a:r>
            <a:r>
              <a:rPr lang="en-US" altLang="en-US" sz="2200" i="1">
                <a:solidFill>
                  <a:schemeClr val="tx2"/>
                </a:solidFill>
              </a:rPr>
              <a:t>forest</a:t>
            </a:r>
            <a:r>
              <a:rPr lang="en-US" altLang="en-US" sz="2200"/>
              <a:t> if graph is not connected</a:t>
            </a:r>
          </a:p>
        </p:txBody>
      </p:sp>
      <p:sp>
        <p:nvSpPr>
          <p:cNvPr id="100356" name="Rectangle 4"/>
          <p:cNvSpPr>
            <a:spLocks noChangeArrowheads="1"/>
          </p:cNvSpPr>
          <p:nvPr/>
        </p:nvSpPr>
        <p:spPr bwMode="auto">
          <a:xfrm>
            <a:off x="2063750" y="4365626"/>
            <a:ext cx="7543800" cy="1348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  <a:buFontTx/>
              <a:buChar char="•"/>
            </a:pPr>
            <a:r>
              <a:rPr lang="en-US" altLang="en-US"/>
              <a:t> There are two standard graph traversal techniques:</a:t>
            </a:r>
          </a:p>
          <a:p>
            <a:pPr lvl="1" algn="l" eaLnBrk="1" hangingPunct="1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i="1">
                <a:solidFill>
                  <a:srgbClr val="CC0000"/>
                </a:solidFill>
              </a:rPr>
              <a:t> </a:t>
            </a:r>
            <a:r>
              <a:rPr lang="en-US" altLang="en-US">
                <a:solidFill>
                  <a:schemeClr val="tx2"/>
                </a:solidFill>
              </a:rPr>
              <a:t>Breadth-First Search (BFS)</a:t>
            </a:r>
          </a:p>
          <a:p>
            <a:pPr lvl="1" algn="l" eaLnBrk="1" hangingPunct="1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>
                <a:solidFill>
                  <a:schemeClr val="tx2"/>
                </a:solidFill>
              </a:rPr>
              <a:t> Depth-First Search (DFS)</a:t>
            </a:r>
          </a:p>
        </p:txBody>
      </p:sp>
    </p:spTree>
    <p:extLst>
      <p:ext uri="{BB962C8B-B14F-4D97-AF65-F5344CB8AC3E}">
        <p14:creationId xmlns:p14="http://schemas.microsoft.com/office/powerpoint/2010/main" val="95416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0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Depth-First Search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981201" y="1524001"/>
            <a:ext cx="8507413" cy="2481263"/>
          </a:xfrm>
        </p:spPr>
        <p:txBody>
          <a:bodyPr/>
          <a:lstStyle/>
          <a:p>
            <a:r>
              <a:rPr lang="en-US" altLang="en-US" sz="2100" i="1">
                <a:solidFill>
                  <a:schemeClr val="tx2"/>
                </a:solidFill>
              </a:rPr>
              <a:t>Depth-first search</a:t>
            </a:r>
            <a:r>
              <a:rPr lang="en-US" altLang="en-US" sz="2100"/>
              <a:t> is another strategy for exploring a graph</a:t>
            </a:r>
          </a:p>
          <a:p>
            <a:pPr lvl="1"/>
            <a:r>
              <a:rPr lang="en-US" altLang="en-US" sz="2000"/>
              <a:t>Explore “deeper” in the graph whenever possible</a:t>
            </a:r>
          </a:p>
          <a:p>
            <a:pPr lvl="1"/>
            <a:r>
              <a:rPr lang="en-US" altLang="en-US" sz="2000"/>
              <a:t>Edges are explored out of the most recently discovered vertex </a:t>
            </a:r>
            <a:r>
              <a:rPr lang="en-US" altLang="en-US" sz="2000" i="1"/>
              <a:t>v</a:t>
            </a:r>
            <a:r>
              <a:rPr lang="en-US" altLang="en-US" sz="2000"/>
              <a:t> that still has unexplored edges</a:t>
            </a:r>
          </a:p>
          <a:p>
            <a:pPr lvl="1"/>
            <a:r>
              <a:rPr lang="en-US" altLang="en-US" sz="2000"/>
              <a:t>When all of </a:t>
            </a:r>
            <a:r>
              <a:rPr lang="en-US" altLang="en-US" sz="2000" i="1"/>
              <a:t>v</a:t>
            </a:r>
            <a:r>
              <a:rPr lang="en-US" altLang="en-US" sz="2000"/>
              <a:t>’s edges have been explored, backtrack to the vertex from which </a:t>
            </a:r>
            <a:r>
              <a:rPr lang="en-US" altLang="en-US" sz="2000" i="1"/>
              <a:t>v</a:t>
            </a:r>
            <a:r>
              <a:rPr lang="en-US" altLang="en-US" sz="2000"/>
              <a:t> was discovered</a:t>
            </a:r>
          </a:p>
        </p:txBody>
      </p:sp>
      <p:sp>
        <p:nvSpPr>
          <p:cNvPr id="104452" name="Rectangle 4"/>
          <p:cNvSpPr>
            <a:spLocks noChangeArrowheads="1"/>
          </p:cNvSpPr>
          <p:nvPr/>
        </p:nvSpPr>
        <p:spPr bwMode="auto">
          <a:xfrm>
            <a:off x="1992314" y="4475163"/>
            <a:ext cx="6480175" cy="204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altLang="en-US" sz="2100">
                <a:latin typeface="Times New Roman" panose="02020603050405020304" pitchFamily="18" charset="0"/>
                <a:cs typeface="Arial" panose="020B0604020202020204" pitchFamily="34" charset="0"/>
              </a:rPr>
              <a:t>Vertices initially colored white</a:t>
            </a:r>
          </a:p>
          <a:p>
            <a:pPr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altLang="en-US" sz="2100">
                <a:latin typeface="Times New Roman" panose="02020603050405020304" pitchFamily="18" charset="0"/>
                <a:cs typeface="Arial" panose="020B0604020202020204" pitchFamily="34" charset="0"/>
              </a:rPr>
              <a:t>Then colored grey when discovered</a:t>
            </a:r>
          </a:p>
          <a:p>
            <a:pPr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altLang="en-US" sz="2100">
                <a:latin typeface="Times New Roman" panose="02020603050405020304" pitchFamily="18" charset="0"/>
                <a:cs typeface="Arial" panose="020B0604020202020204" pitchFamily="34" charset="0"/>
              </a:rPr>
              <a:t>Then black when finished</a:t>
            </a:r>
          </a:p>
        </p:txBody>
      </p:sp>
    </p:spTree>
    <p:extLst>
      <p:ext uri="{BB962C8B-B14F-4D97-AF65-F5344CB8AC3E}">
        <p14:creationId xmlns:p14="http://schemas.microsoft.com/office/powerpoint/2010/main" val="1448521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2804" y="2804986"/>
            <a:ext cx="882860" cy="93507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242" y="208597"/>
            <a:ext cx="3332798" cy="6020463"/>
          </a:xfrm>
          <a:prstGeom prst="rect">
            <a:avLst/>
          </a:prstGeom>
        </p:spPr>
      </p:pic>
      <p:sp>
        <p:nvSpPr>
          <p:cNvPr id="9" name="Right Brace 8"/>
          <p:cNvSpPr/>
          <p:nvPr/>
        </p:nvSpPr>
        <p:spPr>
          <a:xfrm>
            <a:off x="3810000" y="655320"/>
            <a:ext cx="106680" cy="94488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164378" y="943094"/>
            <a:ext cx="628698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>
                <a:sym typeface="Symbol" panose="05050102010706020507" pitchFamily="18" charset="2"/>
              </a:rPr>
              <a:t>(V)</a:t>
            </a:r>
            <a:endParaRPr lang="en-US" dirty="0"/>
          </a:p>
        </p:txBody>
      </p:sp>
      <p:sp>
        <p:nvSpPr>
          <p:cNvPr id="11" name="Right Brace 10"/>
          <p:cNvSpPr/>
          <p:nvPr/>
        </p:nvSpPr>
        <p:spPr>
          <a:xfrm>
            <a:off x="3810000" y="1844040"/>
            <a:ext cx="106680" cy="8382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164378" y="1584317"/>
            <a:ext cx="1688661" cy="1200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sym typeface="Symbol" panose="05050102010706020507" pitchFamily="18" charset="2"/>
              </a:rPr>
              <a:t>(V) </a:t>
            </a:r>
          </a:p>
          <a:p>
            <a:r>
              <a:rPr lang="en-US" dirty="0" smtClean="0">
                <a:sym typeface="Symbol" panose="05050102010706020507" pitchFamily="18" charset="2"/>
              </a:rPr>
              <a:t>EXCLUDING the time required for DFS-VISIT().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366760" y="1386840"/>
            <a:ext cx="3681649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How many times DFS-Visit() is called?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2019" y="127635"/>
            <a:ext cx="776390" cy="110466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66760" y="2118360"/>
            <a:ext cx="36816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procedure DFS-VISIT </a:t>
            </a:r>
            <a:r>
              <a:rPr lang="en-US" dirty="0" smtClean="0"/>
              <a:t>is called </a:t>
            </a:r>
            <a:r>
              <a:rPr lang="en-US" dirty="0"/>
              <a:t>exactly once for each </a:t>
            </a:r>
            <a:r>
              <a:rPr lang="en-US" dirty="0" smtClean="0"/>
              <a:t>vertex since: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vertex u on which </a:t>
            </a:r>
            <a:r>
              <a:rPr lang="en-US" dirty="0" smtClean="0"/>
              <a:t>DFS-VISIT() is </a:t>
            </a:r>
            <a:r>
              <a:rPr lang="en-US" dirty="0"/>
              <a:t>invoked must be white </a:t>
            </a:r>
            <a:endParaRPr lang="en-US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first thing DFS-VISIT does is paint vertex u gray </a:t>
            </a:r>
            <a:br>
              <a:rPr lang="en-US" dirty="0"/>
            </a:br>
            <a:endParaRPr lang="en-US" dirty="0"/>
          </a:p>
        </p:txBody>
      </p:sp>
      <p:sp>
        <p:nvSpPr>
          <p:cNvPr id="19" name="Right Arrow 18"/>
          <p:cNvSpPr/>
          <p:nvPr/>
        </p:nvSpPr>
        <p:spPr>
          <a:xfrm>
            <a:off x="3307080" y="4114800"/>
            <a:ext cx="441960" cy="3208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919471" y="3939083"/>
                <a:ext cx="2010615" cy="6723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𝐴𝑑𝑗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471" y="3939083"/>
                <a:ext cx="2010615" cy="6723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ight Brace 21"/>
          <p:cNvSpPr/>
          <p:nvPr/>
        </p:nvSpPr>
        <p:spPr>
          <a:xfrm>
            <a:off x="5699760" y="655320"/>
            <a:ext cx="853440" cy="557374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6707156" y="3177376"/>
            <a:ext cx="1390124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 smtClean="0">
                <a:sym typeface="Symbol" panose="05050102010706020507" pitchFamily="18" charset="2"/>
              </a:rPr>
              <a:t>(V + E)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49295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5" grpId="0"/>
      <p:bldP spid="19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DFS Example</a:t>
            </a:r>
          </a:p>
        </p:txBody>
      </p:sp>
      <p:sp>
        <p:nvSpPr>
          <p:cNvPr id="44035" name="Oval 3"/>
          <p:cNvSpPr>
            <a:spLocks noChangeArrowheads="1"/>
          </p:cNvSpPr>
          <p:nvPr/>
        </p:nvSpPr>
        <p:spPr bwMode="auto">
          <a:xfrm>
            <a:off x="1601598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2800" b="1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6" name="Oval 4"/>
          <p:cNvSpPr>
            <a:spLocks noChangeArrowheads="1"/>
          </p:cNvSpPr>
          <p:nvPr/>
        </p:nvSpPr>
        <p:spPr bwMode="auto">
          <a:xfrm>
            <a:off x="4268598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2800" b="1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7" name="Oval 5"/>
          <p:cNvSpPr>
            <a:spLocks noChangeArrowheads="1"/>
          </p:cNvSpPr>
          <p:nvPr/>
        </p:nvSpPr>
        <p:spPr bwMode="auto">
          <a:xfrm>
            <a:off x="6935598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2800" b="1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8" name="Oval 6"/>
          <p:cNvSpPr>
            <a:spLocks noChangeArrowheads="1"/>
          </p:cNvSpPr>
          <p:nvPr/>
        </p:nvSpPr>
        <p:spPr bwMode="auto">
          <a:xfrm>
            <a:off x="6935598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2800" b="1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9" name="Oval 7"/>
          <p:cNvSpPr>
            <a:spLocks noChangeArrowheads="1"/>
          </p:cNvSpPr>
          <p:nvPr/>
        </p:nvSpPr>
        <p:spPr bwMode="auto">
          <a:xfrm>
            <a:off x="4268598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2800" b="1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40" name="Oval 8"/>
          <p:cNvSpPr>
            <a:spLocks noChangeArrowheads="1"/>
          </p:cNvSpPr>
          <p:nvPr/>
        </p:nvSpPr>
        <p:spPr bwMode="auto">
          <a:xfrm>
            <a:off x="1601598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2800" b="1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41" name="Oval 9"/>
          <p:cNvSpPr>
            <a:spLocks noChangeArrowheads="1"/>
          </p:cNvSpPr>
          <p:nvPr/>
        </p:nvSpPr>
        <p:spPr bwMode="auto">
          <a:xfrm>
            <a:off x="306198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2800" b="1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42" name="Oval 10"/>
          <p:cNvSpPr>
            <a:spLocks noChangeArrowheads="1"/>
          </p:cNvSpPr>
          <p:nvPr/>
        </p:nvSpPr>
        <p:spPr bwMode="auto">
          <a:xfrm>
            <a:off x="5640198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2800" b="1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4043" name="AutoShape 11"/>
          <p:cNvCxnSpPr>
            <a:cxnSpLocks noChangeShapeType="1"/>
            <a:stCxn id="44035" idx="3"/>
            <a:endCxn id="44041" idx="7"/>
          </p:cNvCxnSpPr>
          <p:nvPr/>
        </p:nvCxnSpPr>
        <p:spPr bwMode="auto">
          <a:xfrm flipH="1">
            <a:off x="1217423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4" name="AutoShape 12"/>
          <p:cNvCxnSpPr>
            <a:cxnSpLocks noChangeShapeType="1"/>
            <a:stCxn id="44041" idx="5"/>
            <a:endCxn id="44040" idx="1"/>
          </p:cNvCxnSpPr>
          <p:nvPr/>
        </p:nvCxnSpPr>
        <p:spPr bwMode="auto">
          <a:xfrm>
            <a:off x="1217423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5" name="AutoShape 13"/>
          <p:cNvCxnSpPr>
            <a:cxnSpLocks noChangeShapeType="1"/>
            <a:stCxn id="44041" idx="6"/>
            <a:endCxn id="44039" idx="1"/>
          </p:cNvCxnSpPr>
          <p:nvPr/>
        </p:nvCxnSpPr>
        <p:spPr bwMode="auto">
          <a:xfrm>
            <a:off x="1387287" y="3848101"/>
            <a:ext cx="3036887" cy="962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6" name="AutoShape 14"/>
          <p:cNvCxnSpPr>
            <a:cxnSpLocks noChangeShapeType="1"/>
            <a:stCxn id="44039" idx="2"/>
            <a:endCxn id="44040" idx="6"/>
          </p:cNvCxnSpPr>
          <p:nvPr/>
        </p:nvCxnSpPr>
        <p:spPr bwMode="auto">
          <a:xfrm flipH="1">
            <a:off x="2682687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7" name="AutoShape 15"/>
          <p:cNvCxnSpPr>
            <a:cxnSpLocks noChangeShapeType="1"/>
            <a:stCxn id="44040" idx="0"/>
            <a:endCxn id="44035" idx="4"/>
          </p:cNvCxnSpPr>
          <p:nvPr/>
        </p:nvCxnSpPr>
        <p:spPr bwMode="auto">
          <a:xfrm flipV="1">
            <a:off x="2134998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8" name="AutoShape 16"/>
          <p:cNvCxnSpPr>
            <a:cxnSpLocks noChangeShapeType="1"/>
            <a:stCxn id="44035" idx="5"/>
            <a:endCxn id="44039" idx="1"/>
          </p:cNvCxnSpPr>
          <p:nvPr/>
        </p:nvCxnSpPr>
        <p:spPr bwMode="auto">
          <a:xfrm>
            <a:off x="2512823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9" name="AutoShape 17"/>
          <p:cNvCxnSpPr>
            <a:cxnSpLocks noChangeShapeType="1"/>
            <a:stCxn id="44036" idx="4"/>
            <a:endCxn id="44039" idx="0"/>
          </p:cNvCxnSpPr>
          <p:nvPr/>
        </p:nvCxnSpPr>
        <p:spPr bwMode="auto">
          <a:xfrm>
            <a:off x="4801998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0" name="AutoShape 18"/>
          <p:cNvCxnSpPr>
            <a:cxnSpLocks noChangeShapeType="1"/>
            <a:stCxn id="44035" idx="6"/>
            <a:endCxn id="44036" idx="2"/>
          </p:cNvCxnSpPr>
          <p:nvPr/>
        </p:nvCxnSpPr>
        <p:spPr bwMode="auto">
          <a:xfrm>
            <a:off x="2682687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1" name="AutoShape 19"/>
          <p:cNvCxnSpPr>
            <a:cxnSpLocks noChangeShapeType="1"/>
            <a:stCxn id="44037" idx="2"/>
            <a:endCxn id="44036" idx="6"/>
          </p:cNvCxnSpPr>
          <p:nvPr/>
        </p:nvCxnSpPr>
        <p:spPr bwMode="auto">
          <a:xfrm flipH="1">
            <a:off x="5349687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2" name="AutoShape 20"/>
          <p:cNvCxnSpPr>
            <a:cxnSpLocks noChangeShapeType="1"/>
            <a:stCxn id="44036" idx="5"/>
            <a:endCxn id="44042" idx="1"/>
          </p:cNvCxnSpPr>
          <p:nvPr/>
        </p:nvCxnSpPr>
        <p:spPr bwMode="auto">
          <a:xfrm>
            <a:off x="5179823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3" name="AutoShape 21"/>
          <p:cNvCxnSpPr>
            <a:cxnSpLocks noChangeShapeType="1"/>
            <a:stCxn id="44037" idx="3"/>
            <a:endCxn id="44042" idx="7"/>
          </p:cNvCxnSpPr>
          <p:nvPr/>
        </p:nvCxnSpPr>
        <p:spPr bwMode="auto">
          <a:xfrm flipH="1">
            <a:off x="6551423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4" name="AutoShape 22"/>
          <p:cNvCxnSpPr>
            <a:cxnSpLocks noChangeShapeType="1"/>
            <a:stCxn id="44037" idx="4"/>
            <a:endCxn id="44038" idx="0"/>
          </p:cNvCxnSpPr>
          <p:nvPr/>
        </p:nvCxnSpPr>
        <p:spPr bwMode="auto">
          <a:xfrm>
            <a:off x="7468998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5" name="AutoShape 23"/>
          <p:cNvCxnSpPr>
            <a:cxnSpLocks noChangeShapeType="1"/>
            <a:stCxn id="44038" idx="2"/>
            <a:endCxn id="44039" idx="6"/>
          </p:cNvCxnSpPr>
          <p:nvPr/>
        </p:nvCxnSpPr>
        <p:spPr bwMode="auto">
          <a:xfrm flipH="1">
            <a:off x="5349687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6" name="AutoShape 24"/>
          <p:cNvCxnSpPr>
            <a:cxnSpLocks noChangeShapeType="1"/>
            <a:stCxn id="44042" idx="3"/>
            <a:endCxn id="44039" idx="7"/>
          </p:cNvCxnSpPr>
          <p:nvPr/>
        </p:nvCxnSpPr>
        <p:spPr bwMode="auto">
          <a:xfrm flipH="1">
            <a:off x="5179823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057" name="Line 25"/>
          <p:cNvSpPr>
            <a:spLocks noChangeShapeType="1"/>
          </p:cNvSpPr>
          <p:nvPr/>
        </p:nvSpPr>
        <p:spPr bwMode="auto">
          <a:xfrm>
            <a:off x="534798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58" name="Text Box 26"/>
          <p:cNvSpPr txBox="1">
            <a:spLocks noChangeArrowheads="1"/>
          </p:cNvSpPr>
          <p:nvPr/>
        </p:nvSpPr>
        <p:spPr bwMode="auto">
          <a:xfrm>
            <a:off x="153799" y="1447801"/>
            <a:ext cx="8747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10047866" y="136525"/>
            <a:ext cx="1918323" cy="3140075"/>
            <a:chOff x="152400" y="1676401"/>
            <a:chExt cx="1918323" cy="3140075"/>
          </a:xfrm>
        </p:grpSpPr>
        <p:sp>
          <p:nvSpPr>
            <p:cNvPr id="28" name="Oval 3"/>
            <p:cNvSpPr>
              <a:spLocks noChangeArrowheads="1"/>
            </p:cNvSpPr>
            <p:nvPr/>
          </p:nvSpPr>
          <p:spPr bwMode="auto">
            <a:xfrm>
              <a:off x="366715" y="1752600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70000"/>
                </a:lnSpc>
              </a:pPr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" name="Oval 5"/>
            <p:cNvSpPr>
              <a:spLocks noChangeArrowheads="1"/>
            </p:cNvSpPr>
            <p:nvPr/>
          </p:nvSpPr>
          <p:spPr bwMode="auto">
            <a:xfrm>
              <a:off x="366715" y="2850518"/>
              <a:ext cx="762000" cy="76200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0" name="Oval 5"/>
            <p:cNvSpPr>
              <a:spLocks noChangeArrowheads="1"/>
            </p:cNvSpPr>
            <p:nvPr/>
          </p:nvSpPr>
          <p:spPr bwMode="auto">
            <a:xfrm>
              <a:off x="350520" y="4023360"/>
              <a:ext cx="762000" cy="76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356360" y="2133600"/>
              <a:ext cx="714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white</a:t>
              </a:r>
              <a:endParaRPr lang="en-US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356360" y="3091935"/>
              <a:ext cx="588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grey</a:t>
              </a:r>
              <a:endParaRPr lang="en-US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350965" y="4234934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black</a:t>
              </a:r>
              <a:endParaRPr lang="en-US" dirty="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52400" y="1676401"/>
              <a:ext cx="1918323" cy="3140075"/>
            </a:xfrm>
            <a:prstGeom prst="rect">
              <a:avLst/>
            </a:prstGeom>
            <a:noFill/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8680192" y="441089"/>
            <a:ext cx="1025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Initially…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549173" y="1561042"/>
            <a:ext cx="1391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Discovered…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709463" y="2696477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Finished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24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DFS Example</a:t>
            </a:r>
          </a:p>
        </p:txBody>
      </p:sp>
      <p:sp>
        <p:nvSpPr>
          <p:cNvPr id="45059" name="Oval 3"/>
          <p:cNvSpPr>
            <a:spLocks noChangeArrowheads="1"/>
          </p:cNvSpPr>
          <p:nvPr/>
        </p:nvSpPr>
        <p:spPr bwMode="auto">
          <a:xfrm>
            <a:off x="3048000" y="2362200"/>
            <a:ext cx="1066800" cy="6858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r>
              <a:rPr lang="en-US" altLang="en-US" sz="2000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1| 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5060" name="Oval 4"/>
          <p:cNvSpPr>
            <a:spLocks noChangeArrowheads="1"/>
          </p:cNvSpPr>
          <p:nvPr/>
        </p:nvSpPr>
        <p:spPr bwMode="auto">
          <a:xfrm>
            <a:off x="5715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000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5061" name="Oval 5"/>
          <p:cNvSpPr>
            <a:spLocks noChangeArrowheads="1"/>
          </p:cNvSpPr>
          <p:nvPr/>
        </p:nvSpPr>
        <p:spPr bwMode="auto">
          <a:xfrm>
            <a:off x="8382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000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5062" name="Oval 6"/>
          <p:cNvSpPr>
            <a:spLocks noChangeArrowheads="1"/>
          </p:cNvSpPr>
          <p:nvPr/>
        </p:nvSpPr>
        <p:spPr bwMode="auto">
          <a:xfrm>
            <a:off x="8382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000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5063" name="Oval 7"/>
          <p:cNvSpPr>
            <a:spLocks noChangeArrowheads="1"/>
          </p:cNvSpPr>
          <p:nvPr/>
        </p:nvSpPr>
        <p:spPr bwMode="auto">
          <a:xfrm>
            <a:off x="5715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r>
              <a:rPr lang="en-US" altLang="en-US" sz="2000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5064" name="Oval 8"/>
          <p:cNvSpPr>
            <a:spLocks noChangeArrowheads="1"/>
          </p:cNvSpPr>
          <p:nvPr/>
        </p:nvSpPr>
        <p:spPr bwMode="auto">
          <a:xfrm>
            <a:off x="3048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r>
              <a:rPr lang="en-US" altLang="en-US" sz="2000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5065" name="Oval 9"/>
          <p:cNvSpPr>
            <a:spLocks noChangeArrowheads="1"/>
          </p:cNvSpPr>
          <p:nvPr/>
        </p:nvSpPr>
        <p:spPr bwMode="auto">
          <a:xfrm>
            <a:off x="1752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000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5066" name="Oval 10"/>
          <p:cNvSpPr>
            <a:spLocks noChangeArrowheads="1"/>
          </p:cNvSpPr>
          <p:nvPr/>
        </p:nvSpPr>
        <p:spPr bwMode="auto">
          <a:xfrm>
            <a:off x="7086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000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cxnSp>
        <p:nvCxnSpPr>
          <p:cNvPr id="45067" name="AutoShape 11"/>
          <p:cNvCxnSpPr>
            <a:cxnSpLocks noChangeShapeType="1"/>
            <a:stCxn id="45059" idx="3"/>
            <a:endCxn id="45065" idx="7"/>
          </p:cNvCxnSpPr>
          <p:nvPr/>
        </p:nvCxnSpPr>
        <p:spPr bwMode="auto">
          <a:xfrm flipH="1">
            <a:off x="266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8" name="AutoShape 12"/>
          <p:cNvCxnSpPr>
            <a:cxnSpLocks noChangeShapeType="1"/>
            <a:stCxn id="45065" idx="5"/>
            <a:endCxn id="45064" idx="1"/>
          </p:cNvCxnSpPr>
          <p:nvPr/>
        </p:nvCxnSpPr>
        <p:spPr bwMode="auto">
          <a:xfrm>
            <a:off x="2663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9" name="AutoShape 13"/>
          <p:cNvCxnSpPr>
            <a:cxnSpLocks noChangeShapeType="1"/>
            <a:stCxn id="45065" idx="6"/>
            <a:endCxn id="45063" idx="1"/>
          </p:cNvCxnSpPr>
          <p:nvPr/>
        </p:nvCxnSpPr>
        <p:spPr bwMode="auto">
          <a:xfrm>
            <a:off x="2833689" y="3848101"/>
            <a:ext cx="3036887" cy="962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0" name="AutoShape 14"/>
          <p:cNvCxnSpPr>
            <a:cxnSpLocks noChangeShapeType="1"/>
            <a:stCxn id="45063" idx="2"/>
            <a:endCxn id="45064" idx="6"/>
          </p:cNvCxnSpPr>
          <p:nvPr/>
        </p:nvCxnSpPr>
        <p:spPr bwMode="auto">
          <a:xfrm flipH="1">
            <a:off x="4129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1" name="AutoShape 15"/>
          <p:cNvCxnSpPr>
            <a:cxnSpLocks noChangeShapeType="1"/>
            <a:stCxn id="45064" idx="0"/>
            <a:endCxn id="45059" idx="4"/>
          </p:cNvCxnSpPr>
          <p:nvPr/>
        </p:nvCxnSpPr>
        <p:spPr bwMode="auto">
          <a:xfrm flipV="1">
            <a:off x="3581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2" name="AutoShape 16"/>
          <p:cNvCxnSpPr>
            <a:cxnSpLocks noChangeShapeType="1"/>
            <a:stCxn id="45059" idx="5"/>
            <a:endCxn id="45063" idx="1"/>
          </p:cNvCxnSpPr>
          <p:nvPr/>
        </p:nvCxnSpPr>
        <p:spPr bwMode="auto">
          <a:xfrm>
            <a:off x="3959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3" name="AutoShape 17"/>
          <p:cNvCxnSpPr>
            <a:cxnSpLocks noChangeShapeType="1"/>
            <a:stCxn id="45060" idx="4"/>
            <a:endCxn id="45063" idx="0"/>
          </p:cNvCxnSpPr>
          <p:nvPr/>
        </p:nvCxnSpPr>
        <p:spPr bwMode="auto">
          <a:xfrm>
            <a:off x="6248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4" name="AutoShape 18"/>
          <p:cNvCxnSpPr>
            <a:cxnSpLocks noChangeShapeType="1"/>
            <a:stCxn id="45059" idx="6"/>
            <a:endCxn id="45060" idx="2"/>
          </p:cNvCxnSpPr>
          <p:nvPr/>
        </p:nvCxnSpPr>
        <p:spPr bwMode="auto">
          <a:xfrm>
            <a:off x="4129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5" name="AutoShape 19"/>
          <p:cNvCxnSpPr>
            <a:cxnSpLocks noChangeShapeType="1"/>
            <a:stCxn id="45061" idx="2"/>
            <a:endCxn id="45060" idx="6"/>
          </p:cNvCxnSpPr>
          <p:nvPr/>
        </p:nvCxnSpPr>
        <p:spPr bwMode="auto">
          <a:xfrm flipH="1">
            <a:off x="6796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6" name="AutoShape 20"/>
          <p:cNvCxnSpPr>
            <a:cxnSpLocks noChangeShapeType="1"/>
            <a:stCxn id="45060" idx="5"/>
            <a:endCxn id="45066" idx="1"/>
          </p:cNvCxnSpPr>
          <p:nvPr/>
        </p:nvCxnSpPr>
        <p:spPr bwMode="auto">
          <a:xfrm>
            <a:off x="6626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7" name="AutoShape 21"/>
          <p:cNvCxnSpPr>
            <a:cxnSpLocks noChangeShapeType="1"/>
            <a:stCxn id="45061" idx="3"/>
            <a:endCxn id="45066" idx="7"/>
          </p:cNvCxnSpPr>
          <p:nvPr/>
        </p:nvCxnSpPr>
        <p:spPr bwMode="auto">
          <a:xfrm flipH="1">
            <a:off x="7997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8" name="AutoShape 22"/>
          <p:cNvCxnSpPr>
            <a:cxnSpLocks noChangeShapeType="1"/>
            <a:stCxn id="45061" idx="4"/>
            <a:endCxn id="45062" idx="0"/>
          </p:cNvCxnSpPr>
          <p:nvPr/>
        </p:nvCxnSpPr>
        <p:spPr bwMode="auto">
          <a:xfrm>
            <a:off x="8915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9" name="AutoShape 23"/>
          <p:cNvCxnSpPr>
            <a:cxnSpLocks noChangeShapeType="1"/>
            <a:stCxn id="45062" idx="2"/>
            <a:endCxn id="45063" idx="6"/>
          </p:cNvCxnSpPr>
          <p:nvPr/>
        </p:nvCxnSpPr>
        <p:spPr bwMode="auto">
          <a:xfrm flipH="1">
            <a:off x="6796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0" name="AutoShape 24"/>
          <p:cNvCxnSpPr>
            <a:cxnSpLocks noChangeShapeType="1"/>
            <a:stCxn id="45066" idx="3"/>
            <a:endCxn id="45063" idx="7"/>
          </p:cNvCxnSpPr>
          <p:nvPr/>
        </p:nvCxnSpPr>
        <p:spPr bwMode="auto">
          <a:xfrm flipH="1">
            <a:off x="6626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81" name="Line 25"/>
          <p:cNvSpPr>
            <a:spLocks noChangeShapeType="1"/>
          </p:cNvSpPr>
          <p:nvPr/>
        </p:nvSpPr>
        <p:spPr bwMode="auto">
          <a:xfrm>
            <a:off x="1981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r"/>
            <a:endParaRPr lang="en-US" sz="1600"/>
          </a:p>
        </p:txBody>
      </p:sp>
      <p:sp>
        <p:nvSpPr>
          <p:cNvPr id="45082" name="Text Box 26"/>
          <p:cNvSpPr txBox="1">
            <a:spLocks noChangeArrowheads="1"/>
          </p:cNvSpPr>
          <p:nvPr/>
        </p:nvSpPr>
        <p:spPr bwMode="auto">
          <a:xfrm>
            <a:off x="1600201" y="1447801"/>
            <a:ext cx="8747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45083" name="Oval 27"/>
          <p:cNvSpPr>
            <a:spLocks noChangeArrowheads="1"/>
          </p:cNvSpPr>
          <p:nvPr/>
        </p:nvSpPr>
        <p:spPr bwMode="auto">
          <a:xfrm>
            <a:off x="3048000" y="1828800"/>
            <a:ext cx="1066800" cy="685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r>
              <a:rPr lang="en-US" altLang="en-US" sz="2000" b="1" i="1">
                <a:latin typeface="Times New Roman" panose="02020603050405020304" pitchFamily="18" charset="0"/>
              </a:rPr>
              <a:t>d      f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10047866" y="136525"/>
            <a:ext cx="1918323" cy="3140075"/>
            <a:chOff x="152400" y="1676401"/>
            <a:chExt cx="1918323" cy="3140075"/>
          </a:xfrm>
        </p:grpSpPr>
        <p:sp>
          <p:nvSpPr>
            <p:cNvPr id="29" name="Oval 3"/>
            <p:cNvSpPr>
              <a:spLocks noChangeArrowheads="1"/>
            </p:cNvSpPr>
            <p:nvPr/>
          </p:nvSpPr>
          <p:spPr bwMode="auto">
            <a:xfrm>
              <a:off x="366715" y="1752600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70000"/>
                </a:lnSpc>
              </a:pPr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" name="Oval 5"/>
            <p:cNvSpPr>
              <a:spLocks noChangeArrowheads="1"/>
            </p:cNvSpPr>
            <p:nvPr/>
          </p:nvSpPr>
          <p:spPr bwMode="auto">
            <a:xfrm>
              <a:off x="366715" y="2850518"/>
              <a:ext cx="762000" cy="76200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1" name="Oval 5"/>
            <p:cNvSpPr>
              <a:spLocks noChangeArrowheads="1"/>
            </p:cNvSpPr>
            <p:nvPr/>
          </p:nvSpPr>
          <p:spPr bwMode="auto">
            <a:xfrm>
              <a:off x="350520" y="4023360"/>
              <a:ext cx="762000" cy="76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356360" y="2133600"/>
              <a:ext cx="714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white</a:t>
              </a:r>
              <a:endParaRPr lang="en-US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356360" y="3091935"/>
              <a:ext cx="588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grey</a:t>
              </a:r>
              <a:endParaRPr lang="en-US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350965" y="4234934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black</a:t>
              </a:r>
              <a:endParaRPr lang="en-US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52400" y="1676401"/>
              <a:ext cx="1918323" cy="3140075"/>
            </a:xfrm>
            <a:prstGeom prst="rect">
              <a:avLst/>
            </a:prstGeom>
            <a:noFill/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40102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DFS Example</a:t>
            </a:r>
          </a:p>
        </p:txBody>
      </p:sp>
      <p:sp>
        <p:nvSpPr>
          <p:cNvPr id="46083" name="Oval 3"/>
          <p:cNvSpPr>
            <a:spLocks noChangeArrowheads="1"/>
          </p:cNvSpPr>
          <p:nvPr/>
        </p:nvSpPr>
        <p:spPr bwMode="auto">
          <a:xfrm>
            <a:off x="3048000" y="2362200"/>
            <a:ext cx="1066800" cy="6858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1|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6084" name="Oval 4"/>
          <p:cNvSpPr>
            <a:spLocks noChangeArrowheads="1"/>
          </p:cNvSpPr>
          <p:nvPr/>
        </p:nvSpPr>
        <p:spPr bwMode="auto">
          <a:xfrm>
            <a:off x="5715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6085" name="Oval 5"/>
          <p:cNvSpPr>
            <a:spLocks noChangeArrowheads="1"/>
          </p:cNvSpPr>
          <p:nvPr/>
        </p:nvSpPr>
        <p:spPr bwMode="auto">
          <a:xfrm>
            <a:off x="8382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6086" name="Oval 6"/>
          <p:cNvSpPr>
            <a:spLocks noChangeArrowheads="1"/>
          </p:cNvSpPr>
          <p:nvPr/>
        </p:nvSpPr>
        <p:spPr bwMode="auto">
          <a:xfrm>
            <a:off x="8382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6087" name="Oval 7"/>
          <p:cNvSpPr>
            <a:spLocks noChangeArrowheads="1"/>
          </p:cNvSpPr>
          <p:nvPr/>
        </p:nvSpPr>
        <p:spPr bwMode="auto">
          <a:xfrm>
            <a:off x="5715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6088" name="Oval 8"/>
          <p:cNvSpPr>
            <a:spLocks noChangeArrowheads="1"/>
          </p:cNvSpPr>
          <p:nvPr/>
        </p:nvSpPr>
        <p:spPr bwMode="auto">
          <a:xfrm>
            <a:off x="3048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6089" name="Oval 9"/>
          <p:cNvSpPr>
            <a:spLocks noChangeArrowheads="1"/>
          </p:cNvSpPr>
          <p:nvPr/>
        </p:nvSpPr>
        <p:spPr bwMode="auto">
          <a:xfrm>
            <a:off x="1752600" y="3505200"/>
            <a:ext cx="1066800" cy="6858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2|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6090" name="Oval 10"/>
          <p:cNvSpPr>
            <a:spLocks noChangeArrowheads="1"/>
          </p:cNvSpPr>
          <p:nvPr/>
        </p:nvSpPr>
        <p:spPr bwMode="auto">
          <a:xfrm>
            <a:off x="7086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cxnSp>
        <p:nvCxnSpPr>
          <p:cNvPr id="46091" name="AutoShape 11"/>
          <p:cNvCxnSpPr>
            <a:cxnSpLocks noChangeShapeType="1"/>
            <a:stCxn id="46083" idx="3"/>
            <a:endCxn id="46089" idx="7"/>
          </p:cNvCxnSpPr>
          <p:nvPr/>
        </p:nvCxnSpPr>
        <p:spPr bwMode="auto">
          <a:xfrm flipH="1">
            <a:off x="266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2" name="AutoShape 12"/>
          <p:cNvCxnSpPr>
            <a:cxnSpLocks noChangeShapeType="1"/>
            <a:stCxn id="46089" idx="5"/>
            <a:endCxn id="46088" idx="1"/>
          </p:cNvCxnSpPr>
          <p:nvPr/>
        </p:nvCxnSpPr>
        <p:spPr bwMode="auto">
          <a:xfrm>
            <a:off x="2663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3" name="AutoShape 13"/>
          <p:cNvCxnSpPr>
            <a:cxnSpLocks noChangeShapeType="1"/>
            <a:stCxn id="46089" idx="6"/>
            <a:endCxn id="46087" idx="1"/>
          </p:cNvCxnSpPr>
          <p:nvPr/>
        </p:nvCxnSpPr>
        <p:spPr bwMode="auto">
          <a:xfrm>
            <a:off x="2833689" y="3848101"/>
            <a:ext cx="3036887" cy="962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4" name="AutoShape 14"/>
          <p:cNvCxnSpPr>
            <a:cxnSpLocks noChangeShapeType="1"/>
            <a:stCxn id="46087" idx="2"/>
            <a:endCxn id="46088" idx="6"/>
          </p:cNvCxnSpPr>
          <p:nvPr/>
        </p:nvCxnSpPr>
        <p:spPr bwMode="auto">
          <a:xfrm flipH="1">
            <a:off x="4129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5" name="AutoShape 15"/>
          <p:cNvCxnSpPr>
            <a:cxnSpLocks noChangeShapeType="1"/>
            <a:stCxn id="46088" idx="0"/>
            <a:endCxn id="46083" idx="4"/>
          </p:cNvCxnSpPr>
          <p:nvPr/>
        </p:nvCxnSpPr>
        <p:spPr bwMode="auto">
          <a:xfrm flipV="1">
            <a:off x="3581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6" name="AutoShape 16"/>
          <p:cNvCxnSpPr>
            <a:cxnSpLocks noChangeShapeType="1"/>
            <a:stCxn id="46083" idx="5"/>
            <a:endCxn id="46087" idx="1"/>
          </p:cNvCxnSpPr>
          <p:nvPr/>
        </p:nvCxnSpPr>
        <p:spPr bwMode="auto">
          <a:xfrm>
            <a:off x="3959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7" name="AutoShape 17"/>
          <p:cNvCxnSpPr>
            <a:cxnSpLocks noChangeShapeType="1"/>
            <a:stCxn id="46084" idx="4"/>
            <a:endCxn id="46087" idx="0"/>
          </p:cNvCxnSpPr>
          <p:nvPr/>
        </p:nvCxnSpPr>
        <p:spPr bwMode="auto">
          <a:xfrm>
            <a:off x="6248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8" name="AutoShape 18"/>
          <p:cNvCxnSpPr>
            <a:cxnSpLocks noChangeShapeType="1"/>
            <a:stCxn id="46083" idx="6"/>
            <a:endCxn id="46084" idx="2"/>
          </p:cNvCxnSpPr>
          <p:nvPr/>
        </p:nvCxnSpPr>
        <p:spPr bwMode="auto">
          <a:xfrm>
            <a:off x="4129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9" name="AutoShape 19"/>
          <p:cNvCxnSpPr>
            <a:cxnSpLocks noChangeShapeType="1"/>
            <a:stCxn id="46085" idx="2"/>
            <a:endCxn id="46084" idx="6"/>
          </p:cNvCxnSpPr>
          <p:nvPr/>
        </p:nvCxnSpPr>
        <p:spPr bwMode="auto">
          <a:xfrm flipH="1">
            <a:off x="6796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0" name="AutoShape 20"/>
          <p:cNvCxnSpPr>
            <a:cxnSpLocks noChangeShapeType="1"/>
            <a:stCxn id="46084" idx="5"/>
            <a:endCxn id="46090" idx="1"/>
          </p:cNvCxnSpPr>
          <p:nvPr/>
        </p:nvCxnSpPr>
        <p:spPr bwMode="auto">
          <a:xfrm>
            <a:off x="6626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1" name="AutoShape 21"/>
          <p:cNvCxnSpPr>
            <a:cxnSpLocks noChangeShapeType="1"/>
            <a:stCxn id="46085" idx="3"/>
            <a:endCxn id="46090" idx="7"/>
          </p:cNvCxnSpPr>
          <p:nvPr/>
        </p:nvCxnSpPr>
        <p:spPr bwMode="auto">
          <a:xfrm flipH="1">
            <a:off x="7997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2" name="AutoShape 22"/>
          <p:cNvCxnSpPr>
            <a:cxnSpLocks noChangeShapeType="1"/>
            <a:stCxn id="46085" idx="4"/>
            <a:endCxn id="46086" idx="0"/>
          </p:cNvCxnSpPr>
          <p:nvPr/>
        </p:nvCxnSpPr>
        <p:spPr bwMode="auto">
          <a:xfrm>
            <a:off x="8915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3" name="AutoShape 23"/>
          <p:cNvCxnSpPr>
            <a:cxnSpLocks noChangeShapeType="1"/>
            <a:stCxn id="46086" idx="2"/>
            <a:endCxn id="46087" idx="6"/>
          </p:cNvCxnSpPr>
          <p:nvPr/>
        </p:nvCxnSpPr>
        <p:spPr bwMode="auto">
          <a:xfrm flipH="1">
            <a:off x="6796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4" name="AutoShape 24"/>
          <p:cNvCxnSpPr>
            <a:cxnSpLocks noChangeShapeType="1"/>
            <a:stCxn id="46090" idx="3"/>
            <a:endCxn id="46087" idx="7"/>
          </p:cNvCxnSpPr>
          <p:nvPr/>
        </p:nvCxnSpPr>
        <p:spPr bwMode="auto">
          <a:xfrm flipH="1">
            <a:off x="6626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105" name="Line 25"/>
          <p:cNvSpPr>
            <a:spLocks noChangeShapeType="1"/>
          </p:cNvSpPr>
          <p:nvPr/>
        </p:nvSpPr>
        <p:spPr bwMode="auto">
          <a:xfrm>
            <a:off x="1981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106" name="Text Box 26"/>
          <p:cNvSpPr txBox="1">
            <a:spLocks noChangeArrowheads="1"/>
          </p:cNvSpPr>
          <p:nvPr/>
        </p:nvSpPr>
        <p:spPr bwMode="auto">
          <a:xfrm>
            <a:off x="1600201" y="1447801"/>
            <a:ext cx="8747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46107" name="Oval 27"/>
          <p:cNvSpPr>
            <a:spLocks noChangeArrowheads="1"/>
          </p:cNvSpPr>
          <p:nvPr/>
        </p:nvSpPr>
        <p:spPr bwMode="auto">
          <a:xfrm>
            <a:off x="3048000" y="1828800"/>
            <a:ext cx="1066800" cy="685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i="1">
                <a:latin typeface="Times New Roman" panose="02020603050405020304" pitchFamily="18" charset="0"/>
              </a:rPr>
              <a:t>d      f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10047866" y="136525"/>
            <a:ext cx="1918323" cy="3140075"/>
            <a:chOff x="152400" y="1676401"/>
            <a:chExt cx="1918323" cy="3140075"/>
          </a:xfrm>
        </p:grpSpPr>
        <p:sp>
          <p:nvSpPr>
            <p:cNvPr id="29" name="Oval 3"/>
            <p:cNvSpPr>
              <a:spLocks noChangeArrowheads="1"/>
            </p:cNvSpPr>
            <p:nvPr/>
          </p:nvSpPr>
          <p:spPr bwMode="auto">
            <a:xfrm>
              <a:off x="366715" y="1752600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70000"/>
                </a:lnSpc>
              </a:pPr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" name="Oval 5"/>
            <p:cNvSpPr>
              <a:spLocks noChangeArrowheads="1"/>
            </p:cNvSpPr>
            <p:nvPr/>
          </p:nvSpPr>
          <p:spPr bwMode="auto">
            <a:xfrm>
              <a:off x="366715" y="2850518"/>
              <a:ext cx="762000" cy="76200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1" name="Oval 5"/>
            <p:cNvSpPr>
              <a:spLocks noChangeArrowheads="1"/>
            </p:cNvSpPr>
            <p:nvPr/>
          </p:nvSpPr>
          <p:spPr bwMode="auto">
            <a:xfrm>
              <a:off x="350520" y="4023360"/>
              <a:ext cx="762000" cy="76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356360" y="2133600"/>
              <a:ext cx="714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white</a:t>
              </a:r>
              <a:endParaRPr lang="en-US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356360" y="3091935"/>
              <a:ext cx="588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grey</a:t>
              </a:r>
              <a:endParaRPr lang="en-US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350965" y="4234934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black</a:t>
              </a:r>
              <a:endParaRPr lang="en-US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52400" y="1676401"/>
              <a:ext cx="1918323" cy="3140075"/>
            </a:xfrm>
            <a:prstGeom prst="rect">
              <a:avLst/>
            </a:prstGeom>
            <a:noFill/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12190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DFS Example</a:t>
            </a:r>
          </a:p>
        </p:txBody>
      </p:sp>
      <p:sp>
        <p:nvSpPr>
          <p:cNvPr id="47107" name="Oval 3"/>
          <p:cNvSpPr>
            <a:spLocks noChangeArrowheads="1"/>
          </p:cNvSpPr>
          <p:nvPr/>
        </p:nvSpPr>
        <p:spPr bwMode="auto">
          <a:xfrm>
            <a:off x="3048000" y="2362200"/>
            <a:ext cx="1066800" cy="6858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1|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7108" name="Oval 4"/>
          <p:cNvSpPr>
            <a:spLocks noChangeArrowheads="1"/>
          </p:cNvSpPr>
          <p:nvPr/>
        </p:nvSpPr>
        <p:spPr bwMode="auto">
          <a:xfrm>
            <a:off x="5715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7109" name="Oval 5"/>
          <p:cNvSpPr>
            <a:spLocks noChangeArrowheads="1"/>
          </p:cNvSpPr>
          <p:nvPr/>
        </p:nvSpPr>
        <p:spPr bwMode="auto">
          <a:xfrm>
            <a:off x="8382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7110" name="Oval 6"/>
          <p:cNvSpPr>
            <a:spLocks noChangeArrowheads="1"/>
          </p:cNvSpPr>
          <p:nvPr/>
        </p:nvSpPr>
        <p:spPr bwMode="auto">
          <a:xfrm>
            <a:off x="8382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7111" name="Oval 7"/>
          <p:cNvSpPr>
            <a:spLocks noChangeArrowheads="1"/>
          </p:cNvSpPr>
          <p:nvPr/>
        </p:nvSpPr>
        <p:spPr bwMode="auto">
          <a:xfrm>
            <a:off x="5715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7112" name="Oval 8"/>
          <p:cNvSpPr>
            <a:spLocks noChangeArrowheads="1"/>
          </p:cNvSpPr>
          <p:nvPr/>
        </p:nvSpPr>
        <p:spPr bwMode="auto">
          <a:xfrm>
            <a:off x="3048000" y="4724400"/>
            <a:ext cx="1066800" cy="6858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3|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7113" name="Oval 9"/>
          <p:cNvSpPr>
            <a:spLocks noChangeArrowheads="1"/>
          </p:cNvSpPr>
          <p:nvPr/>
        </p:nvSpPr>
        <p:spPr bwMode="auto">
          <a:xfrm>
            <a:off x="1752600" y="3505200"/>
            <a:ext cx="1066800" cy="6858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2|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7114" name="Oval 10"/>
          <p:cNvSpPr>
            <a:spLocks noChangeArrowheads="1"/>
          </p:cNvSpPr>
          <p:nvPr/>
        </p:nvSpPr>
        <p:spPr bwMode="auto">
          <a:xfrm>
            <a:off x="7086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cxnSp>
        <p:nvCxnSpPr>
          <p:cNvPr id="47115" name="AutoShape 11"/>
          <p:cNvCxnSpPr>
            <a:cxnSpLocks noChangeShapeType="1"/>
            <a:stCxn id="47107" idx="3"/>
            <a:endCxn id="47113" idx="7"/>
          </p:cNvCxnSpPr>
          <p:nvPr/>
        </p:nvCxnSpPr>
        <p:spPr bwMode="auto">
          <a:xfrm flipH="1">
            <a:off x="266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6" name="AutoShape 12"/>
          <p:cNvCxnSpPr>
            <a:cxnSpLocks noChangeShapeType="1"/>
            <a:stCxn id="47113" idx="5"/>
            <a:endCxn id="47112" idx="1"/>
          </p:cNvCxnSpPr>
          <p:nvPr/>
        </p:nvCxnSpPr>
        <p:spPr bwMode="auto">
          <a:xfrm>
            <a:off x="2663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7" name="AutoShape 13"/>
          <p:cNvCxnSpPr>
            <a:cxnSpLocks noChangeShapeType="1"/>
            <a:stCxn id="47113" idx="6"/>
            <a:endCxn id="47111" idx="1"/>
          </p:cNvCxnSpPr>
          <p:nvPr/>
        </p:nvCxnSpPr>
        <p:spPr bwMode="auto">
          <a:xfrm>
            <a:off x="2833689" y="3848101"/>
            <a:ext cx="3036887" cy="962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8" name="AutoShape 14"/>
          <p:cNvCxnSpPr>
            <a:cxnSpLocks noChangeShapeType="1"/>
            <a:stCxn id="47111" idx="2"/>
            <a:endCxn id="47112" idx="6"/>
          </p:cNvCxnSpPr>
          <p:nvPr/>
        </p:nvCxnSpPr>
        <p:spPr bwMode="auto">
          <a:xfrm flipH="1">
            <a:off x="4129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9" name="AutoShape 15"/>
          <p:cNvCxnSpPr>
            <a:cxnSpLocks noChangeShapeType="1"/>
            <a:stCxn id="47112" idx="0"/>
            <a:endCxn id="47107" idx="4"/>
          </p:cNvCxnSpPr>
          <p:nvPr/>
        </p:nvCxnSpPr>
        <p:spPr bwMode="auto">
          <a:xfrm flipV="1">
            <a:off x="3581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0" name="AutoShape 16"/>
          <p:cNvCxnSpPr>
            <a:cxnSpLocks noChangeShapeType="1"/>
            <a:stCxn id="47107" idx="5"/>
            <a:endCxn id="47111" idx="1"/>
          </p:cNvCxnSpPr>
          <p:nvPr/>
        </p:nvCxnSpPr>
        <p:spPr bwMode="auto">
          <a:xfrm>
            <a:off x="3959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1" name="AutoShape 17"/>
          <p:cNvCxnSpPr>
            <a:cxnSpLocks noChangeShapeType="1"/>
            <a:stCxn id="47108" idx="4"/>
            <a:endCxn id="47111" idx="0"/>
          </p:cNvCxnSpPr>
          <p:nvPr/>
        </p:nvCxnSpPr>
        <p:spPr bwMode="auto">
          <a:xfrm>
            <a:off x="6248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2" name="AutoShape 18"/>
          <p:cNvCxnSpPr>
            <a:cxnSpLocks noChangeShapeType="1"/>
            <a:stCxn id="47107" idx="6"/>
            <a:endCxn id="47108" idx="2"/>
          </p:cNvCxnSpPr>
          <p:nvPr/>
        </p:nvCxnSpPr>
        <p:spPr bwMode="auto">
          <a:xfrm>
            <a:off x="4129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3" name="AutoShape 19"/>
          <p:cNvCxnSpPr>
            <a:cxnSpLocks noChangeShapeType="1"/>
            <a:stCxn id="47109" idx="2"/>
            <a:endCxn id="47108" idx="6"/>
          </p:cNvCxnSpPr>
          <p:nvPr/>
        </p:nvCxnSpPr>
        <p:spPr bwMode="auto">
          <a:xfrm flipH="1">
            <a:off x="6796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4" name="AutoShape 20"/>
          <p:cNvCxnSpPr>
            <a:cxnSpLocks noChangeShapeType="1"/>
            <a:stCxn id="47108" idx="5"/>
            <a:endCxn id="47114" idx="1"/>
          </p:cNvCxnSpPr>
          <p:nvPr/>
        </p:nvCxnSpPr>
        <p:spPr bwMode="auto">
          <a:xfrm>
            <a:off x="6626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5" name="AutoShape 21"/>
          <p:cNvCxnSpPr>
            <a:cxnSpLocks noChangeShapeType="1"/>
            <a:stCxn id="47109" idx="3"/>
            <a:endCxn id="47114" idx="7"/>
          </p:cNvCxnSpPr>
          <p:nvPr/>
        </p:nvCxnSpPr>
        <p:spPr bwMode="auto">
          <a:xfrm flipH="1">
            <a:off x="7997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6" name="AutoShape 22"/>
          <p:cNvCxnSpPr>
            <a:cxnSpLocks noChangeShapeType="1"/>
            <a:stCxn id="47109" idx="4"/>
            <a:endCxn id="47110" idx="0"/>
          </p:cNvCxnSpPr>
          <p:nvPr/>
        </p:nvCxnSpPr>
        <p:spPr bwMode="auto">
          <a:xfrm>
            <a:off x="8915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7" name="AutoShape 23"/>
          <p:cNvCxnSpPr>
            <a:cxnSpLocks noChangeShapeType="1"/>
            <a:stCxn id="47110" idx="2"/>
            <a:endCxn id="47111" idx="6"/>
          </p:cNvCxnSpPr>
          <p:nvPr/>
        </p:nvCxnSpPr>
        <p:spPr bwMode="auto">
          <a:xfrm flipH="1">
            <a:off x="6796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8" name="AutoShape 24"/>
          <p:cNvCxnSpPr>
            <a:cxnSpLocks noChangeShapeType="1"/>
            <a:stCxn id="47114" idx="3"/>
            <a:endCxn id="47111" idx="7"/>
          </p:cNvCxnSpPr>
          <p:nvPr/>
        </p:nvCxnSpPr>
        <p:spPr bwMode="auto">
          <a:xfrm flipH="1">
            <a:off x="6626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129" name="Line 25"/>
          <p:cNvSpPr>
            <a:spLocks noChangeShapeType="1"/>
          </p:cNvSpPr>
          <p:nvPr/>
        </p:nvSpPr>
        <p:spPr bwMode="auto">
          <a:xfrm>
            <a:off x="1981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30" name="Text Box 26"/>
          <p:cNvSpPr txBox="1">
            <a:spLocks noChangeArrowheads="1"/>
          </p:cNvSpPr>
          <p:nvPr/>
        </p:nvSpPr>
        <p:spPr bwMode="auto">
          <a:xfrm>
            <a:off x="1600201" y="1447801"/>
            <a:ext cx="8747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47131" name="Oval 27"/>
          <p:cNvSpPr>
            <a:spLocks noChangeArrowheads="1"/>
          </p:cNvSpPr>
          <p:nvPr/>
        </p:nvSpPr>
        <p:spPr bwMode="auto">
          <a:xfrm>
            <a:off x="3048000" y="1828800"/>
            <a:ext cx="1066800" cy="685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i="1">
                <a:latin typeface="Times New Roman" panose="02020603050405020304" pitchFamily="18" charset="0"/>
              </a:rPr>
              <a:t>d      f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10047866" y="136525"/>
            <a:ext cx="1918323" cy="3140075"/>
            <a:chOff x="152400" y="1676401"/>
            <a:chExt cx="1918323" cy="3140075"/>
          </a:xfrm>
        </p:grpSpPr>
        <p:sp>
          <p:nvSpPr>
            <p:cNvPr id="29" name="Oval 3"/>
            <p:cNvSpPr>
              <a:spLocks noChangeArrowheads="1"/>
            </p:cNvSpPr>
            <p:nvPr/>
          </p:nvSpPr>
          <p:spPr bwMode="auto">
            <a:xfrm>
              <a:off x="366715" y="1752600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70000"/>
                </a:lnSpc>
              </a:pPr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" name="Oval 5"/>
            <p:cNvSpPr>
              <a:spLocks noChangeArrowheads="1"/>
            </p:cNvSpPr>
            <p:nvPr/>
          </p:nvSpPr>
          <p:spPr bwMode="auto">
            <a:xfrm>
              <a:off x="366715" y="2850518"/>
              <a:ext cx="762000" cy="76200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1" name="Oval 5"/>
            <p:cNvSpPr>
              <a:spLocks noChangeArrowheads="1"/>
            </p:cNvSpPr>
            <p:nvPr/>
          </p:nvSpPr>
          <p:spPr bwMode="auto">
            <a:xfrm>
              <a:off x="350520" y="4023360"/>
              <a:ext cx="762000" cy="76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356360" y="2133600"/>
              <a:ext cx="714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white</a:t>
              </a:r>
              <a:endParaRPr lang="en-US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356360" y="3091935"/>
              <a:ext cx="588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grey</a:t>
              </a:r>
              <a:endParaRPr lang="en-US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350965" y="4234934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black</a:t>
              </a:r>
              <a:endParaRPr lang="en-US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52400" y="1676401"/>
              <a:ext cx="1918323" cy="3140075"/>
            </a:xfrm>
            <a:prstGeom prst="rect">
              <a:avLst/>
            </a:prstGeom>
            <a:noFill/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9018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DFS Example</a:t>
            </a:r>
          </a:p>
        </p:txBody>
      </p:sp>
      <p:sp>
        <p:nvSpPr>
          <p:cNvPr id="48131" name="Oval 3"/>
          <p:cNvSpPr>
            <a:spLocks noChangeArrowheads="1"/>
          </p:cNvSpPr>
          <p:nvPr/>
        </p:nvSpPr>
        <p:spPr bwMode="auto">
          <a:xfrm>
            <a:off x="3048000" y="2362200"/>
            <a:ext cx="1066800" cy="6858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1|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8132" name="Oval 4"/>
          <p:cNvSpPr>
            <a:spLocks noChangeArrowheads="1"/>
          </p:cNvSpPr>
          <p:nvPr/>
        </p:nvSpPr>
        <p:spPr bwMode="auto">
          <a:xfrm>
            <a:off x="5715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8133" name="Oval 5"/>
          <p:cNvSpPr>
            <a:spLocks noChangeArrowheads="1"/>
          </p:cNvSpPr>
          <p:nvPr/>
        </p:nvSpPr>
        <p:spPr bwMode="auto">
          <a:xfrm>
            <a:off x="8382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8134" name="Oval 6"/>
          <p:cNvSpPr>
            <a:spLocks noChangeArrowheads="1"/>
          </p:cNvSpPr>
          <p:nvPr/>
        </p:nvSpPr>
        <p:spPr bwMode="auto">
          <a:xfrm>
            <a:off x="8382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8135" name="Oval 7"/>
          <p:cNvSpPr>
            <a:spLocks noChangeArrowheads="1"/>
          </p:cNvSpPr>
          <p:nvPr/>
        </p:nvSpPr>
        <p:spPr bwMode="auto">
          <a:xfrm>
            <a:off x="5715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8136" name="Oval 8"/>
          <p:cNvSpPr>
            <a:spLocks noChangeArrowheads="1"/>
          </p:cNvSpPr>
          <p:nvPr/>
        </p:nvSpPr>
        <p:spPr bwMode="auto">
          <a:xfrm>
            <a:off x="3048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3|4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8137" name="Oval 9"/>
          <p:cNvSpPr>
            <a:spLocks noChangeArrowheads="1"/>
          </p:cNvSpPr>
          <p:nvPr/>
        </p:nvSpPr>
        <p:spPr bwMode="auto">
          <a:xfrm>
            <a:off x="1752600" y="3505200"/>
            <a:ext cx="1066800" cy="6858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2|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8138" name="Oval 10"/>
          <p:cNvSpPr>
            <a:spLocks noChangeArrowheads="1"/>
          </p:cNvSpPr>
          <p:nvPr/>
        </p:nvSpPr>
        <p:spPr bwMode="auto">
          <a:xfrm>
            <a:off x="7086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cxnSp>
        <p:nvCxnSpPr>
          <p:cNvPr id="48139" name="AutoShape 11"/>
          <p:cNvCxnSpPr>
            <a:cxnSpLocks noChangeShapeType="1"/>
            <a:stCxn id="48131" idx="3"/>
            <a:endCxn id="48137" idx="7"/>
          </p:cNvCxnSpPr>
          <p:nvPr/>
        </p:nvCxnSpPr>
        <p:spPr bwMode="auto">
          <a:xfrm flipH="1">
            <a:off x="266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0" name="AutoShape 12"/>
          <p:cNvCxnSpPr>
            <a:cxnSpLocks noChangeShapeType="1"/>
            <a:stCxn id="48137" idx="5"/>
            <a:endCxn id="48136" idx="1"/>
          </p:cNvCxnSpPr>
          <p:nvPr/>
        </p:nvCxnSpPr>
        <p:spPr bwMode="auto">
          <a:xfrm>
            <a:off x="2663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1" name="AutoShape 13"/>
          <p:cNvCxnSpPr>
            <a:cxnSpLocks noChangeShapeType="1"/>
            <a:stCxn id="48137" idx="6"/>
            <a:endCxn id="48135" idx="1"/>
          </p:cNvCxnSpPr>
          <p:nvPr/>
        </p:nvCxnSpPr>
        <p:spPr bwMode="auto">
          <a:xfrm>
            <a:off x="2833689" y="3848101"/>
            <a:ext cx="3036887" cy="962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2" name="AutoShape 14"/>
          <p:cNvCxnSpPr>
            <a:cxnSpLocks noChangeShapeType="1"/>
            <a:stCxn id="48135" idx="2"/>
            <a:endCxn id="48136" idx="6"/>
          </p:cNvCxnSpPr>
          <p:nvPr/>
        </p:nvCxnSpPr>
        <p:spPr bwMode="auto">
          <a:xfrm flipH="1">
            <a:off x="4129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3" name="AutoShape 15"/>
          <p:cNvCxnSpPr>
            <a:cxnSpLocks noChangeShapeType="1"/>
            <a:stCxn id="48136" idx="0"/>
            <a:endCxn id="48131" idx="4"/>
          </p:cNvCxnSpPr>
          <p:nvPr/>
        </p:nvCxnSpPr>
        <p:spPr bwMode="auto">
          <a:xfrm flipV="1">
            <a:off x="3581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4" name="AutoShape 16"/>
          <p:cNvCxnSpPr>
            <a:cxnSpLocks noChangeShapeType="1"/>
            <a:stCxn id="48131" idx="5"/>
            <a:endCxn id="48135" idx="1"/>
          </p:cNvCxnSpPr>
          <p:nvPr/>
        </p:nvCxnSpPr>
        <p:spPr bwMode="auto">
          <a:xfrm>
            <a:off x="3959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5" name="AutoShape 17"/>
          <p:cNvCxnSpPr>
            <a:cxnSpLocks noChangeShapeType="1"/>
            <a:stCxn id="48132" idx="4"/>
            <a:endCxn id="48135" idx="0"/>
          </p:cNvCxnSpPr>
          <p:nvPr/>
        </p:nvCxnSpPr>
        <p:spPr bwMode="auto">
          <a:xfrm>
            <a:off x="6248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6" name="AutoShape 18"/>
          <p:cNvCxnSpPr>
            <a:cxnSpLocks noChangeShapeType="1"/>
            <a:stCxn id="48131" idx="6"/>
            <a:endCxn id="48132" idx="2"/>
          </p:cNvCxnSpPr>
          <p:nvPr/>
        </p:nvCxnSpPr>
        <p:spPr bwMode="auto">
          <a:xfrm>
            <a:off x="4129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7" name="AutoShape 19"/>
          <p:cNvCxnSpPr>
            <a:cxnSpLocks noChangeShapeType="1"/>
            <a:stCxn id="48133" idx="2"/>
            <a:endCxn id="48132" idx="6"/>
          </p:cNvCxnSpPr>
          <p:nvPr/>
        </p:nvCxnSpPr>
        <p:spPr bwMode="auto">
          <a:xfrm flipH="1">
            <a:off x="6796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8" name="AutoShape 20"/>
          <p:cNvCxnSpPr>
            <a:cxnSpLocks noChangeShapeType="1"/>
            <a:stCxn id="48132" idx="5"/>
            <a:endCxn id="48138" idx="1"/>
          </p:cNvCxnSpPr>
          <p:nvPr/>
        </p:nvCxnSpPr>
        <p:spPr bwMode="auto">
          <a:xfrm>
            <a:off x="6626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9" name="AutoShape 21"/>
          <p:cNvCxnSpPr>
            <a:cxnSpLocks noChangeShapeType="1"/>
            <a:stCxn id="48133" idx="3"/>
            <a:endCxn id="48138" idx="7"/>
          </p:cNvCxnSpPr>
          <p:nvPr/>
        </p:nvCxnSpPr>
        <p:spPr bwMode="auto">
          <a:xfrm flipH="1">
            <a:off x="7997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0" name="AutoShape 22"/>
          <p:cNvCxnSpPr>
            <a:cxnSpLocks noChangeShapeType="1"/>
            <a:stCxn id="48133" idx="4"/>
            <a:endCxn id="48134" idx="0"/>
          </p:cNvCxnSpPr>
          <p:nvPr/>
        </p:nvCxnSpPr>
        <p:spPr bwMode="auto">
          <a:xfrm>
            <a:off x="8915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1" name="AutoShape 23"/>
          <p:cNvCxnSpPr>
            <a:cxnSpLocks noChangeShapeType="1"/>
            <a:stCxn id="48134" idx="2"/>
            <a:endCxn id="48135" idx="6"/>
          </p:cNvCxnSpPr>
          <p:nvPr/>
        </p:nvCxnSpPr>
        <p:spPr bwMode="auto">
          <a:xfrm flipH="1">
            <a:off x="6796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2" name="AutoShape 24"/>
          <p:cNvCxnSpPr>
            <a:cxnSpLocks noChangeShapeType="1"/>
            <a:stCxn id="48138" idx="3"/>
            <a:endCxn id="48135" idx="7"/>
          </p:cNvCxnSpPr>
          <p:nvPr/>
        </p:nvCxnSpPr>
        <p:spPr bwMode="auto">
          <a:xfrm flipH="1">
            <a:off x="6626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153" name="Line 25"/>
          <p:cNvSpPr>
            <a:spLocks noChangeShapeType="1"/>
          </p:cNvSpPr>
          <p:nvPr/>
        </p:nvSpPr>
        <p:spPr bwMode="auto">
          <a:xfrm>
            <a:off x="1981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54" name="Text Box 26"/>
          <p:cNvSpPr txBox="1">
            <a:spLocks noChangeArrowheads="1"/>
          </p:cNvSpPr>
          <p:nvPr/>
        </p:nvSpPr>
        <p:spPr bwMode="auto">
          <a:xfrm>
            <a:off x="1600201" y="1447801"/>
            <a:ext cx="8747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48155" name="Oval 27"/>
          <p:cNvSpPr>
            <a:spLocks noChangeArrowheads="1"/>
          </p:cNvSpPr>
          <p:nvPr/>
        </p:nvSpPr>
        <p:spPr bwMode="auto">
          <a:xfrm>
            <a:off x="3048000" y="1828800"/>
            <a:ext cx="1066800" cy="685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i="1">
                <a:latin typeface="Times New Roman" panose="02020603050405020304" pitchFamily="18" charset="0"/>
              </a:rPr>
              <a:t>d      f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10047866" y="136525"/>
            <a:ext cx="1918323" cy="3140075"/>
            <a:chOff x="152400" y="1676401"/>
            <a:chExt cx="1918323" cy="3140075"/>
          </a:xfrm>
        </p:grpSpPr>
        <p:sp>
          <p:nvSpPr>
            <p:cNvPr id="29" name="Oval 3"/>
            <p:cNvSpPr>
              <a:spLocks noChangeArrowheads="1"/>
            </p:cNvSpPr>
            <p:nvPr/>
          </p:nvSpPr>
          <p:spPr bwMode="auto">
            <a:xfrm>
              <a:off x="366715" y="1752600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70000"/>
                </a:lnSpc>
              </a:pPr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" name="Oval 5"/>
            <p:cNvSpPr>
              <a:spLocks noChangeArrowheads="1"/>
            </p:cNvSpPr>
            <p:nvPr/>
          </p:nvSpPr>
          <p:spPr bwMode="auto">
            <a:xfrm>
              <a:off x="366715" y="2850518"/>
              <a:ext cx="762000" cy="76200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1" name="Oval 5"/>
            <p:cNvSpPr>
              <a:spLocks noChangeArrowheads="1"/>
            </p:cNvSpPr>
            <p:nvPr/>
          </p:nvSpPr>
          <p:spPr bwMode="auto">
            <a:xfrm>
              <a:off x="350520" y="4023360"/>
              <a:ext cx="762000" cy="76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356360" y="2133600"/>
              <a:ext cx="714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white</a:t>
              </a:r>
              <a:endParaRPr lang="en-US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356360" y="3091935"/>
              <a:ext cx="588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grey</a:t>
              </a:r>
              <a:endParaRPr lang="en-US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350965" y="4234934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black</a:t>
              </a:r>
              <a:endParaRPr lang="en-US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52400" y="1676401"/>
              <a:ext cx="1918323" cy="3140075"/>
            </a:xfrm>
            <a:prstGeom prst="rect">
              <a:avLst/>
            </a:prstGeom>
            <a:noFill/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857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DFS Example</a:t>
            </a:r>
          </a:p>
        </p:txBody>
      </p:sp>
      <p:sp>
        <p:nvSpPr>
          <p:cNvPr id="49155" name="Oval 3"/>
          <p:cNvSpPr>
            <a:spLocks noChangeArrowheads="1"/>
          </p:cNvSpPr>
          <p:nvPr/>
        </p:nvSpPr>
        <p:spPr bwMode="auto">
          <a:xfrm>
            <a:off x="3048000" y="2362200"/>
            <a:ext cx="1066800" cy="6858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1|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9156" name="Oval 4"/>
          <p:cNvSpPr>
            <a:spLocks noChangeArrowheads="1"/>
          </p:cNvSpPr>
          <p:nvPr/>
        </p:nvSpPr>
        <p:spPr bwMode="auto">
          <a:xfrm>
            <a:off x="5715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9157" name="Oval 5"/>
          <p:cNvSpPr>
            <a:spLocks noChangeArrowheads="1"/>
          </p:cNvSpPr>
          <p:nvPr/>
        </p:nvSpPr>
        <p:spPr bwMode="auto">
          <a:xfrm>
            <a:off x="8382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9158" name="Oval 6"/>
          <p:cNvSpPr>
            <a:spLocks noChangeArrowheads="1"/>
          </p:cNvSpPr>
          <p:nvPr/>
        </p:nvSpPr>
        <p:spPr bwMode="auto">
          <a:xfrm>
            <a:off x="8382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9159" name="Oval 7"/>
          <p:cNvSpPr>
            <a:spLocks noChangeArrowheads="1"/>
          </p:cNvSpPr>
          <p:nvPr/>
        </p:nvSpPr>
        <p:spPr bwMode="auto">
          <a:xfrm>
            <a:off x="5715000" y="4724400"/>
            <a:ext cx="1066800" cy="6858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5|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9160" name="Oval 8"/>
          <p:cNvSpPr>
            <a:spLocks noChangeArrowheads="1"/>
          </p:cNvSpPr>
          <p:nvPr/>
        </p:nvSpPr>
        <p:spPr bwMode="auto">
          <a:xfrm>
            <a:off x="3048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3|4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9161" name="Oval 9"/>
          <p:cNvSpPr>
            <a:spLocks noChangeArrowheads="1"/>
          </p:cNvSpPr>
          <p:nvPr/>
        </p:nvSpPr>
        <p:spPr bwMode="auto">
          <a:xfrm>
            <a:off x="1752600" y="3505200"/>
            <a:ext cx="1066800" cy="6858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2|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49162" name="Oval 10"/>
          <p:cNvSpPr>
            <a:spLocks noChangeArrowheads="1"/>
          </p:cNvSpPr>
          <p:nvPr/>
        </p:nvSpPr>
        <p:spPr bwMode="auto">
          <a:xfrm>
            <a:off x="7086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cxnSp>
        <p:nvCxnSpPr>
          <p:cNvPr id="49163" name="AutoShape 11"/>
          <p:cNvCxnSpPr>
            <a:cxnSpLocks noChangeShapeType="1"/>
            <a:stCxn id="49155" idx="3"/>
            <a:endCxn id="49161" idx="7"/>
          </p:cNvCxnSpPr>
          <p:nvPr/>
        </p:nvCxnSpPr>
        <p:spPr bwMode="auto">
          <a:xfrm flipH="1">
            <a:off x="266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64" name="AutoShape 12"/>
          <p:cNvCxnSpPr>
            <a:cxnSpLocks noChangeShapeType="1"/>
            <a:stCxn id="49161" idx="5"/>
            <a:endCxn id="49160" idx="1"/>
          </p:cNvCxnSpPr>
          <p:nvPr/>
        </p:nvCxnSpPr>
        <p:spPr bwMode="auto">
          <a:xfrm>
            <a:off x="2663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65" name="AutoShape 13"/>
          <p:cNvCxnSpPr>
            <a:cxnSpLocks noChangeShapeType="1"/>
            <a:stCxn id="49161" idx="6"/>
            <a:endCxn id="49159" idx="1"/>
          </p:cNvCxnSpPr>
          <p:nvPr/>
        </p:nvCxnSpPr>
        <p:spPr bwMode="auto">
          <a:xfrm>
            <a:off x="2833689" y="3848101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66" name="AutoShape 14"/>
          <p:cNvCxnSpPr>
            <a:cxnSpLocks noChangeShapeType="1"/>
            <a:stCxn id="49159" idx="2"/>
            <a:endCxn id="49160" idx="6"/>
          </p:cNvCxnSpPr>
          <p:nvPr/>
        </p:nvCxnSpPr>
        <p:spPr bwMode="auto">
          <a:xfrm flipH="1">
            <a:off x="4129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67" name="AutoShape 15"/>
          <p:cNvCxnSpPr>
            <a:cxnSpLocks noChangeShapeType="1"/>
            <a:stCxn id="49160" idx="0"/>
            <a:endCxn id="49155" idx="4"/>
          </p:cNvCxnSpPr>
          <p:nvPr/>
        </p:nvCxnSpPr>
        <p:spPr bwMode="auto">
          <a:xfrm flipV="1">
            <a:off x="3581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68" name="AutoShape 16"/>
          <p:cNvCxnSpPr>
            <a:cxnSpLocks noChangeShapeType="1"/>
            <a:stCxn id="49155" idx="5"/>
            <a:endCxn id="49159" idx="1"/>
          </p:cNvCxnSpPr>
          <p:nvPr/>
        </p:nvCxnSpPr>
        <p:spPr bwMode="auto">
          <a:xfrm>
            <a:off x="3959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69" name="AutoShape 17"/>
          <p:cNvCxnSpPr>
            <a:cxnSpLocks noChangeShapeType="1"/>
            <a:stCxn id="49156" idx="4"/>
            <a:endCxn id="49159" idx="0"/>
          </p:cNvCxnSpPr>
          <p:nvPr/>
        </p:nvCxnSpPr>
        <p:spPr bwMode="auto">
          <a:xfrm>
            <a:off x="6248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70" name="AutoShape 18"/>
          <p:cNvCxnSpPr>
            <a:cxnSpLocks noChangeShapeType="1"/>
            <a:stCxn id="49155" idx="6"/>
            <a:endCxn id="49156" idx="2"/>
          </p:cNvCxnSpPr>
          <p:nvPr/>
        </p:nvCxnSpPr>
        <p:spPr bwMode="auto">
          <a:xfrm>
            <a:off x="4129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71" name="AutoShape 19"/>
          <p:cNvCxnSpPr>
            <a:cxnSpLocks noChangeShapeType="1"/>
            <a:stCxn id="49157" idx="2"/>
            <a:endCxn id="49156" idx="6"/>
          </p:cNvCxnSpPr>
          <p:nvPr/>
        </p:nvCxnSpPr>
        <p:spPr bwMode="auto">
          <a:xfrm flipH="1">
            <a:off x="6796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72" name="AutoShape 20"/>
          <p:cNvCxnSpPr>
            <a:cxnSpLocks noChangeShapeType="1"/>
            <a:stCxn id="49156" idx="5"/>
            <a:endCxn id="49162" idx="1"/>
          </p:cNvCxnSpPr>
          <p:nvPr/>
        </p:nvCxnSpPr>
        <p:spPr bwMode="auto">
          <a:xfrm>
            <a:off x="6626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73" name="AutoShape 21"/>
          <p:cNvCxnSpPr>
            <a:cxnSpLocks noChangeShapeType="1"/>
            <a:stCxn id="49157" idx="3"/>
            <a:endCxn id="49162" idx="7"/>
          </p:cNvCxnSpPr>
          <p:nvPr/>
        </p:nvCxnSpPr>
        <p:spPr bwMode="auto">
          <a:xfrm flipH="1">
            <a:off x="7997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74" name="AutoShape 22"/>
          <p:cNvCxnSpPr>
            <a:cxnSpLocks noChangeShapeType="1"/>
            <a:stCxn id="49157" idx="4"/>
            <a:endCxn id="49158" idx="0"/>
          </p:cNvCxnSpPr>
          <p:nvPr/>
        </p:nvCxnSpPr>
        <p:spPr bwMode="auto">
          <a:xfrm>
            <a:off x="8915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75" name="AutoShape 23"/>
          <p:cNvCxnSpPr>
            <a:cxnSpLocks noChangeShapeType="1"/>
            <a:stCxn id="49158" idx="2"/>
            <a:endCxn id="49159" idx="6"/>
          </p:cNvCxnSpPr>
          <p:nvPr/>
        </p:nvCxnSpPr>
        <p:spPr bwMode="auto">
          <a:xfrm flipH="1">
            <a:off x="6796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76" name="AutoShape 24"/>
          <p:cNvCxnSpPr>
            <a:cxnSpLocks noChangeShapeType="1"/>
            <a:stCxn id="49162" idx="3"/>
            <a:endCxn id="49159" idx="7"/>
          </p:cNvCxnSpPr>
          <p:nvPr/>
        </p:nvCxnSpPr>
        <p:spPr bwMode="auto">
          <a:xfrm flipH="1">
            <a:off x="6626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177" name="Line 25"/>
          <p:cNvSpPr>
            <a:spLocks noChangeShapeType="1"/>
          </p:cNvSpPr>
          <p:nvPr/>
        </p:nvSpPr>
        <p:spPr bwMode="auto">
          <a:xfrm>
            <a:off x="1981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8" name="Text Box 26"/>
          <p:cNvSpPr txBox="1">
            <a:spLocks noChangeArrowheads="1"/>
          </p:cNvSpPr>
          <p:nvPr/>
        </p:nvSpPr>
        <p:spPr bwMode="auto">
          <a:xfrm>
            <a:off x="1600201" y="1447801"/>
            <a:ext cx="8747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49179" name="Oval 27"/>
          <p:cNvSpPr>
            <a:spLocks noChangeArrowheads="1"/>
          </p:cNvSpPr>
          <p:nvPr/>
        </p:nvSpPr>
        <p:spPr bwMode="auto">
          <a:xfrm>
            <a:off x="3048000" y="1828800"/>
            <a:ext cx="1066800" cy="685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i="1">
                <a:latin typeface="Times New Roman" panose="02020603050405020304" pitchFamily="18" charset="0"/>
              </a:rPr>
              <a:t>d      f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10047866" y="136525"/>
            <a:ext cx="1918323" cy="3140075"/>
            <a:chOff x="152400" y="1676401"/>
            <a:chExt cx="1918323" cy="3140075"/>
          </a:xfrm>
        </p:grpSpPr>
        <p:sp>
          <p:nvSpPr>
            <p:cNvPr id="37" name="Oval 3"/>
            <p:cNvSpPr>
              <a:spLocks noChangeArrowheads="1"/>
            </p:cNvSpPr>
            <p:nvPr/>
          </p:nvSpPr>
          <p:spPr bwMode="auto">
            <a:xfrm>
              <a:off x="366715" y="1752600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70000"/>
                </a:lnSpc>
              </a:pPr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" name="Oval 5"/>
            <p:cNvSpPr>
              <a:spLocks noChangeArrowheads="1"/>
            </p:cNvSpPr>
            <p:nvPr/>
          </p:nvSpPr>
          <p:spPr bwMode="auto">
            <a:xfrm>
              <a:off x="366715" y="2850518"/>
              <a:ext cx="762000" cy="76200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9" name="Oval 5"/>
            <p:cNvSpPr>
              <a:spLocks noChangeArrowheads="1"/>
            </p:cNvSpPr>
            <p:nvPr/>
          </p:nvSpPr>
          <p:spPr bwMode="auto">
            <a:xfrm>
              <a:off x="350520" y="4023360"/>
              <a:ext cx="762000" cy="76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356360" y="2133600"/>
              <a:ext cx="714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white</a:t>
              </a:r>
              <a:endParaRPr lang="en-US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356360" y="3091935"/>
              <a:ext cx="588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grey</a:t>
              </a:r>
              <a:endParaRPr lang="en-US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350965" y="4234934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black</a:t>
              </a:r>
              <a:endParaRPr lang="en-US" dirty="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52400" y="1676401"/>
              <a:ext cx="1918323" cy="3140075"/>
            </a:xfrm>
            <a:prstGeom prst="rect">
              <a:avLst/>
            </a:prstGeom>
            <a:noFill/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34894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DFS Example</a:t>
            </a:r>
          </a:p>
        </p:txBody>
      </p:sp>
      <p:sp>
        <p:nvSpPr>
          <p:cNvPr id="50179" name="Oval 3"/>
          <p:cNvSpPr>
            <a:spLocks noChangeArrowheads="1"/>
          </p:cNvSpPr>
          <p:nvPr/>
        </p:nvSpPr>
        <p:spPr bwMode="auto">
          <a:xfrm>
            <a:off x="3048000" y="2362200"/>
            <a:ext cx="1066800" cy="6858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1|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0180" name="Oval 4"/>
          <p:cNvSpPr>
            <a:spLocks noChangeArrowheads="1"/>
          </p:cNvSpPr>
          <p:nvPr/>
        </p:nvSpPr>
        <p:spPr bwMode="auto">
          <a:xfrm>
            <a:off x="5715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0181" name="Oval 5"/>
          <p:cNvSpPr>
            <a:spLocks noChangeArrowheads="1"/>
          </p:cNvSpPr>
          <p:nvPr/>
        </p:nvSpPr>
        <p:spPr bwMode="auto">
          <a:xfrm>
            <a:off x="8382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0182" name="Oval 6"/>
          <p:cNvSpPr>
            <a:spLocks noChangeArrowheads="1"/>
          </p:cNvSpPr>
          <p:nvPr/>
        </p:nvSpPr>
        <p:spPr bwMode="auto">
          <a:xfrm>
            <a:off x="8382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0183" name="Oval 7"/>
          <p:cNvSpPr>
            <a:spLocks noChangeArrowheads="1"/>
          </p:cNvSpPr>
          <p:nvPr/>
        </p:nvSpPr>
        <p:spPr bwMode="auto">
          <a:xfrm>
            <a:off x="5715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5|6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0184" name="Oval 8"/>
          <p:cNvSpPr>
            <a:spLocks noChangeArrowheads="1"/>
          </p:cNvSpPr>
          <p:nvPr/>
        </p:nvSpPr>
        <p:spPr bwMode="auto">
          <a:xfrm>
            <a:off x="3048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3|4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0185" name="Oval 9"/>
          <p:cNvSpPr>
            <a:spLocks noChangeArrowheads="1"/>
          </p:cNvSpPr>
          <p:nvPr/>
        </p:nvSpPr>
        <p:spPr bwMode="auto">
          <a:xfrm>
            <a:off x="1752600" y="3505200"/>
            <a:ext cx="1066800" cy="6858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2|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0186" name="Oval 10"/>
          <p:cNvSpPr>
            <a:spLocks noChangeArrowheads="1"/>
          </p:cNvSpPr>
          <p:nvPr/>
        </p:nvSpPr>
        <p:spPr bwMode="auto">
          <a:xfrm>
            <a:off x="7086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cxnSp>
        <p:nvCxnSpPr>
          <p:cNvPr id="50187" name="AutoShape 11"/>
          <p:cNvCxnSpPr>
            <a:cxnSpLocks noChangeShapeType="1"/>
            <a:stCxn id="50179" idx="3"/>
            <a:endCxn id="50185" idx="7"/>
          </p:cNvCxnSpPr>
          <p:nvPr/>
        </p:nvCxnSpPr>
        <p:spPr bwMode="auto">
          <a:xfrm flipH="1">
            <a:off x="266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88" name="AutoShape 12"/>
          <p:cNvCxnSpPr>
            <a:cxnSpLocks noChangeShapeType="1"/>
            <a:stCxn id="50185" idx="5"/>
            <a:endCxn id="50184" idx="1"/>
          </p:cNvCxnSpPr>
          <p:nvPr/>
        </p:nvCxnSpPr>
        <p:spPr bwMode="auto">
          <a:xfrm>
            <a:off x="2663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89" name="AutoShape 13"/>
          <p:cNvCxnSpPr>
            <a:cxnSpLocks noChangeShapeType="1"/>
            <a:stCxn id="50185" idx="6"/>
            <a:endCxn id="50183" idx="1"/>
          </p:cNvCxnSpPr>
          <p:nvPr/>
        </p:nvCxnSpPr>
        <p:spPr bwMode="auto">
          <a:xfrm>
            <a:off x="2833689" y="3848101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0" name="AutoShape 14"/>
          <p:cNvCxnSpPr>
            <a:cxnSpLocks noChangeShapeType="1"/>
            <a:stCxn id="50183" idx="2"/>
            <a:endCxn id="50184" idx="6"/>
          </p:cNvCxnSpPr>
          <p:nvPr/>
        </p:nvCxnSpPr>
        <p:spPr bwMode="auto">
          <a:xfrm flipH="1">
            <a:off x="4129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1" name="AutoShape 15"/>
          <p:cNvCxnSpPr>
            <a:cxnSpLocks noChangeShapeType="1"/>
            <a:stCxn id="50184" idx="0"/>
            <a:endCxn id="50179" idx="4"/>
          </p:cNvCxnSpPr>
          <p:nvPr/>
        </p:nvCxnSpPr>
        <p:spPr bwMode="auto">
          <a:xfrm flipV="1">
            <a:off x="3581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2" name="AutoShape 16"/>
          <p:cNvCxnSpPr>
            <a:cxnSpLocks noChangeShapeType="1"/>
            <a:stCxn id="50179" idx="5"/>
            <a:endCxn id="50183" idx="1"/>
          </p:cNvCxnSpPr>
          <p:nvPr/>
        </p:nvCxnSpPr>
        <p:spPr bwMode="auto">
          <a:xfrm>
            <a:off x="3959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3" name="AutoShape 17"/>
          <p:cNvCxnSpPr>
            <a:cxnSpLocks noChangeShapeType="1"/>
            <a:stCxn id="50180" idx="4"/>
            <a:endCxn id="50183" idx="0"/>
          </p:cNvCxnSpPr>
          <p:nvPr/>
        </p:nvCxnSpPr>
        <p:spPr bwMode="auto">
          <a:xfrm>
            <a:off x="6248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4" name="AutoShape 18"/>
          <p:cNvCxnSpPr>
            <a:cxnSpLocks noChangeShapeType="1"/>
            <a:stCxn id="50179" idx="6"/>
            <a:endCxn id="50180" idx="2"/>
          </p:cNvCxnSpPr>
          <p:nvPr/>
        </p:nvCxnSpPr>
        <p:spPr bwMode="auto">
          <a:xfrm>
            <a:off x="4129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5" name="AutoShape 19"/>
          <p:cNvCxnSpPr>
            <a:cxnSpLocks noChangeShapeType="1"/>
            <a:stCxn id="50181" idx="2"/>
            <a:endCxn id="50180" idx="6"/>
          </p:cNvCxnSpPr>
          <p:nvPr/>
        </p:nvCxnSpPr>
        <p:spPr bwMode="auto">
          <a:xfrm flipH="1">
            <a:off x="6796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6" name="AutoShape 20"/>
          <p:cNvCxnSpPr>
            <a:cxnSpLocks noChangeShapeType="1"/>
            <a:stCxn id="50180" idx="5"/>
            <a:endCxn id="50186" idx="1"/>
          </p:cNvCxnSpPr>
          <p:nvPr/>
        </p:nvCxnSpPr>
        <p:spPr bwMode="auto">
          <a:xfrm>
            <a:off x="6626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7" name="AutoShape 21"/>
          <p:cNvCxnSpPr>
            <a:cxnSpLocks noChangeShapeType="1"/>
            <a:stCxn id="50181" idx="3"/>
            <a:endCxn id="50186" idx="7"/>
          </p:cNvCxnSpPr>
          <p:nvPr/>
        </p:nvCxnSpPr>
        <p:spPr bwMode="auto">
          <a:xfrm flipH="1">
            <a:off x="7997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8" name="AutoShape 22"/>
          <p:cNvCxnSpPr>
            <a:cxnSpLocks noChangeShapeType="1"/>
            <a:stCxn id="50181" idx="4"/>
            <a:endCxn id="50182" idx="0"/>
          </p:cNvCxnSpPr>
          <p:nvPr/>
        </p:nvCxnSpPr>
        <p:spPr bwMode="auto">
          <a:xfrm>
            <a:off x="8915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9" name="AutoShape 23"/>
          <p:cNvCxnSpPr>
            <a:cxnSpLocks noChangeShapeType="1"/>
            <a:stCxn id="50182" idx="2"/>
            <a:endCxn id="50183" idx="6"/>
          </p:cNvCxnSpPr>
          <p:nvPr/>
        </p:nvCxnSpPr>
        <p:spPr bwMode="auto">
          <a:xfrm flipH="1">
            <a:off x="6796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200" name="AutoShape 24"/>
          <p:cNvCxnSpPr>
            <a:cxnSpLocks noChangeShapeType="1"/>
            <a:stCxn id="50186" idx="3"/>
            <a:endCxn id="50183" idx="7"/>
          </p:cNvCxnSpPr>
          <p:nvPr/>
        </p:nvCxnSpPr>
        <p:spPr bwMode="auto">
          <a:xfrm flipH="1">
            <a:off x="6626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201" name="Line 25"/>
          <p:cNvSpPr>
            <a:spLocks noChangeShapeType="1"/>
          </p:cNvSpPr>
          <p:nvPr/>
        </p:nvSpPr>
        <p:spPr bwMode="auto">
          <a:xfrm>
            <a:off x="1981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02" name="Text Box 26"/>
          <p:cNvSpPr txBox="1">
            <a:spLocks noChangeArrowheads="1"/>
          </p:cNvSpPr>
          <p:nvPr/>
        </p:nvSpPr>
        <p:spPr bwMode="auto">
          <a:xfrm>
            <a:off x="1600201" y="1447801"/>
            <a:ext cx="8747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50203" name="Oval 27"/>
          <p:cNvSpPr>
            <a:spLocks noChangeArrowheads="1"/>
          </p:cNvSpPr>
          <p:nvPr/>
        </p:nvSpPr>
        <p:spPr bwMode="auto">
          <a:xfrm>
            <a:off x="3048000" y="1828800"/>
            <a:ext cx="1066800" cy="685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i="1">
                <a:latin typeface="Times New Roman" panose="02020603050405020304" pitchFamily="18" charset="0"/>
              </a:rPr>
              <a:t>d      f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10047866" y="136525"/>
            <a:ext cx="1918323" cy="3140075"/>
            <a:chOff x="152400" y="1676401"/>
            <a:chExt cx="1918323" cy="3140075"/>
          </a:xfrm>
        </p:grpSpPr>
        <p:sp>
          <p:nvSpPr>
            <p:cNvPr id="29" name="Oval 3"/>
            <p:cNvSpPr>
              <a:spLocks noChangeArrowheads="1"/>
            </p:cNvSpPr>
            <p:nvPr/>
          </p:nvSpPr>
          <p:spPr bwMode="auto">
            <a:xfrm>
              <a:off x="366715" y="1752600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70000"/>
                </a:lnSpc>
              </a:pPr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" name="Oval 5"/>
            <p:cNvSpPr>
              <a:spLocks noChangeArrowheads="1"/>
            </p:cNvSpPr>
            <p:nvPr/>
          </p:nvSpPr>
          <p:spPr bwMode="auto">
            <a:xfrm>
              <a:off x="366715" y="2850518"/>
              <a:ext cx="762000" cy="76200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1" name="Oval 5"/>
            <p:cNvSpPr>
              <a:spLocks noChangeArrowheads="1"/>
            </p:cNvSpPr>
            <p:nvPr/>
          </p:nvSpPr>
          <p:spPr bwMode="auto">
            <a:xfrm>
              <a:off x="350520" y="4023360"/>
              <a:ext cx="762000" cy="76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356360" y="2133600"/>
              <a:ext cx="714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white</a:t>
              </a:r>
              <a:endParaRPr lang="en-US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356360" y="3091935"/>
              <a:ext cx="588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grey</a:t>
              </a:r>
              <a:endParaRPr lang="en-US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350965" y="4234934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black</a:t>
              </a:r>
              <a:endParaRPr lang="en-US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52400" y="1676401"/>
              <a:ext cx="1918323" cy="3140075"/>
            </a:xfrm>
            <a:prstGeom prst="rect">
              <a:avLst/>
            </a:prstGeom>
            <a:noFill/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43099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DFS Example</a:t>
            </a:r>
          </a:p>
        </p:txBody>
      </p:sp>
      <p:sp>
        <p:nvSpPr>
          <p:cNvPr id="51203" name="Oval 3"/>
          <p:cNvSpPr>
            <a:spLocks noChangeArrowheads="1"/>
          </p:cNvSpPr>
          <p:nvPr/>
        </p:nvSpPr>
        <p:spPr bwMode="auto">
          <a:xfrm>
            <a:off x="3048000" y="2362200"/>
            <a:ext cx="1066800" cy="6858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1|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1204" name="Oval 5"/>
          <p:cNvSpPr>
            <a:spLocks noChangeArrowheads="1"/>
          </p:cNvSpPr>
          <p:nvPr/>
        </p:nvSpPr>
        <p:spPr bwMode="auto">
          <a:xfrm>
            <a:off x="8382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1205" name="Oval 6"/>
          <p:cNvSpPr>
            <a:spLocks noChangeArrowheads="1"/>
          </p:cNvSpPr>
          <p:nvPr/>
        </p:nvSpPr>
        <p:spPr bwMode="auto">
          <a:xfrm>
            <a:off x="8382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1206" name="Oval 7"/>
          <p:cNvSpPr>
            <a:spLocks noChangeArrowheads="1"/>
          </p:cNvSpPr>
          <p:nvPr/>
        </p:nvSpPr>
        <p:spPr bwMode="auto">
          <a:xfrm>
            <a:off x="5715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5|6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1207" name="Oval 8"/>
          <p:cNvSpPr>
            <a:spLocks noChangeArrowheads="1"/>
          </p:cNvSpPr>
          <p:nvPr/>
        </p:nvSpPr>
        <p:spPr bwMode="auto">
          <a:xfrm>
            <a:off x="3048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3|4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1208" name="Oval 9"/>
          <p:cNvSpPr>
            <a:spLocks noChangeArrowheads="1"/>
          </p:cNvSpPr>
          <p:nvPr/>
        </p:nvSpPr>
        <p:spPr bwMode="auto">
          <a:xfrm>
            <a:off x="1752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2|7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1209" name="Oval 10"/>
          <p:cNvSpPr>
            <a:spLocks noChangeArrowheads="1"/>
          </p:cNvSpPr>
          <p:nvPr/>
        </p:nvSpPr>
        <p:spPr bwMode="auto">
          <a:xfrm>
            <a:off x="7086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cxnSp>
        <p:nvCxnSpPr>
          <p:cNvPr id="51210" name="AutoShape 11"/>
          <p:cNvCxnSpPr>
            <a:cxnSpLocks noChangeShapeType="1"/>
            <a:stCxn id="51203" idx="3"/>
            <a:endCxn id="51208" idx="7"/>
          </p:cNvCxnSpPr>
          <p:nvPr/>
        </p:nvCxnSpPr>
        <p:spPr bwMode="auto">
          <a:xfrm flipH="1">
            <a:off x="266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1" name="AutoShape 12"/>
          <p:cNvCxnSpPr>
            <a:cxnSpLocks noChangeShapeType="1"/>
            <a:stCxn id="51208" idx="5"/>
            <a:endCxn id="51207" idx="1"/>
          </p:cNvCxnSpPr>
          <p:nvPr/>
        </p:nvCxnSpPr>
        <p:spPr bwMode="auto">
          <a:xfrm>
            <a:off x="2663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2" name="AutoShape 13"/>
          <p:cNvCxnSpPr>
            <a:cxnSpLocks noChangeShapeType="1"/>
            <a:stCxn id="51208" idx="6"/>
            <a:endCxn id="51206" idx="1"/>
          </p:cNvCxnSpPr>
          <p:nvPr/>
        </p:nvCxnSpPr>
        <p:spPr bwMode="auto">
          <a:xfrm>
            <a:off x="2833689" y="3848101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3" name="AutoShape 14"/>
          <p:cNvCxnSpPr>
            <a:cxnSpLocks noChangeShapeType="1"/>
            <a:stCxn id="51206" idx="2"/>
            <a:endCxn id="51207" idx="6"/>
          </p:cNvCxnSpPr>
          <p:nvPr/>
        </p:nvCxnSpPr>
        <p:spPr bwMode="auto">
          <a:xfrm flipH="1">
            <a:off x="4129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4" name="AutoShape 15"/>
          <p:cNvCxnSpPr>
            <a:cxnSpLocks noChangeShapeType="1"/>
            <a:stCxn id="51207" idx="0"/>
            <a:endCxn id="51203" idx="4"/>
          </p:cNvCxnSpPr>
          <p:nvPr/>
        </p:nvCxnSpPr>
        <p:spPr bwMode="auto">
          <a:xfrm flipV="1">
            <a:off x="3581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5" name="AutoShape 16"/>
          <p:cNvCxnSpPr>
            <a:cxnSpLocks noChangeShapeType="1"/>
            <a:stCxn id="51203" idx="5"/>
            <a:endCxn id="51206" idx="1"/>
          </p:cNvCxnSpPr>
          <p:nvPr/>
        </p:nvCxnSpPr>
        <p:spPr bwMode="auto">
          <a:xfrm>
            <a:off x="3959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6" name="AutoShape 17"/>
          <p:cNvCxnSpPr>
            <a:cxnSpLocks noChangeShapeType="1"/>
            <a:endCxn id="51206" idx="0"/>
          </p:cNvCxnSpPr>
          <p:nvPr/>
        </p:nvCxnSpPr>
        <p:spPr bwMode="auto">
          <a:xfrm>
            <a:off x="6248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7" name="AutoShape 19"/>
          <p:cNvCxnSpPr>
            <a:cxnSpLocks noChangeShapeType="1"/>
            <a:stCxn id="51204" idx="2"/>
          </p:cNvCxnSpPr>
          <p:nvPr/>
        </p:nvCxnSpPr>
        <p:spPr bwMode="auto">
          <a:xfrm flipH="1">
            <a:off x="6796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8" name="AutoShape 20"/>
          <p:cNvCxnSpPr>
            <a:cxnSpLocks noChangeShapeType="1"/>
            <a:endCxn id="51209" idx="1"/>
          </p:cNvCxnSpPr>
          <p:nvPr/>
        </p:nvCxnSpPr>
        <p:spPr bwMode="auto">
          <a:xfrm>
            <a:off x="6626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9" name="AutoShape 21"/>
          <p:cNvCxnSpPr>
            <a:cxnSpLocks noChangeShapeType="1"/>
            <a:stCxn id="51204" idx="3"/>
            <a:endCxn id="51209" idx="7"/>
          </p:cNvCxnSpPr>
          <p:nvPr/>
        </p:nvCxnSpPr>
        <p:spPr bwMode="auto">
          <a:xfrm flipH="1">
            <a:off x="7997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20" name="AutoShape 22"/>
          <p:cNvCxnSpPr>
            <a:cxnSpLocks noChangeShapeType="1"/>
            <a:stCxn id="51204" idx="4"/>
            <a:endCxn id="51205" idx="0"/>
          </p:cNvCxnSpPr>
          <p:nvPr/>
        </p:nvCxnSpPr>
        <p:spPr bwMode="auto">
          <a:xfrm>
            <a:off x="8915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21" name="AutoShape 23"/>
          <p:cNvCxnSpPr>
            <a:cxnSpLocks noChangeShapeType="1"/>
            <a:stCxn id="51205" idx="2"/>
            <a:endCxn id="51206" idx="6"/>
          </p:cNvCxnSpPr>
          <p:nvPr/>
        </p:nvCxnSpPr>
        <p:spPr bwMode="auto">
          <a:xfrm flipH="1">
            <a:off x="6796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22" name="AutoShape 24"/>
          <p:cNvCxnSpPr>
            <a:cxnSpLocks noChangeShapeType="1"/>
            <a:stCxn id="51209" idx="3"/>
            <a:endCxn id="51206" idx="7"/>
          </p:cNvCxnSpPr>
          <p:nvPr/>
        </p:nvCxnSpPr>
        <p:spPr bwMode="auto">
          <a:xfrm flipH="1">
            <a:off x="6626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223" name="Line 25"/>
          <p:cNvSpPr>
            <a:spLocks noChangeShapeType="1"/>
          </p:cNvSpPr>
          <p:nvPr/>
        </p:nvSpPr>
        <p:spPr bwMode="auto">
          <a:xfrm>
            <a:off x="1981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24" name="Text Box 26"/>
          <p:cNvSpPr txBox="1">
            <a:spLocks noChangeArrowheads="1"/>
          </p:cNvSpPr>
          <p:nvPr/>
        </p:nvSpPr>
        <p:spPr bwMode="auto">
          <a:xfrm>
            <a:off x="1600201" y="1447801"/>
            <a:ext cx="8747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51225" name="Oval 27"/>
          <p:cNvSpPr>
            <a:spLocks noChangeArrowheads="1"/>
          </p:cNvSpPr>
          <p:nvPr/>
        </p:nvSpPr>
        <p:spPr bwMode="auto">
          <a:xfrm>
            <a:off x="3048000" y="1828800"/>
            <a:ext cx="1066800" cy="685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i="1">
                <a:latin typeface="Times New Roman" panose="02020603050405020304" pitchFamily="18" charset="0"/>
              </a:rPr>
              <a:t>d      f</a:t>
            </a:r>
          </a:p>
        </p:txBody>
      </p:sp>
      <p:sp>
        <p:nvSpPr>
          <p:cNvPr id="51226" name="Oval 28"/>
          <p:cNvSpPr>
            <a:spLocks noChangeArrowheads="1"/>
          </p:cNvSpPr>
          <p:nvPr/>
        </p:nvSpPr>
        <p:spPr bwMode="auto">
          <a:xfrm>
            <a:off x="5715000" y="2357438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cxnSp>
        <p:nvCxnSpPr>
          <p:cNvPr id="51227" name="AutoShape 29"/>
          <p:cNvCxnSpPr>
            <a:cxnSpLocks noChangeShapeType="1"/>
            <a:endCxn id="51226" idx="2"/>
          </p:cNvCxnSpPr>
          <p:nvPr/>
        </p:nvCxnSpPr>
        <p:spPr bwMode="auto">
          <a:xfrm>
            <a:off x="4129089" y="2700338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8" name="Group 27"/>
          <p:cNvGrpSpPr/>
          <p:nvPr/>
        </p:nvGrpSpPr>
        <p:grpSpPr>
          <a:xfrm>
            <a:off x="10047866" y="136525"/>
            <a:ext cx="1918323" cy="3140075"/>
            <a:chOff x="152400" y="1676401"/>
            <a:chExt cx="1918323" cy="3140075"/>
          </a:xfrm>
        </p:grpSpPr>
        <p:sp>
          <p:nvSpPr>
            <p:cNvPr id="29" name="Oval 3"/>
            <p:cNvSpPr>
              <a:spLocks noChangeArrowheads="1"/>
            </p:cNvSpPr>
            <p:nvPr/>
          </p:nvSpPr>
          <p:spPr bwMode="auto">
            <a:xfrm>
              <a:off x="366715" y="1752600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70000"/>
                </a:lnSpc>
              </a:pPr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" name="Oval 5"/>
            <p:cNvSpPr>
              <a:spLocks noChangeArrowheads="1"/>
            </p:cNvSpPr>
            <p:nvPr/>
          </p:nvSpPr>
          <p:spPr bwMode="auto">
            <a:xfrm>
              <a:off x="366715" y="2850518"/>
              <a:ext cx="762000" cy="76200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1" name="Oval 5"/>
            <p:cNvSpPr>
              <a:spLocks noChangeArrowheads="1"/>
            </p:cNvSpPr>
            <p:nvPr/>
          </p:nvSpPr>
          <p:spPr bwMode="auto">
            <a:xfrm>
              <a:off x="350520" y="4023360"/>
              <a:ext cx="762000" cy="76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356360" y="2133600"/>
              <a:ext cx="714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white</a:t>
              </a:r>
              <a:endParaRPr lang="en-US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356360" y="3091935"/>
              <a:ext cx="588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grey</a:t>
              </a:r>
              <a:endParaRPr lang="en-US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350965" y="4234934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black</a:t>
              </a:r>
              <a:endParaRPr lang="en-US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52400" y="1676401"/>
              <a:ext cx="1918323" cy="3140075"/>
            </a:xfrm>
            <a:prstGeom prst="rect">
              <a:avLst/>
            </a:prstGeom>
            <a:noFill/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93469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DFS Example</a:t>
            </a:r>
          </a:p>
        </p:txBody>
      </p:sp>
      <p:sp>
        <p:nvSpPr>
          <p:cNvPr id="52227" name="Oval 3"/>
          <p:cNvSpPr>
            <a:spLocks noChangeArrowheads="1"/>
          </p:cNvSpPr>
          <p:nvPr/>
        </p:nvSpPr>
        <p:spPr bwMode="auto">
          <a:xfrm>
            <a:off x="3048000" y="2362200"/>
            <a:ext cx="1066800" cy="6858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1|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2228" name="Oval 4"/>
          <p:cNvSpPr>
            <a:spLocks noChangeArrowheads="1"/>
          </p:cNvSpPr>
          <p:nvPr/>
        </p:nvSpPr>
        <p:spPr bwMode="auto">
          <a:xfrm>
            <a:off x="5715000" y="2362200"/>
            <a:ext cx="1066800" cy="6858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8|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2229" name="Oval 5"/>
          <p:cNvSpPr>
            <a:spLocks noChangeArrowheads="1"/>
          </p:cNvSpPr>
          <p:nvPr/>
        </p:nvSpPr>
        <p:spPr bwMode="auto">
          <a:xfrm>
            <a:off x="8382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2230" name="Oval 6"/>
          <p:cNvSpPr>
            <a:spLocks noChangeArrowheads="1"/>
          </p:cNvSpPr>
          <p:nvPr/>
        </p:nvSpPr>
        <p:spPr bwMode="auto">
          <a:xfrm>
            <a:off x="8382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2231" name="Oval 7"/>
          <p:cNvSpPr>
            <a:spLocks noChangeArrowheads="1"/>
          </p:cNvSpPr>
          <p:nvPr/>
        </p:nvSpPr>
        <p:spPr bwMode="auto">
          <a:xfrm>
            <a:off x="5715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5|6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2232" name="Oval 8"/>
          <p:cNvSpPr>
            <a:spLocks noChangeArrowheads="1"/>
          </p:cNvSpPr>
          <p:nvPr/>
        </p:nvSpPr>
        <p:spPr bwMode="auto">
          <a:xfrm>
            <a:off x="3048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3|4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2233" name="Oval 9"/>
          <p:cNvSpPr>
            <a:spLocks noChangeArrowheads="1"/>
          </p:cNvSpPr>
          <p:nvPr/>
        </p:nvSpPr>
        <p:spPr bwMode="auto">
          <a:xfrm>
            <a:off x="1752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2|7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2234" name="Oval 10"/>
          <p:cNvSpPr>
            <a:spLocks noChangeArrowheads="1"/>
          </p:cNvSpPr>
          <p:nvPr/>
        </p:nvSpPr>
        <p:spPr bwMode="auto">
          <a:xfrm>
            <a:off x="7086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cxnSp>
        <p:nvCxnSpPr>
          <p:cNvPr id="52235" name="AutoShape 11"/>
          <p:cNvCxnSpPr>
            <a:cxnSpLocks noChangeShapeType="1"/>
            <a:stCxn id="52227" idx="3"/>
            <a:endCxn id="52233" idx="7"/>
          </p:cNvCxnSpPr>
          <p:nvPr/>
        </p:nvCxnSpPr>
        <p:spPr bwMode="auto">
          <a:xfrm flipH="1">
            <a:off x="266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36" name="AutoShape 12"/>
          <p:cNvCxnSpPr>
            <a:cxnSpLocks noChangeShapeType="1"/>
            <a:stCxn id="52233" idx="5"/>
            <a:endCxn id="52232" idx="1"/>
          </p:cNvCxnSpPr>
          <p:nvPr/>
        </p:nvCxnSpPr>
        <p:spPr bwMode="auto">
          <a:xfrm>
            <a:off x="2663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37" name="AutoShape 13"/>
          <p:cNvCxnSpPr>
            <a:cxnSpLocks noChangeShapeType="1"/>
            <a:stCxn id="52233" idx="6"/>
            <a:endCxn id="52231" idx="1"/>
          </p:cNvCxnSpPr>
          <p:nvPr/>
        </p:nvCxnSpPr>
        <p:spPr bwMode="auto">
          <a:xfrm>
            <a:off x="2833689" y="3848101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38" name="AutoShape 14"/>
          <p:cNvCxnSpPr>
            <a:cxnSpLocks noChangeShapeType="1"/>
            <a:stCxn id="52231" idx="2"/>
            <a:endCxn id="52232" idx="6"/>
          </p:cNvCxnSpPr>
          <p:nvPr/>
        </p:nvCxnSpPr>
        <p:spPr bwMode="auto">
          <a:xfrm flipH="1">
            <a:off x="4129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39" name="AutoShape 15"/>
          <p:cNvCxnSpPr>
            <a:cxnSpLocks noChangeShapeType="1"/>
            <a:stCxn id="52232" idx="0"/>
            <a:endCxn id="52227" idx="4"/>
          </p:cNvCxnSpPr>
          <p:nvPr/>
        </p:nvCxnSpPr>
        <p:spPr bwMode="auto">
          <a:xfrm flipV="1">
            <a:off x="3581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40" name="AutoShape 16"/>
          <p:cNvCxnSpPr>
            <a:cxnSpLocks noChangeShapeType="1"/>
            <a:stCxn id="52227" idx="5"/>
            <a:endCxn id="52231" idx="1"/>
          </p:cNvCxnSpPr>
          <p:nvPr/>
        </p:nvCxnSpPr>
        <p:spPr bwMode="auto">
          <a:xfrm>
            <a:off x="3959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41" name="AutoShape 17"/>
          <p:cNvCxnSpPr>
            <a:cxnSpLocks noChangeShapeType="1"/>
            <a:stCxn id="52228" idx="4"/>
            <a:endCxn id="52231" idx="0"/>
          </p:cNvCxnSpPr>
          <p:nvPr/>
        </p:nvCxnSpPr>
        <p:spPr bwMode="auto">
          <a:xfrm>
            <a:off x="6248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42" name="AutoShape 18"/>
          <p:cNvCxnSpPr>
            <a:cxnSpLocks noChangeShapeType="1"/>
            <a:stCxn id="52227" idx="6"/>
            <a:endCxn id="52228" idx="2"/>
          </p:cNvCxnSpPr>
          <p:nvPr/>
        </p:nvCxnSpPr>
        <p:spPr bwMode="auto">
          <a:xfrm>
            <a:off x="4129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43" name="AutoShape 19"/>
          <p:cNvCxnSpPr>
            <a:cxnSpLocks noChangeShapeType="1"/>
            <a:stCxn id="52229" idx="2"/>
            <a:endCxn id="52228" idx="6"/>
          </p:cNvCxnSpPr>
          <p:nvPr/>
        </p:nvCxnSpPr>
        <p:spPr bwMode="auto">
          <a:xfrm flipH="1">
            <a:off x="6796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44" name="AutoShape 20"/>
          <p:cNvCxnSpPr>
            <a:cxnSpLocks noChangeShapeType="1"/>
            <a:stCxn id="52228" idx="5"/>
            <a:endCxn id="52234" idx="1"/>
          </p:cNvCxnSpPr>
          <p:nvPr/>
        </p:nvCxnSpPr>
        <p:spPr bwMode="auto">
          <a:xfrm>
            <a:off x="6626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45" name="AutoShape 21"/>
          <p:cNvCxnSpPr>
            <a:cxnSpLocks noChangeShapeType="1"/>
            <a:stCxn id="52229" idx="3"/>
            <a:endCxn id="52234" idx="7"/>
          </p:cNvCxnSpPr>
          <p:nvPr/>
        </p:nvCxnSpPr>
        <p:spPr bwMode="auto">
          <a:xfrm flipH="1">
            <a:off x="7997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46" name="AutoShape 22"/>
          <p:cNvCxnSpPr>
            <a:cxnSpLocks noChangeShapeType="1"/>
            <a:stCxn id="52229" idx="4"/>
            <a:endCxn id="52230" idx="0"/>
          </p:cNvCxnSpPr>
          <p:nvPr/>
        </p:nvCxnSpPr>
        <p:spPr bwMode="auto">
          <a:xfrm>
            <a:off x="8915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47" name="AutoShape 23"/>
          <p:cNvCxnSpPr>
            <a:cxnSpLocks noChangeShapeType="1"/>
            <a:stCxn id="52230" idx="2"/>
            <a:endCxn id="52231" idx="6"/>
          </p:cNvCxnSpPr>
          <p:nvPr/>
        </p:nvCxnSpPr>
        <p:spPr bwMode="auto">
          <a:xfrm flipH="1">
            <a:off x="6796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48" name="AutoShape 24"/>
          <p:cNvCxnSpPr>
            <a:cxnSpLocks noChangeShapeType="1"/>
            <a:stCxn id="52234" idx="3"/>
            <a:endCxn id="52231" idx="7"/>
          </p:cNvCxnSpPr>
          <p:nvPr/>
        </p:nvCxnSpPr>
        <p:spPr bwMode="auto">
          <a:xfrm flipH="1">
            <a:off x="6626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2249" name="Line 25"/>
          <p:cNvSpPr>
            <a:spLocks noChangeShapeType="1"/>
          </p:cNvSpPr>
          <p:nvPr/>
        </p:nvSpPr>
        <p:spPr bwMode="auto">
          <a:xfrm>
            <a:off x="1981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50" name="Text Box 26"/>
          <p:cNvSpPr txBox="1">
            <a:spLocks noChangeArrowheads="1"/>
          </p:cNvSpPr>
          <p:nvPr/>
        </p:nvSpPr>
        <p:spPr bwMode="auto">
          <a:xfrm>
            <a:off x="1600201" y="1447801"/>
            <a:ext cx="8747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52251" name="Oval 27"/>
          <p:cNvSpPr>
            <a:spLocks noChangeArrowheads="1"/>
          </p:cNvSpPr>
          <p:nvPr/>
        </p:nvSpPr>
        <p:spPr bwMode="auto">
          <a:xfrm>
            <a:off x="3048000" y="1828800"/>
            <a:ext cx="1066800" cy="685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i="1">
                <a:latin typeface="Times New Roman" panose="02020603050405020304" pitchFamily="18" charset="0"/>
              </a:rPr>
              <a:t>d      f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10047866" y="136525"/>
            <a:ext cx="1918323" cy="3140075"/>
            <a:chOff x="152400" y="1676401"/>
            <a:chExt cx="1918323" cy="3140075"/>
          </a:xfrm>
        </p:grpSpPr>
        <p:sp>
          <p:nvSpPr>
            <p:cNvPr id="29" name="Oval 3"/>
            <p:cNvSpPr>
              <a:spLocks noChangeArrowheads="1"/>
            </p:cNvSpPr>
            <p:nvPr/>
          </p:nvSpPr>
          <p:spPr bwMode="auto">
            <a:xfrm>
              <a:off x="366715" y="1752600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70000"/>
                </a:lnSpc>
              </a:pPr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" name="Oval 5"/>
            <p:cNvSpPr>
              <a:spLocks noChangeArrowheads="1"/>
            </p:cNvSpPr>
            <p:nvPr/>
          </p:nvSpPr>
          <p:spPr bwMode="auto">
            <a:xfrm>
              <a:off x="366715" y="2850518"/>
              <a:ext cx="762000" cy="76200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1" name="Oval 5"/>
            <p:cNvSpPr>
              <a:spLocks noChangeArrowheads="1"/>
            </p:cNvSpPr>
            <p:nvPr/>
          </p:nvSpPr>
          <p:spPr bwMode="auto">
            <a:xfrm>
              <a:off x="350520" y="4023360"/>
              <a:ext cx="762000" cy="76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356360" y="2133600"/>
              <a:ext cx="714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white</a:t>
              </a:r>
              <a:endParaRPr lang="en-US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356360" y="3091935"/>
              <a:ext cx="588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grey</a:t>
              </a:r>
              <a:endParaRPr lang="en-US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350965" y="4234934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black</a:t>
              </a:r>
              <a:endParaRPr lang="en-US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52400" y="1676401"/>
              <a:ext cx="1918323" cy="3140075"/>
            </a:xfrm>
            <a:prstGeom prst="rect">
              <a:avLst/>
            </a:prstGeom>
            <a:noFill/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3292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DFS Example</a:t>
            </a:r>
          </a:p>
        </p:txBody>
      </p:sp>
      <p:sp>
        <p:nvSpPr>
          <p:cNvPr id="53251" name="Oval 3"/>
          <p:cNvSpPr>
            <a:spLocks noChangeArrowheads="1"/>
          </p:cNvSpPr>
          <p:nvPr/>
        </p:nvSpPr>
        <p:spPr bwMode="auto">
          <a:xfrm>
            <a:off x="3048000" y="2362200"/>
            <a:ext cx="1066800" cy="6858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1|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3252" name="Oval 4"/>
          <p:cNvSpPr>
            <a:spLocks noChangeArrowheads="1"/>
          </p:cNvSpPr>
          <p:nvPr/>
        </p:nvSpPr>
        <p:spPr bwMode="auto">
          <a:xfrm>
            <a:off x="5715000" y="2362200"/>
            <a:ext cx="1066800" cy="6858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8|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3253" name="Oval 5"/>
          <p:cNvSpPr>
            <a:spLocks noChangeArrowheads="1"/>
          </p:cNvSpPr>
          <p:nvPr/>
        </p:nvSpPr>
        <p:spPr bwMode="auto">
          <a:xfrm>
            <a:off x="8382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3254" name="Oval 6"/>
          <p:cNvSpPr>
            <a:spLocks noChangeArrowheads="1"/>
          </p:cNvSpPr>
          <p:nvPr/>
        </p:nvSpPr>
        <p:spPr bwMode="auto">
          <a:xfrm>
            <a:off x="8382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3255" name="Oval 7"/>
          <p:cNvSpPr>
            <a:spLocks noChangeArrowheads="1"/>
          </p:cNvSpPr>
          <p:nvPr/>
        </p:nvSpPr>
        <p:spPr bwMode="auto">
          <a:xfrm>
            <a:off x="5715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5|6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3256" name="Oval 8"/>
          <p:cNvSpPr>
            <a:spLocks noChangeArrowheads="1"/>
          </p:cNvSpPr>
          <p:nvPr/>
        </p:nvSpPr>
        <p:spPr bwMode="auto">
          <a:xfrm>
            <a:off x="3048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3|4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3257" name="Oval 9"/>
          <p:cNvSpPr>
            <a:spLocks noChangeArrowheads="1"/>
          </p:cNvSpPr>
          <p:nvPr/>
        </p:nvSpPr>
        <p:spPr bwMode="auto">
          <a:xfrm>
            <a:off x="1752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2|7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3258" name="Oval 10"/>
          <p:cNvSpPr>
            <a:spLocks noChangeArrowheads="1"/>
          </p:cNvSpPr>
          <p:nvPr/>
        </p:nvSpPr>
        <p:spPr bwMode="auto">
          <a:xfrm>
            <a:off x="7086600" y="3505200"/>
            <a:ext cx="1066800" cy="6858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9|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cxnSp>
        <p:nvCxnSpPr>
          <p:cNvPr id="53259" name="AutoShape 11"/>
          <p:cNvCxnSpPr>
            <a:cxnSpLocks noChangeShapeType="1"/>
            <a:stCxn id="53251" idx="3"/>
            <a:endCxn id="53257" idx="7"/>
          </p:cNvCxnSpPr>
          <p:nvPr/>
        </p:nvCxnSpPr>
        <p:spPr bwMode="auto">
          <a:xfrm flipH="1">
            <a:off x="266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60" name="AutoShape 12"/>
          <p:cNvCxnSpPr>
            <a:cxnSpLocks noChangeShapeType="1"/>
            <a:stCxn id="53257" idx="5"/>
            <a:endCxn id="53256" idx="1"/>
          </p:cNvCxnSpPr>
          <p:nvPr/>
        </p:nvCxnSpPr>
        <p:spPr bwMode="auto">
          <a:xfrm>
            <a:off x="2663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61" name="AutoShape 13"/>
          <p:cNvCxnSpPr>
            <a:cxnSpLocks noChangeShapeType="1"/>
            <a:stCxn id="53257" idx="6"/>
            <a:endCxn id="53255" idx="1"/>
          </p:cNvCxnSpPr>
          <p:nvPr/>
        </p:nvCxnSpPr>
        <p:spPr bwMode="auto">
          <a:xfrm>
            <a:off x="2833689" y="3848101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62" name="AutoShape 14"/>
          <p:cNvCxnSpPr>
            <a:cxnSpLocks noChangeShapeType="1"/>
            <a:stCxn id="53255" idx="2"/>
            <a:endCxn id="53256" idx="6"/>
          </p:cNvCxnSpPr>
          <p:nvPr/>
        </p:nvCxnSpPr>
        <p:spPr bwMode="auto">
          <a:xfrm flipH="1">
            <a:off x="4129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63" name="AutoShape 15"/>
          <p:cNvCxnSpPr>
            <a:cxnSpLocks noChangeShapeType="1"/>
            <a:stCxn id="53256" idx="0"/>
            <a:endCxn id="53251" idx="4"/>
          </p:cNvCxnSpPr>
          <p:nvPr/>
        </p:nvCxnSpPr>
        <p:spPr bwMode="auto">
          <a:xfrm flipV="1">
            <a:off x="3581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64" name="AutoShape 16"/>
          <p:cNvCxnSpPr>
            <a:cxnSpLocks noChangeShapeType="1"/>
            <a:stCxn id="53251" idx="5"/>
            <a:endCxn id="53255" idx="1"/>
          </p:cNvCxnSpPr>
          <p:nvPr/>
        </p:nvCxnSpPr>
        <p:spPr bwMode="auto">
          <a:xfrm>
            <a:off x="3959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65" name="AutoShape 17"/>
          <p:cNvCxnSpPr>
            <a:cxnSpLocks noChangeShapeType="1"/>
            <a:stCxn id="53252" idx="4"/>
            <a:endCxn id="53255" idx="0"/>
          </p:cNvCxnSpPr>
          <p:nvPr/>
        </p:nvCxnSpPr>
        <p:spPr bwMode="auto">
          <a:xfrm>
            <a:off x="6248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66" name="AutoShape 18"/>
          <p:cNvCxnSpPr>
            <a:cxnSpLocks noChangeShapeType="1"/>
            <a:stCxn id="53251" idx="6"/>
            <a:endCxn id="53252" idx="2"/>
          </p:cNvCxnSpPr>
          <p:nvPr/>
        </p:nvCxnSpPr>
        <p:spPr bwMode="auto">
          <a:xfrm>
            <a:off x="4129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67" name="AutoShape 19"/>
          <p:cNvCxnSpPr>
            <a:cxnSpLocks noChangeShapeType="1"/>
            <a:stCxn id="53253" idx="2"/>
            <a:endCxn id="53252" idx="6"/>
          </p:cNvCxnSpPr>
          <p:nvPr/>
        </p:nvCxnSpPr>
        <p:spPr bwMode="auto">
          <a:xfrm flipH="1">
            <a:off x="6796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68" name="AutoShape 20"/>
          <p:cNvCxnSpPr>
            <a:cxnSpLocks noChangeShapeType="1"/>
            <a:stCxn id="53252" idx="5"/>
            <a:endCxn id="53258" idx="1"/>
          </p:cNvCxnSpPr>
          <p:nvPr/>
        </p:nvCxnSpPr>
        <p:spPr bwMode="auto">
          <a:xfrm>
            <a:off x="6626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69" name="AutoShape 21"/>
          <p:cNvCxnSpPr>
            <a:cxnSpLocks noChangeShapeType="1"/>
            <a:stCxn id="53253" idx="3"/>
            <a:endCxn id="53258" idx="7"/>
          </p:cNvCxnSpPr>
          <p:nvPr/>
        </p:nvCxnSpPr>
        <p:spPr bwMode="auto">
          <a:xfrm flipH="1">
            <a:off x="7997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70" name="AutoShape 22"/>
          <p:cNvCxnSpPr>
            <a:cxnSpLocks noChangeShapeType="1"/>
            <a:stCxn id="53253" idx="4"/>
            <a:endCxn id="53254" idx="0"/>
          </p:cNvCxnSpPr>
          <p:nvPr/>
        </p:nvCxnSpPr>
        <p:spPr bwMode="auto">
          <a:xfrm>
            <a:off x="8915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71" name="AutoShape 23"/>
          <p:cNvCxnSpPr>
            <a:cxnSpLocks noChangeShapeType="1"/>
            <a:stCxn id="53254" idx="2"/>
            <a:endCxn id="53255" idx="6"/>
          </p:cNvCxnSpPr>
          <p:nvPr/>
        </p:nvCxnSpPr>
        <p:spPr bwMode="auto">
          <a:xfrm flipH="1">
            <a:off x="6796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72" name="AutoShape 24"/>
          <p:cNvCxnSpPr>
            <a:cxnSpLocks noChangeShapeType="1"/>
            <a:stCxn id="53258" idx="3"/>
            <a:endCxn id="53255" idx="7"/>
          </p:cNvCxnSpPr>
          <p:nvPr/>
        </p:nvCxnSpPr>
        <p:spPr bwMode="auto">
          <a:xfrm flipH="1">
            <a:off x="6626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3273" name="Line 25"/>
          <p:cNvSpPr>
            <a:spLocks noChangeShapeType="1"/>
          </p:cNvSpPr>
          <p:nvPr/>
        </p:nvSpPr>
        <p:spPr bwMode="auto">
          <a:xfrm>
            <a:off x="1981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74" name="Text Box 26"/>
          <p:cNvSpPr txBox="1">
            <a:spLocks noChangeArrowheads="1"/>
          </p:cNvSpPr>
          <p:nvPr/>
        </p:nvSpPr>
        <p:spPr bwMode="auto">
          <a:xfrm>
            <a:off x="1600201" y="1447801"/>
            <a:ext cx="8747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53275" name="Oval 27"/>
          <p:cNvSpPr>
            <a:spLocks noChangeArrowheads="1"/>
          </p:cNvSpPr>
          <p:nvPr/>
        </p:nvSpPr>
        <p:spPr bwMode="auto">
          <a:xfrm>
            <a:off x="3048000" y="1828800"/>
            <a:ext cx="1066800" cy="685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i="1">
                <a:latin typeface="Times New Roman" panose="02020603050405020304" pitchFamily="18" charset="0"/>
              </a:rPr>
              <a:t>d      f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10047866" y="136525"/>
            <a:ext cx="1918323" cy="3140075"/>
            <a:chOff x="152400" y="1676401"/>
            <a:chExt cx="1918323" cy="3140075"/>
          </a:xfrm>
        </p:grpSpPr>
        <p:sp>
          <p:nvSpPr>
            <p:cNvPr id="29" name="Oval 3"/>
            <p:cNvSpPr>
              <a:spLocks noChangeArrowheads="1"/>
            </p:cNvSpPr>
            <p:nvPr/>
          </p:nvSpPr>
          <p:spPr bwMode="auto">
            <a:xfrm>
              <a:off x="366715" y="1752600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70000"/>
                </a:lnSpc>
              </a:pPr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" name="Oval 5"/>
            <p:cNvSpPr>
              <a:spLocks noChangeArrowheads="1"/>
            </p:cNvSpPr>
            <p:nvPr/>
          </p:nvSpPr>
          <p:spPr bwMode="auto">
            <a:xfrm>
              <a:off x="366715" y="2850518"/>
              <a:ext cx="762000" cy="76200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1" name="Oval 5"/>
            <p:cNvSpPr>
              <a:spLocks noChangeArrowheads="1"/>
            </p:cNvSpPr>
            <p:nvPr/>
          </p:nvSpPr>
          <p:spPr bwMode="auto">
            <a:xfrm>
              <a:off x="350520" y="4023360"/>
              <a:ext cx="762000" cy="76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356360" y="2133600"/>
              <a:ext cx="714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white</a:t>
              </a:r>
              <a:endParaRPr lang="en-US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356360" y="3091935"/>
              <a:ext cx="588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grey</a:t>
              </a:r>
              <a:endParaRPr lang="en-US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350965" y="4234934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black</a:t>
              </a:r>
              <a:endParaRPr lang="en-US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52400" y="1676401"/>
              <a:ext cx="1918323" cy="3140075"/>
            </a:xfrm>
            <a:prstGeom prst="rect">
              <a:avLst/>
            </a:prstGeom>
            <a:noFill/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65346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DFS Example</a:t>
            </a:r>
          </a:p>
        </p:txBody>
      </p:sp>
      <p:sp>
        <p:nvSpPr>
          <p:cNvPr id="54275" name="Oval 3"/>
          <p:cNvSpPr>
            <a:spLocks noChangeArrowheads="1"/>
          </p:cNvSpPr>
          <p:nvPr/>
        </p:nvSpPr>
        <p:spPr bwMode="auto">
          <a:xfrm>
            <a:off x="3048000" y="2362200"/>
            <a:ext cx="1066800" cy="6858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1|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4276" name="Oval 4"/>
          <p:cNvSpPr>
            <a:spLocks noChangeArrowheads="1"/>
          </p:cNvSpPr>
          <p:nvPr/>
        </p:nvSpPr>
        <p:spPr bwMode="auto">
          <a:xfrm>
            <a:off x="5715000" y="2362200"/>
            <a:ext cx="1066800" cy="6858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8|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4277" name="Oval 5"/>
          <p:cNvSpPr>
            <a:spLocks noChangeArrowheads="1"/>
          </p:cNvSpPr>
          <p:nvPr/>
        </p:nvSpPr>
        <p:spPr bwMode="auto">
          <a:xfrm>
            <a:off x="8382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4278" name="Oval 6"/>
          <p:cNvSpPr>
            <a:spLocks noChangeArrowheads="1"/>
          </p:cNvSpPr>
          <p:nvPr/>
        </p:nvSpPr>
        <p:spPr bwMode="auto">
          <a:xfrm>
            <a:off x="8382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4279" name="Oval 7"/>
          <p:cNvSpPr>
            <a:spLocks noChangeArrowheads="1"/>
          </p:cNvSpPr>
          <p:nvPr/>
        </p:nvSpPr>
        <p:spPr bwMode="auto">
          <a:xfrm>
            <a:off x="5715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5|6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4280" name="Oval 8"/>
          <p:cNvSpPr>
            <a:spLocks noChangeArrowheads="1"/>
          </p:cNvSpPr>
          <p:nvPr/>
        </p:nvSpPr>
        <p:spPr bwMode="auto">
          <a:xfrm>
            <a:off x="3048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3|4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4281" name="Oval 9"/>
          <p:cNvSpPr>
            <a:spLocks noChangeArrowheads="1"/>
          </p:cNvSpPr>
          <p:nvPr/>
        </p:nvSpPr>
        <p:spPr bwMode="auto">
          <a:xfrm>
            <a:off x="1752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2|7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4282" name="Oval 10"/>
          <p:cNvSpPr>
            <a:spLocks noChangeArrowheads="1"/>
          </p:cNvSpPr>
          <p:nvPr/>
        </p:nvSpPr>
        <p:spPr bwMode="auto">
          <a:xfrm>
            <a:off x="7086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9|10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cxnSp>
        <p:nvCxnSpPr>
          <p:cNvPr id="54283" name="AutoShape 11"/>
          <p:cNvCxnSpPr>
            <a:cxnSpLocks noChangeShapeType="1"/>
            <a:stCxn id="54275" idx="3"/>
            <a:endCxn id="54281" idx="7"/>
          </p:cNvCxnSpPr>
          <p:nvPr/>
        </p:nvCxnSpPr>
        <p:spPr bwMode="auto">
          <a:xfrm flipH="1">
            <a:off x="266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84" name="AutoShape 12"/>
          <p:cNvCxnSpPr>
            <a:cxnSpLocks noChangeShapeType="1"/>
            <a:stCxn id="54281" idx="5"/>
            <a:endCxn id="54280" idx="1"/>
          </p:cNvCxnSpPr>
          <p:nvPr/>
        </p:nvCxnSpPr>
        <p:spPr bwMode="auto">
          <a:xfrm>
            <a:off x="2663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85" name="AutoShape 13"/>
          <p:cNvCxnSpPr>
            <a:cxnSpLocks noChangeShapeType="1"/>
            <a:stCxn id="54281" idx="6"/>
            <a:endCxn id="54279" idx="1"/>
          </p:cNvCxnSpPr>
          <p:nvPr/>
        </p:nvCxnSpPr>
        <p:spPr bwMode="auto">
          <a:xfrm>
            <a:off x="2833689" y="3848101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86" name="AutoShape 14"/>
          <p:cNvCxnSpPr>
            <a:cxnSpLocks noChangeShapeType="1"/>
            <a:stCxn id="54279" idx="2"/>
            <a:endCxn id="54280" idx="6"/>
          </p:cNvCxnSpPr>
          <p:nvPr/>
        </p:nvCxnSpPr>
        <p:spPr bwMode="auto">
          <a:xfrm flipH="1">
            <a:off x="4129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87" name="AutoShape 15"/>
          <p:cNvCxnSpPr>
            <a:cxnSpLocks noChangeShapeType="1"/>
            <a:stCxn id="54280" idx="0"/>
            <a:endCxn id="54275" idx="4"/>
          </p:cNvCxnSpPr>
          <p:nvPr/>
        </p:nvCxnSpPr>
        <p:spPr bwMode="auto">
          <a:xfrm flipV="1">
            <a:off x="3581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88" name="AutoShape 16"/>
          <p:cNvCxnSpPr>
            <a:cxnSpLocks noChangeShapeType="1"/>
            <a:stCxn id="54275" idx="5"/>
            <a:endCxn id="54279" idx="1"/>
          </p:cNvCxnSpPr>
          <p:nvPr/>
        </p:nvCxnSpPr>
        <p:spPr bwMode="auto">
          <a:xfrm>
            <a:off x="3959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89" name="AutoShape 17"/>
          <p:cNvCxnSpPr>
            <a:cxnSpLocks noChangeShapeType="1"/>
            <a:stCxn id="54276" idx="4"/>
            <a:endCxn id="54279" idx="0"/>
          </p:cNvCxnSpPr>
          <p:nvPr/>
        </p:nvCxnSpPr>
        <p:spPr bwMode="auto">
          <a:xfrm>
            <a:off x="6248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90" name="AutoShape 18"/>
          <p:cNvCxnSpPr>
            <a:cxnSpLocks noChangeShapeType="1"/>
            <a:stCxn id="54275" idx="6"/>
            <a:endCxn id="54276" idx="2"/>
          </p:cNvCxnSpPr>
          <p:nvPr/>
        </p:nvCxnSpPr>
        <p:spPr bwMode="auto">
          <a:xfrm>
            <a:off x="4129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91" name="AutoShape 19"/>
          <p:cNvCxnSpPr>
            <a:cxnSpLocks noChangeShapeType="1"/>
            <a:stCxn id="54277" idx="2"/>
            <a:endCxn id="54276" idx="6"/>
          </p:cNvCxnSpPr>
          <p:nvPr/>
        </p:nvCxnSpPr>
        <p:spPr bwMode="auto">
          <a:xfrm flipH="1">
            <a:off x="6796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92" name="AutoShape 20"/>
          <p:cNvCxnSpPr>
            <a:cxnSpLocks noChangeShapeType="1"/>
            <a:stCxn id="54276" idx="5"/>
            <a:endCxn id="54282" idx="1"/>
          </p:cNvCxnSpPr>
          <p:nvPr/>
        </p:nvCxnSpPr>
        <p:spPr bwMode="auto">
          <a:xfrm>
            <a:off x="6626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93" name="AutoShape 21"/>
          <p:cNvCxnSpPr>
            <a:cxnSpLocks noChangeShapeType="1"/>
            <a:stCxn id="54277" idx="3"/>
            <a:endCxn id="54282" idx="7"/>
          </p:cNvCxnSpPr>
          <p:nvPr/>
        </p:nvCxnSpPr>
        <p:spPr bwMode="auto">
          <a:xfrm flipH="1">
            <a:off x="7997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94" name="AutoShape 22"/>
          <p:cNvCxnSpPr>
            <a:cxnSpLocks noChangeShapeType="1"/>
            <a:stCxn id="54277" idx="4"/>
            <a:endCxn id="54278" idx="0"/>
          </p:cNvCxnSpPr>
          <p:nvPr/>
        </p:nvCxnSpPr>
        <p:spPr bwMode="auto">
          <a:xfrm>
            <a:off x="8915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95" name="AutoShape 23"/>
          <p:cNvCxnSpPr>
            <a:cxnSpLocks noChangeShapeType="1"/>
            <a:stCxn id="54278" idx="2"/>
            <a:endCxn id="54279" idx="6"/>
          </p:cNvCxnSpPr>
          <p:nvPr/>
        </p:nvCxnSpPr>
        <p:spPr bwMode="auto">
          <a:xfrm flipH="1">
            <a:off x="6796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96" name="AutoShape 24"/>
          <p:cNvCxnSpPr>
            <a:cxnSpLocks noChangeShapeType="1"/>
            <a:stCxn id="54282" idx="3"/>
            <a:endCxn id="54279" idx="7"/>
          </p:cNvCxnSpPr>
          <p:nvPr/>
        </p:nvCxnSpPr>
        <p:spPr bwMode="auto">
          <a:xfrm flipH="1">
            <a:off x="6626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4297" name="Line 25"/>
          <p:cNvSpPr>
            <a:spLocks noChangeShapeType="1"/>
          </p:cNvSpPr>
          <p:nvPr/>
        </p:nvSpPr>
        <p:spPr bwMode="auto">
          <a:xfrm>
            <a:off x="1981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98" name="Text Box 26"/>
          <p:cNvSpPr txBox="1">
            <a:spLocks noChangeArrowheads="1"/>
          </p:cNvSpPr>
          <p:nvPr/>
        </p:nvSpPr>
        <p:spPr bwMode="auto">
          <a:xfrm>
            <a:off x="1600201" y="1447801"/>
            <a:ext cx="8747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54299" name="Oval 27"/>
          <p:cNvSpPr>
            <a:spLocks noChangeArrowheads="1"/>
          </p:cNvSpPr>
          <p:nvPr/>
        </p:nvSpPr>
        <p:spPr bwMode="auto">
          <a:xfrm>
            <a:off x="3048000" y="1828800"/>
            <a:ext cx="1066800" cy="685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i="1">
                <a:latin typeface="Times New Roman" panose="02020603050405020304" pitchFamily="18" charset="0"/>
              </a:rPr>
              <a:t>d      f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10047866" y="136525"/>
            <a:ext cx="1918323" cy="3140075"/>
            <a:chOff x="152400" y="1676401"/>
            <a:chExt cx="1918323" cy="3140075"/>
          </a:xfrm>
        </p:grpSpPr>
        <p:sp>
          <p:nvSpPr>
            <p:cNvPr id="29" name="Oval 3"/>
            <p:cNvSpPr>
              <a:spLocks noChangeArrowheads="1"/>
            </p:cNvSpPr>
            <p:nvPr/>
          </p:nvSpPr>
          <p:spPr bwMode="auto">
            <a:xfrm>
              <a:off x="366715" y="1752600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70000"/>
                </a:lnSpc>
              </a:pPr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" name="Oval 5"/>
            <p:cNvSpPr>
              <a:spLocks noChangeArrowheads="1"/>
            </p:cNvSpPr>
            <p:nvPr/>
          </p:nvSpPr>
          <p:spPr bwMode="auto">
            <a:xfrm>
              <a:off x="366715" y="2850518"/>
              <a:ext cx="762000" cy="76200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1" name="Oval 5"/>
            <p:cNvSpPr>
              <a:spLocks noChangeArrowheads="1"/>
            </p:cNvSpPr>
            <p:nvPr/>
          </p:nvSpPr>
          <p:spPr bwMode="auto">
            <a:xfrm>
              <a:off x="350520" y="4023360"/>
              <a:ext cx="762000" cy="76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356360" y="2133600"/>
              <a:ext cx="714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white</a:t>
              </a:r>
              <a:endParaRPr lang="en-US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356360" y="3091935"/>
              <a:ext cx="588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grey</a:t>
              </a:r>
              <a:endParaRPr lang="en-US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350965" y="4234934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black</a:t>
              </a:r>
              <a:endParaRPr lang="en-US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52400" y="1676401"/>
              <a:ext cx="1918323" cy="3140075"/>
            </a:xfrm>
            <a:prstGeom prst="rect">
              <a:avLst/>
            </a:prstGeom>
            <a:noFill/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8035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DFS Example</a:t>
            </a:r>
          </a:p>
        </p:txBody>
      </p:sp>
      <p:sp>
        <p:nvSpPr>
          <p:cNvPr id="55299" name="Oval 3"/>
          <p:cNvSpPr>
            <a:spLocks noChangeArrowheads="1"/>
          </p:cNvSpPr>
          <p:nvPr/>
        </p:nvSpPr>
        <p:spPr bwMode="auto">
          <a:xfrm>
            <a:off x="3048000" y="2362200"/>
            <a:ext cx="1066800" cy="6858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1|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5300" name="Oval 4"/>
          <p:cNvSpPr>
            <a:spLocks noChangeArrowheads="1"/>
          </p:cNvSpPr>
          <p:nvPr/>
        </p:nvSpPr>
        <p:spPr bwMode="auto">
          <a:xfrm>
            <a:off x="5715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8|11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5301" name="Oval 5"/>
          <p:cNvSpPr>
            <a:spLocks noChangeArrowheads="1"/>
          </p:cNvSpPr>
          <p:nvPr/>
        </p:nvSpPr>
        <p:spPr bwMode="auto">
          <a:xfrm>
            <a:off x="8382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5302" name="Oval 6"/>
          <p:cNvSpPr>
            <a:spLocks noChangeArrowheads="1"/>
          </p:cNvSpPr>
          <p:nvPr/>
        </p:nvSpPr>
        <p:spPr bwMode="auto">
          <a:xfrm>
            <a:off x="8382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5303" name="Oval 7"/>
          <p:cNvSpPr>
            <a:spLocks noChangeArrowheads="1"/>
          </p:cNvSpPr>
          <p:nvPr/>
        </p:nvSpPr>
        <p:spPr bwMode="auto">
          <a:xfrm>
            <a:off x="5715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5|6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5304" name="Oval 8"/>
          <p:cNvSpPr>
            <a:spLocks noChangeArrowheads="1"/>
          </p:cNvSpPr>
          <p:nvPr/>
        </p:nvSpPr>
        <p:spPr bwMode="auto">
          <a:xfrm>
            <a:off x="3048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3|4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5305" name="Oval 9"/>
          <p:cNvSpPr>
            <a:spLocks noChangeArrowheads="1"/>
          </p:cNvSpPr>
          <p:nvPr/>
        </p:nvSpPr>
        <p:spPr bwMode="auto">
          <a:xfrm>
            <a:off x="1752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2|7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5306" name="Oval 10"/>
          <p:cNvSpPr>
            <a:spLocks noChangeArrowheads="1"/>
          </p:cNvSpPr>
          <p:nvPr/>
        </p:nvSpPr>
        <p:spPr bwMode="auto">
          <a:xfrm>
            <a:off x="7086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9|10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cxnSp>
        <p:nvCxnSpPr>
          <p:cNvPr id="55307" name="AutoShape 11"/>
          <p:cNvCxnSpPr>
            <a:cxnSpLocks noChangeShapeType="1"/>
            <a:stCxn id="55299" idx="3"/>
            <a:endCxn id="55305" idx="7"/>
          </p:cNvCxnSpPr>
          <p:nvPr/>
        </p:nvCxnSpPr>
        <p:spPr bwMode="auto">
          <a:xfrm flipH="1">
            <a:off x="266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308" name="AutoShape 12"/>
          <p:cNvCxnSpPr>
            <a:cxnSpLocks noChangeShapeType="1"/>
            <a:stCxn id="55305" idx="5"/>
            <a:endCxn id="55304" idx="1"/>
          </p:cNvCxnSpPr>
          <p:nvPr/>
        </p:nvCxnSpPr>
        <p:spPr bwMode="auto">
          <a:xfrm>
            <a:off x="2663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309" name="AutoShape 13"/>
          <p:cNvCxnSpPr>
            <a:cxnSpLocks noChangeShapeType="1"/>
            <a:stCxn id="55305" idx="6"/>
            <a:endCxn id="55303" idx="1"/>
          </p:cNvCxnSpPr>
          <p:nvPr/>
        </p:nvCxnSpPr>
        <p:spPr bwMode="auto">
          <a:xfrm>
            <a:off x="2833689" y="3848101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310" name="AutoShape 14"/>
          <p:cNvCxnSpPr>
            <a:cxnSpLocks noChangeShapeType="1"/>
            <a:stCxn id="55303" idx="2"/>
            <a:endCxn id="55304" idx="6"/>
          </p:cNvCxnSpPr>
          <p:nvPr/>
        </p:nvCxnSpPr>
        <p:spPr bwMode="auto">
          <a:xfrm flipH="1">
            <a:off x="4129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311" name="AutoShape 15"/>
          <p:cNvCxnSpPr>
            <a:cxnSpLocks noChangeShapeType="1"/>
            <a:stCxn id="55304" idx="0"/>
            <a:endCxn id="55299" idx="4"/>
          </p:cNvCxnSpPr>
          <p:nvPr/>
        </p:nvCxnSpPr>
        <p:spPr bwMode="auto">
          <a:xfrm flipV="1">
            <a:off x="3581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312" name="AutoShape 16"/>
          <p:cNvCxnSpPr>
            <a:cxnSpLocks noChangeShapeType="1"/>
            <a:stCxn id="55299" idx="5"/>
            <a:endCxn id="55303" idx="1"/>
          </p:cNvCxnSpPr>
          <p:nvPr/>
        </p:nvCxnSpPr>
        <p:spPr bwMode="auto">
          <a:xfrm>
            <a:off x="3959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313" name="AutoShape 17"/>
          <p:cNvCxnSpPr>
            <a:cxnSpLocks noChangeShapeType="1"/>
            <a:stCxn id="55300" idx="4"/>
            <a:endCxn id="55303" idx="0"/>
          </p:cNvCxnSpPr>
          <p:nvPr/>
        </p:nvCxnSpPr>
        <p:spPr bwMode="auto">
          <a:xfrm>
            <a:off x="6248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314" name="AutoShape 18"/>
          <p:cNvCxnSpPr>
            <a:cxnSpLocks noChangeShapeType="1"/>
            <a:stCxn id="55299" idx="6"/>
            <a:endCxn id="55300" idx="2"/>
          </p:cNvCxnSpPr>
          <p:nvPr/>
        </p:nvCxnSpPr>
        <p:spPr bwMode="auto">
          <a:xfrm>
            <a:off x="4129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315" name="AutoShape 19"/>
          <p:cNvCxnSpPr>
            <a:cxnSpLocks noChangeShapeType="1"/>
            <a:stCxn id="55301" idx="2"/>
            <a:endCxn id="55300" idx="6"/>
          </p:cNvCxnSpPr>
          <p:nvPr/>
        </p:nvCxnSpPr>
        <p:spPr bwMode="auto">
          <a:xfrm flipH="1">
            <a:off x="6796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316" name="AutoShape 20"/>
          <p:cNvCxnSpPr>
            <a:cxnSpLocks noChangeShapeType="1"/>
            <a:stCxn id="55300" idx="5"/>
            <a:endCxn id="55306" idx="1"/>
          </p:cNvCxnSpPr>
          <p:nvPr/>
        </p:nvCxnSpPr>
        <p:spPr bwMode="auto">
          <a:xfrm>
            <a:off x="6626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317" name="AutoShape 21"/>
          <p:cNvCxnSpPr>
            <a:cxnSpLocks noChangeShapeType="1"/>
            <a:stCxn id="55301" idx="3"/>
            <a:endCxn id="55306" idx="7"/>
          </p:cNvCxnSpPr>
          <p:nvPr/>
        </p:nvCxnSpPr>
        <p:spPr bwMode="auto">
          <a:xfrm flipH="1">
            <a:off x="7997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318" name="AutoShape 22"/>
          <p:cNvCxnSpPr>
            <a:cxnSpLocks noChangeShapeType="1"/>
            <a:stCxn id="55301" idx="4"/>
            <a:endCxn id="55302" idx="0"/>
          </p:cNvCxnSpPr>
          <p:nvPr/>
        </p:nvCxnSpPr>
        <p:spPr bwMode="auto">
          <a:xfrm>
            <a:off x="8915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319" name="AutoShape 23"/>
          <p:cNvCxnSpPr>
            <a:cxnSpLocks noChangeShapeType="1"/>
            <a:stCxn id="55302" idx="2"/>
            <a:endCxn id="55303" idx="6"/>
          </p:cNvCxnSpPr>
          <p:nvPr/>
        </p:nvCxnSpPr>
        <p:spPr bwMode="auto">
          <a:xfrm flipH="1">
            <a:off x="6796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320" name="AutoShape 24"/>
          <p:cNvCxnSpPr>
            <a:cxnSpLocks noChangeShapeType="1"/>
            <a:stCxn id="55306" idx="3"/>
            <a:endCxn id="55303" idx="7"/>
          </p:cNvCxnSpPr>
          <p:nvPr/>
        </p:nvCxnSpPr>
        <p:spPr bwMode="auto">
          <a:xfrm flipH="1">
            <a:off x="6626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5321" name="Line 25"/>
          <p:cNvSpPr>
            <a:spLocks noChangeShapeType="1"/>
          </p:cNvSpPr>
          <p:nvPr/>
        </p:nvSpPr>
        <p:spPr bwMode="auto">
          <a:xfrm>
            <a:off x="1981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22" name="Text Box 26"/>
          <p:cNvSpPr txBox="1">
            <a:spLocks noChangeArrowheads="1"/>
          </p:cNvSpPr>
          <p:nvPr/>
        </p:nvSpPr>
        <p:spPr bwMode="auto">
          <a:xfrm>
            <a:off x="1600201" y="1447801"/>
            <a:ext cx="8747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55323" name="Oval 27"/>
          <p:cNvSpPr>
            <a:spLocks noChangeArrowheads="1"/>
          </p:cNvSpPr>
          <p:nvPr/>
        </p:nvSpPr>
        <p:spPr bwMode="auto">
          <a:xfrm>
            <a:off x="3048000" y="1828800"/>
            <a:ext cx="1066800" cy="685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i="1">
                <a:latin typeface="Times New Roman" panose="02020603050405020304" pitchFamily="18" charset="0"/>
              </a:rPr>
              <a:t>d      f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10047866" y="136525"/>
            <a:ext cx="1918323" cy="3140075"/>
            <a:chOff x="152400" y="1676401"/>
            <a:chExt cx="1918323" cy="3140075"/>
          </a:xfrm>
        </p:grpSpPr>
        <p:sp>
          <p:nvSpPr>
            <p:cNvPr id="29" name="Oval 3"/>
            <p:cNvSpPr>
              <a:spLocks noChangeArrowheads="1"/>
            </p:cNvSpPr>
            <p:nvPr/>
          </p:nvSpPr>
          <p:spPr bwMode="auto">
            <a:xfrm>
              <a:off x="366715" y="1752600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70000"/>
                </a:lnSpc>
              </a:pPr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" name="Oval 5"/>
            <p:cNvSpPr>
              <a:spLocks noChangeArrowheads="1"/>
            </p:cNvSpPr>
            <p:nvPr/>
          </p:nvSpPr>
          <p:spPr bwMode="auto">
            <a:xfrm>
              <a:off x="366715" y="2850518"/>
              <a:ext cx="762000" cy="76200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1" name="Oval 5"/>
            <p:cNvSpPr>
              <a:spLocks noChangeArrowheads="1"/>
            </p:cNvSpPr>
            <p:nvPr/>
          </p:nvSpPr>
          <p:spPr bwMode="auto">
            <a:xfrm>
              <a:off x="350520" y="4023360"/>
              <a:ext cx="762000" cy="76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356360" y="2133600"/>
              <a:ext cx="714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white</a:t>
              </a:r>
              <a:endParaRPr lang="en-US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356360" y="3091935"/>
              <a:ext cx="588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grey</a:t>
              </a:r>
              <a:endParaRPr lang="en-US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350965" y="4234934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black</a:t>
              </a:r>
              <a:endParaRPr lang="en-US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52400" y="1676401"/>
              <a:ext cx="1918323" cy="3140075"/>
            </a:xfrm>
            <a:prstGeom prst="rect">
              <a:avLst/>
            </a:prstGeom>
            <a:noFill/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6634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DFS Example</a:t>
            </a:r>
          </a:p>
        </p:txBody>
      </p:sp>
      <p:sp>
        <p:nvSpPr>
          <p:cNvPr id="56323" name="Oval 3"/>
          <p:cNvSpPr>
            <a:spLocks noChangeArrowheads="1"/>
          </p:cNvSpPr>
          <p:nvPr/>
        </p:nvSpPr>
        <p:spPr bwMode="auto">
          <a:xfrm>
            <a:off x="3048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1|12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6324" name="Oval 4"/>
          <p:cNvSpPr>
            <a:spLocks noChangeArrowheads="1"/>
          </p:cNvSpPr>
          <p:nvPr/>
        </p:nvSpPr>
        <p:spPr bwMode="auto">
          <a:xfrm>
            <a:off x="5715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8|11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6325" name="Oval 5"/>
          <p:cNvSpPr>
            <a:spLocks noChangeArrowheads="1"/>
          </p:cNvSpPr>
          <p:nvPr/>
        </p:nvSpPr>
        <p:spPr bwMode="auto">
          <a:xfrm>
            <a:off x="8382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6326" name="Oval 6"/>
          <p:cNvSpPr>
            <a:spLocks noChangeArrowheads="1"/>
          </p:cNvSpPr>
          <p:nvPr/>
        </p:nvSpPr>
        <p:spPr bwMode="auto">
          <a:xfrm>
            <a:off x="8382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6327" name="Oval 7"/>
          <p:cNvSpPr>
            <a:spLocks noChangeArrowheads="1"/>
          </p:cNvSpPr>
          <p:nvPr/>
        </p:nvSpPr>
        <p:spPr bwMode="auto">
          <a:xfrm>
            <a:off x="5715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5|6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6328" name="Oval 8"/>
          <p:cNvSpPr>
            <a:spLocks noChangeArrowheads="1"/>
          </p:cNvSpPr>
          <p:nvPr/>
        </p:nvSpPr>
        <p:spPr bwMode="auto">
          <a:xfrm>
            <a:off x="3048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3|4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6329" name="Oval 9"/>
          <p:cNvSpPr>
            <a:spLocks noChangeArrowheads="1"/>
          </p:cNvSpPr>
          <p:nvPr/>
        </p:nvSpPr>
        <p:spPr bwMode="auto">
          <a:xfrm>
            <a:off x="1752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2|7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6330" name="Oval 10"/>
          <p:cNvSpPr>
            <a:spLocks noChangeArrowheads="1"/>
          </p:cNvSpPr>
          <p:nvPr/>
        </p:nvSpPr>
        <p:spPr bwMode="auto">
          <a:xfrm>
            <a:off x="7086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9|10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cxnSp>
        <p:nvCxnSpPr>
          <p:cNvPr id="56331" name="AutoShape 11"/>
          <p:cNvCxnSpPr>
            <a:cxnSpLocks noChangeShapeType="1"/>
            <a:stCxn id="56323" idx="3"/>
            <a:endCxn id="56329" idx="7"/>
          </p:cNvCxnSpPr>
          <p:nvPr/>
        </p:nvCxnSpPr>
        <p:spPr bwMode="auto">
          <a:xfrm flipH="1">
            <a:off x="266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2" name="AutoShape 12"/>
          <p:cNvCxnSpPr>
            <a:cxnSpLocks noChangeShapeType="1"/>
            <a:stCxn id="56329" idx="5"/>
            <a:endCxn id="56328" idx="1"/>
          </p:cNvCxnSpPr>
          <p:nvPr/>
        </p:nvCxnSpPr>
        <p:spPr bwMode="auto">
          <a:xfrm>
            <a:off x="2663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3" name="AutoShape 13"/>
          <p:cNvCxnSpPr>
            <a:cxnSpLocks noChangeShapeType="1"/>
            <a:stCxn id="56329" idx="6"/>
            <a:endCxn id="56327" idx="1"/>
          </p:cNvCxnSpPr>
          <p:nvPr/>
        </p:nvCxnSpPr>
        <p:spPr bwMode="auto">
          <a:xfrm>
            <a:off x="2833689" y="3848101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4" name="AutoShape 14"/>
          <p:cNvCxnSpPr>
            <a:cxnSpLocks noChangeShapeType="1"/>
            <a:stCxn id="56327" idx="2"/>
            <a:endCxn id="56328" idx="6"/>
          </p:cNvCxnSpPr>
          <p:nvPr/>
        </p:nvCxnSpPr>
        <p:spPr bwMode="auto">
          <a:xfrm flipH="1">
            <a:off x="4129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5" name="AutoShape 15"/>
          <p:cNvCxnSpPr>
            <a:cxnSpLocks noChangeShapeType="1"/>
            <a:stCxn id="56328" idx="0"/>
            <a:endCxn id="56323" idx="4"/>
          </p:cNvCxnSpPr>
          <p:nvPr/>
        </p:nvCxnSpPr>
        <p:spPr bwMode="auto">
          <a:xfrm flipV="1">
            <a:off x="3581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6" name="AutoShape 16"/>
          <p:cNvCxnSpPr>
            <a:cxnSpLocks noChangeShapeType="1"/>
            <a:stCxn id="56323" idx="5"/>
            <a:endCxn id="56327" idx="1"/>
          </p:cNvCxnSpPr>
          <p:nvPr/>
        </p:nvCxnSpPr>
        <p:spPr bwMode="auto">
          <a:xfrm>
            <a:off x="3959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7" name="AutoShape 17"/>
          <p:cNvCxnSpPr>
            <a:cxnSpLocks noChangeShapeType="1"/>
            <a:stCxn id="56324" idx="4"/>
            <a:endCxn id="56327" idx="0"/>
          </p:cNvCxnSpPr>
          <p:nvPr/>
        </p:nvCxnSpPr>
        <p:spPr bwMode="auto">
          <a:xfrm>
            <a:off x="6248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8" name="AutoShape 18"/>
          <p:cNvCxnSpPr>
            <a:cxnSpLocks noChangeShapeType="1"/>
            <a:stCxn id="56323" idx="6"/>
            <a:endCxn id="56324" idx="2"/>
          </p:cNvCxnSpPr>
          <p:nvPr/>
        </p:nvCxnSpPr>
        <p:spPr bwMode="auto">
          <a:xfrm>
            <a:off x="4129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9" name="AutoShape 19"/>
          <p:cNvCxnSpPr>
            <a:cxnSpLocks noChangeShapeType="1"/>
            <a:stCxn id="56325" idx="2"/>
            <a:endCxn id="56324" idx="6"/>
          </p:cNvCxnSpPr>
          <p:nvPr/>
        </p:nvCxnSpPr>
        <p:spPr bwMode="auto">
          <a:xfrm flipH="1">
            <a:off x="6796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40" name="AutoShape 20"/>
          <p:cNvCxnSpPr>
            <a:cxnSpLocks noChangeShapeType="1"/>
            <a:stCxn id="56324" idx="5"/>
            <a:endCxn id="56330" idx="1"/>
          </p:cNvCxnSpPr>
          <p:nvPr/>
        </p:nvCxnSpPr>
        <p:spPr bwMode="auto">
          <a:xfrm>
            <a:off x="6626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41" name="AutoShape 21"/>
          <p:cNvCxnSpPr>
            <a:cxnSpLocks noChangeShapeType="1"/>
            <a:stCxn id="56325" idx="3"/>
            <a:endCxn id="56330" idx="7"/>
          </p:cNvCxnSpPr>
          <p:nvPr/>
        </p:nvCxnSpPr>
        <p:spPr bwMode="auto">
          <a:xfrm flipH="1">
            <a:off x="7997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42" name="AutoShape 22"/>
          <p:cNvCxnSpPr>
            <a:cxnSpLocks noChangeShapeType="1"/>
            <a:stCxn id="56325" idx="4"/>
            <a:endCxn id="56326" idx="0"/>
          </p:cNvCxnSpPr>
          <p:nvPr/>
        </p:nvCxnSpPr>
        <p:spPr bwMode="auto">
          <a:xfrm>
            <a:off x="8915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43" name="AutoShape 23"/>
          <p:cNvCxnSpPr>
            <a:cxnSpLocks noChangeShapeType="1"/>
            <a:stCxn id="56326" idx="2"/>
            <a:endCxn id="56327" idx="6"/>
          </p:cNvCxnSpPr>
          <p:nvPr/>
        </p:nvCxnSpPr>
        <p:spPr bwMode="auto">
          <a:xfrm flipH="1">
            <a:off x="6796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44" name="AutoShape 24"/>
          <p:cNvCxnSpPr>
            <a:cxnSpLocks noChangeShapeType="1"/>
            <a:stCxn id="56330" idx="3"/>
            <a:endCxn id="56327" idx="7"/>
          </p:cNvCxnSpPr>
          <p:nvPr/>
        </p:nvCxnSpPr>
        <p:spPr bwMode="auto">
          <a:xfrm flipH="1">
            <a:off x="6626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345" name="Line 25"/>
          <p:cNvSpPr>
            <a:spLocks noChangeShapeType="1"/>
          </p:cNvSpPr>
          <p:nvPr/>
        </p:nvSpPr>
        <p:spPr bwMode="auto">
          <a:xfrm>
            <a:off x="1981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46" name="Text Box 26"/>
          <p:cNvSpPr txBox="1">
            <a:spLocks noChangeArrowheads="1"/>
          </p:cNvSpPr>
          <p:nvPr/>
        </p:nvSpPr>
        <p:spPr bwMode="auto">
          <a:xfrm>
            <a:off x="1600201" y="1447801"/>
            <a:ext cx="8747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56347" name="Oval 27"/>
          <p:cNvSpPr>
            <a:spLocks noChangeArrowheads="1"/>
          </p:cNvSpPr>
          <p:nvPr/>
        </p:nvSpPr>
        <p:spPr bwMode="auto">
          <a:xfrm>
            <a:off x="3048000" y="1828800"/>
            <a:ext cx="1066800" cy="685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i="1">
                <a:latin typeface="Times New Roman" panose="02020603050405020304" pitchFamily="18" charset="0"/>
              </a:rPr>
              <a:t>d      f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10047866" y="136525"/>
            <a:ext cx="1918323" cy="3140075"/>
            <a:chOff x="152400" y="1676401"/>
            <a:chExt cx="1918323" cy="3140075"/>
          </a:xfrm>
        </p:grpSpPr>
        <p:sp>
          <p:nvSpPr>
            <p:cNvPr id="29" name="Oval 3"/>
            <p:cNvSpPr>
              <a:spLocks noChangeArrowheads="1"/>
            </p:cNvSpPr>
            <p:nvPr/>
          </p:nvSpPr>
          <p:spPr bwMode="auto">
            <a:xfrm>
              <a:off x="366715" y="1752600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70000"/>
                </a:lnSpc>
              </a:pPr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" name="Oval 5"/>
            <p:cNvSpPr>
              <a:spLocks noChangeArrowheads="1"/>
            </p:cNvSpPr>
            <p:nvPr/>
          </p:nvSpPr>
          <p:spPr bwMode="auto">
            <a:xfrm>
              <a:off x="366715" y="2850518"/>
              <a:ext cx="762000" cy="76200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1" name="Oval 5"/>
            <p:cNvSpPr>
              <a:spLocks noChangeArrowheads="1"/>
            </p:cNvSpPr>
            <p:nvPr/>
          </p:nvSpPr>
          <p:spPr bwMode="auto">
            <a:xfrm>
              <a:off x="350520" y="4023360"/>
              <a:ext cx="762000" cy="76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356360" y="2133600"/>
              <a:ext cx="714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white</a:t>
              </a:r>
              <a:endParaRPr lang="en-US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356360" y="3091935"/>
              <a:ext cx="588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grey</a:t>
              </a:r>
              <a:endParaRPr lang="en-US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350965" y="4234934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black</a:t>
              </a:r>
              <a:endParaRPr lang="en-US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52400" y="1676401"/>
              <a:ext cx="1918323" cy="3140075"/>
            </a:xfrm>
            <a:prstGeom prst="rect">
              <a:avLst/>
            </a:prstGeom>
            <a:noFill/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911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DFS Example</a:t>
            </a:r>
          </a:p>
        </p:txBody>
      </p:sp>
      <p:sp>
        <p:nvSpPr>
          <p:cNvPr id="57347" name="Oval 3"/>
          <p:cNvSpPr>
            <a:spLocks noChangeArrowheads="1"/>
          </p:cNvSpPr>
          <p:nvPr/>
        </p:nvSpPr>
        <p:spPr bwMode="auto">
          <a:xfrm>
            <a:off x="3048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1|12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7348" name="Oval 4"/>
          <p:cNvSpPr>
            <a:spLocks noChangeArrowheads="1"/>
          </p:cNvSpPr>
          <p:nvPr/>
        </p:nvSpPr>
        <p:spPr bwMode="auto">
          <a:xfrm>
            <a:off x="5715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8|11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7349" name="Oval 5"/>
          <p:cNvSpPr>
            <a:spLocks noChangeArrowheads="1"/>
          </p:cNvSpPr>
          <p:nvPr/>
        </p:nvSpPr>
        <p:spPr bwMode="auto">
          <a:xfrm>
            <a:off x="8382000" y="2362200"/>
            <a:ext cx="1066800" cy="6858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13|  </a:t>
            </a:r>
          </a:p>
        </p:txBody>
      </p:sp>
      <p:sp>
        <p:nvSpPr>
          <p:cNvPr id="57350" name="Oval 6"/>
          <p:cNvSpPr>
            <a:spLocks noChangeArrowheads="1"/>
          </p:cNvSpPr>
          <p:nvPr/>
        </p:nvSpPr>
        <p:spPr bwMode="auto">
          <a:xfrm>
            <a:off x="8382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000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| 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7351" name="Oval 7"/>
          <p:cNvSpPr>
            <a:spLocks noChangeArrowheads="1"/>
          </p:cNvSpPr>
          <p:nvPr/>
        </p:nvSpPr>
        <p:spPr bwMode="auto">
          <a:xfrm>
            <a:off x="5715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5|6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7352" name="Oval 8"/>
          <p:cNvSpPr>
            <a:spLocks noChangeArrowheads="1"/>
          </p:cNvSpPr>
          <p:nvPr/>
        </p:nvSpPr>
        <p:spPr bwMode="auto">
          <a:xfrm>
            <a:off x="3048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3|4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7353" name="Oval 9"/>
          <p:cNvSpPr>
            <a:spLocks noChangeArrowheads="1"/>
          </p:cNvSpPr>
          <p:nvPr/>
        </p:nvSpPr>
        <p:spPr bwMode="auto">
          <a:xfrm>
            <a:off x="1752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2|7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7354" name="Oval 10"/>
          <p:cNvSpPr>
            <a:spLocks noChangeArrowheads="1"/>
          </p:cNvSpPr>
          <p:nvPr/>
        </p:nvSpPr>
        <p:spPr bwMode="auto">
          <a:xfrm>
            <a:off x="7086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9|10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cxnSp>
        <p:nvCxnSpPr>
          <p:cNvPr id="57355" name="AutoShape 11"/>
          <p:cNvCxnSpPr>
            <a:cxnSpLocks noChangeShapeType="1"/>
            <a:stCxn id="57347" idx="3"/>
            <a:endCxn id="57353" idx="7"/>
          </p:cNvCxnSpPr>
          <p:nvPr/>
        </p:nvCxnSpPr>
        <p:spPr bwMode="auto">
          <a:xfrm flipH="1">
            <a:off x="266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56" name="AutoShape 12"/>
          <p:cNvCxnSpPr>
            <a:cxnSpLocks noChangeShapeType="1"/>
            <a:stCxn id="57353" idx="5"/>
            <a:endCxn id="57352" idx="1"/>
          </p:cNvCxnSpPr>
          <p:nvPr/>
        </p:nvCxnSpPr>
        <p:spPr bwMode="auto">
          <a:xfrm>
            <a:off x="2663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57" name="AutoShape 13"/>
          <p:cNvCxnSpPr>
            <a:cxnSpLocks noChangeShapeType="1"/>
            <a:stCxn id="57353" idx="6"/>
            <a:endCxn id="57351" idx="1"/>
          </p:cNvCxnSpPr>
          <p:nvPr/>
        </p:nvCxnSpPr>
        <p:spPr bwMode="auto">
          <a:xfrm>
            <a:off x="2833689" y="3848101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58" name="AutoShape 14"/>
          <p:cNvCxnSpPr>
            <a:cxnSpLocks noChangeShapeType="1"/>
            <a:stCxn id="57351" idx="2"/>
            <a:endCxn id="57352" idx="6"/>
          </p:cNvCxnSpPr>
          <p:nvPr/>
        </p:nvCxnSpPr>
        <p:spPr bwMode="auto">
          <a:xfrm flipH="1">
            <a:off x="4129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59" name="AutoShape 15"/>
          <p:cNvCxnSpPr>
            <a:cxnSpLocks noChangeShapeType="1"/>
            <a:stCxn id="57352" idx="0"/>
            <a:endCxn id="57347" idx="4"/>
          </p:cNvCxnSpPr>
          <p:nvPr/>
        </p:nvCxnSpPr>
        <p:spPr bwMode="auto">
          <a:xfrm flipV="1">
            <a:off x="3581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60" name="AutoShape 16"/>
          <p:cNvCxnSpPr>
            <a:cxnSpLocks noChangeShapeType="1"/>
            <a:stCxn id="57347" idx="5"/>
            <a:endCxn id="57351" idx="1"/>
          </p:cNvCxnSpPr>
          <p:nvPr/>
        </p:nvCxnSpPr>
        <p:spPr bwMode="auto">
          <a:xfrm>
            <a:off x="3959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61" name="AutoShape 17"/>
          <p:cNvCxnSpPr>
            <a:cxnSpLocks noChangeShapeType="1"/>
            <a:stCxn id="57348" idx="4"/>
            <a:endCxn id="57351" idx="0"/>
          </p:cNvCxnSpPr>
          <p:nvPr/>
        </p:nvCxnSpPr>
        <p:spPr bwMode="auto">
          <a:xfrm>
            <a:off x="6248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62" name="AutoShape 18"/>
          <p:cNvCxnSpPr>
            <a:cxnSpLocks noChangeShapeType="1"/>
            <a:stCxn id="57347" idx="6"/>
            <a:endCxn id="57348" idx="2"/>
          </p:cNvCxnSpPr>
          <p:nvPr/>
        </p:nvCxnSpPr>
        <p:spPr bwMode="auto">
          <a:xfrm>
            <a:off x="4129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63" name="AutoShape 19"/>
          <p:cNvCxnSpPr>
            <a:cxnSpLocks noChangeShapeType="1"/>
            <a:stCxn id="57349" idx="2"/>
            <a:endCxn id="57348" idx="6"/>
          </p:cNvCxnSpPr>
          <p:nvPr/>
        </p:nvCxnSpPr>
        <p:spPr bwMode="auto">
          <a:xfrm flipH="1">
            <a:off x="6796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64" name="AutoShape 20"/>
          <p:cNvCxnSpPr>
            <a:cxnSpLocks noChangeShapeType="1"/>
            <a:stCxn id="57348" idx="5"/>
            <a:endCxn id="57354" idx="1"/>
          </p:cNvCxnSpPr>
          <p:nvPr/>
        </p:nvCxnSpPr>
        <p:spPr bwMode="auto">
          <a:xfrm>
            <a:off x="6626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65" name="AutoShape 21"/>
          <p:cNvCxnSpPr>
            <a:cxnSpLocks noChangeShapeType="1"/>
            <a:stCxn id="57349" idx="3"/>
            <a:endCxn id="57354" idx="7"/>
          </p:cNvCxnSpPr>
          <p:nvPr/>
        </p:nvCxnSpPr>
        <p:spPr bwMode="auto">
          <a:xfrm flipH="1">
            <a:off x="7997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66" name="AutoShape 22"/>
          <p:cNvCxnSpPr>
            <a:cxnSpLocks noChangeShapeType="1"/>
            <a:stCxn id="57349" idx="4"/>
            <a:endCxn id="57350" idx="0"/>
          </p:cNvCxnSpPr>
          <p:nvPr/>
        </p:nvCxnSpPr>
        <p:spPr bwMode="auto">
          <a:xfrm>
            <a:off x="8915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67" name="AutoShape 23"/>
          <p:cNvCxnSpPr>
            <a:cxnSpLocks noChangeShapeType="1"/>
            <a:stCxn id="57350" idx="2"/>
            <a:endCxn id="57351" idx="6"/>
          </p:cNvCxnSpPr>
          <p:nvPr/>
        </p:nvCxnSpPr>
        <p:spPr bwMode="auto">
          <a:xfrm flipH="1">
            <a:off x="6796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68" name="AutoShape 24"/>
          <p:cNvCxnSpPr>
            <a:cxnSpLocks noChangeShapeType="1"/>
            <a:stCxn id="57354" idx="3"/>
            <a:endCxn id="57351" idx="7"/>
          </p:cNvCxnSpPr>
          <p:nvPr/>
        </p:nvCxnSpPr>
        <p:spPr bwMode="auto">
          <a:xfrm flipH="1">
            <a:off x="6626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7369" name="Line 25"/>
          <p:cNvSpPr>
            <a:spLocks noChangeShapeType="1"/>
          </p:cNvSpPr>
          <p:nvPr/>
        </p:nvSpPr>
        <p:spPr bwMode="auto">
          <a:xfrm>
            <a:off x="1981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57370" name="Text Box 26"/>
          <p:cNvSpPr txBox="1">
            <a:spLocks noChangeArrowheads="1"/>
          </p:cNvSpPr>
          <p:nvPr/>
        </p:nvSpPr>
        <p:spPr bwMode="auto">
          <a:xfrm>
            <a:off x="1600201" y="1447801"/>
            <a:ext cx="8747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57371" name="Oval 27"/>
          <p:cNvSpPr>
            <a:spLocks noChangeArrowheads="1"/>
          </p:cNvSpPr>
          <p:nvPr/>
        </p:nvSpPr>
        <p:spPr bwMode="auto">
          <a:xfrm>
            <a:off x="3048000" y="1828800"/>
            <a:ext cx="1066800" cy="685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i="1">
                <a:latin typeface="Times New Roman" panose="02020603050405020304" pitchFamily="18" charset="0"/>
              </a:rPr>
              <a:t>d      f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10047866" y="136525"/>
            <a:ext cx="1918323" cy="3140075"/>
            <a:chOff x="152400" y="1676401"/>
            <a:chExt cx="1918323" cy="3140075"/>
          </a:xfrm>
        </p:grpSpPr>
        <p:sp>
          <p:nvSpPr>
            <p:cNvPr id="29" name="Oval 3"/>
            <p:cNvSpPr>
              <a:spLocks noChangeArrowheads="1"/>
            </p:cNvSpPr>
            <p:nvPr/>
          </p:nvSpPr>
          <p:spPr bwMode="auto">
            <a:xfrm>
              <a:off x="366715" y="1752600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70000"/>
                </a:lnSpc>
              </a:pPr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" name="Oval 5"/>
            <p:cNvSpPr>
              <a:spLocks noChangeArrowheads="1"/>
            </p:cNvSpPr>
            <p:nvPr/>
          </p:nvSpPr>
          <p:spPr bwMode="auto">
            <a:xfrm>
              <a:off x="366715" y="2850518"/>
              <a:ext cx="762000" cy="76200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1" name="Oval 5"/>
            <p:cNvSpPr>
              <a:spLocks noChangeArrowheads="1"/>
            </p:cNvSpPr>
            <p:nvPr/>
          </p:nvSpPr>
          <p:spPr bwMode="auto">
            <a:xfrm>
              <a:off x="350520" y="4023360"/>
              <a:ext cx="762000" cy="76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356360" y="2133600"/>
              <a:ext cx="714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white</a:t>
              </a:r>
              <a:endParaRPr lang="en-US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356360" y="3091935"/>
              <a:ext cx="588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grey</a:t>
              </a:r>
              <a:endParaRPr lang="en-US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350965" y="4234934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black</a:t>
              </a:r>
              <a:endParaRPr lang="en-US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52400" y="1676401"/>
              <a:ext cx="1918323" cy="3140075"/>
            </a:xfrm>
            <a:prstGeom prst="rect">
              <a:avLst/>
            </a:prstGeom>
            <a:noFill/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59493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DFS Example</a:t>
            </a:r>
          </a:p>
        </p:txBody>
      </p:sp>
      <p:sp>
        <p:nvSpPr>
          <p:cNvPr id="58371" name="Oval 3"/>
          <p:cNvSpPr>
            <a:spLocks noChangeArrowheads="1"/>
          </p:cNvSpPr>
          <p:nvPr/>
        </p:nvSpPr>
        <p:spPr bwMode="auto">
          <a:xfrm>
            <a:off x="3048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1|12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8372" name="Oval 4"/>
          <p:cNvSpPr>
            <a:spLocks noChangeArrowheads="1"/>
          </p:cNvSpPr>
          <p:nvPr/>
        </p:nvSpPr>
        <p:spPr bwMode="auto">
          <a:xfrm>
            <a:off x="5715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8|11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8373" name="Oval 5"/>
          <p:cNvSpPr>
            <a:spLocks noChangeArrowheads="1"/>
          </p:cNvSpPr>
          <p:nvPr/>
        </p:nvSpPr>
        <p:spPr bwMode="auto">
          <a:xfrm>
            <a:off x="8382000" y="2362200"/>
            <a:ext cx="1066800" cy="6858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>
                <a:solidFill>
                  <a:schemeClr val="accent1"/>
                </a:solidFill>
                <a:latin typeface="Courier New" panose="02070309020205020404" pitchFamily="49" charset="0"/>
              </a:rPr>
              <a:t>13|  </a:t>
            </a:r>
          </a:p>
        </p:txBody>
      </p:sp>
      <p:sp>
        <p:nvSpPr>
          <p:cNvPr id="58374" name="Oval 6"/>
          <p:cNvSpPr>
            <a:spLocks noChangeArrowheads="1"/>
          </p:cNvSpPr>
          <p:nvPr/>
        </p:nvSpPr>
        <p:spPr bwMode="auto">
          <a:xfrm>
            <a:off x="8382000" y="4724400"/>
            <a:ext cx="1066800" cy="6858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>
                <a:solidFill>
                  <a:schemeClr val="accent1"/>
                </a:solidFill>
                <a:latin typeface="Courier New" panose="02070309020205020404" pitchFamily="49" charset="0"/>
              </a:rPr>
              <a:t>14|  </a:t>
            </a:r>
          </a:p>
        </p:txBody>
      </p:sp>
      <p:sp>
        <p:nvSpPr>
          <p:cNvPr id="58375" name="Oval 7"/>
          <p:cNvSpPr>
            <a:spLocks noChangeArrowheads="1"/>
          </p:cNvSpPr>
          <p:nvPr/>
        </p:nvSpPr>
        <p:spPr bwMode="auto">
          <a:xfrm>
            <a:off x="5715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5|6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8376" name="Oval 8"/>
          <p:cNvSpPr>
            <a:spLocks noChangeArrowheads="1"/>
          </p:cNvSpPr>
          <p:nvPr/>
        </p:nvSpPr>
        <p:spPr bwMode="auto">
          <a:xfrm>
            <a:off x="3048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3|4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8377" name="Oval 9"/>
          <p:cNvSpPr>
            <a:spLocks noChangeArrowheads="1"/>
          </p:cNvSpPr>
          <p:nvPr/>
        </p:nvSpPr>
        <p:spPr bwMode="auto">
          <a:xfrm>
            <a:off x="1752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2|7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8378" name="Oval 10"/>
          <p:cNvSpPr>
            <a:spLocks noChangeArrowheads="1"/>
          </p:cNvSpPr>
          <p:nvPr/>
        </p:nvSpPr>
        <p:spPr bwMode="auto">
          <a:xfrm>
            <a:off x="7086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9|10</a:t>
            </a:r>
            <a:endParaRPr lang="en-US" altLang="en-US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cxnSp>
        <p:nvCxnSpPr>
          <p:cNvPr id="58379" name="AutoShape 11"/>
          <p:cNvCxnSpPr>
            <a:cxnSpLocks noChangeShapeType="1"/>
            <a:stCxn id="58371" idx="3"/>
            <a:endCxn id="58377" idx="7"/>
          </p:cNvCxnSpPr>
          <p:nvPr/>
        </p:nvCxnSpPr>
        <p:spPr bwMode="auto">
          <a:xfrm flipH="1">
            <a:off x="266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80" name="AutoShape 12"/>
          <p:cNvCxnSpPr>
            <a:cxnSpLocks noChangeShapeType="1"/>
            <a:stCxn id="58377" idx="5"/>
            <a:endCxn id="58376" idx="1"/>
          </p:cNvCxnSpPr>
          <p:nvPr/>
        </p:nvCxnSpPr>
        <p:spPr bwMode="auto">
          <a:xfrm>
            <a:off x="2663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81" name="AutoShape 13"/>
          <p:cNvCxnSpPr>
            <a:cxnSpLocks noChangeShapeType="1"/>
            <a:stCxn id="58377" idx="6"/>
            <a:endCxn id="58375" idx="1"/>
          </p:cNvCxnSpPr>
          <p:nvPr/>
        </p:nvCxnSpPr>
        <p:spPr bwMode="auto">
          <a:xfrm>
            <a:off x="2833689" y="3848101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82" name="AutoShape 14"/>
          <p:cNvCxnSpPr>
            <a:cxnSpLocks noChangeShapeType="1"/>
            <a:stCxn id="58375" idx="2"/>
            <a:endCxn id="58376" idx="6"/>
          </p:cNvCxnSpPr>
          <p:nvPr/>
        </p:nvCxnSpPr>
        <p:spPr bwMode="auto">
          <a:xfrm flipH="1">
            <a:off x="4129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83" name="AutoShape 15"/>
          <p:cNvCxnSpPr>
            <a:cxnSpLocks noChangeShapeType="1"/>
            <a:stCxn id="58376" idx="0"/>
            <a:endCxn id="58371" idx="4"/>
          </p:cNvCxnSpPr>
          <p:nvPr/>
        </p:nvCxnSpPr>
        <p:spPr bwMode="auto">
          <a:xfrm flipV="1">
            <a:off x="3581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84" name="AutoShape 16"/>
          <p:cNvCxnSpPr>
            <a:cxnSpLocks noChangeShapeType="1"/>
            <a:stCxn id="58371" idx="5"/>
            <a:endCxn id="58375" idx="1"/>
          </p:cNvCxnSpPr>
          <p:nvPr/>
        </p:nvCxnSpPr>
        <p:spPr bwMode="auto">
          <a:xfrm>
            <a:off x="3959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85" name="AutoShape 17"/>
          <p:cNvCxnSpPr>
            <a:cxnSpLocks noChangeShapeType="1"/>
            <a:stCxn id="58372" idx="4"/>
            <a:endCxn id="58375" idx="0"/>
          </p:cNvCxnSpPr>
          <p:nvPr/>
        </p:nvCxnSpPr>
        <p:spPr bwMode="auto">
          <a:xfrm>
            <a:off x="6248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86" name="AutoShape 18"/>
          <p:cNvCxnSpPr>
            <a:cxnSpLocks noChangeShapeType="1"/>
            <a:stCxn id="58371" idx="6"/>
            <a:endCxn id="58372" idx="2"/>
          </p:cNvCxnSpPr>
          <p:nvPr/>
        </p:nvCxnSpPr>
        <p:spPr bwMode="auto">
          <a:xfrm>
            <a:off x="4129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87" name="AutoShape 19"/>
          <p:cNvCxnSpPr>
            <a:cxnSpLocks noChangeShapeType="1"/>
            <a:stCxn id="58373" idx="2"/>
            <a:endCxn id="58372" idx="6"/>
          </p:cNvCxnSpPr>
          <p:nvPr/>
        </p:nvCxnSpPr>
        <p:spPr bwMode="auto">
          <a:xfrm flipH="1">
            <a:off x="6796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88" name="AutoShape 20"/>
          <p:cNvCxnSpPr>
            <a:cxnSpLocks noChangeShapeType="1"/>
            <a:stCxn id="58372" idx="5"/>
            <a:endCxn id="58378" idx="1"/>
          </p:cNvCxnSpPr>
          <p:nvPr/>
        </p:nvCxnSpPr>
        <p:spPr bwMode="auto">
          <a:xfrm>
            <a:off x="6626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89" name="AutoShape 21"/>
          <p:cNvCxnSpPr>
            <a:cxnSpLocks noChangeShapeType="1"/>
            <a:stCxn id="58373" idx="3"/>
            <a:endCxn id="58378" idx="7"/>
          </p:cNvCxnSpPr>
          <p:nvPr/>
        </p:nvCxnSpPr>
        <p:spPr bwMode="auto">
          <a:xfrm flipH="1">
            <a:off x="7997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90" name="AutoShape 22"/>
          <p:cNvCxnSpPr>
            <a:cxnSpLocks noChangeShapeType="1"/>
            <a:stCxn id="58373" idx="4"/>
            <a:endCxn id="58374" idx="0"/>
          </p:cNvCxnSpPr>
          <p:nvPr/>
        </p:nvCxnSpPr>
        <p:spPr bwMode="auto">
          <a:xfrm>
            <a:off x="8915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91" name="AutoShape 23"/>
          <p:cNvCxnSpPr>
            <a:cxnSpLocks noChangeShapeType="1"/>
            <a:stCxn id="58374" idx="2"/>
            <a:endCxn id="58375" idx="6"/>
          </p:cNvCxnSpPr>
          <p:nvPr/>
        </p:nvCxnSpPr>
        <p:spPr bwMode="auto">
          <a:xfrm flipH="1">
            <a:off x="6796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92" name="AutoShape 24"/>
          <p:cNvCxnSpPr>
            <a:cxnSpLocks noChangeShapeType="1"/>
            <a:stCxn id="58378" idx="3"/>
            <a:endCxn id="58375" idx="7"/>
          </p:cNvCxnSpPr>
          <p:nvPr/>
        </p:nvCxnSpPr>
        <p:spPr bwMode="auto">
          <a:xfrm flipH="1">
            <a:off x="6626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393" name="Line 25"/>
          <p:cNvSpPr>
            <a:spLocks noChangeShapeType="1"/>
          </p:cNvSpPr>
          <p:nvPr/>
        </p:nvSpPr>
        <p:spPr bwMode="auto">
          <a:xfrm>
            <a:off x="1981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94" name="Text Box 26"/>
          <p:cNvSpPr txBox="1">
            <a:spLocks noChangeArrowheads="1"/>
          </p:cNvSpPr>
          <p:nvPr/>
        </p:nvSpPr>
        <p:spPr bwMode="auto">
          <a:xfrm>
            <a:off x="1600201" y="1447801"/>
            <a:ext cx="8747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58395" name="Oval 27"/>
          <p:cNvSpPr>
            <a:spLocks noChangeArrowheads="1"/>
          </p:cNvSpPr>
          <p:nvPr/>
        </p:nvSpPr>
        <p:spPr bwMode="auto">
          <a:xfrm>
            <a:off x="3048000" y="1828800"/>
            <a:ext cx="1066800" cy="685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i="1">
                <a:latin typeface="Times New Roman" panose="02020603050405020304" pitchFamily="18" charset="0"/>
              </a:rPr>
              <a:t>d      f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10047866" y="136525"/>
            <a:ext cx="1918323" cy="3140075"/>
            <a:chOff x="152400" y="1676401"/>
            <a:chExt cx="1918323" cy="3140075"/>
          </a:xfrm>
        </p:grpSpPr>
        <p:sp>
          <p:nvSpPr>
            <p:cNvPr id="29" name="Oval 3"/>
            <p:cNvSpPr>
              <a:spLocks noChangeArrowheads="1"/>
            </p:cNvSpPr>
            <p:nvPr/>
          </p:nvSpPr>
          <p:spPr bwMode="auto">
            <a:xfrm>
              <a:off x="366715" y="1752600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70000"/>
                </a:lnSpc>
              </a:pPr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" name="Oval 5"/>
            <p:cNvSpPr>
              <a:spLocks noChangeArrowheads="1"/>
            </p:cNvSpPr>
            <p:nvPr/>
          </p:nvSpPr>
          <p:spPr bwMode="auto">
            <a:xfrm>
              <a:off x="366715" y="2850518"/>
              <a:ext cx="762000" cy="76200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1" name="Oval 5"/>
            <p:cNvSpPr>
              <a:spLocks noChangeArrowheads="1"/>
            </p:cNvSpPr>
            <p:nvPr/>
          </p:nvSpPr>
          <p:spPr bwMode="auto">
            <a:xfrm>
              <a:off x="350520" y="4023360"/>
              <a:ext cx="762000" cy="76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356360" y="2133600"/>
              <a:ext cx="714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white</a:t>
              </a:r>
              <a:endParaRPr lang="en-US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356360" y="3091935"/>
              <a:ext cx="588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grey</a:t>
              </a:r>
              <a:endParaRPr lang="en-US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350965" y="4234934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black</a:t>
              </a:r>
              <a:endParaRPr lang="en-US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52400" y="1676401"/>
              <a:ext cx="1918323" cy="3140075"/>
            </a:xfrm>
            <a:prstGeom prst="rect">
              <a:avLst/>
            </a:prstGeom>
            <a:noFill/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6235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DFS Example</a:t>
            </a:r>
          </a:p>
        </p:txBody>
      </p:sp>
      <p:sp>
        <p:nvSpPr>
          <p:cNvPr id="59395" name="Oval 3"/>
          <p:cNvSpPr>
            <a:spLocks noChangeArrowheads="1"/>
          </p:cNvSpPr>
          <p:nvPr/>
        </p:nvSpPr>
        <p:spPr bwMode="auto">
          <a:xfrm>
            <a:off x="3048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 |12</a:t>
            </a:r>
          </a:p>
        </p:txBody>
      </p:sp>
      <p:sp>
        <p:nvSpPr>
          <p:cNvPr id="59396" name="Oval 4"/>
          <p:cNvSpPr>
            <a:spLocks noChangeArrowheads="1"/>
          </p:cNvSpPr>
          <p:nvPr/>
        </p:nvSpPr>
        <p:spPr bwMode="auto">
          <a:xfrm>
            <a:off x="5715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8|11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9397" name="Oval 5"/>
          <p:cNvSpPr>
            <a:spLocks noChangeArrowheads="1"/>
          </p:cNvSpPr>
          <p:nvPr/>
        </p:nvSpPr>
        <p:spPr bwMode="auto">
          <a:xfrm>
            <a:off x="8382000" y="2362200"/>
            <a:ext cx="1066800" cy="6858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13|  </a:t>
            </a:r>
          </a:p>
        </p:txBody>
      </p:sp>
      <p:sp>
        <p:nvSpPr>
          <p:cNvPr id="59398" name="Oval 6"/>
          <p:cNvSpPr>
            <a:spLocks noChangeArrowheads="1"/>
          </p:cNvSpPr>
          <p:nvPr/>
        </p:nvSpPr>
        <p:spPr bwMode="auto">
          <a:xfrm>
            <a:off x="8382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14|15</a:t>
            </a:r>
          </a:p>
        </p:txBody>
      </p:sp>
      <p:sp>
        <p:nvSpPr>
          <p:cNvPr id="59399" name="Oval 7"/>
          <p:cNvSpPr>
            <a:spLocks noChangeArrowheads="1"/>
          </p:cNvSpPr>
          <p:nvPr/>
        </p:nvSpPr>
        <p:spPr bwMode="auto">
          <a:xfrm>
            <a:off x="5715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5|6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9400" name="Oval 8"/>
          <p:cNvSpPr>
            <a:spLocks noChangeArrowheads="1"/>
          </p:cNvSpPr>
          <p:nvPr/>
        </p:nvSpPr>
        <p:spPr bwMode="auto">
          <a:xfrm>
            <a:off x="3048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3|4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9401" name="Oval 9"/>
          <p:cNvSpPr>
            <a:spLocks noChangeArrowheads="1"/>
          </p:cNvSpPr>
          <p:nvPr/>
        </p:nvSpPr>
        <p:spPr bwMode="auto">
          <a:xfrm>
            <a:off x="1752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2|7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59402" name="Oval 10"/>
          <p:cNvSpPr>
            <a:spLocks noChangeArrowheads="1"/>
          </p:cNvSpPr>
          <p:nvPr/>
        </p:nvSpPr>
        <p:spPr bwMode="auto">
          <a:xfrm>
            <a:off x="7086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9|10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cxnSp>
        <p:nvCxnSpPr>
          <p:cNvPr id="59403" name="AutoShape 11"/>
          <p:cNvCxnSpPr>
            <a:cxnSpLocks noChangeShapeType="1"/>
            <a:stCxn id="59395" idx="3"/>
            <a:endCxn id="59401" idx="7"/>
          </p:cNvCxnSpPr>
          <p:nvPr/>
        </p:nvCxnSpPr>
        <p:spPr bwMode="auto">
          <a:xfrm flipH="1">
            <a:off x="266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404" name="AutoShape 12"/>
          <p:cNvCxnSpPr>
            <a:cxnSpLocks noChangeShapeType="1"/>
            <a:stCxn id="59401" idx="5"/>
            <a:endCxn id="59400" idx="1"/>
          </p:cNvCxnSpPr>
          <p:nvPr/>
        </p:nvCxnSpPr>
        <p:spPr bwMode="auto">
          <a:xfrm>
            <a:off x="2663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405" name="AutoShape 13"/>
          <p:cNvCxnSpPr>
            <a:cxnSpLocks noChangeShapeType="1"/>
            <a:stCxn id="59401" idx="6"/>
            <a:endCxn id="59399" idx="1"/>
          </p:cNvCxnSpPr>
          <p:nvPr/>
        </p:nvCxnSpPr>
        <p:spPr bwMode="auto">
          <a:xfrm>
            <a:off x="2833689" y="3848101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406" name="AutoShape 14"/>
          <p:cNvCxnSpPr>
            <a:cxnSpLocks noChangeShapeType="1"/>
            <a:stCxn id="59399" idx="2"/>
            <a:endCxn id="59400" idx="6"/>
          </p:cNvCxnSpPr>
          <p:nvPr/>
        </p:nvCxnSpPr>
        <p:spPr bwMode="auto">
          <a:xfrm flipH="1">
            <a:off x="4129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407" name="AutoShape 15"/>
          <p:cNvCxnSpPr>
            <a:cxnSpLocks noChangeShapeType="1"/>
            <a:stCxn id="59400" idx="0"/>
            <a:endCxn id="59395" idx="4"/>
          </p:cNvCxnSpPr>
          <p:nvPr/>
        </p:nvCxnSpPr>
        <p:spPr bwMode="auto">
          <a:xfrm flipV="1">
            <a:off x="3581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408" name="AutoShape 16"/>
          <p:cNvCxnSpPr>
            <a:cxnSpLocks noChangeShapeType="1"/>
            <a:stCxn id="59395" idx="5"/>
            <a:endCxn id="59399" idx="1"/>
          </p:cNvCxnSpPr>
          <p:nvPr/>
        </p:nvCxnSpPr>
        <p:spPr bwMode="auto">
          <a:xfrm>
            <a:off x="3959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409" name="AutoShape 17"/>
          <p:cNvCxnSpPr>
            <a:cxnSpLocks noChangeShapeType="1"/>
            <a:stCxn id="59396" idx="4"/>
            <a:endCxn id="59399" idx="0"/>
          </p:cNvCxnSpPr>
          <p:nvPr/>
        </p:nvCxnSpPr>
        <p:spPr bwMode="auto">
          <a:xfrm>
            <a:off x="6248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410" name="AutoShape 18"/>
          <p:cNvCxnSpPr>
            <a:cxnSpLocks noChangeShapeType="1"/>
            <a:stCxn id="59395" idx="6"/>
            <a:endCxn id="59396" idx="2"/>
          </p:cNvCxnSpPr>
          <p:nvPr/>
        </p:nvCxnSpPr>
        <p:spPr bwMode="auto">
          <a:xfrm>
            <a:off x="4129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411" name="AutoShape 19"/>
          <p:cNvCxnSpPr>
            <a:cxnSpLocks noChangeShapeType="1"/>
            <a:stCxn id="59397" idx="2"/>
            <a:endCxn id="59396" idx="6"/>
          </p:cNvCxnSpPr>
          <p:nvPr/>
        </p:nvCxnSpPr>
        <p:spPr bwMode="auto">
          <a:xfrm flipH="1">
            <a:off x="6796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412" name="AutoShape 20"/>
          <p:cNvCxnSpPr>
            <a:cxnSpLocks noChangeShapeType="1"/>
            <a:stCxn id="59396" idx="5"/>
            <a:endCxn id="59402" idx="1"/>
          </p:cNvCxnSpPr>
          <p:nvPr/>
        </p:nvCxnSpPr>
        <p:spPr bwMode="auto">
          <a:xfrm>
            <a:off x="6626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413" name="AutoShape 21"/>
          <p:cNvCxnSpPr>
            <a:cxnSpLocks noChangeShapeType="1"/>
            <a:stCxn id="59397" idx="3"/>
            <a:endCxn id="59402" idx="7"/>
          </p:cNvCxnSpPr>
          <p:nvPr/>
        </p:nvCxnSpPr>
        <p:spPr bwMode="auto">
          <a:xfrm flipH="1">
            <a:off x="7997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414" name="AutoShape 22"/>
          <p:cNvCxnSpPr>
            <a:cxnSpLocks noChangeShapeType="1"/>
            <a:stCxn id="59397" idx="4"/>
            <a:endCxn id="59398" idx="0"/>
          </p:cNvCxnSpPr>
          <p:nvPr/>
        </p:nvCxnSpPr>
        <p:spPr bwMode="auto">
          <a:xfrm>
            <a:off x="8915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415" name="AutoShape 23"/>
          <p:cNvCxnSpPr>
            <a:cxnSpLocks noChangeShapeType="1"/>
            <a:stCxn id="59398" idx="2"/>
            <a:endCxn id="59399" idx="6"/>
          </p:cNvCxnSpPr>
          <p:nvPr/>
        </p:nvCxnSpPr>
        <p:spPr bwMode="auto">
          <a:xfrm flipH="1">
            <a:off x="6796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416" name="AutoShape 24"/>
          <p:cNvCxnSpPr>
            <a:cxnSpLocks noChangeShapeType="1"/>
            <a:stCxn id="59402" idx="3"/>
            <a:endCxn id="59399" idx="7"/>
          </p:cNvCxnSpPr>
          <p:nvPr/>
        </p:nvCxnSpPr>
        <p:spPr bwMode="auto">
          <a:xfrm flipH="1">
            <a:off x="6626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417" name="Line 25"/>
          <p:cNvSpPr>
            <a:spLocks noChangeShapeType="1"/>
          </p:cNvSpPr>
          <p:nvPr/>
        </p:nvSpPr>
        <p:spPr bwMode="auto">
          <a:xfrm>
            <a:off x="1981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18" name="Text Box 26"/>
          <p:cNvSpPr txBox="1">
            <a:spLocks noChangeArrowheads="1"/>
          </p:cNvSpPr>
          <p:nvPr/>
        </p:nvSpPr>
        <p:spPr bwMode="auto">
          <a:xfrm>
            <a:off x="1600201" y="1447801"/>
            <a:ext cx="8747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59419" name="Oval 27"/>
          <p:cNvSpPr>
            <a:spLocks noChangeArrowheads="1"/>
          </p:cNvSpPr>
          <p:nvPr/>
        </p:nvSpPr>
        <p:spPr bwMode="auto">
          <a:xfrm>
            <a:off x="3048000" y="1828800"/>
            <a:ext cx="1066800" cy="685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i="1">
                <a:latin typeface="Times New Roman" panose="02020603050405020304" pitchFamily="18" charset="0"/>
              </a:rPr>
              <a:t>d      f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10047866" y="136525"/>
            <a:ext cx="1918323" cy="3140075"/>
            <a:chOff x="152400" y="1676401"/>
            <a:chExt cx="1918323" cy="3140075"/>
          </a:xfrm>
        </p:grpSpPr>
        <p:sp>
          <p:nvSpPr>
            <p:cNvPr id="29" name="Oval 3"/>
            <p:cNvSpPr>
              <a:spLocks noChangeArrowheads="1"/>
            </p:cNvSpPr>
            <p:nvPr/>
          </p:nvSpPr>
          <p:spPr bwMode="auto">
            <a:xfrm>
              <a:off x="366715" y="1752600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70000"/>
                </a:lnSpc>
              </a:pPr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" name="Oval 5"/>
            <p:cNvSpPr>
              <a:spLocks noChangeArrowheads="1"/>
            </p:cNvSpPr>
            <p:nvPr/>
          </p:nvSpPr>
          <p:spPr bwMode="auto">
            <a:xfrm>
              <a:off x="366715" y="2850518"/>
              <a:ext cx="762000" cy="76200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1" name="Oval 5"/>
            <p:cNvSpPr>
              <a:spLocks noChangeArrowheads="1"/>
            </p:cNvSpPr>
            <p:nvPr/>
          </p:nvSpPr>
          <p:spPr bwMode="auto">
            <a:xfrm>
              <a:off x="350520" y="4023360"/>
              <a:ext cx="762000" cy="76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356360" y="2133600"/>
              <a:ext cx="714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white</a:t>
              </a:r>
              <a:endParaRPr lang="en-US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356360" y="3091935"/>
              <a:ext cx="588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grey</a:t>
              </a:r>
              <a:endParaRPr lang="en-US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350965" y="4234934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black</a:t>
              </a:r>
              <a:endParaRPr lang="en-US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52400" y="1676401"/>
              <a:ext cx="1918323" cy="3140075"/>
            </a:xfrm>
            <a:prstGeom prst="rect">
              <a:avLst/>
            </a:prstGeom>
            <a:noFill/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84443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DFS Example</a:t>
            </a:r>
          </a:p>
        </p:txBody>
      </p:sp>
      <p:sp>
        <p:nvSpPr>
          <p:cNvPr id="60419" name="Oval 3"/>
          <p:cNvSpPr>
            <a:spLocks noChangeArrowheads="1"/>
          </p:cNvSpPr>
          <p:nvPr/>
        </p:nvSpPr>
        <p:spPr bwMode="auto">
          <a:xfrm>
            <a:off x="3048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 |12</a:t>
            </a:r>
          </a:p>
        </p:txBody>
      </p:sp>
      <p:sp>
        <p:nvSpPr>
          <p:cNvPr id="60420" name="Oval 4"/>
          <p:cNvSpPr>
            <a:spLocks noChangeArrowheads="1"/>
          </p:cNvSpPr>
          <p:nvPr/>
        </p:nvSpPr>
        <p:spPr bwMode="auto">
          <a:xfrm>
            <a:off x="5715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8|11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60421" name="Oval 5"/>
          <p:cNvSpPr>
            <a:spLocks noChangeArrowheads="1"/>
          </p:cNvSpPr>
          <p:nvPr/>
        </p:nvSpPr>
        <p:spPr bwMode="auto">
          <a:xfrm>
            <a:off x="8382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13|16</a:t>
            </a:r>
          </a:p>
        </p:txBody>
      </p:sp>
      <p:sp>
        <p:nvSpPr>
          <p:cNvPr id="60422" name="Oval 6"/>
          <p:cNvSpPr>
            <a:spLocks noChangeArrowheads="1"/>
          </p:cNvSpPr>
          <p:nvPr/>
        </p:nvSpPr>
        <p:spPr bwMode="auto">
          <a:xfrm>
            <a:off x="8382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14|15</a:t>
            </a:r>
          </a:p>
        </p:txBody>
      </p:sp>
      <p:sp>
        <p:nvSpPr>
          <p:cNvPr id="60423" name="Oval 7"/>
          <p:cNvSpPr>
            <a:spLocks noChangeArrowheads="1"/>
          </p:cNvSpPr>
          <p:nvPr/>
        </p:nvSpPr>
        <p:spPr bwMode="auto">
          <a:xfrm>
            <a:off x="5715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5|6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60424" name="Oval 8"/>
          <p:cNvSpPr>
            <a:spLocks noChangeArrowheads="1"/>
          </p:cNvSpPr>
          <p:nvPr/>
        </p:nvSpPr>
        <p:spPr bwMode="auto">
          <a:xfrm>
            <a:off x="3048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3|4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60425" name="Oval 9"/>
          <p:cNvSpPr>
            <a:spLocks noChangeArrowheads="1"/>
          </p:cNvSpPr>
          <p:nvPr/>
        </p:nvSpPr>
        <p:spPr bwMode="auto">
          <a:xfrm>
            <a:off x="1752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2|7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60426" name="Oval 10"/>
          <p:cNvSpPr>
            <a:spLocks noChangeArrowheads="1"/>
          </p:cNvSpPr>
          <p:nvPr/>
        </p:nvSpPr>
        <p:spPr bwMode="auto">
          <a:xfrm>
            <a:off x="7086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9|10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cxnSp>
        <p:nvCxnSpPr>
          <p:cNvPr id="60427" name="AutoShape 11"/>
          <p:cNvCxnSpPr>
            <a:cxnSpLocks noChangeShapeType="1"/>
            <a:stCxn id="60419" idx="3"/>
            <a:endCxn id="60425" idx="7"/>
          </p:cNvCxnSpPr>
          <p:nvPr/>
        </p:nvCxnSpPr>
        <p:spPr bwMode="auto">
          <a:xfrm flipH="1">
            <a:off x="266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28" name="AutoShape 12"/>
          <p:cNvCxnSpPr>
            <a:cxnSpLocks noChangeShapeType="1"/>
            <a:stCxn id="60425" idx="5"/>
            <a:endCxn id="60424" idx="1"/>
          </p:cNvCxnSpPr>
          <p:nvPr/>
        </p:nvCxnSpPr>
        <p:spPr bwMode="auto">
          <a:xfrm>
            <a:off x="2663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29" name="AutoShape 13"/>
          <p:cNvCxnSpPr>
            <a:cxnSpLocks noChangeShapeType="1"/>
            <a:stCxn id="60425" idx="6"/>
            <a:endCxn id="60423" idx="1"/>
          </p:cNvCxnSpPr>
          <p:nvPr/>
        </p:nvCxnSpPr>
        <p:spPr bwMode="auto">
          <a:xfrm>
            <a:off x="2833689" y="3848101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30" name="AutoShape 14"/>
          <p:cNvCxnSpPr>
            <a:cxnSpLocks noChangeShapeType="1"/>
            <a:stCxn id="60423" idx="2"/>
            <a:endCxn id="60424" idx="6"/>
          </p:cNvCxnSpPr>
          <p:nvPr/>
        </p:nvCxnSpPr>
        <p:spPr bwMode="auto">
          <a:xfrm flipH="1">
            <a:off x="4129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31" name="AutoShape 15"/>
          <p:cNvCxnSpPr>
            <a:cxnSpLocks noChangeShapeType="1"/>
            <a:stCxn id="60424" idx="0"/>
            <a:endCxn id="60419" idx="4"/>
          </p:cNvCxnSpPr>
          <p:nvPr/>
        </p:nvCxnSpPr>
        <p:spPr bwMode="auto">
          <a:xfrm flipV="1">
            <a:off x="3581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32" name="AutoShape 16"/>
          <p:cNvCxnSpPr>
            <a:cxnSpLocks noChangeShapeType="1"/>
            <a:stCxn id="60419" idx="5"/>
            <a:endCxn id="60423" idx="1"/>
          </p:cNvCxnSpPr>
          <p:nvPr/>
        </p:nvCxnSpPr>
        <p:spPr bwMode="auto">
          <a:xfrm>
            <a:off x="3959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33" name="AutoShape 17"/>
          <p:cNvCxnSpPr>
            <a:cxnSpLocks noChangeShapeType="1"/>
            <a:stCxn id="60420" idx="4"/>
            <a:endCxn id="60423" idx="0"/>
          </p:cNvCxnSpPr>
          <p:nvPr/>
        </p:nvCxnSpPr>
        <p:spPr bwMode="auto">
          <a:xfrm>
            <a:off x="6248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34" name="AutoShape 18"/>
          <p:cNvCxnSpPr>
            <a:cxnSpLocks noChangeShapeType="1"/>
            <a:stCxn id="60419" idx="6"/>
            <a:endCxn id="60420" idx="2"/>
          </p:cNvCxnSpPr>
          <p:nvPr/>
        </p:nvCxnSpPr>
        <p:spPr bwMode="auto">
          <a:xfrm>
            <a:off x="4129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35" name="AutoShape 19"/>
          <p:cNvCxnSpPr>
            <a:cxnSpLocks noChangeShapeType="1"/>
            <a:stCxn id="60421" idx="2"/>
            <a:endCxn id="60420" idx="6"/>
          </p:cNvCxnSpPr>
          <p:nvPr/>
        </p:nvCxnSpPr>
        <p:spPr bwMode="auto">
          <a:xfrm flipH="1">
            <a:off x="6796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36" name="AutoShape 20"/>
          <p:cNvCxnSpPr>
            <a:cxnSpLocks noChangeShapeType="1"/>
            <a:stCxn id="60420" idx="5"/>
            <a:endCxn id="60426" idx="1"/>
          </p:cNvCxnSpPr>
          <p:nvPr/>
        </p:nvCxnSpPr>
        <p:spPr bwMode="auto">
          <a:xfrm>
            <a:off x="6626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37" name="AutoShape 21"/>
          <p:cNvCxnSpPr>
            <a:cxnSpLocks noChangeShapeType="1"/>
            <a:stCxn id="60421" idx="3"/>
            <a:endCxn id="60426" idx="7"/>
          </p:cNvCxnSpPr>
          <p:nvPr/>
        </p:nvCxnSpPr>
        <p:spPr bwMode="auto">
          <a:xfrm flipH="1">
            <a:off x="7997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38" name="AutoShape 22"/>
          <p:cNvCxnSpPr>
            <a:cxnSpLocks noChangeShapeType="1"/>
            <a:stCxn id="60421" idx="4"/>
            <a:endCxn id="60422" idx="0"/>
          </p:cNvCxnSpPr>
          <p:nvPr/>
        </p:nvCxnSpPr>
        <p:spPr bwMode="auto">
          <a:xfrm>
            <a:off x="8915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39" name="AutoShape 23"/>
          <p:cNvCxnSpPr>
            <a:cxnSpLocks noChangeShapeType="1"/>
            <a:stCxn id="60422" idx="2"/>
            <a:endCxn id="60423" idx="6"/>
          </p:cNvCxnSpPr>
          <p:nvPr/>
        </p:nvCxnSpPr>
        <p:spPr bwMode="auto">
          <a:xfrm flipH="1">
            <a:off x="6796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40" name="AutoShape 24"/>
          <p:cNvCxnSpPr>
            <a:cxnSpLocks noChangeShapeType="1"/>
            <a:stCxn id="60426" idx="3"/>
            <a:endCxn id="60423" idx="7"/>
          </p:cNvCxnSpPr>
          <p:nvPr/>
        </p:nvCxnSpPr>
        <p:spPr bwMode="auto">
          <a:xfrm flipH="1">
            <a:off x="6626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0441" name="Line 25"/>
          <p:cNvSpPr>
            <a:spLocks noChangeShapeType="1"/>
          </p:cNvSpPr>
          <p:nvPr/>
        </p:nvSpPr>
        <p:spPr bwMode="auto">
          <a:xfrm>
            <a:off x="1981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60442" name="Text Box 26"/>
          <p:cNvSpPr txBox="1">
            <a:spLocks noChangeArrowheads="1"/>
          </p:cNvSpPr>
          <p:nvPr/>
        </p:nvSpPr>
        <p:spPr bwMode="auto">
          <a:xfrm>
            <a:off x="1600201" y="1447801"/>
            <a:ext cx="8747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60443" name="Oval 27"/>
          <p:cNvSpPr>
            <a:spLocks noChangeArrowheads="1"/>
          </p:cNvSpPr>
          <p:nvPr/>
        </p:nvSpPr>
        <p:spPr bwMode="auto">
          <a:xfrm>
            <a:off x="3048000" y="1828800"/>
            <a:ext cx="1066800" cy="685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i="1">
                <a:latin typeface="Times New Roman" panose="02020603050405020304" pitchFamily="18" charset="0"/>
              </a:rPr>
              <a:t>d      f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10047866" y="136525"/>
            <a:ext cx="1918323" cy="3140075"/>
            <a:chOff x="152400" y="1676401"/>
            <a:chExt cx="1918323" cy="3140075"/>
          </a:xfrm>
        </p:grpSpPr>
        <p:sp>
          <p:nvSpPr>
            <p:cNvPr id="29" name="Oval 3"/>
            <p:cNvSpPr>
              <a:spLocks noChangeArrowheads="1"/>
            </p:cNvSpPr>
            <p:nvPr/>
          </p:nvSpPr>
          <p:spPr bwMode="auto">
            <a:xfrm>
              <a:off x="366715" y="1752600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70000"/>
                </a:lnSpc>
              </a:pPr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" name="Oval 5"/>
            <p:cNvSpPr>
              <a:spLocks noChangeArrowheads="1"/>
            </p:cNvSpPr>
            <p:nvPr/>
          </p:nvSpPr>
          <p:spPr bwMode="auto">
            <a:xfrm>
              <a:off x="366715" y="2850518"/>
              <a:ext cx="762000" cy="76200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1" name="Oval 5"/>
            <p:cNvSpPr>
              <a:spLocks noChangeArrowheads="1"/>
            </p:cNvSpPr>
            <p:nvPr/>
          </p:nvSpPr>
          <p:spPr bwMode="auto">
            <a:xfrm>
              <a:off x="350520" y="4023360"/>
              <a:ext cx="762000" cy="76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356360" y="2133600"/>
              <a:ext cx="714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white</a:t>
              </a:r>
              <a:endParaRPr lang="en-US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356360" y="3091935"/>
              <a:ext cx="588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grey</a:t>
              </a:r>
              <a:endParaRPr lang="en-US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350965" y="4234934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black</a:t>
              </a:r>
              <a:endParaRPr lang="en-US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52400" y="1676401"/>
              <a:ext cx="1918323" cy="3140075"/>
            </a:xfrm>
            <a:prstGeom prst="rect">
              <a:avLst/>
            </a:prstGeom>
            <a:noFill/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0502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DFS Example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8454994" y="1825624"/>
            <a:ext cx="3598461" cy="5032375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u.d</a:t>
            </a:r>
            <a:r>
              <a:rPr lang="en-US" dirty="0"/>
              <a:t> records when vertex u is </a:t>
            </a:r>
            <a:r>
              <a:rPr lang="en-US" dirty="0" smtClean="0"/>
              <a:t>discovered </a:t>
            </a:r>
            <a:endParaRPr lang="en-US" dirty="0"/>
          </a:p>
          <a:p>
            <a:r>
              <a:rPr lang="en-US" dirty="0"/>
              <a:t>u:</a:t>
            </a:r>
            <a:r>
              <a:rPr lang="en-US" i="1" dirty="0"/>
              <a:t>f records </a:t>
            </a:r>
            <a:r>
              <a:rPr lang="en-US" dirty="0"/>
              <a:t>when the processing of vertex u is finished. </a:t>
            </a:r>
          </a:p>
          <a:p>
            <a:r>
              <a:rPr lang="en-US" dirty="0"/>
              <a:t>These timestamps are </a:t>
            </a:r>
            <a:r>
              <a:rPr lang="en-US" dirty="0" smtClean="0"/>
              <a:t>integers between </a:t>
            </a:r>
            <a:r>
              <a:rPr lang="en-US" dirty="0"/>
              <a:t>1 and 2 </a:t>
            </a:r>
            <a:r>
              <a:rPr lang="en-US" dirty="0" smtClean="0">
                <a:sym typeface="Symbol" panose="05050102010706020507" pitchFamily="18" charset="2"/>
              </a:rPr>
              <a:t></a:t>
            </a:r>
            <a:r>
              <a:rPr lang="en-US" dirty="0" smtClean="0"/>
              <a:t>|</a:t>
            </a:r>
            <a:r>
              <a:rPr lang="en-US" dirty="0"/>
              <a:t>V</a:t>
            </a:r>
            <a:r>
              <a:rPr lang="en-US" dirty="0" smtClean="0"/>
              <a:t>|.</a:t>
            </a:r>
            <a:endParaRPr lang="en-US" dirty="0"/>
          </a:p>
          <a:p>
            <a:pPr lvl="1"/>
            <a:r>
              <a:rPr lang="en-US" dirty="0" smtClean="0"/>
              <a:t>Since </a:t>
            </a:r>
            <a:r>
              <a:rPr lang="en-US" dirty="0"/>
              <a:t>there is </a:t>
            </a:r>
            <a:r>
              <a:rPr lang="en-US" dirty="0" smtClean="0"/>
              <a:t>one discovery </a:t>
            </a:r>
            <a:r>
              <a:rPr lang="en-US" dirty="0"/>
              <a:t>event and one finishing event for each of the |V| vertices</a:t>
            </a:r>
          </a:p>
          <a:p>
            <a:r>
              <a:rPr lang="en-US" dirty="0"/>
              <a:t>For every vertex u, </a:t>
            </a:r>
            <a:r>
              <a:rPr lang="en-US" dirty="0" smtClean="0"/>
              <a:t>we have: </a:t>
            </a:r>
            <a:r>
              <a:rPr lang="en-US" dirty="0" err="1" smtClean="0"/>
              <a:t>u.</a:t>
            </a:r>
            <a:r>
              <a:rPr lang="en-US" i="1" dirty="0" err="1" smtClean="0"/>
              <a:t>d</a:t>
            </a:r>
            <a:r>
              <a:rPr lang="en-US" i="1" dirty="0" smtClean="0"/>
              <a:t> </a:t>
            </a:r>
            <a:r>
              <a:rPr lang="en-US" dirty="0"/>
              <a:t>&lt; </a:t>
            </a:r>
            <a:r>
              <a:rPr lang="en-US" dirty="0" err="1" smtClean="0"/>
              <a:t>u.</a:t>
            </a:r>
            <a:r>
              <a:rPr lang="en-US" i="1" dirty="0" err="1" smtClean="0"/>
              <a:t>f</a:t>
            </a:r>
            <a:r>
              <a:rPr lang="en-US" i="1" dirty="0"/>
              <a:t> </a:t>
            </a:r>
            <a:r>
              <a:rPr lang="en-US" i="1" dirty="0" smtClean="0"/>
              <a:t>---</a:t>
            </a:r>
            <a:r>
              <a:rPr lang="en-US" dirty="0" smtClean="0"/>
              <a:t>(22.2)</a:t>
            </a:r>
            <a:endParaRPr lang="en-US" dirty="0"/>
          </a:p>
        </p:txBody>
      </p:sp>
      <p:sp>
        <p:nvSpPr>
          <p:cNvPr id="60419" name="Oval 3"/>
          <p:cNvSpPr>
            <a:spLocks noChangeArrowheads="1"/>
          </p:cNvSpPr>
          <p:nvPr/>
        </p:nvSpPr>
        <p:spPr bwMode="auto">
          <a:xfrm>
            <a:off x="1535081" y="20297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 |12</a:t>
            </a:r>
          </a:p>
        </p:txBody>
      </p:sp>
      <p:sp>
        <p:nvSpPr>
          <p:cNvPr id="60420" name="Oval 4"/>
          <p:cNvSpPr>
            <a:spLocks noChangeArrowheads="1"/>
          </p:cNvSpPr>
          <p:nvPr/>
        </p:nvSpPr>
        <p:spPr bwMode="auto">
          <a:xfrm>
            <a:off x="4202081" y="20297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8|11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60421" name="Oval 5"/>
          <p:cNvSpPr>
            <a:spLocks noChangeArrowheads="1"/>
          </p:cNvSpPr>
          <p:nvPr/>
        </p:nvSpPr>
        <p:spPr bwMode="auto">
          <a:xfrm>
            <a:off x="6869081" y="20297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13|16</a:t>
            </a:r>
          </a:p>
        </p:txBody>
      </p:sp>
      <p:sp>
        <p:nvSpPr>
          <p:cNvPr id="60422" name="Oval 6"/>
          <p:cNvSpPr>
            <a:spLocks noChangeArrowheads="1"/>
          </p:cNvSpPr>
          <p:nvPr/>
        </p:nvSpPr>
        <p:spPr bwMode="auto">
          <a:xfrm>
            <a:off x="6869081" y="43919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14|15</a:t>
            </a:r>
          </a:p>
        </p:txBody>
      </p:sp>
      <p:sp>
        <p:nvSpPr>
          <p:cNvPr id="60423" name="Oval 7"/>
          <p:cNvSpPr>
            <a:spLocks noChangeArrowheads="1"/>
          </p:cNvSpPr>
          <p:nvPr/>
        </p:nvSpPr>
        <p:spPr bwMode="auto">
          <a:xfrm>
            <a:off x="4202081" y="43919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5|6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60424" name="Oval 8"/>
          <p:cNvSpPr>
            <a:spLocks noChangeArrowheads="1"/>
          </p:cNvSpPr>
          <p:nvPr/>
        </p:nvSpPr>
        <p:spPr bwMode="auto">
          <a:xfrm>
            <a:off x="1535081" y="43919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3|4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60425" name="Oval 9"/>
          <p:cNvSpPr>
            <a:spLocks noChangeArrowheads="1"/>
          </p:cNvSpPr>
          <p:nvPr/>
        </p:nvSpPr>
        <p:spPr bwMode="auto">
          <a:xfrm>
            <a:off x="239681" y="31727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2|7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60426" name="Oval 10"/>
          <p:cNvSpPr>
            <a:spLocks noChangeArrowheads="1"/>
          </p:cNvSpPr>
          <p:nvPr/>
        </p:nvSpPr>
        <p:spPr bwMode="auto">
          <a:xfrm>
            <a:off x="5573681" y="31727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9|10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cxnSp>
        <p:nvCxnSpPr>
          <p:cNvPr id="60427" name="AutoShape 11"/>
          <p:cNvCxnSpPr>
            <a:cxnSpLocks noChangeShapeType="1"/>
            <a:stCxn id="60419" idx="3"/>
            <a:endCxn id="60425" idx="7"/>
          </p:cNvCxnSpPr>
          <p:nvPr/>
        </p:nvCxnSpPr>
        <p:spPr bwMode="auto">
          <a:xfrm flipH="1">
            <a:off x="1150906" y="26297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28" name="AutoShape 12"/>
          <p:cNvCxnSpPr>
            <a:cxnSpLocks noChangeShapeType="1"/>
            <a:stCxn id="60425" idx="5"/>
            <a:endCxn id="60424" idx="1"/>
          </p:cNvCxnSpPr>
          <p:nvPr/>
        </p:nvCxnSpPr>
        <p:spPr bwMode="auto">
          <a:xfrm>
            <a:off x="1150906" y="37727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29" name="AutoShape 13"/>
          <p:cNvCxnSpPr>
            <a:cxnSpLocks noChangeShapeType="1"/>
            <a:stCxn id="60425" idx="6"/>
            <a:endCxn id="60423" idx="1"/>
          </p:cNvCxnSpPr>
          <p:nvPr/>
        </p:nvCxnSpPr>
        <p:spPr bwMode="auto">
          <a:xfrm>
            <a:off x="1320770" y="3515601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30" name="AutoShape 14"/>
          <p:cNvCxnSpPr>
            <a:cxnSpLocks noChangeShapeType="1"/>
            <a:stCxn id="60423" idx="2"/>
            <a:endCxn id="60424" idx="6"/>
          </p:cNvCxnSpPr>
          <p:nvPr/>
        </p:nvCxnSpPr>
        <p:spPr bwMode="auto">
          <a:xfrm flipH="1">
            <a:off x="2616170" y="47348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31" name="AutoShape 15"/>
          <p:cNvCxnSpPr>
            <a:cxnSpLocks noChangeShapeType="1"/>
            <a:stCxn id="60424" idx="0"/>
            <a:endCxn id="60419" idx="4"/>
          </p:cNvCxnSpPr>
          <p:nvPr/>
        </p:nvCxnSpPr>
        <p:spPr bwMode="auto">
          <a:xfrm flipV="1">
            <a:off x="2068481" y="27297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32" name="AutoShape 16"/>
          <p:cNvCxnSpPr>
            <a:cxnSpLocks noChangeShapeType="1"/>
            <a:stCxn id="60419" idx="5"/>
            <a:endCxn id="60423" idx="1"/>
          </p:cNvCxnSpPr>
          <p:nvPr/>
        </p:nvCxnSpPr>
        <p:spPr bwMode="auto">
          <a:xfrm>
            <a:off x="2446306" y="26297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33" name="AutoShape 17"/>
          <p:cNvCxnSpPr>
            <a:cxnSpLocks noChangeShapeType="1"/>
            <a:stCxn id="60420" idx="4"/>
            <a:endCxn id="60423" idx="0"/>
          </p:cNvCxnSpPr>
          <p:nvPr/>
        </p:nvCxnSpPr>
        <p:spPr bwMode="auto">
          <a:xfrm>
            <a:off x="4735481" y="27297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34" name="AutoShape 18"/>
          <p:cNvCxnSpPr>
            <a:cxnSpLocks noChangeShapeType="1"/>
            <a:stCxn id="60419" idx="6"/>
            <a:endCxn id="60420" idx="2"/>
          </p:cNvCxnSpPr>
          <p:nvPr/>
        </p:nvCxnSpPr>
        <p:spPr bwMode="auto">
          <a:xfrm>
            <a:off x="2616170" y="237260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35" name="AutoShape 19"/>
          <p:cNvCxnSpPr>
            <a:cxnSpLocks noChangeShapeType="1"/>
            <a:stCxn id="60421" idx="2"/>
            <a:endCxn id="60420" idx="6"/>
          </p:cNvCxnSpPr>
          <p:nvPr/>
        </p:nvCxnSpPr>
        <p:spPr bwMode="auto">
          <a:xfrm flipH="1">
            <a:off x="5283170" y="23726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36" name="AutoShape 20"/>
          <p:cNvCxnSpPr>
            <a:cxnSpLocks noChangeShapeType="1"/>
            <a:stCxn id="60420" idx="5"/>
            <a:endCxn id="60426" idx="1"/>
          </p:cNvCxnSpPr>
          <p:nvPr/>
        </p:nvCxnSpPr>
        <p:spPr bwMode="auto">
          <a:xfrm>
            <a:off x="5113306" y="2629775"/>
            <a:ext cx="6159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37" name="AutoShape 21"/>
          <p:cNvCxnSpPr>
            <a:cxnSpLocks noChangeShapeType="1"/>
            <a:stCxn id="60421" idx="3"/>
            <a:endCxn id="60426" idx="7"/>
          </p:cNvCxnSpPr>
          <p:nvPr/>
        </p:nvCxnSpPr>
        <p:spPr bwMode="auto">
          <a:xfrm flipH="1">
            <a:off x="6484906" y="26297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38" name="AutoShape 22"/>
          <p:cNvCxnSpPr>
            <a:cxnSpLocks noChangeShapeType="1"/>
            <a:stCxn id="60421" idx="4"/>
            <a:endCxn id="60422" idx="0"/>
          </p:cNvCxnSpPr>
          <p:nvPr/>
        </p:nvCxnSpPr>
        <p:spPr bwMode="auto">
          <a:xfrm>
            <a:off x="7402481" y="2729789"/>
            <a:ext cx="0" cy="16478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39" name="AutoShape 23"/>
          <p:cNvCxnSpPr>
            <a:cxnSpLocks noChangeShapeType="1"/>
            <a:stCxn id="60422" idx="2"/>
            <a:endCxn id="60423" idx="6"/>
          </p:cNvCxnSpPr>
          <p:nvPr/>
        </p:nvCxnSpPr>
        <p:spPr bwMode="auto">
          <a:xfrm flipH="1">
            <a:off x="5283170" y="47348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40" name="AutoShape 24"/>
          <p:cNvCxnSpPr>
            <a:cxnSpLocks noChangeShapeType="1"/>
            <a:stCxn id="60426" idx="3"/>
            <a:endCxn id="60423" idx="7"/>
          </p:cNvCxnSpPr>
          <p:nvPr/>
        </p:nvCxnSpPr>
        <p:spPr bwMode="auto">
          <a:xfrm flipH="1">
            <a:off x="5113306" y="37727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0441" name="Line 25"/>
          <p:cNvSpPr>
            <a:spLocks noChangeShapeType="1"/>
          </p:cNvSpPr>
          <p:nvPr/>
        </p:nvSpPr>
        <p:spPr bwMode="auto">
          <a:xfrm>
            <a:off x="468281" y="18011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60442" name="Text Box 26"/>
          <p:cNvSpPr txBox="1">
            <a:spLocks noChangeArrowheads="1"/>
          </p:cNvSpPr>
          <p:nvPr/>
        </p:nvSpPr>
        <p:spPr bwMode="auto">
          <a:xfrm>
            <a:off x="87282" y="1115301"/>
            <a:ext cx="8747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60443" name="Oval 27"/>
          <p:cNvSpPr>
            <a:spLocks noChangeArrowheads="1"/>
          </p:cNvSpPr>
          <p:nvPr/>
        </p:nvSpPr>
        <p:spPr bwMode="auto">
          <a:xfrm>
            <a:off x="1535081" y="1496300"/>
            <a:ext cx="1066800" cy="685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 i="1">
                <a:latin typeface="Times New Roman" panose="02020603050405020304" pitchFamily="18" charset="0"/>
              </a:rPr>
              <a:t>d      f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022" y="382699"/>
            <a:ext cx="1311245" cy="131124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22723" y="1242578"/>
            <a:ext cx="1778923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Interesting Facts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120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DFS: Parenthesis Structure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41924"/>
          </a:xfrm>
        </p:spPr>
        <p:txBody>
          <a:bodyPr/>
          <a:lstStyle/>
          <a:p>
            <a:r>
              <a:rPr lang="en-US" dirty="0" smtClean="0"/>
              <a:t>DFS discovery </a:t>
            </a:r>
            <a:r>
              <a:rPr lang="en-US" dirty="0"/>
              <a:t>and </a:t>
            </a:r>
            <a:r>
              <a:rPr lang="en-US" dirty="0" smtClean="0"/>
              <a:t>finishing times </a:t>
            </a:r>
            <a:r>
              <a:rPr lang="en-US" dirty="0"/>
              <a:t>have </a:t>
            </a:r>
            <a:r>
              <a:rPr lang="en-US" b="1" i="1" dirty="0"/>
              <a:t>parenthesis structure</a:t>
            </a:r>
            <a:r>
              <a:rPr lang="en-US" dirty="0"/>
              <a:t> </a:t>
            </a:r>
            <a:endParaRPr lang="en-US" dirty="0" smtClean="0"/>
          </a:p>
          <a:p>
            <a:pPr lvl="1"/>
            <a:r>
              <a:rPr lang="en-US" dirty="0" smtClean="0"/>
              <a:t>Represent discovery </a:t>
            </a:r>
            <a:r>
              <a:rPr lang="en-US" dirty="0"/>
              <a:t>of vertex u </a:t>
            </a:r>
            <a:r>
              <a:rPr lang="en-US" dirty="0" smtClean="0"/>
              <a:t>with “(u</a:t>
            </a:r>
            <a:r>
              <a:rPr lang="en-US" dirty="0"/>
              <a:t>” </a:t>
            </a:r>
            <a:endParaRPr lang="en-US" dirty="0" smtClean="0"/>
          </a:p>
          <a:p>
            <a:pPr lvl="1"/>
            <a:r>
              <a:rPr lang="en-US" dirty="0" smtClean="0"/>
              <a:t>represent finishing of vertex u with “u)”</a:t>
            </a:r>
          </a:p>
          <a:p>
            <a:pPr lvl="1"/>
            <a:r>
              <a:rPr lang="en-US" dirty="0" smtClean="0"/>
              <a:t>Then the </a:t>
            </a:r>
            <a:r>
              <a:rPr lang="en-US" dirty="0"/>
              <a:t>history of discoveries and </a:t>
            </a:r>
            <a:r>
              <a:rPr lang="en-US" dirty="0" err="1"/>
              <a:t>finishings</a:t>
            </a:r>
            <a:r>
              <a:rPr lang="en-US" dirty="0"/>
              <a:t> makes a well-formed expression in </a:t>
            </a:r>
            <a:r>
              <a:rPr lang="en-US" dirty="0" smtClean="0"/>
              <a:t>the sense </a:t>
            </a:r>
            <a:r>
              <a:rPr lang="en-US" dirty="0"/>
              <a:t>that the parentheses are properly nested. </a:t>
            </a:r>
            <a:endParaRPr lang="en-US" dirty="0" smtClean="0"/>
          </a:p>
          <a:p>
            <a:r>
              <a:rPr lang="en-US" dirty="0" smtClean="0"/>
              <a:t>We thus have an interesting parenthesis theorem!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152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" y="991984"/>
            <a:ext cx="11405754" cy="417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9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80" y="49875"/>
            <a:ext cx="11687695" cy="64673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u="sng" dirty="0" smtClean="0"/>
              <a:t>Case 1: </a:t>
            </a:r>
            <a:r>
              <a:rPr lang="en-US" sz="3200" u="sng" dirty="0" err="1" smtClean="0"/>
              <a:t>u.d</a:t>
            </a:r>
            <a:r>
              <a:rPr lang="en-US" sz="3200" u="sng" dirty="0" smtClean="0"/>
              <a:t> &lt; </a:t>
            </a:r>
            <a:r>
              <a:rPr lang="en-US" sz="3200" u="sng" dirty="0" err="1" smtClean="0"/>
              <a:t>v.d</a:t>
            </a:r>
            <a:endParaRPr lang="en-US" sz="3200" u="sng" dirty="0" smtClean="0"/>
          </a:p>
          <a:p>
            <a:r>
              <a:rPr lang="en-US" sz="3200" dirty="0" smtClean="0"/>
              <a:t>Case 1A: </a:t>
            </a:r>
            <a:r>
              <a:rPr lang="en-US" sz="3200" dirty="0" err="1" smtClean="0"/>
              <a:t>v.d</a:t>
            </a:r>
            <a:r>
              <a:rPr lang="en-US" sz="3200" dirty="0" smtClean="0"/>
              <a:t> &lt; </a:t>
            </a:r>
            <a:r>
              <a:rPr lang="en-US" sz="3200" dirty="0" err="1" smtClean="0"/>
              <a:t>u.f</a:t>
            </a:r>
            <a:r>
              <a:rPr lang="en-US" sz="3200" dirty="0" smtClean="0"/>
              <a:t> =&gt; </a:t>
            </a:r>
            <a:r>
              <a:rPr lang="en-US" sz="3200" dirty="0" err="1"/>
              <a:t>u.d</a:t>
            </a:r>
            <a:r>
              <a:rPr lang="en-US" sz="3200" dirty="0"/>
              <a:t> &lt; </a:t>
            </a:r>
            <a:r>
              <a:rPr lang="en-US" sz="3200" dirty="0" err="1" smtClean="0"/>
              <a:t>v.d</a:t>
            </a:r>
            <a:r>
              <a:rPr lang="en-US" sz="3200" dirty="0" smtClean="0"/>
              <a:t> &lt; </a:t>
            </a:r>
            <a:r>
              <a:rPr lang="en-US" sz="3200" dirty="0" err="1" smtClean="0"/>
              <a:t>u.f</a:t>
            </a:r>
            <a:r>
              <a:rPr lang="en-US" sz="3200" dirty="0" smtClean="0"/>
              <a:t> =&gt; v is discovered B4 u is finished, i.e., u is gray. </a:t>
            </a:r>
          </a:p>
          <a:p>
            <a:pPr lvl="1"/>
            <a:r>
              <a:rPr lang="en-US" sz="2800" dirty="0" smtClean="0"/>
              <a:t>v is a descendent of u.</a:t>
            </a:r>
          </a:p>
          <a:p>
            <a:pPr lvl="1"/>
            <a:r>
              <a:rPr lang="en-US" sz="2800" dirty="0" smtClean="0"/>
              <a:t>v is discovered more recently than u =&gt; </a:t>
            </a:r>
            <a:r>
              <a:rPr lang="en-US" sz="2800" dirty="0"/>
              <a:t>v is </a:t>
            </a:r>
            <a:r>
              <a:rPr lang="en-US" sz="2800" dirty="0" smtClean="0"/>
              <a:t>finished before search returns to u.</a:t>
            </a:r>
          </a:p>
          <a:p>
            <a:pPr lvl="1"/>
            <a:r>
              <a:rPr lang="en-US" sz="2800" dirty="0" smtClean="0"/>
              <a:t>So, [</a:t>
            </a:r>
            <a:r>
              <a:rPr lang="en-US" sz="2800" dirty="0" err="1" smtClean="0"/>
              <a:t>v.d</a:t>
            </a:r>
            <a:r>
              <a:rPr lang="en-US" sz="2800" dirty="0" smtClean="0"/>
              <a:t>, </a:t>
            </a:r>
            <a:r>
              <a:rPr lang="en-US" sz="2800" dirty="0" err="1" smtClean="0"/>
              <a:t>v.f</a:t>
            </a:r>
            <a:r>
              <a:rPr lang="en-US" sz="2800" dirty="0" smtClean="0"/>
              <a:t>] is entirely contained in [</a:t>
            </a:r>
            <a:r>
              <a:rPr lang="en-US" sz="2800" dirty="0" err="1" smtClean="0"/>
              <a:t>u.d</a:t>
            </a:r>
            <a:r>
              <a:rPr lang="en-US" sz="2800" dirty="0"/>
              <a:t>, </a:t>
            </a:r>
            <a:r>
              <a:rPr lang="en-US" sz="2800" dirty="0" err="1" smtClean="0"/>
              <a:t>u.f</a:t>
            </a:r>
            <a:r>
              <a:rPr lang="en-US" sz="2800" dirty="0" smtClean="0"/>
              <a:t>]</a:t>
            </a:r>
          </a:p>
          <a:p>
            <a:r>
              <a:rPr lang="en-US" sz="3200" dirty="0"/>
              <a:t>Case </a:t>
            </a:r>
            <a:r>
              <a:rPr lang="en-US" sz="3200" dirty="0" smtClean="0"/>
              <a:t>1B: </a:t>
            </a:r>
            <a:r>
              <a:rPr lang="en-US" sz="3200" dirty="0" err="1" smtClean="0"/>
              <a:t>u.f</a:t>
            </a:r>
            <a:r>
              <a:rPr lang="en-US" sz="3200" dirty="0" smtClean="0"/>
              <a:t> &lt; </a:t>
            </a:r>
            <a:r>
              <a:rPr lang="en-US" sz="3200" dirty="0" err="1" smtClean="0"/>
              <a:t>v.d</a:t>
            </a:r>
            <a:r>
              <a:rPr lang="en-US" sz="3200" dirty="0" smtClean="0"/>
              <a:t> </a:t>
            </a:r>
            <a:r>
              <a:rPr lang="en-US" sz="3200" dirty="0"/>
              <a:t>=&gt; </a:t>
            </a:r>
            <a:r>
              <a:rPr lang="en-US" sz="3200" dirty="0" err="1"/>
              <a:t>u.d</a:t>
            </a:r>
            <a:r>
              <a:rPr lang="en-US" sz="3200" dirty="0"/>
              <a:t> &lt; </a:t>
            </a:r>
            <a:r>
              <a:rPr lang="en-US" sz="3200" dirty="0" err="1" smtClean="0"/>
              <a:t>u.f</a:t>
            </a:r>
            <a:r>
              <a:rPr lang="en-US" sz="3200" dirty="0" smtClean="0"/>
              <a:t> </a:t>
            </a:r>
            <a:r>
              <a:rPr lang="en-US" sz="3200" dirty="0"/>
              <a:t>&lt; </a:t>
            </a:r>
            <a:r>
              <a:rPr lang="en-US" sz="3200" dirty="0" err="1" smtClean="0"/>
              <a:t>v.d</a:t>
            </a:r>
            <a:r>
              <a:rPr lang="en-US" sz="3200" dirty="0" smtClean="0"/>
              <a:t> </a:t>
            </a:r>
            <a:r>
              <a:rPr lang="en-US" sz="3200" dirty="0"/>
              <a:t>=&gt; v is discovered </a:t>
            </a:r>
            <a:r>
              <a:rPr lang="en-US" sz="3200" dirty="0" smtClean="0"/>
              <a:t>AFTER </a:t>
            </a:r>
            <a:r>
              <a:rPr lang="en-US" sz="3200" dirty="0"/>
              <a:t>u is </a:t>
            </a:r>
            <a:r>
              <a:rPr lang="en-US" sz="3200" dirty="0" smtClean="0"/>
              <a:t>finished, i.e., u is Black.</a:t>
            </a:r>
          </a:p>
          <a:p>
            <a:pPr lvl="1"/>
            <a:r>
              <a:rPr lang="en-US" sz="2800" dirty="0" smtClean="0"/>
              <a:t>(22.2) =&gt; </a:t>
            </a:r>
            <a:r>
              <a:rPr lang="en-US" sz="2800" dirty="0" err="1" smtClean="0"/>
              <a:t>u.d</a:t>
            </a:r>
            <a:r>
              <a:rPr lang="en-US" sz="2800" dirty="0" smtClean="0"/>
              <a:t> &lt; </a:t>
            </a:r>
            <a:r>
              <a:rPr lang="en-US" sz="2800" dirty="0" err="1" smtClean="0"/>
              <a:t>u.f</a:t>
            </a:r>
            <a:r>
              <a:rPr lang="en-US" sz="2800" dirty="0" smtClean="0"/>
              <a:t> </a:t>
            </a:r>
            <a:r>
              <a:rPr lang="en-US" sz="2800" dirty="0"/>
              <a:t>&lt; </a:t>
            </a:r>
            <a:r>
              <a:rPr lang="en-US" sz="2800" dirty="0" err="1" smtClean="0"/>
              <a:t>v.d</a:t>
            </a:r>
            <a:r>
              <a:rPr lang="en-US" sz="2800" dirty="0" smtClean="0"/>
              <a:t> &lt; </a:t>
            </a:r>
            <a:r>
              <a:rPr lang="en-US" sz="2800" dirty="0" err="1" smtClean="0"/>
              <a:t>v.f</a:t>
            </a:r>
            <a:r>
              <a:rPr lang="en-US" sz="2800" dirty="0" smtClean="0"/>
              <a:t> =&gt; [</a:t>
            </a:r>
            <a:r>
              <a:rPr lang="en-US" sz="2800" dirty="0" err="1"/>
              <a:t>u.d</a:t>
            </a:r>
            <a:r>
              <a:rPr lang="en-US" sz="2800" dirty="0"/>
              <a:t>, </a:t>
            </a:r>
            <a:r>
              <a:rPr lang="en-US" sz="2800" dirty="0" err="1"/>
              <a:t>u.f</a:t>
            </a:r>
            <a:r>
              <a:rPr lang="en-US" sz="2800" dirty="0" smtClean="0"/>
              <a:t>] and [</a:t>
            </a:r>
            <a:r>
              <a:rPr lang="en-US" sz="2800" dirty="0" err="1" smtClean="0"/>
              <a:t>v.d</a:t>
            </a:r>
            <a:r>
              <a:rPr lang="en-US" sz="2800" dirty="0"/>
              <a:t>, </a:t>
            </a:r>
            <a:r>
              <a:rPr lang="en-US" sz="2800" dirty="0" err="1"/>
              <a:t>v.f</a:t>
            </a:r>
            <a:r>
              <a:rPr lang="en-US" sz="2800" dirty="0" smtClean="0"/>
              <a:t>] are disjoint.</a:t>
            </a:r>
          </a:p>
          <a:p>
            <a:pPr lvl="1"/>
            <a:r>
              <a:rPr lang="en-US" sz="2800" dirty="0" smtClean="0"/>
              <a:t>So, neither vertex was discovered when the other was gray =&gt; neither is a descendent of the other.</a:t>
            </a:r>
          </a:p>
          <a:p>
            <a:pPr marL="0" indent="0">
              <a:buNone/>
            </a:pPr>
            <a:r>
              <a:rPr lang="en-US" sz="3200" u="sng" dirty="0"/>
              <a:t>Case </a:t>
            </a:r>
            <a:r>
              <a:rPr lang="en-US" sz="3200" u="sng" dirty="0" smtClean="0"/>
              <a:t>2: </a:t>
            </a:r>
            <a:r>
              <a:rPr lang="en-US" sz="3200" u="sng" dirty="0" err="1" smtClean="0"/>
              <a:t>v.d</a:t>
            </a:r>
            <a:r>
              <a:rPr lang="en-US" sz="3200" u="sng" dirty="0" smtClean="0"/>
              <a:t> &lt; </a:t>
            </a:r>
            <a:r>
              <a:rPr lang="en-US" sz="3200" u="sng" dirty="0" err="1" smtClean="0"/>
              <a:t>u.d</a:t>
            </a:r>
            <a:r>
              <a:rPr lang="en-US" sz="3200" u="sng" dirty="0" smtClean="0"/>
              <a:t>:</a:t>
            </a:r>
            <a:r>
              <a:rPr lang="en-US" sz="3200" dirty="0" smtClean="0"/>
              <a:t> Exactly similar argument, </a:t>
            </a:r>
            <a:r>
              <a:rPr lang="en-US" sz="3200" dirty="0"/>
              <a:t>with the roles of u and </a:t>
            </a:r>
            <a:r>
              <a:rPr lang="en-US" sz="3200" dirty="0" smtClean="0"/>
              <a:t>v reversed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4293524"/>
            <a:ext cx="952825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err="1" smtClean="0"/>
              <a:t>u.d</a:t>
            </a:r>
            <a:r>
              <a:rPr lang="en-US" dirty="0" smtClean="0"/>
              <a:t> &lt; </a:t>
            </a:r>
            <a:r>
              <a:rPr lang="en-US" dirty="0" err="1" smtClean="0"/>
              <a:t>u.f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423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336" y="332510"/>
            <a:ext cx="9443951" cy="345834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333" y="4125882"/>
            <a:ext cx="10110010" cy="1959033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>
            <a:off x="415636" y="4372495"/>
            <a:ext cx="483697" cy="4655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/>
          <p:cNvSpPr/>
          <p:nvPr/>
        </p:nvSpPr>
        <p:spPr>
          <a:xfrm>
            <a:off x="415635" y="4889267"/>
            <a:ext cx="483697" cy="4655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/>
          <p:cNvSpPr/>
          <p:nvPr/>
        </p:nvSpPr>
        <p:spPr>
          <a:xfrm>
            <a:off x="415634" y="5445528"/>
            <a:ext cx="483697" cy="4655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907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5" y="212061"/>
            <a:ext cx="8726503" cy="136735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4" y="1579418"/>
            <a:ext cx="8726503" cy="417823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3" y="5724405"/>
            <a:ext cx="8726504" cy="8525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564582" y="482141"/>
            <a:ext cx="1227735" cy="382384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2438" y="856210"/>
            <a:ext cx="2694012" cy="374073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947458" y="103823"/>
            <a:ext cx="446116" cy="394941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93574" y="103823"/>
            <a:ext cx="1393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If, and only if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4247692" y="831272"/>
            <a:ext cx="4544625" cy="415638"/>
          </a:xfrm>
          <a:prstGeom prst="rect">
            <a:avLst/>
          </a:prstGeom>
          <a:solidFill>
            <a:srgbClr val="00B05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1197032"/>
            <a:ext cx="6787161" cy="365759"/>
          </a:xfrm>
          <a:prstGeom prst="rect">
            <a:avLst/>
          </a:prstGeom>
          <a:solidFill>
            <a:srgbClr val="00B05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787161" y="141316"/>
            <a:ext cx="446116" cy="394941"/>
          </a:xfrm>
          <a:prstGeom prst="rect">
            <a:avLst/>
          </a:prstGeom>
          <a:solidFill>
            <a:srgbClr val="00B05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1808782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/>
      <p:bldP spid="12" grpId="0" animBg="1"/>
      <p:bldP spid="13" grpId="0" animBg="1"/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5" y="212061"/>
            <a:ext cx="8726503" cy="1367357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200107" y="1687656"/>
            <a:ext cx="8592209" cy="501411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u="sng" dirty="0" smtClean="0"/>
              <a:t>A. If P then Q</a:t>
            </a:r>
          </a:p>
          <a:p>
            <a:r>
              <a:rPr lang="en-US" dirty="0" smtClean="0"/>
              <a:t>u is still white when </a:t>
            </a:r>
            <a:r>
              <a:rPr lang="en-US" dirty="0" err="1" smtClean="0"/>
              <a:t>u.d</a:t>
            </a:r>
            <a:r>
              <a:rPr lang="en-US" dirty="0" smtClean="0"/>
              <a:t> is set.</a:t>
            </a:r>
          </a:p>
          <a:p>
            <a:r>
              <a:rPr lang="en-US" dirty="0" smtClean="0"/>
              <a:t>Suppose </a:t>
            </a:r>
            <a:r>
              <a:rPr lang="en-US" dirty="0"/>
              <a:t>v is a </a:t>
            </a:r>
            <a:r>
              <a:rPr lang="en-US" dirty="0" smtClean="0"/>
              <a:t>descendent </a:t>
            </a:r>
            <a:r>
              <a:rPr lang="en-US" dirty="0"/>
              <a:t>of u. </a:t>
            </a:r>
            <a:endParaRPr lang="en-US" dirty="0" smtClean="0"/>
          </a:p>
          <a:p>
            <a:r>
              <a:rPr lang="en-US" dirty="0" smtClean="0"/>
              <a:t>If v = u, we are done (as u = v is white).</a:t>
            </a:r>
          </a:p>
          <a:p>
            <a:r>
              <a:rPr lang="en-US" dirty="0" smtClean="0"/>
              <a:t>Suppose v is a proper descendent of u. </a:t>
            </a:r>
          </a:p>
          <a:p>
            <a:r>
              <a:rPr lang="en-US" dirty="0" smtClean="0"/>
              <a:t>Then, </a:t>
            </a:r>
            <a:r>
              <a:rPr lang="en-US" dirty="0" err="1" smtClean="0"/>
              <a:t>u.d</a:t>
            </a:r>
            <a:r>
              <a:rPr lang="en-US" dirty="0" smtClean="0"/>
              <a:t> &lt; </a:t>
            </a:r>
            <a:r>
              <a:rPr lang="en-US" dirty="0" err="1" smtClean="0"/>
              <a:t>v.d</a:t>
            </a:r>
            <a:r>
              <a:rPr lang="en-US" dirty="0" smtClean="0"/>
              <a:t> [Cor. 22.8]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So, v is white at time </a:t>
            </a:r>
            <a:r>
              <a:rPr lang="en-US" dirty="0" err="1" smtClean="0"/>
              <a:t>u.d</a:t>
            </a:r>
            <a:endParaRPr lang="en-US" dirty="0" smtClean="0"/>
          </a:p>
          <a:p>
            <a:r>
              <a:rPr lang="en-US" dirty="0" smtClean="0"/>
              <a:t>As per assumption, v could be any of the (proper) decedents.</a:t>
            </a:r>
          </a:p>
          <a:p>
            <a:r>
              <a:rPr lang="en-US" dirty="0" smtClean="0"/>
              <a:t>So, the result follows.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564582" y="482141"/>
            <a:ext cx="1227735" cy="382384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2438" y="856210"/>
            <a:ext cx="2694012" cy="374073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947458" y="103823"/>
            <a:ext cx="446116" cy="394941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93574" y="103823"/>
            <a:ext cx="1393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If, and only if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4247692" y="831272"/>
            <a:ext cx="4544625" cy="415638"/>
          </a:xfrm>
          <a:prstGeom prst="rect">
            <a:avLst/>
          </a:prstGeom>
          <a:solidFill>
            <a:srgbClr val="00B05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1197032"/>
            <a:ext cx="6787161" cy="365759"/>
          </a:xfrm>
          <a:prstGeom prst="rect">
            <a:avLst/>
          </a:prstGeom>
          <a:solidFill>
            <a:srgbClr val="00B05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787161" y="141316"/>
            <a:ext cx="446116" cy="394941"/>
          </a:xfrm>
          <a:prstGeom prst="rect">
            <a:avLst/>
          </a:prstGeom>
          <a:solidFill>
            <a:srgbClr val="00B05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884" y="301293"/>
            <a:ext cx="3332798" cy="60204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254" y="4325054"/>
            <a:ext cx="8245624" cy="969602"/>
          </a:xfrm>
          <a:prstGeom prst="rect">
            <a:avLst/>
          </a:prstGeom>
        </p:spPr>
      </p:pic>
      <p:cxnSp>
        <p:nvCxnSpPr>
          <p:cNvPr id="15" name="Straight Arrow Connector 14"/>
          <p:cNvCxnSpPr/>
          <p:nvPr/>
        </p:nvCxnSpPr>
        <p:spPr>
          <a:xfrm>
            <a:off x="4513497" y="2231881"/>
            <a:ext cx="4480874" cy="150884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480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5" y="12561"/>
            <a:ext cx="8726503" cy="1367357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200107" y="1454906"/>
            <a:ext cx="8592209" cy="520359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u="sng" dirty="0"/>
              <a:t>B</a:t>
            </a:r>
            <a:r>
              <a:rPr lang="en-US" u="sng" dirty="0" smtClean="0"/>
              <a:t>. If Q then P</a:t>
            </a:r>
          </a:p>
          <a:p>
            <a:r>
              <a:rPr lang="en-US" dirty="0" smtClean="0"/>
              <a:t>FTSOC, assume </a:t>
            </a:r>
            <a:r>
              <a:rPr lang="en-US" dirty="0"/>
              <a:t>there is a path </a:t>
            </a:r>
            <a:r>
              <a:rPr lang="en-US" dirty="0" smtClean="0"/>
              <a:t>(Z) of </a:t>
            </a:r>
            <a:r>
              <a:rPr lang="en-US" dirty="0"/>
              <a:t>white vertices from u </a:t>
            </a:r>
            <a:r>
              <a:rPr lang="en-US" dirty="0" smtClean="0"/>
              <a:t>to v </a:t>
            </a:r>
            <a:r>
              <a:rPr lang="en-US" dirty="0"/>
              <a:t>at time </a:t>
            </a:r>
            <a:r>
              <a:rPr lang="en-US" dirty="0" err="1" smtClean="0"/>
              <a:t>u.d</a:t>
            </a:r>
            <a:r>
              <a:rPr lang="en-US" dirty="0" smtClean="0"/>
              <a:t>, </a:t>
            </a:r>
            <a:r>
              <a:rPr lang="en-US" dirty="0"/>
              <a:t>but </a:t>
            </a:r>
            <a:r>
              <a:rPr lang="en-US" dirty="0" smtClean="0"/>
              <a:t>v is </a:t>
            </a:r>
            <a:r>
              <a:rPr lang="en-US" dirty="0"/>
              <a:t>not </a:t>
            </a:r>
            <a:r>
              <a:rPr lang="en-US" dirty="0" smtClean="0"/>
              <a:t>a </a:t>
            </a:r>
            <a:r>
              <a:rPr lang="en-US" dirty="0"/>
              <a:t>descendant of </a:t>
            </a:r>
            <a:r>
              <a:rPr lang="en-US" dirty="0" smtClean="0"/>
              <a:t>u in DFT.</a:t>
            </a:r>
          </a:p>
          <a:p>
            <a:r>
              <a:rPr lang="en-US" dirty="0" smtClean="0"/>
              <a:t>If there are more like v, v is the closest one to u (in Z).</a:t>
            </a:r>
          </a:p>
          <a:p>
            <a:r>
              <a:rPr lang="en-US" dirty="0" smtClean="0"/>
              <a:t>Let w is a predecessor of </a:t>
            </a:r>
            <a:r>
              <a:rPr lang="en-US" dirty="0" err="1" smtClean="0"/>
              <a:t>of</a:t>
            </a:r>
            <a:r>
              <a:rPr lang="en-US" dirty="0" smtClean="0"/>
              <a:t> v (n Z).</a:t>
            </a:r>
          </a:p>
          <a:p>
            <a:r>
              <a:rPr lang="en-US" dirty="0" smtClean="0"/>
              <a:t>w must be a descendent of u (may not be proper)</a:t>
            </a:r>
          </a:p>
          <a:p>
            <a:r>
              <a:rPr lang="en-US" dirty="0" smtClean="0"/>
              <a:t>So, </a:t>
            </a:r>
            <a:r>
              <a:rPr lang="en-US" dirty="0" err="1" smtClean="0"/>
              <a:t>w.f</a:t>
            </a:r>
            <a:r>
              <a:rPr lang="en-US" dirty="0" smtClean="0"/>
              <a:t> &lt;= </a:t>
            </a:r>
            <a:r>
              <a:rPr lang="en-US" dirty="0" err="1" smtClean="0"/>
              <a:t>u.f</a:t>
            </a:r>
            <a:endParaRPr lang="en-US" dirty="0"/>
          </a:p>
          <a:p>
            <a:r>
              <a:rPr lang="en-US" dirty="0" smtClean="0"/>
              <a:t>v is discovered after u is discovered but before w is finished: </a:t>
            </a:r>
            <a:r>
              <a:rPr lang="en-US" dirty="0" err="1"/>
              <a:t>u.d</a:t>
            </a:r>
            <a:r>
              <a:rPr lang="en-US" dirty="0"/>
              <a:t> &lt; </a:t>
            </a:r>
            <a:r>
              <a:rPr lang="en-US" dirty="0" err="1"/>
              <a:t>v.d</a:t>
            </a:r>
            <a:r>
              <a:rPr lang="en-US" dirty="0"/>
              <a:t> &lt; </a:t>
            </a:r>
            <a:r>
              <a:rPr lang="en-US" dirty="0" err="1"/>
              <a:t>w.f</a:t>
            </a:r>
            <a:endParaRPr lang="en-US" dirty="0" smtClean="0"/>
          </a:p>
          <a:p>
            <a:r>
              <a:rPr lang="en-US" dirty="0" smtClean="0"/>
              <a:t>So, </a:t>
            </a:r>
            <a:r>
              <a:rPr lang="en-US" dirty="0" err="1" smtClean="0"/>
              <a:t>u.d</a:t>
            </a:r>
            <a:r>
              <a:rPr lang="en-US" dirty="0" smtClean="0"/>
              <a:t> &lt; </a:t>
            </a:r>
            <a:r>
              <a:rPr lang="en-US" dirty="0" err="1" smtClean="0"/>
              <a:t>v.d</a:t>
            </a:r>
            <a:r>
              <a:rPr lang="en-US" dirty="0" smtClean="0"/>
              <a:t> &lt; </a:t>
            </a:r>
            <a:r>
              <a:rPr lang="en-US" dirty="0" err="1" smtClean="0"/>
              <a:t>w.f</a:t>
            </a:r>
            <a:r>
              <a:rPr lang="en-US" dirty="0" smtClean="0"/>
              <a:t> &lt;= </a:t>
            </a:r>
            <a:r>
              <a:rPr lang="en-US" dirty="0" err="1" smtClean="0"/>
              <a:t>u.f</a:t>
            </a:r>
            <a:r>
              <a:rPr lang="en-US" dirty="0" smtClean="0"/>
              <a:t> </a:t>
            </a:r>
          </a:p>
          <a:p>
            <a:r>
              <a:rPr lang="en-US" dirty="0" smtClean="0"/>
              <a:t>Th. 22.7 =&gt; [</a:t>
            </a:r>
            <a:r>
              <a:rPr lang="en-US" dirty="0" err="1" smtClean="0"/>
              <a:t>v.d</a:t>
            </a:r>
            <a:r>
              <a:rPr lang="en-US" dirty="0" smtClean="0"/>
              <a:t>, </a:t>
            </a:r>
            <a:r>
              <a:rPr lang="en-US" dirty="0" err="1" smtClean="0"/>
              <a:t>v.f</a:t>
            </a:r>
            <a:r>
              <a:rPr lang="en-US" dirty="0" smtClean="0"/>
              <a:t>] must be contained within [</a:t>
            </a:r>
            <a:r>
              <a:rPr lang="en-US" dirty="0" err="1" smtClean="0"/>
              <a:t>u.d</a:t>
            </a:r>
            <a:r>
              <a:rPr lang="en-US" dirty="0" smtClean="0"/>
              <a:t>, </a:t>
            </a:r>
            <a:r>
              <a:rPr lang="en-US" dirty="0" err="1" smtClean="0"/>
              <a:t>u.f</a:t>
            </a:r>
            <a:r>
              <a:rPr lang="en-US" dirty="0" smtClean="0"/>
              <a:t>]</a:t>
            </a:r>
          </a:p>
          <a:p>
            <a:r>
              <a:rPr lang="en-US" dirty="0" smtClean="0"/>
              <a:t>So we reach a Contradiction by Cor. 22.8.</a:t>
            </a: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564582" y="282641"/>
            <a:ext cx="1227735" cy="382384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2438" y="656710"/>
            <a:ext cx="2694012" cy="374073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443741" y="1383984"/>
            <a:ext cx="446116" cy="394941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889857" y="1383984"/>
            <a:ext cx="1393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If, and only if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4247692" y="631772"/>
            <a:ext cx="4544625" cy="415638"/>
          </a:xfrm>
          <a:prstGeom prst="rect">
            <a:avLst/>
          </a:prstGeom>
          <a:solidFill>
            <a:srgbClr val="00B05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997532"/>
            <a:ext cx="6787161" cy="365759"/>
          </a:xfrm>
          <a:prstGeom prst="rect">
            <a:avLst/>
          </a:prstGeom>
          <a:solidFill>
            <a:srgbClr val="00B05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283444" y="1421477"/>
            <a:ext cx="446116" cy="394941"/>
          </a:xfrm>
          <a:prstGeom prst="rect">
            <a:avLst/>
          </a:prstGeom>
          <a:solidFill>
            <a:srgbClr val="00B05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884" y="101793"/>
            <a:ext cx="3332798" cy="602046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950" y="5967333"/>
            <a:ext cx="7022628" cy="82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205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Depth-first forest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4840" y="1537334"/>
                <a:ext cx="11430000" cy="503237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 smtClean="0"/>
                  <a:t>The procedure DFS builds a depth-first forest comprising several depth-first trees as it searches the graph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 smtClean="0"/>
                  <a:t>The forest/trees </a:t>
                </a:r>
                <a:r>
                  <a:rPr lang="en-US" dirty="0"/>
                  <a:t>corresponds to the </a:t>
                </a:r>
                <a:r>
                  <a:rPr lang="en-US" dirty="0" smtClean="0">
                    <a:sym typeface="Symbol" panose="05050102010706020507" pitchFamily="18" charset="2"/>
                  </a:rPr>
                  <a:t></a:t>
                </a:r>
                <a:r>
                  <a:rPr lang="en-US" dirty="0" smtClean="0"/>
                  <a:t> </a:t>
                </a:r>
                <a:r>
                  <a:rPr lang="en-US" dirty="0"/>
                  <a:t>attributes. </a:t>
                </a:r>
                <a:endParaRPr lang="en-US" dirty="0" smtClean="0"/>
              </a:p>
              <a:p>
                <a:pPr>
                  <a:lnSpc>
                    <a:spcPct val="150000"/>
                  </a:lnSpc>
                </a:pPr>
                <a:r>
                  <a:rPr lang="en-US" dirty="0" smtClean="0"/>
                  <a:t>More </a:t>
                </a:r>
                <a:r>
                  <a:rPr lang="en-US" dirty="0"/>
                  <a:t>formally, </a:t>
                </a:r>
                <a:r>
                  <a:rPr lang="en-US" dirty="0" smtClean="0"/>
                  <a:t>for a </a:t>
                </a:r>
                <a:r>
                  <a:rPr lang="en-US" dirty="0"/>
                  <a:t>graph </a:t>
                </a:r>
                <a:r>
                  <a:rPr lang="en-US" dirty="0" smtClean="0"/>
                  <a:t>G = (V, E), </a:t>
                </a:r>
                <a:r>
                  <a:rPr lang="en-US" dirty="0"/>
                  <a:t>we define </a:t>
                </a:r>
                <a:r>
                  <a:rPr lang="en-US" dirty="0" smtClean="0"/>
                  <a:t>the </a:t>
                </a:r>
                <a:r>
                  <a:rPr lang="en-US" b="1" i="1" dirty="0" smtClean="0"/>
                  <a:t>predecessor </a:t>
                </a:r>
                <a:r>
                  <a:rPr lang="en-US" b="1" i="1" dirty="0"/>
                  <a:t>subgraph </a:t>
                </a:r>
                <a:r>
                  <a:rPr lang="en-US" dirty="0"/>
                  <a:t>of G </a:t>
                </a:r>
                <a:r>
                  <a:rPr lang="en-US" dirty="0" smtClean="0"/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l-GR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, where</a:t>
                </a:r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m:rPr>
                        <m:nor/>
                      </m:rPr>
                      <a:rPr lang="en-US" dirty="0"/>
                      <m:t>= {(</m:t>
                    </m:r>
                    <m:r>
                      <m:rPr>
                        <m:nor/>
                      </m:rPr>
                      <a:rPr lang="en-US" dirty="0"/>
                      <m:t>v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nor/>
                      </m:rPr>
                      <a:rPr lang="en-US" b="0" i="0" dirty="0" smtClean="0"/>
                      <m:t>, </m:t>
                    </m:r>
                    <m:r>
                      <m:rPr>
                        <m:nor/>
                      </m:rPr>
                      <a:rPr lang="en-US" b="0" i="0" dirty="0" smtClean="0"/>
                      <m:t>v</m:t>
                    </m:r>
                    <m:r>
                      <m:rPr>
                        <m:nor/>
                      </m:rPr>
                      <a:rPr lang="en-US" dirty="0"/>
                      <m:t>)</m:t>
                    </m:r>
                    <m:r>
                      <m:rPr>
                        <m:nor/>
                      </m:rPr>
                      <a:rPr lang="en-US" b="0" i="0" dirty="0" smtClean="0"/>
                      <m:t> : </m:t>
                    </m:r>
                    <m:r>
                      <m:rPr>
                        <m:nor/>
                      </m:rPr>
                      <a:rPr lang="en-US" b="0" i="0" dirty="0" smtClean="0"/>
                      <m:t>v</m:t>
                    </m:r>
                    <m:r>
                      <m:rPr>
                        <m:nor/>
                      </m:rPr>
                      <a:rPr lang="en-US" b="0" i="0" dirty="0" smtClean="0"/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nor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m:rPr>
                        <m:nor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≠</m:t>
                    </m:r>
                    <m:r>
                      <m:rPr>
                        <m:nor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NIL</m:t>
                    </m:r>
                    <m:r>
                      <m:rPr>
                        <m:nor/>
                      </m:rPr>
                      <a:rPr lang="en-US" dirty="0"/>
                      <m:t>}</m:t>
                    </m:r>
                  </m:oMath>
                </a14:m>
                <a:endParaRPr lang="en-US" dirty="0" smtClean="0"/>
              </a:p>
              <a:p>
                <a:pPr>
                  <a:lnSpc>
                    <a:spcPct val="150000"/>
                  </a:lnSpc>
                </a:pPr>
                <a:r>
                  <a:rPr lang="en-US" dirty="0" smtClean="0"/>
                  <a:t>The edges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l-GR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 smtClean="0"/>
                  <a:t> are called tree edges.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4840" y="1537334"/>
                <a:ext cx="11430000" cy="5032376"/>
              </a:xfrm>
              <a:blipFill>
                <a:blip r:embed="rId2"/>
                <a:stretch>
                  <a:fillRect l="-960" r="-1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0713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259" y="234995"/>
            <a:ext cx="10515600" cy="849298"/>
          </a:xfrm>
        </p:spPr>
        <p:txBody>
          <a:bodyPr/>
          <a:lstStyle/>
          <a:p>
            <a:r>
              <a:rPr lang="en-US" dirty="0" smtClean="0"/>
              <a:t>DFS: Kinds of edges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59" y="1100918"/>
            <a:ext cx="7697661" cy="32050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50" y="4801641"/>
            <a:ext cx="3480687" cy="16685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7582" y="4322619"/>
            <a:ext cx="3913014" cy="2454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98009" y="1524770"/>
            <a:ext cx="2689775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en-US" dirty="0" smtClean="0"/>
              <a:t>encounters a white </a:t>
            </a:r>
            <a:r>
              <a:rPr lang="en-US" altLang="en-US" dirty="0"/>
              <a:t>vertex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341715" y="2452028"/>
            <a:ext cx="5356779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from descendent to </a:t>
            </a:r>
            <a:r>
              <a:rPr lang="en-US" dirty="0" smtClean="0"/>
              <a:t>ancestor; Encounters </a:t>
            </a:r>
            <a:r>
              <a:rPr lang="en-US" dirty="0"/>
              <a:t>a </a:t>
            </a:r>
            <a:r>
              <a:rPr lang="en-US" dirty="0" smtClean="0"/>
              <a:t>gray </a:t>
            </a:r>
            <a:r>
              <a:rPr lang="en-US" dirty="0" smtClean="0"/>
              <a:t>vertex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106487" y="3106644"/>
            <a:ext cx="4592008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but Not </a:t>
            </a:r>
            <a:r>
              <a:rPr lang="en-US" dirty="0"/>
              <a:t>a tree </a:t>
            </a:r>
            <a:r>
              <a:rPr lang="en-US" dirty="0" smtClean="0"/>
              <a:t>edge; encounters a </a:t>
            </a:r>
            <a:r>
              <a:rPr lang="en-US" dirty="0"/>
              <a:t>black </a:t>
            </a:r>
            <a:r>
              <a:rPr lang="en-US" dirty="0" smtClean="0"/>
              <a:t>vertex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121635" y="4066028"/>
            <a:ext cx="2576859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encounters </a:t>
            </a:r>
            <a:r>
              <a:rPr lang="en-US" dirty="0"/>
              <a:t>a black </a:t>
            </a:r>
            <a:r>
              <a:rPr lang="en-US" dirty="0" smtClean="0"/>
              <a:t>vertex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6916" y="133293"/>
            <a:ext cx="3332798" cy="60204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55126" y="367877"/>
            <a:ext cx="4077474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en-US" dirty="0" smtClean="0"/>
              <a:t>When we first explore (u, v), u is gray. </a:t>
            </a:r>
            <a:r>
              <a:rPr lang="en-US" altLang="en-US" dirty="0" smtClean="0"/>
              <a:t>The color of v determines the edged type.</a:t>
            </a:r>
            <a:endParaRPr lang="en-US" dirty="0"/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5284313"/>
              </p:ext>
            </p:extLst>
          </p:nvPr>
        </p:nvGraphicFramePr>
        <p:xfrm>
          <a:off x="7539727" y="4598780"/>
          <a:ext cx="1148057" cy="20151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Worksheet" r:id="rId7" imgW="525790" imgH="922097" progId="Excel.Sheet.12">
                  <p:embed/>
                </p:oleObj>
              </mc:Choice>
              <mc:Fallback>
                <p:oleObj name="Worksheet" r:id="rId7" imgW="525790" imgH="92209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39727" y="4598780"/>
                        <a:ext cx="1148057" cy="20151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7047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192" y="365125"/>
            <a:ext cx="10515600" cy="1580053"/>
          </a:xfrm>
        </p:spPr>
        <p:txBody>
          <a:bodyPr>
            <a:normAutofit/>
          </a:bodyPr>
          <a:lstStyle/>
          <a:p>
            <a:r>
              <a:rPr lang="en-US" dirty="0"/>
              <a:t>In a </a:t>
            </a:r>
            <a:r>
              <a:rPr lang="en-US" dirty="0" smtClean="0"/>
              <a:t>DFS </a:t>
            </a:r>
            <a:r>
              <a:rPr lang="en-US" dirty="0"/>
              <a:t>of an undirected graph G, every edge of G is either a </a:t>
            </a:r>
            <a:r>
              <a:rPr lang="en-US" dirty="0" smtClean="0"/>
              <a:t>tree edge </a:t>
            </a:r>
            <a:r>
              <a:rPr lang="en-US" dirty="0"/>
              <a:t>or a back edge.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182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Let </a:t>
            </a:r>
            <a:r>
              <a:rPr lang="en-US" dirty="0" smtClean="0"/>
              <a:t>(u, v) </a:t>
            </a:r>
            <a:r>
              <a:rPr lang="en-US" dirty="0"/>
              <a:t>be an arbitrary edge of G, and suppose without loss of </a:t>
            </a:r>
            <a:r>
              <a:rPr lang="en-US" dirty="0" smtClean="0"/>
              <a:t>generality that </a:t>
            </a:r>
            <a:r>
              <a:rPr lang="en-US" dirty="0" err="1" smtClean="0"/>
              <a:t>u.d</a:t>
            </a:r>
            <a:r>
              <a:rPr lang="en-US" dirty="0" smtClean="0"/>
              <a:t> </a:t>
            </a:r>
            <a:r>
              <a:rPr lang="en-US" dirty="0"/>
              <a:t>&lt; </a:t>
            </a:r>
            <a:r>
              <a:rPr lang="en-US" dirty="0" err="1" smtClean="0"/>
              <a:t>v.d</a:t>
            </a:r>
            <a:r>
              <a:rPr lang="en-US" dirty="0"/>
              <a:t>. </a:t>
            </a:r>
            <a:endParaRPr lang="en-US" dirty="0" smtClean="0"/>
          </a:p>
          <a:p>
            <a:pPr lvl="1"/>
            <a:r>
              <a:rPr lang="en-US" dirty="0" smtClean="0"/>
              <a:t>Then </a:t>
            </a:r>
            <a:r>
              <a:rPr lang="en-US" dirty="0"/>
              <a:t>the search must discover and finish </a:t>
            </a:r>
            <a:r>
              <a:rPr lang="en-US" dirty="0" smtClean="0"/>
              <a:t>v </a:t>
            </a:r>
            <a:r>
              <a:rPr lang="en-US" dirty="0"/>
              <a:t>before it finishes </a:t>
            </a:r>
            <a:r>
              <a:rPr lang="en-US" dirty="0" smtClean="0"/>
              <a:t>u (</a:t>
            </a:r>
            <a:r>
              <a:rPr lang="en-US" dirty="0"/>
              <a:t>while u is gray), since </a:t>
            </a:r>
            <a:r>
              <a:rPr lang="en-US" dirty="0" smtClean="0"/>
              <a:t>v </a:t>
            </a:r>
            <a:r>
              <a:rPr lang="en-US" dirty="0"/>
              <a:t>is on u’s adjacency list</a:t>
            </a:r>
            <a:r>
              <a:rPr lang="en-US" dirty="0" smtClean="0"/>
              <a:t>.</a:t>
            </a:r>
          </a:p>
          <a:p>
            <a:r>
              <a:rPr lang="en-US" dirty="0" smtClean="0"/>
              <a:t>Case A: The search </a:t>
            </a:r>
            <a:r>
              <a:rPr lang="en-US" dirty="0"/>
              <a:t>explores edge (u, v</a:t>
            </a:r>
            <a:r>
              <a:rPr lang="en-US" dirty="0" smtClean="0"/>
              <a:t>) first </a:t>
            </a:r>
            <a:r>
              <a:rPr lang="en-US" dirty="0"/>
              <a:t>in </a:t>
            </a:r>
            <a:r>
              <a:rPr lang="en-US" dirty="0" smtClean="0"/>
              <a:t>the direction </a:t>
            </a:r>
            <a:r>
              <a:rPr lang="en-US" dirty="0"/>
              <a:t>from u to </a:t>
            </a:r>
            <a:r>
              <a:rPr lang="en-US" dirty="0" smtClean="0"/>
              <a:t>v</a:t>
            </a:r>
            <a:r>
              <a:rPr lang="en-US" dirty="0"/>
              <a:t>:</a:t>
            </a:r>
            <a:endParaRPr lang="en-US" dirty="0" smtClean="0"/>
          </a:p>
          <a:p>
            <a:pPr lvl="1"/>
            <a:r>
              <a:rPr lang="en-US" dirty="0" smtClean="0"/>
              <a:t>then v </a:t>
            </a:r>
            <a:r>
              <a:rPr lang="en-US" dirty="0"/>
              <a:t>is </a:t>
            </a:r>
            <a:r>
              <a:rPr lang="en-US" dirty="0" smtClean="0"/>
              <a:t>undiscovered (</a:t>
            </a:r>
            <a:r>
              <a:rPr lang="en-US" dirty="0"/>
              <a:t>white) until that time, for otherwise the search would have explored this </a:t>
            </a:r>
            <a:r>
              <a:rPr lang="en-US" dirty="0" smtClean="0"/>
              <a:t>edge already </a:t>
            </a:r>
            <a:r>
              <a:rPr lang="en-US" dirty="0"/>
              <a:t>in the direction from </a:t>
            </a:r>
            <a:r>
              <a:rPr lang="en-US" dirty="0" smtClean="0"/>
              <a:t>v </a:t>
            </a:r>
            <a:r>
              <a:rPr lang="en-US" dirty="0"/>
              <a:t>to u. Thus, </a:t>
            </a:r>
            <a:r>
              <a:rPr lang="en-US" dirty="0" smtClean="0"/>
              <a:t>(u, v) </a:t>
            </a:r>
            <a:r>
              <a:rPr lang="en-US" dirty="0"/>
              <a:t>becomes a tree edge. </a:t>
            </a:r>
            <a:endParaRPr lang="en-US" dirty="0" smtClean="0"/>
          </a:p>
          <a:p>
            <a:r>
              <a:rPr lang="en-US" dirty="0" smtClean="0"/>
              <a:t>Case B: The search </a:t>
            </a:r>
            <a:r>
              <a:rPr lang="en-US" dirty="0"/>
              <a:t>explores </a:t>
            </a:r>
            <a:r>
              <a:rPr lang="en-US" dirty="0" smtClean="0"/>
              <a:t>(u, v) </a:t>
            </a:r>
            <a:r>
              <a:rPr lang="en-US" dirty="0"/>
              <a:t>first in the direction from </a:t>
            </a:r>
            <a:r>
              <a:rPr lang="en-US" dirty="0" smtClean="0"/>
              <a:t>v </a:t>
            </a:r>
            <a:r>
              <a:rPr lang="en-US" dirty="0"/>
              <a:t>to </a:t>
            </a:r>
            <a:r>
              <a:rPr lang="en-US" dirty="0" smtClean="0"/>
              <a:t>u:</a:t>
            </a:r>
          </a:p>
          <a:p>
            <a:pPr lvl="1"/>
            <a:r>
              <a:rPr lang="en-US" dirty="0" smtClean="0"/>
              <a:t>then (u, v) </a:t>
            </a:r>
            <a:r>
              <a:rPr lang="en-US" dirty="0"/>
              <a:t>is a back </a:t>
            </a:r>
            <a:r>
              <a:rPr lang="en-US" dirty="0" smtClean="0"/>
              <a:t>edge since </a:t>
            </a:r>
            <a:r>
              <a:rPr lang="en-US" dirty="0"/>
              <a:t>u is still gray at the time the edge is first explored.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2131251"/>
              </p:ext>
            </p:extLst>
          </p:nvPr>
        </p:nvGraphicFramePr>
        <p:xfrm>
          <a:off x="10688782" y="4415900"/>
          <a:ext cx="1148057" cy="20151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Worksheet" r:id="rId3" imgW="525790" imgH="922097" progId="Excel.Sheet.12">
                  <p:embed/>
                </p:oleObj>
              </mc:Choice>
              <mc:Fallback>
                <p:oleObj name="Worksheet" r:id="rId3" imgW="525790" imgH="922097" progId="Excel.Sheet.12">
                  <p:embed/>
                  <p:pic>
                    <p:nvPicPr>
                      <p:cNvPr id="18" name="Object 1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88782" y="4415900"/>
                        <a:ext cx="1148057" cy="20151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/>
          <p:cNvCxnSpPr/>
          <p:nvPr/>
        </p:nvCxnSpPr>
        <p:spPr>
          <a:xfrm flipV="1">
            <a:off x="10688782" y="5835535"/>
            <a:ext cx="1148057" cy="16625"/>
          </a:xfrm>
          <a:prstGeom prst="line">
            <a:avLst/>
          </a:prstGeom>
          <a:ln w="63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8016" y="6201316"/>
            <a:ext cx="1188823" cy="79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59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990</TotalTime>
  <Words>1405</Words>
  <Application>Microsoft Office PowerPoint</Application>
  <PresentationFormat>Widescreen</PresentationFormat>
  <Paragraphs>343</Paragraphs>
  <Slides>32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Courier New</vt:lpstr>
      <vt:lpstr>Monotype Sorts</vt:lpstr>
      <vt:lpstr>Symbol</vt:lpstr>
      <vt:lpstr>Tahoma</vt:lpstr>
      <vt:lpstr>Times New Roman</vt:lpstr>
      <vt:lpstr>Wingdings</vt:lpstr>
      <vt:lpstr>Office Theme</vt:lpstr>
      <vt:lpstr>Microsoft Excel Worksheet</vt:lpstr>
      <vt:lpstr>Graphs-III</vt:lpstr>
      <vt:lpstr>Graph Searching</vt:lpstr>
      <vt:lpstr>Depth-First Search</vt:lpstr>
      <vt:lpstr>PowerPoint Presentation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DFS: Parenthesis 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Depth-first forest</vt:lpstr>
      <vt:lpstr>DFS: Kinds of edges</vt:lpstr>
      <vt:lpstr>In a DFS of an undirected graph G, every edge of G is either a tree edge or a back edge.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Graphs-II</dc:title>
  <dc:creator>user</dc:creator>
  <cp:lastModifiedBy>user</cp:lastModifiedBy>
  <cp:revision>51</cp:revision>
  <dcterms:created xsi:type="dcterms:W3CDTF">2021-12-17T12:16:58Z</dcterms:created>
  <dcterms:modified xsi:type="dcterms:W3CDTF">2021-12-21T13:04:53Z</dcterms:modified>
</cp:coreProperties>
</file>